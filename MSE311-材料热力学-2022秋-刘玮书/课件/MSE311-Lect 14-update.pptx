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5" r:id="rId1"/>
  </p:sldMasterIdLst>
  <p:notesMasterIdLst>
    <p:notesMasterId r:id="rId36"/>
  </p:notesMasterIdLst>
  <p:handoutMasterIdLst>
    <p:handoutMasterId r:id="rId37"/>
  </p:handoutMasterIdLst>
  <p:sldIdLst>
    <p:sldId id="256" r:id="rId2"/>
    <p:sldId id="471" r:id="rId3"/>
    <p:sldId id="442" r:id="rId4"/>
    <p:sldId id="443" r:id="rId5"/>
    <p:sldId id="449" r:id="rId6"/>
    <p:sldId id="468" r:id="rId7"/>
    <p:sldId id="469" r:id="rId8"/>
    <p:sldId id="445" r:id="rId9"/>
    <p:sldId id="446" r:id="rId10"/>
    <p:sldId id="475" r:id="rId11"/>
    <p:sldId id="448" r:id="rId12"/>
    <p:sldId id="437" r:id="rId13"/>
    <p:sldId id="408" r:id="rId14"/>
    <p:sldId id="409" r:id="rId15"/>
    <p:sldId id="411" r:id="rId16"/>
    <p:sldId id="450" r:id="rId17"/>
    <p:sldId id="451" r:id="rId18"/>
    <p:sldId id="472" r:id="rId19"/>
    <p:sldId id="473" r:id="rId20"/>
    <p:sldId id="452" r:id="rId21"/>
    <p:sldId id="453" r:id="rId22"/>
    <p:sldId id="455" r:id="rId23"/>
    <p:sldId id="456" r:id="rId24"/>
    <p:sldId id="295" r:id="rId25"/>
    <p:sldId id="476" r:id="rId26"/>
    <p:sldId id="477" r:id="rId27"/>
    <p:sldId id="478" r:id="rId28"/>
    <p:sldId id="479" r:id="rId29"/>
    <p:sldId id="480" r:id="rId30"/>
    <p:sldId id="296" r:id="rId31"/>
    <p:sldId id="297" r:id="rId32"/>
    <p:sldId id="298" r:id="rId33"/>
    <p:sldId id="299" r:id="rId34"/>
    <p:sldId id="300" r:id="rId35"/>
  </p:sldIdLst>
  <p:sldSz cx="9144000" cy="6858000" type="screen4x3"/>
  <p:notesSz cx="6669088" cy="9926638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00"/>
    <a:srgbClr val="70AD47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145" autoAdjust="0"/>
  </p:normalViewPr>
  <p:slideViewPr>
    <p:cSldViewPr snapToGrid="0">
      <p:cViewPr varScale="1">
        <p:scale>
          <a:sx n="110" d="100"/>
          <a:sy n="110" d="100"/>
        </p:scale>
        <p:origin x="1566" y="1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777607" y="0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96C3D4-F3F7-41E0-8BDE-8ACEB5368367}" type="datetimeFigureOut">
              <a:rPr lang="zh-CN" altLang="en-US" smtClean="0"/>
              <a:t>2022/10/27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777607" y="9428583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19B71C-4DB5-4C7F-8171-93E790D3AC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88883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3A478E-90E3-4BE0-BF7B-B1AD7461FEF4}" type="datetimeFigureOut">
              <a:rPr lang="zh-CN" altLang="en-US" smtClean="0"/>
              <a:t>2022/10/27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01725" y="1241425"/>
            <a:ext cx="4465638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66909" y="4777194"/>
            <a:ext cx="533527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889938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777607" y="9428584"/>
            <a:ext cx="2889938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497359-BD37-41E1-AF95-71E7D52515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5872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9">
            <a:extLst>
              <a:ext uri="{FF2B5EF4-FFF2-40B4-BE49-F238E27FC236}">
                <a16:creationId xmlns:a16="http://schemas.microsoft.com/office/drawing/2014/main" id="{36484A2C-39A1-4BDC-B92B-AF52D58B0F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63" y="5035550"/>
            <a:ext cx="1143000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组合 11">
            <a:extLst>
              <a:ext uri="{FF2B5EF4-FFF2-40B4-BE49-F238E27FC236}">
                <a16:creationId xmlns:a16="http://schemas.microsoft.com/office/drawing/2014/main" id="{56818F0A-1B6A-44A9-9717-55DA1C8C1ED4}"/>
              </a:ext>
            </a:extLst>
          </p:cNvPr>
          <p:cNvGrpSpPr>
            <a:grpSpLocks/>
          </p:cNvGrpSpPr>
          <p:nvPr/>
        </p:nvGrpSpPr>
        <p:grpSpPr bwMode="auto">
          <a:xfrm>
            <a:off x="0" y="4741863"/>
            <a:ext cx="9043988" cy="142875"/>
            <a:chOff x="76199" y="1241003"/>
            <a:chExt cx="9044401" cy="144000"/>
          </a:xfrm>
        </p:grpSpPr>
        <p:sp>
          <p:nvSpPr>
            <p:cNvPr id="9" name="圆角矩形 11">
              <a:extLst>
                <a:ext uri="{FF2B5EF4-FFF2-40B4-BE49-F238E27FC236}">
                  <a16:creationId xmlns:a16="http://schemas.microsoft.com/office/drawing/2014/main" id="{2658448A-EA7B-40C8-99E5-5CDD7E4A2B5E}"/>
                </a:ext>
              </a:extLst>
            </p:cNvPr>
            <p:cNvSpPr/>
            <p:nvPr/>
          </p:nvSpPr>
          <p:spPr>
            <a:xfrm>
              <a:off x="76199" y="1241003"/>
              <a:ext cx="1487556" cy="144000"/>
            </a:xfrm>
            <a:prstGeom prst="roundRect">
              <a:avLst>
                <a:gd name="adj" fmla="val 0"/>
              </a:avLst>
            </a:prstGeom>
            <a:solidFill>
              <a:srgbClr val="C83C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0" name="圆角矩形 12">
              <a:extLst>
                <a:ext uri="{FF2B5EF4-FFF2-40B4-BE49-F238E27FC236}">
                  <a16:creationId xmlns:a16="http://schemas.microsoft.com/office/drawing/2014/main" id="{0F1BA9DE-48A6-4320-A3CB-CA0618F88CA6}"/>
                </a:ext>
              </a:extLst>
            </p:cNvPr>
            <p:cNvSpPr/>
            <p:nvPr/>
          </p:nvSpPr>
          <p:spPr>
            <a:xfrm>
              <a:off x="1630433" y="1241003"/>
              <a:ext cx="3103704" cy="14400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1" name="圆角矩形 13">
              <a:extLst>
                <a:ext uri="{FF2B5EF4-FFF2-40B4-BE49-F238E27FC236}">
                  <a16:creationId xmlns:a16="http://schemas.microsoft.com/office/drawing/2014/main" id="{95532181-9B56-4565-85B0-26FAE243974A}"/>
                </a:ext>
              </a:extLst>
            </p:cNvPr>
            <p:cNvSpPr/>
            <p:nvPr/>
          </p:nvSpPr>
          <p:spPr>
            <a:xfrm>
              <a:off x="4800815" y="1241003"/>
              <a:ext cx="4319785" cy="144000"/>
            </a:xfrm>
            <a:prstGeom prst="roundRect">
              <a:avLst>
                <a:gd name="adj" fmla="val 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pic>
        <p:nvPicPr>
          <p:cNvPr id="12" name="图片 18">
            <a:extLst>
              <a:ext uri="{FF2B5EF4-FFF2-40B4-BE49-F238E27FC236}">
                <a16:creationId xmlns:a16="http://schemas.microsoft.com/office/drawing/2014/main" id="{C6EF10A3-5E14-4AC4-BEC5-788C4A6AB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5035550"/>
            <a:ext cx="4313238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图片 20">
            <a:extLst>
              <a:ext uri="{FF2B5EF4-FFF2-40B4-BE49-F238E27FC236}">
                <a16:creationId xmlns:a16="http://schemas.microsoft.com/office/drawing/2014/main" id="{E5368EC2-A439-426F-9848-8912DFFAC1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4325" y="5035550"/>
            <a:ext cx="3019425" cy="1436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图片 3">
            <a:extLst>
              <a:ext uri="{FF2B5EF4-FFF2-40B4-BE49-F238E27FC236}">
                <a16:creationId xmlns:a16="http://schemas.microsoft.com/office/drawing/2014/main" id="{DB79EDD7-2DA9-41B8-BF25-43496C7096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2" t="5525" r="8671" b="8884"/>
          <a:stretch/>
        </p:blipFill>
        <p:spPr bwMode="auto">
          <a:xfrm>
            <a:off x="106362" y="56707"/>
            <a:ext cx="4366401" cy="1013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图片 9">
            <a:extLst>
              <a:ext uri="{FF2B5EF4-FFF2-40B4-BE49-F238E27FC236}">
                <a16:creationId xmlns:a16="http://schemas.microsoft.com/office/drawing/2014/main" id="{AAD387B1-3103-410C-8A6F-61D494AEADD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63" y="5035550"/>
            <a:ext cx="1143000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组合 11">
            <a:extLst>
              <a:ext uri="{FF2B5EF4-FFF2-40B4-BE49-F238E27FC236}">
                <a16:creationId xmlns:a16="http://schemas.microsoft.com/office/drawing/2014/main" id="{EF2F75DC-2FDE-4EE3-8E34-8BABCC7179F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4741863"/>
            <a:ext cx="9043988" cy="142875"/>
            <a:chOff x="76199" y="1241003"/>
            <a:chExt cx="9044401" cy="144000"/>
          </a:xfrm>
        </p:grpSpPr>
        <p:sp>
          <p:nvSpPr>
            <p:cNvPr id="17" name="圆角矩形 11">
              <a:extLst>
                <a:ext uri="{FF2B5EF4-FFF2-40B4-BE49-F238E27FC236}">
                  <a16:creationId xmlns:a16="http://schemas.microsoft.com/office/drawing/2014/main" id="{367FAD37-4817-483B-B455-9B9EAAFE7BD8}"/>
                </a:ext>
              </a:extLst>
            </p:cNvPr>
            <p:cNvSpPr/>
            <p:nvPr/>
          </p:nvSpPr>
          <p:spPr>
            <a:xfrm>
              <a:off x="76199" y="1241003"/>
              <a:ext cx="1487556" cy="144000"/>
            </a:xfrm>
            <a:prstGeom prst="roundRect">
              <a:avLst>
                <a:gd name="adj" fmla="val 0"/>
              </a:avLst>
            </a:prstGeom>
            <a:solidFill>
              <a:srgbClr val="C83C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8" name="圆角矩形 12">
              <a:extLst>
                <a:ext uri="{FF2B5EF4-FFF2-40B4-BE49-F238E27FC236}">
                  <a16:creationId xmlns:a16="http://schemas.microsoft.com/office/drawing/2014/main" id="{405E6F80-4ED3-42FA-B9E2-EC6BC04F1A02}"/>
                </a:ext>
              </a:extLst>
            </p:cNvPr>
            <p:cNvSpPr/>
            <p:nvPr/>
          </p:nvSpPr>
          <p:spPr>
            <a:xfrm>
              <a:off x="1630433" y="1241003"/>
              <a:ext cx="3103704" cy="14400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9" name="圆角矩形 13">
              <a:extLst>
                <a:ext uri="{FF2B5EF4-FFF2-40B4-BE49-F238E27FC236}">
                  <a16:creationId xmlns:a16="http://schemas.microsoft.com/office/drawing/2014/main" id="{FFCB71A7-724E-4CF3-8659-D7FFA4994A95}"/>
                </a:ext>
              </a:extLst>
            </p:cNvPr>
            <p:cNvSpPr/>
            <p:nvPr/>
          </p:nvSpPr>
          <p:spPr>
            <a:xfrm>
              <a:off x="4800815" y="1241003"/>
              <a:ext cx="4319785" cy="144000"/>
            </a:xfrm>
            <a:prstGeom prst="roundRect">
              <a:avLst>
                <a:gd name="adj" fmla="val 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pic>
        <p:nvPicPr>
          <p:cNvPr id="20" name="图片 18">
            <a:extLst>
              <a:ext uri="{FF2B5EF4-FFF2-40B4-BE49-F238E27FC236}">
                <a16:creationId xmlns:a16="http://schemas.microsoft.com/office/drawing/2014/main" id="{B230B797-9AF8-41D8-B5AB-3C485238D84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5035550"/>
            <a:ext cx="4313238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32E52780-17F0-4F25-B262-66C011AE71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4325" y="5035550"/>
            <a:ext cx="3019425" cy="1436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图片 3">
            <a:extLst>
              <a:ext uri="{FF2B5EF4-FFF2-40B4-BE49-F238E27FC236}">
                <a16:creationId xmlns:a16="http://schemas.microsoft.com/office/drawing/2014/main" id="{A6617996-BF24-4585-AE38-DD4FEC22395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2" t="5525" r="8671" b="8884"/>
          <a:stretch/>
        </p:blipFill>
        <p:spPr bwMode="auto">
          <a:xfrm>
            <a:off x="106362" y="56707"/>
            <a:ext cx="4366401" cy="1013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51452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23551FB5-644E-4958-A980-4C6B4A9B56E7}"/>
              </a:ext>
            </a:extLst>
          </p:cNvPr>
          <p:cNvGrpSpPr>
            <a:grpSpLocks/>
          </p:cNvGrpSpPr>
          <p:nvPr/>
        </p:nvGrpSpPr>
        <p:grpSpPr bwMode="auto">
          <a:xfrm>
            <a:off x="41722" y="6645423"/>
            <a:ext cx="9045575" cy="142875"/>
            <a:chOff x="76199" y="1241003"/>
            <a:chExt cx="9044401" cy="144000"/>
          </a:xfrm>
        </p:grpSpPr>
        <p:sp>
          <p:nvSpPr>
            <p:cNvPr id="8" name="圆角矩形 11">
              <a:extLst>
                <a:ext uri="{FF2B5EF4-FFF2-40B4-BE49-F238E27FC236}">
                  <a16:creationId xmlns:a16="http://schemas.microsoft.com/office/drawing/2014/main" id="{206B57DE-B2E2-477E-A47F-DA530482154A}"/>
                </a:ext>
              </a:extLst>
            </p:cNvPr>
            <p:cNvSpPr/>
            <p:nvPr/>
          </p:nvSpPr>
          <p:spPr>
            <a:xfrm>
              <a:off x="76199" y="1241003"/>
              <a:ext cx="1487294" cy="144000"/>
            </a:xfrm>
            <a:prstGeom prst="roundRect">
              <a:avLst>
                <a:gd name="adj" fmla="val 0"/>
              </a:avLst>
            </a:prstGeom>
            <a:solidFill>
              <a:srgbClr val="C83C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9" name="圆角矩形 12">
              <a:extLst>
                <a:ext uri="{FF2B5EF4-FFF2-40B4-BE49-F238E27FC236}">
                  <a16:creationId xmlns:a16="http://schemas.microsoft.com/office/drawing/2014/main" id="{38C3280C-D608-4B4D-8279-5808A7C72777}"/>
                </a:ext>
              </a:extLst>
            </p:cNvPr>
            <p:cNvSpPr/>
            <p:nvPr/>
          </p:nvSpPr>
          <p:spPr>
            <a:xfrm>
              <a:off x="1630159" y="1241003"/>
              <a:ext cx="3103160" cy="14400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0" name="圆角矩形 13">
              <a:extLst>
                <a:ext uri="{FF2B5EF4-FFF2-40B4-BE49-F238E27FC236}">
                  <a16:creationId xmlns:a16="http://schemas.microsoft.com/office/drawing/2014/main" id="{43328620-830D-498B-AD47-8DBB81A79D3F}"/>
                </a:ext>
              </a:extLst>
            </p:cNvPr>
            <p:cNvSpPr/>
            <p:nvPr/>
          </p:nvSpPr>
          <p:spPr>
            <a:xfrm>
              <a:off x="4799986" y="1241003"/>
              <a:ext cx="4320614" cy="144000"/>
            </a:xfrm>
            <a:prstGeom prst="roundRect">
              <a:avLst>
                <a:gd name="adj" fmla="val 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pic>
        <p:nvPicPr>
          <p:cNvPr id="11" name="图片 3">
            <a:extLst>
              <a:ext uri="{FF2B5EF4-FFF2-40B4-BE49-F238E27FC236}">
                <a16:creationId xmlns:a16="http://schemas.microsoft.com/office/drawing/2014/main" id="{B0C51A74-65A9-4F9C-9DAC-5C9B5FEFDC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563" y="0"/>
            <a:ext cx="776287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C46ADAA-5CE7-436F-BDC5-5BE32504D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06671" y="6174558"/>
            <a:ext cx="442918" cy="396090"/>
          </a:xfrm>
        </p:spPr>
        <p:txBody>
          <a:bodyPr/>
          <a:lstStyle/>
          <a:p>
            <a:r>
              <a:rPr lang="en-US" altLang="zh-CN"/>
              <a:t>2</a:t>
            </a:r>
            <a:endParaRPr lang="zh-CN" altLang="en-US" dirty="0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DBE675BB-162D-4CCA-94D2-B314C0C6F64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41722" y="6645423"/>
            <a:ext cx="9045575" cy="142875"/>
            <a:chOff x="76199" y="1241003"/>
            <a:chExt cx="9044401" cy="144000"/>
          </a:xfrm>
        </p:grpSpPr>
        <p:sp>
          <p:nvSpPr>
            <p:cNvPr id="13" name="圆角矩形 11">
              <a:extLst>
                <a:ext uri="{FF2B5EF4-FFF2-40B4-BE49-F238E27FC236}">
                  <a16:creationId xmlns:a16="http://schemas.microsoft.com/office/drawing/2014/main" id="{8497BCD2-D048-4CC6-AA21-D749E9E85DCE}"/>
                </a:ext>
              </a:extLst>
            </p:cNvPr>
            <p:cNvSpPr/>
            <p:nvPr/>
          </p:nvSpPr>
          <p:spPr>
            <a:xfrm>
              <a:off x="76199" y="1241003"/>
              <a:ext cx="1487294" cy="144000"/>
            </a:xfrm>
            <a:prstGeom prst="roundRect">
              <a:avLst>
                <a:gd name="adj" fmla="val 0"/>
              </a:avLst>
            </a:prstGeom>
            <a:solidFill>
              <a:srgbClr val="C83C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4" name="圆角矩形 12">
              <a:extLst>
                <a:ext uri="{FF2B5EF4-FFF2-40B4-BE49-F238E27FC236}">
                  <a16:creationId xmlns:a16="http://schemas.microsoft.com/office/drawing/2014/main" id="{9C83145A-9A38-4389-BA55-B2DC124C7CCE}"/>
                </a:ext>
              </a:extLst>
            </p:cNvPr>
            <p:cNvSpPr/>
            <p:nvPr/>
          </p:nvSpPr>
          <p:spPr>
            <a:xfrm>
              <a:off x="1630159" y="1241003"/>
              <a:ext cx="3103160" cy="14400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5" name="圆角矩形 13">
              <a:extLst>
                <a:ext uri="{FF2B5EF4-FFF2-40B4-BE49-F238E27FC236}">
                  <a16:creationId xmlns:a16="http://schemas.microsoft.com/office/drawing/2014/main" id="{5F30C916-99CD-41F6-B9F5-44A06301974D}"/>
                </a:ext>
              </a:extLst>
            </p:cNvPr>
            <p:cNvSpPr/>
            <p:nvPr/>
          </p:nvSpPr>
          <p:spPr>
            <a:xfrm>
              <a:off x="4799986" y="1241003"/>
              <a:ext cx="4320614" cy="144000"/>
            </a:xfrm>
            <a:prstGeom prst="roundRect">
              <a:avLst>
                <a:gd name="adj" fmla="val 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pic>
        <p:nvPicPr>
          <p:cNvPr id="16" name="图片 3">
            <a:extLst>
              <a:ext uri="{FF2B5EF4-FFF2-40B4-BE49-F238E27FC236}">
                <a16:creationId xmlns:a16="http://schemas.microsoft.com/office/drawing/2014/main" id="{408ADF0C-ACC1-4673-9FB1-66E00A81977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563" y="0"/>
            <a:ext cx="776287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26539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6473A-FAF4-414C-9522-3C4BCFE2B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16" y="3100647"/>
            <a:ext cx="7886700" cy="867940"/>
          </a:xfrm>
        </p:spPr>
        <p:txBody>
          <a:bodyPr anchor="b"/>
          <a:lstStyle>
            <a:lvl1pPr>
              <a:defRPr sz="4500">
                <a:latin typeface="Arial Unicode MS" pitchFamily="34" charset="-122"/>
                <a:ea typeface="Arial Unicode MS" pitchFamily="34" charset="-122"/>
                <a:cs typeface="Arial Unicode MS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圆角矩形 5">
            <a:extLst>
              <a:ext uri="{FF2B5EF4-FFF2-40B4-BE49-F238E27FC236}">
                <a16:creationId xmlns:a16="http://schemas.microsoft.com/office/drawing/2014/main" id="{3BD87344-C6CA-4F87-9448-0B8B7FAF9E1B}"/>
              </a:ext>
            </a:extLst>
          </p:cNvPr>
          <p:cNvSpPr/>
          <p:nvPr userDrawn="1"/>
        </p:nvSpPr>
        <p:spPr>
          <a:xfrm>
            <a:off x="0" y="4044001"/>
            <a:ext cx="952500" cy="144000"/>
          </a:xfrm>
          <a:prstGeom prst="roundRect">
            <a:avLst>
              <a:gd name="adj" fmla="val 0"/>
            </a:avLst>
          </a:prstGeom>
          <a:solidFill>
            <a:srgbClr val="C83C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" name="圆角矩形 6">
            <a:extLst>
              <a:ext uri="{FF2B5EF4-FFF2-40B4-BE49-F238E27FC236}">
                <a16:creationId xmlns:a16="http://schemas.microsoft.com/office/drawing/2014/main" id="{6DA4B6E9-D6DC-4952-865A-DA8EE6DB8245}"/>
              </a:ext>
            </a:extLst>
          </p:cNvPr>
          <p:cNvSpPr/>
          <p:nvPr userDrawn="1"/>
        </p:nvSpPr>
        <p:spPr>
          <a:xfrm>
            <a:off x="1014116" y="4044001"/>
            <a:ext cx="3643609" cy="144002"/>
          </a:xfrm>
          <a:prstGeom prst="roundRect">
            <a:avLst>
              <a:gd name="adj" fmla="val 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9" name="圆角矩形 7">
            <a:extLst>
              <a:ext uri="{FF2B5EF4-FFF2-40B4-BE49-F238E27FC236}">
                <a16:creationId xmlns:a16="http://schemas.microsoft.com/office/drawing/2014/main" id="{F7595CA0-CBC9-4927-B9FF-0B4BA5FB62ED}"/>
              </a:ext>
            </a:extLst>
          </p:cNvPr>
          <p:cNvSpPr/>
          <p:nvPr userDrawn="1"/>
        </p:nvSpPr>
        <p:spPr>
          <a:xfrm>
            <a:off x="4724400" y="4044001"/>
            <a:ext cx="4320000" cy="144000"/>
          </a:xfrm>
          <a:prstGeom prst="roundRect">
            <a:avLst>
              <a:gd name="adj" fmla="val 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0138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232448-0BA2-40E5-A2C0-FE19F5B0E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981BA7-2F47-4ADB-915A-3DEA803B6C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AE45C7A-E3DB-493E-9698-B006439AB3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CA42E52-6363-4A26-9F01-A62CE34E1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AB40-DF97-4AB0-B63B-B6C2904246EB}" type="datetimeFigureOut">
              <a:rPr lang="zh-CN" altLang="en-US" smtClean="0"/>
              <a:t>2022/10/27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65B047E-2EC3-4418-B2C1-A69A89700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5C945B0-B70D-4BF6-A6CF-ED8DAA8C8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7FCF2-ED42-42D8-A15C-15AF5C91DC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9679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E450FD-26B7-480D-8261-CD4C51DD8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464C6F2-EDC6-4263-A281-7872A6E3CF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CD5D4B2-383D-449C-8900-FB1B3EB93C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7ABC02C-F6DC-4DAF-938D-195593E621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A408A11-7060-4D85-B243-5DD9655566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DFAAD3C-B42A-47A7-B768-611AFC7BE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AB40-DF97-4AB0-B63B-B6C2904246EB}" type="datetimeFigureOut">
              <a:rPr lang="zh-CN" altLang="en-US" smtClean="0"/>
              <a:t>2022/10/27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1B5FF39-DD9B-4C57-A344-275219341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7BEA18A-253C-40CA-A957-3BA37B7A1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7FCF2-ED42-42D8-A15C-15AF5C91DC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929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75BCCD-B3FE-4D64-9C90-CF64C82B1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1C5B8F4-1CBB-4613-A7A2-350FF2B86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AB40-DF97-4AB0-B63B-B6C2904246EB}" type="datetimeFigureOut">
              <a:rPr lang="zh-CN" altLang="en-US" smtClean="0"/>
              <a:t>2022/10/27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7B22DBA-ADB6-459C-8DDD-B1702C76D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D426E1B-8DFB-40A0-B0EA-1E9256D1B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7FCF2-ED42-42D8-A15C-15AF5C91DC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6122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2189721-9F85-4C93-AF25-890CD11FA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AB40-DF97-4AB0-B63B-B6C2904246EB}" type="datetimeFigureOut">
              <a:rPr lang="zh-CN" altLang="en-US" smtClean="0"/>
              <a:t>2022/10/27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E57016C-A313-4228-8D34-FC5C12BCC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0EAED29-461C-427E-94B8-4F64E97E0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7FCF2-ED42-42D8-A15C-15AF5C91DC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8515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0F51D1-5EA7-4401-99BA-1EC037C49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CF08B5-D317-4883-94CE-FAEEE05A6E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86986A2-D743-430F-AA70-9B06B2C0F6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8817CAD-5352-4EAF-B2E4-2B49B31E3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AB40-DF97-4AB0-B63B-B6C2904246EB}" type="datetimeFigureOut">
              <a:rPr lang="zh-CN" altLang="en-US" smtClean="0"/>
              <a:t>2022/10/27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1068CC4-251C-4854-9963-7DDB0C895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CB0C261-FF00-4B26-B51E-6D72F0604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7FCF2-ED42-42D8-A15C-15AF5C91DC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4414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CCB7F6-3B15-4872-B555-7F1565B90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BFA923F-001E-4E54-AE2E-D70CAC715E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8120E55-EACB-4D2C-973C-7AE05E5625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C155047-D836-41BF-B4EC-6E058AC14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AB40-DF97-4AB0-B63B-B6C2904246EB}" type="datetimeFigureOut">
              <a:rPr lang="zh-CN" altLang="en-US" smtClean="0"/>
              <a:t>2022/10/27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BEDD3A4-3A50-440F-A891-A798B3A6C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17A6A10-432E-4945-AF1E-64FDF90A2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7FCF2-ED42-42D8-A15C-15AF5C91DC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4899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116CF1-CD97-4DBA-A96F-F883552B4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399B747-8D5C-4895-A7EC-E7332E48E2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7135EC-C807-4A0E-90F1-EE1D3601D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AB40-DF97-4AB0-B63B-B6C2904246EB}" type="datetimeFigureOut">
              <a:rPr lang="zh-CN" altLang="en-US" smtClean="0"/>
              <a:t>2022/10/27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D0FB47-2483-4992-8D35-B58CEC00D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555DE4-AE2F-40B7-AF19-7220940C1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7FCF2-ED42-42D8-A15C-15AF5C91DC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2220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20F266B-DA68-452A-BFC2-0DBF135171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DC26948-9D79-4503-B7E8-FB720785EE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763795-09C4-4CE3-967D-39D8EED2D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AB40-DF97-4AB0-B63B-B6C2904246EB}" type="datetimeFigureOut">
              <a:rPr lang="zh-CN" altLang="en-US" smtClean="0"/>
              <a:t>2022/10/27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92961E-4D31-4C00-8456-DA422BEC9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04869D-578E-442B-AC17-5E714BDBD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7FCF2-ED42-42D8-A15C-15AF5C91DC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99983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9">
            <a:extLst>
              <a:ext uri="{FF2B5EF4-FFF2-40B4-BE49-F238E27FC236}">
                <a16:creationId xmlns:a16="http://schemas.microsoft.com/office/drawing/2014/main" id="{36484A2C-39A1-4BDC-B92B-AF52D58B0F5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63" y="5035550"/>
            <a:ext cx="1143000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组合 11">
            <a:extLst>
              <a:ext uri="{FF2B5EF4-FFF2-40B4-BE49-F238E27FC236}">
                <a16:creationId xmlns:a16="http://schemas.microsoft.com/office/drawing/2014/main" id="{56818F0A-1B6A-44A9-9717-55DA1C8C1ED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4741863"/>
            <a:ext cx="9043988" cy="142875"/>
            <a:chOff x="76199" y="1241003"/>
            <a:chExt cx="9044401" cy="144000"/>
          </a:xfrm>
        </p:grpSpPr>
        <p:sp>
          <p:nvSpPr>
            <p:cNvPr id="9" name="圆角矩形 11">
              <a:extLst>
                <a:ext uri="{FF2B5EF4-FFF2-40B4-BE49-F238E27FC236}">
                  <a16:creationId xmlns:a16="http://schemas.microsoft.com/office/drawing/2014/main" id="{2658448A-EA7B-40C8-99E5-5CDD7E4A2B5E}"/>
                </a:ext>
              </a:extLst>
            </p:cNvPr>
            <p:cNvSpPr/>
            <p:nvPr/>
          </p:nvSpPr>
          <p:spPr>
            <a:xfrm>
              <a:off x="76199" y="1241003"/>
              <a:ext cx="1487556" cy="144000"/>
            </a:xfrm>
            <a:prstGeom prst="roundRect">
              <a:avLst>
                <a:gd name="adj" fmla="val 0"/>
              </a:avLst>
            </a:prstGeom>
            <a:solidFill>
              <a:srgbClr val="C83C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0" name="圆角矩形 12">
              <a:extLst>
                <a:ext uri="{FF2B5EF4-FFF2-40B4-BE49-F238E27FC236}">
                  <a16:creationId xmlns:a16="http://schemas.microsoft.com/office/drawing/2014/main" id="{0F1BA9DE-48A6-4320-A3CB-CA0618F88CA6}"/>
                </a:ext>
              </a:extLst>
            </p:cNvPr>
            <p:cNvSpPr/>
            <p:nvPr/>
          </p:nvSpPr>
          <p:spPr>
            <a:xfrm>
              <a:off x="1630433" y="1241003"/>
              <a:ext cx="3103704" cy="14400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1" name="圆角矩形 13">
              <a:extLst>
                <a:ext uri="{FF2B5EF4-FFF2-40B4-BE49-F238E27FC236}">
                  <a16:creationId xmlns:a16="http://schemas.microsoft.com/office/drawing/2014/main" id="{95532181-9B56-4565-85B0-26FAE243974A}"/>
                </a:ext>
              </a:extLst>
            </p:cNvPr>
            <p:cNvSpPr/>
            <p:nvPr/>
          </p:nvSpPr>
          <p:spPr>
            <a:xfrm>
              <a:off x="4800815" y="1241003"/>
              <a:ext cx="4319785" cy="144000"/>
            </a:xfrm>
            <a:prstGeom prst="roundRect">
              <a:avLst>
                <a:gd name="adj" fmla="val 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pic>
        <p:nvPicPr>
          <p:cNvPr id="12" name="图片 18">
            <a:extLst>
              <a:ext uri="{FF2B5EF4-FFF2-40B4-BE49-F238E27FC236}">
                <a16:creationId xmlns:a16="http://schemas.microsoft.com/office/drawing/2014/main" id="{C6EF10A3-5E14-4AC4-BEC5-788C4A6ABF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5035550"/>
            <a:ext cx="4313238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图片 20">
            <a:extLst>
              <a:ext uri="{FF2B5EF4-FFF2-40B4-BE49-F238E27FC236}">
                <a16:creationId xmlns:a16="http://schemas.microsoft.com/office/drawing/2014/main" id="{E5368EC2-A439-426F-9848-8912DFFAC14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4325" y="5035550"/>
            <a:ext cx="3019425" cy="1436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图片 3">
            <a:extLst>
              <a:ext uri="{FF2B5EF4-FFF2-40B4-BE49-F238E27FC236}">
                <a16:creationId xmlns:a16="http://schemas.microsoft.com/office/drawing/2014/main" id="{DB79EDD7-2DA9-41B8-BF25-43496C70960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2" t="5525" r="8671" b="8884"/>
          <a:stretch/>
        </p:blipFill>
        <p:spPr bwMode="auto">
          <a:xfrm>
            <a:off x="106362" y="56707"/>
            <a:ext cx="4366401" cy="1013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621198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23551FB5-644E-4958-A980-4C6B4A9B56E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41722" y="6645423"/>
            <a:ext cx="9045575" cy="142875"/>
            <a:chOff x="76199" y="1241003"/>
            <a:chExt cx="9044401" cy="144000"/>
          </a:xfrm>
        </p:grpSpPr>
        <p:sp>
          <p:nvSpPr>
            <p:cNvPr id="8" name="圆角矩形 11">
              <a:extLst>
                <a:ext uri="{FF2B5EF4-FFF2-40B4-BE49-F238E27FC236}">
                  <a16:creationId xmlns:a16="http://schemas.microsoft.com/office/drawing/2014/main" id="{206B57DE-B2E2-477E-A47F-DA530482154A}"/>
                </a:ext>
              </a:extLst>
            </p:cNvPr>
            <p:cNvSpPr/>
            <p:nvPr/>
          </p:nvSpPr>
          <p:spPr>
            <a:xfrm>
              <a:off x="76199" y="1241003"/>
              <a:ext cx="1487294" cy="144000"/>
            </a:xfrm>
            <a:prstGeom prst="roundRect">
              <a:avLst>
                <a:gd name="adj" fmla="val 0"/>
              </a:avLst>
            </a:prstGeom>
            <a:solidFill>
              <a:srgbClr val="C83C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9" name="圆角矩形 12">
              <a:extLst>
                <a:ext uri="{FF2B5EF4-FFF2-40B4-BE49-F238E27FC236}">
                  <a16:creationId xmlns:a16="http://schemas.microsoft.com/office/drawing/2014/main" id="{38C3280C-D608-4B4D-8279-5808A7C72777}"/>
                </a:ext>
              </a:extLst>
            </p:cNvPr>
            <p:cNvSpPr/>
            <p:nvPr/>
          </p:nvSpPr>
          <p:spPr>
            <a:xfrm>
              <a:off x="1630159" y="1241003"/>
              <a:ext cx="3103160" cy="14400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0" name="圆角矩形 13">
              <a:extLst>
                <a:ext uri="{FF2B5EF4-FFF2-40B4-BE49-F238E27FC236}">
                  <a16:creationId xmlns:a16="http://schemas.microsoft.com/office/drawing/2014/main" id="{43328620-830D-498B-AD47-8DBB81A79D3F}"/>
                </a:ext>
              </a:extLst>
            </p:cNvPr>
            <p:cNvSpPr/>
            <p:nvPr/>
          </p:nvSpPr>
          <p:spPr>
            <a:xfrm>
              <a:off x="4799986" y="1241003"/>
              <a:ext cx="4320614" cy="144000"/>
            </a:xfrm>
            <a:prstGeom prst="roundRect">
              <a:avLst>
                <a:gd name="adj" fmla="val 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pic>
        <p:nvPicPr>
          <p:cNvPr id="11" name="图片 3">
            <a:extLst>
              <a:ext uri="{FF2B5EF4-FFF2-40B4-BE49-F238E27FC236}">
                <a16:creationId xmlns:a16="http://schemas.microsoft.com/office/drawing/2014/main" id="{B0C51A74-65A9-4F9C-9DAC-5C9B5FEFDC4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563" y="0"/>
            <a:ext cx="776287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C46ADAA-5CE7-436F-BDC5-5BE32504D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06671" y="6174558"/>
            <a:ext cx="442918" cy="396090"/>
          </a:xfrm>
        </p:spPr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475944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B8A4DFA5-2C7C-4472-BAF1-4432A08D48B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725176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7376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23"/>
          <p:cNvGrpSpPr>
            <a:grpSpLocks/>
          </p:cNvGrpSpPr>
          <p:nvPr userDrawn="1"/>
        </p:nvGrpSpPr>
        <p:grpSpPr bwMode="auto">
          <a:xfrm>
            <a:off x="371475" y="-190500"/>
            <a:ext cx="1230313" cy="1358900"/>
            <a:chOff x="371610" y="-231341"/>
            <a:chExt cx="1230631" cy="1358900"/>
          </a:xfrm>
        </p:grpSpPr>
        <p:sp>
          <p:nvSpPr>
            <p:cNvPr id="7" name="同侧圆角矩形 6"/>
            <p:cNvSpPr/>
            <p:nvPr/>
          </p:nvSpPr>
          <p:spPr>
            <a:xfrm flipV="1">
              <a:off x="627264" y="-36078"/>
              <a:ext cx="719323" cy="96837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EE81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465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" name="同侧圆角矩形 7"/>
            <p:cNvSpPr/>
            <p:nvPr/>
          </p:nvSpPr>
          <p:spPr>
            <a:xfrm flipV="1">
              <a:off x="627264" y="-36078"/>
              <a:ext cx="719323" cy="96837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EE81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465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pic>
          <p:nvPicPr>
            <p:cNvPr id="9" name="图片 29" descr="logo（背景透明）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1610" y="-231341"/>
              <a:ext cx="1230631" cy="1358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0" name="组合 7"/>
          <p:cNvGrpSpPr>
            <a:grpSpLocks/>
          </p:cNvGrpSpPr>
          <p:nvPr userDrawn="1"/>
        </p:nvGrpSpPr>
        <p:grpSpPr bwMode="auto">
          <a:xfrm>
            <a:off x="76200" y="2151063"/>
            <a:ext cx="9043988" cy="381000"/>
            <a:chOff x="76200" y="2151457"/>
            <a:chExt cx="9043988" cy="381000"/>
          </a:xfrm>
        </p:grpSpPr>
        <p:sp>
          <p:nvSpPr>
            <p:cNvPr id="11" name="圆角矩形 10"/>
            <p:cNvSpPr/>
            <p:nvPr/>
          </p:nvSpPr>
          <p:spPr>
            <a:xfrm>
              <a:off x="76200" y="2294332"/>
              <a:ext cx="1676400" cy="144462"/>
            </a:xfrm>
            <a:prstGeom prst="roundRect">
              <a:avLst>
                <a:gd name="adj" fmla="val 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2" name="圆角矩形 11"/>
            <p:cNvSpPr/>
            <p:nvPr/>
          </p:nvSpPr>
          <p:spPr>
            <a:xfrm>
              <a:off x="1524000" y="2294332"/>
              <a:ext cx="3200400" cy="144462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3" name="圆角矩形 12"/>
            <p:cNvSpPr/>
            <p:nvPr/>
          </p:nvSpPr>
          <p:spPr>
            <a:xfrm>
              <a:off x="4800600" y="2294332"/>
              <a:ext cx="4319588" cy="144462"/>
            </a:xfrm>
            <a:prstGeom prst="roundRect">
              <a:avLst>
                <a:gd name="adj" fmla="val 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4" name="圆角矩形 13"/>
            <p:cNvSpPr/>
            <p:nvPr/>
          </p:nvSpPr>
          <p:spPr>
            <a:xfrm rot="1383523">
              <a:off x="1417638" y="2151457"/>
              <a:ext cx="215900" cy="381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5" name="圆角矩形 14"/>
            <p:cNvSpPr/>
            <p:nvPr/>
          </p:nvSpPr>
          <p:spPr>
            <a:xfrm rot="1383523">
              <a:off x="4616450" y="2151457"/>
              <a:ext cx="215900" cy="381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pic>
        <p:nvPicPr>
          <p:cNvPr id="16" name="Picture 7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253" b="10274"/>
          <a:stretch>
            <a:fillRect/>
          </a:stretch>
        </p:blipFill>
        <p:spPr bwMode="auto">
          <a:xfrm>
            <a:off x="157163" y="5467350"/>
            <a:ext cx="1957387" cy="126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3"/>
          <p:cNvPicPr>
            <a:picLocks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1225" y="5478463"/>
            <a:ext cx="2124075" cy="1262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4"/>
          <p:cNvPicPr>
            <a:picLocks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4675" y="5478463"/>
            <a:ext cx="2390775" cy="1262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" name="Picture 2"/>
          <p:cNvPicPr>
            <a:picLocks noChangeAspect="1" noChangeArrowheads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45"/>
          <a:stretch/>
        </p:blipFill>
        <p:spPr bwMode="auto">
          <a:xfrm>
            <a:off x="6846888" y="5467351"/>
            <a:ext cx="2220912" cy="1273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" name="Picture 3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7463" y="4702719"/>
            <a:ext cx="1506537" cy="844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1" name="TextBox 2"/>
          <p:cNvSpPr txBox="1">
            <a:spLocks noChangeArrowheads="1"/>
          </p:cNvSpPr>
          <p:nvPr userDrawn="1"/>
        </p:nvSpPr>
        <p:spPr bwMode="auto">
          <a:xfrm>
            <a:off x="8172400" y="5165911"/>
            <a:ext cx="7810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zh-CN" sz="900" b="0" baseline="0" dirty="0">
                <a:latin typeface="黑体" panose="02010609060101010101" pitchFamily="49" charset="-122"/>
                <a:ea typeface="黑体" panose="02010609060101010101" pitchFamily="49" charset="-122"/>
              </a:rPr>
              <a:t>Since 2016</a:t>
            </a:r>
            <a:endParaRPr lang="zh-CN" altLang="en-US" sz="900" b="0" baseline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149133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0" y="6526213"/>
            <a:ext cx="67945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" name="组合 7"/>
          <p:cNvGrpSpPr>
            <a:grpSpLocks/>
          </p:cNvGrpSpPr>
          <p:nvPr userDrawn="1"/>
        </p:nvGrpSpPr>
        <p:grpSpPr bwMode="auto">
          <a:xfrm>
            <a:off x="73025" y="6643688"/>
            <a:ext cx="8150225" cy="144462"/>
            <a:chOff x="76199" y="2293938"/>
            <a:chExt cx="9043989" cy="144462"/>
          </a:xfrm>
        </p:grpSpPr>
        <p:sp>
          <p:nvSpPr>
            <p:cNvPr id="4" name="圆角矩形 3"/>
            <p:cNvSpPr/>
            <p:nvPr/>
          </p:nvSpPr>
          <p:spPr>
            <a:xfrm>
              <a:off x="76199" y="2293938"/>
              <a:ext cx="1250727" cy="144462"/>
            </a:xfrm>
            <a:prstGeom prst="roundRect">
              <a:avLst>
                <a:gd name="adj" fmla="val 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" name="圆角矩形 4"/>
            <p:cNvSpPr/>
            <p:nvPr/>
          </p:nvSpPr>
          <p:spPr>
            <a:xfrm>
              <a:off x="1415005" y="2293938"/>
              <a:ext cx="3310023" cy="144462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" name="圆角矩形 5"/>
            <p:cNvSpPr/>
            <p:nvPr/>
          </p:nvSpPr>
          <p:spPr>
            <a:xfrm>
              <a:off x="4800776" y="2293938"/>
              <a:ext cx="4319412" cy="144462"/>
            </a:xfrm>
            <a:prstGeom prst="roundRect">
              <a:avLst>
                <a:gd name="adj" fmla="val 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</p:grpSp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6213" y="-104775"/>
            <a:ext cx="854075" cy="94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燕尾形 7"/>
          <p:cNvSpPr/>
          <p:nvPr userDrawn="1"/>
        </p:nvSpPr>
        <p:spPr>
          <a:xfrm>
            <a:off x="107504" y="70250"/>
            <a:ext cx="484632" cy="484632"/>
          </a:xfrm>
          <a:prstGeom prst="chevron">
            <a:avLst>
              <a:gd name="adj" fmla="val 58203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燕尾形 8"/>
          <p:cNvSpPr/>
          <p:nvPr userDrawn="1"/>
        </p:nvSpPr>
        <p:spPr>
          <a:xfrm>
            <a:off x="414960" y="64048"/>
            <a:ext cx="484632" cy="484632"/>
          </a:xfrm>
          <a:prstGeom prst="chevron">
            <a:avLst>
              <a:gd name="adj" fmla="val 58203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687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8B20F97-D093-4167-88EF-C188D3B8D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B78C6B4-EDBC-4C7B-80E2-2A36D8872A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B1772D-D631-4D4E-BF62-42EF4690EB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B1AB40-DF97-4AB0-B63B-B6C2904246EB}" type="datetimeFigureOut">
              <a:rPr lang="zh-CN" altLang="en-US" smtClean="0"/>
              <a:t>2022/10/27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AFB56B-864D-497D-8AE9-5E092905F7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32445E-5DFA-480A-96AF-CCD8859EA9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F7FCF2-ED42-42D8-A15C-15AF5C91DC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2342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  <p:sldLayoutId id="2147483733" r:id="rId12"/>
    <p:sldLayoutId id="2147483734" r:id="rId13"/>
    <p:sldLayoutId id="2147483760" r:id="rId14"/>
    <p:sldLayoutId id="2147483761" r:id="rId15"/>
    <p:sldLayoutId id="2147483762" r:id="rId16"/>
    <p:sldLayoutId id="2147483763" r:id="rId17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19.wmf"/><Relationship Id="rId18" Type="http://schemas.openxmlformats.org/officeDocument/2006/relationships/oleObject" Target="../embeddings/oleObject9.bin"/><Relationship Id="rId26" Type="http://schemas.openxmlformats.org/officeDocument/2006/relationships/oleObject" Target="../embeddings/oleObject13.bin"/><Relationship Id="rId3" Type="http://schemas.openxmlformats.org/officeDocument/2006/relationships/image" Target="../media/image14.wmf"/><Relationship Id="rId21" Type="http://schemas.openxmlformats.org/officeDocument/2006/relationships/image" Target="../media/image23.wmf"/><Relationship Id="rId7" Type="http://schemas.openxmlformats.org/officeDocument/2006/relationships/image" Target="../media/image16.w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21.wmf"/><Relationship Id="rId25" Type="http://schemas.openxmlformats.org/officeDocument/2006/relationships/image" Target="../media/image25.wmf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8.bin"/><Relationship Id="rId20" Type="http://schemas.openxmlformats.org/officeDocument/2006/relationships/oleObject" Target="../embeddings/oleObject10.bin"/><Relationship Id="rId29" Type="http://schemas.openxmlformats.org/officeDocument/2006/relationships/image" Target="../media/image27.wmf"/><Relationship Id="rId1" Type="http://schemas.openxmlformats.org/officeDocument/2006/relationships/slideLayout" Target="../slideLayouts/slideLayout17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18.wmf"/><Relationship Id="rId24" Type="http://schemas.openxmlformats.org/officeDocument/2006/relationships/oleObject" Target="../embeddings/oleObject12.bin"/><Relationship Id="rId5" Type="http://schemas.openxmlformats.org/officeDocument/2006/relationships/image" Target="../media/image15.wmf"/><Relationship Id="rId15" Type="http://schemas.openxmlformats.org/officeDocument/2006/relationships/image" Target="../media/image20.wmf"/><Relationship Id="rId23" Type="http://schemas.openxmlformats.org/officeDocument/2006/relationships/image" Target="../media/image24.wmf"/><Relationship Id="rId28" Type="http://schemas.openxmlformats.org/officeDocument/2006/relationships/oleObject" Target="../embeddings/oleObject14.bin"/><Relationship Id="rId10" Type="http://schemas.openxmlformats.org/officeDocument/2006/relationships/oleObject" Target="../embeddings/oleObject5.bin"/><Relationship Id="rId19" Type="http://schemas.openxmlformats.org/officeDocument/2006/relationships/image" Target="../media/image22.wmf"/><Relationship Id="rId31" Type="http://schemas.openxmlformats.org/officeDocument/2006/relationships/image" Target="../media/image28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17.wmf"/><Relationship Id="rId14" Type="http://schemas.openxmlformats.org/officeDocument/2006/relationships/oleObject" Target="../embeddings/oleObject7.bin"/><Relationship Id="rId22" Type="http://schemas.openxmlformats.org/officeDocument/2006/relationships/oleObject" Target="../embeddings/oleObject11.bin"/><Relationship Id="rId27" Type="http://schemas.openxmlformats.org/officeDocument/2006/relationships/image" Target="../media/image26.wmf"/><Relationship Id="rId30" Type="http://schemas.openxmlformats.org/officeDocument/2006/relationships/oleObject" Target="../embeddings/oleObject15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3" Type="http://schemas.openxmlformats.org/officeDocument/2006/relationships/image" Target="../media/image29.wmf"/><Relationship Id="rId7" Type="http://schemas.openxmlformats.org/officeDocument/2006/relationships/image" Target="../media/image31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17.xml"/><Relationship Id="rId6" Type="http://schemas.openxmlformats.org/officeDocument/2006/relationships/oleObject" Target="../embeddings/oleObject18.bin"/><Relationship Id="rId5" Type="http://schemas.openxmlformats.org/officeDocument/2006/relationships/image" Target="../media/image30.wmf"/><Relationship Id="rId10" Type="http://schemas.openxmlformats.org/officeDocument/2006/relationships/image" Target="../media/image33.png"/><Relationship Id="rId4" Type="http://schemas.openxmlformats.org/officeDocument/2006/relationships/oleObject" Target="../embeddings/oleObject17.bin"/><Relationship Id="rId9" Type="http://schemas.openxmlformats.org/officeDocument/2006/relationships/image" Target="../media/image32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13" Type="http://schemas.openxmlformats.org/officeDocument/2006/relationships/oleObject" Target="../embeddings/oleObject25.bin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2.bin"/><Relationship Id="rId12" Type="http://schemas.openxmlformats.org/officeDocument/2006/relationships/image" Target="../media/image49.wmf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46.wmf"/><Relationship Id="rId11" Type="http://schemas.openxmlformats.org/officeDocument/2006/relationships/oleObject" Target="../embeddings/oleObject24.bin"/><Relationship Id="rId5" Type="http://schemas.openxmlformats.org/officeDocument/2006/relationships/oleObject" Target="../embeddings/oleObject21.bin"/><Relationship Id="rId10" Type="http://schemas.openxmlformats.org/officeDocument/2006/relationships/image" Target="../media/image48.wmf"/><Relationship Id="rId4" Type="http://schemas.openxmlformats.org/officeDocument/2006/relationships/image" Target="../media/image45.wmf"/><Relationship Id="rId9" Type="http://schemas.openxmlformats.org/officeDocument/2006/relationships/oleObject" Target="../embeddings/oleObject23.bin"/><Relationship Id="rId14" Type="http://schemas.openxmlformats.org/officeDocument/2006/relationships/image" Target="../media/image50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7" Type="http://schemas.openxmlformats.org/officeDocument/2006/relationships/image" Target="../media/image51.wmf"/><Relationship Id="rId12" Type="http://schemas.openxmlformats.org/officeDocument/2006/relationships/image" Target="../media/image85.png"/><Relationship Id="rId2" Type="http://schemas.openxmlformats.org/officeDocument/2006/relationships/oleObject" Target="../embeddings/oleObject26.bin"/><Relationship Id="rId1" Type="http://schemas.openxmlformats.org/officeDocument/2006/relationships/slideLayout" Target="../slideLayouts/slideLayout17.xml"/><Relationship Id="rId6" Type="http://schemas.openxmlformats.org/officeDocument/2006/relationships/oleObject" Target="../embeddings/oleObject28.bin"/><Relationship Id="rId11" Type="http://schemas.openxmlformats.org/officeDocument/2006/relationships/image" Target="../media/image84.png"/><Relationship Id="rId5" Type="http://schemas.openxmlformats.org/officeDocument/2006/relationships/image" Target="../media/image48.wmf"/><Relationship Id="rId10" Type="http://schemas.openxmlformats.org/officeDocument/2006/relationships/image" Target="../media/image52.png"/><Relationship Id="rId4" Type="http://schemas.openxmlformats.org/officeDocument/2006/relationships/oleObject" Target="../embeddings/oleObject27.bin"/><Relationship Id="rId9" Type="http://schemas.openxmlformats.org/officeDocument/2006/relationships/image" Target="../media/image8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5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3" Type="http://schemas.openxmlformats.org/officeDocument/2006/relationships/image" Target="../media/image56.wmf"/><Relationship Id="rId7" Type="http://schemas.openxmlformats.org/officeDocument/2006/relationships/image" Target="../media/image58.wmf"/><Relationship Id="rId2" Type="http://schemas.openxmlformats.org/officeDocument/2006/relationships/oleObject" Target="../embeddings/oleObject29.bin"/><Relationship Id="rId1" Type="http://schemas.openxmlformats.org/officeDocument/2006/relationships/slideLayout" Target="../slideLayouts/slideLayout17.xml"/><Relationship Id="rId6" Type="http://schemas.openxmlformats.org/officeDocument/2006/relationships/oleObject" Target="../embeddings/oleObject31.bin"/><Relationship Id="rId5" Type="http://schemas.openxmlformats.org/officeDocument/2006/relationships/image" Target="../media/image57.wmf"/><Relationship Id="rId4" Type="http://schemas.openxmlformats.org/officeDocument/2006/relationships/oleObject" Target="../embeddings/oleObject30.bin"/><Relationship Id="rId9" Type="http://schemas.openxmlformats.org/officeDocument/2006/relationships/image" Target="../media/image59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.bin"/><Relationship Id="rId13" Type="http://schemas.openxmlformats.org/officeDocument/2006/relationships/image" Target="../media/image65.wmf"/><Relationship Id="rId3" Type="http://schemas.openxmlformats.org/officeDocument/2006/relationships/image" Target="../media/image60.wmf"/><Relationship Id="rId7" Type="http://schemas.openxmlformats.org/officeDocument/2006/relationships/image" Target="../media/image62.wmf"/><Relationship Id="rId12" Type="http://schemas.openxmlformats.org/officeDocument/2006/relationships/oleObject" Target="../embeddings/oleObject38.bin"/><Relationship Id="rId2" Type="http://schemas.openxmlformats.org/officeDocument/2006/relationships/oleObject" Target="../embeddings/oleObject33.bin"/><Relationship Id="rId16" Type="http://schemas.openxmlformats.org/officeDocument/2006/relationships/image" Target="../media/image67.png"/><Relationship Id="rId1" Type="http://schemas.openxmlformats.org/officeDocument/2006/relationships/slideLayout" Target="../slideLayouts/slideLayout17.xml"/><Relationship Id="rId6" Type="http://schemas.openxmlformats.org/officeDocument/2006/relationships/oleObject" Target="../embeddings/oleObject35.bin"/><Relationship Id="rId11" Type="http://schemas.openxmlformats.org/officeDocument/2006/relationships/image" Target="../media/image64.wmf"/><Relationship Id="rId5" Type="http://schemas.openxmlformats.org/officeDocument/2006/relationships/image" Target="../media/image61.wmf"/><Relationship Id="rId15" Type="http://schemas.openxmlformats.org/officeDocument/2006/relationships/image" Target="../media/image66.wmf"/><Relationship Id="rId10" Type="http://schemas.openxmlformats.org/officeDocument/2006/relationships/oleObject" Target="../embeddings/oleObject37.bin"/><Relationship Id="rId4" Type="http://schemas.openxmlformats.org/officeDocument/2006/relationships/oleObject" Target="../embeddings/oleObject34.bin"/><Relationship Id="rId9" Type="http://schemas.openxmlformats.org/officeDocument/2006/relationships/image" Target="../media/image63.wmf"/><Relationship Id="rId14" Type="http://schemas.openxmlformats.org/officeDocument/2006/relationships/oleObject" Target="../embeddings/oleObject39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wmf"/><Relationship Id="rId3" Type="http://schemas.openxmlformats.org/officeDocument/2006/relationships/oleObject" Target="../embeddings/oleObject40.bin"/><Relationship Id="rId7" Type="http://schemas.openxmlformats.org/officeDocument/2006/relationships/oleObject" Target="../embeddings/oleObject42.bin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70.wmf"/><Relationship Id="rId5" Type="http://schemas.openxmlformats.org/officeDocument/2006/relationships/oleObject" Target="../embeddings/oleObject41.bin"/><Relationship Id="rId10" Type="http://schemas.openxmlformats.org/officeDocument/2006/relationships/image" Target="../media/image72.wmf"/><Relationship Id="rId4" Type="http://schemas.openxmlformats.org/officeDocument/2006/relationships/image" Target="../media/image69.wmf"/><Relationship Id="rId9" Type="http://schemas.openxmlformats.org/officeDocument/2006/relationships/oleObject" Target="../embeddings/oleObject43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7.bin"/><Relationship Id="rId13" Type="http://schemas.openxmlformats.org/officeDocument/2006/relationships/image" Target="../media/image78.wmf"/><Relationship Id="rId18" Type="http://schemas.openxmlformats.org/officeDocument/2006/relationships/oleObject" Target="../embeddings/oleObject52.bin"/><Relationship Id="rId3" Type="http://schemas.openxmlformats.org/officeDocument/2006/relationships/image" Target="../media/image73.wmf"/><Relationship Id="rId21" Type="http://schemas.openxmlformats.org/officeDocument/2006/relationships/image" Target="../media/image82.wmf"/><Relationship Id="rId7" Type="http://schemas.openxmlformats.org/officeDocument/2006/relationships/image" Target="../media/image75.wmf"/><Relationship Id="rId12" Type="http://schemas.openxmlformats.org/officeDocument/2006/relationships/oleObject" Target="../embeddings/oleObject49.bin"/><Relationship Id="rId17" Type="http://schemas.openxmlformats.org/officeDocument/2006/relationships/image" Target="../media/image80.wmf"/><Relationship Id="rId2" Type="http://schemas.openxmlformats.org/officeDocument/2006/relationships/oleObject" Target="../embeddings/oleObject44.bin"/><Relationship Id="rId16" Type="http://schemas.openxmlformats.org/officeDocument/2006/relationships/oleObject" Target="../embeddings/oleObject51.bin"/><Relationship Id="rId20" Type="http://schemas.openxmlformats.org/officeDocument/2006/relationships/oleObject" Target="../embeddings/oleObject53.bin"/><Relationship Id="rId1" Type="http://schemas.openxmlformats.org/officeDocument/2006/relationships/slideLayout" Target="../slideLayouts/slideLayout17.xml"/><Relationship Id="rId6" Type="http://schemas.openxmlformats.org/officeDocument/2006/relationships/oleObject" Target="../embeddings/oleObject46.bin"/><Relationship Id="rId11" Type="http://schemas.openxmlformats.org/officeDocument/2006/relationships/image" Target="../media/image77.wmf"/><Relationship Id="rId5" Type="http://schemas.openxmlformats.org/officeDocument/2006/relationships/image" Target="../media/image74.wmf"/><Relationship Id="rId15" Type="http://schemas.openxmlformats.org/officeDocument/2006/relationships/image" Target="../media/image79.wmf"/><Relationship Id="rId23" Type="http://schemas.openxmlformats.org/officeDocument/2006/relationships/image" Target="../media/image86.png"/><Relationship Id="rId10" Type="http://schemas.openxmlformats.org/officeDocument/2006/relationships/oleObject" Target="../embeddings/oleObject48.bin"/><Relationship Id="rId19" Type="http://schemas.openxmlformats.org/officeDocument/2006/relationships/image" Target="../media/image81.wmf"/><Relationship Id="rId4" Type="http://schemas.openxmlformats.org/officeDocument/2006/relationships/oleObject" Target="../embeddings/oleObject45.bin"/><Relationship Id="rId9" Type="http://schemas.openxmlformats.org/officeDocument/2006/relationships/image" Target="../media/image76.wmf"/><Relationship Id="rId14" Type="http://schemas.openxmlformats.org/officeDocument/2006/relationships/oleObject" Target="../embeddings/oleObject50.bin"/><Relationship Id="rId22" Type="http://schemas.openxmlformats.org/officeDocument/2006/relationships/image" Target="../media/image83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wmf"/><Relationship Id="rId3" Type="http://schemas.openxmlformats.org/officeDocument/2006/relationships/image" Target="../media/image76.wmf"/><Relationship Id="rId7" Type="http://schemas.openxmlformats.org/officeDocument/2006/relationships/oleObject" Target="../embeddings/oleObject56.bin"/><Relationship Id="rId2" Type="http://schemas.openxmlformats.org/officeDocument/2006/relationships/oleObject" Target="../embeddings/oleObject54.bin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88.wmf"/><Relationship Id="rId5" Type="http://schemas.openxmlformats.org/officeDocument/2006/relationships/oleObject" Target="../embeddings/oleObject55.bin"/><Relationship Id="rId4" Type="http://schemas.openxmlformats.org/officeDocument/2006/relationships/image" Target="../media/image8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89.jpe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jpg"/><Relationship Id="rId2" Type="http://schemas.openxmlformats.org/officeDocument/2006/relationships/image" Target="../media/image90.jp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image" Target="../media/image96.wmf"/><Relationship Id="rId7" Type="http://schemas.openxmlformats.org/officeDocument/2006/relationships/image" Target="../media/image98.wmf"/><Relationship Id="rId2" Type="http://schemas.openxmlformats.org/officeDocument/2006/relationships/oleObject" Target="../embeddings/oleObject57.bin"/><Relationship Id="rId1" Type="http://schemas.openxmlformats.org/officeDocument/2006/relationships/slideLayout" Target="../slideLayouts/slideLayout17.xml"/><Relationship Id="rId6" Type="http://schemas.openxmlformats.org/officeDocument/2006/relationships/oleObject" Target="../embeddings/oleObject59.bin"/><Relationship Id="rId5" Type="http://schemas.openxmlformats.org/officeDocument/2006/relationships/image" Target="../media/image97.wmf"/><Relationship Id="rId10" Type="http://schemas.openxmlformats.org/officeDocument/2006/relationships/image" Target="../media/image101.png"/><Relationship Id="rId4" Type="http://schemas.openxmlformats.org/officeDocument/2006/relationships/oleObject" Target="../embeddings/oleObject58.bin"/><Relationship Id="rId9" Type="http://schemas.openxmlformats.org/officeDocument/2006/relationships/image" Target="../media/image10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7" Type="http://schemas.openxmlformats.org/officeDocument/2006/relationships/image" Target="../media/image107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06.png"/><Relationship Id="rId5" Type="http://schemas.openxmlformats.org/officeDocument/2006/relationships/image" Target="../media/image105.png"/><Relationship Id="rId4" Type="http://schemas.openxmlformats.org/officeDocument/2006/relationships/image" Target="../media/image10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48.png"/><Relationship Id="rId4" Type="http://schemas.openxmlformats.org/officeDocument/2006/relationships/image" Target="../media/image110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wmf"/><Relationship Id="rId3" Type="http://schemas.openxmlformats.org/officeDocument/2006/relationships/oleObject" Target="../embeddings/oleObject60.bin"/><Relationship Id="rId7" Type="http://schemas.openxmlformats.org/officeDocument/2006/relationships/oleObject" Target="../embeddings/oleObject62.bin"/><Relationship Id="rId2" Type="http://schemas.openxmlformats.org/officeDocument/2006/relationships/image" Target="../media/image113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5.wmf"/><Relationship Id="rId5" Type="http://schemas.openxmlformats.org/officeDocument/2006/relationships/oleObject" Target="../embeddings/oleObject61.bin"/><Relationship Id="rId4" Type="http://schemas.openxmlformats.org/officeDocument/2006/relationships/image" Target="../media/image114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6.bin"/><Relationship Id="rId13" Type="http://schemas.openxmlformats.org/officeDocument/2006/relationships/oleObject" Target="../embeddings/oleObject68.bin"/><Relationship Id="rId3" Type="http://schemas.openxmlformats.org/officeDocument/2006/relationships/image" Target="../media/image117.wmf"/><Relationship Id="rId7" Type="http://schemas.openxmlformats.org/officeDocument/2006/relationships/image" Target="../media/image114.wmf"/><Relationship Id="rId12" Type="http://schemas.openxmlformats.org/officeDocument/2006/relationships/image" Target="../media/image113.jpg"/><Relationship Id="rId2" Type="http://schemas.openxmlformats.org/officeDocument/2006/relationships/oleObject" Target="../embeddings/oleObject6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5.bin"/><Relationship Id="rId11" Type="http://schemas.openxmlformats.org/officeDocument/2006/relationships/image" Target="../media/image116.wmf"/><Relationship Id="rId5" Type="http://schemas.openxmlformats.org/officeDocument/2006/relationships/image" Target="../media/image118.wmf"/><Relationship Id="rId10" Type="http://schemas.openxmlformats.org/officeDocument/2006/relationships/oleObject" Target="../embeddings/oleObject67.bin"/><Relationship Id="rId4" Type="http://schemas.openxmlformats.org/officeDocument/2006/relationships/oleObject" Target="../embeddings/oleObject64.bin"/><Relationship Id="rId9" Type="http://schemas.openxmlformats.org/officeDocument/2006/relationships/image" Target="../media/image115.wmf"/><Relationship Id="rId14" Type="http://schemas.openxmlformats.org/officeDocument/2006/relationships/image" Target="../media/image119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wmf"/><Relationship Id="rId7" Type="http://schemas.openxmlformats.org/officeDocument/2006/relationships/image" Target="../media/image121.wmf"/><Relationship Id="rId2" Type="http://schemas.openxmlformats.org/officeDocument/2006/relationships/oleObject" Target="../embeddings/oleObject6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1.bin"/><Relationship Id="rId5" Type="http://schemas.openxmlformats.org/officeDocument/2006/relationships/image" Target="../media/image118.wmf"/><Relationship Id="rId4" Type="http://schemas.openxmlformats.org/officeDocument/2006/relationships/oleObject" Target="../embeddings/oleObject70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wmf"/><Relationship Id="rId7" Type="http://schemas.openxmlformats.org/officeDocument/2006/relationships/image" Target="../media/image124.wmf"/><Relationship Id="rId2" Type="http://schemas.openxmlformats.org/officeDocument/2006/relationships/oleObject" Target="../embeddings/oleObject7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4.bin"/><Relationship Id="rId5" Type="http://schemas.openxmlformats.org/officeDocument/2006/relationships/image" Target="../media/image123.wmf"/><Relationship Id="rId4" Type="http://schemas.openxmlformats.org/officeDocument/2006/relationships/oleObject" Target="../embeddings/oleObject73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7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wmf"/><Relationship Id="rId2" Type="http://schemas.openxmlformats.org/officeDocument/2006/relationships/oleObject" Target="../embeddings/oleObject75.bin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29.wmf"/><Relationship Id="rId4" Type="http://schemas.openxmlformats.org/officeDocument/2006/relationships/oleObject" Target="../embeddings/oleObject76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7.bin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2.wmf"/><Relationship Id="rId5" Type="http://schemas.openxmlformats.org/officeDocument/2006/relationships/oleObject" Target="../embeddings/oleObject78.bin"/><Relationship Id="rId4" Type="http://schemas.openxmlformats.org/officeDocument/2006/relationships/image" Target="../media/image131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wmf"/><Relationship Id="rId3" Type="http://schemas.openxmlformats.org/officeDocument/2006/relationships/oleObject" Target="../embeddings/oleObject79.bin"/><Relationship Id="rId7" Type="http://schemas.openxmlformats.org/officeDocument/2006/relationships/oleObject" Target="../embeddings/oleObject81.bin"/><Relationship Id="rId12" Type="http://schemas.openxmlformats.org/officeDocument/2006/relationships/image" Target="../media/image137.wmf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4.wmf"/><Relationship Id="rId11" Type="http://schemas.openxmlformats.org/officeDocument/2006/relationships/oleObject" Target="../embeddings/oleObject83.bin"/><Relationship Id="rId5" Type="http://schemas.openxmlformats.org/officeDocument/2006/relationships/oleObject" Target="../embeddings/oleObject80.bin"/><Relationship Id="rId10" Type="http://schemas.openxmlformats.org/officeDocument/2006/relationships/image" Target="../media/image136.wmf"/><Relationship Id="rId4" Type="http://schemas.openxmlformats.org/officeDocument/2006/relationships/image" Target="../media/image133.wmf"/><Relationship Id="rId9" Type="http://schemas.openxmlformats.org/officeDocument/2006/relationships/oleObject" Target="../embeddings/oleObject82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wmf"/><Relationship Id="rId13" Type="http://schemas.openxmlformats.org/officeDocument/2006/relationships/oleObject" Target="../embeddings/oleObject89.bin"/><Relationship Id="rId18" Type="http://schemas.openxmlformats.org/officeDocument/2006/relationships/image" Target="../media/image144.wmf"/><Relationship Id="rId3" Type="http://schemas.openxmlformats.org/officeDocument/2006/relationships/oleObject" Target="../embeddings/oleObject84.bin"/><Relationship Id="rId7" Type="http://schemas.openxmlformats.org/officeDocument/2006/relationships/oleObject" Target="../embeddings/oleObject86.bin"/><Relationship Id="rId12" Type="http://schemas.openxmlformats.org/officeDocument/2006/relationships/image" Target="../media/image141.wmf"/><Relationship Id="rId17" Type="http://schemas.openxmlformats.org/officeDocument/2006/relationships/oleObject" Target="../embeddings/oleObject91.bin"/><Relationship Id="rId2" Type="http://schemas.openxmlformats.org/officeDocument/2006/relationships/image" Target="../media/image130.png"/><Relationship Id="rId16" Type="http://schemas.openxmlformats.org/officeDocument/2006/relationships/image" Target="../media/image143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8.wmf"/><Relationship Id="rId11" Type="http://schemas.openxmlformats.org/officeDocument/2006/relationships/oleObject" Target="../embeddings/oleObject88.bin"/><Relationship Id="rId5" Type="http://schemas.openxmlformats.org/officeDocument/2006/relationships/oleObject" Target="../embeddings/oleObject85.bin"/><Relationship Id="rId15" Type="http://schemas.openxmlformats.org/officeDocument/2006/relationships/oleObject" Target="../embeddings/oleObject90.bin"/><Relationship Id="rId10" Type="http://schemas.openxmlformats.org/officeDocument/2006/relationships/image" Target="../media/image140.wmf"/><Relationship Id="rId4" Type="http://schemas.openxmlformats.org/officeDocument/2006/relationships/image" Target="../media/image29.wmf"/><Relationship Id="rId9" Type="http://schemas.openxmlformats.org/officeDocument/2006/relationships/oleObject" Target="../embeddings/oleObject87.bin"/><Relationship Id="rId14" Type="http://schemas.openxmlformats.org/officeDocument/2006/relationships/image" Target="../media/image142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AA9D0B63-D9C1-4432-AF96-2EA7E99C0383}"/>
              </a:ext>
            </a:extLst>
          </p:cNvPr>
          <p:cNvSpPr txBox="1">
            <a:spLocks/>
          </p:cNvSpPr>
          <p:nvPr/>
        </p:nvSpPr>
        <p:spPr>
          <a:xfrm>
            <a:off x="1279047" y="2417928"/>
            <a:ext cx="7433153" cy="20221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800" b="1" dirty="0" err="1">
                <a:solidFill>
                  <a:srgbClr val="0000FF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Weishu</a:t>
            </a:r>
            <a:r>
              <a:rPr lang="en-US" sz="2800" b="1" dirty="0">
                <a:solidFill>
                  <a:srgbClr val="0000FF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 </a:t>
            </a:r>
            <a:r>
              <a:rPr lang="en-US" altLang="zh-CN" sz="2800" b="1" dirty="0">
                <a:solidFill>
                  <a:srgbClr val="0000FF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L</a:t>
            </a:r>
            <a:r>
              <a:rPr lang="en-US" sz="2800" b="1" dirty="0">
                <a:solidFill>
                  <a:srgbClr val="0000FF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iu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Department of Materials Science and Engineering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Southern University of Science and Technology (</a:t>
            </a:r>
            <a:r>
              <a:rPr lang="en-US" sz="1800" dirty="0" err="1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SUSTec</a:t>
            </a:r>
            <a:r>
              <a:rPr lang="en-US" altLang="zh-CN" sz="1800" dirty="0" err="1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h</a:t>
            </a:r>
            <a:r>
              <a:rPr lang="en-US" sz="1800" dirty="0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Email: </a:t>
            </a:r>
            <a:r>
              <a:rPr lang="en-US" sz="1800" dirty="0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liuws@sustech.edu.cn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Office: </a:t>
            </a:r>
            <a:r>
              <a:rPr lang="en-US" altLang="zh-CN" sz="1800" dirty="0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North Tower</a:t>
            </a:r>
            <a:r>
              <a:rPr lang="en-US" sz="1800" dirty="0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, Rm310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01B1E1D-7C41-4F56-BF1E-96200593BAF0}"/>
              </a:ext>
            </a:extLst>
          </p:cNvPr>
          <p:cNvSpPr txBox="1"/>
          <p:nvPr/>
        </p:nvSpPr>
        <p:spPr>
          <a:xfrm>
            <a:off x="1279046" y="1220254"/>
            <a:ext cx="78649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Lecture 14: </a:t>
            </a:r>
            <a:r>
              <a:rPr lang="en-US" altLang="zh-CN" sz="3200" dirty="0">
                <a:solidFill>
                  <a:srgbClr val="FF0000"/>
                </a:solidFill>
                <a:ea typeface="Arial Unicode MS" panose="020B0604020202020204" charset="-122"/>
                <a:cs typeface="Arial" panose="020B0604020202020204" pitchFamily="34" charset="0"/>
                <a:sym typeface="+mn-ea"/>
              </a:rPr>
              <a:t>Subregular solution</a:t>
            </a:r>
            <a:endParaRPr lang="en-US" altLang="zh-CN" sz="3200" dirty="0">
              <a:solidFill>
                <a:srgbClr val="FF0000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1FCD8BA-D4CA-60F9-E385-FFEF31621F95}"/>
              </a:ext>
            </a:extLst>
          </p:cNvPr>
          <p:cNvSpPr/>
          <p:nvPr/>
        </p:nvSpPr>
        <p:spPr>
          <a:xfrm>
            <a:off x="2550929" y="84135"/>
            <a:ext cx="6593071" cy="5232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i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MSE 311: Thermodynamics  of Materials</a:t>
            </a:r>
          </a:p>
        </p:txBody>
      </p:sp>
    </p:spTree>
    <p:extLst>
      <p:ext uri="{BB962C8B-B14F-4D97-AF65-F5344CB8AC3E}">
        <p14:creationId xmlns:p14="http://schemas.microsoft.com/office/powerpoint/2010/main" val="2306106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968395" y="3541776"/>
            <a:ext cx="46602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华文楷体" panose="02010600040101010101" pitchFamily="2" charset="-122"/>
                <a:cs typeface="Times New Roman" panose="02020603050405020304" pitchFamily="18" charset="0"/>
              </a:rPr>
              <a:t>34. </a:t>
            </a:r>
            <a:r>
              <a:rPr lang="en-US" altLang="zh-CN" sz="2400" b="1" dirty="0">
                <a:solidFill>
                  <a:srgbClr val="FF000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The </a:t>
            </a:r>
            <a:r>
              <a:rPr lang="en-US" altLang="zh-CN" sz="2400" b="1" dirty="0">
                <a:solidFill>
                  <a:srgbClr val="FF0000"/>
                </a:solidFill>
                <a:ea typeface="Arial Unicode MS" panose="020B0604020202020204" charset="-122"/>
                <a:cs typeface="Arial" panose="020B0604020202020204" pitchFamily="34" charset="0"/>
                <a:sym typeface="+mn-ea"/>
              </a:rPr>
              <a:t>Statistic explanation  II</a:t>
            </a:r>
            <a:endParaRPr lang="en-US" altLang="zh-CN" sz="2400" b="1" dirty="0">
              <a:solidFill>
                <a:srgbClr val="FF0000"/>
              </a:solidFill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04971" y="4357223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Ref.  Introduction of Thermodynamics of Materials, D. R. Gaskell, Chapter 9</a:t>
            </a:r>
          </a:p>
        </p:txBody>
      </p:sp>
    </p:spTree>
    <p:extLst>
      <p:ext uri="{BB962C8B-B14F-4D97-AF65-F5344CB8AC3E}">
        <p14:creationId xmlns:p14="http://schemas.microsoft.com/office/powerpoint/2010/main" val="1726818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03D062E-41BA-423F-909A-6AFAD6F28FDC}"/>
              </a:ext>
            </a:extLst>
          </p:cNvPr>
          <p:cNvSpPr txBox="1"/>
          <p:nvPr/>
        </p:nvSpPr>
        <p:spPr>
          <a:xfrm>
            <a:off x="161925" y="1131837"/>
            <a:ext cx="6907800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A-B-C ternary system solid solution has 6 types of Adjacent atomic pairs: A-A,B-B,C-C,A-B,B-C,C-A.</a:t>
            </a:r>
            <a:endParaRPr lang="zh-CN" altLang="en-US" dirty="0"/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54C7864B-4950-470A-8B21-B04D1634F6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9626302"/>
              </p:ext>
            </p:extLst>
          </p:nvPr>
        </p:nvGraphicFramePr>
        <p:xfrm>
          <a:off x="617484" y="2133600"/>
          <a:ext cx="4171950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09600" imgH="393480" progId="Equation.DSMT4">
                  <p:embed/>
                </p:oleObj>
              </mc:Choice>
              <mc:Fallback>
                <p:oleObj name="Equation" r:id="rId2" imgW="30096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484" y="2133600"/>
                        <a:ext cx="4171950" cy="54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9225AB6F-8634-422B-8326-401B3A3BF5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0755105"/>
              </p:ext>
            </p:extLst>
          </p:nvPr>
        </p:nvGraphicFramePr>
        <p:xfrm>
          <a:off x="617484" y="2625113"/>
          <a:ext cx="2393950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26920" imgH="393480" progId="Equation.DSMT4">
                  <p:embed/>
                </p:oleObj>
              </mc:Choice>
              <mc:Fallback>
                <p:oleObj name="Equation" r:id="rId4" imgW="172692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484" y="2625113"/>
                        <a:ext cx="2393950" cy="54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30D46FF1-E7E5-477F-935F-E757EE8B19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2068747"/>
              </p:ext>
            </p:extLst>
          </p:nvPr>
        </p:nvGraphicFramePr>
        <p:xfrm>
          <a:off x="609547" y="3168833"/>
          <a:ext cx="2411412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39880" imgH="393480" progId="Equation.DSMT4">
                  <p:embed/>
                </p:oleObj>
              </mc:Choice>
              <mc:Fallback>
                <p:oleObj name="Equation" r:id="rId6" imgW="17398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547" y="3168833"/>
                        <a:ext cx="2411412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152F40DA-32A0-4031-A08C-52B8ED73C5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1930654"/>
              </p:ext>
            </p:extLst>
          </p:nvPr>
        </p:nvGraphicFramePr>
        <p:xfrm>
          <a:off x="5490109" y="2199942"/>
          <a:ext cx="193675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96800" imgH="228600" progId="Equation.DSMT4">
                  <p:embed/>
                </p:oleObj>
              </mc:Choice>
              <mc:Fallback>
                <p:oleObj name="Equation" r:id="rId8" imgW="13968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0109" y="2199942"/>
                        <a:ext cx="193675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F182A942-45AA-4C46-8503-36118EB4D1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0105768"/>
              </p:ext>
            </p:extLst>
          </p:nvPr>
        </p:nvGraphicFramePr>
        <p:xfrm>
          <a:off x="5503809" y="2726623"/>
          <a:ext cx="1249363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01440" imgH="228600" progId="Equation.DSMT4">
                  <p:embed/>
                </p:oleObj>
              </mc:Choice>
              <mc:Fallback>
                <p:oleObj name="Equation" r:id="rId10" imgW="9014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3809" y="2726623"/>
                        <a:ext cx="1249363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42593D76-8D31-4220-8B07-146C82289B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783804"/>
              </p:ext>
            </p:extLst>
          </p:nvPr>
        </p:nvGraphicFramePr>
        <p:xfrm>
          <a:off x="5490109" y="3234615"/>
          <a:ext cx="12319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88840" imgH="228600" progId="Equation.DSMT4">
                  <p:embed/>
                </p:oleObj>
              </mc:Choice>
              <mc:Fallback>
                <p:oleObj name="Equation" r:id="rId12" imgW="8888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0109" y="3234615"/>
                        <a:ext cx="12319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45566A6A-AD75-4741-BF9B-4671639076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2124011"/>
              </p:ext>
            </p:extLst>
          </p:nvPr>
        </p:nvGraphicFramePr>
        <p:xfrm>
          <a:off x="609600" y="3782563"/>
          <a:ext cx="54229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886200" imgH="482400" progId="Equation.DSMT4">
                  <p:embed/>
                </p:oleObj>
              </mc:Choice>
              <mc:Fallback>
                <p:oleObj name="Equation" r:id="rId14" imgW="388620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09600" y="3782563"/>
                        <a:ext cx="5422900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B21CFEA5-2402-4C79-BDE9-39413E0D19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7046960"/>
              </p:ext>
            </p:extLst>
          </p:nvPr>
        </p:nvGraphicFramePr>
        <p:xfrm>
          <a:off x="627063" y="4617588"/>
          <a:ext cx="1169987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838080" imgH="393480" progId="Equation.DSMT4">
                  <p:embed/>
                </p:oleObj>
              </mc:Choice>
              <mc:Fallback>
                <p:oleObj name="Equation" r:id="rId16" imgW="83808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27063" y="4617588"/>
                        <a:ext cx="1169987" cy="549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554713B9-9B8A-44F6-8F89-8E8C6555B9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9557274"/>
              </p:ext>
            </p:extLst>
          </p:nvPr>
        </p:nvGraphicFramePr>
        <p:xfrm>
          <a:off x="1941513" y="4608063"/>
          <a:ext cx="1169987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838080" imgH="393480" progId="Equation.DSMT4">
                  <p:embed/>
                </p:oleObj>
              </mc:Choice>
              <mc:Fallback>
                <p:oleObj name="Equation" r:id="rId18" imgW="83808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941513" y="4608063"/>
                        <a:ext cx="1169987" cy="549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95E547D0-C86E-41CC-B6B6-9727942C65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8643329"/>
              </p:ext>
            </p:extLst>
          </p:nvPr>
        </p:nvGraphicFramePr>
        <p:xfrm>
          <a:off x="3268663" y="4617588"/>
          <a:ext cx="1187450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850680" imgH="393480" progId="Equation.DSMT4">
                  <p:embed/>
                </p:oleObj>
              </mc:Choice>
              <mc:Fallback>
                <p:oleObj name="Equation" r:id="rId20" imgW="85068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3268663" y="4617588"/>
                        <a:ext cx="1187450" cy="549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FD34C5FD-BEEC-4D7D-B203-DAB5079650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9790451"/>
              </p:ext>
            </p:extLst>
          </p:nvPr>
        </p:nvGraphicFramePr>
        <p:xfrm>
          <a:off x="701675" y="5212901"/>
          <a:ext cx="2498725" cy="60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790640" imgH="431640" progId="Equation.DSMT4">
                  <p:embed/>
                </p:oleObj>
              </mc:Choice>
              <mc:Fallback>
                <p:oleObj name="Equation" r:id="rId22" imgW="179064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701675" y="5212901"/>
                        <a:ext cx="2498725" cy="6016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FEF7FB33-4FD9-4DFB-BB38-15D110D1D0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185668"/>
              </p:ext>
            </p:extLst>
          </p:nvPr>
        </p:nvGraphicFramePr>
        <p:xfrm>
          <a:off x="3275012" y="5185913"/>
          <a:ext cx="2516188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803240" imgH="431640" progId="Equation.DSMT4">
                  <p:embed/>
                </p:oleObj>
              </mc:Choice>
              <mc:Fallback>
                <p:oleObj name="Equation" r:id="rId24" imgW="180324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3275012" y="5185913"/>
                        <a:ext cx="2516188" cy="6016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DD1FC463-10B8-4E1A-8359-DBA0529B27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8434810"/>
              </p:ext>
            </p:extLst>
          </p:nvPr>
        </p:nvGraphicFramePr>
        <p:xfrm>
          <a:off x="5848350" y="5185913"/>
          <a:ext cx="2533650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815840" imgH="431640" progId="Equation.DSMT4">
                  <p:embed/>
                </p:oleObj>
              </mc:Choice>
              <mc:Fallback>
                <p:oleObj name="Equation" r:id="rId26" imgW="181584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5848350" y="5185913"/>
                        <a:ext cx="2533650" cy="6016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975043" y="11621"/>
            <a:ext cx="589937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A-B-C ternary system solid solution 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3171433"/>
              </p:ext>
            </p:extLst>
          </p:nvPr>
        </p:nvGraphicFramePr>
        <p:xfrm>
          <a:off x="7620000" y="1828800"/>
          <a:ext cx="10033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002960" imgH="241200" progId="Equation.DSMT4">
                  <p:embed/>
                </p:oleObj>
              </mc:Choice>
              <mc:Fallback>
                <p:oleObj name="Equation" r:id="rId28" imgW="100296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7620000" y="1828800"/>
                        <a:ext cx="1003300" cy="2413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矩形 24"/>
          <p:cNvSpPr/>
          <p:nvPr/>
        </p:nvSpPr>
        <p:spPr>
          <a:xfrm>
            <a:off x="7162800" y="1383268"/>
            <a:ext cx="19137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A-B binary system </a:t>
            </a:r>
            <a:endParaRPr lang="zh-CN" altLang="en-US" dirty="0"/>
          </a:p>
        </p:txBody>
      </p:sp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703263"/>
              </p:ext>
            </p:extLst>
          </p:nvPr>
        </p:nvGraphicFramePr>
        <p:xfrm>
          <a:off x="609599" y="6019801"/>
          <a:ext cx="4800601" cy="4302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2692080" imgH="241200" progId="Equation.DSMT4">
                  <p:embed/>
                </p:oleObj>
              </mc:Choice>
              <mc:Fallback>
                <p:oleObj name="Equation" r:id="rId30" imgW="269208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609599" y="6019801"/>
                        <a:ext cx="4800601" cy="4302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844554" y="6251406"/>
            <a:ext cx="32319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i="1" dirty="0">
                <a:solidFill>
                  <a:srgbClr val="0000FF"/>
                </a:solidFill>
              </a:rPr>
              <a:t>z</a:t>
            </a:r>
            <a:r>
              <a:rPr lang="zh-CN" altLang="en-US" sz="1600" i="1" dirty="0">
                <a:solidFill>
                  <a:srgbClr val="0000FF"/>
                </a:solidFill>
              </a:rPr>
              <a:t>：</a:t>
            </a:r>
            <a:r>
              <a:rPr lang="en-US" altLang="zh-CN" sz="1600" i="1" dirty="0">
                <a:solidFill>
                  <a:srgbClr val="0000FF"/>
                </a:solidFill>
              </a:rPr>
              <a:t>the number of neighbor atoms</a:t>
            </a:r>
          </a:p>
        </p:txBody>
      </p:sp>
    </p:spTree>
    <p:extLst>
      <p:ext uri="{BB962C8B-B14F-4D97-AF65-F5344CB8AC3E}">
        <p14:creationId xmlns:p14="http://schemas.microsoft.com/office/powerpoint/2010/main" val="400131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8178692"/>
              </p:ext>
            </p:extLst>
          </p:nvPr>
        </p:nvGraphicFramePr>
        <p:xfrm>
          <a:off x="381000" y="1676400"/>
          <a:ext cx="48006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92080" imgH="241200" progId="Equation.DSMT4">
                  <p:embed/>
                </p:oleObj>
              </mc:Choice>
              <mc:Fallback>
                <p:oleObj name="Equation" r:id="rId2" imgW="26920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676400"/>
                        <a:ext cx="4800600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9741493"/>
              </p:ext>
            </p:extLst>
          </p:nvPr>
        </p:nvGraphicFramePr>
        <p:xfrm>
          <a:off x="457200" y="2514600"/>
          <a:ext cx="4038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92080" imgH="253800" progId="Equation.DSMT4">
                  <p:embed/>
                </p:oleObj>
              </mc:Choice>
              <mc:Fallback>
                <p:oleObj name="Equation" r:id="rId4" imgW="269208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514600"/>
                        <a:ext cx="4038600" cy="3810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02316" y="3124200"/>
            <a:ext cx="2188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For the X</a:t>
            </a:r>
            <a:r>
              <a:rPr lang="en-US" altLang="zh-CN" baseline="-25000" dirty="0"/>
              <a:t>A</a:t>
            </a:r>
            <a:r>
              <a:rPr lang="en-US" altLang="zh-CN" dirty="0"/>
              <a:t>=X</a:t>
            </a:r>
            <a:r>
              <a:rPr lang="en-US" altLang="zh-CN" baseline="-25000" dirty="0"/>
              <a:t>B</a:t>
            </a:r>
            <a:r>
              <a:rPr lang="en-US" altLang="zh-CN" dirty="0"/>
              <a:t>=X</a:t>
            </a:r>
            <a:r>
              <a:rPr lang="en-US" altLang="zh-CN" baseline="-25000" dirty="0"/>
              <a:t>C</a:t>
            </a:r>
            <a:r>
              <a:rPr lang="en-US" altLang="zh-CN" dirty="0"/>
              <a:t>=1/3</a:t>
            </a:r>
            <a:endParaRPr lang="zh-CN" altLang="en-US" dirty="0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1031831"/>
              </p:ext>
            </p:extLst>
          </p:nvPr>
        </p:nvGraphicFramePr>
        <p:xfrm>
          <a:off x="533400" y="3657600"/>
          <a:ext cx="1409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39600" imgH="253800" progId="Equation.DSMT4">
                  <p:embed/>
                </p:oleObj>
              </mc:Choice>
              <mc:Fallback>
                <p:oleObj name="Equation" r:id="rId6" imgW="93960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657600"/>
                        <a:ext cx="1409700" cy="381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402316" y="4191000"/>
            <a:ext cx="3208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For n component system, X</a:t>
            </a:r>
            <a:r>
              <a:rPr lang="en-US" altLang="zh-CN" baseline="-25000" dirty="0"/>
              <a:t>i</a:t>
            </a:r>
            <a:r>
              <a:rPr lang="en-US" altLang="zh-CN" dirty="0"/>
              <a:t>=1/n</a:t>
            </a:r>
            <a:endParaRPr lang="zh-CN" altLang="en-US" dirty="0"/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7601454"/>
              </p:ext>
            </p:extLst>
          </p:nvPr>
        </p:nvGraphicFramePr>
        <p:xfrm>
          <a:off x="458105" y="4707039"/>
          <a:ext cx="142875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52200" imgH="253800" progId="Equation.DSMT4">
                  <p:embed/>
                </p:oleObj>
              </mc:Choice>
              <mc:Fallback>
                <p:oleObj name="Equation" r:id="rId8" imgW="95220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105" y="4707039"/>
                        <a:ext cx="1428750" cy="381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475234" y="2438400"/>
            <a:ext cx="281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High entropy  alloy!!</a:t>
            </a:r>
          </a:p>
        </p:txBody>
      </p:sp>
      <p:sp>
        <p:nvSpPr>
          <p:cNvPr id="19" name="矩形 18"/>
          <p:cNvSpPr/>
          <p:nvPr/>
        </p:nvSpPr>
        <p:spPr>
          <a:xfrm>
            <a:off x="1304925" y="236471"/>
            <a:ext cx="60946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A-B-C ternary system solid solution 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pic>
        <p:nvPicPr>
          <p:cNvPr id="15" name="Picture 4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2524" y="2900064"/>
            <a:ext cx="3581401" cy="36573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73052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9" descr="Rel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225" y="1219198"/>
            <a:ext cx="5924550" cy="4988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028699" y="47684"/>
            <a:ext cx="33484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/>
              <a:t>Tough and strong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4062827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25" y="1827028"/>
            <a:ext cx="4219576" cy="301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6325" y="2123769"/>
            <a:ext cx="4262438" cy="4118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425" y="28575"/>
            <a:ext cx="7924800" cy="2038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1364" name="Picture 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25" y="4959303"/>
            <a:ext cx="4457700" cy="13744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742234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81050"/>
            <a:ext cx="9058275" cy="2767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341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657600"/>
            <a:ext cx="3467100" cy="2799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3412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6220" y="3666431"/>
            <a:ext cx="3787130" cy="283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27890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979655" y="30671"/>
            <a:ext cx="496642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Consider atomic Ordering </a:t>
            </a:r>
          </a:p>
        </p:txBody>
      </p:sp>
      <p:sp>
        <p:nvSpPr>
          <p:cNvPr id="11" name="矩形 10"/>
          <p:cNvSpPr/>
          <p:nvPr/>
        </p:nvSpPr>
        <p:spPr>
          <a:xfrm>
            <a:off x="338667" y="1154668"/>
            <a:ext cx="78623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Consider the ordering transformation of a random </a:t>
            </a:r>
            <a:r>
              <a:rPr lang="en-US" altLang="zh-CN" i="1" dirty="0"/>
              <a:t>A </a:t>
            </a:r>
            <a:r>
              <a:rPr lang="en-US" altLang="zh-CN" dirty="0"/>
              <a:t>– </a:t>
            </a:r>
            <a:r>
              <a:rPr lang="en-US" altLang="zh-CN" i="1" dirty="0"/>
              <a:t>B </a:t>
            </a:r>
            <a:r>
              <a:rPr lang="en-US" altLang="zh-CN" dirty="0"/>
              <a:t>solution phase</a:t>
            </a:r>
            <a:endParaRPr lang="zh-CN" altLang="en-US" dirty="0"/>
          </a:p>
        </p:txBody>
      </p:sp>
      <p:pic>
        <p:nvPicPr>
          <p:cNvPr id="12083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517" y="1711879"/>
            <a:ext cx="6362700" cy="2695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矩形 11"/>
          <p:cNvSpPr/>
          <p:nvPr/>
        </p:nvSpPr>
        <p:spPr>
          <a:xfrm>
            <a:off x="1533817" y="4585811"/>
            <a:ext cx="44983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i="1" dirty="0">
                <a:solidFill>
                  <a:srgbClr val="FF0000"/>
                </a:solidFill>
              </a:rPr>
              <a:t>long-range order parameter (LRO</a:t>
            </a:r>
            <a:r>
              <a:rPr lang="en-US" altLang="zh-CN" i="1" dirty="0"/>
              <a:t>), </a:t>
            </a:r>
            <a:r>
              <a:rPr lang="el-GR" altLang="zh-CN" i="1" dirty="0">
                <a:latin typeface="Times New Roman"/>
                <a:cs typeface="Times New Roman"/>
              </a:rPr>
              <a:t>η</a:t>
            </a:r>
            <a:r>
              <a:rPr lang="en-US" altLang="zh-CN" i="1" dirty="0">
                <a:latin typeface="Times New Roman"/>
                <a:cs typeface="Times New Roman"/>
              </a:rPr>
              <a:t> [</a:t>
            </a:r>
            <a:r>
              <a:rPr lang="en-US" altLang="zh-CN" dirty="0"/>
              <a:t>eta</a:t>
            </a:r>
            <a:r>
              <a:rPr lang="en-US" altLang="zh-CN" i="1" dirty="0">
                <a:latin typeface="Times New Roman"/>
                <a:cs typeface="Times New Roman"/>
              </a:rPr>
              <a:t>]</a:t>
            </a:r>
            <a:endParaRPr lang="zh-CN" altLang="en-US" dirty="0"/>
          </a:p>
        </p:txBody>
      </p:sp>
      <p:pic>
        <p:nvPicPr>
          <p:cNvPr id="12083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534" y="5193268"/>
            <a:ext cx="2630010" cy="9306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3462867" y="5196087"/>
            <a:ext cx="547188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X</a:t>
            </a:r>
            <a:r>
              <a:rPr lang="en-US" altLang="zh-CN" baseline="-25000" dirty="0"/>
              <a:t>i=A,B</a:t>
            </a:r>
            <a:r>
              <a:rPr lang="en-US" altLang="zh-CN" dirty="0"/>
              <a:t>, the fraction of the component </a:t>
            </a:r>
            <a:r>
              <a:rPr lang="en-US" altLang="zh-CN" i="1" dirty="0"/>
              <a:t>I</a:t>
            </a:r>
          </a:p>
          <a:p>
            <a:r>
              <a:rPr lang="en-US" altLang="zh-CN" i="1" dirty="0" err="1"/>
              <a:t>Y</a:t>
            </a:r>
            <a:r>
              <a:rPr lang="en-US" altLang="zh-CN" i="1" baseline="-25000" dirty="0" err="1"/>
              <a:t>j</a:t>
            </a:r>
            <a:r>
              <a:rPr lang="en-US" altLang="zh-CN" i="1" baseline="-25000" dirty="0"/>
              <a:t>=</a:t>
            </a:r>
            <a:r>
              <a:rPr lang="el-GR" altLang="zh-CN" i="1" baseline="-25000" dirty="0">
                <a:latin typeface="Times New Roman"/>
                <a:cs typeface="Times New Roman"/>
              </a:rPr>
              <a:t>α</a:t>
            </a:r>
            <a:r>
              <a:rPr lang="en-US" altLang="zh-CN" i="1" baseline="-25000" dirty="0">
                <a:latin typeface="Times New Roman"/>
                <a:cs typeface="Times New Roman"/>
              </a:rPr>
              <a:t>,</a:t>
            </a:r>
            <a:r>
              <a:rPr lang="el-GR" altLang="zh-CN" i="1" baseline="-25000" dirty="0">
                <a:latin typeface="Times New Roman"/>
                <a:cs typeface="Times New Roman"/>
              </a:rPr>
              <a:t>β</a:t>
            </a:r>
            <a:r>
              <a:rPr lang="en-US" altLang="zh-CN" i="1" baseline="-25000" dirty="0">
                <a:latin typeface="Times New Roman"/>
                <a:cs typeface="Times New Roman"/>
              </a:rPr>
              <a:t> </a:t>
            </a:r>
            <a:r>
              <a:rPr lang="en-US" altLang="zh-CN" i="1" dirty="0">
                <a:latin typeface="Times New Roman"/>
                <a:cs typeface="Times New Roman"/>
              </a:rPr>
              <a:t>, </a:t>
            </a:r>
            <a:r>
              <a:rPr lang="en-US" altLang="zh-CN" dirty="0">
                <a:latin typeface="Times New Roman"/>
                <a:cs typeface="Times New Roman"/>
              </a:rPr>
              <a:t>the fraction of lattice site </a:t>
            </a:r>
            <a:r>
              <a:rPr lang="en-US" altLang="zh-CN" i="1" dirty="0">
                <a:latin typeface="Times New Roman"/>
                <a:cs typeface="Times New Roman"/>
              </a:rPr>
              <a:t>j</a:t>
            </a:r>
          </a:p>
          <a:p>
            <a:r>
              <a:rPr lang="en-US" altLang="zh-CN" i="1" dirty="0"/>
              <a:t>r </a:t>
            </a:r>
            <a:r>
              <a:rPr lang="en-US" altLang="zh-CN" i="1" baseline="-25000" dirty="0"/>
              <a:t>j=</a:t>
            </a:r>
            <a:r>
              <a:rPr lang="el-GR" altLang="zh-CN" i="1" baseline="-25000" dirty="0">
                <a:latin typeface="Times New Roman"/>
                <a:cs typeface="Times New Roman"/>
              </a:rPr>
              <a:t> α</a:t>
            </a:r>
            <a:r>
              <a:rPr lang="en-US" altLang="zh-CN" i="1" baseline="-25000" dirty="0">
                <a:latin typeface="Times New Roman"/>
                <a:cs typeface="Times New Roman"/>
              </a:rPr>
              <a:t>,</a:t>
            </a:r>
            <a:r>
              <a:rPr lang="el-GR" altLang="zh-CN" i="1" baseline="-25000" dirty="0">
                <a:latin typeface="Times New Roman"/>
                <a:cs typeface="Times New Roman"/>
              </a:rPr>
              <a:t>β</a:t>
            </a:r>
            <a:r>
              <a:rPr lang="en-US" altLang="zh-CN" i="1" baseline="-25000" dirty="0">
                <a:latin typeface="Times New Roman"/>
                <a:cs typeface="Times New Roman"/>
              </a:rPr>
              <a:t> </a:t>
            </a:r>
            <a:r>
              <a:rPr lang="en-US" altLang="zh-CN" dirty="0"/>
              <a:t> is the fraction of j sites that are “ rightly” occupied</a:t>
            </a:r>
            <a:endParaRPr lang="zh-CN" altLang="en-US" i="1" dirty="0"/>
          </a:p>
        </p:txBody>
      </p:sp>
    </p:spTree>
    <p:extLst>
      <p:ext uri="{BB962C8B-B14F-4D97-AF65-F5344CB8AC3E}">
        <p14:creationId xmlns:p14="http://schemas.microsoft.com/office/powerpoint/2010/main" val="1951684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246350" y="1068674"/>
            <a:ext cx="8915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For the BCC (random) → B2 (ordering) transformation of </a:t>
            </a:r>
            <a:r>
              <a:rPr lang="en-US" altLang="zh-CN" dirty="0" err="1"/>
              <a:t>equiatomic</a:t>
            </a:r>
            <a:r>
              <a:rPr lang="en-US" altLang="zh-CN" dirty="0"/>
              <a:t> alloy, </a:t>
            </a:r>
          </a:p>
          <a:p>
            <a:r>
              <a:rPr lang="en-US" altLang="zh-CN" i="1" dirty="0"/>
              <a:t>Y </a:t>
            </a:r>
            <a:r>
              <a:rPr lang="en-US" altLang="zh-CN" baseline="-25000" dirty="0"/>
              <a:t>α</a:t>
            </a:r>
            <a:r>
              <a:rPr lang="en-US" altLang="zh-CN" dirty="0"/>
              <a:t> and </a:t>
            </a:r>
            <a:r>
              <a:rPr lang="en-US" altLang="zh-CN" i="1" dirty="0"/>
              <a:t>Y </a:t>
            </a:r>
            <a:r>
              <a:rPr lang="en-US" altLang="zh-CN" baseline="-25000" dirty="0"/>
              <a:t>β</a:t>
            </a:r>
            <a:r>
              <a:rPr lang="en-US" altLang="zh-CN" dirty="0"/>
              <a:t> are 1/2 , </a:t>
            </a:r>
            <a:r>
              <a:rPr lang="en-US" altLang="zh-CN" i="1" dirty="0"/>
              <a:t>X </a:t>
            </a:r>
            <a:r>
              <a:rPr lang="en-US" altLang="zh-CN" i="1" baseline="-25000" dirty="0"/>
              <a:t>A</a:t>
            </a:r>
            <a:r>
              <a:rPr lang="en-US" altLang="zh-CN" dirty="0"/>
              <a:t>= </a:t>
            </a:r>
            <a:r>
              <a:rPr lang="en-US" altLang="zh-CN" dirty="0">
                <a:solidFill>
                  <a:srgbClr val="FF0000"/>
                </a:solidFill>
              </a:rPr>
              <a:t>X</a:t>
            </a:r>
            <a:r>
              <a:rPr lang="en-US" altLang="zh-CN" i="1" baseline="-25000" dirty="0">
                <a:solidFill>
                  <a:srgbClr val="FF0000"/>
                </a:solidFill>
              </a:rPr>
              <a:t>B</a:t>
            </a:r>
            <a:r>
              <a:rPr lang="en-US" altLang="zh-CN" i="1" dirty="0"/>
              <a:t> </a:t>
            </a:r>
            <a:r>
              <a:rPr lang="en-US" altLang="zh-CN" dirty="0"/>
              <a:t>= 1/2.</a:t>
            </a:r>
          </a:p>
        </p:txBody>
      </p:sp>
      <p:sp>
        <p:nvSpPr>
          <p:cNvPr id="11" name="矩形 10"/>
          <p:cNvSpPr/>
          <p:nvPr/>
        </p:nvSpPr>
        <p:spPr>
          <a:xfrm>
            <a:off x="1047750" y="115533"/>
            <a:ext cx="44945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Consider atomic ordering </a:t>
            </a:r>
          </a:p>
        </p:txBody>
      </p:sp>
      <p:pic>
        <p:nvPicPr>
          <p:cNvPr id="1218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150" y="1900922"/>
            <a:ext cx="1733550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0092697"/>
              </p:ext>
            </p:extLst>
          </p:nvPr>
        </p:nvGraphicFramePr>
        <p:xfrm>
          <a:off x="446088" y="3892550"/>
          <a:ext cx="2171700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71520" imgH="1193760" progId="Equation.DSMT4">
                  <p:embed/>
                </p:oleObj>
              </mc:Choice>
              <mc:Fallback>
                <p:oleObj name="Equation" r:id="rId3" imgW="2171520" imgH="11937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6088" y="3892550"/>
                        <a:ext cx="2171700" cy="1193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2187162"/>
              </p:ext>
            </p:extLst>
          </p:nvPr>
        </p:nvGraphicFramePr>
        <p:xfrm>
          <a:off x="551150" y="5353734"/>
          <a:ext cx="13589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58640" imgH="203040" progId="Equation.DSMT4">
                  <p:embed/>
                </p:oleObj>
              </mc:Choice>
              <mc:Fallback>
                <p:oleObj name="Equation" r:id="rId5" imgW="13586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51150" y="5353734"/>
                        <a:ext cx="13589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圆角矩形 13"/>
          <p:cNvSpPr/>
          <p:nvPr/>
        </p:nvSpPr>
        <p:spPr>
          <a:xfrm>
            <a:off x="398750" y="3829734"/>
            <a:ext cx="2438400" cy="1981200"/>
          </a:xfrm>
          <a:prstGeom prst="roundRect">
            <a:avLst>
              <a:gd name="adj" fmla="val 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6531383"/>
              </p:ext>
            </p:extLst>
          </p:nvPr>
        </p:nvGraphicFramePr>
        <p:xfrm>
          <a:off x="3878550" y="3829734"/>
          <a:ext cx="2172368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650960" imgH="482400" progId="Equation.DSMT4">
                  <p:embed/>
                </p:oleObj>
              </mc:Choice>
              <mc:Fallback>
                <p:oleObj name="Equation" r:id="rId7" imgW="165096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8550" y="3829734"/>
                        <a:ext cx="2172368" cy="635000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4894564"/>
              </p:ext>
            </p:extLst>
          </p:nvPr>
        </p:nvGraphicFramePr>
        <p:xfrm>
          <a:off x="3782597" y="4667934"/>
          <a:ext cx="47625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809880" imgH="914400" progId="Equation.DSMT4">
                  <p:embed/>
                </p:oleObj>
              </mc:Choice>
              <mc:Fallback>
                <p:oleObj name="Equation" r:id="rId9" imgW="3809880" imgH="914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2597" y="4667934"/>
                        <a:ext cx="4762500" cy="1143000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7636570"/>
              </p:ext>
            </p:extLst>
          </p:nvPr>
        </p:nvGraphicFramePr>
        <p:xfrm>
          <a:off x="7199600" y="3162984"/>
          <a:ext cx="13589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358640" imgH="203040" progId="Equation.DSMT4">
                  <p:embed/>
                </p:oleObj>
              </mc:Choice>
              <mc:Fallback>
                <p:oleObj name="Equation" r:id="rId11" imgW="13586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99600" y="3162984"/>
                        <a:ext cx="1358900" cy="203200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2370895" y="616850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Prove :   </a:t>
            </a:r>
            <a:endParaRPr lang="zh-CN" altLang="en-US" dirty="0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8833199"/>
              </p:ext>
            </p:extLst>
          </p:nvPr>
        </p:nvGraphicFramePr>
        <p:xfrm>
          <a:off x="3255963" y="6168509"/>
          <a:ext cx="1234522" cy="2862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876240" imgH="203040" progId="Equation.DSMT4">
                  <p:embed/>
                </p:oleObj>
              </mc:Choice>
              <mc:Fallback>
                <p:oleObj name="Equation" r:id="rId13" imgW="8762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255963" y="6168509"/>
                        <a:ext cx="1234522" cy="2862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17">
            <a:extLst>
              <a:ext uri="{FF2B5EF4-FFF2-40B4-BE49-F238E27FC236}">
                <a16:creationId xmlns:a16="http://schemas.microsoft.com/office/drawing/2014/main" id="{81859669-35F1-4802-A800-D5287284AEBF}"/>
              </a:ext>
            </a:extLst>
          </p:cNvPr>
          <p:cNvSpPr txBox="1"/>
          <p:nvPr/>
        </p:nvSpPr>
        <p:spPr>
          <a:xfrm>
            <a:off x="573000" y="2560428"/>
            <a:ext cx="5311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If all the </a:t>
            </a:r>
            <a:r>
              <a:rPr lang="el-GR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site are occupied by A atoms, r</a:t>
            </a:r>
            <a:r>
              <a:rPr lang="el-GR" altLang="zh-CN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1 and </a:t>
            </a:r>
            <a:r>
              <a:rPr lang="el-GR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η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B2B8B5F-9143-4508-AA27-7EDFD436EA82}"/>
              </a:ext>
            </a:extLst>
          </p:cNvPr>
          <p:cNvSpPr txBox="1"/>
          <p:nvPr/>
        </p:nvSpPr>
        <p:spPr>
          <a:xfrm>
            <a:off x="585500" y="2927974"/>
            <a:ext cx="5311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If all the </a:t>
            </a:r>
            <a:r>
              <a:rPr lang="el-GR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site are occupied by B atoms, r</a:t>
            </a:r>
            <a:r>
              <a:rPr lang="el-GR" altLang="zh-CN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0 and </a:t>
            </a:r>
            <a:r>
              <a:rPr lang="el-GR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η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CB74709-DD18-4D6A-B71C-6E26B3FCB92B}"/>
              </a:ext>
            </a:extLst>
          </p:cNvPr>
          <p:cNvSpPr txBox="1"/>
          <p:nvPr/>
        </p:nvSpPr>
        <p:spPr>
          <a:xfrm>
            <a:off x="547481" y="3251188"/>
            <a:ext cx="5336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If all the </a:t>
            </a:r>
            <a:r>
              <a:rPr lang="el-GR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site are randomly occupied, r</a:t>
            </a:r>
            <a:r>
              <a:rPr lang="el-GR" altLang="zh-CN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1/2 and </a:t>
            </a:r>
            <a:r>
              <a:rPr lang="el-GR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η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=0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49020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2756204"/>
              </p:ext>
            </p:extLst>
          </p:nvPr>
        </p:nvGraphicFramePr>
        <p:xfrm>
          <a:off x="4676408" y="190323"/>
          <a:ext cx="2172368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50960" imgH="482400" progId="Equation.DSMT4">
                  <p:embed/>
                </p:oleObj>
              </mc:Choice>
              <mc:Fallback>
                <p:oleObj name="Equation" r:id="rId2" imgW="165096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6408" y="190323"/>
                        <a:ext cx="2172368" cy="635000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4824228"/>
              </p:ext>
            </p:extLst>
          </p:nvPr>
        </p:nvGraphicFramePr>
        <p:xfrm>
          <a:off x="1138430" y="97946"/>
          <a:ext cx="3415641" cy="8197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809880" imgH="914400" progId="Equation.DSMT4">
                  <p:embed/>
                </p:oleObj>
              </mc:Choice>
              <mc:Fallback>
                <p:oleObj name="Equation" r:id="rId4" imgW="3809880" imgH="914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8430" y="97946"/>
                        <a:ext cx="3415641" cy="819754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9838970"/>
              </p:ext>
            </p:extLst>
          </p:nvPr>
        </p:nvGraphicFramePr>
        <p:xfrm>
          <a:off x="551896" y="1521341"/>
          <a:ext cx="4025900" cy="418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079960" imgH="5283000" progId="Equation.DSMT4">
                  <p:embed/>
                </p:oleObj>
              </mc:Choice>
              <mc:Fallback>
                <p:oleObj name="Equation" r:id="rId6" imgW="5079960" imgH="5283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896" y="1521341"/>
                        <a:ext cx="4025900" cy="4184650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5032457" y="1349515"/>
                <a:ext cx="3165930" cy="8688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zh-CN" altLang="en-US" sz="110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nor/>
                              </m:rPr>
                              <a:rPr lang="zh-CN" altLang="en-US" sz="1100"/>
                              <m:t>as</m:t>
                            </m:r>
                            <m:r>
                              <m:rPr>
                                <m:nor/>
                              </m:rPr>
                              <a:rPr lang="zh-CN" altLang="en-US" sz="1100" i="1"/>
                              <m:t> </m:t>
                            </m:r>
                            <m:r>
                              <a:rPr lang="zh-CN" altLang="en-US" sz="1100" i="1">
                                <a:latin typeface="Cambria Math" panose="02040503050406030204" pitchFamily="18" charset="0"/>
                              </a:rPr>
                              <m:t>𝜂</m:t>
                            </m:r>
                            <m:r>
                              <a:rPr lang="zh-CN" altLang="en-US" sz="1100" i="0">
                                <a:latin typeface="Cambria Math" panose="02040503050406030204" pitchFamily="18" charset="0"/>
                              </a:rPr>
                              <m:t>→0,</m:t>
                            </m:r>
                            <m:r>
                              <m:rPr>
                                <m:sty m:val="p"/>
                              </m:rPr>
                              <a:rPr lang="zh-CN" altLang="en-US" sz="1100" i="0">
                                <a:latin typeface="Cambria Math" panose="02040503050406030204" pitchFamily="18" charset="0"/>
                              </a:rPr>
                              <m:t>ln</m:t>
                            </m:r>
                            <m:f>
                              <m:fPr>
                                <m:ctrlPr>
                                  <a:rPr lang="zh-CN" altLang="en-US" sz="11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ctrlPr>
                                      <a:rPr lang="zh-CN" altLang="en-US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sz="1100" i="0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r>
                                      <a:rPr lang="zh-CN" altLang="en-US" sz="1100" i="1">
                                        <a:latin typeface="Cambria Math" panose="02040503050406030204" pitchFamily="18" charset="0"/>
                                      </a:rPr>
                                      <m:t>𝜂</m:t>
                                    </m:r>
                                  </m:e>
                                </m:d>
                              </m:num>
                              <m:den>
                                <m:d>
                                  <m:dPr>
                                    <m:ctrlPr>
                                      <a:rPr lang="zh-CN" altLang="en-US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sz="1100" i="0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lang="zh-CN" altLang="en-US" sz="1100" i="1">
                                        <a:latin typeface="Cambria Math" panose="02040503050406030204" pitchFamily="18" charset="0"/>
                                      </a:rPr>
                                      <m:t>𝜂</m:t>
                                    </m:r>
                                  </m:e>
                                </m:d>
                              </m:den>
                            </m:f>
                            <m:r>
                              <a:rPr lang="zh-CN" altLang="en-US" sz="1100" i="0">
                                <a:latin typeface="Cambria Math" panose="02040503050406030204" pitchFamily="18" charset="0"/>
                              </a:rPr>
                              <m:t>=2</m:t>
                            </m:r>
                            <m:d>
                              <m:dPr>
                                <m:ctrlPr>
                                  <a:rPr lang="zh-CN" altLang="en-US" sz="11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1100" i="1">
                                    <a:latin typeface="Cambria Math" panose="02040503050406030204" pitchFamily="18" charset="0"/>
                                  </a:rPr>
                                  <m:t>𝜂</m:t>
                                </m:r>
                                <m:r>
                                  <a:rPr lang="zh-CN" altLang="en-US" sz="1100" i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zh-CN" altLang="en-US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zh-CN" altLang="en-US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zh-CN" altLang="en-US" sz="1100" i="1">
                                            <a:latin typeface="Cambria Math" panose="02040503050406030204" pitchFamily="18" charset="0"/>
                                          </a:rPr>
                                          <m:t>𝜂</m:t>
                                        </m:r>
                                      </m:e>
                                      <m:sup>
                                        <m:r>
                                          <a:rPr lang="zh-CN" altLang="en-US" sz="1100" i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zh-CN" altLang="en-US" sz="1100" i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  <m:r>
                                  <a:rPr lang="zh-CN" altLang="en-US" sz="1100" i="0">
                                    <a:latin typeface="Cambria Math" panose="02040503050406030204" pitchFamily="18" charset="0"/>
                                  </a:rPr>
                                  <m:t>+...</m:t>
                                </m:r>
                              </m:e>
                            </m:d>
                          </m:e>
                        </m:mr>
                        <m:mr>
                          <m:e>
                            <m:f>
                              <m:fPr>
                                <m:ctrlPr>
                                  <a:rPr lang="zh-CN" altLang="en-US" sz="11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1100" i="0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zh-CN" altLang="en-US" sz="1100" i="1">
                                    <a:latin typeface="Cambria Math" panose="02040503050406030204" pitchFamily="18" charset="0"/>
                                  </a:rPr>
                                  <m:t>𝛥</m:t>
                                </m:r>
                                <m:sSup>
                                  <m:sSupPr>
                                    <m:ctrlPr>
                                      <a:rPr lang="zh-CN" altLang="en-US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1100" i="1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p>
                                    <m:r>
                                      <a:rPr lang="zh-CN" altLang="en-US" sz="1100" i="1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zh-CN" altLang="en-US" sz="1100" i="0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zh-CN" altLang="en-US" sz="1100" i="1">
                                    <a:latin typeface="Cambria Math" panose="02040503050406030204" pitchFamily="18" charset="0"/>
                                  </a:rPr>
                                  <m:t>𝜂</m:t>
                                </m:r>
                              </m:den>
                            </m:f>
                            <m:r>
                              <a:rPr lang="zh-CN" altLang="en-US" sz="1100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zh-CN" altLang="en-US" sz="11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100" i="1">
                                    <a:latin typeface="Cambria Math" panose="02040503050406030204" pitchFamily="18" charset="0"/>
                                  </a:rPr>
                                  <m:t>𝛺</m:t>
                                </m:r>
                              </m:e>
                              <m:sub>
                                <m:r>
                                  <a:rPr lang="zh-CN" altLang="en-US" sz="1100" i="1">
                                    <a:latin typeface="Cambria Math" panose="02040503050406030204" pitchFamily="18" charset="0"/>
                                  </a:rPr>
                                  <m:t>𝐴𝐵</m:t>
                                </m:r>
                              </m:sub>
                            </m:sSub>
                            <m:r>
                              <a:rPr lang="zh-CN" altLang="en-US" sz="1100" i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f>
                              <m:fPr>
                                <m:ctrlPr>
                                  <a:rPr lang="zh-CN" altLang="en-US" sz="11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1100" i="1">
                                    <a:latin typeface="Cambria Math" panose="02040503050406030204" pitchFamily="18" charset="0"/>
                                  </a:rPr>
                                  <m:t>𝜂</m:t>
                                </m:r>
                              </m:num>
                              <m:den>
                                <m:r>
                                  <a:rPr lang="zh-CN" altLang="en-US" sz="1100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zh-CN" altLang="en-US" sz="1100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sz="1100" i="1">
                                <a:latin typeface="Cambria Math" panose="02040503050406030204" pitchFamily="18" charset="0"/>
                              </a:rPr>
                              <m:t>𝑅𝑇</m:t>
                            </m:r>
                            <m:r>
                              <a:rPr lang="en-US" altLang="zh-CN" sz="11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sz="1100" i="1">
                                <a:latin typeface="Cambria Math" panose="02040503050406030204" pitchFamily="18" charset="0"/>
                              </a:rPr>
                              <m:t>𝜂</m:t>
                            </m:r>
                            <m:r>
                              <a:rPr lang="zh-CN" altLang="en-US" sz="110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zh-CN" altLang="en-US" sz="11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zh-CN" altLang="en-US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1100" i="1">
                                        <a:latin typeface="Cambria Math" panose="02040503050406030204" pitchFamily="18" charset="0"/>
                                      </a:rPr>
                                      <m:t>𝜂</m:t>
                                    </m:r>
                                  </m:e>
                                  <m:sup>
                                    <m:r>
                                      <a:rPr lang="zh-CN" altLang="en-US" sz="110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zh-CN" altLang="en-US" sz="110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a:rPr lang="en-US" altLang="zh-CN" sz="11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zh-CN" altLang="en-US" sz="1100" i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</m:mr>
                      </m:m>
                    </m:oMath>
                  </m:oMathPara>
                </a14:m>
                <a:endParaRPr lang="zh-CN" altLang="en-US" sz="1100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2457" y="1349515"/>
                <a:ext cx="3165930" cy="868892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9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3275" y="2265545"/>
            <a:ext cx="3327566" cy="19280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5503547" y="4081255"/>
                <a:ext cx="2367186" cy="19866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zh-CN" altLang="en-US" sz="1100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nor/>
                              </m:rPr>
                              <a:rPr lang="zh-CN" altLang="en-US" sz="1100"/>
                              <m:t>as</m:t>
                            </m:r>
                            <m:r>
                              <m:rPr>
                                <m:nor/>
                              </m:rPr>
                              <a:rPr lang="zh-CN" altLang="en-US" sz="1100" i="1"/>
                              <m:t> </m:t>
                            </m:r>
                            <m:r>
                              <a:rPr lang="zh-CN" altLang="en-US" sz="1100" i="1">
                                <a:latin typeface="Cambria Math" panose="02040503050406030204" pitchFamily="18" charset="0"/>
                              </a:rPr>
                              <m:t>𝜂</m:t>
                            </m:r>
                            <m:r>
                              <a:rPr lang="zh-CN" altLang="en-US" sz="1100" i="0">
                                <a:latin typeface="Cambria Math" panose="02040503050406030204" pitchFamily="18" charset="0"/>
                              </a:rPr>
                              <m:t>→0,</m:t>
                            </m:r>
                            <m:r>
                              <m:rPr>
                                <m:sty m:val="p"/>
                              </m:rPr>
                              <a:rPr lang="zh-CN" altLang="en-US" sz="1100" i="0">
                                <a:latin typeface="Cambria Math" panose="02040503050406030204" pitchFamily="18" charset="0"/>
                              </a:rPr>
                              <m:t>ln</m:t>
                            </m:r>
                            <m:f>
                              <m:fPr>
                                <m:ctrlPr>
                                  <a:rPr lang="zh-CN" altLang="en-US" sz="11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ctrlPr>
                                      <a:rPr lang="zh-CN" altLang="en-US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sz="1100" i="0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r>
                                      <a:rPr lang="zh-CN" altLang="en-US" sz="1100" i="1">
                                        <a:latin typeface="Cambria Math" panose="02040503050406030204" pitchFamily="18" charset="0"/>
                                      </a:rPr>
                                      <m:t>𝜂</m:t>
                                    </m:r>
                                  </m:e>
                                </m:d>
                              </m:num>
                              <m:den>
                                <m:d>
                                  <m:dPr>
                                    <m:ctrlPr>
                                      <a:rPr lang="zh-CN" altLang="en-US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sz="1100" i="0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lang="zh-CN" altLang="en-US" sz="1100" i="1">
                                        <a:latin typeface="Cambria Math" panose="02040503050406030204" pitchFamily="18" charset="0"/>
                                      </a:rPr>
                                      <m:t>𝜂</m:t>
                                    </m:r>
                                  </m:e>
                                </m:d>
                              </m:den>
                            </m:f>
                            <m:r>
                              <a:rPr lang="zh-CN" altLang="en-US" sz="1100" i="0">
                                <a:latin typeface="Cambria Math" panose="02040503050406030204" pitchFamily="18" charset="0"/>
                              </a:rPr>
                              <m:t>=2</m:t>
                            </m:r>
                            <m:d>
                              <m:dPr>
                                <m:ctrlPr>
                                  <a:rPr lang="zh-CN" altLang="en-US" sz="11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1100" i="1">
                                    <a:latin typeface="Cambria Math" panose="02040503050406030204" pitchFamily="18" charset="0"/>
                                  </a:rPr>
                                  <m:t>𝜂</m:t>
                                </m:r>
                                <m:r>
                                  <a:rPr lang="zh-CN" altLang="en-US" sz="1100" i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zh-CN" altLang="en-US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zh-CN" altLang="en-US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zh-CN" altLang="en-US" sz="1100" i="1">
                                            <a:latin typeface="Cambria Math" panose="02040503050406030204" pitchFamily="18" charset="0"/>
                                          </a:rPr>
                                          <m:t>𝜂</m:t>
                                        </m:r>
                                      </m:e>
                                      <m:sup>
                                        <m:r>
                                          <a:rPr lang="zh-CN" altLang="en-US" sz="1100" i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zh-CN" altLang="en-US" sz="1100" i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</m:d>
                          </m:e>
                        </m:mr>
                        <m:mr>
                          <m:e>
                            <m:f>
                              <m:fPr>
                                <m:ctrlPr>
                                  <a:rPr lang="zh-CN" altLang="en-US" sz="11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1100" i="0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zh-CN" altLang="en-US" sz="1100" i="1">
                                    <a:latin typeface="Cambria Math" panose="02040503050406030204" pitchFamily="18" charset="0"/>
                                  </a:rPr>
                                  <m:t>𝛥</m:t>
                                </m:r>
                                <m:sSup>
                                  <m:sSupPr>
                                    <m:ctrlPr>
                                      <a:rPr lang="zh-CN" altLang="en-US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1100" i="1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p>
                                    <m:r>
                                      <a:rPr lang="zh-CN" altLang="en-US" sz="1100" i="1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zh-CN" altLang="en-US" sz="1100" i="0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zh-CN" altLang="en-US" sz="1100" i="1">
                                    <a:latin typeface="Cambria Math" panose="02040503050406030204" pitchFamily="18" charset="0"/>
                                  </a:rPr>
                                  <m:t>𝜂</m:t>
                                </m:r>
                              </m:den>
                            </m:f>
                            <m:r>
                              <a:rPr lang="zh-CN" altLang="en-US" sz="1100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zh-CN" altLang="en-US" sz="11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100" i="1">
                                    <a:latin typeface="Cambria Math" panose="02040503050406030204" pitchFamily="18" charset="0"/>
                                  </a:rPr>
                                  <m:t>𝛺</m:t>
                                </m:r>
                              </m:e>
                              <m:sub>
                                <m:r>
                                  <a:rPr lang="zh-CN" altLang="en-US" sz="1100" i="1">
                                    <a:latin typeface="Cambria Math" panose="02040503050406030204" pitchFamily="18" charset="0"/>
                                  </a:rPr>
                                  <m:t>𝐴𝐵</m:t>
                                </m:r>
                              </m:sub>
                            </m:sSub>
                            <m:r>
                              <a:rPr lang="zh-CN" altLang="en-US" sz="1100" i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f>
                              <m:fPr>
                                <m:ctrlPr>
                                  <a:rPr lang="zh-CN" altLang="en-US" sz="11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1100" i="1">
                                    <a:latin typeface="Cambria Math" panose="02040503050406030204" pitchFamily="18" charset="0"/>
                                  </a:rPr>
                                  <m:t>𝜂</m:t>
                                </m:r>
                              </m:num>
                              <m:den>
                                <m:r>
                                  <a:rPr lang="zh-CN" altLang="en-US" sz="1100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zh-CN" altLang="en-US" sz="1100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sz="1100" i="1">
                                <a:latin typeface="Cambria Math" panose="02040503050406030204" pitchFamily="18" charset="0"/>
                              </a:rPr>
                              <m:t>𝑅𝑇</m:t>
                            </m:r>
                            <m:d>
                              <m:dPr>
                                <m:ctrlPr>
                                  <a:rPr lang="zh-CN" altLang="en-US" sz="11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1100" i="1">
                                    <a:latin typeface="Cambria Math" panose="02040503050406030204" pitchFamily="18" charset="0"/>
                                  </a:rPr>
                                  <m:t>𝜂</m:t>
                                </m:r>
                                <m:r>
                                  <a:rPr lang="zh-CN" altLang="en-US" sz="1100" i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zh-CN" altLang="en-US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zh-CN" altLang="en-US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zh-CN" altLang="en-US" sz="1100" i="1">
                                            <a:latin typeface="Cambria Math" panose="02040503050406030204" pitchFamily="18" charset="0"/>
                                          </a:rPr>
                                          <m:t>𝜂</m:t>
                                        </m:r>
                                      </m:e>
                                      <m:sup>
                                        <m:r>
                                          <a:rPr lang="zh-CN" altLang="en-US" sz="1100" i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zh-CN" altLang="en-US" sz="1100" i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zh-CN" altLang="en-US" sz="1100" i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zh-CN" altLang="en-US" sz="11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100" i="1">
                                    <a:latin typeface="Cambria Math" panose="02040503050406030204" pitchFamily="18" charset="0"/>
                                  </a:rPr>
                                  <m:t>𝜂</m:t>
                                </m:r>
                              </m:e>
                              <m:sub>
                                <m:r>
                                  <a:rPr lang="zh-CN" altLang="en-US" sz="110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zh-CN" altLang="en-US" sz="1100" i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zh-CN" altLang="en-US" sz="11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100" i="1">
                                    <a:latin typeface="Cambria Math" panose="02040503050406030204" pitchFamily="18" charset="0"/>
                                  </a:rPr>
                                  <m:t>𝛺</m:t>
                                </m:r>
                              </m:e>
                              <m:sub>
                                <m:r>
                                  <a:rPr lang="zh-CN" altLang="en-US" sz="1100" i="1">
                                    <a:latin typeface="Cambria Math" panose="02040503050406030204" pitchFamily="18" charset="0"/>
                                  </a:rPr>
                                  <m:t>𝐴𝐵</m:t>
                                </m:r>
                              </m:sub>
                            </m:sSub>
                            <m:r>
                              <a:rPr lang="zh-CN" altLang="en-US" sz="1100" i="0">
                                <a:latin typeface="Cambria Math" panose="02040503050406030204" pitchFamily="18" charset="0"/>
                              </a:rPr>
                              <m:t>+2</m:t>
                            </m:r>
                            <m:r>
                              <a:rPr lang="zh-CN" altLang="en-US" sz="1100" i="1">
                                <a:latin typeface="Cambria Math" panose="02040503050406030204" pitchFamily="18" charset="0"/>
                              </a:rPr>
                              <m:t>𝑅𝑇</m:t>
                            </m:r>
                            <m:d>
                              <m:dPr>
                                <m:ctrlPr>
                                  <a:rPr lang="zh-CN" altLang="en-US" sz="11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1100" i="0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f>
                                  <m:fPr>
                                    <m:ctrlPr>
                                      <a:rPr lang="zh-CN" altLang="en-US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zh-CN" altLang="en-US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zh-CN" altLang="en-US" sz="1100" i="1">
                                            <a:latin typeface="Cambria Math" panose="02040503050406030204" pitchFamily="18" charset="0"/>
                                          </a:rPr>
                                          <m:t>𝜂</m:t>
                                        </m:r>
                                      </m:e>
                                      <m:sup>
                                        <m:r>
                                          <a:rPr lang="zh-CN" altLang="en-US" sz="1100" i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zh-CN" altLang="en-US" sz="1100" i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zh-CN" altLang="en-US" sz="1100" i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zh-CN" altLang="en-US" sz="11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100" i="1">
                                    <a:latin typeface="Cambria Math" panose="02040503050406030204" pitchFamily="18" charset="0"/>
                                  </a:rPr>
                                  <m:t>𝜂</m:t>
                                </m:r>
                              </m:e>
                              <m:sub>
                                <m:r>
                                  <a:rPr lang="zh-CN" altLang="en-US" sz="1100" i="0">
                                    <a:latin typeface="Cambria Math" panose="02040503050406030204" pitchFamily="18" charset="0"/>
                                  </a:rPr>
                                  <m:t>2,3</m:t>
                                </m:r>
                              </m:sub>
                            </m:sSub>
                            <m:r>
                              <a:rPr lang="zh-CN" altLang="en-US" sz="1100" i="0">
                                <a:latin typeface="Cambria Math" panose="02040503050406030204" pitchFamily="18" charset="0"/>
                              </a:rPr>
                              <m:t>=±</m:t>
                            </m:r>
                            <m:rad>
                              <m:radPr>
                                <m:degHide m:val="on"/>
                                <m:ctrlPr>
                                  <a:rPr lang="zh-CN" altLang="en-US" sz="11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altLang="en-US" sz="1100" i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d>
                                  <m:dPr>
                                    <m:ctrlPr>
                                      <a:rPr lang="zh-CN" altLang="en-US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sz="1100" i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zh-CN" altLang="en-US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zh-CN" altLang="en-US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zh-CN" altLang="en-US" sz="1100" i="1">
                                                <a:latin typeface="Cambria Math" panose="02040503050406030204" pitchFamily="18" charset="0"/>
                                              </a:rPr>
                                              <m:t>𝛺</m:t>
                                            </m:r>
                                          </m:e>
                                          <m:sub>
                                            <m:r>
                                              <a:rPr lang="zh-CN" altLang="en-US" sz="1100" i="1">
                                                <a:latin typeface="Cambria Math" panose="02040503050406030204" pitchFamily="18" charset="0"/>
                                              </a:rPr>
                                              <m:t>𝐴𝐵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zh-CN" altLang="en-US" sz="1100" i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zh-CN" altLang="en-US" sz="1100" i="1">
                                            <a:latin typeface="Cambria Math" panose="02040503050406030204" pitchFamily="18" charset="0"/>
                                          </a:rPr>
                                          <m:t>𝑅𝑇</m:t>
                                        </m:r>
                                      </m:den>
                                    </m:f>
                                    <m:r>
                                      <a:rPr lang="zh-CN" altLang="en-US" sz="1100" i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e>
                            </m:rad>
                          </m:e>
                        </m:mr>
                      </m:m>
                    </m:oMath>
                  </m:oMathPara>
                </a14:m>
                <a:endParaRPr lang="zh-CN" altLang="en-US" sz="1100" dirty="0"/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3547" y="4081255"/>
                <a:ext cx="2367186" cy="1986698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5276369" y="6067953"/>
                <a:ext cx="2821542" cy="47269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1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100" i="1">
                              <a:latin typeface="Cambria Math" panose="02040503050406030204" pitchFamily="18" charset="0"/>
                            </a:rPr>
                            <m:t>𝛺</m:t>
                          </m:r>
                        </m:e>
                        <m:sub>
                          <m:r>
                            <a:rPr lang="zh-CN" altLang="en-US" sz="1100" i="1">
                              <a:latin typeface="Cambria Math" panose="02040503050406030204" pitchFamily="18" charset="0"/>
                            </a:rPr>
                            <m:t>𝐴𝐵</m:t>
                          </m:r>
                        </m:sub>
                      </m:sSub>
                      <m:r>
                        <a:rPr lang="zh-CN" altLang="en-US" sz="11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1100" i="1">
                          <a:latin typeface="Cambria Math" panose="02040503050406030204" pitchFamily="18" charset="0"/>
                        </a:rPr>
                        <m:t>𝑧</m:t>
                      </m:r>
                      <m:sSub>
                        <m:sSubPr>
                          <m:ctrlPr>
                            <a:rPr lang="zh-CN" altLang="en-US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10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zh-CN" altLang="en-US" sz="110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zh-CN" altLang="en-US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1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zh-CN" altLang="en-US" sz="1100" i="1">
                                  <a:latin typeface="Cambria Math" panose="02040503050406030204" pitchFamily="18" charset="0"/>
                                </a:rPr>
                                <m:t>𝐴𝐵</m:t>
                              </m:r>
                            </m:sub>
                          </m:sSub>
                          <m:r>
                            <a:rPr lang="zh-CN" altLang="en-US" sz="1100" i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CN" altLang="en-US" sz="11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1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11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d>
                            <m:dPr>
                              <m:ctrlPr>
                                <a:rPr lang="zh-CN" altLang="en-US" sz="1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1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zh-CN" altLang="en-US" sz="1100" i="1">
                                      <a:latin typeface="Cambria Math" panose="02040503050406030204" pitchFamily="18" charset="0"/>
                                    </a:rPr>
                                    <m:t>𝐴𝐴</m:t>
                                  </m:r>
                                </m:sub>
                              </m:sSub>
                              <m:r>
                                <a:rPr lang="zh-CN" altLang="en-US" sz="11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1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zh-CN" altLang="en-US" sz="1100" i="1">
                                      <a:latin typeface="Cambria Math" panose="02040503050406030204" pitchFamily="18" charset="0"/>
                                    </a:rPr>
                                    <m:t>𝐵𝐵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altLang="zh-CN" sz="1100" b="0" i="0" smtClean="0">
                          <a:latin typeface="Cambria Math" panose="02040503050406030204" pitchFamily="18" charset="0"/>
                        </a:rPr>
                        <m:t>&lt;−2</m:t>
                      </m:r>
                      <m:r>
                        <m:rPr>
                          <m:sty m:val="p"/>
                        </m:rPr>
                        <a:rPr lang="en-US" altLang="zh-CN" sz="1100" b="0" i="0" smtClean="0">
                          <a:latin typeface="Cambria Math" panose="02040503050406030204" pitchFamily="18" charset="0"/>
                        </a:rPr>
                        <m:t>RT</m:t>
                      </m:r>
                    </m:oMath>
                  </m:oMathPara>
                </a14:m>
                <a:endParaRPr lang="zh-CN" altLang="en-US" sz="1100" dirty="0"/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6369" y="6067953"/>
                <a:ext cx="2821542" cy="472694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64590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1095375" y="79636"/>
            <a:ext cx="605678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Including Second-Neighbor Interactions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08380" y="1066800"/>
            <a:ext cx="33219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first-neighbor interactions energy</a:t>
            </a:r>
            <a:endParaRPr lang="zh-CN" altLang="en-US" dirty="0"/>
          </a:p>
        </p:txBody>
      </p:sp>
      <p:pic>
        <p:nvPicPr>
          <p:cNvPr id="1249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981" y="1524000"/>
            <a:ext cx="2843213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矩形 17"/>
          <p:cNvSpPr/>
          <p:nvPr/>
        </p:nvSpPr>
        <p:spPr>
          <a:xfrm>
            <a:off x="409181" y="2373868"/>
            <a:ext cx="37048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Second-neighbor interaction energies</a:t>
            </a:r>
            <a:endParaRPr lang="zh-CN" altLang="en-US" dirty="0"/>
          </a:p>
        </p:txBody>
      </p:sp>
      <p:pic>
        <p:nvPicPr>
          <p:cNvPr id="12493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870" y="2776182"/>
            <a:ext cx="3426477" cy="9576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493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4419600"/>
            <a:ext cx="5388429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" name="矩形 18"/>
          <p:cNvSpPr/>
          <p:nvPr/>
        </p:nvSpPr>
        <p:spPr>
          <a:xfrm>
            <a:off x="548612" y="3897868"/>
            <a:ext cx="26790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the heat of transformation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959419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968395" y="3541776"/>
            <a:ext cx="35589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华文楷体" panose="02010600040101010101" pitchFamily="2" charset="-122"/>
                <a:cs typeface="Times New Roman" panose="02020603050405020304" pitchFamily="18" charset="0"/>
              </a:rPr>
              <a:t>35. </a:t>
            </a:r>
            <a:r>
              <a:rPr lang="en-US" altLang="zh-CN" sz="2400" dirty="0" err="1">
                <a:solidFill>
                  <a:srgbClr val="FF0000"/>
                </a:solidFill>
                <a:latin typeface="Arial" panose="020B0604020202020204" pitchFamily="34" charset="0"/>
                <a:ea typeface="Arial Unicode MS" panose="020B0604020202020204" charset="-122"/>
                <a:cs typeface="Arial" panose="020B0604020202020204" pitchFamily="34" charset="0"/>
                <a:sym typeface="+mn-ea"/>
              </a:rPr>
              <a:t>Subregular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Arial Unicode MS" panose="020B0604020202020204" charset="-122"/>
                <a:cs typeface="Arial" panose="020B0604020202020204" pitchFamily="34" charset="0"/>
                <a:sym typeface="+mn-ea"/>
              </a:rPr>
              <a:t> Solutions</a:t>
            </a:r>
          </a:p>
        </p:txBody>
      </p:sp>
      <p:sp>
        <p:nvSpPr>
          <p:cNvPr id="4" name="矩形 3"/>
          <p:cNvSpPr/>
          <p:nvPr/>
        </p:nvSpPr>
        <p:spPr>
          <a:xfrm>
            <a:off x="1004971" y="4357223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Ref.  Introduction of Thermodynamics of Materials, D. R. Gaskell, Chapter 9 </a:t>
            </a:r>
          </a:p>
        </p:txBody>
      </p:sp>
    </p:spTree>
    <p:extLst>
      <p:ext uri="{BB962C8B-B14F-4D97-AF65-F5344CB8AC3E}">
        <p14:creationId xmlns:p14="http://schemas.microsoft.com/office/powerpoint/2010/main" val="2911181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1015547" y="89414"/>
            <a:ext cx="6831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rial Unicode MS" panose="020B0604020202020204" charset="-122"/>
                <a:cs typeface="Arial" panose="020B0604020202020204" pitchFamily="34" charset="0"/>
                <a:sym typeface="+mn-ea"/>
              </a:rPr>
              <a:t>Excess Molar Gibbs Free Energy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1015547" y="1262380"/>
            <a:ext cx="63620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- Excess value: different between its actual value and the value that it would have if the solution were ideal </a:t>
            </a:r>
          </a:p>
        </p:txBody>
      </p:sp>
      <p:graphicFrame>
        <p:nvGraphicFramePr>
          <p:cNvPr id="11" name="对象 10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9280595"/>
              </p:ext>
            </p:extLst>
          </p:nvPr>
        </p:nvGraphicFramePr>
        <p:xfrm>
          <a:off x="2686685" y="2063750"/>
          <a:ext cx="186118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889000" imgH="203200" progId="Equation.KSEE3">
                  <p:embed/>
                </p:oleObj>
              </mc:Choice>
              <mc:Fallback>
                <p:oleObj r:id="rId2" imgW="889000" imgH="203200" progId="Equation.KSEE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686685" y="2063750"/>
                        <a:ext cx="1861185" cy="425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1099185" y="2765425"/>
            <a:ext cx="60928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dirty="0">
                <a:solidFill>
                  <a:srgbClr val="FF0000"/>
                </a:solidFill>
              </a:rPr>
              <a:t>G</a:t>
            </a:r>
            <a:r>
              <a:rPr lang="en-US" altLang="zh-CN" dirty="0"/>
              <a:t>: molar Gibbs free energy of the solution </a:t>
            </a:r>
          </a:p>
          <a:p>
            <a:r>
              <a:rPr lang="en-US" altLang="zh-CN" b="1" i="1" dirty="0" err="1">
                <a:solidFill>
                  <a:srgbClr val="0000FF"/>
                </a:solidFill>
              </a:rPr>
              <a:t>G</a:t>
            </a:r>
            <a:r>
              <a:rPr lang="en-US" altLang="zh-CN" b="1" i="1" baseline="30000" dirty="0" err="1">
                <a:solidFill>
                  <a:srgbClr val="0000FF"/>
                </a:solidFill>
              </a:rPr>
              <a:t>id</a:t>
            </a:r>
            <a:r>
              <a:rPr lang="en-US" altLang="zh-CN" dirty="0"/>
              <a:t>: molar Gibbs free energy of the solution if it is ideal </a:t>
            </a:r>
          </a:p>
          <a:p>
            <a:r>
              <a:rPr lang="en-US" altLang="zh-CN" b="1" i="1" dirty="0">
                <a:solidFill>
                  <a:srgbClr val="0000FF"/>
                </a:solidFill>
              </a:rPr>
              <a:t>G</a:t>
            </a:r>
            <a:r>
              <a:rPr lang="en-US" altLang="zh-CN" b="1" i="1" baseline="30000" dirty="0">
                <a:solidFill>
                  <a:srgbClr val="0000FF"/>
                </a:solidFill>
              </a:rPr>
              <a:t>XS</a:t>
            </a:r>
            <a:r>
              <a:rPr lang="en-US" altLang="zh-CN" dirty="0"/>
              <a:t>: excess molar Gibbs free energy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1099185" y="4033520"/>
            <a:ext cx="41916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Gibbs free energy before mixing G’:</a:t>
            </a:r>
          </a:p>
        </p:txBody>
      </p:sp>
      <p:graphicFrame>
        <p:nvGraphicFramePr>
          <p:cNvPr id="15" name="对象 14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0754725"/>
              </p:ext>
            </p:extLst>
          </p:nvPr>
        </p:nvGraphicFramePr>
        <p:xfrm>
          <a:off x="5424552" y="3983990"/>
          <a:ext cx="1464310" cy="3009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927100" imgH="190500" progId="Equation.KSEE3">
                  <p:embed/>
                </p:oleObj>
              </mc:Choice>
              <mc:Fallback>
                <p:oleObj r:id="rId4" imgW="927100" imgH="190500" progId="Equation.KSEE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424552" y="3983990"/>
                        <a:ext cx="1464310" cy="3009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1137921" y="4572000"/>
            <a:ext cx="33955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Gibbs free energy after mixing G’’:</a:t>
            </a:r>
            <a:endParaRPr lang="zh-CN" altLang="en-US" dirty="0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9033745"/>
              </p:ext>
            </p:extLst>
          </p:nvPr>
        </p:nvGraphicFramePr>
        <p:xfrm>
          <a:off x="5197766" y="4555740"/>
          <a:ext cx="1502755" cy="401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01440" imgH="241200" progId="Equation.DSMT4">
                  <p:embed/>
                </p:oleObj>
              </mc:Choice>
              <mc:Fallback>
                <p:oleObj name="Equation" r:id="rId6" imgW="90144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197766" y="4555740"/>
                        <a:ext cx="1502755" cy="4018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4568511"/>
              </p:ext>
            </p:extLst>
          </p:nvPr>
        </p:nvGraphicFramePr>
        <p:xfrm>
          <a:off x="1303656" y="5181600"/>
          <a:ext cx="2541587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23880" imgH="457200" progId="Equation.DSMT4">
                  <p:embed/>
                </p:oleObj>
              </mc:Choice>
              <mc:Fallback>
                <p:oleObj name="Equation" r:id="rId8" imgW="15238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3656" y="5181600"/>
                        <a:ext cx="2541587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584789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1121409" y="103781"/>
            <a:ext cx="66986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rial Unicode MS" panose="020B0604020202020204" charset="-122"/>
                <a:cs typeface="Arial" panose="020B0604020202020204" pitchFamily="34" charset="0"/>
                <a:sym typeface="+mn-ea"/>
              </a:rPr>
              <a:t>Excess Molar Gibbs Free Energy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2809999"/>
              </p:ext>
            </p:extLst>
          </p:nvPr>
        </p:nvGraphicFramePr>
        <p:xfrm>
          <a:off x="1121409" y="1813441"/>
          <a:ext cx="2265362" cy="33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58640" imgH="203040" progId="Equation.DSMT4">
                  <p:embed/>
                </p:oleObj>
              </mc:Choice>
              <mc:Fallback>
                <p:oleObj name="Equation" r:id="rId2" imgW="1358640" imgH="20304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1409" y="1813441"/>
                        <a:ext cx="2265362" cy="338137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prstDash val="dash"/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0959089"/>
              </p:ext>
            </p:extLst>
          </p:nvPr>
        </p:nvGraphicFramePr>
        <p:xfrm>
          <a:off x="1107707" y="2427802"/>
          <a:ext cx="2452695" cy="3270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3880" imgH="203040" progId="Equation.DSMT4">
                  <p:embed/>
                </p:oleObj>
              </mc:Choice>
              <mc:Fallback>
                <p:oleObj name="Equation" r:id="rId4" imgW="15238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07707" y="2427802"/>
                        <a:ext cx="2452695" cy="3270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27949" y="1135578"/>
            <a:ext cx="1826141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dirty="0"/>
              <a:t>For any solution</a:t>
            </a:r>
            <a:endParaRPr lang="zh-CN" altLang="en-US" dirty="0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3847969"/>
              </p:ext>
            </p:extLst>
          </p:nvPr>
        </p:nvGraphicFramePr>
        <p:xfrm>
          <a:off x="1015958" y="2900878"/>
          <a:ext cx="3228975" cy="1268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06280" imgH="787320" progId="Equation.DSMT4">
                  <p:embed/>
                </p:oleObj>
              </mc:Choice>
              <mc:Fallback>
                <p:oleObj name="Equation" r:id="rId6" imgW="2006280" imgH="78732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5958" y="2900878"/>
                        <a:ext cx="3228975" cy="1268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/>
          <p:nvPr/>
        </p:nvSpPr>
        <p:spPr>
          <a:xfrm>
            <a:off x="5083704" y="1135578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Arial Unicode MS" panose="020B0604020202020204" charset="-122"/>
                <a:cs typeface="Arial" panose="020B0604020202020204" pitchFamily="34" charset="0"/>
                <a:sym typeface="+mn-ea"/>
              </a:rPr>
              <a:t>For Regular solution</a:t>
            </a: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3906205"/>
              </p:ext>
            </p:extLst>
          </p:nvPr>
        </p:nvGraphicFramePr>
        <p:xfrm>
          <a:off x="5384800" y="1749425"/>
          <a:ext cx="2635250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38000" imgH="482400" progId="Equation.DSMT4">
                  <p:embed/>
                </p:oleObj>
              </mc:Choice>
              <mc:Fallback>
                <p:oleObj name="Equation" r:id="rId8" imgW="1638000" imgH="482400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4800" y="1749425"/>
                        <a:ext cx="2635250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3335194"/>
              </p:ext>
            </p:extLst>
          </p:nvPr>
        </p:nvGraphicFramePr>
        <p:xfrm>
          <a:off x="321204" y="5314950"/>
          <a:ext cx="47625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809880" imgH="914400" progId="Equation.DSMT4">
                  <p:embed/>
                </p:oleObj>
              </mc:Choice>
              <mc:Fallback>
                <p:oleObj name="Equation" r:id="rId10" imgW="3809880" imgH="914400" progId="Equation.DSMT4">
                  <p:embed/>
                  <p:pic>
                    <p:nvPicPr>
                      <p:cNvPr id="0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204" y="5314950"/>
                        <a:ext cx="4762500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/>
          <p:cNvSpPr/>
          <p:nvPr/>
        </p:nvSpPr>
        <p:spPr>
          <a:xfrm>
            <a:off x="427949" y="4335978"/>
            <a:ext cx="39677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Arial Unicode MS" panose="020B0604020202020204" charset="-122"/>
                <a:cs typeface="Arial" panose="020B0604020202020204" pitchFamily="34" charset="0"/>
                <a:sym typeface="+mn-ea"/>
              </a:rPr>
              <a:t>For the solution with atomic ordering:</a:t>
            </a: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9494285"/>
              </p:ext>
            </p:extLst>
          </p:nvPr>
        </p:nvGraphicFramePr>
        <p:xfrm>
          <a:off x="5564781" y="5715000"/>
          <a:ext cx="3332163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070000" imgH="279360" progId="Equation.DSMT4">
                  <p:embed/>
                </p:oleObj>
              </mc:Choice>
              <mc:Fallback>
                <p:oleObj name="Equation" r:id="rId12" imgW="2070000" imgH="279360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4781" y="5715000"/>
                        <a:ext cx="3332163" cy="449263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3372393"/>
              </p:ext>
            </p:extLst>
          </p:nvPr>
        </p:nvGraphicFramePr>
        <p:xfrm>
          <a:off x="351749" y="4705310"/>
          <a:ext cx="2173287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650960" imgH="482400" progId="Equation.DSMT4">
                  <p:embed/>
                </p:oleObj>
              </mc:Choice>
              <mc:Fallback>
                <p:oleObj name="Equation" r:id="rId14" imgW="1650960" imgH="482400" progId="Equation.DSMT4">
                  <p:embed/>
                  <p:pic>
                    <p:nvPicPr>
                      <p:cNvPr id="0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749" y="4705310"/>
                        <a:ext cx="2173287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0699" name="Picture 59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9626" y="3398559"/>
            <a:ext cx="1893518" cy="22441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014364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12"/>
          <p:cNvSpPr txBox="1"/>
          <p:nvPr/>
        </p:nvSpPr>
        <p:spPr>
          <a:xfrm>
            <a:off x="1008581" y="69694"/>
            <a:ext cx="70796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rial Unicode MS" panose="020B0604020202020204" charset="-122"/>
                <a:cs typeface="Arial" panose="020B0604020202020204" pitchFamily="34" charset="0"/>
                <a:sym typeface="+mn-ea"/>
              </a:rPr>
              <a:t>Excess Molar Gibbs Free Energy</a:t>
            </a:r>
          </a:p>
        </p:txBody>
      </p:sp>
      <p:pic>
        <p:nvPicPr>
          <p:cNvPr id="788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488" y="1524000"/>
            <a:ext cx="4962525" cy="4762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6068398" y="1491734"/>
            <a:ext cx="1724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Regular Solution</a:t>
            </a:r>
            <a:endParaRPr lang="zh-CN" altLang="en-US" dirty="0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9396820"/>
              </p:ext>
            </p:extLst>
          </p:nvPr>
        </p:nvGraphicFramePr>
        <p:xfrm>
          <a:off x="4362450" y="2041525"/>
          <a:ext cx="2457450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38000" imgH="241200" progId="Equation.DSMT4">
                  <p:embed/>
                </p:oleObj>
              </mc:Choice>
              <mc:Fallback>
                <p:oleObj name="Equation" r:id="rId3" imgW="16380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362450" y="2041525"/>
                        <a:ext cx="2457450" cy="361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3938921"/>
              </p:ext>
            </p:extLst>
          </p:nvPr>
        </p:nvGraphicFramePr>
        <p:xfrm>
          <a:off x="7135813" y="2076450"/>
          <a:ext cx="131445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76240" imgH="203040" progId="Equation.DSMT4">
                  <p:embed/>
                </p:oleObj>
              </mc:Choice>
              <mc:Fallback>
                <p:oleObj name="Equation" r:id="rId5" imgW="8762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35813" y="2076450"/>
                        <a:ext cx="131445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1531441"/>
              </p:ext>
            </p:extLst>
          </p:nvPr>
        </p:nvGraphicFramePr>
        <p:xfrm>
          <a:off x="5210468" y="3043491"/>
          <a:ext cx="131445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76240" imgH="203040" progId="Equation.DSMT4">
                  <p:embed/>
                </p:oleObj>
              </mc:Choice>
              <mc:Fallback>
                <p:oleObj name="Equation" r:id="rId7" imgW="8762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0468" y="3043491"/>
                        <a:ext cx="131445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8112081"/>
              </p:ext>
            </p:extLst>
          </p:nvPr>
        </p:nvGraphicFramePr>
        <p:xfrm>
          <a:off x="7298388" y="3038336"/>
          <a:ext cx="127635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850680" imgH="203040" progId="Equation.DSMT4">
                  <p:embed/>
                </p:oleObj>
              </mc:Choice>
              <mc:Fallback>
                <p:oleObj name="Equation" r:id="rId9" imgW="8506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98388" y="3038336"/>
                        <a:ext cx="127635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4803915" y="305969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if</a:t>
            </a:r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6620216" y="2965105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then</a:t>
            </a:r>
            <a:endParaRPr lang="zh-CN" altLang="en-US" dirty="0"/>
          </a:p>
        </p:txBody>
      </p:sp>
      <p:sp>
        <p:nvSpPr>
          <p:cNvPr id="24" name="圆角矩形 23"/>
          <p:cNvSpPr/>
          <p:nvPr/>
        </p:nvSpPr>
        <p:spPr>
          <a:xfrm>
            <a:off x="4648200" y="2743200"/>
            <a:ext cx="4191000" cy="9144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4830985" y="3905250"/>
            <a:ext cx="42438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If only configurational entropy is considered, then Δ </a:t>
            </a:r>
            <a:r>
              <a:rPr lang="en-US" altLang="zh-CN" i="1" dirty="0"/>
              <a:t>S</a:t>
            </a:r>
            <a:r>
              <a:rPr lang="en-US" altLang="zh-CN" i="1" baseline="30000" dirty="0"/>
              <a:t> M </a:t>
            </a:r>
            <a:r>
              <a:rPr lang="en-US" altLang="zh-CN" dirty="0"/>
              <a:t>&lt; Δ </a:t>
            </a:r>
            <a:r>
              <a:rPr lang="en-US" altLang="zh-CN" i="1" dirty="0"/>
              <a:t>S </a:t>
            </a:r>
            <a:r>
              <a:rPr lang="en-US" altLang="zh-CN" i="1" baseline="30000" dirty="0"/>
              <a:t>M </a:t>
            </a:r>
            <a:r>
              <a:rPr lang="en-US" altLang="zh-CN" baseline="30000" dirty="0"/>
              <a:t>,id . </a:t>
            </a:r>
          </a:p>
          <a:p>
            <a:endParaRPr lang="en-US" altLang="zh-CN" dirty="0"/>
          </a:p>
          <a:p>
            <a:r>
              <a:rPr lang="en-US" altLang="zh-CN" dirty="0"/>
              <a:t>If, however, other aspects of entropy exist in the alloy (e.g., magnetic spins, defects, volume effects), Δ </a:t>
            </a:r>
            <a:r>
              <a:rPr lang="en-US" altLang="zh-CN" i="1" dirty="0"/>
              <a:t>S </a:t>
            </a:r>
            <a:r>
              <a:rPr lang="en-US" altLang="zh-CN" i="1" baseline="30000" dirty="0"/>
              <a:t>M</a:t>
            </a:r>
            <a:r>
              <a:rPr lang="en-US" altLang="zh-CN" i="1" dirty="0"/>
              <a:t> </a:t>
            </a:r>
            <a:r>
              <a:rPr lang="en-US" altLang="zh-CN" dirty="0"/>
              <a:t>may be greater than Δ </a:t>
            </a:r>
            <a:r>
              <a:rPr lang="en-US" altLang="zh-CN" i="1" dirty="0"/>
              <a:t>S </a:t>
            </a:r>
            <a:r>
              <a:rPr lang="en-US" altLang="zh-CN" i="1" baseline="30000" dirty="0"/>
              <a:t>M </a:t>
            </a:r>
            <a:r>
              <a:rPr lang="en-US" altLang="zh-CN" baseline="30000" dirty="0"/>
              <a:t>,id .</a:t>
            </a:r>
            <a:endParaRPr lang="zh-CN" altLang="en-US" baseline="30000" dirty="0"/>
          </a:p>
        </p:txBody>
      </p:sp>
    </p:spTree>
    <p:extLst>
      <p:ext uri="{BB962C8B-B14F-4D97-AF65-F5344CB8AC3E}">
        <p14:creationId xmlns:p14="http://schemas.microsoft.com/office/powerpoint/2010/main" val="40833196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1136404" y="185707"/>
            <a:ext cx="41800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effectLst/>
                <a:latin typeface="Arial" panose="020B0604020202020204" pitchFamily="34" charset="0"/>
                <a:ea typeface="Arial Unicode MS" panose="020B0604020202020204" charset="-122"/>
                <a:cs typeface="Arial" panose="020B0604020202020204" pitchFamily="34" charset="0"/>
                <a:sym typeface="+mn-ea"/>
              </a:rPr>
              <a:t>Subregular</a:t>
            </a:r>
            <a:r>
              <a:rPr lang="en-US" altLang="zh-CN" sz="32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rial Unicode MS" panose="020B0604020202020204" charset="-122"/>
                <a:cs typeface="Arial" panose="020B0604020202020204" pitchFamily="34" charset="0"/>
                <a:sym typeface="+mn-ea"/>
              </a:rPr>
              <a:t> Solutions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1" y="1331955"/>
            <a:ext cx="60579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If we make       more flexible(suitable for more solutions)</a:t>
            </a:r>
          </a:p>
        </p:txBody>
      </p:sp>
      <p:graphicFrame>
        <p:nvGraphicFramePr>
          <p:cNvPr id="11" name="对象 10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421451"/>
              </p:ext>
            </p:extLst>
          </p:nvPr>
        </p:nvGraphicFramePr>
        <p:xfrm>
          <a:off x="1318345" y="1340527"/>
          <a:ext cx="249555" cy="3321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65100" imgH="165100" progId="Equation.KSEE3">
                  <p:embed/>
                </p:oleObj>
              </mc:Choice>
              <mc:Fallback>
                <p:oleObj r:id="rId2" imgW="165100" imgH="165100" progId="Equation.KSEE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18345" y="1340527"/>
                        <a:ext cx="249555" cy="3321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9803188"/>
              </p:ext>
            </p:extLst>
          </p:nvPr>
        </p:nvGraphicFramePr>
        <p:xfrm>
          <a:off x="290796" y="1847850"/>
          <a:ext cx="4350973" cy="4501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841500" imgH="190500" progId="Equation.KSEE3">
                  <p:embed/>
                </p:oleObj>
              </mc:Choice>
              <mc:Fallback>
                <p:oleObj r:id="rId4" imgW="1841500" imgH="190500" progId="Equation.KSEE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90796" y="1847850"/>
                        <a:ext cx="4350973" cy="4501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0" y="2440048"/>
            <a:ext cx="56864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For </a:t>
            </a:r>
            <a:r>
              <a:rPr lang="en-US" altLang="zh-CN" dirty="0" err="1"/>
              <a:t>subregular</a:t>
            </a:r>
            <a:r>
              <a:rPr lang="en-US" altLang="zh-CN" dirty="0"/>
              <a:t> solution, all factors except a and b are equal zero.</a:t>
            </a:r>
          </a:p>
        </p:txBody>
      </p:sp>
      <p:graphicFrame>
        <p:nvGraphicFramePr>
          <p:cNvPr id="15" name="对象 14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2817946"/>
              </p:ext>
            </p:extLst>
          </p:nvPr>
        </p:nvGraphicFramePr>
        <p:xfrm>
          <a:off x="608330" y="3069419"/>
          <a:ext cx="1604645" cy="373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762000" imgH="177165" progId="Equation.KSEE3">
                  <p:embed/>
                </p:oleObj>
              </mc:Choice>
              <mc:Fallback>
                <p:oleObj r:id="rId6" imgW="762000" imgH="177165" progId="Equation.KSEE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08330" y="3069419"/>
                        <a:ext cx="1604645" cy="37338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9069794"/>
              </p:ext>
            </p:extLst>
          </p:nvPr>
        </p:nvGraphicFramePr>
        <p:xfrm>
          <a:off x="608330" y="3448533"/>
          <a:ext cx="3816350" cy="4641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879600" imgH="228600" progId="Equation.KSEE3">
                  <p:embed/>
                </p:oleObj>
              </mc:Choice>
              <mc:Fallback>
                <p:oleObj r:id="rId8" imgW="1879600" imgH="228600" progId="Equation.KSEE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08330" y="3448533"/>
                        <a:ext cx="3816350" cy="4641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16"/>
          <p:cNvSpPr txBox="1"/>
          <p:nvPr/>
        </p:nvSpPr>
        <p:spPr>
          <a:xfrm>
            <a:off x="125095" y="3491523"/>
            <a:ext cx="9664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So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6363210"/>
              </p:ext>
            </p:extLst>
          </p:nvPr>
        </p:nvGraphicFramePr>
        <p:xfrm>
          <a:off x="7302500" y="152400"/>
          <a:ext cx="1544638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43000" imgH="241200" progId="Equation.DSMT4">
                  <p:embed/>
                </p:oleObj>
              </mc:Choice>
              <mc:Fallback>
                <p:oleObj name="Equation" r:id="rId10" imgW="11430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2500" y="152400"/>
                        <a:ext cx="1544638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3692477"/>
              </p:ext>
            </p:extLst>
          </p:nvPr>
        </p:nvGraphicFramePr>
        <p:xfrm>
          <a:off x="7300913" y="622300"/>
          <a:ext cx="1546225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43000" imgH="241200" progId="Equation.DSMT4">
                  <p:embed/>
                </p:oleObj>
              </mc:Choice>
              <mc:Fallback>
                <p:oleObj name="Equation" r:id="rId12" imgW="11430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0913" y="622300"/>
                        <a:ext cx="1546225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3695809"/>
              </p:ext>
            </p:extLst>
          </p:nvPr>
        </p:nvGraphicFramePr>
        <p:xfrm>
          <a:off x="6932612" y="1117381"/>
          <a:ext cx="21209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120760" imgH="253800" progId="Equation.DSMT4">
                  <p:embed/>
                </p:oleObj>
              </mc:Choice>
              <mc:Fallback>
                <p:oleObj name="Equation" r:id="rId14" imgW="212076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2612" y="1117381"/>
                        <a:ext cx="2120900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1179376"/>
              </p:ext>
            </p:extLst>
          </p:nvPr>
        </p:nvGraphicFramePr>
        <p:xfrm>
          <a:off x="6408738" y="1493838"/>
          <a:ext cx="2725737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844720" imgH="279360" progId="Equation.DSMT4">
                  <p:embed/>
                </p:oleObj>
              </mc:Choice>
              <mc:Fallback>
                <p:oleObj name="Equation" r:id="rId16" imgW="284472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8738" y="1493838"/>
                        <a:ext cx="2725737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3107058"/>
              </p:ext>
            </p:extLst>
          </p:nvPr>
        </p:nvGraphicFramePr>
        <p:xfrm>
          <a:off x="7323138" y="2212975"/>
          <a:ext cx="135255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269720" imgH="482400" progId="Equation.DSMT4">
                  <p:embed/>
                </p:oleObj>
              </mc:Choice>
              <mc:Fallback>
                <p:oleObj name="Equation" r:id="rId18" imgW="126972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3138" y="2212975"/>
                        <a:ext cx="1352550" cy="514350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圆角矩形 24"/>
          <p:cNvSpPr/>
          <p:nvPr/>
        </p:nvSpPr>
        <p:spPr>
          <a:xfrm>
            <a:off x="6222365" y="36195"/>
            <a:ext cx="2921635" cy="3984454"/>
          </a:xfrm>
          <a:prstGeom prst="roundRect">
            <a:avLst>
              <a:gd name="adj" fmla="val 2653"/>
            </a:avLst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7736735"/>
              </p:ext>
            </p:extLst>
          </p:nvPr>
        </p:nvGraphicFramePr>
        <p:xfrm>
          <a:off x="6433819" y="3074010"/>
          <a:ext cx="2498725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790640" imgH="431640" progId="Equation.DSMT4">
                  <p:embed/>
                </p:oleObj>
              </mc:Choice>
              <mc:Fallback>
                <p:oleObj name="Equation" r:id="rId20" imgW="17906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3819" y="3074010"/>
                        <a:ext cx="2498725" cy="601663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5975" name="Picture 23"/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330" y="4657583"/>
            <a:ext cx="2582545" cy="182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5976" name="Picture 24"/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3622" y="4657583"/>
            <a:ext cx="2768743" cy="18944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0" name="文本框 16"/>
          <p:cNvSpPr txBox="1"/>
          <p:nvPr/>
        </p:nvSpPr>
        <p:spPr>
          <a:xfrm>
            <a:off x="135501" y="3913543"/>
            <a:ext cx="51809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These figures are not symmetric at X</a:t>
            </a:r>
            <a:r>
              <a:rPr lang="en-US" altLang="zh-CN" baseline="-25000" dirty="0">
                <a:solidFill>
                  <a:srgbClr val="FF0000"/>
                </a:solidFill>
              </a:rPr>
              <a:t>A</a:t>
            </a:r>
            <a:r>
              <a:rPr lang="en-US" altLang="zh-CN" dirty="0">
                <a:solidFill>
                  <a:srgbClr val="FF0000"/>
                </a:solidFill>
              </a:rPr>
              <a:t>=0.5 any more</a:t>
            </a:r>
          </a:p>
        </p:txBody>
      </p:sp>
    </p:spTree>
    <p:extLst>
      <p:ext uri="{BB962C8B-B14F-4D97-AF65-F5344CB8AC3E}">
        <p14:creationId xmlns:p14="http://schemas.microsoft.com/office/powerpoint/2010/main" val="26615765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159385" y="1524000"/>
            <a:ext cx="86798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If we know </a:t>
            </a:r>
            <a:r>
              <a:rPr lang="en-US" altLang="zh-CN" i="1" dirty="0">
                <a:solidFill>
                  <a:srgbClr val="FF0000"/>
                </a:solidFill>
              </a:rPr>
              <a:t>a</a:t>
            </a:r>
            <a:r>
              <a:rPr lang="en-US" altLang="zh-CN" dirty="0"/>
              <a:t> and </a:t>
            </a:r>
            <a:r>
              <a:rPr lang="en-US" altLang="zh-CN" i="1" dirty="0">
                <a:solidFill>
                  <a:srgbClr val="FF0000"/>
                </a:solidFill>
              </a:rPr>
              <a:t>b</a:t>
            </a:r>
            <a:r>
              <a:rPr lang="en-US" altLang="zh-CN" dirty="0"/>
              <a:t>, </a:t>
            </a:r>
          </a:p>
          <a:p>
            <a:r>
              <a:rPr lang="en-US" altLang="zh-CN" dirty="0"/>
              <a:t>we can determine the relationship between G</a:t>
            </a:r>
            <a:r>
              <a:rPr lang="en-US" altLang="zh-CN" baseline="30000" dirty="0"/>
              <a:t>XS</a:t>
            </a:r>
            <a:r>
              <a:rPr lang="en-US" altLang="zh-CN" dirty="0"/>
              <a:t> and compositions by </a:t>
            </a:r>
          </a:p>
        </p:txBody>
      </p:sp>
      <p:graphicFrame>
        <p:nvGraphicFramePr>
          <p:cNvPr id="16" name="对象 15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693163"/>
              </p:ext>
            </p:extLst>
          </p:nvPr>
        </p:nvGraphicFramePr>
        <p:xfrm>
          <a:off x="685800" y="2514600"/>
          <a:ext cx="3816350" cy="4641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879600" imgH="228600" progId="Equation.KSEE3">
                  <p:embed/>
                </p:oleObj>
              </mc:Choice>
              <mc:Fallback>
                <p:oleObj r:id="rId2" imgW="1879600" imgH="228600" progId="Equation.KSEE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85800" y="2514600"/>
                        <a:ext cx="3816350" cy="4641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17"/>
          <p:cNvSpPr txBox="1"/>
          <p:nvPr/>
        </p:nvSpPr>
        <p:spPr>
          <a:xfrm>
            <a:off x="177582" y="3230065"/>
            <a:ext cx="51564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To determine maxima and minima, 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393" y="3962400"/>
            <a:ext cx="4403141" cy="1949337"/>
          </a:xfrm>
          <a:prstGeom prst="rect">
            <a:avLst/>
          </a:prstGeom>
        </p:spPr>
      </p:pic>
      <p:sp>
        <p:nvSpPr>
          <p:cNvPr id="20" name="文本框 12"/>
          <p:cNvSpPr txBox="1"/>
          <p:nvPr/>
        </p:nvSpPr>
        <p:spPr>
          <a:xfrm>
            <a:off x="1388110" y="217168"/>
            <a:ext cx="6062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effectLst/>
                <a:latin typeface="Arial" panose="020B0604020202020204" pitchFamily="34" charset="0"/>
                <a:ea typeface="Arial Unicode MS" panose="020B0604020202020204" charset="-122"/>
                <a:cs typeface="Arial" panose="020B0604020202020204" pitchFamily="34" charset="0"/>
                <a:sym typeface="+mn-ea"/>
              </a:rPr>
              <a:t>Subregular</a:t>
            </a:r>
            <a:r>
              <a:rPr lang="en-US" altLang="zh-CN" sz="32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rial Unicode MS" panose="020B0604020202020204" charset="-122"/>
                <a:cs typeface="Arial" panose="020B0604020202020204" pitchFamily="34" charset="0"/>
                <a:sym typeface="+mn-ea"/>
              </a:rPr>
              <a:t> Solutions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1783218"/>
              </p:ext>
            </p:extLst>
          </p:nvPr>
        </p:nvGraphicFramePr>
        <p:xfrm>
          <a:off x="6484938" y="4721281"/>
          <a:ext cx="135255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69720" imgH="482400" progId="Equation.DSMT4">
                  <p:embed/>
                </p:oleObj>
              </mc:Choice>
              <mc:Fallback>
                <p:oleObj name="Equation" r:id="rId5" imgW="1269720" imgH="482400" progId="Equation.DSMT4">
                  <p:embed/>
                  <p:pic>
                    <p:nvPicPr>
                      <p:cNvPr id="0" name="对象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4938" y="4721281"/>
                        <a:ext cx="1352550" cy="514350"/>
                      </a:xfrm>
                      <a:prstGeom prst="rect">
                        <a:avLst/>
                      </a:prstGeom>
                      <a:solidFill>
                        <a:srgbClr val="E2F0D9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9803922"/>
              </p:ext>
            </p:extLst>
          </p:nvPr>
        </p:nvGraphicFramePr>
        <p:xfrm>
          <a:off x="6492875" y="5310075"/>
          <a:ext cx="2498725" cy="60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790700" imgH="431800" progId="Equation.DSMT4">
                  <p:embed/>
                </p:oleObj>
              </mc:Choice>
              <mc:Fallback>
                <p:oleObj name="Equation" r:id="rId7" imgW="1790700" imgH="431800" progId="Equation.DSMT4">
                  <p:embed/>
                  <p:pic>
                    <p:nvPicPr>
                      <p:cNvPr id="0" name="对象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2875" y="5310075"/>
                        <a:ext cx="2498725" cy="601662"/>
                      </a:xfrm>
                      <a:prstGeom prst="rect">
                        <a:avLst/>
                      </a:prstGeom>
                      <a:solidFill>
                        <a:srgbClr val="9DC3E6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67475" y="4314825"/>
            <a:ext cx="1851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Regular solution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418529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2"/>
          <p:cNvSpPr txBox="1"/>
          <p:nvPr/>
        </p:nvSpPr>
        <p:spPr>
          <a:xfrm>
            <a:off x="1033386" y="91044"/>
            <a:ext cx="6062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effectLst/>
                <a:latin typeface="Arial" panose="020B0604020202020204" pitchFamily="34" charset="0"/>
                <a:ea typeface="Arial Unicode MS" panose="020B0604020202020204" charset="-122"/>
                <a:cs typeface="Arial" panose="020B0604020202020204" pitchFamily="34" charset="0"/>
                <a:sym typeface="+mn-ea"/>
              </a:rPr>
              <a:t>Subregular</a:t>
            </a:r>
            <a:r>
              <a:rPr lang="en-US" altLang="zh-CN" sz="32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rial Unicode MS" panose="020B0604020202020204" charset="-122"/>
                <a:cs typeface="Arial" panose="020B0604020202020204" pitchFamily="34" charset="0"/>
                <a:sym typeface="+mn-ea"/>
              </a:rPr>
              <a:t> Solutions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75" t="18506" r="34253" b="62874"/>
          <a:stretch/>
        </p:blipFill>
        <p:spPr>
          <a:xfrm>
            <a:off x="425668" y="1272586"/>
            <a:ext cx="5044966" cy="227023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1188985" y="3715152"/>
                <a:ext cx="3139962" cy="6258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zh-CN" alt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！</m:t>
                          </m:r>
                        </m:den>
                      </m:f>
                      <m:f>
                        <m:f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8985" y="3715152"/>
                <a:ext cx="3139962" cy="62587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1033386" y="4685691"/>
                <a:ext cx="3439403" cy="126496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zh-CN" altLang="en-US" i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zh-CN" altLang="en-US" i="0">
                                <a:latin typeface="Cambria Math" panose="02040503050406030204" pitchFamily="18" charset="0"/>
                              </a:rPr>
                              <m:t>=2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zh-CN" altLang="en-US" i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zh-CN" altLang="en-US" i="0">
                                <a:latin typeface="Cambria Math" panose="02040503050406030204" pitchFamily="18" charset="0"/>
                              </a:rPr>
                              <m:t>=6</m:t>
                            </m:r>
                            <m:sSup>
                              <m:sSup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zh-CN" altLang="en-US" i="0">
                                <a:latin typeface="Cambria Math" panose="02040503050406030204" pitchFamily="18" charset="0"/>
                              </a:rPr>
                              <m:t>−6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zh-CN" altLang="en-US" i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zh-CN" altLang="en-US" i="0">
                                <a:latin typeface="Cambria Math" panose="02040503050406030204" pitchFamily="18" charset="0"/>
                              </a:rPr>
                              <m:t>=20</m:t>
                            </m:r>
                            <m:sSup>
                              <m:sSup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zh-CN" altLang="en-US" i="0">
                                <a:latin typeface="Cambria Math" panose="02040503050406030204" pitchFamily="18" charset="0"/>
                              </a:rPr>
                              <m:t>−30</m:t>
                            </m:r>
                            <m:sSup>
                              <m:sSup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zh-CN" altLang="en-US" i="0">
                                <a:latin typeface="Cambria Math" panose="02040503050406030204" pitchFamily="18" charset="0"/>
                              </a:rPr>
                              <m:t>+12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zh-CN" altLang="en-US" i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mr>
                      </m:m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386" y="4685691"/>
                <a:ext cx="3439403" cy="126496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/>
          <p:cNvSpPr txBox="1"/>
          <p:nvPr/>
        </p:nvSpPr>
        <p:spPr>
          <a:xfrm>
            <a:off x="372094" y="872443"/>
            <a:ext cx="1633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Binary system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93564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2"/>
          <p:cNvSpPr txBox="1"/>
          <p:nvPr/>
        </p:nvSpPr>
        <p:spPr>
          <a:xfrm>
            <a:off x="1033386" y="91044"/>
            <a:ext cx="6701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rial Unicode MS" panose="020B0604020202020204" charset="-122"/>
                <a:cs typeface="Arial" panose="020B0604020202020204" pitchFamily="34" charset="0"/>
                <a:sym typeface="+mn-ea"/>
              </a:rPr>
              <a:t>Subregular Solution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Arial Unicode MS" panose="020B0604020202020204" charset="-122"/>
                <a:cs typeface="Arial" panose="020B0604020202020204" pitchFamily="34" charset="0"/>
                <a:sym typeface="+mn-ea"/>
              </a:rPr>
              <a:t>-Engineering</a:t>
            </a:r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ea typeface="Arial Unicode MS" panose="020B0604020202020204" charset="-122"/>
                <a:cs typeface="Arial" panose="020B0604020202020204" pitchFamily="34" charset="0"/>
                <a:sym typeface="+mn-ea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Arial Unicode MS" panose="020B0604020202020204" charset="-122"/>
                <a:cs typeface="Arial" panose="020B0604020202020204" pitchFamily="34" charset="0"/>
                <a:sym typeface="+mn-ea"/>
              </a:rPr>
              <a:t>approach</a:t>
            </a:r>
            <a:endParaRPr lang="en-US" altLang="zh-CN" sz="2400" dirty="0">
              <a:solidFill>
                <a:srgbClr val="FF0000"/>
              </a:solidFill>
              <a:effectLst/>
              <a:latin typeface="Arial" panose="020B0604020202020204" pitchFamily="34" charset="0"/>
              <a:ea typeface="Arial Unicode MS" panose="020B0604020202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2094" y="872443"/>
            <a:ext cx="1749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Ternary system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87" t="33481" r="31003" b="27817"/>
          <a:stretch/>
        </p:blipFill>
        <p:spPr>
          <a:xfrm rot="16200000">
            <a:off x="5251987" y="1352295"/>
            <a:ext cx="2450704" cy="27910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22" t="20771" r="33124" b="20940"/>
          <a:stretch/>
        </p:blipFill>
        <p:spPr>
          <a:xfrm rot="16200000">
            <a:off x="1108612" y="784923"/>
            <a:ext cx="2379058" cy="39974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5019597" y="4072153"/>
                <a:ext cx="2853282" cy="6395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𝜐</m:t>
                                </m:r>
                              </m:e>
                              <m:sub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zh-CN" altLang="en-US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zh-CN" altLang="en-US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lin"/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i="0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sSub>
                                      <m:sSubPr>
                                        <m:ctrlP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zh-CN" altLang="en-US" i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zh-CN" altLang="en-US" i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zh-CN" altLang="en-US" i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num>
                              <m:den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𝜐</m:t>
                                </m:r>
                              </m:e>
                              <m:sub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zh-CN" altLang="en-US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zh-CN" altLang="en-US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lin"/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i="0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sSub>
                                      <m:sSubPr>
                                        <m:ctrlP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zh-CN" altLang="en-US" i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zh-CN" altLang="en-US" i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zh-CN" altLang="en-US" i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num>
                              <m:den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mr>
                      </m:m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9597" y="4072153"/>
                <a:ext cx="2853282" cy="639599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/>
          <p:cNvSpPr txBox="1"/>
          <p:nvPr/>
        </p:nvSpPr>
        <p:spPr>
          <a:xfrm>
            <a:off x="5019597" y="1124793"/>
            <a:ext cx="1415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Hillert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1980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17792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4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053" y="1268557"/>
            <a:ext cx="6686550" cy="77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64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553" y="2118629"/>
            <a:ext cx="649605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文本框 12"/>
          <p:cNvSpPr txBox="1"/>
          <p:nvPr/>
        </p:nvSpPr>
        <p:spPr>
          <a:xfrm>
            <a:off x="1344623" y="36195"/>
            <a:ext cx="606298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3200" dirty="0">
              <a:solidFill>
                <a:srgbClr val="FF0000"/>
              </a:solidFill>
              <a:effectLst/>
              <a:latin typeface="Arial" panose="020B0604020202020204" pitchFamily="34" charset="0"/>
              <a:ea typeface="Arial Unicode MS" panose="020B0604020202020204" charset="-122"/>
              <a:cs typeface="Arial" panose="020B0604020202020204" pitchFamily="34" charset="0"/>
              <a:sym typeface="+mn-ea"/>
            </a:endParaRPr>
          </a:p>
          <a:p>
            <a:r>
              <a:rPr lang="en-US" altLang="zh-CN" sz="32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rial Unicode MS" panose="020B0604020202020204" charset="-122"/>
                <a:cs typeface="Arial" panose="020B0604020202020204" pitchFamily="34" charset="0"/>
                <a:sym typeface="+mn-ea"/>
              </a:rPr>
              <a:t>Subregular Solutions</a:t>
            </a:r>
          </a:p>
        </p:txBody>
      </p:sp>
      <p:pic>
        <p:nvPicPr>
          <p:cNvPr id="1065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0985" y="2995002"/>
            <a:ext cx="3286337" cy="31568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650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970281"/>
            <a:ext cx="4258869" cy="3206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9377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12"/>
          <p:cNvSpPr txBox="1"/>
          <p:nvPr/>
        </p:nvSpPr>
        <p:spPr>
          <a:xfrm>
            <a:off x="1085703" y="126683"/>
            <a:ext cx="6062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Effect of Temperature</a:t>
            </a:r>
            <a:endParaRPr lang="en-US" altLang="zh-CN" sz="3200" dirty="0">
              <a:solidFill>
                <a:srgbClr val="FF0000"/>
              </a:solidFill>
              <a:effectLst/>
              <a:latin typeface="Arial" panose="020B0604020202020204" pitchFamily="34" charset="0"/>
              <a:ea typeface="Arial Unicode MS" panose="020B0604020202020204" charset="-122"/>
              <a:cs typeface="Arial" panose="020B0604020202020204" pitchFamily="34" charset="0"/>
              <a:sym typeface="+mn-ea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0653188"/>
              </p:ext>
            </p:extLst>
          </p:nvPr>
        </p:nvGraphicFramePr>
        <p:xfrm>
          <a:off x="6440113" y="1546463"/>
          <a:ext cx="2387600" cy="715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3880" imgH="457200" progId="Equation.DSMT4">
                  <p:embed/>
                </p:oleObj>
              </mc:Choice>
              <mc:Fallback>
                <p:oleObj name="Equation" r:id="rId2" imgW="15238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0113" y="1546463"/>
                        <a:ext cx="2387600" cy="71596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prstDash val="dash"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392370"/>
              </p:ext>
            </p:extLst>
          </p:nvPr>
        </p:nvGraphicFramePr>
        <p:xfrm>
          <a:off x="2485650" y="1283493"/>
          <a:ext cx="180498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52200" imgH="241200" progId="Equation.DSMT4">
                  <p:embed/>
                </p:oleObj>
              </mc:Choice>
              <mc:Fallback>
                <p:oleObj name="Equation" r:id="rId4" imgW="9522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485650" y="1283493"/>
                        <a:ext cx="1804988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6189150"/>
              </p:ext>
            </p:extLst>
          </p:nvPr>
        </p:nvGraphicFramePr>
        <p:xfrm>
          <a:off x="1963363" y="1893093"/>
          <a:ext cx="396875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95200" imgH="253800" progId="Equation.DSMT4">
                  <p:embed/>
                </p:oleObj>
              </mc:Choice>
              <mc:Fallback>
                <p:oleObj name="Equation" r:id="rId6" imgW="209520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3363" y="1893093"/>
                        <a:ext cx="3968750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746436" y="1359693"/>
            <a:ext cx="9028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Arial Unicode MS" panose="020B0604020202020204" charset="-122"/>
                <a:cs typeface="Arial" panose="020B0604020202020204" pitchFamily="34" charset="0"/>
                <a:sym typeface="+mn-ea"/>
              </a:rPr>
              <a:t>regular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319637" y="1893093"/>
            <a:ext cx="13131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  <a:ea typeface="Arial Unicode MS" panose="020B0604020202020204" charset="-122"/>
                <a:cs typeface="Arial" panose="020B0604020202020204" pitchFamily="34" charset="0"/>
                <a:sym typeface="+mn-ea"/>
              </a:rPr>
              <a:t>Subregular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386686" y="2743200"/>
            <a:ext cx="746101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The influence of temperature on the behavior of </a:t>
            </a:r>
            <a:r>
              <a:rPr lang="en-US" altLang="zh-CN" dirty="0" err="1"/>
              <a:t>subregular</a:t>
            </a:r>
            <a:r>
              <a:rPr lang="en-US" altLang="zh-CN" dirty="0"/>
              <a:t> solutions is accommodated by introducing a third constant, τ ,</a:t>
            </a:r>
            <a:endParaRPr lang="zh-CN" altLang="en-US" dirty="0"/>
          </a:p>
        </p:txBody>
      </p:sp>
      <p:pic>
        <p:nvPicPr>
          <p:cNvPr id="128005" name="Picture 5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071" y="3429000"/>
            <a:ext cx="3275704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8006" name="Picture 6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071" y="4476749"/>
            <a:ext cx="2532179" cy="1283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8007" name="Picture 7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7738" y="4572000"/>
            <a:ext cx="3747856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093908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12"/>
          <p:cNvSpPr txBox="1"/>
          <p:nvPr/>
        </p:nvSpPr>
        <p:spPr>
          <a:xfrm>
            <a:off x="1006503" y="0"/>
            <a:ext cx="6062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rial Unicode MS" panose="020B0604020202020204" charset="-122"/>
                <a:cs typeface="Arial" panose="020B0604020202020204" pitchFamily="34" charset="0"/>
                <a:sym typeface="+mn-ea"/>
              </a:rPr>
              <a:t>Numerical example </a:t>
            </a:r>
          </a:p>
        </p:txBody>
      </p:sp>
      <p:pic>
        <p:nvPicPr>
          <p:cNvPr id="1085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234" y="2897507"/>
            <a:ext cx="5215701" cy="1276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854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7180" y="3293588"/>
            <a:ext cx="2023164" cy="7541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854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7180" y="3821967"/>
            <a:ext cx="2223188" cy="8307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8550" name="Picture 6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354"/>
          <a:stretch/>
        </p:blipFill>
        <p:spPr bwMode="auto">
          <a:xfrm>
            <a:off x="6359579" y="4587081"/>
            <a:ext cx="2005013" cy="50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圆角矩形 10"/>
          <p:cNvSpPr/>
          <p:nvPr/>
        </p:nvSpPr>
        <p:spPr>
          <a:xfrm>
            <a:off x="5800145" y="3215481"/>
            <a:ext cx="2852420" cy="2743200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8551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1295" y="5090319"/>
            <a:ext cx="2730120" cy="682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8552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234" y="4191000"/>
            <a:ext cx="4662259" cy="17676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矩形 1"/>
          <p:cNvSpPr/>
          <p:nvPr/>
        </p:nvSpPr>
        <p:spPr>
          <a:xfrm>
            <a:off x="393234" y="1160145"/>
            <a:ext cx="8393579" cy="132343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/>
              <a:t>At 700 K, the activity of </a:t>
            </a:r>
            <a:r>
              <a:rPr lang="en-US" altLang="zh-CN" sz="1600" dirty="0" err="1"/>
              <a:t>Ga</a:t>
            </a:r>
            <a:r>
              <a:rPr lang="en-US" altLang="zh-CN" sz="1600" dirty="0"/>
              <a:t> in a liquid </a:t>
            </a:r>
            <a:r>
              <a:rPr lang="en-US" altLang="zh-CN" sz="1600" dirty="0" err="1"/>
              <a:t>Ga</a:t>
            </a:r>
            <a:r>
              <a:rPr lang="en-US" altLang="zh-CN" sz="1600" dirty="0"/>
              <a:t>– Cd solution of composition </a:t>
            </a:r>
            <a:r>
              <a:rPr lang="en-US" altLang="zh-CN" sz="1600" i="1" dirty="0"/>
              <a:t>X </a:t>
            </a:r>
            <a:r>
              <a:rPr lang="en-US" altLang="zh-CN" sz="1600" dirty="0" err="1"/>
              <a:t>Ga</a:t>
            </a:r>
            <a:r>
              <a:rPr lang="en-US" altLang="zh-CN" sz="1600" dirty="0"/>
              <a:t> = 0.5 has</a:t>
            </a:r>
          </a:p>
          <a:p>
            <a:r>
              <a:rPr lang="en-US" altLang="zh-CN" sz="1600" dirty="0"/>
              <a:t>the value 0.79. On the assumption that liquid solutions of </a:t>
            </a:r>
            <a:r>
              <a:rPr lang="en-US" altLang="zh-CN" sz="1600" dirty="0" err="1"/>
              <a:t>Ga</a:t>
            </a:r>
            <a:r>
              <a:rPr lang="en-US" altLang="zh-CN" sz="1600" dirty="0"/>
              <a:t> and Cd exhibit regular</a:t>
            </a:r>
          </a:p>
          <a:p>
            <a:r>
              <a:rPr lang="en-US" altLang="zh-CN" sz="1600" dirty="0"/>
              <a:t>solution behavior, </a:t>
            </a:r>
            <a:r>
              <a:rPr lang="en-US" altLang="zh-CN" sz="1600" b="1" dirty="0">
                <a:solidFill>
                  <a:srgbClr val="FF0000"/>
                </a:solidFill>
              </a:rPr>
              <a:t>estimate the energy of the </a:t>
            </a:r>
            <a:r>
              <a:rPr lang="en-US" altLang="zh-CN" sz="1600" b="1" dirty="0" err="1">
                <a:solidFill>
                  <a:srgbClr val="FF0000"/>
                </a:solidFill>
              </a:rPr>
              <a:t>Ga</a:t>
            </a:r>
            <a:r>
              <a:rPr lang="en-US" altLang="zh-CN" sz="1600" b="1" dirty="0">
                <a:solidFill>
                  <a:srgbClr val="FF0000"/>
                </a:solidFill>
              </a:rPr>
              <a:t>– Cd bond in the solution</a:t>
            </a:r>
            <a:r>
              <a:rPr lang="en-US" altLang="zh-CN" sz="1600" dirty="0"/>
              <a:t>. The molar</a:t>
            </a:r>
          </a:p>
          <a:p>
            <a:r>
              <a:rPr lang="en-US" altLang="zh-CN" sz="1600" dirty="0"/>
              <a:t>enthalpies of evaporation of liquid </a:t>
            </a:r>
            <a:r>
              <a:rPr lang="en-US" altLang="zh-CN" sz="1600" dirty="0" err="1"/>
              <a:t>Ga</a:t>
            </a:r>
            <a:r>
              <a:rPr lang="en-US" altLang="zh-CN" sz="1600" dirty="0"/>
              <a:t> and liquid Cd at their melting temperatures</a:t>
            </a:r>
          </a:p>
          <a:p>
            <a:r>
              <a:rPr lang="en-US" altLang="zh-CN" sz="1600" dirty="0"/>
              <a:t>are, respectively, 270,000 and 100,000 J.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5229506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59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 bwMode="auto">
          <a:xfrm>
            <a:off x="1123381" y="179573"/>
            <a:ext cx="5988396" cy="821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9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147"/>
          <a:stretch/>
        </p:blipFill>
        <p:spPr bwMode="auto">
          <a:xfrm>
            <a:off x="1200349" y="1770806"/>
            <a:ext cx="5827594" cy="25667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9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2325" y="1070649"/>
            <a:ext cx="2665453" cy="6824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624" b="912"/>
          <a:stretch/>
        </p:blipFill>
        <p:spPr bwMode="auto">
          <a:xfrm>
            <a:off x="1200349" y="5012624"/>
            <a:ext cx="5827594" cy="1576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1929333" y="4394290"/>
                <a:ext cx="3849387" cy="561564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600" i="1">
                          <a:latin typeface="Cambria Math" panose="02040503050406030204" pitchFamily="18" charset="0"/>
                        </a:rPr>
                        <m:t>𝛺</m:t>
                      </m:r>
                      <m:r>
                        <a:rPr lang="zh-CN" altLang="en-US" sz="16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1600" i="1">
                          <a:latin typeface="Cambria Math" panose="02040503050406030204" pitchFamily="18" charset="0"/>
                        </a:rPr>
                        <m:t>𝑧</m:t>
                      </m:r>
                      <m:sSub>
                        <m:sSubPr>
                          <m:ctrlPr>
                            <a:rPr lang="zh-CN" alt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zh-CN" altLang="en-US" sz="160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zh-CN" alt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  <m:t>𝐶𝑑</m:t>
                              </m:r>
                              <m:r>
                                <a:rPr lang="zh-CN" altLang="en-US" sz="16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  <m:t>𝐺𝑎</m:t>
                              </m:r>
                            </m:sub>
                          </m:sSub>
                          <m:r>
                            <a:rPr lang="zh-CN" altLang="en-US" sz="1600" i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6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16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d>
                            <m:dPr>
                              <m:ctrlP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6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zh-CN" altLang="en-US" sz="1600" i="1">
                                      <a:latin typeface="Cambria Math" panose="02040503050406030204" pitchFamily="18" charset="0"/>
                                    </a:rPr>
                                    <m:t>𝐶𝑑</m:t>
                                  </m:r>
                                  <m:r>
                                    <a:rPr lang="zh-CN" altLang="en-US" sz="160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sz="1600" i="1">
                                      <a:latin typeface="Cambria Math" panose="02040503050406030204" pitchFamily="18" charset="0"/>
                                    </a:rPr>
                                    <m:t>𝐶𝑑</m:t>
                                  </m:r>
                                </m:sub>
                              </m:sSub>
                              <m:r>
                                <a:rPr lang="zh-CN" altLang="en-US" sz="16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6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zh-CN" altLang="en-US" sz="1600" i="1">
                                      <a:latin typeface="Cambria Math" panose="02040503050406030204" pitchFamily="18" charset="0"/>
                                    </a:rPr>
                                    <m:t>𝐺𝑎</m:t>
                                  </m:r>
                                  <m:r>
                                    <a:rPr lang="zh-CN" altLang="en-US" sz="160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sz="1600" i="1">
                                      <a:latin typeface="Cambria Math" panose="02040503050406030204" pitchFamily="18" charset="0"/>
                                    </a:rPr>
                                    <m:t>𝐺𝑎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9333" y="4394290"/>
                <a:ext cx="3849387" cy="561564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56385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8564" y="3352800"/>
            <a:ext cx="45432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36. </a:t>
            </a:r>
            <a:r>
              <a:rPr lang="en-US" altLang="zh-CN" sz="2800" dirty="0">
                <a:solidFill>
                  <a:srgbClr val="FF0000"/>
                </a:solidFill>
              </a:rPr>
              <a:t>Sublattice solid solution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38200" y="4495800"/>
            <a:ext cx="62760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Ref. </a:t>
            </a:r>
            <a:r>
              <a:rPr lang="zh-CN" altLang="en-US" dirty="0"/>
              <a:t>第四章，材料热力学 郝世明，第二版，北京化工出版社</a:t>
            </a:r>
            <a:endParaRPr lang="en-US" altLang="zh-CN" dirty="0"/>
          </a:p>
          <a:p>
            <a:r>
              <a:rPr lang="en-US" altLang="zh-CN" dirty="0"/>
              <a:t>        </a:t>
            </a:r>
            <a:r>
              <a:rPr lang="zh-CN" altLang="en-US" dirty="0"/>
              <a:t>第三章，微观组织热力学，西泽泰二，化学出版社</a:t>
            </a:r>
          </a:p>
        </p:txBody>
      </p:sp>
    </p:spTree>
    <p:extLst>
      <p:ext uri="{BB962C8B-B14F-4D97-AF65-F5344CB8AC3E}">
        <p14:creationId xmlns:p14="http://schemas.microsoft.com/office/powerpoint/2010/main" val="30307887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E4F96EF-BE3E-4762-B78B-32A5A91A0F99}"/>
              </a:ext>
            </a:extLst>
          </p:cNvPr>
          <p:cNvSpPr txBox="1"/>
          <p:nvPr/>
        </p:nvSpPr>
        <p:spPr>
          <a:xfrm>
            <a:off x="2873650" y="310393"/>
            <a:ext cx="29315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FF0000"/>
                </a:solidFill>
              </a:rPr>
              <a:t>III-V Solid</a:t>
            </a:r>
            <a:r>
              <a:rPr lang="zh-CN" altLang="en-US" sz="2400" dirty="0">
                <a:solidFill>
                  <a:srgbClr val="FF0000"/>
                </a:solidFill>
              </a:rPr>
              <a:t> </a:t>
            </a:r>
            <a:r>
              <a:rPr lang="en-US" altLang="zh-CN" sz="2400" dirty="0">
                <a:solidFill>
                  <a:srgbClr val="FF0000"/>
                </a:solidFill>
              </a:rPr>
              <a:t>Solution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730453F-C35F-48D0-A110-0C95A1F6212A}"/>
              </a:ext>
            </a:extLst>
          </p:cNvPr>
          <p:cNvSpPr txBox="1"/>
          <p:nvPr/>
        </p:nvSpPr>
        <p:spPr>
          <a:xfrm>
            <a:off x="3492185" y="5320210"/>
            <a:ext cx="2159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III Group: Al, In, Ga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C2DACC8-3E67-469D-8D33-163E0E05663D}"/>
              </a:ext>
            </a:extLst>
          </p:cNvPr>
          <p:cNvSpPr txBox="1"/>
          <p:nvPr/>
        </p:nvSpPr>
        <p:spPr>
          <a:xfrm>
            <a:off x="3526297" y="5572412"/>
            <a:ext cx="2091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V Group: P, As, Sb</a:t>
            </a:r>
            <a:endParaRPr lang="zh-CN" altLang="en-US" dirty="0"/>
          </a:p>
        </p:txBody>
      </p:sp>
      <p:pic>
        <p:nvPicPr>
          <p:cNvPr id="277506" name="Picture 2" descr="See the source image">
            <a:extLst>
              <a:ext uri="{FF2B5EF4-FFF2-40B4-BE49-F238E27FC236}">
                <a16:creationId xmlns:a16="http://schemas.microsoft.com/office/drawing/2014/main" id="{4BEF70BC-7BE2-4AF2-8F97-B2CEC59BAA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007" y="1564653"/>
            <a:ext cx="4597939" cy="3215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508" name="Picture 4" descr="See the source image">
            <a:extLst>
              <a:ext uri="{FF2B5EF4-FFF2-40B4-BE49-F238E27FC236}">
                <a16:creationId xmlns:a16="http://schemas.microsoft.com/office/drawing/2014/main" id="{B92764BD-C7E5-468E-A2A3-94B4698A79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51" r="16546"/>
          <a:stretch/>
        </p:blipFill>
        <p:spPr bwMode="auto">
          <a:xfrm>
            <a:off x="5117284" y="1665142"/>
            <a:ext cx="3598878" cy="3114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59307951-E6EB-4AAD-A84E-81FD78A75B67}"/>
              </a:ext>
            </a:extLst>
          </p:cNvPr>
          <p:cNvSpPr txBox="1"/>
          <p:nvPr/>
        </p:nvSpPr>
        <p:spPr>
          <a:xfrm>
            <a:off x="6216242" y="1258349"/>
            <a:ext cx="2018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Structure of GaAs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457386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80F70E8-EAB5-4CBB-9F00-D7AEFFE609F3}"/>
              </a:ext>
            </a:extLst>
          </p:cNvPr>
          <p:cNvSpPr txBox="1"/>
          <p:nvPr/>
        </p:nvSpPr>
        <p:spPr>
          <a:xfrm>
            <a:off x="2873650" y="310393"/>
            <a:ext cx="29315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FF0000"/>
                </a:solidFill>
              </a:rPr>
              <a:t>III-V Solid</a:t>
            </a:r>
            <a:r>
              <a:rPr lang="zh-CN" altLang="en-US" sz="2400" dirty="0">
                <a:solidFill>
                  <a:srgbClr val="FF0000"/>
                </a:solidFill>
              </a:rPr>
              <a:t> </a:t>
            </a:r>
            <a:r>
              <a:rPr lang="en-US" altLang="zh-CN" sz="2400" dirty="0">
                <a:solidFill>
                  <a:srgbClr val="FF0000"/>
                </a:solidFill>
              </a:rPr>
              <a:t>Solution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07612C6-6ECB-4156-B1F2-3EEF39F84430}"/>
              </a:ext>
            </a:extLst>
          </p:cNvPr>
          <p:cNvSpPr txBox="1"/>
          <p:nvPr/>
        </p:nvSpPr>
        <p:spPr>
          <a:xfrm>
            <a:off x="5053901" y="1762364"/>
            <a:ext cx="15584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/>
              <a:t>3B-sublattice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/>
              <a:t>5B-sublattice </a:t>
            </a:r>
            <a:endParaRPr lang="zh-CN" altLang="en-US" sz="1400" dirty="0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7DEF7A2B-3EFB-42FD-850E-9638A5C416CC}"/>
              </a:ext>
            </a:extLst>
          </p:cNvPr>
          <p:cNvSpPr/>
          <p:nvPr/>
        </p:nvSpPr>
        <p:spPr>
          <a:xfrm>
            <a:off x="5331860" y="3201940"/>
            <a:ext cx="162426" cy="15100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2769BBC5-E49F-4CB0-8A22-66B18F125AE3}"/>
              </a:ext>
            </a:extLst>
          </p:cNvPr>
          <p:cNvSpPr/>
          <p:nvPr/>
        </p:nvSpPr>
        <p:spPr>
          <a:xfrm>
            <a:off x="6612341" y="2091729"/>
            <a:ext cx="162426" cy="15100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8A4D5EF0-E5B8-4633-A9F3-63F6B23DE0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77" t="19450" r="19988" b="11192"/>
          <a:stretch/>
        </p:blipFill>
        <p:spPr>
          <a:xfrm>
            <a:off x="437147" y="1632619"/>
            <a:ext cx="3994758" cy="3020036"/>
          </a:xfrm>
          <a:prstGeom prst="rect">
            <a:avLst/>
          </a:prstGeom>
        </p:spPr>
      </p:pic>
      <p:sp>
        <p:nvSpPr>
          <p:cNvPr id="13" name="椭圆 12">
            <a:extLst>
              <a:ext uri="{FF2B5EF4-FFF2-40B4-BE49-F238E27FC236}">
                <a16:creationId xmlns:a16="http://schemas.microsoft.com/office/drawing/2014/main" id="{FF57558D-AE6D-46A7-9EE3-9E5EE6987624}"/>
              </a:ext>
            </a:extLst>
          </p:cNvPr>
          <p:cNvSpPr/>
          <p:nvPr/>
        </p:nvSpPr>
        <p:spPr>
          <a:xfrm>
            <a:off x="4902385" y="3201940"/>
            <a:ext cx="162426" cy="15100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endParaRPr lang="zh-CN" altLang="en-US"/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D796C223-1805-4799-BBEB-205ED6063C57}"/>
              </a:ext>
            </a:extLst>
          </p:cNvPr>
          <p:cNvCxnSpPr>
            <a:cxnSpLocks/>
            <a:stCxn id="13" idx="6"/>
            <a:endCxn id="10" idx="2"/>
          </p:cNvCxnSpPr>
          <p:nvPr/>
        </p:nvCxnSpPr>
        <p:spPr>
          <a:xfrm>
            <a:off x="5064811" y="3277441"/>
            <a:ext cx="2670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55BAD5E6-030D-4BD8-8C79-6E621FCE395E}"/>
              </a:ext>
            </a:extLst>
          </p:cNvPr>
          <p:cNvSpPr txBox="1"/>
          <p:nvPr/>
        </p:nvSpPr>
        <p:spPr>
          <a:xfrm>
            <a:off x="4798503" y="2575761"/>
            <a:ext cx="2138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Neighbor’s</a:t>
            </a:r>
            <a:r>
              <a:rPr lang="zh-CN" altLang="en-US" dirty="0"/>
              <a:t> </a:t>
            </a:r>
            <a:r>
              <a:rPr lang="en-US" altLang="zh-CN" dirty="0"/>
              <a:t>number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20B615D-9DB7-40B8-8919-7AF6CD6880C5}"/>
              </a:ext>
            </a:extLst>
          </p:cNvPr>
          <p:cNvSpPr txBox="1"/>
          <p:nvPr/>
        </p:nvSpPr>
        <p:spPr>
          <a:xfrm>
            <a:off x="5915693" y="3092775"/>
            <a:ext cx="733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z’ = 4</a:t>
            </a:r>
            <a:endParaRPr lang="zh-CN" altLang="en-US" dirty="0"/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D582A386-72A6-471A-8CAE-4351B6323C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4275586"/>
              </p:ext>
            </p:extLst>
          </p:nvPr>
        </p:nvGraphicFramePr>
        <p:xfrm>
          <a:off x="7050280" y="3031761"/>
          <a:ext cx="1343025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91880" imgH="431640" progId="Equation.DSMT4">
                  <p:embed/>
                </p:oleObj>
              </mc:Choice>
              <mc:Fallback>
                <p:oleObj name="Equation" r:id="rId3" imgW="1091880" imgH="43164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936413C6-F0EE-41F5-80F2-49B0CE76D7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050280" y="3031761"/>
                        <a:ext cx="1343025" cy="530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椭圆 18">
            <a:extLst>
              <a:ext uri="{FF2B5EF4-FFF2-40B4-BE49-F238E27FC236}">
                <a16:creationId xmlns:a16="http://schemas.microsoft.com/office/drawing/2014/main" id="{897C019B-553E-42D6-B28C-4A591AB02B0C}"/>
              </a:ext>
            </a:extLst>
          </p:cNvPr>
          <p:cNvSpPr/>
          <p:nvPr/>
        </p:nvSpPr>
        <p:spPr>
          <a:xfrm>
            <a:off x="5331860" y="3801615"/>
            <a:ext cx="162426" cy="15100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3FA4709B-012A-43B4-A1F2-345B1229D785}"/>
              </a:ext>
            </a:extLst>
          </p:cNvPr>
          <p:cNvSpPr/>
          <p:nvPr/>
        </p:nvSpPr>
        <p:spPr>
          <a:xfrm>
            <a:off x="4902385" y="3801615"/>
            <a:ext cx="162426" cy="15100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endParaRPr lang="zh-CN" altLang="en-US"/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8C6AB7D0-90BA-4200-802E-D6BD8DF53D56}"/>
              </a:ext>
            </a:extLst>
          </p:cNvPr>
          <p:cNvCxnSpPr>
            <a:stCxn id="20" idx="6"/>
            <a:endCxn id="19" idx="2"/>
          </p:cNvCxnSpPr>
          <p:nvPr/>
        </p:nvCxnSpPr>
        <p:spPr>
          <a:xfrm>
            <a:off x="5064811" y="3877116"/>
            <a:ext cx="2670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5829FFE8-A1A1-42AE-BA1A-B3DD8DB80D66}"/>
              </a:ext>
            </a:extLst>
          </p:cNvPr>
          <p:cNvSpPr txBox="1"/>
          <p:nvPr/>
        </p:nvSpPr>
        <p:spPr>
          <a:xfrm>
            <a:off x="5915693" y="3692450"/>
            <a:ext cx="8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z = 12</a:t>
            </a:r>
            <a:endParaRPr lang="zh-CN" altLang="en-US" dirty="0"/>
          </a:p>
        </p:txBody>
      </p: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A47847E9-431F-4BB6-8F73-A7FAC79E76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5624244"/>
              </p:ext>
            </p:extLst>
          </p:nvPr>
        </p:nvGraphicFramePr>
        <p:xfrm>
          <a:off x="7088887" y="3561986"/>
          <a:ext cx="1343025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91880" imgH="431640" progId="Equation.DSMT4">
                  <p:embed/>
                </p:oleObj>
              </mc:Choice>
              <mc:Fallback>
                <p:oleObj name="Equation" r:id="rId5" imgW="1091880" imgH="43164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D582A386-72A6-471A-8CAE-4351B6323C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088887" y="3561986"/>
                        <a:ext cx="1343025" cy="530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椭圆 23">
            <a:extLst>
              <a:ext uri="{FF2B5EF4-FFF2-40B4-BE49-F238E27FC236}">
                <a16:creationId xmlns:a16="http://schemas.microsoft.com/office/drawing/2014/main" id="{758DC811-3BD9-44BB-8DA8-2A632EA4EABD}"/>
              </a:ext>
            </a:extLst>
          </p:cNvPr>
          <p:cNvSpPr/>
          <p:nvPr/>
        </p:nvSpPr>
        <p:spPr>
          <a:xfrm>
            <a:off x="5331860" y="4274526"/>
            <a:ext cx="162426" cy="15100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endParaRPr lang="zh-CN" altLang="en-US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8BC9A18F-5666-4350-A78F-B9F751B2094F}"/>
              </a:ext>
            </a:extLst>
          </p:cNvPr>
          <p:cNvSpPr/>
          <p:nvPr/>
        </p:nvSpPr>
        <p:spPr>
          <a:xfrm>
            <a:off x="4902385" y="4274526"/>
            <a:ext cx="162426" cy="15100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endParaRPr lang="zh-CN" altLang="en-US"/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E7A1DA79-2DF3-4077-A860-989E0902F539}"/>
              </a:ext>
            </a:extLst>
          </p:cNvPr>
          <p:cNvCxnSpPr>
            <a:stCxn id="25" idx="6"/>
            <a:endCxn id="24" idx="2"/>
          </p:cNvCxnSpPr>
          <p:nvPr/>
        </p:nvCxnSpPr>
        <p:spPr>
          <a:xfrm>
            <a:off x="5064811" y="4350027"/>
            <a:ext cx="2670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C73EBADC-69E1-4C2C-9380-1AB395625716}"/>
              </a:ext>
            </a:extLst>
          </p:cNvPr>
          <p:cNvSpPr txBox="1"/>
          <p:nvPr/>
        </p:nvSpPr>
        <p:spPr>
          <a:xfrm>
            <a:off x="5915693" y="4179814"/>
            <a:ext cx="8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z = 12</a:t>
            </a:r>
            <a:endParaRPr lang="zh-CN" altLang="en-US" dirty="0"/>
          </a:p>
        </p:txBody>
      </p:sp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5AC2EB54-CD0B-459F-A04D-51370208CC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1890283"/>
              </p:ext>
            </p:extLst>
          </p:nvPr>
        </p:nvGraphicFramePr>
        <p:xfrm>
          <a:off x="7113313" y="4099367"/>
          <a:ext cx="1343025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91880" imgH="431640" progId="Equation.DSMT4">
                  <p:embed/>
                </p:oleObj>
              </mc:Choice>
              <mc:Fallback>
                <p:oleObj name="Equation" r:id="rId7" imgW="1091880" imgH="43164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A47847E9-431F-4BB6-8F73-A7FAC79E766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113313" y="4099367"/>
                        <a:ext cx="1343025" cy="530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椭圆 29">
            <a:extLst>
              <a:ext uri="{FF2B5EF4-FFF2-40B4-BE49-F238E27FC236}">
                <a16:creationId xmlns:a16="http://schemas.microsoft.com/office/drawing/2014/main" id="{C5B7052B-5825-4938-A44D-89A0424A3A8C}"/>
              </a:ext>
            </a:extLst>
          </p:cNvPr>
          <p:cNvSpPr/>
          <p:nvPr/>
        </p:nvSpPr>
        <p:spPr>
          <a:xfrm>
            <a:off x="6612341" y="1828404"/>
            <a:ext cx="162426" cy="15100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96772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CBE2C257-5AC0-4ECA-879F-C78B5932A5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3014545"/>
              </p:ext>
            </p:extLst>
          </p:nvPr>
        </p:nvGraphicFramePr>
        <p:xfrm>
          <a:off x="1568741" y="1998154"/>
          <a:ext cx="497205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14520" imgH="253800" progId="Equation.DSMT4">
                  <p:embed/>
                </p:oleObj>
              </mc:Choice>
              <mc:Fallback>
                <p:oleObj name="Equation" r:id="rId2" imgW="3314520" imgH="25380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936413C6-F0EE-41F5-80F2-49B0CE76D7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68741" y="1998154"/>
                        <a:ext cx="497205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DC486758-593B-4CCA-AE01-8EC266688A92}"/>
              </a:ext>
            </a:extLst>
          </p:cNvPr>
          <p:cNvSpPr txBox="1"/>
          <p:nvPr/>
        </p:nvSpPr>
        <p:spPr>
          <a:xfrm>
            <a:off x="552135" y="1015068"/>
            <a:ext cx="1659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First neighbor </a:t>
            </a:r>
            <a:endParaRPr lang="zh-CN" altLang="en-US" dirty="0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81D11CCC-88B3-42E6-A69B-C8BC08CAC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2416183"/>
              </p:ext>
            </p:extLst>
          </p:nvPr>
        </p:nvGraphicFramePr>
        <p:xfrm>
          <a:off x="3422498" y="5547943"/>
          <a:ext cx="480060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200400" imgH="393480" progId="Equation.DSMT4">
                  <p:embed/>
                </p:oleObj>
              </mc:Choice>
              <mc:Fallback>
                <p:oleObj name="Equation" r:id="rId4" imgW="3200400" imgH="39348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E8B62CBA-2F16-4E18-9D7A-C52C4D5FB2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422498" y="5547943"/>
                        <a:ext cx="4800600" cy="590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B440732B-367B-48FF-B5C6-34CD220F1868}"/>
              </a:ext>
            </a:extLst>
          </p:cNvPr>
          <p:cNvSpPr txBox="1"/>
          <p:nvPr/>
        </p:nvSpPr>
        <p:spPr>
          <a:xfrm>
            <a:off x="2873650" y="310393"/>
            <a:ext cx="29315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FF0000"/>
                </a:solidFill>
              </a:rPr>
              <a:t>III-V Solid</a:t>
            </a:r>
            <a:r>
              <a:rPr lang="zh-CN" altLang="en-US" sz="2400" dirty="0">
                <a:solidFill>
                  <a:srgbClr val="FF0000"/>
                </a:solidFill>
              </a:rPr>
              <a:t> </a:t>
            </a:r>
            <a:r>
              <a:rPr lang="en-US" altLang="zh-CN" sz="2400" dirty="0">
                <a:solidFill>
                  <a:srgbClr val="FF0000"/>
                </a:solidFill>
              </a:rPr>
              <a:t>Solution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EF804783-33A7-4EB1-992D-145A01084422}"/>
              </a:ext>
            </a:extLst>
          </p:cNvPr>
          <p:cNvSpPr/>
          <p:nvPr/>
        </p:nvSpPr>
        <p:spPr>
          <a:xfrm>
            <a:off x="3684101" y="1205083"/>
            <a:ext cx="162426" cy="15100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7F6EF754-F4C9-420A-AAEA-3D000702FFA0}"/>
              </a:ext>
            </a:extLst>
          </p:cNvPr>
          <p:cNvSpPr/>
          <p:nvPr/>
        </p:nvSpPr>
        <p:spPr>
          <a:xfrm>
            <a:off x="3254626" y="1205083"/>
            <a:ext cx="162426" cy="15100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endParaRPr lang="zh-CN" altLang="en-US"/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6FA73CED-2C01-4D73-8D99-3B06D22E0C60}"/>
              </a:ext>
            </a:extLst>
          </p:cNvPr>
          <p:cNvCxnSpPr>
            <a:cxnSpLocks/>
            <a:stCxn id="8" idx="6"/>
            <a:endCxn id="7" idx="2"/>
          </p:cNvCxnSpPr>
          <p:nvPr/>
        </p:nvCxnSpPr>
        <p:spPr>
          <a:xfrm>
            <a:off x="3417052" y="1280584"/>
            <a:ext cx="2670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CC1A617D-E027-451E-A020-108A39F4E8BB}"/>
              </a:ext>
            </a:extLst>
          </p:cNvPr>
          <p:cNvSpPr txBox="1"/>
          <p:nvPr/>
        </p:nvSpPr>
        <p:spPr>
          <a:xfrm>
            <a:off x="4267934" y="1095918"/>
            <a:ext cx="733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z’ = 4</a:t>
            </a:r>
            <a:endParaRPr lang="zh-CN" altLang="en-US" dirty="0"/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94FF5DC8-6FFA-42BF-8EA7-8AB405192C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4446952"/>
              </p:ext>
            </p:extLst>
          </p:nvPr>
        </p:nvGraphicFramePr>
        <p:xfrm>
          <a:off x="5402521" y="1034904"/>
          <a:ext cx="1343025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91880" imgH="431640" progId="Equation.DSMT4">
                  <p:embed/>
                </p:oleObj>
              </mc:Choice>
              <mc:Fallback>
                <p:oleObj name="Equation" r:id="rId6" imgW="1091880" imgH="43164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D582A386-72A6-471A-8CAE-4351B6323C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402521" y="1034904"/>
                        <a:ext cx="1343025" cy="530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CB7DA3F2-15A8-4BC3-94D7-F1B92A227491}"/>
              </a:ext>
            </a:extLst>
          </p:cNvPr>
          <p:cNvSpPr txBox="1"/>
          <p:nvPr/>
        </p:nvSpPr>
        <p:spPr>
          <a:xfrm>
            <a:off x="466687" y="3189278"/>
            <a:ext cx="2056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Second neighbor </a:t>
            </a:r>
            <a:endParaRPr lang="zh-CN" altLang="en-US" dirty="0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928F9DC3-6829-4072-A339-2AD367239AE5}"/>
              </a:ext>
            </a:extLst>
          </p:cNvPr>
          <p:cNvSpPr/>
          <p:nvPr/>
        </p:nvSpPr>
        <p:spPr>
          <a:xfrm>
            <a:off x="3684101" y="3062111"/>
            <a:ext cx="162426" cy="15100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5A2928B9-E0B1-418D-901F-82AD680B1305}"/>
              </a:ext>
            </a:extLst>
          </p:cNvPr>
          <p:cNvSpPr/>
          <p:nvPr/>
        </p:nvSpPr>
        <p:spPr>
          <a:xfrm>
            <a:off x="3254626" y="3062111"/>
            <a:ext cx="162426" cy="15100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endParaRPr lang="zh-CN" altLang="en-US"/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B913B91E-3AFE-4BDA-9395-20DC484E699F}"/>
              </a:ext>
            </a:extLst>
          </p:cNvPr>
          <p:cNvCxnSpPr>
            <a:stCxn id="14" idx="6"/>
            <a:endCxn id="13" idx="2"/>
          </p:cNvCxnSpPr>
          <p:nvPr/>
        </p:nvCxnSpPr>
        <p:spPr>
          <a:xfrm>
            <a:off x="3417052" y="3137612"/>
            <a:ext cx="2670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0E86AAE6-8D3B-44C9-A5A8-1E7D75DC4CAD}"/>
              </a:ext>
            </a:extLst>
          </p:cNvPr>
          <p:cNvSpPr txBox="1"/>
          <p:nvPr/>
        </p:nvSpPr>
        <p:spPr>
          <a:xfrm>
            <a:off x="4267934" y="2952946"/>
            <a:ext cx="8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z = 12</a:t>
            </a:r>
            <a:endParaRPr lang="zh-CN" altLang="en-US" dirty="0"/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BAF0C884-8606-484D-B585-FEE2A1BC8E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2227022"/>
              </p:ext>
            </p:extLst>
          </p:nvPr>
        </p:nvGraphicFramePr>
        <p:xfrm>
          <a:off x="5441128" y="2822482"/>
          <a:ext cx="1343025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91880" imgH="431640" progId="Equation.DSMT4">
                  <p:embed/>
                </p:oleObj>
              </mc:Choice>
              <mc:Fallback>
                <p:oleObj name="Equation" r:id="rId8" imgW="1091880" imgH="43164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A47847E9-431F-4BB6-8F73-A7FAC79E766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441128" y="2822482"/>
                        <a:ext cx="1343025" cy="530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椭圆 17">
            <a:extLst>
              <a:ext uri="{FF2B5EF4-FFF2-40B4-BE49-F238E27FC236}">
                <a16:creationId xmlns:a16="http://schemas.microsoft.com/office/drawing/2014/main" id="{F3659049-979B-46A6-8343-CA96BF7DED84}"/>
              </a:ext>
            </a:extLst>
          </p:cNvPr>
          <p:cNvSpPr/>
          <p:nvPr/>
        </p:nvSpPr>
        <p:spPr>
          <a:xfrm>
            <a:off x="3684101" y="3535022"/>
            <a:ext cx="162426" cy="15100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endParaRPr lang="zh-CN" altLang="en-US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A3795123-CB38-4144-B0A7-007C1F5D98BD}"/>
              </a:ext>
            </a:extLst>
          </p:cNvPr>
          <p:cNvSpPr/>
          <p:nvPr/>
        </p:nvSpPr>
        <p:spPr>
          <a:xfrm>
            <a:off x="3254626" y="3535022"/>
            <a:ext cx="162426" cy="15100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endParaRPr lang="zh-CN" altLang="en-US"/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30FA0306-79FF-4430-BD83-64F70DCF152D}"/>
              </a:ext>
            </a:extLst>
          </p:cNvPr>
          <p:cNvCxnSpPr>
            <a:stCxn id="19" idx="6"/>
            <a:endCxn id="18" idx="2"/>
          </p:cNvCxnSpPr>
          <p:nvPr/>
        </p:nvCxnSpPr>
        <p:spPr>
          <a:xfrm>
            <a:off x="3417052" y="3610523"/>
            <a:ext cx="2670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D483A148-54B8-417C-BBA5-EFE3E4E75357}"/>
              </a:ext>
            </a:extLst>
          </p:cNvPr>
          <p:cNvSpPr txBox="1"/>
          <p:nvPr/>
        </p:nvSpPr>
        <p:spPr>
          <a:xfrm>
            <a:off x="4267934" y="3440310"/>
            <a:ext cx="8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z = 12</a:t>
            </a:r>
            <a:endParaRPr lang="zh-CN" altLang="en-US" dirty="0"/>
          </a:p>
        </p:txBody>
      </p:sp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7DBD48C0-DAF0-4683-B78F-004C87B3A4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8186175"/>
              </p:ext>
            </p:extLst>
          </p:nvPr>
        </p:nvGraphicFramePr>
        <p:xfrm>
          <a:off x="5465554" y="3359863"/>
          <a:ext cx="1343025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91880" imgH="431640" progId="Equation.DSMT4">
                  <p:embed/>
                </p:oleObj>
              </mc:Choice>
              <mc:Fallback>
                <p:oleObj name="Equation" r:id="rId10" imgW="1091880" imgH="431640" progId="Equation.DSMT4">
                  <p:embed/>
                  <p:pic>
                    <p:nvPicPr>
                      <p:cNvPr id="29" name="对象 28">
                        <a:extLst>
                          <a:ext uri="{FF2B5EF4-FFF2-40B4-BE49-F238E27FC236}">
                            <a16:creationId xmlns:a16="http://schemas.microsoft.com/office/drawing/2014/main" id="{5AC2EB54-CD0B-459F-A04D-51370208CC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465554" y="3359863"/>
                        <a:ext cx="1343025" cy="530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椭圆 22">
            <a:extLst>
              <a:ext uri="{FF2B5EF4-FFF2-40B4-BE49-F238E27FC236}">
                <a16:creationId xmlns:a16="http://schemas.microsoft.com/office/drawing/2014/main" id="{7B58CE21-0224-4DCE-AEBC-D3203874522A}"/>
              </a:ext>
            </a:extLst>
          </p:cNvPr>
          <p:cNvSpPr/>
          <p:nvPr/>
        </p:nvSpPr>
        <p:spPr>
          <a:xfrm>
            <a:off x="3728060" y="4220958"/>
            <a:ext cx="162426" cy="15100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endParaRPr lang="zh-CN" altLang="en-US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FF2D1EE9-2BF3-4945-B4E4-0DACE2061A5C}"/>
              </a:ext>
            </a:extLst>
          </p:cNvPr>
          <p:cNvSpPr/>
          <p:nvPr/>
        </p:nvSpPr>
        <p:spPr>
          <a:xfrm>
            <a:off x="3298585" y="4220958"/>
            <a:ext cx="162426" cy="15100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endParaRPr lang="zh-CN" altLang="en-US"/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FCC73165-DFDB-46EE-AEDE-FAAE6910F25D}"/>
              </a:ext>
            </a:extLst>
          </p:cNvPr>
          <p:cNvCxnSpPr>
            <a:stCxn id="24" idx="6"/>
            <a:endCxn id="23" idx="2"/>
          </p:cNvCxnSpPr>
          <p:nvPr/>
        </p:nvCxnSpPr>
        <p:spPr>
          <a:xfrm>
            <a:off x="3461011" y="4296459"/>
            <a:ext cx="2670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3536E1FD-0172-48FD-A730-F68ED1F14FA4}"/>
              </a:ext>
            </a:extLst>
          </p:cNvPr>
          <p:cNvSpPr txBox="1"/>
          <p:nvPr/>
        </p:nvSpPr>
        <p:spPr>
          <a:xfrm>
            <a:off x="3995109" y="4141527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</a:t>
            </a:r>
            <a:r>
              <a:rPr lang="en-US" altLang="zh-CN" baseline="-25000" dirty="0"/>
              <a:t>AA</a:t>
            </a:r>
            <a:endParaRPr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C6D609B-375E-49AB-91A0-C5123456E916}"/>
              </a:ext>
            </a:extLst>
          </p:cNvPr>
          <p:cNvSpPr txBox="1"/>
          <p:nvPr/>
        </p:nvSpPr>
        <p:spPr>
          <a:xfrm>
            <a:off x="4565004" y="4152294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</a:t>
            </a:r>
            <a:r>
              <a:rPr lang="en-US" altLang="zh-CN" baseline="-25000" dirty="0"/>
              <a:t>BB</a:t>
            </a:r>
            <a:endParaRPr lang="zh-CN" altLang="en-US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4B8E58F1-7969-406A-9711-7F620DA56489}"/>
              </a:ext>
            </a:extLst>
          </p:cNvPr>
          <p:cNvSpPr txBox="1"/>
          <p:nvPr/>
        </p:nvSpPr>
        <p:spPr>
          <a:xfrm>
            <a:off x="5106232" y="4163236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</a:t>
            </a:r>
            <a:r>
              <a:rPr lang="en-US" altLang="zh-CN" baseline="-25000" dirty="0"/>
              <a:t>AB</a:t>
            </a:r>
            <a:endParaRPr lang="zh-CN" altLang="en-US" dirty="0"/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92B3EBB5-A5FD-49C5-8DC5-86F8AD8B5152}"/>
              </a:ext>
            </a:extLst>
          </p:cNvPr>
          <p:cNvSpPr/>
          <p:nvPr/>
        </p:nvSpPr>
        <p:spPr>
          <a:xfrm>
            <a:off x="3728060" y="4659103"/>
            <a:ext cx="162426" cy="15100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endParaRPr lang="zh-CN" altLang="en-US"/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90167680-24C8-48B7-93AD-955E8A792289}"/>
              </a:ext>
            </a:extLst>
          </p:cNvPr>
          <p:cNvSpPr/>
          <p:nvPr/>
        </p:nvSpPr>
        <p:spPr>
          <a:xfrm>
            <a:off x="3298585" y="4659103"/>
            <a:ext cx="162426" cy="15100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endParaRPr lang="zh-CN" altLang="en-US"/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C31EC9EC-578A-4B0D-B852-19EBF9AA9148}"/>
              </a:ext>
            </a:extLst>
          </p:cNvPr>
          <p:cNvCxnSpPr>
            <a:stCxn id="33" idx="6"/>
            <a:endCxn id="32" idx="2"/>
          </p:cNvCxnSpPr>
          <p:nvPr/>
        </p:nvCxnSpPr>
        <p:spPr>
          <a:xfrm>
            <a:off x="3461011" y="4734604"/>
            <a:ext cx="2670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CC0E35D6-6C4A-4332-9B51-D036771E2F92}"/>
              </a:ext>
            </a:extLst>
          </p:cNvPr>
          <p:cNvSpPr txBox="1"/>
          <p:nvPr/>
        </p:nvSpPr>
        <p:spPr>
          <a:xfrm>
            <a:off x="3995109" y="4514841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</a:t>
            </a:r>
            <a:r>
              <a:rPr lang="en-US" altLang="zh-CN" baseline="-25000" dirty="0"/>
              <a:t>CC</a:t>
            </a:r>
            <a:endParaRPr lang="zh-CN" altLang="en-US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E9632FF7-356E-4B3C-B762-5B41420C1DF6}"/>
              </a:ext>
            </a:extLst>
          </p:cNvPr>
          <p:cNvSpPr txBox="1"/>
          <p:nvPr/>
        </p:nvSpPr>
        <p:spPr>
          <a:xfrm>
            <a:off x="4565004" y="4525608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</a:t>
            </a:r>
            <a:r>
              <a:rPr lang="en-US" altLang="zh-CN" baseline="-25000" dirty="0"/>
              <a:t>DD</a:t>
            </a:r>
            <a:endParaRPr lang="zh-CN" altLang="en-US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F6D82AE8-57C7-4F8A-A994-F81C326802A2}"/>
              </a:ext>
            </a:extLst>
          </p:cNvPr>
          <p:cNvSpPr txBox="1"/>
          <p:nvPr/>
        </p:nvSpPr>
        <p:spPr>
          <a:xfrm>
            <a:off x="5106232" y="4536550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</a:t>
            </a:r>
            <a:r>
              <a:rPr lang="en-US" altLang="zh-CN" baseline="-25000" dirty="0"/>
              <a:t>CD</a:t>
            </a:r>
            <a:endParaRPr lang="zh-CN" altLang="en-US" dirty="0"/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0E6C5132-3376-4852-8521-576E4DDDCE9E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77" t="54040" r="54579" b="17254"/>
          <a:stretch/>
        </p:blipFill>
        <p:spPr>
          <a:xfrm>
            <a:off x="483476" y="4019179"/>
            <a:ext cx="2618163" cy="1646761"/>
          </a:xfrm>
          <a:prstGeom prst="rect">
            <a:avLst/>
          </a:prstGeom>
        </p:spPr>
      </p:pic>
      <p:sp>
        <p:nvSpPr>
          <p:cNvPr id="40" name="任意多边形: 形状 39">
            <a:extLst>
              <a:ext uri="{FF2B5EF4-FFF2-40B4-BE49-F238E27FC236}">
                <a16:creationId xmlns:a16="http://schemas.microsoft.com/office/drawing/2014/main" id="{AFDF020A-8FB4-463F-9220-603C9CE27EFE}"/>
              </a:ext>
            </a:extLst>
          </p:cNvPr>
          <p:cNvSpPr/>
          <p:nvPr/>
        </p:nvSpPr>
        <p:spPr>
          <a:xfrm>
            <a:off x="1409350" y="4865615"/>
            <a:ext cx="251670" cy="469783"/>
          </a:xfrm>
          <a:custGeom>
            <a:avLst/>
            <a:gdLst>
              <a:gd name="connsiteX0" fmla="*/ 41945 w 251670"/>
              <a:gd name="connsiteY0" fmla="*/ 469783 h 469783"/>
              <a:gd name="connsiteX1" fmla="*/ 251670 w 251670"/>
              <a:gd name="connsiteY1" fmla="*/ 226502 h 469783"/>
              <a:gd name="connsiteX2" fmla="*/ 0 w 251670"/>
              <a:gd name="connsiteY2" fmla="*/ 0 h 469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1670" h="469783">
                <a:moveTo>
                  <a:pt x="41945" y="469783"/>
                </a:moveTo>
                <a:lnTo>
                  <a:pt x="251670" y="226502"/>
                </a:lnTo>
                <a:lnTo>
                  <a:pt x="0" y="0"/>
                </a:ln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15240A8F-BD23-4F71-AD9D-F0478B129D10}"/>
              </a:ext>
            </a:extLst>
          </p:cNvPr>
          <p:cNvSpPr txBox="1"/>
          <p:nvPr/>
        </p:nvSpPr>
        <p:spPr>
          <a:xfrm>
            <a:off x="5895079" y="4006303"/>
            <a:ext cx="29280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For the 1-3 pair, it has to be a neighbor of 1</a:t>
            </a:r>
            <a:r>
              <a:rPr lang="zh-CN" altLang="en-US" sz="1400" dirty="0"/>
              <a:t>‘ </a:t>
            </a:r>
            <a:r>
              <a:rPr lang="en-US" altLang="zh-CN" sz="1400" dirty="0"/>
              <a:t>that could C or D</a:t>
            </a:r>
            <a:endParaRPr lang="zh-CN" altLang="en-US" sz="1400" dirty="0"/>
          </a:p>
        </p:txBody>
      </p:sp>
      <p:graphicFrame>
        <p:nvGraphicFramePr>
          <p:cNvPr id="42" name="对象 41">
            <a:extLst>
              <a:ext uri="{FF2B5EF4-FFF2-40B4-BE49-F238E27FC236}">
                <a16:creationId xmlns:a16="http://schemas.microsoft.com/office/drawing/2014/main" id="{2BF8A6AB-98F1-42C5-8629-92163325AD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9283226"/>
              </p:ext>
            </p:extLst>
          </p:nvPr>
        </p:nvGraphicFramePr>
        <p:xfrm>
          <a:off x="6137066" y="4482381"/>
          <a:ext cx="154305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028520" imgH="279360" progId="Equation.DSMT4">
                  <p:embed/>
                </p:oleObj>
              </mc:Choice>
              <mc:Fallback>
                <p:oleObj name="Equation" r:id="rId13" imgW="1028520" imgH="27936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81D11CCC-88B3-42E6-A69B-C8BC08CAC5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137066" y="4482381"/>
                        <a:ext cx="154305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884688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FE8475FA-CCE5-46CF-9704-BF9CCEA1A0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4525"/>
              </p:ext>
            </p:extLst>
          </p:nvPr>
        </p:nvGraphicFramePr>
        <p:xfrm>
          <a:off x="2491758" y="1489149"/>
          <a:ext cx="5410200" cy="232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06480" imgH="1549080" progId="Equation.DSMT4">
                  <p:embed/>
                </p:oleObj>
              </mc:Choice>
              <mc:Fallback>
                <p:oleObj name="Equation" r:id="rId2" imgW="3606480" imgH="154908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81D11CCC-88B3-42E6-A69B-C8BC08CAC5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91758" y="1489149"/>
                        <a:ext cx="5410200" cy="2324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98F994E4-4104-49BB-86DB-69E85FFA58F8}"/>
              </a:ext>
            </a:extLst>
          </p:cNvPr>
          <p:cNvSpPr txBox="1"/>
          <p:nvPr/>
        </p:nvSpPr>
        <p:spPr>
          <a:xfrm>
            <a:off x="511729" y="931981"/>
            <a:ext cx="2390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Consider other atoms</a:t>
            </a:r>
            <a:endParaRPr lang="zh-CN" altLang="en-US" dirty="0"/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F5720239-1084-4653-9B70-A8B1A6E09F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1036163"/>
              </p:ext>
            </p:extLst>
          </p:nvPr>
        </p:nvGraphicFramePr>
        <p:xfrm>
          <a:off x="2337515" y="279026"/>
          <a:ext cx="480060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200400" imgH="393480" progId="Equation.DSMT4">
                  <p:embed/>
                </p:oleObj>
              </mc:Choice>
              <mc:Fallback>
                <p:oleObj name="Equation" r:id="rId4" imgW="3200400" imgH="39348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81D11CCC-88B3-42E6-A69B-C8BC08CAC5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37515" y="279026"/>
                        <a:ext cx="4800600" cy="590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1F9D9F40-9684-4BF1-B6AF-CC854C9D31BE}"/>
              </a:ext>
            </a:extLst>
          </p:cNvPr>
          <p:cNvSpPr txBox="1"/>
          <p:nvPr/>
        </p:nvSpPr>
        <p:spPr>
          <a:xfrm>
            <a:off x="511729" y="4032729"/>
            <a:ext cx="1980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The total entropy </a:t>
            </a:r>
            <a:endParaRPr lang="zh-CN" altLang="en-US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87F3EC0C-8340-4612-8EA6-5CB9553D6C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8920874"/>
              </p:ext>
            </p:extLst>
          </p:nvPr>
        </p:nvGraphicFramePr>
        <p:xfrm>
          <a:off x="2662064" y="4111551"/>
          <a:ext cx="4400550" cy="251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933640" imgH="1676160" progId="Equation.DSMT4">
                  <p:embed/>
                </p:oleObj>
              </mc:Choice>
              <mc:Fallback>
                <p:oleObj name="Equation" r:id="rId6" imgW="2933640" imgH="167616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F5720239-1084-4653-9B70-A8B1A6E09F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662064" y="4111551"/>
                        <a:ext cx="4400550" cy="2514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799097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ABB5AAA-B4FA-4F5B-89E9-C122888E6604}"/>
              </a:ext>
            </a:extLst>
          </p:cNvPr>
          <p:cNvSpPr txBox="1"/>
          <p:nvPr/>
        </p:nvSpPr>
        <p:spPr>
          <a:xfrm>
            <a:off x="704675" y="343948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Entropy </a:t>
            </a:r>
            <a:endParaRPr lang="zh-CN" altLang="en-US" dirty="0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91468935-8A97-4F6D-A8E0-42871C0B63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2525271"/>
              </p:ext>
            </p:extLst>
          </p:nvPr>
        </p:nvGraphicFramePr>
        <p:xfrm>
          <a:off x="1372970" y="713280"/>
          <a:ext cx="421005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06560" imgH="736560" progId="Equation.DSMT4">
                  <p:embed/>
                </p:oleObj>
              </mc:Choice>
              <mc:Fallback>
                <p:oleObj name="Equation" r:id="rId2" imgW="2806560" imgH="7365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87F3EC0C-8340-4612-8EA6-5CB9553D6C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72970" y="713280"/>
                        <a:ext cx="4210050" cy="1104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EC6305E5-FD73-4733-872D-7558F359CEC5}"/>
              </a:ext>
            </a:extLst>
          </p:cNvPr>
          <p:cNvSpPr txBox="1"/>
          <p:nvPr/>
        </p:nvSpPr>
        <p:spPr>
          <a:xfrm>
            <a:off x="5780014" y="71328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化合物组元熵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5CD0E42-22B7-4352-BFB9-4945795BA1C6}"/>
              </a:ext>
            </a:extLst>
          </p:cNvPr>
          <p:cNvSpPr txBox="1"/>
          <p:nvPr/>
        </p:nvSpPr>
        <p:spPr>
          <a:xfrm>
            <a:off x="4422396" y="1081064"/>
            <a:ext cx="2403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I-</a:t>
            </a:r>
            <a:r>
              <a:rPr lang="zh-CN" altLang="en-US" dirty="0"/>
              <a:t>亚点阵列上的混合熵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06B4724-C852-49A7-B5C9-EC5BDAFA0428}"/>
              </a:ext>
            </a:extLst>
          </p:cNvPr>
          <p:cNvSpPr txBox="1"/>
          <p:nvPr/>
        </p:nvSpPr>
        <p:spPr>
          <a:xfrm>
            <a:off x="4422396" y="1449622"/>
            <a:ext cx="2467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II-</a:t>
            </a:r>
            <a:r>
              <a:rPr lang="zh-CN" altLang="en-US" dirty="0"/>
              <a:t>亚点阵列上的混合熵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EEEF1AF-3F28-4A9C-BBFE-8B9CC7A2D4C2}"/>
              </a:ext>
            </a:extLst>
          </p:cNvPr>
          <p:cNvSpPr txBox="1"/>
          <p:nvPr/>
        </p:nvSpPr>
        <p:spPr>
          <a:xfrm>
            <a:off x="704675" y="1952620"/>
            <a:ext cx="2082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Gibbs free energy </a:t>
            </a:r>
            <a:endParaRPr lang="zh-CN" altLang="en-US" dirty="0"/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D31B8448-F258-4B2F-85BD-912EDCD35B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156255"/>
              </p:ext>
            </p:extLst>
          </p:nvPr>
        </p:nvGraphicFramePr>
        <p:xfrm>
          <a:off x="1372970" y="2414285"/>
          <a:ext cx="4343400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895480" imgH="1066680" progId="Equation.DSMT4">
                  <p:embed/>
                </p:oleObj>
              </mc:Choice>
              <mc:Fallback>
                <p:oleObj name="Equation" r:id="rId4" imgW="2895480" imgH="106668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91468935-8A97-4F6D-A8E0-42871C0B63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372970" y="2414285"/>
                        <a:ext cx="4343400" cy="160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61512116-E3EA-478B-8988-E871D7AF0096}"/>
              </a:ext>
            </a:extLst>
          </p:cNvPr>
          <p:cNvSpPr txBox="1"/>
          <p:nvPr/>
        </p:nvSpPr>
        <p:spPr>
          <a:xfrm>
            <a:off x="853353" y="4106818"/>
            <a:ext cx="3716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General express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(A,B)</a:t>
            </a:r>
            <a:r>
              <a:rPr lang="en-US" altLang="zh-CN" baseline="-25000" dirty="0"/>
              <a:t>m</a:t>
            </a:r>
            <a:r>
              <a:rPr lang="en-US" altLang="zh-CN" dirty="0"/>
              <a:t> (C,D)</a:t>
            </a:r>
            <a:r>
              <a:rPr lang="en-US" altLang="zh-CN" baseline="-25000" dirty="0"/>
              <a:t>n </a:t>
            </a:r>
            <a:endParaRPr lang="zh-CN" altLang="en-US" dirty="0"/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B1A35BA1-CDF4-4D43-8E2A-0C7B58F06E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2152717"/>
              </p:ext>
            </p:extLst>
          </p:nvPr>
        </p:nvGraphicFramePr>
        <p:xfrm>
          <a:off x="1451935" y="4660816"/>
          <a:ext cx="4876800" cy="201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251160" imgH="1346040" progId="Equation.DSMT4">
                  <p:embed/>
                </p:oleObj>
              </mc:Choice>
              <mc:Fallback>
                <p:oleObj name="Equation" r:id="rId6" imgW="3251160" imgH="134604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D31B8448-F258-4B2F-85BD-912EDCD35B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451935" y="4660816"/>
                        <a:ext cx="4876800" cy="2019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415EB634-020C-40C7-9340-B9D05F928A52}"/>
              </a:ext>
            </a:extLst>
          </p:cNvPr>
          <p:cNvSpPr txBox="1"/>
          <p:nvPr/>
        </p:nvSpPr>
        <p:spPr>
          <a:xfrm>
            <a:off x="5764154" y="2414285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组元自由能项</a:t>
            </a:r>
          </a:p>
        </p:txBody>
      </p:sp>
    </p:spTree>
    <p:extLst>
      <p:ext uri="{BB962C8B-B14F-4D97-AF65-F5344CB8AC3E}">
        <p14:creationId xmlns:p14="http://schemas.microsoft.com/office/powerpoint/2010/main" val="35843506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AutoShape 2" descr="http://ispatguru.com/wp-content/uploads/2016/03/Fe-C-phase-diagram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6896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528" y="3048000"/>
            <a:ext cx="3883025" cy="3087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896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4173418"/>
            <a:ext cx="2466975" cy="184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矩形 13"/>
          <p:cNvSpPr/>
          <p:nvPr/>
        </p:nvSpPr>
        <p:spPr>
          <a:xfrm>
            <a:off x="155575" y="304800"/>
            <a:ext cx="369549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Interstitial solid solution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6200" y="1371600"/>
            <a:ext cx="42716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Simple solid solution: only one set lattice</a:t>
            </a:r>
          </a:p>
          <a:p>
            <a:r>
              <a:rPr lang="en-US" altLang="zh-CN" dirty="0"/>
              <a:t>Interstitial solid solution: two set sub-lattice</a:t>
            </a:r>
            <a:endParaRPr lang="zh-CN" altLang="en-US" dirty="0"/>
          </a:p>
        </p:txBody>
      </p:sp>
      <p:pic>
        <p:nvPicPr>
          <p:cNvPr id="168965" name="Picture 5" descr="C:\Users\ADMINI~1.SUS\AppData\Local\Temp\WeChat Files\22ef6968ea6efdb33f011038e947a04.jp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75" t="30263" r="17083" b="21959"/>
          <a:stretch/>
        </p:blipFill>
        <p:spPr bwMode="auto">
          <a:xfrm>
            <a:off x="4614582" y="1487269"/>
            <a:ext cx="4338918" cy="2326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86773" y="2096869"/>
            <a:ext cx="36565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dirty="0"/>
              <a:t>Entity sub-lattice , </a:t>
            </a:r>
            <a:r>
              <a:rPr lang="en-US" altLang="zh-CN" b="1" dirty="0">
                <a:solidFill>
                  <a:srgbClr val="FF0000"/>
                </a:solidFill>
              </a:rPr>
              <a:t>Fe</a:t>
            </a:r>
            <a:r>
              <a:rPr lang="en-US" altLang="zh-CN" dirty="0"/>
              <a:t>, Cr, </a:t>
            </a:r>
            <a:r>
              <a:rPr lang="en-US" altLang="zh-CN" dirty="0" err="1"/>
              <a:t>Mn</a:t>
            </a:r>
            <a:r>
              <a:rPr lang="en-US" altLang="zh-CN" dirty="0"/>
              <a:t>, Mo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dirty="0"/>
              <a:t>Void sub-lattice , </a:t>
            </a:r>
            <a:r>
              <a:rPr lang="en-US" altLang="zh-CN" b="1" dirty="0">
                <a:solidFill>
                  <a:srgbClr val="FF0000"/>
                </a:solidFill>
              </a:rPr>
              <a:t>C</a:t>
            </a:r>
            <a:r>
              <a:rPr lang="en-US" altLang="zh-CN" dirty="0"/>
              <a:t>, O, H</a:t>
            </a:r>
          </a:p>
        </p:txBody>
      </p:sp>
    </p:spTree>
    <p:extLst>
      <p:ext uri="{BB962C8B-B14F-4D97-AF65-F5344CB8AC3E}">
        <p14:creationId xmlns:p14="http://schemas.microsoft.com/office/powerpoint/2010/main" val="31419122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" descr="http://ispatguru.com/wp-content/uploads/2016/03/Fe-C-phase-diagram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329921" y="160338"/>
            <a:ext cx="369549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Interstitial solid solution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77499" y="1268760"/>
            <a:ext cx="83282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Relationship of the Solid solution composition and sub-lattice composition ? </a:t>
            </a:r>
            <a:endParaRPr lang="zh-CN" altLang="en-US" sz="20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307975" y="1769894"/>
            <a:ext cx="2140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/>
                <a:cs typeface="Times New Roman"/>
              </a:rPr>
              <a:t>γ-solution of Fe (</a:t>
            </a:r>
            <a:r>
              <a:rPr lang="en-US" altLang="zh-CN" dirty="0" err="1">
                <a:latin typeface="Times New Roman"/>
                <a:cs typeface="Times New Roman"/>
              </a:rPr>
              <a:t>fcc</a:t>
            </a:r>
            <a:r>
              <a:rPr lang="en-US" altLang="zh-CN" dirty="0">
                <a:latin typeface="Times New Roman"/>
                <a:cs typeface="Times New Roman"/>
              </a:rPr>
              <a:t>)</a:t>
            </a:r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352800" y="3143698"/>
            <a:ext cx="1963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(Fe, Cr, Ni)</a:t>
            </a:r>
            <a:r>
              <a:rPr lang="en-US" altLang="zh-CN" baseline="-25000" dirty="0"/>
              <a:t>1</a:t>
            </a:r>
            <a:r>
              <a:rPr lang="en-US" altLang="zh-CN" dirty="0"/>
              <a:t> (C, </a:t>
            </a:r>
            <a:r>
              <a:rPr lang="en-US" altLang="zh-CN" dirty="0" err="1"/>
              <a:t>Va</a:t>
            </a:r>
            <a:r>
              <a:rPr lang="en-US" altLang="zh-CN" dirty="0"/>
              <a:t>)</a:t>
            </a:r>
            <a:r>
              <a:rPr lang="en-US" altLang="zh-CN" baseline="-25000" dirty="0"/>
              <a:t>1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2471533" y="3751094"/>
            <a:ext cx="17625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Entity sub-lattice</a:t>
            </a:r>
            <a:endParaRPr lang="zh-CN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4701672" y="3751094"/>
            <a:ext cx="16908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Void sub-lattice </a:t>
            </a:r>
            <a:endParaRPr lang="zh-CN" altLang="en-US" dirty="0"/>
          </a:p>
        </p:txBody>
      </p:sp>
      <p:sp>
        <p:nvSpPr>
          <p:cNvPr id="16" name="任意多边形 15"/>
          <p:cNvSpPr/>
          <p:nvPr/>
        </p:nvSpPr>
        <p:spPr>
          <a:xfrm>
            <a:off x="2995448" y="3510091"/>
            <a:ext cx="804042" cy="315310"/>
          </a:xfrm>
          <a:custGeom>
            <a:avLst/>
            <a:gdLst>
              <a:gd name="connsiteX0" fmla="*/ 0 w 804042"/>
              <a:gd name="connsiteY0" fmla="*/ 315310 h 315310"/>
              <a:gd name="connsiteX1" fmla="*/ 804042 w 804042"/>
              <a:gd name="connsiteY1" fmla="*/ 0 h 315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04042" h="315310">
                <a:moveTo>
                  <a:pt x="0" y="315310"/>
                </a:moveTo>
                <a:lnTo>
                  <a:pt x="804042" y="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连接符 17"/>
          <p:cNvCxnSpPr/>
          <p:nvPr/>
        </p:nvCxnSpPr>
        <p:spPr>
          <a:xfrm>
            <a:off x="4833271" y="3535999"/>
            <a:ext cx="614935" cy="24100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874038" y="3287168"/>
            <a:ext cx="12709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Va</a:t>
            </a:r>
            <a:r>
              <a:rPr lang="en-US" altLang="zh-CN" dirty="0"/>
              <a:t>: vacancy</a:t>
            </a:r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1752600" y="2455694"/>
            <a:ext cx="1515158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dirty="0"/>
              <a:t>Solid solution:</a:t>
            </a:r>
            <a:endParaRPr lang="zh-CN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3352800" y="2466309"/>
            <a:ext cx="9314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/>
              <a:t>FeCrNiC</a:t>
            </a:r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447800" y="3129826"/>
            <a:ext cx="1823961" cy="3693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dirty="0" err="1"/>
              <a:t>Sublattice</a:t>
            </a:r>
            <a:r>
              <a:rPr lang="en-US" altLang="zh-CN" dirty="0"/>
              <a:t> model:</a:t>
            </a:r>
            <a:endParaRPr lang="zh-CN" alt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4808250" y="2455694"/>
            <a:ext cx="3931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Fraction of element: </a:t>
            </a:r>
            <a:r>
              <a:rPr lang="en-US" altLang="zh-CN" dirty="0" err="1"/>
              <a:t>X</a:t>
            </a:r>
            <a:r>
              <a:rPr lang="en-US" altLang="zh-CN" baseline="-25000" dirty="0" err="1"/>
              <a:t>Fe</a:t>
            </a:r>
            <a:r>
              <a:rPr lang="en-US" altLang="zh-CN" baseline="-25000" dirty="0"/>
              <a:t> </a:t>
            </a:r>
            <a:r>
              <a:rPr lang="en-US" altLang="zh-CN" dirty="0"/>
              <a:t>+ </a:t>
            </a:r>
            <a:r>
              <a:rPr lang="en-US" altLang="zh-CN" dirty="0" err="1"/>
              <a:t>X</a:t>
            </a:r>
            <a:r>
              <a:rPr lang="en-US" altLang="zh-CN" baseline="-25000" dirty="0" err="1"/>
              <a:t>Cr</a:t>
            </a:r>
            <a:r>
              <a:rPr lang="en-US" altLang="zh-CN" baseline="-25000" dirty="0"/>
              <a:t> </a:t>
            </a:r>
            <a:r>
              <a:rPr lang="en-US" altLang="zh-CN" dirty="0"/>
              <a:t>+</a:t>
            </a:r>
            <a:r>
              <a:rPr lang="en-US" altLang="zh-CN" dirty="0" err="1"/>
              <a:t>X</a:t>
            </a:r>
            <a:r>
              <a:rPr lang="en-US" altLang="zh-CN" baseline="-25000" dirty="0" err="1"/>
              <a:t>Ni</a:t>
            </a:r>
            <a:r>
              <a:rPr lang="en-US" altLang="zh-CN" dirty="0" err="1"/>
              <a:t>+X</a:t>
            </a:r>
            <a:r>
              <a:rPr lang="en-US" altLang="zh-CN" baseline="-25000" dirty="0" err="1"/>
              <a:t>C</a:t>
            </a:r>
            <a:r>
              <a:rPr lang="en-US" altLang="zh-CN" baseline="-25000" dirty="0"/>
              <a:t> </a:t>
            </a:r>
            <a:r>
              <a:rPr lang="en-US" altLang="zh-CN" dirty="0"/>
              <a:t> =1</a:t>
            </a:r>
            <a:r>
              <a:rPr lang="en-US" altLang="zh-CN" baseline="-25000" dirty="0"/>
              <a:t> </a:t>
            </a:r>
            <a:endParaRPr lang="zh-CN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10795" y="4238412"/>
            <a:ext cx="15337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/>
              <a:t>y</a:t>
            </a:r>
            <a:r>
              <a:rPr lang="en-US" altLang="zh-CN" baseline="-25000" dirty="0" err="1"/>
              <a:t>Fe</a:t>
            </a:r>
            <a:r>
              <a:rPr lang="en-US" altLang="zh-CN" baseline="-25000" dirty="0"/>
              <a:t> </a:t>
            </a:r>
            <a:r>
              <a:rPr lang="en-US" altLang="zh-CN" dirty="0"/>
              <a:t>+ </a:t>
            </a:r>
            <a:r>
              <a:rPr lang="en-US" altLang="zh-CN" dirty="0" err="1"/>
              <a:t>y</a:t>
            </a:r>
            <a:r>
              <a:rPr lang="en-US" altLang="zh-CN" baseline="-25000" dirty="0" err="1"/>
              <a:t>Cr</a:t>
            </a:r>
            <a:r>
              <a:rPr lang="en-US" altLang="zh-CN" baseline="-25000" dirty="0"/>
              <a:t> </a:t>
            </a:r>
            <a:r>
              <a:rPr lang="en-US" altLang="zh-CN" dirty="0"/>
              <a:t>+</a:t>
            </a:r>
            <a:r>
              <a:rPr lang="en-US" altLang="zh-CN" dirty="0" err="1"/>
              <a:t>y</a:t>
            </a:r>
            <a:r>
              <a:rPr lang="en-US" altLang="zh-CN" baseline="-25000" dirty="0" err="1"/>
              <a:t>Ni</a:t>
            </a:r>
            <a:r>
              <a:rPr lang="en-US" altLang="zh-CN" dirty="0"/>
              <a:t>=1</a:t>
            </a:r>
            <a:r>
              <a:rPr lang="en-US" altLang="zh-CN" baseline="-25000" dirty="0"/>
              <a:t> </a:t>
            </a:r>
            <a:endParaRPr lang="zh-CN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4773895" y="4238412"/>
            <a:ext cx="10978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/>
              <a:t>y</a:t>
            </a:r>
            <a:r>
              <a:rPr lang="en-US" altLang="zh-CN" baseline="-25000" dirty="0" err="1"/>
              <a:t>C</a:t>
            </a:r>
            <a:r>
              <a:rPr lang="en-US" altLang="zh-CN" dirty="0"/>
              <a:t>+ </a:t>
            </a:r>
            <a:r>
              <a:rPr lang="en-US" altLang="zh-CN" dirty="0" err="1"/>
              <a:t>y</a:t>
            </a:r>
            <a:r>
              <a:rPr lang="en-US" altLang="zh-CN" baseline="-25000" dirty="0" err="1"/>
              <a:t>Va</a:t>
            </a:r>
            <a:r>
              <a:rPr lang="en-US" altLang="zh-CN" baseline="-25000" dirty="0"/>
              <a:t> </a:t>
            </a:r>
            <a:r>
              <a:rPr lang="en-US" altLang="zh-CN" dirty="0"/>
              <a:t>=1</a:t>
            </a:r>
            <a:r>
              <a:rPr lang="en-US" altLang="zh-CN" baseline="-25000" dirty="0"/>
              <a:t> </a:t>
            </a:r>
            <a:endParaRPr lang="zh-CN" altLang="en-US" dirty="0"/>
          </a:p>
        </p:txBody>
      </p:sp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2510179" y="4806226"/>
          <a:ext cx="800100" cy="133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99920" imgH="1333440" progId="Equation.DSMT4">
                  <p:embed/>
                </p:oleObj>
              </mc:Choice>
              <mc:Fallback>
                <p:oleObj name="Equation" r:id="rId2" imgW="799920" imgH="1333440" progId="Equation.DSMT4">
                  <p:embed/>
                  <p:pic>
                    <p:nvPicPr>
                      <p:cNvPr id="26" name="对象 2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510179" y="4806226"/>
                        <a:ext cx="800100" cy="1333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4868194" y="4806226"/>
          <a:ext cx="762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61760" imgH="431640" progId="Equation.DSMT4">
                  <p:embed/>
                </p:oleObj>
              </mc:Choice>
              <mc:Fallback>
                <p:oleObj name="Equation" r:id="rId4" imgW="761760" imgH="431640" progId="Equation.DSMT4">
                  <p:embed/>
                  <p:pic>
                    <p:nvPicPr>
                      <p:cNvPr id="27" name="对象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8194" y="4806226"/>
                        <a:ext cx="7620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973519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76200" y="42175"/>
            <a:ext cx="8991600" cy="1244827"/>
            <a:chOff x="76200" y="42175"/>
            <a:chExt cx="8991600" cy="1244827"/>
          </a:xfrm>
        </p:grpSpPr>
        <p:grpSp>
          <p:nvGrpSpPr>
            <p:cNvPr id="3" name="组合 2"/>
            <p:cNvGrpSpPr/>
            <p:nvPr/>
          </p:nvGrpSpPr>
          <p:grpSpPr>
            <a:xfrm>
              <a:off x="76200" y="1143000"/>
              <a:ext cx="8991600" cy="144002"/>
              <a:chOff x="76200" y="1143000"/>
              <a:chExt cx="8991600" cy="144002"/>
            </a:xfrm>
          </p:grpSpPr>
          <p:sp>
            <p:nvSpPr>
              <p:cNvPr id="5" name="圆角矩形 4"/>
              <p:cNvSpPr/>
              <p:nvPr/>
            </p:nvSpPr>
            <p:spPr>
              <a:xfrm>
                <a:off x="76200" y="1143000"/>
                <a:ext cx="1531344" cy="144001"/>
              </a:xfrm>
              <a:prstGeom prst="roundRect">
                <a:avLst>
                  <a:gd name="adj" fmla="val 0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/>
              </a:p>
            </p:txBody>
          </p:sp>
          <p:sp>
            <p:nvSpPr>
              <p:cNvPr id="6" name="圆角矩形 5"/>
              <p:cNvSpPr/>
              <p:nvPr/>
            </p:nvSpPr>
            <p:spPr>
              <a:xfrm>
                <a:off x="1653672" y="1143000"/>
                <a:ext cx="3048000" cy="144002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圆角矩形 6"/>
              <p:cNvSpPr/>
              <p:nvPr/>
            </p:nvSpPr>
            <p:spPr>
              <a:xfrm>
                <a:off x="4747800" y="1143000"/>
                <a:ext cx="4320000" cy="144000"/>
              </a:xfrm>
              <a:prstGeom prst="roundRect">
                <a:avLst>
                  <a:gd name="adj" fmla="val 0"/>
                </a:avLst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pic>
          <p:nvPicPr>
            <p:cNvPr id="4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64517" y="42175"/>
              <a:ext cx="1227083" cy="11008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8" name="AutoShape 2" descr="http://ispatguru.com/wp-content/uploads/2016/03/Fe-C-phase-diagram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55575" y="304800"/>
            <a:ext cx="369549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Interstitial solid solution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77499" y="1491734"/>
            <a:ext cx="83282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Relationship of the Solid solution composition and sub-lattice composition ? </a:t>
            </a:r>
            <a:endParaRPr lang="zh-CN" altLang="en-US" sz="20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307975" y="1992868"/>
            <a:ext cx="21964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altLang="zh-CN" dirty="0">
                <a:latin typeface="Times New Roman"/>
                <a:cs typeface="Times New Roman"/>
              </a:rPr>
              <a:t>α</a:t>
            </a:r>
            <a:r>
              <a:rPr lang="en-US" altLang="zh-CN" dirty="0">
                <a:latin typeface="Times New Roman"/>
                <a:cs typeface="Times New Roman"/>
              </a:rPr>
              <a:t>-solution of Fe (bcc)</a:t>
            </a:r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352800" y="3366672"/>
            <a:ext cx="2055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(Fe, Si, Mo)</a:t>
            </a:r>
            <a:r>
              <a:rPr lang="en-US" altLang="zh-CN" baseline="-25000" dirty="0"/>
              <a:t>1</a:t>
            </a:r>
            <a:r>
              <a:rPr lang="en-US" altLang="zh-CN" dirty="0"/>
              <a:t> (C, </a:t>
            </a:r>
            <a:r>
              <a:rPr lang="en-US" altLang="zh-CN" dirty="0" err="1"/>
              <a:t>Va</a:t>
            </a:r>
            <a:r>
              <a:rPr lang="en-US" altLang="zh-CN" dirty="0"/>
              <a:t>)</a:t>
            </a:r>
            <a:r>
              <a:rPr lang="en-US" altLang="zh-CN" baseline="-25000" dirty="0"/>
              <a:t>3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2471533" y="3974068"/>
            <a:ext cx="17625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Entity sub-lattice</a:t>
            </a:r>
            <a:endParaRPr lang="zh-CN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4701672" y="3974068"/>
            <a:ext cx="16908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Void sub-lattice </a:t>
            </a:r>
            <a:endParaRPr lang="zh-CN" altLang="en-US" dirty="0"/>
          </a:p>
        </p:txBody>
      </p:sp>
      <p:sp>
        <p:nvSpPr>
          <p:cNvPr id="16" name="任意多边形 15"/>
          <p:cNvSpPr/>
          <p:nvPr/>
        </p:nvSpPr>
        <p:spPr>
          <a:xfrm>
            <a:off x="2995448" y="3733065"/>
            <a:ext cx="804042" cy="315310"/>
          </a:xfrm>
          <a:custGeom>
            <a:avLst/>
            <a:gdLst>
              <a:gd name="connsiteX0" fmla="*/ 0 w 804042"/>
              <a:gd name="connsiteY0" fmla="*/ 315310 h 315310"/>
              <a:gd name="connsiteX1" fmla="*/ 804042 w 804042"/>
              <a:gd name="connsiteY1" fmla="*/ 0 h 315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04042" h="315310">
                <a:moveTo>
                  <a:pt x="0" y="315310"/>
                </a:moveTo>
                <a:lnTo>
                  <a:pt x="804042" y="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连接符 17"/>
          <p:cNvCxnSpPr/>
          <p:nvPr/>
        </p:nvCxnSpPr>
        <p:spPr>
          <a:xfrm>
            <a:off x="4833271" y="3758973"/>
            <a:ext cx="614935" cy="24100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874038" y="3510142"/>
            <a:ext cx="12709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Va</a:t>
            </a:r>
            <a:r>
              <a:rPr lang="en-US" altLang="zh-CN" dirty="0"/>
              <a:t>: vacancy</a:t>
            </a:r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1752600" y="2678668"/>
            <a:ext cx="1515158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dirty="0"/>
              <a:t>Solid solution:</a:t>
            </a:r>
            <a:endParaRPr lang="zh-CN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3352800" y="2689283"/>
            <a:ext cx="10565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/>
              <a:t>FeSiMoiC</a:t>
            </a:r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447800" y="3352800"/>
            <a:ext cx="1823961" cy="3693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dirty="0" err="1"/>
              <a:t>Sublattice</a:t>
            </a:r>
            <a:r>
              <a:rPr lang="en-US" altLang="zh-CN" dirty="0"/>
              <a:t> model:</a:t>
            </a:r>
            <a:endParaRPr lang="zh-CN" alt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4808250" y="2678668"/>
            <a:ext cx="3931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Fraction of element: </a:t>
            </a:r>
            <a:r>
              <a:rPr lang="en-US" altLang="zh-CN" dirty="0" err="1"/>
              <a:t>X</a:t>
            </a:r>
            <a:r>
              <a:rPr lang="en-US" altLang="zh-CN" baseline="-25000" dirty="0" err="1"/>
              <a:t>Fe</a:t>
            </a:r>
            <a:r>
              <a:rPr lang="en-US" altLang="zh-CN" baseline="-25000" dirty="0"/>
              <a:t> </a:t>
            </a:r>
            <a:r>
              <a:rPr lang="en-US" altLang="zh-CN" dirty="0"/>
              <a:t>+ </a:t>
            </a:r>
            <a:r>
              <a:rPr lang="en-US" altLang="zh-CN" dirty="0" err="1"/>
              <a:t>X</a:t>
            </a:r>
            <a:r>
              <a:rPr lang="en-US" altLang="zh-CN" baseline="-25000" dirty="0" err="1"/>
              <a:t>Cr</a:t>
            </a:r>
            <a:r>
              <a:rPr lang="en-US" altLang="zh-CN" baseline="-25000" dirty="0"/>
              <a:t> </a:t>
            </a:r>
            <a:r>
              <a:rPr lang="en-US" altLang="zh-CN" dirty="0"/>
              <a:t>+</a:t>
            </a:r>
            <a:r>
              <a:rPr lang="en-US" altLang="zh-CN" dirty="0" err="1"/>
              <a:t>X</a:t>
            </a:r>
            <a:r>
              <a:rPr lang="en-US" altLang="zh-CN" baseline="-25000" dirty="0" err="1"/>
              <a:t>Ni</a:t>
            </a:r>
            <a:r>
              <a:rPr lang="en-US" altLang="zh-CN" dirty="0" err="1"/>
              <a:t>+X</a:t>
            </a:r>
            <a:r>
              <a:rPr lang="en-US" altLang="zh-CN" baseline="-25000" dirty="0" err="1"/>
              <a:t>C</a:t>
            </a:r>
            <a:r>
              <a:rPr lang="en-US" altLang="zh-CN" baseline="-25000" dirty="0"/>
              <a:t> </a:t>
            </a:r>
            <a:r>
              <a:rPr lang="en-US" altLang="zh-CN" dirty="0"/>
              <a:t> =1</a:t>
            </a:r>
            <a:r>
              <a:rPr lang="en-US" altLang="zh-CN" baseline="-25000" dirty="0"/>
              <a:t> </a:t>
            </a:r>
            <a:endParaRPr lang="zh-CN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10795" y="4461386"/>
            <a:ext cx="15834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/>
              <a:t>y</a:t>
            </a:r>
            <a:r>
              <a:rPr lang="en-US" altLang="zh-CN" baseline="-25000" dirty="0" err="1"/>
              <a:t>Fe</a:t>
            </a:r>
            <a:r>
              <a:rPr lang="en-US" altLang="zh-CN" baseline="-25000" dirty="0"/>
              <a:t> </a:t>
            </a:r>
            <a:r>
              <a:rPr lang="en-US" altLang="zh-CN" dirty="0"/>
              <a:t>+ </a:t>
            </a:r>
            <a:r>
              <a:rPr lang="en-US" altLang="zh-CN" dirty="0" err="1"/>
              <a:t>y</a:t>
            </a:r>
            <a:r>
              <a:rPr lang="en-US" altLang="zh-CN" baseline="-25000" dirty="0" err="1"/>
              <a:t>Si</a:t>
            </a:r>
            <a:r>
              <a:rPr lang="en-US" altLang="zh-CN" baseline="-25000" dirty="0"/>
              <a:t> </a:t>
            </a:r>
            <a:r>
              <a:rPr lang="en-US" altLang="zh-CN" dirty="0"/>
              <a:t>+</a:t>
            </a:r>
            <a:r>
              <a:rPr lang="en-US" altLang="zh-CN" dirty="0" err="1"/>
              <a:t>y</a:t>
            </a:r>
            <a:r>
              <a:rPr lang="en-US" altLang="zh-CN" baseline="-25000" dirty="0" err="1"/>
              <a:t>Mo</a:t>
            </a:r>
            <a:r>
              <a:rPr lang="en-US" altLang="zh-CN" dirty="0"/>
              <a:t>=1</a:t>
            </a:r>
            <a:r>
              <a:rPr lang="en-US" altLang="zh-CN" baseline="-25000" dirty="0"/>
              <a:t> </a:t>
            </a:r>
            <a:endParaRPr lang="zh-CN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4773895" y="4461386"/>
            <a:ext cx="10978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/>
              <a:t>y</a:t>
            </a:r>
            <a:r>
              <a:rPr lang="en-US" altLang="zh-CN" baseline="-25000" dirty="0" err="1"/>
              <a:t>C</a:t>
            </a:r>
            <a:r>
              <a:rPr lang="en-US" altLang="zh-CN" dirty="0"/>
              <a:t>+ </a:t>
            </a:r>
            <a:r>
              <a:rPr lang="en-US" altLang="zh-CN" dirty="0" err="1"/>
              <a:t>y</a:t>
            </a:r>
            <a:r>
              <a:rPr lang="en-US" altLang="zh-CN" baseline="-25000" dirty="0" err="1"/>
              <a:t>Va</a:t>
            </a:r>
            <a:r>
              <a:rPr lang="en-US" altLang="zh-CN" baseline="-25000" dirty="0"/>
              <a:t> </a:t>
            </a:r>
            <a:r>
              <a:rPr lang="en-US" altLang="zh-CN" dirty="0"/>
              <a:t>=1</a:t>
            </a:r>
            <a:r>
              <a:rPr lang="en-US" altLang="zh-CN" baseline="-25000" dirty="0"/>
              <a:t> </a:t>
            </a:r>
            <a:endParaRPr lang="zh-CN" altLang="en-US" dirty="0"/>
          </a:p>
        </p:txBody>
      </p:sp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2497138" y="5029200"/>
          <a:ext cx="825500" cy="133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25480" imgH="1333440" progId="Equation.DSMT4">
                  <p:embed/>
                </p:oleObj>
              </mc:Choice>
              <mc:Fallback>
                <p:oleObj name="Equation" r:id="rId3" imgW="825480" imgH="1333440" progId="Equation.DSMT4">
                  <p:embed/>
                  <p:pic>
                    <p:nvPicPr>
                      <p:cNvPr id="26" name="对象 2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97138" y="5029200"/>
                        <a:ext cx="825500" cy="1333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4767263" y="5022850"/>
          <a:ext cx="9652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65160" imgH="444240" progId="Equation.DSMT4">
                  <p:embed/>
                </p:oleObj>
              </mc:Choice>
              <mc:Fallback>
                <p:oleObj name="Equation" r:id="rId5" imgW="965160" imgH="444240" progId="Equation.DSMT4">
                  <p:embed/>
                  <p:pic>
                    <p:nvPicPr>
                      <p:cNvPr id="27" name="对象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7263" y="5022850"/>
                        <a:ext cx="9652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721902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76200" y="42175"/>
            <a:ext cx="8991600" cy="1244827"/>
            <a:chOff x="76200" y="42175"/>
            <a:chExt cx="8991600" cy="1244827"/>
          </a:xfrm>
        </p:grpSpPr>
        <p:grpSp>
          <p:nvGrpSpPr>
            <p:cNvPr id="3" name="组合 2"/>
            <p:cNvGrpSpPr/>
            <p:nvPr/>
          </p:nvGrpSpPr>
          <p:grpSpPr>
            <a:xfrm>
              <a:off x="76200" y="1143000"/>
              <a:ext cx="8991600" cy="144002"/>
              <a:chOff x="76200" y="1143000"/>
              <a:chExt cx="8991600" cy="144002"/>
            </a:xfrm>
          </p:grpSpPr>
          <p:sp>
            <p:nvSpPr>
              <p:cNvPr id="5" name="圆角矩形 4"/>
              <p:cNvSpPr/>
              <p:nvPr/>
            </p:nvSpPr>
            <p:spPr>
              <a:xfrm>
                <a:off x="76200" y="1143000"/>
                <a:ext cx="1531344" cy="144001"/>
              </a:xfrm>
              <a:prstGeom prst="roundRect">
                <a:avLst>
                  <a:gd name="adj" fmla="val 0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/>
              </a:p>
            </p:txBody>
          </p:sp>
          <p:sp>
            <p:nvSpPr>
              <p:cNvPr id="6" name="圆角矩形 5"/>
              <p:cNvSpPr/>
              <p:nvPr/>
            </p:nvSpPr>
            <p:spPr>
              <a:xfrm>
                <a:off x="1653672" y="1143000"/>
                <a:ext cx="3048000" cy="144002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圆角矩形 6"/>
              <p:cNvSpPr/>
              <p:nvPr/>
            </p:nvSpPr>
            <p:spPr>
              <a:xfrm>
                <a:off x="4747800" y="1143000"/>
                <a:ext cx="4320000" cy="144000"/>
              </a:xfrm>
              <a:prstGeom prst="roundRect">
                <a:avLst>
                  <a:gd name="adj" fmla="val 0"/>
                </a:avLst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pic>
          <p:nvPicPr>
            <p:cNvPr id="4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64517" y="42175"/>
              <a:ext cx="1227083" cy="11008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14" name="TextBox 13"/>
          <p:cNvSpPr txBox="1"/>
          <p:nvPr/>
        </p:nvSpPr>
        <p:spPr>
          <a:xfrm>
            <a:off x="152400" y="1893941"/>
            <a:ext cx="2755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/>
                <a:cs typeface="Times New Roman"/>
              </a:rPr>
              <a:t>γ-solution of </a:t>
            </a:r>
            <a:r>
              <a:rPr lang="en-US" altLang="zh-CN" dirty="0" err="1">
                <a:latin typeface="Times New Roman"/>
                <a:cs typeface="Times New Roman"/>
              </a:rPr>
              <a:t>FeCrNiC</a:t>
            </a:r>
            <a:r>
              <a:rPr lang="en-US" altLang="zh-CN" dirty="0">
                <a:latin typeface="Times New Roman"/>
                <a:cs typeface="Times New Roman"/>
              </a:rPr>
              <a:t> (</a:t>
            </a:r>
            <a:r>
              <a:rPr lang="en-US" altLang="zh-CN" dirty="0" err="1">
                <a:latin typeface="Times New Roman"/>
                <a:cs typeface="Times New Roman"/>
              </a:rPr>
              <a:t>fcc</a:t>
            </a:r>
            <a:r>
              <a:rPr lang="en-US" altLang="zh-CN" dirty="0">
                <a:latin typeface="Times New Roman"/>
                <a:cs typeface="Times New Roman"/>
              </a:rPr>
              <a:t>)</a:t>
            </a:r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4116444" y="1890458"/>
            <a:ext cx="1963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(Fe, Cr, Ni)</a:t>
            </a:r>
            <a:r>
              <a:rPr lang="en-US" altLang="zh-CN" baseline="-25000" dirty="0"/>
              <a:t>1</a:t>
            </a:r>
            <a:r>
              <a:rPr lang="en-US" altLang="zh-CN" dirty="0"/>
              <a:t> (C, </a:t>
            </a:r>
            <a:r>
              <a:rPr lang="en-US" altLang="zh-CN" dirty="0" err="1"/>
              <a:t>Va</a:t>
            </a:r>
            <a:r>
              <a:rPr lang="en-US" altLang="zh-CN" dirty="0"/>
              <a:t>)</a:t>
            </a:r>
            <a:r>
              <a:rPr lang="en-US" altLang="zh-CN" baseline="-25000" dirty="0"/>
              <a:t>1</a:t>
            </a:r>
            <a:endParaRPr lang="zh-CN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154693" y="2415673"/>
            <a:ext cx="2863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altLang="zh-CN" dirty="0">
                <a:latin typeface="Times New Roman"/>
                <a:cs typeface="Times New Roman"/>
              </a:rPr>
              <a:t>α</a:t>
            </a:r>
            <a:r>
              <a:rPr lang="en-US" altLang="zh-CN" dirty="0">
                <a:latin typeface="Times New Roman"/>
                <a:cs typeface="Times New Roman"/>
              </a:rPr>
              <a:t>-solution of </a:t>
            </a:r>
            <a:r>
              <a:rPr lang="en-US" altLang="zh-CN" dirty="0" err="1">
                <a:latin typeface="Times New Roman"/>
                <a:cs typeface="Times New Roman"/>
              </a:rPr>
              <a:t>FeSiMoC</a:t>
            </a:r>
            <a:r>
              <a:rPr lang="en-US" altLang="zh-CN" dirty="0">
                <a:latin typeface="Times New Roman"/>
                <a:cs typeface="Times New Roman"/>
              </a:rPr>
              <a:t> (bcc)</a:t>
            </a:r>
            <a:endParaRPr lang="zh-CN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4116444" y="2428955"/>
            <a:ext cx="2055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(Fe, Si, Mo)</a:t>
            </a:r>
            <a:r>
              <a:rPr lang="en-US" altLang="zh-CN" baseline="-25000" dirty="0"/>
              <a:t>1</a:t>
            </a:r>
            <a:r>
              <a:rPr lang="en-US" altLang="zh-CN" dirty="0"/>
              <a:t> (C, </a:t>
            </a:r>
            <a:r>
              <a:rPr lang="en-US" altLang="zh-CN" dirty="0" err="1"/>
              <a:t>Va</a:t>
            </a:r>
            <a:r>
              <a:rPr lang="en-US" altLang="zh-CN" dirty="0"/>
              <a:t>)</a:t>
            </a:r>
            <a:r>
              <a:rPr lang="en-US" altLang="zh-CN" baseline="-25000" dirty="0"/>
              <a:t>3</a:t>
            </a:r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152400" y="381000"/>
            <a:ext cx="28989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Mixing  entropy 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025424" y="3109658"/>
            <a:ext cx="11272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/>
              <a:t>M</a:t>
            </a:r>
            <a:r>
              <a:rPr lang="en-US" altLang="zh-CN" sz="3200" baseline="-25000" dirty="0">
                <a:latin typeface="Times New Roman"/>
                <a:cs typeface="Times New Roman"/>
              </a:rPr>
              <a:t>a </a:t>
            </a:r>
            <a:r>
              <a:rPr lang="en-US" altLang="zh-CN" sz="3200" dirty="0" err="1"/>
              <a:t>N</a:t>
            </a:r>
            <a:r>
              <a:rPr lang="en-US" altLang="zh-CN" sz="3200" baseline="-25000" dirty="0" err="1">
                <a:latin typeface="Times New Roman"/>
                <a:cs typeface="Times New Roman"/>
              </a:rPr>
              <a:t>b</a:t>
            </a:r>
            <a:endParaRPr lang="zh-CN" altLang="en-US" sz="3200" dirty="0"/>
          </a:p>
        </p:txBody>
      </p:sp>
      <p:sp>
        <p:nvSpPr>
          <p:cNvPr id="20" name="TextBox 19"/>
          <p:cNvSpPr txBox="1"/>
          <p:nvPr/>
        </p:nvSpPr>
        <p:spPr>
          <a:xfrm>
            <a:off x="288757" y="3124302"/>
            <a:ext cx="14318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dirty="0"/>
              <a:t>Hypothetical </a:t>
            </a:r>
          </a:p>
          <a:p>
            <a:pPr algn="r"/>
            <a:r>
              <a:rPr lang="en-US" altLang="zh-CN" dirty="0"/>
              <a:t>compound </a:t>
            </a:r>
            <a:endParaRPr lang="zh-CN" altLang="en-US" dirty="0"/>
          </a:p>
        </p:txBody>
      </p:sp>
      <p:cxnSp>
        <p:nvCxnSpPr>
          <p:cNvPr id="23" name="直接箭头连接符 22"/>
          <p:cNvCxnSpPr/>
          <p:nvPr/>
        </p:nvCxnSpPr>
        <p:spPr>
          <a:xfrm>
            <a:off x="3051399" y="2078607"/>
            <a:ext cx="89506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stCxn id="16" idx="3"/>
          </p:cNvCxnSpPr>
          <p:nvPr/>
        </p:nvCxnSpPr>
        <p:spPr>
          <a:xfrm>
            <a:off x="3017977" y="2600339"/>
            <a:ext cx="92849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52400" y="1315577"/>
            <a:ext cx="6540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Question:   </a:t>
            </a:r>
            <a:r>
              <a:rPr lang="en-US" altLang="zh-CN" dirty="0"/>
              <a:t>calculate the mixing entropy of </a:t>
            </a:r>
            <a:r>
              <a:rPr lang="el-GR" altLang="zh-CN" dirty="0">
                <a:latin typeface="Times New Roman"/>
                <a:cs typeface="Times New Roman"/>
              </a:rPr>
              <a:t>α</a:t>
            </a:r>
            <a:r>
              <a:rPr lang="en-US" altLang="zh-CN" dirty="0">
                <a:latin typeface="Times New Roman"/>
                <a:cs typeface="Times New Roman"/>
              </a:rPr>
              <a:t>-solution of </a:t>
            </a:r>
            <a:r>
              <a:rPr lang="en-US" altLang="zh-CN" dirty="0" err="1">
                <a:latin typeface="Times New Roman"/>
                <a:cs typeface="Times New Roman"/>
              </a:rPr>
              <a:t>FeSiMoC</a:t>
            </a:r>
            <a:r>
              <a:rPr lang="en-US" altLang="zh-CN" dirty="0">
                <a:latin typeface="Times New Roman"/>
                <a:cs typeface="Times New Roman"/>
              </a:rPr>
              <a:t> ?</a:t>
            </a:r>
            <a:endParaRPr lang="zh-CN" altLang="en-US" dirty="0"/>
          </a:p>
        </p:txBody>
      </p:sp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3697288" y="3048000"/>
          <a:ext cx="2154237" cy="77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91880" imgH="393480" progId="Equation.DSMT4">
                  <p:embed/>
                </p:oleObj>
              </mc:Choice>
              <mc:Fallback>
                <p:oleObj name="Equation" r:id="rId3" imgW="1091880" imgH="393480" progId="Equation.DSMT4">
                  <p:embed/>
                  <p:pic>
                    <p:nvPicPr>
                      <p:cNvPr id="29" name="对象 2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97288" y="3048000"/>
                        <a:ext cx="2154237" cy="7762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228600" y="3974068"/>
            <a:ext cx="2699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Based the regular solution </a:t>
            </a:r>
            <a:endParaRPr lang="zh-CN" alt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288757" y="4590534"/>
            <a:ext cx="2471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For 1 </a:t>
            </a:r>
            <a:r>
              <a:rPr lang="en-US" altLang="zh-CN" dirty="0" err="1"/>
              <a:t>mol</a:t>
            </a:r>
            <a:r>
              <a:rPr lang="en-US" altLang="zh-CN" dirty="0"/>
              <a:t> M sub-lattice: </a:t>
            </a:r>
            <a:endParaRPr lang="zh-CN" altLang="en-US" dirty="0"/>
          </a:p>
        </p:txBody>
      </p:sp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2908283" y="4495800"/>
          <a:ext cx="4919100" cy="4640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692080" imgH="253800" progId="Equation.DSMT4">
                  <p:embed/>
                </p:oleObj>
              </mc:Choice>
              <mc:Fallback>
                <p:oleObj name="Equation" r:id="rId5" imgW="2692080" imgH="253800" progId="Equation.DSMT4">
                  <p:embed/>
                  <p:pic>
                    <p:nvPicPr>
                      <p:cNvPr id="32" name="对象 3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08283" y="4495800"/>
                        <a:ext cx="4919100" cy="4640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04800" y="5257800"/>
            <a:ext cx="242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For 1 </a:t>
            </a:r>
            <a:r>
              <a:rPr lang="en-US" altLang="zh-CN" dirty="0" err="1"/>
              <a:t>mol</a:t>
            </a:r>
            <a:r>
              <a:rPr lang="en-US" altLang="zh-CN" dirty="0"/>
              <a:t> N sub-lattice: </a:t>
            </a:r>
            <a:endParaRPr lang="zh-CN" altLang="en-US" dirty="0"/>
          </a:p>
        </p:txBody>
      </p:sp>
      <p:graphicFrame>
        <p:nvGraphicFramePr>
          <p:cNvPr id="34" name="对象 33"/>
          <p:cNvGraphicFramePr>
            <a:graphicFrameLocks noChangeAspect="1"/>
          </p:cNvGraphicFramePr>
          <p:nvPr/>
        </p:nvGraphicFramePr>
        <p:xfrm>
          <a:off x="2928570" y="5181600"/>
          <a:ext cx="3527425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930320" imgH="253800" progId="Equation.DSMT4">
                  <p:embed/>
                </p:oleObj>
              </mc:Choice>
              <mc:Fallback>
                <p:oleObj name="Equation" r:id="rId7" imgW="1930320" imgH="253800" progId="Equation.DSMT4">
                  <p:embed/>
                  <p:pic>
                    <p:nvPicPr>
                      <p:cNvPr id="34" name="对象 3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928570" y="5181600"/>
                        <a:ext cx="3527425" cy="463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288757" y="5799709"/>
            <a:ext cx="17396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For 1 </a:t>
            </a:r>
            <a:r>
              <a:rPr lang="en-US" altLang="zh-CN" dirty="0" err="1"/>
              <a:t>mol</a:t>
            </a:r>
            <a:r>
              <a:rPr lang="en-US" altLang="zh-CN" dirty="0"/>
              <a:t> </a:t>
            </a:r>
            <a:r>
              <a:rPr lang="en-US" altLang="zh-CN" dirty="0" err="1"/>
              <a:t>M</a:t>
            </a:r>
            <a:r>
              <a:rPr lang="en-US" altLang="zh-CN" baseline="-25000" dirty="0" err="1"/>
              <a:t>a</a:t>
            </a:r>
            <a:r>
              <a:rPr lang="en-US" altLang="zh-CN" dirty="0" err="1"/>
              <a:t>N</a:t>
            </a:r>
            <a:r>
              <a:rPr lang="en-US" altLang="zh-CN" baseline="-25000" dirty="0" err="1"/>
              <a:t>b</a:t>
            </a:r>
            <a:r>
              <a:rPr lang="en-US" altLang="zh-CN" dirty="0"/>
              <a:t>: </a:t>
            </a:r>
            <a:endParaRPr lang="zh-CN" altLang="en-US" dirty="0"/>
          </a:p>
        </p:txBody>
      </p:sp>
      <p:graphicFrame>
        <p:nvGraphicFramePr>
          <p:cNvPr id="36" name="对象 35"/>
          <p:cNvGraphicFramePr>
            <a:graphicFrameLocks noChangeAspect="1"/>
          </p:cNvGraphicFramePr>
          <p:nvPr/>
        </p:nvGraphicFramePr>
        <p:xfrm>
          <a:off x="2928570" y="5752600"/>
          <a:ext cx="234315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282680" imgH="253800" progId="Equation.DSMT4">
                  <p:embed/>
                </p:oleObj>
              </mc:Choice>
              <mc:Fallback>
                <p:oleObj name="Equation" r:id="rId9" imgW="1282680" imgH="253800" progId="Equation.DSMT4">
                  <p:embed/>
                  <p:pic>
                    <p:nvPicPr>
                      <p:cNvPr id="36" name="对象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8570" y="5752600"/>
                        <a:ext cx="2343150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333768" y="6321441"/>
            <a:ext cx="2238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For 1 </a:t>
            </a:r>
            <a:r>
              <a:rPr lang="en-US" altLang="zh-CN" dirty="0" err="1"/>
              <a:t>mol</a:t>
            </a:r>
            <a:r>
              <a:rPr lang="en-US" altLang="zh-CN" dirty="0"/>
              <a:t> </a:t>
            </a:r>
            <a:r>
              <a:rPr lang="el-GR" altLang="zh-CN" dirty="0">
                <a:latin typeface="Times New Roman"/>
                <a:cs typeface="Times New Roman"/>
              </a:rPr>
              <a:t>α</a:t>
            </a:r>
            <a:r>
              <a:rPr lang="en-US" altLang="zh-CN" dirty="0">
                <a:latin typeface="Times New Roman"/>
                <a:cs typeface="Times New Roman"/>
              </a:rPr>
              <a:t>-solution </a:t>
            </a:r>
            <a:r>
              <a:rPr lang="en-US" altLang="zh-CN" dirty="0"/>
              <a:t>: </a:t>
            </a:r>
            <a:endParaRPr lang="zh-CN" altLang="en-US" dirty="0"/>
          </a:p>
        </p:txBody>
      </p:sp>
      <p:graphicFrame>
        <p:nvGraphicFramePr>
          <p:cNvPr id="38" name="对象 37"/>
          <p:cNvGraphicFramePr>
            <a:graphicFrameLocks noChangeAspect="1"/>
          </p:cNvGraphicFramePr>
          <p:nvPr/>
        </p:nvGraphicFramePr>
        <p:xfrm>
          <a:off x="2908283" y="6172200"/>
          <a:ext cx="1839517" cy="6628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091880" imgH="393480" progId="Equation.DSMT4">
                  <p:embed/>
                </p:oleObj>
              </mc:Choice>
              <mc:Fallback>
                <p:oleObj name="Equation" r:id="rId11" imgW="1091880" imgH="393480" progId="Equation.DSMT4">
                  <p:embed/>
                  <p:pic>
                    <p:nvPicPr>
                      <p:cNvPr id="38" name="对象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8283" y="6172200"/>
                        <a:ext cx="1839517" cy="6628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545368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76200" y="42175"/>
            <a:ext cx="8991600" cy="1244827"/>
            <a:chOff x="76200" y="42175"/>
            <a:chExt cx="8991600" cy="1244827"/>
          </a:xfrm>
        </p:grpSpPr>
        <p:grpSp>
          <p:nvGrpSpPr>
            <p:cNvPr id="3" name="组合 2"/>
            <p:cNvGrpSpPr/>
            <p:nvPr/>
          </p:nvGrpSpPr>
          <p:grpSpPr>
            <a:xfrm>
              <a:off x="76200" y="1143000"/>
              <a:ext cx="8991600" cy="144002"/>
              <a:chOff x="76200" y="1143000"/>
              <a:chExt cx="8991600" cy="144002"/>
            </a:xfrm>
          </p:grpSpPr>
          <p:sp>
            <p:nvSpPr>
              <p:cNvPr id="5" name="圆角矩形 4"/>
              <p:cNvSpPr/>
              <p:nvPr/>
            </p:nvSpPr>
            <p:spPr>
              <a:xfrm>
                <a:off x="76200" y="1143000"/>
                <a:ext cx="1531344" cy="144001"/>
              </a:xfrm>
              <a:prstGeom prst="roundRect">
                <a:avLst>
                  <a:gd name="adj" fmla="val 0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/>
              </a:p>
            </p:txBody>
          </p:sp>
          <p:sp>
            <p:nvSpPr>
              <p:cNvPr id="6" name="圆角矩形 5"/>
              <p:cNvSpPr/>
              <p:nvPr/>
            </p:nvSpPr>
            <p:spPr>
              <a:xfrm>
                <a:off x="1653672" y="1143000"/>
                <a:ext cx="3048000" cy="144002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圆角矩形 6"/>
              <p:cNvSpPr/>
              <p:nvPr/>
            </p:nvSpPr>
            <p:spPr>
              <a:xfrm>
                <a:off x="4747800" y="1143000"/>
                <a:ext cx="4320000" cy="144000"/>
              </a:xfrm>
              <a:prstGeom prst="roundRect">
                <a:avLst>
                  <a:gd name="adj" fmla="val 0"/>
                </a:avLst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pic>
          <p:nvPicPr>
            <p:cNvPr id="4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64517" y="42175"/>
              <a:ext cx="1227083" cy="11008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8" name="TextBox 7"/>
          <p:cNvSpPr txBox="1"/>
          <p:nvPr/>
        </p:nvSpPr>
        <p:spPr>
          <a:xfrm>
            <a:off x="152400" y="381000"/>
            <a:ext cx="29585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Mixing  Enthalpy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4223982" y="1828800"/>
          <a:ext cx="48006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692400" imgH="241300" progId="Equation.DSMT4">
                  <p:embed/>
                </p:oleObj>
              </mc:Choice>
              <mc:Fallback>
                <p:oleObj name="Equation" r:id="rId3" imgW="2692400" imgH="24130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3982" y="1828800"/>
                        <a:ext cx="4800600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4228531" y="1447800"/>
          <a:ext cx="4038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692080" imgH="253800" progId="Equation.DSMT4">
                  <p:embed/>
                </p:oleObj>
              </mc:Choice>
              <mc:Fallback>
                <p:oleObj name="Equation" r:id="rId5" imgW="2692080" imgH="25380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8531" y="1447800"/>
                        <a:ext cx="4038600" cy="381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6200" y="1403317"/>
            <a:ext cx="2863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altLang="zh-CN" dirty="0">
                <a:latin typeface="Times New Roman"/>
                <a:cs typeface="Times New Roman"/>
              </a:rPr>
              <a:t>α</a:t>
            </a:r>
            <a:r>
              <a:rPr lang="en-US" altLang="zh-CN" dirty="0">
                <a:latin typeface="Times New Roman"/>
                <a:cs typeface="Times New Roman"/>
              </a:rPr>
              <a:t>-solution of </a:t>
            </a:r>
            <a:r>
              <a:rPr lang="en-US" altLang="zh-CN" dirty="0" err="1">
                <a:latin typeface="Times New Roman"/>
                <a:cs typeface="Times New Roman"/>
              </a:rPr>
              <a:t>FeSiMoC</a:t>
            </a:r>
            <a:r>
              <a:rPr lang="en-US" altLang="zh-CN" dirty="0">
                <a:latin typeface="Times New Roman"/>
                <a:cs typeface="Times New Roman"/>
              </a:rPr>
              <a:t> (bcc)</a:t>
            </a:r>
            <a:endParaRPr lang="zh-CN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76200" y="1883244"/>
            <a:ext cx="2055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(Fe, Si, Mo)</a:t>
            </a:r>
            <a:r>
              <a:rPr lang="en-US" altLang="zh-CN" baseline="-25000" dirty="0"/>
              <a:t>1</a:t>
            </a:r>
            <a:r>
              <a:rPr lang="en-US" altLang="zh-CN" dirty="0"/>
              <a:t> (C, </a:t>
            </a:r>
            <a:r>
              <a:rPr lang="en-US" altLang="zh-CN" dirty="0" err="1"/>
              <a:t>Va</a:t>
            </a:r>
            <a:r>
              <a:rPr lang="en-US" altLang="zh-CN" dirty="0"/>
              <a:t>)</a:t>
            </a:r>
            <a:r>
              <a:rPr lang="en-US" altLang="zh-CN" baseline="-25000" dirty="0"/>
              <a:t>3</a:t>
            </a:r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23647" y="2450459"/>
            <a:ext cx="11272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/>
              <a:t>M</a:t>
            </a:r>
            <a:r>
              <a:rPr lang="en-US" altLang="zh-CN" sz="3200" baseline="-25000" dirty="0">
                <a:latin typeface="Times New Roman"/>
                <a:cs typeface="Times New Roman"/>
              </a:rPr>
              <a:t>a </a:t>
            </a:r>
            <a:r>
              <a:rPr lang="en-US" altLang="zh-CN" sz="3200" dirty="0" err="1"/>
              <a:t>N</a:t>
            </a:r>
            <a:r>
              <a:rPr lang="en-US" altLang="zh-CN" sz="3200" baseline="-25000" dirty="0" err="1">
                <a:latin typeface="Times New Roman"/>
                <a:cs typeface="Times New Roman"/>
              </a:rPr>
              <a:t>b</a:t>
            </a:r>
            <a:endParaRPr lang="zh-CN" altLang="en-US" sz="3200" dirty="0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4267200" y="2450459"/>
          <a:ext cx="145415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76240" imgH="203040" progId="Equation.DSMT4">
                  <p:embed/>
                </p:oleObj>
              </mc:Choice>
              <mc:Fallback>
                <p:oleObj name="Equation" r:id="rId7" imgW="876240" imgH="203040" progId="Equation.DSMT4">
                  <p:embed/>
                  <p:pic>
                    <p:nvPicPr>
                      <p:cNvPr id="15" name="对象 1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267200" y="2450459"/>
                        <a:ext cx="1454150" cy="336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219811" y="3352800"/>
            <a:ext cx="2471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For 1 </a:t>
            </a:r>
            <a:r>
              <a:rPr lang="en-US" altLang="zh-CN" dirty="0" err="1"/>
              <a:t>mol</a:t>
            </a:r>
            <a:r>
              <a:rPr lang="en-US" altLang="zh-CN" dirty="0"/>
              <a:t> M sub-lattice: </a:t>
            </a:r>
            <a:endParaRPr lang="zh-CN" altLang="en-US" dirty="0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3276600" y="3279220"/>
          <a:ext cx="5197475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844720" imgH="241200" progId="Equation.DSMT4">
                  <p:embed/>
                </p:oleObj>
              </mc:Choice>
              <mc:Fallback>
                <p:oleObj name="Equation" r:id="rId9" imgW="2844720" imgH="241200" progId="Equation.DSMT4">
                  <p:embed/>
                  <p:pic>
                    <p:nvPicPr>
                      <p:cNvPr id="18" name="对象 1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276600" y="3279220"/>
                        <a:ext cx="5197475" cy="4429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219810" y="4114800"/>
            <a:ext cx="2471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For 1 </a:t>
            </a:r>
            <a:r>
              <a:rPr lang="en-US" altLang="zh-CN" dirty="0" err="1"/>
              <a:t>mol</a:t>
            </a:r>
            <a:r>
              <a:rPr lang="en-US" altLang="zh-CN" dirty="0"/>
              <a:t> N sub-lattice: </a:t>
            </a:r>
            <a:endParaRPr lang="zh-CN" altLang="en-US" dirty="0"/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3194050" y="4078009"/>
          <a:ext cx="99695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545760" imgH="241200" progId="Equation.DSMT4">
                  <p:embed/>
                </p:oleObj>
              </mc:Choice>
              <mc:Fallback>
                <p:oleObj name="Equation" r:id="rId11" imgW="545760" imgH="241200" progId="Equation.DSMT4">
                  <p:embed/>
                  <p:pic>
                    <p:nvPicPr>
                      <p:cNvPr id="20" name="对象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4050" y="4078009"/>
                        <a:ext cx="996950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228600" y="4765159"/>
            <a:ext cx="17396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For 1 </a:t>
            </a:r>
            <a:r>
              <a:rPr lang="en-US" altLang="zh-CN" dirty="0" err="1"/>
              <a:t>mol</a:t>
            </a:r>
            <a:r>
              <a:rPr lang="en-US" altLang="zh-CN" dirty="0"/>
              <a:t> </a:t>
            </a:r>
            <a:r>
              <a:rPr lang="en-US" altLang="zh-CN" dirty="0" err="1"/>
              <a:t>M</a:t>
            </a:r>
            <a:r>
              <a:rPr lang="en-US" altLang="zh-CN" baseline="-25000" dirty="0" err="1"/>
              <a:t>a</a:t>
            </a:r>
            <a:r>
              <a:rPr lang="en-US" altLang="zh-CN" dirty="0" err="1"/>
              <a:t>N</a:t>
            </a:r>
            <a:r>
              <a:rPr lang="en-US" altLang="zh-CN" baseline="-25000" dirty="0" err="1"/>
              <a:t>b</a:t>
            </a:r>
            <a:r>
              <a:rPr lang="en-US" altLang="zh-CN" dirty="0"/>
              <a:t>: </a:t>
            </a:r>
            <a:endParaRPr lang="zh-CN" altLang="en-US" dirty="0"/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2833688" y="4718050"/>
          <a:ext cx="2574925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409400" imgH="253800" progId="Equation.DSMT4">
                  <p:embed/>
                </p:oleObj>
              </mc:Choice>
              <mc:Fallback>
                <p:oleObj name="Equation" r:id="rId13" imgW="1409400" imgH="253800" progId="Equation.DSMT4">
                  <p:embed/>
                  <p:pic>
                    <p:nvPicPr>
                      <p:cNvPr id="24" name="对象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3688" y="4718050"/>
                        <a:ext cx="2574925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304800" y="5429964"/>
            <a:ext cx="2238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For 1 </a:t>
            </a:r>
            <a:r>
              <a:rPr lang="en-US" altLang="zh-CN" dirty="0" err="1"/>
              <a:t>mol</a:t>
            </a:r>
            <a:r>
              <a:rPr lang="en-US" altLang="zh-CN" dirty="0"/>
              <a:t> </a:t>
            </a:r>
            <a:r>
              <a:rPr lang="el-GR" altLang="zh-CN" dirty="0">
                <a:latin typeface="Times New Roman"/>
                <a:cs typeface="Times New Roman"/>
              </a:rPr>
              <a:t>α</a:t>
            </a:r>
            <a:r>
              <a:rPr lang="en-US" altLang="zh-CN" dirty="0">
                <a:latin typeface="Times New Roman"/>
                <a:cs typeface="Times New Roman"/>
              </a:rPr>
              <a:t>-solution </a:t>
            </a:r>
            <a:r>
              <a:rPr lang="en-US" altLang="zh-CN" dirty="0"/>
              <a:t>: </a:t>
            </a:r>
            <a:endParaRPr lang="zh-CN" altLang="en-US" dirty="0"/>
          </a:p>
        </p:txBody>
      </p:sp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2805113" y="5280025"/>
          <a:ext cx="1987550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180800" imgH="393480" progId="Equation.DSMT4">
                  <p:embed/>
                </p:oleObj>
              </mc:Choice>
              <mc:Fallback>
                <p:oleObj name="Equation" r:id="rId15" imgW="1180800" imgH="393480" progId="Equation.DSMT4">
                  <p:embed/>
                  <p:pic>
                    <p:nvPicPr>
                      <p:cNvPr id="26" name="对象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5113" y="5280025"/>
                        <a:ext cx="1987550" cy="663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2774950" y="6096000"/>
          <a:ext cx="3016250" cy="4506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358640" imgH="203040" progId="Equation.DSMT4">
                  <p:embed/>
                </p:oleObj>
              </mc:Choice>
              <mc:Fallback>
                <p:oleObj name="Equation" r:id="rId17" imgW="1358640" imgH="203040" progId="Equation.DSMT4">
                  <p:embed/>
                  <p:pic>
                    <p:nvPicPr>
                      <p:cNvPr id="28" name="对象 27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774950" y="6096000"/>
                        <a:ext cx="3016250" cy="4506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44350432"/>
      </p:ext>
    </p:extLst>
  </p:cSld>
  <p:clrMapOvr>
    <a:masterClrMapping/>
  </p:clrMapOvr>
</p:sld>
</file>

<file path=ppt/theme/theme1.xml><?xml version="1.0" encoding="utf-8"?>
<a:theme xmlns:a="http://schemas.openxmlformats.org/drawingml/2006/main" name="Master Boar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等线 Light"/>
        <a:cs typeface=""/>
      </a:majorFont>
      <a:minorFont>
        <a:latin typeface="Arial"/>
        <a:ea typeface="等线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Master Board</Template>
  <TotalTime>7559</TotalTime>
  <Words>1165</Words>
  <Application>Microsoft Office PowerPoint</Application>
  <PresentationFormat>全屏显示(4:3)</PresentationFormat>
  <Paragraphs>178</Paragraphs>
  <Slides>34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34</vt:i4>
      </vt:variant>
    </vt:vector>
  </HeadingPairs>
  <TitlesOfParts>
    <vt:vector size="45" baseType="lpstr">
      <vt:lpstr>Arial Unicode MS</vt:lpstr>
      <vt:lpstr>等线</vt:lpstr>
      <vt:lpstr>黑体</vt:lpstr>
      <vt:lpstr>Arial</vt:lpstr>
      <vt:lpstr>Calibri</vt:lpstr>
      <vt:lpstr>Cambria Math</vt:lpstr>
      <vt:lpstr>Times New Roman</vt:lpstr>
      <vt:lpstr>Wingdings</vt:lpstr>
      <vt:lpstr>Master Board</vt:lpstr>
      <vt:lpstr>Equation</vt:lpstr>
      <vt:lpstr>Equation.KSEE3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liu weishu</dc:creator>
  <cp:lastModifiedBy>Liu WS</cp:lastModifiedBy>
  <cp:revision>393</cp:revision>
  <cp:lastPrinted>2019-11-21T13:53:08Z</cp:lastPrinted>
  <dcterms:created xsi:type="dcterms:W3CDTF">2019-02-07T07:31:12Z</dcterms:created>
  <dcterms:modified xsi:type="dcterms:W3CDTF">2022-10-27T13:41:03Z</dcterms:modified>
</cp:coreProperties>
</file>