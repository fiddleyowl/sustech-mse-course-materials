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5" r:id="rId1"/>
  </p:sldMasterIdLst>
  <p:notesMasterIdLst>
    <p:notesMasterId r:id="rId48"/>
  </p:notesMasterIdLst>
  <p:handoutMasterIdLst>
    <p:handoutMasterId r:id="rId49"/>
  </p:handoutMasterIdLst>
  <p:sldIdLst>
    <p:sldId id="318" r:id="rId2"/>
    <p:sldId id="307" r:id="rId3"/>
    <p:sldId id="324" r:id="rId4"/>
    <p:sldId id="365" r:id="rId5"/>
    <p:sldId id="325" r:id="rId6"/>
    <p:sldId id="285" r:id="rId7"/>
    <p:sldId id="286" r:id="rId8"/>
    <p:sldId id="287" r:id="rId9"/>
    <p:sldId id="288" r:id="rId10"/>
    <p:sldId id="289" r:id="rId11"/>
    <p:sldId id="326" r:id="rId12"/>
    <p:sldId id="290" r:id="rId13"/>
    <p:sldId id="291" r:id="rId14"/>
    <p:sldId id="262" r:id="rId15"/>
    <p:sldId id="263" r:id="rId16"/>
    <p:sldId id="264" r:id="rId17"/>
    <p:sldId id="300" r:id="rId18"/>
    <p:sldId id="293" r:id="rId19"/>
    <p:sldId id="265" r:id="rId20"/>
    <p:sldId id="266" r:id="rId21"/>
    <p:sldId id="317" r:id="rId22"/>
    <p:sldId id="319" r:id="rId23"/>
    <p:sldId id="309" r:id="rId24"/>
    <p:sldId id="310" r:id="rId25"/>
    <p:sldId id="267" r:id="rId26"/>
    <p:sldId id="268" r:id="rId27"/>
    <p:sldId id="311" r:id="rId28"/>
    <p:sldId id="312" r:id="rId29"/>
    <p:sldId id="366" r:id="rId30"/>
    <p:sldId id="367" r:id="rId31"/>
    <p:sldId id="368" r:id="rId32"/>
    <p:sldId id="316" r:id="rId33"/>
    <p:sldId id="294" r:id="rId34"/>
    <p:sldId id="296" r:id="rId35"/>
    <p:sldId id="297" r:id="rId36"/>
    <p:sldId id="298" r:id="rId37"/>
    <p:sldId id="301" r:id="rId38"/>
    <p:sldId id="313" r:id="rId39"/>
    <p:sldId id="302" r:id="rId40"/>
    <p:sldId id="303" r:id="rId41"/>
    <p:sldId id="304" r:id="rId42"/>
    <p:sldId id="320" r:id="rId43"/>
    <p:sldId id="314" r:id="rId44"/>
    <p:sldId id="315" r:id="rId45"/>
    <p:sldId id="306" r:id="rId46"/>
    <p:sldId id="321" r:id="rId47"/>
  </p:sldIdLst>
  <p:sldSz cx="9144000" cy="6858000" type="screen4x3"/>
  <p:notesSz cx="6669088"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70AD47"/>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353" autoAdjust="0"/>
  </p:normalViewPr>
  <p:slideViewPr>
    <p:cSldViewPr snapToGrid="0">
      <p:cViewPr varScale="1">
        <p:scale>
          <a:sx n="99" d="100"/>
          <a:sy n="99" d="100"/>
        </p:scale>
        <p:origin x="840" y="138"/>
      </p:cViewPr>
      <p:guideLst>
        <p:guide orient="horz" pos="2160"/>
        <p:guide pos="2880"/>
      </p:guideLst>
    </p:cSldViewPr>
  </p:slideViewPr>
  <p:notesTextViewPr>
    <p:cViewPr>
      <p:scale>
        <a:sx n="1" d="1"/>
        <a:sy n="1" d="1"/>
      </p:scale>
      <p:origin x="0" y="0"/>
    </p:cViewPr>
  </p:notesTextViewPr>
  <p:sorterViewPr>
    <p:cViewPr>
      <p:scale>
        <a:sx n="100" d="100"/>
        <a:sy n="100" d="100"/>
      </p:scale>
      <p:origin x="0" y="-467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E1198B98-B161-4DEA-A87F-8C80727AABBB}" type="datetimeFigureOut">
              <a:rPr lang="zh-CN" altLang="en-US" smtClean="0"/>
              <a:t>2022/10/16</a:t>
            </a:fld>
            <a:endParaRPr lang="zh-CN" altLang="en-US"/>
          </a:p>
        </p:txBody>
      </p:sp>
      <p:sp>
        <p:nvSpPr>
          <p:cNvPr id="4" name="页脚占位符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F1F87644-ECA9-4F59-9D0E-5FBB584C71AD}" type="slidenum">
              <a:rPr lang="zh-CN" altLang="en-US" smtClean="0"/>
              <a:t>‹#›</a:t>
            </a:fld>
            <a:endParaRPr lang="zh-CN" altLang="en-US"/>
          </a:p>
        </p:txBody>
      </p:sp>
    </p:spTree>
    <p:extLst>
      <p:ext uri="{BB962C8B-B14F-4D97-AF65-F5344CB8AC3E}">
        <p14:creationId xmlns:p14="http://schemas.microsoft.com/office/powerpoint/2010/main" val="21523960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8056"/>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8056"/>
          </a:xfrm>
          <a:prstGeom prst="rect">
            <a:avLst/>
          </a:prstGeom>
        </p:spPr>
        <p:txBody>
          <a:bodyPr vert="horz" lIns="91440" tIns="45720" rIns="91440" bIns="45720" rtlCol="0"/>
          <a:lstStyle>
            <a:lvl1pPr algn="r">
              <a:defRPr sz="1200"/>
            </a:lvl1pPr>
          </a:lstStyle>
          <a:p>
            <a:fld id="{473A478E-90E3-4BE0-BF7B-B1AD7461FEF4}" type="datetimeFigureOut">
              <a:rPr lang="zh-CN" altLang="en-US" smtClean="0"/>
              <a:t>2022/10/16</a:t>
            </a:fld>
            <a:endParaRPr lang="zh-CN" altLang="en-US"/>
          </a:p>
        </p:txBody>
      </p:sp>
      <p:sp>
        <p:nvSpPr>
          <p:cNvPr id="4" name="幻灯片图像占位符 3"/>
          <p:cNvSpPr>
            <a:spLocks noGrp="1" noRot="1" noChangeAspect="1"/>
          </p:cNvSpPr>
          <p:nvPr>
            <p:ph type="sldImg" idx="2"/>
          </p:nvPr>
        </p:nvSpPr>
        <p:spPr>
          <a:xfrm>
            <a:off x="1101725" y="1241425"/>
            <a:ext cx="4465638"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77194"/>
            <a:ext cx="5335270" cy="3908614"/>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4"/>
            <a:ext cx="2889938" cy="498055"/>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4"/>
            <a:ext cx="2889938" cy="498055"/>
          </a:xfrm>
          <a:prstGeom prst="rect">
            <a:avLst/>
          </a:prstGeom>
        </p:spPr>
        <p:txBody>
          <a:bodyPr vert="horz" lIns="91440" tIns="45720" rIns="91440" bIns="45720" rtlCol="0" anchor="b"/>
          <a:lstStyle>
            <a:lvl1pPr algn="r">
              <a:defRPr sz="1200"/>
            </a:lvl1pPr>
          </a:lstStyle>
          <a:p>
            <a:fld id="{7F497359-BD37-41E1-AF95-71E7D52515AE}" type="slidenum">
              <a:rPr lang="zh-CN" altLang="en-US" smtClean="0"/>
              <a:t>‹#›</a:t>
            </a:fld>
            <a:endParaRPr lang="zh-CN" altLang="en-US"/>
          </a:p>
        </p:txBody>
      </p:sp>
    </p:spTree>
    <p:extLst>
      <p:ext uri="{BB962C8B-B14F-4D97-AF65-F5344CB8AC3E}">
        <p14:creationId xmlns:p14="http://schemas.microsoft.com/office/powerpoint/2010/main" val="281587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baike.baidu.com/item/%E8%AF%BA%E8%B4%9D%E5%B0%94%E5%A5%96"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en.wikipedia.org/wiki/Yale_University" TargetMode="External"/><Relationship Id="rId13" Type="http://schemas.openxmlformats.org/officeDocument/2006/relationships/hyperlink" Target="https://en.wikipedia.org/wiki/Heinrich_Hertz" TargetMode="External"/><Relationship Id="rId18" Type="http://schemas.openxmlformats.org/officeDocument/2006/relationships/hyperlink" Target="https://en.wikipedia.org/wiki/Semiconductor" TargetMode="External"/><Relationship Id="rId3" Type="http://schemas.openxmlformats.org/officeDocument/2006/relationships/hyperlink" Target="https://en.wikipedia.org/wiki/Yale_College" TargetMode="External"/><Relationship Id="rId7" Type="http://schemas.openxmlformats.org/officeDocument/2006/relationships/hyperlink" Target="https://en.wikipedia.org/wiki/Princeton_University" TargetMode="External"/><Relationship Id="rId12" Type="http://schemas.openxmlformats.org/officeDocument/2006/relationships/hyperlink" Target="https://en.wikipedia.org/wiki/Max_Planck" TargetMode="External"/><Relationship Id="rId17" Type="http://schemas.openxmlformats.org/officeDocument/2006/relationships/hyperlink" Target="https://en.wikipedia.org/wiki/Physicist" TargetMode="External"/><Relationship Id="rId2" Type="http://schemas.openxmlformats.org/officeDocument/2006/relationships/slide" Target="../slides/slide46.xml"/><Relationship Id="rId16" Type="http://schemas.openxmlformats.org/officeDocument/2006/relationships/hyperlink" Target="https://en.wikipedia.org/wiki/Walter_H._Schottky" TargetMode="External"/><Relationship Id="rId1" Type="http://schemas.openxmlformats.org/officeDocument/2006/relationships/notesMaster" Target="../notesMasters/notesMaster1.xml"/><Relationship Id="rId6" Type="http://schemas.openxmlformats.org/officeDocument/2006/relationships/hyperlink" Target="https://en.wikipedia.org/wiki/Jonathan_Dickinson_(New_Jersey)" TargetMode="External"/><Relationship Id="rId11" Type="http://schemas.openxmlformats.org/officeDocument/2006/relationships/hyperlink" Target="https://en.wikipedia.org/wiki/Humboldt_University_of_Berlin" TargetMode="External"/><Relationship Id="rId5" Type="http://schemas.openxmlformats.org/officeDocument/2006/relationships/hyperlink" Target="https://en.wikipedia.org/wiki/President_of_Harvard_University" TargetMode="External"/><Relationship Id="rId15" Type="http://schemas.openxmlformats.org/officeDocument/2006/relationships/hyperlink" Target="https://en.wikipedia.org/wiki/Arthur_Gordon_Webster" TargetMode="External"/><Relationship Id="rId10" Type="http://schemas.openxmlformats.org/officeDocument/2006/relationships/hyperlink" Target="https://en.wikipedia.org/wiki/Engineering" TargetMode="External"/><Relationship Id="rId4" Type="http://schemas.openxmlformats.org/officeDocument/2006/relationships/hyperlink" Target="https://en.wikipedia.org/wiki/Samuel_Willard" TargetMode="External"/><Relationship Id="rId9" Type="http://schemas.openxmlformats.org/officeDocument/2006/relationships/hyperlink" Target="https://en.wikipedia.org/wiki/Doctor_of_Philosophy" TargetMode="External"/><Relationship Id="rId14" Type="http://schemas.openxmlformats.org/officeDocument/2006/relationships/hyperlink" Target="https://en.wikipedia.org/wiki/Friedrich_Schottky"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1</a:t>
            </a:fld>
            <a:endParaRPr lang="zh-CN" altLang="en-US"/>
          </a:p>
        </p:txBody>
      </p:sp>
    </p:spTree>
    <p:extLst>
      <p:ext uri="{BB962C8B-B14F-4D97-AF65-F5344CB8AC3E}">
        <p14:creationId xmlns:p14="http://schemas.microsoft.com/office/powerpoint/2010/main" val="808961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第一届</a:t>
            </a:r>
            <a:r>
              <a:rPr lang="zh-CN" altLang="en-US" sz="1200" b="0" i="0" u="none" strike="noStrike" kern="1200" dirty="0">
                <a:solidFill>
                  <a:schemeClr val="tx1"/>
                </a:solidFill>
                <a:effectLst/>
                <a:latin typeface="+mn-lt"/>
                <a:ea typeface="+mn-ea"/>
                <a:cs typeface="+mn-cs"/>
                <a:hlinkClick r:id="rId3"/>
              </a:rPr>
              <a:t>诺贝尔奖</a:t>
            </a:r>
            <a:r>
              <a:rPr lang="zh-CN" altLang="en-US" sz="1200" b="0" i="0" kern="1200" dirty="0">
                <a:solidFill>
                  <a:schemeClr val="tx1"/>
                </a:solidFill>
                <a:effectLst/>
                <a:latin typeface="+mn-lt"/>
                <a:ea typeface="+mn-ea"/>
                <a:cs typeface="+mn-cs"/>
              </a:rPr>
              <a:t>于</a:t>
            </a:r>
            <a:r>
              <a:rPr lang="en-US" altLang="zh-CN" sz="1200" b="0" i="0" kern="1200" dirty="0">
                <a:solidFill>
                  <a:schemeClr val="tx1"/>
                </a:solidFill>
                <a:effectLst/>
                <a:latin typeface="+mn-lt"/>
                <a:ea typeface="+mn-ea"/>
                <a:cs typeface="+mn-cs"/>
              </a:rPr>
              <a:t>1901</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12</a:t>
            </a:r>
            <a:r>
              <a:rPr lang="zh-CN" altLang="en-US" sz="1200" b="0" i="0" kern="1200" dirty="0">
                <a:solidFill>
                  <a:schemeClr val="tx1"/>
                </a:solidFill>
                <a:effectLst/>
                <a:latin typeface="+mn-lt"/>
                <a:ea typeface="+mn-ea"/>
                <a:cs typeface="+mn-cs"/>
              </a:rPr>
              <a:t>月</a:t>
            </a:r>
            <a:r>
              <a:rPr lang="en-US" altLang="zh-CN" sz="1200" b="0" i="0" kern="1200" dirty="0">
                <a:solidFill>
                  <a:schemeClr val="tx1"/>
                </a:solidFill>
                <a:effectLst/>
                <a:latin typeface="+mn-lt"/>
                <a:ea typeface="+mn-ea"/>
                <a:cs typeface="+mn-cs"/>
              </a:rPr>
              <a:t>10</a:t>
            </a:r>
            <a:r>
              <a:rPr lang="zh-CN" altLang="en-US" sz="1200" b="0" i="0" kern="1200" dirty="0">
                <a:solidFill>
                  <a:schemeClr val="tx1"/>
                </a:solidFill>
                <a:effectLst/>
                <a:latin typeface="+mn-lt"/>
                <a:ea typeface="+mn-ea"/>
                <a:cs typeface="+mn-cs"/>
              </a:rPr>
              <a:t>日颁发</a:t>
            </a:r>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4</a:t>
            </a:fld>
            <a:endParaRPr lang="zh-CN" altLang="en-US"/>
          </a:p>
        </p:txBody>
      </p:sp>
    </p:spTree>
    <p:extLst>
      <p:ext uri="{BB962C8B-B14F-4D97-AF65-F5344CB8AC3E}">
        <p14:creationId xmlns:p14="http://schemas.microsoft.com/office/powerpoint/2010/main" val="2746666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BF94922-854C-44B1-AD42-3245CD93F530}" type="slidenum">
              <a:rPr lang="zh-CN" altLang="en-US" smtClean="0"/>
              <a:t>12</a:t>
            </a:fld>
            <a:endParaRPr lang="zh-CN" altLang="en-US"/>
          </a:p>
        </p:txBody>
      </p:sp>
    </p:spTree>
    <p:extLst>
      <p:ext uri="{BB962C8B-B14F-4D97-AF65-F5344CB8AC3E}">
        <p14:creationId xmlns:p14="http://schemas.microsoft.com/office/powerpoint/2010/main" val="2787613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有更正</a:t>
            </a:r>
          </a:p>
        </p:txBody>
      </p:sp>
      <p:sp>
        <p:nvSpPr>
          <p:cNvPr id="4" name="灯片编号占位符 3"/>
          <p:cNvSpPr>
            <a:spLocks noGrp="1"/>
          </p:cNvSpPr>
          <p:nvPr>
            <p:ph type="sldNum" sz="quarter" idx="10"/>
          </p:nvPr>
        </p:nvSpPr>
        <p:spPr/>
        <p:txBody>
          <a:bodyPr/>
          <a:lstStyle/>
          <a:p>
            <a:fld id="{7F497359-BD37-41E1-AF95-71E7D52515AE}" type="slidenum">
              <a:rPr lang="zh-CN" altLang="en-US" smtClean="0"/>
              <a:t>25</a:t>
            </a:fld>
            <a:endParaRPr lang="zh-CN" altLang="en-US"/>
          </a:p>
        </p:txBody>
      </p:sp>
    </p:spTree>
    <p:extLst>
      <p:ext uri="{BB962C8B-B14F-4D97-AF65-F5344CB8AC3E}">
        <p14:creationId xmlns:p14="http://schemas.microsoft.com/office/powerpoint/2010/main" val="1313242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dirty="0"/>
              <a:t>Josiah Willard Gibbs, </a:t>
            </a:r>
            <a:r>
              <a:rPr lang="en-US" altLang="zh-CN" sz="1200" u="sng" kern="1200" dirty="0">
                <a:solidFill>
                  <a:schemeClr val="tx1"/>
                </a:solidFill>
                <a:effectLst/>
                <a:latin typeface="+mn-lt"/>
                <a:ea typeface="+mn-ea"/>
                <a:cs typeface="+mn-cs"/>
                <a:hlinkClick r:id="rId3"/>
              </a:rPr>
              <a:t>Yale College</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On his father's side, he was descended from </a:t>
            </a:r>
            <a:r>
              <a:rPr lang="en-US" altLang="zh-CN" sz="1200" b="0" i="0" u="none" strike="noStrike" kern="1200" dirty="0">
                <a:solidFill>
                  <a:schemeClr val="tx1"/>
                </a:solidFill>
                <a:effectLst/>
                <a:latin typeface="+mn-lt"/>
                <a:ea typeface="+mn-ea"/>
                <a:cs typeface="+mn-cs"/>
                <a:hlinkClick r:id="rId4" tooltip="Samuel Willard"/>
              </a:rPr>
              <a:t>Samuel Willard</a:t>
            </a:r>
            <a:r>
              <a:rPr lang="en-US" altLang="zh-CN" sz="1200" b="0" i="0" kern="1200" dirty="0">
                <a:solidFill>
                  <a:schemeClr val="tx1"/>
                </a:solidFill>
                <a:effectLst/>
                <a:latin typeface="+mn-lt"/>
                <a:ea typeface="+mn-ea"/>
                <a:cs typeface="+mn-cs"/>
              </a:rPr>
              <a:t>, who served as acting </a:t>
            </a:r>
            <a:r>
              <a:rPr lang="en-US" altLang="zh-CN" sz="1200" b="0" i="0" u="none" strike="noStrike" kern="1200" dirty="0">
                <a:solidFill>
                  <a:schemeClr val="tx1"/>
                </a:solidFill>
                <a:effectLst/>
                <a:latin typeface="+mn-lt"/>
                <a:ea typeface="+mn-ea"/>
                <a:cs typeface="+mn-cs"/>
                <a:hlinkClick r:id="rId5" tooltip="President of Harvard University"/>
              </a:rPr>
              <a:t>President of Harvard College</a:t>
            </a:r>
            <a:r>
              <a:rPr lang="en-US" altLang="zh-CN" sz="1200" b="0" i="0" kern="1200" dirty="0">
                <a:solidFill>
                  <a:schemeClr val="tx1"/>
                </a:solidFill>
                <a:effectLst/>
                <a:latin typeface="+mn-lt"/>
                <a:ea typeface="+mn-ea"/>
                <a:cs typeface="+mn-cs"/>
              </a:rPr>
              <a:t> from 1701 to 1707. On his mother's side, one of his ancestors was the Rev. </a:t>
            </a:r>
            <a:r>
              <a:rPr lang="en-US" altLang="zh-CN" sz="1200" b="0" i="0" u="none" strike="noStrike" kern="1200" dirty="0">
                <a:solidFill>
                  <a:schemeClr val="tx1"/>
                </a:solidFill>
                <a:effectLst/>
                <a:latin typeface="+mn-lt"/>
                <a:ea typeface="+mn-ea"/>
                <a:cs typeface="+mn-cs"/>
                <a:hlinkClick r:id="rId6" tooltip="Jonathan Dickinson (New Jersey)"/>
              </a:rPr>
              <a:t>Jonathan Dickinson</a:t>
            </a:r>
            <a:r>
              <a:rPr lang="en-US" altLang="zh-CN" sz="1200" b="0" i="0" kern="1200" dirty="0">
                <a:solidFill>
                  <a:schemeClr val="tx1"/>
                </a:solidFill>
                <a:effectLst/>
                <a:latin typeface="+mn-lt"/>
                <a:ea typeface="+mn-ea"/>
                <a:cs typeface="+mn-cs"/>
              </a:rPr>
              <a:t>, the first president of the College of New Jersey (later </a:t>
            </a:r>
            <a:r>
              <a:rPr lang="en-US" altLang="zh-CN" sz="1200" b="0" i="0" u="none" strike="noStrike" kern="1200" dirty="0">
                <a:solidFill>
                  <a:schemeClr val="tx1"/>
                </a:solidFill>
                <a:effectLst/>
                <a:latin typeface="+mn-lt"/>
                <a:ea typeface="+mn-ea"/>
                <a:cs typeface="+mn-cs"/>
                <a:hlinkClick r:id="rId7" tooltip="Princeton University"/>
              </a:rPr>
              <a:t>Princeton University</a:t>
            </a:r>
            <a:r>
              <a:rPr lang="en-US" altLang="zh-CN" sz="1200" b="0" i="0" kern="1200" dirty="0">
                <a:solidFill>
                  <a:schemeClr val="tx1"/>
                </a:solidFill>
                <a:effectLst/>
                <a:latin typeface="+mn-lt"/>
                <a:ea typeface="+mn-ea"/>
                <a:cs typeface="+mn-cs"/>
              </a:rPr>
              <a:t>)</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In 1863, </a:t>
            </a:r>
            <a:r>
              <a:rPr lang="en-US" altLang="zh-CN" sz="1200" b="0" i="0" u="none" strike="noStrike" kern="1200" dirty="0">
                <a:solidFill>
                  <a:schemeClr val="tx1"/>
                </a:solidFill>
                <a:effectLst/>
                <a:latin typeface="+mn-lt"/>
                <a:ea typeface="+mn-ea"/>
                <a:cs typeface="+mn-cs"/>
                <a:hlinkClick r:id="rId8" tooltip="Yale University"/>
              </a:rPr>
              <a:t>Yale</a:t>
            </a:r>
            <a:r>
              <a:rPr lang="en-US" altLang="zh-CN" sz="1200" b="0" i="0" kern="1200" dirty="0">
                <a:solidFill>
                  <a:schemeClr val="tx1"/>
                </a:solidFill>
                <a:effectLst/>
                <a:latin typeface="+mn-lt"/>
                <a:ea typeface="+mn-ea"/>
                <a:cs typeface="+mn-cs"/>
              </a:rPr>
              <a:t> awarded Gibbs the first American </a:t>
            </a:r>
            <a:r>
              <a:rPr lang="en-US" altLang="zh-CN" sz="1200" b="0" i="0" u="none" strike="noStrike" kern="1200" dirty="0">
                <a:solidFill>
                  <a:schemeClr val="tx1"/>
                </a:solidFill>
                <a:effectLst/>
                <a:latin typeface="+mn-lt"/>
                <a:ea typeface="+mn-ea"/>
                <a:cs typeface="+mn-cs"/>
                <a:hlinkClick r:id="rId9" tooltip="Doctor of Philosophy"/>
              </a:rPr>
              <a:t>doctorate</a:t>
            </a:r>
            <a:r>
              <a:rPr lang="en-US" altLang="zh-CN" sz="1200" b="0" i="0" kern="1200" dirty="0">
                <a:solidFill>
                  <a:schemeClr val="tx1"/>
                </a:solidFill>
                <a:effectLst/>
                <a:latin typeface="+mn-lt"/>
                <a:ea typeface="+mn-ea"/>
                <a:cs typeface="+mn-cs"/>
              </a:rPr>
              <a:t> in </a:t>
            </a:r>
            <a:r>
              <a:rPr lang="en-US" altLang="zh-CN" sz="1200" b="0" i="0" u="none" strike="noStrike" kern="1200" dirty="0">
                <a:solidFill>
                  <a:schemeClr val="tx1"/>
                </a:solidFill>
                <a:effectLst/>
                <a:latin typeface="+mn-lt"/>
                <a:ea typeface="+mn-ea"/>
                <a:cs typeface="+mn-cs"/>
                <a:hlinkClick r:id="rId10" tooltip="Engineering"/>
              </a:rPr>
              <a:t>engineering</a:t>
            </a:r>
            <a:r>
              <a:rPr lang="en-US" altLang="zh-CN" sz="1200" b="0" i="0" kern="1200" dirty="0">
                <a:solidFill>
                  <a:schemeClr val="tx1"/>
                </a:solidFill>
                <a:effectLst/>
                <a:latin typeface="+mn-lt"/>
                <a:ea typeface="+mn-ea"/>
                <a:cs typeface="+mn-cs"/>
              </a:rPr>
              <a:t>.</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dirty="0"/>
              <a:t>Hermann von Helmholtz: </a:t>
            </a:r>
            <a:r>
              <a:rPr lang="en-US" altLang="zh-CN" sz="1200" b="0" i="0" u="sng" kern="1200" dirty="0">
                <a:solidFill>
                  <a:schemeClr val="tx1"/>
                </a:solidFill>
                <a:effectLst/>
                <a:latin typeface="+mn-lt"/>
                <a:ea typeface="+mn-ea"/>
                <a:cs typeface="+mn-cs"/>
                <a:hlinkClick r:id="rId11"/>
              </a:rPr>
              <a:t>University of Berlin</a:t>
            </a:r>
            <a:r>
              <a:rPr lang="en-US" altLang="zh-CN" sz="1200" b="0" i="0" u="sng" kern="1200" dirty="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u="none" strike="noStrike" kern="1200" dirty="0">
                <a:solidFill>
                  <a:schemeClr val="tx1"/>
                </a:solidFill>
                <a:effectLst/>
                <a:latin typeface="+mn-lt"/>
                <a:ea typeface="+mn-ea"/>
                <a:cs typeface="+mn-cs"/>
                <a:hlinkClick r:id="rId12"/>
              </a:rPr>
              <a:t>PhD.:</a:t>
            </a:r>
            <a:r>
              <a:rPr lang="en-US" altLang="zh-CN" sz="1200" b="0" i="0" u="none" strike="noStrike" kern="1200" baseline="0" dirty="0">
                <a:solidFill>
                  <a:schemeClr val="tx1"/>
                </a:solidFill>
                <a:effectLst/>
                <a:latin typeface="+mn-lt"/>
                <a:ea typeface="+mn-ea"/>
                <a:cs typeface="+mn-cs"/>
                <a:hlinkClick r:id="rId12"/>
              </a:rPr>
              <a:t> </a:t>
            </a:r>
            <a:r>
              <a:rPr lang="en-US" altLang="zh-CN" sz="1200" b="0" i="0" u="none" strike="noStrike" kern="1200" dirty="0">
                <a:solidFill>
                  <a:schemeClr val="tx1"/>
                </a:solidFill>
                <a:effectLst/>
                <a:latin typeface="+mn-lt"/>
                <a:ea typeface="+mn-ea"/>
                <a:cs typeface="+mn-cs"/>
                <a:hlinkClick r:id="rId12"/>
              </a:rPr>
              <a:t>Max Planck</a:t>
            </a:r>
            <a:r>
              <a:rPr lang="en-US" altLang="zh-CN" sz="1200" b="0" i="0" u="none" strike="noStrike" kern="1200" dirty="0">
                <a:solidFill>
                  <a:schemeClr val="tx1"/>
                </a:solidFill>
                <a:effectLst/>
                <a:latin typeface="+mn-lt"/>
                <a:ea typeface="+mn-ea"/>
                <a:cs typeface="+mn-cs"/>
              </a:rPr>
              <a:t>; </a:t>
            </a:r>
            <a:r>
              <a:rPr lang="en-US" altLang="zh-CN" sz="1200" b="0" i="0" u="none" strike="noStrike" kern="1200" dirty="0">
                <a:solidFill>
                  <a:schemeClr val="tx1"/>
                </a:solidFill>
                <a:effectLst/>
                <a:latin typeface="+mn-lt"/>
                <a:ea typeface="+mn-ea"/>
                <a:cs typeface="+mn-cs"/>
                <a:hlinkClick r:id="rId13" tooltip="Heinrich Hertz"/>
              </a:rPr>
              <a:t>Heinrich Hertz</a:t>
            </a:r>
            <a:r>
              <a:rPr lang="en-US" altLang="zh-CN" sz="1200" b="0" i="0" u="none" strike="noStrike" kern="1200" dirty="0">
                <a:solidFill>
                  <a:schemeClr val="tx1"/>
                </a:solidFill>
                <a:effectLst/>
                <a:latin typeface="+mn-lt"/>
                <a:ea typeface="+mn-ea"/>
                <a:cs typeface="+mn-cs"/>
              </a:rPr>
              <a:t>;</a:t>
            </a:r>
            <a:r>
              <a:rPr lang="en-US" altLang="zh-CN" sz="1200" b="0" i="0" u="none" strike="noStrike" kern="1200" dirty="0">
                <a:solidFill>
                  <a:schemeClr val="tx1"/>
                </a:solidFill>
                <a:effectLst/>
                <a:latin typeface="+mn-lt"/>
                <a:ea typeface="+mn-ea"/>
                <a:cs typeface="+mn-cs"/>
                <a:hlinkClick r:id="rId14" tooltip="Friedrich Schottky"/>
              </a:rPr>
              <a:t> Friedrich </a:t>
            </a:r>
            <a:r>
              <a:rPr lang="en-US" altLang="zh-CN" sz="1200" b="0" i="0" u="none" strike="noStrike" kern="1200" dirty="0" err="1">
                <a:solidFill>
                  <a:schemeClr val="tx1"/>
                </a:solidFill>
                <a:effectLst/>
                <a:latin typeface="+mn-lt"/>
                <a:ea typeface="+mn-ea"/>
                <a:cs typeface="+mn-cs"/>
                <a:hlinkClick r:id="rId14" tooltip="Friedrich Schottky"/>
              </a:rPr>
              <a:t>Schottky</a:t>
            </a:r>
            <a:r>
              <a:rPr lang="en-US" altLang="zh-CN" sz="1200" b="0" i="0" u="none" strike="noStrike" kern="1200" dirty="0">
                <a:solidFill>
                  <a:schemeClr val="tx1"/>
                </a:solidFill>
                <a:effectLst/>
                <a:latin typeface="+mn-lt"/>
                <a:ea typeface="+mn-ea"/>
                <a:cs typeface="+mn-cs"/>
              </a:rPr>
              <a:t>;</a:t>
            </a:r>
            <a:r>
              <a:rPr lang="en-US" altLang="zh-CN" sz="1200" b="0" i="0" u="sng" kern="1200" dirty="0">
                <a:solidFill>
                  <a:schemeClr val="tx1"/>
                </a:solidFill>
                <a:effectLst/>
                <a:latin typeface="+mn-lt"/>
                <a:ea typeface="+mn-ea"/>
                <a:cs typeface="+mn-cs"/>
                <a:hlinkClick r:id="rId15"/>
              </a:rPr>
              <a:t> Arthur Gordon Webster</a:t>
            </a:r>
            <a:r>
              <a:rPr lang="en-US" altLang="zh-CN" sz="1200" b="0" i="0" u="sng" kern="1200" dirty="0">
                <a:solidFill>
                  <a:schemeClr val="tx1"/>
                </a:solidFill>
                <a:effectLst/>
                <a:latin typeface="+mn-lt"/>
                <a:ea typeface="+mn-ea"/>
                <a:cs typeface="+mn-cs"/>
              </a:rPr>
              <a:t>;</a:t>
            </a:r>
            <a:r>
              <a:rPr lang="en-US" altLang="zh-CN" sz="1200" b="0" i="0" u="sng" kern="1200" dirty="0">
                <a:solidFill>
                  <a:schemeClr val="tx1"/>
                </a:solidFill>
                <a:effectLst/>
                <a:latin typeface="+mn-lt"/>
                <a:ea typeface="+mn-ea"/>
                <a:cs typeface="+mn-cs"/>
                <a:hlinkClick r:id="rId11"/>
              </a:rPr>
              <a:t> </a:t>
            </a:r>
            <a:r>
              <a:rPr lang="en-US" altLang="zh-CN" sz="1200" b="0" i="0" kern="1200" dirty="0">
                <a:solidFill>
                  <a:schemeClr val="tx1"/>
                </a:solidFill>
                <a:effectLst/>
                <a:latin typeface="+mn-lt"/>
                <a:ea typeface="+mn-ea"/>
                <a:cs typeface="+mn-cs"/>
              </a:rPr>
              <a:t>Ludwig Boltzmann</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i="0" u="none" strike="noStrike" kern="1200" dirty="0">
                <a:solidFill>
                  <a:schemeClr val="tx1">
                    <a:lumMod val="65000"/>
                    <a:lumOff val="35000"/>
                  </a:schemeClr>
                </a:solidFill>
                <a:effectLst/>
                <a:latin typeface="+mn-lt"/>
                <a:ea typeface="+mn-ea"/>
                <a:cs typeface="+mn-cs"/>
                <a:hlinkClick r:id="rId14" tooltip="Friedrich Schottky"/>
              </a:rPr>
              <a:t>Friedrich </a:t>
            </a:r>
            <a:r>
              <a:rPr lang="en-US" altLang="zh-CN" sz="1200" b="1" i="0" u="none" strike="noStrike" kern="1200" dirty="0" err="1">
                <a:solidFill>
                  <a:schemeClr val="tx1">
                    <a:lumMod val="65000"/>
                    <a:lumOff val="35000"/>
                  </a:schemeClr>
                </a:solidFill>
                <a:effectLst/>
                <a:latin typeface="+mn-lt"/>
                <a:ea typeface="+mn-ea"/>
                <a:cs typeface="+mn-cs"/>
                <a:hlinkClick r:id="rId14" tooltip="Friedrich Schottky"/>
              </a:rPr>
              <a:t>Schottky</a:t>
            </a:r>
            <a:r>
              <a:rPr lang="en-US" altLang="zh-CN" sz="1200" b="1" i="0" u="none" strike="noStrike" kern="1200" dirty="0">
                <a:solidFill>
                  <a:schemeClr val="tx1">
                    <a:lumMod val="65000"/>
                    <a:lumOff val="35000"/>
                  </a:schemeClr>
                </a:solidFill>
                <a:effectLst/>
                <a:latin typeface="+mn-lt"/>
                <a:ea typeface="+mn-ea"/>
                <a:cs typeface="+mn-cs"/>
              </a:rPr>
              <a:t>:</a:t>
            </a:r>
            <a:endParaRPr lang="en-US" altLang="zh-CN" sz="1200" b="1" i="0" u="sng" kern="1200" dirty="0">
              <a:solidFill>
                <a:schemeClr val="tx1">
                  <a:lumMod val="65000"/>
                  <a:lumOff val="35000"/>
                </a:schemeClr>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effectLst/>
                <a:latin typeface="+mn-lt"/>
                <a:ea typeface="+mn-ea"/>
                <a:cs typeface="+mn-cs"/>
              </a:rPr>
              <a:t>He is also the father of </a:t>
            </a:r>
            <a:r>
              <a:rPr lang="en-US" altLang="zh-CN" sz="1200" b="0" i="0" u="none" strike="noStrike" kern="1200" dirty="0">
                <a:solidFill>
                  <a:schemeClr val="tx1"/>
                </a:solidFill>
                <a:effectLst/>
                <a:latin typeface="+mn-lt"/>
                <a:ea typeface="+mn-ea"/>
                <a:cs typeface="+mn-cs"/>
                <a:hlinkClick r:id="rId16" tooltip="Walter H. Schottky"/>
              </a:rPr>
              <a:t>Walter H. </a:t>
            </a:r>
            <a:r>
              <a:rPr lang="en-US" altLang="zh-CN" sz="1200" b="0" i="0" u="none" strike="noStrike" kern="1200" dirty="0" err="1">
                <a:solidFill>
                  <a:schemeClr val="tx1"/>
                </a:solidFill>
                <a:effectLst/>
                <a:latin typeface="+mn-lt"/>
                <a:ea typeface="+mn-ea"/>
                <a:cs typeface="+mn-cs"/>
                <a:hlinkClick r:id="rId16" tooltip="Walter H. Schottky"/>
              </a:rPr>
              <a:t>Schottky</a:t>
            </a:r>
            <a:r>
              <a:rPr lang="en-US" altLang="zh-CN" sz="1200" b="0" i="0" kern="1200" dirty="0">
                <a:solidFill>
                  <a:schemeClr val="tx1"/>
                </a:solidFill>
                <a:effectLst/>
                <a:latin typeface="+mn-lt"/>
                <a:ea typeface="+mn-ea"/>
                <a:cs typeface="+mn-cs"/>
              </a:rPr>
              <a:t>, the German </a:t>
            </a:r>
            <a:r>
              <a:rPr lang="en-US" altLang="zh-CN" sz="1200" b="0" i="0" u="none" strike="noStrike" kern="1200" dirty="0">
                <a:solidFill>
                  <a:schemeClr val="tx1"/>
                </a:solidFill>
                <a:effectLst/>
                <a:latin typeface="+mn-lt"/>
                <a:ea typeface="+mn-ea"/>
                <a:cs typeface="+mn-cs"/>
                <a:hlinkClick r:id="rId17" tooltip="Physicist"/>
              </a:rPr>
              <a:t>physicist</a:t>
            </a:r>
            <a:r>
              <a:rPr lang="en-US" altLang="zh-CN" sz="1200" b="0" i="0" kern="1200" dirty="0">
                <a:solidFill>
                  <a:schemeClr val="tx1"/>
                </a:solidFill>
                <a:effectLst/>
                <a:latin typeface="+mn-lt"/>
                <a:ea typeface="+mn-ea"/>
                <a:cs typeface="+mn-cs"/>
              </a:rPr>
              <a:t> and inventor of a variety of </a:t>
            </a:r>
            <a:r>
              <a:rPr lang="en-US" altLang="zh-CN" sz="1200" b="0" i="0" u="none" strike="noStrike" kern="1200" dirty="0">
                <a:solidFill>
                  <a:schemeClr val="tx1"/>
                </a:solidFill>
                <a:effectLst/>
                <a:latin typeface="+mn-lt"/>
                <a:ea typeface="+mn-ea"/>
                <a:cs typeface="+mn-cs"/>
                <a:hlinkClick r:id="rId18" tooltip="Semiconductor"/>
              </a:rPr>
              <a:t>semiconductor</a:t>
            </a:r>
            <a:r>
              <a:rPr lang="en-US" altLang="zh-CN" sz="1200" b="0" i="0" kern="1200" dirty="0">
                <a:solidFill>
                  <a:schemeClr val="tx1"/>
                </a:solidFill>
                <a:effectLst/>
                <a:latin typeface="+mn-lt"/>
                <a:ea typeface="+mn-ea"/>
                <a:cs typeface="+mn-cs"/>
              </a:rPr>
              <a:t> concepts.</a:t>
            </a:r>
            <a:endParaRPr lang="en-US" altLang="zh-CN" sz="1200" b="0" i="0" u="sng"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7F497359-BD37-41E1-AF95-71E7D52515AE}" type="slidenum">
              <a:rPr lang="zh-CN" altLang="en-US" smtClean="0"/>
              <a:t>46</a:t>
            </a:fld>
            <a:endParaRPr lang="zh-CN" altLang="en-US"/>
          </a:p>
        </p:txBody>
      </p:sp>
    </p:spTree>
    <p:extLst>
      <p:ext uri="{BB962C8B-B14F-4D97-AF65-F5344CB8AC3E}">
        <p14:creationId xmlns:p14="http://schemas.microsoft.com/office/powerpoint/2010/main" val="26094357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9">
            <a:extLst>
              <a:ext uri="{FF2B5EF4-FFF2-40B4-BE49-F238E27FC236}">
                <a16:creationId xmlns:a16="http://schemas.microsoft.com/office/drawing/2014/main" id="{AAD387B1-3103-410C-8A6F-61D494AEADD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1">
            <a:extLst>
              <a:ext uri="{FF2B5EF4-FFF2-40B4-BE49-F238E27FC236}">
                <a16:creationId xmlns:a16="http://schemas.microsoft.com/office/drawing/2014/main" id="{EF2F75DC-2FDE-4EE3-8E34-8BABCC7179F1}"/>
              </a:ext>
            </a:extLst>
          </p:cNvPr>
          <p:cNvGrpSpPr>
            <a:grpSpLocks/>
          </p:cNvGrpSpPr>
          <p:nvPr userDrawn="1"/>
        </p:nvGrpSpPr>
        <p:grpSpPr bwMode="auto">
          <a:xfrm>
            <a:off x="0" y="4741863"/>
            <a:ext cx="9043988" cy="142875"/>
            <a:chOff x="76199" y="1241003"/>
            <a:chExt cx="9044401" cy="144000"/>
          </a:xfrm>
        </p:grpSpPr>
        <p:sp>
          <p:nvSpPr>
            <p:cNvPr id="17" name="圆角矩形 11">
              <a:extLst>
                <a:ext uri="{FF2B5EF4-FFF2-40B4-BE49-F238E27FC236}">
                  <a16:creationId xmlns:a16="http://schemas.microsoft.com/office/drawing/2014/main" id="{367FAD37-4817-483B-B455-9B9EAAFE7BD8}"/>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8" name="圆角矩形 12">
              <a:extLst>
                <a:ext uri="{FF2B5EF4-FFF2-40B4-BE49-F238E27FC236}">
                  <a16:creationId xmlns:a16="http://schemas.microsoft.com/office/drawing/2014/main" id="{405E6F80-4ED3-42FA-B9E2-EC6BC04F1A02}"/>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9" name="圆角矩形 13">
              <a:extLst>
                <a:ext uri="{FF2B5EF4-FFF2-40B4-BE49-F238E27FC236}">
                  <a16:creationId xmlns:a16="http://schemas.microsoft.com/office/drawing/2014/main" id="{FFCB71A7-724E-4CF3-8659-D7FFA4994A95}"/>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20" name="图片 18">
            <a:extLst>
              <a:ext uri="{FF2B5EF4-FFF2-40B4-BE49-F238E27FC236}">
                <a16:creationId xmlns:a16="http://schemas.microsoft.com/office/drawing/2014/main" id="{B230B797-9AF8-41D8-B5AB-3C485238D843}"/>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图片 20">
            <a:extLst>
              <a:ext uri="{FF2B5EF4-FFF2-40B4-BE49-F238E27FC236}">
                <a16:creationId xmlns:a16="http://schemas.microsoft.com/office/drawing/2014/main" id="{32E52780-17F0-4F25-B262-66C011AE71D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图片 3">
            <a:extLst>
              <a:ext uri="{FF2B5EF4-FFF2-40B4-BE49-F238E27FC236}">
                <a16:creationId xmlns:a16="http://schemas.microsoft.com/office/drawing/2014/main" id="{A6617996-BF24-4585-AE38-DD4FEC22395F}"/>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1452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265398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E6473A-FAF4-414C-9522-3C4BCFE2B205}"/>
              </a:ext>
            </a:extLst>
          </p:cNvPr>
          <p:cNvSpPr>
            <a:spLocks noGrp="1"/>
          </p:cNvSpPr>
          <p:nvPr>
            <p:ph type="title"/>
          </p:nvPr>
        </p:nvSpPr>
        <p:spPr>
          <a:xfrm>
            <a:off x="1014116" y="3100647"/>
            <a:ext cx="7886700" cy="867940"/>
          </a:xfrm>
        </p:spPr>
        <p:txBody>
          <a:bodyPr anchor="b"/>
          <a:lstStyle>
            <a:lvl1pPr>
              <a:defRPr sz="4500">
                <a:latin typeface="Arial Unicode MS" pitchFamily="34" charset="-122"/>
                <a:ea typeface="Arial Unicode MS" pitchFamily="34" charset="-122"/>
                <a:cs typeface="Arial Unicode MS" pitchFamily="34" charset="-122"/>
              </a:defRPr>
            </a:lvl1pPr>
          </a:lstStyle>
          <a:p>
            <a:r>
              <a:rPr lang="zh-CN" altLang="en-US" dirty="0"/>
              <a:t>单击此处编辑母版标题样式</a:t>
            </a:r>
          </a:p>
        </p:txBody>
      </p:sp>
      <p:sp>
        <p:nvSpPr>
          <p:cNvPr id="7" name="圆角矩形 5">
            <a:extLst>
              <a:ext uri="{FF2B5EF4-FFF2-40B4-BE49-F238E27FC236}">
                <a16:creationId xmlns:a16="http://schemas.microsoft.com/office/drawing/2014/main" id="{3BD87344-C6CA-4F87-9448-0B8B7FAF9E1B}"/>
              </a:ext>
            </a:extLst>
          </p:cNvPr>
          <p:cNvSpPr/>
          <p:nvPr userDrawn="1"/>
        </p:nvSpPr>
        <p:spPr>
          <a:xfrm>
            <a:off x="0" y="4044001"/>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6">
            <a:extLst>
              <a:ext uri="{FF2B5EF4-FFF2-40B4-BE49-F238E27FC236}">
                <a16:creationId xmlns:a16="http://schemas.microsoft.com/office/drawing/2014/main" id="{6DA4B6E9-D6DC-4952-865A-DA8EE6DB8245}"/>
              </a:ext>
            </a:extLst>
          </p:cNvPr>
          <p:cNvSpPr/>
          <p:nvPr userDrawn="1"/>
        </p:nvSpPr>
        <p:spPr>
          <a:xfrm>
            <a:off x="1014116" y="4044001"/>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圆角矩形 7">
            <a:extLst>
              <a:ext uri="{FF2B5EF4-FFF2-40B4-BE49-F238E27FC236}">
                <a16:creationId xmlns:a16="http://schemas.microsoft.com/office/drawing/2014/main" id="{F7595CA0-CBC9-4927-B9FF-0B4BA5FB62ED}"/>
              </a:ext>
            </a:extLst>
          </p:cNvPr>
          <p:cNvSpPr/>
          <p:nvPr userDrawn="1"/>
        </p:nvSpPr>
        <p:spPr>
          <a:xfrm>
            <a:off x="4724400" y="4044001"/>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Tree>
    <p:extLst>
      <p:ext uri="{BB962C8B-B14F-4D97-AF65-F5344CB8AC3E}">
        <p14:creationId xmlns:p14="http://schemas.microsoft.com/office/powerpoint/2010/main" val="5101387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431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038873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232448-0BA2-40E5-A2C0-FE19F5B0EFC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C981BA7-2F47-4ADB-915A-3DEA803B6CA4}"/>
              </a:ext>
            </a:extLst>
          </p:cNvPr>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9AE45C7A-E3DB-493E-9698-B006439AB31B}"/>
              </a:ext>
            </a:extLst>
          </p:cNvPr>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CA42E52-6363-4A26-9F01-A62CE34E16AD}"/>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6" name="页脚占位符 5">
            <a:extLst>
              <a:ext uri="{FF2B5EF4-FFF2-40B4-BE49-F238E27FC236}">
                <a16:creationId xmlns:a16="http://schemas.microsoft.com/office/drawing/2014/main" id="{465B047E-2EC3-4418-B2C1-A69A897003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C945B0-B70D-4BF6-A6CF-ED8DAA8C8943}"/>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1869679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E450FD-26B7-480D-8261-CD4C51DD80D3}"/>
              </a:ext>
            </a:extLst>
          </p:cNvPr>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464C6F2-EDC6-4263-A281-7872A6E3CF6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a:extLst>
              <a:ext uri="{FF2B5EF4-FFF2-40B4-BE49-F238E27FC236}">
                <a16:creationId xmlns:a16="http://schemas.microsoft.com/office/drawing/2014/main" id="{5CD5D4B2-383D-449C-8900-FB1B3EB93CFF}"/>
              </a:ext>
            </a:extLst>
          </p:cNvPr>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7ABC02C-F6DC-4DAF-938D-195593E621D4}"/>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a:extLst>
              <a:ext uri="{FF2B5EF4-FFF2-40B4-BE49-F238E27FC236}">
                <a16:creationId xmlns:a16="http://schemas.microsoft.com/office/drawing/2014/main" id="{BA408A11-7060-4D85-B243-5DD965556665}"/>
              </a:ext>
            </a:extLst>
          </p:cNvPr>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DDFAAD3C-B42A-47A7-B768-611AFC7BEB6F}"/>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8" name="页脚占位符 7">
            <a:extLst>
              <a:ext uri="{FF2B5EF4-FFF2-40B4-BE49-F238E27FC236}">
                <a16:creationId xmlns:a16="http://schemas.microsoft.com/office/drawing/2014/main" id="{F1B5FF39-DD9B-4C57-A344-275219341F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7BEA18A-253C-40CA-A957-3BA37B7A19C7}"/>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3929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75BCCD-B3FE-4D64-9C90-CF64C82B18F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1C5B8F4-1CBB-4613-A7A2-350FF2B86D80}"/>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4" name="页脚占位符 3">
            <a:extLst>
              <a:ext uri="{FF2B5EF4-FFF2-40B4-BE49-F238E27FC236}">
                <a16:creationId xmlns:a16="http://schemas.microsoft.com/office/drawing/2014/main" id="{D7B22DBA-ADB6-459C-8DDD-B1702C76D8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D426E1B-8DFB-40A0-B0EA-1E9256D1BC7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136122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189721-9F85-4C93-AF25-890CD11FA42C}"/>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3" name="页脚占位符 2">
            <a:extLst>
              <a:ext uri="{FF2B5EF4-FFF2-40B4-BE49-F238E27FC236}">
                <a16:creationId xmlns:a16="http://schemas.microsoft.com/office/drawing/2014/main" id="{BE57016C-A313-4228-8D34-FC5C12BCC33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0EAED29-461C-427E-94B8-4F64E97E0564}"/>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80851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0F51D1-5EA7-4401-99BA-1EC037C4942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a:extLst>
              <a:ext uri="{FF2B5EF4-FFF2-40B4-BE49-F238E27FC236}">
                <a16:creationId xmlns:a16="http://schemas.microsoft.com/office/drawing/2014/main" id="{74CF08B5-D317-4883-94CE-FAEEE05A6E6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486986A2-D743-430F-AA70-9B06B2C0F66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18817CAD-5352-4EAF-B2E4-2B49B31E3EDC}"/>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6" name="页脚占位符 5">
            <a:extLst>
              <a:ext uri="{FF2B5EF4-FFF2-40B4-BE49-F238E27FC236}">
                <a16:creationId xmlns:a16="http://schemas.microsoft.com/office/drawing/2014/main" id="{71068CC4-251C-4854-9963-7DDB0C8959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B0C261-FF00-4B26-B51E-6D72F060403F}"/>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2254414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CCB7F6-3B15-4872-B555-7F1565B905D1}"/>
              </a:ext>
            </a:extLst>
          </p:cNvPr>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a:extLst>
              <a:ext uri="{FF2B5EF4-FFF2-40B4-BE49-F238E27FC236}">
                <a16:creationId xmlns:a16="http://schemas.microsoft.com/office/drawing/2014/main" id="{CBFA923F-001E-4E54-AE2E-D70CAC715EB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a:extLst>
              <a:ext uri="{FF2B5EF4-FFF2-40B4-BE49-F238E27FC236}">
                <a16:creationId xmlns:a16="http://schemas.microsoft.com/office/drawing/2014/main" id="{F8120E55-EACB-4D2C-973C-7AE05E56251A}"/>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4">
            <a:extLst>
              <a:ext uri="{FF2B5EF4-FFF2-40B4-BE49-F238E27FC236}">
                <a16:creationId xmlns:a16="http://schemas.microsoft.com/office/drawing/2014/main" id="{7C155047-D836-41BF-B4EC-6E058AC14225}"/>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6" name="页脚占位符 5">
            <a:extLst>
              <a:ext uri="{FF2B5EF4-FFF2-40B4-BE49-F238E27FC236}">
                <a16:creationId xmlns:a16="http://schemas.microsoft.com/office/drawing/2014/main" id="{ABEDD3A4-3A50-440F-A891-A798B3A6C1D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17A6A10-432E-4945-AF1E-64FDF90A2601}"/>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044899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16CF1-CD97-4DBA-A96F-F883552B4FB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399B747-8D5C-4895-A7EC-E7332E48E29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87135EC-C807-4A0E-90F1-EE1D3601DEEA}"/>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5" name="页脚占位符 4">
            <a:extLst>
              <a:ext uri="{FF2B5EF4-FFF2-40B4-BE49-F238E27FC236}">
                <a16:creationId xmlns:a16="http://schemas.microsoft.com/office/drawing/2014/main" id="{FAD0FB47-2483-4992-8D35-B58CEC00DF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555DE4-AE2F-40B7-AF19-7220940C1185}"/>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4132220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0F266B-DA68-452A-BFC2-0DBF1351710D}"/>
              </a:ext>
            </a:extLst>
          </p:cNvPr>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DC26948-9D79-4503-B7E8-FB720785EE46}"/>
              </a:ext>
            </a:extLst>
          </p:cNvPr>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6763795-09C4-4CE3-967D-39D8EED2D346}"/>
              </a:ext>
            </a:extLst>
          </p:cNvPr>
          <p:cNvSpPr>
            <a:spLocks noGrp="1"/>
          </p:cNvSpPr>
          <p:nvPr>
            <p:ph type="dt" sz="half" idx="10"/>
          </p:nvPr>
        </p:nvSpPr>
        <p:spPr/>
        <p:txBody>
          <a:bodyPr/>
          <a:lstStyle/>
          <a:p>
            <a:fld id="{B9B1AB40-DF97-4AB0-B63B-B6C2904246EB}" type="datetimeFigureOut">
              <a:rPr lang="zh-CN" altLang="en-US" smtClean="0"/>
              <a:t>2022/10/16</a:t>
            </a:fld>
            <a:endParaRPr lang="zh-CN" altLang="en-US"/>
          </a:p>
        </p:txBody>
      </p:sp>
      <p:sp>
        <p:nvSpPr>
          <p:cNvPr id="5" name="页脚占位符 4">
            <a:extLst>
              <a:ext uri="{FF2B5EF4-FFF2-40B4-BE49-F238E27FC236}">
                <a16:creationId xmlns:a16="http://schemas.microsoft.com/office/drawing/2014/main" id="{D292961E-4D31-4C00-8456-DA422BEC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04869D-578E-442B-AC17-5E714BDBD47B}"/>
              </a:ext>
            </a:extLst>
          </p:cNvPr>
          <p:cNvSpPr>
            <a:spLocks noGrp="1"/>
          </p:cNvSpPr>
          <p:nvPr>
            <p:ph type="sldNum" sz="quarter" idx="12"/>
          </p:nvPr>
        </p:nvSpPr>
        <p:spPr/>
        <p:txBody>
          <a:body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789998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7" name="图片 9">
            <a:extLst>
              <a:ext uri="{FF2B5EF4-FFF2-40B4-BE49-F238E27FC236}">
                <a16:creationId xmlns:a16="http://schemas.microsoft.com/office/drawing/2014/main" id="{36484A2C-39A1-4BDC-B92B-AF52D58B0F5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6363" y="5035550"/>
            <a:ext cx="1143000"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组合 11">
            <a:extLst>
              <a:ext uri="{FF2B5EF4-FFF2-40B4-BE49-F238E27FC236}">
                <a16:creationId xmlns:a16="http://schemas.microsoft.com/office/drawing/2014/main" id="{56818F0A-1B6A-44A9-9717-55DA1C8C1ED4}"/>
              </a:ext>
            </a:extLst>
          </p:cNvPr>
          <p:cNvGrpSpPr>
            <a:grpSpLocks/>
          </p:cNvGrpSpPr>
          <p:nvPr userDrawn="1"/>
        </p:nvGrpSpPr>
        <p:grpSpPr bwMode="auto">
          <a:xfrm>
            <a:off x="0" y="4741863"/>
            <a:ext cx="9043988" cy="142875"/>
            <a:chOff x="76199" y="1241003"/>
            <a:chExt cx="9044401" cy="144000"/>
          </a:xfrm>
        </p:grpSpPr>
        <p:sp>
          <p:nvSpPr>
            <p:cNvPr id="9" name="圆角矩形 11">
              <a:extLst>
                <a:ext uri="{FF2B5EF4-FFF2-40B4-BE49-F238E27FC236}">
                  <a16:creationId xmlns:a16="http://schemas.microsoft.com/office/drawing/2014/main" id="{2658448A-EA7B-40C8-99E5-5CDD7E4A2B5E}"/>
                </a:ext>
              </a:extLst>
            </p:cNvPr>
            <p:cNvSpPr/>
            <p:nvPr/>
          </p:nvSpPr>
          <p:spPr>
            <a:xfrm>
              <a:off x="76199" y="1241003"/>
              <a:ext cx="1487556"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2">
              <a:extLst>
                <a:ext uri="{FF2B5EF4-FFF2-40B4-BE49-F238E27FC236}">
                  <a16:creationId xmlns:a16="http://schemas.microsoft.com/office/drawing/2014/main" id="{0F1BA9DE-48A6-4320-A3CB-CA0618F88CA6}"/>
                </a:ext>
              </a:extLst>
            </p:cNvPr>
            <p:cNvSpPr/>
            <p:nvPr/>
          </p:nvSpPr>
          <p:spPr>
            <a:xfrm>
              <a:off x="1630433" y="1241003"/>
              <a:ext cx="3103704"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1" name="圆角矩形 13">
              <a:extLst>
                <a:ext uri="{FF2B5EF4-FFF2-40B4-BE49-F238E27FC236}">
                  <a16:creationId xmlns:a16="http://schemas.microsoft.com/office/drawing/2014/main" id="{95532181-9B56-4565-85B0-26FAE243974A}"/>
                </a:ext>
              </a:extLst>
            </p:cNvPr>
            <p:cNvSpPr/>
            <p:nvPr/>
          </p:nvSpPr>
          <p:spPr>
            <a:xfrm>
              <a:off x="4800815" y="1241003"/>
              <a:ext cx="4319785"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2" name="图片 18">
            <a:extLst>
              <a:ext uri="{FF2B5EF4-FFF2-40B4-BE49-F238E27FC236}">
                <a16:creationId xmlns:a16="http://schemas.microsoft.com/office/drawing/2014/main" id="{C6EF10A3-5E14-4AC4-BEC5-788C4A6ABF70}"/>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724400" y="5035550"/>
            <a:ext cx="4313238"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0">
            <a:extLst>
              <a:ext uri="{FF2B5EF4-FFF2-40B4-BE49-F238E27FC236}">
                <a16:creationId xmlns:a16="http://schemas.microsoft.com/office/drawing/2014/main" id="{E5368EC2-A439-426F-9848-8912DFFAC14E}"/>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584325" y="5035550"/>
            <a:ext cx="3019425" cy="1436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
            <a:extLst>
              <a:ext uri="{FF2B5EF4-FFF2-40B4-BE49-F238E27FC236}">
                <a16:creationId xmlns:a16="http://schemas.microsoft.com/office/drawing/2014/main" id="{DB79EDD7-2DA9-41B8-BF25-43496C709607}"/>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2172" t="5525" r="8671" b="8884"/>
          <a:stretch/>
        </p:blipFill>
        <p:spPr bwMode="auto">
          <a:xfrm>
            <a:off x="106362" y="56707"/>
            <a:ext cx="4366401" cy="1013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2119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047594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10/16/2022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3342645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8B20F97-D093-4167-88EF-C188D3B8DC0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4B78C6B4-EDBC-4C7B-80E2-2A36D8872A6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1AB1772D-D631-4D4E-BF62-42EF4690EB9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9B1AB40-DF97-4AB0-B63B-B6C2904246EB}" type="datetimeFigureOut">
              <a:rPr lang="zh-CN" altLang="en-US" smtClean="0"/>
              <a:t>2022/10/16</a:t>
            </a:fld>
            <a:endParaRPr lang="zh-CN" altLang="en-US"/>
          </a:p>
        </p:txBody>
      </p:sp>
      <p:sp>
        <p:nvSpPr>
          <p:cNvPr id="5" name="页脚占位符 4">
            <a:extLst>
              <a:ext uri="{FF2B5EF4-FFF2-40B4-BE49-F238E27FC236}">
                <a16:creationId xmlns:a16="http://schemas.microsoft.com/office/drawing/2014/main" id="{33AFB56B-864D-497D-8AE9-5E092905F79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832445E-5DFA-480A-96AF-CCD8859EA90F}"/>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CF7FCF2-ED42-42D8-A15C-15AF5C91DC59}" type="slidenum">
              <a:rPr lang="zh-CN" altLang="en-US" smtClean="0"/>
              <a:t>‹#›</a:t>
            </a:fld>
            <a:endParaRPr lang="zh-CN" altLang="en-US"/>
          </a:p>
        </p:txBody>
      </p:sp>
    </p:spTree>
    <p:extLst>
      <p:ext uri="{BB962C8B-B14F-4D97-AF65-F5344CB8AC3E}">
        <p14:creationId xmlns:p14="http://schemas.microsoft.com/office/powerpoint/2010/main" val="3682342105"/>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58" r:id="rId4"/>
    <p:sldLayoutId id="2147483759" r:id="rId5"/>
    <p:sldLayoutId id="2147483749" r:id="rId6"/>
    <p:sldLayoutId id="2147483750" r:id="rId7"/>
    <p:sldLayoutId id="2147483751" r:id="rId8"/>
    <p:sldLayoutId id="2147483752" r:id="rId9"/>
    <p:sldLayoutId id="2147483753" r:id="rId10"/>
    <p:sldLayoutId id="2147483754" r:id="rId11"/>
    <p:sldLayoutId id="2147483755" r:id="rId12"/>
    <p:sldLayoutId id="2147483756" r:id="rId13"/>
    <p:sldLayoutId id="2147483733" r:id="rId14"/>
    <p:sldLayoutId id="2147483734" r:id="rId15"/>
    <p:sldLayoutId id="2147483757"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hyperlink" Target="https://en.wikipedia.org/wiki/Jonathan_Dickinson_(New_Jersey)" TargetMode="External"/><Relationship Id="rId3" Type="http://schemas.openxmlformats.org/officeDocument/2006/relationships/hyperlink" Target="https://en.wikipedia.org/wiki/Yale_University" TargetMode="External"/><Relationship Id="rId7" Type="http://schemas.openxmlformats.org/officeDocument/2006/relationships/hyperlink" Target="https://en.wikipedia.org/wiki/President_of_Harvard_University" TargetMode="External"/><Relationship Id="rId2" Type="http://schemas.openxmlformats.org/officeDocument/2006/relationships/image" Target="../media/image15.png"/><Relationship Id="rId1" Type="http://schemas.openxmlformats.org/officeDocument/2006/relationships/slideLayout" Target="../slideLayouts/slideLayout4.xml"/><Relationship Id="rId6" Type="http://schemas.openxmlformats.org/officeDocument/2006/relationships/hyperlink" Target="https://en.wikipedia.org/wiki/Samuel_Willard" TargetMode="External"/><Relationship Id="rId5" Type="http://schemas.openxmlformats.org/officeDocument/2006/relationships/hyperlink" Target="https://en.wikipedia.org/wiki/Engineering" TargetMode="External"/><Relationship Id="rId4" Type="http://schemas.openxmlformats.org/officeDocument/2006/relationships/hyperlink" Target="https://en.wikipedia.org/wiki/Doctor_of_Philosophy" TargetMode="External"/><Relationship Id="rId9" Type="http://schemas.openxmlformats.org/officeDocument/2006/relationships/hyperlink" Target="https://en.wikipedia.org/wiki/Princeton_University"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4.xml"/><Relationship Id="rId5" Type="http://schemas.openxmlformats.org/officeDocument/2006/relationships/image" Target="../media/image23.w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3.bin"/><Relationship Id="rId1" Type="http://schemas.openxmlformats.org/officeDocument/2006/relationships/slideLayout" Target="../slideLayouts/slideLayout4.xml"/><Relationship Id="rId5" Type="http://schemas.openxmlformats.org/officeDocument/2006/relationships/image" Target="../media/image23.w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8.bin"/><Relationship Id="rId13" Type="http://schemas.openxmlformats.org/officeDocument/2006/relationships/image" Target="../media/image29.wmf"/><Relationship Id="rId3" Type="http://schemas.openxmlformats.org/officeDocument/2006/relationships/image" Target="../media/image24.wmf"/><Relationship Id="rId7" Type="http://schemas.openxmlformats.org/officeDocument/2006/relationships/image" Target="../media/image26.wmf"/><Relationship Id="rId12" Type="http://schemas.openxmlformats.org/officeDocument/2006/relationships/oleObject" Target="../embeddings/oleObject10.bin"/><Relationship Id="rId17" Type="http://schemas.openxmlformats.org/officeDocument/2006/relationships/image" Target="../media/image31.wmf"/><Relationship Id="rId2" Type="http://schemas.openxmlformats.org/officeDocument/2006/relationships/oleObject" Target="../embeddings/oleObject5.bin"/><Relationship Id="rId16" Type="http://schemas.openxmlformats.org/officeDocument/2006/relationships/oleObject" Target="../embeddings/oleObject12.bin"/><Relationship Id="rId1" Type="http://schemas.openxmlformats.org/officeDocument/2006/relationships/slideLayout" Target="../slideLayouts/slideLayout4.xml"/><Relationship Id="rId6" Type="http://schemas.openxmlformats.org/officeDocument/2006/relationships/oleObject" Target="../embeddings/oleObject7.bin"/><Relationship Id="rId11" Type="http://schemas.openxmlformats.org/officeDocument/2006/relationships/image" Target="../media/image28.wmf"/><Relationship Id="rId5" Type="http://schemas.openxmlformats.org/officeDocument/2006/relationships/image" Target="../media/image25.wmf"/><Relationship Id="rId15" Type="http://schemas.openxmlformats.org/officeDocument/2006/relationships/image" Target="../media/image30.w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27.wmf"/><Relationship Id="rId1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xml"/><Relationship Id="rId5" Type="http://schemas.openxmlformats.org/officeDocument/2006/relationships/image" Target="../media/image34.wmf"/><Relationship Id="rId4" Type="http://schemas.openxmlformats.org/officeDocument/2006/relationships/oleObject" Target="../embeddings/oleObject13.bin"/></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8.wmf"/><Relationship Id="rId2" Type="http://schemas.openxmlformats.org/officeDocument/2006/relationships/image" Target="../media/image35.png"/><Relationship Id="rId1" Type="http://schemas.openxmlformats.org/officeDocument/2006/relationships/slideLayout" Target="../slideLayouts/slideLayout4.xml"/><Relationship Id="rId6" Type="http://schemas.openxmlformats.org/officeDocument/2006/relationships/oleObject" Target="../embeddings/oleObject15.bin"/><Relationship Id="rId5" Type="http://schemas.openxmlformats.org/officeDocument/2006/relationships/image" Target="../media/image37.wmf"/><Relationship Id="rId4"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44.wmf"/><Relationship Id="rId18" Type="http://schemas.openxmlformats.org/officeDocument/2006/relationships/oleObject" Target="../embeddings/oleObject24.bin"/><Relationship Id="rId3" Type="http://schemas.openxmlformats.org/officeDocument/2006/relationships/image" Target="../media/image39.wmf"/><Relationship Id="rId21" Type="http://schemas.openxmlformats.org/officeDocument/2006/relationships/image" Target="../media/image48.wmf"/><Relationship Id="rId7" Type="http://schemas.openxmlformats.org/officeDocument/2006/relationships/image" Target="../media/image41.wmf"/><Relationship Id="rId12" Type="http://schemas.openxmlformats.org/officeDocument/2006/relationships/oleObject" Target="../embeddings/oleObject21.bin"/><Relationship Id="rId17" Type="http://schemas.openxmlformats.org/officeDocument/2006/relationships/image" Target="../media/image46.wmf"/><Relationship Id="rId2" Type="http://schemas.openxmlformats.org/officeDocument/2006/relationships/oleObject" Target="../embeddings/oleObject16.bin"/><Relationship Id="rId16" Type="http://schemas.openxmlformats.org/officeDocument/2006/relationships/oleObject" Target="../embeddings/oleObject23.bin"/><Relationship Id="rId20" Type="http://schemas.openxmlformats.org/officeDocument/2006/relationships/oleObject" Target="../embeddings/oleObject25.bin"/><Relationship Id="rId1" Type="http://schemas.openxmlformats.org/officeDocument/2006/relationships/slideLayout" Target="../slideLayouts/slideLayout4.xml"/><Relationship Id="rId6" Type="http://schemas.openxmlformats.org/officeDocument/2006/relationships/oleObject" Target="../embeddings/oleObject18.bin"/><Relationship Id="rId11" Type="http://schemas.openxmlformats.org/officeDocument/2006/relationships/image" Target="../media/image43.wmf"/><Relationship Id="rId5" Type="http://schemas.openxmlformats.org/officeDocument/2006/relationships/image" Target="../media/image40.wmf"/><Relationship Id="rId15" Type="http://schemas.openxmlformats.org/officeDocument/2006/relationships/image" Target="../media/image45.wmf"/><Relationship Id="rId10" Type="http://schemas.openxmlformats.org/officeDocument/2006/relationships/oleObject" Target="../embeddings/oleObject20.bin"/><Relationship Id="rId19" Type="http://schemas.openxmlformats.org/officeDocument/2006/relationships/image" Target="../media/image47.wmf"/><Relationship Id="rId4" Type="http://schemas.openxmlformats.org/officeDocument/2006/relationships/oleObject" Target="../embeddings/oleObject17.bin"/><Relationship Id="rId9" Type="http://schemas.openxmlformats.org/officeDocument/2006/relationships/image" Target="../media/image42.wmf"/><Relationship Id="rId14" Type="http://schemas.openxmlformats.org/officeDocument/2006/relationships/oleObject" Target="../embeddings/oleObject22.bin"/></Relationships>
</file>

<file path=ppt/slides/_rels/slide11.xml.rels><?xml version="1.0" encoding="UTF-8" standalone="yes"?>
<Relationships xmlns="http://schemas.openxmlformats.org/package/2006/relationships"><Relationship Id="rId3" Type="http://schemas.openxmlformats.org/officeDocument/2006/relationships/image" Target="../media/image49.wmf"/><Relationship Id="rId7" Type="http://schemas.openxmlformats.org/officeDocument/2006/relationships/image" Target="../media/image51.wmf"/><Relationship Id="rId2" Type="http://schemas.openxmlformats.org/officeDocument/2006/relationships/oleObject" Target="../embeddings/oleObject26.bin"/><Relationship Id="rId1" Type="http://schemas.openxmlformats.org/officeDocument/2006/relationships/slideLayout" Target="../slideLayouts/slideLayout4.xml"/><Relationship Id="rId6" Type="http://schemas.openxmlformats.org/officeDocument/2006/relationships/oleObject" Target="../embeddings/oleObject28.bin"/><Relationship Id="rId5" Type="http://schemas.openxmlformats.org/officeDocument/2006/relationships/image" Target="../media/image50.wmf"/><Relationship Id="rId4" Type="http://schemas.openxmlformats.org/officeDocument/2006/relationships/oleObject" Target="../embeddings/oleObject27.bin"/></Relationships>
</file>

<file path=ppt/slides/_rels/slide12.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3.wmf"/><Relationship Id="rId11" Type="http://schemas.openxmlformats.org/officeDocument/2006/relationships/image" Target="../media/image55.wmf"/><Relationship Id="rId5" Type="http://schemas.openxmlformats.org/officeDocument/2006/relationships/oleObject" Target="../embeddings/oleObject30.bin"/><Relationship Id="rId10" Type="http://schemas.openxmlformats.org/officeDocument/2006/relationships/oleObject" Target="../embeddings/oleObject33.bin"/><Relationship Id="rId4" Type="http://schemas.openxmlformats.org/officeDocument/2006/relationships/image" Target="../media/image52.wmf"/><Relationship Id="rId9" Type="http://schemas.openxmlformats.org/officeDocument/2006/relationships/oleObject" Target="../embeddings/oleObject32.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oleObject" Target="../embeddings/oleObject40.bin"/><Relationship Id="rId18" Type="http://schemas.openxmlformats.org/officeDocument/2006/relationships/image" Target="../media/image62.wmf"/><Relationship Id="rId3" Type="http://schemas.openxmlformats.org/officeDocument/2006/relationships/image" Target="../media/image52.wmf"/><Relationship Id="rId21" Type="http://schemas.openxmlformats.org/officeDocument/2006/relationships/image" Target="../media/image63.wmf"/><Relationship Id="rId7" Type="http://schemas.openxmlformats.org/officeDocument/2006/relationships/image" Target="../media/image57.wmf"/><Relationship Id="rId12" Type="http://schemas.openxmlformats.org/officeDocument/2006/relationships/image" Target="../media/image59.wmf"/><Relationship Id="rId17" Type="http://schemas.openxmlformats.org/officeDocument/2006/relationships/oleObject" Target="../embeddings/oleObject42.bin"/><Relationship Id="rId2" Type="http://schemas.openxmlformats.org/officeDocument/2006/relationships/oleObject" Target="../embeddings/oleObject34.bin"/><Relationship Id="rId16" Type="http://schemas.openxmlformats.org/officeDocument/2006/relationships/image" Target="../media/image61.wmf"/><Relationship Id="rId20" Type="http://schemas.openxmlformats.org/officeDocument/2006/relationships/oleObject" Target="../embeddings/oleObject44.bin"/><Relationship Id="rId1" Type="http://schemas.openxmlformats.org/officeDocument/2006/relationships/slideLayout" Target="../slideLayouts/slideLayout4.xml"/><Relationship Id="rId6" Type="http://schemas.openxmlformats.org/officeDocument/2006/relationships/oleObject" Target="../embeddings/oleObject36.bin"/><Relationship Id="rId11" Type="http://schemas.openxmlformats.org/officeDocument/2006/relationships/oleObject" Target="../embeddings/oleObject39.bin"/><Relationship Id="rId5" Type="http://schemas.openxmlformats.org/officeDocument/2006/relationships/image" Target="../media/image56.wmf"/><Relationship Id="rId15" Type="http://schemas.openxmlformats.org/officeDocument/2006/relationships/oleObject" Target="../embeddings/oleObject41.bin"/><Relationship Id="rId23" Type="http://schemas.openxmlformats.org/officeDocument/2006/relationships/image" Target="../media/image64.wmf"/><Relationship Id="rId10" Type="http://schemas.openxmlformats.org/officeDocument/2006/relationships/oleObject" Target="../embeddings/oleObject38.bin"/><Relationship Id="rId19" Type="http://schemas.openxmlformats.org/officeDocument/2006/relationships/oleObject" Target="../embeddings/oleObject43.bin"/><Relationship Id="rId4" Type="http://schemas.openxmlformats.org/officeDocument/2006/relationships/oleObject" Target="../embeddings/oleObject35.bin"/><Relationship Id="rId9" Type="http://schemas.openxmlformats.org/officeDocument/2006/relationships/image" Target="../media/image58.wmf"/><Relationship Id="rId14" Type="http://schemas.openxmlformats.org/officeDocument/2006/relationships/image" Target="../media/image60.wmf"/><Relationship Id="rId22" Type="http://schemas.openxmlformats.org/officeDocument/2006/relationships/oleObject" Target="../embeddings/oleObject45.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image" Target="../media/image65.wmf"/><Relationship Id="rId7" Type="http://schemas.openxmlformats.org/officeDocument/2006/relationships/image" Target="../media/image67.wmf"/><Relationship Id="rId12" Type="http://schemas.openxmlformats.org/officeDocument/2006/relationships/image" Target="../media/image70.png"/><Relationship Id="rId2" Type="http://schemas.openxmlformats.org/officeDocument/2006/relationships/oleObject" Target="../embeddings/oleObject46.bin"/><Relationship Id="rId1" Type="http://schemas.openxmlformats.org/officeDocument/2006/relationships/slideLayout" Target="../slideLayouts/slideLayout4.xml"/><Relationship Id="rId6" Type="http://schemas.openxmlformats.org/officeDocument/2006/relationships/oleObject" Target="../embeddings/oleObject48.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50.bin"/><Relationship Id="rId4" Type="http://schemas.openxmlformats.org/officeDocument/2006/relationships/oleObject" Target="../embeddings/oleObject47.bin"/><Relationship Id="rId9" Type="http://schemas.openxmlformats.org/officeDocument/2006/relationships/image" Target="../media/image68.wmf"/></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74.wmf"/><Relationship Id="rId3" Type="http://schemas.openxmlformats.org/officeDocument/2006/relationships/image" Target="../media/image71.wmf"/><Relationship Id="rId7" Type="http://schemas.openxmlformats.org/officeDocument/2006/relationships/image" Target="../media/image72.wmf"/><Relationship Id="rId12" Type="http://schemas.openxmlformats.org/officeDocument/2006/relationships/oleObject" Target="../embeddings/oleObject56.bin"/><Relationship Id="rId2" Type="http://schemas.openxmlformats.org/officeDocument/2006/relationships/oleObject" Target="../embeddings/oleObject51.bin"/><Relationship Id="rId1" Type="http://schemas.openxmlformats.org/officeDocument/2006/relationships/slideLayout" Target="../slideLayouts/slideLayout4.xml"/><Relationship Id="rId6" Type="http://schemas.openxmlformats.org/officeDocument/2006/relationships/oleObject" Target="../embeddings/oleObject53.bin"/><Relationship Id="rId11" Type="http://schemas.openxmlformats.org/officeDocument/2006/relationships/image" Target="../media/image68.wmf"/><Relationship Id="rId5" Type="http://schemas.openxmlformats.org/officeDocument/2006/relationships/image" Target="../media/image65.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73.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image" Target="../media/image65.wmf"/><Relationship Id="rId7" Type="http://schemas.openxmlformats.org/officeDocument/2006/relationships/image" Target="../media/image76.wmf"/><Relationship Id="rId2" Type="http://schemas.openxmlformats.org/officeDocument/2006/relationships/oleObject" Target="../embeddings/oleObject57.bin"/><Relationship Id="rId1" Type="http://schemas.openxmlformats.org/officeDocument/2006/relationships/slideLayout" Target="../slideLayouts/slideLayout4.xml"/><Relationship Id="rId6" Type="http://schemas.openxmlformats.org/officeDocument/2006/relationships/oleObject" Target="../embeddings/oleObject59.bin"/><Relationship Id="rId5" Type="http://schemas.openxmlformats.org/officeDocument/2006/relationships/image" Target="../media/image75.wmf"/><Relationship Id="rId10" Type="http://schemas.openxmlformats.org/officeDocument/2006/relationships/image" Target="../media/image78.png"/><Relationship Id="rId4" Type="http://schemas.openxmlformats.org/officeDocument/2006/relationships/oleObject" Target="../embeddings/oleObject58.bin"/><Relationship Id="rId9" Type="http://schemas.openxmlformats.org/officeDocument/2006/relationships/image" Target="../media/image77.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64.bin"/><Relationship Id="rId3" Type="http://schemas.openxmlformats.org/officeDocument/2006/relationships/image" Target="../media/image77.wmf"/><Relationship Id="rId7" Type="http://schemas.openxmlformats.org/officeDocument/2006/relationships/image" Target="../media/image65.wmf"/><Relationship Id="rId2" Type="http://schemas.openxmlformats.org/officeDocument/2006/relationships/oleObject" Target="../embeddings/oleObject61.bin"/><Relationship Id="rId1" Type="http://schemas.openxmlformats.org/officeDocument/2006/relationships/slideLayout" Target="../slideLayouts/slideLayout4.xml"/><Relationship Id="rId6" Type="http://schemas.openxmlformats.org/officeDocument/2006/relationships/oleObject" Target="../embeddings/oleObject63.bin"/><Relationship Id="rId5" Type="http://schemas.openxmlformats.org/officeDocument/2006/relationships/image" Target="../media/image76.wmf"/><Relationship Id="rId4" Type="http://schemas.openxmlformats.org/officeDocument/2006/relationships/oleObject" Target="../embeddings/oleObject62.bin"/><Relationship Id="rId9" Type="http://schemas.openxmlformats.org/officeDocument/2006/relationships/image" Target="../media/image79.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image" Target="../media/image82.png"/><Relationship Id="rId1" Type="http://schemas.openxmlformats.org/officeDocument/2006/relationships/slideLayout" Target="../slideLayouts/slideLayout4.xml"/><Relationship Id="rId6" Type="http://schemas.openxmlformats.org/officeDocument/2006/relationships/image" Target="../media/image84.wmf"/><Relationship Id="rId5" Type="http://schemas.openxmlformats.org/officeDocument/2006/relationships/oleObject" Target="../embeddings/oleObject66.bin"/><Relationship Id="rId4" Type="http://schemas.openxmlformats.org/officeDocument/2006/relationships/image" Target="../media/image83.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0.bin"/><Relationship Id="rId13" Type="http://schemas.openxmlformats.org/officeDocument/2006/relationships/image" Target="../media/image90.wmf"/><Relationship Id="rId3" Type="http://schemas.openxmlformats.org/officeDocument/2006/relationships/image" Target="../media/image85.wmf"/><Relationship Id="rId7" Type="http://schemas.openxmlformats.org/officeDocument/2006/relationships/image" Target="../media/image87.wmf"/><Relationship Id="rId12" Type="http://schemas.openxmlformats.org/officeDocument/2006/relationships/oleObject" Target="../embeddings/oleObject72.bin"/><Relationship Id="rId2" Type="http://schemas.openxmlformats.org/officeDocument/2006/relationships/oleObject" Target="../embeddings/oleObject67.bin"/><Relationship Id="rId1" Type="http://schemas.openxmlformats.org/officeDocument/2006/relationships/slideLayout" Target="../slideLayouts/slideLayout4.xml"/><Relationship Id="rId6" Type="http://schemas.openxmlformats.org/officeDocument/2006/relationships/oleObject" Target="../embeddings/oleObject69.bin"/><Relationship Id="rId11" Type="http://schemas.openxmlformats.org/officeDocument/2006/relationships/image" Target="../media/image89.wmf"/><Relationship Id="rId5" Type="http://schemas.openxmlformats.org/officeDocument/2006/relationships/image" Target="../media/image86.wmf"/><Relationship Id="rId10" Type="http://schemas.openxmlformats.org/officeDocument/2006/relationships/oleObject" Target="../embeddings/oleObject71.bin"/><Relationship Id="rId4" Type="http://schemas.openxmlformats.org/officeDocument/2006/relationships/oleObject" Target="../embeddings/oleObject68.bin"/><Relationship Id="rId9" Type="http://schemas.openxmlformats.org/officeDocument/2006/relationships/image" Target="../media/image88.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image" Target="../media/image91.png"/><Relationship Id="rId1" Type="http://schemas.openxmlformats.org/officeDocument/2006/relationships/slideLayout" Target="../slideLayouts/slideLayout4.xml"/><Relationship Id="rId6" Type="http://schemas.openxmlformats.org/officeDocument/2006/relationships/image" Target="../media/image93.wmf"/><Relationship Id="rId5" Type="http://schemas.openxmlformats.org/officeDocument/2006/relationships/oleObject" Target="../embeddings/oleObject74.bin"/><Relationship Id="rId4" Type="http://schemas.openxmlformats.org/officeDocument/2006/relationships/image" Target="../media/image92.wmf"/></Relationships>
</file>

<file path=ppt/slides/_rels/slide24.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4.wmf"/><Relationship Id="rId7" Type="http://schemas.openxmlformats.org/officeDocument/2006/relationships/image" Target="../media/image96.wmf"/><Relationship Id="rId2" Type="http://schemas.openxmlformats.org/officeDocument/2006/relationships/oleObject" Target="../embeddings/oleObject75.bin"/><Relationship Id="rId1" Type="http://schemas.openxmlformats.org/officeDocument/2006/relationships/slideLayout" Target="../slideLayouts/slideLayout4.xml"/><Relationship Id="rId6" Type="http://schemas.openxmlformats.org/officeDocument/2006/relationships/oleObject" Target="../embeddings/oleObject77.bin"/><Relationship Id="rId11" Type="http://schemas.openxmlformats.org/officeDocument/2006/relationships/image" Target="../media/image100.png"/><Relationship Id="rId5" Type="http://schemas.openxmlformats.org/officeDocument/2006/relationships/image" Target="../media/image95.wmf"/><Relationship Id="rId10" Type="http://schemas.openxmlformats.org/officeDocument/2006/relationships/image" Target="../media/image99.png"/><Relationship Id="rId4" Type="http://schemas.openxmlformats.org/officeDocument/2006/relationships/oleObject" Target="../embeddings/oleObject76.bin"/><Relationship Id="rId9" Type="http://schemas.openxmlformats.org/officeDocument/2006/relationships/image" Target="../media/image98.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80.bin"/><Relationship Id="rId13" Type="http://schemas.openxmlformats.org/officeDocument/2006/relationships/image" Target="../media/image106.wmf"/><Relationship Id="rId3" Type="http://schemas.openxmlformats.org/officeDocument/2006/relationships/image" Target="../media/image101.png"/><Relationship Id="rId7" Type="http://schemas.openxmlformats.org/officeDocument/2006/relationships/image" Target="../media/image103.wmf"/><Relationship Id="rId12" Type="http://schemas.openxmlformats.org/officeDocument/2006/relationships/oleObject" Target="../embeddings/oleObject82.bin"/><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oleObject" Target="../embeddings/oleObject79.bin"/><Relationship Id="rId11" Type="http://schemas.openxmlformats.org/officeDocument/2006/relationships/image" Target="../media/image105.wmf"/><Relationship Id="rId5" Type="http://schemas.openxmlformats.org/officeDocument/2006/relationships/image" Target="../media/image102.w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104.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112.wmf"/><Relationship Id="rId3" Type="http://schemas.openxmlformats.org/officeDocument/2006/relationships/oleObject" Target="../embeddings/oleObject83.bin"/><Relationship Id="rId7" Type="http://schemas.openxmlformats.org/officeDocument/2006/relationships/image" Target="../media/image110.png"/><Relationship Id="rId12" Type="http://schemas.openxmlformats.org/officeDocument/2006/relationships/oleObject" Target="../embeddings/oleObject87.bin"/><Relationship Id="rId2" Type="http://schemas.openxmlformats.org/officeDocument/2006/relationships/image" Target="../media/image107.png"/><Relationship Id="rId1" Type="http://schemas.openxmlformats.org/officeDocument/2006/relationships/slideLayout" Target="../slideLayouts/slideLayout4.xml"/><Relationship Id="rId6" Type="http://schemas.openxmlformats.org/officeDocument/2006/relationships/image" Target="../media/image109.wmf"/><Relationship Id="rId11" Type="http://schemas.openxmlformats.org/officeDocument/2006/relationships/image" Target="../media/image104.wmf"/><Relationship Id="rId5" Type="http://schemas.openxmlformats.org/officeDocument/2006/relationships/oleObject" Target="../embeddings/oleObject84.bin"/><Relationship Id="rId10" Type="http://schemas.openxmlformats.org/officeDocument/2006/relationships/oleObject" Target="../embeddings/oleObject86.bin"/><Relationship Id="rId4" Type="http://schemas.openxmlformats.org/officeDocument/2006/relationships/image" Target="../media/image108.wmf"/><Relationship Id="rId9" Type="http://schemas.openxmlformats.org/officeDocument/2006/relationships/image" Target="../media/image111.wmf"/></Relationships>
</file>

<file path=ppt/slides/_rels/slide27.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4.xml"/><Relationship Id="rId5" Type="http://schemas.openxmlformats.org/officeDocument/2006/relationships/image" Target="../media/image111.wmf"/><Relationship Id="rId4" Type="http://schemas.openxmlformats.org/officeDocument/2006/relationships/oleObject" Target="../embeddings/oleObject88.bin"/></Relationships>
</file>

<file path=ppt/slides/_rels/slide28.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oleObject" Target="../embeddings/oleObject89.bin"/><Relationship Id="rId1" Type="http://schemas.openxmlformats.org/officeDocument/2006/relationships/slideLayout" Target="../slideLayouts/slideLayout4.xml"/><Relationship Id="rId5" Type="http://schemas.openxmlformats.org/officeDocument/2006/relationships/image" Target="../media/image116.png"/><Relationship Id="rId4" Type="http://schemas.openxmlformats.org/officeDocument/2006/relationships/image" Target="../media/image115.png"/></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92.bin"/><Relationship Id="rId13" Type="http://schemas.openxmlformats.org/officeDocument/2006/relationships/image" Target="../media/image121.wmf"/><Relationship Id="rId3" Type="http://schemas.openxmlformats.org/officeDocument/2006/relationships/image" Target="../media/image117.wmf"/><Relationship Id="rId7" Type="http://schemas.openxmlformats.org/officeDocument/2006/relationships/image" Target="../media/image118.wmf"/><Relationship Id="rId12" Type="http://schemas.openxmlformats.org/officeDocument/2006/relationships/oleObject" Target="../embeddings/oleObject94.bin"/><Relationship Id="rId2" Type="http://schemas.openxmlformats.org/officeDocument/2006/relationships/oleObject" Target="../embeddings/oleObject90.bin"/><Relationship Id="rId16" Type="http://schemas.openxmlformats.org/officeDocument/2006/relationships/oleObject" Target="../embeddings/oleObject96.bin"/><Relationship Id="rId1" Type="http://schemas.openxmlformats.org/officeDocument/2006/relationships/slideLayout" Target="../slideLayouts/slideLayout4.xml"/><Relationship Id="rId6" Type="http://schemas.openxmlformats.org/officeDocument/2006/relationships/oleObject" Target="../embeddings/oleObject91.bin"/><Relationship Id="rId11" Type="http://schemas.openxmlformats.org/officeDocument/2006/relationships/image" Target="../media/image120.wmf"/><Relationship Id="rId5" Type="http://schemas.openxmlformats.org/officeDocument/2006/relationships/image" Target="../media/image92.wmf"/><Relationship Id="rId15" Type="http://schemas.openxmlformats.org/officeDocument/2006/relationships/image" Target="../media/image122.wmf"/><Relationship Id="rId10" Type="http://schemas.openxmlformats.org/officeDocument/2006/relationships/oleObject" Target="../embeddings/oleObject93.bin"/><Relationship Id="rId4" Type="http://schemas.openxmlformats.org/officeDocument/2006/relationships/oleObject" Target="../embeddings/oleObject73.bin"/><Relationship Id="rId9" Type="http://schemas.openxmlformats.org/officeDocument/2006/relationships/image" Target="../media/image119.wmf"/><Relationship Id="rId14" Type="http://schemas.openxmlformats.org/officeDocument/2006/relationships/oleObject" Target="../embeddings/oleObject95.bin"/></Relationships>
</file>

<file path=ppt/slides/_rels/slide30.x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oleObject" Target="../embeddings/oleObject97.bin"/><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01.bin"/><Relationship Id="rId13" Type="http://schemas.openxmlformats.org/officeDocument/2006/relationships/image" Target="../media/image127.wmf"/><Relationship Id="rId18" Type="http://schemas.openxmlformats.org/officeDocument/2006/relationships/oleObject" Target="../embeddings/oleObject106.bin"/><Relationship Id="rId3" Type="http://schemas.openxmlformats.org/officeDocument/2006/relationships/image" Target="../media/image117.wmf"/><Relationship Id="rId21" Type="http://schemas.openxmlformats.org/officeDocument/2006/relationships/image" Target="../media/image131.wmf"/><Relationship Id="rId7" Type="http://schemas.openxmlformats.org/officeDocument/2006/relationships/image" Target="../media/image125.wmf"/><Relationship Id="rId12" Type="http://schemas.openxmlformats.org/officeDocument/2006/relationships/oleObject" Target="../embeddings/oleObject103.bin"/><Relationship Id="rId17" Type="http://schemas.openxmlformats.org/officeDocument/2006/relationships/image" Target="../media/image129.wmf"/><Relationship Id="rId2" Type="http://schemas.openxmlformats.org/officeDocument/2006/relationships/oleObject" Target="../embeddings/oleObject98.bin"/><Relationship Id="rId16" Type="http://schemas.openxmlformats.org/officeDocument/2006/relationships/oleObject" Target="../embeddings/oleObject105.bin"/><Relationship Id="rId20" Type="http://schemas.openxmlformats.org/officeDocument/2006/relationships/oleObject" Target="../embeddings/oleObject107.bin"/><Relationship Id="rId1" Type="http://schemas.openxmlformats.org/officeDocument/2006/relationships/slideLayout" Target="../slideLayouts/slideLayout4.xml"/><Relationship Id="rId6" Type="http://schemas.openxmlformats.org/officeDocument/2006/relationships/oleObject" Target="../embeddings/oleObject100.bin"/><Relationship Id="rId11" Type="http://schemas.openxmlformats.org/officeDocument/2006/relationships/image" Target="../media/image126.wmf"/><Relationship Id="rId5" Type="http://schemas.openxmlformats.org/officeDocument/2006/relationships/image" Target="../media/image124.wmf"/><Relationship Id="rId15" Type="http://schemas.openxmlformats.org/officeDocument/2006/relationships/image" Target="../media/image128.wmf"/><Relationship Id="rId23" Type="http://schemas.openxmlformats.org/officeDocument/2006/relationships/image" Target="../media/image132.wmf"/><Relationship Id="rId10" Type="http://schemas.openxmlformats.org/officeDocument/2006/relationships/oleObject" Target="../embeddings/oleObject102.bin"/><Relationship Id="rId19" Type="http://schemas.openxmlformats.org/officeDocument/2006/relationships/image" Target="../media/image130.wmf"/><Relationship Id="rId4" Type="http://schemas.openxmlformats.org/officeDocument/2006/relationships/oleObject" Target="../embeddings/oleObject99.bin"/><Relationship Id="rId9" Type="http://schemas.openxmlformats.org/officeDocument/2006/relationships/image" Target="../media/image123.wmf"/><Relationship Id="rId14" Type="http://schemas.openxmlformats.org/officeDocument/2006/relationships/oleObject" Target="../embeddings/oleObject104.bin"/><Relationship Id="rId22" Type="http://schemas.openxmlformats.org/officeDocument/2006/relationships/oleObject" Target="../embeddings/oleObject108.bin"/></Relationships>
</file>

<file path=ppt/slides/_rels/slide32.xml.rels><?xml version="1.0" encoding="UTF-8" standalone="yes"?>
<Relationships xmlns="http://schemas.openxmlformats.org/package/2006/relationships"><Relationship Id="rId3" Type="http://schemas.openxmlformats.org/officeDocument/2006/relationships/image" Target="../media/image133.wmf"/><Relationship Id="rId7" Type="http://schemas.openxmlformats.org/officeDocument/2006/relationships/image" Target="../media/image135.wmf"/><Relationship Id="rId2" Type="http://schemas.openxmlformats.org/officeDocument/2006/relationships/oleObject" Target="../embeddings/oleObject109.bin"/><Relationship Id="rId1" Type="http://schemas.openxmlformats.org/officeDocument/2006/relationships/slideLayout" Target="../slideLayouts/slideLayout4.xml"/><Relationship Id="rId6" Type="http://schemas.openxmlformats.org/officeDocument/2006/relationships/oleObject" Target="../embeddings/oleObject111.bin"/><Relationship Id="rId5" Type="http://schemas.openxmlformats.org/officeDocument/2006/relationships/image" Target="../media/image134.wmf"/><Relationship Id="rId4" Type="http://schemas.openxmlformats.org/officeDocument/2006/relationships/oleObject" Target="../embeddings/oleObject110.bin"/></Relationships>
</file>

<file path=ppt/slides/_rels/slide33.xml.rels><?xml version="1.0" encoding="UTF-8" standalone="yes"?>
<Relationships xmlns="http://schemas.openxmlformats.org/package/2006/relationships"><Relationship Id="rId3" Type="http://schemas.openxmlformats.org/officeDocument/2006/relationships/image" Target="../media/image136.wmf"/><Relationship Id="rId7" Type="http://schemas.openxmlformats.org/officeDocument/2006/relationships/image" Target="../media/image138.wmf"/><Relationship Id="rId2" Type="http://schemas.openxmlformats.org/officeDocument/2006/relationships/oleObject" Target="../embeddings/oleObject112.bin"/><Relationship Id="rId1" Type="http://schemas.openxmlformats.org/officeDocument/2006/relationships/slideLayout" Target="../slideLayouts/slideLayout4.xml"/><Relationship Id="rId6" Type="http://schemas.openxmlformats.org/officeDocument/2006/relationships/oleObject" Target="../embeddings/oleObject114.bin"/><Relationship Id="rId5" Type="http://schemas.openxmlformats.org/officeDocument/2006/relationships/image" Target="../media/image137.wmf"/><Relationship Id="rId4" Type="http://schemas.openxmlformats.org/officeDocument/2006/relationships/oleObject" Target="../embeddings/oleObject113.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118.bin"/><Relationship Id="rId13" Type="http://schemas.openxmlformats.org/officeDocument/2006/relationships/image" Target="../media/image144.wmf"/><Relationship Id="rId3" Type="http://schemas.openxmlformats.org/officeDocument/2006/relationships/image" Target="../media/image139.wmf"/><Relationship Id="rId7" Type="http://schemas.openxmlformats.org/officeDocument/2006/relationships/image" Target="../media/image141.wmf"/><Relationship Id="rId12" Type="http://schemas.openxmlformats.org/officeDocument/2006/relationships/oleObject" Target="../embeddings/oleObject120.bin"/><Relationship Id="rId2" Type="http://schemas.openxmlformats.org/officeDocument/2006/relationships/oleObject" Target="../embeddings/oleObject115.bin"/><Relationship Id="rId1" Type="http://schemas.openxmlformats.org/officeDocument/2006/relationships/slideLayout" Target="../slideLayouts/slideLayout4.xml"/><Relationship Id="rId6" Type="http://schemas.openxmlformats.org/officeDocument/2006/relationships/oleObject" Target="../embeddings/oleObject117.bin"/><Relationship Id="rId11" Type="http://schemas.openxmlformats.org/officeDocument/2006/relationships/image" Target="../media/image143.wmf"/><Relationship Id="rId5" Type="http://schemas.openxmlformats.org/officeDocument/2006/relationships/image" Target="../media/image140.wmf"/><Relationship Id="rId10" Type="http://schemas.openxmlformats.org/officeDocument/2006/relationships/oleObject" Target="../embeddings/oleObject119.bin"/><Relationship Id="rId4" Type="http://schemas.openxmlformats.org/officeDocument/2006/relationships/oleObject" Target="../embeddings/oleObject116.bin"/><Relationship Id="rId9" Type="http://schemas.openxmlformats.org/officeDocument/2006/relationships/image" Target="../media/image142.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image" Target="../media/image150.wmf"/><Relationship Id="rId18" Type="http://schemas.openxmlformats.org/officeDocument/2006/relationships/oleObject" Target="../embeddings/oleObject129.bin"/><Relationship Id="rId3" Type="http://schemas.openxmlformats.org/officeDocument/2006/relationships/image" Target="../media/image145.wmf"/><Relationship Id="rId21" Type="http://schemas.openxmlformats.org/officeDocument/2006/relationships/image" Target="../media/image154.wmf"/><Relationship Id="rId7" Type="http://schemas.openxmlformats.org/officeDocument/2006/relationships/image" Target="../media/image147.wmf"/><Relationship Id="rId12" Type="http://schemas.openxmlformats.org/officeDocument/2006/relationships/oleObject" Target="../embeddings/oleObject126.bin"/><Relationship Id="rId17" Type="http://schemas.openxmlformats.org/officeDocument/2006/relationships/image" Target="../media/image152.wmf"/><Relationship Id="rId2" Type="http://schemas.openxmlformats.org/officeDocument/2006/relationships/oleObject" Target="../embeddings/oleObject121.bin"/><Relationship Id="rId16" Type="http://schemas.openxmlformats.org/officeDocument/2006/relationships/oleObject" Target="../embeddings/oleObject128.bin"/><Relationship Id="rId20" Type="http://schemas.openxmlformats.org/officeDocument/2006/relationships/oleObject" Target="../embeddings/oleObject130.bin"/><Relationship Id="rId1" Type="http://schemas.openxmlformats.org/officeDocument/2006/relationships/slideLayout" Target="../slideLayouts/slideLayout4.xml"/><Relationship Id="rId6" Type="http://schemas.openxmlformats.org/officeDocument/2006/relationships/oleObject" Target="../embeddings/oleObject123.bin"/><Relationship Id="rId11" Type="http://schemas.openxmlformats.org/officeDocument/2006/relationships/image" Target="../media/image149.wmf"/><Relationship Id="rId5" Type="http://schemas.openxmlformats.org/officeDocument/2006/relationships/image" Target="../media/image146.wmf"/><Relationship Id="rId15" Type="http://schemas.openxmlformats.org/officeDocument/2006/relationships/image" Target="../media/image151.wmf"/><Relationship Id="rId10" Type="http://schemas.openxmlformats.org/officeDocument/2006/relationships/oleObject" Target="../embeddings/oleObject125.bin"/><Relationship Id="rId19" Type="http://schemas.openxmlformats.org/officeDocument/2006/relationships/image" Target="../media/image153.wmf"/><Relationship Id="rId4" Type="http://schemas.openxmlformats.org/officeDocument/2006/relationships/oleObject" Target="../embeddings/oleObject122.bin"/><Relationship Id="rId9" Type="http://schemas.openxmlformats.org/officeDocument/2006/relationships/image" Target="../media/image148.wmf"/><Relationship Id="rId14" Type="http://schemas.openxmlformats.org/officeDocument/2006/relationships/oleObject" Target="../embeddings/oleObject127.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image" Target="../media/image160.wmf"/><Relationship Id="rId3" Type="http://schemas.openxmlformats.org/officeDocument/2006/relationships/image" Target="../media/image155.wmf"/><Relationship Id="rId7" Type="http://schemas.openxmlformats.org/officeDocument/2006/relationships/image" Target="../media/image157.wmf"/><Relationship Id="rId12" Type="http://schemas.openxmlformats.org/officeDocument/2006/relationships/oleObject" Target="../embeddings/oleObject136.bin"/><Relationship Id="rId2" Type="http://schemas.openxmlformats.org/officeDocument/2006/relationships/oleObject" Target="../embeddings/oleObject131.bin"/><Relationship Id="rId1" Type="http://schemas.openxmlformats.org/officeDocument/2006/relationships/slideLayout" Target="../slideLayouts/slideLayout4.xml"/><Relationship Id="rId6" Type="http://schemas.openxmlformats.org/officeDocument/2006/relationships/oleObject" Target="../embeddings/oleObject133.bin"/><Relationship Id="rId11" Type="http://schemas.openxmlformats.org/officeDocument/2006/relationships/image" Target="../media/image159.wmf"/><Relationship Id="rId5" Type="http://schemas.openxmlformats.org/officeDocument/2006/relationships/image" Target="../media/image156.wmf"/><Relationship Id="rId10" Type="http://schemas.openxmlformats.org/officeDocument/2006/relationships/oleObject" Target="../embeddings/oleObject135.bin"/><Relationship Id="rId4" Type="http://schemas.openxmlformats.org/officeDocument/2006/relationships/oleObject" Target="../embeddings/oleObject132.bin"/><Relationship Id="rId9" Type="http://schemas.openxmlformats.org/officeDocument/2006/relationships/image" Target="../media/image158.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image" Target="../media/image161.png"/><Relationship Id="rId1" Type="http://schemas.openxmlformats.org/officeDocument/2006/relationships/slideLayout" Target="../slideLayouts/slideLayout4.xml"/><Relationship Id="rId4" Type="http://schemas.openxmlformats.org/officeDocument/2006/relationships/image" Target="../media/image162.wmf"/></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41.bin"/><Relationship Id="rId13" Type="http://schemas.openxmlformats.org/officeDocument/2006/relationships/image" Target="../media/image168.wmf"/><Relationship Id="rId18" Type="http://schemas.openxmlformats.org/officeDocument/2006/relationships/oleObject" Target="../embeddings/oleObject146.bin"/><Relationship Id="rId3" Type="http://schemas.openxmlformats.org/officeDocument/2006/relationships/image" Target="../media/image163.wmf"/><Relationship Id="rId7" Type="http://schemas.openxmlformats.org/officeDocument/2006/relationships/image" Target="../media/image165.wmf"/><Relationship Id="rId12" Type="http://schemas.openxmlformats.org/officeDocument/2006/relationships/oleObject" Target="../embeddings/oleObject143.bin"/><Relationship Id="rId17" Type="http://schemas.openxmlformats.org/officeDocument/2006/relationships/image" Target="../media/image170.wmf"/><Relationship Id="rId2" Type="http://schemas.openxmlformats.org/officeDocument/2006/relationships/oleObject" Target="../embeddings/oleObject138.bin"/><Relationship Id="rId16" Type="http://schemas.openxmlformats.org/officeDocument/2006/relationships/oleObject" Target="../embeddings/oleObject145.bin"/><Relationship Id="rId1" Type="http://schemas.openxmlformats.org/officeDocument/2006/relationships/slideLayout" Target="../slideLayouts/slideLayout4.xml"/><Relationship Id="rId6" Type="http://schemas.openxmlformats.org/officeDocument/2006/relationships/oleObject" Target="../embeddings/oleObject140.bin"/><Relationship Id="rId11" Type="http://schemas.openxmlformats.org/officeDocument/2006/relationships/image" Target="../media/image167.wmf"/><Relationship Id="rId5" Type="http://schemas.openxmlformats.org/officeDocument/2006/relationships/image" Target="../media/image164.wmf"/><Relationship Id="rId15" Type="http://schemas.openxmlformats.org/officeDocument/2006/relationships/image" Target="../media/image169.wmf"/><Relationship Id="rId10" Type="http://schemas.openxmlformats.org/officeDocument/2006/relationships/oleObject" Target="../embeddings/oleObject142.bin"/><Relationship Id="rId19" Type="http://schemas.openxmlformats.org/officeDocument/2006/relationships/image" Target="../media/image171.wmf"/><Relationship Id="rId4" Type="http://schemas.openxmlformats.org/officeDocument/2006/relationships/oleObject" Target="../embeddings/oleObject139.bin"/><Relationship Id="rId9" Type="http://schemas.openxmlformats.org/officeDocument/2006/relationships/image" Target="../media/image166.wmf"/><Relationship Id="rId14" Type="http://schemas.openxmlformats.org/officeDocument/2006/relationships/oleObject" Target="../embeddings/oleObject144.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50.bin"/><Relationship Id="rId13" Type="http://schemas.openxmlformats.org/officeDocument/2006/relationships/image" Target="../media/image176.wmf"/><Relationship Id="rId3" Type="http://schemas.openxmlformats.org/officeDocument/2006/relationships/image" Target="../media/image172.wmf"/><Relationship Id="rId7" Type="http://schemas.openxmlformats.org/officeDocument/2006/relationships/image" Target="../media/image173.wmf"/><Relationship Id="rId12" Type="http://schemas.openxmlformats.org/officeDocument/2006/relationships/oleObject" Target="../embeddings/oleObject152.bin"/><Relationship Id="rId2" Type="http://schemas.openxmlformats.org/officeDocument/2006/relationships/oleObject" Target="../embeddings/oleObject147.bin"/><Relationship Id="rId1" Type="http://schemas.openxmlformats.org/officeDocument/2006/relationships/slideLayout" Target="../slideLayouts/slideLayout4.xml"/><Relationship Id="rId6" Type="http://schemas.openxmlformats.org/officeDocument/2006/relationships/oleObject" Target="../embeddings/oleObject149.bin"/><Relationship Id="rId11" Type="http://schemas.openxmlformats.org/officeDocument/2006/relationships/image" Target="../media/image175.wmf"/><Relationship Id="rId5" Type="http://schemas.openxmlformats.org/officeDocument/2006/relationships/image" Target="../media/image166.wmf"/><Relationship Id="rId15" Type="http://schemas.openxmlformats.org/officeDocument/2006/relationships/image" Target="../media/image177.wmf"/><Relationship Id="rId10" Type="http://schemas.openxmlformats.org/officeDocument/2006/relationships/oleObject" Target="../embeddings/oleObject151.bin"/><Relationship Id="rId4" Type="http://schemas.openxmlformats.org/officeDocument/2006/relationships/oleObject" Target="../embeddings/oleObject148.bin"/><Relationship Id="rId9" Type="http://schemas.openxmlformats.org/officeDocument/2006/relationships/image" Target="../media/image174.wmf"/><Relationship Id="rId14" Type="http://schemas.openxmlformats.org/officeDocument/2006/relationships/oleObject" Target="../embeddings/oleObject153.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57.bin"/><Relationship Id="rId13" Type="http://schemas.openxmlformats.org/officeDocument/2006/relationships/image" Target="../media/image171.wmf"/><Relationship Id="rId3" Type="http://schemas.openxmlformats.org/officeDocument/2006/relationships/image" Target="../media/image178.wmf"/><Relationship Id="rId7" Type="http://schemas.openxmlformats.org/officeDocument/2006/relationships/image" Target="../media/image180.wmf"/><Relationship Id="rId12" Type="http://schemas.openxmlformats.org/officeDocument/2006/relationships/oleObject" Target="../embeddings/oleObject159.bin"/><Relationship Id="rId2" Type="http://schemas.openxmlformats.org/officeDocument/2006/relationships/oleObject" Target="../embeddings/oleObject154.bin"/><Relationship Id="rId1" Type="http://schemas.openxmlformats.org/officeDocument/2006/relationships/slideLayout" Target="../slideLayouts/slideLayout4.xml"/><Relationship Id="rId6" Type="http://schemas.openxmlformats.org/officeDocument/2006/relationships/oleObject" Target="../embeddings/oleObject156.bin"/><Relationship Id="rId11" Type="http://schemas.openxmlformats.org/officeDocument/2006/relationships/image" Target="../media/image182.wmf"/><Relationship Id="rId5" Type="http://schemas.openxmlformats.org/officeDocument/2006/relationships/image" Target="../media/image179.wmf"/><Relationship Id="rId10" Type="http://schemas.openxmlformats.org/officeDocument/2006/relationships/oleObject" Target="../embeddings/oleObject158.bin"/><Relationship Id="rId4" Type="http://schemas.openxmlformats.org/officeDocument/2006/relationships/oleObject" Target="../embeddings/oleObject155.bin"/><Relationship Id="rId9" Type="http://schemas.openxmlformats.org/officeDocument/2006/relationships/image" Target="../media/image181.wmf"/></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63.bin"/><Relationship Id="rId13" Type="http://schemas.openxmlformats.org/officeDocument/2006/relationships/image" Target="../media/image179.wmf"/><Relationship Id="rId3" Type="http://schemas.openxmlformats.org/officeDocument/2006/relationships/image" Target="../media/image183.wmf"/><Relationship Id="rId7" Type="http://schemas.openxmlformats.org/officeDocument/2006/relationships/image" Target="../media/image185.wmf"/><Relationship Id="rId12" Type="http://schemas.openxmlformats.org/officeDocument/2006/relationships/oleObject" Target="../embeddings/oleObject165.bin"/><Relationship Id="rId2" Type="http://schemas.openxmlformats.org/officeDocument/2006/relationships/oleObject" Target="../embeddings/oleObject160.bin"/><Relationship Id="rId1" Type="http://schemas.openxmlformats.org/officeDocument/2006/relationships/slideLayout" Target="../slideLayouts/slideLayout4.xml"/><Relationship Id="rId6" Type="http://schemas.openxmlformats.org/officeDocument/2006/relationships/oleObject" Target="../embeddings/oleObject162.bin"/><Relationship Id="rId11" Type="http://schemas.openxmlformats.org/officeDocument/2006/relationships/image" Target="../media/image187.wmf"/><Relationship Id="rId5" Type="http://schemas.openxmlformats.org/officeDocument/2006/relationships/image" Target="../media/image184.wmf"/><Relationship Id="rId10" Type="http://schemas.openxmlformats.org/officeDocument/2006/relationships/oleObject" Target="../embeddings/oleObject164.bin"/><Relationship Id="rId4" Type="http://schemas.openxmlformats.org/officeDocument/2006/relationships/oleObject" Target="../embeddings/oleObject161.bin"/><Relationship Id="rId9" Type="http://schemas.openxmlformats.org/officeDocument/2006/relationships/image" Target="../media/image186.wmf"/></Relationships>
</file>

<file path=ppt/slides/_rels/slide43.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91.emf"/><Relationship Id="rId2" Type="http://schemas.openxmlformats.org/officeDocument/2006/relationships/image" Target="../media/image190.png"/><Relationship Id="rId1" Type="http://schemas.openxmlformats.org/officeDocument/2006/relationships/slideLayout" Target="../slideLayouts/slideLayout4.xml"/><Relationship Id="rId4" Type="http://schemas.openxmlformats.org/officeDocument/2006/relationships/image" Target="../media/image192.emf"/></Relationships>
</file>

<file path=ppt/slides/_rels/slide45.xml.rels><?xml version="1.0" encoding="UTF-8" standalone="yes"?>
<Relationships xmlns="http://schemas.openxmlformats.org/package/2006/relationships"><Relationship Id="rId2" Type="http://schemas.openxmlformats.org/officeDocument/2006/relationships/image" Target="../media/image19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8" Type="http://schemas.openxmlformats.org/officeDocument/2006/relationships/image" Target="../media/image196.wmf"/><Relationship Id="rId13" Type="http://schemas.openxmlformats.org/officeDocument/2006/relationships/oleObject" Target="../embeddings/oleObject171.bin"/><Relationship Id="rId18" Type="http://schemas.openxmlformats.org/officeDocument/2006/relationships/image" Target="../media/image15.png"/><Relationship Id="rId26" Type="http://schemas.openxmlformats.org/officeDocument/2006/relationships/image" Target="../media/image204.wmf"/><Relationship Id="rId3" Type="http://schemas.openxmlformats.org/officeDocument/2006/relationships/oleObject" Target="../embeddings/oleObject166.bin"/><Relationship Id="rId21" Type="http://schemas.openxmlformats.org/officeDocument/2006/relationships/oleObject" Target="../embeddings/oleObject174.bin"/><Relationship Id="rId7" Type="http://schemas.openxmlformats.org/officeDocument/2006/relationships/oleObject" Target="../embeddings/oleObject168.bin"/><Relationship Id="rId12" Type="http://schemas.openxmlformats.org/officeDocument/2006/relationships/image" Target="../media/image198.wmf"/><Relationship Id="rId17" Type="http://schemas.openxmlformats.org/officeDocument/2006/relationships/image" Target="../media/image16.png"/><Relationship Id="rId25" Type="http://schemas.openxmlformats.org/officeDocument/2006/relationships/oleObject" Target="../embeddings/oleObject176.bin"/><Relationship Id="rId2" Type="http://schemas.openxmlformats.org/officeDocument/2006/relationships/notesSlide" Target="../notesSlides/notesSlide5.xml"/><Relationship Id="rId16" Type="http://schemas.openxmlformats.org/officeDocument/2006/relationships/image" Target="../media/image200.wmf"/><Relationship Id="rId20" Type="http://schemas.openxmlformats.org/officeDocument/2006/relationships/image" Target="../media/image201.wmf"/><Relationship Id="rId1" Type="http://schemas.openxmlformats.org/officeDocument/2006/relationships/slideLayout" Target="../slideLayouts/slideLayout4.xml"/><Relationship Id="rId6" Type="http://schemas.openxmlformats.org/officeDocument/2006/relationships/image" Target="../media/image195.wmf"/><Relationship Id="rId11" Type="http://schemas.openxmlformats.org/officeDocument/2006/relationships/oleObject" Target="../embeddings/oleObject170.bin"/><Relationship Id="rId24" Type="http://schemas.openxmlformats.org/officeDocument/2006/relationships/image" Target="../media/image203.wmf"/><Relationship Id="rId5" Type="http://schemas.openxmlformats.org/officeDocument/2006/relationships/oleObject" Target="../embeddings/oleObject167.bin"/><Relationship Id="rId15" Type="http://schemas.openxmlformats.org/officeDocument/2006/relationships/oleObject" Target="../embeddings/oleObject172.bin"/><Relationship Id="rId23" Type="http://schemas.openxmlformats.org/officeDocument/2006/relationships/oleObject" Target="../embeddings/oleObject175.bin"/><Relationship Id="rId10" Type="http://schemas.openxmlformats.org/officeDocument/2006/relationships/image" Target="../media/image197.wmf"/><Relationship Id="rId19" Type="http://schemas.openxmlformats.org/officeDocument/2006/relationships/oleObject" Target="../embeddings/oleObject173.bin"/><Relationship Id="rId4" Type="http://schemas.openxmlformats.org/officeDocument/2006/relationships/image" Target="../media/image194.wmf"/><Relationship Id="rId9" Type="http://schemas.openxmlformats.org/officeDocument/2006/relationships/oleObject" Target="../embeddings/oleObject169.bin"/><Relationship Id="rId14" Type="http://schemas.openxmlformats.org/officeDocument/2006/relationships/image" Target="../media/image199.wmf"/><Relationship Id="rId22" Type="http://schemas.openxmlformats.org/officeDocument/2006/relationships/image" Target="../media/image20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AA9D0B63-D9C1-4432-AF96-2EA7E99C0383}"/>
              </a:ext>
            </a:extLst>
          </p:cNvPr>
          <p:cNvSpPr txBox="1">
            <a:spLocks/>
          </p:cNvSpPr>
          <p:nvPr/>
        </p:nvSpPr>
        <p:spPr>
          <a:xfrm>
            <a:off x="1279047" y="2676721"/>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latin typeface="Arial Unicode MS" pitchFamily="34" charset="-122"/>
                <a:ea typeface="Arial Unicode MS" pitchFamily="34" charset="-122"/>
                <a:cs typeface="Arial Unicode MS" pitchFamily="34" charset="-122"/>
              </a:rPr>
              <a:t>Weishu</a:t>
            </a:r>
            <a:r>
              <a:rPr lang="en-US" sz="2800" b="1" dirty="0">
                <a:solidFill>
                  <a:srgbClr val="0000FF"/>
                </a:solidFill>
                <a:latin typeface="Arial Unicode MS" pitchFamily="34" charset="-122"/>
                <a:ea typeface="Arial Unicode MS" pitchFamily="34" charset="-122"/>
                <a:cs typeface="Arial Unicode MS" pitchFamily="34" charset="-122"/>
              </a:rPr>
              <a:t> </a:t>
            </a:r>
            <a:r>
              <a:rPr lang="en-US" altLang="zh-CN" sz="2800" b="1" dirty="0">
                <a:solidFill>
                  <a:srgbClr val="0000FF"/>
                </a:solidFill>
                <a:latin typeface="Arial Unicode MS" pitchFamily="34" charset="-122"/>
                <a:ea typeface="Arial Unicode MS" pitchFamily="34" charset="-122"/>
                <a:cs typeface="Arial Unicode MS" pitchFamily="34" charset="-122"/>
              </a:rPr>
              <a:t>L</a:t>
            </a:r>
            <a:r>
              <a:rPr lang="en-US" sz="2800" b="1" dirty="0">
                <a:solidFill>
                  <a:srgbClr val="0000FF"/>
                </a:solidFill>
                <a:latin typeface="Arial Unicode MS" pitchFamily="34" charset="-122"/>
                <a:ea typeface="Arial Unicode MS" pitchFamily="34" charset="-122"/>
                <a:cs typeface="Arial Unicode MS" pitchFamily="34" charset="-122"/>
              </a:rPr>
              <a:t>iu</a:t>
            </a:r>
          </a:p>
          <a:p>
            <a:pPr algn="l"/>
            <a:r>
              <a:rPr lang="en-US" sz="1800" dirty="0">
                <a:solidFill>
                  <a:schemeClr val="tx1"/>
                </a:solidFill>
                <a:latin typeface="Arial Unicode MS" pitchFamily="34" charset="-122"/>
                <a:ea typeface="Arial Unicode MS" pitchFamily="34" charset="-122"/>
                <a:cs typeface="Arial Unicode MS" pitchFamily="34" charset="-122"/>
              </a:rPr>
              <a:t>Department of Materials Science and Engineering</a:t>
            </a:r>
          </a:p>
          <a:p>
            <a:pPr algn="l"/>
            <a:r>
              <a:rPr lang="en-US" sz="1800" dirty="0">
                <a:solidFill>
                  <a:schemeClr val="tx1"/>
                </a:solidFill>
                <a:latin typeface="Arial Unicode MS" pitchFamily="34" charset="-122"/>
                <a:ea typeface="Arial Unicode MS" pitchFamily="34" charset="-122"/>
                <a:cs typeface="Arial Unicode MS" pitchFamily="34" charset="-122"/>
              </a:rPr>
              <a:t>Southern University of Science and Technology (</a:t>
            </a:r>
            <a:r>
              <a:rPr lang="en-US" sz="1800" dirty="0" err="1">
                <a:solidFill>
                  <a:schemeClr val="tx1"/>
                </a:solidFill>
                <a:latin typeface="Arial Unicode MS" pitchFamily="34" charset="-122"/>
                <a:ea typeface="Arial Unicode MS" pitchFamily="34" charset="-122"/>
                <a:cs typeface="Arial Unicode MS" pitchFamily="34" charset="-122"/>
              </a:rPr>
              <a:t>SUSTec</a:t>
            </a:r>
            <a:r>
              <a:rPr lang="en-US" altLang="zh-CN" sz="1800" dirty="0" err="1">
                <a:solidFill>
                  <a:schemeClr val="tx1"/>
                </a:solidFill>
                <a:latin typeface="Arial Unicode MS" pitchFamily="34" charset="-122"/>
                <a:ea typeface="Arial Unicode MS" pitchFamily="34" charset="-122"/>
                <a:cs typeface="Arial Unicode MS" pitchFamily="34" charset="-122"/>
              </a:rPr>
              <a:t>h</a:t>
            </a:r>
            <a:r>
              <a:rPr lang="en-US" sz="1800" dirty="0">
                <a:solidFill>
                  <a:schemeClr val="tx1"/>
                </a:solidFill>
                <a:latin typeface="Arial Unicode MS" pitchFamily="34" charset="-122"/>
                <a:ea typeface="Arial Unicode MS" pitchFamily="34" charset="-122"/>
                <a:cs typeface="Arial Unicode MS" pitchFamily="34" charset="-122"/>
              </a:rPr>
              <a:t>)</a:t>
            </a:r>
          </a:p>
          <a:p>
            <a:pPr algn="l"/>
            <a:r>
              <a:rPr lang="en-US" sz="1800" b="1" dirty="0">
                <a:solidFill>
                  <a:schemeClr val="tx1"/>
                </a:solidFill>
                <a:latin typeface="Arial Unicode MS" pitchFamily="34" charset="-122"/>
                <a:ea typeface="Arial Unicode MS" pitchFamily="34" charset="-122"/>
                <a:cs typeface="Arial Unicode MS" pitchFamily="34" charset="-122"/>
              </a:rPr>
              <a:t>Email: </a:t>
            </a:r>
            <a:r>
              <a:rPr lang="en-US" sz="1800" dirty="0">
                <a:solidFill>
                  <a:schemeClr val="tx1"/>
                </a:solidFill>
                <a:latin typeface="Arial Unicode MS" pitchFamily="34" charset="-122"/>
                <a:ea typeface="Arial Unicode MS" pitchFamily="34" charset="-122"/>
                <a:cs typeface="Arial Unicode MS" pitchFamily="34" charset="-122"/>
              </a:rPr>
              <a:t>liuws@sustech.edu.cn</a:t>
            </a:r>
          </a:p>
          <a:p>
            <a:pPr algn="l"/>
            <a:r>
              <a:rPr lang="en-US" sz="1800" b="1" dirty="0">
                <a:solidFill>
                  <a:schemeClr val="tx1"/>
                </a:solidFill>
                <a:latin typeface="Arial Unicode MS" pitchFamily="34" charset="-122"/>
                <a:ea typeface="Arial Unicode MS" pitchFamily="34" charset="-122"/>
                <a:cs typeface="Arial Unicode MS" pitchFamily="34" charset="-122"/>
              </a:rPr>
              <a:t>Office: </a:t>
            </a:r>
            <a:r>
              <a:rPr lang="en-US" sz="1800" dirty="0">
                <a:solidFill>
                  <a:schemeClr val="tx1"/>
                </a:solidFill>
                <a:latin typeface="Arial Unicode MS" pitchFamily="34" charset="-122"/>
                <a:ea typeface="Arial Unicode MS" pitchFamily="34" charset="-122"/>
                <a:cs typeface="Arial Unicode MS" pitchFamily="34" charset="-122"/>
              </a:rPr>
              <a:t>North Tower 1#, Rm310</a:t>
            </a:r>
          </a:p>
        </p:txBody>
      </p:sp>
      <p:sp>
        <p:nvSpPr>
          <p:cNvPr id="8" name="矩形 7"/>
          <p:cNvSpPr/>
          <p:nvPr/>
        </p:nvSpPr>
        <p:spPr>
          <a:xfrm>
            <a:off x="1524000" y="129808"/>
            <a:ext cx="7460256"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l="18449" t="32802" r="17069" b="36756"/>
          <a:stretch/>
        </p:blipFill>
        <p:spPr>
          <a:xfrm>
            <a:off x="152400" y="4724400"/>
            <a:ext cx="2333297" cy="734346"/>
          </a:xfrm>
          <a:prstGeom prst="rect">
            <a:avLst/>
          </a:prstGeom>
        </p:spPr>
      </p:pic>
      <p:sp>
        <p:nvSpPr>
          <p:cNvPr id="7" name="文本框 6">
            <a:extLst>
              <a:ext uri="{FF2B5EF4-FFF2-40B4-BE49-F238E27FC236}">
                <a16:creationId xmlns:a16="http://schemas.microsoft.com/office/drawing/2014/main" id="{201B1E1D-7C41-4F56-BF1E-96200593BAF0}"/>
              </a:ext>
            </a:extLst>
          </p:cNvPr>
          <p:cNvSpPr txBox="1"/>
          <p:nvPr/>
        </p:nvSpPr>
        <p:spPr>
          <a:xfrm>
            <a:off x="1279047" y="1457998"/>
            <a:ext cx="5080237" cy="584775"/>
          </a:xfrm>
          <a:prstGeom prst="rect">
            <a:avLst/>
          </a:prstGeom>
          <a:noFill/>
        </p:spPr>
        <p:txBody>
          <a:bodyPr wrap="non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Lecture 7: TD relationships</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
        <p:nvSpPr>
          <p:cNvPr id="2" name="文本框 1">
            <a:extLst>
              <a:ext uri="{FF2B5EF4-FFF2-40B4-BE49-F238E27FC236}">
                <a16:creationId xmlns:a16="http://schemas.microsoft.com/office/drawing/2014/main" id="{8736A2F9-B13F-5529-7D34-C1AA00D65BCC}"/>
              </a:ext>
            </a:extLst>
          </p:cNvPr>
          <p:cNvSpPr txBox="1"/>
          <p:nvPr/>
        </p:nvSpPr>
        <p:spPr>
          <a:xfrm>
            <a:off x="152400" y="1896177"/>
            <a:ext cx="1133644" cy="369332"/>
          </a:xfrm>
          <a:prstGeom prst="rect">
            <a:avLst/>
          </a:prstGeom>
          <a:noFill/>
        </p:spPr>
        <p:txBody>
          <a:bodyPr wrap="none" rtlCol="0">
            <a:spAutoFit/>
          </a:bodyPr>
          <a:lstStyle/>
          <a:p>
            <a:r>
              <a:rPr lang="en-US" altLang="zh-CN" dirty="0"/>
              <a:t>2022 Fall</a:t>
            </a:r>
            <a:endParaRPr lang="zh-CN" altLang="en-US" dirty="0"/>
          </a:p>
        </p:txBody>
      </p:sp>
    </p:spTree>
    <p:extLst>
      <p:ext uri="{BB962C8B-B14F-4D97-AF65-F5344CB8AC3E}">
        <p14:creationId xmlns:p14="http://schemas.microsoft.com/office/powerpoint/2010/main" val="181688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803416" y="3124200"/>
            <a:ext cx="3875356" cy="523220"/>
          </a:xfrm>
          <a:prstGeom prst="rect">
            <a:avLst/>
          </a:prstGeom>
          <a:noFill/>
        </p:spPr>
        <p:txBody>
          <a:bodyPr wrap="none" rtlCol="0">
            <a:spAutoFit/>
          </a:bodyPr>
          <a:lstStyle/>
          <a:p>
            <a:r>
              <a:rPr lang="en-US" altLang="zh-CN" sz="2800" dirty="0">
                <a:solidFill>
                  <a:srgbClr val="FF0000"/>
                </a:solidFill>
              </a:rPr>
              <a:t>13. Gibbs Free Energy </a:t>
            </a:r>
            <a:endParaRPr lang="zh-CN" altLang="en-US" sz="2800" dirty="0">
              <a:solidFill>
                <a:srgbClr val="FF0000"/>
              </a:solidFill>
            </a:endParaRPr>
          </a:p>
        </p:txBody>
      </p:sp>
      <p:sp>
        <p:nvSpPr>
          <p:cNvPr id="5" name="圆角矩形 4"/>
          <p:cNvSpPr/>
          <p:nvPr/>
        </p:nvSpPr>
        <p:spPr>
          <a:xfrm>
            <a:off x="150082"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6" name="圆角矩形 5"/>
          <p:cNvSpPr/>
          <p:nvPr/>
        </p:nvSpPr>
        <p:spPr>
          <a:xfrm>
            <a:off x="1727554"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4821682"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1004928" y="3924300"/>
            <a:ext cx="7086600" cy="923330"/>
          </a:xfrm>
          <a:prstGeom prst="rect">
            <a:avLst/>
          </a:prstGeom>
          <a:noFill/>
        </p:spPr>
        <p:txBody>
          <a:bodyPr wrap="square" rtlCol="0">
            <a:spAutoFit/>
          </a:bodyPr>
          <a:lstStyle/>
          <a:p>
            <a:r>
              <a:rPr lang="en-US" altLang="zh-CN" b="1" dirty="0"/>
              <a:t>Chapter 5</a:t>
            </a:r>
            <a:r>
              <a:rPr lang="zh-CN" altLang="en-US" b="1" dirty="0"/>
              <a:t>： </a:t>
            </a:r>
            <a:r>
              <a:rPr lang="en-US" altLang="zh-CN" b="1" dirty="0"/>
              <a:t> </a:t>
            </a:r>
          </a:p>
          <a:p>
            <a:r>
              <a:rPr lang="en-US" altLang="zh-CN" b="1" dirty="0">
                <a:solidFill>
                  <a:srgbClr val="0000FF"/>
                </a:solidFill>
              </a:rPr>
              <a:t>Introduction to the thermodynamics of materials</a:t>
            </a:r>
            <a:r>
              <a:rPr lang="en-US" altLang="zh-CN" dirty="0">
                <a:solidFill>
                  <a:srgbClr val="0000FF"/>
                </a:solidFill>
              </a:rPr>
              <a:t>, </a:t>
            </a:r>
          </a:p>
          <a:p>
            <a:r>
              <a:rPr lang="en-US" altLang="zh-CN" dirty="0">
                <a:solidFill>
                  <a:srgbClr val="0000FF"/>
                </a:solidFill>
              </a:rPr>
              <a:t>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479608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577" y="942261"/>
            <a:ext cx="1149022" cy="15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15"/>
          <p:cNvSpPr txBox="1"/>
          <p:nvPr/>
        </p:nvSpPr>
        <p:spPr>
          <a:xfrm>
            <a:off x="1551557" y="2041662"/>
            <a:ext cx="1576072" cy="430887"/>
          </a:xfrm>
          <a:prstGeom prst="rect">
            <a:avLst/>
          </a:prstGeom>
          <a:noFill/>
        </p:spPr>
        <p:txBody>
          <a:bodyPr wrap="none" rtlCol="0">
            <a:spAutoFit/>
          </a:bodyPr>
          <a:lstStyle/>
          <a:p>
            <a:pPr algn="ctr"/>
            <a:r>
              <a:rPr lang="en-US" altLang="zh-CN" sz="1100" b="1" dirty="0"/>
              <a:t>Josiah Willard Gibbs</a:t>
            </a:r>
            <a:endParaRPr lang="en-US" altLang="zh-CN" sz="1100" dirty="0"/>
          </a:p>
          <a:p>
            <a:pPr algn="ctr"/>
            <a:r>
              <a:rPr lang="en-US" altLang="zh-CN" sz="1100" dirty="0"/>
              <a:t>1839-1903</a:t>
            </a:r>
            <a:endParaRPr lang="zh-CN" altLang="en-US" sz="1100" dirty="0"/>
          </a:p>
        </p:txBody>
      </p:sp>
      <p:sp>
        <p:nvSpPr>
          <p:cNvPr id="4" name="矩形 3"/>
          <p:cNvSpPr/>
          <p:nvPr/>
        </p:nvSpPr>
        <p:spPr>
          <a:xfrm>
            <a:off x="481655" y="203583"/>
            <a:ext cx="2465291" cy="369332"/>
          </a:xfrm>
          <a:prstGeom prst="rect">
            <a:avLst/>
          </a:prstGeom>
        </p:spPr>
        <p:txBody>
          <a:bodyPr wrap="none">
            <a:spAutoFit/>
          </a:bodyPr>
          <a:lstStyle/>
          <a:p>
            <a:pPr algn="ctr"/>
            <a:r>
              <a:rPr lang="en-US" altLang="zh-CN" b="1" dirty="0">
                <a:solidFill>
                  <a:srgbClr val="FF0000"/>
                </a:solidFill>
              </a:rPr>
              <a:t>Josiah Willard Gibbs</a:t>
            </a:r>
            <a:endParaRPr lang="en-US" altLang="zh-CN" dirty="0">
              <a:solidFill>
                <a:srgbClr val="FF0000"/>
              </a:solidFill>
            </a:endParaRPr>
          </a:p>
        </p:txBody>
      </p:sp>
      <p:sp>
        <p:nvSpPr>
          <p:cNvPr id="5" name="矩形 4"/>
          <p:cNvSpPr/>
          <p:nvPr/>
        </p:nvSpPr>
        <p:spPr>
          <a:xfrm>
            <a:off x="4959531" y="942261"/>
            <a:ext cx="3600994" cy="1415772"/>
          </a:xfrm>
          <a:prstGeom prst="rect">
            <a:avLst/>
          </a:prstGeom>
        </p:spPr>
        <p:txBody>
          <a:bodyPr wrap="square">
            <a:spAutoFit/>
          </a:bodyPr>
          <a:lstStyle/>
          <a:p>
            <a:r>
              <a:rPr lang="en-US" altLang="zh-CN" dirty="0">
                <a:solidFill>
                  <a:srgbClr val="121212"/>
                </a:solidFill>
                <a:latin typeface="-apple-system"/>
              </a:rPr>
              <a:t>1901</a:t>
            </a:r>
            <a:r>
              <a:rPr lang="zh-CN" altLang="en-US" dirty="0">
                <a:solidFill>
                  <a:srgbClr val="121212"/>
                </a:solidFill>
                <a:latin typeface="-apple-system"/>
              </a:rPr>
              <a:t>年</a:t>
            </a:r>
            <a:endParaRPr lang="en-US" altLang="zh-CN" dirty="0">
              <a:solidFill>
                <a:srgbClr val="121212"/>
              </a:solidFill>
              <a:latin typeface="-apple-system"/>
            </a:endParaRPr>
          </a:p>
          <a:p>
            <a:r>
              <a:rPr lang="zh-CN" altLang="en-US" dirty="0">
                <a:solidFill>
                  <a:srgbClr val="0000FF"/>
                </a:solidFill>
                <a:latin typeface="-apple-system"/>
              </a:rPr>
              <a:t>伦琴（英国）</a:t>
            </a:r>
            <a:r>
              <a:rPr lang="zh-CN" altLang="en-US" dirty="0">
                <a:solidFill>
                  <a:srgbClr val="121212"/>
                </a:solidFill>
                <a:latin typeface="-apple-system"/>
              </a:rPr>
              <a:t>：物理学奖，</a:t>
            </a:r>
            <a:endParaRPr lang="en-US" altLang="zh-CN" dirty="0">
              <a:solidFill>
                <a:srgbClr val="121212"/>
              </a:solidFill>
              <a:latin typeface="-apple-system"/>
            </a:endParaRPr>
          </a:p>
          <a:p>
            <a:r>
              <a:rPr lang="zh-CN" altLang="en-US" sz="1600" dirty="0">
                <a:solidFill>
                  <a:srgbClr val="121212"/>
                </a:solidFill>
                <a:latin typeface="-apple-system"/>
              </a:rPr>
              <a:t>“发现</a:t>
            </a:r>
            <a:r>
              <a:rPr lang="en-US" altLang="zh-CN" sz="1600" dirty="0">
                <a:solidFill>
                  <a:srgbClr val="121212"/>
                </a:solidFill>
                <a:latin typeface="-apple-system"/>
              </a:rPr>
              <a:t>X</a:t>
            </a:r>
            <a:r>
              <a:rPr lang="zh-CN" altLang="en-US" sz="1600" dirty="0">
                <a:solidFill>
                  <a:srgbClr val="121212"/>
                </a:solidFill>
                <a:latin typeface="-apple-system"/>
              </a:rPr>
              <a:t>射线获奖的德国科学家”；</a:t>
            </a:r>
          </a:p>
          <a:p>
            <a:r>
              <a:rPr lang="zh-CN" altLang="en-US" dirty="0">
                <a:solidFill>
                  <a:srgbClr val="0000FF"/>
                </a:solidFill>
                <a:latin typeface="-apple-system"/>
              </a:rPr>
              <a:t>范托霍夫</a:t>
            </a:r>
            <a:r>
              <a:rPr lang="en-US" altLang="zh-CN" dirty="0">
                <a:solidFill>
                  <a:srgbClr val="0000FF"/>
                </a:solidFill>
                <a:latin typeface="-apple-system"/>
              </a:rPr>
              <a:t>(</a:t>
            </a:r>
            <a:r>
              <a:rPr lang="zh-CN" altLang="en-US" dirty="0">
                <a:solidFill>
                  <a:srgbClr val="0000FF"/>
                </a:solidFill>
                <a:latin typeface="-apple-system"/>
              </a:rPr>
              <a:t>荷兰</a:t>
            </a:r>
            <a:r>
              <a:rPr lang="en-US" altLang="zh-CN" dirty="0">
                <a:solidFill>
                  <a:srgbClr val="0000FF"/>
                </a:solidFill>
                <a:latin typeface="-apple-system"/>
              </a:rPr>
              <a:t>)</a:t>
            </a:r>
            <a:r>
              <a:rPr lang="zh-CN" altLang="en-US" dirty="0">
                <a:solidFill>
                  <a:srgbClr val="121212"/>
                </a:solidFill>
                <a:latin typeface="-apple-system"/>
              </a:rPr>
              <a:t>：化学奖，</a:t>
            </a:r>
            <a:endParaRPr lang="en-US" altLang="zh-CN" dirty="0">
              <a:solidFill>
                <a:srgbClr val="121212"/>
              </a:solidFill>
              <a:latin typeface="-apple-system"/>
            </a:endParaRPr>
          </a:p>
          <a:p>
            <a:r>
              <a:rPr lang="zh-CN" altLang="en-US" sz="1600" dirty="0">
                <a:solidFill>
                  <a:srgbClr val="121212"/>
                </a:solidFill>
                <a:latin typeface="-apple-system"/>
              </a:rPr>
              <a:t>“化学动力学和渗透压定律获奖”</a:t>
            </a:r>
            <a:endParaRPr lang="zh-CN" altLang="en-US" sz="1600" b="0" i="0" dirty="0">
              <a:solidFill>
                <a:srgbClr val="121212"/>
              </a:solidFill>
              <a:effectLst/>
              <a:latin typeface="-apple-system"/>
            </a:endParaRPr>
          </a:p>
        </p:txBody>
      </p:sp>
      <p:sp>
        <p:nvSpPr>
          <p:cNvPr id="6" name="矩形 5"/>
          <p:cNvSpPr/>
          <p:nvPr/>
        </p:nvSpPr>
        <p:spPr>
          <a:xfrm>
            <a:off x="124604" y="3178450"/>
            <a:ext cx="4429979" cy="3046988"/>
          </a:xfrm>
          <a:prstGeom prst="rect">
            <a:avLst/>
          </a:prstGeom>
        </p:spPr>
        <p:txBody>
          <a:bodyPr wrap="square">
            <a:spAutoFit/>
          </a:bodyPr>
          <a:lstStyle/>
          <a:p>
            <a:pPr>
              <a:defRPr/>
            </a:pPr>
            <a:r>
              <a:rPr lang="en-US" altLang="zh-CN" sz="1600" dirty="0"/>
              <a:t>1863, </a:t>
            </a:r>
            <a:r>
              <a:rPr lang="en-US" altLang="zh-CN" sz="1600" dirty="0">
                <a:hlinkClick r:id="rId3" tooltip="Yale University"/>
              </a:rPr>
              <a:t>Yale</a:t>
            </a:r>
            <a:r>
              <a:rPr lang="en-US" altLang="zh-CN" sz="1600" dirty="0"/>
              <a:t> awarded Gibbs the first American </a:t>
            </a:r>
            <a:r>
              <a:rPr lang="en-US" altLang="zh-CN" sz="1600" dirty="0">
                <a:hlinkClick r:id="rId4" tooltip="Doctor of Philosophy"/>
              </a:rPr>
              <a:t>doctorate</a:t>
            </a:r>
            <a:r>
              <a:rPr lang="en-US" altLang="zh-CN" sz="1600" dirty="0"/>
              <a:t> in </a:t>
            </a:r>
            <a:r>
              <a:rPr lang="en-US" altLang="zh-CN" sz="1600" dirty="0">
                <a:hlinkClick r:id="rId5" tooltip="Engineering"/>
              </a:rPr>
              <a:t>engineering</a:t>
            </a:r>
            <a:r>
              <a:rPr lang="en-US" altLang="zh-CN" sz="1600" dirty="0"/>
              <a:t>.</a:t>
            </a:r>
            <a:endParaRPr lang="en-US" altLang="zh-CN" sz="1600" u="sng" dirty="0"/>
          </a:p>
          <a:p>
            <a:pPr>
              <a:defRPr/>
            </a:pPr>
            <a:endParaRPr lang="en-US" altLang="zh-CN" sz="1600" dirty="0"/>
          </a:p>
          <a:p>
            <a:pPr>
              <a:defRPr/>
            </a:pPr>
            <a:r>
              <a:rPr lang="en-US" altLang="zh-CN" sz="1600" dirty="0"/>
              <a:t>On his father's side, he was descended from </a:t>
            </a:r>
            <a:r>
              <a:rPr lang="en-US" altLang="zh-CN" sz="1600" dirty="0">
                <a:hlinkClick r:id="rId6" tooltip="Samuel Willard"/>
              </a:rPr>
              <a:t>Samuel Willard</a:t>
            </a:r>
            <a:r>
              <a:rPr lang="en-US" altLang="zh-CN" sz="1600" dirty="0"/>
              <a:t>, who served as acting </a:t>
            </a:r>
            <a:r>
              <a:rPr lang="en-US" altLang="zh-CN" sz="1600" dirty="0">
                <a:hlinkClick r:id="rId7" tooltip="President of Harvard University"/>
              </a:rPr>
              <a:t>President of Harvard College</a:t>
            </a:r>
            <a:r>
              <a:rPr lang="en-US" altLang="zh-CN" sz="1600" dirty="0"/>
              <a:t> from 1701 to 1707. </a:t>
            </a:r>
          </a:p>
          <a:p>
            <a:pPr>
              <a:defRPr/>
            </a:pPr>
            <a:endParaRPr lang="en-US" altLang="zh-CN" sz="1600" dirty="0"/>
          </a:p>
          <a:p>
            <a:pPr>
              <a:defRPr/>
            </a:pPr>
            <a:r>
              <a:rPr lang="en-US" altLang="zh-CN" sz="1600" dirty="0"/>
              <a:t>On his mother's side, one of his ancestors was the Rev. </a:t>
            </a:r>
            <a:r>
              <a:rPr lang="en-US" altLang="zh-CN" sz="1600" dirty="0">
                <a:hlinkClick r:id="rId8" tooltip="Jonathan Dickinson (New Jersey)"/>
              </a:rPr>
              <a:t>Jonathan Dickinson</a:t>
            </a:r>
            <a:r>
              <a:rPr lang="en-US" altLang="zh-CN" sz="1600" dirty="0"/>
              <a:t>, the first president of the College of New Jersey (later </a:t>
            </a:r>
            <a:r>
              <a:rPr lang="en-US" altLang="zh-CN" sz="1600" dirty="0">
                <a:hlinkClick r:id="rId9" tooltip="Princeton University"/>
              </a:rPr>
              <a:t>Princeton University</a:t>
            </a:r>
            <a:r>
              <a:rPr lang="en-US" altLang="zh-CN" sz="1600" dirty="0"/>
              <a:t>)</a:t>
            </a:r>
            <a:endParaRPr lang="en-US" altLang="zh-CN" sz="1600" u="sng" dirty="0"/>
          </a:p>
        </p:txBody>
      </p:sp>
      <p:sp>
        <p:nvSpPr>
          <p:cNvPr id="7" name="文本框 6"/>
          <p:cNvSpPr txBox="1"/>
          <p:nvPr/>
        </p:nvSpPr>
        <p:spPr>
          <a:xfrm>
            <a:off x="1714300" y="1463040"/>
            <a:ext cx="1107996" cy="369332"/>
          </a:xfrm>
          <a:prstGeom prst="rect">
            <a:avLst/>
          </a:prstGeom>
          <a:noFill/>
        </p:spPr>
        <p:txBody>
          <a:bodyPr wrap="none" rtlCol="0">
            <a:spAutoFit/>
          </a:bodyPr>
          <a:lstStyle/>
          <a:p>
            <a:r>
              <a:rPr lang="zh-CN" altLang="en-US" dirty="0"/>
              <a:t>书香世家</a:t>
            </a:r>
          </a:p>
        </p:txBody>
      </p:sp>
      <p:sp>
        <p:nvSpPr>
          <p:cNvPr id="8" name="矩形 7"/>
          <p:cNvSpPr/>
          <p:nvPr/>
        </p:nvSpPr>
        <p:spPr>
          <a:xfrm>
            <a:off x="4959531" y="2528814"/>
            <a:ext cx="4010297" cy="1415772"/>
          </a:xfrm>
          <a:prstGeom prst="rect">
            <a:avLst/>
          </a:prstGeom>
        </p:spPr>
        <p:txBody>
          <a:bodyPr wrap="square">
            <a:spAutoFit/>
          </a:bodyPr>
          <a:lstStyle/>
          <a:p>
            <a:r>
              <a:rPr lang="en-US" altLang="zh-CN" dirty="0">
                <a:solidFill>
                  <a:srgbClr val="121212"/>
                </a:solidFill>
                <a:latin typeface="-apple-system"/>
              </a:rPr>
              <a:t>1902</a:t>
            </a:r>
            <a:r>
              <a:rPr lang="zh-CN" altLang="en-US" dirty="0">
                <a:solidFill>
                  <a:srgbClr val="121212"/>
                </a:solidFill>
                <a:latin typeface="-apple-system"/>
              </a:rPr>
              <a:t>年</a:t>
            </a:r>
            <a:endParaRPr lang="en-US" altLang="zh-CN" dirty="0">
              <a:solidFill>
                <a:srgbClr val="333333"/>
              </a:solidFill>
              <a:latin typeface="arial" panose="020B0604020202020204" pitchFamily="34" charset="0"/>
            </a:endParaRPr>
          </a:p>
          <a:p>
            <a:r>
              <a:rPr lang="zh-CN" altLang="en-US" dirty="0">
                <a:solidFill>
                  <a:srgbClr val="0000FF"/>
                </a:solidFill>
                <a:latin typeface="arial" panose="020B0604020202020204" pitchFamily="34" charset="0"/>
              </a:rPr>
              <a:t>洛伦兹 </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，塞曼</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333333"/>
                </a:solidFill>
                <a:latin typeface="arial" panose="020B0604020202020204" pitchFamily="34" charset="0"/>
              </a:rPr>
              <a:t>：</a:t>
            </a:r>
            <a:r>
              <a:rPr lang="zh-CN" altLang="en-US" dirty="0">
                <a:solidFill>
                  <a:srgbClr val="121212"/>
                </a:solidFill>
                <a:latin typeface="-apple-system"/>
              </a:rPr>
              <a:t>物理学奖</a:t>
            </a:r>
            <a:endParaRPr lang="en-US" altLang="zh-CN" dirty="0">
              <a:solidFill>
                <a:srgbClr val="333333"/>
              </a:solidFill>
              <a:latin typeface="arial" panose="020B0604020202020204" pitchFamily="34" charset="0"/>
            </a:endParaRPr>
          </a:p>
          <a:p>
            <a:r>
              <a:rPr lang="zh-CN" altLang="en-US" sz="1600" dirty="0">
                <a:solidFill>
                  <a:srgbClr val="333333"/>
                </a:solidFill>
                <a:latin typeface="arial" panose="020B0604020202020204" pitchFamily="34" charset="0"/>
              </a:rPr>
              <a:t>“电子理论、磁光效应”</a:t>
            </a:r>
            <a:endParaRPr lang="en-US" altLang="zh-CN" sz="1600" dirty="0">
              <a:solidFill>
                <a:srgbClr val="333333"/>
              </a:solidFill>
              <a:latin typeface="arial" panose="020B0604020202020204" pitchFamily="34" charset="0"/>
            </a:endParaRPr>
          </a:p>
          <a:p>
            <a:r>
              <a:rPr lang="zh-CN" altLang="en-US" dirty="0">
                <a:solidFill>
                  <a:srgbClr val="0000FF"/>
                </a:solidFill>
              </a:rPr>
              <a:t>埃米尔</a:t>
            </a:r>
            <a:r>
              <a:rPr lang="en-US" altLang="zh-CN" dirty="0">
                <a:solidFill>
                  <a:srgbClr val="0000FF"/>
                </a:solidFill>
              </a:rPr>
              <a:t>·</a:t>
            </a:r>
            <a:r>
              <a:rPr lang="zh-CN" altLang="en-US" dirty="0">
                <a:solidFill>
                  <a:srgbClr val="0000FF"/>
                </a:solidFill>
              </a:rPr>
              <a:t>费雪</a:t>
            </a:r>
            <a:r>
              <a:rPr lang="en-US" altLang="zh-CN" dirty="0">
                <a:solidFill>
                  <a:srgbClr val="0000FF"/>
                </a:solidFill>
              </a:rPr>
              <a:t>(</a:t>
            </a:r>
            <a:r>
              <a:rPr lang="zh-CN" altLang="en-US" dirty="0">
                <a:solidFill>
                  <a:srgbClr val="0000FF"/>
                </a:solidFill>
              </a:rPr>
              <a:t>德国</a:t>
            </a:r>
            <a:r>
              <a:rPr lang="en-US" altLang="zh-CN" dirty="0">
                <a:solidFill>
                  <a:srgbClr val="0000FF"/>
                </a:solidFill>
              </a:rPr>
              <a:t>)</a:t>
            </a:r>
            <a:r>
              <a:rPr lang="zh-CN" altLang="en-US" dirty="0">
                <a:solidFill>
                  <a:srgbClr val="0000FF"/>
                </a:solidFill>
              </a:rPr>
              <a:t>：化学奖</a:t>
            </a:r>
            <a:endParaRPr lang="en-US" altLang="zh-CN" dirty="0">
              <a:solidFill>
                <a:srgbClr val="0000FF"/>
              </a:solidFill>
            </a:endParaRPr>
          </a:p>
          <a:p>
            <a:r>
              <a:rPr lang="zh-CN" altLang="en-US" sz="1600" dirty="0"/>
              <a:t>“糖的结构”</a:t>
            </a:r>
            <a:endParaRPr lang="en-US" altLang="zh-CN" sz="1600" dirty="0"/>
          </a:p>
        </p:txBody>
      </p:sp>
      <p:sp>
        <p:nvSpPr>
          <p:cNvPr id="9" name="矩形 8"/>
          <p:cNvSpPr/>
          <p:nvPr/>
        </p:nvSpPr>
        <p:spPr>
          <a:xfrm>
            <a:off x="4959531" y="4019545"/>
            <a:ext cx="4010297" cy="1200329"/>
          </a:xfrm>
          <a:prstGeom prst="rect">
            <a:avLst/>
          </a:prstGeom>
        </p:spPr>
        <p:txBody>
          <a:bodyPr wrap="square">
            <a:spAutoFit/>
          </a:bodyPr>
          <a:lstStyle/>
          <a:p>
            <a:r>
              <a:rPr lang="en-US" altLang="zh-CN" dirty="0">
                <a:solidFill>
                  <a:srgbClr val="121212"/>
                </a:solidFill>
                <a:latin typeface="-apple-system"/>
              </a:rPr>
              <a:t>1903</a:t>
            </a:r>
            <a:r>
              <a:rPr lang="zh-CN" altLang="en-US" dirty="0">
                <a:solidFill>
                  <a:srgbClr val="121212"/>
                </a:solidFill>
                <a:latin typeface="-apple-system"/>
              </a:rPr>
              <a:t>年</a:t>
            </a:r>
            <a:endParaRPr lang="en-US" altLang="zh-CN" dirty="0">
              <a:solidFill>
                <a:srgbClr val="333333"/>
              </a:solidFill>
              <a:latin typeface="arial" panose="020B0604020202020204" pitchFamily="34" charset="0"/>
            </a:endParaRPr>
          </a:p>
          <a:p>
            <a:r>
              <a:rPr lang="zh-CN" altLang="en-US" dirty="0"/>
              <a:t>亨利</a:t>
            </a:r>
            <a:r>
              <a:rPr lang="en-US" altLang="zh-CN" dirty="0"/>
              <a:t>(</a:t>
            </a:r>
            <a:r>
              <a:rPr lang="zh-CN" altLang="en-US" dirty="0"/>
              <a:t>法国</a:t>
            </a:r>
            <a:r>
              <a:rPr lang="en-US" altLang="zh-CN" dirty="0"/>
              <a:t>)</a:t>
            </a:r>
            <a:r>
              <a:rPr lang="zh-CN" altLang="en-US" dirty="0"/>
              <a:t>，居里夫妇（法国）</a:t>
            </a:r>
            <a:endParaRPr lang="en-US" altLang="zh-CN" dirty="0"/>
          </a:p>
          <a:p>
            <a:r>
              <a:rPr lang="zh-CN" altLang="en-US" dirty="0">
                <a:solidFill>
                  <a:srgbClr val="0000FF"/>
                </a:solidFill>
                <a:latin typeface="arial" panose="020B0604020202020204" pitchFamily="34" charset="0"/>
              </a:rPr>
              <a:t>“放射性”</a:t>
            </a:r>
            <a:endParaRPr lang="en-US" altLang="zh-CN" dirty="0">
              <a:solidFill>
                <a:srgbClr val="0000FF"/>
              </a:solidFill>
              <a:latin typeface="arial" panose="020B0604020202020204" pitchFamily="34" charset="0"/>
            </a:endParaRPr>
          </a:p>
          <a:p>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，塞曼</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荷兰</a:t>
            </a:r>
            <a:r>
              <a:rPr lang="en-US" altLang="zh-CN" dirty="0">
                <a:solidFill>
                  <a:srgbClr val="0000FF"/>
                </a:solidFill>
                <a:latin typeface="arial" panose="020B0604020202020204" pitchFamily="34" charset="0"/>
              </a:rPr>
              <a:t>)</a:t>
            </a:r>
            <a:r>
              <a:rPr lang="zh-CN" altLang="en-US" dirty="0">
                <a:solidFill>
                  <a:srgbClr val="333333"/>
                </a:solidFill>
                <a:latin typeface="arial" panose="020B0604020202020204" pitchFamily="34" charset="0"/>
              </a:rPr>
              <a:t>：</a:t>
            </a:r>
            <a:r>
              <a:rPr lang="zh-CN" altLang="en-US" dirty="0">
                <a:solidFill>
                  <a:srgbClr val="121212"/>
                </a:solidFill>
                <a:latin typeface="-apple-system"/>
              </a:rPr>
              <a:t>物理学奖</a:t>
            </a:r>
            <a:endParaRPr lang="en-US" altLang="zh-CN" dirty="0">
              <a:solidFill>
                <a:srgbClr val="333333"/>
              </a:solidFill>
              <a:latin typeface="arial" panose="020B0604020202020204" pitchFamily="34" charset="0"/>
            </a:endParaRPr>
          </a:p>
        </p:txBody>
      </p:sp>
      <p:sp>
        <p:nvSpPr>
          <p:cNvPr id="10" name="矩形 9"/>
          <p:cNvSpPr/>
          <p:nvPr/>
        </p:nvSpPr>
        <p:spPr>
          <a:xfrm>
            <a:off x="5064034" y="5431543"/>
            <a:ext cx="2165978" cy="646331"/>
          </a:xfrm>
          <a:prstGeom prst="rect">
            <a:avLst/>
          </a:prstGeom>
        </p:spPr>
        <p:txBody>
          <a:bodyPr wrap="none">
            <a:spAutoFit/>
          </a:bodyPr>
          <a:lstStyle/>
          <a:p>
            <a:r>
              <a:rPr lang="en-US" altLang="zh-CN" dirty="0">
                <a:solidFill>
                  <a:srgbClr val="333333"/>
                </a:solidFill>
                <a:latin typeface="arial" panose="020B0604020202020204" pitchFamily="34" charset="0"/>
              </a:rPr>
              <a:t>WWI: 1914 ~1918</a:t>
            </a:r>
          </a:p>
          <a:p>
            <a:r>
              <a:rPr lang="en-US" altLang="zh-CN" dirty="0">
                <a:solidFill>
                  <a:srgbClr val="333333"/>
                </a:solidFill>
                <a:latin typeface="arial" panose="020B0604020202020204" pitchFamily="34" charset="0"/>
              </a:rPr>
              <a:t>WWII: 1939 ~1945</a:t>
            </a:r>
            <a:r>
              <a:rPr lang="zh-CN" altLang="en-US" dirty="0">
                <a:solidFill>
                  <a:srgbClr val="333333"/>
                </a:solidFill>
                <a:latin typeface="arial" panose="020B0604020202020204" pitchFamily="34" charset="0"/>
              </a:rPr>
              <a:t> </a:t>
            </a:r>
            <a:endParaRPr lang="zh-CN" altLang="en-US" dirty="0"/>
          </a:p>
        </p:txBody>
      </p:sp>
    </p:spTree>
    <p:extLst>
      <p:ext uri="{BB962C8B-B14F-4D97-AF65-F5344CB8AC3E}">
        <p14:creationId xmlns:p14="http://schemas.microsoft.com/office/powerpoint/2010/main" val="3838640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5409" y="278618"/>
            <a:ext cx="1651498" cy="2146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1319087" y="2444511"/>
            <a:ext cx="1725152" cy="415498"/>
          </a:xfrm>
          <a:prstGeom prst="rect">
            <a:avLst/>
          </a:prstGeom>
        </p:spPr>
        <p:txBody>
          <a:bodyPr wrap="none">
            <a:spAutoFit/>
          </a:bodyPr>
          <a:lstStyle/>
          <a:p>
            <a:pPr algn="ctr"/>
            <a:r>
              <a:rPr lang="en-US" altLang="zh-CN" sz="1050" b="1" dirty="0"/>
              <a:t>Hermann von Helmholtz</a:t>
            </a:r>
          </a:p>
          <a:p>
            <a:pPr algn="ctr"/>
            <a:r>
              <a:rPr lang="en-US" altLang="zh-CN" sz="1050" b="1" dirty="0"/>
              <a:t>1821-1894</a:t>
            </a:r>
            <a:endParaRPr lang="zh-CN" altLang="en-US" sz="1050" dirty="0"/>
          </a:p>
        </p:txBody>
      </p:sp>
      <p:pic>
        <p:nvPicPr>
          <p:cNvPr id="1228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9600" y="3096727"/>
            <a:ext cx="1217834" cy="175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5502333" y="4985820"/>
            <a:ext cx="1159292" cy="307777"/>
          </a:xfrm>
          <a:prstGeom prst="rect">
            <a:avLst/>
          </a:prstGeom>
        </p:spPr>
        <p:txBody>
          <a:bodyPr wrap="none">
            <a:spAutoFit/>
          </a:bodyPr>
          <a:lstStyle/>
          <a:p>
            <a:r>
              <a:rPr lang="en-US" altLang="zh-CN" sz="1400" b="1" dirty="0"/>
              <a:t>Max Planck</a:t>
            </a:r>
            <a:endParaRPr lang="zh-CN" altLang="en-US" sz="1400" dirty="0"/>
          </a:p>
        </p:txBody>
      </p:sp>
      <p:sp>
        <p:nvSpPr>
          <p:cNvPr id="5" name="TextBox 4"/>
          <p:cNvSpPr txBox="1"/>
          <p:nvPr/>
        </p:nvSpPr>
        <p:spPr>
          <a:xfrm>
            <a:off x="5562445" y="5317689"/>
            <a:ext cx="1039067" cy="307777"/>
          </a:xfrm>
          <a:prstGeom prst="rect">
            <a:avLst/>
          </a:prstGeom>
          <a:noFill/>
        </p:spPr>
        <p:txBody>
          <a:bodyPr wrap="none" rtlCol="0">
            <a:spAutoFit/>
          </a:bodyPr>
          <a:lstStyle/>
          <a:p>
            <a:r>
              <a:rPr lang="en-US" altLang="zh-CN" sz="1400" dirty="0"/>
              <a:t>1858-1933</a:t>
            </a:r>
            <a:endParaRPr lang="zh-CN" altLang="en-US" sz="1400" dirty="0"/>
          </a:p>
        </p:txBody>
      </p:sp>
      <p:sp>
        <p:nvSpPr>
          <p:cNvPr id="6" name="矩形 5"/>
          <p:cNvSpPr/>
          <p:nvPr/>
        </p:nvSpPr>
        <p:spPr>
          <a:xfrm>
            <a:off x="3733359" y="4956856"/>
            <a:ext cx="1483098" cy="338554"/>
          </a:xfrm>
          <a:prstGeom prst="rect">
            <a:avLst/>
          </a:prstGeom>
        </p:spPr>
        <p:txBody>
          <a:bodyPr wrap="none">
            <a:spAutoFit/>
          </a:bodyPr>
          <a:lstStyle/>
          <a:p>
            <a:r>
              <a:rPr lang="en-US" altLang="zh-CN" sz="1600" dirty="0"/>
              <a:t>Heinrich Hertz</a:t>
            </a:r>
            <a:endParaRPr lang="zh-CN" altLang="en-US" sz="1600" dirty="0"/>
          </a:p>
        </p:txBody>
      </p:sp>
      <p:sp>
        <p:nvSpPr>
          <p:cNvPr id="8" name="TextBox 7"/>
          <p:cNvSpPr txBox="1"/>
          <p:nvPr/>
        </p:nvSpPr>
        <p:spPr>
          <a:xfrm>
            <a:off x="3843909" y="5295410"/>
            <a:ext cx="1039067" cy="307777"/>
          </a:xfrm>
          <a:prstGeom prst="rect">
            <a:avLst/>
          </a:prstGeom>
          <a:noFill/>
        </p:spPr>
        <p:txBody>
          <a:bodyPr wrap="none" rtlCol="0">
            <a:spAutoFit/>
          </a:bodyPr>
          <a:lstStyle/>
          <a:p>
            <a:r>
              <a:rPr lang="en-US" altLang="zh-CN" sz="1400" dirty="0"/>
              <a:t>1857-1894</a:t>
            </a:r>
            <a:endParaRPr lang="zh-CN" altLang="en-US" sz="1400" dirty="0"/>
          </a:p>
        </p:txBody>
      </p:sp>
      <p:sp>
        <p:nvSpPr>
          <p:cNvPr id="7" name="矩形 6"/>
          <p:cNvSpPr/>
          <p:nvPr/>
        </p:nvSpPr>
        <p:spPr>
          <a:xfrm>
            <a:off x="1943837" y="4947365"/>
            <a:ext cx="1826141" cy="338554"/>
          </a:xfrm>
          <a:prstGeom prst="rect">
            <a:avLst/>
          </a:prstGeom>
        </p:spPr>
        <p:txBody>
          <a:bodyPr wrap="none">
            <a:spAutoFit/>
          </a:bodyPr>
          <a:lstStyle/>
          <a:p>
            <a:r>
              <a:rPr lang="en-US" altLang="zh-CN" sz="1600" dirty="0"/>
              <a:t>Friedrich </a:t>
            </a:r>
            <a:r>
              <a:rPr lang="en-US" altLang="zh-CN" sz="1600" dirty="0" err="1"/>
              <a:t>Schottky</a:t>
            </a:r>
            <a:endParaRPr lang="zh-CN" altLang="en-US" sz="1600" dirty="0"/>
          </a:p>
        </p:txBody>
      </p:sp>
      <p:pic>
        <p:nvPicPr>
          <p:cNvPr id="122884" name="Picture 4" descr="Heinrich Rudolf Hertz"/>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8224" y="3130851"/>
            <a:ext cx="1518233" cy="175977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2123793" y="5321370"/>
            <a:ext cx="1039067" cy="307777"/>
          </a:xfrm>
          <a:prstGeom prst="rect">
            <a:avLst/>
          </a:prstGeom>
          <a:noFill/>
        </p:spPr>
        <p:txBody>
          <a:bodyPr wrap="none" rtlCol="0">
            <a:spAutoFit/>
          </a:bodyPr>
          <a:lstStyle/>
          <a:p>
            <a:r>
              <a:rPr lang="en-US" altLang="zh-CN" sz="1400" dirty="0"/>
              <a:t>1851-1935</a:t>
            </a:r>
            <a:endParaRPr lang="zh-CN" altLang="en-US" sz="1400" dirty="0"/>
          </a:p>
        </p:txBody>
      </p:sp>
      <p:pic>
        <p:nvPicPr>
          <p:cNvPr id="122886" name="Picture 6" descr="FriedrichSchottk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6839" y="3040309"/>
            <a:ext cx="1494805" cy="1816188"/>
          </a:xfrm>
          <a:prstGeom prst="rect">
            <a:avLst/>
          </a:prstGeom>
          <a:noFill/>
          <a:extLst>
            <a:ext uri="{909E8E84-426E-40DD-AFC4-6F175D3DCCD1}">
              <a14:hiddenFill xmlns:a14="http://schemas.microsoft.com/office/drawing/2010/main">
                <a:solidFill>
                  <a:srgbClr val="FFFFFF"/>
                </a:solidFill>
              </a14:hiddenFill>
            </a:ext>
          </a:extLst>
        </p:spPr>
      </p:pic>
      <p:pic>
        <p:nvPicPr>
          <p:cNvPr id="122887"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1049" y="2952788"/>
            <a:ext cx="1507569" cy="2076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7501049" y="4890621"/>
            <a:ext cx="1562735" cy="338554"/>
          </a:xfrm>
          <a:prstGeom prst="rect">
            <a:avLst/>
          </a:prstGeom>
        </p:spPr>
        <p:txBody>
          <a:bodyPr wrap="none">
            <a:spAutoFit/>
          </a:bodyPr>
          <a:lstStyle/>
          <a:p>
            <a:r>
              <a:rPr lang="en-US" altLang="zh-CN" sz="1600" dirty="0"/>
              <a:t>Arthur Webster</a:t>
            </a:r>
            <a:endParaRPr lang="zh-CN" altLang="en-US" sz="1600" dirty="0"/>
          </a:p>
        </p:txBody>
      </p:sp>
      <p:sp>
        <p:nvSpPr>
          <p:cNvPr id="10" name="TextBox 9"/>
          <p:cNvSpPr txBox="1"/>
          <p:nvPr/>
        </p:nvSpPr>
        <p:spPr>
          <a:xfrm>
            <a:off x="7501049" y="5195051"/>
            <a:ext cx="1164101" cy="338554"/>
          </a:xfrm>
          <a:prstGeom prst="rect">
            <a:avLst/>
          </a:prstGeom>
          <a:noFill/>
        </p:spPr>
        <p:txBody>
          <a:bodyPr wrap="none" rtlCol="0">
            <a:spAutoFit/>
          </a:bodyPr>
          <a:lstStyle/>
          <a:p>
            <a:r>
              <a:rPr lang="en-US" altLang="zh-CN" sz="1600" dirty="0"/>
              <a:t>1863-1923</a:t>
            </a:r>
            <a:endParaRPr lang="zh-CN" altLang="en-US" sz="1600" dirty="0"/>
          </a:p>
        </p:txBody>
      </p:sp>
      <p:sp>
        <p:nvSpPr>
          <p:cNvPr id="12" name="矩形 11"/>
          <p:cNvSpPr/>
          <p:nvPr/>
        </p:nvSpPr>
        <p:spPr>
          <a:xfrm>
            <a:off x="77596" y="5002725"/>
            <a:ext cx="1774845" cy="307777"/>
          </a:xfrm>
          <a:prstGeom prst="rect">
            <a:avLst/>
          </a:prstGeom>
        </p:spPr>
        <p:txBody>
          <a:bodyPr wrap="none">
            <a:spAutoFit/>
          </a:bodyPr>
          <a:lstStyle/>
          <a:p>
            <a:r>
              <a:rPr lang="en-US" altLang="zh-CN" sz="1400" b="1" dirty="0"/>
              <a:t>Ludwig Boltzmann</a:t>
            </a:r>
          </a:p>
        </p:txBody>
      </p:sp>
      <p:sp>
        <p:nvSpPr>
          <p:cNvPr id="17" name="TextBox 16"/>
          <p:cNvSpPr txBox="1"/>
          <p:nvPr/>
        </p:nvSpPr>
        <p:spPr>
          <a:xfrm>
            <a:off x="382167" y="5300228"/>
            <a:ext cx="1039067" cy="307777"/>
          </a:xfrm>
          <a:prstGeom prst="rect">
            <a:avLst/>
          </a:prstGeom>
          <a:noFill/>
        </p:spPr>
        <p:txBody>
          <a:bodyPr wrap="none" rtlCol="0">
            <a:spAutoFit/>
          </a:bodyPr>
          <a:lstStyle/>
          <a:p>
            <a:r>
              <a:rPr lang="en-US" altLang="zh-CN" sz="1400" dirty="0"/>
              <a:t>1844-1906</a:t>
            </a:r>
            <a:endParaRPr lang="zh-CN" altLang="en-US" sz="1400" dirty="0"/>
          </a:p>
        </p:txBody>
      </p:sp>
      <p:pic>
        <p:nvPicPr>
          <p:cNvPr id="122888"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89" y="3274210"/>
            <a:ext cx="1894180" cy="158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707605" y="5625466"/>
            <a:ext cx="801823" cy="307777"/>
          </a:xfrm>
          <a:prstGeom prst="rect">
            <a:avLst/>
          </a:prstGeom>
          <a:noFill/>
        </p:spPr>
        <p:txBody>
          <a:bodyPr wrap="none" rtlCol="0">
            <a:spAutoFit/>
          </a:bodyPr>
          <a:lstStyle/>
          <a:p>
            <a:r>
              <a:rPr lang="en-US" altLang="zh-CN" sz="1400" dirty="0"/>
              <a:t>Age: 75</a:t>
            </a:r>
            <a:endParaRPr lang="zh-CN" altLang="en-US" sz="1400" dirty="0"/>
          </a:p>
        </p:txBody>
      </p:sp>
      <p:sp>
        <p:nvSpPr>
          <p:cNvPr id="20" name="TextBox 19"/>
          <p:cNvSpPr txBox="1"/>
          <p:nvPr/>
        </p:nvSpPr>
        <p:spPr>
          <a:xfrm>
            <a:off x="569668" y="5616118"/>
            <a:ext cx="801823" cy="307777"/>
          </a:xfrm>
          <a:prstGeom prst="rect">
            <a:avLst/>
          </a:prstGeom>
          <a:noFill/>
        </p:spPr>
        <p:txBody>
          <a:bodyPr wrap="none" rtlCol="0">
            <a:spAutoFit/>
          </a:bodyPr>
          <a:lstStyle/>
          <a:p>
            <a:r>
              <a:rPr lang="en-US" altLang="zh-CN" sz="1400" dirty="0"/>
              <a:t>Age: 62</a:t>
            </a:r>
            <a:endParaRPr lang="zh-CN" altLang="en-US" sz="1400" dirty="0"/>
          </a:p>
        </p:txBody>
      </p:sp>
      <p:sp>
        <p:nvSpPr>
          <p:cNvPr id="21" name="TextBox 20"/>
          <p:cNvSpPr txBox="1"/>
          <p:nvPr/>
        </p:nvSpPr>
        <p:spPr>
          <a:xfrm>
            <a:off x="2242416" y="5623552"/>
            <a:ext cx="801823" cy="307777"/>
          </a:xfrm>
          <a:prstGeom prst="rect">
            <a:avLst/>
          </a:prstGeom>
          <a:noFill/>
        </p:spPr>
        <p:txBody>
          <a:bodyPr wrap="none" rtlCol="0">
            <a:spAutoFit/>
          </a:bodyPr>
          <a:lstStyle/>
          <a:p>
            <a:r>
              <a:rPr lang="en-US" altLang="zh-CN" sz="1400" dirty="0"/>
              <a:t>Age: 84</a:t>
            </a:r>
            <a:endParaRPr lang="zh-CN" altLang="en-US" sz="1400" dirty="0"/>
          </a:p>
        </p:txBody>
      </p:sp>
      <p:sp>
        <p:nvSpPr>
          <p:cNvPr id="22" name="TextBox 21"/>
          <p:cNvSpPr txBox="1"/>
          <p:nvPr/>
        </p:nvSpPr>
        <p:spPr>
          <a:xfrm>
            <a:off x="3962530" y="5629147"/>
            <a:ext cx="801823" cy="307777"/>
          </a:xfrm>
          <a:prstGeom prst="rect">
            <a:avLst/>
          </a:prstGeom>
          <a:noFill/>
        </p:spPr>
        <p:txBody>
          <a:bodyPr wrap="none" rtlCol="0">
            <a:spAutoFit/>
          </a:bodyPr>
          <a:lstStyle/>
          <a:p>
            <a:r>
              <a:rPr lang="en-US" altLang="zh-CN" sz="1400" dirty="0"/>
              <a:t>Age: 37</a:t>
            </a:r>
            <a:endParaRPr lang="zh-CN" altLang="en-US" sz="1400" dirty="0"/>
          </a:p>
        </p:txBody>
      </p:sp>
      <p:sp>
        <p:nvSpPr>
          <p:cNvPr id="23" name="TextBox 22"/>
          <p:cNvSpPr txBox="1"/>
          <p:nvPr/>
        </p:nvSpPr>
        <p:spPr>
          <a:xfrm>
            <a:off x="7766864" y="5629147"/>
            <a:ext cx="801823" cy="307777"/>
          </a:xfrm>
          <a:prstGeom prst="rect">
            <a:avLst/>
          </a:prstGeom>
          <a:noFill/>
        </p:spPr>
        <p:txBody>
          <a:bodyPr wrap="none" rtlCol="0">
            <a:spAutoFit/>
          </a:bodyPr>
          <a:lstStyle/>
          <a:p>
            <a:r>
              <a:rPr lang="en-US" altLang="zh-CN" sz="1400" dirty="0"/>
              <a:t>Age: 60</a:t>
            </a:r>
            <a:endParaRPr lang="zh-CN" altLang="en-US" sz="1400" dirty="0"/>
          </a:p>
        </p:txBody>
      </p:sp>
      <p:sp>
        <p:nvSpPr>
          <p:cNvPr id="15" name="TextBox 14"/>
          <p:cNvSpPr txBox="1"/>
          <p:nvPr/>
        </p:nvSpPr>
        <p:spPr>
          <a:xfrm>
            <a:off x="5270989" y="5923895"/>
            <a:ext cx="1290738" cy="261610"/>
          </a:xfrm>
          <a:prstGeom prst="rect">
            <a:avLst/>
          </a:prstGeom>
          <a:noFill/>
        </p:spPr>
        <p:txBody>
          <a:bodyPr wrap="none" rtlCol="0">
            <a:spAutoFit/>
          </a:bodyPr>
          <a:lstStyle/>
          <a:p>
            <a:r>
              <a:rPr lang="en-US" altLang="zh-CN" sz="1100" dirty="0"/>
              <a:t>1918, Nobel prize</a:t>
            </a:r>
            <a:endParaRPr lang="zh-CN" altLang="en-US" sz="1100" dirty="0"/>
          </a:p>
        </p:txBody>
      </p:sp>
      <p:sp>
        <p:nvSpPr>
          <p:cNvPr id="14" name="文本框 13">
            <a:extLst>
              <a:ext uri="{FF2B5EF4-FFF2-40B4-BE49-F238E27FC236}">
                <a16:creationId xmlns:a16="http://schemas.microsoft.com/office/drawing/2014/main" id="{0FA90CD5-D5D2-4694-B5BB-7686385F957F}"/>
              </a:ext>
            </a:extLst>
          </p:cNvPr>
          <p:cNvSpPr txBox="1"/>
          <p:nvPr/>
        </p:nvSpPr>
        <p:spPr>
          <a:xfrm>
            <a:off x="7433357" y="5908506"/>
            <a:ext cx="1642951" cy="400110"/>
          </a:xfrm>
          <a:prstGeom prst="rect">
            <a:avLst/>
          </a:prstGeom>
          <a:noFill/>
        </p:spPr>
        <p:txBody>
          <a:bodyPr wrap="square" rtlCol="0">
            <a:spAutoFit/>
          </a:bodyPr>
          <a:lstStyle/>
          <a:p>
            <a:r>
              <a:rPr lang="en-US" altLang="zh-CN" sz="1000" dirty="0"/>
              <a:t>1899</a:t>
            </a:r>
            <a:r>
              <a:rPr lang="zh-CN" altLang="en-US" sz="1000" dirty="0"/>
              <a:t>，</a:t>
            </a:r>
            <a:r>
              <a:rPr lang="en-US" altLang="zh-CN" sz="1000" dirty="0"/>
              <a:t>APS founder</a:t>
            </a:r>
          </a:p>
          <a:p>
            <a:r>
              <a:rPr lang="en-US" altLang="zh-CN" sz="1000" dirty="0"/>
              <a:t>1903 , </a:t>
            </a:r>
            <a:r>
              <a:rPr lang="en-US" altLang="zh-CN" sz="1000" b="0" i="0" dirty="0">
                <a:solidFill>
                  <a:srgbClr val="494848"/>
                </a:solidFill>
                <a:effectLst/>
                <a:latin typeface="Catamaran Regular"/>
              </a:rPr>
              <a:t>Nation. Aca. of Sci.</a:t>
            </a:r>
            <a:endParaRPr lang="zh-CN" altLang="en-US" sz="1000" dirty="0"/>
          </a:p>
        </p:txBody>
      </p:sp>
    </p:spTree>
    <p:extLst>
      <p:ext uri="{BB962C8B-B14F-4D97-AF65-F5344CB8AC3E}">
        <p14:creationId xmlns:p14="http://schemas.microsoft.com/office/powerpoint/2010/main" val="3214586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99382" y="-47887"/>
            <a:ext cx="7178676" cy="97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Thermodynamics</a:t>
            </a:r>
            <a:r>
              <a:rPr lang="en-US" b="1" dirty="0">
                <a:solidFill>
                  <a:srgbClr val="FF0000"/>
                </a:solidFill>
                <a:effectLst>
                  <a:outerShdw blurRad="38100" dist="38100" dir="2700000" algn="tl">
                    <a:srgbClr val="000000">
                      <a:alpha val="43137"/>
                    </a:srgbClr>
                  </a:outerShdw>
                </a:effectLst>
                <a:latin typeface="Arial" charset="0"/>
                <a:cs typeface="Arial" charset="0"/>
              </a:rPr>
              <a:t> free energy </a:t>
            </a:r>
            <a:endParaRPr lang="en-US" dirty="0">
              <a:solidFill>
                <a:srgbClr val="FF0000"/>
              </a:solidFill>
            </a:endParaRPr>
          </a:p>
        </p:txBody>
      </p:sp>
      <p:graphicFrame>
        <p:nvGraphicFramePr>
          <p:cNvPr id="10" name="对象 9"/>
          <p:cNvGraphicFramePr>
            <a:graphicFrameLocks noChangeAspect="1"/>
          </p:cNvGraphicFramePr>
          <p:nvPr/>
        </p:nvGraphicFramePr>
        <p:xfrm>
          <a:off x="998626" y="5503592"/>
          <a:ext cx="1764871" cy="433477"/>
        </p:xfrm>
        <a:graphic>
          <a:graphicData uri="http://schemas.openxmlformats.org/presentationml/2006/ole">
            <mc:AlternateContent xmlns:mc="http://schemas.openxmlformats.org/markup-compatibility/2006">
              <mc:Choice xmlns:v="urn:schemas-microsoft-com:vml" Requires="v">
                <p:oleObj name="Equation" r:id="rId2" imgW="723600" imgH="177480" progId="Equation.DSMT4">
                  <p:embed/>
                </p:oleObj>
              </mc:Choice>
              <mc:Fallback>
                <p:oleObj name="Equation" r:id="rId2" imgW="723600" imgH="177480" progId="Equation.DSMT4">
                  <p:embed/>
                  <p:pic>
                    <p:nvPicPr>
                      <p:cNvPr id="10" name="对象 9"/>
                      <p:cNvPicPr/>
                      <p:nvPr/>
                    </p:nvPicPr>
                    <p:blipFill>
                      <a:blip r:embed="rId3"/>
                      <a:stretch>
                        <a:fillRect/>
                      </a:stretch>
                    </p:blipFill>
                    <p:spPr>
                      <a:xfrm>
                        <a:off x="998626" y="5503592"/>
                        <a:ext cx="1764871" cy="433477"/>
                      </a:xfrm>
                      <a:prstGeom prst="rect">
                        <a:avLst/>
                      </a:prstGeom>
                    </p:spPr>
                  </p:pic>
                </p:oleObj>
              </mc:Fallback>
            </mc:AlternateContent>
          </a:graphicData>
        </a:graphic>
      </p:graphicFrame>
      <p:sp>
        <p:nvSpPr>
          <p:cNvPr id="11" name="TextBox 10"/>
          <p:cNvSpPr txBox="1"/>
          <p:nvPr/>
        </p:nvSpPr>
        <p:spPr>
          <a:xfrm>
            <a:off x="380103" y="4795706"/>
            <a:ext cx="7244612" cy="707886"/>
          </a:xfrm>
          <a:prstGeom prst="rect">
            <a:avLst/>
          </a:prstGeom>
          <a:noFill/>
        </p:spPr>
        <p:txBody>
          <a:bodyPr wrap="none" rtlCol="0">
            <a:spAutoFit/>
          </a:bodyPr>
          <a:lstStyle/>
          <a:p>
            <a:r>
              <a:rPr lang="en-US" altLang="zh-CN" sz="2000" b="1" dirty="0">
                <a:solidFill>
                  <a:srgbClr val="0000FF"/>
                </a:solidFill>
              </a:rPr>
              <a:t>Helmholtz Free Energy A, or F</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5" name="矩形 14"/>
          <p:cNvSpPr/>
          <p:nvPr/>
        </p:nvSpPr>
        <p:spPr>
          <a:xfrm>
            <a:off x="313823" y="1409631"/>
            <a:ext cx="8202258" cy="677108"/>
          </a:xfrm>
          <a:prstGeom prst="rect">
            <a:avLst/>
          </a:prstGeom>
        </p:spPr>
        <p:txBody>
          <a:bodyPr wrap="square">
            <a:spAutoFit/>
          </a:bodyPr>
          <a:lstStyle/>
          <a:p>
            <a:r>
              <a:rPr lang="en-US" altLang="zh-CN" sz="2000" b="1" dirty="0">
                <a:solidFill>
                  <a:srgbClr val="0000FF"/>
                </a:solidFill>
              </a:rPr>
              <a:t>Thermodynamic free energy, </a:t>
            </a:r>
          </a:p>
          <a:p>
            <a:r>
              <a:rPr lang="en-US" altLang="zh-CN" dirty="0"/>
              <a:t>the energy in a physical system that can be converted to do work</a:t>
            </a:r>
            <a:endParaRPr lang="zh-CN" altLang="en-US" dirty="0"/>
          </a:p>
        </p:txBody>
      </p:sp>
      <p:sp>
        <p:nvSpPr>
          <p:cNvPr id="8" name="TextBox 15"/>
          <p:cNvSpPr txBox="1"/>
          <p:nvPr/>
        </p:nvSpPr>
        <p:spPr>
          <a:xfrm>
            <a:off x="193765" y="2666691"/>
            <a:ext cx="7236596" cy="1015663"/>
          </a:xfrm>
          <a:prstGeom prst="rect">
            <a:avLst/>
          </a:prstGeom>
          <a:noFill/>
        </p:spPr>
        <p:txBody>
          <a:bodyPr wrap="none" rtlCol="0">
            <a:spAutoFit/>
          </a:bodyPr>
          <a:lstStyle/>
          <a:p>
            <a:r>
              <a:rPr lang="en-US" altLang="zh-CN" sz="2000" b="1" dirty="0">
                <a:solidFill>
                  <a:srgbClr val="0000FF"/>
                </a:solidFill>
              </a:rPr>
              <a:t>Gibbs Free Energy G, </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p>
          <a:p>
            <a:r>
              <a:rPr lang="en-US" altLang="zh-CN" sz="2000" b="1" i="1" dirty="0">
                <a:solidFill>
                  <a:srgbClr val="FF0000"/>
                </a:solidFill>
              </a:rPr>
              <a:t>      throughout the system</a:t>
            </a:r>
            <a:endParaRPr lang="zh-CN" altLang="en-US" sz="2000" b="1" i="1" dirty="0">
              <a:solidFill>
                <a:srgbClr val="FF0000"/>
              </a:solidFill>
            </a:endParaRPr>
          </a:p>
        </p:txBody>
      </p:sp>
      <p:graphicFrame>
        <p:nvGraphicFramePr>
          <p:cNvPr id="12" name="对象 11"/>
          <p:cNvGraphicFramePr>
            <a:graphicFrameLocks noChangeAspect="1"/>
          </p:cNvGraphicFramePr>
          <p:nvPr/>
        </p:nvGraphicFramePr>
        <p:xfrm>
          <a:off x="860515" y="3782366"/>
          <a:ext cx="4057650" cy="433388"/>
        </p:xfrm>
        <a:graphic>
          <a:graphicData uri="http://schemas.openxmlformats.org/presentationml/2006/ole">
            <mc:AlternateContent xmlns:mc="http://schemas.openxmlformats.org/markup-compatibility/2006">
              <mc:Choice xmlns:v="urn:schemas-microsoft-com:vml" Requires="v">
                <p:oleObj name="Equation" r:id="rId4" imgW="1663560" imgH="177480" progId="Equation.DSMT4">
                  <p:embed/>
                </p:oleObj>
              </mc:Choice>
              <mc:Fallback>
                <p:oleObj name="Equation" r:id="rId4" imgW="1663560" imgH="177480" progId="Equation.DSMT4">
                  <p:embed/>
                  <p:pic>
                    <p:nvPicPr>
                      <p:cNvPr id="12" name="对象 11"/>
                      <p:cNvPicPr>
                        <a:picLocks noChangeAspect="1" noChangeArrowheads="1"/>
                      </p:cNvPicPr>
                      <p:nvPr/>
                    </p:nvPicPr>
                    <p:blipFill>
                      <a:blip r:embed="rId5"/>
                      <a:srcRect/>
                      <a:stretch>
                        <a:fillRect/>
                      </a:stretch>
                    </p:blipFill>
                    <p:spPr bwMode="auto">
                      <a:xfrm>
                        <a:off x="860515" y="3782366"/>
                        <a:ext cx="40576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79818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bwMode="auto">
          <a:xfrm>
            <a:off x="1199382" y="-47887"/>
            <a:ext cx="7178676" cy="97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Thermodynamics</a:t>
            </a:r>
            <a:r>
              <a:rPr lang="en-US" b="1" dirty="0">
                <a:solidFill>
                  <a:srgbClr val="FF0000"/>
                </a:solidFill>
                <a:effectLst>
                  <a:outerShdw blurRad="38100" dist="38100" dir="2700000" algn="tl">
                    <a:srgbClr val="000000">
                      <a:alpha val="43137"/>
                    </a:srgbClr>
                  </a:outerShdw>
                </a:effectLst>
                <a:latin typeface="Arial" charset="0"/>
                <a:cs typeface="Arial" charset="0"/>
              </a:rPr>
              <a:t> free energy </a:t>
            </a:r>
            <a:endParaRPr lang="en-US" dirty="0">
              <a:solidFill>
                <a:srgbClr val="FF0000"/>
              </a:solidFill>
            </a:endParaRPr>
          </a:p>
        </p:txBody>
      </p:sp>
      <p:graphicFrame>
        <p:nvGraphicFramePr>
          <p:cNvPr id="10" name="对象 9"/>
          <p:cNvGraphicFramePr>
            <a:graphicFrameLocks noChangeAspect="1"/>
          </p:cNvGraphicFramePr>
          <p:nvPr/>
        </p:nvGraphicFramePr>
        <p:xfrm>
          <a:off x="841872" y="2995523"/>
          <a:ext cx="1764871" cy="433477"/>
        </p:xfrm>
        <a:graphic>
          <a:graphicData uri="http://schemas.openxmlformats.org/presentationml/2006/ole">
            <mc:AlternateContent xmlns:mc="http://schemas.openxmlformats.org/markup-compatibility/2006">
              <mc:Choice xmlns:v="urn:schemas-microsoft-com:vml" Requires="v">
                <p:oleObj name="Equation" r:id="rId2" imgW="723600" imgH="177480" progId="Equation.DSMT4">
                  <p:embed/>
                </p:oleObj>
              </mc:Choice>
              <mc:Fallback>
                <p:oleObj name="Equation" r:id="rId2" imgW="723600" imgH="177480" progId="Equation.DSMT4">
                  <p:embed/>
                  <p:pic>
                    <p:nvPicPr>
                      <p:cNvPr id="10" name="对象 9"/>
                      <p:cNvPicPr/>
                      <p:nvPr/>
                    </p:nvPicPr>
                    <p:blipFill>
                      <a:blip r:embed="rId3"/>
                      <a:stretch>
                        <a:fillRect/>
                      </a:stretch>
                    </p:blipFill>
                    <p:spPr>
                      <a:xfrm>
                        <a:off x="841872" y="2995523"/>
                        <a:ext cx="1764871" cy="433477"/>
                      </a:xfrm>
                      <a:prstGeom prst="rect">
                        <a:avLst/>
                      </a:prstGeom>
                    </p:spPr>
                  </p:pic>
                </p:oleObj>
              </mc:Fallback>
            </mc:AlternateContent>
          </a:graphicData>
        </a:graphic>
      </p:graphicFrame>
      <p:sp>
        <p:nvSpPr>
          <p:cNvPr id="11" name="TextBox 10"/>
          <p:cNvSpPr txBox="1"/>
          <p:nvPr/>
        </p:nvSpPr>
        <p:spPr>
          <a:xfrm>
            <a:off x="223349" y="2287637"/>
            <a:ext cx="7244612" cy="707886"/>
          </a:xfrm>
          <a:prstGeom prst="rect">
            <a:avLst/>
          </a:prstGeom>
          <a:noFill/>
        </p:spPr>
        <p:txBody>
          <a:bodyPr wrap="none" rtlCol="0">
            <a:spAutoFit/>
          </a:bodyPr>
          <a:lstStyle/>
          <a:p>
            <a:r>
              <a:rPr lang="en-US" altLang="zh-CN" sz="2000" b="1" dirty="0">
                <a:solidFill>
                  <a:srgbClr val="0000FF"/>
                </a:solidFill>
              </a:rPr>
              <a:t>Helmholtz Free Energy A, or F</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5" name="矩形 14"/>
          <p:cNvSpPr/>
          <p:nvPr/>
        </p:nvSpPr>
        <p:spPr>
          <a:xfrm>
            <a:off x="313823" y="1409631"/>
            <a:ext cx="8202258" cy="677108"/>
          </a:xfrm>
          <a:prstGeom prst="rect">
            <a:avLst/>
          </a:prstGeom>
        </p:spPr>
        <p:txBody>
          <a:bodyPr wrap="square">
            <a:spAutoFit/>
          </a:bodyPr>
          <a:lstStyle/>
          <a:p>
            <a:r>
              <a:rPr lang="en-US" altLang="zh-CN" sz="2000" b="1" dirty="0">
                <a:solidFill>
                  <a:srgbClr val="0000FF"/>
                </a:solidFill>
              </a:rPr>
              <a:t>Thermodynamic free energy, </a:t>
            </a:r>
          </a:p>
          <a:p>
            <a:r>
              <a:rPr lang="en-US" altLang="zh-CN" dirty="0"/>
              <a:t>the energy in a physical system that can be converted to do work</a:t>
            </a:r>
            <a:endParaRPr lang="zh-CN" altLang="en-US" dirty="0"/>
          </a:p>
        </p:txBody>
      </p:sp>
      <p:sp>
        <p:nvSpPr>
          <p:cNvPr id="16" name="TextBox 15"/>
          <p:cNvSpPr txBox="1"/>
          <p:nvPr/>
        </p:nvSpPr>
        <p:spPr>
          <a:xfrm>
            <a:off x="228600" y="3556337"/>
            <a:ext cx="7236596" cy="1015663"/>
          </a:xfrm>
          <a:prstGeom prst="rect">
            <a:avLst/>
          </a:prstGeom>
          <a:noFill/>
        </p:spPr>
        <p:txBody>
          <a:bodyPr wrap="none" rtlCol="0">
            <a:spAutoFit/>
          </a:bodyPr>
          <a:lstStyle/>
          <a:p>
            <a:r>
              <a:rPr lang="en-US" altLang="zh-CN" sz="2000" b="1" dirty="0">
                <a:solidFill>
                  <a:srgbClr val="0000FF"/>
                </a:solidFill>
              </a:rPr>
              <a:t>Gibbs Free Energy G, </a:t>
            </a:r>
          </a:p>
          <a:p>
            <a:r>
              <a:rPr lang="en-US" altLang="zh-CN" sz="2000" dirty="0"/>
              <a:t>----the energy that can be converted into work at 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p>
          <a:p>
            <a:r>
              <a:rPr lang="en-US" altLang="zh-CN" sz="2000" b="1" i="1" dirty="0">
                <a:solidFill>
                  <a:srgbClr val="FF0000"/>
                </a:solidFill>
              </a:rPr>
              <a:t>      throughout the system</a:t>
            </a:r>
            <a:endParaRPr lang="zh-CN" altLang="en-US" sz="2000" b="1" i="1" dirty="0">
              <a:solidFill>
                <a:srgbClr val="FF0000"/>
              </a:solidFill>
            </a:endParaRPr>
          </a:p>
        </p:txBody>
      </p:sp>
      <p:graphicFrame>
        <p:nvGraphicFramePr>
          <p:cNvPr id="17" name="对象 16"/>
          <p:cNvGraphicFramePr>
            <a:graphicFrameLocks noChangeAspect="1"/>
          </p:cNvGraphicFramePr>
          <p:nvPr/>
        </p:nvGraphicFramePr>
        <p:xfrm>
          <a:off x="895350" y="4672012"/>
          <a:ext cx="4057650" cy="433388"/>
        </p:xfrm>
        <a:graphic>
          <a:graphicData uri="http://schemas.openxmlformats.org/presentationml/2006/ole">
            <mc:AlternateContent xmlns:mc="http://schemas.openxmlformats.org/markup-compatibility/2006">
              <mc:Choice xmlns:v="urn:schemas-microsoft-com:vml" Requires="v">
                <p:oleObj name="Equation" r:id="rId4" imgW="1663560" imgH="177480" progId="Equation.DSMT4">
                  <p:embed/>
                </p:oleObj>
              </mc:Choice>
              <mc:Fallback>
                <p:oleObj name="Equation" r:id="rId4" imgW="1663560" imgH="177480" progId="Equation.DSMT4">
                  <p:embed/>
                  <p:pic>
                    <p:nvPicPr>
                      <p:cNvPr id="17" name="对象 16"/>
                      <p:cNvPicPr>
                        <a:picLocks noChangeAspect="1" noChangeArrowheads="1"/>
                      </p:cNvPicPr>
                      <p:nvPr/>
                    </p:nvPicPr>
                    <p:blipFill>
                      <a:blip r:embed="rId5"/>
                      <a:srcRect/>
                      <a:stretch>
                        <a:fillRect/>
                      </a:stretch>
                    </p:blipFill>
                    <p:spPr bwMode="auto">
                      <a:xfrm>
                        <a:off x="895350" y="4672012"/>
                        <a:ext cx="40576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586291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578586" y="1003873"/>
            <a:ext cx="6858929" cy="707886"/>
          </a:xfrm>
          <a:prstGeom prst="rect">
            <a:avLst/>
          </a:prstGeom>
          <a:noFill/>
        </p:spPr>
        <p:txBody>
          <a:bodyPr wrap="none" rtlCol="0">
            <a:spAutoFit/>
          </a:bodyPr>
          <a:lstStyle/>
          <a:p>
            <a:r>
              <a:rPr lang="en-US" altLang="zh-CN" sz="2000" b="1" dirty="0">
                <a:solidFill>
                  <a:srgbClr val="0000FF"/>
                </a:solidFill>
              </a:rPr>
              <a:t>Why Helmholtz Free Energy provide a criterion for equilibrium </a:t>
            </a:r>
          </a:p>
          <a:p>
            <a:r>
              <a:rPr lang="en-US" altLang="zh-CN" sz="2000" b="1" dirty="0">
                <a:solidFill>
                  <a:srgbClr val="0000FF"/>
                </a:solidFill>
              </a:rPr>
              <a:t>in a system at </a:t>
            </a:r>
            <a:r>
              <a:rPr lang="en-US" altLang="zh-CN" sz="2000" dirty="0"/>
              <a:t>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V?</a:t>
            </a:r>
            <a:endParaRPr lang="zh-CN" altLang="en-US" sz="2000" b="1" i="1" dirty="0">
              <a:solidFill>
                <a:srgbClr val="FF0000"/>
              </a:solidFill>
            </a:endParaRPr>
          </a:p>
        </p:txBody>
      </p:sp>
      <p:sp>
        <p:nvSpPr>
          <p:cNvPr id="11" name="矩形 10"/>
          <p:cNvSpPr/>
          <p:nvPr/>
        </p:nvSpPr>
        <p:spPr>
          <a:xfrm>
            <a:off x="1245247" y="179175"/>
            <a:ext cx="5354158" cy="584775"/>
          </a:xfrm>
          <a:prstGeom prst="rect">
            <a:avLst/>
          </a:prstGeom>
        </p:spPr>
        <p:txBody>
          <a:bodyPr wrap="none">
            <a:spAutoFit/>
          </a:bodyPr>
          <a:lstStyle/>
          <a:p>
            <a:r>
              <a:rPr lang="en-US" altLang="zh-CN" sz="3200" b="1" dirty="0">
                <a:solidFill>
                  <a:srgbClr val="FF0000"/>
                </a:solidFill>
              </a:rPr>
              <a:t>Helmholtz Free Energy </a:t>
            </a:r>
            <a:r>
              <a:rPr lang="en-US" altLang="zh-CN" sz="3200" b="1" i="1" dirty="0">
                <a:solidFill>
                  <a:srgbClr val="FF0000"/>
                </a:solidFill>
              </a:rPr>
              <a:t>A=U-TS</a:t>
            </a:r>
            <a:endParaRPr lang="zh-CN" altLang="en-US" sz="3200" i="1" dirty="0">
              <a:solidFill>
                <a:srgbClr val="FF0000"/>
              </a:solidFill>
            </a:endParaRPr>
          </a:p>
        </p:txBody>
      </p:sp>
      <p:sp>
        <p:nvSpPr>
          <p:cNvPr id="13" name="圆角矩形 12"/>
          <p:cNvSpPr/>
          <p:nvPr/>
        </p:nvSpPr>
        <p:spPr>
          <a:xfrm>
            <a:off x="466725" y="1821426"/>
            <a:ext cx="8305800" cy="4417449"/>
          </a:xfrm>
          <a:prstGeom prst="roundRect">
            <a:avLst>
              <a:gd name="adj" fmla="val 4501"/>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693049" y="2047875"/>
            <a:ext cx="3315002" cy="64633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A close system undergoing </a:t>
            </a:r>
          </a:p>
          <a:p>
            <a:r>
              <a:rPr lang="en-US" altLang="zh-CN" dirty="0">
                <a:latin typeface="Times New Roman" panose="02020603050405020304" pitchFamily="18" charset="0"/>
                <a:cs typeface="Times New Roman" panose="02020603050405020304" pitchFamily="18" charset="0"/>
              </a:rPr>
              <a:t>a  change from state 1 to state 2</a:t>
            </a:r>
            <a:endParaRPr lang="zh-CN" altLang="en-US" dirty="0">
              <a:latin typeface="Times New Roman" panose="02020603050405020304" pitchFamily="18" charset="0"/>
              <a:cs typeface="Times New Roman" panose="02020603050405020304" pitchFamily="18" charset="0"/>
            </a:endParaRPr>
          </a:p>
        </p:txBody>
      </p:sp>
      <p:graphicFrame>
        <p:nvGraphicFramePr>
          <p:cNvPr id="16" name="对象 15"/>
          <p:cNvGraphicFramePr>
            <a:graphicFrameLocks noChangeAspect="1"/>
          </p:cNvGraphicFramePr>
          <p:nvPr>
            <p:extLst>
              <p:ext uri="{D42A27DB-BD31-4B8C-83A1-F6EECF244321}">
                <p14:modId xmlns:p14="http://schemas.microsoft.com/office/powerpoint/2010/main" val="3893418679"/>
              </p:ext>
            </p:extLst>
          </p:nvPr>
        </p:nvGraphicFramePr>
        <p:xfrm>
          <a:off x="819311" y="2736617"/>
          <a:ext cx="2807056" cy="326207"/>
        </p:xfrm>
        <a:graphic>
          <a:graphicData uri="http://schemas.openxmlformats.org/presentationml/2006/ole">
            <mc:AlternateContent xmlns:mc="http://schemas.openxmlformats.org/markup-compatibility/2006">
              <mc:Choice xmlns:v="urn:schemas-microsoft-com:vml" Requires="v">
                <p:oleObj name="Equation" r:id="rId2" imgW="2184120" imgH="253800" progId="Equation.DSMT4">
                  <p:embed/>
                </p:oleObj>
              </mc:Choice>
              <mc:Fallback>
                <p:oleObj name="Equation" r:id="rId2" imgW="2184120" imgH="253800" progId="Equation.DSMT4">
                  <p:embed/>
                  <p:pic>
                    <p:nvPicPr>
                      <p:cNvPr id="16" name="对象 15"/>
                      <p:cNvPicPr>
                        <a:picLocks noChangeAspect="1" noChangeArrowheads="1"/>
                      </p:cNvPicPr>
                      <p:nvPr/>
                    </p:nvPicPr>
                    <p:blipFill>
                      <a:blip r:embed="rId3"/>
                      <a:srcRect/>
                      <a:stretch>
                        <a:fillRect/>
                      </a:stretch>
                    </p:blipFill>
                    <p:spPr bwMode="auto">
                      <a:xfrm>
                        <a:off x="819311" y="2736617"/>
                        <a:ext cx="2807056" cy="326207"/>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9487523"/>
              </p:ext>
            </p:extLst>
          </p:nvPr>
        </p:nvGraphicFramePr>
        <p:xfrm>
          <a:off x="847726" y="3143028"/>
          <a:ext cx="1417673" cy="329333"/>
        </p:xfrm>
        <a:graphic>
          <a:graphicData uri="http://schemas.openxmlformats.org/presentationml/2006/ole">
            <mc:AlternateContent xmlns:mc="http://schemas.openxmlformats.org/markup-compatibility/2006">
              <mc:Choice xmlns:v="urn:schemas-microsoft-com:vml" Requires="v">
                <p:oleObj name="Equation" r:id="rId4" imgW="1091880" imgH="253800" progId="Equation.DSMT4">
                  <p:embed/>
                </p:oleObj>
              </mc:Choice>
              <mc:Fallback>
                <p:oleObj name="Equation" r:id="rId4" imgW="1091880" imgH="253800" progId="Equation.DSMT4">
                  <p:embed/>
                  <p:pic>
                    <p:nvPicPr>
                      <p:cNvPr id="17" name="对象 16"/>
                      <p:cNvPicPr>
                        <a:picLocks noChangeAspect="1" noChangeArrowheads="1"/>
                      </p:cNvPicPr>
                      <p:nvPr/>
                    </p:nvPicPr>
                    <p:blipFill>
                      <a:blip r:embed="rId5"/>
                      <a:srcRect/>
                      <a:stretch>
                        <a:fillRect/>
                      </a:stretch>
                    </p:blipFill>
                    <p:spPr bwMode="auto">
                      <a:xfrm>
                        <a:off x="847726" y="3143028"/>
                        <a:ext cx="1417673" cy="329333"/>
                      </a:xfrm>
                      <a:prstGeom prst="rect">
                        <a:avLst/>
                      </a:prstGeom>
                      <a:noFill/>
                      <a:ln>
                        <a:noFill/>
                      </a:ln>
                    </p:spPr>
                  </p:pic>
                </p:oleObj>
              </mc:Fallback>
            </mc:AlternateContent>
          </a:graphicData>
        </a:graphic>
      </p:graphicFrame>
      <p:sp>
        <p:nvSpPr>
          <p:cNvPr id="19" name="任意多边形 18"/>
          <p:cNvSpPr/>
          <p:nvPr/>
        </p:nvSpPr>
        <p:spPr>
          <a:xfrm>
            <a:off x="683952" y="2868935"/>
            <a:ext cx="163773" cy="491320"/>
          </a:xfrm>
          <a:custGeom>
            <a:avLst/>
            <a:gdLst>
              <a:gd name="connsiteX0" fmla="*/ 150125 w 163773"/>
              <a:gd name="connsiteY0" fmla="*/ 0 h 491320"/>
              <a:gd name="connsiteX1" fmla="*/ 0 w 163773"/>
              <a:gd name="connsiteY1" fmla="*/ 0 h 491320"/>
              <a:gd name="connsiteX2" fmla="*/ 0 w 163773"/>
              <a:gd name="connsiteY2" fmla="*/ 491320 h 491320"/>
              <a:gd name="connsiteX3" fmla="*/ 163773 w 163773"/>
              <a:gd name="connsiteY3" fmla="*/ 491320 h 491320"/>
            </a:gdLst>
            <a:ahLst/>
            <a:cxnLst>
              <a:cxn ang="0">
                <a:pos x="connsiteX0" y="connsiteY0"/>
              </a:cxn>
              <a:cxn ang="0">
                <a:pos x="connsiteX1" y="connsiteY1"/>
              </a:cxn>
              <a:cxn ang="0">
                <a:pos x="connsiteX2" y="connsiteY2"/>
              </a:cxn>
              <a:cxn ang="0">
                <a:pos x="connsiteX3" y="connsiteY3"/>
              </a:cxn>
            </a:cxnLst>
            <a:rect l="l" t="t" r="r" b="b"/>
            <a:pathLst>
              <a:path w="163773" h="491320">
                <a:moveTo>
                  <a:pt x="150125" y="0"/>
                </a:moveTo>
                <a:lnTo>
                  <a:pt x="0" y="0"/>
                </a:lnTo>
                <a:lnTo>
                  <a:pt x="0" y="491320"/>
                </a:lnTo>
                <a:lnTo>
                  <a:pt x="163773" y="49132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0" name="对象 19"/>
          <p:cNvGraphicFramePr>
            <a:graphicFrameLocks noChangeAspect="1"/>
          </p:cNvGraphicFramePr>
          <p:nvPr>
            <p:extLst>
              <p:ext uri="{D42A27DB-BD31-4B8C-83A1-F6EECF244321}">
                <p14:modId xmlns:p14="http://schemas.microsoft.com/office/powerpoint/2010/main" val="815864062"/>
              </p:ext>
            </p:extLst>
          </p:nvPr>
        </p:nvGraphicFramePr>
        <p:xfrm>
          <a:off x="892027" y="3525800"/>
          <a:ext cx="2681177" cy="352533"/>
        </p:xfrm>
        <a:graphic>
          <a:graphicData uri="http://schemas.openxmlformats.org/presentationml/2006/ole">
            <mc:AlternateContent xmlns:mc="http://schemas.openxmlformats.org/markup-compatibility/2006">
              <mc:Choice xmlns:v="urn:schemas-microsoft-com:vml" Requires="v">
                <p:oleObj name="Equation" r:id="rId6" imgW="1930320" imgH="253800" progId="Equation.DSMT4">
                  <p:embed/>
                </p:oleObj>
              </mc:Choice>
              <mc:Fallback>
                <p:oleObj name="Equation" r:id="rId6" imgW="1930320" imgH="253800" progId="Equation.DSMT4">
                  <p:embed/>
                  <p:pic>
                    <p:nvPicPr>
                      <p:cNvPr id="20" name="对象 19"/>
                      <p:cNvPicPr>
                        <a:picLocks noChangeAspect="1" noChangeArrowheads="1"/>
                      </p:cNvPicPr>
                      <p:nvPr/>
                    </p:nvPicPr>
                    <p:blipFill>
                      <a:blip r:embed="rId7"/>
                      <a:srcRect/>
                      <a:stretch>
                        <a:fillRect/>
                      </a:stretch>
                    </p:blipFill>
                    <p:spPr bwMode="auto">
                      <a:xfrm>
                        <a:off x="892027" y="3525800"/>
                        <a:ext cx="2681177" cy="352533"/>
                      </a:xfrm>
                      <a:prstGeom prst="rect">
                        <a:avLst/>
                      </a:prstGeom>
                      <a:noFill/>
                      <a:ln>
                        <a:noFill/>
                      </a:ln>
                    </p:spPr>
                  </p:pic>
                </p:oleObj>
              </mc:Fallback>
            </mc:AlternateContent>
          </a:graphicData>
        </a:graphic>
      </p:graphicFrame>
      <p:sp>
        <p:nvSpPr>
          <p:cNvPr id="21" name="矩形 20"/>
          <p:cNvSpPr/>
          <p:nvPr/>
        </p:nvSpPr>
        <p:spPr>
          <a:xfrm>
            <a:off x="619125" y="3916696"/>
            <a:ext cx="3507476" cy="369332"/>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For a isothermal process, </a:t>
            </a:r>
            <a:endParaRPr lang="zh-CN" altLang="en-US" dirty="0">
              <a:latin typeface="Times New Roman" panose="02020603050405020304" pitchFamily="18" charset="0"/>
              <a:cs typeface="Times New Roman" panose="02020603050405020304"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3687030669"/>
              </p:ext>
            </p:extLst>
          </p:nvPr>
        </p:nvGraphicFramePr>
        <p:xfrm>
          <a:off x="1026706" y="4286028"/>
          <a:ext cx="811619" cy="270931"/>
        </p:xfrm>
        <a:graphic>
          <a:graphicData uri="http://schemas.openxmlformats.org/presentationml/2006/ole">
            <mc:AlternateContent xmlns:mc="http://schemas.openxmlformats.org/markup-compatibility/2006">
              <mc:Choice xmlns:v="urn:schemas-microsoft-com:vml" Requires="v">
                <p:oleObj name="Equation" r:id="rId8" imgW="685800" imgH="228600" progId="Equation.DSMT4">
                  <p:embed/>
                </p:oleObj>
              </mc:Choice>
              <mc:Fallback>
                <p:oleObj name="Equation" r:id="rId8" imgW="685800" imgH="228600" progId="Equation.DSMT4">
                  <p:embed/>
                  <p:pic>
                    <p:nvPicPr>
                      <p:cNvPr id="22" name="对象 21"/>
                      <p:cNvPicPr>
                        <a:picLocks noChangeAspect="1" noChangeArrowheads="1"/>
                      </p:cNvPicPr>
                      <p:nvPr/>
                    </p:nvPicPr>
                    <p:blipFill>
                      <a:blip r:embed="rId9"/>
                      <a:srcRect/>
                      <a:stretch>
                        <a:fillRect/>
                      </a:stretch>
                    </p:blipFill>
                    <p:spPr bwMode="auto">
                      <a:xfrm>
                        <a:off x="1026706" y="4286028"/>
                        <a:ext cx="811619" cy="270931"/>
                      </a:xfrm>
                      <a:prstGeom prst="rect">
                        <a:avLst/>
                      </a:prstGeom>
                      <a:noFill/>
                      <a:ln>
                        <a:noFill/>
                      </a:ln>
                    </p:spPr>
                  </p:pic>
                </p:oleObj>
              </mc:Fallback>
            </mc:AlternateContent>
          </a:graphicData>
        </a:graphic>
      </p:graphicFrame>
      <p:sp>
        <p:nvSpPr>
          <p:cNvPr id="23" name="椭圆 22"/>
          <p:cNvSpPr/>
          <p:nvPr/>
        </p:nvSpPr>
        <p:spPr>
          <a:xfrm>
            <a:off x="3249711" y="4602202"/>
            <a:ext cx="461768" cy="44923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2949480" y="4473390"/>
            <a:ext cx="870045" cy="8032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箭头连接符 25"/>
          <p:cNvCxnSpPr/>
          <p:nvPr/>
        </p:nvCxnSpPr>
        <p:spPr>
          <a:xfrm flipH="1">
            <a:off x="3082545" y="4875009"/>
            <a:ext cx="299122" cy="26514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947785" y="4649969"/>
            <a:ext cx="306494" cy="369332"/>
          </a:xfrm>
          <a:prstGeom prst="rect">
            <a:avLst/>
          </a:prstGeom>
          <a:noFill/>
        </p:spPr>
        <p:txBody>
          <a:bodyPr wrap="none" rtlCol="0">
            <a:spAutoFit/>
          </a:bodyPr>
          <a:lstStyle/>
          <a:p>
            <a:r>
              <a:rPr lang="en-US" altLang="zh-CN" dirty="0"/>
              <a:t>q</a:t>
            </a:r>
            <a:endParaRPr lang="zh-CN" altLang="en-US" dirty="0"/>
          </a:p>
        </p:txBody>
      </p:sp>
      <p:cxnSp>
        <p:nvCxnSpPr>
          <p:cNvPr id="30" name="直接箭头连接符 29"/>
          <p:cNvCxnSpPr/>
          <p:nvPr/>
        </p:nvCxnSpPr>
        <p:spPr>
          <a:xfrm flipH="1">
            <a:off x="3234941" y="4886730"/>
            <a:ext cx="299122" cy="265142"/>
          </a:xfrm>
          <a:prstGeom prst="straightConnector1">
            <a:avLst/>
          </a:prstGeom>
          <a:ln>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31" name="对象 30"/>
          <p:cNvGraphicFramePr>
            <a:graphicFrameLocks noChangeAspect="1"/>
          </p:cNvGraphicFramePr>
          <p:nvPr>
            <p:extLst>
              <p:ext uri="{D42A27DB-BD31-4B8C-83A1-F6EECF244321}">
                <p14:modId xmlns:p14="http://schemas.microsoft.com/office/powerpoint/2010/main" val="800810700"/>
              </p:ext>
            </p:extLst>
          </p:nvPr>
        </p:nvGraphicFramePr>
        <p:xfrm>
          <a:off x="879475" y="4538663"/>
          <a:ext cx="1697038" cy="1090612"/>
        </p:xfrm>
        <a:graphic>
          <a:graphicData uri="http://schemas.openxmlformats.org/presentationml/2006/ole">
            <mc:AlternateContent xmlns:mc="http://schemas.openxmlformats.org/markup-compatibility/2006">
              <mc:Choice xmlns:v="urn:schemas-microsoft-com:vml" Requires="v">
                <p:oleObj name="Equation" r:id="rId10" imgW="1422360" imgH="914400" progId="Equation.DSMT4">
                  <p:embed/>
                </p:oleObj>
              </mc:Choice>
              <mc:Fallback>
                <p:oleObj name="Equation" r:id="rId10" imgW="1422360" imgH="914400" progId="Equation.DSMT4">
                  <p:embed/>
                  <p:pic>
                    <p:nvPicPr>
                      <p:cNvPr id="31" name="对象 30"/>
                      <p:cNvPicPr>
                        <a:picLocks noChangeAspect="1" noChangeArrowheads="1"/>
                      </p:cNvPicPr>
                      <p:nvPr/>
                    </p:nvPicPr>
                    <p:blipFill>
                      <a:blip r:embed="rId11"/>
                      <a:srcRect/>
                      <a:stretch>
                        <a:fillRect/>
                      </a:stretch>
                    </p:blipFill>
                    <p:spPr bwMode="auto">
                      <a:xfrm>
                        <a:off x="879475" y="4538663"/>
                        <a:ext cx="1697038" cy="1090612"/>
                      </a:xfrm>
                      <a:prstGeom prst="rect">
                        <a:avLst/>
                      </a:prstGeom>
                      <a:noFill/>
                      <a:ln>
                        <a:noFill/>
                      </a:ln>
                    </p:spPr>
                  </p:pic>
                </p:oleObj>
              </mc:Fallback>
            </mc:AlternateContent>
          </a:graphicData>
        </a:graphic>
      </p:graphicFrame>
      <p:graphicFrame>
        <p:nvGraphicFramePr>
          <p:cNvPr id="32" name="对象 31"/>
          <p:cNvGraphicFramePr>
            <a:graphicFrameLocks noChangeAspect="1"/>
          </p:cNvGraphicFramePr>
          <p:nvPr>
            <p:extLst>
              <p:ext uri="{D42A27DB-BD31-4B8C-83A1-F6EECF244321}">
                <p14:modId xmlns:p14="http://schemas.microsoft.com/office/powerpoint/2010/main" val="804063842"/>
              </p:ext>
            </p:extLst>
          </p:nvPr>
        </p:nvGraphicFramePr>
        <p:xfrm>
          <a:off x="5208806" y="2068286"/>
          <a:ext cx="1784719" cy="625920"/>
        </p:xfrm>
        <a:graphic>
          <a:graphicData uri="http://schemas.openxmlformats.org/presentationml/2006/ole">
            <mc:AlternateContent xmlns:mc="http://schemas.openxmlformats.org/markup-compatibility/2006">
              <mc:Choice xmlns:v="urn:schemas-microsoft-com:vml" Requires="v">
                <p:oleObj name="Equation" r:id="rId12" imgW="1447560" imgH="507960" progId="Equation.DSMT4">
                  <p:embed/>
                </p:oleObj>
              </mc:Choice>
              <mc:Fallback>
                <p:oleObj name="Equation" r:id="rId12" imgW="1447560" imgH="507960" progId="Equation.DSMT4">
                  <p:embed/>
                  <p:pic>
                    <p:nvPicPr>
                      <p:cNvPr id="32" name="对象 31"/>
                      <p:cNvPicPr>
                        <a:picLocks noChangeAspect="1" noChangeArrowheads="1"/>
                      </p:cNvPicPr>
                      <p:nvPr/>
                    </p:nvPicPr>
                    <p:blipFill>
                      <a:blip r:embed="rId13"/>
                      <a:srcRect/>
                      <a:stretch>
                        <a:fillRect/>
                      </a:stretch>
                    </p:blipFill>
                    <p:spPr bwMode="auto">
                      <a:xfrm>
                        <a:off x="5208806" y="2068286"/>
                        <a:ext cx="1784719" cy="625920"/>
                      </a:xfrm>
                      <a:prstGeom prst="rect">
                        <a:avLst/>
                      </a:prstGeom>
                      <a:noFill/>
                      <a:ln>
                        <a:noFill/>
                      </a:ln>
                    </p:spPr>
                  </p:pic>
                </p:oleObj>
              </mc:Fallback>
            </mc:AlternateContent>
          </a:graphicData>
        </a:graphic>
      </p:graphicFrame>
      <p:sp>
        <p:nvSpPr>
          <p:cNvPr id="33" name="矩形 32"/>
          <p:cNvSpPr/>
          <p:nvPr/>
        </p:nvSpPr>
        <p:spPr>
          <a:xfrm>
            <a:off x="4466827" y="2684269"/>
            <a:ext cx="4000500" cy="923330"/>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Furthermore , for </a:t>
            </a:r>
            <a:r>
              <a:rPr lang="en-US" altLang="zh-CN" dirty="0">
                <a:solidFill>
                  <a:srgbClr val="FF0000"/>
                </a:solidFill>
                <a:latin typeface="Times New Roman" panose="02020603050405020304" pitchFamily="18" charset="0"/>
                <a:cs typeface="Times New Roman" panose="02020603050405020304" pitchFamily="18" charset="0"/>
              </a:rPr>
              <a:t>a isothermal process  conducted at a constant volume</a:t>
            </a:r>
            <a:r>
              <a:rPr lang="en-US" altLang="zh-CN" dirty="0">
                <a:latin typeface="Times New Roman" panose="02020603050405020304" pitchFamily="18" charset="0"/>
                <a:cs typeface="Times New Roman" panose="02020603050405020304" pitchFamily="18" charset="0"/>
              </a:rPr>
              <a:t>, which does not perform P-V work, i.e. </a:t>
            </a:r>
            <a:r>
              <a:rPr lang="en-US" altLang="zh-CN" i="1" dirty="0">
                <a:latin typeface="Times New Roman" panose="02020603050405020304" pitchFamily="18" charset="0"/>
                <a:cs typeface="Times New Roman" panose="02020603050405020304" pitchFamily="18" charset="0"/>
              </a:rPr>
              <a:t>w=0</a:t>
            </a:r>
            <a:endParaRPr lang="zh-CN" altLang="en-US" i="1" dirty="0">
              <a:latin typeface="Times New Roman" panose="02020603050405020304" pitchFamily="18" charset="0"/>
              <a:cs typeface="Times New Roman" panose="02020603050405020304" pitchFamily="18" charset="0"/>
            </a:endParaRPr>
          </a:p>
        </p:txBody>
      </p:sp>
      <p:graphicFrame>
        <p:nvGraphicFramePr>
          <p:cNvPr id="34" name="对象 33"/>
          <p:cNvGraphicFramePr>
            <a:graphicFrameLocks noChangeAspect="1"/>
          </p:cNvGraphicFramePr>
          <p:nvPr>
            <p:extLst>
              <p:ext uri="{D42A27DB-BD31-4B8C-83A1-F6EECF244321}">
                <p14:modId xmlns:p14="http://schemas.microsoft.com/office/powerpoint/2010/main" val="3240075881"/>
              </p:ext>
            </p:extLst>
          </p:nvPr>
        </p:nvGraphicFramePr>
        <p:xfrm>
          <a:off x="5299075" y="3571875"/>
          <a:ext cx="1644650" cy="593725"/>
        </p:xfrm>
        <a:graphic>
          <a:graphicData uri="http://schemas.openxmlformats.org/presentationml/2006/ole">
            <mc:AlternateContent xmlns:mc="http://schemas.openxmlformats.org/markup-compatibility/2006">
              <mc:Choice xmlns:v="urn:schemas-microsoft-com:vml" Requires="v">
                <p:oleObj name="Equation" r:id="rId14" imgW="1333440" imgH="482400" progId="Equation.DSMT4">
                  <p:embed/>
                </p:oleObj>
              </mc:Choice>
              <mc:Fallback>
                <p:oleObj name="Equation" r:id="rId14" imgW="1333440" imgH="482400" progId="Equation.DSMT4">
                  <p:embed/>
                  <p:pic>
                    <p:nvPicPr>
                      <p:cNvPr id="34" name="对象 33"/>
                      <p:cNvPicPr>
                        <a:picLocks noChangeAspect="1" noChangeArrowheads="1"/>
                      </p:cNvPicPr>
                      <p:nvPr/>
                    </p:nvPicPr>
                    <p:blipFill>
                      <a:blip r:embed="rId15"/>
                      <a:srcRect/>
                      <a:stretch>
                        <a:fillRect/>
                      </a:stretch>
                    </p:blipFill>
                    <p:spPr bwMode="auto">
                      <a:xfrm>
                        <a:off x="5299075" y="3571875"/>
                        <a:ext cx="164465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矩形 34"/>
          <p:cNvSpPr/>
          <p:nvPr/>
        </p:nvSpPr>
        <p:spPr>
          <a:xfrm>
            <a:off x="4466827" y="4257675"/>
            <a:ext cx="4077098" cy="830997"/>
          </a:xfrm>
          <a:prstGeom prst="rect">
            <a:avLst/>
          </a:prstGeom>
        </p:spPr>
        <p:txBody>
          <a:bodyPr wrap="square">
            <a:spAutoFit/>
          </a:bodyPr>
          <a:lstStyle/>
          <a:p>
            <a:r>
              <a:rPr lang="en-US" altLang="zh-CN" sz="1600" i="1" dirty="0">
                <a:latin typeface="Times New Roman" panose="02020603050405020304" pitchFamily="18" charset="0"/>
                <a:cs typeface="Times New Roman" panose="02020603050405020304" pitchFamily="18" charset="0"/>
              </a:rPr>
              <a:t>For  a spontaneous process </a:t>
            </a:r>
          </a:p>
          <a:p>
            <a:r>
              <a:rPr lang="en-US" altLang="zh-CN" sz="1600" i="1" dirty="0" err="1">
                <a:latin typeface="Times New Roman" panose="02020603050405020304" pitchFamily="18" charset="0"/>
                <a:cs typeface="Times New Roman" panose="02020603050405020304" pitchFamily="18" charset="0"/>
              </a:rPr>
              <a:t>dS</a:t>
            </a:r>
            <a:r>
              <a:rPr lang="en-US" altLang="zh-CN" sz="1600" baseline="-25000" dirty="0" err="1">
                <a:latin typeface="Times New Roman" panose="02020603050405020304" pitchFamily="18" charset="0"/>
                <a:cs typeface="Times New Roman" panose="02020603050405020304" pitchFamily="18" charset="0"/>
              </a:rPr>
              <a:t>irr</a:t>
            </a:r>
            <a:r>
              <a:rPr lang="en-US" altLang="zh-CN" sz="1600" dirty="0">
                <a:latin typeface="Times New Roman" panose="02020603050405020304" pitchFamily="18" charset="0"/>
                <a:cs typeface="Times New Roman" panose="02020603050405020304" pitchFamily="18" charset="0"/>
              </a:rPr>
              <a:t> is always positive </a:t>
            </a:r>
            <a:r>
              <a:rPr lang="en-US" altLang="zh-CN" sz="16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600" i="1" dirty="0">
                <a:latin typeface="Times New Roman" panose="02020603050405020304" pitchFamily="18" charset="0"/>
                <a:cs typeface="Times New Roman" panose="02020603050405020304" pitchFamily="18" charset="0"/>
              </a:rPr>
              <a:t>A </a:t>
            </a:r>
            <a:r>
              <a:rPr lang="en-US" altLang="zh-CN" sz="1600" dirty="0">
                <a:latin typeface="Times New Roman" panose="02020603050405020304" pitchFamily="18" charset="0"/>
                <a:cs typeface="Times New Roman" panose="02020603050405020304" pitchFamily="18" charset="0"/>
              </a:rPr>
              <a:t>decreases during a spontaneous process</a:t>
            </a:r>
            <a:endParaRPr lang="zh-CN" altLang="en-US" sz="1600" dirty="0">
              <a:latin typeface="Times New Roman" panose="02020603050405020304" pitchFamily="18" charset="0"/>
              <a:cs typeface="Times New Roman" panose="02020603050405020304" pitchFamily="18" charset="0"/>
            </a:endParaRPr>
          </a:p>
        </p:txBody>
      </p:sp>
      <p:sp>
        <p:nvSpPr>
          <p:cNvPr id="36" name="矩形 35"/>
          <p:cNvSpPr/>
          <p:nvPr/>
        </p:nvSpPr>
        <p:spPr>
          <a:xfrm>
            <a:off x="4352925" y="5095875"/>
            <a:ext cx="4343400" cy="646331"/>
          </a:xfrm>
          <a:prstGeom prst="rect">
            <a:avLst/>
          </a:prstGeom>
        </p:spPr>
        <p:txBody>
          <a:bodyPr wrap="square">
            <a:spAutoFit/>
          </a:bodyPr>
          <a:lstStyle/>
          <a:p>
            <a:r>
              <a:rPr lang="en-US" altLang="zh-CN" b="1" dirty="0">
                <a:solidFill>
                  <a:srgbClr val="FF0000"/>
                </a:solidFill>
              </a:rPr>
              <a:t>The  criterion for equilibrium  in a system at a constant </a:t>
            </a:r>
            <a:r>
              <a:rPr lang="en-US" altLang="zh-CN" b="1" i="1" dirty="0">
                <a:solidFill>
                  <a:srgbClr val="FF0000"/>
                </a:solidFill>
              </a:rPr>
              <a:t>T</a:t>
            </a:r>
            <a:r>
              <a:rPr lang="en-US" altLang="zh-CN" b="1" dirty="0">
                <a:solidFill>
                  <a:srgbClr val="FF0000"/>
                </a:solidFill>
              </a:rPr>
              <a:t> and </a:t>
            </a:r>
            <a:r>
              <a:rPr lang="en-US" altLang="zh-CN" b="1" i="1" dirty="0">
                <a:solidFill>
                  <a:srgbClr val="FF0000"/>
                </a:solidFill>
              </a:rPr>
              <a:t>V:</a:t>
            </a:r>
            <a:endParaRPr lang="zh-CN" altLang="en-US" b="1" dirty="0">
              <a:solidFill>
                <a:srgbClr val="FF0000"/>
              </a:solidFill>
            </a:endParaRPr>
          </a:p>
        </p:txBody>
      </p:sp>
      <p:graphicFrame>
        <p:nvGraphicFramePr>
          <p:cNvPr id="37" name="对象 36"/>
          <p:cNvGraphicFramePr>
            <a:graphicFrameLocks noChangeAspect="1"/>
          </p:cNvGraphicFramePr>
          <p:nvPr>
            <p:extLst>
              <p:ext uri="{D42A27DB-BD31-4B8C-83A1-F6EECF244321}">
                <p14:modId xmlns:p14="http://schemas.microsoft.com/office/powerpoint/2010/main" val="3246115206"/>
              </p:ext>
            </p:extLst>
          </p:nvPr>
        </p:nvGraphicFramePr>
        <p:xfrm>
          <a:off x="7160420" y="5700028"/>
          <a:ext cx="726280" cy="290512"/>
        </p:xfrm>
        <a:graphic>
          <a:graphicData uri="http://schemas.openxmlformats.org/presentationml/2006/ole">
            <mc:AlternateContent xmlns:mc="http://schemas.openxmlformats.org/markup-compatibility/2006">
              <mc:Choice xmlns:v="urn:schemas-microsoft-com:vml" Requires="v">
                <p:oleObj name="Equation" r:id="rId16" imgW="444240" imgH="177480" progId="Equation.DSMT4">
                  <p:embed/>
                </p:oleObj>
              </mc:Choice>
              <mc:Fallback>
                <p:oleObj name="Equation" r:id="rId16" imgW="444240" imgH="177480" progId="Equation.DSMT4">
                  <p:embed/>
                  <p:pic>
                    <p:nvPicPr>
                      <p:cNvPr id="37" name="对象 36"/>
                      <p:cNvPicPr/>
                      <p:nvPr/>
                    </p:nvPicPr>
                    <p:blipFill>
                      <a:blip r:embed="rId17"/>
                      <a:stretch>
                        <a:fillRect/>
                      </a:stretch>
                    </p:blipFill>
                    <p:spPr>
                      <a:xfrm>
                        <a:off x="7160420" y="5700028"/>
                        <a:ext cx="726280" cy="290512"/>
                      </a:xfrm>
                      <a:prstGeom prst="rect">
                        <a:avLst/>
                      </a:prstGeom>
                      <a:ln>
                        <a:solidFill>
                          <a:srgbClr val="FF0000"/>
                        </a:solidFill>
                      </a:ln>
                    </p:spPr>
                  </p:pic>
                </p:oleObj>
              </mc:Fallback>
            </mc:AlternateContent>
          </a:graphicData>
        </a:graphic>
      </p:graphicFrame>
      <p:cxnSp>
        <p:nvCxnSpPr>
          <p:cNvPr id="3" name="直接连接符 2"/>
          <p:cNvCxnSpPr/>
          <p:nvPr/>
        </p:nvCxnSpPr>
        <p:spPr>
          <a:xfrm>
            <a:off x="693049" y="5276628"/>
            <a:ext cx="193953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114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337.png"/>
          <p:cNvPicPr/>
          <p:nvPr/>
        </p:nvPicPr>
        <p:blipFill>
          <a:blip r:embed="rId2" cstate="print"/>
          <a:stretch>
            <a:fillRect/>
          </a:stretch>
        </p:blipFill>
        <p:spPr>
          <a:xfrm>
            <a:off x="3409950" y="1200150"/>
            <a:ext cx="2489068" cy="3429000"/>
          </a:xfrm>
          <a:prstGeom prst="rect">
            <a:avLst/>
          </a:prstGeom>
        </p:spPr>
      </p:pic>
      <p:pic>
        <p:nvPicPr>
          <p:cNvPr id="10" name="image338.png"/>
          <p:cNvPicPr/>
          <p:nvPr/>
        </p:nvPicPr>
        <p:blipFill>
          <a:blip r:embed="rId3" cstate="print"/>
          <a:stretch>
            <a:fillRect/>
          </a:stretch>
        </p:blipFill>
        <p:spPr>
          <a:xfrm>
            <a:off x="6143068" y="1267142"/>
            <a:ext cx="2501971" cy="3486831"/>
          </a:xfrm>
          <a:prstGeom prst="rect">
            <a:avLst/>
          </a:prstGeom>
        </p:spPr>
      </p:pic>
      <p:sp>
        <p:nvSpPr>
          <p:cNvPr id="11" name="矩形 10"/>
          <p:cNvSpPr/>
          <p:nvPr/>
        </p:nvSpPr>
        <p:spPr>
          <a:xfrm>
            <a:off x="3857068" y="4781550"/>
            <a:ext cx="4572000" cy="646331"/>
          </a:xfrm>
          <a:prstGeom prst="rect">
            <a:avLst/>
          </a:prstGeom>
        </p:spPr>
        <p:txBody>
          <a:bodyPr>
            <a:spAutoFit/>
          </a:bodyPr>
          <a:lstStyle/>
          <a:p>
            <a:pPr algn="ctr"/>
            <a:r>
              <a:rPr lang="zh-CN" altLang="zh-CN" dirty="0"/>
              <a:t> </a:t>
            </a:r>
            <a:r>
              <a:rPr lang="en-US" altLang="zh-CN" dirty="0"/>
              <a:t>In this state the solid exerts its equilibrium vapor pressure at the temperature </a:t>
            </a:r>
            <a:r>
              <a:rPr lang="en-US" altLang="zh-CN" i="1" dirty="0"/>
              <a:t>T</a:t>
            </a:r>
            <a:endParaRPr lang="zh-CN" altLang="en-US" dirty="0"/>
          </a:p>
        </p:txBody>
      </p:sp>
      <p:sp>
        <p:nvSpPr>
          <p:cNvPr id="13" name="TextBox 12"/>
          <p:cNvSpPr txBox="1"/>
          <p:nvPr/>
        </p:nvSpPr>
        <p:spPr>
          <a:xfrm>
            <a:off x="5429250" y="5619750"/>
            <a:ext cx="3619500" cy="523220"/>
          </a:xfrm>
          <a:prstGeom prst="rect">
            <a:avLst/>
          </a:prstGeom>
          <a:noFill/>
        </p:spPr>
        <p:txBody>
          <a:bodyPr wrap="square" rtlCol="0">
            <a:spAutoFit/>
          </a:bodyPr>
          <a:lstStyle/>
          <a:p>
            <a:r>
              <a:rPr lang="en-US" altLang="zh-CN" sz="1400" i="1" dirty="0"/>
              <a:t>V </a:t>
            </a:r>
            <a:r>
              <a:rPr lang="en-US" altLang="zh-CN" sz="1400" dirty="0"/>
              <a:t>is the volume of the containing vessel</a:t>
            </a:r>
          </a:p>
          <a:p>
            <a:r>
              <a:rPr lang="en-US" altLang="zh-CN" sz="1400" i="1" dirty="0" err="1"/>
              <a:t>V</a:t>
            </a:r>
            <a:r>
              <a:rPr lang="en-US" altLang="zh-CN" sz="1400" i="1" baseline="-25000" dirty="0" err="1"/>
              <a:t>s</a:t>
            </a:r>
            <a:r>
              <a:rPr lang="en-US" altLang="zh-CN" sz="1400" baseline="-25000" dirty="0"/>
              <a:t> </a:t>
            </a:r>
            <a:r>
              <a:rPr lang="en-US" altLang="zh-CN" sz="1400" dirty="0"/>
              <a:t>is the volume of the solid phase present</a:t>
            </a:r>
            <a:endParaRPr lang="zh-CN" altLang="en-US" sz="1400" dirty="0"/>
          </a:p>
        </p:txBody>
      </p:sp>
      <p:sp>
        <p:nvSpPr>
          <p:cNvPr id="14" name="圆角矩形 13"/>
          <p:cNvSpPr/>
          <p:nvPr/>
        </p:nvSpPr>
        <p:spPr>
          <a:xfrm>
            <a:off x="304458" y="1352550"/>
            <a:ext cx="2720472" cy="3048000"/>
          </a:xfrm>
          <a:prstGeom prst="roundRect">
            <a:avLst>
              <a:gd name="adj" fmla="val 2988"/>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圆角矩形 14"/>
          <p:cNvSpPr/>
          <p:nvPr/>
        </p:nvSpPr>
        <p:spPr>
          <a:xfrm>
            <a:off x="980730" y="2203155"/>
            <a:ext cx="1367928" cy="1295400"/>
          </a:xfrm>
          <a:prstGeom prst="roundRect">
            <a:avLst>
              <a:gd name="adj" fmla="val 599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980730" y="3084772"/>
            <a:ext cx="1367928" cy="413784"/>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194834" y="2504626"/>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885950" y="2579053"/>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881543" y="3036604"/>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641657" y="2201383"/>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492801" y="2850855"/>
            <a:ext cx="148856" cy="148855"/>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239384" y="4552950"/>
            <a:ext cx="2953401" cy="1600438"/>
          </a:xfrm>
          <a:prstGeom prst="rect">
            <a:avLst/>
          </a:prstGeom>
        </p:spPr>
        <p:txBody>
          <a:bodyPr wrap="square">
            <a:spAutoFit/>
          </a:bodyPr>
          <a:lstStyle/>
          <a:p>
            <a:pPr algn="just"/>
            <a:r>
              <a:rPr lang="en-US" altLang="zh-CN" sz="1400" b="1" dirty="0">
                <a:solidFill>
                  <a:srgbClr val="0000FF"/>
                </a:solidFill>
              </a:rPr>
              <a:t>Evaporation at constant T and V</a:t>
            </a:r>
          </a:p>
          <a:p>
            <a:pPr algn="just"/>
            <a:r>
              <a:rPr lang="en-US" altLang="zh-CN" sz="1400" dirty="0"/>
              <a:t>atoms are removed from the solid and placed in the vapor phase, heat continues to flow from the heat reservoir, and the internal energy and the entropy of the system continue to increase</a:t>
            </a:r>
            <a:endParaRPr lang="zh-CN" altLang="en-US" sz="1400" dirty="0"/>
          </a:p>
        </p:txBody>
      </p:sp>
      <p:cxnSp>
        <p:nvCxnSpPr>
          <p:cNvPr id="25" name="直接箭头连接符 24"/>
          <p:cNvCxnSpPr/>
          <p:nvPr/>
        </p:nvCxnSpPr>
        <p:spPr>
          <a:xfrm flipH="1" flipV="1">
            <a:off x="1862096" y="2875887"/>
            <a:ext cx="91010" cy="18743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flipH="1" flipV="1">
            <a:off x="2257648" y="3404838"/>
            <a:ext cx="91010" cy="18743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341456" y="3333750"/>
            <a:ext cx="306494" cy="369332"/>
          </a:xfrm>
          <a:prstGeom prst="rect">
            <a:avLst/>
          </a:prstGeom>
          <a:noFill/>
        </p:spPr>
        <p:txBody>
          <a:bodyPr wrap="none" rtlCol="0">
            <a:spAutoFit/>
          </a:bodyPr>
          <a:lstStyle/>
          <a:p>
            <a:r>
              <a:rPr lang="en-US" altLang="zh-CN" i="1" dirty="0">
                <a:solidFill>
                  <a:srgbClr val="FF0000"/>
                </a:solidFill>
              </a:rPr>
              <a:t>q</a:t>
            </a:r>
            <a:endParaRPr lang="zh-CN" altLang="en-US" i="1" dirty="0">
              <a:solidFill>
                <a:srgbClr val="FF0000"/>
              </a:solidFill>
            </a:endParaRPr>
          </a:p>
        </p:txBody>
      </p:sp>
      <p:sp>
        <p:nvSpPr>
          <p:cNvPr id="29" name="矩形 28"/>
          <p:cNvSpPr/>
          <p:nvPr/>
        </p:nvSpPr>
        <p:spPr>
          <a:xfrm>
            <a:off x="1120032" y="180423"/>
            <a:ext cx="5585568" cy="584775"/>
          </a:xfrm>
          <a:prstGeom prst="rect">
            <a:avLst/>
          </a:prstGeom>
        </p:spPr>
        <p:txBody>
          <a:bodyPr wrap="none">
            <a:spAutoFit/>
          </a:bodyPr>
          <a:lstStyle/>
          <a:p>
            <a:pPr algn="just"/>
            <a:r>
              <a:rPr lang="en-US" altLang="zh-CN" sz="3200" b="1" dirty="0">
                <a:solidFill>
                  <a:srgbClr val="FF0000"/>
                </a:solidFill>
              </a:rPr>
              <a:t>Evaporation at constant T and V</a:t>
            </a:r>
          </a:p>
        </p:txBody>
      </p:sp>
      <p:graphicFrame>
        <p:nvGraphicFramePr>
          <p:cNvPr id="2" name="对象 1"/>
          <p:cNvGraphicFramePr>
            <a:graphicFrameLocks noChangeAspect="1"/>
          </p:cNvGraphicFramePr>
          <p:nvPr>
            <p:extLst>
              <p:ext uri="{D42A27DB-BD31-4B8C-83A1-F6EECF244321}">
                <p14:modId xmlns:p14="http://schemas.microsoft.com/office/powerpoint/2010/main" val="2918898714"/>
              </p:ext>
            </p:extLst>
          </p:nvPr>
        </p:nvGraphicFramePr>
        <p:xfrm>
          <a:off x="4010752" y="5619750"/>
          <a:ext cx="1287463" cy="652462"/>
        </p:xfrm>
        <a:graphic>
          <a:graphicData uri="http://schemas.openxmlformats.org/presentationml/2006/ole">
            <mc:AlternateContent xmlns:mc="http://schemas.openxmlformats.org/markup-compatibility/2006">
              <mc:Choice xmlns:v="urn:schemas-microsoft-com:vml" Requires="v">
                <p:oleObj name="Equation" r:id="rId4" imgW="927000" imgH="469800" progId="Equation.DSMT4">
                  <p:embed/>
                </p:oleObj>
              </mc:Choice>
              <mc:Fallback>
                <p:oleObj name="Equation" r:id="rId4" imgW="927000" imgH="469800" progId="Equation.DSMT4">
                  <p:embed/>
                  <p:pic>
                    <p:nvPicPr>
                      <p:cNvPr id="0" name="对象 19"/>
                      <p:cNvPicPr>
                        <a:picLocks noChangeAspect="1" noChangeArrowheads="1"/>
                      </p:cNvPicPr>
                      <p:nvPr/>
                    </p:nvPicPr>
                    <p:blipFill>
                      <a:blip r:embed="rId5"/>
                      <a:srcRect/>
                      <a:stretch>
                        <a:fillRect/>
                      </a:stretch>
                    </p:blipFill>
                    <p:spPr bwMode="auto">
                      <a:xfrm>
                        <a:off x="4010752" y="5619750"/>
                        <a:ext cx="1287463" cy="65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05404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342.png"/>
          <p:cNvPicPr/>
          <p:nvPr/>
        </p:nvPicPr>
        <p:blipFill>
          <a:blip r:embed="rId2" cstate="print"/>
          <a:stretch>
            <a:fillRect/>
          </a:stretch>
        </p:blipFill>
        <p:spPr>
          <a:xfrm>
            <a:off x="4953000" y="1631868"/>
            <a:ext cx="3657600" cy="4703150"/>
          </a:xfrm>
          <a:prstGeom prst="rect">
            <a:avLst/>
          </a:prstGeom>
        </p:spPr>
      </p:pic>
      <p:sp>
        <p:nvSpPr>
          <p:cNvPr id="11" name="矩形 10"/>
          <p:cNvSpPr/>
          <p:nvPr/>
        </p:nvSpPr>
        <p:spPr>
          <a:xfrm>
            <a:off x="1196232" y="198239"/>
            <a:ext cx="5585568" cy="584775"/>
          </a:xfrm>
          <a:prstGeom prst="rect">
            <a:avLst/>
          </a:prstGeom>
        </p:spPr>
        <p:txBody>
          <a:bodyPr wrap="none">
            <a:spAutoFit/>
          </a:bodyPr>
          <a:lstStyle/>
          <a:p>
            <a:pPr algn="just"/>
            <a:r>
              <a:rPr lang="en-US" altLang="zh-CN" sz="3200" b="1" dirty="0">
                <a:solidFill>
                  <a:srgbClr val="FF0000"/>
                </a:solidFill>
              </a:rPr>
              <a:t>Evaporation at constant T and V</a:t>
            </a:r>
          </a:p>
        </p:txBody>
      </p:sp>
      <p:pic>
        <p:nvPicPr>
          <p:cNvPr id="14" name="image343.png"/>
          <p:cNvPicPr/>
          <p:nvPr/>
        </p:nvPicPr>
        <p:blipFill>
          <a:blip r:embed="rId3" cstate="print"/>
          <a:stretch>
            <a:fillRect/>
          </a:stretch>
        </p:blipFill>
        <p:spPr>
          <a:xfrm>
            <a:off x="533400" y="4648200"/>
            <a:ext cx="2745441" cy="533400"/>
          </a:xfrm>
          <a:prstGeom prst="rect">
            <a:avLst/>
          </a:prstGeom>
        </p:spPr>
      </p:pic>
      <p:sp>
        <p:nvSpPr>
          <p:cNvPr id="15" name="矩形 14"/>
          <p:cNvSpPr/>
          <p:nvPr/>
        </p:nvSpPr>
        <p:spPr>
          <a:xfrm>
            <a:off x="152400" y="5257800"/>
            <a:ext cx="4572000" cy="1077218"/>
          </a:xfrm>
          <a:prstGeom prst="rect">
            <a:avLst/>
          </a:prstGeom>
        </p:spPr>
        <p:txBody>
          <a:bodyPr>
            <a:spAutoFit/>
          </a:bodyPr>
          <a:lstStyle/>
          <a:p>
            <a:r>
              <a:rPr lang="en-US" altLang="zh-CN" sz="1600" dirty="0"/>
              <a:t>The saturated vapor pressure of dry ice </a:t>
            </a:r>
          </a:p>
          <a:p>
            <a:r>
              <a:rPr lang="en-US" altLang="zh-CN" sz="1600" dirty="0"/>
              <a:t>increases </a:t>
            </a:r>
            <a:r>
              <a:rPr lang="en-US" altLang="zh-CN" sz="1600" b="1" dirty="0"/>
              <a:t>from 0.01 </a:t>
            </a:r>
            <a:r>
              <a:rPr lang="en-US" altLang="zh-CN" sz="1600" b="1" dirty="0" err="1"/>
              <a:t>atm</a:t>
            </a:r>
            <a:r>
              <a:rPr lang="en-US" altLang="zh-CN" sz="1600" b="1" dirty="0"/>
              <a:t> at 151.2 K</a:t>
            </a:r>
            <a:r>
              <a:rPr lang="en-US" altLang="zh-CN" sz="1600" dirty="0"/>
              <a:t>,</a:t>
            </a:r>
          </a:p>
          <a:p>
            <a:r>
              <a:rPr lang="en-US" altLang="zh-CN" sz="1600" dirty="0"/>
              <a:t>                      </a:t>
            </a:r>
            <a:r>
              <a:rPr lang="en-US" altLang="zh-CN" sz="1600" b="1" dirty="0"/>
              <a:t>to 0.1 </a:t>
            </a:r>
            <a:r>
              <a:rPr lang="en-US" altLang="zh-CN" sz="1600" b="1" dirty="0" err="1"/>
              <a:t>atm</a:t>
            </a:r>
            <a:r>
              <a:rPr lang="en-US" altLang="zh-CN" sz="1600" b="1" dirty="0"/>
              <a:t> at 170.2 K, </a:t>
            </a:r>
          </a:p>
          <a:p>
            <a:r>
              <a:rPr lang="en-US" altLang="zh-CN" sz="1600" dirty="0"/>
              <a:t>                      </a:t>
            </a:r>
            <a:r>
              <a:rPr lang="en-US" altLang="zh-CN" sz="1600" b="1" dirty="0"/>
              <a:t>to 1 </a:t>
            </a:r>
            <a:r>
              <a:rPr lang="en-US" altLang="zh-CN" sz="1600" b="1" dirty="0" err="1"/>
              <a:t>atm</a:t>
            </a:r>
            <a:r>
              <a:rPr lang="en-US" altLang="zh-CN" sz="1600" b="1" dirty="0"/>
              <a:t> at 194.6 K</a:t>
            </a:r>
            <a:r>
              <a:rPr lang="en-US" altLang="zh-CN" sz="1600" dirty="0"/>
              <a:t>.</a:t>
            </a:r>
            <a:endParaRPr lang="zh-CN" altLang="en-US" sz="1600" dirty="0"/>
          </a:p>
        </p:txBody>
      </p:sp>
      <p:sp>
        <p:nvSpPr>
          <p:cNvPr id="16" name="矩形 15"/>
          <p:cNvSpPr/>
          <p:nvPr/>
        </p:nvSpPr>
        <p:spPr>
          <a:xfrm>
            <a:off x="129672" y="3886200"/>
            <a:ext cx="4572000" cy="646331"/>
          </a:xfrm>
          <a:prstGeom prst="rect">
            <a:avLst/>
          </a:prstGeom>
        </p:spPr>
        <p:txBody>
          <a:bodyPr>
            <a:spAutoFit/>
          </a:bodyPr>
          <a:lstStyle/>
          <a:p>
            <a:r>
              <a:rPr lang="zh-CN" altLang="zh-CN" dirty="0"/>
              <a:t> </a:t>
            </a:r>
            <a:r>
              <a:rPr lang="en-US" altLang="zh-CN" dirty="0"/>
              <a:t>For example, the saturated vapor pressure of solid CO</a:t>
            </a:r>
            <a:r>
              <a:rPr lang="en-US" altLang="zh-CN" baseline="-25000" dirty="0"/>
              <a:t>2</a:t>
            </a:r>
            <a:r>
              <a:rPr lang="en-US" altLang="zh-CN" dirty="0"/>
              <a:t>, “dry ice”</a:t>
            </a:r>
            <a:endParaRPr lang="zh-CN" altLang="en-US" dirty="0"/>
          </a:p>
        </p:txBody>
      </p:sp>
      <p:sp>
        <p:nvSpPr>
          <p:cNvPr id="17" name="矩形 16"/>
          <p:cNvSpPr/>
          <p:nvPr/>
        </p:nvSpPr>
        <p:spPr>
          <a:xfrm>
            <a:off x="76200" y="1276290"/>
            <a:ext cx="3197414" cy="400110"/>
          </a:xfrm>
          <a:prstGeom prst="rect">
            <a:avLst/>
          </a:prstGeom>
        </p:spPr>
        <p:txBody>
          <a:bodyPr wrap="none">
            <a:spAutoFit/>
          </a:bodyPr>
          <a:lstStyle/>
          <a:p>
            <a:r>
              <a:rPr lang="en-US" altLang="zh-CN" sz="2000" dirty="0"/>
              <a:t>the saturated vapor pressure</a:t>
            </a:r>
            <a:endParaRPr lang="zh-CN" altLang="en-US" sz="2000" dirty="0"/>
          </a:p>
        </p:txBody>
      </p:sp>
      <p:graphicFrame>
        <p:nvGraphicFramePr>
          <p:cNvPr id="3" name="对象 2"/>
          <p:cNvGraphicFramePr>
            <a:graphicFrameLocks noChangeAspect="1"/>
          </p:cNvGraphicFramePr>
          <p:nvPr>
            <p:extLst>
              <p:ext uri="{D42A27DB-BD31-4B8C-83A1-F6EECF244321}">
                <p14:modId xmlns:p14="http://schemas.microsoft.com/office/powerpoint/2010/main" val="2077645403"/>
              </p:ext>
            </p:extLst>
          </p:nvPr>
        </p:nvGraphicFramePr>
        <p:xfrm>
          <a:off x="470026" y="1835853"/>
          <a:ext cx="1817687" cy="739775"/>
        </p:xfrm>
        <a:graphic>
          <a:graphicData uri="http://schemas.openxmlformats.org/presentationml/2006/ole">
            <mc:AlternateContent xmlns:mc="http://schemas.openxmlformats.org/markup-compatibility/2006">
              <mc:Choice xmlns:v="urn:schemas-microsoft-com:vml" Requires="v">
                <p:oleObj name="Equation" r:id="rId4" imgW="1307880" imgH="533160" progId="Equation.DSMT4">
                  <p:embed/>
                </p:oleObj>
              </mc:Choice>
              <mc:Fallback>
                <p:oleObj name="Equation" r:id="rId4" imgW="1307880" imgH="533160" progId="Equation.DSMT4">
                  <p:embed/>
                  <p:pic>
                    <p:nvPicPr>
                      <p:cNvPr id="0" name="对象 1"/>
                      <p:cNvPicPr>
                        <a:picLocks noChangeAspect="1" noChangeArrowheads="1"/>
                      </p:cNvPicPr>
                      <p:nvPr/>
                    </p:nvPicPr>
                    <p:blipFill>
                      <a:blip r:embed="rId5"/>
                      <a:srcRect/>
                      <a:stretch>
                        <a:fillRect/>
                      </a:stretch>
                    </p:blipFill>
                    <p:spPr bwMode="auto">
                      <a:xfrm>
                        <a:off x="470026" y="1835853"/>
                        <a:ext cx="1817687"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71434618"/>
              </p:ext>
            </p:extLst>
          </p:nvPr>
        </p:nvGraphicFramePr>
        <p:xfrm>
          <a:off x="533400" y="2825204"/>
          <a:ext cx="1854200" cy="739775"/>
        </p:xfrm>
        <a:graphic>
          <a:graphicData uri="http://schemas.openxmlformats.org/presentationml/2006/ole">
            <mc:AlternateContent xmlns:mc="http://schemas.openxmlformats.org/markup-compatibility/2006">
              <mc:Choice xmlns:v="urn:schemas-microsoft-com:vml" Requires="v">
                <p:oleObj name="Equation" r:id="rId6" imgW="1333440" imgH="533160" progId="Equation.DSMT4">
                  <p:embed/>
                </p:oleObj>
              </mc:Choice>
              <mc:Fallback>
                <p:oleObj name="Equation" r:id="rId6" imgW="1333440" imgH="533160" progId="Equation.DSMT4">
                  <p:embed/>
                  <p:pic>
                    <p:nvPicPr>
                      <p:cNvPr id="0" name="对象 2"/>
                      <p:cNvPicPr>
                        <a:picLocks noChangeAspect="1" noChangeArrowheads="1"/>
                      </p:cNvPicPr>
                      <p:nvPr/>
                    </p:nvPicPr>
                    <p:blipFill>
                      <a:blip r:embed="rId7"/>
                      <a:srcRect/>
                      <a:stretch>
                        <a:fillRect/>
                      </a:stretch>
                    </p:blipFill>
                    <p:spPr bwMode="auto">
                      <a:xfrm>
                        <a:off x="533400" y="2825204"/>
                        <a:ext cx="18542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290031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199039" y="145611"/>
            <a:ext cx="5122877" cy="646331"/>
          </a:xfrm>
          <a:prstGeom prst="rect">
            <a:avLst/>
          </a:prstGeom>
        </p:spPr>
        <p:txBody>
          <a:bodyPr wrap="none">
            <a:spAutoFit/>
          </a:bodyPr>
          <a:lstStyle/>
          <a:p>
            <a:r>
              <a:rPr lang="en-US" altLang="zh-CN" sz="3600" b="1" dirty="0">
                <a:solidFill>
                  <a:srgbClr val="FF0000"/>
                </a:solidFill>
              </a:rPr>
              <a:t>Gibbs Free Energy G=H-TS</a:t>
            </a:r>
            <a:endParaRPr lang="zh-CN" altLang="en-US" sz="3600" dirty="0">
              <a:solidFill>
                <a:srgbClr val="FF0000"/>
              </a:solidFill>
            </a:endParaRPr>
          </a:p>
        </p:txBody>
      </p:sp>
      <p:sp>
        <p:nvSpPr>
          <p:cNvPr id="10" name="TextBox 9"/>
          <p:cNvSpPr txBox="1"/>
          <p:nvPr/>
        </p:nvSpPr>
        <p:spPr>
          <a:xfrm>
            <a:off x="492862" y="1414026"/>
            <a:ext cx="6370334" cy="707886"/>
          </a:xfrm>
          <a:prstGeom prst="rect">
            <a:avLst/>
          </a:prstGeom>
          <a:noFill/>
        </p:spPr>
        <p:txBody>
          <a:bodyPr wrap="none" rtlCol="0">
            <a:spAutoFit/>
          </a:bodyPr>
          <a:lstStyle/>
          <a:p>
            <a:r>
              <a:rPr lang="en-US" altLang="zh-CN" sz="2000" b="1" dirty="0">
                <a:solidFill>
                  <a:srgbClr val="0000FF"/>
                </a:solidFill>
              </a:rPr>
              <a:t>Why Gibbs Free Energy provide a criterion for equilibrium </a:t>
            </a:r>
          </a:p>
          <a:p>
            <a:r>
              <a:rPr lang="en-US" altLang="zh-CN" sz="2000" b="1" dirty="0">
                <a:solidFill>
                  <a:srgbClr val="0000FF"/>
                </a:solidFill>
              </a:rPr>
              <a:t>in a system at </a:t>
            </a:r>
            <a:r>
              <a:rPr lang="en-US" altLang="zh-CN" sz="2000" dirty="0"/>
              <a:t>a </a:t>
            </a:r>
            <a:r>
              <a:rPr lang="en-US" altLang="zh-CN" sz="2000" dirty="0">
                <a:solidFill>
                  <a:srgbClr val="FF0000"/>
                </a:solidFill>
              </a:rPr>
              <a:t>constant </a:t>
            </a:r>
            <a:r>
              <a:rPr lang="en-US" altLang="zh-CN" sz="2000" b="1" i="1" dirty="0">
                <a:solidFill>
                  <a:srgbClr val="FF0000"/>
                </a:solidFill>
              </a:rPr>
              <a:t>T</a:t>
            </a:r>
            <a:r>
              <a:rPr lang="en-US" altLang="zh-CN" sz="2000" dirty="0">
                <a:solidFill>
                  <a:srgbClr val="FF0000"/>
                </a:solidFill>
              </a:rPr>
              <a:t> and </a:t>
            </a:r>
            <a:r>
              <a:rPr lang="en-US" altLang="zh-CN" sz="2000" b="1" i="1" dirty="0">
                <a:solidFill>
                  <a:srgbClr val="FF0000"/>
                </a:solidFill>
              </a:rPr>
              <a:t>P?</a:t>
            </a:r>
            <a:endParaRPr lang="zh-CN" altLang="en-US" sz="2000" b="1" i="1" dirty="0">
              <a:solidFill>
                <a:srgbClr val="FF0000"/>
              </a:solidFill>
            </a:endParaRPr>
          </a:p>
        </p:txBody>
      </p:sp>
      <p:sp>
        <p:nvSpPr>
          <p:cNvPr id="11" name="圆角矩形 10"/>
          <p:cNvSpPr/>
          <p:nvPr/>
        </p:nvSpPr>
        <p:spPr>
          <a:xfrm>
            <a:off x="381000" y="2286000"/>
            <a:ext cx="8305800" cy="4267200"/>
          </a:xfrm>
          <a:prstGeom prst="roundRect">
            <a:avLst>
              <a:gd name="adj" fmla="val 4501"/>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607324" y="2362200"/>
            <a:ext cx="3315002" cy="646331"/>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A close system undergoing </a:t>
            </a:r>
          </a:p>
          <a:p>
            <a:r>
              <a:rPr lang="en-US" altLang="zh-CN" dirty="0">
                <a:latin typeface="Times New Roman" panose="02020603050405020304" pitchFamily="18" charset="0"/>
                <a:cs typeface="Times New Roman" panose="02020603050405020304" pitchFamily="18" charset="0"/>
              </a:rPr>
              <a:t>a  change from state 1 to state 2</a:t>
            </a:r>
            <a:endParaRPr lang="zh-CN" altLang="en-US" dirty="0">
              <a:latin typeface="Times New Roman" panose="02020603050405020304" pitchFamily="18" charset="0"/>
              <a:cs typeface="Times New Roman" panose="02020603050405020304" pitchFamily="18" charset="0"/>
            </a:endParaRPr>
          </a:p>
        </p:txBody>
      </p:sp>
      <p:graphicFrame>
        <p:nvGraphicFramePr>
          <p:cNvPr id="13" name="对象 12"/>
          <p:cNvGraphicFramePr>
            <a:graphicFrameLocks noChangeAspect="1"/>
          </p:cNvGraphicFramePr>
          <p:nvPr/>
        </p:nvGraphicFramePr>
        <p:xfrm>
          <a:off x="731838" y="3006725"/>
          <a:ext cx="3916362" cy="650875"/>
        </p:xfrm>
        <a:graphic>
          <a:graphicData uri="http://schemas.openxmlformats.org/presentationml/2006/ole">
            <mc:AlternateContent xmlns:mc="http://schemas.openxmlformats.org/markup-compatibility/2006">
              <mc:Choice xmlns:v="urn:schemas-microsoft-com:vml" Requires="v">
                <p:oleObj name="Equation" r:id="rId2" imgW="3047760" imgH="507960" progId="Equation.DSMT4">
                  <p:embed/>
                </p:oleObj>
              </mc:Choice>
              <mc:Fallback>
                <p:oleObj name="Equation" r:id="rId2" imgW="3047760" imgH="507960" progId="Equation.DSMT4">
                  <p:embed/>
                  <p:pic>
                    <p:nvPicPr>
                      <p:cNvPr id="13" name="对象 12"/>
                      <p:cNvPicPr>
                        <a:picLocks noChangeAspect="1" noChangeArrowheads="1"/>
                      </p:cNvPicPr>
                      <p:nvPr/>
                    </p:nvPicPr>
                    <p:blipFill>
                      <a:blip r:embed="rId3"/>
                      <a:srcRect/>
                      <a:stretch>
                        <a:fillRect/>
                      </a:stretch>
                    </p:blipFill>
                    <p:spPr bwMode="auto">
                      <a:xfrm>
                        <a:off x="731838" y="3006725"/>
                        <a:ext cx="3916362" cy="650875"/>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685800" y="4114800"/>
          <a:ext cx="3933825" cy="352425"/>
        </p:xfrm>
        <a:graphic>
          <a:graphicData uri="http://schemas.openxmlformats.org/presentationml/2006/ole">
            <mc:AlternateContent xmlns:mc="http://schemas.openxmlformats.org/markup-compatibility/2006">
              <mc:Choice xmlns:v="urn:schemas-microsoft-com:vml" Requires="v">
                <p:oleObj name="Equation" r:id="rId4" imgW="2831760" imgH="253800" progId="Equation.DSMT4">
                  <p:embed/>
                </p:oleObj>
              </mc:Choice>
              <mc:Fallback>
                <p:oleObj name="Equation" r:id="rId4" imgW="2831760" imgH="253800" progId="Equation.DSMT4">
                  <p:embed/>
                  <p:pic>
                    <p:nvPicPr>
                      <p:cNvPr id="14" name="对象 13"/>
                      <p:cNvPicPr>
                        <a:picLocks noChangeAspect="1" noChangeArrowheads="1"/>
                      </p:cNvPicPr>
                      <p:nvPr/>
                    </p:nvPicPr>
                    <p:blipFill>
                      <a:blip r:embed="rId5"/>
                      <a:srcRect/>
                      <a:stretch>
                        <a:fillRect/>
                      </a:stretch>
                    </p:blipFill>
                    <p:spPr bwMode="auto">
                      <a:xfrm>
                        <a:off x="685800" y="4114800"/>
                        <a:ext cx="3933825" cy="352425"/>
                      </a:xfrm>
                      <a:prstGeom prst="rect">
                        <a:avLst/>
                      </a:prstGeom>
                      <a:noFill/>
                      <a:ln>
                        <a:noFill/>
                      </a:ln>
                    </p:spPr>
                  </p:pic>
                </p:oleObj>
              </mc:Fallback>
            </mc:AlternateContent>
          </a:graphicData>
        </a:graphic>
      </p:graphicFrame>
      <p:graphicFrame>
        <p:nvGraphicFramePr>
          <p:cNvPr id="15" name="对象 14"/>
          <p:cNvGraphicFramePr>
            <a:graphicFrameLocks noChangeAspect="1"/>
          </p:cNvGraphicFramePr>
          <p:nvPr/>
        </p:nvGraphicFramePr>
        <p:xfrm>
          <a:off x="685800" y="3708329"/>
          <a:ext cx="1417638" cy="328613"/>
        </p:xfrm>
        <a:graphic>
          <a:graphicData uri="http://schemas.openxmlformats.org/presentationml/2006/ole">
            <mc:AlternateContent xmlns:mc="http://schemas.openxmlformats.org/markup-compatibility/2006">
              <mc:Choice xmlns:v="urn:schemas-microsoft-com:vml" Requires="v">
                <p:oleObj name="Equation" r:id="rId6" imgW="1091880" imgH="253800" progId="Equation.DSMT4">
                  <p:embed/>
                </p:oleObj>
              </mc:Choice>
              <mc:Fallback>
                <p:oleObj name="Equation" r:id="rId6" imgW="1091880" imgH="253800" progId="Equation.DSMT4">
                  <p:embed/>
                  <p:pic>
                    <p:nvPicPr>
                      <p:cNvPr id="15" name="对象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3708329"/>
                        <a:ext cx="14176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任意多边形 15"/>
          <p:cNvSpPr/>
          <p:nvPr/>
        </p:nvSpPr>
        <p:spPr>
          <a:xfrm>
            <a:off x="533400" y="3124200"/>
            <a:ext cx="163773" cy="779140"/>
          </a:xfrm>
          <a:custGeom>
            <a:avLst/>
            <a:gdLst>
              <a:gd name="connsiteX0" fmla="*/ 150125 w 163773"/>
              <a:gd name="connsiteY0" fmla="*/ 0 h 491320"/>
              <a:gd name="connsiteX1" fmla="*/ 0 w 163773"/>
              <a:gd name="connsiteY1" fmla="*/ 0 h 491320"/>
              <a:gd name="connsiteX2" fmla="*/ 0 w 163773"/>
              <a:gd name="connsiteY2" fmla="*/ 491320 h 491320"/>
              <a:gd name="connsiteX3" fmla="*/ 163773 w 163773"/>
              <a:gd name="connsiteY3" fmla="*/ 491320 h 491320"/>
            </a:gdLst>
            <a:ahLst/>
            <a:cxnLst>
              <a:cxn ang="0">
                <a:pos x="connsiteX0" y="connsiteY0"/>
              </a:cxn>
              <a:cxn ang="0">
                <a:pos x="connsiteX1" y="connsiteY1"/>
              </a:cxn>
              <a:cxn ang="0">
                <a:pos x="connsiteX2" y="connsiteY2"/>
              </a:cxn>
              <a:cxn ang="0">
                <a:pos x="connsiteX3" y="connsiteY3"/>
              </a:cxn>
            </a:cxnLst>
            <a:rect l="l" t="t" r="r" b="b"/>
            <a:pathLst>
              <a:path w="163773" h="491320">
                <a:moveTo>
                  <a:pt x="150125" y="0"/>
                </a:moveTo>
                <a:lnTo>
                  <a:pt x="0" y="0"/>
                </a:lnTo>
                <a:lnTo>
                  <a:pt x="0" y="491320"/>
                </a:lnTo>
                <a:lnTo>
                  <a:pt x="163773" y="49132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550174" y="4495800"/>
            <a:ext cx="4369786" cy="369332"/>
          </a:xfrm>
          <a:prstGeom prst="rect">
            <a:avLst/>
          </a:prstGeom>
        </p:spPr>
        <p:txBody>
          <a:bodyPr wrap="none">
            <a:spAutoFit/>
          </a:bodyPr>
          <a:lstStyle/>
          <a:p>
            <a:r>
              <a:rPr lang="en-US" altLang="zh-CN" dirty="0"/>
              <a:t>Consider the process under constant </a:t>
            </a:r>
            <a:r>
              <a:rPr lang="en-US" altLang="zh-CN" b="1" i="1" dirty="0"/>
              <a:t>T</a:t>
            </a:r>
            <a:r>
              <a:rPr lang="en-US" altLang="zh-CN" dirty="0"/>
              <a:t> and </a:t>
            </a:r>
            <a:r>
              <a:rPr lang="en-US" altLang="zh-CN" b="1" i="1" dirty="0"/>
              <a:t>P</a:t>
            </a:r>
            <a:endParaRPr lang="zh-CN" altLang="en-US" dirty="0"/>
          </a:p>
        </p:txBody>
      </p:sp>
      <p:graphicFrame>
        <p:nvGraphicFramePr>
          <p:cNvPr id="18" name="对象 17"/>
          <p:cNvGraphicFramePr>
            <a:graphicFrameLocks noChangeAspect="1"/>
          </p:cNvGraphicFramePr>
          <p:nvPr/>
        </p:nvGraphicFramePr>
        <p:xfrm>
          <a:off x="762000" y="4878388"/>
          <a:ext cx="3616325" cy="352425"/>
        </p:xfrm>
        <a:graphic>
          <a:graphicData uri="http://schemas.openxmlformats.org/presentationml/2006/ole">
            <mc:AlternateContent xmlns:mc="http://schemas.openxmlformats.org/markup-compatibility/2006">
              <mc:Choice xmlns:v="urn:schemas-microsoft-com:vml" Requires="v">
                <p:oleObj name="Equation" r:id="rId8" imgW="2603160" imgH="253800" progId="Equation.DSMT4">
                  <p:embed/>
                </p:oleObj>
              </mc:Choice>
              <mc:Fallback>
                <p:oleObj name="Equation" r:id="rId8" imgW="2603160" imgH="253800" progId="Equation.DSMT4">
                  <p:embed/>
                  <p:pic>
                    <p:nvPicPr>
                      <p:cNvPr id="18" name="对象 17"/>
                      <p:cNvPicPr>
                        <a:picLocks noChangeAspect="1" noChangeArrowheads="1"/>
                      </p:cNvPicPr>
                      <p:nvPr/>
                    </p:nvPicPr>
                    <p:blipFill>
                      <a:blip r:embed="rId9"/>
                      <a:srcRect/>
                      <a:stretch>
                        <a:fillRect/>
                      </a:stretch>
                    </p:blipFill>
                    <p:spPr bwMode="auto">
                      <a:xfrm>
                        <a:off x="762000" y="4878388"/>
                        <a:ext cx="36163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TextBox 18"/>
          <p:cNvSpPr txBox="1"/>
          <p:nvPr/>
        </p:nvSpPr>
        <p:spPr>
          <a:xfrm>
            <a:off x="591820" y="5225534"/>
            <a:ext cx="4986430" cy="369332"/>
          </a:xfrm>
          <a:prstGeom prst="rect">
            <a:avLst/>
          </a:prstGeom>
          <a:noFill/>
        </p:spPr>
        <p:txBody>
          <a:bodyPr wrap="none" rtlCol="0">
            <a:spAutoFit/>
          </a:bodyPr>
          <a:lstStyle/>
          <a:p>
            <a:r>
              <a:rPr lang="en-US" altLang="zh-CN" dirty="0"/>
              <a:t>If system perform PV work and other form work w’ </a:t>
            </a:r>
            <a:endParaRPr lang="zh-CN" altLang="en-US" dirty="0"/>
          </a:p>
        </p:txBody>
      </p:sp>
      <p:graphicFrame>
        <p:nvGraphicFramePr>
          <p:cNvPr id="20" name="对象 19"/>
          <p:cNvGraphicFramePr>
            <a:graphicFrameLocks noChangeAspect="1"/>
          </p:cNvGraphicFramePr>
          <p:nvPr/>
        </p:nvGraphicFramePr>
        <p:xfrm>
          <a:off x="841872" y="5594866"/>
          <a:ext cx="1657350" cy="352425"/>
        </p:xfrm>
        <a:graphic>
          <a:graphicData uri="http://schemas.openxmlformats.org/presentationml/2006/ole">
            <mc:AlternateContent xmlns:mc="http://schemas.openxmlformats.org/markup-compatibility/2006">
              <mc:Choice xmlns:v="urn:schemas-microsoft-com:vml" Requires="v">
                <p:oleObj name="Equation" r:id="rId10" imgW="1193760" imgH="253800" progId="Equation.DSMT4">
                  <p:embed/>
                </p:oleObj>
              </mc:Choice>
              <mc:Fallback>
                <p:oleObj name="Equation" r:id="rId10" imgW="1193760" imgH="253800" progId="Equation.DSMT4">
                  <p:embed/>
                  <p:pic>
                    <p:nvPicPr>
                      <p:cNvPr id="20" name="对象 19"/>
                      <p:cNvPicPr>
                        <a:picLocks noChangeAspect="1" noChangeArrowheads="1"/>
                      </p:cNvPicPr>
                      <p:nvPr/>
                    </p:nvPicPr>
                    <p:blipFill>
                      <a:blip r:embed="rId11"/>
                      <a:srcRect/>
                      <a:stretch>
                        <a:fillRect/>
                      </a:stretch>
                    </p:blipFill>
                    <p:spPr bwMode="auto">
                      <a:xfrm>
                        <a:off x="841872" y="5594866"/>
                        <a:ext cx="16573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nvGraphicFramePr>
        <p:xfrm>
          <a:off x="741363" y="6019800"/>
          <a:ext cx="2611437" cy="352425"/>
        </p:xfrm>
        <a:graphic>
          <a:graphicData uri="http://schemas.openxmlformats.org/presentationml/2006/ole">
            <mc:AlternateContent xmlns:mc="http://schemas.openxmlformats.org/markup-compatibility/2006">
              <mc:Choice xmlns:v="urn:schemas-microsoft-com:vml" Requires="v">
                <p:oleObj name="Equation" r:id="rId12" imgW="1879560" imgH="253800" progId="Equation.DSMT4">
                  <p:embed/>
                </p:oleObj>
              </mc:Choice>
              <mc:Fallback>
                <p:oleObj name="Equation" r:id="rId12" imgW="1879560" imgH="253800" progId="Equation.DSMT4">
                  <p:embed/>
                  <p:pic>
                    <p:nvPicPr>
                      <p:cNvPr id="21" name="对象 20"/>
                      <p:cNvPicPr>
                        <a:picLocks noChangeAspect="1" noChangeArrowheads="1"/>
                      </p:cNvPicPr>
                      <p:nvPr/>
                    </p:nvPicPr>
                    <p:blipFill>
                      <a:blip r:embed="rId13"/>
                      <a:srcRect/>
                      <a:stretch>
                        <a:fillRect/>
                      </a:stretch>
                    </p:blipFill>
                    <p:spPr bwMode="auto">
                      <a:xfrm>
                        <a:off x="741363" y="6019800"/>
                        <a:ext cx="2611437"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nvGraphicFramePr>
        <p:xfrm>
          <a:off x="7346950" y="1430338"/>
          <a:ext cx="1698625" cy="1090612"/>
        </p:xfrm>
        <a:graphic>
          <a:graphicData uri="http://schemas.openxmlformats.org/presentationml/2006/ole">
            <mc:AlternateContent xmlns:mc="http://schemas.openxmlformats.org/markup-compatibility/2006">
              <mc:Choice xmlns:v="urn:schemas-microsoft-com:vml" Requires="v">
                <p:oleObj name="Equation" r:id="rId14" imgW="1422360" imgH="914400" progId="Equation.DSMT4">
                  <p:embed/>
                </p:oleObj>
              </mc:Choice>
              <mc:Fallback>
                <p:oleObj name="Equation" r:id="rId14" imgW="1422360" imgH="914400" progId="Equation.DSMT4">
                  <p:embed/>
                  <p:pic>
                    <p:nvPicPr>
                      <p:cNvPr id="22" name="对象 21"/>
                      <p:cNvPicPr>
                        <a:picLocks noChangeAspect="1" noChangeArrowheads="1"/>
                      </p:cNvPicPr>
                      <p:nvPr/>
                    </p:nvPicPr>
                    <p:blipFill>
                      <a:blip r:embed="rId15"/>
                      <a:srcRect/>
                      <a:stretch>
                        <a:fillRect/>
                      </a:stretch>
                    </p:blipFill>
                    <p:spPr bwMode="auto">
                      <a:xfrm>
                        <a:off x="7346950" y="1430338"/>
                        <a:ext cx="1698625" cy="1090612"/>
                      </a:xfrm>
                      <a:prstGeom prst="rect">
                        <a:avLst/>
                      </a:prstGeom>
                      <a:solidFill>
                        <a:schemeClr val="bg1"/>
                      </a:solidFill>
                      <a:ln w="12700">
                        <a:solidFill>
                          <a:schemeClr val="tx1"/>
                        </a:solidFill>
                        <a:prstDash val="dash"/>
                      </a:ln>
                    </p:spPr>
                  </p:pic>
                </p:oleObj>
              </mc:Fallback>
            </mc:AlternateContent>
          </a:graphicData>
        </a:graphic>
      </p:graphicFrame>
      <p:graphicFrame>
        <p:nvGraphicFramePr>
          <p:cNvPr id="23" name="对象 22"/>
          <p:cNvGraphicFramePr>
            <a:graphicFrameLocks noChangeAspect="1"/>
          </p:cNvGraphicFramePr>
          <p:nvPr/>
        </p:nvGraphicFramePr>
        <p:xfrm>
          <a:off x="5715000" y="2584874"/>
          <a:ext cx="2063750" cy="704850"/>
        </p:xfrm>
        <a:graphic>
          <a:graphicData uri="http://schemas.openxmlformats.org/presentationml/2006/ole">
            <mc:AlternateContent xmlns:mc="http://schemas.openxmlformats.org/markup-compatibility/2006">
              <mc:Choice xmlns:v="urn:schemas-microsoft-com:vml" Requires="v">
                <p:oleObj name="Equation" r:id="rId16" imgW="1485720" imgH="507960" progId="Equation.DSMT4">
                  <p:embed/>
                </p:oleObj>
              </mc:Choice>
              <mc:Fallback>
                <p:oleObj name="Equation" r:id="rId16" imgW="1485720" imgH="507960" progId="Equation.DSMT4">
                  <p:embed/>
                  <p:pic>
                    <p:nvPicPr>
                      <p:cNvPr id="23" name="对象 22"/>
                      <p:cNvPicPr>
                        <a:picLocks noChangeAspect="1" noChangeArrowheads="1"/>
                      </p:cNvPicPr>
                      <p:nvPr/>
                    </p:nvPicPr>
                    <p:blipFill>
                      <a:blip r:embed="rId17"/>
                      <a:srcRect/>
                      <a:stretch>
                        <a:fillRect/>
                      </a:stretch>
                    </p:blipFill>
                    <p:spPr bwMode="auto">
                      <a:xfrm>
                        <a:off x="5715000" y="2584874"/>
                        <a:ext cx="206375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Box 23"/>
          <p:cNvSpPr txBox="1"/>
          <p:nvPr/>
        </p:nvSpPr>
        <p:spPr>
          <a:xfrm>
            <a:off x="5334000" y="3365924"/>
            <a:ext cx="3029355" cy="369332"/>
          </a:xfrm>
          <a:prstGeom prst="rect">
            <a:avLst/>
          </a:prstGeom>
          <a:noFill/>
        </p:spPr>
        <p:txBody>
          <a:bodyPr wrap="none" rtlCol="0">
            <a:spAutoFit/>
          </a:bodyPr>
          <a:lstStyle/>
          <a:p>
            <a:r>
              <a:rPr lang="en-US" altLang="zh-CN" dirty="0"/>
              <a:t>If only PV work consider, w</a:t>
            </a:r>
            <a:r>
              <a:rPr lang="en-US" altLang="zh-CN" baseline="30000" dirty="0"/>
              <a:t>’</a:t>
            </a:r>
            <a:r>
              <a:rPr lang="en-US" altLang="zh-CN" dirty="0"/>
              <a:t> =0</a:t>
            </a:r>
          </a:p>
        </p:txBody>
      </p:sp>
      <p:graphicFrame>
        <p:nvGraphicFramePr>
          <p:cNvPr id="25" name="对象 24"/>
          <p:cNvGraphicFramePr>
            <a:graphicFrameLocks noChangeAspect="1"/>
          </p:cNvGraphicFramePr>
          <p:nvPr/>
        </p:nvGraphicFramePr>
        <p:xfrm>
          <a:off x="5791199" y="3765458"/>
          <a:ext cx="1739837" cy="362466"/>
        </p:xfrm>
        <a:graphic>
          <a:graphicData uri="http://schemas.openxmlformats.org/presentationml/2006/ole">
            <mc:AlternateContent xmlns:mc="http://schemas.openxmlformats.org/markup-compatibility/2006">
              <mc:Choice xmlns:v="urn:schemas-microsoft-com:vml" Requires="v">
                <p:oleObj name="Equation" r:id="rId18" imgW="1218960" imgH="253800" progId="Equation.DSMT4">
                  <p:embed/>
                </p:oleObj>
              </mc:Choice>
              <mc:Fallback>
                <p:oleObj name="Equation" r:id="rId18" imgW="1218960" imgH="253800" progId="Equation.DSMT4">
                  <p:embed/>
                  <p:pic>
                    <p:nvPicPr>
                      <p:cNvPr id="25" name="对象 24"/>
                      <p:cNvPicPr/>
                      <p:nvPr/>
                    </p:nvPicPr>
                    <p:blipFill>
                      <a:blip r:embed="rId19"/>
                      <a:stretch>
                        <a:fillRect/>
                      </a:stretch>
                    </p:blipFill>
                    <p:spPr>
                      <a:xfrm>
                        <a:off x="5791199" y="3765458"/>
                        <a:ext cx="1739837" cy="362466"/>
                      </a:xfrm>
                      <a:prstGeom prst="rect">
                        <a:avLst/>
                      </a:prstGeom>
                    </p:spPr>
                  </p:pic>
                </p:oleObj>
              </mc:Fallback>
            </mc:AlternateContent>
          </a:graphicData>
        </a:graphic>
      </p:graphicFrame>
      <p:sp>
        <p:nvSpPr>
          <p:cNvPr id="26" name="矩形 25"/>
          <p:cNvSpPr/>
          <p:nvPr/>
        </p:nvSpPr>
        <p:spPr>
          <a:xfrm>
            <a:off x="5349650" y="4170087"/>
            <a:ext cx="3337150" cy="830997"/>
          </a:xfrm>
          <a:prstGeom prst="rect">
            <a:avLst/>
          </a:prstGeom>
        </p:spPr>
        <p:txBody>
          <a:bodyPr wrap="square">
            <a:spAutoFit/>
          </a:bodyPr>
          <a:lstStyle/>
          <a:p>
            <a:r>
              <a:rPr lang="en-US" altLang="zh-CN" sz="1600" i="1" dirty="0">
                <a:latin typeface="Times New Roman" panose="02020603050405020304" pitchFamily="18" charset="0"/>
                <a:cs typeface="Times New Roman" panose="02020603050405020304" pitchFamily="18" charset="0"/>
              </a:rPr>
              <a:t>For  a spontaneous process </a:t>
            </a:r>
          </a:p>
          <a:p>
            <a:r>
              <a:rPr lang="en-US" altLang="zh-CN" sz="1600" i="1" dirty="0" err="1">
                <a:latin typeface="Times New Roman" panose="02020603050405020304" pitchFamily="18" charset="0"/>
                <a:cs typeface="Times New Roman" panose="02020603050405020304" pitchFamily="18" charset="0"/>
              </a:rPr>
              <a:t>dS</a:t>
            </a:r>
            <a:r>
              <a:rPr lang="en-US" altLang="zh-CN" sz="1600" baseline="-25000" dirty="0" err="1">
                <a:latin typeface="Times New Roman" panose="02020603050405020304" pitchFamily="18" charset="0"/>
                <a:cs typeface="Times New Roman" panose="02020603050405020304" pitchFamily="18" charset="0"/>
              </a:rPr>
              <a:t>irr</a:t>
            </a:r>
            <a:r>
              <a:rPr lang="en-US" altLang="zh-CN" sz="1600" dirty="0">
                <a:latin typeface="Times New Roman" panose="02020603050405020304" pitchFamily="18" charset="0"/>
                <a:cs typeface="Times New Roman" panose="02020603050405020304" pitchFamily="18" charset="0"/>
              </a:rPr>
              <a:t> is always positive </a:t>
            </a:r>
            <a:r>
              <a:rPr lang="en-US" altLang="zh-CN" sz="1600"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sz="1600" i="1" dirty="0">
                <a:latin typeface="Times New Roman" panose="02020603050405020304" pitchFamily="18" charset="0"/>
                <a:cs typeface="Times New Roman" panose="02020603050405020304" pitchFamily="18" charset="0"/>
              </a:rPr>
              <a:t>G </a:t>
            </a:r>
            <a:r>
              <a:rPr lang="en-US" altLang="zh-CN" sz="1600" dirty="0">
                <a:latin typeface="Times New Roman" panose="02020603050405020304" pitchFamily="18" charset="0"/>
                <a:cs typeface="Times New Roman" panose="02020603050405020304" pitchFamily="18" charset="0"/>
              </a:rPr>
              <a:t>decreases during a spontaneous process</a:t>
            </a:r>
            <a:endParaRPr lang="zh-CN" altLang="en-US" sz="1600" dirty="0">
              <a:latin typeface="Times New Roman" panose="02020603050405020304" pitchFamily="18" charset="0"/>
              <a:cs typeface="Times New Roman" panose="02020603050405020304" pitchFamily="18" charset="0"/>
            </a:endParaRPr>
          </a:p>
        </p:txBody>
      </p:sp>
      <p:sp>
        <p:nvSpPr>
          <p:cNvPr id="27" name="矩形 26"/>
          <p:cNvSpPr/>
          <p:nvPr/>
        </p:nvSpPr>
        <p:spPr>
          <a:xfrm>
            <a:off x="5556479" y="5133201"/>
            <a:ext cx="3260950" cy="646331"/>
          </a:xfrm>
          <a:prstGeom prst="rect">
            <a:avLst/>
          </a:prstGeom>
        </p:spPr>
        <p:txBody>
          <a:bodyPr wrap="square">
            <a:spAutoFit/>
          </a:bodyPr>
          <a:lstStyle/>
          <a:p>
            <a:r>
              <a:rPr lang="en-US" altLang="zh-CN" b="1" dirty="0">
                <a:solidFill>
                  <a:srgbClr val="FF0000"/>
                </a:solidFill>
              </a:rPr>
              <a:t>The  criterion for equilibrium  in a system at a constant </a:t>
            </a:r>
            <a:r>
              <a:rPr lang="en-US" altLang="zh-CN" b="1" i="1" dirty="0">
                <a:solidFill>
                  <a:srgbClr val="FF0000"/>
                </a:solidFill>
              </a:rPr>
              <a:t>T</a:t>
            </a:r>
            <a:r>
              <a:rPr lang="en-US" altLang="zh-CN" b="1" dirty="0">
                <a:solidFill>
                  <a:srgbClr val="FF0000"/>
                </a:solidFill>
              </a:rPr>
              <a:t> and </a:t>
            </a:r>
            <a:r>
              <a:rPr lang="en-US" altLang="zh-CN" b="1" i="1" dirty="0">
                <a:solidFill>
                  <a:srgbClr val="FF0000"/>
                </a:solidFill>
              </a:rPr>
              <a:t>P:</a:t>
            </a:r>
            <a:endParaRPr lang="zh-CN" altLang="en-US" b="1" dirty="0">
              <a:solidFill>
                <a:srgbClr val="FF0000"/>
              </a:solidFill>
            </a:endParaRPr>
          </a:p>
        </p:txBody>
      </p:sp>
      <p:graphicFrame>
        <p:nvGraphicFramePr>
          <p:cNvPr id="28" name="对象 27"/>
          <p:cNvGraphicFramePr>
            <a:graphicFrameLocks noChangeAspect="1"/>
          </p:cNvGraphicFramePr>
          <p:nvPr>
            <p:extLst>
              <p:ext uri="{D42A27DB-BD31-4B8C-83A1-F6EECF244321}">
                <p14:modId xmlns:p14="http://schemas.microsoft.com/office/powerpoint/2010/main" val="2866604420"/>
              </p:ext>
            </p:extLst>
          </p:nvPr>
        </p:nvGraphicFramePr>
        <p:xfrm>
          <a:off x="6122409" y="6078512"/>
          <a:ext cx="769938" cy="290512"/>
        </p:xfrm>
        <a:graphic>
          <a:graphicData uri="http://schemas.openxmlformats.org/presentationml/2006/ole">
            <mc:AlternateContent xmlns:mc="http://schemas.openxmlformats.org/markup-compatibility/2006">
              <mc:Choice xmlns:v="urn:schemas-microsoft-com:vml" Requires="v">
                <p:oleObj name="Equation" r:id="rId20" imgW="469800" imgH="177480" progId="Equation.DSMT4">
                  <p:embed/>
                </p:oleObj>
              </mc:Choice>
              <mc:Fallback>
                <p:oleObj name="Equation" r:id="rId20" imgW="469800" imgH="177480" progId="Equation.DSMT4">
                  <p:embed/>
                  <p:pic>
                    <p:nvPicPr>
                      <p:cNvPr id="28" name="对象 27"/>
                      <p:cNvPicPr/>
                      <p:nvPr/>
                    </p:nvPicPr>
                    <p:blipFill>
                      <a:blip r:embed="rId21"/>
                      <a:stretch>
                        <a:fillRect/>
                      </a:stretch>
                    </p:blipFill>
                    <p:spPr>
                      <a:xfrm>
                        <a:off x="6122409" y="6078512"/>
                        <a:ext cx="769938" cy="290512"/>
                      </a:xfrm>
                      <a:prstGeom prst="rect">
                        <a:avLst/>
                      </a:prstGeom>
                      <a:ln>
                        <a:solidFill>
                          <a:srgbClr val="FF0000"/>
                        </a:solidFill>
                      </a:ln>
                    </p:spPr>
                  </p:pic>
                </p:oleObj>
              </mc:Fallback>
            </mc:AlternateContent>
          </a:graphicData>
        </a:graphic>
      </p:graphicFrame>
    </p:spTree>
    <p:extLst>
      <p:ext uri="{BB962C8B-B14F-4D97-AF65-F5344CB8AC3E}">
        <p14:creationId xmlns:p14="http://schemas.microsoft.com/office/powerpoint/2010/main" val="2366446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对象 8"/>
          <p:cNvGraphicFramePr>
            <a:graphicFrameLocks noChangeAspect="1"/>
          </p:cNvGraphicFramePr>
          <p:nvPr/>
        </p:nvGraphicFramePr>
        <p:xfrm>
          <a:off x="5432788" y="2986846"/>
          <a:ext cx="2857500" cy="470647"/>
        </p:xfrm>
        <a:graphic>
          <a:graphicData uri="http://schemas.openxmlformats.org/presentationml/2006/ole">
            <mc:AlternateContent xmlns:mc="http://schemas.openxmlformats.org/markup-compatibility/2006">
              <mc:Choice xmlns:v="urn:schemas-microsoft-com:vml" Requires="v">
                <p:oleObj name="Equation" r:id="rId2" imgW="1079280" imgH="177480" progId="Equation.DSMT4">
                  <p:embed/>
                </p:oleObj>
              </mc:Choice>
              <mc:Fallback>
                <p:oleObj name="Equation" r:id="rId2" imgW="1079280" imgH="177480" progId="Equation.DSMT4">
                  <p:embed/>
                  <p:pic>
                    <p:nvPicPr>
                      <p:cNvPr id="9" name="对象 8"/>
                      <p:cNvPicPr/>
                      <p:nvPr/>
                    </p:nvPicPr>
                    <p:blipFill>
                      <a:blip r:embed="rId3"/>
                      <a:stretch>
                        <a:fillRect/>
                      </a:stretch>
                    </p:blipFill>
                    <p:spPr>
                      <a:xfrm>
                        <a:off x="5432788" y="2986846"/>
                        <a:ext cx="2857500" cy="470647"/>
                      </a:xfrm>
                      <a:prstGeom prst="rect">
                        <a:avLst/>
                      </a:prstGeom>
                    </p:spPr>
                  </p:pic>
                </p:oleObj>
              </mc:Fallback>
            </mc:AlternateContent>
          </a:graphicData>
        </a:graphic>
      </p:graphicFrame>
      <p:graphicFrame>
        <p:nvGraphicFramePr>
          <p:cNvPr id="15" name="对象 14"/>
          <p:cNvGraphicFramePr>
            <a:graphicFrameLocks noChangeAspect="1"/>
          </p:cNvGraphicFramePr>
          <p:nvPr/>
        </p:nvGraphicFramePr>
        <p:xfrm>
          <a:off x="1809876" y="2574471"/>
          <a:ext cx="2387600" cy="536575"/>
        </p:xfrm>
        <a:graphic>
          <a:graphicData uri="http://schemas.openxmlformats.org/presentationml/2006/ole">
            <mc:AlternateContent xmlns:mc="http://schemas.openxmlformats.org/markup-compatibility/2006">
              <mc:Choice xmlns:v="urn:schemas-microsoft-com:vml" Requires="v">
                <p:oleObj name="Equation" r:id="rId4" imgW="901440" imgH="203040" progId="Equation.DSMT4">
                  <p:embed/>
                </p:oleObj>
              </mc:Choice>
              <mc:Fallback>
                <p:oleObj name="Equation" r:id="rId4" imgW="901440" imgH="203040" progId="Equation.DSMT4">
                  <p:embed/>
                  <p:pic>
                    <p:nvPicPr>
                      <p:cNvPr id="15" name="对象 14"/>
                      <p:cNvPicPr>
                        <a:picLocks noChangeAspect="1" noChangeArrowheads="1"/>
                      </p:cNvPicPr>
                      <p:nvPr/>
                    </p:nvPicPr>
                    <p:blipFill>
                      <a:blip r:embed="rId5"/>
                      <a:srcRect/>
                      <a:stretch>
                        <a:fillRect/>
                      </a:stretch>
                    </p:blipFill>
                    <p:spPr bwMode="auto">
                      <a:xfrm>
                        <a:off x="1809876" y="2574471"/>
                        <a:ext cx="23876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对象 15"/>
          <p:cNvGraphicFramePr>
            <a:graphicFrameLocks noChangeAspect="1"/>
          </p:cNvGraphicFramePr>
          <p:nvPr/>
        </p:nvGraphicFramePr>
        <p:xfrm>
          <a:off x="1959384" y="3412671"/>
          <a:ext cx="1354137" cy="452438"/>
        </p:xfrm>
        <a:graphic>
          <a:graphicData uri="http://schemas.openxmlformats.org/presentationml/2006/ole">
            <mc:AlternateContent xmlns:mc="http://schemas.openxmlformats.org/markup-compatibility/2006">
              <mc:Choice xmlns:v="urn:schemas-microsoft-com:vml" Requires="v">
                <p:oleObj name="Equation" r:id="rId6" imgW="609480" imgH="203040" progId="Equation.DSMT4">
                  <p:embed/>
                </p:oleObj>
              </mc:Choice>
              <mc:Fallback>
                <p:oleObj name="Equation" r:id="rId6" imgW="609480" imgH="203040" progId="Equation.DSMT4">
                  <p:embed/>
                  <p:pic>
                    <p:nvPicPr>
                      <p:cNvPr id="16" name="对象 15"/>
                      <p:cNvPicPr/>
                      <p:nvPr/>
                    </p:nvPicPr>
                    <p:blipFill>
                      <a:blip r:embed="rId7"/>
                      <a:stretch>
                        <a:fillRect/>
                      </a:stretch>
                    </p:blipFill>
                    <p:spPr>
                      <a:xfrm>
                        <a:off x="1959384" y="3412671"/>
                        <a:ext cx="1354137" cy="452438"/>
                      </a:xfrm>
                      <a:prstGeom prst="rect">
                        <a:avLst/>
                      </a:prstGeom>
                    </p:spPr>
                  </p:pic>
                </p:oleObj>
              </mc:Fallback>
            </mc:AlternateContent>
          </a:graphicData>
        </a:graphic>
      </p:graphicFrame>
      <p:sp>
        <p:nvSpPr>
          <p:cNvPr id="17" name="TextBox 16"/>
          <p:cNvSpPr txBox="1"/>
          <p:nvPr/>
        </p:nvSpPr>
        <p:spPr>
          <a:xfrm>
            <a:off x="524474" y="2574471"/>
            <a:ext cx="1013483" cy="461665"/>
          </a:xfrm>
          <a:prstGeom prst="rect">
            <a:avLst/>
          </a:prstGeom>
          <a:noFill/>
        </p:spPr>
        <p:txBody>
          <a:bodyPr wrap="none" rtlCol="0">
            <a:spAutoFit/>
          </a:bodyPr>
          <a:lstStyle/>
          <a:p>
            <a:r>
              <a:rPr lang="en-US" altLang="zh-CN" sz="2400" b="1" dirty="0">
                <a:solidFill>
                  <a:srgbClr val="0000FF"/>
                </a:solidFill>
              </a:rPr>
              <a:t>1</a:t>
            </a:r>
            <a:r>
              <a:rPr lang="en-US" altLang="zh-CN" sz="2400" b="1" baseline="30000" dirty="0">
                <a:solidFill>
                  <a:srgbClr val="0000FF"/>
                </a:solidFill>
              </a:rPr>
              <a:t>st</a:t>
            </a:r>
            <a:r>
              <a:rPr lang="en-US" altLang="zh-CN" sz="2400" b="1" dirty="0">
                <a:solidFill>
                  <a:srgbClr val="0000FF"/>
                </a:solidFill>
              </a:rPr>
              <a:t> law</a:t>
            </a:r>
            <a:endParaRPr lang="zh-CN" altLang="en-US" sz="2400" b="1" dirty="0">
              <a:solidFill>
                <a:srgbClr val="0000FF"/>
              </a:solidFill>
            </a:endParaRPr>
          </a:p>
        </p:txBody>
      </p:sp>
      <p:sp>
        <p:nvSpPr>
          <p:cNvPr id="18" name="TextBox 17"/>
          <p:cNvSpPr txBox="1"/>
          <p:nvPr/>
        </p:nvSpPr>
        <p:spPr>
          <a:xfrm>
            <a:off x="517888" y="3408206"/>
            <a:ext cx="1013483" cy="461665"/>
          </a:xfrm>
          <a:prstGeom prst="rect">
            <a:avLst/>
          </a:prstGeom>
          <a:noFill/>
        </p:spPr>
        <p:txBody>
          <a:bodyPr wrap="none" rtlCol="0">
            <a:spAutoFit/>
          </a:bodyPr>
          <a:lstStyle/>
          <a:p>
            <a:r>
              <a:rPr lang="en-US" altLang="zh-CN" sz="2400" b="1" dirty="0">
                <a:solidFill>
                  <a:srgbClr val="0000FF"/>
                </a:solidFill>
              </a:rPr>
              <a:t>2</a:t>
            </a:r>
            <a:r>
              <a:rPr lang="en-US" altLang="zh-CN" sz="2400" b="1" baseline="30000" dirty="0">
                <a:solidFill>
                  <a:srgbClr val="0000FF"/>
                </a:solidFill>
              </a:rPr>
              <a:t>st</a:t>
            </a:r>
            <a:r>
              <a:rPr lang="en-US" altLang="zh-CN" sz="2400" b="1" dirty="0">
                <a:solidFill>
                  <a:srgbClr val="0000FF"/>
                </a:solidFill>
              </a:rPr>
              <a:t> law</a:t>
            </a:r>
            <a:endParaRPr lang="zh-CN" altLang="en-US" sz="2400" b="1" dirty="0">
              <a:solidFill>
                <a:srgbClr val="0000FF"/>
              </a:solidFill>
            </a:endParaRPr>
          </a:p>
        </p:txBody>
      </p:sp>
      <p:sp>
        <p:nvSpPr>
          <p:cNvPr id="19" name="右大括号 18"/>
          <p:cNvSpPr/>
          <p:nvPr/>
        </p:nvSpPr>
        <p:spPr>
          <a:xfrm>
            <a:off x="4518389" y="2805303"/>
            <a:ext cx="212448" cy="833735"/>
          </a:xfrm>
          <a:prstGeom prst="rightBrace">
            <a:avLst>
              <a:gd name="adj1" fmla="val 4366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矩形 1"/>
          <p:cNvSpPr/>
          <p:nvPr/>
        </p:nvSpPr>
        <p:spPr>
          <a:xfrm>
            <a:off x="754663" y="109249"/>
            <a:ext cx="3062826" cy="584775"/>
          </a:xfrm>
          <a:prstGeom prst="rect">
            <a:avLst/>
          </a:prstGeom>
        </p:spPr>
        <p:txBody>
          <a:bodyPr wrap="none">
            <a:spAutoFit/>
          </a:bodyPr>
          <a:lstStyle/>
          <a:p>
            <a:r>
              <a:rPr lang="en-US" altLang="zh-CN" sz="3200" dirty="0">
                <a:solidFill>
                  <a:srgbClr val="FF0000"/>
                </a:solidFill>
              </a:rPr>
              <a:t>Gibbs’ Equation</a:t>
            </a:r>
            <a:endParaRPr lang="zh-CN" altLang="en-US" sz="3200" dirty="0">
              <a:solidFill>
                <a:srgbClr val="FF0000"/>
              </a:solidFill>
            </a:endParaRPr>
          </a:p>
        </p:txBody>
      </p:sp>
      <p:sp>
        <p:nvSpPr>
          <p:cNvPr id="3" name="矩形 2"/>
          <p:cNvSpPr/>
          <p:nvPr/>
        </p:nvSpPr>
        <p:spPr>
          <a:xfrm>
            <a:off x="430163" y="4765489"/>
            <a:ext cx="8601347" cy="1200329"/>
          </a:xfrm>
          <a:prstGeom prst="rect">
            <a:avLst/>
          </a:prstGeom>
        </p:spPr>
        <p:txBody>
          <a:bodyPr wrap="square">
            <a:spAutoFit/>
          </a:bodyPr>
          <a:lstStyle/>
          <a:p>
            <a:pPr marL="285750" indent="-285750">
              <a:buFont typeface="Arial" panose="020B0604020202020204" pitchFamily="34" charset="0"/>
              <a:buChar char="•"/>
            </a:pPr>
            <a:r>
              <a:rPr lang="en-US" altLang="zh-CN" dirty="0"/>
              <a:t>Gibbs’ equation plays a fundamental role in equilibrium thermodynamics.</a:t>
            </a:r>
          </a:p>
          <a:p>
            <a:endParaRPr lang="en-US" altLang="zh-CN" dirty="0"/>
          </a:p>
          <a:p>
            <a:pPr marL="285750" indent="-285750">
              <a:buFont typeface="Arial" panose="020B0604020202020204" pitchFamily="34" charset="0"/>
              <a:buChar char="•"/>
            </a:pPr>
            <a:r>
              <a:rPr lang="en-US" altLang="zh-CN" dirty="0"/>
              <a:t>Gibbs’ equation is one of the pillars of the Classical Theory of Irreversible Processes.</a:t>
            </a:r>
            <a:endParaRPr lang="zh-CN" altLang="en-US" dirty="0"/>
          </a:p>
        </p:txBody>
      </p:sp>
    </p:spTree>
    <p:extLst>
      <p:ext uri="{BB962C8B-B14F-4D97-AF65-F5344CB8AC3E}">
        <p14:creationId xmlns:p14="http://schemas.microsoft.com/office/powerpoint/2010/main" val="2191629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923946" y="2709"/>
            <a:ext cx="6546600" cy="646331"/>
          </a:xfrm>
          <a:prstGeom prst="rect">
            <a:avLst/>
          </a:prstGeom>
        </p:spPr>
        <p:txBody>
          <a:bodyPr wrap="none">
            <a:spAutoFit/>
          </a:bodyPr>
          <a:lstStyle/>
          <a:p>
            <a:r>
              <a:rPr lang="en-US" altLang="zh-CN" sz="3600" b="1" dirty="0">
                <a:solidFill>
                  <a:srgbClr val="FF0000"/>
                </a:solidFill>
              </a:rPr>
              <a:t>Differential of the state functions</a:t>
            </a:r>
            <a:endParaRPr lang="zh-CN" altLang="en-US" sz="3600" dirty="0">
              <a:solidFill>
                <a:srgbClr val="FF0000"/>
              </a:solidFill>
            </a:endParaRPr>
          </a:p>
        </p:txBody>
      </p:sp>
      <p:graphicFrame>
        <p:nvGraphicFramePr>
          <p:cNvPr id="10" name="对象 9"/>
          <p:cNvGraphicFramePr>
            <a:graphicFrameLocks noChangeAspect="1"/>
          </p:cNvGraphicFramePr>
          <p:nvPr/>
        </p:nvGraphicFramePr>
        <p:xfrm>
          <a:off x="3536901" y="2396665"/>
          <a:ext cx="2544245" cy="418387"/>
        </p:xfrm>
        <a:graphic>
          <a:graphicData uri="http://schemas.openxmlformats.org/presentationml/2006/ole">
            <mc:AlternateContent xmlns:mc="http://schemas.openxmlformats.org/markup-compatibility/2006">
              <mc:Choice xmlns:v="urn:schemas-microsoft-com:vml" Requires="v">
                <p:oleObj name="Equation" r:id="rId3" imgW="1079032" imgH="177723" progId="Equation.DSMT4">
                  <p:embed/>
                </p:oleObj>
              </mc:Choice>
              <mc:Fallback>
                <p:oleObj name="Equation" r:id="rId3" imgW="1079032" imgH="177723" progId="Equation.DSMT4">
                  <p:embed/>
                  <p:pic>
                    <p:nvPicPr>
                      <p:cNvPr id="10" name="对象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6901" y="2396665"/>
                        <a:ext cx="2544245" cy="418387"/>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nvGraphicFramePr>
        <p:xfrm>
          <a:off x="462966" y="2195557"/>
          <a:ext cx="2619666" cy="838200"/>
        </p:xfrm>
        <a:graphic>
          <a:graphicData uri="http://schemas.openxmlformats.org/presentationml/2006/ole">
            <mc:AlternateContent xmlns:mc="http://schemas.openxmlformats.org/markup-compatibility/2006">
              <mc:Choice xmlns:v="urn:schemas-microsoft-com:vml" Requires="v">
                <p:oleObj name="Equation" r:id="rId5" imgW="1346040" imgH="431640" progId="Equation.DSMT4">
                  <p:embed/>
                </p:oleObj>
              </mc:Choice>
              <mc:Fallback>
                <p:oleObj name="Equation" r:id="rId5" imgW="1346040" imgH="431640" progId="Equation.DSMT4">
                  <p:embed/>
                  <p:pic>
                    <p:nvPicPr>
                      <p:cNvPr id="12" name="对象 11"/>
                      <p:cNvPicPr>
                        <a:picLocks noChangeAspect="1" noChangeArrowheads="1"/>
                      </p:cNvPicPr>
                      <p:nvPr/>
                    </p:nvPicPr>
                    <p:blipFill>
                      <a:blip r:embed="rId6"/>
                      <a:srcRect/>
                      <a:stretch>
                        <a:fillRect/>
                      </a:stretch>
                    </p:blipFill>
                    <p:spPr bwMode="auto">
                      <a:xfrm>
                        <a:off x="462966" y="2195557"/>
                        <a:ext cx="2619666" cy="838200"/>
                      </a:xfrm>
                      <a:prstGeom prst="rect">
                        <a:avLst/>
                      </a:prstGeom>
                      <a:noFill/>
                      <a:ln>
                        <a:noFill/>
                      </a:ln>
                    </p:spPr>
                  </p:pic>
                </p:oleObj>
              </mc:Fallback>
            </mc:AlternateContent>
          </a:graphicData>
        </a:graphic>
      </p:graphicFrame>
      <p:sp>
        <p:nvSpPr>
          <p:cNvPr id="14" name="TextBox 13"/>
          <p:cNvSpPr txBox="1"/>
          <p:nvPr/>
        </p:nvSpPr>
        <p:spPr>
          <a:xfrm>
            <a:off x="304800" y="1447800"/>
            <a:ext cx="6008504" cy="400110"/>
          </a:xfrm>
          <a:prstGeom prst="rect">
            <a:avLst/>
          </a:prstGeom>
          <a:noFill/>
        </p:spPr>
        <p:txBody>
          <a:bodyPr wrap="none" rtlCol="0">
            <a:spAutoFit/>
          </a:bodyPr>
          <a:lstStyle/>
          <a:p>
            <a:r>
              <a:rPr lang="en-US" altLang="zh-CN" sz="2000" dirty="0"/>
              <a:t>For a incremental change in the state of a closed system</a:t>
            </a:r>
            <a:endParaRPr lang="zh-CN" altLang="en-US" sz="2000" dirty="0"/>
          </a:p>
        </p:txBody>
      </p:sp>
      <p:sp>
        <p:nvSpPr>
          <p:cNvPr id="15" name="右大括号 14"/>
          <p:cNvSpPr/>
          <p:nvPr/>
        </p:nvSpPr>
        <p:spPr>
          <a:xfrm>
            <a:off x="3309794" y="2195556"/>
            <a:ext cx="152400" cy="685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7" name="对象 16"/>
          <p:cNvGraphicFramePr>
            <a:graphicFrameLocks noChangeAspect="1"/>
          </p:cNvGraphicFramePr>
          <p:nvPr/>
        </p:nvGraphicFramePr>
        <p:xfrm>
          <a:off x="457200" y="3490957"/>
          <a:ext cx="2340776" cy="1066800"/>
        </p:xfrm>
        <a:graphic>
          <a:graphicData uri="http://schemas.openxmlformats.org/presentationml/2006/ole">
            <mc:AlternateContent xmlns:mc="http://schemas.openxmlformats.org/markup-compatibility/2006">
              <mc:Choice xmlns:v="urn:schemas-microsoft-com:vml" Requires="v">
                <p:oleObj name="Equation" r:id="rId7" imgW="1422360" imgH="647640" progId="Equation.DSMT4">
                  <p:embed/>
                </p:oleObj>
              </mc:Choice>
              <mc:Fallback>
                <p:oleObj name="Equation" r:id="rId7" imgW="1422360" imgH="647640" progId="Equation.DSMT4">
                  <p:embed/>
                  <p:pic>
                    <p:nvPicPr>
                      <p:cNvPr id="17" name="对象 16"/>
                      <p:cNvPicPr>
                        <a:picLocks noChangeAspect="1" noChangeArrowheads="1"/>
                      </p:cNvPicPr>
                      <p:nvPr/>
                    </p:nvPicPr>
                    <p:blipFill>
                      <a:blip r:embed="rId8"/>
                      <a:srcRect/>
                      <a:stretch>
                        <a:fillRect/>
                      </a:stretch>
                    </p:blipFill>
                    <p:spPr bwMode="auto">
                      <a:xfrm>
                        <a:off x="457200" y="3490957"/>
                        <a:ext cx="2340776" cy="1066800"/>
                      </a:xfrm>
                      <a:prstGeom prst="rect">
                        <a:avLst/>
                      </a:prstGeom>
                      <a:noFill/>
                      <a:ln>
                        <a:noFill/>
                      </a:ln>
                    </p:spPr>
                  </p:pic>
                </p:oleObj>
              </mc:Fallback>
            </mc:AlternateContent>
          </a:graphicData>
        </a:graphic>
      </p:graphicFrame>
      <p:graphicFrame>
        <p:nvGraphicFramePr>
          <p:cNvPr id="18" name="对象 17"/>
          <p:cNvGraphicFramePr>
            <a:graphicFrameLocks noChangeAspect="1"/>
          </p:cNvGraphicFramePr>
          <p:nvPr/>
        </p:nvGraphicFramePr>
        <p:xfrm>
          <a:off x="426592" y="4710156"/>
          <a:ext cx="1935608" cy="319044"/>
        </p:xfrm>
        <a:graphic>
          <a:graphicData uri="http://schemas.openxmlformats.org/presentationml/2006/ole">
            <mc:AlternateContent xmlns:mc="http://schemas.openxmlformats.org/markup-compatibility/2006">
              <mc:Choice xmlns:v="urn:schemas-microsoft-com:vml" Requires="v">
                <p:oleObj name="Equation" r:id="rId9" imgW="1079032" imgH="177723" progId="Equation.DSMT4">
                  <p:embed/>
                </p:oleObj>
              </mc:Choice>
              <mc:Fallback>
                <p:oleObj name="Equation" r:id="rId9" imgW="1079032" imgH="177723" progId="Equation.DSMT4">
                  <p:embed/>
                  <p:pic>
                    <p:nvPicPr>
                      <p:cNvPr id="18" name="对象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592" y="4710156"/>
                        <a:ext cx="1935608" cy="319044"/>
                      </a:xfrm>
                      <a:prstGeom prst="rect">
                        <a:avLst/>
                      </a:prstGeom>
                      <a:noFill/>
                      <a:ln>
                        <a:noFill/>
                      </a:ln>
                    </p:spPr>
                  </p:pic>
                </p:oleObj>
              </mc:Fallback>
            </mc:AlternateContent>
          </a:graphicData>
        </a:graphic>
      </p:graphicFrame>
      <p:sp>
        <p:nvSpPr>
          <p:cNvPr id="19" name="右大括号 18"/>
          <p:cNvSpPr/>
          <p:nvPr/>
        </p:nvSpPr>
        <p:spPr>
          <a:xfrm>
            <a:off x="3276600" y="3567156"/>
            <a:ext cx="152400" cy="1447800"/>
          </a:xfrm>
          <a:prstGeom prst="rightBrace">
            <a:avLst>
              <a:gd name="adj1" fmla="val 56250"/>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0" name="对象 19"/>
          <p:cNvGraphicFramePr>
            <a:graphicFrameLocks noChangeAspect="1"/>
          </p:cNvGraphicFramePr>
          <p:nvPr/>
        </p:nvGraphicFramePr>
        <p:xfrm>
          <a:off x="3616005" y="4026336"/>
          <a:ext cx="2369159" cy="405828"/>
        </p:xfrm>
        <a:graphic>
          <a:graphicData uri="http://schemas.openxmlformats.org/presentationml/2006/ole">
            <mc:AlternateContent xmlns:mc="http://schemas.openxmlformats.org/markup-compatibility/2006">
              <mc:Choice xmlns:v="urn:schemas-microsoft-com:vml" Requires="v">
                <p:oleObj name="Equation" r:id="rId10" imgW="1041120" imgH="177480" progId="Equation.DSMT4">
                  <p:embed/>
                </p:oleObj>
              </mc:Choice>
              <mc:Fallback>
                <p:oleObj name="Equation" r:id="rId10" imgW="1041120" imgH="177480" progId="Equation.DSMT4">
                  <p:embed/>
                  <p:pic>
                    <p:nvPicPr>
                      <p:cNvPr id="20" name="对象 19"/>
                      <p:cNvPicPr>
                        <a:picLocks noChangeAspect="1" noChangeArrowheads="1"/>
                      </p:cNvPicPr>
                      <p:nvPr/>
                    </p:nvPicPr>
                    <p:blipFill>
                      <a:blip r:embed="rId11"/>
                      <a:srcRect/>
                      <a:stretch>
                        <a:fillRect/>
                      </a:stretch>
                    </p:blipFill>
                    <p:spPr bwMode="auto">
                      <a:xfrm>
                        <a:off x="3616005" y="4026336"/>
                        <a:ext cx="2369159" cy="40582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171671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209674" y="-65534"/>
            <a:ext cx="7648576" cy="1077218"/>
          </a:xfrm>
          <a:prstGeom prst="rect">
            <a:avLst/>
          </a:prstGeom>
        </p:spPr>
        <p:txBody>
          <a:bodyPr wrap="square">
            <a:spAutoFit/>
          </a:bodyPr>
          <a:lstStyle/>
          <a:p>
            <a:r>
              <a:rPr lang="en-US" altLang="zh-CN" sz="3200" b="1" dirty="0">
                <a:solidFill>
                  <a:srgbClr val="FF0000"/>
                </a:solidFill>
              </a:rPr>
              <a:t>Differential equations of the state functions</a:t>
            </a:r>
            <a:endParaRPr lang="zh-CN" altLang="en-US" sz="3200" dirty="0">
              <a:solidFill>
                <a:srgbClr val="FF0000"/>
              </a:solidFill>
            </a:endParaRPr>
          </a:p>
        </p:txBody>
      </p:sp>
      <p:graphicFrame>
        <p:nvGraphicFramePr>
          <p:cNvPr id="10" name="对象 9"/>
          <p:cNvGraphicFramePr>
            <a:graphicFrameLocks noChangeAspect="1"/>
          </p:cNvGraphicFramePr>
          <p:nvPr/>
        </p:nvGraphicFramePr>
        <p:xfrm>
          <a:off x="6042818" y="2438400"/>
          <a:ext cx="2544763" cy="417513"/>
        </p:xfrm>
        <a:graphic>
          <a:graphicData uri="http://schemas.openxmlformats.org/presentationml/2006/ole">
            <mc:AlternateContent xmlns:mc="http://schemas.openxmlformats.org/markup-compatibility/2006">
              <mc:Choice xmlns:v="urn:schemas-microsoft-com:vml" Requires="v">
                <p:oleObj name="Equation" r:id="rId2" imgW="1079032" imgH="177723" progId="Equation.DSMT4">
                  <p:embed/>
                </p:oleObj>
              </mc:Choice>
              <mc:Fallback>
                <p:oleObj name="Equation" r:id="rId2" imgW="1079032" imgH="177723" progId="Equation.DSMT4">
                  <p:embed/>
                  <p:pic>
                    <p:nvPicPr>
                      <p:cNvPr id="10" name="对象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818" y="2438400"/>
                        <a:ext cx="2544763" cy="41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478914096"/>
              </p:ext>
            </p:extLst>
          </p:nvPr>
        </p:nvGraphicFramePr>
        <p:xfrm>
          <a:off x="6096000" y="2947390"/>
          <a:ext cx="2368550" cy="406400"/>
        </p:xfrm>
        <a:graphic>
          <a:graphicData uri="http://schemas.openxmlformats.org/presentationml/2006/ole">
            <mc:AlternateContent xmlns:mc="http://schemas.openxmlformats.org/markup-compatibility/2006">
              <mc:Choice xmlns:v="urn:schemas-microsoft-com:vml" Requires="v">
                <p:oleObj name="Equation" r:id="rId4" imgW="1041120" imgH="177480" progId="Equation.DSMT4">
                  <p:embed/>
                </p:oleObj>
              </mc:Choice>
              <mc:Fallback>
                <p:oleObj name="Equation" r:id="rId4" imgW="1041120" imgH="177480" progId="Equation.DSMT4">
                  <p:embed/>
                  <p:pic>
                    <p:nvPicPr>
                      <p:cNvPr id="11" name="对象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2947390"/>
                        <a:ext cx="23685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圆角矩形 11"/>
          <p:cNvSpPr/>
          <p:nvPr/>
        </p:nvSpPr>
        <p:spPr>
          <a:xfrm>
            <a:off x="5867400" y="2209800"/>
            <a:ext cx="2971800" cy="25908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 name="对象 12"/>
          <p:cNvGraphicFramePr>
            <a:graphicFrameLocks noChangeAspect="1"/>
          </p:cNvGraphicFramePr>
          <p:nvPr/>
        </p:nvGraphicFramePr>
        <p:xfrm>
          <a:off x="422729" y="2265363"/>
          <a:ext cx="2360613" cy="755650"/>
        </p:xfrm>
        <a:graphic>
          <a:graphicData uri="http://schemas.openxmlformats.org/presentationml/2006/ole">
            <mc:AlternateContent xmlns:mc="http://schemas.openxmlformats.org/markup-compatibility/2006">
              <mc:Choice xmlns:v="urn:schemas-microsoft-com:vml" Requires="v">
                <p:oleObj name="Equation" r:id="rId6" imgW="1346040" imgH="431640" progId="Equation.DSMT4">
                  <p:embed/>
                </p:oleObj>
              </mc:Choice>
              <mc:Fallback>
                <p:oleObj name="Equation" r:id="rId6" imgW="1346040" imgH="431640" progId="Equation.DSMT4">
                  <p:embed/>
                  <p:pic>
                    <p:nvPicPr>
                      <p:cNvPr id="13" name="对象 12"/>
                      <p:cNvPicPr>
                        <a:picLocks noChangeAspect="1" noChangeArrowheads="1"/>
                      </p:cNvPicPr>
                      <p:nvPr/>
                    </p:nvPicPr>
                    <p:blipFill>
                      <a:blip r:embed="rId7"/>
                      <a:srcRect/>
                      <a:stretch>
                        <a:fillRect/>
                      </a:stretch>
                    </p:blipFill>
                    <p:spPr bwMode="auto">
                      <a:xfrm>
                        <a:off x="422729" y="2265363"/>
                        <a:ext cx="2360613" cy="755650"/>
                      </a:xfrm>
                      <a:prstGeom prst="rect">
                        <a:avLst/>
                      </a:prstGeom>
                      <a:noFill/>
                      <a:ln>
                        <a:noFill/>
                      </a:ln>
                    </p:spPr>
                  </p:pic>
                </p:oleObj>
              </mc:Fallback>
            </mc:AlternateContent>
          </a:graphicData>
        </a:graphic>
      </p:graphicFrame>
      <p:sp>
        <p:nvSpPr>
          <p:cNvPr id="15" name="矩形 14"/>
          <p:cNvSpPr/>
          <p:nvPr/>
        </p:nvSpPr>
        <p:spPr>
          <a:xfrm>
            <a:off x="304800" y="1695617"/>
            <a:ext cx="2386744" cy="369332"/>
          </a:xfrm>
          <a:prstGeom prst="rect">
            <a:avLst/>
          </a:prstGeom>
        </p:spPr>
        <p:txBody>
          <a:bodyPr wrap="none">
            <a:spAutoFit/>
          </a:bodyPr>
          <a:lstStyle/>
          <a:p>
            <a:r>
              <a:rPr lang="en-US" altLang="zh-CN" b="1" dirty="0">
                <a:solidFill>
                  <a:srgbClr val="FF0000"/>
                </a:solidFill>
              </a:rPr>
              <a:t>Helmholtz Free Energy </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2808738431"/>
              </p:ext>
            </p:extLst>
          </p:nvPr>
        </p:nvGraphicFramePr>
        <p:xfrm>
          <a:off x="3021759" y="1791383"/>
          <a:ext cx="1113804" cy="273566"/>
        </p:xfrm>
        <a:graphic>
          <a:graphicData uri="http://schemas.openxmlformats.org/presentationml/2006/ole">
            <mc:AlternateContent xmlns:mc="http://schemas.openxmlformats.org/markup-compatibility/2006">
              <mc:Choice xmlns:v="urn:schemas-microsoft-com:vml" Requires="v">
                <p:oleObj name="Equation" r:id="rId8" imgW="723600" imgH="177480" progId="Equation.DSMT4">
                  <p:embed/>
                </p:oleObj>
              </mc:Choice>
              <mc:Fallback>
                <p:oleObj name="Equation" r:id="rId8" imgW="723600" imgH="177480" progId="Equation.DSMT4">
                  <p:embed/>
                  <p:pic>
                    <p:nvPicPr>
                      <p:cNvPr id="17" name="对象 16"/>
                      <p:cNvPicPr/>
                      <p:nvPr/>
                    </p:nvPicPr>
                    <p:blipFill>
                      <a:blip r:embed="rId9"/>
                      <a:stretch>
                        <a:fillRect/>
                      </a:stretch>
                    </p:blipFill>
                    <p:spPr>
                      <a:xfrm>
                        <a:off x="3021759" y="1791383"/>
                        <a:ext cx="1113804" cy="273566"/>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454231" y="3153470"/>
          <a:ext cx="1679369" cy="275530"/>
        </p:xfrm>
        <a:graphic>
          <a:graphicData uri="http://schemas.openxmlformats.org/presentationml/2006/ole">
            <mc:AlternateContent xmlns:mc="http://schemas.openxmlformats.org/markup-compatibility/2006">
              <mc:Choice xmlns:v="urn:schemas-microsoft-com:vml" Requires="v">
                <p:oleObj name="Equation" r:id="rId10" imgW="1079032" imgH="177723" progId="Equation.DSMT4">
                  <p:embed/>
                </p:oleObj>
              </mc:Choice>
              <mc:Fallback>
                <p:oleObj name="Equation" r:id="rId10" imgW="1079032" imgH="177723" progId="Equation.DSMT4">
                  <p:embed/>
                  <p:pic>
                    <p:nvPicPr>
                      <p:cNvPr id="18" name="对象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231" y="3153470"/>
                        <a:ext cx="1679369" cy="275530"/>
                      </a:xfrm>
                      <a:prstGeom prst="rect">
                        <a:avLst/>
                      </a:prstGeom>
                      <a:noFill/>
                      <a:ln>
                        <a:noFill/>
                      </a:ln>
                    </p:spPr>
                  </p:pic>
                </p:oleObj>
              </mc:Fallback>
            </mc:AlternateContent>
          </a:graphicData>
        </a:graphic>
      </p:graphicFrame>
      <p:graphicFrame>
        <p:nvGraphicFramePr>
          <p:cNvPr id="19" name="对象 18"/>
          <p:cNvGraphicFramePr>
            <a:graphicFrameLocks noChangeAspect="1"/>
          </p:cNvGraphicFramePr>
          <p:nvPr/>
        </p:nvGraphicFramePr>
        <p:xfrm>
          <a:off x="3140529" y="2654300"/>
          <a:ext cx="2041071" cy="317500"/>
        </p:xfrm>
        <a:graphic>
          <a:graphicData uri="http://schemas.openxmlformats.org/presentationml/2006/ole">
            <mc:AlternateContent xmlns:mc="http://schemas.openxmlformats.org/markup-compatibility/2006">
              <mc:Choice xmlns:v="urn:schemas-microsoft-com:vml" Requires="v">
                <p:oleObj name="Equation" r:id="rId11" imgW="1143000" imgH="177480" progId="Equation.DSMT4">
                  <p:embed/>
                </p:oleObj>
              </mc:Choice>
              <mc:Fallback>
                <p:oleObj name="Equation" r:id="rId11" imgW="1143000" imgH="177480" progId="Equation.DSMT4">
                  <p:embed/>
                  <p:pic>
                    <p:nvPicPr>
                      <p:cNvPr id="19" name="对象 18"/>
                      <p:cNvPicPr/>
                      <p:nvPr/>
                    </p:nvPicPr>
                    <p:blipFill>
                      <a:blip r:embed="rId12"/>
                      <a:stretch>
                        <a:fillRect/>
                      </a:stretch>
                    </p:blipFill>
                    <p:spPr>
                      <a:xfrm>
                        <a:off x="3140529" y="2654300"/>
                        <a:ext cx="2041071" cy="317500"/>
                      </a:xfrm>
                      <a:prstGeom prst="rect">
                        <a:avLst/>
                      </a:prstGeom>
                    </p:spPr>
                  </p:pic>
                </p:oleObj>
              </mc:Fallback>
            </mc:AlternateContent>
          </a:graphicData>
        </a:graphic>
      </p:graphicFrame>
      <p:sp>
        <p:nvSpPr>
          <p:cNvPr id="20" name="右大括号 19"/>
          <p:cNvSpPr/>
          <p:nvPr/>
        </p:nvSpPr>
        <p:spPr>
          <a:xfrm>
            <a:off x="2759529" y="2362200"/>
            <a:ext cx="262230" cy="991590"/>
          </a:xfrm>
          <a:prstGeom prst="rightBrace">
            <a:avLst>
              <a:gd name="adj1" fmla="val 481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1" name="对象 20"/>
          <p:cNvGraphicFramePr>
            <a:graphicFrameLocks noChangeAspect="1"/>
          </p:cNvGraphicFramePr>
          <p:nvPr/>
        </p:nvGraphicFramePr>
        <p:xfrm>
          <a:off x="434975" y="3984670"/>
          <a:ext cx="2405063" cy="755650"/>
        </p:xfrm>
        <a:graphic>
          <a:graphicData uri="http://schemas.openxmlformats.org/presentationml/2006/ole">
            <mc:AlternateContent xmlns:mc="http://schemas.openxmlformats.org/markup-compatibility/2006">
              <mc:Choice xmlns:v="urn:schemas-microsoft-com:vml" Requires="v">
                <p:oleObj name="Equation" r:id="rId13" imgW="1371600" imgH="431640" progId="Equation.DSMT4">
                  <p:embed/>
                </p:oleObj>
              </mc:Choice>
              <mc:Fallback>
                <p:oleObj name="Equation" r:id="rId13" imgW="1371600" imgH="431640" progId="Equation.DSMT4">
                  <p:embed/>
                  <p:pic>
                    <p:nvPicPr>
                      <p:cNvPr id="21" name="对象 20"/>
                      <p:cNvPicPr>
                        <a:picLocks noChangeAspect="1" noChangeArrowheads="1"/>
                      </p:cNvPicPr>
                      <p:nvPr/>
                    </p:nvPicPr>
                    <p:blipFill>
                      <a:blip r:embed="rId14"/>
                      <a:srcRect/>
                      <a:stretch>
                        <a:fillRect/>
                      </a:stretch>
                    </p:blipFill>
                    <p:spPr bwMode="auto">
                      <a:xfrm>
                        <a:off x="434975" y="3984670"/>
                        <a:ext cx="2405063" cy="755650"/>
                      </a:xfrm>
                      <a:prstGeom prst="rect">
                        <a:avLst/>
                      </a:prstGeom>
                      <a:noFill/>
                      <a:ln>
                        <a:noFill/>
                      </a:ln>
                    </p:spPr>
                  </p:pic>
                </p:oleObj>
              </mc:Fallback>
            </mc:AlternateContent>
          </a:graphicData>
        </a:graphic>
      </p:graphicFrame>
      <p:graphicFrame>
        <p:nvGraphicFramePr>
          <p:cNvPr id="23" name="对象 22"/>
          <p:cNvGraphicFramePr>
            <a:graphicFrameLocks noChangeAspect="1"/>
          </p:cNvGraphicFramePr>
          <p:nvPr/>
        </p:nvGraphicFramePr>
        <p:xfrm>
          <a:off x="3124200" y="4386307"/>
          <a:ext cx="1858962" cy="317500"/>
        </p:xfrm>
        <a:graphic>
          <a:graphicData uri="http://schemas.openxmlformats.org/presentationml/2006/ole">
            <mc:AlternateContent xmlns:mc="http://schemas.openxmlformats.org/markup-compatibility/2006">
              <mc:Choice xmlns:v="urn:schemas-microsoft-com:vml" Requires="v">
                <p:oleObj name="Equation" r:id="rId15" imgW="1041120" imgH="177480" progId="Equation.DSMT4">
                  <p:embed/>
                </p:oleObj>
              </mc:Choice>
              <mc:Fallback>
                <p:oleObj name="Equation" r:id="rId15" imgW="1041120" imgH="177480" progId="Equation.DSMT4">
                  <p:embed/>
                  <p:pic>
                    <p:nvPicPr>
                      <p:cNvPr id="23" name="对象 22"/>
                      <p:cNvPicPr/>
                      <p:nvPr/>
                    </p:nvPicPr>
                    <p:blipFill>
                      <a:blip r:embed="rId16"/>
                      <a:stretch>
                        <a:fillRect/>
                      </a:stretch>
                    </p:blipFill>
                    <p:spPr>
                      <a:xfrm>
                        <a:off x="3124200" y="4386307"/>
                        <a:ext cx="1858962" cy="317500"/>
                      </a:xfrm>
                      <a:prstGeom prst="rect">
                        <a:avLst/>
                      </a:prstGeom>
                    </p:spPr>
                  </p:pic>
                </p:oleObj>
              </mc:Fallback>
            </mc:AlternateContent>
          </a:graphicData>
        </a:graphic>
      </p:graphicFrame>
      <p:sp>
        <p:nvSpPr>
          <p:cNvPr id="24" name="右大括号 23"/>
          <p:cNvSpPr/>
          <p:nvPr/>
        </p:nvSpPr>
        <p:spPr>
          <a:xfrm>
            <a:off x="2794000" y="4081507"/>
            <a:ext cx="262230" cy="991590"/>
          </a:xfrm>
          <a:prstGeom prst="rightBrace">
            <a:avLst>
              <a:gd name="adj1" fmla="val 481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矩形 24"/>
          <p:cNvSpPr/>
          <p:nvPr/>
        </p:nvSpPr>
        <p:spPr>
          <a:xfrm>
            <a:off x="372785" y="3581400"/>
            <a:ext cx="1947969" cy="369332"/>
          </a:xfrm>
          <a:prstGeom prst="rect">
            <a:avLst/>
          </a:prstGeom>
        </p:spPr>
        <p:txBody>
          <a:bodyPr wrap="none">
            <a:spAutoFit/>
          </a:bodyPr>
          <a:lstStyle/>
          <a:p>
            <a:r>
              <a:rPr lang="en-US" altLang="zh-CN" b="1" dirty="0">
                <a:solidFill>
                  <a:srgbClr val="FF0000"/>
                </a:solidFill>
              </a:rPr>
              <a:t>Gibbs Free Energy </a:t>
            </a:r>
            <a:endParaRPr lang="zh-CN" altLang="en-US" dirty="0"/>
          </a:p>
        </p:txBody>
      </p:sp>
      <p:graphicFrame>
        <p:nvGraphicFramePr>
          <p:cNvPr id="26" name="对象 25"/>
          <p:cNvGraphicFramePr>
            <a:graphicFrameLocks noChangeAspect="1"/>
          </p:cNvGraphicFramePr>
          <p:nvPr>
            <p:extLst>
              <p:ext uri="{D42A27DB-BD31-4B8C-83A1-F6EECF244321}">
                <p14:modId xmlns:p14="http://schemas.microsoft.com/office/powerpoint/2010/main" val="269227147"/>
              </p:ext>
            </p:extLst>
          </p:nvPr>
        </p:nvGraphicFramePr>
        <p:xfrm>
          <a:off x="2573367" y="3629541"/>
          <a:ext cx="1152525" cy="273050"/>
        </p:xfrm>
        <a:graphic>
          <a:graphicData uri="http://schemas.openxmlformats.org/presentationml/2006/ole">
            <mc:AlternateContent xmlns:mc="http://schemas.openxmlformats.org/markup-compatibility/2006">
              <mc:Choice xmlns:v="urn:schemas-microsoft-com:vml" Requires="v">
                <p:oleObj name="Equation" r:id="rId17" imgW="749160" imgH="177480" progId="Equation.DSMT4">
                  <p:embed/>
                </p:oleObj>
              </mc:Choice>
              <mc:Fallback>
                <p:oleObj name="Equation" r:id="rId17" imgW="749160" imgH="177480" progId="Equation.DSMT4">
                  <p:embed/>
                  <p:pic>
                    <p:nvPicPr>
                      <p:cNvPr id="26" name="对象 25"/>
                      <p:cNvPicPr>
                        <a:picLocks noChangeAspect="1" noChangeArrowheads="1"/>
                      </p:cNvPicPr>
                      <p:nvPr/>
                    </p:nvPicPr>
                    <p:blipFill>
                      <a:blip r:embed="rId18"/>
                      <a:srcRect/>
                      <a:stretch>
                        <a:fillRect/>
                      </a:stretch>
                    </p:blipFill>
                    <p:spPr bwMode="auto">
                      <a:xfrm>
                        <a:off x="2573367" y="3629541"/>
                        <a:ext cx="11525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 name="对象 26"/>
          <p:cNvGraphicFramePr>
            <a:graphicFrameLocks noChangeAspect="1"/>
          </p:cNvGraphicFramePr>
          <p:nvPr/>
        </p:nvGraphicFramePr>
        <p:xfrm>
          <a:off x="392748" y="4843508"/>
          <a:ext cx="1970442" cy="338092"/>
        </p:xfrm>
        <a:graphic>
          <a:graphicData uri="http://schemas.openxmlformats.org/presentationml/2006/ole">
            <mc:AlternateContent xmlns:mc="http://schemas.openxmlformats.org/markup-compatibility/2006">
              <mc:Choice xmlns:v="urn:schemas-microsoft-com:vml" Requires="v">
                <p:oleObj name="Equation" r:id="rId19" imgW="1040948" imgH="177723" progId="Equation.DSMT4">
                  <p:embed/>
                </p:oleObj>
              </mc:Choice>
              <mc:Fallback>
                <p:oleObj name="Equation" r:id="rId19" imgW="1040948" imgH="177723" progId="Equation.DSMT4">
                  <p:embed/>
                  <p:pic>
                    <p:nvPicPr>
                      <p:cNvPr id="27" name="对象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748" y="4843508"/>
                        <a:ext cx="1970442" cy="338092"/>
                      </a:xfrm>
                      <a:prstGeom prst="rect">
                        <a:avLst/>
                      </a:prstGeom>
                      <a:noFill/>
                      <a:ln>
                        <a:noFill/>
                      </a:ln>
                    </p:spPr>
                  </p:pic>
                </p:oleObj>
              </mc:Fallback>
            </mc:AlternateContent>
          </a:graphicData>
        </a:graphic>
      </p:graphicFrame>
      <p:graphicFrame>
        <p:nvGraphicFramePr>
          <p:cNvPr id="28" name="对象 27"/>
          <p:cNvGraphicFramePr>
            <a:graphicFrameLocks noChangeAspect="1"/>
          </p:cNvGraphicFramePr>
          <p:nvPr/>
        </p:nvGraphicFramePr>
        <p:xfrm>
          <a:off x="6096000" y="3505200"/>
          <a:ext cx="2687920" cy="418028"/>
        </p:xfrm>
        <a:graphic>
          <a:graphicData uri="http://schemas.openxmlformats.org/presentationml/2006/ole">
            <mc:AlternateContent xmlns:mc="http://schemas.openxmlformats.org/markup-compatibility/2006">
              <mc:Choice xmlns:v="urn:schemas-microsoft-com:vml" Requires="v">
                <p:oleObj name="Equation" r:id="rId20" imgW="1143000" imgH="177480" progId="Equation.DSMT4">
                  <p:embed/>
                </p:oleObj>
              </mc:Choice>
              <mc:Fallback>
                <p:oleObj name="Equation" r:id="rId20" imgW="1143000" imgH="177480" progId="Equation.DSMT4">
                  <p:embed/>
                  <p:pic>
                    <p:nvPicPr>
                      <p:cNvPr id="28" name="对象 27"/>
                      <p:cNvPicPr>
                        <a:picLocks noChangeAspect="1" noChangeArrowheads="1"/>
                      </p:cNvPicPr>
                      <p:nvPr/>
                    </p:nvPicPr>
                    <p:blipFill>
                      <a:blip r:embed="rId21"/>
                      <a:srcRect/>
                      <a:stretch>
                        <a:fillRect/>
                      </a:stretch>
                    </p:blipFill>
                    <p:spPr bwMode="auto">
                      <a:xfrm>
                        <a:off x="6096000" y="3505200"/>
                        <a:ext cx="2687920" cy="418028"/>
                      </a:xfrm>
                      <a:prstGeom prst="rect">
                        <a:avLst/>
                      </a:prstGeom>
                      <a:noFill/>
                      <a:ln>
                        <a:noFill/>
                      </a:ln>
                    </p:spPr>
                  </p:pic>
                </p:oleObj>
              </mc:Fallback>
            </mc:AlternateContent>
          </a:graphicData>
        </a:graphic>
      </p:graphicFrame>
      <p:graphicFrame>
        <p:nvGraphicFramePr>
          <p:cNvPr id="29" name="对象 28"/>
          <p:cNvGraphicFramePr>
            <a:graphicFrameLocks noChangeAspect="1"/>
          </p:cNvGraphicFramePr>
          <p:nvPr/>
        </p:nvGraphicFramePr>
        <p:xfrm>
          <a:off x="6096000" y="4069506"/>
          <a:ext cx="2597150" cy="407650"/>
        </p:xfrm>
        <a:graphic>
          <a:graphicData uri="http://schemas.openxmlformats.org/presentationml/2006/ole">
            <mc:AlternateContent xmlns:mc="http://schemas.openxmlformats.org/markup-compatibility/2006">
              <mc:Choice xmlns:v="urn:schemas-microsoft-com:vml" Requires="v">
                <p:oleObj name="Equation" r:id="rId22" imgW="1130040" imgH="177480" progId="Equation.DSMT4">
                  <p:embed/>
                </p:oleObj>
              </mc:Choice>
              <mc:Fallback>
                <p:oleObj name="Equation" r:id="rId22" imgW="1130040" imgH="177480" progId="Equation.DSMT4">
                  <p:embed/>
                  <p:pic>
                    <p:nvPicPr>
                      <p:cNvPr id="29" name="对象 28"/>
                      <p:cNvPicPr>
                        <a:picLocks noChangeAspect="1" noChangeArrowheads="1"/>
                      </p:cNvPicPr>
                      <p:nvPr/>
                    </p:nvPicPr>
                    <p:blipFill>
                      <a:blip r:embed="rId23"/>
                      <a:srcRect/>
                      <a:stretch>
                        <a:fillRect/>
                      </a:stretch>
                    </p:blipFill>
                    <p:spPr bwMode="auto">
                      <a:xfrm>
                        <a:off x="6096000" y="4069506"/>
                        <a:ext cx="2597150" cy="407650"/>
                      </a:xfrm>
                      <a:prstGeom prst="rect">
                        <a:avLst/>
                      </a:prstGeom>
                      <a:noFill/>
                      <a:ln>
                        <a:noFill/>
                      </a:ln>
                    </p:spPr>
                  </p:pic>
                </p:oleObj>
              </mc:Fallback>
            </mc:AlternateContent>
          </a:graphicData>
        </a:graphic>
      </p:graphicFrame>
      <p:sp>
        <p:nvSpPr>
          <p:cNvPr id="3" name="TextBox 2"/>
          <p:cNvSpPr txBox="1"/>
          <p:nvPr/>
        </p:nvSpPr>
        <p:spPr>
          <a:xfrm>
            <a:off x="2690407" y="5638800"/>
            <a:ext cx="5384103" cy="830997"/>
          </a:xfrm>
          <a:prstGeom prst="rect">
            <a:avLst/>
          </a:prstGeom>
          <a:noFill/>
        </p:spPr>
        <p:txBody>
          <a:bodyPr wrap="none" rtlCol="0">
            <a:spAutoFit/>
          </a:bodyPr>
          <a:lstStyle/>
          <a:p>
            <a:r>
              <a:rPr lang="en-US" altLang="zh-CN" sz="2400" dirty="0"/>
              <a:t>Thermodynamic state variable:  U, H, A, G</a:t>
            </a:r>
          </a:p>
          <a:p>
            <a:r>
              <a:rPr lang="en-US" altLang="zh-CN" sz="2400" dirty="0"/>
              <a:t>Thermodynamic state variable: T, P, V, S</a:t>
            </a:r>
            <a:endParaRPr lang="zh-CN" altLang="en-US" sz="2400" dirty="0"/>
          </a:p>
        </p:txBody>
      </p:sp>
    </p:spTree>
    <p:extLst>
      <p:ext uri="{BB962C8B-B14F-4D97-AF65-F5344CB8AC3E}">
        <p14:creationId xmlns:p14="http://schemas.microsoft.com/office/powerpoint/2010/main" val="3398247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69999" y="-101997"/>
            <a:ext cx="7178676" cy="962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Chemical Potential</a:t>
            </a:r>
            <a:endParaRPr lang="en-US" dirty="0">
              <a:solidFill>
                <a:srgbClr val="FF0000"/>
              </a:solidFill>
            </a:endParaRPr>
          </a:p>
        </p:txBody>
      </p:sp>
      <p:graphicFrame>
        <p:nvGraphicFramePr>
          <p:cNvPr id="8" name="Object 4"/>
          <p:cNvGraphicFramePr>
            <a:graphicFrameLocks noChangeAspect="1"/>
          </p:cNvGraphicFramePr>
          <p:nvPr>
            <p:extLst>
              <p:ext uri="{D42A27DB-BD31-4B8C-83A1-F6EECF244321}">
                <p14:modId xmlns:p14="http://schemas.microsoft.com/office/powerpoint/2010/main" val="3659542478"/>
              </p:ext>
            </p:extLst>
          </p:nvPr>
        </p:nvGraphicFramePr>
        <p:xfrm>
          <a:off x="3341688" y="2865438"/>
          <a:ext cx="2454275" cy="334962"/>
        </p:xfrm>
        <a:graphic>
          <a:graphicData uri="http://schemas.openxmlformats.org/presentationml/2006/ole">
            <mc:AlternateContent xmlns:mc="http://schemas.openxmlformats.org/markup-compatibility/2006">
              <mc:Choice xmlns:v="urn:schemas-microsoft-com:vml" Requires="v">
                <p:oleObj name="公式" r:id="rId2" imgW="1663560" imgH="228600" progId="Equation.3">
                  <p:embed/>
                </p:oleObj>
              </mc:Choice>
              <mc:Fallback>
                <p:oleObj name="公式" r:id="rId2" imgW="1663560" imgH="228600" progId="Equation.3">
                  <p:embed/>
                  <p:pic>
                    <p:nvPicPr>
                      <p:cNvPr id="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1688" y="2865438"/>
                        <a:ext cx="2454275" cy="334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8"/>
          <p:cNvGraphicFramePr>
            <a:graphicFrameLocks noChangeAspect="1"/>
          </p:cNvGraphicFramePr>
          <p:nvPr>
            <p:extLst>
              <p:ext uri="{D42A27DB-BD31-4B8C-83A1-F6EECF244321}">
                <p14:modId xmlns:p14="http://schemas.microsoft.com/office/powerpoint/2010/main" val="3664059589"/>
              </p:ext>
            </p:extLst>
          </p:nvPr>
        </p:nvGraphicFramePr>
        <p:xfrm>
          <a:off x="3349625" y="2033587"/>
          <a:ext cx="1479550" cy="633413"/>
        </p:xfrm>
        <a:graphic>
          <a:graphicData uri="http://schemas.openxmlformats.org/presentationml/2006/ole">
            <mc:AlternateContent xmlns:mc="http://schemas.openxmlformats.org/markup-compatibility/2006">
              <mc:Choice xmlns:v="urn:schemas-microsoft-com:vml" Requires="v">
                <p:oleObj name="Equation" r:id="rId4" imgW="1002960" imgH="431640" progId="Equation.3">
                  <p:embed/>
                </p:oleObj>
              </mc:Choice>
              <mc:Fallback>
                <p:oleObj name="Equation" r:id="rId4" imgW="1002960" imgH="431640" progId="Equation.3">
                  <p:embed/>
                  <p:pic>
                    <p:nvPicPr>
                      <p:cNvPr id="9"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9625" y="2033587"/>
                        <a:ext cx="1479550" cy="633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9"/>
          <p:cNvSpPr txBox="1">
            <a:spLocks noChangeArrowheads="1"/>
          </p:cNvSpPr>
          <p:nvPr/>
        </p:nvSpPr>
        <p:spPr bwMode="auto">
          <a:xfrm>
            <a:off x="1074967" y="3285150"/>
            <a:ext cx="5892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dirty="0">
                <a:ea typeface="宋体" pitchFamily="2" charset="-122"/>
              </a:rPr>
              <a:t>This equation can be used to describe open systems and close systems</a:t>
            </a:r>
          </a:p>
        </p:txBody>
      </p:sp>
      <p:sp>
        <p:nvSpPr>
          <p:cNvPr id="11" name="Text Box 20"/>
          <p:cNvSpPr txBox="1">
            <a:spLocks noChangeArrowheads="1"/>
          </p:cNvSpPr>
          <p:nvPr/>
        </p:nvSpPr>
        <p:spPr bwMode="auto">
          <a:xfrm>
            <a:off x="1096738" y="3945481"/>
            <a:ext cx="11978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b="1" dirty="0">
                <a:solidFill>
                  <a:srgbClr val="0000FF"/>
                </a:solidFill>
                <a:ea typeface="宋体" pitchFamily="2" charset="-122"/>
              </a:rPr>
              <a:t>Similarly, </a:t>
            </a:r>
          </a:p>
        </p:txBody>
      </p:sp>
      <p:graphicFrame>
        <p:nvGraphicFramePr>
          <p:cNvPr id="12" name="Object 21"/>
          <p:cNvGraphicFramePr>
            <a:graphicFrameLocks noChangeAspect="1"/>
          </p:cNvGraphicFramePr>
          <p:nvPr>
            <p:extLst>
              <p:ext uri="{D42A27DB-BD31-4B8C-83A1-F6EECF244321}">
                <p14:modId xmlns:p14="http://schemas.microsoft.com/office/powerpoint/2010/main" val="3221529720"/>
              </p:ext>
            </p:extLst>
          </p:nvPr>
        </p:nvGraphicFramePr>
        <p:xfrm>
          <a:off x="2114326" y="4114800"/>
          <a:ext cx="3200400" cy="631825"/>
        </p:xfrm>
        <a:graphic>
          <a:graphicData uri="http://schemas.openxmlformats.org/presentationml/2006/ole">
            <mc:AlternateContent xmlns:mc="http://schemas.openxmlformats.org/markup-compatibility/2006">
              <mc:Choice xmlns:v="urn:schemas-microsoft-com:vml" Requires="v">
                <p:oleObj name="Equation" r:id="rId6" imgW="2171520" imgH="431640" progId="Equation.3">
                  <p:embed/>
                </p:oleObj>
              </mc:Choice>
              <mc:Fallback>
                <p:oleObj name="Equation" r:id="rId6" imgW="2171520" imgH="431640" progId="Equation.3">
                  <p:embed/>
                  <p:pic>
                    <p:nvPicPr>
                      <p:cNvPr id="12" name="Object 2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4326" y="4114800"/>
                        <a:ext cx="320040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2"/>
          <p:cNvGraphicFramePr>
            <a:graphicFrameLocks noChangeAspect="1"/>
          </p:cNvGraphicFramePr>
          <p:nvPr>
            <p:extLst>
              <p:ext uri="{D42A27DB-BD31-4B8C-83A1-F6EECF244321}">
                <p14:modId xmlns:p14="http://schemas.microsoft.com/office/powerpoint/2010/main" val="3037153648"/>
              </p:ext>
            </p:extLst>
          </p:nvPr>
        </p:nvGraphicFramePr>
        <p:xfrm>
          <a:off x="2123851" y="4851400"/>
          <a:ext cx="3143250" cy="631825"/>
        </p:xfrm>
        <a:graphic>
          <a:graphicData uri="http://schemas.openxmlformats.org/presentationml/2006/ole">
            <mc:AlternateContent xmlns:mc="http://schemas.openxmlformats.org/markup-compatibility/2006">
              <mc:Choice xmlns:v="urn:schemas-microsoft-com:vml" Requires="v">
                <p:oleObj name="Equation" r:id="rId8" imgW="2133360" imgH="431640" progId="Equation.3">
                  <p:embed/>
                </p:oleObj>
              </mc:Choice>
              <mc:Fallback>
                <p:oleObj name="Equation" r:id="rId8" imgW="2133360" imgH="431640" progId="Equation.3">
                  <p:embed/>
                  <p:pic>
                    <p:nvPicPr>
                      <p:cNvPr id="13"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3851" y="4851400"/>
                        <a:ext cx="3143250"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23"/>
          <p:cNvGraphicFramePr>
            <a:graphicFrameLocks noChangeAspect="1"/>
          </p:cNvGraphicFramePr>
          <p:nvPr>
            <p:extLst>
              <p:ext uri="{D42A27DB-BD31-4B8C-83A1-F6EECF244321}">
                <p14:modId xmlns:p14="http://schemas.microsoft.com/office/powerpoint/2010/main" val="1925079963"/>
              </p:ext>
            </p:extLst>
          </p:nvPr>
        </p:nvGraphicFramePr>
        <p:xfrm>
          <a:off x="2158776" y="5497513"/>
          <a:ext cx="3278187" cy="633412"/>
        </p:xfrm>
        <a:graphic>
          <a:graphicData uri="http://schemas.openxmlformats.org/presentationml/2006/ole">
            <mc:AlternateContent xmlns:mc="http://schemas.openxmlformats.org/markup-compatibility/2006">
              <mc:Choice xmlns:v="urn:schemas-microsoft-com:vml" Requires="v">
                <p:oleObj name="Equation" r:id="rId10" imgW="2222280" imgH="431640" progId="Equation.3">
                  <p:embed/>
                </p:oleObj>
              </mc:Choice>
              <mc:Fallback>
                <p:oleObj name="Equation" r:id="rId10" imgW="2222280" imgH="431640" progId="Equation.3">
                  <p:embed/>
                  <p:pic>
                    <p:nvPicPr>
                      <p:cNvPr id="14"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58776" y="5497513"/>
                        <a:ext cx="3278187"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1" name="Picture 2"/>
          <p:cNvPicPr>
            <a:picLocks noChangeAspect="1" noChangeArrowheads="1"/>
          </p:cNvPicPr>
          <p:nvPr/>
        </p:nvPicPr>
        <p:blipFill rotWithShape="1">
          <a:blip r:embed="rId12">
            <a:extLst>
              <a:ext uri="{28A0092B-C50C-407E-A947-70E740481C1C}">
                <a14:useLocalDpi xmlns:a14="http://schemas.microsoft.com/office/drawing/2010/main" val="0"/>
              </a:ext>
            </a:extLst>
          </a:blip>
          <a:srcRect l="25610" t="87149" r="34062" b="-162"/>
          <a:stretch/>
        </p:blipFill>
        <p:spPr bwMode="auto">
          <a:xfrm>
            <a:off x="866775" y="1295400"/>
            <a:ext cx="3503221" cy="635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圆角矩形 1"/>
          <p:cNvSpPr/>
          <p:nvPr/>
        </p:nvSpPr>
        <p:spPr>
          <a:xfrm>
            <a:off x="714375" y="3945481"/>
            <a:ext cx="8001000" cy="2226719"/>
          </a:xfrm>
          <a:prstGeom prst="roundRect">
            <a:avLst>
              <a:gd name="adj" fmla="val 938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33113" y="2133600"/>
            <a:ext cx="2249334" cy="369332"/>
          </a:xfrm>
          <a:prstGeom prst="rect">
            <a:avLst/>
          </a:prstGeom>
        </p:spPr>
        <p:txBody>
          <a:bodyPr wrap="none">
            <a:spAutoFit/>
          </a:bodyPr>
          <a:lstStyle/>
          <a:p>
            <a:r>
              <a:rPr lang="en-US" altLang="zh-CN" b="1" dirty="0">
                <a:solidFill>
                  <a:srgbClr val="0000FF"/>
                </a:solidFill>
                <a:effectLst>
                  <a:outerShdw blurRad="38100" dist="38100" dir="2700000" algn="tl">
                    <a:srgbClr val="000000">
                      <a:alpha val="43137"/>
                    </a:srgbClr>
                  </a:outerShdw>
                </a:effectLst>
                <a:latin typeface="Arial" charset="0"/>
                <a:cs typeface="Arial" charset="0"/>
              </a:rPr>
              <a:t>Chemical Potential</a:t>
            </a:r>
            <a:endParaRPr lang="en-US" altLang="zh-CN" dirty="0">
              <a:solidFill>
                <a:srgbClr val="0000FF"/>
              </a:solidFill>
            </a:endParaRPr>
          </a:p>
        </p:txBody>
      </p:sp>
      <p:cxnSp>
        <p:nvCxnSpPr>
          <p:cNvPr id="23" name="直接连接符 22"/>
          <p:cNvCxnSpPr/>
          <p:nvPr/>
        </p:nvCxnSpPr>
        <p:spPr>
          <a:xfrm>
            <a:off x="2983552" y="1895523"/>
            <a:ext cx="92551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1512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57299" y="-18654"/>
            <a:ext cx="7178676" cy="1030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Chemical Potential</a:t>
            </a:r>
            <a:endParaRPr lang="en-US" sz="3200" dirty="0">
              <a:solidFill>
                <a:srgbClr val="FF0000"/>
              </a:solidFill>
            </a:endParaRPr>
          </a:p>
        </p:txBody>
      </p:sp>
      <p:graphicFrame>
        <p:nvGraphicFramePr>
          <p:cNvPr id="15" name="Object 4"/>
          <p:cNvGraphicFramePr>
            <a:graphicFrameLocks noChangeAspect="1"/>
          </p:cNvGraphicFramePr>
          <p:nvPr/>
        </p:nvGraphicFramePr>
        <p:xfrm>
          <a:off x="6840537" y="3033938"/>
          <a:ext cx="2303463" cy="539750"/>
        </p:xfrm>
        <a:graphic>
          <a:graphicData uri="http://schemas.openxmlformats.org/presentationml/2006/ole">
            <mc:AlternateContent xmlns:mc="http://schemas.openxmlformats.org/markup-compatibility/2006">
              <mc:Choice xmlns:v="urn:schemas-microsoft-com:vml" Requires="v">
                <p:oleObj name="Equation" r:id="rId2" imgW="1841400" imgH="431640" progId="Equation.3">
                  <p:embed/>
                </p:oleObj>
              </mc:Choice>
              <mc:Fallback>
                <p:oleObj name="Equation" r:id="rId2" imgW="1841400" imgH="431640" progId="Equation.3">
                  <p:embed/>
                  <p:pic>
                    <p:nvPicPr>
                      <p:cNvPr id="1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537" y="3033938"/>
                        <a:ext cx="2303463" cy="53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6"/>
          <p:cNvGraphicFramePr>
            <a:graphicFrameLocks noChangeAspect="1"/>
          </p:cNvGraphicFramePr>
          <p:nvPr/>
        </p:nvGraphicFramePr>
        <p:xfrm>
          <a:off x="3748087" y="3352800"/>
          <a:ext cx="2454275" cy="334963"/>
        </p:xfrm>
        <a:graphic>
          <a:graphicData uri="http://schemas.openxmlformats.org/presentationml/2006/ole">
            <mc:AlternateContent xmlns:mc="http://schemas.openxmlformats.org/markup-compatibility/2006">
              <mc:Choice xmlns:v="urn:schemas-microsoft-com:vml" Requires="v">
                <p:oleObj name="公式" r:id="rId4" imgW="1663560" imgH="228600" progId="Equation.3">
                  <p:embed/>
                </p:oleObj>
              </mc:Choice>
              <mc:Fallback>
                <p:oleObj name="公式" r:id="rId4" imgW="1663560" imgH="228600" progId="Equation.3">
                  <p:embed/>
                  <p:pic>
                    <p:nvPicPr>
                      <p:cNvPr id="1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48087" y="3352800"/>
                        <a:ext cx="2454275" cy="33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7"/>
          <p:cNvSpPr txBox="1">
            <a:spLocks noChangeArrowheads="1"/>
          </p:cNvSpPr>
          <p:nvPr/>
        </p:nvSpPr>
        <p:spPr bwMode="auto">
          <a:xfrm>
            <a:off x="1201683" y="4122140"/>
            <a:ext cx="23753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Times New Roman" pitchFamily="18" charset="0"/>
              </a:defRPr>
            </a:lvl1pPr>
            <a:lvl2pPr marL="742950" indent="-285750" eaLnBrk="0" hangingPunct="0">
              <a:defRPr sz="1600">
                <a:solidFill>
                  <a:schemeClr val="tx1"/>
                </a:solidFill>
                <a:latin typeface="Times New Roman" pitchFamily="18" charset="0"/>
              </a:defRPr>
            </a:lvl2pPr>
            <a:lvl3pPr marL="1143000" indent="-228600" eaLnBrk="0" hangingPunct="0">
              <a:defRPr sz="1600">
                <a:solidFill>
                  <a:schemeClr val="tx1"/>
                </a:solidFill>
                <a:latin typeface="Times New Roman" pitchFamily="18" charset="0"/>
              </a:defRPr>
            </a:lvl3pPr>
            <a:lvl4pPr marL="1600200" indent="-228600" eaLnBrk="0" hangingPunct="0">
              <a:defRPr sz="1600">
                <a:solidFill>
                  <a:schemeClr val="tx1"/>
                </a:solidFill>
                <a:latin typeface="Times New Roman" pitchFamily="18" charset="0"/>
              </a:defRPr>
            </a:lvl4pPr>
            <a:lvl5pPr marL="2057400" indent="-228600" eaLnBrk="0" hangingPunct="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eaLnBrk="1" hangingPunct="1"/>
            <a:r>
              <a:rPr lang="en-US" altLang="zh-CN" sz="1800" dirty="0">
                <a:ea typeface="宋体" pitchFamily="2" charset="-122"/>
              </a:rPr>
              <a:t>Similarly, we can prove</a:t>
            </a:r>
          </a:p>
        </p:txBody>
      </p:sp>
      <p:graphicFrame>
        <p:nvGraphicFramePr>
          <p:cNvPr id="20" name="Object 9"/>
          <p:cNvGraphicFramePr>
            <a:graphicFrameLocks noChangeAspect="1"/>
          </p:cNvGraphicFramePr>
          <p:nvPr>
            <p:extLst>
              <p:ext uri="{D42A27DB-BD31-4B8C-83A1-F6EECF244321}">
                <p14:modId xmlns:p14="http://schemas.microsoft.com/office/powerpoint/2010/main" val="1092616382"/>
              </p:ext>
            </p:extLst>
          </p:nvPr>
        </p:nvGraphicFramePr>
        <p:xfrm>
          <a:off x="1140653" y="4826834"/>
          <a:ext cx="6245061" cy="768762"/>
        </p:xfrm>
        <a:graphic>
          <a:graphicData uri="http://schemas.openxmlformats.org/presentationml/2006/ole">
            <mc:AlternateContent xmlns:mc="http://schemas.openxmlformats.org/markup-compatibility/2006">
              <mc:Choice xmlns:v="urn:schemas-microsoft-com:vml" Requires="v">
                <p:oleObj name="Equation" r:id="rId6" imgW="3504960" imgH="431640" progId="Equation.3">
                  <p:embed/>
                </p:oleObj>
              </mc:Choice>
              <mc:Fallback>
                <p:oleObj name="Equation" r:id="rId6" imgW="3504960" imgH="431640" progId="Equation.3">
                  <p:embed/>
                  <p:pic>
                    <p:nvPicPr>
                      <p:cNvPr id="2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0653" y="4826834"/>
                        <a:ext cx="6245061" cy="768762"/>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nvGraphicFramePr>
        <p:xfrm>
          <a:off x="163512" y="1600200"/>
          <a:ext cx="2187575" cy="701675"/>
        </p:xfrm>
        <a:graphic>
          <a:graphicData uri="http://schemas.openxmlformats.org/presentationml/2006/ole">
            <mc:AlternateContent xmlns:mc="http://schemas.openxmlformats.org/markup-compatibility/2006">
              <mc:Choice xmlns:v="urn:schemas-microsoft-com:vml" Requires="v">
                <p:oleObj name="Equation" r:id="rId8" imgW="1422360" imgH="457200" progId="Equation.DSMT4">
                  <p:embed/>
                </p:oleObj>
              </mc:Choice>
              <mc:Fallback>
                <p:oleObj name="Equation" r:id="rId8" imgW="1422360" imgH="457200" progId="Equation.DSMT4">
                  <p:embed/>
                  <p:pic>
                    <p:nvPicPr>
                      <p:cNvPr id="2" name="对象 1"/>
                      <p:cNvPicPr>
                        <a:picLocks noChangeAspect="1" noChangeArrowheads="1"/>
                      </p:cNvPicPr>
                      <p:nvPr/>
                    </p:nvPicPr>
                    <p:blipFill>
                      <a:blip r:embed="rId9"/>
                      <a:srcRect/>
                      <a:stretch>
                        <a:fillRect/>
                      </a:stretch>
                    </p:blipFill>
                    <p:spPr bwMode="auto">
                      <a:xfrm>
                        <a:off x="163512" y="1600200"/>
                        <a:ext cx="21875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163512" y="2339975"/>
          <a:ext cx="3143250" cy="631825"/>
        </p:xfrm>
        <a:graphic>
          <a:graphicData uri="http://schemas.openxmlformats.org/presentationml/2006/ole">
            <mc:AlternateContent xmlns:mc="http://schemas.openxmlformats.org/markup-compatibility/2006">
              <mc:Choice xmlns:v="urn:schemas-microsoft-com:vml" Requires="v">
                <p:oleObj name="公式" r:id="rId10" imgW="2133600" imgH="431800" progId="Equation.3">
                  <p:embed/>
                </p:oleObj>
              </mc:Choice>
              <mc:Fallback>
                <p:oleObj name="公式" r:id="rId10" imgW="2133600" imgH="431800" progId="Equation.3">
                  <p:embed/>
                  <p:pic>
                    <p:nvPicPr>
                      <p:cNvPr id="4" name="对象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3512" y="2339975"/>
                        <a:ext cx="314325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3744912" y="1905000"/>
          <a:ext cx="3731986" cy="1295400"/>
        </p:xfrm>
        <a:graphic>
          <a:graphicData uri="http://schemas.openxmlformats.org/presentationml/2006/ole">
            <mc:AlternateContent xmlns:mc="http://schemas.openxmlformats.org/markup-compatibility/2006">
              <mc:Choice xmlns:v="urn:schemas-microsoft-com:vml" Requires="v">
                <p:oleObj name="Equation" r:id="rId12" imgW="3073320" imgH="1066680" progId="Equation.DSMT4">
                  <p:embed/>
                </p:oleObj>
              </mc:Choice>
              <mc:Fallback>
                <p:oleObj name="Equation" r:id="rId12" imgW="3073320" imgH="1066680" progId="Equation.DSMT4">
                  <p:embed/>
                  <p:pic>
                    <p:nvPicPr>
                      <p:cNvPr id="5" name="对象 4"/>
                      <p:cNvPicPr/>
                      <p:nvPr/>
                    </p:nvPicPr>
                    <p:blipFill>
                      <a:blip r:embed="rId13"/>
                      <a:stretch>
                        <a:fillRect/>
                      </a:stretch>
                    </p:blipFill>
                    <p:spPr>
                      <a:xfrm>
                        <a:off x="3744912" y="1905000"/>
                        <a:ext cx="3731986" cy="1295400"/>
                      </a:xfrm>
                      <a:prstGeom prst="rect">
                        <a:avLst/>
                      </a:prstGeom>
                    </p:spPr>
                  </p:pic>
                </p:oleObj>
              </mc:Fallback>
            </mc:AlternateContent>
          </a:graphicData>
        </a:graphic>
      </p:graphicFrame>
      <p:sp>
        <p:nvSpPr>
          <p:cNvPr id="7" name="右大括号 6"/>
          <p:cNvSpPr/>
          <p:nvPr/>
        </p:nvSpPr>
        <p:spPr>
          <a:xfrm>
            <a:off x="3332108" y="1600200"/>
            <a:ext cx="216900" cy="1219200"/>
          </a:xfrm>
          <a:prstGeom prst="rightBrace">
            <a:avLst>
              <a:gd name="adj1" fmla="val 6308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右大括号 7"/>
          <p:cNvSpPr/>
          <p:nvPr/>
        </p:nvSpPr>
        <p:spPr>
          <a:xfrm>
            <a:off x="6553199" y="2819399"/>
            <a:ext cx="215735" cy="968829"/>
          </a:xfrm>
          <a:prstGeom prst="rightBrace">
            <a:avLst>
              <a:gd name="adj1" fmla="val 31776"/>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113981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046239" y="7937"/>
            <a:ext cx="4440161" cy="5528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Chemical Potential</a:t>
            </a:r>
            <a:endParaRPr lang="en-US" dirty="0">
              <a:solidFill>
                <a:srgbClr val="FF0000"/>
              </a:solidFill>
            </a:endParaRPr>
          </a:p>
        </p:txBody>
      </p:sp>
      <p:graphicFrame>
        <p:nvGraphicFramePr>
          <p:cNvPr id="2" name="对象 1"/>
          <p:cNvGraphicFramePr>
            <a:graphicFrameLocks noChangeAspect="1"/>
          </p:cNvGraphicFramePr>
          <p:nvPr/>
        </p:nvGraphicFramePr>
        <p:xfrm>
          <a:off x="557213" y="2324692"/>
          <a:ext cx="2454275" cy="334963"/>
        </p:xfrm>
        <a:graphic>
          <a:graphicData uri="http://schemas.openxmlformats.org/presentationml/2006/ole">
            <mc:AlternateContent xmlns:mc="http://schemas.openxmlformats.org/markup-compatibility/2006">
              <mc:Choice xmlns:v="urn:schemas-microsoft-com:vml" Requires="v">
                <p:oleObj name="Equation" r:id="rId2" imgW="1663700" imgH="228600" progId="Equation.3">
                  <p:embed/>
                </p:oleObj>
              </mc:Choice>
              <mc:Fallback>
                <p:oleObj name="Equation" r:id="rId2" imgW="1663700" imgH="228600" progId="Equation.3">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3" y="2324692"/>
                        <a:ext cx="245427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536575" y="2975567"/>
          <a:ext cx="2357438" cy="334963"/>
        </p:xfrm>
        <a:graphic>
          <a:graphicData uri="http://schemas.openxmlformats.org/presentationml/2006/ole">
            <mc:AlternateContent xmlns:mc="http://schemas.openxmlformats.org/markup-compatibility/2006">
              <mc:Choice xmlns:v="urn:schemas-microsoft-com:vml" Requires="v">
                <p:oleObj name="Equation" r:id="rId4" imgW="1600200" imgH="228600" progId="Equation.3">
                  <p:embed/>
                </p:oleObj>
              </mc:Choice>
              <mc:Fallback>
                <p:oleObj name="Equation" r:id="rId4" imgW="1600200" imgH="228600" progId="Equation.3">
                  <p:embed/>
                  <p:pic>
                    <p:nvPicPr>
                      <p:cNvPr id="4" name="对象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575" y="2975567"/>
                        <a:ext cx="23574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对象 4"/>
          <p:cNvGraphicFramePr>
            <a:graphicFrameLocks noChangeAspect="1"/>
          </p:cNvGraphicFramePr>
          <p:nvPr/>
        </p:nvGraphicFramePr>
        <p:xfrm>
          <a:off x="536575" y="3712167"/>
          <a:ext cx="2319338" cy="334963"/>
        </p:xfrm>
        <a:graphic>
          <a:graphicData uri="http://schemas.openxmlformats.org/presentationml/2006/ole">
            <mc:AlternateContent xmlns:mc="http://schemas.openxmlformats.org/markup-compatibility/2006">
              <mc:Choice xmlns:v="urn:schemas-microsoft-com:vml" Requires="v">
                <p:oleObj name="Equation" r:id="rId6" imgW="1574800" imgH="228600" progId="Equation.3">
                  <p:embed/>
                </p:oleObj>
              </mc:Choice>
              <mc:Fallback>
                <p:oleObj name="Equation" r:id="rId6" imgW="1574800" imgH="228600" progId="Equation.3">
                  <p:embed/>
                  <p:pic>
                    <p:nvPicPr>
                      <p:cNvPr id="5" name="对象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575" y="3712167"/>
                        <a:ext cx="23193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对象 6"/>
          <p:cNvGraphicFramePr>
            <a:graphicFrameLocks noChangeAspect="1"/>
          </p:cNvGraphicFramePr>
          <p:nvPr/>
        </p:nvGraphicFramePr>
        <p:xfrm>
          <a:off x="571500" y="4358280"/>
          <a:ext cx="2454275" cy="336550"/>
        </p:xfrm>
        <a:graphic>
          <a:graphicData uri="http://schemas.openxmlformats.org/presentationml/2006/ole">
            <mc:AlternateContent xmlns:mc="http://schemas.openxmlformats.org/markup-compatibility/2006">
              <mc:Choice xmlns:v="urn:schemas-microsoft-com:vml" Requires="v">
                <p:oleObj name="Equation" r:id="rId8" imgW="1663700" imgH="228600" progId="Equation.3">
                  <p:embed/>
                </p:oleObj>
              </mc:Choice>
              <mc:Fallback>
                <p:oleObj name="Equation" r:id="rId8" imgW="1663700" imgH="228600" progId="Equation.3">
                  <p:embed/>
                  <p:pic>
                    <p:nvPicPr>
                      <p:cNvPr id="7"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 y="4358280"/>
                        <a:ext cx="2454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0487"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2027830"/>
            <a:ext cx="5259388" cy="1693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圆角矩形 7"/>
          <p:cNvSpPr/>
          <p:nvPr/>
        </p:nvSpPr>
        <p:spPr>
          <a:xfrm>
            <a:off x="231775" y="2027830"/>
            <a:ext cx="3121025" cy="2772770"/>
          </a:xfrm>
          <a:prstGeom prst="roundRect">
            <a:avLst>
              <a:gd name="adj" fmla="val 1096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5832121" y="3879648"/>
            <a:ext cx="2166106" cy="646331"/>
          </a:xfrm>
          <a:prstGeom prst="rect">
            <a:avLst/>
          </a:prstGeom>
          <a:noFill/>
        </p:spPr>
        <p:txBody>
          <a:bodyPr wrap="none" rtlCol="0">
            <a:spAutoFit/>
          </a:bodyPr>
          <a:lstStyle/>
          <a:p>
            <a:r>
              <a:rPr lang="en-US" altLang="zh-CN" i="1" dirty="0" err="1"/>
              <a:t>PdV</a:t>
            </a:r>
            <a:r>
              <a:rPr lang="en-US" altLang="zh-CN" dirty="0"/>
              <a:t> : </a:t>
            </a:r>
            <a:r>
              <a:rPr lang="en-US" altLang="zh-CN" i="1" dirty="0"/>
              <a:t>P-V work</a:t>
            </a:r>
          </a:p>
          <a:p>
            <a:r>
              <a:rPr lang="el-GR" altLang="zh-CN" i="1" dirty="0"/>
              <a:t>μ</a:t>
            </a:r>
            <a:r>
              <a:rPr lang="en-US" altLang="zh-CN" i="1" baseline="-25000" dirty="0" err="1"/>
              <a:t>i</a:t>
            </a:r>
            <a:r>
              <a:rPr lang="en-US" altLang="zh-CN" i="1" dirty="0" err="1"/>
              <a:t>dn</a:t>
            </a:r>
            <a:r>
              <a:rPr lang="en-US" altLang="zh-CN" i="1" baseline="-25000" dirty="0" err="1"/>
              <a:t>i</a:t>
            </a:r>
            <a:r>
              <a:rPr lang="en-US" altLang="zh-CN" i="1" baseline="30000" dirty="0"/>
              <a:t> </a:t>
            </a:r>
            <a:r>
              <a:rPr lang="en-US" altLang="zh-CN" i="1" dirty="0"/>
              <a:t> : chemical work</a:t>
            </a:r>
            <a:endParaRPr lang="zh-CN" altLang="en-US" i="1" baseline="-25000" dirty="0"/>
          </a:p>
        </p:txBody>
      </p:sp>
    </p:spTree>
    <p:extLst>
      <p:ext uri="{BB962C8B-B14F-4D97-AF65-F5344CB8AC3E}">
        <p14:creationId xmlns:p14="http://schemas.microsoft.com/office/powerpoint/2010/main" val="30143061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74729" y="1431238"/>
            <a:ext cx="6705600" cy="4147924"/>
            <a:chOff x="1010584" y="1795676"/>
            <a:chExt cx="6705600" cy="4147924"/>
          </a:xfrm>
        </p:grpSpPr>
        <p:sp>
          <p:nvSpPr>
            <p:cNvPr id="9" name="TextBox 8"/>
            <p:cNvSpPr txBox="1"/>
            <p:nvPr/>
          </p:nvSpPr>
          <p:spPr>
            <a:xfrm>
              <a:off x="1929931" y="2209800"/>
              <a:ext cx="604653" cy="523220"/>
            </a:xfrm>
            <a:prstGeom prst="rect">
              <a:avLst/>
            </a:prstGeom>
            <a:noFill/>
          </p:spPr>
          <p:txBody>
            <a:bodyPr wrap="none" rtlCol="0">
              <a:spAutoFit/>
            </a:bodyPr>
            <a:lstStyle/>
            <a:p>
              <a:r>
                <a:rPr lang="en-US" altLang="zh-CN" sz="2800" i="1" dirty="0" err="1"/>
                <a:t>dU</a:t>
              </a:r>
              <a:endParaRPr lang="zh-CN" altLang="en-US" sz="2800" i="1" dirty="0"/>
            </a:p>
          </p:txBody>
        </p:sp>
        <p:sp>
          <p:nvSpPr>
            <p:cNvPr id="10" name="椭圆 9"/>
            <p:cNvSpPr/>
            <p:nvPr/>
          </p:nvSpPr>
          <p:spPr>
            <a:xfrm>
              <a:off x="1010584" y="2195295"/>
              <a:ext cx="2455200"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1924984" y="4351712"/>
              <a:ext cx="598241" cy="523220"/>
            </a:xfrm>
            <a:prstGeom prst="rect">
              <a:avLst/>
            </a:prstGeom>
            <a:noFill/>
          </p:spPr>
          <p:txBody>
            <a:bodyPr wrap="none" rtlCol="0">
              <a:spAutoFit/>
            </a:bodyPr>
            <a:lstStyle/>
            <a:p>
              <a:pPr algn="ctr"/>
              <a:r>
                <a:rPr lang="en-US" altLang="zh-CN" sz="2800" i="1" dirty="0" err="1"/>
                <a:t>dH</a:t>
              </a:r>
              <a:endParaRPr lang="en-US" altLang="zh-CN" sz="2800" i="1" dirty="0"/>
            </a:p>
          </p:txBody>
        </p:sp>
        <p:sp>
          <p:nvSpPr>
            <p:cNvPr id="12" name="椭圆 11"/>
            <p:cNvSpPr/>
            <p:nvPr/>
          </p:nvSpPr>
          <p:spPr>
            <a:xfrm>
              <a:off x="1010584" y="4275512"/>
              <a:ext cx="2434728"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p:cNvSpPr txBox="1"/>
            <p:nvPr/>
          </p:nvSpPr>
          <p:spPr>
            <a:xfrm>
              <a:off x="5973340" y="4405095"/>
              <a:ext cx="599844" cy="523220"/>
            </a:xfrm>
            <a:prstGeom prst="rect">
              <a:avLst/>
            </a:prstGeom>
            <a:noFill/>
          </p:spPr>
          <p:txBody>
            <a:bodyPr wrap="none" rtlCol="0">
              <a:spAutoFit/>
            </a:bodyPr>
            <a:lstStyle/>
            <a:p>
              <a:pPr algn="ctr"/>
              <a:r>
                <a:rPr lang="en-US" altLang="zh-CN" sz="2800" i="1" dirty="0" err="1"/>
                <a:t>dG</a:t>
              </a:r>
              <a:endParaRPr lang="en-US" altLang="zh-CN" sz="2800" i="1" dirty="0"/>
            </a:p>
          </p:txBody>
        </p:sp>
        <p:sp>
          <p:nvSpPr>
            <p:cNvPr id="14" name="椭圆 13"/>
            <p:cNvSpPr/>
            <p:nvPr/>
          </p:nvSpPr>
          <p:spPr>
            <a:xfrm>
              <a:off x="5052856" y="4328895"/>
              <a:ext cx="2663328"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4"/>
            <p:cNvSpPr txBox="1"/>
            <p:nvPr/>
          </p:nvSpPr>
          <p:spPr>
            <a:xfrm>
              <a:off x="6108336" y="2271494"/>
              <a:ext cx="582211" cy="523220"/>
            </a:xfrm>
            <a:prstGeom prst="rect">
              <a:avLst/>
            </a:prstGeom>
            <a:noFill/>
          </p:spPr>
          <p:txBody>
            <a:bodyPr wrap="none" rtlCol="0">
              <a:spAutoFit/>
            </a:bodyPr>
            <a:lstStyle/>
            <a:p>
              <a:pPr algn="ctr"/>
              <a:r>
                <a:rPr lang="en-US" altLang="zh-CN" sz="2800" i="1" dirty="0" err="1"/>
                <a:t>dA</a:t>
              </a:r>
              <a:endParaRPr lang="en-US" altLang="zh-CN" sz="2800" i="1" dirty="0"/>
            </a:p>
          </p:txBody>
        </p:sp>
        <p:sp>
          <p:nvSpPr>
            <p:cNvPr id="16" name="椭圆 15"/>
            <p:cNvSpPr/>
            <p:nvPr/>
          </p:nvSpPr>
          <p:spPr>
            <a:xfrm>
              <a:off x="5008086" y="2195294"/>
              <a:ext cx="2708098" cy="1242017"/>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10" idx="6"/>
            </p:cNvCxnSpPr>
            <p:nvPr/>
          </p:nvCxnSpPr>
          <p:spPr>
            <a:xfrm>
              <a:off x="3465784" y="2816304"/>
              <a:ext cx="1433762" cy="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3832746" y="2229780"/>
              <a:ext cx="1040541" cy="523220"/>
            </a:xfrm>
            <a:prstGeom prst="rect">
              <a:avLst/>
            </a:prstGeom>
            <a:noFill/>
          </p:spPr>
          <p:txBody>
            <a:bodyPr wrap="none" rtlCol="0">
              <a:spAutoFit/>
            </a:bodyPr>
            <a:lstStyle/>
            <a:p>
              <a:r>
                <a:rPr lang="en-US" altLang="zh-CN" sz="2800" dirty="0"/>
                <a:t>-</a:t>
              </a:r>
              <a:r>
                <a:rPr lang="en-US" altLang="zh-CN" sz="2800" i="1" dirty="0"/>
                <a:t>d(TS)</a:t>
              </a:r>
              <a:endParaRPr lang="zh-CN" altLang="en-US" sz="2800" i="1" dirty="0"/>
            </a:p>
          </p:txBody>
        </p:sp>
        <p:cxnSp>
          <p:nvCxnSpPr>
            <p:cNvPr id="19" name="直接箭头连接符 18"/>
            <p:cNvCxnSpPr/>
            <p:nvPr/>
          </p:nvCxnSpPr>
          <p:spPr>
            <a:xfrm flipV="1">
              <a:off x="3445312" y="4910905"/>
              <a:ext cx="1433762" cy="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0" idx="4"/>
              <a:endCxn id="12" idx="0"/>
            </p:cNvCxnSpPr>
            <p:nvPr/>
          </p:nvCxnSpPr>
          <p:spPr>
            <a:xfrm flipH="1">
              <a:off x="2227948" y="3437312"/>
              <a:ext cx="10236" cy="8382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578444" y="3589712"/>
              <a:ext cx="1018356" cy="461665"/>
            </a:xfrm>
            <a:prstGeom prst="rect">
              <a:avLst/>
            </a:prstGeom>
            <a:noFill/>
          </p:spPr>
          <p:txBody>
            <a:bodyPr wrap="none" rtlCol="0">
              <a:spAutoFit/>
            </a:bodyPr>
            <a:lstStyle/>
            <a:p>
              <a:r>
                <a:rPr lang="en-US" altLang="zh-CN" sz="2400" dirty="0"/>
                <a:t>+</a:t>
              </a:r>
              <a:r>
                <a:rPr lang="en-US" altLang="zh-CN" sz="2400" i="1" dirty="0"/>
                <a:t>d(PV)</a:t>
              </a:r>
              <a:endParaRPr lang="zh-CN" altLang="en-US" sz="2400" i="1" dirty="0"/>
            </a:p>
          </p:txBody>
        </p:sp>
        <p:cxnSp>
          <p:nvCxnSpPr>
            <p:cNvPr id="23" name="直接箭头连接符 22"/>
            <p:cNvCxnSpPr/>
            <p:nvPr/>
          </p:nvCxnSpPr>
          <p:spPr>
            <a:xfrm>
              <a:off x="6268384" y="3505200"/>
              <a:ext cx="0" cy="7620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296844" y="3589712"/>
              <a:ext cx="1018356" cy="461665"/>
            </a:xfrm>
            <a:prstGeom prst="rect">
              <a:avLst/>
            </a:prstGeom>
            <a:noFill/>
          </p:spPr>
          <p:txBody>
            <a:bodyPr wrap="none" rtlCol="0">
              <a:spAutoFit/>
            </a:bodyPr>
            <a:lstStyle/>
            <a:p>
              <a:r>
                <a:rPr lang="en-US" altLang="zh-CN" sz="2400" dirty="0"/>
                <a:t>+</a:t>
              </a:r>
              <a:r>
                <a:rPr lang="en-US" altLang="zh-CN" sz="2400" i="1" dirty="0"/>
                <a:t>d(PV)</a:t>
              </a:r>
              <a:endParaRPr lang="zh-CN" altLang="en-US" sz="2400" i="1" dirty="0"/>
            </a:p>
          </p:txBody>
        </p:sp>
        <p:sp>
          <p:nvSpPr>
            <p:cNvPr id="25" name="TextBox 24"/>
            <p:cNvSpPr txBox="1"/>
            <p:nvPr/>
          </p:nvSpPr>
          <p:spPr>
            <a:xfrm>
              <a:off x="1467784" y="1818002"/>
              <a:ext cx="1867306" cy="400110"/>
            </a:xfrm>
            <a:prstGeom prst="rect">
              <a:avLst/>
            </a:prstGeom>
            <a:noFill/>
          </p:spPr>
          <p:txBody>
            <a:bodyPr wrap="none" rtlCol="0">
              <a:spAutoFit/>
            </a:bodyPr>
            <a:lstStyle/>
            <a:p>
              <a:r>
                <a:rPr lang="en-US" altLang="zh-CN" sz="2000" b="1" dirty="0">
                  <a:solidFill>
                    <a:srgbClr val="0000FF"/>
                  </a:solidFill>
                </a:rPr>
                <a:t> Internal energy</a:t>
              </a:r>
              <a:endParaRPr lang="zh-CN" altLang="en-US" sz="2000" b="1" dirty="0">
                <a:solidFill>
                  <a:srgbClr val="0000FF"/>
                </a:solidFill>
              </a:endParaRPr>
            </a:p>
          </p:txBody>
        </p:sp>
        <p:sp>
          <p:nvSpPr>
            <p:cNvPr id="26" name="矩形 25"/>
            <p:cNvSpPr/>
            <p:nvPr/>
          </p:nvSpPr>
          <p:spPr>
            <a:xfrm>
              <a:off x="4879074" y="1795676"/>
              <a:ext cx="2386744" cy="369332"/>
            </a:xfrm>
            <a:prstGeom prst="rect">
              <a:avLst/>
            </a:prstGeom>
          </p:spPr>
          <p:txBody>
            <a:bodyPr wrap="none">
              <a:spAutoFit/>
            </a:bodyPr>
            <a:lstStyle/>
            <a:p>
              <a:r>
                <a:rPr lang="en-US" altLang="zh-CN" b="1" dirty="0">
                  <a:solidFill>
                    <a:srgbClr val="0000FF"/>
                  </a:solidFill>
                </a:rPr>
                <a:t>Helmholtz Free Energy </a:t>
              </a:r>
              <a:endParaRPr lang="zh-CN" altLang="en-US" dirty="0"/>
            </a:p>
          </p:txBody>
        </p:sp>
        <p:sp>
          <p:nvSpPr>
            <p:cNvPr id="27" name="矩形 26"/>
            <p:cNvSpPr/>
            <p:nvPr/>
          </p:nvSpPr>
          <p:spPr>
            <a:xfrm>
              <a:off x="5008086" y="5574268"/>
              <a:ext cx="1947969" cy="369332"/>
            </a:xfrm>
            <a:prstGeom prst="rect">
              <a:avLst/>
            </a:prstGeom>
          </p:spPr>
          <p:txBody>
            <a:bodyPr wrap="none">
              <a:spAutoFit/>
            </a:bodyPr>
            <a:lstStyle/>
            <a:p>
              <a:r>
                <a:rPr lang="en-US" altLang="zh-CN" b="1" dirty="0">
                  <a:solidFill>
                    <a:srgbClr val="0000FF"/>
                  </a:solidFill>
                </a:rPr>
                <a:t>Gibbs Free Energy </a:t>
              </a:r>
              <a:endParaRPr lang="zh-CN" altLang="en-US" dirty="0"/>
            </a:p>
          </p:txBody>
        </p:sp>
        <p:sp>
          <p:nvSpPr>
            <p:cNvPr id="28" name="矩形 27"/>
            <p:cNvSpPr/>
            <p:nvPr/>
          </p:nvSpPr>
          <p:spPr>
            <a:xfrm>
              <a:off x="1968875" y="5574268"/>
              <a:ext cx="1022909" cy="369332"/>
            </a:xfrm>
            <a:prstGeom prst="rect">
              <a:avLst/>
            </a:prstGeom>
          </p:spPr>
          <p:txBody>
            <a:bodyPr wrap="none">
              <a:spAutoFit/>
            </a:bodyPr>
            <a:lstStyle/>
            <a:p>
              <a:r>
                <a:rPr lang="en-US" altLang="zh-CN" b="1" dirty="0">
                  <a:solidFill>
                    <a:srgbClr val="0000FF"/>
                  </a:solidFill>
                </a:rPr>
                <a:t>Enthalpy</a:t>
              </a:r>
              <a:endParaRPr lang="zh-CN" altLang="en-US" dirty="0"/>
            </a:p>
          </p:txBody>
        </p:sp>
        <p:graphicFrame>
          <p:nvGraphicFramePr>
            <p:cNvPr id="31" name="对象 30"/>
            <p:cNvGraphicFramePr>
              <a:graphicFrameLocks noChangeAspect="1"/>
            </p:cNvGraphicFramePr>
            <p:nvPr/>
          </p:nvGraphicFramePr>
          <p:xfrm>
            <a:off x="5125384" y="2863850"/>
            <a:ext cx="2454275" cy="336550"/>
          </p:xfrm>
          <a:graphic>
            <a:graphicData uri="http://schemas.openxmlformats.org/presentationml/2006/ole">
              <mc:AlternateContent xmlns:mc="http://schemas.openxmlformats.org/markup-compatibility/2006">
                <mc:Choice xmlns:v="urn:schemas-microsoft-com:vml" Requires="v">
                  <p:oleObj name="Equation" r:id="rId2" imgW="1663700" imgH="228600" progId="Equation.3">
                    <p:embed/>
                  </p:oleObj>
                </mc:Choice>
                <mc:Fallback>
                  <p:oleObj name="Equation" r:id="rId2" imgW="1663700" imgH="228600" progId="Equation.3">
                    <p:embed/>
                    <p:pic>
                      <p:nvPicPr>
                        <p:cNvPr id="31" name="对象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384" y="2863850"/>
                          <a:ext cx="2454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对象 31"/>
            <p:cNvGraphicFramePr>
              <a:graphicFrameLocks noChangeAspect="1"/>
            </p:cNvGraphicFramePr>
            <p:nvPr/>
          </p:nvGraphicFramePr>
          <p:xfrm>
            <a:off x="1146446" y="4905619"/>
            <a:ext cx="2319338" cy="334962"/>
          </p:xfrm>
          <a:graphic>
            <a:graphicData uri="http://schemas.openxmlformats.org/presentationml/2006/ole">
              <mc:AlternateContent xmlns:mc="http://schemas.openxmlformats.org/markup-compatibility/2006">
                <mc:Choice xmlns:v="urn:schemas-microsoft-com:vml" Requires="v">
                  <p:oleObj name="Equation" r:id="rId4" imgW="1574800" imgH="228600" progId="Equation.3">
                    <p:embed/>
                  </p:oleObj>
                </mc:Choice>
                <mc:Fallback>
                  <p:oleObj name="Equation" r:id="rId4" imgW="1574800" imgH="228600" progId="Equation.3">
                    <p:embed/>
                    <p:pic>
                      <p:nvPicPr>
                        <p:cNvPr id="32" name="对象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6446" y="4905619"/>
                          <a:ext cx="2319338"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对象 32"/>
            <p:cNvGraphicFramePr>
              <a:graphicFrameLocks noChangeAspect="1"/>
            </p:cNvGraphicFramePr>
            <p:nvPr/>
          </p:nvGraphicFramePr>
          <p:xfrm>
            <a:off x="5187606" y="4940475"/>
            <a:ext cx="2454275" cy="334962"/>
          </p:xfrm>
          <a:graphic>
            <a:graphicData uri="http://schemas.openxmlformats.org/presentationml/2006/ole">
              <mc:AlternateContent xmlns:mc="http://schemas.openxmlformats.org/markup-compatibility/2006">
                <mc:Choice xmlns:v="urn:schemas-microsoft-com:vml" Requires="v">
                  <p:oleObj name="Equation" r:id="rId6" imgW="1663700" imgH="228600" progId="Equation.3">
                    <p:embed/>
                  </p:oleObj>
                </mc:Choice>
                <mc:Fallback>
                  <p:oleObj name="Equation" r:id="rId6" imgW="1663700" imgH="228600" progId="Equation.3">
                    <p:embed/>
                    <p:pic>
                      <p:nvPicPr>
                        <p:cNvPr id="33" name="对象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7606" y="4940475"/>
                          <a:ext cx="2454275"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TextBox 34"/>
            <p:cNvSpPr txBox="1"/>
            <p:nvPr/>
          </p:nvSpPr>
          <p:spPr>
            <a:xfrm>
              <a:off x="3707259" y="4275512"/>
              <a:ext cx="1040541" cy="523220"/>
            </a:xfrm>
            <a:prstGeom prst="rect">
              <a:avLst/>
            </a:prstGeom>
            <a:noFill/>
          </p:spPr>
          <p:txBody>
            <a:bodyPr wrap="none" rtlCol="0">
              <a:spAutoFit/>
            </a:bodyPr>
            <a:lstStyle/>
            <a:p>
              <a:r>
                <a:rPr lang="en-US" altLang="zh-CN" sz="2800" dirty="0"/>
                <a:t>-</a:t>
              </a:r>
              <a:r>
                <a:rPr lang="en-US" altLang="zh-CN" sz="2800" i="1" dirty="0"/>
                <a:t>d(TS)</a:t>
              </a:r>
              <a:endParaRPr lang="zh-CN" altLang="en-US" sz="2800" i="1" dirty="0"/>
            </a:p>
          </p:txBody>
        </p:sp>
        <p:graphicFrame>
          <p:nvGraphicFramePr>
            <p:cNvPr id="3" name="对象 2"/>
            <p:cNvGraphicFramePr>
              <a:graphicFrameLocks noChangeAspect="1"/>
            </p:cNvGraphicFramePr>
            <p:nvPr/>
          </p:nvGraphicFramePr>
          <p:xfrm>
            <a:off x="1269752" y="2778697"/>
            <a:ext cx="2065338" cy="313436"/>
          </p:xfrm>
          <a:graphic>
            <a:graphicData uri="http://schemas.openxmlformats.org/presentationml/2006/ole">
              <mc:AlternateContent xmlns:mc="http://schemas.openxmlformats.org/markup-compatibility/2006">
                <mc:Choice xmlns:v="urn:schemas-microsoft-com:vml" Requires="v">
                  <p:oleObj name="Equation" r:id="rId8" imgW="1663560" imgH="253800" progId="Equation.DSMT4">
                    <p:embed/>
                  </p:oleObj>
                </mc:Choice>
                <mc:Fallback>
                  <p:oleObj name="Equation" r:id="rId8" imgW="1663560" imgH="253800" progId="Equation.DSMT4">
                    <p:embed/>
                    <p:pic>
                      <p:nvPicPr>
                        <p:cNvPr id="3" name="对象 2"/>
                        <p:cNvPicPr>
                          <a:picLocks noChangeAspect="1" noChangeArrowheads="1"/>
                        </p:cNvPicPr>
                        <p:nvPr/>
                      </p:nvPicPr>
                      <p:blipFill>
                        <a:blip r:embed="rId9"/>
                        <a:srcRect/>
                        <a:stretch>
                          <a:fillRect/>
                        </a:stretch>
                      </p:blipFill>
                      <p:spPr bwMode="auto">
                        <a:xfrm>
                          <a:off x="1269752" y="2778697"/>
                          <a:ext cx="2065338" cy="313436"/>
                        </a:xfrm>
                        <a:prstGeom prst="rect">
                          <a:avLst/>
                        </a:prstGeom>
                        <a:noFill/>
                        <a:ln>
                          <a:noFill/>
                        </a:ln>
                      </p:spPr>
                    </p:pic>
                  </p:oleObj>
                </mc:Fallback>
              </mc:AlternateContent>
            </a:graphicData>
          </a:graphic>
        </p:graphicFrame>
      </p:grpSp>
      <p:sp>
        <p:nvSpPr>
          <p:cNvPr id="2" name="TextBox 1"/>
          <p:cNvSpPr txBox="1"/>
          <p:nvPr/>
        </p:nvSpPr>
        <p:spPr>
          <a:xfrm>
            <a:off x="1010591" y="155952"/>
            <a:ext cx="6212342" cy="646331"/>
          </a:xfrm>
          <a:prstGeom prst="rect">
            <a:avLst/>
          </a:prstGeom>
          <a:noFill/>
        </p:spPr>
        <p:txBody>
          <a:bodyPr wrap="none" rtlCol="0">
            <a:spAutoFit/>
          </a:bodyPr>
          <a:lstStyle/>
          <a:p>
            <a:r>
              <a:rPr lang="en-US" altLang="zh-CN" sz="3600" dirty="0">
                <a:solidFill>
                  <a:srgbClr val="FF0000"/>
                </a:solidFill>
              </a:rPr>
              <a:t>Connections of U, H, A and G</a:t>
            </a:r>
            <a:endParaRPr lang="zh-CN" altLang="en-US" sz="3600" dirty="0">
              <a:solidFill>
                <a:srgbClr val="FF0000"/>
              </a:solidFill>
            </a:endParaRPr>
          </a:p>
        </p:txBody>
      </p:sp>
    </p:spTree>
    <p:extLst>
      <p:ext uri="{BB962C8B-B14F-4D97-AF65-F5344CB8AC3E}">
        <p14:creationId xmlns:p14="http://schemas.microsoft.com/office/powerpoint/2010/main" val="1543234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447675" y="609600"/>
            <a:ext cx="7178676" cy="1191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pPr algn="ctr"/>
            <a:endParaRPr lang="en-US" dirty="0">
              <a:solidFill>
                <a:srgbClr val="FF0000"/>
              </a:solidFill>
            </a:endParaRPr>
          </a:p>
        </p:txBody>
      </p:sp>
      <p:sp>
        <p:nvSpPr>
          <p:cNvPr id="5" name="TextBox 3">
            <a:extLst>
              <a:ext uri="{FF2B5EF4-FFF2-40B4-BE49-F238E27FC236}">
                <a16:creationId xmlns:a16="http://schemas.microsoft.com/office/drawing/2014/main" id="{DDA19631-AC09-471B-94EA-C1246D941380}"/>
              </a:ext>
            </a:extLst>
          </p:cNvPr>
          <p:cNvSpPr txBox="1"/>
          <p:nvPr/>
        </p:nvSpPr>
        <p:spPr>
          <a:xfrm>
            <a:off x="1655191" y="3111130"/>
            <a:ext cx="5279009" cy="523220"/>
          </a:xfrm>
          <a:prstGeom prst="rect">
            <a:avLst/>
          </a:prstGeom>
          <a:noFill/>
        </p:spPr>
        <p:txBody>
          <a:bodyPr wrap="none" rtlCol="0">
            <a:spAutoFit/>
          </a:bodyPr>
          <a:lstStyle/>
          <a:p>
            <a:r>
              <a:rPr lang="en-US" altLang="zh-CN" sz="2800" dirty="0">
                <a:solidFill>
                  <a:srgbClr val="FF0000"/>
                </a:solidFill>
              </a:rPr>
              <a:t>14. </a:t>
            </a:r>
            <a:r>
              <a:rPr lang="en-US" altLang="zh-CN" sz="2800" b="1" dirty="0">
                <a:solidFill>
                  <a:srgbClr val="FF0000"/>
                </a:solidFill>
                <a:effectLst>
                  <a:outerShdw blurRad="38100" dist="38100" dir="2700000" algn="tl">
                    <a:srgbClr val="000000">
                      <a:alpha val="43137"/>
                    </a:srgbClr>
                  </a:outerShdw>
                </a:effectLst>
                <a:latin typeface="Arial" charset="0"/>
                <a:cs typeface="Arial" charset="0"/>
              </a:rPr>
              <a:t>Thermodynamic Relations</a:t>
            </a:r>
            <a:endParaRPr lang="en-US" altLang="zh-CN" sz="2800" dirty="0">
              <a:solidFill>
                <a:srgbClr val="FF0000"/>
              </a:solidFill>
            </a:endParaRPr>
          </a:p>
        </p:txBody>
      </p:sp>
      <p:grpSp>
        <p:nvGrpSpPr>
          <p:cNvPr id="2" name="组合 1">
            <a:extLst>
              <a:ext uri="{FF2B5EF4-FFF2-40B4-BE49-F238E27FC236}">
                <a16:creationId xmlns:a16="http://schemas.microsoft.com/office/drawing/2014/main" id="{AD54B97B-B289-4D08-B02E-E6971D14F14C}"/>
              </a:ext>
            </a:extLst>
          </p:cNvPr>
          <p:cNvGrpSpPr/>
          <p:nvPr/>
        </p:nvGrpSpPr>
        <p:grpSpPr>
          <a:xfrm>
            <a:off x="11509" y="3723620"/>
            <a:ext cx="8991600" cy="144002"/>
            <a:chOff x="11509" y="3723620"/>
            <a:chExt cx="8991600" cy="144002"/>
          </a:xfrm>
        </p:grpSpPr>
        <p:sp>
          <p:nvSpPr>
            <p:cNvPr id="6" name="圆角矩形 4">
              <a:extLst>
                <a:ext uri="{FF2B5EF4-FFF2-40B4-BE49-F238E27FC236}">
                  <a16:creationId xmlns:a16="http://schemas.microsoft.com/office/drawing/2014/main" id="{1A4CAF38-52ED-474D-BFAB-A8B886F45284}"/>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圆角矩形 5">
              <a:extLst>
                <a:ext uri="{FF2B5EF4-FFF2-40B4-BE49-F238E27FC236}">
                  <a16:creationId xmlns:a16="http://schemas.microsoft.com/office/drawing/2014/main" id="{2EE964D7-4BE7-4770-A5C7-B6465CC70D4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6">
              <a:extLst>
                <a:ext uri="{FF2B5EF4-FFF2-40B4-BE49-F238E27FC236}">
                  <a16:creationId xmlns:a16="http://schemas.microsoft.com/office/drawing/2014/main" id="{315D4BB7-AC43-4AFF-BE5E-D43E7104F3F4}"/>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TextBox 7">
            <a:extLst>
              <a:ext uri="{FF2B5EF4-FFF2-40B4-BE49-F238E27FC236}">
                <a16:creationId xmlns:a16="http://schemas.microsoft.com/office/drawing/2014/main" id="{BA142D8C-256D-4497-B3C3-C6ACD3850970}"/>
              </a:ext>
            </a:extLst>
          </p:cNvPr>
          <p:cNvSpPr txBox="1"/>
          <p:nvPr/>
        </p:nvSpPr>
        <p:spPr>
          <a:xfrm>
            <a:off x="1004928" y="3924300"/>
            <a:ext cx="7086600" cy="923330"/>
          </a:xfrm>
          <a:prstGeom prst="rect">
            <a:avLst/>
          </a:prstGeom>
          <a:noFill/>
        </p:spPr>
        <p:txBody>
          <a:bodyPr wrap="square" rtlCol="0">
            <a:spAutoFit/>
          </a:bodyPr>
          <a:lstStyle/>
          <a:p>
            <a:r>
              <a:rPr lang="en-US" altLang="zh-CN" b="1" dirty="0"/>
              <a:t>Chapter 5</a:t>
            </a:r>
            <a:r>
              <a:rPr lang="zh-CN" altLang="en-US" b="1" dirty="0"/>
              <a:t>： </a:t>
            </a:r>
            <a:r>
              <a:rPr lang="en-US" altLang="zh-CN" b="1" dirty="0"/>
              <a:t> </a:t>
            </a:r>
          </a:p>
          <a:p>
            <a:r>
              <a:rPr lang="en-US" altLang="zh-CN" b="1" dirty="0">
                <a:solidFill>
                  <a:srgbClr val="0000FF"/>
                </a:solidFill>
              </a:rPr>
              <a:t>Introduction to the thermodynamics of materials</a:t>
            </a:r>
            <a:r>
              <a:rPr lang="en-US" altLang="zh-CN" dirty="0">
                <a:solidFill>
                  <a:srgbClr val="0000FF"/>
                </a:solidFill>
              </a:rPr>
              <a:t>, </a:t>
            </a:r>
          </a:p>
          <a:p>
            <a:r>
              <a:rPr lang="en-US" altLang="zh-CN" dirty="0">
                <a:solidFill>
                  <a:srgbClr val="0000FF"/>
                </a:solidFill>
              </a:rPr>
              <a:t>6</a:t>
            </a:r>
            <a:r>
              <a:rPr lang="en-US" altLang="zh-CN" baseline="30000" dirty="0">
                <a:solidFill>
                  <a:srgbClr val="0000FF"/>
                </a:solidFill>
              </a:rPr>
              <a:t>th</a:t>
            </a:r>
            <a:r>
              <a:rPr lang="en-US" altLang="zh-CN" dirty="0">
                <a:solidFill>
                  <a:srgbClr val="0000FF"/>
                </a:solidFill>
              </a:rPr>
              <a:t> edition, by David R. Gaskell, </a:t>
            </a:r>
            <a:r>
              <a:rPr lang="en-US" altLang="zh-CN" dirty="0" err="1">
                <a:solidFill>
                  <a:srgbClr val="0000FF"/>
                </a:solidFill>
              </a:rPr>
              <a:t>Talor</a:t>
            </a:r>
            <a:r>
              <a:rPr lang="en-US" altLang="zh-CN" dirty="0">
                <a:solidFill>
                  <a:srgbClr val="0000FF"/>
                </a:solidFill>
              </a:rPr>
              <a:t> &amp; Francis Press, 2018</a:t>
            </a:r>
          </a:p>
        </p:txBody>
      </p:sp>
    </p:spTree>
    <p:extLst>
      <p:ext uri="{BB962C8B-B14F-4D97-AF65-F5344CB8AC3E}">
        <p14:creationId xmlns:p14="http://schemas.microsoft.com/office/powerpoint/2010/main" val="3160454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92212" y="160338"/>
            <a:ext cx="7178676" cy="609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Thermodynamic Relations</a:t>
            </a:r>
            <a:endParaRPr lang="en-US" dirty="0">
              <a:solidFill>
                <a:srgbClr val="FF0000"/>
              </a:solidFill>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1418828"/>
            <a:ext cx="8645525" cy="302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5"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47200"/>
          <a:stretch/>
        </p:blipFill>
        <p:spPr bwMode="auto">
          <a:xfrm>
            <a:off x="1376363" y="5019675"/>
            <a:ext cx="2771775" cy="125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6"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a:stretch/>
        </p:blipFill>
        <p:spPr bwMode="auto">
          <a:xfrm>
            <a:off x="4781550" y="5053012"/>
            <a:ext cx="27717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22915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60474" y="149919"/>
            <a:ext cx="7178676" cy="728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Maxwell’s Equations</a:t>
            </a:r>
            <a:endParaRPr lang="en-US" dirty="0">
              <a:solidFill>
                <a:srgbClr val="FF0000"/>
              </a:solidFill>
            </a:endParaRP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 y="1282752"/>
            <a:ext cx="8204251" cy="47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429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9669" t="58803" r="17435"/>
          <a:stretch/>
        </p:blipFill>
        <p:spPr bwMode="auto">
          <a:xfrm>
            <a:off x="1548580" y="634387"/>
            <a:ext cx="5810864" cy="19177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文本框 3"/>
          <p:cNvSpPr txBox="1"/>
          <p:nvPr/>
        </p:nvSpPr>
        <p:spPr>
          <a:xfrm>
            <a:off x="1069258" y="176981"/>
            <a:ext cx="3005951" cy="400110"/>
          </a:xfrm>
          <a:prstGeom prst="rect">
            <a:avLst/>
          </a:prstGeom>
          <a:noFill/>
        </p:spPr>
        <p:txBody>
          <a:bodyPr wrap="none" rtlCol="0">
            <a:spAutoFit/>
          </a:bodyPr>
          <a:lstStyle/>
          <a:p>
            <a:r>
              <a:rPr lang="en-US" altLang="zh-CN" sz="2000" dirty="0">
                <a:solidFill>
                  <a:srgbClr val="FF0000"/>
                </a:solidFill>
              </a:rPr>
              <a:t>Thermodynamics square</a:t>
            </a:r>
            <a:endParaRPr lang="zh-CN" altLang="en-US" sz="2000" dirty="0">
              <a:solidFill>
                <a:srgbClr val="FF0000"/>
              </a:solidFill>
            </a:endParaRPr>
          </a:p>
        </p:txBody>
      </p:sp>
      <p:sp>
        <p:nvSpPr>
          <p:cNvPr id="5" name="矩形 4"/>
          <p:cNvSpPr/>
          <p:nvPr/>
        </p:nvSpPr>
        <p:spPr>
          <a:xfrm>
            <a:off x="973393" y="3362632"/>
            <a:ext cx="2109019" cy="1917291"/>
          </a:xfrm>
          <a:prstGeom prst="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6"/>
          <p:cNvCxnSpPr/>
          <p:nvPr/>
        </p:nvCxnSpPr>
        <p:spPr>
          <a:xfrm flipV="1">
            <a:off x="1032386" y="3410564"/>
            <a:ext cx="1991032" cy="1821426"/>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flipH="1" flipV="1">
            <a:off x="1025012" y="3414253"/>
            <a:ext cx="1998406" cy="181773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520383" y="5095257"/>
            <a:ext cx="423514" cy="523220"/>
          </a:xfrm>
          <a:prstGeom prst="rect">
            <a:avLst/>
          </a:prstGeom>
          <a:noFill/>
        </p:spPr>
        <p:txBody>
          <a:bodyPr wrap="none" rtlCol="0">
            <a:spAutoFit/>
          </a:bodyPr>
          <a:lstStyle/>
          <a:p>
            <a:r>
              <a:rPr lang="en-US" altLang="zh-CN" sz="2800" dirty="0"/>
              <a:t>S</a:t>
            </a:r>
            <a:endParaRPr lang="zh-CN" altLang="en-US" sz="2800" dirty="0"/>
          </a:p>
        </p:txBody>
      </p:sp>
      <p:sp>
        <p:nvSpPr>
          <p:cNvPr id="14" name="文本框 13"/>
          <p:cNvSpPr txBox="1"/>
          <p:nvPr/>
        </p:nvSpPr>
        <p:spPr>
          <a:xfrm>
            <a:off x="557584" y="3054855"/>
            <a:ext cx="423514" cy="523220"/>
          </a:xfrm>
          <a:prstGeom prst="rect">
            <a:avLst/>
          </a:prstGeom>
          <a:noFill/>
        </p:spPr>
        <p:txBody>
          <a:bodyPr wrap="none" rtlCol="0">
            <a:spAutoFit/>
          </a:bodyPr>
          <a:lstStyle/>
          <a:p>
            <a:r>
              <a:rPr lang="en-US" altLang="zh-CN" sz="2800" dirty="0"/>
              <a:t>V</a:t>
            </a:r>
            <a:endParaRPr lang="zh-CN" altLang="en-US" sz="2800" dirty="0"/>
          </a:p>
        </p:txBody>
      </p:sp>
      <p:sp>
        <p:nvSpPr>
          <p:cNvPr id="15" name="文本框 14"/>
          <p:cNvSpPr txBox="1"/>
          <p:nvPr/>
        </p:nvSpPr>
        <p:spPr>
          <a:xfrm>
            <a:off x="3104202" y="3070885"/>
            <a:ext cx="434734" cy="584775"/>
          </a:xfrm>
          <a:prstGeom prst="rect">
            <a:avLst/>
          </a:prstGeom>
          <a:noFill/>
        </p:spPr>
        <p:txBody>
          <a:bodyPr wrap="none" rtlCol="0">
            <a:spAutoFit/>
          </a:bodyPr>
          <a:lstStyle/>
          <a:p>
            <a:r>
              <a:rPr lang="en-US" altLang="zh-CN" sz="3200" dirty="0"/>
              <a:t>T</a:t>
            </a:r>
            <a:endParaRPr lang="zh-CN" altLang="en-US" sz="3200" dirty="0"/>
          </a:p>
        </p:txBody>
      </p:sp>
      <p:sp>
        <p:nvSpPr>
          <p:cNvPr id="16" name="文本框 15"/>
          <p:cNvSpPr txBox="1"/>
          <p:nvPr/>
        </p:nvSpPr>
        <p:spPr>
          <a:xfrm>
            <a:off x="3141404" y="5080509"/>
            <a:ext cx="389850" cy="461665"/>
          </a:xfrm>
          <a:prstGeom prst="rect">
            <a:avLst/>
          </a:prstGeom>
          <a:noFill/>
        </p:spPr>
        <p:txBody>
          <a:bodyPr wrap="none" rtlCol="0">
            <a:spAutoFit/>
          </a:bodyPr>
          <a:lstStyle/>
          <a:p>
            <a:r>
              <a:rPr lang="en-US" altLang="zh-CN" sz="2400" dirty="0"/>
              <a:t>P</a:t>
            </a:r>
            <a:endParaRPr lang="zh-CN" altLang="en-US" sz="2400" dirty="0"/>
          </a:p>
        </p:txBody>
      </p:sp>
      <p:sp>
        <p:nvSpPr>
          <p:cNvPr id="17" name="文本框 16"/>
          <p:cNvSpPr txBox="1"/>
          <p:nvPr/>
        </p:nvSpPr>
        <p:spPr>
          <a:xfrm>
            <a:off x="520383" y="4136611"/>
            <a:ext cx="370614" cy="400110"/>
          </a:xfrm>
          <a:prstGeom prst="rect">
            <a:avLst/>
          </a:prstGeom>
          <a:noFill/>
        </p:spPr>
        <p:txBody>
          <a:bodyPr wrap="none" rtlCol="0">
            <a:spAutoFit/>
          </a:bodyPr>
          <a:lstStyle/>
          <a:p>
            <a:r>
              <a:rPr lang="en-US" altLang="zh-CN" sz="2000" i="1" dirty="0">
                <a:solidFill>
                  <a:srgbClr val="FF0000"/>
                </a:solidFill>
              </a:rPr>
              <a:t>U</a:t>
            </a:r>
            <a:endParaRPr lang="zh-CN" altLang="en-US" sz="2000" i="1" dirty="0">
              <a:solidFill>
                <a:srgbClr val="FF0000"/>
              </a:solidFill>
            </a:endParaRPr>
          </a:p>
        </p:txBody>
      </p:sp>
      <p:sp>
        <p:nvSpPr>
          <p:cNvPr id="18" name="文本框 17"/>
          <p:cNvSpPr txBox="1"/>
          <p:nvPr/>
        </p:nvSpPr>
        <p:spPr>
          <a:xfrm>
            <a:off x="1871770" y="2984644"/>
            <a:ext cx="356188" cy="400110"/>
          </a:xfrm>
          <a:prstGeom prst="rect">
            <a:avLst/>
          </a:prstGeom>
          <a:noFill/>
        </p:spPr>
        <p:txBody>
          <a:bodyPr wrap="none" rtlCol="0">
            <a:spAutoFit/>
          </a:bodyPr>
          <a:lstStyle/>
          <a:p>
            <a:r>
              <a:rPr lang="en-US" altLang="zh-CN" sz="2000" i="1" dirty="0">
                <a:solidFill>
                  <a:srgbClr val="FF0000"/>
                </a:solidFill>
              </a:rPr>
              <a:t>A</a:t>
            </a:r>
            <a:endParaRPr lang="zh-CN" altLang="en-US" sz="2000" i="1" dirty="0">
              <a:solidFill>
                <a:srgbClr val="FF0000"/>
              </a:solidFill>
            </a:endParaRPr>
          </a:p>
        </p:txBody>
      </p:sp>
      <p:sp>
        <p:nvSpPr>
          <p:cNvPr id="19" name="文本框 18"/>
          <p:cNvSpPr txBox="1"/>
          <p:nvPr/>
        </p:nvSpPr>
        <p:spPr>
          <a:xfrm>
            <a:off x="1838908" y="5305733"/>
            <a:ext cx="370614" cy="400110"/>
          </a:xfrm>
          <a:prstGeom prst="rect">
            <a:avLst/>
          </a:prstGeom>
          <a:noFill/>
        </p:spPr>
        <p:txBody>
          <a:bodyPr wrap="none" rtlCol="0">
            <a:spAutoFit/>
          </a:bodyPr>
          <a:lstStyle/>
          <a:p>
            <a:r>
              <a:rPr lang="en-US" altLang="zh-CN" sz="2000" i="1" dirty="0">
                <a:solidFill>
                  <a:srgbClr val="FF0000"/>
                </a:solidFill>
              </a:rPr>
              <a:t>H</a:t>
            </a:r>
            <a:endParaRPr lang="zh-CN" altLang="en-US" sz="2000" i="1" dirty="0">
              <a:solidFill>
                <a:srgbClr val="FF0000"/>
              </a:solidFill>
            </a:endParaRPr>
          </a:p>
        </p:txBody>
      </p:sp>
      <p:sp>
        <p:nvSpPr>
          <p:cNvPr id="20" name="文本框 19"/>
          <p:cNvSpPr txBox="1"/>
          <p:nvPr/>
        </p:nvSpPr>
        <p:spPr>
          <a:xfrm>
            <a:off x="3158235" y="4057944"/>
            <a:ext cx="383438" cy="400110"/>
          </a:xfrm>
          <a:prstGeom prst="rect">
            <a:avLst/>
          </a:prstGeom>
          <a:noFill/>
        </p:spPr>
        <p:txBody>
          <a:bodyPr wrap="none" rtlCol="0">
            <a:spAutoFit/>
          </a:bodyPr>
          <a:lstStyle/>
          <a:p>
            <a:r>
              <a:rPr lang="en-US" altLang="zh-CN" sz="2000" i="1" dirty="0">
                <a:solidFill>
                  <a:srgbClr val="FF0000"/>
                </a:solidFill>
              </a:rPr>
              <a:t>G</a:t>
            </a:r>
            <a:endParaRPr lang="zh-CN" altLang="en-US" sz="2000" i="1" dirty="0">
              <a:solidFill>
                <a:srgbClr val="FF0000"/>
              </a:solidFill>
            </a:endParaRPr>
          </a:p>
        </p:txBody>
      </p:sp>
      <p:graphicFrame>
        <p:nvGraphicFramePr>
          <p:cNvPr id="21" name="对象 20"/>
          <p:cNvGraphicFramePr>
            <a:graphicFrameLocks noChangeAspect="1"/>
          </p:cNvGraphicFramePr>
          <p:nvPr>
            <p:extLst>
              <p:ext uri="{D42A27DB-BD31-4B8C-83A1-F6EECF244321}">
                <p14:modId xmlns:p14="http://schemas.microsoft.com/office/powerpoint/2010/main" val="1725738659"/>
              </p:ext>
            </p:extLst>
          </p:nvPr>
        </p:nvGraphicFramePr>
        <p:xfrm>
          <a:off x="5250894" y="2989088"/>
          <a:ext cx="1295400" cy="575830"/>
        </p:xfrm>
        <a:graphic>
          <a:graphicData uri="http://schemas.openxmlformats.org/presentationml/2006/ole">
            <mc:AlternateContent xmlns:mc="http://schemas.openxmlformats.org/markup-compatibility/2006">
              <mc:Choice xmlns:v="urn:schemas-microsoft-com:vml" Requires="v">
                <p:oleObj name="Equation" r:id="rId3" imgW="1054080" imgH="444240" progId="Equation.DSMT4">
                  <p:embed/>
                </p:oleObj>
              </mc:Choice>
              <mc:Fallback>
                <p:oleObj name="Equation" r:id="rId3" imgW="1054080" imgH="444240" progId="Equation.DSMT4">
                  <p:embed/>
                  <p:pic>
                    <p:nvPicPr>
                      <p:cNvPr id="0" name=""/>
                      <p:cNvPicPr>
                        <a:picLocks noChangeAspect="1" noChangeArrowheads="1"/>
                      </p:cNvPicPr>
                      <p:nvPr/>
                    </p:nvPicPr>
                    <p:blipFill>
                      <a:blip r:embed="rId4"/>
                      <a:srcRect/>
                      <a:stretch>
                        <a:fillRect/>
                      </a:stretch>
                    </p:blipFill>
                    <p:spPr bwMode="auto">
                      <a:xfrm>
                        <a:off x="5250894" y="2989088"/>
                        <a:ext cx="1295400" cy="575830"/>
                      </a:xfrm>
                      <a:prstGeom prst="rect">
                        <a:avLst/>
                      </a:prstGeom>
                      <a:noFill/>
                      <a:ln>
                        <a:solidFill>
                          <a:srgbClr val="FF0000"/>
                        </a:solidFill>
                        <a:prstDash val="dash"/>
                      </a:ln>
                    </p:spPr>
                  </p:pic>
                </p:oleObj>
              </mc:Fallback>
            </mc:AlternateContent>
          </a:graphicData>
        </a:graphic>
      </p:graphicFrame>
      <p:sp>
        <p:nvSpPr>
          <p:cNvPr id="22" name="矩形 21"/>
          <p:cNvSpPr/>
          <p:nvPr/>
        </p:nvSpPr>
        <p:spPr>
          <a:xfrm>
            <a:off x="4852219" y="3835464"/>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4532578" y="3666186"/>
            <a:ext cx="304892" cy="307777"/>
          </a:xfrm>
          <a:prstGeom prst="rect">
            <a:avLst/>
          </a:prstGeom>
          <a:noFill/>
        </p:spPr>
        <p:txBody>
          <a:bodyPr wrap="none" rtlCol="0">
            <a:spAutoFit/>
          </a:bodyPr>
          <a:lstStyle/>
          <a:p>
            <a:r>
              <a:rPr lang="en-US" altLang="zh-CN" sz="1400" dirty="0"/>
              <a:t>V</a:t>
            </a:r>
            <a:endParaRPr lang="zh-CN" altLang="en-US" sz="1400" dirty="0"/>
          </a:p>
        </p:txBody>
      </p:sp>
      <p:sp>
        <p:nvSpPr>
          <p:cNvPr id="24" name="文本框 23"/>
          <p:cNvSpPr txBox="1"/>
          <p:nvPr/>
        </p:nvSpPr>
        <p:spPr>
          <a:xfrm>
            <a:off x="4532578" y="4286278"/>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25" name="文本框 24"/>
          <p:cNvSpPr txBox="1"/>
          <p:nvPr/>
        </p:nvSpPr>
        <p:spPr>
          <a:xfrm>
            <a:off x="5446310" y="4286278"/>
            <a:ext cx="304892" cy="307777"/>
          </a:xfrm>
          <a:prstGeom prst="rect">
            <a:avLst/>
          </a:prstGeom>
          <a:noFill/>
        </p:spPr>
        <p:txBody>
          <a:bodyPr wrap="none" rtlCol="0">
            <a:spAutoFit/>
          </a:bodyPr>
          <a:lstStyle/>
          <a:p>
            <a:r>
              <a:rPr lang="en-US" altLang="zh-CN" sz="1400" dirty="0"/>
              <a:t>P</a:t>
            </a:r>
            <a:endParaRPr lang="zh-CN" altLang="en-US" sz="1400" dirty="0"/>
          </a:p>
        </p:txBody>
      </p:sp>
      <p:cxnSp>
        <p:nvCxnSpPr>
          <p:cNvPr id="27" name="直接箭头连接符 26"/>
          <p:cNvCxnSpPr/>
          <p:nvPr/>
        </p:nvCxnSpPr>
        <p:spPr>
          <a:xfrm flipV="1">
            <a:off x="4874810" y="4019274"/>
            <a:ext cx="376084" cy="38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6270415" y="3835464"/>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6882473" y="3653116"/>
            <a:ext cx="304892" cy="307777"/>
          </a:xfrm>
          <a:prstGeom prst="rect">
            <a:avLst/>
          </a:prstGeom>
          <a:noFill/>
        </p:spPr>
        <p:txBody>
          <a:bodyPr wrap="none" rtlCol="0">
            <a:spAutoFit/>
          </a:bodyPr>
          <a:lstStyle/>
          <a:p>
            <a:r>
              <a:rPr lang="en-US" altLang="zh-CN" sz="1400" dirty="0"/>
              <a:t>T</a:t>
            </a:r>
            <a:endParaRPr lang="zh-CN" altLang="en-US" sz="1400" dirty="0"/>
          </a:p>
        </p:txBody>
      </p:sp>
      <p:sp>
        <p:nvSpPr>
          <p:cNvPr id="30" name="文本框 29"/>
          <p:cNvSpPr txBox="1"/>
          <p:nvPr/>
        </p:nvSpPr>
        <p:spPr>
          <a:xfrm>
            <a:off x="5950774" y="4286278"/>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31" name="文本框 30"/>
          <p:cNvSpPr txBox="1"/>
          <p:nvPr/>
        </p:nvSpPr>
        <p:spPr>
          <a:xfrm>
            <a:off x="6864506" y="4286278"/>
            <a:ext cx="304892" cy="307777"/>
          </a:xfrm>
          <a:prstGeom prst="rect">
            <a:avLst/>
          </a:prstGeom>
          <a:noFill/>
        </p:spPr>
        <p:txBody>
          <a:bodyPr wrap="none" rtlCol="0">
            <a:spAutoFit/>
          </a:bodyPr>
          <a:lstStyle/>
          <a:p>
            <a:r>
              <a:rPr lang="en-US" altLang="zh-CN" sz="1400" dirty="0"/>
              <a:t>P</a:t>
            </a:r>
            <a:endParaRPr lang="zh-CN" altLang="en-US" sz="1400" dirty="0"/>
          </a:p>
        </p:txBody>
      </p:sp>
      <p:cxnSp>
        <p:nvCxnSpPr>
          <p:cNvPr id="32" name="直接箭头连接符 31"/>
          <p:cNvCxnSpPr/>
          <p:nvPr/>
        </p:nvCxnSpPr>
        <p:spPr>
          <a:xfrm flipH="1" flipV="1">
            <a:off x="6542591" y="3973963"/>
            <a:ext cx="307166" cy="404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5" name="对象 34"/>
          <p:cNvGraphicFramePr>
            <a:graphicFrameLocks noChangeAspect="1"/>
          </p:cNvGraphicFramePr>
          <p:nvPr>
            <p:extLst>
              <p:ext uri="{D42A27DB-BD31-4B8C-83A1-F6EECF244321}">
                <p14:modId xmlns:p14="http://schemas.microsoft.com/office/powerpoint/2010/main" val="3666255229"/>
              </p:ext>
            </p:extLst>
          </p:nvPr>
        </p:nvGraphicFramePr>
        <p:xfrm>
          <a:off x="5227638" y="4781550"/>
          <a:ext cx="1403350" cy="574675"/>
        </p:xfrm>
        <a:graphic>
          <a:graphicData uri="http://schemas.openxmlformats.org/presentationml/2006/ole">
            <mc:AlternateContent xmlns:mc="http://schemas.openxmlformats.org/markup-compatibility/2006">
              <mc:Choice xmlns:v="urn:schemas-microsoft-com:vml" Requires="v">
                <p:oleObj name="Equation" r:id="rId5" imgW="1143000" imgH="444240" progId="Equation.DSMT4">
                  <p:embed/>
                </p:oleObj>
              </mc:Choice>
              <mc:Fallback>
                <p:oleObj name="Equation" r:id="rId5" imgW="1143000" imgH="444240" progId="Equation.DSMT4">
                  <p:embed/>
                  <p:pic>
                    <p:nvPicPr>
                      <p:cNvPr id="0" name=""/>
                      <p:cNvPicPr>
                        <a:picLocks noChangeAspect="1" noChangeArrowheads="1"/>
                      </p:cNvPicPr>
                      <p:nvPr/>
                    </p:nvPicPr>
                    <p:blipFill>
                      <a:blip r:embed="rId6"/>
                      <a:srcRect/>
                      <a:stretch>
                        <a:fillRect/>
                      </a:stretch>
                    </p:blipFill>
                    <p:spPr bwMode="auto">
                      <a:xfrm>
                        <a:off x="5227638" y="4781550"/>
                        <a:ext cx="1403350" cy="574675"/>
                      </a:xfrm>
                      <a:prstGeom prst="rect">
                        <a:avLst/>
                      </a:prstGeom>
                      <a:noFill/>
                      <a:ln>
                        <a:solidFill>
                          <a:srgbClr val="FF0000"/>
                        </a:solidFill>
                        <a:prstDash val="dash"/>
                      </a:ln>
                    </p:spPr>
                  </p:pic>
                </p:oleObj>
              </mc:Fallback>
            </mc:AlternateContent>
          </a:graphicData>
        </a:graphic>
      </p:graphicFrame>
      <p:sp>
        <p:nvSpPr>
          <p:cNvPr id="36" name="矩形 35"/>
          <p:cNvSpPr/>
          <p:nvPr/>
        </p:nvSpPr>
        <p:spPr>
          <a:xfrm>
            <a:off x="4834252" y="5618477"/>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p:cNvSpPr txBox="1"/>
          <p:nvPr/>
        </p:nvSpPr>
        <p:spPr>
          <a:xfrm>
            <a:off x="4514611" y="5449199"/>
            <a:ext cx="304892" cy="307777"/>
          </a:xfrm>
          <a:prstGeom prst="rect">
            <a:avLst/>
          </a:prstGeom>
          <a:noFill/>
        </p:spPr>
        <p:txBody>
          <a:bodyPr wrap="none" rtlCol="0">
            <a:spAutoFit/>
          </a:bodyPr>
          <a:lstStyle/>
          <a:p>
            <a:r>
              <a:rPr lang="en-US" altLang="zh-CN" sz="1400" dirty="0"/>
              <a:t>S</a:t>
            </a:r>
            <a:endParaRPr lang="zh-CN" altLang="en-US" sz="1400" dirty="0"/>
          </a:p>
        </p:txBody>
      </p:sp>
      <p:sp>
        <p:nvSpPr>
          <p:cNvPr id="38" name="文本框 37"/>
          <p:cNvSpPr txBox="1"/>
          <p:nvPr/>
        </p:nvSpPr>
        <p:spPr>
          <a:xfrm>
            <a:off x="4514611" y="6069291"/>
            <a:ext cx="304892" cy="307777"/>
          </a:xfrm>
          <a:prstGeom prst="rect">
            <a:avLst/>
          </a:prstGeom>
          <a:noFill/>
        </p:spPr>
        <p:txBody>
          <a:bodyPr wrap="none" rtlCol="0">
            <a:spAutoFit/>
          </a:bodyPr>
          <a:lstStyle/>
          <a:p>
            <a:r>
              <a:rPr lang="en-US" altLang="zh-CN" sz="1400" dirty="0"/>
              <a:t>P</a:t>
            </a:r>
            <a:endParaRPr lang="zh-CN" altLang="en-US" sz="1400" dirty="0"/>
          </a:p>
        </p:txBody>
      </p:sp>
      <p:sp>
        <p:nvSpPr>
          <p:cNvPr id="39" name="文本框 38"/>
          <p:cNvSpPr txBox="1"/>
          <p:nvPr/>
        </p:nvSpPr>
        <p:spPr>
          <a:xfrm>
            <a:off x="5428343" y="6069291"/>
            <a:ext cx="304892" cy="307777"/>
          </a:xfrm>
          <a:prstGeom prst="rect">
            <a:avLst/>
          </a:prstGeom>
          <a:noFill/>
        </p:spPr>
        <p:txBody>
          <a:bodyPr wrap="none" rtlCol="0">
            <a:spAutoFit/>
          </a:bodyPr>
          <a:lstStyle/>
          <a:p>
            <a:r>
              <a:rPr lang="en-US" altLang="zh-CN" sz="1400" dirty="0"/>
              <a:t>T</a:t>
            </a:r>
            <a:endParaRPr lang="zh-CN" altLang="en-US" sz="1400" dirty="0"/>
          </a:p>
        </p:txBody>
      </p:sp>
      <p:cxnSp>
        <p:nvCxnSpPr>
          <p:cNvPr id="40" name="直接箭头连接符 39"/>
          <p:cNvCxnSpPr/>
          <p:nvPr/>
        </p:nvCxnSpPr>
        <p:spPr>
          <a:xfrm flipV="1">
            <a:off x="4856843" y="5802287"/>
            <a:ext cx="376084" cy="38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矩形 40"/>
          <p:cNvSpPr/>
          <p:nvPr/>
        </p:nvSpPr>
        <p:spPr>
          <a:xfrm>
            <a:off x="6252448" y="5618477"/>
            <a:ext cx="612058" cy="589295"/>
          </a:xfrm>
          <a:prstGeom prst="rect">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6864506" y="5436129"/>
            <a:ext cx="304892" cy="307777"/>
          </a:xfrm>
          <a:prstGeom prst="rect">
            <a:avLst/>
          </a:prstGeom>
          <a:noFill/>
        </p:spPr>
        <p:txBody>
          <a:bodyPr wrap="none" rtlCol="0">
            <a:spAutoFit/>
          </a:bodyPr>
          <a:lstStyle/>
          <a:p>
            <a:r>
              <a:rPr lang="en-US" altLang="zh-CN" sz="1400" dirty="0"/>
              <a:t>V</a:t>
            </a:r>
            <a:endParaRPr lang="zh-CN" altLang="en-US" sz="1400" dirty="0"/>
          </a:p>
        </p:txBody>
      </p:sp>
      <p:sp>
        <p:nvSpPr>
          <p:cNvPr id="43" name="文本框 42"/>
          <p:cNvSpPr txBox="1"/>
          <p:nvPr/>
        </p:nvSpPr>
        <p:spPr>
          <a:xfrm>
            <a:off x="5932807" y="6069291"/>
            <a:ext cx="304892" cy="307777"/>
          </a:xfrm>
          <a:prstGeom prst="rect">
            <a:avLst/>
          </a:prstGeom>
          <a:noFill/>
        </p:spPr>
        <p:txBody>
          <a:bodyPr wrap="none" rtlCol="0">
            <a:spAutoFit/>
          </a:bodyPr>
          <a:lstStyle/>
          <a:p>
            <a:r>
              <a:rPr lang="en-US" altLang="zh-CN" sz="1400" dirty="0"/>
              <a:t>P</a:t>
            </a:r>
            <a:endParaRPr lang="zh-CN" altLang="en-US" sz="1400" dirty="0"/>
          </a:p>
        </p:txBody>
      </p:sp>
      <p:sp>
        <p:nvSpPr>
          <p:cNvPr id="44" name="文本框 43"/>
          <p:cNvSpPr txBox="1"/>
          <p:nvPr/>
        </p:nvSpPr>
        <p:spPr>
          <a:xfrm>
            <a:off x="6846539" y="6069291"/>
            <a:ext cx="304892" cy="307777"/>
          </a:xfrm>
          <a:prstGeom prst="rect">
            <a:avLst/>
          </a:prstGeom>
          <a:noFill/>
        </p:spPr>
        <p:txBody>
          <a:bodyPr wrap="none" rtlCol="0">
            <a:spAutoFit/>
          </a:bodyPr>
          <a:lstStyle/>
          <a:p>
            <a:r>
              <a:rPr lang="en-US" altLang="zh-CN" sz="1400" dirty="0"/>
              <a:t>T</a:t>
            </a:r>
            <a:endParaRPr lang="zh-CN" altLang="en-US" sz="1400" dirty="0"/>
          </a:p>
        </p:txBody>
      </p:sp>
      <p:cxnSp>
        <p:nvCxnSpPr>
          <p:cNvPr id="45" name="直接箭头连接符 44"/>
          <p:cNvCxnSpPr/>
          <p:nvPr/>
        </p:nvCxnSpPr>
        <p:spPr>
          <a:xfrm flipH="1" flipV="1">
            <a:off x="6539373" y="5862484"/>
            <a:ext cx="292418" cy="29914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45300" y="2494085"/>
            <a:ext cx="1249060" cy="646331"/>
          </a:xfrm>
          <a:prstGeom prst="rect">
            <a:avLst/>
          </a:prstGeom>
          <a:noFill/>
        </p:spPr>
        <p:txBody>
          <a:bodyPr wrap="none" rtlCol="0">
            <a:spAutoFit/>
          </a:bodyPr>
          <a:lstStyle/>
          <a:p>
            <a:r>
              <a:rPr lang="en-US" altLang="zh-CN" dirty="0"/>
              <a:t>Extensive </a:t>
            </a:r>
          </a:p>
          <a:p>
            <a:r>
              <a:rPr lang="en-US" altLang="zh-CN" dirty="0"/>
              <a:t>parameter</a:t>
            </a:r>
            <a:endParaRPr lang="zh-CN" altLang="en-US" dirty="0"/>
          </a:p>
        </p:txBody>
      </p:sp>
      <p:sp>
        <p:nvSpPr>
          <p:cNvPr id="49" name="文本框 48"/>
          <p:cNvSpPr txBox="1"/>
          <p:nvPr/>
        </p:nvSpPr>
        <p:spPr>
          <a:xfrm>
            <a:off x="2884601" y="2551835"/>
            <a:ext cx="1236236" cy="646331"/>
          </a:xfrm>
          <a:prstGeom prst="rect">
            <a:avLst/>
          </a:prstGeom>
          <a:noFill/>
        </p:spPr>
        <p:txBody>
          <a:bodyPr wrap="none" rtlCol="0">
            <a:spAutoFit/>
          </a:bodyPr>
          <a:lstStyle/>
          <a:p>
            <a:r>
              <a:rPr lang="en-US" altLang="zh-CN" dirty="0"/>
              <a:t>Intensive</a:t>
            </a:r>
          </a:p>
          <a:p>
            <a:r>
              <a:rPr lang="en-US" altLang="zh-CN" dirty="0"/>
              <a:t>parameter</a:t>
            </a:r>
            <a:endParaRPr lang="zh-CN" altLang="en-US" dirty="0"/>
          </a:p>
        </p:txBody>
      </p:sp>
    </p:spTree>
    <p:extLst>
      <p:ext uri="{BB962C8B-B14F-4D97-AF65-F5344CB8AC3E}">
        <p14:creationId xmlns:p14="http://schemas.microsoft.com/office/powerpoint/2010/main" val="553963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860920" y="67758"/>
            <a:ext cx="6742551" cy="584775"/>
          </a:xfrm>
          <a:prstGeom prst="rect">
            <a:avLst/>
          </a:prstGeom>
          <a:noFill/>
        </p:spPr>
        <p:txBody>
          <a:bodyPr wrap="none" rtlCol="0">
            <a:spAutoFit/>
          </a:bodyPr>
          <a:lstStyle/>
          <a:p>
            <a:r>
              <a:rPr lang="en-US" altLang="zh-CN" sz="3200" dirty="0">
                <a:solidFill>
                  <a:srgbClr val="FF0000"/>
                </a:solidFill>
              </a:rPr>
              <a:t>Reciprocal relation and ratio relation</a:t>
            </a:r>
            <a:endParaRPr lang="zh-CN" altLang="en-US" sz="3200" dirty="0">
              <a:solidFill>
                <a:srgbClr val="FF0000"/>
              </a:solidFill>
            </a:endParaRPr>
          </a:p>
        </p:txBody>
      </p:sp>
      <p:sp>
        <p:nvSpPr>
          <p:cNvPr id="10" name="TextBox 9"/>
          <p:cNvSpPr txBox="1"/>
          <p:nvPr/>
        </p:nvSpPr>
        <p:spPr>
          <a:xfrm>
            <a:off x="45441" y="1154668"/>
            <a:ext cx="8909555" cy="369332"/>
          </a:xfrm>
          <a:prstGeom prst="rect">
            <a:avLst/>
          </a:prstGeom>
          <a:noFill/>
        </p:spPr>
        <p:txBody>
          <a:bodyPr wrap="none" rtlCol="0">
            <a:spAutoFit/>
          </a:bodyPr>
          <a:lstStyle/>
          <a:p>
            <a:r>
              <a:rPr lang="en-US" altLang="zh-CN" dirty="0"/>
              <a:t>Consider a  closed system with fixed composition  having three state function, X, Y, Z </a:t>
            </a:r>
            <a:endParaRPr lang="zh-CN" altLang="en-US" dirty="0"/>
          </a:p>
        </p:txBody>
      </p:sp>
      <p:graphicFrame>
        <p:nvGraphicFramePr>
          <p:cNvPr id="12" name="对象 11"/>
          <p:cNvGraphicFramePr>
            <a:graphicFrameLocks noChangeAspect="1"/>
          </p:cNvGraphicFramePr>
          <p:nvPr/>
        </p:nvGraphicFramePr>
        <p:xfrm>
          <a:off x="1361478" y="1764268"/>
          <a:ext cx="1646053" cy="491359"/>
        </p:xfrm>
        <a:graphic>
          <a:graphicData uri="http://schemas.openxmlformats.org/presentationml/2006/ole">
            <mc:AlternateContent xmlns:mc="http://schemas.openxmlformats.org/markup-compatibility/2006">
              <mc:Choice xmlns:v="urn:schemas-microsoft-com:vml" Requires="v">
                <p:oleObj name="Equation" r:id="rId2" imgW="850680" imgH="253800" progId="Equation.DSMT4">
                  <p:embed/>
                </p:oleObj>
              </mc:Choice>
              <mc:Fallback>
                <p:oleObj name="Equation" r:id="rId2" imgW="850680" imgH="253800" progId="Equation.DSMT4">
                  <p:embed/>
                  <p:pic>
                    <p:nvPicPr>
                      <p:cNvPr id="0" name=""/>
                      <p:cNvPicPr/>
                      <p:nvPr/>
                    </p:nvPicPr>
                    <p:blipFill>
                      <a:blip r:embed="rId3"/>
                      <a:stretch>
                        <a:fillRect/>
                      </a:stretch>
                    </p:blipFill>
                    <p:spPr>
                      <a:xfrm>
                        <a:off x="1361478" y="1764268"/>
                        <a:ext cx="1646053" cy="491359"/>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147666" y="1681014"/>
          <a:ext cx="2136775" cy="885825"/>
        </p:xfrm>
        <a:graphic>
          <a:graphicData uri="http://schemas.openxmlformats.org/presentationml/2006/ole">
            <mc:AlternateContent xmlns:mc="http://schemas.openxmlformats.org/markup-compatibility/2006">
              <mc:Choice xmlns:v="urn:schemas-microsoft-com:vml" Requires="v">
                <p:oleObj name="Equation" r:id="rId4" imgW="1104840" imgH="457200" progId="Equation.DSMT4">
                  <p:embed/>
                </p:oleObj>
              </mc:Choice>
              <mc:Fallback>
                <p:oleObj name="Equation" r:id="rId4" imgW="1104840" imgH="457200" progId="Equation.DSMT4">
                  <p:embed/>
                  <p:pic>
                    <p:nvPicPr>
                      <p:cNvPr id="0" name=""/>
                      <p:cNvPicPr>
                        <a:picLocks noChangeAspect="1" noChangeArrowheads="1"/>
                      </p:cNvPicPr>
                      <p:nvPr/>
                    </p:nvPicPr>
                    <p:blipFill>
                      <a:blip r:embed="rId5"/>
                      <a:srcRect/>
                      <a:stretch>
                        <a:fillRect/>
                      </a:stretch>
                    </p:blipFill>
                    <p:spPr bwMode="auto">
                      <a:xfrm>
                        <a:off x="5147666" y="1681014"/>
                        <a:ext cx="2136775" cy="885825"/>
                      </a:xfrm>
                      <a:prstGeom prst="rect">
                        <a:avLst/>
                      </a:prstGeom>
                      <a:noFill/>
                      <a:ln>
                        <a:solidFill>
                          <a:srgbClr val="FF0000"/>
                        </a:solidFill>
                        <a:prstDash val="dash"/>
                      </a:ln>
                    </p:spPr>
                  </p:pic>
                </p:oleObj>
              </mc:Fallback>
            </mc:AlternateContent>
          </a:graphicData>
        </a:graphic>
      </p:graphicFrame>
      <p:sp>
        <p:nvSpPr>
          <p:cNvPr id="14" name="矩形 13"/>
          <p:cNvSpPr/>
          <p:nvPr/>
        </p:nvSpPr>
        <p:spPr>
          <a:xfrm>
            <a:off x="51379" y="2537936"/>
            <a:ext cx="2020681" cy="369332"/>
          </a:xfrm>
          <a:prstGeom prst="rect">
            <a:avLst/>
          </a:prstGeom>
        </p:spPr>
        <p:txBody>
          <a:bodyPr wrap="none">
            <a:spAutoFit/>
          </a:bodyPr>
          <a:lstStyle/>
          <a:p>
            <a:r>
              <a:rPr lang="en-US" altLang="zh-CN" b="1" dirty="0">
                <a:solidFill>
                  <a:srgbClr val="0000FF"/>
                </a:solidFill>
              </a:rPr>
              <a:t>Reciprocal relation </a:t>
            </a:r>
            <a:endParaRPr lang="zh-CN" altLang="en-US" b="1" dirty="0">
              <a:solidFill>
                <a:srgbClr val="0000FF"/>
              </a:solidFill>
            </a:endParaRPr>
          </a:p>
        </p:txBody>
      </p:sp>
      <p:sp>
        <p:nvSpPr>
          <p:cNvPr id="16" name="矩形 15"/>
          <p:cNvSpPr/>
          <p:nvPr/>
        </p:nvSpPr>
        <p:spPr>
          <a:xfrm>
            <a:off x="51379" y="3717551"/>
            <a:ext cx="3592458" cy="369332"/>
          </a:xfrm>
          <a:prstGeom prst="rect">
            <a:avLst/>
          </a:prstGeom>
        </p:spPr>
        <p:txBody>
          <a:bodyPr wrap="none">
            <a:spAutoFit/>
          </a:bodyPr>
          <a:lstStyle/>
          <a:p>
            <a:r>
              <a:rPr lang="en-US" altLang="zh-CN" dirty="0"/>
              <a:t>For a incremental change, i.e. dX</a:t>
            </a:r>
            <a:r>
              <a:rPr lang="en-US" altLang="zh-CN" dirty="0">
                <a:sym typeface="Wingdings" panose="05000000000000000000" pitchFamily="2" charset="2"/>
              </a:rPr>
              <a:t>0</a:t>
            </a:r>
            <a:endParaRPr lang="zh-CN" altLang="en-US" dirty="0"/>
          </a:p>
        </p:txBody>
      </p:sp>
      <p:graphicFrame>
        <p:nvGraphicFramePr>
          <p:cNvPr id="17" name="对象 16"/>
          <p:cNvGraphicFramePr>
            <a:graphicFrameLocks noChangeAspect="1"/>
          </p:cNvGraphicFramePr>
          <p:nvPr/>
        </p:nvGraphicFramePr>
        <p:xfrm>
          <a:off x="3852472" y="3593068"/>
          <a:ext cx="2309855" cy="687473"/>
        </p:xfrm>
        <a:graphic>
          <a:graphicData uri="http://schemas.openxmlformats.org/presentationml/2006/ole">
            <mc:AlternateContent xmlns:mc="http://schemas.openxmlformats.org/markup-compatibility/2006">
              <mc:Choice xmlns:v="urn:schemas-microsoft-com:vml" Requires="v">
                <p:oleObj name="Equation" r:id="rId6" imgW="1498320" imgH="444240" progId="Equation.DSMT4">
                  <p:embed/>
                </p:oleObj>
              </mc:Choice>
              <mc:Fallback>
                <p:oleObj name="Equation" r:id="rId6" imgW="1498320" imgH="444240" progId="Equation.DSMT4">
                  <p:embed/>
                  <p:pic>
                    <p:nvPicPr>
                      <p:cNvPr id="0" name=""/>
                      <p:cNvPicPr>
                        <a:picLocks noChangeAspect="1" noChangeArrowheads="1"/>
                      </p:cNvPicPr>
                      <p:nvPr/>
                    </p:nvPicPr>
                    <p:blipFill>
                      <a:blip r:embed="rId7"/>
                      <a:srcRect/>
                      <a:stretch>
                        <a:fillRect/>
                      </a:stretch>
                    </p:blipFill>
                    <p:spPr bwMode="auto">
                      <a:xfrm>
                        <a:off x="3852472" y="3593068"/>
                        <a:ext cx="2309855" cy="687473"/>
                      </a:xfrm>
                      <a:prstGeom prst="rect">
                        <a:avLst/>
                      </a:prstGeom>
                      <a:noFill/>
                      <a:ln>
                        <a:noFill/>
                      </a:ln>
                    </p:spPr>
                  </p:pic>
                </p:oleObj>
              </mc:Fallback>
            </mc:AlternateContent>
          </a:graphicData>
        </a:graphic>
      </p:graphicFrame>
      <p:sp>
        <p:nvSpPr>
          <p:cNvPr id="18" name="矩形 17"/>
          <p:cNvSpPr/>
          <p:nvPr/>
        </p:nvSpPr>
        <p:spPr>
          <a:xfrm>
            <a:off x="-91305" y="4507468"/>
            <a:ext cx="1630959" cy="400110"/>
          </a:xfrm>
          <a:prstGeom prst="rect">
            <a:avLst/>
          </a:prstGeom>
        </p:spPr>
        <p:txBody>
          <a:bodyPr wrap="none">
            <a:spAutoFit/>
          </a:bodyPr>
          <a:lstStyle/>
          <a:p>
            <a:r>
              <a:rPr lang="en-US" altLang="zh-CN" sz="2000" b="1" dirty="0">
                <a:solidFill>
                  <a:srgbClr val="0000FF"/>
                </a:solidFill>
              </a:rPr>
              <a:t>Ratio relation</a:t>
            </a:r>
          </a:p>
        </p:txBody>
      </p:sp>
      <p:graphicFrame>
        <p:nvGraphicFramePr>
          <p:cNvPr id="19" name="对象 18"/>
          <p:cNvGraphicFramePr>
            <a:graphicFrameLocks noChangeAspect="1"/>
          </p:cNvGraphicFramePr>
          <p:nvPr/>
        </p:nvGraphicFramePr>
        <p:xfrm>
          <a:off x="1645641" y="4431268"/>
          <a:ext cx="2383180" cy="664467"/>
        </p:xfrm>
        <a:graphic>
          <a:graphicData uri="http://schemas.openxmlformats.org/presentationml/2006/ole">
            <mc:AlternateContent xmlns:mc="http://schemas.openxmlformats.org/markup-compatibility/2006">
              <mc:Choice xmlns:v="urn:schemas-microsoft-com:vml" Requires="v">
                <p:oleObj name="Equation" r:id="rId8" imgW="1600200" imgH="444240" progId="Equation.DSMT4">
                  <p:embed/>
                </p:oleObj>
              </mc:Choice>
              <mc:Fallback>
                <p:oleObj name="Equation" r:id="rId8" imgW="1600200" imgH="444240" progId="Equation.DSMT4">
                  <p:embed/>
                  <p:pic>
                    <p:nvPicPr>
                      <p:cNvPr id="0" name=""/>
                      <p:cNvPicPr>
                        <a:picLocks noChangeAspect="1" noChangeArrowheads="1"/>
                      </p:cNvPicPr>
                      <p:nvPr/>
                    </p:nvPicPr>
                    <p:blipFill>
                      <a:blip r:embed="rId9"/>
                      <a:srcRect/>
                      <a:stretch>
                        <a:fillRect/>
                      </a:stretch>
                    </p:blipFill>
                    <p:spPr bwMode="auto">
                      <a:xfrm>
                        <a:off x="1645641" y="4431268"/>
                        <a:ext cx="2383180" cy="664467"/>
                      </a:xfrm>
                      <a:prstGeom prst="rect">
                        <a:avLst/>
                      </a:prstGeom>
                      <a:noFill/>
                      <a:ln>
                        <a:noFill/>
                      </a:ln>
                    </p:spPr>
                  </p:pic>
                </p:oleObj>
              </mc:Fallback>
            </mc:AlternateContent>
          </a:graphicData>
        </a:graphic>
      </p:graphicFrame>
      <p:sp>
        <p:nvSpPr>
          <p:cNvPr id="20" name="矩形 19"/>
          <p:cNvSpPr/>
          <p:nvPr/>
        </p:nvSpPr>
        <p:spPr>
          <a:xfrm>
            <a:off x="4465041" y="4507468"/>
            <a:ext cx="4621778" cy="1477328"/>
          </a:xfrm>
          <a:prstGeom prst="rect">
            <a:avLst/>
          </a:prstGeom>
        </p:spPr>
        <p:txBody>
          <a:bodyPr wrap="none">
            <a:spAutoFit/>
          </a:bodyPr>
          <a:lstStyle/>
          <a:p>
            <a:r>
              <a:rPr lang="en-US" altLang="zh-CN" b="1" dirty="0"/>
              <a:t>Cyclical rule </a:t>
            </a:r>
          </a:p>
          <a:p>
            <a:r>
              <a:rPr lang="en-US" altLang="zh-CN" b="1" dirty="0"/>
              <a:t>Triple product rule</a:t>
            </a:r>
          </a:p>
          <a:p>
            <a:r>
              <a:rPr lang="en-US" altLang="zh-CN" b="1" dirty="0"/>
              <a:t>Euler's chain rule</a:t>
            </a:r>
          </a:p>
          <a:p>
            <a:r>
              <a:rPr lang="en-US" altLang="zh-CN" b="1" dirty="0">
                <a:solidFill>
                  <a:srgbClr val="FF0000"/>
                </a:solidFill>
                <a:effectLst>
                  <a:outerShdw blurRad="38100" dist="38100" dir="2700000" algn="tl">
                    <a:srgbClr val="000000">
                      <a:alpha val="43137"/>
                    </a:srgbClr>
                  </a:outerShdw>
                </a:effectLst>
                <a:latin typeface="Arial" charset="0"/>
                <a:cs typeface="Arial" charset="0"/>
              </a:rPr>
              <a:t>Upstairs-Downstairs-Inside-Out Formula</a:t>
            </a:r>
            <a:endParaRPr lang="en-US" altLang="zh-CN" b="1" dirty="0"/>
          </a:p>
          <a:p>
            <a:r>
              <a:rPr lang="en-US" altLang="zh-CN" b="1" dirty="0">
                <a:solidFill>
                  <a:srgbClr val="FF0000"/>
                </a:solidFill>
              </a:rPr>
              <a:t>…</a:t>
            </a:r>
          </a:p>
        </p:txBody>
      </p:sp>
      <p:graphicFrame>
        <p:nvGraphicFramePr>
          <p:cNvPr id="21" name="对象 20"/>
          <p:cNvGraphicFramePr>
            <a:graphicFrameLocks noChangeAspect="1"/>
          </p:cNvGraphicFramePr>
          <p:nvPr/>
        </p:nvGraphicFramePr>
        <p:xfrm>
          <a:off x="1571625" y="5192713"/>
          <a:ext cx="1593850" cy="1130300"/>
        </p:xfrm>
        <a:graphic>
          <a:graphicData uri="http://schemas.openxmlformats.org/presentationml/2006/ole">
            <mc:AlternateContent xmlns:mc="http://schemas.openxmlformats.org/markup-compatibility/2006">
              <mc:Choice xmlns:v="urn:schemas-microsoft-com:vml" Requires="v">
                <p:oleObj name="Equation" r:id="rId10" imgW="1218960" imgH="863280" progId="Equation.DSMT4">
                  <p:embed/>
                </p:oleObj>
              </mc:Choice>
              <mc:Fallback>
                <p:oleObj name="Equation" r:id="rId10" imgW="1218960" imgH="863280" progId="Equation.DSMT4">
                  <p:embed/>
                  <p:pic>
                    <p:nvPicPr>
                      <p:cNvPr id="0" name=""/>
                      <p:cNvPicPr>
                        <a:picLocks noChangeAspect="1" noChangeArrowheads="1"/>
                      </p:cNvPicPr>
                      <p:nvPr/>
                    </p:nvPicPr>
                    <p:blipFill>
                      <a:blip r:embed="rId11"/>
                      <a:srcRect/>
                      <a:stretch>
                        <a:fillRect/>
                      </a:stretch>
                    </p:blipFill>
                    <p:spPr bwMode="auto">
                      <a:xfrm>
                        <a:off x="1571625" y="5192713"/>
                        <a:ext cx="1593850" cy="1130300"/>
                      </a:xfrm>
                      <a:prstGeom prst="rect">
                        <a:avLst/>
                      </a:prstGeom>
                      <a:noFill/>
                      <a:ln>
                        <a:noFill/>
                      </a:ln>
                    </p:spPr>
                  </p:pic>
                </p:oleObj>
              </mc:Fallback>
            </mc:AlternateContent>
          </a:graphicData>
        </a:graphic>
      </p:graphicFrame>
      <p:graphicFrame>
        <p:nvGraphicFramePr>
          <p:cNvPr id="2" name="对象 1"/>
          <p:cNvGraphicFramePr>
            <a:graphicFrameLocks noChangeAspect="1"/>
          </p:cNvGraphicFramePr>
          <p:nvPr/>
        </p:nvGraphicFramePr>
        <p:xfrm>
          <a:off x="2331440" y="2537936"/>
          <a:ext cx="1377553" cy="826532"/>
        </p:xfrm>
        <a:graphic>
          <a:graphicData uri="http://schemas.openxmlformats.org/presentationml/2006/ole">
            <mc:AlternateContent xmlns:mc="http://schemas.openxmlformats.org/markup-compatibility/2006">
              <mc:Choice xmlns:v="urn:schemas-microsoft-com:vml" Requires="v">
                <p:oleObj name="Equation" r:id="rId12" imgW="1079280" imgH="647640" progId="Equation.DSMT4">
                  <p:embed/>
                </p:oleObj>
              </mc:Choice>
              <mc:Fallback>
                <p:oleObj name="Equation" r:id="rId12" imgW="1079280" imgH="647640" progId="Equation.DSMT4">
                  <p:embed/>
                  <p:pic>
                    <p:nvPicPr>
                      <p:cNvPr id="0" name=""/>
                      <p:cNvPicPr/>
                      <p:nvPr/>
                    </p:nvPicPr>
                    <p:blipFill>
                      <a:blip r:embed="rId13"/>
                      <a:stretch>
                        <a:fillRect/>
                      </a:stretch>
                    </p:blipFill>
                    <p:spPr>
                      <a:xfrm>
                        <a:off x="2331440" y="2537936"/>
                        <a:ext cx="1377553" cy="826532"/>
                      </a:xfrm>
                      <a:prstGeom prst="rect">
                        <a:avLst/>
                      </a:prstGeom>
                    </p:spPr>
                  </p:pic>
                </p:oleObj>
              </mc:Fallback>
            </mc:AlternateContent>
          </a:graphicData>
        </a:graphic>
      </p:graphicFrame>
      <p:sp>
        <p:nvSpPr>
          <p:cNvPr id="3" name="TextBox 2"/>
          <p:cNvSpPr txBox="1"/>
          <p:nvPr/>
        </p:nvSpPr>
        <p:spPr>
          <a:xfrm>
            <a:off x="3931641" y="1916668"/>
            <a:ext cx="1039452" cy="369332"/>
          </a:xfrm>
          <a:prstGeom prst="rect">
            <a:avLst/>
          </a:prstGeom>
          <a:noFill/>
        </p:spPr>
        <p:txBody>
          <a:bodyPr wrap="none" rtlCol="0">
            <a:spAutoFit/>
          </a:bodyPr>
          <a:lstStyle/>
          <a:p>
            <a:r>
              <a:rPr lang="en-US" altLang="zh-CN" i="1" dirty="0"/>
              <a:t>Example:</a:t>
            </a:r>
            <a:endParaRPr lang="zh-CN" altLang="en-US" i="1" dirty="0"/>
          </a:p>
        </p:txBody>
      </p:sp>
    </p:spTree>
    <p:extLst>
      <p:ext uri="{BB962C8B-B14F-4D97-AF65-F5344CB8AC3E}">
        <p14:creationId xmlns:p14="http://schemas.microsoft.com/office/powerpoint/2010/main" val="18184735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110234" y="0"/>
            <a:ext cx="5530409"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1</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584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33438"/>
          <a:stretch/>
        </p:blipFill>
        <p:spPr bwMode="auto">
          <a:xfrm>
            <a:off x="3137031" y="981855"/>
            <a:ext cx="5912670" cy="3637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矩形 15"/>
          <p:cNvSpPr/>
          <p:nvPr/>
        </p:nvSpPr>
        <p:spPr>
          <a:xfrm>
            <a:off x="379168" y="2103620"/>
            <a:ext cx="2039341" cy="369332"/>
          </a:xfrm>
          <a:prstGeom prst="rect">
            <a:avLst/>
          </a:prstGeom>
          <a:solidFill>
            <a:schemeClr val="accent6">
              <a:lumMod val="20000"/>
              <a:lumOff val="80000"/>
            </a:schemeClr>
          </a:solidFill>
        </p:spPr>
        <p:txBody>
          <a:bodyPr wrap="none">
            <a:spAutoFit/>
          </a:bodyPr>
          <a:lstStyle/>
          <a:p>
            <a:r>
              <a:rPr lang="en-US" altLang="zh-CN" b="1" dirty="0">
                <a:solidFill>
                  <a:srgbClr val="FF0000"/>
                </a:solidFill>
                <a:effectLst>
                  <a:outerShdw blurRad="38100" dist="38100" dir="2700000" algn="tl">
                    <a:srgbClr val="000000">
                      <a:alpha val="43137"/>
                    </a:srgbClr>
                  </a:outerShdw>
                </a:effectLst>
                <a:latin typeface="Arial" charset="0"/>
                <a:cs typeface="Arial" charset="0"/>
              </a:rPr>
              <a:t>1</a:t>
            </a:r>
            <a:r>
              <a:rPr lang="en-US" altLang="zh-CN"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a:t>
            </a:r>
            <a:r>
              <a:rPr lang="en-US" altLang="zh-CN" b="1" dirty="0" err="1">
                <a:solidFill>
                  <a:srgbClr val="FF0000"/>
                </a:solidFill>
                <a:effectLst>
                  <a:outerShdw blurRad="38100" dist="38100" dir="2700000" algn="tl">
                    <a:srgbClr val="000000">
                      <a:alpha val="43137"/>
                    </a:srgbClr>
                  </a:outerShdw>
                </a:effectLst>
                <a:latin typeface="Arial" charset="0"/>
                <a:cs typeface="Arial" charset="0"/>
              </a:rPr>
              <a:t>TdS</a:t>
            </a:r>
            <a:r>
              <a:rPr lang="en-US" altLang="zh-CN" b="1" dirty="0">
                <a:solidFill>
                  <a:srgbClr val="FF0000"/>
                </a:solidFill>
                <a:effectLst>
                  <a:outerShdw blurRad="38100" dist="38100" dir="2700000" algn="tl">
                    <a:srgbClr val="000000">
                      <a:alpha val="43137"/>
                    </a:srgbClr>
                  </a:outerShdw>
                </a:effectLst>
                <a:latin typeface="Arial" charset="0"/>
                <a:cs typeface="Arial" charset="0"/>
              </a:rPr>
              <a:t> equation </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1361520606"/>
              </p:ext>
            </p:extLst>
          </p:nvPr>
        </p:nvGraphicFramePr>
        <p:xfrm>
          <a:off x="369888" y="3036888"/>
          <a:ext cx="2082800" cy="687387"/>
        </p:xfrm>
        <a:graphic>
          <a:graphicData uri="http://schemas.openxmlformats.org/presentationml/2006/ole">
            <mc:AlternateContent xmlns:mc="http://schemas.openxmlformats.org/markup-compatibility/2006">
              <mc:Choice xmlns:v="urn:schemas-microsoft-com:vml" Requires="v">
                <p:oleObj name="Equation" r:id="rId3" imgW="1307880" imgH="431640" progId="Equation.DSMT4">
                  <p:embed/>
                </p:oleObj>
              </mc:Choice>
              <mc:Fallback>
                <p:oleObj name="Equation" r:id="rId3" imgW="1307880" imgH="431640" progId="Equation.DSMT4">
                  <p:embed/>
                  <p:pic>
                    <p:nvPicPr>
                      <p:cNvPr id="17" name="对象 16"/>
                      <p:cNvPicPr/>
                      <p:nvPr/>
                    </p:nvPicPr>
                    <p:blipFill>
                      <a:blip r:embed="rId4"/>
                      <a:stretch>
                        <a:fillRect/>
                      </a:stretch>
                    </p:blipFill>
                    <p:spPr>
                      <a:xfrm>
                        <a:off x="369888" y="3036888"/>
                        <a:ext cx="2082800" cy="687387"/>
                      </a:xfrm>
                      <a:prstGeom prst="rect">
                        <a:avLst/>
                      </a:prstGeom>
                      <a:solidFill>
                        <a:schemeClr val="accent2">
                          <a:lumMod val="20000"/>
                          <a:lumOff val="80000"/>
                        </a:schemeClr>
                      </a:solidFill>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4025088963"/>
              </p:ext>
            </p:extLst>
          </p:nvPr>
        </p:nvGraphicFramePr>
        <p:xfrm>
          <a:off x="6472871" y="4619296"/>
          <a:ext cx="1800225" cy="1414462"/>
        </p:xfrm>
        <a:graphic>
          <a:graphicData uri="http://schemas.openxmlformats.org/presentationml/2006/ole">
            <mc:AlternateContent xmlns:mc="http://schemas.openxmlformats.org/markup-compatibility/2006">
              <mc:Choice xmlns:v="urn:schemas-microsoft-com:vml" Requires="v">
                <p:oleObj name="Equation" r:id="rId5" imgW="1130040" imgH="888840" progId="Equation.DSMT4">
                  <p:embed/>
                </p:oleObj>
              </mc:Choice>
              <mc:Fallback>
                <p:oleObj name="Equation" r:id="rId5" imgW="1130040" imgH="888840" progId="Equation.DSMT4">
                  <p:embed/>
                  <p:pic>
                    <p:nvPicPr>
                      <p:cNvPr id="18" name="对象 17"/>
                      <p:cNvPicPr>
                        <a:picLocks noChangeAspect="1" noChangeArrowheads="1"/>
                      </p:cNvPicPr>
                      <p:nvPr/>
                    </p:nvPicPr>
                    <p:blipFill>
                      <a:blip r:embed="rId6"/>
                      <a:srcRect/>
                      <a:stretch>
                        <a:fillRect/>
                      </a:stretch>
                    </p:blipFill>
                    <p:spPr bwMode="auto">
                      <a:xfrm>
                        <a:off x="6472871" y="4619296"/>
                        <a:ext cx="1800225" cy="1414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742536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098549" y="86763"/>
            <a:ext cx="3945641" cy="616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1</a:t>
            </a:r>
            <a:r>
              <a:rPr lang="en-US"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b="1" dirty="0">
                <a:solidFill>
                  <a:srgbClr val="FF0000"/>
                </a:solidFill>
                <a:effectLst>
                  <a:outerShdw blurRad="38100" dist="38100" dir="2700000" algn="tl">
                    <a:srgbClr val="000000">
                      <a:alpha val="43137"/>
                    </a:srgbClr>
                  </a:outerShdw>
                </a:effectLst>
                <a:latin typeface="Arial" charset="0"/>
                <a:cs typeface="Arial" charset="0"/>
              </a:rPr>
              <a:t> </a:t>
            </a:r>
            <a:r>
              <a:rPr lang="en-US" b="1" dirty="0" err="1">
                <a:solidFill>
                  <a:srgbClr val="FF0000"/>
                </a:solidFill>
                <a:effectLst>
                  <a:outerShdw blurRad="38100" dist="38100" dir="2700000" algn="tl">
                    <a:srgbClr val="000000">
                      <a:alpha val="43137"/>
                    </a:srgbClr>
                  </a:outerShdw>
                </a:effectLst>
                <a:latin typeface="Arial" charset="0"/>
                <a:cs typeface="Arial" charset="0"/>
              </a:rPr>
              <a:t>TdS</a:t>
            </a:r>
            <a:r>
              <a:rPr lang="en-US"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dirty="0">
              <a:solidFill>
                <a:srgbClr val="FF0000"/>
              </a:solidFill>
            </a:endParaRPr>
          </a:p>
        </p:txBody>
      </p:sp>
      <p:sp>
        <p:nvSpPr>
          <p:cNvPr id="12" name="TextBox 11"/>
          <p:cNvSpPr txBox="1"/>
          <p:nvPr/>
        </p:nvSpPr>
        <p:spPr>
          <a:xfrm>
            <a:off x="155575" y="1325503"/>
            <a:ext cx="2733441" cy="400110"/>
          </a:xfrm>
          <a:prstGeom prst="rect">
            <a:avLst/>
          </a:prstGeom>
          <a:noFill/>
        </p:spPr>
        <p:txBody>
          <a:bodyPr wrap="none" rtlCol="0">
            <a:spAutoFit/>
          </a:bodyPr>
          <a:lstStyle/>
          <a:p>
            <a:r>
              <a:rPr lang="en-US" altLang="zh-CN" sz="2000" dirty="0"/>
              <a:t>For the 1 </a:t>
            </a:r>
            <a:r>
              <a:rPr lang="en-US" altLang="zh-CN" sz="2000" dirty="0" err="1"/>
              <a:t>mol</a:t>
            </a:r>
            <a:r>
              <a:rPr lang="en-US" altLang="zh-CN" sz="2000" dirty="0"/>
              <a:t> idea gas</a:t>
            </a:r>
            <a:endParaRPr lang="zh-CN" altLang="en-US" sz="2000" dirty="0"/>
          </a:p>
        </p:txBody>
      </p:sp>
      <p:graphicFrame>
        <p:nvGraphicFramePr>
          <p:cNvPr id="13" name="对象 12"/>
          <p:cNvGraphicFramePr>
            <a:graphicFrameLocks noChangeAspect="1"/>
          </p:cNvGraphicFramePr>
          <p:nvPr>
            <p:extLst>
              <p:ext uri="{D42A27DB-BD31-4B8C-83A1-F6EECF244321}">
                <p14:modId xmlns:p14="http://schemas.microsoft.com/office/powerpoint/2010/main" val="22645229"/>
              </p:ext>
            </p:extLst>
          </p:nvPr>
        </p:nvGraphicFramePr>
        <p:xfrm>
          <a:off x="254000" y="2856385"/>
          <a:ext cx="2114550" cy="633412"/>
        </p:xfrm>
        <a:graphic>
          <a:graphicData uri="http://schemas.openxmlformats.org/presentationml/2006/ole">
            <mc:AlternateContent xmlns:mc="http://schemas.openxmlformats.org/markup-compatibility/2006">
              <mc:Choice xmlns:v="urn:schemas-microsoft-com:vml" Requires="v">
                <p:oleObj name="Equation" r:id="rId2" imgW="1485720" imgH="444240" progId="Equation.DSMT4">
                  <p:embed/>
                </p:oleObj>
              </mc:Choice>
              <mc:Fallback>
                <p:oleObj name="Equation" r:id="rId2" imgW="1485720" imgH="444240" progId="Equation.DSMT4">
                  <p:embed/>
                  <p:pic>
                    <p:nvPicPr>
                      <p:cNvPr id="13" name="对象 12"/>
                      <p:cNvPicPr>
                        <a:picLocks noChangeAspect="1" noChangeArrowheads="1"/>
                      </p:cNvPicPr>
                      <p:nvPr/>
                    </p:nvPicPr>
                    <p:blipFill>
                      <a:blip r:embed="rId3"/>
                      <a:srcRect/>
                      <a:stretch>
                        <a:fillRect/>
                      </a:stretch>
                    </p:blipFill>
                    <p:spPr bwMode="auto">
                      <a:xfrm>
                        <a:off x="254000" y="2856385"/>
                        <a:ext cx="2114550"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814679028"/>
              </p:ext>
            </p:extLst>
          </p:nvPr>
        </p:nvGraphicFramePr>
        <p:xfrm>
          <a:off x="288925" y="2019574"/>
          <a:ext cx="2079625" cy="561975"/>
        </p:xfrm>
        <a:graphic>
          <a:graphicData uri="http://schemas.openxmlformats.org/presentationml/2006/ole">
            <mc:AlternateContent xmlns:mc="http://schemas.openxmlformats.org/markup-compatibility/2006">
              <mc:Choice xmlns:v="urn:schemas-microsoft-com:vml" Requires="v">
                <p:oleObj name="Equation" r:id="rId4" imgW="1460160" imgH="393480" progId="Equation.DSMT4">
                  <p:embed/>
                </p:oleObj>
              </mc:Choice>
              <mc:Fallback>
                <p:oleObj name="Equation" r:id="rId4" imgW="1460160" imgH="393480" progId="Equation.DSMT4">
                  <p:embed/>
                  <p:pic>
                    <p:nvPicPr>
                      <p:cNvPr id="14" name="对象 13"/>
                      <p:cNvPicPr>
                        <a:picLocks noChangeAspect="1" noChangeArrowheads="1"/>
                      </p:cNvPicPr>
                      <p:nvPr/>
                    </p:nvPicPr>
                    <p:blipFill>
                      <a:blip r:embed="rId5"/>
                      <a:srcRect/>
                      <a:stretch>
                        <a:fillRect/>
                      </a:stretch>
                    </p:blipFill>
                    <p:spPr bwMode="auto">
                      <a:xfrm>
                        <a:off x="288925" y="2019574"/>
                        <a:ext cx="20796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25414518"/>
              </p:ext>
            </p:extLst>
          </p:nvPr>
        </p:nvGraphicFramePr>
        <p:xfrm>
          <a:off x="318457" y="3680663"/>
          <a:ext cx="2325345" cy="777311"/>
        </p:xfrm>
        <a:graphic>
          <a:graphicData uri="http://schemas.openxmlformats.org/presentationml/2006/ole">
            <mc:AlternateContent xmlns:mc="http://schemas.openxmlformats.org/markup-compatibility/2006">
              <mc:Choice xmlns:v="urn:schemas-microsoft-com:vml" Requires="v">
                <p:oleObj name="Equation" r:id="rId6" imgW="1180800" imgH="393480" progId="Equation.DSMT4">
                  <p:embed/>
                </p:oleObj>
              </mc:Choice>
              <mc:Fallback>
                <p:oleObj name="Equation" r:id="rId6" imgW="1180800" imgH="393480" progId="Equation.DSMT4">
                  <p:embed/>
                  <p:pic>
                    <p:nvPicPr>
                      <p:cNvPr id="15" name="对象 14"/>
                      <p:cNvPicPr>
                        <a:picLocks noChangeAspect="1" noChangeArrowheads="1"/>
                      </p:cNvPicPr>
                      <p:nvPr/>
                    </p:nvPicPr>
                    <p:blipFill>
                      <a:blip r:embed="rId7"/>
                      <a:srcRect/>
                      <a:stretch>
                        <a:fillRect/>
                      </a:stretch>
                    </p:blipFill>
                    <p:spPr bwMode="auto">
                      <a:xfrm>
                        <a:off x="318457" y="3680663"/>
                        <a:ext cx="2325345" cy="777311"/>
                      </a:xfrm>
                      <a:prstGeom prst="rect">
                        <a:avLst/>
                      </a:prstGeom>
                      <a:noFill/>
                      <a:ln>
                        <a:solidFill>
                          <a:srgbClr val="FF0000"/>
                        </a:solidFill>
                      </a:ln>
                    </p:spPr>
                  </p:pic>
                </p:oleObj>
              </mc:Fallback>
            </mc:AlternateContent>
          </a:graphicData>
        </a:graphic>
      </p:graphicFrame>
      <p:pic>
        <p:nvPicPr>
          <p:cNvPr id="3686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35" y="5254111"/>
            <a:ext cx="384302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0" y="4710908"/>
            <a:ext cx="4141518" cy="369332"/>
          </a:xfrm>
          <a:prstGeom prst="rect">
            <a:avLst/>
          </a:prstGeom>
          <a:noFill/>
        </p:spPr>
        <p:txBody>
          <a:bodyPr wrap="none" rtlCol="0">
            <a:spAutoFit/>
          </a:bodyPr>
          <a:lstStyle/>
          <a:p>
            <a:r>
              <a:rPr lang="en-US" altLang="zh-CN" dirty="0"/>
              <a:t>Integration with assumption of c</a:t>
            </a:r>
            <a:r>
              <a:rPr lang="en-US" altLang="zh-CN" baseline="-25000" dirty="0"/>
              <a:t>v</a:t>
            </a:r>
            <a:r>
              <a:rPr lang="en-US" altLang="zh-CN" dirty="0"/>
              <a:t> =const.: </a:t>
            </a:r>
            <a:endParaRPr lang="zh-CN" altLang="en-US" dirty="0"/>
          </a:p>
        </p:txBody>
      </p:sp>
      <p:pic>
        <p:nvPicPr>
          <p:cNvPr id="3686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21644" y="1744859"/>
            <a:ext cx="4455499" cy="126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8"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91000" y="3101340"/>
            <a:ext cx="4876800" cy="219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869"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0580" y="5245510"/>
            <a:ext cx="385762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圆角矩形 2"/>
          <p:cNvSpPr/>
          <p:nvPr/>
        </p:nvSpPr>
        <p:spPr>
          <a:xfrm>
            <a:off x="155575" y="1200150"/>
            <a:ext cx="3035300" cy="3510758"/>
          </a:xfrm>
          <a:prstGeom prst="roundRect">
            <a:avLst>
              <a:gd name="adj" fmla="val 6311"/>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74188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276350" y="148407"/>
            <a:ext cx="7178676" cy="595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Application: 1</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st</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25602"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29869"/>
          <a:stretch/>
        </p:blipFill>
        <p:spPr bwMode="auto">
          <a:xfrm>
            <a:off x="155574" y="809918"/>
            <a:ext cx="8858726" cy="3628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3565835354"/>
              </p:ext>
            </p:extLst>
          </p:nvPr>
        </p:nvGraphicFramePr>
        <p:xfrm>
          <a:off x="189968" y="3397087"/>
          <a:ext cx="1402647" cy="810418"/>
        </p:xfrm>
        <a:graphic>
          <a:graphicData uri="http://schemas.openxmlformats.org/presentationml/2006/ole">
            <mc:AlternateContent xmlns:mc="http://schemas.openxmlformats.org/markup-compatibility/2006">
              <mc:Choice xmlns:v="urn:schemas-microsoft-com:vml" Requires="v">
                <p:oleObj name="Equation" r:id="rId4" imgW="1143000" imgH="660240" progId="Equation.DSMT4">
                  <p:embed/>
                </p:oleObj>
              </mc:Choice>
              <mc:Fallback>
                <p:oleObj name="Equation" r:id="rId4" imgW="1143000" imgH="660240" progId="Equation.DSMT4">
                  <p:embed/>
                  <p:pic>
                    <p:nvPicPr>
                      <p:cNvPr id="2"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968" y="3397087"/>
                        <a:ext cx="1402647" cy="810418"/>
                      </a:xfrm>
                      <a:prstGeom prst="rect">
                        <a:avLst/>
                      </a:prstGeom>
                      <a:noFill/>
                      <a:ln>
                        <a:solidFill>
                          <a:srgbClr val="FF0000"/>
                        </a:solidFill>
                        <a:prstDash val="dash"/>
                      </a:ln>
                    </p:spPr>
                  </p:pic>
                </p:oleObj>
              </mc:Fallback>
            </mc:AlternateContent>
          </a:graphicData>
        </a:graphic>
      </p:graphicFrame>
      <p:sp>
        <p:nvSpPr>
          <p:cNvPr id="4" name="任意多边形 3"/>
          <p:cNvSpPr/>
          <p:nvPr/>
        </p:nvSpPr>
        <p:spPr>
          <a:xfrm>
            <a:off x="1529255" y="3802296"/>
            <a:ext cx="1371600" cy="462305"/>
          </a:xfrm>
          <a:custGeom>
            <a:avLst/>
            <a:gdLst>
              <a:gd name="connsiteX0" fmla="*/ 0 w 1371600"/>
              <a:gd name="connsiteY0" fmla="*/ 462305 h 462305"/>
              <a:gd name="connsiteX1" fmla="*/ 567559 w 1371600"/>
              <a:gd name="connsiteY1" fmla="*/ 5105 h 462305"/>
              <a:gd name="connsiteX2" fmla="*/ 1371600 w 1371600"/>
              <a:gd name="connsiteY2" fmla="*/ 257353 h 462305"/>
            </a:gdLst>
            <a:ahLst/>
            <a:cxnLst>
              <a:cxn ang="0">
                <a:pos x="connsiteX0" y="connsiteY0"/>
              </a:cxn>
              <a:cxn ang="0">
                <a:pos x="connsiteX1" y="connsiteY1"/>
              </a:cxn>
              <a:cxn ang="0">
                <a:pos x="connsiteX2" y="connsiteY2"/>
              </a:cxn>
            </a:cxnLst>
            <a:rect l="l" t="t" r="r" b="b"/>
            <a:pathLst>
              <a:path w="1371600" h="462305">
                <a:moveTo>
                  <a:pt x="0" y="462305"/>
                </a:moveTo>
                <a:cubicBezTo>
                  <a:pt x="169479" y="250784"/>
                  <a:pt x="338959" y="39264"/>
                  <a:pt x="567559" y="5105"/>
                </a:cubicBezTo>
                <a:cubicBezTo>
                  <a:pt x="796159" y="-29054"/>
                  <a:pt x="1083879" y="114149"/>
                  <a:pt x="1371600" y="257353"/>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2948091525"/>
              </p:ext>
            </p:extLst>
          </p:nvPr>
        </p:nvGraphicFramePr>
        <p:xfrm>
          <a:off x="6470389" y="4811732"/>
          <a:ext cx="2312276" cy="1264526"/>
        </p:xfrm>
        <a:graphic>
          <a:graphicData uri="http://schemas.openxmlformats.org/presentationml/2006/ole">
            <mc:AlternateContent xmlns:mc="http://schemas.openxmlformats.org/markup-compatibility/2006">
              <mc:Choice xmlns:v="urn:schemas-microsoft-com:vml" Requires="v">
                <p:oleObj name="Equation" r:id="rId6" imgW="1625400" imgH="888840" progId="Equation.DSMT4">
                  <p:embed/>
                </p:oleObj>
              </mc:Choice>
              <mc:Fallback>
                <p:oleObj name="Equation" r:id="rId6" imgW="1625400" imgH="888840" progId="Equation.DSMT4">
                  <p:embed/>
                  <p:pic>
                    <p:nvPicPr>
                      <p:cNvPr id="5" name="对象 4"/>
                      <p:cNvPicPr/>
                      <p:nvPr/>
                    </p:nvPicPr>
                    <p:blipFill>
                      <a:blip r:embed="rId7"/>
                      <a:stretch>
                        <a:fillRect/>
                      </a:stretch>
                    </p:blipFill>
                    <p:spPr>
                      <a:xfrm>
                        <a:off x="6470389" y="4811732"/>
                        <a:ext cx="2312276" cy="1264526"/>
                      </a:xfrm>
                      <a:prstGeom prst="rect">
                        <a:avLst/>
                      </a:prstGeom>
                      <a:ln>
                        <a:solidFill>
                          <a:srgbClr val="FF0000"/>
                        </a:solidFill>
                      </a:ln>
                    </p:spPr>
                  </p:pic>
                </p:oleObj>
              </mc:Fallback>
            </mc:AlternateContent>
          </a:graphicData>
        </a:graphic>
      </p:graphicFrame>
      <p:sp>
        <p:nvSpPr>
          <p:cNvPr id="13" name="TextBox 12"/>
          <p:cNvSpPr txBox="1"/>
          <p:nvPr/>
        </p:nvSpPr>
        <p:spPr>
          <a:xfrm>
            <a:off x="126348" y="6155133"/>
            <a:ext cx="2932534" cy="461665"/>
          </a:xfrm>
          <a:prstGeom prst="rect">
            <a:avLst/>
          </a:prstGeom>
          <a:noFill/>
        </p:spPr>
        <p:txBody>
          <a:bodyPr wrap="none" rtlCol="0">
            <a:spAutoFit/>
          </a:bodyPr>
          <a:lstStyle/>
          <a:p>
            <a:r>
              <a:rPr lang="en-US" altLang="zh-CN" sz="1200" dirty="0"/>
              <a:t>α: coefficient of thermal expansion</a:t>
            </a:r>
          </a:p>
          <a:p>
            <a:r>
              <a:rPr lang="el-GR" altLang="zh-CN" sz="1200" dirty="0"/>
              <a:t>β</a:t>
            </a:r>
            <a:r>
              <a:rPr lang="en-US" altLang="zh-CN" sz="1200" baseline="-25000" dirty="0"/>
              <a:t>T</a:t>
            </a:r>
            <a:r>
              <a:rPr lang="en-US" altLang="zh-CN" sz="1200" dirty="0"/>
              <a:t>: coefficient of isothermal compression</a:t>
            </a:r>
            <a:endParaRPr lang="zh-CN" altLang="en-US" sz="1200" dirty="0"/>
          </a:p>
        </p:txBody>
      </p:sp>
      <p:graphicFrame>
        <p:nvGraphicFramePr>
          <p:cNvPr id="15" name="对象 14"/>
          <p:cNvGraphicFramePr>
            <a:graphicFrameLocks noChangeAspect="1"/>
          </p:cNvGraphicFramePr>
          <p:nvPr>
            <p:extLst>
              <p:ext uri="{D42A27DB-BD31-4B8C-83A1-F6EECF244321}">
                <p14:modId xmlns:p14="http://schemas.microsoft.com/office/powerpoint/2010/main" val="1168227550"/>
              </p:ext>
            </p:extLst>
          </p:nvPr>
        </p:nvGraphicFramePr>
        <p:xfrm>
          <a:off x="155574" y="4811732"/>
          <a:ext cx="1010126" cy="602191"/>
        </p:xfrm>
        <a:graphic>
          <a:graphicData uri="http://schemas.openxmlformats.org/presentationml/2006/ole">
            <mc:AlternateContent xmlns:mc="http://schemas.openxmlformats.org/markup-compatibility/2006">
              <mc:Choice xmlns:v="urn:schemas-microsoft-com:vml" Requires="v">
                <p:oleObj name="Equation" r:id="rId8" imgW="660240" imgH="393480" progId="Equation.DSMT4">
                  <p:embed/>
                </p:oleObj>
              </mc:Choice>
              <mc:Fallback>
                <p:oleObj name="Equation" r:id="rId8" imgW="660240" imgH="393480" progId="Equation.DSMT4">
                  <p:embed/>
                  <p:pic>
                    <p:nvPicPr>
                      <p:cNvPr id="15" name="对象 14"/>
                      <p:cNvPicPr/>
                      <p:nvPr/>
                    </p:nvPicPr>
                    <p:blipFill>
                      <a:blip r:embed="rId9"/>
                      <a:stretch>
                        <a:fillRect/>
                      </a:stretch>
                    </p:blipFill>
                    <p:spPr>
                      <a:xfrm>
                        <a:off x="155574" y="4811732"/>
                        <a:ext cx="1010126" cy="602191"/>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584869681"/>
              </p:ext>
            </p:extLst>
          </p:nvPr>
        </p:nvGraphicFramePr>
        <p:xfrm>
          <a:off x="189968" y="5494202"/>
          <a:ext cx="1126232" cy="536908"/>
        </p:xfrm>
        <a:graphic>
          <a:graphicData uri="http://schemas.openxmlformats.org/presentationml/2006/ole">
            <mc:AlternateContent xmlns:mc="http://schemas.openxmlformats.org/markup-compatibility/2006">
              <mc:Choice xmlns:v="urn:schemas-microsoft-com:vml" Requires="v">
                <p:oleObj name="Equation" r:id="rId10" imgW="825480" imgH="393480" progId="Equation.DSMT4">
                  <p:embed/>
                </p:oleObj>
              </mc:Choice>
              <mc:Fallback>
                <p:oleObj name="Equation" r:id="rId10" imgW="825480" imgH="393480" progId="Equation.DSMT4">
                  <p:embed/>
                  <p:pic>
                    <p:nvPicPr>
                      <p:cNvPr id="16" name="对象 15"/>
                      <p:cNvPicPr>
                        <a:picLocks noChangeAspect="1" noChangeArrowheads="1"/>
                      </p:cNvPicPr>
                      <p:nvPr/>
                    </p:nvPicPr>
                    <p:blipFill>
                      <a:blip r:embed="rId11"/>
                      <a:srcRect/>
                      <a:stretch>
                        <a:fillRect/>
                      </a:stretch>
                    </p:blipFill>
                    <p:spPr bwMode="auto">
                      <a:xfrm>
                        <a:off x="189968" y="5494202"/>
                        <a:ext cx="1126232" cy="536908"/>
                      </a:xfrm>
                      <a:prstGeom prst="rect">
                        <a:avLst/>
                      </a:prstGeom>
                      <a:noFill/>
                      <a:ln>
                        <a:noFill/>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720798993"/>
              </p:ext>
            </p:extLst>
          </p:nvPr>
        </p:nvGraphicFramePr>
        <p:xfrm>
          <a:off x="1852719" y="4963073"/>
          <a:ext cx="3930650" cy="901700"/>
        </p:xfrm>
        <a:graphic>
          <a:graphicData uri="http://schemas.openxmlformats.org/presentationml/2006/ole">
            <mc:AlternateContent xmlns:mc="http://schemas.openxmlformats.org/markup-compatibility/2006">
              <mc:Choice xmlns:v="urn:schemas-microsoft-com:vml" Requires="v">
                <p:oleObj name="Equation" r:id="rId12" imgW="3771720" imgH="863280" progId="Equation.DSMT4">
                  <p:embed/>
                </p:oleObj>
              </mc:Choice>
              <mc:Fallback>
                <p:oleObj name="Equation" r:id="rId12" imgW="3771720" imgH="863280" progId="Equation.DSMT4">
                  <p:embed/>
                  <p:pic>
                    <p:nvPicPr>
                      <p:cNvPr id="0" name=""/>
                      <p:cNvPicPr>
                        <a:picLocks noChangeAspect="1" noChangeArrowheads="1"/>
                      </p:cNvPicPr>
                      <p:nvPr/>
                    </p:nvPicPr>
                    <p:blipFill>
                      <a:blip r:embed="rId13"/>
                      <a:srcRect/>
                      <a:stretch>
                        <a:fillRect/>
                      </a:stretch>
                    </p:blipFill>
                    <p:spPr bwMode="auto">
                      <a:xfrm>
                        <a:off x="1852719" y="4963073"/>
                        <a:ext cx="3930650" cy="901700"/>
                      </a:xfrm>
                      <a:prstGeom prst="rect">
                        <a:avLst/>
                      </a:prstGeom>
                      <a:solidFill>
                        <a:schemeClr val="accent2">
                          <a:lumMod val="20000"/>
                          <a:lumOff val="80000"/>
                        </a:schemeClr>
                      </a:solidFill>
                      <a:ln>
                        <a:noFill/>
                      </a:ln>
                    </p:spPr>
                  </p:pic>
                </p:oleObj>
              </mc:Fallback>
            </mc:AlternateContent>
          </a:graphicData>
        </a:graphic>
      </p:graphicFrame>
    </p:spTree>
    <p:extLst>
      <p:ext uri="{BB962C8B-B14F-4D97-AF65-F5344CB8AC3E}">
        <p14:creationId xmlns:p14="http://schemas.microsoft.com/office/powerpoint/2010/main" val="8242758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3" name="Title 1"/>
          <p:cNvSpPr txBox="1">
            <a:spLocks/>
          </p:cNvSpPr>
          <p:nvPr/>
        </p:nvSpPr>
        <p:spPr bwMode="auto">
          <a:xfrm>
            <a:off x="1014604" y="10031"/>
            <a:ext cx="7178676" cy="627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023" y="1047750"/>
            <a:ext cx="800906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3400" y="3867150"/>
            <a:ext cx="3350469" cy="369332"/>
          </a:xfrm>
          <a:prstGeom prst="rect">
            <a:avLst/>
          </a:prstGeom>
          <a:noFill/>
        </p:spPr>
        <p:txBody>
          <a:bodyPr wrap="none" rtlCol="0">
            <a:spAutoFit/>
          </a:bodyPr>
          <a:lstStyle/>
          <a:p>
            <a:r>
              <a:rPr lang="en-US" altLang="zh-CN" dirty="0"/>
              <a:t>For reversible constant pressure : </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3712363246"/>
              </p:ext>
            </p:extLst>
          </p:nvPr>
        </p:nvGraphicFramePr>
        <p:xfrm>
          <a:off x="3886200" y="3749675"/>
          <a:ext cx="914400" cy="604838"/>
        </p:xfrm>
        <a:graphic>
          <a:graphicData uri="http://schemas.openxmlformats.org/presentationml/2006/ole">
            <mc:AlternateContent xmlns:mc="http://schemas.openxmlformats.org/markup-compatibility/2006">
              <mc:Choice xmlns:v="urn:schemas-microsoft-com:vml" Requires="v">
                <p:oleObj name="Equation" r:id="rId3" imgW="672840" imgH="444240" progId="Equation.DSMT4">
                  <p:embed/>
                </p:oleObj>
              </mc:Choice>
              <mc:Fallback>
                <p:oleObj name="Equation" r:id="rId3" imgW="672840" imgH="444240" progId="Equation.DSMT4">
                  <p:embed/>
                  <p:pic>
                    <p:nvPicPr>
                      <p:cNvPr id="14" name="对象 13"/>
                      <p:cNvPicPr/>
                      <p:nvPr/>
                    </p:nvPicPr>
                    <p:blipFill>
                      <a:blip r:embed="rId4"/>
                      <a:stretch>
                        <a:fillRect/>
                      </a:stretch>
                    </p:blipFill>
                    <p:spPr>
                      <a:xfrm>
                        <a:off x="3886200" y="3749675"/>
                        <a:ext cx="914400" cy="604838"/>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2905555529"/>
              </p:ext>
            </p:extLst>
          </p:nvPr>
        </p:nvGraphicFramePr>
        <p:xfrm>
          <a:off x="7334250" y="3646209"/>
          <a:ext cx="1403350" cy="811213"/>
        </p:xfrm>
        <a:graphic>
          <a:graphicData uri="http://schemas.openxmlformats.org/presentationml/2006/ole">
            <mc:AlternateContent xmlns:mc="http://schemas.openxmlformats.org/markup-compatibility/2006">
              <mc:Choice xmlns:v="urn:schemas-microsoft-com:vml" Requires="v">
                <p:oleObj name="Equation" r:id="rId5" imgW="1143000" imgH="660240" progId="Equation.DSMT4">
                  <p:embed/>
                </p:oleObj>
              </mc:Choice>
              <mc:Fallback>
                <p:oleObj name="Equation" r:id="rId5" imgW="1143000" imgH="660240" progId="Equation.DSMT4">
                  <p:embed/>
                  <p:pic>
                    <p:nvPicPr>
                      <p:cNvPr id="15" name="对象 14"/>
                      <p:cNvPicPr>
                        <a:picLocks noChangeAspect="1" noChangeArrowheads="1"/>
                      </p:cNvPicPr>
                      <p:nvPr/>
                    </p:nvPicPr>
                    <p:blipFill>
                      <a:blip r:embed="rId6"/>
                      <a:srcRect/>
                      <a:stretch>
                        <a:fillRect/>
                      </a:stretch>
                    </p:blipFill>
                    <p:spPr bwMode="auto">
                      <a:xfrm>
                        <a:off x="7334250" y="3646209"/>
                        <a:ext cx="1403350" cy="811213"/>
                      </a:xfrm>
                      <a:prstGeom prst="rect">
                        <a:avLst/>
                      </a:prstGeom>
                      <a:noFill/>
                      <a:ln w="9525">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789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3751778"/>
            <a:ext cx="148590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任意多边形 15"/>
          <p:cNvSpPr/>
          <p:nvPr/>
        </p:nvSpPr>
        <p:spPr>
          <a:xfrm>
            <a:off x="6227379" y="3332137"/>
            <a:ext cx="1639614" cy="285392"/>
          </a:xfrm>
          <a:custGeom>
            <a:avLst/>
            <a:gdLst>
              <a:gd name="connsiteX0" fmla="*/ 1639614 w 1639614"/>
              <a:gd name="connsiteY0" fmla="*/ 190799 h 285392"/>
              <a:gd name="connsiteX1" fmla="*/ 567559 w 1639614"/>
              <a:gd name="connsiteY1" fmla="*/ 1613 h 285392"/>
              <a:gd name="connsiteX2" fmla="*/ 0 w 1639614"/>
              <a:gd name="connsiteY2" fmla="*/ 285392 h 285392"/>
            </a:gdLst>
            <a:ahLst/>
            <a:cxnLst>
              <a:cxn ang="0">
                <a:pos x="connsiteX0" y="connsiteY0"/>
              </a:cxn>
              <a:cxn ang="0">
                <a:pos x="connsiteX1" y="connsiteY1"/>
              </a:cxn>
              <a:cxn ang="0">
                <a:pos x="connsiteX2" y="connsiteY2"/>
              </a:cxn>
            </a:cxnLst>
            <a:rect l="l" t="t" r="r" b="b"/>
            <a:pathLst>
              <a:path w="1639614" h="285392">
                <a:moveTo>
                  <a:pt x="1639614" y="190799"/>
                </a:moveTo>
                <a:cubicBezTo>
                  <a:pt x="1240221" y="88323"/>
                  <a:pt x="840828" y="-14153"/>
                  <a:pt x="567559" y="1613"/>
                </a:cubicBezTo>
                <a:cubicBezTo>
                  <a:pt x="294290" y="17378"/>
                  <a:pt x="147145" y="151385"/>
                  <a:pt x="0" y="285392"/>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 name="对象 16"/>
          <p:cNvGraphicFramePr>
            <a:graphicFrameLocks noChangeAspect="1"/>
          </p:cNvGraphicFramePr>
          <p:nvPr>
            <p:extLst>
              <p:ext uri="{D42A27DB-BD31-4B8C-83A1-F6EECF244321}">
                <p14:modId xmlns:p14="http://schemas.microsoft.com/office/powerpoint/2010/main" val="2026267778"/>
              </p:ext>
            </p:extLst>
          </p:nvPr>
        </p:nvGraphicFramePr>
        <p:xfrm>
          <a:off x="3582988" y="4773613"/>
          <a:ext cx="2330450" cy="976312"/>
        </p:xfrm>
        <a:graphic>
          <a:graphicData uri="http://schemas.openxmlformats.org/presentationml/2006/ole">
            <mc:AlternateContent xmlns:mc="http://schemas.openxmlformats.org/markup-compatibility/2006">
              <mc:Choice xmlns:v="urn:schemas-microsoft-com:vml" Requires="v">
                <p:oleObj name="Equation" r:id="rId8" imgW="1638000" imgH="685800" progId="Equation.DSMT4">
                  <p:embed/>
                </p:oleObj>
              </mc:Choice>
              <mc:Fallback>
                <p:oleObj name="Equation" r:id="rId8" imgW="1638000" imgH="685800" progId="Equation.DSMT4">
                  <p:embed/>
                  <p:pic>
                    <p:nvPicPr>
                      <p:cNvPr id="17" name="对象 16"/>
                      <p:cNvPicPr>
                        <a:picLocks noChangeAspect="1" noChangeArrowheads="1"/>
                      </p:cNvPicPr>
                      <p:nvPr/>
                    </p:nvPicPr>
                    <p:blipFill>
                      <a:blip r:embed="rId9"/>
                      <a:srcRect/>
                      <a:stretch>
                        <a:fillRect/>
                      </a:stretch>
                    </p:blipFill>
                    <p:spPr bwMode="auto">
                      <a:xfrm>
                        <a:off x="3582988" y="4773613"/>
                        <a:ext cx="23304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Box 21"/>
          <p:cNvSpPr txBox="1"/>
          <p:nvPr/>
        </p:nvSpPr>
        <p:spPr>
          <a:xfrm>
            <a:off x="0" y="5829984"/>
            <a:ext cx="4024563" cy="646331"/>
          </a:xfrm>
          <a:prstGeom prst="rect">
            <a:avLst/>
          </a:prstGeom>
          <a:noFill/>
        </p:spPr>
        <p:txBody>
          <a:bodyPr wrap="none" rtlCol="0">
            <a:spAutoFit/>
          </a:bodyPr>
          <a:lstStyle/>
          <a:p>
            <a:r>
              <a:rPr lang="en-US" altLang="zh-CN" dirty="0"/>
              <a:t>α: coefficient of thermal expansion</a:t>
            </a:r>
          </a:p>
          <a:p>
            <a:r>
              <a:rPr lang="el-GR" altLang="zh-CN" dirty="0"/>
              <a:t>β</a:t>
            </a:r>
            <a:r>
              <a:rPr lang="en-US" altLang="zh-CN" baseline="-25000" dirty="0"/>
              <a:t>T</a:t>
            </a:r>
            <a:r>
              <a:rPr lang="en-US" altLang="zh-CN" dirty="0"/>
              <a:t>: coefficient of isothermal compression</a:t>
            </a:r>
            <a:endParaRPr lang="zh-CN" altLang="en-US" dirty="0"/>
          </a:p>
        </p:txBody>
      </p:sp>
      <p:graphicFrame>
        <p:nvGraphicFramePr>
          <p:cNvPr id="23" name="对象 22"/>
          <p:cNvGraphicFramePr>
            <a:graphicFrameLocks noChangeAspect="1"/>
          </p:cNvGraphicFramePr>
          <p:nvPr>
            <p:extLst>
              <p:ext uri="{D42A27DB-BD31-4B8C-83A1-F6EECF244321}">
                <p14:modId xmlns:p14="http://schemas.microsoft.com/office/powerpoint/2010/main" val="2496048717"/>
              </p:ext>
            </p:extLst>
          </p:nvPr>
        </p:nvGraphicFramePr>
        <p:xfrm>
          <a:off x="209074" y="5017559"/>
          <a:ext cx="1010126" cy="602191"/>
        </p:xfrm>
        <a:graphic>
          <a:graphicData uri="http://schemas.openxmlformats.org/presentationml/2006/ole">
            <mc:AlternateContent xmlns:mc="http://schemas.openxmlformats.org/markup-compatibility/2006">
              <mc:Choice xmlns:v="urn:schemas-microsoft-com:vml" Requires="v">
                <p:oleObj name="Equation" r:id="rId10" imgW="660240" imgH="393480" progId="Equation.DSMT4">
                  <p:embed/>
                </p:oleObj>
              </mc:Choice>
              <mc:Fallback>
                <p:oleObj name="Equation" r:id="rId10" imgW="660240" imgH="393480" progId="Equation.DSMT4">
                  <p:embed/>
                  <p:pic>
                    <p:nvPicPr>
                      <p:cNvPr id="23" name="对象 22"/>
                      <p:cNvPicPr/>
                      <p:nvPr/>
                    </p:nvPicPr>
                    <p:blipFill>
                      <a:blip r:embed="rId11"/>
                      <a:stretch>
                        <a:fillRect/>
                      </a:stretch>
                    </p:blipFill>
                    <p:spPr>
                      <a:xfrm>
                        <a:off x="209074" y="5017559"/>
                        <a:ext cx="1010126" cy="602191"/>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1292809996"/>
              </p:ext>
            </p:extLst>
          </p:nvPr>
        </p:nvGraphicFramePr>
        <p:xfrm>
          <a:off x="1584325" y="5010150"/>
          <a:ext cx="1262063" cy="601663"/>
        </p:xfrm>
        <a:graphic>
          <a:graphicData uri="http://schemas.openxmlformats.org/presentationml/2006/ole">
            <mc:AlternateContent xmlns:mc="http://schemas.openxmlformats.org/markup-compatibility/2006">
              <mc:Choice xmlns:v="urn:schemas-microsoft-com:vml" Requires="v">
                <p:oleObj name="Equation" r:id="rId12" imgW="825480" imgH="393480" progId="Equation.DSMT4">
                  <p:embed/>
                </p:oleObj>
              </mc:Choice>
              <mc:Fallback>
                <p:oleObj name="Equation" r:id="rId12" imgW="825480" imgH="393480" progId="Equation.DSMT4">
                  <p:embed/>
                  <p:pic>
                    <p:nvPicPr>
                      <p:cNvPr id="24" name="对象 23"/>
                      <p:cNvPicPr>
                        <a:picLocks noChangeAspect="1" noChangeArrowheads="1"/>
                      </p:cNvPicPr>
                      <p:nvPr/>
                    </p:nvPicPr>
                    <p:blipFill>
                      <a:blip r:embed="rId13"/>
                      <a:srcRect/>
                      <a:stretch>
                        <a:fillRect/>
                      </a:stretch>
                    </p:blipFill>
                    <p:spPr bwMode="auto">
                      <a:xfrm>
                        <a:off x="1584325" y="5010150"/>
                        <a:ext cx="1262063"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圆角矩形 17"/>
          <p:cNvSpPr/>
          <p:nvPr/>
        </p:nvSpPr>
        <p:spPr>
          <a:xfrm>
            <a:off x="0" y="4857750"/>
            <a:ext cx="3177672" cy="972234"/>
          </a:xfrm>
          <a:prstGeom prst="roundRect">
            <a:avLst>
              <a:gd name="adj" fmla="val 0"/>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Tree>
    <p:extLst>
      <p:ext uri="{BB962C8B-B14F-4D97-AF65-F5344CB8AC3E}">
        <p14:creationId xmlns:p14="http://schemas.microsoft.com/office/powerpoint/2010/main" val="12260194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68029"/>
            <a:ext cx="56388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a:spLocks/>
          </p:cNvSpPr>
          <p:nvPr/>
        </p:nvSpPr>
        <p:spPr bwMode="auto">
          <a:xfrm>
            <a:off x="896763" y="104931"/>
            <a:ext cx="7178676" cy="459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89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372" y="2275831"/>
            <a:ext cx="4937628" cy="379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2652620083"/>
              </p:ext>
            </p:extLst>
          </p:nvPr>
        </p:nvGraphicFramePr>
        <p:xfrm>
          <a:off x="6481046" y="1165673"/>
          <a:ext cx="2330450" cy="976312"/>
        </p:xfrm>
        <a:graphic>
          <a:graphicData uri="http://schemas.openxmlformats.org/presentationml/2006/ole">
            <mc:AlternateContent xmlns:mc="http://schemas.openxmlformats.org/markup-compatibility/2006">
              <mc:Choice xmlns:v="urn:schemas-microsoft-com:vml" Requires="v">
                <p:oleObj name="Equation" r:id="rId4" imgW="1638000" imgH="685800" progId="Equation.DSMT4">
                  <p:embed/>
                </p:oleObj>
              </mc:Choice>
              <mc:Fallback>
                <p:oleObj name="Equation" r:id="rId4" imgW="1638000" imgH="685800" progId="Equation.DSMT4">
                  <p:embed/>
                  <p:pic>
                    <p:nvPicPr>
                      <p:cNvPr id="0" name=""/>
                      <p:cNvPicPr>
                        <a:picLocks noChangeAspect="1" noChangeArrowheads="1"/>
                      </p:cNvPicPr>
                      <p:nvPr/>
                    </p:nvPicPr>
                    <p:blipFill>
                      <a:blip r:embed="rId5"/>
                      <a:srcRect/>
                      <a:stretch>
                        <a:fillRect/>
                      </a:stretch>
                    </p:blipFill>
                    <p:spPr bwMode="auto">
                      <a:xfrm>
                        <a:off x="6481046" y="1165673"/>
                        <a:ext cx="2330450" cy="97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28279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4624" y="1512120"/>
            <a:ext cx="2733441" cy="400110"/>
          </a:xfrm>
          <a:prstGeom prst="rect">
            <a:avLst/>
          </a:prstGeom>
          <a:noFill/>
        </p:spPr>
        <p:txBody>
          <a:bodyPr wrap="none" rtlCol="0">
            <a:spAutoFit/>
          </a:bodyPr>
          <a:lstStyle/>
          <a:p>
            <a:r>
              <a:rPr lang="en-US" altLang="zh-CN" sz="2000" dirty="0"/>
              <a:t>For the 1 </a:t>
            </a:r>
            <a:r>
              <a:rPr lang="en-US" altLang="zh-CN" sz="2000" dirty="0" err="1"/>
              <a:t>mol</a:t>
            </a:r>
            <a:r>
              <a:rPr lang="en-US" altLang="zh-CN" sz="2000" dirty="0"/>
              <a:t> idea gas</a:t>
            </a:r>
            <a:endParaRPr lang="zh-CN" altLang="en-US" sz="2000" dirty="0"/>
          </a:p>
        </p:txBody>
      </p:sp>
      <p:graphicFrame>
        <p:nvGraphicFramePr>
          <p:cNvPr id="5" name="对象 4"/>
          <p:cNvGraphicFramePr>
            <a:graphicFrameLocks noChangeAspect="1"/>
          </p:cNvGraphicFramePr>
          <p:nvPr/>
        </p:nvGraphicFramePr>
        <p:xfrm>
          <a:off x="307975" y="2362200"/>
          <a:ext cx="2079625" cy="561975"/>
        </p:xfrm>
        <a:graphic>
          <a:graphicData uri="http://schemas.openxmlformats.org/presentationml/2006/ole">
            <mc:AlternateContent xmlns:mc="http://schemas.openxmlformats.org/markup-compatibility/2006">
              <mc:Choice xmlns:v="urn:schemas-microsoft-com:vml" Requires="v">
                <p:oleObj name="Equation" r:id="rId2" imgW="1460160" imgH="393480" progId="Equation.DSMT4">
                  <p:embed/>
                </p:oleObj>
              </mc:Choice>
              <mc:Fallback>
                <p:oleObj name="Equation" r:id="rId2" imgW="1460160" imgH="393480" progId="Equation.DSMT4">
                  <p:embed/>
                  <p:pic>
                    <p:nvPicPr>
                      <p:cNvPr id="5" name="对象 4"/>
                      <p:cNvPicPr>
                        <a:picLocks noChangeAspect="1" noChangeArrowheads="1"/>
                      </p:cNvPicPr>
                      <p:nvPr/>
                    </p:nvPicPr>
                    <p:blipFill>
                      <a:blip r:embed="rId3"/>
                      <a:srcRect/>
                      <a:stretch>
                        <a:fillRect/>
                      </a:stretch>
                    </p:blipFill>
                    <p:spPr bwMode="auto">
                      <a:xfrm>
                        <a:off x="307975" y="2362200"/>
                        <a:ext cx="207962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itle 1"/>
          <p:cNvSpPr txBox="1">
            <a:spLocks/>
          </p:cNvSpPr>
          <p:nvPr/>
        </p:nvSpPr>
        <p:spPr bwMode="auto">
          <a:xfrm>
            <a:off x="1638166" y="150509"/>
            <a:ext cx="7178676" cy="632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2</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pic>
        <p:nvPicPr>
          <p:cNvPr id="399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7312" y="1578188"/>
            <a:ext cx="4950206" cy="4406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958" y="5305547"/>
            <a:ext cx="1009650"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2350957" y="5136270"/>
            <a:ext cx="2597186" cy="338554"/>
          </a:xfrm>
          <a:prstGeom prst="rect">
            <a:avLst/>
          </a:prstGeom>
          <a:noFill/>
        </p:spPr>
        <p:txBody>
          <a:bodyPr wrap="none" rtlCol="0">
            <a:spAutoFit/>
          </a:bodyPr>
          <a:lstStyle/>
          <a:p>
            <a:r>
              <a:rPr lang="en-US" altLang="zh-CN" sz="1600" i="1" dirty="0"/>
              <a:t>Apply Maxwell relationship</a:t>
            </a:r>
            <a:endParaRPr lang="zh-CN" altLang="en-US" sz="1600" i="1" dirty="0"/>
          </a:p>
        </p:txBody>
      </p:sp>
      <p:sp>
        <p:nvSpPr>
          <p:cNvPr id="14" name="任意多边形 13"/>
          <p:cNvSpPr/>
          <p:nvPr/>
        </p:nvSpPr>
        <p:spPr>
          <a:xfrm>
            <a:off x="5107663" y="5013434"/>
            <a:ext cx="489096" cy="583325"/>
          </a:xfrm>
          <a:custGeom>
            <a:avLst/>
            <a:gdLst>
              <a:gd name="connsiteX0" fmla="*/ 489096 w 489096"/>
              <a:gd name="connsiteY0" fmla="*/ 0 h 583325"/>
              <a:gd name="connsiteX1" fmla="*/ 365 w 489096"/>
              <a:gd name="connsiteY1" fmla="*/ 189187 h 583325"/>
              <a:gd name="connsiteX2" fmla="*/ 426034 w 489096"/>
              <a:gd name="connsiteY2" fmla="*/ 583325 h 583325"/>
            </a:gdLst>
            <a:ahLst/>
            <a:cxnLst>
              <a:cxn ang="0">
                <a:pos x="connsiteX0" y="connsiteY0"/>
              </a:cxn>
              <a:cxn ang="0">
                <a:pos x="connsiteX1" y="connsiteY1"/>
              </a:cxn>
              <a:cxn ang="0">
                <a:pos x="connsiteX2" y="connsiteY2"/>
              </a:cxn>
            </a:cxnLst>
            <a:rect l="l" t="t" r="r" b="b"/>
            <a:pathLst>
              <a:path w="489096" h="583325">
                <a:moveTo>
                  <a:pt x="489096" y="0"/>
                </a:moveTo>
                <a:cubicBezTo>
                  <a:pt x="249985" y="45983"/>
                  <a:pt x="10875" y="91966"/>
                  <a:pt x="365" y="189187"/>
                </a:cubicBezTo>
                <a:cubicBezTo>
                  <a:pt x="-10145" y="286408"/>
                  <a:pt x="207944" y="434866"/>
                  <a:pt x="426034" y="583325"/>
                </a:cubicBezTo>
              </a:path>
            </a:pathLst>
          </a:custGeom>
          <a:noFill/>
          <a:ln>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0" y="1315597"/>
            <a:ext cx="3133725" cy="2714625"/>
          </a:xfrm>
          <a:prstGeom prst="roundRect">
            <a:avLst>
              <a:gd name="adj" fmla="val 8597"/>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48056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662EF2E-AB91-2A0B-9293-5994CBD7D3DE}"/>
              </a:ext>
            </a:extLst>
          </p:cNvPr>
          <p:cNvSpPr txBox="1">
            <a:spLocks/>
          </p:cNvSpPr>
          <p:nvPr/>
        </p:nvSpPr>
        <p:spPr bwMode="auto">
          <a:xfrm>
            <a:off x="2484252" y="2802"/>
            <a:ext cx="4175493" cy="632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3</a:t>
            </a:r>
            <a:r>
              <a:rPr lang="en-US" sz="3200" b="1" baseline="30000" dirty="0">
                <a:solidFill>
                  <a:srgbClr val="FF0000"/>
                </a:solidFill>
                <a:effectLst>
                  <a:outerShdw blurRad="38100" dist="38100" dir="2700000" algn="tl">
                    <a:srgbClr val="000000">
                      <a:alpha val="43137"/>
                    </a:srgbClr>
                  </a:outerShdw>
                </a:effectLst>
                <a:latin typeface="Arial" charset="0"/>
                <a:cs typeface="Arial" charset="0"/>
              </a:rPr>
              <a:t>nd</a:t>
            </a:r>
            <a:r>
              <a:rPr lang="en-US" sz="3200" b="1" dirty="0">
                <a:solidFill>
                  <a:srgbClr val="FF0000"/>
                </a:solidFill>
                <a:effectLst>
                  <a:outerShdw blurRad="38100" dist="38100" dir="2700000" algn="tl">
                    <a:srgbClr val="000000">
                      <a:alpha val="43137"/>
                    </a:srgbClr>
                  </a:outerShdw>
                </a:effectLst>
                <a:latin typeface="Arial" charset="0"/>
                <a:cs typeface="Arial" charset="0"/>
              </a:rPr>
              <a:t> </a:t>
            </a:r>
            <a:r>
              <a:rPr lang="en-US" sz="3200" b="1" dirty="0" err="1">
                <a:solidFill>
                  <a:srgbClr val="FF0000"/>
                </a:solidFill>
                <a:effectLst>
                  <a:outerShdw blurRad="38100" dist="38100" dir="2700000" algn="tl">
                    <a:srgbClr val="000000">
                      <a:alpha val="43137"/>
                    </a:srgbClr>
                  </a:outerShdw>
                </a:effectLst>
                <a:latin typeface="Arial" charset="0"/>
                <a:cs typeface="Arial" charset="0"/>
              </a:rPr>
              <a:t>TdS</a:t>
            </a:r>
            <a:r>
              <a:rPr lang="en-US" sz="3200" b="1" dirty="0">
                <a:solidFill>
                  <a:srgbClr val="FF0000"/>
                </a:solidFill>
                <a:effectLst>
                  <a:outerShdw blurRad="38100" dist="38100" dir="2700000" algn="tl">
                    <a:srgbClr val="000000">
                      <a:alpha val="43137"/>
                    </a:srgbClr>
                  </a:outerShdw>
                </a:effectLst>
                <a:latin typeface="Arial" charset="0"/>
                <a:cs typeface="Arial" charset="0"/>
              </a:rPr>
              <a:t> equation </a:t>
            </a:r>
            <a:endParaRPr lang="en-US" sz="3200" dirty="0">
              <a:solidFill>
                <a:srgbClr val="FF0000"/>
              </a:solidFill>
            </a:endParaRPr>
          </a:p>
        </p:txBody>
      </p:sp>
      <p:sp>
        <p:nvSpPr>
          <p:cNvPr id="4" name="Rectangle 2">
            <a:extLst>
              <a:ext uri="{FF2B5EF4-FFF2-40B4-BE49-F238E27FC236}">
                <a16:creationId xmlns:a16="http://schemas.microsoft.com/office/drawing/2014/main" id="{E15540FB-C72B-C635-D855-6E084B61A1D4}"/>
              </a:ext>
            </a:extLst>
          </p:cNvPr>
          <p:cNvSpPr>
            <a:spLocks noChangeArrowheads="1"/>
          </p:cNvSpPr>
          <p:nvPr/>
        </p:nvSpPr>
        <p:spPr bwMode="auto">
          <a:xfrm>
            <a:off x="2194560" y="180954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1233D165-D9F2-9182-EC1D-A38240C468AB}"/>
              </a:ext>
            </a:extLst>
          </p:cNvPr>
          <p:cNvGraphicFramePr>
            <a:graphicFrameLocks noChangeAspect="1"/>
          </p:cNvGraphicFramePr>
          <p:nvPr>
            <p:extLst>
              <p:ext uri="{D42A27DB-BD31-4B8C-83A1-F6EECF244321}">
                <p14:modId xmlns:p14="http://schemas.microsoft.com/office/powerpoint/2010/main" val="1407527032"/>
              </p:ext>
            </p:extLst>
          </p:nvPr>
        </p:nvGraphicFramePr>
        <p:xfrm>
          <a:off x="1132037" y="1473983"/>
          <a:ext cx="2827712" cy="529389"/>
        </p:xfrm>
        <a:graphic>
          <a:graphicData uri="http://schemas.openxmlformats.org/presentationml/2006/ole">
            <mc:AlternateContent xmlns:mc="http://schemas.openxmlformats.org/markup-compatibility/2006">
              <mc:Choice xmlns:v="urn:schemas-microsoft-com:vml" Requires="v">
                <p:oleObj name="Equation" r:id="rId2" imgW="2082800" imgH="393700" progId="Equation.DSMT4">
                  <p:embed/>
                </p:oleObj>
              </mc:Choice>
              <mc:Fallback>
                <p:oleObj name="Equation" r:id="rId2" imgW="2082800" imgH="3937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037" y="1473983"/>
                        <a:ext cx="2827712" cy="529389"/>
                      </a:xfrm>
                      <a:prstGeom prst="rect">
                        <a:avLst/>
                      </a:prstGeom>
                      <a:noFill/>
                    </p:spPr>
                  </p:pic>
                </p:oleObj>
              </mc:Fallback>
            </mc:AlternateContent>
          </a:graphicData>
        </a:graphic>
      </p:graphicFrame>
      <p:graphicFrame>
        <p:nvGraphicFramePr>
          <p:cNvPr id="6" name="对象 5">
            <a:extLst>
              <a:ext uri="{FF2B5EF4-FFF2-40B4-BE49-F238E27FC236}">
                <a16:creationId xmlns:a16="http://schemas.microsoft.com/office/drawing/2014/main" id="{F127E7C4-0BB4-15BE-33F6-D90A89B91AFA}"/>
              </a:ext>
            </a:extLst>
          </p:cNvPr>
          <p:cNvGraphicFramePr>
            <a:graphicFrameLocks noChangeAspect="1"/>
          </p:cNvGraphicFramePr>
          <p:nvPr>
            <p:extLst>
              <p:ext uri="{D42A27DB-BD31-4B8C-83A1-F6EECF244321}">
                <p14:modId xmlns:p14="http://schemas.microsoft.com/office/powerpoint/2010/main" val="855607705"/>
              </p:ext>
            </p:extLst>
          </p:nvPr>
        </p:nvGraphicFramePr>
        <p:xfrm>
          <a:off x="5813659" y="964663"/>
          <a:ext cx="2082800" cy="687387"/>
        </p:xfrm>
        <a:graphic>
          <a:graphicData uri="http://schemas.openxmlformats.org/presentationml/2006/ole">
            <mc:AlternateContent xmlns:mc="http://schemas.openxmlformats.org/markup-compatibility/2006">
              <mc:Choice xmlns:v="urn:schemas-microsoft-com:vml" Requires="v">
                <p:oleObj name="Equation" r:id="rId4" imgW="1307880" imgH="431640" progId="Equation.DSMT4">
                  <p:embed/>
                </p:oleObj>
              </mc:Choice>
              <mc:Fallback>
                <p:oleObj name="Equation" r:id="rId4" imgW="1307880" imgH="431640" progId="Equation.DSMT4">
                  <p:embed/>
                  <p:pic>
                    <p:nvPicPr>
                      <p:cNvPr id="17" name="对象 16"/>
                      <p:cNvPicPr/>
                      <p:nvPr/>
                    </p:nvPicPr>
                    <p:blipFill>
                      <a:blip r:embed="rId5"/>
                      <a:stretch>
                        <a:fillRect/>
                      </a:stretch>
                    </p:blipFill>
                    <p:spPr>
                      <a:xfrm>
                        <a:off x="5813659" y="964663"/>
                        <a:ext cx="2082800" cy="687387"/>
                      </a:xfrm>
                      <a:prstGeom prst="rect">
                        <a:avLst/>
                      </a:prstGeom>
                      <a:noFill/>
                    </p:spPr>
                  </p:pic>
                </p:oleObj>
              </mc:Fallback>
            </mc:AlternateContent>
          </a:graphicData>
        </a:graphic>
      </p:graphicFrame>
      <p:graphicFrame>
        <p:nvGraphicFramePr>
          <p:cNvPr id="8" name="对象 7">
            <a:extLst>
              <a:ext uri="{FF2B5EF4-FFF2-40B4-BE49-F238E27FC236}">
                <a16:creationId xmlns:a16="http://schemas.microsoft.com/office/drawing/2014/main" id="{E9375F67-B9DA-1976-5153-D0390F756E3D}"/>
              </a:ext>
            </a:extLst>
          </p:cNvPr>
          <p:cNvGraphicFramePr>
            <a:graphicFrameLocks noChangeAspect="1"/>
          </p:cNvGraphicFramePr>
          <p:nvPr>
            <p:extLst>
              <p:ext uri="{D42A27DB-BD31-4B8C-83A1-F6EECF244321}">
                <p14:modId xmlns:p14="http://schemas.microsoft.com/office/powerpoint/2010/main" val="1888891596"/>
              </p:ext>
            </p:extLst>
          </p:nvPr>
        </p:nvGraphicFramePr>
        <p:xfrm>
          <a:off x="5813659" y="1863146"/>
          <a:ext cx="2438437" cy="422195"/>
        </p:xfrm>
        <a:graphic>
          <a:graphicData uri="http://schemas.openxmlformats.org/presentationml/2006/ole">
            <mc:AlternateContent xmlns:mc="http://schemas.openxmlformats.org/markup-compatibility/2006">
              <mc:Choice xmlns:v="urn:schemas-microsoft-com:vml" Requires="v">
                <p:oleObj name="Equation" r:id="rId6" imgW="1320480" imgH="228600" progId="Equation.DSMT4">
                  <p:embed/>
                </p:oleObj>
              </mc:Choice>
              <mc:Fallback>
                <p:oleObj name="Equation" r:id="rId6" imgW="1320480" imgH="228600" progId="Equation.DSMT4">
                  <p:embed/>
                  <p:pic>
                    <p:nvPicPr>
                      <p:cNvPr id="17" name="对象 16"/>
                      <p:cNvPicPr>
                        <a:picLocks noChangeAspect="1" noChangeArrowheads="1"/>
                      </p:cNvPicPr>
                      <p:nvPr/>
                    </p:nvPicPr>
                    <p:blipFill>
                      <a:blip r:embed="rId7"/>
                      <a:srcRect/>
                      <a:stretch>
                        <a:fillRect/>
                      </a:stretch>
                    </p:blipFill>
                    <p:spPr bwMode="auto">
                      <a:xfrm>
                        <a:off x="5813659" y="1863146"/>
                        <a:ext cx="2438437" cy="422195"/>
                      </a:xfrm>
                      <a:prstGeom prst="rect">
                        <a:avLst/>
                      </a:prstGeom>
                      <a:noFill/>
                      <a:ln>
                        <a:noFill/>
                      </a:ln>
                    </p:spPr>
                  </p:pic>
                </p:oleObj>
              </mc:Fallback>
            </mc:AlternateContent>
          </a:graphicData>
        </a:graphic>
      </p:graphicFrame>
      <p:graphicFrame>
        <p:nvGraphicFramePr>
          <p:cNvPr id="9" name="对象 8">
            <a:extLst>
              <a:ext uri="{FF2B5EF4-FFF2-40B4-BE49-F238E27FC236}">
                <a16:creationId xmlns:a16="http://schemas.microsoft.com/office/drawing/2014/main" id="{5603140B-215D-3CE6-BAEC-26D24657008E}"/>
              </a:ext>
            </a:extLst>
          </p:cNvPr>
          <p:cNvGraphicFramePr>
            <a:graphicFrameLocks noChangeAspect="1"/>
          </p:cNvGraphicFramePr>
          <p:nvPr>
            <p:extLst>
              <p:ext uri="{D42A27DB-BD31-4B8C-83A1-F6EECF244321}">
                <p14:modId xmlns:p14="http://schemas.microsoft.com/office/powerpoint/2010/main" val="983025236"/>
              </p:ext>
            </p:extLst>
          </p:nvPr>
        </p:nvGraphicFramePr>
        <p:xfrm>
          <a:off x="1493748" y="3202398"/>
          <a:ext cx="1246710" cy="349448"/>
        </p:xfrm>
        <a:graphic>
          <a:graphicData uri="http://schemas.openxmlformats.org/presentationml/2006/ole">
            <mc:AlternateContent xmlns:mc="http://schemas.openxmlformats.org/markup-compatibility/2006">
              <mc:Choice xmlns:v="urn:schemas-microsoft-com:vml" Requires="v">
                <p:oleObj name="Equation" r:id="rId8" imgW="748975" imgH="203112" progId="Equation.DSMT4">
                  <p:embed/>
                </p:oleObj>
              </mc:Choice>
              <mc:Fallback>
                <p:oleObj name="Equation" r:id="rId8" imgW="748975" imgH="203112"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93748" y="3202398"/>
                        <a:ext cx="1246710" cy="349448"/>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D464179B-1269-44B3-9F61-57ECB8A3BF44}"/>
              </a:ext>
            </a:extLst>
          </p:cNvPr>
          <p:cNvGraphicFramePr>
            <a:graphicFrameLocks noChangeAspect="1"/>
          </p:cNvGraphicFramePr>
          <p:nvPr>
            <p:extLst>
              <p:ext uri="{D42A27DB-BD31-4B8C-83A1-F6EECF244321}">
                <p14:modId xmlns:p14="http://schemas.microsoft.com/office/powerpoint/2010/main" val="4126897935"/>
              </p:ext>
            </p:extLst>
          </p:nvPr>
        </p:nvGraphicFramePr>
        <p:xfrm>
          <a:off x="1027253" y="3634864"/>
          <a:ext cx="2363165" cy="590550"/>
        </p:xfrm>
        <a:graphic>
          <a:graphicData uri="http://schemas.openxmlformats.org/presentationml/2006/ole">
            <mc:AlternateContent xmlns:mc="http://schemas.openxmlformats.org/markup-compatibility/2006">
              <mc:Choice xmlns:v="urn:schemas-microsoft-com:vml" Requires="v">
                <p:oleObj name="Equation" r:id="rId10" imgW="1651000" imgH="393700" progId="Equation.DSMT4">
                  <p:embed/>
                </p:oleObj>
              </mc:Choice>
              <mc:Fallback>
                <p:oleObj name="Equation" r:id="rId10" imgW="1651000" imgH="3937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7253" y="3634864"/>
                        <a:ext cx="2363165" cy="590550"/>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6A8786F4-1D83-9B7C-8BCE-AAB984FD3E7B}"/>
              </a:ext>
            </a:extLst>
          </p:cNvPr>
          <p:cNvGraphicFramePr>
            <a:graphicFrameLocks noChangeAspect="1"/>
          </p:cNvGraphicFramePr>
          <p:nvPr>
            <p:extLst>
              <p:ext uri="{D42A27DB-BD31-4B8C-83A1-F6EECF244321}">
                <p14:modId xmlns:p14="http://schemas.microsoft.com/office/powerpoint/2010/main" val="2108824895"/>
              </p:ext>
            </p:extLst>
          </p:nvPr>
        </p:nvGraphicFramePr>
        <p:xfrm>
          <a:off x="4572000" y="3062379"/>
          <a:ext cx="2320965" cy="489467"/>
        </p:xfrm>
        <a:graphic>
          <a:graphicData uri="http://schemas.openxmlformats.org/presentationml/2006/ole">
            <mc:AlternateContent xmlns:mc="http://schemas.openxmlformats.org/markup-compatibility/2006">
              <mc:Choice xmlns:v="urn:schemas-microsoft-com:vml" Requires="v">
                <p:oleObj name="Equation" r:id="rId12" imgW="2095500" imgH="419100" progId="Equation.DSMT4">
                  <p:embed/>
                </p:oleObj>
              </mc:Choice>
              <mc:Fallback>
                <p:oleObj name="Equation" r:id="rId12" imgW="2095500" imgH="419100" progId="Equation.DSMT4">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3062379"/>
                        <a:ext cx="2320965" cy="489467"/>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31809019-429D-C78B-C3E6-3C0FF26F0851}"/>
              </a:ext>
            </a:extLst>
          </p:cNvPr>
          <p:cNvGraphicFramePr>
            <a:graphicFrameLocks noChangeAspect="1"/>
          </p:cNvGraphicFramePr>
          <p:nvPr>
            <p:extLst>
              <p:ext uri="{D42A27DB-BD31-4B8C-83A1-F6EECF244321}">
                <p14:modId xmlns:p14="http://schemas.microsoft.com/office/powerpoint/2010/main" val="2695765335"/>
              </p:ext>
            </p:extLst>
          </p:nvPr>
        </p:nvGraphicFramePr>
        <p:xfrm>
          <a:off x="4571999" y="3782272"/>
          <a:ext cx="2363165" cy="489467"/>
        </p:xfrm>
        <a:graphic>
          <a:graphicData uri="http://schemas.openxmlformats.org/presentationml/2006/ole">
            <mc:AlternateContent xmlns:mc="http://schemas.openxmlformats.org/markup-compatibility/2006">
              <mc:Choice xmlns:v="urn:schemas-microsoft-com:vml" Requires="v">
                <p:oleObj name="Equation" r:id="rId14" imgW="2133600" imgH="419100" progId="Equation.DSMT4">
                  <p:embed/>
                </p:oleObj>
              </mc:Choice>
              <mc:Fallback>
                <p:oleObj name="Equation" r:id="rId14" imgW="2133600" imgH="419100" progId="Equation.DSMT4">
                  <p:embed/>
                  <p:pic>
                    <p:nvPicPr>
                      <p:cNvPr id="0"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1999" y="3782272"/>
                        <a:ext cx="2363165" cy="489467"/>
                      </a:xfrm>
                      <a:prstGeom prst="rect">
                        <a:avLst/>
                      </a:prstGeom>
                      <a:noFill/>
                    </p:spPr>
                  </p:pic>
                </p:oleObj>
              </mc:Fallback>
            </mc:AlternateContent>
          </a:graphicData>
        </a:graphic>
      </p:graphicFrame>
      <p:graphicFrame>
        <p:nvGraphicFramePr>
          <p:cNvPr id="13" name="对象 12">
            <a:extLst>
              <a:ext uri="{FF2B5EF4-FFF2-40B4-BE49-F238E27FC236}">
                <a16:creationId xmlns:a16="http://schemas.microsoft.com/office/drawing/2014/main" id="{CAD3A4C1-6C63-96EC-285C-47E9CACB5356}"/>
              </a:ext>
            </a:extLst>
          </p:cNvPr>
          <p:cNvGraphicFramePr>
            <a:graphicFrameLocks noChangeAspect="1"/>
          </p:cNvGraphicFramePr>
          <p:nvPr>
            <p:extLst>
              <p:ext uri="{D42A27DB-BD31-4B8C-83A1-F6EECF244321}">
                <p14:modId xmlns:p14="http://schemas.microsoft.com/office/powerpoint/2010/main" val="3324564978"/>
              </p:ext>
            </p:extLst>
          </p:nvPr>
        </p:nvGraphicFramePr>
        <p:xfrm>
          <a:off x="3132750" y="5182446"/>
          <a:ext cx="3118178" cy="615553"/>
        </p:xfrm>
        <a:graphic>
          <a:graphicData uri="http://schemas.openxmlformats.org/presentationml/2006/ole">
            <mc:AlternateContent xmlns:mc="http://schemas.openxmlformats.org/markup-compatibility/2006">
              <mc:Choice xmlns:v="urn:schemas-microsoft-com:vml" Requires="v">
                <p:oleObj name="Equation" r:id="rId16" imgW="2082800" imgH="393700" progId="Equation.DSMT4">
                  <p:embed/>
                </p:oleObj>
              </mc:Choice>
              <mc:Fallback>
                <p:oleObj name="Equation" r:id="rId16" imgW="2082800" imgH="3937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2750" y="5182446"/>
                        <a:ext cx="3118178" cy="615553"/>
                      </a:xfrm>
                      <a:prstGeom prst="rect">
                        <a:avLst/>
                      </a:prstGeom>
                      <a:noFill/>
                    </p:spPr>
                  </p:pic>
                </p:oleObj>
              </mc:Fallback>
            </mc:AlternateContent>
          </a:graphicData>
        </a:graphic>
      </p:graphicFrame>
      <p:sp>
        <p:nvSpPr>
          <p:cNvPr id="14" name="Rectangle 8">
            <a:extLst>
              <a:ext uri="{FF2B5EF4-FFF2-40B4-BE49-F238E27FC236}">
                <a16:creationId xmlns:a16="http://schemas.microsoft.com/office/drawing/2014/main" id="{611F356E-85F5-BB39-8310-606646B0563D}"/>
              </a:ext>
            </a:extLst>
          </p:cNvPr>
          <p:cNvSpPr>
            <a:spLocks noChangeArrowheads="1"/>
          </p:cNvSpPr>
          <p:nvPr/>
        </p:nvSpPr>
        <p:spPr bwMode="auto">
          <a:xfrm>
            <a:off x="847544" y="2105094"/>
            <a:ext cx="867184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9" name="Rectangle 13">
            <a:extLst>
              <a:ext uri="{FF2B5EF4-FFF2-40B4-BE49-F238E27FC236}">
                <a16:creationId xmlns:a16="http://schemas.microsoft.com/office/drawing/2014/main" id="{F0D0C3D9-F56C-A8F9-D99B-10990A57FF2C}"/>
              </a:ext>
            </a:extLst>
          </p:cNvPr>
          <p:cNvSpPr>
            <a:spLocks noChangeArrowheads="1"/>
          </p:cNvSpPr>
          <p:nvPr/>
        </p:nvSpPr>
        <p:spPr bwMode="auto">
          <a:xfrm>
            <a:off x="847544" y="5902593"/>
            <a:ext cx="8671841"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zh-CN" sz="1000" b="0" i="0" u="none" strike="noStrike" cap="none" normalizeH="0" baseline="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br>
            <a:endParaRPr kumimoji="0" lang="en-US" altLang="zh-CN" sz="6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95664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187079-F2E6-49D7-1482-1FB48F3F1D98}"/>
              </a:ext>
            </a:extLst>
          </p:cNvPr>
          <p:cNvSpPr txBox="1"/>
          <p:nvPr/>
        </p:nvSpPr>
        <p:spPr>
          <a:xfrm>
            <a:off x="252662" y="922738"/>
            <a:ext cx="8171848" cy="2862322"/>
          </a:xfrm>
          <a:prstGeom prst="rect">
            <a:avLst/>
          </a:prstGeom>
          <a:noFill/>
        </p:spPr>
        <p:txBody>
          <a:bodyPr wrap="square">
            <a:spAutoFit/>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adiabatic thermoelastic effect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describes the change in temperature with pressure for a brittle solid when it is loaded rapidly (i.e., the rate of loading is much more rapid than the rate of heat transfer). this effect has been use to measure the stresses that develop around defects in composite materials using cyclic loading and a high-speed thermal imaging camera. </a:t>
            </a:r>
          </a:p>
          <a:p>
            <a:pPr algn="just"/>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Using Maxwell relations</a:t>
            </a:r>
            <a:r>
              <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derive an expression for the adiabatic thermoelastic effect. Estimate the change in temperature for one mole of alumina that is loaded to 500 MPa.</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02181F14-5DA6-0D96-158D-11867123439C}"/>
              </a:ext>
            </a:extLst>
          </p:cNvPr>
          <p:cNvSpPr txBox="1"/>
          <p:nvPr/>
        </p:nvSpPr>
        <p:spPr>
          <a:xfrm>
            <a:off x="2059804" y="128155"/>
            <a:ext cx="4557563" cy="461665"/>
          </a:xfrm>
          <a:prstGeom prst="rect">
            <a:avLst/>
          </a:prstGeom>
          <a:noFill/>
        </p:spPr>
        <p:txBody>
          <a:bodyPr wrap="square">
            <a:spAutoFit/>
          </a:bodyPr>
          <a:lstStyle/>
          <a:p>
            <a:pPr algn="l"/>
            <a:r>
              <a:rPr lang="en-US" altLang="zh-CN" sz="2400" b="0" i="0" dirty="0">
                <a:solidFill>
                  <a:srgbClr val="FF0000"/>
                </a:solidFill>
                <a:effectLst/>
                <a:latin typeface="Roboto" panose="02000000000000000000" pitchFamily="2" charset="0"/>
              </a:rPr>
              <a:t>Adiabatic Thermoelastic Effect</a:t>
            </a:r>
          </a:p>
        </p:txBody>
      </p:sp>
      <p:sp>
        <p:nvSpPr>
          <p:cNvPr id="8" name="Rectangle 2">
            <a:extLst>
              <a:ext uri="{FF2B5EF4-FFF2-40B4-BE49-F238E27FC236}">
                <a16:creationId xmlns:a16="http://schemas.microsoft.com/office/drawing/2014/main" id="{434CF0C7-D5DE-6720-2EEE-1152DCD49DE3}"/>
              </a:ext>
            </a:extLst>
          </p:cNvPr>
          <p:cNvSpPr>
            <a:spLocks noChangeArrowheads="1"/>
          </p:cNvSpPr>
          <p:nvPr/>
        </p:nvSpPr>
        <p:spPr bwMode="auto">
          <a:xfrm>
            <a:off x="291161" y="4159708"/>
            <a:ext cx="796731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The problem requires calculation of the variation in temperature with pressure at constant entropy-that is, </a:t>
            </a:r>
            <a:endParaRPr kumimoji="0" lang="en-US" altLang="zh-CN" sz="4000" b="0" i="0" u="none" strike="noStrike" cap="none" normalizeH="0" baseline="0" dirty="0">
              <a:ln>
                <a:noFill/>
              </a:ln>
              <a:solidFill>
                <a:schemeClr val="tx1"/>
              </a:solidFill>
              <a:effectLst/>
              <a:latin typeface="Arial" panose="020B0604020202020204" pitchFamily="34" charset="0"/>
            </a:endParaRPr>
          </a:p>
        </p:txBody>
      </p:sp>
      <p:graphicFrame>
        <p:nvGraphicFramePr>
          <p:cNvPr id="9" name="对象 8">
            <a:extLst>
              <a:ext uri="{FF2B5EF4-FFF2-40B4-BE49-F238E27FC236}">
                <a16:creationId xmlns:a16="http://schemas.microsoft.com/office/drawing/2014/main" id="{AFADF528-A9F6-1766-AF9A-2BC0E4A0EF3E}"/>
              </a:ext>
            </a:extLst>
          </p:cNvPr>
          <p:cNvGraphicFramePr>
            <a:graphicFrameLocks noChangeAspect="1"/>
          </p:cNvGraphicFramePr>
          <p:nvPr>
            <p:extLst>
              <p:ext uri="{D42A27DB-BD31-4B8C-83A1-F6EECF244321}">
                <p14:modId xmlns:p14="http://schemas.microsoft.com/office/powerpoint/2010/main" val="3006356978"/>
              </p:ext>
            </p:extLst>
          </p:nvPr>
        </p:nvGraphicFramePr>
        <p:xfrm>
          <a:off x="3570973" y="4678153"/>
          <a:ext cx="585209" cy="557990"/>
        </p:xfrm>
        <a:graphic>
          <a:graphicData uri="http://schemas.openxmlformats.org/presentationml/2006/ole">
            <mc:AlternateContent xmlns:mc="http://schemas.openxmlformats.org/markup-compatibility/2006">
              <mc:Choice xmlns:v="urn:schemas-microsoft-com:vml" Requires="v">
                <p:oleObj name="Equation" r:id="rId2" imgW="406048" imgH="393359" progId="Equation.DSMT4">
                  <p:embed/>
                </p:oleObj>
              </mc:Choice>
              <mc:Fallback>
                <p:oleObj name="Equation" r:id="rId2" imgW="406048" imgH="393359"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0973" y="4678153"/>
                        <a:ext cx="585209" cy="557990"/>
                      </a:xfrm>
                      <a:prstGeom prst="rect">
                        <a:avLst/>
                      </a:prstGeom>
                      <a:solidFill>
                        <a:schemeClr val="accent6"/>
                      </a:solidFill>
                    </p:spPr>
                  </p:pic>
                </p:oleObj>
              </mc:Fallback>
            </mc:AlternateContent>
          </a:graphicData>
        </a:graphic>
      </p:graphicFrame>
      <p:sp>
        <p:nvSpPr>
          <p:cNvPr id="10" name="Rectangle 3">
            <a:extLst>
              <a:ext uri="{FF2B5EF4-FFF2-40B4-BE49-F238E27FC236}">
                <a16:creationId xmlns:a16="http://schemas.microsoft.com/office/drawing/2014/main" id="{5E5709A2-F977-0F38-99CA-D97A10CB9FE0}"/>
              </a:ext>
            </a:extLst>
          </p:cNvPr>
          <p:cNvSpPr>
            <a:spLocks noChangeArrowheads="1"/>
          </p:cNvSpPr>
          <p:nvPr/>
        </p:nvSpPr>
        <p:spPr bwMode="auto">
          <a:xfrm>
            <a:off x="1260909" y="5333097"/>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000" b="0" i="0" u="none" strike="noStrike" cap="none" normalizeH="0" baseline="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684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BF3FB95E-C043-2691-7994-05F689B6FF34}"/>
              </a:ext>
            </a:extLst>
          </p:cNvPr>
          <p:cNvGraphicFramePr>
            <a:graphicFrameLocks noChangeAspect="1"/>
          </p:cNvGraphicFramePr>
          <p:nvPr>
            <p:extLst>
              <p:ext uri="{D42A27DB-BD31-4B8C-83A1-F6EECF244321}">
                <p14:modId xmlns:p14="http://schemas.microsoft.com/office/powerpoint/2010/main" val="1403484310"/>
              </p:ext>
            </p:extLst>
          </p:nvPr>
        </p:nvGraphicFramePr>
        <p:xfrm>
          <a:off x="5351645" y="1352805"/>
          <a:ext cx="3313705" cy="620374"/>
        </p:xfrm>
        <a:graphic>
          <a:graphicData uri="http://schemas.openxmlformats.org/presentationml/2006/ole">
            <mc:AlternateContent xmlns:mc="http://schemas.openxmlformats.org/markup-compatibility/2006">
              <mc:Choice xmlns:v="urn:schemas-microsoft-com:vml" Requires="v">
                <p:oleObj name="Equation" r:id="rId2" imgW="2082800" imgH="393700" progId="Equation.DSMT4">
                  <p:embed/>
                </p:oleObj>
              </mc:Choice>
              <mc:Fallback>
                <p:oleObj name="Equation" r:id="rId2" imgW="2082800" imgH="393700" progId="Equation.DSMT4">
                  <p:embed/>
                  <p:pic>
                    <p:nvPicPr>
                      <p:cNvPr id="5" name="对象 4">
                        <a:extLst>
                          <a:ext uri="{FF2B5EF4-FFF2-40B4-BE49-F238E27FC236}">
                            <a16:creationId xmlns:a16="http://schemas.microsoft.com/office/drawing/2014/main" id="{1233D165-D9F2-9182-EC1D-A38240C468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645" y="1352805"/>
                        <a:ext cx="3313705" cy="620374"/>
                      </a:xfrm>
                      <a:prstGeom prst="rect">
                        <a:avLst/>
                      </a:prstGeom>
                      <a:noFill/>
                    </p:spPr>
                  </p:pic>
                </p:oleObj>
              </mc:Fallback>
            </mc:AlternateContent>
          </a:graphicData>
        </a:graphic>
      </p:graphicFrame>
      <p:graphicFrame>
        <p:nvGraphicFramePr>
          <p:cNvPr id="3" name="对象 2">
            <a:extLst>
              <a:ext uri="{FF2B5EF4-FFF2-40B4-BE49-F238E27FC236}">
                <a16:creationId xmlns:a16="http://schemas.microsoft.com/office/drawing/2014/main" id="{AABA3CF2-55C8-FB2A-56F7-70E726ECBBFF}"/>
              </a:ext>
            </a:extLst>
          </p:cNvPr>
          <p:cNvGraphicFramePr>
            <a:graphicFrameLocks noChangeAspect="1"/>
          </p:cNvGraphicFramePr>
          <p:nvPr>
            <p:extLst>
              <p:ext uri="{D42A27DB-BD31-4B8C-83A1-F6EECF244321}">
                <p14:modId xmlns:p14="http://schemas.microsoft.com/office/powerpoint/2010/main" val="872215725"/>
              </p:ext>
            </p:extLst>
          </p:nvPr>
        </p:nvGraphicFramePr>
        <p:xfrm>
          <a:off x="5351646" y="231406"/>
          <a:ext cx="2082800" cy="687387"/>
        </p:xfrm>
        <a:graphic>
          <a:graphicData uri="http://schemas.openxmlformats.org/presentationml/2006/ole">
            <mc:AlternateContent xmlns:mc="http://schemas.openxmlformats.org/markup-compatibility/2006">
              <mc:Choice xmlns:v="urn:schemas-microsoft-com:vml" Requires="v">
                <p:oleObj name="Equation" r:id="rId4" imgW="1307880" imgH="431640" progId="Equation.DSMT4">
                  <p:embed/>
                </p:oleObj>
              </mc:Choice>
              <mc:Fallback>
                <p:oleObj name="Equation" r:id="rId4" imgW="1307880" imgH="431640" progId="Equation.DSMT4">
                  <p:embed/>
                  <p:pic>
                    <p:nvPicPr>
                      <p:cNvPr id="6" name="对象 5">
                        <a:extLst>
                          <a:ext uri="{FF2B5EF4-FFF2-40B4-BE49-F238E27FC236}">
                            <a16:creationId xmlns:a16="http://schemas.microsoft.com/office/drawing/2014/main" id="{F127E7C4-0BB4-15BE-33F6-D90A89B91AFA}"/>
                          </a:ext>
                        </a:extLst>
                      </p:cNvPr>
                      <p:cNvPicPr/>
                      <p:nvPr/>
                    </p:nvPicPr>
                    <p:blipFill>
                      <a:blip r:embed="rId5"/>
                      <a:stretch>
                        <a:fillRect/>
                      </a:stretch>
                    </p:blipFill>
                    <p:spPr>
                      <a:xfrm>
                        <a:off x="5351646" y="231406"/>
                        <a:ext cx="2082800" cy="687387"/>
                      </a:xfrm>
                      <a:prstGeom prst="rect">
                        <a:avLst/>
                      </a:prstGeom>
                      <a:noFill/>
                    </p:spPr>
                  </p:pic>
                </p:oleObj>
              </mc:Fallback>
            </mc:AlternateContent>
          </a:graphicData>
        </a:graphic>
      </p:graphicFrame>
      <p:graphicFrame>
        <p:nvGraphicFramePr>
          <p:cNvPr id="4" name="对象 3">
            <a:extLst>
              <a:ext uri="{FF2B5EF4-FFF2-40B4-BE49-F238E27FC236}">
                <a16:creationId xmlns:a16="http://schemas.microsoft.com/office/drawing/2014/main" id="{F928C3A8-7E52-A198-A2C7-E1776C2533BF}"/>
              </a:ext>
            </a:extLst>
          </p:cNvPr>
          <p:cNvGraphicFramePr>
            <a:graphicFrameLocks noChangeAspect="1"/>
          </p:cNvGraphicFramePr>
          <p:nvPr>
            <p:extLst>
              <p:ext uri="{D42A27DB-BD31-4B8C-83A1-F6EECF244321}">
                <p14:modId xmlns:p14="http://schemas.microsoft.com/office/powerpoint/2010/main" val="352920908"/>
              </p:ext>
            </p:extLst>
          </p:nvPr>
        </p:nvGraphicFramePr>
        <p:xfrm>
          <a:off x="5351646" y="915297"/>
          <a:ext cx="2438437" cy="422195"/>
        </p:xfrm>
        <a:graphic>
          <a:graphicData uri="http://schemas.openxmlformats.org/presentationml/2006/ole">
            <mc:AlternateContent xmlns:mc="http://schemas.openxmlformats.org/markup-compatibility/2006">
              <mc:Choice xmlns:v="urn:schemas-microsoft-com:vml" Requires="v">
                <p:oleObj name="Equation" r:id="rId6" imgW="1320480" imgH="228600" progId="Equation.DSMT4">
                  <p:embed/>
                </p:oleObj>
              </mc:Choice>
              <mc:Fallback>
                <p:oleObj name="Equation" r:id="rId6" imgW="1320480" imgH="228600" progId="Equation.DSMT4">
                  <p:embed/>
                  <p:pic>
                    <p:nvPicPr>
                      <p:cNvPr id="8" name="对象 7">
                        <a:extLst>
                          <a:ext uri="{FF2B5EF4-FFF2-40B4-BE49-F238E27FC236}">
                            <a16:creationId xmlns:a16="http://schemas.microsoft.com/office/drawing/2014/main" id="{E9375F67-B9DA-1976-5153-D0390F756E3D}"/>
                          </a:ext>
                        </a:extLst>
                      </p:cNvPr>
                      <p:cNvPicPr>
                        <a:picLocks noChangeAspect="1" noChangeArrowheads="1"/>
                      </p:cNvPicPr>
                      <p:nvPr/>
                    </p:nvPicPr>
                    <p:blipFill>
                      <a:blip r:embed="rId7"/>
                      <a:srcRect/>
                      <a:stretch>
                        <a:fillRect/>
                      </a:stretch>
                    </p:blipFill>
                    <p:spPr bwMode="auto">
                      <a:xfrm>
                        <a:off x="5351646" y="915297"/>
                        <a:ext cx="2438437" cy="422195"/>
                      </a:xfrm>
                      <a:prstGeom prst="rect">
                        <a:avLst/>
                      </a:prstGeom>
                      <a:noFill/>
                      <a:ln>
                        <a:noFill/>
                      </a:ln>
                    </p:spPr>
                  </p:pic>
                </p:oleObj>
              </mc:Fallback>
            </mc:AlternateContent>
          </a:graphicData>
        </a:graphic>
      </p:graphicFrame>
      <p:graphicFrame>
        <p:nvGraphicFramePr>
          <p:cNvPr id="5" name="对象 4">
            <a:extLst>
              <a:ext uri="{FF2B5EF4-FFF2-40B4-BE49-F238E27FC236}">
                <a16:creationId xmlns:a16="http://schemas.microsoft.com/office/drawing/2014/main" id="{BEC9A029-EAE1-A48E-6782-2323B7A9CFEF}"/>
              </a:ext>
            </a:extLst>
          </p:cNvPr>
          <p:cNvGraphicFramePr>
            <a:graphicFrameLocks noChangeAspect="1"/>
          </p:cNvGraphicFramePr>
          <p:nvPr>
            <p:extLst>
              <p:ext uri="{D42A27DB-BD31-4B8C-83A1-F6EECF244321}">
                <p14:modId xmlns:p14="http://schemas.microsoft.com/office/powerpoint/2010/main" val="2511111476"/>
              </p:ext>
            </p:extLst>
          </p:nvPr>
        </p:nvGraphicFramePr>
        <p:xfrm>
          <a:off x="1550898" y="1655991"/>
          <a:ext cx="585209" cy="557990"/>
        </p:xfrm>
        <a:graphic>
          <a:graphicData uri="http://schemas.openxmlformats.org/presentationml/2006/ole">
            <mc:AlternateContent xmlns:mc="http://schemas.openxmlformats.org/markup-compatibility/2006">
              <mc:Choice xmlns:v="urn:schemas-microsoft-com:vml" Requires="v">
                <p:oleObj name="Equation" r:id="rId8" imgW="406048" imgH="393359" progId="Equation.DSMT4">
                  <p:embed/>
                </p:oleObj>
              </mc:Choice>
              <mc:Fallback>
                <p:oleObj name="Equation" r:id="rId8" imgW="406048" imgH="393359" progId="Equation.DSMT4">
                  <p:embed/>
                  <p:pic>
                    <p:nvPicPr>
                      <p:cNvPr id="9" name="对象 8">
                        <a:extLst>
                          <a:ext uri="{FF2B5EF4-FFF2-40B4-BE49-F238E27FC236}">
                            <a16:creationId xmlns:a16="http://schemas.microsoft.com/office/drawing/2014/main" id="{AFADF528-A9F6-1766-AF9A-2BC0E4A0EF3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50898" y="1655991"/>
                        <a:ext cx="585209" cy="557990"/>
                      </a:xfrm>
                      <a:prstGeom prst="rect">
                        <a:avLst/>
                      </a:prstGeom>
                      <a:solidFill>
                        <a:schemeClr val="accent6"/>
                      </a:solidFill>
                    </p:spPr>
                  </p:pic>
                </p:oleObj>
              </mc:Fallback>
            </mc:AlternateContent>
          </a:graphicData>
        </a:graphic>
      </p:graphicFrame>
      <p:sp>
        <p:nvSpPr>
          <p:cNvPr id="7" name="文本框 6">
            <a:extLst>
              <a:ext uri="{FF2B5EF4-FFF2-40B4-BE49-F238E27FC236}">
                <a16:creationId xmlns:a16="http://schemas.microsoft.com/office/drawing/2014/main" id="{B1A61471-6707-C90F-490A-DACB4FD2B1E4}"/>
              </a:ext>
            </a:extLst>
          </p:cNvPr>
          <p:cNvSpPr txBox="1"/>
          <p:nvPr/>
        </p:nvSpPr>
        <p:spPr>
          <a:xfrm>
            <a:off x="424009" y="647030"/>
            <a:ext cx="4572000" cy="646331"/>
          </a:xfrm>
          <a:prstGeom prst="rect">
            <a:avLst/>
          </a:prstGeom>
          <a:noFill/>
        </p:spPr>
        <p:txBody>
          <a:bodyPr wrap="square">
            <a:spAutoFit/>
          </a:bodyPr>
          <a:lstStyle/>
          <a:p>
            <a:r>
              <a:rPr kumimoji="0" lang="en-US" altLang="zh-CN"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the variation in temperature with pressure at constant entropy-that is</a:t>
            </a:r>
            <a:endParaRPr lang="zh-CN" altLang="en-US" dirty="0"/>
          </a:p>
        </p:txBody>
      </p:sp>
      <p:graphicFrame>
        <p:nvGraphicFramePr>
          <p:cNvPr id="8" name="对象 7">
            <a:extLst>
              <a:ext uri="{FF2B5EF4-FFF2-40B4-BE49-F238E27FC236}">
                <a16:creationId xmlns:a16="http://schemas.microsoft.com/office/drawing/2014/main" id="{C4488220-50A2-0A1C-0812-E53B0811F342}"/>
              </a:ext>
            </a:extLst>
          </p:cNvPr>
          <p:cNvGraphicFramePr>
            <a:graphicFrameLocks noChangeAspect="1"/>
          </p:cNvGraphicFramePr>
          <p:nvPr>
            <p:extLst>
              <p:ext uri="{D42A27DB-BD31-4B8C-83A1-F6EECF244321}">
                <p14:modId xmlns:p14="http://schemas.microsoft.com/office/powerpoint/2010/main" val="532401755"/>
              </p:ext>
            </p:extLst>
          </p:nvPr>
        </p:nvGraphicFramePr>
        <p:xfrm>
          <a:off x="616514" y="3031959"/>
          <a:ext cx="2952029" cy="486077"/>
        </p:xfrm>
        <a:graphic>
          <a:graphicData uri="http://schemas.openxmlformats.org/presentationml/2006/ole">
            <mc:AlternateContent xmlns:mc="http://schemas.openxmlformats.org/markup-compatibility/2006">
              <mc:Choice xmlns:v="urn:schemas-microsoft-com:vml" Requires="v">
                <p:oleObj name="Equation" r:id="rId10" imgW="2374900" imgH="393700" progId="Equation.DSMT4">
                  <p:embed/>
                </p:oleObj>
              </mc:Choice>
              <mc:Fallback>
                <p:oleObj name="Equation" r:id="rId10" imgW="2374900" imgH="393700" progId="Equation.DSMT4">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6514" y="3031959"/>
                        <a:ext cx="2952029" cy="486077"/>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B9BF1412-F1E2-4F41-478B-40143F64A2E6}"/>
              </a:ext>
            </a:extLst>
          </p:cNvPr>
          <p:cNvGraphicFramePr>
            <a:graphicFrameLocks noChangeAspect="1"/>
          </p:cNvGraphicFramePr>
          <p:nvPr>
            <p:extLst>
              <p:ext uri="{D42A27DB-BD31-4B8C-83A1-F6EECF244321}">
                <p14:modId xmlns:p14="http://schemas.microsoft.com/office/powerpoint/2010/main" val="31049156"/>
              </p:ext>
            </p:extLst>
          </p:nvPr>
        </p:nvGraphicFramePr>
        <p:xfrm>
          <a:off x="616514" y="3813009"/>
          <a:ext cx="1802042" cy="486077"/>
        </p:xfrm>
        <a:graphic>
          <a:graphicData uri="http://schemas.openxmlformats.org/presentationml/2006/ole">
            <mc:AlternateContent xmlns:mc="http://schemas.openxmlformats.org/markup-compatibility/2006">
              <mc:Choice xmlns:v="urn:schemas-microsoft-com:vml" Requires="v">
                <p:oleObj name="Equation" r:id="rId12" imgW="1447172" imgH="393529" progId="Equation.DSMT4">
                  <p:embed/>
                </p:oleObj>
              </mc:Choice>
              <mc:Fallback>
                <p:oleObj name="Equation" r:id="rId12" imgW="1447172" imgH="393529" progId="Equation.DSMT4">
                  <p:embed/>
                  <p:pic>
                    <p:nvPicPr>
                      <p:cNvPr id="0" name="Object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6514" y="3813009"/>
                        <a:ext cx="1802042" cy="486077"/>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BC85D948-2CAB-6A93-F59F-7BE6BC8E0BCE}"/>
              </a:ext>
            </a:extLst>
          </p:cNvPr>
          <p:cNvGraphicFramePr>
            <a:graphicFrameLocks noChangeAspect="1"/>
          </p:cNvGraphicFramePr>
          <p:nvPr>
            <p:extLst>
              <p:ext uri="{D42A27DB-BD31-4B8C-83A1-F6EECF244321}">
                <p14:modId xmlns:p14="http://schemas.microsoft.com/office/powerpoint/2010/main" val="2083489344"/>
              </p:ext>
            </p:extLst>
          </p:nvPr>
        </p:nvGraphicFramePr>
        <p:xfrm>
          <a:off x="693516" y="4493647"/>
          <a:ext cx="1149987" cy="486077"/>
        </p:xfrm>
        <a:graphic>
          <a:graphicData uri="http://schemas.openxmlformats.org/presentationml/2006/ole">
            <mc:AlternateContent xmlns:mc="http://schemas.openxmlformats.org/markup-compatibility/2006">
              <mc:Choice xmlns:v="urn:schemas-microsoft-com:vml" Requires="v">
                <p:oleObj name="Equation" r:id="rId14" imgW="926698" imgH="393529" progId="Equation.DSMT4">
                  <p:embed/>
                </p:oleObj>
              </mc:Choice>
              <mc:Fallback>
                <p:oleObj name="Equation" r:id="rId14" imgW="926698" imgH="393529" progId="Equation.DSMT4">
                  <p:embed/>
                  <p:pic>
                    <p:nvPicPr>
                      <p:cNvPr id="0" name="Object 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3516" y="4493647"/>
                        <a:ext cx="1149987" cy="486077"/>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544096A8-20A4-DC43-C057-0ABA7EB89737}"/>
              </a:ext>
            </a:extLst>
          </p:cNvPr>
          <p:cNvGraphicFramePr>
            <a:graphicFrameLocks noChangeAspect="1"/>
          </p:cNvGraphicFramePr>
          <p:nvPr>
            <p:extLst>
              <p:ext uri="{D42A27DB-BD31-4B8C-83A1-F6EECF244321}">
                <p14:modId xmlns:p14="http://schemas.microsoft.com/office/powerpoint/2010/main" val="11231444"/>
              </p:ext>
            </p:extLst>
          </p:nvPr>
        </p:nvGraphicFramePr>
        <p:xfrm>
          <a:off x="693516" y="5003837"/>
          <a:ext cx="1126276" cy="533499"/>
        </p:xfrm>
        <a:graphic>
          <a:graphicData uri="http://schemas.openxmlformats.org/presentationml/2006/ole">
            <mc:AlternateContent xmlns:mc="http://schemas.openxmlformats.org/markup-compatibility/2006">
              <mc:Choice xmlns:v="urn:schemas-microsoft-com:vml" Requires="v">
                <p:oleObj name="Equation" r:id="rId16" imgW="901309" imgH="431613" progId="Equation.DSMT4">
                  <p:embed/>
                </p:oleObj>
              </mc:Choice>
              <mc:Fallback>
                <p:oleObj name="Equation" r:id="rId16" imgW="901309" imgH="431613" progId="Equation.DSMT4">
                  <p:embed/>
                  <p:pic>
                    <p:nvPicPr>
                      <p:cNvPr id="0" name="Object 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93516" y="5003837"/>
                        <a:ext cx="1126276" cy="533499"/>
                      </a:xfrm>
                      <a:prstGeom prst="rect">
                        <a:avLst/>
                      </a:prstGeom>
                      <a:noFill/>
                    </p:spPr>
                  </p:pic>
                </p:oleObj>
              </mc:Fallback>
            </mc:AlternateContent>
          </a:graphicData>
        </a:graphic>
      </p:graphicFrame>
      <p:sp>
        <p:nvSpPr>
          <p:cNvPr id="14" name="Rectangle 7">
            <a:extLst>
              <a:ext uri="{FF2B5EF4-FFF2-40B4-BE49-F238E27FC236}">
                <a16:creationId xmlns:a16="http://schemas.microsoft.com/office/drawing/2014/main" id="{06B3EE85-3389-D5A4-491E-0879A8CB0E88}"/>
              </a:ext>
            </a:extLst>
          </p:cNvPr>
          <p:cNvSpPr>
            <a:spLocks noChangeArrowheads="1"/>
          </p:cNvSpPr>
          <p:nvPr/>
        </p:nvSpPr>
        <p:spPr bwMode="auto">
          <a:xfrm>
            <a:off x="875899" y="4327259"/>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 name="对象 16">
            <a:extLst>
              <a:ext uri="{FF2B5EF4-FFF2-40B4-BE49-F238E27FC236}">
                <a16:creationId xmlns:a16="http://schemas.microsoft.com/office/drawing/2014/main" id="{CFC91A90-0F5F-87E0-C680-CB31E08A1F87}"/>
              </a:ext>
            </a:extLst>
          </p:cNvPr>
          <p:cNvGraphicFramePr>
            <a:graphicFrameLocks noChangeAspect="1"/>
          </p:cNvGraphicFramePr>
          <p:nvPr>
            <p:extLst>
              <p:ext uri="{D42A27DB-BD31-4B8C-83A1-F6EECF244321}">
                <p14:modId xmlns:p14="http://schemas.microsoft.com/office/powerpoint/2010/main" val="3705542129"/>
              </p:ext>
            </p:extLst>
          </p:nvPr>
        </p:nvGraphicFramePr>
        <p:xfrm>
          <a:off x="4511322" y="3619100"/>
          <a:ext cx="969422" cy="538568"/>
        </p:xfrm>
        <a:graphic>
          <a:graphicData uri="http://schemas.openxmlformats.org/presentationml/2006/ole">
            <mc:AlternateContent xmlns:mc="http://schemas.openxmlformats.org/markup-compatibility/2006">
              <mc:Choice xmlns:v="urn:schemas-microsoft-com:vml" Requires="v">
                <p:oleObj name="Equation" r:id="rId18" imgW="774364" imgH="431613" progId="Equation.DSMT4">
                  <p:embed/>
                </p:oleObj>
              </mc:Choice>
              <mc:Fallback>
                <p:oleObj name="Equation" r:id="rId18" imgW="774364" imgH="431613" progId="Equation.DSMT4">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11322" y="3619100"/>
                        <a:ext cx="969422" cy="538568"/>
                      </a:xfrm>
                      <a:prstGeom prst="rect">
                        <a:avLst/>
                      </a:prstGeom>
                      <a:noFill/>
                    </p:spPr>
                  </p:pic>
                </p:oleObj>
              </mc:Fallback>
            </mc:AlternateContent>
          </a:graphicData>
        </a:graphic>
      </p:graphicFrame>
      <p:graphicFrame>
        <p:nvGraphicFramePr>
          <p:cNvPr id="18" name="对象 17">
            <a:extLst>
              <a:ext uri="{FF2B5EF4-FFF2-40B4-BE49-F238E27FC236}">
                <a16:creationId xmlns:a16="http://schemas.microsoft.com/office/drawing/2014/main" id="{221DD349-DB38-FB18-67EB-51974E052564}"/>
              </a:ext>
            </a:extLst>
          </p:cNvPr>
          <p:cNvGraphicFramePr>
            <a:graphicFrameLocks noChangeAspect="1"/>
          </p:cNvGraphicFramePr>
          <p:nvPr>
            <p:extLst>
              <p:ext uri="{D42A27DB-BD31-4B8C-83A1-F6EECF244321}">
                <p14:modId xmlns:p14="http://schemas.microsoft.com/office/powerpoint/2010/main" val="3809925274"/>
              </p:ext>
            </p:extLst>
          </p:nvPr>
        </p:nvGraphicFramePr>
        <p:xfrm>
          <a:off x="4549823" y="4295875"/>
          <a:ext cx="1186834" cy="550593"/>
        </p:xfrm>
        <a:graphic>
          <a:graphicData uri="http://schemas.openxmlformats.org/presentationml/2006/ole">
            <mc:AlternateContent xmlns:mc="http://schemas.openxmlformats.org/markup-compatibility/2006">
              <mc:Choice xmlns:v="urn:schemas-microsoft-com:vml" Requires="v">
                <p:oleObj name="Equation" r:id="rId20" imgW="927100" imgH="431800" progId="Equation.DSMT4">
                  <p:embed/>
                </p:oleObj>
              </mc:Choice>
              <mc:Fallback>
                <p:oleObj name="Equation" r:id="rId20" imgW="927100" imgH="431800" progId="Equation.DSMT4">
                  <p:embed/>
                  <p:pic>
                    <p:nvPicPr>
                      <p:cNvPr id="0" name="Object 1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49823" y="4295875"/>
                        <a:ext cx="1186834" cy="550593"/>
                      </a:xfrm>
                      <a:prstGeom prst="rect">
                        <a:avLst/>
                      </a:prstGeom>
                      <a:noFill/>
                    </p:spPr>
                  </p:pic>
                </p:oleObj>
              </mc:Fallback>
            </mc:AlternateContent>
          </a:graphicData>
        </a:graphic>
      </p:graphicFrame>
      <p:graphicFrame>
        <p:nvGraphicFramePr>
          <p:cNvPr id="19" name="对象 18">
            <a:extLst>
              <a:ext uri="{FF2B5EF4-FFF2-40B4-BE49-F238E27FC236}">
                <a16:creationId xmlns:a16="http://schemas.microsoft.com/office/drawing/2014/main" id="{44691E4B-B2F0-63BE-7845-566E0101780B}"/>
              </a:ext>
            </a:extLst>
          </p:cNvPr>
          <p:cNvGraphicFramePr>
            <a:graphicFrameLocks noChangeAspect="1"/>
          </p:cNvGraphicFramePr>
          <p:nvPr>
            <p:extLst>
              <p:ext uri="{D42A27DB-BD31-4B8C-83A1-F6EECF244321}">
                <p14:modId xmlns:p14="http://schemas.microsoft.com/office/powerpoint/2010/main" val="693040290"/>
              </p:ext>
            </p:extLst>
          </p:nvPr>
        </p:nvGraphicFramePr>
        <p:xfrm>
          <a:off x="4665327" y="5053263"/>
          <a:ext cx="3269712" cy="432034"/>
        </p:xfrm>
        <a:graphic>
          <a:graphicData uri="http://schemas.openxmlformats.org/presentationml/2006/ole">
            <mc:AlternateContent xmlns:mc="http://schemas.openxmlformats.org/markup-compatibility/2006">
              <mc:Choice xmlns:v="urn:schemas-microsoft-com:vml" Requires="v">
                <p:oleObj name="Equation" r:id="rId22" imgW="3175000" imgH="419100" progId="Equation.DSMT4">
                  <p:embed/>
                </p:oleObj>
              </mc:Choice>
              <mc:Fallback>
                <p:oleObj name="Equation" r:id="rId22" imgW="3175000" imgH="419100" progId="Equation.DSMT4">
                  <p:embed/>
                  <p:pic>
                    <p:nvPicPr>
                      <p:cNvPr id="0" name="Object 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665327" y="5053263"/>
                        <a:ext cx="3269712" cy="432034"/>
                      </a:xfrm>
                      <a:prstGeom prst="rect">
                        <a:avLst/>
                      </a:prstGeom>
                      <a:noFill/>
                    </p:spPr>
                  </p:pic>
                </p:oleObj>
              </mc:Fallback>
            </mc:AlternateContent>
          </a:graphicData>
        </a:graphic>
      </p:graphicFrame>
      <p:sp>
        <p:nvSpPr>
          <p:cNvPr id="20" name="Rectangle 13">
            <a:extLst>
              <a:ext uri="{FF2B5EF4-FFF2-40B4-BE49-F238E27FC236}">
                <a16:creationId xmlns:a16="http://schemas.microsoft.com/office/drawing/2014/main" id="{850DCF51-91E2-95C6-9702-3A443F440C62}"/>
              </a:ext>
            </a:extLst>
          </p:cNvPr>
          <p:cNvSpPr>
            <a:spLocks noChangeArrowheads="1"/>
          </p:cNvSpPr>
          <p:nvPr/>
        </p:nvSpPr>
        <p:spPr bwMode="auto">
          <a:xfrm>
            <a:off x="4045945" y="2600947"/>
            <a:ext cx="407777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It is reasonable to assume that Al2O3 is an incompressible solid and that its heat capacity does not vary significantly over small ranges of temperature and pressure.</a:t>
            </a:r>
            <a:endParaRPr kumimoji="0" lang="en-US" altLang="zh-CN"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Thus, the variables can be separated for integration.</a:t>
            </a:r>
            <a:endParaRPr kumimoji="0" lang="en-US" altLang="zh-CN" sz="900" b="0" i="0" u="none" strike="noStrike" cap="none" normalizeH="0" baseline="0" dirty="0">
              <a:ln>
                <a:noFill/>
              </a:ln>
              <a:solidFill>
                <a:schemeClr val="tx1"/>
              </a:solidFill>
              <a:effectLst/>
            </a:endParaRPr>
          </a:p>
        </p:txBody>
      </p:sp>
      <p:sp>
        <p:nvSpPr>
          <p:cNvPr id="21" name="Rectangle 14">
            <a:extLst>
              <a:ext uri="{FF2B5EF4-FFF2-40B4-BE49-F238E27FC236}">
                <a16:creationId xmlns:a16="http://schemas.microsoft.com/office/drawing/2014/main" id="{632B35D8-F59A-4B78-5634-998943D7F715}"/>
              </a:ext>
            </a:extLst>
          </p:cNvPr>
          <p:cNvSpPr>
            <a:spLocks noChangeArrowheads="1"/>
          </p:cNvSpPr>
          <p:nvPr/>
        </p:nvSpPr>
        <p:spPr bwMode="auto">
          <a:xfrm>
            <a:off x="4511322" y="365068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16">
            <a:extLst>
              <a:ext uri="{FF2B5EF4-FFF2-40B4-BE49-F238E27FC236}">
                <a16:creationId xmlns:a16="http://schemas.microsoft.com/office/drawing/2014/main" id="{A5D2C28C-8B08-CF68-804E-EF0418279E9E}"/>
              </a:ext>
            </a:extLst>
          </p:cNvPr>
          <p:cNvSpPr>
            <a:spLocks noChangeArrowheads="1"/>
          </p:cNvSpPr>
          <p:nvPr/>
        </p:nvSpPr>
        <p:spPr bwMode="auto">
          <a:xfrm>
            <a:off x="4511322" y="4965132"/>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4" name="Rectangle 17">
            <a:extLst>
              <a:ext uri="{FF2B5EF4-FFF2-40B4-BE49-F238E27FC236}">
                <a16:creationId xmlns:a16="http://schemas.microsoft.com/office/drawing/2014/main" id="{C683EB2E-6782-C46E-CC6C-422B30395A47}"/>
              </a:ext>
            </a:extLst>
          </p:cNvPr>
          <p:cNvSpPr>
            <a:spLocks noChangeArrowheads="1"/>
          </p:cNvSpPr>
          <p:nvPr/>
        </p:nvSpPr>
        <p:spPr bwMode="auto">
          <a:xfrm>
            <a:off x="4328442" y="5745968"/>
            <a:ext cx="3227389" cy="276999"/>
          </a:xfrm>
          <a:prstGeom prst="rect">
            <a:avLst/>
          </a:prstGeom>
          <a:solidFill>
            <a:schemeClr val="accent2">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Thus T2=299 K and </a:t>
            </a:r>
            <a:r>
              <a:rPr kumimoji="0" lang="en-US" altLang="zh-CN" sz="1200" b="0" i="1"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Δ</a:t>
            </a:r>
            <a:r>
              <a:rPr kumimoji="0" lang="en-US" altLang="zh-CN" sz="12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T=299-298K=1.0K</a:t>
            </a:r>
            <a:endParaRPr kumimoji="0" lang="en-US" altLang="zh-CN"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894435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454613" y="117406"/>
            <a:ext cx="7178676" cy="992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Elastic, Magnetic, electric contribution to the free energy</a:t>
            </a:r>
            <a:endParaRPr lang="en-US" dirty="0">
              <a:solidFill>
                <a:srgbClr val="FF0000"/>
              </a:solidFill>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1381335156"/>
              </p:ext>
            </p:extLst>
          </p:nvPr>
        </p:nvGraphicFramePr>
        <p:xfrm>
          <a:off x="762000" y="1596511"/>
          <a:ext cx="5795151" cy="1189879"/>
        </p:xfrm>
        <a:graphic>
          <a:graphicData uri="http://schemas.openxmlformats.org/presentationml/2006/ole">
            <mc:AlternateContent xmlns:mc="http://schemas.openxmlformats.org/markup-compatibility/2006">
              <mc:Choice xmlns:v="urn:schemas-microsoft-com:vml" Requires="v">
                <p:oleObj name="Equation" r:id="rId2" imgW="3340080" imgH="685800" progId="Equation.DSMT4">
                  <p:embed/>
                </p:oleObj>
              </mc:Choice>
              <mc:Fallback>
                <p:oleObj name="Equation" r:id="rId2" imgW="3340080" imgH="685800" progId="Equation.DSMT4">
                  <p:embed/>
                  <p:pic>
                    <p:nvPicPr>
                      <p:cNvPr id="0" name=""/>
                      <p:cNvPicPr/>
                      <p:nvPr/>
                    </p:nvPicPr>
                    <p:blipFill>
                      <a:blip r:embed="rId3"/>
                      <a:stretch>
                        <a:fillRect/>
                      </a:stretch>
                    </p:blipFill>
                    <p:spPr>
                      <a:xfrm>
                        <a:off x="762000" y="1596511"/>
                        <a:ext cx="5795151" cy="1189879"/>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854987158"/>
              </p:ext>
            </p:extLst>
          </p:nvPr>
        </p:nvGraphicFramePr>
        <p:xfrm>
          <a:off x="2560637" y="2938790"/>
          <a:ext cx="2620963" cy="2297113"/>
        </p:xfrm>
        <a:graphic>
          <a:graphicData uri="http://schemas.openxmlformats.org/presentationml/2006/ole">
            <mc:AlternateContent xmlns:mc="http://schemas.openxmlformats.org/markup-compatibility/2006">
              <mc:Choice xmlns:v="urn:schemas-microsoft-com:vml" Requires="v">
                <p:oleObj name="Equation" r:id="rId4" imgW="1460160" imgH="1282680" progId="Equation.DSMT4">
                  <p:embed/>
                </p:oleObj>
              </mc:Choice>
              <mc:Fallback>
                <p:oleObj name="Equation" r:id="rId4" imgW="1460160" imgH="1282680" progId="Equation.DSMT4">
                  <p:embed/>
                  <p:pic>
                    <p:nvPicPr>
                      <p:cNvPr id="0" name=""/>
                      <p:cNvPicPr/>
                      <p:nvPr/>
                    </p:nvPicPr>
                    <p:blipFill>
                      <a:blip r:embed="rId5"/>
                      <a:stretch>
                        <a:fillRect/>
                      </a:stretch>
                    </p:blipFill>
                    <p:spPr>
                      <a:xfrm>
                        <a:off x="2560637" y="2938790"/>
                        <a:ext cx="2620963" cy="2297113"/>
                      </a:xfrm>
                      <a:prstGeom prst="rect">
                        <a:avLst/>
                      </a:prstGeom>
                    </p:spPr>
                  </p:pic>
                </p:oleObj>
              </mc:Fallback>
            </mc:AlternateContent>
          </a:graphicData>
        </a:graphic>
      </p:graphicFrame>
      <p:sp>
        <p:nvSpPr>
          <p:cNvPr id="16" name="TextBox 15"/>
          <p:cNvSpPr txBox="1"/>
          <p:nvPr/>
        </p:nvSpPr>
        <p:spPr>
          <a:xfrm>
            <a:off x="685800" y="1109990"/>
            <a:ext cx="1469633" cy="369332"/>
          </a:xfrm>
          <a:prstGeom prst="rect">
            <a:avLst/>
          </a:prstGeom>
          <a:noFill/>
        </p:spPr>
        <p:txBody>
          <a:bodyPr wrap="none" rtlCol="0">
            <a:spAutoFit/>
          </a:bodyPr>
          <a:lstStyle/>
          <a:p>
            <a:r>
              <a:rPr lang="en-US" altLang="zh-CN" dirty="0"/>
              <a:t>From first law</a:t>
            </a:r>
            <a:endParaRPr lang="zh-CN" altLang="en-US" dirty="0"/>
          </a:p>
        </p:txBody>
      </p:sp>
      <p:sp>
        <p:nvSpPr>
          <p:cNvPr id="17" name="TextBox 16"/>
          <p:cNvSpPr txBox="1"/>
          <p:nvPr/>
        </p:nvSpPr>
        <p:spPr>
          <a:xfrm>
            <a:off x="1004227" y="2949903"/>
            <a:ext cx="1053173" cy="369332"/>
          </a:xfrm>
          <a:prstGeom prst="rect">
            <a:avLst/>
          </a:prstGeom>
          <a:noFill/>
        </p:spPr>
        <p:txBody>
          <a:bodyPr wrap="none" rtlCol="0">
            <a:spAutoFit/>
          </a:bodyPr>
          <a:lstStyle/>
          <a:p>
            <a:r>
              <a:rPr lang="en-US" altLang="zh-CN" b="1" dirty="0">
                <a:solidFill>
                  <a:srgbClr val="0000FF"/>
                </a:solidFill>
              </a:rPr>
              <a:t>P-V work</a:t>
            </a:r>
            <a:endParaRPr lang="zh-CN" altLang="en-US" b="1" dirty="0">
              <a:solidFill>
                <a:srgbClr val="0000FF"/>
              </a:solidFill>
            </a:endParaRPr>
          </a:p>
        </p:txBody>
      </p:sp>
      <p:sp>
        <p:nvSpPr>
          <p:cNvPr id="18" name="TextBox 17"/>
          <p:cNvSpPr txBox="1"/>
          <p:nvPr/>
        </p:nvSpPr>
        <p:spPr>
          <a:xfrm>
            <a:off x="533400" y="3342571"/>
            <a:ext cx="1592039" cy="369332"/>
          </a:xfrm>
          <a:prstGeom prst="rect">
            <a:avLst/>
          </a:prstGeom>
          <a:noFill/>
        </p:spPr>
        <p:txBody>
          <a:bodyPr wrap="none" rtlCol="0">
            <a:spAutoFit/>
          </a:bodyPr>
          <a:lstStyle/>
          <a:p>
            <a:r>
              <a:rPr lang="en-US" altLang="zh-CN" b="1" dirty="0">
                <a:solidFill>
                  <a:srgbClr val="0000FF"/>
                </a:solidFill>
              </a:rPr>
              <a:t>Chemical work</a:t>
            </a:r>
            <a:endParaRPr lang="zh-CN" altLang="en-US" b="1" dirty="0">
              <a:solidFill>
                <a:srgbClr val="0000FF"/>
              </a:solidFill>
            </a:endParaRPr>
          </a:p>
        </p:txBody>
      </p:sp>
      <p:sp>
        <p:nvSpPr>
          <p:cNvPr id="19" name="TextBox 18"/>
          <p:cNvSpPr txBox="1"/>
          <p:nvPr/>
        </p:nvSpPr>
        <p:spPr>
          <a:xfrm>
            <a:off x="731075" y="3864303"/>
            <a:ext cx="1326325" cy="369332"/>
          </a:xfrm>
          <a:prstGeom prst="rect">
            <a:avLst/>
          </a:prstGeom>
          <a:noFill/>
        </p:spPr>
        <p:txBody>
          <a:bodyPr wrap="none" rtlCol="0">
            <a:spAutoFit/>
          </a:bodyPr>
          <a:lstStyle/>
          <a:p>
            <a:r>
              <a:rPr lang="en-US" altLang="zh-CN" b="1" dirty="0">
                <a:solidFill>
                  <a:srgbClr val="0000FF"/>
                </a:solidFill>
              </a:rPr>
              <a:t>Elastic work</a:t>
            </a:r>
            <a:endParaRPr lang="zh-CN" altLang="en-US" b="1" dirty="0">
              <a:solidFill>
                <a:srgbClr val="0000FF"/>
              </a:solidFill>
            </a:endParaRPr>
          </a:p>
        </p:txBody>
      </p:sp>
      <p:sp>
        <p:nvSpPr>
          <p:cNvPr id="20" name="TextBox 19"/>
          <p:cNvSpPr txBox="1"/>
          <p:nvPr/>
        </p:nvSpPr>
        <p:spPr>
          <a:xfrm>
            <a:off x="516170" y="4387232"/>
            <a:ext cx="1617430" cy="369332"/>
          </a:xfrm>
          <a:prstGeom prst="rect">
            <a:avLst/>
          </a:prstGeom>
          <a:noFill/>
        </p:spPr>
        <p:txBody>
          <a:bodyPr wrap="none" rtlCol="0">
            <a:spAutoFit/>
          </a:bodyPr>
          <a:lstStyle/>
          <a:p>
            <a:r>
              <a:rPr lang="en-US" altLang="zh-CN" b="1" dirty="0">
                <a:solidFill>
                  <a:srgbClr val="0000FF"/>
                </a:solidFill>
              </a:rPr>
              <a:t>Magnetic work</a:t>
            </a:r>
            <a:endParaRPr lang="zh-CN" altLang="en-US" b="1" dirty="0">
              <a:solidFill>
                <a:srgbClr val="0000FF"/>
              </a:solidFill>
            </a:endParaRPr>
          </a:p>
        </p:txBody>
      </p:sp>
      <p:sp>
        <p:nvSpPr>
          <p:cNvPr id="21" name="TextBox 20"/>
          <p:cNvSpPr txBox="1"/>
          <p:nvPr/>
        </p:nvSpPr>
        <p:spPr>
          <a:xfrm>
            <a:off x="716545" y="4866571"/>
            <a:ext cx="1417055" cy="369332"/>
          </a:xfrm>
          <a:prstGeom prst="rect">
            <a:avLst/>
          </a:prstGeom>
          <a:noFill/>
        </p:spPr>
        <p:txBody>
          <a:bodyPr wrap="none" rtlCol="0">
            <a:spAutoFit/>
          </a:bodyPr>
          <a:lstStyle/>
          <a:p>
            <a:r>
              <a:rPr lang="en-US" altLang="zh-CN" b="1" dirty="0">
                <a:solidFill>
                  <a:srgbClr val="0000FF"/>
                </a:solidFill>
              </a:rPr>
              <a:t>Electric work</a:t>
            </a:r>
            <a:endParaRPr lang="zh-CN" altLang="en-US" b="1" dirty="0">
              <a:solidFill>
                <a:srgbClr val="0000FF"/>
              </a:solidFill>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3801487630"/>
              </p:ext>
            </p:extLst>
          </p:nvPr>
        </p:nvGraphicFramePr>
        <p:xfrm>
          <a:off x="1004227" y="5562928"/>
          <a:ext cx="7318375" cy="500062"/>
        </p:xfrm>
        <a:graphic>
          <a:graphicData uri="http://schemas.openxmlformats.org/presentationml/2006/ole">
            <mc:AlternateContent xmlns:mc="http://schemas.openxmlformats.org/markup-compatibility/2006">
              <mc:Choice xmlns:v="urn:schemas-microsoft-com:vml" Requires="v">
                <p:oleObj name="Equation" r:id="rId6" imgW="4076640" imgH="279360" progId="Equation.DSMT4">
                  <p:embed/>
                </p:oleObj>
              </mc:Choice>
              <mc:Fallback>
                <p:oleObj name="Equation" r:id="rId6" imgW="4076640" imgH="279360" progId="Equation.DSMT4">
                  <p:embed/>
                  <p:pic>
                    <p:nvPicPr>
                      <p:cNvPr id="0" name=""/>
                      <p:cNvPicPr>
                        <a:picLocks noChangeAspect="1" noChangeArrowheads="1"/>
                      </p:cNvPicPr>
                      <p:nvPr/>
                    </p:nvPicPr>
                    <p:blipFill>
                      <a:blip r:embed="rId7"/>
                      <a:srcRect/>
                      <a:stretch>
                        <a:fillRect/>
                      </a:stretch>
                    </p:blipFill>
                    <p:spPr bwMode="auto">
                      <a:xfrm>
                        <a:off x="1004227" y="5562928"/>
                        <a:ext cx="7318375" cy="500062"/>
                      </a:xfrm>
                      <a:prstGeom prst="rect">
                        <a:avLst/>
                      </a:prstGeom>
                      <a:noFill/>
                      <a:ln>
                        <a:noFill/>
                      </a:ln>
                    </p:spPr>
                  </p:pic>
                </p:oleObj>
              </mc:Fallback>
            </mc:AlternateContent>
          </a:graphicData>
        </a:graphic>
      </p:graphicFrame>
      <p:sp>
        <p:nvSpPr>
          <p:cNvPr id="23" name="TextBox 22"/>
          <p:cNvSpPr txBox="1"/>
          <p:nvPr/>
        </p:nvSpPr>
        <p:spPr>
          <a:xfrm>
            <a:off x="5487170" y="3875971"/>
            <a:ext cx="2513830" cy="307777"/>
          </a:xfrm>
          <a:prstGeom prst="rect">
            <a:avLst/>
          </a:prstGeom>
          <a:noFill/>
        </p:spPr>
        <p:txBody>
          <a:bodyPr wrap="none" rtlCol="0">
            <a:spAutoFit/>
          </a:bodyPr>
          <a:lstStyle/>
          <a:p>
            <a:r>
              <a:rPr lang="el-GR" altLang="zh-CN" sz="1400" i="1" dirty="0"/>
              <a:t>σ</a:t>
            </a:r>
            <a:r>
              <a:rPr lang="en-US" altLang="zh-CN" sz="1400" i="1" dirty="0"/>
              <a:t> and </a:t>
            </a:r>
            <a:r>
              <a:rPr lang="el-GR" altLang="zh-CN" sz="1400" i="1" dirty="0">
                <a:latin typeface="Sylfaen"/>
              </a:rPr>
              <a:t>ε</a:t>
            </a:r>
            <a:r>
              <a:rPr lang="en-US" altLang="zh-CN" sz="1400" i="1" dirty="0">
                <a:latin typeface="Sylfaen"/>
              </a:rPr>
              <a:t> are the strain and stress</a:t>
            </a:r>
            <a:endParaRPr lang="zh-CN" altLang="en-US" sz="1400" i="1" dirty="0"/>
          </a:p>
        </p:txBody>
      </p:sp>
      <p:sp>
        <p:nvSpPr>
          <p:cNvPr id="24" name="TextBox 23"/>
          <p:cNvSpPr txBox="1"/>
          <p:nvPr/>
        </p:nvSpPr>
        <p:spPr>
          <a:xfrm>
            <a:off x="5476923" y="4331683"/>
            <a:ext cx="2752677" cy="523220"/>
          </a:xfrm>
          <a:prstGeom prst="rect">
            <a:avLst/>
          </a:prstGeom>
          <a:noFill/>
        </p:spPr>
        <p:txBody>
          <a:bodyPr wrap="none" rtlCol="0">
            <a:spAutoFit/>
          </a:bodyPr>
          <a:lstStyle/>
          <a:p>
            <a:r>
              <a:rPr lang="en-US" altLang="zh-CN" sz="1400" i="1" dirty="0"/>
              <a:t>H and </a:t>
            </a:r>
            <a:r>
              <a:rPr lang="en-US" altLang="zh-CN" sz="1400" i="1" dirty="0">
                <a:latin typeface="Sylfaen"/>
              </a:rPr>
              <a:t>B are the magnetic field </a:t>
            </a:r>
          </a:p>
          <a:p>
            <a:r>
              <a:rPr lang="en-US" altLang="zh-CN" sz="1400" i="1" dirty="0">
                <a:latin typeface="Sylfaen"/>
              </a:rPr>
              <a:t>                   strength and induction</a:t>
            </a:r>
          </a:p>
        </p:txBody>
      </p:sp>
      <p:sp>
        <p:nvSpPr>
          <p:cNvPr id="25" name="矩形 24"/>
          <p:cNvSpPr/>
          <p:nvPr/>
        </p:nvSpPr>
        <p:spPr>
          <a:xfrm>
            <a:off x="5428319" y="4854903"/>
            <a:ext cx="3715681" cy="523220"/>
          </a:xfrm>
          <a:prstGeom prst="rect">
            <a:avLst/>
          </a:prstGeom>
        </p:spPr>
        <p:txBody>
          <a:bodyPr wrap="square">
            <a:spAutoFit/>
          </a:bodyPr>
          <a:lstStyle/>
          <a:p>
            <a:r>
              <a:rPr lang="en-US" altLang="zh-CN" sz="1400" i="1" dirty="0">
                <a:latin typeface="Sylfaen"/>
              </a:rPr>
              <a:t>E and D are the electric filed </a:t>
            </a:r>
          </a:p>
          <a:p>
            <a:r>
              <a:rPr lang="en-US" altLang="zh-CN" sz="1400" i="1" dirty="0">
                <a:latin typeface="Sylfaen"/>
              </a:rPr>
              <a:t>                           strength and displacement</a:t>
            </a:r>
            <a:endParaRPr lang="zh-CN" altLang="en-US" sz="1400" i="1" dirty="0"/>
          </a:p>
        </p:txBody>
      </p:sp>
      <p:sp>
        <p:nvSpPr>
          <p:cNvPr id="26" name="TextBox 25"/>
          <p:cNvSpPr txBox="1"/>
          <p:nvPr/>
        </p:nvSpPr>
        <p:spPr>
          <a:xfrm>
            <a:off x="0" y="6033096"/>
            <a:ext cx="6688049" cy="584775"/>
          </a:xfrm>
          <a:prstGeom prst="rect">
            <a:avLst/>
          </a:prstGeom>
          <a:noFill/>
        </p:spPr>
        <p:txBody>
          <a:bodyPr wrap="none" rtlCol="0">
            <a:spAutoFit/>
          </a:bodyPr>
          <a:lstStyle/>
          <a:p>
            <a:r>
              <a:rPr lang="en-US" altLang="zh-CN" sz="1600" dirty="0"/>
              <a:t>Ref. </a:t>
            </a:r>
            <a:r>
              <a:rPr lang="en-US" altLang="zh-CN" sz="1600" dirty="0" err="1"/>
              <a:t>ZiKui</a:t>
            </a:r>
            <a:r>
              <a:rPr lang="en-US" altLang="zh-CN" sz="1600" dirty="0"/>
              <a:t> Liu and Yi Wang,  </a:t>
            </a:r>
          </a:p>
          <a:p>
            <a:r>
              <a:rPr lang="en-US" altLang="zh-CN" sz="1600" dirty="0"/>
              <a:t>computation of thermodynamics of materials</a:t>
            </a:r>
            <a:r>
              <a:rPr lang="zh-CN" altLang="en-US" sz="1600" dirty="0"/>
              <a:t>，</a:t>
            </a:r>
            <a:r>
              <a:rPr lang="en-US" altLang="zh-CN" sz="1600" dirty="0"/>
              <a:t>Cambridge Press, 2016 </a:t>
            </a:r>
            <a:endParaRPr lang="zh-CN" altLang="en-US" sz="1600" dirty="0"/>
          </a:p>
        </p:txBody>
      </p:sp>
    </p:spTree>
    <p:extLst>
      <p:ext uri="{BB962C8B-B14F-4D97-AF65-F5344CB8AC3E}">
        <p14:creationId xmlns:p14="http://schemas.microsoft.com/office/powerpoint/2010/main" val="17799234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bwMode="auto">
          <a:xfrm>
            <a:off x="1365249" y="258307"/>
            <a:ext cx="7178676" cy="653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b="1" dirty="0">
                <a:solidFill>
                  <a:srgbClr val="FF0000"/>
                </a:solidFill>
                <a:effectLst>
                  <a:outerShdw blurRad="38100" dist="38100" dir="2700000" algn="tl">
                    <a:srgbClr val="000000">
                      <a:alpha val="43137"/>
                    </a:srgbClr>
                  </a:outerShdw>
                </a:effectLst>
                <a:latin typeface="Arial" charset="0"/>
                <a:cs typeface="Arial" charset="0"/>
              </a:rPr>
              <a:t>The general Maxwell relations</a:t>
            </a:r>
            <a:endParaRPr lang="en-US" dirty="0">
              <a:solidFill>
                <a:srgbClr val="FF0000"/>
              </a:solidFill>
            </a:endParaRPr>
          </a:p>
        </p:txBody>
      </p:sp>
      <p:graphicFrame>
        <p:nvGraphicFramePr>
          <p:cNvPr id="11" name="对象 10"/>
          <p:cNvGraphicFramePr>
            <a:graphicFrameLocks noChangeAspect="1"/>
          </p:cNvGraphicFramePr>
          <p:nvPr/>
        </p:nvGraphicFramePr>
        <p:xfrm>
          <a:off x="776287" y="2703512"/>
          <a:ext cx="6843713" cy="544513"/>
        </p:xfrm>
        <a:graphic>
          <a:graphicData uri="http://schemas.openxmlformats.org/presentationml/2006/ole">
            <mc:AlternateContent xmlns:mc="http://schemas.openxmlformats.org/markup-compatibility/2006">
              <mc:Choice xmlns:v="urn:schemas-microsoft-com:vml" Requires="v">
                <p:oleObj name="Equation" r:id="rId2" imgW="2234880" imgH="177480" progId="Equation.DSMT4">
                  <p:embed/>
                </p:oleObj>
              </mc:Choice>
              <mc:Fallback>
                <p:oleObj name="Equation" r:id="rId2" imgW="2234880" imgH="177480" progId="Equation.DSMT4">
                  <p:embed/>
                  <p:pic>
                    <p:nvPicPr>
                      <p:cNvPr id="11" name="对象 10"/>
                      <p:cNvPicPr/>
                      <p:nvPr/>
                    </p:nvPicPr>
                    <p:blipFill>
                      <a:blip r:embed="rId3"/>
                      <a:stretch>
                        <a:fillRect/>
                      </a:stretch>
                    </p:blipFill>
                    <p:spPr>
                      <a:xfrm>
                        <a:off x="776287" y="2703512"/>
                        <a:ext cx="6843713" cy="544513"/>
                      </a:xfrm>
                      <a:prstGeom prst="rect">
                        <a:avLst/>
                      </a:prstGeom>
                    </p:spPr>
                  </p:pic>
                </p:oleObj>
              </mc:Fallback>
            </mc:AlternateContent>
          </a:graphicData>
        </a:graphic>
      </p:graphicFrame>
      <p:cxnSp>
        <p:nvCxnSpPr>
          <p:cNvPr id="16" name="直接连接符 15"/>
          <p:cNvCxnSpPr/>
          <p:nvPr/>
        </p:nvCxnSpPr>
        <p:spPr>
          <a:xfrm>
            <a:off x="1827212" y="3313112"/>
            <a:ext cx="98325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4502095" y="3339388"/>
            <a:ext cx="98325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19" name="对象 18"/>
          <p:cNvGraphicFramePr>
            <a:graphicFrameLocks noChangeAspect="1"/>
          </p:cNvGraphicFramePr>
          <p:nvPr/>
        </p:nvGraphicFramePr>
        <p:xfrm>
          <a:off x="1247560" y="3998912"/>
          <a:ext cx="2619375" cy="1030288"/>
        </p:xfrm>
        <a:graphic>
          <a:graphicData uri="http://schemas.openxmlformats.org/presentationml/2006/ole">
            <mc:AlternateContent xmlns:mc="http://schemas.openxmlformats.org/markup-compatibility/2006">
              <mc:Choice xmlns:v="urn:schemas-microsoft-com:vml" Requires="v">
                <p:oleObj name="Equation" r:id="rId4" imgW="1130040" imgH="444240" progId="Equation.DSMT4">
                  <p:embed/>
                </p:oleObj>
              </mc:Choice>
              <mc:Fallback>
                <p:oleObj name="Equation" r:id="rId4" imgW="1130040" imgH="444240" progId="Equation.DSMT4">
                  <p:embed/>
                  <p:pic>
                    <p:nvPicPr>
                      <p:cNvPr id="19" name="对象 18"/>
                      <p:cNvPicPr>
                        <a:picLocks noChangeAspect="1" noChangeArrowheads="1"/>
                      </p:cNvPicPr>
                      <p:nvPr/>
                    </p:nvPicPr>
                    <p:blipFill>
                      <a:blip r:embed="rId5"/>
                      <a:srcRect/>
                      <a:stretch>
                        <a:fillRect/>
                      </a:stretch>
                    </p:blipFill>
                    <p:spPr bwMode="auto">
                      <a:xfrm>
                        <a:off x="1247560" y="3998912"/>
                        <a:ext cx="2619375" cy="1030288"/>
                      </a:xfrm>
                      <a:prstGeom prst="rect">
                        <a:avLst/>
                      </a:prstGeom>
                      <a:noFill/>
                      <a:ln>
                        <a:solidFill>
                          <a:srgbClr val="FF0000"/>
                        </a:solidFill>
                      </a:ln>
                    </p:spPr>
                  </p:pic>
                </p:oleObj>
              </mc:Fallback>
            </mc:AlternateContent>
          </a:graphicData>
        </a:graphic>
      </p:graphicFrame>
      <p:graphicFrame>
        <p:nvGraphicFramePr>
          <p:cNvPr id="20" name="对象 19"/>
          <p:cNvGraphicFramePr>
            <a:graphicFrameLocks noChangeAspect="1"/>
          </p:cNvGraphicFramePr>
          <p:nvPr/>
        </p:nvGraphicFramePr>
        <p:xfrm>
          <a:off x="4516438" y="3998913"/>
          <a:ext cx="2471737" cy="1030287"/>
        </p:xfrm>
        <a:graphic>
          <a:graphicData uri="http://schemas.openxmlformats.org/presentationml/2006/ole">
            <mc:AlternateContent xmlns:mc="http://schemas.openxmlformats.org/markup-compatibility/2006">
              <mc:Choice xmlns:v="urn:schemas-microsoft-com:vml" Requires="v">
                <p:oleObj name="Equation" r:id="rId6" imgW="1066680" imgH="444240" progId="Equation.DSMT4">
                  <p:embed/>
                </p:oleObj>
              </mc:Choice>
              <mc:Fallback>
                <p:oleObj name="Equation" r:id="rId6" imgW="1066680" imgH="444240" progId="Equation.DSMT4">
                  <p:embed/>
                  <p:pic>
                    <p:nvPicPr>
                      <p:cNvPr id="20" name="对象 19"/>
                      <p:cNvPicPr>
                        <a:picLocks noChangeAspect="1" noChangeArrowheads="1"/>
                      </p:cNvPicPr>
                      <p:nvPr/>
                    </p:nvPicPr>
                    <p:blipFill>
                      <a:blip r:embed="rId7"/>
                      <a:srcRect/>
                      <a:stretch>
                        <a:fillRect/>
                      </a:stretch>
                    </p:blipFill>
                    <p:spPr bwMode="auto">
                      <a:xfrm>
                        <a:off x="4516438" y="3998913"/>
                        <a:ext cx="2471737" cy="1030287"/>
                      </a:xfrm>
                      <a:prstGeom prst="rect">
                        <a:avLst/>
                      </a:prstGeom>
                      <a:noFill/>
                      <a:ln>
                        <a:solidFill>
                          <a:srgbClr val="0000FF"/>
                        </a:solidFill>
                      </a:ln>
                    </p:spPr>
                  </p:pic>
                </p:oleObj>
              </mc:Fallback>
            </mc:AlternateContent>
          </a:graphicData>
        </a:graphic>
      </p:graphicFrame>
      <p:cxnSp>
        <p:nvCxnSpPr>
          <p:cNvPr id="21" name="直接连接符 20"/>
          <p:cNvCxnSpPr/>
          <p:nvPr/>
        </p:nvCxnSpPr>
        <p:spPr>
          <a:xfrm>
            <a:off x="3141068" y="3491788"/>
            <a:ext cx="983256"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815951" y="3518064"/>
            <a:ext cx="983256" cy="0"/>
          </a:xfrm>
          <a:prstGeom prst="line">
            <a:avLst/>
          </a:prstGeom>
          <a:ln w="57150">
            <a:solidFill>
              <a:srgbClr val="0000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89636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465216" y="2703492"/>
            <a:ext cx="6957289" cy="954107"/>
          </a:xfrm>
          <a:prstGeom prst="rect">
            <a:avLst/>
          </a:prstGeom>
          <a:noFill/>
        </p:spPr>
        <p:txBody>
          <a:bodyPr wrap="none" rtlCol="0">
            <a:spAutoFit/>
          </a:bodyPr>
          <a:lstStyle/>
          <a:p>
            <a:r>
              <a:rPr lang="en-US" altLang="zh-CN" sz="2800" dirty="0">
                <a:solidFill>
                  <a:srgbClr val="FF0000"/>
                </a:solidFill>
              </a:rPr>
              <a:t>15. The general strategy for the derivation </a:t>
            </a:r>
          </a:p>
          <a:p>
            <a:r>
              <a:rPr lang="en-US" altLang="zh-CN" sz="2800" dirty="0">
                <a:solidFill>
                  <a:srgbClr val="FF0000"/>
                </a:solidFill>
              </a:rPr>
              <a:t>      of thermodynamic relation </a:t>
            </a:r>
          </a:p>
        </p:txBody>
      </p:sp>
      <p:grpSp>
        <p:nvGrpSpPr>
          <p:cNvPr id="11" name="组合 10">
            <a:extLst>
              <a:ext uri="{FF2B5EF4-FFF2-40B4-BE49-F238E27FC236}">
                <a16:creationId xmlns:a16="http://schemas.microsoft.com/office/drawing/2014/main" id="{58DD4CBF-0338-47CF-AF5D-F17ED52F2F8A}"/>
              </a:ext>
            </a:extLst>
          </p:cNvPr>
          <p:cNvGrpSpPr/>
          <p:nvPr/>
        </p:nvGrpSpPr>
        <p:grpSpPr>
          <a:xfrm>
            <a:off x="11509" y="3723620"/>
            <a:ext cx="8991600" cy="144002"/>
            <a:chOff x="11509" y="3723620"/>
            <a:chExt cx="8991600" cy="144002"/>
          </a:xfrm>
        </p:grpSpPr>
        <p:sp>
          <p:nvSpPr>
            <p:cNvPr id="12" name="圆角矩形 4">
              <a:extLst>
                <a:ext uri="{FF2B5EF4-FFF2-40B4-BE49-F238E27FC236}">
                  <a16:creationId xmlns:a16="http://schemas.microsoft.com/office/drawing/2014/main" id="{BBE67C6D-4FA4-4903-A815-112A2F64E376}"/>
                </a:ext>
              </a:extLst>
            </p:cNvPr>
            <p:cNvSpPr/>
            <p:nvPr/>
          </p:nvSpPr>
          <p:spPr>
            <a:xfrm>
              <a:off x="11509" y="3723620"/>
              <a:ext cx="1531344" cy="144001"/>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3" name="圆角矩形 5">
              <a:extLst>
                <a:ext uri="{FF2B5EF4-FFF2-40B4-BE49-F238E27FC236}">
                  <a16:creationId xmlns:a16="http://schemas.microsoft.com/office/drawing/2014/main" id="{3704EA5C-488E-4B4C-8440-6123B3AB38B6}"/>
                </a:ext>
              </a:extLst>
            </p:cNvPr>
            <p:cNvSpPr/>
            <p:nvPr/>
          </p:nvSpPr>
          <p:spPr>
            <a:xfrm>
              <a:off x="1588981" y="3723620"/>
              <a:ext cx="3048000"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6">
              <a:extLst>
                <a:ext uri="{FF2B5EF4-FFF2-40B4-BE49-F238E27FC236}">
                  <a16:creationId xmlns:a16="http://schemas.microsoft.com/office/drawing/2014/main" id="{0167F0F7-B2FB-479A-A271-4BDCA0DC1C5E}"/>
                </a:ext>
              </a:extLst>
            </p:cNvPr>
            <p:cNvSpPr/>
            <p:nvPr/>
          </p:nvSpPr>
          <p:spPr>
            <a:xfrm>
              <a:off x="4683109" y="3723620"/>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a:extLst>
              <a:ext uri="{FF2B5EF4-FFF2-40B4-BE49-F238E27FC236}">
                <a16:creationId xmlns:a16="http://schemas.microsoft.com/office/drawing/2014/main" id="{3757E278-0384-4D91-A5DD-62277626F940}"/>
              </a:ext>
            </a:extLst>
          </p:cNvPr>
          <p:cNvSpPr/>
          <p:nvPr/>
        </p:nvSpPr>
        <p:spPr>
          <a:xfrm>
            <a:off x="1542853" y="3934599"/>
            <a:ext cx="5910370" cy="646331"/>
          </a:xfrm>
          <a:prstGeom prst="rect">
            <a:avLst/>
          </a:prstGeom>
        </p:spPr>
        <p:txBody>
          <a:bodyPr wrap="square">
            <a:spAutoFit/>
          </a:bodyPr>
          <a:lstStyle/>
          <a:p>
            <a:r>
              <a:rPr lang="en-US" altLang="zh-CN" dirty="0"/>
              <a:t>Ref. Robert </a:t>
            </a:r>
            <a:r>
              <a:rPr lang="en-US" altLang="zh-CN" dirty="0" err="1"/>
              <a:t>Dehoff</a:t>
            </a:r>
            <a:r>
              <a:rPr lang="en-US" altLang="zh-CN" dirty="0"/>
              <a:t>, CRC Press, (2006)</a:t>
            </a:r>
          </a:p>
          <a:p>
            <a:r>
              <a:rPr lang="en-US" altLang="zh-CN" dirty="0"/>
              <a:t>Thermodynamics in Materials Science</a:t>
            </a:r>
            <a:r>
              <a:rPr lang="zh-CN" altLang="en-US" dirty="0"/>
              <a:t>： </a:t>
            </a:r>
            <a:r>
              <a:rPr lang="en-US" altLang="zh-CN" dirty="0"/>
              <a:t>Chapter 4 </a:t>
            </a:r>
            <a:endParaRPr lang="zh-CN" altLang="en-US" dirty="0"/>
          </a:p>
        </p:txBody>
      </p:sp>
    </p:spTree>
    <p:extLst>
      <p:ext uri="{BB962C8B-B14F-4D97-AF65-F5344CB8AC3E}">
        <p14:creationId xmlns:p14="http://schemas.microsoft.com/office/powerpoint/2010/main" val="4141191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416330" y="259275"/>
            <a:ext cx="5188536" cy="523220"/>
          </a:xfrm>
          <a:prstGeom prst="rect">
            <a:avLst/>
          </a:prstGeom>
          <a:noFill/>
        </p:spPr>
        <p:txBody>
          <a:bodyPr wrap="none" rtlCol="0">
            <a:spAutoFit/>
          </a:bodyPr>
          <a:lstStyle/>
          <a:p>
            <a:r>
              <a:rPr lang="en-US" altLang="zh-CN" sz="2800" dirty="0">
                <a:solidFill>
                  <a:srgbClr val="FF0000"/>
                </a:solidFill>
              </a:rPr>
              <a:t>Volume relations to the T and P</a:t>
            </a:r>
            <a:endParaRPr lang="zh-CN" altLang="en-US" sz="2800" dirty="0">
              <a:solidFill>
                <a:srgbClr val="FF0000"/>
              </a:solidFill>
            </a:endParaRPr>
          </a:p>
        </p:txBody>
      </p:sp>
      <p:graphicFrame>
        <p:nvGraphicFramePr>
          <p:cNvPr id="10" name="对象 9"/>
          <p:cNvGraphicFramePr>
            <a:graphicFrameLocks noChangeAspect="1"/>
          </p:cNvGraphicFramePr>
          <p:nvPr/>
        </p:nvGraphicFramePr>
        <p:xfrm>
          <a:off x="762000" y="1828800"/>
          <a:ext cx="1346761" cy="434439"/>
        </p:xfrm>
        <a:graphic>
          <a:graphicData uri="http://schemas.openxmlformats.org/presentationml/2006/ole">
            <mc:AlternateContent xmlns:mc="http://schemas.openxmlformats.org/markup-compatibility/2006">
              <mc:Choice xmlns:v="urn:schemas-microsoft-com:vml" Requires="v">
                <p:oleObj name="Equation" r:id="rId2" imgW="787320" imgH="253800" progId="Equation.DSMT4">
                  <p:embed/>
                </p:oleObj>
              </mc:Choice>
              <mc:Fallback>
                <p:oleObj name="Equation" r:id="rId2" imgW="787320" imgH="253800" progId="Equation.DSMT4">
                  <p:embed/>
                  <p:pic>
                    <p:nvPicPr>
                      <p:cNvPr id="10" name="对象 9"/>
                      <p:cNvPicPr/>
                      <p:nvPr/>
                    </p:nvPicPr>
                    <p:blipFill>
                      <a:blip r:embed="rId3"/>
                      <a:stretch>
                        <a:fillRect/>
                      </a:stretch>
                    </p:blipFill>
                    <p:spPr>
                      <a:xfrm>
                        <a:off x="762000" y="1828800"/>
                        <a:ext cx="1346761" cy="434439"/>
                      </a:xfrm>
                      <a:prstGeom prst="rect">
                        <a:avLst/>
                      </a:prstGeom>
                      <a:ln>
                        <a:solidFill>
                          <a:srgbClr val="0000FF"/>
                        </a:solidFill>
                      </a:ln>
                    </p:spPr>
                  </p:pic>
                </p:oleObj>
              </mc:Fallback>
            </mc:AlternateContent>
          </a:graphicData>
        </a:graphic>
      </p:graphicFrame>
      <p:graphicFrame>
        <p:nvGraphicFramePr>
          <p:cNvPr id="11" name="对象 10"/>
          <p:cNvGraphicFramePr>
            <a:graphicFrameLocks noChangeAspect="1"/>
          </p:cNvGraphicFramePr>
          <p:nvPr/>
        </p:nvGraphicFramePr>
        <p:xfrm>
          <a:off x="725487" y="2514600"/>
          <a:ext cx="3084513" cy="762000"/>
        </p:xfrm>
        <a:graphic>
          <a:graphicData uri="http://schemas.openxmlformats.org/presentationml/2006/ole">
            <mc:AlternateContent xmlns:mc="http://schemas.openxmlformats.org/markup-compatibility/2006">
              <mc:Choice xmlns:v="urn:schemas-microsoft-com:vml" Requires="v">
                <p:oleObj name="Equation" r:id="rId4" imgW="1803240" imgH="444240" progId="Equation.DSMT4">
                  <p:embed/>
                </p:oleObj>
              </mc:Choice>
              <mc:Fallback>
                <p:oleObj name="Equation" r:id="rId4" imgW="1803240" imgH="444240" progId="Equation.DSMT4">
                  <p:embed/>
                  <p:pic>
                    <p:nvPicPr>
                      <p:cNvPr id="11" name="对象 10"/>
                      <p:cNvPicPr>
                        <a:picLocks noChangeAspect="1" noChangeArrowheads="1"/>
                      </p:cNvPicPr>
                      <p:nvPr/>
                    </p:nvPicPr>
                    <p:blipFill>
                      <a:blip r:embed="rId5"/>
                      <a:srcRect/>
                      <a:stretch>
                        <a:fillRect/>
                      </a:stretch>
                    </p:blipFill>
                    <p:spPr bwMode="auto">
                      <a:xfrm>
                        <a:off x="725487" y="2514600"/>
                        <a:ext cx="30845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nvGraphicFramePr>
        <p:xfrm>
          <a:off x="725487" y="3581400"/>
          <a:ext cx="3236913" cy="762000"/>
        </p:xfrm>
        <a:graphic>
          <a:graphicData uri="http://schemas.openxmlformats.org/presentationml/2006/ole">
            <mc:AlternateContent xmlns:mc="http://schemas.openxmlformats.org/markup-compatibility/2006">
              <mc:Choice xmlns:v="urn:schemas-microsoft-com:vml" Requires="v">
                <p:oleObj name="Equation" r:id="rId6" imgW="1892160" imgH="444240" progId="Equation.DSMT4">
                  <p:embed/>
                </p:oleObj>
              </mc:Choice>
              <mc:Fallback>
                <p:oleObj name="Equation" r:id="rId6" imgW="1892160" imgH="444240" progId="Equation.DSMT4">
                  <p:embed/>
                  <p:pic>
                    <p:nvPicPr>
                      <p:cNvPr id="12" name="对象 11"/>
                      <p:cNvPicPr>
                        <a:picLocks noChangeAspect="1" noChangeArrowheads="1"/>
                      </p:cNvPicPr>
                      <p:nvPr/>
                    </p:nvPicPr>
                    <p:blipFill>
                      <a:blip r:embed="rId7"/>
                      <a:srcRect/>
                      <a:stretch>
                        <a:fillRect/>
                      </a:stretch>
                    </p:blipFill>
                    <p:spPr bwMode="auto">
                      <a:xfrm>
                        <a:off x="725487" y="3581400"/>
                        <a:ext cx="32369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5163214" y="2579132"/>
          <a:ext cx="1092530" cy="554182"/>
        </p:xfrm>
        <a:graphic>
          <a:graphicData uri="http://schemas.openxmlformats.org/presentationml/2006/ole">
            <mc:AlternateContent xmlns:mc="http://schemas.openxmlformats.org/markup-compatibility/2006">
              <mc:Choice xmlns:v="urn:schemas-microsoft-com:vml" Requires="v">
                <p:oleObj name="Equation" r:id="rId8" imgW="876240" imgH="444240" progId="Equation.DSMT4">
                  <p:embed/>
                </p:oleObj>
              </mc:Choice>
              <mc:Fallback>
                <p:oleObj name="Equation" r:id="rId8" imgW="876240" imgH="444240" progId="Equation.DSMT4">
                  <p:embed/>
                  <p:pic>
                    <p:nvPicPr>
                      <p:cNvPr id="13" name="对象 12"/>
                      <p:cNvPicPr/>
                      <p:nvPr/>
                    </p:nvPicPr>
                    <p:blipFill>
                      <a:blip r:embed="rId9"/>
                      <a:stretch>
                        <a:fillRect/>
                      </a:stretch>
                    </p:blipFill>
                    <p:spPr>
                      <a:xfrm>
                        <a:off x="5163214" y="2579132"/>
                        <a:ext cx="1092530" cy="554182"/>
                      </a:xfrm>
                      <a:prstGeom prst="rect">
                        <a:avLst/>
                      </a:prstGeom>
                    </p:spPr>
                  </p:pic>
                </p:oleObj>
              </mc:Fallback>
            </mc:AlternateContent>
          </a:graphicData>
        </a:graphic>
      </p:graphicFrame>
      <p:sp>
        <p:nvSpPr>
          <p:cNvPr id="14" name="TextBox 13"/>
          <p:cNvSpPr txBox="1"/>
          <p:nvPr/>
        </p:nvSpPr>
        <p:spPr>
          <a:xfrm>
            <a:off x="5029200" y="2057400"/>
            <a:ext cx="3242939" cy="369332"/>
          </a:xfrm>
          <a:prstGeom prst="rect">
            <a:avLst/>
          </a:prstGeom>
          <a:noFill/>
        </p:spPr>
        <p:txBody>
          <a:bodyPr wrap="none" rtlCol="0">
            <a:spAutoFit/>
          </a:bodyPr>
          <a:lstStyle/>
          <a:p>
            <a:r>
              <a:rPr lang="en-US" altLang="zh-CN" i="1" dirty="0"/>
              <a:t>Coefficient of thermal expansion</a:t>
            </a:r>
            <a:endParaRPr lang="zh-CN" altLang="en-US" i="1" dirty="0"/>
          </a:p>
        </p:txBody>
      </p:sp>
      <p:sp>
        <p:nvSpPr>
          <p:cNvPr id="15" name="TextBox 14"/>
          <p:cNvSpPr txBox="1"/>
          <p:nvPr/>
        </p:nvSpPr>
        <p:spPr>
          <a:xfrm>
            <a:off x="5029200" y="3188732"/>
            <a:ext cx="2869055" cy="369332"/>
          </a:xfrm>
          <a:prstGeom prst="rect">
            <a:avLst/>
          </a:prstGeom>
          <a:noFill/>
        </p:spPr>
        <p:txBody>
          <a:bodyPr wrap="none" rtlCol="0">
            <a:spAutoFit/>
          </a:bodyPr>
          <a:lstStyle/>
          <a:p>
            <a:r>
              <a:rPr lang="en-US" altLang="zh-CN" i="1" dirty="0"/>
              <a:t>Coefficient of compressibility</a:t>
            </a:r>
            <a:endParaRPr lang="zh-CN" altLang="en-US" i="1" dirty="0"/>
          </a:p>
        </p:txBody>
      </p:sp>
      <p:graphicFrame>
        <p:nvGraphicFramePr>
          <p:cNvPr id="16" name="对象 15"/>
          <p:cNvGraphicFramePr>
            <a:graphicFrameLocks noChangeAspect="1"/>
          </p:cNvGraphicFramePr>
          <p:nvPr/>
        </p:nvGraphicFramePr>
        <p:xfrm>
          <a:off x="5239744" y="3722131"/>
          <a:ext cx="1176222" cy="514597"/>
        </p:xfrm>
        <a:graphic>
          <a:graphicData uri="http://schemas.openxmlformats.org/presentationml/2006/ole">
            <mc:AlternateContent xmlns:mc="http://schemas.openxmlformats.org/markup-compatibility/2006">
              <mc:Choice xmlns:v="urn:schemas-microsoft-com:vml" Requires="v">
                <p:oleObj name="Equation" r:id="rId10" imgW="1015920" imgH="444240" progId="Equation.DSMT4">
                  <p:embed/>
                </p:oleObj>
              </mc:Choice>
              <mc:Fallback>
                <p:oleObj name="Equation" r:id="rId10" imgW="1015920" imgH="444240" progId="Equation.DSMT4">
                  <p:embed/>
                  <p:pic>
                    <p:nvPicPr>
                      <p:cNvPr id="16" name="对象 15"/>
                      <p:cNvPicPr/>
                      <p:nvPr/>
                    </p:nvPicPr>
                    <p:blipFill>
                      <a:blip r:embed="rId11"/>
                      <a:stretch>
                        <a:fillRect/>
                      </a:stretch>
                    </p:blipFill>
                    <p:spPr>
                      <a:xfrm>
                        <a:off x="5239744" y="3722131"/>
                        <a:ext cx="1176222" cy="51459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2579968" y="5333999"/>
          <a:ext cx="3282456" cy="520535"/>
        </p:xfrm>
        <a:graphic>
          <a:graphicData uri="http://schemas.openxmlformats.org/presentationml/2006/ole">
            <mc:AlternateContent xmlns:mc="http://schemas.openxmlformats.org/markup-compatibility/2006">
              <mc:Choice xmlns:v="urn:schemas-microsoft-com:vml" Requires="v">
                <p:oleObj name="Equation" r:id="rId12" imgW="1282680" imgH="203040" progId="Equation.DSMT4">
                  <p:embed/>
                </p:oleObj>
              </mc:Choice>
              <mc:Fallback>
                <p:oleObj name="Equation" r:id="rId12" imgW="1282680" imgH="203040" progId="Equation.DSMT4">
                  <p:embed/>
                  <p:pic>
                    <p:nvPicPr>
                      <p:cNvPr id="17" name="对象 16"/>
                      <p:cNvPicPr>
                        <a:picLocks noChangeAspect="1" noChangeArrowheads="1"/>
                      </p:cNvPicPr>
                      <p:nvPr/>
                    </p:nvPicPr>
                    <p:blipFill>
                      <a:blip r:embed="rId13"/>
                      <a:srcRect/>
                      <a:stretch>
                        <a:fillRect/>
                      </a:stretch>
                    </p:blipFill>
                    <p:spPr bwMode="auto">
                      <a:xfrm>
                        <a:off x="2579968" y="5333999"/>
                        <a:ext cx="3282456" cy="520535"/>
                      </a:xfrm>
                      <a:prstGeom prst="rect">
                        <a:avLst/>
                      </a:prstGeom>
                      <a:noFill/>
                      <a:ln w="57150">
                        <a:solidFill>
                          <a:srgbClr val="00B050"/>
                        </a:solidFill>
                      </a:ln>
                    </p:spPr>
                  </p:pic>
                </p:oleObj>
              </mc:Fallback>
            </mc:AlternateContent>
          </a:graphicData>
        </a:graphic>
      </p:graphicFrame>
    </p:spTree>
    <p:extLst>
      <p:ext uri="{BB962C8B-B14F-4D97-AF65-F5344CB8AC3E}">
        <p14:creationId xmlns:p14="http://schemas.microsoft.com/office/powerpoint/2010/main" val="932876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306212" y="244759"/>
            <a:ext cx="4786888" cy="523220"/>
          </a:xfrm>
          <a:prstGeom prst="rect">
            <a:avLst/>
          </a:prstGeom>
          <a:noFill/>
        </p:spPr>
        <p:txBody>
          <a:bodyPr wrap="none" rtlCol="0">
            <a:spAutoFit/>
          </a:bodyPr>
          <a:lstStyle/>
          <a:p>
            <a:r>
              <a:rPr lang="en-US" altLang="zh-CN" sz="2800" dirty="0"/>
              <a:t>Entropy relations to the T and P</a:t>
            </a:r>
            <a:endParaRPr lang="zh-CN" altLang="en-US" sz="2800" dirty="0"/>
          </a:p>
        </p:txBody>
      </p:sp>
      <p:graphicFrame>
        <p:nvGraphicFramePr>
          <p:cNvPr id="11" name="对象 10"/>
          <p:cNvGraphicFramePr>
            <a:graphicFrameLocks noChangeAspect="1"/>
          </p:cNvGraphicFramePr>
          <p:nvPr>
            <p:extLst>
              <p:ext uri="{D42A27DB-BD31-4B8C-83A1-F6EECF244321}">
                <p14:modId xmlns:p14="http://schemas.microsoft.com/office/powerpoint/2010/main" val="3911047932"/>
              </p:ext>
            </p:extLst>
          </p:nvPr>
        </p:nvGraphicFramePr>
        <p:xfrm>
          <a:off x="923925" y="1123950"/>
          <a:ext cx="1325563" cy="434975"/>
        </p:xfrm>
        <a:graphic>
          <a:graphicData uri="http://schemas.openxmlformats.org/presentationml/2006/ole">
            <mc:AlternateContent xmlns:mc="http://schemas.openxmlformats.org/markup-compatibility/2006">
              <mc:Choice xmlns:v="urn:schemas-microsoft-com:vml" Requires="v">
                <p:oleObj name="Equation" r:id="rId2" imgW="774360" imgH="253800" progId="Equation.DSMT4">
                  <p:embed/>
                </p:oleObj>
              </mc:Choice>
              <mc:Fallback>
                <p:oleObj name="Equation" r:id="rId2" imgW="774360" imgH="253800" progId="Equation.DSMT4">
                  <p:embed/>
                  <p:pic>
                    <p:nvPicPr>
                      <p:cNvPr id="11" name="对象 10"/>
                      <p:cNvPicPr>
                        <a:picLocks noChangeAspect="1" noChangeArrowheads="1"/>
                      </p:cNvPicPr>
                      <p:nvPr/>
                    </p:nvPicPr>
                    <p:blipFill>
                      <a:blip r:embed="rId3"/>
                      <a:srcRect/>
                      <a:stretch>
                        <a:fillRect/>
                      </a:stretch>
                    </p:blipFill>
                    <p:spPr bwMode="auto">
                      <a:xfrm>
                        <a:off x="923925" y="1123950"/>
                        <a:ext cx="1325563" cy="434975"/>
                      </a:xfrm>
                      <a:prstGeom prst="rect">
                        <a:avLst/>
                      </a:prstGeom>
                      <a:noFill/>
                      <a:ln w="9525">
                        <a:solidFill>
                          <a:srgbClr val="0000FF"/>
                        </a:solidFill>
                        <a:miter lim="800000"/>
                        <a:headEnd/>
                        <a:tailEnd/>
                      </a:ln>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579492476"/>
              </p:ext>
            </p:extLst>
          </p:nvPr>
        </p:nvGraphicFramePr>
        <p:xfrm>
          <a:off x="3433762" y="895350"/>
          <a:ext cx="2976563" cy="762000"/>
        </p:xfrm>
        <a:graphic>
          <a:graphicData uri="http://schemas.openxmlformats.org/presentationml/2006/ole">
            <mc:AlternateContent xmlns:mc="http://schemas.openxmlformats.org/markup-compatibility/2006">
              <mc:Choice xmlns:v="urn:schemas-microsoft-com:vml" Requires="v">
                <p:oleObj name="Equation" r:id="rId4" imgW="1739880" imgH="444240" progId="Equation.DSMT4">
                  <p:embed/>
                </p:oleObj>
              </mc:Choice>
              <mc:Fallback>
                <p:oleObj name="Equation" r:id="rId4" imgW="1739880" imgH="444240" progId="Equation.DSMT4">
                  <p:embed/>
                  <p:pic>
                    <p:nvPicPr>
                      <p:cNvPr id="12" name="对象 11"/>
                      <p:cNvPicPr>
                        <a:picLocks noChangeAspect="1" noChangeArrowheads="1"/>
                      </p:cNvPicPr>
                      <p:nvPr/>
                    </p:nvPicPr>
                    <p:blipFill>
                      <a:blip r:embed="rId5"/>
                      <a:srcRect/>
                      <a:stretch>
                        <a:fillRect/>
                      </a:stretch>
                    </p:blipFill>
                    <p:spPr bwMode="auto">
                      <a:xfrm>
                        <a:off x="3433762" y="895350"/>
                        <a:ext cx="297656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68188018"/>
              </p:ext>
            </p:extLst>
          </p:nvPr>
        </p:nvGraphicFramePr>
        <p:xfrm>
          <a:off x="679450" y="2235200"/>
          <a:ext cx="3368675" cy="1174750"/>
        </p:xfrm>
        <a:graphic>
          <a:graphicData uri="http://schemas.openxmlformats.org/presentationml/2006/ole">
            <mc:AlternateContent xmlns:mc="http://schemas.openxmlformats.org/markup-compatibility/2006">
              <mc:Choice xmlns:v="urn:schemas-microsoft-com:vml" Requires="v">
                <p:oleObj name="Equation" r:id="rId6" imgW="1968480" imgH="685800" progId="Equation.DSMT4">
                  <p:embed/>
                </p:oleObj>
              </mc:Choice>
              <mc:Fallback>
                <p:oleObj name="Equation" r:id="rId6" imgW="1968480" imgH="685800" progId="Equation.DSMT4">
                  <p:embed/>
                  <p:pic>
                    <p:nvPicPr>
                      <p:cNvPr id="14" name="对象 13"/>
                      <p:cNvPicPr>
                        <a:picLocks noChangeAspect="1" noChangeArrowheads="1"/>
                      </p:cNvPicPr>
                      <p:nvPr/>
                    </p:nvPicPr>
                    <p:blipFill>
                      <a:blip r:embed="rId7"/>
                      <a:srcRect/>
                      <a:stretch>
                        <a:fillRect/>
                      </a:stretch>
                    </p:blipFill>
                    <p:spPr bwMode="auto">
                      <a:xfrm>
                        <a:off x="679450" y="2235200"/>
                        <a:ext cx="3368675"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Box 14"/>
          <p:cNvSpPr txBox="1"/>
          <p:nvPr/>
        </p:nvSpPr>
        <p:spPr>
          <a:xfrm>
            <a:off x="695325" y="3650218"/>
            <a:ext cx="2485617" cy="369332"/>
          </a:xfrm>
          <a:prstGeom prst="rect">
            <a:avLst/>
          </a:prstGeom>
          <a:noFill/>
        </p:spPr>
        <p:txBody>
          <a:bodyPr wrap="none" rtlCol="0">
            <a:spAutoFit/>
          </a:bodyPr>
          <a:lstStyle/>
          <a:p>
            <a:r>
              <a:rPr lang="en-US" altLang="zh-CN" dirty="0"/>
              <a:t>For a constant pressure, </a:t>
            </a:r>
            <a:endParaRPr lang="zh-CN" altLang="en-US" dirty="0"/>
          </a:p>
        </p:txBody>
      </p:sp>
      <p:graphicFrame>
        <p:nvGraphicFramePr>
          <p:cNvPr id="16" name="对象 15"/>
          <p:cNvGraphicFramePr>
            <a:graphicFrameLocks noChangeAspect="1"/>
          </p:cNvGraphicFramePr>
          <p:nvPr>
            <p:extLst>
              <p:ext uri="{D42A27DB-BD31-4B8C-83A1-F6EECF244321}">
                <p14:modId xmlns:p14="http://schemas.microsoft.com/office/powerpoint/2010/main" val="4098067880"/>
              </p:ext>
            </p:extLst>
          </p:nvPr>
        </p:nvGraphicFramePr>
        <p:xfrm>
          <a:off x="847725" y="4095750"/>
          <a:ext cx="1393225" cy="856301"/>
        </p:xfrm>
        <a:graphic>
          <a:graphicData uri="http://schemas.openxmlformats.org/presentationml/2006/ole">
            <mc:AlternateContent xmlns:mc="http://schemas.openxmlformats.org/markup-compatibility/2006">
              <mc:Choice xmlns:v="urn:schemas-microsoft-com:vml" Requires="v">
                <p:oleObj name="Equation" r:id="rId8" imgW="1117440" imgH="685800" progId="Equation.DSMT4">
                  <p:embed/>
                </p:oleObj>
              </mc:Choice>
              <mc:Fallback>
                <p:oleObj name="Equation" r:id="rId8" imgW="1117440" imgH="685800" progId="Equation.DSMT4">
                  <p:embed/>
                  <p:pic>
                    <p:nvPicPr>
                      <p:cNvPr id="16" name="对象 15"/>
                      <p:cNvPicPr>
                        <a:picLocks noChangeAspect="1" noChangeArrowheads="1"/>
                      </p:cNvPicPr>
                      <p:nvPr/>
                    </p:nvPicPr>
                    <p:blipFill>
                      <a:blip r:embed="rId9"/>
                      <a:srcRect/>
                      <a:stretch>
                        <a:fillRect/>
                      </a:stretch>
                    </p:blipFill>
                    <p:spPr bwMode="auto">
                      <a:xfrm>
                        <a:off x="847725" y="4095750"/>
                        <a:ext cx="1393225" cy="856301"/>
                      </a:xfrm>
                      <a:prstGeom prst="rect">
                        <a:avLst/>
                      </a:prstGeom>
                      <a:noFill/>
                      <a:ln>
                        <a:no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4073578150"/>
              </p:ext>
            </p:extLst>
          </p:nvPr>
        </p:nvGraphicFramePr>
        <p:xfrm>
          <a:off x="2905125" y="4227368"/>
          <a:ext cx="1170709" cy="630382"/>
        </p:xfrm>
        <a:graphic>
          <a:graphicData uri="http://schemas.openxmlformats.org/presentationml/2006/ole">
            <mc:AlternateContent xmlns:mc="http://schemas.openxmlformats.org/markup-compatibility/2006">
              <mc:Choice xmlns:v="urn:schemas-microsoft-com:vml" Requires="v">
                <p:oleObj name="Equation" r:id="rId10" imgW="825480" imgH="444240" progId="Equation.DSMT4">
                  <p:embed/>
                </p:oleObj>
              </mc:Choice>
              <mc:Fallback>
                <p:oleObj name="Equation" r:id="rId10" imgW="825480" imgH="444240" progId="Equation.DSMT4">
                  <p:embed/>
                  <p:pic>
                    <p:nvPicPr>
                      <p:cNvPr id="17" name="对象 16"/>
                      <p:cNvPicPr/>
                      <p:nvPr/>
                    </p:nvPicPr>
                    <p:blipFill>
                      <a:blip r:embed="rId11"/>
                      <a:stretch>
                        <a:fillRect/>
                      </a:stretch>
                    </p:blipFill>
                    <p:spPr>
                      <a:xfrm>
                        <a:off x="2905125" y="4227368"/>
                        <a:ext cx="1170709" cy="630382"/>
                      </a:xfrm>
                      <a:prstGeom prst="rect">
                        <a:avLst/>
                      </a:prstGeom>
                      <a:ln>
                        <a:solidFill>
                          <a:srgbClr val="FF0000"/>
                        </a:solidFill>
                      </a:ln>
                    </p:spPr>
                  </p:pic>
                </p:oleObj>
              </mc:Fallback>
            </mc:AlternateContent>
          </a:graphicData>
        </a:graphic>
      </p:graphicFrame>
      <p:sp>
        <p:nvSpPr>
          <p:cNvPr id="22" name="圆角矩形 21"/>
          <p:cNvSpPr/>
          <p:nvPr/>
        </p:nvSpPr>
        <p:spPr>
          <a:xfrm>
            <a:off x="475631" y="2114550"/>
            <a:ext cx="3953494" cy="3124200"/>
          </a:xfrm>
          <a:prstGeom prst="roundRect">
            <a:avLst>
              <a:gd name="adj" fmla="val 10205"/>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3" name="对象 22"/>
          <p:cNvGraphicFramePr>
            <a:graphicFrameLocks noChangeAspect="1"/>
          </p:cNvGraphicFramePr>
          <p:nvPr>
            <p:extLst>
              <p:ext uri="{D42A27DB-BD31-4B8C-83A1-F6EECF244321}">
                <p14:modId xmlns:p14="http://schemas.microsoft.com/office/powerpoint/2010/main" val="2140735234"/>
              </p:ext>
            </p:extLst>
          </p:nvPr>
        </p:nvGraphicFramePr>
        <p:xfrm>
          <a:off x="5239069" y="2257054"/>
          <a:ext cx="1933575" cy="304800"/>
        </p:xfrm>
        <a:graphic>
          <a:graphicData uri="http://schemas.openxmlformats.org/presentationml/2006/ole">
            <mc:AlternateContent xmlns:mc="http://schemas.openxmlformats.org/markup-compatibility/2006">
              <mc:Choice xmlns:v="urn:schemas-microsoft-com:vml" Requires="v">
                <p:oleObj name="Equation" r:id="rId12" imgW="1130040" imgH="177480" progId="Equation.DSMT4">
                  <p:embed/>
                </p:oleObj>
              </mc:Choice>
              <mc:Fallback>
                <p:oleObj name="Equation" r:id="rId12" imgW="1130040" imgH="177480" progId="Equation.DSMT4">
                  <p:embed/>
                  <p:pic>
                    <p:nvPicPr>
                      <p:cNvPr id="23" name="对象 22"/>
                      <p:cNvPicPr>
                        <a:picLocks noChangeAspect="1" noChangeArrowheads="1"/>
                      </p:cNvPicPr>
                      <p:nvPr/>
                    </p:nvPicPr>
                    <p:blipFill>
                      <a:blip r:embed="rId13"/>
                      <a:srcRect/>
                      <a:stretch>
                        <a:fillRect/>
                      </a:stretch>
                    </p:blipFill>
                    <p:spPr bwMode="auto">
                      <a:xfrm>
                        <a:off x="5239069" y="2257054"/>
                        <a:ext cx="1933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TextBox 23"/>
          <p:cNvSpPr txBox="1"/>
          <p:nvPr/>
        </p:nvSpPr>
        <p:spPr>
          <a:xfrm>
            <a:off x="5174633" y="2691884"/>
            <a:ext cx="2512354" cy="369332"/>
          </a:xfrm>
          <a:prstGeom prst="rect">
            <a:avLst/>
          </a:prstGeom>
          <a:noFill/>
        </p:spPr>
        <p:txBody>
          <a:bodyPr wrap="none" rtlCol="0">
            <a:spAutoFit/>
          </a:bodyPr>
          <a:lstStyle/>
          <a:p>
            <a:r>
              <a:rPr lang="en-US" altLang="zh-CN" dirty="0"/>
              <a:t>Apply Maxwell equation,</a:t>
            </a:r>
            <a:endParaRPr lang="zh-CN" altLang="en-US" dirty="0"/>
          </a:p>
        </p:txBody>
      </p:sp>
      <p:graphicFrame>
        <p:nvGraphicFramePr>
          <p:cNvPr id="25" name="对象 24"/>
          <p:cNvGraphicFramePr>
            <a:graphicFrameLocks noChangeAspect="1"/>
          </p:cNvGraphicFramePr>
          <p:nvPr>
            <p:extLst>
              <p:ext uri="{D42A27DB-BD31-4B8C-83A1-F6EECF244321}">
                <p14:modId xmlns:p14="http://schemas.microsoft.com/office/powerpoint/2010/main" val="3222224234"/>
              </p:ext>
            </p:extLst>
          </p:nvPr>
        </p:nvGraphicFramePr>
        <p:xfrm>
          <a:off x="5219680" y="3249550"/>
          <a:ext cx="1691852" cy="659163"/>
        </p:xfrm>
        <a:graphic>
          <a:graphicData uri="http://schemas.openxmlformats.org/presentationml/2006/ole">
            <mc:AlternateContent xmlns:mc="http://schemas.openxmlformats.org/markup-compatibility/2006">
              <mc:Choice xmlns:v="urn:schemas-microsoft-com:vml" Requires="v">
                <p:oleObj name="Equation" r:id="rId14" imgW="1143000" imgH="444240" progId="Equation.DSMT4">
                  <p:embed/>
                </p:oleObj>
              </mc:Choice>
              <mc:Fallback>
                <p:oleObj name="Equation" r:id="rId14" imgW="1143000" imgH="444240" progId="Equation.DSMT4">
                  <p:embed/>
                  <p:pic>
                    <p:nvPicPr>
                      <p:cNvPr id="25" name="对象 24"/>
                      <p:cNvPicPr>
                        <a:picLocks noChangeAspect="1" noChangeArrowheads="1"/>
                      </p:cNvPicPr>
                      <p:nvPr/>
                    </p:nvPicPr>
                    <p:blipFill>
                      <a:blip r:embed="rId15"/>
                      <a:srcRect/>
                      <a:stretch>
                        <a:fillRect/>
                      </a:stretch>
                    </p:blipFill>
                    <p:spPr bwMode="auto">
                      <a:xfrm>
                        <a:off x="5219680" y="3249550"/>
                        <a:ext cx="1691852" cy="659163"/>
                      </a:xfrm>
                      <a:prstGeom prst="rect">
                        <a:avLst/>
                      </a:prstGeom>
                      <a:noFill/>
                      <a:ln>
                        <a:noFill/>
                      </a:ln>
                    </p:spPr>
                  </p:pic>
                </p:oleObj>
              </mc:Fallback>
            </mc:AlternateContent>
          </a:graphicData>
        </a:graphic>
      </p:graphicFrame>
      <p:graphicFrame>
        <p:nvGraphicFramePr>
          <p:cNvPr id="27" name="对象 26"/>
          <p:cNvGraphicFramePr>
            <a:graphicFrameLocks noChangeAspect="1"/>
          </p:cNvGraphicFramePr>
          <p:nvPr>
            <p:extLst>
              <p:ext uri="{D42A27DB-BD31-4B8C-83A1-F6EECF244321}">
                <p14:modId xmlns:p14="http://schemas.microsoft.com/office/powerpoint/2010/main" val="756795052"/>
              </p:ext>
            </p:extLst>
          </p:nvPr>
        </p:nvGraphicFramePr>
        <p:xfrm>
          <a:off x="5259388" y="4330700"/>
          <a:ext cx="1138237" cy="603250"/>
        </p:xfrm>
        <a:graphic>
          <a:graphicData uri="http://schemas.openxmlformats.org/presentationml/2006/ole">
            <mc:AlternateContent xmlns:mc="http://schemas.openxmlformats.org/markup-compatibility/2006">
              <mc:Choice xmlns:v="urn:schemas-microsoft-com:vml" Requires="v">
                <p:oleObj name="Equation" r:id="rId16" imgW="838080" imgH="444240" progId="Equation.DSMT4">
                  <p:embed/>
                </p:oleObj>
              </mc:Choice>
              <mc:Fallback>
                <p:oleObj name="Equation" r:id="rId16" imgW="838080" imgH="444240" progId="Equation.DSMT4">
                  <p:embed/>
                  <p:pic>
                    <p:nvPicPr>
                      <p:cNvPr id="27" name="对象 26"/>
                      <p:cNvPicPr/>
                      <p:nvPr/>
                    </p:nvPicPr>
                    <p:blipFill>
                      <a:blip r:embed="rId17"/>
                      <a:stretch>
                        <a:fillRect/>
                      </a:stretch>
                    </p:blipFill>
                    <p:spPr>
                      <a:xfrm>
                        <a:off x="5259388" y="4330700"/>
                        <a:ext cx="1138237" cy="603250"/>
                      </a:xfrm>
                      <a:prstGeom prst="rect">
                        <a:avLst/>
                      </a:prstGeom>
                    </p:spPr>
                  </p:pic>
                </p:oleObj>
              </mc:Fallback>
            </mc:AlternateContent>
          </a:graphicData>
        </a:graphic>
      </p:graphicFrame>
      <p:sp>
        <p:nvSpPr>
          <p:cNvPr id="28" name="TextBox 27"/>
          <p:cNvSpPr txBox="1"/>
          <p:nvPr/>
        </p:nvSpPr>
        <p:spPr>
          <a:xfrm>
            <a:off x="5100732" y="3878818"/>
            <a:ext cx="2947666" cy="369332"/>
          </a:xfrm>
          <a:prstGeom prst="rect">
            <a:avLst/>
          </a:prstGeom>
          <a:noFill/>
        </p:spPr>
        <p:txBody>
          <a:bodyPr wrap="none" rtlCol="0">
            <a:spAutoFit/>
          </a:bodyPr>
          <a:lstStyle/>
          <a:p>
            <a:r>
              <a:rPr lang="en-US" altLang="zh-CN" dirty="0"/>
              <a:t>Coefficient of compressibility,</a:t>
            </a:r>
            <a:endParaRPr lang="zh-CN" altLang="en-US" dirty="0"/>
          </a:p>
        </p:txBody>
      </p:sp>
      <p:graphicFrame>
        <p:nvGraphicFramePr>
          <p:cNvPr id="29" name="对象 28"/>
          <p:cNvGraphicFramePr>
            <a:graphicFrameLocks noChangeAspect="1"/>
          </p:cNvGraphicFramePr>
          <p:nvPr>
            <p:extLst>
              <p:ext uri="{D42A27DB-BD31-4B8C-83A1-F6EECF244321}">
                <p14:modId xmlns:p14="http://schemas.microsoft.com/office/powerpoint/2010/main" val="4021838940"/>
              </p:ext>
            </p:extLst>
          </p:nvPr>
        </p:nvGraphicFramePr>
        <p:xfrm>
          <a:off x="6973992" y="4374083"/>
          <a:ext cx="1163637" cy="565150"/>
        </p:xfrm>
        <a:graphic>
          <a:graphicData uri="http://schemas.openxmlformats.org/presentationml/2006/ole">
            <mc:AlternateContent xmlns:mc="http://schemas.openxmlformats.org/markup-compatibility/2006">
              <mc:Choice xmlns:v="urn:schemas-microsoft-com:vml" Requires="v">
                <p:oleObj name="Equation" r:id="rId18" imgW="914400" imgH="444240" progId="Equation.DSMT4">
                  <p:embed/>
                </p:oleObj>
              </mc:Choice>
              <mc:Fallback>
                <p:oleObj name="Equation" r:id="rId18" imgW="914400" imgH="444240" progId="Equation.DSMT4">
                  <p:embed/>
                  <p:pic>
                    <p:nvPicPr>
                      <p:cNvPr id="29" name="对象 28"/>
                      <p:cNvPicPr/>
                      <p:nvPr/>
                    </p:nvPicPr>
                    <p:blipFill>
                      <a:blip r:embed="rId19"/>
                      <a:stretch>
                        <a:fillRect/>
                      </a:stretch>
                    </p:blipFill>
                    <p:spPr>
                      <a:xfrm>
                        <a:off x="6973992" y="4374083"/>
                        <a:ext cx="1163637" cy="565150"/>
                      </a:xfrm>
                      <a:prstGeom prst="rect">
                        <a:avLst/>
                      </a:prstGeom>
                      <a:ln>
                        <a:solidFill>
                          <a:srgbClr val="0000FF"/>
                        </a:solidFill>
                      </a:ln>
                    </p:spPr>
                  </p:pic>
                </p:oleObj>
              </mc:Fallback>
            </mc:AlternateContent>
          </a:graphicData>
        </a:graphic>
      </p:graphicFrame>
      <p:sp>
        <p:nvSpPr>
          <p:cNvPr id="30" name="圆角矩形 29"/>
          <p:cNvSpPr/>
          <p:nvPr/>
        </p:nvSpPr>
        <p:spPr>
          <a:xfrm>
            <a:off x="4939797" y="2114550"/>
            <a:ext cx="3953494" cy="3124200"/>
          </a:xfrm>
          <a:prstGeom prst="roundRect">
            <a:avLst>
              <a:gd name="adj" fmla="val 12106"/>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3978852" y="1535628"/>
            <a:ext cx="712520" cy="213756"/>
          </a:xfrm>
          <a:custGeom>
            <a:avLst/>
            <a:gdLst>
              <a:gd name="connsiteX0" fmla="*/ 0 w 712520"/>
              <a:gd name="connsiteY0" fmla="*/ 0 h 213756"/>
              <a:gd name="connsiteX1" fmla="*/ 0 w 712520"/>
              <a:gd name="connsiteY1" fmla="*/ 213756 h 213756"/>
              <a:gd name="connsiteX2" fmla="*/ 712520 w 712520"/>
              <a:gd name="connsiteY2" fmla="*/ 213756 h 213756"/>
              <a:gd name="connsiteX3" fmla="*/ 712520 w 712520"/>
              <a:gd name="connsiteY3" fmla="*/ 23751 h 213756"/>
            </a:gdLst>
            <a:ahLst/>
            <a:cxnLst>
              <a:cxn ang="0">
                <a:pos x="connsiteX0" y="connsiteY0"/>
              </a:cxn>
              <a:cxn ang="0">
                <a:pos x="connsiteX1" y="connsiteY1"/>
              </a:cxn>
              <a:cxn ang="0">
                <a:pos x="connsiteX2" y="connsiteY2"/>
              </a:cxn>
              <a:cxn ang="0">
                <a:pos x="connsiteX3" y="connsiteY3"/>
              </a:cxn>
            </a:cxnLst>
            <a:rect l="l" t="t" r="r" b="b"/>
            <a:pathLst>
              <a:path w="712520" h="213756">
                <a:moveTo>
                  <a:pt x="0" y="0"/>
                </a:moveTo>
                <a:lnTo>
                  <a:pt x="0" y="213756"/>
                </a:lnTo>
                <a:lnTo>
                  <a:pt x="712520" y="213756"/>
                </a:lnTo>
                <a:lnTo>
                  <a:pt x="712520" y="23751"/>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32"/>
          <p:cNvSpPr/>
          <p:nvPr/>
        </p:nvSpPr>
        <p:spPr>
          <a:xfrm>
            <a:off x="5318785" y="1557400"/>
            <a:ext cx="712520" cy="213756"/>
          </a:xfrm>
          <a:custGeom>
            <a:avLst/>
            <a:gdLst>
              <a:gd name="connsiteX0" fmla="*/ 0 w 712520"/>
              <a:gd name="connsiteY0" fmla="*/ 0 h 213756"/>
              <a:gd name="connsiteX1" fmla="*/ 0 w 712520"/>
              <a:gd name="connsiteY1" fmla="*/ 213756 h 213756"/>
              <a:gd name="connsiteX2" fmla="*/ 712520 w 712520"/>
              <a:gd name="connsiteY2" fmla="*/ 213756 h 213756"/>
              <a:gd name="connsiteX3" fmla="*/ 712520 w 712520"/>
              <a:gd name="connsiteY3" fmla="*/ 23751 h 213756"/>
            </a:gdLst>
            <a:ahLst/>
            <a:cxnLst>
              <a:cxn ang="0">
                <a:pos x="connsiteX0" y="connsiteY0"/>
              </a:cxn>
              <a:cxn ang="0">
                <a:pos x="connsiteX1" y="connsiteY1"/>
              </a:cxn>
              <a:cxn ang="0">
                <a:pos x="connsiteX2" y="connsiteY2"/>
              </a:cxn>
              <a:cxn ang="0">
                <a:pos x="connsiteX3" y="connsiteY3"/>
              </a:cxn>
            </a:cxnLst>
            <a:rect l="l" t="t" r="r" b="b"/>
            <a:pathLst>
              <a:path w="712520" h="213756">
                <a:moveTo>
                  <a:pt x="0" y="0"/>
                </a:moveTo>
                <a:lnTo>
                  <a:pt x="0" y="213756"/>
                </a:lnTo>
                <a:lnTo>
                  <a:pt x="712520" y="213756"/>
                </a:lnTo>
                <a:lnTo>
                  <a:pt x="712520" y="23751"/>
                </a:lnTo>
              </a:path>
            </a:pathLst>
          </a:cu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4" name="对象 33"/>
          <p:cNvGraphicFramePr>
            <a:graphicFrameLocks noChangeAspect="1"/>
          </p:cNvGraphicFramePr>
          <p:nvPr>
            <p:extLst>
              <p:ext uri="{D42A27DB-BD31-4B8C-83A1-F6EECF244321}">
                <p14:modId xmlns:p14="http://schemas.microsoft.com/office/powerpoint/2010/main" val="985045857"/>
              </p:ext>
            </p:extLst>
          </p:nvPr>
        </p:nvGraphicFramePr>
        <p:xfrm>
          <a:off x="2863330" y="5413114"/>
          <a:ext cx="2731614" cy="921410"/>
        </p:xfrm>
        <a:graphic>
          <a:graphicData uri="http://schemas.openxmlformats.org/presentationml/2006/ole">
            <mc:AlternateContent xmlns:mc="http://schemas.openxmlformats.org/markup-compatibility/2006">
              <mc:Choice xmlns:v="urn:schemas-microsoft-com:vml" Requires="v">
                <p:oleObj name="Equation" r:id="rId20" imgW="1244520" imgH="419040" progId="Equation.DSMT4">
                  <p:embed/>
                </p:oleObj>
              </mc:Choice>
              <mc:Fallback>
                <p:oleObj name="Equation" r:id="rId20" imgW="1244520" imgH="419040" progId="Equation.DSMT4">
                  <p:embed/>
                  <p:pic>
                    <p:nvPicPr>
                      <p:cNvPr id="34" name="对象 33"/>
                      <p:cNvPicPr>
                        <a:picLocks noChangeAspect="1" noChangeArrowheads="1"/>
                      </p:cNvPicPr>
                      <p:nvPr/>
                    </p:nvPicPr>
                    <p:blipFill>
                      <a:blip r:embed="rId21"/>
                      <a:srcRect/>
                      <a:stretch>
                        <a:fillRect/>
                      </a:stretch>
                    </p:blipFill>
                    <p:spPr bwMode="auto">
                      <a:xfrm>
                        <a:off x="2863330" y="5413114"/>
                        <a:ext cx="2731614" cy="921410"/>
                      </a:xfrm>
                      <a:prstGeom prst="rect">
                        <a:avLst/>
                      </a:prstGeom>
                      <a:noFill/>
                      <a:ln w="57150">
                        <a:solidFill>
                          <a:srgbClr val="00B050"/>
                        </a:solidFill>
                      </a:ln>
                    </p:spPr>
                  </p:pic>
                </p:oleObj>
              </mc:Fallback>
            </mc:AlternateContent>
          </a:graphicData>
        </a:graphic>
      </p:graphicFrame>
    </p:spTree>
    <p:extLst>
      <p:ext uri="{BB962C8B-B14F-4D97-AF65-F5344CB8AC3E}">
        <p14:creationId xmlns:p14="http://schemas.microsoft.com/office/powerpoint/2010/main" val="36677789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31233" y="260211"/>
            <a:ext cx="6380080" cy="523220"/>
          </a:xfrm>
          <a:prstGeom prst="rect">
            <a:avLst/>
          </a:prstGeom>
          <a:noFill/>
        </p:spPr>
        <p:txBody>
          <a:bodyPr wrap="none" rtlCol="0">
            <a:spAutoFit/>
          </a:bodyPr>
          <a:lstStyle/>
          <a:p>
            <a:r>
              <a:rPr lang="en-US" altLang="zh-CN" sz="2800" dirty="0">
                <a:solidFill>
                  <a:srgbClr val="FF0000"/>
                </a:solidFill>
              </a:rPr>
              <a:t>Energy function expressed of T and P  </a:t>
            </a:r>
            <a:endParaRPr lang="zh-CN" altLang="en-US" sz="2800" dirty="0">
              <a:solidFill>
                <a:srgbClr val="FF0000"/>
              </a:solidFill>
            </a:endParaRPr>
          </a:p>
        </p:txBody>
      </p:sp>
      <p:graphicFrame>
        <p:nvGraphicFramePr>
          <p:cNvPr id="10" name="对象 9"/>
          <p:cNvGraphicFramePr>
            <a:graphicFrameLocks noChangeAspect="1"/>
          </p:cNvGraphicFramePr>
          <p:nvPr/>
        </p:nvGraphicFramePr>
        <p:xfrm>
          <a:off x="265113" y="1752600"/>
          <a:ext cx="2901950" cy="1600200"/>
        </p:xfrm>
        <a:graphic>
          <a:graphicData uri="http://schemas.openxmlformats.org/presentationml/2006/ole">
            <mc:AlternateContent xmlns:mc="http://schemas.openxmlformats.org/markup-compatibility/2006">
              <mc:Choice xmlns:v="urn:schemas-microsoft-com:vml" Requires="v">
                <p:oleObj name="Equation" r:id="rId2" imgW="1841400" imgH="1015920" progId="Equation.DSMT4">
                  <p:embed/>
                </p:oleObj>
              </mc:Choice>
              <mc:Fallback>
                <p:oleObj name="Equation" r:id="rId2" imgW="1841400" imgH="1015920" progId="Equation.DSMT4">
                  <p:embed/>
                  <p:pic>
                    <p:nvPicPr>
                      <p:cNvPr id="10" name="对象 9"/>
                      <p:cNvPicPr/>
                      <p:nvPr/>
                    </p:nvPicPr>
                    <p:blipFill>
                      <a:blip r:embed="rId3"/>
                      <a:stretch>
                        <a:fillRect/>
                      </a:stretch>
                    </p:blipFill>
                    <p:spPr>
                      <a:xfrm>
                        <a:off x="265113" y="1752600"/>
                        <a:ext cx="2901950" cy="1600200"/>
                      </a:xfrm>
                      <a:prstGeom prst="rect">
                        <a:avLst/>
                      </a:prstGeom>
                    </p:spPr>
                  </p:pic>
                </p:oleObj>
              </mc:Fallback>
            </mc:AlternateContent>
          </a:graphicData>
        </a:graphic>
      </p:graphicFrame>
      <p:sp>
        <p:nvSpPr>
          <p:cNvPr id="11" name="圆角矩形 10"/>
          <p:cNvSpPr/>
          <p:nvPr/>
        </p:nvSpPr>
        <p:spPr>
          <a:xfrm>
            <a:off x="114984" y="1600200"/>
            <a:ext cx="3314016" cy="1905000"/>
          </a:xfrm>
          <a:prstGeom prst="roundRect">
            <a:avLst>
              <a:gd name="adj" fmla="val 448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 name="对象 14"/>
          <p:cNvGraphicFramePr>
            <a:graphicFrameLocks noChangeAspect="1"/>
          </p:cNvGraphicFramePr>
          <p:nvPr>
            <p:extLst>
              <p:ext uri="{D42A27DB-BD31-4B8C-83A1-F6EECF244321}">
                <p14:modId xmlns:p14="http://schemas.microsoft.com/office/powerpoint/2010/main" val="599662952"/>
              </p:ext>
            </p:extLst>
          </p:nvPr>
        </p:nvGraphicFramePr>
        <p:xfrm>
          <a:off x="3981450" y="1494503"/>
          <a:ext cx="4459721" cy="1206121"/>
        </p:xfrm>
        <a:graphic>
          <a:graphicData uri="http://schemas.openxmlformats.org/presentationml/2006/ole">
            <mc:AlternateContent xmlns:mc="http://schemas.openxmlformats.org/markup-compatibility/2006">
              <mc:Choice xmlns:v="urn:schemas-microsoft-com:vml" Requires="v">
                <p:oleObj name="Equation" r:id="rId4" imgW="2819160" imgH="761760" progId="Equation.DSMT4">
                  <p:embed/>
                </p:oleObj>
              </mc:Choice>
              <mc:Fallback>
                <p:oleObj name="Equation" r:id="rId4" imgW="2819160" imgH="761760" progId="Equation.DSMT4">
                  <p:embed/>
                  <p:pic>
                    <p:nvPicPr>
                      <p:cNvPr id="15" name="对象 14"/>
                      <p:cNvPicPr>
                        <a:picLocks noChangeAspect="1" noChangeArrowheads="1"/>
                      </p:cNvPicPr>
                      <p:nvPr/>
                    </p:nvPicPr>
                    <p:blipFill>
                      <a:blip r:embed="rId5"/>
                      <a:srcRect/>
                      <a:stretch>
                        <a:fillRect/>
                      </a:stretch>
                    </p:blipFill>
                    <p:spPr bwMode="auto">
                      <a:xfrm>
                        <a:off x="3981450" y="1494503"/>
                        <a:ext cx="4459721" cy="1206121"/>
                      </a:xfrm>
                      <a:prstGeom prst="rect">
                        <a:avLst/>
                      </a:prstGeom>
                      <a:noFill/>
                      <a:ln>
                        <a:noFill/>
                      </a:ln>
                    </p:spPr>
                  </p:pic>
                </p:oleObj>
              </mc:Fallback>
            </mc:AlternateContent>
          </a:graphicData>
        </a:graphic>
      </p:graphicFrame>
      <p:graphicFrame>
        <p:nvGraphicFramePr>
          <p:cNvPr id="16" name="对象 15"/>
          <p:cNvGraphicFramePr>
            <a:graphicFrameLocks noChangeAspect="1"/>
          </p:cNvGraphicFramePr>
          <p:nvPr/>
        </p:nvGraphicFramePr>
        <p:xfrm>
          <a:off x="3981450" y="2766635"/>
          <a:ext cx="3486150" cy="1335087"/>
        </p:xfrm>
        <a:graphic>
          <a:graphicData uri="http://schemas.openxmlformats.org/presentationml/2006/ole">
            <mc:AlternateContent xmlns:mc="http://schemas.openxmlformats.org/markup-compatibility/2006">
              <mc:Choice xmlns:v="urn:schemas-microsoft-com:vml" Requires="v">
                <p:oleObj name="Equation" r:id="rId6" imgW="1917360" imgH="736560" progId="Equation.DSMT4">
                  <p:embed/>
                </p:oleObj>
              </mc:Choice>
              <mc:Fallback>
                <p:oleObj name="Equation" r:id="rId6" imgW="1917360" imgH="736560" progId="Equation.DSMT4">
                  <p:embed/>
                  <p:pic>
                    <p:nvPicPr>
                      <p:cNvPr id="16" name="对象 15"/>
                      <p:cNvPicPr/>
                      <p:nvPr/>
                    </p:nvPicPr>
                    <p:blipFill>
                      <a:blip r:embed="rId7"/>
                      <a:stretch>
                        <a:fillRect/>
                      </a:stretch>
                    </p:blipFill>
                    <p:spPr>
                      <a:xfrm>
                        <a:off x="3981450" y="2766635"/>
                        <a:ext cx="3486150" cy="1335087"/>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3962400" y="4363660"/>
          <a:ext cx="3551092" cy="910632"/>
        </p:xfrm>
        <a:graphic>
          <a:graphicData uri="http://schemas.openxmlformats.org/presentationml/2006/ole">
            <mc:AlternateContent xmlns:mc="http://schemas.openxmlformats.org/markup-compatibility/2006">
              <mc:Choice xmlns:v="urn:schemas-microsoft-com:vml" Requires="v">
                <p:oleObj name="Equation" r:id="rId8" imgW="1981080" imgH="507960" progId="Equation.DSMT4">
                  <p:embed/>
                </p:oleObj>
              </mc:Choice>
              <mc:Fallback>
                <p:oleObj name="Equation" r:id="rId8" imgW="1981080" imgH="507960" progId="Equation.DSMT4">
                  <p:embed/>
                  <p:pic>
                    <p:nvPicPr>
                      <p:cNvPr id="17" name="对象 16"/>
                      <p:cNvPicPr/>
                      <p:nvPr/>
                    </p:nvPicPr>
                    <p:blipFill>
                      <a:blip r:embed="rId9"/>
                      <a:stretch>
                        <a:fillRect/>
                      </a:stretch>
                    </p:blipFill>
                    <p:spPr>
                      <a:xfrm>
                        <a:off x="3962400" y="4363660"/>
                        <a:ext cx="3551092" cy="910632"/>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993203" y="5619277"/>
          <a:ext cx="2230176" cy="350814"/>
        </p:xfrm>
        <a:graphic>
          <a:graphicData uri="http://schemas.openxmlformats.org/presentationml/2006/ole">
            <mc:AlternateContent xmlns:mc="http://schemas.openxmlformats.org/markup-compatibility/2006">
              <mc:Choice xmlns:v="urn:schemas-microsoft-com:vml" Requires="v">
                <p:oleObj name="Equation" r:id="rId10" imgW="1130040" imgH="177480" progId="Equation.DSMT4">
                  <p:embed/>
                </p:oleObj>
              </mc:Choice>
              <mc:Fallback>
                <p:oleObj name="Equation" r:id="rId10" imgW="1130040" imgH="177480" progId="Equation.DSMT4">
                  <p:embed/>
                  <p:pic>
                    <p:nvPicPr>
                      <p:cNvPr id="18" name="对象 17"/>
                      <p:cNvPicPr/>
                      <p:nvPr/>
                    </p:nvPicPr>
                    <p:blipFill>
                      <a:blip r:embed="rId11"/>
                      <a:stretch>
                        <a:fillRect/>
                      </a:stretch>
                    </p:blipFill>
                    <p:spPr>
                      <a:xfrm>
                        <a:off x="3993203" y="5619277"/>
                        <a:ext cx="2230176" cy="350814"/>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218603" y="3886200"/>
          <a:ext cx="2777881" cy="2356714"/>
        </p:xfrm>
        <a:graphic>
          <a:graphicData uri="http://schemas.openxmlformats.org/presentationml/2006/ole">
            <mc:AlternateContent xmlns:mc="http://schemas.openxmlformats.org/markup-compatibility/2006">
              <mc:Choice xmlns:v="urn:schemas-microsoft-com:vml" Requires="v">
                <p:oleObj name="Equation" r:id="rId12" imgW="1828800" imgH="1549080" progId="Equation.DSMT4">
                  <p:embed/>
                </p:oleObj>
              </mc:Choice>
              <mc:Fallback>
                <p:oleObj name="Equation" r:id="rId12" imgW="1828800" imgH="1549080" progId="Equation.DSMT4">
                  <p:embed/>
                  <p:pic>
                    <p:nvPicPr>
                      <p:cNvPr id="2" name="对象 1"/>
                      <p:cNvPicPr>
                        <a:picLocks noChangeAspect="1" noChangeArrowheads="1"/>
                      </p:cNvPicPr>
                      <p:nvPr/>
                    </p:nvPicPr>
                    <p:blipFill>
                      <a:blip r:embed="rId13"/>
                      <a:srcRect/>
                      <a:stretch>
                        <a:fillRect/>
                      </a:stretch>
                    </p:blipFill>
                    <p:spPr bwMode="auto">
                      <a:xfrm>
                        <a:off x="218603" y="3886200"/>
                        <a:ext cx="2777881" cy="2356714"/>
                      </a:xfrm>
                      <a:prstGeom prst="rect">
                        <a:avLst/>
                      </a:prstGeom>
                      <a:noFill/>
                      <a:ln w="12700">
                        <a:solidFill>
                          <a:srgbClr val="00B050"/>
                        </a:solidFill>
                        <a:miter lim="800000"/>
                        <a:headEnd/>
                        <a:tailEnd/>
                      </a:ln>
                    </p:spPr>
                  </p:pic>
                </p:oleObj>
              </mc:Fallback>
            </mc:AlternateContent>
          </a:graphicData>
        </a:graphic>
      </p:graphicFrame>
      <p:sp>
        <p:nvSpPr>
          <p:cNvPr id="3" name="矩形 2"/>
          <p:cNvSpPr/>
          <p:nvPr/>
        </p:nvSpPr>
        <p:spPr>
          <a:xfrm>
            <a:off x="152400" y="4876800"/>
            <a:ext cx="1945276" cy="369332"/>
          </a:xfrm>
          <a:prstGeom prst="rect">
            <a:avLst/>
          </a:prstGeom>
        </p:spPr>
        <p:txBody>
          <a:bodyPr wrap="none">
            <a:spAutoFit/>
          </a:bodyPr>
          <a:lstStyle/>
          <a:p>
            <a:r>
              <a:rPr lang="en-US" altLang="zh-CN" dirty="0"/>
              <a:t>Determinant form:</a:t>
            </a:r>
            <a:endParaRPr lang="en-US" altLang="zh-CN" dirty="0">
              <a:effectLst/>
            </a:endParaRPr>
          </a:p>
        </p:txBody>
      </p:sp>
    </p:spTree>
    <p:extLst>
      <p:ext uri="{BB962C8B-B14F-4D97-AF65-F5344CB8AC3E}">
        <p14:creationId xmlns:p14="http://schemas.microsoft.com/office/powerpoint/2010/main" val="1928896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102135" y="156394"/>
            <a:ext cx="3162854" cy="523220"/>
          </a:xfrm>
          <a:prstGeom prst="rect">
            <a:avLst/>
          </a:prstGeom>
          <a:noFill/>
        </p:spPr>
        <p:txBody>
          <a:bodyPr wrap="none" rtlCol="0">
            <a:spAutoFit/>
          </a:bodyPr>
          <a:lstStyle/>
          <a:p>
            <a:r>
              <a:rPr lang="en-US" altLang="zh-CN" sz="2800" dirty="0"/>
              <a:t>Intrinsic relationship</a:t>
            </a:r>
            <a:endParaRPr lang="zh-CN" altLang="en-US" sz="2800" dirty="0"/>
          </a:p>
        </p:txBody>
      </p:sp>
      <p:pic>
        <p:nvPicPr>
          <p:cNvPr id="40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0913" y="2054942"/>
            <a:ext cx="5610225"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5" name="对象 14"/>
          <p:cNvGraphicFramePr>
            <a:graphicFrameLocks noChangeAspect="1"/>
          </p:cNvGraphicFramePr>
          <p:nvPr>
            <p:extLst>
              <p:ext uri="{D42A27DB-BD31-4B8C-83A1-F6EECF244321}">
                <p14:modId xmlns:p14="http://schemas.microsoft.com/office/powerpoint/2010/main" val="1568981923"/>
              </p:ext>
            </p:extLst>
          </p:nvPr>
        </p:nvGraphicFramePr>
        <p:xfrm>
          <a:off x="493738" y="2437529"/>
          <a:ext cx="2797175" cy="2359025"/>
        </p:xfrm>
        <a:graphic>
          <a:graphicData uri="http://schemas.openxmlformats.org/presentationml/2006/ole">
            <mc:AlternateContent xmlns:mc="http://schemas.openxmlformats.org/markup-compatibility/2006">
              <mc:Choice xmlns:v="urn:schemas-microsoft-com:vml" Requires="v">
                <p:oleObj name="Equation" r:id="rId3" imgW="1841400" imgH="1549080" progId="Equation.DSMT4">
                  <p:embed/>
                </p:oleObj>
              </mc:Choice>
              <mc:Fallback>
                <p:oleObj name="Equation" r:id="rId3" imgW="1841400" imgH="1549080" progId="Equation.DSMT4">
                  <p:embed/>
                  <p:pic>
                    <p:nvPicPr>
                      <p:cNvPr id="15" name="对象 14"/>
                      <p:cNvPicPr>
                        <a:picLocks noChangeAspect="1" noChangeArrowheads="1"/>
                      </p:cNvPicPr>
                      <p:nvPr/>
                    </p:nvPicPr>
                    <p:blipFill>
                      <a:blip r:embed="rId4"/>
                      <a:srcRect/>
                      <a:stretch>
                        <a:fillRect/>
                      </a:stretch>
                    </p:blipFill>
                    <p:spPr bwMode="auto">
                      <a:xfrm>
                        <a:off x="493738" y="2437529"/>
                        <a:ext cx="2797175" cy="2359025"/>
                      </a:xfrm>
                      <a:prstGeom prst="rect">
                        <a:avLst/>
                      </a:prstGeom>
                      <a:noFill/>
                      <a:ln w="12700">
                        <a:solidFill>
                          <a:srgbClr val="00B05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矩形 16"/>
          <p:cNvSpPr/>
          <p:nvPr/>
        </p:nvSpPr>
        <p:spPr>
          <a:xfrm>
            <a:off x="513735" y="3432376"/>
            <a:ext cx="1945276" cy="369332"/>
          </a:xfrm>
          <a:prstGeom prst="rect">
            <a:avLst/>
          </a:prstGeom>
        </p:spPr>
        <p:txBody>
          <a:bodyPr wrap="none">
            <a:spAutoFit/>
          </a:bodyPr>
          <a:lstStyle/>
          <a:p>
            <a:r>
              <a:rPr lang="en-US" altLang="zh-CN" dirty="0"/>
              <a:t>Determinant form:</a:t>
            </a:r>
            <a:endParaRPr lang="en-US" altLang="zh-CN" dirty="0">
              <a:effectLst/>
            </a:endParaRPr>
          </a:p>
        </p:txBody>
      </p:sp>
    </p:spTree>
    <p:extLst>
      <p:ext uri="{BB962C8B-B14F-4D97-AF65-F5344CB8AC3E}">
        <p14:creationId xmlns:p14="http://schemas.microsoft.com/office/powerpoint/2010/main" val="2673756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62025" y="227112"/>
            <a:ext cx="6705554" cy="523220"/>
          </a:xfrm>
          <a:prstGeom prst="rect">
            <a:avLst/>
          </a:prstGeom>
          <a:noFill/>
        </p:spPr>
        <p:txBody>
          <a:bodyPr wrap="none" rtlCol="0">
            <a:spAutoFit/>
          </a:bodyPr>
          <a:lstStyle/>
          <a:p>
            <a:r>
              <a:rPr lang="en-US" altLang="zh-CN" sz="2800" dirty="0">
                <a:solidFill>
                  <a:srgbClr val="FF0000"/>
                </a:solidFill>
              </a:rPr>
              <a:t>Related the entropy of system to T and V</a:t>
            </a:r>
            <a:endParaRPr lang="zh-CN" altLang="en-US" sz="2800" dirty="0">
              <a:solidFill>
                <a:srgbClr val="FF0000"/>
              </a:solidFill>
            </a:endParaRPr>
          </a:p>
        </p:txBody>
      </p:sp>
      <p:sp>
        <p:nvSpPr>
          <p:cNvPr id="10" name="TextBox 9"/>
          <p:cNvSpPr txBox="1"/>
          <p:nvPr/>
        </p:nvSpPr>
        <p:spPr>
          <a:xfrm>
            <a:off x="304800" y="1371600"/>
            <a:ext cx="3211970" cy="369332"/>
          </a:xfrm>
          <a:prstGeom prst="rect">
            <a:avLst/>
          </a:prstGeom>
          <a:noFill/>
        </p:spPr>
        <p:txBody>
          <a:bodyPr wrap="none" rtlCol="0">
            <a:spAutoFit/>
          </a:bodyPr>
          <a:lstStyle/>
          <a:p>
            <a:r>
              <a:rPr lang="en-US" altLang="zh-CN" dirty="0"/>
              <a:t>1. Identify the variable: S=S(T, V)</a:t>
            </a:r>
            <a:endParaRPr lang="zh-CN" altLang="en-US" dirty="0"/>
          </a:p>
        </p:txBody>
      </p:sp>
      <p:sp>
        <p:nvSpPr>
          <p:cNvPr id="11" name="TextBox 10"/>
          <p:cNvSpPr txBox="1"/>
          <p:nvPr/>
        </p:nvSpPr>
        <p:spPr>
          <a:xfrm>
            <a:off x="304800" y="1752600"/>
            <a:ext cx="4347665" cy="369332"/>
          </a:xfrm>
          <a:prstGeom prst="rect">
            <a:avLst/>
          </a:prstGeom>
          <a:noFill/>
        </p:spPr>
        <p:txBody>
          <a:bodyPr wrap="none" rtlCol="0">
            <a:spAutoFit/>
          </a:bodyPr>
          <a:lstStyle/>
          <a:p>
            <a:r>
              <a:rPr lang="en-US" altLang="zh-CN" dirty="0"/>
              <a:t>2. Write the differential form : </a:t>
            </a:r>
            <a:r>
              <a:rPr lang="en-US" altLang="zh-CN" dirty="0" err="1"/>
              <a:t>dS</a:t>
            </a:r>
            <a:r>
              <a:rPr lang="en-US" altLang="zh-CN" dirty="0"/>
              <a:t>=</a:t>
            </a:r>
            <a:r>
              <a:rPr lang="en-US" altLang="zh-CN" dirty="0" err="1"/>
              <a:t>MdT+NdV</a:t>
            </a:r>
            <a:endParaRPr lang="zh-CN" altLang="en-US" dirty="0"/>
          </a:p>
        </p:txBody>
      </p:sp>
      <p:sp>
        <p:nvSpPr>
          <p:cNvPr id="12" name="TextBox 11"/>
          <p:cNvSpPr txBox="1"/>
          <p:nvPr/>
        </p:nvSpPr>
        <p:spPr>
          <a:xfrm>
            <a:off x="300535" y="2209800"/>
            <a:ext cx="1510478" cy="369332"/>
          </a:xfrm>
          <a:prstGeom prst="rect">
            <a:avLst/>
          </a:prstGeom>
          <a:noFill/>
        </p:spPr>
        <p:txBody>
          <a:bodyPr wrap="none" rtlCol="0">
            <a:spAutoFit/>
          </a:bodyPr>
          <a:lstStyle/>
          <a:p>
            <a:r>
              <a:rPr lang="en-US" altLang="zh-CN" dirty="0"/>
              <a:t>3. Convert </a:t>
            </a:r>
            <a:r>
              <a:rPr lang="en-US" altLang="zh-CN" dirty="0" err="1"/>
              <a:t>dV</a:t>
            </a:r>
            <a:r>
              <a:rPr lang="en-US" altLang="zh-CN" dirty="0"/>
              <a:t>:</a:t>
            </a:r>
            <a:endParaRPr lang="zh-CN" altLang="en-US" dirty="0"/>
          </a:p>
        </p:txBody>
      </p:sp>
      <p:graphicFrame>
        <p:nvGraphicFramePr>
          <p:cNvPr id="13" name="对象 12"/>
          <p:cNvGraphicFramePr>
            <a:graphicFrameLocks noChangeAspect="1"/>
          </p:cNvGraphicFramePr>
          <p:nvPr/>
        </p:nvGraphicFramePr>
        <p:xfrm>
          <a:off x="5715000" y="1520911"/>
          <a:ext cx="3276600" cy="2356709"/>
        </p:xfrm>
        <a:graphic>
          <a:graphicData uri="http://schemas.openxmlformats.org/presentationml/2006/ole">
            <mc:AlternateContent xmlns:mc="http://schemas.openxmlformats.org/markup-compatibility/2006">
              <mc:Choice xmlns:v="urn:schemas-microsoft-com:vml" Requires="v">
                <p:oleObj name="Equation" r:id="rId2" imgW="2298600" imgH="1650960" progId="Equation.DSMT4">
                  <p:embed/>
                </p:oleObj>
              </mc:Choice>
              <mc:Fallback>
                <p:oleObj name="Equation" r:id="rId2" imgW="2298600" imgH="1650960" progId="Equation.DSMT4">
                  <p:embed/>
                  <p:pic>
                    <p:nvPicPr>
                      <p:cNvPr id="13" name="对象 12"/>
                      <p:cNvPicPr>
                        <a:picLocks noChangeAspect="1" noChangeArrowheads="1"/>
                      </p:cNvPicPr>
                      <p:nvPr/>
                    </p:nvPicPr>
                    <p:blipFill>
                      <a:blip r:embed="rId3"/>
                      <a:srcRect/>
                      <a:stretch>
                        <a:fillRect/>
                      </a:stretch>
                    </p:blipFill>
                    <p:spPr bwMode="auto">
                      <a:xfrm>
                        <a:off x="5715000" y="1520911"/>
                        <a:ext cx="3276600" cy="2356709"/>
                      </a:xfrm>
                      <a:prstGeom prst="rect">
                        <a:avLst/>
                      </a:prstGeom>
                      <a:noFill/>
                      <a:ln w="57150">
                        <a:solidFill>
                          <a:srgbClr val="00B050"/>
                        </a:solidFill>
                        <a:miter lim="800000"/>
                        <a:headEnd/>
                        <a:tailEnd/>
                      </a:ln>
                    </p:spPr>
                  </p:pic>
                </p:oleObj>
              </mc:Fallback>
            </mc:AlternateContent>
          </a:graphicData>
        </a:graphic>
      </p:graphicFrame>
      <p:sp>
        <p:nvSpPr>
          <p:cNvPr id="15" name="TextBox 14"/>
          <p:cNvSpPr txBox="1"/>
          <p:nvPr/>
        </p:nvSpPr>
        <p:spPr>
          <a:xfrm>
            <a:off x="304800" y="2676098"/>
            <a:ext cx="1586396" cy="369332"/>
          </a:xfrm>
          <a:prstGeom prst="rect">
            <a:avLst/>
          </a:prstGeom>
          <a:noFill/>
        </p:spPr>
        <p:txBody>
          <a:bodyPr wrap="none" rtlCol="0">
            <a:spAutoFit/>
          </a:bodyPr>
          <a:lstStyle/>
          <a:p>
            <a:r>
              <a:rPr lang="en-US" altLang="zh-CN" dirty="0"/>
              <a:t>4. Collect  item</a:t>
            </a:r>
            <a:endParaRPr lang="zh-CN" altLang="en-US" dirty="0"/>
          </a:p>
        </p:txBody>
      </p:sp>
      <p:graphicFrame>
        <p:nvGraphicFramePr>
          <p:cNvPr id="16" name="对象 15"/>
          <p:cNvGraphicFramePr>
            <a:graphicFrameLocks noChangeAspect="1"/>
          </p:cNvGraphicFramePr>
          <p:nvPr/>
        </p:nvGraphicFramePr>
        <p:xfrm>
          <a:off x="1920836" y="2251585"/>
          <a:ext cx="2611285" cy="336940"/>
        </p:xfrm>
        <a:graphic>
          <a:graphicData uri="http://schemas.openxmlformats.org/presentationml/2006/ole">
            <mc:AlternateContent xmlns:mc="http://schemas.openxmlformats.org/markup-compatibility/2006">
              <mc:Choice xmlns:v="urn:schemas-microsoft-com:vml" Requires="v">
                <p:oleObj name="Equation" r:id="rId4" imgW="1968480" imgH="253800" progId="Equation.DSMT4">
                  <p:embed/>
                </p:oleObj>
              </mc:Choice>
              <mc:Fallback>
                <p:oleObj name="Equation" r:id="rId4" imgW="1968480" imgH="253800" progId="Equation.DSMT4">
                  <p:embed/>
                  <p:pic>
                    <p:nvPicPr>
                      <p:cNvPr id="16" name="对象 15"/>
                      <p:cNvPicPr/>
                      <p:nvPr/>
                    </p:nvPicPr>
                    <p:blipFill>
                      <a:blip r:embed="rId5"/>
                      <a:stretch>
                        <a:fillRect/>
                      </a:stretch>
                    </p:blipFill>
                    <p:spPr>
                      <a:xfrm>
                        <a:off x="1920836" y="2251585"/>
                        <a:ext cx="2611285" cy="33694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1981200" y="2692400"/>
          <a:ext cx="2560638" cy="338138"/>
        </p:xfrm>
        <a:graphic>
          <a:graphicData uri="http://schemas.openxmlformats.org/presentationml/2006/ole">
            <mc:AlternateContent xmlns:mc="http://schemas.openxmlformats.org/markup-compatibility/2006">
              <mc:Choice xmlns:v="urn:schemas-microsoft-com:vml" Requires="v">
                <p:oleObj name="Equation" r:id="rId6" imgW="1930320" imgH="253800" progId="Equation.DSMT4">
                  <p:embed/>
                </p:oleObj>
              </mc:Choice>
              <mc:Fallback>
                <p:oleObj name="Equation" r:id="rId6" imgW="1930320" imgH="253800" progId="Equation.DSMT4">
                  <p:embed/>
                  <p:pic>
                    <p:nvPicPr>
                      <p:cNvPr id="17" name="对象 16"/>
                      <p:cNvPicPr>
                        <a:picLocks noChangeAspect="1" noChangeArrowheads="1"/>
                      </p:cNvPicPr>
                      <p:nvPr/>
                    </p:nvPicPr>
                    <p:blipFill>
                      <a:blip r:embed="rId7"/>
                      <a:srcRect/>
                      <a:stretch>
                        <a:fillRect/>
                      </a:stretch>
                    </p:blipFill>
                    <p:spPr bwMode="auto">
                      <a:xfrm>
                        <a:off x="1981200" y="2692400"/>
                        <a:ext cx="25606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TextBox 17"/>
          <p:cNvSpPr txBox="1"/>
          <p:nvPr/>
        </p:nvSpPr>
        <p:spPr>
          <a:xfrm>
            <a:off x="304800" y="3124200"/>
            <a:ext cx="3336234" cy="369332"/>
          </a:xfrm>
          <a:prstGeom prst="rect">
            <a:avLst/>
          </a:prstGeom>
          <a:noFill/>
        </p:spPr>
        <p:txBody>
          <a:bodyPr wrap="none" rtlCol="0">
            <a:spAutoFit/>
          </a:bodyPr>
          <a:lstStyle/>
          <a:p>
            <a:r>
              <a:rPr lang="en-US" altLang="zh-CN" dirty="0"/>
              <a:t>5. Obtain S=S(T, P) form</a:t>
            </a:r>
            <a:r>
              <a:rPr lang="zh-CN" altLang="en-US" dirty="0"/>
              <a:t>  </a:t>
            </a:r>
            <a:r>
              <a:rPr lang="en-US" altLang="zh-CN" dirty="0"/>
              <a:t>the table</a:t>
            </a:r>
            <a:endParaRPr lang="zh-CN" altLang="en-US" dirty="0"/>
          </a:p>
        </p:txBody>
      </p:sp>
      <p:graphicFrame>
        <p:nvGraphicFramePr>
          <p:cNvPr id="19" name="对象 18"/>
          <p:cNvGraphicFramePr>
            <a:graphicFrameLocks noChangeAspect="1"/>
          </p:cNvGraphicFramePr>
          <p:nvPr/>
        </p:nvGraphicFramePr>
        <p:xfrm>
          <a:off x="1972917" y="3505200"/>
          <a:ext cx="1590792" cy="535675"/>
        </p:xfrm>
        <a:graphic>
          <a:graphicData uri="http://schemas.openxmlformats.org/presentationml/2006/ole">
            <mc:AlternateContent xmlns:mc="http://schemas.openxmlformats.org/markup-compatibility/2006">
              <mc:Choice xmlns:v="urn:schemas-microsoft-com:vml" Requires="v">
                <p:oleObj name="Equation" r:id="rId8" imgW="1244520" imgH="419040" progId="Equation.DSMT4">
                  <p:embed/>
                </p:oleObj>
              </mc:Choice>
              <mc:Fallback>
                <p:oleObj name="Equation" r:id="rId8" imgW="1244520" imgH="419040" progId="Equation.DSMT4">
                  <p:embed/>
                  <p:pic>
                    <p:nvPicPr>
                      <p:cNvPr id="19" name="对象 18"/>
                      <p:cNvPicPr/>
                      <p:nvPr/>
                    </p:nvPicPr>
                    <p:blipFill>
                      <a:blip r:embed="rId9"/>
                      <a:stretch>
                        <a:fillRect/>
                      </a:stretch>
                    </p:blipFill>
                    <p:spPr>
                      <a:xfrm>
                        <a:off x="1972917" y="3505200"/>
                        <a:ext cx="1590792" cy="535675"/>
                      </a:xfrm>
                      <a:prstGeom prst="rect">
                        <a:avLst/>
                      </a:prstGeom>
                    </p:spPr>
                  </p:pic>
                </p:oleObj>
              </mc:Fallback>
            </mc:AlternateContent>
          </a:graphicData>
        </a:graphic>
      </p:graphicFrame>
      <p:sp>
        <p:nvSpPr>
          <p:cNvPr id="20" name="TextBox 19"/>
          <p:cNvSpPr txBox="1"/>
          <p:nvPr/>
        </p:nvSpPr>
        <p:spPr>
          <a:xfrm>
            <a:off x="304800" y="3962400"/>
            <a:ext cx="2672398" cy="369332"/>
          </a:xfrm>
          <a:prstGeom prst="rect">
            <a:avLst/>
          </a:prstGeom>
          <a:noFill/>
        </p:spPr>
        <p:txBody>
          <a:bodyPr wrap="none" rtlCol="0">
            <a:spAutoFit/>
          </a:bodyPr>
          <a:lstStyle/>
          <a:p>
            <a:r>
              <a:rPr lang="en-US" altLang="zh-CN" dirty="0"/>
              <a:t>6. Compare the coefficient</a:t>
            </a:r>
            <a:endParaRPr lang="zh-CN" altLang="en-US" dirty="0"/>
          </a:p>
        </p:txBody>
      </p:sp>
      <p:graphicFrame>
        <p:nvGraphicFramePr>
          <p:cNvPr id="21" name="对象 20"/>
          <p:cNvGraphicFramePr>
            <a:graphicFrameLocks noChangeAspect="1"/>
          </p:cNvGraphicFramePr>
          <p:nvPr/>
        </p:nvGraphicFramePr>
        <p:xfrm>
          <a:off x="1913482" y="4267200"/>
          <a:ext cx="1130300" cy="635000"/>
        </p:xfrm>
        <a:graphic>
          <a:graphicData uri="http://schemas.openxmlformats.org/presentationml/2006/ole">
            <mc:AlternateContent xmlns:mc="http://schemas.openxmlformats.org/markup-compatibility/2006">
              <mc:Choice xmlns:v="urn:schemas-microsoft-com:vml" Requires="v">
                <p:oleObj name="Equation" r:id="rId10" imgW="1130040" imgH="634680" progId="Equation.DSMT4">
                  <p:embed/>
                </p:oleObj>
              </mc:Choice>
              <mc:Fallback>
                <p:oleObj name="Equation" r:id="rId10" imgW="1130040" imgH="634680" progId="Equation.DSMT4">
                  <p:embed/>
                  <p:pic>
                    <p:nvPicPr>
                      <p:cNvPr id="21" name="对象 20"/>
                      <p:cNvPicPr/>
                      <p:nvPr/>
                    </p:nvPicPr>
                    <p:blipFill>
                      <a:blip r:embed="rId11"/>
                      <a:stretch>
                        <a:fillRect/>
                      </a:stretch>
                    </p:blipFill>
                    <p:spPr>
                      <a:xfrm>
                        <a:off x="1913482" y="4267200"/>
                        <a:ext cx="1130300" cy="635000"/>
                      </a:xfrm>
                      <a:prstGeom prst="rect">
                        <a:avLst/>
                      </a:prstGeom>
                    </p:spPr>
                  </p:pic>
                </p:oleObj>
              </mc:Fallback>
            </mc:AlternateContent>
          </a:graphicData>
        </a:graphic>
      </p:graphicFrame>
      <p:sp>
        <p:nvSpPr>
          <p:cNvPr id="22" name="TextBox 21"/>
          <p:cNvSpPr txBox="1"/>
          <p:nvPr/>
        </p:nvSpPr>
        <p:spPr>
          <a:xfrm>
            <a:off x="319585" y="4953000"/>
            <a:ext cx="3350982" cy="369332"/>
          </a:xfrm>
          <a:prstGeom prst="rect">
            <a:avLst/>
          </a:prstGeom>
          <a:noFill/>
        </p:spPr>
        <p:txBody>
          <a:bodyPr wrap="none" rtlCol="0">
            <a:spAutoFit/>
          </a:bodyPr>
          <a:lstStyle/>
          <a:p>
            <a:r>
              <a:rPr lang="en-US" altLang="zh-CN" dirty="0"/>
              <a:t>7. Solve the equation for M and N</a:t>
            </a:r>
            <a:endParaRPr lang="zh-CN" altLang="en-US" dirty="0"/>
          </a:p>
        </p:txBody>
      </p:sp>
      <p:graphicFrame>
        <p:nvGraphicFramePr>
          <p:cNvPr id="23" name="对象 22"/>
          <p:cNvGraphicFramePr>
            <a:graphicFrameLocks noChangeAspect="1"/>
          </p:cNvGraphicFramePr>
          <p:nvPr/>
        </p:nvGraphicFramePr>
        <p:xfrm>
          <a:off x="1835150" y="5384800"/>
          <a:ext cx="1892300" cy="939800"/>
        </p:xfrm>
        <a:graphic>
          <a:graphicData uri="http://schemas.openxmlformats.org/presentationml/2006/ole">
            <mc:AlternateContent xmlns:mc="http://schemas.openxmlformats.org/markup-compatibility/2006">
              <mc:Choice xmlns:v="urn:schemas-microsoft-com:vml" Requires="v">
                <p:oleObj name="Equation" r:id="rId12" imgW="1892160" imgH="939600" progId="Equation.DSMT4">
                  <p:embed/>
                </p:oleObj>
              </mc:Choice>
              <mc:Fallback>
                <p:oleObj name="Equation" r:id="rId12" imgW="1892160" imgH="939600" progId="Equation.DSMT4">
                  <p:embed/>
                  <p:pic>
                    <p:nvPicPr>
                      <p:cNvPr id="23" name="对象 22"/>
                      <p:cNvPicPr>
                        <a:picLocks noChangeAspect="1" noChangeArrowheads="1"/>
                      </p:cNvPicPr>
                      <p:nvPr/>
                    </p:nvPicPr>
                    <p:blipFill>
                      <a:blip r:embed="rId13"/>
                      <a:srcRect/>
                      <a:stretch>
                        <a:fillRect/>
                      </a:stretch>
                    </p:blipFill>
                    <p:spPr bwMode="auto">
                      <a:xfrm>
                        <a:off x="1835150" y="5384800"/>
                        <a:ext cx="18923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nvGraphicFramePr>
        <p:xfrm>
          <a:off x="5625071" y="4585774"/>
          <a:ext cx="3290329" cy="786368"/>
        </p:xfrm>
        <a:graphic>
          <a:graphicData uri="http://schemas.openxmlformats.org/presentationml/2006/ole">
            <mc:AlternateContent xmlns:mc="http://schemas.openxmlformats.org/markup-compatibility/2006">
              <mc:Choice xmlns:v="urn:schemas-microsoft-com:vml" Requires="v">
                <p:oleObj name="Equation" r:id="rId14" imgW="2019240" imgH="482400" progId="Equation.DSMT4">
                  <p:embed/>
                </p:oleObj>
              </mc:Choice>
              <mc:Fallback>
                <p:oleObj name="Equation" r:id="rId14" imgW="2019240" imgH="482400" progId="Equation.DSMT4">
                  <p:embed/>
                  <p:pic>
                    <p:nvPicPr>
                      <p:cNvPr id="24" name="对象 23"/>
                      <p:cNvPicPr>
                        <a:picLocks noChangeAspect="1" noChangeArrowheads="1"/>
                      </p:cNvPicPr>
                      <p:nvPr/>
                    </p:nvPicPr>
                    <p:blipFill>
                      <a:blip r:embed="rId15"/>
                      <a:srcRect/>
                      <a:stretch>
                        <a:fillRect/>
                      </a:stretch>
                    </p:blipFill>
                    <p:spPr bwMode="auto">
                      <a:xfrm>
                        <a:off x="5625071" y="4585774"/>
                        <a:ext cx="3290329" cy="786368"/>
                      </a:xfrm>
                      <a:prstGeom prst="rect">
                        <a:avLst/>
                      </a:prstGeom>
                      <a:noFill/>
                      <a:ln>
                        <a:noFill/>
                      </a:ln>
                    </p:spPr>
                  </p:pic>
                </p:oleObj>
              </mc:Fallback>
            </mc:AlternateContent>
          </a:graphicData>
        </a:graphic>
      </p:graphicFrame>
      <p:sp>
        <p:nvSpPr>
          <p:cNvPr id="25" name="TextBox 24"/>
          <p:cNvSpPr txBox="1"/>
          <p:nvPr/>
        </p:nvSpPr>
        <p:spPr>
          <a:xfrm>
            <a:off x="5798454" y="4215178"/>
            <a:ext cx="983346" cy="369332"/>
          </a:xfrm>
          <a:prstGeom prst="rect">
            <a:avLst/>
          </a:prstGeom>
          <a:noFill/>
        </p:spPr>
        <p:txBody>
          <a:bodyPr wrap="none" rtlCol="0">
            <a:spAutoFit/>
          </a:bodyPr>
          <a:lstStyle/>
          <a:p>
            <a:r>
              <a:rPr lang="en-US" altLang="zh-CN" dirty="0"/>
              <a:t>S=S(T, V)</a:t>
            </a:r>
            <a:endParaRPr lang="zh-CN" altLang="en-US" dirty="0"/>
          </a:p>
        </p:txBody>
      </p:sp>
      <p:sp>
        <p:nvSpPr>
          <p:cNvPr id="26" name="圆角矩形 25"/>
          <p:cNvSpPr/>
          <p:nvPr/>
        </p:nvSpPr>
        <p:spPr>
          <a:xfrm>
            <a:off x="5480721" y="4038600"/>
            <a:ext cx="3581400" cy="1310185"/>
          </a:xfrm>
          <a:prstGeom prst="roundRect">
            <a:avLst>
              <a:gd name="adj" fmla="val 950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对象 26"/>
          <p:cNvGraphicFramePr>
            <a:graphicFrameLocks noChangeAspect="1"/>
          </p:cNvGraphicFramePr>
          <p:nvPr/>
        </p:nvGraphicFramePr>
        <p:xfrm>
          <a:off x="5638800" y="5638800"/>
          <a:ext cx="1600200" cy="939800"/>
        </p:xfrm>
        <a:graphic>
          <a:graphicData uri="http://schemas.openxmlformats.org/presentationml/2006/ole">
            <mc:AlternateContent xmlns:mc="http://schemas.openxmlformats.org/markup-compatibility/2006">
              <mc:Choice xmlns:v="urn:schemas-microsoft-com:vml" Requires="v">
                <p:oleObj name="Equation" r:id="rId16" imgW="1600200" imgH="939600" progId="Equation.DSMT4">
                  <p:embed/>
                </p:oleObj>
              </mc:Choice>
              <mc:Fallback>
                <p:oleObj name="Equation" r:id="rId16" imgW="1600200" imgH="939600" progId="Equation.DSMT4">
                  <p:embed/>
                  <p:pic>
                    <p:nvPicPr>
                      <p:cNvPr id="27" name="对象 26"/>
                      <p:cNvPicPr/>
                      <p:nvPr/>
                    </p:nvPicPr>
                    <p:blipFill>
                      <a:blip r:embed="rId17"/>
                      <a:stretch>
                        <a:fillRect/>
                      </a:stretch>
                    </p:blipFill>
                    <p:spPr>
                      <a:xfrm>
                        <a:off x="5638800" y="5638800"/>
                        <a:ext cx="1600200" cy="939800"/>
                      </a:xfrm>
                      <a:prstGeom prst="rect">
                        <a:avLst/>
                      </a:prstGeom>
                    </p:spPr>
                  </p:pic>
                </p:oleObj>
              </mc:Fallback>
            </mc:AlternateContent>
          </a:graphicData>
        </a:graphic>
      </p:graphicFrame>
      <p:graphicFrame>
        <p:nvGraphicFramePr>
          <p:cNvPr id="28" name="对象 27"/>
          <p:cNvGraphicFramePr>
            <a:graphicFrameLocks noChangeAspect="1"/>
          </p:cNvGraphicFramePr>
          <p:nvPr/>
        </p:nvGraphicFramePr>
        <p:xfrm>
          <a:off x="7392860" y="5745707"/>
          <a:ext cx="1598740" cy="682389"/>
        </p:xfrm>
        <a:graphic>
          <a:graphicData uri="http://schemas.openxmlformats.org/presentationml/2006/ole">
            <mc:AlternateContent xmlns:mc="http://schemas.openxmlformats.org/markup-compatibility/2006">
              <mc:Choice xmlns:v="urn:schemas-microsoft-com:vml" Requires="v">
                <p:oleObj name="Equation" r:id="rId18" imgW="1041120" imgH="444240" progId="Equation.DSMT4">
                  <p:embed/>
                </p:oleObj>
              </mc:Choice>
              <mc:Fallback>
                <p:oleObj name="Equation" r:id="rId18" imgW="1041120" imgH="444240" progId="Equation.DSMT4">
                  <p:embed/>
                  <p:pic>
                    <p:nvPicPr>
                      <p:cNvPr id="28" name="对象 27"/>
                      <p:cNvPicPr/>
                      <p:nvPr/>
                    </p:nvPicPr>
                    <p:blipFill>
                      <a:blip r:embed="rId19"/>
                      <a:stretch>
                        <a:fillRect/>
                      </a:stretch>
                    </p:blipFill>
                    <p:spPr>
                      <a:xfrm>
                        <a:off x="7392860" y="5745707"/>
                        <a:ext cx="1598740" cy="682389"/>
                      </a:xfrm>
                      <a:prstGeom prst="rect">
                        <a:avLst/>
                      </a:prstGeom>
                    </p:spPr>
                  </p:pic>
                </p:oleObj>
              </mc:Fallback>
            </mc:AlternateContent>
          </a:graphicData>
        </a:graphic>
      </p:graphicFrame>
      <p:sp>
        <p:nvSpPr>
          <p:cNvPr id="29" name="圆角矩形 28"/>
          <p:cNvSpPr/>
          <p:nvPr/>
        </p:nvSpPr>
        <p:spPr>
          <a:xfrm>
            <a:off x="5486400" y="5442466"/>
            <a:ext cx="3581400" cy="1310185"/>
          </a:xfrm>
          <a:prstGeom prst="roundRect">
            <a:avLst>
              <a:gd name="adj" fmla="val 9503"/>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1"/>
          <p:cNvSpPr/>
          <p:nvPr/>
        </p:nvSpPr>
        <p:spPr>
          <a:xfrm>
            <a:off x="3668233" y="5677786"/>
            <a:ext cx="1924493" cy="818707"/>
          </a:xfrm>
          <a:custGeom>
            <a:avLst/>
            <a:gdLst>
              <a:gd name="connsiteX0" fmla="*/ 0 w 1924493"/>
              <a:gd name="connsiteY0" fmla="*/ 0 h 818707"/>
              <a:gd name="connsiteX1" fmla="*/ 967562 w 1924493"/>
              <a:gd name="connsiteY1" fmla="*/ 606056 h 818707"/>
              <a:gd name="connsiteX2" fmla="*/ 1924493 w 1924493"/>
              <a:gd name="connsiteY2" fmla="*/ 818707 h 818707"/>
            </a:gdLst>
            <a:ahLst/>
            <a:cxnLst>
              <a:cxn ang="0">
                <a:pos x="connsiteX0" y="connsiteY0"/>
              </a:cxn>
              <a:cxn ang="0">
                <a:pos x="connsiteX1" y="connsiteY1"/>
              </a:cxn>
              <a:cxn ang="0">
                <a:pos x="connsiteX2" y="connsiteY2"/>
              </a:cxn>
            </a:cxnLst>
            <a:rect l="l" t="t" r="r" b="b"/>
            <a:pathLst>
              <a:path w="1924493" h="818707">
                <a:moveTo>
                  <a:pt x="0" y="0"/>
                </a:moveTo>
                <a:cubicBezTo>
                  <a:pt x="323406" y="234802"/>
                  <a:pt x="646813" y="469605"/>
                  <a:pt x="967562" y="606056"/>
                </a:cubicBezTo>
                <a:cubicBezTo>
                  <a:pt x="1288311" y="742507"/>
                  <a:pt x="1606402" y="780607"/>
                  <a:pt x="1924493" y="81870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718142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262696" y="256947"/>
            <a:ext cx="6204904" cy="523220"/>
          </a:xfrm>
          <a:prstGeom prst="rect">
            <a:avLst/>
          </a:prstGeom>
          <a:noFill/>
        </p:spPr>
        <p:txBody>
          <a:bodyPr wrap="none" rtlCol="0">
            <a:spAutoFit/>
          </a:bodyPr>
          <a:lstStyle/>
          <a:p>
            <a:r>
              <a:rPr lang="en-US" altLang="zh-CN" sz="2800" dirty="0"/>
              <a:t>Related the entropy of system to  P and V</a:t>
            </a:r>
            <a:endParaRPr lang="zh-CN" altLang="en-US" sz="2800" dirty="0"/>
          </a:p>
        </p:txBody>
      </p:sp>
      <p:sp>
        <p:nvSpPr>
          <p:cNvPr id="10" name="TextBox 9"/>
          <p:cNvSpPr txBox="1"/>
          <p:nvPr/>
        </p:nvSpPr>
        <p:spPr>
          <a:xfrm>
            <a:off x="304800" y="1323975"/>
            <a:ext cx="3211970" cy="369332"/>
          </a:xfrm>
          <a:prstGeom prst="rect">
            <a:avLst/>
          </a:prstGeom>
          <a:noFill/>
        </p:spPr>
        <p:txBody>
          <a:bodyPr wrap="none" rtlCol="0">
            <a:spAutoFit/>
          </a:bodyPr>
          <a:lstStyle/>
          <a:p>
            <a:r>
              <a:rPr lang="en-US" altLang="zh-CN" dirty="0"/>
              <a:t>1. Identify the variable: S=S(P, V)</a:t>
            </a:r>
            <a:endParaRPr lang="zh-CN" altLang="en-US" dirty="0"/>
          </a:p>
        </p:txBody>
      </p:sp>
      <p:sp>
        <p:nvSpPr>
          <p:cNvPr id="11" name="TextBox 10"/>
          <p:cNvSpPr txBox="1"/>
          <p:nvPr/>
        </p:nvSpPr>
        <p:spPr>
          <a:xfrm>
            <a:off x="304800" y="1704975"/>
            <a:ext cx="4347665" cy="369332"/>
          </a:xfrm>
          <a:prstGeom prst="rect">
            <a:avLst/>
          </a:prstGeom>
          <a:noFill/>
        </p:spPr>
        <p:txBody>
          <a:bodyPr wrap="none" rtlCol="0">
            <a:spAutoFit/>
          </a:bodyPr>
          <a:lstStyle/>
          <a:p>
            <a:r>
              <a:rPr lang="en-US" altLang="zh-CN" dirty="0"/>
              <a:t>2. Write the differential form : </a:t>
            </a:r>
            <a:r>
              <a:rPr lang="en-US" altLang="zh-CN" dirty="0" err="1"/>
              <a:t>dS</a:t>
            </a:r>
            <a:r>
              <a:rPr lang="en-US" altLang="zh-CN" dirty="0"/>
              <a:t>=</a:t>
            </a:r>
            <a:r>
              <a:rPr lang="en-US" altLang="zh-CN" dirty="0" err="1"/>
              <a:t>MdP+NdV</a:t>
            </a:r>
            <a:endParaRPr lang="zh-CN" altLang="en-US" dirty="0"/>
          </a:p>
        </p:txBody>
      </p:sp>
      <p:sp>
        <p:nvSpPr>
          <p:cNvPr id="12" name="TextBox 11"/>
          <p:cNvSpPr txBox="1"/>
          <p:nvPr/>
        </p:nvSpPr>
        <p:spPr>
          <a:xfrm>
            <a:off x="300535" y="2162175"/>
            <a:ext cx="1510478" cy="369332"/>
          </a:xfrm>
          <a:prstGeom prst="rect">
            <a:avLst/>
          </a:prstGeom>
          <a:noFill/>
        </p:spPr>
        <p:txBody>
          <a:bodyPr wrap="none" rtlCol="0">
            <a:spAutoFit/>
          </a:bodyPr>
          <a:lstStyle/>
          <a:p>
            <a:r>
              <a:rPr lang="en-US" altLang="zh-CN" dirty="0"/>
              <a:t>3. Convert </a:t>
            </a:r>
            <a:r>
              <a:rPr lang="en-US" altLang="zh-CN" dirty="0" err="1"/>
              <a:t>dV</a:t>
            </a:r>
            <a:r>
              <a:rPr lang="en-US" altLang="zh-CN" dirty="0"/>
              <a:t>:</a:t>
            </a:r>
            <a:endParaRPr lang="zh-CN" altLang="en-US" dirty="0"/>
          </a:p>
        </p:txBody>
      </p:sp>
      <p:sp>
        <p:nvSpPr>
          <p:cNvPr id="13" name="TextBox 12"/>
          <p:cNvSpPr txBox="1"/>
          <p:nvPr/>
        </p:nvSpPr>
        <p:spPr>
          <a:xfrm>
            <a:off x="304800" y="2628473"/>
            <a:ext cx="1586396" cy="369332"/>
          </a:xfrm>
          <a:prstGeom prst="rect">
            <a:avLst/>
          </a:prstGeom>
          <a:noFill/>
        </p:spPr>
        <p:txBody>
          <a:bodyPr wrap="none" rtlCol="0">
            <a:spAutoFit/>
          </a:bodyPr>
          <a:lstStyle/>
          <a:p>
            <a:r>
              <a:rPr lang="en-US" altLang="zh-CN" dirty="0"/>
              <a:t>4. Collect  item</a:t>
            </a:r>
            <a:endParaRPr lang="zh-CN" altLang="en-US" dirty="0"/>
          </a:p>
        </p:txBody>
      </p:sp>
      <p:graphicFrame>
        <p:nvGraphicFramePr>
          <p:cNvPr id="14" name="对象 13"/>
          <p:cNvGraphicFramePr>
            <a:graphicFrameLocks noChangeAspect="1"/>
          </p:cNvGraphicFramePr>
          <p:nvPr>
            <p:extLst>
              <p:ext uri="{D42A27DB-BD31-4B8C-83A1-F6EECF244321}">
                <p14:modId xmlns:p14="http://schemas.microsoft.com/office/powerpoint/2010/main" val="3160618379"/>
              </p:ext>
            </p:extLst>
          </p:nvPr>
        </p:nvGraphicFramePr>
        <p:xfrm>
          <a:off x="1928813" y="2203450"/>
          <a:ext cx="2595562" cy="338138"/>
        </p:xfrm>
        <a:graphic>
          <a:graphicData uri="http://schemas.openxmlformats.org/presentationml/2006/ole">
            <mc:AlternateContent xmlns:mc="http://schemas.openxmlformats.org/markup-compatibility/2006">
              <mc:Choice xmlns:v="urn:schemas-microsoft-com:vml" Requires="v">
                <p:oleObj name="Equation" r:id="rId2" imgW="1955520" imgH="253800" progId="Equation.DSMT4">
                  <p:embed/>
                </p:oleObj>
              </mc:Choice>
              <mc:Fallback>
                <p:oleObj name="Equation" r:id="rId2" imgW="1955520" imgH="253800" progId="Equation.DSMT4">
                  <p:embed/>
                  <p:pic>
                    <p:nvPicPr>
                      <p:cNvPr id="14" name="对象 13"/>
                      <p:cNvPicPr/>
                      <p:nvPr/>
                    </p:nvPicPr>
                    <p:blipFill>
                      <a:blip r:embed="rId3"/>
                      <a:stretch>
                        <a:fillRect/>
                      </a:stretch>
                    </p:blipFill>
                    <p:spPr>
                      <a:xfrm>
                        <a:off x="1928813" y="2203450"/>
                        <a:ext cx="2595562" cy="338138"/>
                      </a:xfrm>
                      <a:prstGeom prst="rect">
                        <a:avLst/>
                      </a:prstGeom>
                    </p:spPr>
                  </p:pic>
                </p:oleObj>
              </mc:Fallback>
            </mc:AlternateContent>
          </a:graphicData>
        </a:graphic>
      </p:graphicFrame>
      <p:sp>
        <p:nvSpPr>
          <p:cNvPr id="16" name="TextBox 15"/>
          <p:cNvSpPr txBox="1"/>
          <p:nvPr/>
        </p:nvSpPr>
        <p:spPr>
          <a:xfrm>
            <a:off x="304800" y="3076575"/>
            <a:ext cx="3336234" cy="369332"/>
          </a:xfrm>
          <a:prstGeom prst="rect">
            <a:avLst/>
          </a:prstGeom>
          <a:noFill/>
        </p:spPr>
        <p:txBody>
          <a:bodyPr wrap="none" rtlCol="0">
            <a:spAutoFit/>
          </a:bodyPr>
          <a:lstStyle/>
          <a:p>
            <a:r>
              <a:rPr lang="en-US" altLang="zh-CN" dirty="0"/>
              <a:t>5. Obtain S=S(T, P) form</a:t>
            </a:r>
            <a:r>
              <a:rPr lang="zh-CN" altLang="en-US" dirty="0"/>
              <a:t>  </a:t>
            </a:r>
            <a:r>
              <a:rPr lang="en-US" altLang="zh-CN" dirty="0"/>
              <a:t>the table</a:t>
            </a:r>
            <a:endParaRPr lang="zh-CN" altLang="en-US" dirty="0"/>
          </a:p>
        </p:txBody>
      </p:sp>
      <p:graphicFrame>
        <p:nvGraphicFramePr>
          <p:cNvPr id="17" name="对象 16"/>
          <p:cNvGraphicFramePr>
            <a:graphicFrameLocks noChangeAspect="1"/>
          </p:cNvGraphicFramePr>
          <p:nvPr>
            <p:extLst>
              <p:ext uri="{D42A27DB-BD31-4B8C-83A1-F6EECF244321}">
                <p14:modId xmlns:p14="http://schemas.microsoft.com/office/powerpoint/2010/main" val="2405742764"/>
              </p:ext>
            </p:extLst>
          </p:nvPr>
        </p:nvGraphicFramePr>
        <p:xfrm>
          <a:off x="1972917" y="3457575"/>
          <a:ext cx="1590792" cy="535675"/>
        </p:xfrm>
        <a:graphic>
          <a:graphicData uri="http://schemas.openxmlformats.org/presentationml/2006/ole">
            <mc:AlternateContent xmlns:mc="http://schemas.openxmlformats.org/markup-compatibility/2006">
              <mc:Choice xmlns:v="urn:schemas-microsoft-com:vml" Requires="v">
                <p:oleObj name="Equation" r:id="rId4" imgW="1244520" imgH="419040" progId="Equation.DSMT4">
                  <p:embed/>
                </p:oleObj>
              </mc:Choice>
              <mc:Fallback>
                <p:oleObj name="Equation" r:id="rId4" imgW="1244520" imgH="419040" progId="Equation.DSMT4">
                  <p:embed/>
                  <p:pic>
                    <p:nvPicPr>
                      <p:cNvPr id="17" name="对象 16"/>
                      <p:cNvPicPr/>
                      <p:nvPr/>
                    </p:nvPicPr>
                    <p:blipFill>
                      <a:blip r:embed="rId5"/>
                      <a:stretch>
                        <a:fillRect/>
                      </a:stretch>
                    </p:blipFill>
                    <p:spPr>
                      <a:xfrm>
                        <a:off x="1972917" y="3457575"/>
                        <a:ext cx="1590792" cy="535675"/>
                      </a:xfrm>
                      <a:prstGeom prst="rect">
                        <a:avLst/>
                      </a:prstGeom>
                    </p:spPr>
                  </p:pic>
                </p:oleObj>
              </mc:Fallback>
            </mc:AlternateContent>
          </a:graphicData>
        </a:graphic>
      </p:graphicFrame>
      <p:sp>
        <p:nvSpPr>
          <p:cNvPr id="18" name="TextBox 17"/>
          <p:cNvSpPr txBox="1"/>
          <p:nvPr/>
        </p:nvSpPr>
        <p:spPr>
          <a:xfrm>
            <a:off x="304800" y="3914775"/>
            <a:ext cx="2672398" cy="369332"/>
          </a:xfrm>
          <a:prstGeom prst="rect">
            <a:avLst/>
          </a:prstGeom>
          <a:noFill/>
        </p:spPr>
        <p:txBody>
          <a:bodyPr wrap="none" rtlCol="0">
            <a:spAutoFit/>
          </a:bodyPr>
          <a:lstStyle/>
          <a:p>
            <a:r>
              <a:rPr lang="en-US" altLang="zh-CN" dirty="0"/>
              <a:t>6. Compare the coefficient</a:t>
            </a:r>
            <a:endParaRPr lang="zh-CN" altLang="en-US" dirty="0"/>
          </a:p>
        </p:txBody>
      </p:sp>
      <p:graphicFrame>
        <p:nvGraphicFramePr>
          <p:cNvPr id="19" name="对象 18"/>
          <p:cNvGraphicFramePr>
            <a:graphicFrameLocks noChangeAspect="1"/>
          </p:cNvGraphicFramePr>
          <p:nvPr>
            <p:extLst>
              <p:ext uri="{D42A27DB-BD31-4B8C-83A1-F6EECF244321}">
                <p14:modId xmlns:p14="http://schemas.microsoft.com/office/powerpoint/2010/main" val="1858309085"/>
              </p:ext>
            </p:extLst>
          </p:nvPr>
        </p:nvGraphicFramePr>
        <p:xfrm>
          <a:off x="1925638" y="4219575"/>
          <a:ext cx="1104900" cy="635000"/>
        </p:xfrm>
        <a:graphic>
          <a:graphicData uri="http://schemas.openxmlformats.org/presentationml/2006/ole">
            <mc:AlternateContent xmlns:mc="http://schemas.openxmlformats.org/markup-compatibility/2006">
              <mc:Choice xmlns:v="urn:schemas-microsoft-com:vml" Requires="v">
                <p:oleObj name="Equation" r:id="rId6" imgW="1104840" imgH="634680" progId="Equation.DSMT4">
                  <p:embed/>
                </p:oleObj>
              </mc:Choice>
              <mc:Fallback>
                <p:oleObj name="Equation" r:id="rId6" imgW="1104840" imgH="634680" progId="Equation.DSMT4">
                  <p:embed/>
                  <p:pic>
                    <p:nvPicPr>
                      <p:cNvPr id="19" name="对象 18"/>
                      <p:cNvPicPr/>
                      <p:nvPr/>
                    </p:nvPicPr>
                    <p:blipFill>
                      <a:blip r:embed="rId7"/>
                      <a:stretch>
                        <a:fillRect/>
                      </a:stretch>
                    </p:blipFill>
                    <p:spPr>
                      <a:xfrm>
                        <a:off x="1925638" y="4219575"/>
                        <a:ext cx="1104900" cy="635000"/>
                      </a:xfrm>
                      <a:prstGeom prst="rect">
                        <a:avLst/>
                      </a:prstGeom>
                    </p:spPr>
                  </p:pic>
                </p:oleObj>
              </mc:Fallback>
            </mc:AlternateContent>
          </a:graphicData>
        </a:graphic>
      </p:graphicFrame>
      <p:sp>
        <p:nvSpPr>
          <p:cNvPr id="20" name="TextBox 19"/>
          <p:cNvSpPr txBox="1"/>
          <p:nvPr/>
        </p:nvSpPr>
        <p:spPr>
          <a:xfrm>
            <a:off x="319585" y="4905375"/>
            <a:ext cx="3350982" cy="369332"/>
          </a:xfrm>
          <a:prstGeom prst="rect">
            <a:avLst/>
          </a:prstGeom>
          <a:noFill/>
        </p:spPr>
        <p:txBody>
          <a:bodyPr wrap="none" rtlCol="0">
            <a:spAutoFit/>
          </a:bodyPr>
          <a:lstStyle/>
          <a:p>
            <a:r>
              <a:rPr lang="en-US" altLang="zh-CN" dirty="0"/>
              <a:t>7. Solve the equation for M and N</a:t>
            </a:r>
            <a:endParaRPr lang="zh-CN" altLang="en-US" dirty="0"/>
          </a:p>
        </p:txBody>
      </p:sp>
      <p:graphicFrame>
        <p:nvGraphicFramePr>
          <p:cNvPr id="21" name="对象 20"/>
          <p:cNvGraphicFramePr>
            <a:graphicFrameLocks noChangeAspect="1"/>
          </p:cNvGraphicFramePr>
          <p:nvPr>
            <p:extLst>
              <p:ext uri="{D42A27DB-BD31-4B8C-83A1-F6EECF244321}">
                <p14:modId xmlns:p14="http://schemas.microsoft.com/office/powerpoint/2010/main" val="3653543167"/>
              </p:ext>
            </p:extLst>
          </p:nvPr>
        </p:nvGraphicFramePr>
        <p:xfrm>
          <a:off x="1905000" y="5387975"/>
          <a:ext cx="1701800" cy="889000"/>
        </p:xfrm>
        <a:graphic>
          <a:graphicData uri="http://schemas.openxmlformats.org/presentationml/2006/ole">
            <mc:AlternateContent xmlns:mc="http://schemas.openxmlformats.org/markup-compatibility/2006">
              <mc:Choice xmlns:v="urn:schemas-microsoft-com:vml" Requires="v">
                <p:oleObj name="Equation" r:id="rId8" imgW="1701720" imgH="888840" progId="Equation.DSMT4">
                  <p:embed/>
                </p:oleObj>
              </mc:Choice>
              <mc:Fallback>
                <p:oleObj name="Equation" r:id="rId8" imgW="1701720" imgH="888840" progId="Equation.DSMT4">
                  <p:embed/>
                  <p:pic>
                    <p:nvPicPr>
                      <p:cNvPr id="21" name="对象 20"/>
                      <p:cNvPicPr>
                        <a:picLocks noChangeAspect="1" noChangeArrowheads="1"/>
                      </p:cNvPicPr>
                      <p:nvPr/>
                    </p:nvPicPr>
                    <p:blipFill>
                      <a:blip r:embed="rId9"/>
                      <a:srcRect/>
                      <a:stretch>
                        <a:fillRect/>
                      </a:stretch>
                    </p:blipFill>
                    <p:spPr bwMode="auto">
                      <a:xfrm>
                        <a:off x="1905000" y="5387975"/>
                        <a:ext cx="1701800" cy="88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248010660"/>
              </p:ext>
            </p:extLst>
          </p:nvPr>
        </p:nvGraphicFramePr>
        <p:xfrm>
          <a:off x="5943600" y="1168400"/>
          <a:ext cx="3048000" cy="2192966"/>
        </p:xfrm>
        <a:graphic>
          <a:graphicData uri="http://schemas.openxmlformats.org/presentationml/2006/ole">
            <mc:AlternateContent xmlns:mc="http://schemas.openxmlformats.org/markup-compatibility/2006">
              <mc:Choice xmlns:v="urn:schemas-microsoft-com:vml" Requires="v">
                <p:oleObj name="Equation" r:id="rId10" imgW="2298600" imgH="1650960" progId="Equation.DSMT4">
                  <p:embed/>
                </p:oleObj>
              </mc:Choice>
              <mc:Fallback>
                <p:oleObj name="Equation" r:id="rId10" imgW="2298600" imgH="1650960" progId="Equation.DSMT4">
                  <p:embed/>
                  <p:pic>
                    <p:nvPicPr>
                      <p:cNvPr id="22" name="对象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43600" y="1168400"/>
                        <a:ext cx="3048000" cy="2192966"/>
                      </a:xfrm>
                      <a:prstGeom prst="rect">
                        <a:avLst/>
                      </a:prstGeom>
                      <a:noFill/>
                      <a:ln w="57150">
                        <a:solidFill>
                          <a:srgbClr val="00B050"/>
                        </a:solidFill>
                        <a:miter lim="800000"/>
                        <a:headEnd/>
                        <a:tailEnd/>
                      </a:ln>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2138751501"/>
              </p:ext>
            </p:extLst>
          </p:nvPr>
        </p:nvGraphicFramePr>
        <p:xfrm>
          <a:off x="1965325" y="2682875"/>
          <a:ext cx="2562225" cy="338138"/>
        </p:xfrm>
        <a:graphic>
          <a:graphicData uri="http://schemas.openxmlformats.org/presentationml/2006/ole">
            <mc:AlternateContent xmlns:mc="http://schemas.openxmlformats.org/markup-compatibility/2006">
              <mc:Choice xmlns:v="urn:schemas-microsoft-com:vml" Requires="v">
                <p:oleObj name="Equation" r:id="rId12" imgW="1930320" imgH="253800" progId="Equation.DSMT4">
                  <p:embed/>
                </p:oleObj>
              </mc:Choice>
              <mc:Fallback>
                <p:oleObj name="Equation" r:id="rId12" imgW="1930320" imgH="253800" progId="Equation.DSMT4">
                  <p:embed/>
                  <p:pic>
                    <p:nvPicPr>
                      <p:cNvPr id="23" name="对象 22"/>
                      <p:cNvPicPr>
                        <a:picLocks noChangeAspect="1" noChangeArrowheads="1"/>
                      </p:cNvPicPr>
                      <p:nvPr/>
                    </p:nvPicPr>
                    <p:blipFill>
                      <a:blip r:embed="rId13"/>
                      <a:srcRect/>
                      <a:stretch>
                        <a:fillRect/>
                      </a:stretch>
                    </p:blipFill>
                    <p:spPr bwMode="auto">
                      <a:xfrm>
                        <a:off x="1965325" y="2682875"/>
                        <a:ext cx="2562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4059933775"/>
              </p:ext>
            </p:extLst>
          </p:nvPr>
        </p:nvGraphicFramePr>
        <p:xfrm>
          <a:off x="5932034" y="5396884"/>
          <a:ext cx="2773829" cy="596900"/>
        </p:xfrm>
        <a:graphic>
          <a:graphicData uri="http://schemas.openxmlformats.org/presentationml/2006/ole">
            <mc:AlternateContent xmlns:mc="http://schemas.openxmlformats.org/markup-compatibility/2006">
              <mc:Choice xmlns:v="urn:schemas-microsoft-com:vml" Requires="v">
                <p:oleObj name="Equation" r:id="rId14" imgW="2006280" imgH="431640" progId="Equation.DSMT4">
                  <p:embed/>
                </p:oleObj>
              </mc:Choice>
              <mc:Fallback>
                <p:oleObj name="Equation" r:id="rId14" imgW="2006280" imgH="431640" progId="Equation.DSMT4">
                  <p:embed/>
                  <p:pic>
                    <p:nvPicPr>
                      <p:cNvPr id="24" name="对象 23"/>
                      <p:cNvPicPr>
                        <a:picLocks noChangeAspect="1" noChangeArrowheads="1"/>
                      </p:cNvPicPr>
                      <p:nvPr/>
                    </p:nvPicPr>
                    <p:blipFill>
                      <a:blip r:embed="rId15"/>
                      <a:srcRect/>
                      <a:stretch>
                        <a:fillRect/>
                      </a:stretch>
                    </p:blipFill>
                    <p:spPr bwMode="auto">
                      <a:xfrm>
                        <a:off x="5932034" y="5396884"/>
                        <a:ext cx="2773829" cy="596900"/>
                      </a:xfrm>
                      <a:prstGeom prst="rect">
                        <a:avLst/>
                      </a:prstGeom>
                      <a:noFill/>
                      <a:ln>
                        <a:noFill/>
                      </a:ln>
                    </p:spPr>
                  </p:pic>
                </p:oleObj>
              </mc:Fallback>
            </mc:AlternateContent>
          </a:graphicData>
        </a:graphic>
      </p:graphicFrame>
      <p:sp>
        <p:nvSpPr>
          <p:cNvPr id="25" name="矩形 24"/>
          <p:cNvSpPr/>
          <p:nvPr/>
        </p:nvSpPr>
        <p:spPr>
          <a:xfrm>
            <a:off x="5922979" y="4905375"/>
            <a:ext cx="984821" cy="369332"/>
          </a:xfrm>
          <a:prstGeom prst="rect">
            <a:avLst/>
          </a:prstGeom>
        </p:spPr>
        <p:txBody>
          <a:bodyPr wrap="none">
            <a:spAutoFit/>
          </a:bodyPr>
          <a:lstStyle/>
          <a:p>
            <a:r>
              <a:rPr lang="en-US" altLang="zh-CN" dirty="0"/>
              <a:t>S=S(P, V)</a:t>
            </a:r>
            <a:endParaRPr lang="zh-CN" altLang="en-US" dirty="0"/>
          </a:p>
        </p:txBody>
      </p:sp>
      <p:sp>
        <p:nvSpPr>
          <p:cNvPr id="26" name="圆角矩形 25"/>
          <p:cNvSpPr/>
          <p:nvPr/>
        </p:nvSpPr>
        <p:spPr>
          <a:xfrm>
            <a:off x="5922979" y="4752975"/>
            <a:ext cx="3068621" cy="1600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38558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304925" y="291525"/>
            <a:ext cx="3244799" cy="523220"/>
          </a:xfrm>
          <a:prstGeom prst="rect">
            <a:avLst/>
          </a:prstGeom>
          <a:noFill/>
        </p:spPr>
        <p:txBody>
          <a:bodyPr wrap="none" rtlCol="0">
            <a:spAutoFit/>
          </a:bodyPr>
          <a:lstStyle/>
          <a:p>
            <a:r>
              <a:rPr lang="en-US" altLang="zh-CN" sz="2800" dirty="0">
                <a:solidFill>
                  <a:srgbClr val="FF0000"/>
                </a:solidFill>
              </a:rPr>
              <a:t>Applied to idea gas</a:t>
            </a:r>
            <a:endParaRPr lang="zh-CN" altLang="en-US" sz="2800" dirty="0">
              <a:solidFill>
                <a:srgbClr val="FF0000"/>
              </a:solidFill>
            </a:endParaRPr>
          </a:p>
        </p:txBody>
      </p:sp>
      <p:sp>
        <p:nvSpPr>
          <p:cNvPr id="10" name="TextBox 9"/>
          <p:cNvSpPr txBox="1"/>
          <p:nvPr/>
        </p:nvSpPr>
        <p:spPr>
          <a:xfrm>
            <a:off x="1014298" y="1060536"/>
            <a:ext cx="2735942" cy="400110"/>
          </a:xfrm>
          <a:prstGeom prst="rect">
            <a:avLst/>
          </a:prstGeom>
          <a:noFill/>
        </p:spPr>
        <p:txBody>
          <a:bodyPr wrap="none" rtlCol="0">
            <a:spAutoFit/>
          </a:bodyPr>
          <a:lstStyle/>
          <a:p>
            <a:r>
              <a:rPr lang="en-US" altLang="zh-CN" sz="2000" dirty="0"/>
              <a:t>The equation of idea gas</a:t>
            </a:r>
            <a:endParaRPr lang="zh-CN" altLang="en-US" sz="2000" dirty="0"/>
          </a:p>
        </p:txBody>
      </p:sp>
      <p:graphicFrame>
        <p:nvGraphicFramePr>
          <p:cNvPr id="11" name="对象 10"/>
          <p:cNvGraphicFramePr>
            <a:graphicFrameLocks noChangeAspect="1"/>
          </p:cNvGraphicFramePr>
          <p:nvPr>
            <p:extLst>
              <p:ext uri="{D42A27DB-BD31-4B8C-83A1-F6EECF244321}">
                <p14:modId xmlns:p14="http://schemas.microsoft.com/office/powerpoint/2010/main" val="730516847"/>
              </p:ext>
            </p:extLst>
          </p:nvPr>
        </p:nvGraphicFramePr>
        <p:xfrm>
          <a:off x="1319099" y="1593936"/>
          <a:ext cx="1527412" cy="395996"/>
        </p:xfrm>
        <a:graphic>
          <a:graphicData uri="http://schemas.openxmlformats.org/presentationml/2006/ole">
            <mc:AlternateContent xmlns:mc="http://schemas.openxmlformats.org/markup-compatibility/2006">
              <mc:Choice xmlns:v="urn:schemas-microsoft-com:vml" Requires="v">
                <p:oleObj name="Equation" r:id="rId2" imgW="685800" imgH="177480" progId="Equation.DSMT4">
                  <p:embed/>
                </p:oleObj>
              </mc:Choice>
              <mc:Fallback>
                <p:oleObj name="Equation" r:id="rId2" imgW="685800" imgH="177480" progId="Equation.DSMT4">
                  <p:embed/>
                  <p:pic>
                    <p:nvPicPr>
                      <p:cNvPr id="11" name="对象 10"/>
                      <p:cNvPicPr/>
                      <p:nvPr/>
                    </p:nvPicPr>
                    <p:blipFill>
                      <a:blip r:embed="rId3"/>
                      <a:stretch>
                        <a:fillRect/>
                      </a:stretch>
                    </p:blipFill>
                    <p:spPr>
                      <a:xfrm>
                        <a:off x="1319099" y="1593936"/>
                        <a:ext cx="1527412" cy="395996"/>
                      </a:xfrm>
                      <a:prstGeom prst="rect">
                        <a:avLst/>
                      </a:prstGeom>
                    </p:spPr>
                  </p:pic>
                </p:oleObj>
              </mc:Fallback>
            </mc:AlternateContent>
          </a:graphicData>
        </a:graphic>
      </p:graphicFrame>
      <p:sp>
        <p:nvSpPr>
          <p:cNvPr id="12" name="TextBox 11"/>
          <p:cNvSpPr txBox="1"/>
          <p:nvPr/>
        </p:nvSpPr>
        <p:spPr>
          <a:xfrm>
            <a:off x="4500399" y="1069268"/>
            <a:ext cx="2454262" cy="400110"/>
          </a:xfrm>
          <a:prstGeom prst="rect">
            <a:avLst/>
          </a:prstGeom>
          <a:noFill/>
        </p:spPr>
        <p:txBody>
          <a:bodyPr wrap="none" rtlCol="0">
            <a:spAutoFit/>
          </a:bodyPr>
          <a:lstStyle/>
          <a:p>
            <a:r>
              <a:rPr lang="en-US" altLang="zh-CN" sz="2000" dirty="0"/>
              <a:t>For </a:t>
            </a:r>
            <a:r>
              <a:rPr lang="en-US" altLang="zh-CN" sz="2000" i="1" dirty="0"/>
              <a:t>1</a:t>
            </a:r>
            <a:r>
              <a:rPr lang="en-US" altLang="zh-CN" sz="2000" dirty="0"/>
              <a:t>mol gas, i.e. n=1 </a:t>
            </a:r>
            <a:endParaRPr lang="zh-CN" altLang="en-US" sz="2000" dirty="0"/>
          </a:p>
        </p:txBody>
      </p:sp>
      <p:graphicFrame>
        <p:nvGraphicFramePr>
          <p:cNvPr id="13" name="对象 12"/>
          <p:cNvGraphicFramePr>
            <a:graphicFrameLocks noChangeAspect="1"/>
          </p:cNvGraphicFramePr>
          <p:nvPr>
            <p:extLst>
              <p:ext uri="{D42A27DB-BD31-4B8C-83A1-F6EECF244321}">
                <p14:modId xmlns:p14="http://schemas.microsoft.com/office/powerpoint/2010/main" val="1925060300"/>
              </p:ext>
            </p:extLst>
          </p:nvPr>
        </p:nvGraphicFramePr>
        <p:xfrm>
          <a:off x="4824298" y="1547106"/>
          <a:ext cx="1385887" cy="395287"/>
        </p:xfrm>
        <a:graphic>
          <a:graphicData uri="http://schemas.openxmlformats.org/presentationml/2006/ole">
            <mc:AlternateContent xmlns:mc="http://schemas.openxmlformats.org/markup-compatibility/2006">
              <mc:Choice xmlns:v="urn:schemas-microsoft-com:vml" Requires="v">
                <p:oleObj name="Equation" r:id="rId4" imgW="622080" imgH="177480" progId="Equation.DSMT4">
                  <p:embed/>
                </p:oleObj>
              </mc:Choice>
              <mc:Fallback>
                <p:oleObj name="Equation" r:id="rId4" imgW="622080" imgH="177480" progId="Equation.DSMT4">
                  <p:embed/>
                  <p:pic>
                    <p:nvPicPr>
                      <p:cNvPr id="13" name="对象 12"/>
                      <p:cNvPicPr>
                        <a:picLocks noChangeAspect="1" noChangeArrowheads="1"/>
                      </p:cNvPicPr>
                      <p:nvPr/>
                    </p:nvPicPr>
                    <p:blipFill>
                      <a:blip r:embed="rId5"/>
                      <a:srcRect/>
                      <a:stretch>
                        <a:fillRect/>
                      </a:stretch>
                    </p:blipFill>
                    <p:spPr bwMode="auto">
                      <a:xfrm>
                        <a:off x="4824298" y="1547106"/>
                        <a:ext cx="13858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106016338"/>
              </p:ext>
            </p:extLst>
          </p:nvPr>
        </p:nvGraphicFramePr>
        <p:xfrm>
          <a:off x="1642899" y="2221514"/>
          <a:ext cx="5573229" cy="1537442"/>
        </p:xfrm>
        <a:graphic>
          <a:graphicData uri="http://schemas.openxmlformats.org/presentationml/2006/ole">
            <mc:AlternateContent xmlns:mc="http://schemas.openxmlformats.org/markup-compatibility/2006">
              <mc:Choice xmlns:v="urn:schemas-microsoft-com:vml" Requires="v">
                <p:oleObj name="Equation" r:id="rId6" imgW="4419360" imgH="1218960" progId="Equation.DSMT4">
                  <p:embed/>
                </p:oleObj>
              </mc:Choice>
              <mc:Fallback>
                <p:oleObj name="Equation" r:id="rId6" imgW="4419360" imgH="1218960" progId="Equation.DSMT4">
                  <p:embed/>
                  <p:pic>
                    <p:nvPicPr>
                      <p:cNvPr id="14" name="对象 13"/>
                      <p:cNvPicPr/>
                      <p:nvPr/>
                    </p:nvPicPr>
                    <p:blipFill>
                      <a:blip r:embed="rId7"/>
                      <a:stretch>
                        <a:fillRect/>
                      </a:stretch>
                    </p:blipFill>
                    <p:spPr>
                      <a:xfrm>
                        <a:off x="1642899" y="2221514"/>
                        <a:ext cx="5573229" cy="1537442"/>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60557172"/>
              </p:ext>
            </p:extLst>
          </p:nvPr>
        </p:nvGraphicFramePr>
        <p:xfrm>
          <a:off x="1992410" y="5172659"/>
          <a:ext cx="4129202" cy="704265"/>
        </p:xfrm>
        <a:graphic>
          <a:graphicData uri="http://schemas.openxmlformats.org/presentationml/2006/ole">
            <mc:AlternateContent xmlns:mc="http://schemas.openxmlformats.org/markup-compatibility/2006">
              <mc:Choice xmlns:v="urn:schemas-microsoft-com:vml" Requires="v">
                <p:oleObj name="Equation" r:id="rId8" imgW="2755800" imgH="469800" progId="Equation.DSMT4">
                  <p:embed/>
                </p:oleObj>
              </mc:Choice>
              <mc:Fallback>
                <p:oleObj name="Equation" r:id="rId8" imgW="2755800" imgH="469800" progId="Equation.DSMT4">
                  <p:embed/>
                  <p:pic>
                    <p:nvPicPr>
                      <p:cNvPr id="15" name="对象 14"/>
                      <p:cNvPicPr>
                        <a:picLocks noChangeAspect="1" noChangeArrowheads="1"/>
                      </p:cNvPicPr>
                      <p:nvPr/>
                    </p:nvPicPr>
                    <p:blipFill>
                      <a:blip r:embed="rId9"/>
                      <a:srcRect/>
                      <a:stretch>
                        <a:fillRect/>
                      </a:stretch>
                    </p:blipFill>
                    <p:spPr bwMode="auto">
                      <a:xfrm>
                        <a:off x="1992410" y="5172659"/>
                        <a:ext cx="4129202" cy="704265"/>
                      </a:xfrm>
                      <a:prstGeom prst="rect">
                        <a:avLst/>
                      </a:prstGeom>
                      <a:noFill/>
                      <a:ln>
                        <a:solidFill>
                          <a:srgbClr val="FF0000"/>
                        </a:solidFill>
                      </a:ln>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030144004"/>
              </p:ext>
            </p:extLst>
          </p:nvPr>
        </p:nvGraphicFramePr>
        <p:xfrm>
          <a:off x="1838325" y="3917985"/>
          <a:ext cx="1600200" cy="939800"/>
        </p:xfrm>
        <a:graphic>
          <a:graphicData uri="http://schemas.openxmlformats.org/presentationml/2006/ole">
            <mc:AlternateContent xmlns:mc="http://schemas.openxmlformats.org/markup-compatibility/2006">
              <mc:Choice xmlns:v="urn:schemas-microsoft-com:vml" Requires="v">
                <p:oleObj name="Equation" r:id="rId10" imgW="1600200" imgH="939600" progId="Equation.DSMT4">
                  <p:embed/>
                </p:oleObj>
              </mc:Choice>
              <mc:Fallback>
                <p:oleObj name="Equation" r:id="rId10" imgW="1600200" imgH="939600" progId="Equation.DSMT4">
                  <p:embed/>
                  <p:pic>
                    <p:nvPicPr>
                      <p:cNvPr id="17" name="对象 16"/>
                      <p:cNvPicPr/>
                      <p:nvPr/>
                    </p:nvPicPr>
                    <p:blipFill>
                      <a:blip r:embed="rId11"/>
                      <a:stretch>
                        <a:fillRect/>
                      </a:stretch>
                    </p:blipFill>
                    <p:spPr>
                      <a:xfrm>
                        <a:off x="1838325" y="3917985"/>
                        <a:ext cx="1600200" cy="93980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620905577"/>
              </p:ext>
            </p:extLst>
          </p:nvPr>
        </p:nvGraphicFramePr>
        <p:xfrm>
          <a:off x="4611445" y="3917985"/>
          <a:ext cx="1598740" cy="682389"/>
        </p:xfrm>
        <a:graphic>
          <a:graphicData uri="http://schemas.openxmlformats.org/presentationml/2006/ole">
            <mc:AlternateContent xmlns:mc="http://schemas.openxmlformats.org/markup-compatibility/2006">
              <mc:Choice xmlns:v="urn:schemas-microsoft-com:vml" Requires="v">
                <p:oleObj name="Equation" r:id="rId12" imgW="1041120" imgH="444240" progId="Equation.DSMT4">
                  <p:embed/>
                </p:oleObj>
              </mc:Choice>
              <mc:Fallback>
                <p:oleObj name="Equation" r:id="rId12" imgW="1041120" imgH="444240" progId="Equation.DSMT4">
                  <p:embed/>
                  <p:pic>
                    <p:nvPicPr>
                      <p:cNvPr id="18" name="对象 17"/>
                      <p:cNvPicPr/>
                      <p:nvPr/>
                    </p:nvPicPr>
                    <p:blipFill>
                      <a:blip r:embed="rId13"/>
                      <a:stretch>
                        <a:fillRect/>
                      </a:stretch>
                    </p:blipFill>
                    <p:spPr>
                      <a:xfrm>
                        <a:off x="4611445" y="3917985"/>
                        <a:ext cx="1598740" cy="682389"/>
                      </a:xfrm>
                      <a:prstGeom prst="rect">
                        <a:avLst/>
                      </a:prstGeom>
                    </p:spPr>
                  </p:pic>
                </p:oleObj>
              </mc:Fallback>
            </mc:AlternateContent>
          </a:graphicData>
        </a:graphic>
      </p:graphicFrame>
    </p:spTree>
    <p:extLst>
      <p:ext uri="{BB962C8B-B14F-4D97-AF65-F5344CB8AC3E}">
        <p14:creationId xmlns:p14="http://schemas.microsoft.com/office/powerpoint/2010/main" val="29359982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35513850"/>
              </p:ext>
            </p:extLst>
          </p:nvPr>
        </p:nvGraphicFramePr>
        <p:xfrm>
          <a:off x="4843416" y="1023239"/>
          <a:ext cx="2100309" cy="791529"/>
        </p:xfrm>
        <a:graphic>
          <a:graphicData uri="http://schemas.openxmlformats.org/presentationml/2006/ole">
            <mc:AlternateContent xmlns:mc="http://schemas.openxmlformats.org/markup-compatibility/2006">
              <mc:Choice xmlns:v="urn:schemas-microsoft-com:vml" Requires="v">
                <p:oleObj name="Equation" r:id="rId2" imgW="1752480" imgH="660240" progId="Equation.DSMT4">
                  <p:embed/>
                </p:oleObj>
              </mc:Choice>
              <mc:Fallback>
                <p:oleObj name="Equation" r:id="rId2" imgW="1752480" imgH="660240" progId="Equation.DSMT4">
                  <p:embed/>
                  <p:pic>
                    <p:nvPicPr>
                      <p:cNvPr id="0" name=""/>
                      <p:cNvPicPr>
                        <a:picLocks noChangeAspect="1" noChangeArrowheads="1"/>
                      </p:cNvPicPr>
                      <p:nvPr/>
                    </p:nvPicPr>
                    <p:blipFill>
                      <a:blip r:embed="rId3"/>
                      <a:srcRect/>
                      <a:stretch>
                        <a:fillRect/>
                      </a:stretch>
                    </p:blipFill>
                    <p:spPr bwMode="auto">
                      <a:xfrm>
                        <a:off x="4843416" y="1023239"/>
                        <a:ext cx="2100309" cy="791529"/>
                      </a:xfrm>
                      <a:prstGeom prst="rect">
                        <a:avLst/>
                      </a:prstGeom>
                      <a:noFill/>
                      <a:ln>
                        <a:noFill/>
                      </a:ln>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1387426304"/>
              </p:ext>
            </p:extLst>
          </p:nvPr>
        </p:nvGraphicFramePr>
        <p:xfrm>
          <a:off x="3827416" y="5129213"/>
          <a:ext cx="2032000" cy="566737"/>
        </p:xfrm>
        <a:graphic>
          <a:graphicData uri="http://schemas.openxmlformats.org/presentationml/2006/ole">
            <mc:AlternateContent xmlns:mc="http://schemas.openxmlformats.org/markup-compatibility/2006">
              <mc:Choice xmlns:v="urn:schemas-microsoft-com:vml" Requires="v">
                <p:oleObj name="Equation" r:id="rId4" imgW="1409400" imgH="393480" progId="Equation.DSMT4">
                  <p:embed/>
                </p:oleObj>
              </mc:Choice>
              <mc:Fallback>
                <p:oleObj name="Equation" r:id="rId4" imgW="1409400" imgH="393480" progId="Equation.DSMT4">
                  <p:embed/>
                  <p:pic>
                    <p:nvPicPr>
                      <p:cNvPr id="0" name=""/>
                      <p:cNvPicPr>
                        <a:picLocks noChangeAspect="1" noChangeArrowheads="1"/>
                      </p:cNvPicPr>
                      <p:nvPr/>
                    </p:nvPicPr>
                    <p:blipFill>
                      <a:blip r:embed="rId5"/>
                      <a:srcRect/>
                      <a:stretch>
                        <a:fillRect/>
                      </a:stretch>
                    </p:blipFill>
                    <p:spPr bwMode="auto">
                      <a:xfrm>
                        <a:off x="3827416" y="5129213"/>
                        <a:ext cx="2032000" cy="566737"/>
                      </a:xfrm>
                      <a:prstGeom prst="rect">
                        <a:avLst/>
                      </a:prstGeom>
                      <a:noFill/>
                      <a:ln>
                        <a:solidFill>
                          <a:srgbClr val="0000FF"/>
                        </a:solid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8122231"/>
              </p:ext>
            </p:extLst>
          </p:nvPr>
        </p:nvGraphicFramePr>
        <p:xfrm>
          <a:off x="1365463" y="953210"/>
          <a:ext cx="2654087" cy="534330"/>
        </p:xfrm>
        <a:graphic>
          <a:graphicData uri="http://schemas.openxmlformats.org/presentationml/2006/ole">
            <mc:AlternateContent xmlns:mc="http://schemas.openxmlformats.org/markup-compatibility/2006">
              <mc:Choice xmlns:v="urn:schemas-microsoft-com:vml" Requires="v">
                <p:oleObj name="Equation" r:id="rId6" imgW="1955800" imgH="393700" progId="Equation.DSMT4">
                  <p:embed/>
                </p:oleObj>
              </mc:Choice>
              <mc:Fallback>
                <p:oleObj name="Equation" r:id="rId6" imgW="1955800" imgH="3937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65463" y="953210"/>
                        <a:ext cx="2654087" cy="534330"/>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169351066"/>
              </p:ext>
            </p:extLst>
          </p:nvPr>
        </p:nvGraphicFramePr>
        <p:xfrm>
          <a:off x="1412828" y="1492297"/>
          <a:ext cx="1006522" cy="528965"/>
        </p:xfrm>
        <a:graphic>
          <a:graphicData uri="http://schemas.openxmlformats.org/presentationml/2006/ole">
            <mc:AlternateContent xmlns:mc="http://schemas.openxmlformats.org/markup-compatibility/2006">
              <mc:Choice xmlns:v="urn:schemas-microsoft-com:vml" Requires="v">
                <p:oleObj name="Equation" r:id="rId8" imgW="748975" imgH="393529" progId="Equation.DSMT4">
                  <p:embed/>
                </p:oleObj>
              </mc:Choice>
              <mc:Fallback>
                <p:oleObj name="Equation" r:id="rId8" imgW="748975" imgH="39352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12828" y="1492297"/>
                        <a:ext cx="1006522" cy="528965"/>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724300389"/>
              </p:ext>
            </p:extLst>
          </p:nvPr>
        </p:nvGraphicFramePr>
        <p:xfrm>
          <a:off x="1412828" y="2400124"/>
          <a:ext cx="3958332" cy="2029001"/>
        </p:xfrm>
        <a:graphic>
          <a:graphicData uri="http://schemas.openxmlformats.org/presentationml/2006/ole">
            <mc:AlternateContent xmlns:mc="http://schemas.openxmlformats.org/markup-compatibility/2006">
              <mc:Choice xmlns:v="urn:schemas-microsoft-com:vml" Requires="v">
                <p:oleObj name="Equation" r:id="rId10" imgW="3416040" imgH="1752480" progId="Equation.DSMT4">
                  <p:embed/>
                </p:oleObj>
              </mc:Choice>
              <mc:Fallback>
                <p:oleObj name="Equation" r:id="rId10" imgW="3416040" imgH="175248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12828" y="2400124"/>
                        <a:ext cx="3958332" cy="2029001"/>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107985721"/>
              </p:ext>
            </p:extLst>
          </p:nvPr>
        </p:nvGraphicFramePr>
        <p:xfrm>
          <a:off x="1642948" y="5214937"/>
          <a:ext cx="1385887" cy="395287"/>
        </p:xfrm>
        <a:graphic>
          <a:graphicData uri="http://schemas.openxmlformats.org/presentationml/2006/ole">
            <mc:AlternateContent xmlns:mc="http://schemas.openxmlformats.org/markup-compatibility/2006">
              <mc:Choice xmlns:v="urn:schemas-microsoft-com:vml" Requires="v">
                <p:oleObj name="Equation" r:id="rId12" imgW="622080" imgH="177480" progId="Equation.DSMT4">
                  <p:embed/>
                </p:oleObj>
              </mc:Choice>
              <mc:Fallback>
                <p:oleObj name="Equation" r:id="rId12" imgW="622080" imgH="177480" progId="Equation.DSMT4">
                  <p:embed/>
                  <p:pic>
                    <p:nvPicPr>
                      <p:cNvPr id="0" name=""/>
                      <p:cNvPicPr>
                        <a:picLocks noChangeAspect="1" noChangeArrowheads="1"/>
                      </p:cNvPicPr>
                      <p:nvPr/>
                    </p:nvPicPr>
                    <p:blipFill>
                      <a:blip r:embed="rId13"/>
                      <a:srcRect/>
                      <a:stretch>
                        <a:fillRect/>
                      </a:stretch>
                    </p:blipFill>
                    <p:spPr bwMode="auto">
                      <a:xfrm>
                        <a:off x="1642948" y="5214937"/>
                        <a:ext cx="1385887"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31155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079083" y="190500"/>
            <a:ext cx="6292043" cy="523220"/>
          </a:xfrm>
          <a:prstGeom prst="rect">
            <a:avLst/>
          </a:prstGeom>
          <a:noFill/>
        </p:spPr>
        <p:txBody>
          <a:bodyPr wrap="none" rtlCol="0">
            <a:spAutoFit/>
          </a:bodyPr>
          <a:lstStyle/>
          <a:p>
            <a:r>
              <a:rPr lang="en-US" altLang="zh-CN" sz="2800" dirty="0">
                <a:solidFill>
                  <a:srgbClr val="FF0000"/>
                </a:solidFill>
              </a:rPr>
              <a:t>Another application of Maxwell equations</a:t>
            </a:r>
            <a:endParaRPr lang="zh-CN" altLang="en-US" sz="2800" dirty="0">
              <a:solidFill>
                <a:srgbClr val="FF0000"/>
              </a:solidFill>
            </a:endParaRPr>
          </a:p>
        </p:txBody>
      </p:sp>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148" y="2104697"/>
            <a:ext cx="3125470"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p:cNvSpPr txBox="1"/>
          <p:nvPr/>
        </p:nvSpPr>
        <p:spPr>
          <a:xfrm>
            <a:off x="207531" y="1309328"/>
            <a:ext cx="7056419" cy="461665"/>
          </a:xfrm>
          <a:prstGeom prst="rect">
            <a:avLst/>
          </a:prstGeom>
          <a:noFill/>
        </p:spPr>
        <p:txBody>
          <a:bodyPr wrap="none" rtlCol="0">
            <a:spAutoFit/>
          </a:bodyPr>
          <a:lstStyle/>
          <a:p>
            <a:r>
              <a:rPr lang="en-US" altLang="zh-CN" sz="2400" dirty="0"/>
              <a:t>Energy relation for a close system of fixed composition:</a:t>
            </a:r>
            <a:endParaRPr lang="zh-CN" altLang="en-US" sz="2400" dirty="0"/>
          </a:p>
        </p:txBody>
      </p:sp>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672" y="4267200"/>
            <a:ext cx="7376067"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75229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166" y="2057400"/>
            <a:ext cx="4382505" cy="2504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85875" y="91470"/>
            <a:ext cx="4671022" cy="523220"/>
          </a:xfrm>
          <a:prstGeom prst="rect">
            <a:avLst/>
          </a:prstGeom>
          <a:noFill/>
        </p:spPr>
        <p:txBody>
          <a:bodyPr wrap="none" rtlCol="0">
            <a:spAutoFit/>
          </a:bodyPr>
          <a:lstStyle/>
          <a:p>
            <a:r>
              <a:rPr lang="en-US" altLang="zh-CN" sz="2800" dirty="0">
                <a:solidFill>
                  <a:srgbClr val="FF0000"/>
                </a:solidFill>
              </a:rPr>
              <a:t>Magnetic Maxwell relationship</a:t>
            </a:r>
            <a:endParaRPr lang="zh-CN" altLang="en-US" sz="2800" dirty="0">
              <a:solidFill>
                <a:srgbClr val="FF0000"/>
              </a:solidFill>
            </a:endParaRPr>
          </a:p>
        </p:txBody>
      </p:sp>
      <p:sp>
        <p:nvSpPr>
          <p:cNvPr id="10" name="矩形 9"/>
          <p:cNvSpPr/>
          <p:nvPr/>
        </p:nvSpPr>
        <p:spPr>
          <a:xfrm>
            <a:off x="304800" y="1371600"/>
            <a:ext cx="4671022" cy="646331"/>
          </a:xfrm>
          <a:prstGeom prst="rect">
            <a:avLst/>
          </a:prstGeom>
        </p:spPr>
        <p:txBody>
          <a:bodyPr wrap="square">
            <a:spAutoFit/>
          </a:bodyPr>
          <a:lstStyle/>
          <a:p>
            <a:r>
              <a:rPr lang="en-US" altLang="zh-CN" b="1" dirty="0">
                <a:solidFill>
                  <a:srgbClr val="0000FF"/>
                </a:solidFill>
              </a:rPr>
              <a:t>For a single-component material under the influence of an external magnetic field</a:t>
            </a:r>
            <a:endParaRPr lang="zh-CN" altLang="en-US" b="1" dirty="0">
              <a:solidFill>
                <a:srgbClr val="0000FF"/>
              </a:solidFill>
            </a:endParaRPr>
          </a:p>
        </p:txBody>
      </p:sp>
      <p:pic>
        <p:nvPicPr>
          <p:cNvPr id="430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9554" y="1371600"/>
            <a:ext cx="4219575"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4412" y="4161591"/>
            <a:ext cx="4434446" cy="2201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19166" y="4800600"/>
            <a:ext cx="3838423" cy="461665"/>
          </a:xfrm>
          <a:prstGeom prst="rect">
            <a:avLst/>
          </a:prstGeom>
          <a:noFill/>
        </p:spPr>
        <p:txBody>
          <a:bodyPr wrap="none" rtlCol="0">
            <a:spAutoFit/>
          </a:bodyPr>
          <a:lstStyle/>
          <a:p>
            <a:r>
              <a:rPr lang="en-US" altLang="zh-CN" sz="2400" b="1" dirty="0">
                <a:solidFill>
                  <a:srgbClr val="0000FF"/>
                </a:solidFill>
              </a:rPr>
              <a:t>S, V, M as a function of T,P, H</a:t>
            </a:r>
            <a:endParaRPr lang="zh-CN" altLang="en-US" sz="2400" b="1" dirty="0">
              <a:solidFill>
                <a:srgbClr val="0000FF"/>
              </a:solidFill>
            </a:endParaRPr>
          </a:p>
        </p:txBody>
      </p:sp>
    </p:spTree>
    <p:extLst>
      <p:ext uri="{BB962C8B-B14F-4D97-AF65-F5344CB8AC3E}">
        <p14:creationId xmlns:p14="http://schemas.microsoft.com/office/powerpoint/2010/main" val="3442868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6" name="Title 1"/>
          <p:cNvSpPr txBox="1">
            <a:spLocks/>
          </p:cNvSpPr>
          <p:nvPr/>
        </p:nvSpPr>
        <p:spPr bwMode="auto">
          <a:xfrm>
            <a:off x="1387474" y="7937"/>
            <a:ext cx="7178676" cy="72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b" anchorCtr="0" compatLnSpc="1">
            <a:prstTxWarp prst="textNoShape">
              <a:avLst/>
            </a:prstTxWarp>
          </a:bodyPr>
          <a:lstStyle>
            <a:lvl1pPr algn="l" defTabSz="457200" rtl="0" eaLnBrk="1" fontAlgn="base" hangingPunct="1">
              <a:lnSpc>
                <a:spcPct val="100000"/>
              </a:lnSpc>
              <a:spcBef>
                <a:spcPct val="0"/>
              </a:spcBef>
              <a:spcAft>
                <a:spcPct val="0"/>
              </a:spcAft>
              <a:defRPr sz="3600" kern="1200">
                <a:solidFill>
                  <a:srgbClr val="295467"/>
                </a:solidFill>
                <a:latin typeface="Arial"/>
                <a:ea typeface="Geneva" pitchFamily="-107" charset="-128"/>
                <a:cs typeface="Arial"/>
              </a:defRPr>
            </a:lvl1pPr>
            <a:lvl2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2pPr>
            <a:lvl3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3pPr>
            <a:lvl4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4pPr>
            <a:lvl5pPr algn="l" defTabSz="457200" rtl="0" eaLnBrk="1" fontAlgn="base" hangingPunct="1">
              <a:lnSpc>
                <a:spcPts val="4000"/>
              </a:lnSpc>
              <a:spcBef>
                <a:spcPct val="0"/>
              </a:spcBef>
              <a:spcAft>
                <a:spcPct val="0"/>
              </a:spcAft>
              <a:defRPr sz="3600">
                <a:solidFill>
                  <a:schemeClr val="tx2"/>
                </a:solidFill>
                <a:latin typeface="Arial" pitchFamily="-107" charset="0"/>
                <a:ea typeface="Geneva" pitchFamily="-107" charset="-128"/>
                <a:cs typeface="Geneva" pitchFamily="34" charset="0"/>
              </a:defRPr>
            </a:lvl5pPr>
            <a:lvl6pPr marL="4572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6pPr>
            <a:lvl7pPr marL="9144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7pPr>
            <a:lvl8pPr marL="13716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8pPr>
            <a:lvl9pPr marL="1828800" algn="ctr" defTabSz="457200" rtl="0" eaLnBrk="1" fontAlgn="base" hangingPunct="1">
              <a:spcBef>
                <a:spcPct val="0"/>
              </a:spcBef>
              <a:spcAft>
                <a:spcPct val="0"/>
              </a:spcAft>
              <a:defRPr sz="4400">
                <a:solidFill>
                  <a:schemeClr val="tx1"/>
                </a:solidFill>
                <a:latin typeface="Arial" pitchFamily="-107" charset="0"/>
                <a:ea typeface="Geneva" pitchFamily="-107" charset="-128"/>
              </a:defRPr>
            </a:lvl9pPr>
          </a:lstStyle>
          <a:p>
            <a:r>
              <a:rPr lang="en-US" sz="3200" b="1" dirty="0">
                <a:solidFill>
                  <a:srgbClr val="FF0000"/>
                </a:solidFill>
                <a:effectLst>
                  <a:outerShdw blurRad="38100" dist="38100" dir="2700000" algn="tl">
                    <a:srgbClr val="000000">
                      <a:alpha val="43137"/>
                    </a:srgbClr>
                  </a:outerShdw>
                </a:effectLst>
                <a:latin typeface="Arial" charset="0"/>
                <a:cs typeface="Arial" charset="0"/>
              </a:rPr>
              <a:t>Gibbs-Helmholtz Equation</a:t>
            </a:r>
            <a:endParaRPr lang="en-US" sz="3200" dirty="0">
              <a:solidFill>
                <a:srgbClr val="FF0000"/>
              </a:solidFill>
            </a:endParaRPr>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700" y="1221960"/>
            <a:ext cx="7645400" cy="473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1263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457" y="241540"/>
            <a:ext cx="3764172" cy="461665"/>
          </a:xfrm>
          <a:prstGeom prst="rect">
            <a:avLst/>
          </a:prstGeom>
          <a:noFill/>
        </p:spPr>
        <p:txBody>
          <a:bodyPr wrap="none" rtlCol="0">
            <a:spAutoFit/>
          </a:bodyPr>
          <a:lstStyle/>
          <a:p>
            <a:r>
              <a:rPr lang="en-US" altLang="zh-CN" sz="2400" dirty="0">
                <a:solidFill>
                  <a:srgbClr val="FF0000"/>
                </a:solidFill>
              </a:rPr>
              <a:t>Gibbs-Helmholtz Equation</a:t>
            </a:r>
            <a:endParaRPr lang="zh-CN" altLang="en-US" sz="2400" dirty="0">
              <a:solidFill>
                <a:srgbClr val="FF0000"/>
              </a:solidFill>
            </a:endParaRPr>
          </a:p>
        </p:txBody>
      </p:sp>
      <p:graphicFrame>
        <p:nvGraphicFramePr>
          <p:cNvPr id="4" name="对象 3"/>
          <p:cNvGraphicFramePr>
            <a:graphicFrameLocks noChangeAspect="1"/>
          </p:cNvGraphicFramePr>
          <p:nvPr/>
        </p:nvGraphicFramePr>
        <p:xfrm>
          <a:off x="1155939" y="1205469"/>
          <a:ext cx="1379149" cy="327256"/>
        </p:xfrm>
        <a:graphic>
          <a:graphicData uri="http://schemas.openxmlformats.org/presentationml/2006/ole">
            <mc:AlternateContent xmlns:mc="http://schemas.openxmlformats.org/markup-compatibility/2006">
              <mc:Choice xmlns:v="urn:schemas-microsoft-com:vml" Requires="v">
                <p:oleObj name="Equation" r:id="rId3" imgW="749160" imgH="177480" progId="Equation.DSMT4">
                  <p:embed/>
                </p:oleObj>
              </mc:Choice>
              <mc:Fallback>
                <p:oleObj name="Equation" r:id="rId3" imgW="749160" imgH="177480" progId="Equation.DSMT4">
                  <p:embed/>
                  <p:pic>
                    <p:nvPicPr>
                      <p:cNvPr id="0" name=""/>
                      <p:cNvPicPr/>
                      <p:nvPr/>
                    </p:nvPicPr>
                    <p:blipFill>
                      <a:blip r:embed="rId4"/>
                      <a:stretch>
                        <a:fillRect/>
                      </a:stretch>
                    </p:blipFill>
                    <p:spPr>
                      <a:xfrm>
                        <a:off x="1155939" y="1205469"/>
                        <a:ext cx="1379149" cy="327256"/>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138686" y="1686498"/>
          <a:ext cx="1078301" cy="585363"/>
        </p:xfrm>
        <a:graphic>
          <a:graphicData uri="http://schemas.openxmlformats.org/presentationml/2006/ole">
            <mc:AlternateContent xmlns:mc="http://schemas.openxmlformats.org/markup-compatibility/2006">
              <mc:Choice xmlns:v="urn:schemas-microsoft-com:vml" Requires="v">
                <p:oleObj name="Equation" r:id="rId5" imgW="723600" imgH="393480" progId="Equation.DSMT4">
                  <p:embed/>
                </p:oleObj>
              </mc:Choice>
              <mc:Fallback>
                <p:oleObj name="Equation" r:id="rId5" imgW="723600" imgH="393480" progId="Equation.DSMT4">
                  <p:embed/>
                  <p:pic>
                    <p:nvPicPr>
                      <p:cNvPr id="0" name=""/>
                      <p:cNvPicPr>
                        <a:picLocks noChangeAspect="1" noChangeArrowheads="1"/>
                      </p:cNvPicPr>
                      <p:nvPr/>
                    </p:nvPicPr>
                    <p:blipFill>
                      <a:blip r:embed="rId6"/>
                      <a:srcRect/>
                      <a:stretch>
                        <a:fillRect/>
                      </a:stretch>
                    </p:blipFill>
                    <p:spPr bwMode="auto">
                      <a:xfrm>
                        <a:off x="1138686" y="1686498"/>
                        <a:ext cx="1078301" cy="585363"/>
                      </a:xfrm>
                      <a:prstGeom prst="rect">
                        <a:avLst/>
                      </a:prstGeom>
                      <a:noFill/>
                      <a:ln>
                        <a:noFill/>
                      </a:ln>
                    </p:spPr>
                  </p:pic>
                </p:oleObj>
              </mc:Fallback>
            </mc:AlternateContent>
          </a:graphicData>
        </a:graphic>
      </p:graphicFrame>
      <p:sp>
        <p:nvSpPr>
          <p:cNvPr id="6" name="TextBox 5"/>
          <p:cNvSpPr txBox="1"/>
          <p:nvPr/>
        </p:nvSpPr>
        <p:spPr>
          <a:xfrm>
            <a:off x="1058921" y="836137"/>
            <a:ext cx="2082621" cy="369332"/>
          </a:xfrm>
          <a:prstGeom prst="rect">
            <a:avLst/>
          </a:prstGeom>
          <a:noFill/>
        </p:spPr>
        <p:txBody>
          <a:bodyPr wrap="none" rtlCol="0">
            <a:spAutoFit/>
          </a:bodyPr>
          <a:lstStyle/>
          <a:p>
            <a:r>
              <a:rPr lang="en-US" altLang="zh-CN" dirty="0"/>
              <a:t>Gibbs free energy </a:t>
            </a:r>
            <a:endParaRPr lang="zh-CN" altLang="en-US" dirty="0"/>
          </a:p>
        </p:txBody>
      </p:sp>
      <p:graphicFrame>
        <p:nvGraphicFramePr>
          <p:cNvPr id="7" name="对象 6"/>
          <p:cNvGraphicFramePr>
            <a:graphicFrameLocks noChangeAspect="1"/>
          </p:cNvGraphicFramePr>
          <p:nvPr/>
        </p:nvGraphicFramePr>
        <p:xfrm>
          <a:off x="1058921" y="2286632"/>
          <a:ext cx="3081757" cy="664493"/>
        </p:xfrm>
        <a:graphic>
          <a:graphicData uri="http://schemas.openxmlformats.org/presentationml/2006/ole">
            <mc:AlternateContent xmlns:mc="http://schemas.openxmlformats.org/markup-compatibility/2006">
              <mc:Choice xmlns:v="urn:schemas-microsoft-com:vml" Requires="v">
                <p:oleObj name="Equation" r:id="rId7" imgW="2349360" imgH="507960" progId="Equation.DSMT4">
                  <p:embed/>
                </p:oleObj>
              </mc:Choice>
              <mc:Fallback>
                <p:oleObj name="Equation" r:id="rId7" imgW="2349360" imgH="507960" progId="Equation.DSMT4">
                  <p:embed/>
                  <p:pic>
                    <p:nvPicPr>
                      <p:cNvPr id="0" name=""/>
                      <p:cNvPicPr>
                        <a:picLocks noChangeAspect="1" noChangeArrowheads="1"/>
                      </p:cNvPicPr>
                      <p:nvPr/>
                    </p:nvPicPr>
                    <p:blipFill>
                      <a:blip r:embed="rId8"/>
                      <a:srcRect/>
                      <a:stretch>
                        <a:fillRect/>
                      </a:stretch>
                    </p:blipFill>
                    <p:spPr bwMode="auto">
                      <a:xfrm>
                        <a:off x="1058921" y="2286632"/>
                        <a:ext cx="3081757" cy="664493"/>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nvGraphicFramePr>
        <p:xfrm>
          <a:off x="1345121" y="3111473"/>
          <a:ext cx="1796421" cy="461381"/>
        </p:xfrm>
        <a:graphic>
          <a:graphicData uri="http://schemas.openxmlformats.org/presentationml/2006/ole">
            <mc:AlternateContent xmlns:mc="http://schemas.openxmlformats.org/markup-compatibility/2006">
              <mc:Choice xmlns:v="urn:schemas-microsoft-com:vml" Requires="v">
                <p:oleObj name="Equation" r:id="rId9" imgW="1828800" imgH="469800" progId="Equation.DSMT4">
                  <p:embed/>
                </p:oleObj>
              </mc:Choice>
              <mc:Fallback>
                <p:oleObj name="Equation" r:id="rId9" imgW="1828800" imgH="469800" progId="Equation.DSMT4">
                  <p:embed/>
                  <p:pic>
                    <p:nvPicPr>
                      <p:cNvPr id="0" name=""/>
                      <p:cNvPicPr>
                        <a:picLocks noChangeAspect="1" noChangeArrowheads="1"/>
                      </p:cNvPicPr>
                      <p:nvPr/>
                    </p:nvPicPr>
                    <p:blipFill>
                      <a:blip r:embed="rId10"/>
                      <a:srcRect/>
                      <a:stretch>
                        <a:fillRect/>
                      </a:stretch>
                    </p:blipFill>
                    <p:spPr bwMode="auto">
                      <a:xfrm>
                        <a:off x="1345121" y="3111473"/>
                        <a:ext cx="1796421" cy="461381"/>
                      </a:xfrm>
                      <a:prstGeom prst="rect">
                        <a:avLst/>
                      </a:prstGeom>
                      <a:solidFill>
                        <a:schemeClr val="accent4">
                          <a:lumMod val="20000"/>
                          <a:lumOff val="80000"/>
                        </a:schemeClr>
                      </a:solidFill>
                      <a:ln>
                        <a:noFill/>
                      </a:ln>
                    </p:spPr>
                  </p:pic>
                </p:oleObj>
              </mc:Fallback>
            </mc:AlternateContent>
          </a:graphicData>
        </a:graphic>
      </p:graphicFrame>
      <p:graphicFrame>
        <p:nvGraphicFramePr>
          <p:cNvPr id="9" name="对象 8"/>
          <p:cNvGraphicFramePr>
            <a:graphicFrameLocks noChangeAspect="1"/>
          </p:cNvGraphicFramePr>
          <p:nvPr/>
        </p:nvGraphicFramePr>
        <p:xfrm>
          <a:off x="1058921" y="3699868"/>
          <a:ext cx="1667025" cy="671564"/>
        </p:xfrm>
        <a:graphic>
          <a:graphicData uri="http://schemas.openxmlformats.org/presentationml/2006/ole">
            <mc:AlternateContent xmlns:mc="http://schemas.openxmlformats.org/markup-compatibility/2006">
              <mc:Choice xmlns:v="urn:schemas-microsoft-com:vml" Requires="v">
                <p:oleObj name="Equation" r:id="rId11" imgW="1257120" imgH="507960" progId="Equation.DSMT4">
                  <p:embed/>
                </p:oleObj>
              </mc:Choice>
              <mc:Fallback>
                <p:oleObj name="Equation" r:id="rId11" imgW="1257120" imgH="507960" progId="Equation.DSMT4">
                  <p:embed/>
                  <p:pic>
                    <p:nvPicPr>
                      <p:cNvPr id="0" name=""/>
                      <p:cNvPicPr>
                        <a:picLocks noChangeAspect="1" noChangeArrowheads="1"/>
                      </p:cNvPicPr>
                      <p:nvPr/>
                    </p:nvPicPr>
                    <p:blipFill>
                      <a:blip r:embed="rId12"/>
                      <a:srcRect/>
                      <a:stretch>
                        <a:fillRect/>
                      </a:stretch>
                    </p:blipFill>
                    <p:spPr bwMode="auto">
                      <a:xfrm>
                        <a:off x="1058921" y="3699868"/>
                        <a:ext cx="1667025" cy="671564"/>
                      </a:xfrm>
                      <a:prstGeom prst="rect">
                        <a:avLst/>
                      </a:prstGeom>
                      <a:solidFill>
                        <a:schemeClr val="accent2">
                          <a:lumMod val="60000"/>
                          <a:lumOff val="40000"/>
                        </a:schemeClr>
                      </a:solidFill>
                      <a:ln>
                        <a:noFill/>
                      </a:ln>
                    </p:spPr>
                  </p:pic>
                </p:oleObj>
              </mc:Fallback>
            </mc:AlternateContent>
          </a:graphicData>
        </a:graphic>
      </p:graphicFrame>
      <p:sp>
        <p:nvSpPr>
          <p:cNvPr id="11" name="TextBox 10"/>
          <p:cNvSpPr txBox="1"/>
          <p:nvPr/>
        </p:nvSpPr>
        <p:spPr>
          <a:xfrm>
            <a:off x="148175" y="4485111"/>
            <a:ext cx="4449703" cy="523220"/>
          </a:xfrm>
          <a:prstGeom prst="rect">
            <a:avLst/>
          </a:prstGeom>
          <a:noFill/>
        </p:spPr>
        <p:txBody>
          <a:bodyPr wrap="square" rtlCol="0">
            <a:spAutoFit/>
          </a:bodyPr>
          <a:lstStyle/>
          <a:p>
            <a:r>
              <a:rPr lang="en-US" altLang="zh-CN" sz="1400" i="1" dirty="0"/>
              <a:t>It is applicable to a close system of fixed composition sundering process at constant pressure </a:t>
            </a:r>
            <a:endParaRPr lang="zh-CN" altLang="en-US" sz="1400" i="1" dirty="0"/>
          </a:p>
        </p:txBody>
      </p:sp>
      <p:graphicFrame>
        <p:nvGraphicFramePr>
          <p:cNvPr id="12" name="对象 11"/>
          <p:cNvGraphicFramePr>
            <a:graphicFrameLocks noChangeAspect="1"/>
          </p:cNvGraphicFramePr>
          <p:nvPr/>
        </p:nvGraphicFramePr>
        <p:xfrm>
          <a:off x="1035049" y="5215451"/>
          <a:ext cx="1884363" cy="671512"/>
        </p:xfrm>
        <a:graphic>
          <a:graphicData uri="http://schemas.openxmlformats.org/presentationml/2006/ole">
            <mc:AlternateContent xmlns:mc="http://schemas.openxmlformats.org/markup-compatibility/2006">
              <mc:Choice xmlns:v="urn:schemas-microsoft-com:vml" Requires="v">
                <p:oleObj name="Equation" r:id="rId13" imgW="1422360" imgH="507960" progId="Equation.DSMT4">
                  <p:embed/>
                </p:oleObj>
              </mc:Choice>
              <mc:Fallback>
                <p:oleObj name="Equation" r:id="rId13" imgW="1422360" imgH="507960" progId="Equation.DSMT4">
                  <p:embed/>
                  <p:pic>
                    <p:nvPicPr>
                      <p:cNvPr id="0" name=""/>
                      <p:cNvPicPr>
                        <a:picLocks noChangeAspect="1" noChangeArrowheads="1"/>
                      </p:cNvPicPr>
                      <p:nvPr/>
                    </p:nvPicPr>
                    <p:blipFill>
                      <a:blip r:embed="rId14"/>
                      <a:srcRect/>
                      <a:stretch>
                        <a:fillRect/>
                      </a:stretch>
                    </p:blipFill>
                    <p:spPr bwMode="auto">
                      <a:xfrm>
                        <a:off x="1035049" y="5215451"/>
                        <a:ext cx="1884363" cy="671512"/>
                      </a:xfrm>
                      <a:prstGeom prst="rect">
                        <a:avLst/>
                      </a:prstGeom>
                      <a:solidFill>
                        <a:srgbClr val="F4B183"/>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noChangeAspect="1"/>
          </p:cNvGraphicFramePr>
          <p:nvPr/>
        </p:nvGraphicFramePr>
        <p:xfrm>
          <a:off x="5450174" y="1168777"/>
          <a:ext cx="1331912" cy="327025"/>
        </p:xfrm>
        <a:graphic>
          <a:graphicData uri="http://schemas.openxmlformats.org/presentationml/2006/ole">
            <mc:AlternateContent xmlns:mc="http://schemas.openxmlformats.org/markup-compatibility/2006">
              <mc:Choice xmlns:v="urn:schemas-microsoft-com:vml" Requires="v">
                <p:oleObj name="Equation" r:id="rId15" imgW="723600" imgH="177480" progId="Equation.DSMT4">
                  <p:embed/>
                </p:oleObj>
              </mc:Choice>
              <mc:Fallback>
                <p:oleObj name="Equation" r:id="rId15" imgW="723600" imgH="177480" progId="Equation.DSMT4">
                  <p:embed/>
                  <p:pic>
                    <p:nvPicPr>
                      <p:cNvPr id="0" name=""/>
                      <p:cNvPicPr/>
                      <p:nvPr/>
                    </p:nvPicPr>
                    <p:blipFill>
                      <a:blip r:embed="rId16"/>
                      <a:stretch>
                        <a:fillRect/>
                      </a:stretch>
                    </p:blipFill>
                    <p:spPr>
                      <a:xfrm>
                        <a:off x="5450174" y="1168777"/>
                        <a:ext cx="1331912" cy="327025"/>
                      </a:xfrm>
                      <a:prstGeom prst="rect">
                        <a:avLst/>
                      </a:prstGeom>
                    </p:spPr>
                  </p:pic>
                </p:oleObj>
              </mc:Fallback>
            </mc:AlternateContent>
          </a:graphicData>
        </a:graphic>
      </p:graphicFrame>
      <p:sp>
        <p:nvSpPr>
          <p:cNvPr id="14" name="TextBox 13"/>
          <p:cNvSpPr txBox="1"/>
          <p:nvPr/>
        </p:nvSpPr>
        <p:spPr>
          <a:xfrm>
            <a:off x="5331340" y="799228"/>
            <a:ext cx="2505814" cy="369332"/>
          </a:xfrm>
          <a:prstGeom prst="rect">
            <a:avLst/>
          </a:prstGeom>
          <a:noFill/>
        </p:spPr>
        <p:txBody>
          <a:bodyPr wrap="none" rtlCol="0">
            <a:spAutoFit/>
          </a:bodyPr>
          <a:lstStyle/>
          <a:p>
            <a:r>
              <a:rPr lang="en-US" altLang="zh-CN" dirty="0"/>
              <a:t>Helmholtz free energy </a:t>
            </a:r>
            <a:endParaRPr lang="zh-CN" altLang="en-US" dirty="0"/>
          </a:p>
        </p:txBody>
      </p:sp>
      <p:pic>
        <p:nvPicPr>
          <p:cNvPr id="115729" name="Picture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90807" y="4407472"/>
            <a:ext cx="1236867" cy="1607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矩形 14"/>
          <p:cNvSpPr/>
          <p:nvPr/>
        </p:nvSpPr>
        <p:spPr>
          <a:xfrm>
            <a:off x="7446664" y="6015399"/>
            <a:ext cx="1725152" cy="415498"/>
          </a:xfrm>
          <a:prstGeom prst="rect">
            <a:avLst/>
          </a:prstGeom>
        </p:spPr>
        <p:txBody>
          <a:bodyPr wrap="none">
            <a:spAutoFit/>
          </a:bodyPr>
          <a:lstStyle/>
          <a:p>
            <a:pPr algn="ctr"/>
            <a:r>
              <a:rPr lang="en-US" altLang="zh-CN" sz="1050" b="1" dirty="0"/>
              <a:t>Hermann von Helmholtz</a:t>
            </a:r>
          </a:p>
          <a:p>
            <a:pPr algn="ctr"/>
            <a:r>
              <a:rPr lang="en-US" altLang="zh-CN" sz="1050" b="1" dirty="0"/>
              <a:t>1821-1894</a:t>
            </a:r>
            <a:endParaRPr lang="zh-CN" altLang="en-US" sz="1050" dirty="0"/>
          </a:p>
        </p:txBody>
      </p:sp>
      <p:pic>
        <p:nvPicPr>
          <p:cNvPr id="115758" name="Picture 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69166" y="4485111"/>
            <a:ext cx="1149022" cy="153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5008175" y="6004570"/>
            <a:ext cx="1576072" cy="430887"/>
          </a:xfrm>
          <a:prstGeom prst="rect">
            <a:avLst/>
          </a:prstGeom>
          <a:noFill/>
        </p:spPr>
        <p:txBody>
          <a:bodyPr wrap="none" rtlCol="0">
            <a:spAutoFit/>
          </a:bodyPr>
          <a:lstStyle/>
          <a:p>
            <a:pPr algn="ctr"/>
            <a:r>
              <a:rPr lang="en-US" altLang="zh-CN" sz="1100" b="1" dirty="0"/>
              <a:t>Josiah Willard Gibbs</a:t>
            </a:r>
            <a:endParaRPr lang="en-US" altLang="zh-CN" sz="1100" dirty="0"/>
          </a:p>
          <a:p>
            <a:pPr algn="ctr"/>
            <a:r>
              <a:rPr lang="en-US" altLang="zh-CN" sz="1100" dirty="0"/>
              <a:t>1839-1903</a:t>
            </a:r>
            <a:endParaRPr lang="zh-CN" altLang="en-US" sz="1100" dirty="0"/>
          </a:p>
        </p:txBody>
      </p:sp>
      <p:graphicFrame>
        <p:nvGraphicFramePr>
          <p:cNvPr id="17" name="对象 16"/>
          <p:cNvGraphicFramePr>
            <a:graphicFrameLocks noChangeAspect="1"/>
          </p:cNvGraphicFramePr>
          <p:nvPr/>
        </p:nvGraphicFramePr>
        <p:xfrm>
          <a:off x="5442236" y="1565267"/>
          <a:ext cx="1041400" cy="585787"/>
        </p:xfrm>
        <a:graphic>
          <a:graphicData uri="http://schemas.openxmlformats.org/presentationml/2006/ole">
            <mc:AlternateContent xmlns:mc="http://schemas.openxmlformats.org/markup-compatibility/2006">
              <mc:Choice xmlns:v="urn:schemas-microsoft-com:vml" Requires="v">
                <p:oleObj name="Equation" r:id="rId19" imgW="698400" imgH="393480" progId="Equation.DSMT4">
                  <p:embed/>
                </p:oleObj>
              </mc:Choice>
              <mc:Fallback>
                <p:oleObj name="Equation" r:id="rId19" imgW="698400" imgH="393480" progId="Equation.DSMT4">
                  <p:embed/>
                  <p:pic>
                    <p:nvPicPr>
                      <p:cNvPr id="0" name=""/>
                      <p:cNvPicPr>
                        <a:picLocks noChangeAspect="1" noChangeArrowheads="1"/>
                      </p:cNvPicPr>
                      <p:nvPr/>
                    </p:nvPicPr>
                    <p:blipFill>
                      <a:blip r:embed="rId20"/>
                      <a:srcRect/>
                      <a:stretch>
                        <a:fillRect/>
                      </a:stretch>
                    </p:blipFill>
                    <p:spPr bwMode="auto">
                      <a:xfrm>
                        <a:off x="5442236" y="1565267"/>
                        <a:ext cx="1041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对象 17"/>
          <p:cNvGraphicFramePr>
            <a:graphicFrameLocks noChangeAspect="1"/>
          </p:cNvGraphicFramePr>
          <p:nvPr/>
        </p:nvGraphicFramePr>
        <p:xfrm>
          <a:off x="5356511" y="2301867"/>
          <a:ext cx="3030538" cy="647700"/>
        </p:xfrm>
        <a:graphic>
          <a:graphicData uri="http://schemas.openxmlformats.org/presentationml/2006/ole">
            <mc:AlternateContent xmlns:mc="http://schemas.openxmlformats.org/markup-compatibility/2006">
              <mc:Choice xmlns:v="urn:schemas-microsoft-com:vml" Requires="v">
                <p:oleObj name="Equation" r:id="rId21" imgW="2311200" imgH="495000" progId="Equation.DSMT4">
                  <p:embed/>
                </p:oleObj>
              </mc:Choice>
              <mc:Fallback>
                <p:oleObj name="Equation" r:id="rId21" imgW="2311200" imgH="495000" progId="Equation.DSMT4">
                  <p:embed/>
                  <p:pic>
                    <p:nvPicPr>
                      <p:cNvPr id="0" name=""/>
                      <p:cNvPicPr>
                        <a:picLocks noChangeAspect="1" noChangeArrowheads="1"/>
                      </p:cNvPicPr>
                      <p:nvPr/>
                    </p:nvPicPr>
                    <p:blipFill>
                      <a:blip r:embed="rId22"/>
                      <a:srcRect/>
                      <a:stretch>
                        <a:fillRect/>
                      </a:stretch>
                    </p:blipFill>
                    <p:spPr bwMode="auto">
                      <a:xfrm>
                        <a:off x="5356511" y="2301867"/>
                        <a:ext cx="303053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对象 18"/>
          <p:cNvGraphicFramePr>
            <a:graphicFrameLocks noChangeAspect="1"/>
          </p:cNvGraphicFramePr>
          <p:nvPr/>
        </p:nvGraphicFramePr>
        <p:xfrm>
          <a:off x="5452079" y="2991215"/>
          <a:ext cx="1733550" cy="436562"/>
        </p:xfrm>
        <a:graphic>
          <a:graphicData uri="http://schemas.openxmlformats.org/presentationml/2006/ole">
            <mc:AlternateContent xmlns:mc="http://schemas.openxmlformats.org/markup-compatibility/2006">
              <mc:Choice xmlns:v="urn:schemas-microsoft-com:vml" Requires="v">
                <p:oleObj name="Equation" r:id="rId23" imgW="1765080" imgH="444240" progId="Equation.DSMT4">
                  <p:embed/>
                </p:oleObj>
              </mc:Choice>
              <mc:Fallback>
                <p:oleObj name="Equation" r:id="rId23" imgW="1765080" imgH="444240" progId="Equation.DSMT4">
                  <p:embed/>
                  <p:pic>
                    <p:nvPicPr>
                      <p:cNvPr id="0" name=""/>
                      <p:cNvPicPr>
                        <a:picLocks noChangeAspect="1" noChangeArrowheads="1"/>
                      </p:cNvPicPr>
                      <p:nvPr/>
                    </p:nvPicPr>
                    <p:blipFill>
                      <a:blip r:embed="rId24"/>
                      <a:srcRect/>
                      <a:stretch>
                        <a:fillRect/>
                      </a:stretch>
                    </p:blipFill>
                    <p:spPr bwMode="auto">
                      <a:xfrm>
                        <a:off x="5452079" y="2991215"/>
                        <a:ext cx="1733550" cy="436562"/>
                      </a:xfrm>
                      <a:prstGeom prst="rect">
                        <a:avLst/>
                      </a:prstGeom>
                      <a:solidFill>
                        <a:srgbClr val="FFF2CC"/>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0" name="对象 19"/>
          <p:cNvGraphicFramePr>
            <a:graphicFrameLocks noChangeAspect="1"/>
          </p:cNvGraphicFramePr>
          <p:nvPr/>
        </p:nvGraphicFramePr>
        <p:xfrm>
          <a:off x="5338867" y="3559225"/>
          <a:ext cx="1666875" cy="671513"/>
        </p:xfrm>
        <a:graphic>
          <a:graphicData uri="http://schemas.openxmlformats.org/presentationml/2006/ole">
            <mc:AlternateContent xmlns:mc="http://schemas.openxmlformats.org/markup-compatibility/2006">
              <mc:Choice xmlns:v="urn:schemas-microsoft-com:vml" Requires="v">
                <p:oleObj name="Equation" r:id="rId25" imgW="1257120" imgH="507960" progId="Equation.DSMT4">
                  <p:embed/>
                </p:oleObj>
              </mc:Choice>
              <mc:Fallback>
                <p:oleObj name="Equation" r:id="rId25" imgW="1257120" imgH="507960" progId="Equation.DSMT4">
                  <p:embed/>
                  <p:pic>
                    <p:nvPicPr>
                      <p:cNvPr id="0" name=""/>
                      <p:cNvPicPr>
                        <a:picLocks noChangeAspect="1" noChangeArrowheads="1"/>
                      </p:cNvPicPr>
                      <p:nvPr/>
                    </p:nvPicPr>
                    <p:blipFill>
                      <a:blip r:embed="rId26"/>
                      <a:srcRect/>
                      <a:stretch>
                        <a:fillRect/>
                      </a:stretch>
                    </p:blipFill>
                    <p:spPr bwMode="auto">
                      <a:xfrm>
                        <a:off x="5338867" y="3559225"/>
                        <a:ext cx="1666875" cy="671513"/>
                      </a:xfrm>
                      <a:prstGeom prst="rect">
                        <a:avLst/>
                      </a:prstGeom>
                      <a:solidFill>
                        <a:srgbClr val="F4B183"/>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圆角矩形 20"/>
          <p:cNvSpPr/>
          <p:nvPr/>
        </p:nvSpPr>
        <p:spPr>
          <a:xfrm>
            <a:off x="5118479" y="665637"/>
            <a:ext cx="3774762" cy="3741835"/>
          </a:xfrm>
          <a:prstGeom prst="roundRect">
            <a:avLst>
              <a:gd name="adj" fmla="val 373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9706434"/>
      </p:ext>
    </p:extLst>
  </p:cSld>
  <p:clrMapOvr>
    <a:masterClrMapping/>
  </p:clrMapOvr>
</p:sld>
</file>

<file path=ppt/theme/theme1.xml><?xml version="1.0" encoding="utf-8"?>
<a:theme xmlns:a="http://schemas.openxmlformats.org/drawingml/2006/main" name="Master Board">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等线 Light"/>
        <a:cs typeface=""/>
      </a:majorFont>
      <a:minorFont>
        <a:latin typeface="Arial"/>
        <a:ea typeface="等线"/>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Board</Template>
  <TotalTime>3331</TotalTime>
  <Words>1851</Words>
  <Application>Microsoft Office PowerPoint</Application>
  <PresentationFormat>全屏显示(4:3)</PresentationFormat>
  <Paragraphs>301</Paragraphs>
  <Slides>46</Slides>
  <Notes>5</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46</vt:i4>
      </vt:variant>
    </vt:vector>
  </HeadingPairs>
  <TitlesOfParts>
    <vt:vector size="61" baseType="lpstr">
      <vt:lpstr>-apple-system</vt:lpstr>
      <vt:lpstr>Arial Unicode MS</vt:lpstr>
      <vt:lpstr>Catamaran Regular</vt:lpstr>
      <vt:lpstr>等线</vt:lpstr>
      <vt:lpstr>黑体</vt:lpstr>
      <vt:lpstr>Arial</vt:lpstr>
      <vt:lpstr>Arial</vt:lpstr>
      <vt:lpstr>Calibri</vt:lpstr>
      <vt:lpstr>Roboto</vt:lpstr>
      <vt:lpstr>Sylfaen</vt:lpstr>
      <vt:lpstr>Times New Roman</vt:lpstr>
      <vt:lpstr>Master Board</vt:lpstr>
      <vt:lpstr>Equation</vt:lpstr>
      <vt:lpstr>公式</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liu weishu</dc:creator>
  <cp:lastModifiedBy>Liu WS</cp:lastModifiedBy>
  <cp:revision>188</cp:revision>
  <cp:lastPrinted>2019-09-28T11:58:03Z</cp:lastPrinted>
  <dcterms:created xsi:type="dcterms:W3CDTF">2019-02-07T07:31:12Z</dcterms:created>
  <dcterms:modified xsi:type="dcterms:W3CDTF">2022-10-16T09:39:24Z</dcterms:modified>
</cp:coreProperties>
</file>