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6" r:id="rId2"/>
    <p:sldId id="259" r:id="rId3"/>
    <p:sldId id="296" r:id="rId4"/>
    <p:sldId id="295" r:id="rId5"/>
    <p:sldId id="260" r:id="rId6"/>
    <p:sldId id="257" r:id="rId7"/>
    <p:sldId id="261" r:id="rId8"/>
    <p:sldId id="262" r:id="rId9"/>
    <p:sldId id="263" r:id="rId10"/>
    <p:sldId id="264" r:id="rId11"/>
    <p:sldId id="265" r:id="rId12"/>
    <p:sldId id="266" r:id="rId13"/>
    <p:sldId id="268" r:id="rId14"/>
    <p:sldId id="269" r:id="rId15"/>
    <p:sldId id="270" r:id="rId16"/>
    <p:sldId id="271" r:id="rId17"/>
    <p:sldId id="272" r:id="rId18"/>
    <p:sldId id="297" r:id="rId19"/>
    <p:sldId id="273" r:id="rId20"/>
    <p:sldId id="274" r:id="rId21"/>
    <p:sldId id="290" r:id="rId22"/>
    <p:sldId id="291" r:id="rId23"/>
    <p:sldId id="280" r:id="rId24"/>
    <p:sldId id="278" r:id="rId25"/>
    <p:sldId id="279" r:id="rId26"/>
    <p:sldId id="282" r:id="rId27"/>
    <p:sldId id="283" r:id="rId28"/>
    <p:sldId id="284" r:id="rId29"/>
    <p:sldId id="275" r:id="rId30"/>
    <p:sldId id="303" r:id="rId31"/>
    <p:sldId id="298" r:id="rId32"/>
    <p:sldId id="305" r:id="rId33"/>
    <p:sldId id="306" r:id="rId34"/>
    <p:sldId id="307" r:id="rId35"/>
    <p:sldId id="308" r:id="rId36"/>
    <p:sldId id="309" r:id="rId37"/>
    <p:sldId id="293" r:id="rId38"/>
    <p:sldId id="304" r:id="rId39"/>
    <p:sldId id="292" r:id="rId40"/>
    <p:sldId id="299" r:id="rId41"/>
  </p:sldIdLst>
  <p:sldSz cx="9144000" cy="6858000" type="screen4x3"/>
  <p:notesSz cx="6669088"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6">
          <p15:clr>
            <a:srgbClr val="A4A3A4"/>
          </p15:clr>
        </p15:guide>
        <p15:guide id="2" pos="21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23" autoAdjust="0"/>
    <p:restoredTop sz="84087" autoAdjust="0"/>
  </p:normalViewPr>
  <p:slideViewPr>
    <p:cSldViewPr>
      <p:cViewPr varScale="1">
        <p:scale>
          <a:sx n="121" d="100"/>
          <a:sy n="121" d="100"/>
        </p:scale>
        <p:origin x="1368" y="168"/>
      </p:cViewPr>
      <p:guideLst>
        <p:guide orient="horz" pos="2160"/>
        <p:guide pos="2880"/>
      </p:guideLst>
    </p:cSldViewPr>
  </p:slideViewPr>
  <p:outlineViewPr>
    <p:cViewPr>
      <p:scale>
        <a:sx n="33" d="100"/>
        <a:sy n="33" d="100"/>
      </p:scale>
      <p:origin x="0" y="1608"/>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77" d="100"/>
          <a:sy n="77" d="100"/>
        </p:scale>
        <p:origin x="-3108" y="-90"/>
      </p:cViewPr>
      <p:guideLst>
        <p:guide orient="horz" pos="3126"/>
        <p:guide pos="210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25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778250" y="0"/>
            <a:ext cx="2889250" cy="496888"/>
          </a:xfrm>
          <a:prstGeom prst="rect">
            <a:avLst/>
          </a:prstGeom>
        </p:spPr>
        <p:txBody>
          <a:bodyPr vert="horz" lIns="91440" tIns="45720" rIns="91440" bIns="45720" rtlCol="0"/>
          <a:lstStyle>
            <a:lvl1pPr algn="r">
              <a:defRPr sz="1200"/>
            </a:lvl1pPr>
          </a:lstStyle>
          <a:p>
            <a:fld id="{6D9C1540-07B8-40F6-84A6-F26C64920C31}" type="datetimeFigureOut">
              <a:rPr lang="zh-CN" altLang="en-US" smtClean="0"/>
              <a:t>2022/9/4</a:t>
            </a:fld>
            <a:endParaRPr lang="zh-CN" altLang="en-US"/>
          </a:p>
        </p:txBody>
      </p:sp>
      <p:sp>
        <p:nvSpPr>
          <p:cNvPr id="4" name="页脚占位符 3"/>
          <p:cNvSpPr>
            <a:spLocks noGrp="1"/>
          </p:cNvSpPr>
          <p:nvPr>
            <p:ph type="ftr" sz="quarter" idx="2"/>
          </p:nvPr>
        </p:nvSpPr>
        <p:spPr>
          <a:xfrm>
            <a:off x="0" y="9428163"/>
            <a:ext cx="288925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778250" y="9428163"/>
            <a:ext cx="2889250" cy="496887"/>
          </a:xfrm>
          <a:prstGeom prst="rect">
            <a:avLst/>
          </a:prstGeom>
        </p:spPr>
        <p:txBody>
          <a:bodyPr vert="horz" lIns="91440" tIns="45720" rIns="91440" bIns="45720" rtlCol="0" anchor="b"/>
          <a:lstStyle>
            <a:lvl1pPr algn="r">
              <a:defRPr sz="1200"/>
            </a:lvl1pPr>
          </a:lstStyle>
          <a:p>
            <a:fld id="{125D361F-E7B0-4C7C-8146-82FA76B66FE6}" type="slidenum">
              <a:rPr lang="zh-CN" altLang="en-US" smtClean="0"/>
              <a:t>‹#›</a:t>
            </a:fld>
            <a:endParaRPr lang="zh-CN" altLang="en-US"/>
          </a:p>
        </p:txBody>
      </p:sp>
    </p:spTree>
    <p:extLst>
      <p:ext uri="{BB962C8B-B14F-4D97-AF65-F5344CB8AC3E}">
        <p14:creationId xmlns:p14="http://schemas.microsoft.com/office/powerpoint/2010/main" val="20623553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765DE1CE-A030-42F6-97C0-1C4EC007C0C5}" type="datetimeFigureOut">
              <a:rPr lang="zh-CN" altLang="en-US" smtClean="0"/>
              <a:t>2022/9/4</a:t>
            </a:fld>
            <a:endParaRPr lang="zh-CN" altLang="en-US"/>
          </a:p>
        </p:txBody>
      </p:sp>
      <p:sp>
        <p:nvSpPr>
          <p:cNvPr id="4" name="幻灯片图像占位符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66909" y="4715153"/>
            <a:ext cx="5335270" cy="4466987"/>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28583"/>
            <a:ext cx="2889938" cy="496332"/>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777607" y="9428583"/>
            <a:ext cx="2889938" cy="496332"/>
          </a:xfrm>
          <a:prstGeom prst="rect">
            <a:avLst/>
          </a:prstGeom>
        </p:spPr>
        <p:txBody>
          <a:bodyPr vert="horz" lIns="91440" tIns="45720" rIns="91440" bIns="45720" rtlCol="0" anchor="b"/>
          <a:lstStyle>
            <a:lvl1pPr algn="r">
              <a:defRPr sz="1200"/>
            </a:lvl1pPr>
          </a:lstStyle>
          <a:p>
            <a:fld id="{8C981095-EDDE-4FA4-832D-6F17BC63E72F}" type="slidenum">
              <a:rPr lang="zh-CN" altLang="en-US" smtClean="0"/>
              <a:t>‹#›</a:t>
            </a:fld>
            <a:endParaRPr lang="zh-CN" altLang="en-US"/>
          </a:p>
        </p:txBody>
      </p:sp>
    </p:spTree>
    <p:extLst>
      <p:ext uri="{BB962C8B-B14F-4D97-AF65-F5344CB8AC3E}">
        <p14:creationId xmlns:p14="http://schemas.microsoft.com/office/powerpoint/2010/main" val="3020762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Recall the concept of equilibrium</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7F497359-BD37-41E1-AF95-71E7D52515AE}" type="slidenum">
              <a:rPr lang="zh-CN" altLang="en-US" smtClean="0"/>
              <a:t>4</a:t>
            </a:fld>
            <a:endParaRPr lang="zh-CN" altLang="en-US"/>
          </a:p>
        </p:txBody>
      </p:sp>
    </p:spTree>
    <p:extLst>
      <p:ext uri="{BB962C8B-B14F-4D97-AF65-F5344CB8AC3E}">
        <p14:creationId xmlns:p14="http://schemas.microsoft.com/office/powerpoint/2010/main" val="9316292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F548533-9099-4785-AEC1-41A7C9214B7F}" type="slidenum">
              <a:rPr lang="en-US" smtClean="0"/>
              <a:pPr/>
              <a:t>11</a:t>
            </a:fld>
            <a:endParaRPr lang="en-US"/>
          </a:p>
        </p:txBody>
      </p:sp>
    </p:spTree>
    <p:extLst>
      <p:ext uri="{BB962C8B-B14F-4D97-AF65-F5344CB8AC3E}">
        <p14:creationId xmlns:p14="http://schemas.microsoft.com/office/powerpoint/2010/main" val="1299915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67897F3-A582-438C-AEC8-6C187C799284}" type="slidenum">
              <a:rPr lang="zh-CN" altLang="en-US" smtClean="0"/>
              <a:t>12</a:t>
            </a:fld>
            <a:endParaRPr lang="zh-CN" altLang="en-US"/>
          </a:p>
        </p:txBody>
      </p:sp>
    </p:spTree>
    <p:extLst>
      <p:ext uri="{BB962C8B-B14F-4D97-AF65-F5344CB8AC3E}">
        <p14:creationId xmlns:p14="http://schemas.microsoft.com/office/powerpoint/2010/main" val="8386289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6" name="组合 23"/>
          <p:cNvGrpSpPr>
            <a:grpSpLocks/>
          </p:cNvGrpSpPr>
          <p:nvPr userDrawn="1"/>
        </p:nvGrpSpPr>
        <p:grpSpPr bwMode="auto">
          <a:xfrm>
            <a:off x="371475" y="-190500"/>
            <a:ext cx="1230313" cy="1358900"/>
            <a:chOff x="371610" y="-231341"/>
            <a:chExt cx="1230631" cy="1358900"/>
          </a:xfrm>
        </p:grpSpPr>
        <p:sp>
          <p:nvSpPr>
            <p:cNvPr id="7" name="同侧圆角矩形 6"/>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sp>
          <p:nvSpPr>
            <p:cNvPr id="8" name="同侧圆角矩形 7"/>
            <p:cNvSpPr/>
            <p:nvPr/>
          </p:nvSpPr>
          <p:spPr>
            <a:xfrm flipV="1">
              <a:off x="627264" y="-36078"/>
              <a:ext cx="719323" cy="968375"/>
            </a:xfrm>
            <a:prstGeom prst="round2SameRect">
              <a:avLst>
                <a:gd name="adj1" fmla="val 50000"/>
                <a:gd name="adj2" fmla="val 0"/>
              </a:avLst>
            </a:prstGeom>
            <a:solidFill>
              <a:srgbClr val="EE813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465">
                <a:solidFill>
                  <a:prstClr val="white"/>
                </a:solidFill>
                <a:latin typeface="黑体" panose="02010609060101010101" pitchFamily="49" charset="-122"/>
                <a:ea typeface="黑体" panose="02010609060101010101" pitchFamily="49" charset="-122"/>
              </a:endParaRPr>
            </a:p>
          </p:txBody>
        </p:sp>
        <p:pic>
          <p:nvPicPr>
            <p:cNvPr id="9" name="图片 29" descr="logo（背景透明）"/>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1610" y="-231341"/>
              <a:ext cx="1230631"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 name="组合 7"/>
          <p:cNvGrpSpPr>
            <a:grpSpLocks/>
          </p:cNvGrpSpPr>
          <p:nvPr userDrawn="1"/>
        </p:nvGrpSpPr>
        <p:grpSpPr bwMode="auto">
          <a:xfrm>
            <a:off x="76200" y="2151063"/>
            <a:ext cx="9043988" cy="381000"/>
            <a:chOff x="76200" y="2151457"/>
            <a:chExt cx="9043988" cy="381000"/>
          </a:xfrm>
        </p:grpSpPr>
        <p:sp>
          <p:nvSpPr>
            <p:cNvPr id="11" name="圆角矩形 10"/>
            <p:cNvSpPr/>
            <p:nvPr/>
          </p:nvSpPr>
          <p:spPr>
            <a:xfrm>
              <a:off x="76200" y="2294332"/>
              <a:ext cx="1676400"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2" name="圆角矩形 11"/>
            <p:cNvSpPr/>
            <p:nvPr/>
          </p:nvSpPr>
          <p:spPr>
            <a:xfrm>
              <a:off x="1524000" y="2294332"/>
              <a:ext cx="3200400"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3" name="圆角矩形 12"/>
            <p:cNvSpPr/>
            <p:nvPr/>
          </p:nvSpPr>
          <p:spPr>
            <a:xfrm>
              <a:off x="4800600" y="2294332"/>
              <a:ext cx="4319588"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latin typeface="黑体" panose="02010609060101010101" pitchFamily="49" charset="-122"/>
                <a:ea typeface="黑体" panose="02010609060101010101" pitchFamily="49" charset="-122"/>
              </a:endParaRPr>
            </a:p>
          </p:txBody>
        </p:sp>
        <p:sp>
          <p:nvSpPr>
            <p:cNvPr id="14" name="圆角矩形 13"/>
            <p:cNvSpPr/>
            <p:nvPr/>
          </p:nvSpPr>
          <p:spPr>
            <a:xfrm rot="1383523">
              <a:off x="1417638"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sp>
          <p:nvSpPr>
            <p:cNvPr id="15" name="圆角矩形 14"/>
            <p:cNvSpPr/>
            <p:nvPr/>
          </p:nvSpPr>
          <p:spPr>
            <a:xfrm rot="1383523">
              <a:off x="4616450" y="2151457"/>
              <a:ext cx="215900" cy="381000"/>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黑体" panose="02010609060101010101" pitchFamily="49" charset="-122"/>
                <a:ea typeface="黑体" panose="02010609060101010101" pitchFamily="49" charset="-122"/>
              </a:endParaRPr>
            </a:p>
          </p:txBody>
        </p:sp>
      </p:grpSp>
      <p:pic>
        <p:nvPicPr>
          <p:cNvPr id="16" name="Picture 7"/>
          <p:cNvPicPr>
            <a:picLocks noChangeAspect="1" noChangeArrowheads="1"/>
          </p:cNvPicPr>
          <p:nvPr userDrawn="1"/>
        </p:nvPicPr>
        <p:blipFill>
          <a:blip r:embed="rId3">
            <a:extLst>
              <a:ext uri="{28A0092B-C50C-407E-A947-70E740481C1C}">
                <a14:useLocalDpi xmlns:a14="http://schemas.microsoft.com/office/drawing/2010/main" val="0"/>
              </a:ext>
            </a:extLst>
          </a:blip>
          <a:srcRect t="17253" b="10274"/>
          <a:stretch>
            <a:fillRect/>
          </a:stretch>
        </p:blipFill>
        <p:spPr bwMode="auto">
          <a:xfrm>
            <a:off x="157163" y="5467350"/>
            <a:ext cx="1957387"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3"/>
          <p:cNvPicPr>
            <a:picLocks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81225" y="5478463"/>
            <a:ext cx="21240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384675" y="5478463"/>
            <a:ext cx="2390775" cy="1262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2"/>
          <p:cNvPicPr>
            <a:picLocks noChangeAspect="1" noChangeArrowheads="1"/>
          </p:cNvPicPr>
          <p:nvPr userDrawn="1"/>
        </p:nvPicPr>
        <p:blipFill rotWithShape="1">
          <a:blip r:embed="rId6">
            <a:extLst>
              <a:ext uri="{28A0092B-C50C-407E-A947-70E740481C1C}">
                <a14:useLocalDpi xmlns:a14="http://schemas.microsoft.com/office/drawing/2010/main" val="0"/>
              </a:ext>
            </a:extLst>
          </a:blip>
          <a:srcRect b="11245"/>
          <a:stretch/>
        </p:blipFill>
        <p:spPr bwMode="auto">
          <a:xfrm>
            <a:off x="6846888" y="5467351"/>
            <a:ext cx="2220912" cy="1273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3"/>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7637463" y="4702719"/>
            <a:ext cx="1506537" cy="84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TextBox 2"/>
          <p:cNvSpPr txBox="1">
            <a:spLocks noChangeArrowheads="1"/>
          </p:cNvSpPr>
          <p:nvPr userDrawn="1"/>
        </p:nvSpPr>
        <p:spPr bwMode="auto">
          <a:xfrm>
            <a:off x="8172400" y="5165911"/>
            <a:ext cx="781050"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baseline="-25000">
                <a:solidFill>
                  <a:schemeClr val="tx1"/>
                </a:solidFill>
                <a:latin typeface="Arial" charset="0"/>
              </a:defRPr>
            </a:lvl1pPr>
            <a:lvl2pPr marL="742950" indent="-285750">
              <a:defRPr sz="2800" b="1" baseline="-25000">
                <a:solidFill>
                  <a:schemeClr val="tx1"/>
                </a:solidFill>
                <a:latin typeface="Arial" charset="0"/>
              </a:defRPr>
            </a:lvl2pPr>
            <a:lvl3pPr marL="1143000" indent="-228600">
              <a:defRPr sz="2800" b="1" baseline="-25000">
                <a:solidFill>
                  <a:schemeClr val="tx1"/>
                </a:solidFill>
                <a:latin typeface="Arial" charset="0"/>
              </a:defRPr>
            </a:lvl3pPr>
            <a:lvl4pPr marL="1600200" indent="-228600">
              <a:defRPr sz="2800" b="1" baseline="-25000">
                <a:solidFill>
                  <a:schemeClr val="tx1"/>
                </a:solidFill>
                <a:latin typeface="Arial" charset="0"/>
              </a:defRPr>
            </a:lvl4pPr>
            <a:lvl5pPr marL="2057400" indent="-228600">
              <a:defRPr sz="2800" b="1" baseline="-25000">
                <a:solidFill>
                  <a:schemeClr val="tx1"/>
                </a:solidFill>
                <a:latin typeface="Arial" charset="0"/>
              </a:defRPr>
            </a:lvl5pPr>
            <a:lvl6pPr marL="2514600" indent="-228600" eaLnBrk="0" fontAlgn="base" hangingPunct="0">
              <a:spcBef>
                <a:spcPct val="0"/>
              </a:spcBef>
              <a:spcAft>
                <a:spcPct val="0"/>
              </a:spcAft>
              <a:defRPr sz="2800" b="1" baseline="-25000">
                <a:solidFill>
                  <a:schemeClr val="tx1"/>
                </a:solidFill>
                <a:latin typeface="Arial" charset="0"/>
              </a:defRPr>
            </a:lvl6pPr>
            <a:lvl7pPr marL="2971800" indent="-228600" eaLnBrk="0" fontAlgn="base" hangingPunct="0">
              <a:spcBef>
                <a:spcPct val="0"/>
              </a:spcBef>
              <a:spcAft>
                <a:spcPct val="0"/>
              </a:spcAft>
              <a:defRPr sz="2800" b="1" baseline="-25000">
                <a:solidFill>
                  <a:schemeClr val="tx1"/>
                </a:solidFill>
                <a:latin typeface="Arial" charset="0"/>
              </a:defRPr>
            </a:lvl7pPr>
            <a:lvl8pPr marL="3429000" indent="-228600" eaLnBrk="0" fontAlgn="base" hangingPunct="0">
              <a:spcBef>
                <a:spcPct val="0"/>
              </a:spcBef>
              <a:spcAft>
                <a:spcPct val="0"/>
              </a:spcAft>
              <a:defRPr sz="2800" b="1" baseline="-25000">
                <a:solidFill>
                  <a:schemeClr val="tx1"/>
                </a:solidFill>
                <a:latin typeface="Arial" charset="0"/>
              </a:defRPr>
            </a:lvl8pPr>
            <a:lvl9pPr marL="3886200" indent="-228600" eaLnBrk="0" fontAlgn="base" hangingPunct="0">
              <a:spcBef>
                <a:spcPct val="0"/>
              </a:spcBef>
              <a:spcAft>
                <a:spcPct val="0"/>
              </a:spcAft>
              <a:defRPr sz="2800" b="1" baseline="-25000">
                <a:solidFill>
                  <a:schemeClr val="tx1"/>
                </a:solidFill>
                <a:latin typeface="Arial" charset="0"/>
              </a:defRPr>
            </a:lvl9pPr>
          </a:lstStyle>
          <a:p>
            <a:r>
              <a:rPr lang="en-US" altLang="zh-CN" sz="900" b="0" baseline="0" dirty="0">
                <a:latin typeface="黑体" panose="02010609060101010101" pitchFamily="49" charset="-122"/>
                <a:ea typeface="黑体" panose="02010609060101010101" pitchFamily="49" charset="-122"/>
              </a:rPr>
              <a:t>Since 2016</a:t>
            </a:r>
            <a:endParaRPr lang="zh-CN" altLang="en-US" sz="900" b="0" baseline="0" dirty="0">
              <a:latin typeface="黑体" panose="02010609060101010101" pitchFamily="49" charset="-122"/>
              <a:ea typeface="黑体" panose="02010609060101010101" pitchFamily="49"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userDrawn="1"/>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dirty="0"/>
              <a:t>2</a:t>
            </a:r>
            <a:endParaRPr lang="zh-CN" altLang="en-US" dirty="0"/>
          </a:p>
        </p:txBody>
      </p:sp>
    </p:spTree>
    <p:extLst>
      <p:ext uri="{BB962C8B-B14F-4D97-AF65-F5344CB8AC3E}">
        <p14:creationId xmlns:p14="http://schemas.microsoft.com/office/powerpoint/2010/main" val="14094076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23551FB5-644E-4958-A980-4C6B4A9B56E7}"/>
              </a:ext>
            </a:extLst>
          </p:cNvPr>
          <p:cNvGrpSpPr>
            <a:grpSpLocks/>
          </p:cNvGrpSpPr>
          <p:nvPr/>
        </p:nvGrpSpPr>
        <p:grpSpPr bwMode="auto">
          <a:xfrm>
            <a:off x="41722" y="6645423"/>
            <a:ext cx="9045575" cy="142875"/>
            <a:chOff x="76199" y="1241003"/>
            <a:chExt cx="9044401" cy="144000"/>
          </a:xfrm>
        </p:grpSpPr>
        <p:sp>
          <p:nvSpPr>
            <p:cNvPr id="8" name="圆角矩形 11">
              <a:extLst>
                <a:ext uri="{FF2B5EF4-FFF2-40B4-BE49-F238E27FC236}">
                  <a16:creationId xmlns:a16="http://schemas.microsoft.com/office/drawing/2014/main" id="{206B57DE-B2E2-477E-A47F-DA530482154A}"/>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9" name="圆角矩形 12">
              <a:extLst>
                <a:ext uri="{FF2B5EF4-FFF2-40B4-BE49-F238E27FC236}">
                  <a16:creationId xmlns:a16="http://schemas.microsoft.com/office/drawing/2014/main" id="{38C3280C-D608-4B4D-8279-5808A7C72777}"/>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0" name="圆角矩形 13">
              <a:extLst>
                <a:ext uri="{FF2B5EF4-FFF2-40B4-BE49-F238E27FC236}">
                  <a16:creationId xmlns:a16="http://schemas.microsoft.com/office/drawing/2014/main" id="{43328620-830D-498B-AD47-8DBB81A79D3F}"/>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1" name="图片 3">
            <a:extLst>
              <a:ext uri="{FF2B5EF4-FFF2-40B4-BE49-F238E27FC236}">
                <a16:creationId xmlns:a16="http://schemas.microsoft.com/office/drawing/2014/main" id="{B0C51A74-65A9-4F9C-9DAC-5C9B5FEFD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页脚占位符 2">
            <a:extLst>
              <a:ext uri="{FF2B5EF4-FFF2-40B4-BE49-F238E27FC236}">
                <a16:creationId xmlns:a16="http://schemas.microsoft.com/office/drawing/2014/main" id="{AC46ADAA-5CE7-436F-BDC5-5BE32504D749}"/>
              </a:ext>
            </a:extLst>
          </p:cNvPr>
          <p:cNvSpPr>
            <a:spLocks noGrp="1"/>
          </p:cNvSpPr>
          <p:nvPr>
            <p:ph type="ftr" sz="quarter" idx="11"/>
          </p:nvPr>
        </p:nvSpPr>
        <p:spPr>
          <a:xfrm>
            <a:off x="8606671" y="6174558"/>
            <a:ext cx="442918" cy="396090"/>
          </a:xfrm>
        </p:spPr>
        <p:txBody>
          <a:bodyPr/>
          <a:lstStyle/>
          <a:p>
            <a:r>
              <a:rPr lang="en-US" altLang="zh-CN"/>
              <a:t>2</a:t>
            </a:r>
            <a:endParaRPr lang="zh-CN" altLang="en-US" dirty="0"/>
          </a:p>
        </p:txBody>
      </p:sp>
      <p:grpSp>
        <p:nvGrpSpPr>
          <p:cNvPr id="12" name="组合 11">
            <a:extLst>
              <a:ext uri="{FF2B5EF4-FFF2-40B4-BE49-F238E27FC236}">
                <a16:creationId xmlns:a16="http://schemas.microsoft.com/office/drawing/2014/main" id="{DBE675BB-162D-4CCA-94D2-B314C0C6F644}"/>
              </a:ext>
            </a:extLst>
          </p:cNvPr>
          <p:cNvGrpSpPr>
            <a:grpSpLocks/>
          </p:cNvGrpSpPr>
          <p:nvPr userDrawn="1"/>
        </p:nvGrpSpPr>
        <p:grpSpPr bwMode="auto">
          <a:xfrm>
            <a:off x="41722" y="6645423"/>
            <a:ext cx="9045575" cy="142875"/>
            <a:chOff x="76199" y="1241003"/>
            <a:chExt cx="9044401" cy="144000"/>
          </a:xfrm>
        </p:grpSpPr>
        <p:sp>
          <p:nvSpPr>
            <p:cNvPr id="13" name="圆角矩形 11">
              <a:extLst>
                <a:ext uri="{FF2B5EF4-FFF2-40B4-BE49-F238E27FC236}">
                  <a16:creationId xmlns:a16="http://schemas.microsoft.com/office/drawing/2014/main" id="{8497BCD2-D048-4CC6-AA21-D749E9E85DCE}"/>
                </a:ext>
              </a:extLst>
            </p:cNvPr>
            <p:cNvSpPr/>
            <p:nvPr/>
          </p:nvSpPr>
          <p:spPr>
            <a:xfrm>
              <a:off x="76199" y="1241003"/>
              <a:ext cx="1487294"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4" name="圆角矩形 12">
              <a:extLst>
                <a:ext uri="{FF2B5EF4-FFF2-40B4-BE49-F238E27FC236}">
                  <a16:creationId xmlns:a16="http://schemas.microsoft.com/office/drawing/2014/main" id="{9C83145A-9A38-4389-BA55-B2DC124C7CCE}"/>
                </a:ext>
              </a:extLst>
            </p:cNvPr>
            <p:cNvSpPr/>
            <p:nvPr/>
          </p:nvSpPr>
          <p:spPr>
            <a:xfrm>
              <a:off x="1630159" y="1241003"/>
              <a:ext cx="3103160" cy="144000"/>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sp>
          <p:nvSpPr>
            <p:cNvPr id="15" name="圆角矩形 13">
              <a:extLst>
                <a:ext uri="{FF2B5EF4-FFF2-40B4-BE49-F238E27FC236}">
                  <a16:creationId xmlns:a16="http://schemas.microsoft.com/office/drawing/2014/main" id="{5F30C916-99CD-41F6-B9F5-44A06301974D}"/>
                </a:ext>
              </a:extLst>
            </p:cNvPr>
            <p:cNvSpPr/>
            <p:nvPr/>
          </p:nvSpPr>
          <p:spPr>
            <a:xfrm>
              <a:off x="4799986" y="1241003"/>
              <a:ext cx="4320614"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fontAlgn="auto">
                <a:spcBef>
                  <a:spcPts val="0"/>
                </a:spcBef>
                <a:spcAft>
                  <a:spcPts val="0"/>
                </a:spcAft>
                <a:defRPr/>
              </a:pPr>
              <a:endParaRPr lang="zh-CN" altLang="en-US"/>
            </a:p>
          </p:txBody>
        </p:sp>
      </p:grpSp>
      <p:pic>
        <p:nvPicPr>
          <p:cNvPr id="16" name="图片 3">
            <a:extLst>
              <a:ext uri="{FF2B5EF4-FFF2-40B4-BE49-F238E27FC236}">
                <a16:creationId xmlns:a16="http://schemas.microsoft.com/office/drawing/2014/main" id="{408ADF0C-ACC1-4673-9FB1-66E00A81977B}"/>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309563" y="0"/>
            <a:ext cx="776287"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3181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pic>
        <p:nvPicPr>
          <p:cNvPr id="2"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382000" y="6526213"/>
            <a:ext cx="67945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组合 7"/>
          <p:cNvGrpSpPr>
            <a:grpSpLocks/>
          </p:cNvGrpSpPr>
          <p:nvPr userDrawn="1"/>
        </p:nvGrpSpPr>
        <p:grpSpPr bwMode="auto">
          <a:xfrm>
            <a:off x="73025" y="6643688"/>
            <a:ext cx="8150225" cy="144462"/>
            <a:chOff x="76199" y="2293938"/>
            <a:chExt cx="9043989" cy="144462"/>
          </a:xfrm>
        </p:grpSpPr>
        <p:sp>
          <p:nvSpPr>
            <p:cNvPr id="4" name="圆角矩形 3"/>
            <p:cNvSpPr/>
            <p:nvPr/>
          </p:nvSpPr>
          <p:spPr>
            <a:xfrm>
              <a:off x="76199" y="2293938"/>
              <a:ext cx="1250727" cy="144462"/>
            </a:xfrm>
            <a:prstGeom prst="roundRect">
              <a:avLst>
                <a:gd name="adj" fmla="val 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5" name="圆角矩形 4"/>
            <p:cNvSpPr/>
            <p:nvPr/>
          </p:nvSpPr>
          <p:spPr>
            <a:xfrm>
              <a:off x="1415005" y="2293938"/>
              <a:ext cx="3310023" cy="14446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6" name="圆角矩形 5"/>
            <p:cNvSpPr/>
            <p:nvPr/>
          </p:nvSpPr>
          <p:spPr>
            <a:xfrm>
              <a:off x="4800776" y="2293938"/>
              <a:ext cx="4319412" cy="144462"/>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grpSp>
      <p:pic>
        <p:nvPicPr>
          <p:cNvPr id="7" name="Picture 3"/>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796213" y="-104775"/>
            <a:ext cx="854075"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52268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3" r:id="rId13"/>
    <p:sldLayoutId id="2147483664" r:id="rId1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jpe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4.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bin"/><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image" Target="../media/image26.wmf"/><Relationship Id="rId7" Type="http://schemas.openxmlformats.org/officeDocument/2006/relationships/oleObject" Target="../embeddings/oleObject4.bin"/><Relationship Id="rId2" Type="http://schemas.openxmlformats.org/officeDocument/2006/relationships/oleObject" Target="../embeddings/oleObject2.bin"/><Relationship Id="rId1" Type="http://schemas.openxmlformats.org/officeDocument/2006/relationships/slideLayout" Target="../slideLayouts/slideLayout14.xml"/><Relationship Id="rId6" Type="http://schemas.openxmlformats.org/officeDocument/2006/relationships/image" Target="../media/image28.wmf"/><Relationship Id="rId5" Type="http://schemas.openxmlformats.org/officeDocument/2006/relationships/oleObject" Target="../embeddings/oleObject3.bin"/><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image" Target="../media/image30.emf"/><Relationship Id="rId1" Type="http://schemas.openxmlformats.org/officeDocument/2006/relationships/slideLayout" Target="../slideLayouts/slideLayout14.xml"/><Relationship Id="rId6" Type="http://schemas.openxmlformats.org/officeDocument/2006/relationships/image" Target="../media/image32.wmf"/><Relationship Id="rId5" Type="http://schemas.openxmlformats.org/officeDocument/2006/relationships/oleObject" Target="../embeddings/oleObject6.bin"/><Relationship Id="rId4" Type="http://schemas.openxmlformats.org/officeDocument/2006/relationships/image" Target="../media/image31.wmf"/></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wmf"/><Relationship Id="rId1" Type="http://schemas.openxmlformats.org/officeDocument/2006/relationships/slideLayout" Target="../slideLayouts/slideLayout14.xml"/><Relationship Id="rId5" Type="http://schemas.openxmlformats.org/officeDocument/2006/relationships/image" Target="../media/image35.w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37.wmf"/><Relationship Id="rId5" Type="http://schemas.openxmlformats.org/officeDocument/2006/relationships/oleObject" Target="../embeddings/oleObject10.bin"/><Relationship Id="rId4" Type="http://schemas.openxmlformats.org/officeDocument/2006/relationships/image" Target="../media/image36.wmf"/></Relationships>
</file>

<file path=ppt/slides/_rels/slide12.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39.wmf"/><Relationship Id="rId5" Type="http://schemas.openxmlformats.org/officeDocument/2006/relationships/oleObject" Target="../embeddings/oleObject12.bin"/><Relationship Id="rId4" Type="http://schemas.openxmlformats.org/officeDocument/2006/relationships/image" Target="../media/image38.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46.wmf"/><Relationship Id="rId3" Type="http://schemas.openxmlformats.org/officeDocument/2006/relationships/image" Target="../media/image41.wmf"/><Relationship Id="rId7" Type="http://schemas.openxmlformats.org/officeDocument/2006/relationships/image" Target="../media/image43.wmf"/><Relationship Id="rId12" Type="http://schemas.openxmlformats.org/officeDocument/2006/relationships/oleObject" Target="../embeddings/oleObject19.bin"/><Relationship Id="rId2" Type="http://schemas.openxmlformats.org/officeDocument/2006/relationships/oleObject" Target="../embeddings/oleObject14.bin"/><Relationship Id="rId1" Type="http://schemas.openxmlformats.org/officeDocument/2006/relationships/slideLayout" Target="../slideLayouts/slideLayout14.xml"/><Relationship Id="rId6" Type="http://schemas.openxmlformats.org/officeDocument/2006/relationships/oleObject" Target="../embeddings/oleObject16.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18.bin"/><Relationship Id="rId4" Type="http://schemas.openxmlformats.org/officeDocument/2006/relationships/oleObject" Target="../embeddings/oleObject15.bin"/><Relationship Id="rId9" Type="http://schemas.openxmlformats.org/officeDocument/2006/relationships/image" Target="../media/image44.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47.wmf"/><Relationship Id="rId7" Type="http://schemas.openxmlformats.org/officeDocument/2006/relationships/image" Target="../media/image49.wmf"/><Relationship Id="rId2" Type="http://schemas.openxmlformats.org/officeDocument/2006/relationships/oleObject" Target="../embeddings/oleObject20.bin"/><Relationship Id="rId1" Type="http://schemas.openxmlformats.org/officeDocument/2006/relationships/slideLayout" Target="../slideLayouts/slideLayout14.xml"/><Relationship Id="rId6" Type="http://schemas.openxmlformats.org/officeDocument/2006/relationships/oleObject" Target="../embeddings/oleObject22.bin"/><Relationship Id="rId11" Type="http://schemas.openxmlformats.org/officeDocument/2006/relationships/image" Target="../media/image45.wmf"/><Relationship Id="rId5" Type="http://schemas.openxmlformats.org/officeDocument/2006/relationships/image" Target="../media/image48.wmf"/><Relationship Id="rId10" Type="http://schemas.openxmlformats.org/officeDocument/2006/relationships/oleObject" Target="../embeddings/oleObject24.bin"/><Relationship Id="rId4" Type="http://schemas.openxmlformats.org/officeDocument/2006/relationships/oleObject" Target="../embeddings/oleObject21.bin"/><Relationship Id="rId9" Type="http://schemas.openxmlformats.org/officeDocument/2006/relationships/image" Target="../media/image50.wmf"/></Relationships>
</file>

<file path=ppt/slides/_rels/slide15.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image" Target="../media/image51.wmf"/><Relationship Id="rId7" Type="http://schemas.openxmlformats.org/officeDocument/2006/relationships/oleObject" Target="../embeddings/oleObject27.bin"/><Relationship Id="rId2" Type="http://schemas.openxmlformats.org/officeDocument/2006/relationships/oleObject" Target="../embeddings/oleObject25.bin"/><Relationship Id="rId1" Type="http://schemas.openxmlformats.org/officeDocument/2006/relationships/slideLayout" Target="../slideLayouts/slideLayout14.xml"/><Relationship Id="rId6" Type="http://schemas.openxmlformats.org/officeDocument/2006/relationships/image" Target="../media/image53.wmf"/><Relationship Id="rId5" Type="http://schemas.openxmlformats.org/officeDocument/2006/relationships/oleObject" Target="../embeddings/oleObject26.bin"/><Relationship Id="rId10" Type="http://schemas.openxmlformats.org/officeDocument/2006/relationships/image" Target="../media/image55.wmf"/><Relationship Id="rId4" Type="http://schemas.openxmlformats.org/officeDocument/2006/relationships/image" Target="../media/image52.emf"/><Relationship Id="rId9" Type="http://schemas.openxmlformats.org/officeDocument/2006/relationships/oleObject" Target="../embeddings/oleObject28.bin"/></Relationships>
</file>

<file path=ppt/slides/_rels/slide16.x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image" Target="../media/image56.png"/><Relationship Id="rId1" Type="http://schemas.openxmlformats.org/officeDocument/2006/relationships/slideLayout" Target="../slideLayouts/slideLayout14.xml"/><Relationship Id="rId6" Type="http://schemas.openxmlformats.org/officeDocument/2006/relationships/image" Target="../media/image57.wmf"/><Relationship Id="rId5" Type="http://schemas.openxmlformats.org/officeDocument/2006/relationships/oleObject" Target="../embeddings/oleObject30.bin"/><Relationship Id="rId4" Type="http://schemas.openxmlformats.org/officeDocument/2006/relationships/image" Target="../media/image35.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image" Target="../media/image27.png"/><Relationship Id="rId1" Type="http://schemas.openxmlformats.org/officeDocument/2006/relationships/slideLayout" Target="../slideLayouts/slideLayout14.xml"/><Relationship Id="rId5" Type="http://schemas.openxmlformats.org/officeDocument/2006/relationships/image" Target="../media/image60.png"/><Relationship Id="rId4" Type="http://schemas.openxmlformats.org/officeDocument/2006/relationships/image" Target="../media/image59.wmf"/></Relationships>
</file>

<file path=ppt/slides/_rels/slide1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4.xml"/><Relationship Id="rId5" Type="http://schemas.openxmlformats.org/officeDocument/2006/relationships/image" Target="../media/image63.png"/><Relationship Id="rId4" Type="http://schemas.openxmlformats.org/officeDocument/2006/relationships/image" Target="../media/image62.png"/></Relationships>
</file>

<file path=ppt/slides/_rels/slide2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0.png"/><Relationship Id="rId1" Type="http://schemas.openxmlformats.org/officeDocument/2006/relationships/slideLayout" Target="../slideLayouts/slideLayout14.xml"/><Relationship Id="rId5" Type="http://schemas.openxmlformats.org/officeDocument/2006/relationships/image" Target="../media/image66.png"/><Relationship Id="rId4" Type="http://schemas.openxmlformats.org/officeDocument/2006/relationships/image" Target="../media/image65.png"/></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0.png"/><Relationship Id="rId1" Type="http://schemas.openxmlformats.org/officeDocument/2006/relationships/slideLayout" Target="../slideLayouts/slideLayout14.xml"/><Relationship Id="rId5" Type="http://schemas.openxmlformats.org/officeDocument/2006/relationships/image" Target="../media/image69.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oleObject" Target="../embeddings/oleObject33.bin"/><Relationship Id="rId7" Type="http://schemas.openxmlformats.org/officeDocument/2006/relationships/image" Target="../media/image71.png"/><Relationship Id="rId2" Type="http://schemas.openxmlformats.org/officeDocument/2006/relationships/image" Target="../media/image27.png"/><Relationship Id="rId1" Type="http://schemas.openxmlformats.org/officeDocument/2006/relationships/slideLayout" Target="../slideLayouts/slideLayout14.xml"/><Relationship Id="rId6" Type="http://schemas.openxmlformats.org/officeDocument/2006/relationships/image" Target="../media/image70.png"/><Relationship Id="rId5" Type="http://schemas.openxmlformats.org/officeDocument/2006/relationships/image" Target="../media/image60.png"/><Relationship Id="rId4" Type="http://schemas.openxmlformats.org/officeDocument/2006/relationships/image" Target="../media/image59.wmf"/><Relationship Id="rId9" Type="http://schemas.openxmlformats.org/officeDocument/2006/relationships/image" Target="../media/image73.png"/></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image" Target="../media/image74.png"/><Relationship Id="rId1" Type="http://schemas.openxmlformats.org/officeDocument/2006/relationships/slideLayout" Target="../slideLayouts/slideLayout14.xml"/><Relationship Id="rId6" Type="http://schemas.openxmlformats.org/officeDocument/2006/relationships/image" Target="../media/image76.wmf"/><Relationship Id="rId5" Type="http://schemas.openxmlformats.org/officeDocument/2006/relationships/oleObject" Target="../embeddings/oleObject35.bin"/><Relationship Id="rId4" Type="http://schemas.openxmlformats.org/officeDocument/2006/relationships/image" Target="../media/image75.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9.bin"/><Relationship Id="rId3" Type="http://schemas.openxmlformats.org/officeDocument/2006/relationships/image" Target="../media/image77.wmf"/><Relationship Id="rId7" Type="http://schemas.openxmlformats.org/officeDocument/2006/relationships/image" Target="../media/image79.wmf"/><Relationship Id="rId2" Type="http://schemas.openxmlformats.org/officeDocument/2006/relationships/oleObject" Target="../embeddings/oleObject36.bin"/><Relationship Id="rId1" Type="http://schemas.openxmlformats.org/officeDocument/2006/relationships/slideLayout" Target="../slideLayouts/slideLayout14.xml"/><Relationship Id="rId6" Type="http://schemas.openxmlformats.org/officeDocument/2006/relationships/oleObject" Target="../embeddings/oleObject38.bin"/><Relationship Id="rId5" Type="http://schemas.openxmlformats.org/officeDocument/2006/relationships/image" Target="../media/image78.wmf"/><Relationship Id="rId4" Type="http://schemas.openxmlformats.org/officeDocument/2006/relationships/oleObject" Target="../embeddings/oleObject37.bin"/><Relationship Id="rId9" Type="http://schemas.openxmlformats.org/officeDocument/2006/relationships/image" Target="../media/image80.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86.wmf"/><Relationship Id="rId3" Type="http://schemas.openxmlformats.org/officeDocument/2006/relationships/image" Target="../media/image81.wmf"/><Relationship Id="rId7" Type="http://schemas.openxmlformats.org/officeDocument/2006/relationships/image" Target="../media/image83.wmf"/><Relationship Id="rId12" Type="http://schemas.openxmlformats.org/officeDocument/2006/relationships/oleObject" Target="../embeddings/oleObject45.bin"/><Relationship Id="rId17" Type="http://schemas.openxmlformats.org/officeDocument/2006/relationships/image" Target="../media/image88.wmf"/><Relationship Id="rId2" Type="http://schemas.openxmlformats.org/officeDocument/2006/relationships/oleObject" Target="../embeddings/oleObject40.bin"/><Relationship Id="rId16" Type="http://schemas.openxmlformats.org/officeDocument/2006/relationships/oleObject" Target="../embeddings/oleObject47.bin"/><Relationship Id="rId1" Type="http://schemas.openxmlformats.org/officeDocument/2006/relationships/slideLayout" Target="../slideLayouts/slideLayout14.xml"/><Relationship Id="rId6" Type="http://schemas.openxmlformats.org/officeDocument/2006/relationships/oleObject" Target="../embeddings/oleObject42.bin"/><Relationship Id="rId11" Type="http://schemas.openxmlformats.org/officeDocument/2006/relationships/image" Target="../media/image85.wmf"/><Relationship Id="rId5" Type="http://schemas.openxmlformats.org/officeDocument/2006/relationships/image" Target="../media/image82.wmf"/><Relationship Id="rId15" Type="http://schemas.openxmlformats.org/officeDocument/2006/relationships/image" Target="../media/image87.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84.wmf"/><Relationship Id="rId14" Type="http://schemas.openxmlformats.org/officeDocument/2006/relationships/oleObject" Target="../embeddings/oleObject46.bin"/></Relationships>
</file>

<file path=ppt/slides/_rels/slide27.xml.rels><?xml version="1.0" encoding="UTF-8" standalone="yes"?>
<Relationships xmlns="http://schemas.openxmlformats.org/package/2006/relationships"><Relationship Id="rId3" Type="http://schemas.openxmlformats.org/officeDocument/2006/relationships/image" Target="../media/image89.wmf"/><Relationship Id="rId7" Type="http://schemas.openxmlformats.org/officeDocument/2006/relationships/image" Target="../media/image91.wmf"/><Relationship Id="rId2" Type="http://schemas.openxmlformats.org/officeDocument/2006/relationships/oleObject" Target="../embeddings/oleObject48.bin"/><Relationship Id="rId1" Type="http://schemas.openxmlformats.org/officeDocument/2006/relationships/slideLayout" Target="../slideLayouts/slideLayout14.xml"/><Relationship Id="rId6" Type="http://schemas.openxmlformats.org/officeDocument/2006/relationships/oleObject" Target="../embeddings/oleObject50.bin"/><Relationship Id="rId5" Type="http://schemas.openxmlformats.org/officeDocument/2006/relationships/image" Target="../media/image90.wmf"/><Relationship Id="rId4" Type="http://schemas.openxmlformats.org/officeDocument/2006/relationships/oleObject" Target="../embeddings/oleObject49.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image" Target="../media/image92.wmf"/><Relationship Id="rId7" Type="http://schemas.openxmlformats.org/officeDocument/2006/relationships/image" Target="../media/image94.wmf"/><Relationship Id="rId2" Type="http://schemas.openxmlformats.org/officeDocument/2006/relationships/oleObject" Target="../embeddings/oleObject51.bin"/><Relationship Id="rId1" Type="http://schemas.openxmlformats.org/officeDocument/2006/relationships/slideLayout" Target="../slideLayouts/slideLayout14.xml"/><Relationship Id="rId6" Type="http://schemas.openxmlformats.org/officeDocument/2006/relationships/oleObject" Target="../embeddings/oleObject53.bin"/><Relationship Id="rId11" Type="http://schemas.openxmlformats.org/officeDocument/2006/relationships/image" Target="../media/image96.wmf"/><Relationship Id="rId5" Type="http://schemas.openxmlformats.org/officeDocument/2006/relationships/image" Target="../media/image93.wmf"/><Relationship Id="rId10" Type="http://schemas.openxmlformats.org/officeDocument/2006/relationships/oleObject" Target="../embeddings/oleObject55.bin"/><Relationship Id="rId4" Type="http://schemas.openxmlformats.org/officeDocument/2006/relationships/oleObject" Target="../embeddings/oleObject52.bin"/><Relationship Id="rId9" Type="http://schemas.openxmlformats.org/officeDocument/2006/relationships/image" Target="../media/image95.wmf"/></Relationships>
</file>

<file path=ppt/slides/_rels/slide2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3" Type="http://schemas.openxmlformats.org/officeDocument/2006/relationships/hyperlink" Target="https://www.sciencedirect.com/science/journal/23527102/1/supp/C" TargetMode="External"/><Relationship Id="rId2" Type="http://schemas.openxmlformats.org/officeDocument/2006/relationships/image" Target="../media/image100.png"/><Relationship Id="rId1" Type="http://schemas.openxmlformats.org/officeDocument/2006/relationships/slideLayout" Target="../slideLayouts/slideLayout14.xml"/><Relationship Id="rId4" Type="http://schemas.openxmlformats.org/officeDocument/2006/relationships/image" Target="../media/image101.png"/></Relationships>
</file>

<file path=ppt/slides/_rels/slide32.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image" Target="../media/image106.jpeg"/><Relationship Id="rId1" Type="http://schemas.openxmlformats.org/officeDocument/2006/relationships/slideLayout" Target="../slideLayouts/slideLayout14.xml"/><Relationship Id="rId4" Type="http://schemas.openxmlformats.org/officeDocument/2006/relationships/image" Target="../media/image108.gif"/></Relationships>
</file>

<file path=ppt/slides/_rels/slide36.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jpeg"/><Relationship Id="rId1" Type="http://schemas.openxmlformats.org/officeDocument/2006/relationships/slideLayout" Target="../slideLayouts/slideLayout14.xml"/><Relationship Id="rId4" Type="http://schemas.openxmlformats.org/officeDocument/2006/relationships/image" Target="../media/image1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image" Target="../media/image112.jpeg"/><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2" Type="http://schemas.openxmlformats.org/officeDocument/2006/relationships/image" Target="../media/image114.jpeg"/><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03200" y="1074826"/>
            <a:ext cx="5486400" cy="1077218"/>
          </a:xfrm>
          <a:prstGeom prst="rect">
            <a:avLst/>
          </a:prstGeom>
          <a:noFill/>
        </p:spPr>
        <p:txBody>
          <a:bodyPr wrap="square" rtlCol="0">
            <a:spAutoFit/>
          </a:bodyPr>
          <a:lstStyle/>
          <a:p>
            <a:r>
              <a:rPr lang="en-US" altLang="zh-CN" sz="3200" b="1" dirty="0">
                <a:solidFill>
                  <a:srgbClr val="FF0000"/>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Lecture-02:</a:t>
            </a:r>
          </a:p>
          <a:p>
            <a:r>
              <a:rPr lang="en-US" altLang="zh-CN" sz="3200" b="1" dirty="0">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Heat and Energy </a:t>
            </a:r>
            <a:endParaRPr lang="en-US" sz="3200" b="1" dirty="0">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 name="TextBox 6"/>
          <p:cNvSpPr txBox="1"/>
          <p:nvPr/>
        </p:nvSpPr>
        <p:spPr>
          <a:xfrm>
            <a:off x="3599" y="6409225"/>
            <a:ext cx="1410964" cy="369332"/>
          </a:xfrm>
          <a:prstGeom prst="rect">
            <a:avLst/>
          </a:prstGeom>
          <a:noFill/>
        </p:spPr>
        <p:txBody>
          <a:bodyPr wrap="none" rtlCol="0">
            <a:spAutoFit/>
          </a:bodyPr>
          <a:lstStyle/>
          <a:p>
            <a:r>
              <a:rPr lang="en-US" altLang="zh-CN" sz="1800" b="1" dirty="0">
                <a:latin typeface="Times New Roman" panose="02020603050405020304" pitchFamily="18" charset="0"/>
                <a:cs typeface="Times New Roman" panose="02020603050405020304" pitchFamily="18" charset="0"/>
              </a:rPr>
              <a:t>Sep 7</a:t>
            </a:r>
            <a:r>
              <a:rPr lang="zh-CN" altLang="en-US" sz="1800" b="1" dirty="0">
                <a:latin typeface="Times New Roman" panose="02020603050405020304" pitchFamily="18" charset="0"/>
                <a:cs typeface="Times New Roman" panose="02020603050405020304" pitchFamily="18" charset="0"/>
              </a:rPr>
              <a:t>，</a:t>
            </a:r>
            <a:r>
              <a:rPr lang="en-US" altLang="zh-CN" sz="1800" b="1" dirty="0">
                <a:latin typeface="Times New Roman" panose="02020603050405020304" pitchFamily="18" charset="0"/>
                <a:cs typeface="Times New Roman" panose="02020603050405020304" pitchFamily="18" charset="0"/>
              </a:rPr>
              <a:t>2018</a:t>
            </a:r>
            <a:endParaRPr lang="zh-CN" altLang="en-US" sz="1800" b="1" dirty="0">
              <a:latin typeface="Times New Roman" panose="02020603050405020304" pitchFamily="18" charset="0"/>
              <a:cs typeface="Times New Roman" panose="02020603050405020304" pitchFamily="18" charset="0"/>
            </a:endParaRPr>
          </a:p>
        </p:txBody>
      </p:sp>
      <p:sp>
        <p:nvSpPr>
          <p:cNvPr id="20" name="Subtitle 2"/>
          <p:cNvSpPr txBox="1">
            <a:spLocks/>
          </p:cNvSpPr>
          <p:nvPr/>
        </p:nvSpPr>
        <p:spPr>
          <a:xfrm>
            <a:off x="1701554" y="2762849"/>
            <a:ext cx="7433153" cy="2022143"/>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sz="2800" b="1" dirty="0" err="1">
                <a:solidFill>
                  <a:srgbClr val="0000FF"/>
                </a:solidFill>
              </a:rPr>
              <a:t>Weishu</a:t>
            </a:r>
            <a:r>
              <a:rPr lang="en-US" sz="2800" b="1" dirty="0">
                <a:solidFill>
                  <a:srgbClr val="0000FF"/>
                </a:solidFill>
              </a:rPr>
              <a:t> </a:t>
            </a:r>
            <a:r>
              <a:rPr lang="en-US" altLang="zh-CN" sz="2800" b="1" dirty="0">
                <a:solidFill>
                  <a:srgbClr val="0000FF"/>
                </a:solidFill>
              </a:rPr>
              <a:t>L</a:t>
            </a:r>
            <a:r>
              <a:rPr lang="en-US" sz="2800" b="1" dirty="0">
                <a:solidFill>
                  <a:srgbClr val="0000FF"/>
                </a:solidFill>
              </a:rPr>
              <a:t>iu</a:t>
            </a:r>
          </a:p>
          <a:p>
            <a:pPr algn="l"/>
            <a:r>
              <a:rPr lang="en-US" sz="1800" dirty="0">
                <a:solidFill>
                  <a:schemeClr val="tx1"/>
                </a:solidFill>
              </a:rPr>
              <a:t>Department of Materials Science and Engineering</a:t>
            </a:r>
          </a:p>
          <a:p>
            <a:pPr algn="l"/>
            <a:r>
              <a:rPr lang="en-US" sz="1800" dirty="0">
                <a:solidFill>
                  <a:schemeClr val="tx1"/>
                </a:solidFill>
              </a:rPr>
              <a:t>Southern University of Science and Technology (</a:t>
            </a:r>
            <a:r>
              <a:rPr lang="en-US" sz="1800" dirty="0" err="1">
                <a:solidFill>
                  <a:schemeClr val="tx1"/>
                </a:solidFill>
              </a:rPr>
              <a:t>SUSTec</a:t>
            </a:r>
            <a:r>
              <a:rPr lang="en-US" altLang="zh-CN" sz="1800" dirty="0" err="1">
                <a:solidFill>
                  <a:schemeClr val="tx1"/>
                </a:solidFill>
              </a:rPr>
              <a:t>h</a:t>
            </a:r>
            <a:r>
              <a:rPr lang="en-US" sz="1800" dirty="0">
                <a:solidFill>
                  <a:schemeClr val="tx1"/>
                </a:solidFill>
              </a:rPr>
              <a:t>)</a:t>
            </a:r>
          </a:p>
          <a:p>
            <a:pPr algn="l"/>
            <a:r>
              <a:rPr lang="en-US" sz="1800" b="1" dirty="0">
                <a:solidFill>
                  <a:schemeClr val="tx1"/>
                </a:solidFill>
              </a:rPr>
              <a:t>Email: </a:t>
            </a:r>
            <a:r>
              <a:rPr lang="en-US" sz="1800" dirty="0">
                <a:solidFill>
                  <a:schemeClr val="tx1"/>
                </a:solidFill>
              </a:rPr>
              <a:t>liuws@sustech.edu.cn</a:t>
            </a:r>
          </a:p>
          <a:p>
            <a:pPr algn="l"/>
            <a:r>
              <a:rPr lang="en-US" sz="1800" b="1" dirty="0">
                <a:solidFill>
                  <a:schemeClr val="tx1"/>
                </a:solidFill>
              </a:rPr>
              <a:t>Office: </a:t>
            </a:r>
            <a:r>
              <a:rPr lang="en-US" sz="1800" dirty="0">
                <a:solidFill>
                  <a:schemeClr val="tx1"/>
                </a:solidFill>
              </a:rPr>
              <a:t>North Tower, Rm310</a:t>
            </a:r>
          </a:p>
        </p:txBody>
      </p:sp>
      <p:sp>
        <p:nvSpPr>
          <p:cNvPr id="16" name="Slide Number Placeholder 3"/>
          <p:cNvSpPr txBox="1">
            <a:spLocks/>
          </p:cNvSpPr>
          <p:nvPr/>
        </p:nvSpPr>
        <p:spPr>
          <a:xfrm>
            <a:off x="6934200" y="6477000"/>
            <a:ext cx="2133600"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i="1" dirty="0"/>
              <a:t>Prof. W.S. Liu  </a:t>
            </a:r>
            <a:r>
              <a:rPr lang="en-US" dirty="0"/>
              <a:t>|  </a:t>
            </a:r>
            <a:fld id="{C915B95C-5458-41FC-90FC-CACA4B5603FB}" type="slidenum">
              <a:rPr lang="en-US" smtClean="0"/>
              <a:pPr algn="r"/>
              <a:t>1</a:t>
            </a:fld>
            <a:endParaRPr lang="en-US" dirty="0"/>
          </a:p>
        </p:txBody>
      </p:sp>
      <p:sp>
        <p:nvSpPr>
          <p:cNvPr id="9" name="矩形 8"/>
          <p:cNvSpPr/>
          <p:nvPr/>
        </p:nvSpPr>
        <p:spPr>
          <a:xfrm>
            <a:off x="1524000" y="129808"/>
            <a:ext cx="7460256" cy="52322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800" b="1" i="1" dirty="0">
                <a:solidFill>
                  <a:srgbClr val="0000FF"/>
                </a:solidFill>
                <a:effectLst>
                  <a:outerShdw blurRad="38100" dist="38100" dir="2700000" algn="tl">
                    <a:srgbClr val="000000">
                      <a:alpha val="43137"/>
                    </a:srgbClr>
                  </a:outerShdw>
                </a:effectLst>
                <a:latin typeface="Times New Roman" panose="02020603050405020304" pitchFamily="18" charset="0"/>
                <a:ea typeface="华文楷体" panose="02010600040101010101" pitchFamily="2" charset="-122"/>
                <a:cs typeface="Times New Roman" panose="02020603050405020304" pitchFamily="18" charset="0"/>
              </a:rPr>
              <a:t>MSE 311: Thermodynamics  of Materials</a:t>
            </a:r>
          </a:p>
        </p:txBody>
      </p:sp>
      <p:pic>
        <p:nvPicPr>
          <p:cNvPr id="8" name="图片 7"/>
          <p:cNvPicPr>
            <a:picLocks noChangeAspect="1"/>
          </p:cNvPicPr>
          <p:nvPr/>
        </p:nvPicPr>
        <p:blipFill rotWithShape="1">
          <a:blip r:embed="rId2" cstate="print">
            <a:extLst>
              <a:ext uri="{28A0092B-C50C-407E-A947-70E740481C1C}">
                <a14:useLocalDpi xmlns:a14="http://schemas.microsoft.com/office/drawing/2010/main" val="0"/>
              </a:ext>
            </a:extLst>
          </a:blip>
          <a:srcRect l="18449" t="32802" r="17069" b="36756"/>
          <a:stretch/>
        </p:blipFill>
        <p:spPr>
          <a:xfrm>
            <a:off x="152400" y="4724400"/>
            <a:ext cx="2333297" cy="734346"/>
          </a:xfrm>
          <a:prstGeom prst="rect">
            <a:avLst/>
          </a:prstGeom>
        </p:spPr>
      </p:pic>
      <p:sp>
        <p:nvSpPr>
          <p:cNvPr id="2" name="文本框 1">
            <a:extLst>
              <a:ext uri="{FF2B5EF4-FFF2-40B4-BE49-F238E27FC236}">
                <a16:creationId xmlns:a16="http://schemas.microsoft.com/office/drawing/2014/main" id="{3A5A0D42-C6E4-B716-D7A5-95A1F5C3FB11}"/>
              </a:ext>
            </a:extLst>
          </p:cNvPr>
          <p:cNvSpPr txBox="1"/>
          <p:nvPr/>
        </p:nvSpPr>
        <p:spPr>
          <a:xfrm>
            <a:off x="149772" y="1967378"/>
            <a:ext cx="1021626" cy="369332"/>
          </a:xfrm>
          <a:prstGeom prst="rect">
            <a:avLst/>
          </a:prstGeom>
          <a:noFill/>
        </p:spPr>
        <p:txBody>
          <a:bodyPr wrap="none" rtlCol="0">
            <a:spAutoFit/>
          </a:bodyPr>
          <a:lstStyle/>
          <a:p>
            <a:r>
              <a:rPr lang="en-US" altLang="zh-CN" dirty="0"/>
              <a:t>2022 Fall</a:t>
            </a:r>
            <a:endParaRPr lang="zh-CN" altLang="en-US" dirty="0"/>
          </a:p>
        </p:txBody>
      </p:sp>
    </p:spTree>
    <p:extLst>
      <p:ext uri="{BB962C8B-B14F-4D97-AF65-F5344CB8AC3E}">
        <p14:creationId xmlns:p14="http://schemas.microsoft.com/office/powerpoint/2010/main" val="2927315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9800" y="3437398"/>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圆角矩形 6"/>
          <p:cNvSpPr/>
          <p:nvPr/>
        </p:nvSpPr>
        <p:spPr>
          <a:xfrm>
            <a:off x="1063916" y="3437398"/>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7"/>
          <p:cNvSpPr/>
          <p:nvPr/>
        </p:nvSpPr>
        <p:spPr>
          <a:xfrm>
            <a:off x="4774200" y="3437398"/>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TextBox 9"/>
          <p:cNvSpPr txBox="1"/>
          <p:nvPr/>
        </p:nvSpPr>
        <p:spPr>
          <a:xfrm>
            <a:off x="1219200" y="2602300"/>
            <a:ext cx="6294031"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dirty="0">
                <a:solidFill>
                  <a:srgbClr val="FF0000"/>
                </a:solidFill>
              </a:rPr>
              <a:t>2. Heat and</a:t>
            </a:r>
            <a:r>
              <a:rPr lang="zh-CN" altLang="en-US" sz="3600" dirty="0">
                <a:solidFill>
                  <a:srgbClr val="FF0000"/>
                </a:solidFill>
              </a:rPr>
              <a:t> </a:t>
            </a:r>
            <a:r>
              <a:rPr lang="en-US" altLang="zh-CN" sz="3600" dirty="0">
                <a:solidFill>
                  <a:srgbClr val="FF0000"/>
                </a:solidFill>
              </a:rPr>
              <a:t>Energy Conservation</a:t>
            </a:r>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165869"/>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063916" y="3890665"/>
            <a:ext cx="7546684" cy="1231106"/>
          </a:xfrm>
          <a:prstGeom prst="rect">
            <a:avLst/>
          </a:prstGeom>
        </p:spPr>
        <p:txBody>
          <a:bodyPr wrap="square">
            <a:spAutoFit/>
          </a:bodyPr>
          <a:lstStyle/>
          <a:p>
            <a:pPr>
              <a:spcAft>
                <a:spcPts val="1200"/>
              </a:spcAft>
            </a:pPr>
            <a:r>
              <a:rPr lang="en-US" altLang="zh-CN" b="1" dirty="0">
                <a:solidFill>
                  <a:srgbClr val="0000FF"/>
                </a:solidFill>
              </a:rPr>
              <a:t>Chapter 2</a:t>
            </a:r>
          </a:p>
          <a:p>
            <a:pPr>
              <a:spcAft>
                <a:spcPts val="1200"/>
              </a:spcAft>
            </a:pPr>
            <a:r>
              <a:rPr lang="en-US" altLang="zh-CN" b="1" dirty="0">
                <a:solidFill>
                  <a:srgbClr val="0000FF"/>
                </a:solidFill>
              </a:rPr>
              <a:t>Introduction to the thermodynamics of materials</a:t>
            </a:r>
            <a:r>
              <a:rPr lang="en-US" altLang="zh-CN" dirty="0">
                <a:solidFill>
                  <a:srgbClr val="0000FF"/>
                </a:solidFill>
              </a:rPr>
              <a:t>, </a:t>
            </a:r>
          </a:p>
          <a:p>
            <a:pPr>
              <a:spcAft>
                <a:spcPts val="1200"/>
              </a:spcAft>
            </a:pPr>
            <a:r>
              <a:rPr lang="en-US" altLang="zh-CN" dirty="0">
                <a:solidFill>
                  <a:srgbClr val="0000FF"/>
                </a:solidFill>
              </a:rPr>
              <a:t>5</a:t>
            </a:r>
            <a:r>
              <a:rPr lang="en-US" altLang="zh-CN" baseline="30000" dirty="0">
                <a:solidFill>
                  <a:srgbClr val="0000FF"/>
                </a:solidFill>
              </a:rPr>
              <a:t>th</a:t>
            </a:r>
            <a:r>
              <a:rPr lang="zh-CN" altLang="en-US" dirty="0">
                <a:solidFill>
                  <a:srgbClr val="0000FF"/>
                </a:solidFill>
              </a:rPr>
              <a:t> </a:t>
            </a:r>
            <a:r>
              <a:rPr lang="en-US" altLang="zh-CN" dirty="0">
                <a:solidFill>
                  <a:srgbClr val="0000FF"/>
                </a:solidFill>
              </a:rPr>
              <a:t>or 6</a:t>
            </a:r>
            <a:r>
              <a:rPr lang="en-US" altLang="zh-CN" baseline="30000" dirty="0">
                <a:solidFill>
                  <a:srgbClr val="0000FF"/>
                </a:solidFill>
              </a:rPr>
              <a:t>th</a:t>
            </a:r>
            <a:r>
              <a:rPr lang="en-US" altLang="zh-CN" dirty="0">
                <a:solidFill>
                  <a:srgbClr val="0000FF"/>
                </a:solidFill>
              </a:rPr>
              <a:t> edition, by David R. Gaskell, Taylor &amp; Francis Press, 2018</a:t>
            </a:r>
          </a:p>
        </p:txBody>
      </p:sp>
    </p:spTree>
    <p:extLst>
      <p:ext uri="{BB962C8B-B14F-4D97-AF65-F5344CB8AC3E}">
        <p14:creationId xmlns:p14="http://schemas.microsoft.com/office/powerpoint/2010/main" val="1803490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0"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066800"/>
            <a:ext cx="6807200" cy="5105400"/>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228600" y="152400"/>
            <a:ext cx="7460697" cy="523220"/>
          </a:xfrm>
          <a:prstGeom prst="rect">
            <a:avLst/>
          </a:prstGeom>
        </p:spPr>
        <p:txBody>
          <a:bodyPr wrap="none">
            <a:spAutoFit/>
          </a:bodyPr>
          <a:lstStyle/>
          <a:p>
            <a:r>
              <a:rPr lang="en-US" altLang="zh-CN"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Civilization is initiated from how to use the fire</a:t>
            </a:r>
            <a:endParaRPr lang="zh-CN" altLang="en-US"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extLst>
      <p:ext uri="{BB962C8B-B14F-4D97-AF65-F5344CB8AC3E}">
        <p14:creationId xmlns:p14="http://schemas.microsoft.com/office/powerpoint/2010/main" val="20762190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71600"/>
            <a:ext cx="2205501" cy="1681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descr="See the source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88843" y="1371600"/>
            <a:ext cx="2569312" cy="1681082"/>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5"/>
          <a:stretch>
            <a:fillRect/>
          </a:stretch>
        </p:blipFill>
        <p:spPr>
          <a:xfrm>
            <a:off x="5531897" y="1371601"/>
            <a:ext cx="2692003" cy="1681082"/>
          </a:xfrm>
          <a:prstGeom prst="rect">
            <a:avLst/>
          </a:prstGeom>
        </p:spPr>
      </p:pic>
      <p:pic>
        <p:nvPicPr>
          <p:cNvPr id="11" name="图片 10">
            <a:extLst>
              <a:ext uri="{FF2B5EF4-FFF2-40B4-BE49-F238E27FC236}">
                <a16:creationId xmlns:a16="http://schemas.microsoft.com/office/drawing/2014/main" id="{0CE72DF8-E7DD-465A-B4D6-7D1355CFA412}"/>
              </a:ext>
            </a:extLst>
          </p:cNvPr>
          <p:cNvPicPr>
            <a:picLocks noChangeAspect="1"/>
          </p:cNvPicPr>
          <p:nvPr/>
        </p:nvPicPr>
        <p:blipFill>
          <a:blip r:embed="rId6"/>
          <a:stretch>
            <a:fillRect/>
          </a:stretch>
        </p:blipFill>
        <p:spPr>
          <a:xfrm>
            <a:off x="152400" y="3886200"/>
            <a:ext cx="2419401" cy="1837883"/>
          </a:xfrm>
          <a:prstGeom prst="rect">
            <a:avLst/>
          </a:prstGeom>
        </p:spPr>
      </p:pic>
      <p:pic>
        <p:nvPicPr>
          <p:cNvPr id="12" name="图片 11">
            <a:extLst>
              <a:ext uri="{FF2B5EF4-FFF2-40B4-BE49-F238E27FC236}">
                <a16:creationId xmlns:a16="http://schemas.microsoft.com/office/drawing/2014/main" id="{C0E4FC0F-2131-4C95-8EC5-9E9253CE7CD8}"/>
              </a:ext>
            </a:extLst>
          </p:cNvPr>
          <p:cNvPicPr>
            <a:picLocks noChangeAspect="1"/>
          </p:cNvPicPr>
          <p:nvPr/>
        </p:nvPicPr>
        <p:blipFill>
          <a:blip r:embed="rId7"/>
          <a:stretch>
            <a:fillRect/>
          </a:stretch>
        </p:blipFill>
        <p:spPr>
          <a:xfrm>
            <a:off x="2704512" y="3886200"/>
            <a:ext cx="2861756" cy="1837883"/>
          </a:xfrm>
          <a:prstGeom prst="rect">
            <a:avLst/>
          </a:prstGeom>
        </p:spPr>
      </p:pic>
      <p:pic>
        <p:nvPicPr>
          <p:cNvPr id="14" name="图片 13"/>
          <p:cNvPicPr>
            <a:picLocks noChangeAspect="1"/>
          </p:cNvPicPr>
          <p:nvPr/>
        </p:nvPicPr>
        <p:blipFill>
          <a:blip r:embed="rId8"/>
          <a:stretch>
            <a:fillRect/>
          </a:stretch>
        </p:blipFill>
        <p:spPr>
          <a:xfrm>
            <a:off x="5698979" y="3886200"/>
            <a:ext cx="2832502" cy="1837883"/>
          </a:xfrm>
          <a:prstGeom prst="rect">
            <a:avLst/>
          </a:prstGeom>
        </p:spPr>
      </p:pic>
      <p:sp>
        <p:nvSpPr>
          <p:cNvPr id="17" name="矩形 16"/>
          <p:cNvSpPr/>
          <p:nvPr/>
        </p:nvSpPr>
        <p:spPr>
          <a:xfrm>
            <a:off x="152400" y="228600"/>
            <a:ext cx="7300396" cy="523220"/>
          </a:xfrm>
          <a:prstGeom prst="rect">
            <a:avLst/>
          </a:prstGeom>
        </p:spPr>
        <p:txBody>
          <a:bodyPr wrap="none">
            <a:spAutoFit/>
          </a:bodyPr>
          <a:lstStyle/>
          <a:p>
            <a:r>
              <a:rPr lang="en-US" altLang="zh-CN"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Civilization is initiated from hot to use the fire</a:t>
            </a:r>
            <a:endParaRPr lang="zh-CN" altLang="en-US"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5" name="文本框 4"/>
          <p:cNvSpPr txBox="1"/>
          <p:nvPr/>
        </p:nvSpPr>
        <p:spPr>
          <a:xfrm>
            <a:off x="3576565" y="3105943"/>
            <a:ext cx="1223412" cy="369332"/>
          </a:xfrm>
          <a:prstGeom prst="rect">
            <a:avLst/>
          </a:prstGeom>
          <a:noFill/>
        </p:spPr>
        <p:txBody>
          <a:bodyPr wrap="none" rtlCol="0">
            <a:spAutoFit/>
          </a:bodyPr>
          <a:lstStyle/>
          <a:p>
            <a:r>
              <a:rPr lang="zh-CN" altLang="en-US" dirty="0">
                <a:latin typeface="黑体" panose="02010609060101010101" pitchFamily="49" charset="-122"/>
                <a:ea typeface="黑体" panose="02010609060101010101" pitchFamily="49" charset="-122"/>
              </a:rPr>
              <a:t>唐诗 宋词</a:t>
            </a:r>
          </a:p>
        </p:txBody>
      </p:sp>
      <p:sp>
        <p:nvSpPr>
          <p:cNvPr id="6" name="文本框 5"/>
          <p:cNvSpPr txBox="1"/>
          <p:nvPr/>
        </p:nvSpPr>
        <p:spPr>
          <a:xfrm>
            <a:off x="2571801" y="5975573"/>
            <a:ext cx="3283335" cy="369332"/>
          </a:xfrm>
          <a:prstGeom prst="rect">
            <a:avLst/>
          </a:prstGeom>
          <a:noFill/>
        </p:spPr>
        <p:txBody>
          <a:bodyPr wrap="none" rtlCol="0">
            <a:spAutoFit/>
          </a:bodyPr>
          <a:lstStyle/>
          <a:p>
            <a:r>
              <a:rPr lang="en-US" altLang="zh-CN" dirty="0"/>
              <a:t>Industry Innovation, WW I, WWII</a:t>
            </a:r>
            <a:endParaRPr lang="zh-CN" altLang="en-US" dirty="0"/>
          </a:p>
        </p:txBody>
      </p:sp>
    </p:spTree>
    <p:extLst>
      <p:ext uri="{BB962C8B-B14F-4D97-AF65-F5344CB8AC3E}">
        <p14:creationId xmlns:p14="http://schemas.microsoft.com/office/powerpoint/2010/main" val="197764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See the source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49" y="1017206"/>
            <a:ext cx="3304425" cy="21362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37120" y="61948"/>
            <a:ext cx="3476080" cy="523220"/>
          </a:xfrm>
          <a:prstGeom prst="rect">
            <a:avLst/>
          </a:prstGeom>
          <a:noFill/>
        </p:spPr>
        <p:txBody>
          <a:bodyPr wrap="none" rtlCol="0">
            <a:spAutoFit/>
          </a:bodyPr>
          <a:lstStyle/>
          <a:p>
            <a:r>
              <a:rPr lang="en-US" altLang="zh-CN" sz="2800" dirty="0">
                <a:solidFill>
                  <a:srgbClr val="FF0000"/>
                </a:solidFill>
              </a:rPr>
              <a:t>A short history of heat</a:t>
            </a:r>
            <a:endParaRPr lang="zh-CN" altLang="en-US" sz="2800" dirty="0">
              <a:solidFill>
                <a:srgbClr val="FF0000"/>
              </a:solidFill>
            </a:endParaRPr>
          </a:p>
        </p:txBody>
      </p:sp>
      <p:sp>
        <p:nvSpPr>
          <p:cNvPr id="6" name="TextBox 5"/>
          <p:cNvSpPr txBox="1"/>
          <p:nvPr/>
        </p:nvSpPr>
        <p:spPr>
          <a:xfrm>
            <a:off x="3590047" y="1100736"/>
            <a:ext cx="3386376" cy="461665"/>
          </a:xfrm>
          <a:prstGeom prst="rect">
            <a:avLst/>
          </a:prstGeom>
          <a:noFill/>
        </p:spPr>
        <p:txBody>
          <a:bodyPr wrap="none" rtlCol="0">
            <a:spAutoFit/>
          </a:bodyPr>
          <a:lstStyle/>
          <a:p>
            <a:pPr marL="285750" indent="-285750">
              <a:buFont typeface="Arial" pitchFamily="34" charset="0"/>
              <a:buChar char="•"/>
            </a:pPr>
            <a:r>
              <a:rPr lang="en-US" altLang="zh-CN" sz="2400" dirty="0">
                <a:solidFill>
                  <a:srgbClr val="FF0000"/>
                </a:solidFill>
              </a:rPr>
              <a:t>The materiality of heat </a:t>
            </a:r>
            <a:endParaRPr lang="zh-CN" altLang="en-US" sz="2400" dirty="0">
              <a:solidFill>
                <a:srgbClr val="FF0000"/>
              </a:solidFill>
            </a:endParaRPr>
          </a:p>
        </p:txBody>
      </p:sp>
      <p:sp>
        <p:nvSpPr>
          <p:cNvPr id="8" name="矩形 7"/>
          <p:cNvSpPr/>
          <p:nvPr/>
        </p:nvSpPr>
        <p:spPr>
          <a:xfrm>
            <a:off x="6976423" y="2895600"/>
            <a:ext cx="1796582" cy="923330"/>
          </a:xfrm>
          <a:prstGeom prst="rect">
            <a:avLst/>
          </a:prstGeom>
        </p:spPr>
        <p:txBody>
          <a:bodyPr wrap="none">
            <a:spAutoFit/>
          </a:bodyPr>
          <a:lstStyle/>
          <a:p>
            <a:pPr algn="ctr"/>
            <a:r>
              <a:rPr lang="en-US" altLang="zh-CN" dirty="0"/>
              <a:t>Antoine Lavoisier</a:t>
            </a:r>
          </a:p>
          <a:p>
            <a:pPr algn="ctr"/>
            <a:r>
              <a:rPr lang="en-US" altLang="zh-CN" dirty="0"/>
              <a:t>French Chemist</a:t>
            </a:r>
          </a:p>
          <a:p>
            <a:pPr algn="ctr"/>
            <a:r>
              <a:rPr lang="en-US" altLang="zh-CN" dirty="0"/>
              <a:t>(1771 - 1794)</a:t>
            </a:r>
          </a:p>
        </p:txBody>
      </p:sp>
      <p:pic>
        <p:nvPicPr>
          <p:cNvPr id="2253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88051" y="914400"/>
            <a:ext cx="1534770"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3613200" y="1621948"/>
            <a:ext cx="3200400" cy="923330"/>
          </a:xfrm>
          <a:prstGeom prst="rect">
            <a:avLst/>
          </a:prstGeom>
          <a:noFill/>
        </p:spPr>
        <p:txBody>
          <a:bodyPr wrap="square" rtlCol="0">
            <a:spAutoFit/>
          </a:bodyPr>
          <a:lstStyle/>
          <a:p>
            <a:pPr marL="285750" indent="-285750">
              <a:buFont typeface="Wingdings" pitchFamily="2" charset="2"/>
              <a:buChar char="ü"/>
            </a:pPr>
            <a:r>
              <a:rPr lang="en-US" altLang="zh-CN" dirty="0"/>
              <a:t>It is a wrong theory. </a:t>
            </a:r>
          </a:p>
          <a:p>
            <a:pPr marL="285750" indent="-285750">
              <a:buFont typeface="Wingdings" pitchFamily="2" charset="2"/>
              <a:buChar char="ü"/>
            </a:pPr>
            <a:r>
              <a:rPr lang="en-US" altLang="zh-CN" dirty="0"/>
              <a:t>It come to great conclusion, the </a:t>
            </a:r>
            <a:r>
              <a:rPr lang="en-US" altLang="zh-CN" b="1" dirty="0">
                <a:solidFill>
                  <a:srgbClr val="FF0000"/>
                </a:solidFill>
              </a:rPr>
              <a:t>Conservation</a:t>
            </a:r>
            <a:r>
              <a:rPr lang="en-US" altLang="zh-CN" dirty="0"/>
              <a:t> </a:t>
            </a:r>
            <a:endParaRPr lang="zh-CN" altLang="en-US" dirty="0"/>
          </a:p>
        </p:txBody>
      </p:sp>
      <p:sp>
        <p:nvSpPr>
          <p:cNvPr id="30" name="TextBox 29"/>
          <p:cNvSpPr txBox="1"/>
          <p:nvPr/>
        </p:nvSpPr>
        <p:spPr>
          <a:xfrm>
            <a:off x="228600" y="3585510"/>
            <a:ext cx="3863365" cy="461665"/>
          </a:xfrm>
          <a:prstGeom prst="rect">
            <a:avLst/>
          </a:prstGeom>
          <a:noFill/>
        </p:spPr>
        <p:txBody>
          <a:bodyPr wrap="none" rtlCol="0">
            <a:spAutoFit/>
          </a:bodyPr>
          <a:lstStyle/>
          <a:p>
            <a:pPr marL="285750" indent="-285750">
              <a:buFont typeface="Arial" pitchFamily="34" charset="0"/>
              <a:buChar char="•"/>
            </a:pPr>
            <a:r>
              <a:rPr lang="en-US" altLang="zh-CN" sz="2400" dirty="0">
                <a:solidFill>
                  <a:srgbClr val="FF0000"/>
                </a:solidFill>
              </a:rPr>
              <a:t>The kinetic theory of Heat </a:t>
            </a:r>
            <a:endParaRPr lang="zh-CN" altLang="en-US" sz="2400" dirty="0">
              <a:solidFill>
                <a:srgbClr val="FF0000"/>
              </a:solidFill>
            </a:endParaRPr>
          </a:p>
        </p:txBody>
      </p:sp>
      <p:pic>
        <p:nvPicPr>
          <p:cNvPr id="3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400" y="4267200"/>
            <a:ext cx="2683520" cy="19567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矩形 33"/>
          <p:cNvSpPr/>
          <p:nvPr/>
        </p:nvSpPr>
        <p:spPr>
          <a:xfrm>
            <a:off x="3614151" y="4334498"/>
            <a:ext cx="5486400" cy="1477328"/>
          </a:xfrm>
          <a:prstGeom prst="rect">
            <a:avLst/>
          </a:prstGeom>
        </p:spPr>
        <p:txBody>
          <a:bodyPr wrap="square">
            <a:spAutoFit/>
          </a:bodyPr>
          <a:lstStyle/>
          <a:p>
            <a:r>
              <a:rPr lang="en-US" altLang="zh-CN" b="1" dirty="0">
                <a:solidFill>
                  <a:srgbClr val="FF0000"/>
                </a:solidFill>
              </a:rPr>
              <a:t>1798 : Count Rumford </a:t>
            </a:r>
            <a:r>
              <a:rPr lang="en-US" altLang="zh-CN" dirty="0"/>
              <a:t>first suggest that the relationship</a:t>
            </a:r>
          </a:p>
          <a:p>
            <a:r>
              <a:rPr lang="en-US" altLang="zh-CN" dirty="0"/>
              <a:t>            between heat (thermal energy) and work.</a:t>
            </a:r>
          </a:p>
          <a:p>
            <a:endParaRPr lang="en-US" altLang="zh-CN" dirty="0"/>
          </a:p>
          <a:p>
            <a:r>
              <a:rPr lang="en-US" altLang="zh-CN" dirty="0"/>
              <a:t>” the heat, </a:t>
            </a:r>
            <a:r>
              <a:rPr lang="en-US" altLang="zh-CN" i="1" dirty="0"/>
              <a:t>q </a:t>
            </a:r>
            <a:r>
              <a:rPr lang="en-US" altLang="zh-CN" dirty="0"/>
              <a:t>, produced during the boring was roughly proportional to the work, </a:t>
            </a:r>
            <a:r>
              <a:rPr lang="en-US" altLang="zh-CN" i="1" dirty="0"/>
              <a:t>w </a:t>
            </a:r>
            <a:r>
              <a:rPr lang="en-US" altLang="zh-CN" dirty="0"/>
              <a:t>,”</a:t>
            </a:r>
            <a:endParaRPr lang="zh-CN" altLang="en-US" dirty="0"/>
          </a:p>
        </p:txBody>
      </p:sp>
    </p:spTree>
    <p:extLst>
      <p:ext uri="{BB962C8B-B14F-4D97-AF65-F5344CB8AC3E}">
        <p14:creationId xmlns:p14="http://schemas.microsoft.com/office/powerpoint/2010/main" val="3398893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6633459" y="2870666"/>
            <a:ext cx="1754006" cy="707886"/>
          </a:xfrm>
          <a:prstGeom prst="rect">
            <a:avLst/>
          </a:prstGeom>
        </p:spPr>
        <p:txBody>
          <a:bodyPr wrap="none">
            <a:spAutoFit/>
          </a:bodyPr>
          <a:lstStyle/>
          <a:p>
            <a:pPr algn="ctr"/>
            <a:r>
              <a:rPr lang="fr-FR" altLang="zh-CN" sz="2000" b="1" dirty="0">
                <a:solidFill>
                  <a:srgbClr val="FF0000"/>
                </a:solidFill>
              </a:rPr>
              <a:t>James Joule</a:t>
            </a:r>
          </a:p>
          <a:p>
            <a:pPr algn="ctr"/>
            <a:r>
              <a:rPr lang="fr-FR" altLang="zh-CN" sz="2000" b="1" dirty="0">
                <a:solidFill>
                  <a:srgbClr val="FF0000"/>
                </a:solidFill>
              </a:rPr>
              <a:t> (1818– 1889). </a:t>
            </a:r>
            <a:endParaRPr lang="zh-CN" altLang="en-US" sz="2000" b="1" dirty="0">
              <a:solidFill>
                <a:srgbClr val="FF0000"/>
              </a:solidFill>
            </a:endParaRPr>
          </a:p>
        </p:txBody>
      </p:sp>
      <p:sp>
        <p:nvSpPr>
          <p:cNvPr id="6" name="矩形 5"/>
          <p:cNvSpPr/>
          <p:nvPr/>
        </p:nvSpPr>
        <p:spPr>
          <a:xfrm>
            <a:off x="235424" y="1828800"/>
            <a:ext cx="6089176" cy="2400657"/>
          </a:xfrm>
          <a:prstGeom prst="rect">
            <a:avLst/>
          </a:prstGeom>
        </p:spPr>
        <p:txBody>
          <a:bodyPr wrap="square">
            <a:spAutoFit/>
          </a:bodyPr>
          <a:lstStyle/>
          <a:p>
            <a:pPr>
              <a:spcAft>
                <a:spcPts val="1200"/>
              </a:spcAft>
            </a:pPr>
            <a:r>
              <a:rPr lang="en-US" altLang="zh-CN" sz="2000" dirty="0"/>
              <a:t>1. Rotating a paddle wheel immersed in the water</a:t>
            </a:r>
          </a:p>
          <a:p>
            <a:pPr>
              <a:spcAft>
                <a:spcPts val="1200"/>
              </a:spcAft>
            </a:pPr>
            <a:r>
              <a:rPr lang="en-US" altLang="zh-CN" sz="2000" dirty="0"/>
              <a:t>2. An electric motor driving a current</a:t>
            </a:r>
            <a:r>
              <a:rPr lang="en-US" altLang="zh-CN" dirty="0"/>
              <a:t> </a:t>
            </a:r>
            <a:r>
              <a:rPr lang="en-US" altLang="zh-CN" sz="2000" dirty="0"/>
              <a:t>through a coil immersed in the water</a:t>
            </a:r>
          </a:p>
          <a:p>
            <a:pPr>
              <a:spcAft>
                <a:spcPts val="1200"/>
              </a:spcAft>
            </a:pPr>
            <a:r>
              <a:rPr lang="en-US" altLang="zh-CN" sz="2000" dirty="0"/>
              <a:t>3. Compressing a cylinder of gas immersed in the water</a:t>
            </a:r>
          </a:p>
          <a:p>
            <a:pPr>
              <a:spcAft>
                <a:spcPts val="1200"/>
              </a:spcAft>
            </a:pPr>
            <a:r>
              <a:rPr lang="en-US" altLang="zh-CN" sz="2000" dirty="0"/>
              <a:t>4. Rubbing together two metal blocks immersed in the water</a:t>
            </a:r>
            <a:endParaRPr lang="zh-CN" altLang="en-US" sz="2000" dirty="0"/>
          </a:p>
        </p:txBody>
      </p:sp>
      <p:pic>
        <p:nvPicPr>
          <p:cNvPr id="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42316" y="3934509"/>
            <a:ext cx="2267860" cy="21068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nvSpPr>
        <p:spPr>
          <a:xfrm>
            <a:off x="76200" y="99638"/>
            <a:ext cx="2370392" cy="523220"/>
          </a:xfrm>
          <a:prstGeom prst="rect">
            <a:avLst/>
          </a:prstGeom>
          <a:noFill/>
        </p:spPr>
        <p:txBody>
          <a:bodyPr wrap="none" rtlCol="0">
            <a:spAutoFit/>
          </a:bodyPr>
          <a:lstStyle/>
          <a:p>
            <a:r>
              <a:rPr lang="en-US" altLang="zh-CN" sz="2800" dirty="0">
                <a:solidFill>
                  <a:srgbClr val="FF0000"/>
                </a:solidFill>
              </a:rPr>
              <a:t>Heat and Work</a:t>
            </a:r>
            <a:endParaRPr lang="zh-CN" altLang="en-US" sz="2800" dirty="0">
              <a:solidFill>
                <a:srgbClr val="FF0000"/>
              </a:solidFill>
            </a:endParaRPr>
          </a:p>
        </p:txBody>
      </p:sp>
      <p:pic>
        <p:nvPicPr>
          <p:cNvPr id="215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910470"/>
            <a:ext cx="1457325" cy="193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268406" y="1143000"/>
            <a:ext cx="3259547" cy="461665"/>
          </a:xfrm>
          <a:prstGeom prst="rect">
            <a:avLst/>
          </a:prstGeom>
          <a:noFill/>
        </p:spPr>
        <p:txBody>
          <a:bodyPr wrap="none" rtlCol="0">
            <a:spAutoFit/>
          </a:bodyPr>
          <a:lstStyle/>
          <a:p>
            <a:r>
              <a:rPr lang="en-US" altLang="zh-CN" sz="2400" dirty="0">
                <a:solidFill>
                  <a:srgbClr val="0000FF"/>
                </a:solidFill>
              </a:rPr>
              <a:t>Systematic investigation:</a:t>
            </a:r>
            <a:endParaRPr lang="zh-CN" altLang="en-US" sz="2400" dirty="0">
              <a:solidFill>
                <a:srgbClr val="0000FF"/>
              </a:solidFill>
            </a:endParaRPr>
          </a:p>
        </p:txBody>
      </p:sp>
      <p:sp>
        <p:nvSpPr>
          <p:cNvPr id="9" name="TextBox 8"/>
          <p:cNvSpPr txBox="1"/>
          <p:nvPr/>
        </p:nvSpPr>
        <p:spPr>
          <a:xfrm>
            <a:off x="235424" y="4800600"/>
            <a:ext cx="5631975" cy="1015663"/>
          </a:xfrm>
          <a:prstGeom prst="rect">
            <a:avLst/>
          </a:prstGeom>
          <a:solidFill>
            <a:schemeClr val="accent6">
              <a:lumMod val="20000"/>
              <a:lumOff val="80000"/>
            </a:schemeClr>
          </a:solidFill>
        </p:spPr>
        <p:txBody>
          <a:bodyPr wrap="square" rtlCol="0">
            <a:spAutoFit/>
          </a:bodyPr>
          <a:lstStyle/>
          <a:p>
            <a:r>
              <a:rPr lang="en-US" altLang="zh-CN" sz="2000" dirty="0"/>
              <a:t>“Heat” is that quantity which, in a system, is conserved in the absence of work done on or by that system. </a:t>
            </a:r>
            <a:endParaRPr lang="zh-CN" altLang="en-US" sz="2000" dirty="0"/>
          </a:p>
        </p:txBody>
      </p:sp>
      <p:sp>
        <p:nvSpPr>
          <p:cNvPr id="10" name="矩形 9"/>
          <p:cNvSpPr/>
          <p:nvPr/>
        </p:nvSpPr>
        <p:spPr>
          <a:xfrm>
            <a:off x="1752600" y="6038364"/>
            <a:ext cx="2528000" cy="369332"/>
          </a:xfrm>
          <a:prstGeom prst="rect">
            <a:avLst/>
          </a:prstGeom>
        </p:spPr>
        <p:txBody>
          <a:bodyPr wrap="none">
            <a:spAutoFit/>
          </a:bodyPr>
          <a:lstStyle/>
          <a:p>
            <a:r>
              <a:rPr lang="en-US" altLang="zh-CN" dirty="0"/>
              <a:t>“Heat”= internal energy  </a:t>
            </a:r>
            <a:endParaRPr lang="zh-CN" altLang="en-US" dirty="0"/>
          </a:p>
        </p:txBody>
      </p:sp>
    </p:spTree>
    <p:extLst>
      <p:ext uri="{BB962C8B-B14F-4D97-AF65-F5344CB8AC3E}">
        <p14:creationId xmlns:p14="http://schemas.microsoft.com/office/powerpoint/2010/main" val="2719910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4"/>
          <p:cNvSpPr txBox="1">
            <a:spLocks noChangeArrowheads="1"/>
          </p:cNvSpPr>
          <p:nvPr/>
        </p:nvSpPr>
        <p:spPr bwMode="auto">
          <a:xfrm>
            <a:off x="304799" y="1295400"/>
            <a:ext cx="886011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2400" b="1" u="sng" dirty="0">
                <a:solidFill>
                  <a:srgbClr val="0000FF"/>
                </a:solidFill>
                <a:latin typeface="Arial Unicode MS" pitchFamily="34" charset="-122"/>
                <a:ea typeface="Arial Unicode MS" pitchFamily="34" charset="-122"/>
                <a:cs typeface="Arial Unicode MS" pitchFamily="34" charset="-122"/>
              </a:rPr>
              <a:t>Heat (</a:t>
            </a:r>
            <a:r>
              <a:rPr lang="en-US" altLang="zh-CN" sz="2400" b="1" i="1" u="sng" dirty="0">
                <a:solidFill>
                  <a:srgbClr val="0000FF"/>
                </a:solidFill>
                <a:latin typeface="Arial Unicode MS" pitchFamily="34" charset="-122"/>
                <a:ea typeface="Arial Unicode MS" pitchFamily="34" charset="-122"/>
                <a:cs typeface="Arial Unicode MS" pitchFamily="34" charset="-122"/>
              </a:rPr>
              <a:t>q</a:t>
            </a:r>
            <a:r>
              <a:rPr lang="en-US" altLang="zh-CN" sz="2400" b="1" u="sng" dirty="0">
                <a:solidFill>
                  <a:srgbClr val="0000FF"/>
                </a:solidFill>
                <a:latin typeface="Arial Unicode MS" pitchFamily="34" charset="-122"/>
                <a:ea typeface="Arial Unicode MS" pitchFamily="34" charset="-122"/>
                <a:cs typeface="Arial Unicode MS" pitchFamily="34" charset="-122"/>
              </a:rPr>
              <a:t>):</a:t>
            </a:r>
            <a:r>
              <a:rPr lang="en-US" altLang="zh-CN" sz="2400" b="1" dirty="0">
                <a:solidFill>
                  <a:srgbClr val="0000FF"/>
                </a:solidFill>
                <a:latin typeface="Arial Unicode MS" pitchFamily="34" charset="-122"/>
                <a:ea typeface="Arial Unicode MS" pitchFamily="34" charset="-122"/>
                <a:cs typeface="Arial Unicode MS" pitchFamily="34" charset="-122"/>
              </a:rPr>
              <a:t> </a:t>
            </a:r>
            <a:r>
              <a:rPr lang="en-US" altLang="zh-CN" sz="2400" dirty="0">
                <a:latin typeface="Arial Unicode MS" pitchFamily="34" charset="-122"/>
                <a:ea typeface="Arial Unicode MS" pitchFamily="34" charset="-122"/>
                <a:cs typeface="Arial Unicode MS" pitchFamily="34" charset="-122"/>
              </a:rPr>
              <a:t>energy exchange due to temperature difference.</a:t>
            </a:r>
          </a:p>
          <a:p>
            <a:pPr defTabSz="914400" eaLnBrk="1" hangingPunct="1"/>
            <a:r>
              <a:rPr lang="en-US" altLang="zh-CN" sz="2400" dirty="0">
                <a:latin typeface="Arial Unicode MS" pitchFamily="34" charset="-122"/>
                <a:ea typeface="Arial Unicode MS" pitchFamily="34" charset="-122"/>
                <a:cs typeface="Arial Unicode MS" pitchFamily="34" charset="-122"/>
              </a:rPr>
              <a:t>	</a:t>
            </a:r>
            <a:r>
              <a:rPr lang="en-US" altLang="zh-CN" sz="2400" i="1" dirty="0">
                <a:latin typeface="Arial Unicode MS" pitchFamily="34" charset="-122"/>
                <a:ea typeface="Arial Unicode MS" pitchFamily="34" charset="-122"/>
                <a:cs typeface="Arial Unicode MS" pitchFamily="34" charset="-122"/>
              </a:rPr>
              <a:t>q</a:t>
            </a:r>
            <a:r>
              <a:rPr lang="en-US" altLang="zh-CN" sz="2400" dirty="0">
                <a:latin typeface="Arial Unicode MS" pitchFamily="34" charset="-122"/>
                <a:ea typeface="Arial Unicode MS" pitchFamily="34" charset="-122"/>
                <a:cs typeface="Arial Unicode MS" pitchFamily="34" charset="-122"/>
              </a:rPr>
              <a:t> is positive when heat flows into the system</a:t>
            </a:r>
          </a:p>
          <a:p>
            <a:pPr defTabSz="914400" eaLnBrk="1" hangingPunct="1"/>
            <a:r>
              <a:rPr lang="en-US" altLang="zh-CN" sz="2400" dirty="0">
                <a:latin typeface="Arial Unicode MS" pitchFamily="34" charset="-122"/>
                <a:ea typeface="Arial Unicode MS" pitchFamily="34" charset="-122"/>
                <a:cs typeface="Arial Unicode MS" pitchFamily="34" charset="-122"/>
              </a:rPr>
              <a:t>	</a:t>
            </a:r>
            <a:r>
              <a:rPr lang="en-US" altLang="zh-CN" sz="2400" i="1" dirty="0">
                <a:latin typeface="Arial Unicode MS" pitchFamily="34" charset="-122"/>
                <a:ea typeface="Arial Unicode MS" pitchFamily="34" charset="-122"/>
                <a:cs typeface="Arial Unicode MS" pitchFamily="34" charset="-122"/>
              </a:rPr>
              <a:t>q</a:t>
            </a:r>
            <a:r>
              <a:rPr lang="en-US" altLang="zh-CN" sz="2400" dirty="0">
                <a:latin typeface="Arial Unicode MS" pitchFamily="34" charset="-122"/>
                <a:ea typeface="Arial Unicode MS" pitchFamily="34" charset="-122"/>
                <a:cs typeface="Arial Unicode MS" pitchFamily="34" charset="-122"/>
              </a:rPr>
              <a:t> is negative when heat flows out the system</a:t>
            </a:r>
          </a:p>
          <a:p>
            <a:pPr defTabSz="914400" eaLnBrk="1" hangingPunct="1"/>
            <a:endParaRPr lang="en-US" altLang="zh-CN" sz="2400" dirty="0">
              <a:latin typeface="Arial Unicode MS" pitchFamily="34" charset="-122"/>
              <a:ea typeface="Arial Unicode MS" pitchFamily="34" charset="-122"/>
              <a:cs typeface="Arial Unicode MS" pitchFamily="34" charset="-122"/>
            </a:endParaRPr>
          </a:p>
          <a:p>
            <a:pPr defTabSz="914400" eaLnBrk="1" hangingPunct="1"/>
            <a:r>
              <a:rPr lang="en-US" altLang="zh-CN" sz="2400" b="1" u="sng" dirty="0">
                <a:solidFill>
                  <a:srgbClr val="0000FF"/>
                </a:solidFill>
                <a:latin typeface="Arial Unicode MS" pitchFamily="34" charset="-122"/>
                <a:ea typeface="Arial Unicode MS" pitchFamily="34" charset="-122"/>
                <a:cs typeface="Arial Unicode MS" pitchFamily="34" charset="-122"/>
              </a:rPr>
              <a:t>Work (</a:t>
            </a:r>
            <a:r>
              <a:rPr lang="en-US" altLang="zh-CN" sz="2400" b="1" i="1" u="sng" dirty="0">
                <a:solidFill>
                  <a:srgbClr val="0000FF"/>
                </a:solidFill>
                <a:latin typeface="Arial Unicode MS" pitchFamily="34" charset="-122"/>
                <a:ea typeface="Arial Unicode MS" pitchFamily="34" charset="-122"/>
                <a:cs typeface="Arial Unicode MS" pitchFamily="34" charset="-122"/>
              </a:rPr>
              <a:t>w</a:t>
            </a:r>
            <a:r>
              <a:rPr lang="en-US" altLang="zh-CN" sz="2400" b="1" u="sng" dirty="0">
                <a:solidFill>
                  <a:srgbClr val="0000FF"/>
                </a:solidFill>
                <a:latin typeface="Arial Unicode MS" pitchFamily="34" charset="-122"/>
                <a:ea typeface="Arial Unicode MS" pitchFamily="34" charset="-122"/>
                <a:cs typeface="Arial Unicode MS" pitchFamily="34" charset="-122"/>
              </a:rPr>
              <a:t>):</a:t>
            </a:r>
            <a:r>
              <a:rPr lang="en-US" altLang="zh-CN" sz="2400" b="1" dirty="0">
                <a:solidFill>
                  <a:srgbClr val="0000FF"/>
                </a:solidFill>
                <a:latin typeface="Arial Unicode MS" pitchFamily="34" charset="-122"/>
                <a:ea typeface="Arial Unicode MS" pitchFamily="34" charset="-122"/>
                <a:cs typeface="Arial Unicode MS" pitchFamily="34" charset="-122"/>
              </a:rPr>
              <a:t> </a:t>
            </a:r>
            <a:r>
              <a:rPr lang="en-US" altLang="zh-CN" sz="2400" dirty="0">
                <a:latin typeface="Arial Unicode MS" pitchFamily="34" charset="-122"/>
                <a:ea typeface="Arial Unicode MS" pitchFamily="34" charset="-122"/>
                <a:cs typeface="Arial Unicode MS" pitchFamily="34" charset="-122"/>
              </a:rPr>
              <a:t>energy exchange due to other driving forces.</a:t>
            </a:r>
          </a:p>
          <a:p>
            <a:pPr defTabSz="914400" eaLnBrk="1" hangingPunct="1"/>
            <a:r>
              <a:rPr lang="en-US" altLang="zh-CN" sz="2400" dirty="0">
                <a:latin typeface="Arial Unicode MS" pitchFamily="34" charset="-122"/>
                <a:ea typeface="Arial Unicode MS" pitchFamily="34" charset="-122"/>
                <a:cs typeface="Arial Unicode MS" pitchFamily="34" charset="-122"/>
              </a:rPr>
              <a:t>	Work done by the system to the surroundings is positive</a:t>
            </a:r>
          </a:p>
          <a:p>
            <a:pPr defTabSz="914400" eaLnBrk="1" hangingPunct="1"/>
            <a:r>
              <a:rPr lang="en-US" altLang="zh-CN" sz="2400" dirty="0">
                <a:latin typeface="Arial Unicode MS" pitchFamily="34" charset="-122"/>
                <a:ea typeface="Arial Unicode MS" pitchFamily="34" charset="-122"/>
                <a:cs typeface="Arial Unicode MS" pitchFamily="34" charset="-122"/>
              </a:rPr>
              <a:t>	Work done by the surroundings to the system is negative</a:t>
            </a:r>
          </a:p>
        </p:txBody>
      </p:sp>
      <p:graphicFrame>
        <p:nvGraphicFramePr>
          <p:cNvPr id="3" name="对象 2"/>
          <p:cNvGraphicFramePr>
            <a:graphicFrameLocks noChangeAspect="1"/>
          </p:cNvGraphicFramePr>
          <p:nvPr>
            <p:extLst>
              <p:ext uri="{D42A27DB-BD31-4B8C-83A1-F6EECF244321}">
                <p14:modId xmlns:p14="http://schemas.microsoft.com/office/powerpoint/2010/main" val="1793103725"/>
              </p:ext>
            </p:extLst>
          </p:nvPr>
        </p:nvGraphicFramePr>
        <p:xfrm>
          <a:off x="990600" y="4784263"/>
          <a:ext cx="1573213" cy="579437"/>
        </p:xfrm>
        <a:graphic>
          <a:graphicData uri="http://schemas.openxmlformats.org/presentationml/2006/ole">
            <mc:AlternateContent xmlns:mc="http://schemas.openxmlformats.org/markup-compatibility/2006">
              <mc:Choice xmlns:v="urn:schemas-microsoft-com:vml" Requires="v">
                <p:oleObj name="Equation" r:id="rId2" imgW="749300" imgH="279400" progId="Equation.3">
                  <p:embed/>
                </p:oleObj>
              </mc:Choice>
              <mc:Fallback>
                <p:oleObj name="Equation" r:id="rId2" imgW="749300" imgH="2794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784263"/>
                        <a:ext cx="1573213"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18"/>
          <p:cNvSpPr txBox="1">
            <a:spLocks noChangeArrowheads="1"/>
          </p:cNvSpPr>
          <p:nvPr/>
        </p:nvSpPr>
        <p:spPr bwMode="auto">
          <a:xfrm>
            <a:off x="307975" y="5525869"/>
            <a:ext cx="451008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1800" b="1" dirty="0">
                <a:solidFill>
                  <a:srgbClr val="FF0000"/>
                </a:solidFill>
                <a:latin typeface="Arial Unicode MS" pitchFamily="34" charset="-122"/>
                <a:ea typeface="Arial Unicode MS" pitchFamily="34" charset="-122"/>
                <a:cs typeface="Arial Unicode MS" pitchFamily="34" charset="-122"/>
              </a:rPr>
              <a:t>Both heat and work are process variables, they disappear when process finishes.</a:t>
            </a:r>
          </a:p>
        </p:txBody>
      </p:sp>
      <p:pic>
        <p:nvPicPr>
          <p:cNvPr id="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5734" y="4106862"/>
            <a:ext cx="2364132" cy="1684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矩形 5"/>
          <p:cNvSpPr/>
          <p:nvPr/>
        </p:nvSpPr>
        <p:spPr>
          <a:xfrm>
            <a:off x="304799" y="4116636"/>
            <a:ext cx="5834092" cy="400110"/>
          </a:xfrm>
          <a:prstGeom prst="rect">
            <a:avLst/>
          </a:prstGeom>
        </p:spPr>
        <p:txBody>
          <a:bodyPr wrap="square">
            <a:spAutoFit/>
          </a:bodyPr>
          <a:lstStyle/>
          <a:p>
            <a:r>
              <a:rPr lang="en-US" altLang="zh-CN" sz="2000" u="sng" dirty="0">
                <a:latin typeface="Arial Unicode MS" pitchFamily="34" charset="-122"/>
                <a:ea typeface="Arial Unicode MS" pitchFamily="34" charset="-122"/>
                <a:cs typeface="Arial Unicode MS" pitchFamily="34" charset="-122"/>
              </a:rPr>
              <a:t>Mechanical work: due to volume change</a:t>
            </a:r>
            <a:r>
              <a:rPr lang="en-US" altLang="zh-CN" sz="2000" dirty="0">
                <a:latin typeface="Arial Unicode MS" pitchFamily="34" charset="-122"/>
                <a:ea typeface="Arial Unicode MS" pitchFamily="34" charset="-122"/>
                <a:cs typeface="Arial Unicode MS" pitchFamily="34" charset="-122"/>
              </a:rPr>
              <a:t> </a:t>
            </a:r>
          </a:p>
        </p:txBody>
      </p:sp>
      <p:sp>
        <p:nvSpPr>
          <p:cNvPr id="7" name="TextBox 6"/>
          <p:cNvSpPr txBox="1"/>
          <p:nvPr/>
        </p:nvSpPr>
        <p:spPr>
          <a:xfrm>
            <a:off x="76200" y="76200"/>
            <a:ext cx="2685159" cy="584775"/>
          </a:xfrm>
          <a:prstGeom prst="rect">
            <a:avLst/>
          </a:prstGeom>
          <a:noFill/>
        </p:spPr>
        <p:txBody>
          <a:bodyPr wrap="none" rtlCol="0">
            <a:spAutoFit/>
          </a:bodyPr>
          <a:lstStyle/>
          <a:p>
            <a:r>
              <a:rPr lang="en-US" altLang="zh-CN" sz="3200" dirty="0">
                <a:solidFill>
                  <a:srgbClr val="FF0000"/>
                </a:solidFill>
              </a:rPr>
              <a:t>Heat and Work</a:t>
            </a:r>
            <a:endParaRPr lang="zh-CN" altLang="en-US" sz="3200" dirty="0">
              <a:solidFill>
                <a:srgbClr val="FF0000"/>
              </a:solidFill>
            </a:endParaRPr>
          </a:p>
        </p:txBody>
      </p:sp>
    </p:spTree>
    <p:extLst>
      <p:ext uri="{BB962C8B-B14F-4D97-AF65-F5344CB8AC3E}">
        <p14:creationId xmlns:p14="http://schemas.microsoft.com/office/powerpoint/2010/main" val="3059557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155575" y="1219200"/>
            <a:ext cx="56356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2400" dirty="0">
                <a:latin typeface="Arial Unicode MS" pitchFamily="34" charset="-122"/>
                <a:ea typeface="Arial Unicode MS" pitchFamily="34" charset="-122"/>
                <a:cs typeface="Arial Unicode MS" pitchFamily="34" charset="-122"/>
              </a:rPr>
              <a:t>First</a:t>
            </a:r>
            <a:r>
              <a:rPr lang="zh-CN" altLang="en-US" sz="2400" dirty="0">
                <a:latin typeface="Arial Unicode MS" pitchFamily="34" charset="-122"/>
                <a:ea typeface="Arial Unicode MS" pitchFamily="34" charset="-122"/>
                <a:cs typeface="Arial Unicode MS" pitchFamily="34" charset="-122"/>
              </a:rPr>
              <a:t> </a:t>
            </a:r>
            <a:r>
              <a:rPr lang="en-US" altLang="zh-CN" sz="2400" dirty="0">
                <a:latin typeface="Arial Unicode MS" pitchFamily="34" charset="-122"/>
                <a:ea typeface="Arial Unicode MS" pitchFamily="34" charset="-122"/>
                <a:cs typeface="Arial Unicode MS" pitchFamily="34" charset="-122"/>
              </a:rPr>
              <a:t>Law of thermodynamics is also called as </a:t>
            </a:r>
            <a:r>
              <a:rPr lang="en-US" altLang="zh-CN" sz="2400" b="1" dirty="0">
                <a:solidFill>
                  <a:srgbClr val="FF0000"/>
                </a:solidFill>
                <a:latin typeface="Arial Unicode MS" pitchFamily="34" charset="-122"/>
                <a:ea typeface="Arial Unicode MS" pitchFamily="34" charset="-122"/>
                <a:cs typeface="Arial Unicode MS" pitchFamily="34" charset="-122"/>
              </a:rPr>
              <a:t>The energy conservation law</a:t>
            </a:r>
          </a:p>
        </p:txBody>
      </p:sp>
      <p:graphicFrame>
        <p:nvGraphicFramePr>
          <p:cNvPr id="3" name="Object 2"/>
          <p:cNvGraphicFramePr>
            <a:graphicFrameLocks noChangeAspect="1"/>
          </p:cNvGraphicFramePr>
          <p:nvPr>
            <p:extLst>
              <p:ext uri="{D42A27DB-BD31-4B8C-83A1-F6EECF244321}">
                <p14:modId xmlns:p14="http://schemas.microsoft.com/office/powerpoint/2010/main" val="2451140914"/>
              </p:ext>
            </p:extLst>
          </p:nvPr>
        </p:nvGraphicFramePr>
        <p:xfrm>
          <a:off x="6662520" y="1485154"/>
          <a:ext cx="1730375" cy="468313"/>
        </p:xfrm>
        <a:graphic>
          <a:graphicData uri="http://schemas.openxmlformats.org/presentationml/2006/ole">
            <mc:AlternateContent xmlns:mc="http://schemas.openxmlformats.org/markup-compatibility/2006">
              <mc:Choice xmlns:v="urn:schemas-microsoft-com:vml" Requires="v">
                <p:oleObj name="公式" r:id="rId2" imgW="736600" imgH="203200" progId="Equation.3">
                  <p:embed/>
                </p:oleObj>
              </mc:Choice>
              <mc:Fallback>
                <p:oleObj name="公式" r:id="rId2" imgW="736600" imgH="203200"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2520" y="1485154"/>
                        <a:ext cx="1730375" cy="468313"/>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1044"/>
          <p:cNvSpPr txBox="1">
            <a:spLocks noChangeArrowheads="1"/>
          </p:cNvSpPr>
          <p:nvPr/>
        </p:nvSpPr>
        <p:spPr bwMode="auto">
          <a:xfrm>
            <a:off x="328720" y="2517884"/>
            <a:ext cx="568136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b="1" dirty="0">
                <a:solidFill>
                  <a:srgbClr val="0000CC"/>
                </a:solidFill>
                <a:latin typeface="Arial Unicode MS" pitchFamily="34" charset="-122"/>
                <a:ea typeface="Arial Unicode MS" pitchFamily="34" charset="-122"/>
                <a:cs typeface="Arial Unicode MS" pitchFamily="34" charset="-122"/>
              </a:rPr>
              <a:t>For an infinitesimal change:     </a:t>
            </a:r>
            <a:r>
              <a:rPr lang="en-US" altLang="zh-CN" sz="2600" b="1" dirty="0" err="1">
                <a:solidFill>
                  <a:srgbClr val="000000"/>
                </a:solidFill>
                <a:latin typeface="Arial Unicode MS" pitchFamily="34" charset="-122"/>
                <a:ea typeface="Arial Unicode MS" pitchFamily="34" charset="-122"/>
                <a:cs typeface="Arial Unicode MS" pitchFamily="34" charset="-122"/>
                <a:sym typeface="Symbol" pitchFamily="18" charset="2"/>
              </a:rPr>
              <a:t>d</a:t>
            </a:r>
            <a:r>
              <a:rPr lang="en-US" altLang="zh-CN" sz="2600" b="1" dirty="0" err="1">
                <a:solidFill>
                  <a:srgbClr val="000000"/>
                </a:solidFill>
                <a:latin typeface="Arial Unicode MS" pitchFamily="34" charset="-122"/>
                <a:ea typeface="Arial Unicode MS" pitchFamily="34" charset="-122"/>
                <a:cs typeface="Arial Unicode MS" pitchFamily="34" charset="-122"/>
              </a:rPr>
              <a:t>U</a:t>
            </a:r>
            <a:r>
              <a:rPr lang="en-US" altLang="zh-CN" sz="2600" b="1" dirty="0">
                <a:solidFill>
                  <a:srgbClr val="000000"/>
                </a:solidFill>
                <a:latin typeface="Arial Unicode MS" pitchFamily="34" charset="-122"/>
                <a:ea typeface="Arial Unicode MS" pitchFamily="34" charset="-122"/>
                <a:cs typeface="Arial Unicode MS" pitchFamily="34" charset="-122"/>
              </a:rPr>
              <a:t> = </a:t>
            </a:r>
            <a:r>
              <a:rPr lang="en-US" altLang="zh-CN" sz="2600" b="1" dirty="0">
                <a:solidFill>
                  <a:srgbClr val="000000"/>
                </a:solidFill>
                <a:latin typeface="Arial Unicode MS" pitchFamily="34" charset="-122"/>
                <a:ea typeface="Arial Unicode MS" pitchFamily="34" charset="-122"/>
                <a:cs typeface="Arial Unicode MS" pitchFamily="34" charset="-122"/>
                <a:sym typeface="Symbol" pitchFamily="18" charset="2"/>
              </a:rPr>
              <a:t></a:t>
            </a:r>
            <a:r>
              <a:rPr lang="en-US" altLang="zh-CN" sz="2600" b="1" dirty="0">
                <a:solidFill>
                  <a:srgbClr val="000000"/>
                </a:solidFill>
                <a:latin typeface="Arial Unicode MS" pitchFamily="34" charset="-122"/>
                <a:ea typeface="Arial Unicode MS" pitchFamily="34" charset="-122"/>
                <a:cs typeface="Arial Unicode MS" pitchFamily="34" charset="-122"/>
              </a:rPr>
              <a:t>q – </a:t>
            </a:r>
            <a:r>
              <a:rPr lang="en-US" altLang="zh-CN" sz="2600" b="1" dirty="0">
                <a:solidFill>
                  <a:srgbClr val="000000"/>
                </a:solidFill>
                <a:latin typeface="Arial Unicode MS" pitchFamily="34" charset="-122"/>
                <a:ea typeface="Arial Unicode MS" pitchFamily="34" charset="-122"/>
                <a:cs typeface="Arial Unicode MS" pitchFamily="34" charset="-122"/>
                <a:sym typeface="Symbol" pitchFamily="18" charset="2"/>
              </a:rPr>
              <a:t></a:t>
            </a:r>
            <a:r>
              <a:rPr lang="en-US" altLang="zh-CN" sz="2600" b="1" dirty="0">
                <a:solidFill>
                  <a:srgbClr val="000000"/>
                </a:solidFill>
                <a:latin typeface="Arial Unicode MS" pitchFamily="34" charset="-122"/>
                <a:ea typeface="Arial Unicode MS" pitchFamily="34" charset="-122"/>
                <a:cs typeface="Arial Unicode MS" pitchFamily="34" charset="-122"/>
              </a:rPr>
              <a:t>W</a:t>
            </a:r>
          </a:p>
        </p:txBody>
      </p:sp>
      <p:sp>
        <p:nvSpPr>
          <p:cNvPr id="5" name="Text Box 1045"/>
          <p:cNvSpPr txBox="1">
            <a:spLocks noChangeArrowheads="1"/>
          </p:cNvSpPr>
          <p:nvPr/>
        </p:nvSpPr>
        <p:spPr bwMode="auto">
          <a:xfrm>
            <a:off x="444432" y="3320960"/>
            <a:ext cx="5703997" cy="707886"/>
          </a:xfrm>
          <a:prstGeom prst="rect">
            <a:avLst/>
          </a:prstGeom>
          <a:noFill/>
          <a:ln w="25400">
            <a:solidFill>
              <a:srgbClr val="CC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dirty="0">
                <a:solidFill>
                  <a:srgbClr val="000000"/>
                </a:solidFill>
                <a:latin typeface="Arial Unicode MS" pitchFamily="34" charset="-122"/>
                <a:ea typeface="Arial Unicode MS" pitchFamily="34" charset="-122"/>
                <a:cs typeface="Arial Unicode MS" pitchFamily="34" charset="-122"/>
              </a:rPr>
              <a:t>d </a:t>
            </a:r>
            <a:r>
              <a:rPr lang="en-US" altLang="zh-CN" sz="2000" dirty="0">
                <a:solidFill>
                  <a:srgbClr val="000000"/>
                </a:solidFill>
                <a:latin typeface="Arial Unicode MS" pitchFamily="34" charset="-122"/>
                <a:ea typeface="Arial Unicode MS" pitchFamily="34" charset="-122"/>
                <a:cs typeface="Arial Unicode MS" pitchFamily="34" charset="-122"/>
                <a:sym typeface="Wingdings" pitchFamily="2" charset="2"/>
              </a:rPr>
              <a:t> a differential element of a state function</a:t>
            </a:r>
            <a:endParaRPr lang="en-US" altLang="zh-CN" sz="2000" dirty="0">
              <a:solidFill>
                <a:srgbClr val="000000"/>
              </a:solidFill>
              <a:latin typeface="Arial Unicode MS" pitchFamily="34" charset="-122"/>
              <a:ea typeface="Arial Unicode MS" pitchFamily="34" charset="-122"/>
              <a:cs typeface="Arial Unicode MS" pitchFamily="34" charset="-122"/>
            </a:endParaRPr>
          </a:p>
          <a:p>
            <a:pPr defTabSz="914400" eaLnBrk="1" hangingPunct="1"/>
            <a:r>
              <a:rPr lang="en-US" altLang="zh-CN" sz="2000" dirty="0">
                <a:solidFill>
                  <a:srgbClr val="000000"/>
                </a:solidFill>
                <a:latin typeface="Arial Unicode MS" pitchFamily="34" charset="-122"/>
                <a:ea typeface="Arial Unicode MS" pitchFamily="34" charset="-122"/>
                <a:cs typeface="Arial Unicode MS" pitchFamily="34" charset="-122"/>
                <a:sym typeface="Symbol" pitchFamily="18" charset="2"/>
              </a:rPr>
              <a:t> </a:t>
            </a:r>
            <a:r>
              <a:rPr lang="en-US" altLang="zh-CN" sz="2000" dirty="0">
                <a:solidFill>
                  <a:srgbClr val="000000"/>
                </a:solidFill>
                <a:latin typeface="Arial Unicode MS" pitchFamily="34" charset="-122"/>
                <a:ea typeface="Arial Unicode MS" pitchFamily="34" charset="-122"/>
                <a:cs typeface="Arial Unicode MS" pitchFamily="34" charset="-122"/>
                <a:sym typeface="Wingdings" pitchFamily="2" charset="2"/>
              </a:rPr>
              <a:t> a differential element of a non-state function</a:t>
            </a:r>
            <a:endParaRPr lang="en-US" altLang="zh-CN" sz="2000" dirty="0">
              <a:solidFill>
                <a:srgbClr val="000000"/>
              </a:solidFill>
              <a:latin typeface="Arial Unicode MS" pitchFamily="34" charset="-122"/>
              <a:ea typeface="Arial Unicode MS" pitchFamily="34" charset="-122"/>
              <a:cs typeface="Arial Unicode MS" pitchFamily="34" charset="-122"/>
            </a:endParaRPr>
          </a:p>
        </p:txBody>
      </p:sp>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400" y="2563067"/>
            <a:ext cx="1867848" cy="1322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9"/>
          <p:cNvSpPr txBox="1">
            <a:spLocks noChangeArrowheads="1"/>
          </p:cNvSpPr>
          <p:nvPr/>
        </p:nvSpPr>
        <p:spPr bwMode="auto">
          <a:xfrm>
            <a:off x="609600" y="4339480"/>
            <a:ext cx="554671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2000" b="1" i="1" dirty="0">
                <a:solidFill>
                  <a:srgbClr val="000000"/>
                </a:solidFill>
                <a:latin typeface="Arial Unicode MS" pitchFamily="34" charset="-122"/>
                <a:ea typeface="Arial Unicode MS" pitchFamily="34" charset="-122"/>
                <a:cs typeface="Arial Unicode MS" pitchFamily="34" charset="-122"/>
              </a:rPr>
              <a:t>U</a:t>
            </a:r>
            <a:r>
              <a:rPr lang="en-US" altLang="zh-CN" sz="2000" b="1" dirty="0">
                <a:solidFill>
                  <a:srgbClr val="000000"/>
                </a:solidFill>
                <a:latin typeface="Arial Unicode MS" pitchFamily="34" charset="-122"/>
                <a:ea typeface="Arial Unicode MS" pitchFamily="34" charset="-122"/>
                <a:cs typeface="Arial Unicode MS" pitchFamily="34" charset="-122"/>
              </a:rPr>
              <a:t> is the state function, independent on process</a:t>
            </a:r>
          </a:p>
          <a:p>
            <a:pPr defTabSz="914400" eaLnBrk="1" hangingPunct="1"/>
            <a:r>
              <a:rPr lang="en-US" altLang="zh-CN" sz="2000" b="1" dirty="0">
                <a:solidFill>
                  <a:srgbClr val="000000"/>
                </a:solidFill>
                <a:latin typeface="Arial Unicode MS" pitchFamily="34" charset="-122"/>
                <a:ea typeface="Arial Unicode MS" pitchFamily="34" charset="-122"/>
                <a:cs typeface="Arial Unicode MS" pitchFamily="34" charset="-122"/>
              </a:rPr>
              <a:t>While, both </a:t>
            </a:r>
            <a:r>
              <a:rPr lang="en-US" altLang="zh-CN" sz="2000" b="1" i="1" dirty="0">
                <a:solidFill>
                  <a:srgbClr val="000000"/>
                </a:solidFill>
                <a:latin typeface="Arial Unicode MS" pitchFamily="34" charset="-122"/>
                <a:ea typeface="Arial Unicode MS" pitchFamily="34" charset="-122"/>
                <a:cs typeface="Arial Unicode MS" pitchFamily="34" charset="-122"/>
              </a:rPr>
              <a:t>q</a:t>
            </a:r>
            <a:r>
              <a:rPr lang="en-US" altLang="zh-CN" sz="2000" b="1" dirty="0">
                <a:solidFill>
                  <a:srgbClr val="000000"/>
                </a:solidFill>
                <a:latin typeface="Arial Unicode MS" pitchFamily="34" charset="-122"/>
                <a:ea typeface="Arial Unicode MS" pitchFamily="34" charset="-122"/>
                <a:cs typeface="Arial Unicode MS" pitchFamily="34" charset="-122"/>
              </a:rPr>
              <a:t> and </a:t>
            </a:r>
            <a:r>
              <a:rPr lang="en-US" altLang="zh-CN" sz="2000" b="1" i="1" dirty="0">
                <a:solidFill>
                  <a:srgbClr val="000000"/>
                </a:solidFill>
                <a:latin typeface="Arial Unicode MS" pitchFamily="34" charset="-122"/>
                <a:ea typeface="Arial Unicode MS" pitchFamily="34" charset="-122"/>
                <a:cs typeface="Arial Unicode MS" pitchFamily="34" charset="-122"/>
              </a:rPr>
              <a:t>w</a:t>
            </a:r>
            <a:r>
              <a:rPr lang="en-US" altLang="zh-CN" sz="2000" b="1" dirty="0">
                <a:solidFill>
                  <a:srgbClr val="000000"/>
                </a:solidFill>
                <a:latin typeface="Arial Unicode MS" pitchFamily="34" charset="-122"/>
                <a:ea typeface="Arial Unicode MS" pitchFamily="34" charset="-122"/>
                <a:cs typeface="Arial Unicode MS" pitchFamily="34" charset="-122"/>
              </a:rPr>
              <a:t> depend on process</a:t>
            </a:r>
          </a:p>
        </p:txBody>
      </p:sp>
      <p:sp>
        <p:nvSpPr>
          <p:cNvPr id="8" name="Text Box 10"/>
          <p:cNvSpPr txBox="1">
            <a:spLocks noChangeArrowheads="1"/>
          </p:cNvSpPr>
          <p:nvPr/>
        </p:nvSpPr>
        <p:spPr bwMode="auto">
          <a:xfrm>
            <a:off x="565150" y="5331448"/>
            <a:ext cx="44259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1800" dirty="0">
                <a:solidFill>
                  <a:srgbClr val="000000"/>
                </a:solidFill>
                <a:latin typeface="Arial Unicode MS" pitchFamily="34" charset="-122"/>
                <a:ea typeface="Arial Unicode MS" pitchFamily="34" charset="-122"/>
                <a:cs typeface="Arial Unicode MS" pitchFamily="34" charset="-122"/>
              </a:rPr>
              <a:t>So, for cyclic process (the system come back to the initial state after the process): </a:t>
            </a:r>
          </a:p>
        </p:txBody>
      </p:sp>
      <p:graphicFrame>
        <p:nvGraphicFramePr>
          <p:cNvPr id="9" name="Object 4"/>
          <p:cNvGraphicFramePr>
            <a:graphicFrameLocks noChangeAspect="1"/>
          </p:cNvGraphicFramePr>
          <p:nvPr>
            <p:extLst>
              <p:ext uri="{D42A27DB-BD31-4B8C-83A1-F6EECF244321}">
                <p14:modId xmlns:p14="http://schemas.microsoft.com/office/powerpoint/2010/main" val="207148347"/>
              </p:ext>
            </p:extLst>
          </p:nvPr>
        </p:nvGraphicFramePr>
        <p:xfrm>
          <a:off x="5218114" y="5457763"/>
          <a:ext cx="1096962" cy="393700"/>
        </p:xfrm>
        <a:graphic>
          <a:graphicData uri="http://schemas.openxmlformats.org/presentationml/2006/ole">
            <mc:AlternateContent xmlns:mc="http://schemas.openxmlformats.org/markup-compatibility/2006">
              <mc:Choice xmlns:v="urn:schemas-microsoft-com:vml" Requires="v">
                <p:oleObj name="Equation" r:id="rId5" imgW="494870" imgH="177646" progId="Equation.3">
                  <p:embed/>
                </p:oleObj>
              </mc:Choice>
              <mc:Fallback>
                <p:oleObj name="Equation" r:id="rId5" imgW="494870" imgH="17764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8114" y="5457763"/>
                        <a:ext cx="1096962"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5"/>
          <p:cNvGraphicFramePr>
            <a:graphicFrameLocks noChangeAspect="1"/>
          </p:cNvGraphicFramePr>
          <p:nvPr>
            <p:extLst>
              <p:ext uri="{D42A27DB-BD31-4B8C-83A1-F6EECF244321}">
                <p14:modId xmlns:p14="http://schemas.microsoft.com/office/powerpoint/2010/main" val="2694029471"/>
              </p:ext>
            </p:extLst>
          </p:nvPr>
        </p:nvGraphicFramePr>
        <p:xfrm>
          <a:off x="7272806" y="5503838"/>
          <a:ext cx="918049" cy="396799"/>
        </p:xfrm>
        <a:graphic>
          <a:graphicData uri="http://schemas.openxmlformats.org/presentationml/2006/ole">
            <mc:AlternateContent xmlns:mc="http://schemas.openxmlformats.org/markup-compatibility/2006">
              <mc:Choice xmlns:v="urn:schemas-microsoft-com:vml" Requires="v">
                <p:oleObj name="Equation" r:id="rId7" imgW="380835" imgH="165028" progId="Equation.3">
                  <p:embed/>
                </p:oleObj>
              </mc:Choice>
              <mc:Fallback>
                <p:oleObj name="Equation" r:id="rId7" imgW="380835" imgH="165028"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72806" y="5503838"/>
                        <a:ext cx="918049" cy="3967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13"/>
          <p:cNvSpPr txBox="1">
            <a:spLocks noChangeArrowheads="1"/>
          </p:cNvSpPr>
          <p:nvPr/>
        </p:nvSpPr>
        <p:spPr bwMode="auto">
          <a:xfrm>
            <a:off x="6494649" y="5469947"/>
            <a:ext cx="6527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1800" dirty="0">
                <a:solidFill>
                  <a:srgbClr val="000000"/>
                </a:solidFill>
                <a:latin typeface="Arial Unicode MS" pitchFamily="34" charset="-122"/>
                <a:ea typeface="Arial Unicode MS" pitchFamily="34" charset="-122"/>
                <a:cs typeface="Arial Unicode MS" pitchFamily="34" charset="-122"/>
              </a:rPr>
              <a:t>And</a:t>
            </a:r>
            <a:r>
              <a:rPr lang="en-US" altLang="zh-CN" sz="1600" dirty="0">
                <a:solidFill>
                  <a:srgbClr val="000000"/>
                </a:solidFill>
                <a:latin typeface="Arial Unicode MS" pitchFamily="34" charset="-122"/>
                <a:ea typeface="Arial Unicode MS" pitchFamily="34" charset="-122"/>
                <a:cs typeface="Arial Unicode MS" pitchFamily="34" charset="-122"/>
              </a:rPr>
              <a:t> </a:t>
            </a:r>
          </a:p>
        </p:txBody>
      </p:sp>
      <p:sp>
        <p:nvSpPr>
          <p:cNvPr id="12" name="矩形 11"/>
          <p:cNvSpPr/>
          <p:nvPr/>
        </p:nvSpPr>
        <p:spPr>
          <a:xfrm>
            <a:off x="167865" y="200527"/>
            <a:ext cx="4105611" cy="523220"/>
          </a:xfrm>
          <a:prstGeom prst="rect">
            <a:avLst/>
          </a:prstGeom>
        </p:spPr>
        <p:txBody>
          <a:bodyPr wrap="none">
            <a:spAutoFit/>
          </a:bodyPr>
          <a:lstStyle/>
          <a:p>
            <a:r>
              <a:rPr lang="en-US" altLang="zh-CN" sz="2800" b="1" dirty="0">
                <a:solidFill>
                  <a:srgbClr val="FF0000"/>
                </a:solidFill>
                <a:latin typeface="Arial Unicode MS" pitchFamily="34" charset="-122"/>
                <a:ea typeface="Arial Unicode MS" pitchFamily="34" charset="-122"/>
                <a:cs typeface="Arial Unicode MS" pitchFamily="34" charset="-122"/>
              </a:rPr>
              <a:t>Energy conservation law</a:t>
            </a:r>
            <a:endParaRPr lang="zh-CN" altLang="en-US" sz="2800" dirty="0"/>
          </a:p>
        </p:txBody>
      </p:sp>
    </p:spTree>
    <p:extLst>
      <p:ext uri="{BB962C8B-B14F-4D97-AF65-F5344CB8AC3E}">
        <p14:creationId xmlns:p14="http://schemas.microsoft.com/office/powerpoint/2010/main" val="3968338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6200" y="37434"/>
            <a:ext cx="6972300" cy="990600"/>
          </a:xfrm>
        </p:spPr>
        <p:txBody>
          <a:bodyPr>
            <a:normAutofit/>
          </a:bodyPr>
          <a:lstStyle/>
          <a:p>
            <a:pPr algn="l"/>
            <a:r>
              <a:rPr lang="en-US" sz="2800" b="1" dirty="0">
                <a:solidFill>
                  <a:srgbClr val="FF0000"/>
                </a:solidFill>
                <a:effectLst>
                  <a:outerShdw blurRad="38100" dist="38100" dir="2700000" algn="tl">
                    <a:srgbClr val="000000">
                      <a:alpha val="43137"/>
                    </a:srgbClr>
                  </a:outerShdw>
                </a:effectLst>
                <a:latin typeface="Arial Unicode MS" pitchFamily="34" charset="-122"/>
                <a:ea typeface="Arial Unicode MS" pitchFamily="34" charset="-122"/>
                <a:cs typeface="Arial Unicode MS" pitchFamily="34" charset="-122"/>
              </a:rPr>
              <a:t>Path dependent / Independent</a:t>
            </a:r>
            <a:endParaRPr lang="en-US" sz="2800" dirty="0">
              <a:solidFill>
                <a:srgbClr val="FF0000"/>
              </a:solidFill>
              <a:latin typeface="Arial Unicode MS" pitchFamily="34" charset="-122"/>
              <a:ea typeface="Arial Unicode MS" pitchFamily="34" charset="-122"/>
              <a:cs typeface="Arial Unicode MS" pitchFamily="34" charset="-122"/>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444" y="1753335"/>
            <a:ext cx="4073966" cy="394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649422445"/>
              </p:ext>
            </p:extLst>
          </p:nvPr>
        </p:nvGraphicFramePr>
        <p:xfrm>
          <a:off x="5486400" y="1828800"/>
          <a:ext cx="1733550" cy="1117600"/>
        </p:xfrm>
        <a:graphic>
          <a:graphicData uri="http://schemas.openxmlformats.org/presentationml/2006/ole">
            <mc:AlternateContent xmlns:mc="http://schemas.openxmlformats.org/markup-compatibility/2006">
              <mc:Choice xmlns:v="urn:schemas-microsoft-com:vml" Requires="v">
                <p:oleObj r:id="rId3" imgW="723586" imgH="469696" progId="Equation.3">
                  <p:embed/>
                </p:oleObj>
              </mc:Choice>
              <mc:Fallback>
                <p:oleObj r:id="rId3" imgW="723586" imgH="469696"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0" y="1828800"/>
                        <a:ext cx="1733550" cy="1117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71644793"/>
              </p:ext>
            </p:extLst>
          </p:nvPr>
        </p:nvGraphicFramePr>
        <p:xfrm>
          <a:off x="5492248" y="3365245"/>
          <a:ext cx="2257425" cy="870459"/>
        </p:xfrm>
        <a:graphic>
          <a:graphicData uri="http://schemas.openxmlformats.org/presentationml/2006/ole">
            <mc:AlternateContent xmlns:mc="http://schemas.openxmlformats.org/markup-compatibility/2006">
              <mc:Choice xmlns:v="urn:schemas-microsoft-com:vml" Requires="v">
                <p:oleObj name="Equation" r:id="rId5" imgW="1206500" imgH="469900" progId="Equation.3">
                  <p:embed/>
                </p:oleObj>
              </mc:Choice>
              <mc:Fallback>
                <p:oleObj name="Equation" r:id="rId5" imgW="1206500" imgH="4699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92248" y="3365245"/>
                        <a:ext cx="2257425" cy="870459"/>
                      </a:xfrm>
                      <a:prstGeom prst="rect">
                        <a:avLst/>
                      </a:prstGeom>
                      <a:noFill/>
                    </p:spPr>
                  </p:pic>
                </p:oleObj>
              </mc:Fallback>
            </mc:AlternateContent>
          </a:graphicData>
        </a:graphic>
      </p:graphicFrame>
      <p:graphicFrame>
        <p:nvGraphicFramePr>
          <p:cNvPr id="11" name="Object 113"/>
          <p:cNvGraphicFramePr>
            <a:graphicFrameLocks noChangeAspect="1"/>
          </p:cNvGraphicFramePr>
          <p:nvPr>
            <p:extLst>
              <p:ext uri="{D42A27DB-BD31-4B8C-83A1-F6EECF244321}">
                <p14:modId xmlns:p14="http://schemas.microsoft.com/office/powerpoint/2010/main" val="1688817721"/>
              </p:ext>
            </p:extLst>
          </p:nvPr>
        </p:nvGraphicFramePr>
        <p:xfrm>
          <a:off x="5257800" y="4706937"/>
          <a:ext cx="2686050" cy="779463"/>
        </p:xfrm>
        <a:graphic>
          <a:graphicData uri="http://schemas.openxmlformats.org/presentationml/2006/ole">
            <mc:AlternateContent xmlns:mc="http://schemas.openxmlformats.org/markup-compatibility/2006">
              <mc:Choice xmlns:v="urn:schemas-microsoft-com:vml" Requires="v">
                <p:oleObj name="公式" r:id="rId7" imgW="952087" imgH="279279" progId="Equation.3">
                  <p:embed/>
                </p:oleObj>
              </mc:Choice>
              <mc:Fallback>
                <p:oleObj name="公式" r:id="rId7" imgW="952087" imgH="27927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57800" y="4706937"/>
                        <a:ext cx="2686050" cy="779463"/>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5181600" y="1600200"/>
            <a:ext cx="2597121" cy="369332"/>
          </a:xfrm>
          <a:prstGeom prst="rect">
            <a:avLst/>
          </a:prstGeom>
          <a:noFill/>
        </p:spPr>
        <p:txBody>
          <a:bodyPr wrap="none" rtlCol="0">
            <a:spAutoFit/>
          </a:bodyPr>
          <a:lstStyle/>
          <a:p>
            <a:r>
              <a:rPr lang="en-US" altLang="zh-CN" dirty="0">
                <a:latin typeface="Arial Unicode MS" pitchFamily="34" charset="-122"/>
                <a:ea typeface="Arial Unicode MS" pitchFamily="34" charset="-122"/>
                <a:cs typeface="Arial Unicode MS" pitchFamily="34" charset="-122"/>
              </a:rPr>
              <a:t>Work: </a:t>
            </a:r>
            <a:r>
              <a:rPr lang="en-US" altLang="zh-CN" b="1" dirty="0">
                <a:solidFill>
                  <a:srgbClr val="FF0000"/>
                </a:solidFill>
                <a:effectLst>
                  <a:outerShdw blurRad="38100" dist="38100" dir="2700000" algn="tl">
                    <a:srgbClr val="000000">
                      <a:alpha val="43137"/>
                    </a:srgbClr>
                  </a:outerShdw>
                </a:effectLst>
                <a:latin typeface="Arial Unicode MS" pitchFamily="34" charset="-122"/>
                <a:ea typeface="Arial Unicode MS" pitchFamily="34" charset="-122"/>
                <a:cs typeface="Arial Unicode MS" pitchFamily="34" charset="-122"/>
              </a:rPr>
              <a:t>Path dependent </a:t>
            </a:r>
            <a:endParaRPr lang="zh-CN" altLang="en-US" dirty="0">
              <a:latin typeface="Arial Unicode MS" pitchFamily="34" charset="-122"/>
              <a:ea typeface="Arial Unicode MS" pitchFamily="34" charset="-122"/>
              <a:cs typeface="Arial Unicode MS" pitchFamily="34" charset="-122"/>
            </a:endParaRPr>
          </a:p>
        </p:txBody>
      </p:sp>
      <p:sp>
        <p:nvSpPr>
          <p:cNvPr id="16" name="TextBox 15"/>
          <p:cNvSpPr txBox="1"/>
          <p:nvPr/>
        </p:nvSpPr>
        <p:spPr>
          <a:xfrm>
            <a:off x="5105400" y="2971800"/>
            <a:ext cx="3729162" cy="369332"/>
          </a:xfrm>
          <a:prstGeom prst="rect">
            <a:avLst/>
          </a:prstGeom>
          <a:noFill/>
        </p:spPr>
        <p:txBody>
          <a:bodyPr wrap="none" rtlCol="0">
            <a:spAutoFit/>
          </a:bodyPr>
          <a:lstStyle/>
          <a:p>
            <a:r>
              <a:rPr lang="en-US" altLang="zh-CN" dirty="0">
                <a:latin typeface="Arial Unicode MS" pitchFamily="34" charset="-122"/>
                <a:ea typeface="Arial Unicode MS" pitchFamily="34" charset="-122"/>
                <a:cs typeface="Arial Unicode MS" pitchFamily="34" charset="-122"/>
              </a:rPr>
              <a:t>Internal energy: </a:t>
            </a:r>
            <a:r>
              <a:rPr lang="en-US" altLang="zh-CN" b="1" dirty="0">
                <a:solidFill>
                  <a:srgbClr val="FF0000"/>
                </a:solidFill>
                <a:effectLst>
                  <a:outerShdw blurRad="38100" dist="38100" dir="2700000" algn="tl">
                    <a:srgbClr val="000000">
                      <a:alpha val="43137"/>
                    </a:srgbClr>
                  </a:outerShdw>
                </a:effectLst>
                <a:latin typeface="Arial Unicode MS" pitchFamily="34" charset="-122"/>
                <a:ea typeface="Arial Unicode MS" pitchFamily="34" charset="-122"/>
                <a:cs typeface="Arial Unicode MS" pitchFamily="34" charset="-122"/>
              </a:rPr>
              <a:t>Path independent </a:t>
            </a:r>
            <a:endParaRPr lang="zh-CN" alt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1133057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9537" y="3961973"/>
            <a:ext cx="1733550" cy="1117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5"/>
          <p:cNvSpPr txBox="1"/>
          <p:nvPr/>
        </p:nvSpPr>
        <p:spPr>
          <a:xfrm>
            <a:off x="2995683" y="3184107"/>
            <a:ext cx="3221523" cy="40011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000" dirty="0"/>
              <a:t>PV-Work: </a:t>
            </a:r>
            <a:r>
              <a:rPr lang="en-US" altLang="zh-CN" sz="2000" b="1" dirty="0">
                <a:solidFill>
                  <a:srgbClr val="FF0000"/>
                </a:solidFill>
                <a:effectLst>
                  <a:outerShdw blurRad="38100" dist="38100" dir="2700000" algn="tl">
                    <a:srgbClr val="000000">
                      <a:alpha val="43137"/>
                    </a:srgbClr>
                  </a:outerShdw>
                </a:effectLst>
                <a:latin typeface="Arial" charset="0"/>
                <a:cs typeface="Arial" charset="0"/>
              </a:rPr>
              <a:t>Path dependent </a:t>
            </a:r>
            <a:endParaRPr lang="zh-CN" altLang="en-US" sz="2000" dirty="0"/>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518" y="1355307"/>
            <a:ext cx="1865313" cy="132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对象 5"/>
          <p:cNvGraphicFramePr>
            <a:graphicFrameLocks noChangeAspect="1"/>
          </p:cNvGraphicFramePr>
          <p:nvPr>
            <p:extLst>
              <p:ext uri="{D42A27DB-BD31-4B8C-83A1-F6EECF244321}">
                <p14:modId xmlns:p14="http://schemas.microsoft.com/office/powerpoint/2010/main" val="2965766271"/>
              </p:ext>
            </p:extLst>
          </p:nvPr>
        </p:nvGraphicFramePr>
        <p:xfrm>
          <a:off x="5815083" y="1782345"/>
          <a:ext cx="1730375" cy="468312"/>
        </p:xfrm>
        <a:graphic>
          <a:graphicData uri="http://schemas.openxmlformats.org/presentationml/2006/ole">
            <mc:AlternateContent xmlns:mc="http://schemas.openxmlformats.org/markup-compatibility/2006">
              <mc:Choice xmlns:v="urn:schemas-microsoft-com:vml" Requires="v">
                <p:oleObj name="公式" r:id="rId4" imgW="736560" imgH="203040" progId="Equation.3">
                  <p:embed/>
                </p:oleObj>
              </mc:Choice>
              <mc:Fallback>
                <p:oleObj name="公式" r:id="rId4" imgW="736560" imgH="2030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15083" y="1782345"/>
                        <a:ext cx="1730375" cy="468312"/>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6"/>
          <p:cNvSpPr txBox="1"/>
          <p:nvPr/>
        </p:nvSpPr>
        <p:spPr>
          <a:xfrm>
            <a:off x="152400" y="124980"/>
            <a:ext cx="4352474" cy="584775"/>
          </a:xfrm>
          <a:prstGeom prst="rect">
            <a:avLst/>
          </a:prstGeom>
          <a:noFill/>
        </p:spPr>
        <p:txBody>
          <a:bodyPr wrap="none" rtlCol="0">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Four classic processes</a:t>
            </a:r>
            <a:endParaRPr lang="zh-CN" altLang="en-US" sz="3200" dirty="0">
              <a:solidFill>
                <a:srgbClr val="FF0000"/>
              </a:solidFill>
              <a:latin typeface="Arial Unicode MS" pitchFamily="34" charset="-122"/>
              <a:ea typeface="Arial Unicode MS" pitchFamily="34" charset="-122"/>
              <a:cs typeface="Arial Unicode MS" pitchFamily="34" charset="-122"/>
            </a:endParaRPr>
          </a:p>
        </p:txBody>
      </p:sp>
      <p:sp>
        <p:nvSpPr>
          <p:cNvPr id="13" name="矩形 12"/>
          <p:cNvSpPr/>
          <p:nvPr/>
        </p:nvSpPr>
        <p:spPr>
          <a:xfrm>
            <a:off x="3681483" y="4057710"/>
            <a:ext cx="4730782" cy="1200329"/>
          </a:xfrm>
          <a:prstGeom prst="rect">
            <a:avLst/>
          </a:prstGeom>
        </p:spPr>
        <p:txBody>
          <a:bodyPr wrap="none">
            <a:spAutoFit/>
          </a:bodyPr>
          <a:lstStyle/>
          <a:p>
            <a:pPr marL="285750" indent="-285750">
              <a:buFont typeface="Wingdings" panose="05000000000000000000" pitchFamily="2" charset="2"/>
              <a:buChar char="ü"/>
            </a:pPr>
            <a:r>
              <a:rPr lang="en-US" altLang="zh-CN" dirty="0">
                <a:solidFill>
                  <a:srgbClr val="0000FF"/>
                </a:solidFill>
                <a:latin typeface="Arial" charset="0"/>
                <a:cs typeface="Arial" charset="0"/>
              </a:rPr>
              <a:t>Constant Volume Process, V= const.</a:t>
            </a:r>
          </a:p>
          <a:p>
            <a:pPr marL="285750" indent="-285750">
              <a:buFont typeface="Wingdings" panose="05000000000000000000" pitchFamily="2" charset="2"/>
              <a:buChar char="ü"/>
            </a:pPr>
            <a:r>
              <a:rPr lang="en-US" altLang="zh-CN" dirty="0">
                <a:solidFill>
                  <a:srgbClr val="0000FF"/>
                </a:solidFill>
                <a:latin typeface="Arial" charset="0"/>
                <a:cs typeface="Arial" charset="0"/>
              </a:rPr>
              <a:t>Constant Pressure Process, P=const.</a:t>
            </a:r>
            <a:endParaRPr lang="zh-CN" altLang="en-US" dirty="0">
              <a:solidFill>
                <a:srgbClr val="0000FF"/>
              </a:solidFill>
            </a:endParaRPr>
          </a:p>
          <a:p>
            <a:pPr marL="285750" indent="-285750">
              <a:buFont typeface="Wingdings" panose="05000000000000000000" pitchFamily="2" charset="2"/>
              <a:buChar char="ü"/>
            </a:pPr>
            <a:r>
              <a:rPr lang="en-US" altLang="zh-CN" dirty="0">
                <a:solidFill>
                  <a:srgbClr val="0000FF"/>
                </a:solidFill>
                <a:latin typeface="Arial" charset="0"/>
                <a:cs typeface="Arial" charset="0"/>
              </a:rPr>
              <a:t>Reversible Adiabatic Process, </a:t>
            </a:r>
            <a:r>
              <a:rPr lang="el-GR" altLang="zh-CN" dirty="0">
                <a:solidFill>
                  <a:srgbClr val="0000FF"/>
                </a:solidFill>
                <a:latin typeface="Times New Roman"/>
                <a:cs typeface="Times New Roman"/>
              </a:rPr>
              <a:t>δ</a:t>
            </a:r>
            <a:r>
              <a:rPr lang="en-US" altLang="zh-CN" dirty="0">
                <a:solidFill>
                  <a:srgbClr val="0000FF"/>
                </a:solidFill>
                <a:latin typeface="Arial" charset="0"/>
                <a:cs typeface="Arial" charset="0"/>
              </a:rPr>
              <a:t>q=const.</a:t>
            </a:r>
          </a:p>
          <a:p>
            <a:pPr marL="285750" indent="-285750">
              <a:buFont typeface="Wingdings" panose="05000000000000000000" pitchFamily="2" charset="2"/>
              <a:buChar char="ü"/>
            </a:pPr>
            <a:r>
              <a:rPr lang="en-US" altLang="zh-CN" dirty="0">
                <a:solidFill>
                  <a:srgbClr val="0000FF"/>
                </a:solidFill>
                <a:latin typeface="Arial" charset="0"/>
                <a:cs typeface="Arial" charset="0"/>
              </a:rPr>
              <a:t>Reversible Isothermal Process, </a:t>
            </a:r>
            <a:r>
              <a:rPr lang="el-GR" altLang="zh-CN" dirty="0">
                <a:solidFill>
                  <a:srgbClr val="0000FF"/>
                </a:solidFill>
                <a:latin typeface="Times New Roman"/>
                <a:cs typeface="Times New Roman"/>
              </a:rPr>
              <a:t>δ</a:t>
            </a:r>
            <a:r>
              <a:rPr lang="en-US" altLang="zh-CN" dirty="0">
                <a:solidFill>
                  <a:srgbClr val="0000FF"/>
                </a:solidFill>
                <a:latin typeface="Times New Roman"/>
                <a:cs typeface="Times New Roman"/>
              </a:rPr>
              <a:t>T</a:t>
            </a:r>
            <a:r>
              <a:rPr lang="en-US" altLang="zh-CN" dirty="0">
                <a:solidFill>
                  <a:srgbClr val="0000FF"/>
                </a:solidFill>
                <a:latin typeface="Arial" charset="0"/>
                <a:cs typeface="Arial" charset="0"/>
              </a:rPr>
              <a:t>=const.</a:t>
            </a:r>
            <a:endParaRPr lang="zh-CN" altLang="en-US" dirty="0">
              <a:solidFill>
                <a:srgbClr val="0000FF"/>
              </a:solidFill>
            </a:endParaRPr>
          </a:p>
        </p:txBody>
      </p:sp>
    </p:spTree>
    <p:extLst>
      <p:ext uri="{BB962C8B-B14F-4D97-AF65-F5344CB8AC3E}">
        <p14:creationId xmlns:p14="http://schemas.microsoft.com/office/powerpoint/2010/main" val="1139108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40495" y="99217"/>
            <a:ext cx="6457950" cy="779462"/>
          </a:xfrm>
        </p:spPr>
        <p:txBody>
          <a:bodyPr>
            <a:normAutofit/>
          </a:bodyPr>
          <a:lstStyle/>
          <a:p>
            <a:pPr algn="l"/>
            <a:r>
              <a:rPr lang="en-US" sz="3200" dirty="0">
                <a:solidFill>
                  <a:srgbClr val="FF0000"/>
                </a:solidFill>
                <a:latin typeface="Arial Unicode MS" pitchFamily="34" charset="-122"/>
                <a:ea typeface="Arial Unicode MS" pitchFamily="34" charset="-122"/>
                <a:cs typeface="Arial Unicode MS" pitchFamily="34" charset="-122"/>
              </a:rPr>
              <a:t>Constant Volume Process</a:t>
            </a: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24" name="Group 1146"/>
          <p:cNvGrpSpPr>
            <a:grpSpLocks/>
          </p:cNvGrpSpPr>
          <p:nvPr/>
        </p:nvGrpSpPr>
        <p:grpSpPr bwMode="auto">
          <a:xfrm>
            <a:off x="527050" y="1806574"/>
            <a:ext cx="4305300" cy="2286000"/>
            <a:chOff x="384" y="1152"/>
            <a:chExt cx="2712" cy="1440"/>
          </a:xfrm>
        </p:grpSpPr>
        <p:sp>
          <p:nvSpPr>
            <p:cNvPr id="25" name="Line 1129"/>
            <p:cNvSpPr>
              <a:spLocks noChangeShapeType="1"/>
            </p:cNvSpPr>
            <p:nvPr/>
          </p:nvSpPr>
          <p:spPr bwMode="auto">
            <a:xfrm flipV="1">
              <a:off x="840" y="1234"/>
              <a:ext cx="0" cy="1080"/>
            </a:xfrm>
            <a:prstGeom prst="line">
              <a:avLst/>
            </a:prstGeom>
            <a:noFill/>
            <a:ln w="38100">
              <a:solidFill>
                <a:srgbClr val="00B050"/>
              </a:solidFill>
              <a:round/>
              <a:headEnd/>
              <a:tailEnd type="triangle" w="med" len="me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grpSp>
          <p:nvGrpSpPr>
            <p:cNvPr id="26" name="Group 1145"/>
            <p:cNvGrpSpPr>
              <a:grpSpLocks/>
            </p:cNvGrpSpPr>
            <p:nvPr/>
          </p:nvGrpSpPr>
          <p:grpSpPr bwMode="auto">
            <a:xfrm>
              <a:off x="384" y="1152"/>
              <a:ext cx="2712" cy="1440"/>
              <a:chOff x="384" y="1152"/>
              <a:chExt cx="2712" cy="1440"/>
            </a:xfrm>
          </p:grpSpPr>
          <p:sp>
            <p:nvSpPr>
              <p:cNvPr id="27" name="Line 1128"/>
              <p:cNvSpPr>
                <a:spLocks noChangeShapeType="1"/>
              </p:cNvSpPr>
              <p:nvPr/>
            </p:nvSpPr>
            <p:spPr bwMode="auto">
              <a:xfrm>
                <a:off x="840" y="2314"/>
                <a:ext cx="1872" cy="0"/>
              </a:xfrm>
              <a:prstGeom prst="line">
                <a:avLst/>
              </a:prstGeom>
              <a:noFill/>
              <a:ln w="38100">
                <a:solidFill>
                  <a:srgbClr val="00B050"/>
                </a:solidFill>
                <a:round/>
                <a:headEnd/>
                <a:tailEnd type="triangle" w="med" len="me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28" name="Text Box 1130"/>
              <p:cNvSpPr txBox="1">
                <a:spLocks noChangeArrowheads="1"/>
              </p:cNvSpPr>
              <p:nvPr/>
            </p:nvSpPr>
            <p:spPr bwMode="auto">
              <a:xfrm>
                <a:off x="2304" y="2064"/>
                <a:ext cx="792"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dirty="0">
                    <a:solidFill>
                      <a:srgbClr val="000000"/>
                    </a:solidFill>
                    <a:latin typeface="Arial Unicode MS" pitchFamily="34" charset="-122"/>
                    <a:ea typeface="Arial Unicode MS" pitchFamily="34" charset="-122"/>
                    <a:cs typeface="Arial Unicode MS" pitchFamily="34" charset="-122"/>
                  </a:rPr>
                  <a:t>Volume</a:t>
                </a:r>
              </a:p>
            </p:txBody>
          </p:sp>
          <p:sp>
            <p:nvSpPr>
              <p:cNvPr id="29" name="Text Box 1131"/>
              <p:cNvSpPr txBox="1">
                <a:spLocks noChangeArrowheads="1"/>
              </p:cNvSpPr>
              <p:nvPr/>
            </p:nvSpPr>
            <p:spPr bwMode="auto">
              <a:xfrm rot="5400000">
                <a:off x="118" y="1644"/>
                <a:ext cx="724"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dirty="0">
                    <a:solidFill>
                      <a:srgbClr val="000000"/>
                    </a:solidFill>
                    <a:latin typeface="Arial Unicode MS" pitchFamily="34" charset="-122"/>
                    <a:ea typeface="Arial Unicode MS" pitchFamily="34" charset="-122"/>
                    <a:cs typeface="Arial Unicode MS" pitchFamily="34" charset="-122"/>
                  </a:rPr>
                  <a:t>Pressure</a:t>
                </a:r>
              </a:p>
            </p:txBody>
          </p:sp>
          <p:sp>
            <p:nvSpPr>
              <p:cNvPr id="30" name="Line 1132"/>
              <p:cNvSpPr>
                <a:spLocks noChangeShapeType="1"/>
              </p:cNvSpPr>
              <p:nvPr/>
            </p:nvSpPr>
            <p:spPr bwMode="auto">
              <a:xfrm>
                <a:off x="840" y="1306"/>
                <a:ext cx="432" cy="0"/>
              </a:xfrm>
              <a:prstGeom prst="line">
                <a:avLst/>
              </a:prstGeom>
              <a:noFill/>
              <a:ln w="12700">
                <a:solidFill>
                  <a:srgbClr val="0000FF"/>
                </a:solidFill>
                <a:prstDash val="dash"/>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31" name="Line 1133"/>
              <p:cNvSpPr>
                <a:spLocks noChangeShapeType="1"/>
              </p:cNvSpPr>
              <p:nvPr/>
            </p:nvSpPr>
            <p:spPr bwMode="auto">
              <a:xfrm flipH="1" flipV="1">
                <a:off x="846" y="1810"/>
                <a:ext cx="408" cy="0"/>
              </a:xfrm>
              <a:prstGeom prst="line">
                <a:avLst/>
              </a:prstGeom>
              <a:noFill/>
              <a:ln w="12700">
                <a:solidFill>
                  <a:srgbClr val="0000FF"/>
                </a:solidFill>
                <a:prstDash val="dash"/>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32" name="Line 1134"/>
              <p:cNvSpPr>
                <a:spLocks noChangeShapeType="1"/>
              </p:cNvSpPr>
              <p:nvPr/>
            </p:nvSpPr>
            <p:spPr bwMode="auto">
              <a:xfrm>
                <a:off x="1272" y="1306"/>
                <a:ext cx="0" cy="1008"/>
              </a:xfrm>
              <a:prstGeom prst="line">
                <a:avLst/>
              </a:prstGeom>
              <a:noFill/>
              <a:ln w="12700">
                <a:solidFill>
                  <a:srgbClr val="0000FF"/>
                </a:solidFill>
                <a:prstDash val="sysDot"/>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33" name="Text Box 1136"/>
              <p:cNvSpPr txBox="1">
                <a:spLocks noChangeArrowheads="1"/>
              </p:cNvSpPr>
              <p:nvPr/>
            </p:nvSpPr>
            <p:spPr bwMode="auto">
              <a:xfrm>
                <a:off x="1056" y="2352"/>
                <a:ext cx="485" cy="24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a:solidFill>
                      <a:srgbClr val="000000"/>
                    </a:solidFill>
                    <a:latin typeface="Arial Unicode MS" pitchFamily="34" charset="-122"/>
                    <a:ea typeface="Arial Unicode MS" pitchFamily="34" charset="-122"/>
                    <a:cs typeface="Arial Unicode MS" pitchFamily="34" charset="-122"/>
                  </a:rPr>
                  <a:t>V</a:t>
                </a:r>
                <a:r>
                  <a:rPr lang="en-US" altLang="zh-CN" sz="2000" baseline="-25000">
                    <a:solidFill>
                      <a:srgbClr val="000000"/>
                    </a:solidFill>
                    <a:latin typeface="Arial Unicode MS" pitchFamily="34" charset="-122"/>
                    <a:ea typeface="Arial Unicode MS" pitchFamily="34" charset="-122"/>
                    <a:cs typeface="Arial Unicode MS" pitchFamily="34" charset="-122"/>
                  </a:rPr>
                  <a:t>1</a:t>
                </a:r>
                <a:r>
                  <a:rPr lang="en-US" altLang="zh-CN" sz="2000">
                    <a:solidFill>
                      <a:srgbClr val="000000"/>
                    </a:solidFill>
                    <a:latin typeface="Arial Unicode MS" pitchFamily="34" charset="-122"/>
                    <a:ea typeface="Arial Unicode MS" pitchFamily="34" charset="-122"/>
                    <a:cs typeface="Arial Unicode MS" pitchFamily="34" charset="-122"/>
                  </a:rPr>
                  <a:t>=V</a:t>
                </a:r>
                <a:r>
                  <a:rPr lang="en-US" altLang="zh-CN" sz="2000" baseline="-25000">
                    <a:solidFill>
                      <a:srgbClr val="000000"/>
                    </a:solidFill>
                    <a:latin typeface="Arial Unicode MS" pitchFamily="34" charset="-122"/>
                    <a:ea typeface="Arial Unicode MS" pitchFamily="34" charset="-122"/>
                    <a:cs typeface="Arial Unicode MS" pitchFamily="34" charset="-122"/>
                  </a:rPr>
                  <a:t>2</a:t>
                </a:r>
                <a:endParaRPr lang="en-US" altLang="zh-CN" sz="2000">
                  <a:solidFill>
                    <a:srgbClr val="000000"/>
                  </a:solidFill>
                  <a:latin typeface="Arial Unicode MS" pitchFamily="34" charset="-122"/>
                  <a:ea typeface="Arial Unicode MS" pitchFamily="34" charset="-122"/>
                  <a:cs typeface="Arial Unicode MS" pitchFamily="34" charset="-122"/>
                </a:endParaRPr>
              </a:p>
            </p:txBody>
          </p:sp>
          <p:sp>
            <p:nvSpPr>
              <p:cNvPr id="34" name="Text Box 1138"/>
              <p:cNvSpPr txBox="1">
                <a:spLocks noChangeArrowheads="1"/>
              </p:cNvSpPr>
              <p:nvPr/>
            </p:nvSpPr>
            <p:spPr bwMode="auto">
              <a:xfrm>
                <a:off x="624" y="1234"/>
                <a:ext cx="144" cy="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a:solidFill>
                      <a:srgbClr val="000000"/>
                    </a:solidFill>
                    <a:latin typeface="Arial Unicode MS" pitchFamily="34" charset="-122"/>
                    <a:ea typeface="Arial Unicode MS" pitchFamily="34" charset="-122"/>
                    <a:cs typeface="Arial Unicode MS" pitchFamily="34" charset="-122"/>
                  </a:rPr>
                  <a:t>P</a:t>
                </a:r>
                <a:r>
                  <a:rPr lang="en-US" altLang="zh-CN" sz="2000" baseline="-25000">
                    <a:solidFill>
                      <a:srgbClr val="000000"/>
                    </a:solidFill>
                    <a:latin typeface="Arial Unicode MS" pitchFamily="34" charset="-122"/>
                    <a:ea typeface="Arial Unicode MS" pitchFamily="34" charset="-122"/>
                    <a:cs typeface="Arial Unicode MS" pitchFamily="34" charset="-122"/>
                  </a:rPr>
                  <a:t>1</a:t>
                </a:r>
                <a:endParaRPr lang="en-US" altLang="zh-CN" sz="2000">
                  <a:solidFill>
                    <a:srgbClr val="000000"/>
                  </a:solidFill>
                  <a:latin typeface="Arial Unicode MS" pitchFamily="34" charset="-122"/>
                  <a:ea typeface="Arial Unicode MS" pitchFamily="34" charset="-122"/>
                  <a:cs typeface="Arial Unicode MS" pitchFamily="34" charset="-122"/>
                </a:endParaRPr>
              </a:p>
            </p:txBody>
          </p:sp>
          <p:sp>
            <p:nvSpPr>
              <p:cNvPr id="35" name="Text Box 1139"/>
              <p:cNvSpPr txBox="1">
                <a:spLocks noChangeArrowheads="1"/>
              </p:cNvSpPr>
              <p:nvPr/>
            </p:nvSpPr>
            <p:spPr bwMode="auto">
              <a:xfrm>
                <a:off x="624" y="1738"/>
                <a:ext cx="144" cy="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a:solidFill>
                      <a:srgbClr val="000000"/>
                    </a:solidFill>
                    <a:latin typeface="Arial Unicode MS" pitchFamily="34" charset="-122"/>
                    <a:ea typeface="Arial Unicode MS" pitchFamily="34" charset="-122"/>
                    <a:cs typeface="Arial Unicode MS" pitchFamily="34" charset="-122"/>
                  </a:rPr>
                  <a:t>P</a:t>
                </a:r>
                <a:r>
                  <a:rPr lang="en-US" altLang="zh-CN" sz="2000" baseline="-25000">
                    <a:solidFill>
                      <a:srgbClr val="000000"/>
                    </a:solidFill>
                    <a:latin typeface="Arial Unicode MS" pitchFamily="34" charset="-122"/>
                    <a:ea typeface="Arial Unicode MS" pitchFamily="34" charset="-122"/>
                    <a:cs typeface="Arial Unicode MS" pitchFamily="34" charset="-122"/>
                  </a:rPr>
                  <a:t>2</a:t>
                </a:r>
                <a:endParaRPr lang="en-US" altLang="zh-CN" sz="2000">
                  <a:solidFill>
                    <a:srgbClr val="000000"/>
                  </a:solidFill>
                  <a:latin typeface="Arial Unicode MS" pitchFamily="34" charset="-122"/>
                  <a:ea typeface="Arial Unicode MS" pitchFamily="34" charset="-122"/>
                  <a:cs typeface="Arial Unicode MS" pitchFamily="34" charset="-122"/>
                </a:endParaRPr>
              </a:p>
            </p:txBody>
          </p:sp>
          <p:sp>
            <p:nvSpPr>
              <p:cNvPr id="36" name="Text Box 1140"/>
              <p:cNvSpPr txBox="1">
                <a:spLocks noChangeArrowheads="1"/>
              </p:cNvSpPr>
              <p:nvPr/>
            </p:nvSpPr>
            <p:spPr bwMode="auto">
              <a:xfrm>
                <a:off x="1344" y="1152"/>
                <a:ext cx="2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a:solidFill>
                      <a:srgbClr val="336600"/>
                    </a:solidFill>
                    <a:latin typeface="Arial Unicode MS" pitchFamily="34" charset="-122"/>
                    <a:ea typeface="Arial Unicode MS" pitchFamily="34" charset="-122"/>
                    <a:cs typeface="Arial Unicode MS" pitchFamily="34" charset="-122"/>
                  </a:rPr>
                  <a:t>1</a:t>
                </a:r>
              </a:p>
            </p:txBody>
          </p:sp>
          <p:sp>
            <p:nvSpPr>
              <p:cNvPr id="37" name="Text Box 1141"/>
              <p:cNvSpPr txBox="1">
                <a:spLocks noChangeArrowheads="1"/>
              </p:cNvSpPr>
              <p:nvPr/>
            </p:nvSpPr>
            <p:spPr bwMode="auto">
              <a:xfrm>
                <a:off x="1344" y="1680"/>
                <a:ext cx="2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a:solidFill>
                      <a:srgbClr val="336600"/>
                    </a:solidFill>
                    <a:latin typeface="Arial Unicode MS" pitchFamily="34" charset="-122"/>
                    <a:ea typeface="Arial Unicode MS" pitchFamily="34" charset="-122"/>
                    <a:cs typeface="Arial Unicode MS" pitchFamily="34" charset="-122"/>
                  </a:rPr>
                  <a:t>2</a:t>
                </a:r>
              </a:p>
            </p:txBody>
          </p:sp>
        </p:grpSp>
      </p:grpSp>
      <p:sp>
        <p:nvSpPr>
          <p:cNvPr id="41" name="Text Box 1072"/>
          <p:cNvSpPr txBox="1">
            <a:spLocks noChangeArrowheads="1"/>
          </p:cNvSpPr>
          <p:nvPr/>
        </p:nvSpPr>
        <p:spPr bwMode="auto">
          <a:xfrm>
            <a:off x="609600" y="4876800"/>
            <a:ext cx="78486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dirty="0">
                <a:solidFill>
                  <a:srgbClr val="0000CC"/>
                </a:solidFill>
                <a:latin typeface="Arial Unicode MS" pitchFamily="34" charset="-122"/>
                <a:ea typeface="Arial Unicode MS" pitchFamily="34" charset="-122"/>
                <a:cs typeface="Arial Unicode MS" pitchFamily="34" charset="-122"/>
              </a:rPr>
              <a:t>The change in internal energy of a system is equal to the heat absorbed</a:t>
            </a:r>
            <a:r>
              <a:rPr lang="en-US" altLang="zh-CN" sz="2000" dirty="0">
                <a:solidFill>
                  <a:srgbClr val="FF0000"/>
                </a:solidFill>
                <a:latin typeface="Arial Unicode MS" pitchFamily="34" charset="-122"/>
                <a:ea typeface="Arial Unicode MS" pitchFamily="34" charset="-122"/>
                <a:cs typeface="Arial Unicode MS" pitchFamily="34" charset="-122"/>
              </a:rPr>
              <a:t> </a:t>
            </a:r>
            <a:r>
              <a:rPr lang="en-US" altLang="zh-CN" sz="2000" dirty="0">
                <a:solidFill>
                  <a:srgbClr val="000000"/>
                </a:solidFill>
                <a:latin typeface="Arial Unicode MS" pitchFamily="34" charset="-122"/>
                <a:ea typeface="Arial Unicode MS" pitchFamily="34" charset="-122"/>
                <a:cs typeface="Arial Unicode MS" pitchFamily="34" charset="-122"/>
              </a:rPr>
              <a:t>(if </a:t>
            </a:r>
            <a:r>
              <a:rPr lang="en-US" altLang="zh-CN" sz="2000" dirty="0" err="1">
                <a:solidFill>
                  <a:srgbClr val="000000"/>
                </a:solidFill>
                <a:latin typeface="Arial Unicode MS" pitchFamily="34" charset="-122"/>
                <a:ea typeface="Arial Unicode MS" pitchFamily="34" charset="-122"/>
                <a:cs typeface="Arial Unicode MS" pitchFamily="34" charset="-122"/>
              </a:rPr>
              <a:t>dU</a:t>
            </a:r>
            <a:r>
              <a:rPr lang="en-US" altLang="zh-CN" sz="2000" dirty="0">
                <a:solidFill>
                  <a:srgbClr val="000000"/>
                </a:solidFill>
                <a:latin typeface="Arial Unicode MS" pitchFamily="34" charset="-122"/>
                <a:ea typeface="Arial Unicode MS" pitchFamily="34" charset="-122"/>
                <a:cs typeface="Arial Unicode MS" pitchFamily="34" charset="-122"/>
              </a:rPr>
              <a:t>&gt;0, the system absorbs heat, while if </a:t>
            </a:r>
            <a:r>
              <a:rPr lang="en-US" altLang="zh-CN" sz="2000" dirty="0" err="1">
                <a:solidFill>
                  <a:srgbClr val="000000"/>
                </a:solidFill>
                <a:latin typeface="Arial Unicode MS" pitchFamily="34" charset="-122"/>
                <a:ea typeface="Arial Unicode MS" pitchFamily="34" charset="-122"/>
                <a:cs typeface="Arial Unicode MS" pitchFamily="34" charset="-122"/>
              </a:rPr>
              <a:t>dU</a:t>
            </a:r>
            <a:r>
              <a:rPr lang="en-US" altLang="zh-CN" sz="2000" dirty="0">
                <a:solidFill>
                  <a:srgbClr val="000000"/>
                </a:solidFill>
                <a:latin typeface="Arial Unicode MS" pitchFamily="34" charset="-122"/>
                <a:ea typeface="Arial Unicode MS" pitchFamily="34" charset="-122"/>
                <a:cs typeface="Arial Unicode MS" pitchFamily="34" charset="-122"/>
              </a:rPr>
              <a:t>&lt;0, the system actually release heat)</a:t>
            </a:r>
            <a:r>
              <a:rPr lang="en-US" altLang="zh-CN" sz="2000" dirty="0">
                <a:solidFill>
                  <a:srgbClr val="0000CC"/>
                </a:solidFill>
                <a:latin typeface="Arial Unicode MS" pitchFamily="34" charset="-122"/>
                <a:ea typeface="Arial Unicode MS" pitchFamily="34" charset="-122"/>
                <a:cs typeface="Arial Unicode MS" pitchFamily="34" charset="-122"/>
              </a:rPr>
              <a:t> by the system</a:t>
            </a:r>
            <a:r>
              <a:rPr lang="en-US" altLang="zh-CN" sz="2000" dirty="0">
                <a:solidFill>
                  <a:srgbClr val="FF0000"/>
                </a:solidFill>
                <a:latin typeface="Arial Unicode MS" pitchFamily="34" charset="-122"/>
                <a:ea typeface="Arial Unicode MS" pitchFamily="34" charset="-122"/>
                <a:cs typeface="Arial Unicode MS" pitchFamily="34" charset="-122"/>
              </a:rPr>
              <a:t> </a:t>
            </a:r>
          </a:p>
        </p:txBody>
      </p:sp>
      <p:graphicFrame>
        <p:nvGraphicFramePr>
          <p:cNvPr id="9" name="对象 8">
            <a:extLst>
              <a:ext uri="{FF2B5EF4-FFF2-40B4-BE49-F238E27FC236}">
                <a16:creationId xmlns:a16="http://schemas.microsoft.com/office/drawing/2014/main" id="{5BB0937D-9F04-F0D6-BC6D-73DBD7975DFA}"/>
              </a:ext>
            </a:extLst>
          </p:cNvPr>
          <p:cNvGraphicFramePr>
            <a:graphicFrameLocks noChangeAspect="1"/>
          </p:cNvGraphicFramePr>
          <p:nvPr>
            <p:extLst>
              <p:ext uri="{D42A27DB-BD31-4B8C-83A1-F6EECF244321}">
                <p14:modId xmlns:p14="http://schemas.microsoft.com/office/powerpoint/2010/main" val="3387416068"/>
              </p:ext>
            </p:extLst>
          </p:nvPr>
        </p:nvGraphicFramePr>
        <p:xfrm>
          <a:off x="5524499" y="3000126"/>
          <a:ext cx="1892300" cy="663575"/>
        </p:xfrm>
        <a:graphic>
          <a:graphicData uri="http://schemas.openxmlformats.org/presentationml/2006/ole">
            <mc:AlternateContent xmlns:mc="http://schemas.openxmlformats.org/markup-compatibility/2006">
              <mc:Choice xmlns:v="urn:schemas-microsoft-com:vml" Requires="v">
                <p:oleObj name="Equation" r:id="rId3" imgW="1231560" imgH="431640" progId="Equation.DSMT4">
                  <p:embed/>
                </p:oleObj>
              </mc:Choice>
              <mc:Fallback>
                <p:oleObj name="Equation" r:id="rId3" imgW="1231560" imgH="431640" progId="Equation.DSMT4">
                  <p:embed/>
                  <p:pic>
                    <p:nvPicPr>
                      <p:cNvPr id="10" name="对象 9"/>
                      <p:cNvPicPr>
                        <a:picLocks noChangeAspect="1" noChangeArrowheads="1"/>
                      </p:cNvPicPr>
                      <p:nvPr/>
                    </p:nvPicPr>
                    <p:blipFill>
                      <a:blip r:embed="rId4"/>
                      <a:srcRect/>
                      <a:stretch>
                        <a:fillRect/>
                      </a:stretch>
                    </p:blipFill>
                    <p:spPr bwMode="auto">
                      <a:xfrm>
                        <a:off x="5524499" y="3000126"/>
                        <a:ext cx="1892300" cy="663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a:extLst>
              <a:ext uri="{FF2B5EF4-FFF2-40B4-BE49-F238E27FC236}">
                <a16:creationId xmlns:a16="http://schemas.microsoft.com/office/drawing/2014/main" id="{4195E612-8B25-3E24-EF88-E06882457F7C}"/>
              </a:ext>
            </a:extLst>
          </p:cNvPr>
          <p:cNvGraphicFramePr>
            <a:graphicFrameLocks noChangeAspect="1"/>
          </p:cNvGraphicFramePr>
          <p:nvPr>
            <p:extLst>
              <p:ext uri="{D42A27DB-BD31-4B8C-83A1-F6EECF244321}">
                <p14:modId xmlns:p14="http://schemas.microsoft.com/office/powerpoint/2010/main" val="703411148"/>
              </p:ext>
            </p:extLst>
          </p:nvPr>
        </p:nvGraphicFramePr>
        <p:xfrm>
          <a:off x="5500250" y="2079072"/>
          <a:ext cx="1579562" cy="508000"/>
        </p:xfrm>
        <a:graphic>
          <a:graphicData uri="http://schemas.openxmlformats.org/presentationml/2006/ole">
            <mc:AlternateContent xmlns:mc="http://schemas.openxmlformats.org/markup-compatibility/2006">
              <mc:Choice xmlns:v="urn:schemas-microsoft-com:vml" Requires="v">
                <p:oleObj name="Equation" r:id="rId5" imgW="1028520" imgH="330120" progId="Equation.DSMT4">
                  <p:embed/>
                </p:oleObj>
              </mc:Choice>
              <mc:Fallback>
                <p:oleObj name="Equation" r:id="rId5" imgW="1028520" imgH="330120" progId="Equation.DSMT4">
                  <p:embed/>
                  <p:pic>
                    <p:nvPicPr>
                      <p:cNvPr id="9" name="对象 8">
                        <a:extLst>
                          <a:ext uri="{FF2B5EF4-FFF2-40B4-BE49-F238E27FC236}">
                            <a16:creationId xmlns:a16="http://schemas.microsoft.com/office/drawing/2014/main" id="{5BB0937D-9F04-F0D6-BC6D-73DBD7975DFA}"/>
                          </a:ext>
                        </a:extLst>
                      </p:cNvPr>
                      <p:cNvPicPr>
                        <a:picLocks noChangeAspect="1" noChangeArrowheads="1"/>
                      </p:cNvPicPr>
                      <p:nvPr/>
                    </p:nvPicPr>
                    <p:blipFill>
                      <a:blip r:embed="rId6"/>
                      <a:srcRect/>
                      <a:stretch>
                        <a:fillRect/>
                      </a:stretch>
                    </p:blipFill>
                    <p:spPr bwMode="auto">
                      <a:xfrm>
                        <a:off x="5500250" y="2079072"/>
                        <a:ext cx="1579562"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765842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1468" y="96420"/>
            <a:ext cx="6511925" cy="782638"/>
          </a:xfrm>
        </p:spPr>
        <p:txBody>
          <a:bodyPr>
            <a:normAutofit/>
          </a:bodyPr>
          <a:lstStyle/>
          <a:p>
            <a:pPr algn="l"/>
            <a:r>
              <a:rPr lang="en-US" sz="3200" dirty="0">
                <a:solidFill>
                  <a:srgbClr val="FF0000"/>
                </a:solidFill>
                <a:latin typeface="Arial" charset="0"/>
                <a:cs typeface="Arial" charset="0"/>
              </a:rPr>
              <a:t>Constant Pressure Process</a:t>
            </a:r>
            <a:endParaRPr lang="en-US" sz="32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9" name="Group 1094"/>
          <p:cNvGrpSpPr>
            <a:grpSpLocks/>
          </p:cNvGrpSpPr>
          <p:nvPr/>
        </p:nvGrpSpPr>
        <p:grpSpPr bwMode="auto">
          <a:xfrm>
            <a:off x="466725" y="1847849"/>
            <a:ext cx="4076700" cy="2003425"/>
            <a:chOff x="1944" y="960"/>
            <a:chExt cx="2568" cy="1262"/>
          </a:xfrm>
        </p:grpSpPr>
        <p:sp>
          <p:nvSpPr>
            <p:cNvPr id="10" name="Line 1095"/>
            <p:cNvSpPr>
              <a:spLocks noChangeShapeType="1"/>
            </p:cNvSpPr>
            <p:nvPr/>
          </p:nvSpPr>
          <p:spPr bwMode="auto">
            <a:xfrm flipV="1">
              <a:off x="2832" y="1444"/>
              <a:ext cx="792" cy="0"/>
            </a:xfrm>
            <a:prstGeom prst="line">
              <a:avLst/>
            </a:prstGeom>
            <a:noFill/>
            <a:ln w="25400">
              <a:solidFill>
                <a:srgbClr val="33CCCC"/>
              </a:solidFill>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12" name="Line 1096"/>
            <p:cNvSpPr>
              <a:spLocks noChangeShapeType="1"/>
            </p:cNvSpPr>
            <p:nvPr/>
          </p:nvSpPr>
          <p:spPr bwMode="auto">
            <a:xfrm>
              <a:off x="2400" y="2040"/>
              <a:ext cx="1872"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13" name="Line 1097"/>
            <p:cNvSpPr>
              <a:spLocks noChangeShapeType="1"/>
            </p:cNvSpPr>
            <p:nvPr/>
          </p:nvSpPr>
          <p:spPr bwMode="auto">
            <a:xfrm flipV="1">
              <a:off x="2400" y="960"/>
              <a:ext cx="0" cy="10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14" name="Text Box 1098"/>
            <p:cNvSpPr txBox="1">
              <a:spLocks noChangeArrowheads="1"/>
            </p:cNvSpPr>
            <p:nvPr/>
          </p:nvSpPr>
          <p:spPr bwMode="auto">
            <a:xfrm>
              <a:off x="3864" y="1790"/>
              <a:ext cx="648"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a:solidFill>
                    <a:srgbClr val="000000"/>
                  </a:solidFill>
                  <a:latin typeface="Arial Unicode MS" pitchFamily="34" charset="-122"/>
                  <a:ea typeface="Arial Unicode MS" pitchFamily="34" charset="-122"/>
                  <a:cs typeface="Arial Unicode MS" pitchFamily="34" charset="-122"/>
                </a:rPr>
                <a:t>Volume</a:t>
              </a:r>
            </a:p>
          </p:txBody>
        </p:sp>
        <p:sp>
          <p:nvSpPr>
            <p:cNvPr id="15" name="Text Box 1099"/>
            <p:cNvSpPr txBox="1">
              <a:spLocks noChangeArrowheads="1"/>
            </p:cNvSpPr>
            <p:nvPr/>
          </p:nvSpPr>
          <p:spPr bwMode="auto">
            <a:xfrm rot="5400000">
              <a:off x="1704" y="1454"/>
              <a:ext cx="672" cy="19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a:solidFill>
                    <a:srgbClr val="000000"/>
                  </a:solidFill>
                  <a:latin typeface="Arial Unicode MS" pitchFamily="34" charset="-122"/>
                  <a:ea typeface="Arial Unicode MS" pitchFamily="34" charset="-122"/>
                  <a:cs typeface="Arial Unicode MS" pitchFamily="34" charset="-122"/>
                </a:rPr>
                <a:t>Pressure</a:t>
              </a:r>
            </a:p>
          </p:txBody>
        </p:sp>
        <p:sp>
          <p:nvSpPr>
            <p:cNvPr id="16" name="Line 1100"/>
            <p:cNvSpPr>
              <a:spLocks noChangeShapeType="1"/>
            </p:cNvSpPr>
            <p:nvPr/>
          </p:nvSpPr>
          <p:spPr bwMode="auto">
            <a:xfrm>
              <a:off x="2400" y="1440"/>
              <a:ext cx="432" cy="0"/>
            </a:xfrm>
            <a:prstGeom prst="line">
              <a:avLst/>
            </a:prstGeom>
            <a:noFill/>
            <a:ln w="12700">
              <a:solidFill>
                <a:srgbClr val="0000FF"/>
              </a:solidFill>
              <a:prstDash val="dash"/>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17" name="Line 1101"/>
            <p:cNvSpPr>
              <a:spLocks noChangeShapeType="1"/>
            </p:cNvSpPr>
            <p:nvPr/>
          </p:nvSpPr>
          <p:spPr bwMode="auto">
            <a:xfrm>
              <a:off x="2832" y="1032"/>
              <a:ext cx="0" cy="1008"/>
            </a:xfrm>
            <a:prstGeom prst="line">
              <a:avLst/>
            </a:prstGeom>
            <a:noFill/>
            <a:ln w="12700">
              <a:solidFill>
                <a:srgbClr val="0000FF"/>
              </a:solidFill>
              <a:prstDash val="sysDot"/>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18" name="Line 1102"/>
            <p:cNvSpPr>
              <a:spLocks noChangeShapeType="1"/>
            </p:cNvSpPr>
            <p:nvPr/>
          </p:nvSpPr>
          <p:spPr bwMode="auto">
            <a:xfrm>
              <a:off x="3624" y="1022"/>
              <a:ext cx="0" cy="1018"/>
            </a:xfrm>
            <a:prstGeom prst="line">
              <a:avLst/>
            </a:prstGeom>
            <a:noFill/>
            <a:ln w="12700">
              <a:solidFill>
                <a:srgbClr val="0000FF"/>
              </a:solidFill>
              <a:prstDash val="sysDot"/>
              <a:round/>
              <a:headEnd/>
              <a:tailEnd/>
            </a:ln>
            <a:extLst>
              <a:ext uri="{909E8E84-426E-40DD-AFC4-6F175D3DCCD1}">
                <a14:hiddenFill xmlns:a14="http://schemas.microsoft.com/office/drawing/2010/main">
                  <a:noFill/>
                </a14:hiddenFill>
              </a:ext>
            </a:extLst>
          </p:spPr>
          <p:txBody>
            <a:bodyPr/>
            <a:lstStyle/>
            <a:p>
              <a:pPr defTabSz="914400"/>
              <a:endParaRPr lang="zh-CN" altLang="en-US">
                <a:solidFill>
                  <a:srgbClr val="000000"/>
                </a:solidFill>
                <a:latin typeface="Arial Unicode MS" pitchFamily="34" charset="-122"/>
                <a:ea typeface="Arial Unicode MS" pitchFamily="34" charset="-122"/>
                <a:cs typeface="Arial Unicode MS" pitchFamily="34" charset="-122"/>
              </a:endParaRPr>
            </a:p>
          </p:txBody>
        </p:sp>
        <p:sp>
          <p:nvSpPr>
            <p:cNvPr id="19" name="Text Box 1103"/>
            <p:cNvSpPr txBox="1">
              <a:spLocks noChangeArrowheads="1"/>
            </p:cNvSpPr>
            <p:nvPr/>
          </p:nvSpPr>
          <p:spPr bwMode="auto">
            <a:xfrm>
              <a:off x="2803" y="2078"/>
              <a:ext cx="197" cy="13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a:solidFill>
                    <a:srgbClr val="000000"/>
                  </a:solidFill>
                  <a:latin typeface="Arial Unicode MS" pitchFamily="34" charset="-122"/>
                  <a:ea typeface="Arial Unicode MS" pitchFamily="34" charset="-122"/>
                  <a:cs typeface="Arial Unicode MS" pitchFamily="34" charset="-122"/>
                </a:rPr>
                <a:t>V</a:t>
              </a:r>
              <a:r>
                <a:rPr lang="en-US" altLang="zh-CN" sz="2000" baseline="-25000">
                  <a:solidFill>
                    <a:srgbClr val="000000"/>
                  </a:solidFill>
                  <a:latin typeface="Arial Unicode MS" pitchFamily="34" charset="-122"/>
                  <a:ea typeface="Arial Unicode MS" pitchFamily="34" charset="-122"/>
                  <a:cs typeface="Arial Unicode MS" pitchFamily="34" charset="-122"/>
                </a:rPr>
                <a:t>1</a:t>
              </a:r>
              <a:endParaRPr lang="en-US" altLang="zh-CN" sz="2000">
                <a:solidFill>
                  <a:srgbClr val="000000"/>
                </a:solidFill>
                <a:latin typeface="Arial Unicode MS" pitchFamily="34" charset="-122"/>
                <a:ea typeface="Arial Unicode MS" pitchFamily="34" charset="-122"/>
                <a:cs typeface="Arial Unicode MS" pitchFamily="34" charset="-122"/>
              </a:endParaRPr>
            </a:p>
          </p:txBody>
        </p:sp>
        <p:sp>
          <p:nvSpPr>
            <p:cNvPr id="20" name="Text Box 1104"/>
            <p:cNvSpPr txBox="1">
              <a:spLocks noChangeArrowheads="1"/>
            </p:cNvSpPr>
            <p:nvPr/>
          </p:nvSpPr>
          <p:spPr bwMode="auto">
            <a:xfrm>
              <a:off x="3581" y="2078"/>
              <a:ext cx="235" cy="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a:solidFill>
                    <a:srgbClr val="000000"/>
                  </a:solidFill>
                  <a:latin typeface="Arial Unicode MS" pitchFamily="34" charset="-122"/>
                  <a:ea typeface="Arial Unicode MS" pitchFamily="34" charset="-122"/>
                  <a:cs typeface="Arial Unicode MS" pitchFamily="34" charset="-122"/>
                </a:rPr>
                <a:t>V</a:t>
              </a:r>
              <a:r>
                <a:rPr lang="en-US" altLang="zh-CN" sz="2000" baseline="-25000">
                  <a:solidFill>
                    <a:srgbClr val="000000"/>
                  </a:solidFill>
                  <a:latin typeface="Arial Unicode MS" pitchFamily="34" charset="-122"/>
                  <a:ea typeface="Arial Unicode MS" pitchFamily="34" charset="-122"/>
                  <a:cs typeface="Arial Unicode MS" pitchFamily="34" charset="-122"/>
                </a:rPr>
                <a:t>2</a:t>
              </a:r>
              <a:endParaRPr lang="en-US" altLang="zh-CN" sz="2000">
                <a:solidFill>
                  <a:srgbClr val="000000"/>
                </a:solidFill>
                <a:latin typeface="Arial Unicode MS" pitchFamily="34" charset="-122"/>
                <a:ea typeface="Arial Unicode MS" pitchFamily="34" charset="-122"/>
                <a:cs typeface="Arial Unicode MS" pitchFamily="34" charset="-122"/>
              </a:endParaRPr>
            </a:p>
          </p:txBody>
        </p:sp>
        <p:sp>
          <p:nvSpPr>
            <p:cNvPr id="21" name="Text Box 1105"/>
            <p:cNvSpPr txBox="1">
              <a:spLocks noChangeArrowheads="1"/>
            </p:cNvSpPr>
            <p:nvPr/>
          </p:nvSpPr>
          <p:spPr bwMode="auto">
            <a:xfrm>
              <a:off x="2232" y="1358"/>
              <a:ext cx="144" cy="14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a:r>
                <a:rPr lang="en-US" altLang="zh-CN" sz="2000">
                  <a:solidFill>
                    <a:srgbClr val="000000"/>
                  </a:solidFill>
                  <a:latin typeface="Arial Unicode MS" pitchFamily="34" charset="-122"/>
                  <a:ea typeface="Arial Unicode MS" pitchFamily="34" charset="-122"/>
                  <a:cs typeface="Arial Unicode MS" pitchFamily="34" charset="-122"/>
                </a:rPr>
                <a:t>P</a:t>
              </a:r>
            </a:p>
          </p:txBody>
        </p:sp>
        <p:sp>
          <p:nvSpPr>
            <p:cNvPr id="22" name="Text Box 1106"/>
            <p:cNvSpPr txBox="1">
              <a:spLocks noChangeArrowheads="1"/>
            </p:cNvSpPr>
            <p:nvPr/>
          </p:nvSpPr>
          <p:spPr bwMode="auto">
            <a:xfrm>
              <a:off x="2712" y="1214"/>
              <a:ext cx="2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a:solidFill>
                    <a:srgbClr val="336600"/>
                  </a:solidFill>
                  <a:latin typeface="Arial Unicode MS" pitchFamily="34" charset="-122"/>
                  <a:ea typeface="Arial Unicode MS" pitchFamily="34" charset="-122"/>
                  <a:cs typeface="Arial Unicode MS" pitchFamily="34" charset="-122"/>
                </a:rPr>
                <a:t>1</a:t>
              </a:r>
            </a:p>
          </p:txBody>
        </p:sp>
        <p:sp>
          <p:nvSpPr>
            <p:cNvPr id="23" name="Text Box 1107"/>
            <p:cNvSpPr txBox="1">
              <a:spLocks noChangeArrowheads="1"/>
            </p:cNvSpPr>
            <p:nvPr/>
          </p:nvSpPr>
          <p:spPr bwMode="auto">
            <a:xfrm>
              <a:off x="3624" y="1262"/>
              <a:ext cx="224"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a:solidFill>
                    <a:srgbClr val="336600"/>
                  </a:solidFill>
                  <a:latin typeface="Arial Unicode MS" pitchFamily="34" charset="-122"/>
                  <a:ea typeface="Arial Unicode MS" pitchFamily="34" charset="-122"/>
                  <a:cs typeface="Arial Unicode MS" pitchFamily="34" charset="-122"/>
                </a:rPr>
                <a:t>2</a:t>
              </a:r>
            </a:p>
          </p:txBody>
        </p:sp>
      </p:grpSp>
      <p:graphicFrame>
        <p:nvGraphicFramePr>
          <p:cNvPr id="6" name="对象 5"/>
          <p:cNvGraphicFramePr>
            <a:graphicFrameLocks noChangeAspect="1"/>
          </p:cNvGraphicFramePr>
          <p:nvPr>
            <p:extLst>
              <p:ext uri="{D42A27DB-BD31-4B8C-83A1-F6EECF244321}">
                <p14:modId xmlns:p14="http://schemas.microsoft.com/office/powerpoint/2010/main" val="2536691149"/>
              </p:ext>
            </p:extLst>
          </p:nvPr>
        </p:nvGraphicFramePr>
        <p:xfrm>
          <a:off x="5397499" y="1701799"/>
          <a:ext cx="2761907" cy="768350"/>
        </p:xfrm>
        <a:graphic>
          <a:graphicData uri="http://schemas.openxmlformats.org/presentationml/2006/ole">
            <mc:AlternateContent xmlns:mc="http://schemas.openxmlformats.org/markup-compatibility/2006">
              <mc:Choice xmlns:v="urn:schemas-microsoft-com:vml" Requires="v">
                <p:oleObj name="Equation" r:id="rId3" imgW="1688760" imgH="469800" progId="">
                  <p:embed/>
                </p:oleObj>
              </mc:Choice>
              <mc:Fallback>
                <p:oleObj name="Equation" r:id="rId3" imgW="1688760" imgH="4698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499" y="1701799"/>
                        <a:ext cx="2761907" cy="768350"/>
                      </a:xfrm>
                      <a:prstGeom prst="rect">
                        <a:avLst/>
                      </a:prstGeom>
                      <a:noFill/>
                    </p:spPr>
                  </p:pic>
                </p:oleObj>
              </mc:Fallback>
            </mc:AlternateContent>
          </a:graphicData>
        </a:graphic>
      </p:graphicFrame>
      <p:sp>
        <p:nvSpPr>
          <p:cNvPr id="28" name="Text Box 1056"/>
          <p:cNvSpPr txBox="1">
            <a:spLocks noChangeArrowheads="1"/>
          </p:cNvSpPr>
          <p:nvPr/>
        </p:nvSpPr>
        <p:spPr bwMode="auto">
          <a:xfrm>
            <a:off x="2587186" y="5448655"/>
            <a:ext cx="3432613" cy="461665"/>
          </a:xfrm>
          <a:prstGeom prst="rect">
            <a:avLst/>
          </a:prstGeom>
          <a:noFill/>
          <a:ln w="381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defTabSz="914400" eaLnBrk="1" hangingPunct="1"/>
            <a:r>
              <a:rPr lang="en-US" altLang="zh-CN" b="1" dirty="0">
                <a:solidFill>
                  <a:srgbClr val="000000"/>
                </a:solidFill>
                <a:latin typeface="Arial Unicode MS" pitchFamily="34" charset="-122"/>
                <a:ea typeface="Arial Unicode MS" pitchFamily="34" charset="-122"/>
                <a:cs typeface="Arial Unicode MS" pitchFamily="34" charset="-122"/>
              </a:rPr>
              <a:t>Enthalpy</a:t>
            </a:r>
            <a:r>
              <a:rPr lang="en-US" altLang="zh-CN" dirty="0">
                <a:solidFill>
                  <a:srgbClr val="000000"/>
                </a:solidFill>
                <a:latin typeface="Arial Unicode MS" pitchFamily="34" charset="-122"/>
                <a:ea typeface="Arial Unicode MS" pitchFamily="34" charset="-122"/>
                <a:cs typeface="Arial Unicode MS" pitchFamily="34" charset="-122"/>
              </a:rPr>
              <a:t>, </a:t>
            </a:r>
            <a:r>
              <a:rPr lang="en-US" altLang="zh-CN" b="1" i="1" dirty="0">
                <a:solidFill>
                  <a:srgbClr val="0000CC"/>
                </a:solidFill>
                <a:latin typeface="Arial Unicode MS" pitchFamily="34" charset="-122"/>
                <a:ea typeface="Arial Unicode MS" pitchFamily="34" charset="-122"/>
                <a:cs typeface="Arial Unicode MS" pitchFamily="34" charset="-122"/>
              </a:rPr>
              <a:t>H = U + PV</a:t>
            </a:r>
          </a:p>
        </p:txBody>
      </p:sp>
      <p:sp>
        <p:nvSpPr>
          <p:cNvPr id="29" name="Text Box 1031"/>
          <p:cNvSpPr txBox="1">
            <a:spLocks noChangeArrowheads="1"/>
          </p:cNvSpPr>
          <p:nvPr/>
        </p:nvSpPr>
        <p:spPr bwMode="auto">
          <a:xfrm>
            <a:off x="2505075" y="5928337"/>
            <a:ext cx="4037217" cy="461665"/>
          </a:xfrm>
          <a:prstGeom prst="rect">
            <a:avLst/>
          </a:prstGeom>
          <a:noFill/>
          <a:ln w="63500">
            <a:noFill/>
            <a:miter lim="800000"/>
            <a:headEnd/>
            <a:tailEnd/>
          </a:ln>
          <a:effec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defTabSz="914400" eaLnBrk="1" hangingPunct="1"/>
            <a:r>
              <a:rPr lang="en-US" altLang="zh-CN" dirty="0">
                <a:latin typeface="Arial" panose="020B0604020202020204" pitchFamily="34" charset="0"/>
                <a:cs typeface="Arial" panose="020B0604020202020204" pitchFamily="34" charset="0"/>
              </a:rPr>
              <a:t>H  is a new state function.</a:t>
            </a:r>
          </a:p>
        </p:txBody>
      </p:sp>
      <p:graphicFrame>
        <p:nvGraphicFramePr>
          <p:cNvPr id="4" name="对象 3">
            <a:extLst>
              <a:ext uri="{FF2B5EF4-FFF2-40B4-BE49-F238E27FC236}">
                <a16:creationId xmlns:a16="http://schemas.microsoft.com/office/drawing/2014/main" id="{F3ED9925-0AA9-19EC-8A51-4C72DA2EE869}"/>
              </a:ext>
            </a:extLst>
          </p:cNvPr>
          <p:cNvGraphicFramePr>
            <a:graphicFrameLocks noChangeAspect="1"/>
          </p:cNvGraphicFramePr>
          <p:nvPr>
            <p:extLst>
              <p:ext uri="{D42A27DB-BD31-4B8C-83A1-F6EECF244321}">
                <p14:modId xmlns:p14="http://schemas.microsoft.com/office/powerpoint/2010/main" val="2840304860"/>
              </p:ext>
            </p:extLst>
          </p:nvPr>
        </p:nvGraphicFramePr>
        <p:xfrm>
          <a:off x="5381625" y="2636755"/>
          <a:ext cx="1989137" cy="1131888"/>
        </p:xfrm>
        <a:graphic>
          <a:graphicData uri="http://schemas.openxmlformats.org/presentationml/2006/ole">
            <mc:AlternateContent xmlns:mc="http://schemas.openxmlformats.org/markup-compatibility/2006">
              <mc:Choice xmlns:v="urn:schemas-microsoft-com:vml" Requires="v">
                <p:oleObj name="Equation" r:id="rId5" imgW="1295280" imgH="736560" progId="Equation.DSMT4">
                  <p:embed/>
                </p:oleObj>
              </mc:Choice>
              <mc:Fallback>
                <p:oleObj name="Equation" r:id="rId5" imgW="1295280" imgH="736560" progId="Equation.DSMT4">
                  <p:embed/>
                  <p:pic>
                    <p:nvPicPr>
                      <p:cNvPr id="9" name="对象 8">
                        <a:extLst>
                          <a:ext uri="{FF2B5EF4-FFF2-40B4-BE49-F238E27FC236}">
                            <a16:creationId xmlns:a16="http://schemas.microsoft.com/office/drawing/2014/main" id="{5BB0937D-9F04-F0D6-BC6D-73DBD7975DFA}"/>
                          </a:ext>
                        </a:extLst>
                      </p:cNvPr>
                      <p:cNvPicPr>
                        <a:picLocks noChangeAspect="1" noChangeArrowheads="1"/>
                      </p:cNvPicPr>
                      <p:nvPr/>
                    </p:nvPicPr>
                    <p:blipFill>
                      <a:blip r:embed="rId6"/>
                      <a:srcRect/>
                      <a:stretch>
                        <a:fillRect/>
                      </a:stretch>
                    </p:blipFill>
                    <p:spPr bwMode="auto">
                      <a:xfrm>
                        <a:off x="5381625" y="2636755"/>
                        <a:ext cx="1989137" cy="1131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a:extLst>
              <a:ext uri="{FF2B5EF4-FFF2-40B4-BE49-F238E27FC236}">
                <a16:creationId xmlns:a16="http://schemas.microsoft.com/office/drawing/2014/main" id="{53641AD5-C35E-429D-DEE9-2710A0E9C5DA}"/>
              </a:ext>
            </a:extLst>
          </p:cNvPr>
          <p:cNvGraphicFramePr>
            <a:graphicFrameLocks noChangeAspect="1"/>
          </p:cNvGraphicFramePr>
          <p:nvPr>
            <p:extLst>
              <p:ext uri="{D42A27DB-BD31-4B8C-83A1-F6EECF244321}">
                <p14:modId xmlns:p14="http://schemas.microsoft.com/office/powerpoint/2010/main" val="2787761712"/>
              </p:ext>
            </p:extLst>
          </p:nvPr>
        </p:nvGraphicFramePr>
        <p:xfrm>
          <a:off x="2421624" y="4474922"/>
          <a:ext cx="3974966" cy="560689"/>
        </p:xfrm>
        <a:graphic>
          <a:graphicData uri="http://schemas.openxmlformats.org/presentationml/2006/ole">
            <mc:AlternateContent xmlns:mc="http://schemas.openxmlformats.org/markup-compatibility/2006">
              <mc:Choice xmlns:v="urn:schemas-microsoft-com:vml" Requires="v">
                <p:oleObj name="Equation" r:id="rId7" imgW="1803240" imgH="253800" progId="Equation.DSMT4">
                  <p:embed/>
                </p:oleObj>
              </mc:Choice>
              <mc:Fallback>
                <p:oleObj name="Equation" r:id="rId7" imgW="1803240" imgH="253800" progId="Equation.DSMT4">
                  <p:embed/>
                  <p:pic>
                    <p:nvPicPr>
                      <p:cNvPr id="4" name="对象 3">
                        <a:extLst>
                          <a:ext uri="{FF2B5EF4-FFF2-40B4-BE49-F238E27FC236}">
                            <a16:creationId xmlns:a16="http://schemas.microsoft.com/office/drawing/2014/main" id="{F3ED9925-0AA9-19EC-8A51-4C72DA2EE869}"/>
                          </a:ext>
                        </a:extLst>
                      </p:cNvPr>
                      <p:cNvPicPr>
                        <a:picLocks noChangeAspect="1" noChangeArrowheads="1"/>
                      </p:cNvPicPr>
                      <p:nvPr/>
                    </p:nvPicPr>
                    <p:blipFill>
                      <a:blip r:embed="rId8"/>
                      <a:srcRect/>
                      <a:stretch>
                        <a:fillRect/>
                      </a:stretch>
                    </p:blipFill>
                    <p:spPr bwMode="auto">
                      <a:xfrm>
                        <a:off x="2421624" y="4474922"/>
                        <a:ext cx="3974966" cy="560689"/>
                      </a:xfrm>
                      <a:prstGeom prst="rect">
                        <a:avLst/>
                      </a:prstGeom>
                      <a:solidFill>
                        <a:schemeClr val="accent3">
                          <a:lumMod val="20000"/>
                          <a:lumOff val="80000"/>
                        </a:schemeClr>
                      </a:solidFill>
                    </p:spPr>
                  </p:pic>
                </p:oleObj>
              </mc:Fallback>
            </mc:AlternateContent>
          </a:graphicData>
        </a:graphic>
      </p:graphicFrame>
    </p:spTree>
    <p:extLst>
      <p:ext uri="{BB962C8B-B14F-4D97-AF65-F5344CB8AC3E}">
        <p14:creationId xmlns:p14="http://schemas.microsoft.com/office/powerpoint/2010/main" val="161383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347" y="-5946"/>
            <a:ext cx="6457950" cy="855664"/>
          </a:xfrm>
        </p:spPr>
        <p:txBody>
          <a:bodyPr>
            <a:normAutofit/>
          </a:bodyPr>
          <a:lstStyle/>
          <a:p>
            <a:pPr algn="l"/>
            <a:r>
              <a:rPr lang="en-US" sz="3200" dirty="0">
                <a:solidFill>
                  <a:srgbClr val="FF0000"/>
                </a:solidFill>
                <a:latin typeface="Arial" charset="0"/>
                <a:cs typeface="Arial" charset="0"/>
              </a:rPr>
              <a:t>Reversible Adiabatic Process</a:t>
            </a:r>
            <a:endParaRPr lang="en-US" sz="32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6" name="Text Box 5"/>
          <p:cNvSpPr txBox="1">
            <a:spLocks noChangeArrowheads="1"/>
          </p:cNvSpPr>
          <p:nvPr/>
        </p:nvSpPr>
        <p:spPr bwMode="auto">
          <a:xfrm>
            <a:off x="344761" y="1083871"/>
            <a:ext cx="3553665" cy="2345129"/>
          </a:xfrm>
          <a:prstGeom prst="rect">
            <a:avLst/>
          </a:prstGeom>
          <a:noFill/>
          <a:ln w="285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Condition: </a:t>
            </a:r>
          </a:p>
          <a:p>
            <a:pPr eaLnBrk="1" hangingPunct="1">
              <a:lnSpc>
                <a:spcPct val="150000"/>
              </a:lnSpc>
            </a:pP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no heat exchange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Wingdings" panose="05000000000000000000" pitchFamily="2" charset="2"/>
              </a:rPr>
              <a:t></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q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=0</a:t>
            </a:r>
          </a:p>
          <a:p>
            <a:pPr defTabSz="914400" eaLnBrk="1" hangingPunct="1">
              <a:lnSpc>
                <a:spcPct val="150000"/>
              </a:lnSpc>
            </a:pPr>
            <a:endParaRPr lang="en-US" altLang="zh-CN" sz="100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a:p>
            <a:pPr defTabSz="914400" eaLnBrk="1" hangingPunct="1">
              <a:lnSpc>
                <a:spcPct val="150000"/>
              </a:lnSpc>
            </a:pP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dU</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 </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q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w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-w</a:t>
            </a:r>
          </a:p>
          <a:p>
            <a:pPr defTabSz="914400" eaLnBrk="1" hangingPunct="1">
              <a:lnSpc>
                <a:spcPct val="150000"/>
              </a:lnSpc>
            </a:pPr>
            <a:endParaRPr lang="en-US" altLang="zh-CN" sz="1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endParaRPr>
          </a:p>
          <a:p>
            <a:pPr defTabSz="914400" eaLnBrk="1" hangingPunct="1">
              <a:lnSpc>
                <a:spcPct val="150000"/>
              </a:lnSpc>
            </a:pP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dU</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c</a:t>
            </a:r>
            <a:r>
              <a:rPr lang="en-US" altLang="zh-CN" sz="2000" i="1" baseline="-25000"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v</a:t>
            </a: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dT</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and </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w</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 </a:t>
            </a: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PdV</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p>
        </p:txBody>
      </p:sp>
      <p:sp>
        <p:nvSpPr>
          <p:cNvPr id="17" name="Text Box 6"/>
          <p:cNvSpPr txBox="1">
            <a:spLocks noChangeArrowheads="1"/>
          </p:cNvSpPr>
          <p:nvPr/>
        </p:nvSpPr>
        <p:spPr bwMode="auto">
          <a:xfrm>
            <a:off x="4656842" y="1169901"/>
            <a:ext cx="180690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For ideal gas:</a:t>
            </a:r>
          </a:p>
        </p:txBody>
      </p:sp>
      <p:graphicFrame>
        <p:nvGraphicFramePr>
          <p:cNvPr id="6" name="对象 5"/>
          <p:cNvGraphicFramePr>
            <a:graphicFrameLocks noChangeAspect="1"/>
          </p:cNvGraphicFramePr>
          <p:nvPr>
            <p:extLst>
              <p:ext uri="{D42A27DB-BD31-4B8C-83A1-F6EECF244321}">
                <p14:modId xmlns:p14="http://schemas.microsoft.com/office/powerpoint/2010/main" val="1764377447"/>
              </p:ext>
            </p:extLst>
          </p:nvPr>
        </p:nvGraphicFramePr>
        <p:xfrm>
          <a:off x="4938177" y="1829880"/>
          <a:ext cx="2257733" cy="555474"/>
        </p:xfrm>
        <a:graphic>
          <a:graphicData uri="http://schemas.openxmlformats.org/presentationml/2006/ole">
            <mc:AlternateContent xmlns:mc="http://schemas.openxmlformats.org/markup-compatibility/2006">
              <mc:Choice xmlns:v="urn:schemas-microsoft-com:vml" Requires="v">
                <p:oleObj name="Equation" r:id="rId2" imgW="1600200" imgH="393480" progId="Equation.DSMT4">
                  <p:embed/>
                </p:oleObj>
              </mc:Choice>
              <mc:Fallback>
                <p:oleObj name="Equation" r:id="rId2" imgW="1600200" imgH="393480" progId="Equation.DSMT4">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8177" y="1829880"/>
                        <a:ext cx="2257733" cy="5554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524191047"/>
              </p:ext>
            </p:extLst>
          </p:nvPr>
        </p:nvGraphicFramePr>
        <p:xfrm>
          <a:off x="6484768" y="2553051"/>
          <a:ext cx="1824038" cy="666750"/>
        </p:xfrm>
        <a:graphic>
          <a:graphicData uri="http://schemas.openxmlformats.org/presentationml/2006/ole">
            <mc:AlternateContent xmlns:mc="http://schemas.openxmlformats.org/markup-compatibility/2006">
              <mc:Choice xmlns:v="urn:schemas-microsoft-com:vml" Requires="v">
                <p:oleObj name="Equation" r:id="rId4" imgW="1180800" imgH="431640" progId="Equation.DSMT4">
                  <p:embed/>
                </p:oleObj>
              </mc:Choice>
              <mc:Fallback>
                <p:oleObj name="Equation" r:id="rId4" imgW="1180800" imgH="431640" progId="Equation.DSMT4">
                  <p:embed/>
                  <p:pic>
                    <p:nvPicPr>
                      <p:cNvPr id="0" name=""/>
                      <p:cNvPicPr>
                        <a:picLocks noChangeAspect="1" noChangeArrowheads="1"/>
                      </p:cNvPicPr>
                      <p:nvPr/>
                    </p:nvPicPr>
                    <p:blipFill>
                      <a:blip r:embed="rId5"/>
                      <a:srcRect/>
                      <a:stretch>
                        <a:fillRect/>
                      </a:stretch>
                    </p:blipFill>
                    <p:spPr bwMode="auto">
                      <a:xfrm>
                        <a:off x="6484768" y="2553051"/>
                        <a:ext cx="1824038" cy="666750"/>
                      </a:xfrm>
                      <a:prstGeom prst="rect">
                        <a:avLst/>
                      </a:prstGeom>
                      <a:noFill/>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993817446"/>
              </p:ext>
            </p:extLst>
          </p:nvPr>
        </p:nvGraphicFramePr>
        <p:xfrm>
          <a:off x="2435463" y="3919168"/>
          <a:ext cx="1423838" cy="663157"/>
        </p:xfrm>
        <a:graphic>
          <a:graphicData uri="http://schemas.openxmlformats.org/presentationml/2006/ole">
            <mc:AlternateContent xmlns:mc="http://schemas.openxmlformats.org/markup-compatibility/2006">
              <mc:Choice xmlns:v="urn:schemas-microsoft-com:vml" Requires="v">
                <p:oleObj name="Equation" r:id="rId6" imgW="927000" imgH="431640" progId="Equation.DSMT4">
                  <p:embed/>
                </p:oleObj>
              </mc:Choice>
              <mc:Fallback>
                <p:oleObj name="Equation" r:id="rId6" imgW="927000" imgH="43164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5463" y="3919168"/>
                        <a:ext cx="1423838" cy="6631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66122243"/>
              </p:ext>
            </p:extLst>
          </p:nvPr>
        </p:nvGraphicFramePr>
        <p:xfrm>
          <a:off x="4805088" y="3895401"/>
          <a:ext cx="1596090" cy="686924"/>
        </p:xfrm>
        <a:graphic>
          <a:graphicData uri="http://schemas.openxmlformats.org/presentationml/2006/ole">
            <mc:AlternateContent xmlns:mc="http://schemas.openxmlformats.org/markup-compatibility/2006">
              <mc:Choice xmlns:v="urn:schemas-microsoft-com:vml" Requires="v">
                <p:oleObj name="Equation" r:id="rId8" imgW="1002960" imgH="431640" progId="">
                  <p:embed/>
                </p:oleObj>
              </mc:Choice>
              <mc:Fallback>
                <p:oleObj name="Equation" r:id="rId8" imgW="1002960" imgH="431640" progId="">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05088" y="3895401"/>
                        <a:ext cx="1596090" cy="6869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12"/>
          <p:cNvSpPr txBox="1">
            <a:spLocks noChangeArrowheads="1"/>
          </p:cNvSpPr>
          <p:nvPr/>
        </p:nvSpPr>
        <p:spPr bwMode="auto">
          <a:xfrm>
            <a:off x="1478529" y="4891323"/>
            <a:ext cx="6400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R</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 </a:t>
            </a: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c</a:t>
            </a:r>
            <a:r>
              <a:rPr lang="en-US" altLang="zh-CN" sz="2000" i="1" baseline="-25000"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p</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 </a:t>
            </a: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c</a:t>
            </a:r>
            <a:r>
              <a:rPr lang="en-US" altLang="zh-CN" sz="2000" i="1" baseline="-25000"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V</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and let </a:t>
            </a: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c</a:t>
            </a:r>
            <a:r>
              <a:rPr lang="en-US" altLang="zh-CN" sz="2000" i="1" baseline="-25000"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p</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a:t>
            </a:r>
            <a:r>
              <a:rPr lang="en-US" altLang="zh-CN" sz="2000" i="1"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c</a:t>
            </a:r>
            <a:r>
              <a:rPr lang="en-US" altLang="zh-CN" sz="2000" i="1" baseline="-25000" dirty="0" err="1">
                <a:solidFill>
                  <a:srgbClr val="000000"/>
                </a:solidFill>
                <a:latin typeface="微软雅黑" panose="020B0503020204020204" pitchFamily="34" charset="-122"/>
                <a:ea typeface="微软雅黑" panose="020B0503020204020204" pitchFamily="34" charset="-122"/>
                <a:cs typeface="Arial" panose="020B0604020202020204" pitchFamily="34" charset="0"/>
              </a:rPr>
              <a:t>V</a:t>
            </a:r>
            <a:r>
              <a:rPr lang="en-US" altLang="zh-CN" sz="2000" baseline="-25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rPr>
              <a:t>=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pitchFamily="18" charset="2"/>
              </a:rPr>
              <a:t>, </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a:rPr>
              <a:t> = </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a:rPr>
              <a:t>1</a:t>
            </a:r>
            <a:r>
              <a:rPr lang="en-US" altLang="zh-CN" sz="2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a:rPr>
              <a:t> + </a:t>
            </a:r>
            <a:r>
              <a:rPr lang="en-US" altLang="zh-CN" sz="2000" i="1"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a:rPr>
              <a:t>R / C</a:t>
            </a:r>
            <a:r>
              <a:rPr lang="en-US" altLang="zh-CN" sz="2000" i="1" baseline="-25000" dirty="0">
                <a:solidFill>
                  <a:srgbClr val="000000"/>
                </a:solidFill>
                <a:latin typeface="微软雅黑" panose="020B0503020204020204" pitchFamily="34" charset="-122"/>
                <a:ea typeface="微软雅黑" panose="020B0503020204020204" pitchFamily="34" charset="-122"/>
                <a:cs typeface="Arial" panose="020B0604020202020204" pitchFamily="34" charset="0"/>
                <a:sym typeface="Symbol"/>
              </a:rPr>
              <a:t>V</a:t>
            </a:r>
            <a:endParaRPr lang="en-US" altLang="zh-CN" sz="2000" i="1" baseline="-25000" dirty="0">
              <a:solidFill>
                <a:srgbClr val="00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7" name="圆角矩形 6"/>
          <p:cNvSpPr/>
          <p:nvPr/>
        </p:nvSpPr>
        <p:spPr>
          <a:xfrm>
            <a:off x="4490484" y="1083871"/>
            <a:ext cx="4191000" cy="2379967"/>
          </a:xfrm>
          <a:prstGeom prst="roundRect">
            <a:avLst>
              <a:gd name="adj" fmla="val 0"/>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TextBox 8"/>
          <p:cNvSpPr txBox="1"/>
          <p:nvPr/>
        </p:nvSpPr>
        <p:spPr>
          <a:xfrm>
            <a:off x="4115178" y="4071568"/>
            <a:ext cx="420308" cy="369332"/>
          </a:xfrm>
          <a:prstGeom prst="rect">
            <a:avLst/>
          </a:prstGeom>
          <a:noFill/>
        </p:spPr>
        <p:txBody>
          <a:bodyPr wrap="none" rtlCol="0">
            <a:spAutoFit/>
          </a:bodyPr>
          <a:lstStyle/>
          <a:p>
            <a:r>
              <a:rPr lang="en-US" altLang="zh-CN" dirty="0">
                <a:latin typeface="微软雅黑" panose="020B0503020204020204" pitchFamily="34" charset="-122"/>
                <a:ea typeface="微软雅黑" panose="020B0503020204020204" pitchFamily="34" charset="-122"/>
                <a:cs typeface="Arial" panose="020B0604020202020204" pitchFamily="34" charset="0"/>
              </a:rPr>
              <a:t>or</a:t>
            </a:r>
            <a:endParaRPr lang="zh-CN" altLang="en-US" dirty="0">
              <a:latin typeface="微软雅黑" panose="020B0503020204020204" pitchFamily="34" charset="-122"/>
              <a:ea typeface="微软雅黑" panose="020B0503020204020204" pitchFamily="34" charset="-122"/>
              <a:cs typeface="Arial" panose="020B0604020202020204" pitchFamily="34" charset="0"/>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3919451813"/>
              </p:ext>
            </p:extLst>
          </p:nvPr>
        </p:nvGraphicFramePr>
        <p:xfrm>
          <a:off x="4081019" y="5600431"/>
          <a:ext cx="1144588" cy="638175"/>
        </p:xfrm>
        <a:graphic>
          <a:graphicData uri="http://schemas.openxmlformats.org/presentationml/2006/ole">
            <mc:AlternateContent xmlns:mc="http://schemas.openxmlformats.org/markup-compatibility/2006">
              <mc:Choice xmlns:v="urn:schemas-microsoft-com:vml" Requires="v">
                <p:oleObj name="Equation" r:id="rId10" imgW="774364" imgH="431613" progId="Equation.DSMT4">
                  <p:embed/>
                </p:oleObj>
              </mc:Choice>
              <mc:Fallback>
                <p:oleObj name="Equation" r:id="rId10" imgW="774364" imgH="43161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81019" y="5600431"/>
                        <a:ext cx="1144588"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036746057"/>
              </p:ext>
            </p:extLst>
          </p:nvPr>
        </p:nvGraphicFramePr>
        <p:xfrm>
          <a:off x="4951644" y="2608614"/>
          <a:ext cx="1379538" cy="555625"/>
        </p:xfrm>
        <a:graphic>
          <a:graphicData uri="http://schemas.openxmlformats.org/presentationml/2006/ole">
            <mc:AlternateContent xmlns:mc="http://schemas.openxmlformats.org/markup-compatibility/2006">
              <mc:Choice xmlns:v="urn:schemas-microsoft-com:vml" Requires="v">
                <p:oleObj name="Equation" r:id="rId12" imgW="977760" imgH="393480" progId="Equation.DSMT4">
                  <p:embed/>
                </p:oleObj>
              </mc:Choice>
              <mc:Fallback>
                <p:oleObj name="Equation" r:id="rId12" imgW="977760" imgH="393480" progId="Equation.DSMT4">
                  <p:embed/>
                  <p:pic>
                    <p:nvPicPr>
                      <p:cNvPr id="0" name=""/>
                      <p:cNvPicPr>
                        <a:picLocks noChangeAspect="1" noChangeArrowheads="1"/>
                      </p:cNvPicPr>
                      <p:nvPr/>
                    </p:nvPicPr>
                    <p:blipFill>
                      <a:blip r:embed="rId13"/>
                      <a:srcRect/>
                      <a:stretch>
                        <a:fillRect/>
                      </a:stretch>
                    </p:blipFill>
                    <p:spPr bwMode="auto">
                      <a:xfrm>
                        <a:off x="4951644" y="2608614"/>
                        <a:ext cx="1379538" cy="55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58818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624" y="38548"/>
            <a:ext cx="6457950" cy="762000"/>
          </a:xfrm>
        </p:spPr>
        <p:txBody>
          <a:bodyPr>
            <a:normAutofit/>
          </a:bodyPr>
          <a:lstStyle/>
          <a:p>
            <a:pPr algn="l"/>
            <a:r>
              <a:rPr lang="en-US" sz="3200" dirty="0">
                <a:solidFill>
                  <a:srgbClr val="FF0000"/>
                </a:solidFill>
                <a:latin typeface="Arial" charset="0"/>
                <a:cs typeface="Arial" charset="0"/>
              </a:rPr>
              <a:t>Reversible Adiabatic Process</a:t>
            </a:r>
            <a:endParaRPr lang="en-US" sz="32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5" name="Text Box 5"/>
          <p:cNvSpPr txBox="1">
            <a:spLocks noChangeArrowheads="1"/>
          </p:cNvSpPr>
          <p:nvPr/>
        </p:nvSpPr>
        <p:spPr bwMode="auto">
          <a:xfrm>
            <a:off x="389643" y="1175420"/>
            <a:ext cx="230543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defTabSz="914400" eaLnBrk="1" hangingPunct="1"/>
            <a:r>
              <a:rPr lang="en-US" altLang="zh-CN" sz="2400" dirty="0">
                <a:solidFill>
                  <a:srgbClr val="000000"/>
                </a:solidFill>
                <a:latin typeface="Arial" panose="020B0604020202020204" pitchFamily="34" charset="0"/>
                <a:ea typeface="宋体" charset="-122"/>
                <a:cs typeface="Arial" panose="020B0604020202020204" pitchFamily="34" charset="0"/>
              </a:rPr>
              <a:t>For  ideal gas:  </a:t>
            </a:r>
          </a:p>
        </p:txBody>
      </p:sp>
      <p:graphicFrame>
        <p:nvGraphicFramePr>
          <p:cNvPr id="7" name="对象 6"/>
          <p:cNvGraphicFramePr>
            <a:graphicFrameLocks noChangeAspect="1"/>
          </p:cNvGraphicFramePr>
          <p:nvPr>
            <p:extLst>
              <p:ext uri="{D42A27DB-BD31-4B8C-83A1-F6EECF244321}">
                <p14:modId xmlns:p14="http://schemas.microsoft.com/office/powerpoint/2010/main" val="1822579759"/>
              </p:ext>
            </p:extLst>
          </p:nvPr>
        </p:nvGraphicFramePr>
        <p:xfrm>
          <a:off x="1596931" y="2251012"/>
          <a:ext cx="974725" cy="637320"/>
        </p:xfrm>
        <a:graphic>
          <a:graphicData uri="http://schemas.openxmlformats.org/presentationml/2006/ole">
            <mc:AlternateContent xmlns:mc="http://schemas.openxmlformats.org/markup-compatibility/2006">
              <mc:Choice xmlns:v="urn:schemas-microsoft-com:vml" Requires="v">
                <p:oleObj name="Equation" r:id="rId2" imgW="660240" imgH="431640" progId="">
                  <p:embed/>
                </p:oleObj>
              </mc:Choice>
              <mc:Fallback>
                <p:oleObj name="Equation" r:id="rId2" imgW="660240" imgH="43164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6931" y="2251012"/>
                        <a:ext cx="974725" cy="6373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25998494"/>
              </p:ext>
            </p:extLst>
          </p:nvPr>
        </p:nvGraphicFramePr>
        <p:xfrm>
          <a:off x="3300437" y="2661381"/>
          <a:ext cx="1166531" cy="550862"/>
        </p:xfrm>
        <a:graphic>
          <a:graphicData uri="http://schemas.openxmlformats.org/presentationml/2006/ole">
            <mc:AlternateContent xmlns:mc="http://schemas.openxmlformats.org/markup-compatibility/2006">
              <mc:Choice xmlns:v="urn:schemas-microsoft-com:vml" Requires="v">
                <p:oleObj name="Equation" r:id="rId4" imgW="914400" imgH="431640" progId="">
                  <p:embed/>
                </p:oleObj>
              </mc:Choice>
              <mc:Fallback>
                <p:oleObj name="Equation" r:id="rId4" imgW="914400" imgH="43164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0437" y="2661381"/>
                        <a:ext cx="1166531" cy="5508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4223180225"/>
              </p:ext>
            </p:extLst>
          </p:nvPr>
        </p:nvGraphicFramePr>
        <p:xfrm>
          <a:off x="5353550" y="2547875"/>
          <a:ext cx="1101818" cy="693737"/>
        </p:xfrm>
        <a:graphic>
          <a:graphicData uri="http://schemas.openxmlformats.org/presentationml/2006/ole">
            <mc:AlternateContent xmlns:mc="http://schemas.openxmlformats.org/markup-compatibility/2006">
              <mc:Choice xmlns:v="urn:schemas-microsoft-com:vml" Requires="v">
                <p:oleObj name="Equation" r:id="rId6" imgW="685800" imgH="431640" progId="">
                  <p:embed/>
                </p:oleObj>
              </mc:Choice>
              <mc:Fallback>
                <p:oleObj name="Equation" r:id="rId6" imgW="685800" imgH="431640"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53550" y="2547875"/>
                        <a:ext cx="1101818" cy="693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773051692"/>
              </p:ext>
            </p:extLst>
          </p:nvPr>
        </p:nvGraphicFramePr>
        <p:xfrm>
          <a:off x="2863850" y="5189274"/>
          <a:ext cx="3416300" cy="427038"/>
        </p:xfrm>
        <a:graphic>
          <a:graphicData uri="http://schemas.openxmlformats.org/presentationml/2006/ole">
            <mc:AlternateContent xmlns:mc="http://schemas.openxmlformats.org/markup-compatibility/2006">
              <mc:Choice xmlns:v="urn:schemas-microsoft-com:vml" Requires="v">
                <p:oleObj name="Equation" r:id="rId8" imgW="1930320" imgH="241200" progId="Equation.DSMT4">
                  <p:embed/>
                </p:oleObj>
              </mc:Choice>
              <mc:Fallback>
                <p:oleObj name="Equation" r:id="rId8" imgW="1930320" imgH="241200" progId="Equation.DSMT4">
                  <p:embed/>
                  <p:pic>
                    <p:nvPicPr>
                      <p:cNvPr id="0" name=""/>
                      <p:cNvPicPr>
                        <a:picLocks noChangeAspect="1" noChangeArrowheads="1"/>
                      </p:cNvPicPr>
                      <p:nvPr/>
                    </p:nvPicPr>
                    <p:blipFill>
                      <a:blip r:embed="rId9"/>
                      <a:srcRect/>
                      <a:stretch>
                        <a:fillRect/>
                      </a:stretch>
                    </p:blipFill>
                    <p:spPr bwMode="auto">
                      <a:xfrm>
                        <a:off x="2863850" y="5189274"/>
                        <a:ext cx="3416300" cy="427038"/>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Box 5"/>
          <p:cNvSpPr txBox="1"/>
          <p:nvPr/>
        </p:nvSpPr>
        <p:spPr>
          <a:xfrm>
            <a:off x="2784382" y="1241688"/>
            <a:ext cx="980205" cy="400110"/>
          </a:xfrm>
          <a:prstGeom prst="rect">
            <a:avLst/>
          </a:prstGeom>
          <a:noFill/>
        </p:spPr>
        <p:txBody>
          <a:bodyPr wrap="none" rtlCol="0">
            <a:spAutoFit/>
          </a:bodyPr>
          <a:lstStyle/>
          <a:p>
            <a:r>
              <a:rPr lang="en-US" altLang="zh-CN" sz="2000" i="1" dirty="0"/>
              <a:t>PV=</a:t>
            </a:r>
            <a:r>
              <a:rPr lang="en-US" altLang="zh-CN" sz="2000" i="1" dirty="0" err="1"/>
              <a:t>nRT</a:t>
            </a:r>
            <a:endParaRPr lang="zh-CN" altLang="en-US" sz="2000" i="1" dirty="0"/>
          </a:p>
        </p:txBody>
      </p:sp>
      <p:graphicFrame>
        <p:nvGraphicFramePr>
          <p:cNvPr id="8" name="对象 7"/>
          <p:cNvGraphicFramePr>
            <a:graphicFrameLocks noChangeAspect="1"/>
          </p:cNvGraphicFramePr>
          <p:nvPr>
            <p:extLst>
              <p:ext uri="{D42A27DB-BD31-4B8C-83A1-F6EECF244321}">
                <p14:modId xmlns:p14="http://schemas.microsoft.com/office/powerpoint/2010/main" val="423503382"/>
              </p:ext>
            </p:extLst>
          </p:nvPr>
        </p:nvGraphicFramePr>
        <p:xfrm>
          <a:off x="1558128" y="3013012"/>
          <a:ext cx="1144587" cy="638175"/>
        </p:xfrm>
        <a:graphic>
          <a:graphicData uri="http://schemas.openxmlformats.org/presentationml/2006/ole">
            <mc:AlternateContent xmlns:mc="http://schemas.openxmlformats.org/markup-compatibility/2006">
              <mc:Choice xmlns:v="urn:schemas-microsoft-com:vml" Requires="v">
                <p:oleObj name="Equation" r:id="rId10" imgW="774364" imgH="431613" progId="Equation.DSMT4">
                  <p:embed/>
                </p:oleObj>
              </mc:Choice>
              <mc:Fallback>
                <p:oleObj name="Equation" r:id="rId10" imgW="774364" imgH="431613"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58128" y="3013012"/>
                        <a:ext cx="1144587" cy="638175"/>
                      </a:xfrm>
                      <a:prstGeom prst="rect">
                        <a:avLst/>
                      </a:prstGeom>
                      <a:noFill/>
                      <a:ln>
                        <a:noFill/>
                      </a:ln>
                    </p:spPr>
                  </p:pic>
                </p:oleObj>
              </mc:Fallback>
            </mc:AlternateContent>
          </a:graphicData>
        </a:graphic>
      </p:graphicFrame>
      <p:sp>
        <p:nvSpPr>
          <p:cNvPr id="10" name="右大括号 9"/>
          <p:cNvSpPr/>
          <p:nvPr/>
        </p:nvSpPr>
        <p:spPr>
          <a:xfrm>
            <a:off x="2838950" y="2403412"/>
            <a:ext cx="302656" cy="1066800"/>
          </a:xfrm>
          <a:prstGeom prst="rightBrace">
            <a:avLst>
              <a:gd name="adj1" fmla="val 4560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0"/>
          <p:cNvSpPr txBox="1"/>
          <p:nvPr/>
        </p:nvSpPr>
        <p:spPr>
          <a:xfrm>
            <a:off x="618868" y="3994081"/>
            <a:ext cx="7696200" cy="707886"/>
          </a:xfrm>
          <a:prstGeom prst="rect">
            <a:avLst/>
          </a:prstGeom>
          <a:noFill/>
        </p:spPr>
        <p:txBody>
          <a:bodyPr wrap="square" rtlCol="0">
            <a:spAutoFit/>
          </a:bodyPr>
          <a:lstStyle/>
          <a:p>
            <a:r>
              <a:rPr lang="en-US" altLang="zh-CN" sz="2000" dirty="0"/>
              <a:t>The relationship between the pressure and the volume of an idea gas undergoing a reversible adiabatic process</a:t>
            </a:r>
            <a:endParaRPr lang="zh-CN" altLang="en-US" sz="2000" dirty="0"/>
          </a:p>
        </p:txBody>
      </p:sp>
    </p:spTree>
    <p:extLst>
      <p:ext uri="{BB962C8B-B14F-4D97-AF65-F5344CB8AC3E}">
        <p14:creationId xmlns:p14="http://schemas.microsoft.com/office/powerpoint/2010/main" val="1638409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8148"/>
            <a:ext cx="6781800" cy="927101"/>
          </a:xfrm>
        </p:spPr>
        <p:txBody>
          <a:bodyPr>
            <a:normAutofit/>
          </a:bodyPr>
          <a:lstStyle/>
          <a:p>
            <a:pPr algn="l"/>
            <a:r>
              <a:rPr lang="en-US" sz="3200" dirty="0">
                <a:solidFill>
                  <a:srgbClr val="FF0000"/>
                </a:solidFill>
                <a:latin typeface="Arial" charset="0"/>
                <a:cs typeface="Arial" charset="0"/>
              </a:rPr>
              <a:t>Reversible isothermal Process</a:t>
            </a:r>
            <a:endParaRPr lang="en-US" sz="32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graphicFrame>
        <p:nvGraphicFramePr>
          <p:cNvPr id="6" name="对象 5"/>
          <p:cNvGraphicFramePr>
            <a:graphicFrameLocks noChangeAspect="1"/>
          </p:cNvGraphicFramePr>
          <p:nvPr/>
        </p:nvGraphicFramePr>
        <p:xfrm>
          <a:off x="5600700" y="1725613"/>
          <a:ext cx="1853900" cy="417780"/>
        </p:xfrm>
        <a:graphic>
          <a:graphicData uri="http://schemas.openxmlformats.org/presentationml/2006/ole">
            <mc:AlternateContent xmlns:mc="http://schemas.openxmlformats.org/markup-compatibility/2006">
              <mc:Choice xmlns:v="urn:schemas-microsoft-com:vml" Requires="v">
                <p:oleObj name="Equation" r:id="rId2" imgW="901440" imgH="203040" progId="">
                  <p:embed/>
                </p:oleObj>
              </mc:Choice>
              <mc:Fallback>
                <p:oleObj name="Equation" r:id="rId2" imgW="901440" imgH="203040" progId="">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0700" y="1725613"/>
                        <a:ext cx="1853900" cy="4177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4477738" y="2509301"/>
            <a:ext cx="4277325" cy="400110"/>
          </a:xfrm>
          <a:prstGeom prst="rect">
            <a:avLst/>
          </a:prstGeom>
          <a:noFill/>
        </p:spPr>
        <p:txBody>
          <a:bodyPr wrap="none" rtlCol="0">
            <a:spAutoFit/>
          </a:bodyPr>
          <a:lstStyle/>
          <a:p>
            <a:r>
              <a:rPr lang="en-US" altLang="zh-CN" sz="2000" dirty="0" err="1">
                <a:latin typeface="+mn-lt"/>
              </a:rPr>
              <a:t>dT</a:t>
            </a:r>
            <a:r>
              <a:rPr lang="en-US" altLang="zh-CN" sz="2000" dirty="0">
                <a:latin typeface="+mn-lt"/>
              </a:rPr>
              <a:t> = 0 (isothermal process), </a:t>
            </a:r>
            <a:r>
              <a:rPr lang="en-US" altLang="zh-CN" sz="2000" dirty="0" err="1">
                <a:latin typeface="+mn-lt"/>
              </a:rPr>
              <a:t>dU</a:t>
            </a:r>
            <a:r>
              <a:rPr lang="en-US" altLang="zh-CN" sz="2000" dirty="0">
                <a:latin typeface="+mn-lt"/>
              </a:rPr>
              <a:t> = 0 </a:t>
            </a:r>
            <a:endParaRPr lang="zh-CN" altLang="en-US" sz="2000" dirty="0">
              <a:latin typeface="+mn-lt"/>
            </a:endParaRPr>
          </a:p>
        </p:txBody>
      </p:sp>
      <p:pic>
        <p:nvPicPr>
          <p:cNvPr id="368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4325" y="1524000"/>
            <a:ext cx="3800475"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0" name="对象 9"/>
          <p:cNvGraphicFramePr>
            <a:graphicFrameLocks noChangeAspect="1"/>
          </p:cNvGraphicFramePr>
          <p:nvPr/>
        </p:nvGraphicFramePr>
        <p:xfrm>
          <a:off x="5105400" y="3034943"/>
          <a:ext cx="2490478" cy="598487"/>
        </p:xfrm>
        <a:graphic>
          <a:graphicData uri="http://schemas.openxmlformats.org/presentationml/2006/ole">
            <mc:AlternateContent xmlns:mc="http://schemas.openxmlformats.org/markup-compatibility/2006">
              <mc:Choice xmlns:v="urn:schemas-microsoft-com:vml" Requires="v">
                <p:oleObj name="Equation" r:id="rId5" imgW="1638000" imgH="393480" progId="">
                  <p:embed/>
                </p:oleObj>
              </mc:Choice>
              <mc:Fallback>
                <p:oleObj name="Equation" r:id="rId5" imgW="1638000" imgH="39348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3034943"/>
                        <a:ext cx="2490478" cy="598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5029200" y="3785180"/>
          <a:ext cx="2914260" cy="643408"/>
        </p:xfrm>
        <a:graphic>
          <a:graphicData uri="http://schemas.openxmlformats.org/presentationml/2006/ole">
            <mc:AlternateContent xmlns:mc="http://schemas.openxmlformats.org/markup-compatibility/2006">
              <mc:Choice xmlns:v="urn:schemas-microsoft-com:vml" Requires="v">
                <p:oleObj name="Equation" r:id="rId7" imgW="1955520" imgH="431640" progId="Equation.DSMT4">
                  <p:embed/>
                </p:oleObj>
              </mc:Choice>
              <mc:Fallback>
                <p:oleObj name="Equation" r:id="rId7" imgW="1955520" imgH="4316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29200" y="3785180"/>
                        <a:ext cx="2914260" cy="6434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对象 4"/>
          <p:cNvGraphicFramePr>
            <a:graphicFrameLocks noChangeAspect="1"/>
          </p:cNvGraphicFramePr>
          <p:nvPr/>
        </p:nvGraphicFramePr>
        <p:xfrm>
          <a:off x="4717750" y="4993389"/>
          <a:ext cx="3797300" cy="404812"/>
        </p:xfrm>
        <a:graphic>
          <a:graphicData uri="http://schemas.openxmlformats.org/presentationml/2006/ole">
            <mc:AlternateContent xmlns:mc="http://schemas.openxmlformats.org/markup-compatibility/2006">
              <mc:Choice xmlns:v="urn:schemas-microsoft-com:vml" Requires="v">
                <p:oleObj name="Equation" r:id="rId9" imgW="2145960" imgH="228600" progId="Equation.DSMT4">
                  <p:embed/>
                </p:oleObj>
              </mc:Choice>
              <mc:Fallback>
                <p:oleObj name="Equation" r:id="rId9" imgW="2145960" imgH="228600" progId="Equation.DSMT4">
                  <p:embed/>
                  <p:pic>
                    <p:nvPicPr>
                      <p:cNvPr id="0" name=""/>
                      <p:cNvPicPr>
                        <a:picLocks noChangeAspect="1" noChangeArrowheads="1"/>
                      </p:cNvPicPr>
                      <p:nvPr/>
                    </p:nvPicPr>
                    <p:blipFill>
                      <a:blip r:embed="rId10"/>
                      <a:srcRect/>
                      <a:stretch>
                        <a:fillRect/>
                      </a:stretch>
                    </p:blipFill>
                    <p:spPr bwMode="auto">
                      <a:xfrm>
                        <a:off x="4717750" y="4993389"/>
                        <a:ext cx="3797300" cy="40481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32112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920" y="2703731"/>
            <a:ext cx="186690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nvSpPr>
        <p:spPr>
          <a:xfrm>
            <a:off x="2474897" y="1639223"/>
            <a:ext cx="2706703" cy="369332"/>
          </a:xfrm>
          <a:prstGeom prst="rect">
            <a:avLst/>
          </a:prstGeom>
        </p:spPr>
        <p:txBody>
          <a:bodyPr wrap="none">
            <a:spAutoFit/>
          </a:bodyPr>
          <a:lstStyle/>
          <a:p>
            <a:r>
              <a:rPr lang="en-US" altLang="zh-CN" b="1" dirty="0">
                <a:latin typeface="Arial" panose="020B0604020202020204" pitchFamily="34" charset="0"/>
                <a:cs typeface="Arial" panose="020B0604020202020204" pitchFamily="34" charset="0"/>
              </a:rPr>
              <a:t>Constant Volume Proc.</a:t>
            </a:r>
            <a:endParaRPr lang="zh-CN" altLang="en-US" dirty="0"/>
          </a:p>
        </p:txBody>
      </p:sp>
      <p:graphicFrame>
        <p:nvGraphicFramePr>
          <p:cNvPr id="12" name="对象 11"/>
          <p:cNvGraphicFramePr>
            <a:graphicFrameLocks noChangeAspect="1"/>
          </p:cNvGraphicFramePr>
          <p:nvPr>
            <p:extLst>
              <p:ext uri="{D42A27DB-BD31-4B8C-83A1-F6EECF244321}">
                <p14:modId xmlns:p14="http://schemas.microsoft.com/office/powerpoint/2010/main" val="4090706471"/>
              </p:ext>
            </p:extLst>
          </p:nvPr>
        </p:nvGraphicFramePr>
        <p:xfrm>
          <a:off x="287322" y="1612736"/>
          <a:ext cx="1730375" cy="468312"/>
        </p:xfrm>
        <a:graphic>
          <a:graphicData uri="http://schemas.openxmlformats.org/presentationml/2006/ole">
            <mc:AlternateContent xmlns:mc="http://schemas.openxmlformats.org/markup-compatibility/2006">
              <mc:Choice xmlns:v="urn:schemas-microsoft-com:vml" Requires="v">
                <p:oleObj name="公式" r:id="rId3" imgW="736560" imgH="203040" progId="Equation.3">
                  <p:embed/>
                </p:oleObj>
              </mc:Choice>
              <mc:Fallback>
                <p:oleObj name="公式" r:id="rId3" imgW="73656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322" y="1612736"/>
                        <a:ext cx="1730375" cy="468312"/>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p:nvPr/>
        </p:nvSpPr>
        <p:spPr>
          <a:xfrm>
            <a:off x="5668846" y="1516530"/>
            <a:ext cx="1268296" cy="369332"/>
          </a:xfrm>
          <a:prstGeom prst="rect">
            <a:avLst/>
          </a:prstGeom>
          <a:noFill/>
          <a:ln>
            <a:solidFill>
              <a:schemeClr val="accent1"/>
            </a:solidFill>
          </a:ln>
        </p:spPr>
        <p:txBody>
          <a:bodyPr wrap="none" rtlCol="0">
            <a:spAutoFit/>
          </a:bodyPr>
          <a:lstStyle/>
          <a:p>
            <a:r>
              <a:rPr lang="en-US" altLang="zh-CN" dirty="0">
                <a:latin typeface="Times New Roman"/>
                <a:cs typeface="Times New Roman"/>
              </a:rPr>
              <a:t>w=0</a:t>
            </a:r>
            <a:r>
              <a:rPr lang="en-US" altLang="zh-CN" dirty="0"/>
              <a:t>, </a:t>
            </a:r>
            <a:r>
              <a:rPr lang="en-US" altLang="zh-CN" dirty="0">
                <a:latin typeface="Times New Roman"/>
                <a:cs typeface="Times New Roman"/>
              </a:rPr>
              <a:t>q=</a:t>
            </a:r>
            <a:r>
              <a:rPr lang="el-GR" altLang="zh-CN" dirty="0">
                <a:latin typeface="Times New Roman"/>
                <a:cs typeface="Times New Roman"/>
              </a:rPr>
              <a:t>Δ</a:t>
            </a:r>
            <a:r>
              <a:rPr lang="en-US" altLang="zh-CN" dirty="0">
                <a:latin typeface="Times New Roman"/>
                <a:cs typeface="Times New Roman"/>
              </a:rPr>
              <a:t>U</a:t>
            </a:r>
            <a:endParaRPr lang="zh-CN" altLang="en-US" dirty="0"/>
          </a:p>
        </p:txBody>
      </p:sp>
      <p:sp>
        <p:nvSpPr>
          <p:cNvPr id="16" name="矩形 15"/>
          <p:cNvSpPr/>
          <p:nvPr/>
        </p:nvSpPr>
        <p:spPr>
          <a:xfrm>
            <a:off x="2568929" y="2423792"/>
            <a:ext cx="2518638" cy="369332"/>
          </a:xfrm>
          <a:prstGeom prst="rect">
            <a:avLst/>
          </a:prstGeom>
        </p:spPr>
        <p:txBody>
          <a:bodyPr wrap="none">
            <a:spAutoFit/>
          </a:bodyPr>
          <a:lstStyle/>
          <a:p>
            <a:r>
              <a:rPr lang="en-US" altLang="zh-CN" b="1" dirty="0">
                <a:latin typeface="Arial" panose="020B0604020202020204" pitchFamily="34" charset="0"/>
                <a:cs typeface="Arial" panose="020B0604020202020204" pitchFamily="34" charset="0"/>
              </a:rPr>
              <a:t>Constant Press Proc.</a:t>
            </a:r>
            <a:endParaRPr lang="zh-CN" altLang="en-US" dirty="0"/>
          </a:p>
        </p:txBody>
      </p:sp>
      <p:sp>
        <p:nvSpPr>
          <p:cNvPr id="18" name="矩形 17"/>
          <p:cNvSpPr/>
          <p:nvPr/>
        </p:nvSpPr>
        <p:spPr>
          <a:xfrm>
            <a:off x="5674101" y="2065228"/>
            <a:ext cx="1859805" cy="646331"/>
          </a:xfrm>
          <a:prstGeom prst="rect">
            <a:avLst/>
          </a:prstGeom>
          <a:noFill/>
          <a:ln>
            <a:solidFill>
              <a:schemeClr val="accent1"/>
            </a:solidFill>
          </a:ln>
        </p:spPr>
        <p:txBody>
          <a:bodyPr wrap="none">
            <a:spAutoFit/>
          </a:bodyPr>
          <a:lstStyle/>
          <a:p>
            <a:r>
              <a:rPr lang="en-US" altLang="zh-CN" dirty="0"/>
              <a:t>w=P(V</a:t>
            </a:r>
            <a:r>
              <a:rPr lang="en-US" altLang="zh-CN" baseline="-25000" dirty="0"/>
              <a:t>2</a:t>
            </a:r>
            <a:r>
              <a:rPr lang="en-US" altLang="zh-CN" dirty="0"/>
              <a:t>-V</a:t>
            </a:r>
            <a:r>
              <a:rPr lang="en-US" altLang="zh-CN" baseline="-25000" dirty="0"/>
              <a:t>1</a:t>
            </a:r>
            <a:r>
              <a:rPr lang="en-US" altLang="zh-CN" dirty="0"/>
              <a:t>),</a:t>
            </a:r>
            <a:endParaRPr lang="zh-CN" altLang="en-US" dirty="0"/>
          </a:p>
          <a:p>
            <a:r>
              <a:rPr lang="en-US" altLang="zh-CN" dirty="0"/>
              <a:t>q – P(V</a:t>
            </a:r>
            <a:r>
              <a:rPr lang="en-US" altLang="zh-CN" baseline="-25000" dirty="0"/>
              <a:t>2</a:t>
            </a:r>
            <a:r>
              <a:rPr lang="en-US" altLang="zh-CN" dirty="0"/>
              <a:t> – V</a:t>
            </a:r>
            <a:r>
              <a:rPr lang="en-US" altLang="zh-CN" baseline="-25000" dirty="0"/>
              <a:t>1</a:t>
            </a:r>
            <a:r>
              <a:rPr lang="en-US" altLang="zh-CN" dirty="0"/>
              <a:t>)=</a:t>
            </a:r>
            <a:r>
              <a:rPr lang="el-GR" altLang="zh-CN" dirty="0">
                <a:latin typeface="Times New Roman"/>
                <a:cs typeface="Times New Roman"/>
              </a:rPr>
              <a:t>Δ</a:t>
            </a:r>
            <a:r>
              <a:rPr lang="en-US" altLang="zh-CN" dirty="0">
                <a:latin typeface="Times New Roman"/>
                <a:cs typeface="Times New Roman"/>
              </a:rPr>
              <a:t>U</a:t>
            </a:r>
            <a:endParaRPr lang="en-US" altLang="zh-CN" dirty="0"/>
          </a:p>
        </p:txBody>
      </p:sp>
      <p:graphicFrame>
        <p:nvGraphicFramePr>
          <p:cNvPr id="17" name="对象 16"/>
          <p:cNvGraphicFramePr>
            <a:graphicFrameLocks noChangeAspect="1"/>
          </p:cNvGraphicFramePr>
          <p:nvPr>
            <p:extLst>
              <p:ext uri="{D42A27DB-BD31-4B8C-83A1-F6EECF244321}">
                <p14:modId xmlns:p14="http://schemas.microsoft.com/office/powerpoint/2010/main" val="46107241"/>
              </p:ext>
            </p:extLst>
          </p:nvPr>
        </p:nvGraphicFramePr>
        <p:xfrm>
          <a:off x="5674101" y="2805409"/>
          <a:ext cx="2646363" cy="1019175"/>
        </p:xfrm>
        <a:graphic>
          <a:graphicData uri="http://schemas.openxmlformats.org/presentationml/2006/ole">
            <mc:AlternateContent xmlns:mc="http://schemas.openxmlformats.org/markup-compatibility/2006">
              <mc:Choice xmlns:v="urn:schemas-microsoft-com:vml" Requires="v">
                <p:oleObj name="Equation" r:id="rId5" imgW="1714320" imgH="660240" progId="Equation.DSMT4">
                  <p:embed/>
                </p:oleObj>
              </mc:Choice>
              <mc:Fallback>
                <p:oleObj name="Equation" r:id="rId5" imgW="1714320" imgH="660240" progId="Equation.DSMT4">
                  <p:embed/>
                  <p:pic>
                    <p:nvPicPr>
                      <p:cNvPr id="0" name=""/>
                      <p:cNvPicPr>
                        <a:picLocks noChangeAspect="1" noChangeArrowheads="1"/>
                      </p:cNvPicPr>
                      <p:nvPr/>
                    </p:nvPicPr>
                    <p:blipFill>
                      <a:blip r:embed="rId6"/>
                      <a:srcRect/>
                      <a:stretch>
                        <a:fillRect/>
                      </a:stretch>
                    </p:blipFill>
                    <p:spPr bwMode="auto">
                      <a:xfrm>
                        <a:off x="5674101" y="2805409"/>
                        <a:ext cx="2646363" cy="1019175"/>
                      </a:xfrm>
                      <a:prstGeom prst="rect">
                        <a:avLst/>
                      </a:prstGeom>
                      <a:noFill/>
                      <a:ln>
                        <a:solidFill>
                          <a:schemeClr val="accent1"/>
                        </a:solidFill>
                      </a:ln>
                    </p:spPr>
                  </p:pic>
                </p:oleObj>
              </mc:Fallback>
            </mc:AlternateContent>
          </a:graphicData>
        </a:graphic>
      </p:graphicFrame>
      <p:sp>
        <p:nvSpPr>
          <p:cNvPr id="19" name="矩形 18"/>
          <p:cNvSpPr/>
          <p:nvPr/>
        </p:nvSpPr>
        <p:spPr>
          <a:xfrm>
            <a:off x="2519567" y="3208361"/>
            <a:ext cx="3087127" cy="369332"/>
          </a:xfrm>
          <a:prstGeom prst="rect">
            <a:avLst/>
          </a:prstGeom>
        </p:spPr>
        <p:txBody>
          <a:bodyPr wrap="none">
            <a:spAutoFit/>
          </a:bodyPr>
          <a:lstStyle/>
          <a:p>
            <a:r>
              <a:rPr lang="en-US" altLang="zh-CN" b="1" dirty="0">
                <a:effectLst>
                  <a:outerShdw blurRad="38100" dist="38100" dir="2700000" algn="tl">
                    <a:srgbClr val="000000">
                      <a:alpha val="43137"/>
                    </a:srgbClr>
                  </a:outerShdw>
                </a:effectLst>
                <a:latin typeface="Arial" charset="0"/>
                <a:cs typeface="Arial" charset="0"/>
              </a:rPr>
              <a:t>Reversible Adiabatic Proc.</a:t>
            </a:r>
            <a:endParaRPr lang="zh-CN" altLang="en-US" dirty="0"/>
          </a:p>
        </p:txBody>
      </p:sp>
      <p:sp>
        <p:nvSpPr>
          <p:cNvPr id="22" name="矩形 21"/>
          <p:cNvSpPr/>
          <p:nvPr/>
        </p:nvSpPr>
        <p:spPr>
          <a:xfrm>
            <a:off x="2522383" y="4038600"/>
            <a:ext cx="3223959" cy="369332"/>
          </a:xfrm>
          <a:prstGeom prst="rect">
            <a:avLst/>
          </a:prstGeom>
        </p:spPr>
        <p:txBody>
          <a:bodyPr wrap="none">
            <a:spAutoFit/>
          </a:bodyPr>
          <a:lstStyle/>
          <a:p>
            <a:r>
              <a:rPr lang="en-US" altLang="zh-CN" b="1" dirty="0">
                <a:effectLst>
                  <a:outerShdw blurRad="38100" dist="38100" dir="2700000" algn="tl">
                    <a:srgbClr val="000000">
                      <a:alpha val="43137"/>
                    </a:srgbClr>
                  </a:outerShdw>
                </a:effectLst>
                <a:latin typeface="Arial" charset="0"/>
                <a:cs typeface="Arial" charset="0"/>
              </a:rPr>
              <a:t>Reversible Isothermal Proc.</a:t>
            </a:r>
            <a:endParaRPr lang="zh-CN" altLang="en-US" dirty="0"/>
          </a:p>
        </p:txBody>
      </p:sp>
      <p:graphicFrame>
        <p:nvGraphicFramePr>
          <p:cNvPr id="24" name="对象 23"/>
          <p:cNvGraphicFramePr>
            <a:graphicFrameLocks noChangeAspect="1"/>
          </p:cNvGraphicFramePr>
          <p:nvPr/>
        </p:nvGraphicFramePr>
        <p:xfrm>
          <a:off x="5695950" y="3962400"/>
          <a:ext cx="2914650" cy="985837"/>
        </p:xfrm>
        <a:graphic>
          <a:graphicData uri="http://schemas.openxmlformats.org/presentationml/2006/ole">
            <mc:AlternateContent xmlns:mc="http://schemas.openxmlformats.org/markup-compatibility/2006">
              <mc:Choice xmlns:v="urn:schemas-microsoft-com:vml" Requires="v">
                <p:oleObj name="Equation" r:id="rId7" imgW="1955520" imgH="660240" progId="Equation.DSMT4">
                  <p:embed/>
                </p:oleObj>
              </mc:Choice>
              <mc:Fallback>
                <p:oleObj name="Equation" r:id="rId7" imgW="1955520" imgH="660240" progId="Equation.DSMT4">
                  <p:embed/>
                  <p:pic>
                    <p:nvPicPr>
                      <p:cNvPr id="0" name=""/>
                      <p:cNvPicPr>
                        <a:picLocks noChangeAspect="1" noChangeArrowheads="1"/>
                      </p:cNvPicPr>
                      <p:nvPr/>
                    </p:nvPicPr>
                    <p:blipFill>
                      <a:blip r:embed="rId8"/>
                      <a:srcRect/>
                      <a:stretch>
                        <a:fillRect/>
                      </a:stretch>
                    </p:blipFill>
                    <p:spPr bwMode="auto">
                      <a:xfrm>
                        <a:off x="5695950" y="3962400"/>
                        <a:ext cx="2914650" cy="985837"/>
                      </a:xfrm>
                      <a:prstGeom prst="rect">
                        <a:avLst/>
                      </a:prstGeom>
                      <a:noFill/>
                      <a:ln>
                        <a:solidFill>
                          <a:schemeClr val="accent1"/>
                        </a:solidFill>
                      </a:ln>
                    </p:spPr>
                  </p:pic>
                </p:oleObj>
              </mc:Fallback>
            </mc:AlternateContent>
          </a:graphicData>
        </a:graphic>
      </p:graphicFrame>
      <p:sp>
        <p:nvSpPr>
          <p:cNvPr id="25" name="TextBox 24"/>
          <p:cNvSpPr txBox="1"/>
          <p:nvPr/>
        </p:nvSpPr>
        <p:spPr>
          <a:xfrm>
            <a:off x="1250206" y="5148559"/>
            <a:ext cx="6248399" cy="830997"/>
          </a:xfrm>
          <a:prstGeom prst="rect">
            <a:avLst/>
          </a:prstGeom>
          <a:noFill/>
        </p:spPr>
        <p:txBody>
          <a:bodyPr wrap="square" rtlCol="0">
            <a:spAutoFit/>
          </a:bodyPr>
          <a:lstStyle/>
          <a:p>
            <a:pPr algn="ctr"/>
            <a:r>
              <a:rPr lang="en-US" altLang="zh-CN" sz="2400" b="1" dirty="0">
                <a:solidFill>
                  <a:srgbClr val="0000FF"/>
                </a:solidFill>
              </a:rPr>
              <a:t>The amount of work generated from the heat highly depends on the process  </a:t>
            </a:r>
            <a:endParaRPr lang="zh-CN" altLang="en-US" sz="2400" b="1" dirty="0">
              <a:solidFill>
                <a:srgbClr val="0000FF"/>
              </a:solidFill>
            </a:endParaRPr>
          </a:p>
        </p:txBody>
      </p:sp>
      <p:sp>
        <p:nvSpPr>
          <p:cNvPr id="26" name="TextBox 25"/>
          <p:cNvSpPr txBox="1"/>
          <p:nvPr/>
        </p:nvSpPr>
        <p:spPr>
          <a:xfrm>
            <a:off x="253920" y="6077247"/>
            <a:ext cx="8217058" cy="400110"/>
          </a:xfrm>
          <a:prstGeom prst="rect">
            <a:avLst/>
          </a:prstGeom>
          <a:noFill/>
        </p:spPr>
        <p:txBody>
          <a:bodyPr wrap="none" rtlCol="0">
            <a:spAutoFit/>
          </a:bodyPr>
          <a:lstStyle/>
          <a:p>
            <a:r>
              <a:rPr lang="en-US" altLang="zh-CN" sz="2000" b="1" dirty="0">
                <a:solidFill>
                  <a:srgbClr val="FF0000"/>
                </a:solidFill>
              </a:rPr>
              <a:t>What’s the nature of the process involving the transfer from heat to work?</a:t>
            </a:r>
            <a:endParaRPr lang="zh-CN" altLang="en-US" sz="2000" b="1" dirty="0">
              <a:solidFill>
                <a:srgbClr val="FF0000"/>
              </a:solidFill>
            </a:endParaRPr>
          </a:p>
        </p:txBody>
      </p:sp>
      <p:sp>
        <p:nvSpPr>
          <p:cNvPr id="27" name="矩形 26"/>
          <p:cNvSpPr/>
          <p:nvPr/>
        </p:nvSpPr>
        <p:spPr>
          <a:xfrm>
            <a:off x="91909" y="21154"/>
            <a:ext cx="2430474" cy="584775"/>
          </a:xfrm>
          <a:prstGeom prst="rect">
            <a:avLst/>
          </a:prstGeom>
        </p:spPr>
        <p:txBody>
          <a:bodyPr wrap="none">
            <a:spAutoFit/>
          </a:bodyPr>
          <a:lstStyle/>
          <a:p>
            <a:r>
              <a:rPr lang="en-US" altLang="zh-CN" sz="3200" dirty="0">
                <a:solidFill>
                  <a:srgbClr val="FF0000"/>
                </a:solidFill>
                <a:latin typeface="Arial Unicode MS" pitchFamily="34" charset="-122"/>
                <a:ea typeface="Arial Unicode MS" pitchFamily="34" charset="-122"/>
                <a:cs typeface="Arial Unicode MS" pitchFamily="34" charset="-122"/>
              </a:rPr>
              <a:t>Comparison</a:t>
            </a:r>
            <a:endParaRPr lang="zh-CN" altLang="en-US" sz="3200"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4019616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3824" y="1641624"/>
            <a:ext cx="1867848" cy="1322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p:cNvSpPr txBox="1"/>
          <p:nvPr/>
        </p:nvSpPr>
        <p:spPr>
          <a:xfrm>
            <a:off x="350391" y="3826640"/>
            <a:ext cx="1024639" cy="369332"/>
          </a:xfrm>
          <a:prstGeom prst="rect">
            <a:avLst/>
          </a:prstGeom>
          <a:noFill/>
        </p:spPr>
        <p:txBody>
          <a:bodyPr wrap="none" rtlCol="0">
            <a:spAutoFit/>
          </a:bodyPr>
          <a:lstStyle/>
          <a:p>
            <a:r>
              <a:rPr lang="en-US" altLang="zh-CN" dirty="0" err="1">
                <a:latin typeface="Arial Unicode MS" pitchFamily="34" charset="-122"/>
                <a:ea typeface="Arial Unicode MS" pitchFamily="34" charset="-122"/>
                <a:cs typeface="Arial Unicode MS" pitchFamily="34" charset="-122"/>
              </a:rPr>
              <a:t>δw</a:t>
            </a:r>
            <a:r>
              <a:rPr lang="en-US" altLang="zh-CN" dirty="0">
                <a:latin typeface="Arial Unicode MS" pitchFamily="34" charset="-122"/>
                <a:ea typeface="Arial Unicode MS" pitchFamily="34" charset="-122"/>
                <a:cs typeface="Arial Unicode MS" pitchFamily="34" charset="-122"/>
              </a:rPr>
              <a:t>=</a:t>
            </a:r>
            <a:r>
              <a:rPr lang="en-US" altLang="zh-CN" dirty="0" err="1">
                <a:latin typeface="Arial Unicode MS" pitchFamily="34" charset="-122"/>
                <a:ea typeface="Arial Unicode MS" pitchFamily="34" charset="-122"/>
                <a:cs typeface="Arial Unicode MS" pitchFamily="34" charset="-122"/>
              </a:rPr>
              <a:t>pdV</a:t>
            </a:r>
            <a:endParaRPr lang="zh-CN" altLang="en-US" dirty="0">
              <a:latin typeface="Arial Unicode MS" pitchFamily="34" charset="-122"/>
              <a:ea typeface="Arial Unicode MS" pitchFamily="34" charset="-122"/>
              <a:cs typeface="Arial Unicode MS" pitchFamily="34" charset="-122"/>
            </a:endParaRPr>
          </a:p>
        </p:txBody>
      </p:sp>
      <p:sp>
        <p:nvSpPr>
          <p:cNvPr id="12" name="TextBox 11"/>
          <p:cNvSpPr txBox="1"/>
          <p:nvPr/>
        </p:nvSpPr>
        <p:spPr>
          <a:xfrm>
            <a:off x="281778" y="3286087"/>
            <a:ext cx="3159839" cy="369332"/>
          </a:xfrm>
          <a:prstGeom prst="rect">
            <a:avLst/>
          </a:prstGeom>
          <a:noFill/>
        </p:spPr>
        <p:txBody>
          <a:bodyPr wrap="none" rtlCol="0">
            <a:spAutoFit/>
          </a:bodyPr>
          <a:lstStyle/>
          <a:p>
            <a:r>
              <a:rPr lang="en-US" altLang="zh-CN" dirty="0">
                <a:latin typeface="Arial Unicode MS" pitchFamily="34" charset="-122"/>
                <a:ea typeface="Arial Unicode MS" pitchFamily="34" charset="-122"/>
                <a:cs typeface="Arial Unicode MS" pitchFamily="34" charset="-122"/>
              </a:rPr>
              <a:t>Mechanical work, or PV work</a:t>
            </a:r>
            <a:endParaRPr lang="zh-CN" altLang="en-US" dirty="0">
              <a:latin typeface="Arial Unicode MS" pitchFamily="34" charset="-122"/>
              <a:ea typeface="Arial Unicode MS" pitchFamily="34" charset="-122"/>
              <a:cs typeface="Arial Unicode MS" pitchFamily="34" charset="-122"/>
            </a:endParaRPr>
          </a:p>
        </p:txBody>
      </p:sp>
      <p:sp>
        <p:nvSpPr>
          <p:cNvPr id="13" name="圆角矩形 12"/>
          <p:cNvSpPr/>
          <p:nvPr/>
        </p:nvSpPr>
        <p:spPr>
          <a:xfrm>
            <a:off x="76200" y="1608642"/>
            <a:ext cx="4876800" cy="3327173"/>
          </a:xfrm>
          <a:prstGeom prst="roundRect">
            <a:avLst>
              <a:gd name="adj" fmla="val 5592"/>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Unicode MS" pitchFamily="34" charset="-122"/>
              <a:ea typeface="Arial Unicode MS" pitchFamily="34" charset="-122"/>
              <a:cs typeface="Arial Unicode MS" pitchFamily="34" charset="-122"/>
            </a:endParaRPr>
          </a:p>
        </p:txBody>
      </p:sp>
      <p:sp>
        <p:nvSpPr>
          <p:cNvPr id="14" name="TextBox 13"/>
          <p:cNvSpPr txBox="1"/>
          <p:nvPr/>
        </p:nvSpPr>
        <p:spPr>
          <a:xfrm>
            <a:off x="228600" y="4173815"/>
            <a:ext cx="4349111" cy="646331"/>
          </a:xfrm>
          <a:prstGeom prst="rect">
            <a:avLst/>
          </a:prstGeom>
          <a:noFill/>
        </p:spPr>
        <p:txBody>
          <a:bodyPr wrap="square" rtlCol="0">
            <a:spAutoFit/>
          </a:bodyPr>
          <a:lstStyle/>
          <a:p>
            <a:r>
              <a:rPr lang="en-US" altLang="zh-CN" dirty="0">
                <a:latin typeface="Arial Unicode MS" pitchFamily="34" charset="-122"/>
                <a:ea typeface="Arial Unicode MS" pitchFamily="34" charset="-122"/>
                <a:cs typeface="Arial Unicode MS" pitchFamily="34" charset="-122"/>
              </a:rPr>
              <a:t>The system with only PV works is also called simple system</a:t>
            </a:r>
            <a:endParaRPr lang="zh-CN" altLang="en-US" dirty="0">
              <a:latin typeface="Arial Unicode MS" pitchFamily="34" charset="-122"/>
              <a:ea typeface="Arial Unicode MS" pitchFamily="34" charset="-122"/>
              <a:cs typeface="Arial Unicode MS" pitchFamily="34" charset="-122"/>
            </a:endParaRPr>
          </a:p>
        </p:txBody>
      </p:sp>
      <p:sp>
        <p:nvSpPr>
          <p:cNvPr id="15" name="矩形 14"/>
          <p:cNvSpPr/>
          <p:nvPr/>
        </p:nvSpPr>
        <p:spPr>
          <a:xfrm>
            <a:off x="350391" y="2274377"/>
            <a:ext cx="1560042" cy="369332"/>
          </a:xfrm>
          <a:prstGeom prst="rect">
            <a:avLst/>
          </a:prstGeom>
        </p:spPr>
        <p:txBody>
          <a:bodyPr wrap="none">
            <a:spAutoFit/>
          </a:bodyPr>
          <a:lstStyle/>
          <a:p>
            <a:r>
              <a:rPr lang="en-US" altLang="zh-CN" b="1" dirty="0" err="1">
                <a:solidFill>
                  <a:srgbClr val="000000"/>
                </a:solidFill>
                <a:latin typeface="Arial Unicode MS" pitchFamily="34" charset="-122"/>
                <a:ea typeface="Arial Unicode MS" pitchFamily="34" charset="-122"/>
                <a:cs typeface="Arial Unicode MS" pitchFamily="34" charset="-122"/>
                <a:sym typeface="Symbol" panose="05050102010706020507" pitchFamily="18" charset="2"/>
              </a:rPr>
              <a:t>d</a:t>
            </a:r>
            <a:r>
              <a:rPr lang="en-US" altLang="zh-CN" b="1" dirty="0" err="1">
                <a:solidFill>
                  <a:srgbClr val="000000"/>
                </a:solidFill>
                <a:latin typeface="Arial Unicode MS" pitchFamily="34" charset="-122"/>
                <a:ea typeface="Arial Unicode MS" pitchFamily="34" charset="-122"/>
                <a:cs typeface="Arial Unicode MS" pitchFamily="34" charset="-122"/>
              </a:rPr>
              <a:t>U</a:t>
            </a:r>
            <a:r>
              <a:rPr lang="en-US" altLang="zh-CN" b="1" dirty="0">
                <a:solidFill>
                  <a:srgbClr val="000000"/>
                </a:solidFill>
                <a:latin typeface="Arial Unicode MS" pitchFamily="34" charset="-122"/>
                <a:ea typeface="Arial Unicode MS" pitchFamily="34" charset="-122"/>
                <a:cs typeface="Arial Unicode MS" pitchFamily="34" charset="-122"/>
              </a:rPr>
              <a:t> = </a:t>
            </a:r>
            <a:r>
              <a:rPr lang="en-US" altLang="zh-CN" b="1" dirty="0">
                <a:solidFill>
                  <a:srgbClr val="000000"/>
                </a:solidFill>
                <a:latin typeface="Arial Unicode MS" pitchFamily="34" charset="-122"/>
                <a:ea typeface="Arial Unicode MS" pitchFamily="34" charset="-122"/>
                <a:cs typeface="Arial Unicode MS" pitchFamily="34" charset="-122"/>
                <a:sym typeface="Symbol" panose="05050102010706020507" pitchFamily="18" charset="2"/>
              </a:rPr>
              <a:t></a:t>
            </a:r>
            <a:r>
              <a:rPr lang="en-US" altLang="zh-CN" b="1" dirty="0">
                <a:solidFill>
                  <a:srgbClr val="000000"/>
                </a:solidFill>
                <a:latin typeface="Arial Unicode MS" pitchFamily="34" charset="-122"/>
                <a:ea typeface="Arial Unicode MS" pitchFamily="34" charset="-122"/>
                <a:cs typeface="Arial Unicode MS" pitchFamily="34" charset="-122"/>
              </a:rPr>
              <a:t>q – </a:t>
            </a:r>
            <a:r>
              <a:rPr lang="en-US" altLang="zh-CN" b="1" dirty="0">
                <a:solidFill>
                  <a:srgbClr val="000000"/>
                </a:solidFill>
                <a:latin typeface="Arial Unicode MS" pitchFamily="34" charset="-122"/>
                <a:ea typeface="Arial Unicode MS" pitchFamily="34" charset="-122"/>
                <a:cs typeface="Arial Unicode MS" pitchFamily="34" charset="-122"/>
                <a:sym typeface="Symbol" panose="05050102010706020507" pitchFamily="18" charset="2"/>
              </a:rPr>
              <a:t></a:t>
            </a:r>
            <a:r>
              <a:rPr lang="en-US" altLang="zh-CN" b="1" dirty="0">
                <a:solidFill>
                  <a:srgbClr val="000000"/>
                </a:solidFill>
                <a:latin typeface="Arial Unicode MS" pitchFamily="34" charset="-122"/>
                <a:ea typeface="Arial Unicode MS" pitchFamily="34" charset="-122"/>
                <a:cs typeface="Arial Unicode MS" pitchFamily="34" charset="-122"/>
              </a:rPr>
              <a:t>w</a:t>
            </a:r>
          </a:p>
        </p:txBody>
      </p:sp>
      <p:graphicFrame>
        <p:nvGraphicFramePr>
          <p:cNvPr id="17" name="对象 16"/>
          <p:cNvGraphicFramePr>
            <a:graphicFrameLocks noChangeAspect="1"/>
          </p:cNvGraphicFramePr>
          <p:nvPr>
            <p:extLst>
              <p:ext uri="{D42A27DB-BD31-4B8C-83A1-F6EECF244321}">
                <p14:modId xmlns:p14="http://schemas.microsoft.com/office/powerpoint/2010/main" val="2755603573"/>
              </p:ext>
            </p:extLst>
          </p:nvPr>
        </p:nvGraphicFramePr>
        <p:xfrm>
          <a:off x="4394200" y="2599015"/>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0" name=""/>
                      <p:cNvPicPr/>
                      <p:nvPr/>
                    </p:nvPicPr>
                    <p:blipFill>
                      <a:blip r:embed="rId4"/>
                      <a:stretch>
                        <a:fillRect/>
                      </a:stretch>
                    </p:blipFill>
                    <p:spPr>
                      <a:xfrm>
                        <a:off x="4394200" y="2599015"/>
                        <a:ext cx="914400" cy="198438"/>
                      </a:xfrm>
                      <a:prstGeom prst="rect">
                        <a:avLst/>
                      </a:prstGeom>
                    </p:spPr>
                  </p:pic>
                </p:oleObj>
              </mc:Fallback>
            </mc:AlternateContent>
          </a:graphicData>
        </a:graphic>
      </p:graphicFrame>
      <p:sp>
        <p:nvSpPr>
          <p:cNvPr id="18" name="TextBox 17"/>
          <p:cNvSpPr txBox="1"/>
          <p:nvPr/>
        </p:nvSpPr>
        <p:spPr>
          <a:xfrm>
            <a:off x="175453" y="100379"/>
            <a:ext cx="5386411" cy="523220"/>
          </a:xfrm>
          <a:prstGeom prst="rect">
            <a:avLst/>
          </a:prstGeom>
          <a:noFill/>
        </p:spPr>
        <p:txBody>
          <a:bodyPr wrap="none" rtlCol="0">
            <a:spAutoFit/>
          </a:bodyPr>
          <a:lstStyle/>
          <a:p>
            <a:r>
              <a:rPr lang="en-US" altLang="zh-CN" sz="2800" dirty="0">
                <a:solidFill>
                  <a:srgbClr val="FF0000"/>
                </a:solidFill>
                <a:latin typeface="Arial Unicode MS" pitchFamily="34" charset="-122"/>
                <a:ea typeface="Arial Unicode MS" pitchFamily="34" charset="-122"/>
                <a:cs typeface="Arial Unicode MS" pitchFamily="34" charset="-122"/>
              </a:rPr>
              <a:t>General form of the 1</a:t>
            </a:r>
            <a:r>
              <a:rPr lang="en-US" altLang="zh-CN" sz="2800" baseline="30000" dirty="0">
                <a:solidFill>
                  <a:srgbClr val="FF0000"/>
                </a:solidFill>
                <a:latin typeface="Arial Unicode MS" pitchFamily="34" charset="-122"/>
                <a:ea typeface="Arial Unicode MS" pitchFamily="34" charset="-122"/>
                <a:cs typeface="Arial Unicode MS" pitchFamily="34" charset="-122"/>
              </a:rPr>
              <a:t>st</a:t>
            </a:r>
            <a:r>
              <a:rPr lang="en-US" altLang="zh-CN" sz="2800" dirty="0">
                <a:solidFill>
                  <a:srgbClr val="FF0000"/>
                </a:solidFill>
                <a:latin typeface="Arial Unicode MS" pitchFamily="34" charset="-122"/>
                <a:ea typeface="Arial Unicode MS" pitchFamily="34" charset="-122"/>
                <a:cs typeface="Arial Unicode MS" pitchFamily="34" charset="-122"/>
              </a:rPr>
              <a:t> law of TD</a:t>
            </a:r>
            <a:endParaRPr lang="zh-CN" altLang="en-US" sz="2800" dirty="0">
              <a:solidFill>
                <a:srgbClr val="FF0000"/>
              </a:solidFill>
              <a:latin typeface="Arial Unicode MS" pitchFamily="34" charset="-122"/>
              <a:ea typeface="Arial Unicode MS" pitchFamily="34" charset="-122"/>
              <a:cs typeface="Arial Unicode MS" pitchFamily="34" charset="-122"/>
            </a:endParaRPr>
          </a:p>
        </p:txBody>
      </p:sp>
      <p:pic>
        <p:nvPicPr>
          <p:cNvPr id="5017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51339" y="1527888"/>
            <a:ext cx="2598223" cy="93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9" name="TextBox 18"/>
          <p:cNvSpPr txBox="1"/>
          <p:nvPr/>
        </p:nvSpPr>
        <p:spPr>
          <a:xfrm>
            <a:off x="5561864" y="2500351"/>
            <a:ext cx="3288080" cy="646331"/>
          </a:xfrm>
          <a:prstGeom prst="rect">
            <a:avLst/>
          </a:prstGeom>
          <a:noFill/>
        </p:spPr>
        <p:txBody>
          <a:bodyPr wrap="none" rtlCol="0">
            <a:spAutoFit/>
          </a:bodyPr>
          <a:lstStyle/>
          <a:p>
            <a:r>
              <a:rPr lang="en-US" altLang="zh-CN" dirty="0">
                <a:latin typeface="Arial Unicode MS" pitchFamily="34" charset="-122"/>
                <a:ea typeface="Arial Unicode MS" pitchFamily="34" charset="-122"/>
                <a:cs typeface="Arial Unicode MS" pitchFamily="34" charset="-122"/>
              </a:rPr>
              <a:t>A positive </a:t>
            </a:r>
            <a:r>
              <a:rPr lang="el-GR" altLang="zh-CN" dirty="0">
                <a:latin typeface="Arial Unicode MS" pitchFamily="34" charset="-122"/>
                <a:ea typeface="Arial Unicode MS" pitchFamily="34" charset="-122"/>
                <a:cs typeface="Arial Unicode MS" pitchFamily="34" charset="-122"/>
              </a:rPr>
              <a:t>δ</a:t>
            </a:r>
            <a:r>
              <a:rPr lang="en-US" altLang="zh-CN" dirty="0">
                <a:latin typeface="Arial Unicode MS" pitchFamily="34" charset="-122"/>
                <a:ea typeface="Arial Unicode MS" pitchFamily="34" charset="-122"/>
                <a:cs typeface="Arial Unicode MS" pitchFamily="34" charset="-122"/>
              </a:rPr>
              <a:t>w’ means the work</a:t>
            </a:r>
          </a:p>
          <a:p>
            <a:r>
              <a:rPr lang="en-US" altLang="zh-CN" dirty="0">
                <a:latin typeface="Arial Unicode MS" pitchFamily="34" charset="-122"/>
                <a:ea typeface="Arial Unicode MS" pitchFamily="34" charset="-122"/>
                <a:cs typeface="Arial Unicode MS" pitchFamily="34" charset="-122"/>
              </a:rPr>
              <a:t>done </a:t>
            </a:r>
            <a:r>
              <a:rPr lang="en-US" altLang="zh-CN" i="1" dirty="0">
                <a:latin typeface="Arial Unicode MS" pitchFamily="34" charset="-122"/>
                <a:ea typeface="Arial Unicode MS" pitchFamily="34" charset="-122"/>
                <a:cs typeface="Arial Unicode MS" pitchFamily="34" charset="-122"/>
              </a:rPr>
              <a:t>by </a:t>
            </a:r>
            <a:r>
              <a:rPr lang="en-US" altLang="zh-CN" dirty="0">
                <a:latin typeface="Arial Unicode MS" pitchFamily="34" charset="-122"/>
                <a:ea typeface="Arial Unicode MS" pitchFamily="34" charset="-122"/>
                <a:cs typeface="Arial Unicode MS" pitchFamily="34" charset="-122"/>
              </a:rPr>
              <a:t>the system.</a:t>
            </a:r>
            <a:endParaRPr lang="zh-CN" altLang="en-US" dirty="0">
              <a:latin typeface="Arial Unicode MS" pitchFamily="34" charset="-122"/>
              <a:ea typeface="Arial Unicode MS" pitchFamily="34" charset="-122"/>
              <a:cs typeface="Arial Unicode MS" pitchFamily="34" charset="-122"/>
            </a:endParaRPr>
          </a:p>
        </p:txBody>
      </p:sp>
      <p:sp>
        <p:nvSpPr>
          <p:cNvPr id="20" name="矩形 19"/>
          <p:cNvSpPr/>
          <p:nvPr/>
        </p:nvSpPr>
        <p:spPr>
          <a:xfrm>
            <a:off x="5561864" y="3360116"/>
            <a:ext cx="3505936" cy="2031325"/>
          </a:xfrm>
          <a:prstGeom prst="rect">
            <a:avLst/>
          </a:prstGeom>
        </p:spPr>
        <p:txBody>
          <a:bodyPr wrap="square">
            <a:spAutoFit/>
          </a:bodyPr>
          <a:lstStyle/>
          <a:p>
            <a:pPr marL="285750" indent="-285750">
              <a:buFont typeface="Wingdings" panose="05000000000000000000" pitchFamily="2" charset="2"/>
              <a:buChar char="ü"/>
            </a:pPr>
            <a:r>
              <a:rPr lang="en-US" altLang="zh-CN" b="1" dirty="0">
                <a:latin typeface="Arial Unicode MS" pitchFamily="34" charset="-122"/>
                <a:ea typeface="Arial Unicode MS" pitchFamily="34" charset="-122"/>
                <a:cs typeface="Arial Unicode MS" pitchFamily="34" charset="-122"/>
              </a:rPr>
              <a:t>Magnetic Work</a:t>
            </a:r>
          </a:p>
          <a:p>
            <a:r>
              <a:rPr lang="en-US" altLang="zh-CN" dirty="0">
                <a:latin typeface="Arial Unicode MS" pitchFamily="34" charset="-122"/>
                <a:ea typeface="Arial Unicode MS" pitchFamily="34" charset="-122"/>
                <a:cs typeface="Arial Unicode MS" pitchFamily="34" charset="-122"/>
              </a:rPr>
              <a:t>     on a Paramagnetic Material</a:t>
            </a:r>
          </a:p>
          <a:p>
            <a:pPr marL="285750" indent="-285750">
              <a:buFont typeface="Wingdings" panose="05000000000000000000" pitchFamily="2" charset="2"/>
              <a:buChar char="ü"/>
            </a:pPr>
            <a:r>
              <a:rPr lang="en-US" altLang="zh-CN" b="1" dirty="0">
                <a:latin typeface="Arial Unicode MS" pitchFamily="34" charset="-122"/>
                <a:ea typeface="Arial Unicode MS" pitchFamily="34" charset="-122"/>
                <a:cs typeface="Arial Unicode MS" pitchFamily="34" charset="-122"/>
              </a:rPr>
              <a:t>Electrical Work </a:t>
            </a:r>
          </a:p>
          <a:p>
            <a:r>
              <a:rPr lang="en-US" altLang="zh-CN" dirty="0">
                <a:latin typeface="Arial Unicode MS" pitchFamily="34" charset="-122"/>
                <a:ea typeface="Arial Unicode MS" pitchFamily="34" charset="-122"/>
                <a:cs typeface="Arial Unicode MS" pitchFamily="34" charset="-122"/>
              </a:rPr>
              <a:t>      on a Dielectric Material</a:t>
            </a:r>
          </a:p>
          <a:p>
            <a:pPr marL="285750" indent="-285750">
              <a:buFont typeface="Wingdings" panose="05000000000000000000" pitchFamily="2" charset="2"/>
              <a:buChar char="ü"/>
            </a:pPr>
            <a:r>
              <a:rPr lang="en-US" altLang="zh-CN" b="1" dirty="0">
                <a:latin typeface="Arial Unicode MS" pitchFamily="34" charset="-122"/>
                <a:ea typeface="Arial Unicode MS" pitchFamily="34" charset="-122"/>
                <a:cs typeface="Arial Unicode MS" pitchFamily="34" charset="-122"/>
              </a:rPr>
              <a:t>Work </a:t>
            </a:r>
          </a:p>
          <a:p>
            <a:pPr marL="361950"/>
            <a:r>
              <a:rPr lang="en-US" altLang="zh-CN" dirty="0">
                <a:latin typeface="Arial Unicode MS" pitchFamily="34" charset="-122"/>
                <a:ea typeface="Arial Unicode MS" pitchFamily="34" charset="-122"/>
                <a:cs typeface="Arial Unicode MS" pitchFamily="34" charset="-122"/>
              </a:rPr>
              <a:t>to Create or Extend a Surface</a:t>
            </a:r>
            <a:endParaRPr lang="zh-CN" altLang="en-US" dirty="0">
              <a:latin typeface="Arial Unicode MS" pitchFamily="34" charset="-122"/>
              <a:ea typeface="Arial Unicode MS" pitchFamily="34" charset="-122"/>
              <a:cs typeface="Arial Unicode MS" pitchFamily="34" charset="-122"/>
            </a:endParaRPr>
          </a:p>
        </p:txBody>
      </p:sp>
    </p:spTree>
    <p:extLst>
      <p:ext uri="{BB962C8B-B14F-4D97-AF65-F5344CB8AC3E}">
        <p14:creationId xmlns:p14="http://schemas.microsoft.com/office/powerpoint/2010/main" val="3025420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1000" y="222363"/>
            <a:ext cx="3391249" cy="646331"/>
          </a:xfrm>
          <a:prstGeom prst="rect">
            <a:avLst/>
          </a:prstGeom>
          <a:noFill/>
        </p:spPr>
        <p:txBody>
          <a:bodyPr wrap="none" rtlCol="0">
            <a:spAutoFit/>
          </a:bodyPr>
          <a:lstStyle/>
          <a:p>
            <a:r>
              <a:rPr lang="en-US" altLang="zh-CN" sz="3200" dirty="0" err="1">
                <a:solidFill>
                  <a:srgbClr val="FF0000"/>
                </a:solidFill>
              </a:rPr>
              <a:t>Polytropic</a:t>
            </a:r>
            <a:r>
              <a:rPr lang="en-US" altLang="zh-CN" sz="3600" dirty="0">
                <a:solidFill>
                  <a:srgbClr val="FF0000"/>
                </a:solidFill>
              </a:rPr>
              <a:t> process</a:t>
            </a:r>
            <a:endParaRPr lang="zh-CN" altLang="en-US" sz="3600" dirty="0">
              <a:solidFill>
                <a:srgbClr val="FF0000"/>
              </a:solidFill>
            </a:endParaRPr>
          </a:p>
        </p:txBody>
      </p:sp>
      <p:cxnSp>
        <p:nvCxnSpPr>
          <p:cNvPr id="7" name="直接箭头连接符 6"/>
          <p:cNvCxnSpPr/>
          <p:nvPr/>
        </p:nvCxnSpPr>
        <p:spPr>
          <a:xfrm flipV="1">
            <a:off x="1143000" y="2942968"/>
            <a:ext cx="24714" cy="2314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1143000" y="5257800"/>
            <a:ext cx="27761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706395" y="3223054"/>
            <a:ext cx="311304" cy="369332"/>
          </a:xfrm>
          <a:prstGeom prst="rect">
            <a:avLst/>
          </a:prstGeom>
          <a:noFill/>
        </p:spPr>
        <p:txBody>
          <a:bodyPr wrap="none" rtlCol="0">
            <a:spAutoFit/>
          </a:bodyPr>
          <a:lstStyle/>
          <a:p>
            <a:r>
              <a:rPr lang="en-US" altLang="zh-CN" dirty="0"/>
              <a:t>P</a:t>
            </a:r>
            <a:endParaRPr lang="zh-CN" altLang="en-US" dirty="0"/>
          </a:p>
        </p:txBody>
      </p:sp>
      <p:sp>
        <p:nvSpPr>
          <p:cNvPr id="11" name="文本框 10"/>
          <p:cNvSpPr txBox="1"/>
          <p:nvPr/>
        </p:nvSpPr>
        <p:spPr>
          <a:xfrm>
            <a:off x="2219772" y="5369011"/>
            <a:ext cx="325730" cy="369332"/>
          </a:xfrm>
          <a:prstGeom prst="rect">
            <a:avLst/>
          </a:prstGeom>
          <a:noFill/>
        </p:spPr>
        <p:txBody>
          <a:bodyPr wrap="none" rtlCol="0">
            <a:spAutoFit/>
          </a:bodyPr>
          <a:lstStyle/>
          <a:p>
            <a:r>
              <a:rPr lang="en-US" altLang="zh-CN" dirty="0"/>
              <a:t>V</a:t>
            </a:r>
            <a:endParaRPr lang="zh-CN" altLang="en-US" dirty="0"/>
          </a:p>
        </p:txBody>
      </p:sp>
      <mc:AlternateContent xmlns:mc="http://schemas.openxmlformats.org/markup-compatibility/2006" xmlns:a14="http://schemas.microsoft.com/office/drawing/2010/main">
        <mc:Choice Requires="a14">
          <p:sp>
            <p:nvSpPr>
              <p:cNvPr id="12" name="矩形 11"/>
              <p:cNvSpPr/>
              <p:nvPr/>
            </p:nvSpPr>
            <p:spPr>
              <a:xfrm>
                <a:off x="4876800" y="3831110"/>
                <a:ext cx="3149372" cy="13408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sSup>
                        <m:sSupPr>
                          <m:ctrlPr>
                            <a:rPr lang="zh-CN" altLang="en-US" i="1">
                              <a:latin typeface="Cambria Math" panose="02040503050406030204" pitchFamily="18" charset="0"/>
                            </a:rPr>
                          </m:ctrlPr>
                        </m:sSupPr>
                        <m:e>
                          <m:r>
                            <a:rPr lang="zh-CN" altLang="en-US" i="1">
                              <a:latin typeface="Cambria Math" panose="02040503050406030204" pitchFamily="18" charset="0"/>
                            </a:rPr>
                            <m:t>𝑉</m:t>
                          </m:r>
                        </m:e>
                        <m:sup>
                          <m:r>
                            <a:rPr lang="zh-CN" altLang="en-US" i="1">
                              <a:latin typeface="Cambria Math" panose="02040503050406030204" pitchFamily="18" charset="0"/>
                            </a:rPr>
                            <m:t>𝑛</m:t>
                          </m:r>
                        </m:sup>
                      </m:sSup>
                      <m:r>
                        <a:rPr lang="zh-CN" altLang="en-US" i="0">
                          <a:latin typeface="Cambria Math" panose="02040503050406030204" pitchFamily="18" charset="0"/>
                        </a:rPr>
                        <m:t>=</m:t>
                      </m:r>
                      <m:r>
                        <a:rPr lang="zh-CN" altLang="en-US" i="1">
                          <a:latin typeface="Cambria Math" panose="02040503050406030204" pitchFamily="18" charset="0"/>
                        </a:rPr>
                        <m:t>𝐶</m:t>
                      </m:r>
                      <m:r>
                        <m:rPr>
                          <m:nor/>
                        </m:rPr>
                        <a:rPr lang="zh-CN" altLang="en-US" i="1">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sty m:val="p"/>
                                  </m:rPr>
                                  <a:rPr lang="en-US" altLang="zh-CN" i="1">
                                    <a:latin typeface="Cambria Math" panose="02040503050406030204" pitchFamily="18" charset="0"/>
                                  </a:rPr>
                                  <m:t>V</m:t>
                                </m:r>
                              </m:e>
                            </m:mr>
                            <m:mr>
                              <m:e>
                                <m:r>
                                  <a:rPr lang="zh-CN" altLang="en-US" i="1">
                                    <a:latin typeface="Cambria Math" panose="02040503050406030204" pitchFamily="18" charset="0"/>
                                  </a:rPr>
                                  <m:t>𝑛</m:t>
                                </m:r>
                                <m:r>
                                  <a:rPr lang="zh-CN" altLang="en-US" i="0">
                                    <a:latin typeface="Cambria Math" panose="02040503050406030204" pitchFamily="18" charset="0"/>
                                  </a:rPr>
                                  <m:t>=0,</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sty m:val="p"/>
                                  </m:rPr>
                                  <a:rPr lang="en-US" altLang="zh-CN" i="1">
                                    <a:latin typeface="Cambria Math" panose="02040503050406030204" pitchFamily="18" charset="0"/>
                                  </a:rPr>
                                  <m:t>P</m:t>
                                </m:r>
                              </m:e>
                            </m:mr>
                            <m:mr>
                              <m:e>
                                <m:r>
                                  <a:rPr lang="zh-CN" altLang="en-US" i="1">
                                    <a:latin typeface="Cambria Math" panose="02040503050406030204" pitchFamily="18" charset="0"/>
                                  </a:rPr>
                                  <m:t>𝑛</m:t>
                                </m:r>
                                <m:r>
                                  <a:rPr lang="zh-CN" altLang="en-US" i="0">
                                    <a:latin typeface="Cambria Math" panose="02040503050406030204" pitchFamily="18" charset="0"/>
                                  </a:rPr>
                                  <m:t>=1,</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nor/>
                                  </m:rPr>
                                  <a:rPr lang="zh-CN" altLang="en-US" i="1">
                                    <a:latin typeface="Cambria Math" panose="02040503050406030204" pitchFamily="18" charset="0"/>
                                  </a:rPr>
                                  <m:t>T</m:t>
                                </m:r>
                              </m:e>
                            </m:mr>
                            <m:mr>
                              <m:e>
                                <m:r>
                                  <m:rPr>
                                    <m:nor/>
                                  </m:rPr>
                                  <a:rPr lang="zh-CN" altLang="en-US" i="1">
                                    <a:latin typeface="Cambria Math" panose="02040503050406030204" pitchFamily="18" charset="0"/>
                                  </a:rPr>
                                  <m:t>n</m:t>
                                </m:r>
                                <m:r>
                                  <m:rPr>
                                    <m:nor/>
                                  </m:rPr>
                                  <a:rPr lang="zh-CN" altLang="en-US" i="1">
                                    <a:latin typeface="Cambria Math" panose="02040503050406030204" pitchFamily="18" charset="0"/>
                                  </a:rPr>
                                  <m:t>=</m:t>
                                </m:r>
                                <m:r>
                                  <a:rPr lang="zh-CN" altLang="en-US" i="1">
                                    <a:latin typeface="Cambria Math" panose="02040503050406030204" pitchFamily="18" charset="0"/>
                                  </a:rPr>
                                  <m:t>𝛾</m:t>
                                </m:r>
                                <m:r>
                                  <m:rPr>
                                    <m:nor/>
                                  </m:rPr>
                                  <a:rPr lang="zh-CN" altLang="en-US" i="1">
                                    <a:latin typeface="Cambria Math" panose="02040503050406030204" pitchFamily="18" charset="0"/>
                                  </a:rPr>
                                  <m:t>, </m:t>
                                </m:r>
                                <m:r>
                                  <m:rPr>
                                    <m:nor/>
                                  </m:rPr>
                                  <a:rPr lang="zh-CN" altLang="en-US" i="1">
                                    <a:latin typeface="Cambria Math" panose="02040503050406030204" pitchFamily="18" charset="0"/>
                                  </a:rPr>
                                  <m:t>const</m:t>
                                </m:r>
                                <m:r>
                                  <m:rPr>
                                    <m:nor/>
                                  </m:rPr>
                                  <a:rPr lang="zh-CN" altLang="en-US" i="1">
                                    <a:latin typeface="Cambria Math" panose="02040503050406030204" pitchFamily="18" charset="0"/>
                                  </a:rPr>
                                  <m:t> </m:t>
                                </m:r>
                                <m:r>
                                  <m:rPr>
                                    <m:nor/>
                                  </m:rPr>
                                  <a:rPr lang="zh-CN" altLang="en-US" i="1">
                                    <a:latin typeface="Cambria Math" panose="02040503050406030204" pitchFamily="18" charset="0"/>
                                  </a:rPr>
                                  <m:t>S</m:t>
                                </m:r>
                              </m:e>
                            </m:mr>
                          </m:m>
                        </m:e>
                      </m: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4876800" y="3831110"/>
                <a:ext cx="3149372" cy="1340880"/>
              </a:xfrm>
              <a:prstGeom prst="rect">
                <a:avLst/>
              </a:prstGeom>
              <a:blipFill rotWithShape="0">
                <a:blip r:embed="rId2"/>
                <a:stretch>
                  <a:fillRect/>
                </a:stretch>
              </a:blipFill>
            </p:spPr>
            <p:txBody>
              <a:bodyPr/>
              <a:lstStyle/>
              <a:p>
                <a:r>
                  <a:rPr lang="zh-CN" altLang="en-US">
                    <a:noFill/>
                  </a:rPr>
                  <a:t> </a:t>
                </a:r>
              </a:p>
            </p:txBody>
          </p:sp>
        </mc:Fallback>
      </mc:AlternateContent>
      <p:cxnSp>
        <p:nvCxnSpPr>
          <p:cNvPr id="3" name="直接连接符 2"/>
          <p:cNvCxnSpPr/>
          <p:nvPr/>
        </p:nvCxnSpPr>
        <p:spPr>
          <a:xfrm>
            <a:off x="1263744" y="3448734"/>
            <a:ext cx="1532237" cy="8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3148687" y="3800902"/>
            <a:ext cx="8237" cy="1345688"/>
          </a:xfrm>
          <a:prstGeom prst="line">
            <a:avLst/>
          </a:prstGeom>
        </p:spPr>
        <p:style>
          <a:lnRef idx="1">
            <a:schemeClr val="accent1"/>
          </a:lnRef>
          <a:fillRef idx="0">
            <a:schemeClr val="accent1"/>
          </a:fillRef>
          <a:effectRef idx="0">
            <a:schemeClr val="accent1"/>
          </a:effectRef>
          <a:fontRef idx="minor">
            <a:schemeClr val="tx1"/>
          </a:fontRef>
        </p:style>
      </p:cxnSp>
      <p:sp>
        <p:nvSpPr>
          <p:cNvPr id="8" name="任意多边形 7"/>
          <p:cNvSpPr/>
          <p:nvPr/>
        </p:nvSpPr>
        <p:spPr>
          <a:xfrm>
            <a:off x="1573314" y="3516696"/>
            <a:ext cx="1161535" cy="1482811"/>
          </a:xfrm>
          <a:custGeom>
            <a:avLst/>
            <a:gdLst>
              <a:gd name="connsiteX0" fmla="*/ 0 w 1161535"/>
              <a:gd name="connsiteY0" fmla="*/ 0 h 1482811"/>
              <a:gd name="connsiteX1" fmla="*/ 345989 w 1161535"/>
              <a:gd name="connsiteY1" fmla="*/ 782594 h 1482811"/>
              <a:gd name="connsiteX2" fmla="*/ 1161535 w 1161535"/>
              <a:gd name="connsiteY2" fmla="*/ 1482811 h 1482811"/>
            </a:gdLst>
            <a:ahLst/>
            <a:cxnLst>
              <a:cxn ang="0">
                <a:pos x="connsiteX0" y="connsiteY0"/>
              </a:cxn>
              <a:cxn ang="0">
                <a:pos x="connsiteX1" y="connsiteY1"/>
              </a:cxn>
              <a:cxn ang="0">
                <a:pos x="connsiteX2" y="connsiteY2"/>
              </a:cxn>
            </a:cxnLst>
            <a:rect l="l" t="t" r="r" b="b"/>
            <a:pathLst>
              <a:path w="1161535" h="1482811">
                <a:moveTo>
                  <a:pt x="0" y="0"/>
                </a:moveTo>
                <a:cubicBezTo>
                  <a:pt x="76200" y="267729"/>
                  <a:pt x="152400" y="535459"/>
                  <a:pt x="345989" y="782594"/>
                </a:cubicBezTo>
                <a:cubicBezTo>
                  <a:pt x="539578" y="1029729"/>
                  <a:pt x="850556" y="1256270"/>
                  <a:pt x="1161535" y="14828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1461021" y="3568182"/>
            <a:ext cx="684171" cy="1578408"/>
          </a:xfrm>
          <a:custGeom>
            <a:avLst/>
            <a:gdLst>
              <a:gd name="connsiteX0" fmla="*/ 0 w 1161535"/>
              <a:gd name="connsiteY0" fmla="*/ 0 h 1482811"/>
              <a:gd name="connsiteX1" fmla="*/ 345989 w 1161535"/>
              <a:gd name="connsiteY1" fmla="*/ 782594 h 1482811"/>
              <a:gd name="connsiteX2" fmla="*/ 1161535 w 1161535"/>
              <a:gd name="connsiteY2" fmla="*/ 1482811 h 1482811"/>
            </a:gdLst>
            <a:ahLst/>
            <a:cxnLst>
              <a:cxn ang="0">
                <a:pos x="connsiteX0" y="connsiteY0"/>
              </a:cxn>
              <a:cxn ang="0">
                <a:pos x="connsiteX1" y="connsiteY1"/>
              </a:cxn>
              <a:cxn ang="0">
                <a:pos x="connsiteX2" y="connsiteY2"/>
              </a:cxn>
            </a:cxnLst>
            <a:rect l="l" t="t" r="r" b="b"/>
            <a:pathLst>
              <a:path w="1161535" h="1482811">
                <a:moveTo>
                  <a:pt x="0" y="0"/>
                </a:moveTo>
                <a:cubicBezTo>
                  <a:pt x="76200" y="267729"/>
                  <a:pt x="152400" y="535459"/>
                  <a:pt x="345989" y="782594"/>
                </a:cubicBezTo>
                <a:cubicBezTo>
                  <a:pt x="539578" y="1029729"/>
                  <a:pt x="850556" y="1256270"/>
                  <a:pt x="1161535" y="14828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076624" y="1095645"/>
            <a:ext cx="4730782" cy="1200329"/>
          </a:xfrm>
          <a:prstGeom prst="rect">
            <a:avLst/>
          </a:prstGeom>
        </p:spPr>
        <p:txBody>
          <a:bodyPr wrap="none">
            <a:spAutoFit/>
          </a:bodyPr>
          <a:lstStyle/>
          <a:p>
            <a:pPr marL="285750" indent="-285750">
              <a:buFont typeface="Wingdings" panose="05000000000000000000" pitchFamily="2" charset="2"/>
              <a:buChar char="ü"/>
            </a:pPr>
            <a:r>
              <a:rPr lang="en-US" altLang="zh-CN" dirty="0">
                <a:solidFill>
                  <a:srgbClr val="0000FF"/>
                </a:solidFill>
                <a:latin typeface="Arial" charset="0"/>
                <a:cs typeface="Arial" charset="0"/>
              </a:rPr>
              <a:t>Constant Volume Process, V= const.</a:t>
            </a:r>
          </a:p>
          <a:p>
            <a:pPr marL="285750" indent="-285750">
              <a:buFont typeface="Wingdings" panose="05000000000000000000" pitchFamily="2" charset="2"/>
              <a:buChar char="ü"/>
            </a:pPr>
            <a:r>
              <a:rPr lang="en-US" altLang="zh-CN" dirty="0">
                <a:solidFill>
                  <a:srgbClr val="0000FF"/>
                </a:solidFill>
                <a:latin typeface="Arial" charset="0"/>
                <a:cs typeface="Arial" charset="0"/>
              </a:rPr>
              <a:t>Constant Pressure Process, P=const.</a:t>
            </a:r>
            <a:endParaRPr lang="zh-CN" altLang="en-US" dirty="0">
              <a:solidFill>
                <a:srgbClr val="0000FF"/>
              </a:solidFill>
            </a:endParaRPr>
          </a:p>
          <a:p>
            <a:pPr marL="285750" indent="-285750">
              <a:buFont typeface="Wingdings" panose="05000000000000000000" pitchFamily="2" charset="2"/>
              <a:buChar char="ü"/>
            </a:pPr>
            <a:r>
              <a:rPr lang="en-US" altLang="zh-CN" dirty="0">
                <a:solidFill>
                  <a:srgbClr val="0000FF"/>
                </a:solidFill>
                <a:latin typeface="Arial" charset="0"/>
                <a:cs typeface="Arial" charset="0"/>
              </a:rPr>
              <a:t>Reversible Adiabatic Process, </a:t>
            </a:r>
            <a:r>
              <a:rPr lang="el-GR" altLang="zh-CN" dirty="0">
                <a:solidFill>
                  <a:srgbClr val="0000FF"/>
                </a:solidFill>
                <a:latin typeface="Times New Roman"/>
                <a:cs typeface="Times New Roman"/>
              </a:rPr>
              <a:t>δ</a:t>
            </a:r>
            <a:r>
              <a:rPr lang="en-US" altLang="zh-CN" dirty="0">
                <a:solidFill>
                  <a:srgbClr val="0000FF"/>
                </a:solidFill>
                <a:latin typeface="Arial" charset="0"/>
                <a:cs typeface="Arial" charset="0"/>
              </a:rPr>
              <a:t>q=const.</a:t>
            </a:r>
          </a:p>
          <a:p>
            <a:pPr marL="285750" indent="-285750">
              <a:buFont typeface="Wingdings" panose="05000000000000000000" pitchFamily="2" charset="2"/>
              <a:buChar char="ü"/>
            </a:pPr>
            <a:r>
              <a:rPr lang="en-US" altLang="zh-CN" dirty="0">
                <a:solidFill>
                  <a:srgbClr val="0000FF"/>
                </a:solidFill>
                <a:latin typeface="Arial" charset="0"/>
                <a:cs typeface="Arial" charset="0"/>
              </a:rPr>
              <a:t>Reversible Isothermal Process, </a:t>
            </a:r>
            <a:r>
              <a:rPr lang="el-GR" altLang="zh-CN" dirty="0">
                <a:solidFill>
                  <a:srgbClr val="0000FF"/>
                </a:solidFill>
                <a:latin typeface="Times New Roman"/>
                <a:cs typeface="Times New Roman"/>
              </a:rPr>
              <a:t>δ</a:t>
            </a:r>
            <a:r>
              <a:rPr lang="en-US" altLang="zh-CN" dirty="0">
                <a:solidFill>
                  <a:srgbClr val="0000FF"/>
                </a:solidFill>
                <a:latin typeface="Times New Roman"/>
                <a:cs typeface="Times New Roman"/>
              </a:rPr>
              <a:t>T</a:t>
            </a:r>
            <a:r>
              <a:rPr lang="en-US" altLang="zh-CN" dirty="0">
                <a:solidFill>
                  <a:srgbClr val="0000FF"/>
                </a:solidFill>
                <a:latin typeface="Arial" charset="0"/>
                <a:cs typeface="Arial" charset="0"/>
              </a:rPr>
              <a:t>=const.</a:t>
            </a:r>
            <a:endParaRPr lang="zh-CN" altLang="en-US" dirty="0">
              <a:solidFill>
                <a:srgbClr val="0000FF"/>
              </a:solidFill>
            </a:endParaRPr>
          </a:p>
        </p:txBody>
      </p:sp>
    </p:spTree>
    <p:extLst>
      <p:ext uri="{BB962C8B-B14F-4D97-AF65-F5344CB8AC3E}">
        <p14:creationId xmlns:p14="http://schemas.microsoft.com/office/powerpoint/2010/main" val="6743273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79773" y="1332349"/>
            <a:ext cx="5349269" cy="707886"/>
          </a:xfrm>
          <a:prstGeom prst="rect">
            <a:avLst/>
          </a:prstGeom>
        </p:spPr>
        <p:txBody>
          <a:bodyPr wrap="square">
            <a:spAutoFit/>
          </a:bodyPr>
          <a:lstStyle/>
          <a:p>
            <a:r>
              <a:rPr lang="en-US" altLang="zh-CN" sz="2000" dirty="0"/>
              <a:t>The work done </a:t>
            </a:r>
            <a:r>
              <a:rPr lang="en-US" altLang="zh-CN" sz="2000" i="1" dirty="0"/>
              <a:t>on </a:t>
            </a:r>
            <a:r>
              <a:rPr lang="en-US" altLang="zh-CN" sz="2000" dirty="0"/>
              <a:t>a </a:t>
            </a:r>
            <a:r>
              <a:rPr lang="en-US" altLang="zh-CN" sz="2000" dirty="0">
                <a:latin typeface="Arial Unicode MS" pitchFamily="34" charset="-122"/>
                <a:ea typeface="Arial Unicode MS" pitchFamily="34" charset="-122"/>
                <a:cs typeface="Arial Unicode MS" pitchFamily="34" charset="-122"/>
              </a:rPr>
              <a:t>Paramagnetic</a:t>
            </a:r>
            <a:r>
              <a:rPr lang="en-US" altLang="zh-CN" sz="2000" dirty="0"/>
              <a:t> material by an external </a:t>
            </a:r>
            <a:r>
              <a:rPr lang="en-US" altLang="zh-CN" sz="2000" b="1" dirty="0"/>
              <a:t>magnetic field </a:t>
            </a:r>
            <a:r>
              <a:rPr lang="en-US" altLang="zh-CN" sz="2000" dirty="0"/>
              <a:t>is given by</a:t>
            </a:r>
            <a:endParaRPr lang="zh-CN" altLang="en-US" sz="2000" dirty="0"/>
          </a:p>
        </p:txBody>
      </p:sp>
      <p:sp>
        <p:nvSpPr>
          <p:cNvPr id="10" name="矩形 9"/>
          <p:cNvSpPr/>
          <p:nvPr/>
        </p:nvSpPr>
        <p:spPr>
          <a:xfrm>
            <a:off x="152400" y="111039"/>
            <a:ext cx="6705600" cy="523220"/>
          </a:xfrm>
          <a:prstGeom prst="rect">
            <a:avLst/>
          </a:prstGeom>
        </p:spPr>
        <p:txBody>
          <a:bodyPr wrap="square">
            <a:spAutoFit/>
          </a:bodyPr>
          <a:lstStyle/>
          <a:p>
            <a:r>
              <a:rPr lang="en-US" altLang="zh-CN" sz="2800" b="1" dirty="0">
                <a:solidFill>
                  <a:srgbClr val="FF0000"/>
                </a:solidFill>
              </a:rPr>
              <a:t>Magnetic Work </a:t>
            </a:r>
            <a:r>
              <a:rPr lang="en-US" altLang="zh-CN" sz="2800" dirty="0">
                <a:solidFill>
                  <a:srgbClr val="FF0000"/>
                </a:solidFill>
              </a:rPr>
              <a:t>on a </a:t>
            </a:r>
            <a:r>
              <a:rPr lang="en-US" altLang="zh-CN" sz="2800" dirty="0"/>
              <a:t>Magnetic Material</a:t>
            </a:r>
            <a:endParaRPr lang="en-US" altLang="zh-CN" sz="2800" dirty="0">
              <a:solidFill>
                <a:srgbClr val="FF0000"/>
              </a:solidFill>
            </a:endParaRPr>
          </a:p>
        </p:txBody>
      </p:sp>
      <p:sp>
        <p:nvSpPr>
          <p:cNvPr id="11" name="TextBox 10"/>
          <p:cNvSpPr txBox="1"/>
          <p:nvPr/>
        </p:nvSpPr>
        <p:spPr>
          <a:xfrm>
            <a:off x="3911125" y="2249960"/>
            <a:ext cx="4607352" cy="1323439"/>
          </a:xfrm>
          <a:prstGeom prst="rect">
            <a:avLst/>
          </a:prstGeom>
          <a:noFill/>
        </p:spPr>
        <p:txBody>
          <a:bodyPr wrap="none" rtlCol="0">
            <a:spAutoFit/>
          </a:bodyPr>
          <a:lstStyle/>
          <a:p>
            <a:r>
              <a:rPr lang="en-US" altLang="zh-CN" sz="2000" dirty="0">
                <a:latin typeface="Arial Unicode MS" pitchFamily="34" charset="-122"/>
                <a:ea typeface="Arial Unicode MS" pitchFamily="34" charset="-122"/>
                <a:cs typeface="Arial Unicode MS" pitchFamily="34" charset="-122"/>
              </a:rPr>
              <a:t>V: volume [m</a:t>
            </a:r>
            <a:r>
              <a:rPr lang="en-US" altLang="zh-CN" sz="2000" baseline="30000" dirty="0">
                <a:latin typeface="Arial Unicode MS" pitchFamily="34" charset="-122"/>
                <a:ea typeface="Arial Unicode MS" pitchFamily="34" charset="-122"/>
                <a:cs typeface="Arial Unicode MS" pitchFamily="34" charset="-122"/>
              </a:rPr>
              <a:t>3</a:t>
            </a:r>
            <a:r>
              <a:rPr lang="en-US" altLang="zh-CN" sz="2000" dirty="0">
                <a:latin typeface="Arial Unicode MS" pitchFamily="34" charset="-122"/>
                <a:ea typeface="Arial Unicode MS" pitchFamily="34" charset="-122"/>
                <a:cs typeface="Arial Unicode MS" pitchFamily="34" charset="-122"/>
              </a:rPr>
              <a:t>]</a:t>
            </a:r>
          </a:p>
          <a:p>
            <a:r>
              <a:rPr lang="en-US" altLang="zh-CN" sz="2000" dirty="0">
                <a:latin typeface="Arial Unicode MS" pitchFamily="34" charset="-122"/>
                <a:ea typeface="Arial Unicode MS" pitchFamily="34" charset="-122"/>
                <a:cs typeface="Arial Unicode MS" pitchFamily="34" charset="-122"/>
              </a:rPr>
              <a:t>H:  strength of the magnetic filed, [A/m]</a:t>
            </a:r>
          </a:p>
          <a:p>
            <a:r>
              <a:rPr lang="en-US" altLang="zh-CN" sz="2000" dirty="0">
                <a:latin typeface="Arial Unicode MS" pitchFamily="34" charset="-122"/>
                <a:ea typeface="Arial Unicode MS" pitchFamily="34" charset="-122"/>
                <a:cs typeface="Arial Unicode MS" pitchFamily="34" charset="-122"/>
              </a:rPr>
              <a:t>M: </a:t>
            </a:r>
            <a:r>
              <a:rPr lang="en-US" altLang="zh-CN" sz="2000" dirty="0" err="1">
                <a:latin typeface="Arial Unicode MS" pitchFamily="34" charset="-122"/>
                <a:ea typeface="Arial Unicode MS" pitchFamily="34" charset="-122"/>
                <a:cs typeface="Arial Unicode MS" pitchFamily="34" charset="-122"/>
              </a:rPr>
              <a:t>magnezation</a:t>
            </a:r>
            <a:r>
              <a:rPr lang="en-US" altLang="zh-CN" sz="2000" dirty="0">
                <a:latin typeface="Arial Unicode MS" pitchFamily="34" charset="-122"/>
                <a:ea typeface="Arial Unicode MS" pitchFamily="34" charset="-122"/>
                <a:cs typeface="Arial Unicode MS" pitchFamily="34" charset="-122"/>
              </a:rPr>
              <a:t>, [A/m] </a:t>
            </a:r>
          </a:p>
          <a:p>
            <a:r>
              <a:rPr lang="el-GR" altLang="zh-CN" sz="2000" dirty="0">
                <a:latin typeface="Arial Unicode MS" pitchFamily="34" charset="-122"/>
                <a:ea typeface="Arial Unicode MS" pitchFamily="34" charset="-122"/>
                <a:cs typeface="Arial Unicode MS" pitchFamily="34" charset="-122"/>
              </a:rPr>
              <a:t>μ</a:t>
            </a:r>
            <a:r>
              <a:rPr lang="en-US" altLang="zh-CN" sz="2000" baseline="-25000" dirty="0">
                <a:latin typeface="Arial Unicode MS" pitchFamily="34" charset="-122"/>
                <a:ea typeface="Arial Unicode MS" pitchFamily="34" charset="-122"/>
                <a:cs typeface="Arial Unicode MS" pitchFamily="34" charset="-122"/>
              </a:rPr>
              <a:t>0</a:t>
            </a:r>
            <a:r>
              <a:rPr lang="en-US" altLang="zh-CN" sz="2000" dirty="0">
                <a:latin typeface="Arial Unicode MS" pitchFamily="34" charset="-122"/>
                <a:ea typeface="Arial Unicode MS" pitchFamily="34" charset="-122"/>
                <a:cs typeface="Arial Unicode MS" pitchFamily="34" charset="-122"/>
              </a:rPr>
              <a:t>: permeability of vacuum, [N A</a:t>
            </a:r>
            <a:r>
              <a:rPr lang="en-US" altLang="zh-CN" sz="2000" baseline="30000" dirty="0">
                <a:latin typeface="Arial Unicode MS" pitchFamily="34" charset="-122"/>
                <a:ea typeface="Arial Unicode MS" pitchFamily="34" charset="-122"/>
                <a:cs typeface="Arial Unicode MS" pitchFamily="34" charset="-122"/>
              </a:rPr>
              <a:t>-2</a:t>
            </a:r>
            <a:r>
              <a:rPr lang="en-US" altLang="zh-CN" sz="2000" dirty="0">
                <a:latin typeface="Arial Unicode MS" pitchFamily="34" charset="-122"/>
                <a:ea typeface="Arial Unicode MS" pitchFamily="34" charset="-122"/>
                <a:cs typeface="Arial Unicode MS" pitchFamily="34" charset="-122"/>
              </a:rPr>
              <a:t>]</a:t>
            </a:r>
          </a:p>
        </p:txBody>
      </p: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400" y="3719861"/>
            <a:ext cx="2598223" cy="93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82125" y="5179329"/>
            <a:ext cx="4370877" cy="369332"/>
          </a:xfrm>
          <a:prstGeom prst="rect">
            <a:avLst/>
          </a:prstGeom>
          <a:noFill/>
        </p:spPr>
        <p:txBody>
          <a:bodyPr wrap="none" rtlCol="0">
            <a:spAutoFit/>
          </a:bodyPr>
          <a:lstStyle/>
          <a:p>
            <a:r>
              <a:rPr lang="en-US" altLang="zh-CN" b="1" dirty="0"/>
              <a:t>For an adiabatic process at constant volume</a:t>
            </a:r>
            <a:endParaRPr lang="zh-CN" altLang="en-US" b="1" dirty="0"/>
          </a:p>
        </p:txBody>
      </p:sp>
      <p:pic>
        <p:nvPicPr>
          <p:cNvPr id="532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206" y="2392566"/>
            <a:ext cx="2642413" cy="13272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4450" y="4405661"/>
            <a:ext cx="4389767" cy="65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32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7072" y="5701061"/>
            <a:ext cx="2047336"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46529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89530" y="1246805"/>
            <a:ext cx="5349269" cy="707886"/>
          </a:xfrm>
          <a:prstGeom prst="rect">
            <a:avLst/>
          </a:prstGeom>
        </p:spPr>
        <p:txBody>
          <a:bodyPr wrap="square">
            <a:spAutoFit/>
          </a:bodyPr>
          <a:lstStyle/>
          <a:p>
            <a:r>
              <a:rPr lang="en-US" altLang="zh-CN" sz="2000" dirty="0"/>
              <a:t>The work done </a:t>
            </a:r>
            <a:r>
              <a:rPr lang="en-US" altLang="zh-CN" sz="2000" i="1" dirty="0"/>
              <a:t>on </a:t>
            </a:r>
            <a:r>
              <a:rPr lang="en-US" altLang="zh-CN" sz="2000" dirty="0"/>
              <a:t>a </a:t>
            </a:r>
            <a:r>
              <a:rPr lang="en-US" altLang="zh-CN" sz="2000" b="1" dirty="0"/>
              <a:t>dielectric</a:t>
            </a:r>
            <a:r>
              <a:rPr lang="en-US" altLang="zh-CN" sz="2000" dirty="0"/>
              <a:t> material by an external </a:t>
            </a:r>
            <a:r>
              <a:rPr lang="en-US" altLang="zh-CN" sz="2000" b="1" dirty="0"/>
              <a:t>electric field </a:t>
            </a:r>
            <a:r>
              <a:rPr lang="en-US" altLang="zh-CN" sz="2000" dirty="0"/>
              <a:t>is given by</a:t>
            </a:r>
            <a:endParaRPr lang="zh-CN" altLang="en-US" sz="2000" dirty="0"/>
          </a:p>
        </p:txBody>
      </p:sp>
      <p:sp>
        <p:nvSpPr>
          <p:cNvPr id="10" name="矩形 9"/>
          <p:cNvSpPr/>
          <p:nvPr/>
        </p:nvSpPr>
        <p:spPr>
          <a:xfrm>
            <a:off x="76200" y="63743"/>
            <a:ext cx="6705600" cy="523220"/>
          </a:xfrm>
          <a:prstGeom prst="rect">
            <a:avLst/>
          </a:prstGeom>
        </p:spPr>
        <p:txBody>
          <a:bodyPr wrap="square">
            <a:spAutoFit/>
          </a:bodyPr>
          <a:lstStyle/>
          <a:p>
            <a:r>
              <a:rPr lang="en-US" altLang="zh-CN" sz="2800" b="1" dirty="0">
                <a:solidFill>
                  <a:srgbClr val="FF0000"/>
                </a:solidFill>
              </a:rPr>
              <a:t>Electric Work </a:t>
            </a:r>
            <a:r>
              <a:rPr lang="en-US" altLang="zh-CN" sz="2800" dirty="0"/>
              <a:t>on a Dielectric Material</a:t>
            </a:r>
          </a:p>
        </p:txBody>
      </p:sp>
      <p:sp>
        <p:nvSpPr>
          <p:cNvPr id="11" name="TextBox 10"/>
          <p:cNvSpPr txBox="1"/>
          <p:nvPr/>
        </p:nvSpPr>
        <p:spPr>
          <a:xfrm>
            <a:off x="3886200" y="1954691"/>
            <a:ext cx="4552849" cy="1323439"/>
          </a:xfrm>
          <a:prstGeom prst="rect">
            <a:avLst/>
          </a:prstGeom>
          <a:noFill/>
        </p:spPr>
        <p:txBody>
          <a:bodyPr wrap="none" rtlCol="0">
            <a:spAutoFit/>
          </a:bodyPr>
          <a:lstStyle/>
          <a:p>
            <a:r>
              <a:rPr lang="en-US" altLang="zh-CN" sz="2000" dirty="0">
                <a:latin typeface="Arial Unicode MS" pitchFamily="34" charset="-122"/>
                <a:ea typeface="Arial Unicode MS" pitchFamily="34" charset="-122"/>
                <a:cs typeface="Arial Unicode MS" pitchFamily="34" charset="-122"/>
              </a:rPr>
              <a:t>V: volume [m</a:t>
            </a:r>
            <a:r>
              <a:rPr lang="en-US" altLang="zh-CN" sz="2000" baseline="30000" dirty="0">
                <a:latin typeface="Arial Unicode MS" pitchFamily="34" charset="-122"/>
                <a:ea typeface="Arial Unicode MS" pitchFamily="34" charset="-122"/>
                <a:cs typeface="Arial Unicode MS" pitchFamily="34" charset="-122"/>
              </a:rPr>
              <a:t>3</a:t>
            </a:r>
            <a:r>
              <a:rPr lang="en-US" altLang="zh-CN" sz="2000" dirty="0">
                <a:latin typeface="Arial Unicode MS" pitchFamily="34" charset="-122"/>
                <a:ea typeface="Arial Unicode MS" pitchFamily="34" charset="-122"/>
                <a:cs typeface="Arial Unicode MS" pitchFamily="34" charset="-122"/>
              </a:rPr>
              <a:t>]</a:t>
            </a:r>
          </a:p>
          <a:p>
            <a:r>
              <a:rPr lang="en-US" altLang="zh-CN" sz="2000" dirty="0">
                <a:latin typeface="Arial Unicode MS" pitchFamily="34" charset="-122"/>
                <a:ea typeface="Arial Unicode MS" pitchFamily="34" charset="-122"/>
                <a:cs typeface="Arial Unicode MS" pitchFamily="34" charset="-122"/>
              </a:rPr>
              <a:t>E:  strength of the </a:t>
            </a:r>
            <a:r>
              <a:rPr lang="en-US" altLang="zh-CN" sz="2000" dirty="0">
                <a:solidFill>
                  <a:srgbClr val="FF0000"/>
                </a:solidFill>
                <a:latin typeface="Arial Unicode MS" pitchFamily="34" charset="-122"/>
                <a:ea typeface="Arial Unicode MS" pitchFamily="34" charset="-122"/>
                <a:cs typeface="Arial Unicode MS" pitchFamily="34" charset="-122"/>
              </a:rPr>
              <a:t>electrical</a:t>
            </a:r>
            <a:r>
              <a:rPr lang="en-US" altLang="zh-CN" sz="2000" dirty="0">
                <a:latin typeface="Arial Unicode MS" pitchFamily="34" charset="-122"/>
                <a:ea typeface="Arial Unicode MS" pitchFamily="34" charset="-122"/>
                <a:cs typeface="Arial Unicode MS" pitchFamily="34" charset="-122"/>
              </a:rPr>
              <a:t> filed, [N/C]</a:t>
            </a:r>
          </a:p>
          <a:p>
            <a:r>
              <a:rPr lang="en-US" altLang="zh-CN" sz="2000" dirty="0">
                <a:latin typeface="Arial Unicode MS" pitchFamily="34" charset="-122"/>
                <a:ea typeface="Arial Unicode MS" pitchFamily="34" charset="-122"/>
                <a:cs typeface="Arial Unicode MS" pitchFamily="34" charset="-122"/>
              </a:rPr>
              <a:t>D: electric displacement, [C/m</a:t>
            </a:r>
            <a:r>
              <a:rPr lang="en-US" altLang="zh-CN" sz="2000" baseline="30000" dirty="0">
                <a:latin typeface="Arial Unicode MS" pitchFamily="34" charset="-122"/>
                <a:ea typeface="Arial Unicode MS" pitchFamily="34" charset="-122"/>
                <a:cs typeface="Arial Unicode MS" pitchFamily="34" charset="-122"/>
              </a:rPr>
              <a:t>2</a:t>
            </a:r>
            <a:r>
              <a:rPr lang="en-US" altLang="zh-CN" sz="2000" dirty="0">
                <a:latin typeface="Arial Unicode MS" pitchFamily="34" charset="-122"/>
                <a:ea typeface="Arial Unicode MS" pitchFamily="34" charset="-122"/>
                <a:cs typeface="Arial Unicode MS" pitchFamily="34" charset="-122"/>
              </a:rPr>
              <a:t>] </a:t>
            </a:r>
          </a:p>
          <a:p>
            <a:r>
              <a:rPr lang="el-GR" altLang="zh-CN" sz="2000" dirty="0">
                <a:latin typeface="Arial Unicode MS" pitchFamily="34" charset="-122"/>
                <a:ea typeface="Arial Unicode MS" pitchFamily="34" charset="-122"/>
                <a:cs typeface="Arial Unicode MS" pitchFamily="34" charset="-122"/>
              </a:rPr>
              <a:t>ε</a:t>
            </a:r>
            <a:r>
              <a:rPr lang="en-US" altLang="zh-CN" sz="2000" baseline="-25000" dirty="0">
                <a:latin typeface="Arial Unicode MS" pitchFamily="34" charset="-122"/>
                <a:ea typeface="Arial Unicode MS" pitchFamily="34" charset="-122"/>
                <a:cs typeface="Arial Unicode MS" pitchFamily="34" charset="-122"/>
              </a:rPr>
              <a:t>0</a:t>
            </a:r>
            <a:r>
              <a:rPr lang="en-US" altLang="zh-CN" sz="2000" dirty="0">
                <a:latin typeface="Arial Unicode MS" pitchFamily="34" charset="-122"/>
                <a:ea typeface="Arial Unicode MS" pitchFamily="34" charset="-122"/>
                <a:cs typeface="Arial Unicode MS" pitchFamily="34" charset="-122"/>
              </a:rPr>
              <a:t>: permittivity of vacuum, [N A</a:t>
            </a:r>
            <a:r>
              <a:rPr lang="en-US" altLang="zh-CN" sz="2000" baseline="30000" dirty="0">
                <a:latin typeface="Arial Unicode MS" pitchFamily="34" charset="-122"/>
                <a:ea typeface="Arial Unicode MS" pitchFamily="34" charset="-122"/>
                <a:cs typeface="Arial Unicode MS" pitchFamily="34" charset="-122"/>
              </a:rPr>
              <a:t>-2</a:t>
            </a:r>
            <a:r>
              <a:rPr lang="en-US" altLang="zh-CN" sz="2000" dirty="0">
                <a:latin typeface="Arial Unicode MS" pitchFamily="34" charset="-122"/>
                <a:ea typeface="Arial Unicode MS" pitchFamily="34" charset="-122"/>
                <a:cs typeface="Arial Unicode MS" pitchFamily="34" charset="-122"/>
              </a:rPr>
              <a:t>]</a:t>
            </a:r>
          </a:p>
        </p:txBody>
      </p: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475" y="3424592"/>
            <a:ext cx="2598223" cy="93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457200" y="4884060"/>
            <a:ext cx="4370877" cy="369332"/>
          </a:xfrm>
          <a:prstGeom prst="rect">
            <a:avLst/>
          </a:prstGeom>
          <a:noFill/>
        </p:spPr>
        <p:txBody>
          <a:bodyPr wrap="none" rtlCol="0">
            <a:spAutoFit/>
          </a:bodyPr>
          <a:lstStyle/>
          <a:p>
            <a:r>
              <a:rPr lang="en-US" altLang="zh-CN" b="1" dirty="0"/>
              <a:t>For an adiabatic process at constant volume</a:t>
            </a:r>
            <a:endParaRPr lang="zh-CN" altLang="en-US" b="1" dirty="0"/>
          </a:p>
        </p:txBody>
      </p:sp>
      <p:pic>
        <p:nvPicPr>
          <p:cNvPr id="522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019" y="2140160"/>
            <a:ext cx="2055091" cy="1284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053" y="4186592"/>
            <a:ext cx="4141302" cy="635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2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998" y="5278470"/>
            <a:ext cx="2184166" cy="723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2723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93594" y="1234322"/>
            <a:ext cx="5349269" cy="707886"/>
          </a:xfrm>
          <a:prstGeom prst="rect">
            <a:avLst/>
          </a:prstGeom>
        </p:spPr>
        <p:txBody>
          <a:bodyPr wrap="square">
            <a:spAutoFit/>
          </a:bodyPr>
          <a:lstStyle/>
          <a:p>
            <a:r>
              <a:rPr lang="en-US" altLang="zh-CN" sz="2000" dirty="0">
                <a:latin typeface="Arial Unicode MS" pitchFamily="34" charset="-122"/>
                <a:ea typeface="Arial Unicode MS" pitchFamily="34" charset="-122"/>
                <a:cs typeface="Arial Unicode MS" pitchFamily="34" charset="-122"/>
              </a:rPr>
              <a:t>The reversible work done in </a:t>
            </a:r>
            <a:r>
              <a:rPr lang="en-US" altLang="zh-CN" sz="2000" i="1" dirty="0">
                <a:latin typeface="Arial Unicode MS" pitchFamily="34" charset="-122"/>
                <a:ea typeface="Arial Unicode MS" pitchFamily="34" charset="-122"/>
                <a:cs typeface="Arial Unicode MS" pitchFamily="34" charset="-122"/>
              </a:rPr>
              <a:t>creating </a:t>
            </a:r>
            <a:r>
              <a:rPr lang="en-US" altLang="zh-CN" sz="2000" dirty="0">
                <a:latin typeface="Arial Unicode MS" pitchFamily="34" charset="-122"/>
                <a:ea typeface="Arial Unicode MS" pitchFamily="34" charset="-122"/>
                <a:cs typeface="Arial Unicode MS" pitchFamily="34" charset="-122"/>
              </a:rPr>
              <a:t>a new surface (in joules) of area </a:t>
            </a:r>
            <a:r>
              <a:rPr lang="en-US" altLang="zh-CN" sz="2000" i="1" dirty="0">
                <a:latin typeface="Arial Unicode MS" pitchFamily="34" charset="-122"/>
                <a:ea typeface="Arial Unicode MS" pitchFamily="34" charset="-122"/>
                <a:cs typeface="Arial Unicode MS" pitchFamily="34" charset="-122"/>
              </a:rPr>
              <a:t>A </a:t>
            </a:r>
            <a:r>
              <a:rPr lang="en-US" altLang="zh-CN" sz="2000" dirty="0">
                <a:latin typeface="Arial Unicode MS" pitchFamily="34" charset="-122"/>
                <a:ea typeface="Arial Unicode MS" pitchFamily="34" charset="-122"/>
                <a:cs typeface="Arial Unicode MS" pitchFamily="34" charset="-122"/>
              </a:rPr>
              <a:t>is given as</a:t>
            </a:r>
            <a:endParaRPr lang="zh-CN" altLang="en-US" sz="2000" dirty="0">
              <a:latin typeface="Arial Unicode MS" pitchFamily="34" charset="-122"/>
              <a:ea typeface="Arial Unicode MS" pitchFamily="34" charset="-122"/>
              <a:cs typeface="Arial Unicode MS" pitchFamily="34" charset="-122"/>
            </a:endParaRPr>
          </a:p>
        </p:txBody>
      </p:sp>
      <p:sp>
        <p:nvSpPr>
          <p:cNvPr id="3" name="矩形 2"/>
          <p:cNvSpPr/>
          <p:nvPr/>
        </p:nvSpPr>
        <p:spPr>
          <a:xfrm>
            <a:off x="152400" y="55735"/>
            <a:ext cx="6705600" cy="523220"/>
          </a:xfrm>
          <a:prstGeom prst="rect">
            <a:avLst/>
          </a:prstGeom>
        </p:spPr>
        <p:txBody>
          <a:bodyPr wrap="square">
            <a:spAutoFit/>
          </a:bodyPr>
          <a:lstStyle/>
          <a:p>
            <a:r>
              <a:rPr lang="en-US" altLang="zh-CN" sz="2800" b="1" dirty="0">
                <a:solidFill>
                  <a:srgbClr val="FF0000"/>
                </a:solidFill>
                <a:latin typeface="Arial Unicode MS" pitchFamily="34" charset="-122"/>
                <a:ea typeface="Arial Unicode MS" pitchFamily="34" charset="-122"/>
                <a:cs typeface="Arial Unicode MS" pitchFamily="34" charset="-122"/>
              </a:rPr>
              <a:t>Work </a:t>
            </a:r>
            <a:r>
              <a:rPr lang="en-US" altLang="zh-CN" sz="2800" dirty="0">
                <a:latin typeface="Arial Unicode MS" pitchFamily="34" charset="-122"/>
                <a:ea typeface="Arial Unicode MS" pitchFamily="34" charset="-122"/>
                <a:cs typeface="Arial Unicode MS" pitchFamily="34" charset="-122"/>
              </a:rPr>
              <a:t>to create a new surface</a:t>
            </a:r>
          </a:p>
        </p:txBody>
      </p:sp>
      <p:sp>
        <p:nvSpPr>
          <p:cNvPr id="4" name="TextBox 3"/>
          <p:cNvSpPr txBox="1"/>
          <p:nvPr/>
        </p:nvSpPr>
        <p:spPr>
          <a:xfrm>
            <a:off x="4242664" y="2308620"/>
            <a:ext cx="2937022" cy="400110"/>
          </a:xfrm>
          <a:prstGeom prst="rect">
            <a:avLst/>
          </a:prstGeom>
          <a:noFill/>
        </p:spPr>
        <p:txBody>
          <a:bodyPr wrap="none" rtlCol="0">
            <a:spAutoFit/>
          </a:bodyPr>
          <a:lstStyle/>
          <a:p>
            <a:r>
              <a:rPr lang="en-US" altLang="zh-CN" sz="2000" dirty="0">
                <a:latin typeface="Arial Unicode MS" pitchFamily="34" charset="-122"/>
                <a:ea typeface="Arial Unicode MS" pitchFamily="34" charset="-122"/>
                <a:cs typeface="Arial Unicode MS" pitchFamily="34" charset="-122"/>
              </a:rPr>
              <a:t>γ: surface energy, [J/m</a:t>
            </a:r>
            <a:r>
              <a:rPr lang="en-US" altLang="zh-CN" sz="2000" baseline="30000" dirty="0">
                <a:latin typeface="Arial Unicode MS" pitchFamily="34" charset="-122"/>
                <a:ea typeface="Arial Unicode MS" pitchFamily="34" charset="-122"/>
                <a:cs typeface="Arial Unicode MS" pitchFamily="34" charset="-122"/>
              </a:rPr>
              <a:t>2</a:t>
            </a:r>
            <a:r>
              <a:rPr lang="en-US" altLang="zh-CN" sz="2000" dirty="0">
                <a:latin typeface="Arial Unicode MS" pitchFamily="34" charset="-122"/>
                <a:ea typeface="Arial Unicode MS" pitchFamily="34" charset="-122"/>
                <a:cs typeface="Arial Unicode MS" pitchFamily="34" charset="-122"/>
              </a:rPr>
              <a:t>]</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145" y="2954909"/>
            <a:ext cx="2598223" cy="93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661264" y="4596763"/>
            <a:ext cx="4370877" cy="369332"/>
          </a:xfrm>
          <a:prstGeom prst="rect">
            <a:avLst/>
          </a:prstGeom>
          <a:noFill/>
        </p:spPr>
        <p:txBody>
          <a:bodyPr wrap="none" rtlCol="0">
            <a:spAutoFit/>
          </a:bodyPr>
          <a:lstStyle/>
          <a:p>
            <a:r>
              <a:rPr lang="en-US" altLang="zh-CN" b="1" dirty="0"/>
              <a:t>For an adiabatic process at constant volume</a:t>
            </a:r>
            <a:endParaRPr lang="zh-CN" altLang="en-US" b="1" dirty="0"/>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843" y="2192197"/>
            <a:ext cx="2217122" cy="838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7595" y="3746895"/>
            <a:ext cx="3878213" cy="654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7583" y="5118495"/>
            <a:ext cx="1934936"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5683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93" y="120525"/>
            <a:ext cx="6825074" cy="584775"/>
          </a:xfrm>
          <a:prstGeom prst="rect">
            <a:avLst/>
          </a:prstGeom>
          <a:noFill/>
        </p:spPr>
        <p:txBody>
          <a:bodyPr wrap="none" rtlCol="0">
            <a:spAutoFit/>
          </a:bodyPr>
          <a:lstStyle/>
          <a:p>
            <a:r>
              <a:rPr lang="en-US" altLang="zh-CN" sz="3200" dirty="0">
                <a:solidFill>
                  <a:srgbClr val="FF0000"/>
                </a:solidFill>
              </a:rPr>
              <a:t>The importance of energy conservation </a:t>
            </a:r>
            <a:endParaRPr lang="zh-CN" altLang="en-US" sz="3200" dirty="0">
              <a:solidFill>
                <a:srgbClr val="FF0000"/>
              </a:solidFill>
            </a:endParaRPr>
          </a:p>
        </p:txBody>
      </p:sp>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862519"/>
            <a:ext cx="1867848" cy="13229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2312763096"/>
              </p:ext>
            </p:extLst>
          </p:nvPr>
        </p:nvGraphicFramePr>
        <p:xfrm>
          <a:off x="2017576" y="181991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0" name=""/>
                      <p:cNvPicPr/>
                      <p:nvPr/>
                    </p:nvPicPr>
                    <p:blipFill>
                      <a:blip r:embed="rId4"/>
                      <a:stretch>
                        <a:fillRect/>
                      </a:stretch>
                    </p:blipFill>
                    <p:spPr>
                      <a:xfrm>
                        <a:off x="2017576" y="1819910"/>
                        <a:ext cx="914400" cy="198438"/>
                      </a:xfrm>
                      <a:prstGeom prst="rect">
                        <a:avLst/>
                      </a:prstGeom>
                    </p:spPr>
                  </p:pic>
                </p:oleObj>
              </mc:Fallback>
            </mc:AlternateContent>
          </a:graphicData>
        </a:graphic>
      </p:graphicFrame>
      <p:pic>
        <p:nvPicPr>
          <p:cNvPr id="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25048" y="1254325"/>
            <a:ext cx="2598223" cy="931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142301" y="935072"/>
            <a:ext cx="1683731" cy="1323439"/>
          </a:xfrm>
          <a:prstGeom prst="rect">
            <a:avLst/>
          </a:prstGeom>
          <a:noFill/>
        </p:spPr>
        <p:txBody>
          <a:bodyPr wrap="none" rtlCol="0">
            <a:spAutoFit/>
          </a:bodyPr>
          <a:lstStyle/>
          <a:p>
            <a:pPr marL="457200" indent="-457200">
              <a:buFont typeface="Arial" pitchFamily="34" charset="0"/>
              <a:buChar char="•"/>
            </a:pPr>
            <a:r>
              <a:rPr lang="en-US" altLang="zh-CN" sz="2000" dirty="0"/>
              <a:t>PV work</a:t>
            </a:r>
          </a:p>
          <a:p>
            <a:pPr marL="457200" indent="-457200">
              <a:buFont typeface="Arial" pitchFamily="34" charset="0"/>
              <a:buChar char="•"/>
            </a:pPr>
            <a:r>
              <a:rPr lang="en-US" altLang="zh-CN" sz="2000" dirty="0"/>
              <a:t>Magnetic </a:t>
            </a:r>
          </a:p>
          <a:p>
            <a:pPr marL="457200" indent="-457200">
              <a:buFont typeface="Arial" pitchFamily="34" charset="0"/>
              <a:buChar char="•"/>
            </a:pPr>
            <a:r>
              <a:rPr lang="en-US" altLang="zh-CN" sz="2000" dirty="0"/>
              <a:t>Electrical </a:t>
            </a:r>
          </a:p>
          <a:p>
            <a:pPr marL="457200" indent="-457200">
              <a:buFont typeface="Arial" pitchFamily="34" charset="0"/>
              <a:buChar char="•"/>
            </a:pPr>
            <a:r>
              <a:rPr lang="en-US" altLang="zh-CN" sz="2000" dirty="0"/>
              <a:t>Surface</a:t>
            </a:r>
          </a:p>
        </p:txBody>
      </p:sp>
      <p:sp>
        <p:nvSpPr>
          <p:cNvPr id="7" name="矩形 6"/>
          <p:cNvSpPr/>
          <p:nvPr/>
        </p:nvSpPr>
        <p:spPr>
          <a:xfrm>
            <a:off x="7073188" y="985151"/>
            <a:ext cx="1905000" cy="1200329"/>
          </a:xfrm>
          <a:prstGeom prst="rect">
            <a:avLst/>
          </a:prstGeom>
        </p:spPr>
        <p:txBody>
          <a:bodyPr wrap="square">
            <a:spAutoFit/>
          </a:bodyPr>
          <a:lstStyle/>
          <a:p>
            <a:pPr marL="457200" indent="-457200">
              <a:buFont typeface="Arial" pitchFamily="34" charset="0"/>
              <a:buChar char="•"/>
            </a:pPr>
            <a:r>
              <a:rPr lang="en-US" altLang="zh-CN" sz="2400" dirty="0">
                <a:solidFill>
                  <a:srgbClr val="FF0000"/>
                </a:solidFill>
              </a:rPr>
              <a:t>Elastic</a:t>
            </a:r>
          </a:p>
          <a:p>
            <a:pPr marL="457200" indent="-457200">
              <a:buFont typeface="Arial" pitchFamily="34" charset="0"/>
              <a:buChar char="•"/>
            </a:pPr>
            <a:r>
              <a:rPr lang="en-US" altLang="zh-CN" sz="2400" dirty="0">
                <a:solidFill>
                  <a:srgbClr val="FF0000"/>
                </a:solidFill>
              </a:rPr>
              <a:t>Chemical</a:t>
            </a:r>
          </a:p>
          <a:p>
            <a:pPr marL="457200" indent="-457200">
              <a:buFont typeface="Arial" pitchFamily="34" charset="0"/>
              <a:buChar char="•"/>
            </a:pPr>
            <a:r>
              <a:rPr lang="en-US" altLang="zh-CN" sz="2400" dirty="0">
                <a:solidFill>
                  <a:srgbClr val="FF0000"/>
                </a:solidFill>
              </a:rPr>
              <a:t>Nuclear</a:t>
            </a:r>
            <a:endParaRPr lang="zh-CN" altLang="en-US" sz="2400" dirty="0">
              <a:solidFill>
                <a:srgbClr val="FF0000"/>
              </a:solidFill>
            </a:endParaRPr>
          </a:p>
        </p:txBody>
      </p:sp>
      <p:sp>
        <p:nvSpPr>
          <p:cNvPr id="8" name="TextBox 7"/>
          <p:cNvSpPr txBox="1"/>
          <p:nvPr/>
        </p:nvSpPr>
        <p:spPr>
          <a:xfrm>
            <a:off x="2057400" y="2885069"/>
            <a:ext cx="4943213" cy="400110"/>
          </a:xfrm>
          <a:prstGeom prst="rect">
            <a:avLst/>
          </a:prstGeom>
          <a:noFill/>
        </p:spPr>
        <p:txBody>
          <a:bodyPr wrap="none" rtlCol="0">
            <a:spAutoFit/>
          </a:bodyPr>
          <a:lstStyle/>
          <a:p>
            <a:r>
              <a:rPr lang="en-US" altLang="zh-CN" sz="2000" dirty="0"/>
              <a:t>The 1</a:t>
            </a:r>
            <a:r>
              <a:rPr lang="en-US" altLang="zh-CN" sz="2000" baseline="30000" dirty="0"/>
              <a:t>st</a:t>
            </a:r>
            <a:r>
              <a:rPr lang="en-US" altLang="zh-CN" sz="2000" dirty="0"/>
              <a:t> </a:t>
            </a:r>
            <a:r>
              <a:rPr lang="zh-CN" altLang="en-US" sz="2000" dirty="0"/>
              <a:t> </a:t>
            </a:r>
            <a:r>
              <a:rPr lang="en-US" altLang="zh-CN" sz="2000" dirty="0"/>
              <a:t>law connected all the form of energy </a:t>
            </a:r>
          </a:p>
        </p:txBody>
      </p:sp>
      <p:pic>
        <p:nvPicPr>
          <p:cNvPr id="46083" name="Picture 3"/>
          <p:cNvPicPr>
            <a:picLocks noChangeAspect="1" noChangeArrowheads="1"/>
          </p:cNvPicPr>
          <p:nvPr/>
        </p:nvPicPr>
        <p:blipFill rotWithShape="1">
          <a:blip r:embed="rId6">
            <a:extLst>
              <a:ext uri="{28A0092B-C50C-407E-A947-70E740481C1C}">
                <a14:useLocalDpi xmlns:a14="http://schemas.microsoft.com/office/drawing/2010/main" val="0"/>
              </a:ext>
            </a:extLst>
          </a:blip>
          <a:srcRect l="46002"/>
          <a:stretch/>
        </p:blipFill>
        <p:spPr bwMode="auto">
          <a:xfrm>
            <a:off x="161878" y="3657600"/>
            <a:ext cx="1665064" cy="279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4" name="Picture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21635" y="4052599"/>
            <a:ext cx="2037839" cy="1357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6" name="Picture 6"/>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00800" y="4063111"/>
            <a:ext cx="2269648" cy="204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8" name="Picture 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834457" y="5094626"/>
            <a:ext cx="2177627" cy="1361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19656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49800" y="3437398"/>
            <a:ext cx="952500" cy="144000"/>
          </a:xfrm>
          <a:prstGeom prst="roundRect">
            <a:avLst>
              <a:gd name="adj" fmla="val 0"/>
            </a:avLst>
          </a:prstGeom>
          <a:solidFill>
            <a:srgbClr val="C83C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圆角矩形 6"/>
          <p:cNvSpPr/>
          <p:nvPr/>
        </p:nvSpPr>
        <p:spPr>
          <a:xfrm>
            <a:off x="1063916" y="3437398"/>
            <a:ext cx="3643609" cy="144002"/>
          </a:xfrm>
          <a:prstGeom prst="roundRect">
            <a:avLst>
              <a:gd name="adj" fmla="val 0"/>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圆角矩形 7"/>
          <p:cNvSpPr/>
          <p:nvPr/>
        </p:nvSpPr>
        <p:spPr>
          <a:xfrm>
            <a:off x="4774200" y="3437398"/>
            <a:ext cx="4320000" cy="144000"/>
          </a:xfrm>
          <a:prstGeom prst="roundRect">
            <a:avLst>
              <a:gd name="adj" fmla="val 0"/>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TextBox 9"/>
          <p:cNvSpPr txBox="1"/>
          <p:nvPr/>
        </p:nvSpPr>
        <p:spPr>
          <a:xfrm>
            <a:off x="1219200" y="2602300"/>
            <a:ext cx="6053580"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dirty="0">
                <a:solidFill>
                  <a:srgbClr val="FF0000"/>
                </a:solidFill>
              </a:rPr>
              <a:t>3. Latent heat and Specific heat</a:t>
            </a:r>
          </a:p>
        </p:txBody>
      </p:sp>
      <p:pic>
        <p:nvPicPr>
          <p:cNvPr id="15"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1850" y="2165869"/>
            <a:ext cx="788400" cy="1159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1106396" y="4038600"/>
            <a:ext cx="3647152" cy="800219"/>
          </a:xfrm>
          <a:prstGeom prst="rect">
            <a:avLst/>
          </a:prstGeom>
        </p:spPr>
        <p:txBody>
          <a:bodyPr wrap="none">
            <a:spAutoFit/>
          </a:bodyPr>
          <a:lstStyle/>
          <a:p>
            <a:pPr>
              <a:spcAft>
                <a:spcPts val="1200"/>
              </a:spcAft>
            </a:pPr>
            <a:r>
              <a:rPr lang="en-US" altLang="zh-CN" dirty="0"/>
              <a:t>Chapter 1 </a:t>
            </a:r>
          </a:p>
          <a:p>
            <a:pPr>
              <a:spcAft>
                <a:spcPts val="1200"/>
              </a:spcAft>
            </a:pPr>
            <a:r>
              <a:rPr lang="zh-CN" altLang="en-US" dirty="0"/>
              <a:t>热力学，王竹溪，北京大学出版社</a:t>
            </a:r>
            <a:endParaRPr lang="en-US" altLang="zh-CN" dirty="0"/>
          </a:p>
        </p:txBody>
      </p:sp>
      <p:sp>
        <p:nvSpPr>
          <p:cNvPr id="9" name="矩形 8"/>
          <p:cNvSpPr/>
          <p:nvPr/>
        </p:nvSpPr>
        <p:spPr>
          <a:xfrm>
            <a:off x="1140515" y="4838819"/>
            <a:ext cx="7546684" cy="1231106"/>
          </a:xfrm>
          <a:prstGeom prst="rect">
            <a:avLst/>
          </a:prstGeom>
        </p:spPr>
        <p:txBody>
          <a:bodyPr wrap="square">
            <a:spAutoFit/>
          </a:bodyPr>
          <a:lstStyle/>
          <a:p>
            <a:pPr>
              <a:spcAft>
                <a:spcPts val="1200"/>
              </a:spcAft>
            </a:pPr>
            <a:r>
              <a:rPr lang="en-US" altLang="zh-CN" b="1" dirty="0"/>
              <a:t>Chapter 2.6</a:t>
            </a:r>
          </a:p>
          <a:p>
            <a:pPr>
              <a:spcAft>
                <a:spcPts val="1200"/>
              </a:spcAft>
            </a:pPr>
            <a:r>
              <a:rPr lang="en-US" altLang="zh-CN" b="1" dirty="0"/>
              <a:t>Introduction to the thermodynamics of materials</a:t>
            </a:r>
            <a:r>
              <a:rPr lang="en-US" altLang="zh-CN" dirty="0"/>
              <a:t>, </a:t>
            </a:r>
          </a:p>
          <a:p>
            <a:pPr>
              <a:spcAft>
                <a:spcPts val="1200"/>
              </a:spcAft>
            </a:pPr>
            <a:r>
              <a:rPr lang="en-US" altLang="zh-CN" dirty="0"/>
              <a:t>6</a:t>
            </a:r>
            <a:r>
              <a:rPr lang="en-US" altLang="zh-CN" baseline="30000" dirty="0"/>
              <a:t>th</a:t>
            </a:r>
            <a:r>
              <a:rPr lang="en-US" altLang="zh-CN" dirty="0"/>
              <a:t> edition, by David R. Gaskell, </a:t>
            </a:r>
            <a:r>
              <a:rPr lang="en-US" altLang="zh-CN" dirty="0" err="1"/>
              <a:t>Talor</a:t>
            </a:r>
            <a:r>
              <a:rPr lang="en-US" altLang="zh-CN" dirty="0"/>
              <a:t> &amp; Francis Press, 2018</a:t>
            </a:r>
          </a:p>
        </p:txBody>
      </p:sp>
    </p:spTree>
    <p:extLst>
      <p:ext uri="{BB962C8B-B14F-4D97-AF65-F5344CB8AC3E}">
        <p14:creationId xmlns:p14="http://schemas.microsoft.com/office/powerpoint/2010/main" val="3661231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5662"/>
            <a:ext cx="6457950" cy="810529"/>
          </a:xfrm>
        </p:spPr>
        <p:txBody>
          <a:bodyPr>
            <a:normAutofit/>
          </a:bodyPr>
          <a:lstStyle/>
          <a:p>
            <a:pPr algn="l"/>
            <a:r>
              <a:rPr lang="en-US" sz="3200" dirty="0">
                <a:solidFill>
                  <a:srgbClr val="FF0000"/>
                </a:solidFill>
                <a:latin typeface="Arial" charset="0"/>
                <a:cs typeface="Arial" charset="0"/>
              </a:rPr>
              <a:t>Heat Capacity</a:t>
            </a:r>
            <a:endParaRPr lang="en-US" sz="3200" baseline="-250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9" name="Text Box 4"/>
          <p:cNvSpPr txBox="1">
            <a:spLocks noChangeArrowheads="1"/>
          </p:cNvSpPr>
          <p:nvPr/>
        </p:nvSpPr>
        <p:spPr bwMode="auto">
          <a:xfrm>
            <a:off x="414337" y="1360203"/>
            <a:ext cx="8472488"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b="1" u="sng" dirty="0">
                <a:solidFill>
                  <a:srgbClr val="FF0000"/>
                </a:solidFill>
                <a:latin typeface="Arial" charset="0"/>
                <a:ea typeface="宋体" charset="-122"/>
              </a:rPr>
              <a:t>Heat Capacity (C): </a:t>
            </a:r>
            <a:r>
              <a:rPr lang="en-US" altLang="zh-CN" sz="2000" b="1" dirty="0">
                <a:solidFill>
                  <a:srgbClr val="000000"/>
                </a:solidFill>
                <a:latin typeface="Arial" charset="0"/>
                <a:ea typeface="宋体" charset="-122"/>
              </a:rPr>
              <a:t>T</a:t>
            </a:r>
            <a:r>
              <a:rPr lang="en-US" altLang="zh-CN" sz="2000" b="1" dirty="0">
                <a:solidFill>
                  <a:srgbClr val="336600"/>
                </a:solidFill>
                <a:latin typeface="Arial" charset="0"/>
                <a:ea typeface="宋体" charset="-122"/>
              </a:rPr>
              <a:t>he ratio of </a:t>
            </a:r>
            <a:r>
              <a:rPr lang="en-US" altLang="zh-CN" sz="2000" b="1" dirty="0">
                <a:solidFill>
                  <a:srgbClr val="000000"/>
                </a:solidFill>
                <a:latin typeface="Arial" charset="0"/>
                <a:ea typeface="宋体" charset="-122"/>
              </a:rPr>
              <a:t>heat</a:t>
            </a:r>
            <a:r>
              <a:rPr lang="en-US" altLang="zh-CN" sz="2000" b="1" dirty="0">
                <a:solidFill>
                  <a:srgbClr val="FF0000"/>
                </a:solidFill>
                <a:latin typeface="Arial" charset="0"/>
                <a:ea typeface="宋体" charset="-122"/>
              </a:rPr>
              <a:t> </a:t>
            </a:r>
            <a:r>
              <a:rPr lang="en-US" altLang="zh-CN" sz="2000" b="1" dirty="0">
                <a:solidFill>
                  <a:srgbClr val="336600"/>
                </a:solidFill>
                <a:latin typeface="Arial" charset="0"/>
                <a:ea typeface="宋体" charset="-122"/>
              </a:rPr>
              <a:t>transferred between the system and the surrounding </a:t>
            </a:r>
            <a:r>
              <a:rPr lang="en-US" altLang="zh-CN" sz="2000" b="1" dirty="0">
                <a:solidFill>
                  <a:srgbClr val="000000"/>
                </a:solidFill>
                <a:latin typeface="Arial" charset="0"/>
                <a:ea typeface="宋体" charset="-122"/>
              </a:rPr>
              <a:t>divided by</a:t>
            </a:r>
            <a:r>
              <a:rPr lang="en-US" altLang="zh-CN" sz="2000" b="1" dirty="0">
                <a:solidFill>
                  <a:srgbClr val="336600"/>
                </a:solidFill>
                <a:latin typeface="Arial" charset="0"/>
                <a:ea typeface="宋体" charset="-122"/>
              </a:rPr>
              <a:t> the resulted </a:t>
            </a:r>
            <a:r>
              <a:rPr lang="en-US" altLang="zh-CN" sz="2000" b="1" dirty="0">
                <a:solidFill>
                  <a:srgbClr val="000000"/>
                </a:solidFill>
                <a:latin typeface="Arial" charset="0"/>
                <a:ea typeface="宋体" charset="-122"/>
              </a:rPr>
              <a:t>change in temperature</a:t>
            </a:r>
            <a:r>
              <a:rPr lang="en-US" altLang="zh-CN" sz="2000" b="1" dirty="0">
                <a:solidFill>
                  <a:srgbClr val="336600"/>
                </a:solidFill>
                <a:latin typeface="Arial" charset="0"/>
                <a:ea typeface="宋体" charset="-122"/>
              </a:rPr>
              <a:t> of the system</a:t>
            </a:r>
          </a:p>
          <a:p>
            <a:pPr defTabSz="914400" eaLnBrk="1" hangingPunct="1"/>
            <a:r>
              <a:rPr lang="en-US" altLang="zh-CN" sz="2000" b="1" u="sng" dirty="0">
                <a:solidFill>
                  <a:srgbClr val="FF0000"/>
                </a:solidFill>
                <a:latin typeface="Arial" charset="0"/>
                <a:ea typeface="宋体" charset="-122"/>
              </a:rPr>
              <a:t>Specific Heat Capacity (c): </a:t>
            </a:r>
            <a:r>
              <a:rPr lang="en-US" altLang="zh-CN" sz="2000" b="1" dirty="0">
                <a:solidFill>
                  <a:srgbClr val="336600"/>
                </a:solidFill>
                <a:latin typeface="Arial" charset="0"/>
                <a:ea typeface="宋体" charset="-122"/>
              </a:rPr>
              <a:t>heat capacity / mole</a:t>
            </a:r>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075" y="3600699"/>
            <a:ext cx="3241675" cy="2493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 name="Text Box 6"/>
          <p:cNvSpPr txBox="1">
            <a:spLocks noChangeArrowheads="1"/>
          </p:cNvSpPr>
          <p:nvPr/>
        </p:nvSpPr>
        <p:spPr bwMode="auto">
          <a:xfrm>
            <a:off x="4581525" y="4658890"/>
            <a:ext cx="293862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b="1" dirty="0">
                <a:solidFill>
                  <a:srgbClr val="336600"/>
                </a:solidFill>
                <a:latin typeface="Arial" charset="0"/>
                <a:ea typeface="宋体" charset="-122"/>
              </a:rPr>
              <a:t>A Material Property?</a:t>
            </a:r>
            <a:r>
              <a:rPr lang="en-US" altLang="zh-CN" sz="2000" dirty="0">
                <a:solidFill>
                  <a:srgbClr val="000000"/>
                </a:solidFill>
                <a:latin typeface="Arial" charset="0"/>
                <a:ea typeface="宋体" charset="-122"/>
              </a:rPr>
              <a:t> </a:t>
            </a:r>
          </a:p>
          <a:p>
            <a:pPr defTabSz="914400" eaLnBrk="1" hangingPunct="1"/>
            <a:r>
              <a:rPr lang="en-US" altLang="zh-CN" sz="2000" b="1" dirty="0">
                <a:solidFill>
                  <a:srgbClr val="0000CC"/>
                </a:solidFill>
                <a:latin typeface="Arial" charset="0"/>
                <a:ea typeface="宋体" charset="-122"/>
              </a:rPr>
              <a:t>Process Dependence?</a:t>
            </a:r>
          </a:p>
        </p:txBody>
      </p:sp>
      <p:sp>
        <p:nvSpPr>
          <p:cNvPr id="41" name="Text Box 7"/>
          <p:cNvSpPr txBox="1">
            <a:spLocks noChangeArrowheads="1"/>
          </p:cNvSpPr>
          <p:nvPr/>
        </p:nvSpPr>
        <p:spPr bwMode="auto">
          <a:xfrm>
            <a:off x="4698206" y="5579869"/>
            <a:ext cx="243601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000" b="1" dirty="0">
                <a:solidFill>
                  <a:srgbClr val="FF0000"/>
                </a:solidFill>
                <a:latin typeface="Arial" charset="0"/>
                <a:ea typeface="宋体" charset="-122"/>
              </a:rPr>
              <a:t>Phase Transition</a:t>
            </a:r>
          </a:p>
        </p:txBody>
      </p:sp>
      <p:grpSp>
        <p:nvGrpSpPr>
          <p:cNvPr id="11" name="组合 10"/>
          <p:cNvGrpSpPr/>
          <p:nvPr/>
        </p:nvGrpSpPr>
        <p:grpSpPr>
          <a:xfrm>
            <a:off x="3078284" y="2931829"/>
            <a:ext cx="5675809" cy="1134207"/>
            <a:chOff x="1856153" y="3103685"/>
            <a:chExt cx="5675809" cy="1134207"/>
          </a:xfrm>
        </p:grpSpPr>
        <p:sp>
          <p:nvSpPr>
            <p:cNvPr id="12" name="TextBox 11"/>
            <p:cNvSpPr txBox="1"/>
            <p:nvPr/>
          </p:nvSpPr>
          <p:spPr>
            <a:xfrm>
              <a:off x="3859823" y="3103685"/>
              <a:ext cx="2189286" cy="400110"/>
            </a:xfrm>
            <a:prstGeom prst="rect">
              <a:avLst/>
            </a:prstGeom>
            <a:noFill/>
            <a:ln w="12700">
              <a:solidFill>
                <a:srgbClr val="FF0000"/>
              </a:solidFill>
            </a:ln>
          </p:spPr>
          <p:txBody>
            <a:bodyPr wrap="square" rtlCol="0">
              <a:spAutoFit/>
            </a:bodyPr>
            <a:lstStyle/>
            <a:p>
              <a:pPr algn="ctr"/>
              <a:r>
                <a:rPr lang="en-US" altLang="zh-CN" sz="2000" dirty="0"/>
                <a:t>Heat transferred</a:t>
              </a:r>
              <a:endParaRPr lang="zh-CN" altLang="en-US" sz="2000" dirty="0"/>
            </a:p>
          </p:txBody>
        </p:sp>
        <p:sp>
          <p:nvSpPr>
            <p:cNvPr id="13" name="TextBox 12"/>
            <p:cNvSpPr txBox="1"/>
            <p:nvPr/>
          </p:nvSpPr>
          <p:spPr>
            <a:xfrm>
              <a:off x="3634154" y="3853962"/>
              <a:ext cx="2397370" cy="369332"/>
            </a:xfrm>
            <a:prstGeom prst="rect">
              <a:avLst/>
            </a:prstGeom>
            <a:noFill/>
            <a:ln w="12700">
              <a:solidFill>
                <a:srgbClr val="FF0000"/>
              </a:solidFill>
            </a:ln>
          </p:spPr>
          <p:txBody>
            <a:bodyPr wrap="square" rtlCol="0">
              <a:spAutoFit/>
            </a:bodyPr>
            <a:lstStyle/>
            <a:p>
              <a:pPr algn="ctr"/>
              <a:r>
                <a:rPr lang="en-US" altLang="zh-CN" sz="1800" dirty="0"/>
                <a:t>Temperature change</a:t>
              </a:r>
              <a:endParaRPr lang="zh-CN" altLang="en-US" sz="1800" dirty="0"/>
            </a:p>
          </p:txBody>
        </p:sp>
        <p:graphicFrame>
          <p:nvGraphicFramePr>
            <p:cNvPr id="14" name="Object 3"/>
            <p:cNvGraphicFramePr>
              <a:graphicFrameLocks noChangeAspect="1"/>
            </p:cNvGraphicFramePr>
            <p:nvPr/>
          </p:nvGraphicFramePr>
          <p:xfrm>
            <a:off x="6492149" y="3241065"/>
            <a:ext cx="1039813" cy="809625"/>
          </p:xfrm>
          <a:graphic>
            <a:graphicData uri="http://schemas.openxmlformats.org/presentationml/2006/ole">
              <mc:AlternateContent xmlns:mc="http://schemas.openxmlformats.org/markup-compatibility/2006">
                <mc:Choice xmlns:v="urn:schemas-microsoft-com:vml" Requires="v">
                  <p:oleObj name="公式" r:id="rId3" imgW="507960" imgH="393480" progId="Equation.3">
                    <p:embed/>
                  </p:oleObj>
                </mc:Choice>
                <mc:Fallback>
                  <p:oleObj name="公式" r:id="rId3" imgW="507960" imgH="393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2149" y="3241065"/>
                          <a:ext cx="1039813"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4"/>
            <p:cNvGraphicFramePr>
              <a:graphicFrameLocks noChangeAspect="1"/>
            </p:cNvGraphicFramePr>
            <p:nvPr/>
          </p:nvGraphicFramePr>
          <p:xfrm>
            <a:off x="1856153" y="3158026"/>
            <a:ext cx="1092200" cy="809625"/>
          </p:xfrm>
          <a:graphic>
            <a:graphicData uri="http://schemas.openxmlformats.org/presentationml/2006/ole">
              <mc:AlternateContent xmlns:mc="http://schemas.openxmlformats.org/markup-compatibility/2006">
                <mc:Choice xmlns:v="urn:schemas-microsoft-com:vml" Requires="v">
                  <p:oleObj name="公式" r:id="rId5" imgW="533160" imgH="393480" progId="Equation.3">
                    <p:embed/>
                  </p:oleObj>
                </mc:Choice>
                <mc:Fallback>
                  <p:oleObj name="公式" r:id="rId5" imgW="533160" imgH="393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56153" y="3158026"/>
                          <a:ext cx="109220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6" name="直接箭头连接符 15"/>
            <p:cNvCxnSpPr/>
            <p:nvPr/>
          </p:nvCxnSpPr>
          <p:spPr>
            <a:xfrm rot="10800000" flipV="1">
              <a:off x="2857501" y="3130062"/>
              <a:ext cx="993531" cy="360484"/>
            </a:xfrm>
            <a:prstGeom prst="straightConnector1">
              <a:avLst/>
            </a:prstGeom>
            <a:ln w="12700">
              <a:solidFill>
                <a:srgbClr val="FF0000"/>
              </a:solidFill>
              <a:tailEnd type="arrow"/>
            </a:ln>
          </p:spPr>
          <p:style>
            <a:lnRef idx="2">
              <a:schemeClr val="accent1"/>
            </a:lnRef>
            <a:fillRef idx="0">
              <a:schemeClr val="accent1"/>
            </a:fillRef>
            <a:effectRef idx="1">
              <a:schemeClr val="accent1"/>
            </a:effectRef>
            <a:fontRef idx="minor">
              <a:schemeClr val="tx1"/>
            </a:fontRef>
          </p:style>
        </p:cxnSp>
        <p:cxnSp>
          <p:nvCxnSpPr>
            <p:cNvPr id="17" name="直接箭头连接符 16"/>
            <p:cNvCxnSpPr/>
            <p:nvPr/>
          </p:nvCxnSpPr>
          <p:spPr>
            <a:xfrm rot="10800000">
              <a:off x="2787162" y="3763108"/>
              <a:ext cx="826476" cy="474784"/>
            </a:xfrm>
            <a:prstGeom prst="straightConnector1">
              <a:avLst/>
            </a:prstGeom>
            <a:ln w="12700">
              <a:solidFill>
                <a:srgbClr val="FF0000"/>
              </a:solidFill>
              <a:tailEnd type="arrow"/>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470079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 y="-7271"/>
            <a:ext cx="6457950" cy="918368"/>
          </a:xfrm>
        </p:spPr>
        <p:txBody>
          <a:bodyPr>
            <a:normAutofit/>
          </a:bodyPr>
          <a:lstStyle/>
          <a:p>
            <a:pPr algn="l"/>
            <a:r>
              <a:rPr lang="en-US" altLang="zh-CN" sz="3600" dirty="0">
                <a:solidFill>
                  <a:srgbClr val="FF0000"/>
                </a:solidFill>
                <a:latin typeface="Arial" charset="0"/>
                <a:cs typeface="Arial" charset="0"/>
              </a:rPr>
              <a:t>Heat Capacity: C</a:t>
            </a:r>
            <a:r>
              <a:rPr lang="en-US" altLang="zh-CN" sz="3600" baseline="-25000" dirty="0">
                <a:solidFill>
                  <a:srgbClr val="FF0000"/>
                </a:solidFill>
                <a:latin typeface="Arial" charset="0"/>
                <a:cs typeface="Arial" charset="0"/>
              </a:rPr>
              <a:t>V</a:t>
            </a:r>
            <a:r>
              <a:rPr lang="en-US" altLang="zh-CN" sz="3600" dirty="0">
                <a:solidFill>
                  <a:srgbClr val="FF0000"/>
                </a:solidFill>
                <a:latin typeface="Arial" charset="0"/>
                <a:cs typeface="Arial" charset="0"/>
              </a:rPr>
              <a:t> and </a:t>
            </a:r>
            <a:r>
              <a:rPr lang="en-US" altLang="zh-CN" sz="3600" dirty="0" err="1">
                <a:solidFill>
                  <a:srgbClr val="FF0000"/>
                </a:solidFill>
                <a:latin typeface="Arial" charset="0"/>
                <a:cs typeface="Arial" charset="0"/>
              </a:rPr>
              <a:t>C</a:t>
            </a:r>
            <a:r>
              <a:rPr lang="en-US" altLang="zh-CN" sz="3600" baseline="-25000" dirty="0" err="1">
                <a:solidFill>
                  <a:srgbClr val="FF0000"/>
                </a:solidFill>
                <a:latin typeface="Arial" charset="0"/>
                <a:cs typeface="Arial" charset="0"/>
              </a:rPr>
              <a:t>P</a:t>
            </a:r>
            <a:endParaRPr lang="en-US" sz="36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Rectangle 5"/>
          <p:cNvSpPr>
            <a:spLocks noChangeArrowheads="1"/>
          </p:cNvSpPr>
          <p:nvPr/>
        </p:nvSpPr>
        <p:spPr bwMode="auto">
          <a:xfrm>
            <a:off x="609600" y="1924050"/>
            <a:ext cx="51816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defTabSz="914400" eaLnBrk="1" hangingPunct="1"/>
            <a:r>
              <a:rPr lang="en-US" altLang="zh-CN" sz="2600" b="1" dirty="0">
                <a:solidFill>
                  <a:srgbClr val="FF0000"/>
                </a:solidFill>
                <a:latin typeface="Arial" charset="0"/>
                <a:ea typeface="宋体" charset="-122"/>
                <a:cs typeface="Times New Roman" pitchFamily="18" charset="0"/>
              </a:rPr>
              <a:t> </a:t>
            </a:r>
            <a:r>
              <a:rPr lang="en-US" altLang="zh-CN" sz="2000" b="1" dirty="0">
                <a:solidFill>
                  <a:srgbClr val="0000CC"/>
                </a:solidFill>
                <a:latin typeface="Arial" charset="0"/>
                <a:ea typeface="宋体" charset="-122"/>
                <a:cs typeface="Times New Roman" pitchFamily="18" charset="0"/>
              </a:rPr>
              <a:t>Constant Volume Process (C</a:t>
            </a:r>
            <a:r>
              <a:rPr lang="en-US" altLang="zh-CN" sz="2000" b="1" baseline="-25000" dirty="0">
                <a:solidFill>
                  <a:srgbClr val="0000CC"/>
                </a:solidFill>
                <a:latin typeface="Arial" charset="0"/>
                <a:ea typeface="宋体" charset="-122"/>
                <a:cs typeface="Times New Roman" pitchFamily="18" charset="0"/>
              </a:rPr>
              <a:t>V</a:t>
            </a:r>
            <a:r>
              <a:rPr lang="en-US" altLang="zh-CN" sz="2000" b="1" dirty="0">
                <a:solidFill>
                  <a:srgbClr val="0000CC"/>
                </a:solidFill>
                <a:latin typeface="Arial" charset="0"/>
                <a:ea typeface="宋体" charset="-122"/>
                <a:cs typeface="Times New Roman" pitchFamily="18" charset="0"/>
              </a:rPr>
              <a:t>):</a:t>
            </a:r>
            <a:r>
              <a:rPr lang="en-US" altLang="zh-CN" b="1" dirty="0">
                <a:solidFill>
                  <a:srgbClr val="0000CC"/>
                </a:solidFill>
                <a:latin typeface="Arial" charset="0"/>
                <a:ea typeface="宋体" charset="-122"/>
                <a:cs typeface="Times New Roman" pitchFamily="18" charset="0"/>
              </a:rPr>
              <a:t> </a:t>
            </a:r>
            <a:endParaRPr lang="en-US" altLang="zh-CN" b="1" dirty="0">
              <a:solidFill>
                <a:srgbClr val="0000CC"/>
              </a:solidFill>
              <a:latin typeface="Arial" charset="0"/>
              <a:ea typeface="宋体" charset="-122"/>
            </a:endParaRPr>
          </a:p>
        </p:txBody>
      </p:sp>
      <p:graphicFrame>
        <p:nvGraphicFramePr>
          <p:cNvPr id="11" name="Object 4"/>
          <p:cNvGraphicFramePr>
            <a:graphicFrameLocks noChangeAspect="1"/>
          </p:cNvGraphicFramePr>
          <p:nvPr/>
        </p:nvGraphicFramePr>
        <p:xfrm>
          <a:off x="5048250" y="1790700"/>
          <a:ext cx="1639160" cy="918368"/>
        </p:xfrm>
        <a:graphic>
          <a:graphicData uri="http://schemas.openxmlformats.org/presentationml/2006/ole">
            <mc:AlternateContent xmlns:mc="http://schemas.openxmlformats.org/markup-compatibility/2006">
              <mc:Choice xmlns:v="urn:schemas-microsoft-com:vml" Requires="v">
                <p:oleObj r:id="rId2" imgW="799753" imgH="444307" progId="Equation.3">
                  <p:embed/>
                </p:oleObj>
              </mc:Choice>
              <mc:Fallback>
                <p:oleObj r:id="rId2" imgW="799753" imgH="444307" progId="Equation.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50" y="1790700"/>
                        <a:ext cx="1639160" cy="9183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3"/>
          <p:cNvGraphicFramePr>
            <a:graphicFrameLocks noChangeAspect="1"/>
          </p:cNvGraphicFramePr>
          <p:nvPr/>
        </p:nvGraphicFramePr>
        <p:xfrm>
          <a:off x="5181600" y="4186881"/>
          <a:ext cx="1552969" cy="869950"/>
        </p:xfrm>
        <a:graphic>
          <a:graphicData uri="http://schemas.openxmlformats.org/presentationml/2006/ole">
            <mc:AlternateContent xmlns:mc="http://schemas.openxmlformats.org/markup-compatibility/2006">
              <mc:Choice xmlns:v="urn:schemas-microsoft-com:vml" Requires="v">
                <p:oleObj name="公式" r:id="rId4" imgW="799920" imgH="444240" progId="Equation.3">
                  <p:embed/>
                </p:oleObj>
              </mc:Choice>
              <mc:Fallback>
                <p:oleObj name="公式" r:id="rId4" imgW="79992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4186881"/>
                        <a:ext cx="1552969" cy="86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6"/>
          <p:cNvSpPr>
            <a:spLocks noChangeArrowheads="1"/>
          </p:cNvSpPr>
          <p:nvPr/>
        </p:nvSpPr>
        <p:spPr bwMode="auto">
          <a:xfrm>
            <a:off x="533400" y="4314824"/>
            <a:ext cx="5791200" cy="48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just" defTabSz="914400" eaLnBrk="1" hangingPunct="1"/>
            <a:r>
              <a:rPr lang="en-US" altLang="zh-CN" sz="2600" b="1" dirty="0">
                <a:solidFill>
                  <a:srgbClr val="0000CC"/>
                </a:solidFill>
                <a:latin typeface="Arial" charset="0"/>
                <a:ea typeface="宋体" charset="-122"/>
                <a:cs typeface="Times New Roman" pitchFamily="18" charset="0"/>
              </a:rPr>
              <a:t> </a:t>
            </a:r>
            <a:r>
              <a:rPr lang="en-US" altLang="zh-CN" sz="2000" b="1" dirty="0">
                <a:solidFill>
                  <a:srgbClr val="0000CC"/>
                </a:solidFill>
                <a:latin typeface="Arial" charset="0"/>
                <a:ea typeface="宋体" charset="-122"/>
                <a:cs typeface="Times New Roman" pitchFamily="18" charset="0"/>
              </a:rPr>
              <a:t>Constant Pressure Process (</a:t>
            </a:r>
            <a:r>
              <a:rPr lang="en-US" altLang="zh-CN" sz="2000" b="1" dirty="0" err="1">
                <a:solidFill>
                  <a:srgbClr val="0000CC"/>
                </a:solidFill>
                <a:latin typeface="Arial" charset="0"/>
                <a:ea typeface="宋体" charset="-122"/>
                <a:cs typeface="Times New Roman" pitchFamily="18" charset="0"/>
              </a:rPr>
              <a:t>C</a:t>
            </a:r>
            <a:r>
              <a:rPr lang="en-US" altLang="zh-CN" sz="2000" b="1" baseline="-25000" dirty="0" err="1">
                <a:solidFill>
                  <a:srgbClr val="0000CC"/>
                </a:solidFill>
                <a:latin typeface="Arial" charset="0"/>
                <a:ea typeface="宋体" charset="-122"/>
                <a:cs typeface="Times New Roman" pitchFamily="18" charset="0"/>
              </a:rPr>
              <a:t>P</a:t>
            </a:r>
            <a:r>
              <a:rPr lang="en-US" altLang="zh-CN" sz="2000" b="1" dirty="0">
                <a:solidFill>
                  <a:srgbClr val="0000CC"/>
                </a:solidFill>
                <a:latin typeface="Arial" charset="0"/>
                <a:ea typeface="宋体" charset="-122"/>
                <a:cs typeface="Times New Roman" pitchFamily="18" charset="0"/>
              </a:rPr>
              <a:t>): </a:t>
            </a:r>
            <a:endParaRPr lang="en-US" altLang="zh-CN" sz="2000" b="1" dirty="0">
              <a:solidFill>
                <a:srgbClr val="0000CC"/>
              </a:solidFill>
              <a:latin typeface="Arial" charset="0"/>
              <a:ea typeface="宋体" charset="-122"/>
            </a:endParaRPr>
          </a:p>
        </p:txBody>
      </p:sp>
      <p:sp>
        <p:nvSpPr>
          <p:cNvPr id="14" name="Text Box 7"/>
          <p:cNvSpPr txBox="1">
            <a:spLocks noChangeArrowheads="1"/>
          </p:cNvSpPr>
          <p:nvPr/>
        </p:nvSpPr>
        <p:spPr bwMode="auto">
          <a:xfrm>
            <a:off x="756535" y="3141821"/>
            <a:ext cx="295504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sz="2600" b="1" dirty="0" err="1">
                <a:solidFill>
                  <a:srgbClr val="336600"/>
                </a:solidFill>
                <a:ea typeface="宋体" charset="-122"/>
              </a:rPr>
              <a:t>dU</a:t>
            </a:r>
            <a:r>
              <a:rPr lang="en-US" altLang="zh-CN" sz="2600" b="1" dirty="0">
                <a:solidFill>
                  <a:srgbClr val="336600"/>
                </a:solidFill>
                <a:ea typeface="宋体" charset="-122"/>
              </a:rPr>
              <a:t> = </a:t>
            </a:r>
            <a:r>
              <a:rPr lang="en-US" altLang="zh-CN" sz="2600" b="1" dirty="0" err="1">
                <a:solidFill>
                  <a:srgbClr val="336600"/>
                </a:solidFill>
                <a:latin typeface="Symbol" pitchFamily="18" charset="2"/>
                <a:ea typeface="宋体" charset="-122"/>
              </a:rPr>
              <a:t>d</a:t>
            </a:r>
            <a:r>
              <a:rPr lang="en-US" altLang="zh-CN" sz="2600" b="1" dirty="0" err="1">
                <a:solidFill>
                  <a:srgbClr val="336600"/>
                </a:solidFill>
                <a:ea typeface="宋体" charset="-122"/>
              </a:rPr>
              <a:t>q</a:t>
            </a:r>
            <a:r>
              <a:rPr lang="en-US" altLang="zh-CN" sz="2600" b="1" dirty="0">
                <a:solidFill>
                  <a:srgbClr val="336600"/>
                </a:solidFill>
                <a:ea typeface="宋体" charset="-122"/>
              </a:rPr>
              <a:t> – </a:t>
            </a:r>
            <a:r>
              <a:rPr lang="en-US" altLang="zh-CN" sz="2600" b="1" dirty="0" err="1">
                <a:solidFill>
                  <a:srgbClr val="336600"/>
                </a:solidFill>
                <a:latin typeface="Symbol" pitchFamily="18" charset="2"/>
                <a:ea typeface="宋体" charset="-122"/>
              </a:rPr>
              <a:t>d</a:t>
            </a:r>
            <a:r>
              <a:rPr lang="en-US" altLang="zh-CN" sz="2600" b="1" dirty="0" err="1">
                <a:solidFill>
                  <a:srgbClr val="336600"/>
                </a:solidFill>
                <a:ea typeface="宋体" charset="-122"/>
              </a:rPr>
              <a:t>W</a:t>
            </a:r>
            <a:r>
              <a:rPr lang="en-US" altLang="zh-CN" sz="2600" b="1" dirty="0">
                <a:solidFill>
                  <a:srgbClr val="336600"/>
                </a:solidFill>
                <a:ea typeface="宋体" charset="-122"/>
              </a:rPr>
              <a:t> =</a:t>
            </a:r>
            <a:r>
              <a:rPr lang="en-US" altLang="zh-CN" sz="2600" b="1" dirty="0">
                <a:solidFill>
                  <a:srgbClr val="336600"/>
                </a:solidFill>
                <a:latin typeface="Symbol" pitchFamily="18" charset="2"/>
                <a:ea typeface="宋体" charset="-122"/>
              </a:rPr>
              <a:t> </a:t>
            </a:r>
            <a:r>
              <a:rPr lang="en-US" altLang="zh-CN" sz="2600" b="1" dirty="0" err="1">
                <a:solidFill>
                  <a:srgbClr val="336600"/>
                </a:solidFill>
                <a:latin typeface="Symbol" pitchFamily="18" charset="2"/>
                <a:ea typeface="宋体" charset="-122"/>
              </a:rPr>
              <a:t>d</a:t>
            </a:r>
            <a:r>
              <a:rPr lang="en-US" altLang="zh-CN" sz="2600" b="1" dirty="0" err="1">
                <a:solidFill>
                  <a:srgbClr val="336600"/>
                </a:solidFill>
                <a:latin typeface="Arial" pitchFamily="34" charset="0"/>
                <a:ea typeface="宋体" charset="-122"/>
              </a:rPr>
              <a:t>q</a:t>
            </a:r>
            <a:r>
              <a:rPr lang="en-US" altLang="zh-CN" sz="2600" b="1" dirty="0">
                <a:solidFill>
                  <a:srgbClr val="336600"/>
                </a:solidFill>
                <a:ea typeface="宋体" charset="-122"/>
              </a:rPr>
              <a:t> </a:t>
            </a:r>
          </a:p>
        </p:txBody>
      </p:sp>
      <p:sp>
        <p:nvSpPr>
          <p:cNvPr id="18" name="Text Box 11"/>
          <p:cNvSpPr txBox="1">
            <a:spLocks noChangeArrowheads="1"/>
          </p:cNvSpPr>
          <p:nvPr/>
        </p:nvSpPr>
        <p:spPr bwMode="auto">
          <a:xfrm>
            <a:off x="1146504" y="5341935"/>
            <a:ext cx="25571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defTabSz="914400" eaLnBrk="1" hangingPunct="1"/>
            <a:r>
              <a:rPr lang="en-US" altLang="zh-CN" b="1" dirty="0" err="1">
                <a:solidFill>
                  <a:srgbClr val="336600"/>
                </a:solidFill>
                <a:ea typeface="宋体" charset="-122"/>
              </a:rPr>
              <a:t>dH</a:t>
            </a:r>
            <a:r>
              <a:rPr lang="en-US" altLang="zh-CN" b="1" dirty="0">
                <a:solidFill>
                  <a:srgbClr val="336600"/>
                </a:solidFill>
                <a:ea typeface="宋体" charset="-122"/>
              </a:rPr>
              <a:t> =</a:t>
            </a:r>
            <a:r>
              <a:rPr lang="en-US" altLang="zh-CN" b="1" dirty="0" err="1">
                <a:solidFill>
                  <a:srgbClr val="336600"/>
                </a:solidFill>
                <a:ea typeface="宋体" charset="-122"/>
              </a:rPr>
              <a:t>dU+pdV</a:t>
            </a:r>
            <a:r>
              <a:rPr lang="en-US" altLang="zh-CN" b="1" dirty="0">
                <a:solidFill>
                  <a:srgbClr val="336600"/>
                </a:solidFill>
                <a:ea typeface="宋体" charset="-122"/>
              </a:rPr>
              <a:t>= </a:t>
            </a:r>
            <a:r>
              <a:rPr lang="en-US" altLang="zh-CN" b="1" dirty="0" err="1">
                <a:solidFill>
                  <a:srgbClr val="336600"/>
                </a:solidFill>
                <a:latin typeface="Symbol" pitchFamily="18" charset="2"/>
                <a:ea typeface="宋体" charset="-122"/>
              </a:rPr>
              <a:t>d</a:t>
            </a:r>
            <a:r>
              <a:rPr lang="en-US" altLang="zh-CN" b="1" dirty="0" err="1">
                <a:solidFill>
                  <a:srgbClr val="336600"/>
                </a:solidFill>
                <a:ea typeface="宋体" charset="-122"/>
              </a:rPr>
              <a:t>q</a:t>
            </a:r>
            <a:endParaRPr lang="en-US" altLang="zh-CN" b="1" dirty="0">
              <a:solidFill>
                <a:srgbClr val="336600"/>
              </a:solidFill>
              <a:ea typeface="宋体" charset="-122"/>
            </a:endParaRPr>
          </a:p>
        </p:txBody>
      </p:sp>
      <p:graphicFrame>
        <p:nvGraphicFramePr>
          <p:cNvPr id="29964" name="Object 268"/>
          <p:cNvGraphicFramePr>
            <a:graphicFrameLocks noChangeAspect="1"/>
          </p:cNvGraphicFramePr>
          <p:nvPr/>
        </p:nvGraphicFramePr>
        <p:xfrm>
          <a:off x="4183429" y="2841259"/>
          <a:ext cx="1690688" cy="914400"/>
        </p:xfrm>
        <a:graphic>
          <a:graphicData uri="http://schemas.openxmlformats.org/presentationml/2006/ole">
            <mc:AlternateContent xmlns:mc="http://schemas.openxmlformats.org/markup-compatibility/2006">
              <mc:Choice xmlns:v="urn:schemas-microsoft-com:vml" Requires="v">
                <p:oleObj name="公式" r:id="rId6" imgW="825480" imgH="444240" progId="Equation.3">
                  <p:embed/>
                </p:oleObj>
              </mc:Choice>
              <mc:Fallback>
                <p:oleObj name="公式" r:id="rId6" imgW="825480" imgH="4442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83429" y="2841259"/>
                        <a:ext cx="1690688"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TextBox 14"/>
          <p:cNvSpPr txBox="1"/>
          <p:nvPr/>
        </p:nvSpPr>
        <p:spPr>
          <a:xfrm>
            <a:off x="6031523" y="3068515"/>
            <a:ext cx="2523393" cy="400110"/>
          </a:xfrm>
          <a:prstGeom prst="rect">
            <a:avLst/>
          </a:prstGeom>
          <a:noFill/>
        </p:spPr>
        <p:txBody>
          <a:bodyPr wrap="square" rtlCol="0">
            <a:spAutoFit/>
          </a:bodyPr>
          <a:lstStyle/>
          <a:p>
            <a:r>
              <a:rPr lang="en-US" altLang="zh-CN" sz="2000" b="1" dirty="0">
                <a:solidFill>
                  <a:srgbClr val="0C23FC"/>
                </a:solidFill>
                <a:latin typeface="Times New Roman" pitchFamily="18" charset="0"/>
                <a:cs typeface="Times New Roman" pitchFamily="18" charset="0"/>
              </a:rPr>
              <a:t>or  </a:t>
            </a:r>
            <a:r>
              <a:rPr lang="en-US" altLang="zh-CN" sz="2000" b="1" dirty="0" err="1">
                <a:solidFill>
                  <a:srgbClr val="0C23FC"/>
                </a:solidFill>
                <a:latin typeface="Times New Roman" pitchFamily="18" charset="0"/>
                <a:cs typeface="Times New Roman" pitchFamily="18" charset="0"/>
              </a:rPr>
              <a:t>dU</a:t>
            </a:r>
            <a:r>
              <a:rPr lang="en-US" altLang="zh-CN" sz="2000" b="1" dirty="0">
                <a:solidFill>
                  <a:srgbClr val="0C23FC"/>
                </a:solidFill>
                <a:latin typeface="Times New Roman" pitchFamily="18" charset="0"/>
                <a:cs typeface="Times New Roman" pitchFamily="18" charset="0"/>
              </a:rPr>
              <a:t>=C</a:t>
            </a:r>
            <a:r>
              <a:rPr lang="en-US" altLang="zh-CN" sz="2000" b="1" baseline="-25000" dirty="0">
                <a:solidFill>
                  <a:srgbClr val="0C23FC"/>
                </a:solidFill>
                <a:latin typeface="Times New Roman" pitchFamily="18" charset="0"/>
                <a:cs typeface="Times New Roman" pitchFamily="18" charset="0"/>
              </a:rPr>
              <a:t>v</a:t>
            </a:r>
            <a:r>
              <a:rPr lang="en-US" altLang="zh-CN" sz="2000" b="1" dirty="0">
                <a:solidFill>
                  <a:srgbClr val="0C23FC"/>
                </a:solidFill>
                <a:latin typeface="Times New Roman" pitchFamily="18" charset="0"/>
                <a:cs typeface="Times New Roman" pitchFamily="18" charset="0"/>
              </a:rPr>
              <a:t>dT</a:t>
            </a:r>
            <a:endParaRPr lang="zh-CN" altLang="en-US" sz="2000" b="1" dirty="0">
              <a:solidFill>
                <a:srgbClr val="0C23FC"/>
              </a:solidFill>
              <a:latin typeface="Times New Roman" pitchFamily="18" charset="0"/>
              <a:cs typeface="Times New Roman" pitchFamily="18" charset="0"/>
            </a:endParaRPr>
          </a:p>
        </p:txBody>
      </p:sp>
      <p:graphicFrame>
        <p:nvGraphicFramePr>
          <p:cNvPr id="29965" name="Object 269"/>
          <p:cNvGraphicFramePr>
            <a:graphicFrameLocks noChangeAspect="1"/>
          </p:cNvGraphicFramePr>
          <p:nvPr/>
        </p:nvGraphicFramePr>
        <p:xfrm>
          <a:off x="3763596" y="5229102"/>
          <a:ext cx="1598613" cy="863600"/>
        </p:xfrm>
        <a:graphic>
          <a:graphicData uri="http://schemas.openxmlformats.org/presentationml/2006/ole">
            <mc:AlternateContent xmlns:mc="http://schemas.openxmlformats.org/markup-compatibility/2006">
              <mc:Choice xmlns:v="urn:schemas-microsoft-com:vml" Requires="v">
                <p:oleObj name="公式" r:id="rId8" imgW="825480" imgH="444240" progId="Equation.3">
                  <p:embed/>
                </p:oleObj>
              </mc:Choice>
              <mc:Fallback>
                <p:oleObj name="公式" r:id="rId8" imgW="825480" imgH="4442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63596" y="5229102"/>
                        <a:ext cx="1598613"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6"/>
          <p:cNvSpPr txBox="1"/>
          <p:nvPr/>
        </p:nvSpPr>
        <p:spPr>
          <a:xfrm>
            <a:off x="5471745" y="5445369"/>
            <a:ext cx="2523393" cy="400110"/>
          </a:xfrm>
          <a:prstGeom prst="rect">
            <a:avLst/>
          </a:prstGeom>
          <a:noFill/>
        </p:spPr>
        <p:txBody>
          <a:bodyPr wrap="square" rtlCol="0">
            <a:spAutoFit/>
          </a:bodyPr>
          <a:lstStyle/>
          <a:p>
            <a:r>
              <a:rPr lang="en-US" altLang="zh-CN" sz="2000" b="1" dirty="0">
                <a:solidFill>
                  <a:srgbClr val="0C23FC"/>
                </a:solidFill>
                <a:latin typeface="Times New Roman" pitchFamily="18" charset="0"/>
                <a:cs typeface="Times New Roman" pitchFamily="18" charset="0"/>
              </a:rPr>
              <a:t>or  </a:t>
            </a:r>
            <a:r>
              <a:rPr lang="en-US" altLang="zh-CN" sz="2000" b="1" dirty="0" err="1">
                <a:solidFill>
                  <a:srgbClr val="0C23FC"/>
                </a:solidFill>
                <a:latin typeface="Times New Roman" pitchFamily="18" charset="0"/>
                <a:cs typeface="Times New Roman" pitchFamily="18" charset="0"/>
              </a:rPr>
              <a:t>dH</a:t>
            </a:r>
            <a:r>
              <a:rPr lang="en-US" altLang="zh-CN" sz="2000" b="1" dirty="0">
                <a:solidFill>
                  <a:srgbClr val="0C23FC"/>
                </a:solidFill>
                <a:latin typeface="Times New Roman" pitchFamily="18" charset="0"/>
                <a:cs typeface="Times New Roman" pitchFamily="18" charset="0"/>
              </a:rPr>
              <a:t>=</a:t>
            </a:r>
            <a:r>
              <a:rPr lang="en-US" altLang="zh-CN" sz="2000" b="1" dirty="0" err="1">
                <a:solidFill>
                  <a:srgbClr val="0C23FC"/>
                </a:solidFill>
                <a:latin typeface="Times New Roman" pitchFamily="18" charset="0"/>
                <a:cs typeface="Times New Roman" pitchFamily="18" charset="0"/>
              </a:rPr>
              <a:t>C</a:t>
            </a:r>
            <a:r>
              <a:rPr lang="en-US" altLang="zh-CN" sz="2000" b="1" baseline="-25000" dirty="0" err="1">
                <a:solidFill>
                  <a:srgbClr val="0C23FC"/>
                </a:solidFill>
                <a:latin typeface="Times New Roman" pitchFamily="18" charset="0"/>
                <a:cs typeface="Times New Roman" pitchFamily="18" charset="0"/>
              </a:rPr>
              <a:t>P</a:t>
            </a:r>
            <a:r>
              <a:rPr lang="en-US" altLang="zh-CN" sz="2000" b="1" dirty="0" err="1">
                <a:solidFill>
                  <a:srgbClr val="0C23FC"/>
                </a:solidFill>
                <a:latin typeface="Times New Roman" pitchFamily="18" charset="0"/>
                <a:cs typeface="Times New Roman" pitchFamily="18" charset="0"/>
              </a:rPr>
              <a:t>dT</a:t>
            </a:r>
            <a:endParaRPr lang="zh-CN" altLang="en-US" sz="2000" b="1" dirty="0">
              <a:solidFill>
                <a:srgbClr val="0C23FC"/>
              </a:solidFill>
              <a:latin typeface="Times New Roman" pitchFamily="18" charset="0"/>
              <a:cs typeface="Times New Roman" pitchFamily="18" charset="0"/>
            </a:endParaRPr>
          </a:p>
        </p:txBody>
      </p:sp>
    </p:spTree>
    <p:extLst>
      <p:ext uri="{BB962C8B-B14F-4D97-AF65-F5344CB8AC3E}">
        <p14:creationId xmlns:p14="http://schemas.microsoft.com/office/powerpoint/2010/main" val="2606800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47700" y="90099"/>
            <a:ext cx="6036911" cy="682237"/>
          </a:xfrm>
        </p:spPr>
        <p:txBody>
          <a:bodyPr>
            <a:normAutofit/>
          </a:bodyPr>
          <a:lstStyle/>
          <a:p>
            <a:pPr algn="l"/>
            <a:r>
              <a:rPr lang="en-US" altLang="zh-CN" sz="3200" dirty="0">
                <a:solidFill>
                  <a:srgbClr val="FF0000"/>
                </a:solidFill>
                <a:latin typeface="Arial" charset="0"/>
                <a:cs typeface="Arial" charset="0"/>
              </a:rPr>
              <a:t>The relation between C</a:t>
            </a:r>
            <a:r>
              <a:rPr lang="en-US" altLang="zh-CN" sz="3200" baseline="-25000" dirty="0">
                <a:solidFill>
                  <a:srgbClr val="FF0000"/>
                </a:solidFill>
                <a:latin typeface="Arial" charset="0"/>
                <a:cs typeface="Arial" charset="0"/>
              </a:rPr>
              <a:t>V</a:t>
            </a:r>
            <a:r>
              <a:rPr lang="en-US" altLang="zh-CN" sz="3200" dirty="0">
                <a:solidFill>
                  <a:srgbClr val="FF0000"/>
                </a:solidFill>
                <a:latin typeface="Arial" charset="0"/>
                <a:cs typeface="Arial" charset="0"/>
              </a:rPr>
              <a:t> and C</a:t>
            </a:r>
            <a:r>
              <a:rPr lang="en-US" altLang="zh-CN" sz="3200" baseline="-25000" dirty="0">
                <a:solidFill>
                  <a:srgbClr val="FF0000"/>
                </a:solidFill>
                <a:latin typeface="Arial" charset="0"/>
                <a:cs typeface="Arial" charset="0"/>
              </a:rPr>
              <a:t>P</a:t>
            </a:r>
            <a:endParaRPr lang="en-US" sz="3200" dirty="0">
              <a:solidFill>
                <a:srgbClr val="FF0000"/>
              </a:solidFill>
            </a:endParaRPr>
          </a:p>
        </p:txBody>
      </p:sp>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5" name="TextBox 4"/>
          <p:cNvSpPr txBox="1"/>
          <p:nvPr/>
        </p:nvSpPr>
        <p:spPr>
          <a:xfrm>
            <a:off x="1369502" y="911709"/>
            <a:ext cx="5315109" cy="1200329"/>
          </a:xfrm>
          <a:prstGeom prst="rect">
            <a:avLst/>
          </a:prstGeom>
          <a:noFill/>
        </p:spPr>
        <p:txBody>
          <a:bodyPr wrap="none" rtlCol="0">
            <a:spAutoFit/>
          </a:bodyPr>
          <a:lstStyle/>
          <a:p>
            <a:r>
              <a:rPr lang="en-US" altLang="zh-CN" sz="2400" dirty="0">
                <a:latin typeface="+mn-lt"/>
              </a:rPr>
              <a:t>For any substances: </a:t>
            </a:r>
            <a:r>
              <a:rPr lang="en-US" altLang="zh-CN" sz="2400" dirty="0" err="1">
                <a:latin typeface="+mn-lt"/>
              </a:rPr>
              <a:t>c</a:t>
            </a:r>
            <a:r>
              <a:rPr lang="en-US" altLang="zh-CN" sz="2400" baseline="-25000" dirty="0" err="1">
                <a:latin typeface="+mn-lt"/>
              </a:rPr>
              <a:t>P</a:t>
            </a:r>
            <a:r>
              <a:rPr lang="en-US" altLang="zh-CN" sz="2400" baseline="-25000" dirty="0">
                <a:latin typeface="+mn-lt"/>
              </a:rPr>
              <a:t> </a:t>
            </a:r>
            <a:r>
              <a:rPr lang="en-US" altLang="zh-CN" sz="2400" dirty="0">
                <a:latin typeface="+mn-lt"/>
              </a:rPr>
              <a:t>&gt; </a:t>
            </a:r>
            <a:r>
              <a:rPr lang="en-US" altLang="zh-CN" sz="2400" dirty="0" err="1">
                <a:latin typeface="+mn-lt"/>
              </a:rPr>
              <a:t>c</a:t>
            </a:r>
            <a:r>
              <a:rPr lang="en-US" altLang="zh-CN" sz="2400" baseline="-25000" dirty="0" err="1">
                <a:latin typeface="+mn-lt"/>
              </a:rPr>
              <a:t>V</a:t>
            </a:r>
            <a:endParaRPr lang="en-US" altLang="zh-CN" sz="2400" baseline="-25000" dirty="0">
              <a:latin typeface="+mn-lt"/>
            </a:endParaRPr>
          </a:p>
          <a:p>
            <a:r>
              <a:rPr lang="en-US" altLang="zh-CN" sz="2400" dirty="0" err="1">
                <a:latin typeface="+mn-lt"/>
              </a:rPr>
              <a:t>c</a:t>
            </a:r>
            <a:r>
              <a:rPr lang="en-US" altLang="zh-CN" sz="2400" baseline="-25000" dirty="0" err="1">
                <a:latin typeface="+mn-lt"/>
              </a:rPr>
              <a:t>V</a:t>
            </a:r>
            <a:r>
              <a:rPr lang="en-US" altLang="zh-CN" sz="2400" dirty="0">
                <a:latin typeface="+mn-lt"/>
              </a:rPr>
              <a:t>: heat solely used to raise temperature;</a:t>
            </a:r>
          </a:p>
          <a:p>
            <a:r>
              <a:rPr lang="en-US" altLang="zh-CN" sz="2400" dirty="0" err="1">
                <a:latin typeface="+mn-lt"/>
              </a:rPr>
              <a:t>c</a:t>
            </a:r>
            <a:r>
              <a:rPr lang="en-US" altLang="zh-CN" sz="2400" baseline="-25000" dirty="0" err="1">
                <a:latin typeface="+mn-lt"/>
              </a:rPr>
              <a:t>P</a:t>
            </a:r>
            <a:r>
              <a:rPr lang="en-US" altLang="zh-CN" sz="2400" dirty="0">
                <a:latin typeface="+mn-lt"/>
              </a:rPr>
              <a:t>: raise temperature + work to expand</a:t>
            </a:r>
          </a:p>
        </p:txBody>
      </p:sp>
      <p:graphicFrame>
        <p:nvGraphicFramePr>
          <p:cNvPr id="7" name="对象 6"/>
          <p:cNvGraphicFramePr>
            <a:graphicFrameLocks noChangeAspect="1"/>
          </p:cNvGraphicFramePr>
          <p:nvPr/>
        </p:nvGraphicFramePr>
        <p:xfrm>
          <a:off x="273401" y="2243108"/>
          <a:ext cx="2878138" cy="579437"/>
        </p:xfrm>
        <a:graphic>
          <a:graphicData uri="http://schemas.openxmlformats.org/presentationml/2006/ole">
            <mc:AlternateContent xmlns:mc="http://schemas.openxmlformats.org/markup-compatibility/2006">
              <mc:Choice xmlns:v="urn:schemas-microsoft-com:vml" Requires="v">
                <p:oleObj name="Equation" r:id="rId2" imgW="1955520" imgH="393480" progId="Equation.DSMT4">
                  <p:embed/>
                </p:oleObj>
              </mc:Choice>
              <mc:Fallback>
                <p:oleObj name="Equation" r:id="rId2" imgW="1955520" imgH="393480" progId="Equation.DSMT4">
                  <p:embed/>
                  <p:pic>
                    <p:nvPicPr>
                      <p:cNvPr id="7"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401" y="2243108"/>
                        <a:ext cx="2878138"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nvGraphicFramePr>
        <p:xfrm>
          <a:off x="307975" y="2805608"/>
          <a:ext cx="1181100" cy="620712"/>
        </p:xfrm>
        <a:graphic>
          <a:graphicData uri="http://schemas.openxmlformats.org/presentationml/2006/ole">
            <mc:AlternateContent xmlns:mc="http://schemas.openxmlformats.org/markup-compatibility/2006">
              <mc:Choice xmlns:v="urn:schemas-microsoft-com:vml" Requires="v">
                <p:oleObj name="Equation" r:id="rId4" imgW="749160" imgH="393480" progId="Equation.DSMT4">
                  <p:embed/>
                </p:oleObj>
              </mc:Choice>
              <mc:Fallback>
                <p:oleObj name="Equation" r:id="rId4" imgW="749160" imgH="393480" progId="Equation.DSMT4">
                  <p:embed/>
                  <p:pic>
                    <p:nvPicPr>
                      <p:cNvPr id="9" name="对象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975" y="2805608"/>
                        <a:ext cx="1181100" cy="620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nvGraphicFramePr>
        <p:xfrm>
          <a:off x="155575" y="3560601"/>
          <a:ext cx="3581400" cy="638175"/>
        </p:xfrm>
        <a:graphic>
          <a:graphicData uri="http://schemas.openxmlformats.org/presentationml/2006/ole">
            <mc:AlternateContent xmlns:mc="http://schemas.openxmlformats.org/markup-compatibility/2006">
              <mc:Choice xmlns:v="urn:schemas-microsoft-com:vml" Requires="v">
                <p:oleObj name="Equation" r:id="rId6" imgW="2209680" imgH="393480" progId="Equation.DSMT4">
                  <p:embed/>
                </p:oleObj>
              </mc:Choice>
              <mc:Fallback>
                <p:oleObj name="Equation" r:id="rId6" imgW="2209680" imgH="393480" progId="Equation.DSMT4">
                  <p:embed/>
                  <p:pic>
                    <p:nvPicPr>
                      <p:cNvPr id="10" name="对象 9"/>
                      <p:cNvPicPr>
                        <a:picLocks noChangeAspect="1" noChangeArrowheads="1"/>
                      </p:cNvPicPr>
                      <p:nvPr/>
                    </p:nvPicPr>
                    <p:blipFill>
                      <a:blip r:embed="rId7"/>
                      <a:srcRect/>
                      <a:stretch>
                        <a:fillRect/>
                      </a:stretch>
                    </p:blipFill>
                    <p:spPr bwMode="auto">
                      <a:xfrm>
                        <a:off x="155575" y="3560601"/>
                        <a:ext cx="3581400" cy="638175"/>
                      </a:xfrm>
                      <a:prstGeom prst="rect">
                        <a:avLst/>
                      </a:prstGeom>
                      <a:solidFill>
                        <a:schemeClr val="accent2">
                          <a:lumMod val="60000"/>
                          <a:lumOff val="40000"/>
                        </a:schemeClr>
                      </a:solidFill>
                    </p:spPr>
                  </p:pic>
                </p:oleObj>
              </mc:Fallback>
            </mc:AlternateContent>
          </a:graphicData>
        </a:graphic>
      </p:graphicFrame>
      <p:graphicFrame>
        <p:nvGraphicFramePr>
          <p:cNvPr id="4" name="对象 3"/>
          <p:cNvGraphicFramePr>
            <a:graphicFrameLocks noChangeAspect="1"/>
          </p:cNvGraphicFramePr>
          <p:nvPr/>
        </p:nvGraphicFramePr>
        <p:xfrm>
          <a:off x="4796316" y="2271437"/>
          <a:ext cx="1633537" cy="358775"/>
        </p:xfrm>
        <a:graphic>
          <a:graphicData uri="http://schemas.openxmlformats.org/presentationml/2006/ole">
            <mc:AlternateContent xmlns:mc="http://schemas.openxmlformats.org/markup-compatibility/2006">
              <mc:Choice xmlns:v="urn:schemas-microsoft-com:vml" Requires="v">
                <p:oleObj name="Equation" r:id="rId8" imgW="926698" imgH="203112" progId="">
                  <p:embed/>
                </p:oleObj>
              </mc:Choice>
              <mc:Fallback>
                <p:oleObj name="Equation" r:id="rId8" imgW="926698" imgH="203112" progId="">
                  <p:embed/>
                  <p:pic>
                    <p:nvPicPr>
                      <p:cNvPr id="4" name="对象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96316" y="2271437"/>
                        <a:ext cx="163353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对象 7"/>
          <p:cNvGraphicFramePr>
            <a:graphicFrameLocks noChangeAspect="1"/>
          </p:cNvGraphicFramePr>
          <p:nvPr/>
        </p:nvGraphicFramePr>
        <p:xfrm>
          <a:off x="4796317" y="2684040"/>
          <a:ext cx="2502106" cy="562303"/>
        </p:xfrm>
        <a:graphic>
          <a:graphicData uri="http://schemas.openxmlformats.org/presentationml/2006/ole">
            <mc:AlternateContent xmlns:mc="http://schemas.openxmlformats.org/markup-compatibility/2006">
              <mc:Choice xmlns:v="urn:schemas-microsoft-com:vml" Requires="v">
                <p:oleObj name="Equation" r:id="rId10" imgW="1752600" imgH="393700" progId="">
                  <p:embed/>
                </p:oleObj>
              </mc:Choice>
              <mc:Fallback>
                <p:oleObj name="Equation" r:id="rId10" imgW="1752600" imgH="393700" progId="">
                  <p:embed/>
                  <p:pic>
                    <p:nvPicPr>
                      <p:cNvPr id="8" name="对象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96317" y="2684040"/>
                        <a:ext cx="2502106" cy="562303"/>
                      </a:xfrm>
                      <a:prstGeom prst="rect">
                        <a:avLst/>
                      </a:prstGeom>
                      <a:noFill/>
                      <a:ln>
                        <a:noFill/>
                      </a:ln>
                    </p:spPr>
                  </p:pic>
                </p:oleObj>
              </mc:Fallback>
            </mc:AlternateContent>
          </a:graphicData>
        </a:graphic>
      </p:graphicFrame>
      <p:graphicFrame>
        <p:nvGraphicFramePr>
          <p:cNvPr id="11" name="对象 10"/>
          <p:cNvGraphicFramePr>
            <a:graphicFrameLocks noChangeAspect="1"/>
          </p:cNvGraphicFramePr>
          <p:nvPr/>
        </p:nvGraphicFramePr>
        <p:xfrm>
          <a:off x="4776758" y="3347994"/>
          <a:ext cx="2840446" cy="607221"/>
        </p:xfrm>
        <a:graphic>
          <a:graphicData uri="http://schemas.openxmlformats.org/presentationml/2006/ole">
            <mc:AlternateContent xmlns:mc="http://schemas.openxmlformats.org/markup-compatibility/2006">
              <mc:Choice xmlns:v="urn:schemas-microsoft-com:vml" Requires="v">
                <p:oleObj name="Equation" r:id="rId12" imgW="2082600" imgH="444240" progId="Equation.DSMT4">
                  <p:embed/>
                </p:oleObj>
              </mc:Choice>
              <mc:Fallback>
                <p:oleObj name="Equation" r:id="rId12" imgW="2082600" imgH="444240" progId="Equation.DSMT4">
                  <p:embed/>
                  <p:pic>
                    <p:nvPicPr>
                      <p:cNvPr id="11" name="对象 10"/>
                      <p:cNvPicPr>
                        <a:picLocks noChangeAspect="1" noChangeArrowheads="1"/>
                      </p:cNvPicPr>
                      <p:nvPr/>
                    </p:nvPicPr>
                    <p:blipFill>
                      <a:blip r:embed="rId13"/>
                      <a:srcRect/>
                      <a:stretch>
                        <a:fillRect/>
                      </a:stretch>
                    </p:blipFill>
                    <p:spPr bwMode="auto">
                      <a:xfrm>
                        <a:off x="4776758" y="3347994"/>
                        <a:ext cx="2840446" cy="607221"/>
                      </a:xfrm>
                      <a:prstGeom prst="rect">
                        <a:avLst/>
                      </a:prstGeom>
                      <a:noFill/>
                      <a:ln>
                        <a:noFill/>
                      </a:ln>
                    </p:spPr>
                  </p:pic>
                </p:oleObj>
              </mc:Fallback>
            </mc:AlternateContent>
          </a:graphicData>
        </a:graphic>
      </p:graphicFrame>
      <p:graphicFrame>
        <p:nvGraphicFramePr>
          <p:cNvPr id="14" name="对象 13"/>
          <p:cNvGraphicFramePr>
            <a:graphicFrameLocks noChangeAspect="1"/>
          </p:cNvGraphicFramePr>
          <p:nvPr/>
        </p:nvGraphicFramePr>
        <p:xfrm>
          <a:off x="4719465" y="4012894"/>
          <a:ext cx="3191354" cy="682237"/>
        </p:xfrm>
        <a:graphic>
          <a:graphicData uri="http://schemas.openxmlformats.org/presentationml/2006/ole">
            <mc:AlternateContent xmlns:mc="http://schemas.openxmlformats.org/markup-compatibility/2006">
              <mc:Choice xmlns:v="urn:schemas-microsoft-com:vml" Requires="v">
                <p:oleObj name="Equation" r:id="rId14" imgW="2082600" imgH="444240" progId="Equation.DSMT4">
                  <p:embed/>
                </p:oleObj>
              </mc:Choice>
              <mc:Fallback>
                <p:oleObj name="Equation" r:id="rId14" imgW="2082600" imgH="444240" progId="Equation.DSMT4">
                  <p:embed/>
                  <p:pic>
                    <p:nvPicPr>
                      <p:cNvPr id="14" name="对象 13"/>
                      <p:cNvPicPr>
                        <a:picLocks noChangeAspect="1" noChangeArrowheads="1"/>
                      </p:cNvPicPr>
                      <p:nvPr/>
                    </p:nvPicPr>
                    <p:blipFill>
                      <a:blip r:embed="rId15"/>
                      <a:srcRect/>
                      <a:stretch>
                        <a:fillRect/>
                      </a:stretch>
                    </p:blipFill>
                    <p:spPr bwMode="auto">
                      <a:xfrm>
                        <a:off x="4719465" y="4012894"/>
                        <a:ext cx="3191354" cy="682237"/>
                      </a:xfrm>
                      <a:prstGeom prst="rect">
                        <a:avLst/>
                      </a:prstGeom>
                      <a:solidFill>
                        <a:schemeClr val="accent6">
                          <a:lumMod val="20000"/>
                          <a:lumOff val="80000"/>
                        </a:schemeClr>
                      </a:solidFill>
                      <a:ln>
                        <a:noFill/>
                      </a:ln>
                    </p:spPr>
                  </p:pic>
                </p:oleObj>
              </mc:Fallback>
            </mc:AlternateContent>
          </a:graphicData>
        </a:graphic>
      </p:graphicFrame>
      <p:graphicFrame>
        <p:nvGraphicFramePr>
          <p:cNvPr id="16" name="对象 15"/>
          <p:cNvGraphicFramePr>
            <a:graphicFrameLocks noChangeAspect="1"/>
          </p:cNvGraphicFramePr>
          <p:nvPr/>
        </p:nvGraphicFramePr>
        <p:xfrm>
          <a:off x="1369502" y="5255718"/>
          <a:ext cx="5886451" cy="741362"/>
        </p:xfrm>
        <a:graphic>
          <a:graphicData uri="http://schemas.openxmlformats.org/presentationml/2006/ole">
            <mc:AlternateContent xmlns:mc="http://schemas.openxmlformats.org/markup-compatibility/2006">
              <mc:Choice xmlns:v="urn:schemas-microsoft-com:vml" Requires="v">
                <p:oleObj name="Equation" r:id="rId16" imgW="3632040" imgH="457200" progId="Equation.DSMT4">
                  <p:embed/>
                </p:oleObj>
              </mc:Choice>
              <mc:Fallback>
                <p:oleObj name="Equation" r:id="rId16" imgW="3632040" imgH="457200" progId="Equation.DSMT4">
                  <p:embed/>
                  <p:pic>
                    <p:nvPicPr>
                      <p:cNvPr id="16" name="对象 15"/>
                      <p:cNvPicPr>
                        <a:picLocks noChangeAspect="1" noChangeArrowheads="1"/>
                      </p:cNvPicPr>
                      <p:nvPr/>
                    </p:nvPicPr>
                    <p:blipFill>
                      <a:blip r:embed="rId17"/>
                      <a:srcRect/>
                      <a:stretch>
                        <a:fillRect/>
                      </a:stretch>
                    </p:blipFill>
                    <p:spPr bwMode="auto">
                      <a:xfrm>
                        <a:off x="1369502" y="5255718"/>
                        <a:ext cx="5886451" cy="741362"/>
                      </a:xfrm>
                      <a:prstGeom prst="rect">
                        <a:avLst/>
                      </a:prstGeom>
                      <a:solidFill>
                        <a:schemeClr val="accent4">
                          <a:lumMod val="40000"/>
                          <a:lumOff val="60000"/>
                        </a:schemeClr>
                      </a:solidFill>
                      <a:ln>
                        <a:noFill/>
                      </a:ln>
                    </p:spPr>
                  </p:pic>
                </p:oleObj>
              </mc:Fallback>
            </mc:AlternateContent>
          </a:graphicData>
        </a:graphic>
      </p:graphicFrame>
    </p:spTree>
    <p:extLst>
      <p:ext uri="{BB962C8B-B14F-4D97-AF65-F5344CB8AC3E}">
        <p14:creationId xmlns:p14="http://schemas.microsoft.com/office/powerpoint/2010/main" val="1808664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对象 9"/>
          <p:cNvGraphicFramePr>
            <a:graphicFrameLocks noChangeAspect="1"/>
          </p:cNvGraphicFramePr>
          <p:nvPr/>
        </p:nvGraphicFramePr>
        <p:xfrm>
          <a:off x="2514600" y="1981200"/>
          <a:ext cx="3589338" cy="728662"/>
        </p:xfrm>
        <a:graphic>
          <a:graphicData uri="http://schemas.openxmlformats.org/presentationml/2006/ole">
            <mc:AlternateContent xmlns:mc="http://schemas.openxmlformats.org/markup-compatibility/2006">
              <mc:Choice xmlns:v="urn:schemas-microsoft-com:vml" Requires="v">
                <p:oleObj name="Equation" r:id="rId2" imgW="2247840" imgH="457200" progId="Equation.DSMT4">
                  <p:embed/>
                </p:oleObj>
              </mc:Choice>
              <mc:Fallback>
                <p:oleObj name="Equation" r:id="rId2" imgW="2247840" imgH="457200" progId="Equation.DSMT4">
                  <p:embed/>
                  <p:pic>
                    <p:nvPicPr>
                      <p:cNvPr id="10" name="对象 9"/>
                      <p:cNvPicPr>
                        <a:picLocks noChangeAspect="1" noChangeArrowheads="1"/>
                      </p:cNvPicPr>
                      <p:nvPr/>
                    </p:nvPicPr>
                    <p:blipFill>
                      <a:blip r:embed="rId3"/>
                      <a:srcRect/>
                      <a:stretch>
                        <a:fillRect/>
                      </a:stretch>
                    </p:blipFill>
                    <p:spPr bwMode="auto">
                      <a:xfrm>
                        <a:off x="2514600" y="1981200"/>
                        <a:ext cx="3589338" cy="72866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对象 10"/>
          <p:cNvGraphicFramePr>
            <a:graphicFrameLocks noChangeAspect="1"/>
          </p:cNvGraphicFramePr>
          <p:nvPr/>
        </p:nvGraphicFramePr>
        <p:xfrm>
          <a:off x="643979" y="3256955"/>
          <a:ext cx="914400" cy="685800"/>
        </p:xfrm>
        <a:graphic>
          <a:graphicData uri="http://schemas.openxmlformats.org/presentationml/2006/ole">
            <mc:AlternateContent xmlns:mc="http://schemas.openxmlformats.org/markup-compatibility/2006">
              <mc:Choice xmlns:v="urn:schemas-microsoft-com:vml" Requires="v">
                <p:oleObj name="Equation" r:id="rId4" imgW="609480" imgH="457200" progId="Equation.DSMT4">
                  <p:embed/>
                </p:oleObj>
              </mc:Choice>
              <mc:Fallback>
                <p:oleObj name="Equation" r:id="rId4" imgW="609480" imgH="457200" progId="Equation.DSMT4">
                  <p:embed/>
                  <p:pic>
                    <p:nvPicPr>
                      <p:cNvPr id="11" name="对象 10"/>
                      <p:cNvPicPr/>
                      <p:nvPr/>
                    </p:nvPicPr>
                    <p:blipFill>
                      <a:blip r:embed="rId5"/>
                      <a:stretch>
                        <a:fillRect/>
                      </a:stretch>
                    </p:blipFill>
                    <p:spPr>
                      <a:xfrm>
                        <a:off x="643979" y="3256955"/>
                        <a:ext cx="914400" cy="685800"/>
                      </a:xfrm>
                      <a:prstGeom prst="rect">
                        <a:avLst/>
                      </a:prstGeom>
                    </p:spPr>
                  </p:pic>
                </p:oleObj>
              </mc:Fallback>
            </mc:AlternateContent>
          </a:graphicData>
        </a:graphic>
      </p:graphicFrame>
      <p:sp>
        <p:nvSpPr>
          <p:cNvPr id="12" name="TextBox 11"/>
          <p:cNvSpPr txBox="1"/>
          <p:nvPr/>
        </p:nvSpPr>
        <p:spPr>
          <a:xfrm>
            <a:off x="2027134" y="3171825"/>
            <a:ext cx="6156973" cy="923330"/>
          </a:xfrm>
          <a:prstGeom prst="rect">
            <a:avLst/>
          </a:prstGeom>
          <a:noFill/>
        </p:spPr>
        <p:txBody>
          <a:bodyPr wrap="square" rtlCol="0">
            <a:spAutoFit/>
          </a:bodyPr>
          <a:lstStyle/>
          <a:p>
            <a:r>
              <a:rPr lang="en-US" altLang="zh-CN" dirty="0"/>
              <a:t>Represents the work done by the system per degree rise in temperature in expanding </a:t>
            </a:r>
            <a:r>
              <a:rPr lang="en-US" altLang="zh-CN" b="1" dirty="0"/>
              <a:t>against the constant external pressure P acting on the system</a:t>
            </a:r>
            <a:endParaRPr lang="zh-CN" altLang="en-US" b="1" dirty="0"/>
          </a:p>
        </p:txBody>
      </p:sp>
      <p:graphicFrame>
        <p:nvGraphicFramePr>
          <p:cNvPr id="13" name="对象 12"/>
          <p:cNvGraphicFramePr>
            <a:graphicFrameLocks noChangeAspect="1"/>
          </p:cNvGraphicFramePr>
          <p:nvPr/>
        </p:nvGraphicFramePr>
        <p:xfrm>
          <a:off x="319680" y="4547806"/>
          <a:ext cx="1438227" cy="690349"/>
        </p:xfrm>
        <a:graphic>
          <a:graphicData uri="http://schemas.openxmlformats.org/presentationml/2006/ole">
            <mc:AlternateContent xmlns:mc="http://schemas.openxmlformats.org/markup-compatibility/2006">
              <mc:Choice xmlns:v="urn:schemas-microsoft-com:vml" Requires="v">
                <p:oleObj name="Equation" r:id="rId6" imgW="952200" imgH="457200" progId="Equation.DSMT4">
                  <p:embed/>
                </p:oleObj>
              </mc:Choice>
              <mc:Fallback>
                <p:oleObj name="Equation" r:id="rId6" imgW="952200" imgH="457200" progId="Equation.DSMT4">
                  <p:embed/>
                  <p:pic>
                    <p:nvPicPr>
                      <p:cNvPr id="13" name="对象 12"/>
                      <p:cNvPicPr/>
                      <p:nvPr/>
                    </p:nvPicPr>
                    <p:blipFill>
                      <a:blip r:embed="rId7"/>
                      <a:stretch>
                        <a:fillRect/>
                      </a:stretch>
                    </p:blipFill>
                    <p:spPr>
                      <a:xfrm>
                        <a:off x="319680" y="4547806"/>
                        <a:ext cx="1438227" cy="690349"/>
                      </a:xfrm>
                      <a:prstGeom prst="rect">
                        <a:avLst/>
                      </a:prstGeom>
                    </p:spPr>
                  </p:pic>
                </p:oleObj>
              </mc:Fallback>
            </mc:AlternateContent>
          </a:graphicData>
        </a:graphic>
      </p:graphicFrame>
      <p:sp>
        <p:nvSpPr>
          <p:cNvPr id="14" name="TextBox 13"/>
          <p:cNvSpPr txBox="1"/>
          <p:nvPr/>
        </p:nvSpPr>
        <p:spPr>
          <a:xfrm>
            <a:off x="2148827" y="4399955"/>
            <a:ext cx="6156973" cy="923330"/>
          </a:xfrm>
          <a:prstGeom prst="rect">
            <a:avLst/>
          </a:prstGeom>
          <a:noFill/>
        </p:spPr>
        <p:txBody>
          <a:bodyPr wrap="square" rtlCol="0">
            <a:spAutoFit/>
          </a:bodyPr>
          <a:lstStyle/>
          <a:p>
            <a:r>
              <a:rPr lang="en-US" altLang="zh-CN" dirty="0"/>
              <a:t>Represents the work done by the system per degree rise in temperature in expanding against </a:t>
            </a:r>
            <a:r>
              <a:rPr lang="en-US" altLang="zh-CN" b="1" dirty="0"/>
              <a:t>the internal cohesive forces acting between the constituent particles of the substance </a:t>
            </a:r>
            <a:endParaRPr lang="zh-CN" altLang="en-US" b="1" dirty="0"/>
          </a:p>
        </p:txBody>
      </p:sp>
      <p:sp>
        <p:nvSpPr>
          <p:cNvPr id="16" name="Title 1"/>
          <p:cNvSpPr txBox="1">
            <a:spLocks/>
          </p:cNvSpPr>
          <p:nvPr/>
        </p:nvSpPr>
        <p:spPr>
          <a:xfrm>
            <a:off x="1295400" y="0"/>
            <a:ext cx="7848600" cy="12446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3200">
                <a:solidFill>
                  <a:srgbClr val="FF0000"/>
                </a:solidFill>
                <a:latin typeface="Arial" charset="0"/>
                <a:cs typeface="Arial" charset="0"/>
              </a:rPr>
              <a:t>The relation between C</a:t>
            </a:r>
            <a:r>
              <a:rPr lang="en-US" altLang="zh-CN" sz="3200" baseline="-25000">
                <a:solidFill>
                  <a:srgbClr val="FF0000"/>
                </a:solidFill>
                <a:latin typeface="Arial" charset="0"/>
                <a:cs typeface="Arial" charset="0"/>
              </a:rPr>
              <a:t>V</a:t>
            </a:r>
            <a:r>
              <a:rPr lang="en-US" altLang="zh-CN" sz="3200">
                <a:solidFill>
                  <a:srgbClr val="FF0000"/>
                </a:solidFill>
                <a:latin typeface="Arial" charset="0"/>
                <a:cs typeface="Arial" charset="0"/>
              </a:rPr>
              <a:t> and C</a:t>
            </a:r>
            <a:r>
              <a:rPr lang="en-US" altLang="zh-CN" sz="3200" baseline="-25000">
                <a:solidFill>
                  <a:srgbClr val="FF0000"/>
                </a:solidFill>
                <a:latin typeface="Arial" charset="0"/>
                <a:cs typeface="Arial" charset="0"/>
              </a:rPr>
              <a:t>P</a:t>
            </a:r>
            <a:endParaRPr lang="en-US" sz="3200" dirty="0">
              <a:solidFill>
                <a:srgbClr val="FF0000"/>
              </a:solidFill>
            </a:endParaRPr>
          </a:p>
        </p:txBody>
      </p:sp>
    </p:spTree>
    <p:extLst>
      <p:ext uri="{BB962C8B-B14F-4D97-AF65-F5344CB8AC3E}">
        <p14:creationId xmlns:p14="http://schemas.microsoft.com/office/powerpoint/2010/main" val="3540843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4" descr="data:image/jpeg;base64,/9j/4AAQSkZJRgABAQAAAQABAAD/2wCEAAkGBxITEhQUExQVFhUXFxwZGBcYGBgaFxwYHBwcGBcdGBweHCggGB0lHBwaITEhJSwsLi4uHB8zODMsNygtLisBCgoKDg0OGxAQGzAkHCU0LC00NCssLCwsLC80LDAsLCwsLywvLCwsLCwsLywsLCwsLCwsLCwsLCwsLCwsLCwsLP/AABEIAQcAvwMBIgACEQEDEQH/xAAcAAABBAMBAAAAAAAAAAAAAAAFAAQGBwIDCAH/xABNEAACAQMCAwUDCAUHCwMFAAABAgMABBESIQUTMQYiQVFhBzJxFCM0QnSBkbMkUqGx0RczVGJyksEVFjVDU3OTstLh8CWCoghEY6PT/8QAGQEBAAMBAQAAAAAAAAAAAAAAAAECAwQF/8QAJxEAAgIBBAICAgIDAAAAAAAAAAECESEDEjFRIkEEE3GhYcEUkfD/2gAMAwEAAhEDEQA/AKQdzk7nrXms+ZpP1PxrGgMtZ8zS1nzNY074pw2a3kMU6NHIuCVbqMgMPxBBoBtrPmaWs+ZrGnV9w+WHl8xCnMQSJn6yNnSw9Dg0A31nzNLWfM04FhLyefoPK5nL1+HMKlgvx0gmmtAZaz5mlrPmaxpUBlrPmaWs+ZqU8D7AcQvNPKg0ggbuwXI/Wwxz+AqYxewa8KjVcQq2+oYYgeWD41DklyE74Kl1nzNLWfM1bw9gl1/Sofwf+Fe/yB3P9Lh/uvVfsj2CoNZ8zS1nzNXCPYFcf0uH+49YzewS4AJF3Dt5qwH40+yPZNMqDWfM0tZ8zUv457Nb+3QyhUnhG/NgdXXy6e9+yoeRirJp8EHus+Zpaz5msaVSDLWfM0tR8zWNKgOzeyX0Gz+zRflrRahPZH6DZ/Zovy1otQHDzdTWNZP1PxrGgJP7OOFLcX8IkIWKImeVicKI4hrYsfBTgAn1qx+IcGiv73h1xPJb3Otp4pzAzPEXjV57dDsGyyYUjG+nbrVL291ImrQ7JrUo2liNSHBKtjqpwNjtsKzt+ITRrpSWRF1B9KuwGtfdbAPvDwPUUBbd5Y2MTTXHySJ2SwMrRPbywQGRbhER0jc6gCCQQDg6T+tWXD+ERO8MxtoXUcOtmYNHJKqvLI4ykCZMhONO5AUb+lVPc8ZuZGdpJ5nZ10OWkdiyA5CsSe8uQDg7bVlBxu6QgpcTqQnLBWRwRGOiDB9zc93pQFhe0Lh0dvZ3sUS6Y14sulfAA2zNgegztURik4S6rrS9hfABKNFMmfE6WCHc+Gqg11xOeQESTSuCwYhnZgWC6AxBO7Be7nrjamlAShezdpKQLfiMJY/VnjlhPoAQHUn76sTsl7N2tF5kiJPc+AVldIvI4G7N45xUQ9lHB1eWS6cZWDAQHoZWzj+6Mn8KsyQHJzuR41ScqwcnyNWvFAr2d8F4nBxVmnkZIO+W1EgSAghcKRsQSDvjp41cpuF/WX8RVawX8y+7I+PIsSPwO1bDxNj78cT/ABQKfxXBrm1fP3ROn8mlTRYhu0/XX+8P414b2P8AXT+8P41XTT27dYnT1R8/sYH99YG2t292Yr6SRn96Fv3Vj9T9Mv8A5P8AH7LGPEYv9on95f40M7RC2uraa3edFEqFSQ65APj1qFJwWSSRY4nictnvB1OgAe8yEq7Lq0juj61aOMdl7i1XVI6SB3AzFCwwQrHLksxVdsdcElc4xvK05LLf6NI6smrr9mq0t7bhPD5LSO4+USTOXZlHcXIA3IJCd1NgTknPgNoP2g4GlyCygLMOh6avR/X1qeWXYrmaXmfusEZUi1tq2JVn5hK5Go7EEdfWmnFuyZiDyxTErGhZ0lGJML+qVGGz92PvotaCnW7yJ1NHVa3pFG3VvoOCd/rDBBVs7qc+P8a0VMu33DgNE6/W7r/2gNj+G1Q2u+MtysiEtysVKlSqxc7N7I/QbP7NF+WtFqE9kfoNn9mi/LWi1AcPP1PxqQdluzC3Mc801wttbwaA8jIznVISEAVdz0OT4bVH36n41OfZleNGLjk3sdtcHRhLjT8mmjGdYfKnDLnI+Jx40AA4r2XnjuJYYh8p5YDcy3DSIUYBlY6QdOx3z0OaHJwydk5ghlMe3fCMU3bSO9jG7d347Vb1zxS1czRWF9BZOt3FNLKpMcTqIQsphH+sVZNR5Z2bJ+NDuG9qoIv8kK9zrhS5uXuAMqDmbVDJLEOm+HAOcb4oCtX4PciVYTBMJWGViMbiQjfouMnofDwpQcHuXYokEzMraWVY3LBsE6SAMg4B29D5Vc3+cdsLhYXmtjIbWdElW6nZQ0ksbhHuSNSalRiCPd1Y8dxfEe1kYa9aK4iSQzWC64pWPMEYfmsHbDPgaVZvHTnxoCoXQgkEEEHBB2II6g+VY0d7dTxycRvHjZWRriRlZSCpBYnII6g9c0JsbYyyxxggF3VAT0BYgb/jQFw+zy30cNiOMcyR3Prg6V/YKkFNLi1axhtLTMZYMYjIzFYQcsSzHGVG34mtlreCWKOUDTrXVpzkA5KnBwMqcZBx0IrGfJ5urCVufodNitTCvEbPiKzK/A1k1ZRLBqavM16+AN2ArDWvmNutVomjK1uJIZ0uIgpZQyMrHAaN9JYasEqcqpB8xvTi/wCO3LhVQyQxoS3880krsQRhm8EGc6cnJA6AbspJVB94U2muwpHQ5zjdQNuu5IFRm8G0NSaWxEy4bdK6RyhyEeIBXGcKRgOp/VPdO/Wm/ai8VoJnJyqwNGW8GZ10gDz3y2aA/wCcDK1ukGmBRy+cXdGV1IUB+WMHJTckA52rAcfkeOeOfRLzNSxvkroVhg9zB36+I229a5X8VqVt4u/7/wCwetL5UFGnzVEc4xw5ZLSVXcJhGcMempAWUf8AuPd++qlq7eIQiSCVc7MjDPltVT9qeDGzu5rYvr5TadYGnOwOcZOOteloPB53xnhoFUqVKtjpOzeyP0Gz+zRflrRahPZH6DZ/Zovy1otQHDz9T8axrOVcGsKAmPEvZrfwxPKwhYRpzHRJUaRY8BixTrgA5PpUOroTjXDzzbuVrNYY3sip4iJctj5OgI5RYjcjl4AB8jTabhUQsIluljMKPYEOscSQ8tnUTGNgxkfZsSO5AJ6AUBSfA+ES3UwhhwXIZhk4GEUu2/wBrO44HMltHdPpWOV2WME999PvMq9SgO2rz2q4bSG7Xidub2K3RRJeLEIwiTNAIXI9zumIDZWPezUM9ogW7tbPiMCaIinyZ4QcrA8edAXyVl3Hw33NAQzhC25kxctKseD3olVmDeB0sQCPPfNWR2J9miXWZre6WQRSI8b6JEDaTlkkRlyjbbMpYdc+FVWy4ODRXgnFbpJIkhnlTLqAFkcDJYeAOOtAdIXvB3muFhlcpzFL5XSTkA6gNSkHdt9j4V6fZopJJvbo9MfzGB93Kotc8wcQs11NoEMuodQWwmM+vXf41JqpFIp9cSB/yaJt+mXR8/5jf4fM7VsHs0h/pV3+MP8AhFU4pVal0Prj0QNvZhBv+k3XoCYtv/1ZNL+S+3yM3Fzj+2mT/wDDH7KnleYpS6J2R6IL/JZabZmuvX5xN/j83t92K3QezSyUkl7hh5GTp94AP7ammK8am1dDbHoig7AWA6I/QD+cfoBgePkAPurVL2Ish/q2/wCI/wDGpRI1aHOaq4x6LbV0Vp2j4bHBMsMS4V4ixySdySvj6VSHa66Mt3K5zk6c58wig/uq/O2y/pkP+5P/ADmqB7WR6budfJ/2YGP2VSC82Ywdakl+ATSpV7itjY7M7I/QbP7NF+WtFqE9kfoNn9mi/LWi1AcPP1PxrGsn6n41M+xZgisb+5ltobhontlQShsASGUNjBB8B+FAQvNLUfM+X3das3iHZmCRZZLaKKNbi1tZlRyzcl5pjCwjby1Kd28DTK/9mLJdwWq3Sl5WkQ64ZY9JjTXkBx84hxgOu1AQBnJ6knAx93lXmasXhfYyGNJphLHdwPYXbRyBHXTPCBnutvlcgg+Oaap7OdUMUq3aMGkgjkIikCIZ9lKyHCzaSQG0nbxoCB0b7E2/M4hZpjrcRfhrBP7K28c7LPawc2RwGNzLAseDkiE6XfPgNfdx6Gnfsr/0tZf70fuNQ+CVydPXIzew7HaNjnw6EUaoWfpQ9I/8TRSqwdqyqFSpUquSKvK9pUB4RWMgrOsXoBsyVpkG/T8K3Oa1t6VDJRXfb6dUu4ckDMJ/HXj/ABA/Cqe9pr/pQTRGAEVg6rh31gNl2+vjoPIbVZntfEpurfkqWYQnoMlTrGkj1zj0qou2M0rzKZlCvy1BUbYAzpGMnG2NvCqKPluM1GptgGlSpVoXOzeyP0Gz+zRflrRahPZH6DZ/Zovy1otQHDz9TUj7LdpIbeC5guLX5RHO0TEc1o8GLWRuoyff/ZUcfqfjUm7JcItmhuLy85jQQGNBHEQrySSE4Go+6qhST91AO7zt8z/KB8njEckUMMcQJMccUDh1Ujq4O+enU1JuBe0SKa9slaMW8EcssrNLO8qhmhdAqF8cqLfAQbbjpUTl7MRXc7f5NfMAiWSRrhhGICxwY5HbCsdXQjrnxwTWNp7Pb55JY9MaGKVYnMkqIA7jMeCT3tW2MZzqHnQD1+3yLGYYLVYoPk08QQSMx5lwAHkLEbgYAC+Q6+Tvi/tA+WxNbCEQPO1uGlad+UjREBSqkaYY8ZJ09Ou+KZp7Obg20Tgp8oku3t+UZIxgrhfPOrXqyPAAHxpvB7Ob53dByMoyoSZ4wplYahEhzhpPNR0++gCntK4it/fQQQywFY4gpk1hYGnbMkzBzt3m2z4ketaOw3Abq14vYi4hePMw0lh3G2PusO633E0I47wBYLG0mIZZpJJ0lUnYGJwgAHgRvmn/ALLOLXC31vbJPIkMz6HRW2w3ioOQreTDcVD4JXJ00WxdqPOP/E0VqGtaX8FwOVKl2Amyz4jkxk7c2NdJ9MpnzPiCCdrokOm7jltG85l+a+6dcxfcWB9KiCpFUSKlWEMquAysGU7ggggj0I61nViRUqVeUB7WEgrKsZKAbOKyYik61rk9KqSVF7ZrjTcRHfSLZ84ODgvnb4af3VS/Gr0zOHPljrnxP8auL22D55cjpaNj175/d/jVNyq2hsHC5GoZ6nfTt4+NSuLKRzJoY0qVKpLHZvZH6DZ/Zovy1otQnsj9Bs/s0X5a0WoDh5+p+NSXspxi2WG4tLwSiCco4eIKXjkjJ0kK2AykMQfuqNP1Pxor2d7NXV6zrbR8woAzd5VwCcD3iPGgJRH2k4YflNoIp4bOWKFRIgRpzJC2rmSKTpOvJBAO2B64ccQ7eW0gkUJKq/KbRowQpbk2yaO+c++cZ8t+tQnjvA7izk5VzGY3wGAOCCp6FSCQRsenlTaCxldGdY2ZFZVLAEgM2dC58zg4HpQFk2vbuy5vNcTgpxSS7QBFOqKXSCG7+zAA7dOm9CeAdp7LkpFeC4HIujdRNCFJfOCySamGDkDDDzP3wm6t3jdkkUq6kqykYII2II8CK1UBLe2HamO8ghUKyyCe6mcbaRz5OYoU5ycfCtXsw/0tZf75ai9Sj2Yf6Wsf9+tQ+CVydUyD9JX+wf8AGiDoCCCAQeoO4oFxjiqQTqz5xo8MeZ86wt+18L50hj9w/jVYtUZb4puz2bshADqtmktH65t20IT/AFoiDE+fVc+oO9Yc/iUHvxxXkY+tF8zPj+w55bnruHT4V63bCEAkq2FGT7p2/Gk/a1FOHilTLFQTowWUZZRhic4B9NqtaJU4tWOLHtVayOImYwzHpDOpikP9kNs/xUkUaJqCcf7a2hUxz2/MRuquEZT8QTUC7R8Zga2aGwkmhzj5t5vmQQQQ0YYO0RUgFQjIBt8DG6PY+yPZfNYsaqn2ddvb19MF4iTf/njdNQGCfnE8enVd/MdTVjC6uMn5gY8O+v7TVi6d8Dtq0uPKmr3Vx4Qb+XMA+/Pj+FaWubrUP0cadt+aCfwwMfHP3VBJWXtqhJlUj+jMB5511SE6DDaiwfbSMbY8Sc9K6R7WcFvLmaKSOIIY1Zf5xTnJBGNwQdqpv2sqBdqrauakapIDjTlVAGD476s/d61W2nRSKe5kIpUqVXLHZvZH6DZ/Zovy1otQnsl9Bs/s0X5a0WoDh5+p+NWB7K7YSQ8SQ2z3QMMXzCMUZ8TKdmG4xjV8FNQa1sZZnKRRvI250orM2PE4AJxShuZoWYI8kbdGClkO3gcYOx8DQF1zcGJmhYWqqIuHHTZzR/KpYfnyoKRkjms2TguQFBPlTi9QW5vooLaEJHxCycryVOhXRXZiPqgNnB6KCwHWqMXiEwcyCWQORguHbUQRggtnJ22pC/mww5smGUKw1thlXZQwzuB4A9KAvm34RHJc3ry2cbyNxFonQWiyE2wTUh3dRCZMsxn8WANRS2urO2ThSfJbZ4biWdZZZYUaUxi5kiQ6iDgqpzkb7AZ2FVo3FJyWJmlJddLnW2WX9VjnvD0NZ8LvwksTSx8+OMnELswQ5ycbHIGo5wOvjQEn9pHCI7M2tiiLzY42aVwq63eV2KKzAZbSgXH9qiHs67F8Rj4jaTSWsyRpKrMzrpAA6nfBqGdo+NS3dzLcS4Du2cDYKBsqr5AAAfdTzsSZW4hBy2PNLnS2d86T4nxPrRkN0rOiePcOYzJPG0Css5Znc5OkAhdY1DUobB0gg9PWtUHApZDFPJLBlECEIshAGsSEe9gnVkasDIPhQvjl/DI/d1HCjCMBzNWGDDxYZJXGOhyemKh3aJHEq4LgaO6oZ0Ve/JkADHQjHTwqYx9GSkpFiw9n9Lq2XkQgKylJGBXCLsWlGnBUnPQA+QrXx2Owh1FZJ3kUHCmZ3XV3Sf5zUA2HG4GSCRvjFVnySR78vw5kn/VWfZ60Pynu627g7oLMxfmLpKgnqBq/EVZwpZJaVYDUMkFwHaTUVC93SCwDeI3x44G4pvJY2/JVtxMG3GO6V8//AD1+5/Pxd1uLopq1Nu4lQtvpCaQ2g6n6DBC41AVFOM8WnikZEiVlBIBIfcA4zt4ZB/CqxSv/AEWtLxX8h+6jiinh+TmQE++GGOu2B6Y6/dV7IapDsxfz3xjlmidjEeWqqgXLNnAUn3vNmOAuMn1vBRVVdUy1pvAmrWT6VsIrDFSSaWrl/wBs5/8AVJ/TH7s/41fFnZ8UHFJ5JJUNgV+bTIyDhcALjIYEMSxO4PwxQvtiGOJz7/W23JwCFON/XO1QQ2QilSpVJJ2b2R+g2f2aL8taLUJ7I/QbP7NF+WtFqA5W4VezW3BpZrV2ila+EcskZKyCIRao11DdVL6viRiilxad25v+L2pmm5kEXJVjDs8ermuU3LMoGPXOfIQngPaW7sndrWZoi2zYCkEDOMhgQcZONtq3cO7Z38E0s0dw4kmIMrEK2ojdSQwIyPA428MUBYUHYvh0EvJmhefXxP5Ijc1kKRvFFIpYLszIX9M758BTXhHZPh5S1hkhd5bn5cvO5rLoNsXMbBBsxIXBHT0NV/F2lu1KkTNlbj5SCcE8/Ycwkjc7Drt6VlH2ovFaJhMQYeaYzhe7zs87w31ZPXz2xQE7k7GWHyKJSyJcvaw3AlMrmQtKy91odOgRBWwHznUB50R4Pwuwi4tBFDYzD5PdmBpmkZ4nPLJVnyO7IGGoKMDH3VWr9rL02otDO/ycADl93oDkLqxqK5305x6U4u+3PEZTCz3TkwMHjOFGHAwGOB3zjbLZ22oCacN7P8Ple2SS2kL8RmuAjrK36OqOyKFHSUgjJLeFZ9n+H2lvPwYRwH5ROqzPNzGIAHMUhU6d7AOfDAx1NQqLt3xFVmVblwJmZ5AAg7ze+V7vzefHTivezfHJzd2jM5PydSsWw7qgMwXpuMk7nzpdZIfBcl5w4PGFaVu5llj5MTAlWKqpJj3Bj3yT1PXNR7jijnIFXTiIHThQR35CdlYgdfAkUd9l9vcXANzd3spV1LG2ePQmP1kL7lVJA1IMZ2yacdpWs3TmvCypEpKvH/OaTnZ8g5O+fMZx50jLazFtxxIhTy433/8APKnfY+dPlYPdzpBAY6RgOM7+W+PvFELqKxFvHNy7jS4yMuoZgAc4DKP1TTiztoYT83HDIdYJJmRyVDZUYUdzrqBKnOjrtvo5pqibSyBu2szEyRKiFedK4InbqSucoU2AYZyd+g8K2dk7cPLHGFwucMwkVwA+llXYYYgat8eh6b7e0izytr0d0ZwsZlfAYknCgYBLat8Dc/iU7PMpmTAZWDRq+piZMqAO+GOtTjAwQOhHgaztNYKylZa3COHRwxhY1AGP37/+HxrbxKSVYpGhUPKEYojHAZwO6CfAE7ZrbbjCL/ZH7q2UOga8MuWkijd42idlBaNtypIyVJ8cHalxGflxvJpLaVJ05xnHqelOqbcTUGGTIyNB2+7NAD247bf7TH/tfH7q5v8AbKVPEpHU5VwrDbHgB/hWz2gccuknVUZkRVBXG2SetAO1N48y20kpzKYsN9xIU+mRg/fVE3gxg5SpuqAFKlSq5sdm9kfoNn9mi/LWi1CeyP0Gz+zRflrRagOHn6n41P8A2ZcBS4t71/kQvZY2gEcZkaPZ+ZrOQw/VFQB+p+NG+Ecf5FpcwKGDyyQSJIDjQYS7fHOWGD6UBY9v2RtPlF2I7FZpI7WCQ2huDpindiJY+bqGcLg7k9cVDYuGxycZht5LVbdDNHG9ushkAzpDd/JJz12PjTjj3bmG4W7Itykt3BCkpBGgzRvqaQDH1gBt5jNRHg3EWt54Z0ALRSK4B6EqQcH0OMUBLOG9nIZouJAKBJHdQRQsS2EEkzRnx3GMdc9Ke2Xs7aK6tw729yrXLW8iBpFCyqpfS5C53XfK58q1X3bm0UEWlo8XNuY7i4LSa88t+YEj22Gok5Ne2XtDjSXmclj/AOove41D3XjMejp13zmgGnaPsgkdvw9rdhJPdasxKWJ1asALkAYX3DvknJ6UY9n3DrS14hbRyMLi7ZypVGzBB3WzqYbTyeGFOgZO5IqLdoe0UVzaW0XLdZYDINWoaDG7lxtjOrJG/TasvZnME4pZk9DKF+9gVH7TUoiXDL2vZIxKSCA0oXJAPeAJ0AtjZRhsKSAMVHePRqlpIMBjIARknukA+73gOgJ9TjxAr28WNlaLQrnnyMBscY0ajjOep64JBLb4NOLWeGSBVBLhYwBrBjJO6EFevXWMfs6VG1rJxuO3yRHruP8AQ4UBZmBIYHSdLamJUYJ22/YaY8Nsy3MwxXEZyyg5H4Y8iMddzUnvdOWjKt31XJJymWdife72osTkbePXOza1lZSivywO5jlwhZWBwikkv3gTjc+O9W5Rpue3AU4ZcnvvGrRqeUmg8oHKalkOFzkFhnIPXc+uMkba5ZFZtRfWcHctgEkDYAk+WM7ZNauK8U5EkEbK5E+CjBe7g4xk/eOlPHJXPkevocYz8POsHKV9GOpKXszh49dt0lk64+qMb43yQR5/D12p9bdoZztzWz+/9lArLhyISw94HvDJ94Yx9bfbH/gGHCxZUee+Px8fSjmQ5vsN/wCWpyR89p36scKPVjjpQW649dksObMCemMAYPNVMHIAyTH+HhvXttcaiV+uvUDr/wCbH44rF7bUXOVA0qvUatWWYEDxA8/++KKTi8kx1JLgaT8LhlVeaFcgnCkNrAzkaidjnPgT0/CsvafEq3SBQABEoAGw8fCrWuVBlDCJABowdWSgyQQCw1MGO53GDjrtVU+1J83gHlEmfvyaabbkawilNNeyH0qVKug6js3sl9BtPs8X5a0WoT2R+g2f2aL8taLUBw8/U/GsayfqfjWNAKlU14Lw3h8FnDc38csxuZXSNI30aIo8CSQ7d5tRwF6YFF+BdnOHm3lmW2ur5flphi5RZJOVoDqzKF65OPDc+FAVnSqeduuyVvZwymIszLfvCGY78vkRShWA21KzkE+lNe0/Y1hxC7t7NBy4GUYeWNSAygjeRl1b56UBDaJ9mZtF5av+rPE34Opol/mNeeIgHxurb/8ArWUfY26QhuZaAqc73dv4b/7SgZ0BxfhkbW+pERJHmnUyBRrIIm2LYz4Db0FVzFfQwqVbmKS5CGMzZ7rBSToGAFbUV9cmralspJbdOUYzuXHe21Mpz3hqDbsT5biqx7ZcJeLkq5UFldu4wYe8M9AM7k74H34qdPmjKSuuqEON2Zk1srONQOD8oBKgtgFtHXBU/FPWmkvFbYkMdWe59SdsBWiOBlcEYWTc9S2TvTdRt4nbr+6vSw9c1otPPJDrocMEItLmInTGgMmpGI1ITrKqQcZKkb7AsvgCaM3fElUmMAnUobO+BkgHO2kHcHTn1xihVpGnKgBaNS2sDWJMFjLKDuDpyRnY9aIHgx5h06QNIBJGCTqDFsg/1fFT4VlKvZhN5p8BCC5RmlKspGodCP1RTSG/04UjOXCjSOgOoEnvb4I36Y/bWkQJApXPMLHuhskjr0yScHP7KFPwq4eVo1mTKkOAythQSdGCE0g9dgT41kobm6IjFO6MmV/lvNBYfV93u4zI2/fyd1Tw21/DM5k4TKAp5b7gZJ0nLHdtOk7L5Z386gQs7nkvN8pTQmQwKyZ2ODgaN99qnPZa/m5ISZlaRTgMzOMggNjGNiowMH7qz1ozSTo0UE1UlQPu2eORUMfvaCSSAVwXIODuQdxkef4U17QZtV/N6aV/BQKurjshNzECygqAu4BZ8sSNJY5UgZONyd/AHFDdp5td3cN5yt+w4qdHs0hFJquv7BdKlSroNjs3sj9Bs/s0P5a0WoT2R+g2f2aL8taLUBw8/U/GsayfqfjWNATLgXH7FrWK24hHOwt5WkhaEpkq+C8ThvqlhnI33r257blbWaK0Eto0l404ELlEWEx6BHlSCTkA9MbZqM8H4XLczRwQrqkkOFGcepJPgAAST5A1IZ/Z7drJCitBIJuYEkilDxaolLyKzAd1gAdv4GgMuA8esmtGteILcsBcm5WSEoWZmQI6vr8DpBz1z5eIftbxn5beT3IXSJXyFzkgYAUHzOAKIjsDelbJgEIvTiHDegPf27uxz4+NBeO8JktLiS3l08yNtLaTkZxnY+PWgGFKlSoDoSxmuJLO2kV20NawoVwTH/qlPQZGfnOn6o6ZoV2pvJJDDzCCVV17oIGMoehJPj50X9n/ABKI8HthMGIw6nCswCpId3wDhemSdqJXfZkXRhdHSJlDqVWLMbA7DIGw6Hf4b7Crp5MFy0QIMKxbFS667AOmdVxAoG+WJXb7xWMXYiE4Et2uc40xDxAJI1MMA4Gela7kGxpwW21WqncEI2kgN7wmlyeuk+GxBo1wOwnmjchQ2JCB3lBxgEZGcjr94xRCG0htkWOBAwx7zlnOSxfpsPreX7qyt+LzKjAHByRsAAoy2yqBgH1rkk1lMym4t5I3xHhMsVxGkkUAR3Byyo0+dceNDK+pRjVvp20N11beSSMmo7FRMSFAw2ptK4z4jA2zQefh+b1ZmuANU641SNklSFIwTjJIIx60dupAGLHfDYx+G+PTNb6MUzS8KuhWxkV8EplETfSMZjKEZHmcH40raMAk7ZJwcZ8FU+PxNPIyuvGxBGc5G/T+NYNhnwuPex/8UFRrwioY/gz1ZNxyaZYxkMc5Xcbnw8xnB8etc93T6nc+bE/ia6D7QAwxzZIykbHPh7px/hXPArn0lyW+NebPKVKlWp1HZvZH6DZ/Zovy1otQnsj9Bs/s0X5a0WoDh5+p+NY06srGWeURQo0kjHCqoyx+6s+LcJntpOVcRPE+AdLjBwehHmPWgCns/ZxxC3McyQPqOl5BlMlSNLDI2f3Ov1qtaDh6x3VjJNbRWV0z3QaCKUNG8fyWT53QCVjOru7dc/hRFKgL5suIolhA2oCS04fFcxdN3dLm20+mGaM/hVZ+1MZ4veY3zLtjfPdXpUSrZBMyMroxVlIZWBwQwOQQR0IO+aAOWPYu/kXVyGjT9eYrCn3NIVB+6t54BZRfSOIRlh1jto3mOPISHRHnw2Jx60E4pczu/wCkPKzj/asxbB3Hvb7jBpnQHQvsuvrRrF0gjlMaytF88yljrCsSwRQAufDJrVx7tJeRTSpFLoVSAFVECjYf1c9T60M9hska2Ny0gOFuFOwYnOgAbDc0u0n0iU+o/wCUVrpq2Ytuxk/Fbpzl5A2ds4XP/LTnhs0jSxKznDSLnAUb5xnIAOdzvTKMU54bKDPH6OufxBq9ENJoMdprsxyRlzJh0TIQHboCwIU407kjoQaM8KXVCpByCoIPoS2PLwxTTtDfQZjicwh9GAHYh8smxABGdyuD5/tMdnbZVjCdABhc7ZAyQPQ6SKwlmJm1hAJuD6ZdY1bEnIY47xYnunIHvY2wdh8a0m0UzNlSGLajIX7jKeqac7MGGc+NTG7tR/38fOgsiDP3VktRxeSim44I5BAigkQvgKAUMo1PpI1aGz3NQGw8KIcLQhwBnR3dIJzjONvj0B+FPSg9K9j6j4iqy1E1SRE9ZzVMHe0qXTb3Zz9TH46RXP8AV8e1HPyW6ycnC5/vLVD1eHs6ND3+TylSpVc3OzeyP0Gz+zRflrRahPZH6DZ/Zovy1otQHKns91criggz8qNr81pzrKcxeeExvnTjpv1orwHg90/KPEY2nWGynntLaQnW2lgNLgfOacnUFPUAY2BFV3b3ckMgeKRo3U7OjFWHwIwRW+Tjt00wuDcTGcdJTI/MHUbNnIGCRj1oCy5+F2kcc109jGHNhDcfJm1hElM5jyBkMqsqhtPkSOhrdc8Jsbea9kFnFIqz2OiNyxRBcRlpQMHcZJwDsML5YqrLjjNzIZGeeZjKAJC0jEuAcgPk94AgYB6YpS8XuGzqnlbUVLZkc5MYxGWydyo2Xy8MUBcXDex/DY+erxB1e9uIT83cSyRxxjuLEYgdDAHXqbqNt+tAX4ZFDb26xcNW4X5LFdvdlmUh9eX1H3WQAaDGMHfz3qAQ9obxebpurheaSZcSuNZPUvv3ifM1qHGLnk/J+fLyM55WtuXnOfczjrv060BcHa63jFxf3f8Ak9LqVbiGARFZCvLaMuZSq7szECMN0GBj1B9quFWVha3ojto5W+XSW0buWLRIYEfu795kYkAn161BF7T3yyGQXdwH0BNYmkDaBnSuc5wMkgeZzTCS+lZCjSOULmQqWYqZCMFyM41EbautAXT7BIFezulYZBmXIyR9UeVSziXYdpJGk5qqGOQpUk9AN96A/wD09W7pZzyMuFebuEj3tK4bT6A7Z86tCV8kn8PhVlJrgwnhlfj2fOM/Ppv/AFW/jWdp2FdJFcypswY9074OfOp0xrQk+Xwq6iAdiMgjIBI38Dj8al6kkiqy6IdcWTTD9IicYVgWBKjYal7ujBGxXqPv61t4I/Nil1IFaNe6UdyMYOnIIGCMdN+tSS8jzzCcr3TlQMY28KFcGv5J+7GitjIIYafdOnzI3/w+NRyg0+D2+4qqtoZX/mRKXC5U48MDJLHBwAKCNHdszMtu0kWT3wUXChck6WIckHB6dDjGRT28sDFOBKmkTaUARslQWVcrvsNRHTfxrf2wsTZWyskzHvBSZPdC6W97QnicDfr02JqHBMKHtoYsMEivAM7Dqabx2SRkzPeZBIXlsgVNbbFVYgHIbAGetbpplTLMQqrq1E9ANJXfcbb+dc04OJg9OpJMAe0GMiwnyCO6Ov8AaWqNq7u2NzHJw28eORpFdlJ3GlWURqygYGgnAYjHVifGqRrTS4OvTgoWkKlSpVoanZvZH6DZ/Zovy1otQnsj9Bs/s0X5a0WoDh5+p+NY1k/U/GsaAVGuAdmbi8juZIQpW2j5kmSc43OFwDlsBjjboaC1bPYriVjw+ztGuJJFkuJjO4iVH1RKGhRJskEIQ8jY36mgIR2a7Hz3oUxNEoabkjWxHeETzEnCnChUO/mRWHaPsnNaJHKZIJoZCVWW3k5ketcEqTgYbBzg+tWTwWySyvbGzV00tPez51KRpMTwW/ezjdEzv+tUT49Ymw4V8kneI3E10JhHG6yaI0QpqYqSFLE4x4gelAQOpB2a4NGytdXRK2kRwcbNNJ1WGL+sfFvqjc+FNOznDI55TzpRDDGuuVzjVoBAxGv13JIAHmfKs+0nG/lDqsacq3iGmCEHIRepJP1nY7s3Un4CgLc9jvbA3M9zFJpTKqYI12RIkyvLQeSjT6ncmrE45xMQR6y0aqN2aRtKgdOuDXKfB+Jy200c8LaZIzlT+wg+YIyD6Gr1TjFlx6z5JflTkAtFqAYMpyGjzs652+B8DV40zGcc36JJZ9pDIoZAkikZV4XDrsTnOrT5eGd8g4oRxftjHbFGIZe9pOWUEIxLEjS+T7uwwTUF7U29zwxYbS1WRlCs7MAWbLNsTpGANjgeh3p12f7BHiEEdxczXCSHI0YAxpJC4DDI8/vq7inxyQklkkt97RbNtcHMkWVmMWdLHDE8snVnfG/j4UM4B24tYrgiIiFjqTGJHyc5GrWSAcgDY4/fWr+R+2zn5TPnOc4TOfPOOua0yeyS3U5W4nyD1woP44qNkuifHsKcX7Urd6Ndwo3CqyxkEZaEZGc4I5ynPhj0OGR49CU1yTk90P7rFR3U3C7YbExXrto+Faf5K4x0uZ/T3fT/AKV/AUy4x7No4oJHFzOSiEhSBg4HTb4D9lTtkT4kgsbyRh8woyW1K5wEyQQQ27HGCd8E71lg3CyRu9tIvSQW8xeRDnKkZQDZgNj5Hr0qsOx1/cx3EMZEuh3Cadx1OMjbrvVj8A7K2vClluJ5yqMukcwAHHUAKN3bpvt8Ko4RaszcK/IL7fymCxlDyNLJcSjU76dTEKBnAAAAVFFVBUh7a9pDezlgCsS7RoeoHiW/rE/4DwqPVnFUjXTi0vLk9NeUqVSaHZvZH6DZ/Zovy1otQnsj9Bs/s0X5a0WoDh5+p+NGo+yF+1sbpbaQwAZ1gfVHVgPeKj9YDFBZOp+NWtx/h3EJLxJ7JnjthYIyTEkQLCIAHUnBUHORp65OfWgKoryrdu+BQC1eIWcfyZeGC6S+0HmNcYDAc3OMM50crrTnj8NlEb39CtwllLYuCqd51mxz1cnqpHRQMD40BTVKrqTsnYw31tZvHG7SPc3YyuotHhhaRYGCVwpcpncj1rHidnZwLdXPyOFpEs4JOXJbtFDzGmMYdYmbUgK4yud9PrQFNzW7pp1qy6lDLqBGVPRhnqDg71qq9Tax3M1tJLbQ/N8IiliAgeRGc6Aw5Yb51YwdkHTV40G7UWtnaQX8kVpEX50EYWWIjktLAzSctS2V/WUEnBYeVAVIBSBx0rylQFweyC/nlhvSZnMirEqs51kKDIcAHfxO2fGrTS7yck1ytZ8RmizypZI9WM6HZc46Zwd8ZP406/zjvf6Vcf8AFk/6q2jqJKmZuFs6baZD4/8AelzFI2Oc+u4rmZe018Ol3cf8WT+NejtTfD/7u4/4r/xq32or9bOjXIxWuMjz8a54/wA67/8Apc//ABG/jS/zqvt/0mbfr3zT7Yj62W17RrqaGzeRZMOs4aNk2KqRpx+BP41Sl7eyTMXldpGP1mYk/t8Kd33H7qZNEs8joSDpZsjI6UMrKctzwaRjQqVKlVCwqVKlQHZvZH6DZ/Zovy1otQnsj9Bs/s0X5a0WoDiF4jk7eNORf3HKMHNk5JOTFrPLznOdOcdd6VKgEb645Qg5knJB1CPWdGfPTnGa8lvJ216pJG5mnXlydWn3NWT3seGelKlQGLXU5dXMjl0ACMXOpQvuhTnK48MdK2XHELmQyF5ZWMmOYWdjrA90Pv3gMDGemK8pUBnFxS6XlFZpRyc8rEjDRnro37ufStM11OwYNJIwdtbAuSGfcamyd23O533r2lQDblHypco+VKlQHvKPlXnKPlSpUB6EavOWfKvaVAeco+VLlHyr2lQHnKPlS5RpUqAXKPlS5R8q9pUB5yj5UjGfKlSoDsrsl9BtPs8X5a0WpUqA/9k="/>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solidFill>
                <a:srgbClr val="373737"/>
              </a:solidFill>
            </a:endParaRPr>
          </a:p>
        </p:txBody>
      </p:sp>
      <p:sp>
        <p:nvSpPr>
          <p:cNvPr id="18" name="Text Box 9"/>
          <p:cNvSpPr txBox="1">
            <a:spLocks noChangeArrowheads="1"/>
          </p:cNvSpPr>
          <p:nvPr/>
        </p:nvSpPr>
        <p:spPr bwMode="auto">
          <a:xfrm>
            <a:off x="712526" y="1244600"/>
            <a:ext cx="737028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2000" dirty="0">
                <a:ea typeface="宋体" charset="-122"/>
              </a:rPr>
              <a:t>Joule concluded that the internal energy of a gas (ideal) is a function of temperature only. </a:t>
            </a:r>
          </a:p>
        </p:txBody>
      </p:sp>
      <p:sp>
        <p:nvSpPr>
          <p:cNvPr id="19" name="Text Box 14"/>
          <p:cNvSpPr txBox="1">
            <a:spLocks noChangeArrowheads="1"/>
          </p:cNvSpPr>
          <p:nvPr/>
        </p:nvSpPr>
        <p:spPr bwMode="auto">
          <a:xfrm>
            <a:off x="1027164" y="3829163"/>
            <a:ext cx="17379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r>
              <a:rPr lang="en-US" altLang="zh-CN" sz="2000" dirty="0">
                <a:ea typeface="宋体" charset="-122"/>
              </a:rPr>
              <a:t>For ideal gas:</a:t>
            </a:r>
          </a:p>
        </p:txBody>
      </p:sp>
      <p:graphicFrame>
        <p:nvGraphicFramePr>
          <p:cNvPr id="15" name="对象 14"/>
          <p:cNvGraphicFramePr>
            <a:graphicFrameLocks noChangeAspect="1"/>
          </p:cNvGraphicFramePr>
          <p:nvPr/>
        </p:nvGraphicFramePr>
        <p:xfrm>
          <a:off x="1877361" y="4229273"/>
          <a:ext cx="1627187" cy="839788"/>
        </p:xfrm>
        <a:graphic>
          <a:graphicData uri="http://schemas.openxmlformats.org/presentationml/2006/ole">
            <mc:AlternateContent xmlns:mc="http://schemas.openxmlformats.org/markup-compatibility/2006">
              <mc:Choice xmlns:v="urn:schemas-microsoft-com:vml" Requires="v">
                <p:oleObj name="Equation" r:id="rId2" imgW="1130040" imgH="583920" progId="Equation.DSMT4">
                  <p:embed/>
                </p:oleObj>
              </mc:Choice>
              <mc:Fallback>
                <p:oleObj name="Equation" r:id="rId2" imgW="1130040" imgH="583920" progId="Equation.DSMT4">
                  <p:embed/>
                  <p:pic>
                    <p:nvPicPr>
                      <p:cNvPr id="15" name="对象 14"/>
                      <p:cNvPicPr>
                        <a:picLocks noChangeAspect="1" noChangeArrowheads="1"/>
                      </p:cNvPicPr>
                      <p:nvPr/>
                    </p:nvPicPr>
                    <p:blipFill>
                      <a:blip r:embed="rId3"/>
                      <a:srcRect/>
                      <a:stretch>
                        <a:fillRect/>
                      </a:stretch>
                    </p:blipFill>
                    <p:spPr bwMode="auto">
                      <a:xfrm>
                        <a:off x="1877361" y="4229273"/>
                        <a:ext cx="1627187" cy="839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对象 20"/>
          <p:cNvGraphicFramePr>
            <a:graphicFrameLocks noChangeAspect="1"/>
          </p:cNvGraphicFramePr>
          <p:nvPr/>
        </p:nvGraphicFramePr>
        <p:xfrm>
          <a:off x="5670985" y="4495800"/>
          <a:ext cx="1326092" cy="434410"/>
        </p:xfrm>
        <a:graphic>
          <a:graphicData uri="http://schemas.openxmlformats.org/presentationml/2006/ole">
            <mc:AlternateContent xmlns:mc="http://schemas.openxmlformats.org/markup-compatibility/2006">
              <mc:Choice xmlns:v="urn:schemas-microsoft-com:vml" Requires="v">
                <p:oleObj name="Equation" r:id="rId4" imgW="736560" imgH="241200" progId="">
                  <p:embed/>
                </p:oleObj>
              </mc:Choice>
              <mc:Fallback>
                <p:oleObj name="Equation" r:id="rId4" imgW="736560" imgH="241200" progId="">
                  <p:embed/>
                  <p:pic>
                    <p:nvPicPr>
                      <p:cNvPr id="21" name="对象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0985" y="4495800"/>
                        <a:ext cx="1326092" cy="434410"/>
                      </a:xfrm>
                      <a:prstGeom prst="rect">
                        <a:avLst/>
                      </a:prstGeom>
                      <a:noFill/>
                      <a:ln w="19050">
                        <a:solidFill>
                          <a:srgbClr val="FF0000"/>
                        </a:solidFill>
                        <a:miter lim="800000"/>
                        <a:headEnd/>
                        <a:tailEnd/>
                      </a:ln>
                    </p:spPr>
                  </p:pic>
                </p:oleObj>
              </mc:Fallback>
            </mc:AlternateContent>
          </a:graphicData>
        </a:graphic>
      </p:graphicFrame>
      <p:sp>
        <p:nvSpPr>
          <p:cNvPr id="23" name="Title 1"/>
          <p:cNvSpPr txBox="1">
            <a:spLocks/>
          </p:cNvSpPr>
          <p:nvPr/>
        </p:nvSpPr>
        <p:spPr>
          <a:xfrm>
            <a:off x="1295400" y="0"/>
            <a:ext cx="7848600" cy="1244600"/>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ltLang="zh-CN" sz="2800">
                <a:solidFill>
                  <a:srgbClr val="FF0000"/>
                </a:solidFill>
                <a:latin typeface="Arial" charset="0"/>
                <a:cs typeface="Arial" charset="0"/>
              </a:rPr>
              <a:t>The relation between C</a:t>
            </a:r>
            <a:r>
              <a:rPr lang="en-US" altLang="zh-CN" sz="2800" baseline="-25000">
                <a:solidFill>
                  <a:srgbClr val="FF0000"/>
                </a:solidFill>
                <a:latin typeface="Arial" charset="0"/>
                <a:cs typeface="Arial" charset="0"/>
              </a:rPr>
              <a:t>V</a:t>
            </a:r>
            <a:r>
              <a:rPr lang="en-US" altLang="zh-CN" sz="2800">
                <a:solidFill>
                  <a:srgbClr val="FF0000"/>
                </a:solidFill>
                <a:latin typeface="Arial" charset="0"/>
                <a:cs typeface="Arial" charset="0"/>
              </a:rPr>
              <a:t> and C</a:t>
            </a:r>
            <a:r>
              <a:rPr lang="en-US" altLang="zh-CN" sz="2800" baseline="-25000">
                <a:solidFill>
                  <a:srgbClr val="FF0000"/>
                </a:solidFill>
                <a:latin typeface="Arial" charset="0"/>
                <a:cs typeface="Arial" charset="0"/>
              </a:rPr>
              <a:t>P</a:t>
            </a:r>
            <a:endParaRPr lang="en-US" sz="2800" dirty="0">
              <a:solidFill>
                <a:srgbClr val="FF0000"/>
              </a:solidFill>
            </a:endParaRPr>
          </a:p>
        </p:txBody>
      </p:sp>
      <p:sp>
        <p:nvSpPr>
          <p:cNvPr id="24" name="TextBox 23"/>
          <p:cNvSpPr txBox="1"/>
          <p:nvPr/>
        </p:nvSpPr>
        <p:spPr>
          <a:xfrm>
            <a:off x="1502554" y="2094381"/>
            <a:ext cx="1363450" cy="369332"/>
          </a:xfrm>
          <a:prstGeom prst="rect">
            <a:avLst/>
          </a:prstGeom>
          <a:noFill/>
        </p:spPr>
        <p:txBody>
          <a:bodyPr wrap="none" rtlCol="0">
            <a:spAutoFit/>
          </a:bodyPr>
          <a:lstStyle/>
          <a:p>
            <a:r>
              <a:rPr lang="en-US" altLang="zh-CN" dirty="0"/>
              <a:t>For idea gas:</a:t>
            </a:r>
            <a:endParaRPr lang="zh-CN" altLang="en-US" dirty="0"/>
          </a:p>
        </p:txBody>
      </p:sp>
      <p:sp>
        <p:nvSpPr>
          <p:cNvPr id="25" name="TextBox 24"/>
          <p:cNvSpPr txBox="1"/>
          <p:nvPr/>
        </p:nvSpPr>
        <p:spPr>
          <a:xfrm>
            <a:off x="1502554" y="2616113"/>
            <a:ext cx="1866280" cy="369332"/>
          </a:xfrm>
          <a:prstGeom prst="rect">
            <a:avLst/>
          </a:prstGeom>
          <a:noFill/>
        </p:spPr>
        <p:txBody>
          <a:bodyPr wrap="none" rtlCol="0">
            <a:spAutoFit/>
          </a:bodyPr>
          <a:lstStyle/>
          <a:p>
            <a:r>
              <a:rPr lang="en-US" altLang="zh-CN" dirty="0"/>
              <a:t>For liquid or solid </a:t>
            </a:r>
            <a:endParaRPr lang="zh-CN" altLang="en-US" dirty="0"/>
          </a:p>
        </p:txBody>
      </p:sp>
      <p:graphicFrame>
        <p:nvGraphicFramePr>
          <p:cNvPr id="27" name="对象 26"/>
          <p:cNvGraphicFramePr>
            <a:graphicFrameLocks noChangeAspect="1"/>
          </p:cNvGraphicFramePr>
          <p:nvPr/>
        </p:nvGraphicFramePr>
        <p:xfrm>
          <a:off x="3331354" y="2564281"/>
          <a:ext cx="812800" cy="444500"/>
        </p:xfrm>
        <a:graphic>
          <a:graphicData uri="http://schemas.openxmlformats.org/presentationml/2006/ole">
            <mc:AlternateContent xmlns:mc="http://schemas.openxmlformats.org/markup-compatibility/2006">
              <mc:Choice xmlns:v="urn:schemas-microsoft-com:vml" Requires="v">
                <p:oleObj name="Equation" r:id="rId6" imgW="812520" imgH="444240" progId="Equation.DSMT4">
                  <p:embed/>
                </p:oleObj>
              </mc:Choice>
              <mc:Fallback>
                <p:oleObj name="Equation" r:id="rId6" imgW="812520" imgH="444240" progId="Equation.DSMT4">
                  <p:embed/>
                  <p:pic>
                    <p:nvPicPr>
                      <p:cNvPr id="27" name="对象 26"/>
                      <p:cNvPicPr>
                        <a:picLocks noChangeAspect="1" noChangeArrowheads="1"/>
                      </p:cNvPicPr>
                      <p:nvPr/>
                    </p:nvPicPr>
                    <p:blipFill>
                      <a:blip r:embed="rId7"/>
                      <a:srcRect/>
                      <a:stretch>
                        <a:fillRect/>
                      </a:stretch>
                    </p:blipFill>
                    <p:spPr bwMode="auto">
                      <a:xfrm>
                        <a:off x="3331354" y="2564281"/>
                        <a:ext cx="8128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 name="对象 27"/>
          <p:cNvGraphicFramePr>
            <a:graphicFrameLocks noChangeAspect="1"/>
          </p:cNvGraphicFramePr>
          <p:nvPr/>
        </p:nvGraphicFramePr>
        <p:xfrm>
          <a:off x="3142598" y="2019213"/>
          <a:ext cx="723900" cy="444500"/>
        </p:xfrm>
        <a:graphic>
          <a:graphicData uri="http://schemas.openxmlformats.org/presentationml/2006/ole">
            <mc:AlternateContent xmlns:mc="http://schemas.openxmlformats.org/markup-compatibility/2006">
              <mc:Choice xmlns:v="urn:schemas-microsoft-com:vml" Requires="v">
                <p:oleObj name="Equation" r:id="rId8" imgW="723600" imgH="444240" progId="Equation.DSMT4">
                  <p:embed/>
                </p:oleObj>
              </mc:Choice>
              <mc:Fallback>
                <p:oleObj name="Equation" r:id="rId8" imgW="723600" imgH="444240" progId="Equation.DSMT4">
                  <p:embed/>
                  <p:pic>
                    <p:nvPicPr>
                      <p:cNvPr id="28" name="对象 27"/>
                      <p:cNvPicPr/>
                      <p:nvPr/>
                    </p:nvPicPr>
                    <p:blipFill>
                      <a:blip r:embed="rId9"/>
                      <a:stretch>
                        <a:fillRect/>
                      </a:stretch>
                    </p:blipFill>
                    <p:spPr>
                      <a:xfrm>
                        <a:off x="3142598" y="2019213"/>
                        <a:ext cx="723900" cy="444500"/>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5023496" y="2241463"/>
          <a:ext cx="2984500" cy="700087"/>
        </p:xfrm>
        <a:graphic>
          <a:graphicData uri="http://schemas.openxmlformats.org/presentationml/2006/ole">
            <mc:AlternateContent xmlns:mc="http://schemas.openxmlformats.org/markup-compatibility/2006">
              <mc:Choice xmlns:v="urn:schemas-microsoft-com:vml" Requires="v">
                <p:oleObj name="Equation" r:id="rId10" imgW="1841400" imgH="431640" progId="Equation.DSMT4">
                  <p:embed/>
                </p:oleObj>
              </mc:Choice>
              <mc:Fallback>
                <p:oleObj name="Equation" r:id="rId10" imgW="1841400" imgH="431640" progId="Equation.DSMT4">
                  <p:embed/>
                  <p:pic>
                    <p:nvPicPr>
                      <p:cNvPr id="4" name="对象 3"/>
                      <p:cNvPicPr>
                        <a:picLocks noChangeAspect="1" noChangeArrowheads="1"/>
                      </p:cNvPicPr>
                      <p:nvPr/>
                    </p:nvPicPr>
                    <p:blipFill>
                      <a:blip r:embed="rId11"/>
                      <a:srcRect/>
                      <a:stretch>
                        <a:fillRect/>
                      </a:stretch>
                    </p:blipFill>
                    <p:spPr bwMode="auto">
                      <a:xfrm>
                        <a:off x="5023496" y="2241463"/>
                        <a:ext cx="2984500" cy="700087"/>
                      </a:xfrm>
                      <a:prstGeom prst="rect">
                        <a:avLst/>
                      </a:prstGeom>
                      <a:solidFill>
                        <a:srgbClr val="FFE699"/>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4610983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1394326"/>
            <a:ext cx="2095500" cy="256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52400" y="152400"/>
            <a:ext cx="2082878" cy="584775"/>
          </a:xfrm>
          <a:prstGeom prst="rect">
            <a:avLst/>
          </a:prstGeom>
          <a:noFill/>
        </p:spPr>
        <p:txBody>
          <a:bodyPr wrap="none" rtlCol="0">
            <a:spAutoFit/>
          </a:bodyPr>
          <a:lstStyle/>
          <a:p>
            <a:r>
              <a:rPr lang="en-US" altLang="zh-CN" sz="3200" dirty="0">
                <a:solidFill>
                  <a:srgbClr val="FF0000"/>
                </a:solidFill>
              </a:rPr>
              <a:t>Latent heat</a:t>
            </a:r>
            <a:endParaRPr lang="zh-CN" altLang="en-US" sz="3200" dirty="0">
              <a:solidFill>
                <a:srgbClr val="FF0000"/>
              </a:solidFill>
            </a:endParaRPr>
          </a:p>
        </p:txBody>
      </p:sp>
      <p:sp>
        <p:nvSpPr>
          <p:cNvPr id="3" name="矩形 2"/>
          <p:cNvSpPr/>
          <p:nvPr/>
        </p:nvSpPr>
        <p:spPr>
          <a:xfrm>
            <a:off x="6553200" y="4061326"/>
            <a:ext cx="2095500" cy="923330"/>
          </a:xfrm>
          <a:prstGeom prst="rect">
            <a:avLst/>
          </a:prstGeom>
        </p:spPr>
        <p:txBody>
          <a:bodyPr wrap="square">
            <a:spAutoFit/>
          </a:bodyPr>
          <a:lstStyle/>
          <a:p>
            <a:pPr algn="ctr"/>
            <a:r>
              <a:rPr lang="en-US" altLang="zh-CN" b="1" dirty="0"/>
              <a:t>Joseph Black</a:t>
            </a:r>
          </a:p>
          <a:p>
            <a:pPr algn="ctr"/>
            <a:r>
              <a:rPr lang="en-US" altLang="zh-CN" dirty="0"/>
              <a:t>Scottish physicist </a:t>
            </a:r>
          </a:p>
          <a:p>
            <a:pPr algn="ctr"/>
            <a:r>
              <a:rPr lang="en-US" altLang="zh-CN" dirty="0"/>
              <a:t>(1728 –1799)</a:t>
            </a:r>
            <a:endParaRPr lang="zh-CN" altLang="en-US" dirty="0"/>
          </a:p>
        </p:txBody>
      </p:sp>
      <p:sp>
        <p:nvSpPr>
          <p:cNvPr id="6" name="矩形 5">
            <a:extLst>
              <a:ext uri="{FF2B5EF4-FFF2-40B4-BE49-F238E27FC236}">
                <a16:creationId xmlns:a16="http://schemas.microsoft.com/office/drawing/2014/main" id="{1AD77AE4-9BF1-84FA-9DD1-8A7FDE6F6CB6}"/>
              </a:ext>
            </a:extLst>
          </p:cNvPr>
          <p:cNvSpPr/>
          <p:nvPr/>
        </p:nvSpPr>
        <p:spPr>
          <a:xfrm>
            <a:off x="152399" y="1295400"/>
            <a:ext cx="6172201" cy="1015663"/>
          </a:xfrm>
          <a:prstGeom prst="rect">
            <a:avLst/>
          </a:prstGeom>
        </p:spPr>
        <p:txBody>
          <a:bodyPr wrap="square">
            <a:spAutoFit/>
          </a:bodyPr>
          <a:lstStyle/>
          <a:p>
            <a:r>
              <a:rPr lang="en-US" altLang="zh-CN" sz="2000" b="1" dirty="0">
                <a:solidFill>
                  <a:srgbClr val="0000FF"/>
                </a:solidFill>
              </a:rPr>
              <a:t>Latent Heat</a:t>
            </a:r>
            <a:r>
              <a:rPr lang="zh-CN" altLang="en-US" sz="2000" b="1" dirty="0">
                <a:solidFill>
                  <a:srgbClr val="0000FF"/>
                </a:solidFill>
              </a:rPr>
              <a:t>：</a:t>
            </a:r>
            <a:r>
              <a:rPr lang="en-US" altLang="zh-CN" sz="2000" dirty="0"/>
              <a:t>energy released or absorbed, by a body or a thermodynamic system, during a constant-temperature process, usually a first-order phase transition.</a:t>
            </a:r>
            <a:endParaRPr lang="zh-CN" altLang="en-US" sz="2000" dirty="0"/>
          </a:p>
        </p:txBody>
      </p:sp>
      <p:pic>
        <p:nvPicPr>
          <p:cNvPr id="7" name="图片 6">
            <a:extLst>
              <a:ext uri="{FF2B5EF4-FFF2-40B4-BE49-F238E27FC236}">
                <a16:creationId xmlns:a16="http://schemas.microsoft.com/office/drawing/2014/main" id="{857C6C12-64B7-FCC8-8208-B4C179298CD8}"/>
              </a:ext>
            </a:extLst>
          </p:cNvPr>
          <p:cNvPicPr>
            <a:picLocks noChangeAspect="1"/>
          </p:cNvPicPr>
          <p:nvPr/>
        </p:nvPicPr>
        <p:blipFill>
          <a:blip r:embed="rId3"/>
          <a:stretch>
            <a:fillRect/>
          </a:stretch>
        </p:blipFill>
        <p:spPr>
          <a:xfrm>
            <a:off x="1295400" y="2812956"/>
            <a:ext cx="2895600" cy="2171700"/>
          </a:xfrm>
          <a:prstGeom prst="rect">
            <a:avLst/>
          </a:prstGeom>
        </p:spPr>
      </p:pic>
    </p:spTree>
    <p:extLst>
      <p:ext uri="{BB962C8B-B14F-4D97-AF65-F5344CB8AC3E}">
        <p14:creationId xmlns:p14="http://schemas.microsoft.com/office/powerpoint/2010/main" val="4267542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descr="Latent Heat Graph">
            <a:extLst>
              <a:ext uri="{FF2B5EF4-FFF2-40B4-BE49-F238E27FC236}">
                <a16:creationId xmlns:a16="http://schemas.microsoft.com/office/drawing/2014/main" id="{C143053A-3CB6-5D10-5CFD-C05E7B119F9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2264"/>
          <a:stretch/>
        </p:blipFill>
        <p:spPr bwMode="auto">
          <a:xfrm>
            <a:off x="1219200" y="1797268"/>
            <a:ext cx="5326117" cy="26417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1">
            <a:extLst>
              <a:ext uri="{FF2B5EF4-FFF2-40B4-BE49-F238E27FC236}">
                <a16:creationId xmlns:a16="http://schemas.microsoft.com/office/drawing/2014/main" id="{7BE8E251-AAEA-0648-DBB9-A3D5D342BB77}"/>
              </a:ext>
            </a:extLst>
          </p:cNvPr>
          <p:cNvSpPr txBox="1"/>
          <p:nvPr/>
        </p:nvSpPr>
        <p:spPr>
          <a:xfrm>
            <a:off x="152400" y="152400"/>
            <a:ext cx="2082878" cy="584775"/>
          </a:xfrm>
          <a:prstGeom prst="rect">
            <a:avLst/>
          </a:prstGeom>
          <a:noFill/>
        </p:spPr>
        <p:txBody>
          <a:bodyPr wrap="none" rtlCol="0">
            <a:spAutoFit/>
          </a:bodyPr>
          <a:lstStyle/>
          <a:p>
            <a:r>
              <a:rPr lang="en-US" altLang="zh-CN" sz="3200" dirty="0">
                <a:solidFill>
                  <a:srgbClr val="FF0000"/>
                </a:solidFill>
              </a:rPr>
              <a:t>Latent heat</a:t>
            </a:r>
            <a:endParaRPr lang="zh-CN" altLang="en-US" sz="3200" dirty="0">
              <a:solidFill>
                <a:srgbClr val="FF0000"/>
              </a:solidFill>
            </a:endParaRPr>
          </a:p>
        </p:txBody>
      </p:sp>
      <p:sp>
        <p:nvSpPr>
          <p:cNvPr id="6" name="文本框 5">
            <a:extLst>
              <a:ext uri="{FF2B5EF4-FFF2-40B4-BE49-F238E27FC236}">
                <a16:creationId xmlns:a16="http://schemas.microsoft.com/office/drawing/2014/main" id="{D7186EE3-D45D-89DB-4628-3F03A5D6FABF}"/>
              </a:ext>
            </a:extLst>
          </p:cNvPr>
          <p:cNvSpPr txBox="1"/>
          <p:nvPr/>
        </p:nvSpPr>
        <p:spPr>
          <a:xfrm>
            <a:off x="762000" y="944056"/>
            <a:ext cx="6883361" cy="646331"/>
          </a:xfrm>
          <a:prstGeom prst="rect">
            <a:avLst/>
          </a:prstGeom>
          <a:noFill/>
        </p:spPr>
        <p:txBody>
          <a:bodyPr wrap="square">
            <a:spAutoFit/>
          </a:bodyPr>
          <a:lstStyle/>
          <a:p>
            <a:pPr algn="ctr"/>
            <a:r>
              <a:rPr lang="en-US" altLang="zh-CN" b="0" i="0" dirty="0">
                <a:solidFill>
                  <a:srgbClr val="333333"/>
                </a:solidFill>
                <a:effectLst/>
                <a:latin typeface="Roboto" panose="02000000000000000000" pitchFamily="2" charset="0"/>
              </a:rPr>
              <a:t>Latent heat is the work that is needed to overcome the attractive forces that hold molecules and atoms together in a substance.</a:t>
            </a:r>
            <a:endParaRPr lang="zh-CN" altLang="en-US" dirty="0"/>
          </a:p>
        </p:txBody>
      </p:sp>
      <p:sp>
        <p:nvSpPr>
          <p:cNvPr id="8" name="文本框 7">
            <a:extLst>
              <a:ext uri="{FF2B5EF4-FFF2-40B4-BE49-F238E27FC236}">
                <a16:creationId xmlns:a16="http://schemas.microsoft.com/office/drawing/2014/main" id="{030268E1-7192-B2BF-06C2-09429CB6BA7D}"/>
              </a:ext>
            </a:extLst>
          </p:cNvPr>
          <p:cNvSpPr txBox="1"/>
          <p:nvPr/>
        </p:nvSpPr>
        <p:spPr>
          <a:xfrm>
            <a:off x="533400" y="4572000"/>
            <a:ext cx="8077200" cy="1754326"/>
          </a:xfrm>
          <a:prstGeom prst="rect">
            <a:avLst/>
          </a:prstGeom>
          <a:noFill/>
        </p:spPr>
        <p:txBody>
          <a:bodyPr wrap="square">
            <a:spAutoFit/>
          </a:bodyPr>
          <a:lstStyle/>
          <a:p>
            <a:pPr marL="285750" indent="-285750">
              <a:buFont typeface="Arial" panose="020B0604020202020204" pitchFamily="34" charset="0"/>
              <a:buChar char="•"/>
            </a:pPr>
            <a:r>
              <a:rPr lang="en-US" altLang="zh-CN" b="0" i="0" dirty="0">
                <a:solidFill>
                  <a:srgbClr val="333333"/>
                </a:solidFill>
                <a:effectLst/>
                <a:latin typeface="Roboto" panose="02000000000000000000" pitchFamily="2" charset="0"/>
              </a:rPr>
              <a:t>Suppose a solid substance is changing to a liquid, it needs to absorb energy to push the molecules into a wider, more fluid volume. </a:t>
            </a:r>
          </a:p>
          <a:p>
            <a:pPr marL="285750" indent="-285750">
              <a:buFont typeface="Arial" panose="020B0604020202020204" pitchFamily="34" charset="0"/>
              <a:buChar char="•"/>
            </a:pPr>
            <a:r>
              <a:rPr lang="en-US" altLang="zh-CN" b="0" i="0" dirty="0">
                <a:solidFill>
                  <a:srgbClr val="333333"/>
                </a:solidFill>
                <a:effectLst/>
                <a:latin typeface="Roboto" panose="02000000000000000000" pitchFamily="2" charset="0"/>
              </a:rPr>
              <a:t>Similarly, when a substance changes from a gas phase to a liquid, their density levels also need to go from lower to a higher level wherein the substance then needs to release or lose energy so that the molecules come closer together.</a:t>
            </a:r>
            <a:endParaRPr lang="zh-CN" altLang="en-US" dirty="0"/>
          </a:p>
        </p:txBody>
      </p:sp>
    </p:spTree>
    <p:extLst>
      <p:ext uri="{BB962C8B-B14F-4D97-AF65-F5344CB8AC3E}">
        <p14:creationId xmlns:p14="http://schemas.microsoft.com/office/powerpoint/2010/main" val="2827713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981200" y="261144"/>
            <a:ext cx="5307229" cy="523220"/>
          </a:xfrm>
          <a:prstGeom prst="rect">
            <a:avLst/>
          </a:prstGeom>
        </p:spPr>
        <p:txBody>
          <a:bodyPr wrap="square">
            <a:spAutoFit/>
          </a:bodyPr>
          <a:lstStyle/>
          <a:p>
            <a:r>
              <a:rPr lang="en-US" altLang="zh-CN" sz="2800"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rPr>
              <a:t>Latent heat measured by DSC</a:t>
            </a:r>
            <a:endParaRPr lang="en-US" altLang="zh-CN" sz="2800" b="0" i="0" dirty="0">
              <a:solidFill>
                <a:srgbClr val="FF0000"/>
              </a:solidFill>
              <a:effectLst/>
              <a:latin typeface="Arial Unicode MS" panose="020B0604020202020204" pitchFamily="34" charset="-122"/>
              <a:ea typeface="Arial Unicode MS" panose="020B0604020202020204" pitchFamily="34" charset="-122"/>
              <a:cs typeface="Arial Unicode MS" panose="020B0604020202020204" pitchFamily="34" charset="-122"/>
            </a:endParaRPr>
          </a:p>
        </p:txBody>
      </p:sp>
      <p:pic>
        <p:nvPicPr>
          <p:cNvPr id="3" name="图片 2"/>
          <p:cNvPicPr>
            <a:picLocks noChangeAspect="1"/>
          </p:cNvPicPr>
          <p:nvPr/>
        </p:nvPicPr>
        <p:blipFill>
          <a:blip r:embed="rId2"/>
          <a:stretch>
            <a:fillRect/>
          </a:stretch>
        </p:blipFill>
        <p:spPr>
          <a:xfrm>
            <a:off x="510653" y="2209800"/>
            <a:ext cx="4079740" cy="2562481"/>
          </a:xfrm>
          <a:prstGeom prst="rect">
            <a:avLst/>
          </a:prstGeom>
        </p:spPr>
      </p:pic>
      <p:sp>
        <p:nvSpPr>
          <p:cNvPr id="4" name="矩形 3"/>
          <p:cNvSpPr/>
          <p:nvPr/>
        </p:nvSpPr>
        <p:spPr>
          <a:xfrm>
            <a:off x="654908" y="1237045"/>
            <a:ext cx="4572000" cy="400110"/>
          </a:xfrm>
          <a:prstGeom prst="rect">
            <a:avLst/>
          </a:prstGeom>
        </p:spPr>
        <p:txBody>
          <a:bodyPr>
            <a:spAutoFit/>
          </a:bodyPr>
          <a:lstStyle/>
          <a:p>
            <a:r>
              <a:rPr lang="en-US" altLang="zh-CN" sz="2000" dirty="0">
                <a:solidFill>
                  <a:srgbClr val="323232"/>
                </a:solidFill>
                <a:latin typeface="NexusSerif"/>
              </a:rPr>
              <a:t>Effect of scanning rates </a:t>
            </a:r>
            <a:endParaRPr lang="zh-CN" altLang="en-US" sz="2000" dirty="0"/>
          </a:p>
        </p:txBody>
      </p:sp>
      <p:sp>
        <p:nvSpPr>
          <p:cNvPr id="5" name="矩形 4"/>
          <p:cNvSpPr/>
          <p:nvPr/>
        </p:nvSpPr>
        <p:spPr>
          <a:xfrm>
            <a:off x="1017371" y="6148685"/>
            <a:ext cx="6610865" cy="307777"/>
          </a:xfrm>
          <a:prstGeom prst="rect">
            <a:avLst/>
          </a:prstGeom>
        </p:spPr>
        <p:txBody>
          <a:bodyPr wrap="square">
            <a:spAutoFit/>
          </a:bodyPr>
          <a:lstStyle/>
          <a:p>
            <a:pPr fontAlgn="ctr"/>
            <a:r>
              <a:rPr lang="en-US" altLang="zh-CN" sz="1400" dirty="0">
                <a:solidFill>
                  <a:srgbClr val="505050"/>
                </a:solidFill>
                <a:latin typeface="NexusSans"/>
              </a:rPr>
              <a:t>Journal of Building Engineering </a:t>
            </a:r>
            <a:r>
              <a:rPr lang="en-US" altLang="zh-CN" sz="1400" dirty="0">
                <a:solidFill>
                  <a:srgbClr val="0C7DBB"/>
                </a:solidFill>
                <a:latin typeface="NexusSans"/>
                <a:hlinkClick r:id="rId3" tooltip="Go to table of contents for this volume/issue"/>
              </a:rPr>
              <a:t>1</a:t>
            </a:r>
            <a:r>
              <a:rPr lang="en-US" altLang="zh-CN" sz="1400" dirty="0">
                <a:solidFill>
                  <a:srgbClr val="2E2E2E"/>
                </a:solidFill>
                <a:latin typeface="NexusSans"/>
              </a:rPr>
              <a:t>, 13-19</a:t>
            </a:r>
            <a:r>
              <a:rPr lang="zh-CN" altLang="en-US" sz="1400" dirty="0">
                <a:solidFill>
                  <a:srgbClr val="2E2E2E"/>
                </a:solidFill>
                <a:latin typeface="NexusSans"/>
              </a:rPr>
              <a:t>， </a:t>
            </a:r>
            <a:r>
              <a:rPr lang="en-US" altLang="zh-CN" sz="1400" dirty="0">
                <a:solidFill>
                  <a:srgbClr val="2E2E2E"/>
                </a:solidFill>
                <a:latin typeface="NexusSans"/>
              </a:rPr>
              <a:t>2015</a:t>
            </a:r>
          </a:p>
        </p:txBody>
      </p:sp>
      <p:pic>
        <p:nvPicPr>
          <p:cNvPr id="8" name="图片 7"/>
          <p:cNvPicPr>
            <a:picLocks noChangeAspect="1"/>
          </p:cNvPicPr>
          <p:nvPr/>
        </p:nvPicPr>
        <p:blipFill rotWithShape="1">
          <a:blip r:embed="rId4"/>
          <a:srcRect l="30416" t="26210" r="36315" b="39202"/>
          <a:stretch/>
        </p:blipFill>
        <p:spPr>
          <a:xfrm>
            <a:off x="4953000" y="2209800"/>
            <a:ext cx="3716022" cy="2173126"/>
          </a:xfrm>
          <a:prstGeom prst="rect">
            <a:avLst/>
          </a:prstGeom>
        </p:spPr>
      </p:pic>
    </p:spTree>
    <p:extLst>
      <p:ext uri="{BB962C8B-B14F-4D97-AF65-F5344CB8AC3E}">
        <p14:creationId xmlns:p14="http://schemas.microsoft.com/office/powerpoint/2010/main" val="18592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4938981" cy="584775"/>
          </a:xfrm>
          <a:prstGeom prst="rect">
            <a:avLst/>
          </a:prstGeom>
          <a:noFill/>
        </p:spPr>
        <p:txBody>
          <a:bodyPr wrap="none" rtlCol="0">
            <a:spAutoFit/>
          </a:bodyPr>
          <a:lstStyle/>
          <a:p>
            <a:r>
              <a:rPr lang="en-US" altLang="zh-CN" sz="3200" dirty="0">
                <a:solidFill>
                  <a:srgbClr val="FF0000"/>
                </a:solidFill>
              </a:rPr>
              <a:t>Latent heat – energy storage</a:t>
            </a:r>
            <a:endParaRPr lang="zh-CN" altLang="en-US" sz="3200" dirty="0">
              <a:solidFill>
                <a:srgbClr val="FF0000"/>
              </a:solidFill>
            </a:endParaRPr>
          </a:p>
        </p:txBody>
      </p:sp>
      <p:sp>
        <p:nvSpPr>
          <p:cNvPr id="6" name="文本框 5">
            <a:extLst>
              <a:ext uri="{FF2B5EF4-FFF2-40B4-BE49-F238E27FC236}">
                <a16:creationId xmlns:a16="http://schemas.microsoft.com/office/drawing/2014/main" id="{8ABB617B-FDD8-57C9-048C-CAC8F910BE2C}"/>
              </a:ext>
            </a:extLst>
          </p:cNvPr>
          <p:cNvSpPr txBox="1"/>
          <p:nvPr/>
        </p:nvSpPr>
        <p:spPr>
          <a:xfrm>
            <a:off x="225721" y="866677"/>
            <a:ext cx="8610600" cy="1200329"/>
          </a:xfrm>
          <a:prstGeom prst="rect">
            <a:avLst/>
          </a:prstGeom>
          <a:noFill/>
        </p:spPr>
        <p:txBody>
          <a:bodyPr wrap="square">
            <a:spAutoFit/>
          </a:bodyPr>
          <a:lstStyle/>
          <a:p>
            <a:r>
              <a:rPr lang="en-US" altLang="zh-CN" dirty="0"/>
              <a:t>A phase change material (PCM) is a substance which releases/absorbs sufficient energy at phase transition to provide useful heat or cooling. Using PCM to store heat energy provides much higher energy storage density with a smaller temperature swing when compared with the sensible heat storage method.</a:t>
            </a:r>
            <a:endParaRPr lang="zh-CN" altLang="en-US" dirty="0"/>
          </a:p>
        </p:txBody>
      </p:sp>
      <p:pic>
        <p:nvPicPr>
          <p:cNvPr id="1026" name="Picture 2" descr="Improving Phase Change Energy Storage: A Natural Approach | COMSOL Blog">
            <a:extLst>
              <a:ext uri="{FF2B5EF4-FFF2-40B4-BE49-F238E27FC236}">
                <a16:creationId xmlns:a16="http://schemas.microsoft.com/office/drawing/2014/main" id="{7772F51B-B95C-F7DA-09E3-19085AC445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150" y="2196508"/>
            <a:ext cx="6743700" cy="4256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8123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4938981" cy="584775"/>
          </a:xfrm>
          <a:prstGeom prst="rect">
            <a:avLst/>
          </a:prstGeom>
          <a:noFill/>
        </p:spPr>
        <p:txBody>
          <a:bodyPr wrap="none" rtlCol="0">
            <a:spAutoFit/>
          </a:bodyPr>
          <a:lstStyle/>
          <a:p>
            <a:r>
              <a:rPr lang="en-US" altLang="zh-CN" sz="3200" dirty="0">
                <a:solidFill>
                  <a:srgbClr val="FF0000"/>
                </a:solidFill>
              </a:rPr>
              <a:t>Latent heat – energy storage</a:t>
            </a:r>
            <a:endParaRPr lang="zh-CN" altLang="en-US" sz="3200" dirty="0">
              <a:solidFill>
                <a:srgbClr val="FF0000"/>
              </a:solidFill>
            </a:endParaRPr>
          </a:p>
        </p:txBody>
      </p:sp>
      <p:grpSp>
        <p:nvGrpSpPr>
          <p:cNvPr id="6" name="组合 5">
            <a:extLst>
              <a:ext uri="{FF2B5EF4-FFF2-40B4-BE49-F238E27FC236}">
                <a16:creationId xmlns:a16="http://schemas.microsoft.com/office/drawing/2014/main" id="{9A9B4DAE-0BDE-AC1B-6C6A-53565270AAF5}"/>
              </a:ext>
            </a:extLst>
          </p:cNvPr>
          <p:cNvGrpSpPr/>
          <p:nvPr/>
        </p:nvGrpSpPr>
        <p:grpSpPr>
          <a:xfrm>
            <a:off x="572990" y="838200"/>
            <a:ext cx="7998020" cy="4473893"/>
            <a:chOff x="533400" y="1066800"/>
            <a:chExt cx="7998020" cy="4473893"/>
          </a:xfrm>
        </p:grpSpPr>
        <p:pic>
          <p:nvPicPr>
            <p:cNvPr id="2050" name="Picture 2" descr="Phase-change-materials | Coolairaustralia">
              <a:extLst>
                <a:ext uri="{FF2B5EF4-FFF2-40B4-BE49-F238E27FC236}">
                  <a16:creationId xmlns:a16="http://schemas.microsoft.com/office/drawing/2014/main" id="{D38F4A5A-5AF9-9CE0-2DE6-C8A001641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066800"/>
              <a:ext cx="7998020" cy="4473893"/>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153AC38A-97A7-6A2A-691B-A069C3D358E4}"/>
                </a:ext>
              </a:extLst>
            </p:cNvPr>
            <p:cNvSpPr txBox="1"/>
            <p:nvPr/>
          </p:nvSpPr>
          <p:spPr>
            <a:xfrm>
              <a:off x="6629400" y="1600200"/>
              <a:ext cx="1295400" cy="707886"/>
            </a:xfrm>
            <a:prstGeom prst="rect">
              <a:avLst/>
            </a:prstGeom>
            <a:solidFill>
              <a:schemeClr val="bg1"/>
            </a:solidFill>
          </p:spPr>
          <p:txBody>
            <a:bodyPr wrap="square" rtlCol="0">
              <a:spAutoFit/>
            </a:bodyPr>
            <a:lstStyle/>
            <a:p>
              <a:r>
                <a:rPr lang="en-US" altLang="zh-CN" sz="1000" b="1" dirty="0"/>
                <a:t>PCM Changing Phase.</a:t>
              </a:r>
            </a:p>
            <a:p>
              <a:r>
                <a:rPr lang="en-US" altLang="zh-CN" sz="1000" b="1" dirty="0"/>
                <a:t>Becoming a liquid as it Absorbs Heat</a:t>
              </a:r>
            </a:p>
            <a:p>
              <a:r>
                <a:rPr lang="en-US" altLang="zh-CN" sz="1000" b="1" dirty="0"/>
                <a:t>(Melts above 23</a:t>
              </a:r>
              <a:r>
                <a:rPr lang="zh-CN" altLang="en-US" sz="1000" b="1" dirty="0"/>
                <a:t>℃）</a:t>
              </a:r>
            </a:p>
          </p:txBody>
        </p:sp>
        <p:sp>
          <p:nvSpPr>
            <p:cNvPr id="4" name="文本框 3">
              <a:extLst>
                <a:ext uri="{FF2B5EF4-FFF2-40B4-BE49-F238E27FC236}">
                  <a16:creationId xmlns:a16="http://schemas.microsoft.com/office/drawing/2014/main" id="{9D1734E7-B135-CCB5-7907-0B3975A29170}"/>
                </a:ext>
              </a:extLst>
            </p:cNvPr>
            <p:cNvSpPr txBox="1"/>
            <p:nvPr/>
          </p:nvSpPr>
          <p:spPr>
            <a:xfrm>
              <a:off x="7086600" y="4114800"/>
              <a:ext cx="1295400" cy="246221"/>
            </a:xfrm>
            <a:prstGeom prst="rect">
              <a:avLst/>
            </a:prstGeom>
            <a:solidFill>
              <a:schemeClr val="bg1"/>
            </a:solidFill>
          </p:spPr>
          <p:txBody>
            <a:bodyPr wrap="square" rtlCol="0">
              <a:spAutoFit/>
            </a:bodyPr>
            <a:lstStyle/>
            <a:p>
              <a:r>
                <a:rPr lang="en-US" altLang="zh-CN" sz="1000" b="1" dirty="0"/>
                <a:t>27</a:t>
              </a:r>
              <a:r>
                <a:rPr lang="zh-CN" altLang="en-US" sz="1000" b="1" dirty="0"/>
                <a:t>℃ </a:t>
              </a:r>
              <a:r>
                <a:rPr lang="en-US" altLang="zh-CN" sz="1000" b="1" dirty="0"/>
                <a:t>Outside</a:t>
              </a:r>
              <a:endParaRPr lang="zh-CN" altLang="en-US" sz="1000" b="1" dirty="0"/>
            </a:p>
          </p:txBody>
        </p:sp>
        <p:sp>
          <p:nvSpPr>
            <p:cNvPr id="5" name="文本框 4">
              <a:extLst>
                <a:ext uri="{FF2B5EF4-FFF2-40B4-BE49-F238E27FC236}">
                  <a16:creationId xmlns:a16="http://schemas.microsoft.com/office/drawing/2014/main" id="{AF0B524B-C4AB-8102-66BC-51806C45E4F4}"/>
                </a:ext>
              </a:extLst>
            </p:cNvPr>
            <p:cNvSpPr txBox="1"/>
            <p:nvPr/>
          </p:nvSpPr>
          <p:spPr>
            <a:xfrm>
              <a:off x="2743200" y="4155360"/>
              <a:ext cx="914400" cy="246221"/>
            </a:xfrm>
            <a:prstGeom prst="rect">
              <a:avLst/>
            </a:prstGeom>
            <a:solidFill>
              <a:schemeClr val="bg1"/>
            </a:solidFill>
          </p:spPr>
          <p:txBody>
            <a:bodyPr wrap="square" rtlCol="0">
              <a:spAutoFit/>
            </a:bodyPr>
            <a:lstStyle/>
            <a:p>
              <a:r>
                <a:rPr lang="en-US" altLang="zh-CN" sz="1000" b="1" dirty="0"/>
                <a:t>24.5</a:t>
              </a:r>
              <a:r>
                <a:rPr lang="zh-CN" altLang="en-US" sz="1000" b="1" dirty="0"/>
                <a:t>℃ </a:t>
              </a:r>
              <a:r>
                <a:rPr lang="en-US" altLang="zh-CN" sz="1000" b="1" dirty="0"/>
                <a:t>Inside</a:t>
              </a:r>
              <a:endParaRPr lang="zh-CN" altLang="en-US" sz="1000" b="1" dirty="0"/>
            </a:p>
          </p:txBody>
        </p:sp>
      </p:grpSp>
      <p:sp>
        <p:nvSpPr>
          <p:cNvPr id="8" name="文本框 7">
            <a:extLst>
              <a:ext uri="{FF2B5EF4-FFF2-40B4-BE49-F238E27FC236}">
                <a16:creationId xmlns:a16="http://schemas.microsoft.com/office/drawing/2014/main" id="{0EA75BFE-7025-E06C-31A5-E68F395A87AA}"/>
              </a:ext>
            </a:extLst>
          </p:cNvPr>
          <p:cNvSpPr txBox="1"/>
          <p:nvPr/>
        </p:nvSpPr>
        <p:spPr>
          <a:xfrm>
            <a:off x="476995" y="5440264"/>
            <a:ext cx="8190010" cy="923330"/>
          </a:xfrm>
          <a:prstGeom prst="rect">
            <a:avLst/>
          </a:prstGeom>
          <a:noFill/>
        </p:spPr>
        <p:txBody>
          <a:bodyPr wrap="square">
            <a:spAutoFit/>
          </a:bodyPr>
          <a:lstStyle/>
          <a:p>
            <a:r>
              <a:rPr lang="en-US" altLang="zh-CN" dirty="0">
                <a:solidFill>
                  <a:srgbClr val="FF0000"/>
                </a:solidFill>
              </a:rPr>
              <a:t>PCMS can be for heating and cooling in buildings</a:t>
            </a:r>
            <a:r>
              <a:rPr lang="en-US" altLang="zh-CN" dirty="0"/>
              <a:t>. PCM can be placed in porous construction material such as plasterboard to increase heat. As for cooling, air conditioners with PCM collect and store ambient air during the night.</a:t>
            </a:r>
            <a:endParaRPr lang="zh-CN" altLang="en-US" dirty="0"/>
          </a:p>
        </p:txBody>
      </p:sp>
      <p:sp>
        <p:nvSpPr>
          <p:cNvPr id="9" name="矩形 8">
            <a:extLst>
              <a:ext uri="{FF2B5EF4-FFF2-40B4-BE49-F238E27FC236}">
                <a16:creationId xmlns:a16="http://schemas.microsoft.com/office/drawing/2014/main" id="{B1ADCD10-1202-57BB-808B-515FFBD12903}"/>
              </a:ext>
            </a:extLst>
          </p:cNvPr>
          <p:cNvSpPr/>
          <p:nvPr/>
        </p:nvSpPr>
        <p:spPr>
          <a:xfrm>
            <a:off x="1266568" y="6324600"/>
            <a:ext cx="6610865" cy="307777"/>
          </a:xfrm>
          <a:prstGeom prst="rect">
            <a:avLst/>
          </a:prstGeom>
        </p:spPr>
        <p:txBody>
          <a:bodyPr wrap="square">
            <a:spAutoFit/>
          </a:bodyPr>
          <a:lstStyle/>
          <a:p>
            <a:pPr algn="ctr" fontAlgn="ctr"/>
            <a:r>
              <a:rPr lang="en-US" altLang="zh-CN" sz="1400" dirty="0">
                <a:solidFill>
                  <a:schemeClr val="tx1">
                    <a:lumMod val="50000"/>
                    <a:lumOff val="50000"/>
                  </a:schemeClr>
                </a:solidFill>
                <a:latin typeface="NexusSans"/>
              </a:rPr>
              <a:t>American Journal of Energy Engineering, 3(3): 46-52,</a:t>
            </a:r>
            <a:r>
              <a:rPr lang="zh-CN" altLang="en-US" sz="1400" dirty="0">
                <a:solidFill>
                  <a:schemeClr val="tx1">
                    <a:lumMod val="50000"/>
                    <a:lumOff val="50000"/>
                  </a:schemeClr>
                </a:solidFill>
                <a:latin typeface="NexusSans"/>
              </a:rPr>
              <a:t> </a:t>
            </a:r>
            <a:r>
              <a:rPr lang="en-US" altLang="zh-CN" sz="1400" dirty="0">
                <a:solidFill>
                  <a:schemeClr val="tx1">
                    <a:lumMod val="50000"/>
                    <a:lumOff val="50000"/>
                  </a:schemeClr>
                </a:solidFill>
                <a:latin typeface="NexusSans"/>
              </a:rPr>
              <a:t>2015</a:t>
            </a:r>
          </a:p>
        </p:txBody>
      </p:sp>
    </p:spTree>
    <p:extLst>
      <p:ext uri="{BB962C8B-B14F-4D97-AF65-F5344CB8AC3E}">
        <p14:creationId xmlns:p14="http://schemas.microsoft.com/office/powerpoint/2010/main" val="7995130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4938981" cy="584775"/>
          </a:xfrm>
          <a:prstGeom prst="rect">
            <a:avLst/>
          </a:prstGeom>
          <a:noFill/>
        </p:spPr>
        <p:txBody>
          <a:bodyPr wrap="none" rtlCol="0">
            <a:spAutoFit/>
          </a:bodyPr>
          <a:lstStyle/>
          <a:p>
            <a:r>
              <a:rPr lang="en-US" altLang="zh-CN" sz="3200" dirty="0">
                <a:solidFill>
                  <a:srgbClr val="FF0000"/>
                </a:solidFill>
              </a:rPr>
              <a:t>Latent heat – energy storage</a:t>
            </a:r>
            <a:endParaRPr lang="zh-CN" altLang="en-US" sz="3200" dirty="0">
              <a:solidFill>
                <a:srgbClr val="FF0000"/>
              </a:solidFill>
            </a:endParaRPr>
          </a:p>
        </p:txBody>
      </p:sp>
      <p:sp>
        <p:nvSpPr>
          <p:cNvPr id="9" name="矩形 8">
            <a:extLst>
              <a:ext uri="{FF2B5EF4-FFF2-40B4-BE49-F238E27FC236}">
                <a16:creationId xmlns:a16="http://schemas.microsoft.com/office/drawing/2014/main" id="{B1ADCD10-1202-57BB-808B-515FFBD12903}"/>
              </a:ext>
            </a:extLst>
          </p:cNvPr>
          <p:cNvSpPr/>
          <p:nvPr/>
        </p:nvSpPr>
        <p:spPr>
          <a:xfrm>
            <a:off x="38100" y="6324600"/>
            <a:ext cx="9067800" cy="307777"/>
          </a:xfrm>
          <a:prstGeom prst="rect">
            <a:avLst/>
          </a:prstGeom>
        </p:spPr>
        <p:txBody>
          <a:bodyPr wrap="square">
            <a:spAutoFit/>
          </a:bodyPr>
          <a:lstStyle/>
          <a:p>
            <a:pPr algn="ctr" fontAlgn="ctr"/>
            <a:r>
              <a:rPr lang="en-US" altLang="zh-CN" sz="1400" dirty="0">
                <a:solidFill>
                  <a:schemeClr val="tx1">
                    <a:lumMod val="50000"/>
                    <a:lumOff val="50000"/>
                  </a:schemeClr>
                </a:solidFill>
                <a:latin typeface="NexusSans"/>
              </a:rPr>
              <a:t> Energy and Buildings, 37: 235-242, 2005; Sustainable Energy Technologies and Assessments, 47: 101350,</a:t>
            </a:r>
            <a:r>
              <a:rPr lang="zh-CN" altLang="en-US" sz="1400" dirty="0">
                <a:solidFill>
                  <a:schemeClr val="tx1">
                    <a:lumMod val="50000"/>
                    <a:lumOff val="50000"/>
                  </a:schemeClr>
                </a:solidFill>
                <a:latin typeface="NexusSans"/>
              </a:rPr>
              <a:t> </a:t>
            </a:r>
            <a:r>
              <a:rPr lang="en-US" altLang="zh-CN" sz="1400" dirty="0">
                <a:solidFill>
                  <a:schemeClr val="tx1">
                    <a:lumMod val="50000"/>
                    <a:lumOff val="50000"/>
                  </a:schemeClr>
                </a:solidFill>
                <a:latin typeface="NexusSans"/>
              </a:rPr>
              <a:t>2021</a:t>
            </a:r>
          </a:p>
        </p:txBody>
      </p:sp>
      <p:sp>
        <p:nvSpPr>
          <p:cNvPr id="10" name="文本框 9">
            <a:extLst>
              <a:ext uri="{FF2B5EF4-FFF2-40B4-BE49-F238E27FC236}">
                <a16:creationId xmlns:a16="http://schemas.microsoft.com/office/drawing/2014/main" id="{843CD253-E645-E86E-982B-4C92432ABBE6}"/>
              </a:ext>
            </a:extLst>
          </p:cNvPr>
          <p:cNvSpPr txBox="1"/>
          <p:nvPr/>
        </p:nvSpPr>
        <p:spPr>
          <a:xfrm>
            <a:off x="381000" y="4970382"/>
            <a:ext cx="8382000" cy="1200329"/>
          </a:xfrm>
          <a:prstGeom prst="rect">
            <a:avLst/>
          </a:prstGeom>
          <a:noFill/>
        </p:spPr>
        <p:txBody>
          <a:bodyPr wrap="square">
            <a:spAutoFit/>
          </a:bodyPr>
          <a:lstStyle/>
          <a:p>
            <a:r>
              <a:rPr lang="en-US" altLang="zh-CN" dirty="0"/>
              <a:t>The efficiency of the solar collectors can be enhanced either by </a:t>
            </a:r>
            <a:r>
              <a:rPr lang="en-US" altLang="zh-CN" dirty="0">
                <a:solidFill>
                  <a:srgbClr val="FF0000"/>
                </a:solidFill>
              </a:rPr>
              <a:t>minimizing the thermal and optical losses or by</a:t>
            </a:r>
            <a:r>
              <a:rPr lang="en-US" altLang="zh-CN" dirty="0"/>
              <a:t> </a:t>
            </a:r>
            <a:r>
              <a:rPr lang="en-US" altLang="zh-CN" dirty="0">
                <a:solidFill>
                  <a:srgbClr val="FF0000"/>
                </a:solidFill>
              </a:rPr>
              <a:t>integrating PCMs</a:t>
            </a:r>
            <a:r>
              <a:rPr lang="en-US" altLang="zh-CN" dirty="0"/>
              <a:t> in the collector, which leads to extended operation hours and thermal stability. The PCM can be integrated either in the collector or in separate thermal energy storage tank. </a:t>
            </a:r>
            <a:endParaRPr lang="zh-CN" altLang="en-US" dirty="0"/>
          </a:p>
        </p:txBody>
      </p:sp>
      <p:pic>
        <p:nvPicPr>
          <p:cNvPr id="13" name="图片 12">
            <a:extLst>
              <a:ext uri="{FF2B5EF4-FFF2-40B4-BE49-F238E27FC236}">
                <a16:creationId xmlns:a16="http://schemas.microsoft.com/office/drawing/2014/main" id="{87F7C253-90A6-7A5A-595B-9F6BE9598396}"/>
              </a:ext>
            </a:extLst>
          </p:cNvPr>
          <p:cNvPicPr>
            <a:picLocks noChangeAspect="1"/>
          </p:cNvPicPr>
          <p:nvPr/>
        </p:nvPicPr>
        <p:blipFill>
          <a:blip r:embed="rId2"/>
          <a:stretch>
            <a:fillRect/>
          </a:stretch>
        </p:blipFill>
        <p:spPr>
          <a:xfrm>
            <a:off x="3581400" y="1030480"/>
            <a:ext cx="5332337" cy="3240000"/>
          </a:xfrm>
          <a:prstGeom prst="rect">
            <a:avLst/>
          </a:prstGeom>
        </p:spPr>
      </p:pic>
      <p:pic>
        <p:nvPicPr>
          <p:cNvPr id="14" name="图片 13">
            <a:extLst>
              <a:ext uri="{FF2B5EF4-FFF2-40B4-BE49-F238E27FC236}">
                <a16:creationId xmlns:a16="http://schemas.microsoft.com/office/drawing/2014/main" id="{85CC7138-17ED-547C-CE39-6F913B81217A}"/>
              </a:ext>
            </a:extLst>
          </p:cNvPr>
          <p:cNvPicPr>
            <a:picLocks noChangeAspect="1"/>
          </p:cNvPicPr>
          <p:nvPr/>
        </p:nvPicPr>
        <p:blipFill>
          <a:blip r:embed="rId3"/>
          <a:stretch>
            <a:fillRect/>
          </a:stretch>
        </p:blipFill>
        <p:spPr>
          <a:xfrm>
            <a:off x="295346" y="1030480"/>
            <a:ext cx="3133654" cy="3240000"/>
          </a:xfrm>
          <a:prstGeom prst="rect">
            <a:avLst/>
          </a:prstGeom>
        </p:spPr>
      </p:pic>
      <p:sp>
        <p:nvSpPr>
          <p:cNvPr id="16" name="文本框 15">
            <a:extLst>
              <a:ext uri="{FF2B5EF4-FFF2-40B4-BE49-F238E27FC236}">
                <a16:creationId xmlns:a16="http://schemas.microsoft.com/office/drawing/2014/main" id="{C142BB10-97F3-77F9-EE29-E73C7A951000}"/>
              </a:ext>
            </a:extLst>
          </p:cNvPr>
          <p:cNvSpPr txBox="1"/>
          <p:nvPr/>
        </p:nvSpPr>
        <p:spPr>
          <a:xfrm>
            <a:off x="1034634" y="4477940"/>
            <a:ext cx="7074731" cy="338554"/>
          </a:xfrm>
          <a:prstGeom prst="rect">
            <a:avLst/>
          </a:prstGeom>
          <a:noFill/>
        </p:spPr>
        <p:txBody>
          <a:bodyPr wrap="square">
            <a:spAutoFit/>
          </a:bodyPr>
          <a:lstStyle/>
          <a:p>
            <a:pPr algn="ctr"/>
            <a:r>
              <a:rPr lang="en-US" altLang="zh-CN" sz="1600" dirty="0"/>
              <a:t>Solar DHW systems combined with PCM: (a) Integrated and (b) Non-Integrated.</a:t>
            </a:r>
            <a:endParaRPr lang="zh-CN" altLang="en-US" sz="1600" dirty="0"/>
          </a:p>
        </p:txBody>
      </p:sp>
      <p:sp>
        <p:nvSpPr>
          <p:cNvPr id="17" name="文本框 16">
            <a:extLst>
              <a:ext uri="{FF2B5EF4-FFF2-40B4-BE49-F238E27FC236}">
                <a16:creationId xmlns:a16="http://schemas.microsoft.com/office/drawing/2014/main" id="{F9EC3A16-1D94-A641-47C2-8F628CCCE72D}"/>
              </a:ext>
            </a:extLst>
          </p:cNvPr>
          <p:cNvSpPr txBox="1"/>
          <p:nvPr/>
        </p:nvSpPr>
        <p:spPr>
          <a:xfrm>
            <a:off x="142946" y="959107"/>
            <a:ext cx="463866" cy="338554"/>
          </a:xfrm>
          <a:prstGeom prst="rect">
            <a:avLst/>
          </a:prstGeom>
          <a:noFill/>
        </p:spPr>
        <p:txBody>
          <a:bodyPr wrap="square">
            <a:spAutoFit/>
          </a:bodyPr>
          <a:lstStyle/>
          <a:p>
            <a:pPr algn="ctr"/>
            <a:r>
              <a:rPr lang="en-US" altLang="zh-CN" sz="1600" dirty="0"/>
              <a:t>(a)</a:t>
            </a:r>
            <a:endParaRPr lang="zh-CN" altLang="en-US" sz="1600" dirty="0"/>
          </a:p>
        </p:txBody>
      </p:sp>
      <p:sp>
        <p:nvSpPr>
          <p:cNvPr id="18" name="文本框 17">
            <a:extLst>
              <a:ext uri="{FF2B5EF4-FFF2-40B4-BE49-F238E27FC236}">
                <a16:creationId xmlns:a16="http://schemas.microsoft.com/office/drawing/2014/main" id="{AA5120C2-7D05-79B0-7455-4E4B2BB0E5B6}"/>
              </a:ext>
            </a:extLst>
          </p:cNvPr>
          <p:cNvSpPr txBox="1"/>
          <p:nvPr/>
        </p:nvSpPr>
        <p:spPr>
          <a:xfrm>
            <a:off x="3810000" y="961481"/>
            <a:ext cx="463866" cy="338554"/>
          </a:xfrm>
          <a:prstGeom prst="rect">
            <a:avLst/>
          </a:prstGeom>
          <a:noFill/>
        </p:spPr>
        <p:txBody>
          <a:bodyPr wrap="square">
            <a:spAutoFit/>
          </a:bodyPr>
          <a:lstStyle/>
          <a:p>
            <a:pPr algn="ctr"/>
            <a:r>
              <a:rPr lang="en-US" altLang="zh-CN" sz="1600" dirty="0"/>
              <a:t>(b)</a:t>
            </a:r>
            <a:endParaRPr lang="zh-CN" altLang="en-US" sz="1600" dirty="0"/>
          </a:p>
        </p:txBody>
      </p:sp>
    </p:spTree>
    <p:extLst>
      <p:ext uri="{BB962C8B-B14F-4D97-AF65-F5344CB8AC3E}">
        <p14:creationId xmlns:p14="http://schemas.microsoft.com/office/powerpoint/2010/main" val="2225794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4049185" cy="584775"/>
          </a:xfrm>
          <a:prstGeom prst="rect">
            <a:avLst/>
          </a:prstGeom>
          <a:noFill/>
        </p:spPr>
        <p:txBody>
          <a:bodyPr wrap="none" rtlCol="0">
            <a:spAutoFit/>
          </a:bodyPr>
          <a:lstStyle/>
          <a:p>
            <a:r>
              <a:rPr lang="en-US" altLang="zh-CN" sz="3200" dirty="0">
                <a:solidFill>
                  <a:srgbClr val="FF0000"/>
                </a:solidFill>
              </a:rPr>
              <a:t>Latent heat – heat pipe</a:t>
            </a:r>
            <a:endParaRPr lang="zh-CN" altLang="en-US" sz="3200" dirty="0">
              <a:solidFill>
                <a:srgbClr val="FF0000"/>
              </a:solidFill>
            </a:endParaRPr>
          </a:p>
        </p:txBody>
      </p:sp>
      <p:pic>
        <p:nvPicPr>
          <p:cNvPr id="3074" name="Picture 2">
            <a:extLst>
              <a:ext uri="{FF2B5EF4-FFF2-40B4-BE49-F238E27FC236}">
                <a16:creationId xmlns:a16="http://schemas.microsoft.com/office/drawing/2014/main" id="{39BC8CCC-7A9B-E831-7DC3-C61977504B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838200"/>
            <a:ext cx="2762250" cy="183832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72E8EBEC-8CF2-4FCE-22FF-E2202DF066C4}"/>
              </a:ext>
            </a:extLst>
          </p:cNvPr>
          <p:cNvSpPr txBox="1"/>
          <p:nvPr/>
        </p:nvSpPr>
        <p:spPr>
          <a:xfrm>
            <a:off x="5943600" y="2663739"/>
            <a:ext cx="2762250" cy="276999"/>
          </a:xfrm>
          <a:prstGeom prst="rect">
            <a:avLst/>
          </a:prstGeom>
          <a:noFill/>
        </p:spPr>
        <p:txBody>
          <a:bodyPr wrap="square">
            <a:spAutoFit/>
          </a:bodyPr>
          <a:lstStyle/>
          <a:p>
            <a:pPr algn="ctr"/>
            <a:r>
              <a:rPr lang="en-US" altLang="zh-CN" sz="1200" b="0" i="0" dirty="0">
                <a:solidFill>
                  <a:srgbClr val="202122"/>
                </a:solidFill>
                <a:effectLst/>
                <a:latin typeface="Arial" panose="020B0604020202020204" pitchFamily="34" charset="0"/>
              </a:rPr>
              <a:t>A laptop computer heat pipe system</a:t>
            </a:r>
            <a:endParaRPr lang="zh-CN" altLang="en-US" sz="1200" dirty="0"/>
          </a:p>
        </p:txBody>
      </p:sp>
      <p:sp>
        <p:nvSpPr>
          <p:cNvPr id="8" name="文本框 7">
            <a:extLst>
              <a:ext uri="{FF2B5EF4-FFF2-40B4-BE49-F238E27FC236}">
                <a16:creationId xmlns:a16="http://schemas.microsoft.com/office/drawing/2014/main" id="{076B2C7C-B031-9501-9388-B6118FE2EAEB}"/>
              </a:ext>
            </a:extLst>
          </p:cNvPr>
          <p:cNvSpPr txBox="1"/>
          <p:nvPr/>
        </p:nvSpPr>
        <p:spPr>
          <a:xfrm>
            <a:off x="152400" y="748446"/>
            <a:ext cx="5410200" cy="646331"/>
          </a:xfrm>
          <a:prstGeom prst="rect">
            <a:avLst/>
          </a:prstGeom>
          <a:noFill/>
        </p:spPr>
        <p:txBody>
          <a:bodyPr wrap="square">
            <a:spAutoFit/>
          </a:bodyPr>
          <a:lstStyle/>
          <a:p>
            <a:r>
              <a:rPr lang="en-US" altLang="zh-CN" dirty="0"/>
              <a:t>A heat pipe is a heat-transfer device that employs </a:t>
            </a:r>
            <a:r>
              <a:rPr lang="en-US" altLang="zh-CN" dirty="0">
                <a:solidFill>
                  <a:srgbClr val="FF0000"/>
                </a:solidFill>
              </a:rPr>
              <a:t>phase transition</a:t>
            </a:r>
            <a:r>
              <a:rPr lang="en-US" altLang="zh-CN" dirty="0"/>
              <a:t> to transfer heat between two solid interfaces.</a:t>
            </a:r>
            <a:endParaRPr lang="zh-CN" altLang="en-US" dirty="0"/>
          </a:p>
        </p:txBody>
      </p:sp>
      <p:pic>
        <p:nvPicPr>
          <p:cNvPr id="3080" name="Picture 8" descr="Heat Pipes vs. Vapor Chambers | Case Studies | Products and Services | DNP  Group">
            <a:extLst>
              <a:ext uri="{FF2B5EF4-FFF2-40B4-BE49-F238E27FC236}">
                <a16:creationId xmlns:a16="http://schemas.microsoft.com/office/drawing/2014/main" id="{9F43ED82-6E37-2D9F-DB66-9A8FCC10A38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506" b="7408"/>
          <a:stretch/>
        </p:blipFill>
        <p:spPr bwMode="auto">
          <a:xfrm>
            <a:off x="127000" y="3810000"/>
            <a:ext cx="5715000" cy="2540436"/>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8F67EC95-981A-F30F-F298-C479695E1BAC}"/>
              </a:ext>
            </a:extLst>
          </p:cNvPr>
          <p:cNvSpPr txBox="1"/>
          <p:nvPr/>
        </p:nvSpPr>
        <p:spPr>
          <a:xfrm>
            <a:off x="152400" y="1412292"/>
            <a:ext cx="5384800" cy="2308324"/>
          </a:xfrm>
          <a:prstGeom prst="rect">
            <a:avLst/>
          </a:prstGeom>
          <a:noFill/>
        </p:spPr>
        <p:txBody>
          <a:bodyPr wrap="square">
            <a:spAutoFit/>
          </a:bodyPr>
          <a:lstStyle/>
          <a:p>
            <a:pPr marL="285750" indent="-285750">
              <a:buFont typeface="Wingdings" panose="05000000000000000000" pitchFamily="2" charset="2"/>
              <a:buChar char="Ø"/>
            </a:pPr>
            <a:r>
              <a:rPr lang="en-US" altLang="zh-CN" sz="1600" dirty="0"/>
              <a:t>At the hot interface of a heat pipe, a volatile liquid in contact with a thermally conductive solid surface turns into a vapor by absorbing heat from that surface. </a:t>
            </a:r>
          </a:p>
          <a:p>
            <a:pPr marL="285750" indent="-285750">
              <a:buFont typeface="Wingdings" panose="05000000000000000000" pitchFamily="2" charset="2"/>
              <a:buChar char="Ø"/>
            </a:pPr>
            <a:r>
              <a:rPr lang="en-US" altLang="zh-CN" sz="1600" dirty="0"/>
              <a:t>The vapor then travels along the heat pipe to the cold interface and condenses back into a liquid, releasing the latent heat. </a:t>
            </a:r>
          </a:p>
          <a:p>
            <a:pPr marL="285750" indent="-285750">
              <a:buFont typeface="Wingdings" panose="05000000000000000000" pitchFamily="2" charset="2"/>
              <a:buChar char="Ø"/>
            </a:pPr>
            <a:r>
              <a:rPr lang="en-US" altLang="zh-CN" sz="1600" dirty="0"/>
              <a:t>The liquid then returns to the hot interface through either capillary action, centrifugal force, or gravity and the cycle repeats.</a:t>
            </a:r>
            <a:endParaRPr lang="zh-CN" altLang="en-US" sz="1600" dirty="0"/>
          </a:p>
        </p:txBody>
      </p:sp>
      <p:sp>
        <p:nvSpPr>
          <p:cNvPr id="21" name="文本框 20">
            <a:extLst>
              <a:ext uri="{FF2B5EF4-FFF2-40B4-BE49-F238E27FC236}">
                <a16:creationId xmlns:a16="http://schemas.microsoft.com/office/drawing/2014/main" id="{0D751F03-A22E-ACEA-0843-849560C4FDFA}"/>
              </a:ext>
            </a:extLst>
          </p:cNvPr>
          <p:cNvSpPr txBox="1"/>
          <p:nvPr/>
        </p:nvSpPr>
        <p:spPr>
          <a:xfrm>
            <a:off x="5875867" y="5029200"/>
            <a:ext cx="3149600" cy="1569660"/>
          </a:xfrm>
          <a:prstGeom prst="rect">
            <a:avLst/>
          </a:prstGeom>
          <a:noFill/>
        </p:spPr>
        <p:txBody>
          <a:bodyPr wrap="square">
            <a:spAutoFit/>
          </a:bodyPr>
          <a:lstStyle/>
          <a:p>
            <a:r>
              <a:rPr lang="en-US" altLang="zh-CN" sz="1600" dirty="0"/>
              <a:t> The effective thermal conductivity varies with heat pipe length, and can approach </a:t>
            </a:r>
            <a:r>
              <a:rPr lang="en-US" altLang="zh-CN" sz="1600" dirty="0">
                <a:solidFill>
                  <a:srgbClr val="FF0000"/>
                </a:solidFill>
              </a:rPr>
              <a:t>100 kW/(</a:t>
            </a:r>
            <a:r>
              <a:rPr lang="en-US" altLang="zh-CN" sz="1600" dirty="0" err="1">
                <a:solidFill>
                  <a:srgbClr val="FF0000"/>
                </a:solidFill>
              </a:rPr>
              <a:t>m⋅K</a:t>
            </a:r>
            <a:r>
              <a:rPr lang="en-US" altLang="zh-CN" sz="1600" dirty="0">
                <a:solidFill>
                  <a:srgbClr val="FF0000"/>
                </a:solidFill>
              </a:rPr>
              <a:t>) for long heat pipes</a:t>
            </a:r>
            <a:r>
              <a:rPr lang="en-US" altLang="zh-CN" sz="1600" dirty="0"/>
              <a:t>, in comparison with approximately 0.4 kW/(</a:t>
            </a:r>
            <a:r>
              <a:rPr lang="en-US" altLang="zh-CN" sz="1600" dirty="0" err="1"/>
              <a:t>m⋅K</a:t>
            </a:r>
            <a:r>
              <a:rPr lang="en-US" altLang="zh-CN" sz="1600" dirty="0"/>
              <a:t>) for copper.</a:t>
            </a:r>
            <a:endParaRPr lang="zh-CN" altLang="en-US" sz="1600" dirty="0"/>
          </a:p>
        </p:txBody>
      </p:sp>
      <p:pic>
        <p:nvPicPr>
          <p:cNvPr id="3082" name="Picture 10">
            <a:extLst>
              <a:ext uri="{FF2B5EF4-FFF2-40B4-BE49-F238E27FC236}">
                <a16:creationId xmlns:a16="http://schemas.microsoft.com/office/drawing/2014/main" id="{9E821862-5502-C497-403D-0741701876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3601" y="3058715"/>
            <a:ext cx="2762250" cy="1208485"/>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E36FCCA4-95A6-8A5A-D3D8-489F1917613A}"/>
              </a:ext>
            </a:extLst>
          </p:cNvPr>
          <p:cNvSpPr txBox="1"/>
          <p:nvPr/>
        </p:nvSpPr>
        <p:spPr>
          <a:xfrm>
            <a:off x="5788025" y="4385679"/>
            <a:ext cx="3073400" cy="276999"/>
          </a:xfrm>
          <a:prstGeom prst="rect">
            <a:avLst/>
          </a:prstGeom>
          <a:noFill/>
        </p:spPr>
        <p:txBody>
          <a:bodyPr wrap="square">
            <a:spAutoFit/>
          </a:bodyPr>
          <a:lstStyle/>
          <a:p>
            <a:pPr algn="ctr"/>
            <a:r>
              <a:rPr lang="en-US" altLang="zh-CN" sz="1200" b="0" i="0" dirty="0">
                <a:solidFill>
                  <a:srgbClr val="202122"/>
                </a:solidFill>
                <a:effectLst/>
                <a:latin typeface="Arial" panose="020B0604020202020204" pitchFamily="34" charset="0"/>
              </a:rPr>
              <a:t>100×100×10 mm high thin flat heat pipe</a:t>
            </a:r>
            <a:endParaRPr lang="zh-CN" altLang="en-US" sz="1200" dirty="0"/>
          </a:p>
        </p:txBody>
      </p:sp>
    </p:spTree>
    <p:extLst>
      <p:ext uri="{BB962C8B-B14F-4D97-AF65-F5344CB8AC3E}">
        <p14:creationId xmlns:p14="http://schemas.microsoft.com/office/powerpoint/2010/main" val="29157377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152400"/>
            <a:ext cx="4049185" cy="584775"/>
          </a:xfrm>
          <a:prstGeom prst="rect">
            <a:avLst/>
          </a:prstGeom>
          <a:noFill/>
        </p:spPr>
        <p:txBody>
          <a:bodyPr wrap="none" rtlCol="0">
            <a:spAutoFit/>
          </a:bodyPr>
          <a:lstStyle/>
          <a:p>
            <a:r>
              <a:rPr lang="en-US" altLang="zh-CN" sz="3200" dirty="0">
                <a:solidFill>
                  <a:srgbClr val="FF0000"/>
                </a:solidFill>
              </a:rPr>
              <a:t>Latent heat – heat pipe</a:t>
            </a:r>
            <a:endParaRPr lang="zh-CN" altLang="en-US" sz="3200" dirty="0">
              <a:solidFill>
                <a:srgbClr val="FF0000"/>
              </a:solidFill>
            </a:endParaRPr>
          </a:p>
        </p:txBody>
      </p:sp>
      <p:sp>
        <p:nvSpPr>
          <p:cNvPr id="5" name="文本框 4">
            <a:extLst>
              <a:ext uri="{FF2B5EF4-FFF2-40B4-BE49-F238E27FC236}">
                <a16:creationId xmlns:a16="http://schemas.microsoft.com/office/drawing/2014/main" id="{55E54CC1-EDF8-F53B-455F-F579AA634624}"/>
              </a:ext>
            </a:extLst>
          </p:cNvPr>
          <p:cNvSpPr txBox="1"/>
          <p:nvPr/>
        </p:nvSpPr>
        <p:spPr>
          <a:xfrm>
            <a:off x="152399" y="838200"/>
            <a:ext cx="8562975" cy="1200329"/>
          </a:xfrm>
          <a:prstGeom prst="rect">
            <a:avLst/>
          </a:prstGeom>
          <a:noFill/>
        </p:spPr>
        <p:txBody>
          <a:bodyPr wrap="square">
            <a:spAutoFit/>
          </a:bodyPr>
          <a:lstStyle/>
          <a:p>
            <a:r>
              <a:rPr lang="en-US" altLang="zh-CN" dirty="0"/>
              <a:t>Heat pipe is a best known passive cooling &amp; heating device which is excellent in heat transfer and low thermal resistance. There are many applications for heat pipes in computer and electronics, automotive, aviation, healthcare, energy saving, global warming, and environmental protection.</a:t>
            </a:r>
            <a:endParaRPr lang="zh-CN" altLang="en-US" dirty="0"/>
          </a:p>
        </p:txBody>
      </p:sp>
      <p:sp>
        <p:nvSpPr>
          <p:cNvPr id="9" name="文本框 8">
            <a:extLst>
              <a:ext uri="{FF2B5EF4-FFF2-40B4-BE49-F238E27FC236}">
                <a16:creationId xmlns:a16="http://schemas.microsoft.com/office/drawing/2014/main" id="{D6E0F665-4E6C-7B93-38F2-091ABBDBF00A}"/>
              </a:ext>
            </a:extLst>
          </p:cNvPr>
          <p:cNvSpPr txBox="1"/>
          <p:nvPr/>
        </p:nvSpPr>
        <p:spPr>
          <a:xfrm>
            <a:off x="723900" y="4542472"/>
            <a:ext cx="2667000" cy="276999"/>
          </a:xfrm>
          <a:prstGeom prst="rect">
            <a:avLst/>
          </a:prstGeom>
          <a:noFill/>
        </p:spPr>
        <p:txBody>
          <a:bodyPr wrap="square">
            <a:spAutoFit/>
          </a:bodyPr>
          <a:lstStyle/>
          <a:p>
            <a:pPr algn="ctr"/>
            <a:r>
              <a:rPr lang="en-US" altLang="zh-CN" sz="1200" dirty="0"/>
              <a:t>Heat pipes in computer and electronics</a:t>
            </a:r>
            <a:endParaRPr lang="zh-CN" altLang="en-US" sz="1200" dirty="0"/>
          </a:p>
        </p:txBody>
      </p:sp>
      <p:pic>
        <p:nvPicPr>
          <p:cNvPr id="5124" name="Picture 4" descr="The Basics of Heat Pipes – Their History, Principle, and Varieties  explained | Case Studies | Products and Services | DNP Group">
            <a:extLst>
              <a:ext uri="{FF2B5EF4-FFF2-40B4-BE49-F238E27FC236}">
                <a16:creationId xmlns:a16="http://schemas.microsoft.com/office/drawing/2014/main" id="{E6355D5B-E3F6-AC1E-8C24-8ECC328077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4800" y="2126734"/>
            <a:ext cx="3505200" cy="233680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Latest development and application of heat pipes for electronics and  automotive | Semantic Scholar">
            <a:extLst>
              <a:ext uri="{FF2B5EF4-FFF2-40B4-BE49-F238E27FC236}">
                <a16:creationId xmlns:a16="http://schemas.microsoft.com/office/drawing/2014/main" id="{F4C0252B-2857-B280-3012-4FFB61A9158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185" b="7628"/>
          <a:stretch/>
        </p:blipFill>
        <p:spPr bwMode="auto">
          <a:xfrm>
            <a:off x="4176185" y="2126734"/>
            <a:ext cx="3964286" cy="2415738"/>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1B75E9A7-59D0-ADD9-08A1-C0EB0E53FC9C}"/>
              </a:ext>
            </a:extLst>
          </p:cNvPr>
          <p:cNvSpPr txBox="1"/>
          <p:nvPr/>
        </p:nvSpPr>
        <p:spPr>
          <a:xfrm>
            <a:off x="4824828" y="4542472"/>
            <a:ext cx="2667000" cy="276999"/>
          </a:xfrm>
          <a:prstGeom prst="rect">
            <a:avLst/>
          </a:prstGeom>
          <a:noFill/>
        </p:spPr>
        <p:txBody>
          <a:bodyPr wrap="square">
            <a:spAutoFit/>
          </a:bodyPr>
          <a:lstStyle/>
          <a:p>
            <a:pPr algn="ctr"/>
            <a:r>
              <a:rPr lang="en-US" altLang="zh-CN" sz="1200" dirty="0"/>
              <a:t>Heat pipes in automotive</a:t>
            </a:r>
            <a:endParaRPr lang="zh-CN" altLang="en-US" sz="1200" dirty="0"/>
          </a:p>
        </p:txBody>
      </p:sp>
      <p:pic>
        <p:nvPicPr>
          <p:cNvPr id="5130" name="Picture 10">
            <a:extLst>
              <a:ext uri="{FF2B5EF4-FFF2-40B4-BE49-F238E27FC236}">
                <a16:creationId xmlns:a16="http://schemas.microsoft.com/office/drawing/2014/main" id="{E0275970-C5B9-6709-8681-237FC6127EF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074" r="23492"/>
          <a:stretch/>
        </p:blipFill>
        <p:spPr bwMode="auto">
          <a:xfrm rot="16200000">
            <a:off x="3727337" y="1454264"/>
            <a:ext cx="990598" cy="783567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675364FF-CD28-E2F2-EF1D-3A4B2B7A8AAF}"/>
              </a:ext>
            </a:extLst>
          </p:cNvPr>
          <p:cNvSpPr txBox="1"/>
          <p:nvPr/>
        </p:nvSpPr>
        <p:spPr>
          <a:xfrm>
            <a:off x="304799" y="5971736"/>
            <a:ext cx="7835671" cy="461665"/>
          </a:xfrm>
          <a:prstGeom prst="rect">
            <a:avLst/>
          </a:prstGeom>
          <a:noFill/>
        </p:spPr>
        <p:txBody>
          <a:bodyPr wrap="square">
            <a:spAutoFit/>
          </a:bodyPr>
          <a:lstStyle/>
          <a:p>
            <a:pPr algn="ctr"/>
            <a:r>
              <a:rPr lang="en-US" altLang="zh-CN" sz="1200" dirty="0"/>
              <a:t>Typical grooved </a:t>
            </a:r>
            <a:r>
              <a:rPr lang="en-US" altLang="zh-CN" sz="1200" dirty="0" err="1"/>
              <a:t>aluminium</a:t>
            </a:r>
            <a:r>
              <a:rPr lang="en-US" altLang="zh-CN" sz="1200" dirty="0"/>
              <a:t>-ammonia Variable Conductance Heat Pipes (VCHP) for spacecraft thermal control, with the evaporator section on the bottom, and the non-condensable gas reservoir just below the valve</a:t>
            </a:r>
            <a:endParaRPr lang="zh-CN" altLang="en-US" sz="1200" dirty="0"/>
          </a:p>
        </p:txBody>
      </p:sp>
    </p:spTree>
    <p:extLst>
      <p:ext uri="{BB962C8B-B14F-4D97-AF65-F5344CB8AC3E}">
        <p14:creationId xmlns:p14="http://schemas.microsoft.com/office/powerpoint/2010/main" val="6861955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233650" y="3167390"/>
            <a:ext cx="6676700" cy="523220"/>
          </a:xfrm>
          <a:prstGeom prst="rect">
            <a:avLst/>
          </a:prstGeom>
          <a:noFill/>
        </p:spPr>
        <p:txBody>
          <a:bodyPr wrap="none" rtlCol="0">
            <a:spAutoFit/>
          </a:bodyPr>
          <a:lstStyle/>
          <a:p>
            <a:r>
              <a:rPr lang="en-US" altLang="zh-CN" sz="2800" dirty="0">
                <a:solidFill>
                  <a:srgbClr val="FF0000"/>
                </a:solidFill>
              </a:rPr>
              <a:t>What else application relative to latent heat?</a:t>
            </a:r>
            <a:endParaRPr lang="zh-CN" altLang="en-US" sz="2800" dirty="0">
              <a:solidFill>
                <a:srgbClr val="FF0000"/>
              </a:solidFill>
            </a:endParaRPr>
          </a:p>
        </p:txBody>
      </p:sp>
      <p:sp>
        <p:nvSpPr>
          <p:cNvPr id="6" name="文本框 5">
            <a:extLst>
              <a:ext uri="{FF2B5EF4-FFF2-40B4-BE49-F238E27FC236}">
                <a16:creationId xmlns:a16="http://schemas.microsoft.com/office/drawing/2014/main" id="{751E9B9F-7480-6DB6-1BF7-B5DDB242B56E}"/>
              </a:ext>
            </a:extLst>
          </p:cNvPr>
          <p:cNvSpPr txBox="1"/>
          <p:nvPr/>
        </p:nvSpPr>
        <p:spPr>
          <a:xfrm>
            <a:off x="23710" y="21021"/>
            <a:ext cx="2312030" cy="523220"/>
          </a:xfrm>
          <a:prstGeom prst="rect">
            <a:avLst/>
          </a:prstGeom>
          <a:solidFill>
            <a:schemeClr val="accent3">
              <a:lumMod val="60000"/>
              <a:lumOff val="40000"/>
            </a:schemeClr>
          </a:solidFill>
        </p:spPr>
        <p:txBody>
          <a:bodyPr wrap="square">
            <a:spAutoFit/>
          </a:bodyPr>
          <a:lstStyle/>
          <a:p>
            <a:r>
              <a:rPr lang="en-US" altLang="zh-CN" sz="2800" dirty="0">
                <a:solidFill>
                  <a:schemeClr val="bg1"/>
                </a:solidFill>
              </a:rPr>
              <a:t>Open question </a:t>
            </a:r>
            <a:endParaRPr lang="zh-CN" altLang="en-US" sz="2800" dirty="0">
              <a:solidFill>
                <a:schemeClr val="bg1"/>
              </a:solidFill>
            </a:endParaRPr>
          </a:p>
        </p:txBody>
      </p:sp>
    </p:spTree>
    <p:extLst>
      <p:ext uri="{BB962C8B-B14F-4D97-AF65-F5344CB8AC3E}">
        <p14:creationId xmlns:p14="http://schemas.microsoft.com/office/powerpoint/2010/main" val="3748973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9834002-8748-88B7-B478-E63CE5A52A74}"/>
              </a:ext>
            </a:extLst>
          </p:cNvPr>
          <p:cNvSpPr txBox="1"/>
          <p:nvPr/>
        </p:nvSpPr>
        <p:spPr>
          <a:xfrm>
            <a:off x="2286000" y="381000"/>
            <a:ext cx="4023858" cy="461665"/>
          </a:xfrm>
          <a:prstGeom prst="rect">
            <a:avLst/>
          </a:prstGeom>
          <a:noFill/>
        </p:spPr>
        <p:txBody>
          <a:bodyPr wrap="none" rtlCol="0">
            <a:spAutoFit/>
          </a:bodyPr>
          <a:lstStyle/>
          <a:p>
            <a:r>
              <a:rPr lang="en-US" altLang="zh-CN" sz="2400" b="0" i="0" dirty="0">
                <a:solidFill>
                  <a:srgbClr val="FF0000"/>
                </a:solidFill>
                <a:effectLst/>
                <a:latin typeface="Arial" panose="020B0604020202020204" pitchFamily="34" charset="0"/>
              </a:rPr>
              <a:t>Philosophical enlightenment</a:t>
            </a:r>
            <a:endParaRPr lang="zh-CN" altLang="en-US" sz="2400" dirty="0">
              <a:solidFill>
                <a:srgbClr val="FF0000"/>
              </a:solidFill>
            </a:endParaRPr>
          </a:p>
        </p:txBody>
      </p:sp>
      <p:sp>
        <p:nvSpPr>
          <p:cNvPr id="3" name="文本框 2">
            <a:extLst>
              <a:ext uri="{FF2B5EF4-FFF2-40B4-BE49-F238E27FC236}">
                <a16:creationId xmlns:a16="http://schemas.microsoft.com/office/drawing/2014/main" id="{4972D460-DEA9-64AB-3BB0-415DFA2B6C13}"/>
              </a:ext>
            </a:extLst>
          </p:cNvPr>
          <p:cNvSpPr txBox="1"/>
          <p:nvPr/>
        </p:nvSpPr>
        <p:spPr>
          <a:xfrm>
            <a:off x="533400" y="1219200"/>
            <a:ext cx="2314801" cy="461665"/>
          </a:xfrm>
          <a:prstGeom prst="rect">
            <a:avLst/>
          </a:prstGeom>
          <a:noFill/>
        </p:spPr>
        <p:txBody>
          <a:bodyPr wrap="none" rtlCol="0">
            <a:spAutoFit/>
          </a:bodyPr>
          <a:lstStyle/>
          <a:p>
            <a:r>
              <a:rPr lang="en-US" altLang="zh-CN" sz="2400" dirty="0"/>
              <a:t>Fact one: Cp &gt;</a:t>
            </a:r>
            <a:r>
              <a:rPr lang="zh-CN" altLang="en-US" sz="2400" dirty="0"/>
              <a:t> </a:t>
            </a:r>
            <a:r>
              <a:rPr lang="en-US" altLang="zh-CN" sz="2400" dirty="0" err="1"/>
              <a:t>Cv</a:t>
            </a:r>
            <a:endParaRPr lang="zh-CN" altLang="en-US" sz="2400" dirty="0"/>
          </a:p>
        </p:txBody>
      </p:sp>
      <p:sp>
        <p:nvSpPr>
          <p:cNvPr id="4" name="文本框 3">
            <a:extLst>
              <a:ext uri="{FF2B5EF4-FFF2-40B4-BE49-F238E27FC236}">
                <a16:creationId xmlns:a16="http://schemas.microsoft.com/office/drawing/2014/main" id="{B649FC49-9AB6-BFDC-8669-CAD539F63A3E}"/>
              </a:ext>
            </a:extLst>
          </p:cNvPr>
          <p:cNvSpPr txBox="1"/>
          <p:nvPr/>
        </p:nvSpPr>
        <p:spPr>
          <a:xfrm>
            <a:off x="1269726" y="2142530"/>
            <a:ext cx="3877985" cy="369332"/>
          </a:xfrm>
          <a:prstGeom prst="rect">
            <a:avLst/>
          </a:prstGeom>
          <a:noFill/>
        </p:spPr>
        <p:txBody>
          <a:bodyPr wrap="none" rtlCol="0">
            <a:spAutoFit/>
          </a:bodyPr>
          <a:lstStyle/>
          <a:p>
            <a:r>
              <a:rPr lang="zh-CN" altLang="en-US" dirty="0"/>
              <a:t>外界的压力让你让你拥有更大的能力</a:t>
            </a:r>
          </a:p>
        </p:txBody>
      </p:sp>
      <p:sp>
        <p:nvSpPr>
          <p:cNvPr id="5" name="文本框 4">
            <a:extLst>
              <a:ext uri="{FF2B5EF4-FFF2-40B4-BE49-F238E27FC236}">
                <a16:creationId xmlns:a16="http://schemas.microsoft.com/office/drawing/2014/main" id="{7D184AE0-2E05-9F2B-B76B-7E87352F05AA}"/>
              </a:ext>
            </a:extLst>
          </p:cNvPr>
          <p:cNvSpPr txBox="1"/>
          <p:nvPr/>
        </p:nvSpPr>
        <p:spPr>
          <a:xfrm>
            <a:off x="533400" y="2956825"/>
            <a:ext cx="2759986" cy="461665"/>
          </a:xfrm>
          <a:prstGeom prst="rect">
            <a:avLst/>
          </a:prstGeom>
          <a:noFill/>
        </p:spPr>
        <p:txBody>
          <a:bodyPr wrap="none" rtlCol="0">
            <a:spAutoFit/>
          </a:bodyPr>
          <a:lstStyle/>
          <a:p>
            <a:r>
              <a:rPr lang="en-US" altLang="zh-CN" sz="2400" dirty="0"/>
              <a:t>Fact two: latent heat</a:t>
            </a:r>
            <a:endParaRPr lang="zh-CN" altLang="en-US" sz="2400" dirty="0"/>
          </a:p>
        </p:txBody>
      </p:sp>
      <p:pic>
        <p:nvPicPr>
          <p:cNvPr id="1028" name="Picture 4" descr="查看源图像">
            <a:extLst>
              <a:ext uri="{FF2B5EF4-FFF2-40B4-BE49-F238E27FC236}">
                <a16:creationId xmlns:a16="http://schemas.microsoft.com/office/drawing/2014/main" id="{E6FF0635-D4C9-62E0-B758-B538DE328A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43800" y="4149832"/>
            <a:ext cx="957179" cy="2259569"/>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C5D34AA8-EF48-2BA2-9B8C-D60FBEEA8EB3}"/>
              </a:ext>
            </a:extLst>
          </p:cNvPr>
          <p:cNvSpPr txBox="1"/>
          <p:nvPr/>
        </p:nvSpPr>
        <p:spPr>
          <a:xfrm>
            <a:off x="1306615" y="3863453"/>
            <a:ext cx="5032147" cy="646331"/>
          </a:xfrm>
          <a:prstGeom prst="rect">
            <a:avLst/>
          </a:prstGeom>
          <a:noFill/>
        </p:spPr>
        <p:txBody>
          <a:bodyPr wrap="none" rtlCol="0">
            <a:spAutoFit/>
          </a:bodyPr>
          <a:lstStyle/>
          <a:p>
            <a:r>
              <a:rPr lang="zh-CN" altLang="en-US" dirty="0"/>
              <a:t>当你感觉到你已经到了所能承受压力极限的时候</a:t>
            </a:r>
            <a:endParaRPr lang="en-US" altLang="zh-CN" dirty="0"/>
          </a:p>
          <a:p>
            <a:r>
              <a:rPr lang="zh-CN" altLang="en-US" dirty="0"/>
              <a:t>恭喜你，你将迎来华丽的变身</a:t>
            </a:r>
          </a:p>
        </p:txBody>
      </p:sp>
      <p:pic>
        <p:nvPicPr>
          <p:cNvPr id="1040" name="Picture 16" descr="查看源图像">
            <a:extLst>
              <a:ext uri="{FF2B5EF4-FFF2-40B4-BE49-F238E27FC236}">
                <a16:creationId xmlns:a16="http://schemas.microsoft.com/office/drawing/2014/main" id="{03A7CBB3-F789-EC8A-4816-D15AE1DC76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798" y="2806509"/>
            <a:ext cx="1809089" cy="1223962"/>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CEB70F56-AFF3-F27F-34BE-6018E28136F0}"/>
              </a:ext>
            </a:extLst>
          </p:cNvPr>
          <p:cNvSpPr txBox="1"/>
          <p:nvPr/>
        </p:nvSpPr>
        <p:spPr>
          <a:xfrm>
            <a:off x="2438400" y="5105400"/>
            <a:ext cx="2262158" cy="646331"/>
          </a:xfrm>
          <a:prstGeom prst="rect">
            <a:avLst/>
          </a:prstGeom>
          <a:noFill/>
        </p:spPr>
        <p:txBody>
          <a:bodyPr wrap="none" rtlCol="0">
            <a:spAutoFit/>
          </a:bodyPr>
          <a:lstStyle/>
          <a:p>
            <a:r>
              <a:rPr lang="zh-CN" altLang="en-US" dirty="0"/>
              <a:t>中国强调：闭关修炼</a:t>
            </a:r>
            <a:endParaRPr lang="en-US" altLang="zh-CN" dirty="0"/>
          </a:p>
          <a:p>
            <a:r>
              <a:rPr lang="zh-CN" altLang="en-US" dirty="0"/>
              <a:t>西方强调：实战提升</a:t>
            </a:r>
          </a:p>
        </p:txBody>
      </p:sp>
    </p:spTree>
    <p:extLst>
      <p:ext uri="{BB962C8B-B14F-4D97-AF65-F5344CB8AC3E}">
        <p14:creationId xmlns:p14="http://schemas.microsoft.com/office/powerpoint/2010/main" val="3721142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 y="4352942"/>
            <a:ext cx="4720138" cy="830997"/>
          </a:xfrm>
          <a:prstGeom prst="rect">
            <a:avLst/>
          </a:prstGeom>
          <a:noFill/>
        </p:spPr>
        <p:txBody>
          <a:bodyPr wrap="none" rtlCol="0">
            <a:spAutoFit/>
          </a:bodyPr>
          <a:lstStyle/>
          <a:p>
            <a:r>
              <a:rPr lang="en-US" altLang="zh-CN" sz="2400" b="1" dirty="0">
                <a:solidFill>
                  <a:srgbClr val="FF0000"/>
                </a:solidFill>
              </a:rPr>
              <a:t>Open Question</a:t>
            </a:r>
            <a:r>
              <a:rPr lang="en-US" altLang="zh-CN" sz="2400" dirty="0"/>
              <a:t>: </a:t>
            </a:r>
          </a:p>
          <a:p>
            <a:r>
              <a:rPr lang="en-US" altLang="zh-CN" sz="2400" dirty="0"/>
              <a:t>The importance of the 1</a:t>
            </a:r>
            <a:r>
              <a:rPr lang="en-US" altLang="zh-CN" sz="2400" baseline="30000" dirty="0"/>
              <a:t>st</a:t>
            </a:r>
            <a:r>
              <a:rPr lang="en-US" altLang="zh-CN" sz="2400" dirty="0"/>
              <a:t> law of TD. </a:t>
            </a:r>
            <a:endParaRPr lang="zh-CN" altLang="en-US" sz="2400" dirty="0"/>
          </a:p>
        </p:txBody>
      </p:sp>
      <p:sp>
        <p:nvSpPr>
          <p:cNvPr id="4" name="TextBox 1"/>
          <p:cNvSpPr txBox="1"/>
          <p:nvPr/>
        </p:nvSpPr>
        <p:spPr>
          <a:xfrm>
            <a:off x="152400" y="1113341"/>
            <a:ext cx="6500113" cy="1200329"/>
          </a:xfrm>
          <a:prstGeom prst="rect">
            <a:avLst/>
          </a:prstGeom>
          <a:noFill/>
        </p:spPr>
        <p:txBody>
          <a:bodyPr wrap="none" rtlCol="0">
            <a:spAutoFit/>
          </a:bodyPr>
          <a:lstStyle/>
          <a:p>
            <a:r>
              <a:rPr lang="en-US" altLang="zh-CN" sz="2400" b="1" dirty="0">
                <a:solidFill>
                  <a:srgbClr val="FF0000"/>
                </a:solidFill>
              </a:rPr>
              <a:t>Home work</a:t>
            </a:r>
            <a:r>
              <a:rPr lang="en-US" altLang="zh-CN" sz="2400" dirty="0"/>
              <a:t>: </a:t>
            </a:r>
          </a:p>
          <a:p>
            <a:r>
              <a:rPr lang="en-US" altLang="zh-CN" sz="2400" dirty="0"/>
              <a:t>Proposal </a:t>
            </a:r>
            <a:r>
              <a:rPr lang="zh-CN" altLang="en-US" sz="2400" dirty="0"/>
              <a:t> </a:t>
            </a:r>
            <a:r>
              <a:rPr lang="en-US" altLang="zh-CN" sz="2400" dirty="0"/>
              <a:t>facility to kill </a:t>
            </a:r>
            <a:r>
              <a:rPr lang="en-US" altLang="zh-CN" sz="2400" dirty="0" err="1"/>
              <a:t>cornonavirus</a:t>
            </a:r>
            <a:r>
              <a:rPr lang="en-US" altLang="zh-CN" sz="2400" dirty="0"/>
              <a:t> by using heat!</a:t>
            </a:r>
          </a:p>
          <a:p>
            <a:r>
              <a:rPr lang="en-US" altLang="zh-CN" sz="2400" dirty="0"/>
              <a:t> </a:t>
            </a:r>
            <a:endParaRPr lang="zh-CN" altLang="en-US" sz="2400" dirty="0"/>
          </a:p>
        </p:txBody>
      </p:sp>
      <p:pic>
        <p:nvPicPr>
          <p:cNvPr id="47106"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313670"/>
            <a:ext cx="2743200" cy="1591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7574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1000" y="222363"/>
            <a:ext cx="3391249" cy="646331"/>
          </a:xfrm>
          <a:prstGeom prst="rect">
            <a:avLst/>
          </a:prstGeom>
          <a:noFill/>
        </p:spPr>
        <p:txBody>
          <a:bodyPr wrap="none" rtlCol="0">
            <a:spAutoFit/>
          </a:bodyPr>
          <a:lstStyle/>
          <a:p>
            <a:r>
              <a:rPr lang="en-US" altLang="zh-CN" sz="3200" dirty="0" err="1">
                <a:solidFill>
                  <a:srgbClr val="FF0000"/>
                </a:solidFill>
              </a:rPr>
              <a:t>Polytropic</a:t>
            </a:r>
            <a:r>
              <a:rPr lang="en-US" altLang="zh-CN" sz="3600" dirty="0">
                <a:solidFill>
                  <a:srgbClr val="FF0000"/>
                </a:solidFill>
              </a:rPr>
              <a:t> process</a:t>
            </a:r>
            <a:endParaRPr lang="zh-CN" altLang="en-US" sz="3600" dirty="0">
              <a:solidFill>
                <a:srgbClr val="FF0000"/>
              </a:solidFill>
            </a:endParaRPr>
          </a:p>
        </p:txBody>
      </p:sp>
      <p:cxnSp>
        <p:nvCxnSpPr>
          <p:cNvPr id="7" name="直接箭头连接符 6"/>
          <p:cNvCxnSpPr/>
          <p:nvPr/>
        </p:nvCxnSpPr>
        <p:spPr>
          <a:xfrm flipV="1">
            <a:off x="1093686" y="2169472"/>
            <a:ext cx="24714" cy="23148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1093686" y="4484304"/>
            <a:ext cx="277615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657081" y="2449558"/>
            <a:ext cx="311304" cy="369332"/>
          </a:xfrm>
          <a:prstGeom prst="rect">
            <a:avLst/>
          </a:prstGeom>
          <a:noFill/>
        </p:spPr>
        <p:txBody>
          <a:bodyPr wrap="none" rtlCol="0">
            <a:spAutoFit/>
          </a:bodyPr>
          <a:lstStyle/>
          <a:p>
            <a:r>
              <a:rPr lang="en-US" altLang="zh-CN" dirty="0"/>
              <a:t>P</a:t>
            </a:r>
            <a:endParaRPr lang="zh-CN" altLang="en-US" dirty="0"/>
          </a:p>
        </p:txBody>
      </p:sp>
      <p:sp>
        <p:nvSpPr>
          <p:cNvPr id="11" name="文本框 10"/>
          <p:cNvSpPr txBox="1"/>
          <p:nvPr/>
        </p:nvSpPr>
        <p:spPr>
          <a:xfrm>
            <a:off x="2170458" y="4595515"/>
            <a:ext cx="325730" cy="369332"/>
          </a:xfrm>
          <a:prstGeom prst="rect">
            <a:avLst/>
          </a:prstGeom>
          <a:noFill/>
        </p:spPr>
        <p:txBody>
          <a:bodyPr wrap="none" rtlCol="0">
            <a:spAutoFit/>
          </a:bodyPr>
          <a:lstStyle/>
          <a:p>
            <a:r>
              <a:rPr lang="en-US" altLang="zh-CN" dirty="0"/>
              <a:t>V</a:t>
            </a:r>
            <a:endParaRPr lang="zh-CN" altLang="en-US" dirty="0"/>
          </a:p>
        </p:txBody>
      </p:sp>
      <mc:AlternateContent xmlns:mc="http://schemas.openxmlformats.org/markup-compatibility/2006" xmlns:a14="http://schemas.microsoft.com/office/drawing/2010/main">
        <mc:Choice Requires="a14">
          <p:sp>
            <p:nvSpPr>
              <p:cNvPr id="12" name="矩形 11"/>
              <p:cNvSpPr/>
              <p:nvPr/>
            </p:nvSpPr>
            <p:spPr>
              <a:xfrm>
                <a:off x="4827486" y="3057614"/>
                <a:ext cx="3149372" cy="134088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𝑃</m:t>
                      </m:r>
                      <m:sSup>
                        <m:sSupPr>
                          <m:ctrlPr>
                            <a:rPr lang="zh-CN" altLang="en-US" i="1">
                              <a:latin typeface="Cambria Math" panose="02040503050406030204" pitchFamily="18" charset="0"/>
                            </a:rPr>
                          </m:ctrlPr>
                        </m:sSupPr>
                        <m:e>
                          <m:r>
                            <a:rPr lang="zh-CN" altLang="en-US" i="1">
                              <a:latin typeface="Cambria Math" panose="02040503050406030204" pitchFamily="18" charset="0"/>
                            </a:rPr>
                            <m:t>𝑉</m:t>
                          </m:r>
                        </m:e>
                        <m:sup>
                          <m:r>
                            <a:rPr lang="zh-CN" altLang="en-US" i="1">
                              <a:latin typeface="Cambria Math" panose="02040503050406030204" pitchFamily="18" charset="0"/>
                            </a:rPr>
                            <m:t>𝑛</m:t>
                          </m:r>
                        </m:sup>
                      </m:sSup>
                      <m:r>
                        <a:rPr lang="zh-CN" altLang="en-US" i="0">
                          <a:latin typeface="Cambria Math" panose="02040503050406030204" pitchFamily="18" charset="0"/>
                        </a:rPr>
                        <m:t>=</m:t>
                      </m:r>
                      <m:r>
                        <a:rPr lang="zh-CN" altLang="en-US" i="1">
                          <a:latin typeface="Cambria Math" panose="02040503050406030204" pitchFamily="18" charset="0"/>
                        </a:rPr>
                        <m:t>𝐶</m:t>
                      </m:r>
                      <m:r>
                        <m:rPr>
                          <m:nor/>
                        </m:rPr>
                        <a:rPr lang="zh-CN" altLang="en-US" i="1">
                          <a:latin typeface="Cambria Math" panose="02040503050406030204" pitchFamily="18" charset="0"/>
                        </a:rPr>
                        <m:t>,</m:t>
                      </m:r>
                      <m:d>
                        <m:dPr>
                          <m:begChr m:val="{"/>
                          <m:endChr m:val=""/>
                          <m:ctrlPr>
                            <a:rPr lang="zh-CN" altLang="en-US" i="1">
                              <a:latin typeface="Cambria Math" panose="02040503050406030204" pitchFamily="18" charset="0"/>
                            </a:rPr>
                          </m:ctrlPr>
                        </m:dPr>
                        <m:e>
                          <m:m>
                            <m:mPr>
                              <m:mcs>
                                <m:mc>
                                  <m:mcPr>
                                    <m:count m:val="1"/>
                                    <m:mcJc m:val="center"/>
                                  </m:mcPr>
                                </m:mc>
                              </m:mcs>
                              <m:ctrlPr>
                                <a:rPr lang="zh-CN" altLang="en-US" i="1">
                                  <a:latin typeface="Cambria Math" panose="02040503050406030204" pitchFamily="18" charset="0"/>
                                </a:rPr>
                              </m:ctrlPr>
                            </m:mPr>
                            <m:mr>
                              <m:e>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sty m:val="p"/>
                                  </m:rPr>
                                  <a:rPr lang="en-US" altLang="zh-CN" i="1">
                                    <a:latin typeface="Cambria Math" panose="02040503050406030204" pitchFamily="18" charset="0"/>
                                  </a:rPr>
                                  <m:t>V</m:t>
                                </m:r>
                              </m:e>
                            </m:mr>
                            <m:mr>
                              <m:e>
                                <m:r>
                                  <a:rPr lang="zh-CN" altLang="en-US" i="1">
                                    <a:latin typeface="Cambria Math" panose="02040503050406030204" pitchFamily="18" charset="0"/>
                                  </a:rPr>
                                  <m:t>𝑛</m:t>
                                </m:r>
                                <m:r>
                                  <a:rPr lang="zh-CN" altLang="en-US" i="0">
                                    <a:latin typeface="Cambria Math" panose="02040503050406030204" pitchFamily="18" charset="0"/>
                                  </a:rPr>
                                  <m:t>=0,</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sty m:val="p"/>
                                  </m:rPr>
                                  <a:rPr lang="en-US" altLang="zh-CN" i="1">
                                    <a:latin typeface="Cambria Math" panose="02040503050406030204" pitchFamily="18" charset="0"/>
                                  </a:rPr>
                                  <m:t>P</m:t>
                                </m:r>
                              </m:e>
                            </m:mr>
                            <m:mr>
                              <m:e>
                                <m:r>
                                  <a:rPr lang="zh-CN" altLang="en-US" i="1">
                                    <a:latin typeface="Cambria Math" panose="02040503050406030204" pitchFamily="18" charset="0"/>
                                  </a:rPr>
                                  <m:t>𝑛</m:t>
                                </m:r>
                                <m:r>
                                  <a:rPr lang="zh-CN" altLang="en-US" i="0">
                                    <a:latin typeface="Cambria Math" panose="02040503050406030204" pitchFamily="18" charset="0"/>
                                  </a:rPr>
                                  <m:t>=1,</m:t>
                                </m:r>
                                <m:r>
                                  <a:rPr lang="zh-CN" altLang="en-US" i="1">
                                    <a:latin typeface="Cambria Math" panose="02040503050406030204" pitchFamily="18" charset="0"/>
                                  </a:rPr>
                                  <m:t>𝑐𝑜𝑛𝑠𝑡</m:t>
                                </m:r>
                                <m:r>
                                  <m:rPr>
                                    <m:nor/>
                                  </m:rPr>
                                  <a:rPr lang="zh-CN" altLang="en-US" i="1">
                                    <a:latin typeface="Cambria Math" panose="02040503050406030204" pitchFamily="18" charset="0"/>
                                  </a:rPr>
                                  <m:t> </m:t>
                                </m:r>
                                <m:r>
                                  <m:rPr>
                                    <m:nor/>
                                  </m:rPr>
                                  <a:rPr lang="zh-CN" altLang="en-US" i="1">
                                    <a:latin typeface="Cambria Math" panose="02040503050406030204" pitchFamily="18" charset="0"/>
                                  </a:rPr>
                                  <m:t>T</m:t>
                                </m:r>
                              </m:e>
                            </m:mr>
                            <m:mr>
                              <m:e>
                                <m:r>
                                  <m:rPr>
                                    <m:nor/>
                                  </m:rPr>
                                  <a:rPr lang="zh-CN" altLang="en-US" i="1">
                                    <a:latin typeface="Cambria Math" panose="02040503050406030204" pitchFamily="18" charset="0"/>
                                  </a:rPr>
                                  <m:t>n</m:t>
                                </m:r>
                                <m:r>
                                  <m:rPr>
                                    <m:nor/>
                                  </m:rPr>
                                  <a:rPr lang="zh-CN" altLang="en-US" i="1">
                                    <a:latin typeface="Cambria Math" panose="02040503050406030204" pitchFamily="18" charset="0"/>
                                  </a:rPr>
                                  <m:t>=</m:t>
                                </m:r>
                                <m:r>
                                  <a:rPr lang="zh-CN" altLang="en-US" i="1">
                                    <a:latin typeface="Cambria Math" panose="02040503050406030204" pitchFamily="18" charset="0"/>
                                  </a:rPr>
                                  <m:t>𝛾</m:t>
                                </m:r>
                                <m:r>
                                  <m:rPr>
                                    <m:nor/>
                                  </m:rPr>
                                  <a:rPr lang="zh-CN" altLang="en-US" i="1">
                                    <a:latin typeface="Cambria Math" panose="02040503050406030204" pitchFamily="18" charset="0"/>
                                  </a:rPr>
                                  <m:t>, </m:t>
                                </m:r>
                                <m:r>
                                  <m:rPr>
                                    <m:nor/>
                                  </m:rPr>
                                  <a:rPr lang="zh-CN" altLang="en-US" i="1">
                                    <a:latin typeface="Cambria Math" panose="02040503050406030204" pitchFamily="18" charset="0"/>
                                  </a:rPr>
                                  <m:t>const</m:t>
                                </m:r>
                                <m:r>
                                  <m:rPr>
                                    <m:nor/>
                                  </m:rPr>
                                  <a:rPr lang="zh-CN" altLang="en-US" i="1">
                                    <a:latin typeface="Cambria Math" panose="02040503050406030204" pitchFamily="18" charset="0"/>
                                  </a:rPr>
                                  <m:t> </m:t>
                                </m:r>
                                <m:r>
                                  <m:rPr>
                                    <m:nor/>
                                  </m:rPr>
                                  <a:rPr lang="zh-CN" altLang="en-US" i="1">
                                    <a:latin typeface="Cambria Math" panose="02040503050406030204" pitchFamily="18" charset="0"/>
                                  </a:rPr>
                                  <m:t>S</m:t>
                                </m:r>
                              </m:e>
                            </m:mr>
                          </m:m>
                        </m:e>
                      </m:d>
                    </m:oMath>
                  </m:oMathPara>
                </a14:m>
                <a:endParaRPr lang="zh-CN" altLang="en-US" dirty="0"/>
              </a:p>
            </p:txBody>
          </p:sp>
        </mc:Choice>
        <mc:Fallback xmlns="">
          <p:sp>
            <p:nvSpPr>
              <p:cNvPr id="12" name="矩形 11"/>
              <p:cNvSpPr>
                <a:spLocks noRot="1" noChangeAspect="1" noMove="1" noResize="1" noEditPoints="1" noAdjustHandles="1" noChangeArrowheads="1" noChangeShapeType="1" noTextEdit="1"/>
              </p:cNvSpPr>
              <p:nvPr/>
            </p:nvSpPr>
            <p:spPr>
              <a:xfrm>
                <a:off x="4827486" y="3057614"/>
                <a:ext cx="3149372" cy="1340880"/>
              </a:xfrm>
              <a:prstGeom prst="rect">
                <a:avLst/>
              </a:prstGeom>
              <a:blipFill rotWithShape="0">
                <a:blip r:embed="rId2"/>
                <a:stretch>
                  <a:fillRect/>
                </a:stretch>
              </a:blipFill>
            </p:spPr>
            <p:txBody>
              <a:bodyPr/>
              <a:lstStyle/>
              <a:p>
                <a:r>
                  <a:rPr lang="zh-CN" altLang="en-US">
                    <a:noFill/>
                  </a:rPr>
                  <a:t> </a:t>
                </a:r>
              </a:p>
            </p:txBody>
          </p:sp>
        </mc:Fallback>
      </mc:AlternateContent>
      <p:cxnSp>
        <p:nvCxnSpPr>
          <p:cNvPr id="3" name="直接连接符 2"/>
          <p:cNvCxnSpPr/>
          <p:nvPr/>
        </p:nvCxnSpPr>
        <p:spPr>
          <a:xfrm>
            <a:off x="1214430" y="2675238"/>
            <a:ext cx="1532237" cy="823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3099373" y="3027406"/>
            <a:ext cx="8237" cy="1345688"/>
          </a:xfrm>
          <a:prstGeom prst="line">
            <a:avLst/>
          </a:prstGeom>
        </p:spPr>
        <p:style>
          <a:lnRef idx="1">
            <a:schemeClr val="accent1"/>
          </a:lnRef>
          <a:fillRef idx="0">
            <a:schemeClr val="accent1"/>
          </a:fillRef>
          <a:effectRef idx="0">
            <a:schemeClr val="accent1"/>
          </a:effectRef>
          <a:fontRef idx="minor">
            <a:schemeClr val="tx1"/>
          </a:fontRef>
        </p:style>
      </p:cxnSp>
      <p:sp>
        <p:nvSpPr>
          <p:cNvPr id="8" name="任意多边形 7"/>
          <p:cNvSpPr/>
          <p:nvPr/>
        </p:nvSpPr>
        <p:spPr>
          <a:xfrm>
            <a:off x="1524000" y="2743200"/>
            <a:ext cx="1161535" cy="1482811"/>
          </a:xfrm>
          <a:custGeom>
            <a:avLst/>
            <a:gdLst>
              <a:gd name="connsiteX0" fmla="*/ 0 w 1161535"/>
              <a:gd name="connsiteY0" fmla="*/ 0 h 1482811"/>
              <a:gd name="connsiteX1" fmla="*/ 345989 w 1161535"/>
              <a:gd name="connsiteY1" fmla="*/ 782594 h 1482811"/>
              <a:gd name="connsiteX2" fmla="*/ 1161535 w 1161535"/>
              <a:gd name="connsiteY2" fmla="*/ 1482811 h 1482811"/>
            </a:gdLst>
            <a:ahLst/>
            <a:cxnLst>
              <a:cxn ang="0">
                <a:pos x="connsiteX0" y="connsiteY0"/>
              </a:cxn>
              <a:cxn ang="0">
                <a:pos x="connsiteX1" y="connsiteY1"/>
              </a:cxn>
              <a:cxn ang="0">
                <a:pos x="connsiteX2" y="connsiteY2"/>
              </a:cxn>
            </a:cxnLst>
            <a:rect l="l" t="t" r="r" b="b"/>
            <a:pathLst>
              <a:path w="1161535" h="1482811">
                <a:moveTo>
                  <a:pt x="0" y="0"/>
                </a:moveTo>
                <a:cubicBezTo>
                  <a:pt x="76200" y="267729"/>
                  <a:pt x="152400" y="535459"/>
                  <a:pt x="345989" y="782594"/>
                </a:cubicBezTo>
                <a:cubicBezTo>
                  <a:pt x="539578" y="1029729"/>
                  <a:pt x="850556" y="1256270"/>
                  <a:pt x="1161535" y="14828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任意多边形 12"/>
          <p:cNvSpPr/>
          <p:nvPr/>
        </p:nvSpPr>
        <p:spPr>
          <a:xfrm>
            <a:off x="1411707" y="2794686"/>
            <a:ext cx="684171" cy="1578408"/>
          </a:xfrm>
          <a:custGeom>
            <a:avLst/>
            <a:gdLst>
              <a:gd name="connsiteX0" fmla="*/ 0 w 1161535"/>
              <a:gd name="connsiteY0" fmla="*/ 0 h 1482811"/>
              <a:gd name="connsiteX1" fmla="*/ 345989 w 1161535"/>
              <a:gd name="connsiteY1" fmla="*/ 782594 h 1482811"/>
              <a:gd name="connsiteX2" fmla="*/ 1161535 w 1161535"/>
              <a:gd name="connsiteY2" fmla="*/ 1482811 h 1482811"/>
            </a:gdLst>
            <a:ahLst/>
            <a:cxnLst>
              <a:cxn ang="0">
                <a:pos x="connsiteX0" y="connsiteY0"/>
              </a:cxn>
              <a:cxn ang="0">
                <a:pos x="connsiteX1" y="connsiteY1"/>
              </a:cxn>
              <a:cxn ang="0">
                <a:pos x="connsiteX2" y="connsiteY2"/>
              </a:cxn>
            </a:cxnLst>
            <a:rect l="l" t="t" r="r" b="b"/>
            <a:pathLst>
              <a:path w="1161535" h="1482811">
                <a:moveTo>
                  <a:pt x="0" y="0"/>
                </a:moveTo>
                <a:cubicBezTo>
                  <a:pt x="76200" y="267729"/>
                  <a:pt x="152400" y="535459"/>
                  <a:pt x="345989" y="782594"/>
                </a:cubicBezTo>
                <a:cubicBezTo>
                  <a:pt x="539578" y="1029729"/>
                  <a:pt x="850556" y="1256270"/>
                  <a:pt x="1161535" y="148281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2076624" y="1095645"/>
            <a:ext cx="4730782" cy="1200329"/>
          </a:xfrm>
          <a:prstGeom prst="rect">
            <a:avLst/>
          </a:prstGeom>
        </p:spPr>
        <p:txBody>
          <a:bodyPr wrap="none">
            <a:spAutoFit/>
          </a:bodyPr>
          <a:lstStyle/>
          <a:p>
            <a:pPr marL="285750" indent="-285750">
              <a:buFont typeface="Wingdings" panose="05000000000000000000" pitchFamily="2" charset="2"/>
              <a:buChar char="ü"/>
            </a:pPr>
            <a:r>
              <a:rPr lang="en-US" altLang="zh-CN" dirty="0">
                <a:solidFill>
                  <a:srgbClr val="0000FF"/>
                </a:solidFill>
                <a:latin typeface="Arial" charset="0"/>
                <a:cs typeface="Arial" charset="0"/>
              </a:rPr>
              <a:t>Constant Volume Process, V= const.</a:t>
            </a:r>
          </a:p>
          <a:p>
            <a:pPr marL="285750" indent="-285750">
              <a:buFont typeface="Wingdings" panose="05000000000000000000" pitchFamily="2" charset="2"/>
              <a:buChar char="ü"/>
            </a:pPr>
            <a:r>
              <a:rPr lang="en-US" altLang="zh-CN" dirty="0">
                <a:solidFill>
                  <a:srgbClr val="0000FF"/>
                </a:solidFill>
                <a:latin typeface="Arial" charset="0"/>
                <a:cs typeface="Arial" charset="0"/>
              </a:rPr>
              <a:t>Constant Pressure Process, P=const.</a:t>
            </a:r>
            <a:endParaRPr lang="zh-CN" altLang="en-US" dirty="0">
              <a:solidFill>
                <a:srgbClr val="0000FF"/>
              </a:solidFill>
            </a:endParaRPr>
          </a:p>
          <a:p>
            <a:pPr marL="285750" indent="-285750">
              <a:buFont typeface="Wingdings" panose="05000000000000000000" pitchFamily="2" charset="2"/>
              <a:buChar char="ü"/>
            </a:pPr>
            <a:r>
              <a:rPr lang="en-US" altLang="zh-CN" dirty="0">
                <a:solidFill>
                  <a:srgbClr val="0000FF"/>
                </a:solidFill>
                <a:latin typeface="Arial" charset="0"/>
                <a:cs typeface="Arial" charset="0"/>
              </a:rPr>
              <a:t>Reversible Adiabatic Process, </a:t>
            </a:r>
            <a:r>
              <a:rPr lang="el-GR" altLang="zh-CN" dirty="0">
                <a:solidFill>
                  <a:srgbClr val="0000FF"/>
                </a:solidFill>
                <a:latin typeface="Times New Roman"/>
                <a:cs typeface="Times New Roman"/>
              </a:rPr>
              <a:t>δ</a:t>
            </a:r>
            <a:r>
              <a:rPr lang="en-US" altLang="zh-CN" dirty="0">
                <a:solidFill>
                  <a:srgbClr val="0000FF"/>
                </a:solidFill>
                <a:latin typeface="Arial" charset="0"/>
                <a:cs typeface="Arial" charset="0"/>
              </a:rPr>
              <a:t>q=const.</a:t>
            </a:r>
          </a:p>
          <a:p>
            <a:pPr marL="285750" indent="-285750">
              <a:buFont typeface="Wingdings" panose="05000000000000000000" pitchFamily="2" charset="2"/>
              <a:buChar char="ü"/>
            </a:pPr>
            <a:r>
              <a:rPr lang="en-US" altLang="zh-CN" dirty="0">
                <a:solidFill>
                  <a:srgbClr val="0000FF"/>
                </a:solidFill>
                <a:latin typeface="Arial" charset="0"/>
                <a:cs typeface="Arial" charset="0"/>
              </a:rPr>
              <a:t>Reversible Isothermal Process, </a:t>
            </a:r>
            <a:r>
              <a:rPr lang="el-GR" altLang="zh-CN" dirty="0">
                <a:solidFill>
                  <a:srgbClr val="0000FF"/>
                </a:solidFill>
                <a:latin typeface="Times New Roman"/>
                <a:cs typeface="Times New Roman"/>
              </a:rPr>
              <a:t>δ</a:t>
            </a:r>
            <a:r>
              <a:rPr lang="en-US" altLang="zh-CN" dirty="0">
                <a:solidFill>
                  <a:srgbClr val="0000FF"/>
                </a:solidFill>
                <a:latin typeface="Times New Roman"/>
                <a:cs typeface="Times New Roman"/>
              </a:rPr>
              <a:t>T</a:t>
            </a:r>
            <a:r>
              <a:rPr lang="en-US" altLang="zh-CN" dirty="0">
                <a:solidFill>
                  <a:srgbClr val="0000FF"/>
                </a:solidFill>
                <a:latin typeface="Arial" charset="0"/>
                <a:cs typeface="Arial" charset="0"/>
              </a:rPr>
              <a:t>=const.</a:t>
            </a:r>
            <a:endParaRPr lang="zh-CN" altLang="en-US" dirty="0">
              <a:solidFill>
                <a:srgbClr val="0000FF"/>
              </a:solidFill>
            </a:endParaRPr>
          </a:p>
        </p:txBody>
      </p:sp>
      <mc:AlternateContent xmlns:mc="http://schemas.openxmlformats.org/markup-compatibility/2006" xmlns:a14="http://schemas.microsoft.com/office/drawing/2010/main">
        <mc:Choice Requires="a14">
          <p:sp>
            <p:nvSpPr>
              <p:cNvPr id="15" name="文本框 14"/>
              <p:cNvSpPr txBox="1"/>
              <p:nvPr/>
            </p:nvSpPr>
            <p:spPr>
              <a:xfrm>
                <a:off x="228600" y="5160134"/>
                <a:ext cx="8622617" cy="923330"/>
              </a:xfrm>
              <a:prstGeom prst="rect">
                <a:avLst/>
              </a:prstGeom>
              <a:noFill/>
            </p:spPr>
            <p:txBody>
              <a:bodyPr wrap="none" rtlCol="0">
                <a:spAutoFit/>
              </a:bodyPr>
              <a:lstStyle/>
              <a:p>
                <a:r>
                  <a:rPr lang="en-US" altLang="zh-CN" b="1" dirty="0">
                    <a:solidFill>
                      <a:srgbClr val="FF0000"/>
                    </a:solidFill>
                  </a:rPr>
                  <a:t>Open question: </a:t>
                </a:r>
              </a:p>
              <a:p>
                <a:r>
                  <a:rPr lang="en-US" altLang="zh-CN" dirty="0"/>
                  <a:t>Whether a negative n is possible, give a possible process with n having a negative number.</a:t>
                </a:r>
              </a:p>
              <a:p>
                <a:r>
                  <a:rPr lang="en-US" altLang="zh-CN" dirty="0"/>
                  <a:t>Describe a case with n= 0~1; or 1~</a:t>
                </a:r>
                <a14:m>
                  <m:oMath xmlns:m="http://schemas.openxmlformats.org/officeDocument/2006/math">
                    <m:r>
                      <a:rPr lang="zh-CN" altLang="en-US" i="1">
                        <a:latin typeface="Cambria Math" panose="02040503050406030204" pitchFamily="18" charset="0"/>
                      </a:rPr>
                      <m:t>𝛾</m:t>
                    </m:r>
                  </m:oMath>
                </a14:m>
                <a:r>
                  <a:rPr lang="en-US" altLang="zh-CN" dirty="0"/>
                  <a:t>; </a:t>
                </a:r>
                <a14:m>
                  <m:oMath xmlns:m="http://schemas.openxmlformats.org/officeDocument/2006/math">
                    <m:r>
                      <a:rPr lang="zh-CN" altLang="en-US" i="1">
                        <a:latin typeface="Cambria Math" panose="02040503050406030204" pitchFamily="18" charset="0"/>
                      </a:rPr>
                      <m:t>𝛾</m:t>
                    </m:r>
                  </m:oMath>
                </a14:m>
                <a:r>
                  <a:rPr lang="en-US" altLang="zh-CN" dirty="0"/>
                  <a:t>~</a:t>
                </a:r>
                <a:r>
                  <a:rPr lang="zh-CN" altLang="en-US" dirty="0"/>
                  <a:t> </a:t>
                </a:r>
                <a14:m>
                  <m:oMath xmlns:m="http://schemas.openxmlformats.org/officeDocument/2006/math">
                    <m:r>
                      <a:rPr lang="zh-CN" altLang="en-US">
                        <a:latin typeface="Cambria Math" panose="02040503050406030204" pitchFamily="18" charset="0"/>
                      </a:rPr>
                      <m:t>∞</m:t>
                    </m:r>
                  </m:oMath>
                </a14:m>
                <a:endParaRPr lang="zh-CN" altLang="en-US" dirty="0"/>
              </a:p>
            </p:txBody>
          </p:sp>
        </mc:Choice>
        <mc:Fallback xmlns="">
          <p:sp>
            <p:nvSpPr>
              <p:cNvPr id="15" name="文本框 14"/>
              <p:cNvSpPr txBox="1">
                <a:spLocks noRot="1" noChangeAspect="1" noMove="1" noResize="1" noEditPoints="1" noAdjustHandles="1" noChangeArrowheads="1" noChangeShapeType="1" noTextEdit="1"/>
              </p:cNvSpPr>
              <p:nvPr/>
            </p:nvSpPr>
            <p:spPr>
              <a:xfrm>
                <a:off x="228600" y="5160134"/>
                <a:ext cx="8622617" cy="923330"/>
              </a:xfrm>
              <a:prstGeom prst="rect">
                <a:avLst/>
              </a:prstGeom>
              <a:blipFill rotWithShape="0">
                <a:blip r:embed="rId3"/>
                <a:stretch>
                  <a:fillRect l="-636" t="-3289" b="-92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76026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6178</TotalTime>
  <Words>2146</Words>
  <Application>Microsoft Office PowerPoint</Application>
  <PresentationFormat>全屏显示(4:3)</PresentationFormat>
  <Paragraphs>266</Paragraphs>
  <Slides>40</Slides>
  <Notes>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40</vt:i4>
      </vt:variant>
    </vt:vector>
  </HeadingPairs>
  <TitlesOfParts>
    <vt:vector size="56" baseType="lpstr">
      <vt:lpstr>Arial Unicode MS</vt:lpstr>
      <vt:lpstr>NexusSans</vt:lpstr>
      <vt:lpstr>NexusSerif</vt:lpstr>
      <vt:lpstr>黑体</vt:lpstr>
      <vt:lpstr>微软雅黑</vt:lpstr>
      <vt:lpstr>Arial</vt:lpstr>
      <vt:lpstr>Calibri</vt:lpstr>
      <vt:lpstr>Cambria Math</vt:lpstr>
      <vt:lpstr>Roboto</vt:lpstr>
      <vt:lpstr>Symbol</vt:lpstr>
      <vt:lpstr>Times New Roman</vt:lpstr>
      <vt:lpstr>Wingdings</vt:lpstr>
      <vt:lpstr>Office Theme</vt:lpstr>
      <vt:lpstr>Equation</vt:lpstr>
      <vt:lpstr>公式</vt:lpstr>
      <vt:lpstr>Microsoft 公式 3.0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Path dependent / Independent</vt:lpstr>
      <vt:lpstr>PowerPoint 演示文稿</vt:lpstr>
      <vt:lpstr>Constant Volume Process</vt:lpstr>
      <vt:lpstr>Constant Pressure Process</vt:lpstr>
      <vt:lpstr>Reversible Adiabatic Process</vt:lpstr>
      <vt:lpstr>Reversible Adiabatic Process</vt:lpstr>
      <vt:lpstr>Reversible isothermal Process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Heat Capacity</vt:lpstr>
      <vt:lpstr>Heat Capacity: CV and CP</vt:lpstr>
      <vt:lpstr>The relation between CV and CP</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Liu WS</cp:lastModifiedBy>
  <cp:revision>203</cp:revision>
  <cp:lastPrinted>2019-09-11T07:02:27Z</cp:lastPrinted>
  <dcterms:created xsi:type="dcterms:W3CDTF">2006-08-16T00:00:00Z</dcterms:created>
  <dcterms:modified xsi:type="dcterms:W3CDTF">2022-09-04T10:11:41Z</dcterms:modified>
</cp:coreProperties>
</file>