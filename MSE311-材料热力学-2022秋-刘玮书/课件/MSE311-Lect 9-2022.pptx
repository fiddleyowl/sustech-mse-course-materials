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notesMasterIdLst>
    <p:notesMasterId r:id="rId68"/>
  </p:notesMasterIdLst>
  <p:handoutMasterIdLst>
    <p:handoutMasterId r:id="rId69"/>
  </p:handoutMasterIdLst>
  <p:sldIdLst>
    <p:sldId id="256" r:id="rId2"/>
    <p:sldId id="374" r:id="rId3"/>
    <p:sldId id="341" r:id="rId4"/>
    <p:sldId id="443" r:id="rId5"/>
    <p:sldId id="365" r:id="rId6"/>
    <p:sldId id="367" r:id="rId7"/>
    <p:sldId id="368" r:id="rId8"/>
    <p:sldId id="357" r:id="rId9"/>
    <p:sldId id="377" r:id="rId10"/>
    <p:sldId id="378" r:id="rId11"/>
    <p:sldId id="379" r:id="rId12"/>
    <p:sldId id="380" r:id="rId13"/>
    <p:sldId id="381" r:id="rId14"/>
    <p:sldId id="442" r:id="rId15"/>
    <p:sldId id="382" r:id="rId16"/>
    <p:sldId id="383" r:id="rId17"/>
    <p:sldId id="384" r:id="rId18"/>
    <p:sldId id="385" r:id="rId19"/>
    <p:sldId id="386" r:id="rId20"/>
    <p:sldId id="428" r:id="rId21"/>
    <p:sldId id="429" r:id="rId22"/>
    <p:sldId id="430" r:id="rId23"/>
    <p:sldId id="391" r:id="rId24"/>
    <p:sldId id="392" r:id="rId25"/>
    <p:sldId id="432" r:id="rId26"/>
    <p:sldId id="387" r:id="rId27"/>
    <p:sldId id="388" r:id="rId28"/>
    <p:sldId id="389" r:id="rId29"/>
    <p:sldId id="426" r:id="rId30"/>
    <p:sldId id="425" r:id="rId31"/>
    <p:sldId id="431" r:id="rId32"/>
    <p:sldId id="395" r:id="rId33"/>
    <p:sldId id="396" r:id="rId34"/>
    <p:sldId id="400" r:id="rId35"/>
    <p:sldId id="398" r:id="rId36"/>
    <p:sldId id="394" r:id="rId37"/>
    <p:sldId id="399" r:id="rId38"/>
    <p:sldId id="401" r:id="rId39"/>
    <p:sldId id="433" r:id="rId40"/>
    <p:sldId id="416" r:id="rId41"/>
    <p:sldId id="418" r:id="rId42"/>
    <p:sldId id="419" r:id="rId43"/>
    <p:sldId id="420" r:id="rId44"/>
    <p:sldId id="434" r:id="rId45"/>
    <p:sldId id="424" r:id="rId46"/>
    <p:sldId id="402" r:id="rId47"/>
    <p:sldId id="403" r:id="rId48"/>
    <p:sldId id="404" r:id="rId49"/>
    <p:sldId id="405" r:id="rId50"/>
    <p:sldId id="406" r:id="rId51"/>
    <p:sldId id="407" r:id="rId52"/>
    <p:sldId id="408" r:id="rId53"/>
    <p:sldId id="409" r:id="rId54"/>
    <p:sldId id="410" r:id="rId55"/>
    <p:sldId id="411" r:id="rId56"/>
    <p:sldId id="412" r:id="rId57"/>
    <p:sldId id="413" r:id="rId58"/>
    <p:sldId id="414" r:id="rId59"/>
    <p:sldId id="415" r:id="rId60"/>
    <p:sldId id="436" r:id="rId61"/>
    <p:sldId id="437" r:id="rId62"/>
    <p:sldId id="438" r:id="rId63"/>
    <p:sldId id="441" r:id="rId64"/>
    <p:sldId id="439" r:id="rId65"/>
    <p:sldId id="435" r:id="rId66"/>
    <p:sldId id="440" r:id="rId67"/>
  </p:sldIdLst>
  <p:sldSz cx="9144000" cy="6858000" type="screen4x3"/>
  <p:notesSz cx="6669088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70AD47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D976CF-0D95-9341-9891-3CEC92E2F47D}" v="1" dt="2022-10-26T03:02:00.8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2713" autoAdjust="0"/>
  </p:normalViewPr>
  <p:slideViewPr>
    <p:cSldViewPr snapToGrid="0">
      <p:cViewPr varScale="1">
        <p:scale>
          <a:sx n="103" d="100"/>
          <a:sy n="103" d="100"/>
        </p:scale>
        <p:origin x="188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75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ip Zhan" userId="fd0cb2f6-9dd6-4afa-a340-ca04f7968bbe" providerId="ADAL" clId="{14D976CF-0D95-9341-9891-3CEC92E2F47D}"/>
    <pc:docChg chg="custSel modSld">
      <pc:chgData name="Philip Zhan" userId="fd0cb2f6-9dd6-4afa-a340-ca04f7968bbe" providerId="ADAL" clId="{14D976CF-0D95-9341-9891-3CEC92E2F47D}" dt="2022-10-26T03:02:04.265" v="3"/>
      <pc:docMkLst>
        <pc:docMk/>
      </pc:docMkLst>
      <pc:sldChg chg="modSp mod">
        <pc:chgData name="Philip Zhan" userId="fd0cb2f6-9dd6-4afa-a340-ca04f7968bbe" providerId="ADAL" clId="{14D976CF-0D95-9341-9891-3CEC92E2F47D}" dt="2022-10-26T03:02:01.585" v="1" actId="27636"/>
        <pc:sldMkLst>
          <pc:docMk/>
          <pc:sldMk cId="4290144564" sldId="365"/>
        </pc:sldMkLst>
        <pc:spChg chg="mod">
          <ac:chgData name="Philip Zhan" userId="fd0cb2f6-9dd6-4afa-a340-ca04f7968bbe" providerId="ADAL" clId="{14D976CF-0D95-9341-9891-3CEC92E2F47D}" dt="2022-10-26T03:02:01.585" v="1" actId="27636"/>
          <ac:spMkLst>
            <pc:docMk/>
            <pc:sldMk cId="4290144564" sldId="365"/>
            <ac:spMk id="13" creationId="{00000000-0000-0000-0000-000000000000}"/>
          </ac:spMkLst>
        </pc:spChg>
      </pc:sldChg>
      <pc:sldChg chg="addSp delSp modSp mod">
        <pc:chgData name="Philip Zhan" userId="fd0cb2f6-9dd6-4afa-a340-ca04f7968bbe" providerId="ADAL" clId="{14D976CF-0D95-9341-9891-3CEC92E2F47D}" dt="2022-10-26T03:02:04.265" v="3"/>
        <pc:sldMkLst>
          <pc:docMk/>
          <pc:sldMk cId="404636891" sldId="383"/>
        </pc:sldMkLst>
        <pc:spChg chg="add del mod">
          <ac:chgData name="Philip Zhan" userId="fd0cb2f6-9dd6-4afa-a340-ca04f7968bbe" providerId="ADAL" clId="{14D976CF-0D95-9341-9891-3CEC92E2F47D}" dt="2022-10-26T03:02:04.265" v="3"/>
          <ac:spMkLst>
            <pc:docMk/>
            <pc:sldMk cId="404636891" sldId="383"/>
            <ac:spMk id="2" creationId="{4FB2ED66-BAD1-A5EF-D412-FB0D4B1C30C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8D606E-817F-4225-A493-5E3C4C75FF08}" type="datetimeFigureOut">
              <a:rPr lang="zh-CN" altLang="en-US" smtClean="0"/>
              <a:pPr/>
              <a:t>2022/10/26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77607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640143-1556-458C-9C74-16E858D4F19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2657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A478E-90E3-4BE0-BF7B-B1AD7461FEF4}" type="datetimeFigureOut">
              <a:rPr lang="zh-CN" altLang="en-US" smtClean="0"/>
              <a:pPr/>
              <a:t>2022/10/26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01725" y="1241425"/>
            <a:ext cx="4465638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66909" y="4777194"/>
            <a:ext cx="533527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889938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777607" y="9428584"/>
            <a:ext cx="2889938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497359-BD37-41E1-AF95-71E7D52515A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872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Darwin–Fowler method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97359-BD37-41E1-AF95-71E7D52515A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718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15B35-E690-43F4-98A8-E3EB6870779A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983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97359-BD37-41E1-AF95-71E7D52515AE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8072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>
                <a:solidFill>
                  <a:srgbClr val="222222"/>
                </a:solidFill>
                <a:latin typeface="Times New Roman" panose="02020603050405020304" pitchFamily="18" charset="0"/>
              </a:rPr>
              <a:t>arcsin</a:t>
            </a:r>
            <a:r>
              <a:rPr lang="en-US" altLang="zh-CN" dirty="0">
                <a:solidFill>
                  <a:srgbClr val="222222"/>
                </a:solidFill>
                <a:latin typeface="Times New Roman" panose="02020603050405020304" pitchFamily="18" charset="0"/>
              </a:rPr>
              <a:t> </a:t>
            </a:r>
            <a:r>
              <a:rPr lang="en-US" altLang="zh-CN" i="1" dirty="0">
                <a:solidFill>
                  <a:srgbClr val="22222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222222"/>
                </a:solidFill>
                <a:latin typeface="Times New Roman" panose="02020603050405020304" pitchFamily="18" charset="0"/>
              </a:rPr>
              <a:t> = sin</a:t>
            </a:r>
            <a:r>
              <a:rPr lang="en-US" altLang="zh-CN" baseline="30000" dirty="0">
                <a:solidFill>
                  <a:srgbClr val="222222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 i="1" dirty="0">
                <a:solidFill>
                  <a:srgbClr val="222222"/>
                </a:solidFill>
                <a:latin typeface="Times New Roman" panose="02020603050405020304" pitchFamily="18" charset="0"/>
              </a:rPr>
              <a:t> x</a:t>
            </a:r>
            <a:r>
              <a:rPr lang="en-US" altLang="zh-CN" dirty="0">
                <a:solidFill>
                  <a:srgbClr val="222222"/>
                </a:solidFill>
                <a:latin typeface="Times New Roman" panose="02020603050405020304" pitchFamily="18" charset="0"/>
              </a:rPr>
              <a:t> </a:t>
            </a:r>
            <a:r>
              <a:rPr lang="zh-CN" altLang="en-US" dirty="0">
                <a:solidFill>
                  <a:srgbClr val="222222"/>
                </a:solidFill>
                <a:latin typeface="Times New Roman" panose="02020603050405020304" pitchFamily="18" charset="0"/>
              </a:rPr>
              <a:t>，</a:t>
            </a:r>
            <a:b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sin( </a:t>
            </a:r>
            <a:r>
              <a:rPr lang="en-US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arcsin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) = 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497359-BD37-41E1-AF95-71E7D52515AE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598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幻灯片图像占位符 1">
            <a:extLst>
              <a:ext uri="{FF2B5EF4-FFF2-40B4-BE49-F238E27FC236}">
                <a16:creationId xmlns:a16="http://schemas.microsoft.com/office/drawing/2014/main" id="{37652969-BD49-8A41-9A80-605BBF6C84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2" name="备注占位符 2">
            <a:extLst>
              <a:ext uri="{FF2B5EF4-FFF2-40B4-BE49-F238E27FC236}">
                <a16:creationId xmlns:a16="http://schemas.microsoft.com/office/drawing/2014/main" id="{67C83D08-4E7F-2D41-AAD9-8834E6F5839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zh-CN" altLang="en-US"/>
          </a:p>
        </p:txBody>
      </p:sp>
      <p:sp>
        <p:nvSpPr>
          <p:cNvPr id="56323" name="灯片编号占位符 3">
            <a:extLst>
              <a:ext uri="{FF2B5EF4-FFF2-40B4-BE49-F238E27FC236}">
                <a16:creationId xmlns:a16="http://schemas.microsoft.com/office/drawing/2014/main" id="{3C626580-8EB0-4A4C-8F5A-C26453BFB3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46F1CF6-B956-AA49-BCD3-378318C66A25}" type="slidenum">
              <a:rPr kumimoji="0" lang="zh-CN" altLang="en-US" sz="1200"/>
              <a:pPr/>
              <a:t>34</a:t>
            </a:fld>
            <a:endParaRPr kumimoji="0"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162373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幻灯片图像占位符 1">
            <a:extLst>
              <a:ext uri="{FF2B5EF4-FFF2-40B4-BE49-F238E27FC236}">
                <a16:creationId xmlns:a16="http://schemas.microsoft.com/office/drawing/2014/main" id="{3DBD32D0-730E-C94D-81B1-70C3F0EC030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8" name="备注占位符 2">
            <a:extLst>
              <a:ext uri="{FF2B5EF4-FFF2-40B4-BE49-F238E27FC236}">
                <a16:creationId xmlns:a16="http://schemas.microsoft.com/office/drawing/2014/main" id="{9A2DD248-77B9-F445-B27D-6720C84C638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zh-CN" altLang="en-US"/>
          </a:p>
        </p:txBody>
      </p:sp>
      <p:sp>
        <p:nvSpPr>
          <p:cNvPr id="60419" name="灯片编号占位符 3">
            <a:extLst>
              <a:ext uri="{FF2B5EF4-FFF2-40B4-BE49-F238E27FC236}">
                <a16:creationId xmlns:a16="http://schemas.microsoft.com/office/drawing/2014/main" id="{469E9D5B-7BDB-DC47-B621-E820107162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FA5D3DDD-0F94-C348-8396-86C7521394BE}" type="slidenum">
              <a:rPr kumimoji="0" lang="zh-CN" altLang="en-US" sz="1200"/>
              <a:pPr/>
              <a:t>38</a:t>
            </a:fld>
            <a:endParaRPr kumimoji="0"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333935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从研究历史也可以发现固体的比热大致包含以下几类：晶体比热、电子比热、磁比热、异常比热</a:t>
            </a:r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1800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布莱克首次提出比热的概念</a:t>
            </a:r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1819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杜隆泊替定律</a:t>
            </a:r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1831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纽曼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科普定律进一步发展了杜隆泊替定律</a:t>
            </a:r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1907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年随着低温技术的发展，随着温度的降低，比热迅速减小，爱因斯坦基于量子理论提出了爱因斯坦模型</a:t>
            </a:r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1912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年，随着温度的进一步降低，在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20K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以下，爱因斯坦模型和实验结果差别较大，德拜提出德拜模型</a:t>
            </a:r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1928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年索末菲提出自由电子气模型，并由此推导出了电子比热</a:t>
            </a:r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1963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年，</a:t>
            </a:r>
            <a:r>
              <a:rPr lang="en-US" altLang="zh-CN" sz="1200" b="1" dirty="0"/>
              <a:t>Rosenberg</a:t>
            </a:r>
            <a:r>
              <a:rPr lang="zh-CN" altLang="en-US" sz="1200" b="1" dirty="0"/>
              <a:t>提出了固体中的肖特基异常比热</a:t>
            </a:r>
            <a:endParaRPr lang="en-US" altLang="zh-CN" sz="1200" b="1" dirty="0"/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/>
              <a:t>1980</a:t>
            </a:r>
            <a:r>
              <a:rPr lang="zh-CN" altLang="en-US" sz="1200" b="1" dirty="0"/>
              <a:t>年，</a:t>
            </a:r>
            <a:r>
              <a:rPr lang="en-US" altLang="zh-CN" sz="1200" b="1" dirty="0"/>
              <a:t>Sinha and Kumar</a:t>
            </a:r>
            <a:r>
              <a:rPr lang="zh-CN" altLang="en-US" sz="1200" b="1" dirty="0"/>
              <a:t>在前人的基础上系统的提出了各种磁作用的比热</a:t>
            </a:r>
            <a:endParaRPr lang="en-US" altLang="zh-CN" sz="1200" b="1" dirty="0"/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/>
              <a:t>1992</a:t>
            </a:r>
            <a:r>
              <a:rPr lang="zh-CN" altLang="en-US" sz="1200" b="1" dirty="0"/>
              <a:t>年，</a:t>
            </a:r>
            <a:r>
              <a:rPr lang="en-US" altLang="zh-CN" sz="1200" b="1" dirty="0"/>
              <a:t>Elliott</a:t>
            </a:r>
            <a:r>
              <a:rPr lang="zh-CN" altLang="en-US" sz="1200" b="1" dirty="0"/>
              <a:t>首次发现了波色峰</a:t>
            </a:r>
            <a:endParaRPr lang="en-US" altLang="zh-CN" sz="1200" b="1" dirty="0"/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/>
              <a:t>2010-2020</a:t>
            </a:r>
            <a:r>
              <a:rPr lang="zh-CN" altLang="en-US" sz="1200" b="1" dirty="0"/>
              <a:t>进入</a:t>
            </a:r>
            <a:r>
              <a:rPr lang="en-US" altLang="zh-CN" sz="1200" b="1" dirty="0"/>
              <a:t>21</a:t>
            </a:r>
            <a:r>
              <a:rPr lang="zh-CN" altLang="en-US" sz="1200" b="1" dirty="0"/>
              <a:t>世纪，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比热的研究主要集中在量热学、新型比热拟合模型的开发、比热在物理现象解析中的应用</a:t>
            </a:r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97359-BD37-41E1-AF95-71E7D52515AE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68375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15B35-E690-43F4-98A8-E3EB6870779A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390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9">
            <a:extLst>
              <a:ext uri="{FF2B5EF4-FFF2-40B4-BE49-F238E27FC236}">
                <a16:creationId xmlns:a16="http://schemas.microsoft.com/office/drawing/2014/main" id="{36484A2C-39A1-4BDC-B92B-AF52D58B0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5035550"/>
            <a:ext cx="114300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11">
            <a:extLst>
              <a:ext uri="{FF2B5EF4-FFF2-40B4-BE49-F238E27FC236}">
                <a16:creationId xmlns:a16="http://schemas.microsoft.com/office/drawing/2014/main" id="{56818F0A-1B6A-44A9-9717-55DA1C8C1ED4}"/>
              </a:ext>
            </a:extLst>
          </p:cNvPr>
          <p:cNvGrpSpPr>
            <a:grpSpLocks/>
          </p:cNvGrpSpPr>
          <p:nvPr/>
        </p:nvGrpSpPr>
        <p:grpSpPr bwMode="auto">
          <a:xfrm>
            <a:off x="0" y="4741863"/>
            <a:ext cx="9043988" cy="142875"/>
            <a:chOff x="76199" y="1241003"/>
            <a:chExt cx="9044401" cy="144000"/>
          </a:xfrm>
        </p:grpSpPr>
        <p:sp>
          <p:nvSpPr>
            <p:cNvPr id="9" name="圆角矩形 11">
              <a:extLst>
                <a:ext uri="{FF2B5EF4-FFF2-40B4-BE49-F238E27FC236}">
                  <a16:creationId xmlns:a16="http://schemas.microsoft.com/office/drawing/2014/main" id="{2658448A-EA7B-40C8-99E5-5CDD7E4A2B5E}"/>
                </a:ext>
              </a:extLst>
            </p:cNvPr>
            <p:cNvSpPr/>
            <p:nvPr/>
          </p:nvSpPr>
          <p:spPr>
            <a:xfrm>
              <a:off x="76199" y="1241003"/>
              <a:ext cx="1487556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2">
              <a:extLst>
                <a:ext uri="{FF2B5EF4-FFF2-40B4-BE49-F238E27FC236}">
                  <a16:creationId xmlns:a16="http://schemas.microsoft.com/office/drawing/2014/main" id="{0F1BA9DE-48A6-4320-A3CB-CA0618F88CA6}"/>
                </a:ext>
              </a:extLst>
            </p:cNvPr>
            <p:cNvSpPr/>
            <p:nvPr/>
          </p:nvSpPr>
          <p:spPr>
            <a:xfrm>
              <a:off x="1630433" y="1241003"/>
              <a:ext cx="3103704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1" name="圆角矩形 13">
              <a:extLst>
                <a:ext uri="{FF2B5EF4-FFF2-40B4-BE49-F238E27FC236}">
                  <a16:creationId xmlns:a16="http://schemas.microsoft.com/office/drawing/2014/main" id="{95532181-9B56-4565-85B0-26FAE243974A}"/>
                </a:ext>
              </a:extLst>
            </p:cNvPr>
            <p:cNvSpPr/>
            <p:nvPr/>
          </p:nvSpPr>
          <p:spPr>
            <a:xfrm>
              <a:off x="4800815" y="1241003"/>
              <a:ext cx="4319785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2" name="图片 18">
            <a:extLst>
              <a:ext uri="{FF2B5EF4-FFF2-40B4-BE49-F238E27FC236}">
                <a16:creationId xmlns:a16="http://schemas.microsoft.com/office/drawing/2014/main" id="{C6EF10A3-5E14-4AC4-BEC5-788C4A6AB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035550"/>
            <a:ext cx="4313238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20">
            <a:extLst>
              <a:ext uri="{FF2B5EF4-FFF2-40B4-BE49-F238E27FC236}">
                <a16:creationId xmlns:a16="http://schemas.microsoft.com/office/drawing/2014/main" id="{E5368EC2-A439-426F-9848-8912DFFAC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5035550"/>
            <a:ext cx="3019425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图片 3">
            <a:extLst>
              <a:ext uri="{FF2B5EF4-FFF2-40B4-BE49-F238E27FC236}">
                <a16:creationId xmlns:a16="http://schemas.microsoft.com/office/drawing/2014/main" id="{DB79EDD7-2DA9-41B8-BF25-43496C7096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" t="5525" r="8671" b="8884"/>
          <a:stretch/>
        </p:blipFill>
        <p:spPr bwMode="auto">
          <a:xfrm>
            <a:off x="106362" y="56707"/>
            <a:ext cx="4366401" cy="101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图片 9">
            <a:extLst>
              <a:ext uri="{FF2B5EF4-FFF2-40B4-BE49-F238E27FC236}">
                <a16:creationId xmlns:a16="http://schemas.microsoft.com/office/drawing/2014/main" id="{AAD387B1-3103-410C-8A6F-61D494AEAD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5035550"/>
            <a:ext cx="114300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11">
            <a:extLst>
              <a:ext uri="{FF2B5EF4-FFF2-40B4-BE49-F238E27FC236}">
                <a16:creationId xmlns:a16="http://schemas.microsoft.com/office/drawing/2014/main" id="{EF2F75DC-2FDE-4EE3-8E34-8BABCC7179F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4741863"/>
            <a:ext cx="9043988" cy="142875"/>
            <a:chOff x="76199" y="1241003"/>
            <a:chExt cx="9044401" cy="144000"/>
          </a:xfrm>
        </p:grpSpPr>
        <p:sp>
          <p:nvSpPr>
            <p:cNvPr id="17" name="圆角矩形 11">
              <a:extLst>
                <a:ext uri="{FF2B5EF4-FFF2-40B4-BE49-F238E27FC236}">
                  <a16:creationId xmlns:a16="http://schemas.microsoft.com/office/drawing/2014/main" id="{367FAD37-4817-483B-B455-9B9EAAFE7BD8}"/>
                </a:ext>
              </a:extLst>
            </p:cNvPr>
            <p:cNvSpPr/>
            <p:nvPr/>
          </p:nvSpPr>
          <p:spPr>
            <a:xfrm>
              <a:off x="76199" y="1241003"/>
              <a:ext cx="1487556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8" name="圆角矩形 12">
              <a:extLst>
                <a:ext uri="{FF2B5EF4-FFF2-40B4-BE49-F238E27FC236}">
                  <a16:creationId xmlns:a16="http://schemas.microsoft.com/office/drawing/2014/main" id="{405E6F80-4ED3-42FA-B9E2-EC6BC04F1A02}"/>
                </a:ext>
              </a:extLst>
            </p:cNvPr>
            <p:cNvSpPr/>
            <p:nvPr/>
          </p:nvSpPr>
          <p:spPr>
            <a:xfrm>
              <a:off x="1630433" y="1241003"/>
              <a:ext cx="3103704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9" name="圆角矩形 13">
              <a:extLst>
                <a:ext uri="{FF2B5EF4-FFF2-40B4-BE49-F238E27FC236}">
                  <a16:creationId xmlns:a16="http://schemas.microsoft.com/office/drawing/2014/main" id="{FFCB71A7-724E-4CF3-8659-D7FFA4994A95}"/>
                </a:ext>
              </a:extLst>
            </p:cNvPr>
            <p:cNvSpPr/>
            <p:nvPr/>
          </p:nvSpPr>
          <p:spPr>
            <a:xfrm>
              <a:off x="4800815" y="1241003"/>
              <a:ext cx="4319785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20" name="图片 18">
            <a:extLst>
              <a:ext uri="{FF2B5EF4-FFF2-40B4-BE49-F238E27FC236}">
                <a16:creationId xmlns:a16="http://schemas.microsoft.com/office/drawing/2014/main" id="{B230B797-9AF8-41D8-B5AB-3C485238D8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035550"/>
            <a:ext cx="4313238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2E52780-17F0-4F25-B262-66C011AE71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5035550"/>
            <a:ext cx="3019425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图片 3">
            <a:extLst>
              <a:ext uri="{FF2B5EF4-FFF2-40B4-BE49-F238E27FC236}">
                <a16:creationId xmlns:a16="http://schemas.microsoft.com/office/drawing/2014/main" id="{A6617996-BF24-4585-AE38-DD4FEC22395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" t="5525" r="8671" b="8884"/>
          <a:stretch/>
        </p:blipFill>
        <p:spPr bwMode="auto">
          <a:xfrm>
            <a:off x="106362" y="56707"/>
            <a:ext cx="4366401" cy="101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1452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23551FB5-644E-4958-A980-4C6B4A9B56E7}"/>
              </a:ext>
            </a:extLst>
          </p:cNvPr>
          <p:cNvGrpSpPr>
            <a:grpSpLocks/>
          </p:cNvGrpSpPr>
          <p:nvPr/>
        </p:nvGrpSpPr>
        <p:grpSpPr bwMode="auto">
          <a:xfrm>
            <a:off x="41722" y="6645423"/>
            <a:ext cx="9045575" cy="142875"/>
            <a:chOff x="76199" y="1241003"/>
            <a:chExt cx="9044401" cy="144000"/>
          </a:xfrm>
        </p:grpSpPr>
        <p:sp>
          <p:nvSpPr>
            <p:cNvPr id="8" name="圆角矩形 11">
              <a:extLst>
                <a:ext uri="{FF2B5EF4-FFF2-40B4-BE49-F238E27FC236}">
                  <a16:creationId xmlns:a16="http://schemas.microsoft.com/office/drawing/2014/main" id="{206B57DE-B2E2-477E-A47F-DA530482154A}"/>
                </a:ext>
              </a:extLst>
            </p:cNvPr>
            <p:cNvSpPr/>
            <p:nvPr/>
          </p:nvSpPr>
          <p:spPr>
            <a:xfrm>
              <a:off x="76199" y="1241003"/>
              <a:ext cx="1487294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" name="圆角矩形 12">
              <a:extLst>
                <a:ext uri="{FF2B5EF4-FFF2-40B4-BE49-F238E27FC236}">
                  <a16:creationId xmlns:a16="http://schemas.microsoft.com/office/drawing/2014/main" id="{38C3280C-D608-4B4D-8279-5808A7C72777}"/>
                </a:ext>
              </a:extLst>
            </p:cNvPr>
            <p:cNvSpPr/>
            <p:nvPr/>
          </p:nvSpPr>
          <p:spPr>
            <a:xfrm>
              <a:off x="1630159" y="1241003"/>
              <a:ext cx="3103160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3">
              <a:extLst>
                <a:ext uri="{FF2B5EF4-FFF2-40B4-BE49-F238E27FC236}">
                  <a16:creationId xmlns:a16="http://schemas.microsoft.com/office/drawing/2014/main" id="{43328620-830D-498B-AD47-8DBB81A79D3F}"/>
                </a:ext>
              </a:extLst>
            </p:cNvPr>
            <p:cNvSpPr/>
            <p:nvPr/>
          </p:nvSpPr>
          <p:spPr>
            <a:xfrm>
              <a:off x="4799986" y="1241003"/>
              <a:ext cx="4320614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1" name="图片 3">
            <a:extLst>
              <a:ext uri="{FF2B5EF4-FFF2-40B4-BE49-F238E27FC236}">
                <a16:creationId xmlns:a16="http://schemas.microsoft.com/office/drawing/2014/main" id="{B0C51A74-65A9-4F9C-9DAC-5C9B5FEFD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0"/>
            <a:ext cx="7762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46ADAA-5CE7-436F-BDC5-5BE32504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06671" y="6174558"/>
            <a:ext cx="442918" cy="396090"/>
          </a:xfrm>
        </p:spPr>
        <p:txBody>
          <a:bodyPr/>
          <a:lstStyle/>
          <a:p>
            <a:r>
              <a:rPr lang="en-US" altLang="zh-CN"/>
              <a:t>2</a:t>
            </a:r>
            <a:endParaRPr lang="zh-CN" altLang="en-US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BE675BB-162D-4CCA-94D2-B314C0C6F64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1722" y="6645423"/>
            <a:ext cx="9045575" cy="142875"/>
            <a:chOff x="76199" y="1241003"/>
            <a:chExt cx="9044401" cy="144000"/>
          </a:xfrm>
        </p:grpSpPr>
        <p:sp>
          <p:nvSpPr>
            <p:cNvPr id="13" name="圆角矩形 11">
              <a:extLst>
                <a:ext uri="{FF2B5EF4-FFF2-40B4-BE49-F238E27FC236}">
                  <a16:creationId xmlns:a16="http://schemas.microsoft.com/office/drawing/2014/main" id="{8497BCD2-D048-4CC6-AA21-D749E9E85DCE}"/>
                </a:ext>
              </a:extLst>
            </p:cNvPr>
            <p:cNvSpPr/>
            <p:nvPr/>
          </p:nvSpPr>
          <p:spPr>
            <a:xfrm>
              <a:off x="76199" y="1241003"/>
              <a:ext cx="1487294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4" name="圆角矩形 12">
              <a:extLst>
                <a:ext uri="{FF2B5EF4-FFF2-40B4-BE49-F238E27FC236}">
                  <a16:creationId xmlns:a16="http://schemas.microsoft.com/office/drawing/2014/main" id="{9C83145A-9A38-4389-BA55-B2DC124C7CCE}"/>
                </a:ext>
              </a:extLst>
            </p:cNvPr>
            <p:cNvSpPr/>
            <p:nvPr/>
          </p:nvSpPr>
          <p:spPr>
            <a:xfrm>
              <a:off x="1630159" y="1241003"/>
              <a:ext cx="3103160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5" name="圆角矩形 13">
              <a:extLst>
                <a:ext uri="{FF2B5EF4-FFF2-40B4-BE49-F238E27FC236}">
                  <a16:creationId xmlns:a16="http://schemas.microsoft.com/office/drawing/2014/main" id="{5F30C916-99CD-41F6-B9F5-44A06301974D}"/>
                </a:ext>
              </a:extLst>
            </p:cNvPr>
            <p:cNvSpPr/>
            <p:nvPr/>
          </p:nvSpPr>
          <p:spPr>
            <a:xfrm>
              <a:off x="4799986" y="1241003"/>
              <a:ext cx="4320614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6" name="图片 3">
            <a:extLst>
              <a:ext uri="{FF2B5EF4-FFF2-40B4-BE49-F238E27FC236}">
                <a16:creationId xmlns:a16="http://schemas.microsoft.com/office/drawing/2014/main" id="{408ADF0C-ACC1-4673-9FB1-66E00A8197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0"/>
            <a:ext cx="7762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6539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6473A-FAF4-414C-9522-3C4BCFE2B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16" y="3100647"/>
            <a:ext cx="7886700" cy="867940"/>
          </a:xfrm>
        </p:spPr>
        <p:txBody>
          <a:bodyPr anchor="b"/>
          <a:lstStyle>
            <a:lvl1pPr>
              <a:defRPr sz="4500">
                <a:latin typeface="Arial Unicode MS" pitchFamily="34" charset="-122"/>
                <a:ea typeface="Arial Unicode MS" pitchFamily="34" charset="-122"/>
                <a:cs typeface="Arial Unicode MS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圆角矩形 5">
            <a:extLst>
              <a:ext uri="{FF2B5EF4-FFF2-40B4-BE49-F238E27FC236}">
                <a16:creationId xmlns:a16="http://schemas.microsoft.com/office/drawing/2014/main" id="{3BD87344-C6CA-4F87-9448-0B8B7FAF9E1B}"/>
              </a:ext>
            </a:extLst>
          </p:cNvPr>
          <p:cNvSpPr/>
          <p:nvPr userDrawn="1"/>
        </p:nvSpPr>
        <p:spPr>
          <a:xfrm>
            <a:off x="0" y="4044001"/>
            <a:ext cx="952500" cy="144000"/>
          </a:xfrm>
          <a:prstGeom prst="roundRect">
            <a:avLst>
              <a:gd name="adj" fmla="val 0"/>
            </a:avLst>
          </a:prstGeom>
          <a:solidFill>
            <a:srgbClr val="C83C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圆角矩形 6">
            <a:extLst>
              <a:ext uri="{FF2B5EF4-FFF2-40B4-BE49-F238E27FC236}">
                <a16:creationId xmlns:a16="http://schemas.microsoft.com/office/drawing/2014/main" id="{6DA4B6E9-D6DC-4952-865A-DA8EE6DB8245}"/>
              </a:ext>
            </a:extLst>
          </p:cNvPr>
          <p:cNvSpPr/>
          <p:nvPr userDrawn="1"/>
        </p:nvSpPr>
        <p:spPr>
          <a:xfrm>
            <a:off x="1014116" y="4044001"/>
            <a:ext cx="3643609" cy="144002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圆角矩形 7">
            <a:extLst>
              <a:ext uri="{FF2B5EF4-FFF2-40B4-BE49-F238E27FC236}">
                <a16:creationId xmlns:a16="http://schemas.microsoft.com/office/drawing/2014/main" id="{F7595CA0-CBC9-4927-B9FF-0B4BA5FB62ED}"/>
              </a:ext>
            </a:extLst>
          </p:cNvPr>
          <p:cNvSpPr/>
          <p:nvPr userDrawn="1"/>
        </p:nvSpPr>
        <p:spPr>
          <a:xfrm>
            <a:off x="4724400" y="4044001"/>
            <a:ext cx="4320000" cy="144000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138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232448-0BA2-40E5-A2C0-FE19F5B0E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981BA7-2F47-4ADB-915A-3DEA803B6C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E45C7A-E3DB-493E-9698-B006439AB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A42E52-6363-4A26-9F01-A62CE34E1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pPr/>
              <a:t>2022/10/26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5B047E-2EC3-4418-B2C1-A69A89700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C945B0-B70D-4BF6-A6CF-ED8DAA8C8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679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E450FD-26B7-480D-8261-CD4C51DD8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64C6F2-EDC6-4263-A281-7872A6E3C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D5D4B2-383D-449C-8900-FB1B3EB93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7ABC02C-F6DC-4DAF-938D-195593E621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A408A11-7060-4D85-B243-5DD9655566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DFAAD3C-B42A-47A7-B768-611AFC7BE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pPr/>
              <a:t>2022/10/26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1B5FF39-DD9B-4C57-A344-275219341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7BEA18A-253C-40CA-A957-3BA37B7A1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29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75BCCD-B3FE-4D64-9C90-CF64C82B1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1C5B8F4-1CBB-4613-A7A2-350FF2B86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pPr/>
              <a:t>2022/10/26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7B22DBA-ADB6-459C-8DDD-B1702C76D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426E1B-8DFB-40A0-B0EA-1E9256D1B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122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2189721-9F85-4C93-AF25-890CD11FA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pPr/>
              <a:t>2022/10/26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57016C-A313-4228-8D34-FC5C12BCC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EAED29-461C-427E-94B8-4F64E97E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515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0F51D1-5EA7-4401-99BA-1EC037C49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CF08B5-D317-4883-94CE-FAEEE05A6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6986A2-D743-430F-AA70-9B06B2C0F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817CAD-5352-4EAF-B2E4-2B49B31E3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pPr/>
              <a:t>2022/10/26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068CC4-251C-4854-9963-7DDB0C89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B0C261-FF00-4B26-B51E-6D72F060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414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CCB7F6-3B15-4872-B555-7F1565B90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BFA923F-001E-4E54-AE2E-D70CAC715E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120E55-EACB-4D2C-973C-7AE05E562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155047-D836-41BF-B4EC-6E058AC14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pPr/>
              <a:t>2022/10/26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EDD3A4-3A50-440F-A891-A798B3A6C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7A6A10-432E-4945-AF1E-64FDF90A2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899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116CF1-CD97-4DBA-A96F-F883552B4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99B747-8D5C-4895-A7EC-E7332E48E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7135EC-C807-4A0E-90F1-EE1D3601D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pPr/>
              <a:t>2022/10/26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D0FB47-2483-4992-8D35-B58CEC00D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555DE4-AE2F-40B7-AF19-7220940C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220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20F266B-DA68-452A-BFC2-0DBF135171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C26948-9D79-4503-B7E8-FB720785E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763795-09C4-4CE3-967D-39D8EED2D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pPr/>
              <a:t>2022/10/26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92961E-4D31-4C00-8456-DA422BEC9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04869D-578E-442B-AC17-5E714BDBD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998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9">
            <a:extLst>
              <a:ext uri="{FF2B5EF4-FFF2-40B4-BE49-F238E27FC236}">
                <a16:creationId xmlns:a16="http://schemas.microsoft.com/office/drawing/2014/main" id="{36484A2C-39A1-4BDC-B92B-AF52D58B0F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5035550"/>
            <a:ext cx="114300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11">
            <a:extLst>
              <a:ext uri="{FF2B5EF4-FFF2-40B4-BE49-F238E27FC236}">
                <a16:creationId xmlns:a16="http://schemas.microsoft.com/office/drawing/2014/main" id="{56818F0A-1B6A-44A9-9717-55DA1C8C1ED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4741863"/>
            <a:ext cx="9043988" cy="142875"/>
            <a:chOff x="76199" y="1241003"/>
            <a:chExt cx="9044401" cy="144000"/>
          </a:xfrm>
        </p:grpSpPr>
        <p:sp>
          <p:nvSpPr>
            <p:cNvPr id="9" name="圆角矩形 11">
              <a:extLst>
                <a:ext uri="{FF2B5EF4-FFF2-40B4-BE49-F238E27FC236}">
                  <a16:creationId xmlns:a16="http://schemas.microsoft.com/office/drawing/2014/main" id="{2658448A-EA7B-40C8-99E5-5CDD7E4A2B5E}"/>
                </a:ext>
              </a:extLst>
            </p:cNvPr>
            <p:cNvSpPr/>
            <p:nvPr/>
          </p:nvSpPr>
          <p:spPr>
            <a:xfrm>
              <a:off x="76199" y="1241003"/>
              <a:ext cx="1487556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2">
              <a:extLst>
                <a:ext uri="{FF2B5EF4-FFF2-40B4-BE49-F238E27FC236}">
                  <a16:creationId xmlns:a16="http://schemas.microsoft.com/office/drawing/2014/main" id="{0F1BA9DE-48A6-4320-A3CB-CA0618F88CA6}"/>
                </a:ext>
              </a:extLst>
            </p:cNvPr>
            <p:cNvSpPr/>
            <p:nvPr/>
          </p:nvSpPr>
          <p:spPr>
            <a:xfrm>
              <a:off x="1630433" y="1241003"/>
              <a:ext cx="3103704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1" name="圆角矩形 13">
              <a:extLst>
                <a:ext uri="{FF2B5EF4-FFF2-40B4-BE49-F238E27FC236}">
                  <a16:creationId xmlns:a16="http://schemas.microsoft.com/office/drawing/2014/main" id="{95532181-9B56-4565-85B0-26FAE243974A}"/>
                </a:ext>
              </a:extLst>
            </p:cNvPr>
            <p:cNvSpPr/>
            <p:nvPr/>
          </p:nvSpPr>
          <p:spPr>
            <a:xfrm>
              <a:off x="4800815" y="1241003"/>
              <a:ext cx="4319785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2" name="图片 18">
            <a:extLst>
              <a:ext uri="{FF2B5EF4-FFF2-40B4-BE49-F238E27FC236}">
                <a16:creationId xmlns:a16="http://schemas.microsoft.com/office/drawing/2014/main" id="{C6EF10A3-5E14-4AC4-BEC5-788C4A6ABF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035550"/>
            <a:ext cx="4313238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20">
            <a:extLst>
              <a:ext uri="{FF2B5EF4-FFF2-40B4-BE49-F238E27FC236}">
                <a16:creationId xmlns:a16="http://schemas.microsoft.com/office/drawing/2014/main" id="{E5368EC2-A439-426F-9848-8912DFFAC1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5035550"/>
            <a:ext cx="3019425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图片 3">
            <a:extLst>
              <a:ext uri="{FF2B5EF4-FFF2-40B4-BE49-F238E27FC236}">
                <a16:creationId xmlns:a16="http://schemas.microsoft.com/office/drawing/2014/main" id="{DB79EDD7-2DA9-41B8-BF25-43496C70960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" t="5525" r="8671" b="8884"/>
          <a:stretch/>
        </p:blipFill>
        <p:spPr bwMode="auto">
          <a:xfrm>
            <a:off x="106362" y="56707"/>
            <a:ext cx="4366401" cy="101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2119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23551FB5-644E-4958-A980-4C6B4A9B56E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1722" y="6645423"/>
            <a:ext cx="9045575" cy="142875"/>
            <a:chOff x="76199" y="1241003"/>
            <a:chExt cx="9044401" cy="144000"/>
          </a:xfrm>
        </p:grpSpPr>
        <p:sp>
          <p:nvSpPr>
            <p:cNvPr id="8" name="圆角矩形 11">
              <a:extLst>
                <a:ext uri="{FF2B5EF4-FFF2-40B4-BE49-F238E27FC236}">
                  <a16:creationId xmlns:a16="http://schemas.microsoft.com/office/drawing/2014/main" id="{206B57DE-B2E2-477E-A47F-DA530482154A}"/>
                </a:ext>
              </a:extLst>
            </p:cNvPr>
            <p:cNvSpPr/>
            <p:nvPr/>
          </p:nvSpPr>
          <p:spPr>
            <a:xfrm>
              <a:off x="76199" y="1241003"/>
              <a:ext cx="1487294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" name="圆角矩形 12">
              <a:extLst>
                <a:ext uri="{FF2B5EF4-FFF2-40B4-BE49-F238E27FC236}">
                  <a16:creationId xmlns:a16="http://schemas.microsoft.com/office/drawing/2014/main" id="{38C3280C-D608-4B4D-8279-5808A7C72777}"/>
                </a:ext>
              </a:extLst>
            </p:cNvPr>
            <p:cNvSpPr/>
            <p:nvPr/>
          </p:nvSpPr>
          <p:spPr>
            <a:xfrm>
              <a:off x="1630159" y="1241003"/>
              <a:ext cx="3103160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3">
              <a:extLst>
                <a:ext uri="{FF2B5EF4-FFF2-40B4-BE49-F238E27FC236}">
                  <a16:creationId xmlns:a16="http://schemas.microsoft.com/office/drawing/2014/main" id="{43328620-830D-498B-AD47-8DBB81A79D3F}"/>
                </a:ext>
              </a:extLst>
            </p:cNvPr>
            <p:cNvSpPr/>
            <p:nvPr/>
          </p:nvSpPr>
          <p:spPr>
            <a:xfrm>
              <a:off x="4799986" y="1241003"/>
              <a:ext cx="4320614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1" name="图片 3">
            <a:extLst>
              <a:ext uri="{FF2B5EF4-FFF2-40B4-BE49-F238E27FC236}">
                <a16:creationId xmlns:a16="http://schemas.microsoft.com/office/drawing/2014/main" id="{B0C51A74-65A9-4F9C-9DAC-5C9B5FEFDC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0"/>
            <a:ext cx="7762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46ADAA-5CE7-436F-BDC5-5BE32504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06671" y="6174558"/>
            <a:ext cx="442918" cy="396090"/>
          </a:xfrm>
        </p:spPr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75944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69617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23"/>
          <p:cNvGrpSpPr>
            <a:grpSpLocks/>
          </p:cNvGrpSpPr>
          <p:nvPr userDrawn="1"/>
        </p:nvGrpSpPr>
        <p:grpSpPr bwMode="auto">
          <a:xfrm>
            <a:off x="371475" y="-190500"/>
            <a:ext cx="1230313" cy="1358900"/>
            <a:chOff x="371610" y="-231341"/>
            <a:chExt cx="1230631" cy="1358900"/>
          </a:xfrm>
        </p:grpSpPr>
        <p:sp>
          <p:nvSpPr>
            <p:cNvPr id="7" name="同侧圆角矩形 6"/>
            <p:cNvSpPr/>
            <p:nvPr/>
          </p:nvSpPr>
          <p:spPr>
            <a:xfrm flipV="1">
              <a:off x="627264" y="-36078"/>
              <a:ext cx="719323" cy="9683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E81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65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" name="同侧圆角矩形 7"/>
            <p:cNvSpPr/>
            <p:nvPr/>
          </p:nvSpPr>
          <p:spPr>
            <a:xfrm flipV="1">
              <a:off x="627264" y="-36078"/>
              <a:ext cx="719323" cy="9683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E81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65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9" name="图片 29" descr="logo（背景透明）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610" y="-231341"/>
              <a:ext cx="1230631" cy="1358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" name="组合 7"/>
          <p:cNvGrpSpPr>
            <a:grpSpLocks/>
          </p:cNvGrpSpPr>
          <p:nvPr userDrawn="1"/>
        </p:nvGrpSpPr>
        <p:grpSpPr bwMode="auto">
          <a:xfrm>
            <a:off x="76200" y="2151063"/>
            <a:ext cx="9043988" cy="381000"/>
            <a:chOff x="76200" y="2151457"/>
            <a:chExt cx="9043988" cy="381000"/>
          </a:xfrm>
        </p:grpSpPr>
        <p:sp>
          <p:nvSpPr>
            <p:cNvPr id="11" name="圆角矩形 10"/>
            <p:cNvSpPr/>
            <p:nvPr/>
          </p:nvSpPr>
          <p:spPr>
            <a:xfrm>
              <a:off x="76200" y="2294332"/>
              <a:ext cx="1676400" cy="144462"/>
            </a:xfrm>
            <a:prstGeom prst="roundRect">
              <a:avLst>
                <a:gd name="adj" fmla="val 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1524000" y="2294332"/>
              <a:ext cx="3200400" cy="14446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4800600" y="2294332"/>
              <a:ext cx="4319588" cy="144462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" name="圆角矩形 13"/>
            <p:cNvSpPr/>
            <p:nvPr/>
          </p:nvSpPr>
          <p:spPr>
            <a:xfrm rot="1383523">
              <a:off x="1417638" y="2151457"/>
              <a:ext cx="215900" cy="381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 rot="1383523">
              <a:off x="4616450" y="2151457"/>
              <a:ext cx="215900" cy="381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pic>
        <p:nvPicPr>
          <p:cNvPr id="16" name="Picture 7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53" b="10274"/>
          <a:stretch>
            <a:fillRect/>
          </a:stretch>
        </p:blipFill>
        <p:spPr bwMode="auto">
          <a:xfrm>
            <a:off x="157163" y="5467350"/>
            <a:ext cx="1957387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3"/>
          <p:cNvPicPr>
            <a:picLocks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5478463"/>
            <a:ext cx="2124075" cy="126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4"/>
          <p:cNvPicPr>
            <a:picLocks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675" y="5478463"/>
            <a:ext cx="2390775" cy="126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45"/>
          <a:stretch/>
        </p:blipFill>
        <p:spPr bwMode="auto">
          <a:xfrm>
            <a:off x="6846888" y="5467351"/>
            <a:ext cx="2220912" cy="1273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3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7463" y="4702719"/>
            <a:ext cx="1506537" cy="84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TextBox 2"/>
          <p:cNvSpPr txBox="1">
            <a:spLocks noChangeArrowheads="1"/>
          </p:cNvSpPr>
          <p:nvPr userDrawn="1"/>
        </p:nvSpPr>
        <p:spPr bwMode="auto">
          <a:xfrm>
            <a:off x="8172400" y="5165911"/>
            <a:ext cx="7810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CN" sz="900" b="0" baseline="0" dirty="0">
                <a:latin typeface="黑体" panose="02010609060101010101" pitchFamily="49" charset="-122"/>
                <a:ea typeface="黑体" panose="02010609060101010101" pitchFamily="49" charset="-122"/>
              </a:rPr>
              <a:t>Since 2016</a:t>
            </a:r>
            <a:endParaRPr lang="zh-CN" altLang="en-US" sz="900" b="0" baseline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2934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6526213"/>
            <a:ext cx="6794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组合 7"/>
          <p:cNvGrpSpPr>
            <a:grpSpLocks/>
          </p:cNvGrpSpPr>
          <p:nvPr userDrawn="1"/>
        </p:nvGrpSpPr>
        <p:grpSpPr bwMode="auto">
          <a:xfrm>
            <a:off x="73025" y="6643688"/>
            <a:ext cx="8150225" cy="144462"/>
            <a:chOff x="76199" y="2293938"/>
            <a:chExt cx="9043989" cy="144462"/>
          </a:xfrm>
        </p:grpSpPr>
        <p:sp>
          <p:nvSpPr>
            <p:cNvPr id="4" name="圆角矩形 3"/>
            <p:cNvSpPr/>
            <p:nvPr/>
          </p:nvSpPr>
          <p:spPr>
            <a:xfrm>
              <a:off x="76199" y="2293938"/>
              <a:ext cx="1250727" cy="144462"/>
            </a:xfrm>
            <a:prstGeom prst="roundRect">
              <a:avLst>
                <a:gd name="adj" fmla="val 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1415005" y="2293938"/>
              <a:ext cx="3310023" cy="14446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4800776" y="2293938"/>
              <a:ext cx="4319412" cy="144462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1006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8B20F97-D093-4167-88EF-C188D3B8D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78C6B4-EDBC-4C7B-80E2-2A36D8872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B1772D-D631-4D4E-BF62-42EF4690EB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1AB40-DF97-4AB0-B63B-B6C2904246EB}" type="datetimeFigureOut">
              <a:rPr lang="zh-CN" altLang="en-US" smtClean="0"/>
              <a:pPr/>
              <a:t>2022/10/26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AFB56B-864D-497D-8AE9-5E092905F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32445E-5DFA-480A-96AF-CCD8859EA9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7FCF2-ED42-42D8-A15C-15AF5C91DC5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342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33" r:id="rId12"/>
    <p:sldLayoutId id="2147483734" r:id="rId13"/>
    <p:sldLayoutId id="2147483758" r:id="rId14"/>
    <p:sldLayoutId id="2147483759" r:id="rId15"/>
    <p:sldLayoutId id="2147483760" r:id="rId16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en.wikipedia.org/wiki/Willard_Gibbs" TargetMode="Externa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en.wikipedia.org/wiki/System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22.wmf"/><Relationship Id="rId26" Type="http://schemas.openxmlformats.org/officeDocument/2006/relationships/image" Target="../media/image26.wmf"/><Relationship Id="rId3" Type="http://schemas.openxmlformats.org/officeDocument/2006/relationships/image" Target="../media/image14.wmf"/><Relationship Id="rId21" Type="http://schemas.openxmlformats.org/officeDocument/2006/relationships/oleObject" Target="../embeddings/oleObject10.bin"/><Relationship Id="rId7" Type="http://schemas.openxmlformats.org/officeDocument/2006/relationships/image" Target="../media/image16.wmf"/><Relationship Id="rId12" Type="http://schemas.openxmlformats.org/officeDocument/2006/relationships/image" Target="../media/image19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oleObject" Target="../embeddings/oleObject1.bin"/><Relationship Id="rId16" Type="http://schemas.openxmlformats.org/officeDocument/2006/relationships/image" Target="../media/image21.wmf"/><Relationship Id="rId20" Type="http://schemas.openxmlformats.org/officeDocument/2006/relationships/image" Target="../media/image23.wmf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25.wmf"/><Relationship Id="rId5" Type="http://schemas.openxmlformats.org/officeDocument/2006/relationships/image" Target="../media/image15.wmf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66.png"/><Relationship Id="rId10" Type="http://schemas.openxmlformats.org/officeDocument/2006/relationships/image" Target="../media/image18.png"/><Relationship Id="rId19" Type="http://schemas.openxmlformats.org/officeDocument/2006/relationships/oleObject" Target="../embeddings/oleObject9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7.wmf"/><Relationship Id="rId14" Type="http://schemas.openxmlformats.org/officeDocument/2006/relationships/image" Target="../media/image20.wmf"/><Relationship Id="rId22" Type="http://schemas.openxmlformats.org/officeDocument/2006/relationships/image" Target="../media/image24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27.wmf"/><Relationship Id="rId7" Type="http://schemas.openxmlformats.org/officeDocument/2006/relationships/image" Target="../media/image28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7" Type="http://schemas.openxmlformats.org/officeDocument/2006/relationships/image" Target="../media/image15.wmf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32.wmf"/><Relationship Id="rId4" Type="http://schemas.openxmlformats.org/officeDocument/2006/relationships/oleObject" Target="../embeddings/oleObject1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33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image" Target="../media/image35.wmf"/><Relationship Id="rId7" Type="http://schemas.openxmlformats.org/officeDocument/2006/relationships/image" Target="../media/image37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36.w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38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44.wmf"/><Relationship Id="rId3" Type="http://schemas.openxmlformats.org/officeDocument/2006/relationships/image" Target="../media/image39.wmf"/><Relationship Id="rId7" Type="http://schemas.openxmlformats.org/officeDocument/2006/relationships/image" Target="../media/image41.wmf"/><Relationship Id="rId12" Type="http://schemas.openxmlformats.org/officeDocument/2006/relationships/oleObject" Target="../embeddings/oleObject29.bin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43.wmf"/><Relationship Id="rId5" Type="http://schemas.openxmlformats.org/officeDocument/2006/relationships/image" Target="../media/image40.wmf"/><Relationship Id="rId15" Type="http://schemas.openxmlformats.org/officeDocument/2006/relationships/image" Target="../media/image45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42.wmf"/><Relationship Id="rId14" Type="http://schemas.openxmlformats.org/officeDocument/2006/relationships/oleObject" Target="../embeddings/oleObject30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image" Target="../media/image54.jpeg"/><Relationship Id="rId3" Type="http://schemas.openxmlformats.org/officeDocument/2006/relationships/image" Target="../media/image48.wmf"/><Relationship Id="rId7" Type="http://schemas.openxmlformats.org/officeDocument/2006/relationships/image" Target="../media/image50.wmf"/><Relationship Id="rId12" Type="http://schemas.openxmlformats.org/officeDocument/2006/relationships/image" Target="../media/image53.jpeg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52.wmf"/><Relationship Id="rId5" Type="http://schemas.openxmlformats.org/officeDocument/2006/relationships/image" Target="../media/image49.wmf"/><Relationship Id="rId10" Type="http://schemas.openxmlformats.org/officeDocument/2006/relationships/oleObject" Target="../embeddings/oleObject35.bin"/><Relationship Id="rId4" Type="http://schemas.openxmlformats.org/officeDocument/2006/relationships/oleObject" Target="../embeddings/oleObject32.bin"/><Relationship Id="rId9" Type="http://schemas.openxmlformats.org/officeDocument/2006/relationships/image" Target="../media/image51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6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7" Type="http://schemas.openxmlformats.org/officeDocument/2006/relationships/image" Target="../media/image61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60.wmf"/><Relationship Id="rId4" Type="http://schemas.openxmlformats.org/officeDocument/2006/relationships/oleObject" Target="../embeddings/oleObject38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13" Type="http://schemas.openxmlformats.org/officeDocument/2006/relationships/image" Target="../media/image67.wmf"/><Relationship Id="rId3" Type="http://schemas.openxmlformats.org/officeDocument/2006/relationships/image" Target="../media/image62.wmf"/><Relationship Id="rId7" Type="http://schemas.openxmlformats.org/officeDocument/2006/relationships/image" Target="../media/image64.wmf"/><Relationship Id="rId12" Type="http://schemas.openxmlformats.org/officeDocument/2006/relationships/oleObject" Target="../embeddings/oleObject45.bin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66.wmf"/><Relationship Id="rId5" Type="http://schemas.openxmlformats.org/officeDocument/2006/relationships/image" Target="../media/image63.wmf"/><Relationship Id="rId10" Type="http://schemas.openxmlformats.org/officeDocument/2006/relationships/oleObject" Target="../embeddings/oleObject44.bin"/><Relationship Id="rId4" Type="http://schemas.openxmlformats.org/officeDocument/2006/relationships/oleObject" Target="../embeddings/oleObject41.bin"/><Relationship Id="rId9" Type="http://schemas.openxmlformats.org/officeDocument/2006/relationships/image" Target="../media/image65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78.wmf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5.wmf"/><Relationship Id="rId11" Type="http://schemas.openxmlformats.org/officeDocument/2006/relationships/oleObject" Target="../embeddings/oleObject50.bin"/><Relationship Id="rId5" Type="http://schemas.openxmlformats.org/officeDocument/2006/relationships/oleObject" Target="../embeddings/oleObject47.bin"/><Relationship Id="rId10" Type="http://schemas.openxmlformats.org/officeDocument/2006/relationships/image" Target="../media/image77.wmf"/><Relationship Id="rId4" Type="http://schemas.openxmlformats.org/officeDocument/2006/relationships/image" Target="../media/image74.wmf"/><Relationship Id="rId9" Type="http://schemas.openxmlformats.org/officeDocument/2006/relationships/oleObject" Target="../embeddings/oleObject49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13" Type="http://schemas.openxmlformats.org/officeDocument/2006/relationships/image" Target="../media/image84.wmf"/><Relationship Id="rId3" Type="http://schemas.openxmlformats.org/officeDocument/2006/relationships/image" Target="../media/image79.wmf"/><Relationship Id="rId7" Type="http://schemas.openxmlformats.org/officeDocument/2006/relationships/image" Target="../media/image81.wmf"/><Relationship Id="rId12" Type="http://schemas.openxmlformats.org/officeDocument/2006/relationships/oleObject" Target="../embeddings/oleObject56.bin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83.wmf"/><Relationship Id="rId5" Type="http://schemas.openxmlformats.org/officeDocument/2006/relationships/image" Target="../media/image80.wmf"/><Relationship Id="rId15" Type="http://schemas.openxmlformats.org/officeDocument/2006/relationships/image" Target="../media/image85.wmf"/><Relationship Id="rId10" Type="http://schemas.openxmlformats.org/officeDocument/2006/relationships/oleObject" Target="../embeddings/oleObject55.bin"/><Relationship Id="rId4" Type="http://schemas.openxmlformats.org/officeDocument/2006/relationships/oleObject" Target="../embeddings/oleObject52.bin"/><Relationship Id="rId9" Type="http://schemas.openxmlformats.org/officeDocument/2006/relationships/image" Target="../media/image82.wmf"/><Relationship Id="rId14" Type="http://schemas.openxmlformats.org/officeDocument/2006/relationships/oleObject" Target="../embeddings/oleObject57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13" Type="http://schemas.openxmlformats.org/officeDocument/2006/relationships/image" Target="../media/image90.wmf"/><Relationship Id="rId3" Type="http://schemas.openxmlformats.org/officeDocument/2006/relationships/image" Target="../media/image79.wmf"/><Relationship Id="rId7" Type="http://schemas.openxmlformats.org/officeDocument/2006/relationships/image" Target="../media/image87.wmf"/><Relationship Id="rId12" Type="http://schemas.openxmlformats.org/officeDocument/2006/relationships/oleObject" Target="../embeddings/oleObject63.bin"/><Relationship Id="rId2" Type="http://schemas.openxmlformats.org/officeDocument/2006/relationships/oleObject" Target="../embeddings/oleObject58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60.bin"/><Relationship Id="rId11" Type="http://schemas.openxmlformats.org/officeDocument/2006/relationships/image" Target="../media/image89.wmf"/><Relationship Id="rId5" Type="http://schemas.openxmlformats.org/officeDocument/2006/relationships/image" Target="../media/image86.wmf"/><Relationship Id="rId15" Type="http://schemas.openxmlformats.org/officeDocument/2006/relationships/image" Target="../media/image91.wmf"/><Relationship Id="rId10" Type="http://schemas.openxmlformats.org/officeDocument/2006/relationships/oleObject" Target="../embeddings/oleObject62.bin"/><Relationship Id="rId4" Type="http://schemas.openxmlformats.org/officeDocument/2006/relationships/oleObject" Target="../embeddings/oleObject59.bin"/><Relationship Id="rId9" Type="http://schemas.openxmlformats.org/officeDocument/2006/relationships/image" Target="../media/image88.wmf"/><Relationship Id="rId14" Type="http://schemas.openxmlformats.org/officeDocument/2006/relationships/oleObject" Target="../embeddings/oleObject64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gif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4.w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93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wmf"/><Relationship Id="rId2" Type="http://schemas.openxmlformats.org/officeDocument/2006/relationships/oleObject" Target="../embeddings/oleObject67.bin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6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13" Type="http://schemas.openxmlformats.org/officeDocument/2006/relationships/oleObject" Target="../embeddings/oleObject73.bin"/><Relationship Id="rId18" Type="http://schemas.openxmlformats.org/officeDocument/2006/relationships/image" Target="../media/image110.wmf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12" Type="http://schemas.openxmlformats.org/officeDocument/2006/relationships/image" Target="../media/image107.wmf"/><Relationship Id="rId17" Type="http://schemas.openxmlformats.org/officeDocument/2006/relationships/oleObject" Target="../embeddings/oleObject75.bin"/><Relationship Id="rId2" Type="http://schemas.openxmlformats.org/officeDocument/2006/relationships/image" Target="../media/image102.jpeg"/><Relationship Id="rId16" Type="http://schemas.openxmlformats.org/officeDocument/2006/relationships/image" Target="../media/image109.wmf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04.wmf"/><Relationship Id="rId11" Type="http://schemas.openxmlformats.org/officeDocument/2006/relationships/oleObject" Target="../embeddings/oleObject72.bin"/><Relationship Id="rId5" Type="http://schemas.openxmlformats.org/officeDocument/2006/relationships/oleObject" Target="../embeddings/oleObject69.bin"/><Relationship Id="rId15" Type="http://schemas.openxmlformats.org/officeDocument/2006/relationships/oleObject" Target="../embeddings/oleObject74.bin"/><Relationship Id="rId10" Type="http://schemas.openxmlformats.org/officeDocument/2006/relationships/image" Target="../media/image106.wmf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71.bin"/><Relationship Id="rId14" Type="http://schemas.openxmlformats.org/officeDocument/2006/relationships/image" Target="../media/image108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13" Type="http://schemas.openxmlformats.org/officeDocument/2006/relationships/oleObject" Target="../embeddings/oleObject81.bin"/><Relationship Id="rId18" Type="http://schemas.openxmlformats.org/officeDocument/2006/relationships/image" Target="../media/image118.wmf"/><Relationship Id="rId26" Type="http://schemas.openxmlformats.org/officeDocument/2006/relationships/image" Target="../media/image122.wmf"/><Relationship Id="rId3" Type="http://schemas.openxmlformats.org/officeDocument/2006/relationships/oleObject" Target="../embeddings/oleObject76.bin"/><Relationship Id="rId21" Type="http://schemas.openxmlformats.org/officeDocument/2006/relationships/oleObject" Target="../embeddings/oleObject85.bin"/><Relationship Id="rId7" Type="http://schemas.openxmlformats.org/officeDocument/2006/relationships/oleObject" Target="../embeddings/oleObject78.bin"/><Relationship Id="rId12" Type="http://schemas.openxmlformats.org/officeDocument/2006/relationships/image" Target="../media/image115.wmf"/><Relationship Id="rId17" Type="http://schemas.openxmlformats.org/officeDocument/2006/relationships/oleObject" Target="../embeddings/oleObject83.bin"/><Relationship Id="rId25" Type="http://schemas.openxmlformats.org/officeDocument/2006/relationships/oleObject" Target="../embeddings/oleObject87.bin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17.wmf"/><Relationship Id="rId20" Type="http://schemas.openxmlformats.org/officeDocument/2006/relationships/image" Target="../media/image119.wmf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12.wmf"/><Relationship Id="rId11" Type="http://schemas.openxmlformats.org/officeDocument/2006/relationships/oleObject" Target="../embeddings/oleObject80.bin"/><Relationship Id="rId24" Type="http://schemas.openxmlformats.org/officeDocument/2006/relationships/image" Target="../media/image121.wmf"/><Relationship Id="rId5" Type="http://schemas.openxmlformats.org/officeDocument/2006/relationships/oleObject" Target="../embeddings/oleObject77.bin"/><Relationship Id="rId15" Type="http://schemas.openxmlformats.org/officeDocument/2006/relationships/oleObject" Target="../embeddings/oleObject82.bin"/><Relationship Id="rId23" Type="http://schemas.openxmlformats.org/officeDocument/2006/relationships/oleObject" Target="../embeddings/oleObject86.bin"/><Relationship Id="rId10" Type="http://schemas.openxmlformats.org/officeDocument/2006/relationships/image" Target="../media/image114.wmf"/><Relationship Id="rId19" Type="http://schemas.openxmlformats.org/officeDocument/2006/relationships/oleObject" Target="../embeddings/oleObject84.bin"/><Relationship Id="rId4" Type="http://schemas.openxmlformats.org/officeDocument/2006/relationships/image" Target="../media/image111.wmf"/><Relationship Id="rId9" Type="http://schemas.openxmlformats.org/officeDocument/2006/relationships/oleObject" Target="../embeddings/oleObject79.bin"/><Relationship Id="rId14" Type="http://schemas.openxmlformats.org/officeDocument/2006/relationships/image" Target="../media/image116.wmf"/><Relationship Id="rId22" Type="http://schemas.openxmlformats.org/officeDocument/2006/relationships/image" Target="../media/image120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1.bin"/><Relationship Id="rId13" Type="http://schemas.openxmlformats.org/officeDocument/2006/relationships/image" Target="../media/image111.wmf"/><Relationship Id="rId18" Type="http://schemas.openxmlformats.org/officeDocument/2006/relationships/oleObject" Target="../embeddings/oleObject96.bin"/><Relationship Id="rId3" Type="http://schemas.openxmlformats.org/officeDocument/2006/relationships/image" Target="../media/image123.wmf"/><Relationship Id="rId21" Type="http://schemas.openxmlformats.org/officeDocument/2006/relationships/image" Target="../media/image131.wmf"/><Relationship Id="rId7" Type="http://schemas.openxmlformats.org/officeDocument/2006/relationships/image" Target="../media/image125.wmf"/><Relationship Id="rId12" Type="http://schemas.openxmlformats.org/officeDocument/2006/relationships/oleObject" Target="../embeddings/oleObject93.bin"/><Relationship Id="rId17" Type="http://schemas.openxmlformats.org/officeDocument/2006/relationships/image" Target="../media/image129.wmf"/><Relationship Id="rId2" Type="http://schemas.openxmlformats.org/officeDocument/2006/relationships/oleObject" Target="../embeddings/oleObject88.bin"/><Relationship Id="rId16" Type="http://schemas.openxmlformats.org/officeDocument/2006/relationships/oleObject" Target="../embeddings/oleObject95.bin"/><Relationship Id="rId20" Type="http://schemas.openxmlformats.org/officeDocument/2006/relationships/oleObject" Target="../embeddings/oleObject97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90.bin"/><Relationship Id="rId11" Type="http://schemas.openxmlformats.org/officeDocument/2006/relationships/image" Target="../media/image127.wmf"/><Relationship Id="rId24" Type="http://schemas.openxmlformats.org/officeDocument/2006/relationships/image" Target="../media/image132.wmf"/><Relationship Id="rId5" Type="http://schemas.openxmlformats.org/officeDocument/2006/relationships/image" Target="../media/image124.wmf"/><Relationship Id="rId15" Type="http://schemas.openxmlformats.org/officeDocument/2006/relationships/image" Target="../media/image128.wmf"/><Relationship Id="rId23" Type="http://schemas.openxmlformats.org/officeDocument/2006/relationships/oleObject" Target="../embeddings/oleObject99.bin"/><Relationship Id="rId10" Type="http://schemas.openxmlformats.org/officeDocument/2006/relationships/oleObject" Target="../embeddings/oleObject92.bin"/><Relationship Id="rId19" Type="http://schemas.openxmlformats.org/officeDocument/2006/relationships/image" Target="../media/image130.wmf"/><Relationship Id="rId4" Type="http://schemas.openxmlformats.org/officeDocument/2006/relationships/oleObject" Target="../embeddings/oleObject89.bin"/><Relationship Id="rId9" Type="http://schemas.openxmlformats.org/officeDocument/2006/relationships/image" Target="../media/image126.wmf"/><Relationship Id="rId14" Type="http://schemas.openxmlformats.org/officeDocument/2006/relationships/oleObject" Target="../embeddings/oleObject94.bin"/><Relationship Id="rId22" Type="http://schemas.openxmlformats.org/officeDocument/2006/relationships/oleObject" Target="../embeddings/oleObject98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wmf"/><Relationship Id="rId13" Type="http://schemas.openxmlformats.org/officeDocument/2006/relationships/oleObject" Target="../embeddings/oleObject105.bin"/><Relationship Id="rId18" Type="http://schemas.openxmlformats.org/officeDocument/2006/relationships/image" Target="../media/image109.png"/><Relationship Id="rId3" Type="http://schemas.openxmlformats.org/officeDocument/2006/relationships/oleObject" Target="../embeddings/oleObject100.bin"/><Relationship Id="rId21" Type="http://schemas.openxmlformats.org/officeDocument/2006/relationships/image" Target="../media/image112.png"/><Relationship Id="rId7" Type="http://schemas.openxmlformats.org/officeDocument/2006/relationships/oleObject" Target="../embeddings/oleObject102.bin"/><Relationship Id="rId12" Type="http://schemas.openxmlformats.org/officeDocument/2006/relationships/image" Target="../media/image135.wmf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27.wmf"/><Relationship Id="rId20" Type="http://schemas.openxmlformats.org/officeDocument/2006/relationships/image" Target="../media/image111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34.wmf"/><Relationship Id="rId11" Type="http://schemas.openxmlformats.org/officeDocument/2006/relationships/oleObject" Target="../embeddings/oleObject104.bin"/><Relationship Id="rId5" Type="http://schemas.openxmlformats.org/officeDocument/2006/relationships/oleObject" Target="../embeddings/oleObject101.bin"/><Relationship Id="rId15" Type="http://schemas.openxmlformats.org/officeDocument/2006/relationships/oleObject" Target="../embeddings/oleObject106.bin"/><Relationship Id="rId10" Type="http://schemas.openxmlformats.org/officeDocument/2006/relationships/image" Target="../media/image131.wmf"/><Relationship Id="rId19" Type="http://schemas.openxmlformats.org/officeDocument/2006/relationships/image" Target="../media/image110.png"/><Relationship Id="rId4" Type="http://schemas.openxmlformats.org/officeDocument/2006/relationships/image" Target="../media/image133.wmf"/><Relationship Id="rId9" Type="http://schemas.openxmlformats.org/officeDocument/2006/relationships/oleObject" Target="../embeddings/oleObject103.bin"/><Relationship Id="rId14" Type="http://schemas.openxmlformats.org/officeDocument/2006/relationships/image" Target="../media/image136.wmf"/><Relationship Id="rId22" Type="http://schemas.openxmlformats.org/officeDocument/2006/relationships/image" Target="../media/image1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wmf"/><Relationship Id="rId2" Type="http://schemas.openxmlformats.org/officeDocument/2006/relationships/oleObject" Target="../embeddings/oleObject107.bin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3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41.wmf"/><Relationship Id="rId5" Type="http://schemas.openxmlformats.org/officeDocument/2006/relationships/oleObject" Target="../embeddings/oleObject108.bin"/><Relationship Id="rId4" Type="http://schemas.openxmlformats.org/officeDocument/2006/relationships/image" Target="../media/image14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2.bin"/><Relationship Id="rId13" Type="http://schemas.openxmlformats.org/officeDocument/2006/relationships/image" Target="../media/image147.wmf"/><Relationship Id="rId18" Type="http://schemas.openxmlformats.org/officeDocument/2006/relationships/oleObject" Target="../embeddings/oleObject117.bin"/><Relationship Id="rId3" Type="http://schemas.openxmlformats.org/officeDocument/2006/relationships/image" Target="../media/image142.wmf"/><Relationship Id="rId21" Type="http://schemas.openxmlformats.org/officeDocument/2006/relationships/image" Target="../media/image151.wmf"/><Relationship Id="rId7" Type="http://schemas.openxmlformats.org/officeDocument/2006/relationships/image" Target="../media/image144.wmf"/><Relationship Id="rId12" Type="http://schemas.openxmlformats.org/officeDocument/2006/relationships/oleObject" Target="../embeddings/oleObject114.bin"/><Relationship Id="rId17" Type="http://schemas.openxmlformats.org/officeDocument/2006/relationships/image" Target="../media/image149.wmf"/><Relationship Id="rId25" Type="http://schemas.openxmlformats.org/officeDocument/2006/relationships/image" Target="../media/image153.wmf"/><Relationship Id="rId2" Type="http://schemas.openxmlformats.org/officeDocument/2006/relationships/oleObject" Target="../embeddings/oleObject109.bin"/><Relationship Id="rId16" Type="http://schemas.openxmlformats.org/officeDocument/2006/relationships/oleObject" Target="../embeddings/oleObject116.bin"/><Relationship Id="rId20" Type="http://schemas.openxmlformats.org/officeDocument/2006/relationships/oleObject" Target="../embeddings/oleObject118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111.bin"/><Relationship Id="rId11" Type="http://schemas.openxmlformats.org/officeDocument/2006/relationships/image" Target="../media/image146.wmf"/><Relationship Id="rId24" Type="http://schemas.openxmlformats.org/officeDocument/2006/relationships/oleObject" Target="../embeddings/oleObject120.bin"/><Relationship Id="rId5" Type="http://schemas.openxmlformats.org/officeDocument/2006/relationships/image" Target="../media/image143.wmf"/><Relationship Id="rId15" Type="http://schemas.openxmlformats.org/officeDocument/2006/relationships/image" Target="../media/image148.wmf"/><Relationship Id="rId23" Type="http://schemas.openxmlformats.org/officeDocument/2006/relationships/image" Target="../media/image152.wmf"/><Relationship Id="rId10" Type="http://schemas.openxmlformats.org/officeDocument/2006/relationships/oleObject" Target="../embeddings/oleObject113.bin"/><Relationship Id="rId19" Type="http://schemas.openxmlformats.org/officeDocument/2006/relationships/image" Target="../media/image150.wmf"/><Relationship Id="rId4" Type="http://schemas.openxmlformats.org/officeDocument/2006/relationships/oleObject" Target="../embeddings/oleObject110.bin"/><Relationship Id="rId9" Type="http://schemas.openxmlformats.org/officeDocument/2006/relationships/image" Target="../media/image145.wmf"/><Relationship Id="rId14" Type="http://schemas.openxmlformats.org/officeDocument/2006/relationships/oleObject" Target="../embeddings/oleObject115.bin"/><Relationship Id="rId22" Type="http://schemas.openxmlformats.org/officeDocument/2006/relationships/oleObject" Target="../embeddings/oleObject119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emf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7" Type="http://schemas.openxmlformats.org/officeDocument/2006/relationships/image" Target="../media/image160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59.png"/><Relationship Id="rId5" Type="http://schemas.openxmlformats.org/officeDocument/2006/relationships/image" Target="../media/image158.png"/><Relationship Id="rId4" Type="http://schemas.openxmlformats.org/officeDocument/2006/relationships/image" Target="../media/image15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oleObject" Target="../embeddings/oleObject121.bin"/><Relationship Id="rId7" Type="http://schemas.openxmlformats.org/officeDocument/2006/relationships/oleObject" Target="../embeddings/oleObject12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122.bin"/><Relationship Id="rId10" Type="http://schemas.openxmlformats.org/officeDocument/2006/relationships/image" Target="../media/image162.wmf"/><Relationship Id="rId4" Type="http://schemas.openxmlformats.org/officeDocument/2006/relationships/image" Target="../media/image161.wmf"/><Relationship Id="rId9" Type="http://schemas.openxmlformats.org/officeDocument/2006/relationships/oleObject" Target="../embeddings/oleObject124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00.png"/><Relationship Id="rId7" Type="http://schemas.openxmlformats.org/officeDocument/2006/relationships/image" Target="../media/image144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430.png"/><Relationship Id="rId5" Type="http://schemas.openxmlformats.org/officeDocument/2006/relationships/image" Target="../media/image1420.png"/><Relationship Id="rId4" Type="http://schemas.openxmlformats.org/officeDocument/2006/relationships/image" Target="../media/image165.png"/><Relationship Id="rId9" Type="http://schemas.openxmlformats.org/officeDocument/2006/relationships/image" Target="../media/image14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7" Type="http://schemas.openxmlformats.org/officeDocument/2006/relationships/image" Target="../media/image152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560.png"/><Relationship Id="rId4" Type="http://schemas.openxmlformats.org/officeDocument/2006/relationships/image" Target="../media/image155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emf"/><Relationship Id="rId3" Type="http://schemas.openxmlformats.org/officeDocument/2006/relationships/image" Target="../media/image172.emf"/><Relationship Id="rId7" Type="http://schemas.openxmlformats.org/officeDocument/2006/relationships/image" Target="../media/image176.emf"/><Relationship Id="rId2" Type="http://schemas.openxmlformats.org/officeDocument/2006/relationships/image" Target="../media/image171.jpe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75.emf"/><Relationship Id="rId5" Type="http://schemas.openxmlformats.org/officeDocument/2006/relationships/image" Target="../media/image174.emf"/><Relationship Id="rId4" Type="http://schemas.openxmlformats.org/officeDocument/2006/relationships/image" Target="../media/image173.e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80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8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86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png"/><Relationship Id="rId3" Type="http://schemas.openxmlformats.org/officeDocument/2006/relationships/oleObject" Target="../embeddings/oleObject125.bin"/><Relationship Id="rId7" Type="http://schemas.openxmlformats.org/officeDocument/2006/relationships/image" Target="../media/image181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88.wmf"/><Relationship Id="rId5" Type="http://schemas.openxmlformats.org/officeDocument/2006/relationships/oleObject" Target="../embeddings/oleObject126.bin"/><Relationship Id="rId4" Type="http://schemas.openxmlformats.org/officeDocument/2006/relationships/image" Target="../media/image42.wmf"/><Relationship Id="rId9" Type="http://schemas.openxmlformats.org/officeDocument/2006/relationships/hyperlink" Target="https://www.researchgate.net/journal/1359-6454_Acta_Materialia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wmf"/><Relationship Id="rId2" Type="http://schemas.openxmlformats.org/officeDocument/2006/relationships/oleObject" Target="../embeddings/oleObject127.bin"/><Relationship Id="rId1" Type="http://schemas.openxmlformats.org/officeDocument/2006/relationships/slideLayout" Target="../slideLayouts/slideLayout16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3" Type="http://schemas.openxmlformats.org/officeDocument/2006/relationships/image" Target="../media/image191.png"/><Relationship Id="rId7" Type="http://schemas.openxmlformats.org/officeDocument/2006/relationships/image" Target="../media/image19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94.png"/><Relationship Id="rId5" Type="http://schemas.openxmlformats.org/officeDocument/2006/relationships/image" Target="../media/image193.png"/><Relationship Id="rId10" Type="http://schemas.openxmlformats.org/officeDocument/2006/relationships/image" Target="../media/image197.wmf"/><Relationship Id="rId4" Type="http://schemas.openxmlformats.org/officeDocument/2006/relationships/image" Target="../media/image192.png"/><Relationship Id="rId9" Type="http://schemas.openxmlformats.org/officeDocument/2006/relationships/oleObject" Target="../embeddings/oleObject128.bin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16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png"/><Relationship Id="rId3" Type="http://schemas.openxmlformats.org/officeDocument/2006/relationships/image" Target="../media/image200.png"/><Relationship Id="rId7" Type="http://schemas.openxmlformats.org/officeDocument/2006/relationships/image" Target="../media/image204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03.png"/><Relationship Id="rId5" Type="http://schemas.openxmlformats.org/officeDocument/2006/relationships/image" Target="../media/image202.png"/><Relationship Id="rId4" Type="http://schemas.openxmlformats.org/officeDocument/2006/relationships/image" Target="../media/image201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9.bin"/><Relationship Id="rId3" Type="http://schemas.openxmlformats.org/officeDocument/2006/relationships/image" Target="../media/image204.png"/><Relationship Id="rId7" Type="http://schemas.openxmlformats.org/officeDocument/2006/relationships/image" Target="../media/image209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08.png"/><Relationship Id="rId5" Type="http://schemas.openxmlformats.org/officeDocument/2006/relationships/image" Target="../media/image207.png"/><Relationship Id="rId10" Type="http://schemas.openxmlformats.org/officeDocument/2006/relationships/image" Target="../media/image211.png"/><Relationship Id="rId4" Type="http://schemas.openxmlformats.org/officeDocument/2006/relationships/image" Target="../media/image205.png"/><Relationship Id="rId9" Type="http://schemas.openxmlformats.org/officeDocument/2006/relationships/image" Target="../media/image210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png"/><Relationship Id="rId13" Type="http://schemas.openxmlformats.org/officeDocument/2006/relationships/image" Target="../media/image221.png"/><Relationship Id="rId3" Type="http://schemas.openxmlformats.org/officeDocument/2006/relationships/image" Target="../media/image213.png"/><Relationship Id="rId7" Type="http://schemas.openxmlformats.org/officeDocument/2006/relationships/image" Target="../media/image216.png"/><Relationship Id="rId12" Type="http://schemas.openxmlformats.org/officeDocument/2006/relationships/image" Target="../media/image220.png"/><Relationship Id="rId2" Type="http://schemas.openxmlformats.org/officeDocument/2006/relationships/image" Target="../media/image212.png"/><Relationship Id="rId16" Type="http://schemas.openxmlformats.org/officeDocument/2006/relationships/image" Target="../media/image223.wmf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15.png"/><Relationship Id="rId11" Type="http://schemas.openxmlformats.org/officeDocument/2006/relationships/image" Target="../media/image219.wmf"/><Relationship Id="rId5" Type="http://schemas.openxmlformats.org/officeDocument/2006/relationships/image" Target="../media/image214.wmf"/><Relationship Id="rId15" Type="http://schemas.openxmlformats.org/officeDocument/2006/relationships/oleObject" Target="../embeddings/oleObject132.bin"/><Relationship Id="rId10" Type="http://schemas.openxmlformats.org/officeDocument/2006/relationships/oleObject" Target="../embeddings/oleObject131.bin"/><Relationship Id="rId4" Type="http://schemas.openxmlformats.org/officeDocument/2006/relationships/oleObject" Target="../embeddings/oleObject130.bin"/><Relationship Id="rId9" Type="http://schemas.openxmlformats.org/officeDocument/2006/relationships/image" Target="../media/image218.png"/><Relationship Id="rId14" Type="http://schemas.openxmlformats.org/officeDocument/2006/relationships/image" Target="../media/image222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4.bin"/><Relationship Id="rId3" Type="http://schemas.openxmlformats.org/officeDocument/2006/relationships/image" Target="../media/image225.png"/><Relationship Id="rId7" Type="http://schemas.openxmlformats.org/officeDocument/2006/relationships/image" Target="../media/image228.wmf"/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133.bin"/><Relationship Id="rId5" Type="http://schemas.openxmlformats.org/officeDocument/2006/relationships/image" Target="../media/image227.png"/><Relationship Id="rId4" Type="http://schemas.openxmlformats.org/officeDocument/2006/relationships/image" Target="../media/image226.png"/><Relationship Id="rId9" Type="http://schemas.openxmlformats.org/officeDocument/2006/relationships/image" Target="../media/image229.wmf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wmf"/><Relationship Id="rId3" Type="http://schemas.openxmlformats.org/officeDocument/2006/relationships/image" Target="../media/image230.wmf"/><Relationship Id="rId7" Type="http://schemas.openxmlformats.org/officeDocument/2006/relationships/oleObject" Target="../embeddings/oleObject137.bin"/><Relationship Id="rId2" Type="http://schemas.openxmlformats.org/officeDocument/2006/relationships/oleObject" Target="../embeddings/oleObject135.bin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32.wmf"/><Relationship Id="rId5" Type="http://schemas.openxmlformats.org/officeDocument/2006/relationships/oleObject" Target="../embeddings/oleObject136.bin"/><Relationship Id="rId4" Type="http://schemas.openxmlformats.org/officeDocument/2006/relationships/image" Target="../media/image231.jpe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1.bin"/><Relationship Id="rId3" Type="http://schemas.openxmlformats.org/officeDocument/2006/relationships/image" Target="../media/image234.wmf"/><Relationship Id="rId7" Type="http://schemas.openxmlformats.org/officeDocument/2006/relationships/image" Target="../media/image236.wmf"/><Relationship Id="rId2" Type="http://schemas.openxmlformats.org/officeDocument/2006/relationships/oleObject" Target="../embeddings/oleObject138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140.bin"/><Relationship Id="rId5" Type="http://schemas.openxmlformats.org/officeDocument/2006/relationships/image" Target="../media/image235.wmf"/><Relationship Id="rId4" Type="http://schemas.openxmlformats.org/officeDocument/2006/relationships/oleObject" Target="../embeddings/oleObject139.bin"/><Relationship Id="rId9" Type="http://schemas.openxmlformats.org/officeDocument/2006/relationships/image" Target="../media/image237.w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5.bin"/><Relationship Id="rId3" Type="http://schemas.openxmlformats.org/officeDocument/2006/relationships/image" Target="../media/image238.wmf"/><Relationship Id="rId7" Type="http://schemas.openxmlformats.org/officeDocument/2006/relationships/image" Target="../media/image240.wmf"/><Relationship Id="rId2" Type="http://schemas.openxmlformats.org/officeDocument/2006/relationships/oleObject" Target="../embeddings/oleObject142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144.bin"/><Relationship Id="rId11" Type="http://schemas.openxmlformats.org/officeDocument/2006/relationships/image" Target="../media/image242.wmf"/><Relationship Id="rId5" Type="http://schemas.openxmlformats.org/officeDocument/2006/relationships/image" Target="../media/image239.wmf"/><Relationship Id="rId10" Type="http://schemas.openxmlformats.org/officeDocument/2006/relationships/oleObject" Target="../embeddings/oleObject146.bin"/><Relationship Id="rId4" Type="http://schemas.openxmlformats.org/officeDocument/2006/relationships/oleObject" Target="../embeddings/oleObject143.bin"/><Relationship Id="rId9" Type="http://schemas.openxmlformats.org/officeDocument/2006/relationships/image" Target="../media/image241.w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0.bin"/><Relationship Id="rId13" Type="http://schemas.openxmlformats.org/officeDocument/2006/relationships/image" Target="../media/image247.wmf"/><Relationship Id="rId3" Type="http://schemas.openxmlformats.org/officeDocument/2006/relationships/image" Target="../media/image243.wmf"/><Relationship Id="rId7" Type="http://schemas.openxmlformats.org/officeDocument/2006/relationships/image" Target="../media/image236.wmf"/><Relationship Id="rId12" Type="http://schemas.openxmlformats.org/officeDocument/2006/relationships/oleObject" Target="../embeddings/oleObject152.bin"/><Relationship Id="rId2" Type="http://schemas.openxmlformats.org/officeDocument/2006/relationships/oleObject" Target="../embeddings/oleObject147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149.bin"/><Relationship Id="rId11" Type="http://schemas.openxmlformats.org/officeDocument/2006/relationships/image" Target="../media/image246.wmf"/><Relationship Id="rId5" Type="http://schemas.openxmlformats.org/officeDocument/2006/relationships/image" Target="../media/image244.wmf"/><Relationship Id="rId15" Type="http://schemas.openxmlformats.org/officeDocument/2006/relationships/image" Target="../media/image248.wmf"/><Relationship Id="rId10" Type="http://schemas.openxmlformats.org/officeDocument/2006/relationships/oleObject" Target="../embeddings/oleObject151.bin"/><Relationship Id="rId4" Type="http://schemas.openxmlformats.org/officeDocument/2006/relationships/oleObject" Target="../embeddings/oleObject148.bin"/><Relationship Id="rId9" Type="http://schemas.openxmlformats.org/officeDocument/2006/relationships/image" Target="../media/image245.wmf"/><Relationship Id="rId14" Type="http://schemas.openxmlformats.org/officeDocument/2006/relationships/oleObject" Target="../embeddings/oleObject153.bin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4.bin"/><Relationship Id="rId2" Type="http://schemas.openxmlformats.org/officeDocument/2006/relationships/image" Target="../media/image249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51.png"/><Relationship Id="rId4" Type="http://schemas.openxmlformats.org/officeDocument/2006/relationships/image" Target="../media/image250.w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3.emf"/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AA9D0B63-D9C1-4432-AF96-2EA7E99C0383}"/>
              </a:ext>
            </a:extLst>
          </p:cNvPr>
          <p:cNvSpPr txBox="1">
            <a:spLocks/>
          </p:cNvSpPr>
          <p:nvPr/>
        </p:nvSpPr>
        <p:spPr>
          <a:xfrm>
            <a:off x="1279047" y="2741778"/>
            <a:ext cx="7433153" cy="20221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b="1" dirty="0" err="1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Weishu</a:t>
            </a:r>
            <a:r>
              <a:rPr lang="en-US" sz="2800" b="1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L</a:t>
            </a:r>
            <a:r>
              <a:rPr lang="en-US" sz="2800" b="1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iu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Department of Materials Science and Engineering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Southern University of Science and Technology (</a:t>
            </a:r>
            <a:r>
              <a:rPr lang="en-US" sz="1800" dirty="0" err="1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SUSTec</a:t>
            </a:r>
            <a:r>
              <a:rPr lang="en-US" altLang="zh-CN" sz="1800" dirty="0" err="1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h</a:t>
            </a:r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Email: </a:t>
            </a:r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liuws@sustc.edu.cn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Office: </a:t>
            </a:r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North Tower, Rm310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1B1E1D-7C41-4F56-BF1E-96200593BAF0}"/>
              </a:ext>
            </a:extLst>
          </p:cNvPr>
          <p:cNvSpPr txBox="1"/>
          <p:nvPr/>
        </p:nvSpPr>
        <p:spPr>
          <a:xfrm>
            <a:off x="669639" y="1436733"/>
            <a:ext cx="45801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Lecture 9: </a:t>
            </a:r>
            <a:r>
              <a:rPr lang="en-US" altLang="zh-CN" sz="3200" dirty="0">
                <a:solidFill>
                  <a:srgbClr val="FF0000"/>
                </a:solidFill>
              </a:rPr>
              <a:t>Specific heat </a:t>
            </a:r>
          </a:p>
        </p:txBody>
      </p:sp>
      <p:sp>
        <p:nvSpPr>
          <p:cNvPr id="8" name="矩形 7"/>
          <p:cNvSpPr/>
          <p:nvPr/>
        </p:nvSpPr>
        <p:spPr>
          <a:xfrm>
            <a:off x="1524000" y="129808"/>
            <a:ext cx="7460256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i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MSE 311: Thermodynamics  of Materials</a:t>
            </a:r>
          </a:p>
        </p:txBody>
      </p:sp>
    </p:spTree>
    <p:extLst>
      <p:ext uri="{BB962C8B-B14F-4D97-AF65-F5344CB8AC3E}">
        <p14:creationId xmlns:p14="http://schemas.microsoft.com/office/powerpoint/2010/main" val="2306106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</a:rPr>
              <a:t>18. Statistical ensembles  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14116" y="4486906"/>
            <a:ext cx="691214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Chapter 2</a:t>
            </a:r>
            <a:r>
              <a:rPr lang="zh-CN" altLang="en-US" dirty="0"/>
              <a:t>， 徐祖耀，材料热力学，高等教育出版社，</a:t>
            </a:r>
            <a:r>
              <a:rPr lang="en-US" altLang="zh-CN" dirty="0"/>
              <a:t>2008</a:t>
            </a:r>
          </a:p>
          <a:p>
            <a:r>
              <a:rPr lang="en-US" altLang="zh-CN" dirty="0"/>
              <a:t>Chapter 4</a:t>
            </a:r>
            <a:r>
              <a:rPr lang="zh-CN" altLang="en-US" dirty="0"/>
              <a:t>， </a:t>
            </a:r>
            <a:r>
              <a:rPr lang="en-US" altLang="zh-CN" dirty="0"/>
              <a:t>Gang Chen, Nanoscale Energy Transport and Conversion, Oxford, 2005</a:t>
            </a:r>
          </a:p>
        </p:txBody>
      </p:sp>
    </p:spTree>
    <p:extLst>
      <p:ext uri="{BB962C8B-B14F-4D97-AF65-F5344CB8AC3E}">
        <p14:creationId xmlns:p14="http://schemas.microsoft.com/office/powerpoint/2010/main" val="3511056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00228" y="844982"/>
            <a:ext cx="834255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/>
              <a:t> 1902, </a:t>
            </a:r>
            <a:r>
              <a:rPr lang="en-US" altLang="zh-CN" dirty="0">
                <a:hlinkClick r:id="rId2" tooltip="Willard Gibbs"/>
              </a:rPr>
              <a:t>J. Willard Gibbs</a:t>
            </a:r>
            <a:r>
              <a:rPr lang="en-US" altLang="zh-CN" dirty="0"/>
              <a:t> proposal the concept of </a:t>
            </a:r>
            <a:r>
              <a:rPr lang="en-US" altLang="zh-CN" b="1" dirty="0"/>
              <a:t>statistical ensemble</a:t>
            </a:r>
            <a:endParaRPr lang="en-US" altLang="zh-CN" dirty="0"/>
          </a:p>
        </p:txBody>
      </p:sp>
      <p:pic>
        <p:nvPicPr>
          <p:cNvPr id="4" name="Picture 4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3084" y="4376028"/>
            <a:ext cx="1149022" cy="1530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492093" y="5895487"/>
            <a:ext cx="15760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00" b="1" dirty="0"/>
              <a:t>Josiah Willard Gibbs</a:t>
            </a:r>
            <a:endParaRPr lang="en-US" altLang="zh-CN" sz="1100" dirty="0"/>
          </a:p>
          <a:p>
            <a:pPr algn="ctr"/>
            <a:r>
              <a:rPr lang="en-US" altLang="zh-CN" sz="1100" dirty="0"/>
              <a:t>1839-1903</a:t>
            </a:r>
            <a:endParaRPr lang="zh-CN" altLang="en-US" sz="1100" dirty="0"/>
          </a:p>
        </p:txBody>
      </p:sp>
      <p:sp>
        <p:nvSpPr>
          <p:cNvPr id="6" name="矩形 5"/>
          <p:cNvSpPr/>
          <p:nvPr/>
        </p:nvSpPr>
        <p:spPr>
          <a:xfrm>
            <a:off x="1052624" y="115904"/>
            <a:ext cx="31630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Statistical ensembles </a:t>
            </a:r>
            <a:endParaRPr lang="zh-CN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420539" y="1769796"/>
            <a:ext cx="834255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b="1" dirty="0"/>
              <a:t>Statistical ensemble: </a:t>
            </a:r>
            <a:r>
              <a:rPr lang="en-US" altLang="zh-CN" dirty="0"/>
              <a:t>an idealization consisting of a large number of virtual copies (sometimes infinitely many) of a </a:t>
            </a:r>
            <a:r>
              <a:rPr lang="en-US" altLang="zh-CN" dirty="0">
                <a:hlinkClick r:id="rId4" tooltip="System"/>
              </a:rPr>
              <a:t>system</a:t>
            </a:r>
            <a:r>
              <a:rPr lang="en-US" altLang="zh-CN" dirty="0"/>
              <a:t>, considered all at once, each of which represents a possible state that the real system might be in. </a:t>
            </a:r>
          </a:p>
          <a:p>
            <a:pPr algn="just"/>
            <a:endParaRPr lang="en-US" altLang="zh-CN" dirty="0"/>
          </a:p>
          <a:p>
            <a:pPr algn="just"/>
            <a:r>
              <a:rPr lang="en-US" altLang="zh-CN" dirty="0"/>
              <a:t>A statistical ensemble is a probability distribution for the state of the system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500228" y="4763117"/>
            <a:ext cx="57242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70AD47"/>
                </a:solidFill>
              </a:rPr>
              <a:t>Gibbs, Josiah Willard (1902). </a:t>
            </a:r>
          </a:p>
          <a:p>
            <a:r>
              <a:rPr lang="en-US" altLang="zh-CN" sz="1400" i="1" dirty="0">
                <a:solidFill>
                  <a:srgbClr val="70AD47"/>
                </a:solidFill>
              </a:rPr>
              <a:t>Elementary Principles in Statistical Mechanics. New York</a:t>
            </a:r>
            <a:endParaRPr lang="zh-CN" altLang="en-US" sz="1400" i="1" dirty="0">
              <a:solidFill>
                <a:srgbClr val="70AD4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105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/>
          <p:cNvSpPr txBox="1"/>
          <p:nvPr/>
        </p:nvSpPr>
        <p:spPr>
          <a:xfrm>
            <a:off x="500229" y="1585910"/>
            <a:ext cx="8342558" cy="5847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In an actual experiment, we usually need consider a time-averaged behavior for a system by solving Newton’s equation of motion or time dependent </a:t>
            </a:r>
            <a:r>
              <a:rPr lang="en-US" altLang="zh-CN" sz="1600" dirty="0" err="1"/>
              <a:t>Schodinger</a:t>
            </a:r>
            <a:r>
              <a:rPr lang="en-US" altLang="zh-CN" sz="1600" dirty="0"/>
              <a:t> Equation</a:t>
            </a:r>
            <a:endParaRPr lang="zh-CN" altLang="en-US" sz="1600" dirty="0"/>
          </a:p>
        </p:txBody>
      </p:sp>
      <p:sp>
        <p:nvSpPr>
          <p:cNvPr id="3" name="矩形 2"/>
          <p:cNvSpPr/>
          <p:nvPr/>
        </p:nvSpPr>
        <p:spPr>
          <a:xfrm>
            <a:off x="500229" y="2685290"/>
            <a:ext cx="63273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/>
              <a:t>The introduce of statistical ensemble avoid the time average</a:t>
            </a:r>
            <a:endParaRPr lang="zh-CN" altLang="en-US" i="1" dirty="0"/>
          </a:p>
        </p:txBody>
      </p:sp>
      <p:sp>
        <p:nvSpPr>
          <p:cNvPr id="4" name="TextBox 10"/>
          <p:cNvSpPr txBox="1"/>
          <p:nvPr/>
        </p:nvSpPr>
        <p:spPr>
          <a:xfrm>
            <a:off x="933279" y="178753"/>
            <a:ext cx="54777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Ergodic hypothesis </a:t>
            </a:r>
            <a:r>
              <a:rPr lang="zh-CN" altLang="en-US" sz="2800" dirty="0">
                <a:solidFill>
                  <a:srgbClr val="FF0000"/>
                </a:solidFill>
              </a:rPr>
              <a:t>（遍历假设）</a:t>
            </a:r>
          </a:p>
        </p:txBody>
      </p:sp>
      <p:sp>
        <p:nvSpPr>
          <p:cNvPr id="5" name="TextBox 11"/>
          <p:cNvSpPr txBox="1"/>
          <p:nvPr/>
        </p:nvSpPr>
        <p:spPr>
          <a:xfrm>
            <a:off x="500229" y="3797472"/>
            <a:ext cx="8276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ensembles average of a observed quantity is  equal to the time average of the same quantity.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4741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圆角矩形 25"/>
          <p:cNvSpPr/>
          <p:nvPr/>
        </p:nvSpPr>
        <p:spPr>
          <a:xfrm>
            <a:off x="6264563" y="1708206"/>
            <a:ext cx="2879437" cy="4492567"/>
          </a:xfrm>
          <a:prstGeom prst="roundRect">
            <a:avLst>
              <a:gd name="adj" fmla="val 7039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>
            <a:off x="1581148" y="1708207"/>
            <a:ext cx="2085977" cy="4492567"/>
          </a:xfrm>
          <a:prstGeom prst="roundRect">
            <a:avLst>
              <a:gd name="adj" fmla="val 7039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4194666" y="731272"/>
            <a:ext cx="12747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Canonical </a:t>
            </a:r>
          </a:p>
          <a:p>
            <a:r>
              <a:rPr lang="en-US" altLang="zh-CN" dirty="0"/>
              <a:t>Ensemble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785720" y="749930"/>
            <a:ext cx="17235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Microcanonical</a:t>
            </a:r>
            <a:endParaRPr lang="en-US" altLang="zh-CN" dirty="0"/>
          </a:p>
          <a:p>
            <a:r>
              <a:rPr lang="en-US" altLang="zh-CN" dirty="0"/>
              <a:t>Ensemble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6945" y="1377603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6"/>
                </a:solidFill>
              </a:rPr>
              <a:t>isolated systems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4666" y="1338876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6"/>
                </a:solidFill>
              </a:rPr>
              <a:t>close systems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375246" y="692545"/>
            <a:ext cx="18646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Grandcanonical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Ensemble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375246" y="1274900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6"/>
                </a:solidFill>
              </a:rPr>
              <a:t>open systems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819275" y="1968500"/>
          <a:ext cx="1655763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880" imgH="253800" progId="Equation.DSMT4">
                  <p:embed/>
                </p:oleObj>
              </mc:Choice>
              <mc:Fallback>
                <p:oleObj name="Equation" r:id="rId2" imgW="1307880" imgH="2538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9275" y="1968500"/>
                        <a:ext cx="1655763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351269" y="1949926"/>
          <a:ext cx="1516062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60160" imgH="253800" progId="Equation.DSMT4">
                  <p:embed/>
                </p:oleObj>
              </mc:Choice>
              <mc:Fallback>
                <p:oleObj name="Equation" r:id="rId4" imgW="1460160" imgH="25380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1269" y="1949926"/>
                        <a:ext cx="1516062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343650" y="1878013"/>
          <a:ext cx="1498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98320" imgH="253800" progId="Equation.DSMT4">
                  <p:embed/>
                </p:oleObj>
              </mc:Choice>
              <mc:Fallback>
                <p:oleObj name="Equation" r:id="rId6" imgW="1498320" imgH="2538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3650" y="1878013"/>
                        <a:ext cx="14986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0" y="1946791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TD potential </a:t>
            </a:r>
            <a:endParaRPr lang="zh-CN" altLang="en-US" dirty="0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955800" y="3459163"/>
          <a:ext cx="817563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47640" imgH="393480" progId="Equation.DSMT4">
                  <p:embed/>
                </p:oleObj>
              </mc:Choice>
              <mc:Fallback>
                <p:oleObj name="Equation" r:id="rId8" imgW="647640" imgH="39348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3459163"/>
                        <a:ext cx="817563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3" name="对象 5"/>
              <p:cNvSpPr txBox="1"/>
              <p:nvPr/>
            </p:nvSpPr>
            <p:spPr bwMode="auto">
              <a:xfrm>
                <a:off x="3856631" y="3459163"/>
                <a:ext cx="2540000" cy="669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3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56631" y="3459163"/>
                <a:ext cx="2540000" cy="66992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4275069" y="2559050"/>
          <a:ext cx="126523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18960" imgH="482400" progId="Equation.DSMT4">
                  <p:embed/>
                </p:oleObj>
              </mc:Choice>
              <mc:Fallback>
                <p:oleObj name="Equation" r:id="rId11" imgW="1218960" imgH="48240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5069" y="2559050"/>
                        <a:ext cx="1265238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6340725" y="2587625"/>
          <a:ext cx="1587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87240" imgH="482400" progId="Equation.DSMT4">
                  <p:embed/>
                </p:oleObj>
              </mc:Choice>
              <mc:Fallback>
                <p:oleObj name="Equation" r:id="rId13" imgW="1587240" imgH="482400" progId="Equation.DSMT4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340725" y="2587625"/>
                        <a:ext cx="15875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0" y="2670691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Partition function</a:t>
            </a:r>
            <a:endParaRPr lang="zh-CN" altLang="en-US" dirty="0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1953885" y="5172075"/>
          <a:ext cx="1411287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17440" imgH="431640" progId="Equation.DSMT4">
                  <p:embed/>
                </p:oleObj>
              </mc:Choice>
              <mc:Fallback>
                <p:oleObj name="Equation" r:id="rId15" imgW="1117440" imgH="43164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3885" y="5172075"/>
                        <a:ext cx="1411287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/>
          <p:nvPr/>
        </p:nvSpPr>
        <p:spPr>
          <a:xfrm>
            <a:off x="12824" y="3439558"/>
            <a:ext cx="147989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Probable </a:t>
            </a:r>
          </a:p>
          <a:p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Distribution</a:t>
            </a:r>
            <a:endParaRPr lang="en-US" altLang="zh-CN" dirty="0">
              <a:solidFill>
                <a:srgbClr val="FF0000"/>
              </a:solidFill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168508" y="5232400"/>
          <a:ext cx="1257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257120" imgH="431640" progId="Equation.DSMT4">
                  <p:embed/>
                </p:oleObj>
              </mc:Choice>
              <mc:Fallback>
                <p:oleObj name="Equation" r:id="rId17" imgW="1257120" imgH="431640" progId="Equation.DSMT4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68508" y="5232400"/>
                        <a:ext cx="12573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856631" y="5168900"/>
          <a:ext cx="2077444" cy="5193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930320" imgH="482400" progId="Equation.DSMT4">
                  <p:embed/>
                </p:oleObj>
              </mc:Choice>
              <mc:Fallback>
                <p:oleObj name="Equation" r:id="rId19" imgW="1930320" imgH="48240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6631" y="5168900"/>
                        <a:ext cx="2077444" cy="5193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6396631" y="4292600"/>
          <a:ext cx="1854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854000" imgH="482400" progId="Equation.DSMT4">
                  <p:embed/>
                </p:oleObj>
              </mc:Choice>
              <mc:Fallback>
                <p:oleObj name="Equation" r:id="rId21" imgW="1854000" imgH="482400" progId="Equation.DSMT4">
                  <p:embed/>
                  <p:pic>
                    <p:nvPicPr>
                      <p:cNvPr id="22" name="对象 21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396631" y="4292600"/>
                        <a:ext cx="18542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4098056" y="4284663"/>
          <a:ext cx="151447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460160" imgH="482400" progId="Equation.DSMT4">
                  <p:embed/>
                </p:oleObj>
              </mc:Choice>
              <mc:Fallback>
                <p:oleObj name="Equation" r:id="rId23" imgW="1460160" imgH="48240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8056" y="4284663"/>
                        <a:ext cx="1514475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6292850" y="5168900"/>
          <a:ext cx="2306638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120760" imgH="482400" progId="Equation.DSMT4">
                  <p:embed/>
                </p:oleObj>
              </mc:Choice>
              <mc:Fallback>
                <p:oleObj name="Equation" r:id="rId25" imgW="2120760" imgH="48240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2850" y="5168900"/>
                        <a:ext cx="2306638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矩形 26"/>
          <p:cNvSpPr/>
          <p:nvPr/>
        </p:nvSpPr>
        <p:spPr>
          <a:xfrm>
            <a:off x="1009591" y="129659"/>
            <a:ext cx="16401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Ensemble 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BB4FE0E-1FDF-42D5-95F4-BBF3034E09E0}"/>
              </a:ext>
            </a:extLst>
          </p:cNvPr>
          <p:cNvSpPr/>
          <p:nvPr/>
        </p:nvSpPr>
        <p:spPr>
          <a:xfrm>
            <a:off x="6303260" y="2597655"/>
            <a:ext cx="1680119" cy="4462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对象 18">
                <a:extLst>
                  <a:ext uri="{FF2B5EF4-FFF2-40B4-BE49-F238E27FC236}">
                    <a16:creationId xmlns:a16="http://schemas.microsoft.com/office/drawing/2014/main" id="{7DA98869-D445-492B-A4FF-72F51A59802B}"/>
                  </a:ext>
                </a:extLst>
              </p:cNvPr>
              <p:cNvSpPr txBox="1"/>
              <p:nvPr/>
            </p:nvSpPr>
            <p:spPr bwMode="auto">
              <a:xfrm>
                <a:off x="6264563" y="3463450"/>
                <a:ext cx="3681412" cy="679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zh-CN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zh-CN" alt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zh-CN" alt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1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en-US" sz="1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zh-CN" altLang="en-US" sz="1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zh-CN" altLang="en-US" sz="1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zh-CN" altLang="en-US" sz="1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zh-CN" alt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zh-CN" alt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zh-CN" alt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1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zh-CN" alt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func>
                          <m:d>
                            <m:dPr>
                              <m:ctrlPr>
                                <a:rPr lang="zh-CN" alt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zh-CN" alt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zh-CN" alt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zh-CN" alt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zh-CN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9" name="对象 18">
                <a:extLst>
                  <a:ext uri="{FF2B5EF4-FFF2-40B4-BE49-F238E27FC236}">
                    <a16:creationId xmlns:a16="http://schemas.microsoft.com/office/drawing/2014/main" id="{7DA98869-D445-492B-A4FF-72F51A598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64563" y="3463450"/>
                <a:ext cx="3681412" cy="67945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矩形 29">
            <a:extLst>
              <a:ext uri="{FF2B5EF4-FFF2-40B4-BE49-F238E27FC236}">
                <a16:creationId xmlns:a16="http://schemas.microsoft.com/office/drawing/2014/main" id="{FE05373E-1051-44CB-8D7C-8D6FD7AD6275}"/>
              </a:ext>
            </a:extLst>
          </p:cNvPr>
          <p:cNvSpPr/>
          <p:nvPr/>
        </p:nvSpPr>
        <p:spPr>
          <a:xfrm>
            <a:off x="6303260" y="3465462"/>
            <a:ext cx="2827916" cy="4462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144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73913" y="108102"/>
            <a:ext cx="32207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Thermodynamics Potential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4194666" y="731272"/>
            <a:ext cx="12747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Canonical </a:t>
            </a:r>
          </a:p>
          <a:p>
            <a:r>
              <a:rPr lang="en-US" altLang="zh-CN" dirty="0"/>
              <a:t>Ensemble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785720" y="749930"/>
            <a:ext cx="17235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Microcanonical</a:t>
            </a:r>
            <a:endParaRPr lang="en-US" altLang="zh-CN" dirty="0"/>
          </a:p>
          <a:p>
            <a:r>
              <a:rPr lang="en-US" altLang="zh-CN" dirty="0"/>
              <a:t>Ensemble </a:t>
            </a:r>
          </a:p>
        </p:txBody>
      </p:sp>
      <p:sp>
        <p:nvSpPr>
          <p:cNvPr id="6" name="TextBox 3"/>
          <p:cNvSpPr txBox="1"/>
          <p:nvPr/>
        </p:nvSpPr>
        <p:spPr>
          <a:xfrm>
            <a:off x="1646945" y="1377603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6"/>
                </a:solidFill>
              </a:rPr>
              <a:t>isolated systems </a:t>
            </a:r>
          </a:p>
        </p:txBody>
      </p:sp>
      <p:sp>
        <p:nvSpPr>
          <p:cNvPr id="7" name="TextBox 4"/>
          <p:cNvSpPr txBox="1"/>
          <p:nvPr/>
        </p:nvSpPr>
        <p:spPr>
          <a:xfrm>
            <a:off x="4194666" y="1338876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6"/>
                </a:solidFill>
              </a:rPr>
              <a:t>close systems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375246" y="757861"/>
            <a:ext cx="18646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Grandcanonical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Ensemble</a:t>
            </a:r>
            <a:endParaRPr lang="zh-CN" altLang="en-US" dirty="0"/>
          </a:p>
        </p:txBody>
      </p:sp>
      <p:sp>
        <p:nvSpPr>
          <p:cNvPr id="9" name="TextBox 6"/>
          <p:cNvSpPr txBox="1"/>
          <p:nvPr/>
        </p:nvSpPr>
        <p:spPr>
          <a:xfrm>
            <a:off x="6375246" y="1340216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6"/>
                </a:solidFill>
              </a:rPr>
              <a:t>open systems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819275" y="1968500"/>
          <a:ext cx="1655763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880" imgH="253800" progId="Equation.DSMT4">
                  <p:embed/>
                </p:oleObj>
              </mc:Choice>
              <mc:Fallback>
                <p:oleObj name="Equation" r:id="rId2" imgW="1307880" imgH="2538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9275" y="1968500"/>
                        <a:ext cx="1655763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351269" y="1949926"/>
          <a:ext cx="1516062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60160" imgH="253800" progId="Equation.DSMT4">
                  <p:embed/>
                </p:oleObj>
              </mc:Choice>
              <mc:Fallback>
                <p:oleObj name="Equation" r:id="rId4" imgW="1460160" imgH="2538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1269" y="1949926"/>
                        <a:ext cx="1516062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343650" y="1943100"/>
          <a:ext cx="1498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98320" imgH="253800" progId="Equation.DSMT4">
                  <p:embed/>
                </p:oleObj>
              </mc:Choice>
              <mc:Fallback>
                <p:oleObj name="Equation" r:id="rId6" imgW="1498320" imgH="2538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3650" y="1943100"/>
                        <a:ext cx="14986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0"/>
          <p:cNvSpPr txBox="1"/>
          <p:nvPr/>
        </p:nvSpPr>
        <p:spPr>
          <a:xfrm>
            <a:off x="0" y="1946791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TD potential 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46458" y="2636654"/>
            <a:ext cx="4762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U and H are also thermodynamics Potential. </a:t>
            </a:r>
          </a:p>
        </p:txBody>
      </p:sp>
      <p:pic>
        <p:nvPicPr>
          <p:cNvPr id="140295" name="Picture 7" descr="See the source image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9" b="41110"/>
          <a:stretch/>
        </p:blipFill>
        <p:spPr bwMode="auto">
          <a:xfrm>
            <a:off x="834578" y="3415062"/>
            <a:ext cx="6720176" cy="2154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任意多边形 15"/>
          <p:cNvSpPr/>
          <p:nvPr/>
        </p:nvSpPr>
        <p:spPr>
          <a:xfrm>
            <a:off x="6483927" y="2232561"/>
            <a:ext cx="1199408" cy="605642"/>
          </a:xfrm>
          <a:custGeom>
            <a:avLst/>
            <a:gdLst>
              <a:gd name="connsiteX0" fmla="*/ 1199408 w 1199408"/>
              <a:gd name="connsiteY0" fmla="*/ 605642 h 605642"/>
              <a:gd name="connsiteX1" fmla="*/ 201881 w 1199408"/>
              <a:gd name="connsiteY1" fmla="*/ 439387 h 605642"/>
              <a:gd name="connsiteX2" fmla="*/ 0 w 1199408"/>
              <a:gd name="connsiteY2" fmla="*/ 0 h 605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99408" h="605642">
                <a:moveTo>
                  <a:pt x="1199408" y="605642"/>
                </a:moveTo>
                <a:lnTo>
                  <a:pt x="201881" y="439387"/>
                </a:ln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275154" y="2911159"/>
            <a:ext cx="3134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This is not Gibbs free energy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8532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14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4747" y="957491"/>
            <a:ext cx="4514850" cy="450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1055914" y="97971"/>
            <a:ext cx="387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Thermodynamics Venn diagram 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665" y="5783554"/>
            <a:ext cx="7801392" cy="83057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87818" y="5414222"/>
            <a:ext cx="4643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</a:rPr>
              <a:t>American Journal of Physics 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, 950 (2011)</a:t>
            </a:r>
            <a:endParaRPr lang="zh-CN" altLang="en-US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38364" y="2168566"/>
          <a:ext cx="14351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34960" imgH="253800" progId="Equation.DSMT4">
                  <p:embed/>
                </p:oleObj>
              </mc:Choice>
              <mc:Fallback>
                <p:oleObj name="Equation" r:id="rId4" imgW="1434960" imgH="25380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364" y="2168566"/>
                        <a:ext cx="14351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任意多边形 1"/>
          <p:cNvSpPr/>
          <p:nvPr/>
        </p:nvSpPr>
        <p:spPr>
          <a:xfrm>
            <a:off x="866899" y="2422566"/>
            <a:ext cx="1769423" cy="724395"/>
          </a:xfrm>
          <a:custGeom>
            <a:avLst/>
            <a:gdLst>
              <a:gd name="connsiteX0" fmla="*/ 0 w 1769423"/>
              <a:gd name="connsiteY0" fmla="*/ 0 h 724395"/>
              <a:gd name="connsiteX1" fmla="*/ 475013 w 1769423"/>
              <a:gd name="connsiteY1" fmla="*/ 356260 h 724395"/>
              <a:gd name="connsiteX2" fmla="*/ 1769423 w 1769423"/>
              <a:gd name="connsiteY2" fmla="*/ 724395 h 724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69423" h="724395">
                <a:moveTo>
                  <a:pt x="0" y="0"/>
                </a:moveTo>
                <a:lnTo>
                  <a:pt x="475013" y="356260"/>
                </a:lnTo>
                <a:lnTo>
                  <a:pt x="1769423" y="724395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57402" y="3786631"/>
          <a:ext cx="1516062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60160" imgH="253800" progId="Equation.DSMT4">
                  <p:embed/>
                </p:oleObj>
              </mc:Choice>
              <mc:Fallback>
                <p:oleObj name="Equation" r:id="rId6" imgW="1460160" imgH="2538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402" y="3786631"/>
                        <a:ext cx="1516062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任意多边形 6"/>
          <p:cNvSpPr/>
          <p:nvPr/>
        </p:nvSpPr>
        <p:spPr>
          <a:xfrm>
            <a:off x="1128156" y="3420094"/>
            <a:ext cx="2256312" cy="403761"/>
          </a:xfrm>
          <a:custGeom>
            <a:avLst/>
            <a:gdLst>
              <a:gd name="connsiteX0" fmla="*/ 0 w 2256312"/>
              <a:gd name="connsiteY0" fmla="*/ 403761 h 403761"/>
              <a:gd name="connsiteX1" fmla="*/ 748145 w 2256312"/>
              <a:gd name="connsiteY1" fmla="*/ 0 h 403761"/>
              <a:gd name="connsiteX2" fmla="*/ 2256312 w 2256312"/>
              <a:gd name="connsiteY2" fmla="*/ 237506 h 403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56312" h="403761">
                <a:moveTo>
                  <a:pt x="0" y="403761"/>
                </a:moveTo>
                <a:lnTo>
                  <a:pt x="748145" y="0"/>
                </a:lnTo>
                <a:lnTo>
                  <a:pt x="2256312" y="23750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9533" y="1629007"/>
            <a:ext cx="21852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err="1"/>
              <a:t>Grandcanonical</a:t>
            </a:r>
            <a:r>
              <a:rPr lang="en-US" altLang="zh-CN" sz="1400" dirty="0"/>
              <a:t> Potential</a:t>
            </a:r>
          </a:p>
        </p:txBody>
      </p:sp>
      <p:sp>
        <p:nvSpPr>
          <p:cNvPr id="11" name="矩形 10"/>
          <p:cNvSpPr/>
          <p:nvPr/>
        </p:nvSpPr>
        <p:spPr>
          <a:xfrm>
            <a:off x="19819" y="4108916"/>
            <a:ext cx="17283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/>
              <a:t>Canonical Potential</a:t>
            </a:r>
          </a:p>
        </p:txBody>
      </p:sp>
    </p:spTree>
    <p:extLst>
      <p:ext uri="{BB962C8B-B14F-4D97-AF65-F5344CB8AC3E}">
        <p14:creationId xmlns:p14="http://schemas.microsoft.com/office/powerpoint/2010/main" val="3307740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9466" y="123063"/>
            <a:ext cx="4413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The Bose-Einstein Distribution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9496" y="1179576"/>
            <a:ext cx="796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For other case, such as gas molecules, can have a fixed number of particles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9496" y="1724644"/>
            <a:ext cx="5912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We should use grand canonical ensembles as Fermions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44271" y="2286501"/>
            <a:ext cx="421140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The general Bose-Einstein distribution </a:t>
            </a:r>
            <a:endParaRPr lang="zh-CN" altLang="en-US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95324" y="2935463"/>
          <a:ext cx="1789389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66600" imgH="660240" progId="Equation.DSMT4">
                  <p:embed/>
                </p:oleObj>
              </mc:Choice>
              <mc:Fallback>
                <p:oleObj name="Equation" r:id="rId3" imgW="1866600" imgH="66024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4" y="2935463"/>
                        <a:ext cx="1789389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918809" y="3830284"/>
            <a:ext cx="3929281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The general Fermi-Dirac distribution </a:t>
            </a:r>
            <a:endParaRPr lang="zh-CN" altLang="en-US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354020" y="5952316"/>
          <a:ext cx="1838519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77680" imgH="482400" progId="Equation.DSMT4">
                  <p:embed/>
                </p:oleObj>
              </mc:Choice>
              <mc:Fallback>
                <p:oleObj name="Equation" r:id="rId5" imgW="1777680" imgH="48240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4020" y="5952316"/>
                        <a:ext cx="1838519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830354" y="5225864"/>
            <a:ext cx="472437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The general Maxwell-Boltzmann distribution 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968441" y="4303462"/>
                <a:ext cx="2736663" cy="6226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zh-CN" altLang="en-US" sz="1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m:rPr>
                          <m:nor/>
                        </m:rPr>
                        <a:rPr lang="zh-CN" altLang="en-US" sz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</m:d>
                      <m:r>
                        <a:rPr lang="en-US" altLang="zh-CN" sz="12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zh-CN" alt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1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1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1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  <m:r>
                                        <a:rPr lang="zh-CN" altLang="en-US" sz="1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zh-CN" altLang="en-US" sz="1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  <m:r>
                                        <a:rPr lang="zh-CN" altLang="en-US" sz="1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441" y="4303462"/>
                <a:ext cx="2736663" cy="62260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0889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22429" y="2995030"/>
            <a:ext cx="6508902" cy="867940"/>
          </a:xfrm>
        </p:spPr>
        <p:txBody>
          <a:bodyPr>
            <a:normAutofit fontScale="90000"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19. Statistical thermodynamic </a:t>
            </a:r>
            <a:br>
              <a:rPr lang="en-US" altLang="zh-CN" sz="3200" dirty="0">
                <a:solidFill>
                  <a:srgbClr val="FF0000"/>
                </a:solidFill>
              </a:rPr>
            </a:br>
            <a:r>
              <a:rPr lang="en-US" altLang="zh-CN" sz="3200" dirty="0">
                <a:solidFill>
                  <a:srgbClr val="FF0000"/>
                </a:solidFill>
              </a:rPr>
              <a:t>      interpret of Heat capacity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FA2DA8-8D41-473B-8F96-DB46E08B5EB9}"/>
              </a:ext>
            </a:extLst>
          </p:cNvPr>
          <p:cNvSpPr txBox="1"/>
          <p:nvPr/>
        </p:nvSpPr>
        <p:spPr>
          <a:xfrm>
            <a:off x="665017" y="4713316"/>
            <a:ext cx="7695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Chapter 4 and 5, Introduction to Solid State Physics, C. Kittle, Wiley, 2004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1716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036955" y="7937"/>
            <a:ext cx="5241925" cy="676656"/>
          </a:xfrm>
        </p:spPr>
        <p:txBody>
          <a:bodyPr>
            <a:normAutofit/>
          </a:bodyPr>
          <a:lstStyle/>
          <a:p>
            <a:pPr algn="l"/>
            <a:r>
              <a:rPr lang="en-US" altLang="zh-CN" sz="36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Heat capacity: </a:t>
            </a:r>
            <a:r>
              <a:rPr lang="en-US" altLang="zh-CN" sz="3600" dirty="0" err="1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c</a:t>
            </a:r>
            <a:r>
              <a:rPr lang="en-US" altLang="zh-CN" sz="3600" baseline="-25000" dirty="0" err="1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V</a:t>
            </a:r>
            <a:r>
              <a:rPr lang="en-US" altLang="zh-CN" sz="36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US" altLang="zh-CN" sz="3600" dirty="0" err="1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c</a:t>
            </a:r>
            <a:r>
              <a:rPr lang="en-US" altLang="zh-CN" sz="3600" baseline="-25000" dirty="0" err="1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P</a:t>
            </a:r>
            <a:endParaRPr lang="en-US" sz="36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09600" y="1640586"/>
            <a:ext cx="51816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defTabSz="914400" eaLnBrk="1" hangingPunct="1"/>
            <a:r>
              <a:rPr lang="en-US" altLang="zh-CN" sz="2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Constant Volume Process (C</a:t>
            </a:r>
            <a:r>
              <a:rPr lang="en-US" altLang="zh-CN" sz="2000" b="1" baseline="-25000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000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):</a:t>
            </a:r>
            <a:r>
              <a:rPr lang="en-US" altLang="zh-CN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US" altLang="zh-CN" b="1" dirty="0">
              <a:solidFill>
                <a:srgbClr val="0000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1" name="Object 4"/>
          <p:cNvGraphicFramePr>
            <a:graphicFrameLocks noChangeAspect="1"/>
          </p:cNvGraphicFramePr>
          <p:nvPr/>
        </p:nvGraphicFramePr>
        <p:xfrm>
          <a:off x="5048250" y="1507236"/>
          <a:ext cx="1639160" cy="918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99753" imgH="444307" progId="">
                  <p:embed/>
                </p:oleObj>
              </mc:Choice>
              <mc:Fallback>
                <p:oleObj r:id="rId2" imgW="799753" imgH="444307" progId="">
                  <p:embed/>
                  <p:pic>
                    <p:nvPicPr>
                      <p:cNvPr id="1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8250" y="1507236"/>
                        <a:ext cx="1639160" cy="91836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/>
          <p:cNvGraphicFramePr>
            <a:graphicFrameLocks noChangeAspect="1"/>
          </p:cNvGraphicFramePr>
          <p:nvPr/>
        </p:nvGraphicFramePr>
        <p:xfrm>
          <a:off x="5181600" y="3903417"/>
          <a:ext cx="1552969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99753" imgH="444307" progId="">
                  <p:embed/>
                </p:oleObj>
              </mc:Choice>
              <mc:Fallback>
                <p:oleObj name="公式" r:id="rId4" imgW="799753" imgH="444307" progId="">
                  <p:embed/>
                  <p:pic>
                    <p:nvPicPr>
                      <p:cNvPr id="1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903417"/>
                        <a:ext cx="1552969" cy="869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533400" y="4031360"/>
            <a:ext cx="57912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defTabSz="914400" eaLnBrk="1" hangingPunct="1"/>
            <a:r>
              <a:rPr lang="en-US" altLang="zh-CN" sz="2600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Constant Pressure Process (</a:t>
            </a:r>
            <a:r>
              <a:rPr lang="en-US" altLang="zh-CN" sz="2000" b="1" dirty="0" err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000" b="1" baseline="-25000" dirty="0" err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): </a:t>
            </a:r>
            <a:endParaRPr lang="en-US" altLang="zh-CN" sz="2000" b="1" dirty="0">
              <a:solidFill>
                <a:srgbClr val="0000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756535" y="2840736"/>
            <a:ext cx="295504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 eaLnBrk="1" hangingPunct="1"/>
            <a:r>
              <a:rPr lang="en-US" altLang="zh-CN" sz="2600" b="1" dirty="0" err="1">
                <a:solidFill>
                  <a:srgbClr val="336600"/>
                </a:solidFill>
                <a:ea typeface="宋体" panose="02010600030101010101" pitchFamily="2" charset="-122"/>
              </a:rPr>
              <a:t>dU</a:t>
            </a:r>
            <a:r>
              <a:rPr lang="en-US" altLang="zh-CN" sz="2600" b="1" dirty="0">
                <a:solidFill>
                  <a:srgbClr val="336600"/>
                </a:solidFill>
                <a:ea typeface="宋体" panose="02010600030101010101" pitchFamily="2" charset="-122"/>
              </a:rPr>
              <a:t> = </a:t>
            </a:r>
            <a:r>
              <a:rPr lang="en-US" altLang="zh-CN" sz="2600" b="1" dirty="0" err="1">
                <a:solidFill>
                  <a:srgbClr val="3366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d</a:t>
            </a:r>
            <a:r>
              <a:rPr lang="en-US" altLang="zh-CN" sz="2600" b="1" dirty="0" err="1">
                <a:solidFill>
                  <a:srgbClr val="336600"/>
                </a:solidFill>
                <a:ea typeface="宋体" panose="02010600030101010101" pitchFamily="2" charset="-122"/>
              </a:rPr>
              <a:t>q</a:t>
            </a:r>
            <a:r>
              <a:rPr lang="en-US" altLang="zh-CN" sz="2600" b="1" dirty="0">
                <a:solidFill>
                  <a:srgbClr val="336600"/>
                </a:solidFill>
                <a:ea typeface="宋体" panose="02010600030101010101" pitchFamily="2" charset="-122"/>
              </a:rPr>
              <a:t> – </a:t>
            </a:r>
            <a:r>
              <a:rPr lang="en-US" altLang="zh-CN" sz="2600" b="1" dirty="0" err="1">
                <a:solidFill>
                  <a:srgbClr val="3366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d</a:t>
            </a:r>
            <a:r>
              <a:rPr lang="en-US" altLang="zh-CN" sz="2600" b="1" dirty="0" err="1">
                <a:solidFill>
                  <a:srgbClr val="336600"/>
                </a:solidFill>
                <a:ea typeface="宋体" panose="02010600030101010101" pitchFamily="2" charset="-122"/>
              </a:rPr>
              <a:t>W</a:t>
            </a:r>
            <a:r>
              <a:rPr lang="en-US" altLang="zh-CN" sz="2600" b="1" dirty="0">
                <a:solidFill>
                  <a:srgbClr val="336600"/>
                </a:solidFill>
                <a:ea typeface="宋体" panose="02010600030101010101" pitchFamily="2" charset="-122"/>
              </a:rPr>
              <a:t> =</a:t>
            </a:r>
            <a:r>
              <a:rPr lang="en-US" altLang="zh-CN" sz="2600" b="1" dirty="0">
                <a:solidFill>
                  <a:srgbClr val="3366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lang="en-US" altLang="zh-CN" sz="2600" b="1" dirty="0" err="1">
                <a:solidFill>
                  <a:srgbClr val="3366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d</a:t>
            </a:r>
            <a:r>
              <a:rPr lang="en-US" altLang="zh-CN" sz="2600" b="1" dirty="0" err="1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q</a:t>
            </a:r>
            <a:r>
              <a:rPr lang="en-US" altLang="zh-CN" sz="2600" b="1" dirty="0">
                <a:solidFill>
                  <a:srgbClr val="336600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762000" y="5058471"/>
            <a:ext cx="25571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 eaLnBrk="1" hangingPunct="1"/>
            <a:r>
              <a:rPr lang="en-US" altLang="zh-CN" b="1" dirty="0" err="1">
                <a:solidFill>
                  <a:srgbClr val="336600"/>
                </a:solidFill>
                <a:ea typeface="宋体" panose="02010600030101010101" pitchFamily="2" charset="-122"/>
              </a:rPr>
              <a:t>dH</a:t>
            </a:r>
            <a:r>
              <a:rPr lang="en-US" altLang="zh-CN" b="1" dirty="0">
                <a:solidFill>
                  <a:srgbClr val="336600"/>
                </a:solidFill>
                <a:ea typeface="宋体" panose="02010600030101010101" pitchFamily="2" charset="-122"/>
              </a:rPr>
              <a:t> =</a:t>
            </a:r>
            <a:r>
              <a:rPr lang="en-US" altLang="zh-CN" b="1" dirty="0" err="1">
                <a:solidFill>
                  <a:srgbClr val="336600"/>
                </a:solidFill>
                <a:ea typeface="宋体" panose="02010600030101010101" pitchFamily="2" charset="-122"/>
              </a:rPr>
              <a:t>dU+pdV</a:t>
            </a:r>
            <a:r>
              <a:rPr lang="en-US" altLang="zh-CN" b="1" dirty="0">
                <a:solidFill>
                  <a:srgbClr val="336600"/>
                </a:solidFill>
                <a:ea typeface="宋体" panose="02010600030101010101" pitchFamily="2" charset="-122"/>
              </a:rPr>
              <a:t>= </a:t>
            </a:r>
            <a:r>
              <a:rPr lang="en-US" altLang="zh-CN" b="1" dirty="0" err="1">
                <a:solidFill>
                  <a:srgbClr val="3366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d</a:t>
            </a:r>
            <a:r>
              <a:rPr lang="en-US" altLang="zh-CN" b="1" dirty="0" err="1">
                <a:solidFill>
                  <a:srgbClr val="336600"/>
                </a:solidFill>
                <a:ea typeface="宋体" panose="02010600030101010101" pitchFamily="2" charset="-122"/>
              </a:rPr>
              <a:t>q</a:t>
            </a:r>
            <a:endParaRPr lang="en-US" altLang="zh-CN" b="1" dirty="0">
              <a:solidFill>
                <a:srgbClr val="3366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9964" name="Object 268"/>
          <p:cNvGraphicFramePr>
            <a:graphicFrameLocks noChangeAspect="1"/>
          </p:cNvGraphicFramePr>
          <p:nvPr/>
        </p:nvGraphicFramePr>
        <p:xfrm>
          <a:off x="4183429" y="2612136"/>
          <a:ext cx="169068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825142" imgH="444307" progId="">
                  <p:embed/>
                </p:oleObj>
              </mc:Choice>
              <mc:Fallback>
                <p:oleObj name="公式" r:id="rId6" imgW="825142" imgH="444307" progId="">
                  <p:embed/>
                  <p:pic>
                    <p:nvPicPr>
                      <p:cNvPr id="29964" name="Object 2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3429" y="2612136"/>
                        <a:ext cx="1690688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31523" y="2821626"/>
            <a:ext cx="25233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C2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 </a:t>
            </a:r>
            <a:r>
              <a:rPr lang="en-US" altLang="zh-CN" sz="2000" b="1" dirty="0" err="1">
                <a:solidFill>
                  <a:srgbClr val="0C2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</a:t>
            </a:r>
            <a:r>
              <a:rPr lang="en-US" altLang="zh-CN" sz="2000" b="1" dirty="0">
                <a:solidFill>
                  <a:srgbClr val="0C2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</a:t>
            </a:r>
            <a:r>
              <a:rPr lang="en-US" altLang="zh-CN" sz="2000" b="1" baseline="-25000" dirty="0">
                <a:solidFill>
                  <a:srgbClr val="0C2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="1" dirty="0">
                <a:solidFill>
                  <a:srgbClr val="0C2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  <a:endParaRPr lang="zh-CN" altLang="en-US" sz="2000" b="1" dirty="0">
              <a:solidFill>
                <a:srgbClr val="0C23F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9965" name="Object 269"/>
          <p:cNvGraphicFramePr>
            <a:graphicFrameLocks noChangeAspect="1"/>
          </p:cNvGraphicFramePr>
          <p:nvPr/>
        </p:nvGraphicFramePr>
        <p:xfrm>
          <a:off x="3763596" y="4945638"/>
          <a:ext cx="15986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825142" imgH="444307" progId="">
                  <p:embed/>
                </p:oleObj>
              </mc:Choice>
              <mc:Fallback>
                <p:oleObj name="公式" r:id="rId8" imgW="825142" imgH="444307" progId="">
                  <p:embed/>
                  <p:pic>
                    <p:nvPicPr>
                      <p:cNvPr id="29965" name="Object 2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3596" y="4945638"/>
                        <a:ext cx="1598613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471745" y="5161905"/>
            <a:ext cx="25233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C2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 </a:t>
            </a:r>
            <a:r>
              <a:rPr lang="en-US" altLang="zh-CN" sz="2000" b="1" dirty="0" err="1">
                <a:solidFill>
                  <a:srgbClr val="0C2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</a:t>
            </a:r>
            <a:r>
              <a:rPr lang="en-US" altLang="zh-CN" sz="2000" b="1" dirty="0">
                <a:solidFill>
                  <a:srgbClr val="0C2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000" b="1" dirty="0" err="1">
                <a:solidFill>
                  <a:srgbClr val="0C2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000" b="1" baseline="-25000" dirty="0" err="1">
                <a:solidFill>
                  <a:srgbClr val="0C2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000" b="1" dirty="0" err="1">
                <a:solidFill>
                  <a:srgbClr val="0C2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  <a:endParaRPr lang="zh-CN" altLang="en-US" sz="2000" b="1" dirty="0">
              <a:solidFill>
                <a:srgbClr val="0C23F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655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idx="4294967295"/>
          </p:nvPr>
        </p:nvSpPr>
        <p:spPr>
          <a:xfrm>
            <a:off x="971540" y="0"/>
            <a:ext cx="6457950" cy="795528"/>
          </a:xfrm>
        </p:spPr>
        <p:txBody>
          <a:bodyPr>
            <a:normAutofit/>
          </a:bodyPr>
          <a:lstStyle/>
          <a:p>
            <a:pPr algn="l"/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Heat Capacity: </a:t>
            </a:r>
            <a:r>
              <a:rPr lang="en-US" altLang="zh-CN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zh-CN" sz="3200" b="1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zh-CN" sz="3200" b="1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5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2057400" y="2618176"/>
            <a:ext cx="61569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Represents the work done by the system per degree rise in temperature in expanding </a:t>
            </a:r>
            <a:r>
              <a:rPr lang="en-US" altLang="zh-CN" b="1" dirty="0"/>
              <a:t>against the constant external pressure P acting on the system</a:t>
            </a:r>
            <a:endParaRPr lang="zh-CN" altLang="en-US" b="1" dirty="0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62873" y="1447800"/>
          <a:ext cx="4504264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47900" imgH="457200" progId="">
                  <p:embed/>
                </p:oleObj>
              </mc:Choice>
              <mc:Fallback>
                <p:oleObj name="Equation" r:id="rId2" imgW="2247900" imgH="457200" progId="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873" y="1447800"/>
                        <a:ext cx="4504264" cy="914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460375" y="2694376"/>
          <a:ext cx="914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09600" imgH="457200" progId="">
                  <p:embed/>
                </p:oleObj>
              </mc:Choice>
              <mc:Fallback>
                <p:oleObj name="Equation" r:id="rId4" imgW="609600" imgH="457200" progId="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75" y="2694376"/>
                        <a:ext cx="9144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466725" y="3756414"/>
          <a:ext cx="1438275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52500" imgH="457200" progId="">
                  <p:embed/>
                </p:oleObj>
              </mc:Choice>
              <mc:Fallback>
                <p:oleObj name="Equation" r:id="rId6" imgW="952500" imgH="457200" progId="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" y="3756414"/>
                        <a:ext cx="1438275" cy="690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2057399" y="3541506"/>
            <a:ext cx="61569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Represents the work done by the system per degree rise in temperature in expanding against </a:t>
            </a:r>
            <a:r>
              <a:rPr lang="en-US" altLang="zh-CN" b="1" dirty="0"/>
              <a:t>the internal cohesive forces acting between the constituent particles of the substance </a:t>
            </a:r>
            <a:endParaRPr lang="zh-CN" altLang="en-US" b="1" dirty="0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460375" y="5232789"/>
          <a:ext cx="1598612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993600" imgH="10668000" progId="">
                  <p:embed/>
                </p:oleObj>
              </mc:Choice>
              <mc:Fallback>
                <p:oleObj name="Equation" r:id="rId8" imgW="24993600" imgH="10668000" progId="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75" y="5232789"/>
                        <a:ext cx="1598612" cy="682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2362200" y="5041733"/>
          <a:ext cx="2017713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404800" imgH="21336000" progId="">
                  <p:embed/>
                </p:oleObj>
              </mc:Choice>
              <mc:Fallback>
                <p:oleObj name="Equation" r:id="rId10" imgW="38404800" imgH="21336000" progId="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041733"/>
                        <a:ext cx="2017713" cy="1120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5943600" y="5573713"/>
          <a:ext cx="1411288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288000" imgH="5791200" progId="">
                  <p:embed/>
                </p:oleObj>
              </mc:Choice>
              <mc:Fallback>
                <p:oleObj name="Equation" r:id="rId12" imgW="18288000" imgH="5791200" progId="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5573713"/>
                        <a:ext cx="1411288" cy="44608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791200" y="4933890"/>
            <a:ext cx="14828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For</a:t>
            </a:r>
            <a:r>
              <a:rPr lang="zh-CN" altLang="en-US" sz="2000" dirty="0"/>
              <a:t> </a:t>
            </a:r>
            <a:r>
              <a:rPr lang="en-US" altLang="zh-CN" sz="2000" dirty="0"/>
              <a:t>idea  gas</a:t>
            </a:r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7315200" y="4933890"/>
          <a:ext cx="1385888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21760" imgH="177646" progId="">
                  <p:embed/>
                </p:oleObj>
              </mc:Choice>
              <mc:Fallback>
                <p:oleObj name="Equation" r:id="rId14" imgW="621760" imgH="177646" progId="">
                  <p:embed/>
                  <p:pic>
                    <p:nvPicPr>
                      <p:cNvPr id="28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4933890"/>
                        <a:ext cx="1385888" cy="395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554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0" name="Picture 8" descr="https://upload.wikimedia.org/wikipedia/commons/thumb/5/52/GraphHeatCapacityOfTheElementsI2s.png/800px-GraphHeatCapacityOfTheElementsI2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08" y="1298447"/>
            <a:ext cx="4614337" cy="352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 idx="4294967295"/>
          </p:nvPr>
        </p:nvSpPr>
        <p:spPr>
          <a:xfrm>
            <a:off x="1075957" y="98228"/>
            <a:ext cx="6457950" cy="72339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Dulong</a:t>
            </a:r>
            <a:r>
              <a:rPr lang="en-US" sz="4000" dirty="0">
                <a:solidFill>
                  <a:srgbClr val="FF0000"/>
                </a:solidFill>
              </a:rPr>
              <a:t>-Petit Rule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81870" y="960120"/>
            <a:ext cx="55041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</a:rPr>
              <a:t>3R rule</a:t>
            </a:r>
            <a:r>
              <a:rPr lang="zh-CN" altLang="en-US" sz="2800" dirty="0">
                <a:solidFill>
                  <a:srgbClr val="0000FF"/>
                </a:solidFill>
              </a:rPr>
              <a:t> </a:t>
            </a:r>
            <a:r>
              <a:rPr lang="en-US" altLang="zh-CN" sz="2800" dirty="0">
                <a:solidFill>
                  <a:srgbClr val="0000FF"/>
                </a:solidFill>
              </a:rPr>
              <a:t>for the thermal conductivity!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94"/>
          <a:stretch/>
        </p:blipFill>
        <p:spPr bwMode="auto">
          <a:xfrm>
            <a:off x="4803648" y="1670905"/>
            <a:ext cx="3733905" cy="3029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538182" y="4828416"/>
            <a:ext cx="68227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Experimental shows that 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FF0000"/>
                </a:solidFill>
              </a:rPr>
              <a:t>3R rule is only   valid as T is high enough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altLang="zh-CN" dirty="0" err="1">
                <a:solidFill>
                  <a:srgbClr val="FF0000"/>
                </a:solidFill>
              </a:rPr>
              <a:t>Cv</a:t>
            </a:r>
            <a:r>
              <a:rPr lang="en-US" altLang="zh-CN" dirty="0">
                <a:solidFill>
                  <a:srgbClr val="FF0000"/>
                </a:solidFill>
              </a:rPr>
              <a:t> is  temperature dependent </a:t>
            </a:r>
          </a:p>
        </p:txBody>
      </p:sp>
    </p:spTree>
    <p:extLst>
      <p:ext uri="{BB962C8B-B14F-4D97-AF65-F5344CB8AC3E}">
        <p14:creationId xmlns:p14="http://schemas.microsoft.com/office/powerpoint/2010/main" val="3004484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45897" y="123673"/>
            <a:ext cx="490660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</a:t>
            </a:r>
            <a:r>
              <a:rPr lang="zh-CN" altLang="zh-CN" sz="32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quipartition of energy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302266" y="880835"/>
          <a:ext cx="4906607" cy="8357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11200" imgH="393480" progId="">
                  <p:embed/>
                </p:oleObj>
              </mc:Choice>
              <mc:Fallback>
                <p:oleObj name="Equation" r:id="rId2" imgW="2311200" imgH="393480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2266" y="880835"/>
                        <a:ext cx="4906607" cy="83574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410546" y="1857427"/>
            <a:ext cx="79759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zh-CN" altLang="zh-CN" dirty="0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each degree of freedom would have an average energy in the amount of </a:t>
            </a:r>
            <a:r>
              <a:rPr lang="zh-CN" altLang="zh-CN" i="1" dirty="0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en-US" altLang="zh-CN" i="1" baseline="-25000" dirty="0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zh-CN" i="1" dirty="0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</a:t>
            </a:r>
            <a:r>
              <a:rPr lang="en-US" altLang="zh-CN" i="1" dirty="0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/2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CN" dirty="0"/>
              <a:t>The possible degree of freedom include: translation, rotation and vibration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7951" y="2935249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Internal energy 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and specific heat 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758793" y="3372467"/>
          <a:ext cx="2805112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41400" imgH="393480" progId="">
                  <p:embed/>
                </p:oleObj>
              </mc:Choice>
              <mc:Fallback>
                <p:oleObj name="Equation" r:id="rId4" imgW="1841400" imgH="393480" progId="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793" y="3372467"/>
                        <a:ext cx="2805112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AutoShape 3" descr="{\displaystyle C_{V,m}={\frac {f}{2}}R.}"/>
          <p:cNvSpPr>
            <a:spLocks noChangeAspect="1" noChangeArrowheads="1"/>
          </p:cNvSpPr>
          <p:nvPr/>
        </p:nvSpPr>
        <p:spPr bwMode="auto">
          <a:xfrm>
            <a:off x="288925" y="388132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itchFamily="34" charset="0"/>
              <a:buChar char="•"/>
            </a:pPr>
            <a:endParaRPr lang="zh-CN" altLang="en-US" sz="160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485543" y="4472663"/>
          <a:ext cx="1165379" cy="768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325600" imgH="9448800" progId="">
                  <p:embed/>
                </p:oleObj>
              </mc:Choice>
              <mc:Fallback>
                <p:oleObj name="Equation" r:id="rId6" imgW="14325600" imgH="9448800" progId="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5543" y="4472663"/>
                        <a:ext cx="1165379" cy="7688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76200" y="4001462"/>
            <a:ext cx="26404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CN" b="1" dirty="0"/>
              <a:t>The monatomic gas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93725" y="4392741"/>
          <a:ext cx="118970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411200" imgH="9448800" progId="">
                  <p:embed/>
                </p:oleObj>
              </mc:Choice>
              <mc:Fallback>
                <p:oleObj name="Equation" r:id="rId8" imgW="13411200" imgH="9448800" progId="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" y="4392741"/>
                        <a:ext cx="1189703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3254828" y="4023409"/>
            <a:ext cx="23583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CN" b="1" dirty="0"/>
              <a:t>The diatomic gas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632249" y="4532359"/>
          <a:ext cx="118903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411200" imgH="9448800" progId="">
                  <p:embed/>
                </p:oleObj>
              </mc:Choice>
              <mc:Fallback>
                <p:oleObj name="Equation" r:id="rId10" imgW="13411200" imgH="9448800" progId="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2249" y="4532359"/>
                        <a:ext cx="1189037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7725570" y="4533941"/>
            <a:ext cx="13276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/>
              <a:t>N</a:t>
            </a:r>
            <a:r>
              <a:rPr lang="en-US" altLang="zh-CN" i="1" baseline="-25000" dirty="0"/>
              <a:t>2</a:t>
            </a:r>
            <a:r>
              <a:rPr lang="en-US" altLang="zh-CN" i="1" dirty="0"/>
              <a:t>O: f=13</a:t>
            </a:r>
          </a:p>
          <a:p>
            <a:r>
              <a:rPr lang="en-US" altLang="zh-CN" i="1" dirty="0"/>
              <a:t>H</a:t>
            </a:r>
            <a:r>
              <a:rPr lang="en-US" altLang="zh-CN" i="1" baseline="-25000" dirty="0"/>
              <a:t>2</a:t>
            </a:r>
            <a:r>
              <a:rPr lang="en-US" altLang="zh-CN" i="1" dirty="0"/>
              <a:t>O: f=12  </a:t>
            </a:r>
            <a:endParaRPr lang="zh-CN" altLang="en-US" i="1" dirty="0"/>
          </a:p>
        </p:txBody>
      </p:sp>
      <p:sp>
        <p:nvSpPr>
          <p:cNvPr id="15" name="矩形 14"/>
          <p:cNvSpPr/>
          <p:nvPr/>
        </p:nvSpPr>
        <p:spPr>
          <a:xfrm>
            <a:off x="6090239" y="4033728"/>
            <a:ext cx="312136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CN" sz="1600" b="1" dirty="0"/>
              <a:t>More complicate molecular</a:t>
            </a:r>
          </a:p>
        </p:txBody>
      </p:sp>
      <p:pic>
        <p:nvPicPr>
          <p:cNvPr id="162904" name="Picture 88" descr="See the source imag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8873" y="5463691"/>
            <a:ext cx="938213" cy="75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906" name="Picture 90" descr="See the source image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0133" y="5463691"/>
            <a:ext cx="1113104" cy="617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3978747" y="5896514"/>
            <a:ext cx="1685077" cy="369332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Open question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6422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4C7779F-68E2-4270-8F49-51892E8541BB}"/>
              </a:ext>
            </a:extLst>
          </p:cNvPr>
          <p:cNvSpPr txBox="1"/>
          <p:nvPr/>
        </p:nvSpPr>
        <p:spPr>
          <a:xfrm>
            <a:off x="854579" y="205533"/>
            <a:ext cx="27109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Specific heat</a:t>
            </a:r>
            <a:r>
              <a:rPr lang="zh-CN" altLang="en-US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of H</a:t>
            </a:r>
            <a:r>
              <a:rPr lang="en-US" altLang="zh-CN" sz="2400" baseline="-25000" dirty="0">
                <a:solidFill>
                  <a:srgbClr val="FF0000"/>
                </a:solidFill>
              </a:rPr>
              <a:t>2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D76E14B-12BE-4A4C-8507-8EF951BFD0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5925" y="1543601"/>
          <a:ext cx="6654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83080" imgH="571320" progId="Equation.DSMT4">
                  <p:embed/>
                </p:oleObj>
              </mc:Choice>
              <mc:Fallback>
                <p:oleObj name="Equation" r:id="rId2" imgW="4483080" imgH="5713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AD76E14B-12BE-4A4C-8507-8EF951BFD0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5925" y="1543601"/>
                        <a:ext cx="6654800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BC9178FA-B22A-41B6-B232-4FA8A62FA39E}"/>
              </a:ext>
            </a:extLst>
          </p:cNvPr>
          <p:cNvSpPr txBox="1"/>
          <p:nvPr/>
        </p:nvSpPr>
        <p:spPr>
          <a:xfrm>
            <a:off x="975925" y="2394501"/>
            <a:ext cx="11526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Transitional </a:t>
            </a:r>
          </a:p>
          <a:p>
            <a:pPr algn="ctr"/>
            <a:r>
              <a:rPr lang="en-US" altLang="zh-CN" sz="1400" dirty="0"/>
              <a:t>part</a:t>
            </a:r>
            <a:endParaRPr lang="zh-CN" altLang="en-US" sz="1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E2F655-1024-4F23-95C2-5A01DE0DFACA}"/>
              </a:ext>
            </a:extLst>
          </p:cNvPr>
          <p:cNvSpPr txBox="1"/>
          <p:nvPr/>
        </p:nvSpPr>
        <p:spPr>
          <a:xfrm>
            <a:off x="2164491" y="2394501"/>
            <a:ext cx="10807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Rotational </a:t>
            </a:r>
          </a:p>
          <a:p>
            <a:pPr algn="ctr"/>
            <a:r>
              <a:rPr lang="en-US" altLang="zh-CN" sz="1400" dirty="0"/>
              <a:t>part</a:t>
            </a:r>
            <a:endParaRPr lang="zh-CN" altLang="en-US" sz="1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A741FF-D189-4B39-BDF4-D9A4688EFFFD}"/>
              </a:ext>
            </a:extLst>
          </p:cNvPr>
          <p:cNvSpPr txBox="1"/>
          <p:nvPr/>
        </p:nvSpPr>
        <p:spPr>
          <a:xfrm>
            <a:off x="4781080" y="2465004"/>
            <a:ext cx="938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Vibration </a:t>
            </a:r>
          </a:p>
          <a:p>
            <a:pPr algn="ctr"/>
            <a:r>
              <a:rPr lang="en-US" altLang="zh-CN" sz="1400" dirty="0"/>
              <a:t>part</a:t>
            </a:r>
            <a:endParaRPr lang="zh-CN" altLang="en-US" sz="1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5E2AED-AF43-4566-8D1E-0F282B42DF57}"/>
              </a:ext>
            </a:extLst>
          </p:cNvPr>
          <p:cNvSpPr txBox="1"/>
          <p:nvPr/>
        </p:nvSpPr>
        <p:spPr>
          <a:xfrm>
            <a:off x="313471" y="4147306"/>
            <a:ext cx="37020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rotational temperature of</a:t>
            </a:r>
            <a:r>
              <a:rPr lang="zh-CN" altLang="en-US" sz="1400" dirty="0"/>
              <a:t> </a:t>
            </a:r>
            <a:r>
              <a:rPr lang="en-US" altLang="zh-CN" sz="1400" dirty="0"/>
              <a:t>a</a:t>
            </a:r>
            <a:r>
              <a:rPr lang="zh-CN" altLang="en-US" sz="1400" dirty="0"/>
              <a:t> </a:t>
            </a:r>
            <a:r>
              <a:rPr lang="en-US" altLang="zh-CN" sz="1400" dirty="0"/>
              <a:t>hydrogen</a:t>
            </a:r>
            <a:r>
              <a:rPr lang="zh-CN" altLang="en-US" sz="1400" dirty="0"/>
              <a:t> </a:t>
            </a:r>
            <a:r>
              <a:rPr lang="en-US" altLang="zh-CN" sz="1400" dirty="0"/>
              <a:t>molecular</a:t>
            </a:r>
            <a:r>
              <a:rPr lang="zh-CN" altLang="en-US" sz="1400" dirty="0"/>
              <a:t> </a:t>
            </a:r>
            <a:r>
              <a:rPr lang="en-US" altLang="zh-CN" sz="1400" dirty="0"/>
              <a:t>is</a:t>
            </a:r>
            <a:r>
              <a:rPr lang="zh-CN" altLang="en-US" sz="1400" dirty="0"/>
              <a:t> </a:t>
            </a:r>
            <a:r>
              <a:rPr lang="en-US" altLang="zh-CN" sz="1400" dirty="0"/>
              <a:t>85.3</a:t>
            </a:r>
            <a:r>
              <a:rPr lang="zh-CN" altLang="en-US" sz="1400" dirty="0"/>
              <a:t> </a:t>
            </a:r>
            <a:r>
              <a:rPr lang="en-US" altLang="zh-CN" sz="1400" dirty="0"/>
              <a:t>K,</a:t>
            </a:r>
            <a:r>
              <a:rPr lang="zh-CN" altLang="en-US" sz="1400" dirty="0"/>
              <a:t> 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vibrational</a:t>
            </a:r>
            <a:r>
              <a:rPr lang="zh-CN" altLang="en-US" sz="1400" dirty="0"/>
              <a:t> </a:t>
            </a:r>
            <a:r>
              <a:rPr lang="en-US" altLang="zh-CN" sz="1400" dirty="0"/>
              <a:t>temperature</a:t>
            </a:r>
            <a:r>
              <a:rPr lang="zh-CN" altLang="en-US" sz="1400" dirty="0"/>
              <a:t> </a:t>
            </a:r>
            <a:r>
              <a:rPr lang="en-US" altLang="zh-CN" sz="1400" dirty="0"/>
              <a:t>is</a:t>
            </a:r>
            <a:r>
              <a:rPr lang="zh-CN" altLang="en-US" sz="1400" dirty="0"/>
              <a:t> </a:t>
            </a:r>
            <a:r>
              <a:rPr lang="en-US" altLang="zh-CN" sz="1400" dirty="0"/>
              <a:t>6332K,</a:t>
            </a:r>
            <a:endParaRPr lang="zh-CN" altLang="en-US" sz="14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2BEE7A3-D6D0-49F9-989B-2A0B763173B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47" t="34909" r="20000" b="25099"/>
          <a:stretch/>
        </p:blipFill>
        <p:spPr>
          <a:xfrm>
            <a:off x="3822015" y="3429000"/>
            <a:ext cx="4665669" cy="215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694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idx="4294967295"/>
          </p:nvPr>
        </p:nvSpPr>
        <p:spPr>
          <a:xfrm>
            <a:off x="941832" y="0"/>
            <a:ext cx="6457950" cy="77724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Einstein model</a:t>
            </a:r>
            <a:endParaRPr lang="en-US" sz="3200" baseline="-25000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5127" y="3947659"/>
            <a:ext cx="837805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CN" dirty="0"/>
              <a:t>A crystal containing </a:t>
            </a:r>
            <a:r>
              <a:rPr lang="en-US" altLang="zh-CN" i="1" dirty="0"/>
              <a:t>n </a:t>
            </a:r>
            <a:r>
              <a:rPr lang="en-US" altLang="zh-CN" dirty="0"/>
              <a:t>atoms,  </a:t>
            </a:r>
            <a:r>
              <a:rPr lang="en-US" altLang="zh-CN" b="1" dirty="0">
                <a:solidFill>
                  <a:srgbClr val="0000FF"/>
                </a:solidFill>
              </a:rPr>
              <a:t>each atom behaves as a harmonic oscillator vibrating independently about its lattice point</a:t>
            </a:r>
            <a:r>
              <a:rPr lang="en-US" altLang="zh-CN" dirty="0">
                <a:solidFill>
                  <a:srgbClr val="0000FF"/>
                </a:solidFill>
              </a:rPr>
              <a:t>.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altLang="zh-CN" b="1" dirty="0">
              <a:solidFill>
                <a:srgbClr val="7030A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CN" dirty="0"/>
              <a:t>As the behavior of each oscillator is not influenced by the behavior of its neighbors, each oscillator vibrates with a single fixed frequency </a:t>
            </a:r>
            <a:r>
              <a:rPr lang="en-US" altLang="zh-CN" i="1" dirty="0"/>
              <a:t>v</a:t>
            </a:r>
          </a:p>
          <a:p>
            <a:pPr marL="285750" indent="-285750">
              <a:buFont typeface="Arial" pitchFamily="34" charset="0"/>
              <a:buChar char="•"/>
            </a:pPr>
            <a:endParaRPr lang="en-US" altLang="zh-CN" b="1" i="1" dirty="0">
              <a:solidFill>
                <a:srgbClr val="7030A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CN" dirty="0"/>
              <a:t>A system of such oscillators is called an Einstein crystal.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641234" y="3366544"/>
            <a:ext cx="24673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</a:rPr>
              <a:t>Einstein model, 1907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pic>
        <p:nvPicPr>
          <p:cNvPr id="1556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61" y="931856"/>
            <a:ext cx="2768579" cy="2245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图片 3">
            <a:extLst>
              <a:ext uri="{FF2B5EF4-FFF2-40B4-BE49-F238E27FC236}">
                <a16:creationId xmlns:a16="http://schemas.microsoft.com/office/drawing/2014/main" id="{B251E0D4-56CA-E54A-B1E0-A2B9332B2E3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1" t="3683" r="6542" b="22292"/>
          <a:stretch/>
        </p:blipFill>
        <p:spPr bwMode="auto">
          <a:xfrm>
            <a:off x="3966860" y="810463"/>
            <a:ext cx="1656142" cy="2091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接箭头连接符 2"/>
          <p:cNvCxnSpPr/>
          <p:nvPr/>
        </p:nvCxnSpPr>
        <p:spPr>
          <a:xfrm>
            <a:off x="6391469" y="2835301"/>
            <a:ext cx="214604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V="1">
            <a:off x="6391469" y="931856"/>
            <a:ext cx="0" cy="19034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 rot="16200000">
            <a:off x="5543245" y="1714301"/>
            <a:ext cx="1152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Frequency</a:t>
            </a:r>
            <a:endParaRPr lang="zh-CN" altLang="en-US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6774160" y="2830624"/>
            <a:ext cx="1194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Wave Vector</a:t>
            </a:r>
            <a:endParaRPr lang="zh-CN" altLang="en-US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6152435" y="2747931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sz="1400" i="1" dirty="0">
                <a:latin typeface="Times New Roman" pitchFamily="18" charset="0"/>
                <a:cs typeface="Times New Roman" pitchFamily="18" charset="0"/>
              </a:rPr>
              <a:t>Γ</a:t>
            </a:r>
            <a:endParaRPr lang="zh-CN" alt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6439693" y="1595535"/>
            <a:ext cx="2023172" cy="0"/>
          </a:xfrm>
          <a:prstGeom prst="line">
            <a:avLst/>
          </a:prstGeom>
          <a:ln w="476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406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320866" y="865802"/>
            <a:ext cx="526174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As each oscillator has three degrees of freedom, i.e., can vibrate in the </a:t>
            </a:r>
            <a:r>
              <a:rPr lang="en-US" altLang="zh-CN" i="1" dirty="0"/>
              <a:t>x, y, </a:t>
            </a:r>
            <a:r>
              <a:rPr lang="en-US" altLang="zh-CN" dirty="0"/>
              <a:t>and </a:t>
            </a:r>
            <a:r>
              <a:rPr lang="en-US" altLang="zh-CN" i="1" dirty="0"/>
              <a:t>z </a:t>
            </a:r>
            <a:r>
              <a:rPr lang="en-US" altLang="zh-CN" dirty="0"/>
              <a:t>directions, </a:t>
            </a:r>
          </a:p>
          <a:p>
            <a:endParaRPr lang="en-US" altLang="zh-CN" dirty="0"/>
          </a:p>
          <a:p>
            <a:r>
              <a:rPr lang="en-US" altLang="zh-CN" dirty="0"/>
              <a:t>the energy, </a:t>
            </a:r>
            <a:r>
              <a:rPr lang="en-US" altLang="zh-CN" i="1" dirty="0"/>
              <a:t>U’, </a:t>
            </a:r>
            <a:r>
              <a:rPr lang="en-US" altLang="zh-CN" dirty="0"/>
              <a:t>of the Einstein crystal (which can be considered to be a system of 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i="1" dirty="0">
                <a:solidFill>
                  <a:srgbClr val="FF0000"/>
                </a:solidFill>
              </a:rPr>
              <a:t>n </a:t>
            </a:r>
            <a:r>
              <a:rPr lang="en-US" altLang="zh-CN" b="1" dirty="0">
                <a:solidFill>
                  <a:srgbClr val="FF0000"/>
                </a:solidFill>
              </a:rPr>
              <a:t>linear harmonic oscillators</a:t>
            </a:r>
            <a:r>
              <a:rPr lang="en-US" altLang="zh-CN" dirty="0"/>
              <a:t>) is given a</a:t>
            </a:r>
            <a:endParaRPr lang="zh-CN" alt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109783" y="0"/>
            <a:ext cx="6457950" cy="777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solidFill>
                  <a:srgbClr val="FF0000"/>
                </a:solidFill>
              </a:rPr>
              <a:t>Einstein model</a:t>
            </a:r>
            <a:endParaRPr lang="en-US" sz="3200" baseline="-250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944" y="865802"/>
            <a:ext cx="2624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CN" sz="2000" b="1" dirty="0"/>
              <a:t>Quantized energy</a:t>
            </a:r>
            <a:endParaRPr lang="zh-CN" altLang="en-US" sz="2000" b="1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8938542"/>
              </p:ext>
            </p:extLst>
          </p:nvPr>
        </p:nvGraphicFramePr>
        <p:xfrm>
          <a:off x="546748" y="1474107"/>
          <a:ext cx="2086768" cy="1043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5920" imgH="507960" progId="">
                  <p:embed/>
                </p:oleObj>
              </mc:Choice>
              <mc:Fallback>
                <p:oleObj name="Equation" r:id="rId2" imgW="1015920" imgH="507960" progId="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748" y="1474107"/>
                        <a:ext cx="2086768" cy="10433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05796" y="3247112"/>
          <a:ext cx="1570038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18960" imgH="965160" progId="">
                  <p:embed/>
                </p:oleObj>
              </mc:Choice>
              <mc:Fallback>
                <p:oleObj name="Equation" r:id="rId4" imgW="1218960" imgH="965160" progId="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796" y="3247112"/>
                        <a:ext cx="1570038" cy="1247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6944" y="2847002"/>
            <a:ext cx="25939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CN" sz="2000" b="1" dirty="0"/>
              <a:t>Partition function</a:t>
            </a:r>
            <a:endParaRPr lang="zh-CN" altLang="en-US" sz="2000" b="1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6030839"/>
              </p:ext>
            </p:extLst>
          </p:nvPr>
        </p:nvGraphicFramePr>
        <p:xfrm>
          <a:off x="3467100" y="2735263"/>
          <a:ext cx="3998913" cy="379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81000" imgH="2641320" progId="">
                  <p:embed/>
                </p:oleObj>
              </mc:Choice>
              <mc:Fallback>
                <p:oleObj name="Equation" r:id="rId6" imgW="2781000" imgH="2641320" progId="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100" y="2735263"/>
                        <a:ext cx="3998913" cy="3794125"/>
                      </a:xfrm>
                      <a:prstGeom prst="rect">
                        <a:avLst/>
                      </a:prstGeom>
                      <a:solidFill>
                        <a:srgbClr val="E2F0D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636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2067342"/>
              </p:ext>
            </p:extLst>
          </p:nvPr>
        </p:nvGraphicFramePr>
        <p:xfrm>
          <a:off x="347663" y="857250"/>
          <a:ext cx="2597150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11200" imgH="914400" progId="">
                  <p:embed/>
                </p:oleObj>
              </mc:Choice>
              <mc:Fallback>
                <p:oleObj name="Equation" r:id="rId2" imgW="2311200" imgH="914400" progId="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663" y="857250"/>
                        <a:ext cx="2597150" cy="1027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11150" y="1885950"/>
          <a:ext cx="3270250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33640" imgH="685800" progId="">
                  <p:embed/>
                </p:oleObj>
              </mc:Choice>
              <mc:Fallback>
                <p:oleObj name="Equation" r:id="rId4" imgW="2933640" imgH="685800" progId="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50" y="1885950"/>
                        <a:ext cx="3270250" cy="763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680371" y="1193087"/>
          <a:ext cx="3196557" cy="1260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6000" imgH="901440" progId="">
                  <p:embed/>
                </p:oleObj>
              </mc:Choice>
              <mc:Fallback>
                <p:oleObj name="Equation" r:id="rId6" imgW="2286000" imgH="901440" progId="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0371" y="1193087"/>
                        <a:ext cx="3196557" cy="12608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62347" y="2775274"/>
          <a:ext cx="3836987" cy="315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41600" imgH="2831760" progId="">
                  <p:embed/>
                </p:oleObj>
              </mc:Choice>
              <mc:Fallback>
                <p:oleObj name="Equation" r:id="rId8" imgW="3441600" imgH="2831760" progId="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347" y="2775274"/>
                        <a:ext cx="3836987" cy="3152775"/>
                      </a:xfrm>
                      <a:prstGeom prst="rect">
                        <a:avLst/>
                      </a:prstGeom>
                      <a:solidFill>
                        <a:srgbClr val="E2F0D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itle 1"/>
          <p:cNvSpPr txBox="1">
            <a:spLocks/>
          </p:cNvSpPr>
          <p:nvPr/>
        </p:nvSpPr>
        <p:spPr>
          <a:xfrm>
            <a:off x="1109783" y="0"/>
            <a:ext cx="6457950" cy="777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solidFill>
                  <a:srgbClr val="FF0000"/>
                </a:solidFill>
              </a:rPr>
              <a:t>Einstein model</a:t>
            </a:r>
            <a:endParaRPr lang="en-US" sz="3200" baseline="-25000" dirty="0">
              <a:solidFill>
                <a:srgbClr val="FF0000"/>
              </a:solidFill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765698" y="2937911"/>
          <a:ext cx="3372868" cy="747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77960" imgH="571320" progId="">
                  <p:embed/>
                </p:oleObj>
              </mc:Choice>
              <mc:Fallback>
                <p:oleObj name="Equation" r:id="rId10" imgW="2577960" imgH="571320" progId="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5698" y="2937911"/>
                        <a:ext cx="3372868" cy="7476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/>
          <p:cNvSpPr/>
          <p:nvPr/>
        </p:nvSpPr>
        <p:spPr>
          <a:xfrm>
            <a:off x="4264115" y="3859763"/>
            <a:ext cx="464662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CN" dirty="0"/>
              <a:t>Defining </a:t>
            </a:r>
            <a:r>
              <a:rPr lang="en-US" altLang="zh-CN" i="1" dirty="0" err="1"/>
              <a:t>hv</a:t>
            </a:r>
            <a:r>
              <a:rPr lang="en-US" altLang="zh-CN" i="1" dirty="0"/>
              <a:t>/k</a:t>
            </a:r>
            <a:r>
              <a:rPr lang="en-US" altLang="zh-CN" dirty="0"/>
              <a:t>=</a:t>
            </a:r>
            <a:r>
              <a:rPr lang="el-GR" altLang="zh-CN" dirty="0">
                <a:latin typeface="Times New Roman" panose="02020603050405020304"/>
                <a:cs typeface="Times New Roman" panose="02020603050405020304"/>
              </a:rPr>
              <a:t>θ</a:t>
            </a:r>
            <a:r>
              <a:rPr lang="en-US" altLang="zh-CN" baseline="-250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lang="en-US" altLang="zh-CN" dirty="0"/>
              <a:t>, where </a:t>
            </a:r>
            <a:r>
              <a:rPr lang="el-GR" altLang="zh-CN" dirty="0">
                <a:latin typeface="Times New Roman" panose="02020603050405020304"/>
                <a:cs typeface="Times New Roman" panose="02020603050405020304"/>
              </a:rPr>
              <a:t>θ</a:t>
            </a:r>
            <a:r>
              <a:rPr lang="en-US" altLang="zh-CN" baseline="-250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lang="en-US" altLang="zh-CN" i="1" dirty="0"/>
              <a:t> </a:t>
            </a:r>
            <a:r>
              <a:rPr lang="en-US" altLang="zh-CN" dirty="0"/>
              <a:t>is the Einstein characteristic temperature,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CN" i="1" dirty="0"/>
              <a:t>n </a:t>
            </a:r>
            <a:r>
              <a:rPr lang="en-US" altLang="zh-CN" dirty="0"/>
              <a:t>equal to Avogadro’s number N</a:t>
            </a:r>
            <a:r>
              <a:rPr lang="en-US" altLang="zh-CN" baseline="-25000" dirty="0"/>
              <a:t>a</a:t>
            </a:r>
            <a:r>
              <a:rPr lang="en-US" altLang="zh-CN" dirty="0"/>
              <a:t>, </a:t>
            </a:r>
            <a:r>
              <a:rPr lang="en-US" altLang="zh-CN" dirty="0" err="1"/>
              <a:t>nk</a:t>
            </a:r>
            <a:r>
              <a:rPr lang="en-US" altLang="zh-CN" baseline="-25000" dirty="0" err="1"/>
              <a:t>B</a:t>
            </a:r>
            <a:r>
              <a:rPr lang="en-US" altLang="zh-CN" dirty="0"/>
              <a:t> =R</a:t>
            </a:r>
            <a:endParaRPr lang="zh-CN" altLang="en-US" dirty="0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4547799" y="4953000"/>
          <a:ext cx="2916237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8404800" imgH="13411200" progId="">
                  <p:embed/>
                </p:oleObj>
              </mc:Choice>
              <mc:Fallback>
                <p:oleObj name="Equation" r:id="rId12" imgW="38404800" imgH="13411200" progId="">
                  <p:embed/>
                  <p:pic>
                    <p:nvPicPr>
                      <p:cNvPr id="19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7799" y="4953000"/>
                        <a:ext cx="2916237" cy="1017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1326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473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905000"/>
            <a:ext cx="4038600" cy="350520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043843" y="117973"/>
            <a:ext cx="40018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Einstein model of </a:t>
            </a:r>
            <a:r>
              <a:rPr lang="en-US" altLang="zh-CN" sz="3600" b="1" dirty="0" err="1">
                <a:solidFill>
                  <a:srgbClr val="FF0000"/>
                </a:solidFill>
              </a:rPr>
              <a:t>c</a:t>
            </a:r>
            <a:r>
              <a:rPr lang="en-US" altLang="zh-CN" sz="3600" b="1" baseline="-25000" dirty="0" err="1">
                <a:solidFill>
                  <a:srgbClr val="FF0000"/>
                </a:solidFill>
              </a:rPr>
              <a:t>V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16718" y="3429000"/>
            <a:ext cx="15452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0000FF"/>
                </a:solidFill>
              </a:rPr>
              <a:t>Experimental data</a:t>
            </a:r>
            <a:endParaRPr lang="zh-CN" altLang="en-US" sz="1400" b="1" dirty="0">
              <a:solidFill>
                <a:srgbClr val="0000FF"/>
              </a:solidFill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2203289" y="3429000"/>
            <a:ext cx="1682911" cy="685800"/>
          </a:xfrm>
          <a:prstGeom prst="roundRect">
            <a:avLst/>
          </a:prstGeom>
          <a:solidFill>
            <a:schemeClr val="accent3">
              <a:lumMod val="60000"/>
              <a:lumOff val="40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648200" y="1905000"/>
            <a:ext cx="39624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0000FF"/>
                </a:solidFill>
              </a:rPr>
              <a:t>as </a:t>
            </a:r>
            <a:r>
              <a:rPr lang="en-US" altLang="zh-CN" i="1" dirty="0">
                <a:solidFill>
                  <a:srgbClr val="0000FF"/>
                </a:solidFill>
              </a:rPr>
              <a:t>T</a:t>
            </a:r>
            <a:r>
              <a:rPr lang="en-US" altLang="zh-CN" dirty="0">
                <a:solidFill>
                  <a:srgbClr val="0000FF"/>
                </a:solidFill>
              </a:rPr>
              <a:t>/</a:t>
            </a:r>
            <a:r>
              <a:rPr lang="el-GR" altLang="zh-CN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θ</a:t>
            </a:r>
            <a:r>
              <a:rPr lang="en-US" altLang="zh-CN" i="1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increases, </a:t>
            </a:r>
            <a:r>
              <a:rPr lang="en-US" altLang="zh-CN" i="1" dirty="0" err="1">
                <a:solidFill>
                  <a:srgbClr val="0000FF"/>
                </a:solidFill>
              </a:rPr>
              <a:t>Cv</a:t>
            </a:r>
            <a:r>
              <a:rPr lang="en-US" altLang="zh-CN" dirty="0">
                <a:solidFill>
                  <a:srgbClr val="0000FF"/>
                </a:solidFill>
              </a:rPr>
              <a:t>→ 3</a:t>
            </a:r>
            <a:r>
              <a:rPr lang="en-US" altLang="zh-CN" i="1" dirty="0">
                <a:solidFill>
                  <a:srgbClr val="0000FF"/>
                </a:solidFill>
              </a:rPr>
              <a:t>R </a:t>
            </a:r>
            <a:r>
              <a:rPr lang="en-US" altLang="zh-CN" i="1" dirty="0"/>
              <a:t>, </a:t>
            </a:r>
            <a:r>
              <a:rPr lang="en-US" altLang="zh-CN" dirty="0"/>
              <a:t>in agreement with </a:t>
            </a:r>
            <a:r>
              <a:rPr lang="en-US" altLang="zh-CN" dirty="0" err="1"/>
              <a:t>Dulong</a:t>
            </a:r>
            <a:r>
              <a:rPr lang="en-US" altLang="zh-CN" dirty="0"/>
              <a:t> and </a:t>
            </a:r>
            <a:r>
              <a:rPr lang="en-US" altLang="zh-CN" dirty="0" err="1"/>
              <a:t>Petit’s</a:t>
            </a:r>
            <a:r>
              <a:rPr lang="en-US" altLang="zh-CN" dirty="0"/>
              <a:t> law,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0000FF"/>
                </a:solidFill>
              </a:rPr>
              <a:t>as </a:t>
            </a:r>
            <a:r>
              <a:rPr lang="en-US" altLang="zh-CN" i="1" dirty="0">
                <a:solidFill>
                  <a:srgbClr val="0000FF"/>
                </a:solidFill>
              </a:rPr>
              <a:t>T </a:t>
            </a:r>
            <a:r>
              <a:rPr lang="en-US" altLang="zh-CN" dirty="0">
                <a:solidFill>
                  <a:srgbClr val="0000FF"/>
                </a:solidFill>
              </a:rPr>
              <a:t>→ 0, </a:t>
            </a:r>
            <a:r>
              <a:rPr lang="en-US" altLang="zh-CN" i="1" dirty="0" err="1">
                <a:solidFill>
                  <a:srgbClr val="0000FF"/>
                </a:solidFill>
              </a:rPr>
              <a:t>Cv</a:t>
            </a:r>
            <a:r>
              <a:rPr lang="en-US" altLang="zh-CN" dirty="0">
                <a:solidFill>
                  <a:srgbClr val="0000FF"/>
                </a:solidFill>
              </a:rPr>
              <a:t>→ 0</a:t>
            </a:r>
            <a:r>
              <a:rPr lang="en-US" altLang="zh-CN" dirty="0"/>
              <a:t>, which is in agreement with experimental observation.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4761886" y="4114800"/>
            <a:ext cx="429182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There is some discrepancy between experimental data and Einstein’s model 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 because of the assumption the oscillators vibrate with a single frequency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142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099441"/>
            <a:ext cx="4078183" cy="3049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73205"/>
            <a:ext cx="5248275" cy="1805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4" name="Picture 6" descr="Related imag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073" y="2081048"/>
            <a:ext cx="3294527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2400" y="6107668"/>
            <a:ext cx="2361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Nature 395, 876 (1998)</a:t>
            </a:r>
            <a:endParaRPr lang="zh-CN" altLang="en-US" dirty="0"/>
          </a:p>
        </p:txBody>
      </p:sp>
      <p:pic>
        <p:nvPicPr>
          <p:cNvPr id="17415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0510" y="5149213"/>
            <a:ext cx="4536035" cy="488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33062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A1085F3-7795-4F50-9A38-6320D5874023}"/>
              </a:ext>
            </a:extLst>
          </p:cNvPr>
          <p:cNvSpPr/>
          <p:nvPr/>
        </p:nvSpPr>
        <p:spPr>
          <a:xfrm>
            <a:off x="2542515" y="83127"/>
            <a:ext cx="35092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Debye model of c</a:t>
            </a:r>
            <a:r>
              <a:rPr lang="en-US" altLang="zh-CN" sz="3200" baseline="-25000" dirty="0">
                <a:solidFill>
                  <a:srgbClr val="FF0000"/>
                </a:solidFill>
              </a:rPr>
              <a:t>v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90E7EEA-D60A-44C0-891D-B668F8C2C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549" y="1473091"/>
            <a:ext cx="1366934" cy="2050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346CCCA-B6D2-4300-A5B0-F5F018F32DA6}"/>
              </a:ext>
            </a:extLst>
          </p:cNvPr>
          <p:cNvSpPr/>
          <p:nvPr/>
        </p:nvSpPr>
        <p:spPr>
          <a:xfrm>
            <a:off x="869549" y="3523492"/>
            <a:ext cx="14670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Peter Debye</a:t>
            </a:r>
          </a:p>
          <a:p>
            <a:r>
              <a:rPr lang="en-US" altLang="zh-CN" dirty="0"/>
              <a:t>1884-1966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251DA4-B513-4F69-8A82-30B4B3BB1A66}"/>
              </a:ext>
            </a:extLst>
          </p:cNvPr>
          <p:cNvSpPr/>
          <p:nvPr/>
        </p:nvSpPr>
        <p:spPr>
          <a:xfrm>
            <a:off x="317035" y="4184767"/>
            <a:ext cx="26035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/>
              <a:t>Nobel Prize in Chemistry 1936</a:t>
            </a:r>
            <a:endParaRPr lang="zh-CN" altLang="en-US" sz="1400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61833B1-D1EA-456E-9530-93B4597BBB8D}"/>
              </a:ext>
            </a:extLst>
          </p:cNvPr>
          <p:cNvCxnSpPr/>
          <p:nvPr/>
        </p:nvCxnSpPr>
        <p:spPr>
          <a:xfrm>
            <a:off x="3730025" y="3228318"/>
            <a:ext cx="214604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817CDBD-96B8-433E-B218-729FCFE9DB5B}"/>
              </a:ext>
            </a:extLst>
          </p:cNvPr>
          <p:cNvCxnSpPr/>
          <p:nvPr/>
        </p:nvCxnSpPr>
        <p:spPr>
          <a:xfrm flipV="1">
            <a:off x="3730025" y="1324873"/>
            <a:ext cx="0" cy="19034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AD78D2F-0520-4F03-A610-55DDF1CF9FA0}"/>
              </a:ext>
            </a:extLst>
          </p:cNvPr>
          <p:cNvSpPr txBox="1"/>
          <p:nvPr/>
        </p:nvSpPr>
        <p:spPr>
          <a:xfrm rot="16200000">
            <a:off x="2881801" y="2107318"/>
            <a:ext cx="1152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Frequency</a:t>
            </a:r>
            <a:endParaRPr lang="zh-CN" alt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9FA48C-FDEC-4E62-B3E3-F83A0BA783DF}"/>
              </a:ext>
            </a:extLst>
          </p:cNvPr>
          <p:cNvSpPr txBox="1"/>
          <p:nvPr/>
        </p:nvSpPr>
        <p:spPr>
          <a:xfrm>
            <a:off x="4112716" y="3223641"/>
            <a:ext cx="1194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Wave Vector</a:t>
            </a:r>
            <a:endParaRPr lang="zh-CN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9421F3-4469-400C-A53D-DBB5F4AF7603}"/>
              </a:ext>
            </a:extLst>
          </p:cNvPr>
          <p:cNvSpPr txBox="1"/>
          <p:nvPr/>
        </p:nvSpPr>
        <p:spPr>
          <a:xfrm>
            <a:off x="3490991" y="3140948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sz="1400" i="1" dirty="0">
                <a:latin typeface="Times New Roman" pitchFamily="18" charset="0"/>
                <a:cs typeface="Times New Roman" pitchFamily="18" charset="0"/>
              </a:rPr>
              <a:t>Γ</a:t>
            </a:r>
            <a:endParaRPr lang="zh-CN" alt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A90E9E5-93E6-4247-B8B1-98E782E37AED}"/>
              </a:ext>
            </a:extLst>
          </p:cNvPr>
          <p:cNvCxnSpPr/>
          <p:nvPr/>
        </p:nvCxnSpPr>
        <p:spPr>
          <a:xfrm flipV="1">
            <a:off x="3730025" y="2005745"/>
            <a:ext cx="1399592" cy="1222574"/>
          </a:xfrm>
          <a:prstGeom prst="line">
            <a:avLst/>
          </a:prstGeom>
          <a:ln w="476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3">
            <a:extLst>
              <a:ext uri="{FF2B5EF4-FFF2-40B4-BE49-F238E27FC236}">
                <a16:creationId xmlns:a16="http://schemas.microsoft.com/office/drawing/2014/main" id="{D4004AFE-2912-4277-AB5F-24447769EEBD}"/>
              </a:ext>
            </a:extLst>
          </p:cNvPr>
          <p:cNvSpPr txBox="1"/>
          <p:nvPr/>
        </p:nvSpPr>
        <p:spPr>
          <a:xfrm>
            <a:off x="3232442" y="3652982"/>
            <a:ext cx="29576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CN" sz="1600" dirty="0"/>
              <a:t>linear dispersion relationship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CN" sz="1600" dirty="0"/>
              <a:t>Cut-off frequency:  </a:t>
            </a:r>
            <a:r>
              <a:rPr lang="el-GR" altLang="zh-CN" sz="1600" dirty="0"/>
              <a:t>ω</a:t>
            </a:r>
            <a:r>
              <a:rPr lang="en-US" altLang="zh-CN" sz="1600" baseline="-25000" dirty="0"/>
              <a:t>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CN" sz="1600" dirty="0"/>
              <a:t>Cut-off frequency:  </a:t>
            </a:r>
            <a:r>
              <a:rPr lang="en-US" altLang="zh-CN" sz="1600" dirty="0" err="1"/>
              <a:t>k</a:t>
            </a:r>
            <a:r>
              <a:rPr lang="en-US" altLang="zh-CN" sz="1600" baseline="-25000" dirty="0" err="1"/>
              <a:t>D</a:t>
            </a:r>
            <a:endParaRPr lang="en-US" altLang="zh-CN" sz="1600" baseline="-25000" dirty="0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2824EFF3-B095-4338-B37F-F63753EE43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40930"/>
              </p:ext>
            </p:extLst>
          </p:nvPr>
        </p:nvGraphicFramePr>
        <p:xfrm>
          <a:off x="4068649" y="2211894"/>
          <a:ext cx="615950" cy="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69800" imgH="177480" progId="">
                  <p:embed/>
                </p:oleObj>
              </mc:Choice>
              <mc:Fallback>
                <p:oleObj name="Equation" r:id="rId3" imgW="469800" imgH="177480" progId="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2824EFF3-B095-4338-B37F-F63753EE43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8649" y="2211894"/>
                        <a:ext cx="615950" cy="231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36E0197-FFB6-4A10-A165-563220DB11DA}"/>
              </a:ext>
            </a:extLst>
          </p:cNvPr>
          <p:cNvCxnSpPr/>
          <p:nvPr/>
        </p:nvCxnSpPr>
        <p:spPr>
          <a:xfrm flipH="1">
            <a:off x="3778249" y="2005745"/>
            <a:ext cx="1840653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2B8E2AFE-57D2-4524-9018-D43923E19F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8204733"/>
              </p:ext>
            </p:extLst>
          </p:nvPr>
        </p:nvGraphicFramePr>
        <p:xfrm>
          <a:off x="5286262" y="1653094"/>
          <a:ext cx="280987" cy="29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5640" imgH="228600" progId="">
                  <p:embed/>
                </p:oleObj>
              </mc:Choice>
              <mc:Fallback>
                <p:oleObj name="Equation" r:id="rId5" imgW="215640" imgH="228600" progId="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2B8E2AFE-57D2-4524-9018-D43923E19F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262" y="1653094"/>
                        <a:ext cx="280987" cy="296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任意多边形 22">
            <a:extLst>
              <a:ext uri="{FF2B5EF4-FFF2-40B4-BE49-F238E27FC236}">
                <a16:creationId xmlns:a16="http://schemas.microsoft.com/office/drawing/2014/main" id="{D073BEAC-22CC-4FCA-9BD2-F74A6216BAD3}"/>
              </a:ext>
            </a:extLst>
          </p:cNvPr>
          <p:cNvSpPr/>
          <p:nvPr/>
        </p:nvSpPr>
        <p:spPr>
          <a:xfrm>
            <a:off x="4140572" y="1445909"/>
            <a:ext cx="242596" cy="858416"/>
          </a:xfrm>
          <a:custGeom>
            <a:avLst/>
            <a:gdLst>
              <a:gd name="connsiteX0" fmla="*/ 18662 w 242596"/>
              <a:gd name="connsiteY0" fmla="*/ 858416 h 858416"/>
              <a:gd name="connsiteX1" fmla="*/ 0 w 242596"/>
              <a:gd name="connsiteY1" fmla="*/ 307910 h 858416"/>
              <a:gd name="connsiteX2" fmla="*/ 242596 w 242596"/>
              <a:gd name="connsiteY2" fmla="*/ 0 h 858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596" h="858416">
                <a:moveTo>
                  <a:pt x="18662" y="858416"/>
                </a:moveTo>
                <a:lnTo>
                  <a:pt x="0" y="307910"/>
                </a:lnTo>
                <a:lnTo>
                  <a:pt x="242596" y="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23">
            <a:extLst>
              <a:ext uri="{FF2B5EF4-FFF2-40B4-BE49-F238E27FC236}">
                <a16:creationId xmlns:a16="http://schemas.microsoft.com/office/drawing/2014/main" id="{5A335DBE-B091-42CE-BC5E-F7ECEBA5C0A5}"/>
              </a:ext>
            </a:extLst>
          </p:cNvPr>
          <p:cNvSpPr txBox="1"/>
          <p:nvPr/>
        </p:nvSpPr>
        <p:spPr>
          <a:xfrm>
            <a:off x="3944752" y="1110073"/>
            <a:ext cx="9701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Angular </a:t>
            </a:r>
          </a:p>
          <a:p>
            <a:r>
              <a:rPr lang="en-US" altLang="zh-CN" sz="1400" dirty="0"/>
              <a:t>frequency</a:t>
            </a:r>
            <a:endParaRPr lang="zh-CN" altLang="en-US" sz="1400" dirty="0"/>
          </a:p>
        </p:txBody>
      </p:sp>
      <p:sp>
        <p:nvSpPr>
          <p:cNvPr id="19" name="TextBox 27">
            <a:extLst>
              <a:ext uri="{FF2B5EF4-FFF2-40B4-BE49-F238E27FC236}">
                <a16:creationId xmlns:a16="http://schemas.microsoft.com/office/drawing/2014/main" id="{59755527-D033-4264-9EA7-84D8B9A54E97}"/>
              </a:ext>
            </a:extLst>
          </p:cNvPr>
          <p:cNvSpPr txBox="1"/>
          <p:nvPr/>
        </p:nvSpPr>
        <p:spPr>
          <a:xfrm>
            <a:off x="4411022" y="2699279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Wave</a:t>
            </a:r>
          </a:p>
          <a:p>
            <a:r>
              <a:rPr lang="en-US" altLang="zh-CN" sz="1400" dirty="0"/>
              <a:t>vector</a:t>
            </a:r>
            <a:endParaRPr lang="zh-CN" altLang="en-US" sz="1400" dirty="0"/>
          </a:p>
        </p:txBody>
      </p:sp>
      <p:sp>
        <p:nvSpPr>
          <p:cNvPr id="20" name="任意多边形 24">
            <a:extLst>
              <a:ext uri="{FF2B5EF4-FFF2-40B4-BE49-F238E27FC236}">
                <a16:creationId xmlns:a16="http://schemas.microsoft.com/office/drawing/2014/main" id="{B546D796-35B4-4EEE-9AFE-0AD361CAC06D}"/>
              </a:ext>
            </a:extLst>
          </p:cNvPr>
          <p:cNvSpPr/>
          <p:nvPr/>
        </p:nvSpPr>
        <p:spPr>
          <a:xfrm>
            <a:off x="4625764" y="2360309"/>
            <a:ext cx="270588" cy="363893"/>
          </a:xfrm>
          <a:custGeom>
            <a:avLst/>
            <a:gdLst>
              <a:gd name="connsiteX0" fmla="*/ 0 w 270588"/>
              <a:gd name="connsiteY0" fmla="*/ 0 h 363893"/>
              <a:gd name="connsiteX1" fmla="*/ 102637 w 270588"/>
              <a:gd name="connsiteY1" fmla="*/ 307910 h 363893"/>
              <a:gd name="connsiteX2" fmla="*/ 270588 w 270588"/>
              <a:gd name="connsiteY2" fmla="*/ 363893 h 363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588" h="363893">
                <a:moveTo>
                  <a:pt x="0" y="0"/>
                </a:moveTo>
                <a:lnTo>
                  <a:pt x="102637" y="307910"/>
                </a:lnTo>
                <a:lnTo>
                  <a:pt x="270588" y="363893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 25">
            <a:extLst>
              <a:ext uri="{FF2B5EF4-FFF2-40B4-BE49-F238E27FC236}">
                <a16:creationId xmlns:a16="http://schemas.microsoft.com/office/drawing/2014/main" id="{E93597E6-1651-452B-B9BE-58BA98AD8B52}"/>
              </a:ext>
            </a:extLst>
          </p:cNvPr>
          <p:cNvSpPr/>
          <p:nvPr/>
        </p:nvSpPr>
        <p:spPr>
          <a:xfrm>
            <a:off x="4476475" y="1445909"/>
            <a:ext cx="746448" cy="821093"/>
          </a:xfrm>
          <a:custGeom>
            <a:avLst/>
            <a:gdLst>
              <a:gd name="connsiteX0" fmla="*/ 0 w 746448"/>
              <a:gd name="connsiteY0" fmla="*/ 821093 h 821093"/>
              <a:gd name="connsiteX1" fmla="*/ 447869 w 746448"/>
              <a:gd name="connsiteY1" fmla="*/ 186612 h 821093"/>
              <a:gd name="connsiteX2" fmla="*/ 746448 w 746448"/>
              <a:gd name="connsiteY2" fmla="*/ 0 h 821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6448" h="821093">
                <a:moveTo>
                  <a:pt x="0" y="821093"/>
                </a:moveTo>
                <a:lnTo>
                  <a:pt x="447869" y="186612"/>
                </a:lnTo>
                <a:lnTo>
                  <a:pt x="746448" y="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TextBox 30">
            <a:extLst>
              <a:ext uri="{FF2B5EF4-FFF2-40B4-BE49-F238E27FC236}">
                <a16:creationId xmlns:a16="http://schemas.microsoft.com/office/drawing/2014/main" id="{EB4C05DF-1B74-4FD5-B469-22C9D52A3C55}"/>
              </a:ext>
            </a:extLst>
          </p:cNvPr>
          <p:cNvSpPr txBox="1"/>
          <p:nvPr/>
        </p:nvSpPr>
        <p:spPr>
          <a:xfrm>
            <a:off x="5157681" y="922689"/>
            <a:ext cx="8018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Phonon</a:t>
            </a:r>
          </a:p>
          <a:p>
            <a:r>
              <a:rPr lang="en-US" altLang="zh-CN" sz="1400" dirty="0"/>
              <a:t>velocity</a:t>
            </a:r>
            <a:endParaRPr lang="zh-CN" altLang="en-US" sz="1400" dirty="0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4BFD352-BFDE-4423-9912-1D911C59A95A}"/>
              </a:ext>
            </a:extLst>
          </p:cNvPr>
          <p:cNvCxnSpPr/>
          <p:nvPr/>
        </p:nvCxnSpPr>
        <p:spPr>
          <a:xfrm flipH="1">
            <a:off x="5129617" y="1865786"/>
            <a:ext cx="1" cy="1357855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B1E85560-92E8-42EB-87D4-BEAD4A0503EF}"/>
              </a:ext>
            </a:extLst>
          </p:cNvPr>
          <p:cNvSpPr/>
          <p:nvPr/>
        </p:nvSpPr>
        <p:spPr>
          <a:xfrm>
            <a:off x="444872" y="4931275"/>
            <a:ext cx="7391400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dirty="0"/>
              <a:t>Einstein’s assumption:  </a:t>
            </a:r>
          </a:p>
          <a:p>
            <a:r>
              <a:rPr lang="en-US" altLang="zh-CN" sz="2000" dirty="0"/>
              <a:t>the assumption the oscillators vibrate with a single frequency</a:t>
            </a:r>
            <a:endParaRPr lang="zh-CN" altLang="en-US" sz="20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33E0874-F98F-42E4-AA05-0FAB9EEB875E}"/>
              </a:ext>
            </a:extLst>
          </p:cNvPr>
          <p:cNvSpPr/>
          <p:nvPr/>
        </p:nvSpPr>
        <p:spPr>
          <a:xfrm>
            <a:off x="444872" y="5791561"/>
            <a:ext cx="7391400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dirty="0"/>
              <a:t>Debye’s modification:  </a:t>
            </a:r>
          </a:p>
          <a:p>
            <a:r>
              <a:rPr lang="en-US" altLang="zh-CN" sz="2000" dirty="0"/>
              <a:t>the oscillators vibrate with in a rang of frequency</a:t>
            </a:r>
            <a:endParaRPr lang="zh-CN" altLang="en-US" sz="2000" dirty="0"/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EA738C28-AF00-4D97-9F95-7AC6254801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755525"/>
              </p:ext>
            </p:extLst>
          </p:nvPr>
        </p:nvGraphicFramePr>
        <p:xfrm>
          <a:off x="6417420" y="3045968"/>
          <a:ext cx="2401536" cy="392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01720" imgH="279360" progId="">
                  <p:embed/>
                </p:oleObj>
              </mc:Choice>
              <mc:Fallback>
                <p:oleObj name="Equation" r:id="rId7" imgW="1701720" imgH="279360" progId="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EA738C28-AF00-4D97-9F95-7AC6254801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7420" y="3045968"/>
                        <a:ext cx="2401536" cy="3929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93F046FA-E029-4B3C-BE1A-5471EAF4CF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6561945"/>
              </p:ext>
            </p:extLst>
          </p:nvPr>
        </p:nvGraphicFramePr>
        <p:xfrm>
          <a:off x="6491288" y="1706563"/>
          <a:ext cx="1497012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02960" imgH="507960" progId="">
                  <p:embed/>
                </p:oleObj>
              </mc:Choice>
              <mc:Fallback>
                <p:oleObj name="Equation" r:id="rId9" imgW="1002960" imgH="507960" progId="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93F046FA-E029-4B3C-BE1A-5471EAF4CF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1288" y="1706563"/>
                        <a:ext cx="1497012" cy="757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7">
            <a:extLst>
              <a:ext uri="{FF2B5EF4-FFF2-40B4-BE49-F238E27FC236}">
                <a16:creationId xmlns:a16="http://schemas.microsoft.com/office/drawing/2014/main" id="{AA67F607-AB7C-4377-AC51-3BB8AFC9FF7B}"/>
              </a:ext>
            </a:extLst>
          </p:cNvPr>
          <p:cNvSpPr txBox="1"/>
          <p:nvPr/>
        </p:nvSpPr>
        <p:spPr>
          <a:xfrm>
            <a:off x="6567815" y="3829443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Wave</a:t>
            </a:r>
          </a:p>
          <a:p>
            <a:r>
              <a:rPr lang="en-US" altLang="zh-CN" sz="1400" dirty="0"/>
              <a:t>vector</a:t>
            </a:r>
            <a:endParaRPr lang="zh-CN" altLang="en-US" sz="1400" dirty="0"/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CEA4A73A-4933-44D8-BBDF-6B1D5D03BF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319346"/>
              </p:ext>
            </p:extLst>
          </p:nvPr>
        </p:nvGraphicFramePr>
        <p:xfrm>
          <a:off x="7321550" y="3813175"/>
          <a:ext cx="720725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82400" imgH="393480" progId="">
                  <p:embed/>
                </p:oleObj>
              </mc:Choice>
              <mc:Fallback>
                <p:oleObj name="Equation" r:id="rId11" imgW="482400" imgH="393480" progId="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CEA4A73A-4933-44D8-BBDF-6B1D5D03BF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1550" y="3813175"/>
                        <a:ext cx="720725" cy="587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50117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0252819C-B254-4222-AFF6-50762CAF5A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6111633"/>
              </p:ext>
            </p:extLst>
          </p:nvPr>
        </p:nvGraphicFramePr>
        <p:xfrm>
          <a:off x="789704" y="1042600"/>
          <a:ext cx="2401536" cy="392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01720" imgH="279360" progId="">
                  <p:embed/>
                </p:oleObj>
              </mc:Choice>
              <mc:Fallback>
                <p:oleObj name="Equation" r:id="rId2" imgW="1701720" imgH="279360" progId="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0252819C-B254-4222-AFF6-50762CAF5A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704" y="1042600"/>
                        <a:ext cx="2401536" cy="3929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9C6FA5F7-5193-4D2E-A1D1-FEDC14FDC7F7}"/>
              </a:ext>
            </a:extLst>
          </p:cNvPr>
          <p:cNvSpPr/>
          <p:nvPr/>
        </p:nvSpPr>
        <p:spPr>
          <a:xfrm>
            <a:off x="2542515" y="83127"/>
            <a:ext cx="35092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Debye model of c</a:t>
            </a:r>
            <a:r>
              <a:rPr lang="en-US" altLang="zh-CN" sz="3200" baseline="-25000" dirty="0">
                <a:solidFill>
                  <a:srgbClr val="FF0000"/>
                </a:solidFill>
              </a:rPr>
              <a:t>v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E74C9F-69E6-4C8E-9FF4-4567E5DE36C7}"/>
              </a:ext>
            </a:extLst>
          </p:cNvPr>
          <p:cNvSpPr txBox="1"/>
          <p:nvPr/>
        </p:nvSpPr>
        <p:spPr>
          <a:xfrm>
            <a:off x="1012973" y="1718800"/>
            <a:ext cx="28607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frequency distribution function of vibration mode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719F1A-8178-4479-876B-2217A7F8AC9E}"/>
              </a:ext>
            </a:extLst>
          </p:cNvPr>
          <p:cNvSpPr txBox="1"/>
          <p:nvPr/>
        </p:nvSpPr>
        <p:spPr>
          <a:xfrm>
            <a:off x="411475" y="1850625"/>
            <a:ext cx="756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D(</a:t>
            </a:r>
            <a:r>
              <a:rPr lang="el-GR" altLang="zh-CN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B323B34-E2AD-4A59-BE7F-3F1188565786}"/>
              </a:ext>
            </a:extLst>
          </p:cNvPr>
          <p:cNvSpPr txBox="1"/>
          <p:nvPr/>
        </p:nvSpPr>
        <p:spPr>
          <a:xfrm>
            <a:off x="411475" y="2648388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CN" sz="1600" dirty="0"/>
              <a:t>linear dispersion relationship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257E77D-7E37-4CF7-BB47-C0497E39F8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642805"/>
              </p:ext>
            </p:extLst>
          </p:nvPr>
        </p:nvGraphicFramePr>
        <p:xfrm>
          <a:off x="1827402" y="3069202"/>
          <a:ext cx="615950" cy="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9800" imgH="177480" progId="">
                  <p:embed/>
                </p:oleObj>
              </mc:Choice>
              <mc:Fallback>
                <p:oleObj name="Equation" r:id="rId4" imgW="469800" imgH="177480" progId="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F257E77D-7E37-4CF7-BB47-C0497E39F8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7402" y="3069202"/>
                        <a:ext cx="615950" cy="231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8F52F77E-70CC-4C72-BA1E-8BE06B7930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3709197"/>
              </p:ext>
            </p:extLst>
          </p:nvPr>
        </p:nvGraphicFramePr>
        <p:xfrm>
          <a:off x="1312863" y="3824288"/>
          <a:ext cx="1647825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57120" imgH="469800" progId="">
                  <p:embed/>
                </p:oleObj>
              </mc:Choice>
              <mc:Fallback>
                <p:oleObj name="Equation" r:id="rId6" imgW="1257120" imgH="469800" progId="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8F52F77E-70CC-4C72-BA1E-8BE06B7930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2863" y="3824288"/>
                        <a:ext cx="1647825" cy="612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CEEA35DB-944B-4768-9A15-4CA66EC12FD5}"/>
              </a:ext>
            </a:extLst>
          </p:cNvPr>
          <p:cNvSpPr txBox="1"/>
          <p:nvPr/>
        </p:nvSpPr>
        <p:spPr>
          <a:xfrm>
            <a:off x="411475" y="3466933"/>
            <a:ext cx="26939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600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number of phonons  </a:t>
            </a:r>
            <a:endParaRPr lang="zh-CN" altLang="zh-CN" sz="16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DE9D780-FF53-43A7-AC5C-414AFD9C06AE}"/>
              </a:ext>
            </a:extLst>
          </p:cNvPr>
          <p:cNvSpPr txBox="1"/>
          <p:nvPr/>
        </p:nvSpPr>
        <p:spPr>
          <a:xfrm>
            <a:off x="678409" y="4469412"/>
            <a:ext cx="13060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distribution</a:t>
            </a:r>
          </a:p>
          <a:p>
            <a:pPr algn="r"/>
            <a:r>
              <a:rPr lang="en-US" altLang="zh-CN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density 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437B224-02E3-45B2-A94E-B0831E9EC839}"/>
              </a:ext>
            </a:extLst>
          </p:cNvPr>
          <p:cNvSpPr txBox="1"/>
          <p:nvPr/>
        </p:nvSpPr>
        <p:spPr>
          <a:xfrm>
            <a:off x="2030371" y="4469412"/>
            <a:ext cx="15191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kern="100" dirty="0">
                <a:solidFill>
                  <a:srgbClr val="0000FF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volume of spherical shell</a:t>
            </a:r>
            <a:endParaRPr lang="zh-CN" altLang="en-US" sz="1400" dirty="0">
              <a:solidFill>
                <a:srgbClr val="0000FF"/>
              </a:solidFill>
            </a:endParaRPr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1C5F9B6B-DBFC-4AE3-9E26-D0BD4B602B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8595445"/>
              </p:ext>
            </p:extLst>
          </p:nvPr>
        </p:nvGraphicFramePr>
        <p:xfrm>
          <a:off x="1312863" y="5314950"/>
          <a:ext cx="1531937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68200" imgH="393480" progId="">
                  <p:embed/>
                </p:oleObj>
              </mc:Choice>
              <mc:Fallback>
                <p:oleObj name="Equation" r:id="rId8" imgW="1168200" imgH="393480" progId="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1C5F9B6B-DBFC-4AE3-9E26-D0BD4B602B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2863" y="5314950"/>
                        <a:ext cx="1531937" cy="512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>
            <a:extLst>
              <a:ext uri="{FF2B5EF4-FFF2-40B4-BE49-F238E27FC236}">
                <a16:creationId xmlns:a16="http://schemas.microsoft.com/office/drawing/2014/main" id="{6783E993-48DA-4DB0-9A6A-567EE9BE6648}"/>
              </a:ext>
            </a:extLst>
          </p:cNvPr>
          <p:cNvSpPr txBox="1"/>
          <p:nvPr/>
        </p:nvSpPr>
        <p:spPr>
          <a:xfrm>
            <a:off x="411475" y="5031807"/>
            <a:ext cx="26939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600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number of phonons  </a:t>
            </a:r>
            <a:endParaRPr lang="zh-CN" altLang="zh-CN" sz="16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123807A-40DD-4CAF-8AFE-E1195B880B16}"/>
              </a:ext>
            </a:extLst>
          </p:cNvPr>
          <p:cNvSpPr txBox="1"/>
          <p:nvPr/>
        </p:nvSpPr>
        <p:spPr>
          <a:xfrm>
            <a:off x="4485669" y="1112795"/>
            <a:ext cx="3509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kern="100" dirty="0">
                <a:solidFill>
                  <a:srgbClr val="0000FF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Frequency distribution</a:t>
            </a:r>
            <a:endParaRPr lang="zh-CN" altLang="zh-CN" kern="100" dirty="0">
              <a:solidFill>
                <a:srgbClr val="0000FF"/>
              </a:solidFill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14F4C5BA-380B-4A86-A020-A5C7081774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8909338"/>
              </p:ext>
            </p:extLst>
          </p:nvPr>
        </p:nvGraphicFramePr>
        <p:xfrm>
          <a:off x="4843610" y="1623755"/>
          <a:ext cx="1482725" cy="115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30040" imgH="888840" progId="">
                  <p:embed/>
                </p:oleObj>
              </mc:Choice>
              <mc:Fallback>
                <p:oleObj name="Equation" r:id="rId10" imgW="1130040" imgH="888840" progId="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14F4C5BA-380B-4A86-A020-A5C7081774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3610" y="1623755"/>
                        <a:ext cx="1482725" cy="1157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文本框 37">
            <a:extLst>
              <a:ext uri="{FF2B5EF4-FFF2-40B4-BE49-F238E27FC236}">
                <a16:creationId xmlns:a16="http://schemas.microsoft.com/office/drawing/2014/main" id="{7476148D-B165-4F50-8F1A-6FB5AD13AF60}"/>
              </a:ext>
            </a:extLst>
          </p:cNvPr>
          <p:cNvSpPr txBox="1"/>
          <p:nvPr/>
        </p:nvSpPr>
        <p:spPr>
          <a:xfrm>
            <a:off x="4297162" y="3174179"/>
            <a:ext cx="3509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kern="100" dirty="0">
                <a:solidFill>
                  <a:srgbClr val="0000FF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Debye Frequency</a:t>
            </a:r>
            <a:endParaRPr lang="zh-CN" altLang="zh-CN" kern="100" dirty="0">
              <a:solidFill>
                <a:srgbClr val="0000FF"/>
              </a:solidFill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836504F9-822A-40D7-BAE5-CC681FFDB0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3548436"/>
              </p:ext>
            </p:extLst>
          </p:nvPr>
        </p:nvGraphicFramePr>
        <p:xfrm>
          <a:off x="4983475" y="3755193"/>
          <a:ext cx="3011488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98600" imgH="393480" progId="">
                  <p:embed/>
                </p:oleObj>
              </mc:Choice>
              <mc:Fallback>
                <p:oleObj name="Equation" r:id="rId12" imgW="2298600" imgH="393480" progId="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836504F9-822A-40D7-BAE5-CC681FFDB0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3475" y="3755193"/>
                        <a:ext cx="3011488" cy="512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1C19F48F-C5EE-4895-ADFF-85633573E6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466800"/>
              </p:ext>
            </p:extLst>
          </p:nvPr>
        </p:nvGraphicFramePr>
        <p:xfrm>
          <a:off x="5054919" y="4464647"/>
          <a:ext cx="1697037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95280" imgH="482400" progId="">
                  <p:embed/>
                </p:oleObj>
              </mc:Choice>
              <mc:Fallback>
                <p:oleObj name="Equation" r:id="rId14" imgW="1295280" imgH="482400" progId="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1C19F48F-C5EE-4895-ADFF-85633573E6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4919" y="4464647"/>
                        <a:ext cx="1697037" cy="62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9683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3014A5C6-41E6-441D-82AE-A8DCCF601D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0272114"/>
              </p:ext>
            </p:extLst>
          </p:nvPr>
        </p:nvGraphicFramePr>
        <p:xfrm>
          <a:off x="698264" y="697444"/>
          <a:ext cx="2401536" cy="392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01720" imgH="279360" progId="">
                  <p:embed/>
                </p:oleObj>
              </mc:Choice>
              <mc:Fallback>
                <p:oleObj name="Equation" r:id="rId2" imgW="1701720" imgH="279360" progId="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3014A5C6-41E6-441D-82AE-A8DCCF601D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264" y="697444"/>
                        <a:ext cx="2401536" cy="3929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A7DFE02F-CBF2-48FF-A291-46D1644417DB}"/>
              </a:ext>
            </a:extLst>
          </p:cNvPr>
          <p:cNvSpPr txBox="1"/>
          <p:nvPr/>
        </p:nvSpPr>
        <p:spPr>
          <a:xfrm>
            <a:off x="1012383" y="1443504"/>
            <a:ext cx="44657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Thermal equilibrium occupancy of wavevector k</a:t>
            </a:r>
          </a:p>
          <a:p>
            <a:r>
              <a:rPr lang="en-US" altLang="zh-CN" sz="1400" kern="100" dirty="0">
                <a:ea typeface="等线" panose="02010600030101010101" pitchFamily="2" charset="-122"/>
                <a:cs typeface="Times New Roman" panose="02020603050405020304" pitchFamily="18" charset="0"/>
              </a:rPr>
              <a:t>It follows the </a:t>
            </a:r>
            <a:r>
              <a:rPr lang="en-US" altLang="zh-CN" sz="1400" dirty="0"/>
              <a:t>Bose-Einstein distribution </a:t>
            </a:r>
            <a:endParaRPr lang="zh-CN" altLang="en-US" sz="1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1C05638-01B2-4512-9D09-7197061B6234}"/>
              </a:ext>
            </a:extLst>
          </p:cNvPr>
          <p:cNvSpPr txBox="1"/>
          <p:nvPr/>
        </p:nvSpPr>
        <p:spPr>
          <a:xfrm>
            <a:off x="74815" y="1505469"/>
            <a:ext cx="1001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&lt;n(</a:t>
            </a:r>
            <a:r>
              <a:rPr lang="el-GR" altLang="zh-CN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)&gt;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2FE919-A3D8-44F8-B868-7CCAC12AF48D}"/>
              </a:ext>
            </a:extLst>
          </p:cNvPr>
          <p:cNvSpPr/>
          <p:nvPr/>
        </p:nvSpPr>
        <p:spPr>
          <a:xfrm>
            <a:off x="2542515" y="83127"/>
            <a:ext cx="35092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Debye model of c</a:t>
            </a:r>
            <a:r>
              <a:rPr lang="en-US" altLang="zh-CN" sz="3200" baseline="-25000" dirty="0">
                <a:solidFill>
                  <a:srgbClr val="FF0000"/>
                </a:solidFill>
              </a:rPr>
              <a:t>v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74AEC2C-0105-4D58-AA9B-FB5222B78D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5836955"/>
              </p:ext>
            </p:extLst>
          </p:nvPr>
        </p:nvGraphicFramePr>
        <p:xfrm>
          <a:off x="5479462" y="1393976"/>
          <a:ext cx="2419350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14320" imgH="444240" progId="">
                  <p:embed/>
                </p:oleObj>
              </mc:Choice>
              <mc:Fallback>
                <p:oleObj name="Equation" r:id="rId4" imgW="1714320" imgH="444240" progId="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474AEC2C-0105-4D58-AA9B-FB5222B78D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9462" y="1393976"/>
                        <a:ext cx="2419350" cy="627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E40628A-2024-4423-BA4E-EB53101F38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6030193"/>
              </p:ext>
            </p:extLst>
          </p:nvPr>
        </p:nvGraphicFramePr>
        <p:xfrm>
          <a:off x="468604" y="2449781"/>
          <a:ext cx="306546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71520" imgH="393480" progId="">
                  <p:embed/>
                </p:oleObj>
              </mc:Choice>
              <mc:Fallback>
                <p:oleObj name="Equation" r:id="rId6" imgW="2171520" imgH="393480" progId="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6E40628A-2024-4423-BA4E-EB53101F38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604" y="2449781"/>
                        <a:ext cx="3065462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B6F18DD-455C-4A8B-818B-626573D3EC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8014855"/>
              </p:ext>
            </p:extLst>
          </p:nvPr>
        </p:nvGraphicFramePr>
        <p:xfrm>
          <a:off x="442410" y="3189351"/>
          <a:ext cx="155892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04840" imgH="431640" progId="">
                  <p:embed/>
                </p:oleObj>
              </mc:Choice>
              <mc:Fallback>
                <p:oleObj name="Equation" r:id="rId8" imgW="1104840" imgH="431640" progId="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2B6F18DD-455C-4A8B-818B-626573D3EC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410" y="3189351"/>
                        <a:ext cx="1558925" cy="606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0704238-4B1E-49F1-ACED-50A7A771E8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504766"/>
              </p:ext>
            </p:extLst>
          </p:nvPr>
        </p:nvGraphicFramePr>
        <p:xfrm>
          <a:off x="4429384" y="3568035"/>
          <a:ext cx="2687663" cy="833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41400" imgH="571320" progId="">
                  <p:embed/>
                </p:oleObj>
              </mc:Choice>
              <mc:Fallback>
                <p:oleObj name="Equation" r:id="rId10" imgW="1841400" imgH="571320" progId="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90704238-4B1E-49F1-ACED-50A7A771E8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384" y="3568035"/>
                        <a:ext cx="2687663" cy="833960"/>
                      </a:xfrm>
                      <a:prstGeom prst="rect">
                        <a:avLst/>
                      </a:prstGeom>
                      <a:solidFill>
                        <a:srgbClr val="F4B183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9B216F52-A942-490D-BE97-0A525AA3A1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7775684"/>
              </p:ext>
            </p:extLst>
          </p:nvPr>
        </p:nvGraphicFramePr>
        <p:xfrm>
          <a:off x="4429384" y="2422783"/>
          <a:ext cx="3244850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98600" imgH="533160" progId="">
                  <p:embed/>
                </p:oleObj>
              </mc:Choice>
              <mc:Fallback>
                <p:oleObj name="Equation" r:id="rId12" imgW="2298600" imgH="533160" progId="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9B216F52-A942-490D-BE97-0A525AA3A1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384" y="2422783"/>
                        <a:ext cx="3244850" cy="747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DA3444B-0420-46A8-979B-A17E4AAA8A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4516603"/>
              </p:ext>
            </p:extLst>
          </p:nvPr>
        </p:nvGraphicFramePr>
        <p:xfrm>
          <a:off x="698264" y="5261052"/>
          <a:ext cx="1739900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31560" imgH="507960" progId="">
                  <p:embed/>
                </p:oleObj>
              </mc:Choice>
              <mc:Fallback>
                <p:oleObj name="Equation" r:id="rId14" imgW="1231560" imgH="507960" progId="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ADA3444B-0420-46A8-979B-A17E4AAA8A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264" y="5261052"/>
                        <a:ext cx="1739900" cy="712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FDE040C0-D37A-4435-816C-95D8B3E8D91D}"/>
              </a:ext>
            </a:extLst>
          </p:cNvPr>
          <p:cNvSpPr txBox="1"/>
          <p:nvPr/>
        </p:nvSpPr>
        <p:spPr>
          <a:xfrm>
            <a:off x="331991" y="4521945"/>
            <a:ext cx="3509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kern="100" dirty="0">
                <a:solidFill>
                  <a:srgbClr val="0000FF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Debye Frequency</a:t>
            </a:r>
            <a:endParaRPr lang="zh-CN" altLang="zh-CN" kern="100" dirty="0">
              <a:solidFill>
                <a:srgbClr val="0000FF"/>
              </a:solidFill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8772C3C-F117-429A-893D-C9D48AFC642B}"/>
              </a:ext>
            </a:extLst>
          </p:cNvPr>
          <p:cNvSpPr txBox="1"/>
          <p:nvPr/>
        </p:nvSpPr>
        <p:spPr>
          <a:xfrm>
            <a:off x="3102234" y="5261052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Debye heat capacity function contains</a:t>
            </a:r>
          </a:p>
          <a:p>
            <a:pPr algn="ctr"/>
            <a:r>
              <a:rPr lang="en-US" altLang="zh-CN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 only one parameter Debye temperature. 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F725262-2A05-4AAC-B347-2F8C080F6C7B}"/>
              </a:ext>
            </a:extLst>
          </p:cNvPr>
          <p:cNvSpPr txBox="1"/>
          <p:nvPr/>
        </p:nvSpPr>
        <p:spPr>
          <a:xfrm>
            <a:off x="468604" y="3813838"/>
            <a:ext cx="2932502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/>
              <a:t>T</a:t>
            </a:r>
            <a:r>
              <a:rPr lang="en-US" altLang="zh-CN" sz="1400" b="0" i="0" u="none" strike="noStrike" baseline="0" dirty="0"/>
              <a:t>he factor of 3 accounts for</a:t>
            </a:r>
          </a:p>
          <a:p>
            <a:r>
              <a:rPr lang="en-US" altLang="zh-CN" sz="1400" b="0" i="0" u="none" strike="noStrike" baseline="0" dirty="0"/>
              <a:t> the three phonon polarizations.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11839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108621" y="134034"/>
            <a:ext cx="40062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</a:rPr>
              <a:t>Debye model of c</a:t>
            </a:r>
            <a:r>
              <a:rPr lang="en-US" altLang="zh-CN" sz="3600" baseline="-25000" dirty="0">
                <a:solidFill>
                  <a:srgbClr val="FF0000"/>
                </a:solidFill>
              </a:rPr>
              <a:t>v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14337" name="image477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293" y="1380249"/>
            <a:ext cx="4594949" cy="3527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607795" y="5631556"/>
            <a:ext cx="754560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01020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Figure 6.3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1020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constant-volume molar heat capacities of several solid elements. The curves are the Debye equation with the indicated values of </a:t>
            </a:r>
            <a:r>
              <a:rPr kumimoji="0" lang="en-US" altLang="zh-CN" sz="1600" b="0" i="0" u="none" strike="noStrike" cap="none" normalizeH="0" dirty="0">
                <a:ln>
                  <a:noFill/>
                </a:ln>
                <a:solidFill>
                  <a:srgbClr val="01020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l-GR" altLang="zh-CN" sz="1600" b="0" i="0" u="none" strike="noStrike" cap="none" normalizeH="0" dirty="0">
                <a:ln>
                  <a:noFill/>
                </a:ln>
                <a:solidFill>
                  <a:srgbClr val="010202"/>
                </a:solidFill>
                <a:effectLst/>
                <a:latin typeface="Times New Roman" panose="02020603050405020304"/>
                <a:ea typeface="Times New Roman" panose="02020603050405020304" pitchFamily="18" charset="0"/>
                <a:cs typeface="Times New Roman" panose="02020603050405020304"/>
              </a:rPr>
              <a:t>θ</a:t>
            </a:r>
            <a:r>
              <a:rPr kumimoji="0" lang="en-US" altLang="zh-CN" sz="1050" b="0" i="1" u="none" strike="noStrike" cap="none" normalizeH="0" baseline="0" dirty="0">
                <a:ln>
                  <a:noFill/>
                </a:ln>
                <a:solidFill>
                  <a:srgbClr val="01020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1020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zh-CN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66039" y="5094514"/>
            <a:ext cx="6039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The  materials with heavier atom has smaller  </a:t>
            </a:r>
            <a:r>
              <a:rPr lang="el-GR" altLang="zh-CN" sz="2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θ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D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1711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1067452" y="6105"/>
            <a:ext cx="39805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</a:rPr>
              <a:t>Debye model of </a:t>
            </a:r>
            <a:r>
              <a:rPr lang="en-US" altLang="zh-CN" sz="3600" dirty="0" err="1">
                <a:solidFill>
                  <a:srgbClr val="FF0000"/>
                </a:solidFill>
              </a:rPr>
              <a:t>c</a:t>
            </a:r>
            <a:r>
              <a:rPr lang="en-US" altLang="zh-CN" sz="3600" baseline="-25000" dirty="0" err="1">
                <a:solidFill>
                  <a:srgbClr val="FF0000"/>
                </a:solidFill>
              </a:rPr>
              <a:t>V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pic>
        <p:nvPicPr>
          <p:cNvPr id="19" name="image473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2064" y="1254946"/>
            <a:ext cx="3770727" cy="3111780"/>
          </a:xfrm>
          <a:prstGeom prst="rect">
            <a:avLst/>
          </a:prstGeom>
        </p:spPr>
      </p:pic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4743450" y="3227388"/>
          <a:ext cx="120967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154400" imgH="11277600" progId="">
                  <p:embed/>
                </p:oleObj>
              </mc:Choice>
              <mc:Fallback>
                <p:oleObj name="Equation" r:id="rId3" imgW="16154400" imgH="11277600" progId="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3450" y="3227388"/>
                        <a:ext cx="1209675" cy="844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610101" y="2487670"/>
            <a:ext cx="38651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</a:rPr>
              <a:t>Debye’s T</a:t>
            </a:r>
            <a:r>
              <a:rPr lang="en-US" altLang="zh-CN" b="1" baseline="30000" dirty="0">
                <a:solidFill>
                  <a:srgbClr val="0000FF"/>
                </a:solidFill>
              </a:rPr>
              <a:t>3</a:t>
            </a:r>
            <a:r>
              <a:rPr lang="en-US" altLang="zh-CN" b="1" dirty="0">
                <a:solidFill>
                  <a:srgbClr val="0000FF"/>
                </a:solidFill>
              </a:rPr>
              <a:t> –Law </a:t>
            </a:r>
          </a:p>
          <a:p>
            <a:r>
              <a:rPr lang="en-US" altLang="zh-CN" b="1" dirty="0">
                <a:solidFill>
                  <a:srgbClr val="0000FF"/>
                </a:solidFill>
              </a:rPr>
              <a:t>for low temperature heat capacity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2248" y="4969236"/>
            <a:ext cx="3617337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Some limitation of Debye’s mode: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46632" y="5488976"/>
            <a:ext cx="7099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CN" dirty="0"/>
              <a:t>The introduction of cut-off seems very arbitrary</a:t>
            </a:r>
            <a:r>
              <a:rPr lang="zh-CN" altLang="en-US" dirty="0"/>
              <a:t>，</a:t>
            </a:r>
            <a:r>
              <a:rPr lang="en-US" altLang="zh-CN" dirty="0"/>
              <a:t>not make sense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CN" dirty="0"/>
              <a:t>Linear dispersion relationship is not true at high wave vector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5620249"/>
              </p:ext>
            </p:extLst>
          </p:nvPr>
        </p:nvGraphicFramePr>
        <p:xfrm>
          <a:off x="4835526" y="1369024"/>
          <a:ext cx="200977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90640" imgH="571320" progId="">
                  <p:embed/>
                </p:oleObj>
              </mc:Choice>
              <mc:Fallback>
                <p:oleObj name="Equation" r:id="rId5" imgW="1790640" imgH="571320" progId="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5526" y="1369024"/>
                        <a:ext cx="2009775" cy="641350"/>
                      </a:xfrm>
                      <a:prstGeom prst="rect">
                        <a:avLst/>
                      </a:prstGeom>
                      <a:solidFill>
                        <a:srgbClr val="F4B183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30113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1">
            <a:extLst>
              <a:ext uri="{FF2B5EF4-FFF2-40B4-BE49-F238E27FC236}">
                <a16:creationId xmlns:a16="http://schemas.microsoft.com/office/drawing/2014/main" id="{5A92FA8D-76B3-4579-ADE9-EEFD8CD5BEF7}"/>
              </a:ext>
            </a:extLst>
          </p:cNvPr>
          <p:cNvSpPr txBox="1"/>
          <p:nvPr/>
        </p:nvSpPr>
        <p:spPr>
          <a:xfrm>
            <a:off x="1348880" y="3368987"/>
            <a:ext cx="398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20. Sine dispersion relation</a:t>
            </a:r>
            <a:r>
              <a:rPr lang="en-US" altLang="zh-CN" sz="2400" dirty="0"/>
              <a:t>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8305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601288" y="1213896"/>
            <a:ext cx="7391400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dirty="0"/>
              <a:t>Einstein’s assumption:  </a:t>
            </a:r>
          </a:p>
          <a:p>
            <a:r>
              <a:rPr lang="en-US" altLang="zh-CN" sz="2000" dirty="0"/>
              <a:t>the assumption the oscillators vibrate with a single frequency</a:t>
            </a:r>
            <a:endParaRPr lang="zh-CN" altLang="en-US" sz="2000" dirty="0"/>
          </a:p>
        </p:txBody>
      </p:sp>
      <p:sp>
        <p:nvSpPr>
          <p:cNvPr id="12" name="矩形 11"/>
          <p:cNvSpPr/>
          <p:nvPr/>
        </p:nvSpPr>
        <p:spPr>
          <a:xfrm>
            <a:off x="601288" y="2074182"/>
            <a:ext cx="7391400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dirty="0"/>
              <a:t>Debye’s modification:  </a:t>
            </a:r>
          </a:p>
          <a:p>
            <a:r>
              <a:rPr lang="en-US" altLang="zh-CN" sz="2000" dirty="0"/>
              <a:t>the oscillators vibrate with in a rang of frequency</a:t>
            </a:r>
            <a:endParaRPr lang="zh-CN" altLang="en-US" sz="2000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5217076" y="3106903"/>
          <a:ext cx="2895892" cy="3284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16459200" imgH="18653760" progId="Origin50.Graph">
                  <p:embed/>
                </p:oleObj>
              </mc:Choice>
              <mc:Fallback>
                <p:oleObj name="Graph" r:id="rId2" imgW="16459200" imgH="18653760" progId="Origin50.Graph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7076" y="3106903"/>
                        <a:ext cx="2895892" cy="32840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图片 1">
            <a:extLst>
              <a:ext uri="{FF2B5EF4-FFF2-40B4-BE49-F238E27FC236}">
                <a16:creationId xmlns:a16="http://schemas.microsoft.com/office/drawing/2014/main" id="{DC9F16D3-078F-AE47-96AA-EFE7DEFB84D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167" y="3585093"/>
            <a:ext cx="4608513" cy="231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383673E-B1B0-406E-B914-4FB4D87C8004}"/>
              </a:ext>
            </a:extLst>
          </p:cNvPr>
          <p:cNvSpPr txBox="1"/>
          <p:nvPr/>
        </p:nvSpPr>
        <p:spPr>
          <a:xfrm>
            <a:off x="2211186" y="236212"/>
            <a:ext cx="4125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A real dispersion relationship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3047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7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073" y="1062523"/>
            <a:ext cx="6858000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853561" y="128757"/>
            <a:ext cx="60195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Acoustic phonon Vs. Optical Phonon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6355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7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794" y="1624013"/>
            <a:ext cx="6410325" cy="360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0772" name="Picture 4" descr="See the source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44" y="1624013"/>
            <a:ext cx="1918744" cy="1791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773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189" y="3547447"/>
            <a:ext cx="1657174" cy="1622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663794" y="221720"/>
            <a:ext cx="33505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Phonon Spectrum of Si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160774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546" y="5514586"/>
            <a:ext cx="4057650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86472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4899810-C660-4FF5-8B6C-7975428A99F6}"/>
              </a:ext>
            </a:extLst>
          </p:cNvPr>
          <p:cNvSpPr txBox="1"/>
          <p:nvPr/>
        </p:nvSpPr>
        <p:spPr>
          <a:xfrm>
            <a:off x="1350746" y="108183"/>
            <a:ext cx="69060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Solution of Phonon dispersion relationship</a:t>
            </a:r>
            <a:endParaRPr lang="zh-CN" altLang="en-US" sz="2800" dirty="0"/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49F98AD2-39F1-4914-9CFB-4AF7C919657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46" t="10125" b="48421"/>
          <a:stretch/>
        </p:blipFill>
        <p:spPr>
          <a:xfrm>
            <a:off x="216130" y="1396539"/>
            <a:ext cx="2934394" cy="1770611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4472D668-265C-4C39-A995-8D54ED2F838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12" t="56115" r="-597" b="2431"/>
          <a:stretch/>
        </p:blipFill>
        <p:spPr>
          <a:xfrm>
            <a:off x="236455" y="3716271"/>
            <a:ext cx="2893741" cy="1902367"/>
          </a:xfrm>
          <a:prstGeom prst="rect">
            <a:avLst/>
          </a:prstGeom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9CB8E993-C71E-4945-8635-84A301526F9F}"/>
              </a:ext>
            </a:extLst>
          </p:cNvPr>
          <p:cNvSpPr txBox="1"/>
          <p:nvPr/>
        </p:nvSpPr>
        <p:spPr>
          <a:xfrm>
            <a:off x="236456" y="991254"/>
            <a:ext cx="28937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Disperse as longitudinal wave</a:t>
            </a:r>
            <a:endParaRPr lang="zh-CN" altLang="en-US" sz="1600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3705FBB-9FEF-458F-BA71-D11426F18291}"/>
              </a:ext>
            </a:extLst>
          </p:cNvPr>
          <p:cNvSpPr txBox="1"/>
          <p:nvPr/>
        </p:nvSpPr>
        <p:spPr>
          <a:xfrm>
            <a:off x="216130" y="3363633"/>
            <a:ext cx="28184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Disperse as transverse wave</a:t>
            </a:r>
            <a:endParaRPr lang="zh-CN" altLang="en-US" sz="1600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FF3B8B0D-F304-44EB-9E42-82FF2F19B109}"/>
              </a:ext>
            </a:extLst>
          </p:cNvPr>
          <p:cNvSpPr txBox="1"/>
          <p:nvPr/>
        </p:nvSpPr>
        <p:spPr>
          <a:xfrm>
            <a:off x="3632661" y="1160531"/>
            <a:ext cx="40916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Total force on </a:t>
            </a:r>
            <a:r>
              <a:rPr lang="en-US" altLang="zh-CN" sz="1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plane from </a:t>
            </a:r>
            <a:r>
              <a:rPr lang="en-US" altLang="zh-CN" sz="1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s+1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and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s-1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plane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6" name="对象 65">
            <a:extLst>
              <a:ext uri="{FF2B5EF4-FFF2-40B4-BE49-F238E27FC236}">
                <a16:creationId xmlns:a16="http://schemas.microsoft.com/office/drawing/2014/main" id="{C17168C3-01EA-489F-BFCF-1FC1B5BD49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2152044"/>
              </p:ext>
            </p:extLst>
          </p:nvPr>
        </p:nvGraphicFramePr>
        <p:xfrm>
          <a:off x="5110557" y="1699139"/>
          <a:ext cx="2193925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55520" imgH="253800" progId="">
                  <p:embed/>
                </p:oleObj>
              </mc:Choice>
              <mc:Fallback>
                <p:oleObj name="Equation" r:id="rId3" imgW="1955520" imgH="253800" progId="">
                  <p:embed/>
                  <p:pic>
                    <p:nvPicPr>
                      <p:cNvPr id="66" name="对象 65">
                        <a:extLst>
                          <a:ext uri="{FF2B5EF4-FFF2-40B4-BE49-F238E27FC236}">
                            <a16:creationId xmlns:a16="http://schemas.microsoft.com/office/drawing/2014/main" id="{C17168C3-01EA-489F-BFCF-1FC1B5BD49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0557" y="1699139"/>
                        <a:ext cx="2193925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文本框 66">
            <a:extLst>
              <a:ext uri="{FF2B5EF4-FFF2-40B4-BE49-F238E27FC236}">
                <a16:creationId xmlns:a16="http://schemas.microsoft.com/office/drawing/2014/main" id="{0607D3C3-6AD4-4762-BCE4-1A30FA7EC5E3}"/>
              </a:ext>
            </a:extLst>
          </p:cNvPr>
          <p:cNvSpPr txBox="1"/>
          <p:nvPr/>
        </p:nvSpPr>
        <p:spPr>
          <a:xfrm>
            <a:off x="3735917" y="1672737"/>
            <a:ext cx="128381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Hooke’s law</a:t>
            </a:r>
            <a:endParaRPr lang="zh-CN" altLang="en-US" sz="1600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1013E778-25FD-47FE-80D5-97C81867554C}"/>
              </a:ext>
            </a:extLst>
          </p:cNvPr>
          <p:cNvSpPr txBox="1"/>
          <p:nvPr/>
        </p:nvSpPr>
        <p:spPr>
          <a:xfrm>
            <a:off x="3632661" y="2242122"/>
            <a:ext cx="22698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The equation of motion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9" name="对象 68">
            <a:extLst>
              <a:ext uri="{FF2B5EF4-FFF2-40B4-BE49-F238E27FC236}">
                <a16:creationId xmlns:a16="http://schemas.microsoft.com/office/drawing/2014/main" id="{72ED0E8A-C3D4-4CE6-8C1E-7AF492500E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7987062"/>
              </p:ext>
            </p:extLst>
          </p:nvPr>
        </p:nvGraphicFramePr>
        <p:xfrm>
          <a:off x="5019730" y="2571388"/>
          <a:ext cx="2065338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41400" imgH="419040" progId="">
                  <p:embed/>
                </p:oleObj>
              </mc:Choice>
              <mc:Fallback>
                <p:oleObj name="Equation" r:id="rId5" imgW="1841400" imgH="419040" progId="">
                  <p:embed/>
                  <p:pic>
                    <p:nvPicPr>
                      <p:cNvPr id="69" name="对象 68">
                        <a:extLst>
                          <a:ext uri="{FF2B5EF4-FFF2-40B4-BE49-F238E27FC236}">
                            <a16:creationId xmlns:a16="http://schemas.microsoft.com/office/drawing/2014/main" id="{72ED0E8A-C3D4-4CE6-8C1E-7AF492500E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9730" y="2571388"/>
                        <a:ext cx="2065338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对象 69">
            <a:extLst>
              <a:ext uri="{FF2B5EF4-FFF2-40B4-BE49-F238E27FC236}">
                <a16:creationId xmlns:a16="http://schemas.microsoft.com/office/drawing/2014/main" id="{797B469F-152D-4A02-90ED-4409CC664D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2216698"/>
              </p:ext>
            </p:extLst>
          </p:nvPr>
        </p:nvGraphicFramePr>
        <p:xfrm>
          <a:off x="3833813" y="3127375"/>
          <a:ext cx="969962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63280" imgH="419040" progId="">
                  <p:embed/>
                </p:oleObj>
              </mc:Choice>
              <mc:Fallback>
                <p:oleObj name="Equation" r:id="rId7" imgW="863280" imgH="419040" progId="">
                  <p:embed/>
                  <p:pic>
                    <p:nvPicPr>
                      <p:cNvPr id="70" name="对象 69">
                        <a:extLst>
                          <a:ext uri="{FF2B5EF4-FFF2-40B4-BE49-F238E27FC236}">
                            <a16:creationId xmlns:a16="http://schemas.microsoft.com/office/drawing/2014/main" id="{797B469F-152D-4A02-90ED-4409CC664D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3813" y="3127375"/>
                        <a:ext cx="969962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对象 70">
            <a:extLst>
              <a:ext uri="{FF2B5EF4-FFF2-40B4-BE49-F238E27FC236}">
                <a16:creationId xmlns:a16="http://schemas.microsoft.com/office/drawing/2014/main" id="{D918E8A3-5E3C-4548-8F6F-21CC3268B5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5083305"/>
              </p:ext>
            </p:extLst>
          </p:nvPr>
        </p:nvGraphicFramePr>
        <p:xfrm>
          <a:off x="4991100" y="3219450"/>
          <a:ext cx="2122488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892160" imgH="253800" progId="">
                  <p:embed/>
                </p:oleObj>
              </mc:Choice>
              <mc:Fallback>
                <p:oleObj name="Equation" r:id="rId9" imgW="1892160" imgH="253800" progId="">
                  <p:embed/>
                  <p:pic>
                    <p:nvPicPr>
                      <p:cNvPr id="71" name="对象 70">
                        <a:extLst>
                          <a:ext uri="{FF2B5EF4-FFF2-40B4-BE49-F238E27FC236}">
                            <a16:creationId xmlns:a16="http://schemas.microsoft.com/office/drawing/2014/main" id="{D918E8A3-5E3C-4548-8F6F-21CC3268B5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1100" y="3219450"/>
                        <a:ext cx="2122488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文本框 71">
            <a:extLst>
              <a:ext uri="{FF2B5EF4-FFF2-40B4-BE49-F238E27FC236}">
                <a16:creationId xmlns:a16="http://schemas.microsoft.com/office/drawing/2014/main" id="{A10A8F27-50C7-4A10-8C63-43B5B6C99963}"/>
              </a:ext>
            </a:extLst>
          </p:cNvPr>
          <p:cNvSpPr txBox="1"/>
          <p:nvPr/>
        </p:nvSpPr>
        <p:spPr>
          <a:xfrm>
            <a:off x="3632661" y="3784460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Solution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3" name="对象 72">
            <a:extLst>
              <a:ext uri="{FF2B5EF4-FFF2-40B4-BE49-F238E27FC236}">
                <a16:creationId xmlns:a16="http://schemas.microsoft.com/office/drawing/2014/main" id="{8DF62C75-0F5B-463F-87B2-D7C2097932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1695627"/>
              </p:ext>
            </p:extLst>
          </p:nvPr>
        </p:nvGraphicFramePr>
        <p:xfrm>
          <a:off x="5036335" y="3963112"/>
          <a:ext cx="1636712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60160" imgH="279360" progId="">
                  <p:embed/>
                </p:oleObj>
              </mc:Choice>
              <mc:Fallback>
                <p:oleObj name="Equation" r:id="rId11" imgW="1460160" imgH="279360" progId="">
                  <p:embed/>
                  <p:pic>
                    <p:nvPicPr>
                      <p:cNvPr id="73" name="对象 72">
                        <a:extLst>
                          <a:ext uri="{FF2B5EF4-FFF2-40B4-BE49-F238E27FC236}">
                            <a16:creationId xmlns:a16="http://schemas.microsoft.com/office/drawing/2014/main" id="{8DF62C75-0F5B-463F-87B2-D7C2097932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6335" y="3963112"/>
                        <a:ext cx="1636712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对象 73">
            <a:extLst>
              <a:ext uri="{FF2B5EF4-FFF2-40B4-BE49-F238E27FC236}">
                <a16:creationId xmlns:a16="http://schemas.microsoft.com/office/drawing/2014/main" id="{E3E6081F-FC88-45CC-A24B-F2BE0841F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3755717"/>
              </p:ext>
            </p:extLst>
          </p:nvPr>
        </p:nvGraphicFramePr>
        <p:xfrm>
          <a:off x="4599092" y="4735721"/>
          <a:ext cx="2663825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374560" imgH="253800" progId="">
                  <p:embed/>
                </p:oleObj>
              </mc:Choice>
              <mc:Fallback>
                <p:oleObj name="Equation" r:id="rId13" imgW="2374560" imgH="253800" progId="">
                  <p:embed/>
                  <p:pic>
                    <p:nvPicPr>
                      <p:cNvPr id="74" name="对象 73">
                        <a:extLst>
                          <a:ext uri="{FF2B5EF4-FFF2-40B4-BE49-F238E27FC236}">
                            <a16:creationId xmlns:a16="http://schemas.microsoft.com/office/drawing/2014/main" id="{E3E6081F-FC88-45CC-A24B-F2BE0841F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9092" y="4735721"/>
                        <a:ext cx="2663825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文本框 74">
            <a:extLst>
              <a:ext uri="{FF2B5EF4-FFF2-40B4-BE49-F238E27FC236}">
                <a16:creationId xmlns:a16="http://schemas.microsoft.com/office/drawing/2014/main" id="{35BFB729-CD74-4E8C-B001-1AC53E3A68DA}"/>
              </a:ext>
            </a:extLst>
          </p:cNvPr>
          <p:cNvSpPr txBox="1"/>
          <p:nvPr/>
        </p:nvSpPr>
        <p:spPr>
          <a:xfrm>
            <a:off x="3668849" y="4342897"/>
            <a:ext cx="22698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The equation of motion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BD2E8901-B11F-4CEB-9AB6-E9DBF41C17A2}"/>
              </a:ext>
            </a:extLst>
          </p:cNvPr>
          <p:cNvSpPr txBox="1"/>
          <p:nvPr/>
        </p:nvSpPr>
        <p:spPr>
          <a:xfrm>
            <a:off x="3632661" y="5115134"/>
            <a:ext cx="2153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The dispersion relation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7" name="对象 76">
            <a:extLst>
              <a:ext uri="{FF2B5EF4-FFF2-40B4-BE49-F238E27FC236}">
                <a16:creationId xmlns:a16="http://schemas.microsoft.com/office/drawing/2014/main" id="{930E61A8-7A2F-475D-A5E3-CCADFB33DB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3731240"/>
              </p:ext>
            </p:extLst>
          </p:nvPr>
        </p:nvGraphicFramePr>
        <p:xfrm>
          <a:off x="4599092" y="5488371"/>
          <a:ext cx="182245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25400" imgH="253800" progId="">
                  <p:embed/>
                </p:oleObj>
              </mc:Choice>
              <mc:Fallback>
                <p:oleObj name="Equation" r:id="rId15" imgW="1625400" imgH="253800" progId="">
                  <p:embed/>
                  <p:pic>
                    <p:nvPicPr>
                      <p:cNvPr id="77" name="对象 76">
                        <a:extLst>
                          <a:ext uri="{FF2B5EF4-FFF2-40B4-BE49-F238E27FC236}">
                            <a16:creationId xmlns:a16="http://schemas.microsoft.com/office/drawing/2014/main" id="{930E61A8-7A2F-475D-A5E3-CCADFB33DB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9092" y="5488371"/>
                        <a:ext cx="1822450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对象 77">
            <a:extLst>
              <a:ext uri="{FF2B5EF4-FFF2-40B4-BE49-F238E27FC236}">
                <a16:creationId xmlns:a16="http://schemas.microsoft.com/office/drawing/2014/main" id="{0F862C09-D09F-4C7A-9944-BF059349DF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2989395"/>
              </p:ext>
            </p:extLst>
          </p:nvPr>
        </p:nvGraphicFramePr>
        <p:xfrm>
          <a:off x="4624571" y="5927806"/>
          <a:ext cx="132397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180800" imgH="444240" progId="">
                  <p:embed/>
                </p:oleObj>
              </mc:Choice>
              <mc:Fallback>
                <p:oleObj name="Equation" r:id="rId17" imgW="1180800" imgH="444240" progId="">
                  <p:embed/>
                  <p:pic>
                    <p:nvPicPr>
                      <p:cNvPr id="78" name="对象 77">
                        <a:extLst>
                          <a:ext uri="{FF2B5EF4-FFF2-40B4-BE49-F238E27FC236}">
                            <a16:creationId xmlns:a16="http://schemas.microsoft.com/office/drawing/2014/main" id="{0F862C09-D09F-4C7A-9944-BF059349DF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4571" y="5927806"/>
                        <a:ext cx="1323975" cy="500062"/>
                      </a:xfrm>
                      <a:prstGeom prst="rect">
                        <a:avLst/>
                      </a:prstGeom>
                      <a:solidFill>
                        <a:srgbClr val="FFF2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文本框 78">
            <a:extLst>
              <a:ext uri="{FF2B5EF4-FFF2-40B4-BE49-F238E27FC236}">
                <a16:creationId xmlns:a16="http://schemas.microsoft.com/office/drawing/2014/main" id="{2776AB7E-4029-4832-A6A7-5F0BE0F50797}"/>
              </a:ext>
            </a:extLst>
          </p:cNvPr>
          <p:cNvSpPr txBox="1"/>
          <p:nvPr/>
        </p:nvSpPr>
        <p:spPr>
          <a:xfrm>
            <a:off x="163633" y="6224172"/>
            <a:ext cx="40268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G. Kittle, Introduction to Solid State Physics, Wiley, 2005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6013343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83F97D5-1953-4EF5-86AF-E7C80A0E7E1D}"/>
              </a:ext>
            </a:extLst>
          </p:cNvPr>
          <p:cNvSpPr txBox="1"/>
          <p:nvPr/>
        </p:nvSpPr>
        <p:spPr>
          <a:xfrm>
            <a:off x="2373122" y="88330"/>
            <a:ext cx="40559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Density of states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2400" dirty="0">
                <a:solidFill>
                  <a:srgbClr val="FF0000"/>
                </a:solidFill>
              </a:rPr>
              <a:t>with sine dispersion relation</a:t>
            </a:r>
            <a:r>
              <a:rPr lang="en-US" altLang="zh-CN" sz="2400" dirty="0"/>
              <a:t> 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8100F4E-9B5C-4EE1-BA05-3C6E92CDE5FD}"/>
              </a:ext>
            </a:extLst>
          </p:cNvPr>
          <p:cNvSpPr txBox="1"/>
          <p:nvPr/>
        </p:nvSpPr>
        <p:spPr>
          <a:xfrm>
            <a:off x="1305098" y="922713"/>
            <a:ext cx="6008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Assuming that the phonons of three –dimensional crystal obey the following isotopic dispersion relationship  </a:t>
            </a:r>
            <a:endParaRPr lang="zh-CN" altLang="en-US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0091DF6-9911-4EE9-B61F-9E8E0D2D3C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8705321"/>
              </p:ext>
            </p:extLst>
          </p:nvPr>
        </p:nvGraphicFramePr>
        <p:xfrm>
          <a:off x="3739096" y="1634020"/>
          <a:ext cx="132397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80800" imgH="444240" progId="">
                  <p:embed/>
                </p:oleObj>
              </mc:Choice>
              <mc:Fallback>
                <p:oleObj name="Equation" r:id="rId3" imgW="1180800" imgH="444240" progId="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40091DF6-9911-4EE9-B61F-9E8E0D2D3C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9096" y="1634020"/>
                        <a:ext cx="1323975" cy="500062"/>
                      </a:xfrm>
                      <a:prstGeom prst="rect">
                        <a:avLst/>
                      </a:prstGeom>
                      <a:solidFill>
                        <a:srgbClr val="FFF2CC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565631D-C4A7-4894-8655-66656A8078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1635717"/>
              </p:ext>
            </p:extLst>
          </p:nvPr>
        </p:nvGraphicFramePr>
        <p:xfrm>
          <a:off x="1466997" y="2972541"/>
          <a:ext cx="1908175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01720" imgH="393480" progId="">
                  <p:embed/>
                </p:oleObj>
              </mc:Choice>
              <mc:Fallback>
                <p:oleObj name="Equation" r:id="rId5" imgW="1701720" imgH="393480" progId="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9565631D-C4A7-4894-8655-66656A8078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6997" y="2972541"/>
                        <a:ext cx="1908175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190D217D-B7BE-49DC-BC6D-8748183A117D}"/>
              </a:ext>
            </a:extLst>
          </p:cNvPr>
          <p:cNvSpPr txBox="1"/>
          <p:nvPr/>
        </p:nvSpPr>
        <p:spPr>
          <a:xfrm>
            <a:off x="621435" y="2386120"/>
            <a:ext cx="2244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The density of states</a:t>
            </a:r>
            <a:endParaRPr lang="zh-CN" altLang="en-US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132ED20-A2C1-42F8-B227-CAE6A6FF650D}"/>
              </a:ext>
            </a:extLst>
          </p:cNvPr>
          <p:cNvSpPr txBox="1"/>
          <p:nvPr/>
        </p:nvSpPr>
        <p:spPr>
          <a:xfrm>
            <a:off x="4572000" y="5342977"/>
            <a:ext cx="33548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From the sine dispersion relation 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897249E7-CE3D-429C-8A27-649DF32FC8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494477"/>
              </p:ext>
            </p:extLst>
          </p:nvPr>
        </p:nvGraphicFramePr>
        <p:xfrm>
          <a:off x="4376343" y="5812576"/>
          <a:ext cx="17653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74640" imgH="469800" progId="">
                  <p:embed/>
                </p:oleObj>
              </mc:Choice>
              <mc:Fallback>
                <p:oleObj name="Equation" r:id="rId7" imgW="1574640" imgH="469800" progId="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897249E7-CE3D-429C-8A27-649DF32FC8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6343" y="5812576"/>
                        <a:ext cx="1765300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4BB3D2A2-D999-42A6-A248-DEC4EBAFF55A}"/>
              </a:ext>
            </a:extLst>
          </p:cNvPr>
          <p:cNvSpPr txBox="1"/>
          <p:nvPr/>
        </p:nvSpPr>
        <p:spPr>
          <a:xfrm>
            <a:off x="4742914" y="2370915"/>
            <a:ext cx="2298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The number of states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A9DE7922-7EF7-458E-9CB8-CDFE36A00E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4013779"/>
              </p:ext>
            </p:extLst>
          </p:nvPr>
        </p:nvGraphicFramePr>
        <p:xfrm>
          <a:off x="5727285" y="2787897"/>
          <a:ext cx="9398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38080" imgH="393480" progId="">
                  <p:embed/>
                </p:oleObj>
              </mc:Choice>
              <mc:Fallback>
                <p:oleObj name="Equation" r:id="rId9" imgW="838080" imgH="393480" progId="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A9DE7922-7EF7-458E-9CB8-CDFE36A00E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285" y="2787897"/>
                        <a:ext cx="939800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ADE92DD0-003F-4527-8853-BE9F286854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5794531"/>
              </p:ext>
            </p:extLst>
          </p:nvPr>
        </p:nvGraphicFramePr>
        <p:xfrm>
          <a:off x="6271875" y="5797946"/>
          <a:ext cx="2833688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27200" imgH="533160" progId="">
                  <p:embed/>
                </p:oleObj>
              </mc:Choice>
              <mc:Fallback>
                <p:oleObj name="Equation" r:id="rId11" imgW="2527200" imgH="533160" progId="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ADE92DD0-003F-4527-8853-BE9F286854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1875" y="5797946"/>
                        <a:ext cx="2833688" cy="600075"/>
                      </a:xfrm>
                      <a:prstGeom prst="rect">
                        <a:avLst/>
                      </a:prstGeom>
                      <a:solidFill>
                        <a:srgbClr val="E2F0D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7BFBE1A3-3765-43F5-91B7-C0336CD4CC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9121287"/>
              </p:ext>
            </p:extLst>
          </p:nvPr>
        </p:nvGraphicFramePr>
        <p:xfrm>
          <a:off x="1389209" y="3728252"/>
          <a:ext cx="20637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841400" imgH="393480" progId="">
                  <p:embed/>
                </p:oleObj>
              </mc:Choice>
              <mc:Fallback>
                <p:oleObj name="Equation" r:id="rId13" imgW="1841400" imgH="393480" progId="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7BFBE1A3-3765-43F5-91B7-C0336CD4CC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9209" y="3728252"/>
                        <a:ext cx="2063750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B02CFA3A-E880-4556-B126-2F7D471FC1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4790702"/>
              </p:ext>
            </p:extLst>
          </p:nvPr>
        </p:nvGraphicFramePr>
        <p:xfrm>
          <a:off x="6307074" y="3640113"/>
          <a:ext cx="639763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71320" imgH="393480" progId="">
                  <p:embed/>
                </p:oleObj>
              </mc:Choice>
              <mc:Fallback>
                <p:oleObj name="Equation" r:id="rId15" imgW="571320" imgH="393480" progId="">
                  <p:embed/>
                  <p:pic>
                    <p:nvPicPr>
                      <p:cNvPr id="45" name="对象 44">
                        <a:extLst>
                          <a:ext uri="{FF2B5EF4-FFF2-40B4-BE49-F238E27FC236}">
                            <a16:creationId xmlns:a16="http://schemas.microsoft.com/office/drawing/2014/main" id="{B02CFA3A-E880-4556-B126-2F7D471FC1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7074" y="3640113"/>
                        <a:ext cx="639763" cy="442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38A7D8C5-70A4-4B1B-8DE3-2F2D9192640F}"/>
              </a:ext>
            </a:extLst>
          </p:cNvPr>
          <p:cNvSpPr txBox="1"/>
          <p:nvPr/>
        </p:nvSpPr>
        <p:spPr>
          <a:xfrm>
            <a:off x="5116028" y="3735750"/>
            <a:ext cx="1165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Group velocity</a:t>
            </a:r>
            <a:endParaRPr lang="zh-CN" altLang="en-US" sz="12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59FA242-9D8C-4814-AED4-560C19762AE6}"/>
              </a:ext>
            </a:extLst>
          </p:cNvPr>
          <p:cNvSpPr txBox="1"/>
          <p:nvPr/>
        </p:nvSpPr>
        <p:spPr>
          <a:xfrm>
            <a:off x="5091180" y="4180308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Phase velocity</a:t>
            </a:r>
            <a:endParaRPr lang="zh-CN" altLang="en-US" sz="1200" dirty="0"/>
          </a:p>
        </p:txBody>
      </p:sp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AA068C70-0C46-45F5-8132-807C72F6E2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286702"/>
              </p:ext>
            </p:extLst>
          </p:nvPr>
        </p:nvGraphicFramePr>
        <p:xfrm>
          <a:off x="6300915" y="4096746"/>
          <a:ext cx="6540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83920" imgH="393480" progId="">
                  <p:embed/>
                </p:oleObj>
              </mc:Choice>
              <mc:Fallback>
                <p:oleObj name="Equation" r:id="rId17" imgW="583920" imgH="393480" progId="">
                  <p:embed/>
                  <p:pic>
                    <p:nvPicPr>
                      <p:cNvPr id="47" name="对象 46">
                        <a:extLst>
                          <a:ext uri="{FF2B5EF4-FFF2-40B4-BE49-F238E27FC236}">
                            <a16:creationId xmlns:a16="http://schemas.microsoft.com/office/drawing/2014/main" id="{AA068C70-0C46-45F5-8132-807C72F6E2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915" y="4096746"/>
                        <a:ext cx="654050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>
            <a:extLst>
              <a:ext uri="{FF2B5EF4-FFF2-40B4-BE49-F238E27FC236}">
                <a16:creationId xmlns:a16="http://schemas.microsoft.com/office/drawing/2014/main" id="{16597F13-F99F-4925-81AD-EBD1F5FE35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9688085"/>
              </p:ext>
            </p:extLst>
          </p:nvPr>
        </p:nvGraphicFramePr>
        <p:xfrm>
          <a:off x="6383465" y="4587284"/>
          <a:ext cx="51117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57200" imgH="444240" progId="">
                  <p:embed/>
                </p:oleObj>
              </mc:Choice>
              <mc:Fallback>
                <p:oleObj name="Equation" r:id="rId19" imgW="457200" imgH="444240" progId="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16597F13-F99F-4925-81AD-EBD1F5FE35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465" y="4587284"/>
                        <a:ext cx="511175" cy="500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extLst>
              <a:ext uri="{FF2B5EF4-FFF2-40B4-BE49-F238E27FC236}">
                <a16:creationId xmlns:a16="http://schemas.microsoft.com/office/drawing/2014/main" id="{9FC1A7D1-7D71-473B-B938-815080AAD3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3535714"/>
              </p:ext>
            </p:extLst>
          </p:nvPr>
        </p:nvGraphicFramePr>
        <p:xfrm>
          <a:off x="1430847" y="4449809"/>
          <a:ext cx="1552575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384200" imgH="469800" progId="">
                  <p:embed/>
                </p:oleObj>
              </mc:Choice>
              <mc:Fallback>
                <p:oleObj name="Equation" r:id="rId21" imgW="1384200" imgH="469800" progId="">
                  <p:embed/>
                  <p:pic>
                    <p:nvPicPr>
                      <p:cNvPr id="50" name="对象 49">
                        <a:extLst>
                          <a:ext uri="{FF2B5EF4-FFF2-40B4-BE49-F238E27FC236}">
                            <a16:creationId xmlns:a16="http://schemas.microsoft.com/office/drawing/2014/main" id="{9FC1A7D1-7D71-473B-B938-815080AAD3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0847" y="4449809"/>
                        <a:ext cx="1552575" cy="528637"/>
                      </a:xfrm>
                      <a:prstGeom prst="rect">
                        <a:avLst/>
                      </a:prstGeom>
                      <a:solidFill>
                        <a:srgbClr val="E2F0D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文本框 50">
            <a:extLst>
              <a:ext uri="{FF2B5EF4-FFF2-40B4-BE49-F238E27FC236}">
                <a16:creationId xmlns:a16="http://schemas.microsoft.com/office/drawing/2014/main" id="{548B82E2-F1C0-4D76-AAC6-326716C9013B}"/>
              </a:ext>
            </a:extLst>
          </p:cNvPr>
          <p:cNvSpPr txBox="1"/>
          <p:nvPr/>
        </p:nvSpPr>
        <p:spPr>
          <a:xfrm>
            <a:off x="492804" y="5333327"/>
            <a:ext cx="34029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From the line dispersion relation 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2" name="对象 51">
            <a:extLst>
              <a:ext uri="{FF2B5EF4-FFF2-40B4-BE49-F238E27FC236}">
                <a16:creationId xmlns:a16="http://schemas.microsoft.com/office/drawing/2014/main" id="{F6E3CD91-5C88-4317-BEF2-CBA6326467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5748578"/>
              </p:ext>
            </p:extLst>
          </p:nvPr>
        </p:nvGraphicFramePr>
        <p:xfrm>
          <a:off x="812109" y="5930323"/>
          <a:ext cx="825500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736560" imgH="241200" progId="">
                  <p:embed/>
                </p:oleObj>
              </mc:Choice>
              <mc:Fallback>
                <p:oleObj name="Equation" r:id="rId23" imgW="736560" imgH="241200" progId="">
                  <p:embed/>
                  <p:pic>
                    <p:nvPicPr>
                      <p:cNvPr id="52" name="对象 51">
                        <a:extLst>
                          <a:ext uri="{FF2B5EF4-FFF2-40B4-BE49-F238E27FC236}">
                            <a16:creationId xmlns:a16="http://schemas.microsoft.com/office/drawing/2014/main" id="{F6E3CD91-5C88-4317-BEF2-CBA6326467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109" y="5930323"/>
                        <a:ext cx="825500" cy="271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6828EA09-85D1-47A6-AC5E-B54210C976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067124"/>
              </p:ext>
            </p:extLst>
          </p:nvPr>
        </p:nvGraphicFramePr>
        <p:xfrm>
          <a:off x="2314575" y="5830888"/>
          <a:ext cx="12954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155600" imgH="419040" progId="">
                  <p:embed/>
                </p:oleObj>
              </mc:Choice>
              <mc:Fallback>
                <p:oleObj name="Equation" r:id="rId25" imgW="1155600" imgH="419040" progId="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6828EA09-85D1-47A6-AC5E-B54210C976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4575" y="5830888"/>
                        <a:ext cx="1295400" cy="471487"/>
                      </a:xfrm>
                      <a:prstGeom prst="rect">
                        <a:avLst/>
                      </a:prstGeom>
                      <a:solidFill>
                        <a:srgbClr val="E2F0D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393109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AF0003E-3724-4C55-B05F-71536AD3A1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5821716"/>
              </p:ext>
            </p:extLst>
          </p:nvPr>
        </p:nvGraphicFramePr>
        <p:xfrm>
          <a:off x="4493033" y="2656158"/>
          <a:ext cx="484187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640" imgH="431640" progId="">
                  <p:embed/>
                </p:oleObj>
              </mc:Choice>
              <mc:Fallback>
                <p:oleObj name="Equation" r:id="rId2" imgW="431640" imgH="431640" progId="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FAF0003E-3724-4C55-B05F-71536AD3A1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3033" y="2656158"/>
                        <a:ext cx="484187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E2D2795-3E85-489A-B06D-F2D7BA554C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4953549"/>
              </p:ext>
            </p:extLst>
          </p:nvPr>
        </p:nvGraphicFramePr>
        <p:xfrm>
          <a:off x="5764620" y="2624408"/>
          <a:ext cx="15525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84200" imgH="507960" progId="">
                  <p:embed/>
                </p:oleObj>
              </mc:Choice>
              <mc:Fallback>
                <p:oleObj name="Equation" r:id="rId4" imgW="1384200" imgH="507960" progId="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6E2D2795-3E85-489A-B06D-F2D7BA554C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4620" y="2624408"/>
                        <a:ext cx="1552575" cy="571500"/>
                      </a:xfrm>
                      <a:prstGeom prst="rect">
                        <a:avLst/>
                      </a:prstGeom>
                      <a:solidFill>
                        <a:srgbClr val="FFF2CC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9BA395E-E71F-4340-8B55-940219AE75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5131018"/>
              </p:ext>
            </p:extLst>
          </p:nvPr>
        </p:nvGraphicFramePr>
        <p:xfrm>
          <a:off x="987425" y="4022725"/>
          <a:ext cx="22066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68480" imgH="507960" progId="">
                  <p:embed/>
                </p:oleObj>
              </mc:Choice>
              <mc:Fallback>
                <p:oleObj name="Equation" r:id="rId6" imgW="1968480" imgH="507960" progId="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E9BA395E-E71F-4340-8B55-940219AE75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7425" y="4022725"/>
                        <a:ext cx="2206625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箭头: 右 4">
            <a:extLst>
              <a:ext uri="{FF2B5EF4-FFF2-40B4-BE49-F238E27FC236}">
                <a16:creationId xmlns:a16="http://schemas.microsoft.com/office/drawing/2014/main" id="{0078F907-B95A-476A-9756-7C89E2769E5C}"/>
              </a:ext>
            </a:extLst>
          </p:cNvPr>
          <p:cNvSpPr/>
          <p:nvPr/>
        </p:nvSpPr>
        <p:spPr>
          <a:xfrm>
            <a:off x="5188580" y="2801030"/>
            <a:ext cx="398019" cy="21919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0475D9F-620A-45B6-9D9C-04B5AB5E47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1286835"/>
              </p:ext>
            </p:extLst>
          </p:nvPr>
        </p:nvGraphicFramePr>
        <p:xfrm>
          <a:off x="958086" y="4804945"/>
          <a:ext cx="252095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47840" imgH="1218960" progId="">
                  <p:embed/>
                </p:oleObj>
              </mc:Choice>
              <mc:Fallback>
                <p:oleObj name="Equation" r:id="rId8" imgW="2247840" imgH="1218960" progId="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70475D9F-620A-45B6-9D9C-04B5AB5E47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086" y="4804945"/>
                        <a:ext cx="2520950" cy="137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CD464840-B4B7-49BA-B6BB-00064B2D4A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7269651"/>
              </p:ext>
            </p:extLst>
          </p:nvPr>
        </p:nvGraphicFramePr>
        <p:xfrm>
          <a:off x="958086" y="1976970"/>
          <a:ext cx="2002618" cy="34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25400" imgH="279360" progId="">
                  <p:embed/>
                </p:oleObj>
              </mc:Choice>
              <mc:Fallback>
                <p:oleObj name="Equation" r:id="rId10" imgW="1625400" imgH="279360" progId="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CD464840-B4B7-49BA-B6BB-00064B2D4A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086" y="1976970"/>
                        <a:ext cx="2002618" cy="34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D3203C4E-B307-4318-9C2E-AD019B9AEA64}"/>
              </a:ext>
            </a:extLst>
          </p:cNvPr>
          <p:cNvSpPr txBox="1"/>
          <p:nvPr/>
        </p:nvSpPr>
        <p:spPr>
          <a:xfrm>
            <a:off x="2373122" y="88330"/>
            <a:ext cx="40559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Heat capacity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2400" dirty="0">
                <a:solidFill>
                  <a:srgbClr val="FF0000"/>
                </a:solidFill>
              </a:rPr>
              <a:t>with sine dispersion relation</a:t>
            </a:r>
            <a:r>
              <a:rPr lang="en-US" altLang="zh-CN" sz="2400" dirty="0"/>
              <a:t> </a:t>
            </a:r>
            <a:endParaRPr lang="zh-CN" altLang="en-US" sz="2400" dirty="0"/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BD04F05F-53F4-40A2-A0DF-DCC65B2F2C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9229466"/>
              </p:ext>
            </p:extLst>
          </p:nvPr>
        </p:nvGraphicFramePr>
        <p:xfrm>
          <a:off x="3995470" y="1095692"/>
          <a:ext cx="132397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80800" imgH="444240" progId="">
                  <p:embed/>
                </p:oleObj>
              </mc:Choice>
              <mc:Fallback>
                <p:oleObj name="Equation" r:id="rId12" imgW="1180800" imgH="444240" progId="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BD04F05F-53F4-40A2-A0DF-DCC65B2F2C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470" y="1095692"/>
                        <a:ext cx="1323975" cy="500062"/>
                      </a:xfrm>
                      <a:prstGeom prst="rect">
                        <a:avLst/>
                      </a:prstGeom>
                      <a:solidFill>
                        <a:srgbClr val="FFF2CC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F97D017E-D6A0-4CA9-90FF-0C47E8D711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5001065"/>
              </p:ext>
            </p:extLst>
          </p:nvPr>
        </p:nvGraphicFramePr>
        <p:xfrm>
          <a:off x="825639" y="3115469"/>
          <a:ext cx="2419350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14320" imgH="444240" progId="">
                  <p:embed/>
                </p:oleObj>
              </mc:Choice>
              <mc:Fallback>
                <p:oleObj name="Equation" r:id="rId14" imgW="1714320" imgH="444240" progId="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F97D017E-D6A0-4CA9-90FF-0C47E8D711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639" y="3115469"/>
                        <a:ext cx="2419350" cy="627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E51B017F-4224-422C-9B31-3315CA6361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8514275"/>
              </p:ext>
            </p:extLst>
          </p:nvPr>
        </p:nvGraphicFramePr>
        <p:xfrm>
          <a:off x="958086" y="2449812"/>
          <a:ext cx="1552575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84200" imgH="469800" progId="">
                  <p:embed/>
                </p:oleObj>
              </mc:Choice>
              <mc:Fallback>
                <p:oleObj name="Equation" r:id="rId16" imgW="1384200" imgH="469800" progId="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E51B017F-4224-422C-9B31-3315CA6361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086" y="2449812"/>
                        <a:ext cx="1552575" cy="528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740A70E3-D594-465B-83BE-0E6AA2F8BD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2561809"/>
              </p:ext>
            </p:extLst>
          </p:nvPr>
        </p:nvGraphicFramePr>
        <p:xfrm>
          <a:off x="4665276" y="3505394"/>
          <a:ext cx="2198688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739880" imgH="482400" progId="">
                  <p:embed/>
                </p:oleObj>
              </mc:Choice>
              <mc:Fallback>
                <p:oleObj name="Equation" r:id="rId18" imgW="1739880" imgH="482400" progId="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740A70E3-D594-465B-83BE-0E6AA2F8BD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5276" y="3505394"/>
                        <a:ext cx="2198688" cy="611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0841AEA8-6F37-436D-B519-C8519A21C1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829572"/>
              </p:ext>
            </p:extLst>
          </p:nvPr>
        </p:nvGraphicFramePr>
        <p:xfrm>
          <a:off x="4684325" y="4146908"/>
          <a:ext cx="250507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184120" imgH="482400" progId="">
                  <p:embed/>
                </p:oleObj>
              </mc:Choice>
              <mc:Fallback>
                <p:oleObj name="Equation" r:id="rId20" imgW="2184120" imgH="482400" progId="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0841AEA8-6F37-436D-B519-C8519A21C1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4325" y="4146908"/>
                        <a:ext cx="2505075" cy="554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5572A504-F938-4A76-B882-7C68585FC2FB}"/>
              </a:ext>
            </a:extLst>
          </p:cNvPr>
          <p:cNvSpPr txBox="1"/>
          <p:nvPr/>
        </p:nvSpPr>
        <p:spPr>
          <a:xfrm>
            <a:off x="4425334" y="2070933"/>
            <a:ext cx="21259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Standing wave condition</a:t>
            </a:r>
            <a:endParaRPr lang="zh-CN" altLang="en-US" sz="1400" dirty="0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878F429-4326-4F8D-A0D0-C63D15080D8D}"/>
              </a:ext>
            </a:extLst>
          </p:cNvPr>
          <p:cNvSpPr/>
          <p:nvPr/>
        </p:nvSpPr>
        <p:spPr>
          <a:xfrm>
            <a:off x="572568" y="1888621"/>
            <a:ext cx="2806813" cy="125331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D442BA66-8165-4A96-9FC9-D8B911EA67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7891994"/>
              </p:ext>
            </p:extLst>
          </p:nvPr>
        </p:nvGraphicFramePr>
        <p:xfrm>
          <a:off x="4684325" y="5762308"/>
          <a:ext cx="1552575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84200" imgH="469800" progId="">
                  <p:embed/>
                </p:oleObj>
              </mc:Choice>
              <mc:Fallback>
                <p:oleObj name="Equation" r:id="rId22" imgW="1384200" imgH="469800" progId="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D442BA66-8165-4A96-9FC9-D8B911EA67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4325" y="5762308"/>
                        <a:ext cx="1552575" cy="528637"/>
                      </a:xfrm>
                      <a:prstGeom prst="rect">
                        <a:avLst/>
                      </a:prstGeom>
                      <a:solidFill>
                        <a:srgbClr val="FBE5D6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986D0273-BE62-4B01-BBB2-A6529EBB0C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1969681"/>
              </p:ext>
            </p:extLst>
          </p:nvPr>
        </p:nvGraphicFramePr>
        <p:xfrm>
          <a:off x="4684325" y="5123309"/>
          <a:ext cx="2549525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273040" imgH="469800" progId="">
                  <p:embed/>
                </p:oleObj>
              </mc:Choice>
              <mc:Fallback>
                <p:oleObj name="Equation" r:id="rId23" imgW="2273040" imgH="469800" progId="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986D0273-BE62-4B01-BBB2-A6529EBB0C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4325" y="5123309"/>
                        <a:ext cx="2549525" cy="528637"/>
                      </a:xfrm>
                      <a:prstGeom prst="rect">
                        <a:avLst/>
                      </a:prstGeom>
                      <a:solidFill>
                        <a:srgbClr val="FBE5D6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513426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5373871" y="1881496"/>
            <a:ext cx="3613746" cy="3905124"/>
          </a:xfrm>
          <a:prstGeom prst="roundRect">
            <a:avLst>
              <a:gd name="adj" fmla="val 2961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5663807" y="2188701"/>
          <a:ext cx="2822235" cy="1066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82600" imgH="787320" progId="">
                  <p:embed/>
                </p:oleObj>
              </mc:Choice>
              <mc:Fallback>
                <p:oleObj name="Equation" r:id="rId3" imgW="2082600" imgH="787320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3807" y="2188701"/>
                        <a:ext cx="2822235" cy="10664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27068" y="1389053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Linear dispersion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704663" y="2549947"/>
          <a:ext cx="2971176" cy="679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22280" imgH="507960" progId="">
                  <p:embed/>
                </p:oleObj>
              </mc:Choice>
              <mc:Fallback>
                <p:oleObj name="Equation" r:id="rId5" imgW="2222280" imgH="507960" progId="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663" y="2549947"/>
                        <a:ext cx="2971176" cy="6791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8777" y="1365305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Sine dispersion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2157114"/>
              </p:ext>
            </p:extLst>
          </p:nvPr>
        </p:nvGraphicFramePr>
        <p:xfrm>
          <a:off x="679450" y="3452813"/>
          <a:ext cx="2198688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39880" imgH="482400" progId="">
                  <p:embed/>
                </p:oleObj>
              </mc:Choice>
              <mc:Fallback>
                <p:oleObj name="Equation" r:id="rId7" imgW="1739880" imgH="482400" progId="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" y="3452813"/>
                        <a:ext cx="2198688" cy="611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57225" y="4111625"/>
          <a:ext cx="250507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84120" imgH="482400" progId="">
                  <p:embed/>
                </p:oleObj>
              </mc:Choice>
              <mc:Fallback>
                <p:oleObj name="Equation" r:id="rId9" imgW="2184120" imgH="482400" progId="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" y="4111625"/>
                        <a:ext cx="2505075" cy="554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538263" y="4050628"/>
            <a:ext cx="115929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as k&lt;&lt; </a:t>
            </a:r>
            <a:r>
              <a:rPr lang="en-US" altLang="zh-CN" dirty="0" err="1"/>
              <a:t>k</a:t>
            </a:r>
            <a:r>
              <a:rPr lang="en-US" altLang="zh-CN" baseline="-25000" dirty="0" err="1"/>
              <a:t>c</a:t>
            </a:r>
            <a:endParaRPr lang="zh-CN" altLang="en-US" dirty="0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727068" y="3553741"/>
          <a:ext cx="1316038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41120" imgH="393480" progId="">
                  <p:embed/>
                </p:oleObj>
              </mc:Choice>
              <mc:Fallback>
                <p:oleObj name="Equation" r:id="rId11" imgW="1041120" imgH="393480" progId="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068" y="3553741"/>
                        <a:ext cx="1316038" cy="496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5727068" y="4193741"/>
          <a:ext cx="1208087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54080" imgH="393480" progId="">
                  <p:embed/>
                </p:oleObj>
              </mc:Choice>
              <mc:Fallback>
                <p:oleObj name="Equation" r:id="rId13" imgW="1054080" imgH="393480" progId="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068" y="4193741"/>
                        <a:ext cx="1208087" cy="452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678777" y="2092232"/>
          <a:ext cx="2002618" cy="34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25400" imgH="279360" progId="">
                  <p:embed/>
                </p:oleObj>
              </mc:Choice>
              <mc:Fallback>
                <p:oleObj name="Equation" r:id="rId15" imgW="1625400" imgH="279360" progId="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777" y="2092232"/>
                        <a:ext cx="2002618" cy="34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133354" y="4917921"/>
                <a:ext cx="4932380" cy="86869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/>
                            </a:rPr>
                            <m:t>𝑣</m:t>
                          </m:r>
                          <m:r>
                            <a:rPr lang="en-US" altLang="zh-CN" sz="11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1100" b="0" i="0" smtClean="0">
                              <a:latin typeface="Cambria Math" panose="02040503050406030204" pitchFamily="18" charset="0"/>
                            </a:rPr>
                            <m:t>Bvk</m:t>
                          </m:r>
                        </m:sub>
                      </m:sSub>
                      <m:r>
                        <a:rPr lang="zh-CN" altLang="en-US" sz="1100" i="0">
                          <a:latin typeface="Cambria Math" panose="02040503050406030204" pitchFamily="18" charset="0"/>
                        </a:rPr>
                        <m:t>=9</m:t>
                      </m:r>
                      <m:r>
                        <m:rPr>
                          <m:sty m:val="p"/>
                        </m:rPr>
                        <a:rPr lang="zh-CN" altLang="en-US" sz="1100" i="0">
                          <a:latin typeface="Cambria Math" panose="02040503050406030204" pitchFamily="18" charset="0"/>
                        </a:rPr>
                        <m:t>R</m:t>
                      </m:r>
                      <m:f>
                        <m:fPr>
                          <m:ctrlPr>
                            <a:rPr lang="zh-CN" altLang="en-US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100" i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zh-CN" altLang="en-US" sz="11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zh-CN" altLang="en-US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sz="1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11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1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sz="11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1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b>
                                      <m:r>
                                        <a:rPr lang="zh-CN" altLang="en-US" sz="11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𝐁𝐯𝐊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altLang="en-US" sz="11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nary>
                        <m:naryPr>
                          <m:limLoc m:val="subSup"/>
                          <m:ctrlPr>
                            <a:rPr lang="zh-CN" altLang="en-US" sz="1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11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 sz="1100" i="0">
                                      <a:latin typeface="Cambria Math" panose="02040503050406030204" pitchFamily="18" charset="0"/>
                                    </a:rPr>
                                    <m:t>BvK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sup>
                        <m:e>
                          <m:sSup>
                            <m:sSupPr>
                              <m:ctrlP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1100" i="0">
                                      <a:latin typeface="Cambria Math" panose="02040503050406030204" pitchFamily="18" charset="0"/>
                                    </a:rPr>
                                    <m:t>Arcsin</m:t>
                                  </m:r>
                                  <m:r>
                                    <a:rPr lang="zh-CN" altLang="en-US" sz="1100" i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f>
                                    <m:fPr>
                                      <m:ctrlP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  <m:t>𝑇𝑥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zh-CN" altLang="en-US" sz="1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1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altLang="en-US" sz="1100" i="0">
                                              <a:latin typeface="Cambria Math" panose="02040503050406030204" pitchFamily="18" charset="0"/>
                                            </a:rPr>
                                            <m:t>BvK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zh-CN" altLang="en-US" sz="1100" i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  <m:f>
                                    <m:fPr>
                                      <m:ctrlP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zh-CN" altLang="en-US" sz="1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1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altLang="en-US" sz="1100" i="0">
                                              <a:latin typeface="Cambria Math" panose="02040503050406030204" pitchFamily="18" charset="0"/>
                                            </a:rPr>
                                            <m:t>BvK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  <m:t>𝑇𝑥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zh-CN" altLang="en-US" sz="11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>
                            <m:fPr>
                              <m:ctrlP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1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altLang="en-US" sz="1100" i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en-US" sz="1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zh-CN" altLang="en-US" sz="11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zh-CN" altLang="en-US" sz="1100" i="1">
                                                  <a:latin typeface="Cambria Math" panose="02040503050406030204" pitchFamily="18" charset="0"/>
                                                </a:rPr>
                                                <m:t>𝑇𝑥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lang="zh-CN" altLang="en-US" sz="11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11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zh-CN" altLang="en-US" sz="1100" i="0">
                                                      <a:latin typeface="Cambria Math" panose="02040503050406030204" pitchFamily="18" charset="0"/>
                                                    </a:rPr>
                                                    <m:t>BvK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altLang="en-US" sz="11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f>
                            <m:fPr>
                              <m:ctrlP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1100" i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en-US" sz="1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110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11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p>
                                      </m:sSup>
                                      <m:r>
                                        <a:rPr lang="zh-CN" altLang="en-US" sz="1100" i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11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zh-CN" altLang="en-US" sz="1100" i="1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54" y="4917921"/>
                <a:ext cx="4932380" cy="868699"/>
              </a:xfrm>
              <a:prstGeom prst="rect">
                <a:avLst/>
              </a:prstGeom>
              <a:blipFill rotWithShape="0">
                <a:blip r:embed="rId18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5373871" y="4823528"/>
                <a:ext cx="3613746" cy="8349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V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=9</m:t>
                      </m:r>
                      <m:r>
                        <m:rPr>
                          <m:sty m:val="p"/>
                        </m:rPr>
                        <a:rPr lang="zh-CN" altLang="en-US" i="0">
                          <a:latin typeface="Cambria Math" panose="02040503050406030204" pitchFamily="18" charset="0"/>
                        </a:rPr>
                        <m:t>R</m:t>
                      </m:r>
                      <m:sSup>
                        <m:sSupPr>
                          <m:ctrlPr>
                            <a:rPr lang="zh-CN" alt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b>
                                      <m:r>
                                        <a:rPr lang="zh-CN" altLang="en-US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𝐃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alt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nary>
                        <m:naryPr>
                          <m:limLoc m:val="subSup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sup>
                        <m:e>
                          <m:f>
                            <m:f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p>
                                      </m:sSup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3871" y="4823528"/>
                <a:ext cx="3613746" cy="834909"/>
              </a:xfrm>
              <a:prstGeom prst="rect">
                <a:avLst/>
              </a:prstGeom>
              <a:blipFill rotWithShape="0">
                <a:blip r:embed="rId19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162916" y="6033663"/>
                <a:ext cx="1710917" cy="4115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  <m: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  <m:t>BvK</m:t>
                              </m:r>
                            </m:sub>
                          </m:sSub>
                        </m:e>
                      </m:func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6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𝟑𝐑</m:t>
                      </m:r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16" y="6033663"/>
                <a:ext cx="1710917" cy="411588"/>
              </a:xfrm>
              <a:prstGeom prst="rect">
                <a:avLst/>
              </a:prstGeom>
              <a:blipFill rotWithShape="0">
                <a:blip r:embed="rId20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2083773" y="5866932"/>
                <a:ext cx="1897058" cy="624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14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zh-CN" altLang="en-US" sz="1400" i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CN" sz="1400" b="0" i="1" smtClean="0">
                                  <a:latin typeface="Cambria Math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1400" i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  <m:r>
                                <a:rPr lang="zh-CN" altLang="en-US" sz="1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1400" i="0">
                                  <a:latin typeface="Cambria Math" panose="02040503050406030204" pitchFamily="18" charset="0"/>
                                </a:rPr>
                                <m:t>BvK</m:t>
                              </m:r>
                            </m:sub>
                          </m:sSub>
                        </m:e>
                      </m:func>
                      <m:r>
                        <a:rPr lang="zh-CN" altLang="en-US" sz="1400" i="1" dirty="0" smtClean="0">
                          <a:latin typeface="Cambria Math"/>
                        </a:rPr>
                        <m:t>∝</m:t>
                      </m:r>
                      <m:sSup>
                        <m:sSupPr>
                          <m:ctrlPr>
                            <a:rPr lang="en-US" altLang="zh-CN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sz="1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1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sz="14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b>
                                      <m:r>
                                        <a:rPr lang="zh-CN" altLang="en-US" sz="1400" b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𝐁𝐯𝐊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1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3773" y="5866932"/>
                <a:ext cx="1897058" cy="624402"/>
              </a:xfrm>
              <a:prstGeom prst="rect">
                <a:avLst/>
              </a:prstGeom>
              <a:blipFill rotWithShape="0">
                <a:blip r:embed="rId21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4">
            <a:extLst>
              <a:ext uri="{FF2B5EF4-FFF2-40B4-BE49-F238E27FC236}">
                <a16:creationId xmlns:a16="http://schemas.microsoft.com/office/drawing/2014/main" id="{AEA1F21D-7E03-41B1-96E8-4F7DD0B723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33"/>
          <a:stretch/>
        </p:blipFill>
        <p:spPr bwMode="auto">
          <a:xfrm>
            <a:off x="5289099" y="9331"/>
            <a:ext cx="3798920" cy="867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F3BA1416-208E-4C47-87A9-617D7BD7A769}"/>
              </a:ext>
            </a:extLst>
          </p:cNvPr>
          <p:cNvSpPr txBox="1"/>
          <p:nvPr/>
        </p:nvSpPr>
        <p:spPr>
          <a:xfrm>
            <a:off x="2373122" y="88330"/>
            <a:ext cx="40559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Heat capacity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2400" dirty="0">
                <a:solidFill>
                  <a:srgbClr val="FF0000"/>
                </a:solidFill>
              </a:rPr>
              <a:t>with sine dispersion relation</a:t>
            </a:r>
            <a:r>
              <a:rPr lang="en-US" altLang="zh-CN" sz="2400" dirty="0"/>
              <a:t>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975448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对象 25">
            <a:extLst>
              <a:ext uri="{FF2B5EF4-FFF2-40B4-BE49-F238E27FC236}">
                <a16:creationId xmlns:a16="http://schemas.microsoft.com/office/drawing/2014/main" id="{B4BE4898-2ECC-CB4C-8D3D-DA3516F616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5271" y="841204"/>
          <a:ext cx="5695172" cy="496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19202400" imgH="16459200" progId="Origin50.Graph">
                  <p:embed/>
                </p:oleObj>
              </mc:Choice>
              <mc:Fallback>
                <p:oleObj name="Graph" r:id="rId2" imgW="19202400" imgH="16459200" progId="Origin50.Graph">
                  <p:embed/>
                  <p:pic>
                    <p:nvPicPr>
                      <p:cNvPr id="21" name="对象 25">
                        <a:extLst>
                          <a:ext uri="{FF2B5EF4-FFF2-40B4-BE49-F238E27FC236}">
                            <a16:creationId xmlns:a16="http://schemas.microsoft.com/office/drawing/2014/main" id="{B4BE4898-2ECC-CB4C-8D3D-DA3516F616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5271" y="841204"/>
                        <a:ext cx="5695172" cy="4967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1735495" y="5740273"/>
            <a:ext cx="4777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Pei’s mode covering both the features </a:t>
            </a:r>
          </a:p>
          <a:p>
            <a:pPr algn="ctr"/>
            <a:r>
              <a:rPr lang="en-US" altLang="zh-CN" dirty="0">
                <a:solidFill>
                  <a:srgbClr val="FF0000"/>
                </a:solidFill>
              </a:rPr>
              <a:t>of </a:t>
            </a:r>
            <a:r>
              <a:rPr lang="en-US" altLang="zh-CN" dirty="0" err="1">
                <a:solidFill>
                  <a:srgbClr val="FF0000"/>
                </a:solidFill>
              </a:rPr>
              <a:t>Einstien’s</a:t>
            </a:r>
            <a:r>
              <a:rPr lang="en-US" altLang="zh-CN" dirty="0">
                <a:solidFill>
                  <a:srgbClr val="FF0000"/>
                </a:solidFill>
              </a:rPr>
              <a:t> model and Debye’s mode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5F37CAE-5FCC-4211-AB1B-817CDCAB9836}"/>
              </a:ext>
            </a:extLst>
          </p:cNvPr>
          <p:cNvSpPr txBox="1"/>
          <p:nvPr/>
        </p:nvSpPr>
        <p:spPr>
          <a:xfrm>
            <a:off x="2373122" y="88330"/>
            <a:ext cx="40559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Heat capacity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2400" dirty="0">
                <a:solidFill>
                  <a:srgbClr val="FF0000"/>
                </a:solidFill>
              </a:rPr>
              <a:t>with sine dispersion relation</a:t>
            </a:r>
            <a:r>
              <a:rPr lang="en-US" altLang="zh-CN" sz="2400" dirty="0"/>
              <a:t> </a:t>
            </a:r>
            <a:endParaRPr lang="zh-CN" altLang="en-US" sz="2400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B6D53232-074D-4604-A868-81FBC6CCCA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61" b="7433"/>
          <a:stretch/>
        </p:blipFill>
        <p:spPr bwMode="auto">
          <a:xfrm>
            <a:off x="6845181" y="9331"/>
            <a:ext cx="2242838" cy="867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53248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9" name="图片 3">
            <a:extLst>
              <a:ext uri="{FF2B5EF4-FFF2-40B4-BE49-F238E27FC236}">
                <a16:creationId xmlns:a16="http://schemas.microsoft.com/office/drawing/2014/main" id="{B5429891-7765-404A-AF37-0F0C3754E2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0" t="10101" r="37711" b="39500"/>
          <a:stretch>
            <a:fillRect/>
          </a:stretch>
        </p:blipFill>
        <p:spPr bwMode="auto">
          <a:xfrm>
            <a:off x="3741576" y="1023939"/>
            <a:ext cx="4264089" cy="3527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0" name="图片 5">
            <a:extLst>
              <a:ext uri="{FF2B5EF4-FFF2-40B4-BE49-F238E27FC236}">
                <a16:creationId xmlns:a16="http://schemas.microsoft.com/office/drawing/2014/main" id="{76BF06F1-77AC-3E48-9F13-29385A50B6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174783"/>
            <a:ext cx="2248159" cy="3030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57592" y="4256705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David G. Cahill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3541424"/>
              </p:ext>
            </p:extLst>
          </p:nvPr>
        </p:nvGraphicFramePr>
        <p:xfrm>
          <a:off x="2469194" y="4887913"/>
          <a:ext cx="2544763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14320" imgH="393480" progId="">
                  <p:embed/>
                </p:oleObj>
              </mc:Choice>
              <mc:Fallback>
                <p:oleObj name="Equation" r:id="rId5" imgW="1714320" imgH="393480" progId="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9194" y="4887913"/>
                        <a:ext cx="2544763" cy="585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519367" y="5648325"/>
            <a:ext cx="5763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The relax time is equal to the half of the vibration circle</a:t>
            </a:r>
          </a:p>
          <a:p>
            <a:r>
              <a:rPr lang="en-US" altLang="zh-CN" dirty="0"/>
              <a:t>Lattice thermal conductivity reach the minimum  </a:t>
            </a:r>
            <a:endParaRPr lang="zh-CN" altLang="en-US" dirty="0"/>
          </a:p>
        </p:txBody>
      </p:sp>
      <p:sp>
        <p:nvSpPr>
          <p:cNvPr id="8" name="TextBox 21">
            <a:extLst>
              <a:ext uri="{FF2B5EF4-FFF2-40B4-BE49-F238E27FC236}">
                <a16:creationId xmlns:a16="http://schemas.microsoft.com/office/drawing/2014/main" id="{198B67E8-057C-42EE-8AAE-DF5892AC5F6C}"/>
              </a:ext>
            </a:extLst>
          </p:cNvPr>
          <p:cNvSpPr txBox="1"/>
          <p:nvPr/>
        </p:nvSpPr>
        <p:spPr>
          <a:xfrm>
            <a:off x="1788233" y="78394"/>
            <a:ext cx="5745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Estimation of lattice thermal conductivity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5259399"/>
      </p:ext>
    </p:extLst>
  </p:cSld>
  <p:clrMapOvr>
    <a:masterClrMapping/>
  </p:clrMapOvr>
  <p:transition spd="slow" advTm="25418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17">
            <a:extLst>
              <a:ext uri="{FF2B5EF4-FFF2-40B4-BE49-F238E27FC236}">
                <a16:creationId xmlns:a16="http://schemas.microsoft.com/office/drawing/2014/main" id="{F0DF6D92-3974-7B40-9E2C-73975A7FAA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49363" y="4768850"/>
          <a:ext cx="1485900" cy="1274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19202400" imgH="16459200" progId="Origin50.Graph">
                  <p:embed/>
                </p:oleObj>
              </mc:Choice>
              <mc:Fallback>
                <p:oleObj name="Graph" r:id="rId2" imgW="19202400" imgH="16459200" progId="Origin50.Graph">
                  <p:embed/>
                  <p:pic>
                    <p:nvPicPr>
                      <p:cNvPr id="4" name="对象 17">
                        <a:extLst>
                          <a:ext uri="{FF2B5EF4-FFF2-40B4-BE49-F238E27FC236}">
                            <a16:creationId xmlns:a16="http://schemas.microsoft.com/office/drawing/2014/main" id="{F0DF6D92-3974-7B40-9E2C-73975A7FAA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9363" y="4768850"/>
                        <a:ext cx="1485900" cy="1274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18">
            <a:extLst>
              <a:ext uri="{FF2B5EF4-FFF2-40B4-BE49-F238E27FC236}">
                <a16:creationId xmlns:a16="http://schemas.microsoft.com/office/drawing/2014/main" id="{2A01C7C1-A0FE-2241-958A-E4CC52A8E4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65238" y="2085975"/>
          <a:ext cx="1487487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19202400" imgH="16459200" progId="Origin50.Graph">
                  <p:embed/>
                </p:oleObj>
              </mc:Choice>
              <mc:Fallback>
                <p:oleObj name="Graph" r:id="rId4" imgW="19202400" imgH="16459200" progId="Origin50.Graph">
                  <p:embed/>
                  <p:pic>
                    <p:nvPicPr>
                      <p:cNvPr id="5" name="对象 18">
                        <a:extLst>
                          <a:ext uri="{FF2B5EF4-FFF2-40B4-BE49-F238E27FC236}">
                            <a16:creationId xmlns:a16="http://schemas.microsoft.com/office/drawing/2014/main" id="{2A01C7C1-A0FE-2241-958A-E4CC52A8E4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5238" y="2085975"/>
                        <a:ext cx="1487487" cy="1273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19">
            <a:extLst>
              <a:ext uri="{FF2B5EF4-FFF2-40B4-BE49-F238E27FC236}">
                <a16:creationId xmlns:a16="http://schemas.microsoft.com/office/drawing/2014/main" id="{D748878A-FB90-5942-9F2E-C61017403A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" y="2085975"/>
          <a:ext cx="1485900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19202400" imgH="16459200" progId="Origin50.Graph">
                  <p:embed/>
                </p:oleObj>
              </mc:Choice>
              <mc:Fallback>
                <p:oleObj name="Graph" r:id="rId6" imgW="19202400" imgH="16459200" progId="Origin50.Graph">
                  <p:embed/>
                  <p:pic>
                    <p:nvPicPr>
                      <p:cNvPr id="6" name="对象 19">
                        <a:extLst>
                          <a:ext uri="{FF2B5EF4-FFF2-40B4-BE49-F238E27FC236}">
                            <a16:creationId xmlns:a16="http://schemas.microsoft.com/office/drawing/2014/main" id="{D748878A-FB90-5942-9F2E-C61017403A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" y="2085975"/>
                        <a:ext cx="1485900" cy="1273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20">
            <a:extLst>
              <a:ext uri="{FF2B5EF4-FFF2-40B4-BE49-F238E27FC236}">
                <a16:creationId xmlns:a16="http://schemas.microsoft.com/office/drawing/2014/main" id="{42018166-1AE9-F347-B7A3-44B75FF672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" y="989013"/>
          <a:ext cx="1485900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8" imgW="19202400" imgH="16459200" progId="Origin50.Graph">
                  <p:embed/>
                </p:oleObj>
              </mc:Choice>
              <mc:Fallback>
                <p:oleObj name="Graph" r:id="rId8" imgW="19202400" imgH="16459200" progId="Origin50.Graph">
                  <p:embed/>
                  <p:pic>
                    <p:nvPicPr>
                      <p:cNvPr id="7" name="对象 20">
                        <a:extLst>
                          <a:ext uri="{FF2B5EF4-FFF2-40B4-BE49-F238E27FC236}">
                            <a16:creationId xmlns:a16="http://schemas.microsoft.com/office/drawing/2014/main" id="{42018166-1AE9-F347-B7A3-44B75FF672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" y="989013"/>
                        <a:ext cx="1485900" cy="1273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右大括号 7">
            <a:extLst>
              <a:ext uri="{FF2B5EF4-FFF2-40B4-BE49-F238E27FC236}">
                <a16:creationId xmlns:a16="http://schemas.microsoft.com/office/drawing/2014/main" id="{F5FA7166-D185-4247-BD9C-A70D0E465A3A}"/>
              </a:ext>
            </a:extLst>
          </p:cNvPr>
          <p:cNvSpPr/>
          <p:nvPr/>
        </p:nvSpPr>
        <p:spPr bwMode="auto">
          <a:xfrm>
            <a:off x="2671763" y="1090613"/>
            <a:ext cx="200025" cy="2143125"/>
          </a:xfrm>
          <a:prstGeom prst="rightBrace">
            <a:avLst>
              <a:gd name="adj1" fmla="val 50889"/>
              <a:gd name="adj2" fmla="val 50000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aphicFrame>
        <p:nvGraphicFramePr>
          <p:cNvPr id="9" name="对象 22">
            <a:extLst>
              <a:ext uri="{FF2B5EF4-FFF2-40B4-BE49-F238E27FC236}">
                <a16:creationId xmlns:a16="http://schemas.microsoft.com/office/drawing/2014/main" id="{AB9BD130-2132-DF48-AADE-5FC32B48FC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75" y="3668713"/>
          <a:ext cx="1485900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0" imgW="19202400" imgH="16459200" progId="Origin50.Graph">
                  <p:embed/>
                </p:oleObj>
              </mc:Choice>
              <mc:Fallback>
                <p:oleObj name="Graph" r:id="rId10" imgW="19202400" imgH="16459200" progId="Origin50.Graph">
                  <p:embed/>
                  <p:pic>
                    <p:nvPicPr>
                      <p:cNvPr id="9" name="对象 22">
                        <a:extLst>
                          <a:ext uri="{FF2B5EF4-FFF2-40B4-BE49-F238E27FC236}">
                            <a16:creationId xmlns:a16="http://schemas.microsoft.com/office/drawing/2014/main" id="{AB9BD130-2132-DF48-AADE-5FC32B48FC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" y="3668713"/>
                        <a:ext cx="1485900" cy="1273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31">
            <a:extLst>
              <a:ext uri="{FF2B5EF4-FFF2-40B4-BE49-F238E27FC236}">
                <a16:creationId xmlns:a16="http://schemas.microsoft.com/office/drawing/2014/main" id="{A9BFBA04-3436-D040-92BC-5922A80E61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65238" y="981075"/>
          <a:ext cx="1487487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2" imgW="19202400" imgH="16459200" progId="Origin50.Graph">
                  <p:embed/>
                </p:oleObj>
              </mc:Choice>
              <mc:Fallback>
                <p:oleObj name="Graph" r:id="rId12" imgW="19202400" imgH="16459200" progId="Origin50.Graph">
                  <p:embed/>
                  <p:pic>
                    <p:nvPicPr>
                      <p:cNvPr id="10" name="对象 31">
                        <a:extLst>
                          <a:ext uri="{FF2B5EF4-FFF2-40B4-BE49-F238E27FC236}">
                            <a16:creationId xmlns:a16="http://schemas.microsoft.com/office/drawing/2014/main" id="{A9BFBA04-3436-D040-92BC-5922A80E61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5238" y="981075"/>
                        <a:ext cx="1487487" cy="1273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32">
            <a:extLst>
              <a:ext uri="{FF2B5EF4-FFF2-40B4-BE49-F238E27FC236}">
                <a16:creationId xmlns:a16="http://schemas.microsoft.com/office/drawing/2014/main" id="{A239EC21-C17D-6342-B070-76BC3795E7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44600" y="3671888"/>
          <a:ext cx="1487488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4" imgW="19202400" imgH="16459200" progId="Origin50.Graph">
                  <p:embed/>
                </p:oleObj>
              </mc:Choice>
              <mc:Fallback>
                <p:oleObj name="Graph" r:id="rId14" imgW="19202400" imgH="16459200" progId="Origin50.Graph">
                  <p:embed/>
                  <p:pic>
                    <p:nvPicPr>
                      <p:cNvPr id="11" name="对象 32">
                        <a:extLst>
                          <a:ext uri="{FF2B5EF4-FFF2-40B4-BE49-F238E27FC236}">
                            <a16:creationId xmlns:a16="http://schemas.microsoft.com/office/drawing/2014/main" id="{A239EC21-C17D-6342-B070-76BC3795E7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3671888"/>
                        <a:ext cx="1487488" cy="1273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下箭头 11">
            <a:extLst>
              <a:ext uri="{FF2B5EF4-FFF2-40B4-BE49-F238E27FC236}">
                <a16:creationId xmlns:a16="http://schemas.microsoft.com/office/drawing/2014/main" id="{61233DDD-C045-864F-915D-E0CE19AE1ED5}"/>
              </a:ext>
            </a:extLst>
          </p:cNvPr>
          <p:cNvSpPr/>
          <p:nvPr/>
        </p:nvSpPr>
        <p:spPr bwMode="auto">
          <a:xfrm rot="16200000">
            <a:off x="5638800" y="1966913"/>
            <a:ext cx="358775" cy="215900"/>
          </a:xfrm>
          <a:prstGeom prst="downArrow">
            <a:avLst/>
          </a:prstGeom>
          <a:solidFill>
            <a:schemeClr val="bg1"/>
          </a:solidFill>
          <a:ln w="38100" cap="flat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aphicFrame>
        <p:nvGraphicFramePr>
          <p:cNvPr id="13" name="对象 40">
            <a:extLst>
              <a:ext uri="{FF2B5EF4-FFF2-40B4-BE49-F238E27FC236}">
                <a16:creationId xmlns:a16="http://schemas.microsoft.com/office/drawing/2014/main" id="{9F5D1331-B2A9-944A-84F7-8F3C725AF8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30888" y="742950"/>
          <a:ext cx="3303587" cy="283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6" imgW="2870200" imgH="2476500" progId="Origin50.Graph">
                  <p:embed/>
                </p:oleObj>
              </mc:Choice>
              <mc:Fallback>
                <p:oleObj name="Graph" r:id="rId16" imgW="2870200" imgH="2476500" progId="Origin50.Graph">
                  <p:embed/>
                  <p:pic>
                    <p:nvPicPr>
                      <p:cNvPr id="13" name="对象 40">
                        <a:extLst>
                          <a:ext uri="{FF2B5EF4-FFF2-40B4-BE49-F238E27FC236}">
                            <a16:creationId xmlns:a16="http://schemas.microsoft.com/office/drawing/2014/main" id="{9F5D1331-B2A9-944A-84F7-8F3C725AF8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0888" y="742950"/>
                        <a:ext cx="3303587" cy="2830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41">
            <a:extLst>
              <a:ext uri="{FF2B5EF4-FFF2-40B4-BE49-F238E27FC236}">
                <a16:creationId xmlns:a16="http://schemas.microsoft.com/office/drawing/2014/main" id="{7D023D5C-6E9E-B345-BDAB-4C50D99D57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18188" y="3497263"/>
          <a:ext cx="3303587" cy="283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8" imgW="2870200" imgH="2476500" progId="Origin50.Graph">
                  <p:embed/>
                </p:oleObj>
              </mc:Choice>
              <mc:Fallback>
                <p:oleObj name="Graph" r:id="rId18" imgW="2870200" imgH="2476500" progId="Origin50.Graph">
                  <p:embed/>
                  <p:pic>
                    <p:nvPicPr>
                      <p:cNvPr id="14" name="对象 41">
                        <a:extLst>
                          <a:ext uri="{FF2B5EF4-FFF2-40B4-BE49-F238E27FC236}">
                            <a16:creationId xmlns:a16="http://schemas.microsoft.com/office/drawing/2014/main" id="{7D023D5C-6E9E-B345-BDAB-4C50D99D57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8188" y="3497263"/>
                        <a:ext cx="3303587" cy="2830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44">
            <a:extLst>
              <a:ext uri="{FF2B5EF4-FFF2-40B4-BE49-F238E27FC236}">
                <a16:creationId xmlns:a16="http://schemas.microsoft.com/office/drawing/2014/main" id="{069A6DA5-4E81-314E-8CCC-4E6055656E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75" y="4776788"/>
          <a:ext cx="1485900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0" imgW="19202400" imgH="16459200" progId="Origin50.Graph">
                  <p:embed/>
                </p:oleObj>
              </mc:Choice>
              <mc:Fallback>
                <p:oleObj name="Graph" r:id="rId20" imgW="19202400" imgH="16459200" progId="Origin50.Graph">
                  <p:embed/>
                  <p:pic>
                    <p:nvPicPr>
                      <p:cNvPr id="15" name="对象 44">
                        <a:extLst>
                          <a:ext uri="{FF2B5EF4-FFF2-40B4-BE49-F238E27FC236}">
                            <a16:creationId xmlns:a16="http://schemas.microsoft.com/office/drawing/2014/main" id="{069A6DA5-4E81-314E-8CCC-4E6055656E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" y="4776788"/>
                        <a:ext cx="1485900" cy="1273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46">
            <a:extLst>
              <a:ext uri="{FF2B5EF4-FFF2-40B4-BE49-F238E27FC236}">
                <a16:creationId xmlns:a16="http://schemas.microsoft.com/office/drawing/2014/main" id="{70C293DF-F369-1B44-9981-2B894737B0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0038" y="3522663"/>
          <a:ext cx="3003550" cy="273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2" imgW="18097500" imgH="16459200" progId="Origin50.Graph">
                  <p:embed/>
                </p:oleObj>
              </mc:Choice>
              <mc:Fallback>
                <p:oleObj name="Graph" r:id="rId22" imgW="18097500" imgH="16459200" progId="Origin50.Graph">
                  <p:embed/>
                  <p:pic>
                    <p:nvPicPr>
                      <p:cNvPr id="16" name="对象 46">
                        <a:extLst>
                          <a:ext uri="{FF2B5EF4-FFF2-40B4-BE49-F238E27FC236}">
                            <a16:creationId xmlns:a16="http://schemas.microsoft.com/office/drawing/2014/main" id="{70C293DF-F369-1B44-9981-2B894737B0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0038" y="3522663"/>
                        <a:ext cx="3003550" cy="2730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47">
            <a:extLst>
              <a:ext uri="{FF2B5EF4-FFF2-40B4-BE49-F238E27FC236}">
                <a16:creationId xmlns:a16="http://schemas.microsoft.com/office/drawing/2014/main" id="{C6D5CFAD-1467-5F41-903B-7B05A5FA3C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30513" y="795338"/>
          <a:ext cx="2997200" cy="272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4" imgW="18097500" imgH="16459200" progId="Origin50.Graph">
                  <p:embed/>
                </p:oleObj>
              </mc:Choice>
              <mc:Fallback>
                <p:oleObj name="Graph" r:id="rId24" imgW="18097500" imgH="16459200" progId="Origin50.Graph">
                  <p:embed/>
                  <p:pic>
                    <p:nvPicPr>
                      <p:cNvPr id="17" name="对象 47">
                        <a:extLst>
                          <a:ext uri="{FF2B5EF4-FFF2-40B4-BE49-F238E27FC236}">
                            <a16:creationId xmlns:a16="http://schemas.microsoft.com/office/drawing/2014/main" id="{C6D5CFAD-1467-5F41-903B-7B05A5FA3C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0513" y="795338"/>
                        <a:ext cx="2997200" cy="2724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右大括号 17">
            <a:extLst>
              <a:ext uri="{FF2B5EF4-FFF2-40B4-BE49-F238E27FC236}">
                <a16:creationId xmlns:a16="http://schemas.microsoft.com/office/drawing/2014/main" id="{14A584B0-3C06-1C4B-9FF8-10688C972F73}"/>
              </a:ext>
            </a:extLst>
          </p:cNvPr>
          <p:cNvSpPr/>
          <p:nvPr/>
        </p:nvSpPr>
        <p:spPr bwMode="auto">
          <a:xfrm>
            <a:off x="2673350" y="3808413"/>
            <a:ext cx="201613" cy="2144712"/>
          </a:xfrm>
          <a:prstGeom prst="rightBrace">
            <a:avLst>
              <a:gd name="adj1" fmla="val 50889"/>
              <a:gd name="adj2" fmla="val 50000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9" name="下箭头 18">
            <a:extLst>
              <a:ext uri="{FF2B5EF4-FFF2-40B4-BE49-F238E27FC236}">
                <a16:creationId xmlns:a16="http://schemas.microsoft.com/office/drawing/2014/main" id="{9662652B-2D79-C347-AB1C-0B60B2996B81}"/>
              </a:ext>
            </a:extLst>
          </p:cNvPr>
          <p:cNvSpPr/>
          <p:nvPr/>
        </p:nvSpPr>
        <p:spPr bwMode="auto">
          <a:xfrm rot="16200000">
            <a:off x="5659437" y="4741863"/>
            <a:ext cx="360363" cy="217488"/>
          </a:xfrm>
          <a:prstGeom prst="downArrow">
            <a:avLst/>
          </a:prstGeom>
          <a:solidFill>
            <a:schemeClr val="bg1"/>
          </a:solidFill>
          <a:ln w="38100" cap="flat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0" name="文本框 50">
            <a:extLst>
              <a:ext uri="{FF2B5EF4-FFF2-40B4-BE49-F238E27FC236}">
                <a16:creationId xmlns:a16="http://schemas.microsoft.com/office/drawing/2014/main" id="{F6027DB6-5F82-BC4C-B960-87452A3C7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4550" y="6156325"/>
            <a:ext cx="2455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Over estimated </a:t>
            </a:r>
            <a:r>
              <a:rPr kumimoji="0"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~</a:t>
            </a:r>
            <a:r>
              <a:rPr kumimoji="0"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40%</a:t>
            </a:r>
            <a:endParaRPr kumimoji="0" lang="zh-CN" altLang="en-US" sz="1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8B619D9A-5F14-DC41-9F00-B1F15D629C2B}"/>
              </a:ext>
            </a:extLst>
          </p:cNvPr>
          <p:cNvSpPr/>
          <p:nvPr/>
        </p:nvSpPr>
        <p:spPr>
          <a:xfrm>
            <a:off x="7939088" y="1512888"/>
            <a:ext cx="341312" cy="11255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34854DF4-2976-1745-A2B2-38C624CD35C7}"/>
              </a:ext>
            </a:extLst>
          </p:cNvPr>
          <p:cNvSpPr/>
          <p:nvPr/>
        </p:nvSpPr>
        <p:spPr>
          <a:xfrm>
            <a:off x="7856538" y="4129088"/>
            <a:ext cx="341312" cy="11255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4" name="文本框 1">
            <a:extLst>
              <a:ext uri="{FF2B5EF4-FFF2-40B4-BE49-F238E27FC236}">
                <a16:creationId xmlns:a16="http://schemas.microsoft.com/office/drawing/2014/main" id="{7355D88C-70F6-D849-BF88-FEC1EE046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549275"/>
            <a:ext cx="2003426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FF"/>
                </a:solidFill>
              </a:rPr>
              <a:t>Debye-Slack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sp>
        <p:nvSpPr>
          <p:cNvPr id="25" name="文本框 25">
            <a:extLst>
              <a:ext uri="{FF2B5EF4-FFF2-40B4-BE49-F238E27FC236}">
                <a16:creationId xmlns:a16="http://schemas.microsoft.com/office/drawing/2014/main" id="{FF17F542-13C2-114A-8FBD-1F8330B6F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357563"/>
            <a:ext cx="22780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0000FF"/>
                </a:solidFill>
              </a:rPr>
              <a:t>Debye-Snyder</a:t>
            </a:r>
            <a:endParaRPr lang="zh-CN" altLang="en-US" sz="2800" b="1">
              <a:solidFill>
                <a:srgbClr val="0000FF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1149" y="102637"/>
            <a:ext cx="5745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Estimation of lattice thermal conductivity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1323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6">
            <a:extLst>
              <a:ext uri="{FF2B5EF4-FFF2-40B4-BE49-F238E27FC236}">
                <a16:creationId xmlns:a16="http://schemas.microsoft.com/office/drawing/2014/main" id="{52CB8F22-24C6-4144-97F5-E1B649D8A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7" r="4466" b="4041"/>
          <a:stretch>
            <a:fillRect/>
          </a:stretch>
        </p:blipFill>
        <p:spPr bwMode="auto">
          <a:xfrm>
            <a:off x="554828" y="1130689"/>
            <a:ext cx="7469739" cy="5206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3DC423C9-0C0A-1645-8160-C904F2B56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49" y="1551538"/>
            <a:ext cx="8175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/>
              <a:t>n=1</a:t>
            </a:r>
            <a:endParaRPr lang="zh-CN" altLang="en-US" sz="3200" b="1" dirty="0"/>
          </a:p>
        </p:txBody>
      </p:sp>
      <p:sp>
        <p:nvSpPr>
          <p:cNvPr id="4" name="文本框 6">
            <a:extLst>
              <a:ext uri="{FF2B5EF4-FFF2-40B4-BE49-F238E27FC236}">
                <a16:creationId xmlns:a16="http://schemas.microsoft.com/office/drawing/2014/main" id="{4B61D399-0B3F-594A-A625-5C50E071A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0513" y="1606550"/>
            <a:ext cx="8175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/>
              <a:t>n=2</a:t>
            </a:r>
            <a:endParaRPr lang="zh-CN" altLang="en-US" sz="3200" b="1" dirty="0"/>
          </a:p>
        </p:txBody>
      </p:sp>
      <p:sp>
        <p:nvSpPr>
          <p:cNvPr id="5" name="文本框 7">
            <a:extLst>
              <a:ext uri="{FF2B5EF4-FFF2-40B4-BE49-F238E27FC236}">
                <a16:creationId xmlns:a16="http://schemas.microsoft.com/office/drawing/2014/main" id="{487499DD-9AED-274E-8883-CA9F14311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7534" y="1613937"/>
            <a:ext cx="8175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/>
              <a:t>n=3</a:t>
            </a:r>
            <a:endParaRPr lang="zh-CN" altLang="en-US" sz="3200" b="1" dirty="0"/>
          </a:p>
        </p:txBody>
      </p:sp>
      <p:sp>
        <p:nvSpPr>
          <p:cNvPr id="6" name="文本框 8">
            <a:extLst>
              <a:ext uri="{FF2B5EF4-FFF2-40B4-BE49-F238E27FC236}">
                <a16:creationId xmlns:a16="http://schemas.microsoft.com/office/drawing/2014/main" id="{3495DEEF-E34D-524F-A61C-34040B7BE4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151" y="4417106"/>
            <a:ext cx="8175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/>
              <a:t>n=4</a:t>
            </a:r>
            <a:endParaRPr lang="zh-CN" altLang="en-US" sz="3200" b="1" dirty="0"/>
          </a:p>
        </p:txBody>
      </p:sp>
      <p:sp>
        <p:nvSpPr>
          <p:cNvPr id="7" name="文本框 9">
            <a:extLst>
              <a:ext uri="{FF2B5EF4-FFF2-40B4-BE49-F238E27FC236}">
                <a16:creationId xmlns:a16="http://schemas.microsoft.com/office/drawing/2014/main" id="{123E6A87-949C-B045-A913-C3AC60B7B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0514" y="4417106"/>
            <a:ext cx="8175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/>
              <a:t>n=5</a:t>
            </a:r>
            <a:endParaRPr lang="zh-CN" altLang="en-US" sz="3200" b="1" dirty="0"/>
          </a:p>
        </p:txBody>
      </p:sp>
      <p:sp>
        <p:nvSpPr>
          <p:cNvPr id="8" name="文本框 10">
            <a:extLst>
              <a:ext uri="{FF2B5EF4-FFF2-40B4-BE49-F238E27FC236}">
                <a16:creationId xmlns:a16="http://schemas.microsoft.com/office/drawing/2014/main" id="{2C987581-2661-854A-93BE-B02524963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5242" y="4417106"/>
            <a:ext cx="8175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/>
              <a:t>n=6</a:t>
            </a:r>
            <a:endParaRPr lang="zh-CN" altLang="en-US" sz="3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457205" y="262540"/>
            <a:ext cx="56204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Sine + Constant dispersion assumption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8673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9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89" y="669799"/>
            <a:ext cx="3480482" cy="3036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896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34" y="3706136"/>
            <a:ext cx="3158801" cy="278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896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186" y="3706136"/>
            <a:ext cx="3555726" cy="278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949625" y="143157"/>
            <a:ext cx="5745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Estimation of lattice thermal conductivity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168965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409" y="1079435"/>
            <a:ext cx="2038350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8966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8283" y="1671055"/>
            <a:ext cx="3181350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8967" name="Picture 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367" y="2636190"/>
            <a:ext cx="200025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60593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394" name="对象 19">
            <a:extLst>
              <a:ext uri="{FF2B5EF4-FFF2-40B4-BE49-F238E27FC236}">
                <a16:creationId xmlns:a16="http://schemas.microsoft.com/office/drawing/2014/main" id="{9D13049C-9C77-7244-B927-D4BAE781C3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7885" y="796216"/>
          <a:ext cx="5259104" cy="450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19202400" imgH="16459200" progId="Origin50.Graph">
                  <p:embed/>
                </p:oleObj>
              </mc:Choice>
              <mc:Fallback>
                <p:oleObj name="Graph" r:id="rId3" imgW="19202400" imgH="16459200" progId="Origin50.Graph">
                  <p:embed/>
                  <p:pic>
                    <p:nvPicPr>
                      <p:cNvPr id="59394" name="对象 19">
                        <a:extLst>
                          <a:ext uri="{FF2B5EF4-FFF2-40B4-BE49-F238E27FC236}">
                            <a16:creationId xmlns:a16="http://schemas.microsoft.com/office/drawing/2014/main" id="{9D13049C-9C77-7244-B927-D4BAE781C3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7885" y="796216"/>
                        <a:ext cx="5259104" cy="4506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5" name="TextBox 18">
            <a:extLst>
              <a:ext uri="{FF2B5EF4-FFF2-40B4-BE49-F238E27FC236}">
                <a16:creationId xmlns:a16="http://schemas.microsoft.com/office/drawing/2014/main" id="{E1B5779A-392B-8B43-9FBA-0D0967F94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2" y="5353054"/>
            <a:ext cx="71278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 sz="1800" b="1" dirty="0">
                <a:solidFill>
                  <a:srgbClr val="008000"/>
                </a:solidFill>
              </a:rPr>
              <a:t>Pei used the linear dispersion approximation</a:t>
            </a:r>
          </a:p>
          <a:p>
            <a:pPr algn="ctr" eaLnBrk="1" hangingPunct="1"/>
            <a:r>
              <a:rPr kumimoji="0" lang="en-US" altLang="zh-CN" sz="1800" b="1" dirty="0">
                <a:solidFill>
                  <a:srgbClr val="008000"/>
                </a:solidFill>
              </a:rPr>
              <a:t>And give a lower </a:t>
            </a:r>
            <a:r>
              <a:rPr kumimoji="0" lang="el-GR" altLang="zh-CN" sz="1800" b="1" dirty="0">
                <a:solidFill>
                  <a:srgbClr val="008000"/>
                </a:solidFill>
              </a:rPr>
              <a:t>κ</a:t>
            </a:r>
            <a:r>
              <a:rPr kumimoji="0" lang="en-US" altLang="zh-CN" sz="1800" b="1" baseline="-25000" dirty="0">
                <a:solidFill>
                  <a:srgbClr val="008000"/>
                </a:solidFill>
              </a:rPr>
              <a:t>min</a:t>
            </a:r>
            <a:endParaRPr kumimoji="0" lang="en-US" altLang="zh-CN" sz="1800" b="1" dirty="0">
              <a:solidFill>
                <a:srgbClr val="008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51109" y="183250"/>
            <a:ext cx="25330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Estimation of </a:t>
            </a:r>
            <a:r>
              <a:rPr lang="el-GR" altLang="zh-CN" sz="2400" dirty="0">
                <a:solidFill>
                  <a:srgbClr val="FF0000"/>
                </a:solidFill>
              </a:rPr>
              <a:t>κ</a:t>
            </a:r>
            <a:r>
              <a:rPr lang="en-US" altLang="zh-CN" sz="2400" baseline="-25000" dirty="0">
                <a:solidFill>
                  <a:srgbClr val="FF0000"/>
                </a:solidFill>
              </a:rPr>
              <a:t>min</a:t>
            </a:r>
            <a:endParaRPr lang="zh-CN" altLang="en-US" sz="2400" baseline="-25000" dirty="0">
              <a:solidFill>
                <a:srgbClr val="FF0000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-1" y="1027589"/>
            <a:ext cx="2329938" cy="1919643"/>
            <a:chOff x="-49038" y="1158763"/>
            <a:chExt cx="2587102" cy="2073532"/>
          </a:xfrm>
        </p:grpSpPr>
        <p:cxnSp>
          <p:nvCxnSpPr>
            <p:cNvPr id="9" name="直接箭头连接符 8"/>
            <p:cNvCxnSpPr/>
            <p:nvPr/>
          </p:nvCxnSpPr>
          <p:spPr>
            <a:xfrm>
              <a:off x="392023" y="2929195"/>
              <a:ext cx="214604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/>
            <p:nvPr/>
          </p:nvCxnSpPr>
          <p:spPr>
            <a:xfrm flipV="1">
              <a:off x="392023" y="1158763"/>
              <a:ext cx="0" cy="177043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 rot="16200000">
              <a:off x="-456201" y="1808195"/>
              <a:ext cx="1152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Frequency</a:t>
              </a:r>
              <a:endParaRPr lang="zh-CN" altLang="en-US" sz="16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74714" y="2924518"/>
              <a:ext cx="11940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Wave Vector</a:t>
              </a:r>
              <a:endParaRPr lang="zh-CN" altLang="en-US" sz="14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52989" y="2841825"/>
              <a:ext cx="2872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altLang="zh-CN" sz="1400" i="1" dirty="0">
                  <a:latin typeface="Times New Roman" pitchFamily="18" charset="0"/>
                  <a:cs typeface="Times New Roman" pitchFamily="18" charset="0"/>
                </a:rPr>
                <a:t>Γ</a:t>
              </a:r>
              <a:endParaRPr lang="zh-CN" altLang="en-US" sz="1400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 flipV="1">
              <a:off x="392023" y="1706622"/>
              <a:ext cx="1399592" cy="1222574"/>
            </a:xfrm>
            <a:prstGeom prst="line">
              <a:avLst/>
            </a:prstGeom>
            <a:ln w="476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5" name="对象 14"/>
            <p:cNvGraphicFramePr>
              <a:graphicFrameLocks noChangeAspect="1"/>
            </p:cNvGraphicFramePr>
            <p:nvPr/>
          </p:nvGraphicFramePr>
          <p:xfrm>
            <a:off x="730647" y="1912771"/>
            <a:ext cx="615950" cy="231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469800" imgH="177480" progId="">
                    <p:embed/>
                  </p:oleObj>
                </mc:Choice>
                <mc:Fallback>
                  <p:oleObj name="Equation" r:id="rId5" imgW="469800" imgH="177480" progId="">
                    <p:embed/>
                    <p:pic>
                      <p:nvPicPr>
                        <p:cNvPr id="15" name="对象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0647" y="1912771"/>
                          <a:ext cx="615950" cy="2317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6" name="直接连接符 15"/>
            <p:cNvCxnSpPr/>
            <p:nvPr/>
          </p:nvCxnSpPr>
          <p:spPr>
            <a:xfrm flipH="1">
              <a:off x="440247" y="1706622"/>
              <a:ext cx="1840653" cy="0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" name="对象 16"/>
            <p:cNvGraphicFramePr>
              <a:graphicFrameLocks noChangeAspect="1"/>
            </p:cNvGraphicFramePr>
            <p:nvPr/>
          </p:nvGraphicFramePr>
          <p:xfrm>
            <a:off x="1948260" y="1353971"/>
            <a:ext cx="280987" cy="296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15640" imgH="228600" progId="">
                    <p:embed/>
                  </p:oleObj>
                </mc:Choice>
                <mc:Fallback>
                  <p:oleObj name="Equation" r:id="rId7" imgW="215640" imgH="228600" progId="">
                    <p:embed/>
                    <p:pic>
                      <p:nvPicPr>
                        <p:cNvPr id="17" name="对象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8260" y="1353971"/>
                          <a:ext cx="280987" cy="2968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8" name="直接连接符 17"/>
            <p:cNvCxnSpPr/>
            <p:nvPr/>
          </p:nvCxnSpPr>
          <p:spPr>
            <a:xfrm flipH="1">
              <a:off x="1791615" y="1566663"/>
              <a:ext cx="1" cy="1357855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任意多边形 2"/>
          <p:cNvSpPr/>
          <p:nvPr/>
        </p:nvSpPr>
        <p:spPr>
          <a:xfrm>
            <a:off x="550505" y="3049235"/>
            <a:ext cx="2500604" cy="951723"/>
          </a:xfrm>
          <a:custGeom>
            <a:avLst/>
            <a:gdLst>
              <a:gd name="connsiteX0" fmla="*/ 0 w 2836506"/>
              <a:gd name="connsiteY0" fmla="*/ 0 h 951723"/>
              <a:gd name="connsiteX1" fmla="*/ 839755 w 2836506"/>
              <a:gd name="connsiteY1" fmla="*/ 951723 h 951723"/>
              <a:gd name="connsiteX2" fmla="*/ 2836506 w 2836506"/>
              <a:gd name="connsiteY2" fmla="*/ 923731 h 951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36506" h="951723">
                <a:moveTo>
                  <a:pt x="0" y="0"/>
                </a:moveTo>
                <a:lnTo>
                  <a:pt x="839755" y="951723"/>
                </a:lnTo>
                <a:lnTo>
                  <a:pt x="2836506" y="923731"/>
                </a:lnTo>
              </a:path>
            </a:pathLst>
          </a:cu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40246" y="4025057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Linear dispersion</a:t>
            </a:r>
            <a:endParaRPr lang="zh-CN" altLang="en-US" dirty="0"/>
          </a:p>
        </p:txBody>
      </p:sp>
      <p:grpSp>
        <p:nvGrpSpPr>
          <p:cNvPr id="23" name="组合 22"/>
          <p:cNvGrpSpPr/>
          <p:nvPr/>
        </p:nvGrpSpPr>
        <p:grpSpPr>
          <a:xfrm>
            <a:off x="6580773" y="2947232"/>
            <a:ext cx="2329938" cy="1919643"/>
            <a:chOff x="-49038" y="1158763"/>
            <a:chExt cx="2587102" cy="2073532"/>
          </a:xfrm>
        </p:grpSpPr>
        <p:cxnSp>
          <p:nvCxnSpPr>
            <p:cNvPr id="24" name="直接箭头连接符 23"/>
            <p:cNvCxnSpPr/>
            <p:nvPr/>
          </p:nvCxnSpPr>
          <p:spPr>
            <a:xfrm>
              <a:off x="392023" y="2929195"/>
              <a:ext cx="214604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 flipV="1">
              <a:off x="392023" y="1158763"/>
              <a:ext cx="0" cy="177043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 rot="16200000">
              <a:off x="-456201" y="1808195"/>
              <a:ext cx="1152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Frequency</a:t>
              </a:r>
              <a:endParaRPr lang="zh-CN" altLang="en-US" sz="16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74714" y="2924518"/>
              <a:ext cx="11940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Wave Vector</a:t>
              </a:r>
              <a:endParaRPr lang="zh-CN" altLang="en-US" sz="1400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52989" y="2841825"/>
              <a:ext cx="2872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altLang="zh-CN" sz="1400" i="1" dirty="0">
                  <a:latin typeface="Times New Roman" pitchFamily="18" charset="0"/>
                  <a:cs typeface="Times New Roman" pitchFamily="18" charset="0"/>
                </a:rPr>
                <a:t>Γ</a:t>
              </a:r>
              <a:endParaRPr lang="zh-CN" altLang="en-US" sz="1400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31" name="直接连接符 30"/>
            <p:cNvCxnSpPr/>
            <p:nvPr/>
          </p:nvCxnSpPr>
          <p:spPr>
            <a:xfrm flipH="1">
              <a:off x="440247" y="1706622"/>
              <a:ext cx="1840653" cy="0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2" name="对象 31"/>
            <p:cNvGraphicFramePr>
              <a:graphicFrameLocks noChangeAspect="1"/>
            </p:cNvGraphicFramePr>
            <p:nvPr/>
          </p:nvGraphicFramePr>
          <p:xfrm>
            <a:off x="1948260" y="1353971"/>
            <a:ext cx="280987" cy="296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15640" imgH="228600" progId="">
                    <p:embed/>
                  </p:oleObj>
                </mc:Choice>
                <mc:Fallback>
                  <p:oleObj name="Equation" r:id="rId9" imgW="215640" imgH="228600" progId="">
                    <p:embed/>
                    <p:pic>
                      <p:nvPicPr>
                        <p:cNvPr id="32" name="对象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8260" y="1353971"/>
                          <a:ext cx="280987" cy="2968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3" name="直接连接符 32"/>
            <p:cNvCxnSpPr/>
            <p:nvPr/>
          </p:nvCxnSpPr>
          <p:spPr>
            <a:xfrm flipH="1">
              <a:off x="1791615" y="1566663"/>
              <a:ext cx="1" cy="1357855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任意多边形 5"/>
          <p:cNvSpPr/>
          <p:nvPr/>
        </p:nvSpPr>
        <p:spPr>
          <a:xfrm>
            <a:off x="6969966" y="3487774"/>
            <a:ext cx="1278294" cy="1101012"/>
          </a:xfrm>
          <a:custGeom>
            <a:avLst/>
            <a:gdLst>
              <a:gd name="connsiteX0" fmla="*/ 0 w 1278294"/>
              <a:gd name="connsiteY0" fmla="*/ 1101012 h 1101012"/>
              <a:gd name="connsiteX1" fmla="*/ 410547 w 1278294"/>
              <a:gd name="connsiteY1" fmla="*/ 587828 h 1101012"/>
              <a:gd name="connsiteX2" fmla="*/ 821094 w 1278294"/>
              <a:gd name="connsiteY2" fmla="*/ 186612 h 1101012"/>
              <a:gd name="connsiteX3" fmla="*/ 1278294 w 1278294"/>
              <a:gd name="connsiteY3" fmla="*/ 0 h 1101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8294" h="1101012">
                <a:moveTo>
                  <a:pt x="0" y="1101012"/>
                </a:moveTo>
                <a:cubicBezTo>
                  <a:pt x="136849" y="920620"/>
                  <a:pt x="273698" y="740228"/>
                  <a:pt x="410547" y="587828"/>
                </a:cubicBezTo>
                <a:cubicBezTo>
                  <a:pt x="547396" y="435428"/>
                  <a:pt x="676470" y="284583"/>
                  <a:pt x="821094" y="186612"/>
                </a:cubicBezTo>
                <a:cubicBezTo>
                  <a:pt x="965718" y="88641"/>
                  <a:pt x="1278294" y="0"/>
                  <a:pt x="1278294" y="0"/>
                </a:cubicBezTo>
              </a:path>
            </a:pathLst>
          </a:cu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>
            <a:off x="6008913" y="2265464"/>
            <a:ext cx="2015413" cy="811763"/>
          </a:xfrm>
          <a:custGeom>
            <a:avLst/>
            <a:gdLst>
              <a:gd name="connsiteX0" fmla="*/ 0 w 2015413"/>
              <a:gd name="connsiteY0" fmla="*/ 0 h 811763"/>
              <a:gd name="connsiteX1" fmla="*/ 1156996 w 2015413"/>
              <a:gd name="connsiteY1" fmla="*/ 9330 h 811763"/>
              <a:gd name="connsiteX2" fmla="*/ 2015413 w 2015413"/>
              <a:gd name="connsiteY2" fmla="*/ 811763 h 811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15413" h="811763">
                <a:moveTo>
                  <a:pt x="0" y="0"/>
                </a:moveTo>
                <a:lnTo>
                  <a:pt x="1156996" y="9330"/>
                </a:lnTo>
                <a:lnTo>
                  <a:pt x="2015413" y="811763"/>
                </a:lnTo>
              </a:path>
            </a:pathLst>
          </a:custGeom>
          <a:ln>
            <a:solidFill>
              <a:schemeClr val="accent6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6733223" y="1785536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Sine dispersion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8874369"/>
      </p:ext>
    </p:extLst>
  </p:cSld>
  <p:clrMapOvr>
    <a:masterClrMapping/>
  </p:clrMapOvr>
  <p:transition spd="slow" advTm="25418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1">
            <a:extLst>
              <a:ext uri="{FF2B5EF4-FFF2-40B4-BE49-F238E27FC236}">
                <a16:creationId xmlns:a16="http://schemas.microsoft.com/office/drawing/2014/main" id="{D527A496-6C6C-438B-A07B-71B48919F874}"/>
              </a:ext>
            </a:extLst>
          </p:cNvPr>
          <p:cNvSpPr txBox="1"/>
          <p:nvPr/>
        </p:nvSpPr>
        <p:spPr>
          <a:xfrm>
            <a:off x="1348880" y="3368987"/>
            <a:ext cx="5386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21. Other contribution to heat capacity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0702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3908699-B4D1-49AA-A2F8-07D39A8AC3B8}"/>
              </a:ext>
            </a:extLst>
          </p:cNvPr>
          <p:cNvSpPr txBox="1"/>
          <p:nvPr/>
        </p:nvSpPr>
        <p:spPr>
          <a:xfrm>
            <a:off x="1751087" y="199154"/>
            <a:ext cx="54777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The heat capacity of matter at low temperature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2F125D-6C34-496A-8890-7C312AA8D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6073" y="1178283"/>
            <a:ext cx="4651853" cy="1307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30637AF-7DE6-4016-B8CD-3460601D459B}"/>
              </a:ext>
            </a:extLst>
          </p:cNvPr>
          <p:cNvSpPr txBox="1"/>
          <p:nvPr/>
        </p:nvSpPr>
        <p:spPr>
          <a:xfrm>
            <a:off x="5571409" y="3445527"/>
            <a:ext cx="3181611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800" dirty="0">
                <a:solidFill>
                  <a:srgbClr val="FF0000"/>
                </a:solidFill>
                <a:cs typeface="Times New Roman" panose="02020603050405020304" pitchFamily="18" charset="0"/>
              </a:rPr>
              <a:t>1. Lattice heat capacity</a:t>
            </a:r>
          </a:p>
          <a:p>
            <a:pPr algn="just">
              <a:lnSpc>
                <a:spcPct val="150000"/>
              </a:lnSpc>
            </a:pPr>
            <a:r>
              <a:rPr lang="en-US" altLang="zh-CN" sz="1800" dirty="0">
                <a:cs typeface="Times New Roman" panose="02020603050405020304" pitchFamily="18" charset="0"/>
              </a:rPr>
              <a:t>2. Electronic heat capacity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cs typeface="Times New Roman" panose="02020603050405020304" pitchFamily="18" charset="0"/>
              </a:rPr>
              <a:t>3. Magnetic heat capacity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cs typeface="Times New Roman" panose="02020603050405020304" pitchFamily="18" charset="0"/>
              </a:rPr>
              <a:t>4. Heat capacity anomalies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02E1F51-CCD5-401C-B283-1FDC7CB6FA7E}"/>
              </a:ext>
            </a:extLst>
          </p:cNvPr>
          <p:cNvSpPr txBox="1"/>
          <p:nvPr/>
        </p:nvSpPr>
        <p:spPr>
          <a:xfrm>
            <a:off x="261813" y="2753991"/>
            <a:ext cx="4959143" cy="3028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100"/>
              </a:lnSpc>
            </a:pPr>
            <a:r>
              <a:rPr lang="en-US" altLang="zh-CN" sz="1400" kern="12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1800 Black first proposed the concept of heat capacity</a:t>
            </a:r>
          </a:p>
          <a:p>
            <a:pPr>
              <a:lnSpc>
                <a:spcPts val="2100"/>
              </a:lnSpc>
            </a:pPr>
            <a:r>
              <a:rPr lang="en-US" altLang="zh-CN" sz="1400" kern="12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1819 Dulong-Petit Law</a:t>
            </a:r>
          </a:p>
          <a:p>
            <a:pPr>
              <a:lnSpc>
                <a:spcPts val="2100"/>
              </a:lnSpc>
            </a:pPr>
            <a:r>
              <a:rPr lang="en-US" altLang="zh-CN" sz="1400" kern="12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1907 Einstein Model</a:t>
            </a:r>
          </a:p>
          <a:p>
            <a:pPr>
              <a:lnSpc>
                <a:spcPts val="2100"/>
              </a:lnSpc>
            </a:pPr>
            <a:r>
              <a:rPr lang="en-US" altLang="zh-CN" sz="1400" kern="12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1912 Debye Model</a:t>
            </a:r>
          </a:p>
          <a:p>
            <a:pPr>
              <a:lnSpc>
                <a:spcPts val="2100"/>
              </a:lnSpc>
            </a:pPr>
            <a:r>
              <a:rPr lang="en-US" altLang="zh-CN" sz="1400" kern="12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1928 </a:t>
            </a:r>
            <a:r>
              <a:rPr lang="en-US" altLang="zh-CN" sz="1400" dirty="0">
                <a:cs typeface="Times New Roman" panose="02020603050405020304" pitchFamily="18" charset="0"/>
              </a:rPr>
              <a:t>Electronic heat capacity - Sommerfeld</a:t>
            </a:r>
            <a:endParaRPr lang="en-US" altLang="zh-CN" sz="1400" kern="12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indent="0" algn="l" defTabSz="6858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kern="12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1963</a:t>
            </a:r>
            <a:r>
              <a:rPr lang="zh-CN" altLang="en-US" sz="1400" kern="12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cs typeface="Times New Roman" panose="02020603050405020304" pitchFamily="18" charset="0"/>
              </a:rPr>
              <a:t>Rosenberg proposed the Schottky anomaly of heat capacity in solids</a:t>
            </a:r>
          </a:p>
          <a:p>
            <a:pPr marL="0" marR="0" indent="0" algn="l" defTabSz="6858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dirty="0">
                <a:cs typeface="Times New Roman" panose="02020603050405020304" pitchFamily="18" charset="0"/>
              </a:rPr>
              <a:t>1980 Magnetic heat capacity - Sinha and Kumar</a:t>
            </a:r>
          </a:p>
          <a:p>
            <a:pPr marL="0" marR="0" indent="0" algn="l" defTabSz="6858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dirty="0">
                <a:cs typeface="Times New Roman" panose="02020603050405020304" pitchFamily="18" charset="0"/>
              </a:rPr>
              <a:t>1992</a:t>
            </a:r>
            <a:r>
              <a:rPr lang="zh-CN" altLang="en-US" sz="1400" dirty="0"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cs typeface="Times New Roman" panose="02020603050405020304" pitchFamily="18" charset="0"/>
              </a:rPr>
              <a:t>Elliott discovered the Boson peak anomaly in heat capacity</a:t>
            </a:r>
          </a:p>
          <a:p>
            <a:pPr marL="0" marR="0" indent="0" algn="l" defTabSz="6858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dirty="0">
                <a:cs typeface="Times New Roman" panose="02020603050405020304" pitchFamily="18" charset="0"/>
              </a:rPr>
              <a:t>2010-2020  C</a:t>
            </a:r>
            <a:r>
              <a:rPr lang="en-US" altLang="zh-CN" sz="1400" kern="12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alorimetry, New model and Application</a:t>
            </a:r>
            <a:endParaRPr lang="zh-CN" altLang="en-US" sz="1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3243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70AC4FB-0F95-44EF-90C9-0B28A6A26E0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73393" y="141851"/>
            <a:ext cx="3028426" cy="22366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FEE559D-704A-4CFC-8F4C-AF5C49E4223C}"/>
                  </a:ext>
                </a:extLst>
              </p:cNvPr>
              <p:cNvSpPr txBox="1"/>
              <p:nvPr/>
            </p:nvSpPr>
            <p:spPr>
              <a:xfrm>
                <a:off x="4959885" y="2492120"/>
                <a:ext cx="410221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i="0" dirty="0">
                    <a:solidFill>
                      <a:srgbClr val="000000"/>
                    </a:solidFill>
                    <a:effectLst/>
                  </a:rPr>
                  <a:t>Variation of the Fermi-Dirac distribution function with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CN" sz="16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6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𝜺</m:t>
                        </m:r>
                      </m:num>
                      <m:den>
                        <m:sSub>
                          <m:sSubPr>
                            <m:ctrlPr>
                              <a:rPr lang="en-US" altLang="zh-CN" sz="1600" b="1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b="1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𝜺</m:t>
                            </m:r>
                          </m:e>
                          <m:sub>
                            <m:r>
                              <a:rPr lang="en-US" altLang="zh-CN" sz="1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𝑭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600" b="1" i="0" dirty="0">
                    <a:solidFill>
                      <a:srgbClr val="000000"/>
                    </a:solidFill>
                    <a:effectLst/>
                  </a:rPr>
                  <a:t> at three temperatures.</a:t>
                </a:r>
                <a:r>
                  <a:rPr lang="en-US" altLang="zh-CN" sz="1600" b="1" dirty="0"/>
                  <a:t> </a:t>
                </a:r>
                <a:endParaRPr lang="zh-CN" altLang="en-US" sz="1600" b="1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xmlns="" id="{FFEE559D-704A-4CFC-8F4C-AF5C49E42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9885" y="2492120"/>
                <a:ext cx="4102217" cy="584775"/>
              </a:xfrm>
              <a:prstGeom prst="rect">
                <a:avLst/>
              </a:prstGeom>
              <a:blipFill>
                <a:blip r:embed="rId3" cstate="print"/>
                <a:stretch>
                  <a:fillRect l="-892" t="-16667" r="-2080" b="-95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59A71A4B-ECD7-4A36-A325-CD2A63A8B27E}"/>
              </a:ext>
            </a:extLst>
          </p:cNvPr>
          <p:cNvSpPr txBox="1"/>
          <p:nvPr/>
        </p:nvSpPr>
        <p:spPr>
          <a:xfrm>
            <a:off x="322679" y="141851"/>
            <a:ext cx="4766871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</a:rPr>
              <a:t>Electronic heat capacity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6A34355-3167-4801-954B-1125264B1CCC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67575" y="3354371"/>
            <a:ext cx="2708772" cy="23788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5075507-D189-442D-AB58-B05C2BD279B1}"/>
                  </a:ext>
                </a:extLst>
              </p:cNvPr>
              <p:cNvSpPr txBox="1"/>
              <p:nvPr/>
            </p:nvSpPr>
            <p:spPr>
              <a:xfrm>
                <a:off x="193014" y="5633893"/>
                <a:ext cx="4766871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1600" b="1" i="0" dirty="0">
                    <a:solidFill>
                      <a:srgbClr val="000000"/>
                    </a:solidFill>
                    <a:effectLst/>
                    <a:latin typeface="TimesNewRomanPSMT"/>
                  </a:rPr>
                  <a:t>Single particle density of states for free electrons. At </a:t>
                </a:r>
                <a:r>
                  <a:rPr lang="en-US" altLang="zh-CN" sz="1600" b="1" i="1" dirty="0">
                    <a:solidFill>
                      <a:srgbClr val="000000"/>
                    </a:solidFill>
                    <a:effectLst/>
                    <a:latin typeface="TimesNewRomanPS-ItalicMT"/>
                  </a:rPr>
                  <a:t>T&lt;&lt;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𝑭</m:t>
                        </m:r>
                      </m:sub>
                    </m:sSub>
                  </m:oMath>
                </a14:m>
                <a:r>
                  <a:rPr lang="en-US" altLang="zh-CN" sz="1600" b="1" i="0" dirty="0">
                    <a:solidFill>
                      <a:srgbClr val="000000"/>
                    </a:solidFill>
                    <a:effectLst/>
                    <a:latin typeface="TimesNewRomanPSMT"/>
                  </a:rPr>
                  <a:t> only those electrons within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en-US" altLang="zh-CN" sz="1600" b="1" i="1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altLang="zh-CN" sz="1600" b="1" i="1" dirty="0">
                    <a:solidFill>
                      <a:srgbClr val="000000"/>
                    </a:solidFill>
                    <a:effectLst/>
                    <a:latin typeface="TimesNewRomanPS-ItalicMT"/>
                  </a:rPr>
                  <a:t> </a:t>
                </a:r>
                <a:r>
                  <a:rPr lang="en-US" altLang="zh-CN" sz="1600" b="1" i="0" dirty="0">
                    <a:solidFill>
                      <a:srgbClr val="000000"/>
                    </a:solidFill>
                    <a:effectLst/>
                    <a:latin typeface="TimesNewRomanPSMT"/>
                  </a:rPr>
                  <a:t>range of the Fermi energy contribute to the specific heat.</a:t>
                </a:r>
              </a:p>
              <a:p>
                <a:pPr algn="just"/>
                <a:r>
                  <a:rPr lang="en-US" altLang="zh-CN" sz="1600" b="1" i="0" dirty="0">
                    <a:solidFill>
                      <a:srgbClr val="000000"/>
                    </a:solidFill>
                    <a:effectLst/>
                    <a:latin typeface="TimesNewRomanPSMT"/>
                  </a:rPr>
                  <a:t> </a:t>
                </a:r>
                <a:br>
                  <a:rPr lang="en-US" altLang="zh-CN" sz="1600" b="1" dirty="0"/>
                </a:br>
                <a:endParaRPr lang="zh-CN" altLang="en-US" sz="1600" b="1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="" xmlns:a14="http://schemas.microsoft.com/office/drawing/2010/main" xmlns:a16="http://schemas.microsoft.com/office/drawing/2014/main" id="{E5075507-D189-442D-AB58-B05C2BD27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014" y="5633893"/>
                <a:ext cx="4766871" cy="1323439"/>
              </a:xfrm>
              <a:prstGeom prst="rect">
                <a:avLst/>
              </a:prstGeom>
              <a:blipFill rotWithShape="0">
                <a:blip r:embed="rId5" cstate="print"/>
                <a:stretch>
                  <a:fillRect l="-767" t="-1382" r="-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47B55ED-6FAF-4F7C-821E-1F001799B9EB}"/>
                  </a:ext>
                </a:extLst>
              </p:cNvPr>
              <p:cNvSpPr txBox="1"/>
              <p:nvPr/>
            </p:nvSpPr>
            <p:spPr>
              <a:xfrm>
                <a:off x="1367575" y="2304419"/>
                <a:ext cx="2225096" cy="5368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b="0" i="1" smtClean="0"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zh-CN" altLang="en-US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xmlns="" id="{D47B55ED-6FAF-4F7C-821E-1F001799B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7575" y="2304419"/>
                <a:ext cx="2225096" cy="536814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2F228388-9D55-4783-A217-1122F5848607}"/>
              </a:ext>
            </a:extLst>
          </p:cNvPr>
          <p:cNvSpPr txBox="1"/>
          <p:nvPr/>
        </p:nvSpPr>
        <p:spPr>
          <a:xfrm>
            <a:off x="370146" y="876869"/>
            <a:ext cx="44126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dirty="0">
                <a:cs typeface="Times New Roman" panose="02020603050405020304" pitchFamily="18" charset="0"/>
              </a:rPr>
              <a:t>When a gas consisting of N electrons (N is assumed to be very large) is in thermal equilibrium the probability that a particular energy level e is occupied is given by the Fermi-Dirac distribution function</a:t>
            </a:r>
            <a:endParaRPr lang="zh-CN" altLang="en-US" sz="16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1915493-2499-476E-89B7-D2F25F2EBC34}"/>
                  </a:ext>
                </a:extLst>
              </p:cNvPr>
              <p:cNvSpPr txBox="1"/>
              <p:nvPr/>
            </p:nvSpPr>
            <p:spPr>
              <a:xfrm>
                <a:off x="5719168" y="5530424"/>
                <a:ext cx="2525500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𝜂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xmlns="" id="{C1915493-2499-476E-89B7-D2F25F2EB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9168" y="5530424"/>
                <a:ext cx="2525500" cy="520399"/>
              </a:xfrm>
              <a:prstGeom prst="rect">
                <a:avLst/>
              </a:prstGeom>
              <a:blipFill>
                <a:blip r:embed="rId7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58D2F340-BA08-4C30-9A93-B68F5EEE16C6}"/>
                  </a:ext>
                </a:extLst>
              </p:cNvPr>
              <p:cNvSpPr txBox="1"/>
              <p:nvPr/>
            </p:nvSpPr>
            <p:spPr>
              <a:xfrm>
                <a:off x="5089550" y="3675650"/>
                <a:ext cx="3554435" cy="6264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𝜂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</m:t>
                      </m:r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xmlns="" id="{58D2F340-BA08-4C30-9A93-B68F5EEE1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550" y="3675650"/>
                <a:ext cx="3554435" cy="626454"/>
              </a:xfrm>
              <a:prstGeom prst="rect">
                <a:avLst/>
              </a:prstGeom>
              <a:blipFill>
                <a:blip r:embed="rId8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FDBC804-97B6-4837-B26D-C788EA96FE6A}"/>
                  </a:ext>
                </a:extLst>
              </p:cNvPr>
              <p:cNvSpPr txBox="1"/>
              <p:nvPr/>
            </p:nvSpPr>
            <p:spPr>
              <a:xfrm>
                <a:off x="5026932" y="4478019"/>
                <a:ext cx="390997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</a:rPr>
                      <m:t>𝜂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is the density of states at the Fermi level. The numerical value of the above integral is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160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and hence:</a:t>
                </a:r>
                <a:endParaRPr lang="zh-CN" altLang="en-US" sz="16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xmlns="" id="{FFDBC804-97B6-4837-B26D-C788EA96F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6932" y="4478019"/>
                <a:ext cx="3909972" cy="830997"/>
              </a:xfrm>
              <a:prstGeom prst="rect">
                <a:avLst/>
              </a:prstGeom>
              <a:blipFill>
                <a:blip r:embed="rId9" cstate="print"/>
                <a:stretch>
                  <a:fillRect l="-936" t="-2206" r="-780" b="-683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5094216" y="6089591"/>
            <a:ext cx="41139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Kittel C., McEuen P., McEuen P. Introduction to Solid State Physics[M]. Wiley, New York, 1976, Vol. 8</a:t>
            </a:r>
            <a:endParaRPr lang="zh-CN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8171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E521B64-F1A9-47D3-91E5-1301594C04F8}"/>
              </a:ext>
            </a:extLst>
          </p:cNvPr>
          <p:cNvSpPr txBox="1"/>
          <p:nvPr/>
        </p:nvSpPr>
        <p:spPr>
          <a:xfrm>
            <a:off x="2644916" y="70909"/>
            <a:ext cx="4174619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</a:rPr>
              <a:t>Magnetic heat capacity</a:t>
            </a:r>
          </a:p>
        </p:txBody>
      </p:sp>
      <p:pic>
        <p:nvPicPr>
          <p:cNvPr id="4" name="图片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935" y="1001008"/>
            <a:ext cx="3494300" cy="2003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687899" y="3061982"/>
            <a:ext cx="3691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cs typeface="Times New Roman" pitchFamily="18" charset="0"/>
              </a:rPr>
              <a:t>The heat capacity of Fe</a:t>
            </a:r>
            <a:r>
              <a:rPr lang="en-US" altLang="zh-CN" sz="1600" baseline="-25000" dirty="0">
                <a:cs typeface="Times New Roman" pitchFamily="18" charset="0"/>
              </a:rPr>
              <a:t>4</a:t>
            </a:r>
            <a:r>
              <a:rPr lang="en-US" altLang="zh-CN" sz="1600" dirty="0">
                <a:cs typeface="Times New Roman" pitchFamily="18" charset="0"/>
              </a:rPr>
              <a:t>(P</a:t>
            </a:r>
            <a:r>
              <a:rPr lang="en-US" altLang="zh-CN" sz="1600" baseline="-25000" dirty="0">
                <a:cs typeface="Times New Roman" pitchFamily="18" charset="0"/>
              </a:rPr>
              <a:t>2</a:t>
            </a:r>
            <a:r>
              <a:rPr lang="en-US" altLang="zh-CN" sz="1600" dirty="0">
                <a:cs typeface="Times New Roman" pitchFamily="18" charset="0"/>
              </a:rPr>
              <a:t>O</a:t>
            </a:r>
            <a:r>
              <a:rPr lang="en-US" altLang="zh-CN" sz="1600" baseline="-25000" dirty="0">
                <a:cs typeface="Times New Roman" pitchFamily="18" charset="0"/>
              </a:rPr>
              <a:t>7</a:t>
            </a:r>
            <a:r>
              <a:rPr lang="en-US" altLang="zh-CN" sz="1600" dirty="0">
                <a:cs typeface="Times New Roman" pitchFamily="18" charset="0"/>
              </a:rPr>
              <a:t>)</a:t>
            </a:r>
            <a:r>
              <a:rPr lang="en-US" altLang="zh-CN" sz="1600" baseline="-25000" dirty="0">
                <a:cs typeface="Times New Roman" pitchFamily="18" charset="0"/>
              </a:rPr>
              <a:t>3</a:t>
            </a:r>
            <a:r>
              <a:rPr lang="en-US" altLang="zh-CN" sz="1600" dirty="0">
                <a:cs typeface="Times New Roman" pitchFamily="18" charset="0"/>
              </a:rPr>
              <a:t> around magnetic transition</a:t>
            </a:r>
            <a:endParaRPr lang="zh-CN" altLang="en-US" sz="1600" dirty="0">
              <a:cs typeface="Times New Roman" pitchFamily="18" charset="0"/>
            </a:endParaRPr>
          </a:p>
        </p:txBody>
      </p:sp>
      <p:pic>
        <p:nvPicPr>
          <p:cNvPr id="6" name="图片 5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49318" y="994369"/>
            <a:ext cx="4384957" cy="1849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4587589" y="3047833"/>
            <a:ext cx="4261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Both"/>
            </a:pPr>
            <a:r>
              <a:rPr lang="en-US" altLang="zh-CN" sz="1600" dirty="0" err="1">
                <a:cs typeface="Times New Roman" pitchFamily="18" charset="0"/>
              </a:rPr>
              <a:t>Paramagnetism</a:t>
            </a:r>
            <a:r>
              <a:rPr lang="en-US" altLang="zh-CN" sz="1600" dirty="0">
                <a:cs typeface="Times New Roman" pitchFamily="18" charset="0"/>
              </a:rPr>
              <a:t>, (b) Ferromagnetism,</a:t>
            </a:r>
          </a:p>
          <a:p>
            <a:r>
              <a:rPr lang="en-US" altLang="zh-CN" sz="1600" dirty="0">
                <a:cs typeface="Times New Roman" pitchFamily="18" charset="0"/>
              </a:rPr>
              <a:t> (c) Antiferromagnetism, (d) Ferrimagnetism</a:t>
            </a:r>
            <a:endParaRPr lang="zh-CN" altLang="en-US" sz="1600" dirty="0"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2067" y="3884993"/>
            <a:ext cx="7937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CN" sz="1600" dirty="0">
                <a:cs typeface="Times New Roman" pitchFamily="18" charset="0"/>
              </a:rPr>
              <a:t>There is a dispersion relation between the frequencies of different phases and the number of spintrons at these frequencies.</a:t>
            </a:r>
            <a:endParaRPr lang="zh-CN" altLang="en-US" sz="1600" dirty="0"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8902" y="4493855"/>
            <a:ext cx="42112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FF0000"/>
                </a:solidFill>
                <a:cs typeface="Times New Roman" pitchFamily="18" charset="0"/>
              </a:rPr>
              <a:t>Ferromagnetism</a:t>
            </a:r>
            <a:endParaRPr lang="zh-CN" altLang="en-US" sz="1600" b="1" dirty="0">
              <a:solidFill>
                <a:srgbClr val="FF0000"/>
              </a:solidFill>
              <a:cs typeface="Times New Roman" pitchFamily="18" charset="0"/>
            </a:endParaRPr>
          </a:p>
        </p:txBody>
      </p: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568741" y="5336796"/>
            <a:ext cx="42112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cs typeface="Times New Roman" pitchFamily="18" charset="0"/>
              </a:rPr>
              <a:t>Antiferromagnetism</a:t>
            </a:r>
            <a:endParaRPr lang="zh-CN" altLang="en-US" sz="1600" dirty="0">
              <a:cs typeface="Times New Roman" pitchFamily="18" charset="0"/>
            </a:endParaRP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C0D72CA-A00A-4F22-A3A5-9A8DADACFB40}"/>
              </a:ext>
            </a:extLst>
          </p:cNvPr>
          <p:cNvCxnSpPr>
            <a:cxnSpLocks/>
          </p:cNvCxnSpPr>
          <p:nvPr/>
        </p:nvCxnSpPr>
        <p:spPr>
          <a:xfrm>
            <a:off x="542067" y="3815107"/>
            <a:ext cx="8307129" cy="0"/>
          </a:xfrm>
          <a:prstGeom prst="line">
            <a:avLst/>
          </a:prstGeom>
          <a:ln w="12700">
            <a:gradFill flip="none" rotWithShape="1">
              <a:gsLst>
                <a:gs pos="1667">
                  <a:schemeClr val="accent1">
                    <a:lumMod val="40000"/>
                    <a:lumOff val="60000"/>
                  </a:schemeClr>
                </a:gs>
                <a:gs pos="48000">
                  <a:schemeClr val="accent1">
                    <a:alpha val="82000"/>
                  </a:schemeClr>
                </a:gs>
                <a:gs pos="57000">
                  <a:schemeClr val="accent1">
                    <a:alpha val="83000"/>
                  </a:schemeClr>
                </a:gs>
                <a:gs pos="10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右箭头 15"/>
          <p:cNvSpPr/>
          <p:nvPr/>
        </p:nvSpPr>
        <p:spPr>
          <a:xfrm>
            <a:off x="4100174" y="5241577"/>
            <a:ext cx="721453" cy="2684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5043827" y="4522560"/>
            <a:ext cx="42112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cs typeface="Times New Roman" pitchFamily="18" charset="0"/>
              </a:rPr>
              <a:t>Ferromagnetism</a:t>
            </a:r>
            <a:endParaRPr lang="zh-CN" altLang="en-US" sz="1600" dirty="0"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43827" y="5326002"/>
            <a:ext cx="4211273" cy="349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cs typeface="Times New Roman" pitchFamily="18" charset="0"/>
              </a:rPr>
              <a:t>Antiferromagnetism</a:t>
            </a:r>
            <a:endParaRPr lang="zh-CN" altLang="en-US" sz="1600" dirty="0">
              <a:cs typeface="Times New Roman" pitchFamily="18" charset="0"/>
            </a:endParaRPr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9721E2D-83A9-421B-9E24-13AA06C4190F}"/>
                  </a:ext>
                </a:extLst>
              </p:cNvPr>
              <p:cNvSpPr txBox="1"/>
              <p:nvPr/>
            </p:nvSpPr>
            <p:spPr>
              <a:xfrm>
                <a:off x="2258528" y="4810873"/>
                <a:ext cx="1556900" cy="5003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𝐽𝑠</m:t>
                          </m:r>
                          <m:sSup>
                            <m:sSup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sSup>
                        <m:s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xmlns="" id="{C9721E2D-83A9-421B-9E24-13AA06C41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8528" y="4810873"/>
                <a:ext cx="1556900" cy="500393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B65F0C98-22F2-4094-BA34-AE14E4DF1E9D}"/>
                  </a:ext>
                </a:extLst>
              </p:cNvPr>
              <p:cNvSpPr txBox="1"/>
              <p:nvPr/>
            </p:nvSpPr>
            <p:spPr>
              <a:xfrm>
                <a:off x="2218196" y="5770569"/>
                <a:ext cx="1608837" cy="5141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sSup>
                            <m:sSup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sSup>
                        <m:s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xmlns="" id="{B65F0C98-22F2-4094-BA34-AE14E4DF1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8196" y="5770569"/>
                <a:ext cx="1608837" cy="514115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E5557A3-62FB-4636-8F68-2530400B424F}"/>
                  </a:ext>
                </a:extLst>
              </p:cNvPr>
              <p:cNvSpPr txBox="1"/>
              <p:nvPr/>
            </p:nvSpPr>
            <p:spPr>
              <a:xfrm>
                <a:off x="5769736" y="4925693"/>
                <a:ext cx="2000932" cy="2905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𝑓𝑠𝑤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𝑓𝑠𝑤</m:t>
                          </m:r>
                        </m:sub>
                      </m:sSub>
                      <m:sSup>
                        <m:s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f>
                            <m:fPr>
                              <m:type m:val="lin"/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sSup>
                        <m:s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type m:val="lin"/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6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num>
                            <m:den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xmlns="" id="{DE5557A3-62FB-4636-8F68-2530400B4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9736" y="4925693"/>
                <a:ext cx="2000932" cy="290529"/>
              </a:xfrm>
              <a:prstGeom prst="rect">
                <a:avLst/>
              </a:prstGeom>
              <a:blipFill>
                <a:blip r:embed="rId6" cstate="print"/>
                <a:stretch>
                  <a:fillRect l="-1520" t="-95833" r="-16413" b="-1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5992144-35F2-4B24-B1C4-17E8D7DB1217}"/>
                  </a:ext>
                </a:extLst>
              </p:cNvPr>
              <p:cNvSpPr txBox="1"/>
              <p:nvPr/>
            </p:nvSpPr>
            <p:spPr>
              <a:xfrm>
                <a:off x="5793139" y="5886914"/>
                <a:ext cx="1897314" cy="2615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𝑎𝑠𝑤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𝑎𝑠𝑤</m:t>
                          </m:r>
                        </m:sub>
                      </m:sSub>
                      <m:sSup>
                        <m:s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type m:val="lin"/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6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num>
                            <m:den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xmlns="" id="{45992144-35F2-4B24-B1C4-17E8D7DB1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139" y="5886914"/>
                <a:ext cx="1897314" cy="261546"/>
              </a:xfrm>
              <a:prstGeom prst="rect">
                <a:avLst/>
              </a:prstGeom>
              <a:blipFill>
                <a:blip r:embed="rId7" cstate="print"/>
                <a:stretch>
                  <a:fillRect t="-109302" r="-15705" b="-1348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1656236" y="6262777"/>
            <a:ext cx="7970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Fisher R. A., Bouquet F., Phillips N. E., et al. Physical Review B, 2001, 64: 134425.</a:t>
            </a:r>
            <a:endParaRPr lang="zh-CN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5917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EDB489-E2EA-4764-BF47-F74EAD354073}"/>
              </a:ext>
            </a:extLst>
          </p:cNvPr>
          <p:cNvSpPr txBox="1"/>
          <p:nvPr/>
        </p:nvSpPr>
        <p:spPr>
          <a:xfrm>
            <a:off x="613506" y="272553"/>
            <a:ext cx="6348817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</a:rPr>
              <a:t>Heat capacity anomaly: </a:t>
            </a:r>
            <a:r>
              <a:rPr lang="en-US" altLang="zh-CN" sz="2400" dirty="0">
                <a:cs typeface="Times New Roman" pitchFamily="18" charset="0"/>
              </a:rPr>
              <a:t>Schottky anomaly</a:t>
            </a:r>
            <a:endParaRPr lang="zh-CN" altLang="en-US" sz="2400" dirty="0">
              <a:cs typeface="Times New Roman" pitchFamily="18" charset="0"/>
            </a:endParaRPr>
          </a:p>
        </p:txBody>
      </p:sp>
      <p:pic>
        <p:nvPicPr>
          <p:cNvPr id="3" name="图片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3506" y="2667637"/>
            <a:ext cx="3288692" cy="2052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96291" y="2667637"/>
            <a:ext cx="3234351" cy="1954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2256954" y="1123728"/>
                <a:ext cx="426187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600" dirty="0">
                    <a:cs typeface="Times New Roman" pitchFamily="18" charset="0"/>
                  </a:rPr>
                  <a:t>Schottky anomaly with different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600" dirty="0">
                    <a:cs typeface="Times New Roman" pitchFamily="18" charset="0"/>
                  </a:rPr>
                  <a:t> values</a:t>
                </a:r>
                <a:endParaRPr lang="zh-CN" altLang="en-US" sz="1600" dirty="0"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6954" y="1123728"/>
                <a:ext cx="4261872" cy="338554"/>
              </a:xfrm>
              <a:prstGeom prst="rect">
                <a:avLst/>
              </a:prstGeom>
              <a:blipFill>
                <a:blip r:embed="rId4" cstate="print"/>
                <a:stretch>
                  <a:fillRect l="-715" t="-100000" b="-16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2AB7800-A862-4481-88C4-9BDF4EAC81E4}"/>
                  </a:ext>
                </a:extLst>
              </p:cNvPr>
              <p:cNvSpPr txBox="1"/>
              <p:nvPr/>
            </p:nvSpPr>
            <p:spPr>
              <a:xfrm>
                <a:off x="2640392" y="1760902"/>
                <a:ext cx="3494996" cy="6081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𝑆𝑐h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𝑅</m:t>
                      </m:r>
                      <m:sSup>
                        <m:sSup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</m:num>
                                <m:den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</m:num>
                                <m:den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d>
                                    <m:dPr>
                                      <m:ctrlPr>
                                        <a:rPr lang="en-US" altLang="zh-CN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lin"/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  <a:cs typeface="Times New Roman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  <a:cs typeface="Times New Roman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600" b="0" i="1">
                                                  <a:latin typeface="Cambria Math" panose="02040503050406030204" pitchFamily="18" charset="0"/>
                                                  <a:cs typeface="Times New Roman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600" b="0" i="1">
                                                  <a:latin typeface="Cambria Math" panose="02040503050406030204" pitchFamily="18" charset="0"/>
                                                  <a:cs typeface="Times New Roman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  <a:cs typeface="Times New Roman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600" b="0" i="1">
                                                  <a:latin typeface="Cambria Math" panose="02040503050406030204" pitchFamily="18" charset="0"/>
                                                  <a:cs typeface="Times New Roman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600" b="0" i="1">
                                                  <a:latin typeface="Cambria Math" panose="02040503050406030204" pitchFamily="18" charset="0"/>
                                                  <a:cs typeface="Times New Roman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𝑒𝑥𝑝</m:t>
                                  </m:r>
                                  <m:d>
                                    <m:dPr>
                                      <m:ctrlPr>
                                        <a:rPr lang="en-US" altLang="zh-CN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lin"/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16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∆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sz="1600" b="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xmlns="" id="{32AB7800-A862-4481-88C4-9BDF4EAC8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392" y="1760902"/>
                <a:ext cx="3494996" cy="608115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604513" y="5322498"/>
            <a:ext cx="68407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Klotz S., Steinle-Neumann G., Strässle T., et al. Physical Review B, 2008, 77: 012411.</a:t>
            </a:r>
            <a:endParaRPr lang="zh-CN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9248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4">
            <a:extLst>
              <a:ext uri="{FF2B5EF4-FFF2-40B4-BE49-F238E27FC236}">
                <a16:creationId xmlns:a16="http://schemas.microsoft.com/office/drawing/2014/main" id="{2F35EDF1-182E-4AE9-9E99-762B308DE198}"/>
              </a:ext>
            </a:extLst>
          </p:cNvPr>
          <p:cNvSpPr txBox="1"/>
          <p:nvPr/>
        </p:nvSpPr>
        <p:spPr>
          <a:xfrm>
            <a:off x="2103039" y="311186"/>
            <a:ext cx="3998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FF0000"/>
                </a:solidFill>
                <a:cs typeface="Times New Roman" pitchFamily="18" charset="0"/>
              </a:rPr>
              <a:t>Boson peak anomaly</a:t>
            </a:r>
            <a:endParaRPr lang="zh-CN" altLang="en-US" sz="2800" dirty="0">
              <a:solidFill>
                <a:srgbClr val="FF0000"/>
              </a:solidFill>
              <a:cs typeface="Times New Roman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179B01-9C67-404C-8B8C-29FB2FD6144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3587" y="1334356"/>
            <a:ext cx="3998413" cy="328918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0127A9A-D0F8-4AF1-8A89-EE194397C131}"/>
              </a:ext>
            </a:extLst>
          </p:cNvPr>
          <p:cNvSpPr txBox="1"/>
          <p:nvPr/>
        </p:nvSpPr>
        <p:spPr>
          <a:xfrm>
            <a:off x="4776103" y="2745310"/>
            <a:ext cx="427424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dirty="0">
                <a:cs typeface="Times New Roman" panose="02020603050405020304" pitchFamily="18" charset="0"/>
              </a:rPr>
              <a:t>Low-temperature boson heat capacity peaks: </a:t>
            </a:r>
          </a:p>
          <a:p>
            <a:pPr marL="342900" indent="-342900" algn="just">
              <a:buAutoNum type="alphaLcParenBoth"/>
            </a:pPr>
            <a:r>
              <a:rPr lang="en-US" altLang="zh-CN" sz="1400" dirty="0">
                <a:cs typeface="Times New Roman" panose="02020603050405020304" pitchFamily="18" charset="0"/>
              </a:rPr>
              <a:t>as-cast set and crystalline set, </a:t>
            </a:r>
          </a:p>
          <a:p>
            <a:pPr marL="342900" indent="-342900" algn="just">
              <a:buAutoNum type="alphaLcParenBoth"/>
            </a:pPr>
            <a:r>
              <a:rPr lang="en-US" altLang="zh-CN" sz="1400" dirty="0">
                <a:cs typeface="Times New Roman" panose="02020603050405020304" pitchFamily="18" charset="0"/>
              </a:rPr>
              <a:t>partial enlargement of the as-cast set, </a:t>
            </a:r>
          </a:p>
          <a:p>
            <a:pPr marL="342900" indent="-342900" algn="just">
              <a:buAutoNum type="alphaLcParenBoth"/>
            </a:pPr>
            <a:r>
              <a:rPr lang="en-US" altLang="zh-CN" sz="1400" dirty="0">
                <a:cs typeface="Times New Roman" panose="02020603050405020304" pitchFamily="18" charset="0"/>
              </a:rPr>
              <a:t>annealed set </a:t>
            </a:r>
          </a:p>
          <a:p>
            <a:pPr marL="342900" indent="-342900" algn="just">
              <a:buAutoNum type="alphaLcParenBoth"/>
            </a:pPr>
            <a:r>
              <a:rPr lang="en-US" altLang="zh-CN" sz="1400" dirty="0">
                <a:cs typeface="Times New Roman" panose="02020603050405020304" pitchFamily="18" charset="0"/>
              </a:rPr>
              <a:t>partial enlargement of the annealed set.</a:t>
            </a:r>
            <a:endParaRPr lang="zh-CN" altLang="en-US" sz="14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CF3C8AF-6120-4C03-BF3D-6230B8545FDF}"/>
                  </a:ext>
                </a:extLst>
              </p:cNvPr>
              <p:cNvSpPr txBox="1"/>
              <p:nvPr/>
            </p:nvSpPr>
            <p:spPr>
              <a:xfrm>
                <a:off x="2319717" y="5246599"/>
                <a:ext cx="4504566" cy="911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6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sz="16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 0,                        </m:t>
                              </m:r>
                              <m:sSub>
                                <m:sSubPr>
                                  <m:ctrlP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𝑔𝑎𝑝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       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altLang="zh-CN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bSup>
                                </m:den>
                              </m:f>
                              <m:sSup>
                                <m:sSupPr>
                                  <m:ctrlP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6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𝑔𝑎𝑝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𝑑𝑣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1600" b="0" i="1">
                                      <a:latin typeface="Cambria Math" panose="02040503050406030204" pitchFamily="18" charset="0"/>
                                    </a:rPr>
                                    <m:t>𝑔𝑎𝑝</m:t>
                                  </m:r>
                                </m:sub>
                              </m:sSub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sSubSup>
                                <m:sSub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b="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1600" b="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  <m:sup>
                                  <m:r>
                                    <a:rPr lang="en-US" altLang="zh-CN" sz="1600" b="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xmlns="" id="{FCF3C8AF-6120-4C03-BF3D-6230B8545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9717" y="5246599"/>
                <a:ext cx="4504566" cy="911724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009952" y="6202391"/>
            <a:ext cx="7470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Gil L., Ramos M., Bringer A., et al. Physical Review Letters, 1993, 70: 182.</a:t>
            </a:r>
            <a:endParaRPr lang="zh-CN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2552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http://casad.cas.cn/sourcedb_ad_cas/zw2/ysxx/sxwlxb/200906/W02010051329514506935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0143" y="649507"/>
            <a:ext cx="857436" cy="117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7586247" y="245583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陈难先院士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 cstate="print"/>
          <a:srcRect t="5767" r="14812"/>
          <a:stretch/>
        </p:blipFill>
        <p:spPr>
          <a:xfrm>
            <a:off x="4345293" y="3346014"/>
            <a:ext cx="4176297" cy="81122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723358" y="5080546"/>
            <a:ext cx="1518204" cy="148201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8612" y="150157"/>
            <a:ext cx="7550203" cy="155565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22656" y="1869915"/>
            <a:ext cx="3683255" cy="305754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241562" y="4543900"/>
            <a:ext cx="4263686" cy="887761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442649" y="2799167"/>
            <a:ext cx="1869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At the low T limit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4505402" y="4188697"/>
            <a:ext cx="1958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At the high T limit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924674" y="5263699"/>
            <a:ext cx="1416877" cy="129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5800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22. Engineering considering of heat capacity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2878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17"/>
          <a:stretch>
            <a:fillRect/>
          </a:stretch>
        </p:blipFill>
        <p:spPr bwMode="auto">
          <a:xfrm>
            <a:off x="4596332" y="2131231"/>
            <a:ext cx="4352596" cy="410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984190" y="81046"/>
            <a:ext cx="6503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aseline="-250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The Empirical representation of heat capacity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381000" y="943419"/>
            <a:ext cx="79248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1020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experimentally measured variation of the constant-pressure molar heat capacity of a material with temperature is normally fitted to an expression of the form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370013" y="7048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468" y="3039706"/>
            <a:ext cx="4414736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5" y="2247609"/>
            <a:ext cx="2407354" cy="792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95265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5065" y="2983746"/>
            <a:ext cx="4254472" cy="3630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013470" y="98150"/>
            <a:ext cx="6503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aseline="-250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The Empirical representation of heat capacity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057400"/>
            <a:ext cx="6473058" cy="800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831" y="1514239"/>
            <a:ext cx="3646169" cy="738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95966" y="2209800"/>
            <a:ext cx="14350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1478-2670K</a:t>
            </a:r>
            <a:endParaRPr lang="zh-CN" altLang="en-US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304800" y="1579929"/>
            <a:ext cx="13051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298-2670K</a:t>
            </a:r>
            <a:endParaRPr lang="zh-CN" altLang="en-US" sz="2000" dirty="0"/>
          </a:p>
        </p:txBody>
      </p:sp>
      <p:sp>
        <p:nvSpPr>
          <p:cNvPr id="11" name="矩形 10"/>
          <p:cNvSpPr/>
          <p:nvPr/>
        </p:nvSpPr>
        <p:spPr>
          <a:xfrm>
            <a:off x="169506" y="3847237"/>
            <a:ext cx="4267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altLang="zh-CN" dirty="0">
                <a:solidFill>
                  <a:srgbClr val="FF0000"/>
                </a:solidFill>
              </a:rPr>
              <a:t>heat capacities (</a:t>
            </a:r>
            <a:r>
              <a:rPr lang="en-US" altLang="zh-CN" dirty="0" err="1">
                <a:solidFill>
                  <a:srgbClr val="FF0000"/>
                </a:solidFill>
              </a:rPr>
              <a:t>c</a:t>
            </a:r>
            <a:r>
              <a:rPr lang="en-US" altLang="zh-CN" baseline="-25000" dirty="0" err="1">
                <a:solidFill>
                  <a:srgbClr val="FF0000"/>
                </a:solidFill>
              </a:rPr>
              <a:t>p</a:t>
            </a:r>
            <a:r>
              <a:rPr lang="en-US" altLang="zh-CN" dirty="0">
                <a:solidFill>
                  <a:srgbClr val="FF0000"/>
                </a:solidFill>
              </a:rPr>
              <a:t> ) increased with temperature 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dirty="0"/>
              <a:t>heat capacities (</a:t>
            </a:r>
            <a:r>
              <a:rPr lang="en-US" altLang="zh-CN" dirty="0" err="1"/>
              <a:t>c</a:t>
            </a:r>
            <a:r>
              <a:rPr lang="en-US" altLang="zh-CN" baseline="-25000" dirty="0" err="1"/>
              <a:t>p</a:t>
            </a:r>
            <a:r>
              <a:rPr lang="en-US" altLang="zh-CN" dirty="0"/>
              <a:t> ) of some elements which exhibit allotropy and some compounds which exhibit polymorphism.</a:t>
            </a:r>
            <a:endParaRPr lang="zh-CN" altLang="en-US" dirty="0"/>
          </a:p>
        </p:txBody>
      </p:sp>
      <p:sp>
        <p:nvSpPr>
          <p:cNvPr id="12" name="任意多边形 11"/>
          <p:cNvSpPr/>
          <p:nvPr/>
        </p:nvSpPr>
        <p:spPr>
          <a:xfrm>
            <a:off x="4912929" y="4429125"/>
            <a:ext cx="3236529" cy="590550"/>
          </a:xfrm>
          <a:custGeom>
            <a:avLst/>
            <a:gdLst>
              <a:gd name="connsiteX0" fmla="*/ 0 w 3514725"/>
              <a:gd name="connsiteY0" fmla="*/ 590550 h 590550"/>
              <a:gd name="connsiteX1" fmla="*/ 266700 w 3514725"/>
              <a:gd name="connsiteY1" fmla="*/ 323850 h 590550"/>
              <a:gd name="connsiteX2" fmla="*/ 723900 w 3514725"/>
              <a:gd name="connsiteY2" fmla="*/ 161925 h 590550"/>
              <a:gd name="connsiteX3" fmla="*/ 1390650 w 3514725"/>
              <a:gd name="connsiteY3" fmla="*/ 85725 h 590550"/>
              <a:gd name="connsiteX4" fmla="*/ 2028825 w 3514725"/>
              <a:gd name="connsiteY4" fmla="*/ 38100 h 590550"/>
              <a:gd name="connsiteX5" fmla="*/ 2638425 w 3514725"/>
              <a:gd name="connsiteY5" fmla="*/ 0 h 590550"/>
              <a:gd name="connsiteX6" fmla="*/ 2638425 w 3514725"/>
              <a:gd name="connsiteY6" fmla="*/ 114300 h 590550"/>
              <a:gd name="connsiteX7" fmla="*/ 3514725 w 3514725"/>
              <a:gd name="connsiteY7" fmla="*/ 123825 h 59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14725" h="590550">
                <a:moveTo>
                  <a:pt x="0" y="590550"/>
                </a:moveTo>
                <a:lnTo>
                  <a:pt x="266700" y="323850"/>
                </a:lnTo>
                <a:lnTo>
                  <a:pt x="723900" y="161925"/>
                </a:lnTo>
                <a:lnTo>
                  <a:pt x="1390650" y="85725"/>
                </a:lnTo>
                <a:lnTo>
                  <a:pt x="2028825" y="38100"/>
                </a:lnTo>
                <a:lnTo>
                  <a:pt x="2638425" y="0"/>
                </a:lnTo>
                <a:lnTo>
                  <a:pt x="2638425" y="114300"/>
                </a:lnTo>
                <a:lnTo>
                  <a:pt x="3514725" y="123825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30273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50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01" y="1059316"/>
            <a:ext cx="6915150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98375" y="193998"/>
            <a:ext cx="4089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Partial liquid-like sub-lattice 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14950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183" y="3731954"/>
            <a:ext cx="3205649" cy="2555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950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832" y="3731954"/>
            <a:ext cx="333375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91821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53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640" y="3659328"/>
            <a:ext cx="3339193" cy="2513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4799109" y="1265073"/>
          <a:ext cx="1598613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993600" imgH="10668000" progId="">
                  <p:embed/>
                </p:oleObj>
              </mc:Choice>
              <mc:Fallback>
                <p:oleObj name="Equation" r:id="rId3" imgW="24993600" imgH="10668000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9109" y="1265073"/>
                        <a:ext cx="1598613" cy="682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850881" y="2277254"/>
          <a:ext cx="1627188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30040" imgH="444240" progId="">
                  <p:embed/>
                </p:oleObj>
              </mc:Choice>
              <mc:Fallback>
                <p:oleObj name="Equation" r:id="rId5" imgW="1130040" imgH="444240" progId="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0881" y="2277254"/>
                        <a:ext cx="1627188" cy="638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26367" y="156674"/>
            <a:ext cx="3935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Temperature dependent </a:t>
            </a:r>
            <a:r>
              <a:rPr lang="en-US" altLang="zh-CN" sz="2400" dirty="0" err="1">
                <a:solidFill>
                  <a:srgbClr val="FF0000"/>
                </a:solidFill>
              </a:rPr>
              <a:t>C</a:t>
            </a:r>
            <a:r>
              <a:rPr lang="en-US" altLang="zh-CN" sz="2400" baseline="-25000" dirty="0" err="1">
                <a:solidFill>
                  <a:srgbClr val="FF0000"/>
                </a:solidFill>
              </a:rPr>
              <a:t>p</a:t>
            </a:r>
            <a:endParaRPr lang="zh-CN" altLang="en-US" sz="2400" baseline="-25000" dirty="0">
              <a:solidFill>
                <a:srgbClr val="FF0000"/>
              </a:solidFill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880" y="990600"/>
            <a:ext cx="2834081" cy="2418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49290" y="727788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Regular materials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49290" y="3289996"/>
            <a:ext cx="846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Cu</a:t>
            </a:r>
            <a:r>
              <a:rPr lang="en-US" altLang="zh-CN" baseline="-25000" dirty="0"/>
              <a:t>2</a:t>
            </a:r>
            <a:r>
              <a:rPr lang="en-US" altLang="zh-CN" dirty="0"/>
              <a:t>Se</a:t>
            </a:r>
            <a:endParaRPr lang="zh-CN" altLang="en-US" dirty="0"/>
          </a:p>
        </p:txBody>
      </p:sp>
      <p:pic>
        <p:nvPicPr>
          <p:cNvPr id="150538" name="Picture 10" descr="Atomistic trajectories of b-Cu 2 Se sampled with AIMD atomic trajectories for 3 ps, for four different temperatures: (a) 500, (b) 700, (c) 900 and (d) 1100 K.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4049" y="3510766"/>
            <a:ext cx="3638159" cy="2384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566343" y="3233767"/>
            <a:ext cx="5421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500K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58294" y="3228351"/>
            <a:ext cx="5421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700K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12554" y="4639015"/>
            <a:ext cx="5421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900K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58294" y="4639015"/>
            <a:ext cx="615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1100K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30496" y="5907662"/>
            <a:ext cx="25699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 </a:t>
            </a:r>
            <a:r>
              <a:rPr lang="en-US" altLang="zh-CN" u="sng" dirty="0" err="1">
                <a:hlinkClick r:id="rId9"/>
              </a:rPr>
              <a:t>Acta</a:t>
            </a:r>
            <a:r>
              <a:rPr lang="en-US" altLang="zh-CN" u="sng" dirty="0">
                <a:hlinkClick r:id="rId9"/>
              </a:rPr>
              <a:t> </a:t>
            </a:r>
            <a:r>
              <a:rPr lang="en-US" altLang="zh-CN" u="sng" dirty="0" err="1">
                <a:hlinkClick r:id="rId9"/>
              </a:rPr>
              <a:t>Materialia</a:t>
            </a:r>
            <a:r>
              <a:rPr lang="zh-CN" altLang="en-US" u="sng" dirty="0"/>
              <a:t>，</a:t>
            </a:r>
            <a:r>
              <a:rPr lang="en-US" altLang="zh-CN" u="sng" dirty="0"/>
              <a:t>2015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67112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053369" y="32348"/>
            <a:ext cx="61013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Entropy  as a function of temperature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31945" y="1363079"/>
            <a:ext cx="793560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</a:rPr>
              <a:t>For a closed system of fixed composition 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undergoing a change in temperature from </a:t>
            </a:r>
            <a:r>
              <a:rPr lang="en-US" altLang="zh-CN" sz="2400" i="1" dirty="0">
                <a:solidFill>
                  <a:srgbClr val="0000FF"/>
                </a:solidFill>
              </a:rPr>
              <a:t>T</a:t>
            </a:r>
            <a:r>
              <a:rPr lang="en-US" altLang="zh-CN" sz="2400" i="1" baseline="-25000" dirty="0">
                <a:solidFill>
                  <a:srgbClr val="0000FF"/>
                </a:solidFill>
              </a:rPr>
              <a:t>1</a:t>
            </a:r>
            <a:r>
              <a:rPr lang="en-US" altLang="zh-CN" sz="2400" i="1" dirty="0">
                <a:solidFill>
                  <a:srgbClr val="0000FF"/>
                </a:solidFill>
              </a:rPr>
              <a:t>  </a:t>
            </a:r>
            <a:r>
              <a:rPr lang="en-US" altLang="zh-CN" sz="2400" dirty="0">
                <a:solidFill>
                  <a:srgbClr val="0000FF"/>
                </a:solidFill>
              </a:rPr>
              <a:t>to </a:t>
            </a:r>
            <a:r>
              <a:rPr lang="en-US" altLang="zh-CN" sz="2400" i="1" dirty="0">
                <a:solidFill>
                  <a:srgbClr val="0000FF"/>
                </a:solidFill>
              </a:rPr>
              <a:t>T</a:t>
            </a:r>
            <a:r>
              <a:rPr lang="en-US" altLang="zh-CN" sz="2400" i="1" baseline="-25000" dirty="0">
                <a:solidFill>
                  <a:srgbClr val="0000FF"/>
                </a:solidFill>
              </a:rPr>
              <a:t>2</a:t>
            </a:r>
            <a:r>
              <a:rPr lang="en-US" altLang="zh-CN" sz="2400" i="1" dirty="0">
                <a:solidFill>
                  <a:srgbClr val="0000FF"/>
                </a:solidFill>
              </a:rPr>
              <a:t>  </a:t>
            </a:r>
            <a:r>
              <a:rPr lang="en-US" altLang="zh-CN" sz="2400" dirty="0">
                <a:solidFill>
                  <a:srgbClr val="0000FF"/>
                </a:solidFill>
              </a:rPr>
              <a:t>at the constant pressure </a:t>
            </a:r>
            <a:r>
              <a:rPr lang="en-US" altLang="zh-CN" sz="2400" i="1" dirty="0">
                <a:solidFill>
                  <a:srgbClr val="0000FF"/>
                </a:solidFill>
              </a:rPr>
              <a:t>P</a:t>
            </a: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645991" y="5252202"/>
            <a:ext cx="2891928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692216" y="3347202"/>
            <a:ext cx="0" cy="1905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82925" y="406862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err="1"/>
              <a:t>c</a:t>
            </a:r>
            <a:r>
              <a:rPr lang="en-US" altLang="zh-CN" i="1" baseline="-25000" dirty="0" err="1"/>
              <a:t>p</a:t>
            </a:r>
            <a:endParaRPr lang="zh-CN" altLang="en-US" i="1" baseline="-25000" dirty="0"/>
          </a:p>
        </p:txBody>
      </p:sp>
      <p:sp>
        <p:nvSpPr>
          <p:cNvPr id="17" name="TextBox 16"/>
          <p:cNvSpPr txBox="1"/>
          <p:nvPr/>
        </p:nvSpPr>
        <p:spPr>
          <a:xfrm>
            <a:off x="714065" y="5324973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T</a:t>
            </a:r>
            <a:r>
              <a:rPr lang="en-US" altLang="zh-CN" i="1" baseline="-25000" dirty="0"/>
              <a:t>1</a:t>
            </a:r>
            <a:endParaRPr lang="zh-CN" altLang="en-US" i="1" dirty="0"/>
          </a:p>
        </p:txBody>
      </p:sp>
      <p:sp>
        <p:nvSpPr>
          <p:cNvPr id="20" name="任意多边形 19"/>
          <p:cNvSpPr/>
          <p:nvPr/>
        </p:nvSpPr>
        <p:spPr>
          <a:xfrm>
            <a:off x="919410" y="3763828"/>
            <a:ext cx="2237509" cy="1468087"/>
          </a:xfrm>
          <a:custGeom>
            <a:avLst/>
            <a:gdLst>
              <a:gd name="connsiteX0" fmla="*/ 0 w 2315688"/>
              <a:gd name="connsiteY0" fmla="*/ 1163782 h 1520042"/>
              <a:gd name="connsiteX1" fmla="*/ 0 w 2315688"/>
              <a:gd name="connsiteY1" fmla="*/ 1520042 h 1520042"/>
              <a:gd name="connsiteX2" fmla="*/ 2315688 w 2315688"/>
              <a:gd name="connsiteY2" fmla="*/ 1520042 h 1520042"/>
              <a:gd name="connsiteX3" fmla="*/ 2303813 w 2315688"/>
              <a:gd name="connsiteY3" fmla="*/ 0 h 1520042"/>
              <a:gd name="connsiteX4" fmla="*/ 1294410 w 2315688"/>
              <a:gd name="connsiteY4" fmla="*/ 261258 h 1520042"/>
              <a:gd name="connsiteX5" fmla="*/ 688768 w 2315688"/>
              <a:gd name="connsiteY5" fmla="*/ 510639 h 1520042"/>
              <a:gd name="connsiteX6" fmla="*/ 296883 w 2315688"/>
              <a:gd name="connsiteY6" fmla="*/ 855024 h 1520042"/>
              <a:gd name="connsiteX7" fmla="*/ 0 w 2315688"/>
              <a:gd name="connsiteY7" fmla="*/ 1163782 h 1520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15688" h="1520042">
                <a:moveTo>
                  <a:pt x="0" y="1163782"/>
                </a:moveTo>
                <a:lnTo>
                  <a:pt x="0" y="1520042"/>
                </a:lnTo>
                <a:lnTo>
                  <a:pt x="2315688" y="1520042"/>
                </a:lnTo>
                <a:cubicBezTo>
                  <a:pt x="2311730" y="1013361"/>
                  <a:pt x="2307771" y="506681"/>
                  <a:pt x="2303813" y="0"/>
                </a:cubicBezTo>
                <a:lnTo>
                  <a:pt x="1294410" y="261258"/>
                </a:lnTo>
                <a:lnTo>
                  <a:pt x="688768" y="510639"/>
                </a:lnTo>
                <a:lnTo>
                  <a:pt x="296883" y="855024"/>
                </a:lnTo>
                <a:lnTo>
                  <a:pt x="0" y="116378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 15"/>
          <p:cNvSpPr/>
          <p:nvPr/>
        </p:nvSpPr>
        <p:spPr>
          <a:xfrm>
            <a:off x="917432" y="3784115"/>
            <a:ext cx="2208810" cy="1140032"/>
          </a:xfrm>
          <a:custGeom>
            <a:avLst/>
            <a:gdLst>
              <a:gd name="connsiteX0" fmla="*/ 0 w 2208810"/>
              <a:gd name="connsiteY0" fmla="*/ 1140032 h 1140032"/>
              <a:gd name="connsiteX1" fmla="*/ 783771 w 2208810"/>
              <a:gd name="connsiteY1" fmla="*/ 427512 h 1140032"/>
              <a:gd name="connsiteX2" fmla="*/ 2208810 w 2208810"/>
              <a:gd name="connsiteY2" fmla="*/ 0 h 1140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08810" h="1140032">
                <a:moveTo>
                  <a:pt x="0" y="1140032"/>
                </a:moveTo>
                <a:cubicBezTo>
                  <a:pt x="207818" y="878774"/>
                  <a:pt x="415636" y="617517"/>
                  <a:pt x="783771" y="427512"/>
                </a:cubicBezTo>
                <a:cubicBezTo>
                  <a:pt x="1151906" y="237507"/>
                  <a:pt x="1680358" y="118753"/>
                  <a:pt x="2208810" y="0"/>
                </a:cubicBezTo>
              </a:path>
            </a:pathLst>
          </a:cu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3233119" y="4253294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i="1" dirty="0">
                <a:latin typeface="Times New Roman" panose="02020603050405020304"/>
                <a:cs typeface="Times New Roman" panose="02020603050405020304"/>
              </a:rPr>
              <a:t>Δ</a:t>
            </a:r>
            <a:r>
              <a:rPr lang="en-US" altLang="zh-CN" i="1" dirty="0">
                <a:latin typeface="Times New Roman" panose="02020603050405020304"/>
                <a:cs typeface="Times New Roman" panose="02020603050405020304"/>
              </a:rPr>
              <a:t>H</a:t>
            </a:r>
            <a:endParaRPr lang="zh-CN" altLang="en-US" i="1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4505520" y="4045502"/>
          <a:ext cx="4192032" cy="1110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98600" imgH="609480" progId="">
                  <p:embed/>
                </p:oleObj>
              </mc:Choice>
              <mc:Fallback>
                <p:oleObj name="Equation" r:id="rId2" imgW="2298600" imgH="609480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5520" y="4045502"/>
                        <a:ext cx="4192032" cy="1110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822916" y="5375945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T</a:t>
            </a:r>
            <a:r>
              <a:rPr lang="en-US" altLang="zh-CN" i="1" baseline="-25000" dirty="0"/>
              <a:t>2</a:t>
            </a:r>
            <a:endParaRPr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29341443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045464" y="88612"/>
            <a:ext cx="52263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Enthalpy-Temperature diagram </a:t>
            </a:r>
            <a:endParaRPr lang="zh-CN" altLang="en-US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439116" y="1421977"/>
            <a:ext cx="3918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</a:rPr>
              <a:t>Considering a melting process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pic>
        <p:nvPicPr>
          <p:cNvPr id="13" name="image488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8790" y="1421977"/>
            <a:ext cx="2211460" cy="347226"/>
          </a:xfrm>
          <a:prstGeom prst="rect">
            <a:avLst/>
          </a:prstGeom>
        </p:spPr>
      </p:pic>
      <p:pic>
        <p:nvPicPr>
          <p:cNvPr id="14" name="image489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47243" y="1859684"/>
            <a:ext cx="2092848" cy="296446"/>
          </a:xfrm>
          <a:prstGeom prst="rect">
            <a:avLst/>
          </a:prstGeom>
        </p:spPr>
      </p:pic>
      <p:pic>
        <p:nvPicPr>
          <p:cNvPr id="15" name="image494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62031" y="2145030"/>
            <a:ext cx="4419600" cy="598170"/>
          </a:xfrm>
          <a:prstGeom prst="rect">
            <a:avLst/>
          </a:prstGeom>
        </p:spPr>
      </p:pic>
      <p:pic>
        <p:nvPicPr>
          <p:cNvPr id="16" name="image495.pn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44752" y="2743200"/>
            <a:ext cx="1897830" cy="6286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0" y="5017134"/>
            <a:ext cx="3043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If </a:t>
            </a:r>
            <a:r>
              <a:rPr lang="el-GR" altLang="zh-CN" sz="2000" dirty="0">
                <a:latin typeface="Times New Roman" panose="02020603050405020304"/>
                <a:cs typeface="Times New Roman" panose="02020603050405020304"/>
              </a:rPr>
              <a:t>Δ</a:t>
            </a:r>
            <a:r>
              <a:rPr lang="en-US" altLang="zh-CN" sz="2000" dirty="0" err="1">
                <a:latin typeface="Times New Roman" panose="02020603050405020304"/>
                <a:cs typeface="Times New Roman" panose="02020603050405020304"/>
              </a:rPr>
              <a:t>c</a:t>
            </a:r>
            <a:r>
              <a:rPr lang="en-US" altLang="zh-CN" sz="2000" baseline="-25000" dirty="0" err="1">
                <a:latin typeface="Times New Roman" panose="02020603050405020304"/>
                <a:cs typeface="Times New Roman" panose="02020603050405020304"/>
              </a:rPr>
              <a:t>p</a:t>
            </a:r>
            <a:r>
              <a:rPr lang="en-US" altLang="zh-CN" sz="2000" dirty="0">
                <a:latin typeface="Times New Roman" panose="02020603050405020304"/>
                <a:cs typeface="Times New Roman" panose="02020603050405020304"/>
              </a:rPr>
              <a:t>=0, then </a:t>
            </a:r>
            <a:r>
              <a:rPr lang="el-GR" altLang="zh-CN" sz="2000" i="1" dirty="0">
                <a:latin typeface="Times New Roman" panose="02020603050405020304"/>
                <a:cs typeface="Times New Roman" panose="02020603050405020304"/>
              </a:rPr>
              <a:t>Δ</a:t>
            </a:r>
            <a:r>
              <a:rPr lang="en-US" altLang="zh-CN" sz="2000" i="1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lang="en-US" altLang="zh-CN" sz="2000" i="1" baseline="-25000" dirty="0">
                <a:latin typeface="Times New Roman" panose="02020603050405020304"/>
                <a:cs typeface="Times New Roman" panose="02020603050405020304"/>
              </a:rPr>
              <a:t>T1</a:t>
            </a:r>
            <a:r>
              <a:rPr lang="en-US" altLang="zh-CN" sz="2000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sz="2000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lang="el-GR" altLang="zh-CN" sz="2000" i="1" dirty="0">
                <a:latin typeface="Times New Roman" panose="02020603050405020304"/>
                <a:cs typeface="Times New Roman" panose="02020603050405020304"/>
              </a:rPr>
              <a:t>Δ</a:t>
            </a:r>
            <a:r>
              <a:rPr lang="en-US" altLang="zh-CN" sz="2000" i="1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lang="en-US" altLang="zh-CN" sz="2000" i="1" baseline="-25000" dirty="0">
                <a:latin typeface="Times New Roman" panose="02020603050405020304"/>
                <a:cs typeface="Times New Roman" panose="02020603050405020304"/>
              </a:rPr>
              <a:t>T2</a:t>
            </a:r>
            <a:r>
              <a:rPr lang="en-US" altLang="zh-CN" sz="2000" i="1" dirty="0">
                <a:latin typeface="Times New Roman" panose="02020603050405020304"/>
                <a:cs typeface="Times New Roman" panose="02020603050405020304"/>
              </a:rPr>
              <a:t> </a:t>
            </a:r>
            <a:endParaRPr lang="zh-CN" altLang="en-US" sz="2000" i="1" dirty="0"/>
          </a:p>
        </p:txBody>
      </p:sp>
      <p:sp>
        <p:nvSpPr>
          <p:cNvPr id="21" name="矩形 20"/>
          <p:cNvSpPr/>
          <p:nvPr/>
        </p:nvSpPr>
        <p:spPr>
          <a:xfrm>
            <a:off x="4572658" y="3649024"/>
            <a:ext cx="2070738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i="1" dirty="0"/>
              <a:t>Kirchhoff ’s Law</a:t>
            </a:r>
            <a:endParaRPr lang="zh-CN" altLang="en-US" dirty="0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88" y="2760881"/>
            <a:ext cx="3996611" cy="2835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513" y="2156130"/>
            <a:ext cx="1268071" cy="587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5138738" y="4271963"/>
          <a:ext cx="25622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36480" imgH="355320" progId="">
                  <p:embed/>
                </p:oleObj>
              </mc:Choice>
              <mc:Fallback>
                <p:oleObj name="Equation" r:id="rId9" imgW="1536480" imgH="355320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8738" y="4271963"/>
                        <a:ext cx="2562225" cy="593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88080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978725" y="98328"/>
            <a:ext cx="6261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Enthalpy  as a function of temperature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74550" y="1038809"/>
            <a:ext cx="831225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When a system undergoes a chemical reaction or a phase transformation at constant temperature and pressure, e.g.,</a:t>
            </a:r>
          </a:p>
          <a:p>
            <a:r>
              <a:rPr lang="en-US" altLang="zh-CN" dirty="0"/>
              <a:t>   </a:t>
            </a:r>
          </a:p>
          <a:p>
            <a:r>
              <a:rPr lang="en-US" altLang="zh-CN" sz="2800" i="1" dirty="0">
                <a:solidFill>
                  <a:srgbClr val="FF0000"/>
                </a:solidFill>
              </a:rPr>
              <a:t>       A+B=AB </a:t>
            </a:r>
          </a:p>
          <a:p>
            <a:endParaRPr lang="en-US" altLang="zh-CN" i="1" dirty="0">
              <a:latin typeface="Times New Roman" panose="02020603050405020304"/>
              <a:cs typeface="Times New Roman" panose="020206030504050203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/>
                <a:cs typeface="Times New Roman" panose="02020603050405020304"/>
              </a:rPr>
              <a:t>Δ</a:t>
            </a:r>
            <a:r>
              <a:rPr lang="en-US" altLang="zh-CN" i="1" dirty="0"/>
              <a:t>H </a:t>
            </a:r>
            <a:r>
              <a:rPr lang="en-US" altLang="zh-CN" dirty="0"/>
              <a:t>is the difference between the enthalpy of the products of the reaction (the state 2), and the enthalpy of the reactants (the state 1), </a:t>
            </a:r>
            <a:r>
              <a:rPr lang="en-US" altLang="zh-CN" dirty="0" err="1"/>
              <a:t>i.e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812913" y="4758612"/>
            <a:ext cx="493474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i="1" dirty="0"/>
              <a:t>Endothermic process: </a:t>
            </a:r>
            <a:r>
              <a:rPr lang="el-GR" altLang="zh-CN" b="1" i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Δ</a:t>
            </a:r>
            <a:r>
              <a:rPr lang="en-US" altLang="zh-CN" b="1" i="1" dirty="0">
                <a:solidFill>
                  <a:srgbClr val="FF0000"/>
                </a:solidFill>
              </a:rPr>
              <a:t>H </a:t>
            </a:r>
            <a:r>
              <a:rPr lang="en-US" altLang="zh-CN" b="1" dirty="0">
                <a:solidFill>
                  <a:srgbClr val="FF0000"/>
                </a:solidFill>
              </a:rPr>
              <a:t>is positive</a:t>
            </a:r>
          </a:p>
          <a:p>
            <a:pPr>
              <a:lnSpc>
                <a:spcPct val="150000"/>
              </a:lnSpc>
            </a:pPr>
            <a:r>
              <a:rPr lang="en-US" altLang="zh-CN" b="1" i="1" dirty="0"/>
              <a:t>Exothermic </a:t>
            </a:r>
            <a:r>
              <a:rPr lang="en-US" altLang="zh-CN" b="1" dirty="0"/>
              <a:t>process: </a:t>
            </a:r>
            <a:r>
              <a:rPr lang="el-GR" altLang="zh-CN" b="1" i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Δ</a:t>
            </a:r>
            <a:r>
              <a:rPr lang="en-US" altLang="zh-CN" b="1" i="1" dirty="0">
                <a:solidFill>
                  <a:srgbClr val="0000FF"/>
                </a:solidFill>
              </a:rPr>
              <a:t>H </a:t>
            </a:r>
            <a:r>
              <a:rPr lang="en-US" altLang="zh-CN" b="1" dirty="0">
                <a:solidFill>
                  <a:srgbClr val="0000FF"/>
                </a:solidFill>
              </a:rPr>
              <a:t>is  negative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306" y="3656045"/>
            <a:ext cx="6111498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62167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443706" y="1069848"/>
            <a:ext cx="81903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i="1" dirty="0"/>
              <a:t>H </a:t>
            </a:r>
            <a:r>
              <a:rPr lang="en-US" altLang="zh-CN" dirty="0"/>
              <a:t>does not have an absolute value (only changes in </a:t>
            </a:r>
            <a:r>
              <a:rPr lang="en-US" altLang="zh-CN" i="1" dirty="0"/>
              <a:t>H </a:t>
            </a:r>
            <a:r>
              <a:rPr lang="en-US" altLang="zh-CN" dirty="0"/>
              <a:t>can be measured)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408432" y="1603248"/>
            <a:ext cx="71898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This convention assigns the value of zero to the enthalpy of </a:t>
            </a:r>
            <a:r>
              <a:rPr lang="en-US" altLang="zh-CN" b="1" i="1" dirty="0"/>
              <a:t>elements in their stable states at 298 K </a:t>
            </a:r>
            <a:r>
              <a:rPr lang="en-US" altLang="zh-CN" b="1" dirty="0"/>
              <a:t>(25°C)</a:t>
            </a:r>
            <a:endParaRPr lang="zh-CN" altLang="en-US" b="1" dirty="0"/>
          </a:p>
        </p:txBody>
      </p:sp>
      <p:pic>
        <p:nvPicPr>
          <p:cNvPr id="13" name="image506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440" y="3692914"/>
            <a:ext cx="2644272" cy="2238375"/>
          </a:xfrm>
          <a:prstGeom prst="rect">
            <a:avLst/>
          </a:prstGeom>
        </p:spPr>
      </p:pic>
      <p:pic>
        <p:nvPicPr>
          <p:cNvPr id="14" name="image499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9432" y="2310512"/>
            <a:ext cx="2609726" cy="816735"/>
          </a:xfrm>
          <a:prstGeom prst="rect">
            <a:avLst/>
          </a:prstGeom>
        </p:spPr>
      </p:pic>
      <p:pic>
        <p:nvPicPr>
          <p:cNvPr id="15" name="image501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83424" y="2533822"/>
            <a:ext cx="1592408" cy="364826"/>
          </a:xfrm>
          <a:prstGeom prst="rect">
            <a:avLst/>
          </a:prstGeom>
        </p:spPr>
      </p:pic>
      <p:cxnSp>
        <p:nvCxnSpPr>
          <p:cNvPr id="22" name="直接连接符 21"/>
          <p:cNvCxnSpPr>
            <a:stCxn id="14" idx="2"/>
          </p:cNvCxnSpPr>
          <p:nvPr/>
        </p:nvCxnSpPr>
        <p:spPr>
          <a:xfrm>
            <a:off x="2094295" y="3127247"/>
            <a:ext cx="13394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image502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75510" y="3292864"/>
            <a:ext cx="1371600" cy="4000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734952" y="3323582"/>
            <a:ext cx="4285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The T-dependent heat of chemical reaction </a:t>
            </a:r>
            <a:endParaRPr lang="zh-CN" altLang="en-US" dirty="0"/>
          </a:p>
        </p:txBody>
      </p:sp>
      <p:pic>
        <p:nvPicPr>
          <p:cNvPr id="26" name="image512.pn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32678" y="3985979"/>
            <a:ext cx="2971802" cy="514350"/>
          </a:xfrm>
          <a:prstGeom prst="rect">
            <a:avLst/>
          </a:prstGeom>
        </p:spPr>
      </p:pic>
      <p:pic>
        <p:nvPicPr>
          <p:cNvPr id="28" name="image516.pn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66004" y="4633679"/>
            <a:ext cx="2200276" cy="661988"/>
          </a:xfrm>
          <a:prstGeom prst="rect">
            <a:avLst/>
          </a:prstGeom>
        </p:spPr>
      </p:pic>
      <p:pic>
        <p:nvPicPr>
          <p:cNvPr id="29" name="image517.png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38295" y="5338034"/>
            <a:ext cx="2255694" cy="499753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1045464" y="88612"/>
            <a:ext cx="54560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Enthalpy-Temperature diagram 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4492415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898"/>
          <a:stretch>
            <a:fillRect/>
          </a:stretch>
        </p:blipFill>
        <p:spPr bwMode="auto">
          <a:xfrm>
            <a:off x="228600" y="1524001"/>
            <a:ext cx="3429000" cy="2329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image516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3534" y="4638792"/>
            <a:ext cx="2200276" cy="661988"/>
          </a:xfrm>
          <a:prstGeom prst="rect">
            <a:avLst/>
          </a:prstGeom>
        </p:spPr>
      </p:pic>
      <p:pic>
        <p:nvPicPr>
          <p:cNvPr id="12" name="image517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5825" y="5343147"/>
            <a:ext cx="2255694" cy="499753"/>
          </a:xfrm>
          <a:prstGeom prst="rect">
            <a:avLst/>
          </a:prstGeom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5308" y="1510863"/>
            <a:ext cx="3006492" cy="2342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581400" y="4355068"/>
            <a:ext cx="1783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(a). 298 to 600 K </a:t>
            </a:r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72029" y="5117068"/>
            <a:ext cx="1130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(b). 600 K </a:t>
            </a:r>
            <a:endParaRPr lang="zh-CN" altLang="en-US" dirty="0"/>
          </a:p>
        </p:txBody>
      </p:sp>
      <p:pic>
        <p:nvPicPr>
          <p:cNvPr id="16" name="image520.pn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64800" y="5090046"/>
            <a:ext cx="2286000" cy="502977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3572029" y="5846467"/>
            <a:ext cx="18287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(c). 600 to 1200 K</a:t>
            </a:r>
            <a:endParaRPr lang="zh-CN" altLang="en-US" dirty="0"/>
          </a:p>
        </p:txBody>
      </p:sp>
      <p:pic>
        <p:nvPicPr>
          <p:cNvPr id="18" name="image521.pn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91200" y="5846467"/>
            <a:ext cx="2809875" cy="419100"/>
          </a:xfrm>
          <a:prstGeom prst="rect">
            <a:avLst/>
          </a:prstGeom>
        </p:spPr>
      </p:pic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5735525" y="4355068"/>
          <a:ext cx="1155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736800" imgH="7924800" progId="">
                  <p:embed/>
                </p:oleObj>
              </mc:Choice>
              <mc:Fallback>
                <p:oleObj name="Equation" r:id="rId8" imgW="27736800" imgH="7924800" progId="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525" y="4355068"/>
                        <a:ext cx="11557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" name="image523.png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907800" y="1510863"/>
            <a:ext cx="1936983" cy="2222937"/>
          </a:xfrm>
          <a:prstGeom prst="rect">
            <a:avLst/>
          </a:prstGeom>
        </p:spPr>
      </p:pic>
      <p:sp>
        <p:nvSpPr>
          <p:cNvPr id="19" name="Slide Number Placeholder 3"/>
          <p:cNvSpPr txBox="1"/>
          <p:nvPr/>
        </p:nvSpPr>
        <p:spPr>
          <a:xfrm>
            <a:off x="6934200" y="647700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i="1" dirty="0"/>
              <a:t>Prof. W.S. Liu  </a:t>
            </a:r>
            <a:r>
              <a:rPr lang="en-US" dirty="0"/>
              <a:t>|  </a:t>
            </a:r>
            <a:fld id="{C915B95C-5458-41FC-90FC-CACA4B5603FB}" type="slidenum">
              <a:rPr lang="en-US" dirty="0" smtClean="0"/>
              <a:pPr algn="r"/>
              <a:t>55</a:t>
            </a:fld>
            <a:endParaRPr lang="en-US" dirty="0"/>
          </a:p>
        </p:txBody>
      </p:sp>
      <p:sp>
        <p:nvSpPr>
          <p:cNvPr id="20" name="矩形 19"/>
          <p:cNvSpPr/>
          <p:nvPr/>
        </p:nvSpPr>
        <p:spPr>
          <a:xfrm>
            <a:off x="1045464" y="88612"/>
            <a:ext cx="54560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Enthalpy-Temperature diagram 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9713770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74198" y="0"/>
            <a:ext cx="5722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Effect of pressure on the H  and S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pic>
        <p:nvPicPr>
          <p:cNvPr id="10" name="image578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299120"/>
            <a:ext cx="1580659" cy="630621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28600" y="2118928"/>
            <a:ext cx="281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/>
              <a:t>Apply </a:t>
            </a:r>
            <a:r>
              <a:rPr lang="en-US" altLang="zh-CN" i="1" dirty="0" err="1"/>
              <a:t>dH</a:t>
            </a:r>
            <a:r>
              <a:rPr lang="en-US" altLang="zh-CN" i="1" dirty="0"/>
              <a:t>=</a:t>
            </a:r>
            <a:r>
              <a:rPr lang="en-US" altLang="zh-CN" i="1" dirty="0" err="1"/>
              <a:t>TdS+VdP</a:t>
            </a:r>
            <a:r>
              <a:rPr lang="en-US" altLang="zh-CN" i="1" dirty="0"/>
              <a:t>, </a:t>
            </a:r>
            <a:r>
              <a:rPr lang="en-US" altLang="zh-CN" dirty="0"/>
              <a:t>and thus</a:t>
            </a:r>
            <a:endParaRPr lang="zh-CN" altLang="en-US" dirty="0"/>
          </a:p>
        </p:txBody>
      </p:sp>
      <p:pic>
        <p:nvPicPr>
          <p:cNvPr id="12" name="image579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5848" y="2754736"/>
            <a:ext cx="1703951" cy="507192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228600" y="3389522"/>
            <a:ext cx="20013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Maxwell’s equation</a:t>
            </a:r>
            <a:endParaRPr lang="zh-CN" altLang="en-US" dirty="0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247900" y="3447666"/>
          <a:ext cx="19335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795200" imgH="6096000" progId="">
                  <p:embed/>
                </p:oleObj>
              </mc:Choice>
              <mc:Fallback>
                <p:oleObj name="Equation" r:id="rId4" imgW="37795200" imgH="6096000" progId="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900" y="3447666"/>
                        <a:ext cx="1933575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image580.pn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3513" y="3987142"/>
            <a:ext cx="1748620" cy="493986"/>
          </a:xfrm>
          <a:prstGeom prst="rect">
            <a:avLst/>
          </a:prstGeom>
        </p:spPr>
      </p:pic>
      <p:pic>
        <p:nvPicPr>
          <p:cNvPr id="17" name="image582.pn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5337" y="4616449"/>
            <a:ext cx="2452815" cy="438808"/>
          </a:xfrm>
          <a:prstGeom prst="rect">
            <a:avLst/>
          </a:prstGeom>
        </p:spPr>
      </p:pic>
      <p:pic>
        <p:nvPicPr>
          <p:cNvPr id="18" name="image585.png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55978" y="914478"/>
            <a:ext cx="1181100" cy="466725"/>
          </a:xfrm>
          <a:prstGeom prst="rect">
            <a:avLst/>
          </a:prstGeom>
        </p:spPr>
      </p:pic>
      <p:pic>
        <p:nvPicPr>
          <p:cNvPr id="19" name="image586.png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19610" y="2076702"/>
            <a:ext cx="1171575" cy="466725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4443385" y="1667011"/>
            <a:ext cx="20013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Maxwell’s equation</a:t>
            </a:r>
            <a:endParaRPr lang="zh-CN" altLang="en-US" dirty="0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6462685" y="1725155"/>
          <a:ext cx="19335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7795200" imgH="6096000" progId="">
                  <p:embed/>
                </p:oleObj>
              </mc:Choice>
              <mc:Fallback>
                <p:oleObj name="Equation" r:id="rId10" imgW="37795200" imgH="6096000" progId="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2685" y="1725155"/>
                        <a:ext cx="1933575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image587.png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682299" y="2697407"/>
            <a:ext cx="2665157" cy="621847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4722693" y="4219518"/>
            <a:ext cx="41460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For a closed system of fixed composition undergoing changes in both P and T</a:t>
            </a:r>
            <a:endParaRPr lang="zh-CN" altLang="en-US" sz="1400" dirty="0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4646" y="4832569"/>
            <a:ext cx="3813247" cy="480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6325" y="5486400"/>
            <a:ext cx="3619904" cy="55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81000" y="5312978"/>
          <a:ext cx="380523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806560" imgH="355320" progId="">
                  <p:embed/>
                </p:oleObj>
              </mc:Choice>
              <mc:Fallback>
                <p:oleObj name="Equation" r:id="rId15" imgW="2806560" imgH="355320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312978"/>
                        <a:ext cx="3805237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28600" y="901178"/>
            <a:ext cx="864339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Case-I</a:t>
            </a:r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4682299" y="3758854"/>
            <a:ext cx="928459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Case-II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035560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058395" y="5655"/>
            <a:ext cx="59745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The third Law of Thermodynamics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4530" y="100679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For a closed system undergoing a reversible process, the Second Law gives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94530" y="2379947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If the process is conducted at constant pressure, then</a:t>
            </a:r>
            <a:endParaRPr lang="zh-CN" altLang="zh-CN" dirty="0"/>
          </a:p>
        </p:txBody>
      </p:sp>
      <p:pic>
        <p:nvPicPr>
          <p:cNvPr id="13" name="image535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221" y="3140392"/>
            <a:ext cx="2301094" cy="533400"/>
          </a:xfrm>
          <a:prstGeom prst="rect">
            <a:avLst/>
          </a:prstGeom>
        </p:spPr>
      </p:pic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797" y="3855647"/>
            <a:ext cx="2896041" cy="57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797" y="4410359"/>
            <a:ext cx="1879004" cy="654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矩形 14"/>
          <p:cNvSpPr/>
          <p:nvPr/>
        </p:nvSpPr>
        <p:spPr>
          <a:xfrm>
            <a:off x="4766530" y="868292"/>
            <a:ext cx="4238545" cy="9233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/>
              <a:t>In 1906 Nernst postulated that, for chemical reactions between pure solids or pure liquids, </a:t>
            </a:r>
            <a:endParaRPr lang="zh-CN" altLang="zh-CN" dirty="0"/>
          </a:p>
        </p:txBody>
      </p:sp>
      <p:sp>
        <p:nvSpPr>
          <p:cNvPr id="17" name="矩形 16"/>
          <p:cNvSpPr/>
          <p:nvPr/>
        </p:nvSpPr>
        <p:spPr>
          <a:xfrm>
            <a:off x="194530" y="5317745"/>
            <a:ext cx="881054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Nernst’s heat theorem states that 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“for all reactions involving substances in the condensed state, ΔS is zero at the absolute zero of temperature.”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pic>
        <p:nvPicPr>
          <p:cNvPr id="21" name="image540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66530" y="2550722"/>
            <a:ext cx="3295015" cy="2609850"/>
          </a:xfrm>
          <a:prstGeom prst="rect">
            <a:avLst/>
          </a:prstGeom>
        </p:spPr>
      </p:pic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4886479" y="1968489"/>
          <a:ext cx="1638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19200" imgH="10972800" progId="">
                  <p:embed/>
                </p:oleObj>
              </mc:Choice>
              <mc:Fallback>
                <p:oleObj name="Equation" r:id="rId6" imgW="39319200" imgH="10972800" progId="">
                  <p:embed/>
                  <p:pic>
                    <p:nvPicPr>
                      <p:cNvPr id="19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6479" y="1968489"/>
                        <a:ext cx="16383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1749844"/>
              </p:ext>
            </p:extLst>
          </p:nvPr>
        </p:nvGraphicFramePr>
        <p:xfrm>
          <a:off x="679776" y="1815124"/>
          <a:ext cx="7572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58720" imgH="393480" progId="Equation.DSMT4">
                  <p:embed/>
                </p:oleObj>
              </mc:Choice>
              <mc:Fallback>
                <p:oleObj name="Equation" r:id="rId8" imgW="558720" imgH="39348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776" y="1815124"/>
                        <a:ext cx="757238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86268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08888" y="0"/>
            <a:ext cx="63545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The amendment of Nernst’s Statement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94440" y="1191768"/>
            <a:ext cx="861848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The incompleteness of Nernst’s theorem was pointed out by Planck, who stated that “the entropy of any homogeneous substance, </a:t>
            </a:r>
            <a:r>
              <a:rPr lang="en-US" altLang="zh-CN" b="1" dirty="0">
                <a:solidFill>
                  <a:srgbClr val="0000FF"/>
                </a:solidFill>
              </a:rPr>
              <a:t>which is in complete internal equilibrium</a:t>
            </a:r>
            <a:r>
              <a:rPr lang="en-US" altLang="zh-CN" dirty="0"/>
              <a:t>, may be taken to be zero at 0 K.”</a:t>
            </a:r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94289" y="2258568"/>
            <a:ext cx="877351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1.  Glass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At temperatures lower than its equilibrium freezing tem-</a:t>
            </a:r>
            <a:r>
              <a:rPr lang="en-US" altLang="zh-CN" dirty="0" err="1"/>
              <a:t>perature</a:t>
            </a:r>
            <a:r>
              <a:rPr lang="en-US" altLang="zh-CN" dirty="0"/>
              <a:t> the glassy state is metastable with respect to the crystalline state,.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and a glass, not being in internal equilibrium, has an entropy at 0 K which is greater than zero by an amount which is dependent on the degree of atomic disorder in the glass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296917" y="4163568"/>
            <a:ext cx="8618483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/>
              <a:t>2 Solution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atomic mobility decreases exponentially with decreasing temperature, the maintenance of internal equilibrium becomes increasingly difficult.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Consequently a </a:t>
            </a:r>
            <a:r>
              <a:rPr lang="en-US" altLang="zh-CN" dirty="0" err="1"/>
              <a:t>nonequilibrium</a:t>
            </a:r>
            <a:r>
              <a:rPr lang="en-US" altLang="zh-CN" dirty="0"/>
              <a:t> degree of order can be frozen into the solid solution, in which case the entropy will not decrease to zero at 0 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61598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8872" y="992696"/>
            <a:ext cx="3007746" cy="5847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Open questions: </a:t>
            </a:r>
            <a:endParaRPr lang="zh-CN" altLang="en-US" sz="3200" dirty="0"/>
          </a:p>
        </p:txBody>
      </p:sp>
      <p:sp>
        <p:nvSpPr>
          <p:cNvPr id="10" name="TextBox 9"/>
          <p:cNvSpPr txBox="1"/>
          <p:nvPr/>
        </p:nvSpPr>
        <p:spPr>
          <a:xfrm>
            <a:off x="672914" y="1828800"/>
            <a:ext cx="6337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 Find a thermodynamic equation and discussion the possible limitation with in the dimension of space and time</a:t>
            </a:r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85800" y="2895600"/>
            <a:ext cx="762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 Find some NEW example to discuss the reason why the 3nd Law of thermodynamics of Nernst’s theorem is failing, whether the Planks' modification solve your problem.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886200"/>
            <a:ext cx="76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3. Discuss the possible case that needs modify the assumption of the Debye model for the heat capacity.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643483"/>
            <a:ext cx="76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4. Find a new example to use the local vibrational mode to obtain the material with intrinsically low thermal conductivity. </a:t>
            </a:r>
          </a:p>
        </p:txBody>
      </p:sp>
    </p:spTree>
    <p:extLst>
      <p:ext uri="{BB962C8B-B14F-4D97-AF65-F5344CB8AC3E}">
        <p14:creationId xmlns:p14="http://schemas.microsoft.com/office/powerpoint/2010/main" val="9443070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1">
            <a:extLst>
              <a:ext uri="{FF2B5EF4-FFF2-40B4-BE49-F238E27FC236}">
                <a16:creationId xmlns:a16="http://schemas.microsoft.com/office/drawing/2014/main" id="{D527A496-6C6C-438B-A07B-71B48919F874}"/>
              </a:ext>
            </a:extLst>
          </p:cNvPr>
          <p:cNvSpPr txBox="1"/>
          <p:nvPr/>
        </p:nvSpPr>
        <p:spPr>
          <a:xfrm>
            <a:off x="1348880" y="3368987"/>
            <a:ext cx="37112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23. </a:t>
            </a:r>
            <a:r>
              <a:rPr lang="en-US" altLang="zh-CN" sz="2400" dirty="0" err="1">
                <a:solidFill>
                  <a:srgbClr val="FF0000"/>
                </a:solidFill>
              </a:rPr>
              <a:t>Gruneisen</a:t>
            </a:r>
            <a:r>
              <a:rPr lang="en-US" altLang="zh-CN" sz="2400" dirty="0">
                <a:solidFill>
                  <a:srgbClr val="FF0000"/>
                </a:solidFill>
              </a:rPr>
              <a:t> parameter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334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20C4F17-CEFA-4720-982A-1895EFF31CB9}"/>
              </a:ext>
            </a:extLst>
          </p:cNvPr>
          <p:cNvSpPr txBox="1"/>
          <p:nvPr/>
        </p:nvSpPr>
        <p:spPr>
          <a:xfrm>
            <a:off x="2816727" y="128179"/>
            <a:ext cx="43070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 err="1">
                <a:solidFill>
                  <a:srgbClr val="FF0000"/>
                </a:solidFill>
              </a:rPr>
              <a:t>Gruneisen</a:t>
            </a:r>
            <a:r>
              <a:rPr lang="en-US" altLang="zh-CN" sz="2400" dirty="0">
                <a:solidFill>
                  <a:srgbClr val="FF0000"/>
                </a:solidFill>
              </a:rPr>
              <a:t> parameter</a:t>
            </a:r>
            <a:endParaRPr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7148980-80CF-4554-B40F-02A76D5807FC}"/>
              </a:ext>
            </a:extLst>
          </p:cNvPr>
          <p:cNvSpPr txBox="1"/>
          <p:nvPr/>
        </p:nvSpPr>
        <p:spPr>
          <a:xfrm>
            <a:off x="530727" y="99822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0" i="0" u="none" strike="noStrike" baseline="0" dirty="0" err="1">
                <a:solidFill>
                  <a:srgbClr val="0000FF"/>
                </a:solidFill>
                <a:latin typeface="Arial" panose="020B0604020202020204" pitchFamily="34" charset="0"/>
              </a:rPr>
              <a:t>Griineisen’s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Arial" panose="020B0604020202020204" pitchFamily="34" charset="0"/>
              </a:rPr>
              <a:t> rule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2C273A-C010-4966-9476-B30221E44C4D}"/>
              </a:ext>
            </a:extLst>
          </p:cNvPr>
          <p:cNvSpPr txBox="1"/>
          <p:nvPr/>
        </p:nvSpPr>
        <p:spPr>
          <a:xfrm>
            <a:off x="640080" y="1476236"/>
            <a:ext cx="3522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The thermal expansion of solid is proportion to the specific capacity</a:t>
            </a:r>
            <a:endParaRPr lang="zh-CN" altLang="en-US" sz="1600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914E90A-461E-474B-AE0E-797D56AD7C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419648"/>
              </p:ext>
            </p:extLst>
          </p:nvPr>
        </p:nvGraphicFramePr>
        <p:xfrm>
          <a:off x="1082343" y="2283597"/>
          <a:ext cx="104933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4360" imgH="393480" progId="Equation.DSMT4">
                  <p:embed/>
                </p:oleObj>
              </mc:Choice>
              <mc:Fallback>
                <p:oleObj name="Equation" r:id="rId2" imgW="774360" imgH="3934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E914E90A-461E-474B-AE0E-797D56AD7C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2343" y="2283597"/>
                        <a:ext cx="1049337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8AB192D7-4E7A-4821-9CDB-2997F7338C93}"/>
              </a:ext>
            </a:extLst>
          </p:cNvPr>
          <p:cNvSpPr txBox="1"/>
          <p:nvPr/>
        </p:nvSpPr>
        <p:spPr>
          <a:xfrm>
            <a:off x="530727" y="3136114"/>
            <a:ext cx="3882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/>
              <a:t>Gruneisen</a:t>
            </a:r>
            <a:r>
              <a:rPr lang="en-US" altLang="zh-CN" sz="1600" dirty="0"/>
              <a:t> parameter </a:t>
            </a:r>
            <a:r>
              <a:rPr lang="el-GR" altLang="zh-CN" sz="1600" dirty="0"/>
              <a:t>γ</a:t>
            </a:r>
            <a:r>
              <a:rPr lang="zh-CN" altLang="en-US" sz="1600" dirty="0"/>
              <a:t>，</a:t>
            </a:r>
            <a:r>
              <a:rPr lang="en-US" altLang="zh-CN" sz="1600" dirty="0"/>
              <a:t>is considered as a continent measure of the anharmonicity of the crystal</a:t>
            </a:r>
            <a:endParaRPr lang="zh-CN" altLang="en-US" sz="1600" dirty="0"/>
          </a:p>
        </p:txBody>
      </p:sp>
      <p:pic>
        <p:nvPicPr>
          <p:cNvPr id="31748" name="Picture 4" descr="See the source image">
            <a:extLst>
              <a:ext uri="{FF2B5EF4-FFF2-40B4-BE49-F238E27FC236}">
                <a16:creationId xmlns:a16="http://schemas.microsoft.com/office/drawing/2014/main" id="{4B0C4A4B-09CB-4A6F-A557-CC3E97191F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43" b="19501"/>
          <a:stretch/>
        </p:blipFill>
        <p:spPr bwMode="auto">
          <a:xfrm>
            <a:off x="4412904" y="1857697"/>
            <a:ext cx="4656191" cy="2449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068B206-6FE3-4FF4-BBBC-2C1532208928}"/>
              </a:ext>
            </a:extLst>
          </p:cNvPr>
          <p:cNvSpPr txBox="1"/>
          <p:nvPr/>
        </p:nvSpPr>
        <p:spPr>
          <a:xfrm>
            <a:off x="647126" y="4264711"/>
            <a:ext cx="32777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Arial" panose="020B0604020202020204" pitchFamily="34" charset="0"/>
              </a:rPr>
              <a:t>Debye temperature and </a:t>
            </a:r>
            <a:r>
              <a:rPr lang="en-US" altLang="zh-CN" sz="1800" dirty="0" err="1"/>
              <a:t>Gruneisen</a:t>
            </a:r>
            <a:r>
              <a:rPr lang="en-US" altLang="zh-CN" sz="1800" dirty="0"/>
              <a:t> parameter </a:t>
            </a:r>
            <a:r>
              <a:rPr lang="el-GR" altLang="zh-CN" sz="1800" dirty="0"/>
              <a:t>γ</a:t>
            </a:r>
            <a:endParaRPr lang="zh-CN" altLang="en-US" dirty="0">
              <a:solidFill>
                <a:srgbClr val="0000FF"/>
              </a:solidFill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39960F8-E101-4D5A-A7A4-0980D0C5FB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5277472"/>
              </p:ext>
            </p:extLst>
          </p:nvPr>
        </p:nvGraphicFramePr>
        <p:xfrm>
          <a:off x="1615743" y="5115064"/>
          <a:ext cx="10318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61760" imgH="393480" progId="Equation.DSMT4">
                  <p:embed/>
                </p:oleObj>
              </mc:Choice>
              <mc:Fallback>
                <p:oleObj name="Equation" r:id="rId5" imgW="761760" imgH="3934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A39960F8-E101-4D5A-A7A4-0980D0C5FB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5743" y="5115064"/>
                        <a:ext cx="1031875" cy="533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4915F1B7-E3BA-44F9-B744-91EAA866A1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5244305"/>
              </p:ext>
            </p:extLst>
          </p:nvPr>
        </p:nvGraphicFramePr>
        <p:xfrm>
          <a:off x="2197673" y="2252726"/>
          <a:ext cx="1651000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18960" imgH="431640" progId="Equation.DSMT4">
                  <p:embed/>
                </p:oleObj>
              </mc:Choice>
              <mc:Fallback>
                <p:oleObj name="Equation" r:id="rId7" imgW="1218960" imgH="43164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4915F1B7-E3BA-44F9-B744-91EAA866A1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7673" y="2252726"/>
                        <a:ext cx="1651000" cy="585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2430921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6D6F3BE-3910-46EB-BE71-15758CE4EB9E}"/>
              </a:ext>
            </a:extLst>
          </p:cNvPr>
          <p:cNvSpPr txBox="1"/>
          <p:nvPr/>
        </p:nvSpPr>
        <p:spPr>
          <a:xfrm>
            <a:off x="598040" y="831990"/>
            <a:ext cx="48661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b="0" i="0" u="none" strike="noStrike" baseline="0" dirty="0"/>
              <a:t>The microscopic definition of the </a:t>
            </a:r>
            <a:r>
              <a:rPr lang="en-US" altLang="zh-CN" b="0" i="0" u="none" strike="noStrike" baseline="0" dirty="0" err="1"/>
              <a:t>Grüneisen</a:t>
            </a:r>
            <a:r>
              <a:rPr lang="en-US" altLang="zh-CN" b="0" i="0" u="none" strike="noStrike" baseline="0" dirty="0"/>
              <a:t> parameter (</a:t>
            </a:r>
            <a:r>
              <a:rPr lang="en-US" altLang="zh-CN" b="0" i="0" u="none" strike="noStrike" baseline="0" dirty="0" err="1"/>
              <a:t>Grüneisen</a:t>
            </a:r>
            <a:r>
              <a:rPr lang="en-US" altLang="zh-CN" b="0" i="0" u="none" strike="noStrike" baseline="0" dirty="0"/>
              <a:t> 1912)</a:t>
            </a:r>
            <a:endParaRPr lang="zh-CN" altLang="en-US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AA7F92D-56F0-41B6-9993-154209DA64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76099"/>
              </p:ext>
            </p:extLst>
          </p:nvPr>
        </p:nvGraphicFramePr>
        <p:xfrm>
          <a:off x="1874244" y="1779222"/>
          <a:ext cx="11350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080" imgH="393480" progId="Equation.DSMT4">
                  <p:embed/>
                </p:oleObj>
              </mc:Choice>
              <mc:Fallback>
                <p:oleObj name="Equation" r:id="rId2" imgW="838080" imgH="3934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EAA7F92D-56F0-41B6-9993-154209DA64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4244" y="1779222"/>
                        <a:ext cx="1135063" cy="533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2AD597ED-0F9E-4BE6-9D35-7EDD0FD834AE}"/>
              </a:ext>
            </a:extLst>
          </p:cNvPr>
          <p:cNvSpPr txBox="1"/>
          <p:nvPr/>
        </p:nvSpPr>
        <p:spPr>
          <a:xfrm>
            <a:off x="807720" y="2613523"/>
            <a:ext cx="2904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As </a:t>
            </a:r>
            <a:r>
              <a:rPr lang="el-GR" altLang="zh-CN" dirty="0"/>
              <a:t>γ</a:t>
            </a:r>
            <a:r>
              <a:rPr lang="en-US" altLang="zh-CN" baseline="-25000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equal,</a:t>
            </a:r>
            <a:r>
              <a:rPr lang="zh-CN" altLang="en-US" dirty="0"/>
              <a:t>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024051-15AA-4FF8-8399-ABE46A559365}"/>
              </a:ext>
            </a:extLst>
          </p:cNvPr>
          <p:cNvSpPr txBox="1"/>
          <p:nvPr/>
        </p:nvSpPr>
        <p:spPr>
          <a:xfrm>
            <a:off x="3009307" y="3589111"/>
            <a:ext cx="804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 </a:t>
            </a:r>
            <a:r>
              <a:rPr lang="en-US" altLang="zh-CN" dirty="0">
                <a:sym typeface="Wingdings" panose="05000000000000000000" pitchFamily="2" charset="2"/>
              </a:rPr>
              <a:t> 0</a:t>
            </a:r>
            <a:endParaRPr lang="zh-CN" altLang="en-US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4D5A675-AEFC-4DF8-BFD5-301172AD79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48934"/>
              </p:ext>
            </p:extLst>
          </p:nvPr>
        </p:nvGraphicFramePr>
        <p:xfrm>
          <a:off x="4045627" y="3447824"/>
          <a:ext cx="10842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99920" imgH="393480" progId="Equation.DSMT4">
                  <p:embed/>
                </p:oleObj>
              </mc:Choice>
              <mc:Fallback>
                <p:oleObj name="Equation" r:id="rId4" imgW="799920" imgH="3934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74D5A675-AEFC-4DF8-BFD5-301172AD79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5627" y="3447824"/>
                        <a:ext cx="1084263" cy="533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EC39B58-9260-4292-AB48-AFFD64E3FA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4696442"/>
              </p:ext>
            </p:extLst>
          </p:nvPr>
        </p:nvGraphicFramePr>
        <p:xfrm>
          <a:off x="3044896" y="4256098"/>
          <a:ext cx="817152" cy="3097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69800" imgH="177480" progId="Equation.DSMT4">
                  <p:embed/>
                </p:oleObj>
              </mc:Choice>
              <mc:Fallback>
                <p:oleObj name="Equation" r:id="rId6" imgW="469800" imgH="1774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BEC39B58-9260-4292-AB48-AFFD64E3FA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896" y="4256098"/>
                        <a:ext cx="817152" cy="3097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020AE5D-B502-4C51-B338-0071BC8778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0003881"/>
              </p:ext>
            </p:extLst>
          </p:nvPr>
        </p:nvGraphicFramePr>
        <p:xfrm>
          <a:off x="3924977" y="4146324"/>
          <a:ext cx="1635125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06360" imgH="431640" progId="Equation.DSMT4">
                  <p:embed/>
                </p:oleObj>
              </mc:Choice>
              <mc:Fallback>
                <p:oleObj name="Equation" r:id="rId8" imgW="1206360" imgH="43164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D020AE5D-B502-4C51-B338-0071BC8778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977" y="4146324"/>
                        <a:ext cx="1635125" cy="5857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09D6A0DB-100C-4EDA-9CAB-A258FE6C8FD2}"/>
              </a:ext>
            </a:extLst>
          </p:cNvPr>
          <p:cNvSpPr txBox="1"/>
          <p:nvPr/>
        </p:nvSpPr>
        <p:spPr>
          <a:xfrm>
            <a:off x="587738" y="5079398"/>
            <a:ext cx="7968524" cy="78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b="0" i="0" u="none" strike="noStrike" baseline="0" dirty="0">
                <a:solidFill>
                  <a:srgbClr val="0000FF"/>
                </a:solidFill>
                <a:latin typeface="Arial" panose="020B0604020202020204" pitchFamily="34" charset="0"/>
              </a:rPr>
              <a:t>Empirical </a:t>
            </a:r>
            <a:r>
              <a:rPr lang="el-GR" altLang="zh-CN" sz="1600" b="0" i="0" u="none" strike="noStrike" baseline="0" dirty="0">
                <a:solidFill>
                  <a:srgbClr val="0000FF"/>
                </a:solidFill>
                <a:latin typeface="Arial" panose="020B0604020202020204" pitchFamily="34" charset="0"/>
              </a:rPr>
              <a:t>γ</a:t>
            </a:r>
            <a:r>
              <a:rPr lang="en-US" altLang="zh-CN" sz="1600" b="0" i="0" u="none" strike="noStrike" baseline="0" dirty="0">
                <a:solidFill>
                  <a:srgbClr val="0000FF"/>
                </a:solidFill>
                <a:latin typeface="Arial" panose="020B0604020202020204" pitchFamily="34" charset="0"/>
              </a:rPr>
              <a:t> is observed constant over a wide range of temperatures above 0.3</a:t>
            </a:r>
            <a:r>
              <a:rPr lang="el-GR" altLang="zh-CN" sz="1600" b="0" i="0" u="none" strike="noStrike" baseline="0" dirty="0">
                <a:solidFill>
                  <a:srgbClr val="0000FF"/>
                </a:solidFill>
                <a:latin typeface="Arial" panose="020B0604020202020204" pitchFamily="34" charset="0"/>
              </a:rPr>
              <a:t>θ</a:t>
            </a:r>
            <a:r>
              <a:rPr lang="en-US" altLang="zh-CN" sz="1600" b="0" i="0" u="none" strike="noStrike" baseline="-25000" dirty="0">
                <a:solidFill>
                  <a:srgbClr val="0000FF"/>
                </a:solidFill>
                <a:latin typeface="Arial" panose="020B0604020202020204" pitchFamily="34" charset="0"/>
              </a:rPr>
              <a:t>D </a:t>
            </a:r>
          </a:p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Arial" panose="020B0604020202020204" pitchFamily="34" charset="0"/>
              </a:rPr>
              <a:t>I</a:t>
            </a:r>
            <a:r>
              <a:rPr lang="en-US" altLang="zh-CN" sz="1600" b="0" i="0" u="none" strike="noStrike" baseline="0" dirty="0">
                <a:solidFill>
                  <a:srgbClr val="0000FF"/>
                </a:solidFill>
                <a:latin typeface="Arial" panose="020B0604020202020204" pitchFamily="34" charset="0"/>
              </a:rPr>
              <a:t>t is reasonable to take </a:t>
            </a:r>
            <a:r>
              <a:rPr lang="el-GR" altLang="zh-CN" sz="1600" b="0" i="0" u="none" strike="noStrike" baseline="0" dirty="0">
                <a:solidFill>
                  <a:srgbClr val="0000FF"/>
                </a:solidFill>
                <a:latin typeface="Arial" panose="020B0604020202020204" pitchFamily="34" charset="0"/>
              </a:rPr>
              <a:t>γ</a:t>
            </a:r>
            <a:r>
              <a:rPr lang="en-US" altLang="zh-CN" sz="1600" b="0" i="0" u="none" strike="noStrike" baseline="-25000" dirty="0">
                <a:solidFill>
                  <a:srgbClr val="0000FF"/>
                </a:solidFill>
                <a:latin typeface="Arial" panose="020B0604020202020204" pitchFamily="34" charset="0"/>
              </a:rPr>
              <a:t>G</a:t>
            </a:r>
            <a:r>
              <a:rPr lang="el-GR" altLang="zh-CN" sz="1600" b="0" i="0" u="none" strike="noStrike" baseline="0" dirty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600" b="0" i="0" u="none" strike="noStrike" baseline="0" dirty="0">
                <a:solidFill>
                  <a:srgbClr val="0000FF"/>
                </a:solidFill>
                <a:latin typeface="Arial" panose="020B0604020202020204" pitchFamily="34" charset="0"/>
              </a:rPr>
              <a:t>as roughly equal to the theoretical </a:t>
            </a:r>
            <a:r>
              <a:rPr lang="el-GR" altLang="zh-CN" sz="1600" b="0" i="0" u="none" strike="noStrike" baseline="0" dirty="0">
                <a:solidFill>
                  <a:srgbClr val="0000FF"/>
                </a:solidFill>
                <a:latin typeface="Arial" panose="020B0604020202020204" pitchFamily="34" charset="0"/>
              </a:rPr>
              <a:t>γ</a:t>
            </a:r>
            <a:r>
              <a:rPr lang="el-GR" altLang="zh-CN" sz="1600" b="0" i="0" u="none" strike="noStrike" baseline="-25000" dirty="0">
                <a:solidFill>
                  <a:srgbClr val="0000FF"/>
                </a:solidFill>
                <a:latin typeface="Arial" panose="020B0604020202020204" pitchFamily="34" charset="0"/>
              </a:rPr>
              <a:t>∞</a:t>
            </a:r>
            <a:r>
              <a:rPr lang="en-US" altLang="zh-CN" sz="1600" b="0" i="0" u="none" strike="noStrike" baseline="0" dirty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2945EDC-906D-4D66-84CA-198535D101A7}"/>
              </a:ext>
            </a:extLst>
          </p:cNvPr>
          <p:cNvSpPr txBox="1"/>
          <p:nvPr/>
        </p:nvSpPr>
        <p:spPr>
          <a:xfrm>
            <a:off x="2580830" y="144530"/>
            <a:ext cx="43070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 err="1">
                <a:solidFill>
                  <a:srgbClr val="FF0000"/>
                </a:solidFill>
              </a:rPr>
              <a:t>Grunerisen</a:t>
            </a:r>
            <a:r>
              <a:rPr lang="en-US" altLang="zh-CN" sz="2400" dirty="0">
                <a:solidFill>
                  <a:srgbClr val="FF0000"/>
                </a:solidFill>
              </a:rPr>
              <a:t> parameter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5243191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A151937-913A-4921-BB9C-CF11345577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5236327"/>
              </p:ext>
            </p:extLst>
          </p:nvPr>
        </p:nvGraphicFramePr>
        <p:xfrm>
          <a:off x="4119756" y="457200"/>
          <a:ext cx="11525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50680" imgH="393480" progId="Equation.DSMT4">
                  <p:embed/>
                </p:oleObj>
              </mc:Choice>
              <mc:Fallback>
                <p:oleObj name="Equation" r:id="rId2" imgW="850680" imgH="39348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AA151937-913A-4921-BB9C-CF11345577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9756" y="457200"/>
                        <a:ext cx="1152525" cy="5334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C5A583B2-775F-41F2-8B6C-7E9938E63D53}"/>
              </a:ext>
            </a:extLst>
          </p:cNvPr>
          <p:cNvSpPr txBox="1"/>
          <p:nvPr/>
        </p:nvSpPr>
        <p:spPr>
          <a:xfrm>
            <a:off x="876628" y="1417320"/>
            <a:ext cx="27077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FF0000"/>
                </a:solidFill>
              </a:rPr>
              <a:t>Lindemann</a:t>
            </a:r>
            <a:r>
              <a:rPr lang="zh-CN" altLang="en-US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Law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0A20EE9-12A3-4A87-A05D-E8320B4BFC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273596"/>
              </p:ext>
            </p:extLst>
          </p:nvPr>
        </p:nvGraphicFramePr>
        <p:xfrm>
          <a:off x="1327150" y="2398268"/>
          <a:ext cx="180657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33440" imgH="482400" progId="Equation.DSMT4">
                  <p:embed/>
                </p:oleObj>
              </mc:Choice>
              <mc:Fallback>
                <p:oleObj name="Equation" r:id="rId4" imgW="1333440" imgH="4824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60A20EE9-12A3-4A87-A05D-E8320B4BFC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150" y="2398268"/>
                        <a:ext cx="1806575" cy="65405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E7E827A4-AB9C-474C-81BB-970FED0E15C7}"/>
              </a:ext>
            </a:extLst>
          </p:cNvPr>
          <p:cNvSpPr txBox="1"/>
          <p:nvPr/>
        </p:nvSpPr>
        <p:spPr>
          <a:xfrm>
            <a:off x="4119756" y="2263628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0000FF"/>
                </a:solidFill>
              </a:rPr>
              <a:t>m</a:t>
            </a:r>
            <a:r>
              <a:rPr lang="en-US" altLang="zh-CN" sz="1400" dirty="0"/>
              <a:t>, is the mean mass of an atom; </a:t>
            </a:r>
          </a:p>
          <a:p>
            <a:r>
              <a:rPr lang="en-US" altLang="zh-CN" sz="1400" i="1" dirty="0">
                <a:solidFill>
                  <a:srgbClr val="0000FF"/>
                </a:solidFill>
              </a:rPr>
              <a:t>a</a:t>
            </a:r>
            <a:r>
              <a:rPr lang="en-US" altLang="zh-CN" sz="1400" dirty="0"/>
              <a:t>, is the mean interatomic spacing;</a:t>
            </a:r>
          </a:p>
          <a:p>
            <a:r>
              <a:rPr lang="en-US" altLang="zh-CN" sz="1400" i="1" dirty="0">
                <a:solidFill>
                  <a:srgbClr val="0000FF"/>
                </a:solidFill>
              </a:rPr>
              <a:t>f</a:t>
            </a:r>
            <a:r>
              <a:rPr lang="en-US" altLang="zh-CN" sz="1400" dirty="0"/>
              <a:t> , is the Lindemann ratio</a:t>
            </a:r>
            <a:endParaRPr lang="zh-CN" altLang="en-US" sz="1400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584C102-B92A-4581-9C98-C5776E0F13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6920877"/>
              </p:ext>
            </p:extLst>
          </p:nvPr>
        </p:nvGraphicFramePr>
        <p:xfrm>
          <a:off x="1327150" y="3438379"/>
          <a:ext cx="2460625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15840" imgH="736560" progId="Equation.DSMT4">
                  <p:embed/>
                </p:oleObj>
              </mc:Choice>
              <mc:Fallback>
                <p:oleObj name="Equation" r:id="rId6" imgW="1815840" imgH="736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2584C102-B92A-4581-9C98-C5776E0F13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150" y="3438379"/>
                        <a:ext cx="2460625" cy="998537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D3465227-A035-4015-BFF6-35F739EFC882}"/>
              </a:ext>
            </a:extLst>
          </p:cNvPr>
          <p:cNvSpPr txBox="1"/>
          <p:nvPr/>
        </p:nvSpPr>
        <p:spPr>
          <a:xfrm>
            <a:off x="4119756" y="3460593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0000FF"/>
                </a:solidFill>
              </a:rPr>
              <a:t>M</a:t>
            </a:r>
            <a:r>
              <a:rPr lang="en-US" altLang="zh-CN" sz="1400" dirty="0"/>
              <a:t>, molar mean mass of atom; </a:t>
            </a:r>
          </a:p>
          <a:p>
            <a:r>
              <a:rPr lang="en-US" altLang="zh-CN" sz="1400" i="1" dirty="0">
                <a:solidFill>
                  <a:srgbClr val="0000FF"/>
                </a:solidFill>
              </a:rPr>
              <a:t>V</a:t>
            </a:r>
            <a:r>
              <a:rPr lang="en-US" altLang="zh-CN" sz="1400" dirty="0"/>
              <a:t>, molar mean atom volume;</a:t>
            </a:r>
          </a:p>
          <a:p>
            <a:r>
              <a:rPr lang="en-US" altLang="zh-CN" sz="1400" i="1" dirty="0">
                <a:solidFill>
                  <a:srgbClr val="0000FF"/>
                </a:solidFill>
              </a:rPr>
              <a:t>f</a:t>
            </a:r>
            <a:r>
              <a:rPr lang="en-US" altLang="zh-CN" sz="1400" dirty="0"/>
              <a:t> , is the Lindemann ratio</a:t>
            </a:r>
          </a:p>
          <a:p>
            <a:r>
              <a:rPr lang="en-US" altLang="zh-CN" sz="1400" i="1" dirty="0">
                <a:solidFill>
                  <a:srgbClr val="0000FF"/>
                </a:solidFill>
              </a:rPr>
              <a:t>α</a:t>
            </a:r>
            <a:r>
              <a:rPr lang="en-US" altLang="zh-CN" sz="1400" dirty="0"/>
              <a:t>, structure facture relative the atomic space, α~1</a:t>
            </a:r>
            <a:endParaRPr lang="zh-CN" altLang="en-US" sz="1400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9EE53D4F-4B87-4F7A-9FF6-C2DE7081A3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815613"/>
              </p:ext>
            </p:extLst>
          </p:nvPr>
        </p:nvGraphicFramePr>
        <p:xfrm>
          <a:off x="1327150" y="4721548"/>
          <a:ext cx="1978025" cy="1274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60160" imgH="939600" progId="Equation.DSMT4">
                  <p:embed/>
                </p:oleObj>
              </mc:Choice>
              <mc:Fallback>
                <p:oleObj name="Equation" r:id="rId8" imgW="1460160" imgH="9396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9EE53D4F-4B87-4F7A-9FF6-C2DE7081A3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150" y="4721548"/>
                        <a:ext cx="1978025" cy="127476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657AB557-5748-444F-90BB-2B5B93404477}"/>
              </a:ext>
            </a:extLst>
          </p:cNvPr>
          <p:cNvSpPr txBox="1"/>
          <p:nvPr/>
        </p:nvSpPr>
        <p:spPr>
          <a:xfrm>
            <a:off x="30162" y="6139190"/>
            <a:ext cx="31659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Phys. Earth and Planetary Interiors, </a:t>
            </a:r>
          </a:p>
          <a:p>
            <a:r>
              <a:rPr lang="en-US" altLang="zh-CN" sz="1400" dirty="0"/>
              <a:t>54 (1989) 364-369</a:t>
            </a:r>
            <a:endParaRPr lang="zh-CN" altLang="en-US" sz="1400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083C79CB-CB22-49AD-B36C-78879D2A54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1652461"/>
              </p:ext>
            </p:extLst>
          </p:nvPr>
        </p:nvGraphicFramePr>
        <p:xfrm>
          <a:off x="4876008" y="4721548"/>
          <a:ext cx="1925638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22360" imgH="482400" progId="Equation.DSMT4">
                  <p:embed/>
                </p:oleObj>
              </mc:Choice>
              <mc:Fallback>
                <p:oleObj name="Equation" r:id="rId10" imgW="1422360" imgH="4824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083C79CB-CB22-49AD-B36C-78879D2A54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008" y="4721548"/>
                        <a:ext cx="1925638" cy="65405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8B171C6E-DE33-4D3A-8BB1-EDFC57B35D7A}"/>
              </a:ext>
            </a:extLst>
          </p:cNvPr>
          <p:cNvSpPr txBox="1"/>
          <p:nvPr/>
        </p:nvSpPr>
        <p:spPr>
          <a:xfrm>
            <a:off x="4216720" y="537559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1" u="none" strike="noStrike" baseline="0" dirty="0">
                <a:latin typeface="Times-Roman"/>
              </a:rPr>
              <a:t>b</a:t>
            </a:r>
            <a:r>
              <a:rPr lang="en-US" altLang="zh-CN" sz="1800" b="0" i="0" u="none" strike="noStrike" baseline="0" dirty="0">
                <a:latin typeface="Times-Roman"/>
              </a:rPr>
              <a:t>, number of atoms per volume.</a:t>
            </a:r>
          </a:p>
          <a:p>
            <a:r>
              <a:rPr lang="en-US" altLang="zh-CN" sz="1800" b="0" i="1" u="none" strike="noStrike" baseline="0" dirty="0">
                <a:latin typeface="MTMI"/>
              </a:rPr>
              <a:t>n, </a:t>
            </a:r>
            <a:r>
              <a:rPr lang="en-US" altLang="zh-CN" sz="1800" b="0" i="0" u="none" strike="noStrike" baseline="0" dirty="0">
                <a:latin typeface="Times-Roman"/>
              </a:rPr>
              <a:t>number of atoms in the primitive cell.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1B9960E-90F7-44F5-9FFA-F2D689DF5A10}"/>
              </a:ext>
            </a:extLst>
          </p:cNvPr>
          <p:cNvSpPr txBox="1"/>
          <p:nvPr/>
        </p:nvSpPr>
        <p:spPr>
          <a:xfrm>
            <a:off x="4360959" y="6290840"/>
            <a:ext cx="34413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i="0" u="none" strike="noStrike" baseline="0" dirty="0">
                <a:latin typeface="Times-Roman"/>
              </a:rPr>
              <a:t>PHYSICAL REVIEW B </a:t>
            </a:r>
            <a:r>
              <a:rPr lang="en-US" altLang="zh-CN" sz="1400" b="1" i="0" u="none" strike="noStrike" baseline="0" dirty="0">
                <a:latin typeface="Times-Bold"/>
              </a:rPr>
              <a:t>95</a:t>
            </a:r>
            <a:r>
              <a:rPr lang="en-US" altLang="zh-CN" sz="1400" b="0" i="0" u="none" strike="noStrike" baseline="0" dirty="0">
                <a:latin typeface="Times-Roman"/>
              </a:rPr>
              <a:t>, 155206 (2017)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4442363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6CC9E7B-E070-4166-AFC8-42D9F401F644}"/>
              </a:ext>
            </a:extLst>
          </p:cNvPr>
          <p:cNvSpPr txBox="1"/>
          <p:nvPr/>
        </p:nvSpPr>
        <p:spPr>
          <a:xfrm>
            <a:off x="2572283" y="208442"/>
            <a:ext cx="35721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</a:rPr>
              <a:t>Mie-Lennard-Jones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CE235A2-9093-451B-A288-7789F01F96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3893157"/>
              </p:ext>
            </p:extLst>
          </p:nvPr>
        </p:nvGraphicFramePr>
        <p:xfrm>
          <a:off x="1587175" y="2307898"/>
          <a:ext cx="568325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040" imgH="279360" progId="Equation.DSMT4">
                  <p:embed/>
                </p:oleObj>
              </mc:Choice>
              <mc:Fallback>
                <p:oleObj name="Equation" r:id="rId2" imgW="419040" imgH="2793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9CE235A2-9093-451B-A288-7789F01F96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175" y="2307898"/>
                        <a:ext cx="568325" cy="3794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9424CE72-3E52-42BE-9C80-1327A17E7E13}"/>
              </a:ext>
            </a:extLst>
          </p:cNvPr>
          <p:cNvSpPr txBox="1"/>
          <p:nvPr/>
        </p:nvSpPr>
        <p:spPr>
          <a:xfrm>
            <a:off x="286283" y="1542137"/>
            <a:ext cx="2903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As the </a:t>
            </a:r>
            <a:r>
              <a:rPr lang="en-US" altLang="zh-CN" dirty="0" err="1"/>
              <a:t>interamoic</a:t>
            </a:r>
            <a:r>
              <a:rPr lang="en-US" altLang="zh-CN" dirty="0"/>
              <a:t> potential</a:t>
            </a:r>
          </a:p>
          <a:p>
            <a:r>
              <a:rPr lang="en-US" altLang="zh-CN" dirty="0"/>
              <a:t> is known</a:t>
            </a:r>
            <a:endParaRPr lang="zh-CN" altLang="en-US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1CE6A10-80B9-4D1E-8D0D-E6A6EB9DA9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611762"/>
              </p:ext>
            </p:extLst>
          </p:nvPr>
        </p:nvGraphicFramePr>
        <p:xfrm>
          <a:off x="1871338" y="3289943"/>
          <a:ext cx="1857375" cy="1306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71600" imgH="965160" progId="Equation.DSMT4">
                  <p:embed/>
                </p:oleObj>
              </mc:Choice>
              <mc:Fallback>
                <p:oleObj name="Equation" r:id="rId4" imgW="1371600" imgH="9651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F1CE6A10-80B9-4D1E-8D0D-E6A6EB9DA9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338" y="3289943"/>
                        <a:ext cx="1857375" cy="13065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EA4C1F5D-0195-4F18-A49E-E21EA2047644}"/>
              </a:ext>
            </a:extLst>
          </p:cNvPr>
          <p:cNvSpPr txBox="1"/>
          <p:nvPr/>
        </p:nvSpPr>
        <p:spPr>
          <a:xfrm>
            <a:off x="286283" y="286781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u="none" strike="noStrike" baseline="0" dirty="0" err="1"/>
              <a:t>Grüneisen</a:t>
            </a:r>
            <a:r>
              <a:rPr lang="en-US" altLang="zh-CN" b="0" i="0" u="none" strike="noStrike" baseline="0" dirty="0"/>
              <a:t> parameters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4B4C6C5-1B89-4B69-8C81-F80B5E85477D}"/>
              </a:ext>
            </a:extLst>
          </p:cNvPr>
          <p:cNvSpPr txBox="1"/>
          <p:nvPr/>
        </p:nvSpPr>
        <p:spPr>
          <a:xfrm>
            <a:off x="968275" y="3463617"/>
            <a:ext cx="804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 </a:t>
            </a:r>
            <a:r>
              <a:rPr lang="en-US" altLang="zh-CN" dirty="0">
                <a:sym typeface="Wingdings" panose="05000000000000000000" pitchFamily="2" charset="2"/>
              </a:rPr>
              <a:t> 0</a:t>
            </a:r>
            <a:endParaRPr lang="zh-CN" altLang="en-US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17213E98-AC52-403F-9D45-CA9794CBC6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0981816"/>
              </p:ext>
            </p:extLst>
          </p:nvPr>
        </p:nvGraphicFramePr>
        <p:xfrm>
          <a:off x="1003864" y="4130604"/>
          <a:ext cx="817152" cy="3097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69800" imgH="177480" progId="Equation.DSMT4">
                  <p:embed/>
                </p:oleObj>
              </mc:Choice>
              <mc:Fallback>
                <p:oleObj name="Equation" r:id="rId6" imgW="469800" imgH="1774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17213E98-AC52-403F-9D45-CA9794CBC6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864" y="4130604"/>
                        <a:ext cx="817152" cy="3097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E44AB320-F37E-480F-A9FF-7E197FA84306}"/>
              </a:ext>
            </a:extLst>
          </p:cNvPr>
          <p:cNvSpPr txBox="1"/>
          <p:nvPr/>
        </p:nvSpPr>
        <p:spPr>
          <a:xfrm>
            <a:off x="4692745" y="1542137"/>
            <a:ext cx="3288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Mie-Lennard –Jones potential 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87109E61-43C3-42A2-8F03-A28A926623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4276766"/>
              </p:ext>
            </p:extLst>
          </p:nvPr>
        </p:nvGraphicFramePr>
        <p:xfrm>
          <a:off x="4858283" y="2261924"/>
          <a:ext cx="1858962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71600" imgH="279360" progId="Equation.DSMT4">
                  <p:embed/>
                </p:oleObj>
              </mc:Choice>
              <mc:Fallback>
                <p:oleObj name="Equation" r:id="rId8" imgW="1371600" imgH="2793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87109E61-43C3-42A2-8F03-A28A926623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8283" y="2261924"/>
                        <a:ext cx="1858962" cy="3794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42EB23B0-F18E-42DC-9861-379DE2C5D8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651178"/>
              </p:ext>
            </p:extLst>
          </p:nvPr>
        </p:nvGraphicFramePr>
        <p:xfrm>
          <a:off x="4983447" y="3564766"/>
          <a:ext cx="1325563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77760" imgH="482400" progId="Equation.DSMT4">
                  <p:embed/>
                </p:oleObj>
              </mc:Choice>
              <mc:Fallback>
                <p:oleObj name="Equation" r:id="rId10" imgW="977760" imgH="4824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42EB23B0-F18E-42DC-9861-379DE2C5D8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3447" y="3564766"/>
                        <a:ext cx="1325563" cy="6524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023AA6C7-9145-4E4B-904F-4A81DFF0AA3C}"/>
              </a:ext>
            </a:extLst>
          </p:cNvPr>
          <p:cNvSpPr txBox="1"/>
          <p:nvPr/>
        </p:nvSpPr>
        <p:spPr>
          <a:xfrm>
            <a:off x="4692745" y="292061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u="none" strike="noStrike" baseline="0" dirty="0" err="1"/>
              <a:t>Grüneisen</a:t>
            </a:r>
            <a:r>
              <a:rPr lang="en-US" altLang="zh-CN" b="0" i="0" u="none" strike="noStrike" baseline="0" dirty="0"/>
              <a:t> parameters</a:t>
            </a:r>
            <a:endParaRPr lang="zh-CN" altLang="en-US" dirty="0"/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FBFA85BB-2829-490C-9CDB-C9CC1262B5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8621796"/>
              </p:ext>
            </p:extLst>
          </p:nvPr>
        </p:nvGraphicFramePr>
        <p:xfrm>
          <a:off x="1412440" y="5625425"/>
          <a:ext cx="1876425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84200" imgH="279360" progId="Equation.DSMT4">
                  <p:embed/>
                </p:oleObj>
              </mc:Choice>
              <mc:Fallback>
                <p:oleObj name="Equation" r:id="rId12" imgW="1384200" imgH="27936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FBFA85BB-2829-490C-9CDB-C9CC1262B5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440" y="5625425"/>
                        <a:ext cx="1876425" cy="3794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910092A6-A19B-4E00-B2EB-2F7FCD62C1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2951146"/>
              </p:ext>
            </p:extLst>
          </p:nvPr>
        </p:nvGraphicFramePr>
        <p:xfrm>
          <a:off x="5241415" y="5315863"/>
          <a:ext cx="8096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96880" imgH="457200" progId="Equation.DSMT4">
                  <p:embed/>
                </p:oleObj>
              </mc:Choice>
              <mc:Fallback>
                <p:oleObj name="Equation" r:id="rId14" imgW="596880" imgH="45720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910092A6-A19B-4E00-B2EB-2F7FCD62C1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1415" y="5315863"/>
                        <a:ext cx="809625" cy="6191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743DC64B-13E6-4EBB-B119-70B8540CD657}"/>
              </a:ext>
            </a:extLst>
          </p:cNvPr>
          <p:cNvSpPr txBox="1"/>
          <p:nvPr/>
        </p:nvSpPr>
        <p:spPr>
          <a:xfrm>
            <a:off x="396240" y="4876800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For a inert gas solid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022730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BA7BBAB-AB16-4DE2-9437-B1AE963FA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397" y="2759132"/>
            <a:ext cx="1642116" cy="694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A850648-C516-4082-AF66-D8F2B2D120F4}"/>
              </a:ext>
            </a:extLst>
          </p:cNvPr>
          <p:cNvSpPr/>
          <p:nvPr/>
        </p:nvSpPr>
        <p:spPr>
          <a:xfrm>
            <a:off x="777074" y="1397531"/>
            <a:ext cx="26602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Glen A. Slack’s formula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TextBox 38">
            <a:extLst>
              <a:ext uri="{FF2B5EF4-FFF2-40B4-BE49-F238E27FC236}">
                <a16:creationId xmlns:a16="http://schemas.microsoft.com/office/drawing/2014/main" id="{8D12C28A-E1A1-4C11-BA5B-7345D2C14C7F}"/>
              </a:ext>
            </a:extLst>
          </p:cNvPr>
          <p:cNvSpPr txBox="1"/>
          <p:nvPr/>
        </p:nvSpPr>
        <p:spPr>
          <a:xfrm>
            <a:off x="542491" y="1976445"/>
            <a:ext cx="31293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CN" sz="1600" dirty="0" err="1"/>
              <a:t>Umklapp</a:t>
            </a:r>
            <a:r>
              <a:rPr lang="en-US" altLang="zh-CN" sz="1600" dirty="0"/>
              <a:t> scattering dominant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CN" sz="1600" dirty="0"/>
              <a:t>Neglect optical phonon </a:t>
            </a:r>
            <a:endParaRPr lang="zh-CN" altLang="en-US" sz="1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63FE228-B5C1-4E51-9DDE-DC655A7A98A2}"/>
              </a:ext>
            </a:extLst>
          </p:cNvPr>
          <p:cNvSpPr txBox="1"/>
          <p:nvPr/>
        </p:nvSpPr>
        <p:spPr>
          <a:xfrm>
            <a:off x="1245254" y="259716"/>
            <a:ext cx="66534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 err="1">
                <a:solidFill>
                  <a:srgbClr val="FF0000"/>
                </a:solidFill>
              </a:rPr>
              <a:t>Gruneisen</a:t>
            </a:r>
            <a:r>
              <a:rPr lang="en-US" altLang="zh-CN" sz="2400" dirty="0">
                <a:solidFill>
                  <a:srgbClr val="FF0000"/>
                </a:solidFill>
              </a:rPr>
              <a:t> parameter and Thermal conductivity</a:t>
            </a:r>
            <a:endParaRPr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139C945-670B-4F41-8976-1D4EE7CEA3D0}"/>
              </a:ext>
            </a:extLst>
          </p:cNvPr>
          <p:cNvSpPr txBox="1"/>
          <p:nvPr/>
        </p:nvSpPr>
        <p:spPr>
          <a:xfrm>
            <a:off x="777074" y="603667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Times-Roman"/>
              </a:rPr>
              <a:t>G. Slack, 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Times-Roman"/>
              </a:rPr>
              <a:t>J. Phys. Chem. Solids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Times-Bold"/>
              </a:rPr>
              <a:t>34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Times-Roman"/>
              </a:rPr>
              <a:t>, 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Times-Roman"/>
              </a:rPr>
              <a:t>321 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Times-Roman"/>
              </a:rPr>
              <a:t>(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Times-Roman"/>
              </a:rPr>
              <a:t>1973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Times-Roman"/>
              </a:rPr>
              <a:t>).</a:t>
            </a:r>
            <a:endParaRPr lang="zh-CN" altLang="en-US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9802609-6A92-4304-8B11-02A11F1AD7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9712728"/>
              </p:ext>
            </p:extLst>
          </p:nvPr>
        </p:nvGraphicFramePr>
        <p:xfrm>
          <a:off x="899293" y="3681733"/>
          <a:ext cx="1584325" cy="131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68200" imgH="965160" progId="Equation.DSMT4">
                  <p:embed/>
                </p:oleObj>
              </mc:Choice>
              <mc:Fallback>
                <p:oleObj name="Equation" r:id="rId3" imgW="1168200" imgH="9651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29802609-6A92-4304-8B11-02A11F1AD7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293" y="3681733"/>
                        <a:ext cx="1584325" cy="13128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图片 13">
            <a:extLst>
              <a:ext uri="{FF2B5EF4-FFF2-40B4-BE49-F238E27FC236}">
                <a16:creationId xmlns:a16="http://schemas.microsoft.com/office/drawing/2014/main" id="{D665249B-6EF8-4AA2-B717-ECAE88EF35A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627" t="37944" r="57664" b="23122"/>
          <a:stretch/>
        </p:blipFill>
        <p:spPr>
          <a:xfrm>
            <a:off x="4217338" y="2050998"/>
            <a:ext cx="4384171" cy="326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73453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36347F5-42A0-4BD5-A61F-F07CF1C7D4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58" t="11533" r="17103" b="48852"/>
          <a:stretch/>
        </p:blipFill>
        <p:spPr>
          <a:xfrm>
            <a:off x="1204957" y="367468"/>
            <a:ext cx="6443529" cy="200826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DE5B284-0284-497E-AE02-822641E6D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7" y="2708019"/>
            <a:ext cx="4710540" cy="378251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51584EF-4369-448A-BD91-88C17AA56DAE}"/>
              </a:ext>
            </a:extLst>
          </p:cNvPr>
          <p:cNvSpPr txBox="1"/>
          <p:nvPr/>
        </p:nvSpPr>
        <p:spPr>
          <a:xfrm>
            <a:off x="4572000" y="3306613"/>
            <a:ext cx="43129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The anharmonicity is amplified by the presence of lone-</a:t>
            </a:r>
            <a:r>
              <a:rPr lang="en-US" altLang="zh-CN" dirty="0" err="1"/>
              <a:t>paire</a:t>
            </a:r>
            <a:r>
              <a:rPr lang="en-US" altLang="zh-CN" dirty="0"/>
              <a:t> s electron that are localized in large outer shells around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When lattice wave displace atoms, the s-electrons shell become strongly distorted and may lead to very anharmonic bonds.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9486953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Boar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等线 Light"/>
        <a:cs typeface=""/>
      </a:majorFont>
      <a:minorFont>
        <a:latin typeface="Arial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 Board</Template>
  <TotalTime>8229</TotalTime>
  <Words>2967</Words>
  <Application>Microsoft Macintosh PowerPoint</Application>
  <PresentationFormat>On-screen Show (4:3)</PresentationFormat>
  <Paragraphs>435</Paragraphs>
  <Slides>66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66</vt:i4>
      </vt:variant>
    </vt:vector>
  </HeadingPairs>
  <TitlesOfParts>
    <vt:vector size="85" baseType="lpstr">
      <vt:lpstr>Arial Unicode MS</vt:lpstr>
      <vt:lpstr>等线</vt:lpstr>
      <vt:lpstr>微软雅黑</vt:lpstr>
      <vt:lpstr>MTMI</vt:lpstr>
      <vt:lpstr>黑体</vt:lpstr>
      <vt:lpstr>TimesNewRomanPS-ItalicMT</vt:lpstr>
      <vt:lpstr>TimesNewRomanPSMT</vt:lpstr>
      <vt:lpstr>Arial</vt:lpstr>
      <vt:lpstr>Calibri</vt:lpstr>
      <vt:lpstr>Cambria Math</vt:lpstr>
      <vt:lpstr>Symbol</vt:lpstr>
      <vt:lpstr>Times New Roman</vt:lpstr>
      <vt:lpstr>Times-Bold</vt:lpstr>
      <vt:lpstr>Times-Roman</vt:lpstr>
      <vt:lpstr>Wingdings</vt:lpstr>
      <vt:lpstr>Master Board</vt:lpstr>
      <vt:lpstr>Equation</vt:lpstr>
      <vt:lpstr>公式</vt:lpstr>
      <vt:lpstr>Graph</vt:lpstr>
      <vt:lpstr>PowerPoint Presentation</vt:lpstr>
      <vt:lpstr>18. Statistical ensembles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19. Statistical thermodynamic        interpret of Heat capacity</vt:lpstr>
      <vt:lpstr>Heat capacity: cV and cP</vt:lpstr>
      <vt:lpstr>Heat Capacity: cV and cP</vt:lpstr>
      <vt:lpstr> Dulong-Petit Rule</vt:lpstr>
      <vt:lpstr>PowerPoint Presentation</vt:lpstr>
      <vt:lpstr>PowerPoint Presentation</vt:lpstr>
      <vt:lpstr>Einstein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22. Engineering considering of heat capacity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 weishu</dc:creator>
  <cp:lastModifiedBy>Philip Zhan</cp:lastModifiedBy>
  <cp:revision>399</cp:revision>
  <cp:lastPrinted>2021-03-29T13:41:15Z</cp:lastPrinted>
  <dcterms:created xsi:type="dcterms:W3CDTF">2019-02-07T07:31:12Z</dcterms:created>
  <dcterms:modified xsi:type="dcterms:W3CDTF">2022-10-26T03:02:11Z</dcterms:modified>
</cp:coreProperties>
</file>