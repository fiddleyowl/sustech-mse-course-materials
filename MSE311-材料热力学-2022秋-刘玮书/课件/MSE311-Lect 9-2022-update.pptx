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5" r:id="rId1"/>
  </p:sldMasterIdLst>
  <p:notesMasterIdLst>
    <p:notesMasterId r:id="rId61"/>
  </p:notesMasterIdLst>
  <p:handoutMasterIdLst>
    <p:handoutMasterId r:id="rId62"/>
  </p:handoutMasterIdLst>
  <p:sldIdLst>
    <p:sldId id="256" r:id="rId2"/>
    <p:sldId id="374" r:id="rId3"/>
    <p:sldId id="341" r:id="rId4"/>
    <p:sldId id="443" r:id="rId5"/>
    <p:sldId id="365" r:id="rId6"/>
    <p:sldId id="367" r:id="rId7"/>
    <p:sldId id="368" r:id="rId8"/>
    <p:sldId id="357" r:id="rId9"/>
    <p:sldId id="377" r:id="rId10"/>
    <p:sldId id="378" r:id="rId11"/>
    <p:sldId id="379" r:id="rId12"/>
    <p:sldId id="380" r:id="rId13"/>
    <p:sldId id="381" r:id="rId14"/>
    <p:sldId id="442" r:id="rId15"/>
    <p:sldId id="382" r:id="rId16"/>
    <p:sldId id="383" r:id="rId17"/>
    <p:sldId id="384" r:id="rId18"/>
    <p:sldId id="385" r:id="rId19"/>
    <p:sldId id="386" r:id="rId20"/>
    <p:sldId id="428" r:id="rId21"/>
    <p:sldId id="429" r:id="rId22"/>
    <p:sldId id="430" r:id="rId23"/>
    <p:sldId id="391" r:id="rId24"/>
    <p:sldId id="392" r:id="rId25"/>
    <p:sldId id="432" r:id="rId26"/>
    <p:sldId id="387" r:id="rId27"/>
    <p:sldId id="388" r:id="rId28"/>
    <p:sldId id="389" r:id="rId29"/>
    <p:sldId id="426" r:id="rId30"/>
    <p:sldId id="425" r:id="rId31"/>
    <p:sldId id="431" r:id="rId32"/>
    <p:sldId id="395" r:id="rId33"/>
    <p:sldId id="396" r:id="rId34"/>
    <p:sldId id="400" r:id="rId35"/>
    <p:sldId id="398" r:id="rId36"/>
    <p:sldId id="394" r:id="rId37"/>
    <p:sldId id="399" r:id="rId38"/>
    <p:sldId id="401" r:id="rId39"/>
    <p:sldId id="433" r:id="rId40"/>
    <p:sldId id="416" r:id="rId41"/>
    <p:sldId id="418" r:id="rId42"/>
    <p:sldId id="419" r:id="rId43"/>
    <p:sldId id="420" r:id="rId44"/>
    <p:sldId id="434" r:id="rId45"/>
    <p:sldId id="424" r:id="rId46"/>
    <p:sldId id="402" r:id="rId47"/>
    <p:sldId id="403" r:id="rId48"/>
    <p:sldId id="404" r:id="rId49"/>
    <p:sldId id="405" r:id="rId50"/>
    <p:sldId id="406" r:id="rId51"/>
    <p:sldId id="407" r:id="rId52"/>
    <p:sldId id="408" r:id="rId53"/>
    <p:sldId id="409" r:id="rId54"/>
    <p:sldId id="410" r:id="rId55"/>
    <p:sldId id="411" r:id="rId56"/>
    <p:sldId id="412" r:id="rId57"/>
    <p:sldId id="413" r:id="rId58"/>
    <p:sldId id="414" r:id="rId59"/>
    <p:sldId id="415" r:id="rId60"/>
  </p:sldIdLst>
  <p:sldSz cx="9144000" cy="6858000" type="screen4x3"/>
  <p:notesSz cx="6669088" cy="9926638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70AD47"/>
    <a:srgbClr val="FF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0"/>
    <p:restoredTop sz="92713" autoAdjust="0"/>
  </p:normalViewPr>
  <p:slideViewPr>
    <p:cSldViewPr snapToGrid="0">
      <p:cViewPr varScale="1">
        <p:scale>
          <a:sx n="103" d="100"/>
          <a:sy n="103" d="100"/>
        </p:scale>
        <p:origin x="1880" y="17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notesMaster" Target="notesMasters/notesMaster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889938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777607" y="0"/>
            <a:ext cx="2889938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08D606E-817F-4225-A493-5E3C4C75FF08}" type="datetimeFigureOut">
              <a:rPr lang="zh-CN" altLang="en-US" smtClean="0"/>
              <a:pPr/>
              <a:t>2022/10/29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428583"/>
            <a:ext cx="2889938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777607" y="9428583"/>
            <a:ext cx="2889938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5640143-1556-458C-9C74-16E858D4F198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1326578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889938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777607" y="0"/>
            <a:ext cx="2889938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73A478E-90E3-4BE0-BF7B-B1AD7461FEF4}" type="datetimeFigureOut">
              <a:rPr lang="zh-CN" altLang="en-US" smtClean="0"/>
              <a:pPr/>
              <a:t>2022/10/29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01725" y="1241425"/>
            <a:ext cx="4465638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66909" y="4777194"/>
            <a:ext cx="533527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889938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777607" y="9428584"/>
            <a:ext cx="2889938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F497359-BD37-41E1-AF95-71E7D52515AE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158721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zh-CN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Darwin–Fowler method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497359-BD37-41E1-AF95-71E7D52515AE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997183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5815B35-E690-43F4-98A8-E3EB6870779A}" type="slidenum">
              <a:rPr lang="zh-CN" altLang="en-US" smtClean="0"/>
              <a:pPr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6198315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497359-BD37-41E1-AF95-71E7D52515AE}" type="slidenum">
              <a:rPr lang="zh-CN" altLang="en-US" smtClean="0"/>
              <a:pPr/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7780726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 err="1">
                <a:solidFill>
                  <a:srgbClr val="222222"/>
                </a:solidFill>
                <a:latin typeface="Times New Roman" panose="02020603050405020304" pitchFamily="18" charset="0"/>
              </a:rPr>
              <a:t>arcsin</a:t>
            </a:r>
            <a:r>
              <a:rPr lang="en-US" altLang="zh-CN" dirty="0">
                <a:solidFill>
                  <a:srgbClr val="222222"/>
                </a:solidFill>
                <a:latin typeface="Times New Roman" panose="02020603050405020304" pitchFamily="18" charset="0"/>
              </a:rPr>
              <a:t> </a:t>
            </a:r>
            <a:r>
              <a:rPr lang="en-US" altLang="zh-CN" i="1" dirty="0">
                <a:solidFill>
                  <a:srgbClr val="222222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222222"/>
                </a:solidFill>
                <a:latin typeface="Times New Roman" panose="02020603050405020304" pitchFamily="18" charset="0"/>
              </a:rPr>
              <a:t> = sin</a:t>
            </a:r>
            <a:r>
              <a:rPr lang="en-US" altLang="zh-CN" baseline="30000" dirty="0">
                <a:solidFill>
                  <a:srgbClr val="222222"/>
                </a:solidFill>
                <a:latin typeface="Times New Roman" panose="02020603050405020304" pitchFamily="18" charset="0"/>
              </a:rPr>
              <a:t>-1</a:t>
            </a:r>
            <a:r>
              <a:rPr lang="en-US" altLang="zh-CN" i="1" dirty="0">
                <a:solidFill>
                  <a:srgbClr val="222222"/>
                </a:solidFill>
                <a:latin typeface="Times New Roman" panose="02020603050405020304" pitchFamily="18" charset="0"/>
              </a:rPr>
              <a:t> x</a:t>
            </a:r>
            <a:r>
              <a:rPr lang="en-US" altLang="zh-CN" dirty="0">
                <a:solidFill>
                  <a:srgbClr val="222222"/>
                </a:solidFill>
                <a:latin typeface="Times New Roman" panose="02020603050405020304" pitchFamily="18" charset="0"/>
              </a:rPr>
              <a:t> </a:t>
            </a:r>
            <a:r>
              <a:rPr lang="zh-CN" altLang="en-US" dirty="0">
                <a:solidFill>
                  <a:srgbClr val="222222"/>
                </a:solidFill>
                <a:latin typeface="Times New Roman" panose="02020603050405020304" pitchFamily="18" charset="0"/>
              </a:rPr>
              <a:t>，</a:t>
            </a:r>
            <a:br>
              <a:rPr lang="en-US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sin( </a:t>
            </a:r>
            <a:r>
              <a:rPr lang="en-US" altLang="zh-CN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arcsin</a:t>
            </a:r>
            <a:r>
              <a:rPr lang="en-US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altLang="zh-CN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</a:t>
            </a:r>
            <a:r>
              <a:rPr lang="en-US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) = </a:t>
            </a:r>
            <a:r>
              <a:rPr lang="en-US" altLang="zh-CN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</a:t>
            </a:r>
            <a:endParaRPr lang="zh-CN" altLang="en-US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497359-BD37-41E1-AF95-71E7D52515AE}" type="slidenum">
              <a:rPr lang="zh-CN" altLang="en-US" smtClean="0"/>
              <a:pPr/>
              <a:t>32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0459884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幻灯片图像占位符 1">
            <a:extLst>
              <a:ext uri="{FF2B5EF4-FFF2-40B4-BE49-F238E27FC236}">
                <a16:creationId xmlns:a16="http://schemas.microsoft.com/office/drawing/2014/main" id="{37652969-BD49-8A41-9A80-605BBF6C84C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6322" name="备注占位符 2">
            <a:extLst>
              <a:ext uri="{FF2B5EF4-FFF2-40B4-BE49-F238E27FC236}">
                <a16:creationId xmlns:a16="http://schemas.microsoft.com/office/drawing/2014/main" id="{67C83D08-4E7F-2D41-AAD9-8834E6F5839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kumimoji="0" lang="zh-CN" altLang="en-US"/>
          </a:p>
        </p:txBody>
      </p:sp>
      <p:sp>
        <p:nvSpPr>
          <p:cNvPr id="56323" name="灯片编号占位符 3">
            <a:extLst>
              <a:ext uri="{FF2B5EF4-FFF2-40B4-BE49-F238E27FC236}">
                <a16:creationId xmlns:a16="http://schemas.microsoft.com/office/drawing/2014/main" id="{3C626580-8EB0-4A4C-8F5A-C26453BFB3E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fld id="{946F1CF6-B956-AA49-BCD3-378318C66A25}" type="slidenum">
              <a:rPr kumimoji="0" lang="zh-CN" altLang="en-US" sz="1200"/>
              <a:pPr/>
              <a:t>34</a:t>
            </a:fld>
            <a:endParaRPr kumimoji="0" lang="zh-CN" altLang="en-US" sz="1200"/>
          </a:p>
        </p:txBody>
      </p:sp>
    </p:spTree>
    <p:extLst>
      <p:ext uri="{BB962C8B-B14F-4D97-AF65-F5344CB8AC3E}">
        <p14:creationId xmlns:p14="http://schemas.microsoft.com/office/powerpoint/2010/main" val="116237307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7" name="幻灯片图像占位符 1">
            <a:extLst>
              <a:ext uri="{FF2B5EF4-FFF2-40B4-BE49-F238E27FC236}">
                <a16:creationId xmlns:a16="http://schemas.microsoft.com/office/drawing/2014/main" id="{3DBD32D0-730E-C94D-81B1-70C3F0EC0303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0418" name="备注占位符 2">
            <a:extLst>
              <a:ext uri="{FF2B5EF4-FFF2-40B4-BE49-F238E27FC236}">
                <a16:creationId xmlns:a16="http://schemas.microsoft.com/office/drawing/2014/main" id="{9A2DD248-77B9-F445-B27D-6720C84C638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kumimoji="0" lang="zh-CN" altLang="en-US"/>
          </a:p>
        </p:txBody>
      </p:sp>
      <p:sp>
        <p:nvSpPr>
          <p:cNvPr id="60419" name="灯片编号占位符 3">
            <a:extLst>
              <a:ext uri="{FF2B5EF4-FFF2-40B4-BE49-F238E27FC236}">
                <a16:creationId xmlns:a16="http://schemas.microsoft.com/office/drawing/2014/main" id="{469E9D5B-7BDB-DC47-B621-E8201071627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fld id="{FA5D3DDD-0F94-C348-8396-86C7521394BE}" type="slidenum">
              <a:rPr kumimoji="0" lang="zh-CN" altLang="en-US" sz="1200"/>
              <a:pPr/>
              <a:t>38</a:t>
            </a:fld>
            <a:endParaRPr kumimoji="0" lang="zh-CN" altLang="en-US" sz="1200"/>
          </a:p>
        </p:txBody>
      </p:sp>
    </p:spTree>
    <p:extLst>
      <p:ext uri="{BB962C8B-B14F-4D97-AF65-F5344CB8AC3E}">
        <p14:creationId xmlns:p14="http://schemas.microsoft.com/office/powerpoint/2010/main" val="333393582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从研究历史也可以发现固体的比热大致包含以下几类：晶体比热、电子比热、磁比热、异常比热</a:t>
            </a:r>
            <a:endParaRPr lang="en-US" altLang="zh-CN" sz="1200" b="1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C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1800</a:t>
            </a:r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布莱克首次提出比热的概念</a:t>
            </a:r>
            <a:endParaRPr lang="en-US" altLang="zh-CN" sz="1200" b="1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C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1819</a:t>
            </a:r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杜隆泊替定律</a:t>
            </a:r>
            <a:endParaRPr lang="en-US" altLang="zh-CN" sz="1200" b="1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C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1831</a:t>
            </a:r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纽曼</a:t>
            </a:r>
            <a:r>
              <a:rPr lang="en-US" altLang="zh-C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</a:t>
            </a:r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科普定律进一步发展了杜隆泊替定律</a:t>
            </a:r>
            <a:endParaRPr lang="en-US" altLang="zh-CN" sz="1200" b="1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C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1907</a:t>
            </a:r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年随着低温技术的发展，随着温度的降低，比热迅速减小，爱因斯坦基于量子理论提出了爱因斯坦模型</a:t>
            </a:r>
            <a:endParaRPr lang="en-US" altLang="zh-CN" sz="1200" b="1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C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1912</a:t>
            </a:r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年，随着温度的进一步降低，在</a:t>
            </a:r>
            <a:r>
              <a:rPr lang="en-US" altLang="zh-C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20K</a:t>
            </a:r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以下，爱因斯坦模型和实验结果差别较大，德拜提出德拜模型</a:t>
            </a:r>
            <a:endParaRPr lang="en-US" altLang="zh-CN" sz="1200" b="1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C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1928</a:t>
            </a:r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年索末菲提出自由电子气模型，并由此推导出了电子比热</a:t>
            </a:r>
            <a:endParaRPr lang="en-US" altLang="zh-CN" sz="1200" b="1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1963</a:t>
            </a:r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年，</a:t>
            </a:r>
            <a:r>
              <a:rPr lang="en-US" altLang="zh-CN" sz="1200" b="1" dirty="0"/>
              <a:t>Rosenberg</a:t>
            </a:r>
            <a:r>
              <a:rPr lang="zh-CN" altLang="en-US" sz="1200" b="1" dirty="0"/>
              <a:t>提出了固体中的肖特基异常比热</a:t>
            </a:r>
            <a:endParaRPr lang="en-US" altLang="zh-CN" sz="1200" b="1" dirty="0"/>
          </a:p>
          <a:p>
            <a: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200" b="1" dirty="0"/>
              <a:t>1980</a:t>
            </a:r>
            <a:r>
              <a:rPr lang="zh-CN" altLang="en-US" sz="1200" b="1" dirty="0"/>
              <a:t>年，</a:t>
            </a:r>
            <a:r>
              <a:rPr lang="en-US" altLang="zh-CN" sz="1200" b="1" dirty="0"/>
              <a:t>Sinha and Kumar</a:t>
            </a:r>
            <a:r>
              <a:rPr lang="zh-CN" altLang="en-US" sz="1200" b="1" dirty="0"/>
              <a:t>在前人的基础上系统的提出了各种磁作用的比热</a:t>
            </a:r>
            <a:endParaRPr lang="en-US" altLang="zh-CN" sz="1200" b="1" dirty="0"/>
          </a:p>
          <a:p>
            <a: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200" b="1" dirty="0"/>
              <a:t>1992</a:t>
            </a:r>
            <a:r>
              <a:rPr lang="zh-CN" altLang="en-US" sz="1200" b="1" dirty="0"/>
              <a:t>年，</a:t>
            </a:r>
            <a:r>
              <a:rPr lang="en-US" altLang="zh-CN" sz="1200" b="1" dirty="0"/>
              <a:t>Elliott</a:t>
            </a:r>
            <a:r>
              <a:rPr lang="zh-CN" altLang="en-US" sz="1200" b="1" dirty="0"/>
              <a:t>首次发现了波色峰</a:t>
            </a:r>
            <a:endParaRPr lang="en-US" altLang="zh-CN" sz="1200" b="1" dirty="0"/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b="1" dirty="0"/>
              <a:t>2010-2020</a:t>
            </a:r>
            <a:r>
              <a:rPr lang="zh-CN" altLang="en-US" sz="1200" b="1" dirty="0"/>
              <a:t>进入</a:t>
            </a:r>
            <a:r>
              <a:rPr lang="en-US" altLang="zh-CN" sz="1200" b="1" dirty="0"/>
              <a:t>21</a:t>
            </a:r>
            <a:r>
              <a:rPr lang="zh-CN" altLang="en-US" sz="1200" b="1" dirty="0"/>
              <a:t>世纪，</a:t>
            </a:r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比热的研究主要集中在量热学、新型比热拟合模型的开发、比热在物理现象解析中的应用</a:t>
            </a:r>
            <a:endParaRPr lang="en-US" altLang="zh-CN" sz="1200" b="1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497359-BD37-41E1-AF95-71E7D52515AE}" type="slidenum">
              <a:rPr lang="zh-CN" altLang="en-US" smtClean="0"/>
              <a:pPr/>
              <a:t>40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6683758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5815B35-E690-43F4-98A8-E3EB6870779A}" type="slidenum">
              <a:rPr lang="zh-CN" altLang="en-US" smtClean="0"/>
              <a:pPr/>
              <a:t>52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273907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9">
            <a:extLst>
              <a:ext uri="{FF2B5EF4-FFF2-40B4-BE49-F238E27FC236}">
                <a16:creationId xmlns:a16="http://schemas.microsoft.com/office/drawing/2014/main" id="{36484A2C-39A1-4BDC-B92B-AF52D58B0F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363" y="5035550"/>
            <a:ext cx="1143000" cy="1441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8" name="组合 11">
            <a:extLst>
              <a:ext uri="{FF2B5EF4-FFF2-40B4-BE49-F238E27FC236}">
                <a16:creationId xmlns:a16="http://schemas.microsoft.com/office/drawing/2014/main" id="{56818F0A-1B6A-44A9-9717-55DA1C8C1ED4}"/>
              </a:ext>
            </a:extLst>
          </p:cNvPr>
          <p:cNvGrpSpPr>
            <a:grpSpLocks/>
          </p:cNvGrpSpPr>
          <p:nvPr/>
        </p:nvGrpSpPr>
        <p:grpSpPr bwMode="auto">
          <a:xfrm>
            <a:off x="0" y="4741863"/>
            <a:ext cx="9043988" cy="142875"/>
            <a:chOff x="76199" y="1241003"/>
            <a:chExt cx="9044401" cy="144000"/>
          </a:xfrm>
        </p:grpSpPr>
        <p:sp>
          <p:nvSpPr>
            <p:cNvPr id="9" name="圆角矩形 11">
              <a:extLst>
                <a:ext uri="{FF2B5EF4-FFF2-40B4-BE49-F238E27FC236}">
                  <a16:creationId xmlns:a16="http://schemas.microsoft.com/office/drawing/2014/main" id="{2658448A-EA7B-40C8-99E5-5CDD7E4A2B5E}"/>
                </a:ext>
              </a:extLst>
            </p:cNvPr>
            <p:cNvSpPr/>
            <p:nvPr/>
          </p:nvSpPr>
          <p:spPr>
            <a:xfrm>
              <a:off x="76199" y="1241003"/>
              <a:ext cx="1487556" cy="144000"/>
            </a:xfrm>
            <a:prstGeom prst="roundRect">
              <a:avLst>
                <a:gd name="adj" fmla="val 0"/>
              </a:avLst>
            </a:prstGeom>
            <a:solidFill>
              <a:srgbClr val="C83C0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10" name="圆角矩形 12">
              <a:extLst>
                <a:ext uri="{FF2B5EF4-FFF2-40B4-BE49-F238E27FC236}">
                  <a16:creationId xmlns:a16="http://schemas.microsoft.com/office/drawing/2014/main" id="{0F1BA9DE-48A6-4320-A3CB-CA0618F88CA6}"/>
                </a:ext>
              </a:extLst>
            </p:cNvPr>
            <p:cNvSpPr/>
            <p:nvPr/>
          </p:nvSpPr>
          <p:spPr>
            <a:xfrm>
              <a:off x="1630433" y="1241003"/>
              <a:ext cx="3103704" cy="144000"/>
            </a:xfrm>
            <a:prstGeom prst="roundRect">
              <a:avLst>
                <a:gd name="adj" fmla="val 0"/>
              </a:avLst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11" name="圆角矩形 13">
              <a:extLst>
                <a:ext uri="{FF2B5EF4-FFF2-40B4-BE49-F238E27FC236}">
                  <a16:creationId xmlns:a16="http://schemas.microsoft.com/office/drawing/2014/main" id="{95532181-9B56-4565-85B0-26FAE243974A}"/>
                </a:ext>
              </a:extLst>
            </p:cNvPr>
            <p:cNvSpPr/>
            <p:nvPr/>
          </p:nvSpPr>
          <p:spPr>
            <a:xfrm>
              <a:off x="4800815" y="1241003"/>
              <a:ext cx="4319785" cy="144000"/>
            </a:xfrm>
            <a:prstGeom prst="roundRect">
              <a:avLst>
                <a:gd name="adj" fmla="val 0"/>
              </a:avLst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</p:grpSp>
      <p:pic>
        <p:nvPicPr>
          <p:cNvPr id="12" name="图片 18">
            <a:extLst>
              <a:ext uri="{FF2B5EF4-FFF2-40B4-BE49-F238E27FC236}">
                <a16:creationId xmlns:a16="http://schemas.microsoft.com/office/drawing/2014/main" id="{C6EF10A3-5E14-4AC4-BEC5-788C4A6ABF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4400" y="5035550"/>
            <a:ext cx="4313238" cy="1441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图片 20">
            <a:extLst>
              <a:ext uri="{FF2B5EF4-FFF2-40B4-BE49-F238E27FC236}">
                <a16:creationId xmlns:a16="http://schemas.microsoft.com/office/drawing/2014/main" id="{E5368EC2-A439-426F-9848-8912DFFAC1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4325" y="5035550"/>
            <a:ext cx="3019425" cy="1436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" name="图片 3">
            <a:extLst>
              <a:ext uri="{FF2B5EF4-FFF2-40B4-BE49-F238E27FC236}">
                <a16:creationId xmlns:a16="http://schemas.microsoft.com/office/drawing/2014/main" id="{DB79EDD7-2DA9-41B8-BF25-43496C70960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2" t="5525" r="8671" b="8884"/>
          <a:stretch/>
        </p:blipFill>
        <p:spPr bwMode="auto">
          <a:xfrm>
            <a:off x="106362" y="56707"/>
            <a:ext cx="4366401" cy="1013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" name="图片 9">
            <a:extLst>
              <a:ext uri="{FF2B5EF4-FFF2-40B4-BE49-F238E27FC236}">
                <a16:creationId xmlns:a16="http://schemas.microsoft.com/office/drawing/2014/main" id="{AAD387B1-3103-410C-8A6F-61D494AEADD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363" y="5035550"/>
            <a:ext cx="1143000" cy="1441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6" name="组合 11">
            <a:extLst>
              <a:ext uri="{FF2B5EF4-FFF2-40B4-BE49-F238E27FC236}">
                <a16:creationId xmlns:a16="http://schemas.microsoft.com/office/drawing/2014/main" id="{EF2F75DC-2FDE-4EE3-8E34-8BABCC7179F1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0" y="4741863"/>
            <a:ext cx="9043988" cy="142875"/>
            <a:chOff x="76199" y="1241003"/>
            <a:chExt cx="9044401" cy="144000"/>
          </a:xfrm>
        </p:grpSpPr>
        <p:sp>
          <p:nvSpPr>
            <p:cNvPr id="17" name="圆角矩形 11">
              <a:extLst>
                <a:ext uri="{FF2B5EF4-FFF2-40B4-BE49-F238E27FC236}">
                  <a16:creationId xmlns:a16="http://schemas.microsoft.com/office/drawing/2014/main" id="{367FAD37-4817-483B-B455-9B9EAAFE7BD8}"/>
                </a:ext>
              </a:extLst>
            </p:cNvPr>
            <p:cNvSpPr/>
            <p:nvPr/>
          </p:nvSpPr>
          <p:spPr>
            <a:xfrm>
              <a:off x="76199" y="1241003"/>
              <a:ext cx="1487556" cy="144000"/>
            </a:xfrm>
            <a:prstGeom prst="roundRect">
              <a:avLst>
                <a:gd name="adj" fmla="val 0"/>
              </a:avLst>
            </a:prstGeom>
            <a:solidFill>
              <a:srgbClr val="C83C0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18" name="圆角矩形 12">
              <a:extLst>
                <a:ext uri="{FF2B5EF4-FFF2-40B4-BE49-F238E27FC236}">
                  <a16:creationId xmlns:a16="http://schemas.microsoft.com/office/drawing/2014/main" id="{405E6F80-4ED3-42FA-B9E2-EC6BC04F1A02}"/>
                </a:ext>
              </a:extLst>
            </p:cNvPr>
            <p:cNvSpPr/>
            <p:nvPr/>
          </p:nvSpPr>
          <p:spPr>
            <a:xfrm>
              <a:off x="1630433" y="1241003"/>
              <a:ext cx="3103704" cy="144000"/>
            </a:xfrm>
            <a:prstGeom prst="roundRect">
              <a:avLst>
                <a:gd name="adj" fmla="val 0"/>
              </a:avLst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19" name="圆角矩形 13">
              <a:extLst>
                <a:ext uri="{FF2B5EF4-FFF2-40B4-BE49-F238E27FC236}">
                  <a16:creationId xmlns:a16="http://schemas.microsoft.com/office/drawing/2014/main" id="{FFCB71A7-724E-4CF3-8659-D7FFA4994A95}"/>
                </a:ext>
              </a:extLst>
            </p:cNvPr>
            <p:cNvSpPr/>
            <p:nvPr/>
          </p:nvSpPr>
          <p:spPr>
            <a:xfrm>
              <a:off x="4800815" y="1241003"/>
              <a:ext cx="4319785" cy="144000"/>
            </a:xfrm>
            <a:prstGeom prst="roundRect">
              <a:avLst>
                <a:gd name="adj" fmla="val 0"/>
              </a:avLst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</p:grpSp>
      <p:pic>
        <p:nvPicPr>
          <p:cNvPr id="20" name="图片 18">
            <a:extLst>
              <a:ext uri="{FF2B5EF4-FFF2-40B4-BE49-F238E27FC236}">
                <a16:creationId xmlns:a16="http://schemas.microsoft.com/office/drawing/2014/main" id="{B230B797-9AF8-41D8-B5AB-3C485238D84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4400" y="5035550"/>
            <a:ext cx="4313238" cy="1441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" name="图片 20">
            <a:extLst>
              <a:ext uri="{FF2B5EF4-FFF2-40B4-BE49-F238E27FC236}">
                <a16:creationId xmlns:a16="http://schemas.microsoft.com/office/drawing/2014/main" id="{32E52780-17F0-4F25-B262-66C011AE71D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4325" y="5035550"/>
            <a:ext cx="3019425" cy="1436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" name="图片 3">
            <a:extLst>
              <a:ext uri="{FF2B5EF4-FFF2-40B4-BE49-F238E27FC236}">
                <a16:creationId xmlns:a16="http://schemas.microsoft.com/office/drawing/2014/main" id="{A6617996-BF24-4585-AE38-DD4FEC22395F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2" t="5525" r="8671" b="8884"/>
          <a:stretch/>
        </p:blipFill>
        <p:spPr bwMode="auto">
          <a:xfrm>
            <a:off x="106362" y="56707"/>
            <a:ext cx="4366401" cy="1013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514529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>
            <a:extLst>
              <a:ext uri="{FF2B5EF4-FFF2-40B4-BE49-F238E27FC236}">
                <a16:creationId xmlns:a16="http://schemas.microsoft.com/office/drawing/2014/main" id="{23551FB5-644E-4958-A980-4C6B4A9B56E7}"/>
              </a:ext>
            </a:extLst>
          </p:cNvPr>
          <p:cNvGrpSpPr>
            <a:grpSpLocks/>
          </p:cNvGrpSpPr>
          <p:nvPr/>
        </p:nvGrpSpPr>
        <p:grpSpPr bwMode="auto">
          <a:xfrm>
            <a:off x="41722" y="6645423"/>
            <a:ext cx="9045575" cy="142875"/>
            <a:chOff x="76199" y="1241003"/>
            <a:chExt cx="9044401" cy="144000"/>
          </a:xfrm>
        </p:grpSpPr>
        <p:sp>
          <p:nvSpPr>
            <p:cNvPr id="8" name="圆角矩形 11">
              <a:extLst>
                <a:ext uri="{FF2B5EF4-FFF2-40B4-BE49-F238E27FC236}">
                  <a16:creationId xmlns:a16="http://schemas.microsoft.com/office/drawing/2014/main" id="{206B57DE-B2E2-477E-A47F-DA530482154A}"/>
                </a:ext>
              </a:extLst>
            </p:cNvPr>
            <p:cNvSpPr/>
            <p:nvPr/>
          </p:nvSpPr>
          <p:spPr>
            <a:xfrm>
              <a:off x="76199" y="1241003"/>
              <a:ext cx="1487294" cy="144000"/>
            </a:xfrm>
            <a:prstGeom prst="roundRect">
              <a:avLst>
                <a:gd name="adj" fmla="val 0"/>
              </a:avLst>
            </a:prstGeom>
            <a:solidFill>
              <a:srgbClr val="C83C0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9" name="圆角矩形 12">
              <a:extLst>
                <a:ext uri="{FF2B5EF4-FFF2-40B4-BE49-F238E27FC236}">
                  <a16:creationId xmlns:a16="http://schemas.microsoft.com/office/drawing/2014/main" id="{38C3280C-D608-4B4D-8279-5808A7C72777}"/>
                </a:ext>
              </a:extLst>
            </p:cNvPr>
            <p:cNvSpPr/>
            <p:nvPr/>
          </p:nvSpPr>
          <p:spPr>
            <a:xfrm>
              <a:off x="1630159" y="1241003"/>
              <a:ext cx="3103160" cy="144000"/>
            </a:xfrm>
            <a:prstGeom prst="roundRect">
              <a:avLst>
                <a:gd name="adj" fmla="val 0"/>
              </a:avLst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10" name="圆角矩形 13">
              <a:extLst>
                <a:ext uri="{FF2B5EF4-FFF2-40B4-BE49-F238E27FC236}">
                  <a16:creationId xmlns:a16="http://schemas.microsoft.com/office/drawing/2014/main" id="{43328620-830D-498B-AD47-8DBB81A79D3F}"/>
                </a:ext>
              </a:extLst>
            </p:cNvPr>
            <p:cNvSpPr/>
            <p:nvPr/>
          </p:nvSpPr>
          <p:spPr>
            <a:xfrm>
              <a:off x="4799986" y="1241003"/>
              <a:ext cx="4320614" cy="144000"/>
            </a:xfrm>
            <a:prstGeom prst="roundRect">
              <a:avLst>
                <a:gd name="adj" fmla="val 0"/>
              </a:avLst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</p:grpSp>
      <p:pic>
        <p:nvPicPr>
          <p:cNvPr id="11" name="图片 3">
            <a:extLst>
              <a:ext uri="{FF2B5EF4-FFF2-40B4-BE49-F238E27FC236}">
                <a16:creationId xmlns:a16="http://schemas.microsoft.com/office/drawing/2014/main" id="{B0C51A74-65A9-4F9C-9DAC-5C9B5FEFDC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9563" y="0"/>
            <a:ext cx="776287" cy="981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页脚占位符 2">
            <a:extLst>
              <a:ext uri="{FF2B5EF4-FFF2-40B4-BE49-F238E27FC236}">
                <a16:creationId xmlns:a16="http://schemas.microsoft.com/office/drawing/2014/main" id="{AC46ADAA-5CE7-436F-BDC5-5BE32504D7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06671" y="6174558"/>
            <a:ext cx="442918" cy="396090"/>
          </a:xfrm>
        </p:spPr>
        <p:txBody>
          <a:bodyPr/>
          <a:lstStyle/>
          <a:p>
            <a:r>
              <a:rPr lang="en-US" altLang="zh-CN"/>
              <a:t>2</a:t>
            </a:r>
            <a:endParaRPr lang="zh-CN" altLang="en-US" dirty="0"/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DBE675BB-162D-4CCA-94D2-B314C0C6F644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41722" y="6645423"/>
            <a:ext cx="9045575" cy="142875"/>
            <a:chOff x="76199" y="1241003"/>
            <a:chExt cx="9044401" cy="144000"/>
          </a:xfrm>
        </p:grpSpPr>
        <p:sp>
          <p:nvSpPr>
            <p:cNvPr id="13" name="圆角矩形 11">
              <a:extLst>
                <a:ext uri="{FF2B5EF4-FFF2-40B4-BE49-F238E27FC236}">
                  <a16:creationId xmlns:a16="http://schemas.microsoft.com/office/drawing/2014/main" id="{8497BCD2-D048-4CC6-AA21-D749E9E85DCE}"/>
                </a:ext>
              </a:extLst>
            </p:cNvPr>
            <p:cNvSpPr/>
            <p:nvPr/>
          </p:nvSpPr>
          <p:spPr>
            <a:xfrm>
              <a:off x="76199" y="1241003"/>
              <a:ext cx="1487294" cy="144000"/>
            </a:xfrm>
            <a:prstGeom prst="roundRect">
              <a:avLst>
                <a:gd name="adj" fmla="val 0"/>
              </a:avLst>
            </a:prstGeom>
            <a:solidFill>
              <a:srgbClr val="C83C0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14" name="圆角矩形 12">
              <a:extLst>
                <a:ext uri="{FF2B5EF4-FFF2-40B4-BE49-F238E27FC236}">
                  <a16:creationId xmlns:a16="http://schemas.microsoft.com/office/drawing/2014/main" id="{9C83145A-9A38-4389-BA55-B2DC124C7CCE}"/>
                </a:ext>
              </a:extLst>
            </p:cNvPr>
            <p:cNvSpPr/>
            <p:nvPr/>
          </p:nvSpPr>
          <p:spPr>
            <a:xfrm>
              <a:off x="1630159" y="1241003"/>
              <a:ext cx="3103160" cy="144000"/>
            </a:xfrm>
            <a:prstGeom prst="roundRect">
              <a:avLst>
                <a:gd name="adj" fmla="val 0"/>
              </a:avLst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15" name="圆角矩形 13">
              <a:extLst>
                <a:ext uri="{FF2B5EF4-FFF2-40B4-BE49-F238E27FC236}">
                  <a16:creationId xmlns:a16="http://schemas.microsoft.com/office/drawing/2014/main" id="{5F30C916-99CD-41F6-B9F5-44A06301974D}"/>
                </a:ext>
              </a:extLst>
            </p:cNvPr>
            <p:cNvSpPr/>
            <p:nvPr/>
          </p:nvSpPr>
          <p:spPr>
            <a:xfrm>
              <a:off x="4799986" y="1241003"/>
              <a:ext cx="4320614" cy="144000"/>
            </a:xfrm>
            <a:prstGeom prst="roundRect">
              <a:avLst>
                <a:gd name="adj" fmla="val 0"/>
              </a:avLst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</p:grpSp>
      <p:pic>
        <p:nvPicPr>
          <p:cNvPr id="16" name="图片 3">
            <a:extLst>
              <a:ext uri="{FF2B5EF4-FFF2-40B4-BE49-F238E27FC236}">
                <a16:creationId xmlns:a16="http://schemas.microsoft.com/office/drawing/2014/main" id="{408ADF0C-ACC1-4673-9FB1-66E00A81977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9563" y="0"/>
            <a:ext cx="776287" cy="981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265398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6473A-FAF4-414C-9522-3C4BCFE2B2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4116" y="3100647"/>
            <a:ext cx="7886700" cy="867940"/>
          </a:xfrm>
        </p:spPr>
        <p:txBody>
          <a:bodyPr anchor="b"/>
          <a:lstStyle>
            <a:lvl1pPr>
              <a:defRPr sz="4500">
                <a:latin typeface="Arial Unicode MS" pitchFamily="34" charset="-122"/>
                <a:ea typeface="Arial Unicode MS" pitchFamily="34" charset="-122"/>
                <a:cs typeface="Arial Unicode MS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7" name="圆角矩形 5">
            <a:extLst>
              <a:ext uri="{FF2B5EF4-FFF2-40B4-BE49-F238E27FC236}">
                <a16:creationId xmlns:a16="http://schemas.microsoft.com/office/drawing/2014/main" id="{3BD87344-C6CA-4F87-9448-0B8B7FAF9E1B}"/>
              </a:ext>
            </a:extLst>
          </p:cNvPr>
          <p:cNvSpPr/>
          <p:nvPr userDrawn="1"/>
        </p:nvSpPr>
        <p:spPr>
          <a:xfrm>
            <a:off x="0" y="4044001"/>
            <a:ext cx="952500" cy="144000"/>
          </a:xfrm>
          <a:prstGeom prst="roundRect">
            <a:avLst>
              <a:gd name="adj" fmla="val 0"/>
            </a:avLst>
          </a:prstGeom>
          <a:solidFill>
            <a:srgbClr val="C83C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8" name="圆角矩形 6">
            <a:extLst>
              <a:ext uri="{FF2B5EF4-FFF2-40B4-BE49-F238E27FC236}">
                <a16:creationId xmlns:a16="http://schemas.microsoft.com/office/drawing/2014/main" id="{6DA4B6E9-D6DC-4952-865A-DA8EE6DB8245}"/>
              </a:ext>
            </a:extLst>
          </p:cNvPr>
          <p:cNvSpPr/>
          <p:nvPr userDrawn="1"/>
        </p:nvSpPr>
        <p:spPr>
          <a:xfrm>
            <a:off x="1014116" y="4044001"/>
            <a:ext cx="3643609" cy="144002"/>
          </a:xfrm>
          <a:prstGeom prst="roundRect">
            <a:avLst>
              <a:gd name="adj" fmla="val 0"/>
            </a:avLst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9" name="圆角矩形 7">
            <a:extLst>
              <a:ext uri="{FF2B5EF4-FFF2-40B4-BE49-F238E27FC236}">
                <a16:creationId xmlns:a16="http://schemas.microsoft.com/office/drawing/2014/main" id="{F7595CA0-CBC9-4927-B9FF-0B4BA5FB62ED}"/>
              </a:ext>
            </a:extLst>
          </p:cNvPr>
          <p:cNvSpPr/>
          <p:nvPr userDrawn="1"/>
        </p:nvSpPr>
        <p:spPr>
          <a:xfrm>
            <a:off x="4724400" y="4044001"/>
            <a:ext cx="4320000" cy="144000"/>
          </a:xfrm>
          <a:prstGeom prst="roundRect">
            <a:avLst>
              <a:gd name="adj" fmla="val 0"/>
            </a:avLst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101387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A232448-0BA2-40E5-A2C0-FE19F5B0EF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C981BA7-2F47-4ADB-915A-3DEA803B6C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AE45C7A-E3DB-493E-9698-B006439AB3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CA42E52-6363-4A26-9F01-A62CE34E16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1AB40-DF97-4AB0-B63B-B6C2904246EB}" type="datetimeFigureOut">
              <a:rPr lang="zh-CN" altLang="en-US" smtClean="0"/>
              <a:pPr/>
              <a:t>2022/10/29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65B047E-2EC3-4418-B2C1-A69A897003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5C945B0-B70D-4BF6-A6CF-ED8DAA8C89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F7FCF2-ED42-42D8-A15C-15AF5C91DC5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696798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2E450FD-26B7-480D-8261-CD4C51DD80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464C6F2-EDC6-4263-A281-7872A6E3CF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CD5D4B2-383D-449C-8900-FB1B3EB93C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87ABC02C-F6DC-4DAF-938D-195593E621D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BA408A11-7060-4D85-B243-5DD96555666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DDFAAD3C-B42A-47A7-B768-611AFC7BEB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1AB40-DF97-4AB0-B63B-B6C2904246EB}" type="datetimeFigureOut">
              <a:rPr lang="zh-CN" altLang="en-US" smtClean="0"/>
              <a:pPr/>
              <a:t>2022/10/29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F1B5FF39-DD9B-4C57-A344-275219341F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27BEA18A-253C-40CA-A957-3BA37B7A19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F7FCF2-ED42-42D8-A15C-15AF5C91DC5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3929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175BCCD-B3FE-4D64-9C90-CF64C82B18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A1C5B8F4-1CBB-4613-A7A2-350FF2B86D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1AB40-DF97-4AB0-B63B-B6C2904246EB}" type="datetimeFigureOut">
              <a:rPr lang="zh-CN" altLang="en-US" smtClean="0"/>
              <a:pPr/>
              <a:t>2022/10/29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7B22DBA-ADB6-459C-8DDD-B1702C76D8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D426E1B-8DFB-40A0-B0EA-1E9256D1BC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F7FCF2-ED42-42D8-A15C-15AF5C91DC5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361224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2189721-9F85-4C93-AF25-890CD11FA4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1AB40-DF97-4AB0-B63B-B6C2904246EB}" type="datetimeFigureOut">
              <a:rPr lang="zh-CN" altLang="en-US" smtClean="0"/>
              <a:pPr/>
              <a:t>2022/10/29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BE57016C-A313-4228-8D34-FC5C12BCC3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0EAED29-461C-427E-94B8-4F64E97E05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F7FCF2-ED42-42D8-A15C-15AF5C91DC5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8515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0F51D1-5EA7-4401-99BA-1EC037C494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4CF08B5-D317-4883-94CE-FAEEE05A6E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86986A2-D743-430F-AA70-9B06B2C0F6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8817CAD-5352-4EAF-B2E4-2B49B31E3E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1AB40-DF97-4AB0-B63B-B6C2904246EB}" type="datetimeFigureOut">
              <a:rPr lang="zh-CN" altLang="en-US" smtClean="0"/>
              <a:pPr/>
              <a:t>2022/10/29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1068CC4-251C-4854-9963-7DDB0C8959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CB0C261-FF00-4B26-B51E-6D72F06040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F7FCF2-ED42-42D8-A15C-15AF5C91DC5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44146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9CCB7F6-3B15-4872-B555-7F1565B905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CBFA923F-001E-4E54-AE2E-D70CAC715EB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CN" altLang="en-US"/>
              <a:t>单击图标添加图片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8120E55-EACB-4D2C-973C-7AE05E5625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C155047-D836-41BF-B4EC-6E058AC142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1AB40-DF97-4AB0-B63B-B6C2904246EB}" type="datetimeFigureOut">
              <a:rPr lang="zh-CN" altLang="en-US" smtClean="0"/>
              <a:pPr/>
              <a:t>2022/10/29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BEDD3A4-3A50-440F-A891-A798B3A6C1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17A6A10-432E-4945-AF1E-64FDF90A26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F7FCF2-ED42-42D8-A15C-15AF5C91DC5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448997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2116CF1-CD97-4DBA-A96F-F883552B4F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399B747-8D5C-4895-A7EC-E7332E48E2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87135EC-C807-4A0E-90F1-EE1D3601DE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1AB40-DF97-4AB0-B63B-B6C2904246EB}" type="datetimeFigureOut">
              <a:rPr lang="zh-CN" altLang="en-US" smtClean="0"/>
              <a:pPr/>
              <a:t>2022/10/29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AD0FB47-2483-4992-8D35-B58CEC00DF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7555DE4-AE2F-40B7-AF19-7220940C11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F7FCF2-ED42-42D8-A15C-15AF5C91DC5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322206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F20F266B-DA68-452A-BFC2-0DBF1351710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DC26948-9D79-4503-B7E8-FB720785EE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6763795-09C4-4CE3-967D-39D8EED2D3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1AB40-DF97-4AB0-B63B-B6C2904246EB}" type="datetimeFigureOut">
              <a:rPr lang="zh-CN" altLang="en-US" smtClean="0"/>
              <a:pPr/>
              <a:t>2022/10/29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292961E-4D31-4C00-8456-DA422BEC94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A04869D-578E-442B-AC17-5E714BDBD4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F7FCF2-ED42-42D8-A15C-15AF5C91DC5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99983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9">
            <a:extLst>
              <a:ext uri="{FF2B5EF4-FFF2-40B4-BE49-F238E27FC236}">
                <a16:creationId xmlns:a16="http://schemas.microsoft.com/office/drawing/2014/main" id="{36484A2C-39A1-4BDC-B92B-AF52D58B0F5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363" y="5035550"/>
            <a:ext cx="1143000" cy="1441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8" name="组合 11">
            <a:extLst>
              <a:ext uri="{FF2B5EF4-FFF2-40B4-BE49-F238E27FC236}">
                <a16:creationId xmlns:a16="http://schemas.microsoft.com/office/drawing/2014/main" id="{56818F0A-1B6A-44A9-9717-55DA1C8C1ED4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0" y="4741863"/>
            <a:ext cx="9043988" cy="142875"/>
            <a:chOff x="76199" y="1241003"/>
            <a:chExt cx="9044401" cy="144000"/>
          </a:xfrm>
        </p:grpSpPr>
        <p:sp>
          <p:nvSpPr>
            <p:cNvPr id="9" name="圆角矩形 11">
              <a:extLst>
                <a:ext uri="{FF2B5EF4-FFF2-40B4-BE49-F238E27FC236}">
                  <a16:creationId xmlns:a16="http://schemas.microsoft.com/office/drawing/2014/main" id="{2658448A-EA7B-40C8-99E5-5CDD7E4A2B5E}"/>
                </a:ext>
              </a:extLst>
            </p:cNvPr>
            <p:cNvSpPr/>
            <p:nvPr/>
          </p:nvSpPr>
          <p:spPr>
            <a:xfrm>
              <a:off x="76199" y="1241003"/>
              <a:ext cx="1487556" cy="144000"/>
            </a:xfrm>
            <a:prstGeom prst="roundRect">
              <a:avLst>
                <a:gd name="adj" fmla="val 0"/>
              </a:avLst>
            </a:prstGeom>
            <a:solidFill>
              <a:srgbClr val="C83C0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10" name="圆角矩形 12">
              <a:extLst>
                <a:ext uri="{FF2B5EF4-FFF2-40B4-BE49-F238E27FC236}">
                  <a16:creationId xmlns:a16="http://schemas.microsoft.com/office/drawing/2014/main" id="{0F1BA9DE-48A6-4320-A3CB-CA0618F88CA6}"/>
                </a:ext>
              </a:extLst>
            </p:cNvPr>
            <p:cNvSpPr/>
            <p:nvPr/>
          </p:nvSpPr>
          <p:spPr>
            <a:xfrm>
              <a:off x="1630433" y="1241003"/>
              <a:ext cx="3103704" cy="144000"/>
            </a:xfrm>
            <a:prstGeom prst="roundRect">
              <a:avLst>
                <a:gd name="adj" fmla="val 0"/>
              </a:avLst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11" name="圆角矩形 13">
              <a:extLst>
                <a:ext uri="{FF2B5EF4-FFF2-40B4-BE49-F238E27FC236}">
                  <a16:creationId xmlns:a16="http://schemas.microsoft.com/office/drawing/2014/main" id="{95532181-9B56-4565-85B0-26FAE243974A}"/>
                </a:ext>
              </a:extLst>
            </p:cNvPr>
            <p:cNvSpPr/>
            <p:nvPr/>
          </p:nvSpPr>
          <p:spPr>
            <a:xfrm>
              <a:off x="4800815" y="1241003"/>
              <a:ext cx="4319785" cy="144000"/>
            </a:xfrm>
            <a:prstGeom prst="roundRect">
              <a:avLst>
                <a:gd name="adj" fmla="val 0"/>
              </a:avLst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</p:grpSp>
      <p:pic>
        <p:nvPicPr>
          <p:cNvPr id="12" name="图片 18">
            <a:extLst>
              <a:ext uri="{FF2B5EF4-FFF2-40B4-BE49-F238E27FC236}">
                <a16:creationId xmlns:a16="http://schemas.microsoft.com/office/drawing/2014/main" id="{C6EF10A3-5E14-4AC4-BEC5-788C4A6ABF7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4400" y="5035550"/>
            <a:ext cx="4313238" cy="1441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图片 20">
            <a:extLst>
              <a:ext uri="{FF2B5EF4-FFF2-40B4-BE49-F238E27FC236}">
                <a16:creationId xmlns:a16="http://schemas.microsoft.com/office/drawing/2014/main" id="{E5368EC2-A439-426F-9848-8912DFFAC14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4325" y="5035550"/>
            <a:ext cx="3019425" cy="1436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" name="图片 3">
            <a:extLst>
              <a:ext uri="{FF2B5EF4-FFF2-40B4-BE49-F238E27FC236}">
                <a16:creationId xmlns:a16="http://schemas.microsoft.com/office/drawing/2014/main" id="{DB79EDD7-2DA9-41B8-BF25-43496C709607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2" t="5525" r="8671" b="8884"/>
          <a:stretch/>
        </p:blipFill>
        <p:spPr bwMode="auto">
          <a:xfrm>
            <a:off x="106362" y="56707"/>
            <a:ext cx="4366401" cy="1013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6211987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>
            <a:extLst>
              <a:ext uri="{FF2B5EF4-FFF2-40B4-BE49-F238E27FC236}">
                <a16:creationId xmlns:a16="http://schemas.microsoft.com/office/drawing/2014/main" id="{23551FB5-644E-4958-A980-4C6B4A9B56E7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41722" y="6645423"/>
            <a:ext cx="9045575" cy="142875"/>
            <a:chOff x="76199" y="1241003"/>
            <a:chExt cx="9044401" cy="144000"/>
          </a:xfrm>
        </p:grpSpPr>
        <p:sp>
          <p:nvSpPr>
            <p:cNvPr id="8" name="圆角矩形 11">
              <a:extLst>
                <a:ext uri="{FF2B5EF4-FFF2-40B4-BE49-F238E27FC236}">
                  <a16:creationId xmlns:a16="http://schemas.microsoft.com/office/drawing/2014/main" id="{206B57DE-B2E2-477E-A47F-DA530482154A}"/>
                </a:ext>
              </a:extLst>
            </p:cNvPr>
            <p:cNvSpPr/>
            <p:nvPr/>
          </p:nvSpPr>
          <p:spPr>
            <a:xfrm>
              <a:off x="76199" y="1241003"/>
              <a:ext cx="1487294" cy="144000"/>
            </a:xfrm>
            <a:prstGeom prst="roundRect">
              <a:avLst>
                <a:gd name="adj" fmla="val 0"/>
              </a:avLst>
            </a:prstGeom>
            <a:solidFill>
              <a:srgbClr val="C83C0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9" name="圆角矩形 12">
              <a:extLst>
                <a:ext uri="{FF2B5EF4-FFF2-40B4-BE49-F238E27FC236}">
                  <a16:creationId xmlns:a16="http://schemas.microsoft.com/office/drawing/2014/main" id="{38C3280C-D608-4B4D-8279-5808A7C72777}"/>
                </a:ext>
              </a:extLst>
            </p:cNvPr>
            <p:cNvSpPr/>
            <p:nvPr/>
          </p:nvSpPr>
          <p:spPr>
            <a:xfrm>
              <a:off x="1630159" y="1241003"/>
              <a:ext cx="3103160" cy="144000"/>
            </a:xfrm>
            <a:prstGeom prst="roundRect">
              <a:avLst>
                <a:gd name="adj" fmla="val 0"/>
              </a:avLst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10" name="圆角矩形 13">
              <a:extLst>
                <a:ext uri="{FF2B5EF4-FFF2-40B4-BE49-F238E27FC236}">
                  <a16:creationId xmlns:a16="http://schemas.microsoft.com/office/drawing/2014/main" id="{43328620-830D-498B-AD47-8DBB81A79D3F}"/>
                </a:ext>
              </a:extLst>
            </p:cNvPr>
            <p:cNvSpPr/>
            <p:nvPr/>
          </p:nvSpPr>
          <p:spPr>
            <a:xfrm>
              <a:off x="4799986" y="1241003"/>
              <a:ext cx="4320614" cy="144000"/>
            </a:xfrm>
            <a:prstGeom prst="roundRect">
              <a:avLst>
                <a:gd name="adj" fmla="val 0"/>
              </a:avLst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</p:grpSp>
      <p:pic>
        <p:nvPicPr>
          <p:cNvPr id="11" name="图片 3">
            <a:extLst>
              <a:ext uri="{FF2B5EF4-FFF2-40B4-BE49-F238E27FC236}">
                <a16:creationId xmlns:a16="http://schemas.microsoft.com/office/drawing/2014/main" id="{B0C51A74-65A9-4F9C-9DAC-5C9B5FEFDC4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9563" y="0"/>
            <a:ext cx="776287" cy="981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页脚占位符 2">
            <a:extLst>
              <a:ext uri="{FF2B5EF4-FFF2-40B4-BE49-F238E27FC236}">
                <a16:creationId xmlns:a16="http://schemas.microsoft.com/office/drawing/2014/main" id="{AC46ADAA-5CE7-436F-BDC5-5BE32504D7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06671" y="6174558"/>
            <a:ext cx="442918" cy="396090"/>
          </a:xfrm>
        </p:spPr>
        <p:txBody>
          <a:bodyPr/>
          <a:lstStyle/>
          <a:p>
            <a:r>
              <a:rPr lang="en-US" altLang="zh-CN" dirty="0"/>
              <a:t>2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4759440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0696178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23"/>
          <p:cNvGrpSpPr>
            <a:grpSpLocks/>
          </p:cNvGrpSpPr>
          <p:nvPr userDrawn="1"/>
        </p:nvGrpSpPr>
        <p:grpSpPr bwMode="auto">
          <a:xfrm>
            <a:off x="371475" y="-190500"/>
            <a:ext cx="1230313" cy="1358900"/>
            <a:chOff x="371610" y="-231341"/>
            <a:chExt cx="1230631" cy="1358900"/>
          </a:xfrm>
        </p:grpSpPr>
        <p:sp>
          <p:nvSpPr>
            <p:cNvPr id="7" name="同侧圆角矩形 6"/>
            <p:cNvSpPr/>
            <p:nvPr/>
          </p:nvSpPr>
          <p:spPr>
            <a:xfrm flipV="1">
              <a:off x="627264" y="-36078"/>
              <a:ext cx="719323" cy="968375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EE813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1465">
                <a:solidFill>
                  <a:prstClr val="white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8" name="同侧圆角矩形 7"/>
            <p:cNvSpPr/>
            <p:nvPr/>
          </p:nvSpPr>
          <p:spPr>
            <a:xfrm flipV="1">
              <a:off x="627264" y="-36078"/>
              <a:ext cx="719323" cy="968375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EE813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1465">
                <a:solidFill>
                  <a:prstClr val="white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pic>
          <p:nvPicPr>
            <p:cNvPr id="9" name="图片 29" descr="logo（背景透明）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71610" y="-231341"/>
              <a:ext cx="1230631" cy="13589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10" name="组合 7"/>
          <p:cNvGrpSpPr>
            <a:grpSpLocks/>
          </p:cNvGrpSpPr>
          <p:nvPr userDrawn="1"/>
        </p:nvGrpSpPr>
        <p:grpSpPr bwMode="auto">
          <a:xfrm>
            <a:off x="76200" y="2151063"/>
            <a:ext cx="9043988" cy="381000"/>
            <a:chOff x="76200" y="2151457"/>
            <a:chExt cx="9043988" cy="381000"/>
          </a:xfrm>
        </p:grpSpPr>
        <p:sp>
          <p:nvSpPr>
            <p:cNvPr id="11" name="圆角矩形 10"/>
            <p:cNvSpPr/>
            <p:nvPr/>
          </p:nvSpPr>
          <p:spPr>
            <a:xfrm>
              <a:off x="76200" y="2294332"/>
              <a:ext cx="1676400" cy="144462"/>
            </a:xfrm>
            <a:prstGeom prst="roundRect">
              <a:avLst>
                <a:gd name="adj" fmla="val 0"/>
              </a:avLst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>
                <a:solidFill>
                  <a:prstClr val="white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2" name="圆角矩形 11"/>
            <p:cNvSpPr/>
            <p:nvPr/>
          </p:nvSpPr>
          <p:spPr>
            <a:xfrm>
              <a:off x="1524000" y="2294332"/>
              <a:ext cx="3200400" cy="144462"/>
            </a:xfrm>
            <a:prstGeom prst="roundRect">
              <a:avLst>
                <a:gd name="adj" fmla="val 0"/>
              </a:avLst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>
                <a:solidFill>
                  <a:prstClr val="white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3" name="圆角矩形 12"/>
            <p:cNvSpPr/>
            <p:nvPr/>
          </p:nvSpPr>
          <p:spPr>
            <a:xfrm>
              <a:off x="4800600" y="2294332"/>
              <a:ext cx="4319588" cy="144462"/>
            </a:xfrm>
            <a:prstGeom prst="roundRect">
              <a:avLst>
                <a:gd name="adj" fmla="val 0"/>
              </a:avLst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>
                <a:solidFill>
                  <a:prstClr val="white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4" name="圆角矩形 13"/>
            <p:cNvSpPr/>
            <p:nvPr/>
          </p:nvSpPr>
          <p:spPr>
            <a:xfrm rot="1383523">
              <a:off x="1417638" y="2151457"/>
              <a:ext cx="215900" cy="381000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5" name="圆角矩形 14"/>
            <p:cNvSpPr/>
            <p:nvPr/>
          </p:nvSpPr>
          <p:spPr>
            <a:xfrm rot="1383523">
              <a:off x="4616450" y="2151457"/>
              <a:ext cx="215900" cy="381000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pic>
        <p:nvPicPr>
          <p:cNvPr id="16" name="Picture 7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253" b="10274"/>
          <a:stretch>
            <a:fillRect/>
          </a:stretch>
        </p:blipFill>
        <p:spPr bwMode="auto">
          <a:xfrm>
            <a:off x="157163" y="5467350"/>
            <a:ext cx="1957387" cy="1260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7" name="Picture 3"/>
          <p:cNvPicPr>
            <a:picLocks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81225" y="5478463"/>
            <a:ext cx="2124075" cy="12620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8" name="Picture 4"/>
          <p:cNvPicPr>
            <a:picLocks noChangeArrowheads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84675" y="5478463"/>
            <a:ext cx="2390775" cy="12620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9" name="Picture 2"/>
          <p:cNvPicPr>
            <a:picLocks noChangeAspect="1" noChangeArrowheads="1"/>
          </p:cNvPicPr>
          <p:nvPr userDrawn="1"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1245"/>
          <a:stretch/>
        </p:blipFill>
        <p:spPr bwMode="auto">
          <a:xfrm>
            <a:off x="6846888" y="5467351"/>
            <a:ext cx="2220912" cy="12731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" name="Picture 3"/>
          <p:cNvPicPr>
            <a:picLocks noChangeAspect="1" noChangeArrowheads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37463" y="4702719"/>
            <a:ext cx="1506537" cy="844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1" name="TextBox 2"/>
          <p:cNvSpPr txBox="1">
            <a:spLocks noChangeArrowheads="1"/>
          </p:cNvSpPr>
          <p:nvPr userDrawn="1"/>
        </p:nvSpPr>
        <p:spPr bwMode="auto">
          <a:xfrm>
            <a:off x="8172400" y="5165911"/>
            <a:ext cx="7810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 altLang="zh-CN" sz="900" b="0" baseline="0" dirty="0">
                <a:latin typeface="黑体" panose="02010609060101010101" pitchFamily="49" charset="-122"/>
                <a:ea typeface="黑体" panose="02010609060101010101" pitchFamily="49" charset="-122"/>
              </a:rPr>
              <a:t>Since 2016</a:t>
            </a:r>
            <a:endParaRPr lang="zh-CN" altLang="en-US" sz="900" b="0" baseline="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6293418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0" y="6526213"/>
            <a:ext cx="67945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3" name="组合 7"/>
          <p:cNvGrpSpPr>
            <a:grpSpLocks/>
          </p:cNvGrpSpPr>
          <p:nvPr userDrawn="1"/>
        </p:nvGrpSpPr>
        <p:grpSpPr bwMode="auto">
          <a:xfrm>
            <a:off x="73025" y="6643688"/>
            <a:ext cx="8150225" cy="144462"/>
            <a:chOff x="76199" y="2293938"/>
            <a:chExt cx="9043989" cy="144462"/>
          </a:xfrm>
        </p:grpSpPr>
        <p:sp>
          <p:nvSpPr>
            <p:cNvPr id="4" name="圆角矩形 3"/>
            <p:cNvSpPr/>
            <p:nvPr/>
          </p:nvSpPr>
          <p:spPr>
            <a:xfrm>
              <a:off x="76199" y="2293938"/>
              <a:ext cx="1250727" cy="144462"/>
            </a:xfrm>
            <a:prstGeom prst="roundRect">
              <a:avLst>
                <a:gd name="adj" fmla="val 0"/>
              </a:avLst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5" name="圆角矩形 4"/>
            <p:cNvSpPr/>
            <p:nvPr/>
          </p:nvSpPr>
          <p:spPr>
            <a:xfrm>
              <a:off x="1415005" y="2293938"/>
              <a:ext cx="3310023" cy="144462"/>
            </a:xfrm>
            <a:prstGeom prst="roundRect">
              <a:avLst>
                <a:gd name="adj" fmla="val 0"/>
              </a:avLst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6" name="圆角矩形 5"/>
            <p:cNvSpPr/>
            <p:nvPr/>
          </p:nvSpPr>
          <p:spPr>
            <a:xfrm>
              <a:off x="4800776" y="2293938"/>
              <a:ext cx="4319412" cy="144462"/>
            </a:xfrm>
            <a:prstGeom prst="roundRect">
              <a:avLst>
                <a:gd name="adj" fmla="val 0"/>
              </a:avLst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>
                <a:solidFill>
                  <a:prstClr val="white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510060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68B20F97-D093-4167-88EF-C188D3B8D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B78C6B4-EDBC-4C7B-80E2-2A36D8872A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AB1772D-D631-4D4E-BF62-42EF4690EB9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B1AB40-DF97-4AB0-B63B-B6C2904246EB}" type="datetimeFigureOut">
              <a:rPr lang="zh-CN" altLang="en-US" smtClean="0"/>
              <a:pPr/>
              <a:t>2022/10/29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3AFB56B-864D-497D-8AE9-5E092905F7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832445E-5DFA-480A-96AF-CCD8859EA9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F7FCF2-ED42-42D8-A15C-15AF5C91DC5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823421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6" r:id="rId1"/>
    <p:sldLayoutId id="2147483747" r:id="rId2"/>
    <p:sldLayoutId id="2147483748" r:id="rId3"/>
    <p:sldLayoutId id="2147483749" r:id="rId4"/>
    <p:sldLayoutId id="2147483750" r:id="rId5"/>
    <p:sldLayoutId id="2147483751" r:id="rId6"/>
    <p:sldLayoutId id="2147483752" r:id="rId7"/>
    <p:sldLayoutId id="2147483753" r:id="rId8"/>
    <p:sldLayoutId id="2147483754" r:id="rId9"/>
    <p:sldLayoutId id="2147483755" r:id="rId10"/>
    <p:sldLayoutId id="2147483756" r:id="rId11"/>
    <p:sldLayoutId id="2147483733" r:id="rId12"/>
    <p:sldLayoutId id="2147483734" r:id="rId13"/>
    <p:sldLayoutId id="2147483758" r:id="rId14"/>
    <p:sldLayoutId id="2147483759" r:id="rId15"/>
    <p:sldLayoutId id="2147483760" r:id="rId16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hyperlink" Target="https://en.wikipedia.org/wiki/Willard_Gibbs" TargetMode="External"/><Relationship Id="rId1" Type="http://schemas.openxmlformats.org/officeDocument/2006/relationships/slideLayout" Target="../slideLayouts/slideLayout16.xml"/><Relationship Id="rId4" Type="http://schemas.openxmlformats.org/officeDocument/2006/relationships/hyperlink" Target="https://en.wikipedia.org/wiki/System" TargetMode="Externa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13" Type="http://schemas.openxmlformats.org/officeDocument/2006/relationships/image" Target="../media/image18.wmf"/><Relationship Id="rId18" Type="http://schemas.openxmlformats.org/officeDocument/2006/relationships/oleObject" Target="../embeddings/oleObject8.bin"/><Relationship Id="rId26" Type="http://schemas.openxmlformats.org/officeDocument/2006/relationships/oleObject" Target="../embeddings/oleObject12.bin"/><Relationship Id="rId3" Type="http://schemas.openxmlformats.org/officeDocument/2006/relationships/image" Target="../media/image14.wmf"/><Relationship Id="rId21" Type="http://schemas.openxmlformats.org/officeDocument/2006/relationships/image" Target="../media/image22.wmf"/><Relationship Id="rId7" Type="http://schemas.openxmlformats.org/officeDocument/2006/relationships/image" Target="../media/image16.wmf"/><Relationship Id="rId12" Type="http://schemas.openxmlformats.org/officeDocument/2006/relationships/oleObject" Target="../embeddings/oleObject5.bin"/><Relationship Id="rId17" Type="http://schemas.openxmlformats.org/officeDocument/2006/relationships/image" Target="../media/image20.wmf"/><Relationship Id="rId25" Type="http://schemas.openxmlformats.org/officeDocument/2006/relationships/image" Target="../media/image24.wmf"/><Relationship Id="rId2" Type="http://schemas.openxmlformats.org/officeDocument/2006/relationships/oleObject" Target="../embeddings/oleObject1.bin"/><Relationship Id="rId16" Type="http://schemas.openxmlformats.org/officeDocument/2006/relationships/oleObject" Target="../embeddings/oleObject7.bin"/><Relationship Id="rId20" Type="http://schemas.openxmlformats.org/officeDocument/2006/relationships/oleObject" Target="../embeddings/oleObject9.bin"/><Relationship Id="rId1" Type="http://schemas.openxmlformats.org/officeDocument/2006/relationships/slideLayout" Target="../slideLayouts/slideLayout16.xml"/><Relationship Id="rId6" Type="http://schemas.openxmlformats.org/officeDocument/2006/relationships/oleObject" Target="../embeddings/oleObject3.bin"/><Relationship Id="rId11" Type="http://schemas.openxmlformats.org/officeDocument/2006/relationships/image" Target="../media/image132.png"/><Relationship Id="rId24" Type="http://schemas.openxmlformats.org/officeDocument/2006/relationships/oleObject" Target="../embeddings/oleObject11.bin"/><Relationship Id="rId5" Type="http://schemas.openxmlformats.org/officeDocument/2006/relationships/image" Target="../media/image15.wmf"/><Relationship Id="rId15" Type="http://schemas.openxmlformats.org/officeDocument/2006/relationships/image" Target="../media/image19.wmf"/><Relationship Id="rId23" Type="http://schemas.openxmlformats.org/officeDocument/2006/relationships/image" Target="../media/image23.wmf"/><Relationship Id="rId28" Type="http://schemas.openxmlformats.org/officeDocument/2006/relationships/image" Target="../media/image66.png"/><Relationship Id="rId19" Type="http://schemas.openxmlformats.org/officeDocument/2006/relationships/image" Target="../media/image21.wmf"/><Relationship Id="rId4" Type="http://schemas.openxmlformats.org/officeDocument/2006/relationships/oleObject" Target="../embeddings/oleObject2.bin"/><Relationship Id="rId9" Type="http://schemas.openxmlformats.org/officeDocument/2006/relationships/image" Target="../media/image17.wmf"/><Relationship Id="rId14" Type="http://schemas.openxmlformats.org/officeDocument/2006/relationships/oleObject" Target="../embeddings/oleObject6.bin"/><Relationship Id="rId22" Type="http://schemas.openxmlformats.org/officeDocument/2006/relationships/oleObject" Target="../embeddings/oleObject10.bin"/><Relationship Id="rId27" Type="http://schemas.openxmlformats.org/officeDocument/2006/relationships/image" Target="../media/image25.w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jpeg"/><Relationship Id="rId3" Type="http://schemas.openxmlformats.org/officeDocument/2006/relationships/image" Target="../media/image26.wmf"/><Relationship Id="rId7" Type="http://schemas.openxmlformats.org/officeDocument/2006/relationships/image" Target="../media/image27.wmf"/><Relationship Id="rId2" Type="http://schemas.openxmlformats.org/officeDocument/2006/relationships/oleObject" Target="../embeddings/oleObject13.bin"/><Relationship Id="rId1" Type="http://schemas.openxmlformats.org/officeDocument/2006/relationships/slideLayout" Target="../slideLayouts/slideLayout16.xml"/><Relationship Id="rId6" Type="http://schemas.openxmlformats.org/officeDocument/2006/relationships/oleObject" Target="../embeddings/oleObject15.bin"/><Relationship Id="rId5" Type="http://schemas.openxmlformats.org/officeDocument/2006/relationships/image" Target="../media/image15.wmf"/><Relationship Id="rId4" Type="http://schemas.openxmlformats.org/officeDocument/2006/relationships/oleObject" Target="../embeddings/oleObject14.bin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emf"/><Relationship Id="rId7" Type="http://schemas.openxmlformats.org/officeDocument/2006/relationships/image" Target="../media/image15.wmf"/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16.xml"/><Relationship Id="rId6" Type="http://schemas.openxmlformats.org/officeDocument/2006/relationships/oleObject" Target="../embeddings/oleObject17.bin"/><Relationship Id="rId5" Type="http://schemas.openxmlformats.org/officeDocument/2006/relationships/image" Target="../media/image31.wmf"/><Relationship Id="rId4" Type="http://schemas.openxmlformats.org/officeDocument/2006/relationships/oleObject" Target="../embeddings/oleObject16.bin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3" Type="http://schemas.openxmlformats.org/officeDocument/2006/relationships/oleObject" Target="../embeddings/oleObject18.bin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33.wmf"/><Relationship Id="rId5" Type="http://schemas.openxmlformats.org/officeDocument/2006/relationships/oleObject" Target="../embeddings/oleObject19.bin"/><Relationship Id="rId4" Type="http://schemas.openxmlformats.org/officeDocument/2006/relationships/image" Target="../media/image32.wmf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3.bin"/><Relationship Id="rId3" Type="http://schemas.openxmlformats.org/officeDocument/2006/relationships/image" Target="../media/image34.wmf"/><Relationship Id="rId7" Type="http://schemas.openxmlformats.org/officeDocument/2006/relationships/image" Target="../media/image36.wmf"/><Relationship Id="rId2" Type="http://schemas.openxmlformats.org/officeDocument/2006/relationships/oleObject" Target="../embeddings/oleObject20.bin"/><Relationship Id="rId1" Type="http://schemas.openxmlformats.org/officeDocument/2006/relationships/slideLayout" Target="../slideLayouts/slideLayout16.xml"/><Relationship Id="rId6" Type="http://schemas.openxmlformats.org/officeDocument/2006/relationships/oleObject" Target="../embeddings/oleObject22.bin"/><Relationship Id="rId5" Type="http://schemas.openxmlformats.org/officeDocument/2006/relationships/image" Target="../media/image35.wmf"/><Relationship Id="rId4" Type="http://schemas.openxmlformats.org/officeDocument/2006/relationships/oleObject" Target="../embeddings/oleObject21.bin"/><Relationship Id="rId9" Type="http://schemas.openxmlformats.org/officeDocument/2006/relationships/image" Target="../media/image37.wmf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7.bin"/><Relationship Id="rId13" Type="http://schemas.openxmlformats.org/officeDocument/2006/relationships/image" Target="../media/image43.wmf"/><Relationship Id="rId3" Type="http://schemas.openxmlformats.org/officeDocument/2006/relationships/image" Target="../media/image38.wmf"/><Relationship Id="rId7" Type="http://schemas.openxmlformats.org/officeDocument/2006/relationships/image" Target="../media/image40.wmf"/><Relationship Id="rId12" Type="http://schemas.openxmlformats.org/officeDocument/2006/relationships/oleObject" Target="../embeddings/oleObject29.bin"/><Relationship Id="rId2" Type="http://schemas.openxmlformats.org/officeDocument/2006/relationships/oleObject" Target="../embeddings/oleObject24.bin"/><Relationship Id="rId1" Type="http://schemas.openxmlformats.org/officeDocument/2006/relationships/slideLayout" Target="../slideLayouts/slideLayout16.xml"/><Relationship Id="rId6" Type="http://schemas.openxmlformats.org/officeDocument/2006/relationships/oleObject" Target="../embeddings/oleObject26.bin"/><Relationship Id="rId11" Type="http://schemas.openxmlformats.org/officeDocument/2006/relationships/image" Target="../media/image42.wmf"/><Relationship Id="rId5" Type="http://schemas.openxmlformats.org/officeDocument/2006/relationships/image" Target="../media/image39.wmf"/><Relationship Id="rId15" Type="http://schemas.openxmlformats.org/officeDocument/2006/relationships/image" Target="../media/image44.wmf"/><Relationship Id="rId10" Type="http://schemas.openxmlformats.org/officeDocument/2006/relationships/oleObject" Target="../embeddings/oleObject28.bin"/><Relationship Id="rId4" Type="http://schemas.openxmlformats.org/officeDocument/2006/relationships/oleObject" Target="../embeddings/oleObject25.bin"/><Relationship Id="rId9" Type="http://schemas.openxmlformats.org/officeDocument/2006/relationships/image" Target="../media/image41.wmf"/><Relationship Id="rId14" Type="http://schemas.openxmlformats.org/officeDocument/2006/relationships/oleObject" Target="../embeddings/oleObject30.bin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46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4.bin"/><Relationship Id="rId13" Type="http://schemas.openxmlformats.org/officeDocument/2006/relationships/image" Target="../media/image53.jpeg"/><Relationship Id="rId3" Type="http://schemas.openxmlformats.org/officeDocument/2006/relationships/image" Target="../media/image47.wmf"/><Relationship Id="rId7" Type="http://schemas.openxmlformats.org/officeDocument/2006/relationships/image" Target="../media/image49.wmf"/><Relationship Id="rId12" Type="http://schemas.openxmlformats.org/officeDocument/2006/relationships/image" Target="../media/image52.jpeg"/><Relationship Id="rId2" Type="http://schemas.openxmlformats.org/officeDocument/2006/relationships/oleObject" Target="../embeddings/oleObject31.bin"/><Relationship Id="rId1" Type="http://schemas.openxmlformats.org/officeDocument/2006/relationships/slideLayout" Target="../slideLayouts/slideLayout16.xml"/><Relationship Id="rId6" Type="http://schemas.openxmlformats.org/officeDocument/2006/relationships/oleObject" Target="../embeddings/oleObject33.bin"/><Relationship Id="rId11" Type="http://schemas.openxmlformats.org/officeDocument/2006/relationships/image" Target="../media/image51.wmf"/><Relationship Id="rId5" Type="http://schemas.openxmlformats.org/officeDocument/2006/relationships/image" Target="../media/image48.wmf"/><Relationship Id="rId10" Type="http://schemas.openxmlformats.org/officeDocument/2006/relationships/oleObject" Target="../embeddings/oleObject35.bin"/><Relationship Id="rId4" Type="http://schemas.openxmlformats.org/officeDocument/2006/relationships/oleObject" Target="../embeddings/oleObject32.bin"/><Relationship Id="rId9" Type="http://schemas.openxmlformats.org/officeDocument/2006/relationships/image" Target="../media/image50.w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wmf"/><Relationship Id="rId2" Type="http://schemas.openxmlformats.org/officeDocument/2006/relationships/oleObject" Target="../embeddings/oleObject36.bin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55.jp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1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wmf"/><Relationship Id="rId7" Type="http://schemas.openxmlformats.org/officeDocument/2006/relationships/image" Target="../media/image60.wmf"/><Relationship Id="rId2" Type="http://schemas.openxmlformats.org/officeDocument/2006/relationships/oleObject" Target="../embeddings/oleObject37.bin"/><Relationship Id="rId1" Type="http://schemas.openxmlformats.org/officeDocument/2006/relationships/slideLayout" Target="../slideLayouts/slideLayout16.xml"/><Relationship Id="rId6" Type="http://schemas.openxmlformats.org/officeDocument/2006/relationships/oleObject" Target="../embeddings/oleObject39.bin"/><Relationship Id="rId5" Type="http://schemas.openxmlformats.org/officeDocument/2006/relationships/image" Target="../media/image59.wmf"/><Relationship Id="rId4" Type="http://schemas.openxmlformats.org/officeDocument/2006/relationships/oleObject" Target="../embeddings/oleObject38.bin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3.bin"/><Relationship Id="rId13" Type="http://schemas.openxmlformats.org/officeDocument/2006/relationships/image" Target="../media/image66.wmf"/><Relationship Id="rId3" Type="http://schemas.openxmlformats.org/officeDocument/2006/relationships/image" Target="../media/image61.wmf"/><Relationship Id="rId7" Type="http://schemas.openxmlformats.org/officeDocument/2006/relationships/image" Target="../media/image63.wmf"/><Relationship Id="rId12" Type="http://schemas.openxmlformats.org/officeDocument/2006/relationships/oleObject" Target="../embeddings/oleObject45.bin"/><Relationship Id="rId2" Type="http://schemas.openxmlformats.org/officeDocument/2006/relationships/oleObject" Target="../embeddings/oleObject40.bin"/><Relationship Id="rId1" Type="http://schemas.openxmlformats.org/officeDocument/2006/relationships/slideLayout" Target="../slideLayouts/slideLayout16.xml"/><Relationship Id="rId6" Type="http://schemas.openxmlformats.org/officeDocument/2006/relationships/oleObject" Target="../embeddings/oleObject42.bin"/><Relationship Id="rId11" Type="http://schemas.openxmlformats.org/officeDocument/2006/relationships/image" Target="../media/image65.wmf"/><Relationship Id="rId5" Type="http://schemas.openxmlformats.org/officeDocument/2006/relationships/image" Target="../media/image62.wmf"/><Relationship Id="rId10" Type="http://schemas.openxmlformats.org/officeDocument/2006/relationships/oleObject" Target="../embeddings/oleObject44.bin"/><Relationship Id="rId4" Type="http://schemas.openxmlformats.org/officeDocument/2006/relationships/oleObject" Target="../embeddings/oleObject41.bin"/><Relationship Id="rId9" Type="http://schemas.openxmlformats.org/officeDocument/2006/relationships/image" Target="../media/image64.wmf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1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16.xml"/><Relationship Id="rId5" Type="http://schemas.openxmlformats.org/officeDocument/2006/relationships/image" Target="../media/image71.png"/><Relationship Id="rId4" Type="http://schemas.openxmlformats.org/officeDocument/2006/relationships/image" Target="../media/image70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5.wmf"/><Relationship Id="rId3" Type="http://schemas.openxmlformats.org/officeDocument/2006/relationships/oleObject" Target="../embeddings/oleObject46.bin"/><Relationship Id="rId7" Type="http://schemas.openxmlformats.org/officeDocument/2006/relationships/oleObject" Target="../embeddings/oleObject48.bin"/><Relationship Id="rId12" Type="http://schemas.openxmlformats.org/officeDocument/2006/relationships/image" Target="../media/image77.wmf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74.wmf"/><Relationship Id="rId11" Type="http://schemas.openxmlformats.org/officeDocument/2006/relationships/oleObject" Target="../embeddings/oleObject50.bin"/><Relationship Id="rId5" Type="http://schemas.openxmlformats.org/officeDocument/2006/relationships/oleObject" Target="../embeddings/oleObject47.bin"/><Relationship Id="rId10" Type="http://schemas.openxmlformats.org/officeDocument/2006/relationships/image" Target="../media/image76.wmf"/><Relationship Id="rId4" Type="http://schemas.openxmlformats.org/officeDocument/2006/relationships/image" Target="../media/image73.wmf"/><Relationship Id="rId9" Type="http://schemas.openxmlformats.org/officeDocument/2006/relationships/oleObject" Target="../embeddings/oleObject49.bin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4.bin"/><Relationship Id="rId13" Type="http://schemas.openxmlformats.org/officeDocument/2006/relationships/image" Target="../media/image83.wmf"/><Relationship Id="rId3" Type="http://schemas.openxmlformats.org/officeDocument/2006/relationships/image" Target="../media/image78.wmf"/><Relationship Id="rId7" Type="http://schemas.openxmlformats.org/officeDocument/2006/relationships/image" Target="../media/image80.wmf"/><Relationship Id="rId12" Type="http://schemas.openxmlformats.org/officeDocument/2006/relationships/oleObject" Target="../embeddings/oleObject56.bin"/><Relationship Id="rId2" Type="http://schemas.openxmlformats.org/officeDocument/2006/relationships/oleObject" Target="../embeddings/oleObject51.bin"/><Relationship Id="rId1" Type="http://schemas.openxmlformats.org/officeDocument/2006/relationships/slideLayout" Target="../slideLayouts/slideLayout16.xml"/><Relationship Id="rId6" Type="http://schemas.openxmlformats.org/officeDocument/2006/relationships/oleObject" Target="../embeddings/oleObject53.bin"/><Relationship Id="rId11" Type="http://schemas.openxmlformats.org/officeDocument/2006/relationships/image" Target="../media/image82.wmf"/><Relationship Id="rId5" Type="http://schemas.openxmlformats.org/officeDocument/2006/relationships/image" Target="../media/image79.wmf"/><Relationship Id="rId15" Type="http://schemas.openxmlformats.org/officeDocument/2006/relationships/image" Target="../media/image84.wmf"/><Relationship Id="rId10" Type="http://schemas.openxmlformats.org/officeDocument/2006/relationships/oleObject" Target="../embeddings/oleObject55.bin"/><Relationship Id="rId4" Type="http://schemas.openxmlformats.org/officeDocument/2006/relationships/oleObject" Target="../embeddings/oleObject52.bin"/><Relationship Id="rId9" Type="http://schemas.openxmlformats.org/officeDocument/2006/relationships/image" Target="../media/image81.wmf"/><Relationship Id="rId14" Type="http://schemas.openxmlformats.org/officeDocument/2006/relationships/oleObject" Target="../embeddings/oleObject57.bin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1.bin"/><Relationship Id="rId13" Type="http://schemas.openxmlformats.org/officeDocument/2006/relationships/image" Target="../media/image89.wmf"/><Relationship Id="rId3" Type="http://schemas.openxmlformats.org/officeDocument/2006/relationships/image" Target="../media/image78.wmf"/><Relationship Id="rId7" Type="http://schemas.openxmlformats.org/officeDocument/2006/relationships/image" Target="../media/image86.wmf"/><Relationship Id="rId12" Type="http://schemas.openxmlformats.org/officeDocument/2006/relationships/oleObject" Target="../embeddings/oleObject63.bin"/><Relationship Id="rId2" Type="http://schemas.openxmlformats.org/officeDocument/2006/relationships/oleObject" Target="../embeddings/oleObject58.bin"/><Relationship Id="rId1" Type="http://schemas.openxmlformats.org/officeDocument/2006/relationships/slideLayout" Target="../slideLayouts/slideLayout16.xml"/><Relationship Id="rId6" Type="http://schemas.openxmlformats.org/officeDocument/2006/relationships/oleObject" Target="../embeddings/oleObject60.bin"/><Relationship Id="rId11" Type="http://schemas.openxmlformats.org/officeDocument/2006/relationships/image" Target="../media/image88.wmf"/><Relationship Id="rId5" Type="http://schemas.openxmlformats.org/officeDocument/2006/relationships/image" Target="../media/image85.wmf"/><Relationship Id="rId15" Type="http://schemas.openxmlformats.org/officeDocument/2006/relationships/image" Target="../media/image90.wmf"/><Relationship Id="rId10" Type="http://schemas.openxmlformats.org/officeDocument/2006/relationships/oleObject" Target="../embeddings/oleObject62.bin"/><Relationship Id="rId4" Type="http://schemas.openxmlformats.org/officeDocument/2006/relationships/oleObject" Target="../embeddings/oleObject59.bin"/><Relationship Id="rId9" Type="http://schemas.openxmlformats.org/officeDocument/2006/relationships/image" Target="../media/image87.wmf"/><Relationship Id="rId14" Type="http://schemas.openxmlformats.org/officeDocument/2006/relationships/oleObject" Target="../embeddings/oleObject64.bin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1.gif"/><Relationship Id="rId1" Type="http://schemas.openxmlformats.org/officeDocument/2006/relationships/slideLayout" Target="../slideLayouts/slideLayout16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5.bin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93.wmf"/><Relationship Id="rId5" Type="http://schemas.openxmlformats.org/officeDocument/2006/relationships/oleObject" Target="../embeddings/oleObject66.bin"/><Relationship Id="rId4" Type="http://schemas.openxmlformats.org/officeDocument/2006/relationships/image" Target="../media/image92.wmf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wmf"/><Relationship Id="rId2" Type="http://schemas.openxmlformats.org/officeDocument/2006/relationships/oleObject" Target="../embeddings/oleObject67.bin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95.emf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16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png"/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16.xml"/><Relationship Id="rId5" Type="http://schemas.openxmlformats.org/officeDocument/2006/relationships/image" Target="../media/image100.png"/><Relationship Id="rId4" Type="http://schemas.openxmlformats.org/officeDocument/2006/relationships/image" Target="../media/image99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4.wmf"/><Relationship Id="rId13" Type="http://schemas.openxmlformats.org/officeDocument/2006/relationships/oleObject" Target="../embeddings/oleObject73.bin"/><Relationship Id="rId18" Type="http://schemas.openxmlformats.org/officeDocument/2006/relationships/image" Target="../media/image109.wmf"/><Relationship Id="rId3" Type="http://schemas.openxmlformats.org/officeDocument/2006/relationships/oleObject" Target="../embeddings/oleObject68.bin"/><Relationship Id="rId7" Type="http://schemas.openxmlformats.org/officeDocument/2006/relationships/oleObject" Target="../embeddings/oleObject70.bin"/><Relationship Id="rId12" Type="http://schemas.openxmlformats.org/officeDocument/2006/relationships/image" Target="../media/image106.wmf"/><Relationship Id="rId17" Type="http://schemas.openxmlformats.org/officeDocument/2006/relationships/oleObject" Target="../embeddings/oleObject75.bin"/><Relationship Id="rId2" Type="http://schemas.openxmlformats.org/officeDocument/2006/relationships/image" Target="../media/image101.jpeg"/><Relationship Id="rId16" Type="http://schemas.openxmlformats.org/officeDocument/2006/relationships/image" Target="../media/image108.wmf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103.wmf"/><Relationship Id="rId11" Type="http://schemas.openxmlformats.org/officeDocument/2006/relationships/oleObject" Target="../embeddings/oleObject72.bin"/><Relationship Id="rId5" Type="http://schemas.openxmlformats.org/officeDocument/2006/relationships/oleObject" Target="../embeddings/oleObject69.bin"/><Relationship Id="rId15" Type="http://schemas.openxmlformats.org/officeDocument/2006/relationships/oleObject" Target="../embeddings/oleObject74.bin"/><Relationship Id="rId10" Type="http://schemas.openxmlformats.org/officeDocument/2006/relationships/image" Target="../media/image105.wmf"/><Relationship Id="rId4" Type="http://schemas.openxmlformats.org/officeDocument/2006/relationships/image" Target="../media/image102.wmf"/><Relationship Id="rId9" Type="http://schemas.openxmlformats.org/officeDocument/2006/relationships/oleObject" Target="../embeddings/oleObject71.bin"/><Relationship Id="rId14" Type="http://schemas.openxmlformats.org/officeDocument/2006/relationships/image" Target="../media/image107.wmf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2.wmf"/><Relationship Id="rId13" Type="http://schemas.openxmlformats.org/officeDocument/2006/relationships/oleObject" Target="../embeddings/oleObject81.bin"/><Relationship Id="rId18" Type="http://schemas.openxmlformats.org/officeDocument/2006/relationships/image" Target="../media/image117.wmf"/><Relationship Id="rId3" Type="http://schemas.openxmlformats.org/officeDocument/2006/relationships/oleObject" Target="../embeddings/oleObject76.bin"/><Relationship Id="rId21" Type="http://schemas.openxmlformats.org/officeDocument/2006/relationships/oleObject" Target="../embeddings/oleObject85.bin"/><Relationship Id="rId7" Type="http://schemas.openxmlformats.org/officeDocument/2006/relationships/oleObject" Target="../embeddings/oleObject78.bin"/><Relationship Id="rId12" Type="http://schemas.openxmlformats.org/officeDocument/2006/relationships/image" Target="../media/image114.wmf"/><Relationship Id="rId17" Type="http://schemas.openxmlformats.org/officeDocument/2006/relationships/oleObject" Target="../embeddings/oleObject83.bin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116.wmf"/><Relationship Id="rId20" Type="http://schemas.openxmlformats.org/officeDocument/2006/relationships/image" Target="../media/image118.wmf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111.wmf"/><Relationship Id="rId11" Type="http://schemas.openxmlformats.org/officeDocument/2006/relationships/oleObject" Target="../embeddings/oleObject80.bin"/><Relationship Id="rId24" Type="http://schemas.openxmlformats.org/officeDocument/2006/relationships/image" Target="../media/image120.wmf"/><Relationship Id="rId5" Type="http://schemas.openxmlformats.org/officeDocument/2006/relationships/oleObject" Target="../embeddings/oleObject77.bin"/><Relationship Id="rId15" Type="http://schemas.openxmlformats.org/officeDocument/2006/relationships/oleObject" Target="../embeddings/oleObject82.bin"/><Relationship Id="rId23" Type="http://schemas.openxmlformats.org/officeDocument/2006/relationships/oleObject" Target="../embeddings/oleObject86.bin"/><Relationship Id="rId10" Type="http://schemas.openxmlformats.org/officeDocument/2006/relationships/image" Target="../media/image113.wmf"/><Relationship Id="rId19" Type="http://schemas.openxmlformats.org/officeDocument/2006/relationships/oleObject" Target="../embeddings/oleObject84.bin"/><Relationship Id="rId4" Type="http://schemas.openxmlformats.org/officeDocument/2006/relationships/image" Target="../media/image110.wmf"/><Relationship Id="rId9" Type="http://schemas.openxmlformats.org/officeDocument/2006/relationships/oleObject" Target="../embeddings/oleObject79.bin"/><Relationship Id="rId14" Type="http://schemas.openxmlformats.org/officeDocument/2006/relationships/image" Target="../media/image115.wmf"/><Relationship Id="rId22" Type="http://schemas.openxmlformats.org/officeDocument/2006/relationships/image" Target="../media/image119.wmf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0.bin"/><Relationship Id="rId13" Type="http://schemas.openxmlformats.org/officeDocument/2006/relationships/image" Target="../media/image110.wmf"/><Relationship Id="rId18" Type="http://schemas.openxmlformats.org/officeDocument/2006/relationships/oleObject" Target="../embeddings/oleObject95.bin"/><Relationship Id="rId3" Type="http://schemas.openxmlformats.org/officeDocument/2006/relationships/image" Target="../media/image121.wmf"/><Relationship Id="rId21" Type="http://schemas.openxmlformats.org/officeDocument/2006/relationships/image" Target="../media/image129.wmf"/><Relationship Id="rId7" Type="http://schemas.openxmlformats.org/officeDocument/2006/relationships/image" Target="../media/image123.wmf"/><Relationship Id="rId12" Type="http://schemas.openxmlformats.org/officeDocument/2006/relationships/oleObject" Target="../embeddings/oleObject92.bin"/><Relationship Id="rId17" Type="http://schemas.openxmlformats.org/officeDocument/2006/relationships/image" Target="../media/image127.wmf"/><Relationship Id="rId2" Type="http://schemas.openxmlformats.org/officeDocument/2006/relationships/oleObject" Target="../embeddings/oleObject87.bin"/><Relationship Id="rId16" Type="http://schemas.openxmlformats.org/officeDocument/2006/relationships/oleObject" Target="../embeddings/oleObject94.bin"/><Relationship Id="rId20" Type="http://schemas.openxmlformats.org/officeDocument/2006/relationships/oleObject" Target="../embeddings/oleObject96.bin"/><Relationship Id="rId1" Type="http://schemas.openxmlformats.org/officeDocument/2006/relationships/slideLayout" Target="../slideLayouts/slideLayout16.xml"/><Relationship Id="rId6" Type="http://schemas.openxmlformats.org/officeDocument/2006/relationships/oleObject" Target="../embeddings/oleObject89.bin"/><Relationship Id="rId11" Type="http://schemas.openxmlformats.org/officeDocument/2006/relationships/image" Target="../media/image125.wmf"/><Relationship Id="rId24" Type="http://schemas.openxmlformats.org/officeDocument/2006/relationships/image" Target="../media/image130.wmf"/><Relationship Id="rId5" Type="http://schemas.openxmlformats.org/officeDocument/2006/relationships/image" Target="../media/image122.wmf"/><Relationship Id="rId15" Type="http://schemas.openxmlformats.org/officeDocument/2006/relationships/image" Target="../media/image126.wmf"/><Relationship Id="rId23" Type="http://schemas.openxmlformats.org/officeDocument/2006/relationships/oleObject" Target="../embeddings/oleObject98.bin"/><Relationship Id="rId10" Type="http://schemas.openxmlformats.org/officeDocument/2006/relationships/oleObject" Target="../embeddings/oleObject91.bin"/><Relationship Id="rId19" Type="http://schemas.openxmlformats.org/officeDocument/2006/relationships/image" Target="../media/image128.wmf"/><Relationship Id="rId4" Type="http://schemas.openxmlformats.org/officeDocument/2006/relationships/oleObject" Target="../embeddings/oleObject88.bin"/><Relationship Id="rId9" Type="http://schemas.openxmlformats.org/officeDocument/2006/relationships/image" Target="../media/image124.wmf"/><Relationship Id="rId14" Type="http://schemas.openxmlformats.org/officeDocument/2006/relationships/oleObject" Target="../embeddings/oleObject93.bin"/><Relationship Id="rId22" Type="http://schemas.openxmlformats.org/officeDocument/2006/relationships/oleObject" Target="../embeddings/oleObject97.bin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8.wmf"/><Relationship Id="rId13" Type="http://schemas.openxmlformats.org/officeDocument/2006/relationships/oleObject" Target="../embeddings/oleObject104.bin"/><Relationship Id="rId18" Type="http://schemas.openxmlformats.org/officeDocument/2006/relationships/image" Target="../media/image109.png"/><Relationship Id="rId3" Type="http://schemas.openxmlformats.org/officeDocument/2006/relationships/oleObject" Target="../embeddings/oleObject99.bin"/><Relationship Id="rId21" Type="http://schemas.openxmlformats.org/officeDocument/2006/relationships/image" Target="../media/image112.png"/><Relationship Id="rId7" Type="http://schemas.openxmlformats.org/officeDocument/2006/relationships/oleObject" Target="../embeddings/oleObject101.bin"/><Relationship Id="rId12" Type="http://schemas.openxmlformats.org/officeDocument/2006/relationships/image" Target="../media/image133.wmf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125.wmf"/><Relationship Id="rId20" Type="http://schemas.openxmlformats.org/officeDocument/2006/relationships/image" Target="../media/image111.png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132.wmf"/><Relationship Id="rId11" Type="http://schemas.openxmlformats.org/officeDocument/2006/relationships/oleObject" Target="../embeddings/oleObject103.bin"/><Relationship Id="rId5" Type="http://schemas.openxmlformats.org/officeDocument/2006/relationships/oleObject" Target="../embeddings/oleObject100.bin"/><Relationship Id="rId15" Type="http://schemas.openxmlformats.org/officeDocument/2006/relationships/oleObject" Target="../embeddings/oleObject105.bin"/><Relationship Id="rId10" Type="http://schemas.openxmlformats.org/officeDocument/2006/relationships/image" Target="../media/image129.wmf"/><Relationship Id="rId19" Type="http://schemas.openxmlformats.org/officeDocument/2006/relationships/image" Target="../media/image110.png"/><Relationship Id="rId4" Type="http://schemas.openxmlformats.org/officeDocument/2006/relationships/image" Target="../media/image131.wmf"/><Relationship Id="rId9" Type="http://schemas.openxmlformats.org/officeDocument/2006/relationships/oleObject" Target="../embeddings/oleObject102.bin"/><Relationship Id="rId14" Type="http://schemas.openxmlformats.org/officeDocument/2006/relationships/image" Target="../media/image134.wmf"/><Relationship Id="rId22" Type="http://schemas.openxmlformats.org/officeDocument/2006/relationships/image" Target="../media/image135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6.wmf"/><Relationship Id="rId2" Type="http://schemas.openxmlformats.org/officeDocument/2006/relationships/oleObject" Target="../embeddings/oleObject106.bin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135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7.e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139.wmf"/><Relationship Id="rId5" Type="http://schemas.openxmlformats.org/officeDocument/2006/relationships/oleObject" Target="../embeddings/oleObject107.bin"/><Relationship Id="rId4" Type="http://schemas.openxmlformats.org/officeDocument/2006/relationships/image" Target="../media/image138.pn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11.bin"/><Relationship Id="rId13" Type="http://schemas.openxmlformats.org/officeDocument/2006/relationships/image" Target="../media/image145.wmf"/><Relationship Id="rId18" Type="http://schemas.openxmlformats.org/officeDocument/2006/relationships/oleObject" Target="../embeddings/oleObject116.bin"/><Relationship Id="rId3" Type="http://schemas.openxmlformats.org/officeDocument/2006/relationships/image" Target="../media/image140.wmf"/><Relationship Id="rId21" Type="http://schemas.openxmlformats.org/officeDocument/2006/relationships/image" Target="../media/image149.wmf"/><Relationship Id="rId7" Type="http://schemas.openxmlformats.org/officeDocument/2006/relationships/image" Target="../media/image142.wmf"/><Relationship Id="rId12" Type="http://schemas.openxmlformats.org/officeDocument/2006/relationships/oleObject" Target="../embeddings/oleObject113.bin"/><Relationship Id="rId17" Type="http://schemas.openxmlformats.org/officeDocument/2006/relationships/image" Target="../media/image147.wmf"/><Relationship Id="rId25" Type="http://schemas.openxmlformats.org/officeDocument/2006/relationships/image" Target="../media/image151.wmf"/><Relationship Id="rId2" Type="http://schemas.openxmlformats.org/officeDocument/2006/relationships/oleObject" Target="../embeddings/oleObject108.bin"/><Relationship Id="rId16" Type="http://schemas.openxmlformats.org/officeDocument/2006/relationships/oleObject" Target="../embeddings/oleObject115.bin"/><Relationship Id="rId20" Type="http://schemas.openxmlformats.org/officeDocument/2006/relationships/oleObject" Target="../embeddings/oleObject117.bin"/><Relationship Id="rId1" Type="http://schemas.openxmlformats.org/officeDocument/2006/relationships/slideLayout" Target="../slideLayouts/slideLayout16.xml"/><Relationship Id="rId6" Type="http://schemas.openxmlformats.org/officeDocument/2006/relationships/oleObject" Target="../embeddings/oleObject110.bin"/><Relationship Id="rId11" Type="http://schemas.openxmlformats.org/officeDocument/2006/relationships/image" Target="../media/image144.wmf"/><Relationship Id="rId24" Type="http://schemas.openxmlformats.org/officeDocument/2006/relationships/oleObject" Target="../embeddings/oleObject119.bin"/><Relationship Id="rId5" Type="http://schemas.openxmlformats.org/officeDocument/2006/relationships/image" Target="../media/image141.wmf"/><Relationship Id="rId15" Type="http://schemas.openxmlformats.org/officeDocument/2006/relationships/image" Target="../media/image146.wmf"/><Relationship Id="rId23" Type="http://schemas.openxmlformats.org/officeDocument/2006/relationships/image" Target="../media/image150.wmf"/><Relationship Id="rId10" Type="http://schemas.openxmlformats.org/officeDocument/2006/relationships/oleObject" Target="../embeddings/oleObject112.bin"/><Relationship Id="rId19" Type="http://schemas.openxmlformats.org/officeDocument/2006/relationships/image" Target="../media/image148.wmf"/><Relationship Id="rId4" Type="http://schemas.openxmlformats.org/officeDocument/2006/relationships/oleObject" Target="../embeddings/oleObject109.bin"/><Relationship Id="rId9" Type="http://schemas.openxmlformats.org/officeDocument/2006/relationships/image" Target="../media/image143.wmf"/><Relationship Id="rId14" Type="http://schemas.openxmlformats.org/officeDocument/2006/relationships/oleObject" Target="../embeddings/oleObject114.bin"/><Relationship Id="rId22" Type="http://schemas.openxmlformats.org/officeDocument/2006/relationships/oleObject" Target="../embeddings/oleObject118.bin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2.emf"/><Relationship Id="rId1" Type="http://schemas.openxmlformats.org/officeDocument/2006/relationships/slideLayout" Target="../slideLayouts/slideLayout16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4.png"/><Relationship Id="rId7" Type="http://schemas.openxmlformats.org/officeDocument/2006/relationships/image" Target="../media/image158.png"/><Relationship Id="rId2" Type="http://schemas.openxmlformats.org/officeDocument/2006/relationships/image" Target="../media/image153.png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157.png"/><Relationship Id="rId5" Type="http://schemas.openxmlformats.org/officeDocument/2006/relationships/image" Target="../media/image156.png"/><Relationship Id="rId4" Type="http://schemas.openxmlformats.org/officeDocument/2006/relationships/image" Target="../media/image155.png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4.wmf"/><Relationship Id="rId3" Type="http://schemas.openxmlformats.org/officeDocument/2006/relationships/oleObject" Target="../embeddings/oleObject120.bin"/><Relationship Id="rId7" Type="http://schemas.openxmlformats.org/officeDocument/2006/relationships/oleObject" Target="../embeddings/oleObject122.bin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73.wmf"/><Relationship Id="rId5" Type="http://schemas.openxmlformats.org/officeDocument/2006/relationships/oleObject" Target="../embeddings/oleObject121.bin"/><Relationship Id="rId10" Type="http://schemas.openxmlformats.org/officeDocument/2006/relationships/image" Target="../media/image160.wmf"/><Relationship Id="rId4" Type="http://schemas.openxmlformats.org/officeDocument/2006/relationships/image" Target="../media/image159.wmf"/><Relationship Id="rId9" Type="http://schemas.openxmlformats.org/officeDocument/2006/relationships/oleObject" Target="../embeddings/oleObject123.bin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6.xml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5.png"/><Relationship Id="rId3" Type="http://schemas.openxmlformats.org/officeDocument/2006/relationships/image" Target="../media/image1400.png"/><Relationship Id="rId7" Type="http://schemas.openxmlformats.org/officeDocument/2006/relationships/image" Target="../media/image144.png"/><Relationship Id="rId2" Type="http://schemas.openxmlformats.org/officeDocument/2006/relationships/image" Target="../media/image162.png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1430.png"/><Relationship Id="rId5" Type="http://schemas.openxmlformats.org/officeDocument/2006/relationships/image" Target="../media/image1420.png"/><Relationship Id="rId4" Type="http://schemas.openxmlformats.org/officeDocument/2006/relationships/image" Target="../media/image163.png"/><Relationship Id="rId9" Type="http://schemas.openxmlformats.org/officeDocument/2006/relationships/image" Target="../media/image146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5.png"/><Relationship Id="rId7" Type="http://schemas.openxmlformats.org/officeDocument/2006/relationships/image" Target="../media/image152.png"/><Relationship Id="rId2" Type="http://schemas.openxmlformats.org/officeDocument/2006/relationships/image" Target="../media/image164.png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151.png"/><Relationship Id="rId5" Type="http://schemas.openxmlformats.org/officeDocument/2006/relationships/image" Target="../media/image150.png"/><Relationship Id="rId4" Type="http://schemas.openxmlformats.org/officeDocument/2006/relationships/image" Target="../media/image149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7.png"/><Relationship Id="rId2" Type="http://schemas.openxmlformats.org/officeDocument/2006/relationships/image" Target="../media/image166.png"/><Relationship Id="rId1" Type="http://schemas.openxmlformats.org/officeDocument/2006/relationships/slideLayout" Target="../slideLayouts/slideLayout16.xml"/><Relationship Id="rId5" Type="http://schemas.openxmlformats.org/officeDocument/2006/relationships/image" Target="../media/image1560.png"/><Relationship Id="rId4" Type="http://schemas.openxmlformats.org/officeDocument/2006/relationships/image" Target="../media/image1550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80.png"/><Relationship Id="rId2" Type="http://schemas.openxmlformats.org/officeDocument/2006/relationships/image" Target="../media/image168.png"/><Relationship Id="rId1" Type="http://schemas.openxmlformats.org/officeDocument/2006/relationships/slideLayout" Target="../slideLayouts/slideLayout16.xml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5.emf"/><Relationship Id="rId3" Type="http://schemas.openxmlformats.org/officeDocument/2006/relationships/image" Target="../media/image170.emf"/><Relationship Id="rId7" Type="http://schemas.openxmlformats.org/officeDocument/2006/relationships/image" Target="../media/image174.emf"/><Relationship Id="rId2" Type="http://schemas.openxmlformats.org/officeDocument/2006/relationships/image" Target="../media/image169.jpeg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173.emf"/><Relationship Id="rId5" Type="http://schemas.openxmlformats.org/officeDocument/2006/relationships/image" Target="../media/image172.emf"/><Relationship Id="rId4" Type="http://schemas.openxmlformats.org/officeDocument/2006/relationships/image" Target="../media/image171.emf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7.png"/><Relationship Id="rId2" Type="http://schemas.openxmlformats.org/officeDocument/2006/relationships/image" Target="../media/image176.png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178.emf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0.png"/><Relationship Id="rId2" Type="http://schemas.openxmlformats.org/officeDocument/2006/relationships/image" Target="../media/image179.png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181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3.png"/><Relationship Id="rId2" Type="http://schemas.openxmlformats.org/officeDocument/2006/relationships/image" Target="../media/image182.png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184.png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7.png"/><Relationship Id="rId3" Type="http://schemas.openxmlformats.org/officeDocument/2006/relationships/oleObject" Target="../embeddings/oleObject124.bin"/><Relationship Id="rId7" Type="http://schemas.openxmlformats.org/officeDocument/2006/relationships/image" Target="../media/image179.png"/><Relationship Id="rId2" Type="http://schemas.openxmlformats.org/officeDocument/2006/relationships/image" Target="../media/image185.png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186.wmf"/><Relationship Id="rId5" Type="http://schemas.openxmlformats.org/officeDocument/2006/relationships/oleObject" Target="../embeddings/oleObject125.bin"/><Relationship Id="rId4" Type="http://schemas.openxmlformats.org/officeDocument/2006/relationships/image" Target="../media/image41.wmf"/><Relationship Id="rId9" Type="http://schemas.openxmlformats.org/officeDocument/2006/relationships/hyperlink" Target="https://www.researchgate.net/journal/1359-6454_Acta_Materialia" TargetMode="Externa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8.wmf"/><Relationship Id="rId2" Type="http://schemas.openxmlformats.org/officeDocument/2006/relationships/oleObject" Target="../embeddings/oleObject126.bin"/><Relationship Id="rId1" Type="http://schemas.openxmlformats.org/officeDocument/2006/relationships/slideLayout" Target="../slideLayouts/slideLayout16.xml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4.png"/><Relationship Id="rId3" Type="http://schemas.openxmlformats.org/officeDocument/2006/relationships/image" Target="../media/image189.png"/><Relationship Id="rId7" Type="http://schemas.openxmlformats.org/officeDocument/2006/relationships/image" Target="../media/image19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192.png"/><Relationship Id="rId5" Type="http://schemas.openxmlformats.org/officeDocument/2006/relationships/image" Target="../media/image191.png"/><Relationship Id="rId10" Type="http://schemas.openxmlformats.org/officeDocument/2006/relationships/image" Target="../media/image195.wmf"/><Relationship Id="rId4" Type="http://schemas.openxmlformats.org/officeDocument/2006/relationships/image" Target="../media/image190.png"/><Relationship Id="rId9" Type="http://schemas.openxmlformats.org/officeDocument/2006/relationships/oleObject" Target="../embeddings/oleObject127.bin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6.png"/><Relationship Id="rId1" Type="http://schemas.openxmlformats.org/officeDocument/2006/relationships/slideLayout" Target="../slideLayouts/slideLayout16.xml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3.png"/><Relationship Id="rId3" Type="http://schemas.openxmlformats.org/officeDocument/2006/relationships/image" Target="../media/image198.png"/><Relationship Id="rId7" Type="http://schemas.openxmlformats.org/officeDocument/2006/relationships/image" Target="../media/image202.png"/><Relationship Id="rId2" Type="http://schemas.openxmlformats.org/officeDocument/2006/relationships/image" Target="../media/image197.png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201.png"/><Relationship Id="rId5" Type="http://schemas.openxmlformats.org/officeDocument/2006/relationships/image" Target="../media/image200.png"/><Relationship Id="rId4" Type="http://schemas.openxmlformats.org/officeDocument/2006/relationships/image" Target="../media/image199.png"/></Relationships>
</file>

<file path=ppt/slides/_rels/slide5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28.bin"/><Relationship Id="rId3" Type="http://schemas.openxmlformats.org/officeDocument/2006/relationships/image" Target="../media/image202.png"/><Relationship Id="rId7" Type="http://schemas.openxmlformats.org/officeDocument/2006/relationships/image" Target="../media/image207.png"/><Relationship Id="rId2" Type="http://schemas.openxmlformats.org/officeDocument/2006/relationships/image" Target="../media/image204.png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206.png"/><Relationship Id="rId5" Type="http://schemas.openxmlformats.org/officeDocument/2006/relationships/image" Target="../media/image205.png"/><Relationship Id="rId10" Type="http://schemas.openxmlformats.org/officeDocument/2006/relationships/image" Target="../media/image209.png"/><Relationship Id="rId4" Type="http://schemas.openxmlformats.org/officeDocument/2006/relationships/image" Target="../media/image203.png"/><Relationship Id="rId9" Type="http://schemas.openxmlformats.org/officeDocument/2006/relationships/image" Target="../media/image208.wmf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5.png"/><Relationship Id="rId13" Type="http://schemas.openxmlformats.org/officeDocument/2006/relationships/image" Target="../media/image219.png"/><Relationship Id="rId3" Type="http://schemas.openxmlformats.org/officeDocument/2006/relationships/image" Target="../media/image211.png"/><Relationship Id="rId7" Type="http://schemas.openxmlformats.org/officeDocument/2006/relationships/image" Target="../media/image214.png"/><Relationship Id="rId12" Type="http://schemas.openxmlformats.org/officeDocument/2006/relationships/image" Target="../media/image218.png"/><Relationship Id="rId2" Type="http://schemas.openxmlformats.org/officeDocument/2006/relationships/image" Target="../media/image210.png"/><Relationship Id="rId16" Type="http://schemas.openxmlformats.org/officeDocument/2006/relationships/image" Target="../media/image221.wmf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213.png"/><Relationship Id="rId11" Type="http://schemas.openxmlformats.org/officeDocument/2006/relationships/image" Target="../media/image217.wmf"/><Relationship Id="rId5" Type="http://schemas.openxmlformats.org/officeDocument/2006/relationships/image" Target="../media/image212.wmf"/><Relationship Id="rId15" Type="http://schemas.openxmlformats.org/officeDocument/2006/relationships/oleObject" Target="../embeddings/oleObject131.bin"/><Relationship Id="rId10" Type="http://schemas.openxmlformats.org/officeDocument/2006/relationships/oleObject" Target="../embeddings/oleObject130.bin"/><Relationship Id="rId4" Type="http://schemas.openxmlformats.org/officeDocument/2006/relationships/oleObject" Target="../embeddings/oleObject129.bin"/><Relationship Id="rId9" Type="http://schemas.openxmlformats.org/officeDocument/2006/relationships/image" Target="../media/image216.png"/><Relationship Id="rId14" Type="http://schemas.openxmlformats.org/officeDocument/2006/relationships/image" Target="../media/image220.png"/></Relationships>
</file>

<file path=ppt/slides/_rels/slide5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33.bin"/><Relationship Id="rId3" Type="http://schemas.openxmlformats.org/officeDocument/2006/relationships/image" Target="../media/image223.png"/><Relationship Id="rId7" Type="http://schemas.openxmlformats.org/officeDocument/2006/relationships/image" Target="../media/image226.wmf"/><Relationship Id="rId2" Type="http://schemas.openxmlformats.org/officeDocument/2006/relationships/image" Target="../media/image222.png"/><Relationship Id="rId1" Type="http://schemas.openxmlformats.org/officeDocument/2006/relationships/slideLayout" Target="../slideLayouts/slideLayout16.xml"/><Relationship Id="rId6" Type="http://schemas.openxmlformats.org/officeDocument/2006/relationships/oleObject" Target="../embeddings/oleObject132.bin"/><Relationship Id="rId5" Type="http://schemas.openxmlformats.org/officeDocument/2006/relationships/image" Target="../media/image225.png"/><Relationship Id="rId4" Type="http://schemas.openxmlformats.org/officeDocument/2006/relationships/image" Target="../media/image224.png"/><Relationship Id="rId9" Type="http://schemas.openxmlformats.org/officeDocument/2006/relationships/image" Target="../media/image227.wmf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2">
            <a:extLst>
              <a:ext uri="{FF2B5EF4-FFF2-40B4-BE49-F238E27FC236}">
                <a16:creationId xmlns:a16="http://schemas.microsoft.com/office/drawing/2014/main" id="{AA9D0B63-D9C1-4432-AF96-2EA7E99C0383}"/>
              </a:ext>
            </a:extLst>
          </p:cNvPr>
          <p:cNvSpPr txBox="1">
            <a:spLocks/>
          </p:cNvSpPr>
          <p:nvPr/>
        </p:nvSpPr>
        <p:spPr>
          <a:xfrm>
            <a:off x="1279047" y="2741778"/>
            <a:ext cx="7433153" cy="202214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2800" b="1" dirty="0" err="1">
                <a:solidFill>
                  <a:srgbClr val="0000FF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Weishu</a:t>
            </a:r>
            <a:r>
              <a:rPr lang="en-US" sz="2800" b="1" dirty="0">
                <a:solidFill>
                  <a:srgbClr val="0000FF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 </a:t>
            </a:r>
            <a:r>
              <a:rPr lang="en-US" altLang="zh-CN" sz="2800" b="1" dirty="0">
                <a:solidFill>
                  <a:srgbClr val="0000FF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L</a:t>
            </a:r>
            <a:r>
              <a:rPr lang="en-US" sz="2800" b="1" dirty="0">
                <a:solidFill>
                  <a:srgbClr val="0000FF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iu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Department of Materials Science and Engineering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Southern University of Science and Technology (</a:t>
            </a:r>
            <a:r>
              <a:rPr lang="en-US" sz="1800" dirty="0" err="1">
                <a:solidFill>
                  <a:schemeClr val="tx1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SUSTec</a:t>
            </a:r>
            <a:r>
              <a:rPr lang="en-US" altLang="zh-CN" sz="1800" dirty="0" err="1">
                <a:solidFill>
                  <a:schemeClr val="tx1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h</a:t>
            </a:r>
            <a:r>
              <a:rPr lang="en-US" sz="1800" dirty="0">
                <a:solidFill>
                  <a:schemeClr val="tx1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)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Email: </a:t>
            </a:r>
            <a:r>
              <a:rPr lang="en-US" sz="1800" dirty="0">
                <a:solidFill>
                  <a:schemeClr val="tx1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liuws@sust</a:t>
            </a:r>
            <a:r>
              <a:rPr lang="en-US" altLang="zh-CN" sz="1800" dirty="0">
                <a:solidFill>
                  <a:schemeClr val="tx1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ech</a:t>
            </a:r>
            <a:r>
              <a:rPr lang="en-US" sz="1800" dirty="0">
                <a:solidFill>
                  <a:schemeClr val="tx1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.edu.cn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Office: </a:t>
            </a:r>
            <a:r>
              <a:rPr lang="en-US" sz="1800" dirty="0">
                <a:solidFill>
                  <a:schemeClr val="tx1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North Tower, Rm310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01B1E1D-7C41-4F56-BF1E-96200593BAF0}"/>
              </a:ext>
            </a:extLst>
          </p:cNvPr>
          <p:cNvSpPr txBox="1"/>
          <p:nvPr/>
        </p:nvSpPr>
        <p:spPr>
          <a:xfrm>
            <a:off x="669639" y="1436733"/>
            <a:ext cx="458010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>
                <a:solidFill>
                  <a:srgbClr val="FF0000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Lecture 9: </a:t>
            </a:r>
            <a:r>
              <a:rPr lang="en-US" altLang="zh-CN" sz="3200" dirty="0">
                <a:solidFill>
                  <a:srgbClr val="FF0000"/>
                </a:solidFill>
              </a:rPr>
              <a:t>Specific heat </a:t>
            </a:r>
          </a:p>
        </p:txBody>
      </p:sp>
      <p:sp>
        <p:nvSpPr>
          <p:cNvPr id="8" name="矩形 7"/>
          <p:cNvSpPr/>
          <p:nvPr/>
        </p:nvSpPr>
        <p:spPr>
          <a:xfrm>
            <a:off x="1524000" y="129808"/>
            <a:ext cx="7460256" cy="52322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800" b="1" i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MSE 311: Thermodynamics  of Materials</a:t>
            </a:r>
          </a:p>
        </p:txBody>
      </p:sp>
    </p:spTree>
    <p:extLst>
      <p:ext uri="{BB962C8B-B14F-4D97-AF65-F5344CB8AC3E}">
        <p14:creationId xmlns:p14="http://schemas.microsoft.com/office/powerpoint/2010/main" val="23061064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4000" dirty="0">
                <a:solidFill>
                  <a:srgbClr val="FF0000"/>
                </a:solidFill>
              </a:rPr>
              <a:t>18. Statistical ensembles  </a:t>
            </a:r>
            <a:endParaRPr lang="zh-CN" altLang="en-US" sz="4000" dirty="0">
              <a:solidFill>
                <a:srgbClr val="FF0000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1014116" y="4486906"/>
            <a:ext cx="6912142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/>
              <a:t>Chapter 2</a:t>
            </a:r>
            <a:r>
              <a:rPr lang="zh-CN" altLang="en-US" dirty="0"/>
              <a:t>， 徐祖耀，材料热力学，高等教育出版社，</a:t>
            </a:r>
            <a:r>
              <a:rPr lang="en-US" altLang="zh-CN" dirty="0"/>
              <a:t>2008</a:t>
            </a:r>
          </a:p>
          <a:p>
            <a:r>
              <a:rPr lang="en-US" altLang="zh-CN" dirty="0"/>
              <a:t>Chapter 4</a:t>
            </a:r>
            <a:r>
              <a:rPr lang="zh-CN" altLang="en-US" dirty="0"/>
              <a:t>， </a:t>
            </a:r>
            <a:r>
              <a:rPr lang="en-US" altLang="zh-CN" dirty="0"/>
              <a:t>Gang Chen, Nanoscale Energy Transport and Conversion, Oxford, 2005</a:t>
            </a:r>
          </a:p>
        </p:txBody>
      </p:sp>
    </p:spTree>
    <p:extLst>
      <p:ext uri="{BB962C8B-B14F-4D97-AF65-F5344CB8AC3E}">
        <p14:creationId xmlns:p14="http://schemas.microsoft.com/office/powerpoint/2010/main" val="35110566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500228" y="844982"/>
            <a:ext cx="8342557" cy="36933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dirty="0"/>
              <a:t> 1902, </a:t>
            </a:r>
            <a:r>
              <a:rPr lang="en-US" altLang="zh-CN" dirty="0">
                <a:hlinkClick r:id="rId2" tooltip="Willard Gibbs"/>
              </a:rPr>
              <a:t>J. Willard Gibbs</a:t>
            </a:r>
            <a:r>
              <a:rPr lang="en-US" altLang="zh-CN" dirty="0"/>
              <a:t> proposal the concept of </a:t>
            </a:r>
            <a:r>
              <a:rPr lang="en-US" altLang="zh-CN" b="1" dirty="0"/>
              <a:t>statistical ensemble</a:t>
            </a:r>
            <a:endParaRPr lang="en-US" altLang="zh-CN" dirty="0"/>
          </a:p>
        </p:txBody>
      </p:sp>
      <p:pic>
        <p:nvPicPr>
          <p:cNvPr id="4" name="Picture 4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3084" y="4376028"/>
            <a:ext cx="1149022" cy="1530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7492093" y="5895487"/>
            <a:ext cx="157607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100" b="1" dirty="0"/>
              <a:t>Josiah Willard Gibbs</a:t>
            </a:r>
            <a:endParaRPr lang="en-US" altLang="zh-CN" sz="1100" dirty="0"/>
          </a:p>
          <a:p>
            <a:pPr algn="ctr"/>
            <a:r>
              <a:rPr lang="en-US" altLang="zh-CN" sz="1100" dirty="0"/>
              <a:t>1839-1903</a:t>
            </a:r>
            <a:endParaRPr lang="zh-CN" altLang="en-US" sz="1100" dirty="0"/>
          </a:p>
        </p:txBody>
      </p:sp>
      <p:sp>
        <p:nvSpPr>
          <p:cNvPr id="6" name="矩形 5"/>
          <p:cNvSpPr/>
          <p:nvPr/>
        </p:nvSpPr>
        <p:spPr>
          <a:xfrm>
            <a:off x="1052624" y="115904"/>
            <a:ext cx="316304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dirty="0">
                <a:solidFill>
                  <a:srgbClr val="FF0000"/>
                </a:solidFill>
              </a:rPr>
              <a:t>Statistical ensembles </a:t>
            </a:r>
            <a:endParaRPr lang="zh-CN" altLang="en-US" sz="2400" dirty="0"/>
          </a:p>
        </p:txBody>
      </p:sp>
      <p:sp>
        <p:nvSpPr>
          <p:cNvPr id="7" name="矩形 6"/>
          <p:cNvSpPr/>
          <p:nvPr/>
        </p:nvSpPr>
        <p:spPr>
          <a:xfrm>
            <a:off x="420539" y="1769796"/>
            <a:ext cx="8342557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altLang="zh-CN" b="1" dirty="0"/>
              <a:t>Statistical ensemble: </a:t>
            </a:r>
            <a:r>
              <a:rPr lang="en-US" altLang="zh-CN" dirty="0"/>
              <a:t>an idealization consisting of a large number of virtual copies (sometimes infinitely many) of a </a:t>
            </a:r>
            <a:r>
              <a:rPr lang="en-US" altLang="zh-CN" dirty="0">
                <a:hlinkClick r:id="rId4" tooltip="System"/>
              </a:rPr>
              <a:t>system</a:t>
            </a:r>
            <a:r>
              <a:rPr lang="en-US" altLang="zh-CN" dirty="0"/>
              <a:t>, considered all at once, each of which represents a possible state that the real system might be in. </a:t>
            </a:r>
          </a:p>
          <a:p>
            <a:pPr algn="just"/>
            <a:endParaRPr lang="en-US" altLang="zh-CN" dirty="0"/>
          </a:p>
          <a:p>
            <a:pPr algn="just"/>
            <a:r>
              <a:rPr lang="en-US" altLang="zh-CN" dirty="0"/>
              <a:t>A statistical ensemble is a probability distribution for the state of the system</a:t>
            </a:r>
            <a:endParaRPr lang="zh-CN" altLang="en-US" dirty="0"/>
          </a:p>
        </p:txBody>
      </p:sp>
      <p:sp>
        <p:nvSpPr>
          <p:cNvPr id="8" name="矩形 7"/>
          <p:cNvSpPr/>
          <p:nvPr/>
        </p:nvSpPr>
        <p:spPr>
          <a:xfrm>
            <a:off x="500228" y="4763117"/>
            <a:ext cx="572428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400" i="1" dirty="0">
                <a:solidFill>
                  <a:srgbClr val="70AD47"/>
                </a:solidFill>
              </a:rPr>
              <a:t>Gibbs, Josiah Willard (1902). </a:t>
            </a:r>
          </a:p>
          <a:p>
            <a:r>
              <a:rPr lang="en-US" altLang="zh-CN" sz="1400" i="1" dirty="0">
                <a:solidFill>
                  <a:srgbClr val="70AD47"/>
                </a:solidFill>
              </a:rPr>
              <a:t>Elementary Principles in Statistical Mechanics. New York</a:t>
            </a:r>
            <a:endParaRPr lang="zh-CN" altLang="en-US" sz="1400" i="1" dirty="0">
              <a:solidFill>
                <a:srgbClr val="70AD4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311056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8"/>
          <p:cNvSpPr txBox="1"/>
          <p:nvPr/>
        </p:nvSpPr>
        <p:spPr>
          <a:xfrm>
            <a:off x="500229" y="1585910"/>
            <a:ext cx="8342558" cy="58477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sz="1600" dirty="0"/>
              <a:t>In an actual experiment, we usually need consider a time-averaged behavior for a system by solving Newton’s equation of motion or time dependent </a:t>
            </a:r>
            <a:r>
              <a:rPr lang="en-US" altLang="zh-CN" sz="1600" dirty="0" err="1"/>
              <a:t>Schodinger</a:t>
            </a:r>
            <a:r>
              <a:rPr lang="en-US" altLang="zh-CN" sz="1600" dirty="0"/>
              <a:t> Equation</a:t>
            </a:r>
            <a:endParaRPr lang="zh-CN" altLang="en-US" sz="1600" dirty="0"/>
          </a:p>
        </p:txBody>
      </p:sp>
      <p:sp>
        <p:nvSpPr>
          <p:cNvPr id="3" name="矩形 2"/>
          <p:cNvSpPr/>
          <p:nvPr/>
        </p:nvSpPr>
        <p:spPr>
          <a:xfrm>
            <a:off x="500229" y="2685290"/>
            <a:ext cx="632737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i="1" dirty="0"/>
              <a:t>The introduce of statistical ensemble avoid the time average</a:t>
            </a:r>
            <a:endParaRPr lang="zh-CN" altLang="en-US" i="1" dirty="0"/>
          </a:p>
        </p:txBody>
      </p:sp>
      <p:sp>
        <p:nvSpPr>
          <p:cNvPr id="4" name="TextBox 10"/>
          <p:cNvSpPr txBox="1"/>
          <p:nvPr/>
        </p:nvSpPr>
        <p:spPr>
          <a:xfrm>
            <a:off x="933279" y="178753"/>
            <a:ext cx="547778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>
                <a:solidFill>
                  <a:srgbClr val="FF0000"/>
                </a:solidFill>
              </a:rPr>
              <a:t>Ergodic hypothesis </a:t>
            </a:r>
            <a:r>
              <a:rPr lang="zh-CN" altLang="en-US" sz="2800" dirty="0">
                <a:solidFill>
                  <a:srgbClr val="FF0000"/>
                </a:solidFill>
              </a:rPr>
              <a:t>（遍历假设）</a:t>
            </a:r>
          </a:p>
        </p:txBody>
      </p:sp>
      <p:sp>
        <p:nvSpPr>
          <p:cNvPr id="5" name="TextBox 11"/>
          <p:cNvSpPr txBox="1"/>
          <p:nvPr/>
        </p:nvSpPr>
        <p:spPr>
          <a:xfrm>
            <a:off x="500229" y="3797472"/>
            <a:ext cx="82763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The ensembles average of a observed quantity is  equal to the time average of the same quantity.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347415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圆角矩形 25"/>
          <p:cNvSpPr/>
          <p:nvPr/>
        </p:nvSpPr>
        <p:spPr>
          <a:xfrm>
            <a:off x="6264563" y="1708206"/>
            <a:ext cx="2879437" cy="4492567"/>
          </a:xfrm>
          <a:prstGeom prst="roundRect">
            <a:avLst>
              <a:gd name="adj" fmla="val 7039"/>
            </a:avLst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圆角矩形 22"/>
          <p:cNvSpPr/>
          <p:nvPr/>
        </p:nvSpPr>
        <p:spPr>
          <a:xfrm>
            <a:off x="1581148" y="1708207"/>
            <a:ext cx="2085977" cy="4492567"/>
          </a:xfrm>
          <a:prstGeom prst="roundRect">
            <a:avLst>
              <a:gd name="adj" fmla="val 7039"/>
            </a:avLst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矩形 1"/>
          <p:cNvSpPr/>
          <p:nvPr/>
        </p:nvSpPr>
        <p:spPr>
          <a:xfrm>
            <a:off x="4194666" y="731272"/>
            <a:ext cx="1274708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/>
              <a:t>Canonical </a:t>
            </a:r>
          </a:p>
          <a:p>
            <a:r>
              <a:rPr lang="en-US" altLang="zh-CN" dirty="0"/>
              <a:t>Ensemble</a:t>
            </a:r>
            <a:endParaRPr lang="zh-CN" altLang="en-US" dirty="0"/>
          </a:p>
        </p:txBody>
      </p:sp>
      <p:sp>
        <p:nvSpPr>
          <p:cNvPr id="3" name="矩形 2"/>
          <p:cNvSpPr/>
          <p:nvPr/>
        </p:nvSpPr>
        <p:spPr>
          <a:xfrm>
            <a:off x="1785720" y="749930"/>
            <a:ext cx="1723549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 err="1"/>
              <a:t>Microcanonical</a:t>
            </a:r>
            <a:endParaRPr lang="en-US" altLang="zh-CN" dirty="0"/>
          </a:p>
          <a:p>
            <a:r>
              <a:rPr lang="en-US" altLang="zh-CN" dirty="0"/>
              <a:t>Ensemble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6945" y="1377603"/>
            <a:ext cx="19543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chemeClr val="accent6"/>
                </a:solidFill>
              </a:rPr>
              <a:t>isolated systems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94666" y="1338876"/>
            <a:ext cx="16337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chemeClr val="accent6"/>
                </a:solidFill>
              </a:rPr>
              <a:t>close systems</a:t>
            </a:r>
            <a:endParaRPr lang="zh-CN" altLang="en-US" dirty="0">
              <a:solidFill>
                <a:schemeClr val="accent6"/>
              </a:solidFill>
            </a:endParaRPr>
          </a:p>
        </p:txBody>
      </p:sp>
      <p:sp>
        <p:nvSpPr>
          <p:cNvPr id="6" name="矩形 5"/>
          <p:cNvSpPr/>
          <p:nvPr/>
        </p:nvSpPr>
        <p:spPr>
          <a:xfrm>
            <a:off x="6375246" y="692545"/>
            <a:ext cx="186461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 err="1"/>
              <a:t>Grandcanonical</a:t>
            </a:r>
            <a:r>
              <a:rPr lang="en-US" altLang="zh-CN" dirty="0"/>
              <a:t> </a:t>
            </a:r>
          </a:p>
          <a:p>
            <a:r>
              <a:rPr lang="en-US" altLang="zh-CN" dirty="0"/>
              <a:t>Ensemble</a:t>
            </a:r>
            <a:endParaRPr lang="zh-CN" alt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6375246" y="1274900"/>
            <a:ext cx="16081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chemeClr val="accent6"/>
                </a:solidFill>
              </a:rPr>
              <a:t>open systems</a:t>
            </a:r>
            <a:endParaRPr lang="zh-CN" altLang="en-US" dirty="0">
              <a:solidFill>
                <a:schemeClr val="accent6"/>
              </a:solidFill>
            </a:endParaRPr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1819275" y="1968500"/>
          <a:ext cx="1655763" cy="320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307880" imgH="253800" progId="Equation.DSMT4">
                  <p:embed/>
                </p:oleObj>
              </mc:Choice>
              <mc:Fallback>
                <p:oleObj name="Equation" r:id="rId2" imgW="1307880" imgH="253800" progId="Equation.DSMT4">
                  <p:embed/>
                  <p:pic>
                    <p:nvPicPr>
                      <p:cNvPr id="8" name="对象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19275" y="1968500"/>
                        <a:ext cx="1655763" cy="320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/>
        </p:nvGraphicFramePr>
        <p:xfrm>
          <a:off x="4351269" y="1949926"/>
          <a:ext cx="1516062" cy="263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460160" imgH="253800" progId="Equation.DSMT4">
                  <p:embed/>
                </p:oleObj>
              </mc:Choice>
              <mc:Fallback>
                <p:oleObj name="Equation" r:id="rId4" imgW="1460160" imgH="253800" progId="Equation.DSMT4">
                  <p:embed/>
                  <p:pic>
                    <p:nvPicPr>
                      <p:cNvPr id="9" name="对象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51269" y="1949926"/>
                        <a:ext cx="1516062" cy="263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/>
        </p:nvGraphicFramePr>
        <p:xfrm>
          <a:off x="6343650" y="1878013"/>
          <a:ext cx="1498600" cy="25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498320" imgH="253800" progId="Equation.DSMT4">
                  <p:embed/>
                </p:oleObj>
              </mc:Choice>
              <mc:Fallback>
                <p:oleObj name="Equation" r:id="rId6" imgW="1498320" imgH="253800" progId="Equation.DSMT4">
                  <p:embed/>
                  <p:pic>
                    <p:nvPicPr>
                      <p:cNvPr id="10" name="对象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43650" y="1878013"/>
                        <a:ext cx="1498600" cy="254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0" y="1946791"/>
            <a:ext cx="1492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TD potential </a:t>
            </a:r>
            <a:endParaRPr lang="zh-CN" altLang="en-US" dirty="0"/>
          </a:p>
        </p:txBody>
      </p:sp>
      <p:graphicFrame>
        <p:nvGraphicFramePr>
          <p:cNvPr id="12" name="对象 11"/>
          <p:cNvGraphicFramePr>
            <a:graphicFrameLocks noChangeAspect="1"/>
          </p:cNvGraphicFramePr>
          <p:nvPr/>
        </p:nvGraphicFramePr>
        <p:xfrm>
          <a:off x="1955800" y="3459163"/>
          <a:ext cx="817563" cy="496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647640" imgH="393480" progId="Equation.DSMT4">
                  <p:embed/>
                </p:oleObj>
              </mc:Choice>
              <mc:Fallback>
                <p:oleObj name="Equation" r:id="rId8" imgW="647640" imgH="393480" progId="Equation.DSMT4">
                  <p:embed/>
                  <p:pic>
                    <p:nvPicPr>
                      <p:cNvPr id="12" name="对象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55800" y="3459163"/>
                        <a:ext cx="817563" cy="496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3" name="对象 5"/>
              <p:cNvSpPr txBox="1"/>
              <p:nvPr/>
            </p:nvSpPr>
            <p:spPr bwMode="auto">
              <a:xfrm>
                <a:off x="3856631" y="3459163"/>
                <a:ext cx="2540000" cy="6699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 fontScale="77500" lnSpcReduction="2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exp</m:t>
                              </m:r>
                            </m:fName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</m:e>
                                    <m:sub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𝑟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zh-CN" altLang="en-US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zh-CN" altLang="en-US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𝑈</m:t>
                                          </m:r>
                                        </m:e>
                                        <m:sub>
                                          <m:r>
                                            <a:rPr lang="zh-CN" altLang="en-US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sub>
                                      </m:sSub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zh-CN" altLang="en-US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zh-CN" altLang="en-US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𝐸</m:t>
                                          </m:r>
                                        </m:e>
                                        <m:sub>
                                          <m:r>
                                            <a:rPr lang="zh-CN" altLang="en-US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/</m:t>
                                  </m:r>
                                  <m:sSub>
                                    <m:sSubPr>
                                      <m:ctrlP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e>
                                    <m:sub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𝐵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func>
                        </m:num>
                        <m:den>
                          <m:func>
                            <m:func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exp</m:t>
                              </m:r>
                            </m:fName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</m:e>
                                    <m:sub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zh-CN" altLang="en-US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zh-CN" altLang="en-US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𝑈</m:t>
                                          </m:r>
                                        </m:e>
                                        <m:sub>
                                          <m:r>
                                            <a:rPr lang="zh-CN" altLang="en-US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/</m:t>
                                  </m:r>
                                  <m:sSub>
                                    <m:sSubPr>
                                      <m:ctrlP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e>
                                    <m:sub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𝐵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func>
                        </m:den>
                      </m:f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3" name="对象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856631" y="3459163"/>
                <a:ext cx="2540000" cy="669925"/>
              </a:xfrm>
              <a:prstGeom prst="rect">
                <a:avLst/>
              </a:prstGeom>
              <a:blipFill rotWithShape="1">
                <a:blip r:embed="rId11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5" name="对象 14"/>
          <p:cNvGraphicFramePr>
            <a:graphicFrameLocks noChangeAspect="1"/>
          </p:cNvGraphicFramePr>
          <p:nvPr/>
        </p:nvGraphicFramePr>
        <p:xfrm>
          <a:off x="4275069" y="2559050"/>
          <a:ext cx="1265238" cy="501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218960" imgH="482400" progId="Equation.DSMT4">
                  <p:embed/>
                </p:oleObj>
              </mc:Choice>
              <mc:Fallback>
                <p:oleObj name="Equation" r:id="rId12" imgW="1218960" imgH="482400" progId="Equation.DSMT4">
                  <p:embed/>
                  <p:pic>
                    <p:nvPicPr>
                      <p:cNvPr id="15" name="对象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75069" y="2559050"/>
                        <a:ext cx="1265238" cy="501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/>
          <p:cNvGraphicFramePr>
            <a:graphicFrameLocks noChangeAspect="1"/>
          </p:cNvGraphicFramePr>
          <p:nvPr/>
        </p:nvGraphicFramePr>
        <p:xfrm>
          <a:off x="6340725" y="2587625"/>
          <a:ext cx="15875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587240" imgH="482400" progId="Equation.DSMT4">
                  <p:embed/>
                </p:oleObj>
              </mc:Choice>
              <mc:Fallback>
                <p:oleObj name="Equation" r:id="rId14" imgW="1587240" imgH="482400" progId="Equation.DSMT4">
                  <p:embed/>
                  <p:pic>
                    <p:nvPicPr>
                      <p:cNvPr id="16" name="对象 15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6340725" y="2587625"/>
                        <a:ext cx="1587500" cy="482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0" y="2670691"/>
            <a:ext cx="19030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Partition function</a:t>
            </a:r>
            <a:endParaRPr lang="zh-CN" altLang="en-US" dirty="0"/>
          </a:p>
        </p:txBody>
      </p:sp>
      <p:graphicFrame>
        <p:nvGraphicFramePr>
          <p:cNvPr id="18" name="对象 17"/>
          <p:cNvGraphicFramePr>
            <a:graphicFrameLocks noChangeAspect="1"/>
          </p:cNvGraphicFramePr>
          <p:nvPr/>
        </p:nvGraphicFramePr>
        <p:xfrm>
          <a:off x="1953885" y="5172075"/>
          <a:ext cx="1411287" cy="544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117440" imgH="431640" progId="Equation.DSMT4">
                  <p:embed/>
                </p:oleObj>
              </mc:Choice>
              <mc:Fallback>
                <p:oleObj name="Equation" r:id="rId16" imgW="1117440" imgH="431640" progId="Equation.DSMT4">
                  <p:embed/>
                  <p:pic>
                    <p:nvPicPr>
                      <p:cNvPr id="18" name="对象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53885" y="5172075"/>
                        <a:ext cx="1411287" cy="544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矩形 18"/>
          <p:cNvSpPr/>
          <p:nvPr/>
        </p:nvSpPr>
        <p:spPr>
          <a:xfrm>
            <a:off x="12824" y="3439558"/>
            <a:ext cx="1479892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Arial" charset="0"/>
              </a:rPr>
              <a:t>Probable </a:t>
            </a:r>
          </a:p>
          <a:p>
            <a:r>
              <a:rPr lang="en-US" altLang="zh-CN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Arial" charset="0"/>
              </a:rPr>
              <a:t>Distribution</a:t>
            </a:r>
            <a:endParaRPr lang="en-US" altLang="zh-CN" dirty="0">
              <a:solidFill>
                <a:srgbClr val="FF0000"/>
              </a:solidFill>
            </a:endParaRPr>
          </a:p>
        </p:txBody>
      </p:sp>
      <p:graphicFrame>
        <p:nvGraphicFramePr>
          <p:cNvPr id="20" name="对象 19"/>
          <p:cNvGraphicFramePr>
            <a:graphicFrameLocks noChangeAspect="1"/>
          </p:cNvGraphicFramePr>
          <p:nvPr/>
        </p:nvGraphicFramePr>
        <p:xfrm>
          <a:off x="168508" y="5232400"/>
          <a:ext cx="12573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1257120" imgH="431640" progId="Equation.DSMT4">
                  <p:embed/>
                </p:oleObj>
              </mc:Choice>
              <mc:Fallback>
                <p:oleObj name="Equation" r:id="rId18" imgW="1257120" imgH="431640" progId="Equation.DSMT4">
                  <p:embed/>
                  <p:pic>
                    <p:nvPicPr>
                      <p:cNvPr id="20" name="对象 19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168508" y="5232400"/>
                        <a:ext cx="1257300" cy="431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对象 20"/>
          <p:cNvGraphicFramePr>
            <a:graphicFrameLocks noChangeAspect="1"/>
          </p:cNvGraphicFramePr>
          <p:nvPr/>
        </p:nvGraphicFramePr>
        <p:xfrm>
          <a:off x="3856631" y="5168900"/>
          <a:ext cx="2077444" cy="51936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1930320" imgH="482400" progId="Equation.DSMT4">
                  <p:embed/>
                </p:oleObj>
              </mc:Choice>
              <mc:Fallback>
                <p:oleObj name="Equation" r:id="rId20" imgW="1930320" imgH="482400" progId="Equation.DSMT4">
                  <p:embed/>
                  <p:pic>
                    <p:nvPicPr>
                      <p:cNvPr id="21" name="对象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56631" y="5168900"/>
                        <a:ext cx="2077444" cy="51936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对象 21"/>
          <p:cNvGraphicFramePr>
            <a:graphicFrameLocks noChangeAspect="1"/>
          </p:cNvGraphicFramePr>
          <p:nvPr/>
        </p:nvGraphicFramePr>
        <p:xfrm>
          <a:off x="6396631" y="4292600"/>
          <a:ext cx="18542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1854000" imgH="482400" progId="Equation.DSMT4">
                  <p:embed/>
                </p:oleObj>
              </mc:Choice>
              <mc:Fallback>
                <p:oleObj name="Equation" r:id="rId22" imgW="1854000" imgH="482400" progId="Equation.DSMT4">
                  <p:embed/>
                  <p:pic>
                    <p:nvPicPr>
                      <p:cNvPr id="22" name="对象 21"/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6396631" y="4292600"/>
                        <a:ext cx="1854200" cy="482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对象 23"/>
          <p:cNvGraphicFramePr>
            <a:graphicFrameLocks noChangeAspect="1"/>
          </p:cNvGraphicFramePr>
          <p:nvPr/>
        </p:nvGraphicFramePr>
        <p:xfrm>
          <a:off x="4098056" y="4284663"/>
          <a:ext cx="1514475" cy="501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1460160" imgH="482400" progId="Equation.DSMT4">
                  <p:embed/>
                </p:oleObj>
              </mc:Choice>
              <mc:Fallback>
                <p:oleObj name="Equation" r:id="rId24" imgW="1460160" imgH="482400" progId="Equation.DSMT4">
                  <p:embed/>
                  <p:pic>
                    <p:nvPicPr>
                      <p:cNvPr id="24" name="对象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98056" y="4284663"/>
                        <a:ext cx="1514475" cy="501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对象 24"/>
          <p:cNvGraphicFramePr>
            <a:graphicFrameLocks noChangeAspect="1"/>
          </p:cNvGraphicFramePr>
          <p:nvPr/>
        </p:nvGraphicFramePr>
        <p:xfrm>
          <a:off x="6292850" y="5168900"/>
          <a:ext cx="2306638" cy="525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2120760" imgH="482400" progId="Equation.DSMT4">
                  <p:embed/>
                </p:oleObj>
              </mc:Choice>
              <mc:Fallback>
                <p:oleObj name="Equation" r:id="rId26" imgW="2120760" imgH="482400" progId="Equation.DSMT4">
                  <p:embed/>
                  <p:pic>
                    <p:nvPicPr>
                      <p:cNvPr id="25" name="对象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92850" y="5168900"/>
                        <a:ext cx="2306638" cy="525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矩形 26"/>
          <p:cNvSpPr/>
          <p:nvPr/>
        </p:nvSpPr>
        <p:spPr>
          <a:xfrm>
            <a:off x="1009591" y="129659"/>
            <a:ext cx="164019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dirty="0">
                <a:solidFill>
                  <a:srgbClr val="FF0000"/>
                </a:solidFill>
              </a:rPr>
              <a:t>Ensemble 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3BB4FE0E-1FDF-42D5-95F4-BBF3034E09E0}"/>
              </a:ext>
            </a:extLst>
          </p:cNvPr>
          <p:cNvSpPr/>
          <p:nvPr/>
        </p:nvSpPr>
        <p:spPr>
          <a:xfrm>
            <a:off x="6303260" y="2597655"/>
            <a:ext cx="1680119" cy="44628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对象 18">
                <a:extLst>
                  <a:ext uri="{FF2B5EF4-FFF2-40B4-BE49-F238E27FC236}">
                    <a16:creationId xmlns:a16="http://schemas.microsoft.com/office/drawing/2014/main" id="{7DA98869-D445-492B-A4FF-72F51A59802B}"/>
                  </a:ext>
                </a:extLst>
              </p:cNvPr>
              <p:cNvSpPr txBox="1"/>
              <p:nvPr/>
            </p:nvSpPr>
            <p:spPr bwMode="auto">
              <a:xfrm>
                <a:off x="6264563" y="3463450"/>
                <a:ext cx="3681412" cy="6794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12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zh-CN" altLang="en-US" sz="1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CN" altLang="en-US" sz="1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zh-CN" altLang="en-US" sz="1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zh-CN" altLang="en-US" sz="1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zh-CN" altLang="en-US" sz="1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1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zh-CN" altLang="en-US" sz="1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zh-CN" altLang="en-US" sz="1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1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zh-CN" altLang="en-US" sz="1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zh-CN" altLang="en-US" sz="12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exp</m:t>
                              </m:r>
                            </m:fName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zh-CN" altLang="en-US" sz="1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sz="1200" i="1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200" b="0" i="1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</m:e>
                                    <m:sub>
                                      <m:r>
                                        <a:rPr lang="en-US" altLang="zh-CN" sz="1200" b="0" i="1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𝑟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zh-CN" altLang="en-US" sz="1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zh-CN" altLang="en-US" sz="12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zh-CN" altLang="en-US" sz="12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𝑈</m:t>
                                          </m:r>
                                        </m:e>
                                        <m:sub>
                                          <m:r>
                                            <a:rPr lang="zh-CN" altLang="en-US" sz="12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sub>
                                      </m:sSub>
                                      <m:r>
                                        <a:rPr lang="zh-CN" altLang="en-US" sz="1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zh-CN" altLang="en-US" sz="12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zh-CN" altLang="en-US" sz="12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𝐸</m:t>
                                          </m:r>
                                        </m:e>
                                        <m:sub>
                                          <m:r>
                                            <a:rPr lang="zh-CN" altLang="en-US" sz="12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zh-CN" altLang="en-US" sz="1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sSub>
                                        <m:sSubPr>
                                          <m:ctrlPr>
                                            <a:rPr lang="zh-CN" altLang="en-US" sz="12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zh-CN" altLang="en-US" sz="12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𝑁</m:t>
                                          </m:r>
                                        </m:e>
                                        <m:sub>
                                          <m:r>
                                            <a:rPr lang="zh-CN" altLang="en-US" sz="12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sub>
                                      </m:sSub>
                                      <m:r>
                                        <a:rPr lang="zh-CN" altLang="en-US" sz="1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zh-CN" altLang="en-US" sz="12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zh-CN" altLang="en-US" sz="12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𝑁</m:t>
                                          </m:r>
                                        </m:e>
                                        <m:sub>
                                          <m:r>
                                            <a:rPr lang="zh-CN" altLang="en-US" sz="12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lang="zh-CN" altLang="en-US" sz="1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/</m:t>
                                  </m:r>
                                  <m:sSub>
                                    <m:sSubPr>
                                      <m:ctrlPr>
                                        <a:rPr lang="zh-CN" altLang="en-US" sz="1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1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e>
                                    <m:sub>
                                      <m:r>
                                        <a:rPr lang="zh-CN" altLang="en-US" sz="1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𝐵</m:t>
                                      </m:r>
                                    </m:sub>
                                  </m:sSub>
                                  <m:r>
                                    <a:rPr lang="zh-CN" altLang="en-US" sz="1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</m:d>
                            </m:e>
                          </m:func>
                        </m:num>
                        <m:den>
                          <m:func>
                            <m:funcPr>
                              <m:ctrlPr>
                                <a:rPr lang="zh-CN" altLang="en-US" sz="1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zh-CN" altLang="en-US" sz="12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exp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zh-CN" altLang="en-US" sz="1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1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zh-CN" altLang="en-US" sz="1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func>
                          <m:d>
                            <m:dPr>
                              <m:ctrlPr>
                                <a:rPr lang="zh-CN" altLang="en-US" sz="1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zh-CN" altLang="en-US" sz="1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1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𝑈</m:t>
                                  </m:r>
                                </m:e>
                                <m:sub>
                                  <m:r>
                                    <a:rPr lang="zh-CN" altLang="en-US" sz="1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zh-CN" altLang="en-US" sz="1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zh-CN" altLang="en-US" sz="1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1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e>
                                <m:sub>
                                  <m:r>
                                    <a:rPr lang="zh-CN" altLang="en-US" sz="1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d>
                          <m:r>
                            <a:rPr lang="zh-CN" altLang="en-US" sz="1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/</m:t>
                          </m:r>
                          <m:sSub>
                            <m:sSubPr>
                              <m:ctrlPr>
                                <a:rPr lang="zh-CN" altLang="en-US" sz="1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1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zh-CN" altLang="en-US" sz="1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  <m:r>
                            <a:rPr lang="zh-CN" altLang="en-US" sz="1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den>
                      </m:f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29" name="对象 18">
                <a:extLst>
                  <a:ext uri="{FF2B5EF4-FFF2-40B4-BE49-F238E27FC236}">
                    <a16:creationId xmlns:a16="http://schemas.microsoft.com/office/drawing/2014/main" id="{7DA98869-D445-492B-A4FF-72F51A5980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264563" y="3463450"/>
                <a:ext cx="3681412" cy="679450"/>
              </a:xfrm>
              <a:prstGeom prst="rect">
                <a:avLst/>
              </a:prstGeom>
              <a:blipFill>
                <a:blip r:embed="rId28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矩形 29">
            <a:extLst>
              <a:ext uri="{FF2B5EF4-FFF2-40B4-BE49-F238E27FC236}">
                <a16:creationId xmlns:a16="http://schemas.microsoft.com/office/drawing/2014/main" id="{FE05373E-1051-44CB-8D7C-8D6FD7AD6275}"/>
              </a:ext>
            </a:extLst>
          </p:cNvPr>
          <p:cNvSpPr/>
          <p:nvPr/>
        </p:nvSpPr>
        <p:spPr>
          <a:xfrm>
            <a:off x="6303260" y="3465462"/>
            <a:ext cx="2827916" cy="44628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901445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973913" y="108102"/>
            <a:ext cx="322075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solidFill>
                  <a:srgbClr val="FF0000"/>
                </a:solidFill>
              </a:rPr>
              <a:t>Thermodynamics Potential</a:t>
            </a:r>
            <a:endParaRPr lang="zh-CN" altLang="en-US" sz="2000" dirty="0">
              <a:solidFill>
                <a:srgbClr val="FF0000"/>
              </a:solidFill>
            </a:endParaRPr>
          </a:p>
        </p:txBody>
      </p:sp>
      <p:sp>
        <p:nvSpPr>
          <p:cNvPr id="4" name="矩形 3"/>
          <p:cNvSpPr/>
          <p:nvPr/>
        </p:nvSpPr>
        <p:spPr>
          <a:xfrm>
            <a:off x="4194666" y="731272"/>
            <a:ext cx="1274708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/>
              <a:t>Canonical </a:t>
            </a:r>
          </a:p>
          <a:p>
            <a:r>
              <a:rPr lang="en-US" altLang="zh-CN" dirty="0"/>
              <a:t>Ensemble</a:t>
            </a:r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1785720" y="749930"/>
            <a:ext cx="1723549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 err="1"/>
              <a:t>Microcanonical</a:t>
            </a:r>
            <a:endParaRPr lang="en-US" altLang="zh-CN" dirty="0"/>
          </a:p>
          <a:p>
            <a:r>
              <a:rPr lang="en-US" altLang="zh-CN" dirty="0"/>
              <a:t>Ensemble </a:t>
            </a:r>
          </a:p>
        </p:txBody>
      </p:sp>
      <p:sp>
        <p:nvSpPr>
          <p:cNvPr id="6" name="TextBox 3"/>
          <p:cNvSpPr txBox="1"/>
          <p:nvPr/>
        </p:nvSpPr>
        <p:spPr>
          <a:xfrm>
            <a:off x="1646945" y="1377603"/>
            <a:ext cx="19543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chemeClr val="accent6"/>
                </a:solidFill>
              </a:rPr>
              <a:t>isolated systems </a:t>
            </a:r>
          </a:p>
        </p:txBody>
      </p:sp>
      <p:sp>
        <p:nvSpPr>
          <p:cNvPr id="7" name="TextBox 4"/>
          <p:cNvSpPr txBox="1"/>
          <p:nvPr/>
        </p:nvSpPr>
        <p:spPr>
          <a:xfrm>
            <a:off x="4194666" y="1338876"/>
            <a:ext cx="16337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chemeClr val="accent6"/>
                </a:solidFill>
              </a:rPr>
              <a:t>close systems</a:t>
            </a:r>
            <a:endParaRPr lang="zh-CN" altLang="en-US" dirty="0">
              <a:solidFill>
                <a:schemeClr val="accent6"/>
              </a:solidFill>
            </a:endParaRPr>
          </a:p>
        </p:txBody>
      </p:sp>
      <p:sp>
        <p:nvSpPr>
          <p:cNvPr id="8" name="矩形 7"/>
          <p:cNvSpPr/>
          <p:nvPr/>
        </p:nvSpPr>
        <p:spPr>
          <a:xfrm>
            <a:off x="6375246" y="757861"/>
            <a:ext cx="186461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 err="1"/>
              <a:t>Grandcanonical</a:t>
            </a:r>
            <a:r>
              <a:rPr lang="en-US" altLang="zh-CN" dirty="0"/>
              <a:t> </a:t>
            </a:r>
          </a:p>
          <a:p>
            <a:r>
              <a:rPr lang="en-US" altLang="zh-CN" dirty="0"/>
              <a:t>Ensemble</a:t>
            </a:r>
            <a:endParaRPr lang="zh-CN" altLang="en-US" dirty="0"/>
          </a:p>
        </p:txBody>
      </p:sp>
      <p:sp>
        <p:nvSpPr>
          <p:cNvPr id="9" name="TextBox 6"/>
          <p:cNvSpPr txBox="1"/>
          <p:nvPr/>
        </p:nvSpPr>
        <p:spPr>
          <a:xfrm>
            <a:off x="6375246" y="1340216"/>
            <a:ext cx="16081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chemeClr val="accent6"/>
                </a:solidFill>
              </a:rPr>
              <a:t>open systems</a:t>
            </a:r>
            <a:endParaRPr lang="zh-CN" altLang="en-US" dirty="0">
              <a:solidFill>
                <a:schemeClr val="accent6"/>
              </a:solidFill>
            </a:endParaRPr>
          </a:p>
        </p:txBody>
      </p:sp>
      <p:graphicFrame>
        <p:nvGraphicFramePr>
          <p:cNvPr id="10" name="对象 9"/>
          <p:cNvGraphicFramePr>
            <a:graphicFrameLocks noChangeAspect="1"/>
          </p:cNvGraphicFramePr>
          <p:nvPr/>
        </p:nvGraphicFramePr>
        <p:xfrm>
          <a:off x="1819275" y="1968500"/>
          <a:ext cx="1655763" cy="320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307880" imgH="253800" progId="Equation.DSMT4">
                  <p:embed/>
                </p:oleObj>
              </mc:Choice>
              <mc:Fallback>
                <p:oleObj name="Equation" r:id="rId2" imgW="1307880" imgH="253800" progId="Equation.DSMT4">
                  <p:embed/>
                  <p:pic>
                    <p:nvPicPr>
                      <p:cNvPr id="10" name="对象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19275" y="1968500"/>
                        <a:ext cx="1655763" cy="320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/>
        </p:nvGraphicFramePr>
        <p:xfrm>
          <a:off x="4351269" y="1949926"/>
          <a:ext cx="1516062" cy="263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460160" imgH="253800" progId="Equation.DSMT4">
                  <p:embed/>
                </p:oleObj>
              </mc:Choice>
              <mc:Fallback>
                <p:oleObj name="Equation" r:id="rId4" imgW="1460160" imgH="253800" progId="Equation.DSMT4">
                  <p:embed/>
                  <p:pic>
                    <p:nvPicPr>
                      <p:cNvPr id="11" name="对象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51269" y="1949926"/>
                        <a:ext cx="1516062" cy="263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/>
        </p:nvGraphicFramePr>
        <p:xfrm>
          <a:off x="6343650" y="1943100"/>
          <a:ext cx="1498600" cy="25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498320" imgH="253800" progId="Equation.DSMT4">
                  <p:embed/>
                </p:oleObj>
              </mc:Choice>
              <mc:Fallback>
                <p:oleObj name="Equation" r:id="rId6" imgW="1498320" imgH="253800" progId="Equation.DSMT4">
                  <p:embed/>
                  <p:pic>
                    <p:nvPicPr>
                      <p:cNvPr id="12" name="对象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43650" y="1943100"/>
                        <a:ext cx="1498600" cy="254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TextBox 10"/>
          <p:cNvSpPr txBox="1"/>
          <p:nvPr/>
        </p:nvSpPr>
        <p:spPr>
          <a:xfrm>
            <a:off x="0" y="1946791"/>
            <a:ext cx="1492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TD potential </a:t>
            </a:r>
            <a:endParaRPr lang="zh-CN" altLang="en-US" dirty="0"/>
          </a:p>
        </p:txBody>
      </p:sp>
      <p:sp>
        <p:nvSpPr>
          <p:cNvPr id="3" name="文本框 2"/>
          <p:cNvSpPr txBox="1"/>
          <p:nvPr/>
        </p:nvSpPr>
        <p:spPr>
          <a:xfrm>
            <a:off x="346458" y="2636654"/>
            <a:ext cx="47628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U and H are also thermodynamics Potential. </a:t>
            </a:r>
          </a:p>
        </p:txBody>
      </p:sp>
      <p:pic>
        <p:nvPicPr>
          <p:cNvPr id="140295" name="Picture 7" descr="See the source image"/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139" b="41110"/>
          <a:stretch/>
        </p:blipFill>
        <p:spPr bwMode="auto">
          <a:xfrm>
            <a:off x="834578" y="3415062"/>
            <a:ext cx="6720176" cy="21547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任意多边形 15"/>
          <p:cNvSpPr/>
          <p:nvPr/>
        </p:nvSpPr>
        <p:spPr>
          <a:xfrm>
            <a:off x="6483927" y="2232561"/>
            <a:ext cx="1199408" cy="605642"/>
          </a:xfrm>
          <a:custGeom>
            <a:avLst/>
            <a:gdLst>
              <a:gd name="connsiteX0" fmla="*/ 1199408 w 1199408"/>
              <a:gd name="connsiteY0" fmla="*/ 605642 h 605642"/>
              <a:gd name="connsiteX1" fmla="*/ 201881 w 1199408"/>
              <a:gd name="connsiteY1" fmla="*/ 439387 h 605642"/>
              <a:gd name="connsiteX2" fmla="*/ 0 w 1199408"/>
              <a:gd name="connsiteY2" fmla="*/ 0 h 605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199408" h="605642">
                <a:moveTo>
                  <a:pt x="1199408" y="605642"/>
                </a:moveTo>
                <a:lnTo>
                  <a:pt x="201881" y="439387"/>
                </a:lnTo>
                <a:lnTo>
                  <a:pt x="0" y="0"/>
                </a:ln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6275154" y="2911159"/>
            <a:ext cx="31341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This is not Gibbs free energy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685323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314" name="Picture 2" descr="See the source imag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34747" y="957491"/>
            <a:ext cx="4514850" cy="4505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文本框 2"/>
          <p:cNvSpPr txBox="1"/>
          <p:nvPr/>
        </p:nvSpPr>
        <p:spPr>
          <a:xfrm>
            <a:off x="1055914" y="97971"/>
            <a:ext cx="387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/>
              <a:t>Thermodynamics Venn diagram </a:t>
            </a:r>
            <a:endParaRPr lang="zh-CN" altLang="en-US" sz="2000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665" y="5783554"/>
            <a:ext cx="7801392" cy="830576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287818" y="5414222"/>
            <a:ext cx="46431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rgbClr val="0000FF"/>
                </a:solidFill>
                <a:latin typeface="Arial" panose="020B0604020202020204" pitchFamily="34" charset="0"/>
              </a:rPr>
              <a:t>American Journal of Physics </a:t>
            </a:r>
            <a:r>
              <a:rPr lang="en-US" altLang="zh-CN" b="1" dirty="0">
                <a:solidFill>
                  <a:srgbClr val="000000"/>
                </a:solidFill>
                <a:latin typeface="Arial" panose="020B0604020202020204" pitchFamily="34" charset="0"/>
              </a:rPr>
              <a:t>79</a:t>
            </a:r>
            <a:r>
              <a:rPr lang="en-US" altLang="zh-CN" dirty="0">
                <a:solidFill>
                  <a:srgbClr val="000000"/>
                </a:solidFill>
                <a:latin typeface="Arial" panose="020B0604020202020204" pitchFamily="34" charset="0"/>
              </a:rPr>
              <a:t>, 950 (2011)</a:t>
            </a:r>
            <a:endParaRPr lang="zh-CN" altLang="en-US" dirty="0"/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338364" y="2168566"/>
          <a:ext cx="1435100" cy="25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434960" imgH="253800" progId="Equation.DSMT4">
                  <p:embed/>
                </p:oleObj>
              </mc:Choice>
              <mc:Fallback>
                <p:oleObj name="Equation" r:id="rId4" imgW="1434960" imgH="253800" progId="Equation.DSMT4">
                  <p:embed/>
                  <p:pic>
                    <p:nvPicPr>
                      <p:cNvPr id="6" name="对象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8364" y="2168566"/>
                        <a:ext cx="1435100" cy="254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任意多边形 1"/>
          <p:cNvSpPr/>
          <p:nvPr/>
        </p:nvSpPr>
        <p:spPr>
          <a:xfrm>
            <a:off x="866899" y="2422566"/>
            <a:ext cx="1769423" cy="724395"/>
          </a:xfrm>
          <a:custGeom>
            <a:avLst/>
            <a:gdLst>
              <a:gd name="connsiteX0" fmla="*/ 0 w 1769423"/>
              <a:gd name="connsiteY0" fmla="*/ 0 h 724395"/>
              <a:gd name="connsiteX1" fmla="*/ 475013 w 1769423"/>
              <a:gd name="connsiteY1" fmla="*/ 356260 h 724395"/>
              <a:gd name="connsiteX2" fmla="*/ 1769423 w 1769423"/>
              <a:gd name="connsiteY2" fmla="*/ 724395 h 7243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769423" h="724395">
                <a:moveTo>
                  <a:pt x="0" y="0"/>
                </a:moveTo>
                <a:lnTo>
                  <a:pt x="475013" y="356260"/>
                </a:lnTo>
                <a:lnTo>
                  <a:pt x="1769423" y="724395"/>
                </a:ln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257402" y="3786631"/>
          <a:ext cx="1516062" cy="263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460160" imgH="253800" progId="Equation.DSMT4">
                  <p:embed/>
                </p:oleObj>
              </mc:Choice>
              <mc:Fallback>
                <p:oleObj name="Equation" r:id="rId6" imgW="1460160" imgH="253800" progId="Equation.DSMT4">
                  <p:embed/>
                  <p:pic>
                    <p:nvPicPr>
                      <p:cNvPr id="8" name="对象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7402" y="3786631"/>
                        <a:ext cx="1516062" cy="263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任意多边形 6"/>
          <p:cNvSpPr/>
          <p:nvPr/>
        </p:nvSpPr>
        <p:spPr>
          <a:xfrm>
            <a:off x="1128156" y="3420094"/>
            <a:ext cx="2256312" cy="403761"/>
          </a:xfrm>
          <a:custGeom>
            <a:avLst/>
            <a:gdLst>
              <a:gd name="connsiteX0" fmla="*/ 0 w 2256312"/>
              <a:gd name="connsiteY0" fmla="*/ 403761 h 403761"/>
              <a:gd name="connsiteX1" fmla="*/ 748145 w 2256312"/>
              <a:gd name="connsiteY1" fmla="*/ 0 h 403761"/>
              <a:gd name="connsiteX2" fmla="*/ 2256312 w 2256312"/>
              <a:gd name="connsiteY2" fmla="*/ 237506 h 4037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256312" h="403761">
                <a:moveTo>
                  <a:pt x="0" y="403761"/>
                </a:moveTo>
                <a:lnTo>
                  <a:pt x="748145" y="0"/>
                </a:lnTo>
                <a:lnTo>
                  <a:pt x="2256312" y="237506"/>
                </a:ln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49533" y="1629007"/>
            <a:ext cx="218521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 dirty="0" err="1"/>
              <a:t>Grandcanonical</a:t>
            </a:r>
            <a:r>
              <a:rPr lang="en-US" altLang="zh-CN" sz="1400" dirty="0"/>
              <a:t> Potential</a:t>
            </a:r>
          </a:p>
        </p:txBody>
      </p:sp>
      <p:sp>
        <p:nvSpPr>
          <p:cNvPr id="11" name="矩形 10"/>
          <p:cNvSpPr/>
          <p:nvPr/>
        </p:nvSpPr>
        <p:spPr>
          <a:xfrm>
            <a:off x="19819" y="4108916"/>
            <a:ext cx="172835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 dirty="0"/>
              <a:t>Canonical Potential</a:t>
            </a:r>
          </a:p>
        </p:txBody>
      </p:sp>
    </p:spTree>
    <p:extLst>
      <p:ext uri="{BB962C8B-B14F-4D97-AF65-F5344CB8AC3E}">
        <p14:creationId xmlns:p14="http://schemas.microsoft.com/office/powerpoint/2010/main" val="33077409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69466" y="123063"/>
            <a:ext cx="44133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solidFill>
                  <a:srgbClr val="FF0000"/>
                </a:solidFill>
              </a:rPr>
              <a:t>The Bose-Einstein Distribution 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39496" y="1179576"/>
            <a:ext cx="79688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For other case, such as gas molecules, can have a fixed number of particles</a:t>
            </a:r>
            <a:endParaRPr lang="zh-CN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539496" y="1724644"/>
            <a:ext cx="59128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We should use grand canonical ensembles as Fermions</a:t>
            </a:r>
            <a:endParaRPr lang="zh-CN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644271" y="2286501"/>
            <a:ext cx="4211409" cy="36933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zh-CN" dirty="0"/>
              <a:t>The general Bose-Einstein distribution </a:t>
            </a:r>
            <a:endParaRPr lang="zh-CN" altLang="en-US" dirty="0"/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695324" y="2935463"/>
          <a:ext cx="1789389" cy="63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866600" imgH="660240" progId="Equation.DSMT4">
                  <p:embed/>
                </p:oleObj>
              </mc:Choice>
              <mc:Fallback>
                <p:oleObj name="Equation" r:id="rId3" imgW="1866600" imgH="660240" progId="Equation.DSMT4">
                  <p:embed/>
                  <p:pic>
                    <p:nvPicPr>
                      <p:cNvPr id="6" name="对象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5324" y="2935463"/>
                        <a:ext cx="1789389" cy="635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1918809" y="3830284"/>
            <a:ext cx="3929281" cy="36933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zh-CN" dirty="0"/>
              <a:t>The general Fermi-Dirac distribution </a:t>
            </a:r>
            <a:endParaRPr lang="zh-CN" altLang="en-US" dirty="0"/>
          </a:p>
        </p:txBody>
      </p:sp>
      <p:graphicFrame>
        <p:nvGraphicFramePr>
          <p:cNvPr id="9" name="对象 8"/>
          <p:cNvGraphicFramePr>
            <a:graphicFrameLocks noChangeAspect="1"/>
          </p:cNvGraphicFramePr>
          <p:nvPr/>
        </p:nvGraphicFramePr>
        <p:xfrm>
          <a:off x="3354020" y="5952316"/>
          <a:ext cx="1838519" cy="500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777680" imgH="482400" progId="Equation.DSMT4">
                  <p:embed/>
                </p:oleObj>
              </mc:Choice>
              <mc:Fallback>
                <p:oleObj name="Equation" r:id="rId5" imgW="1777680" imgH="482400" progId="Equation.DSMT4">
                  <p:embed/>
                  <p:pic>
                    <p:nvPicPr>
                      <p:cNvPr id="9" name="对象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4020" y="5952316"/>
                        <a:ext cx="1838519" cy="500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2830354" y="5225864"/>
            <a:ext cx="4724370" cy="36933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zh-CN" dirty="0"/>
              <a:t>The general Maxwell-Boltzmann distribution 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矩形 10"/>
              <p:cNvSpPr/>
              <p:nvPr/>
            </p:nvSpPr>
            <p:spPr>
              <a:xfrm>
                <a:off x="1968441" y="4303462"/>
                <a:ext cx="2736663" cy="62260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⟨"/>
                          <m:endChr m:val="⟩"/>
                          <m:ctrlPr>
                            <a:rPr lang="zh-CN" altLang="en-US" sz="12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1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m:rPr>
                          <m:nor/>
                        </m:rPr>
                        <a:rPr lang="zh-CN" altLang="en-US" sz="12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1200" b="0" i="1" smtClean="0">
                          <a:solidFill>
                            <a:srgbClr val="000000"/>
                          </a:solidFill>
                          <a:latin typeface="Cambria Math"/>
                        </a:rPr>
                        <m:t>𝑓</m:t>
                      </m:r>
                      <m:d>
                        <m:dPr>
                          <m:ctrlPr>
                            <a:rPr lang="en-US" altLang="zh-CN" sz="12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200" b="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𝐸</m:t>
                          </m:r>
                        </m:e>
                      </m:d>
                      <m:r>
                        <a:rPr lang="en-US" altLang="zh-CN" sz="1200" b="0" i="1" smtClean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zh-CN" altLang="en-US" sz="1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1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CN" altLang="en-US" sz="1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1+</m:t>
                          </m:r>
                          <m:func>
                            <m:funcPr>
                              <m:ctrlPr>
                                <a:rPr lang="zh-CN" altLang="en-US" sz="1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zh-CN" altLang="en-US" sz="12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exp</m:t>
                              </m:r>
                            </m:fName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zh-CN" altLang="en-US" sz="1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zh-CN" altLang="en-US" sz="1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zh-CN" altLang="en-US" sz="1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𝐸</m:t>
                                      </m:r>
                                      <m:r>
                                        <a:rPr lang="zh-CN" altLang="en-US" sz="1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zh-CN" altLang="en-US" sz="1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𝜇</m:t>
                                      </m:r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zh-CN" altLang="en-US" sz="12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zh-CN" altLang="en-US" sz="12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e>
                                        <m:sub>
                                          <m:r>
                                            <a:rPr lang="zh-CN" altLang="en-US" sz="12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𝐵</m:t>
                                          </m:r>
                                        </m:sub>
                                      </m:sSub>
                                      <m:r>
                                        <a:rPr lang="zh-CN" altLang="en-US" sz="1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𝑇</m:t>
                                      </m:r>
                                    </m:den>
                                  </m:f>
                                </m:e>
                              </m:d>
                            </m:e>
                          </m:func>
                        </m:den>
                      </m:f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11" name="矩形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68441" y="4303462"/>
                <a:ext cx="2736663" cy="622606"/>
              </a:xfrm>
              <a:prstGeom prst="rect">
                <a:avLst/>
              </a:prstGeom>
              <a:blipFill rotWithShape="1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408890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22429" y="2995030"/>
            <a:ext cx="6508902" cy="867940"/>
          </a:xfrm>
        </p:spPr>
        <p:txBody>
          <a:bodyPr>
            <a:normAutofit fontScale="90000"/>
          </a:bodyPr>
          <a:lstStyle/>
          <a:p>
            <a:r>
              <a:rPr lang="en-US" altLang="zh-CN" sz="3200" dirty="0">
                <a:solidFill>
                  <a:srgbClr val="FF0000"/>
                </a:solidFill>
              </a:rPr>
              <a:t>19. Statistical thermodynamic </a:t>
            </a:r>
            <a:br>
              <a:rPr lang="en-US" altLang="zh-CN" sz="3200" dirty="0">
                <a:solidFill>
                  <a:srgbClr val="FF0000"/>
                </a:solidFill>
              </a:rPr>
            </a:br>
            <a:r>
              <a:rPr lang="en-US" altLang="zh-CN" sz="3200" dirty="0">
                <a:solidFill>
                  <a:srgbClr val="FF0000"/>
                </a:solidFill>
              </a:rPr>
              <a:t>      interpret of Heat capacity</a:t>
            </a:r>
            <a:endParaRPr lang="zh-CN" altLang="en-US" sz="3200" dirty="0">
              <a:solidFill>
                <a:srgbClr val="FF0000"/>
              </a:solidFill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EFA2DA8-8D41-473B-8F96-DB46E08B5EB9}"/>
              </a:ext>
            </a:extLst>
          </p:cNvPr>
          <p:cNvSpPr txBox="1"/>
          <p:nvPr/>
        </p:nvSpPr>
        <p:spPr>
          <a:xfrm>
            <a:off x="665017" y="4713316"/>
            <a:ext cx="76952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Chapter 4 and 5, Introduction to Solid State Physics, C. Kittle, Wiley, 2004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917160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1036955" y="7937"/>
            <a:ext cx="5241925" cy="676656"/>
          </a:xfrm>
        </p:spPr>
        <p:txBody>
          <a:bodyPr>
            <a:normAutofit/>
          </a:bodyPr>
          <a:lstStyle/>
          <a:p>
            <a:pPr algn="l"/>
            <a:r>
              <a:rPr lang="en-US" altLang="zh-CN" sz="3600" dirty="0">
                <a:solidFill>
                  <a:srgbClr val="FF0000"/>
                </a:solidFill>
                <a:latin typeface="+mn-lt"/>
                <a:cs typeface="Arial" panose="020B0604020202020204" pitchFamily="34" charset="0"/>
              </a:rPr>
              <a:t>Heat capacity: </a:t>
            </a:r>
            <a:r>
              <a:rPr lang="en-US" altLang="zh-CN" sz="3600" dirty="0" err="1">
                <a:solidFill>
                  <a:srgbClr val="FF0000"/>
                </a:solidFill>
                <a:latin typeface="+mn-lt"/>
                <a:cs typeface="Arial" panose="020B0604020202020204" pitchFamily="34" charset="0"/>
              </a:rPr>
              <a:t>c</a:t>
            </a:r>
            <a:r>
              <a:rPr lang="en-US" altLang="zh-CN" sz="3600" baseline="-25000" dirty="0" err="1">
                <a:solidFill>
                  <a:srgbClr val="FF0000"/>
                </a:solidFill>
                <a:latin typeface="+mn-lt"/>
                <a:cs typeface="Arial" panose="020B0604020202020204" pitchFamily="34" charset="0"/>
              </a:rPr>
              <a:t>V</a:t>
            </a:r>
            <a:r>
              <a:rPr lang="en-US" altLang="zh-CN" sz="3600" dirty="0">
                <a:solidFill>
                  <a:srgbClr val="FF0000"/>
                </a:solidFill>
                <a:latin typeface="+mn-lt"/>
                <a:cs typeface="Arial" panose="020B0604020202020204" pitchFamily="34" charset="0"/>
              </a:rPr>
              <a:t> and </a:t>
            </a:r>
            <a:r>
              <a:rPr lang="en-US" altLang="zh-CN" sz="3600" dirty="0" err="1">
                <a:solidFill>
                  <a:srgbClr val="FF0000"/>
                </a:solidFill>
                <a:latin typeface="+mn-lt"/>
                <a:cs typeface="Arial" panose="020B0604020202020204" pitchFamily="34" charset="0"/>
              </a:rPr>
              <a:t>c</a:t>
            </a:r>
            <a:r>
              <a:rPr lang="en-US" altLang="zh-CN" sz="3600" baseline="-25000" dirty="0" err="1">
                <a:solidFill>
                  <a:srgbClr val="FF0000"/>
                </a:solidFill>
                <a:latin typeface="+mn-lt"/>
                <a:cs typeface="Arial" panose="020B0604020202020204" pitchFamily="34" charset="0"/>
              </a:rPr>
              <a:t>P</a:t>
            </a:r>
            <a:endParaRPr lang="en-US" sz="3600" dirty="0">
              <a:solidFill>
                <a:srgbClr val="FF0000"/>
              </a:solidFill>
              <a:latin typeface="+mn-lt"/>
            </a:endParaRPr>
          </a:p>
        </p:txBody>
      </p:sp>
      <p:sp>
        <p:nvSpPr>
          <p:cNvPr id="3" name="AutoShape 4" descr="data:image/jpeg;base64,/9j/4AAQSkZJRgABAQAAAQABAAD/2wCEAAkGBxITEhQUExQVFhUXFxwZGBcYGBgaFxwYHBwcGBcdGBweHCggGB0lHBwaITEhJSwsLi4uHB8zODMsNygtLisBCgoKDg0OGxAQGzAkHCU0LC00NCssLCwsLC80LDAsLCwsLywvLCwsLCwsLywsLCwsLCwsLCwsLCwsLCwsLCwsLP/AABEIAQcAvwMBIgACEQEDEQH/xAAcAAABBAMBAAAAAAAAAAAAAAAFAAQGBwIDCAH/xABNEAACAQMCAwUDCAUHCwMFAAABAgMABBESIQUTMQYiQVFhBzJxFCM0QnSBkbMkUqGx0RczVGJyksEVFjVDU3OTstLh8CWCoghEY6PT/8QAGQEBAAMBAQAAAAAAAAAAAAAAAAECAwQF/8QAJxEAAgIBBAICAgIDAAAAAAAAAAECESEDEjFRIkEEE3GhYcEUkfD/2gAMAwEAAhEDEQA/AKQdzk7nrXms+ZpP1PxrGgMtZ8zS1nzNY074pw2a3kMU6NHIuCVbqMgMPxBBoBtrPmaWs+ZrGnV9w+WHl8xCnMQSJn6yNnSw9Dg0A31nzNLWfM04FhLyefoPK5nL1+HMKlgvx0gmmtAZaz5mlrPmaxpUBlrPmaWs+ZqU8D7AcQvNPKg0ggbuwXI/Wwxz+AqYxewa8KjVcQq2+oYYgeWD41DklyE74Kl1nzNLWfM1bw9gl1/Sofwf+Fe/yB3P9Lh/uvVfsj2CoNZ8zS1nzNXCPYFcf0uH+49YzewS4AJF3Dt5qwH40+yPZNMqDWfM0tZ8zUv457Nb+3QyhUnhG/NgdXXy6e9+yoeRirJp8EHus+Zpaz5msaVSDLWfM0tR8zWNKgOzeyX0Gz+zRflrRahPZH6DZ/Zovy1otQHDzdTWNZP1PxrGgJP7OOFLcX8IkIWKImeVicKI4hrYsfBTgAn1qx+IcGiv73h1xPJb3Otp4pzAzPEXjV57dDsGyyYUjG+nbrVL291ImrQ7JrUo2liNSHBKtjqpwNjtsKzt+ITRrpSWRF1B9KuwGtfdbAPvDwPUUBbd5Y2MTTXHySJ2SwMrRPbywQGRbhER0jc6gCCQQDg6T+tWXD+ERO8MxtoXUcOtmYNHJKqvLI4ykCZMhONO5AUb+lVPc8ZuZGdpJ5nZ10OWkdiyA5CsSe8uQDg7bVlBxu6QgpcTqQnLBWRwRGOiDB9zc93pQFhe0Lh0dvZ3sUS6Y14sulfAA2zNgegztURik4S6rrS9hfABKNFMmfE6WCHc+Gqg11xOeQESTSuCwYhnZgWC6AxBO7Be7nrjamlAShezdpKQLfiMJY/VnjlhPoAQHUn76sTsl7N2tF5kiJPc+AVldIvI4G7N45xUQ9lHB1eWS6cZWDAQHoZWzj+6Mn8KsyQHJzuR41ScqwcnyNWvFAr2d8F4nBxVmnkZIO+W1EgSAghcKRsQSDvjp41cpuF/WX8RVawX8y+7I+PIsSPwO1bDxNj78cT/ABQKfxXBrm1fP3ROn8mlTRYhu0/XX+8P414b2P8AXT+8P41XTT27dYnT1R8/sYH99YG2t292Yr6SRn96Fv3Vj9T9Mv8A5P8AH7LGPEYv9on95f40M7RC2uraa3edFEqFSQ65APj1qFJwWSSRY4nictnvB1OgAe8yEq7Lq0juj61aOMdl7i1XVI6SB3AzFCwwQrHLksxVdsdcElc4xvK05LLf6NI6smrr9mq0t7bhPD5LSO4+USTOXZlHcXIA3IJCd1NgTknPgNoP2g4GlyCygLMOh6avR/X1qeWXYrmaXmfusEZUi1tq2JVn5hK5Go7EEdfWmnFuyZiDyxTErGhZ0lGJML+qVGGz92PvotaCnW7yJ1NHVa3pFG3VvoOCd/rDBBVs7qc+P8a0VMu33DgNE6/W7r/2gNj+G1Q2u+MtysiEtysVKlSqxc7N7I/QbP7NF+WtFqE9kfoNn9mi/LWi1AcPP1PxqQdluzC3Mc801wttbwaA8jIznVISEAVdz0OT4bVH36n41OfZleNGLjk3sdtcHRhLjT8mmjGdYfKnDLnI+Jx40AA4r2XnjuJYYh8p5YDcy3DSIUYBlY6QdOx3z0OaHJwydk5ghlMe3fCMU3bSO9jG7d347Vb1zxS1czRWF9BZOt3FNLKpMcTqIQsphH+sVZNR5Z2bJ+NDuG9qoIv8kK9zrhS5uXuAMqDmbVDJLEOm+HAOcb4oCtX4PciVYTBMJWGViMbiQjfouMnofDwpQcHuXYokEzMraWVY3LBsE6SAMg4B29D5Vc3+cdsLhYXmtjIbWdElW6nZQ0ksbhHuSNSalRiCPd1Y8dxfEe1kYa9aK4iSQzWC64pWPMEYfmsHbDPgaVZvHTnxoCoXQgkEEEHBB2II6g+VY0d7dTxycRvHjZWRriRlZSCpBYnII6g9c0JsbYyyxxggF3VAT0BYgb/jQFw+zy30cNiOMcyR3Prg6V/YKkFNLi1axhtLTMZYMYjIzFYQcsSzHGVG34mtlreCWKOUDTrXVpzkA5KnBwMqcZBx0IrGfJ5urCVufodNitTCvEbPiKzK/A1k1ZRLBqavM16+AN2ArDWvmNutVomjK1uJIZ0uIgpZQyMrHAaN9JYasEqcqpB8xvTi/wCO3LhVQyQxoS3880krsQRhm8EGc6cnJA6AbspJVB94U2muwpHQ5zjdQNuu5IFRm8G0NSaWxEy4bdK6RyhyEeIBXGcKRgOp/VPdO/Wm/ai8VoJnJyqwNGW8GZ10gDz3y2aA/wCcDK1ukGmBRy+cXdGV1IUB+WMHJTckA52rAcfkeOeOfRLzNSxvkroVhg9zB36+I229a5X8VqVt4u/7/wCwetL5UFGnzVEc4xw5ZLSVXcJhGcMempAWUf8AuPd++qlq7eIQiSCVc7MjDPltVT9qeDGzu5rYvr5TadYGnOwOcZOOteloPB53xnhoFUqVKtjpOzeyP0Gz+zRflrRahPZH6DZ/Zovy1otQHDz9T8axrOVcGsKAmPEvZrfwxPKwhYRpzHRJUaRY8BixTrgA5PpUOroTjXDzzbuVrNYY3sip4iJctj5OgI5RYjcjl4AB8jTabhUQsIluljMKPYEOscSQ8tnUTGNgxkfZsSO5AJ6AUBSfA+ES3UwhhwXIZhk4GEUu2/wBrO44HMltHdPpWOV2WME999PvMq9SgO2rz2q4bSG7Xidub2K3RRJeLEIwiTNAIXI9zumIDZWPezUM9ogW7tbPiMCaIinyZ4QcrA8edAXyVl3Hw33NAQzhC25kxctKseD3olVmDeB0sQCPPfNWR2J9miXWZre6WQRSI8b6JEDaTlkkRlyjbbMpYdc+FVWy4ODRXgnFbpJIkhnlTLqAFkcDJYeAOOtAdIXvB3muFhlcpzFL5XSTkA6gNSkHdt9j4V6fZopJJvbo9MfzGB93Kotc8wcQs11NoEMuodQWwmM+vXf41JqpFIp9cSB/yaJt+mXR8/5jf4fM7VsHs0h/pV3+MP8AhFU4pVal0Prj0QNvZhBv+k3XoCYtv/1ZNL+S+3yM3Fzj+2mT/wDDH7KnleYpS6J2R6IL/JZabZmuvX5xN/j83t92K3QezSyUkl7hh5GTp94AP7ammK8am1dDbHoig7AWA6I/QD+cfoBgePkAPurVL2Ish/q2/wCI/wDGpRI1aHOaq4x6LbV0Vp2j4bHBMsMS4V4ixySdySvj6VSHa66Mt3K5zk6c58wig/uq/O2y/pkP+5P/ADmqB7WR6budfJ/2YGP2VSC82Ywdakl+ATSpV7itjY7M7I/QbP7NF+WtFqE9kfoNn9mi/LWi1AcPP1PxrGsn6n41M+xZgisb+5ltobhontlQShsASGUNjBB8B+FAQvNLUfM+X3das3iHZmCRZZLaKKNbi1tZlRyzcl5pjCwjby1Kd28DTK/9mLJdwWq3Sl5WkQ64ZY9JjTXkBx84hxgOu1AQBnJ6knAx93lXmasXhfYyGNJphLHdwPYXbRyBHXTPCBnutvlcgg+Oaap7OdUMUq3aMGkgjkIikCIZ9lKyHCzaSQG0nbxoCB0b7E2/M4hZpjrcRfhrBP7K28c7LPawc2RwGNzLAseDkiE6XfPgNfdx6Gnfsr/0tZf70fuNQ+CVydPXIzew7HaNjnw6EUaoWfpQ9I/8TRSqwdqyqFSpUquSKvK9pUB4RWMgrOsXoBsyVpkG/T8K3Oa1t6VDJRXfb6dUu4ckDMJ/HXj/ABA/Cqe9pr/pQTRGAEVg6rh31gNl2+vjoPIbVZntfEpurfkqWYQnoMlTrGkj1zj0qou2M0rzKZlCvy1BUbYAzpGMnG2NvCqKPluM1GptgGlSpVoXOzeyP0Gz+zRflrRahPZH6DZ/Zovy1otQHDz9TUj7LdpIbeC5guLX5RHO0TEc1o8GLWRuoyff/ZUcfqfjUm7JcItmhuLy85jQQGNBHEQrySSE4Go+6qhST91AO7zt8z/KB8njEckUMMcQJMccUDh1Ujq4O+enU1JuBe0SKa9slaMW8EcssrNLO8qhmhdAqF8cqLfAQbbjpUTl7MRXc7f5NfMAiWSRrhhGICxwY5HbCsdXQjrnxwTWNp7Pb55JY9MaGKVYnMkqIA7jMeCT3tW2MZzqHnQD1+3yLGYYLVYoPk08QQSMx5lwAHkLEbgYAC+Q6+Tvi/tA+WxNbCEQPO1uGlad+UjREBSqkaYY8ZJ09Ou+KZp7Obg20Tgp8oku3t+UZIxgrhfPOrXqyPAAHxpvB7Ob53dByMoyoSZ4wplYahEhzhpPNR0++gCntK4it/fQQQywFY4gpk1hYGnbMkzBzt3m2z4ketaOw3Abq14vYi4hePMw0lh3G2PusO633E0I47wBYLG0mIZZpJJ0lUnYGJwgAHgRvmn/ALLOLXC31vbJPIkMz6HRW2w3ioOQreTDcVD4JXJ00WxdqPOP/E0VqGtaX8FwOVKl2Amyz4jkxk7c2NdJ9MpnzPiCCdrokOm7jltG85l+a+6dcxfcWB9KiCpFUSKlWEMquAysGU7ggggj0I61nViRUqVeUB7WEgrKsZKAbOKyYik61rk9KqSVF7ZrjTcRHfSLZ84ODgvnb4af3VS/Gr0zOHPljrnxP8auL22D55cjpaNj175/d/jVNyq2hsHC5GoZ6nfTt4+NSuLKRzJoY0qVKpLHZvZH6DZ/Zovy1otQnsj9Bs/s0X5a0WoDh5+p+NSXspxi2WG4tLwSiCco4eIKXjkjJ0kK2AykMQfuqNP1Pxor2d7NXV6zrbR8woAzd5VwCcD3iPGgJRH2k4YflNoIp4bOWKFRIgRpzJC2rmSKTpOvJBAO2B64ccQ7eW0gkUJKq/KbRowQpbk2yaO+c++cZ8t+tQnjvA7izk5VzGY3wGAOCCp6FSCQRsenlTaCxldGdY2ZFZVLAEgM2dC58zg4HpQFk2vbuy5vNcTgpxSS7QBFOqKXSCG7+zAA7dOm9CeAdp7LkpFeC4HIujdRNCFJfOCySamGDkDDDzP3wm6t3jdkkUq6kqykYII2II8CK1UBLe2HamO8ghUKyyCe6mcbaRz5OYoU5ycfCtXsw/0tZf75ai9Sj2Yf6Wsf9+tQ+CVydUyD9JX+wf8AGiDoCCCAQeoO4oFxjiqQTqz5xo8MeZ86wt+18L50hj9w/jVYtUZb4puz2bshADqtmktH65t20IT/AFoiDE+fVc+oO9Yc/iUHvxxXkY+tF8zPj+w55bnruHT4V63bCEAkq2FGT7p2/Gk/a1FOHilTLFQTowWUZZRhic4B9NqtaJU4tWOLHtVayOImYwzHpDOpikP9kNs/xUkUaJqCcf7a2hUxz2/MRuquEZT8QTUC7R8Zga2aGwkmhzj5t5vmQQQQ0YYO0RUgFQjIBt8DG6PY+yPZfNYsaqn2ddvb19MF4iTf/njdNQGCfnE8enVd/MdTVjC6uMn5gY8O+v7TVi6d8Dtq0uPKmr3Vx4Qb+XMA+/Pj+FaWubrUP0cadt+aCfwwMfHP3VBJWXtqhJlUj+jMB5511SE6DDaiwfbSMbY8Sc9K6R7WcFvLmaKSOIIY1Zf5xTnJBGNwQdqpv2sqBdqrauakapIDjTlVAGD476s/d61W2nRSKe5kIpUqVXLHZvZH6DZ/Zovy1otQnsl9Bs/s0X5a0WoDh5+p+NWB7K7YSQ8SQ2z3QMMXzCMUZ8TKdmG4xjV8FNQa1sZZnKRRvI250orM2PE4AJxShuZoWYI8kbdGClkO3gcYOx8DQF1zcGJmhYWqqIuHHTZzR/KpYfnyoKRkjms2TguQFBPlTi9QW5vooLaEJHxCycryVOhXRXZiPqgNnB6KCwHWqMXiEwcyCWQORguHbUQRggtnJ22pC/mww5smGUKw1thlXZQwzuB4A9KAvm34RHJc3ry2cbyNxFonQWiyE2wTUh3dRCZMsxn8WANRS2urO2ThSfJbZ4biWdZZZYUaUxi5kiQ6iDgqpzkb7AZ2FVo3FJyWJmlJddLnW2WX9VjnvD0NZ8LvwksTSx8+OMnELswQ5ycbHIGo5wOvjQEn9pHCI7M2tiiLzY42aVwq63eV2KKzAZbSgXH9qiHs67F8Rj4jaTSWsyRpKrMzrpAA6nfBqGdo+NS3dzLcS4Du2cDYKBsqr5AAAfdTzsSZW4hBy2PNLnS2d86T4nxPrRkN0rOiePcOYzJPG0Css5Znc5OkAhdY1DUobB0gg9PWtUHApZDFPJLBlECEIshAGsSEe9gnVkasDIPhQvjl/DI/d1HCjCMBzNWGDDxYZJXGOhyemKh3aJHEq4LgaO6oZ0Ve/JkADHQjHTwqYx9GSkpFiw9n9Lq2XkQgKylJGBXCLsWlGnBUnPQA+QrXx2Owh1FZJ3kUHCmZ3XV3Sf5zUA2HG4GSCRvjFVnySR78vw5kn/VWfZ60Pynu627g7oLMxfmLpKgnqBq/EVZwpZJaVYDUMkFwHaTUVC93SCwDeI3x44G4pvJY2/JVtxMG3GO6V8//AD1+5/Pxd1uLopq1Nu4lQtvpCaQ2g6n6DBC41AVFOM8WnikZEiVlBIBIfcA4zt4ZB/CqxSv/AEWtLxX8h+6jiinh+TmQE++GGOu2B6Y6/dV7IapDsxfz3xjlmidjEeWqqgXLNnAUn3vNmOAuMn1vBRVVdUy1pvAmrWT6VsIrDFSSaWrl/wBs5/8AVJ/TH7s/41fFnZ8UHFJ5JJUNgV+bTIyDhcALjIYEMSxO4PwxQvtiGOJz7/W23JwCFON/XO1QQ2QilSpVJJ2b2R+g2f2aL8taLUJ7I/QbP7NF+WtFqA5W4VezW3BpZrV2ila+EcskZKyCIRao11DdVL6viRiilxad25v+L2pmm5kEXJVjDs8ermuU3LMoGPXOfIQngPaW7sndrWZoi2zYCkEDOMhgQcZONtq3cO7Z38E0s0dw4kmIMrEK2ojdSQwIyPA428MUBYUHYvh0EvJmhefXxP5Ijc1kKRvFFIpYLszIX9M758BTXhHZPh5S1hkhd5bn5cvO5rLoNsXMbBBsxIXBHT0NV/F2lu1KkTNlbj5SCcE8/Ycwkjc7Drt6VlH2ovFaJhMQYeaYzhe7zs87w31ZPXz2xQE7k7GWHyKJSyJcvaw3AlMrmQtKy91odOgRBWwHznUB50R4Pwuwi4tBFDYzD5PdmBpmkZ4nPLJVnyO7IGGoKMDH3VWr9rL02otDO/ycADl93oDkLqxqK5305x6U4u+3PEZTCz3TkwMHjOFGHAwGOB3zjbLZ22oCacN7P8Ple2SS2kL8RmuAjrK36OqOyKFHSUgjJLeFZ9n+H2lvPwYRwH5ROqzPNzGIAHMUhU6d7AOfDAx1NQqLt3xFVmVblwJmZ5AAg7ze+V7vzefHTivezfHJzd2jM5PydSsWw7qgMwXpuMk7nzpdZIfBcl5w4PGFaVu5llj5MTAlWKqpJj3Bj3yT1PXNR7jijnIFXTiIHThQR35CdlYgdfAkUd9l9vcXANzd3spV1LG2ePQmP1kL7lVJA1IMZ2yacdpWs3TmvCypEpKvH/OaTnZ8g5O+fMZx50jLazFtxxIhTy433/8APKnfY+dPlYPdzpBAY6RgOM7+W+PvFELqKxFvHNy7jS4yMuoZgAc4DKP1TTiztoYT83HDIdYJJmRyVDZUYUdzrqBKnOjrtvo5pqibSyBu2szEyRKiFedK4InbqSucoU2AYZyd+g8K2dk7cPLHGFwucMwkVwA+llXYYYgat8eh6b7e0izytr0d0ZwsZlfAYknCgYBLat8Dc/iU7PMpmTAZWDRq+piZMqAO+GOtTjAwQOhHgaztNYKylZa3COHRwxhY1AGP37/+HxrbxKSVYpGhUPKEYojHAZwO6CfAE7ZrbbjCL/ZH7q2UOga8MuWkijd42idlBaNtypIyVJ8cHalxGflxvJpLaVJ05xnHqelOqbcTUGGTIyNB2+7NAD247bf7TH/tfH7q5v8AbKVPEpHU5VwrDbHgB/hWz2gccuknVUZkRVBXG2SetAO1N48y20kpzKYsN9xIU+mRg/fVE3gxg5SpuqAFKlSq5sdm9kfoNn9mi/LWi1CeyP0Gz+zRflrRagOHn6n41P8A2ZcBS4t71/kQvZY2gEcZkaPZ+ZrOQw/VFQB+p+NG+Ecf5FpcwKGDyyQSJIDjQYS7fHOWGD6UBY9v2RtPlF2I7FZpI7WCQ2huDpindiJY+bqGcLg7k9cVDYuGxycZht5LVbdDNHG9ushkAzpDd/JJz12PjTjj3bmG4W7Itykt3BCkpBGgzRvqaQDH1gBt5jNRHg3EWt54Z0ALRSK4B6EqQcH0OMUBLOG9nIZouJAKBJHdQRQsS2EEkzRnx3GMdc9Ke2Xs7aK6tw729yrXLW8iBpFCyqpfS5C53XfK58q1X3bm0UEWlo8XNuY7i4LSa88t+YEj22Gok5Ne2XtDjSXmclj/AOove41D3XjMejp13zmgGnaPsgkdvw9rdhJPdasxKWJ1asALkAYX3DvknJ6UY9n3DrS14hbRyMLi7ZypVGzBB3WzqYbTyeGFOgZO5IqLdoe0UVzaW0XLdZYDINWoaDG7lxtjOrJG/TasvZnME4pZk9DKF+9gVH7TUoiXDL2vZIxKSCA0oXJAPeAJ0AtjZRhsKSAMVHePRqlpIMBjIARknukA+73gOgJ9TjxAr28WNlaLQrnnyMBscY0ajjOep64JBLb4NOLWeGSBVBLhYwBrBjJO6EFevXWMfs6VG1rJxuO3yRHruP8AQ4UBZmBIYHSdLamJUYJ22/YaY8Nsy3MwxXEZyyg5H4Y8iMddzUnvdOWjKt31XJJymWdife72osTkbePXOza1lZSivywO5jlwhZWBwikkv3gTjc+O9W5Rpue3AU4ZcnvvGrRqeUmg8oHKalkOFzkFhnIPXc+uMkba5ZFZtRfWcHctgEkDYAk+WM7ZNauK8U5EkEbK5E+CjBe7g4xk/eOlPHJXPkevocYz8POsHKV9GOpKXszh49dt0lk64+qMb43yQR5/D12p9bdoZztzWz+/9lArLhyISw94HvDJ94Yx9bfbH/gGHCxZUee+Px8fSjmQ5vsN/wCWpyR89p36scKPVjjpQW649dksObMCemMAYPNVMHIAyTH+HhvXttcaiV+uvUDr/wCbH44rF7bUXOVA0qvUatWWYEDxA8/++KKTi8kx1JLgaT8LhlVeaFcgnCkNrAzkaidjnPgT0/CsvafEq3SBQABEoAGw8fCrWuVBlDCJABowdWSgyQQCw1MGO53GDjrtVU+1J83gHlEmfvyaabbkawilNNeyH0qVKug6js3sl9BtPs8X5a0WoT2R+g2f2aL8taLUBw8/U/GsayfqfjWNAKlU14Lw3h8FnDc38csxuZXSNI30aIo8CSQ7d5tRwF6YFF+BdnOHm3lmW2ur5flphi5RZJOVoDqzKF65OPDc+FAVnSqeduuyVvZwymIszLfvCGY78vkRShWA21KzkE+lNe0/Y1hxC7t7NBy4GUYeWNSAygjeRl1b56UBDaJ9mZtF5av+rPE34Opol/mNeeIgHxurb/8ArWUfY26QhuZaAqc73dv4b/7SgZ0BxfhkbW+pERJHmnUyBRrIIm2LYz4Db0FVzFfQwqVbmKS5CGMzZ7rBSToGAFbUV9cmralspJbdOUYzuXHe21Mpz3hqDbsT5biqx7ZcJeLkq5UFldu4wYe8M9AM7k74H34qdPmjKSuuqEON2Zk1srONQOD8oBKgtgFtHXBU/FPWmkvFbYkMdWe59SdsBWiOBlcEYWTc9S2TvTdRt4nbr+6vSw9c1otPPJDrocMEItLmInTGgMmpGI1ITrKqQcZKkb7AsvgCaM3fElUmMAnUobO+BkgHO2kHcHTn1xihVpGnKgBaNS2sDWJMFjLKDuDpyRnY9aIHgx5h06QNIBJGCTqDFsg/1fFT4VlKvZhN5p8BCC5RmlKspGodCP1RTSG/04UjOXCjSOgOoEnvb4I36Y/bWkQJApXPMLHuhskjr0yScHP7KFPwq4eVo1mTKkOAythQSdGCE0g9dgT41kobm6IjFO6MmV/lvNBYfV93u4zI2/fyd1Tw21/DM5k4TKAp5b7gZJ0nLHdtOk7L5Z386gQs7nkvN8pTQmQwKyZ2ODgaN99qnPZa/m5ISZlaRTgMzOMggNjGNiowMH7qz1ozSTo0UE1UlQPu2eORUMfvaCSSAVwXIODuQdxkef4U17QZtV/N6aV/BQKurjshNzECygqAu4BZ8sSNJY5UgZONyd/AHFDdp5td3cN5yt+w4qdHs0hFJquv7BdKlSroNjs3sj9Bs/s0P5a0WoT2R+g2f2aL8taLUBw8/U/GsayfqfjWNATLgXH7FrWK24hHOwt5WkhaEpkq+C8ThvqlhnI33r257blbWaK0Eto0l404ELlEWEx6BHlSCTkA9MbZqM8H4XLczRwQrqkkOFGcepJPgAAST5A1IZ/Z7drJCitBIJuYEkilDxaolLyKzAd1gAdv4GgMuA8esmtGteILcsBcm5WSEoWZmQI6vr8DpBz1z5eIftbxn5beT3IXSJXyFzkgYAUHzOAKIjsDelbJgEIvTiHDegPf27uxz4+NBeO8JktLiS3l08yNtLaTkZxnY+PWgGFKlSoDoSxmuJLO2kV20NawoVwTH/qlPQZGfnOn6o6ZoV2pvJJDDzCCVV17oIGMoehJPj50X9n/ABKI8HthMGIw6nCswCpId3wDhemSdqJXfZkXRhdHSJlDqVWLMbA7DIGw6Hf4b7Crp5MFy0QIMKxbFS667AOmdVxAoG+WJXb7xWMXYiE4Et2uc40xDxAJI1MMA4Gela7kGxpwW21WqncEI2kgN7wmlyeuk+GxBo1wOwnmjchQ2JCB3lBxgEZGcjr94xRCG0htkWOBAwx7zlnOSxfpsPreX7qyt+LzKjAHByRsAAoy2yqBgH1rkk1lMym4t5I3xHhMsVxGkkUAR3Byyo0+dceNDK+pRjVvp20N11beSSMmo7FRMSFAw2ptK4z4jA2zQefh+b1ZmuANU641SNklSFIwTjJIIx60dupAGLHfDYx+G+PTNb6MUzS8KuhWxkV8EplETfSMZjKEZHmcH40raMAk7ZJwcZ8FU+PxNPIyuvGxBGc5G/T+NYNhnwuPex/8UFRrwioY/gz1ZNxyaZYxkMc5Xcbnw8xnB8etc93T6nc+bE/ia6D7QAwxzZIykbHPh7px/hXPArn0lyW+NebPKVKlWp1HZvZH6DZ/Zovy1otQnsj9Bs/s0X5a0WoDh5+p+NY06srGWeURQo0kjHCqoyx+6s+LcJntpOVcRPE+AdLjBwehHmPWgCns/ZxxC3McyQPqOl5BlMlSNLDI2f3Ov1qtaDh6x3VjJNbRWV0z3QaCKUNG8fyWT53QCVjOru7dc/hRFKgL5suIolhA2oCS04fFcxdN3dLm20+mGaM/hVZ+1MZ4veY3zLtjfPdXpUSrZBMyMroxVlIZWBwQwOQQR0IO+aAOWPYu/kXVyGjT9eYrCn3NIVB+6t54BZRfSOIRlh1jto3mOPISHRHnw2Jx60E4pczu/wCkPKzj/asxbB3Hvb7jBpnQHQvsuvrRrF0gjlMaytF88yljrCsSwRQAufDJrVx7tJeRTSpFLoVSAFVECjYf1c9T60M9hska2Ny0gOFuFOwYnOgAbDc0u0n0iU+o/wCUVrpq2Ytuxk/Fbpzl5A2ds4XP/LTnhs0jSxKznDSLnAUb5xnIAOdzvTKMU54bKDPH6OufxBq9ENJoMdprsxyRlzJh0TIQHboCwIU407kjoQaM8KXVCpByCoIPoS2PLwxTTtDfQZjicwh9GAHYh8smxABGdyuD5/tMdnbZVjCdABhc7ZAyQPQ6SKwlmJm1hAJuD6ZdY1bEnIY47xYnunIHvY2wdh8a0m0UzNlSGLajIX7jKeqac7MGGc+NTG7tR/38fOgsiDP3VktRxeSim44I5BAigkQvgKAUMo1PpI1aGz3NQGw8KIcLQhwBnR3dIJzjONvj0B+FPSg9K9j6j4iqy1E1SRE9ZzVMHe0qXTb3Zz9TH46RXP8AV8e1HPyW6ycnC5/vLVD1eHs6ND3+TylSpVc3OzeyP0Gz+zRflrRahPZH6DZ/Zovy1otQHKns91criggz8qNr81pzrKcxeeExvnTjpv1orwHg90/KPEY2nWGynntLaQnW2lgNLgfOacnUFPUAY2BFV3b3ckMgeKRo3U7OjFWHwIwRW+Tjt00wuDcTGcdJTI/MHUbNnIGCRj1oCy5+F2kcc109jGHNhDcfJm1hElM5jyBkMqsqhtPkSOhrdc8Jsbea9kFnFIqz2OiNyxRBcRlpQMHcZJwDsML5YqrLjjNzIZGeeZjKAJC0jEuAcgPk94AgYB6YpS8XuGzqnlbUVLZkc5MYxGWydyo2Xy8MUBcXDex/DY+erxB1e9uIT83cSyRxxjuLEYgdDAHXqbqNt+tAX4ZFDb26xcNW4X5LFdvdlmUh9eX1H3WQAaDGMHfz3qAQ9obxebpurheaSZcSuNZPUvv3ifM1qHGLnk/J+fLyM55WtuXnOfczjrv060BcHa63jFxf3f8Ak9LqVbiGARFZCvLaMuZSq7szECMN0GBj1B9quFWVha3ojto5W+XSW0buWLRIYEfu795kYkAn161BF7T3yyGQXdwH0BNYmkDaBnSuc5wMkgeZzTCS+lZCjSOULmQqWYqZCMFyM41EbautAXT7BIFezulYZBmXIyR9UeVSziXYdpJGk5qqGOQpUk9AN96A/wD09W7pZzyMuFebuEj3tK4bT6A7Z86tCV8kn8PhVlJrgwnhlfj2fOM/Ppv/AFW/jWdp2FdJFcypswY9074OfOp0xrQk+Xwq6iAdiMgjIBI38Dj8al6kkiqy6IdcWTTD9IicYVgWBKjYal7ujBGxXqPv61t4I/Nil1IFaNe6UdyMYOnIIGCMdN+tSS8jzzCcr3TlQMY28KFcGv5J+7GitjIIYafdOnzI3/w+NRyg0+D2+4qqtoZX/mRKXC5U48MDJLHBwAKCNHdszMtu0kWT3wUXChck6WIckHB6dDjGRT28sDFOBKmkTaUARslQWVcrvsNRHTfxrf2wsTZWyskzHvBSZPdC6W97QnicDfr02JqHBMKHtoYsMEivAM7Dqabx2SRkzPeZBIXlsgVNbbFVYgHIbAGetbpplTLMQqrq1E9ANJXfcbb+dc04OJg9OpJMAe0GMiwnyCO6Ov8AaWqNq7u2NzHJw28eORpFdlJ3GlWURqygYGgnAYjHVifGqRrTS4OvTgoWkKlSpVoanZvZH6DZ/Zovy1otQnsj9Bs/s0X5a0WoDh5+p+NY1k/U/GsaAVGuAdmbi8juZIQpW2j5kmSc43OFwDlsBjjboaC1bPYriVjw+ztGuJJFkuJjO4iVH1RKGhRJskEIQ8jY36mgIR2a7Hz3oUxNEoabkjWxHeETzEnCnChUO/mRWHaPsnNaJHKZIJoZCVWW3k5ketcEqTgYbBzg+tWTwWySyvbGzV00tPez51KRpMTwW/ezjdEzv+tUT49Ymw4V8kneI3E10JhHG6yaI0QpqYqSFLE4x4gelAQOpB2a4NGytdXRK2kRwcbNNJ1WGL+sfFvqjc+FNOznDI55TzpRDDGuuVzjVoBAxGv13JIAHmfKs+0nG/lDqsacq3iGmCEHIRepJP1nY7s3Un4CgLc9jvbA3M9zFJpTKqYI12RIkyvLQeSjT6ncmrE45xMQR6y0aqN2aRtKgdOuDXKfB+Jy200c8LaZIzlT+wg+YIyD6Gr1TjFlx6z5JflTkAtFqAYMpyGjzs652+B8DV40zGcc36JJZ9pDIoZAkikZV4XDrsTnOrT5eGd8g4oRxftjHbFGIZe9pOWUEIxLEjS+T7uwwTUF7U29zwxYbS1WRlCs7MAWbLNsTpGANjgeh3p12f7BHiEEdxczXCSHI0YAxpJC4DDI8/vq7inxyQklkkt97RbNtcHMkWVmMWdLHDE8snVnfG/j4UM4B24tYrgiIiFjqTGJHyc5GrWSAcgDY4/fWr+R+2zn5TPnOc4TOfPOOua0yeyS3U5W4nyD1woP44qNkuifHsKcX7Urd6Ndwo3CqyxkEZaEZGc4I5ynPhj0OGR49CU1yTk90P7rFR3U3C7YbExXrto+Faf5K4x0uZ/T3fT/AKV/AUy4x7No4oJHFzOSiEhSBg4HTb4D9lTtkT4kgsbyRh8woyW1K5wEyQQQ27HGCd8E71lg3CyRu9tIvSQW8xeRDnKkZQDZgNj5Hr0qsOx1/cx3EMZEuh3Cadx1OMjbrvVj8A7K2vClluJ5yqMukcwAHHUAKN3bpvt8Ko4RaszcK/IL7fymCxlDyNLJcSjU76dTEKBnAAAAVFFVBUh7a9pDezlgCsS7RoeoHiW/rE/4DwqPVnFUjXTi0vLk9NeUqVSaHZvZH6DZ/Zovy1otQnsj9Bs/s0X5a0WoDh5+p+NGo+yF+1sbpbaQwAZ1gfVHVgPeKj9YDFBZOp+NWtx/h3EJLxJ7JnjthYIyTEkQLCIAHUnBUHORp65OfWgKoryrdu+BQC1eIWcfyZeGC6S+0HmNcYDAc3OMM50crrTnj8NlEb39CtwllLYuCqd51mxz1cnqpHRQMD40BTVKrqTsnYw31tZvHG7SPc3YyuotHhhaRYGCVwpcpncj1rHidnZwLdXPyOFpEs4JOXJbtFDzGmMYdYmbUgK4yud9PrQFNzW7pp1qy6lDLqBGVPRhnqDg71qq9Tax3M1tJLbQ/N8IiliAgeRGc6Aw5Yb51YwdkHTV40G7UWtnaQX8kVpEX50EYWWIjktLAzSctS2V/WUEnBYeVAVIBSBx0rylQFweyC/nlhvSZnMirEqs51kKDIcAHfxO2fGrTS7yck1ytZ8RmizypZI9WM6HZc46Zwd8ZP406/zjvf6Vcf8AFk/6q2jqJKmZuFs6baZD4/8AelzFI2Oc+u4rmZe018Ol3cf8WT+NejtTfD/7u4/4r/xq32or9bOjXIxWuMjz8a54/wA67/8Apc//ABG/jS/zqvt/0mbfr3zT7Yj62W17RrqaGzeRZMOs4aNk2KqRpx+BP41Sl7eyTMXldpGP1mYk/t8Kd33H7qZNEs8joSDpZsjI6UMrKctzwaRjQqVKlVCwqVKlQHZvZH6DZ/Zovy1otQnsj9Bs/s0X5a0WoDiF4jk7eNORf3HKMHNk5JOTFrPLznOdOcdd6VKgEb645Qg5knJB1CPWdGfPTnGa8lvJ216pJG5mnXlydWn3NWT3seGelKlQGLXU5dXMjl0ACMXOpQvuhTnK48MdK2XHELmQyF5ZWMmOYWdjrA90Pv3gMDGemK8pUBnFxS6XlFZpRyc8rEjDRnro37ufStM11OwYNJIwdtbAuSGfcamyd23O533r2lQDblHypco+VKlQHvKPlXnKPlSpUB6EavOWfKvaVAeco+VLlHyr2lQHnKPlS5RpUqAXKPlS5R8q9pUB5yj5UjGfKlSoDsrsl9BtPs8X5a0WpUqA/9k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8" name="Rectangle 5"/>
          <p:cNvSpPr>
            <a:spLocks noChangeArrowheads="1"/>
          </p:cNvSpPr>
          <p:nvPr/>
        </p:nvSpPr>
        <p:spPr bwMode="auto">
          <a:xfrm>
            <a:off x="609600" y="1640586"/>
            <a:ext cx="5181600" cy="48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 defTabSz="914400" eaLnBrk="1" hangingPunct="1"/>
            <a:r>
              <a:rPr lang="en-US" altLang="zh-CN" sz="2600" b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 b="1" dirty="0">
                <a:solidFill>
                  <a:srgbClr val="0000CC"/>
                </a:solidFill>
                <a:latin typeface="Arial" panose="020B060402020202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Constant Volume Process (C</a:t>
            </a:r>
            <a:r>
              <a:rPr lang="en-US" altLang="zh-CN" sz="2000" b="1" baseline="-25000" dirty="0">
                <a:solidFill>
                  <a:srgbClr val="0000CC"/>
                </a:solidFill>
                <a:latin typeface="Arial" panose="020B060402020202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V</a:t>
            </a:r>
            <a:r>
              <a:rPr lang="en-US" altLang="zh-CN" sz="2000" b="1" dirty="0">
                <a:solidFill>
                  <a:srgbClr val="0000CC"/>
                </a:solidFill>
                <a:latin typeface="Arial" panose="020B060402020202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):</a:t>
            </a:r>
            <a:r>
              <a:rPr lang="en-US" altLang="zh-CN" b="1" dirty="0">
                <a:solidFill>
                  <a:srgbClr val="0000CC"/>
                </a:solidFill>
                <a:latin typeface="Arial" panose="020B060402020202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 </a:t>
            </a:r>
            <a:endParaRPr lang="en-US" altLang="zh-CN" b="1" dirty="0">
              <a:solidFill>
                <a:srgbClr val="0000CC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11" name="Object 4"/>
          <p:cNvGraphicFramePr>
            <a:graphicFrameLocks noChangeAspect="1"/>
          </p:cNvGraphicFramePr>
          <p:nvPr/>
        </p:nvGraphicFramePr>
        <p:xfrm>
          <a:off x="5048250" y="1507236"/>
          <a:ext cx="1639160" cy="91836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799753" imgH="444307" progId="">
                  <p:embed/>
                </p:oleObj>
              </mc:Choice>
              <mc:Fallback>
                <p:oleObj r:id="rId2" imgW="799753" imgH="444307" progId="">
                  <p:embed/>
                  <p:pic>
                    <p:nvPicPr>
                      <p:cNvPr id="11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48250" y="1507236"/>
                        <a:ext cx="1639160" cy="91836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3"/>
          <p:cNvGraphicFramePr>
            <a:graphicFrameLocks noChangeAspect="1"/>
          </p:cNvGraphicFramePr>
          <p:nvPr/>
        </p:nvGraphicFramePr>
        <p:xfrm>
          <a:off x="5181600" y="3903417"/>
          <a:ext cx="1552969" cy="869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799753" imgH="444307" progId="">
                  <p:embed/>
                </p:oleObj>
              </mc:Choice>
              <mc:Fallback>
                <p:oleObj name="公式" r:id="rId4" imgW="799753" imgH="444307" progId="">
                  <p:embed/>
                  <p:pic>
                    <p:nvPicPr>
                      <p:cNvPr id="12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81600" y="3903417"/>
                        <a:ext cx="1552969" cy="8699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Rectangle 6"/>
          <p:cNvSpPr>
            <a:spLocks noChangeArrowheads="1"/>
          </p:cNvSpPr>
          <p:nvPr/>
        </p:nvSpPr>
        <p:spPr bwMode="auto">
          <a:xfrm>
            <a:off x="533400" y="4031360"/>
            <a:ext cx="5791200" cy="48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 defTabSz="914400" eaLnBrk="1" hangingPunct="1"/>
            <a:r>
              <a:rPr lang="en-US" altLang="zh-CN" sz="2600" b="1" dirty="0">
                <a:solidFill>
                  <a:srgbClr val="0000CC"/>
                </a:solidFill>
                <a:latin typeface="Arial" panose="020B060402020202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 b="1" dirty="0">
                <a:solidFill>
                  <a:srgbClr val="0000CC"/>
                </a:solidFill>
                <a:latin typeface="Arial" panose="020B060402020202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Constant Pressure Process (</a:t>
            </a:r>
            <a:r>
              <a:rPr lang="en-US" altLang="zh-CN" sz="2000" b="1" dirty="0" err="1">
                <a:solidFill>
                  <a:srgbClr val="0000CC"/>
                </a:solidFill>
                <a:latin typeface="Arial" panose="020B060402020202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en-US" altLang="zh-CN" sz="2000" b="1" baseline="-25000" dirty="0" err="1">
                <a:solidFill>
                  <a:srgbClr val="0000CC"/>
                </a:solidFill>
                <a:latin typeface="Arial" panose="020B060402020202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lang="en-US" altLang="zh-CN" sz="2000" b="1" dirty="0">
                <a:solidFill>
                  <a:srgbClr val="0000CC"/>
                </a:solidFill>
                <a:latin typeface="Arial" panose="020B060402020202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): </a:t>
            </a:r>
            <a:endParaRPr lang="en-US" altLang="zh-CN" sz="2000" b="1" dirty="0">
              <a:solidFill>
                <a:srgbClr val="0000CC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4" name="Text Box 7"/>
          <p:cNvSpPr txBox="1">
            <a:spLocks noChangeArrowheads="1"/>
          </p:cNvSpPr>
          <p:nvPr/>
        </p:nvSpPr>
        <p:spPr bwMode="auto">
          <a:xfrm>
            <a:off x="756535" y="2840736"/>
            <a:ext cx="2955040" cy="492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defTabSz="914400" eaLnBrk="1" hangingPunct="1"/>
            <a:r>
              <a:rPr lang="en-US" altLang="zh-CN" sz="2600" b="1" dirty="0" err="1">
                <a:solidFill>
                  <a:srgbClr val="336600"/>
                </a:solidFill>
                <a:ea typeface="宋体" panose="02010600030101010101" pitchFamily="2" charset="-122"/>
              </a:rPr>
              <a:t>dU</a:t>
            </a:r>
            <a:r>
              <a:rPr lang="en-US" altLang="zh-CN" sz="2600" b="1" dirty="0">
                <a:solidFill>
                  <a:srgbClr val="336600"/>
                </a:solidFill>
                <a:ea typeface="宋体" panose="02010600030101010101" pitchFamily="2" charset="-122"/>
              </a:rPr>
              <a:t> = </a:t>
            </a:r>
            <a:r>
              <a:rPr lang="en-US" altLang="zh-CN" sz="2600" b="1" dirty="0" err="1">
                <a:solidFill>
                  <a:srgbClr val="336600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d</a:t>
            </a:r>
            <a:r>
              <a:rPr lang="en-US" altLang="zh-CN" sz="2600" b="1" dirty="0" err="1">
                <a:solidFill>
                  <a:srgbClr val="336600"/>
                </a:solidFill>
                <a:ea typeface="宋体" panose="02010600030101010101" pitchFamily="2" charset="-122"/>
              </a:rPr>
              <a:t>q</a:t>
            </a:r>
            <a:r>
              <a:rPr lang="en-US" altLang="zh-CN" sz="2600" b="1" dirty="0">
                <a:solidFill>
                  <a:srgbClr val="336600"/>
                </a:solidFill>
                <a:ea typeface="宋体" panose="02010600030101010101" pitchFamily="2" charset="-122"/>
              </a:rPr>
              <a:t> – </a:t>
            </a:r>
            <a:r>
              <a:rPr lang="en-US" altLang="zh-CN" sz="2600" b="1" dirty="0" err="1">
                <a:solidFill>
                  <a:srgbClr val="336600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d</a:t>
            </a:r>
            <a:r>
              <a:rPr lang="en-US" altLang="zh-CN" sz="2600" b="1" dirty="0" err="1">
                <a:solidFill>
                  <a:srgbClr val="336600"/>
                </a:solidFill>
                <a:ea typeface="宋体" panose="02010600030101010101" pitchFamily="2" charset="-122"/>
              </a:rPr>
              <a:t>W</a:t>
            </a:r>
            <a:r>
              <a:rPr lang="en-US" altLang="zh-CN" sz="2600" b="1" dirty="0">
                <a:solidFill>
                  <a:srgbClr val="336600"/>
                </a:solidFill>
                <a:ea typeface="宋体" panose="02010600030101010101" pitchFamily="2" charset="-122"/>
              </a:rPr>
              <a:t> =</a:t>
            </a:r>
            <a:r>
              <a:rPr lang="en-US" altLang="zh-CN" sz="2600" b="1" dirty="0">
                <a:solidFill>
                  <a:srgbClr val="336600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 </a:t>
            </a:r>
            <a:r>
              <a:rPr lang="en-US" altLang="zh-CN" sz="2600" b="1" dirty="0" err="1">
                <a:solidFill>
                  <a:srgbClr val="336600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d</a:t>
            </a:r>
            <a:r>
              <a:rPr lang="en-US" altLang="zh-CN" sz="2600" b="1" dirty="0" err="1">
                <a:solidFill>
                  <a:srgbClr val="3366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q</a:t>
            </a:r>
            <a:r>
              <a:rPr lang="en-US" altLang="zh-CN" sz="2600" b="1" dirty="0">
                <a:solidFill>
                  <a:srgbClr val="336600"/>
                </a:solidFill>
                <a:ea typeface="宋体" panose="02010600030101010101" pitchFamily="2" charset="-122"/>
              </a:rPr>
              <a:t> </a:t>
            </a:r>
          </a:p>
        </p:txBody>
      </p:sp>
      <p:sp>
        <p:nvSpPr>
          <p:cNvPr id="18" name="Text Box 11"/>
          <p:cNvSpPr txBox="1">
            <a:spLocks noChangeArrowheads="1"/>
          </p:cNvSpPr>
          <p:nvPr/>
        </p:nvSpPr>
        <p:spPr bwMode="auto">
          <a:xfrm>
            <a:off x="762000" y="5058471"/>
            <a:ext cx="255711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defTabSz="914400" eaLnBrk="1" hangingPunct="1"/>
            <a:r>
              <a:rPr lang="en-US" altLang="zh-CN" b="1" dirty="0" err="1">
                <a:solidFill>
                  <a:srgbClr val="336600"/>
                </a:solidFill>
                <a:ea typeface="宋体" panose="02010600030101010101" pitchFamily="2" charset="-122"/>
              </a:rPr>
              <a:t>dH</a:t>
            </a:r>
            <a:r>
              <a:rPr lang="en-US" altLang="zh-CN" b="1" dirty="0">
                <a:solidFill>
                  <a:srgbClr val="336600"/>
                </a:solidFill>
                <a:ea typeface="宋体" panose="02010600030101010101" pitchFamily="2" charset="-122"/>
              </a:rPr>
              <a:t> =</a:t>
            </a:r>
            <a:r>
              <a:rPr lang="en-US" altLang="zh-CN" b="1" dirty="0" err="1">
                <a:solidFill>
                  <a:srgbClr val="336600"/>
                </a:solidFill>
                <a:ea typeface="宋体" panose="02010600030101010101" pitchFamily="2" charset="-122"/>
              </a:rPr>
              <a:t>dU+pdV</a:t>
            </a:r>
            <a:r>
              <a:rPr lang="en-US" altLang="zh-CN" b="1" dirty="0">
                <a:solidFill>
                  <a:srgbClr val="336600"/>
                </a:solidFill>
                <a:ea typeface="宋体" panose="02010600030101010101" pitchFamily="2" charset="-122"/>
              </a:rPr>
              <a:t>= </a:t>
            </a:r>
            <a:r>
              <a:rPr lang="en-US" altLang="zh-CN" b="1" dirty="0" err="1">
                <a:solidFill>
                  <a:srgbClr val="336600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d</a:t>
            </a:r>
            <a:r>
              <a:rPr lang="en-US" altLang="zh-CN" b="1" dirty="0" err="1">
                <a:solidFill>
                  <a:srgbClr val="336600"/>
                </a:solidFill>
                <a:ea typeface="宋体" panose="02010600030101010101" pitchFamily="2" charset="-122"/>
              </a:rPr>
              <a:t>q</a:t>
            </a:r>
            <a:endParaRPr lang="en-US" altLang="zh-CN" b="1" dirty="0">
              <a:solidFill>
                <a:srgbClr val="336600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29964" name="Object 268"/>
          <p:cNvGraphicFramePr>
            <a:graphicFrameLocks noChangeAspect="1"/>
          </p:cNvGraphicFramePr>
          <p:nvPr/>
        </p:nvGraphicFramePr>
        <p:xfrm>
          <a:off x="4183429" y="2612136"/>
          <a:ext cx="1690688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825142" imgH="444307" progId="">
                  <p:embed/>
                </p:oleObj>
              </mc:Choice>
              <mc:Fallback>
                <p:oleObj name="公式" r:id="rId6" imgW="825142" imgH="444307" progId="">
                  <p:embed/>
                  <p:pic>
                    <p:nvPicPr>
                      <p:cNvPr id="29964" name="Object 26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83429" y="2612136"/>
                        <a:ext cx="1690688" cy="914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6031523" y="2821626"/>
            <a:ext cx="252339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rgbClr val="0C23F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  </a:t>
            </a:r>
            <a:r>
              <a:rPr lang="en-US" altLang="zh-CN" sz="2000" b="1" dirty="0" err="1">
                <a:solidFill>
                  <a:srgbClr val="0C23F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dU</a:t>
            </a:r>
            <a:r>
              <a:rPr lang="en-US" altLang="zh-CN" sz="2000" b="1" dirty="0">
                <a:solidFill>
                  <a:srgbClr val="0C23F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=C</a:t>
            </a:r>
            <a:r>
              <a:rPr lang="en-US" altLang="zh-CN" sz="2000" b="1" baseline="-25000" dirty="0">
                <a:solidFill>
                  <a:srgbClr val="0C23F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000" b="1" dirty="0">
                <a:solidFill>
                  <a:srgbClr val="0C23F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dT</a:t>
            </a:r>
            <a:endParaRPr lang="zh-CN" altLang="en-US" sz="2000" b="1" dirty="0">
              <a:solidFill>
                <a:srgbClr val="0C23F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9965" name="Object 269"/>
          <p:cNvGraphicFramePr>
            <a:graphicFrameLocks noChangeAspect="1"/>
          </p:cNvGraphicFramePr>
          <p:nvPr/>
        </p:nvGraphicFramePr>
        <p:xfrm>
          <a:off x="3763596" y="4945638"/>
          <a:ext cx="1598613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825142" imgH="444307" progId="">
                  <p:embed/>
                </p:oleObj>
              </mc:Choice>
              <mc:Fallback>
                <p:oleObj name="公式" r:id="rId8" imgW="825142" imgH="444307" progId="">
                  <p:embed/>
                  <p:pic>
                    <p:nvPicPr>
                      <p:cNvPr id="29965" name="Object 26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63596" y="4945638"/>
                        <a:ext cx="1598613" cy="863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5471745" y="5161905"/>
            <a:ext cx="252339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rgbClr val="0C23F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  </a:t>
            </a:r>
            <a:r>
              <a:rPr lang="en-US" altLang="zh-CN" sz="2000" b="1" dirty="0" err="1">
                <a:solidFill>
                  <a:srgbClr val="0C23F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dH</a:t>
            </a:r>
            <a:r>
              <a:rPr lang="en-US" altLang="zh-CN" sz="2000" b="1" dirty="0">
                <a:solidFill>
                  <a:srgbClr val="0C23F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000" b="1" dirty="0" err="1">
                <a:solidFill>
                  <a:srgbClr val="0C23F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2000" b="1" baseline="-25000" dirty="0" err="1">
                <a:solidFill>
                  <a:srgbClr val="0C23F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000" b="1" dirty="0" err="1">
                <a:solidFill>
                  <a:srgbClr val="0C23F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dT</a:t>
            </a:r>
            <a:endParaRPr lang="zh-CN" altLang="en-US" sz="2000" b="1" dirty="0">
              <a:solidFill>
                <a:srgbClr val="0C23F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46556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 idx="4294967295"/>
          </p:nvPr>
        </p:nvSpPr>
        <p:spPr>
          <a:xfrm>
            <a:off x="971540" y="0"/>
            <a:ext cx="6457950" cy="795528"/>
          </a:xfrm>
        </p:spPr>
        <p:txBody>
          <a:bodyPr>
            <a:normAutofit/>
          </a:bodyPr>
          <a:lstStyle/>
          <a:p>
            <a:pPr algn="l"/>
            <a:r>
              <a:rPr lang="en-US" altLang="zh-CN" sz="3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Heat Capacity: </a:t>
            </a:r>
            <a:r>
              <a:rPr lang="en-US" altLang="zh-CN" sz="32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n-US" altLang="zh-CN" sz="3200" b="1" baseline="-250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</a:t>
            </a:r>
            <a:r>
              <a:rPr lang="en-US" altLang="zh-CN" sz="3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en-US" altLang="zh-CN" sz="32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n-US" altLang="zh-CN" sz="3200" b="1" baseline="-250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endParaRPr lang="en-US" sz="3200" dirty="0">
              <a:solidFill>
                <a:srgbClr val="FF0000"/>
              </a:solidFill>
            </a:endParaRPr>
          </a:p>
        </p:txBody>
      </p:sp>
      <p:sp>
        <p:nvSpPr>
          <p:cNvPr id="5" name="AutoShape 4" descr="data:image/jpeg;base64,/9j/4AAQSkZJRgABAQAAAQABAAD/2wCEAAkGBxITEhQUExQVFhUXFxwZGBcYGBgaFxwYHBwcGBcdGBweHCggGB0lHBwaITEhJSwsLi4uHB8zODMsNygtLisBCgoKDg0OGxAQGzAkHCU0LC00NCssLCwsLC80LDAsLCwsLywvLCwsLCwsLywsLCwsLCwsLCwsLCwsLCwsLCwsLP/AABEIAQcAvwMBIgACEQEDEQH/xAAcAAABBAMBAAAAAAAAAAAAAAAFAAQGBwIDCAH/xABNEAACAQMCAwUDCAUHCwMFAAABAgMABBESIQUTMQYiQVFhBzJxFCM0QnSBkbMkUqGx0RczVGJyksEVFjVDU3OTstLh8CWCoghEY6PT/8QAGQEBAAMBAQAAAAAAAAAAAAAAAAECAwQF/8QAJxEAAgIBBAICAgIDAAAAAAAAAAECESEDEjFRIkEEE3GhYcEUkfD/2gAMAwEAAhEDEQA/AKQdzk7nrXms+ZpP1PxrGgMtZ8zS1nzNY074pw2a3kMU6NHIuCVbqMgMPxBBoBtrPmaWs+ZrGnV9w+WHl8xCnMQSJn6yNnSw9Dg0A31nzNLWfM04FhLyefoPK5nL1+HMKlgvx0gmmtAZaz5mlrPmaxpUBlrPmaWs+ZqU8D7AcQvNPKg0ggbuwXI/Wwxz+AqYxewa8KjVcQq2+oYYgeWD41DklyE74Kl1nzNLWfM1bw9gl1/Sofwf+Fe/yB3P9Lh/uvVfsj2CoNZ8zS1nzNXCPYFcf0uH+49YzewS4AJF3Dt5qwH40+yPZNMqDWfM0tZ8zUv457Nb+3QyhUnhG/NgdXXy6e9+yoeRirJp8EHus+Zpaz5msaVSDLWfM0tR8zWNKgOzeyX0Gz+zRflrRahPZH6DZ/Zovy1otQHDzdTWNZP1PxrGgJP7OOFLcX8IkIWKImeVicKI4hrYsfBTgAn1qx+IcGiv73h1xPJb3Otp4pzAzPEXjV57dDsGyyYUjG+nbrVL291ImrQ7JrUo2liNSHBKtjqpwNjtsKzt+ITRrpSWRF1B9KuwGtfdbAPvDwPUUBbd5Y2MTTXHySJ2SwMrRPbywQGRbhER0jc6gCCQQDg6T+tWXD+ERO8MxtoXUcOtmYNHJKqvLI4ykCZMhONO5AUb+lVPc8ZuZGdpJ5nZ10OWkdiyA5CsSe8uQDg7bVlBxu6QgpcTqQnLBWRwRGOiDB9zc93pQFhe0Lh0dvZ3sUS6Y14sulfAA2zNgegztURik4S6rrS9hfABKNFMmfE6WCHc+Gqg11xOeQESTSuCwYhnZgWC6AxBO7Be7nrjamlAShezdpKQLfiMJY/VnjlhPoAQHUn76sTsl7N2tF5kiJPc+AVldIvI4G7N45xUQ9lHB1eWS6cZWDAQHoZWzj+6Mn8KsyQHJzuR41ScqwcnyNWvFAr2d8F4nBxVmnkZIO+W1EgSAghcKRsQSDvjp41cpuF/WX8RVawX8y+7I+PIsSPwO1bDxNj78cT/ABQKfxXBrm1fP3ROn8mlTRYhu0/XX+8P414b2P8AXT+8P41XTT27dYnT1R8/sYH99YG2t292Yr6SRn96Fv3Vj9T9Mv8A5P8AH7LGPEYv9on95f40M7RC2uraa3edFEqFSQ65APj1qFJwWSSRY4nictnvB1OgAe8yEq7Lq0juj61aOMdl7i1XVI6SB3AzFCwwQrHLksxVdsdcElc4xvK05LLf6NI6smrr9mq0t7bhPD5LSO4+USTOXZlHcXIA3IJCd1NgTknPgNoP2g4GlyCygLMOh6avR/X1qeWXYrmaXmfusEZUi1tq2JVn5hK5Go7EEdfWmnFuyZiDyxTErGhZ0lGJML+qVGGz92PvotaCnW7yJ1NHVa3pFG3VvoOCd/rDBBVs7qc+P8a0VMu33DgNE6/W7r/2gNj+G1Q2u+MtysiEtysVKlSqxc7N7I/QbP7NF+WtFqE9kfoNn9mi/LWi1AcPP1PxqQdluzC3Mc801wttbwaA8jIznVISEAVdz0OT4bVH36n41OfZleNGLjk3sdtcHRhLjT8mmjGdYfKnDLnI+Jx40AA4r2XnjuJYYh8p5YDcy3DSIUYBlY6QdOx3z0OaHJwydk5ghlMe3fCMU3bSO9jG7d347Vb1zxS1czRWF9BZOt3FNLKpMcTqIQsphH+sVZNR5Z2bJ+NDuG9qoIv8kK9zrhS5uXuAMqDmbVDJLEOm+HAOcb4oCtX4PciVYTBMJWGViMbiQjfouMnofDwpQcHuXYokEzMraWVY3LBsE6SAMg4B29D5Vc3+cdsLhYXmtjIbWdElW6nZQ0ksbhHuSNSalRiCPd1Y8dxfEe1kYa9aK4iSQzWC64pWPMEYfmsHbDPgaVZvHTnxoCoXQgkEEEHBB2II6g+VY0d7dTxycRvHjZWRriRlZSCpBYnII6g9c0JsbYyyxxggF3VAT0BYgb/jQFw+zy30cNiOMcyR3Prg6V/YKkFNLi1axhtLTMZYMYjIzFYQcsSzHGVG34mtlreCWKOUDTrXVpzkA5KnBwMqcZBx0IrGfJ5urCVufodNitTCvEbPiKzK/A1k1ZRLBqavM16+AN2ArDWvmNutVomjK1uJIZ0uIgpZQyMrHAaN9JYasEqcqpB8xvTi/wCO3LhVQyQxoS3880krsQRhm8EGc6cnJA6AbspJVB94U2muwpHQ5zjdQNuu5IFRm8G0NSaWxEy4bdK6RyhyEeIBXGcKRgOp/VPdO/Wm/ai8VoJnJyqwNGW8GZ10gDz3y2aA/wCcDK1ukGmBRy+cXdGV1IUB+WMHJTckA52rAcfkeOeOfRLzNSxvkroVhg9zB36+I229a5X8VqVt4u/7/wCwetL5UFGnzVEc4xw5ZLSVXcJhGcMempAWUf8AuPd++qlq7eIQiSCVc7MjDPltVT9qeDGzu5rYvr5TadYGnOwOcZOOteloPB53xnhoFUqVKtjpOzeyP0Gz+zRflrRahPZH6DZ/Zovy1otQHDz9T8axrOVcGsKAmPEvZrfwxPKwhYRpzHRJUaRY8BixTrgA5PpUOroTjXDzzbuVrNYY3sip4iJctj5OgI5RYjcjl4AB8jTabhUQsIluljMKPYEOscSQ8tnUTGNgxkfZsSO5AJ6AUBSfA+ES3UwhhwXIZhk4GEUu2/wBrO44HMltHdPpWOV2WME999PvMq9SgO2rz2q4bSG7Xidub2K3RRJeLEIwiTNAIXI9zumIDZWPezUM9ogW7tbPiMCaIinyZ4QcrA8edAXyVl3Hw33NAQzhC25kxctKseD3olVmDeB0sQCPPfNWR2J9miXWZre6WQRSI8b6JEDaTlkkRlyjbbMpYdc+FVWy4ODRXgnFbpJIkhnlTLqAFkcDJYeAOOtAdIXvB3muFhlcpzFL5XSTkA6gNSkHdt9j4V6fZopJJvbo9MfzGB93Kotc8wcQs11NoEMuodQWwmM+vXf41JqpFIp9cSB/yaJt+mXR8/5jf4fM7VsHs0h/pV3+MP8AhFU4pVal0Prj0QNvZhBv+k3XoCYtv/1ZNL+S+3yM3Fzj+2mT/wDDH7KnleYpS6J2R6IL/JZabZmuvX5xN/j83t92K3QezSyUkl7hh5GTp94AP7ammK8am1dDbHoig7AWA6I/QD+cfoBgePkAPurVL2Ish/q2/wCI/wDGpRI1aHOaq4x6LbV0Vp2j4bHBMsMS4V4ixySdySvj6VSHa66Mt3K5zk6c58wig/uq/O2y/pkP+5P/ADmqB7WR6budfJ/2YGP2VSC82Ywdakl+ATSpV7itjY7M7I/QbP7NF+WtFqE9kfoNn9mi/LWi1AcPP1PxrGsn6n41M+xZgisb+5ltobhontlQShsASGUNjBB8B+FAQvNLUfM+X3das3iHZmCRZZLaKKNbi1tZlRyzcl5pjCwjby1Kd28DTK/9mLJdwWq3Sl5WkQ64ZY9JjTXkBx84hxgOu1AQBnJ6knAx93lXmasXhfYyGNJphLHdwPYXbRyBHXTPCBnutvlcgg+Oaap7OdUMUq3aMGkgjkIikCIZ9lKyHCzaSQG0nbxoCB0b7E2/M4hZpjrcRfhrBP7K28c7LPawc2RwGNzLAseDkiE6XfPgNfdx6Gnfsr/0tZf70fuNQ+CVydPXIzew7HaNjnw6EUaoWfpQ9I/8TRSqwdqyqFSpUquSKvK9pUB4RWMgrOsXoBsyVpkG/T8K3Oa1t6VDJRXfb6dUu4ckDMJ/HXj/ABA/Cqe9pr/pQTRGAEVg6rh31gNl2+vjoPIbVZntfEpurfkqWYQnoMlTrGkj1zj0qou2M0rzKZlCvy1BUbYAzpGMnG2NvCqKPluM1GptgGlSpVoXOzeyP0Gz+zRflrRahPZH6DZ/Zovy1otQHDz9TUj7LdpIbeC5guLX5RHO0TEc1o8GLWRuoyff/ZUcfqfjUm7JcItmhuLy85jQQGNBHEQrySSE4Go+6qhST91AO7zt8z/KB8njEckUMMcQJMccUDh1Ujq4O+enU1JuBe0SKa9slaMW8EcssrNLO8qhmhdAqF8cqLfAQbbjpUTl7MRXc7f5NfMAiWSRrhhGICxwY5HbCsdXQjrnxwTWNp7Pb55JY9MaGKVYnMkqIA7jMeCT3tW2MZzqHnQD1+3yLGYYLVYoPk08QQSMx5lwAHkLEbgYAC+Q6+Tvi/tA+WxNbCEQPO1uGlad+UjREBSqkaYY8ZJ09Ou+KZp7Obg20Tgp8oku3t+UZIxgrhfPOrXqyPAAHxpvB7Ob53dByMoyoSZ4wplYahEhzhpPNR0++gCntK4it/fQQQywFY4gpk1hYGnbMkzBzt3m2z4ketaOw3Abq14vYi4hePMw0lh3G2PusO633E0I47wBYLG0mIZZpJJ0lUnYGJwgAHgRvmn/ALLOLXC31vbJPIkMz6HRW2w3ioOQreTDcVD4JXJ00WxdqPOP/E0VqGtaX8FwOVKl2Amyz4jkxk7c2NdJ9MpnzPiCCdrokOm7jltG85l+a+6dcxfcWB9KiCpFUSKlWEMquAysGU7ggggj0I61nViRUqVeUB7WEgrKsZKAbOKyYik61rk9KqSVF7ZrjTcRHfSLZ84ODgvnb4af3VS/Gr0zOHPljrnxP8auL22D55cjpaNj175/d/jVNyq2hsHC5GoZ6nfTt4+NSuLKRzJoY0qVKpLHZvZH6DZ/Zovy1otQnsj9Bs/s0X5a0WoDh5+p+NSXspxi2WG4tLwSiCco4eIKXjkjJ0kK2AykMQfuqNP1Pxor2d7NXV6zrbR8woAzd5VwCcD3iPGgJRH2k4YflNoIp4bOWKFRIgRpzJC2rmSKTpOvJBAO2B64ccQ7eW0gkUJKq/KbRowQpbk2yaO+c++cZ8t+tQnjvA7izk5VzGY3wGAOCCp6FSCQRsenlTaCxldGdY2ZFZVLAEgM2dC58zg4HpQFk2vbuy5vNcTgpxSS7QBFOqKXSCG7+zAA7dOm9CeAdp7LkpFeC4HIujdRNCFJfOCySamGDkDDDzP3wm6t3jdkkUq6kqykYII2II8CK1UBLe2HamO8ghUKyyCe6mcbaRz5OYoU5ycfCtXsw/0tZf75ai9Sj2Yf6Wsf9+tQ+CVydUyD9JX+wf8AGiDoCCCAQeoO4oFxjiqQTqz5xo8MeZ86wt+18L50hj9w/jVYtUZb4puz2bshADqtmktH65t20IT/AFoiDE+fVc+oO9Yc/iUHvxxXkY+tF8zPj+w55bnruHT4V63bCEAkq2FGT7p2/Gk/a1FOHilTLFQTowWUZZRhic4B9NqtaJU4tWOLHtVayOImYwzHpDOpikP9kNs/xUkUaJqCcf7a2hUxz2/MRuquEZT8QTUC7R8Zga2aGwkmhzj5t5vmQQQQ0YYO0RUgFQjIBt8DG6PY+yPZfNYsaqn2ddvb19MF4iTf/njdNQGCfnE8enVd/MdTVjC6uMn5gY8O+v7TVi6d8Dtq0uPKmr3Vx4Qb+XMA+/Pj+FaWubrUP0cadt+aCfwwMfHP3VBJWXtqhJlUj+jMB5511SE6DDaiwfbSMbY8Sc9K6R7WcFvLmaKSOIIY1Zf5xTnJBGNwQdqpv2sqBdqrauakapIDjTlVAGD476s/d61W2nRSKe5kIpUqVXLHZvZH6DZ/Zovy1otQnsl9Bs/s0X5a0WoDh5+p+NWB7K7YSQ8SQ2z3QMMXzCMUZ8TKdmG4xjV8FNQa1sZZnKRRvI250orM2PE4AJxShuZoWYI8kbdGClkO3gcYOx8DQF1zcGJmhYWqqIuHHTZzR/KpYfnyoKRkjms2TguQFBPlTi9QW5vooLaEJHxCycryVOhXRXZiPqgNnB6KCwHWqMXiEwcyCWQORguHbUQRggtnJ22pC/mww5smGUKw1thlXZQwzuB4A9KAvm34RHJc3ry2cbyNxFonQWiyE2wTUh3dRCZMsxn8WANRS2urO2ThSfJbZ4biWdZZZYUaUxi5kiQ6iDgqpzkb7AZ2FVo3FJyWJmlJddLnW2WX9VjnvD0NZ8LvwksTSx8+OMnELswQ5ycbHIGo5wOvjQEn9pHCI7M2tiiLzY42aVwq63eV2KKzAZbSgXH9qiHs67F8Rj4jaTSWsyRpKrMzrpAA6nfBqGdo+NS3dzLcS4Du2cDYKBsqr5AAAfdTzsSZW4hBy2PNLnS2d86T4nxPrRkN0rOiePcOYzJPG0Css5Znc5OkAhdY1DUobB0gg9PWtUHApZDFPJLBlECEIshAGsSEe9gnVkasDIPhQvjl/DI/d1HCjCMBzNWGDDxYZJXGOhyemKh3aJHEq4LgaO6oZ0Ve/JkADHQjHTwqYx9GSkpFiw9n9Lq2XkQgKylJGBXCLsWlGnBUnPQA+QrXx2Owh1FZJ3kUHCmZ3XV3Sf5zUA2HG4GSCRvjFVnySR78vw5kn/VWfZ60Pynu627g7oLMxfmLpKgnqBq/EVZwpZJaVYDUMkFwHaTUVC93SCwDeI3x44G4pvJY2/JVtxMG3GO6V8//AD1+5/Pxd1uLopq1Nu4lQtvpCaQ2g6n6DBC41AVFOM8WnikZEiVlBIBIfcA4zt4ZB/CqxSv/AEWtLxX8h+6jiinh+TmQE++GGOu2B6Y6/dV7IapDsxfz3xjlmidjEeWqqgXLNnAUn3vNmOAuMn1vBRVVdUy1pvAmrWT6VsIrDFSSaWrl/wBs5/8AVJ/TH7s/41fFnZ8UHFJ5JJUNgV+bTIyDhcALjIYEMSxO4PwxQvtiGOJz7/W23JwCFON/XO1QQ2QilSpVJJ2b2R+g2f2aL8taLUJ7I/QbP7NF+WtFqA5W4VezW3BpZrV2ila+EcskZKyCIRao11DdVL6viRiilxad25v+L2pmm5kEXJVjDs8ermuU3LMoGPXOfIQngPaW7sndrWZoi2zYCkEDOMhgQcZONtq3cO7Z38E0s0dw4kmIMrEK2ojdSQwIyPA428MUBYUHYvh0EvJmhefXxP5Ijc1kKRvFFIpYLszIX9M758BTXhHZPh5S1hkhd5bn5cvO5rLoNsXMbBBsxIXBHT0NV/F2lu1KkTNlbj5SCcE8/Ycwkjc7Drt6VlH2ovFaJhMQYeaYzhe7zs87w31ZPXz2xQE7k7GWHyKJSyJcvaw3AlMrmQtKy91odOgRBWwHznUB50R4Pwuwi4tBFDYzD5PdmBpmkZ4nPLJVnyO7IGGoKMDH3VWr9rL02otDO/ycADl93oDkLqxqK5305x6U4u+3PEZTCz3TkwMHjOFGHAwGOB3zjbLZ22oCacN7P8Ple2SS2kL8RmuAjrK36OqOyKFHSUgjJLeFZ9n+H2lvPwYRwH5ROqzPNzGIAHMUhU6d7AOfDAx1NQqLt3xFVmVblwJmZ5AAg7ze+V7vzefHTivezfHJzd2jM5PydSsWw7qgMwXpuMk7nzpdZIfBcl5w4PGFaVu5llj5MTAlWKqpJj3Bj3yT1PXNR7jijnIFXTiIHThQR35CdlYgdfAkUd9l9vcXANzd3spV1LG2ePQmP1kL7lVJA1IMZ2yacdpWs3TmvCypEpKvH/OaTnZ8g5O+fMZx50jLazFtxxIhTy433/8APKnfY+dPlYPdzpBAY6RgOM7+W+PvFELqKxFvHNy7jS4yMuoZgAc4DKP1TTiztoYT83HDIdYJJmRyVDZUYUdzrqBKnOjrtvo5pqibSyBu2szEyRKiFedK4InbqSucoU2AYZyd+g8K2dk7cPLHGFwucMwkVwA+llXYYYgat8eh6b7e0izytr0d0ZwsZlfAYknCgYBLat8Dc/iU7PMpmTAZWDRq+piZMqAO+GOtTjAwQOhHgaztNYKylZa3COHRwxhY1AGP37/+HxrbxKSVYpGhUPKEYojHAZwO6CfAE7ZrbbjCL/ZH7q2UOga8MuWkijd42idlBaNtypIyVJ8cHalxGflxvJpLaVJ05xnHqelOqbcTUGGTIyNB2+7NAD247bf7TH/tfH7q5v8AbKVPEpHU5VwrDbHgB/hWz2gccuknVUZkRVBXG2SetAO1N48y20kpzKYsN9xIU+mRg/fVE3gxg5SpuqAFKlSq5sdm9kfoNn9mi/LWi1CeyP0Gz+zRflrRagOHn6n41P8A2ZcBS4t71/kQvZY2gEcZkaPZ+ZrOQw/VFQB+p+NG+Ecf5FpcwKGDyyQSJIDjQYS7fHOWGD6UBY9v2RtPlF2I7FZpI7WCQ2huDpindiJY+bqGcLg7k9cVDYuGxycZht5LVbdDNHG9ushkAzpDd/JJz12PjTjj3bmG4W7Itykt3BCkpBGgzRvqaQDH1gBt5jNRHg3EWt54Z0ALRSK4B6EqQcH0OMUBLOG9nIZouJAKBJHdQRQsS2EEkzRnx3GMdc9Ke2Xs7aK6tw729yrXLW8iBpFCyqpfS5C53XfK58q1X3bm0UEWlo8XNuY7i4LSa88t+YEj22Gok5Ne2XtDjSXmclj/AOove41D3XjMejp13zmgGnaPsgkdvw9rdhJPdasxKWJ1asALkAYX3DvknJ6UY9n3DrS14hbRyMLi7ZypVGzBB3WzqYbTyeGFOgZO5IqLdoe0UVzaW0XLdZYDINWoaDG7lxtjOrJG/TasvZnME4pZk9DKF+9gVH7TUoiXDL2vZIxKSCA0oXJAPeAJ0AtjZRhsKSAMVHePRqlpIMBjIARknukA+73gOgJ9TjxAr28WNlaLQrnnyMBscY0ajjOep64JBLb4NOLWeGSBVBLhYwBrBjJO6EFevXWMfs6VG1rJxuO3yRHruP8AQ4UBZmBIYHSdLamJUYJ22/YaY8Nsy3MwxXEZyyg5H4Y8iMddzUnvdOWjKt31XJJymWdife72osTkbePXOza1lZSivywO5jlwhZWBwikkv3gTjc+O9W5Rpue3AU4ZcnvvGrRqeUmg8oHKalkOFzkFhnIPXc+uMkba5ZFZtRfWcHctgEkDYAk+WM7ZNauK8U5EkEbK5E+CjBe7g4xk/eOlPHJXPkevocYz8POsHKV9GOpKXszh49dt0lk64+qMb43yQR5/D12p9bdoZztzWz+/9lArLhyISw94HvDJ94Yx9bfbH/gGHCxZUee+Px8fSjmQ5vsN/wCWpyR89p36scKPVjjpQW649dksObMCemMAYPNVMHIAyTH+HhvXttcaiV+uvUDr/wCbH44rF7bUXOVA0qvUatWWYEDxA8/++KKTi8kx1JLgaT8LhlVeaFcgnCkNrAzkaidjnPgT0/CsvafEq3SBQABEoAGw8fCrWuVBlDCJABowdWSgyQQCw1MGO53GDjrtVU+1J83gHlEmfvyaabbkawilNNeyH0qVKug6js3sl9BtPs8X5a0WoT2R+g2f2aL8taLUBw8/U/GsayfqfjWNAKlU14Lw3h8FnDc38csxuZXSNI30aIo8CSQ7d5tRwF6YFF+BdnOHm3lmW2ur5flphi5RZJOVoDqzKF65OPDc+FAVnSqeduuyVvZwymIszLfvCGY78vkRShWA21KzkE+lNe0/Y1hxC7t7NBy4GUYeWNSAygjeRl1b56UBDaJ9mZtF5av+rPE34Opol/mNeeIgHxurb/8ArWUfY26QhuZaAqc73dv4b/7SgZ0BxfhkbW+pERJHmnUyBRrIIm2LYz4Db0FVzFfQwqVbmKS5CGMzZ7rBSToGAFbUV9cmralspJbdOUYzuXHe21Mpz3hqDbsT5biqx7ZcJeLkq5UFldu4wYe8M9AM7k74H34qdPmjKSuuqEON2Zk1srONQOD8oBKgtgFtHXBU/FPWmkvFbYkMdWe59SdsBWiOBlcEYWTc9S2TvTdRt4nbr+6vSw9c1otPPJDrocMEItLmInTGgMmpGI1ITrKqQcZKkb7AsvgCaM3fElUmMAnUobO+BkgHO2kHcHTn1xihVpGnKgBaNS2sDWJMFjLKDuDpyRnY9aIHgx5h06QNIBJGCTqDFsg/1fFT4VlKvZhN5p8BCC5RmlKspGodCP1RTSG/04UjOXCjSOgOoEnvb4I36Y/bWkQJApXPMLHuhskjr0yScHP7KFPwq4eVo1mTKkOAythQSdGCE0g9dgT41kobm6IjFO6MmV/lvNBYfV93u4zI2/fyd1Tw21/DM5k4TKAp5b7gZJ0nLHdtOk7L5Z386gQs7nkvN8pTQmQwKyZ2ODgaN99qnPZa/m5ISZlaRTgMzOMggNjGNiowMH7qz1ozSTo0UE1UlQPu2eORUMfvaCSSAVwXIODuQdxkef4U17QZtV/N6aV/BQKurjshNzECygqAu4BZ8sSNJY5UgZONyd/AHFDdp5td3cN5yt+w4qdHs0hFJquv7BdKlSroNjs3sj9Bs/s0P5a0WoT2R+g2f2aL8taLUBw8/U/GsayfqfjWNATLgXH7FrWK24hHOwt5WkhaEpkq+C8ThvqlhnI33r257blbWaK0Eto0l404ELlEWEx6BHlSCTkA9MbZqM8H4XLczRwQrqkkOFGcepJPgAAST5A1IZ/Z7drJCitBIJuYEkilDxaolLyKzAd1gAdv4GgMuA8esmtGteILcsBcm5WSEoWZmQI6vr8DpBz1z5eIftbxn5beT3IXSJXyFzkgYAUHzOAKIjsDelbJgEIvTiHDegPf27uxz4+NBeO8JktLiS3l08yNtLaTkZxnY+PWgGFKlSoDoSxmuJLO2kV20NawoVwTH/qlPQZGfnOn6o6ZoV2pvJJDDzCCVV17oIGMoehJPj50X9n/ABKI8HthMGIw6nCswCpId3wDhemSdqJXfZkXRhdHSJlDqVWLMbA7DIGw6Hf4b7Crp5MFy0QIMKxbFS667AOmdVxAoG+WJXb7xWMXYiE4Et2uc40xDxAJI1MMA4Gela7kGxpwW21WqncEI2kgN7wmlyeuk+GxBo1wOwnmjchQ2JCB3lBxgEZGcjr94xRCG0htkWOBAwx7zlnOSxfpsPreX7qyt+LzKjAHByRsAAoy2yqBgH1rkk1lMym4t5I3xHhMsVxGkkUAR3Byyo0+dceNDK+pRjVvp20N11beSSMmo7FRMSFAw2ptK4z4jA2zQefh+b1ZmuANU641SNklSFIwTjJIIx60dupAGLHfDYx+G+PTNb6MUzS8KuhWxkV8EplETfSMZjKEZHmcH40raMAk7ZJwcZ8FU+PxNPIyuvGxBGc5G/T+NYNhnwuPex/8UFRrwioY/gz1ZNxyaZYxkMc5Xcbnw8xnB8etc93T6nc+bE/ia6D7QAwxzZIykbHPh7px/hXPArn0lyW+NebPKVKlWp1HZvZH6DZ/Zovy1otQnsj9Bs/s0X5a0WoDh5+p+NY06srGWeURQo0kjHCqoyx+6s+LcJntpOVcRPE+AdLjBwehHmPWgCns/ZxxC3McyQPqOl5BlMlSNLDI2f3Ov1qtaDh6x3VjJNbRWV0z3QaCKUNG8fyWT53QCVjOru7dc/hRFKgL5suIolhA2oCS04fFcxdN3dLm20+mGaM/hVZ+1MZ4veY3zLtjfPdXpUSrZBMyMroxVlIZWBwQwOQQR0IO+aAOWPYu/kXVyGjT9eYrCn3NIVB+6t54BZRfSOIRlh1jto3mOPISHRHnw2Jx60E4pczu/wCkPKzj/asxbB3Hvb7jBpnQHQvsuvrRrF0gjlMaytF88yljrCsSwRQAufDJrVx7tJeRTSpFLoVSAFVECjYf1c9T60M9hska2Ny0gOFuFOwYnOgAbDc0u0n0iU+o/wCUVrpq2Ytuxk/Fbpzl5A2ds4XP/LTnhs0jSxKznDSLnAUb5xnIAOdzvTKMU54bKDPH6OufxBq9ENJoMdprsxyRlzJh0TIQHboCwIU407kjoQaM8KXVCpByCoIPoS2PLwxTTtDfQZjicwh9GAHYh8smxABGdyuD5/tMdnbZVjCdABhc7ZAyQPQ6SKwlmJm1hAJuD6ZdY1bEnIY47xYnunIHvY2wdh8a0m0UzNlSGLajIX7jKeqac7MGGc+NTG7tR/38fOgsiDP3VktRxeSim44I5BAigkQvgKAUMo1PpI1aGz3NQGw8KIcLQhwBnR3dIJzjONvj0B+FPSg9K9j6j4iqy1E1SRE9ZzVMHe0qXTb3Zz9TH46RXP8AV8e1HPyW6ycnC5/vLVD1eHs6ND3+TylSpVc3OzeyP0Gz+zRflrRahPZH6DZ/Zovy1otQHKns91criggz8qNr81pzrKcxeeExvnTjpv1orwHg90/KPEY2nWGynntLaQnW2lgNLgfOacnUFPUAY2BFV3b3ckMgeKRo3U7OjFWHwIwRW+Tjt00wuDcTGcdJTI/MHUbNnIGCRj1oCy5+F2kcc109jGHNhDcfJm1hElM5jyBkMqsqhtPkSOhrdc8Jsbea9kFnFIqz2OiNyxRBcRlpQMHcZJwDsML5YqrLjjNzIZGeeZjKAJC0jEuAcgPk94AgYB6YpS8XuGzqnlbUVLZkc5MYxGWydyo2Xy8MUBcXDex/DY+erxB1e9uIT83cSyRxxjuLEYgdDAHXqbqNt+tAX4ZFDb26xcNW4X5LFdvdlmUh9eX1H3WQAaDGMHfz3qAQ9obxebpurheaSZcSuNZPUvv3ifM1qHGLnk/J+fLyM55WtuXnOfczjrv060BcHa63jFxf3f8Ak9LqVbiGARFZCvLaMuZSq7szECMN0GBj1B9quFWVha3ojto5W+XSW0buWLRIYEfu795kYkAn161BF7T3yyGQXdwH0BNYmkDaBnSuc5wMkgeZzTCS+lZCjSOULmQqWYqZCMFyM41EbautAXT7BIFezulYZBmXIyR9UeVSziXYdpJGk5qqGOQpUk9AN96A/wD09W7pZzyMuFebuEj3tK4bT6A7Z86tCV8kn8PhVlJrgwnhlfj2fOM/Ppv/AFW/jWdp2FdJFcypswY9074OfOp0xrQk+Xwq6iAdiMgjIBI38Dj8al6kkiqy6IdcWTTD9IicYVgWBKjYal7ujBGxXqPv61t4I/Nil1IFaNe6UdyMYOnIIGCMdN+tSS8jzzCcr3TlQMY28KFcGv5J+7GitjIIYafdOnzI3/w+NRyg0+D2+4qqtoZX/mRKXC5U48MDJLHBwAKCNHdszMtu0kWT3wUXChck6WIckHB6dDjGRT28sDFOBKmkTaUARslQWVcrvsNRHTfxrf2wsTZWyskzHvBSZPdC6W97QnicDfr02JqHBMKHtoYsMEivAM7Dqabx2SRkzPeZBIXlsgVNbbFVYgHIbAGetbpplTLMQqrq1E9ANJXfcbb+dc04OJg9OpJMAe0GMiwnyCO6Ov8AaWqNq7u2NzHJw28eORpFdlJ3GlWURqygYGgnAYjHVifGqRrTS4OvTgoWkKlSpVoanZvZH6DZ/Zovy1otQnsj9Bs/s0X5a0WoDh5+p+NY1k/U/GsaAVGuAdmbi8juZIQpW2j5kmSc43OFwDlsBjjboaC1bPYriVjw+ztGuJJFkuJjO4iVH1RKGhRJskEIQ8jY36mgIR2a7Hz3oUxNEoabkjWxHeETzEnCnChUO/mRWHaPsnNaJHKZIJoZCVWW3k5ketcEqTgYbBzg+tWTwWySyvbGzV00tPez51KRpMTwW/ezjdEzv+tUT49Ymw4V8kneI3E10JhHG6yaI0QpqYqSFLE4x4gelAQOpB2a4NGytdXRK2kRwcbNNJ1WGL+sfFvqjc+FNOznDI55TzpRDDGuuVzjVoBAxGv13JIAHmfKs+0nG/lDqsacq3iGmCEHIRepJP1nY7s3Un4CgLc9jvbA3M9zFJpTKqYI12RIkyvLQeSjT6ncmrE45xMQR6y0aqN2aRtKgdOuDXKfB+Jy200c8LaZIzlT+wg+YIyD6Gr1TjFlx6z5JflTkAtFqAYMpyGjzs652+B8DV40zGcc36JJZ9pDIoZAkikZV4XDrsTnOrT5eGd8g4oRxftjHbFGIZe9pOWUEIxLEjS+T7uwwTUF7U29zwxYbS1WRlCs7MAWbLNsTpGANjgeh3p12f7BHiEEdxczXCSHI0YAxpJC4DDI8/vq7inxyQklkkt97RbNtcHMkWVmMWdLHDE8snVnfG/j4UM4B24tYrgiIiFjqTGJHyc5GrWSAcgDY4/fWr+R+2zn5TPnOc4TOfPOOua0yeyS3U5W4nyD1woP44qNkuifHsKcX7Urd6Ndwo3CqyxkEZaEZGc4I5ynPhj0OGR49CU1yTk90P7rFR3U3C7YbExXrto+Faf5K4x0uZ/T3fT/AKV/AUy4x7No4oJHFzOSiEhSBg4HTb4D9lTtkT4kgsbyRh8woyW1K5wEyQQQ27HGCd8E71lg3CyRu9tIvSQW8xeRDnKkZQDZgNj5Hr0qsOx1/cx3EMZEuh3Cadx1OMjbrvVj8A7K2vClluJ5yqMukcwAHHUAKN3bpvt8Ko4RaszcK/IL7fymCxlDyNLJcSjU76dTEKBnAAAAVFFVBUh7a9pDezlgCsS7RoeoHiW/rE/4DwqPVnFUjXTi0vLk9NeUqVSaHZvZH6DZ/Zovy1otQnsj9Bs/s0X5a0WoDh5+p+NGo+yF+1sbpbaQwAZ1gfVHVgPeKj9YDFBZOp+NWtx/h3EJLxJ7JnjthYIyTEkQLCIAHUnBUHORp65OfWgKoryrdu+BQC1eIWcfyZeGC6S+0HmNcYDAc3OMM50crrTnj8NlEb39CtwllLYuCqd51mxz1cnqpHRQMD40BTVKrqTsnYw31tZvHG7SPc3YyuotHhhaRYGCVwpcpncj1rHidnZwLdXPyOFpEs4JOXJbtFDzGmMYdYmbUgK4yud9PrQFNzW7pp1qy6lDLqBGVPRhnqDg71qq9Tax3M1tJLbQ/N8IiliAgeRGc6Aw5Yb51YwdkHTV40G7UWtnaQX8kVpEX50EYWWIjktLAzSctS2V/WUEnBYeVAVIBSBx0rylQFweyC/nlhvSZnMirEqs51kKDIcAHfxO2fGrTS7yck1ytZ8RmizypZI9WM6HZc46Zwd8ZP406/zjvf6Vcf8AFk/6q2jqJKmZuFs6baZD4/8AelzFI2Oc+u4rmZe018Ol3cf8WT+NejtTfD/7u4/4r/xq32or9bOjXIxWuMjz8a54/wA67/8Apc//ABG/jS/zqvt/0mbfr3zT7Yj62W17RrqaGzeRZMOs4aNk2KqRpx+BP41Sl7eyTMXldpGP1mYk/t8Kd33H7qZNEs8joSDpZsjI6UMrKctzwaRjQqVKlVCwqVKlQHZvZH6DZ/Zovy1otQnsj9Bs/s0X5a0WoDiF4jk7eNORf3HKMHNk5JOTFrPLznOdOcdd6VKgEb645Qg5knJB1CPWdGfPTnGa8lvJ216pJG5mnXlydWn3NWT3seGelKlQGLXU5dXMjl0ACMXOpQvuhTnK48MdK2XHELmQyF5ZWMmOYWdjrA90Pv3gMDGemK8pUBnFxS6XlFZpRyc8rEjDRnro37ufStM11OwYNJIwdtbAuSGfcamyd23O533r2lQDblHypco+VKlQHvKPlXnKPlSpUB6EavOWfKvaVAeco+VLlHyr2lQHnKPlS5RpUqAXKPlS5R8q9pUB5yj5UjGfKlSoDsrsl9BtPs8X5a0WpUqA/9k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9" name="TextBox 18"/>
          <p:cNvSpPr txBox="1"/>
          <p:nvPr/>
        </p:nvSpPr>
        <p:spPr>
          <a:xfrm>
            <a:off x="2057400" y="2618176"/>
            <a:ext cx="615697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Represents the work done by the system per degree rise in temperature in expanding </a:t>
            </a:r>
            <a:r>
              <a:rPr lang="en-US" altLang="zh-CN" b="1" dirty="0"/>
              <a:t>against the constant external pressure P acting on the system</a:t>
            </a:r>
            <a:endParaRPr lang="zh-CN" altLang="en-US" b="1" dirty="0"/>
          </a:p>
        </p:txBody>
      </p:sp>
      <p:graphicFrame>
        <p:nvGraphicFramePr>
          <p:cNvPr id="20" name="对象 19"/>
          <p:cNvGraphicFramePr>
            <a:graphicFrameLocks noChangeAspect="1"/>
          </p:cNvGraphicFramePr>
          <p:nvPr/>
        </p:nvGraphicFramePr>
        <p:xfrm>
          <a:off x="462873" y="1447800"/>
          <a:ext cx="4504264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247900" imgH="457200" progId="">
                  <p:embed/>
                </p:oleObj>
              </mc:Choice>
              <mc:Fallback>
                <p:oleObj name="Equation" r:id="rId2" imgW="2247900" imgH="457200" progId="">
                  <p:embed/>
                  <p:pic>
                    <p:nvPicPr>
                      <p:cNvPr id="20" name="对象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2873" y="1447800"/>
                        <a:ext cx="4504264" cy="914400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对象 20"/>
          <p:cNvGraphicFramePr>
            <a:graphicFrameLocks noChangeAspect="1"/>
          </p:cNvGraphicFramePr>
          <p:nvPr/>
        </p:nvGraphicFramePr>
        <p:xfrm>
          <a:off x="460375" y="2694376"/>
          <a:ext cx="914400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609600" imgH="457200" progId="">
                  <p:embed/>
                </p:oleObj>
              </mc:Choice>
              <mc:Fallback>
                <p:oleObj name="Equation" r:id="rId4" imgW="609600" imgH="457200" progId="">
                  <p:embed/>
                  <p:pic>
                    <p:nvPicPr>
                      <p:cNvPr id="21" name="对象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0375" y="2694376"/>
                        <a:ext cx="914400" cy="685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对象 21"/>
          <p:cNvGraphicFramePr>
            <a:graphicFrameLocks noChangeAspect="1"/>
          </p:cNvGraphicFramePr>
          <p:nvPr/>
        </p:nvGraphicFramePr>
        <p:xfrm>
          <a:off x="466725" y="3756414"/>
          <a:ext cx="1438275" cy="690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952500" imgH="457200" progId="">
                  <p:embed/>
                </p:oleObj>
              </mc:Choice>
              <mc:Fallback>
                <p:oleObj name="Equation" r:id="rId6" imgW="952500" imgH="457200" progId="">
                  <p:embed/>
                  <p:pic>
                    <p:nvPicPr>
                      <p:cNvPr id="22" name="对象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6725" y="3756414"/>
                        <a:ext cx="1438275" cy="6905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TextBox 22"/>
          <p:cNvSpPr txBox="1"/>
          <p:nvPr/>
        </p:nvSpPr>
        <p:spPr>
          <a:xfrm>
            <a:off x="2057399" y="3541506"/>
            <a:ext cx="615697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Represents the work done by the system per degree rise in temperature in expanding against </a:t>
            </a:r>
            <a:r>
              <a:rPr lang="en-US" altLang="zh-CN" b="1" dirty="0"/>
              <a:t>the internal cohesive forces acting between the constituent particles of the substance </a:t>
            </a:r>
            <a:endParaRPr lang="zh-CN" altLang="en-US" b="1" dirty="0"/>
          </a:p>
        </p:txBody>
      </p:sp>
      <p:graphicFrame>
        <p:nvGraphicFramePr>
          <p:cNvPr id="24" name="对象 23"/>
          <p:cNvGraphicFramePr>
            <a:graphicFrameLocks noChangeAspect="1"/>
          </p:cNvGraphicFramePr>
          <p:nvPr/>
        </p:nvGraphicFramePr>
        <p:xfrm>
          <a:off x="460375" y="5232789"/>
          <a:ext cx="1598612" cy="682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4993600" imgH="10668000" progId="">
                  <p:embed/>
                </p:oleObj>
              </mc:Choice>
              <mc:Fallback>
                <p:oleObj name="Equation" r:id="rId8" imgW="24993600" imgH="10668000" progId="">
                  <p:embed/>
                  <p:pic>
                    <p:nvPicPr>
                      <p:cNvPr id="24" name="对象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0375" y="5232789"/>
                        <a:ext cx="1598612" cy="6826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对象 24"/>
          <p:cNvGraphicFramePr>
            <a:graphicFrameLocks noChangeAspect="1"/>
          </p:cNvGraphicFramePr>
          <p:nvPr/>
        </p:nvGraphicFramePr>
        <p:xfrm>
          <a:off x="2362200" y="5041733"/>
          <a:ext cx="2017713" cy="1120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38404800" imgH="21336000" progId="">
                  <p:embed/>
                </p:oleObj>
              </mc:Choice>
              <mc:Fallback>
                <p:oleObj name="Equation" r:id="rId10" imgW="38404800" imgH="21336000" progId="">
                  <p:embed/>
                  <p:pic>
                    <p:nvPicPr>
                      <p:cNvPr id="25" name="对象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2200" y="5041733"/>
                        <a:ext cx="2017713" cy="11207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对象 25"/>
          <p:cNvGraphicFramePr>
            <a:graphicFrameLocks noChangeAspect="1"/>
          </p:cNvGraphicFramePr>
          <p:nvPr/>
        </p:nvGraphicFramePr>
        <p:xfrm>
          <a:off x="5943600" y="5573713"/>
          <a:ext cx="1411288" cy="446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8288000" imgH="5791200" progId="">
                  <p:embed/>
                </p:oleObj>
              </mc:Choice>
              <mc:Fallback>
                <p:oleObj name="Equation" r:id="rId12" imgW="18288000" imgH="5791200" progId="">
                  <p:embed/>
                  <p:pic>
                    <p:nvPicPr>
                      <p:cNvPr id="26" name="对象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43600" y="5573713"/>
                        <a:ext cx="1411288" cy="446087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TextBox 26"/>
          <p:cNvSpPr txBox="1"/>
          <p:nvPr/>
        </p:nvSpPr>
        <p:spPr>
          <a:xfrm>
            <a:off x="5791200" y="4933890"/>
            <a:ext cx="148284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/>
              <a:t>For</a:t>
            </a:r>
            <a:r>
              <a:rPr lang="zh-CN" altLang="en-US" sz="2000" dirty="0"/>
              <a:t> </a:t>
            </a:r>
            <a:r>
              <a:rPr lang="en-US" altLang="zh-CN" sz="2000" dirty="0"/>
              <a:t>idea  gas</a:t>
            </a:r>
          </a:p>
        </p:txBody>
      </p:sp>
      <p:graphicFrame>
        <p:nvGraphicFramePr>
          <p:cNvPr id="28" name="对象 27"/>
          <p:cNvGraphicFramePr>
            <a:graphicFrameLocks noChangeAspect="1"/>
          </p:cNvGraphicFramePr>
          <p:nvPr/>
        </p:nvGraphicFramePr>
        <p:xfrm>
          <a:off x="7315200" y="4933890"/>
          <a:ext cx="1385888" cy="395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621760" imgH="177646" progId="">
                  <p:embed/>
                </p:oleObj>
              </mc:Choice>
              <mc:Fallback>
                <p:oleObj name="Equation" r:id="rId14" imgW="621760" imgH="177646" progId="">
                  <p:embed/>
                  <p:pic>
                    <p:nvPicPr>
                      <p:cNvPr id="28" name="对象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15200" y="4933890"/>
                        <a:ext cx="1385888" cy="3952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95540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00" name="Picture 8" descr="https://upload.wikimedia.org/wikipedia/commons/thumb/5/52/GraphHeatCapacityOfTheElementsI2s.png/800px-GraphHeatCapacityOfTheElementsI2s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708" y="1298447"/>
            <a:ext cx="4614337" cy="35299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itle 1"/>
          <p:cNvSpPr>
            <a:spLocks noGrp="1"/>
          </p:cNvSpPr>
          <p:nvPr>
            <p:ph type="title" idx="4294967295"/>
          </p:nvPr>
        </p:nvSpPr>
        <p:spPr>
          <a:xfrm>
            <a:off x="1075957" y="98228"/>
            <a:ext cx="6457950" cy="723392"/>
          </a:xfrm>
        </p:spPr>
        <p:txBody>
          <a:bodyPr>
            <a:normAutofit/>
          </a:bodyPr>
          <a:lstStyle/>
          <a:p>
            <a:pPr algn="l"/>
            <a:r>
              <a:rPr lang="en-US" sz="4000" dirty="0">
                <a:solidFill>
                  <a:srgbClr val="FF0000"/>
                </a:solidFill>
              </a:rPr>
              <a:t> </a:t>
            </a:r>
            <a:r>
              <a:rPr lang="en-US" sz="4000" dirty="0" err="1">
                <a:solidFill>
                  <a:srgbClr val="FF0000"/>
                </a:solidFill>
              </a:rPr>
              <a:t>Dulong</a:t>
            </a:r>
            <a:r>
              <a:rPr lang="en-US" sz="4000" dirty="0">
                <a:solidFill>
                  <a:srgbClr val="FF0000"/>
                </a:solidFill>
              </a:rPr>
              <a:t>-Petit Rule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1281870" y="960120"/>
            <a:ext cx="550413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>
                <a:solidFill>
                  <a:srgbClr val="0000FF"/>
                </a:solidFill>
              </a:rPr>
              <a:t>3R rule</a:t>
            </a:r>
            <a:r>
              <a:rPr lang="zh-CN" altLang="en-US" sz="2800" dirty="0">
                <a:solidFill>
                  <a:srgbClr val="0000FF"/>
                </a:solidFill>
              </a:rPr>
              <a:t> </a:t>
            </a:r>
            <a:r>
              <a:rPr lang="en-US" altLang="zh-CN" sz="2800" dirty="0">
                <a:solidFill>
                  <a:srgbClr val="0000FF"/>
                </a:solidFill>
              </a:rPr>
              <a:t>for the thermal conductivity!</a:t>
            </a:r>
          </a:p>
        </p:txBody>
      </p:sp>
      <p:pic>
        <p:nvPicPr>
          <p:cNvPr id="15" name="Picture 2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2694"/>
          <a:stretch/>
        </p:blipFill>
        <p:spPr bwMode="auto">
          <a:xfrm>
            <a:off x="4803648" y="1670905"/>
            <a:ext cx="3733905" cy="30291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6" name="TextBox 15"/>
          <p:cNvSpPr txBox="1"/>
          <p:nvPr/>
        </p:nvSpPr>
        <p:spPr>
          <a:xfrm>
            <a:off x="538182" y="4828416"/>
            <a:ext cx="682273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/>
              <a:t>Experimental shows that  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US" altLang="zh-CN" dirty="0">
                <a:solidFill>
                  <a:srgbClr val="FF0000"/>
                </a:solidFill>
              </a:rPr>
              <a:t>3R rule is only   valid as T is high enough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US" altLang="zh-CN" dirty="0" err="1">
                <a:solidFill>
                  <a:srgbClr val="FF0000"/>
                </a:solidFill>
              </a:rPr>
              <a:t>Cv</a:t>
            </a:r>
            <a:r>
              <a:rPr lang="en-US" altLang="zh-CN" dirty="0">
                <a:solidFill>
                  <a:srgbClr val="FF0000"/>
                </a:solidFill>
              </a:rPr>
              <a:t> is  temperature dependent </a:t>
            </a:r>
          </a:p>
        </p:txBody>
      </p:sp>
    </p:spTree>
    <p:extLst>
      <p:ext uri="{BB962C8B-B14F-4D97-AF65-F5344CB8AC3E}">
        <p14:creationId xmlns:p14="http://schemas.microsoft.com/office/powerpoint/2010/main" val="30044846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945897" y="123673"/>
            <a:ext cx="4906607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3200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E</a:t>
            </a:r>
            <a:r>
              <a:rPr lang="zh-CN" altLang="zh-CN" sz="3200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quipartition of energy</a:t>
            </a:r>
            <a:endParaRPr lang="zh-CN" altLang="en-US" sz="3200" dirty="0">
              <a:solidFill>
                <a:srgbClr val="FF0000"/>
              </a:solidFill>
            </a:endParaRPr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/>
        </p:nvGraphicFramePr>
        <p:xfrm>
          <a:off x="1302266" y="880835"/>
          <a:ext cx="4906607" cy="83574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311200" imgH="393480" progId="">
                  <p:embed/>
                </p:oleObj>
              </mc:Choice>
              <mc:Fallback>
                <p:oleObj name="Equation" r:id="rId2" imgW="2311200" imgH="393480" progId="">
                  <p:embed/>
                  <p:pic>
                    <p:nvPicPr>
                      <p:cNvPr id="2" name="对象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02266" y="880835"/>
                        <a:ext cx="4906607" cy="835741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矩形 4"/>
          <p:cNvSpPr/>
          <p:nvPr/>
        </p:nvSpPr>
        <p:spPr>
          <a:xfrm>
            <a:off x="410546" y="1857427"/>
            <a:ext cx="797592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zh-CN" altLang="zh-CN" dirty="0">
                <a:solidFill>
                  <a:srgbClr val="22222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each degree of freedom would have an average energy in the amount of </a:t>
            </a:r>
            <a:r>
              <a:rPr lang="zh-CN" altLang="zh-CN" i="1" dirty="0">
                <a:solidFill>
                  <a:srgbClr val="22222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k</a:t>
            </a:r>
            <a:r>
              <a:rPr lang="en-US" altLang="zh-CN" i="1" baseline="-25000" dirty="0">
                <a:solidFill>
                  <a:srgbClr val="22222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B</a:t>
            </a:r>
            <a:r>
              <a:rPr lang="zh-CN" altLang="zh-CN" i="1" dirty="0">
                <a:solidFill>
                  <a:srgbClr val="22222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T</a:t>
            </a:r>
            <a:r>
              <a:rPr lang="en-US" altLang="zh-CN" i="1" dirty="0">
                <a:solidFill>
                  <a:srgbClr val="22222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/2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altLang="zh-CN" dirty="0"/>
              <a:t>The possible degree of freedom include: translation, rotation and vibration</a:t>
            </a:r>
            <a:endParaRPr lang="zh-CN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167951" y="2935249"/>
            <a:ext cx="36471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Internal energy </a:t>
            </a:r>
            <a:r>
              <a:rPr lang="zh-CN" altLang="en-US" dirty="0">
                <a:solidFill>
                  <a:srgbClr val="FF0000"/>
                </a:solidFill>
              </a:rPr>
              <a:t> </a:t>
            </a:r>
            <a:r>
              <a:rPr lang="en-US" altLang="zh-CN" dirty="0">
                <a:solidFill>
                  <a:srgbClr val="FF0000"/>
                </a:solidFill>
              </a:rPr>
              <a:t>and specific heat </a:t>
            </a:r>
            <a:endParaRPr lang="zh-CN" altLang="en-US" dirty="0">
              <a:solidFill>
                <a:srgbClr val="FF0000"/>
              </a:solidFill>
            </a:endParaRPr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758793" y="3372467"/>
          <a:ext cx="2805112" cy="600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841400" imgH="393480" progId="">
                  <p:embed/>
                </p:oleObj>
              </mc:Choice>
              <mc:Fallback>
                <p:oleObj name="Equation" r:id="rId4" imgW="1841400" imgH="393480" progId="">
                  <p:embed/>
                  <p:pic>
                    <p:nvPicPr>
                      <p:cNvPr id="6" name="对象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8793" y="3372467"/>
                        <a:ext cx="2805112" cy="6000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AutoShape 3" descr="{\displaystyle C_{V,m}={\frac {f}{2}}R.}"/>
          <p:cNvSpPr>
            <a:spLocks noChangeAspect="1" noChangeArrowheads="1"/>
          </p:cNvSpPr>
          <p:nvPr/>
        </p:nvSpPr>
        <p:spPr bwMode="auto">
          <a:xfrm>
            <a:off x="288925" y="388132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285750" indent="-285750">
              <a:buFont typeface="Arial" pitchFamily="34" charset="0"/>
              <a:buChar char="•"/>
            </a:pPr>
            <a:endParaRPr lang="zh-CN" altLang="en-US" sz="1600"/>
          </a:p>
        </p:txBody>
      </p:sp>
      <p:graphicFrame>
        <p:nvGraphicFramePr>
          <p:cNvPr id="9" name="对象 8"/>
          <p:cNvGraphicFramePr>
            <a:graphicFrameLocks noChangeAspect="1"/>
          </p:cNvGraphicFramePr>
          <p:nvPr/>
        </p:nvGraphicFramePr>
        <p:xfrm>
          <a:off x="6485543" y="4472663"/>
          <a:ext cx="1165379" cy="7688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4325600" imgH="9448800" progId="">
                  <p:embed/>
                </p:oleObj>
              </mc:Choice>
              <mc:Fallback>
                <p:oleObj name="Equation" r:id="rId6" imgW="14325600" imgH="9448800" progId="">
                  <p:embed/>
                  <p:pic>
                    <p:nvPicPr>
                      <p:cNvPr id="9" name="对象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85543" y="4472663"/>
                        <a:ext cx="1165379" cy="76888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矩形 9"/>
          <p:cNvSpPr/>
          <p:nvPr/>
        </p:nvSpPr>
        <p:spPr>
          <a:xfrm>
            <a:off x="76200" y="4001462"/>
            <a:ext cx="26404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US" altLang="zh-CN" b="1" dirty="0"/>
              <a:t>The monatomic gas</a:t>
            </a:r>
          </a:p>
        </p:txBody>
      </p:sp>
      <p:graphicFrame>
        <p:nvGraphicFramePr>
          <p:cNvPr id="11" name="对象 10"/>
          <p:cNvGraphicFramePr>
            <a:graphicFrameLocks noChangeAspect="1"/>
          </p:cNvGraphicFramePr>
          <p:nvPr/>
        </p:nvGraphicFramePr>
        <p:xfrm>
          <a:off x="593725" y="4392741"/>
          <a:ext cx="1189703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3411200" imgH="9448800" progId="">
                  <p:embed/>
                </p:oleObj>
              </mc:Choice>
              <mc:Fallback>
                <p:oleObj name="Equation" r:id="rId8" imgW="13411200" imgH="9448800" progId="">
                  <p:embed/>
                  <p:pic>
                    <p:nvPicPr>
                      <p:cNvPr id="11" name="对象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3725" y="4392741"/>
                        <a:ext cx="1189703" cy="838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矩形 11"/>
          <p:cNvSpPr/>
          <p:nvPr/>
        </p:nvSpPr>
        <p:spPr>
          <a:xfrm>
            <a:off x="3254828" y="4023409"/>
            <a:ext cx="235833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US" altLang="zh-CN" b="1" dirty="0"/>
              <a:t>The diatomic gas</a:t>
            </a:r>
          </a:p>
        </p:txBody>
      </p:sp>
      <p:graphicFrame>
        <p:nvGraphicFramePr>
          <p:cNvPr id="13" name="对象 12"/>
          <p:cNvGraphicFramePr>
            <a:graphicFrameLocks noChangeAspect="1"/>
          </p:cNvGraphicFramePr>
          <p:nvPr/>
        </p:nvGraphicFramePr>
        <p:xfrm>
          <a:off x="3632249" y="4532359"/>
          <a:ext cx="1189037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3411200" imgH="9448800" progId="">
                  <p:embed/>
                </p:oleObj>
              </mc:Choice>
              <mc:Fallback>
                <p:oleObj name="Equation" r:id="rId10" imgW="13411200" imgH="9448800" progId="">
                  <p:embed/>
                  <p:pic>
                    <p:nvPicPr>
                      <p:cNvPr id="13" name="对象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32249" y="4532359"/>
                        <a:ext cx="1189037" cy="838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矩形 13"/>
          <p:cNvSpPr/>
          <p:nvPr/>
        </p:nvSpPr>
        <p:spPr>
          <a:xfrm>
            <a:off x="7725570" y="4533941"/>
            <a:ext cx="1327608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i="1" dirty="0"/>
              <a:t>N</a:t>
            </a:r>
            <a:r>
              <a:rPr lang="en-US" altLang="zh-CN" i="1" baseline="-25000" dirty="0"/>
              <a:t>2</a:t>
            </a:r>
            <a:r>
              <a:rPr lang="en-US" altLang="zh-CN" i="1" dirty="0"/>
              <a:t>O: f=13</a:t>
            </a:r>
          </a:p>
          <a:p>
            <a:r>
              <a:rPr lang="en-US" altLang="zh-CN" i="1" dirty="0"/>
              <a:t>H</a:t>
            </a:r>
            <a:r>
              <a:rPr lang="en-US" altLang="zh-CN" i="1" baseline="-25000" dirty="0"/>
              <a:t>2</a:t>
            </a:r>
            <a:r>
              <a:rPr lang="en-US" altLang="zh-CN" i="1" dirty="0"/>
              <a:t>O: f=12  </a:t>
            </a:r>
            <a:endParaRPr lang="zh-CN" altLang="en-US" i="1" dirty="0"/>
          </a:p>
        </p:txBody>
      </p:sp>
      <p:sp>
        <p:nvSpPr>
          <p:cNvPr id="15" name="矩形 14"/>
          <p:cNvSpPr/>
          <p:nvPr/>
        </p:nvSpPr>
        <p:spPr>
          <a:xfrm>
            <a:off x="6090239" y="4033728"/>
            <a:ext cx="312136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US" altLang="zh-CN" sz="1600" b="1" dirty="0"/>
              <a:t>More complicate molecular</a:t>
            </a:r>
          </a:p>
        </p:txBody>
      </p:sp>
      <p:pic>
        <p:nvPicPr>
          <p:cNvPr id="162904" name="Picture 88" descr="See the source image"/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08873" y="5463691"/>
            <a:ext cx="938213" cy="7524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2906" name="Picture 90" descr="See the source image"/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40133" y="5463691"/>
            <a:ext cx="1113104" cy="6174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文本框 6"/>
          <p:cNvSpPr txBox="1"/>
          <p:nvPr/>
        </p:nvSpPr>
        <p:spPr>
          <a:xfrm>
            <a:off x="3978747" y="5896514"/>
            <a:ext cx="1685077" cy="369332"/>
          </a:xfrm>
          <a:prstGeom prst="rect">
            <a:avLst/>
          </a:prstGeom>
          <a:solidFill>
            <a:schemeClr val="accent6"/>
          </a:solidFill>
        </p:spPr>
        <p:txBody>
          <a:bodyPr wrap="none" rtlCol="0">
            <a:spAutoFit/>
          </a:bodyPr>
          <a:lstStyle/>
          <a:p>
            <a:r>
              <a:rPr lang="en-US" altLang="zh-CN" dirty="0"/>
              <a:t>Open question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964223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24C7779F-68E2-4270-8F49-51892E8541BB}"/>
              </a:ext>
            </a:extLst>
          </p:cNvPr>
          <p:cNvSpPr txBox="1"/>
          <p:nvPr/>
        </p:nvSpPr>
        <p:spPr>
          <a:xfrm>
            <a:off x="2797315" y="306312"/>
            <a:ext cx="354937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>
                <a:solidFill>
                  <a:srgbClr val="FF0000"/>
                </a:solidFill>
              </a:rPr>
              <a:t>Specific heat</a:t>
            </a:r>
            <a:r>
              <a:rPr lang="zh-CN" altLang="en-US" sz="3200" dirty="0">
                <a:solidFill>
                  <a:srgbClr val="FF0000"/>
                </a:solidFill>
              </a:rPr>
              <a:t> </a:t>
            </a:r>
            <a:r>
              <a:rPr lang="en-US" altLang="zh-CN" sz="3200" dirty="0">
                <a:solidFill>
                  <a:srgbClr val="FF0000"/>
                </a:solidFill>
              </a:rPr>
              <a:t>of H</a:t>
            </a:r>
            <a:r>
              <a:rPr lang="en-US" altLang="zh-CN" sz="3200" baseline="-25000" dirty="0">
                <a:solidFill>
                  <a:srgbClr val="FF0000"/>
                </a:solidFill>
              </a:rPr>
              <a:t>2</a:t>
            </a:r>
            <a:endParaRPr lang="zh-CN" altLang="en-US" sz="3200" dirty="0">
              <a:solidFill>
                <a:srgbClr val="FF0000"/>
              </a:solidFill>
            </a:endParaRPr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AD76E14B-12BE-4A4C-8507-8EF951BFD0B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75925" y="1543601"/>
          <a:ext cx="6654800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483080" imgH="571320" progId="Equation.DSMT4">
                  <p:embed/>
                </p:oleObj>
              </mc:Choice>
              <mc:Fallback>
                <p:oleObj name="Equation" r:id="rId2" imgW="4483080" imgH="571320" progId="Equation.DSMT4">
                  <p:embed/>
                  <p:pic>
                    <p:nvPicPr>
                      <p:cNvPr id="3" name="对象 2">
                        <a:extLst>
                          <a:ext uri="{FF2B5EF4-FFF2-40B4-BE49-F238E27FC236}">
                            <a16:creationId xmlns:a16="http://schemas.microsoft.com/office/drawing/2014/main" id="{AD76E14B-12BE-4A4C-8507-8EF951BFD0B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5925" y="1543601"/>
                        <a:ext cx="6654800" cy="850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文本框 4">
            <a:extLst>
              <a:ext uri="{FF2B5EF4-FFF2-40B4-BE49-F238E27FC236}">
                <a16:creationId xmlns:a16="http://schemas.microsoft.com/office/drawing/2014/main" id="{BC9178FA-B22A-41B6-B232-4FA8A62FA39E}"/>
              </a:ext>
            </a:extLst>
          </p:cNvPr>
          <p:cNvSpPr txBox="1"/>
          <p:nvPr/>
        </p:nvSpPr>
        <p:spPr>
          <a:xfrm>
            <a:off x="975925" y="2394501"/>
            <a:ext cx="115262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dirty="0"/>
              <a:t>Transitional </a:t>
            </a:r>
          </a:p>
          <a:p>
            <a:pPr algn="ctr"/>
            <a:r>
              <a:rPr lang="en-US" altLang="zh-CN" sz="1400" dirty="0"/>
              <a:t>part</a:t>
            </a:r>
            <a:endParaRPr lang="zh-CN" altLang="en-US" sz="1400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DE2F655-1024-4F23-95C2-5A01DE0DFACA}"/>
              </a:ext>
            </a:extLst>
          </p:cNvPr>
          <p:cNvSpPr txBox="1"/>
          <p:nvPr/>
        </p:nvSpPr>
        <p:spPr>
          <a:xfrm>
            <a:off x="2164491" y="2394501"/>
            <a:ext cx="108074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dirty="0"/>
              <a:t>Rotational </a:t>
            </a:r>
          </a:p>
          <a:p>
            <a:pPr algn="ctr"/>
            <a:r>
              <a:rPr lang="en-US" altLang="zh-CN" sz="1400" dirty="0"/>
              <a:t>part</a:t>
            </a:r>
            <a:endParaRPr lang="zh-CN" altLang="en-US" sz="1400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3A741FF-D189-4B39-BDF4-D9A4688EFFFD}"/>
              </a:ext>
            </a:extLst>
          </p:cNvPr>
          <p:cNvSpPr txBox="1"/>
          <p:nvPr/>
        </p:nvSpPr>
        <p:spPr>
          <a:xfrm>
            <a:off x="4781080" y="2465004"/>
            <a:ext cx="93801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dirty="0"/>
              <a:t>Vibration </a:t>
            </a:r>
          </a:p>
          <a:p>
            <a:pPr algn="ctr"/>
            <a:r>
              <a:rPr lang="en-US" altLang="zh-CN" sz="1400" dirty="0"/>
              <a:t>part</a:t>
            </a:r>
            <a:endParaRPr lang="zh-CN" altLang="en-US" sz="1400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775E2AED-AF43-4566-8D1E-0F282B42DF57}"/>
              </a:ext>
            </a:extLst>
          </p:cNvPr>
          <p:cNvSpPr txBox="1"/>
          <p:nvPr/>
        </p:nvSpPr>
        <p:spPr>
          <a:xfrm>
            <a:off x="313471" y="4147306"/>
            <a:ext cx="370203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600" dirty="0"/>
              <a:t>rotational temperature of</a:t>
            </a:r>
            <a:r>
              <a:rPr lang="zh-CN" altLang="en-US" sz="1600" dirty="0"/>
              <a:t> </a:t>
            </a:r>
            <a:r>
              <a:rPr lang="en-US" altLang="zh-CN" sz="1600" dirty="0"/>
              <a:t>a</a:t>
            </a:r>
            <a:r>
              <a:rPr lang="zh-CN" altLang="en-US" sz="1600" dirty="0"/>
              <a:t> </a:t>
            </a:r>
            <a:r>
              <a:rPr lang="en-US" altLang="zh-CN" sz="1600" dirty="0"/>
              <a:t>hydrogen</a:t>
            </a:r>
            <a:r>
              <a:rPr lang="zh-CN" altLang="en-US" sz="1600" dirty="0"/>
              <a:t> </a:t>
            </a:r>
            <a:r>
              <a:rPr lang="en-US" altLang="zh-CN" sz="1600" dirty="0"/>
              <a:t>molecular</a:t>
            </a:r>
            <a:r>
              <a:rPr lang="zh-CN" altLang="en-US" sz="1600" dirty="0"/>
              <a:t> </a:t>
            </a:r>
            <a:r>
              <a:rPr lang="en-US" altLang="zh-CN" sz="1600" dirty="0"/>
              <a:t>is</a:t>
            </a:r>
            <a:r>
              <a:rPr lang="zh-CN" altLang="en-US" sz="1600" dirty="0"/>
              <a:t> </a:t>
            </a:r>
            <a:r>
              <a:rPr lang="en-US" altLang="zh-CN" sz="1600" dirty="0"/>
              <a:t>85.3</a:t>
            </a:r>
            <a:r>
              <a:rPr lang="zh-CN" altLang="en-US" sz="1600" dirty="0"/>
              <a:t> </a:t>
            </a:r>
            <a:r>
              <a:rPr lang="en-US" altLang="zh-CN" sz="1600" dirty="0"/>
              <a:t>K,</a:t>
            </a:r>
            <a:r>
              <a:rPr lang="zh-CN" altLang="en-US" sz="1600" dirty="0"/>
              <a:t> </a:t>
            </a:r>
            <a:endParaRPr lang="en-US" altLang="zh-CN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600" dirty="0"/>
              <a:t>vibrational</a:t>
            </a:r>
            <a:r>
              <a:rPr lang="zh-CN" altLang="en-US" sz="1600" dirty="0"/>
              <a:t> </a:t>
            </a:r>
            <a:r>
              <a:rPr lang="en-US" altLang="zh-CN" sz="1600" dirty="0"/>
              <a:t>temperature</a:t>
            </a:r>
            <a:r>
              <a:rPr lang="zh-CN" altLang="en-US" sz="1600" dirty="0"/>
              <a:t> </a:t>
            </a:r>
            <a:r>
              <a:rPr lang="en-US" altLang="zh-CN" sz="1600" dirty="0"/>
              <a:t>is</a:t>
            </a:r>
            <a:r>
              <a:rPr lang="zh-CN" altLang="en-US" sz="1600" dirty="0"/>
              <a:t> </a:t>
            </a:r>
            <a:r>
              <a:rPr lang="en-US" altLang="zh-CN" sz="1600" dirty="0"/>
              <a:t>6332K</a:t>
            </a:r>
            <a:endParaRPr lang="zh-CN" altLang="en-US" sz="1600" dirty="0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62BEE7A3-D6D0-49F9-989B-2A0B763173B0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047" t="34909" r="20000" b="25099"/>
          <a:stretch/>
        </p:blipFill>
        <p:spPr>
          <a:xfrm>
            <a:off x="4078388" y="3326450"/>
            <a:ext cx="4665669" cy="2153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56949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 idx="4294967295"/>
          </p:nvPr>
        </p:nvSpPr>
        <p:spPr>
          <a:xfrm>
            <a:off x="941832" y="0"/>
            <a:ext cx="6457950" cy="777240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solidFill>
                  <a:srgbClr val="FF0000"/>
                </a:solidFill>
              </a:rPr>
              <a:t>Einstein model</a:t>
            </a:r>
            <a:endParaRPr lang="en-US" sz="3200" baseline="-25000" dirty="0">
              <a:solidFill>
                <a:srgbClr val="FF0000"/>
              </a:solidFill>
            </a:endParaRPr>
          </a:p>
        </p:txBody>
      </p:sp>
      <p:sp>
        <p:nvSpPr>
          <p:cNvPr id="10" name="矩形 9"/>
          <p:cNvSpPr/>
          <p:nvPr/>
        </p:nvSpPr>
        <p:spPr>
          <a:xfrm>
            <a:off x="525127" y="3947659"/>
            <a:ext cx="8378058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US" altLang="zh-CN" dirty="0"/>
              <a:t>A crystal containing </a:t>
            </a:r>
            <a:r>
              <a:rPr lang="en-US" altLang="zh-CN" i="1" dirty="0"/>
              <a:t>n </a:t>
            </a:r>
            <a:r>
              <a:rPr lang="en-US" altLang="zh-CN" dirty="0"/>
              <a:t>atoms,  </a:t>
            </a:r>
            <a:r>
              <a:rPr lang="en-US" altLang="zh-CN" b="1" dirty="0">
                <a:solidFill>
                  <a:srgbClr val="0000FF"/>
                </a:solidFill>
              </a:rPr>
              <a:t>each atom behaves as a harmonic oscillator vibrating independently about its lattice point</a:t>
            </a:r>
            <a:r>
              <a:rPr lang="en-US" altLang="zh-CN" dirty="0">
                <a:solidFill>
                  <a:srgbClr val="0000FF"/>
                </a:solidFill>
              </a:rPr>
              <a:t>. </a:t>
            </a:r>
          </a:p>
          <a:p>
            <a:pPr marL="285750" indent="-285750">
              <a:buFont typeface="Arial" pitchFamily="34" charset="0"/>
              <a:buChar char="•"/>
            </a:pPr>
            <a:endParaRPr lang="en-US" altLang="zh-CN" b="1" dirty="0">
              <a:solidFill>
                <a:srgbClr val="7030A0"/>
              </a:solidFill>
            </a:endParaRPr>
          </a:p>
          <a:p>
            <a:pPr marL="285750" indent="-285750">
              <a:buFont typeface="Arial" pitchFamily="34" charset="0"/>
              <a:buChar char="•"/>
            </a:pPr>
            <a:r>
              <a:rPr lang="en-US" altLang="zh-CN" dirty="0"/>
              <a:t>As the behavior of each oscillator is not influenced by the behavior of its neighbors, each oscillator vibrates with a single fixed frequency </a:t>
            </a:r>
            <a:r>
              <a:rPr lang="en-US" altLang="zh-CN" i="1" dirty="0"/>
              <a:t>v</a:t>
            </a:r>
          </a:p>
          <a:p>
            <a:pPr marL="285750" indent="-285750">
              <a:buFont typeface="Arial" pitchFamily="34" charset="0"/>
              <a:buChar char="•"/>
            </a:pPr>
            <a:endParaRPr lang="en-US" altLang="zh-CN" b="1" i="1" dirty="0">
              <a:solidFill>
                <a:srgbClr val="7030A0"/>
              </a:solidFill>
            </a:endParaRPr>
          </a:p>
          <a:p>
            <a:pPr marL="285750" indent="-285750">
              <a:buFont typeface="Arial" pitchFamily="34" charset="0"/>
              <a:buChar char="•"/>
            </a:pPr>
            <a:r>
              <a:rPr lang="en-US" altLang="zh-CN" dirty="0"/>
              <a:t>A system of such oscillators is called an Einstein crystal.</a:t>
            </a:r>
            <a:endParaRPr lang="zh-CN" altLang="en-US" dirty="0"/>
          </a:p>
        </p:txBody>
      </p:sp>
      <p:sp>
        <p:nvSpPr>
          <p:cNvPr id="11" name="矩形 10"/>
          <p:cNvSpPr/>
          <p:nvPr/>
        </p:nvSpPr>
        <p:spPr>
          <a:xfrm>
            <a:off x="641234" y="3366544"/>
            <a:ext cx="246734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>
                <a:solidFill>
                  <a:srgbClr val="0000FF"/>
                </a:solidFill>
              </a:rPr>
              <a:t>Einstein model, 1907</a:t>
            </a:r>
            <a:endParaRPr lang="zh-CN" altLang="en-US" b="1" dirty="0">
              <a:solidFill>
                <a:srgbClr val="0000FF"/>
              </a:solidFill>
            </a:endParaRPr>
          </a:p>
        </p:txBody>
      </p:sp>
      <p:pic>
        <p:nvPicPr>
          <p:cNvPr id="155650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9061" y="931856"/>
            <a:ext cx="2768579" cy="22452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4" name="图片 3">
            <a:extLst>
              <a:ext uri="{FF2B5EF4-FFF2-40B4-BE49-F238E27FC236}">
                <a16:creationId xmlns:a16="http://schemas.microsoft.com/office/drawing/2014/main" id="{B251E0D4-56CA-E54A-B1E0-A2B9332B2E31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31" t="3683" r="6542" b="22292"/>
          <a:stretch/>
        </p:blipFill>
        <p:spPr bwMode="auto">
          <a:xfrm>
            <a:off x="3966860" y="810463"/>
            <a:ext cx="1656142" cy="20913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3" name="直接箭头连接符 2"/>
          <p:cNvCxnSpPr/>
          <p:nvPr/>
        </p:nvCxnSpPr>
        <p:spPr>
          <a:xfrm>
            <a:off x="6391469" y="2835301"/>
            <a:ext cx="2146041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箭头连接符 5"/>
          <p:cNvCxnSpPr/>
          <p:nvPr/>
        </p:nvCxnSpPr>
        <p:spPr>
          <a:xfrm flipV="1">
            <a:off x="6391469" y="931856"/>
            <a:ext cx="0" cy="190344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 rot="16200000">
            <a:off x="5543245" y="1714301"/>
            <a:ext cx="115288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/>
              <a:t>Frequency</a:t>
            </a:r>
            <a:endParaRPr lang="zh-CN" altLang="en-US" sz="1600" dirty="0"/>
          </a:p>
        </p:txBody>
      </p:sp>
      <p:sp>
        <p:nvSpPr>
          <p:cNvPr id="16" name="TextBox 15"/>
          <p:cNvSpPr txBox="1"/>
          <p:nvPr/>
        </p:nvSpPr>
        <p:spPr>
          <a:xfrm>
            <a:off x="6774160" y="2830624"/>
            <a:ext cx="119404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/>
              <a:t>Wave Vector</a:t>
            </a:r>
            <a:endParaRPr lang="zh-CN" altLang="en-US" sz="1400" dirty="0"/>
          </a:p>
        </p:txBody>
      </p:sp>
      <p:sp>
        <p:nvSpPr>
          <p:cNvPr id="8" name="TextBox 7"/>
          <p:cNvSpPr txBox="1"/>
          <p:nvPr/>
        </p:nvSpPr>
        <p:spPr>
          <a:xfrm>
            <a:off x="6152435" y="2747931"/>
            <a:ext cx="28725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altLang="zh-CN" sz="1400" i="1" dirty="0">
                <a:latin typeface="Times New Roman" pitchFamily="18" charset="0"/>
                <a:cs typeface="Times New Roman" pitchFamily="18" charset="0"/>
              </a:rPr>
              <a:t>Γ</a:t>
            </a:r>
            <a:endParaRPr lang="zh-CN" altLang="en-US" sz="1400" i="1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17" name="直接连接符 16"/>
          <p:cNvCxnSpPr/>
          <p:nvPr/>
        </p:nvCxnSpPr>
        <p:spPr>
          <a:xfrm>
            <a:off x="6439693" y="1595535"/>
            <a:ext cx="2023172" cy="0"/>
          </a:xfrm>
          <a:prstGeom prst="line">
            <a:avLst/>
          </a:prstGeom>
          <a:ln w="47625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034062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3320866" y="865802"/>
            <a:ext cx="5261742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/>
              <a:t>As each oscillator has three degrees of freedom, i.e., can vibrate in the </a:t>
            </a:r>
            <a:r>
              <a:rPr lang="en-US" altLang="zh-CN" i="1" dirty="0"/>
              <a:t>x, y, </a:t>
            </a:r>
            <a:r>
              <a:rPr lang="en-US" altLang="zh-CN" dirty="0"/>
              <a:t>and </a:t>
            </a:r>
            <a:r>
              <a:rPr lang="en-US" altLang="zh-CN" i="1" dirty="0"/>
              <a:t>z </a:t>
            </a:r>
            <a:r>
              <a:rPr lang="en-US" altLang="zh-CN" dirty="0"/>
              <a:t>directions, </a:t>
            </a:r>
          </a:p>
          <a:p>
            <a:endParaRPr lang="en-US" altLang="zh-CN" dirty="0"/>
          </a:p>
          <a:p>
            <a:r>
              <a:rPr lang="en-US" altLang="zh-CN" dirty="0"/>
              <a:t>the energy, </a:t>
            </a:r>
            <a:r>
              <a:rPr lang="en-US" altLang="zh-CN" i="1" dirty="0"/>
              <a:t>U’, </a:t>
            </a:r>
            <a:r>
              <a:rPr lang="en-US" altLang="zh-CN" dirty="0"/>
              <a:t>of the Einstein crystal (which can be considered to be a system of </a:t>
            </a:r>
            <a:r>
              <a:rPr lang="en-US" altLang="zh-CN" b="1" dirty="0">
                <a:solidFill>
                  <a:srgbClr val="FF0000"/>
                </a:solidFill>
              </a:rPr>
              <a:t>3</a:t>
            </a:r>
            <a:r>
              <a:rPr lang="en-US" altLang="zh-CN" b="1" i="1" dirty="0">
                <a:solidFill>
                  <a:srgbClr val="FF0000"/>
                </a:solidFill>
              </a:rPr>
              <a:t>n </a:t>
            </a:r>
            <a:r>
              <a:rPr lang="en-US" altLang="zh-CN" b="1" dirty="0">
                <a:solidFill>
                  <a:srgbClr val="FF0000"/>
                </a:solidFill>
              </a:rPr>
              <a:t>linear harmonic oscillators</a:t>
            </a:r>
            <a:r>
              <a:rPr lang="en-US" altLang="zh-CN" dirty="0"/>
              <a:t>) is given a</a:t>
            </a:r>
            <a:endParaRPr lang="zh-CN" altLang="en-US" dirty="0"/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1109783" y="0"/>
            <a:ext cx="6457950" cy="7772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200" dirty="0">
                <a:solidFill>
                  <a:srgbClr val="FF0000"/>
                </a:solidFill>
              </a:rPr>
              <a:t>Einstein model</a:t>
            </a:r>
            <a:endParaRPr lang="en-US" sz="3200" baseline="-25000" dirty="0">
              <a:solidFill>
                <a:srgbClr val="FF0000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6944" y="865802"/>
            <a:ext cx="26244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US" altLang="zh-CN" sz="2000" b="1" dirty="0"/>
              <a:t>Quantized energy</a:t>
            </a:r>
            <a:endParaRPr lang="zh-CN" altLang="en-US" sz="2000" b="1" dirty="0"/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78938542"/>
              </p:ext>
            </p:extLst>
          </p:nvPr>
        </p:nvGraphicFramePr>
        <p:xfrm>
          <a:off x="546748" y="1474107"/>
          <a:ext cx="2086768" cy="10433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015920" imgH="507960" progId="">
                  <p:embed/>
                </p:oleObj>
              </mc:Choice>
              <mc:Fallback>
                <p:oleObj name="Equation" r:id="rId2" imgW="1015920" imgH="507960" progId="">
                  <p:embed/>
                  <p:pic>
                    <p:nvPicPr>
                      <p:cNvPr id="7" name="对象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6748" y="1474107"/>
                        <a:ext cx="2086768" cy="104338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/>
        </p:nvGraphicFramePr>
        <p:xfrm>
          <a:off x="505796" y="3247112"/>
          <a:ext cx="1570038" cy="1247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218960" imgH="965160" progId="">
                  <p:embed/>
                </p:oleObj>
              </mc:Choice>
              <mc:Fallback>
                <p:oleObj name="Equation" r:id="rId4" imgW="1218960" imgH="965160" progId="">
                  <p:embed/>
                  <p:pic>
                    <p:nvPicPr>
                      <p:cNvPr id="9" name="对象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5796" y="3247112"/>
                        <a:ext cx="1570038" cy="12477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106944" y="2847002"/>
            <a:ext cx="259398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US" altLang="zh-CN" sz="2000" b="1" dirty="0"/>
              <a:t>Partition function</a:t>
            </a:r>
            <a:endParaRPr lang="zh-CN" altLang="en-US" sz="2000" b="1" dirty="0"/>
          </a:p>
        </p:txBody>
      </p:sp>
      <p:graphicFrame>
        <p:nvGraphicFramePr>
          <p:cNvPr id="1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56030839"/>
              </p:ext>
            </p:extLst>
          </p:nvPr>
        </p:nvGraphicFramePr>
        <p:xfrm>
          <a:off x="3467100" y="2735263"/>
          <a:ext cx="3998913" cy="3794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781000" imgH="2641320" progId="">
                  <p:embed/>
                </p:oleObj>
              </mc:Choice>
              <mc:Fallback>
                <p:oleObj name="Equation" r:id="rId6" imgW="2781000" imgH="2641320" progId="">
                  <p:embed/>
                  <p:pic>
                    <p:nvPicPr>
                      <p:cNvPr id="11" name="对象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67100" y="2735263"/>
                        <a:ext cx="3998913" cy="3794125"/>
                      </a:xfrm>
                      <a:prstGeom prst="rect">
                        <a:avLst/>
                      </a:prstGeom>
                      <a:solidFill>
                        <a:srgbClr val="E2F0D9"/>
                      </a:solidFill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046368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32067342"/>
              </p:ext>
            </p:extLst>
          </p:nvPr>
        </p:nvGraphicFramePr>
        <p:xfrm>
          <a:off x="347663" y="857250"/>
          <a:ext cx="2597150" cy="1027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311200" imgH="914400" progId="">
                  <p:embed/>
                </p:oleObj>
              </mc:Choice>
              <mc:Fallback>
                <p:oleObj name="Equation" r:id="rId2" imgW="2311200" imgH="914400" progId="">
                  <p:embed/>
                  <p:pic>
                    <p:nvPicPr>
                      <p:cNvPr id="10" name="对象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7663" y="857250"/>
                        <a:ext cx="2597150" cy="10271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/>
        </p:nvGraphicFramePr>
        <p:xfrm>
          <a:off x="311150" y="1885950"/>
          <a:ext cx="3270250" cy="763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933640" imgH="685800" progId="">
                  <p:embed/>
                </p:oleObj>
              </mc:Choice>
              <mc:Fallback>
                <p:oleObj name="Equation" r:id="rId4" imgW="2933640" imgH="685800" progId="">
                  <p:embed/>
                  <p:pic>
                    <p:nvPicPr>
                      <p:cNvPr id="11" name="对象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1150" y="1885950"/>
                        <a:ext cx="3270250" cy="7635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/>
          <p:cNvGraphicFramePr>
            <a:graphicFrameLocks noChangeAspect="1"/>
          </p:cNvGraphicFramePr>
          <p:nvPr/>
        </p:nvGraphicFramePr>
        <p:xfrm>
          <a:off x="4680371" y="1193087"/>
          <a:ext cx="3196557" cy="12608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286000" imgH="901440" progId="">
                  <p:embed/>
                </p:oleObj>
              </mc:Choice>
              <mc:Fallback>
                <p:oleObj name="Equation" r:id="rId6" imgW="2286000" imgH="901440" progId="">
                  <p:embed/>
                  <p:pic>
                    <p:nvPicPr>
                      <p:cNvPr id="13" name="对象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80371" y="1193087"/>
                        <a:ext cx="3196557" cy="126086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>
            <a:graphicFrameLocks noChangeAspect="1"/>
          </p:cNvGraphicFramePr>
          <p:nvPr/>
        </p:nvGraphicFramePr>
        <p:xfrm>
          <a:off x="162347" y="2775274"/>
          <a:ext cx="3836987" cy="3152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3441600" imgH="2831760" progId="">
                  <p:embed/>
                </p:oleObj>
              </mc:Choice>
              <mc:Fallback>
                <p:oleObj name="Equation" r:id="rId8" imgW="3441600" imgH="2831760" progId="">
                  <p:embed/>
                  <p:pic>
                    <p:nvPicPr>
                      <p:cNvPr id="14" name="对象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2347" y="2775274"/>
                        <a:ext cx="3836987" cy="3152775"/>
                      </a:xfrm>
                      <a:prstGeom prst="rect">
                        <a:avLst/>
                      </a:prstGeom>
                      <a:solidFill>
                        <a:srgbClr val="E2F0D9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Title 1"/>
          <p:cNvSpPr txBox="1">
            <a:spLocks/>
          </p:cNvSpPr>
          <p:nvPr/>
        </p:nvSpPr>
        <p:spPr>
          <a:xfrm>
            <a:off x="1109783" y="0"/>
            <a:ext cx="6457950" cy="7772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200" dirty="0">
                <a:solidFill>
                  <a:srgbClr val="FF0000"/>
                </a:solidFill>
              </a:rPr>
              <a:t>Einstein model</a:t>
            </a:r>
            <a:endParaRPr lang="en-US" sz="3200" baseline="-25000" dirty="0">
              <a:solidFill>
                <a:srgbClr val="FF0000"/>
              </a:solidFill>
            </a:endParaRPr>
          </a:p>
        </p:txBody>
      </p:sp>
      <p:graphicFrame>
        <p:nvGraphicFramePr>
          <p:cNvPr id="17" name="对象 16"/>
          <p:cNvGraphicFramePr>
            <a:graphicFrameLocks noChangeAspect="1"/>
          </p:cNvGraphicFramePr>
          <p:nvPr/>
        </p:nvGraphicFramePr>
        <p:xfrm>
          <a:off x="4765698" y="2937911"/>
          <a:ext cx="3372868" cy="7476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577960" imgH="571320" progId="">
                  <p:embed/>
                </p:oleObj>
              </mc:Choice>
              <mc:Fallback>
                <p:oleObj name="Equation" r:id="rId10" imgW="2577960" imgH="571320" progId="">
                  <p:embed/>
                  <p:pic>
                    <p:nvPicPr>
                      <p:cNvPr id="17" name="对象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65698" y="2937911"/>
                        <a:ext cx="3372868" cy="74768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矩形 17"/>
          <p:cNvSpPr/>
          <p:nvPr/>
        </p:nvSpPr>
        <p:spPr>
          <a:xfrm>
            <a:off x="4264115" y="3859763"/>
            <a:ext cx="4646622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US" altLang="zh-CN" dirty="0"/>
              <a:t>Defining </a:t>
            </a:r>
            <a:r>
              <a:rPr lang="en-US" altLang="zh-CN" i="1" dirty="0" err="1"/>
              <a:t>hv</a:t>
            </a:r>
            <a:r>
              <a:rPr lang="en-US" altLang="zh-CN" i="1" dirty="0"/>
              <a:t>/k</a:t>
            </a:r>
            <a:r>
              <a:rPr lang="en-US" altLang="zh-CN" dirty="0"/>
              <a:t>=</a:t>
            </a:r>
            <a:r>
              <a:rPr lang="el-GR" altLang="zh-CN" dirty="0">
                <a:latin typeface="Times New Roman" panose="02020603050405020304"/>
                <a:cs typeface="Times New Roman" panose="02020603050405020304"/>
              </a:rPr>
              <a:t>θ</a:t>
            </a:r>
            <a:r>
              <a:rPr lang="en-US" altLang="zh-CN" baseline="-25000" dirty="0">
                <a:latin typeface="Times New Roman" panose="02020603050405020304"/>
                <a:cs typeface="Times New Roman" panose="02020603050405020304"/>
              </a:rPr>
              <a:t>E</a:t>
            </a:r>
            <a:r>
              <a:rPr lang="en-US" altLang="zh-CN" dirty="0"/>
              <a:t>, where </a:t>
            </a:r>
            <a:r>
              <a:rPr lang="el-GR" altLang="zh-CN" dirty="0">
                <a:latin typeface="Times New Roman" panose="02020603050405020304"/>
                <a:cs typeface="Times New Roman" panose="02020603050405020304"/>
              </a:rPr>
              <a:t>θ</a:t>
            </a:r>
            <a:r>
              <a:rPr lang="en-US" altLang="zh-CN" baseline="-25000" dirty="0">
                <a:latin typeface="Times New Roman" panose="02020603050405020304"/>
                <a:cs typeface="Times New Roman" panose="02020603050405020304"/>
              </a:rPr>
              <a:t>E</a:t>
            </a:r>
            <a:r>
              <a:rPr lang="en-US" altLang="zh-CN" i="1" dirty="0"/>
              <a:t> </a:t>
            </a:r>
            <a:r>
              <a:rPr lang="en-US" altLang="zh-CN" dirty="0"/>
              <a:t>is the Einstein characteristic temperature, 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altLang="zh-CN" i="1" dirty="0"/>
              <a:t>n </a:t>
            </a:r>
            <a:r>
              <a:rPr lang="en-US" altLang="zh-CN" dirty="0"/>
              <a:t>equal to Avogadro’s number N</a:t>
            </a:r>
            <a:r>
              <a:rPr lang="en-US" altLang="zh-CN" baseline="-25000" dirty="0"/>
              <a:t>a</a:t>
            </a:r>
            <a:r>
              <a:rPr lang="en-US" altLang="zh-CN" dirty="0"/>
              <a:t>, </a:t>
            </a:r>
            <a:r>
              <a:rPr lang="en-US" altLang="zh-CN" dirty="0" err="1"/>
              <a:t>nk</a:t>
            </a:r>
            <a:r>
              <a:rPr lang="en-US" altLang="zh-CN" baseline="-25000" dirty="0" err="1"/>
              <a:t>B</a:t>
            </a:r>
            <a:r>
              <a:rPr lang="en-US" altLang="zh-CN" dirty="0"/>
              <a:t> =R</a:t>
            </a:r>
            <a:endParaRPr lang="zh-CN" altLang="en-US" dirty="0"/>
          </a:p>
        </p:txBody>
      </p:sp>
      <p:graphicFrame>
        <p:nvGraphicFramePr>
          <p:cNvPr id="19" name="对象 18"/>
          <p:cNvGraphicFramePr>
            <a:graphicFrameLocks noChangeAspect="1"/>
          </p:cNvGraphicFramePr>
          <p:nvPr/>
        </p:nvGraphicFramePr>
        <p:xfrm>
          <a:off x="4547799" y="4953000"/>
          <a:ext cx="2916237" cy="1017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38404800" imgH="13411200" progId="">
                  <p:embed/>
                </p:oleObj>
              </mc:Choice>
              <mc:Fallback>
                <p:oleObj name="Equation" r:id="rId12" imgW="38404800" imgH="13411200" progId="">
                  <p:embed/>
                  <p:pic>
                    <p:nvPicPr>
                      <p:cNvPr id="19" name="对象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47799" y="4953000"/>
                        <a:ext cx="2916237" cy="10175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39132601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473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7200" y="1905000"/>
            <a:ext cx="4038600" cy="3505200"/>
          </a:xfrm>
          <a:prstGeom prst="rect">
            <a:avLst/>
          </a:prstGeom>
        </p:spPr>
      </p:pic>
      <p:sp>
        <p:nvSpPr>
          <p:cNvPr id="10" name="矩形 9"/>
          <p:cNvSpPr/>
          <p:nvPr/>
        </p:nvSpPr>
        <p:spPr>
          <a:xfrm>
            <a:off x="1043843" y="117973"/>
            <a:ext cx="400180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600" b="1" dirty="0">
                <a:solidFill>
                  <a:srgbClr val="FF0000"/>
                </a:solidFill>
              </a:rPr>
              <a:t>Einstein model of </a:t>
            </a:r>
            <a:r>
              <a:rPr lang="en-US" altLang="zh-CN" sz="3600" b="1" dirty="0" err="1">
                <a:solidFill>
                  <a:srgbClr val="FF0000"/>
                </a:solidFill>
              </a:rPr>
              <a:t>c</a:t>
            </a:r>
            <a:r>
              <a:rPr lang="en-US" altLang="zh-CN" sz="3600" b="1" baseline="-25000" dirty="0" err="1">
                <a:solidFill>
                  <a:srgbClr val="FF0000"/>
                </a:solidFill>
              </a:rPr>
              <a:t>V</a:t>
            </a:r>
            <a:endParaRPr lang="zh-CN" altLang="en-US" sz="3600" dirty="0">
              <a:solidFill>
                <a:srgbClr val="FF0000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216718" y="3429000"/>
            <a:ext cx="15452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b="1" dirty="0">
                <a:solidFill>
                  <a:srgbClr val="0000FF"/>
                </a:solidFill>
              </a:rPr>
              <a:t>Experimental data</a:t>
            </a:r>
            <a:endParaRPr lang="zh-CN" altLang="en-US" sz="1400" b="1" dirty="0">
              <a:solidFill>
                <a:srgbClr val="0000FF"/>
              </a:solidFill>
            </a:endParaRPr>
          </a:p>
        </p:txBody>
      </p:sp>
      <p:sp>
        <p:nvSpPr>
          <p:cNvPr id="12" name="圆角矩形 11"/>
          <p:cNvSpPr/>
          <p:nvPr/>
        </p:nvSpPr>
        <p:spPr>
          <a:xfrm>
            <a:off x="2203289" y="3429000"/>
            <a:ext cx="1682911" cy="685800"/>
          </a:xfrm>
          <a:prstGeom prst="roundRect">
            <a:avLst/>
          </a:prstGeom>
          <a:solidFill>
            <a:schemeClr val="accent3">
              <a:lumMod val="60000"/>
              <a:lumOff val="40000"/>
              <a:alpha val="6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4648200" y="1905000"/>
            <a:ext cx="3962400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altLang="zh-CN" dirty="0">
                <a:solidFill>
                  <a:srgbClr val="0000FF"/>
                </a:solidFill>
              </a:rPr>
              <a:t>as </a:t>
            </a:r>
            <a:r>
              <a:rPr lang="en-US" altLang="zh-CN" i="1" dirty="0">
                <a:solidFill>
                  <a:srgbClr val="0000FF"/>
                </a:solidFill>
              </a:rPr>
              <a:t>T</a:t>
            </a:r>
            <a:r>
              <a:rPr lang="en-US" altLang="zh-CN" dirty="0">
                <a:solidFill>
                  <a:srgbClr val="0000FF"/>
                </a:solidFill>
              </a:rPr>
              <a:t>/</a:t>
            </a:r>
            <a:r>
              <a:rPr lang="el-GR" altLang="zh-CN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θ</a:t>
            </a:r>
            <a:r>
              <a:rPr lang="en-US" altLang="zh-CN" i="1" dirty="0">
                <a:solidFill>
                  <a:srgbClr val="0000FF"/>
                </a:solidFill>
              </a:rPr>
              <a:t> </a:t>
            </a:r>
            <a:r>
              <a:rPr lang="en-US" altLang="zh-CN" dirty="0">
                <a:solidFill>
                  <a:srgbClr val="0000FF"/>
                </a:solidFill>
              </a:rPr>
              <a:t>increases, </a:t>
            </a:r>
            <a:r>
              <a:rPr lang="en-US" altLang="zh-CN" i="1" dirty="0" err="1">
                <a:solidFill>
                  <a:srgbClr val="0000FF"/>
                </a:solidFill>
              </a:rPr>
              <a:t>Cv</a:t>
            </a:r>
            <a:r>
              <a:rPr lang="en-US" altLang="zh-CN" dirty="0">
                <a:solidFill>
                  <a:srgbClr val="0000FF"/>
                </a:solidFill>
              </a:rPr>
              <a:t>→ 3</a:t>
            </a:r>
            <a:r>
              <a:rPr lang="en-US" altLang="zh-CN" i="1" dirty="0">
                <a:solidFill>
                  <a:srgbClr val="0000FF"/>
                </a:solidFill>
              </a:rPr>
              <a:t>R </a:t>
            </a:r>
            <a:r>
              <a:rPr lang="en-US" altLang="zh-CN" i="1" dirty="0"/>
              <a:t>, </a:t>
            </a:r>
            <a:r>
              <a:rPr lang="en-US" altLang="zh-CN" dirty="0"/>
              <a:t>in agreement with </a:t>
            </a:r>
            <a:r>
              <a:rPr lang="en-US" altLang="zh-CN" dirty="0" err="1"/>
              <a:t>Dulong</a:t>
            </a:r>
            <a:r>
              <a:rPr lang="en-US" altLang="zh-CN" dirty="0"/>
              <a:t> and </a:t>
            </a:r>
            <a:r>
              <a:rPr lang="en-US" altLang="zh-CN" dirty="0" err="1"/>
              <a:t>Petit’s</a:t>
            </a:r>
            <a:r>
              <a:rPr lang="en-US" altLang="zh-CN" dirty="0"/>
              <a:t> law, 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en-US" altLang="zh-CN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altLang="zh-CN" dirty="0">
                <a:solidFill>
                  <a:srgbClr val="0000FF"/>
                </a:solidFill>
              </a:rPr>
              <a:t>as </a:t>
            </a:r>
            <a:r>
              <a:rPr lang="en-US" altLang="zh-CN" i="1" dirty="0">
                <a:solidFill>
                  <a:srgbClr val="0000FF"/>
                </a:solidFill>
              </a:rPr>
              <a:t>T </a:t>
            </a:r>
            <a:r>
              <a:rPr lang="en-US" altLang="zh-CN" dirty="0">
                <a:solidFill>
                  <a:srgbClr val="0000FF"/>
                </a:solidFill>
              </a:rPr>
              <a:t>→ 0, </a:t>
            </a:r>
            <a:r>
              <a:rPr lang="en-US" altLang="zh-CN" i="1" dirty="0" err="1">
                <a:solidFill>
                  <a:srgbClr val="0000FF"/>
                </a:solidFill>
              </a:rPr>
              <a:t>Cv</a:t>
            </a:r>
            <a:r>
              <a:rPr lang="en-US" altLang="zh-CN" dirty="0">
                <a:solidFill>
                  <a:srgbClr val="0000FF"/>
                </a:solidFill>
              </a:rPr>
              <a:t>→ 0</a:t>
            </a:r>
            <a:r>
              <a:rPr lang="en-US" altLang="zh-CN" dirty="0"/>
              <a:t>, which is in agreement with experimental observation.</a:t>
            </a:r>
            <a:endParaRPr lang="zh-CN" altLang="en-US" dirty="0"/>
          </a:p>
        </p:txBody>
      </p:sp>
      <p:sp>
        <p:nvSpPr>
          <p:cNvPr id="14" name="矩形 13"/>
          <p:cNvSpPr/>
          <p:nvPr/>
        </p:nvSpPr>
        <p:spPr>
          <a:xfrm>
            <a:off x="4761886" y="4114800"/>
            <a:ext cx="4291827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/>
              <a:t>There is some discrepancy between experimental data and Einstein’s model </a:t>
            </a:r>
          </a:p>
          <a:p>
            <a:r>
              <a:rPr lang="en-US" altLang="zh-CN" dirty="0">
                <a:solidFill>
                  <a:srgbClr val="0000FF"/>
                </a:solidFill>
              </a:rPr>
              <a:t> because of the assumption the oscillators vibrate with a single frequency</a:t>
            </a:r>
            <a:endParaRPr lang="zh-CN" altLang="en-US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014261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0" y="2099441"/>
            <a:ext cx="4078183" cy="30497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7411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600" y="273205"/>
            <a:ext cx="5248275" cy="18052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7414" name="Picture 6" descr="Related image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073" y="2081048"/>
            <a:ext cx="3294527" cy="3200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152400" y="6107668"/>
            <a:ext cx="23612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Nature 395, 876 (1998)</a:t>
            </a:r>
            <a:endParaRPr lang="zh-CN" altLang="en-US" dirty="0"/>
          </a:p>
        </p:txBody>
      </p:sp>
      <p:pic>
        <p:nvPicPr>
          <p:cNvPr id="17415" name="Picture 7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20510" y="5149213"/>
            <a:ext cx="4536035" cy="4887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4330626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5A1085F3-7795-4F50-9A38-6320D5874023}"/>
              </a:ext>
            </a:extLst>
          </p:cNvPr>
          <p:cNvSpPr/>
          <p:nvPr/>
        </p:nvSpPr>
        <p:spPr>
          <a:xfrm>
            <a:off x="2542515" y="83127"/>
            <a:ext cx="3509294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dirty="0">
                <a:solidFill>
                  <a:srgbClr val="FF0000"/>
                </a:solidFill>
              </a:rPr>
              <a:t>Debye model of c</a:t>
            </a:r>
            <a:r>
              <a:rPr lang="en-US" altLang="zh-CN" sz="3200" baseline="-25000" dirty="0">
                <a:solidFill>
                  <a:srgbClr val="FF0000"/>
                </a:solidFill>
              </a:rPr>
              <a:t>v</a:t>
            </a:r>
            <a:endParaRPr lang="zh-CN" altLang="en-US" sz="3200" dirty="0">
              <a:solidFill>
                <a:srgbClr val="FF0000"/>
              </a:solidFill>
            </a:endParaRP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690E7EEA-D60A-44C0-891D-B668F8C2C8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9549" y="1473091"/>
            <a:ext cx="1366934" cy="20504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1346CCCA-B6D2-4300-A5B0-F5F018F32DA6}"/>
              </a:ext>
            </a:extLst>
          </p:cNvPr>
          <p:cNvSpPr/>
          <p:nvPr/>
        </p:nvSpPr>
        <p:spPr>
          <a:xfrm>
            <a:off x="869549" y="3523492"/>
            <a:ext cx="1467068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/>
              <a:t>Peter Debye</a:t>
            </a:r>
          </a:p>
          <a:p>
            <a:r>
              <a:rPr lang="en-US" altLang="zh-CN" dirty="0"/>
              <a:t>1884-1966</a:t>
            </a:r>
            <a:endParaRPr lang="zh-CN" altLang="en-US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D251DA4-B513-4F69-8A82-30B4B3BB1A66}"/>
              </a:ext>
            </a:extLst>
          </p:cNvPr>
          <p:cNvSpPr/>
          <p:nvPr/>
        </p:nvSpPr>
        <p:spPr>
          <a:xfrm>
            <a:off x="317035" y="4184767"/>
            <a:ext cx="260359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 dirty="0"/>
              <a:t>Nobel Prize in Chemistry 1936</a:t>
            </a:r>
            <a:endParaRPr lang="zh-CN" altLang="en-US" sz="1400" dirty="0"/>
          </a:p>
        </p:txBody>
      </p: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961833B1-D1EA-456E-9530-93B4597BBB8D}"/>
              </a:ext>
            </a:extLst>
          </p:cNvPr>
          <p:cNvCxnSpPr/>
          <p:nvPr/>
        </p:nvCxnSpPr>
        <p:spPr>
          <a:xfrm>
            <a:off x="3730025" y="3228318"/>
            <a:ext cx="2146041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1817CDBD-96B8-433E-B218-729FCFE9DB5B}"/>
              </a:ext>
            </a:extLst>
          </p:cNvPr>
          <p:cNvCxnSpPr/>
          <p:nvPr/>
        </p:nvCxnSpPr>
        <p:spPr>
          <a:xfrm flipV="1">
            <a:off x="3730025" y="1324873"/>
            <a:ext cx="0" cy="190344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EAD78D2F-0520-4F03-A610-55DDF1CF9FA0}"/>
              </a:ext>
            </a:extLst>
          </p:cNvPr>
          <p:cNvSpPr txBox="1"/>
          <p:nvPr/>
        </p:nvSpPr>
        <p:spPr>
          <a:xfrm rot="16200000">
            <a:off x="2881801" y="2107318"/>
            <a:ext cx="115288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/>
              <a:t>Frequency</a:t>
            </a:r>
            <a:endParaRPr lang="zh-CN" altLang="en-US" sz="16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89FA48C-FDEC-4E62-B3E3-F83A0BA783DF}"/>
              </a:ext>
            </a:extLst>
          </p:cNvPr>
          <p:cNvSpPr txBox="1"/>
          <p:nvPr/>
        </p:nvSpPr>
        <p:spPr>
          <a:xfrm>
            <a:off x="4112716" y="3223641"/>
            <a:ext cx="119404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/>
              <a:t>Wave Vector</a:t>
            </a:r>
            <a:endParaRPr lang="zh-CN" altLang="en-US" sz="14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79421F3-4469-400C-A53D-DBB5F4AF7603}"/>
              </a:ext>
            </a:extLst>
          </p:cNvPr>
          <p:cNvSpPr txBox="1"/>
          <p:nvPr/>
        </p:nvSpPr>
        <p:spPr>
          <a:xfrm>
            <a:off x="3490991" y="3140948"/>
            <a:ext cx="28725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altLang="zh-CN" sz="1400" i="1" dirty="0">
                <a:latin typeface="Times New Roman" pitchFamily="18" charset="0"/>
                <a:cs typeface="Times New Roman" pitchFamily="18" charset="0"/>
              </a:rPr>
              <a:t>Γ</a:t>
            </a:r>
            <a:endParaRPr lang="zh-CN" altLang="en-US" sz="1400" i="1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8A90E9E5-93E6-4247-B8B1-98E782E37AED}"/>
              </a:ext>
            </a:extLst>
          </p:cNvPr>
          <p:cNvCxnSpPr/>
          <p:nvPr/>
        </p:nvCxnSpPr>
        <p:spPr>
          <a:xfrm flipV="1">
            <a:off x="3730025" y="2005745"/>
            <a:ext cx="1399592" cy="1222574"/>
          </a:xfrm>
          <a:prstGeom prst="line">
            <a:avLst/>
          </a:prstGeom>
          <a:ln w="47625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3">
            <a:extLst>
              <a:ext uri="{FF2B5EF4-FFF2-40B4-BE49-F238E27FC236}">
                <a16:creationId xmlns:a16="http://schemas.microsoft.com/office/drawing/2014/main" id="{D4004AFE-2912-4277-AB5F-24447769EEBD}"/>
              </a:ext>
            </a:extLst>
          </p:cNvPr>
          <p:cNvSpPr txBox="1"/>
          <p:nvPr/>
        </p:nvSpPr>
        <p:spPr>
          <a:xfrm>
            <a:off x="3232442" y="3652982"/>
            <a:ext cx="295767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US" altLang="zh-CN" sz="1600" dirty="0"/>
              <a:t>linear dispersion relationship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altLang="zh-CN" sz="1600" dirty="0"/>
              <a:t>Cut-off frequency:  </a:t>
            </a:r>
            <a:r>
              <a:rPr lang="el-GR" altLang="zh-CN" sz="1600" dirty="0"/>
              <a:t>ω</a:t>
            </a:r>
            <a:r>
              <a:rPr lang="en-US" altLang="zh-CN" sz="1600" baseline="-25000" dirty="0"/>
              <a:t>D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altLang="zh-CN" sz="1600" dirty="0"/>
              <a:t>Cut-off frequency:  </a:t>
            </a:r>
            <a:r>
              <a:rPr lang="en-US" altLang="zh-CN" sz="1600" dirty="0" err="1"/>
              <a:t>k</a:t>
            </a:r>
            <a:r>
              <a:rPr lang="en-US" altLang="zh-CN" sz="1600" baseline="-25000" dirty="0" err="1"/>
              <a:t>D</a:t>
            </a:r>
            <a:endParaRPr lang="en-US" altLang="zh-CN" sz="1600" baseline="-25000" dirty="0"/>
          </a:p>
        </p:txBody>
      </p:sp>
      <p:graphicFrame>
        <p:nvGraphicFramePr>
          <p:cNvPr id="14" name="对象 13">
            <a:extLst>
              <a:ext uri="{FF2B5EF4-FFF2-40B4-BE49-F238E27FC236}">
                <a16:creationId xmlns:a16="http://schemas.microsoft.com/office/drawing/2014/main" id="{2824EFF3-B095-4338-B37F-F63753EE43B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340930"/>
              </p:ext>
            </p:extLst>
          </p:nvPr>
        </p:nvGraphicFramePr>
        <p:xfrm>
          <a:off x="4068649" y="2211894"/>
          <a:ext cx="615950" cy="231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469800" imgH="177480" progId="">
                  <p:embed/>
                </p:oleObj>
              </mc:Choice>
              <mc:Fallback>
                <p:oleObj name="Equation" r:id="rId3" imgW="469800" imgH="177480" progId="">
                  <p:embed/>
                  <p:pic>
                    <p:nvPicPr>
                      <p:cNvPr id="14" name="对象 13">
                        <a:extLst>
                          <a:ext uri="{FF2B5EF4-FFF2-40B4-BE49-F238E27FC236}">
                            <a16:creationId xmlns:a16="http://schemas.microsoft.com/office/drawing/2014/main" id="{2824EFF3-B095-4338-B37F-F63753EE43B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68649" y="2211894"/>
                        <a:ext cx="615950" cy="2317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C36E0197-FFB6-4A10-A165-563220DB11DA}"/>
              </a:ext>
            </a:extLst>
          </p:cNvPr>
          <p:cNvCxnSpPr/>
          <p:nvPr/>
        </p:nvCxnSpPr>
        <p:spPr>
          <a:xfrm flipH="1">
            <a:off x="3778249" y="2005745"/>
            <a:ext cx="1840653" cy="0"/>
          </a:xfrm>
          <a:prstGeom prst="line">
            <a:avLst/>
          </a:prstGeom>
          <a:ln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6" name="对象 15">
            <a:extLst>
              <a:ext uri="{FF2B5EF4-FFF2-40B4-BE49-F238E27FC236}">
                <a16:creationId xmlns:a16="http://schemas.microsoft.com/office/drawing/2014/main" id="{2B8E2AFE-57D2-4524-9018-D43923E19F4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88204733"/>
              </p:ext>
            </p:extLst>
          </p:nvPr>
        </p:nvGraphicFramePr>
        <p:xfrm>
          <a:off x="5286262" y="1653094"/>
          <a:ext cx="280987" cy="296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15640" imgH="228600" progId="">
                  <p:embed/>
                </p:oleObj>
              </mc:Choice>
              <mc:Fallback>
                <p:oleObj name="Equation" r:id="rId5" imgW="215640" imgH="228600" progId="">
                  <p:embed/>
                  <p:pic>
                    <p:nvPicPr>
                      <p:cNvPr id="16" name="对象 15">
                        <a:extLst>
                          <a:ext uri="{FF2B5EF4-FFF2-40B4-BE49-F238E27FC236}">
                            <a16:creationId xmlns:a16="http://schemas.microsoft.com/office/drawing/2014/main" id="{2B8E2AFE-57D2-4524-9018-D43923E19F4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86262" y="1653094"/>
                        <a:ext cx="280987" cy="2968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任意多边形 22">
            <a:extLst>
              <a:ext uri="{FF2B5EF4-FFF2-40B4-BE49-F238E27FC236}">
                <a16:creationId xmlns:a16="http://schemas.microsoft.com/office/drawing/2014/main" id="{D073BEAC-22CC-4FCA-9BD2-F74A6216BAD3}"/>
              </a:ext>
            </a:extLst>
          </p:cNvPr>
          <p:cNvSpPr/>
          <p:nvPr/>
        </p:nvSpPr>
        <p:spPr>
          <a:xfrm>
            <a:off x="4140572" y="1445909"/>
            <a:ext cx="242596" cy="858416"/>
          </a:xfrm>
          <a:custGeom>
            <a:avLst/>
            <a:gdLst>
              <a:gd name="connsiteX0" fmla="*/ 18662 w 242596"/>
              <a:gd name="connsiteY0" fmla="*/ 858416 h 858416"/>
              <a:gd name="connsiteX1" fmla="*/ 0 w 242596"/>
              <a:gd name="connsiteY1" fmla="*/ 307910 h 858416"/>
              <a:gd name="connsiteX2" fmla="*/ 242596 w 242596"/>
              <a:gd name="connsiteY2" fmla="*/ 0 h 8584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42596" h="858416">
                <a:moveTo>
                  <a:pt x="18662" y="858416"/>
                </a:moveTo>
                <a:lnTo>
                  <a:pt x="0" y="307910"/>
                </a:lnTo>
                <a:lnTo>
                  <a:pt x="242596" y="0"/>
                </a:lnTo>
              </a:path>
            </a:pathLst>
          </a:cu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TextBox 23">
            <a:extLst>
              <a:ext uri="{FF2B5EF4-FFF2-40B4-BE49-F238E27FC236}">
                <a16:creationId xmlns:a16="http://schemas.microsoft.com/office/drawing/2014/main" id="{5A335DBE-B091-42CE-BC5E-F7ECEBA5C0A5}"/>
              </a:ext>
            </a:extLst>
          </p:cNvPr>
          <p:cNvSpPr txBox="1"/>
          <p:nvPr/>
        </p:nvSpPr>
        <p:spPr>
          <a:xfrm>
            <a:off x="3944752" y="1110073"/>
            <a:ext cx="97013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/>
              <a:t>Angular </a:t>
            </a:r>
          </a:p>
          <a:p>
            <a:r>
              <a:rPr lang="en-US" altLang="zh-CN" sz="1400" dirty="0"/>
              <a:t>frequency</a:t>
            </a:r>
            <a:endParaRPr lang="zh-CN" altLang="en-US" sz="1400" dirty="0"/>
          </a:p>
        </p:txBody>
      </p:sp>
      <p:sp>
        <p:nvSpPr>
          <p:cNvPr id="19" name="TextBox 27">
            <a:extLst>
              <a:ext uri="{FF2B5EF4-FFF2-40B4-BE49-F238E27FC236}">
                <a16:creationId xmlns:a16="http://schemas.microsoft.com/office/drawing/2014/main" id="{59755527-D033-4264-9EA7-84D8B9A54E97}"/>
              </a:ext>
            </a:extLst>
          </p:cNvPr>
          <p:cNvSpPr txBox="1"/>
          <p:nvPr/>
        </p:nvSpPr>
        <p:spPr>
          <a:xfrm>
            <a:off x="4411022" y="2699279"/>
            <a:ext cx="67197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/>
              <a:t>Wave</a:t>
            </a:r>
          </a:p>
          <a:p>
            <a:r>
              <a:rPr lang="en-US" altLang="zh-CN" sz="1400" dirty="0"/>
              <a:t>vector</a:t>
            </a:r>
            <a:endParaRPr lang="zh-CN" altLang="en-US" sz="1400" dirty="0"/>
          </a:p>
        </p:txBody>
      </p:sp>
      <p:sp>
        <p:nvSpPr>
          <p:cNvPr id="20" name="任意多边形 24">
            <a:extLst>
              <a:ext uri="{FF2B5EF4-FFF2-40B4-BE49-F238E27FC236}">
                <a16:creationId xmlns:a16="http://schemas.microsoft.com/office/drawing/2014/main" id="{B546D796-35B4-4EEE-9AFE-0AD361CAC06D}"/>
              </a:ext>
            </a:extLst>
          </p:cNvPr>
          <p:cNvSpPr/>
          <p:nvPr/>
        </p:nvSpPr>
        <p:spPr>
          <a:xfrm>
            <a:off x="4625764" y="2360309"/>
            <a:ext cx="270588" cy="363893"/>
          </a:xfrm>
          <a:custGeom>
            <a:avLst/>
            <a:gdLst>
              <a:gd name="connsiteX0" fmla="*/ 0 w 270588"/>
              <a:gd name="connsiteY0" fmla="*/ 0 h 363893"/>
              <a:gd name="connsiteX1" fmla="*/ 102637 w 270588"/>
              <a:gd name="connsiteY1" fmla="*/ 307910 h 363893"/>
              <a:gd name="connsiteX2" fmla="*/ 270588 w 270588"/>
              <a:gd name="connsiteY2" fmla="*/ 363893 h 3638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70588" h="363893">
                <a:moveTo>
                  <a:pt x="0" y="0"/>
                </a:moveTo>
                <a:lnTo>
                  <a:pt x="102637" y="307910"/>
                </a:lnTo>
                <a:lnTo>
                  <a:pt x="270588" y="363893"/>
                </a:lnTo>
              </a:path>
            </a:pathLst>
          </a:cu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任意多边形 25">
            <a:extLst>
              <a:ext uri="{FF2B5EF4-FFF2-40B4-BE49-F238E27FC236}">
                <a16:creationId xmlns:a16="http://schemas.microsoft.com/office/drawing/2014/main" id="{E93597E6-1651-452B-B9BE-58BA98AD8B52}"/>
              </a:ext>
            </a:extLst>
          </p:cNvPr>
          <p:cNvSpPr/>
          <p:nvPr/>
        </p:nvSpPr>
        <p:spPr>
          <a:xfrm>
            <a:off x="4476475" y="1445909"/>
            <a:ext cx="746448" cy="821093"/>
          </a:xfrm>
          <a:custGeom>
            <a:avLst/>
            <a:gdLst>
              <a:gd name="connsiteX0" fmla="*/ 0 w 746448"/>
              <a:gd name="connsiteY0" fmla="*/ 821093 h 821093"/>
              <a:gd name="connsiteX1" fmla="*/ 447869 w 746448"/>
              <a:gd name="connsiteY1" fmla="*/ 186612 h 821093"/>
              <a:gd name="connsiteX2" fmla="*/ 746448 w 746448"/>
              <a:gd name="connsiteY2" fmla="*/ 0 h 8210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46448" h="821093">
                <a:moveTo>
                  <a:pt x="0" y="821093"/>
                </a:moveTo>
                <a:lnTo>
                  <a:pt x="447869" y="186612"/>
                </a:lnTo>
                <a:lnTo>
                  <a:pt x="746448" y="0"/>
                </a:lnTo>
              </a:path>
            </a:pathLst>
          </a:cu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TextBox 30">
            <a:extLst>
              <a:ext uri="{FF2B5EF4-FFF2-40B4-BE49-F238E27FC236}">
                <a16:creationId xmlns:a16="http://schemas.microsoft.com/office/drawing/2014/main" id="{EB4C05DF-1B74-4FD5-B469-22C9D52A3C55}"/>
              </a:ext>
            </a:extLst>
          </p:cNvPr>
          <p:cNvSpPr txBox="1"/>
          <p:nvPr/>
        </p:nvSpPr>
        <p:spPr>
          <a:xfrm>
            <a:off x="5157681" y="922689"/>
            <a:ext cx="80182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/>
              <a:t>Phonon</a:t>
            </a:r>
          </a:p>
          <a:p>
            <a:r>
              <a:rPr lang="en-US" altLang="zh-CN" sz="1400" dirty="0"/>
              <a:t>velocity</a:t>
            </a:r>
            <a:endParaRPr lang="zh-CN" altLang="en-US" sz="1400" dirty="0"/>
          </a:p>
        </p:txBody>
      </p: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B4BFD352-BFDE-4423-9912-1D911C59A95A}"/>
              </a:ext>
            </a:extLst>
          </p:cNvPr>
          <p:cNvCxnSpPr/>
          <p:nvPr/>
        </p:nvCxnSpPr>
        <p:spPr>
          <a:xfrm flipH="1">
            <a:off x="5129617" y="1865786"/>
            <a:ext cx="1" cy="1357855"/>
          </a:xfrm>
          <a:prstGeom prst="line">
            <a:avLst/>
          </a:prstGeom>
          <a:ln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矩形 23">
            <a:extLst>
              <a:ext uri="{FF2B5EF4-FFF2-40B4-BE49-F238E27FC236}">
                <a16:creationId xmlns:a16="http://schemas.microsoft.com/office/drawing/2014/main" id="{B1E85560-92E8-42EB-87D4-BEAD4A0503EF}"/>
              </a:ext>
            </a:extLst>
          </p:cNvPr>
          <p:cNvSpPr/>
          <p:nvPr/>
        </p:nvSpPr>
        <p:spPr>
          <a:xfrm>
            <a:off x="444872" y="4931275"/>
            <a:ext cx="7391400" cy="70788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2000" dirty="0"/>
              <a:t>Einstein’s assumption:  </a:t>
            </a:r>
          </a:p>
          <a:p>
            <a:r>
              <a:rPr lang="en-US" altLang="zh-CN" sz="2000" dirty="0"/>
              <a:t>the assumption the oscillators vibrate with a single frequency</a:t>
            </a:r>
            <a:endParaRPr lang="zh-CN" altLang="en-US" sz="2000" dirty="0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733E0874-F98F-42E4-AA05-0FAB9EEB875E}"/>
              </a:ext>
            </a:extLst>
          </p:cNvPr>
          <p:cNvSpPr/>
          <p:nvPr/>
        </p:nvSpPr>
        <p:spPr>
          <a:xfrm>
            <a:off x="444872" y="5791561"/>
            <a:ext cx="7391400" cy="70788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2000" dirty="0"/>
              <a:t>Debye’s modification:  </a:t>
            </a:r>
          </a:p>
          <a:p>
            <a:r>
              <a:rPr lang="en-US" altLang="zh-CN" sz="2000" dirty="0"/>
              <a:t>the oscillators vibrate with in a rang of frequency</a:t>
            </a:r>
            <a:endParaRPr lang="zh-CN" altLang="en-US" sz="2000" dirty="0"/>
          </a:p>
        </p:txBody>
      </p:sp>
      <p:graphicFrame>
        <p:nvGraphicFramePr>
          <p:cNvPr id="26" name="对象 25">
            <a:extLst>
              <a:ext uri="{FF2B5EF4-FFF2-40B4-BE49-F238E27FC236}">
                <a16:creationId xmlns:a16="http://schemas.microsoft.com/office/drawing/2014/main" id="{EA738C28-AF00-4D97-9F95-7AC62548016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11755525"/>
              </p:ext>
            </p:extLst>
          </p:nvPr>
        </p:nvGraphicFramePr>
        <p:xfrm>
          <a:off x="6417420" y="3045968"/>
          <a:ext cx="2401536" cy="39294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701720" imgH="279360" progId="">
                  <p:embed/>
                </p:oleObj>
              </mc:Choice>
              <mc:Fallback>
                <p:oleObj name="Equation" r:id="rId7" imgW="1701720" imgH="279360" progId="">
                  <p:embed/>
                  <p:pic>
                    <p:nvPicPr>
                      <p:cNvPr id="26" name="对象 25">
                        <a:extLst>
                          <a:ext uri="{FF2B5EF4-FFF2-40B4-BE49-F238E27FC236}">
                            <a16:creationId xmlns:a16="http://schemas.microsoft.com/office/drawing/2014/main" id="{EA738C28-AF00-4D97-9F95-7AC62548016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17420" y="3045968"/>
                        <a:ext cx="2401536" cy="39294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对象 26">
            <a:extLst>
              <a:ext uri="{FF2B5EF4-FFF2-40B4-BE49-F238E27FC236}">
                <a16:creationId xmlns:a16="http://schemas.microsoft.com/office/drawing/2014/main" id="{93F046FA-E029-4B3C-BE1A-5471EAF4CFF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26561945"/>
              </p:ext>
            </p:extLst>
          </p:nvPr>
        </p:nvGraphicFramePr>
        <p:xfrm>
          <a:off x="6491288" y="1706563"/>
          <a:ext cx="1497012" cy="757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002960" imgH="507960" progId="">
                  <p:embed/>
                </p:oleObj>
              </mc:Choice>
              <mc:Fallback>
                <p:oleObj name="Equation" r:id="rId9" imgW="1002960" imgH="507960" progId="">
                  <p:embed/>
                  <p:pic>
                    <p:nvPicPr>
                      <p:cNvPr id="27" name="对象 26">
                        <a:extLst>
                          <a:ext uri="{FF2B5EF4-FFF2-40B4-BE49-F238E27FC236}">
                            <a16:creationId xmlns:a16="http://schemas.microsoft.com/office/drawing/2014/main" id="{93F046FA-E029-4B3C-BE1A-5471EAF4CFF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91288" y="1706563"/>
                        <a:ext cx="1497012" cy="7572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" name="TextBox 27">
            <a:extLst>
              <a:ext uri="{FF2B5EF4-FFF2-40B4-BE49-F238E27FC236}">
                <a16:creationId xmlns:a16="http://schemas.microsoft.com/office/drawing/2014/main" id="{AA67F607-AB7C-4377-AC51-3BB8AFC9FF7B}"/>
              </a:ext>
            </a:extLst>
          </p:cNvPr>
          <p:cNvSpPr txBox="1"/>
          <p:nvPr/>
        </p:nvSpPr>
        <p:spPr>
          <a:xfrm>
            <a:off x="6567815" y="3829443"/>
            <a:ext cx="67197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/>
              <a:t>Wave</a:t>
            </a:r>
          </a:p>
          <a:p>
            <a:r>
              <a:rPr lang="en-US" altLang="zh-CN" sz="1400" dirty="0"/>
              <a:t>vector</a:t>
            </a:r>
            <a:endParaRPr lang="zh-CN" altLang="en-US" sz="1400" dirty="0"/>
          </a:p>
        </p:txBody>
      </p:sp>
      <p:graphicFrame>
        <p:nvGraphicFramePr>
          <p:cNvPr id="30" name="对象 29">
            <a:extLst>
              <a:ext uri="{FF2B5EF4-FFF2-40B4-BE49-F238E27FC236}">
                <a16:creationId xmlns:a16="http://schemas.microsoft.com/office/drawing/2014/main" id="{CEA4A73A-4933-44D8-BBDF-6B1D5D03BF4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7319346"/>
              </p:ext>
            </p:extLst>
          </p:nvPr>
        </p:nvGraphicFramePr>
        <p:xfrm>
          <a:off x="7321550" y="3813175"/>
          <a:ext cx="720725" cy="587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482400" imgH="393480" progId="">
                  <p:embed/>
                </p:oleObj>
              </mc:Choice>
              <mc:Fallback>
                <p:oleObj name="Equation" r:id="rId11" imgW="482400" imgH="393480" progId="">
                  <p:embed/>
                  <p:pic>
                    <p:nvPicPr>
                      <p:cNvPr id="30" name="对象 29">
                        <a:extLst>
                          <a:ext uri="{FF2B5EF4-FFF2-40B4-BE49-F238E27FC236}">
                            <a16:creationId xmlns:a16="http://schemas.microsoft.com/office/drawing/2014/main" id="{CEA4A73A-4933-44D8-BBDF-6B1D5D03BF4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21550" y="3813175"/>
                        <a:ext cx="720725" cy="5873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57501172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0252819C-B254-4222-AFF6-50762CAF5A0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16111633"/>
              </p:ext>
            </p:extLst>
          </p:nvPr>
        </p:nvGraphicFramePr>
        <p:xfrm>
          <a:off x="789704" y="1042600"/>
          <a:ext cx="2401536" cy="39294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701720" imgH="279360" progId="">
                  <p:embed/>
                </p:oleObj>
              </mc:Choice>
              <mc:Fallback>
                <p:oleObj name="Equation" r:id="rId2" imgW="1701720" imgH="279360" progId="">
                  <p:embed/>
                  <p:pic>
                    <p:nvPicPr>
                      <p:cNvPr id="2" name="对象 1">
                        <a:extLst>
                          <a:ext uri="{FF2B5EF4-FFF2-40B4-BE49-F238E27FC236}">
                            <a16:creationId xmlns:a16="http://schemas.microsoft.com/office/drawing/2014/main" id="{0252819C-B254-4222-AFF6-50762CAF5A0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9704" y="1042600"/>
                        <a:ext cx="2401536" cy="39294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矩形 2">
            <a:extLst>
              <a:ext uri="{FF2B5EF4-FFF2-40B4-BE49-F238E27FC236}">
                <a16:creationId xmlns:a16="http://schemas.microsoft.com/office/drawing/2014/main" id="{9C6FA5F7-5193-4D2E-A1D1-FEDC14FDC7F7}"/>
              </a:ext>
            </a:extLst>
          </p:cNvPr>
          <p:cNvSpPr/>
          <p:nvPr/>
        </p:nvSpPr>
        <p:spPr>
          <a:xfrm>
            <a:off x="2542515" y="83127"/>
            <a:ext cx="3509294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dirty="0">
                <a:solidFill>
                  <a:srgbClr val="FF0000"/>
                </a:solidFill>
              </a:rPr>
              <a:t>Debye model of c</a:t>
            </a:r>
            <a:r>
              <a:rPr lang="en-US" altLang="zh-CN" sz="3200" baseline="-25000" dirty="0">
                <a:solidFill>
                  <a:srgbClr val="FF0000"/>
                </a:solidFill>
              </a:rPr>
              <a:t>v</a:t>
            </a:r>
            <a:endParaRPr lang="zh-CN" altLang="en-US" sz="3200" dirty="0">
              <a:solidFill>
                <a:srgbClr val="FF0000"/>
              </a:solidFill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8E74C9F-69E6-4C8E-9FF4-4567E5DE36C7}"/>
              </a:ext>
            </a:extLst>
          </p:cNvPr>
          <p:cNvSpPr txBox="1"/>
          <p:nvPr/>
        </p:nvSpPr>
        <p:spPr>
          <a:xfrm>
            <a:off x="1012973" y="1718800"/>
            <a:ext cx="286075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kern="100" dirty="0">
                <a:effectLst/>
                <a:ea typeface="等线" panose="02010600030101010101" pitchFamily="2" charset="-122"/>
                <a:cs typeface="Times New Roman" panose="02020603050405020304" pitchFamily="18" charset="0"/>
              </a:rPr>
              <a:t>frequency distribution function of vibration mode</a:t>
            </a:r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A719F1A-8178-4479-876B-2217A7F8AC9E}"/>
              </a:ext>
            </a:extLst>
          </p:cNvPr>
          <p:cNvSpPr txBox="1"/>
          <p:nvPr/>
        </p:nvSpPr>
        <p:spPr>
          <a:xfrm>
            <a:off x="411475" y="1850625"/>
            <a:ext cx="7564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kern="100" dirty="0">
                <a:solidFill>
                  <a:srgbClr val="FF0000"/>
                </a:solidFill>
                <a:ea typeface="等线" panose="02010600030101010101" pitchFamily="2" charset="-122"/>
                <a:cs typeface="Times New Roman" panose="02020603050405020304" pitchFamily="18" charset="0"/>
              </a:rPr>
              <a:t>D(</a:t>
            </a:r>
            <a:r>
              <a:rPr lang="el-GR" altLang="zh-CN" kern="100" dirty="0">
                <a:solidFill>
                  <a:srgbClr val="FF0000"/>
                </a:solidFill>
                <a:ea typeface="等线" panose="02010600030101010101" pitchFamily="2" charset="-122"/>
                <a:cs typeface="Times New Roman" panose="02020603050405020304" pitchFamily="18" charset="0"/>
              </a:rPr>
              <a:t>ω</a:t>
            </a:r>
            <a:r>
              <a:rPr lang="en-US" altLang="zh-CN" kern="100" dirty="0">
                <a:solidFill>
                  <a:srgbClr val="FF0000"/>
                </a:solidFill>
                <a:ea typeface="等线" panose="02010600030101010101" pitchFamily="2" charset="-122"/>
                <a:cs typeface="Times New Roman" panose="02020603050405020304" pitchFamily="18" charset="0"/>
              </a:rPr>
              <a:t>) 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3B323B34-E2AD-4A59-BE7F-3F1188565786}"/>
              </a:ext>
            </a:extLst>
          </p:cNvPr>
          <p:cNvSpPr txBox="1"/>
          <p:nvPr/>
        </p:nvSpPr>
        <p:spPr>
          <a:xfrm>
            <a:off x="411475" y="2648388"/>
            <a:ext cx="4572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US" altLang="zh-CN" sz="1600" dirty="0"/>
              <a:t>linear dispersion relationship</a:t>
            </a:r>
          </a:p>
        </p:txBody>
      </p:sp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F257E77D-7E37-4CF7-BB47-C0497E39F81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97642805"/>
              </p:ext>
            </p:extLst>
          </p:nvPr>
        </p:nvGraphicFramePr>
        <p:xfrm>
          <a:off x="1827402" y="3069202"/>
          <a:ext cx="615950" cy="231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69800" imgH="177480" progId="">
                  <p:embed/>
                </p:oleObj>
              </mc:Choice>
              <mc:Fallback>
                <p:oleObj name="Equation" r:id="rId4" imgW="469800" imgH="177480" progId="">
                  <p:embed/>
                  <p:pic>
                    <p:nvPicPr>
                      <p:cNvPr id="12" name="对象 11">
                        <a:extLst>
                          <a:ext uri="{FF2B5EF4-FFF2-40B4-BE49-F238E27FC236}">
                            <a16:creationId xmlns:a16="http://schemas.microsoft.com/office/drawing/2014/main" id="{F257E77D-7E37-4CF7-BB47-C0497E39F81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7402" y="3069202"/>
                        <a:ext cx="615950" cy="2317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>
            <a:extLst>
              <a:ext uri="{FF2B5EF4-FFF2-40B4-BE49-F238E27FC236}">
                <a16:creationId xmlns:a16="http://schemas.microsoft.com/office/drawing/2014/main" id="{8F52F77E-70CC-4C72-BA1E-8BE06B79308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73709197"/>
              </p:ext>
            </p:extLst>
          </p:nvPr>
        </p:nvGraphicFramePr>
        <p:xfrm>
          <a:off x="1312863" y="3824288"/>
          <a:ext cx="1647825" cy="612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257120" imgH="469800" progId="">
                  <p:embed/>
                </p:oleObj>
              </mc:Choice>
              <mc:Fallback>
                <p:oleObj name="Equation" r:id="rId6" imgW="1257120" imgH="469800" progId="">
                  <p:embed/>
                  <p:pic>
                    <p:nvPicPr>
                      <p:cNvPr id="17" name="对象 16">
                        <a:extLst>
                          <a:ext uri="{FF2B5EF4-FFF2-40B4-BE49-F238E27FC236}">
                            <a16:creationId xmlns:a16="http://schemas.microsoft.com/office/drawing/2014/main" id="{8F52F77E-70CC-4C72-BA1E-8BE06B79308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12863" y="3824288"/>
                        <a:ext cx="1647825" cy="6127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文本框 20">
            <a:extLst>
              <a:ext uri="{FF2B5EF4-FFF2-40B4-BE49-F238E27FC236}">
                <a16:creationId xmlns:a16="http://schemas.microsoft.com/office/drawing/2014/main" id="{CEEA35DB-944B-4768-9A15-4CA66EC12FD5}"/>
              </a:ext>
            </a:extLst>
          </p:cNvPr>
          <p:cNvSpPr txBox="1"/>
          <p:nvPr/>
        </p:nvSpPr>
        <p:spPr>
          <a:xfrm>
            <a:off x="411475" y="3466933"/>
            <a:ext cx="269391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altLang="zh-CN" sz="1600" kern="100" dirty="0">
                <a:effectLst/>
                <a:ea typeface="等线" panose="02010600030101010101" pitchFamily="2" charset="-122"/>
                <a:cs typeface="Times New Roman" panose="02020603050405020304" pitchFamily="18" charset="0"/>
              </a:rPr>
              <a:t>number of phonons  </a:t>
            </a:r>
            <a:endParaRPr lang="zh-CN" altLang="zh-CN" sz="1600" kern="100" dirty="0">
              <a:effectLst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4DE9D780-FF53-43A7-AC5C-414AFD9C06AE}"/>
              </a:ext>
            </a:extLst>
          </p:cNvPr>
          <p:cNvSpPr txBox="1"/>
          <p:nvPr/>
        </p:nvSpPr>
        <p:spPr>
          <a:xfrm>
            <a:off x="678409" y="4469412"/>
            <a:ext cx="130609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zh-CN" sz="1400" kern="100" dirty="0">
                <a:solidFill>
                  <a:srgbClr val="FF0000"/>
                </a:solidFill>
                <a:effectLst/>
                <a:ea typeface="等线" panose="02010600030101010101" pitchFamily="2" charset="-122"/>
                <a:cs typeface="Times New Roman" panose="02020603050405020304" pitchFamily="18" charset="0"/>
              </a:rPr>
              <a:t>distribution</a:t>
            </a:r>
          </a:p>
          <a:p>
            <a:pPr algn="r"/>
            <a:r>
              <a:rPr lang="en-US" altLang="zh-CN" sz="1400" kern="100" dirty="0">
                <a:solidFill>
                  <a:srgbClr val="FF0000"/>
                </a:solidFill>
                <a:effectLst/>
                <a:ea typeface="等线" panose="02010600030101010101" pitchFamily="2" charset="-122"/>
                <a:cs typeface="Times New Roman" panose="02020603050405020304" pitchFamily="18" charset="0"/>
              </a:rPr>
              <a:t>density </a:t>
            </a:r>
            <a:endParaRPr lang="zh-CN" altLang="en-US" sz="1400" dirty="0">
              <a:solidFill>
                <a:srgbClr val="FF0000"/>
              </a:solidFill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5437B224-02E3-45B2-A94E-B0831E9EC839}"/>
              </a:ext>
            </a:extLst>
          </p:cNvPr>
          <p:cNvSpPr txBox="1"/>
          <p:nvPr/>
        </p:nvSpPr>
        <p:spPr>
          <a:xfrm>
            <a:off x="2030371" y="4469412"/>
            <a:ext cx="151916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kern="100" dirty="0">
                <a:solidFill>
                  <a:srgbClr val="0000FF"/>
                </a:solidFill>
                <a:effectLst/>
                <a:ea typeface="等线" panose="02010600030101010101" pitchFamily="2" charset="-122"/>
                <a:cs typeface="Times New Roman" panose="02020603050405020304" pitchFamily="18" charset="0"/>
              </a:rPr>
              <a:t>volume of spherical shell</a:t>
            </a:r>
            <a:endParaRPr lang="zh-CN" altLang="en-US" sz="1400" dirty="0">
              <a:solidFill>
                <a:srgbClr val="0000FF"/>
              </a:solidFill>
            </a:endParaRPr>
          </a:p>
        </p:txBody>
      </p:sp>
      <p:graphicFrame>
        <p:nvGraphicFramePr>
          <p:cNvPr id="30" name="对象 29">
            <a:extLst>
              <a:ext uri="{FF2B5EF4-FFF2-40B4-BE49-F238E27FC236}">
                <a16:creationId xmlns:a16="http://schemas.microsoft.com/office/drawing/2014/main" id="{1C5F9B6B-DBFC-4AE3-9E26-D0BD4B602B7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78595445"/>
              </p:ext>
            </p:extLst>
          </p:nvPr>
        </p:nvGraphicFramePr>
        <p:xfrm>
          <a:off x="1312863" y="5314950"/>
          <a:ext cx="1531937" cy="512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168200" imgH="393480" progId="">
                  <p:embed/>
                </p:oleObj>
              </mc:Choice>
              <mc:Fallback>
                <p:oleObj name="Equation" r:id="rId8" imgW="1168200" imgH="393480" progId="">
                  <p:embed/>
                  <p:pic>
                    <p:nvPicPr>
                      <p:cNvPr id="30" name="对象 29">
                        <a:extLst>
                          <a:ext uri="{FF2B5EF4-FFF2-40B4-BE49-F238E27FC236}">
                            <a16:creationId xmlns:a16="http://schemas.microsoft.com/office/drawing/2014/main" id="{1C5F9B6B-DBFC-4AE3-9E26-D0BD4B602B7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12863" y="5314950"/>
                        <a:ext cx="1531937" cy="5127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" name="文本框 30">
            <a:extLst>
              <a:ext uri="{FF2B5EF4-FFF2-40B4-BE49-F238E27FC236}">
                <a16:creationId xmlns:a16="http://schemas.microsoft.com/office/drawing/2014/main" id="{6783E993-48DA-4DB0-9A6A-567EE9BE6648}"/>
              </a:ext>
            </a:extLst>
          </p:cNvPr>
          <p:cNvSpPr txBox="1"/>
          <p:nvPr/>
        </p:nvSpPr>
        <p:spPr>
          <a:xfrm>
            <a:off x="411475" y="5031807"/>
            <a:ext cx="269391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altLang="zh-CN" sz="1600" kern="100" dirty="0">
                <a:effectLst/>
                <a:ea typeface="等线" panose="02010600030101010101" pitchFamily="2" charset="-122"/>
                <a:cs typeface="Times New Roman" panose="02020603050405020304" pitchFamily="18" charset="0"/>
              </a:rPr>
              <a:t>number of phonons  </a:t>
            </a:r>
            <a:endParaRPr lang="zh-CN" altLang="zh-CN" sz="1600" kern="100" dirty="0">
              <a:effectLst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6123807A-40DD-4CAF-8AFE-E1195B880B16}"/>
              </a:ext>
            </a:extLst>
          </p:cNvPr>
          <p:cNvSpPr txBox="1"/>
          <p:nvPr/>
        </p:nvSpPr>
        <p:spPr>
          <a:xfrm>
            <a:off x="4485669" y="1112795"/>
            <a:ext cx="35092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altLang="zh-CN" kern="100" dirty="0">
                <a:solidFill>
                  <a:srgbClr val="0000FF"/>
                </a:solidFill>
                <a:ea typeface="等线" panose="02010600030101010101" pitchFamily="2" charset="-122"/>
                <a:cs typeface="Times New Roman" panose="02020603050405020304" pitchFamily="18" charset="0"/>
              </a:rPr>
              <a:t>Frequency distribution</a:t>
            </a:r>
            <a:endParaRPr lang="zh-CN" altLang="zh-CN" kern="100" dirty="0">
              <a:solidFill>
                <a:srgbClr val="0000FF"/>
              </a:solidFill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5" name="对象 34">
            <a:extLst>
              <a:ext uri="{FF2B5EF4-FFF2-40B4-BE49-F238E27FC236}">
                <a16:creationId xmlns:a16="http://schemas.microsoft.com/office/drawing/2014/main" id="{14F4C5BA-380B-4A86-A020-A5C70817745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38909338"/>
              </p:ext>
            </p:extLst>
          </p:nvPr>
        </p:nvGraphicFramePr>
        <p:xfrm>
          <a:off x="4843610" y="1623755"/>
          <a:ext cx="1482725" cy="1157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130040" imgH="888840" progId="">
                  <p:embed/>
                </p:oleObj>
              </mc:Choice>
              <mc:Fallback>
                <p:oleObj name="Equation" r:id="rId10" imgW="1130040" imgH="888840" progId="">
                  <p:embed/>
                  <p:pic>
                    <p:nvPicPr>
                      <p:cNvPr id="35" name="对象 34">
                        <a:extLst>
                          <a:ext uri="{FF2B5EF4-FFF2-40B4-BE49-F238E27FC236}">
                            <a16:creationId xmlns:a16="http://schemas.microsoft.com/office/drawing/2014/main" id="{14F4C5BA-380B-4A86-A020-A5C70817745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43610" y="1623755"/>
                        <a:ext cx="1482725" cy="11572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" name="文本框 37">
            <a:extLst>
              <a:ext uri="{FF2B5EF4-FFF2-40B4-BE49-F238E27FC236}">
                <a16:creationId xmlns:a16="http://schemas.microsoft.com/office/drawing/2014/main" id="{7476148D-B165-4F50-8F1A-6FB5AD13AF60}"/>
              </a:ext>
            </a:extLst>
          </p:cNvPr>
          <p:cNvSpPr txBox="1"/>
          <p:nvPr/>
        </p:nvSpPr>
        <p:spPr>
          <a:xfrm>
            <a:off x="4297162" y="3174179"/>
            <a:ext cx="35092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altLang="zh-CN" kern="100" dirty="0">
                <a:solidFill>
                  <a:srgbClr val="0000FF"/>
                </a:solidFill>
                <a:ea typeface="等线" panose="02010600030101010101" pitchFamily="2" charset="-122"/>
                <a:cs typeface="Times New Roman" panose="02020603050405020304" pitchFamily="18" charset="0"/>
              </a:rPr>
              <a:t>Debye Frequency</a:t>
            </a:r>
            <a:endParaRPr lang="zh-CN" altLang="zh-CN" kern="100" dirty="0">
              <a:solidFill>
                <a:srgbClr val="0000FF"/>
              </a:solidFill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9" name="对象 38">
            <a:extLst>
              <a:ext uri="{FF2B5EF4-FFF2-40B4-BE49-F238E27FC236}">
                <a16:creationId xmlns:a16="http://schemas.microsoft.com/office/drawing/2014/main" id="{836504F9-822A-40D7-BAE5-CC681FFDB09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33548436"/>
              </p:ext>
            </p:extLst>
          </p:nvPr>
        </p:nvGraphicFramePr>
        <p:xfrm>
          <a:off x="4983475" y="3755193"/>
          <a:ext cx="3011488" cy="512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298600" imgH="393480" progId="">
                  <p:embed/>
                </p:oleObj>
              </mc:Choice>
              <mc:Fallback>
                <p:oleObj name="Equation" r:id="rId12" imgW="2298600" imgH="393480" progId="">
                  <p:embed/>
                  <p:pic>
                    <p:nvPicPr>
                      <p:cNvPr id="39" name="对象 38">
                        <a:extLst>
                          <a:ext uri="{FF2B5EF4-FFF2-40B4-BE49-F238E27FC236}">
                            <a16:creationId xmlns:a16="http://schemas.microsoft.com/office/drawing/2014/main" id="{836504F9-822A-40D7-BAE5-CC681FFDB09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83475" y="3755193"/>
                        <a:ext cx="3011488" cy="5127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" name="对象 40">
            <a:extLst>
              <a:ext uri="{FF2B5EF4-FFF2-40B4-BE49-F238E27FC236}">
                <a16:creationId xmlns:a16="http://schemas.microsoft.com/office/drawing/2014/main" id="{1C19F48F-C5EE-4895-ADFF-85633573E6F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24466800"/>
              </p:ext>
            </p:extLst>
          </p:nvPr>
        </p:nvGraphicFramePr>
        <p:xfrm>
          <a:off x="5054919" y="4464647"/>
          <a:ext cx="1697037" cy="628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295280" imgH="482400" progId="">
                  <p:embed/>
                </p:oleObj>
              </mc:Choice>
              <mc:Fallback>
                <p:oleObj name="Equation" r:id="rId14" imgW="1295280" imgH="482400" progId="">
                  <p:embed/>
                  <p:pic>
                    <p:nvPicPr>
                      <p:cNvPr id="41" name="对象 40">
                        <a:extLst>
                          <a:ext uri="{FF2B5EF4-FFF2-40B4-BE49-F238E27FC236}">
                            <a16:creationId xmlns:a16="http://schemas.microsoft.com/office/drawing/2014/main" id="{1C19F48F-C5EE-4895-ADFF-85633573E6F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54919" y="4464647"/>
                        <a:ext cx="1697037" cy="6286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90968366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3014A5C6-41E6-441D-82AE-A8DCCF601DD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10272114"/>
              </p:ext>
            </p:extLst>
          </p:nvPr>
        </p:nvGraphicFramePr>
        <p:xfrm>
          <a:off x="698264" y="697444"/>
          <a:ext cx="2401536" cy="39294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701720" imgH="279360" progId="">
                  <p:embed/>
                </p:oleObj>
              </mc:Choice>
              <mc:Fallback>
                <p:oleObj name="Equation" r:id="rId2" imgW="1701720" imgH="279360" progId="">
                  <p:embed/>
                  <p:pic>
                    <p:nvPicPr>
                      <p:cNvPr id="2" name="对象 1">
                        <a:extLst>
                          <a:ext uri="{FF2B5EF4-FFF2-40B4-BE49-F238E27FC236}">
                            <a16:creationId xmlns:a16="http://schemas.microsoft.com/office/drawing/2014/main" id="{3014A5C6-41E6-441D-82AE-A8DCCF601DD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8264" y="697444"/>
                        <a:ext cx="2401536" cy="39294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文本框 2">
            <a:extLst>
              <a:ext uri="{FF2B5EF4-FFF2-40B4-BE49-F238E27FC236}">
                <a16:creationId xmlns:a16="http://schemas.microsoft.com/office/drawing/2014/main" id="{A7DFE02F-CBF2-48FF-A291-46D1644417DB}"/>
              </a:ext>
            </a:extLst>
          </p:cNvPr>
          <p:cNvSpPr txBox="1"/>
          <p:nvPr/>
        </p:nvSpPr>
        <p:spPr>
          <a:xfrm>
            <a:off x="1012383" y="1443504"/>
            <a:ext cx="446570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kern="100" dirty="0">
                <a:effectLst/>
                <a:ea typeface="等线" panose="02010600030101010101" pitchFamily="2" charset="-122"/>
                <a:cs typeface="Times New Roman" panose="02020603050405020304" pitchFamily="18" charset="0"/>
              </a:rPr>
              <a:t>Thermal equilibrium occupancy of wavevector k</a:t>
            </a:r>
          </a:p>
          <a:p>
            <a:r>
              <a:rPr lang="en-US" altLang="zh-CN" sz="1400" kern="100" dirty="0">
                <a:ea typeface="等线" panose="02010600030101010101" pitchFamily="2" charset="-122"/>
                <a:cs typeface="Times New Roman" panose="02020603050405020304" pitchFamily="18" charset="0"/>
              </a:rPr>
              <a:t>It follows the </a:t>
            </a:r>
            <a:r>
              <a:rPr lang="en-US" altLang="zh-CN" sz="1400" dirty="0"/>
              <a:t>Bose-Einstein distribution </a:t>
            </a:r>
            <a:endParaRPr lang="zh-CN" altLang="en-US" sz="1400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51C05638-01B2-4512-9D09-7197061B6234}"/>
              </a:ext>
            </a:extLst>
          </p:cNvPr>
          <p:cNvSpPr txBox="1"/>
          <p:nvPr/>
        </p:nvSpPr>
        <p:spPr>
          <a:xfrm>
            <a:off x="74815" y="1505469"/>
            <a:ext cx="10016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kern="100" dirty="0">
                <a:solidFill>
                  <a:srgbClr val="FF0000"/>
                </a:solidFill>
                <a:ea typeface="等线" panose="02010600030101010101" pitchFamily="2" charset="-122"/>
                <a:cs typeface="Times New Roman" panose="02020603050405020304" pitchFamily="18" charset="0"/>
              </a:rPr>
              <a:t>&lt;n(</a:t>
            </a:r>
            <a:r>
              <a:rPr lang="el-GR" altLang="zh-CN" kern="100" dirty="0">
                <a:solidFill>
                  <a:srgbClr val="FF0000"/>
                </a:solidFill>
                <a:ea typeface="等线" panose="02010600030101010101" pitchFamily="2" charset="-122"/>
                <a:cs typeface="Times New Roman" panose="02020603050405020304" pitchFamily="18" charset="0"/>
              </a:rPr>
              <a:t>ω</a:t>
            </a:r>
            <a:r>
              <a:rPr lang="en-US" altLang="zh-CN" kern="100" dirty="0">
                <a:solidFill>
                  <a:srgbClr val="FF0000"/>
                </a:solidFill>
                <a:ea typeface="等线" panose="02010600030101010101" pitchFamily="2" charset="-122"/>
                <a:cs typeface="Times New Roman" panose="02020603050405020304" pitchFamily="18" charset="0"/>
              </a:rPr>
              <a:t>)&gt;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E2FE919-A3D8-44F8-B868-7CCAC12AF48D}"/>
              </a:ext>
            </a:extLst>
          </p:cNvPr>
          <p:cNvSpPr/>
          <p:nvPr/>
        </p:nvSpPr>
        <p:spPr>
          <a:xfrm>
            <a:off x="2542515" y="83127"/>
            <a:ext cx="3509294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dirty="0">
                <a:solidFill>
                  <a:srgbClr val="FF0000"/>
                </a:solidFill>
              </a:rPr>
              <a:t>Debye model of c</a:t>
            </a:r>
            <a:r>
              <a:rPr lang="en-US" altLang="zh-CN" sz="3200" baseline="-25000" dirty="0">
                <a:solidFill>
                  <a:srgbClr val="FF0000"/>
                </a:solidFill>
              </a:rPr>
              <a:t>v</a:t>
            </a:r>
            <a:endParaRPr lang="zh-CN" altLang="en-US" sz="3200" dirty="0">
              <a:solidFill>
                <a:srgbClr val="FF0000"/>
              </a:solidFill>
            </a:endParaRPr>
          </a:p>
        </p:txBody>
      </p:sp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474AEC2C-0105-4D58-AA9B-FB5222B78D9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75836955"/>
              </p:ext>
            </p:extLst>
          </p:nvPr>
        </p:nvGraphicFramePr>
        <p:xfrm>
          <a:off x="5479462" y="1393976"/>
          <a:ext cx="2419350" cy="627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714320" imgH="444240" progId="">
                  <p:embed/>
                </p:oleObj>
              </mc:Choice>
              <mc:Fallback>
                <p:oleObj name="Equation" r:id="rId4" imgW="1714320" imgH="444240" progId="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474AEC2C-0105-4D58-AA9B-FB5222B78D9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79462" y="1393976"/>
                        <a:ext cx="2419350" cy="6270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6E40628A-2024-4423-BA4E-EB53101F384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76030193"/>
              </p:ext>
            </p:extLst>
          </p:nvPr>
        </p:nvGraphicFramePr>
        <p:xfrm>
          <a:off x="468604" y="2449781"/>
          <a:ext cx="3065462" cy="552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171520" imgH="393480" progId="">
                  <p:embed/>
                </p:oleObj>
              </mc:Choice>
              <mc:Fallback>
                <p:oleObj name="Equation" r:id="rId6" imgW="2171520" imgH="393480" progId="">
                  <p:embed/>
                  <p:pic>
                    <p:nvPicPr>
                      <p:cNvPr id="8" name="对象 7">
                        <a:extLst>
                          <a:ext uri="{FF2B5EF4-FFF2-40B4-BE49-F238E27FC236}">
                            <a16:creationId xmlns:a16="http://schemas.microsoft.com/office/drawing/2014/main" id="{6E40628A-2024-4423-BA4E-EB53101F384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8604" y="2449781"/>
                        <a:ext cx="3065462" cy="5524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2B6F18DD-455C-4A8B-818B-626573D3ECA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18014855"/>
              </p:ext>
            </p:extLst>
          </p:nvPr>
        </p:nvGraphicFramePr>
        <p:xfrm>
          <a:off x="442410" y="3189351"/>
          <a:ext cx="1558925" cy="606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104840" imgH="431640" progId="">
                  <p:embed/>
                </p:oleObj>
              </mc:Choice>
              <mc:Fallback>
                <p:oleObj name="Equation" r:id="rId8" imgW="1104840" imgH="431640" progId="">
                  <p:embed/>
                  <p:pic>
                    <p:nvPicPr>
                      <p:cNvPr id="9" name="对象 8">
                        <a:extLst>
                          <a:ext uri="{FF2B5EF4-FFF2-40B4-BE49-F238E27FC236}">
                            <a16:creationId xmlns:a16="http://schemas.microsoft.com/office/drawing/2014/main" id="{2B6F18DD-455C-4A8B-818B-626573D3ECA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2410" y="3189351"/>
                        <a:ext cx="1558925" cy="6064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90704238-4B1E-49F1-ACED-50A7A771E85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1504766"/>
              </p:ext>
            </p:extLst>
          </p:nvPr>
        </p:nvGraphicFramePr>
        <p:xfrm>
          <a:off x="4429384" y="3568035"/>
          <a:ext cx="2687663" cy="8339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841400" imgH="571320" progId="">
                  <p:embed/>
                </p:oleObj>
              </mc:Choice>
              <mc:Fallback>
                <p:oleObj name="Equation" r:id="rId10" imgW="1841400" imgH="571320" progId="">
                  <p:embed/>
                  <p:pic>
                    <p:nvPicPr>
                      <p:cNvPr id="11" name="对象 10">
                        <a:extLst>
                          <a:ext uri="{FF2B5EF4-FFF2-40B4-BE49-F238E27FC236}">
                            <a16:creationId xmlns:a16="http://schemas.microsoft.com/office/drawing/2014/main" id="{90704238-4B1E-49F1-ACED-50A7A771E85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29384" y="3568035"/>
                        <a:ext cx="2687663" cy="833960"/>
                      </a:xfrm>
                      <a:prstGeom prst="rect">
                        <a:avLst/>
                      </a:prstGeom>
                      <a:solidFill>
                        <a:srgbClr val="F4B183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9B216F52-A942-490D-BE97-0A525AA3A18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87775684"/>
              </p:ext>
            </p:extLst>
          </p:nvPr>
        </p:nvGraphicFramePr>
        <p:xfrm>
          <a:off x="4429384" y="2422783"/>
          <a:ext cx="3244850" cy="747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298600" imgH="533160" progId="">
                  <p:embed/>
                </p:oleObj>
              </mc:Choice>
              <mc:Fallback>
                <p:oleObj name="Equation" r:id="rId12" imgW="2298600" imgH="533160" progId="">
                  <p:embed/>
                  <p:pic>
                    <p:nvPicPr>
                      <p:cNvPr id="12" name="对象 11">
                        <a:extLst>
                          <a:ext uri="{FF2B5EF4-FFF2-40B4-BE49-F238E27FC236}">
                            <a16:creationId xmlns:a16="http://schemas.microsoft.com/office/drawing/2014/main" id="{9B216F52-A942-490D-BE97-0A525AA3A18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29384" y="2422783"/>
                        <a:ext cx="3244850" cy="7477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ADA3444B-0420-46A8-979B-A17E4AAA8A8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04516603"/>
              </p:ext>
            </p:extLst>
          </p:nvPr>
        </p:nvGraphicFramePr>
        <p:xfrm>
          <a:off x="698264" y="5261052"/>
          <a:ext cx="1739900" cy="712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231560" imgH="507960" progId="">
                  <p:embed/>
                </p:oleObj>
              </mc:Choice>
              <mc:Fallback>
                <p:oleObj name="Equation" r:id="rId14" imgW="1231560" imgH="507960" progId="">
                  <p:embed/>
                  <p:pic>
                    <p:nvPicPr>
                      <p:cNvPr id="13" name="对象 12">
                        <a:extLst>
                          <a:ext uri="{FF2B5EF4-FFF2-40B4-BE49-F238E27FC236}">
                            <a16:creationId xmlns:a16="http://schemas.microsoft.com/office/drawing/2014/main" id="{ADA3444B-0420-46A8-979B-A17E4AAA8A8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8264" y="5261052"/>
                        <a:ext cx="1739900" cy="7127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文本框 13">
            <a:extLst>
              <a:ext uri="{FF2B5EF4-FFF2-40B4-BE49-F238E27FC236}">
                <a16:creationId xmlns:a16="http://schemas.microsoft.com/office/drawing/2014/main" id="{FDE040C0-D37A-4435-816C-95D8B3E8D91D}"/>
              </a:ext>
            </a:extLst>
          </p:cNvPr>
          <p:cNvSpPr txBox="1"/>
          <p:nvPr/>
        </p:nvSpPr>
        <p:spPr>
          <a:xfrm>
            <a:off x="331991" y="4521945"/>
            <a:ext cx="35092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altLang="zh-CN" kern="100" dirty="0">
                <a:solidFill>
                  <a:srgbClr val="0000FF"/>
                </a:solidFill>
                <a:ea typeface="等线" panose="02010600030101010101" pitchFamily="2" charset="-122"/>
                <a:cs typeface="Times New Roman" panose="02020603050405020304" pitchFamily="18" charset="0"/>
              </a:rPr>
              <a:t>Debye Frequency</a:t>
            </a:r>
            <a:endParaRPr lang="zh-CN" altLang="zh-CN" kern="100" dirty="0">
              <a:solidFill>
                <a:srgbClr val="0000FF"/>
              </a:solidFill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58772C3C-F117-429A-893D-C9D48AFC642B}"/>
              </a:ext>
            </a:extLst>
          </p:cNvPr>
          <p:cNvSpPr txBox="1"/>
          <p:nvPr/>
        </p:nvSpPr>
        <p:spPr>
          <a:xfrm>
            <a:off x="3102234" y="5261052"/>
            <a:ext cx="457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kern="100" dirty="0">
                <a:solidFill>
                  <a:srgbClr val="FF0000"/>
                </a:solidFill>
                <a:ea typeface="等线" panose="02010600030101010101" pitchFamily="2" charset="-122"/>
                <a:cs typeface="Times New Roman" panose="02020603050405020304" pitchFamily="18" charset="0"/>
              </a:rPr>
              <a:t>Debye heat capacity function contains</a:t>
            </a:r>
          </a:p>
          <a:p>
            <a:pPr algn="ctr"/>
            <a:r>
              <a:rPr lang="en-US" altLang="zh-CN" kern="100" dirty="0">
                <a:solidFill>
                  <a:srgbClr val="FF0000"/>
                </a:solidFill>
                <a:ea typeface="等线" panose="02010600030101010101" pitchFamily="2" charset="-122"/>
                <a:cs typeface="Times New Roman" panose="02020603050405020304" pitchFamily="18" charset="0"/>
              </a:rPr>
              <a:t> only one parameter Debye temperature. 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FF725262-2A05-4AAC-B347-2F8C080F6C7B}"/>
              </a:ext>
            </a:extLst>
          </p:cNvPr>
          <p:cNvSpPr txBox="1"/>
          <p:nvPr/>
        </p:nvSpPr>
        <p:spPr>
          <a:xfrm>
            <a:off x="468604" y="3813838"/>
            <a:ext cx="2932502" cy="52322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1400" dirty="0"/>
              <a:t>T</a:t>
            </a:r>
            <a:r>
              <a:rPr lang="en-US" altLang="zh-CN" sz="1400" b="0" i="0" u="none" strike="noStrike" baseline="0" dirty="0"/>
              <a:t>he factor of 3 accounts for</a:t>
            </a:r>
          </a:p>
          <a:p>
            <a:r>
              <a:rPr lang="en-US" altLang="zh-CN" sz="1400" b="0" i="0" u="none" strike="noStrike" baseline="0" dirty="0"/>
              <a:t> the three phonon polarizations.</a:t>
            </a:r>
            <a:endParaRPr lang="zh-CN" altLang="en-US" sz="1400" dirty="0"/>
          </a:p>
        </p:txBody>
      </p:sp>
    </p:spTree>
    <p:extLst>
      <p:ext uri="{BB962C8B-B14F-4D97-AF65-F5344CB8AC3E}">
        <p14:creationId xmlns:p14="http://schemas.microsoft.com/office/powerpoint/2010/main" val="341183926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2108621" y="134034"/>
            <a:ext cx="400622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600" dirty="0">
                <a:solidFill>
                  <a:srgbClr val="FF0000"/>
                </a:solidFill>
              </a:rPr>
              <a:t>Debye model of c</a:t>
            </a:r>
            <a:r>
              <a:rPr lang="en-US" altLang="zh-CN" sz="3600" baseline="-25000" dirty="0">
                <a:solidFill>
                  <a:srgbClr val="FF0000"/>
                </a:solidFill>
              </a:rPr>
              <a:t>v</a:t>
            </a:r>
            <a:endParaRPr lang="zh-CN" altLang="en-US" sz="3600" dirty="0">
              <a:solidFill>
                <a:srgbClr val="FF0000"/>
              </a:solidFill>
            </a:endParaRPr>
          </a:p>
        </p:txBody>
      </p:sp>
      <p:sp>
        <p:nvSpPr>
          <p:cNvPr id="10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pic>
        <p:nvPicPr>
          <p:cNvPr id="14337" name="image477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9293" y="1380249"/>
            <a:ext cx="4594949" cy="35276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ectangle 3"/>
          <p:cNvSpPr>
            <a:spLocks noChangeArrowheads="1"/>
          </p:cNvSpPr>
          <p:nvPr/>
        </p:nvSpPr>
        <p:spPr bwMode="auto">
          <a:xfrm>
            <a:off x="607795" y="5631556"/>
            <a:ext cx="7545605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600" b="1" i="0" u="none" strike="noStrike" cap="none" normalizeH="0" baseline="0" dirty="0">
                <a:ln>
                  <a:noFill/>
                </a:ln>
                <a:solidFill>
                  <a:srgbClr val="010202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Figure 6.3 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010202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constant-volume molar heat capacities of several solid elements. The curves are the Debye equation with the indicated values of </a:t>
            </a:r>
            <a:r>
              <a:rPr kumimoji="0" lang="en-US" altLang="zh-CN" sz="1600" b="0" i="0" u="none" strike="noStrike" cap="none" normalizeH="0" dirty="0">
                <a:ln>
                  <a:noFill/>
                </a:ln>
                <a:solidFill>
                  <a:srgbClr val="010202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l-GR" altLang="zh-CN" sz="1600" b="0" i="0" u="none" strike="noStrike" cap="none" normalizeH="0" dirty="0">
                <a:ln>
                  <a:noFill/>
                </a:ln>
                <a:solidFill>
                  <a:srgbClr val="010202"/>
                </a:solidFill>
                <a:effectLst/>
                <a:latin typeface="Times New Roman" panose="02020603050405020304"/>
                <a:ea typeface="Times New Roman" panose="02020603050405020304" pitchFamily="18" charset="0"/>
                <a:cs typeface="Times New Roman" panose="02020603050405020304"/>
              </a:rPr>
              <a:t>θ</a:t>
            </a:r>
            <a:r>
              <a:rPr kumimoji="0" lang="en-US" altLang="zh-CN" sz="1050" b="0" i="1" u="none" strike="noStrike" cap="none" normalizeH="0" baseline="0" dirty="0">
                <a:ln>
                  <a:noFill/>
                </a:ln>
                <a:solidFill>
                  <a:srgbClr val="010202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010202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kumimoji="0" lang="en-US" altLang="zh-CN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266039" y="5094514"/>
            <a:ext cx="60398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solidFill>
                  <a:srgbClr val="FF0000"/>
                </a:solidFill>
              </a:rPr>
              <a:t>The  materials with heavier atom has smaller  </a:t>
            </a:r>
            <a:r>
              <a:rPr lang="el-GR" altLang="zh-CN" sz="2000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θ</a:t>
            </a:r>
            <a:r>
              <a:rPr lang="en-US" altLang="zh-CN" sz="2000" baseline="-25000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D</a:t>
            </a:r>
            <a:endParaRPr lang="zh-CN" altLang="en-US" sz="2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9171138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/>
          <p:cNvSpPr/>
          <p:nvPr/>
        </p:nvSpPr>
        <p:spPr>
          <a:xfrm>
            <a:off x="1067452" y="6105"/>
            <a:ext cx="3980577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600" dirty="0">
                <a:solidFill>
                  <a:srgbClr val="FF0000"/>
                </a:solidFill>
              </a:rPr>
              <a:t>Debye model of </a:t>
            </a:r>
            <a:r>
              <a:rPr lang="en-US" altLang="zh-CN" sz="3600" dirty="0" err="1">
                <a:solidFill>
                  <a:srgbClr val="FF0000"/>
                </a:solidFill>
              </a:rPr>
              <a:t>c</a:t>
            </a:r>
            <a:r>
              <a:rPr lang="en-US" altLang="zh-CN" sz="3600" baseline="-25000" dirty="0" err="1">
                <a:solidFill>
                  <a:srgbClr val="FF0000"/>
                </a:solidFill>
              </a:rPr>
              <a:t>V</a:t>
            </a:r>
            <a:endParaRPr lang="zh-CN" altLang="en-US" sz="3600" dirty="0">
              <a:solidFill>
                <a:srgbClr val="FF0000"/>
              </a:solidFill>
            </a:endParaRPr>
          </a:p>
        </p:txBody>
      </p:sp>
      <p:pic>
        <p:nvPicPr>
          <p:cNvPr id="19" name="image473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2064" y="1254946"/>
            <a:ext cx="3770727" cy="3111780"/>
          </a:xfrm>
          <a:prstGeom prst="rect">
            <a:avLst/>
          </a:prstGeom>
        </p:spPr>
      </p:pic>
      <p:graphicFrame>
        <p:nvGraphicFramePr>
          <p:cNvPr id="18" name="对象 17"/>
          <p:cNvGraphicFramePr>
            <a:graphicFrameLocks noChangeAspect="1"/>
          </p:cNvGraphicFramePr>
          <p:nvPr/>
        </p:nvGraphicFramePr>
        <p:xfrm>
          <a:off x="4743450" y="3227388"/>
          <a:ext cx="1209675" cy="844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6154400" imgH="11277600" progId="">
                  <p:embed/>
                </p:oleObj>
              </mc:Choice>
              <mc:Fallback>
                <p:oleObj name="Equation" r:id="rId3" imgW="16154400" imgH="11277600" progId="">
                  <p:embed/>
                  <p:pic>
                    <p:nvPicPr>
                      <p:cNvPr id="18" name="对象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43450" y="3227388"/>
                        <a:ext cx="1209675" cy="8445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4610101" y="2487670"/>
            <a:ext cx="386516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rgbClr val="0000FF"/>
                </a:solidFill>
              </a:rPr>
              <a:t>Debye’s T</a:t>
            </a:r>
            <a:r>
              <a:rPr lang="en-US" altLang="zh-CN" b="1" baseline="30000" dirty="0">
                <a:solidFill>
                  <a:srgbClr val="0000FF"/>
                </a:solidFill>
              </a:rPr>
              <a:t>3</a:t>
            </a:r>
            <a:r>
              <a:rPr lang="en-US" altLang="zh-CN" b="1" dirty="0">
                <a:solidFill>
                  <a:srgbClr val="0000FF"/>
                </a:solidFill>
              </a:rPr>
              <a:t> –Law </a:t>
            </a:r>
          </a:p>
          <a:p>
            <a:r>
              <a:rPr lang="en-US" altLang="zh-CN" b="1" dirty="0">
                <a:solidFill>
                  <a:srgbClr val="0000FF"/>
                </a:solidFill>
              </a:rPr>
              <a:t>for low temperature heat capacity</a:t>
            </a:r>
            <a:endParaRPr lang="zh-CN" altLang="en-US" b="1" dirty="0">
              <a:solidFill>
                <a:srgbClr val="0000FF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32248" y="4969236"/>
            <a:ext cx="3617337" cy="36933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zh-CN" dirty="0"/>
              <a:t>Some limitation of Debye’s mode:</a:t>
            </a:r>
            <a:endParaRPr lang="zh-CN" alt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946632" y="5488976"/>
            <a:ext cx="709905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US" altLang="zh-CN" dirty="0"/>
              <a:t>The introduction of cut-off seems very arbitrary</a:t>
            </a:r>
            <a:r>
              <a:rPr lang="zh-CN" altLang="en-US" dirty="0"/>
              <a:t>，</a:t>
            </a:r>
            <a:r>
              <a:rPr lang="en-US" altLang="zh-CN" dirty="0"/>
              <a:t>not make sense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altLang="zh-CN" dirty="0"/>
              <a:t>Linear dispersion relationship is not true at high wave vector</a:t>
            </a:r>
          </a:p>
        </p:txBody>
      </p:sp>
      <p:graphicFrame>
        <p:nvGraphicFramePr>
          <p:cNvPr id="1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25620249"/>
              </p:ext>
            </p:extLst>
          </p:nvPr>
        </p:nvGraphicFramePr>
        <p:xfrm>
          <a:off x="4835526" y="1369024"/>
          <a:ext cx="2009775" cy="641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790640" imgH="571320" progId="">
                  <p:embed/>
                </p:oleObj>
              </mc:Choice>
              <mc:Fallback>
                <p:oleObj name="Equation" r:id="rId5" imgW="1790640" imgH="571320" progId="">
                  <p:embed/>
                  <p:pic>
                    <p:nvPicPr>
                      <p:cNvPr id="11" name="对象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35526" y="1369024"/>
                        <a:ext cx="2009775" cy="641350"/>
                      </a:xfrm>
                      <a:prstGeom prst="rect">
                        <a:avLst/>
                      </a:prstGeom>
                      <a:solidFill>
                        <a:srgbClr val="F4B183"/>
                      </a:solidFill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67301134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1">
            <a:extLst>
              <a:ext uri="{FF2B5EF4-FFF2-40B4-BE49-F238E27FC236}">
                <a16:creationId xmlns:a16="http://schemas.microsoft.com/office/drawing/2014/main" id="{5A92FA8D-76B3-4579-ADE9-EEFD8CD5BEF7}"/>
              </a:ext>
            </a:extLst>
          </p:cNvPr>
          <p:cNvSpPr txBox="1"/>
          <p:nvPr/>
        </p:nvSpPr>
        <p:spPr>
          <a:xfrm>
            <a:off x="1348880" y="3368987"/>
            <a:ext cx="462498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>
                <a:solidFill>
                  <a:srgbClr val="FF0000"/>
                </a:solidFill>
              </a:rPr>
              <a:t>20. Sine dispersion relation</a:t>
            </a:r>
            <a:r>
              <a:rPr lang="en-US" altLang="zh-CN" sz="2800" dirty="0"/>
              <a:t> </a:t>
            </a:r>
            <a:endParaRPr lang="zh-CN" altLang="en-US" sz="28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4283056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>
          <a:xfrm>
            <a:off x="601288" y="1213896"/>
            <a:ext cx="7391400" cy="70788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2000" dirty="0"/>
              <a:t>Einstein’s assumption:  </a:t>
            </a:r>
          </a:p>
          <a:p>
            <a:r>
              <a:rPr lang="en-US" altLang="zh-CN" sz="2000" dirty="0"/>
              <a:t>the assumption the oscillators vibrate with a single frequency</a:t>
            </a:r>
            <a:endParaRPr lang="zh-CN" altLang="en-US" sz="2000" dirty="0"/>
          </a:p>
        </p:txBody>
      </p:sp>
      <p:sp>
        <p:nvSpPr>
          <p:cNvPr id="12" name="矩形 11"/>
          <p:cNvSpPr/>
          <p:nvPr/>
        </p:nvSpPr>
        <p:spPr>
          <a:xfrm>
            <a:off x="601288" y="2074182"/>
            <a:ext cx="7391400" cy="70788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2000" dirty="0"/>
              <a:t>Debye’s modification:  </a:t>
            </a:r>
          </a:p>
          <a:p>
            <a:r>
              <a:rPr lang="en-US" altLang="zh-CN" sz="2000" dirty="0"/>
              <a:t>the oscillators vibrate with in a rang of frequency</a:t>
            </a:r>
            <a:endParaRPr lang="zh-CN" altLang="en-US" sz="2000" dirty="0"/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/>
        </p:nvGraphicFramePr>
        <p:xfrm>
          <a:off x="5217076" y="3106903"/>
          <a:ext cx="2895892" cy="32840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2" imgW="16459200" imgH="18653760" progId="Origin50.Graph">
                  <p:embed/>
                </p:oleObj>
              </mc:Choice>
              <mc:Fallback>
                <p:oleObj name="Graph" r:id="rId2" imgW="16459200" imgH="18653760" progId="Origin50.Graph">
                  <p:embed/>
                  <p:pic>
                    <p:nvPicPr>
                      <p:cNvPr id="2" name="对象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17076" y="3106903"/>
                        <a:ext cx="2895892" cy="328405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6" name="图片 1">
            <a:extLst>
              <a:ext uri="{FF2B5EF4-FFF2-40B4-BE49-F238E27FC236}">
                <a16:creationId xmlns:a16="http://schemas.microsoft.com/office/drawing/2014/main" id="{DC9F16D3-078F-AE47-96AA-EFE7DEFB84D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167" y="3585093"/>
            <a:ext cx="4608513" cy="2312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1383673E-B1B0-406E-B914-4FB4D87C8004}"/>
              </a:ext>
            </a:extLst>
          </p:cNvPr>
          <p:cNvSpPr txBox="1"/>
          <p:nvPr/>
        </p:nvSpPr>
        <p:spPr>
          <a:xfrm>
            <a:off x="2211186" y="236212"/>
            <a:ext cx="478631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>
                <a:solidFill>
                  <a:srgbClr val="FF0000"/>
                </a:solidFill>
              </a:rPr>
              <a:t>A real dispersion relationship</a:t>
            </a:r>
            <a:endParaRPr lang="zh-CN" altLang="en-US" sz="28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6930476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74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1073" y="1062523"/>
            <a:ext cx="6858000" cy="5143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1853561" y="128757"/>
            <a:ext cx="601959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>
                <a:solidFill>
                  <a:srgbClr val="FF0000"/>
                </a:solidFill>
              </a:rPr>
              <a:t>Acoustic phonon Vs. Optical Phonon</a:t>
            </a:r>
            <a:endParaRPr lang="zh-CN" altLang="en-US" sz="28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1063551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770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3794" y="1624013"/>
            <a:ext cx="6410325" cy="3609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60772" name="Picture 4" descr="See the source image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4544" y="1624013"/>
            <a:ext cx="1918744" cy="17917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0773" name="Picture 5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6189" y="3547447"/>
            <a:ext cx="1657174" cy="16227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2663794" y="221720"/>
            <a:ext cx="335059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solidFill>
                  <a:srgbClr val="FF0000"/>
                </a:solidFill>
              </a:rPr>
              <a:t>Phonon Spectrum of Si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pic>
        <p:nvPicPr>
          <p:cNvPr id="160774" name="Picture 6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98546" y="5514586"/>
            <a:ext cx="4057650" cy="438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8864724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E4899810-C660-4FF5-8B6C-7975428A99F6}"/>
              </a:ext>
            </a:extLst>
          </p:cNvPr>
          <p:cNvSpPr txBox="1"/>
          <p:nvPr/>
        </p:nvSpPr>
        <p:spPr>
          <a:xfrm>
            <a:off x="1350746" y="108183"/>
            <a:ext cx="690605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>
                <a:solidFill>
                  <a:srgbClr val="FF0000"/>
                </a:solidFill>
              </a:rPr>
              <a:t>Solution of Phonon dispersion relationship</a:t>
            </a:r>
            <a:endParaRPr lang="zh-CN" altLang="en-US" sz="2800" dirty="0"/>
          </a:p>
        </p:txBody>
      </p:sp>
      <p:pic>
        <p:nvPicPr>
          <p:cNvPr id="55" name="图片 54">
            <a:extLst>
              <a:ext uri="{FF2B5EF4-FFF2-40B4-BE49-F238E27FC236}">
                <a16:creationId xmlns:a16="http://schemas.microsoft.com/office/drawing/2014/main" id="{49F98AD2-39F1-4914-9CFB-4AF7C919657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946" t="10125" b="48421"/>
          <a:stretch/>
        </p:blipFill>
        <p:spPr>
          <a:xfrm>
            <a:off x="216130" y="1396539"/>
            <a:ext cx="2934394" cy="1770611"/>
          </a:xfrm>
          <a:prstGeom prst="rect">
            <a:avLst/>
          </a:prstGeom>
        </p:spPr>
      </p:pic>
      <p:pic>
        <p:nvPicPr>
          <p:cNvPr id="59" name="图片 58">
            <a:extLst>
              <a:ext uri="{FF2B5EF4-FFF2-40B4-BE49-F238E27FC236}">
                <a16:creationId xmlns:a16="http://schemas.microsoft.com/office/drawing/2014/main" id="{4472D668-265C-4C39-A995-8D54ED2F838B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612" t="56115" r="-597" b="2431"/>
          <a:stretch/>
        </p:blipFill>
        <p:spPr>
          <a:xfrm>
            <a:off x="236455" y="3716271"/>
            <a:ext cx="2893741" cy="1902367"/>
          </a:xfrm>
          <a:prstGeom prst="rect">
            <a:avLst/>
          </a:prstGeom>
        </p:spPr>
      </p:pic>
      <p:sp>
        <p:nvSpPr>
          <p:cNvPr id="61" name="文本框 60">
            <a:extLst>
              <a:ext uri="{FF2B5EF4-FFF2-40B4-BE49-F238E27FC236}">
                <a16:creationId xmlns:a16="http://schemas.microsoft.com/office/drawing/2014/main" id="{9CB8E993-C71E-4945-8635-84A301526F9F}"/>
              </a:ext>
            </a:extLst>
          </p:cNvPr>
          <p:cNvSpPr txBox="1"/>
          <p:nvPr/>
        </p:nvSpPr>
        <p:spPr>
          <a:xfrm>
            <a:off x="236456" y="991254"/>
            <a:ext cx="289374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/>
              <a:t>Disperse as longitudinal wave</a:t>
            </a:r>
            <a:endParaRPr lang="zh-CN" altLang="en-US" sz="1600" dirty="0"/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E3705FBB-9FEF-458F-BA71-D11426F18291}"/>
              </a:ext>
            </a:extLst>
          </p:cNvPr>
          <p:cNvSpPr txBox="1"/>
          <p:nvPr/>
        </p:nvSpPr>
        <p:spPr>
          <a:xfrm>
            <a:off x="216130" y="3363633"/>
            <a:ext cx="281840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/>
              <a:t>Disperse as transverse wave</a:t>
            </a:r>
            <a:endParaRPr lang="zh-CN" altLang="en-US" sz="1600" dirty="0"/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FF3B8B0D-F304-44EB-9E42-82FF2F19B109}"/>
              </a:ext>
            </a:extLst>
          </p:cNvPr>
          <p:cNvSpPr txBox="1"/>
          <p:nvPr/>
        </p:nvSpPr>
        <p:spPr>
          <a:xfrm>
            <a:off x="3632661" y="1160531"/>
            <a:ext cx="409169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Total force on </a:t>
            </a:r>
            <a:r>
              <a:rPr lang="en-US" altLang="zh-CN" sz="1400" i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plane from </a:t>
            </a:r>
            <a:r>
              <a:rPr lang="en-US" altLang="zh-CN" sz="1400" i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s+1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and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1400" i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s-1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plane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66" name="对象 65">
            <a:extLst>
              <a:ext uri="{FF2B5EF4-FFF2-40B4-BE49-F238E27FC236}">
                <a16:creationId xmlns:a16="http://schemas.microsoft.com/office/drawing/2014/main" id="{C17168C3-01EA-489F-BFCF-1FC1B5BD49C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82152044"/>
              </p:ext>
            </p:extLst>
          </p:nvPr>
        </p:nvGraphicFramePr>
        <p:xfrm>
          <a:off x="5110557" y="1699139"/>
          <a:ext cx="2193925" cy="285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955520" imgH="253800" progId="">
                  <p:embed/>
                </p:oleObj>
              </mc:Choice>
              <mc:Fallback>
                <p:oleObj name="Equation" r:id="rId3" imgW="1955520" imgH="253800" progId="">
                  <p:embed/>
                  <p:pic>
                    <p:nvPicPr>
                      <p:cNvPr id="66" name="对象 65">
                        <a:extLst>
                          <a:ext uri="{FF2B5EF4-FFF2-40B4-BE49-F238E27FC236}">
                            <a16:creationId xmlns:a16="http://schemas.microsoft.com/office/drawing/2014/main" id="{C17168C3-01EA-489F-BFCF-1FC1B5BD49C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10557" y="1699139"/>
                        <a:ext cx="2193925" cy="2857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7" name="文本框 66">
            <a:extLst>
              <a:ext uri="{FF2B5EF4-FFF2-40B4-BE49-F238E27FC236}">
                <a16:creationId xmlns:a16="http://schemas.microsoft.com/office/drawing/2014/main" id="{0607D3C3-6AD4-4762-BCE4-1A30FA7EC5E3}"/>
              </a:ext>
            </a:extLst>
          </p:cNvPr>
          <p:cNvSpPr txBox="1"/>
          <p:nvPr/>
        </p:nvSpPr>
        <p:spPr>
          <a:xfrm>
            <a:off x="3735917" y="1672737"/>
            <a:ext cx="1283813" cy="33855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zh-CN" sz="1600" dirty="0"/>
              <a:t>Hooke’s law</a:t>
            </a:r>
            <a:endParaRPr lang="zh-CN" altLang="en-US" sz="1600" dirty="0"/>
          </a:p>
        </p:txBody>
      </p:sp>
      <p:sp>
        <p:nvSpPr>
          <p:cNvPr id="68" name="文本框 67">
            <a:extLst>
              <a:ext uri="{FF2B5EF4-FFF2-40B4-BE49-F238E27FC236}">
                <a16:creationId xmlns:a16="http://schemas.microsoft.com/office/drawing/2014/main" id="{1013E778-25FD-47FE-80D5-97C81867554C}"/>
              </a:ext>
            </a:extLst>
          </p:cNvPr>
          <p:cNvSpPr txBox="1"/>
          <p:nvPr/>
        </p:nvSpPr>
        <p:spPr>
          <a:xfrm>
            <a:off x="3632661" y="2242122"/>
            <a:ext cx="22698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The equation of motion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69" name="对象 68">
            <a:extLst>
              <a:ext uri="{FF2B5EF4-FFF2-40B4-BE49-F238E27FC236}">
                <a16:creationId xmlns:a16="http://schemas.microsoft.com/office/drawing/2014/main" id="{72ED0E8A-C3D4-4CE6-8C1E-7AF492500E1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07987062"/>
              </p:ext>
            </p:extLst>
          </p:nvPr>
        </p:nvGraphicFramePr>
        <p:xfrm>
          <a:off x="5019730" y="2571388"/>
          <a:ext cx="2065338" cy="471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841400" imgH="419040" progId="">
                  <p:embed/>
                </p:oleObj>
              </mc:Choice>
              <mc:Fallback>
                <p:oleObj name="Equation" r:id="rId5" imgW="1841400" imgH="419040" progId="">
                  <p:embed/>
                  <p:pic>
                    <p:nvPicPr>
                      <p:cNvPr id="69" name="对象 68">
                        <a:extLst>
                          <a:ext uri="{FF2B5EF4-FFF2-40B4-BE49-F238E27FC236}">
                            <a16:creationId xmlns:a16="http://schemas.microsoft.com/office/drawing/2014/main" id="{72ED0E8A-C3D4-4CE6-8C1E-7AF492500E1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19730" y="2571388"/>
                        <a:ext cx="2065338" cy="4714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0" name="对象 69">
            <a:extLst>
              <a:ext uri="{FF2B5EF4-FFF2-40B4-BE49-F238E27FC236}">
                <a16:creationId xmlns:a16="http://schemas.microsoft.com/office/drawing/2014/main" id="{797B469F-152D-4A02-90ED-4409CC664DF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42216698"/>
              </p:ext>
            </p:extLst>
          </p:nvPr>
        </p:nvGraphicFramePr>
        <p:xfrm>
          <a:off x="3833813" y="3127375"/>
          <a:ext cx="969962" cy="471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863280" imgH="419040" progId="">
                  <p:embed/>
                </p:oleObj>
              </mc:Choice>
              <mc:Fallback>
                <p:oleObj name="Equation" r:id="rId7" imgW="863280" imgH="419040" progId="">
                  <p:embed/>
                  <p:pic>
                    <p:nvPicPr>
                      <p:cNvPr id="70" name="对象 69">
                        <a:extLst>
                          <a:ext uri="{FF2B5EF4-FFF2-40B4-BE49-F238E27FC236}">
                            <a16:creationId xmlns:a16="http://schemas.microsoft.com/office/drawing/2014/main" id="{797B469F-152D-4A02-90ED-4409CC664DF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33813" y="3127375"/>
                        <a:ext cx="969962" cy="4714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" name="对象 70">
            <a:extLst>
              <a:ext uri="{FF2B5EF4-FFF2-40B4-BE49-F238E27FC236}">
                <a16:creationId xmlns:a16="http://schemas.microsoft.com/office/drawing/2014/main" id="{D918E8A3-5E3C-4548-8F6F-21CC3268B52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55083305"/>
              </p:ext>
            </p:extLst>
          </p:nvPr>
        </p:nvGraphicFramePr>
        <p:xfrm>
          <a:off x="4991100" y="3219450"/>
          <a:ext cx="2122488" cy="285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892160" imgH="253800" progId="">
                  <p:embed/>
                </p:oleObj>
              </mc:Choice>
              <mc:Fallback>
                <p:oleObj name="Equation" r:id="rId9" imgW="1892160" imgH="253800" progId="">
                  <p:embed/>
                  <p:pic>
                    <p:nvPicPr>
                      <p:cNvPr id="71" name="对象 70">
                        <a:extLst>
                          <a:ext uri="{FF2B5EF4-FFF2-40B4-BE49-F238E27FC236}">
                            <a16:creationId xmlns:a16="http://schemas.microsoft.com/office/drawing/2014/main" id="{D918E8A3-5E3C-4548-8F6F-21CC3268B52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91100" y="3219450"/>
                        <a:ext cx="2122488" cy="2857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2" name="文本框 71">
            <a:extLst>
              <a:ext uri="{FF2B5EF4-FFF2-40B4-BE49-F238E27FC236}">
                <a16:creationId xmlns:a16="http://schemas.microsoft.com/office/drawing/2014/main" id="{A10A8F27-50C7-4A10-8C63-43B5B6C99963}"/>
              </a:ext>
            </a:extLst>
          </p:cNvPr>
          <p:cNvSpPr txBox="1"/>
          <p:nvPr/>
        </p:nvSpPr>
        <p:spPr>
          <a:xfrm>
            <a:off x="3632661" y="3784460"/>
            <a:ext cx="9012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Solution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73" name="对象 72">
            <a:extLst>
              <a:ext uri="{FF2B5EF4-FFF2-40B4-BE49-F238E27FC236}">
                <a16:creationId xmlns:a16="http://schemas.microsoft.com/office/drawing/2014/main" id="{8DF62C75-0F5B-463F-87B2-D7C20979325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01695627"/>
              </p:ext>
            </p:extLst>
          </p:nvPr>
        </p:nvGraphicFramePr>
        <p:xfrm>
          <a:off x="5036335" y="3963112"/>
          <a:ext cx="1636712" cy="314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460160" imgH="279360" progId="">
                  <p:embed/>
                </p:oleObj>
              </mc:Choice>
              <mc:Fallback>
                <p:oleObj name="Equation" r:id="rId11" imgW="1460160" imgH="279360" progId="">
                  <p:embed/>
                  <p:pic>
                    <p:nvPicPr>
                      <p:cNvPr id="73" name="对象 72">
                        <a:extLst>
                          <a:ext uri="{FF2B5EF4-FFF2-40B4-BE49-F238E27FC236}">
                            <a16:creationId xmlns:a16="http://schemas.microsoft.com/office/drawing/2014/main" id="{8DF62C75-0F5B-463F-87B2-D7C20979325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36335" y="3963112"/>
                        <a:ext cx="1636712" cy="3143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" name="对象 73">
            <a:extLst>
              <a:ext uri="{FF2B5EF4-FFF2-40B4-BE49-F238E27FC236}">
                <a16:creationId xmlns:a16="http://schemas.microsoft.com/office/drawing/2014/main" id="{E3E6081F-FC88-45CC-A24B-F2BE0841F5C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23755717"/>
              </p:ext>
            </p:extLst>
          </p:nvPr>
        </p:nvGraphicFramePr>
        <p:xfrm>
          <a:off x="4599092" y="4735721"/>
          <a:ext cx="2663825" cy="285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2374560" imgH="253800" progId="">
                  <p:embed/>
                </p:oleObj>
              </mc:Choice>
              <mc:Fallback>
                <p:oleObj name="Equation" r:id="rId13" imgW="2374560" imgH="253800" progId="">
                  <p:embed/>
                  <p:pic>
                    <p:nvPicPr>
                      <p:cNvPr id="74" name="对象 73">
                        <a:extLst>
                          <a:ext uri="{FF2B5EF4-FFF2-40B4-BE49-F238E27FC236}">
                            <a16:creationId xmlns:a16="http://schemas.microsoft.com/office/drawing/2014/main" id="{E3E6081F-FC88-45CC-A24B-F2BE0841F5C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99092" y="4735721"/>
                        <a:ext cx="2663825" cy="2857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5" name="文本框 74">
            <a:extLst>
              <a:ext uri="{FF2B5EF4-FFF2-40B4-BE49-F238E27FC236}">
                <a16:creationId xmlns:a16="http://schemas.microsoft.com/office/drawing/2014/main" id="{35BFB729-CD74-4E8C-B001-1AC53E3A68DA}"/>
              </a:ext>
            </a:extLst>
          </p:cNvPr>
          <p:cNvSpPr txBox="1"/>
          <p:nvPr/>
        </p:nvSpPr>
        <p:spPr>
          <a:xfrm>
            <a:off x="3668849" y="4342897"/>
            <a:ext cx="22698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The equation of motion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6" name="文本框 75">
            <a:extLst>
              <a:ext uri="{FF2B5EF4-FFF2-40B4-BE49-F238E27FC236}">
                <a16:creationId xmlns:a16="http://schemas.microsoft.com/office/drawing/2014/main" id="{BD2E8901-B11F-4CEB-9AB6-E9DBF41C17A2}"/>
              </a:ext>
            </a:extLst>
          </p:cNvPr>
          <p:cNvSpPr txBox="1"/>
          <p:nvPr/>
        </p:nvSpPr>
        <p:spPr>
          <a:xfrm>
            <a:off x="3632661" y="5115134"/>
            <a:ext cx="21535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The dispersion relation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77" name="对象 76">
            <a:extLst>
              <a:ext uri="{FF2B5EF4-FFF2-40B4-BE49-F238E27FC236}">
                <a16:creationId xmlns:a16="http://schemas.microsoft.com/office/drawing/2014/main" id="{930E61A8-7A2F-475D-A5E3-CCADFB33DB6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33731240"/>
              </p:ext>
            </p:extLst>
          </p:nvPr>
        </p:nvGraphicFramePr>
        <p:xfrm>
          <a:off x="4599092" y="5488371"/>
          <a:ext cx="1822450" cy="285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1625400" imgH="253800" progId="">
                  <p:embed/>
                </p:oleObj>
              </mc:Choice>
              <mc:Fallback>
                <p:oleObj name="Equation" r:id="rId15" imgW="1625400" imgH="253800" progId="">
                  <p:embed/>
                  <p:pic>
                    <p:nvPicPr>
                      <p:cNvPr id="77" name="对象 76">
                        <a:extLst>
                          <a:ext uri="{FF2B5EF4-FFF2-40B4-BE49-F238E27FC236}">
                            <a16:creationId xmlns:a16="http://schemas.microsoft.com/office/drawing/2014/main" id="{930E61A8-7A2F-475D-A5E3-CCADFB33DB6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99092" y="5488371"/>
                        <a:ext cx="1822450" cy="2857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8" name="对象 77">
            <a:extLst>
              <a:ext uri="{FF2B5EF4-FFF2-40B4-BE49-F238E27FC236}">
                <a16:creationId xmlns:a16="http://schemas.microsoft.com/office/drawing/2014/main" id="{0F862C09-D09F-4C7A-9944-BF059349DFE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02989395"/>
              </p:ext>
            </p:extLst>
          </p:nvPr>
        </p:nvGraphicFramePr>
        <p:xfrm>
          <a:off x="4624571" y="5927806"/>
          <a:ext cx="1323975" cy="500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1180800" imgH="444240" progId="">
                  <p:embed/>
                </p:oleObj>
              </mc:Choice>
              <mc:Fallback>
                <p:oleObj name="Equation" r:id="rId17" imgW="1180800" imgH="444240" progId="">
                  <p:embed/>
                  <p:pic>
                    <p:nvPicPr>
                      <p:cNvPr id="78" name="对象 77">
                        <a:extLst>
                          <a:ext uri="{FF2B5EF4-FFF2-40B4-BE49-F238E27FC236}">
                            <a16:creationId xmlns:a16="http://schemas.microsoft.com/office/drawing/2014/main" id="{0F862C09-D09F-4C7A-9944-BF059349DFE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24571" y="5927806"/>
                        <a:ext cx="1323975" cy="500062"/>
                      </a:xfrm>
                      <a:prstGeom prst="rect">
                        <a:avLst/>
                      </a:prstGeom>
                      <a:solidFill>
                        <a:srgbClr val="FFF2CC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79" name="文本框 78">
            <a:extLst>
              <a:ext uri="{FF2B5EF4-FFF2-40B4-BE49-F238E27FC236}">
                <a16:creationId xmlns:a16="http://schemas.microsoft.com/office/drawing/2014/main" id="{2776AB7E-4029-4832-A6A7-5F0BE0F50797}"/>
              </a:ext>
            </a:extLst>
          </p:cNvPr>
          <p:cNvSpPr txBox="1"/>
          <p:nvPr/>
        </p:nvSpPr>
        <p:spPr>
          <a:xfrm>
            <a:off x="163633" y="6224172"/>
            <a:ext cx="40268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/>
              <a:t>G. Kittle, Introduction to Solid State Physics, Wiley, 2005</a:t>
            </a:r>
            <a:endParaRPr lang="zh-CN" altLang="en-US" sz="1200" dirty="0"/>
          </a:p>
        </p:txBody>
      </p:sp>
    </p:spTree>
    <p:extLst>
      <p:ext uri="{BB962C8B-B14F-4D97-AF65-F5344CB8AC3E}">
        <p14:creationId xmlns:p14="http://schemas.microsoft.com/office/powerpoint/2010/main" val="260133438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683F97D5-1953-4EF5-86AF-E7C80A0E7E1D}"/>
              </a:ext>
            </a:extLst>
          </p:cNvPr>
          <p:cNvSpPr txBox="1"/>
          <p:nvPr/>
        </p:nvSpPr>
        <p:spPr>
          <a:xfrm>
            <a:off x="2373122" y="88330"/>
            <a:ext cx="405591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Density of states</a:t>
            </a:r>
            <a:endParaRPr lang="zh-CN" altLang="en-US" sz="24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ctr"/>
            <a:r>
              <a:rPr lang="en-US" altLang="zh-CN" sz="2400" dirty="0">
                <a:solidFill>
                  <a:srgbClr val="FF0000"/>
                </a:solidFill>
              </a:rPr>
              <a:t>with sine dispersion relation</a:t>
            </a:r>
            <a:r>
              <a:rPr lang="en-US" altLang="zh-CN" sz="2400" dirty="0"/>
              <a:t> </a:t>
            </a:r>
            <a:endParaRPr lang="zh-CN" altLang="en-US" sz="2400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68100F4E-9B5C-4EE1-BA05-3C6E92CDE5FD}"/>
              </a:ext>
            </a:extLst>
          </p:cNvPr>
          <p:cNvSpPr txBox="1"/>
          <p:nvPr/>
        </p:nvSpPr>
        <p:spPr>
          <a:xfrm>
            <a:off x="1305098" y="922713"/>
            <a:ext cx="600813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Assuming that the phonons of three –dimensional crystal obey the following isotopic dispersion relationship  </a:t>
            </a:r>
            <a:endParaRPr lang="zh-CN" altLang="en-US" dirty="0"/>
          </a:p>
        </p:txBody>
      </p:sp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40091DF6-9911-4EE9-B61F-9E8E0D2D3CF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98705321"/>
              </p:ext>
            </p:extLst>
          </p:nvPr>
        </p:nvGraphicFramePr>
        <p:xfrm>
          <a:off x="3739096" y="1634020"/>
          <a:ext cx="1323975" cy="500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180800" imgH="444240" progId="">
                  <p:embed/>
                </p:oleObj>
              </mc:Choice>
              <mc:Fallback>
                <p:oleObj name="Equation" r:id="rId3" imgW="1180800" imgH="444240" progId="">
                  <p:embed/>
                  <p:pic>
                    <p:nvPicPr>
                      <p:cNvPr id="13" name="对象 12">
                        <a:extLst>
                          <a:ext uri="{FF2B5EF4-FFF2-40B4-BE49-F238E27FC236}">
                            <a16:creationId xmlns:a16="http://schemas.microsoft.com/office/drawing/2014/main" id="{40091DF6-9911-4EE9-B61F-9E8E0D2D3CF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39096" y="1634020"/>
                        <a:ext cx="1323975" cy="500062"/>
                      </a:xfrm>
                      <a:prstGeom prst="rect">
                        <a:avLst/>
                      </a:prstGeom>
                      <a:solidFill>
                        <a:srgbClr val="FFF2CC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>
            <a:extLst>
              <a:ext uri="{FF2B5EF4-FFF2-40B4-BE49-F238E27FC236}">
                <a16:creationId xmlns:a16="http://schemas.microsoft.com/office/drawing/2014/main" id="{9565631D-C4A7-4894-8655-66656A80786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01635717"/>
              </p:ext>
            </p:extLst>
          </p:nvPr>
        </p:nvGraphicFramePr>
        <p:xfrm>
          <a:off x="1466997" y="2972541"/>
          <a:ext cx="1908175" cy="44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701720" imgH="393480" progId="">
                  <p:embed/>
                </p:oleObj>
              </mc:Choice>
              <mc:Fallback>
                <p:oleObj name="Equation" r:id="rId5" imgW="1701720" imgH="393480" progId="">
                  <p:embed/>
                  <p:pic>
                    <p:nvPicPr>
                      <p:cNvPr id="14" name="对象 13">
                        <a:extLst>
                          <a:ext uri="{FF2B5EF4-FFF2-40B4-BE49-F238E27FC236}">
                            <a16:creationId xmlns:a16="http://schemas.microsoft.com/office/drawing/2014/main" id="{9565631D-C4A7-4894-8655-66656A80786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66997" y="2972541"/>
                        <a:ext cx="1908175" cy="4429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文本框 14">
            <a:extLst>
              <a:ext uri="{FF2B5EF4-FFF2-40B4-BE49-F238E27FC236}">
                <a16:creationId xmlns:a16="http://schemas.microsoft.com/office/drawing/2014/main" id="{190D217D-B7BE-49DC-BC6D-8748183A117D}"/>
              </a:ext>
            </a:extLst>
          </p:cNvPr>
          <p:cNvSpPr txBox="1"/>
          <p:nvPr/>
        </p:nvSpPr>
        <p:spPr>
          <a:xfrm>
            <a:off x="621435" y="2386120"/>
            <a:ext cx="22443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The density of states</a:t>
            </a:r>
            <a:endParaRPr lang="zh-CN" altLang="en-US" sz="14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6132ED20-A2C1-42F8-B227-CAE6A6FF650D}"/>
              </a:ext>
            </a:extLst>
          </p:cNvPr>
          <p:cNvSpPr txBox="1"/>
          <p:nvPr/>
        </p:nvSpPr>
        <p:spPr>
          <a:xfrm>
            <a:off x="4572000" y="5342977"/>
            <a:ext cx="335482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From the sine dispersion relation 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7" name="对象 16">
            <a:extLst>
              <a:ext uri="{FF2B5EF4-FFF2-40B4-BE49-F238E27FC236}">
                <a16:creationId xmlns:a16="http://schemas.microsoft.com/office/drawing/2014/main" id="{897249E7-CE3D-429C-8A27-649DF32FC84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6494477"/>
              </p:ext>
            </p:extLst>
          </p:nvPr>
        </p:nvGraphicFramePr>
        <p:xfrm>
          <a:off x="4376343" y="5812576"/>
          <a:ext cx="1765300" cy="528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574640" imgH="469800" progId="">
                  <p:embed/>
                </p:oleObj>
              </mc:Choice>
              <mc:Fallback>
                <p:oleObj name="Equation" r:id="rId7" imgW="1574640" imgH="469800" progId="">
                  <p:embed/>
                  <p:pic>
                    <p:nvPicPr>
                      <p:cNvPr id="17" name="对象 16">
                        <a:extLst>
                          <a:ext uri="{FF2B5EF4-FFF2-40B4-BE49-F238E27FC236}">
                            <a16:creationId xmlns:a16="http://schemas.microsoft.com/office/drawing/2014/main" id="{897249E7-CE3D-429C-8A27-649DF32FC84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76343" y="5812576"/>
                        <a:ext cx="1765300" cy="5286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文本框 17">
            <a:extLst>
              <a:ext uri="{FF2B5EF4-FFF2-40B4-BE49-F238E27FC236}">
                <a16:creationId xmlns:a16="http://schemas.microsoft.com/office/drawing/2014/main" id="{4BB3D2A2-D999-42A6-A248-DEC4EBAFF55A}"/>
              </a:ext>
            </a:extLst>
          </p:cNvPr>
          <p:cNvSpPr txBox="1"/>
          <p:nvPr/>
        </p:nvSpPr>
        <p:spPr>
          <a:xfrm>
            <a:off x="4742914" y="2370915"/>
            <a:ext cx="22988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The number of states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20" name="对象 19">
            <a:extLst>
              <a:ext uri="{FF2B5EF4-FFF2-40B4-BE49-F238E27FC236}">
                <a16:creationId xmlns:a16="http://schemas.microsoft.com/office/drawing/2014/main" id="{A9DE7922-7EF7-458E-9CB8-CDFE36A00E6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34013779"/>
              </p:ext>
            </p:extLst>
          </p:nvPr>
        </p:nvGraphicFramePr>
        <p:xfrm>
          <a:off x="5727285" y="2787897"/>
          <a:ext cx="939800" cy="44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838080" imgH="393480" progId="">
                  <p:embed/>
                </p:oleObj>
              </mc:Choice>
              <mc:Fallback>
                <p:oleObj name="Equation" r:id="rId9" imgW="838080" imgH="393480" progId="">
                  <p:embed/>
                  <p:pic>
                    <p:nvPicPr>
                      <p:cNvPr id="20" name="对象 19">
                        <a:extLst>
                          <a:ext uri="{FF2B5EF4-FFF2-40B4-BE49-F238E27FC236}">
                            <a16:creationId xmlns:a16="http://schemas.microsoft.com/office/drawing/2014/main" id="{A9DE7922-7EF7-458E-9CB8-CDFE36A00E6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27285" y="2787897"/>
                        <a:ext cx="939800" cy="4429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" name="对象 42">
            <a:extLst>
              <a:ext uri="{FF2B5EF4-FFF2-40B4-BE49-F238E27FC236}">
                <a16:creationId xmlns:a16="http://schemas.microsoft.com/office/drawing/2014/main" id="{7BFBE1A3-3765-43F5-91B7-C0336CD4CC4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79121287"/>
              </p:ext>
            </p:extLst>
          </p:nvPr>
        </p:nvGraphicFramePr>
        <p:xfrm>
          <a:off x="1389209" y="3728252"/>
          <a:ext cx="2063750" cy="44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841400" imgH="393480" progId="">
                  <p:embed/>
                </p:oleObj>
              </mc:Choice>
              <mc:Fallback>
                <p:oleObj name="Equation" r:id="rId11" imgW="1841400" imgH="393480" progId="">
                  <p:embed/>
                  <p:pic>
                    <p:nvPicPr>
                      <p:cNvPr id="43" name="对象 42">
                        <a:extLst>
                          <a:ext uri="{FF2B5EF4-FFF2-40B4-BE49-F238E27FC236}">
                            <a16:creationId xmlns:a16="http://schemas.microsoft.com/office/drawing/2014/main" id="{7BFBE1A3-3765-43F5-91B7-C0336CD4CC4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89209" y="3728252"/>
                        <a:ext cx="2063750" cy="4429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" name="对象 44">
            <a:extLst>
              <a:ext uri="{FF2B5EF4-FFF2-40B4-BE49-F238E27FC236}">
                <a16:creationId xmlns:a16="http://schemas.microsoft.com/office/drawing/2014/main" id="{B02CFA3A-E880-4556-B126-2F7D471FC18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24790702"/>
              </p:ext>
            </p:extLst>
          </p:nvPr>
        </p:nvGraphicFramePr>
        <p:xfrm>
          <a:off x="6307074" y="3640113"/>
          <a:ext cx="639763" cy="442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571320" imgH="393480" progId="">
                  <p:embed/>
                </p:oleObj>
              </mc:Choice>
              <mc:Fallback>
                <p:oleObj name="Equation" r:id="rId13" imgW="571320" imgH="393480" progId="">
                  <p:embed/>
                  <p:pic>
                    <p:nvPicPr>
                      <p:cNvPr id="45" name="对象 44">
                        <a:extLst>
                          <a:ext uri="{FF2B5EF4-FFF2-40B4-BE49-F238E27FC236}">
                            <a16:creationId xmlns:a16="http://schemas.microsoft.com/office/drawing/2014/main" id="{B02CFA3A-E880-4556-B126-2F7D471FC18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07074" y="3640113"/>
                        <a:ext cx="639763" cy="4429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文本框 5">
            <a:extLst>
              <a:ext uri="{FF2B5EF4-FFF2-40B4-BE49-F238E27FC236}">
                <a16:creationId xmlns:a16="http://schemas.microsoft.com/office/drawing/2014/main" id="{38A7D8C5-70A4-4B1B-8DE3-2F2D9192640F}"/>
              </a:ext>
            </a:extLst>
          </p:cNvPr>
          <p:cNvSpPr txBox="1"/>
          <p:nvPr/>
        </p:nvSpPr>
        <p:spPr>
          <a:xfrm>
            <a:off x="5116028" y="3735750"/>
            <a:ext cx="116570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/>
              <a:t>Group velocity</a:t>
            </a:r>
            <a:endParaRPr lang="zh-CN" altLang="en-US" sz="1200" dirty="0"/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A59FA242-9D8C-4814-AED4-560C19762AE6}"/>
              </a:ext>
            </a:extLst>
          </p:cNvPr>
          <p:cNvSpPr txBox="1"/>
          <p:nvPr/>
        </p:nvSpPr>
        <p:spPr>
          <a:xfrm>
            <a:off x="5091180" y="4180308"/>
            <a:ext cx="11737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/>
              <a:t>Phase velocity</a:t>
            </a:r>
            <a:endParaRPr lang="zh-CN" altLang="en-US" sz="1200" dirty="0"/>
          </a:p>
        </p:txBody>
      </p:sp>
      <p:graphicFrame>
        <p:nvGraphicFramePr>
          <p:cNvPr id="47" name="对象 46">
            <a:extLst>
              <a:ext uri="{FF2B5EF4-FFF2-40B4-BE49-F238E27FC236}">
                <a16:creationId xmlns:a16="http://schemas.microsoft.com/office/drawing/2014/main" id="{AA068C70-0C46-45F5-8132-807C72F6E2C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47286702"/>
              </p:ext>
            </p:extLst>
          </p:nvPr>
        </p:nvGraphicFramePr>
        <p:xfrm>
          <a:off x="6300915" y="4096746"/>
          <a:ext cx="654050" cy="44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583920" imgH="393480" progId="">
                  <p:embed/>
                </p:oleObj>
              </mc:Choice>
              <mc:Fallback>
                <p:oleObj name="Equation" r:id="rId15" imgW="583920" imgH="393480" progId="">
                  <p:embed/>
                  <p:pic>
                    <p:nvPicPr>
                      <p:cNvPr id="47" name="对象 46">
                        <a:extLst>
                          <a:ext uri="{FF2B5EF4-FFF2-40B4-BE49-F238E27FC236}">
                            <a16:creationId xmlns:a16="http://schemas.microsoft.com/office/drawing/2014/main" id="{AA068C70-0C46-45F5-8132-807C72F6E2C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00915" y="4096746"/>
                        <a:ext cx="654050" cy="4429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" name="对象 47">
            <a:extLst>
              <a:ext uri="{FF2B5EF4-FFF2-40B4-BE49-F238E27FC236}">
                <a16:creationId xmlns:a16="http://schemas.microsoft.com/office/drawing/2014/main" id="{16597F13-F99F-4925-81AD-EBD1F5FE35E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09688085"/>
              </p:ext>
            </p:extLst>
          </p:nvPr>
        </p:nvGraphicFramePr>
        <p:xfrm>
          <a:off x="6383465" y="4587284"/>
          <a:ext cx="511175" cy="500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457200" imgH="444240" progId="">
                  <p:embed/>
                </p:oleObj>
              </mc:Choice>
              <mc:Fallback>
                <p:oleObj name="Equation" r:id="rId17" imgW="457200" imgH="444240" progId="">
                  <p:embed/>
                  <p:pic>
                    <p:nvPicPr>
                      <p:cNvPr id="48" name="对象 47">
                        <a:extLst>
                          <a:ext uri="{FF2B5EF4-FFF2-40B4-BE49-F238E27FC236}">
                            <a16:creationId xmlns:a16="http://schemas.microsoft.com/office/drawing/2014/main" id="{16597F13-F99F-4925-81AD-EBD1F5FE35E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83465" y="4587284"/>
                        <a:ext cx="511175" cy="5000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" name="对象 49">
            <a:extLst>
              <a:ext uri="{FF2B5EF4-FFF2-40B4-BE49-F238E27FC236}">
                <a16:creationId xmlns:a16="http://schemas.microsoft.com/office/drawing/2014/main" id="{9FC1A7D1-7D71-473B-B938-815080AAD3F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63535714"/>
              </p:ext>
            </p:extLst>
          </p:nvPr>
        </p:nvGraphicFramePr>
        <p:xfrm>
          <a:off x="1430847" y="4449809"/>
          <a:ext cx="1552575" cy="528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1384200" imgH="469800" progId="">
                  <p:embed/>
                </p:oleObj>
              </mc:Choice>
              <mc:Fallback>
                <p:oleObj name="Equation" r:id="rId19" imgW="1384200" imgH="469800" progId="">
                  <p:embed/>
                  <p:pic>
                    <p:nvPicPr>
                      <p:cNvPr id="50" name="对象 49">
                        <a:extLst>
                          <a:ext uri="{FF2B5EF4-FFF2-40B4-BE49-F238E27FC236}">
                            <a16:creationId xmlns:a16="http://schemas.microsoft.com/office/drawing/2014/main" id="{9FC1A7D1-7D71-473B-B938-815080AAD3F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30847" y="4449809"/>
                        <a:ext cx="1552575" cy="528637"/>
                      </a:xfrm>
                      <a:prstGeom prst="rect">
                        <a:avLst/>
                      </a:prstGeom>
                      <a:solidFill>
                        <a:srgbClr val="E2F0D9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" name="文本框 50">
            <a:extLst>
              <a:ext uri="{FF2B5EF4-FFF2-40B4-BE49-F238E27FC236}">
                <a16:creationId xmlns:a16="http://schemas.microsoft.com/office/drawing/2014/main" id="{548B82E2-F1C0-4D76-AAC6-326716C9013B}"/>
              </a:ext>
            </a:extLst>
          </p:cNvPr>
          <p:cNvSpPr txBox="1"/>
          <p:nvPr/>
        </p:nvSpPr>
        <p:spPr>
          <a:xfrm>
            <a:off x="492804" y="5333327"/>
            <a:ext cx="340291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From the line dispersion relation 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52" name="对象 51">
            <a:extLst>
              <a:ext uri="{FF2B5EF4-FFF2-40B4-BE49-F238E27FC236}">
                <a16:creationId xmlns:a16="http://schemas.microsoft.com/office/drawing/2014/main" id="{F6E3CD91-5C88-4317-BEF2-CBA6326467F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85748578"/>
              </p:ext>
            </p:extLst>
          </p:nvPr>
        </p:nvGraphicFramePr>
        <p:xfrm>
          <a:off x="812109" y="5930323"/>
          <a:ext cx="825500" cy="271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736560" imgH="241200" progId="">
                  <p:embed/>
                </p:oleObj>
              </mc:Choice>
              <mc:Fallback>
                <p:oleObj name="Equation" r:id="rId21" imgW="736560" imgH="241200" progId="">
                  <p:embed/>
                  <p:pic>
                    <p:nvPicPr>
                      <p:cNvPr id="52" name="对象 51">
                        <a:extLst>
                          <a:ext uri="{FF2B5EF4-FFF2-40B4-BE49-F238E27FC236}">
                            <a16:creationId xmlns:a16="http://schemas.microsoft.com/office/drawing/2014/main" id="{F6E3CD91-5C88-4317-BEF2-CBA6326467F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2109" y="5930323"/>
                        <a:ext cx="825500" cy="2714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" name="对象 52">
            <a:extLst>
              <a:ext uri="{FF2B5EF4-FFF2-40B4-BE49-F238E27FC236}">
                <a16:creationId xmlns:a16="http://schemas.microsoft.com/office/drawing/2014/main" id="{6828EA09-85D1-47A6-AC5E-B54210C976B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00067124"/>
              </p:ext>
            </p:extLst>
          </p:nvPr>
        </p:nvGraphicFramePr>
        <p:xfrm>
          <a:off x="2314575" y="5830888"/>
          <a:ext cx="1295400" cy="471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3" imgW="1155600" imgH="419040" progId="">
                  <p:embed/>
                </p:oleObj>
              </mc:Choice>
              <mc:Fallback>
                <p:oleObj name="Equation" r:id="rId23" imgW="1155600" imgH="419040" progId="">
                  <p:embed/>
                  <p:pic>
                    <p:nvPicPr>
                      <p:cNvPr id="53" name="对象 52">
                        <a:extLst>
                          <a:ext uri="{FF2B5EF4-FFF2-40B4-BE49-F238E27FC236}">
                            <a16:creationId xmlns:a16="http://schemas.microsoft.com/office/drawing/2014/main" id="{6828EA09-85D1-47A6-AC5E-B54210C976B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14575" y="5830888"/>
                        <a:ext cx="1295400" cy="471487"/>
                      </a:xfrm>
                      <a:prstGeom prst="rect">
                        <a:avLst/>
                      </a:prstGeom>
                      <a:solidFill>
                        <a:srgbClr val="E2F0D9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2A12FA6C-3BBC-2365-1D6D-B2E6A5E680F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46417783"/>
              </p:ext>
            </p:extLst>
          </p:nvPr>
        </p:nvGraphicFramePr>
        <p:xfrm>
          <a:off x="6694538" y="5812577"/>
          <a:ext cx="1552575" cy="528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1384200" imgH="469800" progId="">
                  <p:embed/>
                </p:oleObj>
              </mc:Choice>
              <mc:Fallback>
                <p:oleObj name="Equation" r:id="rId19" imgW="1384200" imgH="469800" progId="">
                  <p:embed/>
                  <p:pic>
                    <p:nvPicPr>
                      <p:cNvPr id="2" name="对象 1">
                        <a:extLst>
                          <a:ext uri="{FF2B5EF4-FFF2-40B4-BE49-F238E27FC236}">
                            <a16:creationId xmlns:a16="http://schemas.microsoft.com/office/drawing/2014/main" id="{2A12FA6C-3BBC-2365-1D6D-B2E6A5E680F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94538" y="5812577"/>
                        <a:ext cx="1552575" cy="528637"/>
                      </a:xfrm>
                      <a:prstGeom prst="rect">
                        <a:avLst/>
                      </a:prstGeom>
                      <a:solidFill>
                        <a:srgbClr val="E2F0D9"/>
                      </a:solidFill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93931091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FAF0003E-3724-4C55-B05F-71536AD3A1D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25821716"/>
              </p:ext>
            </p:extLst>
          </p:nvPr>
        </p:nvGraphicFramePr>
        <p:xfrm>
          <a:off x="4493033" y="2656158"/>
          <a:ext cx="484187" cy="485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31640" imgH="431640" progId="">
                  <p:embed/>
                </p:oleObj>
              </mc:Choice>
              <mc:Fallback>
                <p:oleObj name="Equation" r:id="rId2" imgW="431640" imgH="431640" progId="">
                  <p:embed/>
                  <p:pic>
                    <p:nvPicPr>
                      <p:cNvPr id="2" name="对象 1">
                        <a:extLst>
                          <a:ext uri="{FF2B5EF4-FFF2-40B4-BE49-F238E27FC236}">
                            <a16:creationId xmlns:a16="http://schemas.microsoft.com/office/drawing/2014/main" id="{FAF0003E-3724-4C55-B05F-71536AD3A1D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93033" y="2656158"/>
                        <a:ext cx="484187" cy="4857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6E2D2795-3E85-489A-B06D-F2D7BA554C5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34953549"/>
              </p:ext>
            </p:extLst>
          </p:nvPr>
        </p:nvGraphicFramePr>
        <p:xfrm>
          <a:off x="5764620" y="2624408"/>
          <a:ext cx="1552575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384200" imgH="507960" progId="">
                  <p:embed/>
                </p:oleObj>
              </mc:Choice>
              <mc:Fallback>
                <p:oleObj name="Equation" r:id="rId4" imgW="1384200" imgH="507960" progId="">
                  <p:embed/>
                  <p:pic>
                    <p:nvPicPr>
                      <p:cNvPr id="3" name="对象 2">
                        <a:extLst>
                          <a:ext uri="{FF2B5EF4-FFF2-40B4-BE49-F238E27FC236}">
                            <a16:creationId xmlns:a16="http://schemas.microsoft.com/office/drawing/2014/main" id="{6E2D2795-3E85-489A-B06D-F2D7BA554C5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64620" y="2624408"/>
                        <a:ext cx="1552575" cy="571500"/>
                      </a:xfrm>
                      <a:prstGeom prst="rect">
                        <a:avLst/>
                      </a:prstGeom>
                      <a:solidFill>
                        <a:srgbClr val="FFF2CC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E9BA395E-E71F-4340-8B55-940219AE75E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15131018"/>
              </p:ext>
            </p:extLst>
          </p:nvPr>
        </p:nvGraphicFramePr>
        <p:xfrm>
          <a:off x="987425" y="4022725"/>
          <a:ext cx="2206625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968480" imgH="507960" progId="">
                  <p:embed/>
                </p:oleObj>
              </mc:Choice>
              <mc:Fallback>
                <p:oleObj name="Equation" r:id="rId6" imgW="1968480" imgH="507960" progId="">
                  <p:embed/>
                  <p:pic>
                    <p:nvPicPr>
                      <p:cNvPr id="4" name="对象 3">
                        <a:extLst>
                          <a:ext uri="{FF2B5EF4-FFF2-40B4-BE49-F238E27FC236}">
                            <a16:creationId xmlns:a16="http://schemas.microsoft.com/office/drawing/2014/main" id="{E9BA395E-E71F-4340-8B55-940219AE75E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87425" y="4022725"/>
                        <a:ext cx="2206625" cy="571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箭头: 右 4">
            <a:extLst>
              <a:ext uri="{FF2B5EF4-FFF2-40B4-BE49-F238E27FC236}">
                <a16:creationId xmlns:a16="http://schemas.microsoft.com/office/drawing/2014/main" id="{0078F907-B95A-476A-9756-7C89E2769E5C}"/>
              </a:ext>
            </a:extLst>
          </p:cNvPr>
          <p:cNvSpPr/>
          <p:nvPr/>
        </p:nvSpPr>
        <p:spPr>
          <a:xfrm>
            <a:off x="5188580" y="2801030"/>
            <a:ext cx="398019" cy="219194"/>
          </a:xfrm>
          <a:prstGeom prst="rightArrow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70475D9F-620A-45B6-9D9C-04B5AB5E478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71286835"/>
              </p:ext>
            </p:extLst>
          </p:nvPr>
        </p:nvGraphicFramePr>
        <p:xfrm>
          <a:off x="958086" y="4804945"/>
          <a:ext cx="2520950" cy="1371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247840" imgH="1218960" progId="">
                  <p:embed/>
                </p:oleObj>
              </mc:Choice>
              <mc:Fallback>
                <p:oleObj name="Equation" r:id="rId8" imgW="2247840" imgH="1218960" progId="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70475D9F-620A-45B6-9D9C-04B5AB5E478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58086" y="4804945"/>
                        <a:ext cx="2520950" cy="1371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CD464840-B4B7-49BA-B6BB-00064B2D4AA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67269651"/>
              </p:ext>
            </p:extLst>
          </p:nvPr>
        </p:nvGraphicFramePr>
        <p:xfrm>
          <a:off x="958086" y="1976970"/>
          <a:ext cx="2002618" cy="34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625400" imgH="279360" progId="">
                  <p:embed/>
                </p:oleObj>
              </mc:Choice>
              <mc:Fallback>
                <p:oleObj name="Equation" r:id="rId10" imgW="1625400" imgH="279360" progId="">
                  <p:embed/>
                  <p:pic>
                    <p:nvPicPr>
                      <p:cNvPr id="12" name="对象 11">
                        <a:extLst>
                          <a:ext uri="{FF2B5EF4-FFF2-40B4-BE49-F238E27FC236}">
                            <a16:creationId xmlns:a16="http://schemas.microsoft.com/office/drawing/2014/main" id="{CD464840-B4B7-49BA-B6BB-00064B2D4AA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58086" y="1976970"/>
                        <a:ext cx="2002618" cy="344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文本框 13">
            <a:extLst>
              <a:ext uri="{FF2B5EF4-FFF2-40B4-BE49-F238E27FC236}">
                <a16:creationId xmlns:a16="http://schemas.microsoft.com/office/drawing/2014/main" id="{D3203C4E-B307-4318-9C2E-AD019B9AEA64}"/>
              </a:ext>
            </a:extLst>
          </p:cNvPr>
          <p:cNvSpPr txBox="1"/>
          <p:nvPr/>
        </p:nvSpPr>
        <p:spPr>
          <a:xfrm>
            <a:off x="2373122" y="88330"/>
            <a:ext cx="405591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Heat capacity</a:t>
            </a:r>
            <a:endParaRPr lang="zh-CN" altLang="en-US" sz="24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ctr"/>
            <a:r>
              <a:rPr lang="en-US" altLang="zh-CN" sz="2400" dirty="0">
                <a:solidFill>
                  <a:srgbClr val="FF0000"/>
                </a:solidFill>
              </a:rPr>
              <a:t>with sine dispersion relation</a:t>
            </a:r>
            <a:r>
              <a:rPr lang="en-US" altLang="zh-CN" sz="2400" dirty="0"/>
              <a:t> </a:t>
            </a:r>
            <a:endParaRPr lang="zh-CN" altLang="en-US" sz="2400" dirty="0"/>
          </a:p>
        </p:txBody>
      </p:sp>
      <p:graphicFrame>
        <p:nvGraphicFramePr>
          <p:cNvPr id="16" name="对象 15">
            <a:extLst>
              <a:ext uri="{FF2B5EF4-FFF2-40B4-BE49-F238E27FC236}">
                <a16:creationId xmlns:a16="http://schemas.microsoft.com/office/drawing/2014/main" id="{BD04F05F-53F4-40A2-A0DF-DCC65B2F2C5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83508672"/>
              </p:ext>
            </p:extLst>
          </p:nvPr>
        </p:nvGraphicFramePr>
        <p:xfrm>
          <a:off x="3479036" y="1091659"/>
          <a:ext cx="1323975" cy="500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180800" imgH="444240" progId="">
                  <p:embed/>
                </p:oleObj>
              </mc:Choice>
              <mc:Fallback>
                <p:oleObj name="Equation" r:id="rId12" imgW="1180800" imgH="444240" progId="">
                  <p:embed/>
                  <p:pic>
                    <p:nvPicPr>
                      <p:cNvPr id="16" name="对象 15">
                        <a:extLst>
                          <a:ext uri="{FF2B5EF4-FFF2-40B4-BE49-F238E27FC236}">
                            <a16:creationId xmlns:a16="http://schemas.microsoft.com/office/drawing/2014/main" id="{BD04F05F-53F4-40A2-A0DF-DCC65B2F2C5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79036" y="1091659"/>
                        <a:ext cx="1323975" cy="500062"/>
                      </a:xfrm>
                      <a:prstGeom prst="rect">
                        <a:avLst/>
                      </a:prstGeom>
                      <a:solidFill>
                        <a:srgbClr val="FFF2CC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>
            <a:extLst>
              <a:ext uri="{FF2B5EF4-FFF2-40B4-BE49-F238E27FC236}">
                <a16:creationId xmlns:a16="http://schemas.microsoft.com/office/drawing/2014/main" id="{F97D017E-D6A0-4CA9-90FF-0C47E8D7115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55001065"/>
              </p:ext>
            </p:extLst>
          </p:nvPr>
        </p:nvGraphicFramePr>
        <p:xfrm>
          <a:off x="825639" y="3115469"/>
          <a:ext cx="2419350" cy="627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714320" imgH="444240" progId="">
                  <p:embed/>
                </p:oleObj>
              </mc:Choice>
              <mc:Fallback>
                <p:oleObj name="Equation" r:id="rId14" imgW="1714320" imgH="444240" progId="">
                  <p:embed/>
                  <p:pic>
                    <p:nvPicPr>
                      <p:cNvPr id="17" name="对象 16">
                        <a:extLst>
                          <a:ext uri="{FF2B5EF4-FFF2-40B4-BE49-F238E27FC236}">
                            <a16:creationId xmlns:a16="http://schemas.microsoft.com/office/drawing/2014/main" id="{F97D017E-D6A0-4CA9-90FF-0C47E8D7115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5639" y="3115469"/>
                        <a:ext cx="2419350" cy="6270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17">
            <a:extLst>
              <a:ext uri="{FF2B5EF4-FFF2-40B4-BE49-F238E27FC236}">
                <a16:creationId xmlns:a16="http://schemas.microsoft.com/office/drawing/2014/main" id="{E51B017F-4224-422C-9B31-3315CA6361C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38514275"/>
              </p:ext>
            </p:extLst>
          </p:nvPr>
        </p:nvGraphicFramePr>
        <p:xfrm>
          <a:off x="958086" y="2449812"/>
          <a:ext cx="1552575" cy="528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384200" imgH="469800" progId="">
                  <p:embed/>
                </p:oleObj>
              </mc:Choice>
              <mc:Fallback>
                <p:oleObj name="Equation" r:id="rId16" imgW="1384200" imgH="469800" progId="">
                  <p:embed/>
                  <p:pic>
                    <p:nvPicPr>
                      <p:cNvPr id="18" name="对象 17">
                        <a:extLst>
                          <a:ext uri="{FF2B5EF4-FFF2-40B4-BE49-F238E27FC236}">
                            <a16:creationId xmlns:a16="http://schemas.microsoft.com/office/drawing/2014/main" id="{E51B017F-4224-422C-9B31-3315CA6361C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58086" y="2449812"/>
                        <a:ext cx="1552575" cy="5286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对象 18">
            <a:extLst>
              <a:ext uri="{FF2B5EF4-FFF2-40B4-BE49-F238E27FC236}">
                <a16:creationId xmlns:a16="http://schemas.microsoft.com/office/drawing/2014/main" id="{740A70E3-D594-465B-83BE-0E6AA2F8BD0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02561809"/>
              </p:ext>
            </p:extLst>
          </p:nvPr>
        </p:nvGraphicFramePr>
        <p:xfrm>
          <a:off x="4665276" y="3505394"/>
          <a:ext cx="2198688" cy="611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1739880" imgH="482400" progId="">
                  <p:embed/>
                </p:oleObj>
              </mc:Choice>
              <mc:Fallback>
                <p:oleObj name="Equation" r:id="rId18" imgW="1739880" imgH="482400" progId="">
                  <p:embed/>
                  <p:pic>
                    <p:nvPicPr>
                      <p:cNvPr id="19" name="对象 18">
                        <a:extLst>
                          <a:ext uri="{FF2B5EF4-FFF2-40B4-BE49-F238E27FC236}">
                            <a16:creationId xmlns:a16="http://schemas.microsoft.com/office/drawing/2014/main" id="{740A70E3-D594-465B-83BE-0E6AA2F8BD0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65276" y="3505394"/>
                        <a:ext cx="2198688" cy="6111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对象 19">
            <a:extLst>
              <a:ext uri="{FF2B5EF4-FFF2-40B4-BE49-F238E27FC236}">
                <a16:creationId xmlns:a16="http://schemas.microsoft.com/office/drawing/2014/main" id="{0841AEA8-6F37-436D-B519-C8519A21C1B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5829572"/>
              </p:ext>
            </p:extLst>
          </p:nvPr>
        </p:nvGraphicFramePr>
        <p:xfrm>
          <a:off x="4684325" y="4146908"/>
          <a:ext cx="2505075" cy="554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2184120" imgH="482400" progId="">
                  <p:embed/>
                </p:oleObj>
              </mc:Choice>
              <mc:Fallback>
                <p:oleObj name="Equation" r:id="rId20" imgW="2184120" imgH="482400" progId="">
                  <p:embed/>
                  <p:pic>
                    <p:nvPicPr>
                      <p:cNvPr id="20" name="对象 19">
                        <a:extLst>
                          <a:ext uri="{FF2B5EF4-FFF2-40B4-BE49-F238E27FC236}">
                            <a16:creationId xmlns:a16="http://schemas.microsoft.com/office/drawing/2014/main" id="{0841AEA8-6F37-436D-B519-C8519A21C1B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84325" y="4146908"/>
                        <a:ext cx="2505075" cy="5540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文本框 20">
            <a:extLst>
              <a:ext uri="{FF2B5EF4-FFF2-40B4-BE49-F238E27FC236}">
                <a16:creationId xmlns:a16="http://schemas.microsoft.com/office/drawing/2014/main" id="{5572A504-F938-4A76-B882-7C68585FC2FB}"/>
              </a:ext>
            </a:extLst>
          </p:cNvPr>
          <p:cNvSpPr txBox="1"/>
          <p:nvPr/>
        </p:nvSpPr>
        <p:spPr>
          <a:xfrm>
            <a:off x="4425334" y="2070933"/>
            <a:ext cx="212590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/>
              <a:t>Standing wave condition</a:t>
            </a:r>
            <a:endParaRPr lang="zh-CN" altLang="en-US" sz="1400" dirty="0"/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F878F429-4326-4F8D-A0D0-C63D15080D8D}"/>
              </a:ext>
            </a:extLst>
          </p:cNvPr>
          <p:cNvSpPr/>
          <p:nvPr/>
        </p:nvSpPr>
        <p:spPr>
          <a:xfrm>
            <a:off x="572568" y="1888621"/>
            <a:ext cx="2806813" cy="1253312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23" name="对象 22">
            <a:extLst>
              <a:ext uri="{FF2B5EF4-FFF2-40B4-BE49-F238E27FC236}">
                <a16:creationId xmlns:a16="http://schemas.microsoft.com/office/drawing/2014/main" id="{D442BA66-8165-4A96-9FC9-D8B911EA671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47891994"/>
              </p:ext>
            </p:extLst>
          </p:nvPr>
        </p:nvGraphicFramePr>
        <p:xfrm>
          <a:off x="4684325" y="5762308"/>
          <a:ext cx="1552575" cy="528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1384200" imgH="469800" progId="">
                  <p:embed/>
                </p:oleObj>
              </mc:Choice>
              <mc:Fallback>
                <p:oleObj name="Equation" r:id="rId22" imgW="1384200" imgH="469800" progId="">
                  <p:embed/>
                  <p:pic>
                    <p:nvPicPr>
                      <p:cNvPr id="23" name="对象 22">
                        <a:extLst>
                          <a:ext uri="{FF2B5EF4-FFF2-40B4-BE49-F238E27FC236}">
                            <a16:creationId xmlns:a16="http://schemas.microsoft.com/office/drawing/2014/main" id="{D442BA66-8165-4A96-9FC9-D8B911EA671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84325" y="5762308"/>
                        <a:ext cx="1552575" cy="528637"/>
                      </a:xfrm>
                      <a:prstGeom prst="rect">
                        <a:avLst/>
                      </a:prstGeom>
                      <a:solidFill>
                        <a:srgbClr val="FBE5D6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对象 24">
            <a:extLst>
              <a:ext uri="{FF2B5EF4-FFF2-40B4-BE49-F238E27FC236}">
                <a16:creationId xmlns:a16="http://schemas.microsoft.com/office/drawing/2014/main" id="{986D0273-BE62-4B01-BBB2-A6529EBB0C3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11969681"/>
              </p:ext>
            </p:extLst>
          </p:nvPr>
        </p:nvGraphicFramePr>
        <p:xfrm>
          <a:off x="4684325" y="5123309"/>
          <a:ext cx="2549525" cy="528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3" imgW="2273040" imgH="469800" progId="">
                  <p:embed/>
                </p:oleObj>
              </mc:Choice>
              <mc:Fallback>
                <p:oleObj name="Equation" r:id="rId23" imgW="2273040" imgH="469800" progId="">
                  <p:embed/>
                  <p:pic>
                    <p:nvPicPr>
                      <p:cNvPr id="25" name="对象 24">
                        <a:extLst>
                          <a:ext uri="{FF2B5EF4-FFF2-40B4-BE49-F238E27FC236}">
                            <a16:creationId xmlns:a16="http://schemas.microsoft.com/office/drawing/2014/main" id="{986D0273-BE62-4B01-BBB2-A6529EBB0C3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84325" y="5123309"/>
                        <a:ext cx="2549525" cy="528637"/>
                      </a:xfrm>
                      <a:prstGeom prst="rect">
                        <a:avLst/>
                      </a:prstGeom>
                      <a:solidFill>
                        <a:srgbClr val="FBE5D6"/>
                      </a:solidFill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35134261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圆角矩形 4"/>
          <p:cNvSpPr/>
          <p:nvPr/>
        </p:nvSpPr>
        <p:spPr>
          <a:xfrm>
            <a:off x="5373871" y="1881496"/>
            <a:ext cx="3613746" cy="3905124"/>
          </a:xfrm>
          <a:prstGeom prst="roundRect">
            <a:avLst>
              <a:gd name="adj" fmla="val 2961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/>
        </p:nvGraphicFramePr>
        <p:xfrm>
          <a:off x="5663807" y="2188701"/>
          <a:ext cx="2822235" cy="10664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082600" imgH="787320" progId="">
                  <p:embed/>
                </p:oleObj>
              </mc:Choice>
              <mc:Fallback>
                <p:oleObj name="Equation" r:id="rId3" imgW="2082600" imgH="787320" progId="">
                  <p:embed/>
                  <p:pic>
                    <p:nvPicPr>
                      <p:cNvPr id="2" name="对象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63807" y="2188701"/>
                        <a:ext cx="2822235" cy="106647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727068" y="1389053"/>
            <a:ext cx="19415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Linear dispersion</a:t>
            </a:r>
            <a:endParaRPr lang="zh-CN" altLang="en-US" dirty="0">
              <a:solidFill>
                <a:srgbClr val="FF0000"/>
              </a:solidFill>
            </a:endParaRPr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704663" y="2549947"/>
          <a:ext cx="2971176" cy="67912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222280" imgH="507960" progId="">
                  <p:embed/>
                </p:oleObj>
              </mc:Choice>
              <mc:Fallback>
                <p:oleObj name="Equation" r:id="rId5" imgW="2222280" imgH="507960" progId="">
                  <p:embed/>
                  <p:pic>
                    <p:nvPicPr>
                      <p:cNvPr id="7" name="对象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4663" y="2549947"/>
                        <a:ext cx="2971176" cy="67912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78777" y="1365305"/>
            <a:ext cx="17620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Sine dispersion</a:t>
            </a:r>
            <a:endParaRPr lang="zh-CN" altLang="en-US" dirty="0">
              <a:solidFill>
                <a:srgbClr val="FF0000"/>
              </a:solidFill>
            </a:endParaRPr>
          </a:p>
        </p:txBody>
      </p:sp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82157114"/>
              </p:ext>
            </p:extLst>
          </p:nvPr>
        </p:nvGraphicFramePr>
        <p:xfrm>
          <a:off x="679450" y="3452813"/>
          <a:ext cx="2198688" cy="611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739880" imgH="482400" progId="">
                  <p:embed/>
                </p:oleObj>
              </mc:Choice>
              <mc:Fallback>
                <p:oleObj name="Equation" r:id="rId7" imgW="1739880" imgH="482400" progId="">
                  <p:embed/>
                  <p:pic>
                    <p:nvPicPr>
                      <p:cNvPr id="9" name="对象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9450" y="3452813"/>
                        <a:ext cx="2198688" cy="6111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/>
        </p:nvGraphicFramePr>
        <p:xfrm>
          <a:off x="657225" y="4111625"/>
          <a:ext cx="2505075" cy="554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2184120" imgH="482400" progId="">
                  <p:embed/>
                </p:oleObj>
              </mc:Choice>
              <mc:Fallback>
                <p:oleObj name="Equation" r:id="rId9" imgW="2184120" imgH="482400" progId="">
                  <p:embed/>
                  <p:pic>
                    <p:nvPicPr>
                      <p:cNvPr id="10" name="对象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7225" y="4111625"/>
                        <a:ext cx="2505075" cy="5540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3538263" y="4050628"/>
            <a:ext cx="1159292" cy="3693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zh-CN" dirty="0"/>
              <a:t>as k&lt;&lt; </a:t>
            </a:r>
            <a:r>
              <a:rPr lang="en-US" altLang="zh-CN" dirty="0" err="1"/>
              <a:t>k</a:t>
            </a:r>
            <a:r>
              <a:rPr lang="en-US" altLang="zh-CN" baseline="-25000" dirty="0" err="1"/>
              <a:t>c</a:t>
            </a:r>
            <a:endParaRPr lang="zh-CN" altLang="en-US" dirty="0"/>
          </a:p>
        </p:txBody>
      </p:sp>
      <p:graphicFrame>
        <p:nvGraphicFramePr>
          <p:cNvPr id="13" name="对象 12"/>
          <p:cNvGraphicFramePr>
            <a:graphicFrameLocks noChangeAspect="1"/>
          </p:cNvGraphicFramePr>
          <p:nvPr/>
        </p:nvGraphicFramePr>
        <p:xfrm>
          <a:off x="5727068" y="3553741"/>
          <a:ext cx="1316038" cy="496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041120" imgH="393480" progId="">
                  <p:embed/>
                </p:oleObj>
              </mc:Choice>
              <mc:Fallback>
                <p:oleObj name="Equation" r:id="rId11" imgW="1041120" imgH="393480" progId="">
                  <p:embed/>
                  <p:pic>
                    <p:nvPicPr>
                      <p:cNvPr id="13" name="对象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27068" y="3553741"/>
                        <a:ext cx="1316038" cy="4968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>
            <a:graphicFrameLocks noChangeAspect="1"/>
          </p:cNvGraphicFramePr>
          <p:nvPr/>
        </p:nvGraphicFramePr>
        <p:xfrm>
          <a:off x="5727068" y="4193741"/>
          <a:ext cx="1208087" cy="452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1054080" imgH="393480" progId="">
                  <p:embed/>
                </p:oleObj>
              </mc:Choice>
              <mc:Fallback>
                <p:oleObj name="Equation" r:id="rId13" imgW="1054080" imgH="393480" progId="">
                  <p:embed/>
                  <p:pic>
                    <p:nvPicPr>
                      <p:cNvPr id="14" name="对象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27068" y="4193741"/>
                        <a:ext cx="1208087" cy="4524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/>
          <p:cNvGraphicFramePr>
            <a:graphicFrameLocks noChangeAspect="1"/>
          </p:cNvGraphicFramePr>
          <p:nvPr/>
        </p:nvGraphicFramePr>
        <p:xfrm>
          <a:off x="678777" y="2092232"/>
          <a:ext cx="2002618" cy="34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1625400" imgH="279360" progId="">
                  <p:embed/>
                </p:oleObj>
              </mc:Choice>
              <mc:Fallback>
                <p:oleObj name="Equation" r:id="rId15" imgW="1625400" imgH="279360" progId="">
                  <p:embed/>
                  <p:pic>
                    <p:nvPicPr>
                      <p:cNvPr id="15" name="对象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8777" y="2092232"/>
                        <a:ext cx="2002618" cy="344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8" name="矩形 17"/>
              <p:cNvSpPr/>
              <p:nvPr/>
            </p:nvSpPr>
            <p:spPr>
              <a:xfrm>
                <a:off x="133354" y="4917921"/>
                <a:ext cx="4932380" cy="868699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11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100" b="0" i="1" smtClean="0">
                              <a:latin typeface="Cambria Math"/>
                            </a:rPr>
                            <m:t>𝑐</m:t>
                          </m:r>
                        </m:e>
                        <m:sub>
                          <m:r>
                            <a:rPr lang="en-US" altLang="zh-CN" sz="1100" b="0" i="1" smtClean="0">
                              <a:latin typeface="Cambria Math"/>
                            </a:rPr>
                            <m:t>𝑣</m:t>
                          </m:r>
                          <m:r>
                            <a:rPr lang="en-US" altLang="zh-CN" sz="1100" b="0" i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altLang="zh-CN" sz="1100" b="0" i="0" smtClean="0">
                              <a:latin typeface="Cambria Math" panose="02040503050406030204" pitchFamily="18" charset="0"/>
                            </a:rPr>
                            <m:t>Bvk</m:t>
                          </m:r>
                        </m:sub>
                      </m:sSub>
                      <m:r>
                        <a:rPr lang="zh-CN" altLang="en-US" sz="1100" i="0">
                          <a:latin typeface="Cambria Math" panose="02040503050406030204" pitchFamily="18" charset="0"/>
                        </a:rPr>
                        <m:t>=9</m:t>
                      </m:r>
                      <m:r>
                        <m:rPr>
                          <m:sty m:val="p"/>
                        </m:rPr>
                        <a:rPr lang="zh-CN" altLang="en-US" sz="1100" i="0">
                          <a:latin typeface="Cambria Math" panose="02040503050406030204" pitchFamily="18" charset="0"/>
                        </a:rPr>
                        <m:t>R</m:t>
                      </m:r>
                      <m:f>
                        <m:fPr>
                          <m:ctrlPr>
                            <a:rPr lang="zh-CN" altLang="en-US" sz="11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1100" i="0">
                              <a:latin typeface="Cambria Math" panose="02040503050406030204" pitchFamily="18" charset="0"/>
                            </a:rPr>
                            <m:t>8</m:t>
                          </m:r>
                        </m:num>
                        <m:den>
                          <m:sSup>
                            <m:sSupPr>
                              <m:ctrlPr>
                                <a:rPr lang="zh-CN" altLang="en-US" sz="11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1100" i="1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p>
                              <m:r>
                                <a:rPr lang="zh-CN" altLang="en-US" sz="1100" i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</m:den>
                      </m:f>
                      <m:sSup>
                        <m:sSupPr>
                          <m:ctrlPr>
                            <a:rPr lang="zh-CN" altLang="en-US" sz="11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zh-CN" altLang="en-US" sz="11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zh-CN" altLang="en-US" sz="1100" b="1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zh-CN" altLang="en-US" sz="1100" b="1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𝑻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zh-CN" altLang="en-US" sz="1100" b="1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1100" b="1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𝜽</m:t>
                                      </m:r>
                                    </m:e>
                                    <m:sub>
                                      <m:r>
                                        <a:rPr lang="zh-CN" altLang="en-US" sz="1100" b="1" i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𝐁𝐯𝐊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zh-CN" altLang="en-US" sz="1100" b="1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sup>
                      </m:sSup>
                      <m:nary>
                        <m:naryPr>
                          <m:limLoc m:val="subSup"/>
                          <m:ctrlPr>
                            <a:rPr lang="zh-CN" altLang="en-US" sz="11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1100" i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f>
                            <m:fPr>
                              <m:ctrlPr>
                                <a:rPr lang="zh-CN" altLang="en-US" sz="11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zh-CN" altLang="en-US" sz="11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1100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zh-CN" altLang="en-US" sz="1100" i="0">
                                      <a:latin typeface="Cambria Math" panose="02040503050406030204" pitchFamily="18" charset="0"/>
                                    </a:rPr>
                                    <m:t>BvK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zh-CN" altLang="en-US" sz="11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den>
                          </m:f>
                        </m:sup>
                        <m:e>
                          <m:sSup>
                            <m:sSupPr>
                              <m:ctrlPr>
                                <a:rPr lang="zh-CN" altLang="en-US" sz="11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zh-CN" altLang="en-US" sz="11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zh-CN" altLang="en-US" sz="1100" i="0">
                                      <a:latin typeface="Cambria Math" panose="02040503050406030204" pitchFamily="18" charset="0"/>
                                    </a:rPr>
                                    <m:t>Arcsin</m:t>
                                  </m:r>
                                  <m:r>
                                    <a:rPr lang="zh-CN" altLang="en-US" sz="1100" i="0">
                                      <a:latin typeface="Cambria Math" panose="02040503050406030204" pitchFamily="18" charset="0"/>
                                    </a:rPr>
                                    <m:t>[</m:t>
                                  </m:r>
                                  <m:f>
                                    <m:fPr>
                                      <m:ctrlPr>
                                        <a:rPr lang="zh-CN" altLang="en-US" sz="11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zh-CN" altLang="en-US" sz="1100" i="1">
                                          <a:latin typeface="Cambria Math" panose="02040503050406030204" pitchFamily="18" charset="0"/>
                                        </a:rPr>
                                        <m:t>𝑇𝑥</m:t>
                                      </m:r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zh-CN" altLang="en-US" sz="11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zh-CN" altLang="en-US" sz="1100" i="1">
                                              <a:latin typeface="Cambria Math" panose="02040503050406030204" pitchFamily="18" charset="0"/>
                                            </a:rPr>
                                            <m:t>𝜃</m:t>
                                          </m:r>
                                        </m:e>
                                        <m:sub>
                                          <m:r>
                                            <m:rPr>
                                              <m:sty m:val="p"/>
                                            </m:rPr>
                                            <a:rPr lang="zh-CN" altLang="en-US" sz="1100" i="0">
                                              <a:latin typeface="Cambria Math" panose="02040503050406030204" pitchFamily="18" charset="0"/>
                                            </a:rPr>
                                            <m:t>BvK</m:t>
                                          </m:r>
                                        </m:sub>
                                      </m:sSub>
                                    </m:den>
                                  </m:f>
                                  <m:r>
                                    <a:rPr lang="zh-CN" altLang="en-US" sz="1100" i="0">
                                      <a:latin typeface="Cambria Math" panose="02040503050406030204" pitchFamily="18" charset="0"/>
                                    </a:rPr>
                                    <m:t>]</m:t>
                                  </m:r>
                                  <m:f>
                                    <m:fPr>
                                      <m:ctrlPr>
                                        <a:rPr lang="zh-CN" altLang="en-US" sz="11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sSub>
                                        <m:sSubPr>
                                          <m:ctrlPr>
                                            <a:rPr lang="zh-CN" altLang="en-US" sz="11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zh-CN" altLang="en-US" sz="1100" i="1">
                                              <a:latin typeface="Cambria Math" panose="02040503050406030204" pitchFamily="18" charset="0"/>
                                            </a:rPr>
                                            <m:t>𝜃</m:t>
                                          </m:r>
                                        </m:e>
                                        <m:sub>
                                          <m:r>
                                            <m:rPr>
                                              <m:sty m:val="p"/>
                                            </m:rPr>
                                            <a:rPr lang="zh-CN" altLang="en-US" sz="1100" i="0">
                                              <a:latin typeface="Cambria Math" panose="02040503050406030204" pitchFamily="18" charset="0"/>
                                            </a:rPr>
                                            <m:t>BvK</m:t>
                                          </m:r>
                                        </m:sub>
                                      </m:sSub>
                                    </m:num>
                                    <m:den>
                                      <m:r>
                                        <a:rPr lang="zh-CN" altLang="en-US" sz="1100" i="1">
                                          <a:latin typeface="Cambria Math" panose="02040503050406030204" pitchFamily="18" charset="0"/>
                                        </a:rPr>
                                        <m:t>𝑇𝑥</m:t>
                                      </m:r>
                                    </m:den>
                                  </m:f>
                                </m:e>
                              </m:d>
                            </m:e>
                            <m:sup>
                              <m:r>
                                <a:rPr lang="zh-CN" altLang="en-US" sz="110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f>
                            <m:fPr>
                              <m:ctrlPr>
                                <a:rPr lang="zh-CN" altLang="en-US" sz="11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1100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zh-CN" altLang="en-US" sz="1100" i="1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zh-CN" altLang="en-US" sz="1100" i="0"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sSup>
                                    <m:sSupPr>
                                      <m:ctrlPr>
                                        <a:rPr lang="zh-CN" altLang="en-US" sz="11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zh-CN" altLang="en-US" sz="11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f>
                                            <m:fPr>
                                              <m:ctrlPr>
                                                <a:rPr lang="zh-CN" altLang="en-US" sz="11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fPr>
                                            <m:num>
                                              <m:r>
                                                <a:rPr lang="zh-CN" altLang="en-US" sz="1100" i="1">
                                                  <a:latin typeface="Cambria Math" panose="02040503050406030204" pitchFamily="18" charset="0"/>
                                                </a:rPr>
                                                <m:t>𝑇𝑥</m:t>
                                              </m:r>
                                            </m:num>
                                            <m:den>
                                              <m:sSub>
                                                <m:sSubPr>
                                                  <m:ctrlPr>
                                                    <a:rPr lang="zh-CN" altLang="en-US" sz="11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zh-CN" altLang="en-US" sz="1100" i="1">
                                                      <a:latin typeface="Cambria Math" panose="02040503050406030204" pitchFamily="18" charset="0"/>
                                                    </a:rPr>
                                                    <m:t>𝜃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m:rPr>
                                                      <m:sty m:val="p"/>
                                                    </m:rPr>
                                                    <a:rPr lang="zh-CN" altLang="en-US" sz="1100" i="0">
                                                      <a:latin typeface="Cambria Math" panose="02040503050406030204" pitchFamily="18" charset="0"/>
                                                    </a:rPr>
                                                    <m:t>BvK</m:t>
                                                  </m:r>
                                                </m:sub>
                                              </m:sSub>
                                            </m:den>
                                          </m:f>
                                        </m:e>
                                      </m:d>
                                    </m:e>
                                    <m:sup>
                                      <m:r>
                                        <a:rPr lang="zh-CN" altLang="en-US" sz="1100" i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rad>
                            </m:den>
                          </m:f>
                          <m:f>
                            <m:fPr>
                              <m:ctrlPr>
                                <a:rPr lang="zh-CN" altLang="en-US" sz="11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zh-CN" altLang="en-US" sz="11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sz="11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zh-CN" altLang="en-US" sz="1100" i="0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p>
                              </m:sSup>
                              <m:sSup>
                                <m:sSupPr>
                                  <m:ctrlPr>
                                    <a:rPr lang="zh-CN" altLang="en-US" sz="11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sz="1100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zh-CN" altLang="en-US" sz="11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p>
                              </m:sSup>
                            </m:num>
                            <m:den>
                              <m:sSup>
                                <m:sSupPr>
                                  <m:ctrlPr>
                                    <a:rPr lang="zh-CN" altLang="en-US" sz="11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zh-CN" altLang="en-US" sz="11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zh-CN" altLang="en-US" sz="11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zh-CN" altLang="en-US" sz="1100" i="1">
                                              <a:latin typeface="Cambria Math" panose="02040503050406030204" pitchFamily="18" charset="0"/>
                                            </a:rPr>
                                            <m:t>𝑒</m:t>
                                          </m:r>
                                        </m:e>
                                        <m:sup>
                                          <m:r>
                                            <a:rPr lang="zh-CN" altLang="en-US" sz="1100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sup>
                                      </m:sSup>
                                      <m:r>
                                        <a:rPr lang="zh-CN" altLang="en-US" sz="1100" i="0">
                                          <a:latin typeface="Cambria Math" panose="02040503050406030204" pitchFamily="18" charset="0"/>
                                        </a:rPr>
                                        <m:t>−1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zh-CN" altLang="en-US" sz="1100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e>
                      </m:nary>
                      <m:r>
                        <a:rPr lang="zh-CN" altLang="en-US" sz="1100" i="1">
                          <a:latin typeface="Cambria Math" panose="02040503050406030204" pitchFamily="18" charset="0"/>
                        </a:rPr>
                        <m:t>𝑑𝑥</m:t>
                      </m:r>
                    </m:oMath>
                  </m:oMathPara>
                </a14:m>
                <a:endParaRPr lang="zh-CN" altLang="en-US" sz="1100" dirty="0"/>
              </a:p>
            </p:txBody>
          </p:sp>
        </mc:Choice>
        <mc:Fallback xmlns="">
          <p:sp>
            <p:nvSpPr>
              <p:cNvPr id="18" name="矩形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3354" y="4917921"/>
                <a:ext cx="4932380" cy="868699"/>
              </a:xfrm>
              <a:prstGeom prst="rect">
                <a:avLst/>
              </a:prstGeom>
              <a:blipFill rotWithShape="0">
                <a:blip r:embed="rId18" cstate="print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矩形 18"/>
              <p:cNvSpPr/>
              <p:nvPr/>
            </p:nvSpPr>
            <p:spPr>
              <a:xfrm>
                <a:off x="5373871" y="4823528"/>
                <a:ext cx="3613746" cy="83490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zh-CN" altLang="en-US" i="0">
                              <a:latin typeface="Cambria Math" panose="02040503050406030204" pitchFamily="18" charset="0"/>
                            </a:rPr>
                            <m:t>V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altLang="zh-CN" b="0" i="0" smtClean="0">
                              <a:latin typeface="Cambria Math" panose="02040503050406030204" pitchFamily="18" charset="0"/>
                            </a:rPr>
                            <m:t>D</m:t>
                          </m:r>
                        </m:sub>
                      </m:sSub>
                      <m:r>
                        <a:rPr lang="zh-CN" altLang="en-US" i="0">
                          <a:latin typeface="Cambria Math" panose="02040503050406030204" pitchFamily="18" charset="0"/>
                        </a:rPr>
                        <m:t>=9</m:t>
                      </m:r>
                      <m:r>
                        <m:rPr>
                          <m:sty m:val="p"/>
                        </m:rPr>
                        <a:rPr lang="zh-CN" altLang="en-US" i="0">
                          <a:latin typeface="Cambria Math" panose="02040503050406030204" pitchFamily="18" charset="0"/>
                        </a:rPr>
                        <m:t>R</m:t>
                      </m:r>
                      <m:sSup>
                        <m:sSupPr>
                          <m:ctrlPr>
                            <a:rPr lang="zh-CN" alt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zh-CN" altLang="en-US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zh-CN" altLang="en-US" b="1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zh-CN" altLang="en-US" b="1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𝑻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zh-CN" altLang="en-US" b="1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b="1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𝜽</m:t>
                                      </m:r>
                                    </m:e>
                                    <m:sub>
                                      <m:r>
                                        <a:rPr lang="zh-CN" altLang="en-US" b="1" i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𝐃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zh-CN" altLang="en-US" b="1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sup>
                      </m:sSup>
                      <m:nary>
                        <m:naryPr>
                          <m:limLoc m:val="subSup"/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i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f>
                            <m:fPr>
                              <m:ctrlPr>
                                <a:rPr lang="zh-CN" alt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zh-CN" altLang="en-US" i="0">
                                      <a:latin typeface="Cambria Math" panose="02040503050406030204" pitchFamily="18" charset="0"/>
                                    </a:rPr>
                                    <m:t>D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den>
                          </m:f>
                        </m:sup>
                        <m:e>
                          <m:f>
                            <m:fPr>
                              <m:ctrlPr>
                                <a:rPr lang="zh-CN" alt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zh-CN" altLang="en-US" i="0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p>
                              </m:sSup>
                              <m:sSup>
                                <m:sSupPr>
                                  <m:ctrlP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p>
                              </m:sSup>
                            </m:num>
                            <m:den>
                              <m:sSup>
                                <m:sSupPr>
                                  <m:ctrlP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zh-CN" alt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zh-CN" alt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zh-CN" altLang="en-US" i="1">
                                              <a:latin typeface="Cambria Math" panose="02040503050406030204" pitchFamily="18" charset="0"/>
                                            </a:rPr>
                                            <m:t>𝑒</m:t>
                                          </m:r>
                                        </m:e>
                                        <m:sup>
                                          <m:r>
                                            <a:rPr lang="zh-CN" altLang="en-US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sup>
                                      </m:sSup>
                                      <m:r>
                                        <a:rPr lang="zh-CN" altLang="en-US" i="0">
                                          <a:latin typeface="Cambria Math" panose="02040503050406030204" pitchFamily="18" charset="0"/>
                                        </a:rPr>
                                        <m:t>−1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zh-CN" altLang="en-US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e>
                      </m:nary>
                      <m:r>
                        <a:rPr lang="zh-CN" altLang="en-US" i="1">
                          <a:latin typeface="Cambria Math" panose="02040503050406030204" pitchFamily="18" charset="0"/>
                        </a:rPr>
                        <m:t>𝑑𝑥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9" name="矩形 1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73871" y="4823528"/>
                <a:ext cx="3613746" cy="834909"/>
              </a:xfrm>
              <a:prstGeom prst="rect">
                <a:avLst/>
              </a:prstGeom>
              <a:blipFill rotWithShape="0">
                <a:blip r:embed="rId19" cstate="print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矩形 19"/>
              <p:cNvSpPr/>
              <p:nvPr/>
            </p:nvSpPr>
            <p:spPr>
              <a:xfrm>
                <a:off x="162916" y="6033663"/>
                <a:ext cx="1710917" cy="41158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zh-CN" altLang="en-US" sz="16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zh-CN" altLang="en-US" sz="1600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zh-CN" altLang="en-US" sz="1600"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zh-CN" altLang="en-US" sz="16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  <m:r>
                                <a:rPr lang="zh-CN" altLang="en-US" sz="1600" i="0">
                                  <a:latin typeface="Cambria Math" panose="02040503050406030204" pitchFamily="18" charset="0"/>
                                </a:rPr>
                                <m:t>→∞</m:t>
                              </m:r>
                            </m:lim>
                          </m:limLow>
                        </m:fName>
                        <m:e>
                          <m:sSub>
                            <m:sSubPr>
                              <m:ctrlPr>
                                <a:rPr lang="zh-CN" altLang="en-US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1600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zh-CN" altLang="en-US" sz="1600" i="0">
                                  <a:latin typeface="Cambria Math" panose="02040503050406030204" pitchFamily="18" charset="0"/>
                                </a:rPr>
                                <m:t>V</m:t>
                              </m:r>
                              <m:r>
                                <a:rPr lang="zh-CN" altLang="en-US" sz="1600" i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m:rPr>
                                  <m:sty m:val="p"/>
                                </m:rPr>
                                <a:rPr lang="zh-CN" altLang="en-US" sz="1600" i="0">
                                  <a:latin typeface="Cambria Math" panose="02040503050406030204" pitchFamily="18" charset="0"/>
                                </a:rPr>
                                <m:t>BvK</m:t>
                              </m:r>
                            </m:sub>
                          </m:sSub>
                        </m:e>
                      </m:func>
                      <m:r>
                        <a:rPr lang="zh-CN" altLang="en-US" sz="160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1600" b="1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𝟑𝐑</m:t>
                      </m:r>
                    </m:oMath>
                  </m:oMathPara>
                </a14:m>
                <a:endParaRPr lang="zh-CN" altLang="en-US" sz="1600" b="1" dirty="0"/>
              </a:p>
            </p:txBody>
          </p:sp>
        </mc:Choice>
        <mc:Fallback xmlns="">
          <p:sp>
            <p:nvSpPr>
              <p:cNvPr id="20" name="矩形 1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916" y="6033663"/>
                <a:ext cx="1710917" cy="411588"/>
              </a:xfrm>
              <a:prstGeom prst="rect">
                <a:avLst/>
              </a:prstGeom>
              <a:blipFill rotWithShape="0">
                <a:blip r:embed="rId20" cstate="print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矩形 20"/>
              <p:cNvSpPr/>
              <p:nvPr/>
            </p:nvSpPr>
            <p:spPr>
              <a:xfrm>
                <a:off x="2083773" y="5866932"/>
                <a:ext cx="1897058" cy="62440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zh-CN" altLang="en-US" sz="140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zh-CN" altLang="en-US" sz="1400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zh-CN" altLang="en-US" sz="1400"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zh-CN" altLang="en-US" sz="14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  <m:r>
                                <a:rPr lang="zh-CN" altLang="en-US" sz="1400" i="0"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  <m:r>
                                <a:rPr lang="en-US" altLang="zh-CN" sz="1400" b="0" i="1" smtClean="0">
                                  <a:latin typeface="Cambria Math"/>
                                </a:rPr>
                                <m:t>0</m:t>
                              </m:r>
                            </m:lim>
                          </m:limLow>
                        </m:fName>
                        <m:e>
                          <m:sSub>
                            <m:sSubPr>
                              <m:ctrlPr>
                                <a:rPr lang="zh-CN" altLang="en-US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1400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zh-CN" altLang="en-US" sz="1400" i="0">
                                  <a:latin typeface="Cambria Math" panose="02040503050406030204" pitchFamily="18" charset="0"/>
                                </a:rPr>
                                <m:t>V</m:t>
                              </m:r>
                              <m:r>
                                <a:rPr lang="zh-CN" altLang="en-US" sz="1400" i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m:rPr>
                                  <m:sty m:val="p"/>
                                </m:rPr>
                                <a:rPr lang="zh-CN" altLang="en-US" sz="1400" i="0">
                                  <a:latin typeface="Cambria Math" panose="02040503050406030204" pitchFamily="18" charset="0"/>
                                </a:rPr>
                                <m:t>BvK</m:t>
                              </m:r>
                            </m:sub>
                          </m:sSub>
                        </m:e>
                      </m:func>
                      <m:r>
                        <a:rPr lang="zh-CN" altLang="en-US" sz="1400" i="1" dirty="0" smtClean="0">
                          <a:latin typeface="Cambria Math"/>
                        </a:rPr>
                        <m:t>∝</m:t>
                      </m:r>
                      <m:sSup>
                        <m:sSupPr>
                          <m:ctrlPr>
                            <a:rPr lang="en-US" altLang="zh-CN" sz="1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zh-CN" altLang="en-US" sz="14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zh-CN" altLang="en-US" sz="1400" b="1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zh-CN" altLang="en-US" sz="1400" b="1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𝑻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zh-CN" altLang="en-US" sz="1400" b="1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1400" b="1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𝜽</m:t>
                                      </m:r>
                                    </m:e>
                                    <m:sub>
                                      <m:r>
                                        <a:rPr lang="zh-CN" altLang="en-US" sz="1400" b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𝐁𝐯𝐊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US" altLang="zh-CN" sz="1400" b="1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𝟑</m:t>
                          </m:r>
                        </m:sup>
                      </m:sSup>
                    </m:oMath>
                  </m:oMathPara>
                </a14:m>
                <a:endParaRPr lang="zh-CN" altLang="en-US" sz="1400" b="1" dirty="0"/>
              </a:p>
            </p:txBody>
          </p:sp>
        </mc:Choice>
        <mc:Fallback xmlns="">
          <p:sp>
            <p:nvSpPr>
              <p:cNvPr id="21" name="矩形 2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83773" y="5866932"/>
                <a:ext cx="1897058" cy="624402"/>
              </a:xfrm>
              <a:prstGeom prst="rect">
                <a:avLst/>
              </a:prstGeom>
              <a:blipFill rotWithShape="0">
                <a:blip r:embed="rId21" cstate="print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2" name="Picture 4">
            <a:extLst>
              <a:ext uri="{FF2B5EF4-FFF2-40B4-BE49-F238E27FC236}">
                <a16:creationId xmlns:a16="http://schemas.microsoft.com/office/drawing/2014/main" id="{AEA1F21D-7E03-41B1-96E8-4F7DD0B7230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433"/>
          <a:stretch/>
        </p:blipFill>
        <p:spPr bwMode="auto">
          <a:xfrm>
            <a:off x="5289099" y="9331"/>
            <a:ext cx="3798920" cy="8672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3" name="文本框 22">
            <a:extLst>
              <a:ext uri="{FF2B5EF4-FFF2-40B4-BE49-F238E27FC236}">
                <a16:creationId xmlns:a16="http://schemas.microsoft.com/office/drawing/2014/main" id="{F3BA1416-208E-4C47-87A9-617D7BD7A769}"/>
              </a:ext>
            </a:extLst>
          </p:cNvPr>
          <p:cNvSpPr txBox="1"/>
          <p:nvPr/>
        </p:nvSpPr>
        <p:spPr>
          <a:xfrm>
            <a:off x="2373122" y="88330"/>
            <a:ext cx="405591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Heat capacity</a:t>
            </a:r>
            <a:endParaRPr lang="zh-CN" altLang="en-US" sz="24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ctr"/>
            <a:r>
              <a:rPr lang="en-US" altLang="zh-CN" sz="2400" dirty="0">
                <a:solidFill>
                  <a:srgbClr val="FF0000"/>
                </a:solidFill>
              </a:rPr>
              <a:t>with sine dispersion relation</a:t>
            </a:r>
            <a:r>
              <a:rPr lang="en-US" altLang="zh-CN" sz="2400" dirty="0"/>
              <a:t> 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29754485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1" name="对象 25">
            <a:extLst>
              <a:ext uri="{FF2B5EF4-FFF2-40B4-BE49-F238E27FC236}">
                <a16:creationId xmlns:a16="http://schemas.microsoft.com/office/drawing/2014/main" id="{B4BE4898-2ECC-CB4C-8D3D-DA3516F6163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355271" y="841204"/>
          <a:ext cx="5695172" cy="4967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2" imgW="19202400" imgH="16459200" progId="Origin50.Graph">
                  <p:embed/>
                </p:oleObj>
              </mc:Choice>
              <mc:Fallback>
                <p:oleObj name="Graph" r:id="rId2" imgW="19202400" imgH="16459200" progId="Origin50.Graph">
                  <p:embed/>
                  <p:pic>
                    <p:nvPicPr>
                      <p:cNvPr id="21" name="对象 25">
                        <a:extLst>
                          <a:ext uri="{FF2B5EF4-FFF2-40B4-BE49-F238E27FC236}">
                            <a16:creationId xmlns:a16="http://schemas.microsoft.com/office/drawing/2014/main" id="{B4BE4898-2ECC-CB4C-8D3D-DA3516F6163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55271" y="841204"/>
                        <a:ext cx="5695172" cy="49672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" name="TextBox 25"/>
          <p:cNvSpPr txBox="1"/>
          <p:nvPr/>
        </p:nvSpPr>
        <p:spPr>
          <a:xfrm>
            <a:off x="1735495" y="5740273"/>
            <a:ext cx="47772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rgbClr val="FF0000"/>
                </a:solidFill>
              </a:rPr>
              <a:t>Pei’s mode covering both the features </a:t>
            </a:r>
          </a:p>
          <a:p>
            <a:pPr algn="ctr"/>
            <a:r>
              <a:rPr lang="en-US" altLang="zh-CN" dirty="0">
                <a:solidFill>
                  <a:srgbClr val="FF0000"/>
                </a:solidFill>
              </a:rPr>
              <a:t>of </a:t>
            </a:r>
            <a:r>
              <a:rPr lang="en-US" altLang="zh-CN" dirty="0" err="1">
                <a:solidFill>
                  <a:srgbClr val="FF0000"/>
                </a:solidFill>
              </a:rPr>
              <a:t>Einstien’s</a:t>
            </a:r>
            <a:r>
              <a:rPr lang="en-US" altLang="zh-CN" dirty="0">
                <a:solidFill>
                  <a:srgbClr val="FF0000"/>
                </a:solidFill>
              </a:rPr>
              <a:t> model and Debye’s mode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5F37CAE-5FCC-4211-AB1B-817CDCAB9836}"/>
              </a:ext>
            </a:extLst>
          </p:cNvPr>
          <p:cNvSpPr txBox="1"/>
          <p:nvPr/>
        </p:nvSpPr>
        <p:spPr>
          <a:xfrm>
            <a:off x="2373122" y="88330"/>
            <a:ext cx="405591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Heat capacity</a:t>
            </a:r>
            <a:endParaRPr lang="zh-CN" altLang="en-US" sz="24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ctr"/>
            <a:r>
              <a:rPr lang="en-US" altLang="zh-CN" sz="2400" dirty="0">
                <a:solidFill>
                  <a:srgbClr val="FF0000"/>
                </a:solidFill>
              </a:rPr>
              <a:t>with sine dispersion relation</a:t>
            </a:r>
            <a:r>
              <a:rPr lang="en-US" altLang="zh-CN" sz="2400" dirty="0"/>
              <a:t> </a:t>
            </a:r>
            <a:endParaRPr lang="zh-CN" altLang="en-US" sz="2400" dirty="0"/>
          </a:p>
        </p:txBody>
      </p:sp>
      <p:pic>
        <p:nvPicPr>
          <p:cNvPr id="6" name="Picture 4">
            <a:extLst>
              <a:ext uri="{FF2B5EF4-FFF2-40B4-BE49-F238E27FC236}">
                <a16:creationId xmlns:a16="http://schemas.microsoft.com/office/drawing/2014/main" id="{B6D53232-074D-4604-A868-81FBC6CCCA0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961" b="7433"/>
          <a:stretch/>
        </p:blipFill>
        <p:spPr bwMode="auto">
          <a:xfrm>
            <a:off x="6845181" y="9331"/>
            <a:ext cx="2242838" cy="8672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91532485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299" name="图片 3">
            <a:extLst>
              <a:ext uri="{FF2B5EF4-FFF2-40B4-BE49-F238E27FC236}">
                <a16:creationId xmlns:a16="http://schemas.microsoft.com/office/drawing/2014/main" id="{B5429891-7765-404A-AF37-0F0C3754E2A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80" t="10101" r="37711" b="39500"/>
          <a:stretch>
            <a:fillRect/>
          </a:stretch>
        </p:blipFill>
        <p:spPr bwMode="auto">
          <a:xfrm>
            <a:off x="3741576" y="1023939"/>
            <a:ext cx="4264089" cy="35275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5300" name="图片 5">
            <a:extLst>
              <a:ext uri="{FF2B5EF4-FFF2-40B4-BE49-F238E27FC236}">
                <a16:creationId xmlns:a16="http://schemas.microsoft.com/office/drawing/2014/main" id="{76BF06F1-77AC-3E48-9F13-29385A50B6B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288" y="1174783"/>
            <a:ext cx="2248159" cy="30309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657592" y="4256705"/>
            <a:ext cx="17235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David G. Cahill</a:t>
            </a:r>
            <a:endParaRPr lang="zh-CN" altLang="en-US" dirty="0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73541424"/>
              </p:ext>
            </p:extLst>
          </p:nvPr>
        </p:nvGraphicFramePr>
        <p:xfrm>
          <a:off x="2469194" y="4887913"/>
          <a:ext cx="2544763" cy="585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714320" imgH="393480" progId="">
                  <p:embed/>
                </p:oleObj>
              </mc:Choice>
              <mc:Fallback>
                <p:oleObj name="Equation" r:id="rId5" imgW="1714320" imgH="393480" progId="">
                  <p:embed/>
                  <p:pic>
                    <p:nvPicPr>
                      <p:cNvPr id="4" name="对象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69194" y="4887913"/>
                        <a:ext cx="2544763" cy="5857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519367" y="5648325"/>
            <a:ext cx="576311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The relax time is equal to the half of the vibration circle</a:t>
            </a:r>
          </a:p>
          <a:p>
            <a:r>
              <a:rPr lang="en-US" altLang="zh-CN" dirty="0"/>
              <a:t>Lattice thermal conductivity reach the minimum  </a:t>
            </a:r>
            <a:endParaRPr lang="zh-CN" altLang="en-US" dirty="0"/>
          </a:p>
        </p:txBody>
      </p:sp>
      <p:sp>
        <p:nvSpPr>
          <p:cNvPr id="8" name="TextBox 21">
            <a:extLst>
              <a:ext uri="{FF2B5EF4-FFF2-40B4-BE49-F238E27FC236}">
                <a16:creationId xmlns:a16="http://schemas.microsoft.com/office/drawing/2014/main" id="{198B67E8-057C-42EE-8AAE-DF5892AC5F6C}"/>
              </a:ext>
            </a:extLst>
          </p:cNvPr>
          <p:cNvSpPr txBox="1"/>
          <p:nvPr/>
        </p:nvSpPr>
        <p:spPr>
          <a:xfrm>
            <a:off x="1788233" y="78394"/>
            <a:ext cx="57454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solidFill>
                  <a:srgbClr val="FF0000"/>
                </a:solidFill>
              </a:rPr>
              <a:t>Estimation of lattice thermal conductivity 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95259399"/>
      </p:ext>
    </p:extLst>
  </p:cSld>
  <p:clrMapOvr>
    <a:masterClrMapping/>
  </p:clrMapOvr>
  <p:transition spd="slow" advTm="25418"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对象 17">
            <a:extLst>
              <a:ext uri="{FF2B5EF4-FFF2-40B4-BE49-F238E27FC236}">
                <a16:creationId xmlns:a16="http://schemas.microsoft.com/office/drawing/2014/main" id="{F0DF6D92-3974-7B40-9E2C-73975A7FAA8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49363" y="4768850"/>
          <a:ext cx="1485900" cy="1274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2" imgW="19202400" imgH="16459200" progId="Origin50.Graph">
                  <p:embed/>
                </p:oleObj>
              </mc:Choice>
              <mc:Fallback>
                <p:oleObj name="Graph" r:id="rId2" imgW="19202400" imgH="16459200" progId="Origin50.Graph">
                  <p:embed/>
                  <p:pic>
                    <p:nvPicPr>
                      <p:cNvPr id="4" name="对象 17">
                        <a:extLst>
                          <a:ext uri="{FF2B5EF4-FFF2-40B4-BE49-F238E27FC236}">
                            <a16:creationId xmlns:a16="http://schemas.microsoft.com/office/drawing/2014/main" id="{F0DF6D92-3974-7B40-9E2C-73975A7FAA8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49363" y="4768850"/>
                        <a:ext cx="1485900" cy="12747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18">
            <a:extLst>
              <a:ext uri="{FF2B5EF4-FFF2-40B4-BE49-F238E27FC236}">
                <a16:creationId xmlns:a16="http://schemas.microsoft.com/office/drawing/2014/main" id="{2A01C7C1-A0FE-2241-958A-E4CC52A8E45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65238" y="2085975"/>
          <a:ext cx="1487487" cy="1273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4" imgW="19202400" imgH="16459200" progId="Origin50.Graph">
                  <p:embed/>
                </p:oleObj>
              </mc:Choice>
              <mc:Fallback>
                <p:oleObj name="Graph" r:id="rId4" imgW="19202400" imgH="16459200" progId="Origin50.Graph">
                  <p:embed/>
                  <p:pic>
                    <p:nvPicPr>
                      <p:cNvPr id="5" name="对象 18">
                        <a:extLst>
                          <a:ext uri="{FF2B5EF4-FFF2-40B4-BE49-F238E27FC236}">
                            <a16:creationId xmlns:a16="http://schemas.microsoft.com/office/drawing/2014/main" id="{2A01C7C1-A0FE-2241-958A-E4CC52A8E45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65238" y="2085975"/>
                        <a:ext cx="1487487" cy="12731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19">
            <a:extLst>
              <a:ext uri="{FF2B5EF4-FFF2-40B4-BE49-F238E27FC236}">
                <a16:creationId xmlns:a16="http://schemas.microsoft.com/office/drawing/2014/main" id="{D748878A-FB90-5942-9F2E-C61017403AE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050" y="2085975"/>
          <a:ext cx="1485900" cy="1273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6" imgW="19202400" imgH="16459200" progId="Origin50.Graph">
                  <p:embed/>
                </p:oleObj>
              </mc:Choice>
              <mc:Fallback>
                <p:oleObj name="Graph" r:id="rId6" imgW="19202400" imgH="16459200" progId="Origin50.Graph">
                  <p:embed/>
                  <p:pic>
                    <p:nvPicPr>
                      <p:cNvPr id="6" name="对象 19">
                        <a:extLst>
                          <a:ext uri="{FF2B5EF4-FFF2-40B4-BE49-F238E27FC236}">
                            <a16:creationId xmlns:a16="http://schemas.microsoft.com/office/drawing/2014/main" id="{D748878A-FB90-5942-9F2E-C61017403AE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50" y="2085975"/>
                        <a:ext cx="1485900" cy="12731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20">
            <a:extLst>
              <a:ext uri="{FF2B5EF4-FFF2-40B4-BE49-F238E27FC236}">
                <a16:creationId xmlns:a16="http://schemas.microsoft.com/office/drawing/2014/main" id="{42018166-1AE9-F347-B7A3-44B75FF672B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050" y="989013"/>
          <a:ext cx="1485900" cy="1273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8" imgW="19202400" imgH="16459200" progId="Origin50.Graph">
                  <p:embed/>
                </p:oleObj>
              </mc:Choice>
              <mc:Fallback>
                <p:oleObj name="Graph" r:id="rId8" imgW="19202400" imgH="16459200" progId="Origin50.Graph">
                  <p:embed/>
                  <p:pic>
                    <p:nvPicPr>
                      <p:cNvPr id="7" name="对象 20">
                        <a:extLst>
                          <a:ext uri="{FF2B5EF4-FFF2-40B4-BE49-F238E27FC236}">
                            <a16:creationId xmlns:a16="http://schemas.microsoft.com/office/drawing/2014/main" id="{42018166-1AE9-F347-B7A3-44B75FF672B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50" y="989013"/>
                        <a:ext cx="1485900" cy="12731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右大括号 7">
            <a:extLst>
              <a:ext uri="{FF2B5EF4-FFF2-40B4-BE49-F238E27FC236}">
                <a16:creationId xmlns:a16="http://schemas.microsoft.com/office/drawing/2014/main" id="{F5FA7166-D185-4247-BD9C-A70D0E465A3A}"/>
              </a:ext>
            </a:extLst>
          </p:cNvPr>
          <p:cNvSpPr/>
          <p:nvPr/>
        </p:nvSpPr>
        <p:spPr bwMode="auto">
          <a:xfrm>
            <a:off x="2671763" y="1090613"/>
            <a:ext cx="200025" cy="2143125"/>
          </a:xfrm>
          <a:prstGeom prst="rightBrace">
            <a:avLst>
              <a:gd name="adj1" fmla="val 50889"/>
              <a:gd name="adj2" fmla="val 50000"/>
            </a:avLst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graphicFrame>
        <p:nvGraphicFramePr>
          <p:cNvPr id="9" name="对象 22">
            <a:extLst>
              <a:ext uri="{FF2B5EF4-FFF2-40B4-BE49-F238E27FC236}">
                <a16:creationId xmlns:a16="http://schemas.microsoft.com/office/drawing/2014/main" id="{AB9BD130-2132-DF48-AADE-5FC32B48FC4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575" y="3668713"/>
          <a:ext cx="1485900" cy="1273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10" imgW="19202400" imgH="16459200" progId="Origin50.Graph">
                  <p:embed/>
                </p:oleObj>
              </mc:Choice>
              <mc:Fallback>
                <p:oleObj name="Graph" r:id="rId10" imgW="19202400" imgH="16459200" progId="Origin50.Graph">
                  <p:embed/>
                  <p:pic>
                    <p:nvPicPr>
                      <p:cNvPr id="9" name="对象 22">
                        <a:extLst>
                          <a:ext uri="{FF2B5EF4-FFF2-40B4-BE49-F238E27FC236}">
                            <a16:creationId xmlns:a16="http://schemas.microsoft.com/office/drawing/2014/main" id="{AB9BD130-2132-DF48-AADE-5FC32B48FC4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575" y="3668713"/>
                        <a:ext cx="1485900" cy="12731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31">
            <a:extLst>
              <a:ext uri="{FF2B5EF4-FFF2-40B4-BE49-F238E27FC236}">
                <a16:creationId xmlns:a16="http://schemas.microsoft.com/office/drawing/2014/main" id="{A9BFBA04-3436-D040-92BC-5922A80E61F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65238" y="981075"/>
          <a:ext cx="1487487" cy="1273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12" imgW="19202400" imgH="16459200" progId="Origin50.Graph">
                  <p:embed/>
                </p:oleObj>
              </mc:Choice>
              <mc:Fallback>
                <p:oleObj name="Graph" r:id="rId12" imgW="19202400" imgH="16459200" progId="Origin50.Graph">
                  <p:embed/>
                  <p:pic>
                    <p:nvPicPr>
                      <p:cNvPr id="10" name="对象 31">
                        <a:extLst>
                          <a:ext uri="{FF2B5EF4-FFF2-40B4-BE49-F238E27FC236}">
                            <a16:creationId xmlns:a16="http://schemas.microsoft.com/office/drawing/2014/main" id="{A9BFBA04-3436-D040-92BC-5922A80E61F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65238" y="981075"/>
                        <a:ext cx="1487487" cy="12731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32">
            <a:extLst>
              <a:ext uri="{FF2B5EF4-FFF2-40B4-BE49-F238E27FC236}">
                <a16:creationId xmlns:a16="http://schemas.microsoft.com/office/drawing/2014/main" id="{A239EC21-C17D-6342-B070-76BC3795E74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44600" y="3671888"/>
          <a:ext cx="1487488" cy="1273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14" imgW="19202400" imgH="16459200" progId="Origin50.Graph">
                  <p:embed/>
                </p:oleObj>
              </mc:Choice>
              <mc:Fallback>
                <p:oleObj name="Graph" r:id="rId14" imgW="19202400" imgH="16459200" progId="Origin50.Graph">
                  <p:embed/>
                  <p:pic>
                    <p:nvPicPr>
                      <p:cNvPr id="11" name="对象 32">
                        <a:extLst>
                          <a:ext uri="{FF2B5EF4-FFF2-40B4-BE49-F238E27FC236}">
                            <a16:creationId xmlns:a16="http://schemas.microsoft.com/office/drawing/2014/main" id="{A239EC21-C17D-6342-B070-76BC3795E74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44600" y="3671888"/>
                        <a:ext cx="1487488" cy="12731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下箭头 11">
            <a:extLst>
              <a:ext uri="{FF2B5EF4-FFF2-40B4-BE49-F238E27FC236}">
                <a16:creationId xmlns:a16="http://schemas.microsoft.com/office/drawing/2014/main" id="{61233DDD-C045-864F-915D-E0CE19AE1ED5}"/>
              </a:ext>
            </a:extLst>
          </p:cNvPr>
          <p:cNvSpPr/>
          <p:nvPr/>
        </p:nvSpPr>
        <p:spPr bwMode="auto">
          <a:xfrm rot="16200000">
            <a:off x="5638800" y="1966913"/>
            <a:ext cx="358775" cy="215900"/>
          </a:xfrm>
          <a:prstGeom prst="downArrow">
            <a:avLst/>
          </a:prstGeom>
          <a:solidFill>
            <a:schemeClr val="bg1"/>
          </a:solidFill>
          <a:ln w="38100" cap="flat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graphicFrame>
        <p:nvGraphicFramePr>
          <p:cNvPr id="13" name="对象 40">
            <a:extLst>
              <a:ext uri="{FF2B5EF4-FFF2-40B4-BE49-F238E27FC236}">
                <a16:creationId xmlns:a16="http://schemas.microsoft.com/office/drawing/2014/main" id="{9F5D1331-B2A9-944A-84F7-8F3C725AF81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830888" y="742950"/>
          <a:ext cx="3303587" cy="2830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16" imgW="2870200" imgH="2476500" progId="Origin50.Graph">
                  <p:embed/>
                </p:oleObj>
              </mc:Choice>
              <mc:Fallback>
                <p:oleObj name="Graph" r:id="rId16" imgW="2870200" imgH="2476500" progId="Origin50.Graph">
                  <p:embed/>
                  <p:pic>
                    <p:nvPicPr>
                      <p:cNvPr id="13" name="对象 40">
                        <a:extLst>
                          <a:ext uri="{FF2B5EF4-FFF2-40B4-BE49-F238E27FC236}">
                            <a16:creationId xmlns:a16="http://schemas.microsoft.com/office/drawing/2014/main" id="{9F5D1331-B2A9-944A-84F7-8F3C725AF81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30888" y="742950"/>
                        <a:ext cx="3303587" cy="28305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41">
            <a:extLst>
              <a:ext uri="{FF2B5EF4-FFF2-40B4-BE49-F238E27FC236}">
                <a16:creationId xmlns:a16="http://schemas.microsoft.com/office/drawing/2014/main" id="{7D023D5C-6E9E-B345-BDAB-4C50D99D578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818188" y="3497263"/>
          <a:ext cx="3303587" cy="2830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18" imgW="2870200" imgH="2476500" progId="Origin50.Graph">
                  <p:embed/>
                </p:oleObj>
              </mc:Choice>
              <mc:Fallback>
                <p:oleObj name="Graph" r:id="rId18" imgW="2870200" imgH="2476500" progId="Origin50.Graph">
                  <p:embed/>
                  <p:pic>
                    <p:nvPicPr>
                      <p:cNvPr id="14" name="对象 41">
                        <a:extLst>
                          <a:ext uri="{FF2B5EF4-FFF2-40B4-BE49-F238E27FC236}">
                            <a16:creationId xmlns:a16="http://schemas.microsoft.com/office/drawing/2014/main" id="{7D023D5C-6E9E-B345-BDAB-4C50D99D578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18188" y="3497263"/>
                        <a:ext cx="3303587" cy="28305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44">
            <a:extLst>
              <a:ext uri="{FF2B5EF4-FFF2-40B4-BE49-F238E27FC236}">
                <a16:creationId xmlns:a16="http://schemas.microsoft.com/office/drawing/2014/main" id="{069A6DA5-4E81-314E-8CCC-4E6055656EC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575" y="4776788"/>
          <a:ext cx="1485900" cy="1273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20" imgW="19202400" imgH="16459200" progId="Origin50.Graph">
                  <p:embed/>
                </p:oleObj>
              </mc:Choice>
              <mc:Fallback>
                <p:oleObj name="Graph" r:id="rId20" imgW="19202400" imgH="16459200" progId="Origin50.Graph">
                  <p:embed/>
                  <p:pic>
                    <p:nvPicPr>
                      <p:cNvPr id="15" name="对象 44">
                        <a:extLst>
                          <a:ext uri="{FF2B5EF4-FFF2-40B4-BE49-F238E27FC236}">
                            <a16:creationId xmlns:a16="http://schemas.microsoft.com/office/drawing/2014/main" id="{069A6DA5-4E81-314E-8CCC-4E6055656EC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575" y="4776788"/>
                        <a:ext cx="1485900" cy="12731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46">
            <a:extLst>
              <a:ext uri="{FF2B5EF4-FFF2-40B4-BE49-F238E27FC236}">
                <a16:creationId xmlns:a16="http://schemas.microsoft.com/office/drawing/2014/main" id="{70C293DF-F369-1B44-9981-2B894737B0E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40038" y="3522663"/>
          <a:ext cx="3003550" cy="2730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22" imgW="18097500" imgH="16459200" progId="Origin50.Graph">
                  <p:embed/>
                </p:oleObj>
              </mc:Choice>
              <mc:Fallback>
                <p:oleObj name="Graph" r:id="rId22" imgW="18097500" imgH="16459200" progId="Origin50.Graph">
                  <p:embed/>
                  <p:pic>
                    <p:nvPicPr>
                      <p:cNvPr id="16" name="对象 46">
                        <a:extLst>
                          <a:ext uri="{FF2B5EF4-FFF2-40B4-BE49-F238E27FC236}">
                            <a16:creationId xmlns:a16="http://schemas.microsoft.com/office/drawing/2014/main" id="{70C293DF-F369-1B44-9981-2B894737B0E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40038" y="3522663"/>
                        <a:ext cx="3003550" cy="2730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47">
            <a:extLst>
              <a:ext uri="{FF2B5EF4-FFF2-40B4-BE49-F238E27FC236}">
                <a16:creationId xmlns:a16="http://schemas.microsoft.com/office/drawing/2014/main" id="{C6D5CFAD-1467-5F41-903B-7B05A5FA3C9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30513" y="795338"/>
          <a:ext cx="2997200" cy="2724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24" imgW="18097500" imgH="16459200" progId="Origin50.Graph">
                  <p:embed/>
                </p:oleObj>
              </mc:Choice>
              <mc:Fallback>
                <p:oleObj name="Graph" r:id="rId24" imgW="18097500" imgH="16459200" progId="Origin50.Graph">
                  <p:embed/>
                  <p:pic>
                    <p:nvPicPr>
                      <p:cNvPr id="17" name="对象 47">
                        <a:extLst>
                          <a:ext uri="{FF2B5EF4-FFF2-40B4-BE49-F238E27FC236}">
                            <a16:creationId xmlns:a16="http://schemas.microsoft.com/office/drawing/2014/main" id="{C6D5CFAD-1467-5F41-903B-7B05A5FA3C9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30513" y="795338"/>
                        <a:ext cx="2997200" cy="27241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右大括号 17">
            <a:extLst>
              <a:ext uri="{FF2B5EF4-FFF2-40B4-BE49-F238E27FC236}">
                <a16:creationId xmlns:a16="http://schemas.microsoft.com/office/drawing/2014/main" id="{14A584B0-3C06-1C4B-9FF8-10688C972F73}"/>
              </a:ext>
            </a:extLst>
          </p:cNvPr>
          <p:cNvSpPr/>
          <p:nvPr/>
        </p:nvSpPr>
        <p:spPr bwMode="auto">
          <a:xfrm>
            <a:off x="2673350" y="3808413"/>
            <a:ext cx="201613" cy="2144712"/>
          </a:xfrm>
          <a:prstGeom prst="rightBrace">
            <a:avLst>
              <a:gd name="adj1" fmla="val 50889"/>
              <a:gd name="adj2" fmla="val 50000"/>
            </a:avLst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19" name="下箭头 18">
            <a:extLst>
              <a:ext uri="{FF2B5EF4-FFF2-40B4-BE49-F238E27FC236}">
                <a16:creationId xmlns:a16="http://schemas.microsoft.com/office/drawing/2014/main" id="{9662652B-2D79-C347-AB1C-0B60B2996B81}"/>
              </a:ext>
            </a:extLst>
          </p:cNvPr>
          <p:cNvSpPr/>
          <p:nvPr/>
        </p:nvSpPr>
        <p:spPr bwMode="auto">
          <a:xfrm rot="16200000">
            <a:off x="5659437" y="4741863"/>
            <a:ext cx="360363" cy="217488"/>
          </a:xfrm>
          <a:prstGeom prst="downArrow">
            <a:avLst/>
          </a:prstGeom>
          <a:solidFill>
            <a:schemeClr val="bg1"/>
          </a:solidFill>
          <a:ln w="38100" cap="flat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20" name="文本框 50">
            <a:extLst>
              <a:ext uri="{FF2B5EF4-FFF2-40B4-BE49-F238E27FC236}">
                <a16:creationId xmlns:a16="http://schemas.microsoft.com/office/drawing/2014/main" id="{F6027DB6-5F82-BC4C-B960-87452A3C7E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84550" y="6156325"/>
            <a:ext cx="245506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en-US" altLang="zh-CN" sz="1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Over estimated </a:t>
            </a:r>
            <a:r>
              <a:rPr kumimoji="0" lang="zh-CN" altLang="en-US" sz="1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~</a:t>
            </a:r>
            <a:r>
              <a:rPr kumimoji="0" lang="en-US" altLang="zh-CN" sz="1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40%</a:t>
            </a:r>
            <a:endParaRPr kumimoji="0" lang="zh-CN" altLang="en-US" sz="1800" b="1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2" name="椭圆 21">
            <a:extLst>
              <a:ext uri="{FF2B5EF4-FFF2-40B4-BE49-F238E27FC236}">
                <a16:creationId xmlns:a16="http://schemas.microsoft.com/office/drawing/2014/main" id="{8B619D9A-5F14-DC41-9F00-B1F15D629C2B}"/>
              </a:ext>
            </a:extLst>
          </p:cNvPr>
          <p:cNvSpPr/>
          <p:nvPr/>
        </p:nvSpPr>
        <p:spPr>
          <a:xfrm>
            <a:off x="7939088" y="1512888"/>
            <a:ext cx="341312" cy="112553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23" name="椭圆 22">
            <a:extLst>
              <a:ext uri="{FF2B5EF4-FFF2-40B4-BE49-F238E27FC236}">
                <a16:creationId xmlns:a16="http://schemas.microsoft.com/office/drawing/2014/main" id="{34854DF4-2976-1745-A2B2-38C624CD35C7}"/>
              </a:ext>
            </a:extLst>
          </p:cNvPr>
          <p:cNvSpPr/>
          <p:nvPr/>
        </p:nvSpPr>
        <p:spPr>
          <a:xfrm>
            <a:off x="7856538" y="4129088"/>
            <a:ext cx="341312" cy="112553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24" name="文本框 1">
            <a:extLst>
              <a:ext uri="{FF2B5EF4-FFF2-40B4-BE49-F238E27FC236}">
                <a16:creationId xmlns:a16="http://schemas.microsoft.com/office/drawing/2014/main" id="{7355D88C-70F6-D849-BF88-FEC1EE046A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36513" y="549275"/>
            <a:ext cx="2003426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800" b="1" dirty="0">
                <a:solidFill>
                  <a:srgbClr val="0000FF"/>
                </a:solidFill>
              </a:rPr>
              <a:t>Debye-Slack</a:t>
            </a:r>
            <a:endParaRPr lang="zh-CN" altLang="en-US" sz="2800" b="1" dirty="0">
              <a:solidFill>
                <a:srgbClr val="0000FF"/>
              </a:solidFill>
            </a:endParaRPr>
          </a:p>
        </p:txBody>
      </p:sp>
      <p:sp>
        <p:nvSpPr>
          <p:cNvPr id="25" name="文本框 25">
            <a:extLst>
              <a:ext uri="{FF2B5EF4-FFF2-40B4-BE49-F238E27FC236}">
                <a16:creationId xmlns:a16="http://schemas.microsoft.com/office/drawing/2014/main" id="{FF17F542-13C2-114A-8FBD-1F8330B6F7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3357563"/>
            <a:ext cx="2278063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800" b="1">
                <a:solidFill>
                  <a:srgbClr val="0000FF"/>
                </a:solidFill>
              </a:rPr>
              <a:t>Debye-Snyder</a:t>
            </a:r>
            <a:endParaRPr lang="zh-CN" altLang="en-US" sz="2800" b="1">
              <a:solidFill>
                <a:srgbClr val="0000FF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021149" y="102637"/>
            <a:ext cx="57454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solidFill>
                  <a:srgbClr val="FF0000"/>
                </a:solidFill>
              </a:rPr>
              <a:t>Estimation of lattice thermal conductivity 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813239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6">
            <a:extLst>
              <a:ext uri="{FF2B5EF4-FFF2-40B4-BE49-F238E27FC236}">
                <a16:creationId xmlns:a16="http://schemas.microsoft.com/office/drawing/2014/main" id="{52CB8F22-24C6-4144-97F5-E1B649D8AC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47" r="4466" b="4041"/>
          <a:stretch>
            <a:fillRect/>
          </a:stretch>
        </p:blipFill>
        <p:spPr bwMode="auto">
          <a:xfrm>
            <a:off x="554828" y="1130689"/>
            <a:ext cx="7469739" cy="52064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文本框 1">
            <a:extLst>
              <a:ext uri="{FF2B5EF4-FFF2-40B4-BE49-F238E27FC236}">
                <a16:creationId xmlns:a16="http://schemas.microsoft.com/office/drawing/2014/main" id="{3DC423C9-0C0A-1645-8160-C904F2B56C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7449" y="1551538"/>
            <a:ext cx="817563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3200" b="1" dirty="0"/>
              <a:t>n=1</a:t>
            </a:r>
            <a:endParaRPr lang="zh-CN" altLang="en-US" sz="3200" b="1" dirty="0"/>
          </a:p>
        </p:txBody>
      </p:sp>
      <p:sp>
        <p:nvSpPr>
          <p:cNvPr id="4" name="文本框 6">
            <a:extLst>
              <a:ext uri="{FF2B5EF4-FFF2-40B4-BE49-F238E27FC236}">
                <a16:creationId xmlns:a16="http://schemas.microsoft.com/office/drawing/2014/main" id="{4B61D399-0B3F-594A-A625-5C50E071A2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30513" y="1606550"/>
            <a:ext cx="817563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3200" b="1" dirty="0"/>
              <a:t>n=2</a:t>
            </a:r>
            <a:endParaRPr lang="zh-CN" altLang="en-US" sz="3200" b="1" dirty="0"/>
          </a:p>
        </p:txBody>
      </p:sp>
      <p:sp>
        <p:nvSpPr>
          <p:cNvPr id="5" name="文本框 7">
            <a:extLst>
              <a:ext uri="{FF2B5EF4-FFF2-40B4-BE49-F238E27FC236}">
                <a16:creationId xmlns:a16="http://schemas.microsoft.com/office/drawing/2014/main" id="{487499DD-9AED-274E-8883-CA9F143115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97534" y="1613937"/>
            <a:ext cx="817563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3200" b="1" dirty="0"/>
              <a:t>n=3</a:t>
            </a:r>
            <a:endParaRPr lang="zh-CN" altLang="en-US" sz="3200" b="1" dirty="0"/>
          </a:p>
        </p:txBody>
      </p:sp>
      <p:sp>
        <p:nvSpPr>
          <p:cNvPr id="6" name="文本框 8">
            <a:extLst>
              <a:ext uri="{FF2B5EF4-FFF2-40B4-BE49-F238E27FC236}">
                <a16:creationId xmlns:a16="http://schemas.microsoft.com/office/drawing/2014/main" id="{3495DEEF-E34D-524F-A61C-34040B7BE4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6151" y="4417106"/>
            <a:ext cx="817563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3200" b="1" dirty="0"/>
              <a:t>n=4</a:t>
            </a:r>
            <a:endParaRPr lang="zh-CN" altLang="en-US" sz="3200" b="1" dirty="0"/>
          </a:p>
        </p:txBody>
      </p:sp>
      <p:sp>
        <p:nvSpPr>
          <p:cNvPr id="7" name="文本框 9">
            <a:extLst>
              <a:ext uri="{FF2B5EF4-FFF2-40B4-BE49-F238E27FC236}">
                <a16:creationId xmlns:a16="http://schemas.microsoft.com/office/drawing/2014/main" id="{123E6A87-949C-B045-A913-C3AC60B7BF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30514" y="4417106"/>
            <a:ext cx="817563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3200" b="1" dirty="0"/>
              <a:t>n=5</a:t>
            </a:r>
            <a:endParaRPr lang="zh-CN" altLang="en-US" sz="3200" b="1" dirty="0"/>
          </a:p>
        </p:txBody>
      </p:sp>
      <p:sp>
        <p:nvSpPr>
          <p:cNvPr id="8" name="文本框 10">
            <a:extLst>
              <a:ext uri="{FF2B5EF4-FFF2-40B4-BE49-F238E27FC236}">
                <a16:creationId xmlns:a16="http://schemas.microsoft.com/office/drawing/2014/main" id="{2C987581-2661-854A-93BE-B025249635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95242" y="4417106"/>
            <a:ext cx="817563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3200" b="1" dirty="0"/>
              <a:t>n=6</a:t>
            </a:r>
            <a:endParaRPr lang="zh-CN" altLang="en-US" sz="3200" b="1" dirty="0"/>
          </a:p>
        </p:txBody>
      </p:sp>
      <p:sp>
        <p:nvSpPr>
          <p:cNvPr id="9" name="TextBox 8"/>
          <p:cNvSpPr txBox="1"/>
          <p:nvPr/>
        </p:nvSpPr>
        <p:spPr>
          <a:xfrm>
            <a:off x="1457205" y="262540"/>
            <a:ext cx="56204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solidFill>
                  <a:srgbClr val="FF0000"/>
                </a:solidFill>
              </a:rPr>
              <a:t>Sine + Constant dispersion assumption 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5586733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8962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8089" y="669799"/>
            <a:ext cx="3480482" cy="30363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68963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2734" y="3706136"/>
            <a:ext cx="3158801" cy="27820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68964" name="Picture 4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71186" y="3706136"/>
            <a:ext cx="3555726" cy="27820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TextBox 8"/>
          <p:cNvSpPr txBox="1"/>
          <p:nvPr/>
        </p:nvSpPr>
        <p:spPr>
          <a:xfrm>
            <a:off x="1949625" y="143157"/>
            <a:ext cx="57454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solidFill>
                  <a:srgbClr val="FF0000"/>
                </a:solidFill>
              </a:rPr>
              <a:t>Estimation of lattice thermal conductivity 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pic>
        <p:nvPicPr>
          <p:cNvPr id="168965" name="Picture 5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58409" y="1079435"/>
            <a:ext cx="2038350" cy="742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68966" name="Picture 6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8283" y="1671055"/>
            <a:ext cx="3181350" cy="828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68967" name="Picture 7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2367" y="2636190"/>
            <a:ext cx="2000250" cy="428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0605938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9394" name="对象 19">
            <a:extLst>
              <a:ext uri="{FF2B5EF4-FFF2-40B4-BE49-F238E27FC236}">
                <a16:creationId xmlns:a16="http://schemas.microsoft.com/office/drawing/2014/main" id="{9D13049C-9C77-7244-B927-D4BAE781C3C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07885" y="796216"/>
          <a:ext cx="5259104" cy="4506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3" imgW="19202400" imgH="16459200" progId="Origin50.Graph">
                  <p:embed/>
                </p:oleObj>
              </mc:Choice>
              <mc:Fallback>
                <p:oleObj name="Graph" r:id="rId3" imgW="19202400" imgH="16459200" progId="Origin50.Graph">
                  <p:embed/>
                  <p:pic>
                    <p:nvPicPr>
                      <p:cNvPr id="59394" name="对象 19">
                        <a:extLst>
                          <a:ext uri="{FF2B5EF4-FFF2-40B4-BE49-F238E27FC236}">
                            <a16:creationId xmlns:a16="http://schemas.microsoft.com/office/drawing/2014/main" id="{9D13049C-9C77-7244-B927-D4BAE781C3C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07885" y="796216"/>
                        <a:ext cx="5259104" cy="45060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9395" name="TextBox 18">
            <a:extLst>
              <a:ext uri="{FF2B5EF4-FFF2-40B4-BE49-F238E27FC236}">
                <a16:creationId xmlns:a16="http://schemas.microsoft.com/office/drawing/2014/main" id="{E1B5779A-392B-8B43-9FBA-0D0967F94E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0112" y="5353054"/>
            <a:ext cx="7127875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0" lang="en-US" altLang="zh-CN" sz="1800" b="1" dirty="0">
                <a:solidFill>
                  <a:srgbClr val="008000"/>
                </a:solidFill>
              </a:rPr>
              <a:t>Pei used the linear dispersion approximation</a:t>
            </a:r>
          </a:p>
          <a:p>
            <a:pPr algn="ctr" eaLnBrk="1" hangingPunct="1"/>
            <a:r>
              <a:rPr kumimoji="0" lang="en-US" altLang="zh-CN" sz="1800" b="1" dirty="0">
                <a:solidFill>
                  <a:srgbClr val="008000"/>
                </a:solidFill>
              </a:rPr>
              <a:t>And give a lower </a:t>
            </a:r>
            <a:r>
              <a:rPr kumimoji="0" lang="el-GR" altLang="zh-CN" sz="1800" b="1" dirty="0">
                <a:solidFill>
                  <a:srgbClr val="008000"/>
                </a:solidFill>
              </a:rPr>
              <a:t>κ</a:t>
            </a:r>
            <a:r>
              <a:rPr kumimoji="0" lang="en-US" altLang="zh-CN" sz="1800" b="1" baseline="-25000" dirty="0">
                <a:solidFill>
                  <a:srgbClr val="008000"/>
                </a:solidFill>
              </a:rPr>
              <a:t>min</a:t>
            </a:r>
            <a:endParaRPr kumimoji="0" lang="en-US" altLang="zh-CN" sz="1800" b="1" dirty="0">
              <a:solidFill>
                <a:srgbClr val="008000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051109" y="183250"/>
            <a:ext cx="25330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solidFill>
                  <a:srgbClr val="FF0000"/>
                </a:solidFill>
              </a:rPr>
              <a:t>Estimation of </a:t>
            </a:r>
            <a:r>
              <a:rPr lang="el-GR" altLang="zh-CN" sz="2400" dirty="0">
                <a:solidFill>
                  <a:srgbClr val="FF0000"/>
                </a:solidFill>
              </a:rPr>
              <a:t>κ</a:t>
            </a:r>
            <a:r>
              <a:rPr lang="en-US" altLang="zh-CN" sz="2400" baseline="-25000" dirty="0">
                <a:solidFill>
                  <a:srgbClr val="FF0000"/>
                </a:solidFill>
              </a:rPr>
              <a:t>min</a:t>
            </a:r>
            <a:endParaRPr lang="zh-CN" altLang="en-US" sz="2400" baseline="-25000" dirty="0">
              <a:solidFill>
                <a:srgbClr val="FF0000"/>
              </a:solidFill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-1" y="1027589"/>
            <a:ext cx="2329938" cy="1919643"/>
            <a:chOff x="-49038" y="1158763"/>
            <a:chExt cx="2587102" cy="2073532"/>
          </a:xfrm>
        </p:grpSpPr>
        <p:cxnSp>
          <p:nvCxnSpPr>
            <p:cNvPr id="9" name="直接箭头连接符 8"/>
            <p:cNvCxnSpPr/>
            <p:nvPr/>
          </p:nvCxnSpPr>
          <p:spPr>
            <a:xfrm>
              <a:off x="392023" y="2929195"/>
              <a:ext cx="2146041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接箭头连接符 9"/>
            <p:cNvCxnSpPr/>
            <p:nvPr/>
          </p:nvCxnSpPr>
          <p:spPr>
            <a:xfrm flipV="1">
              <a:off x="392023" y="1158763"/>
              <a:ext cx="0" cy="1770433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Box 10"/>
            <p:cNvSpPr txBox="1"/>
            <p:nvPr/>
          </p:nvSpPr>
          <p:spPr>
            <a:xfrm rot="16200000">
              <a:off x="-456201" y="1808195"/>
              <a:ext cx="115288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600" dirty="0"/>
                <a:t>Frequency</a:t>
              </a:r>
              <a:endParaRPr lang="zh-CN" altLang="en-US" sz="1600" dirty="0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774714" y="2924518"/>
              <a:ext cx="119404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dirty="0"/>
                <a:t>Wave Vector</a:t>
              </a:r>
              <a:endParaRPr lang="zh-CN" altLang="en-US" sz="1400" dirty="0"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152989" y="2841825"/>
              <a:ext cx="28725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l-GR" altLang="zh-CN" sz="1400" i="1" dirty="0">
                  <a:latin typeface="Times New Roman" pitchFamily="18" charset="0"/>
                  <a:cs typeface="Times New Roman" pitchFamily="18" charset="0"/>
                </a:rPr>
                <a:t>Γ</a:t>
              </a:r>
              <a:endParaRPr lang="zh-CN" altLang="en-US" sz="1400" i="1" dirty="0">
                <a:latin typeface="Times New Roman" pitchFamily="18" charset="0"/>
                <a:cs typeface="Times New Roman" pitchFamily="18" charset="0"/>
              </a:endParaRPr>
            </a:p>
          </p:txBody>
        </p:sp>
        <p:cxnSp>
          <p:nvCxnSpPr>
            <p:cNvPr id="14" name="直接连接符 13"/>
            <p:cNvCxnSpPr/>
            <p:nvPr/>
          </p:nvCxnSpPr>
          <p:spPr>
            <a:xfrm flipV="1">
              <a:off x="392023" y="1706622"/>
              <a:ext cx="1399592" cy="1222574"/>
            </a:xfrm>
            <a:prstGeom prst="line">
              <a:avLst/>
            </a:prstGeom>
            <a:ln w="47625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15" name="对象 14"/>
            <p:cNvGraphicFramePr>
              <a:graphicFrameLocks noChangeAspect="1"/>
            </p:cNvGraphicFramePr>
            <p:nvPr/>
          </p:nvGraphicFramePr>
          <p:xfrm>
            <a:off x="730647" y="1912771"/>
            <a:ext cx="615950" cy="2317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5" imgW="469800" imgH="177480" progId="">
                    <p:embed/>
                  </p:oleObj>
                </mc:Choice>
                <mc:Fallback>
                  <p:oleObj name="Equation" r:id="rId5" imgW="469800" imgH="177480" progId="">
                    <p:embed/>
                    <p:pic>
                      <p:nvPicPr>
                        <p:cNvPr id="15" name="对象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30647" y="1912771"/>
                          <a:ext cx="615950" cy="23177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16" name="直接连接符 15"/>
            <p:cNvCxnSpPr/>
            <p:nvPr/>
          </p:nvCxnSpPr>
          <p:spPr>
            <a:xfrm flipH="1">
              <a:off x="440247" y="1706622"/>
              <a:ext cx="1840653" cy="0"/>
            </a:xfrm>
            <a:prstGeom prst="line">
              <a:avLst/>
            </a:prstGeom>
            <a:ln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17" name="对象 16"/>
            <p:cNvGraphicFramePr>
              <a:graphicFrameLocks noChangeAspect="1"/>
            </p:cNvGraphicFramePr>
            <p:nvPr/>
          </p:nvGraphicFramePr>
          <p:xfrm>
            <a:off x="1948260" y="1353971"/>
            <a:ext cx="280987" cy="2968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7" imgW="215640" imgH="228600" progId="">
                    <p:embed/>
                  </p:oleObj>
                </mc:Choice>
                <mc:Fallback>
                  <p:oleObj name="Equation" r:id="rId7" imgW="215640" imgH="228600" progId="">
                    <p:embed/>
                    <p:pic>
                      <p:nvPicPr>
                        <p:cNvPr id="17" name="对象 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48260" y="1353971"/>
                          <a:ext cx="280987" cy="29686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18" name="直接连接符 17"/>
            <p:cNvCxnSpPr/>
            <p:nvPr/>
          </p:nvCxnSpPr>
          <p:spPr>
            <a:xfrm flipH="1">
              <a:off x="1791615" y="1566663"/>
              <a:ext cx="1" cy="1357855"/>
            </a:xfrm>
            <a:prstGeom prst="line">
              <a:avLst/>
            </a:prstGeom>
            <a:ln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任意多边形 2"/>
          <p:cNvSpPr/>
          <p:nvPr/>
        </p:nvSpPr>
        <p:spPr>
          <a:xfrm>
            <a:off x="550505" y="3049235"/>
            <a:ext cx="2500604" cy="951723"/>
          </a:xfrm>
          <a:custGeom>
            <a:avLst/>
            <a:gdLst>
              <a:gd name="connsiteX0" fmla="*/ 0 w 2836506"/>
              <a:gd name="connsiteY0" fmla="*/ 0 h 951723"/>
              <a:gd name="connsiteX1" fmla="*/ 839755 w 2836506"/>
              <a:gd name="connsiteY1" fmla="*/ 951723 h 951723"/>
              <a:gd name="connsiteX2" fmla="*/ 2836506 w 2836506"/>
              <a:gd name="connsiteY2" fmla="*/ 923731 h 9517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36506" h="951723">
                <a:moveTo>
                  <a:pt x="0" y="0"/>
                </a:moveTo>
                <a:lnTo>
                  <a:pt x="839755" y="951723"/>
                </a:lnTo>
                <a:lnTo>
                  <a:pt x="2836506" y="923731"/>
                </a:lnTo>
              </a:path>
            </a:pathLst>
          </a:custGeom>
          <a:ln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TextBox 3"/>
          <p:cNvSpPr txBox="1"/>
          <p:nvPr/>
        </p:nvSpPr>
        <p:spPr>
          <a:xfrm>
            <a:off x="440246" y="4025057"/>
            <a:ext cx="20056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Linear dispersion</a:t>
            </a:r>
            <a:endParaRPr lang="zh-CN" altLang="en-US" dirty="0"/>
          </a:p>
        </p:txBody>
      </p:sp>
      <p:grpSp>
        <p:nvGrpSpPr>
          <p:cNvPr id="23" name="组合 22"/>
          <p:cNvGrpSpPr/>
          <p:nvPr/>
        </p:nvGrpSpPr>
        <p:grpSpPr>
          <a:xfrm>
            <a:off x="6580773" y="2947232"/>
            <a:ext cx="2329938" cy="1919643"/>
            <a:chOff x="-49038" y="1158763"/>
            <a:chExt cx="2587102" cy="2073532"/>
          </a:xfrm>
        </p:grpSpPr>
        <p:cxnSp>
          <p:nvCxnSpPr>
            <p:cNvPr id="24" name="直接箭头连接符 23"/>
            <p:cNvCxnSpPr/>
            <p:nvPr/>
          </p:nvCxnSpPr>
          <p:spPr>
            <a:xfrm>
              <a:off x="392023" y="2929195"/>
              <a:ext cx="2146041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箭头连接符 24"/>
            <p:cNvCxnSpPr/>
            <p:nvPr/>
          </p:nvCxnSpPr>
          <p:spPr>
            <a:xfrm flipV="1">
              <a:off x="392023" y="1158763"/>
              <a:ext cx="0" cy="1770433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TextBox 25"/>
            <p:cNvSpPr txBox="1"/>
            <p:nvPr/>
          </p:nvSpPr>
          <p:spPr>
            <a:xfrm rot="16200000">
              <a:off x="-456201" y="1808195"/>
              <a:ext cx="115288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600" dirty="0"/>
                <a:t>Frequency</a:t>
              </a:r>
              <a:endParaRPr lang="zh-CN" altLang="en-US" sz="1600" dirty="0"/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774714" y="2924518"/>
              <a:ext cx="119404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dirty="0"/>
                <a:t>Wave Vector</a:t>
              </a:r>
              <a:endParaRPr lang="zh-CN" altLang="en-US" sz="1400" dirty="0"/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152989" y="2841825"/>
              <a:ext cx="28725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l-GR" altLang="zh-CN" sz="1400" i="1" dirty="0">
                  <a:latin typeface="Times New Roman" pitchFamily="18" charset="0"/>
                  <a:cs typeface="Times New Roman" pitchFamily="18" charset="0"/>
                </a:rPr>
                <a:t>Γ</a:t>
              </a:r>
              <a:endParaRPr lang="zh-CN" altLang="en-US" sz="1400" i="1" dirty="0">
                <a:latin typeface="Times New Roman" pitchFamily="18" charset="0"/>
                <a:cs typeface="Times New Roman" pitchFamily="18" charset="0"/>
              </a:endParaRPr>
            </a:p>
          </p:txBody>
        </p:sp>
        <p:cxnSp>
          <p:nvCxnSpPr>
            <p:cNvPr id="31" name="直接连接符 30"/>
            <p:cNvCxnSpPr/>
            <p:nvPr/>
          </p:nvCxnSpPr>
          <p:spPr>
            <a:xfrm flipH="1">
              <a:off x="440247" y="1706622"/>
              <a:ext cx="1840653" cy="0"/>
            </a:xfrm>
            <a:prstGeom prst="line">
              <a:avLst/>
            </a:prstGeom>
            <a:ln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32" name="对象 31"/>
            <p:cNvGraphicFramePr>
              <a:graphicFrameLocks noChangeAspect="1"/>
            </p:cNvGraphicFramePr>
            <p:nvPr/>
          </p:nvGraphicFramePr>
          <p:xfrm>
            <a:off x="1948260" y="1353971"/>
            <a:ext cx="280987" cy="2968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9" imgW="215640" imgH="228600" progId="">
                    <p:embed/>
                  </p:oleObj>
                </mc:Choice>
                <mc:Fallback>
                  <p:oleObj name="Equation" r:id="rId9" imgW="215640" imgH="228600" progId="">
                    <p:embed/>
                    <p:pic>
                      <p:nvPicPr>
                        <p:cNvPr id="32" name="对象 3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48260" y="1353971"/>
                          <a:ext cx="280987" cy="29686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33" name="直接连接符 32"/>
            <p:cNvCxnSpPr/>
            <p:nvPr/>
          </p:nvCxnSpPr>
          <p:spPr>
            <a:xfrm flipH="1">
              <a:off x="1791615" y="1566663"/>
              <a:ext cx="1" cy="1357855"/>
            </a:xfrm>
            <a:prstGeom prst="line">
              <a:avLst/>
            </a:prstGeom>
            <a:ln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" name="任意多边形 5"/>
          <p:cNvSpPr/>
          <p:nvPr/>
        </p:nvSpPr>
        <p:spPr>
          <a:xfrm>
            <a:off x="6969966" y="3487774"/>
            <a:ext cx="1278294" cy="1101012"/>
          </a:xfrm>
          <a:custGeom>
            <a:avLst/>
            <a:gdLst>
              <a:gd name="connsiteX0" fmla="*/ 0 w 1278294"/>
              <a:gd name="connsiteY0" fmla="*/ 1101012 h 1101012"/>
              <a:gd name="connsiteX1" fmla="*/ 410547 w 1278294"/>
              <a:gd name="connsiteY1" fmla="*/ 587828 h 1101012"/>
              <a:gd name="connsiteX2" fmla="*/ 821094 w 1278294"/>
              <a:gd name="connsiteY2" fmla="*/ 186612 h 1101012"/>
              <a:gd name="connsiteX3" fmla="*/ 1278294 w 1278294"/>
              <a:gd name="connsiteY3" fmla="*/ 0 h 11010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78294" h="1101012">
                <a:moveTo>
                  <a:pt x="0" y="1101012"/>
                </a:moveTo>
                <a:cubicBezTo>
                  <a:pt x="136849" y="920620"/>
                  <a:pt x="273698" y="740228"/>
                  <a:pt x="410547" y="587828"/>
                </a:cubicBezTo>
                <a:cubicBezTo>
                  <a:pt x="547396" y="435428"/>
                  <a:pt x="676470" y="284583"/>
                  <a:pt x="821094" y="186612"/>
                </a:cubicBezTo>
                <a:cubicBezTo>
                  <a:pt x="965718" y="88641"/>
                  <a:pt x="1278294" y="0"/>
                  <a:pt x="1278294" y="0"/>
                </a:cubicBezTo>
              </a:path>
            </a:pathLst>
          </a:custGeom>
          <a:ln w="3810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任意多边形 6"/>
          <p:cNvSpPr/>
          <p:nvPr/>
        </p:nvSpPr>
        <p:spPr>
          <a:xfrm>
            <a:off x="6008913" y="2265464"/>
            <a:ext cx="2015413" cy="811763"/>
          </a:xfrm>
          <a:custGeom>
            <a:avLst/>
            <a:gdLst>
              <a:gd name="connsiteX0" fmla="*/ 0 w 2015413"/>
              <a:gd name="connsiteY0" fmla="*/ 0 h 811763"/>
              <a:gd name="connsiteX1" fmla="*/ 1156996 w 2015413"/>
              <a:gd name="connsiteY1" fmla="*/ 9330 h 811763"/>
              <a:gd name="connsiteX2" fmla="*/ 2015413 w 2015413"/>
              <a:gd name="connsiteY2" fmla="*/ 811763 h 8117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015413" h="811763">
                <a:moveTo>
                  <a:pt x="0" y="0"/>
                </a:moveTo>
                <a:lnTo>
                  <a:pt x="1156996" y="9330"/>
                </a:lnTo>
                <a:lnTo>
                  <a:pt x="2015413" y="811763"/>
                </a:lnTo>
              </a:path>
            </a:pathLst>
          </a:custGeom>
          <a:ln>
            <a:solidFill>
              <a:schemeClr val="accent6">
                <a:lumMod val="75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TextBox 35"/>
          <p:cNvSpPr txBox="1"/>
          <p:nvPr/>
        </p:nvSpPr>
        <p:spPr>
          <a:xfrm>
            <a:off x="6733223" y="1785536"/>
            <a:ext cx="17620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Sine dispersion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48874369"/>
      </p:ext>
    </p:extLst>
  </p:cSld>
  <p:clrMapOvr>
    <a:masterClrMapping/>
  </p:clrMapOvr>
  <p:transition spd="slow" advTm="25418"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1">
            <a:extLst>
              <a:ext uri="{FF2B5EF4-FFF2-40B4-BE49-F238E27FC236}">
                <a16:creationId xmlns:a16="http://schemas.microsoft.com/office/drawing/2014/main" id="{D527A496-6C6C-438B-A07B-71B48919F874}"/>
              </a:ext>
            </a:extLst>
          </p:cNvPr>
          <p:cNvSpPr txBox="1"/>
          <p:nvPr/>
        </p:nvSpPr>
        <p:spPr>
          <a:xfrm>
            <a:off x="1348880" y="3368987"/>
            <a:ext cx="538641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solidFill>
                  <a:srgbClr val="FF0000"/>
                </a:solidFill>
              </a:rPr>
              <a:t>21. Other contribution to heat capacity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2007028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F3908699-B4D1-49AA-A2F8-07D39A8AC3B8}"/>
              </a:ext>
            </a:extLst>
          </p:cNvPr>
          <p:cNvSpPr txBox="1"/>
          <p:nvPr/>
        </p:nvSpPr>
        <p:spPr>
          <a:xfrm>
            <a:off x="1751087" y="199154"/>
            <a:ext cx="547778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solidFill>
                  <a:srgbClr val="FF0000"/>
                </a:solidFill>
                <a:cs typeface="Times New Roman" panose="02020603050405020304" pitchFamily="18" charset="0"/>
              </a:rPr>
              <a:t>The heat capacity of matter at low temperature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92F125D-6C34-496A-8890-7C312AA8D9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46073" y="1178283"/>
            <a:ext cx="4651853" cy="13079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030637AF-7DE6-4016-B8CD-3460601D459B}"/>
              </a:ext>
            </a:extLst>
          </p:cNvPr>
          <p:cNvSpPr txBox="1"/>
          <p:nvPr/>
        </p:nvSpPr>
        <p:spPr>
          <a:xfrm>
            <a:off x="5571409" y="3445527"/>
            <a:ext cx="3181611" cy="17030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1800" dirty="0">
                <a:solidFill>
                  <a:srgbClr val="FF0000"/>
                </a:solidFill>
                <a:cs typeface="Times New Roman" panose="02020603050405020304" pitchFamily="18" charset="0"/>
              </a:rPr>
              <a:t>1. Lattice heat capacity</a:t>
            </a:r>
          </a:p>
          <a:p>
            <a:pPr algn="just">
              <a:lnSpc>
                <a:spcPct val="150000"/>
              </a:lnSpc>
            </a:pPr>
            <a:r>
              <a:rPr lang="en-US" altLang="zh-CN" sz="1800" dirty="0">
                <a:cs typeface="Times New Roman" panose="02020603050405020304" pitchFamily="18" charset="0"/>
              </a:rPr>
              <a:t>2. Electronic heat capacity</a:t>
            </a:r>
          </a:p>
          <a:p>
            <a:pPr>
              <a:lnSpc>
                <a:spcPct val="150000"/>
              </a:lnSpc>
            </a:pPr>
            <a:r>
              <a:rPr lang="en-US" altLang="zh-CN" sz="1800" dirty="0">
                <a:cs typeface="Times New Roman" panose="02020603050405020304" pitchFamily="18" charset="0"/>
              </a:rPr>
              <a:t>3. Magnetic heat capacity</a:t>
            </a:r>
          </a:p>
          <a:p>
            <a:pPr>
              <a:lnSpc>
                <a:spcPct val="150000"/>
              </a:lnSpc>
            </a:pPr>
            <a:r>
              <a:rPr lang="en-US" altLang="zh-CN" sz="1800" dirty="0">
                <a:cs typeface="Times New Roman" panose="02020603050405020304" pitchFamily="18" charset="0"/>
              </a:rPr>
              <a:t>4. Heat capacity anomalies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02E1F51-CCD5-401C-B283-1FDC7CB6FA7E}"/>
              </a:ext>
            </a:extLst>
          </p:cNvPr>
          <p:cNvSpPr txBox="1"/>
          <p:nvPr/>
        </p:nvSpPr>
        <p:spPr>
          <a:xfrm>
            <a:off x="261813" y="2753991"/>
            <a:ext cx="4959143" cy="30282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100"/>
              </a:lnSpc>
            </a:pPr>
            <a:r>
              <a:rPr lang="en-US" altLang="zh-CN" sz="1400" kern="1200" dirty="0"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1800 Black first proposed the concept of heat capacity</a:t>
            </a:r>
          </a:p>
          <a:p>
            <a:pPr>
              <a:lnSpc>
                <a:spcPts val="2100"/>
              </a:lnSpc>
            </a:pPr>
            <a:r>
              <a:rPr lang="en-US" altLang="zh-CN" sz="1400" kern="1200" dirty="0"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1819 Dulong-Petit Law</a:t>
            </a:r>
          </a:p>
          <a:p>
            <a:pPr>
              <a:lnSpc>
                <a:spcPts val="2100"/>
              </a:lnSpc>
            </a:pPr>
            <a:r>
              <a:rPr lang="en-US" altLang="zh-CN" sz="1400" kern="1200" dirty="0"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1907 Einstein Model</a:t>
            </a:r>
          </a:p>
          <a:p>
            <a:pPr>
              <a:lnSpc>
                <a:spcPts val="2100"/>
              </a:lnSpc>
            </a:pPr>
            <a:r>
              <a:rPr lang="en-US" altLang="zh-CN" sz="1400" kern="1200" dirty="0"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1912 Debye Model</a:t>
            </a:r>
          </a:p>
          <a:p>
            <a:pPr>
              <a:lnSpc>
                <a:spcPts val="2100"/>
              </a:lnSpc>
            </a:pPr>
            <a:r>
              <a:rPr lang="en-US" altLang="zh-CN" sz="1400" kern="1200" dirty="0"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1928 </a:t>
            </a:r>
            <a:r>
              <a:rPr lang="en-US" altLang="zh-CN" sz="1400" dirty="0">
                <a:cs typeface="Times New Roman" panose="02020603050405020304" pitchFamily="18" charset="0"/>
              </a:rPr>
              <a:t>Electronic heat capacity - Sommerfeld</a:t>
            </a:r>
            <a:endParaRPr lang="en-US" altLang="zh-CN" sz="1400" kern="1200" dirty="0">
              <a:solidFill>
                <a:schemeClr val="tx1"/>
              </a:solidFill>
              <a:effectLst/>
              <a:cs typeface="Times New Roman" panose="02020603050405020304" pitchFamily="18" charset="0"/>
            </a:endParaRPr>
          </a:p>
          <a:p>
            <a:pPr marL="0" marR="0" indent="0" algn="l" defTabSz="685800" rtl="0" eaLnBrk="1" fontAlgn="auto" latinLnBrk="0" hangingPunct="1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400" kern="1200" dirty="0"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1963</a:t>
            </a:r>
            <a:r>
              <a:rPr lang="zh-CN" altLang="en-US" sz="1400" kern="1200" dirty="0"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 </a:t>
            </a:r>
            <a:r>
              <a:rPr lang="en-US" altLang="zh-CN" sz="1400" dirty="0">
                <a:cs typeface="Times New Roman" panose="02020603050405020304" pitchFamily="18" charset="0"/>
              </a:rPr>
              <a:t>Rosenberg proposed the Schottky anomaly of heat capacity in solids</a:t>
            </a:r>
          </a:p>
          <a:p>
            <a:pPr marL="0" marR="0" indent="0" algn="l" defTabSz="685800" rtl="0" eaLnBrk="1" fontAlgn="auto" latinLnBrk="0" hangingPunct="1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400" dirty="0">
                <a:cs typeface="Times New Roman" panose="02020603050405020304" pitchFamily="18" charset="0"/>
              </a:rPr>
              <a:t>1980 Magnetic heat capacity - Sinha and Kumar</a:t>
            </a:r>
          </a:p>
          <a:p>
            <a:pPr marL="0" marR="0" indent="0" algn="l" defTabSz="685800" rtl="0" eaLnBrk="1" fontAlgn="auto" latinLnBrk="0" hangingPunct="1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400" dirty="0">
                <a:cs typeface="Times New Roman" panose="02020603050405020304" pitchFamily="18" charset="0"/>
              </a:rPr>
              <a:t>1992</a:t>
            </a:r>
            <a:r>
              <a:rPr lang="zh-CN" altLang="en-US" sz="1400" dirty="0">
                <a:cs typeface="Times New Roman" panose="02020603050405020304" pitchFamily="18" charset="0"/>
              </a:rPr>
              <a:t> </a:t>
            </a:r>
            <a:r>
              <a:rPr lang="en-US" altLang="zh-CN" sz="1400" dirty="0">
                <a:cs typeface="Times New Roman" panose="02020603050405020304" pitchFamily="18" charset="0"/>
              </a:rPr>
              <a:t>Elliott discovered the Boson peak anomaly in heat capacity</a:t>
            </a:r>
          </a:p>
          <a:p>
            <a:pPr marL="0" marR="0" indent="0" algn="l" defTabSz="685800" rtl="0" eaLnBrk="1" fontAlgn="auto" latinLnBrk="0" hangingPunct="1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400" dirty="0">
                <a:cs typeface="Times New Roman" panose="02020603050405020304" pitchFamily="18" charset="0"/>
              </a:rPr>
              <a:t>2010-2020  C</a:t>
            </a:r>
            <a:r>
              <a:rPr lang="en-US" altLang="zh-CN" sz="1400" kern="1200" dirty="0"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alorimetry, New model and Application</a:t>
            </a:r>
            <a:endParaRPr lang="zh-CN" altLang="en-US" sz="1400" dirty="0"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632438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070AC4FB-0F95-44EF-90C9-0B28A6A26E0E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5373393" y="141851"/>
            <a:ext cx="3028426" cy="223661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FFEE559D-704A-4CFC-8F4C-AF5C49E4223C}"/>
                  </a:ext>
                </a:extLst>
              </p:cNvPr>
              <p:cNvSpPr txBox="1"/>
              <p:nvPr/>
            </p:nvSpPr>
            <p:spPr>
              <a:xfrm>
                <a:off x="4959885" y="2492120"/>
                <a:ext cx="4102217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600" b="1" i="0" dirty="0">
                    <a:solidFill>
                      <a:srgbClr val="000000"/>
                    </a:solidFill>
                    <a:effectLst/>
                  </a:rPr>
                  <a:t>Variation of the Fermi-Dirac distribution function with </a:t>
                </a:r>
                <a14:m>
                  <m:oMath xmlns:m="http://schemas.openxmlformats.org/officeDocument/2006/math">
                    <m:f>
                      <m:fPr>
                        <m:type m:val="lin"/>
                        <m:ctrlPr>
                          <a:rPr lang="en-US" altLang="zh-CN" sz="1600" b="1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 sz="1600" b="1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𝜺</m:t>
                        </m:r>
                      </m:num>
                      <m:den>
                        <m:sSub>
                          <m:sSubPr>
                            <m:ctrlPr>
                              <a:rPr lang="en-US" altLang="zh-CN" sz="1600" b="1" i="1" smtClean="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1600" b="1" i="1" smtClean="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𝜺</m:t>
                            </m:r>
                          </m:e>
                          <m:sub>
                            <m:r>
                              <a:rPr lang="en-US" altLang="zh-CN" sz="1600" b="1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𝑭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altLang="zh-CN" sz="1600" b="1" i="0" dirty="0">
                    <a:solidFill>
                      <a:srgbClr val="000000"/>
                    </a:solidFill>
                    <a:effectLst/>
                  </a:rPr>
                  <a:t> at three temperatures.</a:t>
                </a:r>
                <a:r>
                  <a:rPr lang="en-US" altLang="zh-CN" sz="1600" b="1" dirty="0"/>
                  <a:t> </a:t>
                </a:r>
                <a:endParaRPr lang="zh-CN" altLang="en-US" sz="1600" b="1" dirty="0"/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xmlns="" id="{FFEE559D-704A-4CFC-8F4C-AF5C49E422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59885" y="2492120"/>
                <a:ext cx="4102217" cy="584775"/>
              </a:xfrm>
              <a:prstGeom prst="rect">
                <a:avLst/>
              </a:prstGeom>
              <a:blipFill>
                <a:blip r:embed="rId3" cstate="print"/>
                <a:stretch>
                  <a:fillRect l="-892" t="-16667" r="-2080" b="-958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文本框 4">
            <a:extLst>
              <a:ext uri="{FF2B5EF4-FFF2-40B4-BE49-F238E27FC236}">
                <a16:creationId xmlns:a16="http://schemas.microsoft.com/office/drawing/2014/main" id="{59A71A4B-ECD7-4A36-A325-CD2A63A8B27E}"/>
              </a:ext>
            </a:extLst>
          </p:cNvPr>
          <p:cNvSpPr txBox="1"/>
          <p:nvPr/>
        </p:nvSpPr>
        <p:spPr>
          <a:xfrm>
            <a:off x="322679" y="141851"/>
            <a:ext cx="4766871" cy="5778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2400" dirty="0">
                <a:solidFill>
                  <a:srgbClr val="FF0000"/>
                </a:solidFill>
              </a:rPr>
              <a:t>Electronic heat capacity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06A34355-3167-4801-954B-1125264B1CCC}"/>
              </a:ext>
            </a:extLst>
          </p:cNvPr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1367575" y="3354371"/>
            <a:ext cx="2708772" cy="237880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E5075507-D189-442D-AB58-B05C2BD279B1}"/>
                  </a:ext>
                </a:extLst>
              </p:cNvPr>
              <p:cNvSpPr txBox="1"/>
              <p:nvPr/>
            </p:nvSpPr>
            <p:spPr>
              <a:xfrm>
                <a:off x="193014" y="5633893"/>
                <a:ext cx="4766871" cy="13234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n-US" altLang="zh-CN" sz="1600" b="1" i="0" dirty="0">
                    <a:solidFill>
                      <a:srgbClr val="000000"/>
                    </a:solidFill>
                    <a:effectLst/>
                    <a:latin typeface="TimesNewRomanPSMT"/>
                  </a:rPr>
                  <a:t>Single particle density of states for free electrons. At </a:t>
                </a:r>
                <a:r>
                  <a:rPr lang="en-US" altLang="zh-CN" sz="1600" b="1" i="1" dirty="0">
                    <a:solidFill>
                      <a:srgbClr val="000000"/>
                    </a:solidFill>
                    <a:effectLst/>
                    <a:latin typeface="TimesNewRomanPS-ItalicMT"/>
                  </a:rPr>
                  <a:t>T&lt;&lt;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1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1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𝑻</m:t>
                        </m:r>
                      </m:e>
                      <m:sub>
                        <m:r>
                          <a:rPr lang="en-US" altLang="zh-CN" sz="1600" b="1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𝑭</m:t>
                        </m:r>
                      </m:sub>
                    </m:sSub>
                  </m:oMath>
                </a14:m>
                <a:r>
                  <a:rPr lang="en-US" altLang="zh-CN" sz="1600" b="1" i="0" dirty="0">
                    <a:solidFill>
                      <a:srgbClr val="000000"/>
                    </a:solidFill>
                    <a:effectLst/>
                    <a:latin typeface="TimesNewRomanPSMT"/>
                  </a:rPr>
                  <a:t> only those electrons within the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1" i="1">
                            <a:latin typeface="Cambria Math" panose="02040503050406030204" pitchFamily="18" charset="0"/>
                          </a:rPr>
                          <m:t>𝒌</m:t>
                        </m:r>
                      </m:e>
                      <m:sub>
                        <m:r>
                          <a:rPr lang="en-US" altLang="zh-CN" sz="1600" b="1" i="1">
                            <a:latin typeface="Cambria Math" panose="02040503050406030204" pitchFamily="18" charset="0"/>
                          </a:rPr>
                          <m:t>𝑩</m:t>
                        </m:r>
                      </m:sub>
                    </m:sSub>
                    <m:r>
                      <a:rPr lang="en-US" altLang="zh-CN" sz="1600" b="1" i="1" smtClean="0">
                        <a:latin typeface="Cambria Math" panose="02040503050406030204" pitchFamily="18" charset="0"/>
                      </a:rPr>
                      <m:t>𝑻</m:t>
                    </m:r>
                  </m:oMath>
                </a14:m>
                <a:r>
                  <a:rPr lang="en-US" altLang="zh-CN" sz="1600" b="1" i="1" dirty="0">
                    <a:solidFill>
                      <a:srgbClr val="000000"/>
                    </a:solidFill>
                    <a:effectLst/>
                    <a:latin typeface="TimesNewRomanPS-ItalicMT"/>
                  </a:rPr>
                  <a:t> </a:t>
                </a:r>
                <a:r>
                  <a:rPr lang="en-US" altLang="zh-CN" sz="1600" b="1" i="0" dirty="0">
                    <a:solidFill>
                      <a:srgbClr val="000000"/>
                    </a:solidFill>
                    <a:effectLst/>
                    <a:latin typeface="TimesNewRomanPSMT"/>
                  </a:rPr>
                  <a:t>range of the Fermi energy contribute to the specific heat.</a:t>
                </a:r>
              </a:p>
              <a:p>
                <a:pPr algn="just"/>
                <a:r>
                  <a:rPr lang="en-US" altLang="zh-CN" sz="1600" b="1" i="0" dirty="0">
                    <a:solidFill>
                      <a:srgbClr val="000000"/>
                    </a:solidFill>
                    <a:effectLst/>
                    <a:latin typeface="TimesNewRomanPSMT"/>
                  </a:rPr>
                  <a:t> </a:t>
                </a:r>
                <a:br>
                  <a:rPr lang="en-US" altLang="zh-CN" sz="1600" b="1" dirty="0"/>
                </a:br>
                <a:endParaRPr lang="zh-CN" altLang="en-US" sz="1600" b="1" dirty="0"/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="" xmlns:a14="http://schemas.microsoft.com/office/drawing/2010/main" xmlns:a16="http://schemas.microsoft.com/office/drawing/2014/main" id="{E5075507-D189-442D-AB58-B05C2BD279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3014" y="5633893"/>
                <a:ext cx="4766871" cy="1323439"/>
              </a:xfrm>
              <a:prstGeom prst="rect">
                <a:avLst/>
              </a:prstGeom>
              <a:blipFill rotWithShape="0">
                <a:blip r:embed="rId5" cstate="print"/>
                <a:stretch>
                  <a:fillRect l="-767" t="-1382" r="-63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D47B55ED-6FAF-4F7C-821E-1F001799B9EB}"/>
                  </a:ext>
                </a:extLst>
              </p:cNvPr>
              <p:cNvSpPr txBox="1"/>
              <p:nvPr/>
            </p:nvSpPr>
            <p:spPr>
              <a:xfrm>
                <a:off x="1367575" y="2304419"/>
                <a:ext cx="2225096" cy="53681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b="0" i="1" smtClean="0"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f>
                                <m:fPr>
                                  <m:type m:val="lin"/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d>
                                    <m:dPr>
                                      <m:ctrlP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zh-CN" altLang="en-US" b="0" i="1" smtClean="0">
                                          <a:latin typeface="Cambria Math" panose="02040503050406030204" pitchFamily="18" charset="0"/>
                                        </a:rPr>
                                        <m:t>𝜀</m:t>
                                      </m:r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zh-CN" altLang="en-US" b="0" i="1" smtClean="0">
                                          <a:latin typeface="Cambria Math" panose="02040503050406030204" pitchFamily="18" charset="0"/>
                                        </a:rPr>
                                        <m:t>𝜇</m:t>
                                      </m:r>
                                    </m:e>
                                  </m:d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e>
                                    <m:sub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𝐵</m:t>
                                      </m:r>
                                    </m:sub>
                                  </m:s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den>
                              </m:f>
                            </m:sup>
                          </m:s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den>
                      </m:f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xmlns="" id="{D47B55ED-6FAF-4F7C-821E-1F001799B9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67575" y="2304419"/>
                <a:ext cx="2225096" cy="536814"/>
              </a:xfrm>
              <a:prstGeom prst="rect">
                <a:avLst/>
              </a:prstGeom>
              <a:blipFill>
                <a:blip r:embed="rId6" cstate="print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文本框 11">
            <a:extLst>
              <a:ext uri="{FF2B5EF4-FFF2-40B4-BE49-F238E27FC236}">
                <a16:creationId xmlns:a16="http://schemas.microsoft.com/office/drawing/2014/main" id="{2F228388-9D55-4783-A217-1122F5848607}"/>
              </a:ext>
            </a:extLst>
          </p:cNvPr>
          <p:cNvSpPr txBox="1"/>
          <p:nvPr/>
        </p:nvSpPr>
        <p:spPr>
          <a:xfrm>
            <a:off x="370146" y="876869"/>
            <a:ext cx="441260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zh-CN" sz="1600" dirty="0">
                <a:cs typeface="Times New Roman" panose="02020603050405020304" pitchFamily="18" charset="0"/>
              </a:rPr>
              <a:t>When a gas consisting of N electrons (N is assumed to be very large) is in thermal equilibrium the probability that a particular energy level e is occupied is given by the Fermi-Dirac distribution function</a:t>
            </a:r>
            <a:endParaRPr lang="zh-CN" altLang="en-US" sz="1600" dirty="0"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C1915493-2499-476E-89B7-D2F25F2EBC34}"/>
                  </a:ext>
                </a:extLst>
              </p:cNvPr>
              <p:cNvSpPr txBox="1"/>
              <p:nvPr/>
            </p:nvSpPr>
            <p:spPr>
              <a:xfrm>
                <a:off x="5719168" y="5530424"/>
                <a:ext cx="2525500" cy="5203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sSup>
                        <m:s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sSubSup>
                        <m:sSub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zh-CN" altLang="en-US" b="0" i="1" smtClean="0">
                          <a:latin typeface="Cambria Math" panose="02040503050406030204" pitchFamily="18" charset="0"/>
                        </a:rPr>
                        <m:t>𝜂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b="0" i="1" smtClean="0"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sub>
                          </m:sSub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b="0" i="1" smtClean="0">
                          <a:latin typeface="Cambria Math" panose="02040503050406030204" pitchFamily="18" charset="0"/>
                        </a:rPr>
                        <m:t>𝛾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𝑇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xmlns="" id="{C1915493-2499-476E-89B7-D2F25F2EBC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9168" y="5530424"/>
                <a:ext cx="2525500" cy="520399"/>
              </a:xfrm>
              <a:prstGeom prst="rect">
                <a:avLst/>
              </a:prstGeom>
              <a:blipFill>
                <a:blip r:embed="rId7" cstate="print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58D2F340-BA08-4C30-9A93-B68F5EEE16C6}"/>
                  </a:ext>
                </a:extLst>
              </p:cNvPr>
              <p:cNvSpPr txBox="1"/>
              <p:nvPr/>
            </p:nvSpPr>
            <p:spPr>
              <a:xfrm>
                <a:off x="5089550" y="3675650"/>
                <a:ext cx="3554435" cy="62645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sub>
                              </m:s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</m:d>
                        </m:e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𝜂</m:t>
                          </m:r>
                          <m:d>
                            <m:d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  <m:t>𝜀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den>
                      </m:f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2</m:t>
                      </m:r>
                      <m:nary>
                        <m:nary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f>
                            <m:f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sSup>
                                <m:sSup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p>
                              </m:sSup>
                            </m:num>
                            <m:den>
                              <m:d>
                                <m:d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𝑒</m:t>
                                      </m:r>
                                    </m:e>
                                    <m:sup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sup>
                                  </m:sSup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e>
                              </m:d>
                            </m:den>
                          </m:f>
                        </m:e>
                      </m:nary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𝑑𝑥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xmlns="" id="{58D2F340-BA08-4C30-9A93-B68F5EEE16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89550" y="3675650"/>
                <a:ext cx="3554435" cy="626454"/>
              </a:xfrm>
              <a:prstGeom prst="rect">
                <a:avLst/>
              </a:prstGeom>
              <a:blipFill>
                <a:blip r:embed="rId8" cstate="print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FFDBC804-97B6-4837-B26D-C788EA96FE6A}"/>
                  </a:ext>
                </a:extLst>
              </p:cNvPr>
              <p:cNvSpPr txBox="1"/>
              <p:nvPr/>
            </p:nvSpPr>
            <p:spPr>
              <a:xfrm>
                <a:off x="5026932" y="4478019"/>
                <a:ext cx="3909972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14:m>
                  <m:oMath xmlns:m="http://schemas.openxmlformats.org/officeDocument/2006/math">
                    <m:r>
                      <a:rPr lang="zh-CN" altLang="en-US" sz="1600" i="1" smtClean="0">
                        <a:latin typeface="Cambria Math" panose="02040503050406030204" pitchFamily="18" charset="0"/>
                      </a:rPr>
                      <m:t>𝜂</m:t>
                    </m:r>
                    <m:d>
                      <m:d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1600" i="1">
                                <a:latin typeface="Cambria Math" panose="02040503050406030204" pitchFamily="18" charset="0"/>
                              </a:rPr>
                              <m:t>𝜀</m:t>
                            </m:r>
                          </m:e>
                          <m:sub>
                            <m:r>
                              <a:rPr lang="en-US" altLang="zh-CN" sz="1600" i="1">
                                <a:latin typeface="Cambria Math" panose="02040503050406030204" pitchFamily="18" charset="0"/>
                              </a:rPr>
                              <m:t>𝐹</m:t>
                            </m:r>
                          </m:sub>
                        </m:sSub>
                      </m:e>
                    </m:d>
                  </m:oMath>
                </a14:m>
                <a:r>
                  <a:rPr lang="zh-CN" altLang="en-US" sz="1600" dirty="0"/>
                  <a:t> </a:t>
                </a:r>
                <a:r>
                  <a:rPr lang="en-US" altLang="zh-CN" sz="1600" dirty="0"/>
                  <a:t>is the density of states at the Fermi level. The numerical value of the above integral is </a:t>
                </a:r>
                <a14:m>
                  <m:oMath xmlns:m="http://schemas.openxmlformats.org/officeDocument/2006/math">
                    <m:f>
                      <m:fPr>
                        <m:type m:val="lin"/>
                        <m:ctrlPr>
                          <a:rPr lang="en-US" altLang="zh-CN" sz="16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sz="160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sz="1600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p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lang="zh-CN" altLang="en-US" sz="1600" dirty="0"/>
                  <a:t> </a:t>
                </a:r>
                <a:r>
                  <a:rPr lang="en-US" altLang="zh-CN" sz="1600" dirty="0"/>
                  <a:t>and hence:</a:t>
                </a:r>
                <a:endParaRPr lang="zh-CN" altLang="en-US" sz="1600" dirty="0"/>
              </a:p>
            </p:txBody>
          </p:sp>
        </mc:Choice>
        <mc:Fallback xmlns="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xmlns="" id="{FFDBC804-97B6-4837-B26D-C788EA96FE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6932" y="4478019"/>
                <a:ext cx="3909972" cy="830997"/>
              </a:xfrm>
              <a:prstGeom prst="rect">
                <a:avLst/>
              </a:prstGeom>
              <a:blipFill>
                <a:blip r:embed="rId9" cstate="print"/>
                <a:stretch>
                  <a:fillRect l="-936" t="-2206" r="-780" b="-6838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/>
          <p:cNvSpPr txBox="1"/>
          <p:nvPr/>
        </p:nvSpPr>
        <p:spPr>
          <a:xfrm>
            <a:off x="5094216" y="6089591"/>
            <a:ext cx="41139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latin typeface="Times New Roman" pitchFamily="18" charset="0"/>
                <a:cs typeface="Times New Roman" pitchFamily="18" charset="0"/>
              </a:rPr>
              <a:t>Kittel C., McEuen P., McEuen P. Introduction to Solid State Physics[M]. Wiley, New York, 1976, Vol. 8</a:t>
            </a:r>
            <a:endParaRPr lang="zh-CN" altLang="en-US" sz="14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181715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AE521B64-F1A9-47D3-91E5-1301594C04F8}"/>
              </a:ext>
            </a:extLst>
          </p:cNvPr>
          <p:cNvSpPr txBox="1"/>
          <p:nvPr/>
        </p:nvSpPr>
        <p:spPr>
          <a:xfrm>
            <a:off x="2644916" y="70909"/>
            <a:ext cx="4174619" cy="5778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rgbClr val="FF0000"/>
                </a:solidFill>
              </a:rPr>
              <a:t>Magnetic heat capacity</a:t>
            </a:r>
          </a:p>
        </p:txBody>
      </p:sp>
      <p:pic>
        <p:nvPicPr>
          <p:cNvPr id="4" name="图片 3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26935" y="1001008"/>
            <a:ext cx="3494300" cy="20037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extBox 4"/>
          <p:cNvSpPr txBox="1"/>
          <p:nvPr/>
        </p:nvSpPr>
        <p:spPr>
          <a:xfrm>
            <a:off x="687899" y="3061982"/>
            <a:ext cx="369115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cs typeface="Times New Roman" pitchFamily="18" charset="0"/>
              </a:rPr>
              <a:t>The heat capacity of Fe</a:t>
            </a:r>
            <a:r>
              <a:rPr lang="en-US" altLang="zh-CN" sz="1600" baseline="-25000" dirty="0">
                <a:cs typeface="Times New Roman" pitchFamily="18" charset="0"/>
              </a:rPr>
              <a:t>4</a:t>
            </a:r>
            <a:r>
              <a:rPr lang="en-US" altLang="zh-CN" sz="1600" dirty="0">
                <a:cs typeface="Times New Roman" pitchFamily="18" charset="0"/>
              </a:rPr>
              <a:t>(P</a:t>
            </a:r>
            <a:r>
              <a:rPr lang="en-US" altLang="zh-CN" sz="1600" baseline="-25000" dirty="0">
                <a:cs typeface="Times New Roman" pitchFamily="18" charset="0"/>
              </a:rPr>
              <a:t>2</a:t>
            </a:r>
            <a:r>
              <a:rPr lang="en-US" altLang="zh-CN" sz="1600" dirty="0">
                <a:cs typeface="Times New Roman" pitchFamily="18" charset="0"/>
              </a:rPr>
              <a:t>O</a:t>
            </a:r>
            <a:r>
              <a:rPr lang="en-US" altLang="zh-CN" sz="1600" baseline="-25000" dirty="0">
                <a:cs typeface="Times New Roman" pitchFamily="18" charset="0"/>
              </a:rPr>
              <a:t>7</a:t>
            </a:r>
            <a:r>
              <a:rPr lang="en-US" altLang="zh-CN" sz="1600" dirty="0">
                <a:cs typeface="Times New Roman" pitchFamily="18" charset="0"/>
              </a:rPr>
              <a:t>)</a:t>
            </a:r>
            <a:r>
              <a:rPr lang="en-US" altLang="zh-CN" sz="1600" baseline="-25000" dirty="0">
                <a:cs typeface="Times New Roman" pitchFamily="18" charset="0"/>
              </a:rPr>
              <a:t>3</a:t>
            </a:r>
            <a:r>
              <a:rPr lang="en-US" altLang="zh-CN" sz="1600" dirty="0">
                <a:cs typeface="Times New Roman" pitchFamily="18" charset="0"/>
              </a:rPr>
              <a:t> around magnetic transition</a:t>
            </a:r>
            <a:endParaRPr lang="zh-CN" altLang="en-US" sz="1600" dirty="0">
              <a:cs typeface="Times New Roman" pitchFamily="18" charset="0"/>
            </a:endParaRPr>
          </a:p>
        </p:txBody>
      </p:sp>
      <p:pic>
        <p:nvPicPr>
          <p:cNvPr id="6" name="图片 5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549318" y="994369"/>
            <a:ext cx="4384957" cy="1849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TextBox 6"/>
          <p:cNvSpPr txBox="1"/>
          <p:nvPr/>
        </p:nvSpPr>
        <p:spPr>
          <a:xfrm>
            <a:off x="4587589" y="3047833"/>
            <a:ext cx="42616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lphaLcParenBoth"/>
            </a:pPr>
            <a:r>
              <a:rPr lang="en-US" altLang="zh-CN" sz="1600" dirty="0" err="1">
                <a:cs typeface="Times New Roman" pitchFamily="18" charset="0"/>
              </a:rPr>
              <a:t>Paramagnetism</a:t>
            </a:r>
            <a:r>
              <a:rPr lang="en-US" altLang="zh-CN" sz="1600" dirty="0">
                <a:cs typeface="Times New Roman" pitchFamily="18" charset="0"/>
              </a:rPr>
              <a:t>, (b) Ferromagnetism,</a:t>
            </a:r>
          </a:p>
          <a:p>
            <a:r>
              <a:rPr lang="en-US" altLang="zh-CN" sz="1600" dirty="0">
                <a:cs typeface="Times New Roman" pitchFamily="18" charset="0"/>
              </a:rPr>
              <a:t> (c) Antiferromagnetism, (d) Ferrimagnetism</a:t>
            </a:r>
            <a:endParaRPr lang="zh-CN" altLang="en-US" sz="1600" dirty="0">
              <a:cs typeface="Times New Roman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42067" y="3884993"/>
            <a:ext cx="793738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altLang="zh-CN" sz="1600" dirty="0">
                <a:cs typeface="Times New Roman" pitchFamily="18" charset="0"/>
              </a:rPr>
              <a:t>There is a dispersion relation between the frequencies of different phases and the number of spintrons at these frequencies.</a:t>
            </a:r>
            <a:endParaRPr lang="zh-CN" altLang="en-US" sz="1600" dirty="0">
              <a:cs typeface="Times New Roman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38902" y="4493855"/>
            <a:ext cx="421127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b="1" dirty="0">
                <a:solidFill>
                  <a:srgbClr val="FF0000"/>
                </a:solidFill>
                <a:cs typeface="Times New Roman" pitchFamily="18" charset="0"/>
              </a:rPr>
              <a:t>Ferromagnetism</a:t>
            </a:r>
            <a:endParaRPr lang="zh-CN" altLang="en-US" sz="1600" b="1" dirty="0">
              <a:solidFill>
                <a:srgbClr val="FF0000"/>
              </a:solidFill>
              <a:cs typeface="Times New Roman" pitchFamily="18" charset="0"/>
            </a:endParaRPr>
          </a:p>
        </p:txBody>
      </p:sp>
      <p:sp>
        <p:nvSpPr>
          <p:cNvPr id="1843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2" name="TextBox 11"/>
          <p:cNvSpPr txBox="1"/>
          <p:nvPr/>
        </p:nvSpPr>
        <p:spPr>
          <a:xfrm>
            <a:off x="1568741" y="5336796"/>
            <a:ext cx="421127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cs typeface="Times New Roman" pitchFamily="18" charset="0"/>
              </a:rPr>
              <a:t>Antiferromagnetism</a:t>
            </a:r>
            <a:endParaRPr lang="zh-CN" altLang="en-US" sz="1600" dirty="0">
              <a:cs typeface="Times New Roman" pitchFamily="18" charset="0"/>
            </a:endParaRPr>
          </a:p>
        </p:txBody>
      </p:sp>
      <p:sp>
        <p:nvSpPr>
          <p:cNvPr id="18436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6C0D72CA-A00A-4F22-A3A5-9A8DADACFB40}"/>
              </a:ext>
            </a:extLst>
          </p:cNvPr>
          <p:cNvCxnSpPr>
            <a:cxnSpLocks/>
          </p:cNvCxnSpPr>
          <p:nvPr/>
        </p:nvCxnSpPr>
        <p:spPr>
          <a:xfrm>
            <a:off x="542067" y="3815107"/>
            <a:ext cx="8307129" cy="0"/>
          </a:xfrm>
          <a:prstGeom prst="line">
            <a:avLst/>
          </a:prstGeom>
          <a:ln w="12700">
            <a:gradFill flip="none" rotWithShape="1">
              <a:gsLst>
                <a:gs pos="1667">
                  <a:schemeClr val="accent1">
                    <a:lumMod val="40000"/>
                    <a:lumOff val="60000"/>
                  </a:schemeClr>
                </a:gs>
                <a:gs pos="48000">
                  <a:schemeClr val="accent1">
                    <a:alpha val="82000"/>
                  </a:schemeClr>
                </a:gs>
                <a:gs pos="57000">
                  <a:schemeClr val="accent1">
                    <a:alpha val="83000"/>
                  </a:schemeClr>
                </a:gs>
                <a:gs pos="10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lumMod val="40000"/>
                    <a:lumOff val="60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右箭头 15"/>
          <p:cNvSpPr/>
          <p:nvPr/>
        </p:nvSpPr>
        <p:spPr>
          <a:xfrm>
            <a:off x="4100174" y="5241577"/>
            <a:ext cx="721453" cy="26844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TextBox 16"/>
          <p:cNvSpPr txBox="1"/>
          <p:nvPr/>
        </p:nvSpPr>
        <p:spPr>
          <a:xfrm>
            <a:off x="5043827" y="4522560"/>
            <a:ext cx="421127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cs typeface="Times New Roman" pitchFamily="18" charset="0"/>
              </a:rPr>
              <a:t>Ferromagnetism</a:t>
            </a:r>
            <a:endParaRPr lang="zh-CN" altLang="en-US" sz="1600" dirty="0">
              <a:cs typeface="Times New Roman" pitchFamily="18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043827" y="5326002"/>
            <a:ext cx="4211273" cy="3497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cs typeface="Times New Roman" pitchFamily="18" charset="0"/>
              </a:rPr>
              <a:t>Antiferromagnetism</a:t>
            </a:r>
            <a:endParaRPr lang="zh-CN" altLang="en-US" sz="1600" dirty="0">
              <a:cs typeface="Times New Roman" pitchFamily="18" charset="0"/>
            </a:endParaRPr>
          </a:p>
        </p:txBody>
      </p:sp>
      <p:sp>
        <p:nvSpPr>
          <p:cNvPr id="18438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8440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C9721E2D-83A9-421B-9E24-13AA06C4190F}"/>
                  </a:ext>
                </a:extLst>
              </p:cNvPr>
              <p:cNvSpPr txBox="1"/>
              <p:nvPr/>
            </p:nvSpPr>
            <p:spPr>
              <a:xfrm>
                <a:off x="2258528" y="4810873"/>
                <a:ext cx="1556900" cy="50039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1600" i="1" smtClean="0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sub>
                      </m:sSub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1600" b="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sub>
                      </m:sSub>
                      <m:f>
                        <m:fPr>
                          <m:ctrlP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𝐽𝑠</m:t>
                          </m:r>
                          <m:sSup>
                            <m:sSupPr>
                              <m:ctrlP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den>
                      </m:f>
                      <m:sSup>
                        <m:sSupPr>
                          <m:ctrlP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p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xmlns="" id="{C9721E2D-83A9-421B-9E24-13AA06C419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58528" y="4810873"/>
                <a:ext cx="1556900" cy="500393"/>
              </a:xfrm>
              <a:prstGeom prst="rect">
                <a:avLst/>
              </a:prstGeom>
              <a:blipFill>
                <a:blip r:embed="rId4" cstate="print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B65F0C98-22F2-4094-BA34-AE14E4DF1E9D}"/>
                  </a:ext>
                </a:extLst>
              </p:cNvPr>
              <p:cNvSpPr txBox="1"/>
              <p:nvPr/>
            </p:nvSpPr>
            <p:spPr>
              <a:xfrm>
                <a:off x="2218196" y="5770569"/>
                <a:ext cx="1608837" cy="51411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1600" i="1" smtClean="0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sub>
                      </m:sSub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1600" b="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  <m:f>
                        <m:fPr>
                          <m:ctrlP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sSup>
                            <m:sSupPr>
                              <m:ctrlP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𝐽</m:t>
                              </m:r>
                            </m:e>
                            <m:sup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sSup>
                            <m:sSupPr>
                              <m:ctrlP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den>
                      </m:f>
                      <m:sSup>
                        <m:sSupPr>
                          <m:ctrlP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p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xmlns="" id="{B65F0C98-22F2-4094-BA34-AE14E4DF1E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18196" y="5770569"/>
                <a:ext cx="1608837" cy="514115"/>
              </a:xfrm>
              <a:prstGeom prst="rect">
                <a:avLst/>
              </a:prstGeom>
              <a:blipFill>
                <a:blip r:embed="rId5" cstate="print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DE5557A3-62FB-4636-8F68-2530400B424F}"/>
                  </a:ext>
                </a:extLst>
              </p:cNvPr>
              <p:cNvSpPr txBox="1"/>
              <p:nvPr/>
            </p:nvSpPr>
            <p:spPr>
              <a:xfrm>
                <a:off x="5769736" y="4925693"/>
                <a:ext cx="2000932" cy="29052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𝑓𝑠𝑤</m:t>
                          </m:r>
                        </m:sub>
                      </m:sSub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𝑓𝑠𝑤</m:t>
                          </m:r>
                        </m:sub>
                      </m:sSub>
                      <m:sSup>
                        <m:sSupPr>
                          <m:ctrlP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p>
                          <m:f>
                            <m:fPr>
                              <m:type m:val="lin"/>
                              <m:ctrlP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num>
                            <m:den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p>
                      </m:sSup>
                      <m:sSup>
                        <m:sSupPr>
                          <m:ctrlP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type m:val="lin"/>
                              <m:ctrlP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1600" b="0" i="1" smtClean="0">
                                  <a:latin typeface="Cambria Math" panose="02040503050406030204" pitchFamily="18" charset="0"/>
                                </a:rPr>
                                <m:t>𝛿</m:t>
                              </m:r>
                            </m:num>
                            <m:den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den>
                          </m:f>
                        </m:sup>
                      </m:sSup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xmlns="" id="{DE5557A3-62FB-4636-8F68-2530400B42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69736" y="4925693"/>
                <a:ext cx="2000932" cy="290529"/>
              </a:xfrm>
              <a:prstGeom prst="rect">
                <a:avLst/>
              </a:prstGeom>
              <a:blipFill>
                <a:blip r:embed="rId6" cstate="print"/>
                <a:stretch>
                  <a:fillRect l="-1520" t="-95833" r="-16413" b="-1125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45992144-35F2-4B24-B1C4-17E8D7DB1217}"/>
                  </a:ext>
                </a:extLst>
              </p:cNvPr>
              <p:cNvSpPr txBox="1"/>
              <p:nvPr/>
            </p:nvSpPr>
            <p:spPr>
              <a:xfrm>
                <a:off x="5793139" y="5886914"/>
                <a:ext cx="1897314" cy="2615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𝑎𝑠𝑤</m:t>
                          </m:r>
                        </m:sub>
                      </m:sSub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𝑎𝑠𝑤</m:t>
                          </m:r>
                        </m:sub>
                      </m:sSub>
                      <m:sSup>
                        <m:sSupPr>
                          <m:ctrlP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p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sSup>
                        <m:sSupPr>
                          <m:ctrlP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type m:val="lin"/>
                              <m:ctrlP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1600" b="0" i="1" smtClean="0">
                                  <a:latin typeface="Cambria Math" panose="02040503050406030204" pitchFamily="18" charset="0"/>
                                </a:rPr>
                                <m:t>𝛿</m:t>
                              </m:r>
                            </m:num>
                            <m:den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den>
                          </m:f>
                        </m:sup>
                      </m:sSup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xmlns="" id="{45992144-35F2-4B24-B1C4-17E8D7DB12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93139" y="5886914"/>
                <a:ext cx="1897314" cy="261546"/>
              </a:xfrm>
              <a:prstGeom prst="rect">
                <a:avLst/>
              </a:prstGeom>
              <a:blipFill>
                <a:blip r:embed="rId7" cstate="print"/>
                <a:stretch>
                  <a:fillRect t="-109302" r="-15705" b="-13488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TextBox 23"/>
          <p:cNvSpPr txBox="1"/>
          <p:nvPr/>
        </p:nvSpPr>
        <p:spPr>
          <a:xfrm>
            <a:off x="1656236" y="6262777"/>
            <a:ext cx="79708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latin typeface="Times New Roman" pitchFamily="18" charset="0"/>
                <a:cs typeface="Times New Roman" pitchFamily="18" charset="0"/>
              </a:rPr>
              <a:t>Fisher R. A., Bouquet F., Phillips N. E., et al. Physical Review B, 2001, 64: 134425.</a:t>
            </a:r>
            <a:endParaRPr lang="zh-CN" altLang="en-US" sz="14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459173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FBEDB489-E2EA-4764-BF47-F74EAD354073}"/>
              </a:ext>
            </a:extLst>
          </p:cNvPr>
          <p:cNvSpPr txBox="1"/>
          <p:nvPr/>
        </p:nvSpPr>
        <p:spPr>
          <a:xfrm>
            <a:off x="613506" y="272553"/>
            <a:ext cx="6348817" cy="5778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2400" dirty="0">
                <a:solidFill>
                  <a:srgbClr val="FF0000"/>
                </a:solidFill>
              </a:rPr>
              <a:t>Heat capacity anomaly: </a:t>
            </a:r>
            <a:r>
              <a:rPr lang="en-US" altLang="zh-CN" sz="2400" dirty="0">
                <a:cs typeface="Times New Roman" pitchFamily="18" charset="0"/>
              </a:rPr>
              <a:t>Schottky anomaly</a:t>
            </a:r>
            <a:endParaRPr lang="zh-CN" altLang="en-US" sz="2400" dirty="0">
              <a:cs typeface="Times New Roman" pitchFamily="18" charset="0"/>
            </a:endParaRPr>
          </a:p>
        </p:txBody>
      </p:sp>
      <p:pic>
        <p:nvPicPr>
          <p:cNvPr id="3" name="图片 2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13506" y="2667637"/>
            <a:ext cx="3288692" cy="20524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7410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pic>
        <p:nvPicPr>
          <p:cNvPr id="7" name="图片 6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696291" y="2667637"/>
            <a:ext cx="3234351" cy="19546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/>
              <p:cNvSpPr/>
              <p:nvPr/>
            </p:nvSpPr>
            <p:spPr>
              <a:xfrm>
                <a:off x="2256954" y="1123728"/>
                <a:ext cx="4261872" cy="3385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1600" dirty="0">
                    <a:cs typeface="Times New Roman" pitchFamily="18" charset="0"/>
                  </a:rPr>
                  <a:t>Schottky anomaly with different </a:t>
                </a:r>
                <a14:m>
                  <m:oMath xmlns:m="http://schemas.openxmlformats.org/officeDocument/2006/math">
                    <m:f>
                      <m:fPr>
                        <m:type m:val="lin"/>
                        <m:ctrlPr>
                          <a:rPr lang="en-US" altLang="zh-CN" sz="160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160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b="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𝑔</m:t>
                            </m:r>
                          </m:e>
                          <m:sub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0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b="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𝑔</m:t>
                            </m:r>
                          </m:e>
                          <m:sub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altLang="zh-CN" sz="1600" dirty="0">
                    <a:cs typeface="Times New Roman" pitchFamily="18" charset="0"/>
                  </a:rPr>
                  <a:t> values</a:t>
                </a:r>
                <a:endParaRPr lang="zh-CN" altLang="en-US" sz="1600" dirty="0"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8" name="矩形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56954" y="1123728"/>
                <a:ext cx="4261872" cy="338554"/>
              </a:xfrm>
              <a:prstGeom prst="rect">
                <a:avLst/>
              </a:prstGeom>
              <a:blipFill>
                <a:blip r:embed="rId4" cstate="print"/>
                <a:stretch>
                  <a:fillRect l="-715" t="-100000" b="-16428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412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7414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32AB7800-A862-4481-88C4-9BDF4EAC81E4}"/>
                  </a:ext>
                </a:extLst>
              </p:cNvPr>
              <p:cNvSpPr txBox="1"/>
              <p:nvPr/>
            </p:nvSpPr>
            <p:spPr>
              <a:xfrm>
                <a:off x="2640392" y="1760902"/>
                <a:ext cx="3494996" cy="60811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𝑆𝑐h</m:t>
                          </m:r>
                        </m:sub>
                      </m:sSub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𝑅</m:t>
                      </m:r>
                      <m:sSup>
                        <m:sSupPr>
                          <m:ctrlPr>
                            <a:rPr lang="en-US" altLang="zh-CN" sz="16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sz="16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altLang="zh-CN" sz="16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∆</m:t>
                                  </m:r>
                                </m:num>
                                <m:den>
                                  <m:r>
                                    <a:rPr lang="en-US" altLang="zh-CN" sz="1600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f>
                        <m:fPr>
                          <m:ctrlPr>
                            <a:rPr lang="en-US" altLang="zh-CN" sz="16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en-US" altLang="zh-CN" sz="16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lin"/>
                                  <m:ctrlPr>
                                    <a:rPr lang="en-US" altLang="zh-CN" sz="1600" i="1">
                                      <a:latin typeface="Cambria Math" panose="02040503050406030204" pitchFamily="18" charset="0"/>
                                      <a:cs typeface="Times New Roman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altLang="zh-CN" sz="1600" i="1">
                                          <a:latin typeface="Cambria Math" panose="02040503050406030204" pitchFamily="18" charset="0"/>
                                          <a:cs typeface="Times New Roman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600" b="0" i="1">
                                          <a:latin typeface="Cambria Math" panose="02040503050406030204" pitchFamily="18" charset="0"/>
                                          <a:cs typeface="Times New Roman" pitchFamily="18" charset="0"/>
                                        </a:rPr>
                                        <m:t>𝑔</m:t>
                                      </m:r>
                                    </m:e>
                                    <m:sub>
                                      <m:r>
                                        <a:rPr lang="en-US" altLang="zh-CN" sz="1600" b="0" i="1">
                                          <a:latin typeface="Cambria Math" panose="02040503050406030204" pitchFamily="18" charset="0"/>
                                          <a:cs typeface="Times New Roman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altLang="zh-CN" sz="1600" i="1">
                                          <a:latin typeface="Cambria Math" panose="02040503050406030204" pitchFamily="18" charset="0"/>
                                          <a:cs typeface="Times New Roman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600" b="0" i="1">
                                          <a:latin typeface="Cambria Math" panose="02040503050406030204" pitchFamily="18" charset="0"/>
                                          <a:cs typeface="Times New Roman" pitchFamily="18" charset="0"/>
                                        </a:rPr>
                                        <m:t>𝑔</m:t>
                                      </m:r>
                                    </m:e>
                                    <m:sub>
                                      <m:r>
                                        <a:rPr lang="en-US" altLang="zh-CN" sz="1600" b="0" i="1">
                                          <a:latin typeface="Cambria Math" panose="02040503050406030204" pitchFamily="18" charset="0"/>
                                          <a:cs typeface="Times New Roman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𝑒𝑥𝑝</m:t>
                          </m:r>
                          <m:d>
                            <m:dPr>
                              <m:ctrlPr>
                                <a:rPr lang="en-US" altLang="zh-CN" sz="16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lin"/>
                                  <m:ctrlPr>
                                    <a:rPr lang="en-US" altLang="zh-CN" sz="16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∆</m:t>
                                  </m:r>
                                </m:num>
                                <m:den>
                                  <m:r>
                                    <a:rPr lang="en-US" altLang="zh-CN" sz="1600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den>
                              </m:f>
                            </m:e>
                          </m:d>
                        </m:num>
                        <m:den>
                          <m:sSup>
                            <m:sSupPr>
                              <m:ctrlPr>
                                <a:rPr lang="en-US" altLang="zh-CN" sz="160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zh-CN" sz="16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1600" b="0" i="1" smtClean="0">
                                      <a:latin typeface="Cambria Math" panose="02040503050406030204" pitchFamily="18" charset="0"/>
                                    </a:rPr>
                                    <m:t>1+</m:t>
                                  </m:r>
                                  <m:d>
                                    <m:dPr>
                                      <m:ctrlPr>
                                        <a:rPr lang="en-US" altLang="zh-CN" sz="16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type m:val="lin"/>
                                          <m:ctrlPr>
                                            <a:rPr lang="en-US" altLang="zh-CN" sz="1600" i="1">
                                              <a:latin typeface="Cambria Math" panose="02040503050406030204" pitchFamily="18" charset="0"/>
                                              <a:cs typeface="Times New Roman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sSub>
                                            <m:sSubPr>
                                              <m:ctrlPr>
                                                <a:rPr lang="en-US" altLang="zh-CN" sz="1600" i="1">
                                                  <a:latin typeface="Cambria Math" panose="02040503050406030204" pitchFamily="18" charset="0"/>
                                                  <a:cs typeface="Times New Roman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CN" sz="1600" b="0" i="1">
                                                  <a:latin typeface="Cambria Math" panose="02040503050406030204" pitchFamily="18" charset="0"/>
                                                  <a:cs typeface="Times New Roman" pitchFamily="18" charset="0"/>
                                                </a:rPr>
                                                <m:t>𝑔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sz="1600" b="0" i="1">
                                                  <a:latin typeface="Cambria Math" panose="02040503050406030204" pitchFamily="18" charset="0"/>
                                                  <a:cs typeface="Times New Roman" pitchFamily="18" charset="0"/>
                                                </a:rPr>
                                                <m:t>0</m:t>
                                              </m:r>
                                            </m:sub>
                                          </m:sSub>
                                        </m:num>
                                        <m:den>
                                          <m:sSub>
                                            <m:sSubPr>
                                              <m:ctrlPr>
                                                <a:rPr lang="en-US" altLang="zh-CN" sz="1600" i="1">
                                                  <a:latin typeface="Cambria Math" panose="02040503050406030204" pitchFamily="18" charset="0"/>
                                                  <a:cs typeface="Times New Roman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CN" sz="1600" b="0" i="1">
                                                  <a:latin typeface="Cambria Math" panose="02040503050406030204" pitchFamily="18" charset="0"/>
                                                  <a:cs typeface="Times New Roman" pitchFamily="18" charset="0"/>
                                                </a:rPr>
                                                <m:t>𝑔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sz="1600" b="0" i="1">
                                                  <a:latin typeface="Cambria Math" panose="02040503050406030204" pitchFamily="18" charset="0"/>
                                                  <a:cs typeface="Times New Roman" pitchFamily="18" charset="0"/>
                                                </a:rPr>
                                                <m:t>1</m:t>
                                              </m:r>
                                            </m:sub>
                                          </m:sSub>
                                        </m:den>
                                      </m:f>
                                    </m:e>
                                  </m:d>
                                  <m:r>
                                    <a:rPr lang="en-US" altLang="zh-CN" sz="1600" b="0" i="1" smtClean="0">
                                      <a:latin typeface="Cambria Math" panose="02040503050406030204" pitchFamily="18" charset="0"/>
                                    </a:rPr>
                                    <m:t>𝑒𝑥𝑝</m:t>
                                  </m:r>
                                  <m:d>
                                    <m:dPr>
                                      <m:ctrlPr>
                                        <a:rPr lang="en-US" altLang="zh-CN" sz="16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type m:val="lin"/>
                                          <m:ctrlPr>
                                            <a:rPr lang="en-US" altLang="zh-CN" sz="16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US" altLang="zh-CN" sz="1600" b="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∆</m:t>
                                          </m:r>
                                        </m:num>
                                        <m:den>
                                          <m:r>
                                            <a:rPr lang="en-US" altLang="zh-CN" sz="1600" b="0" i="1">
                                              <a:latin typeface="Cambria Math" panose="02040503050406030204" pitchFamily="18" charset="0"/>
                                            </a:rPr>
                                            <m:t>𝑇</m:t>
                                          </m:r>
                                        </m:den>
                                      </m:f>
                                    </m:e>
                                  </m:d>
                                </m:e>
                              </m:d>
                            </m:e>
                            <m:sup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xmlns="" id="{32AB7800-A862-4481-88C4-9BDF4EAC81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40392" y="1760902"/>
                <a:ext cx="3494996" cy="608115"/>
              </a:xfrm>
              <a:prstGeom prst="rect">
                <a:avLst/>
              </a:prstGeom>
              <a:blipFill>
                <a:blip r:embed="rId5" cstate="print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/>
          <p:cNvSpPr txBox="1"/>
          <p:nvPr/>
        </p:nvSpPr>
        <p:spPr>
          <a:xfrm>
            <a:off x="1604513" y="5322498"/>
            <a:ext cx="68407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latin typeface="Times New Roman" pitchFamily="18" charset="0"/>
                <a:cs typeface="Times New Roman" pitchFamily="18" charset="0"/>
              </a:rPr>
              <a:t>Klotz S., Steinle-Neumann G., Strässle T., et al. Physical Review B, 2008, 77: 012411.</a:t>
            </a:r>
            <a:endParaRPr lang="zh-CN" altLang="en-US" sz="14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492487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4">
            <a:extLst>
              <a:ext uri="{FF2B5EF4-FFF2-40B4-BE49-F238E27FC236}">
                <a16:creationId xmlns:a16="http://schemas.microsoft.com/office/drawing/2014/main" id="{2F35EDF1-182E-4AE9-9E99-762B308DE198}"/>
              </a:ext>
            </a:extLst>
          </p:cNvPr>
          <p:cNvSpPr txBox="1"/>
          <p:nvPr/>
        </p:nvSpPr>
        <p:spPr>
          <a:xfrm>
            <a:off x="2103039" y="311186"/>
            <a:ext cx="399841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dirty="0">
                <a:solidFill>
                  <a:srgbClr val="FF0000"/>
                </a:solidFill>
                <a:cs typeface="Times New Roman" pitchFamily="18" charset="0"/>
              </a:rPr>
              <a:t>Boson peak anomaly</a:t>
            </a:r>
            <a:endParaRPr lang="zh-CN" altLang="en-US" sz="2800" dirty="0">
              <a:solidFill>
                <a:srgbClr val="FF0000"/>
              </a:solidFill>
              <a:cs typeface="Times New Roman" pitchFamily="18" charset="0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CF179B01-9C67-404C-8B8C-29FB2FD6144D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573587" y="1334356"/>
            <a:ext cx="3998413" cy="3289183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B0127A9A-D0F8-4AF1-8A89-EE194397C131}"/>
              </a:ext>
            </a:extLst>
          </p:cNvPr>
          <p:cNvSpPr txBox="1"/>
          <p:nvPr/>
        </p:nvSpPr>
        <p:spPr>
          <a:xfrm>
            <a:off x="4776103" y="2745310"/>
            <a:ext cx="4274242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zh-CN" sz="1400" dirty="0">
                <a:cs typeface="Times New Roman" panose="02020603050405020304" pitchFamily="18" charset="0"/>
              </a:rPr>
              <a:t>Low-temperature boson heat capacity peaks: </a:t>
            </a:r>
          </a:p>
          <a:p>
            <a:pPr marL="342900" indent="-342900" algn="just">
              <a:buAutoNum type="alphaLcParenBoth"/>
            </a:pPr>
            <a:r>
              <a:rPr lang="en-US" altLang="zh-CN" sz="1400" dirty="0">
                <a:cs typeface="Times New Roman" panose="02020603050405020304" pitchFamily="18" charset="0"/>
              </a:rPr>
              <a:t>as-cast set and crystalline set, </a:t>
            </a:r>
          </a:p>
          <a:p>
            <a:pPr marL="342900" indent="-342900" algn="just">
              <a:buAutoNum type="alphaLcParenBoth"/>
            </a:pPr>
            <a:r>
              <a:rPr lang="en-US" altLang="zh-CN" sz="1400" dirty="0">
                <a:cs typeface="Times New Roman" panose="02020603050405020304" pitchFamily="18" charset="0"/>
              </a:rPr>
              <a:t>partial enlargement of the as-cast set, </a:t>
            </a:r>
          </a:p>
          <a:p>
            <a:pPr marL="342900" indent="-342900" algn="just">
              <a:buAutoNum type="alphaLcParenBoth"/>
            </a:pPr>
            <a:r>
              <a:rPr lang="en-US" altLang="zh-CN" sz="1400" dirty="0">
                <a:cs typeface="Times New Roman" panose="02020603050405020304" pitchFamily="18" charset="0"/>
              </a:rPr>
              <a:t>annealed set </a:t>
            </a:r>
          </a:p>
          <a:p>
            <a:pPr marL="342900" indent="-342900" algn="just">
              <a:buAutoNum type="alphaLcParenBoth"/>
            </a:pPr>
            <a:r>
              <a:rPr lang="en-US" altLang="zh-CN" sz="1400" dirty="0">
                <a:cs typeface="Times New Roman" panose="02020603050405020304" pitchFamily="18" charset="0"/>
              </a:rPr>
              <a:t>partial enlargement of the annealed set.</a:t>
            </a:r>
            <a:endParaRPr lang="zh-CN" altLang="en-US" sz="1400" dirty="0"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FCF3C8AF-6120-4C03-BF3D-6230B8545FDF}"/>
                  </a:ext>
                </a:extLst>
              </p:cNvPr>
              <p:cNvSpPr txBox="1"/>
              <p:nvPr/>
            </p:nvSpPr>
            <p:spPr>
              <a:xfrm>
                <a:off x="2319717" y="5246599"/>
                <a:ext cx="4504566" cy="91172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altLang="zh-CN" sz="16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1600" b="0" i="1" smtClean="0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</m:d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zh-CN" altLang="en-US" sz="1600" b="0" i="1" smtClean="0">
                          <a:latin typeface="Cambria Math" panose="02040503050406030204" pitchFamily="18" charset="0"/>
                        </a:rPr>
                        <m:t>𝜔</m:t>
                      </m:r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altLang="zh-CN" sz="16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CN" sz="160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 0,                        </m:t>
                              </m:r>
                              <m:sSub>
                                <m:sSubPr>
                                  <m:ctrlPr>
                                    <a:rPr lang="en-US" altLang="zh-CN" sz="16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600" b="0" i="1" smtClean="0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altLang="zh-CN" sz="1600" b="0" i="1" smtClean="0"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</m:sub>
                              </m:sSub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&lt;</m:t>
                              </m:r>
                              <m:sSub>
                                <m:sSubPr>
                                  <m:ctrlPr>
                                    <a:rPr lang="en-US" altLang="zh-CN" sz="16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600" b="0" i="1" smtClean="0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altLang="zh-CN" sz="1600" b="0" i="1" smtClean="0">
                                      <a:latin typeface="Cambria Math" panose="02040503050406030204" pitchFamily="18" charset="0"/>
                                    </a:rPr>
                                    <m:t>𝑔𝑎𝑝</m:t>
                                  </m:r>
                                </m:sub>
                              </m:sSub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       </m:t>
                              </m:r>
                            </m:e>
                            <m:e>
                              <m:f>
                                <m:fPr>
                                  <m:ctrlPr>
                                    <a:rPr lang="en-US" altLang="zh-CN" sz="16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1600" b="0" i="1" smtClean="0">
                                      <a:latin typeface="Cambria Math" panose="02040503050406030204" pitchFamily="18" charset="0"/>
                                    </a:rPr>
                                    <m:t>12</m:t>
                                  </m:r>
                                  <m:r>
                                    <a:rPr lang="zh-CN" altLang="en-US" sz="1600" b="0" i="1" smtClean="0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  <m:r>
                                    <a:rPr lang="en-US" altLang="zh-CN" sz="1600" b="0" i="1" smtClean="0"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num>
                                <m:den>
                                  <m:sSubSup>
                                    <m:sSubSupPr>
                                      <m:ctrlPr>
                                        <a:rPr lang="en-US" altLang="zh-CN" sz="16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zh-CN" sz="1600" b="0" i="1" smtClean="0">
                                          <a:latin typeface="Cambria Math" panose="02040503050406030204" pitchFamily="18" charset="0"/>
                                        </a:rPr>
                                        <m:t>𝑣</m:t>
                                      </m:r>
                                    </m:e>
                                    <m:sub>
                                      <m:r>
                                        <a:rPr lang="en-US" altLang="zh-CN" sz="1600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  <m:sup>
                                      <m:r>
                                        <a:rPr lang="en-US" altLang="zh-CN" sz="1600" b="0" i="1" smtClean="0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p>
                                  </m:sSubSup>
                                </m:den>
                              </m:f>
                              <m:sSup>
                                <m:sSupPr>
                                  <m:ctrlPr>
                                    <a:rPr lang="en-US" altLang="zh-CN" sz="16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altLang="zh-CN" sz="16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sz="1600" b="0" i="1" smtClean="0">
                                          <a:latin typeface="Cambria Math" panose="02040503050406030204" pitchFamily="18" charset="0"/>
                                        </a:rPr>
                                        <m:t>𝑣</m:t>
                                      </m:r>
                                      <m:r>
                                        <a:rPr lang="en-US" altLang="zh-CN" sz="1600" b="0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sz="160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600" b="0" i="1" smtClean="0">
                                              <a:latin typeface="Cambria Math" panose="02040503050406030204" pitchFamily="18" charset="0"/>
                                            </a:rPr>
                                            <m:t>𝑣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600" b="0" i="1" smtClean="0">
                                              <a:latin typeface="Cambria Math" panose="02040503050406030204" pitchFamily="18" charset="0"/>
                                            </a:rPr>
                                            <m:t>𝑔𝑎𝑝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en-US" altLang="zh-CN" sz="16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𝑑𝑣</m:t>
                              </m:r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altLang="zh-CN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600" b="0" i="1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altLang="zh-CN" sz="1600" b="0" i="1">
                                      <a:latin typeface="Cambria Math" panose="02040503050406030204" pitchFamily="18" charset="0"/>
                                    </a:rPr>
                                    <m:t>𝑔𝑎𝑝</m:t>
                                  </m:r>
                                </m:sub>
                              </m:sSub>
                              <m:r>
                                <a:rPr lang="en-US" altLang="zh-CN" sz="16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n-US" altLang="zh-CN" sz="1600" b="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  <m:r>
                                <a:rPr lang="en-US" altLang="zh-CN" sz="16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&lt;</m:t>
                              </m:r>
                              <m:sSubSup>
                                <m:sSubSupPr>
                                  <m:ctrlPr>
                                    <a:rPr lang="en-US" altLang="zh-CN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sz="1600" b="0" i="1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altLang="zh-CN" sz="1600" b="0" i="1"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</m:sub>
                                <m:sup>
                                  <m:r>
                                    <a:rPr lang="en-US" altLang="zh-CN" sz="1600" b="0" i="1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bSup>
                            </m:e>
                          </m:eqArr>
                        </m:e>
                      </m:d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xmlns="" id="{FCF3C8AF-6120-4C03-BF3D-6230B8545F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19717" y="5246599"/>
                <a:ext cx="4504566" cy="911724"/>
              </a:xfrm>
              <a:prstGeom prst="rect">
                <a:avLst/>
              </a:prstGeom>
              <a:blipFill>
                <a:blip r:embed="rId3" cstate="print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/>
          <p:cNvSpPr txBox="1"/>
          <p:nvPr/>
        </p:nvSpPr>
        <p:spPr>
          <a:xfrm>
            <a:off x="2009952" y="6202391"/>
            <a:ext cx="74704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latin typeface="Times New Roman" pitchFamily="18" charset="0"/>
                <a:cs typeface="Times New Roman" pitchFamily="18" charset="0"/>
              </a:rPr>
              <a:t>Gil L., Ramos M., Bringer A., et al. Physical Review Letters, 1993, 70: 182.</a:t>
            </a:r>
            <a:endParaRPr lang="zh-CN" altLang="en-US" sz="14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325521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30" name="Picture 2" descr="http://casad.cas.cn/sourcedb_ad_cas/zw2/ysxx/sxwlxb/200906/W020100513295145069350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50143" y="649507"/>
            <a:ext cx="857436" cy="1178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文本框 1"/>
          <p:cNvSpPr txBox="1"/>
          <p:nvPr/>
        </p:nvSpPr>
        <p:spPr>
          <a:xfrm>
            <a:off x="7586247" y="2455834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陈难先院士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3" cstate="print"/>
          <a:srcRect t="5767" r="14812"/>
          <a:stretch/>
        </p:blipFill>
        <p:spPr>
          <a:xfrm>
            <a:off x="4345293" y="3346014"/>
            <a:ext cx="4176297" cy="811228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2723358" y="5080546"/>
            <a:ext cx="1518204" cy="1482014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98612" y="150157"/>
            <a:ext cx="7550203" cy="1555654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322656" y="1869915"/>
            <a:ext cx="3683255" cy="3057544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4241562" y="4543900"/>
            <a:ext cx="4263686" cy="887761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4442649" y="2799167"/>
            <a:ext cx="18691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At the low T limit</a:t>
            </a:r>
            <a:endParaRPr lang="zh-CN" altLang="en-US" dirty="0"/>
          </a:p>
        </p:txBody>
      </p:sp>
      <p:sp>
        <p:nvSpPr>
          <p:cNvPr id="11" name="文本框 10"/>
          <p:cNvSpPr txBox="1"/>
          <p:nvPr/>
        </p:nvSpPr>
        <p:spPr>
          <a:xfrm>
            <a:off x="4505402" y="4188697"/>
            <a:ext cx="19588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At the high T limit</a:t>
            </a:r>
            <a:endParaRPr lang="zh-CN" altLang="en-US" dirty="0"/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924674" y="5263699"/>
            <a:ext cx="1416877" cy="1298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358007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zh-CN" sz="2800" dirty="0">
                <a:solidFill>
                  <a:srgbClr val="FF0000"/>
                </a:solidFill>
              </a:rPr>
              <a:t>22. Engineering considering of heat capacity</a:t>
            </a:r>
            <a:endParaRPr lang="zh-CN" altLang="en-US" sz="28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8628785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74" name="Picture 2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717"/>
          <a:stretch>
            <a:fillRect/>
          </a:stretch>
        </p:blipFill>
        <p:spPr bwMode="auto">
          <a:xfrm>
            <a:off x="4596332" y="2131231"/>
            <a:ext cx="4352596" cy="4108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TextBox 8"/>
          <p:cNvSpPr txBox="1"/>
          <p:nvPr/>
        </p:nvSpPr>
        <p:spPr>
          <a:xfrm>
            <a:off x="984190" y="81046"/>
            <a:ext cx="65031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aseline="-25000" dirty="0">
                <a:solidFill>
                  <a:srgbClr val="FF0000"/>
                </a:solidFill>
              </a:rPr>
              <a:t> </a:t>
            </a:r>
            <a:r>
              <a:rPr lang="en-US" altLang="zh-CN" sz="2400" dirty="0">
                <a:solidFill>
                  <a:srgbClr val="FF0000"/>
                </a:solidFill>
              </a:rPr>
              <a:t>The Empirical representation of heat capacity 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sp>
        <p:nvSpPr>
          <p:cNvPr id="10" name="Rectangle 2"/>
          <p:cNvSpPr>
            <a:spLocks noChangeArrowheads="1"/>
          </p:cNvSpPr>
          <p:nvPr/>
        </p:nvSpPr>
        <p:spPr bwMode="auto">
          <a:xfrm>
            <a:off x="381000" y="943419"/>
            <a:ext cx="7924800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2000" b="0" i="0" u="none" strike="noStrike" cap="none" normalizeH="0" baseline="0" dirty="0">
                <a:ln>
                  <a:noFill/>
                </a:ln>
                <a:solidFill>
                  <a:srgbClr val="010202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experimentally measured variation of the constant-pressure molar heat capacity of a material with temperature is normally fitted to an expression of the form</a:t>
            </a:r>
            <a:endParaRPr kumimoji="0" lang="en-US" altLang="zh-CN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1" name="Rectangle 3"/>
          <p:cNvSpPr>
            <a:spLocks noChangeArrowheads="1"/>
          </p:cNvSpPr>
          <p:nvPr/>
        </p:nvSpPr>
        <p:spPr bwMode="auto">
          <a:xfrm>
            <a:off x="1370013" y="70485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22530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0468" y="3039706"/>
            <a:ext cx="4414736" cy="3200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8675" name="Picture 3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1825" y="2247609"/>
            <a:ext cx="2407354" cy="7920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51952657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700" name="Picture 4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5065" y="2983746"/>
            <a:ext cx="4254472" cy="36305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TextBox 8"/>
          <p:cNvSpPr txBox="1"/>
          <p:nvPr/>
        </p:nvSpPr>
        <p:spPr>
          <a:xfrm>
            <a:off x="1013470" y="98150"/>
            <a:ext cx="65031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aseline="-25000" dirty="0">
                <a:solidFill>
                  <a:srgbClr val="FF0000"/>
                </a:solidFill>
              </a:rPr>
              <a:t> </a:t>
            </a:r>
            <a:r>
              <a:rPr lang="en-US" altLang="zh-CN" sz="2400" dirty="0">
                <a:solidFill>
                  <a:srgbClr val="FF0000"/>
                </a:solidFill>
              </a:rPr>
              <a:t>The Empirical representation of heat capacity 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pic>
        <p:nvPicPr>
          <p:cNvPr id="29698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6400" y="2057400"/>
            <a:ext cx="6473058" cy="8003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9699" name="Picture 3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7831" y="1514239"/>
            <a:ext cx="3646169" cy="7380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TextBox 9"/>
          <p:cNvSpPr txBox="1"/>
          <p:nvPr/>
        </p:nvSpPr>
        <p:spPr>
          <a:xfrm>
            <a:off x="295966" y="2209800"/>
            <a:ext cx="143500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/>
              <a:t>1478-2670K</a:t>
            </a:r>
            <a:endParaRPr lang="zh-CN" altLang="en-US" sz="2000" dirty="0"/>
          </a:p>
        </p:txBody>
      </p:sp>
      <p:sp>
        <p:nvSpPr>
          <p:cNvPr id="13" name="TextBox 12"/>
          <p:cNvSpPr txBox="1"/>
          <p:nvPr/>
        </p:nvSpPr>
        <p:spPr>
          <a:xfrm>
            <a:off x="304800" y="1579929"/>
            <a:ext cx="130516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/>
              <a:t>298-2670K</a:t>
            </a:r>
            <a:endParaRPr lang="zh-CN" altLang="en-US" sz="2000" dirty="0"/>
          </a:p>
        </p:txBody>
      </p:sp>
      <p:sp>
        <p:nvSpPr>
          <p:cNvPr id="11" name="矩形 10"/>
          <p:cNvSpPr/>
          <p:nvPr/>
        </p:nvSpPr>
        <p:spPr>
          <a:xfrm>
            <a:off x="169506" y="3847237"/>
            <a:ext cx="426720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itchFamily="2" charset="2"/>
              <a:buChar char="ü"/>
            </a:pPr>
            <a:r>
              <a:rPr lang="en-US" altLang="zh-CN" dirty="0">
                <a:solidFill>
                  <a:srgbClr val="FF0000"/>
                </a:solidFill>
              </a:rPr>
              <a:t>heat capacities (</a:t>
            </a:r>
            <a:r>
              <a:rPr lang="en-US" altLang="zh-CN" dirty="0" err="1">
                <a:solidFill>
                  <a:srgbClr val="FF0000"/>
                </a:solidFill>
              </a:rPr>
              <a:t>c</a:t>
            </a:r>
            <a:r>
              <a:rPr lang="en-US" altLang="zh-CN" baseline="-25000" dirty="0" err="1">
                <a:solidFill>
                  <a:srgbClr val="FF0000"/>
                </a:solidFill>
              </a:rPr>
              <a:t>p</a:t>
            </a:r>
            <a:r>
              <a:rPr lang="en-US" altLang="zh-CN" dirty="0">
                <a:solidFill>
                  <a:srgbClr val="FF0000"/>
                </a:solidFill>
              </a:rPr>
              <a:t> ) increased with temperature </a:t>
            </a:r>
            <a:endParaRPr lang="en-US" altLang="zh-CN" b="1" dirty="0">
              <a:solidFill>
                <a:srgbClr val="FF0000"/>
              </a:solidFill>
            </a:endParaRPr>
          </a:p>
          <a:p>
            <a:pPr marL="285750" indent="-285750">
              <a:buFont typeface="Wingdings" pitchFamily="2" charset="2"/>
              <a:buChar char="ü"/>
            </a:pPr>
            <a:r>
              <a:rPr lang="en-US" altLang="zh-CN" dirty="0"/>
              <a:t>heat capacities (</a:t>
            </a:r>
            <a:r>
              <a:rPr lang="en-US" altLang="zh-CN" dirty="0" err="1"/>
              <a:t>c</a:t>
            </a:r>
            <a:r>
              <a:rPr lang="en-US" altLang="zh-CN" baseline="-25000" dirty="0" err="1"/>
              <a:t>p</a:t>
            </a:r>
            <a:r>
              <a:rPr lang="en-US" altLang="zh-CN" dirty="0"/>
              <a:t> ) of some elements which exhibit allotropy and some compounds which exhibit polymorphism.</a:t>
            </a:r>
            <a:endParaRPr lang="zh-CN" altLang="en-US" dirty="0"/>
          </a:p>
        </p:txBody>
      </p:sp>
      <p:sp>
        <p:nvSpPr>
          <p:cNvPr id="12" name="任意多边形 11"/>
          <p:cNvSpPr/>
          <p:nvPr/>
        </p:nvSpPr>
        <p:spPr>
          <a:xfrm>
            <a:off x="4912929" y="4429125"/>
            <a:ext cx="3236529" cy="590550"/>
          </a:xfrm>
          <a:custGeom>
            <a:avLst/>
            <a:gdLst>
              <a:gd name="connsiteX0" fmla="*/ 0 w 3514725"/>
              <a:gd name="connsiteY0" fmla="*/ 590550 h 590550"/>
              <a:gd name="connsiteX1" fmla="*/ 266700 w 3514725"/>
              <a:gd name="connsiteY1" fmla="*/ 323850 h 590550"/>
              <a:gd name="connsiteX2" fmla="*/ 723900 w 3514725"/>
              <a:gd name="connsiteY2" fmla="*/ 161925 h 590550"/>
              <a:gd name="connsiteX3" fmla="*/ 1390650 w 3514725"/>
              <a:gd name="connsiteY3" fmla="*/ 85725 h 590550"/>
              <a:gd name="connsiteX4" fmla="*/ 2028825 w 3514725"/>
              <a:gd name="connsiteY4" fmla="*/ 38100 h 590550"/>
              <a:gd name="connsiteX5" fmla="*/ 2638425 w 3514725"/>
              <a:gd name="connsiteY5" fmla="*/ 0 h 590550"/>
              <a:gd name="connsiteX6" fmla="*/ 2638425 w 3514725"/>
              <a:gd name="connsiteY6" fmla="*/ 114300 h 590550"/>
              <a:gd name="connsiteX7" fmla="*/ 3514725 w 3514725"/>
              <a:gd name="connsiteY7" fmla="*/ 123825 h 590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514725" h="590550">
                <a:moveTo>
                  <a:pt x="0" y="590550"/>
                </a:moveTo>
                <a:lnTo>
                  <a:pt x="266700" y="323850"/>
                </a:lnTo>
                <a:lnTo>
                  <a:pt x="723900" y="161925"/>
                </a:lnTo>
                <a:lnTo>
                  <a:pt x="1390650" y="85725"/>
                </a:lnTo>
                <a:lnTo>
                  <a:pt x="2028825" y="38100"/>
                </a:lnTo>
                <a:lnTo>
                  <a:pt x="2638425" y="0"/>
                </a:lnTo>
                <a:lnTo>
                  <a:pt x="2638425" y="114300"/>
                </a:lnTo>
                <a:lnTo>
                  <a:pt x="3514725" y="123825"/>
                </a:ln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7302737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50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9901" y="1059316"/>
            <a:ext cx="6915150" cy="2257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998375" y="193998"/>
            <a:ext cx="408958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solidFill>
                  <a:srgbClr val="FF0000"/>
                </a:solidFill>
              </a:rPr>
              <a:t>Partial liquid-like sub-lattice  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pic>
        <p:nvPicPr>
          <p:cNvPr id="149507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7183" y="3731954"/>
            <a:ext cx="3205649" cy="25557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49508" name="Picture 4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02832" y="3731954"/>
            <a:ext cx="3333750" cy="2667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9918212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530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3640" y="3659328"/>
            <a:ext cx="3339193" cy="25133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2" name="对象 1"/>
          <p:cNvGraphicFramePr>
            <a:graphicFrameLocks noChangeAspect="1"/>
          </p:cNvGraphicFramePr>
          <p:nvPr/>
        </p:nvGraphicFramePr>
        <p:xfrm>
          <a:off x="4799109" y="1265073"/>
          <a:ext cx="1598613" cy="682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4993600" imgH="10668000" progId="">
                  <p:embed/>
                </p:oleObj>
              </mc:Choice>
              <mc:Fallback>
                <p:oleObj name="Equation" r:id="rId3" imgW="24993600" imgH="10668000" progId="">
                  <p:embed/>
                  <p:pic>
                    <p:nvPicPr>
                      <p:cNvPr id="2" name="对象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99109" y="1265073"/>
                        <a:ext cx="1598613" cy="6826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4850881" y="2277254"/>
          <a:ext cx="1627188" cy="638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130040" imgH="444240" progId="">
                  <p:embed/>
                </p:oleObj>
              </mc:Choice>
              <mc:Fallback>
                <p:oleObj name="Equation" r:id="rId5" imgW="1130040" imgH="444240" progId="">
                  <p:embed/>
                  <p:pic>
                    <p:nvPicPr>
                      <p:cNvPr id="4" name="对象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50881" y="2277254"/>
                        <a:ext cx="1627188" cy="6381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026367" y="156674"/>
            <a:ext cx="393524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solidFill>
                  <a:srgbClr val="FF0000"/>
                </a:solidFill>
              </a:rPr>
              <a:t>Temperature dependent </a:t>
            </a:r>
            <a:r>
              <a:rPr lang="en-US" altLang="zh-CN" sz="2400" dirty="0" err="1">
                <a:solidFill>
                  <a:srgbClr val="FF0000"/>
                </a:solidFill>
              </a:rPr>
              <a:t>C</a:t>
            </a:r>
            <a:r>
              <a:rPr lang="en-US" altLang="zh-CN" sz="2400" baseline="-25000" dirty="0" err="1">
                <a:solidFill>
                  <a:srgbClr val="FF0000"/>
                </a:solidFill>
              </a:rPr>
              <a:t>p</a:t>
            </a:r>
            <a:endParaRPr lang="zh-CN" altLang="en-US" sz="2400" baseline="-25000" dirty="0">
              <a:solidFill>
                <a:srgbClr val="FF0000"/>
              </a:solidFill>
            </a:endParaRPr>
          </a:p>
        </p:txBody>
      </p:sp>
      <p:pic>
        <p:nvPicPr>
          <p:cNvPr id="7" name="Picture 4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0880" y="990600"/>
            <a:ext cx="2834081" cy="24184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149290" y="727788"/>
            <a:ext cx="19928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Regular materials</a:t>
            </a:r>
            <a:endParaRPr lang="zh-CN" alt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149290" y="3289996"/>
            <a:ext cx="8467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Cu</a:t>
            </a:r>
            <a:r>
              <a:rPr lang="en-US" altLang="zh-CN" baseline="-25000" dirty="0"/>
              <a:t>2</a:t>
            </a:r>
            <a:r>
              <a:rPr lang="en-US" altLang="zh-CN" dirty="0"/>
              <a:t>Se</a:t>
            </a:r>
            <a:endParaRPr lang="zh-CN" altLang="en-US" dirty="0"/>
          </a:p>
        </p:txBody>
      </p:sp>
      <p:pic>
        <p:nvPicPr>
          <p:cNvPr id="150538" name="Picture 10" descr="Atomistic trajectories of b-Cu 2 Se sampled with AIMD atomic trajectories for 3 ps, for four different temperatures: (a) 500, (b) 700, (c) 900 and (d) 1100 K.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04049" y="3510766"/>
            <a:ext cx="3638159" cy="23848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5566343" y="3233767"/>
            <a:ext cx="54213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rgbClr val="FF0000"/>
                </a:solidFill>
              </a:rPr>
              <a:t>500K</a:t>
            </a:r>
            <a:endParaRPr lang="zh-CN" altLang="en-US" sz="1200" dirty="0">
              <a:solidFill>
                <a:srgbClr val="FF0000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258294" y="3228351"/>
            <a:ext cx="54213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rgbClr val="FF0000"/>
                </a:solidFill>
              </a:rPr>
              <a:t>700K</a:t>
            </a:r>
            <a:endParaRPr lang="zh-CN" altLang="en-US" sz="1200" dirty="0">
              <a:solidFill>
                <a:srgbClr val="FF0000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612554" y="4639015"/>
            <a:ext cx="54213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rgbClr val="FF0000"/>
                </a:solidFill>
              </a:rPr>
              <a:t>900K</a:t>
            </a:r>
            <a:endParaRPr lang="zh-CN" altLang="en-US" sz="1200" dirty="0">
              <a:solidFill>
                <a:srgbClr val="FF0000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258294" y="4639015"/>
            <a:ext cx="61568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rgbClr val="FF0000"/>
                </a:solidFill>
              </a:rPr>
              <a:t>1100K</a:t>
            </a:r>
            <a:endParaRPr lang="zh-CN" altLang="en-US" sz="1200" dirty="0">
              <a:solidFill>
                <a:srgbClr val="FF0000"/>
              </a:solidFill>
            </a:endParaRPr>
          </a:p>
        </p:txBody>
      </p:sp>
      <p:sp>
        <p:nvSpPr>
          <p:cNvPr id="10" name="矩形 9"/>
          <p:cNvSpPr/>
          <p:nvPr/>
        </p:nvSpPr>
        <p:spPr>
          <a:xfrm>
            <a:off x="5230496" y="5907662"/>
            <a:ext cx="256993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/>
              <a:t> </a:t>
            </a:r>
            <a:r>
              <a:rPr lang="en-US" altLang="zh-CN" u="sng" dirty="0" err="1">
                <a:hlinkClick r:id="rId9"/>
              </a:rPr>
              <a:t>Acta</a:t>
            </a:r>
            <a:r>
              <a:rPr lang="en-US" altLang="zh-CN" u="sng" dirty="0">
                <a:hlinkClick r:id="rId9"/>
              </a:rPr>
              <a:t> </a:t>
            </a:r>
            <a:r>
              <a:rPr lang="en-US" altLang="zh-CN" u="sng" dirty="0" err="1">
                <a:hlinkClick r:id="rId9"/>
              </a:rPr>
              <a:t>Materialia</a:t>
            </a:r>
            <a:r>
              <a:rPr lang="zh-CN" altLang="en-US" u="sng" dirty="0"/>
              <a:t>，</a:t>
            </a:r>
            <a:r>
              <a:rPr lang="en-US" altLang="zh-CN" u="sng" dirty="0"/>
              <a:t>2015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5671122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1053369" y="32348"/>
            <a:ext cx="610135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>
                <a:solidFill>
                  <a:srgbClr val="FF0000"/>
                </a:solidFill>
              </a:rPr>
              <a:t>Entropy  as a function of temperature</a:t>
            </a:r>
            <a:endParaRPr lang="zh-CN" altLang="en-US" sz="2800" dirty="0">
              <a:solidFill>
                <a:srgbClr val="FF0000"/>
              </a:solidFill>
            </a:endParaRPr>
          </a:p>
        </p:txBody>
      </p:sp>
      <p:sp>
        <p:nvSpPr>
          <p:cNvPr id="10" name="矩形 9"/>
          <p:cNvSpPr/>
          <p:nvPr/>
        </p:nvSpPr>
        <p:spPr>
          <a:xfrm>
            <a:off x="431945" y="1363079"/>
            <a:ext cx="7935603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solidFill>
                  <a:srgbClr val="0000FF"/>
                </a:solidFill>
              </a:rPr>
              <a:t>For a closed system of fixed composition </a:t>
            </a:r>
          </a:p>
          <a:p>
            <a:r>
              <a:rPr lang="en-US" altLang="zh-CN" sz="2400" dirty="0">
                <a:solidFill>
                  <a:srgbClr val="0000FF"/>
                </a:solidFill>
              </a:rPr>
              <a:t>undergoing a change in temperature from </a:t>
            </a:r>
            <a:r>
              <a:rPr lang="en-US" altLang="zh-CN" sz="2400" i="1" dirty="0">
                <a:solidFill>
                  <a:srgbClr val="0000FF"/>
                </a:solidFill>
              </a:rPr>
              <a:t>T</a:t>
            </a:r>
            <a:r>
              <a:rPr lang="en-US" altLang="zh-CN" sz="2400" i="1" baseline="-25000" dirty="0">
                <a:solidFill>
                  <a:srgbClr val="0000FF"/>
                </a:solidFill>
              </a:rPr>
              <a:t>1</a:t>
            </a:r>
            <a:r>
              <a:rPr lang="en-US" altLang="zh-CN" sz="2400" i="1" dirty="0">
                <a:solidFill>
                  <a:srgbClr val="0000FF"/>
                </a:solidFill>
              </a:rPr>
              <a:t>  </a:t>
            </a:r>
            <a:r>
              <a:rPr lang="en-US" altLang="zh-CN" sz="2400" dirty="0">
                <a:solidFill>
                  <a:srgbClr val="0000FF"/>
                </a:solidFill>
              </a:rPr>
              <a:t>to </a:t>
            </a:r>
            <a:r>
              <a:rPr lang="en-US" altLang="zh-CN" sz="2400" i="1" dirty="0">
                <a:solidFill>
                  <a:srgbClr val="0000FF"/>
                </a:solidFill>
              </a:rPr>
              <a:t>T</a:t>
            </a:r>
            <a:r>
              <a:rPr lang="en-US" altLang="zh-CN" sz="2400" i="1" baseline="-25000" dirty="0">
                <a:solidFill>
                  <a:srgbClr val="0000FF"/>
                </a:solidFill>
              </a:rPr>
              <a:t>2</a:t>
            </a:r>
            <a:r>
              <a:rPr lang="en-US" altLang="zh-CN" sz="2400" i="1" dirty="0">
                <a:solidFill>
                  <a:srgbClr val="0000FF"/>
                </a:solidFill>
              </a:rPr>
              <a:t>  </a:t>
            </a:r>
            <a:r>
              <a:rPr lang="en-US" altLang="zh-CN" sz="2400" dirty="0">
                <a:solidFill>
                  <a:srgbClr val="0000FF"/>
                </a:solidFill>
              </a:rPr>
              <a:t>at the constant pressure </a:t>
            </a:r>
            <a:r>
              <a:rPr lang="en-US" altLang="zh-CN" sz="2400" i="1" dirty="0">
                <a:solidFill>
                  <a:srgbClr val="0000FF"/>
                </a:solidFill>
              </a:rPr>
              <a:t>P</a:t>
            </a:r>
          </a:p>
        </p:txBody>
      </p:sp>
      <p:cxnSp>
        <p:nvCxnSpPr>
          <p:cNvPr id="12" name="直接箭头连接符 11"/>
          <p:cNvCxnSpPr/>
          <p:nvPr/>
        </p:nvCxnSpPr>
        <p:spPr>
          <a:xfrm>
            <a:off x="645991" y="5252202"/>
            <a:ext cx="2891928" cy="0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箭头连接符 13"/>
          <p:cNvCxnSpPr/>
          <p:nvPr/>
        </p:nvCxnSpPr>
        <p:spPr>
          <a:xfrm flipV="1">
            <a:off x="692216" y="3347202"/>
            <a:ext cx="0" cy="1905000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282925" y="4068628"/>
            <a:ext cx="359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i="1" dirty="0" err="1"/>
              <a:t>c</a:t>
            </a:r>
            <a:r>
              <a:rPr lang="en-US" altLang="zh-CN" i="1" baseline="-25000" dirty="0" err="1"/>
              <a:t>p</a:t>
            </a:r>
            <a:endParaRPr lang="zh-CN" altLang="en-US" i="1" baseline="-25000" dirty="0"/>
          </a:p>
        </p:txBody>
      </p:sp>
      <p:sp>
        <p:nvSpPr>
          <p:cNvPr id="17" name="TextBox 16"/>
          <p:cNvSpPr txBox="1"/>
          <p:nvPr/>
        </p:nvSpPr>
        <p:spPr>
          <a:xfrm>
            <a:off x="714065" y="5324973"/>
            <a:ext cx="4106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i="1" dirty="0"/>
              <a:t>T</a:t>
            </a:r>
            <a:r>
              <a:rPr lang="en-US" altLang="zh-CN" i="1" baseline="-25000" dirty="0"/>
              <a:t>1</a:t>
            </a:r>
            <a:endParaRPr lang="zh-CN" altLang="en-US" i="1" dirty="0"/>
          </a:p>
        </p:txBody>
      </p:sp>
      <p:sp>
        <p:nvSpPr>
          <p:cNvPr id="20" name="任意多边形 19"/>
          <p:cNvSpPr/>
          <p:nvPr/>
        </p:nvSpPr>
        <p:spPr>
          <a:xfrm>
            <a:off x="919410" y="3763828"/>
            <a:ext cx="2237509" cy="1468087"/>
          </a:xfrm>
          <a:custGeom>
            <a:avLst/>
            <a:gdLst>
              <a:gd name="connsiteX0" fmla="*/ 0 w 2315688"/>
              <a:gd name="connsiteY0" fmla="*/ 1163782 h 1520042"/>
              <a:gd name="connsiteX1" fmla="*/ 0 w 2315688"/>
              <a:gd name="connsiteY1" fmla="*/ 1520042 h 1520042"/>
              <a:gd name="connsiteX2" fmla="*/ 2315688 w 2315688"/>
              <a:gd name="connsiteY2" fmla="*/ 1520042 h 1520042"/>
              <a:gd name="connsiteX3" fmla="*/ 2303813 w 2315688"/>
              <a:gd name="connsiteY3" fmla="*/ 0 h 1520042"/>
              <a:gd name="connsiteX4" fmla="*/ 1294410 w 2315688"/>
              <a:gd name="connsiteY4" fmla="*/ 261258 h 1520042"/>
              <a:gd name="connsiteX5" fmla="*/ 688768 w 2315688"/>
              <a:gd name="connsiteY5" fmla="*/ 510639 h 1520042"/>
              <a:gd name="connsiteX6" fmla="*/ 296883 w 2315688"/>
              <a:gd name="connsiteY6" fmla="*/ 855024 h 1520042"/>
              <a:gd name="connsiteX7" fmla="*/ 0 w 2315688"/>
              <a:gd name="connsiteY7" fmla="*/ 1163782 h 15200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315688" h="1520042">
                <a:moveTo>
                  <a:pt x="0" y="1163782"/>
                </a:moveTo>
                <a:lnTo>
                  <a:pt x="0" y="1520042"/>
                </a:lnTo>
                <a:lnTo>
                  <a:pt x="2315688" y="1520042"/>
                </a:lnTo>
                <a:cubicBezTo>
                  <a:pt x="2311730" y="1013361"/>
                  <a:pt x="2307771" y="506681"/>
                  <a:pt x="2303813" y="0"/>
                </a:cubicBezTo>
                <a:lnTo>
                  <a:pt x="1294410" y="261258"/>
                </a:lnTo>
                <a:lnTo>
                  <a:pt x="688768" y="510639"/>
                </a:lnTo>
                <a:lnTo>
                  <a:pt x="296883" y="855024"/>
                </a:lnTo>
                <a:lnTo>
                  <a:pt x="0" y="1163782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 15"/>
          <p:cNvSpPr/>
          <p:nvPr/>
        </p:nvSpPr>
        <p:spPr>
          <a:xfrm>
            <a:off x="917432" y="3784115"/>
            <a:ext cx="2208810" cy="1140032"/>
          </a:xfrm>
          <a:custGeom>
            <a:avLst/>
            <a:gdLst>
              <a:gd name="connsiteX0" fmla="*/ 0 w 2208810"/>
              <a:gd name="connsiteY0" fmla="*/ 1140032 h 1140032"/>
              <a:gd name="connsiteX1" fmla="*/ 783771 w 2208810"/>
              <a:gd name="connsiteY1" fmla="*/ 427512 h 1140032"/>
              <a:gd name="connsiteX2" fmla="*/ 2208810 w 2208810"/>
              <a:gd name="connsiteY2" fmla="*/ 0 h 11400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208810" h="1140032">
                <a:moveTo>
                  <a:pt x="0" y="1140032"/>
                </a:moveTo>
                <a:cubicBezTo>
                  <a:pt x="207818" y="878774"/>
                  <a:pt x="415636" y="617517"/>
                  <a:pt x="783771" y="427512"/>
                </a:cubicBezTo>
                <a:cubicBezTo>
                  <a:pt x="1151906" y="237507"/>
                  <a:pt x="1680358" y="118753"/>
                  <a:pt x="2208810" y="0"/>
                </a:cubicBezTo>
              </a:path>
            </a:pathLst>
          </a:custGeom>
          <a:noFill/>
          <a:ln w="762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TextBox 20"/>
          <p:cNvSpPr txBox="1"/>
          <p:nvPr/>
        </p:nvSpPr>
        <p:spPr>
          <a:xfrm>
            <a:off x="3233119" y="4253294"/>
            <a:ext cx="5004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altLang="zh-CN" i="1" dirty="0">
                <a:latin typeface="Times New Roman" panose="02020603050405020304"/>
                <a:cs typeface="Times New Roman" panose="02020603050405020304"/>
              </a:rPr>
              <a:t>Δ</a:t>
            </a:r>
            <a:r>
              <a:rPr lang="en-US" altLang="zh-CN" i="1" dirty="0">
                <a:latin typeface="Times New Roman" panose="02020603050405020304"/>
                <a:cs typeface="Times New Roman" panose="02020603050405020304"/>
              </a:rPr>
              <a:t>H</a:t>
            </a:r>
            <a:endParaRPr lang="zh-CN" altLang="en-US" i="1" dirty="0"/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/>
        </p:nvGraphicFramePr>
        <p:xfrm>
          <a:off x="4505520" y="4045502"/>
          <a:ext cx="4192032" cy="1110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298600" imgH="609480" progId="">
                  <p:embed/>
                </p:oleObj>
              </mc:Choice>
              <mc:Fallback>
                <p:oleObj name="Equation" r:id="rId2" imgW="2298600" imgH="609480" progId="">
                  <p:embed/>
                  <p:pic>
                    <p:nvPicPr>
                      <p:cNvPr id="2" name="对象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05520" y="4045502"/>
                        <a:ext cx="4192032" cy="11104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2822916" y="5375945"/>
            <a:ext cx="4106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i="1" dirty="0"/>
              <a:t>T</a:t>
            </a:r>
            <a:r>
              <a:rPr lang="en-US" altLang="zh-CN" i="1" baseline="-25000" dirty="0"/>
              <a:t>2</a:t>
            </a:r>
            <a:endParaRPr lang="zh-CN" altLang="en-US" i="1" dirty="0"/>
          </a:p>
        </p:txBody>
      </p:sp>
    </p:spTree>
    <p:extLst>
      <p:ext uri="{BB962C8B-B14F-4D97-AF65-F5344CB8AC3E}">
        <p14:creationId xmlns:p14="http://schemas.microsoft.com/office/powerpoint/2010/main" val="293414439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1045464" y="88612"/>
            <a:ext cx="522636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dirty="0">
                <a:solidFill>
                  <a:srgbClr val="FF0000"/>
                </a:solidFill>
              </a:rPr>
              <a:t>Enthalpy-Temperature diagram </a:t>
            </a:r>
            <a:endParaRPr lang="zh-CN" altLang="en-US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439116" y="1421977"/>
            <a:ext cx="39182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rgbClr val="0000FF"/>
                </a:solidFill>
              </a:rPr>
              <a:t>Considering a melting process</a:t>
            </a:r>
            <a:endParaRPr lang="zh-CN" altLang="en-US" sz="2000" b="1" dirty="0">
              <a:solidFill>
                <a:srgbClr val="0000FF"/>
              </a:solidFill>
            </a:endParaRPr>
          </a:p>
        </p:txBody>
      </p:sp>
      <p:pic>
        <p:nvPicPr>
          <p:cNvPr id="13" name="image488.png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118790" y="1421977"/>
            <a:ext cx="2211460" cy="347226"/>
          </a:xfrm>
          <a:prstGeom prst="rect">
            <a:avLst/>
          </a:prstGeom>
        </p:spPr>
      </p:pic>
      <p:pic>
        <p:nvPicPr>
          <p:cNvPr id="14" name="image489.png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047243" y="1859684"/>
            <a:ext cx="2092848" cy="296446"/>
          </a:xfrm>
          <a:prstGeom prst="rect">
            <a:avLst/>
          </a:prstGeom>
        </p:spPr>
      </p:pic>
      <p:pic>
        <p:nvPicPr>
          <p:cNvPr id="15" name="image494.png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062031" y="2145030"/>
            <a:ext cx="4419600" cy="598170"/>
          </a:xfrm>
          <a:prstGeom prst="rect">
            <a:avLst/>
          </a:prstGeom>
        </p:spPr>
      </p:pic>
      <p:pic>
        <p:nvPicPr>
          <p:cNvPr id="16" name="image495.png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144752" y="2743200"/>
            <a:ext cx="1897830" cy="62865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572000" y="5017134"/>
            <a:ext cx="30433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/>
              <a:t>If </a:t>
            </a:r>
            <a:r>
              <a:rPr lang="el-GR" altLang="zh-CN" sz="2000" dirty="0">
                <a:latin typeface="Times New Roman" panose="02020603050405020304"/>
                <a:cs typeface="Times New Roman" panose="02020603050405020304"/>
              </a:rPr>
              <a:t>Δ</a:t>
            </a:r>
            <a:r>
              <a:rPr lang="en-US" altLang="zh-CN" sz="2000" dirty="0" err="1">
                <a:latin typeface="Times New Roman" panose="02020603050405020304"/>
                <a:cs typeface="Times New Roman" panose="02020603050405020304"/>
              </a:rPr>
              <a:t>c</a:t>
            </a:r>
            <a:r>
              <a:rPr lang="en-US" altLang="zh-CN" sz="2000" baseline="-25000" dirty="0" err="1">
                <a:latin typeface="Times New Roman" panose="02020603050405020304"/>
                <a:cs typeface="Times New Roman" panose="02020603050405020304"/>
              </a:rPr>
              <a:t>p</a:t>
            </a:r>
            <a:r>
              <a:rPr lang="en-US" altLang="zh-CN" sz="2000" dirty="0">
                <a:latin typeface="Times New Roman" panose="02020603050405020304"/>
                <a:cs typeface="Times New Roman" panose="02020603050405020304"/>
              </a:rPr>
              <a:t>=0, then </a:t>
            </a:r>
            <a:r>
              <a:rPr lang="el-GR" altLang="zh-CN" sz="2000" i="1" dirty="0">
                <a:latin typeface="Times New Roman" panose="02020603050405020304"/>
                <a:cs typeface="Times New Roman" panose="02020603050405020304"/>
              </a:rPr>
              <a:t>Δ</a:t>
            </a:r>
            <a:r>
              <a:rPr lang="en-US" altLang="zh-CN" sz="2000" i="1" dirty="0">
                <a:latin typeface="Times New Roman" panose="02020603050405020304"/>
                <a:cs typeface="Times New Roman" panose="02020603050405020304"/>
              </a:rPr>
              <a:t>H</a:t>
            </a:r>
            <a:r>
              <a:rPr lang="en-US" altLang="zh-CN" sz="2000" i="1" baseline="-25000" dirty="0">
                <a:latin typeface="Times New Roman" panose="02020603050405020304"/>
                <a:cs typeface="Times New Roman" panose="02020603050405020304"/>
              </a:rPr>
              <a:t>T1</a:t>
            </a:r>
            <a:r>
              <a:rPr lang="en-US" altLang="zh-CN" sz="2000" i="1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altLang="zh-CN" sz="2000" dirty="0">
                <a:latin typeface="Times New Roman" panose="02020603050405020304"/>
                <a:cs typeface="Times New Roman" panose="02020603050405020304"/>
              </a:rPr>
              <a:t>= </a:t>
            </a:r>
            <a:r>
              <a:rPr lang="el-GR" altLang="zh-CN" sz="2000" i="1" dirty="0">
                <a:latin typeface="Times New Roman" panose="02020603050405020304"/>
                <a:cs typeface="Times New Roman" panose="02020603050405020304"/>
              </a:rPr>
              <a:t>Δ</a:t>
            </a:r>
            <a:r>
              <a:rPr lang="en-US" altLang="zh-CN" sz="2000" i="1" dirty="0">
                <a:latin typeface="Times New Roman" panose="02020603050405020304"/>
                <a:cs typeface="Times New Roman" panose="02020603050405020304"/>
              </a:rPr>
              <a:t>H</a:t>
            </a:r>
            <a:r>
              <a:rPr lang="en-US" altLang="zh-CN" sz="2000" i="1" baseline="-25000" dirty="0">
                <a:latin typeface="Times New Roman" panose="02020603050405020304"/>
                <a:cs typeface="Times New Roman" panose="02020603050405020304"/>
              </a:rPr>
              <a:t>T2</a:t>
            </a:r>
            <a:r>
              <a:rPr lang="en-US" altLang="zh-CN" sz="2000" i="1" dirty="0">
                <a:latin typeface="Times New Roman" panose="02020603050405020304"/>
                <a:cs typeface="Times New Roman" panose="02020603050405020304"/>
              </a:rPr>
              <a:t> </a:t>
            </a:r>
            <a:endParaRPr lang="zh-CN" altLang="en-US" sz="2000" i="1" dirty="0"/>
          </a:p>
        </p:txBody>
      </p:sp>
      <p:sp>
        <p:nvSpPr>
          <p:cNvPr id="21" name="矩形 20"/>
          <p:cNvSpPr/>
          <p:nvPr/>
        </p:nvSpPr>
        <p:spPr>
          <a:xfrm>
            <a:off x="4572658" y="3649024"/>
            <a:ext cx="2070738" cy="36933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i="1" dirty="0"/>
              <a:t>Kirchhoff ’s Law</a:t>
            </a:r>
            <a:endParaRPr lang="zh-CN" altLang="en-US" dirty="0"/>
          </a:p>
        </p:txBody>
      </p:sp>
      <p:pic>
        <p:nvPicPr>
          <p:cNvPr id="31746" name="Picture 2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4388" y="2760881"/>
            <a:ext cx="3996611" cy="28359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1747" name="Picture 3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0513" y="2156130"/>
            <a:ext cx="1268071" cy="5870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2" name="对象 1"/>
          <p:cNvGraphicFramePr>
            <a:graphicFrameLocks noChangeAspect="1"/>
          </p:cNvGraphicFramePr>
          <p:nvPr/>
        </p:nvGraphicFramePr>
        <p:xfrm>
          <a:off x="5138738" y="4271963"/>
          <a:ext cx="2562225" cy="593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536480" imgH="355320" progId="">
                  <p:embed/>
                </p:oleObj>
              </mc:Choice>
              <mc:Fallback>
                <p:oleObj name="Equation" r:id="rId9" imgW="1536480" imgH="355320" progId="">
                  <p:embed/>
                  <p:pic>
                    <p:nvPicPr>
                      <p:cNvPr id="2" name="对象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38738" y="4271963"/>
                        <a:ext cx="2562225" cy="5937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28880809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978725" y="98328"/>
            <a:ext cx="626165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>
                <a:solidFill>
                  <a:srgbClr val="FF0000"/>
                </a:solidFill>
              </a:rPr>
              <a:t>Enthalpy  as a function of temperature</a:t>
            </a:r>
            <a:endParaRPr lang="zh-CN" altLang="en-US" sz="2800" dirty="0">
              <a:solidFill>
                <a:srgbClr val="FF0000"/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374550" y="1038809"/>
            <a:ext cx="8312250" cy="21852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When a system undergoes a chemical reaction or a phase transformation at constant temperature and pressure, e.g.,</a:t>
            </a:r>
          </a:p>
          <a:p>
            <a:r>
              <a:rPr lang="en-US" altLang="zh-CN" dirty="0"/>
              <a:t>   </a:t>
            </a:r>
          </a:p>
          <a:p>
            <a:r>
              <a:rPr lang="en-US" altLang="zh-CN" sz="2800" i="1" dirty="0">
                <a:solidFill>
                  <a:srgbClr val="FF0000"/>
                </a:solidFill>
              </a:rPr>
              <a:t>       A+B=AB </a:t>
            </a:r>
          </a:p>
          <a:p>
            <a:endParaRPr lang="en-US" altLang="zh-CN" i="1" dirty="0">
              <a:latin typeface="Times New Roman" panose="02020603050405020304"/>
              <a:cs typeface="Times New Roman" panose="02020603050405020304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>
                <a:latin typeface="Times New Roman" panose="02020603050405020304"/>
                <a:cs typeface="Times New Roman" panose="02020603050405020304"/>
              </a:rPr>
              <a:t>Δ</a:t>
            </a:r>
            <a:r>
              <a:rPr lang="en-US" altLang="zh-CN" i="1" dirty="0"/>
              <a:t>H </a:t>
            </a:r>
            <a:r>
              <a:rPr lang="en-US" altLang="zh-CN" dirty="0"/>
              <a:t>is the difference between the enthalpy of the products of the reaction (the state 2), and the enthalpy of the reactants (the state 1), </a:t>
            </a:r>
            <a:r>
              <a:rPr lang="en-US" altLang="zh-CN" dirty="0" err="1"/>
              <a:t>i.e</a:t>
            </a:r>
            <a:endParaRPr lang="zh-CN" altLang="en-US" dirty="0"/>
          </a:p>
        </p:txBody>
      </p:sp>
      <p:sp>
        <p:nvSpPr>
          <p:cNvPr id="3" name="矩形 2"/>
          <p:cNvSpPr/>
          <p:nvPr/>
        </p:nvSpPr>
        <p:spPr>
          <a:xfrm>
            <a:off x="812913" y="4758612"/>
            <a:ext cx="4934743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b="1" i="1" dirty="0"/>
              <a:t>Endothermic process: </a:t>
            </a:r>
            <a:r>
              <a:rPr lang="el-GR" altLang="zh-CN" b="1" i="1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Δ</a:t>
            </a:r>
            <a:r>
              <a:rPr lang="en-US" altLang="zh-CN" b="1" i="1" dirty="0">
                <a:solidFill>
                  <a:srgbClr val="FF0000"/>
                </a:solidFill>
              </a:rPr>
              <a:t>H </a:t>
            </a:r>
            <a:r>
              <a:rPr lang="en-US" altLang="zh-CN" b="1" dirty="0">
                <a:solidFill>
                  <a:srgbClr val="FF0000"/>
                </a:solidFill>
              </a:rPr>
              <a:t>is positive</a:t>
            </a:r>
          </a:p>
          <a:p>
            <a:pPr>
              <a:lnSpc>
                <a:spcPct val="150000"/>
              </a:lnSpc>
            </a:pPr>
            <a:r>
              <a:rPr lang="en-US" altLang="zh-CN" b="1" i="1" dirty="0"/>
              <a:t>Exothermic </a:t>
            </a:r>
            <a:r>
              <a:rPr lang="en-US" altLang="zh-CN" b="1" dirty="0"/>
              <a:t>process: </a:t>
            </a:r>
            <a:r>
              <a:rPr lang="el-GR" altLang="zh-CN" b="1" i="1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Δ</a:t>
            </a:r>
            <a:r>
              <a:rPr lang="en-US" altLang="zh-CN" b="1" i="1" dirty="0">
                <a:solidFill>
                  <a:srgbClr val="0000FF"/>
                </a:solidFill>
              </a:rPr>
              <a:t>H </a:t>
            </a:r>
            <a:r>
              <a:rPr lang="en-US" altLang="zh-CN" b="1" dirty="0">
                <a:solidFill>
                  <a:srgbClr val="0000FF"/>
                </a:solidFill>
              </a:rPr>
              <a:t>is  negative</a:t>
            </a:r>
            <a:endParaRPr lang="zh-CN" altLang="en-US" b="1" dirty="0">
              <a:solidFill>
                <a:srgbClr val="0000FF"/>
              </a:solidFill>
            </a:endParaRPr>
          </a:p>
        </p:txBody>
      </p:sp>
      <p:pic>
        <p:nvPicPr>
          <p:cNvPr id="30722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2306" y="3656045"/>
            <a:ext cx="6111498" cy="990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9621673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>
          <a:xfrm>
            <a:off x="443706" y="1069848"/>
            <a:ext cx="819038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i="1" dirty="0"/>
              <a:t>H </a:t>
            </a:r>
            <a:r>
              <a:rPr lang="en-US" altLang="zh-CN" dirty="0"/>
              <a:t>does not have an absolute value (only changes in </a:t>
            </a:r>
            <a:r>
              <a:rPr lang="en-US" altLang="zh-CN" i="1" dirty="0"/>
              <a:t>H </a:t>
            </a:r>
            <a:r>
              <a:rPr lang="en-US" altLang="zh-CN" dirty="0"/>
              <a:t>can be measured)</a:t>
            </a:r>
            <a:endParaRPr lang="zh-CN" altLang="en-US" dirty="0"/>
          </a:p>
        </p:txBody>
      </p:sp>
      <p:sp>
        <p:nvSpPr>
          <p:cNvPr id="12" name="矩形 11"/>
          <p:cNvSpPr/>
          <p:nvPr/>
        </p:nvSpPr>
        <p:spPr>
          <a:xfrm>
            <a:off x="408432" y="1603248"/>
            <a:ext cx="718986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dirty="0"/>
              <a:t>This convention assigns the value of zero to the enthalpy of </a:t>
            </a:r>
            <a:r>
              <a:rPr lang="en-US" altLang="zh-CN" b="1" i="1" dirty="0"/>
              <a:t>elements in their stable states at 298 K </a:t>
            </a:r>
            <a:r>
              <a:rPr lang="en-US" altLang="zh-CN" b="1" dirty="0"/>
              <a:t>(25°C)</a:t>
            </a:r>
            <a:endParaRPr lang="zh-CN" altLang="en-US" b="1" dirty="0"/>
          </a:p>
        </p:txBody>
      </p:sp>
      <p:pic>
        <p:nvPicPr>
          <p:cNvPr id="13" name="image506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41440" y="3692914"/>
            <a:ext cx="2644272" cy="2238375"/>
          </a:xfrm>
          <a:prstGeom prst="rect">
            <a:avLst/>
          </a:prstGeom>
        </p:spPr>
      </p:pic>
      <p:pic>
        <p:nvPicPr>
          <p:cNvPr id="14" name="image499.png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89432" y="2310512"/>
            <a:ext cx="2609726" cy="816735"/>
          </a:xfrm>
          <a:prstGeom prst="rect">
            <a:avLst/>
          </a:prstGeom>
        </p:spPr>
      </p:pic>
      <p:pic>
        <p:nvPicPr>
          <p:cNvPr id="15" name="image501.png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683424" y="2533822"/>
            <a:ext cx="1592408" cy="364826"/>
          </a:xfrm>
          <a:prstGeom prst="rect">
            <a:avLst/>
          </a:prstGeom>
        </p:spPr>
      </p:pic>
      <p:cxnSp>
        <p:nvCxnSpPr>
          <p:cNvPr id="22" name="直接连接符 21"/>
          <p:cNvCxnSpPr>
            <a:stCxn id="14" idx="2"/>
          </p:cNvCxnSpPr>
          <p:nvPr/>
        </p:nvCxnSpPr>
        <p:spPr>
          <a:xfrm>
            <a:off x="2094295" y="3127247"/>
            <a:ext cx="133940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4" name="image502.png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275510" y="3292864"/>
            <a:ext cx="1371600" cy="40005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3734952" y="3323582"/>
            <a:ext cx="42855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The T-dependent heat of chemical reaction </a:t>
            </a:r>
            <a:endParaRPr lang="zh-CN" altLang="en-US" dirty="0"/>
          </a:p>
        </p:txBody>
      </p:sp>
      <p:pic>
        <p:nvPicPr>
          <p:cNvPr id="26" name="image512.png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632678" y="3985979"/>
            <a:ext cx="2971802" cy="514350"/>
          </a:xfrm>
          <a:prstGeom prst="rect">
            <a:avLst/>
          </a:prstGeom>
        </p:spPr>
      </p:pic>
      <p:pic>
        <p:nvPicPr>
          <p:cNvPr id="28" name="image516.png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566004" y="4633679"/>
            <a:ext cx="2200276" cy="661988"/>
          </a:xfrm>
          <a:prstGeom prst="rect">
            <a:avLst/>
          </a:prstGeom>
        </p:spPr>
      </p:pic>
      <p:pic>
        <p:nvPicPr>
          <p:cNvPr id="29" name="image517.png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538295" y="5338034"/>
            <a:ext cx="2255694" cy="499753"/>
          </a:xfrm>
          <a:prstGeom prst="rect">
            <a:avLst/>
          </a:prstGeom>
        </p:spPr>
      </p:pic>
      <p:sp>
        <p:nvSpPr>
          <p:cNvPr id="20" name="矩形 19"/>
          <p:cNvSpPr/>
          <p:nvPr/>
        </p:nvSpPr>
        <p:spPr>
          <a:xfrm>
            <a:off x="1045464" y="88612"/>
            <a:ext cx="545604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dirty="0">
                <a:solidFill>
                  <a:srgbClr val="FF0000"/>
                </a:solidFill>
              </a:rPr>
              <a:t>Enthalpy-Temperature diagram </a:t>
            </a:r>
            <a:endParaRPr lang="zh-CN" altLang="en-US" sz="3200" dirty="0"/>
          </a:p>
        </p:txBody>
      </p:sp>
    </p:spTree>
    <p:extLst>
      <p:ext uri="{BB962C8B-B14F-4D97-AF65-F5344CB8AC3E}">
        <p14:creationId xmlns:p14="http://schemas.microsoft.com/office/powerpoint/2010/main" val="244924151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78" name="Picture 2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8898"/>
          <a:stretch>
            <a:fillRect/>
          </a:stretch>
        </p:blipFill>
        <p:spPr bwMode="auto">
          <a:xfrm>
            <a:off x="228600" y="1524001"/>
            <a:ext cx="3429000" cy="23290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" name="image516.png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53534" y="4638792"/>
            <a:ext cx="2200276" cy="661988"/>
          </a:xfrm>
          <a:prstGeom prst="rect">
            <a:avLst/>
          </a:prstGeom>
        </p:spPr>
      </p:pic>
      <p:pic>
        <p:nvPicPr>
          <p:cNvPr id="12" name="image517.png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25825" y="5343147"/>
            <a:ext cx="2255694" cy="499753"/>
          </a:xfrm>
          <a:prstGeom prst="rect">
            <a:avLst/>
          </a:prstGeom>
        </p:spPr>
      </p:pic>
      <p:pic>
        <p:nvPicPr>
          <p:cNvPr id="24579" name="Picture 3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75308" y="1510863"/>
            <a:ext cx="3006492" cy="23421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TextBox 9"/>
          <p:cNvSpPr txBox="1"/>
          <p:nvPr/>
        </p:nvSpPr>
        <p:spPr>
          <a:xfrm>
            <a:off x="3581400" y="4355068"/>
            <a:ext cx="17838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(a). 298 to 600 K </a:t>
            </a:r>
            <a:endParaRPr lang="zh-CN" alt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3572029" y="5117068"/>
            <a:ext cx="1130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(b). 600 K </a:t>
            </a:r>
            <a:endParaRPr lang="zh-CN" altLang="en-US" dirty="0"/>
          </a:p>
        </p:txBody>
      </p:sp>
      <p:pic>
        <p:nvPicPr>
          <p:cNvPr id="16" name="image520.png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764800" y="5090046"/>
            <a:ext cx="2286000" cy="502977"/>
          </a:xfrm>
          <a:prstGeom prst="rect">
            <a:avLst/>
          </a:prstGeom>
        </p:spPr>
      </p:pic>
      <p:sp>
        <p:nvSpPr>
          <p:cNvPr id="13" name="矩形 12"/>
          <p:cNvSpPr/>
          <p:nvPr/>
        </p:nvSpPr>
        <p:spPr>
          <a:xfrm>
            <a:off x="3572029" y="5846467"/>
            <a:ext cx="18287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/>
              <a:t>(c). 600 to 1200 K</a:t>
            </a:r>
            <a:endParaRPr lang="zh-CN" altLang="en-US" dirty="0"/>
          </a:p>
        </p:txBody>
      </p:sp>
      <p:pic>
        <p:nvPicPr>
          <p:cNvPr id="18" name="image521.png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791200" y="5846467"/>
            <a:ext cx="2809875" cy="419100"/>
          </a:xfrm>
          <a:prstGeom prst="rect">
            <a:avLst/>
          </a:prstGeom>
        </p:spPr>
      </p:pic>
      <p:graphicFrame>
        <p:nvGraphicFramePr>
          <p:cNvPr id="17" name="对象 16"/>
          <p:cNvGraphicFramePr>
            <a:graphicFrameLocks noChangeAspect="1"/>
          </p:cNvGraphicFramePr>
          <p:nvPr/>
        </p:nvGraphicFramePr>
        <p:xfrm>
          <a:off x="5735525" y="4355068"/>
          <a:ext cx="11557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7736800" imgH="7924800" progId="">
                  <p:embed/>
                </p:oleObj>
              </mc:Choice>
              <mc:Fallback>
                <p:oleObj name="Equation" r:id="rId8" imgW="27736800" imgH="7924800" progId="">
                  <p:embed/>
                  <p:pic>
                    <p:nvPicPr>
                      <p:cNvPr id="17" name="对象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35525" y="4355068"/>
                        <a:ext cx="1155700" cy="330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1" name="image523.png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6907800" y="1510863"/>
            <a:ext cx="1936983" cy="2222937"/>
          </a:xfrm>
          <a:prstGeom prst="rect">
            <a:avLst/>
          </a:prstGeom>
        </p:spPr>
      </p:pic>
      <p:sp>
        <p:nvSpPr>
          <p:cNvPr id="19" name="Slide Number Placeholder 3"/>
          <p:cNvSpPr txBox="1"/>
          <p:nvPr/>
        </p:nvSpPr>
        <p:spPr>
          <a:xfrm>
            <a:off x="6934200" y="6477000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i="1" dirty="0"/>
              <a:t>Prof. W.S. Liu  </a:t>
            </a:r>
            <a:r>
              <a:rPr lang="en-US" dirty="0"/>
              <a:t>|  </a:t>
            </a:r>
            <a:fld id="{C915B95C-5458-41FC-90FC-CACA4B5603FB}" type="slidenum">
              <a:rPr lang="en-US" dirty="0" smtClean="0"/>
              <a:pPr algn="r"/>
              <a:t>55</a:t>
            </a:fld>
            <a:endParaRPr lang="en-US" dirty="0"/>
          </a:p>
        </p:txBody>
      </p:sp>
      <p:sp>
        <p:nvSpPr>
          <p:cNvPr id="20" name="矩形 19"/>
          <p:cNvSpPr/>
          <p:nvPr/>
        </p:nvSpPr>
        <p:spPr>
          <a:xfrm>
            <a:off x="1045464" y="88612"/>
            <a:ext cx="545604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dirty="0">
                <a:solidFill>
                  <a:srgbClr val="FF0000"/>
                </a:solidFill>
              </a:rPr>
              <a:t>Enthalpy-Temperature diagram </a:t>
            </a:r>
            <a:endParaRPr lang="zh-CN" altLang="en-US" sz="3200" dirty="0"/>
          </a:p>
        </p:txBody>
      </p:sp>
    </p:spTree>
    <p:extLst>
      <p:ext uri="{BB962C8B-B14F-4D97-AF65-F5344CB8AC3E}">
        <p14:creationId xmlns:p14="http://schemas.microsoft.com/office/powerpoint/2010/main" val="971377034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974198" y="0"/>
            <a:ext cx="572207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>
                <a:solidFill>
                  <a:srgbClr val="FF0000"/>
                </a:solidFill>
              </a:rPr>
              <a:t>Effect of pressure on the H  and S</a:t>
            </a:r>
            <a:endParaRPr lang="zh-CN" altLang="en-US" sz="3200" dirty="0">
              <a:solidFill>
                <a:srgbClr val="FF0000"/>
              </a:solidFill>
            </a:endParaRPr>
          </a:p>
        </p:txBody>
      </p:sp>
      <p:pic>
        <p:nvPicPr>
          <p:cNvPr id="10" name="image578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000" y="1299120"/>
            <a:ext cx="1580659" cy="630621"/>
          </a:xfrm>
          <a:prstGeom prst="rect">
            <a:avLst/>
          </a:prstGeom>
        </p:spPr>
      </p:pic>
      <p:sp>
        <p:nvSpPr>
          <p:cNvPr id="11" name="矩形 10"/>
          <p:cNvSpPr/>
          <p:nvPr/>
        </p:nvSpPr>
        <p:spPr>
          <a:xfrm>
            <a:off x="228600" y="2118928"/>
            <a:ext cx="28175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i="1" dirty="0"/>
              <a:t>Apply </a:t>
            </a:r>
            <a:r>
              <a:rPr lang="en-US" altLang="zh-CN" i="1" dirty="0" err="1"/>
              <a:t>dH</a:t>
            </a:r>
            <a:r>
              <a:rPr lang="en-US" altLang="zh-CN" i="1" dirty="0"/>
              <a:t>=</a:t>
            </a:r>
            <a:r>
              <a:rPr lang="en-US" altLang="zh-CN" i="1" dirty="0" err="1"/>
              <a:t>TdS+VdP</a:t>
            </a:r>
            <a:r>
              <a:rPr lang="en-US" altLang="zh-CN" i="1" dirty="0"/>
              <a:t>, </a:t>
            </a:r>
            <a:r>
              <a:rPr lang="en-US" altLang="zh-CN" dirty="0"/>
              <a:t>and thus</a:t>
            </a:r>
            <a:endParaRPr lang="zh-CN" altLang="en-US" dirty="0"/>
          </a:p>
        </p:txBody>
      </p:sp>
      <p:pic>
        <p:nvPicPr>
          <p:cNvPr id="12" name="image579.png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05848" y="2754736"/>
            <a:ext cx="1703951" cy="507192"/>
          </a:xfrm>
          <a:prstGeom prst="rect">
            <a:avLst/>
          </a:prstGeom>
        </p:spPr>
      </p:pic>
      <p:sp>
        <p:nvSpPr>
          <p:cNvPr id="13" name="矩形 12"/>
          <p:cNvSpPr/>
          <p:nvPr/>
        </p:nvSpPr>
        <p:spPr>
          <a:xfrm>
            <a:off x="228600" y="3389522"/>
            <a:ext cx="200131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/>
              <a:t>Maxwell’s equation</a:t>
            </a:r>
            <a:endParaRPr lang="zh-CN" altLang="en-US" dirty="0"/>
          </a:p>
        </p:txBody>
      </p:sp>
      <p:graphicFrame>
        <p:nvGraphicFramePr>
          <p:cNvPr id="15" name="对象 14"/>
          <p:cNvGraphicFramePr>
            <a:graphicFrameLocks noChangeAspect="1"/>
          </p:cNvGraphicFramePr>
          <p:nvPr/>
        </p:nvGraphicFramePr>
        <p:xfrm>
          <a:off x="2247900" y="3447666"/>
          <a:ext cx="1933575" cy="311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7795200" imgH="6096000" progId="">
                  <p:embed/>
                </p:oleObj>
              </mc:Choice>
              <mc:Fallback>
                <p:oleObj name="Equation" r:id="rId4" imgW="37795200" imgH="6096000" progId="">
                  <p:embed/>
                  <p:pic>
                    <p:nvPicPr>
                      <p:cNvPr id="15" name="对象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47900" y="3447666"/>
                        <a:ext cx="1933575" cy="3111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6" name="image580.png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83513" y="3987142"/>
            <a:ext cx="1748620" cy="493986"/>
          </a:xfrm>
          <a:prstGeom prst="rect">
            <a:avLst/>
          </a:prstGeom>
        </p:spPr>
      </p:pic>
      <p:pic>
        <p:nvPicPr>
          <p:cNvPr id="17" name="image582.png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95337" y="4616449"/>
            <a:ext cx="2452815" cy="438808"/>
          </a:xfrm>
          <a:prstGeom prst="rect">
            <a:avLst/>
          </a:prstGeom>
        </p:spPr>
      </p:pic>
      <p:pic>
        <p:nvPicPr>
          <p:cNvPr id="18" name="image585.png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555978" y="914478"/>
            <a:ext cx="1181100" cy="466725"/>
          </a:xfrm>
          <a:prstGeom prst="rect">
            <a:avLst/>
          </a:prstGeom>
        </p:spPr>
      </p:pic>
      <p:pic>
        <p:nvPicPr>
          <p:cNvPr id="19" name="image586.png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4719610" y="2076702"/>
            <a:ext cx="1171575" cy="466725"/>
          </a:xfrm>
          <a:prstGeom prst="rect">
            <a:avLst/>
          </a:prstGeom>
        </p:spPr>
      </p:pic>
      <p:sp>
        <p:nvSpPr>
          <p:cNvPr id="20" name="矩形 19"/>
          <p:cNvSpPr/>
          <p:nvPr/>
        </p:nvSpPr>
        <p:spPr>
          <a:xfrm>
            <a:off x="4443385" y="1667011"/>
            <a:ext cx="200131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/>
              <a:t>Maxwell’s equation</a:t>
            </a:r>
            <a:endParaRPr lang="zh-CN" altLang="en-US" dirty="0"/>
          </a:p>
        </p:txBody>
      </p:sp>
      <p:graphicFrame>
        <p:nvGraphicFramePr>
          <p:cNvPr id="21" name="对象 20"/>
          <p:cNvGraphicFramePr>
            <a:graphicFrameLocks noChangeAspect="1"/>
          </p:cNvGraphicFramePr>
          <p:nvPr/>
        </p:nvGraphicFramePr>
        <p:xfrm>
          <a:off x="6462685" y="1725155"/>
          <a:ext cx="1933575" cy="311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37795200" imgH="6096000" progId="">
                  <p:embed/>
                </p:oleObj>
              </mc:Choice>
              <mc:Fallback>
                <p:oleObj name="Equation" r:id="rId10" imgW="37795200" imgH="6096000" progId="">
                  <p:embed/>
                  <p:pic>
                    <p:nvPicPr>
                      <p:cNvPr id="21" name="对象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62685" y="1725155"/>
                        <a:ext cx="1933575" cy="3111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3" name="image587.png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4682299" y="2697407"/>
            <a:ext cx="2665157" cy="621847"/>
          </a:xfrm>
          <a:prstGeom prst="rect">
            <a:avLst/>
          </a:prstGeom>
        </p:spPr>
      </p:pic>
      <p:sp>
        <p:nvSpPr>
          <p:cNvPr id="22" name="矩形 21"/>
          <p:cNvSpPr/>
          <p:nvPr/>
        </p:nvSpPr>
        <p:spPr>
          <a:xfrm>
            <a:off x="4722693" y="4219518"/>
            <a:ext cx="414608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400" dirty="0"/>
              <a:t>For a closed system of fixed composition undergoing changes in both P and T</a:t>
            </a:r>
            <a:endParaRPr lang="zh-CN" altLang="en-US" sz="1400" dirty="0"/>
          </a:p>
        </p:txBody>
      </p:sp>
      <p:pic>
        <p:nvPicPr>
          <p:cNvPr id="26627" name="Picture 3"/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64646" y="4832569"/>
            <a:ext cx="3813247" cy="4804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6628" name="Picture 4"/>
          <p:cNvPicPr>
            <a:picLocks noChangeAspect="1" noChangeArrowheads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86325" y="5486400"/>
            <a:ext cx="3619904" cy="55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2" name="对象 1"/>
          <p:cNvGraphicFramePr>
            <a:graphicFrameLocks noChangeAspect="1"/>
          </p:cNvGraphicFramePr>
          <p:nvPr/>
        </p:nvGraphicFramePr>
        <p:xfrm>
          <a:off x="381000" y="5312978"/>
          <a:ext cx="3805237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2806560" imgH="355320" progId="">
                  <p:embed/>
                </p:oleObj>
              </mc:Choice>
              <mc:Fallback>
                <p:oleObj name="Equation" r:id="rId15" imgW="2806560" imgH="355320" progId="">
                  <p:embed/>
                  <p:pic>
                    <p:nvPicPr>
                      <p:cNvPr id="2" name="对象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5312978"/>
                        <a:ext cx="3805237" cy="482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228600" y="901178"/>
            <a:ext cx="864339" cy="36933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zh-CN" dirty="0"/>
              <a:t>Case-I</a:t>
            </a:r>
            <a:endParaRPr lang="zh-CN" altLang="en-US" dirty="0"/>
          </a:p>
        </p:txBody>
      </p:sp>
      <p:sp>
        <p:nvSpPr>
          <p:cNvPr id="25" name="TextBox 24"/>
          <p:cNvSpPr txBox="1"/>
          <p:nvPr/>
        </p:nvSpPr>
        <p:spPr>
          <a:xfrm>
            <a:off x="4682299" y="3758854"/>
            <a:ext cx="928459" cy="36933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zh-CN" dirty="0"/>
              <a:t>Case-II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60355609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1058395" y="5655"/>
            <a:ext cx="597452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>
                <a:solidFill>
                  <a:srgbClr val="FF0000"/>
                </a:solidFill>
              </a:rPr>
              <a:t>The third Law of Thermodynamics</a:t>
            </a:r>
            <a:endParaRPr lang="zh-CN" altLang="en-US" sz="3200" dirty="0">
              <a:solidFill>
                <a:srgbClr val="FF0000"/>
              </a:solidFill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194530" y="1006792"/>
            <a:ext cx="4572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CN" dirty="0"/>
              <a:t>For a closed system undergoing a reversible process, the Second Law gives</a:t>
            </a:r>
            <a:endParaRPr lang="zh-CN" altLang="en-US" dirty="0"/>
          </a:p>
        </p:txBody>
      </p:sp>
      <p:sp>
        <p:nvSpPr>
          <p:cNvPr id="12" name="矩形 11"/>
          <p:cNvSpPr/>
          <p:nvPr/>
        </p:nvSpPr>
        <p:spPr>
          <a:xfrm>
            <a:off x="194530" y="2379947"/>
            <a:ext cx="4572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CN" dirty="0"/>
              <a:t>If the process is conducted at constant pressure, then</a:t>
            </a:r>
            <a:endParaRPr lang="zh-CN" altLang="zh-CN" dirty="0"/>
          </a:p>
        </p:txBody>
      </p:sp>
      <p:pic>
        <p:nvPicPr>
          <p:cNvPr id="13" name="image535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4221" y="3140392"/>
            <a:ext cx="2301094" cy="533400"/>
          </a:xfrm>
          <a:prstGeom prst="rect">
            <a:avLst/>
          </a:prstGeom>
        </p:spPr>
      </p:pic>
      <p:pic>
        <p:nvPicPr>
          <p:cNvPr id="25602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3797" y="3855647"/>
            <a:ext cx="2896041" cy="576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603" name="Picture 3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3797" y="4410359"/>
            <a:ext cx="1879004" cy="6540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矩形 14"/>
          <p:cNvSpPr/>
          <p:nvPr/>
        </p:nvSpPr>
        <p:spPr>
          <a:xfrm>
            <a:off x="4766530" y="868292"/>
            <a:ext cx="4238545" cy="92333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dirty="0"/>
              <a:t>In 1906 Nernst postulated that, for chemical reactions between pure solids or pure liquids, </a:t>
            </a:r>
            <a:endParaRPr lang="zh-CN" altLang="zh-CN" dirty="0"/>
          </a:p>
        </p:txBody>
      </p:sp>
      <p:sp>
        <p:nvSpPr>
          <p:cNvPr id="17" name="矩形 16"/>
          <p:cNvSpPr/>
          <p:nvPr/>
        </p:nvSpPr>
        <p:spPr>
          <a:xfrm>
            <a:off x="194530" y="5317745"/>
            <a:ext cx="8810546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dirty="0"/>
              <a:t>Nernst’s heat theorem states that </a:t>
            </a:r>
          </a:p>
          <a:p>
            <a:r>
              <a:rPr lang="en-US" altLang="zh-CN" sz="2000" dirty="0">
                <a:solidFill>
                  <a:srgbClr val="FF0000"/>
                </a:solidFill>
              </a:rPr>
              <a:t>“for all reactions involving substances in the condensed state, ΔS is zero at the absolute zero of temperature.”</a:t>
            </a:r>
            <a:endParaRPr lang="zh-CN" altLang="en-US" sz="2000" dirty="0">
              <a:solidFill>
                <a:srgbClr val="FF0000"/>
              </a:solidFill>
            </a:endParaRPr>
          </a:p>
        </p:txBody>
      </p:sp>
      <p:pic>
        <p:nvPicPr>
          <p:cNvPr id="21" name="image540.png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766530" y="2550722"/>
            <a:ext cx="3295015" cy="2609850"/>
          </a:xfrm>
          <a:prstGeom prst="rect">
            <a:avLst/>
          </a:prstGeom>
        </p:spPr>
      </p:pic>
      <p:graphicFrame>
        <p:nvGraphicFramePr>
          <p:cNvPr id="19" name="对象 18"/>
          <p:cNvGraphicFramePr>
            <a:graphicFrameLocks noChangeAspect="1"/>
          </p:cNvGraphicFramePr>
          <p:nvPr/>
        </p:nvGraphicFramePr>
        <p:xfrm>
          <a:off x="4886479" y="1968489"/>
          <a:ext cx="16383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9319200" imgH="10972800" progId="">
                  <p:embed/>
                </p:oleObj>
              </mc:Choice>
              <mc:Fallback>
                <p:oleObj name="Equation" r:id="rId6" imgW="39319200" imgH="10972800" progId="">
                  <p:embed/>
                  <p:pic>
                    <p:nvPicPr>
                      <p:cNvPr id="19" name="对象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86479" y="1968489"/>
                        <a:ext cx="1638300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81749844"/>
              </p:ext>
            </p:extLst>
          </p:nvPr>
        </p:nvGraphicFramePr>
        <p:xfrm>
          <a:off x="679776" y="1815124"/>
          <a:ext cx="757238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558720" imgH="393480" progId="Equation.DSMT4">
                  <p:embed/>
                </p:oleObj>
              </mc:Choice>
              <mc:Fallback>
                <p:oleObj name="Equation" r:id="rId8" imgW="558720" imgH="393480" progId="Equation.DSMT4">
                  <p:embed/>
                  <p:pic>
                    <p:nvPicPr>
                      <p:cNvPr id="2" name="对象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9776" y="1815124"/>
                        <a:ext cx="757238" cy="533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258626894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008888" y="0"/>
            <a:ext cx="635456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>
                <a:solidFill>
                  <a:srgbClr val="FF0000"/>
                </a:solidFill>
              </a:rPr>
              <a:t>The amendment of Nernst’s Statement</a:t>
            </a:r>
            <a:endParaRPr lang="zh-CN" altLang="en-US" sz="2800" dirty="0">
              <a:solidFill>
                <a:srgbClr val="FF0000"/>
              </a:solidFill>
            </a:endParaRPr>
          </a:p>
        </p:txBody>
      </p:sp>
      <p:sp>
        <p:nvSpPr>
          <p:cNvPr id="10" name="矩形 9"/>
          <p:cNvSpPr/>
          <p:nvPr/>
        </p:nvSpPr>
        <p:spPr>
          <a:xfrm>
            <a:off x="194440" y="1191768"/>
            <a:ext cx="8618483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/>
              <a:t>The incompleteness of Nernst’s theorem was pointed out by Planck, who stated that “the entropy of any homogeneous substance, </a:t>
            </a:r>
            <a:r>
              <a:rPr lang="en-US" altLang="zh-CN" b="1" dirty="0">
                <a:solidFill>
                  <a:srgbClr val="0000FF"/>
                </a:solidFill>
              </a:rPr>
              <a:t>which is in complete internal equilibrium</a:t>
            </a:r>
            <a:r>
              <a:rPr lang="en-US" altLang="zh-CN" dirty="0"/>
              <a:t>, may be taken to be zero at 0 K.”</a:t>
            </a:r>
            <a:endParaRPr lang="zh-CN" alt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294289" y="2258568"/>
            <a:ext cx="8773511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/>
              <a:t>1.  Glass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At temperatures lower than its equilibrium freezing tem-</a:t>
            </a:r>
            <a:r>
              <a:rPr lang="en-US" altLang="zh-CN" dirty="0" err="1"/>
              <a:t>perature</a:t>
            </a:r>
            <a:r>
              <a:rPr lang="en-US" altLang="zh-CN" dirty="0"/>
              <a:t> the glassy state is metastable with respect to the crystalline state,.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and a glass, not being in internal equilibrium, has an entropy at 0 K which is greater than zero by an amount which is dependent on the degree of atomic disorder in the glass</a:t>
            </a:r>
            <a:endParaRPr lang="zh-CN" altLang="en-US" dirty="0"/>
          </a:p>
        </p:txBody>
      </p:sp>
      <p:sp>
        <p:nvSpPr>
          <p:cNvPr id="12" name="矩形 11"/>
          <p:cNvSpPr/>
          <p:nvPr/>
        </p:nvSpPr>
        <p:spPr>
          <a:xfrm>
            <a:off x="296917" y="4163568"/>
            <a:ext cx="8618483" cy="15081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b="1" dirty="0"/>
              <a:t>2 Solution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atomic mobility decreases exponentially with decreasing temperature, the maintenance of internal equilibrium becomes increasingly difficult.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Consequently a </a:t>
            </a:r>
            <a:r>
              <a:rPr lang="en-US" altLang="zh-CN" dirty="0" err="1"/>
              <a:t>nonequilibrium</a:t>
            </a:r>
            <a:r>
              <a:rPr lang="en-US" altLang="zh-CN" dirty="0"/>
              <a:t> degree of order can be frozen into the solid solution, in which case the entropy will not decrease to zero at 0 K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96159860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18872" y="992696"/>
            <a:ext cx="3007746" cy="58477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zh-CN" sz="3200" dirty="0"/>
              <a:t>Open questions: </a:t>
            </a:r>
            <a:endParaRPr lang="zh-CN" altLang="en-US" sz="3200" dirty="0"/>
          </a:p>
        </p:txBody>
      </p:sp>
      <p:sp>
        <p:nvSpPr>
          <p:cNvPr id="10" name="TextBox 9"/>
          <p:cNvSpPr txBox="1"/>
          <p:nvPr/>
        </p:nvSpPr>
        <p:spPr>
          <a:xfrm>
            <a:off x="672914" y="1828800"/>
            <a:ext cx="63374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1. Find a thermodynamic equation and discussion the possible limitation with in the dimension of space and time</a:t>
            </a:r>
            <a:endParaRPr lang="zh-CN" alt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685800" y="2895600"/>
            <a:ext cx="7620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2. Find some NEW example to discuss the reason why the 3nd Law of thermodynamics of Nernst’s theorem is failing, whether the Planks' modification solve your problem.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3886200"/>
            <a:ext cx="7620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3. Discuss the possible case that needs modify the assumption of the Debye model for the heat capacity.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4643483"/>
            <a:ext cx="7620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4. Find a new example to use the local vibrational mode to obtain the material with intrinsically low thermal conductivity. </a:t>
            </a:r>
          </a:p>
        </p:txBody>
      </p:sp>
    </p:spTree>
    <p:extLst>
      <p:ext uri="{BB962C8B-B14F-4D97-AF65-F5344CB8AC3E}">
        <p14:creationId xmlns:p14="http://schemas.microsoft.com/office/powerpoint/2010/main" val="944307015"/>
      </p:ext>
    </p:extLst>
  </p:cSld>
  <p:clrMapOvr>
    <a:masterClrMapping/>
  </p:clrMapOvr>
</p:sld>
</file>

<file path=ppt/theme/theme1.xml><?xml version="1.0" encoding="utf-8"?>
<a:theme xmlns:a="http://schemas.openxmlformats.org/drawingml/2006/main" name="Master Board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1">
      <a:majorFont>
        <a:latin typeface="Arial"/>
        <a:ea typeface="等线 Light"/>
        <a:cs typeface=""/>
      </a:majorFont>
      <a:minorFont>
        <a:latin typeface="Arial"/>
        <a:ea typeface="等线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Master Board</Template>
  <TotalTime>8237</TotalTime>
  <Words>2677</Words>
  <Application>Microsoft Macintosh PowerPoint</Application>
  <PresentationFormat>On-screen Show (4:3)</PresentationFormat>
  <Paragraphs>394</Paragraphs>
  <Slides>59</Slides>
  <Notes>8</Notes>
  <HiddenSlides>0</HiddenSlides>
  <MMClips>0</MMClips>
  <ScaleCrop>false</ScaleCrop>
  <HeadingPairs>
    <vt:vector size="8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3</vt:i4>
      </vt:variant>
      <vt:variant>
        <vt:lpstr>Slide Titles</vt:lpstr>
      </vt:variant>
      <vt:variant>
        <vt:i4>59</vt:i4>
      </vt:variant>
    </vt:vector>
  </HeadingPairs>
  <TitlesOfParts>
    <vt:vector size="75" baseType="lpstr">
      <vt:lpstr>Arial Unicode MS</vt:lpstr>
      <vt:lpstr>等线</vt:lpstr>
      <vt:lpstr>微软雅黑</vt:lpstr>
      <vt:lpstr>黑体</vt:lpstr>
      <vt:lpstr>TimesNewRomanPS-ItalicMT</vt:lpstr>
      <vt:lpstr>TimesNewRomanPSMT</vt:lpstr>
      <vt:lpstr>Arial</vt:lpstr>
      <vt:lpstr>Calibri</vt:lpstr>
      <vt:lpstr>Cambria Math</vt:lpstr>
      <vt:lpstr>Symbol</vt:lpstr>
      <vt:lpstr>Times New Roman</vt:lpstr>
      <vt:lpstr>Wingdings</vt:lpstr>
      <vt:lpstr>Master Board</vt:lpstr>
      <vt:lpstr>Equation</vt:lpstr>
      <vt:lpstr>公式</vt:lpstr>
      <vt:lpstr>Graph</vt:lpstr>
      <vt:lpstr>PowerPoint Presentation</vt:lpstr>
      <vt:lpstr>18. Statistical ensembles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19. Statistical thermodynamic        interpret of Heat capacity</vt:lpstr>
      <vt:lpstr>Heat capacity: cV and cP</vt:lpstr>
      <vt:lpstr>Heat Capacity: cV and cP</vt:lpstr>
      <vt:lpstr> Dulong-Petit Rule</vt:lpstr>
      <vt:lpstr>PowerPoint Presentation</vt:lpstr>
      <vt:lpstr>PowerPoint Presentation</vt:lpstr>
      <vt:lpstr>Einstein model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22. Engineering considering of heat capacity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liu weishu</dc:creator>
  <cp:lastModifiedBy>Philip Zhan</cp:lastModifiedBy>
  <cp:revision>402</cp:revision>
  <cp:lastPrinted>2021-03-29T13:41:15Z</cp:lastPrinted>
  <dcterms:created xsi:type="dcterms:W3CDTF">2019-02-07T07:31:12Z</dcterms:created>
  <dcterms:modified xsi:type="dcterms:W3CDTF">2022-10-29T12:46:29Z</dcterms:modified>
</cp:coreProperties>
</file>