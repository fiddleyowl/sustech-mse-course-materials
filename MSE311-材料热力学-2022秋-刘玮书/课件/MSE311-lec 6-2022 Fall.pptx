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4"/>
  </p:notesMasterIdLst>
  <p:handoutMasterIdLst>
    <p:handoutMasterId r:id="rId35"/>
  </p:handoutMasterIdLst>
  <p:sldIdLst>
    <p:sldId id="256" r:id="rId2"/>
    <p:sldId id="460" r:id="rId3"/>
    <p:sldId id="428" r:id="rId4"/>
    <p:sldId id="429" r:id="rId5"/>
    <p:sldId id="430" r:id="rId6"/>
    <p:sldId id="431" r:id="rId7"/>
    <p:sldId id="462" r:id="rId8"/>
    <p:sldId id="464" r:id="rId9"/>
    <p:sldId id="465" r:id="rId10"/>
    <p:sldId id="432" r:id="rId11"/>
    <p:sldId id="433" r:id="rId12"/>
    <p:sldId id="466" r:id="rId13"/>
    <p:sldId id="434" r:id="rId14"/>
    <p:sldId id="435" r:id="rId15"/>
    <p:sldId id="436" r:id="rId16"/>
    <p:sldId id="469" r:id="rId17"/>
    <p:sldId id="461" r:id="rId18"/>
    <p:sldId id="43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67" r:id="rId27"/>
    <p:sldId id="445" r:id="rId28"/>
    <p:sldId id="446" r:id="rId29"/>
    <p:sldId id="447" r:id="rId30"/>
    <p:sldId id="448" r:id="rId31"/>
    <p:sldId id="449" r:id="rId32"/>
    <p:sldId id="468" r:id="rId33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50" autoAdjust="0"/>
  </p:normalViewPr>
  <p:slideViewPr>
    <p:cSldViewPr snapToGrid="0">
      <p:cViewPr varScale="1">
        <p:scale>
          <a:sx n="121" d="100"/>
          <a:sy n="121" d="100"/>
        </p:scale>
        <p:origin x="12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0443A-2CDA-4CE4-8471-A7409E475881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6AE31-0545-45E6-91CD-2D11BA313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55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C3FE6-030B-47B0-986B-E4840661A7E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86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C3FE6-030B-47B0-986B-E4840661A7E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64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-104775"/>
            <a:ext cx="8540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880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36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45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95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9" r:id="rId3"/>
    <p:sldLayoutId id="2147483760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33" r:id="rId14"/>
    <p:sldLayoutId id="2147483734" r:id="rId15"/>
    <p:sldLayoutId id="2147483757" r:id="rId16"/>
    <p:sldLayoutId id="2147483758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54.png"/><Relationship Id="rId3" Type="http://schemas.openxmlformats.org/officeDocument/2006/relationships/image" Target="../media/image63.jpeg"/><Relationship Id="rId7" Type="http://schemas.openxmlformats.org/officeDocument/2006/relationships/image" Target="../media/image66.jpeg"/><Relationship Id="rId12" Type="http://schemas.openxmlformats.org/officeDocument/2006/relationships/image" Target="../media/image70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jpeg"/><Relationship Id="rId11" Type="http://schemas.openxmlformats.org/officeDocument/2006/relationships/image" Target="../media/image69.emf"/><Relationship Id="rId5" Type="http://schemas.openxmlformats.org/officeDocument/2006/relationships/image" Target="../media/image64.gif"/><Relationship Id="rId15" Type="http://schemas.openxmlformats.org/officeDocument/2006/relationships/image" Target="../media/image71.png"/><Relationship Id="rId10" Type="http://schemas.openxmlformats.org/officeDocument/2006/relationships/image" Target="../media/image68.emf"/><Relationship Id="rId4" Type="http://schemas.openxmlformats.org/officeDocument/2006/relationships/hyperlink" Target="http://www.nextreme.com/" TargetMode="External"/><Relationship Id="rId9" Type="http://schemas.openxmlformats.org/officeDocument/2006/relationships/image" Target="../media/image67.gif"/><Relationship Id="rId1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87.w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86.png"/><Relationship Id="rId4" Type="http://schemas.openxmlformats.org/officeDocument/2006/relationships/image" Target="../media/image8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92.png"/><Relationship Id="rId4" Type="http://schemas.openxmlformats.org/officeDocument/2006/relationships/image" Target="../media/image88.wmf"/><Relationship Id="rId9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93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99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96.wmf"/><Relationship Id="rId5" Type="http://schemas.openxmlformats.org/officeDocument/2006/relationships/image" Target="../media/image92.png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100.wmf"/><Relationship Id="rId4" Type="http://schemas.openxmlformats.org/officeDocument/2006/relationships/image" Target="../media/image91.png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101.wmf"/><Relationship Id="rId21" Type="http://schemas.openxmlformats.org/officeDocument/2006/relationships/image" Target="../media/image110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108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23" Type="http://schemas.openxmlformats.org/officeDocument/2006/relationships/image" Target="../media/image111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10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116.wmf"/><Relationship Id="rId3" Type="http://schemas.openxmlformats.org/officeDocument/2006/relationships/image" Target="../media/image92.png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118.wmf"/><Relationship Id="rId2" Type="http://schemas.openxmlformats.org/officeDocument/2006/relationships/image" Target="../media/image91.png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3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4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676721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Tower#,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7" y="1486573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6 Heat Engine II </a:t>
            </a:r>
            <a:endParaRPr lang="zh-CN" altLang="en-US" sz="32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A87F052-72D7-A492-799C-A9505340AEB8}"/>
              </a:ext>
            </a:extLst>
          </p:cNvPr>
          <p:cNvSpPr txBox="1"/>
          <p:nvPr/>
        </p:nvSpPr>
        <p:spPr>
          <a:xfrm>
            <a:off x="152400" y="19312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2022 Fall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11.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Refrigeration Cycles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1207" y="4347406"/>
            <a:ext cx="7056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Ref. Thermodynamics: A Engineering approach, Chapter 10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1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æçå½æ¯ç©ºè°ç»ç çå¾å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1427"/>
            <a:ext cx="297179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993" y="1600200"/>
            <a:ext cx="3537613" cy="4714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334521" y="244679"/>
            <a:ext cx="7608943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Refrigeration and our life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4953000"/>
            <a:ext cx="455778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My life is given by the air-conditioning !!!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533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265958" y="-11991"/>
            <a:ext cx="6931025" cy="127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Refrigerator 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air conditioning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AutoShape 2" descr="Image result for refrigera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3" y="3628430"/>
            <a:ext cx="2971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10000" y="1447800"/>
            <a:ext cx="92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History </a:t>
            </a:r>
            <a:endParaRPr lang="zh-CN" altLang="en-US" b="1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06476"/>
            <a:ext cx="1414971" cy="1510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3657600" y="1806476"/>
            <a:ext cx="51846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1834: </a:t>
            </a:r>
            <a:r>
              <a:rPr lang="en-US" altLang="zh-CN" dirty="0"/>
              <a:t> Jacob Perkins obtained the first patent for a vapor-compression refrigeration system.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1850:  </a:t>
            </a:r>
            <a:r>
              <a:rPr lang="en-US" altLang="zh-CN" dirty="0"/>
              <a:t>Alexander Twining, design and build vapor-compression ice machine.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1890s: </a:t>
            </a:r>
            <a:r>
              <a:rPr lang="en-US" altLang="zh-CN" dirty="0"/>
              <a:t>refrigeration system began to appear in households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1930s: </a:t>
            </a:r>
            <a:r>
              <a:rPr lang="en-US" altLang="zh-CN" dirty="0"/>
              <a:t>the vapor-compression refrigeration system become efficient, reliable, small, and inexpensive.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24635"/>
            <a:ext cx="3683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The first refrigerator Made-in China</a:t>
            </a:r>
            <a:r>
              <a:rPr lang="en-US" altLang="zh-CN" dirty="0">
                <a:solidFill>
                  <a:srgbClr val="0000FF"/>
                </a:solidFill>
              </a:rPr>
              <a:t>: </a:t>
            </a:r>
          </a:p>
          <a:p>
            <a:r>
              <a:rPr lang="en-US" altLang="zh-CN" dirty="0"/>
              <a:t>1955</a:t>
            </a:r>
            <a:r>
              <a:rPr lang="zh-CN" altLang="en-US" dirty="0"/>
              <a:t>：天津医疗器械厂试制</a:t>
            </a:r>
            <a:endParaRPr lang="en-US" altLang="zh-CN" dirty="0"/>
          </a:p>
          <a:p>
            <a:r>
              <a:rPr lang="en-US" altLang="zh-CN" dirty="0"/>
              <a:t>1956: “</a:t>
            </a:r>
            <a:r>
              <a:rPr lang="zh-CN" altLang="en-US" dirty="0"/>
              <a:t>雪花</a:t>
            </a:r>
            <a:r>
              <a:rPr lang="en-US" altLang="zh-CN" dirty="0"/>
              <a:t>”</a:t>
            </a:r>
            <a:r>
              <a:rPr lang="zh-CN" altLang="en-US" dirty="0"/>
              <a:t>冰箱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910" y="5257800"/>
            <a:ext cx="54120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The first air-conditioning Made-in China: </a:t>
            </a:r>
          </a:p>
          <a:p>
            <a:r>
              <a:rPr lang="en-US" altLang="zh-CN" dirty="0"/>
              <a:t>1974</a:t>
            </a:r>
            <a:r>
              <a:rPr lang="zh-CN" altLang="en-US" dirty="0"/>
              <a:t>：</a:t>
            </a:r>
            <a:r>
              <a:rPr lang="zh-CN" altLang="en-US" sz="1600" dirty="0"/>
              <a:t>泰州市无线电元件九厂（春兰）， </a:t>
            </a:r>
            <a:r>
              <a:rPr lang="en-US" altLang="zh-CN" sz="1600" dirty="0"/>
              <a:t>“</a:t>
            </a:r>
            <a:r>
              <a:rPr lang="zh-CN" altLang="en-US" sz="1600" dirty="0"/>
              <a:t>雪松</a:t>
            </a:r>
            <a:r>
              <a:rPr lang="en-US" altLang="zh-CN" sz="1600" dirty="0"/>
              <a:t>”</a:t>
            </a:r>
            <a:r>
              <a:rPr lang="zh-CN" altLang="en-US" sz="1600" dirty="0"/>
              <a:t>窗式空调</a:t>
            </a:r>
            <a:endParaRPr lang="en-US" altLang="zh-CN" sz="1600" dirty="0"/>
          </a:p>
          <a:p>
            <a:r>
              <a:rPr lang="en-US" altLang="zh-CN" dirty="0"/>
              <a:t>1988: </a:t>
            </a:r>
            <a:r>
              <a:rPr lang="zh-CN" altLang="en-US" sz="1600" dirty="0"/>
              <a:t>华宝空调器厂</a:t>
            </a:r>
            <a:r>
              <a:rPr lang="en-US" altLang="zh-CN" sz="1600" dirty="0"/>
              <a:t>, “</a:t>
            </a:r>
            <a:r>
              <a:rPr lang="zh-CN" altLang="en-US" sz="1600" dirty="0"/>
              <a:t>雪莲</a:t>
            </a:r>
            <a:r>
              <a:rPr lang="en-US" altLang="zh-CN" sz="1600" dirty="0"/>
              <a:t>”</a:t>
            </a:r>
            <a:r>
              <a:rPr lang="zh-CN" altLang="en-US" sz="1600" dirty="0"/>
              <a:t>分离式空调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3" y="1817132"/>
            <a:ext cx="1642281" cy="164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77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799"/>
            <a:ext cx="476250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80198"/>
            <a:ext cx="3633788" cy="467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1296987" y="20858"/>
            <a:ext cx="6931025" cy="127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Refrigerator 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air conditioning in China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1990" name="Picture 6" descr="C:\Users\Administrator.SUSTC-609071422\Desktop\Gree_logo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" y="1600201"/>
            <a:ext cx="4022187" cy="7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672" y="4793191"/>
            <a:ext cx="2071304" cy="135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572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4215" y="407920"/>
            <a:ext cx="4419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/>
              <a:t>Bangladeshi air cooler</a:t>
            </a:r>
            <a:endParaRPr lang="zh-CN" altLang="en-US" sz="3600" dirty="0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1" y="1447800"/>
            <a:ext cx="4343121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4605867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4827" y="5328169"/>
            <a:ext cx="7826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Adiabatic expansion </a:t>
            </a:r>
            <a:r>
              <a:rPr lang="en-US" altLang="zh-CN" sz="2000" b="1" dirty="0">
                <a:sym typeface="Wingdings" panose="05000000000000000000" pitchFamily="2" charset="2"/>
              </a:rPr>
              <a:t> internal energy reduced reduced temperature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493079" y="412646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throttling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0302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7532" y="69011"/>
            <a:ext cx="413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Nozzles and Throttling valve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8"/>
          <a:stretch/>
        </p:blipFill>
        <p:spPr bwMode="auto">
          <a:xfrm>
            <a:off x="890004" y="2644741"/>
            <a:ext cx="6076950" cy="358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52366" y="611296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Energy balance of the steady-flow system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238771"/>
              </p:ext>
            </p:extLst>
          </p:nvPr>
        </p:nvGraphicFramePr>
        <p:xfrm>
          <a:off x="1028567" y="1132392"/>
          <a:ext cx="6075363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736560" progId="Equation.DSMT4">
                  <p:embed/>
                </p:oleObj>
              </mc:Choice>
              <mc:Fallback>
                <p:oleObj name="Equation" r:id="rId3" imgW="4025880" imgH="73656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67" y="1132392"/>
                        <a:ext cx="6075363" cy="11096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3574" y="431714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Enthalpy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52366" y="5938910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Internal</a:t>
            </a:r>
          </a:p>
          <a:p>
            <a:r>
              <a:rPr lang="en-US" altLang="zh-CN" sz="1200" dirty="0"/>
              <a:t>energy</a:t>
            </a:r>
            <a:endParaRPr lang="zh-CN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800790" y="5938909"/>
            <a:ext cx="6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Flow</a:t>
            </a:r>
          </a:p>
          <a:p>
            <a:r>
              <a:rPr lang="en-US" altLang="zh-CN" sz="1200" dirty="0"/>
              <a:t>energy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6147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026" y="77638"/>
            <a:ext cx="31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Joule-Thomson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946" y="746033"/>
            <a:ext cx="7996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temperature change of a real gas or liquid (as differentiated from an ideal gas) when it is forced through a valve or porous plug while keeping it insulated so that no heat is exchanged with the environment.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851283"/>
              </p:ext>
            </p:extLst>
          </p:nvPr>
        </p:nvGraphicFramePr>
        <p:xfrm>
          <a:off x="652463" y="1968500"/>
          <a:ext cx="14890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31640" progId="Equation.DSMT4">
                  <p:embed/>
                </p:oleObj>
              </mc:Choice>
              <mc:Fallback>
                <p:oleObj name="Equation" r:id="rId2" imgW="660240" imgH="43164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968500"/>
                        <a:ext cx="1489075" cy="9731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7706" y="2260420"/>
            <a:ext cx="4766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&gt;0 temperature decrease after throttling </a:t>
            </a:r>
          </a:p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=0 temperature no-change after throttling </a:t>
            </a:r>
          </a:p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&lt;0 temperature increase after throttling 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444125"/>
              </p:ext>
            </p:extLst>
          </p:nvPr>
        </p:nvGraphicFramePr>
        <p:xfrm>
          <a:off x="766013" y="4001040"/>
          <a:ext cx="4983163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838080" progId="Equation.DSMT4">
                  <p:embed/>
                </p:oleObj>
              </mc:Choice>
              <mc:Fallback>
                <p:oleObj name="Equation" r:id="rId4" imgW="2209680" imgH="8380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013" y="4001040"/>
                        <a:ext cx="4983163" cy="1889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26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968" y="1000663"/>
            <a:ext cx="7203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At 25 </a:t>
            </a:r>
            <a:r>
              <a:rPr lang="en-US" altLang="zh-CN" baseline="30000" dirty="0" err="1"/>
              <a:t>o</a:t>
            </a:r>
            <a:r>
              <a:rPr lang="en-US" altLang="zh-CN" dirty="0" err="1"/>
              <a:t>C</a:t>
            </a:r>
            <a:r>
              <a:rPr lang="en-US" altLang="zh-CN" dirty="0"/>
              <a:t>, if a gas following: PV=RT+6.4x10</a:t>
            </a:r>
            <a:r>
              <a:rPr lang="en-US" altLang="zh-CN" baseline="30000" dirty="0"/>
              <a:t>4</a:t>
            </a:r>
            <a:r>
              <a:rPr lang="en-US" altLang="zh-CN" dirty="0"/>
              <a:t> P, </a:t>
            </a:r>
          </a:p>
          <a:p>
            <a:r>
              <a:rPr lang="en-US" altLang="zh-CN" dirty="0"/>
              <a:t>Considering a throttling at a pressure of 30MPa, asking the temperature will decrease or increase?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109449"/>
              </p:ext>
            </p:extLst>
          </p:nvPr>
        </p:nvGraphicFramePr>
        <p:xfrm>
          <a:off x="4278700" y="3198245"/>
          <a:ext cx="4416725" cy="167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838080" progId="Equation.DSMT4">
                  <p:embed/>
                </p:oleObj>
              </mc:Choice>
              <mc:Fallback>
                <p:oleObj name="Equation" r:id="rId2" imgW="2209680" imgH="83808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700" y="3198245"/>
                        <a:ext cx="4416725" cy="16743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63" y="2222760"/>
            <a:ext cx="3352981" cy="316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3026" y="77638"/>
            <a:ext cx="31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Jouel</a:t>
            </a:r>
            <a:r>
              <a:rPr lang="en-US" altLang="zh-CN" sz="2400" dirty="0">
                <a:solidFill>
                  <a:srgbClr val="FF0000"/>
                </a:solidFill>
              </a:rPr>
              <a:t>-Thomson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3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87420" y="0"/>
            <a:ext cx="6626225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Ideal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3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730" y="1837187"/>
            <a:ext cx="2642299" cy="253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09" y="4986562"/>
            <a:ext cx="4725405" cy="921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55" y="1913256"/>
            <a:ext cx="28575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31658" y="2629921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4230906" y="3505216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356429" y="3505215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118799" y="2583877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2</a:t>
            </a:r>
            <a:endParaRPr lang="zh-CN" altLang="en-US" sz="1200" dirty="0"/>
          </a:p>
        </p:txBody>
      </p:sp>
      <p:pic>
        <p:nvPicPr>
          <p:cNvPr id="80903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0" t="11259" r="38500" b="14489"/>
          <a:stretch/>
        </p:blipFill>
        <p:spPr bwMode="auto">
          <a:xfrm>
            <a:off x="307975" y="1540235"/>
            <a:ext cx="2737601" cy="448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805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37755" y="-19510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Ideal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609725"/>
            <a:ext cx="3429343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44" y="1800225"/>
            <a:ext cx="2546869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4346258"/>
            <a:ext cx="3352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4921568"/>
            <a:ext cx="2438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230" y="5611178"/>
            <a:ext cx="24098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0" y="1698352"/>
            <a:ext cx="2250440" cy="23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92761" y="824508"/>
            <a:ext cx="216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Enthalpy,</a:t>
            </a:r>
            <a:r>
              <a:rPr lang="zh-CN" altLang="en-US" dirty="0"/>
              <a:t> </a:t>
            </a:r>
            <a:r>
              <a:rPr lang="en-US" altLang="zh-CN" dirty="0"/>
              <a:t>H= U+PV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14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695" y="1190445"/>
            <a:ext cx="4160014" cy="4982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7" y="2179192"/>
            <a:ext cx="3574626" cy="357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167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413923" y="7937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Actual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58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728" y="1890214"/>
            <a:ext cx="2154610" cy="2258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357" y="1902936"/>
            <a:ext cx="2250440" cy="23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50035" y="1533604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Idea case</a:t>
            </a:r>
            <a:endParaRPr lang="zh-CN" alt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972415" y="1520882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Actual case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78035" y="4325882"/>
            <a:ext cx="33457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Irreversibility: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Fluid frication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Heat transfer to surrounding</a:t>
            </a:r>
            <a:endParaRPr lang="zh-CN" altLang="en-US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5" t="15074" r="20930" b="11540"/>
          <a:stretch/>
        </p:blipFill>
        <p:spPr bwMode="auto">
          <a:xfrm>
            <a:off x="6819645" y="1425144"/>
            <a:ext cx="2179004" cy="4000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14" t="11259" r="38500" b="14489"/>
          <a:stretch/>
        </p:blipFill>
        <p:spPr bwMode="auto">
          <a:xfrm>
            <a:off x="155574" y="1540235"/>
            <a:ext cx="2325593" cy="403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6874096" y="2765177"/>
            <a:ext cx="232913" cy="254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92787" y="3702581"/>
            <a:ext cx="232913" cy="254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17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8785"/>
            <a:ext cx="3197225" cy="318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09965" y="130951"/>
            <a:ext cx="5873750" cy="5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Gas refrigeration cycle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738690"/>
            <a:ext cx="2751740" cy="245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666" y="4212227"/>
            <a:ext cx="32575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903" y="5058062"/>
            <a:ext cx="1892401" cy="115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31077"/>
            <a:ext cx="1681163" cy="159250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608089" y="1161745"/>
            <a:ext cx="266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Reversed </a:t>
            </a:r>
            <a:r>
              <a:rPr lang="en-US" altLang="zh-CN" dirty="0" err="1"/>
              <a:t>Brayton</a:t>
            </a:r>
            <a:r>
              <a:rPr lang="en-US" altLang="zh-CN" dirty="0"/>
              <a:t> cycles</a:t>
            </a:r>
            <a:r>
              <a:rPr lang="zh-CN" altLang="en-US" dirty="0"/>
              <a:t>：</a:t>
            </a:r>
          </a:p>
        </p:txBody>
      </p:sp>
      <p:sp>
        <p:nvSpPr>
          <p:cNvPr id="4" name="矩形 3"/>
          <p:cNvSpPr/>
          <p:nvPr/>
        </p:nvSpPr>
        <p:spPr>
          <a:xfrm>
            <a:off x="270717" y="1110119"/>
            <a:ext cx="1522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Brayton</a:t>
            </a:r>
            <a:r>
              <a:rPr lang="en-US" altLang="zh-CN" dirty="0"/>
              <a:t> cycles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13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489425" y="-914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Gas refrigeration cycle with regeneration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76" y="1530009"/>
            <a:ext cx="4634222" cy="350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325" y="2290435"/>
            <a:ext cx="2840061" cy="291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092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1"/>
          <a:stretch/>
        </p:blipFill>
        <p:spPr bwMode="auto">
          <a:xfrm>
            <a:off x="426522" y="937716"/>
            <a:ext cx="8266216" cy="498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383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12. Silent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power generator and refrigerator </a:t>
            </a:r>
          </a:p>
        </p:txBody>
      </p:sp>
    </p:spTree>
    <p:extLst>
      <p:ext uri="{BB962C8B-B14F-4D97-AF65-F5344CB8AC3E}">
        <p14:creationId xmlns:p14="http://schemas.microsoft.com/office/powerpoint/2010/main" val="1921212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9" y="1915509"/>
            <a:ext cx="2474263" cy="204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15509"/>
            <a:ext cx="2518824" cy="204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9" y="4589736"/>
            <a:ext cx="2505846" cy="187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986" y="4589736"/>
            <a:ext cx="2516352" cy="188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1251896" y="181327"/>
            <a:ext cx="6566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Silent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power generator and refrigerator 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5527" y="1371600"/>
            <a:ext cx="8307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to get power in deep space when no enough light available?</a:t>
            </a:r>
            <a:endParaRPr lang="zh-CN" alt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86624" y="4127281"/>
            <a:ext cx="7771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cooling the tiny the laser communicate device quietly?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744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77"/>
          <a:stretch/>
        </p:blipFill>
        <p:spPr bwMode="auto">
          <a:xfrm>
            <a:off x="3048000" y="1643230"/>
            <a:ext cx="2743830" cy="205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 descr="太阳系 - 温柔的鲨鱼 - 温柔的鲨鱼博客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06" y="4484132"/>
            <a:ext cx="3441559" cy="209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a2.att.hudong.com/37/65/14300000491308128987652215861_95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77"/>
          <a:stretch/>
        </p:blipFill>
        <p:spPr bwMode="auto">
          <a:xfrm>
            <a:off x="100398" y="1643230"/>
            <a:ext cx="2852882" cy="207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07075" y="391346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Satellite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Solar cell</a:t>
            </a:r>
            <a:endParaRPr 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694" y="1277996"/>
            <a:ext cx="2941137" cy="24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4"/>
          <a:stretch/>
        </p:blipFill>
        <p:spPr bwMode="auto">
          <a:xfrm>
            <a:off x="5404506" y="4177542"/>
            <a:ext cx="3544652" cy="217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7"/>
          <p:cNvSpPr/>
          <p:nvPr/>
        </p:nvSpPr>
        <p:spPr>
          <a:xfrm>
            <a:off x="2743200" y="3913464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Spaceship</a:t>
            </a:r>
            <a:r>
              <a:rPr 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: 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RTG</a:t>
            </a:r>
            <a:endParaRPr 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4337" y="288091"/>
            <a:ext cx="6755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Radioisotope thermoelectric generator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9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33" y="2057400"/>
            <a:ext cx="3666067" cy="3096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/>
          <p:cNvSpPr/>
          <p:nvPr/>
        </p:nvSpPr>
        <p:spPr>
          <a:xfrm>
            <a:off x="1217103" y="265381"/>
            <a:ext cx="6794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Radioisotope Thermoelectric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535" y="1459468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RTG made by </a:t>
            </a:r>
            <a:r>
              <a:rPr lang="en-US" altLang="zh-CN" b="1" dirty="0"/>
              <a:t>Ukraine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0" y="13832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嫦娥计划</a:t>
            </a: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6289"/>
            <a:ext cx="3410125" cy="410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2582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eTEC HV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953" y="2034400"/>
            <a:ext cx="1856846" cy="133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Evergen Power Strap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04" y="1882000"/>
            <a:ext cx="1944695" cy="154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extreme logo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459" y="1393523"/>
            <a:ext cx="1752600" cy="36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http://a0.twimg.com/profile_images/1299626692/twitter_logo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87" b="28285"/>
          <a:stretch/>
        </p:blipFill>
        <p:spPr bwMode="auto">
          <a:xfrm>
            <a:off x="343469" y="1348600"/>
            <a:ext cx="1752871" cy="43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http://www.kryotherm.ru/imagez/multistage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259"/>
          <a:stretch/>
        </p:blipFill>
        <p:spPr bwMode="auto">
          <a:xfrm>
            <a:off x="5201371" y="2034400"/>
            <a:ext cx="1350581" cy="121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http://www.kryothermusa.com/imagez/logotype_top.gif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09"/>
          <a:stretch/>
        </p:blipFill>
        <p:spPr bwMode="auto">
          <a:xfrm>
            <a:off x="4949360" y="1348600"/>
            <a:ext cx="1794989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29" y="2991564"/>
            <a:ext cx="1370463" cy="41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2"/>
          <a:stretch/>
        </p:blipFill>
        <p:spPr bwMode="auto">
          <a:xfrm flipH="1">
            <a:off x="7490329" y="2079255"/>
            <a:ext cx="1370463" cy="912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13" y="4424724"/>
            <a:ext cx="2336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8"/>
          <p:cNvSpPr/>
          <p:nvPr/>
        </p:nvSpPr>
        <p:spPr>
          <a:xfrm>
            <a:off x="228599" y="3939400"/>
            <a:ext cx="3359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Thermoelectric Cooler for CPU</a:t>
            </a:r>
            <a:endParaRPr lang="zh-CN" altLang="en-US" sz="2000" dirty="0"/>
          </a:p>
        </p:txBody>
      </p:sp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513" y="4339510"/>
            <a:ext cx="2552019" cy="1914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20"/>
          <p:cNvSpPr/>
          <p:nvPr/>
        </p:nvSpPr>
        <p:spPr>
          <a:xfrm>
            <a:off x="4363387" y="3939400"/>
            <a:ext cx="3790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Thermoelectric Cooler for Telecom</a:t>
            </a:r>
            <a:endParaRPr lang="zh-CN" altLang="en-US" sz="2000" dirty="0"/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676" y="4339510"/>
            <a:ext cx="2552019" cy="1914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6726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262092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4915469" y="1139109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720146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238865" y="4365150"/>
            <a:ext cx="2860694" cy="219706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3605972" y="4371525"/>
            <a:ext cx="5376541" cy="219706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1"/>
          <p:cNvSpPr/>
          <p:nvPr/>
        </p:nvSpPr>
        <p:spPr>
          <a:xfrm>
            <a:off x="1045188" y="339375"/>
            <a:ext cx="42793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Thermoelectric Cooler (TEC)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568" y="1348600"/>
            <a:ext cx="1499662" cy="478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93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9987" b="14363"/>
          <a:stretch/>
        </p:blipFill>
        <p:spPr bwMode="auto">
          <a:xfrm>
            <a:off x="609600" y="1435103"/>
            <a:ext cx="2362200" cy="3262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0" r="-4383" b="18363"/>
          <a:stretch/>
        </p:blipFill>
        <p:spPr bwMode="auto">
          <a:xfrm>
            <a:off x="3576456" y="1963579"/>
            <a:ext cx="3404203" cy="274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07930" y="4697849"/>
            <a:ext cx="19655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Thomas J. Seebeck</a:t>
            </a:r>
          </a:p>
          <a:p>
            <a:pPr algn="ctr"/>
            <a:r>
              <a:rPr lang="en-US" dirty="0"/>
              <a:t>German physicist</a:t>
            </a:r>
          </a:p>
          <a:p>
            <a:pPr algn="ctr"/>
            <a:r>
              <a:rPr lang="en-US" dirty="0"/>
              <a:t>(1770-1831)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5234970"/>
            <a:ext cx="533903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 electrical voltage  was produced </a:t>
            </a:r>
          </a:p>
          <a:p>
            <a:pPr algn="ctr"/>
            <a:r>
              <a:rPr lang="en-US" sz="1600" b="1" dirty="0"/>
              <a:t>by heating the junction between two different electrical conductors (e.g. Cu and Fe)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8551" y="1430179"/>
            <a:ext cx="3192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Seebeck Effect, 1821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283539"/>
              </p:ext>
            </p:extLst>
          </p:nvPr>
        </p:nvGraphicFramePr>
        <p:xfrm>
          <a:off x="6324600" y="2247991"/>
          <a:ext cx="2349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53800" progId="Equation.DSMT4">
                  <p:embed/>
                </p:oleObj>
              </mc:Choice>
              <mc:Fallback>
                <p:oleObj name="Equation" r:id="rId3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4600" y="2247991"/>
                        <a:ext cx="23495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063176" y="43489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31666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2750" y="3063371"/>
            <a:ext cx="225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S</a:t>
            </a:r>
            <a:r>
              <a:rPr lang="en-US" dirty="0"/>
              <a:t>, Seebeck coefficient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279" y="3631049"/>
            <a:ext cx="1903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i="1" dirty="0" err="1"/>
              <a:t>eg</a:t>
            </a:r>
            <a:r>
              <a:rPr lang="en-US" b="1" i="1" dirty="0"/>
              <a:t>. </a:t>
            </a:r>
          </a:p>
          <a:p>
            <a:pPr algn="r"/>
            <a:r>
              <a:rPr lang="en-US" dirty="0"/>
              <a:t>Cu: +1.8 </a:t>
            </a:r>
            <a:r>
              <a:rPr lang="el-GR" dirty="0">
                <a:latin typeface="Times New Roman"/>
                <a:cs typeface="Times New Roman"/>
              </a:rPr>
              <a:t>μ</a:t>
            </a:r>
            <a:r>
              <a:rPr lang="en-US" dirty="0">
                <a:latin typeface="Times New Roman"/>
                <a:cs typeface="Times New Roman"/>
              </a:rPr>
              <a:t>V/K</a:t>
            </a:r>
          </a:p>
          <a:p>
            <a:pPr algn="r"/>
            <a:r>
              <a:rPr lang="en-US" dirty="0">
                <a:latin typeface="Times New Roman"/>
                <a:cs typeface="Times New Roman"/>
              </a:rPr>
              <a:t>Bi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  <a:r>
              <a:rPr lang="en-US" dirty="0">
                <a:latin typeface="Times New Roman"/>
                <a:cs typeface="Times New Roman"/>
              </a:rPr>
              <a:t>Te</a:t>
            </a:r>
            <a:r>
              <a:rPr lang="en-US" baseline="-25000" dirty="0">
                <a:latin typeface="Times New Roman"/>
                <a:cs typeface="Times New Roman"/>
              </a:rPr>
              <a:t>3</a:t>
            </a:r>
            <a:r>
              <a:rPr lang="en-US" dirty="0">
                <a:latin typeface="Times New Roman"/>
                <a:cs typeface="Times New Roman"/>
              </a:rPr>
              <a:t>:+200 </a:t>
            </a:r>
            <a:r>
              <a:rPr lang="el-GR" dirty="0">
                <a:latin typeface="Times New Roman"/>
                <a:cs typeface="Times New Roman"/>
              </a:rPr>
              <a:t>μ</a:t>
            </a:r>
            <a:r>
              <a:rPr lang="en-US" dirty="0">
                <a:latin typeface="Times New Roman"/>
                <a:cs typeface="Times New Roman"/>
              </a:rPr>
              <a:t>V/K</a:t>
            </a:r>
          </a:p>
        </p:txBody>
      </p:sp>
      <p:sp>
        <p:nvSpPr>
          <p:cNvPr id="2" name="矩形 1"/>
          <p:cNvSpPr/>
          <p:nvPr/>
        </p:nvSpPr>
        <p:spPr>
          <a:xfrm>
            <a:off x="1189121" y="206514"/>
            <a:ext cx="31917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rgbClr val="FF0000"/>
                </a:solidFill>
              </a:rPr>
              <a:t>Seebeck</a:t>
            </a:r>
            <a:r>
              <a:rPr lang="en-US" altLang="zh-CN" sz="4000" dirty="0">
                <a:solidFill>
                  <a:srgbClr val="FF0000"/>
                </a:solidFill>
              </a:rPr>
              <a:t> Effect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57200" y="1391913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670750" y="1382983"/>
            <a:ext cx="5163549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1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693" y="160338"/>
            <a:ext cx="31917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rgbClr val="FF0000"/>
                </a:solidFill>
              </a:rPr>
              <a:t>Seebeck</a:t>
            </a:r>
            <a:r>
              <a:rPr lang="en-US" altLang="zh-CN" sz="4000" dirty="0">
                <a:solidFill>
                  <a:srgbClr val="FF0000"/>
                </a:solidFill>
              </a:rPr>
              <a:t> Effect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8547" y="4898865"/>
            <a:ext cx="4965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T.J. Seebeck, </a:t>
            </a:r>
          </a:p>
          <a:p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Magnetische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Polarisation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der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Metalle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und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Erze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durch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Temperatur-Differenz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</a:p>
          <a:p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Abh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Deut. </a:t>
            </a:r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Akad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</a:t>
            </a:r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Wissensch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Berlin, Phys., </a:t>
            </a:r>
            <a:r>
              <a:rPr lang="en-US" altLang="zh-CN" sz="110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Kl. (J. 1822-1823)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, p.265-373, 1825</a:t>
            </a:r>
            <a:endParaRPr lang="zh-CN" altLang="en-US" sz="1100" b="0" dirty="0">
              <a:latin typeface="Arial" pitchFamily="34" charset="0"/>
              <a:ea typeface="楷体_GB2312" pitchFamily="49" charset="-122"/>
              <a:cs typeface="Arial" pitchFamily="34" charset="0"/>
            </a:endParaRPr>
          </a:p>
        </p:txBody>
      </p:sp>
      <p:pic>
        <p:nvPicPr>
          <p:cNvPr id="10" name="图片 9" descr="Seebeck1825首页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189" y="1350655"/>
            <a:ext cx="3671565" cy="4781169"/>
          </a:xfrm>
          <a:prstGeom prst="rect">
            <a:avLst/>
          </a:prstGeom>
        </p:spPr>
      </p:pic>
      <p:grpSp>
        <p:nvGrpSpPr>
          <p:cNvPr id="11" name="组合 48"/>
          <p:cNvGrpSpPr/>
          <p:nvPr/>
        </p:nvGrpSpPr>
        <p:grpSpPr>
          <a:xfrm>
            <a:off x="4178547" y="1208865"/>
            <a:ext cx="4051822" cy="3420435"/>
            <a:chOff x="4295267" y="847725"/>
            <a:chExt cx="4051822" cy="3420435"/>
          </a:xfrm>
        </p:grpSpPr>
        <p:pic>
          <p:nvPicPr>
            <p:cNvPr id="12" name="图片 11" descr="seebeck_experiment1.jpg"/>
            <p:cNvPicPr>
              <a:picLocks noChangeAspect="1"/>
            </p:cNvPicPr>
            <p:nvPr/>
          </p:nvPicPr>
          <p:blipFill>
            <a:blip r:embed="rId4" cstate="print">
              <a:lum contrast="10000"/>
            </a:blip>
            <a:stretch>
              <a:fillRect/>
            </a:stretch>
          </p:blipFill>
          <p:spPr>
            <a:xfrm>
              <a:off x="4295267" y="1452143"/>
              <a:ext cx="4051822" cy="2816017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940504" y="992664"/>
              <a:ext cx="1505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itchFamily="34" charset="0"/>
                  <a:ea typeface="黑体" pitchFamily="49" charset="-122"/>
                  <a:cs typeface="Arial" pitchFamily="34" charset="0"/>
                </a:rPr>
                <a:t>Current Flow</a:t>
              </a:r>
              <a:endParaRPr lang="zh-CN" altLang="en-US" b="0" dirty="0">
                <a:solidFill>
                  <a:srgbClr val="FF0000"/>
                </a:solidFill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14" name="直接连接符 13"/>
            <p:cNvCxnSpPr>
              <a:stCxn id="15" idx="0"/>
              <a:endCxn id="19" idx="4"/>
            </p:cNvCxnSpPr>
            <p:nvPr/>
          </p:nvCxnSpPr>
          <p:spPr bwMode="auto">
            <a:xfrm flipV="1">
              <a:off x="5006202" y="1962150"/>
              <a:ext cx="170636" cy="46280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sp>
          <p:nvSpPr>
            <p:cNvPr id="15" name="TextBox 14"/>
            <p:cNvSpPr txBox="1"/>
            <p:nvPr/>
          </p:nvSpPr>
          <p:spPr>
            <a:xfrm>
              <a:off x="4513423" y="2424952"/>
              <a:ext cx="9855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0" dirty="0">
                  <a:solidFill>
                    <a:srgbClr val="0000FF"/>
                  </a:solidFill>
                  <a:latin typeface="Arial" pitchFamily="34" charset="0"/>
                  <a:ea typeface="黑体" pitchFamily="49" charset="-122"/>
                  <a:cs typeface="Arial" pitchFamily="34" charset="0"/>
                </a:rPr>
                <a:t>Magnetic needle move</a:t>
              </a:r>
              <a:endParaRPr lang="zh-CN" altLang="en-US" sz="1400" b="0" dirty="0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48575" y="1304925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0" dirty="0">
                  <a:latin typeface="Arial" pitchFamily="34" charset="0"/>
                  <a:ea typeface="黑体" pitchFamily="49" charset="-122"/>
                  <a:cs typeface="Arial" pitchFamily="34" charset="0"/>
                </a:rPr>
                <a:t>Bi</a:t>
              </a:r>
              <a:endParaRPr lang="zh-CN" altLang="en-US" b="0" dirty="0"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67500" y="847725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0" dirty="0">
                  <a:latin typeface="Arial" pitchFamily="34" charset="0"/>
                  <a:ea typeface="黑体" pitchFamily="49" charset="-122"/>
                  <a:cs typeface="Arial" pitchFamily="34" charset="0"/>
                </a:rPr>
                <a:t>Cu</a:t>
              </a:r>
              <a:endParaRPr lang="zh-CN" altLang="en-US" b="0" dirty="0"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flipH="1">
              <a:off x="5353050" y="1520825"/>
              <a:ext cx="5334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sp>
          <p:nvSpPr>
            <p:cNvPr id="19" name="椭圆 18"/>
            <p:cNvSpPr/>
            <p:nvPr/>
          </p:nvSpPr>
          <p:spPr bwMode="auto">
            <a:xfrm>
              <a:off x="5105400" y="181927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6743700" y="172402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6153150" y="153352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22" name="直接连接符 21"/>
            <p:cNvCxnSpPr>
              <a:stCxn id="17" idx="1"/>
              <a:endCxn id="21" idx="0"/>
            </p:cNvCxnSpPr>
            <p:nvPr/>
          </p:nvCxnSpPr>
          <p:spPr bwMode="auto">
            <a:xfrm flipH="1">
              <a:off x="6224588" y="1078558"/>
              <a:ext cx="442912" cy="45496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cxnSp>
          <p:nvCxnSpPr>
            <p:cNvPr id="23" name="直接连接符 22"/>
            <p:cNvCxnSpPr>
              <a:stCxn id="16" idx="1"/>
              <a:endCxn id="20" idx="7"/>
            </p:cNvCxnSpPr>
            <p:nvPr/>
          </p:nvCxnSpPr>
          <p:spPr bwMode="auto">
            <a:xfrm flipH="1">
              <a:off x="6865651" y="1535758"/>
              <a:ext cx="782924" cy="20919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</p:grpSp>
      <p:sp>
        <p:nvSpPr>
          <p:cNvPr id="2" name="AutoShape 4" descr="http://onlinelibrary.wiley.com/store/10.1002/andp.18260820302/asset/18260820302_ftp_p1.png?v=1&amp;s=82b4d4d65ca8bb897e069f7c2d8787f09bc02fe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590917" y="3741239"/>
            <a:ext cx="201369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3200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3200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200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a </a:t>
            </a:r>
            <a:r>
              <a:rPr lang="en-US" altLang="zh-CN" sz="3200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3200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endParaRPr lang="zh-CN" altLang="en-US" sz="3200" i="1" dirty="0">
              <a:solidFill>
                <a:srgbClr val="FF0000"/>
              </a:solidFill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072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5654" y="292387"/>
            <a:ext cx="2455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Peltier</a:t>
            </a:r>
            <a:r>
              <a:rPr lang="en-US" sz="3200" dirty="0">
                <a:solidFill>
                  <a:srgbClr val="FF0000"/>
                </a:solidFill>
              </a:rPr>
              <a:t> effect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43" b="29566"/>
          <a:stretch/>
        </p:blipFill>
        <p:spPr bwMode="auto">
          <a:xfrm>
            <a:off x="771157" y="1503402"/>
            <a:ext cx="2241456" cy="289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990411" y="4483195"/>
            <a:ext cx="17647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Jean </a:t>
            </a:r>
            <a:r>
              <a:rPr lang="en-US" b="1" dirty="0" err="1"/>
              <a:t>C.A.Peltier</a:t>
            </a:r>
            <a:endParaRPr lang="en-US" dirty="0"/>
          </a:p>
          <a:p>
            <a:pPr algn="ctr"/>
            <a:r>
              <a:rPr lang="en-US" dirty="0"/>
              <a:t>French physicist </a:t>
            </a:r>
          </a:p>
          <a:p>
            <a:pPr algn="ctr"/>
            <a:r>
              <a:rPr lang="en-US" dirty="0"/>
              <a:t>and watchmaker</a:t>
            </a:r>
          </a:p>
          <a:p>
            <a:pPr algn="ctr"/>
            <a:r>
              <a:rPr lang="en-US" dirty="0"/>
              <a:t>(1775-1845)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66626" y="5303236"/>
            <a:ext cx="51635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Cooling was produced </a:t>
            </a:r>
          </a:p>
          <a:p>
            <a:pPr algn="ctr"/>
            <a:r>
              <a:rPr lang="en-US" sz="2000" dirty="0"/>
              <a:t>at the junction of two dissimilar metals  as a current pass it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05200" y="2113002"/>
            <a:ext cx="3575650" cy="3011270"/>
            <a:chOff x="3505200" y="2133600"/>
            <a:chExt cx="3575650" cy="301127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11" t="10102" b="23681"/>
            <a:stretch/>
          </p:blipFill>
          <p:spPr bwMode="auto">
            <a:xfrm>
              <a:off x="3505200" y="2584012"/>
              <a:ext cx="3575650" cy="2560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5105400" y="2133600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Cooling 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5257800" y="4191000"/>
              <a:ext cx="5631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410200" y="38100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825539" y="3810000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N-type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48400" y="3810000"/>
              <a:ext cx="792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P-type</a:t>
              </a:r>
            </a:p>
          </p:txBody>
        </p:sp>
      </p:grp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78099"/>
              </p:ext>
            </p:extLst>
          </p:nvPr>
        </p:nvGraphicFramePr>
        <p:xfrm>
          <a:off x="6427047" y="2417802"/>
          <a:ext cx="22129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53800" progId="Equation.DSMT4">
                  <p:embed/>
                </p:oleObj>
              </mc:Choice>
              <mc:Fallback>
                <p:oleObj name="Equation" r:id="rId3" imgW="1028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047" y="2417802"/>
                        <a:ext cx="22129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78659" y="3005327"/>
            <a:ext cx="210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/>
              <a:t>, </a:t>
            </a:r>
            <a:r>
              <a:rPr lang="en-US" dirty="0" err="1"/>
              <a:t>Peltier</a:t>
            </a:r>
            <a:r>
              <a:rPr lang="en-US" dirty="0"/>
              <a:t> coefficient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457200" y="1388936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676887" y="1503402"/>
            <a:ext cx="2943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Peltier</a:t>
            </a:r>
            <a:r>
              <a:rPr lang="en-US" sz="2800" dirty="0"/>
              <a:t> effect, 1834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3670750" y="1380006"/>
            <a:ext cx="5163549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019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nnChimPhys1834封面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61433" y="1173036"/>
            <a:ext cx="2521432" cy="4076962"/>
          </a:xfrm>
          <a:prstGeom prst="rect">
            <a:avLst/>
          </a:prstGeom>
          <a:ln w="38100" cmpd="thickThin">
            <a:solidFill>
              <a:srgbClr val="996633"/>
            </a:solidFill>
          </a:ln>
        </p:spPr>
      </p:pic>
      <p:pic>
        <p:nvPicPr>
          <p:cNvPr id="5" name="图片 4" descr="AnnChimPhys1834-Peltier-37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8721" y="1416317"/>
            <a:ext cx="2521432" cy="4076962"/>
          </a:xfrm>
          <a:prstGeom prst="rect">
            <a:avLst/>
          </a:prstGeom>
          <a:ln w="38100" cmpd="thickThin">
            <a:solidFill>
              <a:srgbClr val="99663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28545" y="5935297"/>
            <a:ext cx="6679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J.C.A. Peltier,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Nouvelles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Expériemences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sur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la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Caloricite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des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courants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électriques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  <a:r>
              <a:rPr lang="fr-FR" altLang="zh-CN" sz="1400" b="0" i="1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Annales de Chimie et de Physique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  <a:r>
              <a:rPr lang="en-US" altLang="zh-CN" sz="140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56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p.371-386, 1834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866" y="151002"/>
            <a:ext cx="2455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Peltier</a:t>
            </a:r>
            <a:r>
              <a:rPr lang="en-US" sz="3200" dirty="0">
                <a:solidFill>
                  <a:srgbClr val="FF0000"/>
                </a:solidFill>
              </a:rPr>
              <a:t> effect</a:t>
            </a:r>
          </a:p>
        </p:txBody>
      </p:sp>
    </p:spTree>
    <p:extLst>
      <p:ext uri="{BB962C8B-B14F-4D97-AF65-F5344CB8AC3E}">
        <p14:creationId xmlns:p14="http://schemas.microsoft.com/office/powerpoint/2010/main" val="1805830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7139" y="1229380"/>
            <a:ext cx="3359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Thomson effect, 1855</a:t>
            </a:r>
          </a:p>
        </p:txBody>
      </p:sp>
      <p:sp>
        <p:nvSpPr>
          <p:cNvPr id="3" name="Rectangle 7"/>
          <p:cNvSpPr/>
          <p:nvPr/>
        </p:nvSpPr>
        <p:spPr>
          <a:xfrm>
            <a:off x="571043" y="4076866"/>
            <a:ext cx="18229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William Thomson</a:t>
            </a:r>
          </a:p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Baron Kelvin </a:t>
            </a:r>
          </a:p>
          <a:p>
            <a:pPr algn="ctr"/>
            <a:r>
              <a:rPr lang="en-US" dirty="0"/>
              <a:t> British physicist</a:t>
            </a:r>
          </a:p>
          <a:p>
            <a:pPr algn="ctr"/>
            <a:r>
              <a:rPr lang="en-US" dirty="0"/>
              <a:t>(1824-1907)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322427" y="1905000"/>
            <a:ext cx="3154573" cy="1957864"/>
            <a:chOff x="3142346" y="1905000"/>
            <a:chExt cx="3154573" cy="1957864"/>
          </a:xfrm>
        </p:grpSpPr>
        <p:sp>
          <p:nvSpPr>
            <p:cNvPr id="5" name="Rounded Rectangle 8"/>
            <p:cNvSpPr/>
            <p:nvPr/>
          </p:nvSpPr>
          <p:spPr>
            <a:xfrm>
              <a:off x="3751946" y="2655332"/>
              <a:ext cx="1981200" cy="4191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10"/>
            <p:cNvCxnSpPr/>
            <p:nvPr/>
          </p:nvCxnSpPr>
          <p:spPr>
            <a:xfrm>
              <a:off x="3828146" y="3341132"/>
              <a:ext cx="17526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209146" y="3493532"/>
              <a:ext cx="1067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Current, I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42346" y="2667000"/>
              <a:ext cx="538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cold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86843" y="2667000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hot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47146" y="1905000"/>
              <a:ext cx="2707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Heat release/absorption, </a:t>
              </a:r>
              <a:r>
                <a:rPr lang="en-US" i="1" dirty="0"/>
                <a:t>q</a:t>
              </a:r>
            </a:p>
          </p:txBody>
        </p:sp>
        <p:cxnSp>
          <p:nvCxnSpPr>
            <p:cNvPr id="11" name="Straight Arrow Connector 16"/>
            <p:cNvCxnSpPr/>
            <p:nvPr/>
          </p:nvCxnSpPr>
          <p:spPr>
            <a:xfrm>
              <a:off x="4437746" y="2274332"/>
              <a:ext cx="0" cy="381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89304"/>
              </p:ext>
            </p:extLst>
          </p:nvPr>
        </p:nvGraphicFramePr>
        <p:xfrm>
          <a:off x="7083425" y="1981498"/>
          <a:ext cx="15367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03040" progId="Equation.DSMT4">
                  <p:embed/>
                </p:oleObj>
              </mc:Choice>
              <mc:Fallback>
                <p:oleObj name="Equation" r:id="rId2" imgW="736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83425" y="1981498"/>
                        <a:ext cx="15367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2357735"/>
            <a:ext cx="237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β</a:t>
            </a:r>
            <a:r>
              <a:rPr lang="en-US" dirty="0"/>
              <a:t>, Thomson coefficient</a:t>
            </a:r>
          </a:p>
        </p:txBody>
      </p:sp>
      <p:sp>
        <p:nvSpPr>
          <p:cNvPr id="14" name="Rectangle 20"/>
          <p:cNvSpPr/>
          <p:nvPr/>
        </p:nvSpPr>
        <p:spPr>
          <a:xfrm>
            <a:off x="3314800" y="3862864"/>
            <a:ext cx="53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Evaluation of heat when electric current passes through a single material that has a temperature difference along its length</a:t>
            </a: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003529"/>
              </p:ext>
            </p:extLst>
          </p:nvPr>
        </p:nvGraphicFramePr>
        <p:xfrm>
          <a:off x="7391400" y="5227148"/>
          <a:ext cx="10604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177480" progId="Equation.DSMT4">
                  <p:embed/>
                </p:oleObj>
              </mc:Choice>
              <mc:Fallback>
                <p:oleObj name="Equation" r:id="rId4" imgW="5079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227148"/>
                        <a:ext cx="106045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523860"/>
              </p:ext>
            </p:extLst>
          </p:nvPr>
        </p:nvGraphicFramePr>
        <p:xfrm>
          <a:off x="5913227" y="5012203"/>
          <a:ext cx="12985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393480" progId="Equation.DSMT4">
                  <p:embed/>
                </p:oleObj>
              </mc:Choice>
              <mc:Fallback>
                <p:oleObj name="Equation" r:id="rId6" imgW="62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227" y="5012203"/>
                        <a:ext cx="12985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398448" y="5117231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Kelvin Relation</a:t>
            </a:r>
          </a:p>
        </p:txBody>
      </p:sp>
      <p:pic>
        <p:nvPicPr>
          <p:cNvPr id="18" name="Picture 16" descr="Thomson, William, Baron Kelvi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74" y="1255878"/>
            <a:ext cx="2139404" cy="283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26"/>
          <p:cNvSpPr/>
          <p:nvPr/>
        </p:nvSpPr>
        <p:spPr>
          <a:xfrm>
            <a:off x="192061" y="5906869"/>
            <a:ext cx="8249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* He is widely known for determining the correct value of absolute zero as approximately -273.15 Celsius.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152400" y="1066800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79755" y="549806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英国皇家“开尔文公爵”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507" y="48087"/>
            <a:ext cx="2782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Thomson effect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276600" y="1066800"/>
            <a:ext cx="5686097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38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2713182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2057" y="76200"/>
            <a:ext cx="48494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TD of thermoelectric 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generator and refrigerator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4944" y="1992868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H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458416" y="4583668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L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66972" y="5024735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99269"/>
              </p:ext>
            </p:extLst>
          </p:nvPr>
        </p:nvGraphicFramePr>
        <p:xfrm>
          <a:off x="1303338" y="5668963"/>
          <a:ext cx="10207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431640" progId="Equation.DSMT4">
                  <p:embed/>
                </p:oleObj>
              </mc:Choice>
              <mc:Fallback>
                <p:oleObj name="Equation" r:id="rId3" imgW="50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668963"/>
                        <a:ext cx="102076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54"/>
          <a:stretch/>
        </p:blipFill>
        <p:spPr bwMode="auto">
          <a:xfrm>
            <a:off x="4649362" y="1371600"/>
            <a:ext cx="3150778" cy="313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237900" y="5029200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COP of TEC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50681"/>
              </p:ext>
            </p:extLst>
          </p:nvPr>
        </p:nvGraphicFramePr>
        <p:xfrm>
          <a:off x="5799138" y="5681663"/>
          <a:ext cx="9699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393480" progId="Equation.DSMT4">
                  <p:embed/>
                </p:oleObj>
              </mc:Choice>
              <mc:Fallback>
                <p:oleObj name="Equation" r:id="rId6" imgW="482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5681663"/>
                        <a:ext cx="9699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813540" y="3726612"/>
            <a:ext cx="2820836" cy="1121433"/>
            <a:chOff x="4813540" y="3726612"/>
            <a:chExt cx="2820836" cy="1121433"/>
          </a:xfrm>
        </p:grpSpPr>
        <p:sp>
          <p:nvSpPr>
            <p:cNvPr id="2" name="任意多边形 1"/>
            <p:cNvSpPr/>
            <p:nvPr/>
          </p:nvSpPr>
          <p:spPr>
            <a:xfrm>
              <a:off x="4813540" y="4477109"/>
              <a:ext cx="1017917" cy="215661"/>
            </a:xfrm>
            <a:custGeom>
              <a:avLst/>
              <a:gdLst>
                <a:gd name="connsiteX0" fmla="*/ 0 w 1009291"/>
                <a:gd name="connsiteY0" fmla="*/ 0 h 215661"/>
                <a:gd name="connsiteX1" fmla="*/ 0 w 1009291"/>
                <a:gd name="connsiteY1" fmla="*/ 0 h 215661"/>
                <a:gd name="connsiteX2" fmla="*/ 0 w 1009291"/>
                <a:gd name="connsiteY2" fmla="*/ 215661 h 215661"/>
                <a:gd name="connsiteX3" fmla="*/ 1009291 w 1009291"/>
                <a:gd name="connsiteY3" fmla="*/ 215661 h 21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291" h="215661">
                  <a:moveTo>
                    <a:pt x="0" y="0"/>
                  </a:moveTo>
                  <a:lnTo>
                    <a:pt x="0" y="0"/>
                  </a:lnTo>
                  <a:lnTo>
                    <a:pt x="0" y="215661"/>
                  </a:lnTo>
                  <a:lnTo>
                    <a:pt x="1009291" y="215661"/>
                  </a:lnTo>
                </a:path>
              </a:pathLst>
            </a:cu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831457" y="4583668"/>
              <a:ext cx="0" cy="264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929226" y="4635108"/>
              <a:ext cx="0" cy="1614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012318" y="4577999"/>
              <a:ext cx="0" cy="264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110087" y="4629439"/>
              <a:ext cx="0" cy="1614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任意多边形 21"/>
            <p:cNvSpPr/>
            <p:nvPr/>
          </p:nvSpPr>
          <p:spPr>
            <a:xfrm flipH="1">
              <a:off x="6119117" y="4488693"/>
              <a:ext cx="1515259" cy="215661"/>
            </a:xfrm>
            <a:custGeom>
              <a:avLst/>
              <a:gdLst>
                <a:gd name="connsiteX0" fmla="*/ 0 w 1009291"/>
                <a:gd name="connsiteY0" fmla="*/ 0 h 215661"/>
                <a:gd name="connsiteX1" fmla="*/ 0 w 1009291"/>
                <a:gd name="connsiteY1" fmla="*/ 0 h 215661"/>
                <a:gd name="connsiteX2" fmla="*/ 0 w 1009291"/>
                <a:gd name="connsiteY2" fmla="*/ 215661 h 215661"/>
                <a:gd name="connsiteX3" fmla="*/ 1009291 w 1009291"/>
                <a:gd name="connsiteY3" fmla="*/ 215661 h 21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291" h="215661">
                  <a:moveTo>
                    <a:pt x="0" y="0"/>
                  </a:moveTo>
                  <a:lnTo>
                    <a:pt x="0" y="0"/>
                  </a:lnTo>
                  <a:lnTo>
                    <a:pt x="0" y="215661"/>
                  </a:lnTo>
                  <a:lnTo>
                    <a:pt x="1009291" y="215661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>
              <a:stCxn id="2" idx="0"/>
            </p:cNvCxnSpPr>
            <p:nvPr/>
          </p:nvCxnSpPr>
          <p:spPr>
            <a:xfrm flipV="1">
              <a:off x="4813540" y="3916394"/>
              <a:ext cx="8626" cy="560715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7634376" y="3726612"/>
              <a:ext cx="0" cy="41119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5090638" y="422719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I</a:t>
            </a:r>
            <a:endParaRPr lang="zh-CN" altLang="en-US" i="1" dirty="0"/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4983947" y="4635108"/>
            <a:ext cx="5079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45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176965" y="5514929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36113" y="252706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113261"/>
              </p:ext>
            </p:extLst>
          </p:nvPr>
        </p:nvGraphicFramePr>
        <p:xfrm>
          <a:off x="3022915" y="5643517"/>
          <a:ext cx="9620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431640" progId="Equation.DSMT4">
                  <p:embed/>
                </p:oleObj>
              </mc:Choice>
              <mc:Fallback>
                <p:oleObj name="Equation" r:id="rId3" imgW="583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915" y="5643517"/>
                        <a:ext cx="9620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76965" y="5743529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95800" y="2178784"/>
            <a:ext cx="449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For simple, Assume: </a:t>
            </a:r>
          </a:p>
          <a:p>
            <a:pPr marL="342900" indent="-342900"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T-independent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=-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ρ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κ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marL="342900" indent="-342900">
              <a:buFontTx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 length 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section=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72839"/>
              </p:ext>
            </p:extLst>
          </p:nvPr>
        </p:nvGraphicFramePr>
        <p:xfrm>
          <a:off x="4720304" y="4547393"/>
          <a:ext cx="1603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634680" progId="Equation.DSMT4">
                  <p:embed/>
                </p:oleObj>
              </mc:Choice>
              <mc:Fallback>
                <p:oleObj name="Equation" r:id="rId5" imgW="10540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0304" y="4547393"/>
                        <a:ext cx="160337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0902"/>
              </p:ext>
            </p:extLst>
          </p:nvPr>
        </p:nvGraphicFramePr>
        <p:xfrm>
          <a:off x="6815137" y="4344987"/>
          <a:ext cx="1643063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280" imgH="901440" progId="Equation.DSMT4">
                  <p:embed/>
                </p:oleObj>
              </mc:Choice>
              <mc:Fallback>
                <p:oleObj name="Equation" r:id="rId7" imgW="107928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7" y="4344987"/>
                        <a:ext cx="1643063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/>
          <p:cNvGrpSpPr/>
          <p:nvPr/>
        </p:nvGrpSpPr>
        <p:grpSpPr>
          <a:xfrm>
            <a:off x="241738" y="1028205"/>
            <a:ext cx="3720662" cy="4219529"/>
            <a:chOff x="241738" y="1295400"/>
            <a:chExt cx="3720662" cy="4219529"/>
          </a:xfrm>
        </p:grpSpPr>
        <p:sp>
          <p:nvSpPr>
            <p:cNvPr id="12" name="圆角矩形 11"/>
            <p:cNvSpPr/>
            <p:nvPr/>
          </p:nvSpPr>
          <p:spPr>
            <a:xfrm>
              <a:off x="1066530" y="2209800"/>
              <a:ext cx="2053728" cy="239111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066530" y="2448911"/>
              <a:ext cx="716287" cy="1242848"/>
            </a:xfrm>
            <a:prstGeom prst="roundRect">
              <a:avLst>
                <a:gd name="adj" fmla="val 5662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2430517" y="2468618"/>
              <a:ext cx="689741" cy="1242848"/>
            </a:xfrm>
            <a:prstGeom prst="roundRect">
              <a:avLst>
                <a:gd name="adj" fmla="val 667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63617" y="3686505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2430517" y="3728546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241738" y="3788978"/>
              <a:ext cx="3720662" cy="1624397"/>
            </a:xfrm>
            <a:custGeom>
              <a:avLst/>
              <a:gdLst>
                <a:gd name="connsiteX0" fmla="*/ 315310 w 3720662"/>
                <a:gd name="connsiteY0" fmla="*/ 0 h 1182414"/>
                <a:gd name="connsiteX1" fmla="*/ 0 w 3720662"/>
                <a:gd name="connsiteY1" fmla="*/ 0 h 1182414"/>
                <a:gd name="connsiteX2" fmla="*/ 0 w 3720662"/>
                <a:gd name="connsiteY2" fmla="*/ 914400 h 1182414"/>
                <a:gd name="connsiteX3" fmla="*/ 1450427 w 3720662"/>
                <a:gd name="connsiteY3" fmla="*/ 914400 h 1182414"/>
                <a:gd name="connsiteX4" fmla="*/ 1450427 w 3720662"/>
                <a:gd name="connsiteY4" fmla="*/ 898635 h 1182414"/>
                <a:gd name="connsiteX5" fmla="*/ 1560786 w 3720662"/>
                <a:gd name="connsiteY5" fmla="*/ 1182414 h 1182414"/>
                <a:gd name="connsiteX6" fmla="*/ 1702676 w 3720662"/>
                <a:gd name="connsiteY6" fmla="*/ 1024759 h 1182414"/>
                <a:gd name="connsiteX7" fmla="*/ 1813034 w 3720662"/>
                <a:gd name="connsiteY7" fmla="*/ 1182414 h 1182414"/>
                <a:gd name="connsiteX8" fmla="*/ 1923393 w 3720662"/>
                <a:gd name="connsiteY8" fmla="*/ 1040524 h 1182414"/>
                <a:gd name="connsiteX9" fmla="*/ 2065282 w 3720662"/>
                <a:gd name="connsiteY9" fmla="*/ 1182414 h 1182414"/>
                <a:gd name="connsiteX10" fmla="*/ 2175641 w 3720662"/>
                <a:gd name="connsiteY10" fmla="*/ 1040524 h 1182414"/>
                <a:gd name="connsiteX11" fmla="*/ 2317531 w 3720662"/>
                <a:gd name="connsiteY11" fmla="*/ 1182414 h 1182414"/>
                <a:gd name="connsiteX12" fmla="*/ 2364827 w 3720662"/>
                <a:gd name="connsiteY12" fmla="*/ 930166 h 1182414"/>
                <a:gd name="connsiteX13" fmla="*/ 3720662 w 3720662"/>
                <a:gd name="connsiteY13" fmla="*/ 930166 h 1182414"/>
                <a:gd name="connsiteX14" fmla="*/ 3720662 w 3720662"/>
                <a:gd name="connsiteY14" fmla="*/ 63062 h 1182414"/>
                <a:gd name="connsiteX15" fmla="*/ 3405351 w 3720662"/>
                <a:gd name="connsiteY15" fmla="*/ 63062 h 118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0662" h="1182414">
                  <a:moveTo>
                    <a:pt x="31531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50427" y="914400"/>
                  </a:lnTo>
                  <a:lnTo>
                    <a:pt x="1450427" y="898635"/>
                  </a:lnTo>
                  <a:lnTo>
                    <a:pt x="1560786" y="1182414"/>
                  </a:lnTo>
                  <a:lnTo>
                    <a:pt x="1702676" y="1024759"/>
                  </a:lnTo>
                  <a:lnTo>
                    <a:pt x="1813034" y="1182414"/>
                  </a:lnTo>
                  <a:lnTo>
                    <a:pt x="1923393" y="1040524"/>
                  </a:lnTo>
                  <a:lnTo>
                    <a:pt x="2065282" y="1182414"/>
                  </a:lnTo>
                  <a:lnTo>
                    <a:pt x="2175641" y="1040524"/>
                  </a:lnTo>
                  <a:lnTo>
                    <a:pt x="2317531" y="1182414"/>
                  </a:lnTo>
                  <a:lnTo>
                    <a:pt x="2364827" y="930166"/>
                  </a:lnTo>
                  <a:lnTo>
                    <a:pt x="3720662" y="930166"/>
                  </a:lnTo>
                  <a:lnTo>
                    <a:pt x="3720662" y="63062"/>
                  </a:lnTo>
                  <a:lnTo>
                    <a:pt x="3405351" y="63062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1690083" y="5043056"/>
              <a:ext cx="923026" cy="347016"/>
            </a:xfrm>
            <a:custGeom>
              <a:avLst/>
              <a:gdLst>
                <a:gd name="connsiteX0" fmla="*/ 0 w 923026"/>
                <a:gd name="connsiteY0" fmla="*/ 0 h 284671"/>
                <a:gd name="connsiteX1" fmla="*/ 129396 w 923026"/>
                <a:gd name="connsiteY1" fmla="*/ 284671 h 284671"/>
                <a:gd name="connsiteX2" fmla="*/ 267419 w 923026"/>
                <a:gd name="connsiteY2" fmla="*/ 112143 h 284671"/>
                <a:gd name="connsiteX3" fmla="*/ 362309 w 923026"/>
                <a:gd name="connsiteY3" fmla="*/ 258792 h 284671"/>
                <a:gd name="connsiteX4" fmla="*/ 491706 w 923026"/>
                <a:gd name="connsiteY4" fmla="*/ 129396 h 284671"/>
                <a:gd name="connsiteX5" fmla="*/ 603849 w 923026"/>
                <a:gd name="connsiteY5" fmla="*/ 267419 h 284671"/>
                <a:gd name="connsiteX6" fmla="*/ 741872 w 923026"/>
                <a:gd name="connsiteY6" fmla="*/ 138022 h 284671"/>
                <a:gd name="connsiteX7" fmla="*/ 871268 w 923026"/>
                <a:gd name="connsiteY7" fmla="*/ 258792 h 284671"/>
                <a:gd name="connsiteX8" fmla="*/ 923026 w 923026"/>
                <a:gd name="connsiteY8" fmla="*/ 8626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026" h="284671">
                  <a:moveTo>
                    <a:pt x="0" y="0"/>
                  </a:moveTo>
                  <a:lnTo>
                    <a:pt x="129396" y="284671"/>
                  </a:lnTo>
                  <a:lnTo>
                    <a:pt x="267419" y="112143"/>
                  </a:lnTo>
                  <a:lnTo>
                    <a:pt x="362309" y="258792"/>
                  </a:lnTo>
                  <a:lnTo>
                    <a:pt x="491706" y="129396"/>
                  </a:lnTo>
                  <a:lnTo>
                    <a:pt x="603849" y="267419"/>
                  </a:lnTo>
                  <a:lnTo>
                    <a:pt x="741872" y="138022"/>
                  </a:lnTo>
                  <a:lnTo>
                    <a:pt x="871268" y="258792"/>
                  </a:lnTo>
                  <a:lnTo>
                    <a:pt x="923026" y="8626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1956494" y="4980540"/>
              <a:ext cx="522514" cy="5343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639865" y="5145597"/>
              <a:ext cx="593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W</a:t>
              </a:r>
              <a:r>
                <a:rPr lang="en-US" altLang="zh-CN" baseline="-25000" dirty="0" err="1"/>
                <a:t>out</a:t>
              </a:r>
              <a:endParaRPr lang="zh-CN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71426" y="288566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p</a:t>
              </a:r>
              <a:endParaRPr lang="zh-CN" altLang="en-US" i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22140" y="2905376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n</a:t>
              </a:r>
              <a:endParaRPr lang="zh-CN" altLang="en-US" i="1" dirty="0"/>
            </a:p>
          </p:txBody>
        </p:sp>
        <p:pic>
          <p:nvPicPr>
            <p:cNvPr id="10246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295400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10247" name="Picture 7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875817" y="174151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1670119" y="165403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Q</a:t>
              </a:r>
              <a:r>
                <a:rPr lang="en-US" altLang="zh-CN" baseline="-25000" dirty="0" err="1"/>
                <a:t>h</a:t>
              </a:r>
              <a:endParaRPr lang="zh-CN" alt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132817" y="3942916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r>
                <a:rPr lang="en-US" altLang="zh-CN" baseline="-25000" dirty="0"/>
                <a:t>c</a:t>
              </a:r>
              <a:endParaRPr lang="zh-CN" altLang="en-US" dirty="0"/>
            </a:p>
          </p:txBody>
        </p:sp>
        <p:pic>
          <p:nvPicPr>
            <p:cNvPr id="36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012" y="4336988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37" name="Picture 7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691581" y="384742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2613109" y="138238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h</a:t>
              </a:r>
              <a:endParaRPr lang="en-US" altLang="zh-CN" i="1" baseline="-25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364" y="4416510"/>
              <a:ext cx="430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c</a:t>
              </a:r>
              <a:endParaRPr lang="zh-CN" altLang="en-US" i="1" baseline="-25000" dirty="0"/>
            </a:p>
          </p:txBody>
        </p:sp>
        <p:cxnSp>
          <p:nvCxnSpPr>
            <p:cNvPr id="55" name="直接箭头连接符 54"/>
            <p:cNvCxnSpPr/>
            <p:nvPr/>
          </p:nvCxnSpPr>
          <p:spPr>
            <a:xfrm>
              <a:off x="2844903" y="4880284"/>
              <a:ext cx="660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034226" y="44958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I</a:t>
              </a:r>
              <a:endParaRPr lang="zh-CN" altLang="en-US" i="1" dirty="0"/>
            </a:p>
          </p:txBody>
        </p:sp>
      </p:grpSp>
      <p:sp>
        <p:nvSpPr>
          <p:cNvPr id="59" name="圆角矩形 58"/>
          <p:cNvSpPr/>
          <p:nvPr/>
        </p:nvSpPr>
        <p:spPr>
          <a:xfrm>
            <a:off x="4495800" y="4114800"/>
            <a:ext cx="4267200" cy="16324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76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1738" y="5379085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506534"/>
              </p:ext>
            </p:extLst>
          </p:nvPr>
        </p:nvGraphicFramePr>
        <p:xfrm>
          <a:off x="3087688" y="5507673"/>
          <a:ext cx="9620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431640" progId="Equation.DSMT4">
                  <p:embed/>
                </p:oleObj>
              </mc:Choice>
              <mc:Fallback>
                <p:oleObj name="Equation" r:id="rId2" imgW="583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5507673"/>
                        <a:ext cx="9620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1738" y="5607685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1738" y="959485"/>
            <a:ext cx="3720662" cy="4219529"/>
            <a:chOff x="241738" y="1295400"/>
            <a:chExt cx="3720662" cy="4219529"/>
          </a:xfrm>
        </p:grpSpPr>
        <p:sp>
          <p:nvSpPr>
            <p:cNvPr id="8" name="圆角矩形 7"/>
            <p:cNvSpPr/>
            <p:nvPr/>
          </p:nvSpPr>
          <p:spPr>
            <a:xfrm>
              <a:off x="1066530" y="2209800"/>
              <a:ext cx="2053728" cy="239111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066530" y="2448911"/>
              <a:ext cx="716287" cy="1242848"/>
            </a:xfrm>
            <a:prstGeom prst="roundRect">
              <a:avLst>
                <a:gd name="adj" fmla="val 5662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430517" y="2468618"/>
              <a:ext cx="689741" cy="1242848"/>
            </a:xfrm>
            <a:prstGeom prst="roundRect">
              <a:avLst>
                <a:gd name="adj" fmla="val 667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63617" y="3686505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430517" y="3728546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41738" y="3788978"/>
              <a:ext cx="3720662" cy="1624397"/>
            </a:xfrm>
            <a:custGeom>
              <a:avLst/>
              <a:gdLst>
                <a:gd name="connsiteX0" fmla="*/ 315310 w 3720662"/>
                <a:gd name="connsiteY0" fmla="*/ 0 h 1182414"/>
                <a:gd name="connsiteX1" fmla="*/ 0 w 3720662"/>
                <a:gd name="connsiteY1" fmla="*/ 0 h 1182414"/>
                <a:gd name="connsiteX2" fmla="*/ 0 w 3720662"/>
                <a:gd name="connsiteY2" fmla="*/ 914400 h 1182414"/>
                <a:gd name="connsiteX3" fmla="*/ 1450427 w 3720662"/>
                <a:gd name="connsiteY3" fmla="*/ 914400 h 1182414"/>
                <a:gd name="connsiteX4" fmla="*/ 1450427 w 3720662"/>
                <a:gd name="connsiteY4" fmla="*/ 898635 h 1182414"/>
                <a:gd name="connsiteX5" fmla="*/ 1560786 w 3720662"/>
                <a:gd name="connsiteY5" fmla="*/ 1182414 h 1182414"/>
                <a:gd name="connsiteX6" fmla="*/ 1702676 w 3720662"/>
                <a:gd name="connsiteY6" fmla="*/ 1024759 h 1182414"/>
                <a:gd name="connsiteX7" fmla="*/ 1813034 w 3720662"/>
                <a:gd name="connsiteY7" fmla="*/ 1182414 h 1182414"/>
                <a:gd name="connsiteX8" fmla="*/ 1923393 w 3720662"/>
                <a:gd name="connsiteY8" fmla="*/ 1040524 h 1182414"/>
                <a:gd name="connsiteX9" fmla="*/ 2065282 w 3720662"/>
                <a:gd name="connsiteY9" fmla="*/ 1182414 h 1182414"/>
                <a:gd name="connsiteX10" fmla="*/ 2175641 w 3720662"/>
                <a:gd name="connsiteY10" fmla="*/ 1040524 h 1182414"/>
                <a:gd name="connsiteX11" fmla="*/ 2317531 w 3720662"/>
                <a:gd name="connsiteY11" fmla="*/ 1182414 h 1182414"/>
                <a:gd name="connsiteX12" fmla="*/ 2364827 w 3720662"/>
                <a:gd name="connsiteY12" fmla="*/ 930166 h 1182414"/>
                <a:gd name="connsiteX13" fmla="*/ 3720662 w 3720662"/>
                <a:gd name="connsiteY13" fmla="*/ 930166 h 1182414"/>
                <a:gd name="connsiteX14" fmla="*/ 3720662 w 3720662"/>
                <a:gd name="connsiteY14" fmla="*/ 63062 h 1182414"/>
                <a:gd name="connsiteX15" fmla="*/ 3405351 w 3720662"/>
                <a:gd name="connsiteY15" fmla="*/ 63062 h 118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0662" h="1182414">
                  <a:moveTo>
                    <a:pt x="31531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50427" y="914400"/>
                  </a:lnTo>
                  <a:lnTo>
                    <a:pt x="1450427" y="898635"/>
                  </a:lnTo>
                  <a:lnTo>
                    <a:pt x="1560786" y="1182414"/>
                  </a:lnTo>
                  <a:lnTo>
                    <a:pt x="1702676" y="1024759"/>
                  </a:lnTo>
                  <a:lnTo>
                    <a:pt x="1813034" y="1182414"/>
                  </a:lnTo>
                  <a:lnTo>
                    <a:pt x="1923393" y="1040524"/>
                  </a:lnTo>
                  <a:lnTo>
                    <a:pt x="2065282" y="1182414"/>
                  </a:lnTo>
                  <a:lnTo>
                    <a:pt x="2175641" y="1040524"/>
                  </a:lnTo>
                  <a:lnTo>
                    <a:pt x="2317531" y="1182414"/>
                  </a:lnTo>
                  <a:lnTo>
                    <a:pt x="2364827" y="930166"/>
                  </a:lnTo>
                  <a:lnTo>
                    <a:pt x="3720662" y="930166"/>
                  </a:lnTo>
                  <a:lnTo>
                    <a:pt x="3720662" y="63062"/>
                  </a:lnTo>
                  <a:lnTo>
                    <a:pt x="3405351" y="63062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1690083" y="5043056"/>
              <a:ext cx="923026" cy="347016"/>
            </a:xfrm>
            <a:custGeom>
              <a:avLst/>
              <a:gdLst>
                <a:gd name="connsiteX0" fmla="*/ 0 w 923026"/>
                <a:gd name="connsiteY0" fmla="*/ 0 h 284671"/>
                <a:gd name="connsiteX1" fmla="*/ 129396 w 923026"/>
                <a:gd name="connsiteY1" fmla="*/ 284671 h 284671"/>
                <a:gd name="connsiteX2" fmla="*/ 267419 w 923026"/>
                <a:gd name="connsiteY2" fmla="*/ 112143 h 284671"/>
                <a:gd name="connsiteX3" fmla="*/ 362309 w 923026"/>
                <a:gd name="connsiteY3" fmla="*/ 258792 h 284671"/>
                <a:gd name="connsiteX4" fmla="*/ 491706 w 923026"/>
                <a:gd name="connsiteY4" fmla="*/ 129396 h 284671"/>
                <a:gd name="connsiteX5" fmla="*/ 603849 w 923026"/>
                <a:gd name="connsiteY5" fmla="*/ 267419 h 284671"/>
                <a:gd name="connsiteX6" fmla="*/ 741872 w 923026"/>
                <a:gd name="connsiteY6" fmla="*/ 138022 h 284671"/>
                <a:gd name="connsiteX7" fmla="*/ 871268 w 923026"/>
                <a:gd name="connsiteY7" fmla="*/ 258792 h 284671"/>
                <a:gd name="connsiteX8" fmla="*/ 923026 w 923026"/>
                <a:gd name="connsiteY8" fmla="*/ 8626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026" h="284671">
                  <a:moveTo>
                    <a:pt x="0" y="0"/>
                  </a:moveTo>
                  <a:lnTo>
                    <a:pt x="129396" y="284671"/>
                  </a:lnTo>
                  <a:lnTo>
                    <a:pt x="267419" y="112143"/>
                  </a:lnTo>
                  <a:lnTo>
                    <a:pt x="362309" y="258792"/>
                  </a:lnTo>
                  <a:lnTo>
                    <a:pt x="491706" y="129396"/>
                  </a:lnTo>
                  <a:lnTo>
                    <a:pt x="603849" y="267419"/>
                  </a:lnTo>
                  <a:lnTo>
                    <a:pt x="741872" y="138022"/>
                  </a:lnTo>
                  <a:lnTo>
                    <a:pt x="871268" y="258792"/>
                  </a:lnTo>
                  <a:lnTo>
                    <a:pt x="923026" y="8626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956494" y="4980540"/>
              <a:ext cx="522514" cy="5343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639865" y="5145597"/>
              <a:ext cx="590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W</a:t>
              </a:r>
              <a:r>
                <a:rPr lang="en-US" altLang="zh-CN" baseline="-25000" dirty="0" err="1"/>
                <a:t>net</a:t>
              </a:r>
              <a:endParaRPr lang="zh-CN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71426" y="288566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p</a:t>
              </a:r>
              <a:endParaRPr lang="zh-CN" altLang="en-US" i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22140" y="2905376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n</a:t>
              </a:r>
              <a:endParaRPr lang="zh-CN" altLang="en-US" i="1" dirty="0"/>
            </a:p>
          </p:txBody>
        </p:sp>
        <p:pic>
          <p:nvPicPr>
            <p:cNvPr id="19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295400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875817" y="174151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1670119" y="165403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Q</a:t>
              </a:r>
              <a:r>
                <a:rPr lang="en-US" altLang="zh-CN" baseline="-25000" dirty="0" err="1"/>
                <a:t>h</a:t>
              </a:r>
              <a:endParaRPr lang="zh-CN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32817" y="3942916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r>
                <a:rPr lang="en-US" altLang="zh-CN" baseline="-25000" dirty="0"/>
                <a:t>c</a:t>
              </a:r>
              <a:endParaRPr lang="zh-CN" altLang="en-US" dirty="0"/>
            </a:p>
          </p:txBody>
        </p:sp>
        <p:pic>
          <p:nvPicPr>
            <p:cNvPr id="23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012" y="4336988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24" name="Picture 7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691581" y="384742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2613109" y="138238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h</a:t>
              </a:r>
              <a:endParaRPr lang="en-US" altLang="zh-CN" i="1" baseline="-25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59364" y="4416510"/>
              <a:ext cx="430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c</a:t>
              </a:r>
              <a:endParaRPr lang="zh-CN" altLang="en-US" i="1" baseline="-25000" dirty="0"/>
            </a:p>
          </p:txBody>
        </p:sp>
        <p:cxnSp>
          <p:nvCxnSpPr>
            <p:cNvPr id="27" name="直接箭头连接符 26"/>
            <p:cNvCxnSpPr/>
            <p:nvPr/>
          </p:nvCxnSpPr>
          <p:spPr>
            <a:xfrm>
              <a:off x="2844903" y="4880284"/>
              <a:ext cx="660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34226" y="44958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I</a:t>
              </a:r>
              <a:endParaRPr lang="zh-CN" altLang="en-US" i="1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155751" y="77764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779416"/>
              </p:ext>
            </p:extLst>
          </p:nvPr>
        </p:nvGraphicFramePr>
        <p:xfrm>
          <a:off x="4648200" y="1473835"/>
          <a:ext cx="12112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241200" progId="Equation.DSMT4">
                  <p:embed/>
                </p:oleObj>
              </mc:Choice>
              <mc:Fallback>
                <p:oleObj name="Equation" r:id="rId6" imgW="73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73835"/>
                        <a:ext cx="12112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482929"/>
              </p:ext>
            </p:extLst>
          </p:nvPr>
        </p:nvGraphicFramePr>
        <p:xfrm>
          <a:off x="4733925" y="1854835"/>
          <a:ext cx="31115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393480" progId="Equation.DSMT4">
                  <p:embed/>
                </p:oleObj>
              </mc:Choice>
              <mc:Fallback>
                <p:oleObj name="Equation" r:id="rId8" imgW="1892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854835"/>
                        <a:ext cx="31115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52711"/>
              </p:ext>
            </p:extLst>
          </p:nvPr>
        </p:nvGraphicFramePr>
        <p:xfrm>
          <a:off x="4735513" y="2512060"/>
          <a:ext cx="30686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393480" progId="Equation.DSMT4">
                  <p:embed/>
                </p:oleObj>
              </mc:Choice>
              <mc:Fallback>
                <p:oleObj name="Equation" r:id="rId10" imgW="1866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513" y="2512060"/>
                        <a:ext cx="30686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14358"/>
              </p:ext>
            </p:extLst>
          </p:nvPr>
        </p:nvGraphicFramePr>
        <p:xfrm>
          <a:off x="4733925" y="3434398"/>
          <a:ext cx="24447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482400" progId="Equation.DSMT4">
                  <p:embed/>
                </p:oleObj>
              </mc:Choice>
              <mc:Fallback>
                <p:oleObj name="Equation" r:id="rId12" imgW="1485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3434398"/>
                        <a:ext cx="24447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圆角矩形 39"/>
          <p:cNvSpPr/>
          <p:nvPr/>
        </p:nvSpPr>
        <p:spPr>
          <a:xfrm>
            <a:off x="4419600" y="1318115"/>
            <a:ext cx="4191000" cy="1851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805764"/>
              </p:ext>
            </p:extLst>
          </p:nvPr>
        </p:nvGraphicFramePr>
        <p:xfrm>
          <a:off x="4701672" y="4570612"/>
          <a:ext cx="1699128" cy="1354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888840" progId="Equation.DSMT4">
                  <p:embed/>
                </p:oleObj>
              </mc:Choice>
              <mc:Fallback>
                <p:oleObj name="Equation" r:id="rId14" imgW="12315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672" y="4570612"/>
                        <a:ext cx="1699128" cy="1354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右大括号 42"/>
          <p:cNvSpPr/>
          <p:nvPr/>
        </p:nvSpPr>
        <p:spPr>
          <a:xfrm>
            <a:off x="6396965" y="4693285"/>
            <a:ext cx="247650" cy="1028835"/>
          </a:xfrm>
          <a:prstGeom prst="rightBrace">
            <a:avLst>
              <a:gd name="adj1" fmla="val 5193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480831"/>
              </p:ext>
            </p:extLst>
          </p:nvPr>
        </p:nvGraphicFramePr>
        <p:xfrm>
          <a:off x="6988175" y="4696460"/>
          <a:ext cx="12096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36560" imgH="241200" progId="Equation.DSMT4">
                  <p:embed/>
                </p:oleObj>
              </mc:Choice>
              <mc:Fallback>
                <p:oleObj name="Equation" r:id="rId16" imgW="73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5" y="4696460"/>
                        <a:ext cx="12096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108007"/>
              </p:ext>
            </p:extLst>
          </p:nvPr>
        </p:nvGraphicFramePr>
        <p:xfrm>
          <a:off x="6945313" y="5294948"/>
          <a:ext cx="21129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98320" imgH="253800" progId="Equation.DSMT4">
                  <p:embed/>
                </p:oleObj>
              </mc:Choice>
              <mc:Fallback>
                <p:oleObj name="Equation" r:id="rId18" imgW="1498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45313" y="5294948"/>
                        <a:ext cx="2112962" cy="35877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2017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698301"/>
              </p:ext>
            </p:extLst>
          </p:nvPr>
        </p:nvGraphicFramePr>
        <p:xfrm>
          <a:off x="4550489" y="943797"/>
          <a:ext cx="1027183" cy="384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241200" progId="Equation.DSMT4">
                  <p:embed/>
                </p:oleObj>
              </mc:Choice>
              <mc:Fallback>
                <p:oleObj name="Equation" r:id="rId2" imgW="711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489" y="943797"/>
                        <a:ext cx="1027183" cy="384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062377"/>
              </p:ext>
            </p:extLst>
          </p:nvPr>
        </p:nvGraphicFramePr>
        <p:xfrm>
          <a:off x="4564777" y="1529584"/>
          <a:ext cx="2637430" cy="605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777" y="1529584"/>
                        <a:ext cx="2637430" cy="605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10973"/>
              </p:ext>
            </p:extLst>
          </p:nvPr>
        </p:nvGraphicFramePr>
        <p:xfrm>
          <a:off x="1075451" y="1357506"/>
          <a:ext cx="1218325" cy="68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31640" progId="Equation.DSMT4">
                  <p:embed/>
                </p:oleObj>
              </mc:Choice>
              <mc:Fallback>
                <p:oleObj name="Equation" r:id="rId6" imgW="850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451" y="1357506"/>
                        <a:ext cx="1218325" cy="683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2820" y="796159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5679" y="44662"/>
            <a:ext cx="508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TEG-updated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00764"/>
              </p:ext>
            </p:extLst>
          </p:nvPr>
        </p:nvGraphicFramePr>
        <p:xfrm>
          <a:off x="614919" y="2870585"/>
          <a:ext cx="2133600" cy="1278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990360" progId="Equation.DSMT4">
                  <p:embed/>
                </p:oleObj>
              </mc:Choice>
              <mc:Fallback>
                <p:oleObj name="Equation" r:id="rId8" imgW="165096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4919" y="2870585"/>
                        <a:ext cx="2133600" cy="1278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10119" y="2413385"/>
            <a:ext cx="129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 m=R</a:t>
            </a:r>
            <a:r>
              <a:rPr lang="en-US" altLang="zh-CN" baseline="-25000" dirty="0"/>
              <a:t>L</a:t>
            </a:r>
            <a:r>
              <a:rPr lang="en-US" altLang="zh-CN" dirty="0"/>
              <a:t>/R 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262958"/>
              </p:ext>
            </p:extLst>
          </p:nvPr>
        </p:nvGraphicFramePr>
        <p:xfrm>
          <a:off x="5980826" y="796160"/>
          <a:ext cx="1195501" cy="597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57200" progId="Equation.DSMT4">
                  <p:embed/>
                </p:oleObj>
              </mc:Choice>
              <mc:Fallback>
                <p:oleObj name="Equation" r:id="rId10" imgW="914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826" y="796160"/>
                        <a:ext cx="1195501" cy="597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064996"/>
              </p:ext>
            </p:extLst>
          </p:nvPr>
        </p:nvGraphicFramePr>
        <p:xfrm>
          <a:off x="3483794" y="2355522"/>
          <a:ext cx="3315133" cy="106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04960" imgH="1015920" progId="Equation.DSMT4">
                  <p:embed/>
                </p:oleObj>
              </mc:Choice>
              <mc:Fallback>
                <p:oleObj name="Equation" r:id="rId12" imgW="35049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794" y="2355522"/>
                        <a:ext cx="3315133" cy="1065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431063"/>
              </p:ext>
            </p:extLst>
          </p:nvPr>
        </p:nvGraphicFramePr>
        <p:xfrm>
          <a:off x="3557157" y="3433907"/>
          <a:ext cx="2722874" cy="80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520" imgH="634680" progId="Equation.DSMT4">
                  <p:embed/>
                </p:oleObj>
              </mc:Choice>
              <mc:Fallback>
                <p:oleObj name="Equation" r:id="rId14" imgW="238752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157" y="3433907"/>
                        <a:ext cx="2722874" cy="80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474759"/>
              </p:ext>
            </p:extLst>
          </p:nvPr>
        </p:nvGraphicFramePr>
        <p:xfrm>
          <a:off x="1093703" y="4694605"/>
          <a:ext cx="6889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400" imgH="393480" progId="Equation.DSMT4">
                  <p:embed/>
                </p:oleObj>
              </mc:Choice>
              <mc:Fallback>
                <p:oleObj name="Equation" r:id="rId16" imgW="482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03" y="4694605"/>
                        <a:ext cx="6889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082458"/>
              </p:ext>
            </p:extLst>
          </p:nvPr>
        </p:nvGraphicFramePr>
        <p:xfrm>
          <a:off x="3051468" y="4648644"/>
          <a:ext cx="15763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545760" progId="Equation.DSMT4">
                  <p:embed/>
                </p:oleObj>
              </mc:Choice>
              <mc:Fallback>
                <p:oleObj name="Equation" r:id="rId18" imgW="11048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468" y="4648644"/>
                        <a:ext cx="15763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圆角矩形 23"/>
          <p:cNvSpPr/>
          <p:nvPr/>
        </p:nvSpPr>
        <p:spPr>
          <a:xfrm>
            <a:off x="310119" y="2146956"/>
            <a:ext cx="8359428" cy="2170711"/>
          </a:xfrm>
          <a:prstGeom prst="roundRect">
            <a:avLst>
              <a:gd name="adj" fmla="val 7181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81699"/>
              </p:ext>
            </p:extLst>
          </p:nvPr>
        </p:nvGraphicFramePr>
        <p:xfrm>
          <a:off x="5471333" y="4592123"/>
          <a:ext cx="2349092" cy="989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03240" imgH="685800" progId="Equation.DSMT4">
                  <p:embed/>
                </p:oleObj>
              </mc:Choice>
              <mc:Fallback>
                <p:oleObj name="Equation" r:id="rId20" imgW="18032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333" y="4592123"/>
                        <a:ext cx="2349092" cy="989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40369"/>
              </p:ext>
            </p:extLst>
          </p:nvPr>
        </p:nvGraphicFramePr>
        <p:xfrm>
          <a:off x="7572494" y="3512025"/>
          <a:ext cx="6080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33160" imgH="419040" progId="Equation.DSMT4">
                  <p:embed/>
                </p:oleObj>
              </mc:Choice>
              <mc:Fallback>
                <p:oleObj name="Equation" r:id="rId22" imgW="533160" imgH="41904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494" y="3512025"/>
                        <a:ext cx="608013" cy="530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右箭头 2"/>
          <p:cNvSpPr/>
          <p:nvPr/>
        </p:nvSpPr>
        <p:spPr>
          <a:xfrm>
            <a:off x="2070340" y="4812726"/>
            <a:ext cx="491706" cy="34505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4698521" y="4812726"/>
            <a:ext cx="491706" cy="34505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6508" y="5681577"/>
            <a:ext cx="8761283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Home work</a:t>
            </a:r>
            <a:r>
              <a:rPr lang="zh-CN" altLang="en-US" dirty="0"/>
              <a:t>： </a:t>
            </a:r>
            <a:r>
              <a:rPr lang="en-US" altLang="zh-CN" dirty="0"/>
              <a:t>finishing the derivation of </a:t>
            </a:r>
            <a:r>
              <a:rPr lang="el-GR" altLang="zh-CN" dirty="0"/>
              <a:t>η</a:t>
            </a:r>
            <a:r>
              <a:rPr lang="en-US" altLang="zh-CN" baseline="-25000" dirty="0"/>
              <a:t>max </a:t>
            </a:r>
            <a:r>
              <a:rPr lang="en-US" altLang="zh-CN" dirty="0"/>
              <a:t>for a thermoelectric generator, and thinking about whether the Joule heat term in the Qc could be less than ½ I</a:t>
            </a:r>
            <a:r>
              <a:rPr lang="en-US" altLang="zh-CN" baseline="30000" dirty="0"/>
              <a:t>2</a:t>
            </a:r>
            <a:r>
              <a:rPr lang="en-US" altLang="zh-CN" dirty="0"/>
              <a:t>R, </a:t>
            </a:r>
          </a:p>
          <a:p>
            <a:r>
              <a:rPr lang="en-US" altLang="zh-CN" dirty="0"/>
              <a:t>if possible how to achieve it, if not why?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97294" y="3047645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Figure of merit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45830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423" y="1007737"/>
            <a:ext cx="1477628" cy="6844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</p:pic>
      <p:pic>
        <p:nvPicPr>
          <p:cNvPr id="27" name="Picture 7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8829" flipH="1" flipV="1">
            <a:off x="1840921" y="3319278"/>
            <a:ext cx="514000" cy="718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901" y="3951134"/>
            <a:ext cx="1477628" cy="6844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155751" y="140621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TEC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66530" y="2122202"/>
            <a:ext cx="2053728" cy="23911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066530" y="2361313"/>
            <a:ext cx="716287" cy="1242848"/>
          </a:xfrm>
          <a:prstGeom prst="roundRect">
            <a:avLst>
              <a:gd name="adj" fmla="val 5662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430517" y="2381020"/>
            <a:ext cx="689741" cy="1242848"/>
          </a:xfrm>
          <a:prstGeom prst="roundRect">
            <a:avLst>
              <a:gd name="adj" fmla="val 66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63617" y="3598907"/>
            <a:ext cx="1219200" cy="23911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209800" y="503299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271426" y="27980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</a:t>
            </a:r>
            <a:endParaRPr lang="zh-CN" altLang="en-US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2622140" y="281777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n</a:t>
            </a:r>
            <a:endParaRPr lang="zh-CN" altLang="en-US" i="1" dirty="0"/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67912" flipV="1">
            <a:off x="1775515" y="1595323"/>
            <a:ext cx="393391" cy="64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1429055" y="3994716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r>
              <a:rPr lang="en-US" altLang="zh-CN" baseline="-25000" dirty="0"/>
              <a:t>c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253459" y="1486645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Q</a:t>
            </a:r>
            <a:r>
              <a:rPr lang="en-US" altLang="zh-CN" baseline="-25000" dirty="0" err="1"/>
              <a:t>h</a:t>
            </a:r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731505" y="4824042"/>
            <a:ext cx="57092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4222" y="453211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I</a:t>
            </a:r>
            <a:endParaRPr lang="zh-CN" altLang="en-US" i="1" dirty="0"/>
          </a:p>
        </p:txBody>
      </p:sp>
      <p:sp>
        <p:nvSpPr>
          <p:cNvPr id="2" name="任意多边形 1"/>
          <p:cNvSpPr/>
          <p:nvPr/>
        </p:nvSpPr>
        <p:spPr>
          <a:xfrm>
            <a:off x="238125" y="3712831"/>
            <a:ext cx="1685925" cy="1257300"/>
          </a:xfrm>
          <a:custGeom>
            <a:avLst/>
            <a:gdLst>
              <a:gd name="connsiteX0" fmla="*/ 314325 w 1685925"/>
              <a:gd name="connsiteY0" fmla="*/ 0 h 1257300"/>
              <a:gd name="connsiteX1" fmla="*/ 314325 w 1685925"/>
              <a:gd name="connsiteY1" fmla="*/ 0 h 1257300"/>
              <a:gd name="connsiteX2" fmla="*/ 19050 w 1685925"/>
              <a:gd name="connsiteY2" fmla="*/ 9525 h 1257300"/>
              <a:gd name="connsiteX3" fmla="*/ 0 w 1685925"/>
              <a:gd name="connsiteY3" fmla="*/ 1257300 h 1257300"/>
              <a:gd name="connsiteX4" fmla="*/ 1685925 w 1685925"/>
              <a:gd name="connsiteY4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925" h="1257300">
                <a:moveTo>
                  <a:pt x="314325" y="0"/>
                </a:moveTo>
                <a:lnTo>
                  <a:pt x="314325" y="0"/>
                </a:lnTo>
                <a:lnTo>
                  <a:pt x="19050" y="9525"/>
                </a:lnTo>
                <a:lnTo>
                  <a:pt x="0" y="1257300"/>
                </a:lnTo>
                <a:lnTo>
                  <a:pt x="1685925" y="12573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flipH="1">
            <a:off x="2124075" y="3789031"/>
            <a:ext cx="1885950" cy="1181100"/>
          </a:xfrm>
          <a:custGeom>
            <a:avLst/>
            <a:gdLst>
              <a:gd name="connsiteX0" fmla="*/ 314325 w 1685925"/>
              <a:gd name="connsiteY0" fmla="*/ 0 h 1257300"/>
              <a:gd name="connsiteX1" fmla="*/ 314325 w 1685925"/>
              <a:gd name="connsiteY1" fmla="*/ 0 h 1257300"/>
              <a:gd name="connsiteX2" fmla="*/ 19050 w 1685925"/>
              <a:gd name="connsiteY2" fmla="*/ 9525 h 1257300"/>
              <a:gd name="connsiteX3" fmla="*/ 0 w 1685925"/>
              <a:gd name="connsiteY3" fmla="*/ 1257300 h 1257300"/>
              <a:gd name="connsiteX4" fmla="*/ 1685925 w 1685925"/>
              <a:gd name="connsiteY4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925" h="1257300">
                <a:moveTo>
                  <a:pt x="314325" y="0"/>
                </a:moveTo>
                <a:lnTo>
                  <a:pt x="314325" y="0"/>
                </a:lnTo>
                <a:lnTo>
                  <a:pt x="19050" y="9525"/>
                </a:lnTo>
                <a:lnTo>
                  <a:pt x="0" y="1257300"/>
                </a:lnTo>
                <a:lnTo>
                  <a:pt x="1685925" y="12573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1928234" y="4783872"/>
            <a:ext cx="0" cy="3316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124075" y="4853071"/>
            <a:ext cx="0" cy="1932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2362200" y="4801763"/>
            <a:ext cx="250909" cy="3074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053404" y="4032449"/>
            <a:ext cx="965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Refrigerator </a:t>
            </a:r>
          </a:p>
          <a:p>
            <a:pPr algn="ctr"/>
            <a:r>
              <a:rPr lang="en-US" altLang="zh-CN" sz="1200" dirty="0"/>
              <a:t>Space, </a:t>
            </a:r>
            <a:r>
              <a:rPr lang="en-US" altLang="zh-CN" sz="1200" dirty="0" err="1"/>
              <a:t>Tc</a:t>
            </a:r>
            <a:endParaRPr lang="zh-CN" alt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782817" y="1119149"/>
            <a:ext cx="1466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Warm</a:t>
            </a:r>
          </a:p>
          <a:p>
            <a:pPr algn="ctr"/>
            <a:r>
              <a:rPr lang="en-US" altLang="zh-CN" sz="1200" dirty="0"/>
              <a:t>Environment, </a:t>
            </a:r>
            <a:r>
              <a:rPr lang="en-US" altLang="zh-CN" sz="1200" dirty="0" err="1"/>
              <a:t>Th</a:t>
            </a:r>
            <a:endParaRPr lang="zh-CN" altLang="en-US" sz="1200" dirty="0"/>
          </a:p>
        </p:txBody>
      </p:sp>
      <p:sp>
        <p:nvSpPr>
          <p:cNvPr id="48" name="圆角矩形 47"/>
          <p:cNvSpPr/>
          <p:nvPr/>
        </p:nvSpPr>
        <p:spPr>
          <a:xfrm>
            <a:off x="152400" y="5490191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09780" y="5718791"/>
            <a:ext cx="197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COP of TEC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00888"/>
              </p:ext>
            </p:extLst>
          </p:nvPr>
        </p:nvGraphicFramePr>
        <p:xfrm>
          <a:off x="2665413" y="5510829"/>
          <a:ext cx="9683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393480" progId="Equation.DSMT4">
                  <p:embed/>
                </p:oleObj>
              </mc:Choice>
              <mc:Fallback>
                <p:oleObj name="Equation" r:id="rId4" imgW="482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5510829"/>
                        <a:ext cx="9683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105075"/>
              </p:ext>
            </p:extLst>
          </p:nvPr>
        </p:nvGraphicFramePr>
        <p:xfrm>
          <a:off x="4223649" y="1213813"/>
          <a:ext cx="2699229" cy="52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649" y="1213813"/>
                        <a:ext cx="2699229" cy="52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95667"/>
              </p:ext>
            </p:extLst>
          </p:nvPr>
        </p:nvGraphicFramePr>
        <p:xfrm>
          <a:off x="4243441" y="2356748"/>
          <a:ext cx="3214275" cy="73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393480" progId="Equation.DSMT4">
                  <p:embed/>
                </p:oleObj>
              </mc:Choice>
              <mc:Fallback>
                <p:oleObj name="Equation" r:id="rId8" imgW="1892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441" y="2356748"/>
                        <a:ext cx="3214275" cy="737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74662"/>
              </p:ext>
            </p:extLst>
          </p:nvPr>
        </p:nvGraphicFramePr>
        <p:xfrm>
          <a:off x="4242430" y="1740196"/>
          <a:ext cx="2887482" cy="672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393480" progId="Equation.DSMT4">
                  <p:embed/>
                </p:oleObj>
              </mc:Choice>
              <mc:Fallback>
                <p:oleObj name="Equation" r:id="rId10" imgW="1866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430" y="1740196"/>
                        <a:ext cx="2887482" cy="672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073165"/>
              </p:ext>
            </p:extLst>
          </p:nvPr>
        </p:nvGraphicFramePr>
        <p:xfrm>
          <a:off x="4502150" y="3444721"/>
          <a:ext cx="36988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280" imgH="609480" progId="Equation.DSMT4">
                  <p:embed/>
                </p:oleObj>
              </mc:Choice>
              <mc:Fallback>
                <p:oleObj name="Equation" r:id="rId12" imgW="24382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444721"/>
                        <a:ext cx="36988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726974"/>
              </p:ext>
            </p:extLst>
          </p:nvPr>
        </p:nvGraphicFramePr>
        <p:xfrm>
          <a:off x="5137485" y="555547"/>
          <a:ext cx="16621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28600" progId="Equation.DSMT4">
                  <p:embed/>
                </p:oleObj>
              </mc:Choice>
              <mc:Fallback>
                <p:oleObj name="Equation" r:id="rId14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485" y="555547"/>
                        <a:ext cx="16621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圆角矩形 56"/>
          <p:cNvSpPr/>
          <p:nvPr/>
        </p:nvSpPr>
        <p:spPr>
          <a:xfrm>
            <a:off x="4010025" y="1119149"/>
            <a:ext cx="4191000" cy="1964119"/>
          </a:xfrm>
          <a:prstGeom prst="roundRect">
            <a:avLst>
              <a:gd name="adj" fmla="val 854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2673"/>
              </p:ext>
            </p:extLst>
          </p:nvPr>
        </p:nvGraphicFramePr>
        <p:xfrm>
          <a:off x="4520241" y="4682700"/>
          <a:ext cx="3302000" cy="138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90640" imgH="685800" progId="Equation.DSMT4">
                  <p:embed/>
                </p:oleObj>
              </mc:Choice>
              <mc:Fallback>
                <p:oleObj name="Equation" r:id="rId16" imgW="17906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241" y="4682700"/>
                        <a:ext cx="3302000" cy="1382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圆角矩形 35"/>
          <p:cNvSpPr/>
          <p:nvPr/>
        </p:nvSpPr>
        <p:spPr>
          <a:xfrm>
            <a:off x="2443259" y="3604847"/>
            <a:ext cx="1219200" cy="23911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41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418268"/>
              </p:ext>
            </p:extLst>
          </p:nvPr>
        </p:nvGraphicFramePr>
        <p:xfrm>
          <a:off x="2217049" y="1958879"/>
          <a:ext cx="2699229" cy="52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241200" progId="Equation.DSMT4">
                  <p:embed/>
                </p:oleObj>
              </mc:Choice>
              <mc:Fallback>
                <p:oleObj name="Equation" r:id="rId2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049" y="1958879"/>
                        <a:ext cx="2699229" cy="52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672702"/>
              </p:ext>
            </p:extLst>
          </p:nvPr>
        </p:nvGraphicFramePr>
        <p:xfrm>
          <a:off x="2236841" y="3101814"/>
          <a:ext cx="3214275" cy="73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841" y="3101814"/>
                        <a:ext cx="3214275" cy="737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798454"/>
              </p:ext>
            </p:extLst>
          </p:nvPr>
        </p:nvGraphicFramePr>
        <p:xfrm>
          <a:off x="2235830" y="2485262"/>
          <a:ext cx="2887482" cy="672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393480" progId="Equation.DSMT4">
                  <p:embed/>
                </p:oleObj>
              </mc:Choice>
              <mc:Fallback>
                <p:oleObj name="Equation" r:id="rId6" imgW="1866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830" y="2485262"/>
                        <a:ext cx="2887482" cy="672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2003425" y="1864215"/>
            <a:ext cx="4191000" cy="1964119"/>
          </a:xfrm>
          <a:prstGeom prst="roundRect">
            <a:avLst>
              <a:gd name="adj" fmla="val 854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0" y="373610"/>
            <a:ext cx="2497666" cy="9144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Open Question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371600" y="4685518"/>
            <a:ext cx="565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assumption of ½ I</a:t>
            </a:r>
            <a:r>
              <a:rPr lang="en-US" altLang="zh-CN" baseline="30000" dirty="0"/>
              <a:t>2</a:t>
            </a:r>
            <a:r>
              <a:rPr lang="en-US" altLang="zh-CN" dirty="0"/>
              <a:t>R is reasonable in real case?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608320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2917</TotalTime>
  <Words>874</Words>
  <Application>Microsoft Office PowerPoint</Application>
  <PresentationFormat>全屏显示(4:3)</PresentationFormat>
  <Paragraphs>183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 Unicode MS</vt:lpstr>
      <vt:lpstr>等线</vt:lpstr>
      <vt:lpstr>黑体</vt:lpstr>
      <vt:lpstr>华文仿宋</vt:lpstr>
      <vt:lpstr>Arial</vt:lpstr>
      <vt:lpstr>Calibri</vt:lpstr>
      <vt:lpstr>Symbol</vt:lpstr>
      <vt:lpstr>Times New Roman</vt:lpstr>
      <vt:lpstr>Wingdings</vt:lpstr>
      <vt:lpstr>Master Board</vt:lpstr>
      <vt:lpstr>Equation</vt:lpstr>
      <vt:lpstr>PowerPoint 演示文稿</vt:lpstr>
      <vt:lpstr>11. Refrigeration Cycles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12. Silent power generator and refrigerator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Liu WS</cp:lastModifiedBy>
  <cp:revision>176</cp:revision>
  <cp:lastPrinted>2019-09-26T13:58:03Z</cp:lastPrinted>
  <dcterms:created xsi:type="dcterms:W3CDTF">2019-02-07T07:31:12Z</dcterms:created>
  <dcterms:modified xsi:type="dcterms:W3CDTF">2022-09-05T02:48:41Z</dcterms:modified>
</cp:coreProperties>
</file>