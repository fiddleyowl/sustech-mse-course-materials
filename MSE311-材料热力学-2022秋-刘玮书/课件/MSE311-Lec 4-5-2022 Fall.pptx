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5" r:id="rId1"/>
  </p:sldMasterIdLst>
  <p:notesMasterIdLst>
    <p:notesMasterId r:id="rId71"/>
  </p:notesMasterIdLst>
  <p:handoutMasterIdLst>
    <p:handoutMasterId r:id="rId72"/>
  </p:handoutMasterIdLst>
  <p:sldIdLst>
    <p:sldId id="430" r:id="rId2"/>
    <p:sldId id="485" r:id="rId3"/>
    <p:sldId id="483" r:id="rId4"/>
    <p:sldId id="481" r:id="rId5"/>
    <p:sldId id="482" r:id="rId6"/>
    <p:sldId id="486" r:id="rId7"/>
    <p:sldId id="389" r:id="rId8"/>
    <p:sldId id="392" r:id="rId9"/>
    <p:sldId id="393" r:id="rId10"/>
    <p:sldId id="398" r:id="rId11"/>
    <p:sldId id="395" r:id="rId12"/>
    <p:sldId id="396" r:id="rId13"/>
    <p:sldId id="397" r:id="rId14"/>
    <p:sldId id="399" r:id="rId15"/>
    <p:sldId id="400" r:id="rId16"/>
    <p:sldId id="401" r:id="rId17"/>
    <p:sldId id="402" r:id="rId18"/>
    <p:sldId id="403" r:id="rId19"/>
    <p:sldId id="404" r:id="rId20"/>
    <p:sldId id="405" r:id="rId21"/>
    <p:sldId id="406" r:id="rId22"/>
    <p:sldId id="407" r:id="rId23"/>
    <p:sldId id="408" r:id="rId24"/>
    <p:sldId id="487" r:id="rId25"/>
    <p:sldId id="492" r:id="rId26"/>
    <p:sldId id="488" r:id="rId27"/>
    <p:sldId id="409" r:id="rId28"/>
    <p:sldId id="410" r:id="rId29"/>
    <p:sldId id="411" r:id="rId30"/>
    <p:sldId id="451" r:id="rId31"/>
    <p:sldId id="412" r:id="rId32"/>
    <p:sldId id="413" r:id="rId33"/>
    <p:sldId id="414" r:id="rId34"/>
    <p:sldId id="491" r:id="rId35"/>
    <p:sldId id="415" r:id="rId36"/>
    <p:sldId id="428" r:id="rId37"/>
    <p:sldId id="456" r:id="rId38"/>
    <p:sldId id="457" r:id="rId39"/>
    <p:sldId id="427" r:id="rId40"/>
    <p:sldId id="417" r:id="rId41"/>
    <p:sldId id="416" r:id="rId42"/>
    <p:sldId id="419" r:id="rId43"/>
    <p:sldId id="493" r:id="rId44"/>
    <p:sldId id="494" r:id="rId45"/>
    <p:sldId id="454" r:id="rId46"/>
    <p:sldId id="499" r:id="rId47"/>
    <p:sldId id="418" r:id="rId48"/>
    <p:sldId id="498" r:id="rId49"/>
    <p:sldId id="501" r:id="rId50"/>
    <p:sldId id="452" r:id="rId51"/>
    <p:sldId id="453" r:id="rId52"/>
    <p:sldId id="465" r:id="rId53"/>
    <p:sldId id="476" r:id="rId54"/>
    <p:sldId id="477" r:id="rId55"/>
    <p:sldId id="458" r:id="rId56"/>
    <p:sldId id="469" r:id="rId57"/>
    <p:sldId id="470" r:id="rId58"/>
    <p:sldId id="459" r:id="rId59"/>
    <p:sldId id="460" r:id="rId60"/>
    <p:sldId id="478" r:id="rId61"/>
    <p:sldId id="479" r:id="rId62"/>
    <p:sldId id="461" r:id="rId63"/>
    <p:sldId id="462" r:id="rId64"/>
    <p:sldId id="466" r:id="rId65"/>
    <p:sldId id="467" r:id="rId66"/>
    <p:sldId id="468" r:id="rId67"/>
    <p:sldId id="502" r:id="rId68"/>
    <p:sldId id="503" r:id="rId69"/>
    <p:sldId id="471" r:id="rId70"/>
  </p:sldIdLst>
  <p:sldSz cx="9144000" cy="6858000" type="screen4x3"/>
  <p:notesSz cx="6669088" cy="9926638"/>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1014" autoAdjust="0"/>
  </p:normalViewPr>
  <p:slideViewPr>
    <p:cSldViewPr snapToGrid="0">
      <p:cViewPr varScale="1">
        <p:scale>
          <a:sx n="121" d="100"/>
          <a:sy n="121" d="100"/>
        </p:scale>
        <p:origin x="1236" y="114"/>
      </p:cViewPr>
      <p:guideLst>
        <p:guide orient="horz" pos="2160"/>
        <p:guide pos="2880"/>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889938" cy="49633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777607" y="0"/>
            <a:ext cx="2889938" cy="496332"/>
          </a:xfrm>
          <a:prstGeom prst="rect">
            <a:avLst/>
          </a:prstGeom>
        </p:spPr>
        <p:txBody>
          <a:bodyPr vert="horz" lIns="91440" tIns="45720" rIns="91440" bIns="45720" rtlCol="0"/>
          <a:lstStyle>
            <a:lvl1pPr algn="r">
              <a:defRPr sz="1200"/>
            </a:lvl1pPr>
          </a:lstStyle>
          <a:p>
            <a:fld id="{EB5D3F27-8D7A-487A-8609-EA46FF2841DE}" type="datetimeFigureOut">
              <a:rPr lang="zh-CN" altLang="en-US" smtClean="0"/>
              <a:t>2022/9/5</a:t>
            </a:fld>
            <a:endParaRPr lang="zh-CN" altLang="en-US"/>
          </a:p>
        </p:txBody>
      </p:sp>
      <p:sp>
        <p:nvSpPr>
          <p:cNvPr id="4" name="页脚占位符 3"/>
          <p:cNvSpPr>
            <a:spLocks noGrp="1"/>
          </p:cNvSpPr>
          <p:nvPr>
            <p:ph type="ftr" sz="quarter" idx="2"/>
          </p:nvPr>
        </p:nvSpPr>
        <p:spPr>
          <a:xfrm>
            <a:off x="0" y="9428583"/>
            <a:ext cx="2889938" cy="496332"/>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777607" y="9428583"/>
            <a:ext cx="2889938" cy="496332"/>
          </a:xfrm>
          <a:prstGeom prst="rect">
            <a:avLst/>
          </a:prstGeom>
        </p:spPr>
        <p:txBody>
          <a:bodyPr vert="horz" lIns="91440" tIns="45720" rIns="91440" bIns="45720" rtlCol="0" anchor="b"/>
          <a:lstStyle>
            <a:lvl1pPr algn="r">
              <a:defRPr sz="1200"/>
            </a:lvl1pPr>
          </a:lstStyle>
          <a:p>
            <a:fld id="{1C7B627D-0C40-43A3-AA96-00F1817DB0FA}" type="slidenum">
              <a:rPr lang="zh-CN" altLang="en-US" smtClean="0"/>
              <a:t>‹#›</a:t>
            </a:fld>
            <a:endParaRPr lang="zh-CN" altLang="en-US"/>
          </a:p>
        </p:txBody>
      </p:sp>
    </p:spTree>
    <p:extLst>
      <p:ext uri="{BB962C8B-B14F-4D97-AF65-F5344CB8AC3E}">
        <p14:creationId xmlns:p14="http://schemas.microsoft.com/office/powerpoint/2010/main" val="41861790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889938" cy="498056"/>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777607" y="0"/>
            <a:ext cx="2889938" cy="498056"/>
          </a:xfrm>
          <a:prstGeom prst="rect">
            <a:avLst/>
          </a:prstGeom>
        </p:spPr>
        <p:txBody>
          <a:bodyPr vert="horz" lIns="91440" tIns="45720" rIns="91440" bIns="45720" rtlCol="0"/>
          <a:lstStyle>
            <a:lvl1pPr algn="r">
              <a:defRPr sz="1200"/>
            </a:lvl1pPr>
          </a:lstStyle>
          <a:p>
            <a:fld id="{473A478E-90E3-4BE0-BF7B-B1AD7461FEF4}" type="datetimeFigureOut">
              <a:rPr lang="zh-CN" altLang="en-US" smtClean="0"/>
              <a:t>2022/9/5</a:t>
            </a:fld>
            <a:endParaRPr lang="zh-CN" altLang="en-US"/>
          </a:p>
        </p:txBody>
      </p:sp>
      <p:sp>
        <p:nvSpPr>
          <p:cNvPr id="4" name="幻灯片图像占位符 3"/>
          <p:cNvSpPr>
            <a:spLocks noGrp="1" noRot="1" noChangeAspect="1"/>
          </p:cNvSpPr>
          <p:nvPr>
            <p:ph type="sldImg" idx="2"/>
          </p:nvPr>
        </p:nvSpPr>
        <p:spPr>
          <a:xfrm>
            <a:off x="1101725" y="1241425"/>
            <a:ext cx="4465638" cy="33496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66909" y="4777194"/>
            <a:ext cx="5335270" cy="3908614"/>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28584"/>
            <a:ext cx="2889938" cy="498055"/>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777607" y="9428584"/>
            <a:ext cx="2889938" cy="498055"/>
          </a:xfrm>
          <a:prstGeom prst="rect">
            <a:avLst/>
          </a:prstGeom>
        </p:spPr>
        <p:txBody>
          <a:bodyPr vert="horz" lIns="91440" tIns="45720" rIns="91440" bIns="45720" rtlCol="0" anchor="b"/>
          <a:lstStyle>
            <a:lvl1pPr algn="r">
              <a:defRPr sz="1200"/>
            </a:lvl1pPr>
          </a:lstStyle>
          <a:p>
            <a:fld id="{7F497359-BD37-41E1-AF95-71E7D52515AE}" type="slidenum">
              <a:rPr lang="zh-CN" altLang="en-US" smtClean="0"/>
              <a:t>‹#›</a:t>
            </a:fld>
            <a:endParaRPr lang="zh-CN" altLang="en-US"/>
          </a:p>
        </p:txBody>
      </p:sp>
    </p:spTree>
    <p:extLst>
      <p:ext uri="{BB962C8B-B14F-4D97-AF65-F5344CB8AC3E}">
        <p14:creationId xmlns:p14="http://schemas.microsoft.com/office/powerpoint/2010/main" val="2815872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F497359-BD37-41E1-AF95-71E7D52515AE}" type="slidenum">
              <a:rPr lang="zh-CN" altLang="en-US" smtClean="0"/>
              <a:t>2</a:t>
            </a:fld>
            <a:endParaRPr lang="zh-CN" altLang="en-US"/>
          </a:p>
        </p:txBody>
      </p:sp>
    </p:spTree>
    <p:extLst>
      <p:ext uri="{BB962C8B-B14F-4D97-AF65-F5344CB8AC3E}">
        <p14:creationId xmlns:p14="http://schemas.microsoft.com/office/powerpoint/2010/main" val="35403416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F548533-9099-4785-AEC1-41A7C9214B7F}" type="slidenum">
              <a:rPr lang="en-US" smtClean="0"/>
              <a:pPr/>
              <a:t>12</a:t>
            </a:fld>
            <a:endParaRPr lang="en-US"/>
          </a:p>
        </p:txBody>
      </p:sp>
    </p:spTree>
    <p:extLst>
      <p:ext uri="{BB962C8B-B14F-4D97-AF65-F5344CB8AC3E}">
        <p14:creationId xmlns:p14="http://schemas.microsoft.com/office/powerpoint/2010/main" val="23588725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EDC3FE6-030B-47B0-986B-E4840661A7E4}" type="slidenum">
              <a:rPr lang="zh-CN" altLang="en-US" smtClean="0"/>
              <a:t>35</a:t>
            </a:fld>
            <a:endParaRPr lang="zh-CN" altLang="en-US"/>
          </a:p>
        </p:txBody>
      </p:sp>
    </p:spTree>
    <p:extLst>
      <p:ext uri="{BB962C8B-B14F-4D97-AF65-F5344CB8AC3E}">
        <p14:creationId xmlns:p14="http://schemas.microsoft.com/office/powerpoint/2010/main" val="29715976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F497359-BD37-41E1-AF95-71E7D52515AE}" type="slidenum">
              <a:rPr lang="zh-CN" altLang="en-US" smtClean="0"/>
              <a:t>48</a:t>
            </a:fld>
            <a:endParaRPr lang="zh-CN" altLang="en-US"/>
          </a:p>
        </p:txBody>
      </p:sp>
    </p:spTree>
    <p:extLst>
      <p:ext uri="{BB962C8B-B14F-4D97-AF65-F5344CB8AC3E}">
        <p14:creationId xmlns:p14="http://schemas.microsoft.com/office/powerpoint/2010/main" val="2301866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Figure</a:t>
            </a:r>
            <a:r>
              <a:rPr lang="en-US" altLang="zh-CN" baseline="0" dirty="0"/>
              <a:t> 10-2</a:t>
            </a:r>
            <a:endParaRPr lang="zh-CN" altLang="en-US" dirty="0"/>
          </a:p>
        </p:txBody>
      </p:sp>
      <p:sp>
        <p:nvSpPr>
          <p:cNvPr id="4" name="灯片编号占位符 3"/>
          <p:cNvSpPr>
            <a:spLocks noGrp="1"/>
          </p:cNvSpPr>
          <p:nvPr>
            <p:ph type="sldNum" sz="quarter" idx="10"/>
          </p:nvPr>
        </p:nvSpPr>
        <p:spPr/>
        <p:txBody>
          <a:bodyPr/>
          <a:lstStyle/>
          <a:p>
            <a:fld id="{CF548533-9099-4785-AEC1-41A7C9214B7F}" type="slidenum">
              <a:rPr lang="en-US" smtClean="0"/>
              <a:pPr/>
              <a:t>58</a:t>
            </a:fld>
            <a:endParaRPr lang="en-US"/>
          </a:p>
        </p:txBody>
      </p:sp>
    </p:spTree>
    <p:extLst>
      <p:ext uri="{BB962C8B-B14F-4D97-AF65-F5344CB8AC3E}">
        <p14:creationId xmlns:p14="http://schemas.microsoft.com/office/powerpoint/2010/main" val="178160209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pic>
        <p:nvPicPr>
          <p:cNvPr id="7" name="图片 9">
            <a:extLst>
              <a:ext uri="{FF2B5EF4-FFF2-40B4-BE49-F238E27FC236}">
                <a16:creationId xmlns:a16="http://schemas.microsoft.com/office/drawing/2014/main" id="{36484A2C-39A1-4BDC-B92B-AF52D58B0F5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363" y="5035550"/>
            <a:ext cx="1143000"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组合 11">
            <a:extLst>
              <a:ext uri="{FF2B5EF4-FFF2-40B4-BE49-F238E27FC236}">
                <a16:creationId xmlns:a16="http://schemas.microsoft.com/office/drawing/2014/main" id="{56818F0A-1B6A-44A9-9717-55DA1C8C1ED4}"/>
              </a:ext>
            </a:extLst>
          </p:cNvPr>
          <p:cNvGrpSpPr>
            <a:grpSpLocks/>
          </p:cNvGrpSpPr>
          <p:nvPr/>
        </p:nvGrpSpPr>
        <p:grpSpPr bwMode="auto">
          <a:xfrm>
            <a:off x="0" y="4741863"/>
            <a:ext cx="9043988" cy="142875"/>
            <a:chOff x="76199" y="1241003"/>
            <a:chExt cx="9044401" cy="144000"/>
          </a:xfrm>
        </p:grpSpPr>
        <p:sp>
          <p:nvSpPr>
            <p:cNvPr id="9" name="圆角矩形 11">
              <a:extLst>
                <a:ext uri="{FF2B5EF4-FFF2-40B4-BE49-F238E27FC236}">
                  <a16:creationId xmlns:a16="http://schemas.microsoft.com/office/drawing/2014/main" id="{2658448A-EA7B-40C8-99E5-5CDD7E4A2B5E}"/>
                </a:ext>
              </a:extLst>
            </p:cNvPr>
            <p:cNvSpPr/>
            <p:nvPr/>
          </p:nvSpPr>
          <p:spPr>
            <a:xfrm>
              <a:off x="76199" y="1241003"/>
              <a:ext cx="1487556"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0" name="圆角矩形 12">
              <a:extLst>
                <a:ext uri="{FF2B5EF4-FFF2-40B4-BE49-F238E27FC236}">
                  <a16:creationId xmlns:a16="http://schemas.microsoft.com/office/drawing/2014/main" id="{0F1BA9DE-48A6-4320-A3CB-CA0618F88CA6}"/>
                </a:ext>
              </a:extLst>
            </p:cNvPr>
            <p:cNvSpPr/>
            <p:nvPr/>
          </p:nvSpPr>
          <p:spPr>
            <a:xfrm>
              <a:off x="1630433" y="1241003"/>
              <a:ext cx="3103704"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1" name="圆角矩形 13">
              <a:extLst>
                <a:ext uri="{FF2B5EF4-FFF2-40B4-BE49-F238E27FC236}">
                  <a16:creationId xmlns:a16="http://schemas.microsoft.com/office/drawing/2014/main" id="{95532181-9B56-4565-85B0-26FAE243974A}"/>
                </a:ext>
              </a:extLst>
            </p:cNvPr>
            <p:cNvSpPr/>
            <p:nvPr/>
          </p:nvSpPr>
          <p:spPr>
            <a:xfrm>
              <a:off x="4800815" y="1241003"/>
              <a:ext cx="4319785"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12" name="图片 18">
            <a:extLst>
              <a:ext uri="{FF2B5EF4-FFF2-40B4-BE49-F238E27FC236}">
                <a16:creationId xmlns:a16="http://schemas.microsoft.com/office/drawing/2014/main" id="{C6EF10A3-5E14-4AC4-BEC5-788C4A6ABF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5035550"/>
            <a:ext cx="4313238"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图片 20">
            <a:extLst>
              <a:ext uri="{FF2B5EF4-FFF2-40B4-BE49-F238E27FC236}">
                <a16:creationId xmlns:a16="http://schemas.microsoft.com/office/drawing/2014/main" id="{E5368EC2-A439-426F-9848-8912DFFAC1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4325" y="5035550"/>
            <a:ext cx="3019425" cy="143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图片 3">
            <a:extLst>
              <a:ext uri="{FF2B5EF4-FFF2-40B4-BE49-F238E27FC236}">
                <a16:creationId xmlns:a16="http://schemas.microsoft.com/office/drawing/2014/main" id="{DB79EDD7-2DA9-41B8-BF25-43496C70960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172" t="5525" r="8671" b="8884"/>
          <a:stretch/>
        </p:blipFill>
        <p:spPr bwMode="auto">
          <a:xfrm>
            <a:off x="106362" y="56707"/>
            <a:ext cx="4366401" cy="101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图片 9">
            <a:extLst>
              <a:ext uri="{FF2B5EF4-FFF2-40B4-BE49-F238E27FC236}">
                <a16:creationId xmlns:a16="http://schemas.microsoft.com/office/drawing/2014/main" id="{AAD387B1-3103-410C-8A6F-61D494AEADD3}"/>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6363" y="5035550"/>
            <a:ext cx="1143000"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 name="组合 11">
            <a:extLst>
              <a:ext uri="{FF2B5EF4-FFF2-40B4-BE49-F238E27FC236}">
                <a16:creationId xmlns:a16="http://schemas.microsoft.com/office/drawing/2014/main" id="{EF2F75DC-2FDE-4EE3-8E34-8BABCC7179F1}"/>
              </a:ext>
            </a:extLst>
          </p:cNvPr>
          <p:cNvGrpSpPr>
            <a:grpSpLocks/>
          </p:cNvGrpSpPr>
          <p:nvPr userDrawn="1"/>
        </p:nvGrpSpPr>
        <p:grpSpPr bwMode="auto">
          <a:xfrm>
            <a:off x="0" y="4741863"/>
            <a:ext cx="9043988" cy="142875"/>
            <a:chOff x="76199" y="1241003"/>
            <a:chExt cx="9044401" cy="144000"/>
          </a:xfrm>
        </p:grpSpPr>
        <p:sp>
          <p:nvSpPr>
            <p:cNvPr id="17" name="圆角矩形 11">
              <a:extLst>
                <a:ext uri="{FF2B5EF4-FFF2-40B4-BE49-F238E27FC236}">
                  <a16:creationId xmlns:a16="http://schemas.microsoft.com/office/drawing/2014/main" id="{367FAD37-4817-483B-B455-9B9EAAFE7BD8}"/>
                </a:ext>
              </a:extLst>
            </p:cNvPr>
            <p:cNvSpPr/>
            <p:nvPr/>
          </p:nvSpPr>
          <p:spPr>
            <a:xfrm>
              <a:off x="76199" y="1241003"/>
              <a:ext cx="1487556"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8" name="圆角矩形 12">
              <a:extLst>
                <a:ext uri="{FF2B5EF4-FFF2-40B4-BE49-F238E27FC236}">
                  <a16:creationId xmlns:a16="http://schemas.microsoft.com/office/drawing/2014/main" id="{405E6F80-4ED3-42FA-B9E2-EC6BC04F1A02}"/>
                </a:ext>
              </a:extLst>
            </p:cNvPr>
            <p:cNvSpPr/>
            <p:nvPr/>
          </p:nvSpPr>
          <p:spPr>
            <a:xfrm>
              <a:off x="1630433" y="1241003"/>
              <a:ext cx="3103704"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9" name="圆角矩形 13">
              <a:extLst>
                <a:ext uri="{FF2B5EF4-FFF2-40B4-BE49-F238E27FC236}">
                  <a16:creationId xmlns:a16="http://schemas.microsoft.com/office/drawing/2014/main" id="{FFCB71A7-724E-4CF3-8659-D7FFA4994A95}"/>
                </a:ext>
              </a:extLst>
            </p:cNvPr>
            <p:cNvSpPr/>
            <p:nvPr/>
          </p:nvSpPr>
          <p:spPr>
            <a:xfrm>
              <a:off x="4800815" y="1241003"/>
              <a:ext cx="4319785"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20" name="图片 18">
            <a:extLst>
              <a:ext uri="{FF2B5EF4-FFF2-40B4-BE49-F238E27FC236}">
                <a16:creationId xmlns:a16="http://schemas.microsoft.com/office/drawing/2014/main" id="{B230B797-9AF8-41D8-B5AB-3C485238D843}"/>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724400" y="5035550"/>
            <a:ext cx="4313238"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图片 20">
            <a:extLst>
              <a:ext uri="{FF2B5EF4-FFF2-40B4-BE49-F238E27FC236}">
                <a16:creationId xmlns:a16="http://schemas.microsoft.com/office/drawing/2014/main" id="{32E52780-17F0-4F25-B262-66C011AE71D7}"/>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584325" y="5035550"/>
            <a:ext cx="3019425" cy="143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图片 3">
            <a:extLst>
              <a:ext uri="{FF2B5EF4-FFF2-40B4-BE49-F238E27FC236}">
                <a16:creationId xmlns:a16="http://schemas.microsoft.com/office/drawing/2014/main" id="{A6617996-BF24-4585-AE38-DD4FEC22395F}"/>
              </a:ext>
            </a:extLst>
          </p:cNvPr>
          <p:cNvPicPr>
            <a:picLocks noChangeAspect="1" noChangeArrowheads="1"/>
          </p:cNvPicPr>
          <p:nvPr userDrawn="1"/>
        </p:nvPicPr>
        <p:blipFill rotWithShape="1">
          <a:blip r:embed="rId5">
            <a:extLst>
              <a:ext uri="{28A0092B-C50C-407E-A947-70E740481C1C}">
                <a14:useLocalDpi xmlns:a14="http://schemas.microsoft.com/office/drawing/2010/main" val="0"/>
              </a:ext>
            </a:extLst>
          </a:blip>
          <a:srcRect l="2172" t="5525" r="8671" b="8884"/>
          <a:stretch/>
        </p:blipFill>
        <p:spPr bwMode="auto">
          <a:xfrm>
            <a:off x="106362" y="56707"/>
            <a:ext cx="4366401" cy="101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51452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23551FB5-644E-4958-A980-4C6B4A9B56E7}"/>
              </a:ext>
            </a:extLst>
          </p:cNvPr>
          <p:cNvGrpSpPr>
            <a:grpSpLocks/>
          </p:cNvGrpSpPr>
          <p:nvPr/>
        </p:nvGrpSpPr>
        <p:grpSpPr bwMode="auto">
          <a:xfrm>
            <a:off x="41722" y="6645423"/>
            <a:ext cx="9045575" cy="142875"/>
            <a:chOff x="76199" y="1241003"/>
            <a:chExt cx="9044401" cy="144000"/>
          </a:xfrm>
        </p:grpSpPr>
        <p:sp>
          <p:nvSpPr>
            <p:cNvPr id="8" name="圆角矩形 11">
              <a:extLst>
                <a:ext uri="{FF2B5EF4-FFF2-40B4-BE49-F238E27FC236}">
                  <a16:creationId xmlns:a16="http://schemas.microsoft.com/office/drawing/2014/main" id="{206B57DE-B2E2-477E-A47F-DA530482154A}"/>
                </a:ext>
              </a:extLst>
            </p:cNvPr>
            <p:cNvSpPr/>
            <p:nvPr/>
          </p:nvSpPr>
          <p:spPr>
            <a:xfrm>
              <a:off x="76199" y="1241003"/>
              <a:ext cx="1487294"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9" name="圆角矩形 12">
              <a:extLst>
                <a:ext uri="{FF2B5EF4-FFF2-40B4-BE49-F238E27FC236}">
                  <a16:creationId xmlns:a16="http://schemas.microsoft.com/office/drawing/2014/main" id="{38C3280C-D608-4B4D-8279-5808A7C72777}"/>
                </a:ext>
              </a:extLst>
            </p:cNvPr>
            <p:cNvSpPr/>
            <p:nvPr/>
          </p:nvSpPr>
          <p:spPr>
            <a:xfrm>
              <a:off x="1630159" y="1241003"/>
              <a:ext cx="3103160"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0" name="圆角矩形 13">
              <a:extLst>
                <a:ext uri="{FF2B5EF4-FFF2-40B4-BE49-F238E27FC236}">
                  <a16:creationId xmlns:a16="http://schemas.microsoft.com/office/drawing/2014/main" id="{43328620-830D-498B-AD47-8DBB81A79D3F}"/>
                </a:ext>
              </a:extLst>
            </p:cNvPr>
            <p:cNvSpPr/>
            <p:nvPr/>
          </p:nvSpPr>
          <p:spPr>
            <a:xfrm>
              <a:off x="4799986" y="1241003"/>
              <a:ext cx="4320614"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11" name="图片 3">
            <a:extLst>
              <a:ext uri="{FF2B5EF4-FFF2-40B4-BE49-F238E27FC236}">
                <a16:creationId xmlns:a16="http://schemas.microsoft.com/office/drawing/2014/main" id="{B0C51A74-65A9-4F9C-9DAC-5C9B5FEFDC4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9563" y="0"/>
            <a:ext cx="776287"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页脚占位符 2">
            <a:extLst>
              <a:ext uri="{FF2B5EF4-FFF2-40B4-BE49-F238E27FC236}">
                <a16:creationId xmlns:a16="http://schemas.microsoft.com/office/drawing/2014/main" id="{AC46ADAA-5CE7-436F-BDC5-5BE32504D749}"/>
              </a:ext>
            </a:extLst>
          </p:cNvPr>
          <p:cNvSpPr>
            <a:spLocks noGrp="1"/>
          </p:cNvSpPr>
          <p:nvPr>
            <p:ph type="ftr" sz="quarter" idx="11"/>
          </p:nvPr>
        </p:nvSpPr>
        <p:spPr>
          <a:xfrm>
            <a:off x="8606671" y="6174558"/>
            <a:ext cx="442918" cy="396090"/>
          </a:xfrm>
        </p:spPr>
        <p:txBody>
          <a:bodyPr/>
          <a:lstStyle/>
          <a:p>
            <a:r>
              <a:rPr lang="en-US" altLang="zh-CN"/>
              <a:t>2</a:t>
            </a:r>
            <a:endParaRPr lang="zh-CN" altLang="en-US" dirty="0"/>
          </a:p>
        </p:txBody>
      </p:sp>
      <p:grpSp>
        <p:nvGrpSpPr>
          <p:cNvPr id="12" name="组合 11">
            <a:extLst>
              <a:ext uri="{FF2B5EF4-FFF2-40B4-BE49-F238E27FC236}">
                <a16:creationId xmlns:a16="http://schemas.microsoft.com/office/drawing/2014/main" id="{DBE675BB-162D-4CCA-94D2-B314C0C6F644}"/>
              </a:ext>
            </a:extLst>
          </p:cNvPr>
          <p:cNvGrpSpPr>
            <a:grpSpLocks/>
          </p:cNvGrpSpPr>
          <p:nvPr userDrawn="1"/>
        </p:nvGrpSpPr>
        <p:grpSpPr bwMode="auto">
          <a:xfrm>
            <a:off x="41722" y="6645423"/>
            <a:ext cx="9045575" cy="142875"/>
            <a:chOff x="76199" y="1241003"/>
            <a:chExt cx="9044401" cy="144000"/>
          </a:xfrm>
        </p:grpSpPr>
        <p:sp>
          <p:nvSpPr>
            <p:cNvPr id="13" name="圆角矩形 11">
              <a:extLst>
                <a:ext uri="{FF2B5EF4-FFF2-40B4-BE49-F238E27FC236}">
                  <a16:creationId xmlns:a16="http://schemas.microsoft.com/office/drawing/2014/main" id="{8497BCD2-D048-4CC6-AA21-D749E9E85DCE}"/>
                </a:ext>
              </a:extLst>
            </p:cNvPr>
            <p:cNvSpPr/>
            <p:nvPr/>
          </p:nvSpPr>
          <p:spPr>
            <a:xfrm>
              <a:off x="76199" y="1241003"/>
              <a:ext cx="1487294"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4" name="圆角矩形 12">
              <a:extLst>
                <a:ext uri="{FF2B5EF4-FFF2-40B4-BE49-F238E27FC236}">
                  <a16:creationId xmlns:a16="http://schemas.microsoft.com/office/drawing/2014/main" id="{9C83145A-9A38-4389-BA55-B2DC124C7CCE}"/>
                </a:ext>
              </a:extLst>
            </p:cNvPr>
            <p:cNvSpPr/>
            <p:nvPr/>
          </p:nvSpPr>
          <p:spPr>
            <a:xfrm>
              <a:off x="1630159" y="1241003"/>
              <a:ext cx="3103160"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5" name="圆角矩形 13">
              <a:extLst>
                <a:ext uri="{FF2B5EF4-FFF2-40B4-BE49-F238E27FC236}">
                  <a16:creationId xmlns:a16="http://schemas.microsoft.com/office/drawing/2014/main" id="{5F30C916-99CD-41F6-B9F5-44A06301974D}"/>
                </a:ext>
              </a:extLst>
            </p:cNvPr>
            <p:cNvSpPr/>
            <p:nvPr/>
          </p:nvSpPr>
          <p:spPr>
            <a:xfrm>
              <a:off x="4799986" y="1241003"/>
              <a:ext cx="4320614"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16" name="图片 3">
            <a:extLst>
              <a:ext uri="{FF2B5EF4-FFF2-40B4-BE49-F238E27FC236}">
                <a16:creationId xmlns:a16="http://schemas.microsoft.com/office/drawing/2014/main" id="{408ADF0C-ACC1-4673-9FB1-66E00A81977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09563" y="0"/>
            <a:ext cx="776287"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265398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E6473A-FAF4-414C-9522-3C4BCFE2B205}"/>
              </a:ext>
            </a:extLst>
          </p:cNvPr>
          <p:cNvSpPr>
            <a:spLocks noGrp="1"/>
          </p:cNvSpPr>
          <p:nvPr>
            <p:ph type="title"/>
          </p:nvPr>
        </p:nvSpPr>
        <p:spPr>
          <a:xfrm>
            <a:off x="1014116" y="3100647"/>
            <a:ext cx="7886700" cy="867940"/>
          </a:xfrm>
        </p:spPr>
        <p:txBody>
          <a:bodyPr anchor="b"/>
          <a:lstStyle>
            <a:lvl1pPr>
              <a:defRPr sz="4500">
                <a:latin typeface="Arial Unicode MS" pitchFamily="34" charset="-122"/>
                <a:ea typeface="Arial Unicode MS" pitchFamily="34" charset="-122"/>
                <a:cs typeface="Arial Unicode MS" pitchFamily="34" charset="-122"/>
              </a:defRPr>
            </a:lvl1pPr>
          </a:lstStyle>
          <a:p>
            <a:r>
              <a:rPr lang="zh-CN" altLang="en-US" dirty="0"/>
              <a:t>单击此处编辑母版标题样式</a:t>
            </a:r>
          </a:p>
        </p:txBody>
      </p:sp>
      <p:sp>
        <p:nvSpPr>
          <p:cNvPr id="7" name="圆角矩形 5">
            <a:extLst>
              <a:ext uri="{FF2B5EF4-FFF2-40B4-BE49-F238E27FC236}">
                <a16:creationId xmlns:a16="http://schemas.microsoft.com/office/drawing/2014/main" id="{3BD87344-C6CA-4F87-9448-0B8B7FAF9E1B}"/>
              </a:ext>
            </a:extLst>
          </p:cNvPr>
          <p:cNvSpPr/>
          <p:nvPr userDrawn="1"/>
        </p:nvSpPr>
        <p:spPr>
          <a:xfrm>
            <a:off x="0" y="4044001"/>
            <a:ext cx="952500"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8" name="圆角矩形 6">
            <a:extLst>
              <a:ext uri="{FF2B5EF4-FFF2-40B4-BE49-F238E27FC236}">
                <a16:creationId xmlns:a16="http://schemas.microsoft.com/office/drawing/2014/main" id="{6DA4B6E9-D6DC-4952-865A-DA8EE6DB8245}"/>
              </a:ext>
            </a:extLst>
          </p:cNvPr>
          <p:cNvSpPr/>
          <p:nvPr userDrawn="1"/>
        </p:nvSpPr>
        <p:spPr>
          <a:xfrm>
            <a:off x="1014116" y="4044001"/>
            <a:ext cx="3643609" cy="14400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9" name="圆角矩形 7">
            <a:extLst>
              <a:ext uri="{FF2B5EF4-FFF2-40B4-BE49-F238E27FC236}">
                <a16:creationId xmlns:a16="http://schemas.microsoft.com/office/drawing/2014/main" id="{F7595CA0-CBC9-4927-B9FF-0B4BA5FB62ED}"/>
              </a:ext>
            </a:extLst>
          </p:cNvPr>
          <p:cNvSpPr/>
          <p:nvPr userDrawn="1"/>
        </p:nvSpPr>
        <p:spPr>
          <a:xfrm>
            <a:off x="4724400" y="4044001"/>
            <a:ext cx="4320000"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Tree>
    <p:extLst>
      <p:ext uri="{BB962C8B-B14F-4D97-AF65-F5344CB8AC3E}">
        <p14:creationId xmlns:p14="http://schemas.microsoft.com/office/powerpoint/2010/main" val="5101387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232448-0BA2-40E5-A2C0-FE19F5B0EFC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C981BA7-2F47-4ADB-915A-3DEA803B6CA4}"/>
              </a:ext>
            </a:extLst>
          </p:cNvPr>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9AE45C7A-E3DB-493E-9698-B006439AB31B}"/>
              </a:ext>
            </a:extLst>
          </p:cNvPr>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3CA42E52-6363-4A26-9F01-A62CE34E16AD}"/>
              </a:ext>
            </a:extLst>
          </p:cNvPr>
          <p:cNvSpPr>
            <a:spLocks noGrp="1"/>
          </p:cNvSpPr>
          <p:nvPr>
            <p:ph type="dt" sz="half" idx="10"/>
          </p:nvPr>
        </p:nvSpPr>
        <p:spPr/>
        <p:txBody>
          <a:bodyPr/>
          <a:lstStyle/>
          <a:p>
            <a:fld id="{B9B1AB40-DF97-4AB0-B63B-B6C2904246EB}" type="datetimeFigureOut">
              <a:rPr lang="zh-CN" altLang="en-US" smtClean="0"/>
              <a:t>2022/9/5</a:t>
            </a:fld>
            <a:endParaRPr lang="zh-CN" altLang="en-US"/>
          </a:p>
        </p:txBody>
      </p:sp>
      <p:sp>
        <p:nvSpPr>
          <p:cNvPr id="6" name="页脚占位符 5">
            <a:extLst>
              <a:ext uri="{FF2B5EF4-FFF2-40B4-BE49-F238E27FC236}">
                <a16:creationId xmlns:a16="http://schemas.microsoft.com/office/drawing/2014/main" id="{465B047E-2EC3-4418-B2C1-A69A897003F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5C945B0-B70D-4BF6-A6CF-ED8DAA8C8943}"/>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18696798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E450FD-26B7-480D-8261-CD4C51DD80D3}"/>
              </a:ext>
            </a:extLst>
          </p:cNvPr>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D464C6F2-EDC6-4263-A281-7872A6E3CF64}"/>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内容占位符 3">
            <a:extLst>
              <a:ext uri="{FF2B5EF4-FFF2-40B4-BE49-F238E27FC236}">
                <a16:creationId xmlns:a16="http://schemas.microsoft.com/office/drawing/2014/main" id="{5CD5D4B2-383D-449C-8900-FB1B3EB93CFF}"/>
              </a:ext>
            </a:extLst>
          </p:cNvPr>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87ABC02C-F6DC-4DAF-938D-195593E621D4}"/>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内容占位符 5">
            <a:extLst>
              <a:ext uri="{FF2B5EF4-FFF2-40B4-BE49-F238E27FC236}">
                <a16:creationId xmlns:a16="http://schemas.microsoft.com/office/drawing/2014/main" id="{BA408A11-7060-4D85-B243-5DD965556665}"/>
              </a:ext>
            </a:extLst>
          </p:cNvPr>
          <p:cNvSpPr>
            <a:spLocks noGrp="1"/>
          </p:cNvSpPr>
          <p:nvPr>
            <p:ph sz="quarter" idx="4"/>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DDFAAD3C-B42A-47A7-B768-611AFC7BEB6F}"/>
              </a:ext>
            </a:extLst>
          </p:cNvPr>
          <p:cNvSpPr>
            <a:spLocks noGrp="1"/>
          </p:cNvSpPr>
          <p:nvPr>
            <p:ph type="dt" sz="half" idx="10"/>
          </p:nvPr>
        </p:nvSpPr>
        <p:spPr/>
        <p:txBody>
          <a:bodyPr/>
          <a:lstStyle/>
          <a:p>
            <a:fld id="{B9B1AB40-DF97-4AB0-B63B-B6C2904246EB}" type="datetimeFigureOut">
              <a:rPr lang="zh-CN" altLang="en-US" smtClean="0"/>
              <a:t>2022/9/5</a:t>
            </a:fld>
            <a:endParaRPr lang="zh-CN" altLang="en-US"/>
          </a:p>
        </p:txBody>
      </p:sp>
      <p:sp>
        <p:nvSpPr>
          <p:cNvPr id="8" name="页脚占位符 7">
            <a:extLst>
              <a:ext uri="{FF2B5EF4-FFF2-40B4-BE49-F238E27FC236}">
                <a16:creationId xmlns:a16="http://schemas.microsoft.com/office/drawing/2014/main" id="{F1B5FF39-DD9B-4C57-A344-275219341F4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27BEA18A-253C-40CA-A957-3BA37B7A19C7}"/>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383929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75BCCD-B3FE-4D64-9C90-CF64C82B18FB}"/>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1C5B8F4-1CBB-4613-A7A2-350FF2B86D80}"/>
              </a:ext>
            </a:extLst>
          </p:cNvPr>
          <p:cNvSpPr>
            <a:spLocks noGrp="1"/>
          </p:cNvSpPr>
          <p:nvPr>
            <p:ph type="dt" sz="half" idx="10"/>
          </p:nvPr>
        </p:nvSpPr>
        <p:spPr/>
        <p:txBody>
          <a:bodyPr/>
          <a:lstStyle/>
          <a:p>
            <a:fld id="{B9B1AB40-DF97-4AB0-B63B-B6C2904246EB}" type="datetimeFigureOut">
              <a:rPr lang="zh-CN" altLang="en-US" smtClean="0"/>
              <a:t>2022/9/5</a:t>
            </a:fld>
            <a:endParaRPr lang="zh-CN" altLang="en-US"/>
          </a:p>
        </p:txBody>
      </p:sp>
      <p:sp>
        <p:nvSpPr>
          <p:cNvPr id="4" name="页脚占位符 3">
            <a:extLst>
              <a:ext uri="{FF2B5EF4-FFF2-40B4-BE49-F238E27FC236}">
                <a16:creationId xmlns:a16="http://schemas.microsoft.com/office/drawing/2014/main" id="{D7B22DBA-ADB6-459C-8DDD-B1702C76D87A}"/>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3D426E1B-8DFB-40A0-B0EA-1E9256D1BC74}"/>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2136122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2189721-9F85-4C93-AF25-890CD11FA42C}"/>
              </a:ext>
            </a:extLst>
          </p:cNvPr>
          <p:cNvSpPr>
            <a:spLocks noGrp="1"/>
          </p:cNvSpPr>
          <p:nvPr>
            <p:ph type="dt" sz="half" idx="10"/>
          </p:nvPr>
        </p:nvSpPr>
        <p:spPr/>
        <p:txBody>
          <a:bodyPr/>
          <a:lstStyle/>
          <a:p>
            <a:fld id="{B9B1AB40-DF97-4AB0-B63B-B6C2904246EB}" type="datetimeFigureOut">
              <a:rPr lang="zh-CN" altLang="en-US" smtClean="0"/>
              <a:t>2022/9/5</a:t>
            </a:fld>
            <a:endParaRPr lang="zh-CN" altLang="en-US"/>
          </a:p>
        </p:txBody>
      </p:sp>
      <p:sp>
        <p:nvSpPr>
          <p:cNvPr id="3" name="页脚占位符 2">
            <a:extLst>
              <a:ext uri="{FF2B5EF4-FFF2-40B4-BE49-F238E27FC236}">
                <a16:creationId xmlns:a16="http://schemas.microsoft.com/office/drawing/2014/main" id="{BE57016C-A313-4228-8D34-FC5C12BCC33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0EAED29-461C-427E-94B8-4F64E97E0564}"/>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3808515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0F51D1-5EA7-4401-99BA-1EC037C49421}"/>
              </a:ext>
            </a:extLst>
          </p:cNvPr>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a:extLst>
              <a:ext uri="{FF2B5EF4-FFF2-40B4-BE49-F238E27FC236}">
                <a16:creationId xmlns:a16="http://schemas.microsoft.com/office/drawing/2014/main" id="{74CF08B5-D317-4883-94CE-FAEEE05A6E64}"/>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486986A2-D743-430F-AA70-9B06B2C0F66F}"/>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a:extLst>
              <a:ext uri="{FF2B5EF4-FFF2-40B4-BE49-F238E27FC236}">
                <a16:creationId xmlns:a16="http://schemas.microsoft.com/office/drawing/2014/main" id="{18817CAD-5352-4EAF-B2E4-2B49B31E3EDC}"/>
              </a:ext>
            </a:extLst>
          </p:cNvPr>
          <p:cNvSpPr>
            <a:spLocks noGrp="1"/>
          </p:cNvSpPr>
          <p:nvPr>
            <p:ph type="dt" sz="half" idx="10"/>
          </p:nvPr>
        </p:nvSpPr>
        <p:spPr/>
        <p:txBody>
          <a:bodyPr/>
          <a:lstStyle/>
          <a:p>
            <a:fld id="{B9B1AB40-DF97-4AB0-B63B-B6C2904246EB}" type="datetimeFigureOut">
              <a:rPr lang="zh-CN" altLang="en-US" smtClean="0"/>
              <a:t>2022/9/5</a:t>
            </a:fld>
            <a:endParaRPr lang="zh-CN" altLang="en-US"/>
          </a:p>
        </p:txBody>
      </p:sp>
      <p:sp>
        <p:nvSpPr>
          <p:cNvPr id="6" name="页脚占位符 5">
            <a:extLst>
              <a:ext uri="{FF2B5EF4-FFF2-40B4-BE49-F238E27FC236}">
                <a16:creationId xmlns:a16="http://schemas.microsoft.com/office/drawing/2014/main" id="{71068CC4-251C-4854-9963-7DDB0C8959D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CB0C261-FF00-4B26-B51E-6D72F060403F}"/>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22544146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CCB7F6-3B15-4872-B555-7F1565B905D1}"/>
              </a:ext>
            </a:extLst>
          </p:cNvPr>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图片占位符 2">
            <a:extLst>
              <a:ext uri="{FF2B5EF4-FFF2-40B4-BE49-F238E27FC236}">
                <a16:creationId xmlns:a16="http://schemas.microsoft.com/office/drawing/2014/main" id="{CBFA923F-001E-4E54-AE2E-D70CAC715EBE}"/>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p>
        </p:txBody>
      </p:sp>
      <p:sp>
        <p:nvSpPr>
          <p:cNvPr id="4" name="文本占位符 3">
            <a:extLst>
              <a:ext uri="{FF2B5EF4-FFF2-40B4-BE49-F238E27FC236}">
                <a16:creationId xmlns:a16="http://schemas.microsoft.com/office/drawing/2014/main" id="{F8120E55-EACB-4D2C-973C-7AE05E56251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a:extLst>
              <a:ext uri="{FF2B5EF4-FFF2-40B4-BE49-F238E27FC236}">
                <a16:creationId xmlns:a16="http://schemas.microsoft.com/office/drawing/2014/main" id="{7C155047-D836-41BF-B4EC-6E058AC14225}"/>
              </a:ext>
            </a:extLst>
          </p:cNvPr>
          <p:cNvSpPr>
            <a:spLocks noGrp="1"/>
          </p:cNvSpPr>
          <p:nvPr>
            <p:ph type="dt" sz="half" idx="10"/>
          </p:nvPr>
        </p:nvSpPr>
        <p:spPr/>
        <p:txBody>
          <a:bodyPr/>
          <a:lstStyle/>
          <a:p>
            <a:fld id="{B9B1AB40-DF97-4AB0-B63B-B6C2904246EB}" type="datetimeFigureOut">
              <a:rPr lang="zh-CN" altLang="en-US" smtClean="0"/>
              <a:t>2022/9/5</a:t>
            </a:fld>
            <a:endParaRPr lang="zh-CN" altLang="en-US"/>
          </a:p>
        </p:txBody>
      </p:sp>
      <p:sp>
        <p:nvSpPr>
          <p:cNvPr id="6" name="页脚占位符 5">
            <a:extLst>
              <a:ext uri="{FF2B5EF4-FFF2-40B4-BE49-F238E27FC236}">
                <a16:creationId xmlns:a16="http://schemas.microsoft.com/office/drawing/2014/main" id="{ABEDD3A4-3A50-440F-A891-A798B3A6C1D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17A6A10-432E-4945-AF1E-64FDF90A2601}"/>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4044899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116CF1-CD97-4DBA-A96F-F883552B4FB6}"/>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399B747-8D5C-4895-A7EC-E7332E48E293}"/>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F87135EC-C807-4A0E-90F1-EE1D3601DEEA}"/>
              </a:ext>
            </a:extLst>
          </p:cNvPr>
          <p:cNvSpPr>
            <a:spLocks noGrp="1"/>
          </p:cNvSpPr>
          <p:nvPr>
            <p:ph type="dt" sz="half" idx="10"/>
          </p:nvPr>
        </p:nvSpPr>
        <p:spPr/>
        <p:txBody>
          <a:bodyPr/>
          <a:lstStyle/>
          <a:p>
            <a:fld id="{B9B1AB40-DF97-4AB0-B63B-B6C2904246EB}" type="datetimeFigureOut">
              <a:rPr lang="zh-CN" altLang="en-US" smtClean="0"/>
              <a:t>2022/9/5</a:t>
            </a:fld>
            <a:endParaRPr lang="zh-CN" altLang="en-US"/>
          </a:p>
        </p:txBody>
      </p:sp>
      <p:sp>
        <p:nvSpPr>
          <p:cNvPr id="5" name="页脚占位符 4">
            <a:extLst>
              <a:ext uri="{FF2B5EF4-FFF2-40B4-BE49-F238E27FC236}">
                <a16:creationId xmlns:a16="http://schemas.microsoft.com/office/drawing/2014/main" id="{FAD0FB47-2483-4992-8D35-B58CEC00DFA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7555DE4-AE2F-40B7-AF19-7220940C1185}"/>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4132220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20F266B-DA68-452A-BFC2-0DBF1351710D}"/>
              </a:ext>
            </a:extLst>
          </p:cNvPr>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DC26948-9D79-4503-B7E8-FB720785EE46}"/>
              </a:ext>
            </a:extLst>
          </p:cNvPr>
          <p:cNvSpPr>
            <a:spLocks noGrp="1"/>
          </p:cNvSpPr>
          <p:nvPr>
            <p:ph type="body" orient="vert" idx="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D6763795-09C4-4CE3-967D-39D8EED2D346}"/>
              </a:ext>
            </a:extLst>
          </p:cNvPr>
          <p:cNvSpPr>
            <a:spLocks noGrp="1"/>
          </p:cNvSpPr>
          <p:nvPr>
            <p:ph type="dt" sz="half" idx="10"/>
          </p:nvPr>
        </p:nvSpPr>
        <p:spPr/>
        <p:txBody>
          <a:bodyPr/>
          <a:lstStyle/>
          <a:p>
            <a:fld id="{B9B1AB40-DF97-4AB0-B63B-B6C2904246EB}" type="datetimeFigureOut">
              <a:rPr lang="zh-CN" altLang="en-US" smtClean="0"/>
              <a:t>2022/9/5</a:t>
            </a:fld>
            <a:endParaRPr lang="zh-CN" altLang="en-US"/>
          </a:p>
        </p:txBody>
      </p:sp>
      <p:sp>
        <p:nvSpPr>
          <p:cNvPr id="5" name="页脚占位符 4">
            <a:extLst>
              <a:ext uri="{FF2B5EF4-FFF2-40B4-BE49-F238E27FC236}">
                <a16:creationId xmlns:a16="http://schemas.microsoft.com/office/drawing/2014/main" id="{D292961E-4D31-4C00-8456-DA422BEC942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A04869D-578E-442B-AC17-5E714BDBD47B}"/>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7899983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pic>
        <p:nvPicPr>
          <p:cNvPr id="7" name="图片 9">
            <a:extLst>
              <a:ext uri="{FF2B5EF4-FFF2-40B4-BE49-F238E27FC236}">
                <a16:creationId xmlns:a16="http://schemas.microsoft.com/office/drawing/2014/main" id="{36484A2C-39A1-4BDC-B92B-AF52D58B0F55}"/>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6363" y="5035550"/>
            <a:ext cx="1143000"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组合 11">
            <a:extLst>
              <a:ext uri="{FF2B5EF4-FFF2-40B4-BE49-F238E27FC236}">
                <a16:creationId xmlns:a16="http://schemas.microsoft.com/office/drawing/2014/main" id="{56818F0A-1B6A-44A9-9717-55DA1C8C1ED4}"/>
              </a:ext>
            </a:extLst>
          </p:cNvPr>
          <p:cNvGrpSpPr>
            <a:grpSpLocks/>
          </p:cNvGrpSpPr>
          <p:nvPr userDrawn="1"/>
        </p:nvGrpSpPr>
        <p:grpSpPr bwMode="auto">
          <a:xfrm>
            <a:off x="0" y="4741863"/>
            <a:ext cx="9043988" cy="142875"/>
            <a:chOff x="76199" y="1241003"/>
            <a:chExt cx="9044401" cy="144000"/>
          </a:xfrm>
        </p:grpSpPr>
        <p:sp>
          <p:nvSpPr>
            <p:cNvPr id="9" name="圆角矩形 11">
              <a:extLst>
                <a:ext uri="{FF2B5EF4-FFF2-40B4-BE49-F238E27FC236}">
                  <a16:creationId xmlns:a16="http://schemas.microsoft.com/office/drawing/2014/main" id="{2658448A-EA7B-40C8-99E5-5CDD7E4A2B5E}"/>
                </a:ext>
              </a:extLst>
            </p:cNvPr>
            <p:cNvSpPr/>
            <p:nvPr/>
          </p:nvSpPr>
          <p:spPr>
            <a:xfrm>
              <a:off x="76199" y="1241003"/>
              <a:ext cx="1487556"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0" name="圆角矩形 12">
              <a:extLst>
                <a:ext uri="{FF2B5EF4-FFF2-40B4-BE49-F238E27FC236}">
                  <a16:creationId xmlns:a16="http://schemas.microsoft.com/office/drawing/2014/main" id="{0F1BA9DE-48A6-4320-A3CB-CA0618F88CA6}"/>
                </a:ext>
              </a:extLst>
            </p:cNvPr>
            <p:cNvSpPr/>
            <p:nvPr/>
          </p:nvSpPr>
          <p:spPr>
            <a:xfrm>
              <a:off x="1630433" y="1241003"/>
              <a:ext cx="3103704"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1" name="圆角矩形 13">
              <a:extLst>
                <a:ext uri="{FF2B5EF4-FFF2-40B4-BE49-F238E27FC236}">
                  <a16:creationId xmlns:a16="http://schemas.microsoft.com/office/drawing/2014/main" id="{95532181-9B56-4565-85B0-26FAE243974A}"/>
                </a:ext>
              </a:extLst>
            </p:cNvPr>
            <p:cNvSpPr/>
            <p:nvPr/>
          </p:nvSpPr>
          <p:spPr>
            <a:xfrm>
              <a:off x="4800815" y="1241003"/>
              <a:ext cx="4319785"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12" name="图片 18">
            <a:extLst>
              <a:ext uri="{FF2B5EF4-FFF2-40B4-BE49-F238E27FC236}">
                <a16:creationId xmlns:a16="http://schemas.microsoft.com/office/drawing/2014/main" id="{C6EF10A3-5E14-4AC4-BEC5-788C4A6ABF70}"/>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724400" y="5035550"/>
            <a:ext cx="4313238"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图片 20">
            <a:extLst>
              <a:ext uri="{FF2B5EF4-FFF2-40B4-BE49-F238E27FC236}">
                <a16:creationId xmlns:a16="http://schemas.microsoft.com/office/drawing/2014/main" id="{E5368EC2-A439-426F-9848-8912DFFAC14E}"/>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584325" y="5035550"/>
            <a:ext cx="3019425" cy="143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图片 3">
            <a:extLst>
              <a:ext uri="{FF2B5EF4-FFF2-40B4-BE49-F238E27FC236}">
                <a16:creationId xmlns:a16="http://schemas.microsoft.com/office/drawing/2014/main" id="{DB79EDD7-2DA9-41B8-BF25-43496C709607}"/>
              </a:ext>
            </a:extLst>
          </p:cNvPr>
          <p:cNvPicPr>
            <a:picLocks noChangeAspect="1" noChangeArrowheads="1"/>
          </p:cNvPicPr>
          <p:nvPr userDrawn="1"/>
        </p:nvPicPr>
        <p:blipFill rotWithShape="1">
          <a:blip r:embed="rId5">
            <a:extLst>
              <a:ext uri="{28A0092B-C50C-407E-A947-70E740481C1C}">
                <a14:useLocalDpi xmlns:a14="http://schemas.microsoft.com/office/drawing/2010/main" val="0"/>
              </a:ext>
            </a:extLst>
          </a:blip>
          <a:srcRect l="2172" t="5525" r="8671" b="8884"/>
          <a:stretch/>
        </p:blipFill>
        <p:spPr bwMode="auto">
          <a:xfrm>
            <a:off x="106362" y="56707"/>
            <a:ext cx="4366401" cy="101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621198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23551FB5-644E-4958-A980-4C6B4A9B56E7}"/>
              </a:ext>
            </a:extLst>
          </p:cNvPr>
          <p:cNvGrpSpPr>
            <a:grpSpLocks/>
          </p:cNvGrpSpPr>
          <p:nvPr userDrawn="1"/>
        </p:nvGrpSpPr>
        <p:grpSpPr bwMode="auto">
          <a:xfrm>
            <a:off x="41722" y="6645423"/>
            <a:ext cx="9045575" cy="142875"/>
            <a:chOff x="76199" y="1241003"/>
            <a:chExt cx="9044401" cy="144000"/>
          </a:xfrm>
        </p:grpSpPr>
        <p:sp>
          <p:nvSpPr>
            <p:cNvPr id="8" name="圆角矩形 11">
              <a:extLst>
                <a:ext uri="{FF2B5EF4-FFF2-40B4-BE49-F238E27FC236}">
                  <a16:creationId xmlns:a16="http://schemas.microsoft.com/office/drawing/2014/main" id="{206B57DE-B2E2-477E-A47F-DA530482154A}"/>
                </a:ext>
              </a:extLst>
            </p:cNvPr>
            <p:cNvSpPr/>
            <p:nvPr/>
          </p:nvSpPr>
          <p:spPr>
            <a:xfrm>
              <a:off x="76199" y="1241003"/>
              <a:ext cx="1487294"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9" name="圆角矩形 12">
              <a:extLst>
                <a:ext uri="{FF2B5EF4-FFF2-40B4-BE49-F238E27FC236}">
                  <a16:creationId xmlns:a16="http://schemas.microsoft.com/office/drawing/2014/main" id="{38C3280C-D608-4B4D-8279-5808A7C72777}"/>
                </a:ext>
              </a:extLst>
            </p:cNvPr>
            <p:cNvSpPr/>
            <p:nvPr/>
          </p:nvSpPr>
          <p:spPr>
            <a:xfrm>
              <a:off x="1630159" y="1241003"/>
              <a:ext cx="3103160"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0" name="圆角矩形 13">
              <a:extLst>
                <a:ext uri="{FF2B5EF4-FFF2-40B4-BE49-F238E27FC236}">
                  <a16:creationId xmlns:a16="http://schemas.microsoft.com/office/drawing/2014/main" id="{43328620-830D-498B-AD47-8DBB81A79D3F}"/>
                </a:ext>
              </a:extLst>
            </p:cNvPr>
            <p:cNvSpPr/>
            <p:nvPr/>
          </p:nvSpPr>
          <p:spPr>
            <a:xfrm>
              <a:off x="4799986" y="1241003"/>
              <a:ext cx="4320614"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11" name="图片 3">
            <a:extLst>
              <a:ext uri="{FF2B5EF4-FFF2-40B4-BE49-F238E27FC236}">
                <a16:creationId xmlns:a16="http://schemas.microsoft.com/office/drawing/2014/main" id="{B0C51A74-65A9-4F9C-9DAC-5C9B5FEFDC41}"/>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09563" y="0"/>
            <a:ext cx="776287"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页脚占位符 2">
            <a:extLst>
              <a:ext uri="{FF2B5EF4-FFF2-40B4-BE49-F238E27FC236}">
                <a16:creationId xmlns:a16="http://schemas.microsoft.com/office/drawing/2014/main" id="{AC46ADAA-5CE7-436F-BDC5-5BE32504D749}"/>
              </a:ext>
            </a:extLst>
          </p:cNvPr>
          <p:cNvSpPr>
            <a:spLocks noGrp="1"/>
          </p:cNvSpPr>
          <p:nvPr>
            <p:ph type="ftr" sz="quarter" idx="11"/>
          </p:nvPr>
        </p:nvSpPr>
        <p:spPr>
          <a:xfrm>
            <a:off x="8606671" y="6174558"/>
            <a:ext cx="442918" cy="396090"/>
          </a:xfrm>
        </p:spPr>
        <p:txBody>
          <a:bodyPr/>
          <a:lstStyle/>
          <a:p>
            <a:r>
              <a:rPr lang="en-US" altLang="zh-CN" dirty="0"/>
              <a:t>2</a:t>
            </a:r>
            <a:endParaRPr lang="zh-CN" altLang="en-US" dirty="0"/>
          </a:p>
        </p:txBody>
      </p:sp>
    </p:spTree>
    <p:extLst>
      <p:ext uri="{BB962C8B-B14F-4D97-AF65-F5344CB8AC3E}">
        <p14:creationId xmlns:p14="http://schemas.microsoft.com/office/powerpoint/2010/main" val="10475944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pic>
        <p:nvPicPr>
          <p:cNvPr id="2" name="Picture 3"/>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382000" y="6526213"/>
            <a:ext cx="6794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 name="组合 7"/>
          <p:cNvGrpSpPr>
            <a:grpSpLocks/>
          </p:cNvGrpSpPr>
          <p:nvPr userDrawn="1"/>
        </p:nvGrpSpPr>
        <p:grpSpPr bwMode="auto">
          <a:xfrm>
            <a:off x="73025" y="6643688"/>
            <a:ext cx="8150225" cy="144462"/>
            <a:chOff x="76199" y="2293938"/>
            <a:chExt cx="9043989" cy="144462"/>
          </a:xfrm>
        </p:grpSpPr>
        <p:sp>
          <p:nvSpPr>
            <p:cNvPr id="4" name="圆角矩形 3"/>
            <p:cNvSpPr/>
            <p:nvPr/>
          </p:nvSpPr>
          <p:spPr>
            <a:xfrm>
              <a:off x="76199" y="2293938"/>
              <a:ext cx="1250727" cy="144462"/>
            </a:xfrm>
            <a:prstGeom prst="roundRect">
              <a:avLst>
                <a:gd name="adj" fmla="val 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5" name="圆角矩形 4"/>
            <p:cNvSpPr/>
            <p:nvPr/>
          </p:nvSpPr>
          <p:spPr>
            <a:xfrm>
              <a:off x="1415005" y="2293938"/>
              <a:ext cx="3310023" cy="14446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6" name="圆角矩形 5"/>
            <p:cNvSpPr/>
            <p:nvPr/>
          </p:nvSpPr>
          <p:spPr>
            <a:xfrm>
              <a:off x="4800776" y="2293938"/>
              <a:ext cx="4319412" cy="144462"/>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grpSp>
      <p:pic>
        <p:nvPicPr>
          <p:cNvPr id="7"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796213" y="-104775"/>
            <a:ext cx="854075"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443692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pSp>
        <p:nvGrpSpPr>
          <p:cNvPr id="6" name="组合 23"/>
          <p:cNvGrpSpPr>
            <a:grpSpLocks/>
          </p:cNvGrpSpPr>
          <p:nvPr userDrawn="1"/>
        </p:nvGrpSpPr>
        <p:grpSpPr bwMode="auto">
          <a:xfrm>
            <a:off x="371475" y="-190500"/>
            <a:ext cx="1230313" cy="1358900"/>
            <a:chOff x="371610" y="-231341"/>
            <a:chExt cx="1230631" cy="1358900"/>
          </a:xfrm>
        </p:grpSpPr>
        <p:sp>
          <p:nvSpPr>
            <p:cNvPr id="7" name="同侧圆角矩形 6"/>
            <p:cNvSpPr/>
            <p:nvPr/>
          </p:nvSpPr>
          <p:spPr>
            <a:xfrm flipV="1">
              <a:off x="627264" y="-36078"/>
              <a:ext cx="719323" cy="968375"/>
            </a:xfrm>
            <a:prstGeom prst="round2SameRect">
              <a:avLst>
                <a:gd name="adj1" fmla="val 50000"/>
                <a:gd name="adj2" fmla="val 0"/>
              </a:avLst>
            </a:prstGeom>
            <a:solidFill>
              <a:srgbClr val="EE813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65">
                <a:solidFill>
                  <a:prstClr val="white"/>
                </a:solidFill>
                <a:latin typeface="黑体" panose="02010609060101010101" pitchFamily="49" charset="-122"/>
                <a:ea typeface="黑体" panose="02010609060101010101" pitchFamily="49" charset="-122"/>
              </a:endParaRPr>
            </a:p>
          </p:txBody>
        </p:sp>
        <p:sp>
          <p:nvSpPr>
            <p:cNvPr id="8" name="同侧圆角矩形 7"/>
            <p:cNvSpPr/>
            <p:nvPr/>
          </p:nvSpPr>
          <p:spPr>
            <a:xfrm flipV="1">
              <a:off x="627264" y="-36078"/>
              <a:ext cx="719323" cy="968375"/>
            </a:xfrm>
            <a:prstGeom prst="round2SameRect">
              <a:avLst>
                <a:gd name="adj1" fmla="val 50000"/>
                <a:gd name="adj2" fmla="val 0"/>
              </a:avLst>
            </a:prstGeom>
            <a:solidFill>
              <a:srgbClr val="EE813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65">
                <a:solidFill>
                  <a:prstClr val="white"/>
                </a:solidFill>
                <a:latin typeface="黑体" panose="02010609060101010101" pitchFamily="49" charset="-122"/>
                <a:ea typeface="黑体" panose="02010609060101010101" pitchFamily="49" charset="-122"/>
              </a:endParaRPr>
            </a:p>
          </p:txBody>
        </p:sp>
        <p:pic>
          <p:nvPicPr>
            <p:cNvPr id="9" name="图片 29" descr="logo（背景透明）"/>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1610" y="-231341"/>
              <a:ext cx="1230631" cy="135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0" name="组合 7"/>
          <p:cNvGrpSpPr>
            <a:grpSpLocks/>
          </p:cNvGrpSpPr>
          <p:nvPr userDrawn="1"/>
        </p:nvGrpSpPr>
        <p:grpSpPr bwMode="auto">
          <a:xfrm>
            <a:off x="76200" y="2151063"/>
            <a:ext cx="9043988" cy="381000"/>
            <a:chOff x="76200" y="2151457"/>
            <a:chExt cx="9043988" cy="381000"/>
          </a:xfrm>
        </p:grpSpPr>
        <p:sp>
          <p:nvSpPr>
            <p:cNvPr id="11" name="圆角矩形 10"/>
            <p:cNvSpPr/>
            <p:nvPr/>
          </p:nvSpPr>
          <p:spPr>
            <a:xfrm>
              <a:off x="76200" y="2294332"/>
              <a:ext cx="1676400" cy="144462"/>
            </a:xfrm>
            <a:prstGeom prst="roundRect">
              <a:avLst>
                <a:gd name="adj" fmla="val 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黑体" panose="02010609060101010101" pitchFamily="49" charset="-122"/>
                <a:ea typeface="黑体" panose="02010609060101010101" pitchFamily="49" charset="-122"/>
              </a:endParaRPr>
            </a:p>
          </p:txBody>
        </p:sp>
        <p:sp>
          <p:nvSpPr>
            <p:cNvPr id="12" name="圆角矩形 11"/>
            <p:cNvSpPr/>
            <p:nvPr/>
          </p:nvSpPr>
          <p:spPr>
            <a:xfrm>
              <a:off x="1524000" y="2294332"/>
              <a:ext cx="3200400" cy="14446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黑体" panose="02010609060101010101" pitchFamily="49" charset="-122"/>
                <a:ea typeface="黑体" panose="02010609060101010101" pitchFamily="49" charset="-122"/>
              </a:endParaRPr>
            </a:p>
          </p:txBody>
        </p:sp>
        <p:sp>
          <p:nvSpPr>
            <p:cNvPr id="13" name="圆角矩形 12"/>
            <p:cNvSpPr/>
            <p:nvPr/>
          </p:nvSpPr>
          <p:spPr>
            <a:xfrm>
              <a:off x="4800600" y="2294332"/>
              <a:ext cx="4319588" cy="144462"/>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黑体" panose="02010609060101010101" pitchFamily="49" charset="-122"/>
                <a:ea typeface="黑体" panose="02010609060101010101" pitchFamily="49" charset="-122"/>
              </a:endParaRPr>
            </a:p>
          </p:txBody>
        </p:sp>
        <p:sp>
          <p:nvSpPr>
            <p:cNvPr id="14" name="圆角矩形 13"/>
            <p:cNvSpPr/>
            <p:nvPr/>
          </p:nvSpPr>
          <p:spPr>
            <a:xfrm rot="1383523">
              <a:off x="1417638" y="2151457"/>
              <a:ext cx="215900" cy="381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黑体" panose="02010609060101010101" pitchFamily="49" charset="-122"/>
                <a:ea typeface="黑体" panose="02010609060101010101" pitchFamily="49" charset="-122"/>
              </a:endParaRPr>
            </a:p>
          </p:txBody>
        </p:sp>
        <p:sp>
          <p:nvSpPr>
            <p:cNvPr id="15" name="圆角矩形 14"/>
            <p:cNvSpPr/>
            <p:nvPr/>
          </p:nvSpPr>
          <p:spPr>
            <a:xfrm rot="1383523">
              <a:off x="4616450" y="2151457"/>
              <a:ext cx="215900" cy="381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黑体" panose="02010609060101010101" pitchFamily="49" charset="-122"/>
                <a:ea typeface="黑体" panose="02010609060101010101" pitchFamily="49" charset="-122"/>
              </a:endParaRPr>
            </a:p>
          </p:txBody>
        </p:sp>
      </p:grpSp>
      <p:pic>
        <p:nvPicPr>
          <p:cNvPr id="16" name="Picture 7"/>
          <p:cNvPicPr>
            <a:picLocks noChangeAspect="1" noChangeArrowheads="1"/>
          </p:cNvPicPr>
          <p:nvPr userDrawn="1"/>
        </p:nvPicPr>
        <p:blipFill>
          <a:blip r:embed="rId3">
            <a:extLst>
              <a:ext uri="{28A0092B-C50C-407E-A947-70E740481C1C}">
                <a14:useLocalDpi xmlns:a14="http://schemas.microsoft.com/office/drawing/2010/main" val="0"/>
              </a:ext>
            </a:extLst>
          </a:blip>
          <a:srcRect t="17253" b="10274"/>
          <a:stretch>
            <a:fillRect/>
          </a:stretch>
        </p:blipFill>
        <p:spPr bwMode="auto">
          <a:xfrm>
            <a:off x="157163" y="5467350"/>
            <a:ext cx="1957387"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 name="Picture 3"/>
          <p:cNvPicPr>
            <a:picLocks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2181225" y="5478463"/>
            <a:ext cx="2124075" cy="1262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 name="Picture 4"/>
          <p:cNvPicPr>
            <a:picLocks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384675" y="5478463"/>
            <a:ext cx="2390775" cy="1262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2"/>
          <p:cNvPicPr>
            <a:picLocks noChangeAspect="1" noChangeArrowheads="1"/>
          </p:cNvPicPr>
          <p:nvPr userDrawn="1"/>
        </p:nvPicPr>
        <p:blipFill rotWithShape="1">
          <a:blip r:embed="rId6">
            <a:extLst>
              <a:ext uri="{28A0092B-C50C-407E-A947-70E740481C1C}">
                <a14:useLocalDpi xmlns:a14="http://schemas.microsoft.com/office/drawing/2010/main" val="0"/>
              </a:ext>
            </a:extLst>
          </a:blip>
          <a:srcRect b="11245"/>
          <a:stretch/>
        </p:blipFill>
        <p:spPr bwMode="auto">
          <a:xfrm>
            <a:off x="6846888" y="5467351"/>
            <a:ext cx="2220912" cy="1273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 name="Picture 3"/>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7637463" y="4702719"/>
            <a:ext cx="1506537" cy="844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 name="TextBox 2"/>
          <p:cNvSpPr txBox="1">
            <a:spLocks noChangeArrowheads="1"/>
          </p:cNvSpPr>
          <p:nvPr userDrawn="1"/>
        </p:nvSpPr>
        <p:spPr bwMode="auto">
          <a:xfrm>
            <a:off x="8172400" y="5165911"/>
            <a:ext cx="7810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baseline="-25000">
                <a:solidFill>
                  <a:schemeClr val="tx1"/>
                </a:solidFill>
                <a:latin typeface="Arial" charset="0"/>
              </a:defRPr>
            </a:lvl1pPr>
            <a:lvl2pPr marL="742950" indent="-285750">
              <a:defRPr sz="2800" b="1" baseline="-25000">
                <a:solidFill>
                  <a:schemeClr val="tx1"/>
                </a:solidFill>
                <a:latin typeface="Arial" charset="0"/>
              </a:defRPr>
            </a:lvl2pPr>
            <a:lvl3pPr marL="1143000" indent="-228600">
              <a:defRPr sz="2800" b="1" baseline="-25000">
                <a:solidFill>
                  <a:schemeClr val="tx1"/>
                </a:solidFill>
                <a:latin typeface="Arial" charset="0"/>
              </a:defRPr>
            </a:lvl3pPr>
            <a:lvl4pPr marL="1600200" indent="-228600">
              <a:defRPr sz="2800" b="1" baseline="-25000">
                <a:solidFill>
                  <a:schemeClr val="tx1"/>
                </a:solidFill>
                <a:latin typeface="Arial" charset="0"/>
              </a:defRPr>
            </a:lvl4pPr>
            <a:lvl5pPr marL="2057400" indent="-228600">
              <a:defRPr sz="2800" b="1" baseline="-25000">
                <a:solidFill>
                  <a:schemeClr val="tx1"/>
                </a:solidFill>
                <a:latin typeface="Arial" charset="0"/>
              </a:defRPr>
            </a:lvl5pPr>
            <a:lvl6pPr marL="2514600" indent="-228600" eaLnBrk="0" fontAlgn="base" hangingPunct="0">
              <a:spcBef>
                <a:spcPct val="0"/>
              </a:spcBef>
              <a:spcAft>
                <a:spcPct val="0"/>
              </a:spcAft>
              <a:defRPr sz="2800" b="1" baseline="-25000">
                <a:solidFill>
                  <a:schemeClr val="tx1"/>
                </a:solidFill>
                <a:latin typeface="Arial" charset="0"/>
              </a:defRPr>
            </a:lvl6pPr>
            <a:lvl7pPr marL="2971800" indent="-228600" eaLnBrk="0" fontAlgn="base" hangingPunct="0">
              <a:spcBef>
                <a:spcPct val="0"/>
              </a:spcBef>
              <a:spcAft>
                <a:spcPct val="0"/>
              </a:spcAft>
              <a:defRPr sz="2800" b="1" baseline="-25000">
                <a:solidFill>
                  <a:schemeClr val="tx1"/>
                </a:solidFill>
                <a:latin typeface="Arial" charset="0"/>
              </a:defRPr>
            </a:lvl7pPr>
            <a:lvl8pPr marL="3429000" indent="-228600" eaLnBrk="0" fontAlgn="base" hangingPunct="0">
              <a:spcBef>
                <a:spcPct val="0"/>
              </a:spcBef>
              <a:spcAft>
                <a:spcPct val="0"/>
              </a:spcAft>
              <a:defRPr sz="2800" b="1" baseline="-25000">
                <a:solidFill>
                  <a:schemeClr val="tx1"/>
                </a:solidFill>
                <a:latin typeface="Arial" charset="0"/>
              </a:defRPr>
            </a:lvl8pPr>
            <a:lvl9pPr marL="3886200" indent="-228600" eaLnBrk="0" fontAlgn="base" hangingPunct="0">
              <a:spcBef>
                <a:spcPct val="0"/>
              </a:spcBef>
              <a:spcAft>
                <a:spcPct val="0"/>
              </a:spcAft>
              <a:defRPr sz="2800" b="1" baseline="-25000">
                <a:solidFill>
                  <a:schemeClr val="tx1"/>
                </a:solidFill>
                <a:latin typeface="Arial" charset="0"/>
              </a:defRPr>
            </a:lvl9pPr>
          </a:lstStyle>
          <a:p>
            <a:r>
              <a:rPr lang="en-US" altLang="zh-CN" sz="900" b="0" baseline="0" dirty="0">
                <a:latin typeface="黑体" panose="02010609060101010101" pitchFamily="49" charset="-122"/>
                <a:ea typeface="黑体" panose="02010609060101010101" pitchFamily="49" charset="-122"/>
              </a:rPr>
              <a:t>Since 2016</a:t>
            </a:r>
            <a:endParaRPr lang="zh-CN" altLang="en-US" sz="900" b="0" baseline="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459816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8B20F97-D093-4167-88EF-C188D3B8DC03}"/>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4B78C6B4-EDBC-4C7B-80E2-2A36D8872A6A}"/>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1AB1772D-D631-4D4E-BF62-42EF4690EB9A}"/>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B9B1AB40-DF97-4AB0-B63B-B6C2904246EB}" type="datetimeFigureOut">
              <a:rPr lang="zh-CN" altLang="en-US" smtClean="0"/>
              <a:t>2022/9/5</a:t>
            </a:fld>
            <a:endParaRPr lang="zh-CN" altLang="en-US"/>
          </a:p>
        </p:txBody>
      </p:sp>
      <p:sp>
        <p:nvSpPr>
          <p:cNvPr id="5" name="页脚占位符 4">
            <a:extLst>
              <a:ext uri="{FF2B5EF4-FFF2-40B4-BE49-F238E27FC236}">
                <a16:creationId xmlns:a16="http://schemas.microsoft.com/office/drawing/2014/main" id="{33AFB56B-864D-497D-8AE9-5E092905F796}"/>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D832445E-5DFA-480A-96AF-CCD8859EA90F}"/>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3682342105"/>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 id="2147483733" r:id="rId12"/>
    <p:sldLayoutId id="2147483734" r:id="rId13"/>
    <p:sldLayoutId id="2147483760" r:id="rId14"/>
    <p:sldLayoutId id="2147483759" r:id="rId15"/>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8" Type="http://schemas.openxmlformats.org/officeDocument/2006/relationships/image" Target="../media/image19.wmf"/><Relationship Id="rId3" Type="http://schemas.openxmlformats.org/officeDocument/2006/relationships/image" Target="../media/image16.png"/><Relationship Id="rId7" Type="http://schemas.openxmlformats.org/officeDocument/2006/relationships/oleObject" Target="../embeddings/oleObject2.bin"/><Relationship Id="rId2" Type="http://schemas.openxmlformats.org/officeDocument/2006/relationships/image" Target="../media/image15.png"/><Relationship Id="rId1" Type="http://schemas.openxmlformats.org/officeDocument/2006/relationships/slideLayout" Target="../slideLayouts/slideLayout14.xml"/><Relationship Id="rId6" Type="http://schemas.openxmlformats.org/officeDocument/2006/relationships/image" Target="../media/image18.wmf"/><Relationship Id="rId5" Type="http://schemas.openxmlformats.org/officeDocument/2006/relationships/oleObject" Target="../embeddings/oleObject1.bin"/><Relationship Id="rId10" Type="http://schemas.openxmlformats.org/officeDocument/2006/relationships/image" Target="../media/image20.wmf"/><Relationship Id="rId4" Type="http://schemas.openxmlformats.org/officeDocument/2006/relationships/image" Target="../media/image17.png"/><Relationship Id="rId9" Type="http://schemas.openxmlformats.org/officeDocument/2006/relationships/oleObject" Target="../embeddings/oleObject3.bin"/></Relationships>
</file>

<file path=ppt/slides/_rels/slide5.xml.rels><?xml version="1.0" encoding="UTF-8" standalone="yes"?>
<Relationships xmlns="http://schemas.openxmlformats.org/package/2006/relationships"><Relationship Id="rId8" Type="http://schemas.openxmlformats.org/officeDocument/2006/relationships/image" Target="../media/image24.wmf"/><Relationship Id="rId13" Type="http://schemas.openxmlformats.org/officeDocument/2006/relationships/oleObject" Target="../embeddings/oleObject9.bin"/><Relationship Id="rId3" Type="http://schemas.openxmlformats.org/officeDocument/2006/relationships/oleObject" Target="../embeddings/oleObject4.bin"/><Relationship Id="rId7" Type="http://schemas.openxmlformats.org/officeDocument/2006/relationships/oleObject" Target="../embeddings/oleObject6.bin"/><Relationship Id="rId12" Type="http://schemas.openxmlformats.org/officeDocument/2006/relationships/image" Target="../media/image26.wmf"/><Relationship Id="rId2" Type="http://schemas.openxmlformats.org/officeDocument/2006/relationships/image" Target="../media/image21.png"/><Relationship Id="rId1" Type="http://schemas.openxmlformats.org/officeDocument/2006/relationships/slideLayout" Target="../slideLayouts/slideLayout14.xml"/><Relationship Id="rId6" Type="http://schemas.openxmlformats.org/officeDocument/2006/relationships/image" Target="../media/image23.wmf"/><Relationship Id="rId11" Type="http://schemas.openxmlformats.org/officeDocument/2006/relationships/oleObject" Target="../embeddings/oleObject8.bin"/><Relationship Id="rId5" Type="http://schemas.openxmlformats.org/officeDocument/2006/relationships/oleObject" Target="../embeddings/oleObject5.bin"/><Relationship Id="rId10" Type="http://schemas.openxmlformats.org/officeDocument/2006/relationships/image" Target="../media/image25.wmf"/><Relationship Id="rId4" Type="http://schemas.openxmlformats.org/officeDocument/2006/relationships/image" Target="../media/image22.wmf"/><Relationship Id="rId9" Type="http://schemas.openxmlformats.org/officeDocument/2006/relationships/oleObject" Target="../embeddings/oleObject7.bin"/><Relationship Id="rId14" Type="http://schemas.openxmlformats.org/officeDocument/2006/relationships/image" Target="../media/image27.wmf"/></Relationships>
</file>

<file path=ppt/slides/_rels/slide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eg"/><Relationship Id="rId1" Type="http://schemas.openxmlformats.org/officeDocument/2006/relationships/slideLayout" Target="../slideLayouts/slideLayout14.xml"/><Relationship Id="rId5" Type="http://schemas.openxmlformats.org/officeDocument/2006/relationships/image" Target="../media/image31.jpeg"/><Relationship Id="rId4" Type="http://schemas.openxmlformats.org/officeDocument/2006/relationships/image" Target="../media/image30.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hyperlink" Target="http://pic.sogou.com/d?query=%B2%A8%D2%F4777&amp;mood=0&amp;picformat=0&amp;mode=1&amp;di=0&amp;p=40230504&amp;dp=1&amp;did=11" TargetMode="External"/><Relationship Id="rId1" Type="http://schemas.openxmlformats.org/officeDocument/2006/relationships/slideLayout" Target="../slideLayouts/slideLayout14.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xml"/><Relationship Id="rId1" Type="http://schemas.openxmlformats.org/officeDocument/2006/relationships/slideLayout" Target="../slideLayouts/slideLayout14.xml"/><Relationship Id="rId5" Type="http://schemas.openxmlformats.org/officeDocument/2006/relationships/image" Target="../media/image46.png"/><Relationship Id="rId4" Type="http://schemas.openxmlformats.org/officeDocument/2006/relationships/image" Target="../media/image45.png"/></Relationships>
</file>

<file path=ppt/slides/_rels/slide13.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47.png"/><Relationship Id="rId1" Type="http://schemas.openxmlformats.org/officeDocument/2006/relationships/slideLayout" Target="../slideLayouts/slideLayout14.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 Id="rId9" Type="http://schemas.openxmlformats.org/officeDocument/2006/relationships/image" Target="../media/image54.png"/></Relationships>
</file>

<file path=ppt/slides/_rels/slide14.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37.png"/><Relationship Id="rId2" Type="http://schemas.openxmlformats.org/officeDocument/2006/relationships/image" Target="../media/image55.png"/><Relationship Id="rId1" Type="http://schemas.openxmlformats.org/officeDocument/2006/relationships/slideLayout" Target="../slideLayouts/slideLayout14.xml"/><Relationship Id="rId6" Type="http://schemas.openxmlformats.org/officeDocument/2006/relationships/image" Target="../media/image36.png"/><Relationship Id="rId5" Type="http://schemas.openxmlformats.org/officeDocument/2006/relationships/image" Target="../media/image58.jpeg"/><Relationship Id="rId4" Type="http://schemas.openxmlformats.org/officeDocument/2006/relationships/image" Target="../media/image57.png"/></Relationships>
</file>

<file path=ppt/slides/_rels/slide1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14.xml"/><Relationship Id="rId4" Type="http://schemas.openxmlformats.org/officeDocument/2006/relationships/image" Target="../media/image61.png"/></Relationships>
</file>

<file path=ppt/slides/_rels/slide1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14.xml"/><Relationship Id="rId4" Type="http://schemas.openxmlformats.org/officeDocument/2006/relationships/image" Target="../media/image64.png"/></Relationships>
</file>

<file path=ppt/slides/_rels/slide1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14.xml"/><Relationship Id="rId4" Type="http://schemas.openxmlformats.org/officeDocument/2006/relationships/image" Target="../media/image67.png"/></Relationships>
</file>

<file path=ppt/slides/_rels/slide1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14.xml"/><Relationship Id="rId5" Type="http://schemas.openxmlformats.org/officeDocument/2006/relationships/image" Target="../media/image69.png"/><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14.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20.xml.rels><?xml version="1.0" encoding="UTF-8" standalone="yes"?>
<Relationships xmlns="http://schemas.openxmlformats.org/package/2006/relationships"><Relationship Id="rId3" Type="http://schemas.openxmlformats.org/officeDocument/2006/relationships/image" Target="../media/image75.png"/><Relationship Id="rId7" Type="http://schemas.openxmlformats.org/officeDocument/2006/relationships/image" Target="../media/image78.wmf"/><Relationship Id="rId12" Type="http://schemas.openxmlformats.org/officeDocument/2006/relationships/image" Target="../media/image1290.png"/><Relationship Id="rId2" Type="http://schemas.openxmlformats.org/officeDocument/2006/relationships/image" Target="../media/image70.png"/><Relationship Id="rId1" Type="http://schemas.openxmlformats.org/officeDocument/2006/relationships/slideLayout" Target="../slideLayouts/slideLayout14.xml"/><Relationship Id="rId6" Type="http://schemas.openxmlformats.org/officeDocument/2006/relationships/oleObject" Target="../embeddings/oleObject10.bin"/><Relationship Id="rId11" Type="http://schemas.openxmlformats.org/officeDocument/2006/relationships/image" Target="../media/image1280.png"/><Relationship Id="rId5" Type="http://schemas.openxmlformats.org/officeDocument/2006/relationships/image" Target="../media/image77.png"/><Relationship Id="rId10" Type="http://schemas.openxmlformats.org/officeDocument/2006/relationships/image" Target="../media/image1270.png"/><Relationship Id="rId4" Type="http://schemas.openxmlformats.org/officeDocument/2006/relationships/image" Target="../media/image76.png"/><Relationship Id="rId9" Type="http://schemas.openxmlformats.org/officeDocument/2006/relationships/image" Target="../media/image650.png"/></Relationships>
</file>

<file path=ppt/slides/_rels/slide2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gif"/><Relationship Id="rId1" Type="http://schemas.openxmlformats.org/officeDocument/2006/relationships/slideLayout" Target="../slideLayouts/slideLayout14.xml"/><Relationship Id="rId4" Type="http://schemas.openxmlformats.org/officeDocument/2006/relationships/image" Target="../media/image83.jpeg"/></Relationships>
</file>

<file path=ppt/slides/_rels/slide23.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image" Target="../media/image84.png"/><Relationship Id="rId1" Type="http://schemas.openxmlformats.org/officeDocument/2006/relationships/slideLayout" Target="../slideLayouts/slideLayout14.xml"/><Relationship Id="rId4" Type="http://schemas.openxmlformats.org/officeDocument/2006/relationships/image" Target="../media/image86.png"/></Relationships>
</file>

<file path=ppt/slides/_rels/slide24.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image" Target="../media/image89.jpeg"/><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90.png"/><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14.xml"/><Relationship Id="rId6" Type="http://schemas.openxmlformats.org/officeDocument/2006/relationships/image" Target="../media/image70.png"/><Relationship Id="rId5" Type="http://schemas.openxmlformats.org/officeDocument/2006/relationships/image" Target="../media/image94.png"/><Relationship Id="rId4" Type="http://schemas.openxmlformats.org/officeDocument/2006/relationships/image" Target="../media/image93.png"/></Relationships>
</file>

<file path=ppt/slides/_rels/slide29.xml.rels><?xml version="1.0" encoding="UTF-8" standalone="yes"?>
<Relationships xmlns="http://schemas.openxmlformats.org/package/2006/relationships"><Relationship Id="rId3" Type="http://schemas.openxmlformats.org/officeDocument/2006/relationships/image" Target="../media/image96.png"/><Relationship Id="rId7" Type="http://schemas.openxmlformats.org/officeDocument/2006/relationships/image" Target="../media/image1470.png"/><Relationship Id="rId2" Type="http://schemas.openxmlformats.org/officeDocument/2006/relationships/image" Target="../media/image95.png"/><Relationship Id="rId1" Type="http://schemas.openxmlformats.org/officeDocument/2006/relationships/slideLayout" Target="../slideLayouts/slideLayout14.xml"/><Relationship Id="rId6" Type="http://schemas.openxmlformats.org/officeDocument/2006/relationships/image" Target="../media/image1460.png"/><Relationship Id="rId5" Type="http://schemas.openxmlformats.org/officeDocument/2006/relationships/image" Target="../media/image91.png"/><Relationship Id="rId4" Type="http://schemas.openxmlformats.org/officeDocument/2006/relationships/image" Target="../media/image97.png"/></Relationships>
</file>

<file path=ppt/slides/_rels/slide30.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8.png"/><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14.xml"/><Relationship Id="rId5" Type="http://schemas.openxmlformats.org/officeDocument/2006/relationships/image" Target="../media/image103.jpeg"/><Relationship Id="rId4" Type="http://schemas.openxmlformats.org/officeDocument/2006/relationships/image" Target="../media/image102.png"/></Relationships>
</file>

<file path=ppt/slides/_rels/slide33.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14.xml"/><Relationship Id="rId6" Type="http://schemas.openxmlformats.org/officeDocument/2006/relationships/image" Target="../media/image107.png"/><Relationship Id="rId5" Type="http://schemas.openxmlformats.org/officeDocument/2006/relationships/hyperlink" Target="https://en.wikipedia.org/wiki/Ligroin" TargetMode="External"/><Relationship Id="rId4" Type="http://schemas.openxmlformats.org/officeDocument/2006/relationships/image" Target="../media/image106.png"/></Relationships>
</file>

<file path=ppt/slides/_rels/slide34.xml.rels><?xml version="1.0" encoding="UTF-8" standalone="yes"?>
<Relationships xmlns="http://schemas.openxmlformats.org/package/2006/relationships"><Relationship Id="rId3" Type="http://schemas.openxmlformats.org/officeDocument/2006/relationships/image" Target="../media/image109.png"/><Relationship Id="rId7" Type="http://schemas.openxmlformats.org/officeDocument/2006/relationships/image" Target="../media/image113.jpeg"/><Relationship Id="rId2" Type="http://schemas.openxmlformats.org/officeDocument/2006/relationships/image" Target="../media/image108.png"/><Relationship Id="rId1" Type="http://schemas.openxmlformats.org/officeDocument/2006/relationships/slideLayout" Target="../slideLayouts/slideLayout14.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image110.png"/></Relationships>
</file>

<file path=ppt/slides/_rels/slide35.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69.png"/><Relationship Id="rId7" Type="http://schemas.openxmlformats.org/officeDocument/2006/relationships/image" Target="../media/image97.png"/><Relationship Id="rId2" Type="http://schemas.openxmlformats.org/officeDocument/2006/relationships/notesSlide" Target="../notesSlides/notesSlide3.xml"/><Relationship Id="rId1" Type="http://schemas.openxmlformats.org/officeDocument/2006/relationships/slideLayout" Target="../slideLayouts/slideLayout14.xml"/><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70.png"/></Relationships>
</file>

<file path=ppt/slides/_rels/slide36.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14.xml"/><Relationship Id="rId5" Type="http://schemas.openxmlformats.org/officeDocument/2006/relationships/image" Target="../media/image116.wmf"/><Relationship Id="rId4" Type="http://schemas.openxmlformats.org/officeDocument/2006/relationships/oleObject" Target="../embeddings/oleObject11.bin"/></Relationships>
</file>

<file path=ppt/slides/_rels/slide37.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image" Target="../media/image117.png"/><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9.png"/><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8" Type="http://schemas.openxmlformats.org/officeDocument/2006/relationships/image" Target="../media/image129.emf"/><Relationship Id="rId3" Type="http://schemas.openxmlformats.org/officeDocument/2006/relationships/image" Target="../media/image125.png"/><Relationship Id="rId7" Type="http://schemas.openxmlformats.org/officeDocument/2006/relationships/image" Target="../media/image1790.png"/><Relationship Id="rId12" Type="http://schemas.openxmlformats.org/officeDocument/2006/relationships/image" Target="../media/image133.emf"/><Relationship Id="rId2" Type="http://schemas.openxmlformats.org/officeDocument/2006/relationships/image" Target="../media/image124.png"/><Relationship Id="rId1" Type="http://schemas.openxmlformats.org/officeDocument/2006/relationships/slideLayout" Target="../slideLayouts/slideLayout14.xml"/><Relationship Id="rId6" Type="http://schemas.openxmlformats.org/officeDocument/2006/relationships/image" Target="../media/image128.png"/><Relationship Id="rId11" Type="http://schemas.openxmlformats.org/officeDocument/2006/relationships/image" Target="../media/image132.emf"/><Relationship Id="rId5" Type="http://schemas.openxmlformats.org/officeDocument/2006/relationships/image" Target="../media/image127.png"/><Relationship Id="rId10" Type="http://schemas.openxmlformats.org/officeDocument/2006/relationships/image" Target="../media/image131.emf"/><Relationship Id="rId4" Type="http://schemas.openxmlformats.org/officeDocument/2006/relationships/image" Target="../media/image126.png"/><Relationship Id="rId9" Type="http://schemas.openxmlformats.org/officeDocument/2006/relationships/image" Target="../media/image130.emf"/></Relationships>
</file>

<file path=ppt/slides/_rels/slide43.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25.png"/><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2" Type="http://schemas.openxmlformats.org/officeDocument/2006/relationships/image" Target="../media/image135.jpeg"/><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image" Target="../media/image136.png"/><Relationship Id="rId1" Type="http://schemas.openxmlformats.org/officeDocument/2006/relationships/slideLayout" Target="../slideLayouts/slideLayout14.xml"/><Relationship Id="rId4" Type="http://schemas.openxmlformats.org/officeDocument/2006/relationships/image" Target="../media/image138.png"/></Relationships>
</file>

<file path=ppt/slides/_rels/slide46.xml.rels><?xml version="1.0" encoding="UTF-8" standalone="yes"?>
<Relationships xmlns="http://schemas.openxmlformats.org/package/2006/relationships"><Relationship Id="rId3" Type="http://schemas.openxmlformats.org/officeDocument/2006/relationships/image" Target="../media/image140.jpeg"/><Relationship Id="rId2" Type="http://schemas.openxmlformats.org/officeDocument/2006/relationships/image" Target="../media/image139.jpeg"/><Relationship Id="rId1" Type="http://schemas.openxmlformats.org/officeDocument/2006/relationships/slideLayout" Target="../slideLayouts/slideLayout14.xml"/><Relationship Id="rId4" Type="http://schemas.openxmlformats.org/officeDocument/2006/relationships/image" Target="../media/image141.emf"/></Relationships>
</file>

<file path=ppt/slides/_rels/slide47.xml.rels><?xml version="1.0" encoding="UTF-8" standalone="yes"?>
<Relationships xmlns="http://schemas.openxmlformats.org/package/2006/relationships"><Relationship Id="rId3" Type="http://schemas.openxmlformats.org/officeDocument/2006/relationships/image" Target="../media/image143.emf"/><Relationship Id="rId2" Type="http://schemas.openxmlformats.org/officeDocument/2006/relationships/image" Target="../media/image142.png"/><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3" Type="http://schemas.openxmlformats.org/officeDocument/2006/relationships/image" Target="../media/image144.emf"/><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8" Type="http://schemas.openxmlformats.org/officeDocument/2006/relationships/image" Target="../media/image147.wmf"/><Relationship Id="rId3" Type="http://schemas.openxmlformats.org/officeDocument/2006/relationships/image" Target="../media/image145.wmf"/><Relationship Id="rId7" Type="http://schemas.openxmlformats.org/officeDocument/2006/relationships/oleObject" Target="../embeddings/oleObject14.bin"/><Relationship Id="rId2" Type="http://schemas.openxmlformats.org/officeDocument/2006/relationships/oleObject" Target="../embeddings/oleObject12.bin"/><Relationship Id="rId1" Type="http://schemas.openxmlformats.org/officeDocument/2006/relationships/slideLayout" Target="../slideLayouts/slideLayout14.xml"/><Relationship Id="rId6" Type="http://schemas.openxmlformats.org/officeDocument/2006/relationships/image" Target="../media/image146.wmf"/><Relationship Id="rId5" Type="http://schemas.openxmlformats.org/officeDocument/2006/relationships/oleObject" Target="../embeddings/oleObject13.bin"/><Relationship Id="rId4" Type="http://schemas.openxmlformats.org/officeDocument/2006/relationships/image" Target="../media/image146.png"/><Relationship Id="rId9" Type="http://schemas.openxmlformats.org/officeDocument/2006/relationships/image" Target="../media/image148.emf"/></Relationships>
</file>

<file path=ppt/slides/_rels/slide50.xml.rels><?xml version="1.0" encoding="UTF-8" standalone="yes"?>
<Relationships xmlns="http://schemas.openxmlformats.org/package/2006/relationships"><Relationship Id="rId3" Type="http://schemas.openxmlformats.org/officeDocument/2006/relationships/image" Target="../media/image1670.png"/><Relationship Id="rId2" Type="http://schemas.openxmlformats.org/officeDocument/2006/relationships/image" Target="../media/image1660.png"/><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3" Type="http://schemas.openxmlformats.org/officeDocument/2006/relationships/image" Target="../media/image169.png"/><Relationship Id="rId7" Type="http://schemas.openxmlformats.org/officeDocument/2006/relationships/image" Target="../media/image173.png"/><Relationship Id="rId2" Type="http://schemas.openxmlformats.org/officeDocument/2006/relationships/image" Target="../media/image149.emf"/><Relationship Id="rId1" Type="http://schemas.openxmlformats.org/officeDocument/2006/relationships/slideLayout" Target="../slideLayouts/slideLayout14.xml"/><Relationship Id="rId6" Type="http://schemas.openxmlformats.org/officeDocument/2006/relationships/image" Target="../media/image172.png"/><Relationship Id="rId5" Type="http://schemas.openxmlformats.org/officeDocument/2006/relationships/image" Target="../media/image171.png"/><Relationship Id="rId4" Type="http://schemas.openxmlformats.org/officeDocument/2006/relationships/image" Target="../media/image150.em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image" Target="../media/image151.jpeg"/><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2" Type="http://schemas.openxmlformats.org/officeDocument/2006/relationships/image" Target="../media/image151.jpeg"/><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3" Type="http://schemas.openxmlformats.org/officeDocument/2006/relationships/image" Target="../media/image153.gif"/><Relationship Id="rId7" Type="http://schemas.openxmlformats.org/officeDocument/2006/relationships/image" Target="../media/image157.jpeg"/><Relationship Id="rId2" Type="http://schemas.openxmlformats.org/officeDocument/2006/relationships/image" Target="../media/image152.png"/><Relationship Id="rId1" Type="http://schemas.openxmlformats.org/officeDocument/2006/relationships/slideLayout" Target="../slideLayouts/slideLayout14.xml"/><Relationship Id="rId6" Type="http://schemas.openxmlformats.org/officeDocument/2006/relationships/image" Target="../media/image156.png"/><Relationship Id="rId5" Type="http://schemas.openxmlformats.org/officeDocument/2006/relationships/image" Target="../media/image155.png"/><Relationship Id="rId4" Type="http://schemas.openxmlformats.org/officeDocument/2006/relationships/image" Target="../media/image154.jpeg"/></Relationships>
</file>

<file path=ppt/slides/_rels/slide56.xml.rels><?xml version="1.0" encoding="UTF-8" standalone="yes"?>
<Relationships xmlns="http://schemas.openxmlformats.org/package/2006/relationships"><Relationship Id="rId3" Type="http://schemas.openxmlformats.org/officeDocument/2006/relationships/image" Target="../media/image159.emf"/><Relationship Id="rId7" Type="http://schemas.openxmlformats.org/officeDocument/2006/relationships/image" Target="../media/image163.emf"/><Relationship Id="rId2" Type="http://schemas.openxmlformats.org/officeDocument/2006/relationships/image" Target="../media/image158.emf"/><Relationship Id="rId1" Type="http://schemas.openxmlformats.org/officeDocument/2006/relationships/slideLayout" Target="../slideLayouts/slideLayout14.xml"/><Relationship Id="rId6" Type="http://schemas.openxmlformats.org/officeDocument/2006/relationships/image" Target="../media/image162.emf"/><Relationship Id="rId5" Type="http://schemas.openxmlformats.org/officeDocument/2006/relationships/image" Target="../media/image161.emf"/><Relationship Id="rId4" Type="http://schemas.openxmlformats.org/officeDocument/2006/relationships/image" Target="../media/image160.emf"/></Relationships>
</file>

<file path=ppt/slides/_rels/slide57.xml.rels><?xml version="1.0" encoding="UTF-8" standalone="yes"?>
<Relationships xmlns="http://schemas.openxmlformats.org/package/2006/relationships"><Relationship Id="rId3" Type="http://schemas.openxmlformats.org/officeDocument/2006/relationships/image" Target="../media/image165.emf"/><Relationship Id="rId2" Type="http://schemas.openxmlformats.org/officeDocument/2006/relationships/image" Target="../media/image164.emf"/><Relationship Id="rId1" Type="http://schemas.openxmlformats.org/officeDocument/2006/relationships/slideLayout" Target="../slideLayouts/slideLayout14.xml"/><Relationship Id="rId4" Type="http://schemas.openxmlformats.org/officeDocument/2006/relationships/image" Target="../media/image166.emf"/></Relationships>
</file>

<file path=ppt/slides/_rels/slide58.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notesSlide" Target="../notesSlides/notesSlide5.xml"/><Relationship Id="rId1" Type="http://schemas.openxmlformats.org/officeDocument/2006/relationships/slideLayout" Target="../slideLayouts/slideLayout14.xml"/><Relationship Id="rId6" Type="http://schemas.openxmlformats.org/officeDocument/2006/relationships/image" Target="../media/image170.emf"/><Relationship Id="rId5" Type="http://schemas.openxmlformats.org/officeDocument/2006/relationships/image" Target="../media/image169.emf"/><Relationship Id="rId4" Type="http://schemas.openxmlformats.org/officeDocument/2006/relationships/image" Target="../media/image168.png"/></Relationships>
</file>

<file path=ppt/slides/_rels/slide59.xml.rels><?xml version="1.0" encoding="UTF-8" standalone="yes"?>
<Relationships xmlns="http://schemas.openxmlformats.org/package/2006/relationships"><Relationship Id="rId8" Type="http://schemas.openxmlformats.org/officeDocument/2006/relationships/image" Target="../media/image180.png"/><Relationship Id="rId3" Type="http://schemas.openxmlformats.org/officeDocument/2006/relationships/image" Target="../media/image175.png"/><Relationship Id="rId7" Type="http://schemas.openxmlformats.org/officeDocument/2006/relationships/image" Target="../media/image179.png"/><Relationship Id="rId2" Type="http://schemas.openxmlformats.org/officeDocument/2006/relationships/image" Target="../media/image174.png"/><Relationship Id="rId1" Type="http://schemas.openxmlformats.org/officeDocument/2006/relationships/slideLayout" Target="../slideLayouts/slideLayout14.xml"/><Relationship Id="rId6" Type="http://schemas.openxmlformats.org/officeDocument/2006/relationships/image" Target="../media/image178.png"/><Relationship Id="rId11" Type="http://schemas.openxmlformats.org/officeDocument/2006/relationships/image" Target="../media/image183.png"/><Relationship Id="rId5" Type="http://schemas.openxmlformats.org/officeDocument/2006/relationships/image" Target="../media/image177.png"/><Relationship Id="rId10" Type="http://schemas.openxmlformats.org/officeDocument/2006/relationships/image" Target="../media/image182.png"/><Relationship Id="rId4" Type="http://schemas.openxmlformats.org/officeDocument/2006/relationships/image" Target="../media/image176.png"/><Relationship Id="rId9" Type="http://schemas.openxmlformats.org/officeDocument/2006/relationships/image" Target="../media/image181.png"/></Relationships>
</file>

<file path=ppt/slides/_rels/slide60.xml.rels><?xml version="1.0" encoding="UTF-8" standalone="yes"?>
<Relationships xmlns="http://schemas.openxmlformats.org/package/2006/relationships"><Relationship Id="rId2" Type="http://schemas.openxmlformats.org/officeDocument/2006/relationships/image" Target="../media/image184.emf"/><Relationship Id="rId1" Type="http://schemas.openxmlformats.org/officeDocument/2006/relationships/slideLayout" Target="../slideLayouts/slideLayout14.xml"/></Relationships>
</file>

<file path=ppt/slides/_rels/slide61.xml.rels><?xml version="1.0" encoding="UTF-8" standalone="yes"?>
<Relationships xmlns="http://schemas.openxmlformats.org/package/2006/relationships"><Relationship Id="rId2" Type="http://schemas.openxmlformats.org/officeDocument/2006/relationships/image" Target="../media/image185.emf"/><Relationship Id="rId1"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3" Type="http://schemas.openxmlformats.org/officeDocument/2006/relationships/image" Target="../media/image187.png"/><Relationship Id="rId2" Type="http://schemas.openxmlformats.org/officeDocument/2006/relationships/image" Target="../media/image186.png"/><Relationship Id="rId1" Type="http://schemas.openxmlformats.org/officeDocument/2006/relationships/slideLayout" Target="../slideLayouts/slideLayout14.xml"/></Relationships>
</file>

<file path=ppt/slides/_rels/slide63.xml.rels><?xml version="1.0" encoding="UTF-8" standalone="yes"?>
<Relationships xmlns="http://schemas.openxmlformats.org/package/2006/relationships"><Relationship Id="rId3" Type="http://schemas.openxmlformats.org/officeDocument/2006/relationships/image" Target="../media/image189.png"/><Relationship Id="rId2" Type="http://schemas.openxmlformats.org/officeDocument/2006/relationships/image" Target="../media/image188.png"/><Relationship Id="rId1" Type="http://schemas.openxmlformats.org/officeDocument/2006/relationships/slideLayout" Target="../slideLayouts/slideLayout14.xml"/></Relationships>
</file>

<file path=ppt/slides/_rels/slide64.xml.rels><?xml version="1.0" encoding="UTF-8" standalone="yes"?>
<Relationships xmlns="http://schemas.openxmlformats.org/package/2006/relationships"><Relationship Id="rId2" Type="http://schemas.openxmlformats.org/officeDocument/2006/relationships/image" Target="../media/image190.emf"/><Relationship Id="rId1" Type="http://schemas.openxmlformats.org/officeDocument/2006/relationships/slideLayout" Target="../slideLayouts/slideLayout14.xml"/></Relationships>
</file>

<file path=ppt/slides/_rels/slide65.xml.rels><?xml version="1.0" encoding="UTF-8" standalone="yes"?>
<Relationships xmlns="http://schemas.openxmlformats.org/package/2006/relationships"><Relationship Id="rId2" Type="http://schemas.openxmlformats.org/officeDocument/2006/relationships/image" Target="../media/image191.emf"/><Relationship Id="rId1" Type="http://schemas.openxmlformats.org/officeDocument/2006/relationships/slideLayout" Target="../slideLayouts/slideLayout14.xml"/></Relationships>
</file>

<file path=ppt/slides/_rels/slide66.xml.rels><?xml version="1.0" encoding="UTF-8" standalone="yes"?>
<Relationships xmlns="http://schemas.openxmlformats.org/package/2006/relationships"><Relationship Id="rId2" Type="http://schemas.openxmlformats.org/officeDocument/2006/relationships/image" Target="../media/image192.emf"/><Relationship Id="rId1" Type="http://schemas.openxmlformats.org/officeDocument/2006/relationships/slideLayout" Target="../slideLayouts/slideLayout14.xml"/></Relationships>
</file>

<file path=ppt/slides/_rels/slide67.xml.rels><?xml version="1.0" encoding="UTF-8" standalone="yes"?>
<Relationships xmlns="http://schemas.openxmlformats.org/package/2006/relationships"><Relationship Id="rId3" Type="http://schemas.openxmlformats.org/officeDocument/2006/relationships/image" Target="../media/image194.jpeg"/><Relationship Id="rId2" Type="http://schemas.openxmlformats.org/officeDocument/2006/relationships/image" Target="../media/image193.jpeg"/><Relationship Id="rId1" Type="http://schemas.openxmlformats.org/officeDocument/2006/relationships/slideLayout" Target="../slideLayouts/slideLayout14.xml"/></Relationships>
</file>

<file path=ppt/slides/_rels/slide68.xml.rels><?xml version="1.0" encoding="UTF-8" standalone="yes"?>
<Relationships xmlns="http://schemas.openxmlformats.org/package/2006/relationships"><Relationship Id="rId2" Type="http://schemas.openxmlformats.org/officeDocument/2006/relationships/image" Target="../media/image195.jpeg"/><Relationship Id="rId1" Type="http://schemas.openxmlformats.org/officeDocument/2006/relationships/slideLayout" Target="../slideLayouts/slideLayout14.xml"/></Relationships>
</file>

<file path=ppt/slides/_rels/slide69.xml.rels><?xml version="1.0" encoding="UTF-8" standalone="yes"?>
<Relationships xmlns="http://schemas.openxmlformats.org/package/2006/relationships"><Relationship Id="rId2" Type="http://schemas.openxmlformats.org/officeDocument/2006/relationships/image" Target="../media/image196.emf"/><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10847" y="1035995"/>
            <a:ext cx="5486400" cy="1077218"/>
          </a:xfrm>
          <a:prstGeom prst="rect">
            <a:avLst/>
          </a:prstGeom>
          <a:noFill/>
        </p:spPr>
        <p:txBody>
          <a:bodyPr wrap="square" rtlCol="0">
            <a:spAutoFit/>
          </a:bodyPr>
          <a:lstStyle/>
          <a:p>
            <a:r>
              <a:rPr lang="en-US" altLang="zh-CN" sz="3200" b="1" dirty="0">
                <a:solidFill>
                  <a:srgbClr val="FF0000"/>
                </a:solidFill>
                <a:effectLst>
                  <a:outerShdw blurRad="38100" dist="38100" dir="2700000" algn="tl">
                    <a:srgbClr val="000000">
                      <a:alpha val="43137"/>
                    </a:srgbClr>
                  </a:outerShdw>
                </a:effectLst>
                <a:latin typeface="Times New Roman" panose="02020603050405020304" pitchFamily="18" charset="0"/>
                <a:ea typeface="华文楷体" panose="02010600040101010101" pitchFamily="2" charset="-122"/>
                <a:cs typeface="Times New Roman" panose="02020603050405020304" pitchFamily="18" charset="0"/>
              </a:rPr>
              <a:t>Lecture-04/05:</a:t>
            </a:r>
          </a:p>
          <a:p>
            <a:r>
              <a:rPr lang="en-US" altLang="zh-CN" sz="3200" b="1" dirty="0">
                <a:effectLst>
                  <a:outerShdw blurRad="38100" dist="38100" dir="2700000" algn="tl">
                    <a:srgbClr val="000000">
                      <a:alpha val="43137"/>
                    </a:srgbClr>
                  </a:outerShdw>
                </a:effectLst>
                <a:latin typeface="Times New Roman" panose="02020603050405020304" pitchFamily="18" charset="0"/>
                <a:ea typeface="华文楷体" panose="02010600040101010101" pitchFamily="2" charset="-122"/>
                <a:cs typeface="Times New Roman" panose="02020603050405020304" pitchFamily="18" charset="0"/>
              </a:rPr>
              <a:t>Heat engine</a:t>
            </a:r>
            <a:endParaRPr lang="en-US" sz="3200" b="1" dirty="0">
              <a:effectLst>
                <a:outerShdw blurRad="38100" dist="38100" dir="2700000" algn="tl">
                  <a:srgbClr val="000000">
                    <a:alpha val="43137"/>
                  </a:srgbClr>
                </a:outerShdw>
              </a:effectLst>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 name="TextBox 6"/>
          <p:cNvSpPr txBox="1"/>
          <p:nvPr/>
        </p:nvSpPr>
        <p:spPr>
          <a:xfrm>
            <a:off x="3599" y="6409225"/>
            <a:ext cx="1410964" cy="369332"/>
          </a:xfrm>
          <a:prstGeom prst="rect">
            <a:avLst/>
          </a:prstGeom>
          <a:noFill/>
        </p:spPr>
        <p:txBody>
          <a:bodyPr wrap="none" rtlCol="0">
            <a:spAutoFit/>
          </a:bodyPr>
          <a:lstStyle/>
          <a:p>
            <a:r>
              <a:rPr lang="en-US" altLang="zh-CN" sz="1800" b="1" dirty="0">
                <a:latin typeface="Times New Roman" panose="02020603050405020304" pitchFamily="18" charset="0"/>
                <a:cs typeface="Times New Roman" panose="02020603050405020304" pitchFamily="18" charset="0"/>
              </a:rPr>
              <a:t>Sep 7</a:t>
            </a:r>
            <a:r>
              <a:rPr lang="zh-CN" altLang="en-US" sz="1800" b="1" dirty="0">
                <a:latin typeface="Times New Roman" panose="02020603050405020304" pitchFamily="18" charset="0"/>
                <a:cs typeface="Times New Roman" panose="02020603050405020304" pitchFamily="18" charset="0"/>
              </a:rPr>
              <a:t>，</a:t>
            </a:r>
            <a:r>
              <a:rPr lang="en-US" altLang="zh-CN" sz="1800" b="1" dirty="0">
                <a:latin typeface="Times New Roman" panose="02020603050405020304" pitchFamily="18" charset="0"/>
                <a:cs typeface="Times New Roman" panose="02020603050405020304" pitchFamily="18" charset="0"/>
              </a:rPr>
              <a:t>2018</a:t>
            </a:r>
            <a:endParaRPr lang="zh-CN" altLang="en-US" sz="1800" b="1" dirty="0">
              <a:latin typeface="Times New Roman" panose="02020603050405020304" pitchFamily="18" charset="0"/>
              <a:cs typeface="Times New Roman" panose="02020603050405020304" pitchFamily="18" charset="0"/>
            </a:endParaRPr>
          </a:p>
        </p:txBody>
      </p:sp>
      <p:sp>
        <p:nvSpPr>
          <p:cNvPr id="20" name="Subtitle 2"/>
          <p:cNvSpPr txBox="1">
            <a:spLocks/>
          </p:cNvSpPr>
          <p:nvPr/>
        </p:nvSpPr>
        <p:spPr>
          <a:xfrm>
            <a:off x="1607544" y="2540000"/>
            <a:ext cx="7433153" cy="2022143"/>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sz="2800" b="1" dirty="0" err="1">
                <a:solidFill>
                  <a:srgbClr val="0000FF"/>
                </a:solidFill>
              </a:rPr>
              <a:t>Weishu</a:t>
            </a:r>
            <a:r>
              <a:rPr lang="en-US" sz="2800" b="1" dirty="0">
                <a:solidFill>
                  <a:srgbClr val="0000FF"/>
                </a:solidFill>
              </a:rPr>
              <a:t> </a:t>
            </a:r>
            <a:r>
              <a:rPr lang="en-US" altLang="zh-CN" sz="2800" b="1" dirty="0">
                <a:solidFill>
                  <a:srgbClr val="0000FF"/>
                </a:solidFill>
              </a:rPr>
              <a:t>L</a:t>
            </a:r>
            <a:r>
              <a:rPr lang="en-US" sz="2800" b="1" dirty="0">
                <a:solidFill>
                  <a:srgbClr val="0000FF"/>
                </a:solidFill>
              </a:rPr>
              <a:t>iu</a:t>
            </a:r>
          </a:p>
          <a:p>
            <a:pPr algn="l"/>
            <a:r>
              <a:rPr lang="en-US" sz="1800" dirty="0">
                <a:solidFill>
                  <a:schemeClr val="tx1"/>
                </a:solidFill>
              </a:rPr>
              <a:t>Department of Materials Science and Engineering</a:t>
            </a:r>
          </a:p>
          <a:p>
            <a:pPr algn="l"/>
            <a:r>
              <a:rPr lang="en-US" sz="1800" dirty="0">
                <a:solidFill>
                  <a:schemeClr val="tx1"/>
                </a:solidFill>
              </a:rPr>
              <a:t>Southern University of Science and Technology (</a:t>
            </a:r>
            <a:r>
              <a:rPr lang="en-US" sz="1800" dirty="0" err="1">
                <a:solidFill>
                  <a:schemeClr val="tx1"/>
                </a:solidFill>
              </a:rPr>
              <a:t>SUSTec</a:t>
            </a:r>
            <a:r>
              <a:rPr lang="en-US" altLang="zh-CN" sz="1800" dirty="0" err="1">
                <a:solidFill>
                  <a:schemeClr val="tx1"/>
                </a:solidFill>
              </a:rPr>
              <a:t>h</a:t>
            </a:r>
            <a:r>
              <a:rPr lang="en-US" sz="1800" dirty="0">
                <a:solidFill>
                  <a:schemeClr val="tx1"/>
                </a:solidFill>
              </a:rPr>
              <a:t>)</a:t>
            </a:r>
          </a:p>
          <a:p>
            <a:pPr algn="l"/>
            <a:r>
              <a:rPr lang="en-US" sz="1800" b="1" dirty="0">
                <a:solidFill>
                  <a:schemeClr val="tx1"/>
                </a:solidFill>
              </a:rPr>
              <a:t>Email: </a:t>
            </a:r>
            <a:r>
              <a:rPr lang="en-US" sz="1800" dirty="0">
                <a:solidFill>
                  <a:schemeClr val="tx1"/>
                </a:solidFill>
              </a:rPr>
              <a:t>liuws@sust</a:t>
            </a:r>
            <a:r>
              <a:rPr lang="en-US" altLang="zh-CN" sz="1800" dirty="0">
                <a:solidFill>
                  <a:schemeClr val="tx1"/>
                </a:solidFill>
              </a:rPr>
              <a:t>ech</a:t>
            </a:r>
            <a:r>
              <a:rPr lang="en-US" sz="1800" dirty="0">
                <a:solidFill>
                  <a:schemeClr val="tx1"/>
                </a:solidFill>
              </a:rPr>
              <a:t>.edu.cn</a:t>
            </a:r>
          </a:p>
          <a:p>
            <a:pPr algn="l"/>
            <a:r>
              <a:rPr lang="en-US" sz="1800" b="1" dirty="0">
                <a:solidFill>
                  <a:schemeClr val="tx1"/>
                </a:solidFill>
              </a:rPr>
              <a:t>Office: </a:t>
            </a:r>
            <a:r>
              <a:rPr lang="en-US" altLang="zh-CN" sz="1800" dirty="0">
                <a:solidFill>
                  <a:schemeClr val="tx1"/>
                </a:solidFill>
              </a:rPr>
              <a:t>North Tower</a:t>
            </a:r>
            <a:r>
              <a:rPr lang="zh-CN" altLang="en-US" sz="1800" dirty="0">
                <a:solidFill>
                  <a:schemeClr val="tx1"/>
                </a:solidFill>
              </a:rPr>
              <a:t>，</a:t>
            </a:r>
            <a:r>
              <a:rPr lang="en-US" sz="1800" dirty="0">
                <a:solidFill>
                  <a:schemeClr val="tx1"/>
                </a:solidFill>
              </a:rPr>
              <a:t>Rm310</a:t>
            </a:r>
          </a:p>
        </p:txBody>
      </p:sp>
      <p:sp>
        <p:nvSpPr>
          <p:cNvPr id="16" name="Slide Number Placeholder 3"/>
          <p:cNvSpPr txBox="1">
            <a:spLocks/>
          </p:cNvSpPr>
          <p:nvPr/>
        </p:nvSpPr>
        <p:spPr>
          <a:xfrm>
            <a:off x="6934200" y="6477000"/>
            <a:ext cx="21336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i="1" dirty="0"/>
              <a:t>Prof. W.S. Liu  </a:t>
            </a:r>
            <a:r>
              <a:rPr lang="en-US" dirty="0"/>
              <a:t>|  </a:t>
            </a:r>
            <a:fld id="{C915B95C-5458-41FC-90FC-CACA4B5603FB}" type="slidenum">
              <a:rPr lang="en-US" smtClean="0"/>
              <a:pPr algn="r"/>
              <a:t>1</a:t>
            </a:fld>
            <a:endParaRPr lang="en-US" dirty="0"/>
          </a:p>
        </p:txBody>
      </p:sp>
      <p:pic>
        <p:nvPicPr>
          <p:cNvPr id="8" name="图片 7"/>
          <p:cNvPicPr>
            <a:picLocks noChangeAspect="1"/>
          </p:cNvPicPr>
          <p:nvPr/>
        </p:nvPicPr>
        <p:blipFill rotWithShape="1">
          <a:blip r:embed="rId2" cstate="print">
            <a:extLst>
              <a:ext uri="{28A0092B-C50C-407E-A947-70E740481C1C}">
                <a14:useLocalDpi xmlns:a14="http://schemas.microsoft.com/office/drawing/2010/main" val="0"/>
              </a:ext>
            </a:extLst>
          </a:blip>
          <a:srcRect l="18449" t="32802" r="17069" b="36756"/>
          <a:stretch/>
        </p:blipFill>
        <p:spPr>
          <a:xfrm>
            <a:off x="152400" y="4724400"/>
            <a:ext cx="2333297" cy="734346"/>
          </a:xfrm>
          <a:prstGeom prst="rect">
            <a:avLst/>
          </a:prstGeom>
        </p:spPr>
      </p:pic>
      <p:sp>
        <p:nvSpPr>
          <p:cNvPr id="9" name="矩形 8"/>
          <p:cNvSpPr/>
          <p:nvPr/>
        </p:nvSpPr>
        <p:spPr>
          <a:xfrm>
            <a:off x="1524000" y="129808"/>
            <a:ext cx="7460256" cy="523220"/>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b="1" i="1" dirty="0">
                <a:solidFill>
                  <a:srgbClr val="0000FF"/>
                </a:solidFill>
                <a:effectLst>
                  <a:outerShdw blurRad="38100" dist="38100" dir="2700000" algn="tl">
                    <a:srgbClr val="000000">
                      <a:alpha val="43137"/>
                    </a:srgbClr>
                  </a:outerShdw>
                </a:effectLst>
                <a:latin typeface="Times New Roman" panose="02020603050405020304" pitchFamily="18" charset="0"/>
                <a:ea typeface="华文楷体" panose="02010600040101010101" pitchFamily="2" charset="-122"/>
                <a:cs typeface="Times New Roman" panose="02020603050405020304" pitchFamily="18" charset="0"/>
              </a:rPr>
              <a:t>MSE 311: Thermodynamics  of Materials</a:t>
            </a:r>
          </a:p>
        </p:txBody>
      </p:sp>
      <p:sp>
        <p:nvSpPr>
          <p:cNvPr id="2" name="文本框 1">
            <a:extLst>
              <a:ext uri="{FF2B5EF4-FFF2-40B4-BE49-F238E27FC236}">
                <a16:creationId xmlns:a16="http://schemas.microsoft.com/office/drawing/2014/main" id="{820E2E78-F2BB-1130-B6EE-DB30139F863C}"/>
              </a:ext>
            </a:extLst>
          </p:cNvPr>
          <p:cNvSpPr txBox="1"/>
          <p:nvPr/>
        </p:nvSpPr>
        <p:spPr>
          <a:xfrm>
            <a:off x="152400" y="1928547"/>
            <a:ext cx="1133644" cy="369332"/>
          </a:xfrm>
          <a:prstGeom prst="rect">
            <a:avLst/>
          </a:prstGeom>
          <a:noFill/>
        </p:spPr>
        <p:txBody>
          <a:bodyPr wrap="none" rtlCol="0">
            <a:spAutoFit/>
          </a:bodyPr>
          <a:lstStyle/>
          <a:p>
            <a:r>
              <a:rPr lang="en-US" altLang="zh-CN" dirty="0"/>
              <a:t>2022 Fall</a:t>
            </a:r>
            <a:endParaRPr lang="zh-CN" altLang="en-US" dirty="0"/>
          </a:p>
        </p:txBody>
      </p:sp>
    </p:spTree>
    <p:extLst>
      <p:ext uri="{BB962C8B-B14F-4D97-AF65-F5344CB8AC3E}">
        <p14:creationId xmlns:p14="http://schemas.microsoft.com/office/powerpoint/2010/main" val="2765089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600" dirty="0">
                <a:solidFill>
                  <a:srgbClr val="FF0000"/>
                </a:solidFill>
              </a:rPr>
              <a:t>6. Work done by Compressed air</a:t>
            </a:r>
            <a:endParaRPr lang="zh-CN" altLang="en-US" sz="3600" dirty="0">
              <a:solidFill>
                <a:srgbClr val="FF0000"/>
              </a:solidFill>
            </a:endParaRPr>
          </a:p>
        </p:txBody>
      </p:sp>
      <p:sp>
        <p:nvSpPr>
          <p:cNvPr id="3" name="矩形 2"/>
          <p:cNvSpPr/>
          <p:nvPr/>
        </p:nvSpPr>
        <p:spPr>
          <a:xfrm>
            <a:off x="1061208" y="4347406"/>
            <a:ext cx="6639886" cy="369332"/>
          </a:xfrm>
          <a:prstGeom prst="rect">
            <a:avLst/>
          </a:prstGeom>
        </p:spPr>
        <p:txBody>
          <a:bodyPr wrap="square">
            <a:spAutoFit/>
          </a:bodyPr>
          <a:lstStyle/>
          <a:p>
            <a:r>
              <a:rPr lang="en-US" altLang="zh-CN" b="1" dirty="0">
                <a:solidFill>
                  <a:srgbClr val="0000FF"/>
                </a:solidFill>
              </a:rPr>
              <a:t>Ref. Thermodynamics: A Engineering approach, Chapter 9</a:t>
            </a:r>
            <a:r>
              <a:rPr lang="zh-CN" altLang="en-US" b="1" dirty="0">
                <a:solidFill>
                  <a:srgbClr val="0000FF"/>
                </a:solidFill>
              </a:rPr>
              <a:t> </a:t>
            </a:r>
            <a:endParaRPr lang="zh-CN" altLang="en-US" dirty="0">
              <a:solidFill>
                <a:srgbClr val="0000FF"/>
              </a:solidFill>
            </a:endParaRPr>
          </a:p>
        </p:txBody>
      </p:sp>
    </p:spTree>
    <p:extLst>
      <p:ext uri="{BB962C8B-B14F-4D97-AF65-F5344CB8AC3E}">
        <p14:creationId xmlns:p14="http://schemas.microsoft.com/office/powerpoint/2010/main" val="7169146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963510" y="70626"/>
            <a:ext cx="7324760" cy="539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sz="3200" b="1" dirty="0" err="1">
                <a:solidFill>
                  <a:srgbClr val="FF0000"/>
                </a:solidFill>
                <a:effectLst>
                  <a:outerShdw blurRad="38100" dist="38100" dir="2700000" algn="tl">
                    <a:srgbClr val="000000">
                      <a:alpha val="43137"/>
                    </a:srgbClr>
                  </a:outerShdw>
                </a:effectLst>
                <a:latin typeface="Arial" charset="0"/>
                <a:cs typeface="Arial" charset="0"/>
              </a:rPr>
              <a:t>Exergy</a:t>
            </a:r>
            <a:r>
              <a:rPr lang="en-US" sz="3200" b="1" dirty="0">
                <a:solidFill>
                  <a:srgbClr val="0000FF"/>
                </a:solidFill>
                <a:effectLst>
                  <a:outerShdw blurRad="38100" dist="38100" dir="2700000" algn="tl">
                    <a:srgbClr val="000000">
                      <a:alpha val="43137"/>
                    </a:srgbClr>
                  </a:outerShdw>
                </a:effectLst>
                <a:latin typeface="Arial" charset="0"/>
                <a:cs typeface="Arial" charset="0"/>
              </a:rPr>
              <a:t>:</a:t>
            </a:r>
            <a:r>
              <a:rPr lang="en-US" sz="3200" b="1" dirty="0">
                <a:effectLst>
                  <a:outerShdw blurRad="38100" dist="38100" dir="2700000" algn="tl">
                    <a:srgbClr val="000000">
                      <a:alpha val="43137"/>
                    </a:srgbClr>
                  </a:outerShdw>
                </a:effectLst>
                <a:latin typeface="Arial" charset="0"/>
                <a:cs typeface="Arial" charset="0"/>
              </a:rPr>
              <a:t> </a:t>
            </a:r>
            <a:r>
              <a:rPr lang="en-US" sz="3200" b="1" dirty="0">
                <a:solidFill>
                  <a:srgbClr val="0000FF"/>
                </a:solidFill>
                <a:effectLst>
                  <a:outerShdw blurRad="38100" dist="38100" dir="2700000" algn="tl">
                    <a:srgbClr val="000000">
                      <a:alpha val="43137"/>
                    </a:srgbClr>
                  </a:outerShdw>
                </a:effectLst>
                <a:latin typeface="Arial" charset="0"/>
                <a:cs typeface="Arial" charset="0"/>
              </a:rPr>
              <a:t>Work Potential of Energy</a:t>
            </a:r>
            <a:endParaRPr lang="en-US" sz="3200" dirty="0">
              <a:solidFill>
                <a:srgbClr val="0000FF"/>
              </a:solidFill>
            </a:endParaRPr>
          </a:p>
        </p:txBody>
      </p:sp>
      <p:sp>
        <p:nvSpPr>
          <p:cNvPr id="7" name="TextBox 6"/>
          <p:cNvSpPr txBox="1"/>
          <p:nvPr/>
        </p:nvSpPr>
        <p:spPr>
          <a:xfrm>
            <a:off x="460375" y="1633099"/>
            <a:ext cx="8331031" cy="3508653"/>
          </a:xfrm>
          <a:prstGeom prst="rect">
            <a:avLst/>
          </a:prstGeom>
          <a:noFill/>
        </p:spPr>
        <p:txBody>
          <a:bodyPr wrap="square" rtlCol="0">
            <a:spAutoFit/>
          </a:bodyPr>
          <a:lstStyle/>
          <a:p>
            <a:r>
              <a:rPr lang="en-US" altLang="zh-CN" sz="1800" b="1" dirty="0"/>
              <a:t>Work potential of a system: </a:t>
            </a:r>
            <a:r>
              <a:rPr lang="en-US" altLang="zh-CN" sz="1800" dirty="0"/>
              <a:t>the amount of energy we can extract from the system to do useful work.</a:t>
            </a:r>
            <a:endParaRPr lang="en-US" altLang="zh-CN" sz="1800" dirty="0">
              <a:sym typeface="Symbol"/>
            </a:endParaRPr>
          </a:p>
          <a:p>
            <a:endParaRPr lang="en-US" altLang="zh-CN" sz="1800" dirty="0">
              <a:sym typeface="Symbol"/>
            </a:endParaRPr>
          </a:p>
          <a:p>
            <a:r>
              <a:rPr lang="en-US" altLang="zh-CN" sz="1800" b="1" dirty="0">
                <a:sym typeface="Symbol"/>
              </a:rPr>
              <a:t>Dead state</a:t>
            </a:r>
            <a:r>
              <a:rPr lang="en-US" altLang="zh-CN" sz="1800" dirty="0">
                <a:sym typeface="Symbol"/>
              </a:rPr>
              <a:t>: a system is in thermodynamic equilibrium with the environment it is in.</a:t>
            </a:r>
          </a:p>
          <a:p>
            <a:endParaRPr lang="en-US" altLang="zh-CN" sz="1800" dirty="0">
              <a:sym typeface="Symbol"/>
            </a:endParaRPr>
          </a:p>
          <a:p>
            <a:r>
              <a:rPr lang="en-US" altLang="zh-CN" sz="1800" dirty="0">
                <a:sym typeface="Symbol"/>
              </a:rPr>
              <a:t>System delivers the maximum possible work as it undergoes a reversible process from the specified initial state to the state of its environment, that is, the dead state. This represents the useful work potential of the system at the specified and is called </a:t>
            </a:r>
            <a:r>
              <a:rPr lang="en-US" altLang="zh-CN" sz="1800" b="1" dirty="0" err="1">
                <a:sym typeface="Symbol"/>
              </a:rPr>
              <a:t>exergy</a:t>
            </a:r>
            <a:r>
              <a:rPr lang="en-US" altLang="zh-CN" sz="1800" b="1" dirty="0">
                <a:sym typeface="Symbol"/>
              </a:rPr>
              <a:t>. </a:t>
            </a:r>
          </a:p>
          <a:p>
            <a:endParaRPr lang="en-US" altLang="zh-CN" sz="1800" b="1" dirty="0">
              <a:sym typeface="Symbol"/>
            </a:endParaRPr>
          </a:p>
          <a:p>
            <a:pPr algn="ctr"/>
            <a:r>
              <a:rPr lang="en-US" altLang="zh-CN" sz="2000" dirty="0" err="1">
                <a:solidFill>
                  <a:srgbClr val="FF0000"/>
                </a:solidFill>
              </a:rPr>
              <a:t>Exergy</a:t>
            </a:r>
            <a:r>
              <a:rPr lang="en-US" altLang="zh-CN" sz="2000" dirty="0">
                <a:solidFill>
                  <a:srgbClr val="FF0000"/>
                </a:solidFill>
              </a:rPr>
              <a:t> is a system-environment combined property.</a:t>
            </a:r>
          </a:p>
          <a:p>
            <a:pPr algn="ctr"/>
            <a:endParaRPr lang="en-US" altLang="zh-CN" sz="2000" b="1" dirty="0">
              <a:solidFill>
                <a:srgbClr val="FF0000"/>
              </a:solidFill>
            </a:endParaRPr>
          </a:p>
          <a:p>
            <a:pPr algn="ctr"/>
            <a:r>
              <a:rPr lang="en-US" altLang="zh-CN" sz="2000" dirty="0">
                <a:solidFill>
                  <a:srgbClr val="FF0000"/>
                </a:solidFill>
              </a:rPr>
              <a:t>The </a:t>
            </a:r>
            <a:r>
              <a:rPr lang="en-US" altLang="zh-CN" sz="2000" dirty="0" err="1">
                <a:solidFill>
                  <a:srgbClr val="FF0000"/>
                </a:solidFill>
              </a:rPr>
              <a:t>exergy</a:t>
            </a:r>
            <a:r>
              <a:rPr lang="en-US" altLang="zh-CN" sz="2000" dirty="0">
                <a:solidFill>
                  <a:srgbClr val="FF0000"/>
                </a:solidFill>
              </a:rPr>
              <a:t> of a system in the dead state is zero.</a:t>
            </a:r>
            <a:endParaRPr lang="zh-CN" altLang="en-US" sz="2000" dirty="0">
              <a:solidFill>
                <a:srgbClr val="FF0000"/>
              </a:solidFill>
            </a:endParaRPr>
          </a:p>
        </p:txBody>
      </p:sp>
    </p:spTree>
    <p:extLst>
      <p:ext uri="{BB962C8B-B14F-4D97-AF65-F5344CB8AC3E}">
        <p14:creationId xmlns:p14="http://schemas.microsoft.com/office/powerpoint/2010/main" val="3443778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378984" y="211396"/>
            <a:ext cx="5850491" cy="470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sz="3200" b="1" dirty="0" err="1">
                <a:solidFill>
                  <a:srgbClr val="FF0000"/>
                </a:solidFill>
                <a:effectLst>
                  <a:outerShdw blurRad="38100" dist="38100" dir="2700000" algn="tl">
                    <a:srgbClr val="000000">
                      <a:alpha val="43137"/>
                    </a:srgbClr>
                  </a:outerShdw>
                </a:effectLst>
                <a:latin typeface="Arial" charset="0"/>
                <a:cs typeface="Arial" charset="0"/>
              </a:rPr>
              <a:t>Exergy</a:t>
            </a:r>
            <a:r>
              <a:rPr lang="en-US" sz="3200" b="1" dirty="0">
                <a:solidFill>
                  <a:srgbClr val="FF0000"/>
                </a:solidFill>
                <a:effectLst>
                  <a:outerShdw blurRad="38100" dist="38100" dir="2700000" algn="tl">
                    <a:srgbClr val="000000">
                      <a:alpha val="43137"/>
                    </a:srgbClr>
                  </a:outerShdw>
                </a:effectLst>
                <a:latin typeface="Arial" charset="0"/>
                <a:cs typeface="Arial" charset="0"/>
              </a:rPr>
              <a:t> from Different Energy</a:t>
            </a:r>
            <a:endParaRPr lang="en-US" sz="3200" dirty="0">
              <a:solidFill>
                <a:srgbClr val="FF0000"/>
              </a:solidFill>
            </a:endParaRPr>
          </a:p>
        </p:txBody>
      </p:sp>
      <p:pic>
        <p:nvPicPr>
          <p:cNvPr id="9523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8651" y="2970861"/>
            <a:ext cx="6073917" cy="8506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523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651" y="3967856"/>
            <a:ext cx="5912270" cy="4547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523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8651" y="862635"/>
            <a:ext cx="6239940" cy="8382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748651" y="4481943"/>
            <a:ext cx="1260666" cy="369332"/>
          </a:xfrm>
          <a:prstGeom prst="rect">
            <a:avLst/>
          </a:prstGeom>
          <a:noFill/>
        </p:spPr>
        <p:txBody>
          <a:bodyPr wrap="none" rtlCol="0">
            <a:spAutoFit/>
          </a:bodyPr>
          <a:lstStyle/>
          <a:p>
            <a:r>
              <a:rPr lang="en-US" altLang="zh-CN" dirty="0"/>
              <a:t>The </a:t>
            </a:r>
            <a:r>
              <a:rPr lang="en-US" altLang="zh-CN" dirty="0" err="1"/>
              <a:t>Exergy</a:t>
            </a:r>
            <a:r>
              <a:rPr lang="en-US" altLang="zh-CN" dirty="0"/>
              <a:t>:</a:t>
            </a:r>
            <a:endParaRPr lang="zh-CN" altLang="en-US" dirty="0"/>
          </a:p>
        </p:txBody>
      </p:sp>
      <p:graphicFrame>
        <p:nvGraphicFramePr>
          <p:cNvPr id="4" name="对象 3"/>
          <p:cNvGraphicFramePr>
            <a:graphicFrameLocks noChangeAspect="1"/>
          </p:cNvGraphicFramePr>
          <p:nvPr/>
        </p:nvGraphicFramePr>
        <p:xfrm>
          <a:off x="1849872" y="4971409"/>
          <a:ext cx="4132179" cy="1117600"/>
        </p:xfrm>
        <a:graphic>
          <a:graphicData uri="http://schemas.openxmlformats.org/presentationml/2006/ole">
            <mc:AlternateContent xmlns:mc="http://schemas.openxmlformats.org/markup-compatibility/2006">
              <mc:Choice xmlns:v="urn:schemas-microsoft-com:vml" Requires="v">
                <p:oleObj name="Equation" r:id="rId5" imgW="3568680" imgH="965160" progId="Equation.DSMT4">
                  <p:embed/>
                </p:oleObj>
              </mc:Choice>
              <mc:Fallback>
                <p:oleObj name="Equation" r:id="rId5" imgW="3568680" imgH="965160" progId="Equation.DSMT4">
                  <p:embed/>
                  <p:pic>
                    <p:nvPicPr>
                      <p:cNvPr id="4" name="对象 3"/>
                      <p:cNvPicPr/>
                      <p:nvPr/>
                    </p:nvPicPr>
                    <p:blipFill>
                      <a:blip r:embed="rId6"/>
                      <a:stretch>
                        <a:fillRect/>
                      </a:stretch>
                    </p:blipFill>
                    <p:spPr>
                      <a:xfrm>
                        <a:off x="1849872" y="4971409"/>
                        <a:ext cx="4132179" cy="1117600"/>
                      </a:xfrm>
                      <a:prstGeom prst="rect">
                        <a:avLst/>
                      </a:prstGeom>
                      <a:ln>
                        <a:solidFill>
                          <a:srgbClr val="FF0000"/>
                        </a:solidFill>
                      </a:ln>
                    </p:spPr>
                  </p:pic>
                </p:oleObj>
              </mc:Fallback>
            </mc:AlternateContent>
          </a:graphicData>
        </a:graphic>
      </p:graphicFrame>
      <p:graphicFrame>
        <p:nvGraphicFramePr>
          <p:cNvPr id="7" name="对象 6"/>
          <p:cNvGraphicFramePr>
            <a:graphicFrameLocks noChangeAspect="1"/>
          </p:cNvGraphicFramePr>
          <p:nvPr/>
        </p:nvGraphicFramePr>
        <p:xfrm>
          <a:off x="1622425" y="1746250"/>
          <a:ext cx="3802063" cy="893763"/>
        </p:xfrm>
        <a:graphic>
          <a:graphicData uri="http://schemas.openxmlformats.org/presentationml/2006/ole">
            <mc:AlternateContent xmlns:mc="http://schemas.openxmlformats.org/markup-compatibility/2006">
              <mc:Choice xmlns:v="urn:schemas-microsoft-com:vml" Requires="v">
                <p:oleObj name="Equation" r:id="rId7" imgW="2806560" imgH="660240" progId="Equation.DSMT4">
                  <p:embed/>
                </p:oleObj>
              </mc:Choice>
              <mc:Fallback>
                <p:oleObj name="Equation" r:id="rId7" imgW="2806560" imgH="660240" progId="Equation.DSMT4">
                  <p:embed/>
                  <p:pic>
                    <p:nvPicPr>
                      <p:cNvPr id="7" name="对象 6"/>
                      <p:cNvPicPr/>
                      <p:nvPr/>
                    </p:nvPicPr>
                    <p:blipFill>
                      <a:blip r:embed="rId8"/>
                      <a:stretch>
                        <a:fillRect/>
                      </a:stretch>
                    </p:blipFill>
                    <p:spPr>
                      <a:xfrm>
                        <a:off x="1622425" y="1746250"/>
                        <a:ext cx="3802063" cy="893763"/>
                      </a:xfrm>
                      <a:prstGeom prst="rect">
                        <a:avLst/>
                      </a:prstGeom>
                    </p:spPr>
                  </p:pic>
                </p:oleObj>
              </mc:Fallback>
            </mc:AlternateContent>
          </a:graphicData>
        </a:graphic>
      </p:graphicFrame>
      <p:sp>
        <p:nvSpPr>
          <p:cNvPr id="8" name="TextBox 7"/>
          <p:cNvSpPr txBox="1"/>
          <p:nvPr/>
        </p:nvSpPr>
        <p:spPr>
          <a:xfrm>
            <a:off x="666521" y="1745609"/>
            <a:ext cx="1072730" cy="923330"/>
          </a:xfrm>
          <a:prstGeom prst="rect">
            <a:avLst/>
          </a:prstGeom>
          <a:noFill/>
        </p:spPr>
        <p:txBody>
          <a:bodyPr wrap="none" rtlCol="0">
            <a:spAutoFit/>
          </a:bodyPr>
          <a:lstStyle/>
          <a:p>
            <a:pPr>
              <a:lnSpc>
                <a:spcPct val="150000"/>
              </a:lnSpc>
            </a:pPr>
            <a:r>
              <a:rPr lang="en-US" altLang="zh-CN" dirty="0"/>
              <a:t>2</a:t>
            </a:r>
            <a:r>
              <a:rPr lang="en-US" altLang="zh-CN" baseline="30000" dirty="0"/>
              <a:t>nd</a:t>
            </a:r>
            <a:r>
              <a:rPr lang="en-US" altLang="zh-CN" dirty="0"/>
              <a:t> law</a:t>
            </a:r>
            <a:r>
              <a:rPr lang="zh-CN" altLang="en-US" dirty="0"/>
              <a:t>：</a:t>
            </a:r>
            <a:endParaRPr lang="en-US" altLang="zh-CN" dirty="0"/>
          </a:p>
          <a:p>
            <a:pPr>
              <a:lnSpc>
                <a:spcPct val="150000"/>
              </a:lnSpc>
            </a:pPr>
            <a:r>
              <a:rPr lang="en-US" altLang="zh-CN" dirty="0"/>
              <a:t>1</a:t>
            </a:r>
            <a:r>
              <a:rPr lang="en-US" altLang="zh-CN" baseline="30000" dirty="0"/>
              <a:t>st</a:t>
            </a:r>
            <a:r>
              <a:rPr lang="en-US" altLang="zh-CN" dirty="0"/>
              <a:t> law:</a:t>
            </a:r>
            <a:endParaRPr lang="zh-CN" altLang="en-US" dirty="0"/>
          </a:p>
        </p:txBody>
      </p:sp>
      <p:cxnSp>
        <p:nvCxnSpPr>
          <p:cNvPr id="17" name="直接连接符 16"/>
          <p:cNvCxnSpPr/>
          <p:nvPr/>
        </p:nvCxnSpPr>
        <p:spPr>
          <a:xfrm>
            <a:off x="1586851" y="2668939"/>
            <a:ext cx="42246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4253851" y="2167713"/>
            <a:ext cx="422466"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任意多边形 18"/>
          <p:cNvSpPr/>
          <p:nvPr/>
        </p:nvSpPr>
        <p:spPr>
          <a:xfrm>
            <a:off x="1789721" y="2279009"/>
            <a:ext cx="2636322" cy="644995"/>
          </a:xfrm>
          <a:custGeom>
            <a:avLst/>
            <a:gdLst>
              <a:gd name="connsiteX0" fmla="*/ 0 w 2636322"/>
              <a:gd name="connsiteY0" fmla="*/ 391886 h 644995"/>
              <a:gd name="connsiteX1" fmla="*/ 1389413 w 2636322"/>
              <a:gd name="connsiteY1" fmla="*/ 629392 h 644995"/>
              <a:gd name="connsiteX2" fmla="*/ 2636322 w 2636322"/>
              <a:gd name="connsiteY2" fmla="*/ 0 h 644995"/>
            </a:gdLst>
            <a:ahLst/>
            <a:cxnLst>
              <a:cxn ang="0">
                <a:pos x="connsiteX0" y="connsiteY0"/>
              </a:cxn>
              <a:cxn ang="0">
                <a:pos x="connsiteX1" y="connsiteY1"/>
              </a:cxn>
              <a:cxn ang="0">
                <a:pos x="connsiteX2" y="connsiteY2"/>
              </a:cxn>
            </a:cxnLst>
            <a:rect l="l" t="t" r="r" b="b"/>
            <a:pathLst>
              <a:path w="2636322" h="644995">
                <a:moveTo>
                  <a:pt x="0" y="391886"/>
                </a:moveTo>
                <a:cubicBezTo>
                  <a:pt x="475013" y="543296"/>
                  <a:pt x="950026" y="694706"/>
                  <a:pt x="1389413" y="629392"/>
                </a:cubicBezTo>
                <a:cubicBezTo>
                  <a:pt x="1828800" y="564078"/>
                  <a:pt x="2232561" y="282039"/>
                  <a:pt x="2636322" y="0"/>
                </a:cubicBezTo>
              </a:path>
            </a:pathLst>
          </a:custGeom>
          <a:noFill/>
          <a:ln>
            <a:prstDash val="dash"/>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0" name="对象 19"/>
          <p:cNvGraphicFramePr>
            <a:graphicFrameLocks noChangeAspect="1"/>
          </p:cNvGraphicFramePr>
          <p:nvPr/>
        </p:nvGraphicFramePr>
        <p:xfrm>
          <a:off x="5665365" y="1843597"/>
          <a:ext cx="3257366" cy="648232"/>
        </p:xfrm>
        <a:graphic>
          <a:graphicData uri="http://schemas.openxmlformats.org/presentationml/2006/ole">
            <mc:AlternateContent xmlns:mc="http://schemas.openxmlformats.org/markup-compatibility/2006">
              <mc:Choice xmlns:v="urn:schemas-microsoft-com:vml" Requires="v">
                <p:oleObj name="Equation" r:id="rId9" imgW="2552400" imgH="507960" progId="Equation.DSMT4">
                  <p:embed/>
                </p:oleObj>
              </mc:Choice>
              <mc:Fallback>
                <p:oleObj name="Equation" r:id="rId9" imgW="2552400" imgH="507960" progId="Equation.DSMT4">
                  <p:embed/>
                  <p:pic>
                    <p:nvPicPr>
                      <p:cNvPr id="20" name="对象 19"/>
                      <p:cNvPicPr/>
                      <p:nvPr/>
                    </p:nvPicPr>
                    <p:blipFill>
                      <a:blip r:embed="rId10"/>
                      <a:stretch>
                        <a:fillRect/>
                      </a:stretch>
                    </p:blipFill>
                    <p:spPr>
                      <a:xfrm>
                        <a:off x="5665365" y="1843597"/>
                        <a:ext cx="3257366" cy="648232"/>
                      </a:xfrm>
                      <a:prstGeom prst="rect">
                        <a:avLst/>
                      </a:prstGeom>
                      <a:ln>
                        <a:solidFill>
                          <a:srgbClr val="FF0000"/>
                        </a:solidFill>
                      </a:ln>
                    </p:spPr>
                  </p:pic>
                </p:oleObj>
              </mc:Fallback>
            </mc:AlternateContent>
          </a:graphicData>
        </a:graphic>
      </p:graphicFrame>
    </p:spTree>
    <p:extLst>
      <p:ext uri="{BB962C8B-B14F-4D97-AF65-F5344CB8AC3E}">
        <p14:creationId xmlns:p14="http://schemas.microsoft.com/office/powerpoint/2010/main" val="5175599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5" name="Title 1"/>
          <p:cNvSpPr txBox="1">
            <a:spLocks/>
          </p:cNvSpPr>
          <p:nvPr/>
        </p:nvSpPr>
        <p:spPr bwMode="auto">
          <a:xfrm>
            <a:off x="995686" y="85746"/>
            <a:ext cx="7324760" cy="55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altLang="zh-CN" sz="3200" b="1" dirty="0" err="1">
                <a:solidFill>
                  <a:srgbClr val="FF0000"/>
                </a:solidFill>
                <a:effectLst>
                  <a:outerShdw blurRad="38100" dist="38100" dir="2700000" algn="tl">
                    <a:srgbClr val="000000">
                      <a:alpha val="43137"/>
                    </a:srgbClr>
                  </a:outerShdw>
                </a:effectLst>
                <a:latin typeface="Arial" charset="0"/>
                <a:cs typeface="Arial" charset="0"/>
              </a:rPr>
              <a:t>Exergy</a:t>
            </a:r>
            <a:r>
              <a:rPr lang="en-US" altLang="zh-CN" sz="3200" b="1" dirty="0">
                <a:solidFill>
                  <a:srgbClr val="FF0000"/>
                </a:solidFill>
                <a:effectLst>
                  <a:outerShdw blurRad="38100" dist="38100" dir="2700000" algn="tl">
                    <a:srgbClr val="000000">
                      <a:alpha val="43137"/>
                    </a:srgbClr>
                  </a:outerShdw>
                </a:effectLst>
                <a:latin typeface="Arial" charset="0"/>
                <a:cs typeface="Arial" charset="0"/>
              </a:rPr>
              <a:t> </a:t>
            </a:r>
            <a:r>
              <a:rPr lang="en-US" sz="3200" b="1" dirty="0">
                <a:solidFill>
                  <a:srgbClr val="FF0000"/>
                </a:solidFill>
                <a:effectLst>
                  <a:outerShdw blurRad="38100" dist="38100" dir="2700000" algn="tl">
                    <a:srgbClr val="000000">
                      <a:alpha val="43137"/>
                    </a:srgbClr>
                  </a:outerShdw>
                </a:effectLst>
                <a:latin typeface="Arial" charset="0"/>
                <a:cs typeface="Arial" charset="0"/>
              </a:rPr>
              <a:t>of compressed air</a:t>
            </a:r>
            <a:endParaRPr lang="en-US" sz="3200" dirty="0">
              <a:solidFill>
                <a:srgbClr val="FF0000"/>
              </a:solidFill>
            </a:endParaRPr>
          </a:p>
        </p:txBody>
      </p:sp>
      <p:sp>
        <p:nvSpPr>
          <p:cNvPr id="11" name="TextBox 10"/>
          <p:cNvSpPr txBox="1"/>
          <p:nvPr/>
        </p:nvSpPr>
        <p:spPr>
          <a:xfrm>
            <a:off x="307975" y="1009612"/>
            <a:ext cx="6854825" cy="923330"/>
          </a:xfrm>
          <a:prstGeom prst="rect">
            <a:avLst/>
          </a:prstGeom>
          <a:solidFill>
            <a:schemeClr val="accent6">
              <a:lumMod val="40000"/>
              <a:lumOff val="60000"/>
            </a:schemeClr>
          </a:solidFill>
          <a:ln>
            <a:noFill/>
            <a:prstDash val="dash"/>
          </a:ln>
        </p:spPr>
        <p:txBody>
          <a:bodyPr wrap="square" rtlCol="0">
            <a:spAutoFit/>
          </a:bodyPr>
          <a:lstStyle/>
          <a:p>
            <a:r>
              <a:rPr lang="en-US" altLang="zh-CN" b="1" i="1" dirty="0"/>
              <a:t>Problem</a:t>
            </a:r>
            <a:r>
              <a:rPr lang="en-US" altLang="zh-CN" dirty="0"/>
              <a:t>: A 200-m</a:t>
            </a:r>
            <a:r>
              <a:rPr lang="en-US" altLang="zh-CN" baseline="30000" dirty="0"/>
              <a:t>3</a:t>
            </a:r>
            <a:r>
              <a:rPr lang="en-US" altLang="zh-CN" dirty="0"/>
              <a:t> rigid tank contains compressed air at 1 </a:t>
            </a:r>
            <a:r>
              <a:rPr lang="en-US" altLang="zh-CN" dirty="0" err="1"/>
              <a:t>MPa</a:t>
            </a:r>
            <a:r>
              <a:rPr lang="en-US" altLang="zh-CN" dirty="0"/>
              <a:t> and 300 K. Determine</a:t>
            </a:r>
            <a:r>
              <a:rPr lang="zh-CN" altLang="en-US" dirty="0"/>
              <a:t>，</a:t>
            </a:r>
            <a:r>
              <a:rPr lang="en-US" altLang="zh-CN" dirty="0"/>
              <a:t>how much work can be obtained from this air if the environment conditions are 100 </a:t>
            </a:r>
            <a:r>
              <a:rPr lang="en-US" altLang="zh-CN" dirty="0" err="1"/>
              <a:t>kPa</a:t>
            </a:r>
            <a:r>
              <a:rPr lang="en-US" altLang="zh-CN" dirty="0"/>
              <a:t> and 300 K.</a:t>
            </a:r>
            <a:endParaRPr lang="zh-CN" altLang="en-US" dirty="0"/>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32417" y="991727"/>
            <a:ext cx="158115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矩形 12"/>
          <p:cNvSpPr/>
          <p:nvPr/>
        </p:nvSpPr>
        <p:spPr>
          <a:xfrm>
            <a:off x="7307399" y="2161570"/>
            <a:ext cx="1710918" cy="369332"/>
          </a:xfrm>
          <a:prstGeom prst="rect">
            <a:avLst/>
          </a:prstGeom>
        </p:spPr>
        <p:txBody>
          <a:bodyPr wrap="none">
            <a:spAutoFit/>
          </a:bodyPr>
          <a:lstStyle/>
          <a:p>
            <a:r>
              <a:rPr lang="en-US" altLang="zh-CN" dirty="0"/>
              <a:t>Air: 28.97 g/</a:t>
            </a:r>
            <a:r>
              <a:rPr lang="en-US" altLang="zh-CN" dirty="0" err="1"/>
              <a:t>mol</a:t>
            </a:r>
            <a:endParaRPr lang="zh-CN" altLang="en-US" dirty="0"/>
          </a:p>
        </p:txBody>
      </p:sp>
      <p:graphicFrame>
        <p:nvGraphicFramePr>
          <p:cNvPr id="15" name="对象 14"/>
          <p:cNvGraphicFramePr>
            <a:graphicFrameLocks noChangeAspect="1"/>
          </p:cNvGraphicFramePr>
          <p:nvPr/>
        </p:nvGraphicFramePr>
        <p:xfrm>
          <a:off x="458516" y="2600325"/>
          <a:ext cx="7283451" cy="558800"/>
        </p:xfrm>
        <a:graphic>
          <a:graphicData uri="http://schemas.openxmlformats.org/presentationml/2006/ole">
            <mc:AlternateContent xmlns:mc="http://schemas.openxmlformats.org/markup-compatibility/2006">
              <mc:Choice xmlns:v="urn:schemas-microsoft-com:vml" Requires="v">
                <p:oleObj name="Equation" r:id="rId3" imgW="5460840" imgH="419040" progId="Equation.DSMT4">
                  <p:embed/>
                </p:oleObj>
              </mc:Choice>
              <mc:Fallback>
                <p:oleObj name="Equation" r:id="rId3" imgW="5460840" imgH="419040" progId="Equation.DSMT4">
                  <p:embed/>
                  <p:pic>
                    <p:nvPicPr>
                      <p:cNvPr id="15" name="对象 14"/>
                      <p:cNvPicPr/>
                      <p:nvPr/>
                    </p:nvPicPr>
                    <p:blipFill>
                      <a:blip r:embed="rId4"/>
                      <a:stretch>
                        <a:fillRect/>
                      </a:stretch>
                    </p:blipFill>
                    <p:spPr>
                      <a:xfrm>
                        <a:off x="458516" y="2600325"/>
                        <a:ext cx="7283451" cy="558800"/>
                      </a:xfrm>
                      <a:prstGeom prst="rect">
                        <a:avLst/>
                      </a:prstGeom>
                    </p:spPr>
                  </p:pic>
                </p:oleObj>
              </mc:Fallback>
            </mc:AlternateContent>
          </a:graphicData>
        </a:graphic>
      </p:graphicFrame>
      <p:sp>
        <p:nvSpPr>
          <p:cNvPr id="16" name="TextBox 15"/>
          <p:cNvSpPr txBox="1"/>
          <p:nvPr/>
        </p:nvSpPr>
        <p:spPr>
          <a:xfrm>
            <a:off x="350567" y="2193445"/>
            <a:ext cx="2661691" cy="369332"/>
          </a:xfrm>
          <a:prstGeom prst="rect">
            <a:avLst/>
          </a:prstGeom>
          <a:noFill/>
        </p:spPr>
        <p:txBody>
          <a:bodyPr wrap="none" rtlCol="0">
            <a:spAutoFit/>
          </a:bodyPr>
          <a:lstStyle/>
          <a:p>
            <a:r>
              <a:rPr lang="en-US" altLang="zh-CN" dirty="0"/>
              <a:t>The mass of air in the tank</a:t>
            </a:r>
            <a:endParaRPr lang="zh-CN" altLang="en-US" dirty="0"/>
          </a:p>
        </p:txBody>
      </p:sp>
      <p:graphicFrame>
        <p:nvGraphicFramePr>
          <p:cNvPr id="17" name="对象 16"/>
          <p:cNvGraphicFramePr>
            <a:graphicFrameLocks noChangeAspect="1"/>
          </p:cNvGraphicFramePr>
          <p:nvPr/>
        </p:nvGraphicFramePr>
        <p:xfrm>
          <a:off x="420046" y="3590925"/>
          <a:ext cx="4507923" cy="609600"/>
        </p:xfrm>
        <a:graphic>
          <a:graphicData uri="http://schemas.openxmlformats.org/presentationml/2006/ole">
            <mc:AlternateContent xmlns:mc="http://schemas.openxmlformats.org/markup-compatibility/2006">
              <mc:Choice xmlns:v="urn:schemas-microsoft-com:vml" Requires="v">
                <p:oleObj name="Equation" r:id="rId5" imgW="3568680" imgH="482400" progId="Equation.DSMT4">
                  <p:embed/>
                </p:oleObj>
              </mc:Choice>
              <mc:Fallback>
                <p:oleObj name="Equation" r:id="rId5" imgW="3568680" imgH="482400" progId="Equation.DSMT4">
                  <p:embed/>
                  <p:pic>
                    <p:nvPicPr>
                      <p:cNvPr id="17" name="对象 16"/>
                      <p:cNvPicPr>
                        <a:picLocks noChangeAspect="1" noChangeArrowheads="1"/>
                      </p:cNvPicPr>
                      <p:nvPr/>
                    </p:nvPicPr>
                    <p:blipFill>
                      <a:blip r:embed="rId6"/>
                      <a:srcRect/>
                      <a:stretch>
                        <a:fillRect/>
                      </a:stretch>
                    </p:blipFill>
                    <p:spPr bwMode="auto">
                      <a:xfrm>
                        <a:off x="420046" y="3590925"/>
                        <a:ext cx="4507923" cy="609600"/>
                      </a:xfrm>
                      <a:prstGeom prst="rect">
                        <a:avLst/>
                      </a:prstGeom>
                      <a:noFill/>
                      <a:ln w="9525">
                        <a:noFill/>
                        <a:miter lim="800000"/>
                        <a:headEnd/>
                        <a:tailEnd/>
                      </a:ln>
                    </p:spPr>
                  </p:pic>
                </p:oleObj>
              </mc:Fallback>
            </mc:AlternateContent>
          </a:graphicData>
        </a:graphic>
      </p:graphicFrame>
      <p:cxnSp>
        <p:nvCxnSpPr>
          <p:cNvPr id="19" name="直接箭头连接符 18"/>
          <p:cNvCxnSpPr/>
          <p:nvPr/>
        </p:nvCxnSpPr>
        <p:spPr>
          <a:xfrm flipV="1">
            <a:off x="1798367" y="3514725"/>
            <a:ext cx="3810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103167" y="3209925"/>
            <a:ext cx="301686" cy="369332"/>
          </a:xfrm>
          <a:prstGeom prst="rect">
            <a:avLst/>
          </a:prstGeom>
          <a:noFill/>
        </p:spPr>
        <p:txBody>
          <a:bodyPr wrap="none" rtlCol="0">
            <a:spAutoFit/>
          </a:bodyPr>
          <a:lstStyle/>
          <a:p>
            <a:r>
              <a:rPr lang="en-US" altLang="zh-CN" dirty="0"/>
              <a:t>0</a:t>
            </a:r>
            <a:endParaRPr lang="zh-CN" altLang="en-US" dirty="0"/>
          </a:p>
        </p:txBody>
      </p:sp>
      <p:sp>
        <p:nvSpPr>
          <p:cNvPr id="22" name="TextBox 21"/>
          <p:cNvSpPr txBox="1"/>
          <p:nvPr/>
        </p:nvSpPr>
        <p:spPr>
          <a:xfrm>
            <a:off x="4544681" y="3209925"/>
            <a:ext cx="301686" cy="369332"/>
          </a:xfrm>
          <a:prstGeom prst="rect">
            <a:avLst/>
          </a:prstGeom>
          <a:noFill/>
        </p:spPr>
        <p:txBody>
          <a:bodyPr wrap="none" rtlCol="0">
            <a:spAutoFit/>
          </a:bodyPr>
          <a:lstStyle/>
          <a:p>
            <a:r>
              <a:rPr lang="en-US" altLang="zh-CN" dirty="0"/>
              <a:t>0</a:t>
            </a:r>
            <a:endParaRPr lang="zh-CN" altLang="en-US" dirty="0"/>
          </a:p>
        </p:txBody>
      </p:sp>
      <p:cxnSp>
        <p:nvCxnSpPr>
          <p:cNvPr id="25" name="直接箭头连接符 24"/>
          <p:cNvCxnSpPr/>
          <p:nvPr/>
        </p:nvCxnSpPr>
        <p:spPr>
          <a:xfrm flipV="1">
            <a:off x="4246633" y="3380138"/>
            <a:ext cx="3810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flipV="1">
            <a:off x="4800600" y="3426857"/>
            <a:ext cx="3810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5151167" y="3209925"/>
            <a:ext cx="301686" cy="369332"/>
          </a:xfrm>
          <a:prstGeom prst="rect">
            <a:avLst/>
          </a:prstGeom>
          <a:noFill/>
        </p:spPr>
        <p:txBody>
          <a:bodyPr wrap="none" rtlCol="0">
            <a:spAutoFit/>
          </a:bodyPr>
          <a:lstStyle/>
          <a:p>
            <a:r>
              <a:rPr lang="en-US" altLang="zh-CN" dirty="0"/>
              <a:t>0</a:t>
            </a:r>
            <a:endParaRPr lang="zh-CN" altLang="en-US" dirty="0"/>
          </a:p>
        </p:txBody>
      </p:sp>
      <p:graphicFrame>
        <p:nvGraphicFramePr>
          <p:cNvPr id="24" name="对象 23"/>
          <p:cNvGraphicFramePr>
            <a:graphicFrameLocks noChangeAspect="1"/>
          </p:cNvGraphicFramePr>
          <p:nvPr/>
        </p:nvGraphicFramePr>
        <p:xfrm>
          <a:off x="281058" y="4266092"/>
          <a:ext cx="4346575" cy="609600"/>
        </p:xfrm>
        <a:graphic>
          <a:graphicData uri="http://schemas.openxmlformats.org/presentationml/2006/ole">
            <mc:AlternateContent xmlns:mc="http://schemas.openxmlformats.org/markup-compatibility/2006">
              <mc:Choice xmlns:v="urn:schemas-microsoft-com:vml" Requires="v">
                <p:oleObj name="Equation" r:id="rId7" imgW="3441600" imgH="482400" progId="Equation.DSMT4">
                  <p:embed/>
                </p:oleObj>
              </mc:Choice>
              <mc:Fallback>
                <p:oleObj name="Equation" r:id="rId7" imgW="3441600" imgH="482400" progId="Equation.DSMT4">
                  <p:embed/>
                  <p:pic>
                    <p:nvPicPr>
                      <p:cNvPr id="24" name="对象 23"/>
                      <p:cNvPicPr>
                        <a:picLocks noChangeAspect="1" noChangeArrowheads="1"/>
                      </p:cNvPicPr>
                      <p:nvPr/>
                    </p:nvPicPr>
                    <p:blipFill>
                      <a:blip r:embed="rId8"/>
                      <a:srcRect/>
                      <a:stretch>
                        <a:fillRect/>
                      </a:stretch>
                    </p:blipFill>
                    <p:spPr bwMode="auto">
                      <a:xfrm>
                        <a:off x="281058" y="4266092"/>
                        <a:ext cx="43465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 name="对象 27"/>
          <p:cNvGraphicFramePr>
            <a:graphicFrameLocks noChangeAspect="1"/>
          </p:cNvGraphicFramePr>
          <p:nvPr/>
        </p:nvGraphicFramePr>
        <p:xfrm>
          <a:off x="307975" y="4806795"/>
          <a:ext cx="4713287" cy="609600"/>
        </p:xfrm>
        <a:graphic>
          <a:graphicData uri="http://schemas.openxmlformats.org/presentationml/2006/ole">
            <mc:AlternateContent xmlns:mc="http://schemas.openxmlformats.org/markup-compatibility/2006">
              <mc:Choice xmlns:v="urn:schemas-microsoft-com:vml" Requires="v">
                <p:oleObj name="Equation" r:id="rId9" imgW="3733560" imgH="482400" progId="Equation.DSMT4">
                  <p:embed/>
                </p:oleObj>
              </mc:Choice>
              <mc:Fallback>
                <p:oleObj name="Equation" r:id="rId9" imgW="3733560" imgH="482400" progId="Equation.DSMT4">
                  <p:embed/>
                  <p:pic>
                    <p:nvPicPr>
                      <p:cNvPr id="28" name="对象 27"/>
                      <p:cNvPicPr>
                        <a:picLocks noChangeAspect="1" noChangeArrowheads="1"/>
                      </p:cNvPicPr>
                      <p:nvPr/>
                    </p:nvPicPr>
                    <p:blipFill>
                      <a:blip r:embed="rId10"/>
                      <a:srcRect/>
                      <a:stretch>
                        <a:fillRect/>
                      </a:stretch>
                    </p:blipFill>
                    <p:spPr bwMode="auto">
                      <a:xfrm>
                        <a:off x="307975" y="4806795"/>
                        <a:ext cx="471328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 name="对象 29"/>
          <p:cNvGraphicFramePr>
            <a:graphicFrameLocks noChangeAspect="1"/>
          </p:cNvGraphicFramePr>
          <p:nvPr/>
        </p:nvGraphicFramePr>
        <p:xfrm>
          <a:off x="5181600" y="4328457"/>
          <a:ext cx="3810000" cy="965200"/>
        </p:xfrm>
        <a:graphic>
          <a:graphicData uri="http://schemas.openxmlformats.org/presentationml/2006/ole">
            <mc:AlternateContent xmlns:mc="http://schemas.openxmlformats.org/markup-compatibility/2006">
              <mc:Choice xmlns:v="urn:schemas-microsoft-com:vml" Requires="v">
                <p:oleObj name="Equation" r:id="rId11" imgW="3809880" imgH="965160" progId="Equation.DSMT4">
                  <p:embed/>
                </p:oleObj>
              </mc:Choice>
              <mc:Fallback>
                <p:oleObj name="Equation" r:id="rId11" imgW="3809880" imgH="965160" progId="Equation.DSMT4">
                  <p:embed/>
                  <p:pic>
                    <p:nvPicPr>
                      <p:cNvPr id="30" name="对象 29"/>
                      <p:cNvPicPr/>
                      <p:nvPr/>
                    </p:nvPicPr>
                    <p:blipFill>
                      <a:blip r:embed="rId12"/>
                      <a:stretch>
                        <a:fillRect/>
                      </a:stretch>
                    </p:blipFill>
                    <p:spPr>
                      <a:xfrm>
                        <a:off x="5181600" y="4328457"/>
                        <a:ext cx="3810000" cy="965200"/>
                      </a:xfrm>
                      <a:prstGeom prst="rect">
                        <a:avLst/>
                      </a:prstGeom>
                      <a:ln>
                        <a:solidFill>
                          <a:srgbClr val="FF0000"/>
                        </a:solidFill>
                      </a:ln>
                    </p:spPr>
                  </p:pic>
                </p:oleObj>
              </mc:Fallback>
            </mc:AlternateContent>
          </a:graphicData>
        </a:graphic>
      </p:graphicFrame>
      <p:graphicFrame>
        <p:nvGraphicFramePr>
          <p:cNvPr id="32" name="对象 31"/>
          <p:cNvGraphicFramePr>
            <a:graphicFrameLocks noChangeAspect="1"/>
          </p:cNvGraphicFramePr>
          <p:nvPr/>
        </p:nvGraphicFramePr>
        <p:xfrm>
          <a:off x="781914" y="5673725"/>
          <a:ext cx="6929438" cy="381000"/>
        </p:xfrm>
        <a:graphic>
          <a:graphicData uri="http://schemas.openxmlformats.org/presentationml/2006/ole">
            <mc:AlternateContent xmlns:mc="http://schemas.openxmlformats.org/markup-compatibility/2006">
              <mc:Choice xmlns:v="urn:schemas-microsoft-com:vml" Requires="v">
                <p:oleObj name="Equation" r:id="rId13" imgW="3695400" imgH="203040" progId="Equation.DSMT4">
                  <p:embed/>
                </p:oleObj>
              </mc:Choice>
              <mc:Fallback>
                <p:oleObj name="Equation" r:id="rId13" imgW="3695400" imgH="203040" progId="Equation.DSMT4">
                  <p:embed/>
                  <p:pic>
                    <p:nvPicPr>
                      <p:cNvPr id="32" name="对象 31"/>
                      <p:cNvPicPr>
                        <a:picLocks noChangeAspect="1" noChangeArrowheads="1"/>
                      </p:cNvPicPr>
                      <p:nvPr/>
                    </p:nvPicPr>
                    <p:blipFill>
                      <a:blip r:embed="rId14"/>
                      <a:srcRect/>
                      <a:stretch>
                        <a:fillRect/>
                      </a:stretch>
                    </p:blipFill>
                    <p:spPr bwMode="auto">
                      <a:xfrm>
                        <a:off x="781914" y="5673725"/>
                        <a:ext cx="6929438" cy="381000"/>
                      </a:xfrm>
                      <a:prstGeom prst="rect">
                        <a:avLst/>
                      </a:prstGeom>
                      <a:noFill/>
                      <a:ln>
                        <a:solidFill>
                          <a:srgbClr val="FF0000"/>
                        </a:solidFill>
                      </a:ln>
                    </p:spPr>
                  </p:pic>
                </p:oleObj>
              </mc:Fallback>
            </mc:AlternateContent>
          </a:graphicData>
        </a:graphic>
      </p:graphicFrame>
      <p:sp>
        <p:nvSpPr>
          <p:cNvPr id="3" name="文本框 2"/>
          <p:cNvSpPr txBox="1"/>
          <p:nvPr/>
        </p:nvSpPr>
        <p:spPr>
          <a:xfrm>
            <a:off x="347663" y="6240453"/>
            <a:ext cx="7680757" cy="338554"/>
          </a:xfrm>
          <a:prstGeom prst="rect">
            <a:avLst/>
          </a:prstGeom>
          <a:noFill/>
        </p:spPr>
        <p:txBody>
          <a:bodyPr wrap="none" rtlCol="0">
            <a:spAutoFit/>
          </a:bodyPr>
          <a:lstStyle/>
          <a:p>
            <a:r>
              <a:rPr lang="en-US" altLang="zh-CN" sz="1600" dirty="0" err="1"/>
              <a:t>Yunus</a:t>
            </a:r>
            <a:r>
              <a:rPr lang="en-US" altLang="zh-CN" sz="1600" dirty="0"/>
              <a:t> A. </a:t>
            </a:r>
            <a:r>
              <a:rPr lang="en-US" altLang="zh-CN" sz="1600" dirty="0" err="1"/>
              <a:t>Cengel</a:t>
            </a:r>
            <a:r>
              <a:rPr lang="en-US" altLang="zh-CN" sz="1600" dirty="0"/>
              <a:t>, Thermodynamics: A Engineering Approach, 8</a:t>
            </a:r>
            <a:r>
              <a:rPr lang="en-US" altLang="zh-CN" sz="1600" baseline="30000" dirty="0"/>
              <a:t>th</a:t>
            </a:r>
            <a:r>
              <a:rPr lang="en-US" altLang="zh-CN" sz="1600" dirty="0"/>
              <a:t> version Page 437</a:t>
            </a:r>
            <a:endParaRPr lang="zh-CN" altLang="en-US" sz="1600" dirty="0"/>
          </a:p>
        </p:txBody>
      </p:sp>
    </p:spTree>
    <p:extLst>
      <p:ext uri="{BB962C8B-B14F-4D97-AF65-F5344CB8AC3E}">
        <p14:creationId xmlns:p14="http://schemas.microsoft.com/office/powerpoint/2010/main" val="24194936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EED70DF-7077-C5E1-0D56-2714824CD66C}"/>
              </a:ext>
            </a:extLst>
          </p:cNvPr>
          <p:cNvSpPr txBox="1"/>
          <p:nvPr/>
        </p:nvSpPr>
        <p:spPr>
          <a:xfrm>
            <a:off x="2120046" y="396077"/>
            <a:ext cx="4903907" cy="523220"/>
          </a:xfrm>
          <a:prstGeom prst="rect">
            <a:avLst/>
          </a:prstGeom>
          <a:noFill/>
        </p:spPr>
        <p:txBody>
          <a:bodyPr wrap="none" rtlCol="0">
            <a:spAutoFit/>
          </a:bodyPr>
          <a:lstStyle/>
          <a:p>
            <a:r>
              <a:rPr lang="en-US" altLang="zh-CN" sz="2800" dirty="0">
                <a:solidFill>
                  <a:srgbClr val="FF0000"/>
                </a:solidFill>
              </a:rPr>
              <a:t>Application of compressed air</a:t>
            </a:r>
            <a:endParaRPr lang="zh-CN" altLang="en-US" sz="2800" dirty="0">
              <a:solidFill>
                <a:srgbClr val="FF0000"/>
              </a:solidFill>
            </a:endParaRPr>
          </a:p>
        </p:txBody>
      </p:sp>
      <p:pic>
        <p:nvPicPr>
          <p:cNvPr id="1030" name="Picture 6" descr="查看源图像">
            <a:extLst>
              <a:ext uri="{FF2B5EF4-FFF2-40B4-BE49-F238E27FC236}">
                <a16:creationId xmlns:a16="http://schemas.microsoft.com/office/drawing/2014/main" id="{B71BA477-07DC-ED63-FF72-EB6F6258C8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2509" y="1104078"/>
            <a:ext cx="2056193" cy="209001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DC5295A9-512A-F4DC-F91E-B9B08AC675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67987" y="1631644"/>
            <a:ext cx="3413504" cy="4230232"/>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See the source image">
            <a:extLst>
              <a:ext uri="{FF2B5EF4-FFF2-40B4-BE49-F238E27FC236}">
                <a16:creationId xmlns:a16="http://schemas.microsoft.com/office/drawing/2014/main" id="{28E43A24-9558-BF77-0989-75C07F2F27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2509" y="3113218"/>
            <a:ext cx="2462211" cy="1513091"/>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444353A3-E466-4F1C-97CB-FA174BF2BF65}"/>
              </a:ext>
            </a:extLst>
          </p:cNvPr>
          <p:cNvSpPr txBox="1"/>
          <p:nvPr/>
        </p:nvSpPr>
        <p:spPr>
          <a:xfrm>
            <a:off x="2871064" y="1964418"/>
            <a:ext cx="877163" cy="369332"/>
          </a:xfrm>
          <a:prstGeom prst="rect">
            <a:avLst/>
          </a:prstGeom>
          <a:noFill/>
        </p:spPr>
        <p:txBody>
          <a:bodyPr wrap="none" rtlCol="0">
            <a:spAutoFit/>
          </a:bodyPr>
          <a:lstStyle/>
          <a:p>
            <a:r>
              <a:rPr lang="zh-CN" altLang="en-US" dirty="0"/>
              <a:t>灭火器</a:t>
            </a:r>
          </a:p>
        </p:txBody>
      </p:sp>
      <p:sp>
        <p:nvSpPr>
          <p:cNvPr id="4" name="文本框 3">
            <a:extLst>
              <a:ext uri="{FF2B5EF4-FFF2-40B4-BE49-F238E27FC236}">
                <a16:creationId xmlns:a16="http://schemas.microsoft.com/office/drawing/2014/main" id="{9B12FD66-19E9-0B22-5367-7B4AB4388D69}"/>
              </a:ext>
            </a:extLst>
          </p:cNvPr>
          <p:cNvSpPr txBox="1"/>
          <p:nvPr/>
        </p:nvSpPr>
        <p:spPr>
          <a:xfrm>
            <a:off x="2409399" y="3142518"/>
            <a:ext cx="1338828" cy="369332"/>
          </a:xfrm>
          <a:prstGeom prst="rect">
            <a:avLst/>
          </a:prstGeom>
          <a:noFill/>
        </p:spPr>
        <p:txBody>
          <a:bodyPr wrap="none" rtlCol="0">
            <a:spAutoFit/>
          </a:bodyPr>
          <a:lstStyle/>
          <a:p>
            <a:r>
              <a:rPr lang="zh-CN" altLang="en-US" dirty="0"/>
              <a:t>泡沫消防车</a:t>
            </a:r>
          </a:p>
        </p:txBody>
      </p:sp>
      <p:pic>
        <p:nvPicPr>
          <p:cNvPr id="1036" name="Picture 12" descr="See the source image">
            <a:extLst>
              <a:ext uri="{FF2B5EF4-FFF2-40B4-BE49-F238E27FC236}">
                <a16:creationId xmlns:a16="http://schemas.microsoft.com/office/drawing/2014/main" id="{1B89B205-8A06-9540-48A5-E37B0F159AA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7442" y="4198379"/>
            <a:ext cx="2393640" cy="1663497"/>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669F6BA0-0221-A455-F2D4-4B1E1E606966}"/>
              </a:ext>
            </a:extLst>
          </p:cNvPr>
          <p:cNvSpPr txBox="1"/>
          <p:nvPr/>
        </p:nvSpPr>
        <p:spPr>
          <a:xfrm>
            <a:off x="3451222" y="3804111"/>
            <a:ext cx="1338828" cy="369332"/>
          </a:xfrm>
          <a:prstGeom prst="rect">
            <a:avLst/>
          </a:prstGeom>
          <a:noFill/>
        </p:spPr>
        <p:txBody>
          <a:bodyPr wrap="none" rtlCol="0">
            <a:spAutoFit/>
          </a:bodyPr>
          <a:lstStyle/>
          <a:p>
            <a:r>
              <a:rPr lang="zh-CN" altLang="en-US" dirty="0"/>
              <a:t>高喷消防车</a:t>
            </a:r>
          </a:p>
        </p:txBody>
      </p:sp>
    </p:spTree>
    <p:extLst>
      <p:ext uri="{BB962C8B-B14F-4D97-AF65-F5344CB8AC3E}">
        <p14:creationId xmlns:p14="http://schemas.microsoft.com/office/powerpoint/2010/main" val="21619592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600" dirty="0">
                <a:solidFill>
                  <a:srgbClr val="FF0000"/>
                </a:solidFill>
              </a:rPr>
              <a:t>7. Otto cycle</a:t>
            </a:r>
            <a:endParaRPr lang="zh-CN" altLang="en-US" sz="3600" dirty="0">
              <a:solidFill>
                <a:srgbClr val="FF0000"/>
              </a:solidFill>
            </a:endParaRPr>
          </a:p>
        </p:txBody>
      </p:sp>
      <p:sp>
        <p:nvSpPr>
          <p:cNvPr id="3" name="矩形 2"/>
          <p:cNvSpPr/>
          <p:nvPr/>
        </p:nvSpPr>
        <p:spPr>
          <a:xfrm>
            <a:off x="1061208" y="4347406"/>
            <a:ext cx="6639886" cy="369332"/>
          </a:xfrm>
          <a:prstGeom prst="rect">
            <a:avLst/>
          </a:prstGeom>
        </p:spPr>
        <p:txBody>
          <a:bodyPr wrap="square">
            <a:spAutoFit/>
          </a:bodyPr>
          <a:lstStyle/>
          <a:p>
            <a:r>
              <a:rPr lang="en-US" altLang="zh-CN" b="1" dirty="0">
                <a:solidFill>
                  <a:srgbClr val="0000FF"/>
                </a:solidFill>
              </a:rPr>
              <a:t>Ref. Thermodynamics: A Engineering approach, Chapter 9</a:t>
            </a:r>
            <a:r>
              <a:rPr lang="zh-CN" altLang="en-US" b="1" dirty="0">
                <a:solidFill>
                  <a:srgbClr val="0000FF"/>
                </a:solidFill>
              </a:rPr>
              <a:t> </a:t>
            </a:r>
            <a:endParaRPr lang="zh-CN" altLang="en-US" dirty="0">
              <a:solidFill>
                <a:srgbClr val="0000FF"/>
              </a:solidFill>
            </a:endParaRPr>
          </a:p>
        </p:txBody>
      </p:sp>
    </p:spTree>
    <p:extLst>
      <p:ext uri="{BB962C8B-B14F-4D97-AF65-F5344CB8AC3E}">
        <p14:creationId xmlns:p14="http://schemas.microsoft.com/office/powerpoint/2010/main" val="29684714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6106" y="1161871"/>
            <a:ext cx="3028950" cy="405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366106" y="5516220"/>
            <a:ext cx="4274337" cy="954107"/>
          </a:xfrm>
          <a:prstGeom prst="rect">
            <a:avLst/>
          </a:prstGeom>
        </p:spPr>
        <p:txBody>
          <a:bodyPr wrap="square">
            <a:spAutoFit/>
          </a:bodyPr>
          <a:lstStyle/>
          <a:p>
            <a:r>
              <a:rPr lang="en-US" altLang="zh-CN" dirty="0"/>
              <a:t>1698</a:t>
            </a:r>
            <a:r>
              <a:rPr lang="en-US" altLang="zh-CN" sz="2000" dirty="0"/>
              <a:t>  </a:t>
            </a:r>
            <a:r>
              <a:rPr lang="en-US" altLang="zh-CN" sz="2000" dirty="0">
                <a:solidFill>
                  <a:srgbClr val="0000FF"/>
                </a:solidFill>
              </a:rPr>
              <a:t>Thomas </a:t>
            </a:r>
            <a:r>
              <a:rPr lang="en-US" altLang="zh-CN" sz="2000" dirty="0" err="1">
                <a:solidFill>
                  <a:srgbClr val="0000FF"/>
                </a:solidFill>
              </a:rPr>
              <a:t>Savery</a:t>
            </a:r>
            <a:r>
              <a:rPr lang="en-US" altLang="zh-CN" sz="2000" dirty="0"/>
              <a:t>: </a:t>
            </a:r>
            <a:r>
              <a:rPr lang="en-US" altLang="zh-CN" dirty="0"/>
              <a:t>a </a:t>
            </a:r>
            <a:r>
              <a:rPr lang="en-US" altLang="zh-CN" dirty="0" err="1"/>
              <a:t>pistonless</a:t>
            </a:r>
            <a:r>
              <a:rPr lang="en-US" altLang="zh-CN" dirty="0"/>
              <a:t> steam-powered water pump for pumping water out of mines</a:t>
            </a:r>
            <a:endParaRPr lang="zh-CN" altLang="en-US" dirty="0"/>
          </a:p>
        </p:txBody>
      </p:sp>
      <p:pic>
        <p:nvPicPr>
          <p:cNvPr id="593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52306" y="1172107"/>
            <a:ext cx="4395168" cy="326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4161891" y="4485730"/>
            <a:ext cx="4800600" cy="923330"/>
          </a:xfrm>
          <a:prstGeom prst="rect">
            <a:avLst/>
          </a:prstGeom>
        </p:spPr>
        <p:txBody>
          <a:bodyPr wrap="square">
            <a:spAutoFit/>
          </a:bodyPr>
          <a:lstStyle/>
          <a:p>
            <a:r>
              <a:rPr lang="en-US" altLang="zh-CN" dirty="0"/>
              <a:t>1769, </a:t>
            </a:r>
            <a:r>
              <a:rPr lang="en-US" altLang="zh-CN" dirty="0">
                <a:solidFill>
                  <a:srgbClr val="0000FF"/>
                </a:solidFill>
              </a:rPr>
              <a:t>James Watt </a:t>
            </a:r>
            <a:r>
              <a:rPr lang="en-US" altLang="zh-CN" dirty="0"/>
              <a:t>patents his first improved atmospheric steam engine, doubling the efficiency of earlier engines.</a:t>
            </a:r>
            <a:endParaRPr lang="zh-CN" altLang="en-US" dirty="0"/>
          </a:p>
        </p:txBody>
      </p:sp>
      <p:sp>
        <p:nvSpPr>
          <p:cNvPr id="12" name="TextBox 11"/>
          <p:cNvSpPr txBox="1"/>
          <p:nvPr/>
        </p:nvSpPr>
        <p:spPr>
          <a:xfrm>
            <a:off x="2304098" y="95285"/>
            <a:ext cx="4672689" cy="584775"/>
          </a:xfrm>
          <a:prstGeom prst="rect">
            <a:avLst/>
          </a:prstGeom>
          <a:noFill/>
        </p:spPr>
        <p:txBody>
          <a:bodyPr wrap="none" rtlCol="0">
            <a:spAutoFit/>
          </a:bodyPr>
          <a:lstStyle/>
          <a:p>
            <a:r>
              <a:rPr lang="en-US" altLang="zh-CN" sz="3200" dirty="0">
                <a:solidFill>
                  <a:srgbClr val="FF0000"/>
                </a:solidFill>
              </a:rPr>
              <a:t> A history of Heat Engine</a:t>
            </a:r>
            <a:endParaRPr lang="zh-CN" altLang="en-US" sz="3200" dirty="0">
              <a:solidFill>
                <a:srgbClr val="FF0000"/>
              </a:solidFill>
            </a:endParaRPr>
          </a:p>
        </p:txBody>
      </p:sp>
      <p:sp>
        <p:nvSpPr>
          <p:cNvPr id="13" name="TextBox 12"/>
          <p:cNvSpPr txBox="1"/>
          <p:nvPr/>
        </p:nvSpPr>
        <p:spPr>
          <a:xfrm>
            <a:off x="6723785" y="5623941"/>
            <a:ext cx="2313134" cy="369332"/>
          </a:xfrm>
          <a:prstGeom prst="rect">
            <a:avLst/>
          </a:prstGeom>
          <a:noFill/>
        </p:spPr>
        <p:txBody>
          <a:bodyPr wrap="none" rtlCol="0">
            <a:spAutoFit/>
          </a:bodyPr>
          <a:lstStyle/>
          <a:p>
            <a:r>
              <a:rPr lang="en-US" altLang="zh-CN" i="1" dirty="0"/>
              <a:t>Figures from </a:t>
            </a:r>
            <a:r>
              <a:rPr lang="en-US" altLang="zh-CN" i="1" dirty="0" err="1"/>
              <a:t>wikipedia</a:t>
            </a:r>
            <a:endParaRPr lang="zh-CN" altLang="en-US" i="1" dirty="0"/>
          </a:p>
        </p:txBody>
      </p:sp>
    </p:spTree>
    <p:extLst>
      <p:ext uri="{BB962C8B-B14F-4D97-AF65-F5344CB8AC3E}">
        <p14:creationId xmlns:p14="http://schemas.microsoft.com/office/powerpoint/2010/main" val="34643391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descr="http://cdn.t02.pic.sogou.com/fa620557e964255d-d5cef19cb0a5b126-535f6fcfb9c8d475f55f9f4ef1162474.jpg">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54309" y="1676400"/>
            <a:ext cx="2719369" cy="151871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12416" y="3877657"/>
            <a:ext cx="3054214" cy="18416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88463" y="1905000"/>
            <a:ext cx="2966321" cy="1189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1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138197" y="3893579"/>
            <a:ext cx="2487383" cy="1658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421" name="Picture 5"/>
          <p:cNvPicPr>
            <a:picLocks noChangeAspect="1" noChangeArrowheads="1"/>
          </p:cNvPicPr>
          <p:nvPr/>
        </p:nvPicPr>
        <p:blipFill rotWithShape="1">
          <a:blip r:embed="rId7">
            <a:extLst>
              <a:ext uri="{28A0092B-C50C-407E-A947-70E740481C1C}">
                <a14:useLocalDpi xmlns:a14="http://schemas.microsoft.com/office/drawing/2010/main" val="0"/>
              </a:ext>
            </a:extLst>
          </a:blip>
          <a:srcRect l="26016"/>
          <a:stretch/>
        </p:blipFill>
        <p:spPr bwMode="auto">
          <a:xfrm>
            <a:off x="104632" y="1676400"/>
            <a:ext cx="2729961"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422" name="Picture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8255" y="4196776"/>
            <a:ext cx="2666338" cy="1499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p:cNvSpPr txBox="1"/>
          <p:nvPr/>
        </p:nvSpPr>
        <p:spPr>
          <a:xfrm>
            <a:off x="1190154" y="0"/>
            <a:ext cx="5485797" cy="1015663"/>
          </a:xfrm>
          <a:prstGeom prst="rect">
            <a:avLst/>
          </a:prstGeom>
          <a:noFill/>
        </p:spPr>
        <p:txBody>
          <a:bodyPr wrap="none" rtlCol="0">
            <a:spAutoFit/>
          </a:bodyPr>
          <a:lstStyle/>
          <a:p>
            <a:r>
              <a:rPr lang="en-US" altLang="zh-CN" sz="3200" dirty="0">
                <a:solidFill>
                  <a:srgbClr val="FF0000"/>
                </a:solidFill>
              </a:rPr>
              <a:t>Heat Engine </a:t>
            </a:r>
          </a:p>
          <a:p>
            <a:r>
              <a:rPr lang="en-US" altLang="zh-CN" sz="2800" dirty="0"/>
              <a:t>in power plant, airplane and truck</a:t>
            </a:r>
            <a:endParaRPr lang="zh-CN" altLang="en-US" sz="2800" dirty="0"/>
          </a:p>
        </p:txBody>
      </p:sp>
      <p:sp>
        <p:nvSpPr>
          <p:cNvPr id="2" name="TextBox 1"/>
          <p:cNvSpPr txBox="1"/>
          <p:nvPr/>
        </p:nvSpPr>
        <p:spPr>
          <a:xfrm>
            <a:off x="104632" y="6031468"/>
            <a:ext cx="2171044" cy="369332"/>
          </a:xfrm>
          <a:prstGeom prst="rect">
            <a:avLst/>
          </a:prstGeom>
          <a:noFill/>
        </p:spPr>
        <p:txBody>
          <a:bodyPr wrap="none" rtlCol="0">
            <a:spAutoFit/>
          </a:bodyPr>
          <a:lstStyle/>
          <a:p>
            <a:r>
              <a:rPr lang="en-US" altLang="zh-CN" i="1" dirty="0"/>
              <a:t>Figures from internet</a:t>
            </a:r>
            <a:endParaRPr lang="zh-CN" altLang="en-US" i="1" dirty="0"/>
          </a:p>
        </p:txBody>
      </p:sp>
    </p:spTree>
    <p:extLst>
      <p:ext uri="{BB962C8B-B14F-4D97-AF65-F5344CB8AC3E}">
        <p14:creationId xmlns:p14="http://schemas.microsoft.com/office/powerpoint/2010/main" val="19780638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721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38030" y="4621120"/>
            <a:ext cx="2860199" cy="15276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176084" y="-1"/>
            <a:ext cx="5758116" cy="613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b="1" dirty="0">
                <a:solidFill>
                  <a:srgbClr val="FF0000"/>
                </a:solidFill>
                <a:effectLst>
                  <a:outerShdw blurRad="38100" dist="38100" dir="2700000" algn="tl">
                    <a:srgbClr val="000000">
                      <a:alpha val="43137"/>
                    </a:srgbClr>
                  </a:outerShdw>
                </a:effectLst>
                <a:latin typeface="Arial" charset="0"/>
                <a:cs typeface="Arial" charset="0"/>
              </a:rPr>
              <a:t>Air-standard assumptions</a:t>
            </a:r>
            <a:endParaRPr lang="en-US" dirty="0">
              <a:solidFill>
                <a:srgbClr val="FF0000"/>
              </a:solidFill>
            </a:endParaRPr>
          </a:p>
        </p:txBody>
      </p:sp>
      <p:sp>
        <p:nvSpPr>
          <p:cNvPr id="11" name="TextBox 10"/>
          <p:cNvSpPr txBox="1"/>
          <p:nvPr/>
        </p:nvSpPr>
        <p:spPr>
          <a:xfrm>
            <a:off x="460375" y="1312421"/>
            <a:ext cx="7417966" cy="646331"/>
          </a:xfrm>
          <a:prstGeom prst="rect">
            <a:avLst/>
          </a:prstGeom>
          <a:noFill/>
        </p:spPr>
        <p:txBody>
          <a:bodyPr wrap="square" rtlCol="0">
            <a:spAutoFit/>
          </a:bodyPr>
          <a:lstStyle/>
          <a:p>
            <a:r>
              <a:rPr lang="en-US" altLang="zh-CN" sz="1800" dirty="0">
                <a:sym typeface="Symbol"/>
              </a:rPr>
              <a:t>Internal combustion engines with gas power cycles: spark-ignition engine, diesel engines, conventional gas turbines</a:t>
            </a:r>
            <a:endParaRPr lang="en-US" altLang="zh-CN" sz="1800" dirty="0"/>
          </a:p>
        </p:txBody>
      </p:sp>
      <p:sp>
        <p:nvSpPr>
          <p:cNvPr id="14" name="TextBox 13"/>
          <p:cNvSpPr txBox="1"/>
          <p:nvPr/>
        </p:nvSpPr>
        <p:spPr>
          <a:xfrm>
            <a:off x="532946" y="2046902"/>
            <a:ext cx="7417966" cy="2308324"/>
          </a:xfrm>
          <a:prstGeom prst="rect">
            <a:avLst/>
          </a:prstGeom>
          <a:noFill/>
        </p:spPr>
        <p:txBody>
          <a:bodyPr wrap="square" rtlCol="0">
            <a:spAutoFit/>
          </a:bodyPr>
          <a:lstStyle/>
          <a:p>
            <a:r>
              <a:rPr lang="en-US" altLang="zh-CN" sz="1800" dirty="0">
                <a:sym typeface="Symbol"/>
              </a:rPr>
              <a:t>Air-standard assumptions:</a:t>
            </a:r>
          </a:p>
          <a:p>
            <a:pPr marL="342900" indent="-342900">
              <a:buAutoNum type="arabicPeriod"/>
            </a:pPr>
            <a:r>
              <a:rPr lang="en-US" altLang="zh-CN" sz="1800" dirty="0">
                <a:sym typeface="Symbol"/>
              </a:rPr>
              <a:t>Working fluid is air: closed loop, ideal gas;</a:t>
            </a:r>
          </a:p>
          <a:p>
            <a:pPr marL="342900" indent="-342900">
              <a:buAutoNum type="arabicPeriod"/>
            </a:pPr>
            <a:r>
              <a:rPr lang="en-US" altLang="zh-CN" sz="1800" dirty="0">
                <a:sym typeface="Symbol"/>
              </a:rPr>
              <a:t>Internally reversible;</a:t>
            </a:r>
          </a:p>
          <a:p>
            <a:pPr marL="342900" indent="-342900">
              <a:buAutoNum type="arabicPeriod"/>
            </a:pPr>
            <a:r>
              <a:rPr lang="en-US" altLang="zh-CN" sz="1800" dirty="0">
                <a:sym typeface="Symbol"/>
              </a:rPr>
              <a:t>Combustion = heat addition from an external source;</a:t>
            </a:r>
          </a:p>
          <a:p>
            <a:pPr marL="342900" indent="-342900">
              <a:buAutoNum type="arabicPeriod"/>
            </a:pPr>
            <a:r>
              <a:rPr lang="en-US" altLang="zh-CN" sz="1800" dirty="0">
                <a:sym typeface="Symbol"/>
              </a:rPr>
              <a:t>Exhaust = heat rejection that restores working fluid to its initial state.</a:t>
            </a:r>
          </a:p>
          <a:p>
            <a:pPr marL="342900" indent="-342900">
              <a:buAutoNum type="arabicPeriod"/>
            </a:pPr>
            <a:endParaRPr lang="en-US" altLang="zh-CN" sz="1800" dirty="0">
              <a:sym typeface="Symbol"/>
            </a:endParaRPr>
          </a:p>
          <a:p>
            <a:r>
              <a:rPr lang="en-US" altLang="zh-CN" sz="1800" b="1" i="1" dirty="0">
                <a:sym typeface="Symbol"/>
              </a:rPr>
              <a:t>Cold-air-standard assumptions: </a:t>
            </a:r>
            <a:r>
              <a:rPr lang="en-US" altLang="zh-CN" sz="1800" dirty="0">
                <a:sym typeface="Symbol"/>
              </a:rPr>
              <a:t>air has constant specific heat whose values are determined at room temperature (25 C)</a:t>
            </a:r>
            <a:endParaRPr lang="en-US" altLang="zh-CN" sz="1800" dirty="0"/>
          </a:p>
        </p:txBody>
      </p:sp>
      <p:pic>
        <p:nvPicPr>
          <p:cNvPr id="137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2083" y="4759102"/>
            <a:ext cx="3428859" cy="1389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735244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1117832" y="361754"/>
            <a:ext cx="7027877" cy="646331"/>
          </a:xfrm>
          <a:prstGeom prst="rect">
            <a:avLst/>
          </a:prstGeom>
          <a:noFill/>
        </p:spPr>
        <p:txBody>
          <a:bodyPr wrap="square" rtlCol="0">
            <a:spAutoFit/>
          </a:bodyPr>
          <a:lstStyle/>
          <a:p>
            <a:r>
              <a:rPr lang="en-US" altLang="zh-CN" sz="3600" dirty="0">
                <a:solidFill>
                  <a:srgbClr val="FF0000"/>
                </a:solidFill>
              </a:rPr>
              <a:t>Power cycles: idea vs. real  </a:t>
            </a:r>
            <a:endParaRPr lang="zh-CN" altLang="en-US" sz="3600" dirty="0">
              <a:solidFill>
                <a:srgbClr val="FF0000"/>
              </a:solidFill>
            </a:endParaRPr>
          </a:p>
        </p:txBody>
      </p:sp>
      <p:pic>
        <p:nvPicPr>
          <p:cNvPr id="1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1524" y="1600200"/>
            <a:ext cx="3586513" cy="29741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6800" y="1674018"/>
            <a:ext cx="3124200" cy="2833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p:cNvSpPr txBox="1"/>
          <p:nvPr/>
        </p:nvSpPr>
        <p:spPr>
          <a:xfrm>
            <a:off x="266920" y="4827864"/>
            <a:ext cx="8729699" cy="1200329"/>
          </a:xfrm>
          <a:prstGeom prst="rect">
            <a:avLst/>
          </a:prstGeom>
          <a:noFill/>
        </p:spPr>
        <p:txBody>
          <a:bodyPr wrap="square" rtlCol="0">
            <a:spAutoFit/>
          </a:bodyPr>
          <a:lstStyle/>
          <a:p>
            <a:pPr marL="285750" indent="-285750">
              <a:buFont typeface="Wingdings" panose="05000000000000000000" pitchFamily="2" charset="2"/>
              <a:buChar char="Ø"/>
            </a:pPr>
            <a:r>
              <a:rPr lang="en-US" altLang="zh-CN" sz="1800" dirty="0"/>
              <a:t>Idealization of cycles -- Internally reversible: No </a:t>
            </a:r>
            <a:r>
              <a:rPr lang="en-US" altLang="zh-CN" sz="1800" dirty="0" err="1"/>
              <a:t>irreversibilities</a:t>
            </a:r>
            <a:r>
              <a:rPr lang="en-US" altLang="zh-CN" sz="1800" dirty="0"/>
              <a:t> occur within the boundaries of the system during the process.  </a:t>
            </a:r>
          </a:p>
          <a:p>
            <a:pPr marL="285750" indent="-285750">
              <a:buFont typeface="Wingdings" panose="05000000000000000000" pitchFamily="2" charset="2"/>
              <a:buChar char="Ø"/>
            </a:pPr>
            <a:r>
              <a:rPr lang="en-US" altLang="zh-CN" sz="1800" dirty="0"/>
              <a:t>No friction; Expansion/compression in quasi-equilibrium manner; No heat leakage through pipes (absolutely insulated); Neglect kinetic &amp; potential energy changes</a:t>
            </a:r>
          </a:p>
        </p:txBody>
      </p:sp>
    </p:spTree>
    <p:extLst>
      <p:ext uri="{BB962C8B-B14F-4D97-AF65-F5344CB8AC3E}">
        <p14:creationId xmlns:p14="http://schemas.microsoft.com/office/powerpoint/2010/main" val="26923403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108094" y="85060"/>
            <a:ext cx="7324760" cy="678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dirty="0">
                <a:solidFill>
                  <a:srgbClr val="FF0000"/>
                </a:solidFill>
              </a:rPr>
              <a:t>P-V diagram and T-S diagram</a:t>
            </a:r>
          </a:p>
        </p:txBody>
      </p:sp>
      <p:pic>
        <p:nvPicPr>
          <p:cNvPr id="1044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817846"/>
            <a:ext cx="3087346" cy="25588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4452" name="Picture 4"/>
          <p:cNvPicPr>
            <a:picLocks noChangeAspect="1" noChangeArrowheads="1"/>
          </p:cNvPicPr>
          <p:nvPr/>
        </p:nvPicPr>
        <p:blipFill rotWithShape="1">
          <a:blip r:embed="rId4">
            <a:extLst>
              <a:ext uri="{28A0092B-C50C-407E-A947-70E740481C1C}">
                <a14:useLocalDpi xmlns:a14="http://schemas.microsoft.com/office/drawing/2010/main" val="0"/>
              </a:ext>
            </a:extLst>
          </a:blip>
          <a:srcRect b="5268"/>
          <a:stretch/>
        </p:blipFill>
        <p:spPr bwMode="auto">
          <a:xfrm>
            <a:off x="4876800" y="1752600"/>
            <a:ext cx="3083908" cy="26893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517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21359" y="4589930"/>
            <a:ext cx="3543300" cy="933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47162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4452"/>
                                        </p:tgtEl>
                                        <p:attrNameLst>
                                          <p:attrName>style.visibility</p:attrName>
                                        </p:attrNameLst>
                                      </p:cBhvr>
                                      <p:to>
                                        <p:strVal val="visible"/>
                                      </p:to>
                                    </p:set>
                                    <p:anim calcmode="lin" valueType="num">
                                      <p:cBhvr additive="base">
                                        <p:cTn id="7" dur="500" fill="hold"/>
                                        <p:tgtEl>
                                          <p:spTgt spid="104452"/>
                                        </p:tgtEl>
                                        <p:attrNameLst>
                                          <p:attrName>ppt_x</p:attrName>
                                        </p:attrNameLst>
                                      </p:cBhvr>
                                      <p:tavLst>
                                        <p:tav tm="0">
                                          <p:val>
                                            <p:strVal val="#ppt_x"/>
                                          </p:val>
                                        </p:tav>
                                        <p:tav tm="100000">
                                          <p:val>
                                            <p:strVal val="#ppt_x"/>
                                          </p:val>
                                        </p:tav>
                                      </p:tavLst>
                                    </p:anim>
                                    <p:anim calcmode="lin" valueType="num">
                                      <p:cBhvr additive="base">
                                        <p:cTn id="8" dur="500" fill="hold"/>
                                        <p:tgtEl>
                                          <p:spTgt spid="1044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024539" y="0"/>
            <a:ext cx="5695238" cy="595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sz="3200" b="1" dirty="0">
                <a:solidFill>
                  <a:srgbClr val="FF0000"/>
                </a:solidFill>
                <a:effectLst>
                  <a:outerShdw blurRad="38100" dist="38100" dir="2700000" algn="tl">
                    <a:srgbClr val="000000">
                      <a:alpha val="43137"/>
                    </a:srgbClr>
                  </a:outerShdw>
                </a:effectLst>
                <a:latin typeface="Arial" charset="0"/>
                <a:cs typeface="Arial" charset="0"/>
              </a:rPr>
              <a:t>Carnot Cycle in </a:t>
            </a:r>
            <a:r>
              <a:rPr lang="en-US" altLang="zh-CN" sz="3200" b="1" dirty="0">
                <a:solidFill>
                  <a:srgbClr val="FF0000"/>
                </a:solidFill>
                <a:effectLst>
                  <a:outerShdw blurRad="38100" dist="38100" dir="2700000" algn="tl">
                    <a:srgbClr val="000000">
                      <a:alpha val="43137"/>
                    </a:srgbClr>
                  </a:outerShdw>
                </a:effectLst>
                <a:latin typeface="Arial" charset="0"/>
                <a:cs typeface="Arial" charset="0"/>
              </a:rPr>
              <a:t>T-S diagram</a:t>
            </a:r>
            <a:endParaRPr lang="en-US" sz="3200" dirty="0">
              <a:solidFill>
                <a:srgbClr val="FF0000"/>
              </a:solidFill>
            </a:endParaRPr>
          </a:p>
        </p:txBody>
      </p:sp>
      <p:sp>
        <p:nvSpPr>
          <p:cNvPr id="13" name="TextBox 12"/>
          <p:cNvSpPr txBox="1"/>
          <p:nvPr/>
        </p:nvSpPr>
        <p:spPr>
          <a:xfrm>
            <a:off x="676040" y="5656737"/>
            <a:ext cx="7417966" cy="369332"/>
          </a:xfrm>
          <a:prstGeom prst="rect">
            <a:avLst/>
          </a:prstGeom>
          <a:noFill/>
        </p:spPr>
        <p:txBody>
          <a:bodyPr wrap="square" rtlCol="0">
            <a:spAutoFit/>
          </a:bodyPr>
          <a:lstStyle/>
          <a:p>
            <a:r>
              <a:rPr lang="en-US" altLang="zh-CN" sz="1800" dirty="0"/>
              <a:t>Reversible isothermal heat transfer is very difficult to achieve in reality</a:t>
            </a:r>
          </a:p>
        </p:txBody>
      </p:sp>
      <p:pic>
        <p:nvPicPr>
          <p:cNvPr id="136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43819" y="4551219"/>
            <a:ext cx="2200275" cy="742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6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4470" y="1303741"/>
            <a:ext cx="2028825" cy="390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619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24677" y="1925723"/>
            <a:ext cx="2143125"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6198"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60345" y="2525798"/>
            <a:ext cx="1600200" cy="400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6199"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02768" y="3208029"/>
            <a:ext cx="2527300" cy="7903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6200"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78185" y="4291229"/>
            <a:ext cx="2534080" cy="5722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6202" name="Picture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1817" y="1499003"/>
            <a:ext cx="2650273" cy="27136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6201" name="Picture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96082" y="1426171"/>
            <a:ext cx="2967038" cy="28757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932823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995705" y="160337"/>
            <a:ext cx="6329317" cy="602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sz="3200" b="1" dirty="0">
                <a:solidFill>
                  <a:srgbClr val="FF0000"/>
                </a:solidFill>
                <a:effectLst>
                  <a:outerShdw blurRad="38100" dist="38100" dir="2700000" algn="tl">
                    <a:srgbClr val="000000">
                      <a:alpha val="43137"/>
                    </a:srgbClr>
                  </a:outerShdw>
                </a:effectLst>
                <a:latin typeface="Arial" charset="0"/>
                <a:cs typeface="Arial" charset="0"/>
              </a:rPr>
              <a:t>Reciprocating Engine Overview</a:t>
            </a:r>
            <a:endParaRPr lang="en-US" sz="3200" dirty="0">
              <a:solidFill>
                <a:srgbClr val="FF0000"/>
              </a:solidFill>
            </a:endParaRPr>
          </a:p>
        </p:txBody>
      </p:sp>
      <p:sp>
        <p:nvSpPr>
          <p:cNvPr id="2" name="AutoShape 2" descr="Image result for small diesel engine for motorcycl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514" y="3914261"/>
            <a:ext cx="2082594" cy="1806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7" name="Picture 5"/>
          <p:cNvPicPr>
            <a:picLocks noChangeAspect="1" noChangeArrowheads="1"/>
          </p:cNvPicPr>
          <p:nvPr/>
        </p:nvPicPr>
        <p:blipFill rotWithShape="1">
          <a:blip r:embed="rId3">
            <a:extLst>
              <a:ext uri="{28A0092B-C50C-407E-A947-70E740481C1C}">
                <a14:useLocalDpi xmlns:a14="http://schemas.microsoft.com/office/drawing/2010/main" val="0"/>
              </a:ext>
            </a:extLst>
          </a:blip>
          <a:srcRect l="10910" r="7267"/>
          <a:stretch/>
        </p:blipFill>
        <p:spPr bwMode="auto">
          <a:xfrm>
            <a:off x="173541" y="1265476"/>
            <a:ext cx="2493459" cy="174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81" name="Picture 9"/>
          <p:cNvPicPr>
            <a:picLocks noChangeAspect="1" noChangeArrowheads="1"/>
          </p:cNvPicPr>
          <p:nvPr/>
        </p:nvPicPr>
        <p:blipFill rotWithShape="1">
          <a:blip r:embed="rId4">
            <a:extLst>
              <a:ext uri="{28A0092B-C50C-407E-A947-70E740481C1C}">
                <a14:useLocalDpi xmlns:a14="http://schemas.microsoft.com/office/drawing/2010/main" val="0"/>
              </a:ext>
            </a:extLst>
          </a:blip>
          <a:srcRect l="14790" r="17093"/>
          <a:stretch/>
        </p:blipFill>
        <p:spPr bwMode="auto">
          <a:xfrm>
            <a:off x="3153352" y="3708353"/>
            <a:ext cx="2147738" cy="2217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83" name="Picture 11" descr="Image result for toyota Ca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2532566" y="1419512"/>
            <a:ext cx="3389310" cy="1743075"/>
          </a:xfrm>
          <a:prstGeom prst="rect">
            <a:avLst/>
          </a:prstGeom>
          <a:noFill/>
          <a:extLst>
            <a:ext uri="{909E8E84-426E-40DD-AFC4-6F175D3DCCD1}">
              <a14:hiddenFill xmlns:a14="http://schemas.microsoft.com/office/drawing/2010/main">
                <a:solidFill>
                  <a:srgbClr val="FFFFFF"/>
                </a:solidFill>
              </a14:hiddenFill>
            </a:ext>
          </a:extLst>
        </p:spPr>
      </p:pic>
      <p:pic>
        <p:nvPicPr>
          <p:cNvPr id="3086" name="Picture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70904" y="1516702"/>
            <a:ext cx="3338662" cy="133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87" name="Picture 15"/>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946897" y="3804806"/>
            <a:ext cx="2487383" cy="1658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846725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987329" y="0"/>
            <a:ext cx="7324760" cy="652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sz="3200" b="1" dirty="0">
                <a:solidFill>
                  <a:srgbClr val="FF0000"/>
                </a:solidFill>
                <a:effectLst>
                  <a:outerShdw blurRad="38100" dist="38100" dir="2700000" algn="tl">
                    <a:srgbClr val="000000">
                      <a:alpha val="43137"/>
                    </a:srgbClr>
                  </a:outerShdw>
                </a:effectLst>
                <a:latin typeface="Arial" charset="0"/>
                <a:cs typeface="Arial" charset="0"/>
              </a:rPr>
              <a:t>Reciprocating Engine Overview</a:t>
            </a:r>
            <a:endParaRPr lang="en-US" sz="3200" dirty="0">
              <a:solidFill>
                <a:srgbClr val="FF0000"/>
              </a:solidFill>
            </a:endParaRPr>
          </a:p>
        </p:txBody>
      </p:sp>
      <p:sp>
        <p:nvSpPr>
          <p:cNvPr id="11" name="TextBox 10"/>
          <p:cNvSpPr txBox="1"/>
          <p:nvPr/>
        </p:nvSpPr>
        <p:spPr>
          <a:xfrm>
            <a:off x="264759" y="4793484"/>
            <a:ext cx="8333105" cy="923330"/>
          </a:xfrm>
          <a:prstGeom prst="rect">
            <a:avLst/>
          </a:prstGeom>
          <a:noFill/>
        </p:spPr>
        <p:txBody>
          <a:bodyPr wrap="square" rtlCol="0">
            <a:spAutoFit/>
          </a:bodyPr>
          <a:lstStyle/>
          <a:p>
            <a:r>
              <a:rPr lang="en-US" altLang="zh-CN" sz="1800" b="1" dirty="0"/>
              <a:t>TDC</a:t>
            </a:r>
            <a:r>
              <a:rPr lang="en-US" altLang="zh-CN" sz="1800" dirty="0"/>
              <a:t>: top dead center;</a:t>
            </a:r>
            <a:r>
              <a:rPr lang="en-US" altLang="zh-CN" sz="1800" b="1" dirty="0"/>
              <a:t> BDC</a:t>
            </a:r>
            <a:r>
              <a:rPr lang="en-US" altLang="zh-CN" sz="1800" dirty="0"/>
              <a:t>: bottom dead center; </a:t>
            </a:r>
            <a:r>
              <a:rPr lang="en-US" altLang="zh-CN" sz="1800" b="1" dirty="0"/>
              <a:t>Stroke: </a:t>
            </a:r>
            <a:r>
              <a:rPr lang="en-US" altLang="zh-CN" sz="1800" dirty="0"/>
              <a:t>largest distance that piston can travel; </a:t>
            </a:r>
            <a:r>
              <a:rPr lang="en-US" altLang="zh-CN" sz="1800" b="1" dirty="0"/>
              <a:t>Bore</a:t>
            </a:r>
            <a:r>
              <a:rPr lang="en-US" altLang="zh-CN" sz="1800" dirty="0"/>
              <a:t>: piston diameter; </a:t>
            </a:r>
          </a:p>
          <a:p>
            <a:r>
              <a:rPr lang="en-US" altLang="zh-CN" sz="1800" dirty="0"/>
              <a:t>Intake valve; Exhaust valve; Clearance displacement; Displacement volume; </a:t>
            </a:r>
            <a:endParaRPr lang="en-US" altLang="zh-CN" sz="1800" b="1" dirty="0">
              <a:solidFill>
                <a:srgbClr val="FF0000"/>
              </a:solidFill>
            </a:endParaRPr>
          </a:p>
        </p:txBody>
      </p:sp>
      <p:pic>
        <p:nvPicPr>
          <p:cNvPr id="138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373" y="1272871"/>
            <a:ext cx="2480735" cy="28717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82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6587" y="1415746"/>
            <a:ext cx="2946242" cy="30432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824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29412" y="2523027"/>
            <a:ext cx="1728787" cy="5481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矩形 1"/>
          <p:cNvSpPr/>
          <p:nvPr/>
        </p:nvSpPr>
        <p:spPr>
          <a:xfrm>
            <a:off x="6413381" y="1858659"/>
            <a:ext cx="2056845" cy="369332"/>
          </a:xfrm>
          <a:prstGeom prst="rect">
            <a:avLst/>
          </a:prstGeom>
        </p:spPr>
        <p:txBody>
          <a:bodyPr wrap="none">
            <a:spAutoFit/>
          </a:bodyPr>
          <a:lstStyle/>
          <a:p>
            <a:r>
              <a:rPr lang="en-US" altLang="zh-CN" b="1" dirty="0">
                <a:solidFill>
                  <a:srgbClr val="FF0000"/>
                </a:solidFill>
              </a:rPr>
              <a:t>Compression ratio r</a:t>
            </a:r>
          </a:p>
        </p:txBody>
      </p:sp>
    </p:spTree>
    <p:extLst>
      <p:ext uri="{BB962C8B-B14F-4D97-AF65-F5344CB8AC3E}">
        <p14:creationId xmlns:p14="http://schemas.microsoft.com/office/powerpoint/2010/main" val="14739882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174573" y="27440"/>
            <a:ext cx="6161892" cy="722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sz="3200" b="1" dirty="0">
                <a:solidFill>
                  <a:srgbClr val="FF0000"/>
                </a:solidFill>
                <a:effectLst>
                  <a:outerShdw blurRad="38100" dist="38100" dir="2700000" algn="tl">
                    <a:srgbClr val="000000">
                      <a:alpha val="43137"/>
                    </a:srgbClr>
                  </a:outerShdw>
                </a:effectLst>
                <a:latin typeface="Arial" charset="0"/>
                <a:cs typeface="Arial" charset="0"/>
              </a:rPr>
              <a:t>Reciprocating Engine Overview</a:t>
            </a:r>
            <a:endParaRPr lang="en-US" sz="3200" dirty="0">
              <a:solidFill>
                <a:srgbClr val="FF0000"/>
              </a:solidFill>
            </a:endParaRPr>
          </a:p>
        </p:txBody>
      </p:sp>
      <p:sp>
        <p:nvSpPr>
          <p:cNvPr id="11" name="TextBox 10"/>
          <p:cNvSpPr txBox="1"/>
          <p:nvPr/>
        </p:nvSpPr>
        <p:spPr>
          <a:xfrm>
            <a:off x="4081079" y="1526909"/>
            <a:ext cx="3708983" cy="369332"/>
          </a:xfrm>
          <a:prstGeom prst="rect">
            <a:avLst/>
          </a:prstGeom>
          <a:noFill/>
        </p:spPr>
        <p:txBody>
          <a:bodyPr wrap="square" rtlCol="0">
            <a:spAutoFit/>
          </a:bodyPr>
          <a:lstStyle/>
          <a:p>
            <a:r>
              <a:rPr lang="en-US" altLang="zh-CN" sz="1800" b="1" dirty="0">
                <a:solidFill>
                  <a:srgbClr val="FF0000"/>
                </a:solidFill>
                <a:sym typeface="Symbol"/>
              </a:rPr>
              <a:t>MEP: mean effective pressure</a:t>
            </a:r>
            <a:endParaRPr lang="en-US" altLang="zh-CN" sz="1800" b="1" dirty="0">
              <a:solidFill>
                <a:srgbClr val="FF0000"/>
              </a:solidFill>
            </a:endParaRPr>
          </a:p>
        </p:txBody>
      </p:sp>
      <p:pic>
        <p:nvPicPr>
          <p:cNvPr id="107525" name="Picture 5"/>
          <p:cNvPicPr>
            <a:picLocks noChangeAspect="1" noChangeArrowheads="1"/>
          </p:cNvPicPr>
          <p:nvPr/>
        </p:nvPicPr>
        <p:blipFill rotWithShape="1">
          <a:blip r:embed="rId2">
            <a:extLst>
              <a:ext uri="{28A0092B-C50C-407E-A947-70E740481C1C}">
                <a14:useLocalDpi xmlns:a14="http://schemas.microsoft.com/office/drawing/2010/main" val="0"/>
              </a:ext>
            </a:extLst>
          </a:blip>
          <a:srcRect t="17515" b="28378"/>
          <a:stretch/>
        </p:blipFill>
        <p:spPr bwMode="auto">
          <a:xfrm>
            <a:off x="1089056" y="5467861"/>
            <a:ext cx="6407571" cy="3466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752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1079" y="1959180"/>
            <a:ext cx="3125263" cy="703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7527"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4292" y="1166508"/>
            <a:ext cx="3003338" cy="38540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661779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489424" y="-144463"/>
            <a:ext cx="7324760" cy="1246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b="1" dirty="0">
                <a:solidFill>
                  <a:srgbClr val="FF0000"/>
                </a:solidFill>
                <a:effectLst>
                  <a:outerShdw blurRad="38100" dist="38100" dir="2700000" algn="tl">
                    <a:srgbClr val="000000">
                      <a:alpha val="43137"/>
                    </a:srgbClr>
                  </a:outerShdw>
                </a:effectLst>
                <a:latin typeface="Arial" charset="0"/>
                <a:cs typeface="Arial" charset="0"/>
              </a:rPr>
              <a:t>Otto Cycle </a:t>
            </a:r>
          </a:p>
          <a:p>
            <a:r>
              <a:rPr lang="en-US" altLang="zh-CN" sz="3200" b="1" dirty="0">
                <a:solidFill>
                  <a:srgbClr val="0000FF"/>
                </a:solidFill>
                <a:effectLst>
                  <a:outerShdw blurRad="38100" dist="38100" dir="2700000" algn="tl">
                    <a:srgbClr val="000000">
                      <a:alpha val="43137"/>
                    </a:srgbClr>
                  </a:outerShdw>
                </a:effectLst>
                <a:latin typeface="Arial" charset="0"/>
                <a:cs typeface="Arial" charset="0"/>
              </a:rPr>
              <a:t>——</a:t>
            </a:r>
            <a:r>
              <a:rPr lang="en-US" sz="3200" b="1" dirty="0">
                <a:solidFill>
                  <a:srgbClr val="0000FF"/>
                </a:solidFill>
                <a:effectLst>
                  <a:outerShdw blurRad="38100" dist="38100" dir="2700000" algn="tl">
                    <a:srgbClr val="000000">
                      <a:alpha val="43137"/>
                    </a:srgbClr>
                  </a:outerShdw>
                </a:effectLst>
                <a:latin typeface="Arial" charset="0"/>
                <a:cs typeface="Arial" charset="0"/>
              </a:rPr>
              <a:t>Spark-Ignition (SI) Engine</a:t>
            </a:r>
            <a:endParaRPr lang="en-US" sz="3200" dirty="0">
              <a:solidFill>
                <a:srgbClr val="0000FF"/>
              </a:solidFill>
            </a:endParaRPr>
          </a:p>
        </p:txBody>
      </p:sp>
      <p:pic>
        <p:nvPicPr>
          <p:cNvPr id="1085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3883" y="1403934"/>
            <a:ext cx="5903172" cy="26279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85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3882" y="4197668"/>
            <a:ext cx="6367145" cy="22232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TextBox 11"/>
          <p:cNvSpPr txBox="1"/>
          <p:nvPr/>
        </p:nvSpPr>
        <p:spPr>
          <a:xfrm>
            <a:off x="6581467" y="2464482"/>
            <a:ext cx="2509841" cy="646331"/>
          </a:xfrm>
          <a:prstGeom prst="rect">
            <a:avLst/>
          </a:prstGeom>
          <a:noFill/>
        </p:spPr>
        <p:txBody>
          <a:bodyPr wrap="square" rtlCol="0">
            <a:spAutoFit/>
          </a:bodyPr>
          <a:lstStyle/>
          <a:p>
            <a:r>
              <a:rPr lang="en-US" altLang="zh-CN" sz="1800" b="1" dirty="0">
                <a:sym typeface="Symbol"/>
              </a:rPr>
              <a:t>Otto cycle</a:t>
            </a:r>
            <a:r>
              <a:rPr lang="en-US" altLang="zh-CN" sz="1800" dirty="0">
                <a:sym typeface="Symbol"/>
              </a:rPr>
              <a:t>:</a:t>
            </a:r>
          </a:p>
          <a:p>
            <a:r>
              <a:rPr lang="en-US" altLang="zh-CN" sz="1800" dirty="0">
                <a:sym typeface="Symbol"/>
              </a:rPr>
              <a:t>after </a:t>
            </a:r>
            <a:r>
              <a:rPr lang="en-US" altLang="zh-CN" sz="1800" dirty="0" err="1">
                <a:sym typeface="Symbol"/>
              </a:rPr>
              <a:t>Nikolaus</a:t>
            </a:r>
            <a:r>
              <a:rPr lang="en-US" altLang="zh-CN" sz="1800" dirty="0">
                <a:sym typeface="Symbol"/>
              </a:rPr>
              <a:t> A. Otto</a:t>
            </a:r>
            <a:endParaRPr lang="en-US" altLang="zh-CN" sz="1800" dirty="0"/>
          </a:p>
        </p:txBody>
      </p:sp>
      <p:pic>
        <p:nvPicPr>
          <p:cNvPr id="6041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26770" y="3374290"/>
            <a:ext cx="1504950" cy="191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Slide Number Placeholder 3"/>
          <p:cNvSpPr txBox="1">
            <a:spLocks/>
          </p:cNvSpPr>
          <p:nvPr/>
        </p:nvSpPr>
        <p:spPr>
          <a:xfrm>
            <a:off x="6934200" y="6294437"/>
            <a:ext cx="21336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b="1" i="1" dirty="0">
                <a:solidFill>
                  <a:srgbClr val="FF0000"/>
                </a:solidFill>
                <a:ea typeface="华文楷体" panose="02010600040101010101" pitchFamily="2" charset="-122"/>
                <a:cs typeface="Times New Roman" panose="02020603050405020304" pitchFamily="18" charset="0"/>
              </a:rPr>
              <a:t>MSE 5006 </a:t>
            </a:r>
            <a:r>
              <a:rPr lang="en-US" dirty="0"/>
              <a:t>|  </a:t>
            </a:r>
            <a:fld id="{C915B95C-5458-41FC-90FC-CACA4B5603FB}" type="slidenum">
              <a:rPr lang="en-US" smtClean="0"/>
              <a:pPr algn="r"/>
              <a:t>17</a:t>
            </a:fld>
            <a:endParaRPr lang="en-US" dirty="0"/>
          </a:p>
        </p:txBody>
      </p:sp>
    </p:spTree>
    <p:extLst>
      <p:ext uri="{BB962C8B-B14F-4D97-AF65-F5344CB8AC3E}">
        <p14:creationId xmlns:p14="http://schemas.microsoft.com/office/powerpoint/2010/main" val="31644021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0" y="6356350"/>
            <a:ext cx="2057400" cy="365125"/>
          </a:xfrm>
        </p:spPr>
        <p:txBody>
          <a:bodyPr/>
          <a:lstStyle/>
          <a:p>
            <a:r>
              <a:rPr lang="en-US" dirty="0"/>
              <a:t>SUSTC  |  </a:t>
            </a:r>
            <a:fld id="{C915B95C-5458-41FC-90FC-CACA4B5603FB}" type="slidenum">
              <a:rPr lang="en-US" smtClean="0"/>
              <a:pPr/>
              <a:t>18</a:t>
            </a:fld>
            <a:endParaRPr lang="en-US" dirty="0"/>
          </a:p>
        </p:txBody>
      </p:sp>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293834" y="-136439"/>
            <a:ext cx="7324760" cy="1246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sz="3200" b="1" dirty="0">
                <a:solidFill>
                  <a:srgbClr val="FF0000"/>
                </a:solidFill>
                <a:effectLst>
                  <a:outerShdw blurRad="38100" dist="38100" dir="2700000" algn="tl">
                    <a:srgbClr val="000000">
                      <a:alpha val="43137"/>
                    </a:srgbClr>
                  </a:outerShdw>
                </a:effectLst>
                <a:latin typeface="Arial" charset="0"/>
                <a:cs typeface="Arial" charset="0"/>
              </a:rPr>
              <a:t>Otto Cycle </a:t>
            </a:r>
          </a:p>
          <a:p>
            <a:r>
              <a:rPr lang="en-US" altLang="zh-CN" sz="3200" b="1" dirty="0">
                <a:solidFill>
                  <a:srgbClr val="0000FF"/>
                </a:solidFill>
                <a:effectLst>
                  <a:outerShdw blurRad="38100" dist="38100" dir="2700000" algn="tl">
                    <a:srgbClr val="000000">
                      <a:alpha val="43137"/>
                    </a:srgbClr>
                  </a:outerShdw>
                </a:effectLst>
                <a:latin typeface="Arial" charset="0"/>
                <a:cs typeface="Arial" charset="0"/>
              </a:rPr>
              <a:t>——</a:t>
            </a:r>
            <a:r>
              <a:rPr lang="en-US" sz="3200" b="1" dirty="0">
                <a:solidFill>
                  <a:srgbClr val="0000FF"/>
                </a:solidFill>
                <a:effectLst>
                  <a:outerShdw blurRad="38100" dist="38100" dir="2700000" algn="tl">
                    <a:srgbClr val="000000">
                      <a:alpha val="43137"/>
                    </a:srgbClr>
                  </a:outerShdw>
                </a:effectLst>
                <a:latin typeface="Arial" charset="0"/>
                <a:cs typeface="Arial" charset="0"/>
              </a:rPr>
              <a:t>Spark-Ignition Engine</a:t>
            </a:r>
            <a:endParaRPr lang="en-US" sz="3200" dirty="0">
              <a:solidFill>
                <a:srgbClr val="0000FF"/>
              </a:solidFill>
            </a:endParaRPr>
          </a:p>
        </p:txBody>
      </p:sp>
      <p:pic>
        <p:nvPicPr>
          <p:cNvPr id="1085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9292" y="1325953"/>
            <a:ext cx="3432449" cy="15280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85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71428" y="1393424"/>
            <a:ext cx="3989706" cy="1393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957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5668" y="2980294"/>
            <a:ext cx="3188837" cy="29839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957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72819" y="3363142"/>
            <a:ext cx="3407838" cy="26010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右箭头 1"/>
          <p:cNvSpPr/>
          <p:nvPr/>
        </p:nvSpPr>
        <p:spPr>
          <a:xfrm>
            <a:off x="4149909" y="4636595"/>
            <a:ext cx="962295" cy="232229"/>
          </a:xfrm>
          <a:prstGeom prst="rightArrow">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TextBox 4"/>
          <p:cNvSpPr txBox="1"/>
          <p:nvPr/>
        </p:nvSpPr>
        <p:spPr>
          <a:xfrm>
            <a:off x="4031774" y="4318371"/>
            <a:ext cx="1241045" cy="307777"/>
          </a:xfrm>
          <a:prstGeom prst="rect">
            <a:avLst/>
          </a:prstGeom>
          <a:noFill/>
        </p:spPr>
        <p:txBody>
          <a:bodyPr wrap="none" rtlCol="0">
            <a:spAutoFit/>
          </a:bodyPr>
          <a:lstStyle/>
          <a:p>
            <a:r>
              <a:rPr lang="en-US" altLang="zh-CN" sz="1400" dirty="0"/>
              <a:t>Simplification</a:t>
            </a:r>
            <a:endParaRPr lang="zh-CN" altLang="en-US" sz="1400" dirty="0"/>
          </a:p>
        </p:txBody>
      </p:sp>
    </p:spTree>
    <p:extLst>
      <p:ext uri="{BB962C8B-B14F-4D97-AF65-F5344CB8AC3E}">
        <p14:creationId xmlns:p14="http://schemas.microsoft.com/office/powerpoint/2010/main" val="12757440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143232" y="7937"/>
            <a:ext cx="7324760" cy="932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sz="2800" b="1" dirty="0">
                <a:solidFill>
                  <a:srgbClr val="FF0000"/>
                </a:solidFill>
                <a:effectLst>
                  <a:outerShdw blurRad="38100" dist="38100" dir="2700000" algn="tl">
                    <a:srgbClr val="000000">
                      <a:alpha val="43137"/>
                    </a:srgbClr>
                  </a:outerShdw>
                </a:effectLst>
                <a:latin typeface="Arial" charset="0"/>
                <a:cs typeface="Arial" charset="0"/>
              </a:rPr>
              <a:t>Otto Cycle </a:t>
            </a:r>
          </a:p>
          <a:p>
            <a:r>
              <a:rPr lang="en-US" altLang="zh-CN" sz="2800" b="1" dirty="0">
                <a:solidFill>
                  <a:srgbClr val="FF0000"/>
                </a:solidFill>
                <a:effectLst>
                  <a:outerShdw blurRad="38100" dist="38100" dir="2700000" algn="tl">
                    <a:srgbClr val="000000">
                      <a:alpha val="43137"/>
                    </a:srgbClr>
                  </a:outerShdw>
                </a:effectLst>
                <a:latin typeface="Arial" charset="0"/>
                <a:cs typeface="Arial" charset="0"/>
              </a:rPr>
              <a:t>——</a:t>
            </a:r>
            <a:r>
              <a:rPr lang="en-US" sz="2800" b="1" dirty="0">
                <a:solidFill>
                  <a:srgbClr val="FF0000"/>
                </a:solidFill>
                <a:effectLst>
                  <a:outerShdw blurRad="38100" dist="38100" dir="2700000" algn="tl">
                    <a:srgbClr val="000000">
                      <a:alpha val="43137"/>
                    </a:srgbClr>
                  </a:outerShdw>
                </a:effectLst>
                <a:latin typeface="Arial" charset="0"/>
                <a:cs typeface="Arial" charset="0"/>
              </a:rPr>
              <a:t>Spark-Ignition Engine</a:t>
            </a:r>
            <a:endParaRPr lang="en-US" sz="2800" dirty="0">
              <a:solidFill>
                <a:srgbClr val="FF0000"/>
              </a:solidFill>
            </a:endParaRPr>
          </a:p>
        </p:txBody>
      </p:sp>
      <p:pic>
        <p:nvPicPr>
          <p:cNvPr id="1116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070" y="1587817"/>
            <a:ext cx="3169529" cy="30299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TextBox 10"/>
          <p:cNvSpPr txBox="1"/>
          <p:nvPr/>
        </p:nvSpPr>
        <p:spPr>
          <a:xfrm>
            <a:off x="346070" y="4844058"/>
            <a:ext cx="3936370" cy="1200329"/>
          </a:xfrm>
          <a:prstGeom prst="rect">
            <a:avLst/>
          </a:prstGeom>
          <a:noFill/>
        </p:spPr>
        <p:txBody>
          <a:bodyPr wrap="square" rtlCol="0">
            <a:spAutoFit/>
          </a:bodyPr>
          <a:lstStyle/>
          <a:p>
            <a:r>
              <a:rPr lang="en-US" altLang="zh-CN" sz="1800" dirty="0">
                <a:sym typeface="Symbol"/>
              </a:rPr>
              <a:t>1-2: Isentropic compression;</a:t>
            </a:r>
          </a:p>
          <a:p>
            <a:r>
              <a:rPr lang="en-US" altLang="zh-CN" sz="1800" dirty="0">
                <a:sym typeface="Symbol"/>
              </a:rPr>
              <a:t>2-3: Constant-volume heat addition;</a:t>
            </a:r>
          </a:p>
          <a:p>
            <a:r>
              <a:rPr lang="en-US" altLang="zh-CN" sz="1800" dirty="0">
                <a:sym typeface="Symbol"/>
              </a:rPr>
              <a:t>3-4: Isentropic expansion;</a:t>
            </a:r>
          </a:p>
          <a:p>
            <a:r>
              <a:rPr lang="en-US" altLang="zh-CN" sz="1800" dirty="0">
                <a:sym typeface="Symbol"/>
              </a:rPr>
              <a:t>4-1: Constant-volume heat rejection</a:t>
            </a:r>
            <a:endParaRPr lang="en-US" altLang="zh-CN" sz="1800" dirty="0"/>
          </a:p>
        </p:txBody>
      </p:sp>
      <p:pic>
        <p:nvPicPr>
          <p:cNvPr id="11162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16074" y="1763120"/>
            <a:ext cx="4899325" cy="4715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1621"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0542" y="2580144"/>
            <a:ext cx="4019982" cy="13354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1622" name="Picture 6"/>
          <p:cNvPicPr>
            <a:picLocks noChangeAspect="1" noChangeArrowheads="1"/>
          </p:cNvPicPr>
          <p:nvPr/>
        </p:nvPicPr>
        <p:blipFill rotWithShape="1">
          <a:blip r:embed="rId5">
            <a:extLst>
              <a:ext uri="{28A0092B-C50C-407E-A947-70E740481C1C}">
                <a14:useLocalDpi xmlns:a14="http://schemas.microsoft.com/office/drawing/2010/main" val="0"/>
              </a:ext>
            </a:extLst>
          </a:blip>
          <a:srcRect r="2530"/>
          <a:stretch/>
        </p:blipFill>
        <p:spPr bwMode="auto">
          <a:xfrm>
            <a:off x="4282440" y="3968238"/>
            <a:ext cx="3527757" cy="10995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1623"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61168" y="5201830"/>
            <a:ext cx="4295520" cy="8768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149299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194703" y="-26724"/>
            <a:ext cx="7324760" cy="1208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b="1" dirty="0">
                <a:solidFill>
                  <a:srgbClr val="FF0000"/>
                </a:solidFill>
                <a:effectLst>
                  <a:outerShdw blurRad="38100" dist="38100" dir="2700000" algn="tl">
                    <a:srgbClr val="000000">
                      <a:alpha val="43137"/>
                    </a:srgbClr>
                  </a:outerShdw>
                </a:effectLst>
                <a:latin typeface="Arial" charset="0"/>
                <a:cs typeface="Arial" charset="0"/>
              </a:rPr>
              <a:t>Otto Cycle</a:t>
            </a:r>
          </a:p>
          <a:p>
            <a:r>
              <a:rPr lang="en-US" altLang="zh-CN" b="1" dirty="0">
                <a:solidFill>
                  <a:srgbClr val="FF0000"/>
                </a:solidFill>
                <a:effectLst>
                  <a:outerShdw blurRad="38100" dist="38100" dir="2700000" algn="tl">
                    <a:srgbClr val="000000">
                      <a:alpha val="43137"/>
                    </a:srgbClr>
                  </a:outerShdw>
                </a:effectLst>
                <a:latin typeface="Arial" charset="0"/>
                <a:cs typeface="Arial" charset="0"/>
              </a:rPr>
              <a:t>——</a:t>
            </a:r>
            <a:r>
              <a:rPr lang="en-US" b="1" dirty="0">
                <a:solidFill>
                  <a:srgbClr val="FF0000"/>
                </a:solidFill>
                <a:effectLst>
                  <a:outerShdw blurRad="38100" dist="38100" dir="2700000" algn="tl">
                    <a:srgbClr val="000000">
                      <a:alpha val="43137"/>
                    </a:srgbClr>
                  </a:outerShdw>
                </a:effectLst>
                <a:latin typeface="Arial" charset="0"/>
                <a:cs typeface="Arial" charset="0"/>
              </a:rPr>
              <a:t> Spark-Ignition Engine</a:t>
            </a:r>
            <a:endParaRPr lang="en-US" dirty="0">
              <a:solidFill>
                <a:srgbClr val="FF0000"/>
              </a:solidFill>
            </a:endParaRP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973" y="1849432"/>
            <a:ext cx="2569206" cy="2456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162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0595" y="5211992"/>
            <a:ext cx="3049614" cy="11125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1622"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1439" y="4302487"/>
            <a:ext cx="1904533" cy="6348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1623"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01592" y="4485687"/>
            <a:ext cx="2889625" cy="3453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Slide Number Placeholder 3"/>
          <p:cNvSpPr>
            <a:spLocks noGrp="1"/>
          </p:cNvSpPr>
          <p:nvPr>
            <p:ph type="sldNum" sz="quarter" idx="4294967295"/>
          </p:nvPr>
        </p:nvSpPr>
        <p:spPr>
          <a:xfrm>
            <a:off x="7010400" y="6492875"/>
            <a:ext cx="2133600" cy="365125"/>
          </a:xfrm>
        </p:spPr>
        <p:txBody>
          <a:bodyPr/>
          <a:lstStyle/>
          <a:p>
            <a:r>
              <a:rPr lang="en-US" dirty="0"/>
              <a:t>SUSTC  |  </a:t>
            </a:r>
            <a:fld id="{C915B95C-5458-41FC-90FC-CACA4B5603FB}" type="slidenum">
              <a:rPr lang="en-US" smtClean="0"/>
              <a:pPr/>
              <a:t>20</a:t>
            </a:fld>
            <a:endParaRPr lang="en-US" dirty="0"/>
          </a:p>
        </p:txBody>
      </p:sp>
      <p:sp>
        <p:nvSpPr>
          <p:cNvPr id="2" name="TextBox 1"/>
          <p:cNvSpPr txBox="1"/>
          <p:nvPr/>
        </p:nvSpPr>
        <p:spPr>
          <a:xfrm>
            <a:off x="4155276" y="1555688"/>
            <a:ext cx="3409908" cy="369332"/>
          </a:xfrm>
          <a:prstGeom prst="rect">
            <a:avLst/>
          </a:prstGeom>
          <a:noFill/>
        </p:spPr>
        <p:txBody>
          <a:bodyPr wrap="none" rtlCol="0">
            <a:spAutoFit/>
          </a:bodyPr>
          <a:lstStyle/>
          <a:p>
            <a:r>
              <a:rPr lang="en-US" altLang="zh-CN" dirty="0"/>
              <a:t>Isentropic, and v</a:t>
            </a:r>
            <a:r>
              <a:rPr lang="en-US" altLang="zh-CN" baseline="-25000" dirty="0"/>
              <a:t>2</a:t>
            </a:r>
            <a:r>
              <a:rPr lang="en-US" altLang="zh-CN" dirty="0"/>
              <a:t>=v</a:t>
            </a:r>
            <a:r>
              <a:rPr lang="en-US" altLang="zh-CN" baseline="-25000" dirty="0"/>
              <a:t>3</a:t>
            </a:r>
            <a:r>
              <a:rPr lang="en-US" altLang="zh-CN" dirty="0"/>
              <a:t> and v</a:t>
            </a:r>
            <a:r>
              <a:rPr lang="en-US" altLang="zh-CN" baseline="-25000" dirty="0"/>
              <a:t>4</a:t>
            </a:r>
            <a:r>
              <a:rPr lang="en-US" altLang="zh-CN" dirty="0"/>
              <a:t>=v</a:t>
            </a:r>
            <a:r>
              <a:rPr lang="en-US" altLang="zh-CN" baseline="-25000" dirty="0"/>
              <a:t>1</a:t>
            </a:r>
            <a:r>
              <a:rPr lang="en-US" altLang="zh-CN" dirty="0"/>
              <a:t> </a:t>
            </a:r>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2229246921"/>
              </p:ext>
            </p:extLst>
          </p:nvPr>
        </p:nvGraphicFramePr>
        <p:xfrm>
          <a:off x="4134956" y="2115928"/>
          <a:ext cx="2632983" cy="780143"/>
        </p:xfrm>
        <a:graphic>
          <a:graphicData uri="http://schemas.openxmlformats.org/presentationml/2006/ole">
            <mc:AlternateContent xmlns:mc="http://schemas.openxmlformats.org/markup-compatibility/2006">
              <mc:Choice xmlns:v="urn:schemas-microsoft-com:vml" Requires="v">
                <p:oleObj name="Equation" r:id="rId6" imgW="1714320" imgH="507960" progId="Equation.DSMT4">
                  <p:embed/>
                </p:oleObj>
              </mc:Choice>
              <mc:Fallback>
                <p:oleObj name="Equation" r:id="rId6" imgW="1714320" imgH="507960" progId="Equation.DSMT4">
                  <p:embed/>
                  <p:pic>
                    <p:nvPicPr>
                      <p:cNvPr id="0" name=""/>
                      <p:cNvPicPr/>
                      <p:nvPr/>
                    </p:nvPicPr>
                    <p:blipFill>
                      <a:blip r:embed="rId7"/>
                      <a:stretch>
                        <a:fillRect/>
                      </a:stretch>
                    </p:blipFill>
                    <p:spPr>
                      <a:xfrm>
                        <a:off x="4134956" y="2115928"/>
                        <a:ext cx="2632983" cy="780143"/>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7" name="矩形 6"/>
              <p:cNvSpPr/>
              <p:nvPr/>
            </p:nvSpPr>
            <p:spPr>
              <a:xfrm>
                <a:off x="155575" y="4658359"/>
                <a:ext cx="3075907" cy="67659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latin typeface="Cambria Math" panose="02040503050406030204" pitchFamily="18" charset="0"/>
                            </a:rPr>
                          </m:ctrlPr>
                        </m:sSubPr>
                        <m:e>
                          <m:r>
                            <a:rPr lang="zh-CN" altLang="en-US" i="1">
                              <a:latin typeface="Cambria Math" panose="02040503050406030204" pitchFamily="18" charset="0"/>
                            </a:rPr>
                            <m:t>𝜂</m:t>
                          </m:r>
                        </m:e>
                        <m:sub>
                          <m:r>
                            <a:rPr lang="zh-CN" altLang="en-US" i="1">
                              <a:latin typeface="Cambria Math" panose="02040503050406030204" pitchFamily="18" charset="0"/>
                            </a:rPr>
                            <m:t>𝑡h</m:t>
                          </m:r>
                          <m:r>
                            <a:rPr lang="zh-CN" altLang="en-US" i="0">
                              <a:latin typeface="Cambria Math" panose="02040503050406030204" pitchFamily="18" charset="0"/>
                            </a:rPr>
                            <m:t>,</m:t>
                          </m:r>
                          <m:r>
                            <a:rPr lang="zh-CN" altLang="en-US" i="1">
                              <a:latin typeface="Cambria Math" panose="02040503050406030204" pitchFamily="18" charset="0"/>
                            </a:rPr>
                            <m:t>𝑜𝑡𝑡𝑜</m:t>
                          </m:r>
                        </m:sub>
                      </m:sSub>
                      <m:r>
                        <a:rPr lang="zh-CN" altLang="en-US" i="0">
                          <a:latin typeface="Cambria Math" panose="02040503050406030204" pitchFamily="18" charset="0"/>
                        </a:rPr>
                        <m:t>=1−</m:t>
                      </m:r>
                      <m:f>
                        <m:fPr>
                          <m:ctrlPr>
                            <a:rPr lang="zh-CN" altLang="en-US" i="1">
                              <a:latin typeface="Cambria Math" panose="02040503050406030204" pitchFamily="18" charset="0"/>
                            </a:rPr>
                          </m:ctrlPr>
                        </m:fPr>
                        <m:num>
                          <m:sSub>
                            <m:sSubPr>
                              <m:ctrlPr>
                                <a:rPr lang="zh-CN" altLang="en-US" i="1">
                                  <a:latin typeface="Cambria Math" panose="02040503050406030204" pitchFamily="18" charset="0"/>
                                </a:rPr>
                              </m:ctrlPr>
                            </m:sSubPr>
                            <m:e>
                              <m:r>
                                <a:rPr lang="zh-CN" altLang="en-US" i="1">
                                  <a:latin typeface="Cambria Math" panose="02040503050406030204" pitchFamily="18" charset="0"/>
                                </a:rPr>
                                <m:t>𝑇</m:t>
                              </m:r>
                            </m:e>
                            <m:sub>
                              <m:r>
                                <a:rPr lang="zh-CN" altLang="en-US" i="0">
                                  <a:latin typeface="Cambria Math" panose="02040503050406030204" pitchFamily="18" charset="0"/>
                                </a:rPr>
                                <m:t>1</m:t>
                              </m:r>
                            </m:sub>
                          </m:sSub>
                        </m:num>
                        <m:den>
                          <m:sSub>
                            <m:sSubPr>
                              <m:ctrlPr>
                                <a:rPr lang="zh-CN" altLang="en-US" i="1">
                                  <a:latin typeface="Cambria Math" panose="02040503050406030204" pitchFamily="18" charset="0"/>
                                </a:rPr>
                              </m:ctrlPr>
                            </m:sSubPr>
                            <m:e>
                              <m:r>
                                <a:rPr lang="zh-CN" altLang="en-US" i="1">
                                  <a:latin typeface="Cambria Math" panose="02040503050406030204" pitchFamily="18" charset="0"/>
                                </a:rPr>
                                <m:t>𝑇</m:t>
                              </m:r>
                            </m:e>
                            <m:sub>
                              <m:r>
                                <a:rPr lang="zh-CN" altLang="en-US" i="0">
                                  <a:latin typeface="Cambria Math" panose="02040503050406030204" pitchFamily="18" charset="0"/>
                                </a:rPr>
                                <m:t>2</m:t>
                              </m:r>
                            </m:sub>
                          </m:sSub>
                        </m:den>
                      </m:f>
                      <m:f>
                        <m:fPr>
                          <m:ctrlPr>
                            <a:rPr lang="zh-CN" altLang="en-US" i="1">
                              <a:latin typeface="Cambria Math" panose="02040503050406030204" pitchFamily="18" charset="0"/>
                            </a:rPr>
                          </m:ctrlPr>
                        </m:fPr>
                        <m:num>
                          <m:d>
                            <m:dPr>
                              <m:ctrlPr>
                                <a:rPr lang="zh-CN" altLang="en-US" i="1">
                                  <a:latin typeface="Cambria Math" panose="02040503050406030204" pitchFamily="18" charset="0"/>
                                </a:rPr>
                              </m:ctrlPr>
                            </m:dPr>
                            <m:e>
                              <m:f>
                                <m:fPr>
                                  <m:type m:val="lin"/>
                                  <m:ctrlPr>
                                    <a:rPr lang="zh-CN" altLang="en-US" i="1">
                                      <a:latin typeface="Cambria Math" panose="02040503050406030204" pitchFamily="18" charset="0"/>
                                    </a:rPr>
                                  </m:ctrlPr>
                                </m:fPr>
                                <m:num>
                                  <m:sSub>
                                    <m:sSubPr>
                                      <m:ctrlPr>
                                        <a:rPr lang="zh-CN" altLang="en-US" i="1">
                                          <a:latin typeface="Cambria Math" panose="02040503050406030204" pitchFamily="18" charset="0"/>
                                        </a:rPr>
                                      </m:ctrlPr>
                                    </m:sSubPr>
                                    <m:e>
                                      <m:r>
                                        <a:rPr lang="zh-CN" altLang="en-US" i="1">
                                          <a:latin typeface="Cambria Math" panose="02040503050406030204" pitchFamily="18" charset="0"/>
                                        </a:rPr>
                                        <m:t>𝑇</m:t>
                                      </m:r>
                                    </m:e>
                                    <m:sub>
                                      <m:r>
                                        <a:rPr lang="zh-CN" altLang="en-US" i="0">
                                          <a:latin typeface="Cambria Math" panose="02040503050406030204" pitchFamily="18" charset="0"/>
                                        </a:rPr>
                                        <m:t>4</m:t>
                                      </m:r>
                                    </m:sub>
                                  </m:sSub>
                                </m:num>
                                <m:den>
                                  <m:sSub>
                                    <m:sSubPr>
                                      <m:ctrlPr>
                                        <a:rPr lang="zh-CN" altLang="en-US" i="1">
                                          <a:latin typeface="Cambria Math" panose="02040503050406030204" pitchFamily="18" charset="0"/>
                                        </a:rPr>
                                      </m:ctrlPr>
                                    </m:sSubPr>
                                    <m:e>
                                      <m:r>
                                        <a:rPr lang="zh-CN" altLang="en-US" i="1">
                                          <a:latin typeface="Cambria Math" panose="02040503050406030204" pitchFamily="18" charset="0"/>
                                        </a:rPr>
                                        <m:t>𝑇</m:t>
                                      </m:r>
                                    </m:e>
                                    <m:sub>
                                      <m:r>
                                        <a:rPr lang="zh-CN" altLang="en-US" i="0">
                                          <a:latin typeface="Cambria Math" panose="02040503050406030204" pitchFamily="18" charset="0"/>
                                        </a:rPr>
                                        <m:t>1</m:t>
                                      </m:r>
                                    </m:sub>
                                  </m:sSub>
                                </m:den>
                              </m:f>
                              <m:r>
                                <a:rPr lang="zh-CN" altLang="en-US" i="0">
                                  <a:latin typeface="Cambria Math" panose="02040503050406030204" pitchFamily="18" charset="0"/>
                                </a:rPr>
                                <m:t>−1</m:t>
                              </m:r>
                            </m:e>
                          </m:d>
                        </m:num>
                        <m:den>
                          <m:d>
                            <m:dPr>
                              <m:ctrlPr>
                                <a:rPr lang="zh-CN" altLang="en-US" i="1">
                                  <a:latin typeface="Cambria Math" panose="02040503050406030204" pitchFamily="18" charset="0"/>
                                </a:rPr>
                              </m:ctrlPr>
                            </m:dPr>
                            <m:e>
                              <m:f>
                                <m:fPr>
                                  <m:type m:val="lin"/>
                                  <m:ctrlPr>
                                    <a:rPr lang="zh-CN" altLang="en-US" i="1">
                                      <a:latin typeface="Cambria Math" panose="02040503050406030204" pitchFamily="18" charset="0"/>
                                    </a:rPr>
                                  </m:ctrlPr>
                                </m:fPr>
                                <m:num>
                                  <m:sSub>
                                    <m:sSubPr>
                                      <m:ctrlPr>
                                        <a:rPr lang="zh-CN" altLang="en-US" i="1">
                                          <a:latin typeface="Cambria Math" panose="02040503050406030204" pitchFamily="18" charset="0"/>
                                        </a:rPr>
                                      </m:ctrlPr>
                                    </m:sSubPr>
                                    <m:e>
                                      <m:r>
                                        <a:rPr lang="zh-CN" altLang="en-US" i="1">
                                          <a:latin typeface="Cambria Math" panose="02040503050406030204" pitchFamily="18" charset="0"/>
                                        </a:rPr>
                                        <m:t>𝑇</m:t>
                                      </m:r>
                                    </m:e>
                                    <m:sub>
                                      <m:r>
                                        <a:rPr lang="zh-CN" altLang="en-US" i="0">
                                          <a:latin typeface="Cambria Math" panose="02040503050406030204" pitchFamily="18" charset="0"/>
                                        </a:rPr>
                                        <m:t>3</m:t>
                                      </m:r>
                                    </m:sub>
                                  </m:sSub>
                                </m:num>
                                <m:den>
                                  <m:sSub>
                                    <m:sSubPr>
                                      <m:ctrlPr>
                                        <a:rPr lang="zh-CN" altLang="en-US" i="1">
                                          <a:latin typeface="Cambria Math" panose="02040503050406030204" pitchFamily="18" charset="0"/>
                                        </a:rPr>
                                      </m:ctrlPr>
                                    </m:sSubPr>
                                    <m:e>
                                      <m:r>
                                        <a:rPr lang="zh-CN" altLang="en-US" i="1">
                                          <a:latin typeface="Cambria Math" panose="02040503050406030204" pitchFamily="18" charset="0"/>
                                        </a:rPr>
                                        <m:t>𝑇</m:t>
                                      </m:r>
                                    </m:e>
                                    <m:sub>
                                      <m:r>
                                        <a:rPr lang="zh-CN" altLang="en-US" i="0">
                                          <a:latin typeface="Cambria Math" panose="02040503050406030204" pitchFamily="18" charset="0"/>
                                        </a:rPr>
                                        <m:t>2</m:t>
                                      </m:r>
                                    </m:sub>
                                  </m:sSub>
                                </m:den>
                              </m:f>
                              <m:r>
                                <a:rPr lang="zh-CN" altLang="en-US" i="0">
                                  <a:latin typeface="Cambria Math" panose="02040503050406030204" pitchFamily="18" charset="0"/>
                                </a:rPr>
                                <m:t>−1</m:t>
                              </m:r>
                            </m:e>
                          </m:d>
                        </m:den>
                      </m:f>
                    </m:oMath>
                  </m:oMathPara>
                </a14:m>
                <a:endParaRPr lang="zh-CN" altLang="en-US" dirty="0"/>
              </a:p>
            </p:txBody>
          </p:sp>
        </mc:Choice>
        <mc:Fallback xmlns="">
          <p:sp>
            <p:nvSpPr>
              <p:cNvPr id="7" name="矩形 6"/>
              <p:cNvSpPr>
                <a:spLocks noRot="1" noChangeAspect="1" noMove="1" noResize="1" noEditPoints="1" noAdjustHandles="1" noChangeArrowheads="1" noChangeShapeType="1" noTextEdit="1"/>
              </p:cNvSpPr>
              <p:nvPr/>
            </p:nvSpPr>
            <p:spPr>
              <a:xfrm>
                <a:off x="155575" y="4658359"/>
                <a:ext cx="3075907" cy="676595"/>
              </a:xfrm>
              <a:prstGeom prst="rect">
                <a:avLst/>
              </a:prstGeom>
              <a:blipFill rotWithShape="0">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6915707" y="3342171"/>
                <a:ext cx="1873333" cy="65620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latin typeface="Cambria Math" panose="02040503050406030204" pitchFamily="18" charset="0"/>
                            </a:rPr>
                          </m:ctrlPr>
                        </m:sSubPr>
                        <m:e>
                          <m:r>
                            <a:rPr lang="zh-CN" altLang="en-US" i="1">
                              <a:latin typeface="Cambria Math" panose="02040503050406030204" pitchFamily="18" charset="0"/>
                            </a:rPr>
                            <m:t>𝜂</m:t>
                          </m:r>
                        </m:e>
                        <m:sub>
                          <m:r>
                            <a:rPr lang="zh-CN" altLang="en-US" i="1">
                              <a:latin typeface="Cambria Math" panose="02040503050406030204" pitchFamily="18" charset="0"/>
                            </a:rPr>
                            <m:t>𝑡h</m:t>
                          </m:r>
                          <m:r>
                            <a:rPr lang="zh-CN" altLang="en-US" i="0">
                              <a:latin typeface="Cambria Math" panose="02040503050406030204" pitchFamily="18" charset="0"/>
                            </a:rPr>
                            <m:t>,</m:t>
                          </m:r>
                          <m:r>
                            <a:rPr lang="zh-CN" altLang="en-US" i="1">
                              <a:latin typeface="Cambria Math" panose="02040503050406030204" pitchFamily="18" charset="0"/>
                            </a:rPr>
                            <m:t>𝑜𝑡𝑡𝑜</m:t>
                          </m:r>
                        </m:sub>
                      </m:sSub>
                      <m:r>
                        <a:rPr lang="zh-CN" altLang="en-US" i="0">
                          <a:latin typeface="Cambria Math" panose="02040503050406030204" pitchFamily="18" charset="0"/>
                        </a:rPr>
                        <m:t>=1−</m:t>
                      </m:r>
                      <m:f>
                        <m:fPr>
                          <m:ctrlPr>
                            <a:rPr lang="zh-CN" altLang="en-US" i="1">
                              <a:latin typeface="Cambria Math" panose="02040503050406030204" pitchFamily="18" charset="0"/>
                            </a:rPr>
                          </m:ctrlPr>
                        </m:fPr>
                        <m:num>
                          <m:sSub>
                            <m:sSubPr>
                              <m:ctrlPr>
                                <a:rPr lang="zh-CN" altLang="en-US" i="1">
                                  <a:latin typeface="Cambria Math" panose="02040503050406030204" pitchFamily="18" charset="0"/>
                                </a:rPr>
                              </m:ctrlPr>
                            </m:sSubPr>
                            <m:e>
                              <m:r>
                                <a:rPr lang="zh-CN" altLang="en-US" i="1">
                                  <a:latin typeface="Cambria Math" panose="02040503050406030204" pitchFamily="18" charset="0"/>
                                </a:rPr>
                                <m:t>𝑇</m:t>
                              </m:r>
                            </m:e>
                            <m:sub>
                              <m:r>
                                <a:rPr lang="zh-CN" altLang="en-US" i="0">
                                  <a:latin typeface="Cambria Math" panose="02040503050406030204" pitchFamily="18" charset="0"/>
                                </a:rPr>
                                <m:t>1</m:t>
                              </m:r>
                            </m:sub>
                          </m:sSub>
                        </m:num>
                        <m:den>
                          <m:sSub>
                            <m:sSubPr>
                              <m:ctrlPr>
                                <a:rPr lang="zh-CN" altLang="en-US" i="1">
                                  <a:latin typeface="Cambria Math" panose="02040503050406030204" pitchFamily="18" charset="0"/>
                                </a:rPr>
                              </m:ctrlPr>
                            </m:sSubPr>
                            <m:e>
                              <m:r>
                                <a:rPr lang="zh-CN" altLang="en-US" i="1">
                                  <a:latin typeface="Cambria Math" panose="02040503050406030204" pitchFamily="18" charset="0"/>
                                </a:rPr>
                                <m:t>𝑇</m:t>
                              </m:r>
                            </m:e>
                            <m:sub>
                              <m:r>
                                <a:rPr lang="zh-CN" altLang="en-US" i="0">
                                  <a:latin typeface="Cambria Math" panose="02040503050406030204" pitchFamily="18" charset="0"/>
                                </a:rPr>
                                <m:t>2</m:t>
                              </m:r>
                            </m:sub>
                          </m:sSub>
                        </m:den>
                      </m:f>
                    </m:oMath>
                  </m:oMathPara>
                </a14:m>
                <a:endParaRPr lang="zh-CN" altLang="en-US" dirty="0"/>
              </a:p>
            </p:txBody>
          </p:sp>
        </mc:Choice>
        <mc:Fallback xmlns="">
          <p:sp>
            <p:nvSpPr>
              <p:cNvPr id="14" name="矩形 13"/>
              <p:cNvSpPr>
                <a:spLocks noRot="1" noChangeAspect="1" noMove="1" noResize="1" noEditPoints="1" noAdjustHandles="1" noChangeArrowheads="1" noChangeShapeType="1" noTextEdit="1"/>
              </p:cNvSpPr>
              <p:nvPr/>
            </p:nvSpPr>
            <p:spPr>
              <a:xfrm>
                <a:off x="6915707" y="3342171"/>
                <a:ext cx="1873333" cy="656205"/>
              </a:xfrm>
              <a:prstGeom prst="rect">
                <a:avLst/>
              </a:prstGeom>
              <a:blipFill rotWithShape="0">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7359579" y="2167639"/>
                <a:ext cx="985591" cy="65620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zh-CN" altLang="en-US" i="1">
                              <a:latin typeface="Cambria Math" panose="02040503050406030204" pitchFamily="18" charset="0"/>
                            </a:rPr>
                          </m:ctrlPr>
                        </m:fPr>
                        <m:num>
                          <m:sSub>
                            <m:sSubPr>
                              <m:ctrlPr>
                                <a:rPr lang="zh-CN" altLang="en-US" i="1">
                                  <a:latin typeface="Cambria Math" panose="02040503050406030204" pitchFamily="18" charset="0"/>
                                </a:rPr>
                              </m:ctrlPr>
                            </m:sSubPr>
                            <m:e>
                              <m:r>
                                <a:rPr lang="zh-CN" altLang="en-US" i="1">
                                  <a:latin typeface="Cambria Math" panose="02040503050406030204" pitchFamily="18" charset="0"/>
                                </a:rPr>
                                <m:t>𝑇</m:t>
                              </m:r>
                            </m:e>
                            <m:sub>
                              <m:r>
                                <a:rPr lang="zh-CN" altLang="en-US" i="0">
                                  <a:latin typeface="Cambria Math" panose="02040503050406030204" pitchFamily="18" charset="0"/>
                                </a:rPr>
                                <m:t>4</m:t>
                              </m:r>
                            </m:sub>
                          </m:sSub>
                        </m:num>
                        <m:den>
                          <m:sSub>
                            <m:sSubPr>
                              <m:ctrlPr>
                                <a:rPr lang="zh-CN" altLang="en-US" i="1">
                                  <a:latin typeface="Cambria Math" panose="02040503050406030204" pitchFamily="18" charset="0"/>
                                </a:rPr>
                              </m:ctrlPr>
                            </m:sSubPr>
                            <m:e>
                              <m:r>
                                <a:rPr lang="zh-CN" altLang="en-US" i="1">
                                  <a:latin typeface="Cambria Math" panose="02040503050406030204" pitchFamily="18" charset="0"/>
                                </a:rPr>
                                <m:t>𝑇</m:t>
                              </m:r>
                            </m:e>
                            <m:sub>
                              <m:r>
                                <a:rPr lang="zh-CN" altLang="en-US" i="0">
                                  <a:latin typeface="Cambria Math" panose="02040503050406030204" pitchFamily="18" charset="0"/>
                                </a:rPr>
                                <m:t>1</m:t>
                              </m:r>
                            </m:sub>
                          </m:sSub>
                        </m:den>
                      </m:f>
                      <m:r>
                        <a:rPr lang="zh-CN" altLang="en-US" i="0">
                          <a:latin typeface="Cambria Math" panose="02040503050406030204" pitchFamily="18" charset="0"/>
                        </a:rPr>
                        <m:t>=</m:t>
                      </m:r>
                      <m:f>
                        <m:fPr>
                          <m:ctrlPr>
                            <a:rPr lang="zh-CN" altLang="en-US" i="1">
                              <a:latin typeface="Cambria Math" panose="02040503050406030204" pitchFamily="18" charset="0"/>
                            </a:rPr>
                          </m:ctrlPr>
                        </m:fPr>
                        <m:num>
                          <m:sSub>
                            <m:sSubPr>
                              <m:ctrlPr>
                                <a:rPr lang="zh-CN" altLang="en-US" i="1">
                                  <a:latin typeface="Cambria Math" panose="02040503050406030204" pitchFamily="18" charset="0"/>
                                </a:rPr>
                              </m:ctrlPr>
                            </m:sSubPr>
                            <m:e>
                              <m:r>
                                <a:rPr lang="zh-CN" altLang="en-US" i="1">
                                  <a:latin typeface="Cambria Math" panose="02040503050406030204" pitchFamily="18" charset="0"/>
                                </a:rPr>
                                <m:t>𝑇</m:t>
                              </m:r>
                            </m:e>
                            <m:sub>
                              <m:r>
                                <a:rPr lang="zh-CN" altLang="en-US" i="0">
                                  <a:latin typeface="Cambria Math" panose="02040503050406030204" pitchFamily="18" charset="0"/>
                                </a:rPr>
                                <m:t>3</m:t>
                              </m:r>
                            </m:sub>
                          </m:sSub>
                        </m:num>
                        <m:den>
                          <m:sSub>
                            <m:sSubPr>
                              <m:ctrlPr>
                                <a:rPr lang="zh-CN" altLang="en-US" i="1">
                                  <a:latin typeface="Cambria Math" panose="02040503050406030204" pitchFamily="18" charset="0"/>
                                </a:rPr>
                              </m:ctrlPr>
                            </m:sSubPr>
                            <m:e>
                              <m:r>
                                <a:rPr lang="zh-CN" altLang="en-US" i="1">
                                  <a:latin typeface="Cambria Math" panose="02040503050406030204" pitchFamily="18" charset="0"/>
                                </a:rPr>
                                <m:t>𝑇</m:t>
                              </m:r>
                            </m:e>
                            <m:sub>
                              <m:r>
                                <a:rPr lang="zh-CN" altLang="en-US" i="0">
                                  <a:latin typeface="Cambria Math" panose="02040503050406030204" pitchFamily="18" charset="0"/>
                                </a:rPr>
                                <m:t>2</m:t>
                              </m:r>
                            </m:sub>
                          </m:sSub>
                        </m:den>
                      </m:f>
                    </m:oMath>
                  </m:oMathPara>
                </a14:m>
                <a:endParaRPr lang="zh-CN" altLang="en-US" dirty="0"/>
              </a:p>
            </p:txBody>
          </p:sp>
        </mc:Choice>
        <mc:Fallback xmlns="">
          <p:sp>
            <p:nvSpPr>
              <p:cNvPr id="9" name="矩形 8"/>
              <p:cNvSpPr>
                <a:spLocks noRot="1" noChangeAspect="1" noMove="1" noResize="1" noEditPoints="1" noAdjustHandles="1" noChangeArrowheads="1" noChangeShapeType="1" noTextEdit="1"/>
              </p:cNvSpPr>
              <p:nvPr/>
            </p:nvSpPr>
            <p:spPr>
              <a:xfrm>
                <a:off x="7359579" y="2167639"/>
                <a:ext cx="985591" cy="656205"/>
              </a:xfrm>
              <a:prstGeom prst="rect">
                <a:avLst/>
              </a:prstGeom>
              <a:blipFill rotWithShape="0">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3308567" y="3433048"/>
                <a:ext cx="2750625" cy="61177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smtClean="0">
                              <a:latin typeface="Cambria Math" panose="02040503050406030204" pitchFamily="18" charset="0"/>
                            </a:rPr>
                          </m:ctrlPr>
                        </m:sSubPr>
                        <m:e>
                          <m:r>
                            <a:rPr lang="zh-CN" altLang="en-US" sz="1600" i="1">
                              <a:latin typeface="Cambria Math" panose="02040503050406030204" pitchFamily="18" charset="0"/>
                            </a:rPr>
                            <m:t>𝜂</m:t>
                          </m:r>
                        </m:e>
                        <m:sub>
                          <m:r>
                            <a:rPr lang="zh-CN" altLang="en-US" sz="1600" i="1">
                              <a:latin typeface="Cambria Math" panose="02040503050406030204" pitchFamily="18" charset="0"/>
                            </a:rPr>
                            <m:t>𝑡h</m:t>
                          </m:r>
                          <m:r>
                            <a:rPr lang="zh-CN" altLang="en-US" sz="1600" i="0">
                              <a:latin typeface="Cambria Math" panose="02040503050406030204" pitchFamily="18" charset="0"/>
                            </a:rPr>
                            <m:t>,</m:t>
                          </m:r>
                          <m:r>
                            <a:rPr lang="zh-CN" altLang="en-US" sz="1600" i="1">
                              <a:latin typeface="Cambria Math" panose="02040503050406030204" pitchFamily="18" charset="0"/>
                            </a:rPr>
                            <m:t>𝑜𝑡𝑡𝑜</m:t>
                          </m:r>
                        </m:sub>
                      </m:sSub>
                      <m:r>
                        <a:rPr lang="zh-CN" altLang="en-US" sz="1600" i="0">
                          <a:latin typeface="Cambria Math" panose="02040503050406030204" pitchFamily="18" charset="0"/>
                        </a:rPr>
                        <m:t>=1−</m:t>
                      </m:r>
                      <m:f>
                        <m:fPr>
                          <m:ctrlPr>
                            <a:rPr lang="zh-CN" altLang="en-US" sz="1600" i="1">
                              <a:latin typeface="Cambria Math" panose="02040503050406030204" pitchFamily="18" charset="0"/>
                            </a:rPr>
                          </m:ctrlPr>
                        </m:fPr>
                        <m:num>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𝑇</m:t>
                              </m:r>
                            </m:e>
                            <m:sub>
                              <m:r>
                                <a:rPr lang="zh-CN" altLang="en-US" sz="1600" i="0">
                                  <a:latin typeface="Cambria Math" panose="02040503050406030204" pitchFamily="18" charset="0"/>
                                </a:rPr>
                                <m:t>1</m:t>
                              </m:r>
                            </m:sub>
                          </m:sSub>
                        </m:num>
                        <m:den>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𝑇</m:t>
                              </m:r>
                            </m:e>
                            <m:sub>
                              <m:r>
                                <a:rPr lang="zh-CN" altLang="en-US" sz="1600" i="0">
                                  <a:latin typeface="Cambria Math" panose="02040503050406030204" pitchFamily="18" charset="0"/>
                                </a:rPr>
                                <m:t>2</m:t>
                              </m:r>
                            </m:sub>
                          </m:sSub>
                        </m:den>
                      </m:f>
                      <m:f>
                        <m:fPr>
                          <m:ctrlPr>
                            <a:rPr lang="zh-CN" altLang="en-US" sz="1600" i="1">
                              <a:latin typeface="Cambria Math" panose="02040503050406030204" pitchFamily="18" charset="0"/>
                            </a:rPr>
                          </m:ctrlPr>
                        </m:fPr>
                        <m:num>
                          <m:d>
                            <m:dPr>
                              <m:ctrlPr>
                                <a:rPr lang="zh-CN" altLang="en-US" sz="1600" i="1">
                                  <a:latin typeface="Cambria Math" panose="02040503050406030204" pitchFamily="18" charset="0"/>
                                </a:rPr>
                              </m:ctrlPr>
                            </m:dPr>
                            <m:e>
                              <m:f>
                                <m:fPr>
                                  <m:type m:val="lin"/>
                                  <m:ctrlPr>
                                    <a:rPr lang="zh-CN" altLang="en-US" sz="1600" i="1">
                                      <a:latin typeface="Cambria Math" panose="02040503050406030204" pitchFamily="18" charset="0"/>
                                    </a:rPr>
                                  </m:ctrlPr>
                                </m:fPr>
                                <m:num>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𝑇</m:t>
                                      </m:r>
                                    </m:e>
                                    <m:sub>
                                      <m:r>
                                        <a:rPr lang="zh-CN" altLang="en-US" sz="1600" i="0">
                                          <a:latin typeface="Cambria Math" panose="02040503050406030204" pitchFamily="18" charset="0"/>
                                        </a:rPr>
                                        <m:t>4</m:t>
                                      </m:r>
                                    </m:sub>
                                  </m:sSub>
                                </m:num>
                                <m:den>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𝑇</m:t>
                                      </m:r>
                                    </m:e>
                                    <m:sub>
                                      <m:r>
                                        <a:rPr lang="zh-CN" altLang="en-US" sz="1600" i="0">
                                          <a:latin typeface="Cambria Math" panose="02040503050406030204" pitchFamily="18" charset="0"/>
                                        </a:rPr>
                                        <m:t>1</m:t>
                                      </m:r>
                                    </m:sub>
                                  </m:sSub>
                                </m:den>
                              </m:f>
                              <m:r>
                                <a:rPr lang="zh-CN" altLang="en-US" sz="1600" i="0">
                                  <a:latin typeface="Cambria Math" panose="02040503050406030204" pitchFamily="18" charset="0"/>
                                </a:rPr>
                                <m:t>−1</m:t>
                              </m:r>
                            </m:e>
                          </m:d>
                        </m:num>
                        <m:den>
                          <m:d>
                            <m:dPr>
                              <m:ctrlPr>
                                <a:rPr lang="zh-CN" altLang="en-US" sz="1600" i="1">
                                  <a:latin typeface="Cambria Math" panose="02040503050406030204" pitchFamily="18" charset="0"/>
                                </a:rPr>
                              </m:ctrlPr>
                            </m:dPr>
                            <m:e>
                              <m:f>
                                <m:fPr>
                                  <m:type m:val="lin"/>
                                  <m:ctrlPr>
                                    <a:rPr lang="zh-CN" altLang="en-US" sz="1600" i="1">
                                      <a:latin typeface="Cambria Math" panose="02040503050406030204" pitchFamily="18" charset="0"/>
                                    </a:rPr>
                                  </m:ctrlPr>
                                </m:fPr>
                                <m:num>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𝑇</m:t>
                                      </m:r>
                                    </m:e>
                                    <m:sub>
                                      <m:r>
                                        <a:rPr lang="zh-CN" altLang="en-US" sz="1600" i="0">
                                          <a:latin typeface="Cambria Math" panose="02040503050406030204" pitchFamily="18" charset="0"/>
                                        </a:rPr>
                                        <m:t>3</m:t>
                                      </m:r>
                                    </m:sub>
                                  </m:sSub>
                                </m:num>
                                <m:den>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𝑇</m:t>
                                      </m:r>
                                    </m:e>
                                    <m:sub>
                                      <m:r>
                                        <a:rPr lang="zh-CN" altLang="en-US" sz="1600" i="0">
                                          <a:latin typeface="Cambria Math" panose="02040503050406030204" pitchFamily="18" charset="0"/>
                                        </a:rPr>
                                        <m:t>2</m:t>
                                      </m:r>
                                    </m:sub>
                                  </m:sSub>
                                </m:den>
                              </m:f>
                              <m:r>
                                <a:rPr lang="zh-CN" altLang="en-US" sz="1600" i="0">
                                  <a:latin typeface="Cambria Math" panose="02040503050406030204" pitchFamily="18" charset="0"/>
                                </a:rPr>
                                <m:t>−1</m:t>
                              </m:r>
                            </m:e>
                          </m:d>
                        </m:den>
                      </m:f>
                    </m:oMath>
                  </m:oMathPara>
                </a14:m>
                <a:endParaRPr lang="zh-CN" altLang="en-US" dirty="0"/>
              </a:p>
            </p:txBody>
          </p:sp>
        </mc:Choice>
        <mc:Fallback xmlns="">
          <p:sp>
            <p:nvSpPr>
              <p:cNvPr id="16" name="矩形 15"/>
              <p:cNvSpPr>
                <a:spLocks noRot="1" noChangeAspect="1" noMove="1" noResize="1" noEditPoints="1" noAdjustHandles="1" noChangeArrowheads="1" noChangeShapeType="1" noTextEdit="1"/>
              </p:cNvSpPr>
              <p:nvPr/>
            </p:nvSpPr>
            <p:spPr>
              <a:xfrm>
                <a:off x="3308567" y="3433048"/>
                <a:ext cx="2750625" cy="611771"/>
              </a:xfrm>
              <a:prstGeom prst="rect">
                <a:avLst/>
              </a:prstGeom>
              <a:blipFill rotWithShape="0">
                <a:blip r:embed="rId12"/>
                <a:stretch>
                  <a:fillRect/>
                </a:stretch>
              </a:blipFill>
            </p:spPr>
            <p:txBody>
              <a:bodyPr/>
              <a:lstStyle/>
              <a:p>
                <a:r>
                  <a:rPr lang="zh-CN" altLang="en-US">
                    <a:noFill/>
                  </a:rPr>
                  <a:t> </a:t>
                </a:r>
              </a:p>
            </p:txBody>
          </p:sp>
        </mc:Fallback>
      </mc:AlternateContent>
      <p:cxnSp>
        <p:nvCxnSpPr>
          <p:cNvPr id="13" name="直接箭头连接符 12"/>
          <p:cNvCxnSpPr/>
          <p:nvPr/>
        </p:nvCxnSpPr>
        <p:spPr>
          <a:xfrm>
            <a:off x="6116792" y="3808242"/>
            <a:ext cx="5000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27202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419836" y="0"/>
            <a:ext cx="7324760" cy="1208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b="1" dirty="0">
                <a:solidFill>
                  <a:srgbClr val="FF0000"/>
                </a:solidFill>
                <a:effectLst>
                  <a:outerShdw blurRad="38100" dist="38100" dir="2700000" algn="tl">
                    <a:srgbClr val="000000">
                      <a:alpha val="43137"/>
                    </a:srgbClr>
                  </a:outerShdw>
                </a:effectLst>
                <a:latin typeface="Arial" charset="0"/>
                <a:cs typeface="Arial" charset="0"/>
              </a:rPr>
              <a:t>Otto Cycle </a:t>
            </a:r>
          </a:p>
          <a:p>
            <a:r>
              <a:rPr lang="en-US" altLang="zh-CN" b="1" dirty="0">
                <a:solidFill>
                  <a:srgbClr val="FF0000"/>
                </a:solidFill>
                <a:effectLst>
                  <a:outerShdw blurRad="38100" dist="38100" dir="2700000" algn="tl">
                    <a:srgbClr val="000000">
                      <a:alpha val="43137"/>
                    </a:srgbClr>
                  </a:outerShdw>
                </a:effectLst>
                <a:latin typeface="Arial" charset="0"/>
                <a:cs typeface="Arial" charset="0"/>
              </a:rPr>
              <a:t>——</a:t>
            </a:r>
            <a:r>
              <a:rPr lang="en-US" b="1" dirty="0">
                <a:solidFill>
                  <a:srgbClr val="FF0000"/>
                </a:solidFill>
                <a:effectLst>
                  <a:outerShdw blurRad="38100" dist="38100" dir="2700000" algn="tl">
                    <a:srgbClr val="000000">
                      <a:alpha val="43137"/>
                    </a:srgbClr>
                  </a:outerShdw>
                </a:effectLst>
                <a:latin typeface="Arial" charset="0"/>
                <a:cs typeface="Arial" charset="0"/>
              </a:rPr>
              <a:t>Spark-Ignition Engine</a:t>
            </a:r>
            <a:endParaRPr lang="en-US" dirty="0">
              <a:solidFill>
                <a:srgbClr val="FF0000"/>
              </a:solidFill>
            </a:endParaRPr>
          </a:p>
        </p:txBody>
      </p:sp>
      <p:pic>
        <p:nvPicPr>
          <p:cNvPr id="1126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375" y="1611867"/>
            <a:ext cx="3838255" cy="37428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6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66270" y="1611867"/>
            <a:ext cx="4086545" cy="35696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TextBox 12"/>
          <p:cNvSpPr txBox="1"/>
          <p:nvPr/>
        </p:nvSpPr>
        <p:spPr>
          <a:xfrm>
            <a:off x="1621790" y="5354716"/>
            <a:ext cx="2020570" cy="369332"/>
          </a:xfrm>
          <a:prstGeom prst="rect">
            <a:avLst/>
          </a:prstGeom>
          <a:noFill/>
        </p:spPr>
        <p:txBody>
          <a:bodyPr wrap="square" rtlCol="0">
            <a:spAutoFit/>
          </a:bodyPr>
          <a:lstStyle/>
          <a:p>
            <a:r>
              <a:rPr lang="en-US" altLang="zh-CN" sz="1800" dirty="0"/>
              <a:t>k = 1.4 (air at RT)</a:t>
            </a:r>
          </a:p>
        </p:txBody>
      </p:sp>
      <p:sp>
        <p:nvSpPr>
          <p:cNvPr id="14" name="TextBox 13"/>
          <p:cNvSpPr txBox="1"/>
          <p:nvPr/>
        </p:nvSpPr>
        <p:spPr>
          <a:xfrm>
            <a:off x="5541645" y="5371361"/>
            <a:ext cx="2843530" cy="923330"/>
          </a:xfrm>
          <a:prstGeom prst="rect">
            <a:avLst/>
          </a:prstGeom>
          <a:noFill/>
        </p:spPr>
        <p:txBody>
          <a:bodyPr wrap="square" rtlCol="0">
            <a:spAutoFit/>
          </a:bodyPr>
          <a:lstStyle/>
          <a:p>
            <a:r>
              <a:rPr lang="en-US" altLang="zh-CN" sz="1800" dirty="0"/>
              <a:t>k = 1.667 (</a:t>
            </a:r>
            <a:r>
              <a:rPr lang="en-US" altLang="zh-CN" sz="1800" dirty="0" err="1"/>
              <a:t>Ar</a:t>
            </a:r>
            <a:r>
              <a:rPr lang="en-US" altLang="zh-CN" sz="1800" dirty="0"/>
              <a:t> or He)</a:t>
            </a:r>
          </a:p>
          <a:p>
            <a:r>
              <a:rPr lang="en-US" altLang="zh-CN" sz="1800" dirty="0"/>
              <a:t>k = 1.3 (CO</a:t>
            </a:r>
            <a:r>
              <a:rPr lang="en-US" altLang="zh-CN" sz="1800" baseline="-25000" dirty="0"/>
              <a:t>2</a:t>
            </a:r>
            <a:r>
              <a:rPr lang="en-US" altLang="zh-CN" sz="1800" dirty="0"/>
              <a:t>)</a:t>
            </a:r>
          </a:p>
          <a:p>
            <a:r>
              <a:rPr lang="en-US" altLang="zh-CN" sz="1800" dirty="0"/>
              <a:t>k = 1.2 (CH</a:t>
            </a:r>
            <a:r>
              <a:rPr lang="en-US" altLang="zh-CN" sz="1800" baseline="-25000" dirty="0"/>
              <a:t>3</a:t>
            </a:r>
            <a:r>
              <a:rPr lang="en-US" altLang="zh-CN" sz="1800" dirty="0"/>
              <a:t>CH</a:t>
            </a:r>
            <a:r>
              <a:rPr lang="en-US" altLang="zh-CN" sz="1800" baseline="-25000" dirty="0"/>
              <a:t>3</a:t>
            </a:r>
            <a:r>
              <a:rPr lang="en-US" altLang="zh-CN" sz="1800" dirty="0"/>
              <a:t>)</a:t>
            </a:r>
          </a:p>
        </p:txBody>
      </p:sp>
      <p:sp>
        <p:nvSpPr>
          <p:cNvPr id="15" name="TextBox 14"/>
          <p:cNvSpPr txBox="1"/>
          <p:nvPr/>
        </p:nvSpPr>
        <p:spPr>
          <a:xfrm>
            <a:off x="155574" y="5876448"/>
            <a:ext cx="4705986" cy="369332"/>
          </a:xfrm>
          <a:prstGeom prst="rect">
            <a:avLst/>
          </a:prstGeom>
          <a:noFill/>
        </p:spPr>
        <p:txBody>
          <a:bodyPr wrap="square" rtlCol="0">
            <a:spAutoFit/>
          </a:bodyPr>
          <a:lstStyle/>
          <a:p>
            <a:r>
              <a:rPr lang="en-US" altLang="zh-CN" sz="1800" b="1" dirty="0"/>
              <a:t>Actual spark-ignition engines </a:t>
            </a:r>
            <a:r>
              <a:rPr lang="el-GR" altLang="zh-CN" sz="1800" b="1" dirty="0"/>
              <a:t>η</a:t>
            </a:r>
            <a:r>
              <a:rPr lang="en-US" altLang="zh-CN" sz="1800" b="1" dirty="0"/>
              <a:t> = 25-30%</a:t>
            </a:r>
          </a:p>
        </p:txBody>
      </p:sp>
      <p:sp>
        <p:nvSpPr>
          <p:cNvPr id="2" name="TextBox 1"/>
          <p:cNvSpPr txBox="1"/>
          <p:nvPr/>
        </p:nvSpPr>
        <p:spPr>
          <a:xfrm>
            <a:off x="5541645" y="1371600"/>
            <a:ext cx="3512500" cy="400110"/>
          </a:xfrm>
          <a:prstGeom prst="rect">
            <a:avLst/>
          </a:prstGeom>
          <a:noFill/>
        </p:spPr>
        <p:txBody>
          <a:bodyPr wrap="none" rtlCol="0">
            <a:spAutoFit/>
          </a:bodyPr>
          <a:lstStyle/>
          <a:p>
            <a:r>
              <a:rPr lang="en-US" altLang="zh-CN" sz="2000" b="1" dirty="0">
                <a:solidFill>
                  <a:srgbClr val="0000FF"/>
                </a:solidFill>
              </a:rPr>
              <a:t>Specific heat ratio, k=</a:t>
            </a:r>
            <a:r>
              <a:rPr lang="en-US" altLang="zh-CN" sz="2000" b="1" dirty="0" err="1">
                <a:solidFill>
                  <a:srgbClr val="0000FF"/>
                </a:solidFill>
              </a:rPr>
              <a:t>C</a:t>
            </a:r>
            <a:r>
              <a:rPr lang="en-US" altLang="zh-CN" sz="2000" b="1" baseline="-25000" dirty="0" err="1">
                <a:solidFill>
                  <a:srgbClr val="0000FF"/>
                </a:solidFill>
              </a:rPr>
              <a:t>p</a:t>
            </a:r>
            <a:r>
              <a:rPr lang="en-US" altLang="zh-CN" sz="2000" b="1" dirty="0">
                <a:solidFill>
                  <a:srgbClr val="0000FF"/>
                </a:solidFill>
              </a:rPr>
              <a:t>/</a:t>
            </a:r>
            <a:r>
              <a:rPr lang="en-US" altLang="zh-CN" sz="2000" b="1" dirty="0" err="1">
                <a:solidFill>
                  <a:srgbClr val="0000FF"/>
                </a:solidFill>
              </a:rPr>
              <a:t>C</a:t>
            </a:r>
            <a:r>
              <a:rPr lang="en-US" altLang="zh-CN" sz="2000" b="1" baseline="-25000" dirty="0" err="1">
                <a:solidFill>
                  <a:srgbClr val="0000FF"/>
                </a:solidFill>
              </a:rPr>
              <a:t>v</a:t>
            </a:r>
            <a:endParaRPr lang="zh-CN" altLang="en-US" sz="2000" b="1" baseline="-25000" dirty="0">
              <a:solidFill>
                <a:srgbClr val="0000FF"/>
              </a:solidFill>
            </a:endParaRPr>
          </a:p>
        </p:txBody>
      </p:sp>
      <p:sp>
        <p:nvSpPr>
          <p:cNvPr id="4" name="TextBox 3"/>
          <p:cNvSpPr txBox="1"/>
          <p:nvPr/>
        </p:nvSpPr>
        <p:spPr>
          <a:xfrm>
            <a:off x="1143000" y="1371600"/>
            <a:ext cx="2334037" cy="400110"/>
          </a:xfrm>
          <a:prstGeom prst="rect">
            <a:avLst/>
          </a:prstGeom>
          <a:noFill/>
        </p:spPr>
        <p:txBody>
          <a:bodyPr wrap="none" rtlCol="0">
            <a:spAutoFit/>
          </a:bodyPr>
          <a:lstStyle/>
          <a:p>
            <a:r>
              <a:rPr lang="en-US" altLang="zh-CN" sz="2000" b="1" dirty="0">
                <a:solidFill>
                  <a:srgbClr val="0000FF"/>
                </a:solidFill>
              </a:rPr>
              <a:t>Compression ratio, r</a:t>
            </a:r>
            <a:endParaRPr lang="zh-CN" altLang="en-US" sz="2000" b="1" dirty="0">
              <a:solidFill>
                <a:srgbClr val="0000FF"/>
              </a:solidFill>
            </a:endParaRPr>
          </a:p>
        </p:txBody>
      </p:sp>
    </p:spTree>
    <p:extLst>
      <p:ext uri="{BB962C8B-B14F-4D97-AF65-F5344CB8AC3E}">
        <p14:creationId xmlns:p14="http://schemas.microsoft.com/office/powerpoint/2010/main" val="9418127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Picture 2" descr="See the source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7530" y="964538"/>
            <a:ext cx="6653954" cy="2827124"/>
          </a:xfrm>
          <a:prstGeom prst="rect">
            <a:avLst/>
          </a:prstGeom>
          <a:noFill/>
          <a:extLst>
            <a:ext uri="{909E8E84-426E-40DD-AFC4-6F175D3DCCD1}">
              <a14:hiddenFill xmlns:a14="http://schemas.microsoft.com/office/drawing/2010/main">
                <a:solidFill>
                  <a:srgbClr val="FFFFFF"/>
                </a:solidFill>
              </a14:hiddenFill>
            </a:ext>
          </a:extLst>
        </p:spPr>
      </p:pic>
      <p:pic>
        <p:nvPicPr>
          <p:cNvPr id="686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4717" y="4202561"/>
            <a:ext cx="2350422" cy="2091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8613" name="Picture 5" descr="See the source imag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9688" y="3907078"/>
            <a:ext cx="2124512" cy="220297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977530" y="138224"/>
            <a:ext cx="6462025" cy="523220"/>
          </a:xfrm>
          <a:prstGeom prst="rect">
            <a:avLst/>
          </a:prstGeom>
          <a:noFill/>
        </p:spPr>
        <p:txBody>
          <a:bodyPr wrap="none" rtlCol="0">
            <a:spAutoFit/>
          </a:bodyPr>
          <a:lstStyle/>
          <a:p>
            <a:r>
              <a:rPr lang="en-US" altLang="zh-CN" sz="2800" dirty="0">
                <a:solidFill>
                  <a:srgbClr val="FF0000"/>
                </a:solidFill>
              </a:rPr>
              <a:t>What is the challenge in a Otto engine?</a:t>
            </a:r>
            <a:endParaRPr lang="zh-CN" altLang="en-US" sz="2800" dirty="0">
              <a:solidFill>
                <a:srgbClr val="FF0000"/>
              </a:solidFill>
            </a:endParaRPr>
          </a:p>
        </p:txBody>
      </p:sp>
    </p:spTree>
    <p:extLst>
      <p:ext uri="{BB962C8B-B14F-4D97-AF65-F5344CB8AC3E}">
        <p14:creationId xmlns:p14="http://schemas.microsoft.com/office/powerpoint/2010/main" val="38880863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2" descr="æ¥çæºå¾å"/>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7976" y="1151862"/>
            <a:ext cx="2148262" cy="214826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079888" y="137761"/>
            <a:ext cx="6542176" cy="523220"/>
          </a:xfrm>
          <a:prstGeom prst="rect">
            <a:avLst/>
          </a:prstGeom>
          <a:noFill/>
        </p:spPr>
        <p:txBody>
          <a:bodyPr wrap="none" rtlCol="0">
            <a:spAutoFit/>
          </a:bodyPr>
          <a:lstStyle/>
          <a:p>
            <a:r>
              <a:rPr lang="en-US" altLang="zh-CN" sz="2800" dirty="0">
                <a:solidFill>
                  <a:srgbClr val="FF0000"/>
                </a:solidFill>
              </a:rPr>
              <a:t>The heart of the Otto engine: spark plug</a:t>
            </a:r>
            <a:endParaRPr lang="zh-CN" altLang="en-US" sz="2800" dirty="0">
              <a:solidFill>
                <a:srgbClr val="FF0000"/>
              </a:solidFill>
            </a:endParaRPr>
          </a:p>
        </p:txBody>
      </p:sp>
      <p:sp>
        <p:nvSpPr>
          <p:cNvPr id="2" name="AutoShape 2" descr="spark plug schematic  çå¾åç»æ"/>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70662" name="Picture 6" descr="æ¥çæºå¾å"/>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0503" y="1151861"/>
            <a:ext cx="4762500" cy="431482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2456238" y="5982215"/>
            <a:ext cx="4160113" cy="369332"/>
          </a:xfrm>
          <a:prstGeom prst="rect">
            <a:avLst/>
          </a:prstGeom>
          <a:noFill/>
        </p:spPr>
        <p:txBody>
          <a:bodyPr wrap="none" rtlCol="0">
            <a:spAutoFit/>
          </a:bodyPr>
          <a:lstStyle/>
          <a:p>
            <a:r>
              <a:rPr lang="en-US" altLang="zh-CN" b="1" dirty="0">
                <a:solidFill>
                  <a:srgbClr val="FF0000"/>
                </a:solidFill>
              </a:rPr>
              <a:t>Open question</a:t>
            </a:r>
            <a:r>
              <a:rPr lang="en-US" altLang="zh-CN" b="1" dirty="0"/>
              <a:t>: Why is it challenge?</a:t>
            </a:r>
          </a:p>
        </p:txBody>
      </p:sp>
      <p:pic>
        <p:nvPicPr>
          <p:cNvPr id="829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7976" y="3759736"/>
            <a:ext cx="2259765" cy="2259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307976" y="1063256"/>
            <a:ext cx="1133644" cy="646331"/>
          </a:xfrm>
          <a:prstGeom prst="rect">
            <a:avLst/>
          </a:prstGeom>
          <a:noFill/>
        </p:spPr>
        <p:txBody>
          <a:bodyPr wrap="none" rtlCol="0">
            <a:spAutoFit/>
          </a:bodyPr>
          <a:lstStyle/>
          <a:p>
            <a:r>
              <a:rPr lang="en-US" altLang="zh-CN" dirty="0"/>
              <a:t>Bosch</a:t>
            </a:r>
          </a:p>
          <a:p>
            <a:r>
              <a:rPr lang="en-US" altLang="zh-CN" dirty="0"/>
              <a:t>Germany</a:t>
            </a:r>
            <a:endParaRPr lang="zh-CN" altLang="en-US" dirty="0"/>
          </a:p>
        </p:txBody>
      </p:sp>
      <p:sp>
        <p:nvSpPr>
          <p:cNvPr id="10" name="TextBox 9"/>
          <p:cNvSpPr txBox="1"/>
          <p:nvPr/>
        </p:nvSpPr>
        <p:spPr>
          <a:xfrm>
            <a:off x="155575" y="3759736"/>
            <a:ext cx="851515" cy="646331"/>
          </a:xfrm>
          <a:prstGeom prst="rect">
            <a:avLst/>
          </a:prstGeom>
          <a:noFill/>
        </p:spPr>
        <p:txBody>
          <a:bodyPr wrap="none" rtlCol="0">
            <a:spAutoFit/>
          </a:bodyPr>
          <a:lstStyle/>
          <a:p>
            <a:r>
              <a:rPr lang="en-US" altLang="zh-CN" dirty="0"/>
              <a:t>Denso</a:t>
            </a:r>
          </a:p>
          <a:p>
            <a:r>
              <a:rPr lang="en-US" altLang="zh-CN" dirty="0"/>
              <a:t>Japan</a:t>
            </a:r>
          </a:p>
        </p:txBody>
      </p:sp>
    </p:spTree>
    <p:extLst>
      <p:ext uri="{BB962C8B-B14F-4D97-AF65-F5344CB8AC3E}">
        <p14:creationId xmlns:p14="http://schemas.microsoft.com/office/powerpoint/2010/main" val="40246044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F41D797-9A51-CB93-3B7E-13539A2AAE53}"/>
              </a:ext>
            </a:extLst>
          </p:cNvPr>
          <p:cNvPicPr>
            <a:picLocks noChangeAspect="1"/>
          </p:cNvPicPr>
          <p:nvPr/>
        </p:nvPicPr>
        <p:blipFill rotWithShape="1">
          <a:blip r:embed="rId2"/>
          <a:srcRect l="20313" t="19167" r="22187" b="45167"/>
          <a:stretch/>
        </p:blipFill>
        <p:spPr>
          <a:xfrm>
            <a:off x="3474120" y="1550962"/>
            <a:ext cx="5257800" cy="2038350"/>
          </a:xfrm>
          <a:prstGeom prst="rect">
            <a:avLst/>
          </a:prstGeom>
        </p:spPr>
      </p:pic>
      <p:sp>
        <p:nvSpPr>
          <p:cNvPr id="7" name="文本框 6">
            <a:extLst>
              <a:ext uri="{FF2B5EF4-FFF2-40B4-BE49-F238E27FC236}">
                <a16:creationId xmlns:a16="http://schemas.microsoft.com/office/drawing/2014/main" id="{32E09835-7C2A-0AC7-5CFE-EE4A9BFADABD}"/>
              </a:ext>
            </a:extLst>
          </p:cNvPr>
          <p:cNvSpPr txBox="1"/>
          <p:nvPr/>
        </p:nvSpPr>
        <p:spPr>
          <a:xfrm>
            <a:off x="3012157" y="1016054"/>
            <a:ext cx="2971800" cy="369332"/>
          </a:xfrm>
          <a:prstGeom prst="rect">
            <a:avLst/>
          </a:prstGeom>
          <a:noFill/>
        </p:spPr>
        <p:txBody>
          <a:bodyPr wrap="square">
            <a:spAutoFit/>
          </a:bodyPr>
          <a:lstStyle/>
          <a:p>
            <a:r>
              <a:rPr lang="zh-CN" altLang="en-US" b="0" i="0" dirty="0">
                <a:solidFill>
                  <a:srgbClr val="00B0F0"/>
                </a:solidFill>
                <a:effectLst/>
                <a:latin typeface="Microsoft YaHei" panose="020B0503020204020204" pitchFamily="34" charset="-122"/>
                <a:ea typeface="Microsoft YaHei" panose="020B0503020204020204" pitchFamily="34" charset="-122"/>
              </a:rPr>
              <a:t>潍柴火炬科技股份有限公司</a:t>
            </a:r>
            <a:endParaRPr lang="zh-CN" altLang="en-US" dirty="0">
              <a:solidFill>
                <a:srgbClr val="00B0F0"/>
              </a:solidFill>
            </a:endParaRPr>
          </a:p>
        </p:txBody>
      </p:sp>
      <p:sp>
        <p:nvSpPr>
          <p:cNvPr id="9" name="文本框 8">
            <a:extLst>
              <a:ext uri="{FF2B5EF4-FFF2-40B4-BE49-F238E27FC236}">
                <a16:creationId xmlns:a16="http://schemas.microsoft.com/office/drawing/2014/main" id="{D4A585EE-E518-3BB7-7192-61E457CD9FAF}"/>
              </a:ext>
            </a:extLst>
          </p:cNvPr>
          <p:cNvSpPr txBox="1"/>
          <p:nvPr/>
        </p:nvSpPr>
        <p:spPr>
          <a:xfrm>
            <a:off x="1319213" y="4020718"/>
            <a:ext cx="6505574" cy="646331"/>
          </a:xfrm>
          <a:prstGeom prst="rect">
            <a:avLst/>
          </a:prstGeom>
          <a:noFill/>
        </p:spPr>
        <p:txBody>
          <a:bodyPr wrap="square">
            <a:spAutoFit/>
          </a:bodyPr>
          <a:lstStyle/>
          <a:p>
            <a:r>
              <a:rPr lang="en-US" altLang="zh-CN" b="0" i="0" dirty="0">
                <a:solidFill>
                  <a:srgbClr val="333333"/>
                </a:solidFill>
                <a:effectLst/>
                <a:latin typeface="Microsoft Yahei" panose="020B0503020204020204" pitchFamily="34" charset="-122"/>
                <a:ea typeface="Microsoft Yahei" panose="020B0503020204020204" pitchFamily="34" charset="-122"/>
              </a:rPr>
              <a:t>Torch</a:t>
            </a:r>
            <a:r>
              <a:rPr lang="zh-CN" altLang="en-US" b="0" i="0" dirty="0">
                <a:solidFill>
                  <a:srgbClr val="333333"/>
                </a:solidFill>
                <a:effectLst/>
                <a:latin typeface="Microsoft Yahei" panose="020B0503020204020204" pitchFamily="34" charset="-122"/>
                <a:ea typeface="Microsoft Yahei" panose="020B0503020204020204" pitchFamily="34" charset="-122"/>
              </a:rPr>
              <a:t>已跻身全球十大火花塞品牌，成为国内产量最高的火花塞研发生产基地。重点产品是质量好、耐磨的铂铱火花塞</a:t>
            </a:r>
            <a:endParaRPr lang="zh-CN" altLang="en-US" dirty="0"/>
          </a:p>
        </p:txBody>
      </p:sp>
      <p:sp>
        <p:nvSpPr>
          <p:cNvPr id="10" name="TextBox 3">
            <a:extLst>
              <a:ext uri="{FF2B5EF4-FFF2-40B4-BE49-F238E27FC236}">
                <a16:creationId xmlns:a16="http://schemas.microsoft.com/office/drawing/2014/main" id="{83A4899D-A8DB-2018-B99A-815EEDDEEF7F}"/>
              </a:ext>
            </a:extLst>
          </p:cNvPr>
          <p:cNvSpPr txBox="1"/>
          <p:nvPr/>
        </p:nvSpPr>
        <p:spPr>
          <a:xfrm>
            <a:off x="2359695" y="266746"/>
            <a:ext cx="4424609" cy="523220"/>
          </a:xfrm>
          <a:prstGeom prst="rect">
            <a:avLst/>
          </a:prstGeom>
          <a:noFill/>
        </p:spPr>
        <p:txBody>
          <a:bodyPr wrap="none" rtlCol="0">
            <a:spAutoFit/>
          </a:bodyPr>
          <a:lstStyle/>
          <a:p>
            <a:r>
              <a:rPr lang="en-US" altLang="zh-CN" sz="2800" dirty="0">
                <a:solidFill>
                  <a:srgbClr val="FF0000"/>
                </a:solidFill>
              </a:rPr>
              <a:t>Spark plug: Made in China</a:t>
            </a:r>
            <a:endParaRPr lang="zh-CN" altLang="en-US" sz="2800" dirty="0">
              <a:solidFill>
                <a:srgbClr val="FF0000"/>
              </a:solidFill>
            </a:endParaRPr>
          </a:p>
        </p:txBody>
      </p:sp>
      <p:sp>
        <p:nvSpPr>
          <p:cNvPr id="12" name="文本框 11">
            <a:extLst>
              <a:ext uri="{FF2B5EF4-FFF2-40B4-BE49-F238E27FC236}">
                <a16:creationId xmlns:a16="http://schemas.microsoft.com/office/drawing/2014/main" id="{CFF879E8-6B0A-464E-941E-18159F92F716}"/>
              </a:ext>
            </a:extLst>
          </p:cNvPr>
          <p:cNvSpPr txBox="1"/>
          <p:nvPr/>
        </p:nvSpPr>
        <p:spPr>
          <a:xfrm>
            <a:off x="514349" y="4873528"/>
            <a:ext cx="8334376" cy="1323439"/>
          </a:xfrm>
          <a:prstGeom prst="rect">
            <a:avLst/>
          </a:prstGeom>
          <a:noFill/>
        </p:spPr>
        <p:txBody>
          <a:bodyPr wrap="square">
            <a:spAutoFit/>
          </a:bodyPr>
          <a:lstStyle/>
          <a:p>
            <a:pPr marL="285750" indent="-285750">
              <a:buFont typeface="Arial" panose="020B0604020202020204" pitchFamily="34" charset="0"/>
              <a:buChar char="•"/>
            </a:pPr>
            <a:r>
              <a:rPr lang="en-US" altLang="zh-CN" sz="1600" b="0" i="0" dirty="0">
                <a:solidFill>
                  <a:srgbClr val="666666"/>
                </a:solidFill>
                <a:effectLst/>
                <a:latin typeface="Source Han Sans"/>
              </a:rPr>
              <a:t>1961, </a:t>
            </a:r>
            <a:r>
              <a:rPr lang="zh-CN" altLang="en-US" sz="1600" b="0" i="0" dirty="0">
                <a:solidFill>
                  <a:srgbClr val="666666"/>
                </a:solidFill>
                <a:effectLst/>
                <a:latin typeface="Source Han Sans"/>
              </a:rPr>
              <a:t>创立于湖南省株洲县渌口镇，前身渌口内燃机配件厂，隶属农机部，后更名为株洲火花塞厂</a:t>
            </a:r>
            <a:endParaRPr lang="en-US" altLang="zh-CN" sz="1600" b="0" i="0" dirty="0">
              <a:solidFill>
                <a:srgbClr val="666666"/>
              </a:solidFill>
              <a:effectLst/>
              <a:latin typeface="Source Han Sans"/>
            </a:endParaRPr>
          </a:p>
          <a:p>
            <a:pPr marL="285750" indent="-285750">
              <a:buFont typeface="Arial" panose="020B0604020202020204" pitchFamily="34" charset="0"/>
              <a:buChar char="•"/>
            </a:pPr>
            <a:r>
              <a:rPr lang="en-US" altLang="zh-CN" sz="1600" b="0" i="0" dirty="0">
                <a:solidFill>
                  <a:srgbClr val="666666"/>
                </a:solidFill>
                <a:effectLst/>
                <a:latin typeface="Source Han Sans"/>
              </a:rPr>
              <a:t>2005</a:t>
            </a:r>
            <a:r>
              <a:rPr lang="zh-CN" altLang="en-US" sz="1600" b="0" i="0" dirty="0">
                <a:solidFill>
                  <a:srgbClr val="666666"/>
                </a:solidFill>
                <a:effectLst/>
                <a:latin typeface="Source Han Sans"/>
              </a:rPr>
              <a:t>年，潍柴动力吸收合并湘火炬，现为潍柴动力属下具有独立法人资格的全资子公司。</a:t>
            </a:r>
            <a:endParaRPr lang="en-US" altLang="zh-CN" sz="1600" b="0" i="0" dirty="0">
              <a:solidFill>
                <a:srgbClr val="666666"/>
              </a:solidFill>
              <a:effectLst/>
              <a:latin typeface="Source Han Sans"/>
            </a:endParaRPr>
          </a:p>
          <a:p>
            <a:pPr marL="285750" indent="-285750">
              <a:buFont typeface="Arial" panose="020B0604020202020204" pitchFamily="34" charset="0"/>
              <a:buChar char="•"/>
            </a:pPr>
            <a:r>
              <a:rPr lang="en-US" altLang="zh-CN" sz="1600" b="0" i="0" dirty="0">
                <a:solidFill>
                  <a:srgbClr val="666666"/>
                </a:solidFill>
                <a:effectLst/>
                <a:latin typeface="Source Han Sans"/>
              </a:rPr>
              <a:t>2006</a:t>
            </a:r>
            <a:r>
              <a:rPr lang="zh-CN" altLang="en-US" sz="1600" b="0" i="0" dirty="0">
                <a:solidFill>
                  <a:srgbClr val="666666"/>
                </a:solidFill>
                <a:effectLst/>
                <a:latin typeface="Source Han Sans"/>
              </a:rPr>
              <a:t>年，收购美国</a:t>
            </a:r>
            <a:r>
              <a:rPr lang="en-US" altLang="zh-CN" sz="1600" b="0" i="0" dirty="0">
                <a:solidFill>
                  <a:srgbClr val="666666"/>
                </a:solidFill>
                <a:effectLst/>
                <a:latin typeface="Source Han Sans"/>
              </a:rPr>
              <a:t>DELPHI</a:t>
            </a:r>
            <a:r>
              <a:rPr lang="zh-CN" altLang="en-US" sz="1600" b="0" i="0" dirty="0">
                <a:solidFill>
                  <a:srgbClr val="666666"/>
                </a:solidFill>
                <a:effectLst/>
                <a:latin typeface="Source Han Sans"/>
              </a:rPr>
              <a:t>火花塞工厂全套设备和技术专利</a:t>
            </a:r>
            <a:r>
              <a:rPr lang="en-US" altLang="zh-CN" sz="1600" b="0" i="0" dirty="0">
                <a:solidFill>
                  <a:srgbClr val="666666"/>
                </a:solidFill>
                <a:effectLst/>
                <a:latin typeface="Source Han Sans"/>
              </a:rPr>
              <a:t>, </a:t>
            </a:r>
            <a:r>
              <a:rPr lang="zh-CN" altLang="en-US" sz="1600" b="0" i="0" dirty="0">
                <a:solidFill>
                  <a:srgbClr val="666666"/>
                </a:solidFill>
                <a:effectLst/>
                <a:latin typeface="Source Han Sans"/>
              </a:rPr>
              <a:t>年产能提升至</a:t>
            </a:r>
            <a:r>
              <a:rPr lang="en-US" altLang="zh-CN" sz="1600" b="0" i="0" dirty="0">
                <a:solidFill>
                  <a:srgbClr val="666666"/>
                </a:solidFill>
                <a:effectLst/>
                <a:latin typeface="Source Han Sans"/>
              </a:rPr>
              <a:t>2</a:t>
            </a:r>
            <a:r>
              <a:rPr lang="zh-CN" altLang="en-US" sz="1600" b="0" i="0" dirty="0">
                <a:solidFill>
                  <a:srgbClr val="666666"/>
                </a:solidFill>
                <a:effectLst/>
                <a:latin typeface="Source Han Sans"/>
              </a:rPr>
              <a:t>亿只，同时实现了点火系统模块化发展。</a:t>
            </a:r>
            <a:endParaRPr lang="zh-CN" altLang="en-US" sz="1600" dirty="0"/>
          </a:p>
        </p:txBody>
      </p:sp>
      <p:pic>
        <p:nvPicPr>
          <p:cNvPr id="2050" name="Picture 2" descr="See the source image">
            <a:extLst>
              <a:ext uri="{FF2B5EF4-FFF2-40B4-BE49-F238E27FC236}">
                <a16:creationId xmlns:a16="http://schemas.microsoft.com/office/drawing/2014/main" id="{13C1B520-11FC-8184-AB95-607B5B51F8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724025"/>
            <a:ext cx="1714500" cy="1704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7264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DD71CA92-C0DB-0D33-0011-BE69C0BEE7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7216" y="1919287"/>
            <a:ext cx="6286500" cy="334327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3">
            <a:extLst>
              <a:ext uri="{FF2B5EF4-FFF2-40B4-BE49-F238E27FC236}">
                <a16:creationId xmlns:a16="http://schemas.microsoft.com/office/drawing/2014/main" id="{F32A09F3-DA02-F04D-A5EF-B28E266E1215}"/>
              </a:ext>
            </a:extLst>
          </p:cNvPr>
          <p:cNvSpPr txBox="1"/>
          <p:nvPr/>
        </p:nvSpPr>
        <p:spPr>
          <a:xfrm>
            <a:off x="2169195" y="428671"/>
            <a:ext cx="4602542" cy="523220"/>
          </a:xfrm>
          <a:prstGeom prst="rect">
            <a:avLst/>
          </a:prstGeom>
          <a:noFill/>
        </p:spPr>
        <p:txBody>
          <a:bodyPr wrap="none" rtlCol="0">
            <a:spAutoFit/>
          </a:bodyPr>
          <a:lstStyle/>
          <a:p>
            <a:r>
              <a:rPr lang="en-US" altLang="zh-CN" sz="2800" dirty="0">
                <a:solidFill>
                  <a:srgbClr val="FF0000"/>
                </a:solidFill>
              </a:rPr>
              <a:t>Otto Engine: Made in China</a:t>
            </a:r>
            <a:endParaRPr lang="zh-CN" altLang="en-US" sz="2800" dirty="0">
              <a:solidFill>
                <a:srgbClr val="FF0000"/>
              </a:solidFill>
            </a:endParaRPr>
          </a:p>
        </p:txBody>
      </p:sp>
    </p:spTree>
    <p:extLst>
      <p:ext uri="{BB962C8B-B14F-4D97-AF65-F5344CB8AC3E}">
        <p14:creationId xmlns:p14="http://schemas.microsoft.com/office/powerpoint/2010/main" val="16403981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600" dirty="0">
                <a:solidFill>
                  <a:srgbClr val="FF0000"/>
                </a:solidFill>
              </a:rPr>
              <a:t>8. Diesel cycle</a:t>
            </a:r>
            <a:endParaRPr lang="zh-CN" altLang="en-US" sz="3600" dirty="0">
              <a:solidFill>
                <a:srgbClr val="FF0000"/>
              </a:solidFill>
            </a:endParaRPr>
          </a:p>
        </p:txBody>
      </p:sp>
      <p:sp>
        <p:nvSpPr>
          <p:cNvPr id="3" name="矩形 2"/>
          <p:cNvSpPr/>
          <p:nvPr/>
        </p:nvSpPr>
        <p:spPr>
          <a:xfrm>
            <a:off x="1061208" y="4347406"/>
            <a:ext cx="6639886" cy="369332"/>
          </a:xfrm>
          <a:prstGeom prst="rect">
            <a:avLst/>
          </a:prstGeom>
        </p:spPr>
        <p:txBody>
          <a:bodyPr wrap="square">
            <a:spAutoFit/>
          </a:bodyPr>
          <a:lstStyle/>
          <a:p>
            <a:r>
              <a:rPr lang="en-US" altLang="zh-CN" b="1" dirty="0">
                <a:solidFill>
                  <a:srgbClr val="0000FF"/>
                </a:solidFill>
              </a:rPr>
              <a:t>Ref. Thermodynamics: A Engineering approach, Chapter 9</a:t>
            </a:r>
            <a:r>
              <a:rPr lang="zh-CN" altLang="en-US" b="1" dirty="0">
                <a:solidFill>
                  <a:srgbClr val="0000FF"/>
                </a:solidFill>
              </a:rPr>
              <a:t> </a:t>
            </a:r>
            <a:endParaRPr lang="zh-CN" altLang="en-US" dirty="0">
              <a:solidFill>
                <a:srgbClr val="0000FF"/>
              </a:solidFill>
            </a:endParaRPr>
          </a:p>
        </p:txBody>
      </p:sp>
    </p:spTree>
    <p:extLst>
      <p:ext uri="{BB962C8B-B14F-4D97-AF65-F5344CB8AC3E}">
        <p14:creationId xmlns:p14="http://schemas.microsoft.com/office/powerpoint/2010/main" val="36374920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143244" y="-144463"/>
            <a:ext cx="7172587" cy="1208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sz="3200" b="1" dirty="0">
                <a:solidFill>
                  <a:srgbClr val="FF0000"/>
                </a:solidFill>
                <a:effectLst>
                  <a:outerShdw blurRad="38100" dist="38100" dir="2700000" algn="tl">
                    <a:srgbClr val="000000">
                      <a:alpha val="43137"/>
                    </a:srgbClr>
                  </a:outerShdw>
                </a:effectLst>
                <a:latin typeface="Arial" charset="0"/>
                <a:cs typeface="Arial" charset="0"/>
              </a:rPr>
              <a:t>Diesel Cycle </a:t>
            </a:r>
          </a:p>
          <a:p>
            <a:r>
              <a:rPr lang="en-US" sz="3200" b="1" dirty="0">
                <a:solidFill>
                  <a:srgbClr val="FF0000"/>
                </a:solidFill>
                <a:effectLst>
                  <a:outerShdw blurRad="38100" dist="38100" dir="2700000" algn="tl">
                    <a:srgbClr val="000000">
                      <a:alpha val="43137"/>
                    </a:srgbClr>
                  </a:outerShdw>
                </a:effectLst>
                <a:latin typeface="Arial" charset="0"/>
                <a:cs typeface="Arial" charset="0"/>
              </a:rPr>
              <a:t> </a:t>
            </a:r>
            <a:r>
              <a:rPr lang="en-US" altLang="zh-CN" sz="2800" b="1" dirty="0">
                <a:solidFill>
                  <a:srgbClr val="0000FF"/>
                </a:solidFill>
                <a:effectLst>
                  <a:outerShdw blurRad="38100" dist="38100" dir="2700000" algn="tl">
                    <a:srgbClr val="000000">
                      <a:alpha val="43137"/>
                    </a:srgbClr>
                  </a:outerShdw>
                </a:effectLst>
                <a:latin typeface="Arial" charset="0"/>
                <a:cs typeface="Arial" charset="0"/>
              </a:rPr>
              <a:t>——Combustion-Ignition (CI) Engine</a:t>
            </a:r>
            <a:endParaRPr lang="en-US" sz="3200" dirty="0">
              <a:solidFill>
                <a:srgbClr val="0000FF"/>
              </a:solidFill>
            </a:endParaRPr>
          </a:p>
        </p:txBody>
      </p:sp>
      <p:pic>
        <p:nvPicPr>
          <p:cNvPr id="1136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2255" y="1752597"/>
            <a:ext cx="4827905" cy="40469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r="47922"/>
          <a:stretch/>
        </p:blipFill>
        <p:spPr bwMode="auto">
          <a:xfrm>
            <a:off x="793856" y="1551059"/>
            <a:ext cx="2602865" cy="22249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50000"/>
          <a:stretch/>
        </p:blipFill>
        <p:spPr bwMode="auto">
          <a:xfrm>
            <a:off x="717656" y="3874852"/>
            <a:ext cx="2618105" cy="23310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5429682" y="5961959"/>
            <a:ext cx="2300630" cy="369332"/>
          </a:xfrm>
          <a:prstGeom prst="rect">
            <a:avLst/>
          </a:prstGeom>
          <a:noFill/>
        </p:spPr>
        <p:txBody>
          <a:bodyPr wrap="none" rtlCol="0">
            <a:spAutoFit/>
          </a:bodyPr>
          <a:lstStyle/>
          <a:p>
            <a:r>
              <a:rPr lang="en-US" altLang="zh-CN" sz="1800" dirty="0">
                <a:latin typeface="+mn-lt"/>
              </a:rPr>
              <a:t>After Rudolph Diesel</a:t>
            </a:r>
            <a:endParaRPr lang="zh-CN" altLang="en-US" sz="1800" dirty="0">
              <a:latin typeface="+mn-lt"/>
            </a:endParaRPr>
          </a:p>
        </p:txBody>
      </p:sp>
    </p:spTree>
    <p:extLst>
      <p:ext uri="{BB962C8B-B14F-4D97-AF65-F5344CB8AC3E}">
        <p14:creationId xmlns:p14="http://schemas.microsoft.com/office/powerpoint/2010/main" val="19697693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368105" y="92279"/>
            <a:ext cx="7324760" cy="1208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b="1" dirty="0">
                <a:solidFill>
                  <a:srgbClr val="FF0000"/>
                </a:solidFill>
                <a:effectLst>
                  <a:outerShdw blurRad="38100" dist="38100" dir="2700000" algn="tl">
                    <a:srgbClr val="000000">
                      <a:alpha val="43137"/>
                    </a:srgbClr>
                  </a:outerShdw>
                </a:effectLst>
                <a:latin typeface="Arial" charset="0"/>
                <a:cs typeface="Arial" charset="0"/>
              </a:rPr>
              <a:t>Diesel Cycle </a:t>
            </a:r>
          </a:p>
          <a:p>
            <a:r>
              <a:rPr lang="en-US" altLang="zh-CN" b="1" dirty="0">
                <a:solidFill>
                  <a:srgbClr val="FF0000"/>
                </a:solidFill>
                <a:effectLst>
                  <a:outerShdw blurRad="38100" dist="38100" dir="2700000" algn="tl">
                    <a:srgbClr val="000000">
                      <a:alpha val="43137"/>
                    </a:srgbClr>
                  </a:outerShdw>
                </a:effectLst>
                <a:latin typeface="Arial" charset="0"/>
                <a:cs typeface="Arial" charset="0"/>
              </a:rPr>
              <a:t>——Combustion-Ignition Engine</a:t>
            </a:r>
            <a:endParaRPr lang="en-US" dirty="0">
              <a:solidFill>
                <a:srgbClr val="FF0000"/>
              </a:solidFill>
            </a:endParaRPr>
          </a:p>
        </p:txBody>
      </p:sp>
      <p:pic>
        <p:nvPicPr>
          <p:cNvPr id="11366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850" y="1589480"/>
            <a:ext cx="3021328" cy="28396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366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9580" y="1717707"/>
            <a:ext cx="2821427" cy="27114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161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72729" y="2146332"/>
            <a:ext cx="2818387" cy="6475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1619"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38874" y="3280944"/>
            <a:ext cx="2650653" cy="2961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TextBox 9"/>
          <p:cNvSpPr txBox="1"/>
          <p:nvPr/>
        </p:nvSpPr>
        <p:spPr>
          <a:xfrm>
            <a:off x="992200" y="4779528"/>
            <a:ext cx="3936370" cy="1200329"/>
          </a:xfrm>
          <a:prstGeom prst="rect">
            <a:avLst/>
          </a:prstGeom>
          <a:noFill/>
        </p:spPr>
        <p:txBody>
          <a:bodyPr wrap="square" rtlCol="0">
            <a:spAutoFit/>
          </a:bodyPr>
          <a:lstStyle/>
          <a:p>
            <a:r>
              <a:rPr lang="en-US" altLang="zh-CN" sz="1800" dirty="0">
                <a:sym typeface="Symbol"/>
              </a:rPr>
              <a:t>1-2: Isentropic compression;</a:t>
            </a:r>
          </a:p>
          <a:p>
            <a:r>
              <a:rPr lang="en-US" altLang="zh-CN" sz="1800" dirty="0">
                <a:sym typeface="Symbol"/>
              </a:rPr>
              <a:t>2-3: Constant-pressure heat addition;</a:t>
            </a:r>
          </a:p>
          <a:p>
            <a:r>
              <a:rPr lang="en-US" altLang="zh-CN" sz="1800" dirty="0">
                <a:sym typeface="Symbol"/>
              </a:rPr>
              <a:t>3-4: Isentropic expansion;</a:t>
            </a:r>
          </a:p>
          <a:p>
            <a:r>
              <a:rPr lang="en-US" altLang="zh-CN" sz="1800" dirty="0">
                <a:sym typeface="Symbol"/>
              </a:rPr>
              <a:t>4-1: Constant-volume heat rejection</a:t>
            </a:r>
            <a:endParaRPr lang="en-US" altLang="zh-CN" sz="1800" dirty="0"/>
          </a:p>
        </p:txBody>
      </p:sp>
      <p:pic>
        <p:nvPicPr>
          <p:cNvPr id="11"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40494" y="4267200"/>
            <a:ext cx="2150217" cy="20554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3712407" y="1777000"/>
            <a:ext cx="1415772" cy="369332"/>
          </a:xfrm>
          <a:prstGeom prst="rect">
            <a:avLst/>
          </a:prstGeom>
          <a:noFill/>
        </p:spPr>
        <p:txBody>
          <a:bodyPr wrap="none" rtlCol="0">
            <a:spAutoFit/>
          </a:bodyPr>
          <a:lstStyle/>
          <a:p>
            <a:r>
              <a:rPr lang="en-US" altLang="zh-CN" sz="1800" dirty="0"/>
              <a:t>Diesel cycle</a:t>
            </a:r>
            <a:endParaRPr lang="zh-CN" altLang="en-US" sz="1800" dirty="0"/>
          </a:p>
        </p:txBody>
      </p:sp>
      <p:sp>
        <p:nvSpPr>
          <p:cNvPr id="13" name="TextBox 12"/>
          <p:cNvSpPr txBox="1"/>
          <p:nvPr/>
        </p:nvSpPr>
        <p:spPr>
          <a:xfrm>
            <a:off x="1254957" y="1717223"/>
            <a:ext cx="1415772" cy="369332"/>
          </a:xfrm>
          <a:prstGeom prst="rect">
            <a:avLst/>
          </a:prstGeom>
          <a:noFill/>
        </p:spPr>
        <p:txBody>
          <a:bodyPr wrap="none" rtlCol="0">
            <a:spAutoFit/>
          </a:bodyPr>
          <a:lstStyle/>
          <a:p>
            <a:r>
              <a:rPr lang="en-US" altLang="zh-CN" sz="1800" dirty="0"/>
              <a:t>Diesel cycle</a:t>
            </a:r>
            <a:endParaRPr lang="zh-CN" altLang="en-US" sz="1800" dirty="0"/>
          </a:p>
        </p:txBody>
      </p:sp>
      <p:sp>
        <p:nvSpPr>
          <p:cNvPr id="14" name="TextBox 13"/>
          <p:cNvSpPr txBox="1"/>
          <p:nvPr/>
        </p:nvSpPr>
        <p:spPr>
          <a:xfrm>
            <a:off x="7637620" y="5601000"/>
            <a:ext cx="1210588" cy="369332"/>
          </a:xfrm>
          <a:prstGeom prst="rect">
            <a:avLst/>
          </a:prstGeom>
          <a:noFill/>
        </p:spPr>
        <p:txBody>
          <a:bodyPr wrap="none" rtlCol="0">
            <a:spAutoFit/>
          </a:bodyPr>
          <a:lstStyle/>
          <a:p>
            <a:r>
              <a:rPr lang="en-US" altLang="zh-CN" sz="1800" dirty="0"/>
              <a:t>Otto cycle</a:t>
            </a:r>
            <a:endParaRPr lang="zh-CN" altLang="en-US" sz="1800" dirty="0"/>
          </a:p>
        </p:txBody>
      </p:sp>
    </p:spTree>
    <p:extLst>
      <p:ext uri="{BB962C8B-B14F-4D97-AF65-F5344CB8AC3E}">
        <p14:creationId xmlns:p14="http://schemas.microsoft.com/office/powerpoint/2010/main" val="3020625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320473" y="-17063"/>
            <a:ext cx="7324760" cy="1208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b="1" dirty="0">
                <a:solidFill>
                  <a:srgbClr val="FF0000"/>
                </a:solidFill>
                <a:effectLst>
                  <a:outerShdw blurRad="38100" dist="38100" dir="2700000" algn="tl">
                    <a:srgbClr val="000000">
                      <a:alpha val="43137"/>
                    </a:srgbClr>
                  </a:outerShdw>
                </a:effectLst>
                <a:latin typeface="Arial" charset="0"/>
                <a:cs typeface="Arial" charset="0"/>
              </a:rPr>
              <a:t>Diesel Cycle </a:t>
            </a:r>
          </a:p>
          <a:p>
            <a:r>
              <a:rPr lang="en-US" altLang="zh-CN" sz="3200" b="1" dirty="0">
                <a:solidFill>
                  <a:srgbClr val="FF0000"/>
                </a:solidFill>
                <a:effectLst>
                  <a:outerShdw blurRad="38100" dist="38100" dir="2700000" algn="tl">
                    <a:srgbClr val="000000">
                      <a:alpha val="43137"/>
                    </a:srgbClr>
                  </a:outerShdw>
                </a:effectLst>
                <a:latin typeface="Arial" charset="0"/>
                <a:cs typeface="Arial" charset="0"/>
              </a:rPr>
              <a:t>——Combustion-Ignition Engine</a:t>
            </a:r>
            <a:endParaRPr lang="en-US" sz="3200" dirty="0">
              <a:solidFill>
                <a:srgbClr val="FF0000"/>
              </a:solidFill>
            </a:endParaRPr>
          </a:p>
        </p:txBody>
      </p:sp>
      <p:pic>
        <p:nvPicPr>
          <p:cNvPr id="1126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000" y="1555676"/>
            <a:ext cx="6549174" cy="6810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6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6963" y="4399807"/>
            <a:ext cx="1685925"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64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4283" y="5375540"/>
            <a:ext cx="3724275" cy="923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TextBox 12"/>
          <p:cNvSpPr txBox="1"/>
          <p:nvPr/>
        </p:nvSpPr>
        <p:spPr>
          <a:xfrm>
            <a:off x="3994283" y="4596141"/>
            <a:ext cx="1593850" cy="369332"/>
          </a:xfrm>
          <a:prstGeom prst="rect">
            <a:avLst/>
          </a:prstGeom>
          <a:noFill/>
        </p:spPr>
        <p:txBody>
          <a:bodyPr wrap="square" rtlCol="0">
            <a:spAutoFit/>
          </a:bodyPr>
          <a:lstStyle/>
          <a:p>
            <a:r>
              <a:rPr lang="en-US" altLang="zh-CN" sz="1800" dirty="0"/>
              <a:t>Cutoff ratio </a:t>
            </a:r>
            <a:r>
              <a:rPr lang="en-US" altLang="zh-CN" sz="1800" dirty="0" err="1"/>
              <a:t>r</a:t>
            </a:r>
            <a:r>
              <a:rPr lang="en-US" altLang="zh-CN" sz="1800" baseline="-25000" dirty="0" err="1"/>
              <a:t>c</a:t>
            </a:r>
            <a:endParaRPr lang="en-US" altLang="zh-CN" sz="1800" baseline="-25000" dirty="0"/>
          </a:p>
        </p:txBody>
      </p:sp>
      <p:pic>
        <p:nvPicPr>
          <p:cNvPr id="1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0375" y="4255801"/>
            <a:ext cx="2251596" cy="21161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0" name="文本框 19"/>
          <p:cNvSpPr txBox="1"/>
          <p:nvPr/>
        </p:nvSpPr>
        <p:spPr>
          <a:xfrm>
            <a:off x="4435915" y="2401746"/>
            <a:ext cx="2888868" cy="307777"/>
          </a:xfrm>
          <a:prstGeom prst="rect">
            <a:avLst/>
          </a:prstGeom>
          <a:noFill/>
        </p:spPr>
        <p:txBody>
          <a:bodyPr wrap="none" rtlCol="0">
            <a:spAutoFit/>
          </a:bodyPr>
          <a:lstStyle/>
          <a:p>
            <a:pPr marL="171450" indent="-171450">
              <a:buFont typeface="Arial" panose="020B0604020202020204" pitchFamily="34" charset="0"/>
              <a:buChar char="•"/>
            </a:pPr>
            <a:r>
              <a:rPr lang="en-US" altLang="zh-CN" sz="1400" dirty="0"/>
              <a:t>Considering </a:t>
            </a:r>
            <a:r>
              <a:rPr lang="en-US" altLang="zh-CN" sz="1400" dirty="0" err="1"/>
              <a:t>const</a:t>
            </a:r>
            <a:r>
              <a:rPr lang="en-US" altLang="zh-CN" sz="1400" dirty="0"/>
              <a:t> P from 2</a:t>
            </a:r>
            <a:r>
              <a:rPr lang="en-US" altLang="zh-CN" sz="1400" dirty="0">
                <a:sym typeface="Wingdings" panose="05000000000000000000" pitchFamily="2" charset="2"/>
              </a:rPr>
              <a:t> 3</a:t>
            </a:r>
            <a:r>
              <a:rPr lang="en-US" altLang="zh-CN" sz="1400" dirty="0"/>
              <a:t> </a:t>
            </a:r>
            <a:endParaRPr lang="zh-CN" altLang="en-US" sz="1400" dirty="0"/>
          </a:p>
        </p:txBody>
      </p:sp>
      <p:sp>
        <p:nvSpPr>
          <p:cNvPr id="21" name="文本框 20"/>
          <p:cNvSpPr txBox="1"/>
          <p:nvPr/>
        </p:nvSpPr>
        <p:spPr>
          <a:xfrm>
            <a:off x="536542" y="2402142"/>
            <a:ext cx="3376245" cy="307777"/>
          </a:xfrm>
          <a:prstGeom prst="rect">
            <a:avLst/>
          </a:prstGeom>
          <a:noFill/>
        </p:spPr>
        <p:txBody>
          <a:bodyPr wrap="none" rtlCol="0">
            <a:spAutoFit/>
          </a:bodyPr>
          <a:lstStyle/>
          <a:p>
            <a:pPr marL="171450" indent="-171450">
              <a:buFont typeface="Arial" panose="020B0604020202020204" pitchFamily="34" charset="0"/>
              <a:buChar char="•"/>
            </a:pPr>
            <a:r>
              <a:rPr lang="en-US" altLang="zh-CN" sz="1400" dirty="0"/>
              <a:t>Considering isentropic 1</a:t>
            </a:r>
            <a:r>
              <a:rPr lang="en-US" altLang="zh-CN" sz="1400" dirty="0">
                <a:sym typeface="Wingdings" panose="05000000000000000000" pitchFamily="2" charset="2"/>
              </a:rPr>
              <a:t>2 and 3 4</a:t>
            </a:r>
            <a:endParaRPr lang="zh-CN" altLang="en-US" sz="1400" dirty="0"/>
          </a:p>
        </p:txBody>
      </p:sp>
      <mc:AlternateContent xmlns:mc="http://schemas.openxmlformats.org/markup-compatibility/2006" xmlns:a14="http://schemas.microsoft.com/office/drawing/2010/main">
        <mc:Choice Requires="a14">
          <p:sp>
            <p:nvSpPr>
              <p:cNvPr id="23" name="矩形 22"/>
              <p:cNvSpPr/>
              <p:nvPr/>
            </p:nvSpPr>
            <p:spPr>
              <a:xfrm>
                <a:off x="4684003" y="2999498"/>
                <a:ext cx="904130" cy="87075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zh-CN" altLang="en-US" sz="1200" i="1">
                              <a:latin typeface="Cambria Math" panose="02040503050406030204" pitchFamily="18" charset="0"/>
                            </a:rPr>
                          </m:ctrlPr>
                        </m:mPr>
                        <m:mr>
                          <m:e>
                            <m:f>
                              <m:fPr>
                                <m:ctrlPr>
                                  <a:rPr lang="zh-CN" altLang="en-US" sz="1200" i="1">
                                    <a:latin typeface="Cambria Math" panose="02040503050406030204" pitchFamily="18" charset="0"/>
                                  </a:rPr>
                                </m:ctrlPr>
                              </m:fPr>
                              <m:num>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0">
                                        <a:latin typeface="Cambria Math" panose="02040503050406030204" pitchFamily="18" charset="0"/>
                                      </a:rPr>
                                      <m:t>3</m:t>
                                    </m:r>
                                  </m:sub>
                                </m:sSub>
                              </m:num>
                              <m:den>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0">
                                        <a:latin typeface="Cambria Math" panose="02040503050406030204" pitchFamily="18" charset="0"/>
                                      </a:rPr>
                                      <m:t>2</m:t>
                                    </m:r>
                                  </m:sub>
                                </m:sSub>
                              </m:den>
                            </m:f>
                            <m:r>
                              <a:rPr lang="zh-CN" altLang="en-US" sz="1200" i="0">
                                <a:latin typeface="Cambria Math" panose="02040503050406030204" pitchFamily="18" charset="0"/>
                              </a:rPr>
                              <m:t>=</m:t>
                            </m:r>
                            <m:f>
                              <m:fPr>
                                <m:ctrlPr>
                                  <a:rPr lang="zh-CN" altLang="en-US" sz="1200" i="1">
                                    <a:latin typeface="Cambria Math" panose="02040503050406030204" pitchFamily="18" charset="0"/>
                                  </a:rPr>
                                </m:ctrlPr>
                              </m:fPr>
                              <m:num>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𝑣</m:t>
                                    </m:r>
                                  </m:e>
                                  <m:sub>
                                    <m:r>
                                      <a:rPr lang="zh-CN" altLang="en-US" sz="1200" i="0">
                                        <a:latin typeface="Cambria Math" panose="02040503050406030204" pitchFamily="18" charset="0"/>
                                      </a:rPr>
                                      <m:t>3</m:t>
                                    </m:r>
                                  </m:sub>
                                </m:sSub>
                              </m:num>
                              <m:den>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𝑣</m:t>
                                    </m:r>
                                  </m:e>
                                  <m:sub>
                                    <m:r>
                                      <a:rPr lang="zh-CN" altLang="en-US" sz="1200" i="0">
                                        <a:latin typeface="Cambria Math" panose="02040503050406030204" pitchFamily="18" charset="0"/>
                                      </a:rPr>
                                      <m:t>2</m:t>
                                    </m:r>
                                  </m:sub>
                                </m:sSub>
                              </m:den>
                            </m:f>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𝑟</m:t>
                                </m:r>
                              </m:e>
                              <m:sub>
                                <m:r>
                                  <a:rPr lang="zh-CN" altLang="en-US" sz="1200" i="1">
                                    <a:latin typeface="Cambria Math" panose="02040503050406030204" pitchFamily="18" charset="0"/>
                                  </a:rPr>
                                  <m:t>𝑐</m:t>
                                </m:r>
                              </m:sub>
                            </m:sSub>
                          </m:e>
                        </m:mr>
                        <m:mr>
                          <m:e>
                            <m:f>
                              <m:fPr>
                                <m:ctrlPr>
                                  <a:rPr lang="zh-CN" altLang="en-US" sz="1200" i="1">
                                    <a:latin typeface="Cambria Math" panose="02040503050406030204" pitchFamily="18" charset="0"/>
                                  </a:rPr>
                                </m:ctrlPr>
                              </m:fPr>
                              <m:num>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0">
                                        <a:latin typeface="Cambria Math" panose="02040503050406030204" pitchFamily="18" charset="0"/>
                                      </a:rPr>
                                      <m:t>4</m:t>
                                    </m:r>
                                  </m:sub>
                                </m:sSub>
                              </m:num>
                              <m:den>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0">
                                        <a:latin typeface="Cambria Math" panose="02040503050406030204" pitchFamily="18" charset="0"/>
                                      </a:rPr>
                                      <m:t>1</m:t>
                                    </m:r>
                                  </m:sub>
                                </m:sSub>
                              </m:den>
                            </m:f>
                            <m:r>
                              <a:rPr lang="zh-CN" altLang="en-US" sz="1200" i="0">
                                <a:latin typeface="Cambria Math" panose="02040503050406030204" pitchFamily="18" charset="0"/>
                              </a:rPr>
                              <m:t>=</m:t>
                            </m:r>
                            <m:f>
                              <m:fPr>
                                <m:ctrlPr>
                                  <a:rPr lang="zh-CN" altLang="en-US" sz="1200" i="1">
                                    <a:latin typeface="Cambria Math" panose="02040503050406030204" pitchFamily="18" charset="0"/>
                                  </a:rPr>
                                </m:ctrlPr>
                              </m:fPr>
                              <m:num>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𝑣</m:t>
                                    </m:r>
                                  </m:e>
                                  <m:sub>
                                    <m:r>
                                      <a:rPr lang="zh-CN" altLang="en-US" sz="1200" i="0">
                                        <a:latin typeface="Cambria Math" panose="02040503050406030204" pitchFamily="18" charset="0"/>
                                      </a:rPr>
                                      <m:t>3</m:t>
                                    </m:r>
                                  </m:sub>
                                </m:sSub>
                              </m:num>
                              <m:den>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𝑣</m:t>
                                    </m:r>
                                  </m:e>
                                  <m:sub>
                                    <m:r>
                                      <a:rPr lang="zh-CN" altLang="en-US" sz="1200" i="0">
                                        <a:latin typeface="Cambria Math" panose="02040503050406030204" pitchFamily="18" charset="0"/>
                                      </a:rPr>
                                      <m:t>2</m:t>
                                    </m:r>
                                  </m:sub>
                                </m:sSub>
                              </m:den>
                            </m:f>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𝛾</m:t>
                                </m:r>
                              </m:e>
                              <m:sub>
                                <m:r>
                                  <a:rPr lang="zh-CN" altLang="en-US" sz="1200" i="1">
                                    <a:latin typeface="Cambria Math" panose="02040503050406030204" pitchFamily="18" charset="0"/>
                                  </a:rPr>
                                  <m:t>𝑐</m:t>
                                </m:r>
                              </m:sub>
                              <m:sup>
                                <m:r>
                                  <a:rPr lang="zh-CN" altLang="en-US" sz="1200" i="1">
                                    <a:latin typeface="Cambria Math" panose="02040503050406030204" pitchFamily="18" charset="0"/>
                                  </a:rPr>
                                  <m:t>𝑘</m:t>
                                </m:r>
                                <m:r>
                                  <a:rPr lang="zh-CN" altLang="en-US" sz="1200" i="0">
                                    <a:latin typeface="Cambria Math" panose="02040503050406030204" pitchFamily="18" charset="0"/>
                                  </a:rPr>
                                  <m:t>−1</m:t>
                                </m:r>
                              </m:sup>
                            </m:sSubSup>
                          </m:e>
                        </m:mr>
                      </m:m>
                    </m:oMath>
                  </m:oMathPara>
                </a14:m>
                <a:endParaRPr lang="zh-CN" altLang="en-US" sz="1200" dirty="0"/>
              </a:p>
            </p:txBody>
          </p:sp>
        </mc:Choice>
        <mc:Fallback xmlns="">
          <p:sp>
            <p:nvSpPr>
              <p:cNvPr id="23" name="矩形 22"/>
              <p:cNvSpPr>
                <a:spLocks noRot="1" noChangeAspect="1" noMove="1" noResize="1" noEditPoints="1" noAdjustHandles="1" noChangeArrowheads="1" noChangeShapeType="1" noTextEdit="1"/>
              </p:cNvSpPr>
              <p:nvPr/>
            </p:nvSpPr>
            <p:spPr>
              <a:xfrm>
                <a:off x="4684003" y="2999498"/>
                <a:ext cx="904130" cy="870751"/>
              </a:xfrm>
              <a:prstGeom prst="rect">
                <a:avLst/>
              </a:prstGeom>
              <a:blipFill rotWithShape="0">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矩形 23"/>
              <p:cNvSpPr/>
              <p:nvPr/>
            </p:nvSpPr>
            <p:spPr>
              <a:xfrm>
                <a:off x="536542" y="2962619"/>
                <a:ext cx="3457741" cy="95782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0">
                                    <a:latin typeface="Cambria Math" panose="02040503050406030204" pitchFamily="18" charset="0"/>
                                  </a:rPr>
                                  <m:t>1</m:t>
                                </m:r>
                              </m:sub>
                            </m:sSub>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𝑉</m:t>
                                </m:r>
                              </m:e>
                              <m:sub>
                                <m:r>
                                  <a:rPr lang="zh-CN" altLang="en-US" sz="1200" i="0">
                                    <a:latin typeface="Cambria Math" panose="02040503050406030204" pitchFamily="18" charset="0"/>
                                  </a:rPr>
                                  <m:t>1</m:t>
                                </m:r>
                              </m:sub>
                              <m:sup>
                                <m:r>
                                  <a:rPr lang="zh-CN" altLang="en-US" sz="1200" i="1">
                                    <a:latin typeface="Cambria Math" panose="02040503050406030204" pitchFamily="18" charset="0"/>
                                  </a:rPr>
                                  <m:t>𝑘</m:t>
                                </m:r>
                                <m:r>
                                  <a:rPr lang="zh-CN" altLang="en-US" sz="1200" i="0">
                                    <a:latin typeface="Cambria Math" panose="02040503050406030204" pitchFamily="18" charset="0"/>
                                  </a:rPr>
                                  <m:t>−1</m:t>
                                </m:r>
                              </m:sup>
                            </m:sSubSup>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0">
                                    <a:latin typeface="Cambria Math" panose="02040503050406030204" pitchFamily="18" charset="0"/>
                                  </a:rPr>
                                  <m:t>2</m:t>
                                </m:r>
                              </m:sub>
                            </m:sSub>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𝑉</m:t>
                                </m:r>
                              </m:e>
                              <m:sub>
                                <m:r>
                                  <a:rPr lang="zh-CN" altLang="en-US" sz="1200" i="0">
                                    <a:latin typeface="Cambria Math" panose="02040503050406030204" pitchFamily="18" charset="0"/>
                                  </a:rPr>
                                  <m:t>2</m:t>
                                </m:r>
                              </m:sub>
                              <m:sup>
                                <m:r>
                                  <a:rPr lang="zh-CN" altLang="en-US" sz="1200" i="1">
                                    <a:latin typeface="Cambria Math" panose="02040503050406030204" pitchFamily="18" charset="0"/>
                                  </a:rPr>
                                  <m:t>𝑘</m:t>
                                </m:r>
                                <m:r>
                                  <a:rPr lang="zh-CN" altLang="en-US" sz="1200" i="0">
                                    <a:latin typeface="Cambria Math" panose="02040503050406030204" pitchFamily="18" charset="0"/>
                                  </a:rPr>
                                  <m:t>−1</m:t>
                                </m:r>
                              </m:sup>
                            </m:sSubSup>
                          </m:e>
                        </m:m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0">
                                    <a:latin typeface="Cambria Math" panose="02040503050406030204" pitchFamily="18" charset="0"/>
                                  </a:rPr>
                                  <m:t>4</m:t>
                                </m:r>
                              </m:sub>
                            </m:sSub>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𝑉</m:t>
                                </m:r>
                              </m:e>
                              <m:sub>
                                <m:r>
                                  <a:rPr lang="zh-CN" altLang="en-US" sz="1200" i="0">
                                    <a:latin typeface="Cambria Math" panose="02040503050406030204" pitchFamily="18" charset="0"/>
                                  </a:rPr>
                                  <m:t>4</m:t>
                                </m:r>
                              </m:sub>
                              <m:sup>
                                <m:r>
                                  <a:rPr lang="zh-CN" altLang="en-US" sz="1200" i="1">
                                    <a:latin typeface="Cambria Math" panose="02040503050406030204" pitchFamily="18" charset="0"/>
                                  </a:rPr>
                                  <m:t>𝑘</m:t>
                                </m:r>
                                <m:r>
                                  <a:rPr lang="zh-CN" altLang="en-US" sz="1200" i="0">
                                    <a:latin typeface="Cambria Math" panose="02040503050406030204" pitchFamily="18" charset="0"/>
                                  </a:rPr>
                                  <m:t>−1</m:t>
                                </m:r>
                              </m:sup>
                            </m:sSubSup>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0">
                                    <a:latin typeface="Cambria Math" panose="02040503050406030204" pitchFamily="18" charset="0"/>
                                  </a:rPr>
                                  <m:t>3</m:t>
                                </m:r>
                              </m:sub>
                            </m:sSub>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𝑉</m:t>
                                </m:r>
                              </m:e>
                              <m:sub>
                                <m:r>
                                  <a:rPr lang="zh-CN" altLang="en-US" sz="1200" i="0">
                                    <a:latin typeface="Cambria Math" panose="02040503050406030204" pitchFamily="18" charset="0"/>
                                  </a:rPr>
                                  <m:t>3</m:t>
                                </m:r>
                              </m:sub>
                              <m:sup>
                                <m:r>
                                  <a:rPr lang="zh-CN" altLang="en-US" sz="1200" i="1">
                                    <a:latin typeface="Cambria Math" panose="02040503050406030204" pitchFamily="18" charset="0"/>
                                  </a:rPr>
                                  <m:t>𝑘</m:t>
                                </m:r>
                                <m:r>
                                  <a:rPr lang="zh-CN" altLang="en-US" sz="1200" i="0">
                                    <a:latin typeface="Cambria Math" panose="02040503050406030204" pitchFamily="18" charset="0"/>
                                  </a:rPr>
                                  <m:t>−1</m:t>
                                </m:r>
                              </m:sup>
                            </m:sSubSup>
                          </m:e>
                        </m:mr>
                        <m:mr>
                          <m:e>
                            <m:f>
                              <m:fPr>
                                <m:ctrlPr>
                                  <a:rPr lang="zh-CN" altLang="en-US" sz="1200" i="1">
                                    <a:latin typeface="Cambria Math" panose="02040503050406030204" pitchFamily="18" charset="0"/>
                                  </a:rPr>
                                </m:ctrlPr>
                              </m:fPr>
                              <m:num>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0">
                                        <a:latin typeface="Cambria Math" panose="02040503050406030204" pitchFamily="18" charset="0"/>
                                      </a:rPr>
                                      <m:t>4</m:t>
                                    </m:r>
                                  </m:sub>
                                </m:sSub>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𝑉</m:t>
                                    </m:r>
                                  </m:e>
                                  <m:sub>
                                    <m:r>
                                      <a:rPr lang="zh-CN" altLang="en-US" sz="1200" i="0">
                                        <a:latin typeface="Cambria Math" panose="02040503050406030204" pitchFamily="18" charset="0"/>
                                      </a:rPr>
                                      <m:t>4</m:t>
                                    </m:r>
                                  </m:sub>
                                  <m:sup>
                                    <m:r>
                                      <a:rPr lang="zh-CN" altLang="en-US" sz="1200" i="1">
                                        <a:latin typeface="Cambria Math" panose="02040503050406030204" pitchFamily="18" charset="0"/>
                                      </a:rPr>
                                      <m:t>𝑘</m:t>
                                    </m:r>
                                    <m:r>
                                      <a:rPr lang="zh-CN" altLang="en-US" sz="1200" i="0">
                                        <a:latin typeface="Cambria Math" panose="02040503050406030204" pitchFamily="18" charset="0"/>
                                      </a:rPr>
                                      <m:t>−1</m:t>
                                    </m:r>
                                  </m:sup>
                                </m:sSubSup>
                              </m:num>
                              <m:den>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0">
                                        <a:latin typeface="Cambria Math" panose="02040503050406030204" pitchFamily="18" charset="0"/>
                                      </a:rPr>
                                      <m:t>1</m:t>
                                    </m:r>
                                  </m:sub>
                                </m:sSub>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𝑉</m:t>
                                    </m:r>
                                  </m:e>
                                  <m:sub>
                                    <m:r>
                                      <a:rPr lang="zh-CN" altLang="en-US" sz="1200" i="0">
                                        <a:latin typeface="Cambria Math" panose="02040503050406030204" pitchFamily="18" charset="0"/>
                                      </a:rPr>
                                      <m:t>1</m:t>
                                    </m:r>
                                  </m:sub>
                                  <m:sup>
                                    <m:r>
                                      <a:rPr lang="zh-CN" altLang="en-US" sz="1200" i="1">
                                        <a:latin typeface="Cambria Math" panose="02040503050406030204" pitchFamily="18" charset="0"/>
                                      </a:rPr>
                                      <m:t>𝑘</m:t>
                                    </m:r>
                                    <m:r>
                                      <a:rPr lang="zh-CN" altLang="en-US" sz="1200" i="0">
                                        <a:latin typeface="Cambria Math" panose="02040503050406030204" pitchFamily="18" charset="0"/>
                                      </a:rPr>
                                      <m:t>−1</m:t>
                                    </m:r>
                                  </m:sup>
                                </m:sSubSup>
                              </m:den>
                            </m:f>
                            <m:r>
                              <a:rPr lang="zh-CN" altLang="en-US" sz="1200" i="0">
                                <a:latin typeface="Cambria Math" panose="02040503050406030204" pitchFamily="18" charset="0"/>
                              </a:rPr>
                              <m:t>=</m:t>
                            </m:r>
                            <m:f>
                              <m:fPr>
                                <m:ctrlPr>
                                  <a:rPr lang="zh-CN" altLang="en-US" sz="1200" i="1">
                                    <a:latin typeface="Cambria Math" panose="02040503050406030204" pitchFamily="18" charset="0"/>
                                  </a:rPr>
                                </m:ctrlPr>
                              </m:fPr>
                              <m:num>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0">
                                        <a:latin typeface="Cambria Math" panose="02040503050406030204" pitchFamily="18" charset="0"/>
                                      </a:rPr>
                                      <m:t>3</m:t>
                                    </m:r>
                                  </m:sub>
                                </m:sSub>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𝑉</m:t>
                                    </m:r>
                                  </m:e>
                                  <m:sub>
                                    <m:r>
                                      <a:rPr lang="zh-CN" altLang="en-US" sz="1200" i="0">
                                        <a:latin typeface="Cambria Math" panose="02040503050406030204" pitchFamily="18" charset="0"/>
                                      </a:rPr>
                                      <m:t>3</m:t>
                                    </m:r>
                                  </m:sub>
                                  <m:sup>
                                    <m:r>
                                      <a:rPr lang="zh-CN" altLang="en-US" sz="1200" i="1">
                                        <a:latin typeface="Cambria Math" panose="02040503050406030204" pitchFamily="18" charset="0"/>
                                      </a:rPr>
                                      <m:t>𝑘</m:t>
                                    </m:r>
                                    <m:r>
                                      <a:rPr lang="zh-CN" altLang="en-US" sz="1200" i="0">
                                        <a:latin typeface="Cambria Math" panose="02040503050406030204" pitchFamily="18" charset="0"/>
                                      </a:rPr>
                                      <m:t>−1</m:t>
                                    </m:r>
                                  </m:sup>
                                </m:sSubSup>
                              </m:num>
                              <m:den>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0">
                                        <a:latin typeface="Cambria Math" panose="02040503050406030204" pitchFamily="18" charset="0"/>
                                      </a:rPr>
                                      <m:t>2</m:t>
                                    </m:r>
                                  </m:sub>
                                </m:sSub>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𝑉</m:t>
                                    </m:r>
                                  </m:e>
                                  <m:sub>
                                    <m:r>
                                      <a:rPr lang="zh-CN" altLang="en-US" sz="1200" i="0">
                                        <a:latin typeface="Cambria Math" panose="02040503050406030204" pitchFamily="18" charset="0"/>
                                      </a:rPr>
                                      <m:t>2</m:t>
                                    </m:r>
                                  </m:sub>
                                  <m:sup>
                                    <m:r>
                                      <a:rPr lang="zh-CN" altLang="en-US" sz="1200" i="1">
                                        <a:latin typeface="Cambria Math" panose="02040503050406030204" pitchFamily="18" charset="0"/>
                                      </a:rPr>
                                      <m:t>𝑘</m:t>
                                    </m:r>
                                    <m:r>
                                      <a:rPr lang="zh-CN" altLang="en-US" sz="1200" i="0">
                                        <a:latin typeface="Cambria Math" panose="02040503050406030204" pitchFamily="18" charset="0"/>
                                      </a:rPr>
                                      <m:t>−1</m:t>
                                    </m:r>
                                  </m:sup>
                                </m:sSubSup>
                              </m:den>
                            </m:f>
                            <m:r>
                              <a:rPr lang="zh-CN" altLang="en-US" sz="1200" i="0">
                                <a:latin typeface="Cambria Math" panose="02040503050406030204" pitchFamily="18" charset="0"/>
                              </a:rPr>
                              <m:t>⇒</m:t>
                            </m:r>
                            <m:f>
                              <m:fPr>
                                <m:ctrlPr>
                                  <a:rPr lang="zh-CN" altLang="en-US" sz="1200" i="1">
                                    <a:latin typeface="Cambria Math" panose="02040503050406030204" pitchFamily="18" charset="0"/>
                                  </a:rPr>
                                </m:ctrlPr>
                              </m:fPr>
                              <m:num>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0">
                                        <a:latin typeface="Cambria Math" panose="02040503050406030204" pitchFamily="18" charset="0"/>
                                      </a:rPr>
                                      <m:t>4</m:t>
                                    </m:r>
                                  </m:sub>
                                </m:sSub>
                              </m:num>
                              <m:den>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0">
                                        <a:latin typeface="Cambria Math" panose="02040503050406030204" pitchFamily="18" charset="0"/>
                                      </a:rPr>
                                      <m:t>1</m:t>
                                    </m:r>
                                  </m:sub>
                                </m:sSub>
                              </m:den>
                            </m:f>
                            <m:r>
                              <a:rPr lang="zh-CN" altLang="en-US" sz="1200" i="0">
                                <a:latin typeface="Cambria Math" panose="02040503050406030204" pitchFamily="18" charset="0"/>
                              </a:rPr>
                              <m:t>=</m:t>
                            </m:r>
                            <m:f>
                              <m:fPr>
                                <m:ctrlPr>
                                  <a:rPr lang="zh-CN" altLang="en-US" sz="1200" i="1">
                                    <a:latin typeface="Cambria Math" panose="02040503050406030204" pitchFamily="18" charset="0"/>
                                  </a:rPr>
                                </m:ctrlPr>
                              </m:fPr>
                              <m:num>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0">
                                        <a:latin typeface="Cambria Math" panose="02040503050406030204" pitchFamily="18" charset="0"/>
                                      </a:rPr>
                                      <m:t>3</m:t>
                                    </m:r>
                                  </m:sub>
                                </m:sSub>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𝑉</m:t>
                                    </m:r>
                                  </m:e>
                                  <m:sub>
                                    <m:r>
                                      <a:rPr lang="zh-CN" altLang="en-US" sz="1200" i="0">
                                        <a:latin typeface="Cambria Math" panose="02040503050406030204" pitchFamily="18" charset="0"/>
                                      </a:rPr>
                                      <m:t>3</m:t>
                                    </m:r>
                                  </m:sub>
                                  <m:sup>
                                    <m:r>
                                      <a:rPr lang="zh-CN" altLang="en-US" sz="1200" i="1">
                                        <a:latin typeface="Cambria Math" panose="02040503050406030204" pitchFamily="18" charset="0"/>
                                      </a:rPr>
                                      <m:t>𝑘</m:t>
                                    </m:r>
                                    <m:r>
                                      <a:rPr lang="zh-CN" altLang="en-US" sz="1200" i="0">
                                        <a:latin typeface="Cambria Math" panose="02040503050406030204" pitchFamily="18" charset="0"/>
                                      </a:rPr>
                                      <m:t>−1</m:t>
                                    </m:r>
                                  </m:sup>
                                </m:sSubSup>
                              </m:num>
                              <m:den>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0">
                                        <a:latin typeface="Cambria Math" panose="02040503050406030204" pitchFamily="18" charset="0"/>
                                      </a:rPr>
                                      <m:t>2</m:t>
                                    </m:r>
                                  </m:sub>
                                </m:sSub>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𝑉</m:t>
                                    </m:r>
                                  </m:e>
                                  <m:sub>
                                    <m:r>
                                      <a:rPr lang="zh-CN" altLang="en-US" sz="1200" i="0">
                                        <a:latin typeface="Cambria Math" panose="02040503050406030204" pitchFamily="18" charset="0"/>
                                      </a:rPr>
                                      <m:t>2</m:t>
                                    </m:r>
                                  </m:sub>
                                  <m:sup>
                                    <m:r>
                                      <a:rPr lang="zh-CN" altLang="en-US" sz="1200" i="1">
                                        <a:latin typeface="Cambria Math" panose="02040503050406030204" pitchFamily="18" charset="0"/>
                                      </a:rPr>
                                      <m:t>𝑘</m:t>
                                    </m:r>
                                    <m:r>
                                      <a:rPr lang="zh-CN" altLang="en-US" sz="1200" i="0">
                                        <a:latin typeface="Cambria Math" panose="02040503050406030204" pitchFamily="18" charset="0"/>
                                      </a:rPr>
                                      <m:t>−1</m:t>
                                    </m:r>
                                  </m:sup>
                                </m:sSubSup>
                              </m:den>
                            </m:f>
                            <m:r>
                              <a:rPr lang="zh-CN" altLang="en-US" sz="1200" i="0">
                                <a:latin typeface="Cambria Math" panose="02040503050406030204" pitchFamily="18" charset="0"/>
                              </a:rPr>
                              <m:t>⇒</m:t>
                            </m:r>
                            <m:f>
                              <m:fPr>
                                <m:ctrlPr>
                                  <a:rPr lang="zh-CN" altLang="en-US" sz="1200" i="1">
                                    <a:latin typeface="Cambria Math" panose="02040503050406030204" pitchFamily="18" charset="0"/>
                                  </a:rPr>
                                </m:ctrlPr>
                              </m:fPr>
                              <m:num>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0">
                                        <a:latin typeface="Cambria Math" panose="02040503050406030204" pitchFamily="18" charset="0"/>
                                      </a:rPr>
                                      <m:t>4</m:t>
                                    </m:r>
                                  </m:sub>
                                </m:sSub>
                              </m:num>
                              <m:den>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0">
                                        <a:latin typeface="Cambria Math" panose="02040503050406030204" pitchFamily="18" charset="0"/>
                                      </a:rPr>
                                      <m:t>1</m:t>
                                    </m:r>
                                  </m:sub>
                                </m:sSub>
                              </m:den>
                            </m:f>
                            <m:r>
                              <a:rPr lang="zh-CN" altLang="en-US" sz="1200" i="0">
                                <a:latin typeface="Cambria Math" panose="02040503050406030204" pitchFamily="18" charset="0"/>
                              </a:rPr>
                              <m:t>=</m:t>
                            </m:r>
                            <m:f>
                              <m:fPr>
                                <m:ctrlPr>
                                  <a:rPr lang="zh-CN" altLang="en-US" sz="1200" i="1">
                                    <a:latin typeface="Cambria Math" panose="02040503050406030204" pitchFamily="18" charset="0"/>
                                  </a:rPr>
                                </m:ctrlPr>
                              </m:fPr>
                              <m:num>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0">
                                        <a:latin typeface="Cambria Math" panose="02040503050406030204" pitchFamily="18" charset="0"/>
                                      </a:rPr>
                                      <m:t>3</m:t>
                                    </m:r>
                                  </m:sub>
                                </m:sSub>
                              </m:num>
                              <m:den>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0">
                                        <a:latin typeface="Cambria Math" panose="02040503050406030204" pitchFamily="18" charset="0"/>
                                      </a:rPr>
                                      <m:t>2</m:t>
                                    </m:r>
                                  </m:sub>
                                </m:sSub>
                              </m:den>
                            </m:f>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𝑟</m:t>
                                </m:r>
                              </m:e>
                              <m:sub>
                                <m:r>
                                  <a:rPr lang="zh-CN" altLang="en-US" sz="1200" i="1">
                                    <a:latin typeface="Cambria Math" panose="02040503050406030204" pitchFamily="18" charset="0"/>
                                  </a:rPr>
                                  <m:t>𝑐</m:t>
                                </m:r>
                              </m:sub>
                              <m:sup>
                                <m:r>
                                  <a:rPr lang="zh-CN" altLang="en-US" sz="1200" i="1">
                                    <a:latin typeface="Cambria Math" panose="02040503050406030204" pitchFamily="18" charset="0"/>
                                  </a:rPr>
                                  <m:t>𝑘</m:t>
                                </m:r>
                                <m:r>
                                  <a:rPr lang="zh-CN" altLang="en-US" sz="1200" i="0">
                                    <a:latin typeface="Cambria Math" panose="02040503050406030204" pitchFamily="18" charset="0"/>
                                  </a:rPr>
                                  <m:t>−1</m:t>
                                </m:r>
                              </m:sup>
                            </m:sSubSup>
                          </m:e>
                        </m:mr>
                      </m:m>
                    </m:oMath>
                  </m:oMathPara>
                </a14:m>
                <a:endParaRPr lang="zh-CN" altLang="en-US" sz="1200" dirty="0"/>
              </a:p>
            </p:txBody>
          </p:sp>
        </mc:Choice>
        <mc:Fallback xmlns="">
          <p:sp>
            <p:nvSpPr>
              <p:cNvPr id="24" name="矩形 23"/>
              <p:cNvSpPr>
                <a:spLocks noRot="1" noChangeAspect="1" noMove="1" noResize="1" noEditPoints="1" noAdjustHandles="1" noChangeArrowheads="1" noChangeShapeType="1" noTextEdit="1"/>
              </p:cNvSpPr>
              <p:nvPr/>
            </p:nvSpPr>
            <p:spPr>
              <a:xfrm>
                <a:off x="536542" y="2962619"/>
                <a:ext cx="3457741" cy="957826"/>
              </a:xfrm>
              <a:prstGeom prst="rect">
                <a:avLst/>
              </a:prstGeom>
              <a:blipFill rotWithShape="0">
                <a:blip r:embed="rId7"/>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70361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9575" y="1563007"/>
            <a:ext cx="3783426" cy="35761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14"/>
          <p:cNvSpPr txBox="1"/>
          <p:nvPr/>
        </p:nvSpPr>
        <p:spPr>
          <a:xfrm>
            <a:off x="4451401" y="2888400"/>
            <a:ext cx="4545012" cy="1569660"/>
          </a:xfrm>
          <a:prstGeom prst="rect">
            <a:avLst/>
          </a:prstGeom>
          <a:noFill/>
        </p:spPr>
        <p:txBody>
          <a:bodyPr wrap="square" rtlCol="0">
            <a:spAutoFit/>
          </a:bodyPr>
          <a:lstStyle/>
          <a:p>
            <a:r>
              <a:rPr lang="en-US" altLang="zh-CN" sz="2400" dirty="0"/>
              <a:t>With same r, </a:t>
            </a:r>
          </a:p>
          <a:p>
            <a:r>
              <a:rPr lang="el-GR" altLang="zh-CN" sz="2400" dirty="0"/>
              <a:t>η</a:t>
            </a:r>
            <a:r>
              <a:rPr lang="en-US" altLang="zh-CN" sz="2400" baseline="-25000" dirty="0" err="1"/>
              <a:t>th,Otto</a:t>
            </a:r>
            <a:r>
              <a:rPr lang="en-US" altLang="zh-CN" sz="2400" dirty="0"/>
              <a:t> &gt;  </a:t>
            </a:r>
            <a:r>
              <a:rPr lang="el-GR" altLang="zh-CN" sz="2400" dirty="0"/>
              <a:t>η</a:t>
            </a:r>
            <a:r>
              <a:rPr lang="en-US" altLang="zh-CN" sz="2400" baseline="-25000" dirty="0" err="1"/>
              <a:t>th</a:t>
            </a:r>
            <a:r>
              <a:rPr lang="en-US" altLang="zh-CN" sz="2400" baseline="-25000" dirty="0"/>
              <a:t>, Diesel</a:t>
            </a:r>
            <a:endParaRPr lang="en-US" altLang="zh-CN" sz="2400" dirty="0"/>
          </a:p>
          <a:p>
            <a:r>
              <a:rPr lang="en-US" altLang="zh-CN" sz="2400" dirty="0"/>
              <a:t> </a:t>
            </a:r>
            <a:r>
              <a:rPr lang="en-US" altLang="zh-CN" sz="2400" dirty="0" err="1"/>
              <a:t>r</a:t>
            </a:r>
            <a:r>
              <a:rPr lang="en-US" altLang="zh-CN" sz="2400" baseline="-25000" dirty="0" err="1"/>
              <a:t>c</a:t>
            </a:r>
            <a:r>
              <a:rPr lang="en-US" altLang="zh-CN" sz="2400" dirty="0"/>
              <a:t> </a:t>
            </a:r>
            <a:r>
              <a:rPr lang="en-US" altLang="zh-CN" sz="2400" dirty="0">
                <a:sym typeface="Symbol"/>
              </a:rPr>
              <a:t>, </a:t>
            </a:r>
            <a:r>
              <a:rPr lang="el-GR" altLang="zh-CN" sz="2400" dirty="0"/>
              <a:t>η</a:t>
            </a:r>
            <a:r>
              <a:rPr lang="en-US" altLang="zh-CN" sz="2400" baseline="-25000" dirty="0" err="1"/>
              <a:t>th</a:t>
            </a:r>
            <a:r>
              <a:rPr lang="en-US" altLang="zh-CN" sz="2400" baseline="-25000" dirty="0"/>
              <a:t>, Diesel</a:t>
            </a:r>
            <a:r>
              <a:rPr lang="en-US" altLang="zh-CN" sz="2400" dirty="0"/>
              <a:t> </a:t>
            </a:r>
            <a:r>
              <a:rPr lang="en-US" altLang="zh-CN" sz="2400" dirty="0">
                <a:sym typeface="Symbol"/>
              </a:rPr>
              <a:t></a:t>
            </a:r>
          </a:p>
          <a:p>
            <a:r>
              <a:rPr lang="en-US" altLang="zh-CN" sz="2400" dirty="0"/>
              <a:t> </a:t>
            </a:r>
            <a:r>
              <a:rPr lang="en-US" altLang="zh-CN" sz="2400" dirty="0" err="1"/>
              <a:t>r</a:t>
            </a:r>
            <a:r>
              <a:rPr lang="en-US" altLang="zh-CN" sz="2400" baseline="-25000" dirty="0" err="1"/>
              <a:t>c</a:t>
            </a:r>
            <a:r>
              <a:rPr lang="en-US" altLang="zh-CN" sz="2400" dirty="0"/>
              <a:t> </a:t>
            </a:r>
            <a:r>
              <a:rPr lang="en-US" altLang="zh-CN" sz="2400" dirty="0">
                <a:sym typeface="Symbol"/>
              </a:rPr>
              <a:t>= 1, </a:t>
            </a:r>
            <a:r>
              <a:rPr lang="el-GR" altLang="zh-CN" sz="2400" dirty="0"/>
              <a:t>η</a:t>
            </a:r>
            <a:r>
              <a:rPr lang="en-US" altLang="zh-CN" sz="2400" baseline="-25000" dirty="0" err="1"/>
              <a:t>th,Otto</a:t>
            </a:r>
            <a:r>
              <a:rPr lang="en-US" altLang="zh-CN" sz="2400" dirty="0"/>
              <a:t> =  </a:t>
            </a:r>
            <a:r>
              <a:rPr lang="el-GR" altLang="zh-CN" sz="2400" dirty="0"/>
              <a:t>η</a:t>
            </a:r>
            <a:r>
              <a:rPr lang="en-US" altLang="zh-CN" sz="2400" baseline="-25000" dirty="0" err="1"/>
              <a:t>th</a:t>
            </a:r>
            <a:r>
              <a:rPr lang="en-US" altLang="zh-CN" sz="2400" baseline="-25000" dirty="0"/>
              <a:t>, Diesel</a:t>
            </a:r>
            <a:endParaRPr lang="en-US" altLang="zh-CN" sz="2400" dirty="0">
              <a:sym typeface="Symbol"/>
            </a:endParaRPr>
          </a:p>
        </p:txBody>
      </p:sp>
      <p:pic>
        <p:nvPicPr>
          <p:cNvPr id="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87299" y="1756207"/>
            <a:ext cx="3724275" cy="923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itle 1"/>
          <p:cNvSpPr txBox="1">
            <a:spLocks/>
          </p:cNvSpPr>
          <p:nvPr/>
        </p:nvSpPr>
        <p:spPr bwMode="auto">
          <a:xfrm>
            <a:off x="1010873" y="64800"/>
            <a:ext cx="4950727" cy="827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sz="2800" b="1" dirty="0">
                <a:solidFill>
                  <a:srgbClr val="FF0000"/>
                </a:solidFill>
                <a:effectLst>
                  <a:outerShdw blurRad="38100" dist="38100" dir="2700000" algn="tl">
                    <a:srgbClr val="000000">
                      <a:alpha val="43137"/>
                    </a:srgbClr>
                  </a:outerShdw>
                </a:effectLst>
                <a:latin typeface="Arial" charset="0"/>
                <a:cs typeface="Arial" charset="0"/>
              </a:rPr>
              <a:t>Diesel Cycle </a:t>
            </a:r>
          </a:p>
          <a:p>
            <a:r>
              <a:rPr lang="en-US" altLang="zh-CN" sz="2400" b="1" dirty="0">
                <a:solidFill>
                  <a:srgbClr val="FF0000"/>
                </a:solidFill>
                <a:effectLst>
                  <a:outerShdw blurRad="38100" dist="38100" dir="2700000" algn="tl">
                    <a:srgbClr val="000000">
                      <a:alpha val="43137"/>
                    </a:srgbClr>
                  </a:outerShdw>
                </a:effectLst>
                <a:latin typeface="Arial" charset="0"/>
                <a:cs typeface="Arial" charset="0"/>
              </a:rPr>
              <a:t>——Combustion-Ignition Engine</a:t>
            </a:r>
            <a:endParaRPr lang="en-US" sz="2400" dirty="0">
              <a:solidFill>
                <a:srgbClr val="FF0000"/>
              </a:solidFill>
            </a:endParaRPr>
          </a:p>
        </p:txBody>
      </p:sp>
    </p:spTree>
    <p:extLst>
      <p:ext uri="{BB962C8B-B14F-4D97-AF65-F5344CB8AC3E}">
        <p14:creationId xmlns:p14="http://schemas.microsoft.com/office/powerpoint/2010/main" val="28094311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248074" y="-76200"/>
            <a:ext cx="7324760" cy="1208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b="1" dirty="0">
                <a:solidFill>
                  <a:srgbClr val="FF0000"/>
                </a:solidFill>
                <a:effectLst>
                  <a:outerShdw blurRad="38100" dist="38100" dir="2700000" algn="tl">
                    <a:srgbClr val="000000">
                      <a:alpha val="43137"/>
                    </a:srgbClr>
                  </a:outerShdw>
                </a:effectLst>
                <a:latin typeface="Arial" charset="0"/>
                <a:cs typeface="Arial" charset="0"/>
              </a:rPr>
              <a:t>Diesel Cycle </a:t>
            </a:r>
          </a:p>
          <a:p>
            <a:r>
              <a:rPr lang="en-US" altLang="zh-CN" sz="2800" b="1" dirty="0">
                <a:solidFill>
                  <a:srgbClr val="FF0000"/>
                </a:solidFill>
                <a:effectLst>
                  <a:outerShdw blurRad="38100" dist="38100" dir="2700000" algn="tl">
                    <a:srgbClr val="000000">
                      <a:alpha val="43137"/>
                    </a:srgbClr>
                  </a:outerShdw>
                </a:effectLst>
                <a:latin typeface="Arial" charset="0"/>
                <a:cs typeface="Arial" charset="0"/>
              </a:rPr>
              <a:t>High speed Combustion-Ignition Engine</a:t>
            </a:r>
            <a:endParaRPr lang="en-US" sz="2800" dirty="0">
              <a:solidFill>
                <a:srgbClr val="FF0000"/>
              </a:solidFill>
            </a:endParaRPr>
          </a:p>
        </p:txBody>
      </p:sp>
      <p:sp>
        <p:nvSpPr>
          <p:cNvPr id="16" name="Slide Number Placeholder 3"/>
          <p:cNvSpPr>
            <a:spLocks noGrp="1"/>
          </p:cNvSpPr>
          <p:nvPr>
            <p:ph type="sldNum" sz="quarter" idx="4294967295"/>
          </p:nvPr>
        </p:nvSpPr>
        <p:spPr>
          <a:xfrm>
            <a:off x="7010400" y="6492875"/>
            <a:ext cx="2133600" cy="365125"/>
          </a:xfrm>
        </p:spPr>
        <p:txBody>
          <a:bodyPr/>
          <a:lstStyle/>
          <a:p>
            <a:r>
              <a:rPr lang="en-US" dirty="0"/>
              <a:t>SUSTC  |  </a:t>
            </a:r>
            <a:fld id="{C915B95C-5458-41FC-90FC-CACA4B5603FB}" type="slidenum">
              <a:rPr lang="en-US" smtClean="0"/>
              <a:pPr/>
              <a:t>31</a:t>
            </a:fld>
            <a:endParaRPr lang="en-US" dirty="0"/>
          </a:p>
        </p:txBody>
      </p:sp>
      <p:sp>
        <p:nvSpPr>
          <p:cNvPr id="13" name="TextBox 12"/>
          <p:cNvSpPr txBox="1"/>
          <p:nvPr/>
        </p:nvSpPr>
        <p:spPr>
          <a:xfrm>
            <a:off x="194010" y="5278730"/>
            <a:ext cx="8790306" cy="923330"/>
          </a:xfrm>
          <a:prstGeom prst="rect">
            <a:avLst/>
          </a:prstGeom>
          <a:noFill/>
        </p:spPr>
        <p:txBody>
          <a:bodyPr wrap="square" rtlCol="0">
            <a:spAutoFit/>
          </a:bodyPr>
          <a:lstStyle/>
          <a:p>
            <a:r>
              <a:rPr lang="en-US" altLang="zh-CN" sz="1800" dirty="0"/>
              <a:t>Advantages of diesel engines: much higher r → much higher </a:t>
            </a:r>
            <a:r>
              <a:rPr lang="el-GR" altLang="zh-CN" sz="1800" dirty="0"/>
              <a:t>η</a:t>
            </a:r>
            <a:r>
              <a:rPr lang="en-US" altLang="zh-CN" sz="1800" dirty="0"/>
              <a:t> (35-40%)</a:t>
            </a:r>
          </a:p>
          <a:p>
            <a:r>
              <a:rPr lang="en-US" altLang="zh-CN" sz="1800" dirty="0"/>
              <a:t>     Burn fuel more completely: lower revolution/cycle, higher air-fuel ratios</a:t>
            </a:r>
          </a:p>
          <a:p>
            <a:r>
              <a:rPr lang="en-US" altLang="zh-CN" sz="1800" dirty="0"/>
              <a:t>Applications requiring large amount of power: locomotive, large ships, heavy trucks</a:t>
            </a:r>
          </a:p>
        </p:txBody>
      </p:sp>
      <p:pic>
        <p:nvPicPr>
          <p:cNvPr id="11264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575" y="1582505"/>
            <a:ext cx="3602825" cy="34054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36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50728" y="1723819"/>
            <a:ext cx="3450272" cy="32289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TextBox 13"/>
          <p:cNvSpPr txBox="1"/>
          <p:nvPr/>
        </p:nvSpPr>
        <p:spPr>
          <a:xfrm>
            <a:off x="4910454" y="3968802"/>
            <a:ext cx="2069466" cy="369332"/>
          </a:xfrm>
          <a:prstGeom prst="rect">
            <a:avLst/>
          </a:prstGeom>
          <a:noFill/>
        </p:spPr>
        <p:txBody>
          <a:bodyPr wrap="square" rtlCol="0">
            <a:spAutoFit/>
          </a:bodyPr>
          <a:lstStyle/>
          <a:p>
            <a:r>
              <a:rPr lang="en-US" altLang="zh-CN" sz="1800" b="1" dirty="0"/>
              <a:t>Ideal dual cycle</a:t>
            </a:r>
          </a:p>
        </p:txBody>
      </p:sp>
    </p:spTree>
    <p:extLst>
      <p:ext uri="{BB962C8B-B14F-4D97-AF65-F5344CB8AC3E}">
        <p14:creationId xmlns:p14="http://schemas.microsoft.com/office/powerpoint/2010/main" val="17882837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2723" y="986531"/>
            <a:ext cx="2675441" cy="1780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矩形 6"/>
          <p:cNvSpPr/>
          <p:nvPr/>
        </p:nvSpPr>
        <p:spPr>
          <a:xfrm>
            <a:off x="672723" y="2749748"/>
            <a:ext cx="3048000" cy="923330"/>
          </a:xfrm>
          <a:prstGeom prst="rect">
            <a:avLst/>
          </a:prstGeom>
        </p:spPr>
        <p:txBody>
          <a:bodyPr wrap="square">
            <a:spAutoFit/>
          </a:bodyPr>
          <a:lstStyle/>
          <a:p>
            <a:r>
              <a:rPr lang="en-US" altLang="zh-CN" dirty="0"/>
              <a:t>The 1860 Lenoir Engine, ran on illuminating gas at 4% efficiency</a:t>
            </a:r>
            <a:endParaRPr lang="zh-CN" altLang="en-US" dirty="0"/>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4982" y="804446"/>
            <a:ext cx="2905126" cy="2033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矩形 8"/>
          <p:cNvSpPr/>
          <p:nvPr/>
        </p:nvSpPr>
        <p:spPr>
          <a:xfrm>
            <a:off x="4101726" y="2767371"/>
            <a:ext cx="3082692" cy="646331"/>
          </a:xfrm>
          <a:prstGeom prst="rect">
            <a:avLst/>
          </a:prstGeom>
        </p:spPr>
        <p:txBody>
          <a:bodyPr wrap="square">
            <a:spAutoFit/>
          </a:bodyPr>
          <a:lstStyle/>
          <a:p>
            <a:r>
              <a:rPr lang="en-US" altLang="zh-CN" dirty="0"/>
              <a:t>A 1880s era Otto Engine for Stationary Use</a:t>
            </a:r>
            <a:endParaRPr lang="zh-CN" altLang="en-US" dirty="0"/>
          </a:p>
        </p:txBody>
      </p:sp>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025" y="3995654"/>
            <a:ext cx="2847975" cy="189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矩形 9"/>
          <p:cNvSpPr/>
          <p:nvPr/>
        </p:nvSpPr>
        <p:spPr>
          <a:xfrm>
            <a:off x="428025" y="5976170"/>
            <a:ext cx="3112617" cy="584775"/>
          </a:xfrm>
          <a:prstGeom prst="rect">
            <a:avLst/>
          </a:prstGeom>
        </p:spPr>
        <p:txBody>
          <a:bodyPr wrap="square">
            <a:spAutoFit/>
          </a:bodyPr>
          <a:lstStyle/>
          <a:p>
            <a:r>
              <a:rPr lang="en-US" altLang="zh-CN" sz="1600" dirty="0"/>
              <a:t>1885 Daimler's Petroleum </a:t>
            </a:r>
            <a:r>
              <a:rPr lang="en-US" altLang="zh-CN" sz="1600" dirty="0" err="1"/>
              <a:t>Reitwagen</a:t>
            </a:r>
            <a:endParaRPr lang="zh-CN" altLang="en-US" sz="1600" dirty="0"/>
          </a:p>
        </p:txBody>
      </p:sp>
      <p:sp>
        <p:nvSpPr>
          <p:cNvPr id="11" name="TextBox 10"/>
          <p:cNvSpPr txBox="1"/>
          <p:nvPr/>
        </p:nvSpPr>
        <p:spPr>
          <a:xfrm>
            <a:off x="1053713" y="108305"/>
            <a:ext cx="3002745" cy="523220"/>
          </a:xfrm>
          <a:prstGeom prst="rect">
            <a:avLst/>
          </a:prstGeom>
          <a:noFill/>
        </p:spPr>
        <p:txBody>
          <a:bodyPr wrap="none" rtlCol="0">
            <a:spAutoFit/>
          </a:bodyPr>
          <a:lstStyle/>
          <a:p>
            <a:r>
              <a:rPr lang="en-US" altLang="zh-CN" sz="2800" dirty="0">
                <a:solidFill>
                  <a:srgbClr val="FF0000"/>
                </a:solidFill>
              </a:rPr>
              <a:t>Otto and Daimler </a:t>
            </a:r>
            <a:endParaRPr lang="zh-CN" altLang="en-US" sz="2800" dirty="0">
              <a:solidFill>
                <a:srgbClr val="FF0000"/>
              </a:solidFill>
            </a:endParaRPr>
          </a:p>
        </p:txBody>
      </p:sp>
      <p:pic>
        <p:nvPicPr>
          <p:cNvPr id="1031" name="Picture 7" descr="1885 Benz Tri-Ca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11152" y="4116119"/>
            <a:ext cx="2473266" cy="1948934"/>
          </a:xfrm>
          <a:prstGeom prst="rect">
            <a:avLst/>
          </a:prstGeom>
          <a:noFill/>
          <a:extLst>
            <a:ext uri="{909E8E84-426E-40DD-AFC4-6F175D3DCCD1}">
              <a14:hiddenFill xmlns:a14="http://schemas.microsoft.com/office/drawing/2010/main">
                <a:solidFill>
                  <a:srgbClr val="FFFFFF"/>
                </a:solidFill>
              </a14:hiddenFill>
            </a:ext>
          </a:extLst>
        </p:spPr>
      </p:pic>
      <p:sp>
        <p:nvSpPr>
          <p:cNvPr id="13" name="矩形 12"/>
          <p:cNvSpPr/>
          <p:nvPr/>
        </p:nvSpPr>
        <p:spPr>
          <a:xfrm>
            <a:off x="4480973" y="6065053"/>
            <a:ext cx="3001143" cy="338554"/>
          </a:xfrm>
          <a:prstGeom prst="rect">
            <a:avLst/>
          </a:prstGeom>
        </p:spPr>
        <p:txBody>
          <a:bodyPr wrap="none">
            <a:spAutoFit/>
          </a:bodyPr>
          <a:lstStyle/>
          <a:p>
            <a:r>
              <a:rPr lang="en-US" altLang="zh-CN" sz="1600" b="1" dirty="0"/>
              <a:t>1885 </a:t>
            </a:r>
            <a:r>
              <a:rPr lang="en-US" altLang="zh-CN" sz="1600" dirty="0"/>
              <a:t>Benz Patent </a:t>
            </a:r>
            <a:r>
              <a:rPr lang="en-US" altLang="zh-CN" sz="1600" dirty="0" err="1"/>
              <a:t>Motorwagen</a:t>
            </a:r>
            <a:endParaRPr lang="zh-CN" altLang="en-US" sz="1600" dirty="0"/>
          </a:p>
        </p:txBody>
      </p:sp>
    </p:spTree>
    <p:extLst>
      <p:ext uri="{BB962C8B-B14F-4D97-AF65-F5344CB8AC3E}">
        <p14:creationId xmlns:p14="http://schemas.microsoft.com/office/powerpoint/2010/main" val="24280546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916" y="1190159"/>
            <a:ext cx="1380173"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1559902" y="1096963"/>
            <a:ext cx="4350346" cy="1938992"/>
          </a:xfrm>
          <a:prstGeom prst="rect">
            <a:avLst/>
          </a:prstGeom>
        </p:spPr>
        <p:txBody>
          <a:bodyPr wrap="square">
            <a:spAutoFit/>
          </a:bodyPr>
          <a:lstStyle/>
          <a:p>
            <a:r>
              <a:rPr lang="en-US" altLang="zh-CN" sz="1200" dirty="0"/>
              <a:t>1862 First experiments with four-stroke engines</a:t>
            </a:r>
          </a:p>
          <a:p>
            <a:r>
              <a:rPr lang="en-US" altLang="zh-CN" sz="1200" dirty="0"/>
              <a:t>1864 Establishing the first engine factory in the world: </a:t>
            </a:r>
            <a:r>
              <a:rPr lang="en-US" altLang="zh-CN" sz="1200" i="1" dirty="0"/>
              <a:t>NA Otto </a:t>
            </a:r>
            <a:r>
              <a:rPr lang="en-US" altLang="zh-CN" sz="1200" i="1" dirty="0" err="1"/>
              <a:t>Cie</a:t>
            </a:r>
            <a:endParaRPr lang="en-US" altLang="zh-CN" sz="1200" dirty="0"/>
          </a:p>
          <a:p>
            <a:r>
              <a:rPr lang="en-US" altLang="zh-CN" sz="1200" dirty="0"/>
              <a:t>1867 Gold Medal of the World Exhibition in Paris for the gas engine</a:t>
            </a:r>
          </a:p>
          <a:p>
            <a:r>
              <a:rPr lang="en-US" altLang="zh-CN" sz="1200" dirty="0"/>
              <a:t>1869 The company relocates and changes its name to </a:t>
            </a:r>
            <a:r>
              <a:rPr lang="en-US" altLang="zh-CN" sz="1200" i="1" dirty="0" err="1"/>
              <a:t>Langen</a:t>
            </a:r>
            <a:r>
              <a:rPr lang="en-US" altLang="zh-CN" sz="1200" i="1" dirty="0"/>
              <a:t>, Otto, and </a:t>
            </a:r>
            <a:r>
              <a:rPr lang="en-US" altLang="zh-CN" sz="1200" i="1" dirty="0" err="1"/>
              <a:t>Roosen</a:t>
            </a:r>
            <a:endParaRPr lang="en-US" altLang="zh-CN" sz="1200" dirty="0"/>
          </a:p>
          <a:p>
            <a:r>
              <a:rPr lang="en-US" altLang="zh-CN" sz="1200" dirty="0"/>
              <a:t>1872 The company relocates to larger facilities and changes it name to </a:t>
            </a:r>
            <a:r>
              <a:rPr lang="en-US" altLang="zh-CN" sz="1200" i="1" dirty="0" err="1"/>
              <a:t>Deutz</a:t>
            </a:r>
            <a:r>
              <a:rPr lang="en-US" altLang="zh-CN" sz="1200" i="1" dirty="0"/>
              <a:t> </a:t>
            </a:r>
            <a:r>
              <a:rPr lang="en-US" altLang="zh-CN" sz="1200" i="1" dirty="0" err="1"/>
              <a:t>Gasmotoren</a:t>
            </a:r>
            <a:r>
              <a:rPr lang="en-US" altLang="zh-CN" sz="1200" i="1" dirty="0"/>
              <a:t> </a:t>
            </a:r>
            <a:r>
              <a:rPr lang="en-US" altLang="zh-CN" sz="1200" i="1" dirty="0" err="1"/>
              <a:t>Fabrik</a:t>
            </a:r>
            <a:endParaRPr lang="en-US" altLang="zh-CN" sz="1200" dirty="0"/>
          </a:p>
          <a:p>
            <a:r>
              <a:rPr lang="en-US" altLang="zh-CN" sz="1200" dirty="0"/>
              <a:t>1876 Development of four-stroke engine (Otto-motor)</a:t>
            </a:r>
          </a:p>
          <a:p>
            <a:r>
              <a:rPr lang="en-US" altLang="zh-CN" sz="1200" dirty="0"/>
              <a:t>1882 Production of the Atmospheric engine is discontinued after 2649 were made</a:t>
            </a:r>
          </a:p>
        </p:txBody>
      </p:sp>
      <p:sp>
        <p:nvSpPr>
          <p:cNvPr id="4" name="AutoShape 4" descr="Image result for Deut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205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34200" y="1226832"/>
            <a:ext cx="1952625" cy="1952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4"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575" y="4079960"/>
            <a:ext cx="1404327"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p:cNvSpPr/>
          <p:nvPr/>
        </p:nvSpPr>
        <p:spPr>
          <a:xfrm>
            <a:off x="1653672" y="3927560"/>
            <a:ext cx="4670928" cy="2246769"/>
          </a:xfrm>
          <a:prstGeom prst="rect">
            <a:avLst/>
          </a:prstGeom>
        </p:spPr>
        <p:txBody>
          <a:bodyPr wrap="square">
            <a:spAutoFit/>
          </a:bodyPr>
          <a:lstStyle/>
          <a:p>
            <a:r>
              <a:rPr lang="en-US" altLang="zh-CN" sz="1400" dirty="0"/>
              <a:t>1882, Independent inventor of small, high speed engines</a:t>
            </a:r>
          </a:p>
          <a:p>
            <a:r>
              <a:rPr lang="en-US" altLang="zh-CN" sz="1400" dirty="0"/>
              <a:t>1883, Daimler and </a:t>
            </a:r>
            <a:r>
              <a:rPr lang="en-US" altLang="zh-CN" sz="1400" dirty="0" err="1"/>
              <a:t>Maybach</a:t>
            </a:r>
            <a:r>
              <a:rPr lang="en-US" altLang="zh-CN" sz="1400" dirty="0"/>
              <a:t> patented the first of their engines fueled by </a:t>
            </a:r>
            <a:r>
              <a:rPr lang="en-US" altLang="zh-CN" sz="1400" dirty="0">
                <a:hlinkClick r:id="rId5" tooltip="Ligroin"/>
              </a:rPr>
              <a:t>ligroin</a:t>
            </a:r>
            <a:endParaRPr lang="en-US" altLang="zh-CN" sz="1400" dirty="0"/>
          </a:p>
          <a:p>
            <a:r>
              <a:rPr lang="en-US" altLang="zh-CN" sz="1400" dirty="0"/>
              <a:t>1885 Grandfather clock engine</a:t>
            </a:r>
          </a:p>
          <a:p>
            <a:r>
              <a:rPr lang="en-US" altLang="zh-CN" sz="1400" dirty="0"/>
              <a:t>1886 First automobile , </a:t>
            </a:r>
            <a:r>
              <a:rPr lang="en-US" altLang="zh-CN" sz="1400" b="1" dirty="0">
                <a:solidFill>
                  <a:srgbClr val="0033CC"/>
                </a:solidFill>
              </a:rPr>
              <a:t>Carl Benz and Gottlieb Daimler </a:t>
            </a:r>
            <a:r>
              <a:rPr lang="en-US" altLang="zh-CN" sz="1400" dirty="0"/>
              <a:t>each produced an automobile in 1886, both in Germany, about 60 miles apart</a:t>
            </a:r>
          </a:p>
          <a:p>
            <a:r>
              <a:rPr lang="en-US" altLang="zh-CN" sz="1400" dirty="0"/>
              <a:t> 1926 Benz &amp; Cie. and Daimler </a:t>
            </a:r>
            <a:r>
              <a:rPr lang="en-US" altLang="zh-CN" sz="1400" dirty="0" err="1"/>
              <a:t>Motoren</a:t>
            </a:r>
            <a:r>
              <a:rPr lang="en-US" altLang="zh-CN" sz="1400" dirty="0"/>
              <a:t> </a:t>
            </a:r>
            <a:r>
              <a:rPr lang="en-US" altLang="zh-CN" sz="1400" dirty="0" err="1"/>
              <a:t>Gesellschaft</a:t>
            </a:r>
            <a:r>
              <a:rPr lang="en-US" altLang="zh-CN" sz="1400" dirty="0"/>
              <a:t> formally merged - becoming Daimler-Benz AG , Later the company ‘s name  was changed into Mercedes-Benz</a:t>
            </a:r>
          </a:p>
        </p:txBody>
      </p:sp>
      <p:sp>
        <p:nvSpPr>
          <p:cNvPr id="12" name="AutoShape 8" descr="Image result for Mercedes-Benz   logo"/>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2057"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15596" y="4419600"/>
            <a:ext cx="2276004" cy="1495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TextBox 16"/>
          <p:cNvSpPr txBox="1"/>
          <p:nvPr/>
        </p:nvSpPr>
        <p:spPr>
          <a:xfrm>
            <a:off x="1195871" y="160338"/>
            <a:ext cx="3002745" cy="523220"/>
          </a:xfrm>
          <a:prstGeom prst="rect">
            <a:avLst/>
          </a:prstGeom>
          <a:noFill/>
        </p:spPr>
        <p:txBody>
          <a:bodyPr wrap="none" rtlCol="0">
            <a:spAutoFit/>
          </a:bodyPr>
          <a:lstStyle/>
          <a:p>
            <a:r>
              <a:rPr lang="en-US" altLang="zh-CN" sz="2800" dirty="0">
                <a:solidFill>
                  <a:srgbClr val="FF0000"/>
                </a:solidFill>
              </a:rPr>
              <a:t>Otto and Daimler </a:t>
            </a:r>
            <a:endParaRPr lang="zh-CN" altLang="en-US" sz="2800" dirty="0">
              <a:solidFill>
                <a:srgbClr val="FF0000"/>
              </a:solidFill>
            </a:endParaRPr>
          </a:p>
        </p:txBody>
      </p:sp>
    </p:spTree>
    <p:extLst>
      <p:ext uri="{BB962C8B-B14F-4D97-AF65-F5344CB8AC3E}">
        <p14:creationId xmlns:p14="http://schemas.microsoft.com/office/powerpoint/2010/main" val="20562947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查看源图像">
            <a:extLst>
              <a:ext uri="{FF2B5EF4-FFF2-40B4-BE49-F238E27FC236}">
                <a16:creationId xmlns:a16="http://schemas.microsoft.com/office/drawing/2014/main" id="{16E9BE79-BF55-9B95-4033-4125AADBEE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9575" y="4383695"/>
            <a:ext cx="2276475" cy="673956"/>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a:extLst>
              <a:ext uri="{FF2B5EF4-FFF2-40B4-BE49-F238E27FC236}">
                <a16:creationId xmlns:a16="http://schemas.microsoft.com/office/drawing/2014/main" id="{796EE7EE-5537-611C-0CA7-5C26B3CE3969}"/>
              </a:ext>
            </a:extLst>
          </p:cNvPr>
          <p:cNvSpPr txBox="1"/>
          <p:nvPr/>
        </p:nvSpPr>
        <p:spPr>
          <a:xfrm>
            <a:off x="993814" y="3926495"/>
            <a:ext cx="1107996" cy="369332"/>
          </a:xfrm>
          <a:prstGeom prst="rect">
            <a:avLst/>
          </a:prstGeom>
          <a:noFill/>
        </p:spPr>
        <p:txBody>
          <a:bodyPr wrap="none" rtlCol="0">
            <a:spAutoFit/>
          </a:bodyPr>
          <a:lstStyle/>
          <a:p>
            <a:r>
              <a:rPr lang="zh-CN" altLang="en-US" dirty="0"/>
              <a:t>日本洋马</a:t>
            </a:r>
          </a:p>
        </p:txBody>
      </p:sp>
      <p:pic>
        <p:nvPicPr>
          <p:cNvPr id="5124" name="Picture 4" descr="查看源图像">
            <a:extLst>
              <a:ext uri="{FF2B5EF4-FFF2-40B4-BE49-F238E27FC236}">
                <a16:creationId xmlns:a16="http://schemas.microsoft.com/office/drawing/2014/main" id="{0C2FDDAD-F319-0DEF-0C40-3D84892E1A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4031068"/>
            <a:ext cx="1847850" cy="1026583"/>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2EA439E5-1FDD-6091-7F6A-A95B902CC64D}"/>
              </a:ext>
            </a:extLst>
          </p:cNvPr>
          <p:cNvSpPr txBox="1"/>
          <p:nvPr/>
        </p:nvSpPr>
        <p:spPr>
          <a:xfrm>
            <a:off x="4703802" y="4720673"/>
            <a:ext cx="1338828" cy="369332"/>
          </a:xfrm>
          <a:prstGeom prst="rect">
            <a:avLst/>
          </a:prstGeom>
          <a:noFill/>
        </p:spPr>
        <p:txBody>
          <a:bodyPr wrap="none" rtlCol="0">
            <a:spAutoFit/>
          </a:bodyPr>
          <a:lstStyle/>
          <a:p>
            <a:r>
              <a:rPr lang="zh-CN" altLang="en-US" dirty="0"/>
              <a:t>日本五十铃</a:t>
            </a:r>
          </a:p>
        </p:txBody>
      </p:sp>
      <p:pic>
        <p:nvPicPr>
          <p:cNvPr id="5126" name="Picture 6" descr="查看源图像">
            <a:extLst>
              <a:ext uri="{FF2B5EF4-FFF2-40B4-BE49-F238E27FC236}">
                <a16:creationId xmlns:a16="http://schemas.microsoft.com/office/drawing/2014/main" id="{26460DC9-A8C5-7883-59E1-35C37D2837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99589" y="3905126"/>
            <a:ext cx="1228026" cy="1152525"/>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33277232-0505-50D6-B602-D294CEC62440}"/>
              </a:ext>
            </a:extLst>
          </p:cNvPr>
          <p:cNvSpPr txBox="1"/>
          <p:nvPr/>
        </p:nvSpPr>
        <p:spPr>
          <a:xfrm>
            <a:off x="7624881" y="4720673"/>
            <a:ext cx="1338828" cy="646331"/>
          </a:xfrm>
          <a:prstGeom prst="rect">
            <a:avLst/>
          </a:prstGeom>
          <a:noFill/>
        </p:spPr>
        <p:txBody>
          <a:bodyPr wrap="none" rtlCol="0">
            <a:spAutoFit/>
          </a:bodyPr>
          <a:lstStyle/>
          <a:p>
            <a:r>
              <a:rPr lang="zh-CN" altLang="en-US" dirty="0"/>
              <a:t>美国康明斯</a:t>
            </a:r>
            <a:endParaRPr lang="en-US" altLang="zh-CN" dirty="0"/>
          </a:p>
          <a:p>
            <a:endParaRPr lang="zh-CN" altLang="en-US" dirty="0"/>
          </a:p>
        </p:txBody>
      </p:sp>
      <p:pic>
        <p:nvPicPr>
          <p:cNvPr id="5128" name="Picture 8" descr="潍柴动力">
            <a:extLst>
              <a:ext uri="{FF2B5EF4-FFF2-40B4-BE49-F238E27FC236}">
                <a16:creationId xmlns:a16="http://schemas.microsoft.com/office/drawing/2014/main" id="{791D43A8-BDBF-9D13-7797-B272E43F590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9930" y="1905202"/>
            <a:ext cx="2115763" cy="789885"/>
          </a:xfrm>
          <a:prstGeom prst="rect">
            <a:avLst/>
          </a:prstGeom>
          <a:noFill/>
          <a:extLst>
            <a:ext uri="{909E8E84-426E-40DD-AFC4-6F175D3DCCD1}">
              <a14:hiddenFill xmlns:a14="http://schemas.microsoft.com/office/drawing/2010/main">
                <a:solidFill>
                  <a:srgbClr val="FFFFFF"/>
                </a:solidFill>
              </a14:hiddenFill>
            </a:ext>
          </a:extLst>
        </p:spPr>
      </p:pic>
      <p:pic>
        <p:nvPicPr>
          <p:cNvPr id="5130" name="Picture 10" descr="玉柴集团">
            <a:extLst>
              <a:ext uri="{FF2B5EF4-FFF2-40B4-BE49-F238E27FC236}">
                <a16:creationId xmlns:a16="http://schemas.microsoft.com/office/drawing/2014/main" id="{B5466A28-FEA0-F3AB-A09F-3CFB1A9B34A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61395" y="1969935"/>
            <a:ext cx="2115855" cy="580823"/>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A1F1295A-25CE-55BE-781F-D497EACCDC1F}"/>
              </a:ext>
            </a:extLst>
          </p:cNvPr>
          <p:cNvSpPr txBox="1"/>
          <p:nvPr/>
        </p:nvSpPr>
        <p:spPr>
          <a:xfrm>
            <a:off x="918555" y="2739292"/>
            <a:ext cx="1107996" cy="369332"/>
          </a:xfrm>
          <a:prstGeom prst="rect">
            <a:avLst/>
          </a:prstGeom>
          <a:noFill/>
        </p:spPr>
        <p:txBody>
          <a:bodyPr wrap="none" rtlCol="0">
            <a:spAutoFit/>
          </a:bodyPr>
          <a:lstStyle/>
          <a:p>
            <a:r>
              <a:rPr lang="zh-CN" altLang="en-US" dirty="0"/>
              <a:t>上东潍柴</a:t>
            </a:r>
          </a:p>
        </p:txBody>
      </p:sp>
      <p:sp>
        <p:nvSpPr>
          <p:cNvPr id="6" name="文本框 5">
            <a:extLst>
              <a:ext uri="{FF2B5EF4-FFF2-40B4-BE49-F238E27FC236}">
                <a16:creationId xmlns:a16="http://schemas.microsoft.com/office/drawing/2014/main" id="{38D63108-A55C-F208-5959-33E825153235}"/>
              </a:ext>
            </a:extLst>
          </p:cNvPr>
          <p:cNvSpPr txBox="1"/>
          <p:nvPr/>
        </p:nvSpPr>
        <p:spPr>
          <a:xfrm>
            <a:off x="4109430" y="2695087"/>
            <a:ext cx="1107996" cy="369332"/>
          </a:xfrm>
          <a:prstGeom prst="rect">
            <a:avLst/>
          </a:prstGeom>
          <a:noFill/>
        </p:spPr>
        <p:txBody>
          <a:bodyPr wrap="none" rtlCol="0">
            <a:spAutoFit/>
          </a:bodyPr>
          <a:lstStyle/>
          <a:p>
            <a:r>
              <a:rPr lang="zh-CN" altLang="en-US" dirty="0"/>
              <a:t>广西潍柴</a:t>
            </a:r>
          </a:p>
        </p:txBody>
      </p:sp>
      <p:pic>
        <p:nvPicPr>
          <p:cNvPr id="5134" name="Picture 14" descr="查看源图像">
            <a:extLst>
              <a:ext uri="{FF2B5EF4-FFF2-40B4-BE49-F238E27FC236}">
                <a16:creationId xmlns:a16="http://schemas.microsoft.com/office/drawing/2014/main" id="{9D84FC05-4E06-A325-6613-13CF17EC11E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51918" y="1850910"/>
            <a:ext cx="1594014" cy="127023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3">
            <a:extLst>
              <a:ext uri="{FF2B5EF4-FFF2-40B4-BE49-F238E27FC236}">
                <a16:creationId xmlns:a16="http://schemas.microsoft.com/office/drawing/2014/main" id="{1DFC0475-4728-D74B-9014-8A1F5E2B7951}"/>
              </a:ext>
            </a:extLst>
          </p:cNvPr>
          <p:cNvSpPr txBox="1"/>
          <p:nvPr/>
        </p:nvSpPr>
        <p:spPr>
          <a:xfrm>
            <a:off x="1988856" y="236676"/>
            <a:ext cx="4924746" cy="523220"/>
          </a:xfrm>
          <a:prstGeom prst="rect">
            <a:avLst/>
          </a:prstGeom>
          <a:noFill/>
        </p:spPr>
        <p:txBody>
          <a:bodyPr wrap="none" rtlCol="0">
            <a:spAutoFit/>
          </a:bodyPr>
          <a:lstStyle/>
          <a:p>
            <a:r>
              <a:rPr lang="en-US" altLang="zh-CN" sz="2800" dirty="0">
                <a:solidFill>
                  <a:srgbClr val="FF0000"/>
                </a:solidFill>
              </a:rPr>
              <a:t>Diesel Engine: Made in China</a:t>
            </a:r>
            <a:endParaRPr lang="zh-CN" altLang="en-US" sz="2800" dirty="0">
              <a:solidFill>
                <a:srgbClr val="FF0000"/>
              </a:solidFill>
            </a:endParaRPr>
          </a:p>
        </p:txBody>
      </p:sp>
    </p:spTree>
    <p:extLst>
      <p:ext uri="{BB962C8B-B14F-4D97-AF65-F5344CB8AC3E}">
        <p14:creationId xmlns:p14="http://schemas.microsoft.com/office/powerpoint/2010/main" val="6327692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922107" y="135042"/>
            <a:ext cx="5105400" cy="646331"/>
          </a:xfrm>
          <a:prstGeom prst="rect">
            <a:avLst/>
          </a:prstGeom>
          <a:noFill/>
        </p:spPr>
        <p:txBody>
          <a:bodyPr wrap="square" rtlCol="0">
            <a:spAutoFit/>
          </a:bodyPr>
          <a:lstStyle/>
          <a:p>
            <a:r>
              <a:rPr lang="en-US" altLang="zh-CN" sz="3600" dirty="0">
                <a:solidFill>
                  <a:srgbClr val="FF0000"/>
                </a:solidFill>
              </a:rPr>
              <a:t>Power cycles</a:t>
            </a:r>
            <a:endParaRPr lang="zh-CN" altLang="en-US" sz="3600" dirty="0">
              <a:solidFill>
                <a:srgbClr val="FF0000"/>
              </a:solidFill>
            </a:endParaRPr>
          </a:p>
        </p:txBody>
      </p:sp>
      <p:pic>
        <p:nvPicPr>
          <p:cNvPr id="1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462" y="1315390"/>
            <a:ext cx="2819399" cy="21519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7461" y="1410555"/>
            <a:ext cx="2590800" cy="19616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矩形 1"/>
          <p:cNvSpPr/>
          <p:nvPr/>
        </p:nvSpPr>
        <p:spPr>
          <a:xfrm>
            <a:off x="550789" y="781990"/>
            <a:ext cx="1808508" cy="461665"/>
          </a:xfrm>
          <a:prstGeom prst="rect">
            <a:avLst/>
          </a:prstGeom>
        </p:spPr>
        <p:txBody>
          <a:bodyPr wrap="none">
            <a:spAutoFit/>
          </a:bodyPr>
          <a:lstStyle/>
          <a:p>
            <a:r>
              <a:rPr lang="en-US" altLang="zh-CN" sz="2400" b="1" dirty="0">
                <a:solidFill>
                  <a:srgbClr val="FF0000"/>
                </a:solidFill>
                <a:effectLst>
                  <a:outerShdw blurRad="38100" dist="38100" dir="2700000" algn="tl">
                    <a:srgbClr val="000000">
                      <a:alpha val="43137"/>
                    </a:srgbClr>
                  </a:outerShdw>
                </a:effectLst>
                <a:latin typeface="Arial" charset="0"/>
                <a:cs typeface="Arial" charset="0"/>
              </a:rPr>
              <a:t>Otto Cycle </a:t>
            </a:r>
          </a:p>
        </p:txBody>
      </p:sp>
      <p:sp>
        <p:nvSpPr>
          <p:cNvPr id="3" name="矩形 2"/>
          <p:cNvSpPr/>
          <p:nvPr/>
        </p:nvSpPr>
        <p:spPr>
          <a:xfrm>
            <a:off x="550789" y="3601390"/>
            <a:ext cx="1608133" cy="369332"/>
          </a:xfrm>
          <a:prstGeom prst="rect">
            <a:avLst/>
          </a:prstGeom>
        </p:spPr>
        <p:txBody>
          <a:bodyPr wrap="none">
            <a:spAutoFit/>
          </a:bodyPr>
          <a:lstStyle/>
          <a:p>
            <a:r>
              <a:rPr lang="en-US" altLang="zh-CN" b="1" dirty="0">
                <a:solidFill>
                  <a:srgbClr val="FF0000"/>
                </a:solidFill>
                <a:effectLst>
                  <a:outerShdw blurRad="38100" dist="38100" dir="2700000" algn="tl">
                    <a:srgbClr val="000000">
                      <a:alpha val="43137"/>
                    </a:srgbClr>
                  </a:outerShdw>
                </a:effectLst>
                <a:latin typeface="Arial" charset="0"/>
                <a:cs typeface="Arial" charset="0"/>
              </a:rPr>
              <a:t>Diesel Cycle </a:t>
            </a:r>
          </a:p>
        </p:txBody>
      </p:sp>
      <p:pic>
        <p:nvPicPr>
          <p:cNvPr id="15"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6726" y="4058590"/>
            <a:ext cx="2164013" cy="20338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74807" y="3906190"/>
            <a:ext cx="2336108" cy="22450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65571" y="4439590"/>
            <a:ext cx="2919618" cy="7243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71112" y="1836173"/>
            <a:ext cx="2666439" cy="9727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6266716" y="5607822"/>
            <a:ext cx="2335255" cy="369332"/>
          </a:xfrm>
          <a:prstGeom prst="rect">
            <a:avLst/>
          </a:prstGeom>
          <a:noFill/>
        </p:spPr>
        <p:txBody>
          <a:bodyPr wrap="none" rtlCol="0">
            <a:spAutoFit/>
          </a:bodyPr>
          <a:lstStyle/>
          <a:p>
            <a:r>
              <a:rPr lang="en-US" altLang="zh-CN" dirty="0" err="1"/>
              <a:t>r</a:t>
            </a:r>
            <a:r>
              <a:rPr lang="en-US" altLang="zh-CN" baseline="-25000" dirty="0" err="1"/>
              <a:t>c</a:t>
            </a:r>
            <a:r>
              <a:rPr lang="en-US" altLang="zh-CN" dirty="0"/>
              <a:t> </a:t>
            </a:r>
            <a:r>
              <a:rPr lang="en-US" altLang="zh-CN" dirty="0">
                <a:sym typeface="Symbol"/>
              </a:rPr>
              <a:t>= 1, </a:t>
            </a:r>
            <a:r>
              <a:rPr lang="el-GR" altLang="zh-CN" dirty="0"/>
              <a:t>η</a:t>
            </a:r>
            <a:r>
              <a:rPr lang="en-US" altLang="zh-CN" baseline="-25000" dirty="0" err="1"/>
              <a:t>th,Otto</a:t>
            </a:r>
            <a:r>
              <a:rPr lang="en-US" altLang="zh-CN" dirty="0"/>
              <a:t> =  </a:t>
            </a:r>
            <a:r>
              <a:rPr lang="el-GR" altLang="zh-CN" dirty="0"/>
              <a:t>η</a:t>
            </a:r>
            <a:r>
              <a:rPr lang="en-US" altLang="zh-CN" baseline="-25000" dirty="0" err="1"/>
              <a:t>th</a:t>
            </a:r>
            <a:r>
              <a:rPr lang="en-US" altLang="zh-CN" baseline="-25000" dirty="0"/>
              <a:t>, Diesel</a:t>
            </a:r>
            <a:endParaRPr lang="en-US" altLang="zh-CN" dirty="0">
              <a:sym typeface="Symbol"/>
            </a:endParaRPr>
          </a:p>
        </p:txBody>
      </p:sp>
    </p:spTree>
    <p:extLst>
      <p:ext uri="{BB962C8B-B14F-4D97-AF65-F5344CB8AC3E}">
        <p14:creationId xmlns:p14="http://schemas.microsoft.com/office/powerpoint/2010/main" val="25206550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1616" y="1008085"/>
            <a:ext cx="4450512" cy="53418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TextBox 7"/>
          <p:cNvSpPr txBox="1"/>
          <p:nvPr/>
        </p:nvSpPr>
        <p:spPr>
          <a:xfrm>
            <a:off x="1069785" y="9892"/>
            <a:ext cx="5105400" cy="646331"/>
          </a:xfrm>
          <a:prstGeom prst="rect">
            <a:avLst/>
          </a:prstGeom>
          <a:noFill/>
        </p:spPr>
        <p:txBody>
          <a:bodyPr wrap="square" rtlCol="0">
            <a:spAutoFit/>
          </a:bodyPr>
          <a:lstStyle/>
          <a:p>
            <a:r>
              <a:rPr lang="en-US" altLang="zh-CN" sz="3600" dirty="0">
                <a:solidFill>
                  <a:srgbClr val="FF0000"/>
                </a:solidFill>
              </a:rPr>
              <a:t>Power cycles</a:t>
            </a:r>
            <a:endParaRPr lang="zh-CN" altLang="en-US" sz="3600" dirty="0">
              <a:solidFill>
                <a:srgbClr val="FF0000"/>
              </a:solidFill>
            </a:endParaRPr>
          </a:p>
        </p:txBody>
      </p:sp>
      <p:pic>
        <p:nvPicPr>
          <p:cNvPr id="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77416" y="1084285"/>
            <a:ext cx="2395539" cy="49490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TextBox 10"/>
          <p:cNvSpPr txBox="1"/>
          <p:nvPr/>
        </p:nvSpPr>
        <p:spPr>
          <a:xfrm>
            <a:off x="5261344" y="5961085"/>
            <a:ext cx="1468672" cy="307777"/>
          </a:xfrm>
          <a:prstGeom prst="rect">
            <a:avLst/>
          </a:prstGeom>
          <a:noFill/>
        </p:spPr>
        <p:txBody>
          <a:bodyPr wrap="none" rtlCol="0">
            <a:spAutoFit/>
          </a:bodyPr>
          <a:lstStyle/>
          <a:p>
            <a:r>
              <a:rPr lang="en-US" altLang="zh-CN" sz="1400" dirty="0">
                <a:latin typeface="Dotum" panose="020B0600000101010101" pitchFamily="34" charset="-127"/>
                <a:ea typeface="Dotum" panose="020B0600000101010101" pitchFamily="34" charset="-127"/>
              </a:rPr>
              <a:t> (c) </a:t>
            </a:r>
            <a:r>
              <a:rPr lang="en-US" altLang="zh-CN" sz="1200" dirty="0">
                <a:latin typeface="Times New Roman" panose="02020603050405020304" pitchFamily="18" charset="0"/>
                <a:ea typeface="Dotum" panose="020B0600000101010101" pitchFamily="34" charset="-127"/>
                <a:cs typeface="Times New Roman" panose="02020603050405020304" pitchFamily="18" charset="0"/>
              </a:rPr>
              <a:t>Ericsson Cycle</a:t>
            </a:r>
          </a:p>
        </p:txBody>
      </p:sp>
      <p:graphicFrame>
        <p:nvGraphicFramePr>
          <p:cNvPr id="13" name="对象 12"/>
          <p:cNvGraphicFramePr>
            <a:graphicFrameLocks noChangeAspect="1"/>
          </p:cNvGraphicFramePr>
          <p:nvPr>
            <p:extLst>
              <p:ext uri="{D42A27DB-BD31-4B8C-83A1-F6EECF244321}">
                <p14:modId xmlns:p14="http://schemas.microsoft.com/office/powerpoint/2010/main" val="4153295184"/>
              </p:ext>
            </p:extLst>
          </p:nvPr>
        </p:nvGraphicFramePr>
        <p:xfrm>
          <a:off x="7744803" y="3159758"/>
          <a:ext cx="1172753" cy="972527"/>
        </p:xfrm>
        <a:graphic>
          <a:graphicData uri="http://schemas.openxmlformats.org/presentationml/2006/ole">
            <mc:AlternateContent xmlns:mc="http://schemas.openxmlformats.org/markup-compatibility/2006">
              <mc:Choice xmlns:v="urn:schemas-microsoft-com:vml" Requires="v">
                <p:oleObj name="Equation" r:id="rId4" imgW="520560" imgH="431640" progId="Equation.DSMT4">
                  <p:embed/>
                </p:oleObj>
              </mc:Choice>
              <mc:Fallback>
                <p:oleObj name="Equation" r:id="rId4" imgW="520560" imgH="431640" progId="Equation.DSMT4">
                  <p:embed/>
                  <p:pic>
                    <p:nvPicPr>
                      <p:cNvPr id="0" name=""/>
                      <p:cNvPicPr/>
                      <p:nvPr/>
                    </p:nvPicPr>
                    <p:blipFill>
                      <a:blip r:embed="rId5"/>
                      <a:stretch>
                        <a:fillRect/>
                      </a:stretch>
                    </p:blipFill>
                    <p:spPr>
                      <a:xfrm>
                        <a:off x="7744803" y="3159758"/>
                        <a:ext cx="1172753" cy="972527"/>
                      </a:xfrm>
                      <a:prstGeom prst="rect">
                        <a:avLst/>
                      </a:prstGeom>
                      <a:ln>
                        <a:solidFill>
                          <a:srgbClr val="FF0000"/>
                        </a:solidFill>
                      </a:ln>
                    </p:spPr>
                  </p:pic>
                </p:oleObj>
              </mc:Fallback>
            </mc:AlternateContent>
          </a:graphicData>
        </a:graphic>
      </p:graphicFrame>
      <p:sp>
        <p:nvSpPr>
          <p:cNvPr id="7" name="矩形 6"/>
          <p:cNvSpPr/>
          <p:nvPr/>
        </p:nvSpPr>
        <p:spPr>
          <a:xfrm>
            <a:off x="7228091" y="823419"/>
            <a:ext cx="1633781" cy="369332"/>
          </a:xfrm>
          <a:prstGeom prst="rect">
            <a:avLst/>
          </a:prstGeom>
          <a:solidFill>
            <a:schemeClr val="accent6"/>
          </a:solidFill>
        </p:spPr>
        <p:txBody>
          <a:bodyPr wrap="none">
            <a:spAutoFit/>
          </a:bodyPr>
          <a:lstStyle/>
          <a:p>
            <a:r>
              <a:rPr lang="en-US" altLang="zh-CN" dirty="0">
                <a:solidFill>
                  <a:schemeClr val="bg1"/>
                </a:solidFill>
              </a:rPr>
              <a:t>Book Reading</a:t>
            </a:r>
          </a:p>
        </p:txBody>
      </p:sp>
    </p:spTree>
    <p:extLst>
      <p:ext uri="{BB962C8B-B14F-4D97-AF65-F5344CB8AC3E}">
        <p14:creationId xmlns:p14="http://schemas.microsoft.com/office/powerpoint/2010/main" val="14950030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3830" y="1512990"/>
            <a:ext cx="4514850" cy="300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314815" y="0"/>
            <a:ext cx="7596951" cy="646331"/>
          </a:xfrm>
          <a:prstGeom prst="rect">
            <a:avLst/>
          </a:prstGeom>
          <a:noFill/>
        </p:spPr>
        <p:txBody>
          <a:bodyPr wrap="none" rtlCol="0">
            <a:spAutoFit/>
          </a:bodyPr>
          <a:lstStyle/>
          <a:p>
            <a:r>
              <a:rPr lang="en-US" altLang="zh-CN" sz="3600" dirty="0">
                <a:solidFill>
                  <a:srgbClr val="FF0000"/>
                </a:solidFill>
              </a:rPr>
              <a:t>Stirling engine: harvest</a:t>
            </a:r>
            <a:r>
              <a:rPr lang="zh-CN" altLang="en-US" sz="3600" dirty="0">
                <a:solidFill>
                  <a:srgbClr val="FF0000"/>
                </a:solidFill>
              </a:rPr>
              <a:t> </a:t>
            </a:r>
            <a:r>
              <a:rPr lang="en-US" altLang="zh-CN" sz="3600" dirty="0">
                <a:solidFill>
                  <a:srgbClr val="FF0000"/>
                </a:solidFill>
              </a:rPr>
              <a:t>solar</a:t>
            </a:r>
            <a:r>
              <a:rPr lang="zh-CN" altLang="en-US" sz="3600" dirty="0">
                <a:solidFill>
                  <a:srgbClr val="FF0000"/>
                </a:solidFill>
              </a:rPr>
              <a:t> </a:t>
            </a:r>
            <a:r>
              <a:rPr lang="en-US" altLang="zh-CN" sz="3600" dirty="0">
                <a:solidFill>
                  <a:srgbClr val="FF0000"/>
                </a:solidFill>
              </a:rPr>
              <a:t>energy</a:t>
            </a:r>
            <a:endParaRPr lang="zh-CN" altLang="en-US" sz="3600" dirty="0">
              <a:solidFill>
                <a:srgbClr val="FF0000"/>
              </a:solidFill>
            </a:endParaRPr>
          </a:p>
        </p:txBody>
      </p:sp>
      <p:pic>
        <p:nvPicPr>
          <p:cNvPr id="7885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58735" y="994019"/>
            <a:ext cx="3053300" cy="3528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838021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339" y="2311878"/>
            <a:ext cx="4905902" cy="38128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219339" y="926939"/>
            <a:ext cx="4572000" cy="646331"/>
          </a:xfrm>
          <a:prstGeom prst="rect">
            <a:avLst/>
          </a:prstGeom>
        </p:spPr>
        <p:txBody>
          <a:bodyPr>
            <a:spAutoFit/>
          </a:bodyPr>
          <a:lstStyle/>
          <a:p>
            <a:r>
              <a:rPr lang="en-US" altLang="zh-CN" dirty="0"/>
              <a:t> 300 MW commercial solar thermal power plant in California</a:t>
            </a:r>
            <a:endParaRPr lang="zh-CN" altLang="en-US" dirty="0"/>
          </a:p>
        </p:txBody>
      </p:sp>
      <p:pic>
        <p:nvPicPr>
          <p:cNvPr id="808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62111" y="894790"/>
            <a:ext cx="3775675" cy="3727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400382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p:txBody>
          <a:bodyPr>
            <a:normAutofit/>
          </a:bodyPr>
          <a:lstStyle/>
          <a:p>
            <a:r>
              <a:rPr lang="en-US" altLang="zh-CN" sz="2800" dirty="0">
                <a:solidFill>
                  <a:srgbClr val="FF0000"/>
                </a:solidFill>
              </a:rPr>
              <a:t>9. </a:t>
            </a:r>
            <a:r>
              <a:rPr lang="en-US" altLang="zh-CN" sz="2800" b="1" dirty="0">
                <a:solidFill>
                  <a:srgbClr val="FF0000"/>
                </a:solidFill>
                <a:effectLst>
                  <a:outerShdw blurRad="38100" dist="38100" dir="2700000" algn="tl">
                    <a:srgbClr val="000000">
                      <a:alpha val="43137"/>
                    </a:srgbClr>
                  </a:outerShdw>
                </a:effectLst>
                <a:latin typeface="Arial" charset="0"/>
                <a:cs typeface="Arial" charset="0"/>
              </a:rPr>
              <a:t>Brayton Cycle</a:t>
            </a:r>
            <a:endParaRPr lang="en-US" altLang="zh-CN" sz="2800" dirty="0">
              <a:solidFill>
                <a:srgbClr val="FF0000"/>
              </a:solidFill>
            </a:endParaRPr>
          </a:p>
        </p:txBody>
      </p:sp>
      <p:sp>
        <p:nvSpPr>
          <p:cNvPr id="4" name="矩形 3"/>
          <p:cNvSpPr/>
          <p:nvPr/>
        </p:nvSpPr>
        <p:spPr>
          <a:xfrm>
            <a:off x="1061208" y="4347406"/>
            <a:ext cx="7002792" cy="369332"/>
          </a:xfrm>
          <a:prstGeom prst="rect">
            <a:avLst/>
          </a:prstGeom>
        </p:spPr>
        <p:txBody>
          <a:bodyPr wrap="square">
            <a:spAutoFit/>
          </a:bodyPr>
          <a:lstStyle/>
          <a:p>
            <a:r>
              <a:rPr lang="en-US" altLang="zh-CN" b="1" dirty="0">
                <a:solidFill>
                  <a:srgbClr val="0000FF"/>
                </a:solidFill>
              </a:rPr>
              <a:t>Ref. Thermodynamics: A Engineering approach, Chapter 9,17</a:t>
            </a:r>
            <a:r>
              <a:rPr lang="zh-CN" altLang="en-US" b="1" dirty="0">
                <a:solidFill>
                  <a:srgbClr val="0000FF"/>
                </a:solidFill>
              </a:rPr>
              <a:t> </a:t>
            </a:r>
            <a:endParaRPr lang="zh-CN" altLang="en-US" dirty="0">
              <a:solidFill>
                <a:srgbClr val="0000FF"/>
              </a:solidFill>
            </a:endParaRPr>
          </a:p>
        </p:txBody>
      </p:sp>
      <p:sp>
        <p:nvSpPr>
          <p:cNvPr id="2" name="文本框 1">
            <a:extLst>
              <a:ext uri="{FF2B5EF4-FFF2-40B4-BE49-F238E27FC236}">
                <a16:creationId xmlns:a16="http://schemas.microsoft.com/office/drawing/2014/main" id="{50951C06-90EE-40CA-32EA-681ECCD54765}"/>
              </a:ext>
            </a:extLst>
          </p:cNvPr>
          <p:cNvSpPr txBox="1"/>
          <p:nvPr/>
        </p:nvSpPr>
        <p:spPr>
          <a:xfrm>
            <a:off x="4381500" y="3599255"/>
            <a:ext cx="1569660" cy="369332"/>
          </a:xfrm>
          <a:prstGeom prst="rect">
            <a:avLst/>
          </a:prstGeom>
          <a:noFill/>
        </p:spPr>
        <p:txBody>
          <a:bodyPr wrap="none" rtlCol="0">
            <a:spAutoFit/>
          </a:bodyPr>
          <a:lstStyle/>
          <a:p>
            <a:r>
              <a:rPr lang="zh-CN" altLang="en-US" dirty="0"/>
              <a:t>（燃气轮机）</a:t>
            </a:r>
          </a:p>
        </p:txBody>
      </p:sp>
    </p:spTree>
    <p:extLst>
      <p:ext uri="{BB962C8B-B14F-4D97-AF65-F5344CB8AC3E}">
        <p14:creationId xmlns:p14="http://schemas.microsoft.com/office/powerpoint/2010/main" val="13688667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73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17" y="-7620"/>
            <a:ext cx="9144000" cy="6103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0" y="6101834"/>
            <a:ext cx="2248564" cy="369332"/>
          </a:xfrm>
          <a:prstGeom prst="rect">
            <a:avLst/>
          </a:prstGeom>
        </p:spPr>
        <p:txBody>
          <a:bodyPr wrap="none">
            <a:spAutoFit/>
          </a:bodyPr>
          <a:lstStyle/>
          <a:p>
            <a:r>
              <a:rPr lang="en-US" altLang="zh-CN" b="1" dirty="0"/>
              <a:t>gas tube engine of GE</a:t>
            </a:r>
            <a:endParaRPr lang="zh-CN" altLang="en-US" dirty="0"/>
          </a:p>
        </p:txBody>
      </p:sp>
    </p:spTree>
    <p:extLst>
      <p:ext uri="{BB962C8B-B14F-4D97-AF65-F5344CB8AC3E}">
        <p14:creationId xmlns:p14="http://schemas.microsoft.com/office/powerpoint/2010/main" val="26561616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p:cNvSpPr txBox="1"/>
          <p:nvPr/>
        </p:nvSpPr>
        <p:spPr>
          <a:xfrm>
            <a:off x="1219200" y="16526"/>
            <a:ext cx="5105400" cy="646331"/>
          </a:xfrm>
          <a:prstGeom prst="rect">
            <a:avLst/>
          </a:prstGeom>
          <a:noFill/>
        </p:spPr>
        <p:txBody>
          <a:bodyPr wrap="square" rtlCol="0">
            <a:spAutoFit/>
          </a:bodyPr>
          <a:lstStyle/>
          <a:p>
            <a:r>
              <a:rPr lang="en-US" altLang="zh-CN" sz="3600" b="1" dirty="0" err="1">
                <a:solidFill>
                  <a:srgbClr val="FF0000"/>
                </a:solidFill>
                <a:effectLst>
                  <a:outerShdw blurRad="38100" dist="38100" dir="2700000" algn="tl">
                    <a:srgbClr val="000000">
                      <a:alpha val="43137"/>
                    </a:srgbClr>
                  </a:outerShdw>
                </a:effectLst>
                <a:latin typeface="Arial" charset="0"/>
                <a:cs typeface="Arial" charset="0"/>
              </a:rPr>
              <a:t>Brayton</a:t>
            </a:r>
            <a:r>
              <a:rPr lang="en-US" altLang="zh-CN" sz="3600" b="1" dirty="0">
                <a:solidFill>
                  <a:srgbClr val="FF0000"/>
                </a:solidFill>
                <a:effectLst>
                  <a:outerShdw blurRad="38100" dist="38100" dir="2700000" algn="tl">
                    <a:srgbClr val="000000">
                      <a:alpha val="43137"/>
                    </a:srgbClr>
                  </a:outerShdw>
                </a:effectLst>
                <a:latin typeface="Arial" charset="0"/>
                <a:cs typeface="Arial" charset="0"/>
              </a:rPr>
              <a:t> Cycle</a:t>
            </a:r>
            <a:endParaRPr lang="en-US" altLang="zh-CN" sz="3600" dirty="0">
              <a:solidFill>
                <a:srgbClr val="FF0000"/>
              </a:solidFill>
            </a:endParaRPr>
          </a:p>
        </p:txBody>
      </p:sp>
      <p:sp>
        <p:nvSpPr>
          <p:cNvPr id="17" name="矩形 16"/>
          <p:cNvSpPr/>
          <p:nvPr/>
        </p:nvSpPr>
        <p:spPr>
          <a:xfrm>
            <a:off x="228600" y="1290014"/>
            <a:ext cx="7086600" cy="923330"/>
          </a:xfrm>
          <a:prstGeom prst="rect">
            <a:avLst/>
          </a:prstGeom>
        </p:spPr>
        <p:txBody>
          <a:bodyPr wrap="square">
            <a:spAutoFit/>
          </a:bodyPr>
          <a:lstStyle/>
          <a:p>
            <a:r>
              <a:rPr lang="en-US" altLang="zh-CN" dirty="0"/>
              <a:t>1870, The </a:t>
            </a:r>
            <a:r>
              <a:rPr lang="en-US" altLang="zh-CN" dirty="0" err="1"/>
              <a:t>Brayton</a:t>
            </a:r>
            <a:r>
              <a:rPr lang="en-US" altLang="zh-CN" dirty="0"/>
              <a:t> cycle was first proposed by George </a:t>
            </a:r>
            <a:r>
              <a:rPr lang="en-US" altLang="zh-CN" dirty="0" err="1"/>
              <a:t>Brayton</a:t>
            </a:r>
            <a:r>
              <a:rPr lang="en-US" altLang="zh-CN" dirty="0"/>
              <a:t> for the use in the reciprocating burning engine. </a:t>
            </a:r>
          </a:p>
          <a:p>
            <a:r>
              <a:rPr lang="en-US" altLang="zh-CN" b="1" dirty="0"/>
              <a:t>Now, it was used for the gas tube engine. </a:t>
            </a:r>
            <a:endParaRPr lang="zh-CN" altLang="en-US" b="1" dirty="0"/>
          </a:p>
        </p:txBody>
      </p:sp>
      <p:sp>
        <p:nvSpPr>
          <p:cNvPr id="18" name="矩形 17"/>
          <p:cNvSpPr/>
          <p:nvPr/>
        </p:nvSpPr>
        <p:spPr>
          <a:xfrm>
            <a:off x="3733800" y="3018979"/>
            <a:ext cx="5334000" cy="3000821"/>
          </a:xfrm>
          <a:prstGeom prst="rect">
            <a:avLst/>
          </a:prstGeom>
        </p:spPr>
        <p:txBody>
          <a:bodyPr wrap="square">
            <a:spAutoFit/>
          </a:bodyPr>
          <a:lstStyle/>
          <a:p>
            <a:pPr marL="285750" indent="-285750">
              <a:lnSpc>
                <a:spcPct val="150000"/>
              </a:lnSpc>
              <a:buFont typeface="Wingdings" panose="05000000000000000000" pitchFamily="2" charset="2"/>
              <a:buChar char="ü"/>
            </a:pPr>
            <a:r>
              <a:rPr lang="en-US" altLang="zh-CN" sz="1400" dirty="0"/>
              <a:t>1791 First patent for a gas turbine (John Barber, United Kingdom)</a:t>
            </a:r>
          </a:p>
          <a:p>
            <a:pPr marL="285750" indent="-285750">
              <a:lnSpc>
                <a:spcPct val="150000"/>
              </a:lnSpc>
              <a:buFont typeface="Wingdings" panose="05000000000000000000" pitchFamily="2" charset="2"/>
              <a:buChar char="ü"/>
            </a:pPr>
            <a:r>
              <a:rPr lang="en-US" altLang="zh-CN" sz="1400" dirty="0"/>
              <a:t>1904 Unsuccessful gas turbine project by Franz </a:t>
            </a:r>
            <a:r>
              <a:rPr lang="en-US" altLang="zh-CN" sz="1400" dirty="0" err="1"/>
              <a:t>Stolze</a:t>
            </a:r>
            <a:r>
              <a:rPr lang="en-US" altLang="zh-CN" sz="1400" dirty="0"/>
              <a:t> in Berlin 1906 GT by </a:t>
            </a:r>
            <a:r>
              <a:rPr lang="en-US" altLang="zh-CN" sz="1400" dirty="0" err="1"/>
              <a:t>Armengaud</a:t>
            </a:r>
            <a:r>
              <a:rPr lang="en-US" altLang="zh-CN" sz="1400" dirty="0"/>
              <a:t> </a:t>
            </a:r>
            <a:r>
              <a:rPr lang="en-US" altLang="zh-CN" sz="1400" dirty="0" err="1"/>
              <a:t>Lemale</a:t>
            </a:r>
            <a:r>
              <a:rPr lang="en-US" altLang="zh-CN" sz="1400" dirty="0"/>
              <a:t> in France</a:t>
            </a:r>
          </a:p>
          <a:p>
            <a:pPr marL="285750" indent="-285750">
              <a:lnSpc>
                <a:spcPct val="150000"/>
              </a:lnSpc>
              <a:buFont typeface="Wingdings" panose="05000000000000000000" pitchFamily="2" charset="2"/>
              <a:buChar char="ü"/>
            </a:pPr>
            <a:r>
              <a:rPr lang="en-US" altLang="zh-CN" sz="1400" dirty="0"/>
              <a:t>1910 First GT featuring intermittent combustion  (</a:t>
            </a:r>
            <a:r>
              <a:rPr lang="en-US" altLang="zh-CN" sz="1400" dirty="0" err="1"/>
              <a:t>Holzwarth</a:t>
            </a:r>
            <a:r>
              <a:rPr lang="en-US" altLang="zh-CN" sz="1400" dirty="0"/>
              <a:t>, 150 kW, constant volume combustion)</a:t>
            </a:r>
          </a:p>
          <a:p>
            <a:pPr marL="285750" indent="-285750">
              <a:lnSpc>
                <a:spcPct val="150000"/>
              </a:lnSpc>
              <a:buFont typeface="Wingdings" panose="05000000000000000000" pitchFamily="2" charset="2"/>
              <a:buChar char="ü"/>
            </a:pPr>
            <a:r>
              <a:rPr lang="en-US" altLang="zh-CN" sz="1400" dirty="0"/>
              <a:t>1923 First exhaust-gas turbocharger to increase the power of diesel engines</a:t>
            </a:r>
          </a:p>
          <a:p>
            <a:pPr marL="285750" indent="-285750">
              <a:lnSpc>
                <a:spcPct val="150000"/>
              </a:lnSpc>
              <a:buFont typeface="Wingdings" panose="05000000000000000000" pitchFamily="2" charset="2"/>
              <a:buChar char="ü"/>
            </a:pPr>
            <a:r>
              <a:rPr lang="en-US" altLang="zh-CN" sz="1400" dirty="0"/>
              <a:t>1939 World’s first gas turbine for power generation (Brown </a:t>
            </a:r>
            <a:r>
              <a:rPr lang="en-US" altLang="zh-CN" sz="1400" dirty="0" err="1"/>
              <a:t>Boveri</a:t>
            </a:r>
            <a:r>
              <a:rPr lang="en-US" altLang="zh-CN" sz="1400" dirty="0"/>
              <a:t> Company), Neuchâtel, </a:t>
            </a:r>
            <a:r>
              <a:rPr lang="en-US" altLang="zh-CN" sz="1400" dirty="0" err="1"/>
              <a:t>Switzerlan</a:t>
            </a:r>
            <a:endParaRPr lang="en-US" altLang="zh-CN" sz="1400" dirty="0"/>
          </a:p>
        </p:txBody>
      </p:sp>
      <p:sp>
        <p:nvSpPr>
          <p:cNvPr id="19" name="TextBox 18"/>
          <p:cNvSpPr txBox="1"/>
          <p:nvPr/>
        </p:nvSpPr>
        <p:spPr>
          <a:xfrm>
            <a:off x="3771900" y="2590800"/>
            <a:ext cx="3615349" cy="369332"/>
          </a:xfrm>
          <a:prstGeom prst="rect">
            <a:avLst/>
          </a:prstGeom>
          <a:noFill/>
        </p:spPr>
        <p:txBody>
          <a:bodyPr wrap="none" rtlCol="0">
            <a:spAutoFit/>
          </a:bodyPr>
          <a:lstStyle/>
          <a:p>
            <a:r>
              <a:rPr lang="en-US" altLang="zh-CN" b="1" dirty="0"/>
              <a:t>History about the gas turbo engine. </a:t>
            </a:r>
            <a:endParaRPr lang="zh-CN" altLang="en-US" b="1" dirty="0"/>
          </a:p>
        </p:txBody>
      </p:sp>
      <p:pic>
        <p:nvPicPr>
          <p:cNvPr id="7270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385789"/>
            <a:ext cx="1670434"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271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4565885"/>
            <a:ext cx="2688277" cy="1939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491774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36908" y="1745520"/>
            <a:ext cx="2273160" cy="1968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矩形 7"/>
          <p:cNvSpPr/>
          <p:nvPr/>
        </p:nvSpPr>
        <p:spPr>
          <a:xfrm>
            <a:off x="235204" y="1024217"/>
            <a:ext cx="1736373" cy="369332"/>
          </a:xfrm>
          <a:prstGeom prst="rect">
            <a:avLst/>
          </a:prstGeom>
        </p:spPr>
        <p:txBody>
          <a:bodyPr wrap="none">
            <a:spAutoFit/>
          </a:bodyPr>
          <a:lstStyle/>
          <a:p>
            <a:r>
              <a:rPr lang="en-US" altLang="zh-CN" b="1" dirty="0" err="1">
                <a:solidFill>
                  <a:srgbClr val="FF0000"/>
                </a:solidFill>
                <a:effectLst>
                  <a:outerShdw blurRad="38100" dist="38100" dir="2700000" algn="tl">
                    <a:srgbClr val="000000">
                      <a:alpha val="43137"/>
                    </a:srgbClr>
                  </a:outerShdw>
                </a:effectLst>
                <a:latin typeface="Arial" charset="0"/>
                <a:cs typeface="Arial" charset="0"/>
              </a:rPr>
              <a:t>Brayton</a:t>
            </a:r>
            <a:r>
              <a:rPr lang="en-US" altLang="zh-CN" b="1" dirty="0">
                <a:solidFill>
                  <a:srgbClr val="FF0000"/>
                </a:solidFill>
                <a:effectLst>
                  <a:outerShdw blurRad="38100" dist="38100" dir="2700000" algn="tl">
                    <a:srgbClr val="000000">
                      <a:alpha val="43137"/>
                    </a:srgbClr>
                  </a:outerShdw>
                </a:effectLst>
                <a:latin typeface="Arial" charset="0"/>
                <a:cs typeface="Arial" charset="0"/>
              </a:rPr>
              <a:t> Cycle</a:t>
            </a:r>
            <a:endParaRPr lang="en-US" altLang="zh-CN" dirty="0">
              <a:solidFill>
                <a:srgbClr val="FF0000"/>
              </a:solidFill>
            </a:endParaRPr>
          </a:p>
        </p:txBody>
      </p:sp>
      <p:pic>
        <p:nvPicPr>
          <p:cNvPr id="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14498" y="1733909"/>
            <a:ext cx="2236634" cy="21097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0068" y="1828800"/>
            <a:ext cx="2015169" cy="18851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25237" y="4685533"/>
            <a:ext cx="2282058" cy="699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 name="TextBox 15"/>
          <p:cNvSpPr txBox="1"/>
          <p:nvPr/>
        </p:nvSpPr>
        <p:spPr>
          <a:xfrm>
            <a:off x="1264562" y="128840"/>
            <a:ext cx="5105400" cy="646331"/>
          </a:xfrm>
          <a:prstGeom prst="rect">
            <a:avLst/>
          </a:prstGeom>
          <a:noFill/>
        </p:spPr>
        <p:txBody>
          <a:bodyPr wrap="square" rtlCol="0">
            <a:spAutoFit/>
          </a:bodyPr>
          <a:lstStyle/>
          <a:p>
            <a:r>
              <a:rPr lang="en-US" altLang="zh-CN" sz="3600" b="1" dirty="0" err="1">
                <a:solidFill>
                  <a:srgbClr val="FF0000"/>
                </a:solidFill>
                <a:effectLst>
                  <a:outerShdw blurRad="38100" dist="38100" dir="2700000" algn="tl">
                    <a:srgbClr val="000000">
                      <a:alpha val="43137"/>
                    </a:srgbClr>
                  </a:outerShdw>
                </a:effectLst>
                <a:latin typeface="Arial" charset="0"/>
                <a:cs typeface="Arial" charset="0"/>
              </a:rPr>
              <a:t>Brayton</a:t>
            </a:r>
            <a:r>
              <a:rPr lang="en-US" altLang="zh-CN" sz="3600" b="1" dirty="0">
                <a:solidFill>
                  <a:srgbClr val="FF0000"/>
                </a:solidFill>
                <a:effectLst>
                  <a:outerShdw blurRad="38100" dist="38100" dir="2700000" algn="tl">
                    <a:srgbClr val="000000">
                      <a:alpha val="43137"/>
                    </a:srgbClr>
                  </a:outerShdw>
                </a:effectLst>
                <a:latin typeface="Arial" charset="0"/>
                <a:cs typeface="Arial" charset="0"/>
              </a:rPr>
              <a:t> Cycle</a:t>
            </a:r>
            <a:endParaRPr lang="en-US" altLang="zh-CN" sz="3600" dirty="0">
              <a:solidFill>
                <a:srgbClr val="FF0000"/>
              </a:solidFill>
            </a:endParaRPr>
          </a:p>
        </p:txBody>
      </p:sp>
      <p:pic>
        <p:nvPicPr>
          <p:cNvPr id="72710" name="Picture 6"/>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35043" t="29328" r="38375" b="26840"/>
          <a:stretch/>
        </p:blipFill>
        <p:spPr bwMode="auto">
          <a:xfrm>
            <a:off x="216774" y="1813956"/>
            <a:ext cx="1777185" cy="18315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3" name="矩形 2"/>
              <p:cNvSpPr/>
              <p:nvPr/>
            </p:nvSpPr>
            <p:spPr>
              <a:xfrm>
                <a:off x="6497947" y="5677496"/>
                <a:ext cx="1311065" cy="3907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𝑟</m:t>
                          </m:r>
                        </m:e>
                        <m:sub>
                          <m:r>
                            <a:rPr lang="zh-CN" altLang="en-US" i="1">
                              <a:latin typeface="Cambria Math" panose="02040503050406030204" pitchFamily="18" charset="0"/>
                            </a:rPr>
                            <m:t>𝑝</m:t>
                          </m:r>
                        </m:sub>
                      </m:sSub>
                      <m:r>
                        <a:rPr lang="zh-CN" altLang="en-US" i="0">
                          <a:latin typeface="Cambria Math" panose="02040503050406030204" pitchFamily="18" charset="0"/>
                        </a:rPr>
                        <m:t>=</m:t>
                      </m:r>
                      <m:f>
                        <m:fPr>
                          <m:type m:val="lin"/>
                          <m:ctrlPr>
                            <a:rPr lang="zh-CN" altLang="en-US" i="1">
                              <a:latin typeface="Cambria Math" panose="02040503050406030204" pitchFamily="18" charset="0"/>
                            </a:rPr>
                          </m:ctrlPr>
                        </m:fPr>
                        <m:num>
                          <m:sSub>
                            <m:sSubPr>
                              <m:ctrlPr>
                                <a:rPr lang="zh-CN" altLang="en-US" i="1">
                                  <a:latin typeface="Cambria Math" panose="02040503050406030204" pitchFamily="18" charset="0"/>
                                </a:rPr>
                              </m:ctrlPr>
                            </m:sSubPr>
                            <m:e>
                              <m:r>
                                <a:rPr lang="zh-CN" altLang="en-US" i="1">
                                  <a:latin typeface="Cambria Math" panose="02040503050406030204" pitchFamily="18" charset="0"/>
                                </a:rPr>
                                <m:t>𝑃</m:t>
                              </m:r>
                            </m:e>
                            <m:sub>
                              <m:r>
                                <a:rPr lang="zh-CN" altLang="en-US" i="0">
                                  <a:latin typeface="Cambria Math" panose="02040503050406030204" pitchFamily="18" charset="0"/>
                                </a:rPr>
                                <m:t>2</m:t>
                              </m:r>
                            </m:sub>
                          </m:sSub>
                        </m:num>
                        <m:den>
                          <m:sSub>
                            <m:sSubPr>
                              <m:ctrlPr>
                                <a:rPr lang="zh-CN" altLang="en-US" i="1">
                                  <a:latin typeface="Cambria Math" panose="02040503050406030204" pitchFamily="18" charset="0"/>
                                </a:rPr>
                              </m:ctrlPr>
                            </m:sSubPr>
                            <m:e>
                              <m:r>
                                <a:rPr lang="zh-CN" altLang="en-US" i="1">
                                  <a:latin typeface="Cambria Math" panose="02040503050406030204" pitchFamily="18" charset="0"/>
                                </a:rPr>
                                <m:t>𝑃</m:t>
                              </m:r>
                            </m:e>
                            <m:sub>
                              <m:r>
                                <a:rPr lang="zh-CN" altLang="en-US" i="0">
                                  <a:latin typeface="Cambria Math" panose="02040503050406030204" pitchFamily="18" charset="0"/>
                                </a:rPr>
                                <m:t>1</m:t>
                              </m:r>
                            </m:sub>
                          </m:sSub>
                        </m:den>
                      </m:f>
                    </m:oMath>
                  </m:oMathPara>
                </a14:m>
                <a:endParaRPr lang="zh-CN" altLang="en-US" dirty="0"/>
              </a:p>
            </p:txBody>
          </p:sp>
        </mc:Choice>
        <mc:Fallback xmlns="">
          <p:sp>
            <p:nvSpPr>
              <p:cNvPr id="3" name="矩形 2"/>
              <p:cNvSpPr>
                <a:spLocks noRot="1" noChangeAspect="1" noMove="1" noResize="1" noEditPoints="1" noAdjustHandles="1" noChangeArrowheads="1" noChangeShapeType="1" noTextEdit="1"/>
              </p:cNvSpPr>
              <p:nvPr/>
            </p:nvSpPr>
            <p:spPr>
              <a:xfrm>
                <a:off x="6497947" y="5677496"/>
                <a:ext cx="1311065" cy="390748"/>
              </a:xfrm>
              <a:prstGeom prst="rect">
                <a:avLst/>
              </a:prstGeom>
              <a:blipFill rotWithShape="0">
                <a:blip r:embed="rId7"/>
                <a:stretch>
                  <a:fillRect t="-109375" r="-29302" b="-164063"/>
                </a:stretch>
              </a:blipFill>
            </p:spPr>
            <p:txBody>
              <a:bodyPr/>
              <a:lstStyle/>
              <a:p>
                <a:r>
                  <a:rPr lang="zh-CN" altLang="en-US">
                    <a:noFill/>
                  </a:rPr>
                  <a:t> </a:t>
                </a:r>
              </a:p>
            </p:txBody>
          </p:sp>
        </mc:Fallback>
      </mc:AlternateContent>
      <p:sp>
        <p:nvSpPr>
          <p:cNvPr id="4" name="文本框 3"/>
          <p:cNvSpPr txBox="1"/>
          <p:nvPr/>
        </p:nvSpPr>
        <p:spPr>
          <a:xfrm>
            <a:off x="235204" y="3958178"/>
            <a:ext cx="2932213" cy="1077218"/>
          </a:xfrm>
          <a:prstGeom prst="rect">
            <a:avLst/>
          </a:prstGeom>
          <a:noFill/>
        </p:spPr>
        <p:txBody>
          <a:bodyPr wrap="none" rtlCol="0">
            <a:spAutoFit/>
          </a:bodyPr>
          <a:lstStyle/>
          <a:p>
            <a:r>
              <a:rPr lang="en-US" altLang="zh-CN" sz="1600" dirty="0"/>
              <a:t>1</a:t>
            </a:r>
            <a:r>
              <a:rPr lang="en-US" altLang="zh-CN" sz="1600" dirty="0">
                <a:sym typeface="Wingdings" panose="05000000000000000000" pitchFamily="2" charset="2"/>
              </a:rPr>
              <a:t>2: isentropic compression</a:t>
            </a:r>
          </a:p>
          <a:p>
            <a:r>
              <a:rPr lang="en-US" altLang="zh-CN" sz="1600" dirty="0">
                <a:sym typeface="Wingdings" panose="05000000000000000000" pitchFamily="2" charset="2"/>
              </a:rPr>
              <a:t>23: const. pressure</a:t>
            </a:r>
          </a:p>
          <a:p>
            <a:r>
              <a:rPr lang="en-US" altLang="zh-CN" sz="1600" dirty="0">
                <a:sym typeface="Wingdings" panose="05000000000000000000" pitchFamily="2" charset="2"/>
              </a:rPr>
              <a:t>34: isentropic expansion</a:t>
            </a:r>
          </a:p>
          <a:p>
            <a:r>
              <a:rPr lang="en-US" altLang="zh-CN" sz="1600" dirty="0">
                <a:sym typeface="Wingdings" panose="05000000000000000000" pitchFamily="2" charset="2"/>
              </a:rPr>
              <a:t>41: </a:t>
            </a:r>
            <a:r>
              <a:rPr lang="en-US" altLang="zh-CN" sz="1600" dirty="0" err="1">
                <a:sym typeface="Wingdings" panose="05000000000000000000" pitchFamily="2" charset="2"/>
              </a:rPr>
              <a:t>const</a:t>
            </a:r>
            <a:r>
              <a:rPr lang="en-US" altLang="zh-CN" sz="1600" dirty="0">
                <a:sym typeface="Wingdings" panose="05000000000000000000" pitchFamily="2" charset="2"/>
              </a:rPr>
              <a:t> press (heat reject)</a:t>
            </a:r>
          </a:p>
        </p:txBody>
      </p:sp>
      <p:pic>
        <p:nvPicPr>
          <p:cNvPr id="5" name="图片 4"/>
          <p:cNvPicPr>
            <a:picLocks noChangeAspect="1"/>
          </p:cNvPicPr>
          <p:nvPr/>
        </p:nvPicPr>
        <p:blipFill>
          <a:blip r:embed="rId8"/>
          <a:stretch>
            <a:fillRect/>
          </a:stretch>
        </p:blipFill>
        <p:spPr>
          <a:xfrm>
            <a:off x="143689" y="5430276"/>
            <a:ext cx="3185700" cy="301320"/>
          </a:xfrm>
          <a:prstGeom prst="rect">
            <a:avLst/>
          </a:prstGeom>
        </p:spPr>
      </p:pic>
      <p:pic>
        <p:nvPicPr>
          <p:cNvPr id="6" name="图片 5"/>
          <p:cNvPicPr>
            <a:picLocks noChangeAspect="1"/>
          </p:cNvPicPr>
          <p:nvPr/>
        </p:nvPicPr>
        <p:blipFill>
          <a:blip r:embed="rId9"/>
          <a:stretch>
            <a:fillRect/>
          </a:stretch>
        </p:blipFill>
        <p:spPr>
          <a:xfrm>
            <a:off x="3493218" y="3958178"/>
            <a:ext cx="2369850" cy="923400"/>
          </a:xfrm>
          <a:prstGeom prst="rect">
            <a:avLst/>
          </a:prstGeom>
        </p:spPr>
      </p:pic>
      <p:pic>
        <p:nvPicPr>
          <p:cNvPr id="7" name="图片 6"/>
          <p:cNvPicPr>
            <a:picLocks noChangeAspect="1"/>
          </p:cNvPicPr>
          <p:nvPr/>
        </p:nvPicPr>
        <p:blipFill>
          <a:blip r:embed="rId10"/>
          <a:stretch>
            <a:fillRect/>
          </a:stretch>
        </p:blipFill>
        <p:spPr>
          <a:xfrm>
            <a:off x="3491361" y="5035396"/>
            <a:ext cx="2175600" cy="583200"/>
          </a:xfrm>
          <a:prstGeom prst="rect">
            <a:avLst/>
          </a:prstGeom>
        </p:spPr>
      </p:pic>
      <p:pic>
        <p:nvPicPr>
          <p:cNvPr id="17" name="图片 16"/>
          <p:cNvPicPr>
            <a:picLocks noChangeAspect="1"/>
          </p:cNvPicPr>
          <p:nvPr/>
        </p:nvPicPr>
        <p:blipFill>
          <a:blip r:embed="rId11"/>
          <a:stretch>
            <a:fillRect/>
          </a:stretch>
        </p:blipFill>
        <p:spPr>
          <a:xfrm>
            <a:off x="3643447" y="5682748"/>
            <a:ext cx="2631825" cy="520268"/>
          </a:xfrm>
          <a:prstGeom prst="rect">
            <a:avLst/>
          </a:prstGeom>
        </p:spPr>
      </p:pic>
      <p:pic>
        <p:nvPicPr>
          <p:cNvPr id="18" name="图片 17"/>
          <p:cNvPicPr>
            <a:picLocks noChangeAspect="1"/>
          </p:cNvPicPr>
          <p:nvPr/>
        </p:nvPicPr>
        <p:blipFill>
          <a:blip r:embed="rId12"/>
          <a:stretch>
            <a:fillRect/>
          </a:stretch>
        </p:blipFill>
        <p:spPr>
          <a:xfrm>
            <a:off x="6497947" y="3934897"/>
            <a:ext cx="2353185" cy="610829"/>
          </a:xfrm>
          <a:prstGeom prst="rect">
            <a:avLst/>
          </a:prstGeom>
        </p:spPr>
      </p:pic>
      <p:sp>
        <p:nvSpPr>
          <p:cNvPr id="19" name="文本框 18"/>
          <p:cNvSpPr txBox="1"/>
          <p:nvPr/>
        </p:nvSpPr>
        <p:spPr>
          <a:xfrm>
            <a:off x="6497947" y="5362264"/>
            <a:ext cx="1298753" cy="307777"/>
          </a:xfrm>
          <a:prstGeom prst="rect">
            <a:avLst/>
          </a:prstGeom>
          <a:noFill/>
        </p:spPr>
        <p:txBody>
          <a:bodyPr wrap="none" rtlCol="0">
            <a:spAutoFit/>
          </a:bodyPr>
          <a:lstStyle/>
          <a:p>
            <a:r>
              <a:rPr lang="en-US" altLang="zh-CN" sz="1400" dirty="0"/>
              <a:t>Pressure ratio</a:t>
            </a:r>
            <a:endParaRPr lang="zh-CN" altLang="en-US" sz="1400" dirty="0"/>
          </a:p>
        </p:txBody>
      </p:sp>
    </p:spTree>
    <p:extLst>
      <p:ext uri="{BB962C8B-B14F-4D97-AF65-F5344CB8AC3E}">
        <p14:creationId xmlns:p14="http://schemas.microsoft.com/office/powerpoint/2010/main" val="37579087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725DDE62-32E0-7527-2818-6D7A547CF9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9723" y="2010134"/>
            <a:ext cx="2938152" cy="27714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文本框 2">
            <a:extLst>
              <a:ext uri="{FF2B5EF4-FFF2-40B4-BE49-F238E27FC236}">
                <a16:creationId xmlns:a16="http://schemas.microsoft.com/office/drawing/2014/main" id="{4DFB5220-FF3C-0D20-D92C-D6BBBAB6F565}"/>
              </a:ext>
            </a:extLst>
          </p:cNvPr>
          <p:cNvSpPr txBox="1"/>
          <p:nvPr/>
        </p:nvSpPr>
        <p:spPr>
          <a:xfrm>
            <a:off x="1308011" y="264557"/>
            <a:ext cx="6223178" cy="523220"/>
          </a:xfrm>
          <a:prstGeom prst="rect">
            <a:avLst/>
          </a:prstGeom>
          <a:noFill/>
        </p:spPr>
        <p:txBody>
          <a:bodyPr wrap="none" rtlCol="0">
            <a:spAutoFit/>
          </a:bodyPr>
          <a:lstStyle/>
          <a:p>
            <a:r>
              <a:rPr lang="en-US" altLang="zh-CN" sz="2800" dirty="0">
                <a:solidFill>
                  <a:srgbClr val="FF0000"/>
                </a:solidFill>
              </a:rPr>
              <a:t>Limitation</a:t>
            </a:r>
            <a:r>
              <a:rPr lang="zh-CN" altLang="en-US" sz="2800" dirty="0">
                <a:solidFill>
                  <a:srgbClr val="FF0000"/>
                </a:solidFill>
              </a:rPr>
              <a:t> </a:t>
            </a:r>
            <a:r>
              <a:rPr lang="en-US" altLang="zh-CN" sz="2800" dirty="0">
                <a:solidFill>
                  <a:srgbClr val="FF0000"/>
                </a:solidFill>
              </a:rPr>
              <a:t>of</a:t>
            </a:r>
            <a:r>
              <a:rPr lang="zh-CN" altLang="en-US" sz="2800" dirty="0">
                <a:solidFill>
                  <a:srgbClr val="FF0000"/>
                </a:solidFill>
              </a:rPr>
              <a:t> </a:t>
            </a:r>
            <a:r>
              <a:rPr lang="en-US" altLang="zh-CN" sz="2800" dirty="0">
                <a:solidFill>
                  <a:srgbClr val="FF0000"/>
                </a:solidFill>
              </a:rPr>
              <a:t>the</a:t>
            </a:r>
            <a:r>
              <a:rPr lang="zh-CN" altLang="en-US" sz="2800" dirty="0">
                <a:solidFill>
                  <a:srgbClr val="FF0000"/>
                </a:solidFill>
              </a:rPr>
              <a:t> </a:t>
            </a:r>
            <a:r>
              <a:rPr lang="en-US" altLang="zh-CN" sz="2800" dirty="0">
                <a:solidFill>
                  <a:srgbClr val="FF0000"/>
                </a:solidFill>
              </a:rPr>
              <a:t>highest</a:t>
            </a:r>
            <a:r>
              <a:rPr lang="zh-CN" altLang="en-US" sz="2800" dirty="0">
                <a:solidFill>
                  <a:srgbClr val="FF0000"/>
                </a:solidFill>
              </a:rPr>
              <a:t> </a:t>
            </a:r>
            <a:r>
              <a:rPr lang="en-US" altLang="zh-CN" sz="2800" dirty="0">
                <a:solidFill>
                  <a:srgbClr val="FF0000"/>
                </a:solidFill>
              </a:rPr>
              <a:t>temperature  </a:t>
            </a:r>
            <a:endParaRPr lang="zh-CN" altLang="en-US" sz="2800" dirty="0">
              <a:solidFill>
                <a:srgbClr val="FF0000"/>
              </a:solidFill>
            </a:endParaRPr>
          </a:p>
        </p:txBody>
      </p:sp>
      <p:sp>
        <p:nvSpPr>
          <p:cNvPr id="5" name="AutoShape 2" descr="See the source image">
            <a:extLst>
              <a:ext uri="{FF2B5EF4-FFF2-40B4-BE49-F238E27FC236}">
                <a16:creationId xmlns:a16="http://schemas.microsoft.com/office/drawing/2014/main" id="{D225A653-9834-4E48-D46E-FE086D67B3C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6" name="图片 5">
            <a:extLst>
              <a:ext uri="{FF2B5EF4-FFF2-40B4-BE49-F238E27FC236}">
                <a16:creationId xmlns:a16="http://schemas.microsoft.com/office/drawing/2014/main" id="{A21554C4-CF84-3642-A17C-10CF53B13E83}"/>
              </a:ext>
            </a:extLst>
          </p:cNvPr>
          <p:cNvPicPr>
            <a:picLocks noChangeAspect="1"/>
          </p:cNvPicPr>
          <p:nvPr/>
        </p:nvPicPr>
        <p:blipFill>
          <a:blip r:embed="rId3"/>
          <a:stretch>
            <a:fillRect/>
          </a:stretch>
        </p:blipFill>
        <p:spPr>
          <a:xfrm>
            <a:off x="4795239" y="1633537"/>
            <a:ext cx="3767736" cy="3071813"/>
          </a:xfrm>
          <a:prstGeom prst="rect">
            <a:avLst/>
          </a:prstGeom>
        </p:spPr>
      </p:pic>
      <p:sp>
        <p:nvSpPr>
          <p:cNvPr id="7" name="文本框 6">
            <a:extLst>
              <a:ext uri="{FF2B5EF4-FFF2-40B4-BE49-F238E27FC236}">
                <a16:creationId xmlns:a16="http://schemas.microsoft.com/office/drawing/2014/main" id="{95639466-ABAC-C2B6-92F0-BBBABE479408}"/>
              </a:ext>
            </a:extLst>
          </p:cNvPr>
          <p:cNvSpPr txBox="1"/>
          <p:nvPr/>
        </p:nvSpPr>
        <p:spPr>
          <a:xfrm>
            <a:off x="461962" y="5224463"/>
            <a:ext cx="8524875" cy="923330"/>
          </a:xfrm>
          <a:prstGeom prst="rect">
            <a:avLst/>
          </a:prstGeom>
          <a:noFill/>
        </p:spPr>
        <p:txBody>
          <a:bodyPr wrap="square" rtlCol="0">
            <a:spAutoFit/>
          </a:bodyPr>
          <a:lstStyle/>
          <a:p>
            <a:pPr marL="285750" indent="-285750">
              <a:buFont typeface="Arial" panose="020B0604020202020204" pitchFamily="34" charset="0"/>
              <a:buChar char="•"/>
            </a:pPr>
            <a:r>
              <a:rPr lang="en-US" altLang="zh-CN" dirty="0"/>
              <a:t>The highest temperature in the cycles occurs at the end of the combustion process (state 3)</a:t>
            </a:r>
          </a:p>
          <a:p>
            <a:pPr marL="285750" indent="-285750">
              <a:buFont typeface="Arial" panose="020B0604020202020204" pitchFamily="34" charset="0"/>
              <a:buChar char="•"/>
            </a:pPr>
            <a:r>
              <a:rPr lang="en-US" altLang="zh-CN" dirty="0"/>
              <a:t>It is limited by the maximum temperature of the turbine blade can withstand.  </a:t>
            </a:r>
            <a:endParaRPr lang="zh-CN" altLang="en-US" dirty="0"/>
          </a:p>
        </p:txBody>
      </p:sp>
    </p:spTree>
    <p:extLst>
      <p:ext uri="{BB962C8B-B14F-4D97-AF65-F5344CB8AC3E}">
        <p14:creationId xmlns:p14="http://schemas.microsoft.com/office/powerpoint/2010/main" val="7825892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8">
            <a:extLst>
              <a:ext uri="{FF2B5EF4-FFF2-40B4-BE49-F238E27FC236}">
                <a16:creationId xmlns:a16="http://schemas.microsoft.com/office/drawing/2014/main" id="{3BB007D5-08A5-960B-2F4F-DFBE1E8B7F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7135" y="735070"/>
            <a:ext cx="5819022" cy="56507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4328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84646" y="4394488"/>
            <a:ext cx="2605283" cy="6282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itle 1"/>
          <p:cNvSpPr txBox="1">
            <a:spLocks/>
          </p:cNvSpPr>
          <p:nvPr/>
        </p:nvSpPr>
        <p:spPr bwMode="auto">
          <a:xfrm>
            <a:off x="1729954" y="269834"/>
            <a:ext cx="5309384" cy="45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sz="2400" b="1" dirty="0" err="1">
                <a:solidFill>
                  <a:srgbClr val="FF0000"/>
                </a:solidFill>
                <a:effectLst>
                  <a:outerShdw blurRad="38100" dist="38100" dir="2700000" algn="tl">
                    <a:srgbClr val="000000">
                      <a:alpha val="43137"/>
                    </a:srgbClr>
                  </a:outerShdw>
                </a:effectLst>
                <a:latin typeface="Arial" charset="0"/>
                <a:cs typeface="Arial" charset="0"/>
              </a:rPr>
              <a:t>Brayton</a:t>
            </a:r>
            <a:r>
              <a:rPr lang="en-US" sz="2400" b="1" dirty="0">
                <a:solidFill>
                  <a:srgbClr val="FF0000"/>
                </a:solidFill>
                <a:effectLst>
                  <a:outerShdw blurRad="38100" dist="38100" dir="2700000" algn="tl">
                    <a:srgbClr val="000000">
                      <a:alpha val="43137"/>
                    </a:srgbClr>
                  </a:outerShdw>
                </a:effectLst>
                <a:latin typeface="Arial" charset="0"/>
                <a:cs typeface="Arial" charset="0"/>
              </a:rPr>
              <a:t> Cycle with Regeneration</a:t>
            </a:r>
            <a:endParaRPr lang="en-US" sz="2400" dirty="0">
              <a:solidFill>
                <a:srgbClr val="FF0000"/>
              </a:solidFill>
            </a:endParaRPr>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4974" y="997930"/>
            <a:ext cx="6668228" cy="25660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0492" y="3818539"/>
            <a:ext cx="2191251" cy="22553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899227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See the source image">
            <a:extLst>
              <a:ext uri="{FF2B5EF4-FFF2-40B4-BE49-F238E27FC236}">
                <a16:creationId xmlns:a16="http://schemas.microsoft.com/office/drawing/2014/main" id="{4A3252FF-3A76-DA6D-BC0A-8F582A724C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350" y="1580078"/>
            <a:ext cx="4514850" cy="2066925"/>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a:extLst>
              <a:ext uri="{FF2B5EF4-FFF2-40B4-BE49-F238E27FC236}">
                <a16:creationId xmlns:a16="http://schemas.microsoft.com/office/drawing/2014/main" id="{81E881B1-D824-C94A-0904-942880766639}"/>
              </a:ext>
            </a:extLst>
          </p:cNvPr>
          <p:cNvSpPr txBox="1"/>
          <p:nvPr/>
        </p:nvSpPr>
        <p:spPr>
          <a:xfrm>
            <a:off x="5159048" y="1695450"/>
            <a:ext cx="2300630" cy="369332"/>
          </a:xfrm>
          <a:prstGeom prst="rect">
            <a:avLst/>
          </a:prstGeom>
          <a:noFill/>
        </p:spPr>
        <p:txBody>
          <a:bodyPr wrap="none" rtlCol="0">
            <a:spAutoFit/>
          </a:bodyPr>
          <a:lstStyle/>
          <a:p>
            <a:r>
              <a:rPr lang="en-US" altLang="zh-CN" dirty="0"/>
              <a:t>GE LM2500, for ship</a:t>
            </a:r>
            <a:endParaRPr lang="zh-CN" altLang="en-US" dirty="0"/>
          </a:p>
        </p:txBody>
      </p:sp>
      <p:sp>
        <p:nvSpPr>
          <p:cNvPr id="3" name="文本框 2">
            <a:extLst>
              <a:ext uri="{FF2B5EF4-FFF2-40B4-BE49-F238E27FC236}">
                <a16:creationId xmlns:a16="http://schemas.microsoft.com/office/drawing/2014/main" id="{ABF405B6-CE92-51F5-4B79-E9FB4E0AB4F9}"/>
              </a:ext>
            </a:extLst>
          </p:cNvPr>
          <p:cNvSpPr txBox="1"/>
          <p:nvPr/>
        </p:nvSpPr>
        <p:spPr>
          <a:xfrm>
            <a:off x="5334000" y="2171700"/>
            <a:ext cx="1950727" cy="923330"/>
          </a:xfrm>
          <a:prstGeom prst="rect">
            <a:avLst/>
          </a:prstGeom>
          <a:noFill/>
        </p:spPr>
        <p:txBody>
          <a:bodyPr wrap="square" rtlCol="0">
            <a:spAutoFit/>
          </a:bodyPr>
          <a:lstStyle/>
          <a:p>
            <a:r>
              <a:rPr lang="en-US" altLang="zh-CN" dirty="0"/>
              <a:t>Efficiency: 37%</a:t>
            </a:r>
          </a:p>
          <a:p>
            <a:r>
              <a:rPr lang="en-US" altLang="zh-CN" b="0" i="0" dirty="0">
                <a:solidFill>
                  <a:srgbClr val="1E2F46"/>
                </a:solidFill>
                <a:effectLst/>
                <a:latin typeface="gesans-regular"/>
              </a:rPr>
              <a:t>Power: 25 MW</a:t>
            </a:r>
          </a:p>
          <a:p>
            <a:r>
              <a:rPr lang="en-US" altLang="zh-CN" dirty="0">
                <a:solidFill>
                  <a:srgbClr val="1E2F46"/>
                </a:solidFill>
                <a:latin typeface="gesans-regular"/>
              </a:rPr>
              <a:t>Exhaust gas: 5</a:t>
            </a:r>
            <a:r>
              <a:rPr lang="en-US" altLang="zh-CN" b="0" i="0" dirty="0">
                <a:solidFill>
                  <a:srgbClr val="1E2F46"/>
                </a:solidFill>
                <a:effectLst/>
                <a:latin typeface="gesans-regular"/>
              </a:rPr>
              <a:t>66°C</a:t>
            </a:r>
            <a:endParaRPr lang="zh-CN" altLang="en-US" dirty="0"/>
          </a:p>
        </p:txBody>
      </p:sp>
      <p:sp>
        <p:nvSpPr>
          <p:cNvPr id="5" name="文本框 4">
            <a:extLst>
              <a:ext uri="{FF2B5EF4-FFF2-40B4-BE49-F238E27FC236}">
                <a16:creationId xmlns:a16="http://schemas.microsoft.com/office/drawing/2014/main" id="{01B98A5B-3664-B3D2-D2A1-F6860DF2B100}"/>
              </a:ext>
            </a:extLst>
          </p:cNvPr>
          <p:cNvSpPr txBox="1"/>
          <p:nvPr/>
        </p:nvSpPr>
        <p:spPr>
          <a:xfrm>
            <a:off x="828675" y="4549259"/>
            <a:ext cx="2190750" cy="1200329"/>
          </a:xfrm>
          <a:prstGeom prst="rect">
            <a:avLst/>
          </a:prstGeom>
          <a:noFill/>
        </p:spPr>
        <p:txBody>
          <a:bodyPr wrap="square">
            <a:spAutoFit/>
          </a:bodyPr>
          <a:lstStyle/>
          <a:p>
            <a:pPr algn="l"/>
            <a:r>
              <a:rPr lang="en-US" altLang="zh-CN" b="0" i="0" dirty="0">
                <a:solidFill>
                  <a:srgbClr val="000000"/>
                </a:solidFill>
                <a:effectLst/>
                <a:latin typeface="Linux Libertine"/>
              </a:rPr>
              <a:t>Rolls-Royce WR-21</a:t>
            </a:r>
          </a:p>
          <a:p>
            <a:pPr algn="l"/>
            <a:r>
              <a:rPr lang="en-US" altLang="zh-CN" dirty="0">
                <a:solidFill>
                  <a:srgbClr val="000000"/>
                </a:solidFill>
                <a:latin typeface="Linux Libertine"/>
              </a:rPr>
              <a:t>Efficiency: 43%</a:t>
            </a:r>
          </a:p>
          <a:p>
            <a:pPr algn="l"/>
            <a:r>
              <a:rPr lang="en-US" altLang="zh-CN" b="0" i="0" dirty="0">
                <a:solidFill>
                  <a:srgbClr val="000000"/>
                </a:solidFill>
                <a:effectLst/>
                <a:latin typeface="Linux Libertine"/>
              </a:rPr>
              <a:t>Power: 21.6</a:t>
            </a:r>
          </a:p>
          <a:p>
            <a:r>
              <a:rPr lang="en-US" altLang="zh-CN" dirty="0">
                <a:solidFill>
                  <a:srgbClr val="1E2F46"/>
                </a:solidFill>
                <a:latin typeface="gesans-regular"/>
              </a:rPr>
              <a:t>Exhaust gas: 5</a:t>
            </a:r>
            <a:r>
              <a:rPr lang="en-US" altLang="zh-CN" b="0" i="0" dirty="0">
                <a:solidFill>
                  <a:srgbClr val="1E2F46"/>
                </a:solidFill>
                <a:effectLst/>
                <a:latin typeface="gesans-regular"/>
              </a:rPr>
              <a:t>66°C</a:t>
            </a:r>
            <a:endParaRPr lang="zh-CN" altLang="en-US" dirty="0"/>
          </a:p>
        </p:txBody>
      </p:sp>
      <p:pic>
        <p:nvPicPr>
          <p:cNvPr id="3076" name="Picture 4" descr="See the source image">
            <a:extLst>
              <a:ext uri="{FF2B5EF4-FFF2-40B4-BE49-F238E27FC236}">
                <a16:creationId xmlns:a16="http://schemas.microsoft.com/office/drawing/2014/main" id="{94DFDA90-03AC-1D97-ADBA-3EDDB45C45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5664" y="4094667"/>
            <a:ext cx="2128836" cy="1982874"/>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a:extLst>
              <a:ext uri="{FF2B5EF4-FFF2-40B4-BE49-F238E27FC236}">
                <a16:creationId xmlns:a16="http://schemas.microsoft.com/office/drawing/2014/main" id="{CC27B18B-CC86-E209-10AF-21604E2DB1EF}"/>
              </a:ext>
            </a:extLst>
          </p:cNvPr>
          <p:cNvPicPr>
            <a:picLocks noChangeAspect="1"/>
          </p:cNvPicPr>
          <p:nvPr/>
        </p:nvPicPr>
        <p:blipFill>
          <a:blip r:embed="rId4"/>
          <a:stretch>
            <a:fillRect/>
          </a:stretch>
        </p:blipFill>
        <p:spPr>
          <a:xfrm>
            <a:off x="5811701" y="3980366"/>
            <a:ext cx="2946051" cy="2142111"/>
          </a:xfrm>
          <a:prstGeom prst="rect">
            <a:avLst/>
          </a:prstGeom>
        </p:spPr>
      </p:pic>
      <p:sp>
        <p:nvSpPr>
          <p:cNvPr id="8" name="Title 1">
            <a:extLst>
              <a:ext uri="{FF2B5EF4-FFF2-40B4-BE49-F238E27FC236}">
                <a16:creationId xmlns:a16="http://schemas.microsoft.com/office/drawing/2014/main" id="{10224A95-654C-6487-F66F-F4A5DD368C22}"/>
              </a:ext>
            </a:extLst>
          </p:cNvPr>
          <p:cNvSpPr txBox="1">
            <a:spLocks/>
          </p:cNvSpPr>
          <p:nvPr/>
        </p:nvSpPr>
        <p:spPr bwMode="auto">
          <a:xfrm>
            <a:off x="1729954" y="269834"/>
            <a:ext cx="5309384" cy="45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sz="2800" dirty="0">
                <a:solidFill>
                  <a:srgbClr val="FF0000"/>
                </a:solidFill>
                <a:latin typeface="Arial" charset="0"/>
                <a:cs typeface="Arial" charset="0"/>
              </a:rPr>
              <a:t>Efficiency of gas turbine engine </a:t>
            </a:r>
            <a:endParaRPr lang="en-US" sz="2800" dirty="0">
              <a:solidFill>
                <a:srgbClr val="FF0000"/>
              </a:solidFill>
            </a:endParaRPr>
          </a:p>
        </p:txBody>
      </p:sp>
    </p:spTree>
    <p:extLst>
      <p:ext uri="{BB962C8B-B14F-4D97-AF65-F5344CB8AC3E}">
        <p14:creationId xmlns:p14="http://schemas.microsoft.com/office/powerpoint/2010/main" val="7728476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5582"/>
          <a:stretch/>
        </p:blipFill>
        <p:spPr bwMode="auto">
          <a:xfrm>
            <a:off x="545758" y="3746052"/>
            <a:ext cx="3935839" cy="2532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1869527" y="130554"/>
            <a:ext cx="4966424" cy="584775"/>
          </a:xfrm>
          <a:prstGeom prst="rect">
            <a:avLst/>
          </a:prstGeom>
          <a:noFill/>
        </p:spPr>
        <p:txBody>
          <a:bodyPr wrap="none" rtlCol="0">
            <a:spAutoFit/>
          </a:bodyPr>
          <a:lstStyle/>
          <a:p>
            <a:r>
              <a:rPr lang="en-US" altLang="zh-CN" sz="3200" dirty="0">
                <a:solidFill>
                  <a:srgbClr val="FF0000"/>
                </a:solidFill>
              </a:rPr>
              <a:t>Application of </a:t>
            </a:r>
            <a:r>
              <a:rPr lang="en-US" altLang="zh-CN" sz="3200" b="1" dirty="0">
                <a:solidFill>
                  <a:srgbClr val="FF0000"/>
                </a:solidFill>
                <a:effectLst>
                  <a:outerShdw blurRad="38100" dist="38100" dir="2700000" algn="tl">
                    <a:srgbClr val="000000">
                      <a:alpha val="43137"/>
                    </a:srgbClr>
                  </a:outerShdw>
                </a:effectLst>
                <a:latin typeface="Arial" charset="0"/>
                <a:cs typeface="Arial" charset="0"/>
              </a:rPr>
              <a:t>gas turbine</a:t>
            </a:r>
            <a:endParaRPr lang="zh-CN" altLang="en-US" sz="3200" dirty="0">
              <a:solidFill>
                <a:srgbClr val="FF0000"/>
              </a:solidFill>
            </a:endParaRPr>
          </a:p>
        </p:txBody>
      </p:sp>
      <p:sp>
        <p:nvSpPr>
          <p:cNvPr id="4" name="文本框 3">
            <a:extLst>
              <a:ext uri="{FF2B5EF4-FFF2-40B4-BE49-F238E27FC236}">
                <a16:creationId xmlns:a16="http://schemas.microsoft.com/office/drawing/2014/main" id="{CA36B220-F18E-C008-D081-8A3C9E024FF6}"/>
              </a:ext>
            </a:extLst>
          </p:cNvPr>
          <p:cNvSpPr txBox="1"/>
          <p:nvPr/>
        </p:nvSpPr>
        <p:spPr>
          <a:xfrm>
            <a:off x="539459" y="1170027"/>
            <a:ext cx="8058783" cy="1754326"/>
          </a:xfrm>
          <a:prstGeom prst="rect">
            <a:avLst/>
          </a:prstGeom>
          <a:noFill/>
        </p:spPr>
        <p:txBody>
          <a:bodyPr wrap="square" rtlCol="0">
            <a:spAutoFit/>
          </a:bodyPr>
          <a:lstStyle/>
          <a:p>
            <a:pPr marL="285750" indent="-285750">
              <a:buFont typeface="Arial" panose="020B0604020202020204" pitchFamily="34" charset="0"/>
              <a:buChar char="•"/>
            </a:pPr>
            <a:r>
              <a:rPr lang="en-US" altLang="zh-CN" dirty="0"/>
              <a:t>Gas turbine engines are used for electric power generation and aircraft propulsion</a:t>
            </a:r>
          </a:p>
          <a:p>
            <a:pPr marL="285750" indent="-285750">
              <a:buFont typeface="Arial" panose="020B0604020202020204" pitchFamily="34" charset="0"/>
              <a:buChar char="•"/>
            </a:pPr>
            <a:r>
              <a:rPr lang="en-US" altLang="zh-CN" dirty="0"/>
              <a:t>For the aircraft, gas turbine produce small part power to drive the compressor, while the high velocity exhaust gas for producing the thrust to propel the aircraft.  </a:t>
            </a:r>
          </a:p>
          <a:p>
            <a:pPr marL="285750" indent="-285750">
              <a:buFont typeface="Arial" panose="020B0604020202020204" pitchFamily="34" charset="0"/>
              <a:buChar char="•"/>
            </a:pPr>
            <a:r>
              <a:rPr lang="en-US" altLang="zh-CN" dirty="0"/>
              <a:t>The aircraft  gas turbine operate at a high pressure ratio of 10-25</a:t>
            </a:r>
            <a:endParaRPr lang="zh-CN" altLang="en-US" dirty="0"/>
          </a:p>
        </p:txBody>
      </p:sp>
      <p:pic>
        <p:nvPicPr>
          <p:cNvPr id="7" name="图片 6">
            <a:extLst>
              <a:ext uri="{FF2B5EF4-FFF2-40B4-BE49-F238E27FC236}">
                <a16:creationId xmlns:a16="http://schemas.microsoft.com/office/drawing/2014/main" id="{E7DE7458-7CAA-34BD-0FAF-E9AB803441BE}"/>
              </a:ext>
            </a:extLst>
          </p:cNvPr>
          <p:cNvPicPr>
            <a:picLocks noChangeAspect="1"/>
          </p:cNvPicPr>
          <p:nvPr/>
        </p:nvPicPr>
        <p:blipFill>
          <a:blip r:embed="rId3"/>
          <a:stretch>
            <a:fillRect/>
          </a:stretch>
        </p:blipFill>
        <p:spPr>
          <a:xfrm>
            <a:off x="5468100" y="3083599"/>
            <a:ext cx="2735702" cy="3329819"/>
          </a:xfrm>
          <a:prstGeom prst="rect">
            <a:avLst/>
          </a:prstGeom>
        </p:spPr>
      </p:pic>
    </p:spTree>
    <p:extLst>
      <p:ext uri="{BB962C8B-B14F-4D97-AF65-F5344CB8AC3E}">
        <p14:creationId xmlns:p14="http://schemas.microsoft.com/office/powerpoint/2010/main" val="12052558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FAA2AAE9-F1C1-477F-09F6-A61B35B6F747}"/>
              </a:ext>
            </a:extLst>
          </p:cNvPr>
          <p:cNvSpPr txBox="1"/>
          <p:nvPr/>
        </p:nvSpPr>
        <p:spPr>
          <a:xfrm>
            <a:off x="2583200" y="190500"/>
            <a:ext cx="3977599" cy="584775"/>
          </a:xfrm>
          <a:prstGeom prst="rect">
            <a:avLst/>
          </a:prstGeom>
          <a:noFill/>
        </p:spPr>
        <p:txBody>
          <a:bodyPr wrap="square" rtlCol="0">
            <a:spAutoFit/>
          </a:bodyPr>
          <a:lstStyle/>
          <a:p>
            <a:r>
              <a:rPr lang="en-US" altLang="zh-CN" sz="3200" dirty="0">
                <a:solidFill>
                  <a:srgbClr val="FF0000"/>
                </a:solidFill>
              </a:rPr>
              <a:t>Jet-propulsion cycles</a:t>
            </a:r>
            <a:endParaRPr lang="zh-CN" altLang="en-US" sz="3200" dirty="0">
              <a:solidFill>
                <a:srgbClr val="FF0000"/>
              </a:solidFill>
            </a:endParaRPr>
          </a:p>
        </p:txBody>
      </p:sp>
      <p:pic>
        <p:nvPicPr>
          <p:cNvPr id="4" name="图片 3">
            <a:extLst>
              <a:ext uri="{FF2B5EF4-FFF2-40B4-BE49-F238E27FC236}">
                <a16:creationId xmlns:a16="http://schemas.microsoft.com/office/drawing/2014/main" id="{ECC740ED-6909-8BA2-84A1-73780DA58F23}"/>
              </a:ext>
            </a:extLst>
          </p:cNvPr>
          <p:cNvPicPr>
            <a:picLocks noChangeAspect="1"/>
          </p:cNvPicPr>
          <p:nvPr/>
        </p:nvPicPr>
        <p:blipFill>
          <a:blip r:embed="rId3"/>
          <a:stretch>
            <a:fillRect/>
          </a:stretch>
        </p:blipFill>
        <p:spPr>
          <a:xfrm>
            <a:off x="519112" y="713855"/>
            <a:ext cx="8105775" cy="3398964"/>
          </a:xfrm>
          <a:prstGeom prst="rect">
            <a:avLst/>
          </a:prstGeom>
        </p:spPr>
      </p:pic>
      <p:sp>
        <p:nvSpPr>
          <p:cNvPr id="3" name="文本框 2">
            <a:extLst>
              <a:ext uri="{FF2B5EF4-FFF2-40B4-BE49-F238E27FC236}">
                <a16:creationId xmlns:a16="http://schemas.microsoft.com/office/drawing/2014/main" id="{0931BA0A-6B16-B831-F755-5B3BA18DE9A8}"/>
              </a:ext>
            </a:extLst>
          </p:cNvPr>
          <p:cNvSpPr txBox="1"/>
          <p:nvPr/>
        </p:nvSpPr>
        <p:spPr>
          <a:xfrm>
            <a:off x="257210" y="4174510"/>
            <a:ext cx="8886790" cy="2492990"/>
          </a:xfrm>
          <a:prstGeom prst="rect">
            <a:avLst/>
          </a:prstGeom>
          <a:noFill/>
        </p:spPr>
        <p:txBody>
          <a:bodyPr wrap="square" rtlCol="0">
            <a:spAutoFit/>
          </a:bodyPr>
          <a:lstStyle/>
          <a:p>
            <a:pPr marL="285750" indent="-285750">
              <a:spcAft>
                <a:spcPts val="1200"/>
              </a:spcAft>
              <a:buFont typeface="Arial" panose="020B0604020202020204" pitchFamily="34" charset="0"/>
              <a:buChar char="•"/>
            </a:pPr>
            <a:r>
              <a:rPr lang="en-US" altLang="zh-CN" dirty="0"/>
              <a:t>The pressure of air</a:t>
            </a:r>
            <a:r>
              <a:rPr lang="zh-CN" altLang="en-US" dirty="0"/>
              <a:t> </a:t>
            </a:r>
            <a:r>
              <a:rPr lang="en-US" altLang="zh-CN" dirty="0"/>
              <a:t>pressure</a:t>
            </a:r>
            <a:r>
              <a:rPr lang="zh-CN" altLang="en-US" dirty="0"/>
              <a:t> </a:t>
            </a:r>
            <a:r>
              <a:rPr lang="en-US" altLang="zh-CN" dirty="0"/>
              <a:t>rise</a:t>
            </a:r>
            <a:r>
              <a:rPr lang="zh-CN" altLang="en-US" dirty="0"/>
              <a:t> </a:t>
            </a:r>
            <a:r>
              <a:rPr lang="en-US" altLang="zh-CN" dirty="0"/>
              <a:t>as</a:t>
            </a:r>
            <a:r>
              <a:rPr lang="zh-CN" altLang="en-US" dirty="0"/>
              <a:t> </a:t>
            </a:r>
            <a:r>
              <a:rPr lang="en-US" altLang="zh-CN" dirty="0"/>
              <a:t>it decelerated in the diffuser. </a:t>
            </a:r>
          </a:p>
          <a:p>
            <a:pPr marL="285750" indent="-285750">
              <a:spcAft>
                <a:spcPts val="1200"/>
              </a:spcAft>
              <a:buFont typeface="Arial" panose="020B0604020202020204" pitchFamily="34" charset="0"/>
              <a:buChar char="•"/>
            </a:pPr>
            <a:r>
              <a:rPr lang="en-US" altLang="zh-CN" dirty="0"/>
              <a:t>Air is compressed by the compressor. It</a:t>
            </a:r>
            <a:r>
              <a:rPr lang="zh-CN" altLang="en-US" dirty="0"/>
              <a:t> </a:t>
            </a:r>
            <a:r>
              <a:rPr lang="en-US" altLang="zh-CN" dirty="0"/>
              <a:t>is</a:t>
            </a:r>
            <a:r>
              <a:rPr lang="zh-CN" altLang="en-US" dirty="0"/>
              <a:t> </a:t>
            </a:r>
            <a:r>
              <a:rPr lang="en-US" altLang="zh-CN" dirty="0"/>
              <a:t>mixed</a:t>
            </a:r>
            <a:r>
              <a:rPr lang="zh-CN" altLang="en-US" dirty="0"/>
              <a:t> </a:t>
            </a:r>
            <a:r>
              <a:rPr lang="en-US" altLang="zh-CN" dirty="0"/>
              <a:t>with</a:t>
            </a:r>
            <a:r>
              <a:rPr lang="zh-CN" altLang="en-US" dirty="0"/>
              <a:t> </a:t>
            </a:r>
            <a:r>
              <a:rPr lang="en-US" altLang="zh-CN" dirty="0"/>
              <a:t>fuel</a:t>
            </a:r>
            <a:r>
              <a:rPr lang="zh-CN" altLang="en-US" dirty="0"/>
              <a:t> </a:t>
            </a:r>
            <a:r>
              <a:rPr lang="en-US" altLang="zh-CN" dirty="0"/>
              <a:t>in</a:t>
            </a:r>
            <a:r>
              <a:rPr lang="zh-CN" altLang="en-US" dirty="0"/>
              <a:t> </a:t>
            </a:r>
            <a:r>
              <a:rPr lang="en-US" altLang="zh-CN" dirty="0"/>
              <a:t>the</a:t>
            </a:r>
            <a:r>
              <a:rPr lang="zh-CN" altLang="en-US" dirty="0"/>
              <a:t> </a:t>
            </a:r>
            <a:r>
              <a:rPr lang="en-US" altLang="zh-CN" dirty="0"/>
              <a:t>combustion chamber, where the mixture is burned at constant pressure. </a:t>
            </a:r>
          </a:p>
          <a:p>
            <a:pPr marL="285750" indent="-285750">
              <a:spcAft>
                <a:spcPts val="1200"/>
              </a:spcAft>
              <a:buFont typeface="Arial" panose="020B0604020202020204" pitchFamily="34" charset="0"/>
              <a:buChar char="•"/>
            </a:pPr>
            <a:r>
              <a:rPr lang="en-US" altLang="zh-CN" dirty="0"/>
              <a:t>The high pressure and high temperature combustion gases partially expand in the turbine, producing enough power to drive the compressor and other equipment. </a:t>
            </a:r>
          </a:p>
          <a:p>
            <a:pPr marL="285750" indent="-285750">
              <a:spcAft>
                <a:spcPts val="1200"/>
              </a:spcAft>
              <a:buFont typeface="Arial" panose="020B0604020202020204" pitchFamily="34" charset="0"/>
              <a:buChar char="•"/>
            </a:pPr>
            <a:r>
              <a:rPr lang="en-US" altLang="zh-CN" dirty="0"/>
              <a:t>The gases expand in a nozzle to the  ambient pressure and leave the engine  at  a high velocity. </a:t>
            </a:r>
          </a:p>
        </p:txBody>
      </p:sp>
    </p:spTree>
    <p:extLst>
      <p:ext uri="{BB962C8B-B14F-4D97-AF65-F5344CB8AC3E}">
        <p14:creationId xmlns:p14="http://schemas.microsoft.com/office/powerpoint/2010/main" val="26291698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7EC2DC9B-732C-4258-5D0F-262BED921C75}"/>
              </a:ext>
            </a:extLst>
          </p:cNvPr>
          <p:cNvSpPr txBox="1"/>
          <p:nvPr/>
        </p:nvSpPr>
        <p:spPr>
          <a:xfrm>
            <a:off x="2583200" y="190500"/>
            <a:ext cx="3977599" cy="584775"/>
          </a:xfrm>
          <a:prstGeom prst="rect">
            <a:avLst/>
          </a:prstGeom>
          <a:noFill/>
        </p:spPr>
        <p:txBody>
          <a:bodyPr wrap="square" rtlCol="0">
            <a:spAutoFit/>
          </a:bodyPr>
          <a:lstStyle/>
          <a:p>
            <a:r>
              <a:rPr lang="en-US" altLang="zh-CN" sz="3200" dirty="0">
                <a:solidFill>
                  <a:srgbClr val="FF0000"/>
                </a:solidFill>
              </a:rPr>
              <a:t>Jet-propulsion cycles</a:t>
            </a:r>
            <a:endParaRPr lang="zh-CN" altLang="en-US" sz="3200" dirty="0">
              <a:solidFill>
                <a:srgbClr val="FF0000"/>
              </a:solidFill>
            </a:endParaRPr>
          </a:p>
        </p:txBody>
      </p:sp>
      <p:sp>
        <p:nvSpPr>
          <p:cNvPr id="3" name="文本框 2">
            <a:extLst>
              <a:ext uri="{FF2B5EF4-FFF2-40B4-BE49-F238E27FC236}">
                <a16:creationId xmlns:a16="http://schemas.microsoft.com/office/drawing/2014/main" id="{A13DB21E-71E3-7525-52E2-7FB356ED3303}"/>
              </a:ext>
            </a:extLst>
          </p:cNvPr>
          <p:cNvSpPr txBox="1"/>
          <p:nvPr/>
        </p:nvSpPr>
        <p:spPr>
          <a:xfrm>
            <a:off x="98612" y="1149587"/>
            <a:ext cx="8946776" cy="1200329"/>
          </a:xfrm>
          <a:prstGeom prst="rect">
            <a:avLst/>
          </a:prstGeom>
          <a:noFill/>
        </p:spPr>
        <p:txBody>
          <a:bodyPr wrap="square" rtlCol="0">
            <a:spAutoFit/>
          </a:bodyPr>
          <a:lstStyle/>
          <a:p>
            <a:pPr marL="285750" indent="-285750">
              <a:buFont typeface="Arial" panose="020B0604020202020204" pitchFamily="34" charset="0"/>
              <a:buChar char="•"/>
            </a:pPr>
            <a:r>
              <a:rPr lang="en-US" altLang="zh-CN" dirty="0"/>
              <a:t>The thrust developed in a turbine engine is the unbalance force that is caused by the difference in the momentum of the low-velocity air entering the engine and the high-velocity exhaust gases leaving the engine. </a:t>
            </a:r>
          </a:p>
          <a:p>
            <a:pPr marL="285750" indent="-285750">
              <a:buFont typeface="Arial" panose="020B0604020202020204" pitchFamily="34" charset="0"/>
              <a:buChar char="•"/>
            </a:pPr>
            <a:r>
              <a:rPr lang="en-US" altLang="zh-CN" dirty="0"/>
              <a:t>It is determined by Newton’s second Law. </a:t>
            </a:r>
            <a:endParaRPr lang="zh-CN" altLang="en-US" dirty="0"/>
          </a:p>
        </p:txBody>
      </p:sp>
      <p:graphicFrame>
        <p:nvGraphicFramePr>
          <p:cNvPr id="6" name="对象 5">
            <a:extLst>
              <a:ext uri="{FF2B5EF4-FFF2-40B4-BE49-F238E27FC236}">
                <a16:creationId xmlns:a16="http://schemas.microsoft.com/office/drawing/2014/main" id="{5C16C71D-878E-5874-0ED0-4714FA28BAA5}"/>
              </a:ext>
            </a:extLst>
          </p:cNvPr>
          <p:cNvGraphicFramePr>
            <a:graphicFrameLocks noChangeAspect="1"/>
          </p:cNvGraphicFramePr>
          <p:nvPr>
            <p:extLst>
              <p:ext uri="{D42A27DB-BD31-4B8C-83A1-F6EECF244321}">
                <p14:modId xmlns:p14="http://schemas.microsoft.com/office/powerpoint/2010/main" val="2308847895"/>
              </p:ext>
            </p:extLst>
          </p:nvPr>
        </p:nvGraphicFramePr>
        <p:xfrm>
          <a:off x="577515" y="2541969"/>
          <a:ext cx="4632159" cy="481959"/>
        </p:xfrm>
        <a:graphic>
          <a:graphicData uri="http://schemas.openxmlformats.org/presentationml/2006/ole">
            <mc:AlternateContent xmlns:mc="http://schemas.openxmlformats.org/markup-compatibility/2006">
              <mc:Choice xmlns:v="urn:schemas-microsoft-com:vml" Requires="v">
                <p:oleObj name="Equation" r:id="rId2" imgW="2438280" imgH="253800" progId="Equation.DSMT4">
                  <p:embed/>
                </p:oleObj>
              </mc:Choice>
              <mc:Fallback>
                <p:oleObj name="Equation" r:id="rId2" imgW="2438280" imgH="253800" progId="Equation.DSMT4">
                  <p:embed/>
                  <p:pic>
                    <p:nvPicPr>
                      <p:cNvPr id="13" name="对象 12"/>
                      <p:cNvPicPr/>
                      <p:nvPr/>
                    </p:nvPicPr>
                    <p:blipFill>
                      <a:blip r:embed="rId3"/>
                      <a:stretch>
                        <a:fillRect/>
                      </a:stretch>
                    </p:blipFill>
                    <p:spPr>
                      <a:xfrm>
                        <a:off x="577515" y="2541969"/>
                        <a:ext cx="4632159" cy="481959"/>
                      </a:xfrm>
                      <a:prstGeom prst="rect">
                        <a:avLst/>
                      </a:prstGeom>
                      <a:ln>
                        <a:noFill/>
                      </a:ln>
                    </p:spPr>
                  </p:pic>
                </p:oleObj>
              </mc:Fallback>
            </mc:AlternateContent>
          </a:graphicData>
        </a:graphic>
      </p:graphicFrame>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4F6E2C9-9911-E1D9-E93E-E56B00C7823A}"/>
                  </a:ext>
                </a:extLst>
              </p:cNvPr>
              <p:cNvSpPr txBox="1"/>
              <p:nvPr/>
            </p:nvSpPr>
            <p:spPr>
              <a:xfrm>
                <a:off x="577515" y="5209674"/>
                <a:ext cx="7988968" cy="1234697"/>
              </a:xfrm>
              <a:prstGeom prst="rect">
                <a:avLst/>
              </a:prstGeom>
              <a:noFill/>
            </p:spPr>
            <p:txBody>
              <a:bodyPr wrap="square" rtlCol="0">
                <a:spAutoFit/>
              </a:bodyPr>
              <a:lstStyle/>
              <a:p>
                <a:pPr marL="285750" indent="-285750">
                  <a:buFont typeface="Arial" panose="020B0604020202020204" pitchFamily="34" charset="0"/>
                  <a:buChar char="•"/>
                </a:pPr>
                <a:r>
                  <a:rPr lang="en-US" altLang="zh-CN" dirty="0"/>
                  <a:t>The mass flow rate of the gases at the engine exit and inlet are different, the difference being equal to the combustion rate of the fuel. </a:t>
                </a:r>
              </a:p>
              <a:p>
                <a:pPr marL="285750" indent="-285750">
                  <a:buFont typeface="Arial" panose="020B0604020202020204" pitchFamily="34" charset="0"/>
                  <a:buChar char="•"/>
                </a:pPr>
                <a:r>
                  <a:rPr lang="en-US" altLang="zh-CN" dirty="0"/>
                  <a:t>The air-fuel mass ratio is usually very high, making the difference is small. </a:t>
                </a:r>
              </a:p>
              <a:p>
                <a:pPr marL="285750" indent="-285750">
                  <a:buFont typeface="Arial" panose="020B0604020202020204" pitchFamily="34" charset="0"/>
                  <a:buChar char="•"/>
                </a:pPr>
                <a:r>
                  <a:rPr lang="en-US" altLang="zh-CN" dirty="0"/>
                  <a:t>The </a:t>
                </a:r>
                <a14:m>
                  <m:oMath xmlns:m="http://schemas.openxmlformats.org/officeDocument/2006/math">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𝑚</m:t>
                        </m:r>
                      </m:e>
                    </m:acc>
                  </m:oMath>
                </a14:m>
                <a:r>
                  <a:rPr lang="zh-CN" altLang="en-US" dirty="0"/>
                  <a:t> </a:t>
                </a:r>
                <a:r>
                  <a:rPr lang="en-US" altLang="zh-CN" dirty="0"/>
                  <a:t>is taken as the mass flow rate of the air through the engine.</a:t>
                </a:r>
                <a:endParaRPr lang="zh-CN" altLang="en-US" dirty="0"/>
              </a:p>
            </p:txBody>
          </p:sp>
        </mc:Choice>
        <mc:Fallback xmlns="">
          <p:sp>
            <p:nvSpPr>
              <p:cNvPr id="7" name="文本框 6">
                <a:extLst>
                  <a:ext uri="{FF2B5EF4-FFF2-40B4-BE49-F238E27FC236}">
                    <a16:creationId xmlns:a16="http://schemas.microsoft.com/office/drawing/2014/main" id="{44F6E2C9-9911-E1D9-E93E-E56B00C7823A}"/>
                  </a:ext>
                </a:extLst>
              </p:cNvPr>
              <p:cNvSpPr txBox="1">
                <a:spLocks noRot="1" noChangeAspect="1" noMove="1" noResize="1" noEditPoints="1" noAdjustHandles="1" noChangeArrowheads="1" noChangeShapeType="1" noTextEdit="1"/>
              </p:cNvSpPr>
              <p:nvPr/>
            </p:nvSpPr>
            <p:spPr>
              <a:xfrm>
                <a:off x="577515" y="5209674"/>
                <a:ext cx="7988968" cy="1234697"/>
              </a:xfrm>
              <a:prstGeom prst="rect">
                <a:avLst/>
              </a:prstGeom>
              <a:blipFill>
                <a:blip r:embed="rId4"/>
                <a:stretch>
                  <a:fillRect l="-534" t="-2970" r="-763" b="-4455"/>
                </a:stretch>
              </a:blipFill>
            </p:spPr>
            <p:txBody>
              <a:bodyPr/>
              <a:lstStyle/>
              <a:p>
                <a:r>
                  <a:rPr lang="zh-CN" altLang="en-US">
                    <a:noFill/>
                  </a:rPr>
                  <a:t> </a:t>
                </a:r>
              </a:p>
            </p:txBody>
          </p:sp>
        </mc:Fallback>
      </mc:AlternateContent>
      <p:graphicFrame>
        <p:nvGraphicFramePr>
          <p:cNvPr id="10" name="对象 9">
            <a:extLst>
              <a:ext uri="{FF2B5EF4-FFF2-40B4-BE49-F238E27FC236}">
                <a16:creationId xmlns:a16="http://schemas.microsoft.com/office/drawing/2014/main" id="{F3BC9DCE-0C4E-CC29-C81E-9780EB536009}"/>
              </a:ext>
            </a:extLst>
          </p:cNvPr>
          <p:cNvGraphicFramePr>
            <a:graphicFrameLocks noChangeAspect="1"/>
          </p:cNvGraphicFramePr>
          <p:nvPr>
            <p:extLst>
              <p:ext uri="{D42A27DB-BD31-4B8C-83A1-F6EECF244321}">
                <p14:modId xmlns:p14="http://schemas.microsoft.com/office/powerpoint/2010/main" val="2955233330"/>
              </p:ext>
            </p:extLst>
          </p:nvPr>
        </p:nvGraphicFramePr>
        <p:xfrm>
          <a:off x="631392" y="3350368"/>
          <a:ext cx="4374984" cy="502230"/>
        </p:xfrm>
        <a:graphic>
          <a:graphicData uri="http://schemas.openxmlformats.org/presentationml/2006/ole">
            <mc:AlternateContent xmlns:mc="http://schemas.openxmlformats.org/markup-compatibility/2006">
              <mc:Choice xmlns:v="urn:schemas-microsoft-com:vml" Requires="v">
                <p:oleObj name="Equation" r:id="rId5" imgW="2209680" imgH="253800" progId="Equation.DSMT4">
                  <p:embed/>
                </p:oleObj>
              </mc:Choice>
              <mc:Fallback>
                <p:oleObj name="Equation" r:id="rId5" imgW="2209680" imgH="253800" progId="Equation.DSMT4">
                  <p:embed/>
                  <p:pic>
                    <p:nvPicPr>
                      <p:cNvPr id="6" name="对象 5">
                        <a:extLst>
                          <a:ext uri="{FF2B5EF4-FFF2-40B4-BE49-F238E27FC236}">
                            <a16:creationId xmlns:a16="http://schemas.microsoft.com/office/drawing/2014/main" id="{5C16C71D-878E-5874-0ED0-4714FA28BAA5}"/>
                          </a:ext>
                        </a:extLst>
                      </p:cNvPr>
                      <p:cNvPicPr/>
                      <p:nvPr/>
                    </p:nvPicPr>
                    <p:blipFill>
                      <a:blip r:embed="rId6"/>
                      <a:stretch>
                        <a:fillRect/>
                      </a:stretch>
                    </p:blipFill>
                    <p:spPr>
                      <a:xfrm>
                        <a:off x="631392" y="3350368"/>
                        <a:ext cx="4374984" cy="502230"/>
                      </a:xfrm>
                      <a:prstGeom prst="rect">
                        <a:avLst/>
                      </a:prstGeom>
                      <a:ln>
                        <a:noFill/>
                      </a:ln>
                    </p:spPr>
                  </p:pic>
                </p:oleObj>
              </mc:Fallback>
            </mc:AlternateContent>
          </a:graphicData>
        </a:graphic>
      </p:graphicFrame>
      <p:graphicFrame>
        <p:nvGraphicFramePr>
          <p:cNvPr id="11" name="对象 10">
            <a:extLst>
              <a:ext uri="{FF2B5EF4-FFF2-40B4-BE49-F238E27FC236}">
                <a16:creationId xmlns:a16="http://schemas.microsoft.com/office/drawing/2014/main" id="{4033062A-4963-244C-6A8E-022623492033}"/>
              </a:ext>
            </a:extLst>
          </p:cNvPr>
          <p:cNvGraphicFramePr>
            <a:graphicFrameLocks noChangeAspect="1"/>
          </p:cNvGraphicFramePr>
          <p:nvPr>
            <p:extLst>
              <p:ext uri="{D42A27DB-BD31-4B8C-83A1-F6EECF244321}">
                <p14:modId xmlns:p14="http://schemas.microsoft.com/office/powerpoint/2010/main" val="2976800127"/>
              </p:ext>
            </p:extLst>
          </p:nvPr>
        </p:nvGraphicFramePr>
        <p:xfrm>
          <a:off x="639834" y="4151344"/>
          <a:ext cx="2684665" cy="713482"/>
        </p:xfrm>
        <a:graphic>
          <a:graphicData uri="http://schemas.openxmlformats.org/presentationml/2006/ole">
            <mc:AlternateContent xmlns:mc="http://schemas.openxmlformats.org/markup-compatibility/2006">
              <mc:Choice xmlns:v="urn:schemas-microsoft-com:vml" Requires="v">
                <p:oleObj name="Equation" r:id="rId7" imgW="1765080" imgH="469800" progId="Equation.DSMT4">
                  <p:embed/>
                </p:oleObj>
              </mc:Choice>
              <mc:Fallback>
                <p:oleObj name="Equation" r:id="rId7" imgW="1765080" imgH="469800" progId="Equation.DSMT4">
                  <p:embed/>
                  <p:pic>
                    <p:nvPicPr>
                      <p:cNvPr id="10" name="对象 9">
                        <a:extLst>
                          <a:ext uri="{FF2B5EF4-FFF2-40B4-BE49-F238E27FC236}">
                            <a16:creationId xmlns:a16="http://schemas.microsoft.com/office/drawing/2014/main" id="{F3BC9DCE-0C4E-CC29-C81E-9780EB536009}"/>
                          </a:ext>
                        </a:extLst>
                      </p:cNvPr>
                      <p:cNvPicPr/>
                      <p:nvPr/>
                    </p:nvPicPr>
                    <p:blipFill>
                      <a:blip r:embed="rId8"/>
                      <a:stretch>
                        <a:fillRect/>
                      </a:stretch>
                    </p:blipFill>
                    <p:spPr>
                      <a:xfrm>
                        <a:off x="639834" y="4151344"/>
                        <a:ext cx="2684665" cy="713482"/>
                      </a:xfrm>
                      <a:prstGeom prst="rect">
                        <a:avLst/>
                      </a:prstGeom>
                      <a:ln>
                        <a:noFill/>
                      </a:ln>
                    </p:spPr>
                  </p:pic>
                </p:oleObj>
              </mc:Fallback>
            </mc:AlternateContent>
          </a:graphicData>
        </a:graphic>
      </p:graphicFrame>
      <p:pic>
        <p:nvPicPr>
          <p:cNvPr id="13" name="图片 12">
            <a:extLst>
              <a:ext uri="{FF2B5EF4-FFF2-40B4-BE49-F238E27FC236}">
                <a16:creationId xmlns:a16="http://schemas.microsoft.com/office/drawing/2014/main" id="{9746F663-81DD-34DC-798D-6D856E1E8F38}"/>
              </a:ext>
            </a:extLst>
          </p:cNvPr>
          <p:cNvPicPr>
            <a:picLocks noChangeAspect="1"/>
          </p:cNvPicPr>
          <p:nvPr/>
        </p:nvPicPr>
        <p:blipFill>
          <a:blip r:embed="rId9"/>
          <a:stretch>
            <a:fillRect/>
          </a:stretch>
        </p:blipFill>
        <p:spPr>
          <a:xfrm>
            <a:off x="5687155" y="2495976"/>
            <a:ext cx="3225885" cy="2377411"/>
          </a:xfrm>
          <a:prstGeom prst="rect">
            <a:avLst/>
          </a:prstGeom>
        </p:spPr>
      </p:pic>
    </p:spTree>
    <p:extLst>
      <p:ext uri="{BB962C8B-B14F-4D97-AF65-F5344CB8AC3E}">
        <p14:creationId xmlns:p14="http://schemas.microsoft.com/office/powerpoint/2010/main" val="42770609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459101" y="153812"/>
            <a:ext cx="3919663" cy="584775"/>
          </a:xfrm>
          <a:prstGeom prst="rect">
            <a:avLst/>
          </a:prstGeom>
          <a:noFill/>
        </p:spPr>
        <p:txBody>
          <a:bodyPr wrap="none" rtlCol="0">
            <a:spAutoFit/>
          </a:bodyPr>
          <a:lstStyle/>
          <a:p>
            <a:r>
              <a:rPr lang="en-US" altLang="zh-CN" sz="3200" dirty="0">
                <a:solidFill>
                  <a:srgbClr val="FF0000"/>
                </a:solidFill>
              </a:rPr>
              <a:t>Stagnation enthalpy </a:t>
            </a:r>
            <a:endParaRPr lang="zh-CN" altLang="en-US" sz="3200" dirty="0">
              <a:solidFill>
                <a:srgbClr val="FF0000"/>
              </a:solidFill>
            </a:endParaRPr>
          </a:p>
        </p:txBody>
      </p:sp>
      <p:sp>
        <p:nvSpPr>
          <p:cNvPr id="3" name="Text Box 1056"/>
          <p:cNvSpPr txBox="1">
            <a:spLocks noChangeArrowheads="1"/>
          </p:cNvSpPr>
          <p:nvPr/>
        </p:nvSpPr>
        <p:spPr bwMode="auto">
          <a:xfrm>
            <a:off x="664627" y="1294372"/>
            <a:ext cx="2810312" cy="40011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defTabSz="914400" eaLnBrk="1" hangingPunct="1"/>
            <a:r>
              <a:rPr lang="en-US" altLang="zh-CN" sz="2000" b="1" dirty="0">
                <a:solidFill>
                  <a:srgbClr val="000000"/>
                </a:solidFill>
                <a:latin typeface="Arial Unicode MS" pitchFamily="34" charset="-122"/>
                <a:ea typeface="Arial Unicode MS" pitchFamily="34" charset="-122"/>
                <a:cs typeface="Arial Unicode MS" pitchFamily="34" charset="-122"/>
              </a:rPr>
              <a:t>Enthalpy</a:t>
            </a:r>
            <a:r>
              <a:rPr lang="en-US" altLang="zh-CN" sz="2000" dirty="0">
                <a:solidFill>
                  <a:srgbClr val="000000"/>
                </a:solidFill>
                <a:latin typeface="Arial Unicode MS" pitchFamily="34" charset="-122"/>
                <a:ea typeface="Arial Unicode MS" pitchFamily="34" charset="-122"/>
                <a:cs typeface="Arial Unicode MS" pitchFamily="34" charset="-122"/>
              </a:rPr>
              <a:t>, </a:t>
            </a:r>
            <a:r>
              <a:rPr lang="en-US" altLang="zh-CN" sz="2000" b="1" dirty="0">
                <a:solidFill>
                  <a:srgbClr val="0000CC"/>
                </a:solidFill>
                <a:latin typeface="Arial Unicode MS" pitchFamily="34" charset="-122"/>
                <a:ea typeface="Arial Unicode MS" pitchFamily="34" charset="-122"/>
                <a:cs typeface="Arial Unicode MS" pitchFamily="34" charset="-122"/>
              </a:rPr>
              <a:t>H = U + PV</a:t>
            </a:r>
          </a:p>
        </p:txBody>
      </p:sp>
      <p:sp>
        <p:nvSpPr>
          <p:cNvPr id="5" name="Text Box 1056"/>
          <p:cNvSpPr txBox="1">
            <a:spLocks noChangeArrowheads="1"/>
          </p:cNvSpPr>
          <p:nvPr/>
        </p:nvSpPr>
        <p:spPr bwMode="auto">
          <a:xfrm>
            <a:off x="410399" y="2671104"/>
            <a:ext cx="5968365" cy="40011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US" altLang="zh-CN" sz="2000" b="1" dirty="0">
                <a:solidFill>
                  <a:srgbClr val="000000"/>
                </a:solidFill>
                <a:latin typeface="Arial Unicode MS" pitchFamily="34" charset="-122"/>
                <a:ea typeface="Arial Unicode MS" pitchFamily="34" charset="-122"/>
                <a:cs typeface="Arial Unicode MS" pitchFamily="34" charset="-122"/>
              </a:rPr>
              <a:t>Stagnation Enthalpy (</a:t>
            </a:r>
            <a:r>
              <a:rPr lang="zh-CN" altLang="en-US" sz="2000" dirty="0"/>
              <a:t>滞止焓</a:t>
            </a:r>
            <a:r>
              <a:rPr lang="en-US" altLang="zh-CN" sz="2000" b="1" dirty="0">
                <a:solidFill>
                  <a:srgbClr val="000000"/>
                </a:solidFill>
                <a:latin typeface="Arial Unicode MS" pitchFamily="34" charset="-122"/>
                <a:ea typeface="Arial Unicode MS" pitchFamily="34" charset="-122"/>
                <a:cs typeface="Arial Unicode MS" pitchFamily="34" charset="-122"/>
              </a:rPr>
              <a:t>)</a:t>
            </a:r>
            <a:r>
              <a:rPr lang="en-US" altLang="zh-CN" sz="2000" dirty="0">
                <a:solidFill>
                  <a:srgbClr val="000000"/>
                </a:solidFill>
                <a:latin typeface="Arial Unicode MS" pitchFamily="34" charset="-122"/>
                <a:ea typeface="Arial Unicode MS" pitchFamily="34" charset="-122"/>
                <a:cs typeface="Arial Unicode MS" pitchFamily="34" charset="-122"/>
              </a:rPr>
              <a:t>, </a:t>
            </a:r>
            <a:r>
              <a:rPr lang="en-US" altLang="zh-CN" sz="2000" b="1" dirty="0">
                <a:solidFill>
                  <a:srgbClr val="0000CC"/>
                </a:solidFill>
                <a:latin typeface="Arial Unicode MS" pitchFamily="34" charset="-122"/>
                <a:ea typeface="Arial Unicode MS" pitchFamily="34" charset="-122"/>
                <a:cs typeface="Arial Unicode MS" pitchFamily="34" charset="-122"/>
              </a:rPr>
              <a:t>H </a:t>
            </a:r>
            <a:r>
              <a:rPr lang="en-US" altLang="zh-CN" sz="2000" b="1" baseline="-25000" dirty="0">
                <a:solidFill>
                  <a:srgbClr val="0000CC"/>
                </a:solidFill>
                <a:latin typeface="Arial Unicode MS" pitchFamily="34" charset="-122"/>
                <a:ea typeface="Arial Unicode MS" pitchFamily="34" charset="-122"/>
                <a:cs typeface="Arial Unicode MS" pitchFamily="34" charset="-122"/>
              </a:rPr>
              <a:t>0</a:t>
            </a:r>
            <a:r>
              <a:rPr lang="en-US" altLang="zh-CN" sz="2000" b="1" dirty="0">
                <a:solidFill>
                  <a:srgbClr val="0000CC"/>
                </a:solidFill>
                <a:latin typeface="Arial Unicode MS" pitchFamily="34" charset="-122"/>
                <a:ea typeface="Arial Unicode MS" pitchFamily="34" charset="-122"/>
                <a:cs typeface="Arial Unicode MS" pitchFamily="34" charset="-122"/>
              </a:rPr>
              <a:t>= H+ mv</a:t>
            </a:r>
            <a:r>
              <a:rPr lang="en-US" altLang="zh-CN" sz="2000" b="1" baseline="30000" dirty="0">
                <a:solidFill>
                  <a:srgbClr val="0000CC"/>
                </a:solidFill>
                <a:latin typeface="Arial Unicode MS" pitchFamily="34" charset="-122"/>
                <a:ea typeface="Arial Unicode MS" pitchFamily="34" charset="-122"/>
                <a:cs typeface="Arial Unicode MS" pitchFamily="34" charset="-122"/>
              </a:rPr>
              <a:t>2</a:t>
            </a:r>
            <a:r>
              <a:rPr lang="en-US" altLang="zh-CN" sz="2000" b="1" dirty="0">
                <a:solidFill>
                  <a:srgbClr val="0000CC"/>
                </a:solidFill>
                <a:latin typeface="Arial Unicode MS" pitchFamily="34" charset="-122"/>
                <a:ea typeface="Arial Unicode MS" pitchFamily="34" charset="-122"/>
                <a:cs typeface="Arial Unicode MS" pitchFamily="34" charset="-122"/>
              </a:rPr>
              <a:t>/2</a:t>
            </a:r>
          </a:p>
        </p:txBody>
      </p:sp>
      <p:sp>
        <p:nvSpPr>
          <p:cNvPr id="6" name="文本框 5"/>
          <p:cNvSpPr txBox="1"/>
          <p:nvPr/>
        </p:nvSpPr>
        <p:spPr>
          <a:xfrm>
            <a:off x="410400" y="2131200"/>
            <a:ext cx="5968365" cy="369332"/>
          </a:xfrm>
          <a:prstGeom prst="rect">
            <a:avLst/>
          </a:prstGeom>
          <a:noFill/>
        </p:spPr>
        <p:txBody>
          <a:bodyPr wrap="none" rtlCol="0">
            <a:spAutoFit/>
          </a:bodyPr>
          <a:lstStyle/>
          <a:p>
            <a:r>
              <a:rPr lang="en-US" altLang="zh-CN" dirty="0"/>
              <a:t>For high speed flow, the kinetic energy is not negligible </a:t>
            </a:r>
            <a:endParaRPr lang="zh-CN" altLang="en-US" dirty="0"/>
          </a:p>
        </p:txBody>
      </p:sp>
      <p:sp>
        <p:nvSpPr>
          <p:cNvPr id="7" name="梯形 6"/>
          <p:cNvSpPr/>
          <p:nvPr/>
        </p:nvSpPr>
        <p:spPr>
          <a:xfrm rot="5400000">
            <a:off x="1234859" y="4046002"/>
            <a:ext cx="914400" cy="1216152"/>
          </a:xfrm>
          <a:prstGeom prst="trapezoid">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589303" y="4268062"/>
            <a:ext cx="397866" cy="369332"/>
          </a:xfrm>
          <a:prstGeom prst="rect">
            <a:avLst/>
          </a:prstGeom>
          <a:noFill/>
        </p:spPr>
        <p:txBody>
          <a:bodyPr wrap="none" rtlCol="0">
            <a:spAutoFit/>
          </a:bodyPr>
          <a:lstStyle/>
          <a:p>
            <a:r>
              <a:rPr lang="en-US" altLang="zh-CN" dirty="0"/>
              <a:t>h</a:t>
            </a:r>
            <a:r>
              <a:rPr lang="en-US" altLang="zh-CN" baseline="-25000" dirty="0"/>
              <a:t>1</a:t>
            </a:r>
            <a:endParaRPr lang="zh-CN" altLang="en-US" dirty="0"/>
          </a:p>
        </p:txBody>
      </p:sp>
      <p:sp>
        <p:nvSpPr>
          <p:cNvPr id="9" name="文本框 8"/>
          <p:cNvSpPr txBox="1"/>
          <p:nvPr/>
        </p:nvSpPr>
        <p:spPr>
          <a:xfrm>
            <a:off x="595715" y="4654078"/>
            <a:ext cx="385042" cy="369332"/>
          </a:xfrm>
          <a:prstGeom prst="rect">
            <a:avLst/>
          </a:prstGeom>
          <a:noFill/>
        </p:spPr>
        <p:txBody>
          <a:bodyPr wrap="none" rtlCol="0">
            <a:spAutoFit/>
          </a:bodyPr>
          <a:lstStyle/>
          <a:p>
            <a:r>
              <a:rPr lang="en-US" altLang="zh-CN" dirty="0"/>
              <a:t>v</a:t>
            </a:r>
            <a:r>
              <a:rPr lang="en-US" altLang="zh-CN" baseline="-25000" dirty="0"/>
              <a:t>1</a:t>
            </a:r>
            <a:endParaRPr lang="zh-CN" altLang="en-US" dirty="0"/>
          </a:p>
        </p:txBody>
      </p:sp>
      <p:sp>
        <p:nvSpPr>
          <p:cNvPr id="11" name="文本框 10"/>
          <p:cNvSpPr txBox="1"/>
          <p:nvPr/>
        </p:nvSpPr>
        <p:spPr>
          <a:xfrm>
            <a:off x="435436" y="3317740"/>
            <a:ext cx="7122463" cy="369332"/>
          </a:xfrm>
          <a:prstGeom prst="rect">
            <a:avLst/>
          </a:prstGeom>
          <a:noFill/>
        </p:spPr>
        <p:txBody>
          <a:bodyPr wrap="none" rtlCol="0">
            <a:spAutoFit/>
          </a:bodyPr>
          <a:lstStyle/>
          <a:p>
            <a:r>
              <a:rPr lang="en-US" altLang="zh-CN" dirty="0"/>
              <a:t>It means the entropy of a flow when it is brought to rest adiabatically</a:t>
            </a:r>
            <a:endParaRPr lang="zh-CN" altLang="en-US" dirty="0"/>
          </a:p>
        </p:txBody>
      </p:sp>
      <p:sp>
        <p:nvSpPr>
          <p:cNvPr id="12" name="文本框 11"/>
          <p:cNvSpPr txBox="1"/>
          <p:nvPr/>
        </p:nvSpPr>
        <p:spPr>
          <a:xfrm>
            <a:off x="174035" y="5383418"/>
            <a:ext cx="3300904" cy="369332"/>
          </a:xfrm>
          <a:prstGeom prst="rect">
            <a:avLst/>
          </a:prstGeom>
          <a:noFill/>
        </p:spPr>
        <p:txBody>
          <a:bodyPr wrap="none" rtlCol="0">
            <a:spAutoFit/>
          </a:bodyPr>
          <a:lstStyle/>
          <a:p>
            <a:r>
              <a:rPr lang="en-US" altLang="zh-CN" dirty="0"/>
              <a:t>Steady flow in a adiabatic duct</a:t>
            </a:r>
            <a:endParaRPr lang="zh-CN" altLang="en-US" dirty="0"/>
          </a:p>
        </p:txBody>
      </p:sp>
      <p:cxnSp>
        <p:nvCxnSpPr>
          <p:cNvPr id="14" name="直接箭头连接符 13"/>
          <p:cNvCxnSpPr/>
          <p:nvPr/>
        </p:nvCxnSpPr>
        <p:spPr>
          <a:xfrm>
            <a:off x="987169" y="4707586"/>
            <a:ext cx="39523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2462503" y="4251378"/>
            <a:ext cx="397866" cy="369332"/>
          </a:xfrm>
          <a:prstGeom prst="rect">
            <a:avLst/>
          </a:prstGeom>
          <a:noFill/>
        </p:spPr>
        <p:txBody>
          <a:bodyPr wrap="none" rtlCol="0">
            <a:spAutoFit/>
          </a:bodyPr>
          <a:lstStyle/>
          <a:p>
            <a:r>
              <a:rPr lang="en-US" altLang="zh-CN" dirty="0"/>
              <a:t>h</a:t>
            </a:r>
            <a:r>
              <a:rPr lang="en-US" altLang="zh-CN" baseline="-25000" dirty="0"/>
              <a:t>2</a:t>
            </a:r>
            <a:endParaRPr lang="zh-CN" altLang="en-US" dirty="0"/>
          </a:p>
        </p:txBody>
      </p:sp>
      <p:sp>
        <p:nvSpPr>
          <p:cNvPr id="16" name="文本框 15"/>
          <p:cNvSpPr txBox="1"/>
          <p:nvPr/>
        </p:nvSpPr>
        <p:spPr>
          <a:xfrm>
            <a:off x="2468915" y="4637394"/>
            <a:ext cx="385042" cy="369332"/>
          </a:xfrm>
          <a:prstGeom prst="rect">
            <a:avLst/>
          </a:prstGeom>
          <a:noFill/>
        </p:spPr>
        <p:txBody>
          <a:bodyPr wrap="none" rtlCol="0">
            <a:spAutoFit/>
          </a:bodyPr>
          <a:lstStyle/>
          <a:p>
            <a:r>
              <a:rPr lang="en-US" altLang="zh-CN" dirty="0"/>
              <a:t>v</a:t>
            </a:r>
            <a:r>
              <a:rPr lang="en-US" altLang="zh-CN" baseline="-25000" dirty="0"/>
              <a:t>2</a:t>
            </a:r>
            <a:endParaRPr lang="zh-CN" altLang="en-US" dirty="0"/>
          </a:p>
        </p:txBody>
      </p:sp>
      <mc:AlternateContent xmlns:mc="http://schemas.openxmlformats.org/markup-compatibility/2006" xmlns:a14="http://schemas.microsoft.com/office/drawing/2010/main">
        <mc:Choice Requires="a14">
          <p:sp>
            <p:nvSpPr>
              <p:cNvPr id="17" name="矩形 16"/>
              <p:cNvSpPr/>
              <p:nvPr/>
            </p:nvSpPr>
            <p:spPr>
              <a:xfrm>
                <a:off x="3715679" y="3862731"/>
                <a:ext cx="1640642" cy="124854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zh-CN" altLang="en-US" i="1">
                              <a:latin typeface="Cambria Math" panose="02040503050406030204" pitchFamily="18" charset="0"/>
                            </a:rPr>
                          </m:ctrlPr>
                        </m:mPr>
                        <m:mr>
                          <m:e>
                            <m:sSub>
                              <m:sSubPr>
                                <m:ctrlPr>
                                  <a:rPr lang="zh-CN" altLang="en-US" i="1">
                                    <a:latin typeface="Cambria Math" panose="02040503050406030204" pitchFamily="18" charset="0"/>
                                  </a:rPr>
                                </m:ctrlPr>
                              </m:sSubPr>
                              <m:e>
                                <m:r>
                                  <a:rPr lang="zh-CN" altLang="en-US" i="1">
                                    <a:latin typeface="Cambria Math" panose="02040503050406030204" pitchFamily="18" charset="0"/>
                                  </a:rPr>
                                  <m:t>h</m:t>
                                </m:r>
                              </m:e>
                              <m:sub>
                                <m:r>
                                  <a:rPr lang="zh-CN" altLang="en-US" i="0">
                                    <a:latin typeface="Cambria Math" panose="02040503050406030204" pitchFamily="18" charset="0"/>
                                  </a:rPr>
                                  <m:t>01</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h</m:t>
                                </m:r>
                              </m:e>
                              <m:sub>
                                <m:r>
                                  <a:rPr lang="zh-CN" altLang="en-US" i="0">
                                    <a:latin typeface="Cambria Math" panose="02040503050406030204" pitchFamily="18" charset="0"/>
                                  </a:rPr>
                                  <m:t>1</m:t>
                                </m:r>
                              </m:sub>
                            </m:sSub>
                            <m:r>
                              <a:rPr lang="zh-CN" altLang="en-US" i="0">
                                <a:latin typeface="Cambria Math" panose="02040503050406030204" pitchFamily="18" charset="0"/>
                              </a:rPr>
                              <m:t>+</m:t>
                            </m:r>
                            <m:f>
                              <m:fPr>
                                <m:ctrlPr>
                                  <a:rPr lang="zh-CN" altLang="en-US" i="1">
                                    <a:latin typeface="Cambria Math" panose="02040503050406030204" pitchFamily="18" charset="0"/>
                                  </a:rPr>
                                </m:ctrlPr>
                              </m:fPr>
                              <m:num>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𝑣</m:t>
                                    </m:r>
                                  </m:e>
                                  <m:sub>
                                    <m:r>
                                      <a:rPr lang="zh-CN" altLang="en-US" i="0">
                                        <a:latin typeface="Cambria Math" panose="02040503050406030204" pitchFamily="18" charset="0"/>
                                      </a:rPr>
                                      <m:t>1</m:t>
                                    </m:r>
                                  </m:sub>
                                  <m:sup>
                                    <m:r>
                                      <a:rPr lang="zh-CN" altLang="en-US" i="0">
                                        <a:latin typeface="Cambria Math" panose="02040503050406030204" pitchFamily="18" charset="0"/>
                                      </a:rPr>
                                      <m:t>2</m:t>
                                    </m:r>
                                  </m:sup>
                                </m:sSubSup>
                              </m:num>
                              <m:den>
                                <m:r>
                                  <a:rPr lang="zh-CN" altLang="en-US" i="0">
                                    <a:latin typeface="Cambria Math" panose="02040503050406030204" pitchFamily="18" charset="0"/>
                                  </a:rPr>
                                  <m:t>2</m:t>
                                </m:r>
                              </m:den>
                            </m:f>
                          </m:e>
                        </m:mr>
                        <m:mr>
                          <m:e>
                            <m:sSub>
                              <m:sSubPr>
                                <m:ctrlPr>
                                  <a:rPr lang="zh-CN" altLang="en-US" i="1">
                                    <a:latin typeface="Cambria Math" panose="02040503050406030204" pitchFamily="18" charset="0"/>
                                  </a:rPr>
                                </m:ctrlPr>
                              </m:sSubPr>
                              <m:e>
                                <m:r>
                                  <a:rPr lang="zh-CN" altLang="en-US" i="1">
                                    <a:latin typeface="Cambria Math" panose="02040503050406030204" pitchFamily="18" charset="0"/>
                                  </a:rPr>
                                  <m:t>h</m:t>
                                </m:r>
                              </m:e>
                              <m:sub>
                                <m:r>
                                  <a:rPr lang="zh-CN" altLang="en-US" i="0">
                                    <a:latin typeface="Cambria Math" panose="02040503050406030204" pitchFamily="18" charset="0"/>
                                  </a:rPr>
                                  <m:t>02</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h</m:t>
                                </m:r>
                              </m:e>
                              <m:sub>
                                <m:r>
                                  <a:rPr lang="zh-CN" altLang="en-US" i="0">
                                    <a:latin typeface="Cambria Math" panose="02040503050406030204" pitchFamily="18" charset="0"/>
                                  </a:rPr>
                                  <m:t>2</m:t>
                                </m:r>
                              </m:sub>
                            </m:sSub>
                            <m:r>
                              <a:rPr lang="zh-CN" altLang="en-US" i="0">
                                <a:latin typeface="Cambria Math" panose="02040503050406030204" pitchFamily="18" charset="0"/>
                              </a:rPr>
                              <m:t>+</m:t>
                            </m:r>
                            <m:f>
                              <m:fPr>
                                <m:ctrlPr>
                                  <a:rPr lang="zh-CN" altLang="en-US" i="1">
                                    <a:latin typeface="Cambria Math" panose="02040503050406030204" pitchFamily="18" charset="0"/>
                                  </a:rPr>
                                </m:ctrlPr>
                              </m:fPr>
                              <m:num>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𝑣</m:t>
                                    </m:r>
                                  </m:e>
                                  <m:sub>
                                    <m:r>
                                      <a:rPr lang="zh-CN" altLang="en-US" i="0">
                                        <a:latin typeface="Cambria Math" panose="02040503050406030204" pitchFamily="18" charset="0"/>
                                      </a:rPr>
                                      <m:t>2</m:t>
                                    </m:r>
                                  </m:sub>
                                  <m:sup>
                                    <m:r>
                                      <a:rPr lang="zh-CN" altLang="en-US" i="0">
                                        <a:latin typeface="Cambria Math" panose="02040503050406030204" pitchFamily="18" charset="0"/>
                                      </a:rPr>
                                      <m:t>2</m:t>
                                    </m:r>
                                  </m:sup>
                                </m:sSubSup>
                              </m:num>
                              <m:den>
                                <m:r>
                                  <a:rPr lang="zh-CN" altLang="en-US" i="0">
                                    <a:latin typeface="Cambria Math" panose="02040503050406030204" pitchFamily="18" charset="0"/>
                                  </a:rPr>
                                  <m:t>2</m:t>
                                </m:r>
                              </m:den>
                            </m:f>
                          </m:e>
                        </m:mr>
                      </m:m>
                    </m:oMath>
                  </m:oMathPara>
                </a14:m>
                <a:endParaRPr lang="zh-CN" altLang="en-US" dirty="0"/>
              </a:p>
            </p:txBody>
          </p:sp>
        </mc:Choice>
        <mc:Fallback xmlns="">
          <p:sp>
            <p:nvSpPr>
              <p:cNvPr id="17" name="矩形 16"/>
              <p:cNvSpPr>
                <a:spLocks noRot="1" noChangeAspect="1" noMove="1" noResize="1" noEditPoints="1" noAdjustHandles="1" noChangeArrowheads="1" noChangeShapeType="1" noTextEdit="1"/>
              </p:cNvSpPr>
              <p:nvPr/>
            </p:nvSpPr>
            <p:spPr>
              <a:xfrm>
                <a:off x="3715679" y="3862731"/>
                <a:ext cx="1640642" cy="1248547"/>
              </a:xfrm>
              <a:prstGeom prst="rect">
                <a:avLst/>
              </a:prstGeom>
              <a:blipFill rotWithShape="0">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6218043" y="4321267"/>
                <a:ext cx="121687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latin typeface="Cambria Math" panose="02040503050406030204" pitchFamily="18" charset="0"/>
                            </a:rPr>
                          </m:ctrlPr>
                        </m:sSubPr>
                        <m:e>
                          <m:r>
                            <a:rPr lang="zh-CN" altLang="en-US" i="1">
                              <a:latin typeface="Cambria Math" panose="02040503050406030204" pitchFamily="18" charset="0"/>
                            </a:rPr>
                            <m:t>h</m:t>
                          </m:r>
                        </m:e>
                        <m:sub>
                          <m:r>
                            <a:rPr lang="zh-CN" altLang="en-US" i="0">
                              <a:latin typeface="Cambria Math" panose="02040503050406030204" pitchFamily="18" charset="0"/>
                            </a:rPr>
                            <m:t>0</m:t>
                          </m:r>
                          <m:r>
                            <a:rPr lang="en-US" altLang="zh-CN" b="0" i="1" smtClean="0">
                              <a:latin typeface="Cambria Math" panose="02040503050406030204" pitchFamily="18" charset="0"/>
                            </a:rPr>
                            <m:t>1</m:t>
                          </m:r>
                        </m:sub>
                      </m:sSub>
                      <m:sSub>
                        <m:sSubPr>
                          <m:ctrlPr>
                            <a:rPr lang="zh-CN" altLang="en-US" i="1">
                              <a:latin typeface="Cambria Math" panose="02040503050406030204" pitchFamily="18" charset="0"/>
                            </a:rPr>
                          </m:ctrlPr>
                        </m:sSubPr>
                        <m:e>
                          <m:r>
                            <a:rPr lang="en-US" altLang="zh-CN" b="0" i="1" smtClean="0">
                              <a:latin typeface="Cambria Math" panose="02040503050406030204" pitchFamily="18" charset="0"/>
                            </a:rPr>
                            <m:t>=</m:t>
                          </m:r>
                          <m:r>
                            <a:rPr lang="zh-CN" altLang="en-US" i="1">
                              <a:latin typeface="Cambria Math" panose="02040503050406030204" pitchFamily="18" charset="0"/>
                            </a:rPr>
                            <m:t>h</m:t>
                          </m:r>
                        </m:e>
                        <m:sub>
                          <m:r>
                            <a:rPr lang="zh-CN" altLang="en-US">
                              <a:latin typeface="Cambria Math" panose="02040503050406030204" pitchFamily="18" charset="0"/>
                            </a:rPr>
                            <m:t>02</m:t>
                          </m:r>
                        </m:sub>
                      </m:sSub>
                    </m:oMath>
                  </m:oMathPara>
                </a14:m>
                <a:endParaRPr lang="zh-CN" altLang="en-US" dirty="0"/>
              </a:p>
            </p:txBody>
          </p:sp>
        </mc:Choice>
        <mc:Fallback xmlns="">
          <p:sp>
            <p:nvSpPr>
              <p:cNvPr id="20" name="矩形 19"/>
              <p:cNvSpPr>
                <a:spLocks noRot="1" noChangeAspect="1" noMove="1" noResize="1" noEditPoints="1" noAdjustHandles="1" noChangeArrowheads="1" noChangeShapeType="1" noTextEdit="1"/>
              </p:cNvSpPr>
              <p:nvPr/>
            </p:nvSpPr>
            <p:spPr>
              <a:xfrm>
                <a:off x="6218043" y="4321267"/>
                <a:ext cx="1216872" cy="369332"/>
              </a:xfrm>
              <a:prstGeom prst="rect">
                <a:avLst/>
              </a:prstGeom>
              <a:blipFill rotWithShape="0">
                <a:blip r:embed="rId3"/>
                <a:stretch>
                  <a:fillRect b="-1667"/>
                </a:stretch>
              </a:blipFill>
            </p:spPr>
            <p:txBody>
              <a:bodyPr/>
              <a:lstStyle/>
              <a:p>
                <a:r>
                  <a:rPr lang="zh-CN" altLang="en-US">
                    <a:noFill/>
                  </a:rPr>
                  <a:t> </a:t>
                </a:r>
              </a:p>
            </p:txBody>
          </p:sp>
        </mc:Fallback>
      </mc:AlternateContent>
      <p:sp>
        <p:nvSpPr>
          <p:cNvPr id="22" name="右箭头 21"/>
          <p:cNvSpPr/>
          <p:nvPr/>
        </p:nvSpPr>
        <p:spPr>
          <a:xfrm>
            <a:off x="5567582" y="4469412"/>
            <a:ext cx="439200" cy="184666"/>
          </a:xfrm>
          <a:prstGeom prst="rightArrow">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74637" y="6059249"/>
            <a:ext cx="6923763" cy="369332"/>
          </a:xfrm>
          <a:prstGeom prst="rect">
            <a:avLst/>
          </a:prstGeom>
        </p:spPr>
        <p:txBody>
          <a:bodyPr wrap="square">
            <a:spAutoFit/>
          </a:bodyPr>
          <a:lstStyle/>
          <a:p>
            <a:r>
              <a:rPr lang="en-US" altLang="zh-CN" b="1" dirty="0">
                <a:solidFill>
                  <a:srgbClr val="0000FF"/>
                </a:solidFill>
              </a:rPr>
              <a:t>Ref. Thermodynamics: A Engineering approach, Chapter 17</a:t>
            </a:r>
            <a:endParaRPr lang="zh-CN" altLang="en-US" dirty="0">
              <a:solidFill>
                <a:srgbClr val="0000FF"/>
              </a:solidFill>
            </a:endParaRPr>
          </a:p>
        </p:txBody>
      </p:sp>
    </p:spTree>
    <p:extLst>
      <p:ext uri="{BB962C8B-B14F-4D97-AF65-F5344CB8AC3E}">
        <p14:creationId xmlns:p14="http://schemas.microsoft.com/office/powerpoint/2010/main" val="2366847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056"/>
          <p:cNvSpPr txBox="1">
            <a:spLocks noChangeArrowheads="1"/>
          </p:cNvSpPr>
          <p:nvPr/>
        </p:nvSpPr>
        <p:spPr bwMode="auto">
          <a:xfrm>
            <a:off x="434934" y="845185"/>
            <a:ext cx="3384001" cy="40011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altLang="zh-CN" sz="2000" b="1" dirty="0">
                <a:solidFill>
                  <a:srgbClr val="000000"/>
                </a:solidFill>
                <a:latin typeface="Arial Unicode MS" pitchFamily="34" charset="-122"/>
                <a:ea typeface="Arial Unicode MS" pitchFamily="34" charset="-122"/>
                <a:cs typeface="Arial Unicode MS" pitchFamily="34" charset="-122"/>
              </a:rPr>
              <a:t>Stagnation temperature, T</a:t>
            </a:r>
            <a:r>
              <a:rPr lang="en-US" altLang="zh-CN" sz="2000" b="1" baseline="-25000" dirty="0">
                <a:solidFill>
                  <a:srgbClr val="000000"/>
                </a:solidFill>
                <a:latin typeface="Arial Unicode MS" pitchFamily="34" charset="-122"/>
                <a:ea typeface="Arial Unicode MS" pitchFamily="34" charset="-122"/>
                <a:cs typeface="Arial Unicode MS" pitchFamily="34" charset="-122"/>
              </a:rPr>
              <a:t>0</a:t>
            </a:r>
            <a:endParaRPr lang="en-US" altLang="zh-CN" sz="2000" b="1" dirty="0">
              <a:solidFill>
                <a:srgbClr val="0000CC"/>
              </a:solidFill>
              <a:latin typeface="Arial Unicode MS" pitchFamily="34" charset="-122"/>
              <a:ea typeface="Arial Unicode MS" pitchFamily="34" charset="-122"/>
              <a:cs typeface="Arial Unicode MS" pitchFamily="34" charset="-122"/>
            </a:endParaRPr>
          </a:p>
        </p:txBody>
      </p:sp>
      <p:pic>
        <p:nvPicPr>
          <p:cNvPr id="9" name="图片 8"/>
          <p:cNvPicPr>
            <a:picLocks noChangeAspect="1"/>
          </p:cNvPicPr>
          <p:nvPr/>
        </p:nvPicPr>
        <p:blipFill>
          <a:blip r:embed="rId2"/>
          <a:stretch>
            <a:fillRect/>
          </a:stretch>
        </p:blipFill>
        <p:spPr>
          <a:xfrm>
            <a:off x="877789" y="1366819"/>
            <a:ext cx="1758698" cy="759240"/>
          </a:xfrm>
          <a:prstGeom prst="rect">
            <a:avLst/>
          </a:prstGeom>
        </p:spPr>
      </p:pic>
      <p:sp>
        <p:nvSpPr>
          <p:cNvPr id="10" name="Text Box 1056"/>
          <p:cNvSpPr txBox="1">
            <a:spLocks noChangeArrowheads="1"/>
          </p:cNvSpPr>
          <p:nvPr/>
        </p:nvSpPr>
        <p:spPr bwMode="auto">
          <a:xfrm>
            <a:off x="4291785" y="837300"/>
            <a:ext cx="3384001" cy="40011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altLang="zh-CN" sz="2000" b="1" dirty="0">
                <a:solidFill>
                  <a:srgbClr val="000000"/>
                </a:solidFill>
                <a:latin typeface="Arial Unicode MS" pitchFamily="34" charset="-122"/>
                <a:ea typeface="Arial Unicode MS" pitchFamily="34" charset="-122"/>
                <a:cs typeface="Arial Unicode MS" pitchFamily="34" charset="-122"/>
              </a:rPr>
              <a:t>Stagnation pressure, P</a:t>
            </a:r>
            <a:r>
              <a:rPr lang="en-US" altLang="zh-CN" sz="2000" b="1" baseline="-25000" dirty="0">
                <a:solidFill>
                  <a:srgbClr val="000000"/>
                </a:solidFill>
                <a:latin typeface="Arial Unicode MS" pitchFamily="34" charset="-122"/>
                <a:ea typeface="Arial Unicode MS" pitchFamily="34" charset="-122"/>
                <a:cs typeface="Arial Unicode MS" pitchFamily="34" charset="-122"/>
              </a:rPr>
              <a:t>0</a:t>
            </a:r>
            <a:endParaRPr lang="en-US" altLang="zh-CN" sz="2000" b="1" dirty="0">
              <a:solidFill>
                <a:srgbClr val="0000CC"/>
              </a:solidFill>
              <a:latin typeface="Arial Unicode MS" pitchFamily="34" charset="-122"/>
              <a:ea typeface="Arial Unicode MS" pitchFamily="34" charset="-122"/>
              <a:cs typeface="Arial Unicode MS" pitchFamily="34" charset="-122"/>
            </a:endParaRPr>
          </a:p>
        </p:txBody>
      </p:sp>
      <p:sp>
        <p:nvSpPr>
          <p:cNvPr id="11" name="文本框 10"/>
          <p:cNvSpPr txBox="1"/>
          <p:nvPr/>
        </p:nvSpPr>
        <p:spPr>
          <a:xfrm>
            <a:off x="2269436" y="1063"/>
            <a:ext cx="4044697" cy="523220"/>
          </a:xfrm>
          <a:prstGeom prst="rect">
            <a:avLst/>
          </a:prstGeom>
          <a:noFill/>
        </p:spPr>
        <p:txBody>
          <a:bodyPr wrap="none" rtlCol="0">
            <a:spAutoFit/>
          </a:bodyPr>
          <a:lstStyle/>
          <a:p>
            <a:r>
              <a:rPr lang="en-US" altLang="zh-CN" sz="2800" dirty="0">
                <a:solidFill>
                  <a:srgbClr val="FF0000"/>
                </a:solidFill>
              </a:rPr>
              <a:t>Stagnation temperature </a:t>
            </a:r>
            <a:endParaRPr lang="zh-CN" altLang="en-US" sz="2800" dirty="0">
              <a:solidFill>
                <a:srgbClr val="FF0000"/>
              </a:solidFill>
            </a:endParaRPr>
          </a:p>
        </p:txBody>
      </p:sp>
      <mc:AlternateContent xmlns:mc="http://schemas.openxmlformats.org/markup-compatibility/2006" xmlns:a14="http://schemas.microsoft.com/office/drawing/2010/main">
        <mc:Choice Requires="a14">
          <p:sp>
            <p:nvSpPr>
              <p:cNvPr id="12" name="矩形 11"/>
              <p:cNvSpPr/>
              <p:nvPr/>
            </p:nvSpPr>
            <p:spPr>
              <a:xfrm>
                <a:off x="4597155" y="1480035"/>
                <a:ext cx="2129429" cy="69089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zh-CN" altLang="en-US" i="1" smtClean="0">
                              <a:latin typeface="Cambria Math" panose="02040503050406030204" pitchFamily="18" charset="0"/>
                            </a:rPr>
                          </m:ctrlPr>
                        </m:sSupPr>
                        <m:e>
                          <m:d>
                            <m:dPr>
                              <m:ctrlPr>
                                <a:rPr lang="zh-CN" altLang="en-US" i="1">
                                  <a:latin typeface="Cambria Math" panose="02040503050406030204" pitchFamily="18" charset="0"/>
                                </a:rPr>
                              </m:ctrlPr>
                            </m:dPr>
                            <m:e>
                              <m:f>
                                <m:fPr>
                                  <m:ctrlPr>
                                    <a:rPr lang="zh-CN" altLang="en-US" i="1">
                                      <a:latin typeface="Cambria Math" panose="02040503050406030204" pitchFamily="18" charset="0"/>
                                    </a:rPr>
                                  </m:ctrlPr>
                                </m:fPr>
                                <m:num>
                                  <m:sSub>
                                    <m:sSubPr>
                                      <m:ctrlPr>
                                        <a:rPr lang="zh-CN" altLang="en-US" i="1">
                                          <a:latin typeface="Cambria Math" panose="02040503050406030204" pitchFamily="18" charset="0"/>
                                        </a:rPr>
                                      </m:ctrlPr>
                                    </m:sSubPr>
                                    <m:e>
                                      <m:r>
                                        <a:rPr lang="en-US" altLang="zh-CN" b="0" i="1" smtClean="0">
                                          <a:latin typeface="Cambria Math" panose="02040503050406030204" pitchFamily="18" charset="0"/>
                                        </a:rPr>
                                        <m:t>𝑃</m:t>
                                      </m:r>
                                    </m:e>
                                    <m:sub>
                                      <m:r>
                                        <a:rPr lang="zh-CN" altLang="en-US">
                                          <a:latin typeface="Cambria Math" panose="02040503050406030204" pitchFamily="18" charset="0"/>
                                        </a:rPr>
                                        <m:t>0</m:t>
                                      </m:r>
                                    </m:sub>
                                  </m:sSub>
                                </m:num>
                                <m:den>
                                  <m:r>
                                    <a:rPr lang="en-US" altLang="zh-CN" b="0" i="1" smtClean="0">
                                      <a:latin typeface="Cambria Math" panose="02040503050406030204" pitchFamily="18" charset="0"/>
                                    </a:rPr>
                                    <m:t>𝑃</m:t>
                                  </m:r>
                                </m:den>
                              </m:f>
                            </m:e>
                          </m:d>
                          <m:r>
                            <a:rPr lang="en-US" altLang="zh-CN" b="0" i="1" smtClean="0">
                              <a:latin typeface="Cambria Math" panose="02040503050406030204" pitchFamily="18" charset="0"/>
                            </a:rPr>
                            <m:t>=</m:t>
                          </m:r>
                          <m:d>
                            <m:dPr>
                              <m:ctrlPr>
                                <a:rPr lang="zh-CN" altLang="en-US" i="1">
                                  <a:latin typeface="Cambria Math" panose="02040503050406030204" pitchFamily="18" charset="0"/>
                                </a:rPr>
                              </m:ctrlPr>
                            </m:dPr>
                            <m:e>
                              <m:f>
                                <m:fPr>
                                  <m:ctrlPr>
                                    <a:rPr lang="zh-CN" altLang="en-US" i="1">
                                      <a:latin typeface="Cambria Math" panose="02040503050406030204" pitchFamily="18" charset="0"/>
                                    </a:rPr>
                                  </m:ctrlPr>
                                </m:fPr>
                                <m:num>
                                  <m:sSub>
                                    <m:sSubPr>
                                      <m:ctrlPr>
                                        <a:rPr lang="zh-CN" altLang="en-US" i="1">
                                          <a:latin typeface="Cambria Math" panose="02040503050406030204" pitchFamily="18" charset="0"/>
                                        </a:rPr>
                                      </m:ctrlPr>
                                    </m:sSubPr>
                                    <m:e>
                                      <m:r>
                                        <a:rPr lang="zh-CN" altLang="en-US" i="1">
                                          <a:latin typeface="Cambria Math" panose="02040503050406030204" pitchFamily="18" charset="0"/>
                                        </a:rPr>
                                        <m:t>𝑇</m:t>
                                      </m:r>
                                    </m:e>
                                    <m:sub>
                                      <m:r>
                                        <a:rPr lang="zh-CN" altLang="en-US" i="0">
                                          <a:latin typeface="Cambria Math" panose="02040503050406030204" pitchFamily="18" charset="0"/>
                                        </a:rPr>
                                        <m:t>0</m:t>
                                      </m:r>
                                    </m:sub>
                                  </m:sSub>
                                </m:num>
                                <m:den>
                                  <m:r>
                                    <a:rPr lang="zh-CN" altLang="en-US" i="1">
                                      <a:latin typeface="Cambria Math" panose="02040503050406030204" pitchFamily="18" charset="0"/>
                                    </a:rPr>
                                    <m:t>𝑇</m:t>
                                  </m:r>
                                </m:den>
                              </m:f>
                            </m:e>
                          </m:d>
                        </m:e>
                        <m:sup>
                          <m:f>
                            <m:fPr>
                              <m:type m:val="lin"/>
                              <m:ctrlPr>
                                <a:rPr lang="zh-CN" altLang="en-US" i="1">
                                  <a:latin typeface="Cambria Math" panose="02040503050406030204" pitchFamily="18" charset="0"/>
                                </a:rPr>
                              </m:ctrlPr>
                            </m:fPr>
                            <m:num>
                              <m:r>
                                <a:rPr lang="zh-CN" altLang="en-US" i="1">
                                  <a:latin typeface="Cambria Math" panose="02040503050406030204" pitchFamily="18" charset="0"/>
                                </a:rPr>
                                <m:t>𝑘</m:t>
                              </m:r>
                            </m:num>
                            <m:den>
                              <m:d>
                                <m:dPr>
                                  <m:ctrlPr>
                                    <a:rPr lang="zh-CN" altLang="en-US" i="1">
                                      <a:latin typeface="Cambria Math" panose="02040503050406030204" pitchFamily="18" charset="0"/>
                                    </a:rPr>
                                  </m:ctrlPr>
                                </m:dPr>
                                <m:e>
                                  <m:r>
                                    <a:rPr lang="zh-CN" altLang="en-US" i="1">
                                      <a:latin typeface="Cambria Math" panose="02040503050406030204" pitchFamily="18" charset="0"/>
                                    </a:rPr>
                                    <m:t>𝑘</m:t>
                                  </m:r>
                                  <m:r>
                                    <a:rPr lang="zh-CN" altLang="en-US" i="0">
                                      <a:latin typeface="Cambria Math" panose="02040503050406030204" pitchFamily="18" charset="0"/>
                                    </a:rPr>
                                    <m:t>−1</m:t>
                                  </m:r>
                                </m:e>
                              </m:d>
                            </m:den>
                          </m:f>
                        </m:sup>
                      </m:sSup>
                    </m:oMath>
                  </m:oMathPara>
                </a14:m>
                <a:endParaRPr lang="zh-CN" altLang="en-US" dirty="0"/>
              </a:p>
            </p:txBody>
          </p:sp>
        </mc:Choice>
        <mc:Fallback xmlns="">
          <p:sp>
            <p:nvSpPr>
              <p:cNvPr id="12" name="矩形 11"/>
              <p:cNvSpPr>
                <a:spLocks noRot="1" noChangeAspect="1" noMove="1" noResize="1" noEditPoints="1" noAdjustHandles="1" noChangeArrowheads="1" noChangeShapeType="1" noTextEdit="1"/>
              </p:cNvSpPr>
              <p:nvPr/>
            </p:nvSpPr>
            <p:spPr>
              <a:xfrm>
                <a:off x="4597155" y="1480035"/>
                <a:ext cx="2129429" cy="690895"/>
              </a:xfrm>
              <a:prstGeom prst="rect">
                <a:avLst/>
              </a:prstGeom>
              <a:blipFill rotWithShape="0">
                <a:blip r:embed="rId3"/>
                <a:stretch>
                  <a:fillRect/>
                </a:stretch>
              </a:blipFill>
            </p:spPr>
            <p:txBody>
              <a:bodyPr/>
              <a:lstStyle/>
              <a:p>
                <a:r>
                  <a:rPr lang="zh-CN" altLang="en-US">
                    <a:noFill/>
                  </a:rPr>
                  <a:t> </a:t>
                </a:r>
              </a:p>
            </p:txBody>
          </p:sp>
        </mc:Fallback>
      </mc:AlternateContent>
      <p:sp>
        <p:nvSpPr>
          <p:cNvPr id="13" name="文本框 12"/>
          <p:cNvSpPr txBox="1"/>
          <p:nvPr/>
        </p:nvSpPr>
        <p:spPr>
          <a:xfrm>
            <a:off x="301821" y="2519946"/>
            <a:ext cx="3859823" cy="1754326"/>
          </a:xfrm>
          <a:prstGeom prst="rect">
            <a:avLst/>
          </a:prstGeom>
          <a:noFill/>
        </p:spPr>
        <p:txBody>
          <a:bodyPr wrap="square" rtlCol="0">
            <a:spAutoFit/>
          </a:bodyPr>
          <a:lstStyle/>
          <a:p>
            <a:r>
              <a:rPr lang="en-US" altLang="zh-CN" sz="1200" dirty="0"/>
              <a:t>An aircraft is flying at a cruising speed of  250 m/s at a altitude of 5000m where the atmospheric pressure is 54.5 </a:t>
            </a:r>
            <a:r>
              <a:rPr lang="en-US" altLang="zh-CN" sz="1200" dirty="0" err="1"/>
              <a:t>kPa</a:t>
            </a:r>
            <a:r>
              <a:rPr lang="en-US" altLang="zh-CN" sz="1200" dirty="0"/>
              <a:t> and the ambient temperature is 255.7K. </a:t>
            </a:r>
          </a:p>
          <a:p>
            <a:r>
              <a:rPr lang="en-US" altLang="zh-CN" sz="1200" dirty="0"/>
              <a:t>Assume both the diffuser and the compressor are  isentropic. </a:t>
            </a:r>
            <a:r>
              <a:rPr lang="en-US" altLang="zh-CN" sz="1200" dirty="0" err="1"/>
              <a:t>c</a:t>
            </a:r>
            <a:r>
              <a:rPr lang="en-US" altLang="zh-CN" sz="1200" baseline="-25000" dirty="0" err="1"/>
              <a:t>p</a:t>
            </a:r>
            <a:r>
              <a:rPr lang="en-US" altLang="zh-CN" sz="1200" dirty="0"/>
              <a:t>=1.005 kJ/</a:t>
            </a:r>
            <a:r>
              <a:rPr lang="en-US" altLang="zh-CN" sz="1200" dirty="0" err="1"/>
              <a:t>kg.K</a:t>
            </a:r>
            <a:r>
              <a:rPr lang="en-US" altLang="zh-CN" sz="1200" dirty="0"/>
              <a:t>, k=</a:t>
            </a:r>
            <a:r>
              <a:rPr lang="en-US" altLang="zh-CN" sz="1200" dirty="0" err="1"/>
              <a:t>c</a:t>
            </a:r>
            <a:r>
              <a:rPr lang="en-US" altLang="zh-CN" sz="1200" baseline="-25000" dirty="0" err="1"/>
              <a:t>p</a:t>
            </a:r>
            <a:r>
              <a:rPr lang="en-US" altLang="zh-CN" sz="1200" baseline="-25000" dirty="0"/>
              <a:t>/</a:t>
            </a:r>
            <a:r>
              <a:rPr lang="en-US" altLang="zh-CN" sz="1200" dirty="0"/>
              <a:t>c</a:t>
            </a:r>
            <a:r>
              <a:rPr lang="en-US" altLang="zh-CN" sz="1200" baseline="-25000" dirty="0"/>
              <a:t>v</a:t>
            </a:r>
            <a:r>
              <a:rPr lang="en-US" altLang="zh-CN" sz="1200" dirty="0"/>
              <a:t>=1.4</a:t>
            </a:r>
          </a:p>
          <a:p>
            <a:pPr marL="228600" indent="-228600">
              <a:buAutoNum type="alphaLcParenBoth"/>
            </a:pPr>
            <a:r>
              <a:rPr lang="en-US" altLang="zh-CN" sz="1200" dirty="0"/>
              <a:t>The stagnation pressure at the inlet of the compressor</a:t>
            </a:r>
          </a:p>
          <a:p>
            <a:pPr marL="228600" indent="-228600">
              <a:buAutoNum type="alphaLcParenBoth"/>
            </a:pPr>
            <a:r>
              <a:rPr lang="en-US" altLang="zh-CN" sz="1200" dirty="0"/>
              <a:t>The required compressor work per unite mass if the stagnation pressure ratio is 8</a:t>
            </a:r>
            <a:endParaRPr lang="zh-CN" altLang="en-US" sz="1200" dirty="0"/>
          </a:p>
        </p:txBody>
      </p:sp>
      <p:sp>
        <p:nvSpPr>
          <p:cNvPr id="14" name="椭圆 13"/>
          <p:cNvSpPr/>
          <p:nvPr/>
        </p:nvSpPr>
        <p:spPr>
          <a:xfrm>
            <a:off x="5573340" y="2799780"/>
            <a:ext cx="160934" cy="49011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6051421" y="2719488"/>
            <a:ext cx="160934" cy="63624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6527373" y="2673857"/>
            <a:ext cx="133802" cy="727506"/>
          </a:xfrm>
          <a:prstGeom prst="ellipse">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7277781" y="2876675"/>
            <a:ext cx="138989" cy="3218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20"/>
          <p:cNvSpPr/>
          <p:nvPr/>
        </p:nvSpPr>
        <p:spPr>
          <a:xfrm>
            <a:off x="5653807" y="2677858"/>
            <a:ext cx="1799539" cy="224334"/>
          </a:xfrm>
          <a:custGeom>
            <a:avLst/>
            <a:gdLst>
              <a:gd name="connsiteX0" fmla="*/ 0 w 1799539"/>
              <a:gd name="connsiteY0" fmla="*/ 107290 h 224334"/>
              <a:gd name="connsiteX1" fmla="*/ 475488 w 1799539"/>
              <a:gd name="connsiteY1" fmla="*/ 41454 h 224334"/>
              <a:gd name="connsiteX2" fmla="*/ 958291 w 1799539"/>
              <a:gd name="connsiteY2" fmla="*/ 4878 h 224334"/>
              <a:gd name="connsiteX3" fmla="*/ 1484986 w 1799539"/>
              <a:gd name="connsiteY3" fmla="*/ 151182 h 224334"/>
              <a:gd name="connsiteX4" fmla="*/ 1799539 w 1799539"/>
              <a:gd name="connsiteY4" fmla="*/ 224334 h 224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99539" h="224334">
                <a:moveTo>
                  <a:pt x="0" y="107290"/>
                </a:moveTo>
                <a:cubicBezTo>
                  <a:pt x="157886" y="82906"/>
                  <a:pt x="315773" y="58523"/>
                  <a:pt x="475488" y="41454"/>
                </a:cubicBezTo>
                <a:cubicBezTo>
                  <a:pt x="635203" y="24385"/>
                  <a:pt x="790041" y="-13410"/>
                  <a:pt x="958291" y="4878"/>
                </a:cubicBezTo>
                <a:cubicBezTo>
                  <a:pt x="1126541" y="23166"/>
                  <a:pt x="1344778" y="114606"/>
                  <a:pt x="1484986" y="151182"/>
                </a:cubicBezTo>
                <a:cubicBezTo>
                  <a:pt x="1625194" y="187758"/>
                  <a:pt x="1750771" y="215800"/>
                  <a:pt x="1799539" y="224334"/>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21"/>
          <p:cNvSpPr/>
          <p:nvPr/>
        </p:nvSpPr>
        <p:spPr>
          <a:xfrm>
            <a:off x="5653807" y="3212147"/>
            <a:ext cx="1762963" cy="189385"/>
          </a:xfrm>
          <a:custGeom>
            <a:avLst/>
            <a:gdLst>
              <a:gd name="connsiteX0" fmla="*/ 0 w 1762963"/>
              <a:gd name="connsiteY0" fmla="*/ 92381 h 189385"/>
              <a:gd name="connsiteX1" fmla="*/ 504749 w 1762963"/>
              <a:gd name="connsiteY1" fmla="*/ 158217 h 189385"/>
              <a:gd name="connsiteX2" fmla="*/ 950976 w 1762963"/>
              <a:gd name="connsiteY2" fmla="*/ 187478 h 189385"/>
              <a:gd name="connsiteX3" fmla="*/ 1382573 w 1762963"/>
              <a:gd name="connsiteY3" fmla="*/ 107011 h 189385"/>
              <a:gd name="connsiteX4" fmla="*/ 1675181 w 1762963"/>
              <a:gd name="connsiteY4" fmla="*/ 11913 h 189385"/>
              <a:gd name="connsiteX5" fmla="*/ 1762963 w 1762963"/>
              <a:gd name="connsiteY5" fmla="*/ 4598 h 189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2963" h="189385">
                <a:moveTo>
                  <a:pt x="0" y="92381"/>
                </a:moveTo>
                <a:cubicBezTo>
                  <a:pt x="173126" y="117374"/>
                  <a:pt x="346253" y="142368"/>
                  <a:pt x="504749" y="158217"/>
                </a:cubicBezTo>
                <a:cubicBezTo>
                  <a:pt x="663245" y="174066"/>
                  <a:pt x="804672" y="196012"/>
                  <a:pt x="950976" y="187478"/>
                </a:cubicBezTo>
                <a:cubicBezTo>
                  <a:pt x="1097280" y="178944"/>
                  <a:pt x="1261872" y="136272"/>
                  <a:pt x="1382573" y="107011"/>
                </a:cubicBezTo>
                <a:cubicBezTo>
                  <a:pt x="1503274" y="77750"/>
                  <a:pt x="1611783" y="28982"/>
                  <a:pt x="1675181" y="11913"/>
                </a:cubicBezTo>
                <a:cubicBezTo>
                  <a:pt x="1738579" y="-5156"/>
                  <a:pt x="1750771" y="-279"/>
                  <a:pt x="1762963" y="459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p:nvSpPr>
        <p:spPr>
          <a:xfrm>
            <a:off x="4191420" y="2668278"/>
            <a:ext cx="1011752" cy="307777"/>
          </a:xfrm>
          <a:prstGeom prst="rect">
            <a:avLst/>
          </a:prstGeom>
          <a:noFill/>
        </p:spPr>
        <p:txBody>
          <a:bodyPr wrap="none" rtlCol="0">
            <a:spAutoFit/>
          </a:bodyPr>
          <a:lstStyle/>
          <a:p>
            <a:r>
              <a:rPr lang="en-US" altLang="zh-CN" sz="1400" dirty="0"/>
              <a:t>T =255.7K</a:t>
            </a:r>
            <a:endParaRPr lang="zh-CN" altLang="en-US" sz="1400" baseline="-25000" dirty="0"/>
          </a:p>
        </p:txBody>
      </p:sp>
      <p:sp>
        <p:nvSpPr>
          <p:cNvPr id="24" name="文本框 23"/>
          <p:cNvSpPr txBox="1"/>
          <p:nvPr/>
        </p:nvSpPr>
        <p:spPr>
          <a:xfrm>
            <a:off x="4191420" y="2999062"/>
            <a:ext cx="1162434" cy="307777"/>
          </a:xfrm>
          <a:prstGeom prst="rect">
            <a:avLst/>
          </a:prstGeom>
          <a:noFill/>
        </p:spPr>
        <p:txBody>
          <a:bodyPr wrap="none" rtlCol="0">
            <a:spAutoFit/>
          </a:bodyPr>
          <a:lstStyle/>
          <a:p>
            <a:r>
              <a:rPr lang="en-US" altLang="zh-CN" sz="1400" dirty="0"/>
              <a:t>P =54.5 </a:t>
            </a:r>
            <a:r>
              <a:rPr lang="en-US" altLang="zh-CN" sz="1400" dirty="0" err="1"/>
              <a:t>kPa</a:t>
            </a:r>
            <a:endParaRPr lang="zh-CN" altLang="en-US" sz="1400" baseline="-25000" dirty="0"/>
          </a:p>
        </p:txBody>
      </p:sp>
      <p:sp>
        <p:nvSpPr>
          <p:cNvPr id="25" name="文本框 24"/>
          <p:cNvSpPr txBox="1"/>
          <p:nvPr/>
        </p:nvSpPr>
        <p:spPr>
          <a:xfrm>
            <a:off x="4198220" y="3375039"/>
            <a:ext cx="1015021" cy="307777"/>
          </a:xfrm>
          <a:prstGeom prst="rect">
            <a:avLst/>
          </a:prstGeom>
          <a:noFill/>
        </p:spPr>
        <p:txBody>
          <a:bodyPr wrap="none" rtlCol="0">
            <a:spAutoFit/>
          </a:bodyPr>
          <a:lstStyle/>
          <a:p>
            <a:r>
              <a:rPr lang="en-US" altLang="zh-CN" sz="1400" dirty="0"/>
              <a:t>v=250 m/s</a:t>
            </a:r>
            <a:endParaRPr lang="zh-CN" altLang="en-US" sz="1400" baseline="-25000" dirty="0"/>
          </a:p>
        </p:txBody>
      </p:sp>
      <p:cxnSp>
        <p:nvCxnSpPr>
          <p:cNvPr id="27" name="直接连接符 26"/>
          <p:cNvCxnSpPr/>
          <p:nvPr/>
        </p:nvCxnSpPr>
        <p:spPr>
          <a:xfrm flipH="1">
            <a:off x="6077256" y="3364910"/>
            <a:ext cx="26668" cy="312452"/>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5598744" y="3627108"/>
            <a:ext cx="385042" cy="261610"/>
          </a:xfrm>
          <a:prstGeom prst="rect">
            <a:avLst/>
          </a:prstGeom>
          <a:noFill/>
        </p:spPr>
        <p:txBody>
          <a:bodyPr wrap="none" rtlCol="0">
            <a:spAutoFit/>
          </a:bodyPr>
          <a:lstStyle/>
          <a:p>
            <a:r>
              <a:rPr lang="en-US" altLang="zh-CN" sz="1100" dirty="0"/>
              <a:t>P</a:t>
            </a:r>
            <a:r>
              <a:rPr lang="en-US" altLang="zh-CN" sz="1100" baseline="-25000" dirty="0"/>
              <a:t>01</a:t>
            </a:r>
            <a:endParaRPr lang="zh-CN" altLang="en-US" sz="1100" dirty="0"/>
          </a:p>
        </p:txBody>
      </p:sp>
      <p:sp>
        <p:nvSpPr>
          <p:cNvPr id="29" name="文本框 28"/>
          <p:cNvSpPr txBox="1"/>
          <p:nvPr/>
        </p:nvSpPr>
        <p:spPr>
          <a:xfrm>
            <a:off x="5878816" y="3618320"/>
            <a:ext cx="377026" cy="261610"/>
          </a:xfrm>
          <a:prstGeom prst="rect">
            <a:avLst/>
          </a:prstGeom>
          <a:noFill/>
        </p:spPr>
        <p:txBody>
          <a:bodyPr wrap="none" rtlCol="0">
            <a:spAutoFit/>
          </a:bodyPr>
          <a:lstStyle/>
          <a:p>
            <a:r>
              <a:rPr lang="en-US" altLang="zh-CN" sz="1100" dirty="0"/>
              <a:t>T</a:t>
            </a:r>
            <a:r>
              <a:rPr lang="en-US" altLang="zh-CN" sz="1100" baseline="-25000" dirty="0"/>
              <a:t>01</a:t>
            </a:r>
            <a:endParaRPr lang="zh-CN" altLang="en-US" sz="1100" dirty="0"/>
          </a:p>
        </p:txBody>
      </p:sp>
      <p:cxnSp>
        <p:nvCxnSpPr>
          <p:cNvPr id="30" name="直接连接符 29"/>
          <p:cNvCxnSpPr/>
          <p:nvPr/>
        </p:nvCxnSpPr>
        <p:spPr>
          <a:xfrm flipH="1">
            <a:off x="6580940" y="3336717"/>
            <a:ext cx="26668" cy="312452"/>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32" name="文本框 31"/>
          <p:cNvSpPr txBox="1"/>
          <p:nvPr/>
        </p:nvSpPr>
        <p:spPr>
          <a:xfrm>
            <a:off x="6372134" y="3627108"/>
            <a:ext cx="385042" cy="261610"/>
          </a:xfrm>
          <a:prstGeom prst="rect">
            <a:avLst/>
          </a:prstGeom>
          <a:noFill/>
        </p:spPr>
        <p:txBody>
          <a:bodyPr wrap="none" rtlCol="0">
            <a:spAutoFit/>
          </a:bodyPr>
          <a:lstStyle/>
          <a:p>
            <a:r>
              <a:rPr lang="en-US" altLang="zh-CN" sz="1100" dirty="0"/>
              <a:t>P</a:t>
            </a:r>
            <a:r>
              <a:rPr lang="en-US" altLang="zh-CN" sz="1100" baseline="-25000" dirty="0"/>
              <a:t>02</a:t>
            </a:r>
            <a:endParaRPr lang="zh-CN" altLang="en-US" sz="1100" dirty="0"/>
          </a:p>
        </p:txBody>
      </p:sp>
      <p:sp>
        <p:nvSpPr>
          <p:cNvPr id="33" name="文本框 32"/>
          <p:cNvSpPr txBox="1"/>
          <p:nvPr/>
        </p:nvSpPr>
        <p:spPr>
          <a:xfrm>
            <a:off x="6652206" y="3618320"/>
            <a:ext cx="377026" cy="261610"/>
          </a:xfrm>
          <a:prstGeom prst="rect">
            <a:avLst/>
          </a:prstGeom>
          <a:noFill/>
        </p:spPr>
        <p:txBody>
          <a:bodyPr wrap="none" rtlCol="0">
            <a:spAutoFit/>
          </a:bodyPr>
          <a:lstStyle/>
          <a:p>
            <a:r>
              <a:rPr lang="en-US" altLang="zh-CN" sz="1100" dirty="0"/>
              <a:t>T</a:t>
            </a:r>
            <a:r>
              <a:rPr lang="en-US" altLang="zh-CN" sz="1100" baseline="-25000" dirty="0"/>
              <a:t>02</a:t>
            </a:r>
            <a:endParaRPr lang="zh-CN" altLang="en-US" sz="1100" dirty="0"/>
          </a:p>
        </p:txBody>
      </p:sp>
      <p:sp>
        <p:nvSpPr>
          <p:cNvPr id="35" name="文本框 34"/>
          <p:cNvSpPr txBox="1"/>
          <p:nvPr/>
        </p:nvSpPr>
        <p:spPr>
          <a:xfrm>
            <a:off x="5275239" y="2418575"/>
            <a:ext cx="685252" cy="276999"/>
          </a:xfrm>
          <a:prstGeom prst="rect">
            <a:avLst/>
          </a:prstGeom>
          <a:noFill/>
        </p:spPr>
        <p:txBody>
          <a:bodyPr wrap="none" rtlCol="0">
            <a:spAutoFit/>
          </a:bodyPr>
          <a:lstStyle/>
          <a:p>
            <a:r>
              <a:rPr lang="en-US" altLang="zh-CN" sz="1200" dirty="0"/>
              <a:t>diffuser</a:t>
            </a:r>
            <a:endParaRPr lang="zh-CN" altLang="en-US" sz="1200" dirty="0"/>
          </a:p>
        </p:txBody>
      </p:sp>
      <p:cxnSp>
        <p:nvCxnSpPr>
          <p:cNvPr id="37" name="直接箭头连接符 36"/>
          <p:cNvCxnSpPr>
            <a:stCxn id="35" idx="2"/>
          </p:cNvCxnSpPr>
          <p:nvPr/>
        </p:nvCxnSpPr>
        <p:spPr>
          <a:xfrm>
            <a:off x="5617865" y="2695574"/>
            <a:ext cx="260951" cy="2652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文本框 37"/>
          <p:cNvSpPr txBox="1"/>
          <p:nvPr/>
        </p:nvSpPr>
        <p:spPr>
          <a:xfrm>
            <a:off x="6216669" y="2263101"/>
            <a:ext cx="1019831" cy="276999"/>
          </a:xfrm>
          <a:prstGeom prst="rect">
            <a:avLst/>
          </a:prstGeom>
          <a:noFill/>
        </p:spPr>
        <p:txBody>
          <a:bodyPr wrap="none" rtlCol="0">
            <a:spAutoFit/>
          </a:bodyPr>
          <a:lstStyle/>
          <a:p>
            <a:r>
              <a:rPr lang="en-US" altLang="zh-CN" sz="1200" dirty="0"/>
              <a:t>Compressor</a:t>
            </a:r>
            <a:endParaRPr lang="zh-CN" altLang="en-US" sz="1200" dirty="0"/>
          </a:p>
        </p:txBody>
      </p:sp>
      <p:cxnSp>
        <p:nvCxnSpPr>
          <p:cNvPr id="40" name="直接箭头连接符 39"/>
          <p:cNvCxnSpPr/>
          <p:nvPr/>
        </p:nvCxnSpPr>
        <p:spPr>
          <a:xfrm flipH="1">
            <a:off x="6372134" y="2493912"/>
            <a:ext cx="155239" cy="2991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3" name="图片 42"/>
          <p:cNvPicPr>
            <a:picLocks noChangeAspect="1"/>
          </p:cNvPicPr>
          <p:nvPr/>
        </p:nvPicPr>
        <p:blipFill>
          <a:blip r:embed="rId4"/>
          <a:stretch>
            <a:fillRect/>
          </a:stretch>
        </p:blipFill>
        <p:spPr>
          <a:xfrm>
            <a:off x="434934" y="4494305"/>
            <a:ext cx="1149056" cy="678882"/>
          </a:xfrm>
          <a:prstGeom prst="rect">
            <a:avLst/>
          </a:prstGeom>
        </p:spPr>
      </p:pic>
      <p:sp>
        <p:nvSpPr>
          <p:cNvPr id="44" name="文本框 43"/>
          <p:cNvSpPr txBox="1"/>
          <p:nvPr/>
        </p:nvSpPr>
        <p:spPr>
          <a:xfrm>
            <a:off x="2413967" y="4557152"/>
            <a:ext cx="1361270" cy="369332"/>
          </a:xfrm>
          <a:prstGeom prst="rect">
            <a:avLst/>
          </a:prstGeom>
          <a:noFill/>
        </p:spPr>
        <p:txBody>
          <a:bodyPr wrap="none" rtlCol="0">
            <a:spAutoFit/>
          </a:bodyPr>
          <a:lstStyle/>
          <a:p>
            <a:r>
              <a:rPr lang="en-US" altLang="zh-CN" dirty="0"/>
              <a:t>T</a:t>
            </a:r>
            <a:r>
              <a:rPr lang="en-US" altLang="zh-CN" baseline="-25000" dirty="0"/>
              <a:t>01</a:t>
            </a:r>
            <a:r>
              <a:rPr lang="en-US" altLang="zh-CN" dirty="0"/>
              <a:t>=286.8K</a:t>
            </a:r>
            <a:endParaRPr lang="zh-CN" altLang="en-US" dirty="0"/>
          </a:p>
        </p:txBody>
      </p:sp>
      <mc:AlternateContent xmlns:mc="http://schemas.openxmlformats.org/markup-compatibility/2006" xmlns:a14="http://schemas.microsoft.com/office/drawing/2010/main">
        <mc:Choice Requires="a14">
          <p:sp>
            <p:nvSpPr>
              <p:cNvPr id="45" name="矩形 44"/>
              <p:cNvSpPr/>
              <p:nvPr/>
            </p:nvSpPr>
            <p:spPr>
              <a:xfrm>
                <a:off x="196756" y="5275418"/>
                <a:ext cx="2324995" cy="69089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zh-CN" altLang="en-US" i="1" smtClean="0">
                              <a:latin typeface="Cambria Math" panose="02040503050406030204" pitchFamily="18" charset="0"/>
                            </a:rPr>
                          </m:ctrlPr>
                        </m:sSupPr>
                        <m:e>
                          <m:d>
                            <m:dPr>
                              <m:ctrlPr>
                                <a:rPr lang="zh-CN" altLang="en-US" i="1">
                                  <a:latin typeface="Cambria Math" panose="02040503050406030204" pitchFamily="18" charset="0"/>
                                </a:rPr>
                              </m:ctrlPr>
                            </m:dPr>
                            <m:e>
                              <m:f>
                                <m:fPr>
                                  <m:ctrlPr>
                                    <a:rPr lang="zh-CN" altLang="en-US" i="1">
                                      <a:latin typeface="Cambria Math" panose="02040503050406030204" pitchFamily="18" charset="0"/>
                                    </a:rPr>
                                  </m:ctrlPr>
                                </m:fPr>
                                <m:num>
                                  <m:sSub>
                                    <m:sSubPr>
                                      <m:ctrlPr>
                                        <a:rPr lang="zh-CN" altLang="en-US" i="1">
                                          <a:latin typeface="Cambria Math" panose="02040503050406030204" pitchFamily="18" charset="0"/>
                                        </a:rPr>
                                      </m:ctrlPr>
                                    </m:sSubPr>
                                    <m:e>
                                      <m:r>
                                        <a:rPr lang="en-US" altLang="zh-CN" b="0" i="1" smtClean="0">
                                          <a:latin typeface="Cambria Math" panose="02040503050406030204" pitchFamily="18" charset="0"/>
                                        </a:rPr>
                                        <m:t>𝑃</m:t>
                                      </m:r>
                                    </m:e>
                                    <m:sub>
                                      <m:r>
                                        <a:rPr lang="zh-CN" altLang="en-US">
                                          <a:latin typeface="Cambria Math" panose="02040503050406030204" pitchFamily="18" charset="0"/>
                                        </a:rPr>
                                        <m:t>0</m:t>
                                      </m:r>
                                      <m:r>
                                        <a:rPr lang="en-US" altLang="zh-CN" b="0" i="0" smtClean="0">
                                          <a:latin typeface="Cambria Math" panose="02040503050406030204" pitchFamily="18" charset="0"/>
                                        </a:rPr>
                                        <m:t>1</m:t>
                                      </m:r>
                                    </m:sub>
                                  </m:sSub>
                                </m:num>
                                <m:den>
                                  <m:r>
                                    <a:rPr lang="en-US" altLang="zh-CN" b="0" i="1" smtClean="0">
                                      <a:latin typeface="Cambria Math" panose="02040503050406030204" pitchFamily="18" charset="0"/>
                                    </a:rPr>
                                    <m:t>𝑃</m:t>
                                  </m:r>
                                </m:den>
                              </m:f>
                            </m:e>
                          </m:d>
                          <m:r>
                            <a:rPr lang="en-US" altLang="zh-CN" b="0" i="1" smtClean="0">
                              <a:latin typeface="Cambria Math" panose="02040503050406030204" pitchFamily="18" charset="0"/>
                            </a:rPr>
                            <m:t>=</m:t>
                          </m:r>
                          <m:d>
                            <m:dPr>
                              <m:ctrlPr>
                                <a:rPr lang="zh-CN" altLang="en-US" i="1">
                                  <a:latin typeface="Cambria Math" panose="02040503050406030204" pitchFamily="18" charset="0"/>
                                </a:rPr>
                              </m:ctrlPr>
                            </m:dPr>
                            <m:e>
                              <m:f>
                                <m:fPr>
                                  <m:ctrlPr>
                                    <a:rPr lang="zh-CN" altLang="en-US" i="1">
                                      <a:latin typeface="Cambria Math" panose="02040503050406030204" pitchFamily="18" charset="0"/>
                                    </a:rPr>
                                  </m:ctrlPr>
                                </m:fPr>
                                <m:num>
                                  <m:sSub>
                                    <m:sSubPr>
                                      <m:ctrlPr>
                                        <a:rPr lang="zh-CN" altLang="en-US" i="1">
                                          <a:latin typeface="Cambria Math" panose="02040503050406030204" pitchFamily="18" charset="0"/>
                                        </a:rPr>
                                      </m:ctrlPr>
                                    </m:sSubPr>
                                    <m:e>
                                      <m:r>
                                        <a:rPr lang="zh-CN" altLang="en-US" i="1">
                                          <a:latin typeface="Cambria Math" panose="02040503050406030204" pitchFamily="18" charset="0"/>
                                        </a:rPr>
                                        <m:t>𝑇</m:t>
                                      </m:r>
                                    </m:e>
                                    <m:sub>
                                      <m:r>
                                        <a:rPr lang="zh-CN" altLang="en-US" i="0">
                                          <a:latin typeface="Cambria Math" panose="02040503050406030204" pitchFamily="18" charset="0"/>
                                        </a:rPr>
                                        <m:t>0</m:t>
                                      </m:r>
                                      <m:r>
                                        <a:rPr lang="en-US" altLang="zh-CN" b="0" i="0" smtClean="0">
                                          <a:latin typeface="Cambria Math" panose="02040503050406030204" pitchFamily="18" charset="0"/>
                                        </a:rPr>
                                        <m:t>1</m:t>
                                      </m:r>
                                    </m:sub>
                                  </m:sSub>
                                </m:num>
                                <m:den>
                                  <m:r>
                                    <a:rPr lang="zh-CN" altLang="en-US" i="1">
                                      <a:latin typeface="Cambria Math" panose="02040503050406030204" pitchFamily="18" charset="0"/>
                                    </a:rPr>
                                    <m:t>𝑇</m:t>
                                  </m:r>
                                </m:den>
                              </m:f>
                            </m:e>
                          </m:d>
                        </m:e>
                        <m:sup>
                          <m:f>
                            <m:fPr>
                              <m:type m:val="lin"/>
                              <m:ctrlPr>
                                <a:rPr lang="zh-CN" altLang="en-US" i="1">
                                  <a:latin typeface="Cambria Math" panose="02040503050406030204" pitchFamily="18" charset="0"/>
                                </a:rPr>
                              </m:ctrlPr>
                            </m:fPr>
                            <m:num>
                              <m:r>
                                <a:rPr lang="zh-CN" altLang="en-US" i="1">
                                  <a:latin typeface="Cambria Math" panose="02040503050406030204" pitchFamily="18" charset="0"/>
                                </a:rPr>
                                <m:t>𝑘</m:t>
                              </m:r>
                            </m:num>
                            <m:den>
                              <m:d>
                                <m:dPr>
                                  <m:ctrlPr>
                                    <a:rPr lang="zh-CN" altLang="en-US" i="1">
                                      <a:latin typeface="Cambria Math" panose="02040503050406030204" pitchFamily="18" charset="0"/>
                                    </a:rPr>
                                  </m:ctrlPr>
                                </m:dPr>
                                <m:e>
                                  <m:r>
                                    <a:rPr lang="zh-CN" altLang="en-US" i="1">
                                      <a:latin typeface="Cambria Math" panose="02040503050406030204" pitchFamily="18" charset="0"/>
                                    </a:rPr>
                                    <m:t>𝑘</m:t>
                                  </m:r>
                                  <m:r>
                                    <a:rPr lang="zh-CN" altLang="en-US" i="0">
                                      <a:latin typeface="Cambria Math" panose="02040503050406030204" pitchFamily="18" charset="0"/>
                                    </a:rPr>
                                    <m:t>−1</m:t>
                                  </m:r>
                                </m:e>
                              </m:d>
                            </m:den>
                          </m:f>
                        </m:sup>
                      </m:sSup>
                    </m:oMath>
                  </m:oMathPara>
                </a14:m>
                <a:endParaRPr lang="zh-CN" altLang="en-US" dirty="0"/>
              </a:p>
            </p:txBody>
          </p:sp>
        </mc:Choice>
        <mc:Fallback xmlns="">
          <p:sp>
            <p:nvSpPr>
              <p:cNvPr id="45" name="矩形 44"/>
              <p:cNvSpPr>
                <a:spLocks noRot="1" noChangeAspect="1" noMove="1" noResize="1" noEditPoints="1" noAdjustHandles="1" noChangeArrowheads="1" noChangeShapeType="1" noTextEdit="1"/>
              </p:cNvSpPr>
              <p:nvPr/>
            </p:nvSpPr>
            <p:spPr>
              <a:xfrm>
                <a:off x="196756" y="5275418"/>
                <a:ext cx="2324995" cy="690895"/>
              </a:xfrm>
              <a:prstGeom prst="rect">
                <a:avLst/>
              </a:prstGeom>
              <a:blipFill rotWithShape="0">
                <a:blip r:embed="rId5"/>
                <a:stretch>
                  <a:fillRect/>
                </a:stretch>
              </a:blipFill>
            </p:spPr>
            <p:txBody>
              <a:bodyPr/>
              <a:lstStyle/>
              <a:p>
                <a:r>
                  <a:rPr lang="zh-CN" altLang="en-US">
                    <a:noFill/>
                  </a:rPr>
                  <a:t> </a:t>
                </a:r>
              </a:p>
            </p:txBody>
          </p:sp>
        </mc:Fallback>
      </mc:AlternateContent>
      <p:sp>
        <p:nvSpPr>
          <p:cNvPr id="46" name="文本框 45"/>
          <p:cNvSpPr txBox="1"/>
          <p:nvPr/>
        </p:nvSpPr>
        <p:spPr>
          <a:xfrm>
            <a:off x="2404484" y="5514224"/>
            <a:ext cx="1681871" cy="369332"/>
          </a:xfrm>
          <a:prstGeom prst="rect">
            <a:avLst/>
          </a:prstGeom>
          <a:noFill/>
        </p:spPr>
        <p:txBody>
          <a:bodyPr wrap="none" rtlCol="0">
            <a:spAutoFit/>
          </a:bodyPr>
          <a:lstStyle/>
          <a:p>
            <a:r>
              <a:rPr lang="en-US" altLang="zh-CN" dirty="0"/>
              <a:t>P</a:t>
            </a:r>
            <a:r>
              <a:rPr lang="en-US" altLang="zh-CN" baseline="-25000" dirty="0"/>
              <a:t>01</a:t>
            </a:r>
            <a:r>
              <a:rPr lang="en-US" altLang="zh-CN" dirty="0"/>
              <a:t>=80.77 </a:t>
            </a:r>
            <a:r>
              <a:rPr lang="en-US" altLang="zh-CN" dirty="0" err="1"/>
              <a:t>kPa</a:t>
            </a:r>
            <a:endParaRPr lang="zh-CN" altLang="en-US" dirty="0"/>
          </a:p>
        </p:txBody>
      </p:sp>
      <p:sp>
        <p:nvSpPr>
          <p:cNvPr id="47" name="文本框 46"/>
          <p:cNvSpPr txBox="1"/>
          <p:nvPr/>
        </p:nvSpPr>
        <p:spPr>
          <a:xfrm>
            <a:off x="4928117" y="4081417"/>
            <a:ext cx="1030988" cy="307777"/>
          </a:xfrm>
          <a:prstGeom prst="rect">
            <a:avLst/>
          </a:prstGeom>
          <a:noFill/>
        </p:spPr>
        <p:txBody>
          <a:bodyPr wrap="none" rtlCol="0">
            <a:spAutoFit/>
          </a:bodyPr>
          <a:lstStyle/>
          <a:p>
            <a:pPr marL="285750" indent="-285750">
              <a:buFont typeface="Arial" panose="020B0604020202020204" pitchFamily="34" charset="0"/>
              <a:buChar char="•"/>
            </a:pPr>
            <a:r>
              <a:rPr lang="en-US" altLang="zh-CN" sz="1400" dirty="0"/>
              <a:t>For T</a:t>
            </a:r>
            <a:r>
              <a:rPr lang="en-US" altLang="zh-CN" sz="1400" baseline="-25000" dirty="0"/>
              <a:t>02</a:t>
            </a:r>
            <a:endParaRPr lang="zh-CN" altLang="en-US" sz="1400" dirty="0"/>
          </a:p>
        </p:txBody>
      </p:sp>
      <mc:AlternateContent xmlns:mc="http://schemas.openxmlformats.org/markup-compatibility/2006" xmlns:a14="http://schemas.microsoft.com/office/drawing/2010/main">
        <mc:Choice Requires="a14">
          <p:sp>
            <p:nvSpPr>
              <p:cNvPr id="48" name="矩形 47"/>
              <p:cNvSpPr/>
              <p:nvPr/>
            </p:nvSpPr>
            <p:spPr>
              <a:xfrm>
                <a:off x="4933488" y="4440688"/>
                <a:ext cx="2233625" cy="63408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zh-CN" altLang="en-US" sz="1400" i="1" smtClean="0">
                              <a:latin typeface="Cambria Math" panose="02040503050406030204" pitchFamily="18" charset="0"/>
                            </a:rPr>
                          </m:ctrlPr>
                        </m:sSupPr>
                        <m:e>
                          <m:r>
                            <a:rPr lang="en-US" altLang="zh-CN" sz="1400" b="0" i="1" smtClean="0">
                              <a:latin typeface="Cambria Math" panose="02040503050406030204" pitchFamily="18" charset="0"/>
                            </a:rPr>
                            <m:t>8=</m:t>
                          </m:r>
                          <m:d>
                            <m:dPr>
                              <m:ctrlPr>
                                <a:rPr lang="zh-CN" altLang="en-US" sz="1400" i="1">
                                  <a:latin typeface="Cambria Math" panose="02040503050406030204" pitchFamily="18" charset="0"/>
                                </a:rPr>
                              </m:ctrlPr>
                            </m:dPr>
                            <m:e>
                              <m:f>
                                <m:fPr>
                                  <m:ctrlPr>
                                    <a:rPr lang="zh-CN" altLang="en-US" sz="1400" i="1">
                                      <a:latin typeface="Cambria Math" panose="02040503050406030204" pitchFamily="18" charset="0"/>
                                    </a:rPr>
                                  </m:ctrlPr>
                                </m:fPr>
                                <m:num>
                                  <m:sSub>
                                    <m:sSubPr>
                                      <m:ctrlPr>
                                        <a:rPr lang="zh-CN" altLang="en-US" sz="1400" i="1">
                                          <a:latin typeface="Cambria Math" panose="02040503050406030204" pitchFamily="18" charset="0"/>
                                        </a:rPr>
                                      </m:ctrlPr>
                                    </m:sSubPr>
                                    <m:e>
                                      <m:r>
                                        <a:rPr lang="en-US" altLang="zh-CN" sz="1400" b="0" i="1" smtClean="0">
                                          <a:latin typeface="Cambria Math" panose="02040503050406030204" pitchFamily="18" charset="0"/>
                                        </a:rPr>
                                        <m:t>𝑃</m:t>
                                      </m:r>
                                    </m:e>
                                    <m:sub>
                                      <m:r>
                                        <a:rPr lang="zh-CN" altLang="en-US" sz="1400">
                                          <a:latin typeface="Cambria Math" panose="02040503050406030204" pitchFamily="18" charset="0"/>
                                        </a:rPr>
                                        <m:t>0</m:t>
                                      </m:r>
                                      <m:r>
                                        <a:rPr lang="en-US" altLang="zh-CN" sz="1400" b="0" i="0" smtClean="0">
                                          <a:latin typeface="Cambria Math" panose="02040503050406030204" pitchFamily="18" charset="0"/>
                                        </a:rPr>
                                        <m:t>2</m:t>
                                      </m:r>
                                    </m:sub>
                                  </m:sSub>
                                </m:num>
                                <m:den>
                                  <m:sSub>
                                    <m:sSubPr>
                                      <m:ctrlPr>
                                        <a:rPr lang="zh-CN" altLang="en-US" sz="1400" i="1">
                                          <a:latin typeface="Cambria Math" panose="02040503050406030204" pitchFamily="18" charset="0"/>
                                        </a:rPr>
                                      </m:ctrlPr>
                                    </m:sSubPr>
                                    <m:e>
                                      <m:r>
                                        <a:rPr lang="en-US" altLang="zh-CN" sz="1400" i="1">
                                          <a:latin typeface="Cambria Math" panose="02040503050406030204" pitchFamily="18" charset="0"/>
                                        </a:rPr>
                                        <m:t>𝑃</m:t>
                                      </m:r>
                                    </m:e>
                                    <m:sub>
                                      <m:r>
                                        <a:rPr lang="zh-CN" altLang="en-US" sz="1400">
                                          <a:latin typeface="Cambria Math" panose="02040503050406030204" pitchFamily="18" charset="0"/>
                                        </a:rPr>
                                        <m:t>0</m:t>
                                      </m:r>
                                      <m:r>
                                        <a:rPr lang="en-US" altLang="zh-CN" sz="1400" b="0" i="0" smtClean="0">
                                          <a:latin typeface="Cambria Math" panose="02040503050406030204" pitchFamily="18" charset="0"/>
                                        </a:rPr>
                                        <m:t>1</m:t>
                                      </m:r>
                                    </m:sub>
                                  </m:sSub>
                                </m:den>
                              </m:f>
                            </m:e>
                          </m:d>
                          <m:r>
                            <a:rPr lang="en-US" altLang="zh-CN" sz="1400" b="0" i="1" smtClean="0">
                              <a:latin typeface="Cambria Math" panose="02040503050406030204" pitchFamily="18" charset="0"/>
                            </a:rPr>
                            <m:t>=</m:t>
                          </m:r>
                          <m:d>
                            <m:dPr>
                              <m:ctrlPr>
                                <a:rPr lang="zh-CN" altLang="en-US" sz="1400" i="1">
                                  <a:latin typeface="Cambria Math" panose="02040503050406030204" pitchFamily="18" charset="0"/>
                                </a:rPr>
                              </m:ctrlPr>
                            </m:dPr>
                            <m:e>
                              <m:f>
                                <m:fPr>
                                  <m:ctrlPr>
                                    <a:rPr lang="zh-CN" altLang="en-US" sz="1400" i="1">
                                      <a:latin typeface="Cambria Math" panose="02040503050406030204" pitchFamily="18" charset="0"/>
                                    </a:rPr>
                                  </m:ctrlPr>
                                </m:fPr>
                                <m:num>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𝑇</m:t>
                                      </m:r>
                                    </m:e>
                                    <m:sub>
                                      <m:r>
                                        <a:rPr lang="zh-CN" altLang="en-US" sz="1400" i="0">
                                          <a:latin typeface="Cambria Math" panose="02040503050406030204" pitchFamily="18" charset="0"/>
                                        </a:rPr>
                                        <m:t>0</m:t>
                                      </m:r>
                                      <m:r>
                                        <a:rPr lang="en-US" altLang="zh-CN" sz="1400" b="0" i="0" smtClean="0">
                                          <a:latin typeface="Cambria Math" panose="02040503050406030204" pitchFamily="18" charset="0"/>
                                        </a:rPr>
                                        <m:t>2</m:t>
                                      </m:r>
                                    </m:sub>
                                  </m:sSub>
                                </m:num>
                                <m:den>
                                  <m:sSub>
                                    <m:sSubPr>
                                      <m:ctrlPr>
                                        <a:rPr lang="zh-CN" altLang="en-US" sz="1400" i="1">
                                          <a:latin typeface="Cambria Math" panose="02040503050406030204" pitchFamily="18" charset="0"/>
                                        </a:rPr>
                                      </m:ctrlPr>
                                    </m:sSubPr>
                                    <m:e>
                                      <m:r>
                                        <a:rPr lang="en-US" altLang="zh-CN" sz="1400" b="0" i="1" smtClean="0">
                                          <a:latin typeface="Cambria Math" panose="02040503050406030204" pitchFamily="18" charset="0"/>
                                        </a:rPr>
                                        <m:t>𝑇</m:t>
                                      </m:r>
                                    </m:e>
                                    <m:sub>
                                      <m:r>
                                        <a:rPr lang="zh-CN" altLang="en-US" sz="1400">
                                          <a:latin typeface="Cambria Math" panose="02040503050406030204" pitchFamily="18" charset="0"/>
                                        </a:rPr>
                                        <m:t>0</m:t>
                                      </m:r>
                                      <m:r>
                                        <a:rPr lang="en-US" altLang="zh-CN" sz="1400" b="0" i="0" smtClean="0">
                                          <a:latin typeface="Cambria Math" panose="02040503050406030204" pitchFamily="18" charset="0"/>
                                        </a:rPr>
                                        <m:t>1</m:t>
                                      </m:r>
                                    </m:sub>
                                  </m:sSub>
                                </m:den>
                              </m:f>
                            </m:e>
                          </m:d>
                        </m:e>
                        <m:sup>
                          <m:f>
                            <m:fPr>
                              <m:type m:val="lin"/>
                              <m:ctrlPr>
                                <a:rPr lang="zh-CN" altLang="en-US" sz="1400" i="1">
                                  <a:latin typeface="Cambria Math" panose="02040503050406030204" pitchFamily="18" charset="0"/>
                                </a:rPr>
                              </m:ctrlPr>
                            </m:fPr>
                            <m:num>
                              <m:r>
                                <a:rPr lang="zh-CN" altLang="en-US" sz="1400" i="1">
                                  <a:latin typeface="Cambria Math" panose="02040503050406030204" pitchFamily="18" charset="0"/>
                                </a:rPr>
                                <m:t>𝑘</m:t>
                              </m:r>
                            </m:num>
                            <m:den>
                              <m:d>
                                <m:dPr>
                                  <m:ctrlPr>
                                    <a:rPr lang="zh-CN" altLang="en-US" sz="1400" i="1">
                                      <a:latin typeface="Cambria Math" panose="02040503050406030204" pitchFamily="18" charset="0"/>
                                    </a:rPr>
                                  </m:ctrlPr>
                                </m:dPr>
                                <m:e>
                                  <m:r>
                                    <a:rPr lang="zh-CN" altLang="en-US" sz="1400" i="1">
                                      <a:latin typeface="Cambria Math" panose="02040503050406030204" pitchFamily="18" charset="0"/>
                                    </a:rPr>
                                    <m:t>𝑘</m:t>
                                  </m:r>
                                  <m:r>
                                    <a:rPr lang="zh-CN" altLang="en-US" sz="1400" i="0">
                                      <a:latin typeface="Cambria Math" panose="02040503050406030204" pitchFamily="18" charset="0"/>
                                    </a:rPr>
                                    <m:t>−1</m:t>
                                  </m:r>
                                </m:e>
                              </m:d>
                            </m:den>
                          </m:f>
                        </m:sup>
                      </m:sSup>
                    </m:oMath>
                  </m:oMathPara>
                </a14:m>
                <a:endParaRPr lang="zh-CN" altLang="en-US" sz="1400" dirty="0"/>
              </a:p>
            </p:txBody>
          </p:sp>
        </mc:Choice>
        <mc:Fallback xmlns="">
          <p:sp>
            <p:nvSpPr>
              <p:cNvPr id="48" name="矩形 47"/>
              <p:cNvSpPr>
                <a:spLocks noRot="1" noChangeAspect="1" noMove="1" noResize="1" noEditPoints="1" noAdjustHandles="1" noChangeArrowheads="1" noChangeShapeType="1" noTextEdit="1"/>
              </p:cNvSpPr>
              <p:nvPr/>
            </p:nvSpPr>
            <p:spPr>
              <a:xfrm>
                <a:off x="4933488" y="4440688"/>
                <a:ext cx="2233625" cy="634084"/>
              </a:xfrm>
              <a:prstGeom prst="rect">
                <a:avLst/>
              </a:prstGeom>
              <a:blipFill rotWithShape="0">
                <a:blip r:embed="rId6"/>
                <a:stretch>
                  <a:fillRect/>
                </a:stretch>
              </a:blipFill>
            </p:spPr>
            <p:txBody>
              <a:bodyPr/>
              <a:lstStyle/>
              <a:p>
                <a:r>
                  <a:rPr lang="zh-CN" altLang="en-US">
                    <a:noFill/>
                  </a:rPr>
                  <a:t> </a:t>
                </a:r>
              </a:p>
            </p:txBody>
          </p:sp>
        </mc:Fallback>
      </mc:AlternateContent>
      <p:sp>
        <p:nvSpPr>
          <p:cNvPr id="49" name="文本框 48"/>
          <p:cNvSpPr txBox="1"/>
          <p:nvPr/>
        </p:nvSpPr>
        <p:spPr>
          <a:xfrm>
            <a:off x="4948503" y="5263970"/>
            <a:ext cx="1388522" cy="307777"/>
          </a:xfrm>
          <a:prstGeom prst="rect">
            <a:avLst/>
          </a:prstGeom>
          <a:noFill/>
        </p:spPr>
        <p:txBody>
          <a:bodyPr wrap="none" rtlCol="0">
            <a:spAutoFit/>
          </a:bodyPr>
          <a:lstStyle/>
          <a:p>
            <a:pPr marL="285750" indent="-285750">
              <a:buFont typeface="Arial" panose="020B0604020202020204" pitchFamily="34" charset="0"/>
              <a:buChar char="•"/>
            </a:pPr>
            <a:r>
              <a:rPr lang="en-US" altLang="zh-CN" sz="1400" dirty="0"/>
              <a:t>T</a:t>
            </a:r>
            <a:r>
              <a:rPr lang="en-US" altLang="zh-CN" sz="1400" baseline="-25000" dirty="0"/>
              <a:t>02</a:t>
            </a:r>
            <a:r>
              <a:rPr lang="en-US" altLang="zh-CN" sz="1400" dirty="0"/>
              <a:t>=519.5K</a:t>
            </a:r>
            <a:endParaRPr lang="zh-CN" altLang="en-US" sz="1400" dirty="0"/>
          </a:p>
        </p:txBody>
      </p:sp>
      <p:sp>
        <p:nvSpPr>
          <p:cNvPr id="50" name="文本框 49"/>
          <p:cNvSpPr txBox="1"/>
          <p:nvPr/>
        </p:nvSpPr>
        <p:spPr>
          <a:xfrm>
            <a:off x="5024674" y="5657801"/>
            <a:ext cx="671722" cy="307777"/>
          </a:xfrm>
          <a:prstGeom prst="rect">
            <a:avLst/>
          </a:prstGeom>
          <a:noFill/>
        </p:spPr>
        <p:txBody>
          <a:bodyPr wrap="none" rtlCol="0">
            <a:spAutoFit/>
          </a:bodyPr>
          <a:lstStyle/>
          <a:p>
            <a:r>
              <a:rPr lang="en-US" altLang="zh-CN" sz="1400" dirty="0"/>
              <a:t>For w,</a:t>
            </a:r>
            <a:endParaRPr lang="zh-CN" altLang="en-US" sz="1400" dirty="0"/>
          </a:p>
        </p:txBody>
      </p:sp>
      <mc:AlternateContent xmlns:mc="http://schemas.openxmlformats.org/markup-compatibility/2006" xmlns:a14="http://schemas.microsoft.com/office/drawing/2010/main">
        <mc:Choice Requires="a14">
          <p:sp>
            <p:nvSpPr>
              <p:cNvPr id="51" name="矩形 50"/>
              <p:cNvSpPr/>
              <p:nvPr/>
            </p:nvSpPr>
            <p:spPr>
              <a:xfrm>
                <a:off x="5172762" y="5965578"/>
                <a:ext cx="3119637" cy="394019"/>
              </a:xfrm>
              <a:prstGeom prst="rect">
                <a:avLst/>
              </a:prstGeom>
            </p:spPr>
            <p:txBody>
              <a:bodyPr wrap="none">
                <a:spAutoFit/>
              </a:bodyPr>
              <a:lstStyle/>
              <a:p>
                <a:r>
                  <a:rPr lang="en-US" altLang="zh-CN" dirty="0"/>
                  <a:t>w=</a:t>
                </a:r>
                <a14:m>
                  <m:oMath xmlns:m="http://schemas.openxmlformats.org/officeDocument/2006/math">
                    <m:sSub>
                      <m:sSubPr>
                        <m:ctrlPr>
                          <a:rPr lang="zh-CN" altLang="en-US" i="1">
                            <a:latin typeface="Cambria Math" panose="02040503050406030204" pitchFamily="18" charset="0"/>
                          </a:rPr>
                        </m:ctrlPr>
                      </m:sSubPr>
                      <m:e>
                        <m:r>
                          <a:rPr lang="en-US" altLang="zh-CN" b="0" i="1" smtClean="0">
                            <a:latin typeface="Cambria Math" panose="02040503050406030204" pitchFamily="18" charset="0"/>
                          </a:rPr>
                          <m:t>𝑐</m:t>
                        </m:r>
                      </m:e>
                      <m:sub>
                        <m:r>
                          <m:rPr>
                            <m:sty m:val="p"/>
                          </m:rPr>
                          <a:rPr lang="en-US" altLang="zh-CN" b="0" i="0" smtClean="0">
                            <a:latin typeface="Cambria Math" panose="02040503050406030204" pitchFamily="18" charset="0"/>
                          </a:rPr>
                          <m:t>p</m:t>
                        </m:r>
                      </m:sub>
                    </m:sSub>
                    <m:d>
                      <m:dPr>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a:rPr lang="zh-CN" altLang="en-US" i="1">
                                <a:latin typeface="Cambria Math" panose="02040503050406030204" pitchFamily="18" charset="0"/>
                              </a:rPr>
                              <m:t>𝑇</m:t>
                            </m:r>
                          </m:e>
                          <m:sub>
                            <m:r>
                              <a:rPr lang="zh-CN" altLang="en-US" i="0">
                                <a:latin typeface="Cambria Math" panose="02040503050406030204" pitchFamily="18" charset="0"/>
                              </a:rPr>
                              <m:t>02</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𝑇</m:t>
                            </m:r>
                          </m:e>
                          <m:sub>
                            <m:r>
                              <a:rPr lang="zh-CN" altLang="en-US" i="0">
                                <a:latin typeface="Cambria Math" panose="02040503050406030204" pitchFamily="18" charset="0"/>
                              </a:rPr>
                              <m:t>01</m:t>
                            </m:r>
                          </m:sub>
                        </m:sSub>
                      </m:e>
                    </m:d>
                  </m:oMath>
                </a14:m>
                <a:r>
                  <a:rPr lang="en-US" altLang="zh-CN" dirty="0"/>
                  <a:t>=233.9 kJ/kg</a:t>
                </a:r>
                <a:endParaRPr lang="zh-CN" altLang="en-US" dirty="0"/>
              </a:p>
            </p:txBody>
          </p:sp>
        </mc:Choice>
        <mc:Fallback xmlns="">
          <p:sp>
            <p:nvSpPr>
              <p:cNvPr id="51" name="矩形 50"/>
              <p:cNvSpPr>
                <a:spLocks noRot="1" noChangeAspect="1" noMove="1" noResize="1" noEditPoints="1" noAdjustHandles="1" noChangeArrowheads="1" noChangeShapeType="1" noTextEdit="1"/>
              </p:cNvSpPr>
              <p:nvPr/>
            </p:nvSpPr>
            <p:spPr>
              <a:xfrm>
                <a:off x="5172762" y="5965578"/>
                <a:ext cx="3119637" cy="394019"/>
              </a:xfrm>
              <a:prstGeom prst="rect">
                <a:avLst/>
              </a:prstGeom>
              <a:blipFill rotWithShape="0">
                <a:blip r:embed="rId7"/>
                <a:stretch>
                  <a:fillRect l="-1761" t="-9375" r="-978" b="-1875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932970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p:txBody>
          <a:bodyPr>
            <a:normAutofit/>
          </a:bodyPr>
          <a:lstStyle/>
          <a:p>
            <a:r>
              <a:rPr lang="en-US" altLang="zh-CN" sz="2800" dirty="0">
                <a:solidFill>
                  <a:srgbClr val="FF0000"/>
                </a:solidFill>
              </a:rPr>
              <a:t>10. </a:t>
            </a:r>
            <a:r>
              <a:rPr lang="en-US" altLang="zh-CN" sz="2800" dirty="0" err="1">
                <a:solidFill>
                  <a:srgbClr val="FF0000"/>
                </a:solidFill>
                <a:latin typeface="Arial" charset="0"/>
                <a:cs typeface="Arial" charset="0"/>
              </a:rPr>
              <a:t>Rankine</a:t>
            </a:r>
            <a:r>
              <a:rPr lang="en-US" altLang="zh-CN" sz="2800" dirty="0">
                <a:solidFill>
                  <a:srgbClr val="FF0000"/>
                </a:solidFill>
                <a:latin typeface="Arial" charset="0"/>
                <a:cs typeface="Arial" charset="0"/>
              </a:rPr>
              <a:t> Cycle</a:t>
            </a:r>
            <a:endParaRPr lang="en-US" altLang="zh-CN" sz="2800" dirty="0">
              <a:solidFill>
                <a:srgbClr val="FF0000"/>
              </a:solidFill>
            </a:endParaRPr>
          </a:p>
        </p:txBody>
      </p:sp>
      <p:sp>
        <p:nvSpPr>
          <p:cNvPr id="4" name="矩形 3"/>
          <p:cNvSpPr/>
          <p:nvPr/>
        </p:nvSpPr>
        <p:spPr>
          <a:xfrm>
            <a:off x="1061208" y="4347406"/>
            <a:ext cx="7002792" cy="369332"/>
          </a:xfrm>
          <a:prstGeom prst="rect">
            <a:avLst/>
          </a:prstGeom>
        </p:spPr>
        <p:txBody>
          <a:bodyPr wrap="square">
            <a:spAutoFit/>
          </a:bodyPr>
          <a:lstStyle/>
          <a:p>
            <a:r>
              <a:rPr lang="en-US" altLang="zh-CN" b="1" dirty="0">
                <a:solidFill>
                  <a:srgbClr val="0000FF"/>
                </a:solidFill>
              </a:rPr>
              <a:t>Ref. Thermodynamics: A Engineering approach, Chapter 3</a:t>
            </a:r>
            <a:r>
              <a:rPr lang="zh-CN" altLang="en-US" b="1" dirty="0">
                <a:solidFill>
                  <a:srgbClr val="0000FF"/>
                </a:solidFill>
              </a:rPr>
              <a:t>，</a:t>
            </a:r>
            <a:r>
              <a:rPr lang="en-US" altLang="zh-CN" b="1" dirty="0">
                <a:solidFill>
                  <a:srgbClr val="0000FF"/>
                </a:solidFill>
              </a:rPr>
              <a:t>10</a:t>
            </a:r>
            <a:endParaRPr lang="zh-CN" altLang="en-US" dirty="0">
              <a:solidFill>
                <a:srgbClr val="0000FF"/>
              </a:solidFill>
            </a:endParaRPr>
          </a:p>
        </p:txBody>
      </p:sp>
    </p:spTree>
    <p:extLst>
      <p:ext uri="{BB962C8B-B14F-4D97-AF65-F5344CB8AC3E}">
        <p14:creationId xmlns:p14="http://schemas.microsoft.com/office/powerpoint/2010/main" val="146441812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8031" y="227848"/>
            <a:ext cx="6240811" cy="523220"/>
          </a:xfrm>
          <a:prstGeom prst="rect">
            <a:avLst/>
          </a:prstGeom>
        </p:spPr>
        <p:txBody>
          <a:bodyPr wrap="none">
            <a:spAutoFit/>
          </a:bodyPr>
          <a:lstStyle/>
          <a:p>
            <a:r>
              <a:rPr lang="en-US" altLang="zh-CN" sz="2800" dirty="0" err="1">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rPr>
              <a:t>Rankine</a:t>
            </a:r>
            <a:r>
              <a:rPr lang="en-US" altLang="zh-CN" sz="2800" dirty="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rPr>
              <a:t> Cycle – Steam Turbine Cycle</a:t>
            </a:r>
            <a:endParaRPr lang="en-US" altLang="zh-CN" sz="2800" b="0" i="0" dirty="0">
              <a:solidFill>
                <a:srgbClr val="FF0000"/>
              </a:solidFill>
              <a:effectLst/>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3" name="矩形 2"/>
          <p:cNvSpPr/>
          <p:nvPr/>
        </p:nvSpPr>
        <p:spPr>
          <a:xfrm>
            <a:off x="4379506" y="1088798"/>
            <a:ext cx="4572000" cy="3754874"/>
          </a:xfrm>
          <a:prstGeom prst="rect">
            <a:avLst/>
          </a:prstGeom>
        </p:spPr>
        <p:txBody>
          <a:bodyPr>
            <a:spAutoFit/>
          </a:bodyPr>
          <a:lstStyle/>
          <a:p>
            <a:r>
              <a:rPr lang="en-US" altLang="zh-CN" sz="1400" dirty="0">
                <a:solidFill>
                  <a:srgbClr val="3A3A3A"/>
                </a:solidFill>
                <a:latin typeface="Arial Unicode MS" panose="020B0604020202020204" pitchFamily="34" charset="-122"/>
                <a:ea typeface="Arial Unicode MS" panose="020B0604020202020204" pitchFamily="34" charset="-122"/>
                <a:cs typeface="Arial Unicode MS" panose="020B0604020202020204" pitchFamily="34" charset="-122"/>
              </a:rPr>
              <a:t>In 1859,He advanced the study of heat engines by publishing the “</a:t>
            </a:r>
            <a:r>
              <a:rPr lang="en-US" altLang="zh-CN" sz="1400" i="1" dirty="0">
                <a:solidFill>
                  <a:srgbClr val="3A3A3A"/>
                </a:solidFill>
                <a:latin typeface="Arial Unicode MS" panose="020B0604020202020204" pitchFamily="34" charset="-122"/>
                <a:ea typeface="Arial Unicode MS" panose="020B0604020202020204" pitchFamily="34" charset="-122"/>
                <a:cs typeface="Arial Unicode MS" panose="020B0604020202020204" pitchFamily="34" charset="-122"/>
              </a:rPr>
              <a:t>Manual of the Steam Engine and Other Prime Movers</a:t>
            </a:r>
            <a:r>
              <a:rPr lang="en-US" altLang="zh-CN" sz="1400" dirty="0">
                <a:solidFill>
                  <a:srgbClr val="3A3A3A"/>
                </a:solidFill>
                <a:latin typeface="Arial Unicode MS" panose="020B0604020202020204" pitchFamily="34" charset="-122"/>
                <a:ea typeface="Arial Unicode MS" panose="020B0604020202020204" pitchFamily="34" charset="-122"/>
                <a:cs typeface="Arial Unicode MS" panose="020B0604020202020204" pitchFamily="34" charset="-122"/>
              </a:rPr>
              <a:t>”</a:t>
            </a:r>
            <a:r>
              <a:rPr lang="zh-CN" altLang="en-US" sz="1400" dirty="0">
                <a:solidFill>
                  <a:srgbClr val="3A3A3A"/>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400" dirty="0">
                <a:solidFill>
                  <a:srgbClr val="3A3A3A"/>
                </a:solidFill>
                <a:latin typeface="Arial Unicode MS" panose="020B0604020202020204" pitchFamily="34" charset="-122"/>
                <a:ea typeface="Arial Unicode MS" panose="020B0604020202020204" pitchFamily="34" charset="-122"/>
                <a:cs typeface="Arial Unicode MS" panose="020B0604020202020204" pitchFamily="34" charset="-122"/>
              </a:rPr>
              <a:t>which is know as the </a:t>
            </a:r>
            <a:r>
              <a:rPr lang="en-US" altLang="zh-CN" sz="1400" dirty="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rPr>
              <a:t>Steam Turbine Cycle</a:t>
            </a:r>
            <a:endParaRPr lang="en-US" altLang="zh-CN" sz="1400" dirty="0">
              <a:solidFill>
                <a:srgbClr val="3A3A3A"/>
              </a:solidFill>
              <a:latin typeface="Arial Unicode MS" panose="020B0604020202020204" pitchFamily="34" charset="-122"/>
              <a:ea typeface="Arial Unicode MS" panose="020B0604020202020204" pitchFamily="34" charset="-122"/>
              <a:cs typeface="Arial Unicode MS" panose="020B0604020202020204" pitchFamily="34" charset="-122"/>
            </a:endParaRPr>
          </a:p>
          <a:p>
            <a:endParaRPr lang="en-US" altLang="zh-CN" sz="1400" dirty="0">
              <a:solidFill>
                <a:srgbClr val="3A3A3A"/>
              </a:solidFill>
              <a:latin typeface="Arial Unicode MS" panose="020B0604020202020204" pitchFamily="34" charset="-122"/>
              <a:ea typeface="Arial Unicode MS" panose="020B0604020202020204" pitchFamily="34" charset="-122"/>
              <a:cs typeface="Arial Unicode MS" panose="020B0604020202020204" pitchFamily="34" charset="-122"/>
            </a:endParaRPr>
          </a:p>
          <a:p>
            <a:r>
              <a:rPr lang="en-US" altLang="zh-CN" sz="1400" dirty="0" err="1">
                <a:solidFill>
                  <a:srgbClr val="3A3A3A"/>
                </a:solidFill>
                <a:latin typeface="Arial Unicode MS" panose="020B0604020202020204" pitchFamily="34" charset="-122"/>
                <a:ea typeface="Arial Unicode MS" panose="020B0604020202020204" pitchFamily="34" charset="-122"/>
                <a:cs typeface="Arial Unicode MS" panose="020B0604020202020204" pitchFamily="34" charset="-122"/>
              </a:rPr>
              <a:t>Rankine</a:t>
            </a:r>
            <a:r>
              <a:rPr lang="en-US" altLang="zh-CN" sz="1400" dirty="0">
                <a:solidFill>
                  <a:srgbClr val="3A3A3A"/>
                </a:solidFill>
                <a:latin typeface="Arial Unicode MS" panose="020B0604020202020204" pitchFamily="34" charset="-122"/>
                <a:ea typeface="Arial Unicode MS" panose="020B0604020202020204" pitchFamily="34" charset="-122"/>
                <a:cs typeface="Arial Unicode MS" panose="020B0604020202020204" pitchFamily="34" charset="-122"/>
              </a:rPr>
              <a:t> developed a complete theory of the</a:t>
            </a:r>
            <a:r>
              <a:rPr lang="en-US" altLang="zh-CN" sz="1400" b="1" dirty="0">
                <a:solidFill>
                  <a:srgbClr val="3A3A3A"/>
                </a:solidFill>
                <a:latin typeface="Arial Unicode MS" panose="020B0604020202020204" pitchFamily="34" charset="-122"/>
                <a:ea typeface="Arial Unicode MS" panose="020B0604020202020204" pitchFamily="34" charset="-122"/>
                <a:cs typeface="Arial Unicode MS" panose="020B0604020202020204" pitchFamily="34" charset="-122"/>
              </a:rPr>
              <a:t> steam engine</a:t>
            </a:r>
            <a:r>
              <a:rPr lang="en-US" altLang="zh-CN" sz="1400" dirty="0">
                <a:solidFill>
                  <a:srgbClr val="3A3A3A"/>
                </a:solidFill>
                <a:latin typeface="Arial Unicode MS" panose="020B0604020202020204" pitchFamily="34" charset="-122"/>
                <a:ea typeface="Arial Unicode MS" panose="020B0604020202020204" pitchFamily="34" charset="-122"/>
                <a:cs typeface="Arial Unicode MS" panose="020B0604020202020204" pitchFamily="34" charset="-122"/>
              </a:rPr>
              <a:t> and indeed of all heat engines. </a:t>
            </a:r>
          </a:p>
          <a:p>
            <a:endParaRPr lang="en-US" altLang="zh-CN" sz="1400" dirty="0">
              <a:solidFill>
                <a:srgbClr val="3A3A3A"/>
              </a:solidFill>
              <a:latin typeface="Arial Unicode MS" panose="020B0604020202020204" pitchFamily="34" charset="-122"/>
              <a:ea typeface="Arial Unicode MS" panose="020B0604020202020204" pitchFamily="34" charset="-122"/>
              <a:cs typeface="Arial Unicode MS" panose="020B0604020202020204" pitchFamily="34" charset="-122"/>
            </a:endParaRPr>
          </a:p>
          <a:p>
            <a:r>
              <a:rPr lang="en-US" altLang="zh-CN" sz="1400" dirty="0">
                <a:solidFill>
                  <a:srgbClr val="3A3A3A"/>
                </a:solidFill>
                <a:latin typeface="Arial Unicode MS" panose="020B0604020202020204" pitchFamily="34" charset="-122"/>
                <a:ea typeface="Arial Unicode MS" panose="020B0604020202020204" pitchFamily="34" charset="-122"/>
                <a:cs typeface="Arial Unicode MS" panose="020B0604020202020204" pitchFamily="34" charset="-122"/>
              </a:rPr>
              <a:t>Together with </a:t>
            </a:r>
            <a:r>
              <a:rPr lang="en-US" altLang="zh-CN" sz="1400" b="1" dirty="0">
                <a:solidFill>
                  <a:srgbClr val="3A3A3A"/>
                </a:solidFill>
                <a:latin typeface="Arial Unicode MS" panose="020B0604020202020204" pitchFamily="34" charset="-122"/>
                <a:ea typeface="Arial Unicode MS" panose="020B0604020202020204" pitchFamily="34" charset="-122"/>
                <a:cs typeface="Arial Unicode MS" panose="020B0604020202020204" pitchFamily="34" charset="-122"/>
              </a:rPr>
              <a:t>Rudolf </a:t>
            </a:r>
            <a:r>
              <a:rPr lang="en-US" altLang="zh-CN" sz="1400" b="1" dirty="0" err="1">
                <a:solidFill>
                  <a:srgbClr val="3A3A3A"/>
                </a:solidFill>
                <a:latin typeface="Arial Unicode MS" panose="020B0604020202020204" pitchFamily="34" charset="-122"/>
                <a:ea typeface="Arial Unicode MS" panose="020B0604020202020204" pitchFamily="34" charset="-122"/>
                <a:cs typeface="Arial Unicode MS" panose="020B0604020202020204" pitchFamily="34" charset="-122"/>
              </a:rPr>
              <a:t>Clausius</a:t>
            </a:r>
            <a:r>
              <a:rPr lang="en-US" altLang="zh-CN" sz="1400" dirty="0">
                <a:solidFill>
                  <a:srgbClr val="3A3A3A"/>
                </a:solidFill>
                <a:latin typeface="Arial Unicode MS" panose="020B0604020202020204" pitchFamily="34" charset="-122"/>
                <a:ea typeface="Arial Unicode MS" panose="020B0604020202020204" pitchFamily="34" charset="-122"/>
                <a:cs typeface="Arial Unicode MS" panose="020B0604020202020204" pitchFamily="34" charset="-122"/>
              </a:rPr>
              <a:t> and </a:t>
            </a:r>
            <a:r>
              <a:rPr lang="en-US" altLang="zh-CN" sz="1400" b="1" dirty="0">
                <a:solidFill>
                  <a:srgbClr val="3A3A3A"/>
                </a:solidFill>
                <a:latin typeface="Arial Unicode MS" panose="020B0604020202020204" pitchFamily="34" charset="-122"/>
                <a:ea typeface="Arial Unicode MS" panose="020B0604020202020204" pitchFamily="34" charset="-122"/>
                <a:cs typeface="Arial Unicode MS" panose="020B0604020202020204" pitchFamily="34" charset="-122"/>
              </a:rPr>
              <a:t>William Thomson</a:t>
            </a:r>
            <a:r>
              <a:rPr lang="en-US" altLang="zh-CN" sz="1400" dirty="0">
                <a:solidFill>
                  <a:srgbClr val="3A3A3A"/>
                </a:solidFill>
                <a:latin typeface="Arial Unicode MS" panose="020B0604020202020204" pitchFamily="34" charset="-122"/>
                <a:ea typeface="Arial Unicode MS" panose="020B0604020202020204" pitchFamily="34" charset="-122"/>
                <a:cs typeface="Arial Unicode MS" panose="020B0604020202020204" pitchFamily="34" charset="-122"/>
              </a:rPr>
              <a:t> (Lord Kelvin), he was a contributor to the thermodynamics, particularly focusing on the first of the three thermodynamic laws.</a:t>
            </a:r>
          </a:p>
          <a:p>
            <a:endParaRPr lang="en-US" altLang="zh-CN" sz="1400" dirty="0">
              <a:solidFill>
                <a:srgbClr val="3A3A3A"/>
              </a:solidFill>
              <a:latin typeface="Arial Unicode MS" panose="020B0604020202020204" pitchFamily="34" charset="-122"/>
              <a:ea typeface="Arial Unicode MS" panose="020B0604020202020204" pitchFamily="34" charset="-122"/>
              <a:cs typeface="Arial Unicode MS" panose="020B0604020202020204" pitchFamily="34" charset="-122"/>
            </a:endParaRPr>
          </a:p>
          <a:p>
            <a:r>
              <a:rPr lang="en-US" altLang="zh-CN" sz="1400" dirty="0" err="1">
                <a:solidFill>
                  <a:srgbClr val="1F1F54"/>
                </a:solidFill>
                <a:latin typeface="Arial Unicode MS" panose="020B0604020202020204" pitchFamily="34" charset="-122"/>
                <a:ea typeface="Arial Unicode MS" panose="020B0604020202020204" pitchFamily="34" charset="-122"/>
                <a:cs typeface="Arial Unicode MS" panose="020B0604020202020204" pitchFamily="34" charset="-122"/>
              </a:rPr>
              <a:t>Rankine</a:t>
            </a:r>
            <a:r>
              <a:rPr lang="en-US" altLang="zh-CN" sz="1400" dirty="0">
                <a:solidFill>
                  <a:srgbClr val="1F1F54"/>
                </a:solidFill>
                <a:latin typeface="Arial Unicode MS" panose="020B0604020202020204" pitchFamily="34" charset="-122"/>
                <a:ea typeface="Arial Unicode MS" panose="020B0604020202020204" pitchFamily="34" charset="-122"/>
                <a:cs typeface="Arial Unicode MS" panose="020B0604020202020204" pitchFamily="34" charset="-122"/>
              </a:rPr>
              <a:t> worked closely with Clyde shipbuilders, especially his friend and life-long collaborator James Robert Napier to make naval architecture into an engineering science</a:t>
            </a:r>
            <a:endParaRPr lang="zh-CN" altLang="en-US" sz="1400"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pic>
        <p:nvPicPr>
          <p:cNvPr id="74754" name="Picture 2" descr="Image result for William John Macquorn Rankin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3295" y="1330881"/>
            <a:ext cx="1181100" cy="1743076"/>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182880" y="3449280"/>
            <a:ext cx="3649980" cy="646331"/>
          </a:xfrm>
          <a:prstGeom prst="rect">
            <a:avLst/>
          </a:prstGeom>
        </p:spPr>
        <p:txBody>
          <a:bodyPr wrap="square">
            <a:spAutoFit/>
          </a:bodyPr>
          <a:lstStyle/>
          <a:p>
            <a:r>
              <a:rPr lang="en-US" altLang="zh-CN" dirty="0">
                <a:solidFill>
                  <a:srgbClr val="3A3A3A"/>
                </a:solidFill>
                <a:latin typeface="Arial Unicode MS" panose="020B0604020202020204" pitchFamily="34" charset="-122"/>
                <a:ea typeface="Arial Unicode MS" panose="020B0604020202020204" pitchFamily="34" charset="-122"/>
                <a:cs typeface="Arial Unicode MS" panose="020B0604020202020204" pitchFamily="34" charset="-122"/>
              </a:rPr>
              <a:t>Scottish engineer, </a:t>
            </a:r>
          </a:p>
          <a:p>
            <a:r>
              <a:rPr lang="en-US" altLang="zh-CN" b="1" dirty="0">
                <a:solidFill>
                  <a:srgbClr val="3A3A3A"/>
                </a:solidFill>
                <a:latin typeface="Arial Unicode MS" panose="020B0604020202020204" pitchFamily="34" charset="-122"/>
                <a:ea typeface="Arial Unicode MS" panose="020B0604020202020204" pitchFamily="34" charset="-122"/>
                <a:cs typeface="Arial Unicode MS" panose="020B0604020202020204" pitchFamily="34" charset="-122"/>
              </a:rPr>
              <a:t>William John </a:t>
            </a:r>
            <a:r>
              <a:rPr lang="en-US" altLang="zh-CN" b="1" dirty="0" err="1">
                <a:solidFill>
                  <a:srgbClr val="3A3A3A"/>
                </a:solidFill>
                <a:latin typeface="Arial Unicode MS" panose="020B0604020202020204" pitchFamily="34" charset="-122"/>
                <a:ea typeface="Arial Unicode MS" panose="020B0604020202020204" pitchFamily="34" charset="-122"/>
                <a:cs typeface="Arial Unicode MS" panose="020B0604020202020204" pitchFamily="34" charset="-122"/>
              </a:rPr>
              <a:t>Macquorn</a:t>
            </a:r>
            <a:r>
              <a:rPr lang="en-US" altLang="zh-CN" b="1" dirty="0">
                <a:solidFill>
                  <a:srgbClr val="3A3A3A"/>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b="1" dirty="0" err="1">
                <a:solidFill>
                  <a:srgbClr val="3A3A3A"/>
                </a:solidFill>
                <a:latin typeface="Arial Unicode MS" panose="020B0604020202020204" pitchFamily="34" charset="-122"/>
                <a:ea typeface="Arial Unicode MS" panose="020B0604020202020204" pitchFamily="34" charset="-122"/>
                <a:cs typeface="Arial Unicode MS" panose="020B0604020202020204" pitchFamily="34" charset="-122"/>
              </a:rPr>
              <a:t>Rankine</a:t>
            </a:r>
            <a:endParaRPr lang="zh-CN" altLang="en-US"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5" name="矩形 4"/>
          <p:cNvSpPr/>
          <p:nvPr/>
        </p:nvSpPr>
        <p:spPr>
          <a:xfrm>
            <a:off x="963295" y="3079948"/>
            <a:ext cx="1039067" cy="307777"/>
          </a:xfrm>
          <a:prstGeom prst="rect">
            <a:avLst/>
          </a:prstGeom>
        </p:spPr>
        <p:txBody>
          <a:bodyPr wrap="none">
            <a:spAutoFit/>
          </a:bodyPr>
          <a:lstStyle/>
          <a:p>
            <a:r>
              <a:rPr lang="en-US" altLang="zh-CN" sz="1400" dirty="0">
                <a:solidFill>
                  <a:srgbClr val="666666"/>
                </a:solidFill>
                <a:latin typeface="Arial Unicode MS" panose="020B0604020202020204" pitchFamily="34" charset="-122"/>
                <a:ea typeface="Arial Unicode MS" panose="020B0604020202020204" pitchFamily="34" charset="-122"/>
                <a:cs typeface="Arial Unicode MS" panose="020B0604020202020204" pitchFamily="34" charset="-122"/>
              </a:rPr>
              <a:t>1820-1872</a:t>
            </a:r>
            <a:endParaRPr lang="zh-CN" altLang="en-US" sz="1400"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6" name="矩形 5"/>
          <p:cNvSpPr/>
          <p:nvPr/>
        </p:nvSpPr>
        <p:spPr>
          <a:xfrm>
            <a:off x="655320" y="5181402"/>
            <a:ext cx="7597140" cy="1169551"/>
          </a:xfrm>
          <a:prstGeom prst="rect">
            <a:avLst/>
          </a:prstGeom>
          <a:solidFill>
            <a:schemeClr val="accent6">
              <a:lumMod val="20000"/>
              <a:lumOff val="80000"/>
            </a:schemeClr>
          </a:solidFill>
        </p:spPr>
        <p:txBody>
          <a:bodyPr wrap="square">
            <a:spAutoFit/>
          </a:bodyPr>
          <a:lstStyle/>
          <a:p>
            <a:pPr marL="285750" indent="-285750">
              <a:buFont typeface="Arial" panose="020B0604020202020204" pitchFamily="34" charset="0"/>
              <a:buChar char="•"/>
            </a:pPr>
            <a:r>
              <a:rPr lang="en-US" altLang="zh-CN" sz="1400" dirty="0" err="1">
                <a:solidFill>
                  <a:srgbClr val="1F1F54"/>
                </a:solidFill>
                <a:latin typeface="Arial Unicode MS" panose="020B0604020202020204" pitchFamily="34" charset="-122"/>
                <a:ea typeface="Arial Unicode MS" panose="020B0604020202020204" pitchFamily="34" charset="-122"/>
                <a:cs typeface="Arial Unicode MS" panose="020B0604020202020204" pitchFamily="34" charset="-122"/>
              </a:rPr>
              <a:t>Clausius</a:t>
            </a:r>
            <a:r>
              <a:rPr lang="en-US" altLang="zh-CN" sz="1400" dirty="0">
                <a:solidFill>
                  <a:srgbClr val="1F1F54"/>
                </a:solidFill>
                <a:latin typeface="Arial Unicode MS" panose="020B0604020202020204" pitchFamily="34" charset="-122"/>
                <a:ea typeface="Arial Unicode MS" panose="020B0604020202020204" pitchFamily="34" charset="-122"/>
                <a:cs typeface="Arial Unicode MS" panose="020B0604020202020204" pitchFamily="34" charset="-122"/>
              </a:rPr>
              <a:t> considered the conversion between heat and work and the flow of heat from high to low temperature in a cyclic process, </a:t>
            </a:r>
          </a:p>
          <a:p>
            <a:pPr marL="285750" indent="-285750">
              <a:buFont typeface="Arial" panose="020B0604020202020204" pitchFamily="34" charset="0"/>
              <a:buChar char="•"/>
            </a:pPr>
            <a:endParaRPr lang="en-US" altLang="zh-CN" sz="1400" dirty="0">
              <a:solidFill>
                <a:srgbClr val="1F1F54"/>
              </a:solidFill>
              <a:latin typeface="Arial Unicode MS" panose="020B0604020202020204" pitchFamily="34" charset="-122"/>
              <a:ea typeface="Arial Unicode MS" panose="020B0604020202020204" pitchFamily="34" charset="-122"/>
              <a:cs typeface="Arial Unicode MS" panose="020B0604020202020204" pitchFamily="34" charset="-122"/>
            </a:endParaRPr>
          </a:p>
          <a:p>
            <a:pPr marL="285750" indent="-285750">
              <a:buFont typeface="Arial" panose="020B0604020202020204" pitchFamily="34" charset="0"/>
              <a:buChar char="•"/>
            </a:pPr>
            <a:r>
              <a:rPr lang="en-US" altLang="zh-CN" sz="1400" dirty="0" err="1">
                <a:solidFill>
                  <a:srgbClr val="1F1F54"/>
                </a:solidFill>
                <a:latin typeface="Arial Unicode MS" panose="020B0604020202020204" pitchFamily="34" charset="-122"/>
                <a:ea typeface="Arial Unicode MS" panose="020B0604020202020204" pitchFamily="34" charset="-122"/>
                <a:cs typeface="Arial Unicode MS" panose="020B0604020202020204" pitchFamily="34" charset="-122"/>
              </a:rPr>
              <a:t>Rankine</a:t>
            </a:r>
            <a:r>
              <a:rPr lang="en-US" altLang="zh-CN" sz="1400" dirty="0">
                <a:solidFill>
                  <a:srgbClr val="1F1F54"/>
                </a:solidFill>
                <a:latin typeface="Arial Unicode MS" panose="020B0604020202020204" pitchFamily="34" charset="-122"/>
                <a:ea typeface="Arial Unicode MS" panose="020B0604020202020204" pitchFamily="34" charset="-122"/>
                <a:cs typeface="Arial Unicode MS" panose="020B0604020202020204" pitchFamily="34" charset="-122"/>
              </a:rPr>
              <a:t> concentrated on the change from kinetic (molecular) to potential energies, and related this change to heat flow by use of his "heat-potential" function.</a:t>
            </a:r>
            <a:endParaRPr lang="zh-CN" altLang="en-US" sz="1400"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extLst>
      <p:ext uri="{BB962C8B-B14F-4D97-AF65-F5344CB8AC3E}">
        <p14:creationId xmlns:p14="http://schemas.microsoft.com/office/powerpoint/2010/main" val="40351477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28707" y="3723126"/>
            <a:ext cx="4216219" cy="1200329"/>
          </a:xfrm>
          <a:prstGeom prst="rect">
            <a:avLst/>
          </a:prstGeom>
        </p:spPr>
        <p:txBody>
          <a:bodyPr wrap="none">
            <a:spAutoFit/>
          </a:bodyPr>
          <a:lstStyle/>
          <a:p>
            <a:r>
              <a:rPr lang="en-US" altLang="zh-CN" sz="1200" dirty="0">
                <a:solidFill>
                  <a:srgbClr val="1F1F54"/>
                </a:solidFill>
                <a:latin typeface="Arial Unicode MS" panose="020B0604020202020204" pitchFamily="34" charset="-122"/>
                <a:ea typeface="Arial Unicode MS" panose="020B0604020202020204" pitchFamily="34" charset="-122"/>
                <a:cs typeface="Arial Unicode MS" panose="020B0604020202020204" pitchFamily="34" charset="-122"/>
              </a:rPr>
              <a:t>21, </a:t>
            </a:r>
            <a:r>
              <a:rPr lang="en-US" altLang="zh-CN" sz="1200" dirty="0">
                <a:latin typeface="Arial Unicode MS" panose="020B0604020202020204" pitchFamily="34" charset="-122"/>
                <a:ea typeface="Arial Unicode MS" panose="020B0604020202020204" pitchFamily="34" charset="-122"/>
                <a:cs typeface="Arial Unicode MS" panose="020B0604020202020204" pitchFamily="34" charset="-122"/>
              </a:rPr>
              <a:t>Returned to Edinburgh, working with railway companies</a:t>
            </a:r>
          </a:p>
          <a:p>
            <a:r>
              <a:rPr lang="en-US" altLang="zh-CN" sz="1200" dirty="0">
                <a:latin typeface="Arial Unicode MS" panose="020B0604020202020204" pitchFamily="34" charset="-122"/>
                <a:ea typeface="Arial Unicode MS" panose="020B0604020202020204" pitchFamily="34" charset="-122"/>
                <a:cs typeface="Arial Unicode MS" panose="020B0604020202020204" pitchFamily="34" charset="-122"/>
              </a:rPr>
              <a:t>21, Fellow of the Royal Scottish Society of Arts</a:t>
            </a:r>
          </a:p>
          <a:p>
            <a:r>
              <a:rPr lang="en-US" altLang="zh-CN" sz="1200" dirty="0">
                <a:latin typeface="Arial Unicode MS" panose="020B0604020202020204" pitchFamily="34" charset="-122"/>
                <a:ea typeface="Arial Unicode MS" panose="020B0604020202020204" pitchFamily="34" charset="-122"/>
                <a:cs typeface="Arial Unicode MS" panose="020B0604020202020204" pitchFamily="34" charset="-122"/>
              </a:rPr>
              <a:t>28, Fellow of the Royal Society of Edinburgh</a:t>
            </a:r>
            <a:endParaRPr lang="en-US" altLang="zh-CN" sz="1200" dirty="0">
              <a:solidFill>
                <a:srgbClr val="1F1F54"/>
              </a:solidFill>
              <a:latin typeface="Arial Unicode MS" panose="020B0604020202020204" pitchFamily="34" charset="-122"/>
              <a:ea typeface="Arial Unicode MS" panose="020B0604020202020204" pitchFamily="34" charset="-122"/>
              <a:cs typeface="Arial Unicode MS" panose="020B0604020202020204" pitchFamily="34" charset="-122"/>
            </a:endParaRPr>
          </a:p>
          <a:p>
            <a:r>
              <a:rPr lang="en-US" altLang="zh-CN" sz="1200" dirty="0">
                <a:solidFill>
                  <a:srgbClr val="1F1F54"/>
                </a:solidFill>
                <a:latin typeface="Arial Unicode MS" panose="020B0604020202020204" pitchFamily="34" charset="-122"/>
                <a:ea typeface="Arial Unicode MS" panose="020B0604020202020204" pitchFamily="34" charset="-122"/>
                <a:cs typeface="Arial Unicode MS" panose="020B0604020202020204" pitchFamily="34" charset="-122"/>
              </a:rPr>
              <a:t>33,  Fellow of the Royal Society of London</a:t>
            </a:r>
          </a:p>
          <a:p>
            <a:r>
              <a:rPr lang="en-US" altLang="zh-CN" sz="1200" dirty="0">
                <a:latin typeface="Arial Unicode MS" panose="020B0604020202020204" pitchFamily="34" charset="-122"/>
                <a:ea typeface="Arial Unicode MS" panose="020B0604020202020204" pitchFamily="34" charset="-122"/>
                <a:cs typeface="Arial Unicode MS" panose="020B0604020202020204" pitchFamily="34" charset="-122"/>
              </a:rPr>
              <a:t>43, Elected to American Academy of Arts and Science</a:t>
            </a:r>
          </a:p>
          <a:p>
            <a:r>
              <a:rPr lang="en-US" altLang="zh-CN" sz="1200" dirty="0">
                <a:latin typeface="Arial Unicode MS" panose="020B0604020202020204" pitchFamily="34" charset="-122"/>
                <a:ea typeface="Arial Unicode MS" panose="020B0604020202020204" pitchFamily="34" charset="-122"/>
                <a:cs typeface="Arial Unicode MS" panose="020B0604020202020204" pitchFamily="34" charset="-122"/>
              </a:rPr>
              <a:t>48,  Elected to Royal Swedish Academy of Sciences</a:t>
            </a:r>
          </a:p>
        </p:txBody>
      </p:sp>
      <p:pic>
        <p:nvPicPr>
          <p:cNvPr id="3" name="Picture 2" descr="Image result for William John Macquorn Rankin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1212" y="1033885"/>
            <a:ext cx="1181100" cy="1743076"/>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345012" y="3019211"/>
            <a:ext cx="3649980" cy="461665"/>
          </a:xfrm>
          <a:prstGeom prst="rect">
            <a:avLst/>
          </a:prstGeom>
        </p:spPr>
        <p:txBody>
          <a:bodyPr wrap="square">
            <a:spAutoFit/>
          </a:bodyPr>
          <a:lstStyle/>
          <a:p>
            <a:r>
              <a:rPr lang="en-US" altLang="zh-CN" sz="1200" dirty="0">
                <a:solidFill>
                  <a:srgbClr val="3A3A3A"/>
                </a:solidFill>
                <a:latin typeface="Arial Unicode MS" panose="020B0604020202020204" pitchFamily="34" charset="-122"/>
                <a:ea typeface="Arial Unicode MS" panose="020B0604020202020204" pitchFamily="34" charset="-122"/>
                <a:cs typeface="Arial Unicode MS" panose="020B0604020202020204" pitchFamily="34" charset="-122"/>
              </a:rPr>
              <a:t>Scottish engineer, </a:t>
            </a:r>
          </a:p>
          <a:p>
            <a:r>
              <a:rPr lang="en-US" altLang="zh-CN" sz="1200" b="1" dirty="0">
                <a:solidFill>
                  <a:srgbClr val="3A3A3A"/>
                </a:solidFill>
                <a:latin typeface="Arial Unicode MS" panose="020B0604020202020204" pitchFamily="34" charset="-122"/>
                <a:ea typeface="Arial Unicode MS" panose="020B0604020202020204" pitchFamily="34" charset="-122"/>
                <a:cs typeface="Arial Unicode MS" panose="020B0604020202020204" pitchFamily="34" charset="-122"/>
              </a:rPr>
              <a:t>William John </a:t>
            </a:r>
            <a:r>
              <a:rPr lang="en-US" altLang="zh-CN" sz="1200" b="1" dirty="0" err="1">
                <a:solidFill>
                  <a:srgbClr val="3A3A3A"/>
                </a:solidFill>
                <a:latin typeface="Arial Unicode MS" panose="020B0604020202020204" pitchFamily="34" charset="-122"/>
                <a:ea typeface="Arial Unicode MS" panose="020B0604020202020204" pitchFamily="34" charset="-122"/>
                <a:cs typeface="Arial Unicode MS" panose="020B0604020202020204" pitchFamily="34" charset="-122"/>
              </a:rPr>
              <a:t>Macquorn</a:t>
            </a:r>
            <a:r>
              <a:rPr lang="en-US" altLang="zh-CN" sz="1200" b="1" dirty="0">
                <a:solidFill>
                  <a:srgbClr val="3A3A3A"/>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200" b="1" dirty="0" err="1">
                <a:solidFill>
                  <a:srgbClr val="3A3A3A"/>
                </a:solidFill>
                <a:latin typeface="Arial Unicode MS" panose="020B0604020202020204" pitchFamily="34" charset="-122"/>
                <a:ea typeface="Arial Unicode MS" panose="020B0604020202020204" pitchFamily="34" charset="-122"/>
                <a:cs typeface="Arial Unicode MS" panose="020B0604020202020204" pitchFamily="34" charset="-122"/>
              </a:rPr>
              <a:t>Rankine</a:t>
            </a:r>
            <a:endParaRPr lang="zh-CN" altLang="en-US" sz="1200"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5" name="矩形 4"/>
          <p:cNvSpPr/>
          <p:nvPr/>
        </p:nvSpPr>
        <p:spPr>
          <a:xfrm>
            <a:off x="345012" y="2776961"/>
            <a:ext cx="1039067" cy="307777"/>
          </a:xfrm>
          <a:prstGeom prst="rect">
            <a:avLst/>
          </a:prstGeom>
        </p:spPr>
        <p:txBody>
          <a:bodyPr wrap="none">
            <a:spAutoFit/>
          </a:bodyPr>
          <a:lstStyle/>
          <a:p>
            <a:r>
              <a:rPr lang="en-US" altLang="zh-CN" sz="1400" dirty="0">
                <a:solidFill>
                  <a:srgbClr val="666666"/>
                </a:solidFill>
                <a:latin typeface="Arial Unicode MS" panose="020B0604020202020204" pitchFamily="34" charset="-122"/>
                <a:ea typeface="Arial Unicode MS" panose="020B0604020202020204" pitchFamily="34" charset="-122"/>
                <a:cs typeface="Arial Unicode MS" panose="020B0604020202020204" pitchFamily="34" charset="-122"/>
              </a:rPr>
              <a:t>1820-1872</a:t>
            </a:r>
            <a:endParaRPr lang="zh-CN" altLang="en-US" sz="1400"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7" name="矩形 6"/>
          <p:cNvSpPr/>
          <p:nvPr/>
        </p:nvSpPr>
        <p:spPr>
          <a:xfrm>
            <a:off x="3722103" y="867026"/>
            <a:ext cx="4488714" cy="1754326"/>
          </a:xfrm>
          <a:prstGeom prst="rect">
            <a:avLst/>
          </a:prstGeom>
        </p:spPr>
        <p:txBody>
          <a:bodyPr wrap="square">
            <a:spAutoFit/>
          </a:bodyPr>
          <a:lstStyle/>
          <a:p>
            <a:r>
              <a:rPr lang="en-US" altLang="zh-CN" sz="1200" dirty="0">
                <a:solidFill>
                  <a:srgbClr val="1F1F54"/>
                </a:solidFill>
                <a:latin typeface="Arial Unicode MS" panose="020B0604020202020204" pitchFamily="34" charset="-122"/>
                <a:ea typeface="Arial Unicode MS" panose="020B0604020202020204" pitchFamily="34" charset="-122"/>
                <a:cs typeface="Arial Unicode MS" panose="020B0604020202020204" pitchFamily="34" charset="-122"/>
              </a:rPr>
              <a:t>16, Began classes at University of Edinburgh</a:t>
            </a:r>
          </a:p>
          <a:p>
            <a:pPr marL="266700" indent="-266700"/>
            <a:r>
              <a:rPr lang="en-US" altLang="zh-CN" sz="1200" dirty="0">
                <a:solidFill>
                  <a:srgbClr val="1F1F54"/>
                </a:solidFill>
                <a:latin typeface="Arial Unicode MS" panose="020B0604020202020204" pitchFamily="34" charset="-122"/>
                <a:ea typeface="Arial Unicode MS" panose="020B0604020202020204" pitchFamily="34" charset="-122"/>
                <a:cs typeface="Arial Unicode MS" panose="020B0604020202020204" pitchFamily="34" charset="-122"/>
              </a:rPr>
              <a:t>24, </a:t>
            </a:r>
            <a:r>
              <a:rPr lang="en-US" altLang="zh-CN" sz="1200" dirty="0">
                <a:latin typeface="Arial Unicode MS" panose="020B0604020202020204" pitchFamily="34" charset="-122"/>
                <a:ea typeface="Arial Unicode MS" panose="020B0604020202020204" pitchFamily="34" charset="-122"/>
                <a:cs typeface="Arial Unicode MS" panose="020B0604020202020204" pitchFamily="34" charset="-122"/>
              </a:rPr>
              <a:t>Employed under Locke and </a:t>
            </a:r>
            <a:r>
              <a:rPr lang="en-US" altLang="zh-CN" sz="1200" dirty="0" err="1">
                <a:latin typeface="Arial Unicode MS" panose="020B0604020202020204" pitchFamily="34" charset="-122"/>
                <a:ea typeface="Arial Unicode MS" panose="020B0604020202020204" pitchFamily="34" charset="-122"/>
                <a:cs typeface="Arial Unicode MS" panose="020B0604020202020204" pitchFamily="34" charset="-122"/>
              </a:rPr>
              <a:t>Errington</a:t>
            </a:r>
            <a:r>
              <a:rPr lang="en-US" altLang="zh-CN" sz="1200" dirty="0">
                <a:latin typeface="Arial Unicode MS" panose="020B0604020202020204" pitchFamily="34" charset="-122"/>
                <a:ea typeface="Arial Unicode MS" panose="020B0604020202020204" pitchFamily="34" charset="-122"/>
                <a:cs typeface="Arial Unicode MS" panose="020B0604020202020204" pitchFamily="34" charset="-122"/>
              </a:rPr>
              <a:t> on Caledonian Railway project</a:t>
            </a:r>
          </a:p>
          <a:p>
            <a:pPr marL="266700" indent="-266700"/>
            <a:r>
              <a:rPr lang="en-US" altLang="zh-CN" sz="1200" dirty="0">
                <a:latin typeface="Arial Unicode MS" panose="020B0604020202020204" pitchFamily="34" charset="-122"/>
                <a:ea typeface="Arial Unicode MS" panose="020B0604020202020204" pitchFamily="34" charset="-122"/>
                <a:cs typeface="Arial Unicode MS" panose="020B0604020202020204" pitchFamily="34" charset="-122"/>
              </a:rPr>
              <a:t>35, </a:t>
            </a:r>
            <a:r>
              <a:rPr lang="en-US" altLang="zh-CN" sz="1200" dirty="0" err="1">
                <a:latin typeface="Arial Unicode MS" panose="020B0604020202020204" pitchFamily="34" charset="-122"/>
                <a:ea typeface="Arial Unicode MS" panose="020B0604020202020204" pitchFamily="34" charset="-122"/>
                <a:cs typeface="Arial Unicode MS" panose="020B0604020202020204" pitchFamily="34" charset="-122"/>
              </a:rPr>
              <a:t>Regius</a:t>
            </a:r>
            <a:r>
              <a:rPr lang="en-US" altLang="zh-CN" sz="1200" dirty="0">
                <a:latin typeface="Arial Unicode MS" panose="020B0604020202020204" pitchFamily="34" charset="-122"/>
                <a:ea typeface="Arial Unicode MS" panose="020B0604020202020204" pitchFamily="34" charset="-122"/>
                <a:cs typeface="Arial Unicode MS" panose="020B0604020202020204" pitchFamily="34" charset="-122"/>
              </a:rPr>
              <a:t> Professor of civil engineering and mechanics at Glasgow University</a:t>
            </a:r>
          </a:p>
          <a:p>
            <a:pPr marL="266700" indent="-266700"/>
            <a:r>
              <a:rPr lang="en-US" altLang="zh-CN" sz="1200" dirty="0">
                <a:latin typeface="Arial Unicode MS" panose="020B0604020202020204" pitchFamily="34" charset="-122"/>
                <a:ea typeface="Arial Unicode MS" panose="020B0604020202020204" pitchFamily="34" charset="-122"/>
                <a:cs typeface="Arial Unicode MS" panose="020B0604020202020204" pitchFamily="34" charset="-122"/>
              </a:rPr>
              <a:t>37, First President of Institution of Engineers and Shipbuilders in Scotland . Awarded Doctor of Laws, Trinity College, Dublin</a:t>
            </a:r>
          </a:p>
          <a:p>
            <a:r>
              <a:rPr lang="en-US" altLang="zh-CN" sz="1200" dirty="0"/>
              <a:t>51, Vice President of Royal Society of Edinburgh</a:t>
            </a:r>
            <a:endParaRPr lang="en-US" altLang="zh-CN" sz="1200"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8" name="矩形 7"/>
          <p:cNvSpPr/>
          <p:nvPr/>
        </p:nvSpPr>
        <p:spPr>
          <a:xfrm>
            <a:off x="3994992" y="5090664"/>
            <a:ext cx="4891083" cy="1200329"/>
          </a:xfrm>
          <a:prstGeom prst="rect">
            <a:avLst/>
          </a:prstGeom>
        </p:spPr>
        <p:txBody>
          <a:bodyPr wrap="none">
            <a:spAutoFit/>
          </a:bodyPr>
          <a:lstStyle/>
          <a:p>
            <a:r>
              <a:rPr lang="en-US" altLang="zh-CN" sz="1200" dirty="0">
                <a:solidFill>
                  <a:srgbClr val="1F1F54"/>
                </a:solidFill>
                <a:latin typeface="Arial Unicode MS" panose="020B0604020202020204" pitchFamily="34" charset="-122"/>
                <a:ea typeface="Arial Unicode MS" panose="020B0604020202020204" pitchFamily="34" charset="-122"/>
                <a:cs typeface="Arial Unicode MS" panose="020B0604020202020204" pitchFamily="34" charset="-122"/>
              </a:rPr>
              <a:t>38, Published Applied Mechanics</a:t>
            </a:r>
          </a:p>
          <a:p>
            <a:r>
              <a:rPr lang="en-US" altLang="zh-CN" sz="1200" dirty="0">
                <a:latin typeface="Arial Unicode MS" panose="020B0604020202020204" pitchFamily="34" charset="-122"/>
                <a:ea typeface="Arial Unicode MS" panose="020B0604020202020204" pitchFamily="34" charset="-122"/>
                <a:cs typeface="Arial Unicode MS" panose="020B0604020202020204" pitchFamily="34" charset="-122"/>
              </a:rPr>
              <a:t>39, Published The Steam Engine and other Prime Movers</a:t>
            </a:r>
          </a:p>
          <a:p>
            <a:r>
              <a:rPr lang="en-US" altLang="zh-CN" sz="1200" dirty="0">
                <a:latin typeface="Arial Unicode MS" panose="020B0604020202020204" pitchFamily="34" charset="-122"/>
                <a:ea typeface="Arial Unicode MS" panose="020B0604020202020204" pitchFamily="34" charset="-122"/>
                <a:cs typeface="Arial Unicode MS" panose="020B0604020202020204" pitchFamily="34" charset="-122"/>
              </a:rPr>
              <a:t>42, Published Civil Engineering</a:t>
            </a:r>
          </a:p>
          <a:p>
            <a:r>
              <a:rPr lang="en-US" altLang="zh-CN" sz="1200" dirty="0">
                <a:latin typeface="Arial Unicode MS" panose="020B0604020202020204" pitchFamily="34" charset="-122"/>
                <a:ea typeface="Arial Unicode MS" panose="020B0604020202020204" pitchFamily="34" charset="-122"/>
                <a:cs typeface="Arial Unicode MS" panose="020B0604020202020204" pitchFamily="34" charset="-122"/>
              </a:rPr>
              <a:t>46. Published Shipbuilding, Theoretical and </a:t>
            </a:r>
            <a:r>
              <a:rPr lang="en-US" altLang="zh-CN" sz="1200" dirty="0" err="1">
                <a:latin typeface="Arial Unicode MS" panose="020B0604020202020204" pitchFamily="34" charset="-122"/>
                <a:ea typeface="Arial Unicode MS" panose="020B0604020202020204" pitchFamily="34" charset="-122"/>
                <a:cs typeface="Arial Unicode MS" panose="020B0604020202020204" pitchFamily="34" charset="-122"/>
              </a:rPr>
              <a:t>Practica</a:t>
            </a:r>
            <a:endParaRPr lang="en-US" altLang="zh-CN" sz="1200" dirty="0">
              <a:latin typeface="Arial Unicode MS" panose="020B0604020202020204" pitchFamily="34" charset="-122"/>
              <a:ea typeface="Arial Unicode MS" panose="020B0604020202020204" pitchFamily="34" charset="-122"/>
              <a:cs typeface="Arial Unicode MS" panose="020B0604020202020204" pitchFamily="34" charset="-122"/>
            </a:endParaRPr>
          </a:p>
          <a:p>
            <a:r>
              <a:rPr lang="en-US" altLang="zh-CN" sz="1200" dirty="0">
                <a:latin typeface="Arial Unicode MS" panose="020B0604020202020204" pitchFamily="34" charset="-122"/>
                <a:ea typeface="Arial Unicode MS" panose="020B0604020202020204" pitchFamily="34" charset="-122"/>
                <a:cs typeface="Arial Unicode MS" panose="020B0604020202020204" pitchFamily="34" charset="-122"/>
              </a:rPr>
              <a:t>49, Published Machinery and Millwork</a:t>
            </a:r>
          </a:p>
          <a:p>
            <a:r>
              <a:rPr lang="en-US" altLang="zh-CN" sz="1200" dirty="0">
                <a:latin typeface="Arial Unicode MS" panose="020B0604020202020204" pitchFamily="34" charset="-122"/>
                <a:ea typeface="Arial Unicode MS" panose="020B0604020202020204" pitchFamily="34" charset="-122"/>
                <a:cs typeface="Arial Unicode MS" panose="020B0604020202020204" pitchFamily="34" charset="-122"/>
              </a:rPr>
              <a:t>50, Published On the mechanical principles of the action of propellers</a:t>
            </a:r>
            <a:endParaRPr lang="zh-CN" altLang="en-US" sz="1200"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0" name="文本框 9"/>
          <p:cNvSpPr txBox="1"/>
          <p:nvPr/>
        </p:nvSpPr>
        <p:spPr>
          <a:xfrm>
            <a:off x="1193238" y="176616"/>
            <a:ext cx="5942652" cy="523220"/>
          </a:xfrm>
          <a:prstGeom prst="rect">
            <a:avLst/>
          </a:prstGeom>
          <a:noFill/>
        </p:spPr>
        <p:txBody>
          <a:bodyPr wrap="none" rtlCol="0">
            <a:spAutoFit/>
          </a:bodyPr>
          <a:lstStyle/>
          <a:p>
            <a:r>
              <a:rPr lang="en-US" altLang="zh-CN" sz="2800" dirty="0">
                <a:solidFill>
                  <a:srgbClr val="FF0000"/>
                </a:solidFill>
              </a:rPr>
              <a:t>The legend of </a:t>
            </a:r>
            <a:r>
              <a:rPr lang="en-US" altLang="zh-CN" sz="2800" b="1" dirty="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rPr>
              <a:t>William J. M. </a:t>
            </a:r>
            <a:r>
              <a:rPr lang="en-US" altLang="zh-CN" sz="2800" b="1" dirty="0" err="1">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rPr>
              <a:t>Rankine</a:t>
            </a:r>
            <a:endParaRPr lang="zh-CN" altLang="en-US" sz="2800" dirty="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extLst>
      <p:ext uri="{BB962C8B-B14F-4D97-AF65-F5344CB8AC3E}">
        <p14:creationId xmlns:p14="http://schemas.microsoft.com/office/powerpoint/2010/main" val="320024919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576568" y="237355"/>
            <a:ext cx="4331057" cy="646331"/>
          </a:xfrm>
          <a:prstGeom prst="rect">
            <a:avLst/>
          </a:prstGeom>
        </p:spPr>
        <p:txBody>
          <a:bodyPr wrap="none">
            <a:spAutoFit/>
          </a:bodyPr>
          <a:lstStyle/>
          <a:p>
            <a:r>
              <a:rPr lang="en-US" altLang="zh-CN" sz="3600" dirty="0">
                <a:solidFill>
                  <a:srgbClr val="FF0000"/>
                </a:solidFill>
                <a:effectLst>
                  <a:outerShdw blurRad="38100" dist="38100" dir="2700000" algn="tl">
                    <a:srgbClr val="000000">
                      <a:alpha val="43137"/>
                    </a:srgbClr>
                  </a:outerShdw>
                </a:effectLst>
                <a:latin typeface="Arial" charset="0"/>
                <a:cs typeface="Arial" charset="0"/>
              </a:rPr>
              <a:t>Vapor Power Cycles</a:t>
            </a:r>
            <a:endParaRPr lang="en-US" altLang="zh-CN" sz="3600" dirty="0">
              <a:solidFill>
                <a:srgbClr val="FF0000"/>
              </a:solidFill>
            </a:endParaRPr>
          </a:p>
        </p:txBody>
      </p:sp>
      <p:pic>
        <p:nvPicPr>
          <p:cNvPr id="1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929" y="1933575"/>
            <a:ext cx="3101471" cy="18172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Picture 2" descr="D:\本人教学-南科大\2015秋-2013级材料热力学\2015秋TD课程\Lec-06_15秋TD\火力发电图片-02.gif"/>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34421" y="1775387"/>
            <a:ext cx="3181004" cy="213360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D:\本人教学-南科大\2015秋-2013级材料热力学\2015秋TD课程\Lec-06_15秋TD\地热发电图片-01.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9400" y="1851586"/>
            <a:ext cx="2395849" cy="2173189"/>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00" y="4024776"/>
            <a:ext cx="2888850" cy="21940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1079" y="4049480"/>
            <a:ext cx="2690722" cy="2097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6115"/>
          <a:stretch/>
        </p:blipFill>
        <p:spPr bwMode="auto">
          <a:xfrm>
            <a:off x="5965425" y="4032812"/>
            <a:ext cx="3074736" cy="216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 name="Title 1"/>
          <p:cNvSpPr txBox="1">
            <a:spLocks/>
          </p:cNvSpPr>
          <p:nvPr/>
        </p:nvSpPr>
        <p:spPr bwMode="auto">
          <a:xfrm>
            <a:off x="76200" y="1162822"/>
            <a:ext cx="3061151" cy="604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pPr algn="ctr"/>
            <a:r>
              <a:rPr lang="en-US" altLang="zh-CN" sz="2000" b="1" dirty="0">
                <a:solidFill>
                  <a:schemeClr val="tx1"/>
                </a:solidFill>
                <a:effectLst>
                  <a:outerShdw blurRad="38100" dist="38100" dir="2700000" algn="tl">
                    <a:srgbClr val="000000">
                      <a:alpha val="43137"/>
                    </a:srgbClr>
                  </a:outerShdw>
                </a:effectLst>
                <a:latin typeface="Arial" charset="0"/>
                <a:cs typeface="Arial" charset="0"/>
              </a:rPr>
              <a:t>Nuclear Power Plant</a:t>
            </a:r>
            <a:endParaRPr lang="en-US" sz="2000" dirty="0">
              <a:solidFill>
                <a:schemeClr val="tx1"/>
              </a:solidFill>
            </a:endParaRPr>
          </a:p>
        </p:txBody>
      </p:sp>
      <p:sp>
        <p:nvSpPr>
          <p:cNvPr id="22" name="Title 1"/>
          <p:cNvSpPr txBox="1">
            <a:spLocks/>
          </p:cNvSpPr>
          <p:nvPr/>
        </p:nvSpPr>
        <p:spPr bwMode="auto">
          <a:xfrm>
            <a:off x="2874730" y="1157663"/>
            <a:ext cx="3061151" cy="604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pPr algn="ctr"/>
            <a:r>
              <a:rPr lang="en-US" altLang="zh-CN" sz="2000" b="1" dirty="0">
                <a:solidFill>
                  <a:schemeClr val="tx1"/>
                </a:solidFill>
                <a:effectLst>
                  <a:outerShdw blurRad="38100" dist="38100" dir="2700000" algn="tl">
                    <a:srgbClr val="000000">
                      <a:alpha val="43137"/>
                    </a:srgbClr>
                  </a:outerShdw>
                </a:effectLst>
                <a:latin typeface="Arial" charset="0"/>
                <a:cs typeface="Arial" charset="0"/>
              </a:rPr>
              <a:t>Coal Power Plant</a:t>
            </a:r>
            <a:endParaRPr lang="en-US" sz="2000" dirty="0">
              <a:solidFill>
                <a:schemeClr val="tx1"/>
              </a:solidFill>
            </a:endParaRPr>
          </a:p>
        </p:txBody>
      </p:sp>
      <p:sp>
        <p:nvSpPr>
          <p:cNvPr id="23" name="Title 1"/>
          <p:cNvSpPr txBox="1">
            <a:spLocks/>
          </p:cNvSpPr>
          <p:nvPr/>
        </p:nvSpPr>
        <p:spPr bwMode="auto">
          <a:xfrm>
            <a:off x="5998930" y="1162822"/>
            <a:ext cx="3061151" cy="604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pPr algn="ctr"/>
            <a:r>
              <a:rPr lang="en-US" altLang="zh-CN" sz="2000" b="1" dirty="0">
                <a:solidFill>
                  <a:schemeClr val="tx1"/>
                </a:solidFill>
                <a:effectLst>
                  <a:outerShdw blurRad="38100" dist="38100" dir="2700000" algn="tl">
                    <a:srgbClr val="000000">
                      <a:alpha val="43137"/>
                    </a:srgbClr>
                  </a:outerShdw>
                </a:effectLst>
                <a:latin typeface="Arial" charset="0"/>
                <a:cs typeface="Arial" charset="0"/>
              </a:rPr>
              <a:t>Geothermal Power Plant</a:t>
            </a:r>
            <a:endParaRPr lang="en-US" sz="2000" dirty="0">
              <a:solidFill>
                <a:schemeClr val="tx1"/>
              </a:solidFill>
            </a:endParaRPr>
          </a:p>
        </p:txBody>
      </p:sp>
    </p:spTree>
    <p:extLst>
      <p:ext uri="{BB962C8B-B14F-4D97-AF65-F5344CB8AC3E}">
        <p14:creationId xmlns:p14="http://schemas.microsoft.com/office/powerpoint/2010/main" val="310992402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2494608" y="582561"/>
            <a:ext cx="3990019" cy="3251733"/>
          </a:xfrm>
          <a:prstGeom prst="rect">
            <a:avLst/>
          </a:prstGeom>
        </p:spPr>
      </p:pic>
      <p:pic>
        <p:nvPicPr>
          <p:cNvPr id="3" name="图片 2"/>
          <p:cNvPicPr>
            <a:picLocks noChangeAspect="1"/>
          </p:cNvPicPr>
          <p:nvPr/>
        </p:nvPicPr>
        <p:blipFill>
          <a:blip r:embed="rId3"/>
          <a:stretch>
            <a:fillRect/>
          </a:stretch>
        </p:blipFill>
        <p:spPr>
          <a:xfrm>
            <a:off x="835603" y="3891357"/>
            <a:ext cx="1479893" cy="2033389"/>
          </a:xfrm>
          <a:prstGeom prst="rect">
            <a:avLst/>
          </a:prstGeom>
        </p:spPr>
      </p:pic>
      <p:pic>
        <p:nvPicPr>
          <p:cNvPr id="4" name="图片 3"/>
          <p:cNvPicPr>
            <a:picLocks noChangeAspect="1"/>
          </p:cNvPicPr>
          <p:nvPr/>
        </p:nvPicPr>
        <p:blipFill>
          <a:blip r:embed="rId4"/>
          <a:stretch>
            <a:fillRect/>
          </a:stretch>
        </p:blipFill>
        <p:spPr>
          <a:xfrm>
            <a:off x="2228268" y="3834294"/>
            <a:ext cx="1177342" cy="2055803"/>
          </a:xfrm>
          <a:prstGeom prst="rect">
            <a:avLst/>
          </a:prstGeom>
        </p:spPr>
      </p:pic>
      <p:pic>
        <p:nvPicPr>
          <p:cNvPr id="5" name="图片 4"/>
          <p:cNvPicPr>
            <a:picLocks noChangeAspect="1"/>
          </p:cNvPicPr>
          <p:nvPr/>
        </p:nvPicPr>
        <p:blipFill>
          <a:blip r:embed="rId5"/>
          <a:stretch>
            <a:fillRect/>
          </a:stretch>
        </p:blipFill>
        <p:spPr>
          <a:xfrm>
            <a:off x="3596075" y="3907683"/>
            <a:ext cx="1787086" cy="1966087"/>
          </a:xfrm>
          <a:prstGeom prst="rect">
            <a:avLst/>
          </a:prstGeom>
        </p:spPr>
      </p:pic>
      <p:pic>
        <p:nvPicPr>
          <p:cNvPr id="6" name="图片 5"/>
          <p:cNvPicPr>
            <a:picLocks noChangeAspect="1"/>
          </p:cNvPicPr>
          <p:nvPr/>
        </p:nvPicPr>
        <p:blipFill>
          <a:blip r:embed="rId6"/>
          <a:stretch>
            <a:fillRect/>
          </a:stretch>
        </p:blipFill>
        <p:spPr>
          <a:xfrm>
            <a:off x="5272549" y="3876436"/>
            <a:ext cx="1386896" cy="1981008"/>
          </a:xfrm>
          <a:prstGeom prst="rect">
            <a:avLst/>
          </a:prstGeom>
        </p:spPr>
      </p:pic>
      <p:pic>
        <p:nvPicPr>
          <p:cNvPr id="7" name="图片 6"/>
          <p:cNvPicPr>
            <a:picLocks noChangeAspect="1"/>
          </p:cNvPicPr>
          <p:nvPr/>
        </p:nvPicPr>
        <p:blipFill>
          <a:blip r:embed="rId7"/>
          <a:stretch>
            <a:fillRect/>
          </a:stretch>
        </p:blipFill>
        <p:spPr>
          <a:xfrm>
            <a:off x="6854173" y="3885193"/>
            <a:ext cx="1198012" cy="1972251"/>
          </a:xfrm>
          <a:prstGeom prst="rect">
            <a:avLst/>
          </a:prstGeom>
        </p:spPr>
      </p:pic>
      <p:sp>
        <p:nvSpPr>
          <p:cNvPr id="8" name="文本框 7"/>
          <p:cNvSpPr txBox="1"/>
          <p:nvPr/>
        </p:nvSpPr>
        <p:spPr>
          <a:xfrm>
            <a:off x="782579" y="5823991"/>
            <a:ext cx="1385316" cy="584775"/>
          </a:xfrm>
          <a:prstGeom prst="rect">
            <a:avLst/>
          </a:prstGeom>
          <a:noFill/>
        </p:spPr>
        <p:txBody>
          <a:bodyPr wrap="none" rtlCol="0">
            <a:spAutoFit/>
          </a:bodyPr>
          <a:lstStyle/>
          <a:p>
            <a:pPr algn="ctr"/>
            <a:r>
              <a:rPr lang="en-US" altLang="zh-CN" sz="1600" i="1" dirty="0"/>
              <a:t>Compressed</a:t>
            </a:r>
          </a:p>
          <a:p>
            <a:pPr algn="ctr"/>
            <a:r>
              <a:rPr lang="en-US" altLang="zh-CN" sz="1600" i="1" dirty="0"/>
              <a:t>liquid</a:t>
            </a:r>
            <a:endParaRPr lang="zh-CN" altLang="en-US" sz="1600" i="1" dirty="0"/>
          </a:p>
        </p:txBody>
      </p:sp>
      <p:sp>
        <p:nvSpPr>
          <p:cNvPr id="9" name="文本框 8"/>
          <p:cNvSpPr txBox="1"/>
          <p:nvPr/>
        </p:nvSpPr>
        <p:spPr>
          <a:xfrm>
            <a:off x="2313934" y="5823990"/>
            <a:ext cx="1040671" cy="584775"/>
          </a:xfrm>
          <a:prstGeom prst="rect">
            <a:avLst/>
          </a:prstGeom>
          <a:noFill/>
        </p:spPr>
        <p:txBody>
          <a:bodyPr wrap="none" rtlCol="0">
            <a:spAutoFit/>
          </a:bodyPr>
          <a:lstStyle/>
          <a:p>
            <a:pPr algn="ctr"/>
            <a:r>
              <a:rPr lang="en-US" altLang="zh-CN" sz="1600" i="1" dirty="0"/>
              <a:t>saturated</a:t>
            </a:r>
          </a:p>
          <a:p>
            <a:pPr algn="ctr"/>
            <a:r>
              <a:rPr lang="en-US" altLang="zh-CN" sz="1600" i="1" dirty="0"/>
              <a:t>liquid</a:t>
            </a:r>
            <a:endParaRPr lang="zh-CN" altLang="en-US" sz="1600" i="1" dirty="0"/>
          </a:p>
        </p:txBody>
      </p:sp>
      <p:sp>
        <p:nvSpPr>
          <p:cNvPr id="10" name="文本框 9"/>
          <p:cNvSpPr txBox="1"/>
          <p:nvPr/>
        </p:nvSpPr>
        <p:spPr>
          <a:xfrm>
            <a:off x="3207225" y="5823989"/>
            <a:ext cx="2042547" cy="584775"/>
          </a:xfrm>
          <a:prstGeom prst="rect">
            <a:avLst/>
          </a:prstGeom>
          <a:noFill/>
        </p:spPr>
        <p:txBody>
          <a:bodyPr wrap="none" rtlCol="0">
            <a:spAutoFit/>
          </a:bodyPr>
          <a:lstStyle/>
          <a:p>
            <a:pPr algn="ctr"/>
            <a:r>
              <a:rPr lang="en-US" altLang="zh-CN" sz="1600" i="1" dirty="0"/>
              <a:t>saturated</a:t>
            </a:r>
          </a:p>
          <a:p>
            <a:pPr algn="ctr"/>
            <a:r>
              <a:rPr lang="en-US" altLang="zh-CN" sz="1600" i="1" dirty="0"/>
              <a:t>Liquid-vapor mixture</a:t>
            </a:r>
            <a:endParaRPr lang="zh-CN" altLang="en-US" sz="1600" i="1" dirty="0"/>
          </a:p>
        </p:txBody>
      </p:sp>
      <p:sp>
        <p:nvSpPr>
          <p:cNvPr id="11" name="文本框 10"/>
          <p:cNvSpPr txBox="1"/>
          <p:nvPr/>
        </p:nvSpPr>
        <p:spPr>
          <a:xfrm>
            <a:off x="5427203" y="5830516"/>
            <a:ext cx="1428596" cy="584775"/>
          </a:xfrm>
          <a:prstGeom prst="rect">
            <a:avLst/>
          </a:prstGeom>
          <a:noFill/>
        </p:spPr>
        <p:txBody>
          <a:bodyPr wrap="none" rtlCol="0">
            <a:spAutoFit/>
          </a:bodyPr>
          <a:lstStyle/>
          <a:p>
            <a:pPr algn="ctr"/>
            <a:r>
              <a:rPr lang="en-US" altLang="zh-CN" sz="1600" i="1" dirty="0"/>
              <a:t>saturated</a:t>
            </a:r>
          </a:p>
          <a:p>
            <a:pPr algn="ctr"/>
            <a:r>
              <a:rPr lang="en-US" altLang="zh-CN" sz="1600" i="1" dirty="0"/>
              <a:t>vapor mixture</a:t>
            </a:r>
            <a:endParaRPr lang="zh-CN" altLang="en-US" sz="1600" i="1" dirty="0"/>
          </a:p>
        </p:txBody>
      </p:sp>
      <p:sp>
        <p:nvSpPr>
          <p:cNvPr id="12" name="文本框 11"/>
          <p:cNvSpPr txBox="1"/>
          <p:nvPr/>
        </p:nvSpPr>
        <p:spPr>
          <a:xfrm>
            <a:off x="6867199" y="5823988"/>
            <a:ext cx="1454244" cy="584775"/>
          </a:xfrm>
          <a:prstGeom prst="rect">
            <a:avLst/>
          </a:prstGeom>
          <a:noFill/>
        </p:spPr>
        <p:txBody>
          <a:bodyPr wrap="none" rtlCol="0">
            <a:spAutoFit/>
          </a:bodyPr>
          <a:lstStyle/>
          <a:p>
            <a:pPr algn="ctr"/>
            <a:r>
              <a:rPr lang="en-US" altLang="zh-CN" sz="1600" i="1" dirty="0"/>
              <a:t>Super heated</a:t>
            </a:r>
          </a:p>
          <a:p>
            <a:pPr algn="ctr"/>
            <a:r>
              <a:rPr lang="en-US" altLang="zh-CN" sz="1600" i="1" dirty="0"/>
              <a:t>vapor</a:t>
            </a:r>
            <a:endParaRPr lang="zh-CN" altLang="en-US" sz="1600" i="1" dirty="0"/>
          </a:p>
        </p:txBody>
      </p:sp>
    </p:spTree>
    <p:extLst>
      <p:ext uri="{BB962C8B-B14F-4D97-AF65-F5344CB8AC3E}">
        <p14:creationId xmlns:p14="http://schemas.microsoft.com/office/powerpoint/2010/main" val="202122936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1537436" y="985377"/>
            <a:ext cx="2762651" cy="2431592"/>
          </a:xfrm>
          <a:prstGeom prst="rect">
            <a:avLst/>
          </a:prstGeom>
        </p:spPr>
      </p:pic>
      <p:pic>
        <p:nvPicPr>
          <p:cNvPr id="3" name="图片 2"/>
          <p:cNvPicPr>
            <a:picLocks noChangeAspect="1"/>
          </p:cNvPicPr>
          <p:nvPr/>
        </p:nvPicPr>
        <p:blipFill>
          <a:blip r:embed="rId3"/>
          <a:stretch>
            <a:fillRect/>
          </a:stretch>
        </p:blipFill>
        <p:spPr>
          <a:xfrm>
            <a:off x="1537436" y="3796798"/>
            <a:ext cx="5677292" cy="2418037"/>
          </a:xfrm>
          <a:prstGeom prst="rect">
            <a:avLst/>
          </a:prstGeom>
        </p:spPr>
      </p:pic>
      <p:pic>
        <p:nvPicPr>
          <p:cNvPr id="4" name="图片 3"/>
          <p:cNvPicPr>
            <a:picLocks noChangeAspect="1"/>
          </p:cNvPicPr>
          <p:nvPr/>
        </p:nvPicPr>
        <p:blipFill>
          <a:blip r:embed="rId4"/>
          <a:stretch>
            <a:fillRect/>
          </a:stretch>
        </p:blipFill>
        <p:spPr>
          <a:xfrm>
            <a:off x="4524264" y="1107216"/>
            <a:ext cx="2810387" cy="2309753"/>
          </a:xfrm>
          <a:prstGeom prst="rect">
            <a:avLst/>
          </a:prstGeom>
        </p:spPr>
      </p:pic>
    </p:spTree>
    <p:extLst>
      <p:ext uri="{BB962C8B-B14F-4D97-AF65-F5344CB8AC3E}">
        <p14:creationId xmlns:p14="http://schemas.microsoft.com/office/powerpoint/2010/main" val="237029789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220067" y="160338"/>
            <a:ext cx="7324760" cy="604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altLang="zh-CN" b="1" dirty="0">
                <a:solidFill>
                  <a:srgbClr val="FF0000"/>
                </a:solidFill>
                <a:effectLst>
                  <a:outerShdw blurRad="38100" dist="38100" dir="2700000" algn="tl">
                    <a:srgbClr val="000000">
                      <a:alpha val="43137"/>
                    </a:srgbClr>
                  </a:outerShdw>
                </a:effectLst>
                <a:latin typeface="Arial" charset="0"/>
                <a:cs typeface="Arial" charset="0"/>
              </a:rPr>
              <a:t>Rankine Cycle</a:t>
            </a:r>
            <a:endParaRPr lang="en-US" dirty="0">
              <a:solidFill>
                <a:srgbClr val="FF0000"/>
              </a:solidFill>
            </a:endParaRPr>
          </a:p>
        </p:txBody>
      </p:sp>
      <p:pic>
        <p:nvPicPr>
          <p:cNvPr id="15360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575" y="5134794"/>
            <a:ext cx="4133161" cy="5817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360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7336" y="5200704"/>
            <a:ext cx="4426639" cy="5178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 name="图片 1"/>
          <p:cNvPicPr>
            <a:picLocks noChangeAspect="1"/>
          </p:cNvPicPr>
          <p:nvPr/>
        </p:nvPicPr>
        <p:blipFill>
          <a:blip r:embed="rId5"/>
          <a:stretch>
            <a:fillRect/>
          </a:stretch>
        </p:blipFill>
        <p:spPr>
          <a:xfrm>
            <a:off x="675686" y="1373234"/>
            <a:ext cx="3613050" cy="3411720"/>
          </a:xfrm>
          <a:prstGeom prst="rect">
            <a:avLst/>
          </a:prstGeom>
        </p:spPr>
      </p:pic>
      <p:pic>
        <p:nvPicPr>
          <p:cNvPr id="4" name="图片 3"/>
          <p:cNvPicPr>
            <a:picLocks noChangeAspect="1"/>
          </p:cNvPicPr>
          <p:nvPr/>
        </p:nvPicPr>
        <p:blipFill>
          <a:blip r:embed="rId6"/>
          <a:stretch>
            <a:fillRect/>
          </a:stretch>
        </p:blipFill>
        <p:spPr>
          <a:xfrm>
            <a:off x="4407582" y="1572494"/>
            <a:ext cx="3651900" cy="3013200"/>
          </a:xfrm>
          <a:prstGeom prst="rect">
            <a:avLst/>
          </a:prstGeom>
        </p:spPr>
      </p:pic>
    </p:spTree>
    <p:extLst>
      <p:ext uri="{BB962C8B-B14F-4D97-AF65-F5344CB8AC3E}">
        <p14:creationId xmlns:p14="http://schemas.microsoft.com/office/powerpoint/2010/main" val="31055292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229512" y="123703"/>
            <a:ext cx="7324760" cy="604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altLang="zh-CN" b="1" dirty="0">
                <a:solidFill>
                  <a:srgbClr val="FF0000"/>
                </a:solidFill>
                <a:effectLst>
                  <a:outerShdw blurRad="38100" dist="38100" dir="2700000" algn="tl">
                    <a:srgbClr val="000000">
                      <a:alpha val="43137"/>
                    </a:srgbClr>
                  </a:outerShdw>
                </a:effectLst>
                <a:latin typeface="Arial" charset="0"/>
                <a:cs typeface="Arial" charset="0"/>
              </a:rPr>
              <a:t>Energy Analysis</a:t>
            </a:r>
            <a:endParaRPr lang="en-US" dirty="0">
              <a:solidFill>
                <a:srgbClr val="FF0000"/>
              </a:solidFill>
            </a:endParaRPr>
          </a:p>
        </p:txBody>
      </p:sp>
      <p:pic>
        <p:nvPicPr>
          <p:cNvPr id="1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076" y="1263216"/>
            <a:ext cx="3235325" cy="30656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46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2112" y="1263215"/>
            <a:ext cx="5395264" cy="4381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合 1"/>
          <p:cNvGrpSpPr/>
          <p:nvPr/>
        </p:nvGrpSpPr>
        <p:grpSpPr>
          <a:xfrm>
            <a:off x="4347464" y="1858530"/>
            <a:ext cx="3724275" cy="466725"/>
            <a:chOff x="4271963" y="2376488"/>
            <a:chExt cx="3724275" cy="466725"/>
          </a:xfrm>
        </p:grpSpPr>
        <p:pic>
          <p:nvPicPr>
            <p:cNvPr id="1546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05463" y="2376488"/>
              <a:ext cx="2390775" cy="466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462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71963" y="2465565"/>
              <a:ext cx="1519237" cy="2885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5463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17291" y="2433553"/>
            <a:ext cx="2424906" cy="3131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4631"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55154" y="2802422"/>
            <a:ext cx="3549180" cy="4134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4" name="组合 3"/>
          <p:cNvGrpSpPr/>
          <p:nvPr/>
        </p:nvGrpSpPr>
        <p:grpSpPr>
          <a:xfrm>
            <a:off x="4114284" y="3595181"/>
            <a:ext cx="3419292" cy="1201809"/>
            <a:chOff x="4038783" y="4113139"/>
            <a:chExt cx="3419292" cy="1201809"/>
          </a:xfrm>
        </p:grpSpPr>
        <p:pic>
          <p:nvPicPr>
            <p:cNvPr id="154632" name="Picture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38783" y="4125557"/>
              <a:ext cx="1752417" cy="11893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4633" name="Picture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79294" y="4113139"/>
              <a:ext cx="1678781" cy="11981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54634" name="Picture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18451" y="5006542"/>
            <a:ext cx="2724150" cy="723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4635" name="Picture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116665" y="5212484"/>
            <a:ext cx="3549180" cy="3120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0259653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345630" y="830460"/>
            <a:ext cx="2874900" cy="5044680"/>
          </a:xfrm>
          <a:prstGeom prst="rect">
            <a:avLst/>
          </a:prstGeom>
        </p:spPr>
      </p:pic>
      <p:sp>
        <p:nvSpPr>
          <p:cNvPr id="4" name="矩形 3"/>
          <p:cNvSpPr/>
          <p:nvPr/>
        </p:nvSpPr>
        <p:spPr>
          <a:xfrm>
            <a:off x="3220530" y="928638"/>
            <a:ext cx="5397500" cy="954107"/>
          </a:xfrm>
          <a:prstGeom prst="rect">
            <a:avLst/>
          </a:prstGeom>
          <a:solidFill>
            <a:schemeClr val="accent6">
              <a:lumMod val="20000"/>
              <a:lumOff val="80000"/>
            </a:schemeClr>
          </a:solidFill>
        </p:spPr>
        <p:txBody>
          <a:bodyPr wrap="square">
            <a:spAutoFit/>
          </a:bodyPr>
          <a:lstStyle/>
          <a:p>
            <a:r>
              <a:rPr lang="en-US" altLang="zh-CN" sz="1400" dirty="0">
                <a:latin typeface="Arial Unicode MS" panose="020B0604020202020204" pitchFamily="34" charset="-122"/>
                <a:ea typeface="Arial Unicode MS" panose="020B0604020202020204" pitchFamily="34" charset="-122"/>
                <a:cs typeface="Arial Unicode MS" panose="020B0604020202020204" pitchFamily="34" charset="-122"/>
              </a:rPr>
              <a:t>Consider a steam power plant operating on the simple ideal </a:t>
            </a:r>
            <a:r>
              <a:rPr lang="en-US" altLang="zh-CN" sz="1400" dirty="0" err="1">
                <a:latin typeface="Arial Unicode MS" panose="020B0604020202020204" pitchFamily="34" charset="-122"/>
                <a:ea typeface="Arial Unicode MS" panose="020B0604020202020204" pitchFamily="34" charset="-122"/>
                <a:cs typeface="Arial Unicode MS" panose="020B0604020202020204" pitchFamily="34" charset="-122"/>
              </a:rPr>
              <a:t>Rankine</a:t>
            </a:r>
            <a:r>
              <a:rPr lang="en-US" altLang="zh-CN" sz="1400"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400" dirty="0" err="1">
                <a:latin typeface="Arial Unicode MS" panose="020B0604020202020204" pitchFamily="34" charset="-122"/>
                <a:ea typeface="Arial Unicode MS" panose="020B0604020202020204" pitchFamily="34" charset="-122"/>
                <a:cs typeface="Arial Unicode MS" panose="020B0604020202020204" pitchFamily="34" charset="-122"/>
              </a:rPr>
              <a:t>cycle.Steam</a:t>
            </a:r>
            <a:r>
              <a:rPr lang="en-US" altLang="zh-CN" sz="1400" dirty="0">
                <a:latin typeface="Arial Unicode MS" panose="020B0604020202020204" pitchFamily="34" charset="-122"/>
                <a:ea typeface="Arial Unicode MS" panose="020B0604020202020204" pitchFamily="34" charset="-122"/>
                <a:cs typeface="Arial Unicode MS" panose="020B0604020202020204" pitchFamily="34" charset="-122"/>
              </a:rPr>
              <a:t> enters the turbine at 3 </a:t>
            </a:r>
            <a:r>
              <a:rPr lang="en-US" altLang="zh-CN" sz="1400" dirty="0" err="1">
                <a:latin typeface="Arial Unicode MS" panose="020B0604020202020204" pitchFamily="34" charset="-122"/>
                <a:ea typeface="Arial Unicode MS" panose="020B0604020202020204" pitchFamily="34" charset="-122"/>
                <a:cs typeface="Arial Unicode MS" panose="020B0604020202020204" pitchFamily="34" charset="-122"/>
              </a:rPr>
              <a:t>MPa</a:t>
            </a:r>
            <a:r>
              <a:rPr lang="en-US" altLang="zh-CN" sz="1400" dirty="0">
                <a:latin typeface="Arial Unicode MS" panose="020B0604020202020204" pitchFamily="34" charset="-122"/>
                <a:ea typeface="Arial Unicode MS" panose="020B0604020202020204" pitchFamily="34" charset="-122"/>
                <a:cs typeface="Arial Unicode MS" panose="020B0604020202020204" pitchFamily="34" charset="-122"/>
              </a:rPr>
              <a:t> and 3508C and is condensed in the condenser at a pressure of 75 </a:t>
            </a:r>
            <a:r>
              <a:rPr lang="en-US" altLang="zh-CN" sz="1400" dirty="0" err="1">
                <a:latin typeface="Arial Unicode MS" panose="020B0604020202020204" pitchFamily="34" charset="-122"/>
                <a:ea typeface="Arial Unicode MS" panose="020B0604020202020204" pitchFamily="34" charset="-122"/>
                <a:cs typeface="Arial Unicode MS" panose="020B0604020202020204" pitchFamily="34" charset="-122"/>
              </a:rPr>
              <a:t>kPa</a:t>
            </a:r>
            <a:r>
              <a:rPr lang="en-US" altLang="zh-CN" sz="1400" dirty="0">
                <a:latin typeface="Arial Unicode MS" panose="020B0604020202020204" pitchFamily="34" charset="-122"/>
                <a:ea typeface="Arial Unicode MS" panose="020B0604020202020204" pitchFamily="34" charset="-122"/>
                <a:cs typeface="Arial Unicode MS" panose="020B0604020202020204" pitchFamily="34" charset="-122"/>
              </a:rPr>
              <a:t>. Determine the thermal efficiency of this cycle.</a:t>
            </a:r>
            <a:endParaRPr lang="zh-CN" altLang="en-US" sz="1400"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5" name="矩形 4"/>
          <p:cNvSpPr/>
          <p:nvPr/>
        </p:nvSpPr>
        <p:spPr>
          <a:xfrm>
            <a:off x="3286570" y="2548577"/>
            <a:ext cx="5511800" cy="3323987"/>
          </a:xfrm>
          <a:prstGeom prst="rect">
            <a:avLst/>
          </a:prstGeom>
        </p:spPr>
        <p:txBody>
          <a:bodyPr wrap="square">
            <a:spAutoFit/>
          </a:bodyPr>
          <a:lstStyle/>
          <a:p>
            <a:r>
              <a:rPr lang="en-US" altLang="zh-CN" b="1" dirty="0">
                <a:solidFill>
                  <a:srgbClr val="008D00"/>
                </a:solidFill>
                <a:latin typeface="Arial Unicode MS" panose="020B0604020202020204" pitchFamily="34" charset="-122"/>
                <a:ea typeface="Arial Unicode MS" panose="020B0604020202020204" pitchFamily="34" charset="-122"/>
                <a:cs typeface="Arial Unicode MS" panose="020B0604020202020204" pitchFamily="34" charset="-122"/>
              </a:rPr>
              <a:t>SOLUTION </a:t>
            </a:r>
            <a:r>
              <a:rPr lang="en-US" altLang="zh-CN" sz="160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A steam power plant operating on the simple ideal </a:t>
            </a:r>
            <a:r>
              <a:rPr lang="en-US" altLang="zh-CN" sz="1600" dirty="0" err="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Rankine</a:t>
            </a:r>
            <a:r>
              <a:rPr lang="en-US" altLang="zh-CN" sz="160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cycle is considered. The thermal efficiency of the cycle is to be determined.</a:t>
            </a:r>
          </a:p>
          <a:p>
            <a:r>
              <a:rPr lang="en-US" altLang="zh-CN" sz="1600" b="1" i="1" dirty="0">
                <a:solidFill>
                  <a:srgbClr val="008D00"/>
                </a:solidFill>
                <a:latin typeface="Arial Unicode MS" panose="020B0604020202020204" pitchFamily="34" charset="-122"/>
                <a:ea typeface="Arial Unicode MS" panose="020B0604020202020204" pitchFamily="34" charset="-122"/>
                <a:cs typeface="Arial Unicode MS" panose="020B0604020202020204" pitchFamily="34" charset="-122"/>
              </a:rPr>
              <a:t>Assumptions </a:t>
            </a:r>
            <a:r>
              <a:rPr lang="en-US" altLang="zh-CN" sz="1600" b="1"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1 </a:t>
            </a:r>
            <a:r>
              <a:rPr lang="en-US" altLang="zh-CN" sz="160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Steady operating conditions exist. </a:t>
            </a:r>
            <a:r>
              <a:rPr lang="en-US" altLang="zh-CN" sz="1600" b="1"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2 </a:t>
            </a:r>
            <a:r>
              <a:rPr lang="en-US" altLang="zh-CN" sz="160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Kinetic and potential energy changes are negligible.</a:t>
            </a:r>
          </a:p>
          <a:p>
            <a:r>
              <a:rPr lang="en-US" altLang="zh-CN" sz="1600" b="1" i="1" dirty="0">
                <a:solidFill>
                  <a:srgbClr val="008D00"/>
                </a:solidFill>
                <a:latin typeface="Arial Unicode MS" panose="020B0604020202020204" pitchFamily="34" charset="-122"/>
                <a:ea typeface="Arial Unicode MS" panose="020B0604020202020204" pitchFamily="34" charset="-122"/>
                <a:cs typeface="Arial Unicode MS" panose="020B0604020202020204" pitchFamily="34" charset="-122"/>
              </a:rPr>
              <a:t>Analysis </a:t>
            </a:r>
          </a:p>
          <a:p>
            <a:pPr marL="285750" indent="-285750">
              <a:buFont typeface="Arial" panose="020B0604020202020204" pitchFamily="34" charset="0"/>
              <a:buChar char="•"/>
            </a:pPr>
            <a:r>
              <a:rPr lang="en-US" altLang="zh-CN" sz="160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The schematic of the power plant and the </a:t>
            </a:r>
            <a:r>
              <a:rPr lang="en-US" altLang="zh-CN" sz="1600" i="1"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T-s </a:t>
            </a:r>
            <a:r>
              <a:rPr lang="en-US" altLang="zh-CN" sz="160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diagram of the cycle are shown in Fig. 10–3. </a:t>
            </a:r>
          </a:p>
          <a:p>
            <a:pPr marL="285750" indent="-285750">
              <a:buFont typeface="Arial" panose="020B0604020202020204" pitchFamily="34" charset="0"/>
              <a:buChar char="•"/>
            </a:pPr>
            <a:r>
              <a:rPr lang="en-US" altLang="zh-CN" sz="160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We note that the power plant operates on the ideal </a:t>
            </a:r>
            <a:r>
              <a:rPr lang="en-US" altLang="zh-CN" sz="1600" dirty="0" err="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Rankine</a:t>
            </a:r>
            <a:r>
              <a:rPr lang="en-US" altLang="zh-CN" sz="160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cycle. Therefore, the pump and the turbine are isentropic, there are no pressure drops in the boiler and condenser, and steam leaves the condenser and enters the pump as saturated liquid at the condenser pressure.</a:t>
            </a:r>
            <a:endParaRPr lang="zh-CN" altLang="en-US" sz="1600"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6" name="矩形 5"/>
          <p:cNvSpPr/>
          <p:nvPr/>
        </p:nvSpPr>
        <p:spPr>
          <a:xfrm>
            <a:off x="1600200" y="198135"/>
            <a:ext cx="5397500" cy="400110"/>
          </a:xfrm>
          <a:prstGeom prst="rect">
            <a:avLst/>
          </a:prstGeom>
        </p:spPr>
        <p:txBody>
          <a:bodyPr wrap="square">
            <a:spAutoFit/>
          </a:bodyPr>
          <a:lstStyle/>
          <a:p>
            <a:r>
              <a:rPr lang="en-US" altLang="zh-CN" sz="2000" b="1" dirty="0">
                <a:latin typeface="Arial Unicode MS" panose="020B0604020202020204" pitchFamily="34" charset="-122"/>
                <a:ea typeface="Arial Unicode MS" panose="020B0604020202020204" pitchFamily="34" charset="-122"/>
                <a:cs typeface="Arial Unicode MS" panose="020B0604020202020204" pitchFamily="34" charset="-122"/>
              </a:rPr>
              <a:t>EXAMPLE</a:t>
            </a:r>
            <a:r>
              <a:rPr lang="en-US" altLang="zh-CN" sz="2000"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2000" b="1" dirty="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rPr>
              <a:t>The Simple Ideal </a:t>
            </a:r>
            <a:r>
              <a:rPr lang="en-US" altLang="zh-CN" sz="2000" b="1" dirty="0" err="1">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rPr>
              <a:t>Rankine</a:t>
            </a:r>
            <a:r>
              <a:rPr lang="en-US" altLang="zh-CN" sz="2000" b="1" dirty="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rPr>
              <a:t> Cycle</a:t>
            </a:r>
            <a:endParaRPr lang="zh-CN" altLang="en-US" sz="2000" dirty="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extLst>
      <p:ext uri="{BB962C8B-B14F-4D97-AF65-F5344CB8AC3E}">
        <p14:creationId xmlns:p14="http://schemas.microsoft.com/office/powerpoint/2010/main" val="397924757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2069174" y="188100"/>
            <a:ext cx="5030039" cy="6250800"/>
          </a:xfrm>
          <a:prstGeom prst="rect">
            <a:avLst/>
          </a:prstGeom>
        </p:spPr>
      </p:pic>
    </p:spTree>
    <p:extLst>
      <p:ext uri="{BB962C8B-B14F-4D97-AF65-F5344CB8AC3E}">
        <p14:creationId xmlns:p14="http://schemas.microsoft.com/office/powerpoint/2010/main" val="163293324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271569" y="160338"/>
            <a:ext cx="7324760" cy="604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b="1" dirty="0">
                <a:solidFill>
                  <a:srgbClr val="FF0000"/>
                </a:solidFill>
                <a:effectLst>
                  <a:outerShdw blurRad="38100" dist="38100" dir="2700000" algn="tl">
                    <a:srgbClr val="000000">
                      <a:alpha val="43137"/>
                    </a:srgbClr>
                  </a:outerShdw>
                </a:effectLst>
                <a:latin typeface="Arial" charset="0"/>
                <a:cs typeface="Arial" charset="0"/>
              </a:rPr>
              <a:t>Increase Efficiency</a:t>
            </a:r>
            <a:endParaRPr lang="en-US" dirty="0">
              <a:solidFill>
                <a:srgbClr val="FF0000"/>
              </a:solidFill>
            </a:endParaRPr>
          </a:p>
        </p:txBody>
      </p:sp>
      <p:pic>
        <p:nvPicPr>
          <p:cNvPr id="1566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975" y="1790700"/>
            <a:ext cx="4093159" cy="41100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66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3949" y="1928813"/>
            <a:ext cx="3803242" cy="3933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822358" y="5791200"/>
            <a:ext cx="3243196" cy="400110"/>
          </a:xfrm>
          <a:prstGeom prst="rect">
            <a:avLst/>
          </a:prstGeom>
          <a:noFill/>
        </p:spPr>
        <p:txBody>
          <a:bodyPr wrap="none" rtlCol="0">
            <a:spAutoFit/>
          </a:bodyPr>
          <a:lstStyle/>
          <a:p>
            <a:r>
              <a:rPr lang="en-US" altLang="zh-CN" sz="2000" dirty="0">
                <a:latin typeface="Times New Roman" panose="02020603050405020304" pitchFamily="18" charset="0"/>
                <a:cs typeface="Times New Roman" panose="02020603050405020304" pitchFamily="18" charset="0"/>
              </a:rPr>
              <a:t>Lower condenser temperature</a:t>
            </a:r>
            <a:endParaRPr lang="zh-CN" altLang="en-US" sz="2000" dirty="0">
              <a:latin typeface="Times New Roman" panose="02020603050405020304" pitchFamily="18" charset="0"/>
              <a:cs typeface="Times New Roman" panose="02020603050405020304" pitchFamily="18" charset="0"/>
            </a:endParaRPr>
          </a:p>
        </p:txBody>
      </p:sp>
      <p:sp>
        <p:nvSpPr>
          <p:cNvPr id="13" name="TextBox 12"/>
          <p:cNvSpPr txBox="1"/>
          <p:nvPr/>
        </p:nvSpPr>
        <p:spPr>
          <a:xfrm>
            <a:off x="4822374" y="5791200"/>
            <a:ext cx="4235455" cy="400110"/>
          </a:xfrm>
          <a:prstGeom prst="rect">
            <a:avLst/>
          </a:prstGeom>
          <a:noFill/>
        </p:spPr>
        <p:txBody>
          <a:bodyPr wrap="none" rtlCol="0">
            <a:spAutoFit/>
          </a:bodyPr>
          <a:lstStyle/>
          <a:p>
            <a:r>
              <a:rPr lang="en-US" altLang="zh-CN" sz="2000" dirty="0">
                <a:latin typeface="Times New Roman" panose="02020603050405020304" pitchFamily="18" charset="0"/>
                <a:cs typeface="Times New Roman" panose="02020603050405020304" pitchFamily="18" charset="0"/>
              </a:rPr>
              <a:t>Superheat steam to higher temperatures</a:t>
            </a:r>
            <a:endParaRPr lang="zh-CN"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94092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147744" y="79678"/>
            <a:ext cx="7324760" cy="604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b="1" dirty="0">
                <a:solidFill>
                  <a:srgbClr val="FF0000"/>
                </a:solidFill>
                <a:effectLst>
                  <a:outerShdw blurRad="38100" dist="38100" dir="2700000" algn="tl">
                    <a:srgbClr val="000000">
                      <a:alpha val="43137"/>
                    </a:srgbClr>
                  </a:outerShdw>
                </a:effectLst>
                <a:latin typeface="Arial" charset="0"/>
                <a:cs typeface="Arial" charset="0"/>
              </a:rPr>
              <a:t>Increase Boiler Pressure</a:t>
            </a:r>
            <a:endParaRPr lang="en-US" dirty="0">
              <a:solidFill>
                <a:srgbClr val="FF0000"/>
              </a:solidFill>
            </a:endParaRPr>
          </a:p>
        </p:txBody>
      </p:sp>
      <p:pic>
        <p:nvPicPr>
          <p:cNvPr id="1576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230" y="1876424"/>
            <a:ext cx="3815647" cy="37385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76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0124" y="1724025"/>
            <a:ext cx="3316545" cy="40433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文本框 1">
            <a:extLst>
              <a:ext uri="{FF2B5EF4-FFF2-40B4-BE49-F238E27FC236}">
                <a16:creationId xmlns:a16="http://schemas.microsoft.com/office/drawing/2014/main" id="{23D9C7F4-55C0-6053-B537-D39B16340D7C}"/>
              </a:ext>
            </a:extLst>
          </p:cNvPr>
          <p:cNvSpPr txBox="1"/>
          <p:nvPr/>
        </p:nvSpPr>
        <p:spPr>
          <a:xfrm>
            <a:off x="592722" y="5767388"/>
            <a:ext cx="3288080" cy="369332"/>
          </a:xfrm>
          <a:prstGeom prst="rect">
            <a:avLst/>
          </a:prstGeom>
          <a:noFill/>
        </p:spPr>
        <p:txBody>
          <a:bodyPr wrap="none" rtlCol="0">
            <a:spAutoFit/>
          </a:bodyPr>
          <a:lstStyle/>
          <a:p>
            <a:r>
              <a:rPr lang="en-US" altLang="zh-CN" dirty="0"/>
              <a:t>Increasing the boiler pressure</a:t>
            </a:r>
            <a:endParaRPr lang="zh-CN" altLang="en-US" dirty="0"/>
          </a:p>
        </p:txBody>
      </p:sp>
      <p:sp>
        <p:nvSpPr>
          <p:cNvPr id="4" name="文本框 3">
            <a:extLst>
              <a:ext uri="{FF2B5EF4-FFF2-40B4-BE49-F238E27FC236}">
                <a16:creationId xmlns:a16="http://schemas.microsoft.com/office/drawing/2014/main" id="{B1C445EE-8C3A-7AF5-DF5F-5B2362E0D128}"/>
              </a:ext>
            </a:extLst>
          </p:cNvPr>
          <p:cNvSpPr txBox="1"/>
          <p:nvPr/>
        </p:nvSpPr>
        <p:spPr>
          <a:xfrm>
            <a:off x="4980238" y="5738813"/>
            <a:ext cx="3288208" cy="369332"/>
          </a:xfrm>
          <a:prstGeom prst="rect">
            <a:avLst/>
          </a:prstGeom>
          <a:noFill/>
        </p:spPr>
        <p:txBody>
          <a:bodyPr wrap="none" rtlCol="0">
            <a:spAutoFit/>
          </a:bodyPr>
          <a:lstStyle/>
          <a:p>
            <a:r>
              <a:rPr lang="en-US" altLang="zh-CN" dirty="0"/>
              <a:t> A supercritical Rankine cycles</a:t>
            </a:r>
            <a:endParaRPr lang="zh-CN" altLang="en-US" dirty="0"/>
          </a:p>
        </p:txBody>
      </p:sp>
    </p:spTree>
    <p:extLst>
      <p:ext uri="{BB962C8B-B14F-4D97-AF65-F5344CB8AC3E}">
        <p14:creationId xmlns:p14="http://schemas.microsoft.com/office/powerpoint/2010/main" val="167979567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1015608" y="1867027"/>
            <a:ext cx="6331183" cy="2676247"/>
          </a:xfrm>
          <a:prstGeom prst="rect">
            <a:avLst/>
          </a:prstGeom>
        </p:spPr>
      </p:pic>
      <p:sp>
        <p:nvSpPr>
          <p:cNvPr id="3" name="文本框 2"/>
          <p:cNvSpPr txBox="1"/>
          <p:nvPr/>
        </p:nvSpPr>
        <p:spPr>
          <a:xfrm>
            <a:off x="2033339" y="166084"/>
            <a:ext cx="4523995" cy="523220"/>
          </a:xfrm>
          <a:prstGeom prst="rect">
            <a:avLst/>
          </a:prstGeom>
          <a:noFill/>
        </p:spPr>
        <p:txBody>
          <a:bodyPr wrap="none" rtlCol="0">
            <a:spAutoFit/>
          </a:bodyPr>
          <a:lstStyle/>
          <a:p>
            <a:r>
              <a:rPr lang="en-US" altLang="zh-CN" sz="2800" dirty="0">
                <a:solidFill>
                  <a:srgbClr val="FF0000"/>
                </a:solidFill>
              </a:rPr>
              <a:t>Idea reheat </a:t>
            </a:r>
            <a:r>
              <a:rPr lang="en-US" altLang="zh-CN" sz="2800" dirty="0" err="1">
                <a:solidFill>
                  <a:srgbClr val="FF0000"/>
                </a:solidFill>
              </a:rPr>
              <a:t>Rankine</a:t>
            </a:r>
            <a:r>
              <a:rPr lang="en-US" altLang="zh-CN" sz="2800" dirty="0">
                <a:solidFill>
                  <a:srgbClr val="FF0000"/>
                </a:solidFill>
              </a:rPr>
              <a:t> cycles</a:t>
            </a:r>
            <a:endParaRPr lang="zh-CN" altLang="en-US" sz="2800" dirty="0">
              <a:solidFill>
                <a:srgbClr val="FF0000"/>
              </a:solidFill>
            </a:endParaRPr>
          </a:p>
        </p:txBody>
      </p:sp>
      <p:sp>
        <p:nvSpPr>
          <p:cNvPr id="4" name="矩形 3"/>
          <p:cNvSpPr/>
          <p:nvPr/>
        </p:nvSpPr>
        <p:spPr>
          <a:xfrm>
            <a:off x="862518" y="833611"/>
            <a:ext cx="6806381" cy="830997"/>
          </a:xfrm>
          <a:prstGeom prst="rect">
            <a:avLst/>
          </a:prstGeom>
        </p:spPr>
        <p:txBody>
          <a:bodyPr wrap="square">
            <a:spAutoFit/>
          </a:bodyPr>
          <a:lstStyle/>
          <a:p>
            <a:r>
              <a:rPr lang="en-US" altLang="zh-CN" sz="1600" i="1" dirty="0">
                <a:solidFill>
                  <a:srgbClr val="00B3FF"/>
                </a:solidFill>
                <a:latin typeface="Arial Unicode MS" panose="020B0604020202020204" pitchFamily="34" charset="-122"/>
                <a:ea typeface="Arial Unicode MS" panose="020B0604020202020204" pitchFamily="34" charset="-122"/>
                <a:cs typeface="Arial Unicode MS" panose="020B0604020202020204" pitchFamily="34" charset="-122"/>
              </a:rPr>
              <a:t>How can we take advantage of the increased efficiencies at higher boiler pressures without facing the problem of excessive moisture at the final stages of the turbine?</a:t>
            </a:r>
            <a:endParaRPr lang="zh-CN" altLang="en-US" sz="1600"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5" name="矩形 4"/>
          <p:cNvSpPr/>
          <p:nvPr/>
        </p:nvSpPr>
        <p:spPr>
          <a:xfrm>
            <a:off x="921775" y="4543274"/>
            <a:ext cx="6747124" cy="1754326"/>
          </a:xfrm>
          <a:prstGeom prst="rect">
            <a:avLst/>
          </a:prstGeom>
        </p:spPr>
        <p:txBody>
          <a:bodyPr wrap="square">
            <a:spAutoFit/>
          </a:bodyPr>
          <a:lstStyle/>
          <a:p>
            <a:pPr marL="228600" indent="-228600">
              <a:buFont typeface="+mj-lt"/>
              <a:buAutoNum type="arabicPeriod"/>
            </a:pPr>
            <a:r>
              <a:rPr lang="en-US" altLang="zh-CN" sz="120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Superheat the steam to very high temperatures before it enters the turbine. This would be the desirable solution since the average temperature at which heat is added would also increase, thus increasing the cycle efficiency. This is not a viable solution, however, since it requires raising the steam temperature to </a:t>
            </a:r>
            <a:r>
              <a:rPr lang="en-US" altLang="zh-CN" sz="1200" dirty="0" err="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metallurgically</a:t>
            </a:r>
            <a:r>
              <a:rPr lang="en-US" altLang="zh-CN" sz="120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unsafe levels.</a:t>
            </a:r>
          </a:p>
          <a:p>
            <a:pPr marL="228600" indent="-228600">
              <a:buFont typeface="+mj-lt"/>
              <a:buAutoNum type="arabicPeriod"/>
            </a:pPr>
            <a:endParaRPr lang="en-US" altLang="zh-CN" sz="120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endParaRPr>
          </a:p>
          <a:p>
            <a:pPr marL="228600" indent="-228600">
              <a:buFont typeface="+mj-lt"/>
              <a:buAutoNum type="arabicPeriod"/>
            </a:pPr>
            <a:r>
              <a:rPr lang="en-US" altLang="zh-CN" sz="120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Expand the steam in the turbine in two stages, and reheat it in between. In other words, </a:t>
            </a:r>
            <a:r>
              <a:rPr lang="en-US" altLang="zh-CN" sz="1200" dirty="0" err="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modifythe</a:t>
            </a:r>
            <a:r>
              <a:rPr lang="en-US" altLang="zh-CN" sz="120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simple ideal </a:t>
            </a:r>
            <a:r>
              <a:rPr lang="en-US" altLang="zh-CN" sz="1200" dirty="0" err="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Rankine</a:t>
            </a:r>
            <a:r>
              <a:rPr lang="en-US" altLang="zh-CN" sz="120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cycle with a </a:t>
            </a:r>
            <a:r>
              <a:rPr lang="en-US" altLang="zh-CN" sz="1200" b="1" dirty="0">
                <a:solidFill>
                  <a:srgbClr val="CD0000"/>
                </a:solidFill>
                <a:latin typeface="Arial Unicode MS" panose="020B0604020202020204" pitchFamily="34" charset="-122"/>
                <a:ea typeface="Arial Unicode MS" panose="020B0604020202020204" pitchFamily="34" charset="-122"/>
                <a:cs typeface="Arial Unicode MS" panose="020B0604020202020204" pitchFamily="34" charset="-122"/>
              </a:rPr>
              <a:t>reheat </a:t>
            </a:r>
            <a:r>
              <a:rPr lang="en-US" altLang="zh-CN" sz="120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process. Reheating is a practical solution to the excessive moisture problem in turbines, and it is commonly used in modern steam power plants.</a:t>
            </a:r>
            <a:endParaRPr lang="zh-CN" altLang="en-US" sz="1200"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extLst>
      <p:ext uri="{BB962C8B-B14F-4D97-AF65-F5344CB8AC3E}">
        <p14:creationId xmlns:p14="http://schemas.microsoft.com/office/powerpoint/2010/main" val="1440275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656041" y="1282406"/>
            <a:ext cx="7293339" cy="3273052"/>
          </a:xfrm>
          <a:prstGeom prst="rect">
            <a:avLst/>
          </a:prstGeom>
        </p:spPr>
      </p:pic>
      <p:sp>
        <p:nvSpPr>
          <p:cNvPr id="3" name="矩形 2"/>
          <p:cNvSpPr/>
          <p:nvPr/>
        </p:nvSpPr>
        <p:spPr>
          <a:xfrm>
            <a:off x="2130571" y="294657"/>
            <a:ext cx="4224233" cy="523220"/>
          </a:xfrm>
          <a:prstGeom prst="rect">
            <a:avLst/>
          </a:prstGeom>
        </p:spPr>
        <p:txBody>
          <a:bodyPr wrap="none">
            <a:spAutoFit/>
          </a:bodyPr>
          <a:lstStyle/>
          <a:p>
            <a:r>
              <a:rPr lang="en-US" altLang="zh-CN" sz="2800" dirty="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rPr>
              <a:t>Open </a:t>
            </a:r>
            <a:r>
              <a:rPr lang="en-US" altLang="zh-CN" sz="2800" dirty="0" err="1">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rPr>
              <a:t>Feedwater</a:t>
            </a:r>
            <a:r>
              <a:rPr lang="en-US" altLang="zh-CN" sz="2800" dirty="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rPr>
              <a:t> Heaters</a:t>
            </a:r>
            <a:endParaRPr lang="zh-CN" altLang="en-US" sz="2800" dirty="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4" name="矩形 3"/>
          <p:cNvSpPr/>
          <p:nvPr/>
        </p:nvSpPr>
        <p:spPr>
          <a:xfrm>
            <a:off x="383457" y="4863884"/>
            <a:ext cx="8413955" cy="1200329"/>
          </a:xfrm>
          <a:prstGeom prst="rect">
            <a:avLst/>
          </a:prstGeom>
        </p:spPr>
        <p:txBody>
          <a:bodyPr wrap="square">
            <a:spAutoFit/>
          </a:bodyPr>
          <a:lstStyle/>
          <a:p>
            <a:r>
              <a:rPr lang="en-US" altLang="zh-CN"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An </a:t>
            </a:r>
            <a:r>
              <a:rPr lang="en-US" altLang="zh-CN" b="1" dirty="0">
                <a:solidFill>
                  <a:srgbClr val="CD0000"/>
                </a:solidFill>
                <a:latin typeface="Arial Unicode MS" panose="020B0604020202020204" pitchFamily="34" charset="-122"/>
                <a:ea typeface="Arial Unicode MS" panose="020B0604020202020204" pitchFamily="34" charset="-122"/>
                <a:cs typeface="Arial Unicode MS" panose="020B0604020202020204" pitchFamily="34" charset="-122"/>
              </a:rPr>
              <a:t>open </a:t>
            </a:r>
            <a:r>
              <a:rPr lang="en-US" altLang="zh-CN"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(or </a:t>
            </a:r>
            <a:r>
              <a:rPr lang="en-US" altLang="zh-CN" b="1" dirty="0">
                <a:solidFill>
                  <a:srgbClr val="CD0000"/>
                </a:solidFill>
                <a:latin typeface="Arial Unicode MS" panose="020B0604020202020204" pitchFamily="34" charset="-122"/>
                <a:ea typeface="Arial Unicode MS" panose="020B0604020202020204" pitchFamily="34" charset="-122"/>
                <a:cs typeface="Arial Unicode MS" panose="020B0604020202020204" pitchFamily="34" charset="-122"/>
              </a:rPr>
              <a:t>direct-contact</a:t>
            </a:r>
            <a:r>
              <a:rPr lang="en-US" altLang="zh-CN"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b="1" dirty="0" err="1">
                <a:solidFill>
                  <a:srgbClr val="CD0000"/>
                </a:solidFill>
                <a:latin typeface="Arial Unicode MS" panose="020B0604020202020204" pitchFamily="34" charset="-122"/>
                <a:ea typeface="Arial Unicode MS" panose="020B0604020202020204" pitchFamily="34" charset="-122"/>
                <a:cs typeface="Arial Unicode MS" panose="020B0604020202020204" pitchFamily="34" charset="-122"/>
              </a:rPr>
              <a:t>feedwater</a:t>
            </a:r>
            <a:r>
              <a:rPr lang="en-US" altLang="zh-CN" b="1" dirty="0">
                <a:solidFill>
                  <a:srgbClr val="CD0000"/>
                </a:solidFill>
                <a:latin typeface="Arial Unicode MS" panose="020B0604020202020204" pitchFamily="34" charset="-122"/>
                <a:ea typeface="Arial Unicode MS" panose="020B0604020202020204" pitchFamily="34" charset="-122"/>
                <a:cs typeface="Arial Unicode MS" panose="020B0604020202020204" pitchFamily="34" charset="-122"/>
              </a:rPr>
              <a:t> heater </a:t>
            </a:r>
            <a:r>
              <a:rPr lang="en-US" altLang="zh-CN"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is basically a </a:t>
            </a:r>
            <a:r>
              <a:rPr lang="en-US" altLang="zh-CN" i="1"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mixing</a:t>
            </a:r>
          </a:p>
          <a:p>
            <a:r>
              <a:rPr lang="en-US" altLang="zh-CN" i="1"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chamber, </a:t>
            </a:r>
            <a:r>
              <a:rPr lang="en-US" altLang="zh-CN"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where the steam extracted from the turbine mixes with the </a:t>
            </a:r>
            <a:r>
              <a:rPr lang="en-US" altLang="zh-CN" dirty="0" err="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feedwater</a:t>
            </a:r>
            <a:r>
              <a:rPr lang="en-US" altLang="zh-CN"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exiting the pump. </a:t>
            </a:r>
          </a:p>
          <a:p>
            <a:r>
              <a:rPr lang="en-US" altLang="zh-CN"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Ideally, the mixture leaves the heater as a saturated liquid at the heater pressure.</a:t>
            </a:r>
            <a:endParaRPr lang="zh-CN" altLang="en-US"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extLst>
      <p:ext uri="{BB962C8B-B14F-4D97-AF65-F5344CB8AC3E}">
        <p14:creationId xmlns:p14="http://schemas.microsoft.com/office/powerpoint/2010/main" val="179187025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722672" y="1347956"/>
            <a:ext cx="7615648" cy="3917733"/>
          </a:xfrm>
          <a:prstGeom prst="rect">
            <a:avLst/>
          </a:prstGeom>
        </p:spPr>
      </p:pic>
      <p:sp>
        <p:nvSpPr>
          <p:cNvPr id="3" name="矩形 2"/>
          <p:cNvSpPr/>
          <p:nvPr/>
        </p:nvSpPr>
        <p:spPr>
          <a:xfrm>
            <a:off x="2130571" y="294657"/>
            <a:ext cx="4443845" cy="523220"/>
          </a:xfrm>
          <a:prstGeom prst="rect">
            <a:avLst/>
          </a:prstGeom>
        </p:spPr>
        <p:txBody>
          <a:bodyPr wrap="none">
            <a:spAutoFit/>
          </a:bodyPr>
          <a:lstStyle/>
          <a:p>
            <a:r>
              <a:rPr lang="en-US" altLang="zh-CN" sz="2800" dirty="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rPr>
              <a:t>Close Feed Water Heaters</a:t>
            </a:r>
            <a:endParaRPr lang="zh-CN" altLang="en-US" sz="2800" dirty="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4" name="矩形 3"/>
          <p:cNvSpPr/>
          <p:nvPr/>
        </p:nvSpPr>
        <p:spPr>
          <a:xfrm>
            <a:off x="1647678" y="5318714"/>
            <a:ext cx="6277122" cy="954107"/>
          </a:xfrm>
          <a:prstGeom prst="rect">
            <a:avLst/>
          </a:prstGeom>
        </p:spPr>
        <p:txBody>
          <a:bodyPr wrap="square">
            <a:spAutoFit/>
          </a:bodyPr>
          <a:lstStyle/>
          <a:p>
            <a:r>
              <a:rPr lang="en-US" altLang="zh-CN" sz="140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Another type of </a:t>
            </a:r>
            <a:r>
              <a:rPr lang="en-US" altLang="zh-CN" sz="1400" dirty="0" err="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feedwater</a:t>
            </a:r>
            <a:r>
              <a:rPr lang="en-US" altLang="zh-CN" sz="140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heater frequently used in steam power plants is</a:t>
            </a:r>
          </a:p>
          <a:p>
            <a:r>
              <a:rPr lang="en-US" altLang="zh-CN" sz="140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the </a:t>
            </a:r>
            <a:r>
              <a:rPr lang="en-US" altLang="zh-CN" sz="1400" b="1" dirty="0">
                <a:solidFill>
                  <a:srgbClr val="CD0000"/>
                </a:solidFill>
                <a:latin typeface="Arial Unicode MS" panose="020B0604020202020204" pitchFamily="34" charset="-122"/>
                <a:ea typeface="Arial Unicode MS" panose="020B0604020202020204" pitchFamily="34" charset="-122"/>
                <a:cs typeface="Arial Unicode MS" panose="020B0604020202020204" pitchFamily="34" charset="-122"/>
              </a:rPr>
              <a:t>closed </a:t>
            </a:r>
            <a:r>
              <a:rPr lang="en-US" altLang="zh-CN" sz="1400" b="1" dirty="0" err="1">
                <a:solidFill>
                  <a:srgbClr val="CD0000"/>
                </a:solidFill>
                <a:latin typeface="Arial Unicode MS" panose="020B0604020202020204" pitchFamily="34" charset="-122"/>
                <a:ea typeface="Arial Unicode MS" panose="020B0604020202020204" pitchFamily="34" charset="-122"/>
                <a:cs typeface="Arial Unicode MS" panose="020B0604020202020204" pitchFamily="34" charset="-122"/>
              </a:rPr>
              <a:t>feedwater</a:t>
            </a:r>
            <a:r>
              <a:rPr lang="en-US" altLang="zh-CN" sz="1400" b="1" dirty="0">
                <a:solidFill>
                  <a:srgbClr val="CD0000"/>
                </a:solidFill>
                <a:latin typeface="Arial Unicode MS" panose="020B0604020202020204" pitchFamily="34" charset="-122"/>
                <a:ea typeface="Arial Unicode MS" panose="020B0604020202020204" pitchFamily="34" charset="-122"/>
                <a:cs typeface="Arial Unicode MS" panose="020B0604020202020204" pitchFamily="34" charset="-122"/>
              </a:rPr>
              <a:t> heater</a:t>
            </a:r>
            <a:r>
              <a:rPr lang="en-US" altLang="zh-CN" sz="140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in which heat is transferred from the extracted</a:t>
            </a:r>
          </a:p>
          <a:p>
            <a:r>
              <a:rPr lang="en-US" altLang="zh-CN" sz="140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steam to the </a:t>
            </a:r>
            <a:r>
              <a:rPr lang="en-US" altLang="zh-CN" sz="1400" dirty="0" err="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feedwater</a:t>
            </a:r>
            <a:r>
              <a:rPr lang="en-US" altLang="zh-CN" sz="140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without any mixing taking place. The two streams</a:t>
            </a:r>
          </a:p>
          <a:p>
            <a:r>
              <a:rPr lang="en-US" altLang="zh-CN" sz="140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now can be at different pressures, since they do not mix</a:t>
            </a:r>
            <a:endParaRPr lang="zh-CN" altLang="en-US" sz="1400"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extLst>
      <p:ext uri="{BB962C8B-B14F-4D97-AF65-F5344CB8AC3E}">
        <p14:creationId xmlns:p14="http://schemas.microsoft.com/office/powerpoint/2010/main" val="118221793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84359348-80AD-2620-410D-2E17B7D677A5}"/>
              </a:ext>
            </a:extLst>
          </p:cNvPr>
          <p:cNvSpPr txBox="1"/>
          <p:nvPr/>
        </p:nvSpPr>
        <p:spPr>
          <a:xfrm>
            <a:off x="4288220" y="1809067"/>
            <a:ext cx="4572000" cy="1477328"/>
          </a:xfrm>
          <a:prstGeom prst="rect">
            <a:avLst/>
          </a:prstGeom>
          <a:noFill/>
        </p:spPr>
        <p:txBody>
          <a:bodyPr wrap="square">
            <a:spAutoFit/>
          </a:bodyPr>
          <a:lstStyle/>
          <a:p>
            <a:r>
              <a:rPr lang="zh-CN" altLang="en-US" b="0" i="0" dirty="0">
                <a:solidFill>
                  <a:srgbClr val="000000"/>
                </a:solidFill>
                <a:effectLst/>
                <a:latin typeface="Microsoft Yahei" panose="020B0503020204020204" pitchFamily="34" charset="-122"/>
                <a:ea typeface="Microsoft Yahei" panose="020B0503020204020204" pitchFamily="34" charset="-122"/>
              </a:rPr>
              <a:t>瓦良格号和“库兹涅佐夫”号用的是前苏联研制的</a:t>
            </a:r>
            <a:r>
              <a:rPr lang="en-US" altLang="zh-CN" b="0" i="0" dirty="0">
                <a:solidFill>
                  <a:srgbClr val="000000"/>
                </a:solidFill>
                <a:effectLst/>
                <a:latin typeface="Microsoft Yahei" panose="020B0503020204020204" pitchFamily="34" charset="-122"/>
                <a:ea typeface="Microsoft Yahei" panose="020B0503020204020204" pitchFamily="34" charset="-122"/>
              </a:rPr>
              <a:t>TB12</a:t>
            </a:r>
            <a:r>
              <a:rPr lang="zh-CN" altLang="en-US" b="0" i="0" dirty="0">
                <a:solidFill>
                  <a:srgbClr val="000000"/>
                </a:solidFill>
                <a:effectLst/>
                <a:latin typeface="Microsoft Yahei" panose="020B0503020204020204" pitchFamily="34" charset="-122"/>
                <a:ea typeface="Microsoft Yahei" panose="020B0503020204020204" pitchFamily="34" charset="-122"/>
              </a:rPr>
              <a:t>型蒸汽轮机，</a:t>
            </a:r>
            <a:r>
              <a:rPr lang="en-US" altLang="zh-CN" b="0" i="0" dirty="0">
                <a:solidFill>
                  <a:srgbClr val="000000"/>
                </a:solidFill>
                <a:effectLst/>
                <a:latin typeface="Microsoft Yahei" panose="020B0503020204020204" pitchFamily="34" charset="-122"/>
                <a:ea typeface="Microsoft Yahei" panose="020B0503020204020204" pitchFamily="34" charset="-122"/>
              </a:rPr>
              <a:t>45000</a:t>
            </a:r>
            <a:r>
              <a:rPr lang="zh-CN" altLang="en-US" b="0" i="0" dirty="0">
                <a:solidFill>
                  <a:srgbClr val="000000"/>
                </a:solidFill>
                <a:effectLst/>
                <a:latin typeface="Microsoft Yahei" panose="020B0503020204020204" pitchFamily="34" charset="-122"/>
                <a:ea typeface="Microsoft Yahei" panose="020B0503020204020204" pitchFamily="34" charset="-122"/>
              </a:rPr>
              <a:t>马力，足以驱动</a:t>
            </a:r>
            <a:r>
              <a:rPr lang="en-US" altLang="zh-CN" b="0" i="0" dirty="0">
                <a:solidFill>
                  <a:srgbClr val="000000"/>
                </a:solidFill>
                <a:effectLst/>
                <a:latin typeface="Microsoft Yahei" panose="020B0503020204020204" pitchFamily="34" charset="-122"/>
                <a:ea typeface="Microsoft Yahei" panose="020B0503020204020204" pitchFamily="34" charset="-122"/>
              </a:rPr>
              <a:t>6</a:t>
            </a:r>
            <a:r>
              <a:rPr lang="zh-CN" altLang="en-US" b="0" i="0" dirty="0">
                <a:solidFill>
                  <a:srgbClr val="000000"/>
                </a:solidFill>
                <a:effectLst/>
                <a:latin typeface="Microsoft Yahei" panose="020B0503020204020204" pitchFamily="34" charset="-122"/>
                <a:ea typeface="Microsoft Yahei" panose="020B0503020204020204" pitchFamily="34" charset="-122"/>
              </a:rPr>
              <a:t>万吨的航母达到</a:t>
            </a:r>
            <a:r>
              <a:rPr lang="en-US" altLang="zh-CN" b="0" i="0" dirty="0">
                <a:solidFill>
                  <a:srgbClr val="000000"/>
                </a:solidFill>
                <a:effectLst/>
                <a:latin typeface="Microsoft Yahei" panose="020B0503020204020204" pitchFamily="34" charset="-122"/>
                <a:ea typeface="Microsoft Yahei" panose="020B0503020204020204" pitchFamily="34" charset="-122"/>
              </a:rPr>
              <a:t>30</a:t>
            </a:r>
            <a:r>
              <a:rPr lang="zh-CN" altLang="en-US" b="0" i="0" dirty="0">
                <a:solidFill>
                  <a:srgbClr val="000000"/>
                </a:solidFill>
                <a:effectLst/>
                <a:latin typeface="Microsoft Yahei" panose="020B0503020204020204" pitchFamily="34" charset="-122"/>
                <a:ea typeface="Microsoft Yahei" panose="020B0503020204020204" pitchFamily="34" charset="-122"/>
              </a:rPr>
              <a:t>节的高航速</a:t>
            </a:r>
            <a:endParaRPr lang="en-US" altLang="zh-CN" b="0" i="0" dirty="0">
              <a:solidFill>
                <a:srgbClr val="000000"/>
              </a:solidFill>
              <a:effectLst/>
              <a:latin typeface="Microsoft Yahei" panose="020B0503020204020204" pitchFamily="34" charset="-122"/>
              <a:ea typeface="Microsoft Yahei" panose="020B0503020204020204" pitchFamily="34" charset="-122"/>
            </a:endParaRPr>
          </a:p>
          <a:p>
            <a:endParaRPr lang="en-US" altLang="zh-CN" dirty="0">
              <a:solidFill>
                <a:srgbClr val="000000"/>
              </a:solidFill>
              <a:latin typeface="Microsoft Yahei" panose="020B0503020204020204" pitchFamily="34" charset="-122"/>
              <a:ea typeface="Microsoft Yahei" panose="020B0503020204020204" pitchFamily="34" charset="-122"/>
            </a:endParaRPr>
          </a:p>
          <a:p>
            <a:endParaRPr lang="en-US" altLang="zh-CN" dirty="0">
              <a:solidFill>
                <a:srgbClr val="000000"/>
              </a:solidFill>
              <a:latin typeface="Microsoft Yahei" panose="020B0503020204020204" pitchFamily="34" charset="-122"/>
              <a:ea typeface="Microsoft Yahei" panose="020B0503020204020204" pitchFamily="34" charset="-122"/>
            </a:endParaRPr>
          </a:p>
        </p:txBody>
      </p:sp>
      <p:pic>
        <p:nvPicPr>
          <p:cNvPr id="1026" name="Picture 2" descr="See the source image">
            <a:extLst>
              <a:ext uri="{FF2B5EF4-FFF2-40B4-BE49-F238E27FC236}">
                <a16:creationId xmlns:a16="http://schemas.microsoft.com/office/drawing/2014/main" id="{F21E83C5-5BE6-FF42-E6F6-B3F894F48A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241" y="591208"/>
            <a:ext cx="3756288" cy="2435718"/>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4770C0CD-A832-6DEA-A6A4-A197B21B36FF}"/>
              </a:ext>
            </a:extLst>
          </p:cNvPr>
          <p:cNvSpPr txBox="1"/>
          <p:nvPr/>
        </p:nvSpPr>
        <p:spPr>
          <a:xfrm>
            <a:off x="4138448" y="4512907"/>
            <a:ext cx="4572000" cy="646331"/>
          </a:xfrm>
          <a:prstGeom prst="rect">
            <a:avLst/>
          </a:prstGeom>
          <a:noFill/>
        </p:spPr>
        <p:txBody>
          <a:bodyPr wrap="square">
            <a:spAutoFit/>
          </a:bodyPr>
          <a:lstStyle/>
          <a:p>
            <a:r>
              <a:rPr lang="zh-CN" altLang="en-US" b="0" i="0" dirty="0">
                <a:solidFill>
                  <a:srgbClr val="000000"/>
                </a:solidFill>
                <a:effectLst/>
                <a:latin typeface="Microsoft Yahei" panose="020B0503020204020204" pitchFamily="34" charset="-122"/>
                <a:ea typeface="Microsoft Yahei" panose="020B0503020204020204" pitchFamily="34" charset="-122"/>
              </a:rPr>
              <a:t>我国的</a:t>
            </a:r>
            <a:r>
              <a:rPr lang="en-US" altLang="zh-CN" b="0" i="0" dirty="0">
                <a:solidFill>
                  <a:srgbClr val="000000"/>
                </a:solidFill>
                <a:effectLst/>
                <a:latin typeface="Microsoft Yahei" panose="020B0503020204020204" pitchFamily="34" charset="-122"/>
                <a:ea typeface="Microsoft Yahei" panose="020B0503020204020204" pitchFamily="34" charset="-122"/>
              </a:rPr>
              <a:t>051</a:t>
            </a:r>
            <a:r>
              <a:rPr lang="zh-CN" altLang="en-US" b="0" i="0" dirty="0">
                <a:solidFill>
                  <a:srgbClr val="000000"/>
                </a:solidFill>
                <a:effectLst/>
                <a:latin typeface="Microsoft Yahei" panose="020B0503020204020204" pitchFamily="34" charset="-122"/>
                <a:ea typeface="Microsoft Yahei" panose="020B0503020204020204" pitchFamily="34" charset="-122"/>
              </a:rPr>
              <a:t>型驱逐舰用的就是</a:t>
            </a:r>
            <a:r>
              <a:rPr lang="en-US" altLang="zh-CN" b="0" i="0" dirty="0">
                <a:solidFill>
                  <a:srgbClr val="000000"/>
                </a:solidFill>
                <a:effectLst/>
                <a:latin typeface="Microsoft Yahei" panose="020B0503020204020204" pitchFamily="34" charset="-122"/>
                <a:ea typeface="Microsoft Yahei" panose="020B0503020204020204" pitchFamily="34" charset="-122"/>
              </a:rPr>
              <a:t>TB-8</a:t>
            </a:r>
            <a:r>
              <a:rPr lang="zh-CN" altLang="en-US" b="0" i="0" dirty="0">
                <a:solidFill>
                  <a:srgbClr val="000000"/>
                </a:solidFill>
                <a:effectLst/>
                <a:latin typeface="Microsoft Yahei" panose="020B0503020204020204" pitchFamily="34" charset="-122"/>
                <a:ea typeface="Microsoft Yahei" panose="020B0503020204020204" pitchFamily="34" charset="-122"/>
              </a:rPr>
              <a:t>型蒸汽轮机</a:t>
            </a:r>
            <a:endParaRPr lang="zh-CN" altLang="en-US" dirty="0"/>
          </a:p>
        </p:txBody>
      </p:sp>
      <p:pic>
        <p:nvPicPr>
          <p:cNvPr id="1030" name="Picture 6" descr="See the source image">
            <a:extLst>
              <a:ext uri="{FF2B5EF4-FFF2-40B4-BE49-F238E27FC236}">
                <a16:creationId xmlns:a16="http://schemas.microsoft.com/office/drawing/2014/main" id="{990B7A95-4734-AEAD-4D8A-1DE8DDE4DB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241" y="3484179"/>
            <a:ext cx="3764120" cy="22702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003565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DEB0651-5CE8-D229-C668-55B8272D9073}"/>
              </a:ext>
            </a:extLst>
          </p:cNvPr>
          <p:cNvSpPr txBox="1"/>
          <p:nvPr/>
        </p:nvSpPr>
        <p:spPr>
          <a:xfrm>
            <a:off x="5123792" y="2413337"/>
            <a:ext cx="3752193" cy="2031325"/>
          </a:xfrm>
          <a:prstGeom prst="rect">
            <a:avLst/>
          </a:prstGeom>
          <a:noFill/>
        </p:spPr>
        <p:txBody>
          <a:bodyPr wrap="square">
            <a:spAutoFit/>
          </a:bodyPr>
          <a:lstStyle/>
          <a:p>
            <a:r>
              <a:rPr lang="zh-CN" altLang="en-US" b="0" i="0" dirty="0">
                <a:solidFill>
                  <a:srgbClr val="000000"/>
                </a:solidFill>
                <a:effectLst/>
                <a:latin typeface="Microsoft Yahei" panose="020B0503020204020204" pitchFamily="34" charset="-122"/>
                <a:ea typeface="Microsoft Yahei" panose="020B0503020204020204" pitchFamily="34" charset="-122"/>
              </a:rPr>
              <a:t>山东舰用的是我国在</a:t>
            </a:r>
            <a:r>
              <a:rPr lang="en-US" altLang="zh-CN" b="0" i="0" dirty="0">
                <a:solidFill>
                  <a:srgbClr val="000000"/>
                </a:solidFill>
                <a:effectLst/>
                <a:latin typeface="Microsoft Yahei" panose="020B0503020204020204" pitchFamily="34" charset="-122"/>
                <a:ea typeface="Microsoft Yahei" panose="020B0503020204020204" pitchFamily="34" charset="-122"/>
              </a:rPr>
              <a:t>TB8</a:t>
            </a:r>
            <a:r>
              <a:rPr lang="zh-CN" altLang="en-US" b="0" i="0" dirty="0">
                <a:solidFill>
                  <a:srgbClr val="000000"/>
                </a:solidFill>
                <a:effectLst/>
                <a:latin typeface="Microsoft Yahei" panose="020B0503020204020204" pitchFamily="34" charset="-122"/>
                <a:ea typeface="Microsoft Yahei" panose="020B0503020204020204" pitchFamily="34" charset="-122"/>
              </a:rPr>
              <a:t>基础上发展而来的新型蒸汽轮机，它采用了高热负荷炉膛和内置式过热器，不但减轻了体积重量，而且提升了蒸汽的温度和压力，单机功率提高到</a:t>
            </a:r>
            <a:r>
              <a:rPr lang="en-US" altLang="zh-CN" b="0" i="0" dirty="0">
                <a:solidFill>
                  <a:srgbClr val="000000"/>
                </a:solidFill>
                <a:effectLst/>
                <a:latin typeface="Microsoft Yahei" panose="020B0503020204020204" pitchFamily="34" charset="-122"/>
                <a:ea typeface="Microsoft Yahei" panose="020B0503020204020204" pitchFamily="34" charset="-122"/>
              </a:rPr>
              <a:t>5</a:t>
            </a:r>
            <a:r>
              <a:rPr lang="zh-CN" altLang="en-US" b="0" i="0" dirty="0">
                <a:solidFill>
                  <a:srgbClr val="000000"/>
                </a:solidFill>
                <a:effectLst/>
                <a:latin typeface="Microsoft Yahei" panose="020B0503020204020204" pitchFamily="34" charset="-122"/>
                <a:ea typeface="Microsoft Yahei" panose="020B0503020204020204" pitchFamily="34" charset="-122"/>
              </a:rPr>
              <a:t>万马力左右，一举超过了</a:t>
            </a:r>
            <a:r>
              <a:rPr lang="en-US" altLang="zh-CN" b="0" i="0" dirty="0">
                <a:solidFill>
                  <a:srgbClr val="000000"/>
                </a:solidFill>
                <a:effectLst/>
                <a:latin typeface="Microsoft Yahei" panose="020B0503020204020204" pitchFamily="34" charset="-122"/>
                <a:ea typeface="Microsoft Yahei" panose="020B0503020204020204" pitchFamily="34" charset="-122"/>
              </a:rPr>
              <a:t>TB12</a:t>
            </a:r>
            <a:r>
              <a:rPr lang="zh-CN" altLang="en-US" b="0" i="0" dirty="0">
                <a:solidFill>
                  <a:srgbClr val="000000"/>
                </a:solidFill>
                <a:effectLst/>
                <a:latin typeface="Microsoft Yahei" panose="020B0503020204020204" pitchFamily="34" charset="-122"/>
                <a:ea typeface="Microsoft Yahei" panose="020B0503020204020204" pitchFamily="34" charset="-122"/>
              </a:rPr>
              <a:t>，四机并联至少可输出</a:t>
            </a:r>
            <a:r>
              <a:rPr lang="en-US" altLang="zh-CN" b="0" i="0" dirty="0">
                <a:solidFill>
                  <a:srgbClr val="000000"/>
                </a:solidFill>
                <a:effectLst/>
                <a:latin typeface="Microsoft Yahei" panose="020B0503020204020204" pitchFamily="34" charset="-122"/>
                <a:ea typeface="Microsoft Yahei" panose="020B0503020204020204" pitchFamily="34" charset="-122"/>
              </a:rPr>
              <a:t>20</a:t>
            </a:r>
            <a:r>
              <a:rPr lang="zh-CN" altLang="en-US" b="0" i="0" dirty="0">
                <a:solidFill>
                  <a:srgbClr val="000000"/>
                </a:solidFill>
                <a:effectLst/>
                <a:latin typeface="Microsoft Yahei" panose="020B0503020204020204" pitchFamily="34" charset="-122"/>
                <a:ea typeface="Microsoft Yahei" panose="020B0503020204020204" pitchFamily="34" charset="-122"/>
              </a:rPr>
              <a:t>万马力的功率</a:t>
            </a:r>
            <a:endParaRPr lang="zh-CN" altLang="en-US" dirty="0"/>
          </a:p>
        </p:txBody>
      </p:sp>
      <p:pic>
        <p:nvPicPr>
          <p:cNvPr id="2050" name="Picture 2" descr="See the source image">
            <a:extLst>
              <a:ext uri="{FF2B5EF4-FFF2-40B4-BE49-F238E27FC236}">
                <a16:creationId xmlns:a16="http://schemas.microsoft.com/office/drawing/2014/main" id="{2CE7E0A6-AC62-08AD-F223-AC9206CDDD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9651" y="1882337"/>
            <a:ext cx="4514850" cy="2762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330150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1013188" y="2160639"/>
            <a:ext cx="2988075" cy="2544845"/>
          </a:xfrm>
          <a:prstGeom prst="rect">
            <a:avLst/>
          </a:prstGeom>
        </p:spPr>
      </p:pic>
      <p:sp>
        <p:nvSpPr>
          <p:cNvPr id="3" name="圆角矩形 2"/>
          <p:cNvSpPr/>
          <p:nvPr/>
        </p:nvSpPr>
        <p:spPr>
          <a:xfrm>
            <a:off x="0" y="3391"/>
            <a:ext cx="2507226" cy="494071"/>
          </a:xfrm>
          <a:prstGeom prst="roundRect">
            <a:avLst>
              <a:gd name="adj" fmla="val 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t>Home work </a:t>
            </a:r>
            <a:endParaRPr lang="zh-CN" altLang="en-US" sz="2800" dirty="0"/>
          </a:p>
        </p:txBody>
      </p:sp>
      <p:sp>
        <p:nvSpPr>
          <p:cNvPr id="4" name="文本框 3"/>
          <p:cNvSpPr txBox="1"/>
          <p:nvPr/>
        </p:nvSpPr>
        <p:spPr>
          <a:xfrm>
            <a:off x="384189" y="1368279"/>
            <a:ext cx="8285281" cy="646331"/>
          </a:xfrm>
          <a:prstGeom prst="rect">
            <a:avLst/>
          </a:prstGeom>
          <a:noFill/>
        </p:spPr>
        <p:txBody>
          <a:bodyPr wrap="none" rtlCol="0">
            <a:spAutoFit/>
          </a:bodyPr>
          <a:lstStyle/>
          <a:p>
            <a:r>
              <a:rPr lang="en-US" altLang="zh-CN" i="1" dirty="0"/>
              <a:t>Book reading and answer the question </a:t>
            </a:r>
          </a:p>
          <a:p>
            <a:r>
              <a:rPr lang="en-US" altLang="zh-CN" dirty="0"/>
              <a:t>Why vapor Carnot cycle is almost impossible? What’s the technique challenge?</a:t>
            </a:r>
            <a:endParaRPr lang="zh-CN" altLang="en-US" dirty="0"/>
          </a:p>
        </p:txBody>
      </p:sp>
      <p:sp>
        <p:nvSpPr>
          <p:cNvPr id="5" name="文本框 4"/>
          <p:cNvSpPr txBox="1"/>
          <p:nvPr/>
        </p:nvSpPr>
        <p:spPr>
          <a:xfrm>
            <a:off x="346954" y="4851513"/>
            <a:ext cx="1813317" cy="369332"/>
          </a:xfrm>
          <a:prstGeom prst="rect">
            <a:avLst/>
          </a:prstGeom>
          <a:noFill/>
        </p:spPr>
        <p:txBody>
          <a:bodyPr wrap="none" rtlCol="0">
            <a:spAutoFit/>
          </a:bodyPr>
          <a:lstStyle/>
          <a:p>
            <a:r>
              <a:rPr lang="en-US" altLang="zh-CN" dirty="0"/>
              <a:t>Open question:</a:t>
            </a:r>
            <a:endParaRPr lang="zh-CN" altLang="en-US" dirty="0"/>
          </a:p>
        </p:txBody>
      </p:sp>
      <p:sp>
        <p:nvSpPr>
          <p:cNvPr id="7" name="文本框 6"/>
          <p:cNvSpPr txBox="1"/>
          <p:nvPr/>
        </p:nvSpPr>
        <p:spPr>
          <a:xfrm>
            <a:off x="551297" y="5340963"/>
            <a:ext cx="7257974" cy="923330"/>
          </a:xfrm>
          <a:prstGeom prst="rect">
            <a:avLst/>
          </a:prstGeom>
          <a:noFill/>
        </p:spPr>
        <p:txBody>
          <a:bodyPr wrap="square" rtlCol="0">
            <a:spAutoFit/>
          </a:bodyPr>
          <a:lstStyle/>
          <a:p>
            <a:pPr marL="342900" indent="-342900">
              <a:buFont typeface="+mj-lt"/>
              <a:buAutoNum type="arabicPeriod"/>
            </a:pPr>
            <a:r>
              <a:rPr lang="en-US" altLang="zh-CN" dirty="0"/>
              <a:t>Proposal a new possible strategy to increase the efficiency of </a:t>
            </a:r>
            <a:r>
              <a:rPr lang="en-US" altLang="zh-CN" dirty="0" err="1">
                <a:solidFill>
                  <a:srgbClr val="FF0000"/>
                </a:solidFill>
                <a:effectLst>
                  <a:outerShdw blurRad="38100" dist="38100" dir="2700000" algn="tl">
                    <a:srgbClr val="000000">
                      <a:alpha val="43137"/>
                    </a:srgbClr>
                  </a:outerShdw>
                </a:effectLst>
                <a:latin typeface="Arial" charset="0"/>
                <a:cs typeface="Arial" charset="0"/>
              </a:rPr>
              <a:t>Brayton</a:t>
            </a:r>
            <a:r>
              <a:rPr lang="en-US" altLang="zh-CN" dirty="0">
                <a:solidFill>
                  <a:srgbClr val="FF0000"/>
                </a:solidFill>
                <a:effectLst>
                  <a:outerShdw blurRad="38100" dist="38100" dir="2700000" algn="tl">
                    <a:srgbClr val="000000">
                      <a:alpha val="43137"/>
                    </a:srgbClr>
                  </a:outerShdw>
                </a:effectLst>
                <a:latin typeface="Arial" charset="0"/>
                <a:cs typeface="Arial" charset="0"/>
              </a:rPr>
              <a:t> Cycle and </a:t>
            </a:r>
            <a:r>
              <a:rPr lang="en-US" altLang="zh-CN" dirty="0" err="1">
                <a:solidFill>
                  <a:srgbClr val="FF0000"/>
                </a:solidFill>
                <a:effectLst>
                  <a:outerShdw blurRad="38100" dist="38100" dir="2700000" algn="tl">
                    <a:srgbClr val="000000">
                      <a:alpha val="43137"/>
                    </a:srgbClr>
                  </a:outerShdw>
                </a:effectLst>
                <a:latin typeface="Arial" charset="0"/>
                <a:cs typeface="Arial" charset="0"/>
              </a:rPr>
              <a:t>Rankine</a:t>
            </a:r>
            <a:r>
              <a:rPr lang="en-US" altLang="zh-CN" dirty="0"/>
              <a:t> </a:t>
            </a:r>
          </a:p>
          <a:p>
            <a:r>
              <a:rPr lang="en-US" altLang="zh-CN" dirty="0"/>
              <a:t>2.   Find a new power cycle and explain the working principle. </a:t>
            </a:r>
            <a:endParaRPr lang="zh-CN" altLang="en-US" dirty="0"/>
          </a:p>
        </p:txBody>
      </p:sp>
    </p:spTree>
    <p:extLst>
      <p:ext uri="{BB962C8B-B14F-4D97-AF65-F5344CB8AC3E}">
        <p14:creationId xmlns:p14="http://schemas.microsoft.com/office/powerpoint/2010/main" val="1269421981"/>
      </p:ext>
    </p:extLst>
  </p:cSld>
  <p:clrMapOvr>
    <a:masterClrMapping/>
  </p:clrMapOvr>
</p:sld>
</file>

<file path=ppt/theme/theme1.xml><?xml version="1.0" encoding="utf-8"?>
<a:theme xmlns:a="http://schemas.openxmlformats.org/drawingml/2006/main" name="Master Board">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Arial"/>
        <a:ea typeface="等线 Light"/>
        <a:cs typeface=""/>
      </a:majorFont>
      <a:minorFont>
        <a:latin typeface="Arial"/>
        <a:ea typeface="等线"/>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Master Board</Template>
  <TotalTime>14871</TotalTime>
  <Words>3035</Words>
  <Application>Microsoft Office PowerPoint</Application>
  <PresentationFormat>全屏显示(4:3)</PresentationFormat>
  <Paragraphs>365</Paragraphs>
  <Slides>69</Slides>
  <Notes>5</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69</vt:i4>
      </vt:variant>
    </vt:vector>
  </HeadingPairs>
  <TitlesOfParts>
    <vt:vector size="85" baseType="lpstr">
      <vt:lpstr>Arial Unicode MS</vt:lpstr>
      <vt:lpstr>Dotum</vt:lpstr>
      <vt:lpstr>gesans-regular</vt:lpstr>
      <vt:lpstr>Linux Libertine</vt:lpstr>
      <vt:lpstr>Source Han Sans</vt:lpstr>
      <vt:lpstr>等线</vt:lpstr>
      <vt:lpstr>黑体</vt:lpstr>
      <vt:lpstr>Microsoft Yahei</vt:lpstr>
      <vt:lpstr>Microsoft Yahei</vt:lpstr>
      <vt:lpstr>Arial</vt:lpstr>
      <vt:lpstr>Calibri</vt:lpstr>
      <vt:lpstr>Cambria Math</vt:lpstr>
      <vt:lpstr>Times New Roman</vt:lpstr>
      <vt:lpstr>Wingdings</vt:lpstr>
      <vt:lpstr>Master Board</vt:lpstr>
      <vt:lpstr>Equation</vt:lpstr>
      <vt:lpstr>PowerPoint 演示文稿</vt:lpstr>
      <vt:lpstr>6. Work done by Compressed air</vt:lpstr>
      <vt:lpstr>PowerPoint 演示文稿</vt:lpstr>
      <vt:lpstr>PowerPoint 演示文稿</vt:lpstr>
      <vt:lpstr>PowerPoint 演示文稿</vt:lpstr>
      <vt:lpstr>PowerPoint 演示文稿</vt:lpstr>
      <vt:lpstr>7. Otto cycle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8. Diesel cycle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9. Brayton Cycle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10. Rankine Cycle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liu weishu</dc:creator>
  <cp:lastModifiedBy>Liu WS</cp:lastModifiedBy>
  <cp:revision>257</cp:revision>
  <cp:lastPrinted>2019-09-25T07:26:49Z</cp:lastPrinted>
  <dcterms:created xsi:type="dcterms:W3CDTF">2019-02-07T07:31:12Z</dcterms:created>
  <dcterms:modified xsi:type="dcterms:W3CDTF">2022-09-05T02:45:59Z</dcterms:modified>
</cp:coreProperties>
</file>