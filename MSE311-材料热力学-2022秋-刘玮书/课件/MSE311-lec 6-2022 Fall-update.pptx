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1"/>
  </p:sldMasterIdLst>
  <p:notesMasterIdLst>
    <p:notesMasterId r:id="rId45"/>
  </p:notesMasterIdLst>
  <p:handoutMasterIdLst>
    <p:handoutMasterId r:id="rId46"/>
  </p:handoutMasterIdLst>
  <p:sldIdLst>
    <p:sldId id="256" r:id="rId2"/>
    <p:sldId id="460" r:id="rId3"/>
    <p:sldId id="428" r:id="rId4"/>
    <p:sldId id="429" r:id="rId5"/>
    <p:sldId id="430" r:id="rId6"/>
    <p:sldId id="431" r:id="rId7"/>
    <p:sldId id="462" r:id="rId8"/>
    <p:sldId id="464" r:id="rId9"/>
    <p:sldId id="465" r:id="rId10"/>
    <p:sldId id="432" r:id="rId11"/>
    <p:sldId id="433" r:id="rId12"/>
    <p:sldId id="466" r:id="rId13"/>
    <p:sldId id="434" r:id="rId14"/>
    <p:sldId id="435" r:id="rId15"/>
    <p:sldId id="436" r:id="rId16"/>
    <p:sldId id="469" r:id="rId17"/>
    <p:sldId id="461" r:id="rId18"/>
    <p:sldId id="437" r:id="rId19"/>
    <p:sldId id="438" r:id="rId20"/>
    <p:sldId id="439" r:id="rId21"/>
    <p:sldId id="440" r:id="rId22"/>
    <p:sldId id="441" r:id="rId23"/>
    <p:sldId id="442" r:id="rId24"/>
    <p:sldId id="443" r:id="rId25"/>
    <p:sldId id="444" r:id="rId26"/>
    <p:sldId id="467" r:id="rId27"/>
    <p:sldId id="445" r:id="rId28"/>
    <p:sldId id="446" r:id="rId29"/>
    <p:sldId id="447" r:id="rId30"/>
    <p:sldId id="448" r:id="rId31"/>
    <p:sldId id="449" r:id="rId32"/>
    <p:sldId id="484" r:id="rId33"/>
    <p:sldId id="491" r:id="rId34"/>
    <p:sldId id="492" r:id="rId35"/>
    <p:sldId id="493" r:id="rId36"/>
    <p:sldId id="470" r:id="rId37"/>
    <p:sldId id="471" r:id="rId38"/>
    <p:sldId id="488" r:id="rId39"/>
    <p:sldId id="472" r:id="rId40"/>
    <p:sldId id="494" r:id="rId41"/>
    <p:sldId id="496" r:id="rId42"/>
    <p:sldId id="474" r:id="rId43"/>
    <p:sldId id="468" r:id="rId44"/>
  </p:sldIdLst>
  <p:sldSz cx="9144000" cy="6858000" type="screen4x3"/>
  <p:notesSz cx="6669088" cy="9926638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70AD47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7B8B88-221E-8246-904D-B608DCFFA277}" v="1" dt="2022-10-18T03:06:44.4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5801" autoAdjust="0"/>
  </p:normalViewPr>
  <p:slideViewPr>
    <p:cSldViewPr snapToGrid="0">
      <p:cViewPr varScale="1">
        <p:scale>
          <a:sx n="111" d="100"/>
          <a:sy n="111" d="100"/>
        </p:scale>
        <p:origin x="1680" y="2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0" d="100"/>
          <a:sy n="90" d="100"/>
        </p:scale>
        <p:origin x="375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777607" y="0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40443A-2CDA-4CE4-8471-A7409E475881}" type="datetimeFigureOut">
              <a:rPr lang="zh-CN" altLang="en-US" smtClean="0"/>
              <a:t>2022/10/18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777607" y="9428583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E6AE31-0545-45E6-91CD-2D11BA3130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34550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3A478E-90E3-4BE0-BF7B-B1AD7461FEF4}" type="datetimeFigureOut">
              <a:rPr lang="zh-CN" altLang="en-US" smtClean="0"/>
              <a:t>2022/10/18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01725" y="1241425"/>
            <a:ext cx="4465638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66909" y="4777194"/>
            <a:ext cx="533527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889938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777607" y="9428584"/>
            <a:ext cx="2889938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497359-BD37-41E1-AF95-71E7D52515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5872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DC3FE6-030B-47B0-986B-E4840661A7E4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36864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DC3FE6-030B-47B0-986B-E4840661A7E4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16477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9">
            <a:extLst>
              <a:ext uri="{FF2B5EF4-FFF2-40B4-BE49-F238E27FC236}">
                <a16:creationId xmlns:a16="http://schemas.microsoft.com/office/drawing/2014/main" id="{36484A2C-39A1-4BDC-B92B-AF52D58B0F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63" y="5035550"/>
            <a:ext cx="1143000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组合 11">
            <a:extLst>
              <a:ext uri="{FF2B5EF4-FFF2-40B4-BE49-F238E27FC236}">
                <a16:creationId xmlns:a16="http://schemas.microsoft.com/office/drawing/2014/main" id="{56818F0A-1B6A-44A9-9717-55DA1C8C1ED4}"/>
              </a:ext>
            </a:extLst>
          </p:cNvPr>
          <p:cNvGrpSpPr>
            <a:grpSpLocks/>
          </p:cNvGrpSpPr>
          <p:nvPr/>
        </p:nvGrpSpPr>
        <p:grpSpPr bwMode="auto">
          <a:xfrm>
            <a:off x="0" y="4741863"/>
            <a:ext cx="9043988" cy="142875"/>
            <a:chOff x="76199" y="1241003"/>
            <a:chExt cx="9044401" cy="144000"/>
          </a:xfrm>
        </p:grpSpPr>
        <p:sp>
          <p:nvSpPr>
            <p:cNvPr id="9" name="圆角矩形 11">
              <a:extLst>
                <a:ext uri="{FF2B5EF4-FFF2-40B4-BE49-F238E27FC236}">
                  <a16:creationId xmlns:a16="http://schemas.microsoft.com/office/drawing/2014/main" id="{2658448A-EA7B-40C8-99E5-5CDD7E4A2B5E}"/>
                </a:ext>
              </a:extLst>
            </p:cNvPr>
            <p:cNvSpPr/>
            <p:nvPr/>
          </p:nvSpPr>
          <p:spPr>
            <a:xfrm>
              <a:off x="76199" y="1241003"/>
              <a:ext cx="1487556" cy="144000"/>
            </a:xfrm>
            <a:prstGeom prst="roundRect">
              <a:avLst>
                <a:gd name="adj" fmla="val 0"/>
              </a:avLst>
            </a:prstGeom>
            <a:solidFill>
              <a:srgbClr val="C83C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0" name="圆角矩形 12">
              <a:extLst>
                <a:ext uri="{FF2B5EF4-FFF2-40B4-BE49-F238E27FC236}">
                  <a16:creationId xmlns:a16="http://schemas.microsoft.com/office/drawing/2014/main" id="{0F1BA9DE-48A6-4320-A3CB-CA0618F88CA6}"/>
                </a:ext>
              </a:extLst>
            </p:cNvPr>
            <p:cNvSpPr/>
            <p:nvPr/>
          </p:nvSpPr>
          <p:spPr>
            <a:xfrm>
              <a:off x="1630433" y="1241003"/>
              <a:ext cx="3103704" cy="144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1" name="圆角矩形 13">
              <a:extLst>
                <a:ext uri="{FF2B5EF4-FFF2-40B4-BE49-F238E27FC236}">
                  <a16:creationId xmlns:a16="http://schemas.microsoft.com/office/drawing/2014/main" id="{95532181-9B56-4565-85B0-26FAE243974A}"/>
                </a:ext>
              </a:extLst>
            </p:cNvPr>
            <p:cNvSpPr/>
            <p:nvPr/>
          </p:nvSpPr>
          <p:spPr>
            <a:xfrm>
              <a:off x="4800815" y="1241003"/>
              <a:ext cx="4319785" cy="144000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12" name="图片 18">
            <a:extLst>
              <a:ext uri="{FF2B5EF4-FFF2-40B4-BE49-F238E27FC236}">
                <a16:creationId xmlns:a16="http://schemas.microsoft.com/office/drawing/2014/main" id="{C6EF10A3-5E14-4AC4-BEC5-788C4A6AB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5035550"/>
            <a:ext cx="4313238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图片 20">
            <a:extLst>
              <a:ext uri="{FF2B5EF4-FFF2-40B4-BE49-F238E27FC236}">
                <a16:creationId xmlns:a16="http://schemas.microsoft.com/office/drawing/2014/main" id="{E5368EC2-A439-426F-9848-8912DFFAC1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325" y="5035550"/>
            <a:ext cx="3019425" cy="1436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图片 3">
            <a:extLst>
              <a:ext uri="{FF2B5EF4-FFF2-40B4-BE49-F238E27FC236}">
                <a16:creationId xmlns:a16="http://schemas.microsoft.com/office/drawing/2014/main" id="{DB79EDD7-2DA9-41B8-BF25-43496C7096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2" t="5525" r="8671" b="8884"/>
          <a:stretch/>
        </p:blipFill>
        <p:spPr bwMode="auto">
          <a:xfrm>
            <a:off x="106362" y="56707"/>
            <a:ext cx="4366401" cy="101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图片 9">
            <a:extLst>
              <a:ext uri="{FF2B5EF4-FFF2-40B4-BE49-F238E27FC236}">
                <a16:creationId xmlns:a16="http://schemas.microsoft.com/office/drawing/2014/main" id="{AAD387B1-3103-410C-8A6F-61D494AEADD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63" y="5035550"/>
            <a:ext cx="1143000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组合 11">
            <a:extLst>
              <a:ext uri="{FF2B5EF4-FFF2-40B4-BE49-F238E27FC236}">
                <a16:creationId xmlns:a16="http://schemas.microsoft.com/office/drawing/2014/main" id="{EF2F75DC-2FDE-4EE3-8E34-8BABCC7179F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4741863"/>
            <a:ext cx="9043988" cy="142875"/>
            <a:chOff x="76199" y="1241003"/>
            <a:chExt cx="9044401" cy="144000"/>
          </a:xfrm>
        </p:grpSpPr>
        <p:sp>
          <p:nvSpPr>
            <p:cNvPr id="17" name="圆角矩形 11">
              <a:extLst>
                <a:ext uri="{FF2B5EF4-FFF2-40B4-BE49-F238E27FC236}">
                  <a16:creationId xmlns:a16="http://schemas.microsoft.com/office/drawing/2014/main" id="{367FAD37-4817-483B-B455-9B9EAAFE7BD8}"/>
                </a:ext>
              </a:extLst>
            </p:cNvPr>
            <p:cNvSpPr/>
            <p:nvPr/>
          </p:nvSpPr>
          <p:spPr>
            <a:xfrm>
              <a:off x="76199" y="1241003"/>
              <a:ext cx="1487556" cy="144000"/>
            </a:xfrm>
            <a:prstGeom prst="roundRect">
              <a:avLst>
                <a:gd name="adj" fmla="val 0"/>
              </a:avLst>
            </a:prstGeom>
            <a:solidFill>
              <a:srgbClr val="C83C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8" name="圆角矩形 12">
              <a:extLst>
                <a:ext uri="{FF2B5EF4-FFF2-40B4-BE49-F238E27FC236}">
                  <a16:creationId xmlns:a16="http://schemas.microsoft.com/office/drawing/2014/main" id="{405E6F80-4ED3-42FA-B9E2-EC6BC04F1A02}"/>
                </a:ext>
              </a:extLst>
            </p:cNvPr>
            <p:cNvSpPr/>
            <p:nvPr/>
          </p:nvSpPr>
          <p:spPr>
            <a:xfrm>
              <a:off x="1630433" y="1241003"/>
              <a:ext cx="3103704" cy="144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9" name="圆角矩形 13">
              <a:extLst>
                <a:ext uri="{FF2B5EF4-FFF2-40B4-BE49-F238E27FC236}">
                  <a16:creationId xmlns:a16="http://schemas.microsoft.com/office/drawing/2014/main" id="{FFCB71A7-724E-4CF3-8659-D7FFA4994A95}"/>
                </a:ext>
              </a:extLst>
            </p:cNvPr>
            <p:cNvSpPr/>
            <p:nvPr/>
          </p:nvSpPr>
          <p:spPr>
            <a:xfrm>
              <a:off x="4800815" y="1241003"/>
              <a:ext cx="4319785" cy="144000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20" name="图片 18">
            <a:extLst>
              <a:ext uri="{FF2B5EF4-FFF2-40B4-BE49-F238E27FC236}">
                <a16:creationId xmlns:a16="http://schemas.microsoft.com/office/drawing/2014/main" id="{B230B797-9AF8-41D8-B5AB-3C485238D84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5035550"/>
            <a:ext cx="4313238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32E52780-17F0-4F25-B262-66C011AE71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325" y="5035550"/>
            <a:ext cx="3019425" cy="1436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图片 3">
            <a:extLst>
              <a:ext uri="{FF2B5EF4-FFF2-40B4-BE49-F238E27FC236}">
                <a16:creationId xmlns:a16="http://schemas.microsoft.com/office/drawing/2014/main" id="{A6617996-BF24-4585-AE38-DD4FEC22395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2" t="5525" r="8671" b="8884"/>
          <a:stretch/>
        </p:blipFill>
        <p:spPr bwMode="auto">
          <a:xfrm>
            <a:off x="106362" y="56707"/>
            <a:ext cx="4366401" cy="101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1452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23551FB5-644E-4958-A980-4C6B4A9B56E7}"/>
              </a:ext>
            </a:extLst>
          </p:cNvPr>
          <p:cNvGrpSpPr>
            <a:grpSpLocks/>
          </p:cNvGrpSpPr>
          <p:nvPr/>
        </p:nvGrpSpPr>
        <p:grpSpPr bwMode="auto">
          <a:xfrm>
            <a:off x="41722" y="6645423"/>
            <a:ext cx="9045575" cy="142875"/>
            <a:chOff x="76199" y="1241003"/>
            <a:chExt cx="9044401" cy="144000"/>
          </a:xfrm>
        </p:grpSpPr>
        <p:sp>
          <p:nvSpPr>
            <p:cNvPr id="8" name="圆角矩形 11">
              <a:extLst>
                <a:ext uri="{FF2B5EF4-FFF2-40B4-BE49-F238E27FC236}">
                  <a16:creationId xmlns:a16="http://schemas.microsoft.com/office/drawing/2014/main" id="{206B57DE-B2E2-477E-A47F-DA530482154A}"/>
                </a:ext>
              </a:extLst>
            </p:cNvPr>
            <p:cNvSpPr/>
            <p:nvPr/>
          </p:nvSpPr>
          <p:spPr>
            <a:xfrm>
              <a:off x="76199" y="1241003"/>
              <a:ext cx="1487294" cy="144000"/>
            </a:xfrm>
            <a:prstGeom prst="roundRect">
              <a:avLst>
                <a:gd name="adj" fmla="val 0"/>
              </a:avLst>
            </a:prstGeom>
            <a:solidFill>
              <a:srgbClr val="C83C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9" name="圆角矩形 12">
              <a:extLst>
                <a:ext uri="{FF2B5EF4-FFF2-40B4-BE49-F238E27FC236}">
                  <a16:creationId xmlns:a16="http://schemas.microsoft.com/office/drawing/2014/main" id="{38C3280C-D608-4B4D-8279-5808A7C72777}"/>
                </a:ext>
              </a:extLst>
            </p:cNvPr>
            <p:cNvSpPr/>
            <p:nvPr/>
          </p:nvSpPr>
          <p:spPr>
            <a:xfrm>
              <a:off x="1630159" y="1241003"/>
              <a:ext cx="3103160" cy="144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0" name="圆角矩形 13">
              <a:extLst>
                <a:ext uri="{FF2B5EF4-FFF2-40B4-BE49-F238E27FC236}">
                  <a16:creationId xmlns:a16="http://schemas.microsoft.com/office/drawing/2014/main" id="{43328620-830D-498B-AD47-8DBB81A79D3F}"/>
                </a:ext>
              </a:extLst>
            </p:cNvPr>
            <p:cNvSpPr/>
            <p:nvPr/>
          </p:nvSpPr>
          <p:spPr>
            <a:xfrm>
              <a:off x="4799986" y="1241003"/>
              <a:ext cx="4320614" cy="144000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11" name="图片 3">
            <a:extLst>
              <a:ext uri="{FF2B5EF4-FFF2-40B4-BE49-F238E27FC236}">
                <a16:creationId xmlns:a16="http://schemas.microsoft.com/office/drawing/2014/main" id="{B0C51A74-65A9-4F9C-9DAC-5C9B5FEFDC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63" y="0"/>
            <a:ext cx="776287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C46ADAA-5CE7-436F-BDC5-5BE32504D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06671" y="6174558"/>
            <a:ext cx="442918" cy="396090"/>
          </a:xfrm>
        </p:spPr>
        <p:txBody>
          <a:bodyPr/>
          <a:lstStyle/>
          <a:p>
            <a:r>
              <a:rPr lang="en-US" altLang="zh-CN"/>
              <a:t>2</a:t>
            </a:r>
            <a:endParaRPr lang="zh-CN" altLang="en-US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BE675BB-162D-4CCA-94D2-B314C0C6F64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41722" y="6645423"/>
            <a:ext cx="9045575" cy="142875"/>
            <a:chOff x="76199" y="1241003"/>
            <a:chExt cx="9044401" cy="144000"/>
          </a:xfrm>
        </p:grpSpPr>
        <p:sp>
          <p:nvSpPr>
            <p:cNvPr id="13" name="圆角矩形 11">
              <a:extLst>
                <a:ext uri="{FF2B5EF4-FFF2-40B4-BE49-F238E27FC236}">
                  <a16:creationId xmlns:a16="http://schemas.microsoft.com/office/drawing/2014/main" id="{8497BCD2-D048-4CC6-AA21-D749E9E85DCE}"/>
                </a:ext>
              </a:extLst>
            </p:cNvPr>
            <p:cNvSpPr/>
            <p:nvPr/>
          </p:nvSpPr>
          <p:spPr>
            <a:xfrm>
              <a:off x="76199" y="1241003"/>
              <a:ext cx="1487294" cy="144000"/>
            </a:xfrm>
            <a:prstGeom prst="roundRect">
              <a:avLst>
                <a:gd name="adj" fmla="val 0"/>
              </a:avLst>
            </a:prstGeom>
            <a:solidFill>
              <a:srgbClr val="C83C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4" name="圆角矩形 12">
              <a:extLst>
                <a:ext uri="{FF2B5EF4-FFF2-40B4-BE49-F238E27FC236}">
                  <a16:creationId xmlns:a16="http://schemas.microsoft.com/office/drawing/2014/main" id="{9C83145A-9A38-4389-BA55-B2DC124C7CCE}"/>
                </a:ext>
              </a:extLst>
            </p:cNvPr>
            <p:cNvSpPr/>
            <p:nvPr/>
          </p:nvSpPr>
          <p:spPr>
            <a:xfrm>
              <a:off x="1630159" y="1241003"/>
              <a:ext cx="3103160" cy="144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5" name="圆角矩形 13">
              <a:extLst>
                <a:ext uri="{FF2B5EF4-FFF2-40B4-BE49-F238E27FC236}">
                  <a16:creationId xmlns:a16="http://schemas.microsoft.com/office/drawing/2014/main" id="{5F30C916-99CD-41F6-B9F5-44A06301974D}"/>
                </a:ext>
              </a:extLst>
            </p:cNvPr>
            <p:cNvSpPr/>
            <p:nvPr/>
          </p:nvSpPr>
          <p:spPr>
            <a:xfrm>
              <a:off x="4799986" y="1241003"/>
              <a:ext cx="4320614" cy="144000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16" name="图片 3">
            <a:extLst>
              <a:ext uri="{FF2B5EF4-FFF2-40B4-BE49-F238E27FC236}">
                <a16:creationId xmlns:a16="http://schemas.microsoft.com/office/drawing/2014/main" id="{408ADF0C-ACC1-4673-9FB1-66E00A81977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63" y="0"/>
            <a:ext cx="776287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26539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0" y="6526213"/>
            <a:ext cx="67945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" name="组合 7"/>
          <p:cNvGrpSpPr>
            <a:grpSpLocks/>
          </p:cNvGrpSpPr>
          <p:nvPr userDrawn="1"/>
        </p:nvGrpSpPr>
        <p:grpSpPr bwMode="auto">
          <a:xfrm>
            <a:off x="73025" y="6643688"/>
            <a:ext cx="8150225" cy="144462"/>
            <a:chOff x="76199" y="2293938"/>
            <a:chExt cx="9043989" cy="144462"/>
          </a:xfrm>
        </p:grpSpPr>
        <p:sp>
          <p:nvSpPr>
            <p:cNvPr id="4" name="圆角矩形 3"/>
            <p:cNvSpPr/>
            <p:nvPr/>
          </p:nvSpPr>
          <p:spPr>
            <a:xfrm>
              <a:off x="76199" y="2293938"/>
              <a:ext cx="1250727" cy="144462"/>
            </a:xfrm>
            <a:prstGeom prst="roundRect">
              <a:avLst>
                <a:gd name="adj" fmla="val 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" name="圆角矩形 4"/>
            <p:cNvSpPr/>
            <p:nvPr/>
          </p:nvSpPr>
          <p:spPr>
            <a:xfrm>
              <a:off x="1415005" y="2293938"/>
              <a:ext cx="3310023" cy="144462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4800776" y="2293938"/>
              <a:ext cx="4319412" cy="144462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</p:grp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6213" y="-104775"/>
            <a:ext cx="854075" cy="94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68802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23"/>
          <p:cNvGrpSpPr>
            <a:grpSpLocks/>
          </p:cNvGrpSpPr>
          <p:nvPr userDrawn="1"/>
        </p:nvGrpSpPr>
        <p:grpSpPr bwMode="auto">
          <a:xfrm>
            <a:off x="371475" y="-190500"/>
            <a:ext cx="1230313" cy="1358900"/>
            <a:chOff x="371610" y="-231341"/>
            <a:chExt cx="1230631" cy="1358900"/>
          </a:xfrm>
        </p:grpSpPr>
        <p:sp>
          <p:nvSpPr>
            <p:cNvPr id="7" name="同侧圆角矩形 6"/>
            <p:cNvSpPr/>
            <p:nvPr/>
          </p:nvSpPr>
          <p:spPr>
            <a:xfrm flipV="1">
              <a:off x="627264" y="-36078"/>
              <a:ext cx="719323" cy="96837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EE81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465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" name="同侧圆角矩形 7"/>
            <p:cNvSpPr/>
            <p:nvPr/>
          </p:nvSpPr>
          <p:spPr>
            <a:xfrm flipV="1">
              <a:off x="627264" y="-36078"/>
              <a:ext cx="719323" cy="96837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EE81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465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pic>
          <p:nvPicPr>
            <p:cNvPr id="9" name="图片 29" descr="logo（背景透明）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1610" y="-231341"/>
              <a:ext cx="1230631" cy="1358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0" name="组合 7"/>
          <p:cNvGrpSpPr>
            <a:grpSpLocks/>
          </p:cNvGrpSpPr>
          <p:nvPr userDrawn="1"/>
        </p:nvGrpSpPr>
        <p:grpSpPr bwMode="auto">
          <a:xfrm>
            <a:off x="76200" y="2151063"/>
            <a:ext cx="9043988" cy="381000"/>
            <a:chOff x="76200" y="2151457"/>
            <a:chExt cx="9043988" cy="381000"/>
          </a:xfrm>
        </p:grpSpPr>
        <p:sp>
          <p:nvSpPr>
            <p:cNvPr id="11" name="圆角矩形 10"/>
            <p:cNvSpPr/>
            <p:nvPr/>
          </p:nvSpPr>
          <p:spPr>
            <a:xfrm>
              <a:off x="76200" y="2294332"/>
              <a:ext cx="1676400" cy="144462"/>
            </a:xfrm>
            <a:prstGeom prst="roundRect">
              <a:avLst>
                <a:gd name="adj" fmla="val 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2" name="圆角矩形 11"/>
            <p:cNvSpPr/>
            <p:nvPr/>
          </p:nvSpPr>
          <p:spPr>
            <a:xfrm>
              <a:off x="1524000" y="2294332"/>
              <a:ext cx="3200400" cy="144462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3" name="圆角矩形 12"/>
            <p:cNvSpPr/>
            <p:nvPr/>
          </p:nvSpPr>
          <p:spPr>
            <a:xfrm>
              <a:off x="4800600" y="2294332"/>
              <a:ext cx="4319588" cy="144462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4" name="圆角矩形 13"/>
            <p:cNvSpPr/>
            <p:nvPr/>
          </p:nvSpPr>
          <p:spPr>
            <a:xfrm rot="1383523">
              <a:off x="1417638" y="2151457"/>
              <a:ext cx="215900" cy="381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5" name="圆角矩形 14"/>
            <p:cNvSpPr/>
            <p:nvPr/>
          </p:nvSpPr>
          <p:spPr>
            <a:xfrm rot="1383523">
              <a:off x="4616450" y="2151457"/>
              <a:ext cx="215900" cy="381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pic>
        <p:nvPicPr>
          <p:cNvPr id="16" name="Picture 7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53" b="10274"/>
          <a:stretch>
            <a:fillRect/>
          </a:stretch>
        </p:blipFill>
        <p:spPr bwMode="auto">
          <a:xfrm>
            <a:off x="157163" y="5467350"/>
            <a:ext cx="1957387" cy="126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3"/>
          <p:cNvPicPr>
            <a:picLocks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1225" y="5478463"/>
            <a:ext cx="2124075" cy="1262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4"/>
          <p:cNvPicPr>
            <a:picLocks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4675" y="5478463"/>
            <a:ext cx="2390775" cy="1262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2"/>
          <p:cNvPicPr>
            <a:picLocks noChangeAspect="1" noChangeArrowheads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45"/>
          <a:stretch/>
        </p:blipFill>
        <p:spPr bwMode="auto">
          <a:xfrm>
            <a:off x="6846888" y="5467351"/>
            <a:ext cx="2220912" cy="1273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" name="Picture 3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7463" y="4702719"/>
            <a:ext cx="1506537" cy="844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" name="TextBox 2"/>
          <p:cNvSpPr txBox="1">
            <a:spLocks noChangeArrowheads="1"/>
          </p:cNvSpPr>
          <p:nvPr userDrawn="1"/>
        </p:nvSpPr>
        <p:spPr bwMode="auto">
          <a:xfrm>
            <a:off x="8172400" y="5165911"/>
            <a:ext cx="7810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zh-CN" sz="900" b="0" baseline="0" dirty="0">
                <a:latin typeface="黑体" panose="02010609060101010101" pitchFamily="49" charset="-122"/>
                <a:ea typeface="黑体" panose="02010609060101010101" pitchFamily="49" charset="-122"/>
              </a:rPr>
              <a:t>Since 2016</a:t>
            </a:r>
            <a:endParaRPr lang="zh-CN" altLang="en-US" sz="900" b="0" baseline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79366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6473A-FAF4-414C-9522-3C4BCFE2B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16" y="3100647"/>
            <a:ext cx="7886700" cy="867940"/>
          </a:xfrm>
        </p:spPr>
        <p:txBody>
          <a:bodyPr anchor="b"/>
          <a:lstStyle>
            <a:lvl1pPr>
              <a:defRPr sz="4500">
                <a:latin typeface="Arial Unicode MS" pitchFamily="34" charset="-122"/>
                <a:ea typeface="Arial Unicode MS" pitchFamily="34" charset="-122"/>
                <a:cs typeface="Arial Unicode MS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圆角矩形 5">
            <a:extLst>
              <a:ext uri="{FF2B5EF4-FFF2-40B4-BE49-F238E27FC236}">
                <a16:creationId xmlns:a16="http://schemas.microsoft.com/office/drawing/2014/main" id="{3BD87344-C6CA-4F87-9448-0B8B7FAF9E1B}"/>
              </a:ext>
            </a:extLst>
          </p:cNvPr>
          <p:cNvSpPr/>
          <p:nvPr userDrawn="1"/>
        </p:nvSpPr>
        <p:spPr>
          <a:xfrm>
            <a:off x="0" y="4044001"/>
            <a:ext cx="952500" cy="144000"/>
          </a:xfrm>
          <a:prstGeom prst="roundRect">
            <a:avLst>
              <a:gd name="adj" fmla="val 0"/>
            </a:avLst>
          </a:prstGeom>
          <a:solidFill>
            <a:srgbClr val="C83C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" name="圆角矩形 6">
            <a:extLst>
              <a:ext uri="{FF2B5EF4-FFF2-40B4-BE49-F238E27FC236}">
                <a16:creationId xmlns:a16="http://schemas.microsoft.com/office/drawing/2014/main" id="{6DA4B6E9-D6DC-4952-865A-DA8EE6DB8245}"/>
              </a:ext>
            </a:extLst>
          </p:cNvPr>
          <p:cNvSpPr/>
          <p:nvPr userDrawn="1"/>
        </p:nvSpPr>
        <p:spPr>
          <a:xfrm>
            <a:off x="1014116" y="4044001"/>
            <a:ext cx="3643609" cy="144002"/>
          </a:xfrm>
          <a:prstGeom prst="roundRect">
            <a:avLst>
              <a:gd name="adj" fmla="val 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" name="圆角矩形 7">
            <a:extLst>
              <a:ext uri="{FF2B5EF4-FFF2-40B4-BE49-F238E27FC236}">
                <a16:creationId xmlns:a16="http://schemas.microsoft.com/office/drawing/2014/main" id="{F7595CA0-CBC9-4927-B9FF-0B4BA5FB62ED}"/>
              </a:ext>
            </a:extLst>
          </p:cNvPr>
          <p:cNvSpPr/>
          <p:nvPr userDrawn="1"/>
        </p:nvSpPr>
        <p:spPr>
          <a:xfrm>
            <a:off x="4724400" y="4044001"/>
            <a:ext cx="4320000" cy="144000"/>
          </a:xfrm>
          <a:prstGeom prst="roundRect">
            <a:avLst>
              <a:gd name="adj" fmla="val 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0138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232448-0BA2-40E5-A2C0-FE19F5B0E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981BA7-2F47-4ADB-915A-3DEA803B6C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AE45C7A-E3DB-493E-9698-B006439AB3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CA42E52-6363-4A26-9F01-A62CE34E1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AB40-DF97-4AB0-B63B-B6C2904246EB}" type="datetimeFigureOut">
              <a:rPr lang="zh-CN" altLang="en-US" smtClean="0"/>
              <a:t>2022/10/18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65B047E-2EC3-4418-B2C1-A69A89700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C945B0-B70D-4BF6-A6CF-ED8DAA8C8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CF2-ED42-42D8-A15C-15AF5C91D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9679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E450FD-26B7-480D-8261-CD4C51DD8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464C6F2-EDC6-4263-A281-7872A6E3CF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CD5D4B2-383D-449C-8900-FB1B3EB93C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7ABC02C-F6DC-4DAF-938D-195593E621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A408A11-7060-4D85-B243-5DD9655566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DFAAD3C-B42A-47A7-B768-611AFC7BE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AB40-DF97-4AB0-B63B-B6C2904246EB}" type="datetimeFigureOut">
              <a:rPr lang="zh-CN" altLang="en-US" smtClean="0"/>
              <a:t>2022/10/18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1B5FF39-DD9B-4C57-A344-275219341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7BEA18A-253C-40CA-A957-3BA37B7A1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CF2-ED42-42D8-A15C-15AF5C91D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929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75BCCD-B3FE-4D64-9C90-CF64C82B1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1C5B8F4-1CBB-4613-A7A2-350FF2B86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AB40-DF97-4AB0-B63B-B6C2904246EB}" type="datetimeFigureOut">
              <a:rPr lang="zh-CN" altLang="en-US" smtClean="0"/>
              <a:t>2022/10/18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7B22DBA-ADB6-459C-8DDD-B1702C76D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D426E1B-8DFB-40A0-B0EA-1E9256D1B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CF2-ED42-42D8-A15C-15AF5C91D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6122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2189721-9F85-4C93-AF25-890CD11FA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AB40-DF97-4AB0-B63B-B6C2904246EB}" type="datetimeFigureOut">
              <a:rPr lang="zh-CN" altLang="en-US" smtClean="0"/>
              <a:t>2022/10/18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E57016C-A313-4228-8D34-FC5C12BCC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0EAED29-461C-427E-94B8-4F64E97E0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CF2-ED42-42D8-A15C-15AF5C91D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8515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0F51D1-5EA7-4401-99BA-1EC037C49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CF08B5-D317-4883-94CE-FAEEE05A6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86986A2-D743-430F-AA70-9B06B2C0F6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817CAD-5352-4EAF-B2E4-2B49B31E3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AB40-DF97-4AB0-B63B-B6C2904246EB}" type="datetimeFigureOut">
              <a:rPr lang="zh-CN" altLang="en-US" smtClean="0"/>
              <a:t>2022/10/18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1068CC4-251C-4854-9963-7DDB0C89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B0C261-FF00-4B26-B51E-6D72F0604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CF2-ED42-42D8-A15C-15AF5C91D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4414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CCB7F6-3B15-4872-B555-7F1565B90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BFA923F-001E-4E54-AE2E-D70CAC715E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8120E55-EACB-4D2C-973C-7AE05E5625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C155047-D836-41BF-B4EC-6E058AC14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AB40-DF97-4AB0-B63B-B6C2904246EB}" type="datetimeFigureOut">
              <a:rPr lang="zh-CN" altLang="en-US" smtClean="0"/>
              <a:t>2022/10/18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BEDD3A4-3A50-440F-A891-A798B3A6C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17A6A10-432E-4945-AF1E-64FDF90A2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CF2-ED42-42D8-A15C-15AF5C91D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48997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116CF1-CD97-4DBA-A96F-F883552B4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399B747-8D5C-4895-A7EC-E7332E48E2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7135EC-C807-4A0E-90F1-EE1D3601D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AB40-DF97-4AB0-B63B-B6C2904246EB}" type="datetimeFigureOut">
              <a:rPr lang="zh-CN" altLang="en-US" smtClean="0"/>
              <a:t>2022/10/18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D0FB47-2483-4992-8D35-B58CEC00D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555DE4-AE2F-40B7-AF19-7220940C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CF2-ED42-42D8-A15C-15AF5C91D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22206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20F266B-DA68-452A-BFC2-0DBF135171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DC26948-9D79-4503-B7E8-FB720785EE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763795-09C4-4CE3-967D-39D8EED2D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AB40-DF97-4AB0-B63B-B6C2904246EB}" type="datetimeFigureOut">
              <a:rPr lang="zh-CN" altLang="en-US" smtClean="0"/>
              <a:t>2022/10/18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92961E-4D31-4C00-8456-DA422BEC9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04869D-578E-442B-AC17-5E714BDBD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7FCF2-ED42-42D8-A15C-15AF5C91D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99983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9">
            <a:extLst>
              <a:ext uri="{FF2B5EF4-FFF2-40B4-BE49-F238E27FC236}">
                <a16:creationId xmlns:a16="http://schemas.microsoft.com/office/drawing/2014/main" id="{36484A2C-39A1-4BDC-B92B-AF52D58B0F5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63" y="5035550"/>
            <a:ext cx="1143000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组合 11">
            <a:extLst>
              <a:ext uri="{FF2B5EF4-FFF2-40B4-BE49-F238E27FC236}">
                <a16:creationId xmlns:a16="http://schemas.microsoft.com/office/drawing/2014/main" id="{56818F0A-1B6A-44A9-9717-55DA1C8C1ED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4741863"/>
            <a:ext cx="9043988" cy="142875"/>
            <a:chOff x="76199" y="1241003"/>
            <a:chExt cx="9044401" cy="144000"/>
          </a:xfrm>
        </p:grpSpPr>
        <p:sp>
          <p:nvSpPr>
            <p:cNvPr id="9" name="圆角矩形 11">
              <a:extLst>
                <a:ext uri="{FF2B5EF4-FFF2-40B4-BE49-F238E27FC236}">
                  <a16:creationId xmlns:a16="http://schemas.microsoft.com/office/drawing/2014/main" id="{2658448A-EA7B-40C8-99E5-5CDD7E4A2B5E}"/>
                </a:ext>
              </a:extLst>
            </p:cNvPr>
            <p:cNvSpPr/>
            <p:nvPr/>
          </p:nvSpPr>
          <p:spPr>
            <a:xfrm>
              <a:off x="76199" y="1241003"/>
              <a:ext cx="1487556" cy="144000"/>
            </a:xfrm>
            <a:prstGeom prst="roundRect">
              <a:avLst>
                <a:gd name="adj" fmla="val 0"/>
              </a:avLst>
            </a:prstGeom>
            <a:solidFill>
              <a:srgbClr val="C83C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0" name="圆角矩形 12">
              <a:extLst>
                <a:ext uri="{FF2B5EF4-FFF2-40B4-BE49-F238E27FC236}">
                  <a16:creationId xmlns:a16="http://schemas.microsoft.com/office/drawing/2014/main" id="{0F1BA9DE-48A6-4320-A3CB-CA0618F88CA6}"/>
                </a:ext>
              </a:extLst>
            </p:cNvPr>
            <p:cNvSpPr/>
            <p:nvPr/>
          </p:nvSpPr>
          <p:spPr>
            <a:xfrm>
              <a:off x="1630433" y="1241003"/>
              <a:ext cx="3103704" cy="144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1" name="圆角矩形 13">
              <a:extLst>
                <a:ext uri="{FF2B5EF4-FFF2-40B4-BE49-F238E27FC236}">
                  <a16:creationId xmlns:a16="http://schemas.microsoft.com/office/drawing/2014/main" id="{95532181-9B56-4565-85B0-26FAE243974A}"/>
                </a:ext>
              </a:extLst>
            </p:cNvPr>
            <p:cNvSpPr/>
            <p:nvPr/>
          </p:nvSpPr>
          <p:spPr>
            <a:xfrm>
              <a:off x="4800815" y="1241003"/>
              <a:ext cx="4319785" cy="144000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12" name="图片 18">
            <a:extLst>
              <a:ext uri="{FF2B5EF4-FFF2-40B4-BE49-F238E27FC236}">
                <a16:creationId xmlns:a16="http://schemas.microsoft.com/office/drawing/2014/main" id="{C6EF10A3-5E14-4AC4-BEC5-788C4A6ABF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5035550"/>
            <a:ext cx="4313238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图片 20">
            <a:extLst>
              <a:ext uri="{FF2B5EF4-FFF2-40B4-BE49-F238E27FC236}">
                <a16:creationId xmlns:a16="http://schemas.microsoft.com/office/drawing/2014/main" id="{E5368EC2-A439-426F-9848-8912DFFAC14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325" y="5035550"/>
            <a:ext cx="3019425" cy="1436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图片 3">
            <a:extLst>
              <a:ext uri="{FF2B5EF4-FFF2-40B4-BE49-F238E27FC236}">
                <a16:creationId xmlns:a16="http://schemas.microsoft.com/office/drawing/2014/main" id="{DB79EDD7-2DA9-41B8-BF25-43496C70960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2" t="5525" r="8671" b="8884"/>
          <a:stretch/>
        </p:blipFill>
        <p:spPr bwMode="auto">
          <a:xfrm>
            <a:off x="106362" y="56707"/>
            <a:ext cx="4366401" cy="101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621198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23551FB5-644E-4958-A980-4C6B4A9B56E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41722" y="6645423"/>
            <a:ext cx="9045575" cy="142875"/>
            <a:chOff x="76199" y="1241003"/>
            <a:chExt cx="9044401" cy="144000"/>
          </a:xfrm>
        </p:grpSpPr>
        <p:sp>
          <p:nvSpPr>
            <p:cNvPr id="8" name="圆角矩形 11">
              <a:extLst>
                <a:ext uri="{FF2B5EF4-FFF2-40B4-BE49-F238E27FC236}">
                  <a16:creationId xmlns:a16="http://schemas.microsoft.com/office/drawing/2014/main" id="{206B57DE-B2E2-477E-A47F-DA530482154A}"/>
                </a:ext>
              </a:extLst>
            </p:cNvPr>
            <p:cNvSpPr/>
            <p:nvPr/>
          </p:nvSpPr>
          <p:spPr>
            <a:xfrm>
              <a:off x="76199" y="1241003"/>
              <a:ext cx="1487294" cy="144000"/>
            </a:xfrm>
            <a:prstGeom prst="roundRect">
              <a:avLst>
                <a:gd name="adj" fmla="val 0"/>
              </a:avLst>
            </a:prstGeom>
            <a:solidFill>
              <a:srgbClr val="C83C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9" name="圆角矩形 12">
              <a:extLst>
                <a:ext uri="{FF2B5EF4-FFF2-40B4-BE49-F238E27FC236}">
                  <a16:creationId xmlns:a16="http://schemas.microsoft.com/office/drawing/2014/main" id="{38C3280C-D608-4B4D-8279-5808A7C72777}"/>
                </a:ext>
              </a:extLst>
            </p:cNvPr>
            <p:cNvSpPr/>
            <p:nvPr/>
          </p:nvSpPr>
          <p:spPr>
            <a:xfrm>
              <a:off x="1630159" y="1241003"/>
              <a:ext cx="3103160" cy="144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0" name="圆角矩形 13">
              <a:extLst>
                <a:ext uri="{FF2B5EF4-FFF2-40B4-BE49-F238E27FC236}">
                  <a16:creationId xmlns:a16="http://schemas.microsoft.com/office/drawing/2014/main" id="{43328620-830D-498B-AD47-8DBB81A79D3F}"/>
                </a:ext>
              </a:extLst>
            </p:cNvPr>
            <p:cNvSpPr/>
            <p:nvPr/>
          </p:nvSpPr>
          <p:spPr>
            <a:xfrm>
              <a:off x="4799986" y="1241003"/>
              <a:ext cx="4320614" cy="144000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11" name="图片 3">
            <a:extLst>
              <a:ext uri="{FF2B5EF4-FFF2-40B4-BE49-F238E27FC236}">
                <a16:creationId xmlns:a16="http://schemas.microsoft.com/office/drawing/2014/main" id="{B0C51A74-65A9-4F9C-9DAC-5C9B5FEFDC4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63" y="0"/>
            <a:ext cx="776287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C46ADAA-5CE7-436F-BDC5-5BE32504D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06671" y="6174558"/>
            <a:ext cx="442918" cy="396090"/>
          </a:xfrm>
        </p:spPr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475944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6454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6957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8B20F97-D093-4167-88EF-C188D3B8D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B78C6B4-EDBC-4C7B-80E2-2A36D8872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B1772D-D631-4D4E-BF62-42EF4690EB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B1AB40-DF97-4AB0-B63B-B6C2904246EB}" type="datetimeFigureOut">
              <a:rPr lang="zh-CN" altLang="en-US" smtClean="0"/>
              <a:t>2022/10/18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AFB56B-864D-497D-8AE9-5E092905F7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32445E-5DFA-480A-96AF-CCD8859EA9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F7FCF2-ED42-42D8-A15C-15AF5C91DC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2342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59" r:id="rId3"/>
    <p:sldLayoutId id="2147483760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33" r:id="rId14"/>
    <p:sldLayoutId id="2147483734" r:id="rId15"/>
    <p:sldLayoutId id="2147483757" r:id="rId16"/>
    <p:sldLayoutId id="2147483758" r:id="rId1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9.wmf"/><Relationship Id="rId4" Type="http://schemas.openxmlformats.org/officeDocument/2006/relationships/oleObject" Target="../embeddings/oleObject3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32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5.png"/><Relationship Id="rId4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13" Type="http://schemas.openxmlformats.org/officeDocument/2006/relationships/image" Target="../media/image54.png"/><Relationship Id="rId3" Type="http://schemas.openxmlformats.org/officeDocument/2006/relationships/image" Target="../media/image63.jpeg"/><Relationship Id="rId7" Type="http://schemas.openxmlformats.org/officeDocument/2006/relationships/image" Target="../media/image66.jpeg"/><Relationship Id="rId12" Type="http://schemas.openxmlformats.org/officeDocument/2006/relationships/image" Target="../media/image70.png"/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5.jpeg"/><Relationship Id="rId11" Type="http://schemas.openxmlformats.org/officeDocument/2006/relationships/image" Target="../media/image69.emf"/><Relationship Id="rId5" Type="http://schemas.openxmlformats.org/officeDocument/2006/relationships/image" Target="../media/image64.gif"/><Relationship Id="rId15" Type="http://schemas.openxmlformats.org/officeDocument/2006/relationships/image" Target="../media/image71.png"/><Relationship Id="rId10" Type="http://schemas.openxmlformats.org/officeDocument/2006/relationships/image" Target="../media/image68.emf"/><Relationship Id="rId4" Type="http://schemas.openxmlformats.org/officeDocument/2006/relationships/hyperlink" Target="http://www.nextreme.com/" TargetMode="External"/><Relationship Id="rId9" Type="http://schemas.openxmlformats.org/officeDocument/2006/relationships/image" Target="../media/image67.gif"/><Relationship Id="rId14" Type="http://schemas.openxmlformats.org/officeDocument/2006/relationships/image" Target="../media/image5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3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5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7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jpeg"/><Relationship Id="rId3" Type="http://schemas.openxmlformats.org/officeDocument/2006/relationships/image" Target="../media/image80.wmf"/><Relationship Id="rId7" Type="http://schemas.openxmlformats.org/officeDocument/2006/relationships/image" Target="../media/image82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81.wmf"/><Relationship Id="rId4" Type="http://schemas.openxmlformats.org/officeDocument/2006/relationships/oleObject" Target="../embeddings/oleObject8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7" Type="http://schemas.openxmlformats.org/officeDocument/2006/relationships/image" Target="../media/image87.wmf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86.png"/><Relationship Id="rId4" Type="http://schemas.openxmlformats.org/officeDocument/2006/relationships/image" Target="../media/image85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9.wmf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92.png"/><Relationship Id="rId4" Type="http://schemas.openxmlformats.org/officeDocument/2006/relationships/image" Target="../media/image88.wmf"/><Relationship Id="rId9" Type="http://schemas.openxmlformats.org/officeDocument/2006/relationships/image" Target="../media/image91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13" Type="http://schemas.openxmlformats.org/officeDocument/2006/relationships/image" Target="../media/image97.wmf"/><Relationship Id="rId18" Type="http://schemas.openxmlformats.org/officeDocument/2006/relationships/oleObject" Target="../embeddings/oleObject22.bin"/><Relationship Id="rId3" Type="http://schemas.openxmlformats.org/officeDocument/2006/relationships/image" Target="../media/image93.wmf"/><Relationship Id="rId7" Type="http://schemas.openxmlformats.org/officeDocument/2006/relationships/image" Target="../media/image94.wmf"/><Relationship Id="rId12" Type="http://schemas.openxmlformats.org/officeDocument/2006/relationships/oleObject" Target="../embeddings/oleObject19.bin"/><Relationship Id="rId17" Type="http://schemas.openxmlformats.org/officeDocument/2006/relationships/image" Target="../media/image99.wmf"/><Relationship Id="rId2" Type="http://schemas.openxmlformats.org/officeDocument/2006/relationships/oleObject" Target="../embeddings/oleObject15.bin"/><Relationship Id="rId16" Type="http://schemas.openxmlformats.org/officeDocument/2006/relationships/oleObject" Target="../embeddings/oleObject21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16.bin"/><Relationship Id="rId11" Type="http://schemas.openxmlformats.org/officeDocument/2006/relationships/image" Target="../media/image96.wmf"/><Relationship Id="rId5" Type="http://schemas.openxmlformats.org/officeDocument/2006/relationships/image" Target="../media/image92.png"/><Relationship Id="rId15" Type="http://schemas.openxmlformats.org/officeDocument/2006/relationships/image" Target="../media/image98.wmf"/><Relationship Id="rId10" Type="http://schemas.openxmlformats.org/officeDocument/2006/relationships/oleObject" Target="../embeddings/oleObject18.bin"/><Relationship Id="rId19" Type="http://schemas.openxmlformats.org/officeDocument/2006/relationships/image" Target="../media/image100.wmf"/><Relationship Id="rId4" Type="http://schemas.openxmlformats.org/officeDocument/2006/relationships/image" Target="../media/image91.png"/><Relationship Id="rId9" Type="http://schemas.openxmlformats.org/officeDocument/2006/relationships/image" Target="../media/image95.wmf"/><Relationship Id="rId14" Type="http://schemas.openxmlformats.org/officeDocument/2006/relationships/oleObject" Target="../embeddings/oleObject20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13" Type="http://schemas.openxmlformats.org/officeDocument/2006/relationships/image" Target="../media/image106.wmf"/><Relationship Id="rId18" Type="http://schemas.openxmlformats.org/officeDocument/2006/relationships/oleObject" Target="../embeddings/oleObject31.bin"/><Relationship Id="rId3" Type="http://schemas.openxmlformats.org/officeDocument/2006/relationships/image" Target="../media/image101.wmf"/><Relationship Id="rId21" Type="http://schemas.openxmlformats.org/officeDocument/2006/relationships/image" Target="../media/image110.wmf"/><Relationship Id="rId7" Type="http://schemas.openxmlformats.org/officeDocument/2006/relationships/image" Target="../media/image103.wmf"/><Relationship Id="rId12" Type="http://schemas.openxmlformats.org/officeDocument/2006/relationships/oleObject" Target="../embeddings/oleObject28.bin"/><Relationship Id="rId17" Type="http://schemas.openxmlformats.org/officeDocument/2006/relationships/image" Target="../media/image108.wmf"/><Relationship Id="rId2" Type="http://schemas.openxmlformats.org/officeDocument/2006/relationships/oleObject" Target="../embeddings/oleObject23.bin"/><Relationship Id="rId16" Type="http://schemas.openxmlformats.org/officeDocument/2006/relationships/oleObject" Target="../embeddings/oleObject30.bin"/><Relationship Id="rId20" Type="http://schemas.openxmlformats.org/officeDocument/2006/relationships/oleObject" Target="../embeddings/oleObject32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25.bin"/><Relationship Id="rId11" Type="http://schemas.openxmlformats.org/officeDocument/2006/relationships/image" Target="../media/image105.wmf"/><Relationship Id="rId5" Type="http://schemas.openxmlformats.org/officeDocument/2006/relationships/image" Target="../media/image102.wmf"/><Relationship Id="rId15" Type="http://schemas.openxmlformats.org/officeDocument/2006/relationships/image" Target="../media/image107.wmf"/><Relationship Id="rId23" Type="http://schemas.openxmlformats.org/officeDocument/2006/relationships/image" Target="../media/image111.wmf"/><Relationship Id="rId10" Type="http://schemas.openxmlformats.org/officeDocument/2006/relationships/oleObject" Target="../embeddings/oleObject27.bin"/><Relationship Id="rId19" Type="http://schemas.openxmlformats.org/officeDocument/2006/relationships/image" Target="../media/image109.wmf"/><Relationship Id="rId4" Type="http://schemas.openxmlformats.org/officeDocument/2006/relationships/oleObject" Target="../embeddings/oleObject24.bin"/><Relationship Id="rId9" Type="http://schemas.openxmlformats.org/officeDocument/2006/relationships/image" Target="../media/image104.wmf"/><Relationship Id="rId14" Type="http://schemas.openxmlformats.org/officeDocument/2006/relationships/oleObject" Target="../embeddings/oleObject29.bin"/><Relationship Id="rId22" Type="http://schemas.openxmlformats.org/officeDocument/2006/relationships/oleObject" Target="../embeddings/oleObject33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.bin"/><Relationship Id="rId13" Type="http://schemas.openxmlformats.org/officeDocument/2006/relationships/image" Target="../media/image116.wmf"/><Relationship Id="rId3" Type="http://schemas.openxmlformats.org/officeDocument/2006/relationships/image" Target="../media/image92.png"/><Relationship Id="rId7" Type="http://schemas.openxmlformats.org/officeDocument/2006/relationships/image" Target="../media/image113.wmf"/><Relationship Id="rId12" Type="http://schemas.openxmlformats.org/officeDocument/2006/relationships/oleObject" Target="../embeddings/oleObject38.bin"/><Relationship Id="rId17" Type="http://schemas.openxmlformats.org/officeDocument/2006/relationships/image" Target="../media/image118.wmf"/><Relationship Id="rId2" Type="http://schemas.openxmlformats.org/officeDocument/2006/relationships/image" Target="../media/image91.png"/><Relationship Id="rId16" Type="http://schemas.openxmlformats.org/officeDocument/2006/relationships/oleObject" Target="../embeddings/oleObject40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35.bin"/><Relationship Id="rId11" Type="http://schemas.openxmlformats.org/officeDocument/2006/relationships/image" Target="../media/image115.wmf"/><Relationship Id="rId5" Type="http://schemas.openxmlformats.org/officeDocument/2006/relationships/image" Target="../media/image112.wmf"/><Relationship Id="rId15" Type="http://schemas.openxmlformats.org/officeDocument/2006/relationships/image" Target="../media/image117.wmf"/><Relationship Id="rId10" Type="http://schemas.openxmlformats.org/officeDocument/2006/relationships/oleObject" Target="../embeddings/oleObject37.bin"/><Relationship Id="rId4" Type="http://schemas.openxmlformats.org/officeDocument/2006/relationships/oleObject" Target="../embeddings/oleObject34.bin"/><Relationship Id="rId9" Type="http://schemas.openxmlformats.org/officeDocument/2006/relationships/image" Target="../media/image114.wmf"/><Relationship Id="rId14" Type="http://schemas.openxmlformats.org/officeDocument/2006/relationships/oleObject" Target="../embeddings/oleObject39.bin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wmf"/><Relationship Id="rId3" Type="http://schemas.openxmlformats.org/officeDocument/2006/relationships/image" Target="../media/image120.emf"/><Relationship Id="rId7" Type="http://schemas.openxmlformats.org/officeDocument/2006/relationships/oleObject" Target="../embeddings/oleObject42.bin"/><Relationship Id="rId2" Type="http://schemas.openxmlformats.org/officeDocument/2006/relationships/image" Target="../media/image119.e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4.wmf"/><Relationship Id="rId11" Type="http://schemas.openxmlformats.org/officeDocument/2006/relationships/image" Target="../media/image122.png"/><Relationship Id="rId5" Type="http://schemas.openxmlformats.org/officeDocument/2006/relationships/oleObject" Target="../embeddings/oleObject41.bin"/><Relationship Id="rId10" Type="http://schemas.openxmlformats.org/officeDocument/2006/relationships/image" Target="../media/image96.wmf"/><Relationship Id="rId4" Type="http://schemas.openxmlformats.org/officeDocument/2006/relationships/image" Target="../media/image121.emf"/><Relationship Id="rId9" Type="http://schemas.openxmlformats.org/officeDocument/2006/relationships/oleObject" Target="../embeddings/oleObject43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80.png"/><Relationship Id="rId11" Type="http://schemas.openxmlformats.org/officeDocument/2006/relationships/image" Target="../media/image83.png"/><Relationship Id="rId5" Type="http://schemas.openxmlformats.org/officeDocument/2006/relationships/image" Target="../media/image770.png"/><Relationship Id="rId10" Type="http://schemas.openxmlformats.org/officeDocument/2006/relationships/image" Target="../media/image82.png"/><Relationship Id="rId4" Type="http://schemas.openxmlformats.org/officeDocument/2006/relationships/image" Target="../media/image760.png"/><Relationship Id="rId9" Type="http://schemas.openxmlformats.org/officeDocument/2006/relationships/image" Target="../media/image81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png"/><Relationship Id="rId3" Type="http://schemas.openxmlformats.org/officeDocument/2006/relationships/image" Target="../media/image161.png"/><Relationship Id="rId7" Type="http://schemas.openxmlformats.org/officeDocument/2006/relationships/image" Target="../media/image165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4.png"/><Relationship Id="rId5" Type="http://schemas.openxmlformats.org/officeDocument/2006/relationships/image" Target="../media/image163.png"/><Relationship Id="rId4" Type="http://schemas.openxmlformats.org/officeDocument/2006/relationships/image" Target="../media/image162.png"/><Relationship Id="rId9" Type="http://schemas.openxmlformats.org/officeDocument/2006/relationships/image" Target="../media/image167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png"/><Relationship Id="rId13" Type="http://schemas.openxmlformats.org/officeDocument/2006/relationships/image" Target="../media/image88.png"/><Relationship Id="rId3" Type="http://schemas.openxmlformats.org/officeDocument/2006/relationships/image" Target="../media/image168.png"/><Relationship Id="rId7" Type="http://schemas.openxmlformats.org/officeDocument/2006/relationships/image" Target="../media/image172.png"/><Relationship Id="rId12" Type="http://schemas.openxmlformats.org/officeDocument/2006/relationships/image" Target="../media/image87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1.png"/><Relationship Id="rId11" Type="http://schemas.openxmlformats.org/officeDocument/2006/relationships/image" Target="../media/image860.png"/><Relationship Id="rId5" Type="http://schemas.openxmlformats.org/officeDocument/2006/relationships/image" Target="../media/image170.png"/><Relationship Id="rId15" Type="http://schemas.openxmlformats.org/officeDocument/2006/relationships/image" Target="../media/image90.png"/><Relationship Id="rId10" Type="http://schemas.openxmlformats.org/officeDocument/2006/relationships/image" Target="../media/image85.png"/><Relationship Id="rId4" Type="http://schemas.openxmlformats.org/officeDocument/2006/relationships/image" Target="../media/image169.png"/><Relationship Id="rId9" Type="http://schemas.openxmlformats.org/officeDocument/2006/relationships/image" Target="../media/image840.png"/><Relationship Id="rId14" Type="http://schemas.openxmlformats.org/officeDocument/2006/relationships/image" Target="../media/image89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png"/><Relationship Id="rId3" Type="http://schemas.openxmlformats.org/officeDocument/2006/relationships/image" Target="../media/image182.png"/><Relationship Id="rId7" Type="http://schemas.openxmlformats.org/officeDocument/2006/relationships/image" Target="../media/image186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5.png"/><Relationship Id="rId5" Type="http://schemas.openxmlformats.org/officeDocument/2006/relationships/image" Target="../media/image184.png"/><Relationship Id="rId10" Type="http://schemas.openxmlformats.org/officeDocument/2006/relationships/image" Target="../media/image189.png"/><Relationship Id="rId4" Type="http://schemas.openxmlformats.org/officeDocument/2006/relationships/image" Target="../media/image183.png"/><Relationship Id="rId9" Type="http://schemas.openxmlformats.org/officeDocument/2006/relationships/image" Target="../media/image125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png"/><Relationship Id="rId3" Type="http://schemas.openxmlformats.org/officeDocument/2006/relationships/image" Target="../media/image126.emf"/><Relationship Id="rId7" Type="http://schemas.openxmlformats.org/officeDocument/2006/relationships/image" Target="../media/image193.png"/><Relationship Id="rId2" Type="http://schemas.openxmlformats.org/officeDocument/2006/relationships/oleObject" Target="../embeddings/oleObject44.bin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4.png"/><Relationship Id="rId5" Type="http://schemas.openxmlformats.org/officeDocument/2006/relationships/image" Target="../media/image191.png"/><Relationship Id="rId10" Type="http://schemas.openxmlformats.org/officeDocument/2006/relationships/image" Target="../media/image95.png"/><Relationship Id="rId9" Type="http://schemas.openxmlformats.org/officeDocument/2006/relationships/image" Target="../media/image195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97.png"/><Relationship Id="rId7" Type="http://schemas.openxmlformats.org/officeDocument/2006/relationships/image" Target="../media/image101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0.png"/><Relationship Id="rId11" Type="http://schemas.openxmlformats.org/officeDocument/2006/relationships/image" Target="../media/image105.png"/><Relationship Id="rId5" Type="http://schemas.openxmlformats.org/officeDocument/2006/relationships/image" Target="../media/image99.png"/><Relationship Id="rId10" Type="http://schemas.openxmlformats.org/officeDocument/2006/relationships/image" Target="../media/image104.png"/><Relationship Id="rId4" Type="http://schemas.openxmlformats.org/officeDocument/2006/relationships/image" Target="../media/image98.png"/><Relationship Id="rId9" Type="http://schemas.openxmlformats.org/officeDocument/2006/relationships/image" Target="../media/image103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3" Type="http://schemas.openxmlformats.org/officeDocument/2006/relationships/image" Target="../media/image106.png"/><Relationship Id="rId7" Type="http://schemas.openxmlformats.org/officeDocument/2006/relationships/image" Target="../media/image110.png"/><Relationship Id="rId2" Type="http://schemas.openxmlformats.org/officeDocument/2006/relationships/image" Target="../media/image105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10" Type="http://schemas.openxmlformats.org/officeDocument/2006/relationships/image" Target="../media/image113.png"/><Relationship Id="rId4" Type="http://schemas.openxmlformats.org/officeDocument/2006/relationships/image" Target="../media/image107.png"/><Relationship Id="rId9" Type="http://schemas.openxmlformats.org/officeDocument/2006/relationships/image" Target="../media/image112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3" Type="http://schemas.openxmlformats.org/officeDocument/2006/relationships/image" Target="../media/image115.png"/><Relationship Id="rId7" Type="http://schemas.openxmlformats.org/officeDocument/2006/relationships/image" Target="../media/image210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6.png"/><Relationship Id="rId5" Type="http://schemas.openxmlformats.org/officeDocument/2006/relationships/image" Target="../media/image208.png"/><Relationship Id="rId4" Type="http://schemas.openxmlformats.org/officeDocument/2006/relationships/image" Target="../media/image207.png"/><Relationship Id="rId9" Type="http://schemas.openxmlformats.org/officeDocument/2006/relationships/image" Target="../media/image11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wmf"/><Relationship Id="rId7" Type="http://schemas.openxmlformats.org/officeDocument/2006/relationships/image" Target="../media/image115.wmf"/><Relationship Id="rId2" Type="http://schemas.openxmlformats.org/officeDocument/2006/relationships/oleObject" Target="../embeddings/oleObject45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47.bin"/><Relationship Id="rId5" Type="http://schemas.openxmlformats.org/officeDocument/2006/relationships/image" Target="../media/image114.wmf"/><Relationship Id="rId4" Type="http://schemas.openxmlformats.org/officeDocument/2006/relationships/oleObject" Target="../embeddings/oleObject4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AA9D0B63-D9C1-4432-AF96-2EA7E99C0383}"/>
              </a:ext>
            </a:extLst>
          </p:cNvPr>
          <p:cNvSpPr txBox="1">
            <a:spLocks/>
          </p:cNvSpPr>
          <p:nvPr/>
        </p:nvSpPr>
        <p:spPr>
          <a:xfrm>
            <a:off x="1279047" y="2676721"/>
            <a:ext cx="7433153" cy="20221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 b="1" dirty="0" err="1">
                <a:solidFill>
                  <a:srgbClr val="0000FF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Weishu</a:t>
            </a:r>
            <a:r>
              <a:rPr lang="en-US" sz="2800" b="1" dirty="0">
                <a:solidFill>
                  <a:srgbClr val="0000FF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</a:t>
            </a:r>
            <a:r>
              <a:rPr lang="en-US" altLang="zh-CN" sz="2800" b="1" dirty="0">
                <a:solidFill>
                  <a:srgbClr val="0000FF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L</a:t>
            </a:r>
            <a:r>
              <a:rPr lang="en-US" sz="2800" b="1" dirty="0">
                <a:solidFill>
                  <a:srgbClr val="0000FF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iu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Department of Materials Science and Engineering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Southern University of Science and Technology (</a:t>
            </a:r>
            <a:r>
              <a:rPr lang="en-US" sz="1800" dirty="0" err="1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SUSTec</a:t>
            </a:r>
            <a:r>
              <a:rPr lang="en-US" altLang="zh-CN" sz="1800" dirty="0" err="1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h</a:t>
            </a:r>
            <a:r>
              <a:rPr lang="en-US" sz="1800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Email: </a:t>
            </a:r>
            <a:r>
              <a:rPr lang="en-US" sz="1800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liuws@sustech.edu.cn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Office: </a:t>
            </a:r>
            <a:r>
              <a:rPr lang="en-US" sz="1800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North Tower#, Rm310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01B1E1D-7C41-4F56-BF1E-96200593BAF0}"/>
              </a:ext>
            </a:extLst>
          </p:cNvPr>
          <p:cNvSpPr txBox="1"/>
          <p:nvPr/>
        </p:nvSpPr>
        <p:spPr>
          <a:xfrm>
            <a:off x="1279047" y="1486573"/>
            <a:ext cx="47163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Lecture 6 Heat Engine II </a:t>
            </a:r>
            <a:endParaRPr lang="zh-CN" altLang="en-US" sz="3200" dirty="0">
              <a:solidFill>
                <a:srgbClr val="FF0000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524000" y="129808"/>
            <a:ext cx="7460256" cy="5232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i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MSE 311: Thermodynamics  of Materials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49" t="32802" r="17069" b="36756"/>
          <a:stretch/>
        </p:blipFill>
        <p:spPr>
          <a:xfrm>
            <a:off x="152400" y="4724400"/>
            <a:ext cx="2333297" cy="734346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FA87F052-72D7-A492-799C-A9505340AEB8}"/>
              </a:ext>
            </a:extLst>
          </p:cNvPr>
          <p:cNvSpPr txBox="1"/>
          <p:nvPr/>
        </p:nvSpPr>
        <p:spPr>
          <a:xfrm>
            <a:off x="152400" y="1931276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2022 Fall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06106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11. 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Refrigeration Cycles</a:t>
            </a:r>
            <a:endParaRPr lang="en-US" altLang="zh-CN" sz="2800" dirty="0">
              <a:solidFill>
                <a:srgbClr val="FF000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61207" y="4347406"/>
            <a:ext cx="70562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</a:rPr>
              <a:t>Ref. Thermodynamics: A Engineering approach, Chapter 10</a:t>
            </a:r>
            <a:r>
              <a:rPr lang="zh-CN" altLang="en-US" b="1" dirty="0">
                <a:solidFill>
                  <a:srgbClr val="0000FF"/>
                </a:solidFill>
              </a:rPr>
              <a:t> </a:t>
            </a:r>
            <a:endParaRPr lang="zh-CN" alt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5210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 descr="æçå½æ¯ç©ºè°ç»ç çå¾åç»æ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471427"/>
            <a:ext cx="2971798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94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8993" y="1600200"/>
            <a:ext cx="3537613" cy="4714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 bwMode="auto">
          <a:xfrm>
            <a:off x="1334521" y="244679"/>
            <a:ext cx="7608943" cy="595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Refrigeration and our life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39262" y="5243172"/>
            <a:ext cx="4557786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My life is given by the air-conditioning !!!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175336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 bwMode="auto">
          <a:xfrm>
            <a:off x="1265958" y="-11991"/>
            <a:ext cx="6931025" cy="1273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Refrigerator </a:t>
            </a:r>
          </a:p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and air conditioning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AutoShape 2" descr="Image result for refrigerato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573" y="3628430"/>
            <a:ext cx="2971800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3810000" y="1447800"/>
            <a:ext cx="921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History </a:t>
            </a:r>
            <a:endParaRPr lang="zh-CN" altLang="en-US" b="1" dirty="0"/>
          </a:p>
        </p:txBody>
      </p:sp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806476"/>
            <a:ext cx="1414971" cy="1510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矩形 9"/>
          <p:cNvSpPr/>
          <p:nvPr/>
        </p:nvSpPr>
        <p:spPr>
          <a:xfrm>
            <a:off x="3657600" y="1806476"/>
            <a:ext cx="518468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</a:rPr>
              <a:t>1834: </a:t>
            </a:r>
            <a:r>
              <a:rPr lang="en-US" altLang="zh-CN" dirty="0"/>
              <a:t> Jacob Perkins obtained the first patent for a vapor-compression refrigeration system.</a:t>
            </a:r>
          </a:p>
          <a:p>
            <a:r>
              <a:rPr lang="en-US" altLang="zh-CN" dirty="0">
                <a:solidFill>
                  <a:srgbClr val="0000FF"/>
                </a:solidFill>
              </a:rPr>
              <a:t>1850:  </a:t>
            </a:r>
            <a:r>
              <a:rPr lang="en-US" altLang="zh-CN" dirty="0"/>
              <a:t>Alexander Twining, design and build vapor-compression ice machine. </a:t>
            </a:r>
          </a:p>
          <a:p>
            <a:r>
              <a:rPr lang="en-US" altLang="zh-CN" dirty="0">
                <a:solidFill>
                  <a:srgbClr val="0000FF"/>
                </a:solidFill>
              </a:rPr>
              <a:t>1890s: </a:t>
            </a:r>
            <a:r>
              <a:rPr lang="en-US" altLang="zh-CN" dirty="0"/>
              <a:t>refrigeration system began to appear in households</a:t>
            </a:r>
          </a:p>
          <a:p>
            <a:r>
              <a:rPr lang="en-US" altLang="zh-CN" dirty="0"/>
              <a:t> </a:t>
            </a:r>
            <a:r>
              <a:rPr lang="en-US" altLang="zh-CN" dirty="0">
                <a:solidFill>
                  <a:srgbClr val="0000FF"/>
                </a:solidFill>
              </a:rPr>
              <a:t>1930s: </a:t>
            </a:r>
            <a:r>
              <a:rPr lang="en-US" altLang="zh-CN" dirty="0"/>
              <a:t>the vapor-compression refrigeration system become efficient, reliable, small, and inexpensive.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4224635"/>
            <a:ext cx="36833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</a:rPr>
              <a:t>The first refrigerator Made-in China</a:t>
            </a:r>
            <a:r>
              <a:rPr lang="en-US" altLang="zh-CN" dirty="0">
                <a:solidFill>
                  <a:srgbClr val="0000FF"/>
                </a:solidFill>
              </a:rPr>
              <a:t>: </a:t>
            </a:r>
          </a:p>
          <a:p>
            <a:r>
              <a:rPr lang="en-US" altLang="zh-CN" dirty="0"/>
              <a:t>1955</a:t>
            </a:r>
            <a:r>
              <a:rPr lang="zh-CN" altLang="en-US" dirty="0"/>
              <a:t>：天津医疗器械厂试制</a:t>
            </a:r>
            <a:endParaRPr lang="en-US" altLang="zh-CN" dirty="0"/>
          </a:p>
          <a:p>
            <a:r>
              <a:rPr lang="en-US" altLang="zh-CN" dirty="0"/>
              <a:t>1956: “</a:t>
            </a:r>
            <a:r>
              <a:rPr lang="zh-CN" altLang="en-US" dirty="0"/>
              <a:t>雪花</a:t>
            </a:r>
            <a:r>
              <a:rPr lang="en-US" altLang="zh-CN" dirty="0"/>
              <a:t>”</a:t>
            </a:r>
            <a:r>
              <a:rPr lang="zh-CN" altLang="en-US" dirty="0"/>
              <a:t>冰箱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3910" y="5257800"/>
            <a:ext cx="541205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</a:rPr>
              <a:t>The first air-conditioning Made-in China: </a:t>
            </a:r>
          </a:p>
          <a:p>
            <a:r>
              <a:rPr lang="en-US" altLang="zh-CN" dirty="0"/>
              <a:t>1974</a:t>
            </a:r>
            <a:r>
              <a:rPr lang="zh-CN" altLang="en-US" dirty="0"/>
              <a:t>：</a:t>
            </a:r>
            <a:r>
              <a:rPr lang="zh-CN" altLang="en-US" sz="1600" dirty="0"/>
              <a:t>泰州市无线电元件九厂（春兰）， </a:t>
            </a:r>
            <a:r>
              <a:rPr lang="en-US" altLang="zh-CN" sz="1600" dirty="0"/>
              <a:t>“</a:t>
            </a:r>
            <a:r>
              <a:rPr lang="zh-CN" altLang="en-US" sz="1600" dirty="0"/>
              <a:t>雪松</a:t>
            </a:r>
            <a:r>
              <a:rPr lang="en-US" altLang="zh-CN" sz="1600" dirty="0"/>
              <a:t>”</a:t>
            </a:r>
            <a:r>
              <a:rPr lang="zh-CN" altLang="en-US" sz="1600" dirty="0"/>
              <a:t>窗式空调</a:t>
            </a:r>
            <a:endParaRPr lang="en-US" altLang="zh-CN" sz="1600" dirty="0"/>
          </a:p>
          <a:p>
            <a:r>
              <a:rPr lang="en-US" altLang="zh-CN" dirty="0"/>
              <a:t>1988: </a:t>
            </a:r>
            <a:r>
              <a:rPr lang="zh-CN" altLang="en-US" sz="1600" dirty="0"/>
              <a:t>华宝空调器厂</a:t>
            </a:r>
            <a:r>
              <a:rPr lang="en-US" altLang="zh-CN" sz="1600" dirty="0"/>
              <a:t>, “</a:t>
            </a:r>
            <a:r>
              <a:rPr lang="zh-CN" altLang="en-US" sz="1600" dirty="0"/>
              <a:t>雪莲</a:t>
            </a:r>
            <a:r>
              <a:rPr lang="en-US" altLang="zh-CN" sz="1600" dirty="0"/>
              <a:t>”</a:t>
            </a:r>
            <a:r>
              <a:rPr lang="zh-CN" altLang="en-US" sz="1600" dirty="0"/>
              <a:t>分离式空调</a:t>
            </a:r>
          </a:p>
        </p:txBody>
      </p:sp>
      <p:pic>
        <p:nvPicPr>
          <p:cNvPr id="40963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573" y="1817132"/>
            <a:ext cx="1642281" cy="1642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17775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90799"/>
            <a:ext cx="4762500" cy="178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9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1480198"/>
            <a:ext cx="3633788" cy="4672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itle 1"/>
          <p:cNvSpPr txBox="1">
            <a:spLocks/>
          </p:cNvSpPr>
          <p:nvPr/>
        </p:nvSpPr>
        <p:spPr bwMode="auto">
          <a:xfrm>
            <a:off x="1296987" y="20858"/>
            <a:ext cx="6931025" cy="1273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Refrigerator </a:t>
            </a:r>
          </a:p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and air conditioning in China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1990" name="Picture 6" descr="C:\Users\Administrator.SUSTC-609071422\Desktop\Gree_logo_2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39" y="1600201"/>
            <a:ext cx="4022187" cy="713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991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7672" y="4793191"/>
            <a:ext cx="2071304" cy="1359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25720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84215" y="407920"/>
            <a:ext cx="441915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b="1" dirty="0"/>
              <a:t>Bangladeshi air cooler</a:t>
            </a:r>
            <a:endParaRPr lang="zh-CN" altLang="en-US" sz="3600" dirty="0"/>
          </a:p>
        </p:txBody>
      </p:sp>
      <p:pic>
        <p:nvPicPr>
          <p:cNvPr id="3074" name="Picture 2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21" y="1447800"/>
            <a:ext cx="4343121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1447800"/>
            <a:ext cx="4605867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14827" y="5328169"/>
            <a:ext cx="78266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Adiabatic expansion </a:t>
            </a:r>
            <a:r>
              <a:rPr lang="en-US" altLang="zh-CN" sz="2000" b="1" dirty="0">
                <a:sym typeface="Wingdings" panose="05000000000000000000" pitchFamily="2" charset="2"/>
              </a:rPr>
              <a:t> internal energy reduced reduced temperature</a:t>
            </a:r>
            <a:endParaRPr lang="zh-CN" altLang="en-US" sz="20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6493079" y="4126468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throttling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30302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57532" y="69011"/>
            <a:ext cx="41336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Nozzles and Throttling valve 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pic>
        <p:nvPicPr>
          <p:cNvPr id="79876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38"/>
          <a:stretch/>
        </p:blipFill>
        <p:spPr bwMode="auto">
          <a:xfrm>
            <a:off x="890004" y="2644741"/>
            <a:ext cx="6076950" cy="35858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952366" y="611296"/>
            <a:ext cx="4455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Energy balance of the steady-flow system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9238771"/>
              </p:ext>
            </p:extLst>
          </p:nvPr>
        </p:nvGraphicFramePr>
        <p:xfrm>
          <a:off x="1028567" y="1132392"/>
          <a:ext cx="6075363" cy="1109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025880" imgH="736560" progId="Equation.DSMT4">
                  <p:embed/>
                </p:oleObj>
              </mc:Choice>
              <mc:Fallback>
                <p:oleObj name="Equation" r:id="rId3" imgW="4025880" imgH="736560" progId="Equation.DSMT4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8567" y="1132392"/>
                        <a:ext cx="6075363" cy="1109663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93574" y="4317143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Enthalpy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952366" y="5938910"/>
            <a:ext cx="6960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Internal</a:t>
            </a:r>
          </a:p>
          <a:p>
            <a:r>
              <a:rPr lang="en-US" altLang="zh-CN" sz="1200" dirty="0"/>
              <a:t>energy</a:t>
            </a:r>
            <a:endParaRPr lang="zh-CN" altLang="en-US" sz="1200" dirty="0"/>
          </a:p>
        </p:txBody>
      </p:sp>
      <p:sp>
        <p:nvSpPr>
          <p:cNvPr id="11" name="TextBox 10"/>
          <p:cNvSpPr txBox="1"/>
          <p:nvPr/>
        </p:nvSpPr>
        <p:spPr>
          <a:xfrm>
            <a:off x="1800790" y="5938909"/>
            <a:ext cx="6527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Flow</a:t>
            </a:r>
          </a:p>
          <a:p>
            <a:r>
              <a:rPr lang="en-US" altLang="zh-CN" sz="1200" dirty="0"/>
              <a:t>energy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261479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3026" y="77638"/>
            <a:ext cx="31398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Joule-Thomson effect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9946" y="746033"/>
            <a:ext cx="79966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The temperature change of a real gas or liquid (as differentiated from an ideal gas) when it is forced through a valve or porous plug while keeping it insulated so that no heat is exchanged with the environment.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4851283"/>
              </p:ext>
            </p:extLst>
          </p:nvPr>
        </p:nvGraphicFramePr>
        <p:xfrm>
          <a:off x="652463" y="1968500"/>
          <a:ext cx="1489075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60240" imgH="431640" progId="Equation.DSMT4">
                  <p:embed/>
                </p:oleObj>
              </mc:Choice>
              <mc:Fallback>
                <p:oleObj name="Equation" r:id="rId2" imgW="660240" imgH="431640" progId="Equation.DSMT4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463" y="1968500"/>
                        <a:ext cx="1489075" cy="97313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77706" y="2260420"/>
            <a:ext cx="476604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altLang="zh-CN" dirty="0"/>
              <a:t>μ</a:t>
            </a:r>
            <a:r>
              <a:rPr lang="en-US" altLang="zh-CN" baseline="-25000" dirty="0"/>
              <a:t>J </a:t>
            </a:r>
            <a:r>
              <a:rPr lang="en-US" altLang="zh-CN" dirty="0"/>
              <a:t> &gt;0 temperature decrease after throttling </a:t>
            </a:r>
          </a:p>
          <a:p>
            <a:r>
              <a:rPr lang="el-GR" altLang="zh-CN" dirty="0"/>
              <a:t>μ</a:t>
            </a:r>
            <a:r>
              <a:rPr lang="en-US" altLang="zh-CN" baseline="-25000" dirty="0"/>
              <a:t>J </a:t>
            </a:r>
            <a:r>
              <a:rPr lang="en-US" altLang="zh-CN" dirty="0"/>
              <a:t> =0 temperature no-change after throttling </a:t>
            </a:r>
          </a:p>
          <a:p>
            <a:r>
              <a:rPr lang="el-GR" altLang="zh-CN" dirty="0"/>
              <a:t>μ</a:t>
            </a:r>
            <a:r>
              <a:rPr lang="en-US" altLang="zh-CN" baseline="-25000" dirty="0"/>
              <a:t>J </a:t>
            </a:r>
            <a:r>
              <a:rPr lang="en-US" altLang="zh-CN" dirty="0"/>
              <a:t> &lt;0 temperature increase after throttling 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8444125"/>
              </p:ext>
            </p:extLst>
          </p:nvPr>
        </p:nvGraphicFramePr>
        <p:xfrm>
          <a:off x="766013" y="4001040"/>
          <a:ext cx="4983163" cy="188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09680" imgH="838080" progId="Equation.DSMT4">
                  <p:embed/>
                </p:oleObj>
              </mc:Choice>
              <mc:Fallback>
                <p:oleObj name="Equation" r:id="rId4" imgW="2209680" imgH="838080" progId="Equation.DSMT4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013" y="4001040"/>
                        <a:ext cx="4983163" cy="188912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25260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7968" y="1000663"/>
            <a:ext cx="72030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At 25 </a:t>
            </a:r>
            <a:r>
              <a:rPr lang="en-US" altLang="zh-CN" baseline="30000" dirty="0" err="1"/>
              <a:t>o</a:t>
            </a:r>
            <a:r>
              <a:rPr lang="en-US" altLang="zh-CN" dirty="0" err="1"/>
              <a:t>C</a:t>
            </a:r>
            <a:r>
              <a:rPr lang="en-US" altLang="zh-CN" dirty="0"/>
              <a:t>, if a gas following: PV=RT+6.4x10</a:t>
            </a:r>
            <a:r>
              <a:rPr lang="en-US" altLang="zh-CN" baseline="30000" dirty="0"/>
              <a:t>4</a:t>
            </a:r>
            <a:r>
              <a:rPr lang="en-US" altLang="zh-CN" dirty="0"/>
              <a:t> P, </a:t>
            </a:r>
          </a:p>
          <a:p>
            <a:r>
              <a:rPr lang="en-US" altLang="zh-CN" dirty="0"/>
              <a:t>Considering a throttling at a pressure of 30MPa, asking the temperature will decrease or increase?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9109449"/>
              </p:ext>
            </p:extLst>
          </p:nvPr>
        </p:nvGraphicFramePr>
        <p:xfrm>
          <a:off x="4278700" y="3198245"/>
          <a:ext cx="4416725" cy="167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09680" imgH="838080" progId="Equation.DSMT4">
                  <p:embed/>
                </p:oleObj>
              </mc:Choice>
              <mc:Fallback>
                <p:oleObj name="Equation" r:id="rId2" imgW="2209680" imgH="838080" progId="Equation.DSMT4">
                  <p:embed/>
                  <p:pic>
                    <p:nvPicPr>
                      <p:cNvPr id="3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8700" y="3198245"/>
                        <a:ext cx="4416725" cy="167438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29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763" y="2222760"/>
            <a:ext cx="3352981" cy="3169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923026" y="77638"/>
            <a:ext cx="31398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err="1">
                <a:solidFill>
                  <a:srgbClr val="FF0000"/>
                </a:solidFill>
              </a:rPr>
              <a:t>Jouel</a:t>
            </a:r>
            <a:r>
              <a:rPr lang="en-US" altLang="zh-CN" sz="2400" dirty="0">
                <a:solidFill>
                  <a:srgbClr val="FF0000"/>
                </a:solidFill>
              </a:rPr>
              <a:t>-Thomson effect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6138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data:image/jpeg;base64,/9j/4AAQSkZJRgABAQAAAQABAAD/2wCEAAkGBxITEhQUExQVFhUXFxwZGBcYGBgaFxwYHBwcGBcdGBweHCggGB0lHBwaITEhJSwsLi4uHB8zODMsNygtLisBCgoKDg0OGxAQGzAkHCU0LC00NCssLCwsLC80LDAsLCwsLywvLCwsLCwsLywsLCwsLCwsLCwsLCwsLCwsLCwsLP/AABEIAQcAvwMBIgACEQEDEQH/xAAcAAABBAMBAAAAAAAAAAAAAAAFAAQGBwIDCAH/xABNEAACAQMCAwUDCAUHCwMFAAABAgMABBESIQUTMQYiQVFhBzJxFCM0QnSBkbMkUqGx0RczVGJyksEVFjVDU3OTstLh8CWCoghEY6PT/8QAGQEBAAMBAQAAAAAAAAAAAAAAAAECAwQF/8QAJxEAAgIBBAICAgIDAAAAAAAAAAECESEDEjFRIkEEE3GhYcEUkfD/2gAMAwEAAhEDEQA/AKQdzk7nrXms+ZpP1PxrGgMtZ8zS1nzNY074pw2a3kMU6NHIuCVbqMgMPxBBoBtrPmaWs+ZrGnV9w+WHl8xCnMQSJn6yNnSw9Dg0A31nzNLWfM04FhLyefoPK5nL1+HMKlgvx0gmmtAZaz5mlrPmaxpUBlrPmaWs+ZqU8D7AcQvNPKg0ggbuwXI/Wwxz+AqYxewa8KjVcQq2+oYYgeWD41DklyE74Kl1nzNLWfM1bw9gl1/Sofwf+Fe/yB3P9Lh/uvVfsj2CoNZ8zS1nzNXCPYFcf0uH+49YzewS4AJF3Dt5qwH40+yPZNMqDWfM0tZ8zUv457Nb+3QyhUnhG/NgdXXy6e9+yoeRirJp8EHus+Zpaz5msaVSDLWfM0tR8zWNKgOzeyX0Gz+zRflrRahPZH6DZ/Zovy1otQHDzdTWNZP1PxrGgJP7OOFLcX8IkIWKImeVicKI4hrYsfBTgAn1qx+IcGiv73h1xPJb3Otp4pzAzPEXjV57dDsGyyYUjG+nbrVL291ImrQ7JrUo2liNSHBKtjqpwNjtsKzt+ITRrpSWRF1B9KuwGtfdbAPvDwPUUBbd5Y2MTTXHySJ2SwMrRPbywQGRbhER0jc6gCCQQDg6T+tWXD+ERO8MxtoXUcOtmYNHJKqvLI4ykCZMhONO5AUb+lVPc8ZuZGdpJ5nZ10OWkdiyA5CsSe8uQDg7bVlBxu6QgpcTqQnLBWRwRGOiDB9zc93pQFhe0Lh0dvZ3sUS6Y14sulfAA2zNgegztURik4S6rrS9hfABKNFMmfE6WCHc+Gqg11xOeQESTSuCwYhnZgWC6AxBO7Be7nrjamlAShezdpKQLfiMJY/VnjlhPoAQHUn76sTsl7N2tF5kiJPc+AVldIvI4G7N45xUQ9lHB1eWS6cZWDAQHoZWzj+6Mn8KsyQHJzuR41ScqwcnyNWvFAr2d8F4nBxVmnkZIO+W1EgSAghcKRsQSDvjp41cpuF/WX8RVawX8y+7I+PIsSPwO1bDxNj78cT/ABQKfxXBrm1fP3ROn8mlTRYhu0/XX+8P414b2P8AXT+8P41XTT27dYnT1R8/sYH99YG2t292Yr6SRn96Fv3Vj9T9Mv8A5P8AH7LGPEYv9on95f40M7RC2uraa3edFEqFSQ65APj1qFJwWSSRY4nictnvB1OgAe8yEq7Lq0juj61aOMdl7i1XVI6SB3AzFCwwQrHLksxVdsdcElc4xvK05LLf6NI6smrr9mq0t7bhPD5LSO4+USTOXZlHcXIA3IJCd1NgTknPgNoP2g4GlyCygLMOh6avR/X1qeWXYrmaXmfusEZUi1tq2JVn5hK5Go7EEdfWmnFuyZiDyxTErGhZ0lGJML+qVGGz92PvotaCnW7yJ1NHVa3pFG3VvoOCd/rDBBVs7qc+P8a0VMu33DgNE6/W7r/2gNj+G1Q2u+MtysiEtysVKlSqxc7N7I/QbP7NF+WtFqE9kfoNn9mi/LWi1AcPP1PxqQdluzC3Mc801wttbwaA8jIznVISEAVdz0OT4bVH36n41OfZleNGLjk3sdtcHRhLjT8mmjGdYfKnDLnI+Jx40AA4r2XnjuJYYh8p5YDcy3DSIUYBlY6QdOx3z0OaHJwydk5ghlMe3fCMU3bSO9jG7d347Vb1zxS1czRWF9BZOt3FNLKpMcTqIQsphH+sVZNR5Z2bJ+NDuG9qoIv8kK9zrhS5uXuAMqDmbVDJLEOm+HAOcb4oCtX4PciVYTBMJWGViMbiQjfouMnofDwpQcHuXYokEzMraWVY3LBsE6SAMg4B29D5Vc3+cdsLhYXmtjIbWdElW6nZQ0ksbhHuSNSalRiCPd1Y8dxfEe1kYa9aK4iSQzWC64pWPMEYfmsHbDPgaVZvHTnxoCoXQgkEEEHBB2II6g+VY0d7dTxycRvHjZWRriRlZSCpBYnII6g9c0JsbYyyxxggF3VAT0BYgb/jQFw+zy30cNiOMcyR3Prg6V/YKkFNLi1axhtLTMZYMYjIzFYQcsSzHGVG34mtlreCWKOUDTrXVpzkA5KnBwMqcZBx0IrGfJ5urCVufodNitTCvEbPiKzK/A1k1ZRLBqavM16+AN2ArDWvmNutVomjK1uJIZ0uIgpZQyMrHAaN9JYasEqcqpB8xvTi/wCO3LhVQyQxoS3880krsQRhm8EGc6cnJA6AbspJVB94U2muwpHQ5zjdQNuu5IFRm8G0NSaWxEy4bdK6RyhyEeIBXGcKRgOp/VPdO/Wm/ai8VoJnJyqwNGW8GZ10gDz3y2aA/wCcDK1ukGmBRy+cXdGV1IUB+WMHJTckA52rAcfkeOeOfRLzNSxvkroVhg9zB36+I229a5X8VqVt4u/7/wCwetL5UFGnzVEc4xw5ZLSVXcJhGcMempAWUf8AuPd++qlq7eIQiSCVc7MjDPltVT9qeDGzu5rYvr5TadYGnOwOcZOOteloPB53xnhoFUqVKtjpOzeyP0Gz+zRflrRahPZH6DZ/Zovy1otQHDz9T8axrOVcGsKAmPEvZrfwxPKwhYRpzHRJUaRY8BixTrgA5PpUOroTjXDzzbuVrNYY3sip4iJctj5OgI5RYjcjl4AB8jTabhUQsIluljMKPYEOscSQ8tnUTGNgxkfZsSO5AJ6AUBSfA+ES3UwhhwXIZhk4GEUu2/wBrO44HMltHdPpWOV2WME999PvMq9SgO2rz2q4bSG7Xidub2K3RRJeLEIwiTNAIXI9zumIDZWPezUM9ogW7tbPiMCaIinyZ4QcrA8edAXyVl3Hw33NAQzhC25kxctKseD3olVmDeB0sQCPPfNWR2J9miXWZre6WQRSI8b6JEDaTlkkRlyjbbMpYdc+FVWy4ODRXgnFbpJIkhnlTLqAFkcDJYeAOOtAdIXvB3muFhlcpzFL5XSTkA6gNSkHdt9j4V6fZopJJvbo9MfzGB93Kotc8wcQs11NoEMuodQWwmM+vXf41JqpFIp9cSB/yaJt+mXR8/5jf4fM7VsHs0h/pV3+MP8AhFU4pVal0Prj0QNvZhBv+k3XoCYtv/1ZNL+S+3yM3Fzj+2mT/wDDH7KnleYpS6J2R6IL/JZabZmuvX5xN/j83t92K3QezSyUkl7hh5GTp94AP7ammK8am1dDbHoig7AWA6I/QD+cfoBgePkAPurVL2Ish/q2/wCI/wDGpRI1aHOaq4x6LbV0Vp2j4bHBMsMS4V4ixySdySvj6VSHa66Mt3K5zk6c58wig/uq/O2y/pkP+5P/ADmqB7WR6budfJ/2YGP2VSC82Ywdakl+ATSpV7itjY7M7I/QbP7NF+WtFqE9kfoNn9mi/LWi1AcPP1PxrGsn6n41M+xZgisb+5ltobhontlQShsASGUNjBB8B+FAQvNLUfM+X3das3iHZmCRZZLaKKNbi1tZlRyzcl5pjCwjby1Kd28DTK/9mLJdwWq3Sl5WkQ64ZY9JjTXkBx84hxgOu1AQBnJ6knAx93lXmasXhfYyGNJphLHdwPYXbRyBHXTPCBnutvlcgg+Oaap7OdUMUq3aMGkgjkIikCIZ9lKyHCzaSQG0nbxoCB0b7E2/M4hZpjrcRfhrBP7K28c7LPawc2RwGNzLAseDkiE6XfPgNfdx6Gnfsr/0tZf70fuNQ+CVydPXIzew7HaNjnw6EUaoWfpQ9I/8TRSqwdqyqFSpUquSKvK9pUB4RWMgrOsXoBsyVpkG/T8K3Oa1t6VDJRXfb6dUu4ckDMJ/HXj/ABA/Cqe9pr/pQTRGAEVg6rh31gNl2+vjoPIbVZntfEpurfkqWYQnoMlTrGkj1zj0qou2M0rzKZlCvy1BUbYAzpGMnG2NvCqKPluM1GptgGlSpVoXOzeyP0Gz+zRflrRahPZH6DZ/Zovy1otQHDz9TUj7LdpIbeC5guLX5RHO0TEc1o8GLWRuoyff/ZUcfqfjUm7JcItmhuLy85jQQGNBHEQrySSE4Go+6qhST91AO7zt8z/KB8njEckUMMcQJMccUDh1Ujq4O+enU1JuBe0SKa9slaMW8EcssrNLO8qhmhdAqF8cqLfAQbbjpUTl7MRXc7f5NfMAiWSRrhhGICxwY5HbCsdXQjrnxwTWNp7Pb55JY9MaGKVYnMkqIA7jMeCT3tW2MZzqHnQD1+3yLGYYLVYoPk08QQSMx5lwAHkLEbgYAC+Q6+Tvi/tA+WxNbCEQPO1uGlad+UjREBSqkaYY8ZJ09Ou+KZp7Obg20Tgp8oku3t+UZIxgrhfPOrXqyPAAHxpvB7Ob53dByMoyoSZ4wplYahEhzhpPNR0++gCntK4it/fQQQywFY4gpk1hYGnbMkzBzt3m2z4ketaOw3Abq14vYi4hePMw0lh3G2PusO633E0I47wBYLG0mIZZpJJ0lUnYGJwgAHgRvmn/ALLOLXC31vbJPIkMz6HRW2w3ioOQreTDcVD4JXJ00WxdqPOP/E0VqGtaX8FwOVKl2Amyz4jkxk7c2NdJ9MpnzPiCCdrokOm7jltG85l+a+6dcxfcWB9KiCpFUSKlWEMquAysGU7ggggj0I61nViRUqVeUB7WEgrKsZKAbOKyYik61rk9KqSVF7ZrjTcRHfSLZ84ODgvnb4af3VS/Gr0zOHPljrnxP8auL22D55cjpaNj175/d/jVNyq2hsHC5GoZ6nfTt4+NSuLKRzJoY0qVKpLHZvZH6DZ/Zovy1otQnsj9Bs/s0X5a0WoDh5+p+NSXspxi2WG4tLwSiCco4eIKXjkjJ0kK2AykMQfuqNP1Pxor2d7NXV6zrbR8woAzd5VwCcD3iPGgJRH2k4YflNoIp4bOWKFRIgRpzJC2rmSKTpOvJBAO2B64ccQ7eW0gkUJKq/KbRowQpbk2yaO+c++cZ8t+tQnjvA7izk5VzGY3wGAOCCp6FSCQRsenlTaCxldGdY2ZFZVLAEgM2dC58zg4HpQFk2vbuy5vNcTgpxSS7QBFOqKXSCG7+zAA7dOm9CeAdp7LkpFeC4HIujdRNCFJfOCySamGDkDDDzP3wm6t3jdkkUq6kqykYII2II8CK1UBLe2HamO8ghUKyyCe6mcbaRz5OYoU5ycfCtXsw/0tZf75ai9Sj2Yf6Wsf9+tQ+CVydUyD9JX+wf8AGiDoCCCAQeoO4oFxjiqQTqz5xo8MeZ86wt+18L50hj9w/jVYtUZb4puz2bshADqtmktH65t20IT/AFoiDE+fVc+oO9Yc/iUHvxxXkY+tF8zPj+w55bnruHT4V63bCEAkq2FGT7p2/Gk/a1FOHilTLFQTowWUZZRhic4B9NqtaJU4tWOLHtVayOImYwzHpDOpikP9kNs/xUkUaJqCcf7a2hUxz2/MRuquEZT8QTUC7R8Zga2aGwkmhzj5t5vmQQQQ0YYO0RUgFQjIBt8DG6PY+yPZfNYsaqn2ddvb19MF4iTf/njdNQGCfnE8enVd/MdTVjC6uMn5gY8O+v7TVi6d8Dtq0uPKmr3Vx4Qb+XMA+/Pj+FaWubrUP0cadt+aCfwwMfHP3VBJWXtqhJlUj+jMB5511SE6DDaiwfbSMbY8Sc9K6R7WcFvLmaKSOIIY1Zf5xTnJBGNwQdqpv2sqBdqrauakapIDjTlVAGD476s/d61W2nRSKe5kIpUqVXLHZvZH6DZ/Zovy1otQnsl9Bs/s0X5a0WoDh5+p+NWB7K7YSQ8SQ2z3QMMXzCMUZ8TKdmG4xjV8FNQa1sZZnKRRvI250orM2PE4AJxShuZoWYI8kbdGClkO3gcYOx8DQF1zcGJmhYWqqIuHHTZzR/KpYfnyoKRkjms2TguQFBPlTi9QW5vooLaEJHxCycryVOhXRXZiPqgNnB6KCwHWqMXiEwcyCWQORguHbUQRggtnJ22pC/mww5smGUKw1thlXZQwzuB4A9KAvm34RHJc3ry2cbyNxFonQWiyE2wTUh3dRCZMsxn8WANRS2urO2ThSfJbZ4biWdZZZYUaUxi5kiQ6iDgqpzkb7AZ2FVo3FJyWJmlJddLnW2WX9VjnvD0NZ8LvwksTSx8+OMnELswQ5ycbHIGo5wOvjQEn9pHCI7M2tiiLzY42aVwq63eV2KKzAZbSgXH9qiHs67F8Rj4jaTSWsyRpKrMzrpAA6nfBqGdo+NS3dzLcS4Du2cDYKBsqr5AAAfdTzsSZW4hBy2PNLnS2d86T4nxPrRkN0rOiePcOYzJPG0Css5Znc5OkAhdY1DUobB0gg9PWtUHApZDFPJLBlECEIshAGsSEe9gnVkasDIPhQvjl/DI/d1HCjCMBzNWGDDxYZJXGOhyemKh3aJHEq4LgaO6oZ0Ve/JkADHQjHTwqYx9GSkpFiw9n9Lq2XkQgKylJGBXCLsWlGnBUnPQA+QrXx2Owh1FZJ3kUHCmZ3XV3Sf5zUA2HG4GSCRvjFVnySR78vw5kn/VWfZ60Pynu627g7oLMxfmLpKgnqBq/EVZwpZJaVYDUMkFwHaTUVC93SCwDeI3x44G4pvJY2/JVtxMG3GO6V8//AD1+5/Pxd1uLopq1Nu4lQtvpCaQ2g6n6DBC41AVFOM8WnikZEiVlBIBIfcA4zt4ZB/CqxSv/AEWtLxX8h+6jiinh+TmQE++GGOu2B6Y6/dV7IapDsxfz3xjlmidjEeWqqgXLNnAUn3vNmOAuMn1vBRVVdUy1pvAmrWT6VsIrDFSSaWrl/wBs5/8AVJ/TH7s/41fFnZ8UHFJ5JJUNgV+bTIyDhcALjIYEMSxO4PwxQvtiGOJz7/W23JwCFON/XO1QQ2QilSpVJJ2b2R+g2f2aL8taLUJ7I/QbP7NF+WtFqA5W4VezW3BpZrV2ila+EcskZKyCIRao11DdVL6viRiilxad25v+L2pmm5kEXJVjDs8ermuU3LMoGPXOfIQngPaW7sndrWZoi2zYCkEDOMhgQcZONtq3cO7Z38E0s0dw4kmIMrEK2ojdSQwIyPA428MUBYUHYvh0EvJmhefXxP5Ijc1kKRvFFIpYLszIX9M758BTXhHZPh5S1hkhd5bn5cvO5rLoNsXMbBBsxIXBHT0NV/F2lu1KkTNlbj5SCcE8/Ycwkjc7Drt6VlH2ovFaJhMQYeaYzhe7zs87w31ZPXz2xQE7k7GWHyKJSyJcvaw3AlMrmQtKy91odOgRBWwHznUB50R4Pwuwi4tBFDYzD5PdmBpmkZ4nPLJVnyO7IGGoKMDH3VWr9rL02otDO/ycADl93oDkLqxqK5305x6U4u+3PEZTCz3TkwMHjOFGHAwGOB3zjbLZ22oCacN7P8Ple2SS2kL8RmuAjrK36OqOyKFHSUgjJLeFZ9n+H2lvPwYRwH5ROqzPNzGIAHMUhU6d7AOfDAx1NQqLt3xFVmVblwJmZ5AAg7ze+V7vzefHTivezfHJzd2jM5PydSsWw7qgMwXpuMk7nzpdZIfBcl5w4PGFaVu5llj5MTAlWKqpJj3Bj3yT1PXNR7jijnIFXTiIHThQR35CdlYgdfAkUd9l9vcXANzd3spV1LG2ePQmP1kL7lVJA1IMZ2yacdpWs3TmvCypEpKvH/OaTnZ8g5O+fMZx50jLazFtxxIhTy433/8APKnfY+dPlYPdzpBAY6RgOM7+W+PvFELqKxFvHNy7jS4yMuoZgAc4DKP1TTiztoYT83HDIdYJJmRyVDZUYUdzrqBKnOjrtvo5pqibSyBu2szEyRKiFedK4InbqSucoU2AYZyd+g8K2dk7cPLHGFwucMwkVwA+llXYYYgat8eh6b7e0izytr0d0ZwsZlfAYknCgYBLat8Dc/iU7PMpmTAZWDRq+piZMqAO+GOtTjAwQOhHgaztNYKylZa3COHRwxhY1AGP37/+HxrbxKSVYpGhUPKEYojHAZwO6CfAE7ZrbbjCL/ZH7q2UOga8MuWkijd42idlBaNtypIyVJ8cHalxGflxvJpLaVJ05xnHqelOqbcTUGGTIyNB2+7NAD247bf7TH/tfH7q5v8AbKVPEpHU5VwrDbHgB/hWz2gccuknVUZkRVBXG2SetAO1N48y20kpzKYsN9xIU+mRg/fVE3gxg5SpuqAFKlSq5sdm9kfoNn9mi/LWi1CeyP0Gz+zRflrRagOHn6n41P8A2ZcBS4t71/kQvZY2gEcZkaPZ+ZrOQw/VFQB+p+NG+Ecf5FpcwKGDyyQSJIDjQYS7fHOWGD6UBY9v2RtPlF2I7FZpI7WCQ2huDpindiJY+bqGcLg7k9cVDYuGxycZht5LVbdDNHG9ushkAzpDd/JJz12PjTjj3bmG4W7Itykt3BCkpBGgzRvqaQDH1gBt5jNRHg3EWt54Z0ALRSK4B6EqQcH0OMUBLOG9nIZouJAKBJHdQRQsS2EEkzRnx3GMdc9Ke2Xs7aK6tw729yrXLW8iBpFCyqpfS5C53XfK58q1X3bm0UEWlo8XNuY7i4LSa88t+YEj22Gok5Ne2XtDjSXmclj/AOove41D3XjMejp13zmgGnaPsgkdvw9rdhJPdasxKWJ1asALkAYX3DvknJ6UY9n3DrS14hbRyMLi7ZypVGzBB3WzqYbTyeGFOgZO5IqLdoe0UVzaW0XLdZYDINWoaDG7lxtjOrJG/TasvZnME4pZk9DKF+9gVH7TUoiXDL2vZIxKSCA0oXJAPeAJ0AtjZRhsKSAMVHePRqlpIMBjIARknukA+73gOgJ9TjxAr28WNlaLQrnnyMBscY0ajjOep64JBLb4NOLWeGSBVBLhYwBrBjJO6EFevXWMfs6VG1rJxuO3yRHruP8AQ4UBZmBIYHSdLamJUYJ22/YaY8Nsy3MwxXEZyyg5H4Y8iMddzUnvdOWjKt31XJJymWdife72osTkbePXOza1lZSivywO5jlwhZWBwikkv3gTjc+O9W5Rpue3AU4ZcnvvGrRqeUmg8oHKalkOFzkFhnIPXc+uMkba5ZFZtRfWcHctgEkDYAk+WM7ZNauK8U5EkEbK5E+CjBe7g4xk/eOlPHJXPkevocYz8POsHKV9GOpKXszh49dt0lk64+qMb43yQR5/D12p9bdoZztzWz+/9lArLhyISw94HvDJ94Yx9bfbH/gGHCxZUee+Px8fSjmQ5vsN/wCWpyR89p36scKPVjjpQW649dksObMCemMAYPNVMHIAyTH+HhvXttcaiV+uvUDr/wCbH44rF7bUXOVA0qvUatWWYEDxA8/++KKTi8kx1JLgaT8LhlVeaFcgnCkNrAzkaidjnPgT0/CsvafEq3SBQABEoAGw8fCrWuVBlDCJABowdWSgyQQCw1MGO53GDjrtVU+1J83gHlEmfvyaabbkawilNNeyH0qVKug6js3sl9BtPs8X5a0WoT2R+g2f2aL8taLUBw8/U/GsayfqfjWNAKlU14Lw3h8FnDc38csxuZXSNI30aIo8CSQ7d5tRwF6YFF+BdnOHm3lmW2ur5flphi5RZJOVoDqzKF65OPDc+FAVnSqeduuyVvZwymIszLfvCGY78vkRShWA21KzkE+lNe0/Y1hxC7t7NBy4GUYeWNSAygjeRl1b56UBDaJ9mZtF5av+rPE34Opol/mNeeIgHxurb/8ArWUfY26QhuZaAqc73dv4b/7SgZ0BxfhkbW+pERJHmnUyBRrIIm2LYz4Db0FVzFfQwqVbmKS5CGMzZ7rBSToGAFbUV9cmralspJbdOUYzuXHe21Mpz3hqDbsT5biqx7ZcJeLkq5UFldu4wYe8M9AM7k74H34qdPmjKSuuqEON2Zk1srONQOD8oBKgtgFtHXBU/FPWmkvFbYkMdWe59SdsBWiOBlcEYWTc9S2TvTdRt4nbr+6vSw9c1otPPJDrocMEItLmInTGgMmpGI1ITrKqQcZKkb7AsvgCaM3fElUmMAnUobO+BkgHO2kHcHTn1xihVpGnKgBaNS2sDWJMFjLKDuDpyRnY9aIHgx5h06QNIBJGCTqDFsg/1fFT4VlKvZhN5p8BCC5RmlKspGodCP1RTSG/04UjOXCjSOgOoEnvb4I36Y/bWkQJApXPMLHuhskjr0yScHP7KFPwq4eVo1mTKkOAythQSdGCE0g9dgT41kobm6IjFO6MmV/lvNBYfV93u4zI2/fyd1Tw21/DM5k4TKAp5b7gZJ0nLHdtOk7L5Z386gQs7nkvN8pTQmQwKyZ2ODgaN99qnPZa/m5ISZlaRTgMzOMggNjGNiowMH7qz1ozSTo0UE1UlQPu2eORUMfvaCSSAVwXIODuQdxkef4U17QZtV/N6aV/BQKurjshNzECygqAu4BZ8sSNJY5UgZONyd/AHFDdp5td3cN5yt+w4qdHs0hFJquv7BdKlSroNjs3sj9Bs/s0P5a0WoT2R+g2f2aL8taLUBw8/U/GsayfqfjWNATLgXH7FrWK24hHOwt5WkhaEpkq+C8ThvqlhnI33r257blbWaK0Eto0l404ELlEWEx6BHlSCTkA9MbZqM8H4XLczRwQrqkkOFGcepJPgAAST5A1IZ/Z7drJCitBIJuYEkilDxaolLyKzAd1gAdv4GgMuA8esmtGteILcsBcm5WSEoWZmQI6vr8DpBz1z5eIftbxn5beT3IXSJXyFzkgYAUHzOAKIjsDelbJgEIvTiHDegPf27uxz4+NBeO8JktLiS3l08yNtLaTkZxnY+PWgGFKlSoDoSxmuJLO2kV20NawoVwTH/qlPQZGfnOn6o6ZoV2pvJJDDzCCVV17oIGMoehJPj50X9n/ABKI8HthMGIw6nCswCpId3wDhemSdqJXfZkXRhdHSJlDqVWLMbA7DIGw6Hf4b7Crp5MFy0QIMKxbFS667AOmdVxAoG+WJXb7xWMXYiE4Et2uc40xDxAJI1MMA4Gela7kGxpwW21WqncEI2kgN7wmlyeuk+GxBo1wOwnmjchQ2JCB3lBxgEZGcjr94xRCG0htkWOBAwx7zlnOSxfpsPreX7qyt+LzKjAHByRsAAoy2yqBgH1rkk1lMym4t5I3xHhMsVxGkkUAR3Byyo0+dceNDK+pRjVvp20N11beSSMmo7FRMSFAw2ptK4z4jA2zQefh+b1ZmuANU641SNklSFIwTjJIIx60dupAGLHfDYx+G+PTNb6MUzS8KuhWxkV8EplETfSMZjKEZHmcH40raMAk7ZJwcZ8FU+PxNPIyuvGxBGc5G/T+NYNhnwuPex/8UFRrwioY/gz1ZNxyaZYxkMc5Xcbnw8xnB8etc93T6nc+bE/ia6D7QAwxzZIykbHPh7px/hXPArn0lyW+NebPKVKlWp1HZvZH6DZ/Zovy1otQnsj9Bs/s0X5a0WoDh5+p+NY06srGWeURQo0kjHCqoyx+6s+LcJntpOVcRPE+AdLjBwehHmPWgCns/ZxxC3McyQPqOl5BlMlSNLDI2f3Ov1qtaDh6x3VjJNbRWV0z3QaCKUNG8fyWT53QCVjOru7dc/hRFKgL5suIolhA2oCS04fFcxdN3dLm20+mGaM/hVZ+1MZ4veY3zLtjfPdXpUSrZBMyMroxVlIZWBwQwOQQR0IO+aAOWPYu/kXVyGjT9eYrCn3NIVB+6t54BZRfSOIRlh1jto3mOPISHRHnw2Jx60E4pczu/wCkPKzj/asxbB3Hvb7jBpnQHQvsuvrRrF0gjlMaytF88yljrCsSwRQAufDJrVx7tJeRTSpFLoVSAFVECjYf1c9T60M9hska2Ny0gOFuFOwYnOgAbDc0u0n0iU+o/wCUVrpq2Ytuxk/Fbpzl5A2ds4XP/LTnhs0jSxKznDSLnAUb5xnIAOdzvTKMU54bKDPH6OufxBq9ENJoMdprsxyRlzJh0TIQHboCwIU407kjoQaM8KXVCpByCoIPoS2PLwxTTtDfQZjicwh9GAHYh8smxABGdyuD5/tMdnbZVjCdABhc7ZAyQPQ6SKwlmJm1hAJuD6ZdY1bEnIY47xYnunIHvY2wdh8a0m0UzNlSGLajIX7jKeqac7MGGc+NTG7tR/38fOgsiDP3VktRxeSim44I5BAigkQvgKAUMo1PpI1aGz3NQGw8KIcLQhwBnR3dIJzjONvj0B+FPSg9K9j6j4iqy1E1SRE9ZzVMHe0qXTb3Zz9TH46RXP8AV8e1HPyW6ycnC5/vLVD1eHs6ND3+TylSpVc3OzeyP0Gz+zRflrRahPZH6DZ/Zovy1otQHKns91criggz8qNr81pzrKcxeeExvnTjpv1orwHg90/KPEY2nWGynntLaQnW2lgNLgfOacnUFPUAY2BFV3b3ckMgeKRo3U7OjFWHwIwRW+Tjt00wuDcTGcdJTI/MHUbNnIGCRj1oCy5+F2kcc109jGHNhDcfJm1hElM5jyBkMqsqhtPkSOhrdc8Jsbea9kFnFIqz2OiNyxRBcRlpQMHcZJwDsML5YqrLjjNzIZGeeZjKAJC0jEuAcgPk94AgYB6YpS8XuGzqnlbUVLZkc5MYxGWydyo2Xy8MUBcXDex/DY+erxB1e9uIT83cSyRxxjuLEYgdDAHXqbqNt+tAX4ZFDb26xcNW4X5LFdvdlmUh9eX1H3WQAaDGMHfz3qAQ9obxebpurheaSZcSuNZPUvv3ifM1qHGLnk/J+fLyM55WtuXnOfczjrv060BcHa63jFxf3f8Ak9LqVbiGARFZCvLaMuZSq7szECMN0GBj1B9quFWVha3ojto5W+XSW0buWLRIYEfu795kYkAn161BF7T3yyGQXdwH0BNYmkDaBnSuc5wMkgeZzTCS+lZCjSOULmQqWYqZCMFyM41EbautAXT7BIFezulYZBmXIyR9UeVSziXYdpJGk5qqGOQpUk9AN96A/wD09W7pZzyMuFebuEj3tK4bT6A7Z86tCV8kn8PhVlJrgwnhlfj2fOM/Ppv/AFW/jWdp2FdJFcypswY9074OfOp0xrQk+Xwq6iAdiMgjIBI38Dj8al6kkiqy6IdcWTTD9IicYVgWBKjYal7ujBGxXqPv61t4I/Nil1IFaNe6UdyMYOnIIGCMdN+tSS8jzzCcr3TlQMY28KFcGv5J+7GitjIIYafdOnzI3/w+NRyg0+D2+4qqtoZX/mRKXC5U48MDJLHBwAKCNHdszMtu0kWT3wUXChck6WIckHB6dDjGRT28sDFOBKmkTaUARslQWVcrvsNRHTfxrf2wsTZWyskzHvBSZPdC6W97QnicDfr02JqHBMKHtoYsMEivAM7Dqabx2SRkzPeZBIXlsgVNbbFVYgHIbAGetbpplTLMQqrq1E9ANJXfcbb+dc04OJg9OpJMAe0GMiwnyCO6Ov8AaWqNq7u2NzHJw28eORpFdlJ3GlWURqygYGgnAYjHVifGqRrTS4OvTgoWkKlSpVoanZvZH6DZ/Zovy1otQnsj9Bs/s0X5a0WoDh5+p+NY1k/U/GsaAVGuAdmbi8juZIQpW2j5kmSc43OFwDlsBjjboaC1bPYriVjw+ztGuJJFkuJjO4iVH1RKGhRJskEIQ8jY36mgIR2a7Hz3oUxNEoabkjWxHeETzEnCnChUO/mRWHaPsnNaJHKZIJoZCVWW3k5ketcEqTgYbBzg+tWTwWySyvbGzV00tPez51KRpMTwW/ezjdEzv+tUT49Ymw4V8kneI3E10JhHG6yaI0QpqYqSFLE4x4gelAQOpB2a4NGytdXRK2kRwcbNNJ1WGL+sfFvqjc+FNOznDI55TzpRDDGuuVzjVoBAxGv13JIAHmfKs+0nG/lDqsacq3iGmCEHIRepJP1nY7s3Un4CgLc9jvbA3M9zFJpTKqYI12RIkyvLQeSjT6ncmrE45xMQR6y0aqN2aRtKgdOuDXKfB+Jy200c8LaZIzlT+wg+YIyD6Gr1TjFlx6z5JflTkAtFqAYMpyGjzs652+B8DV40zGcc36JJZ9pDIoZAkikZV4XDrsTnOrT5eGd8g4oRxftjHbFGIZe9pOWUEIxLEjS+T7uwwTUF7U29zwxYbS1WRlCs7MAWbLNsTpGANjgeh3p12f7BHiEEdxczXCSHI0YAxpJC4DDI8/vq7inxyQklkkt97RbNtcHMkWVmMWdLHDE8snVnfG/j4UM4B24tYrgiIiFjqTGJHyc5GrWSAcgDY4/fWr+R+2zn5TPnOc4TOfPOOua0yeyS3U5W4nyD1woP44qNkuifHsKcX7Urd6Ndwo3CqyxkEZaEZGc4I5ynPhj0OGR49CU1yTk90P7rFR3U3C7YbExXrto+Faf5K4x0uZ/T3fT/AKV/AUy4x7No4oJHFzOSiEhSBg4HTb4D9lTtkT4kgsbyRh8woyW1K5wEyQQQ27HGCd8E71lg3CyRu9tIvSQW8xeRDnKkZQDZgNj5Hr0qsOx1/cx3EMZEuh3Cadx1OMjbrvVj8A7K2vClluJ5yqMukcwAHHUAKN3bpvt8Ko4RaszcK/IL7fymCxlDyNLJcSjU76dTEKBnAAAAVFFVBUh7a9pDezlgCsS7RoeoHiW/rE/4DwqPVnFUjXTi0vLk9NeUqVSaHZvZH6DZ/Zovy1otQnsj9Bs/s0X5a0WoDh5+p+NGo+yF+1sbpbaQwAZ1gfVHVgPeKj9YDFBZOp+NWtx/h3EJLxJ7JnjthYIyTEkQLCIAHUnBUHORp65OfWgKoryrdu+BQC1eIWcfyZeGC6S+0HmNcYDAc3OMM50crrTnj8NlEb39CtwllLYuCqd51mxz1cnqpHRQMD40BTVKrqTsnYw31tZvHG7SPc3YyuotHhhaRYGCVwpcpncj1rHidnZwLdXPyOFpEs4JOXJbtFDzGmMYdYmbUgK4yud9PrQFNzW7pp1qy6lDLqBGVPRhnqDg71qq9Tax3M1tJLbQ/N8IiliAgeRGc6Aw5Yb51YwdkHTV40G7UWtnaQX8kVpEX50EYWWIjktLAzSctS2V/WUEnBYeVAVIBSBx0rylQFweyC/nlhvSZnMirEqs51kKDIcAHfxO2fGrTS7yck1ytZ8RmizypZI9WM6HZc46Zwd8ZP406/zjvf6Vcf8AFk/6q2jqJKmZuFs6baZD4/8AelzFI2Oc+u4rmZe018Ol3cf8WT+NejtTfD/7u4/4r/xq32or9bOjXIxWuMjz8a54/wA67/8Apc//ABG/jS/zqvt/0mbfr3zT7Yj62W17RrqaGzeRZMOs4aNk2KqRpx+BP41Sl7eyTMXldpGP1mYk/t8Kd33H7qZNEs8joSDpZsjI6UMrKctzwaRjQqVKlVCwqVKlQHZvZH6DZ/Zovy1otQnsj9Bs/s0X5a0WoDiF4jk7eNORf3HKMHNk5JOTFrPLznOdOcdd6VKgEb645Qg5knJB1CPWdGfPTnGa8lvJ216pJG5mnXlydWn3NWT3seGelKlQGLXU5dXMjl0ACMXOpQvuhTnK48MdK2XHELmQyF5ZWMmOYWdjrA90Pv3gMDGemK8pUBnFxS6XlFZpRyc8rEjDRnro37ufStM11OwYNJIwdtbAuSGfcamyd23O533r2lQDblHypco+VKlQHvKPlXnKPlSpUB6EavOWfKvaVAeco+VLlHyr2lQHnKPlS5RpUqAXKPlS5R8q9pUB5yj5UjGfKlSoDsrsl9BtPs8X5a0WpUqA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373737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1187420" y="0"/>
            <a:ext cx="6626225" cy="1191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Ideal Vapor-Compression Refrigeration Cycle</a:t>
            </a:r>
            <a:endParaRPr lang="en-US" sz="3200" dirty="0">
              <a:solidFill>
                <a:srgbClr val="FF0000"/>
              </a:solidFill>
            </a:endParaRPr>
          </a:p>
        </p:txBody>
      </p:sp>
      <p:pic>
        <p:nvPicPr>
          <p:cNvPr id="16384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7730" y="1837187"/>
            <a:ext cx="2642299" cy="25333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7709" y="4986562"/>
            <a:ext cx="4725405" cy="921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08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7455" y="1913256"/>
            <a:ext cx="2857500" cy="2381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031658" y="2629921"/>
            <a:ext cx="269626" cy="276999"/>
          </a:xfrm>
          <a:prstGeom prst="rect">
            <a:avLst/>
          </a:prstGeom>
          <a:solidFill>
            <a:srgbClr val="70AD47">
              <a:alpha val="58039"/>
            </a:srgbClr>
          </a:solidFill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3</a:t>
            </a:r>
            <a:endParaRPr lang="zh-CN" altLang="en-US" sz="1200" dirty="0"/>
          </a:p>
        </p:txBody>
      </p:sp>
      <p:sp>
        <p:nvSpPr>
          <p:cNvPr id="11" name="TextBox 10"/>
          <p:cNvSpPr txBox="1"/>
          <p:nvPr/>
        </p:nvSpPr>
        <p:spPr>
          <a:xfrm>
            <a:off x="4230906" y="3505216"/>
            <a:ext cx="269626" cy="276999"/>
          </a:xfrm>
          <a:prstGeom prst="rect">
            <a:avLst/>
          </a:prstGeom>
          <a:solidFill>
            <a:srgbClr val="70AD47">
              <a:alpha val="58039"/>
            </a:srgbClr>
          </a:solidFill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4</a:t>
            </a:r>
            <a:endParaRPr lang="zh-CN" altLang="en-US" sz="1200" dirty="0"/>
          </a:p>
        </p:txBody>
      </p:sp>
      <p:sp>
        <p:nvSpPr>
          <p:cNvPr id="12" name="TextBox 11"/>
          <p:cNvSpPr txBox="1"/>
          <p:nvPr/>
        </p:nvSpPr>
        <p:spPr>
          <a:xfrm>
            <a:off x="5356429" y="3505215"/>
            <a:ext cx="269626" cy="276999"/>
          </a:xfrm>
          <a:prstGeom prst="rect">
            <a:avLst/>
          </a:prstGeom>
          <a:solidFill>
            <a:srgbClr val="70AD47">
              <a:alpha val="58039"/>
            </a:srgbClr>
          </a:solidFill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1</a:t>
            </a:r>
            <a:endParaRPr lang="zh-CN" altLang="en-US" sz="1200" dirty="0"/>
          </a:p>
        </p:txBody>
      </p:sp>
      <p:sp>
        <p:nvSpPr>
          <p:cNvPr id="13" name="TextBox 12"/>
          <p:cNvSpPr txBox="1"/>
          <p:nvPr/>
        </p:nvSpPr>
        <p:spPr>
          <a:xfrm>
            <a:off x="5118799" y="2583877"/>
            <a:ext cx="269626" cy="276999"/>
          </a:xfrm>
          <a:prstGeom prst="rect">
            <a:avLst/>
          </a:prstGeom>
          <a:solidFill>
            <a:srgbClr val="70AD47">
              <a:alpha val="58039"/>
            </a:srgbClr>
          </a:solidFill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2</a:t>
            </a:r>
            <a:endParaRPr lang="zh-CN" altLang="en-US" sz="1200" dirty="0"/>
          </a:p>
        </p:txBody>
      </p:sp>
      <p:pic>
        <p:nvPicPr>
          <p:cNvPr id="80903" name="Picture 7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00" t="11259" r="38500" b="14489"/>
          <a:stretch/>
        </p:blipFill>
        <p:spPr bwMode="auto">
          <a:xfrm>
            <a:off x="307975" y="1540235"/>
            <a:ext cx="2737601" cy="4483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28054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data:image/jpeg;base64,/9j/4AAQSkZJRgABAQAAAQABAAD/2wCEAAkGBxITEhQUExQVFhUXFxwZGBcYGBgaFxwYHBwcGBcdGBweHCggGB0lHBwaITEhJSwsLi4uHB8zODMsNygtLisBCgoKDg0OGxAQGzAkHCU0LC00NCssLCwsLC80LDAsLCwsLywvLCwsLCwsLywsLCwsLCwsLCwsLCwsLCwsLCwsLP/AABEIAQcAvwMBIgACEQEDEQH/xAAcAAABBAMBAAAAAAAAAAAAAAAFAAQGBwIDCAH/xABNEAACAQMCAwUDCAUHCwMFAAABAgMABBESIQUTMQYiQVFhBzJxFCM0QnSBkbMkUqGx0RczVGJyksEVFjVDU3OTstLh8CWCoghEY6PT/8QAGQEBAAMBAQAAAAAAAAAAAAAAAAECAwQF/8QAJxEAAgIBBAICAgIDAAAAAAAAAAECESEDEjFRIkEEE3GhYcEUkfD/2gAMAwEAAhEDEQA/AKQdzk7nrXms+ZpP1PxrGgMtZ8zS1nzNY074pw2a3kMU6NHIuCVbqMgMPxBBoBtrPmaWs+ZrGnV9w+WHl8xCnMQSJn6yNnSw9Dg0A31nzNLWfM04FhLyefoPK5nL1+HMKlgvx0gmmtAZaz5mlrPmaxpUBlrPmaWs+ZqU8D7AcQvNPKg0ggbuwXI/Wwxz+AqYxewa8KjVcQq2+oYYgeWD41DklyE74Kl1nzNLWfM1bw9gl1/Sofwf+Fe/yB3P9Lh/uvVfsj2CoNZ8zS1nzNXCPYFcf0uH+49YzewS4AJF3Dt5qwH40+yPZNMqDWfM0tZ8zUv457Nb+3QyhUnhG/NgdXXy6e9+yoeRirJp8EHus+Zpaz5msaVSDLWfM0tR8zWNKgOzeyX0Gz+zRflrRahPZH6DZ/Zovy1otQHDzdTWNZP1PxrGgJP7OOFLcX8IkIWKImeVicKI4hrYsfBTgAn1qx+IcGiv73h1xPJb3Otp4pzAzPEXjV57dDsGyyYUjG+nbrVL291ImrQ7JrUo2liNSHBKtjqpwNjtsKzt+ITRrpSWRF1B9KuwGtfdbAPvDwPUUBbd5Y2MTTXHySJ2SwMrRPbywQGRbhER0jc6gCCQQDg6T+tWXD+ERO8MxtoXUcOtmYNHJKqvLI4ykCZMhONO5AUb+lVPc8ZuZGdpJ5nZ10OWkdiyA5CsSe8uQDg7bVlBxu6QgpcTqQnLBWRwRGOiDB9zc93pQFhe0Lh0dvZ3sUS6Y14sulfAA2zNgegztURik4S6rrS9hfABKNFMmfE6WCHc+Gqg11xOeQESTSuCwYhnZgWC6AxBO7Be7nrjamlAShezdpKQLfiMJY/VnjlhPoAQHUn76sTsl7N2tF5kiJPc+AVldIvI4G7N45xUQ9lHB1eWS6cZWDAQHoZWzj+6Mn8KsyQHJzuR41ScqwcnyNWvFAr2d8F4nBxVmnkZIO+W1EgSAghcKRsQSDvjp41cpuF/WX8RVawX8y+7I+PIsSPwO1bDxNj78cT/ABQKfxXBrm1fP3ROn8mlTRYhu0/XX+8P414b2P8AXT+8P41XTT27dYnT1R8/sYH99YG2t292Yr6SRn96Fv3Vj9T9Mv8A5P8AH7LGPEYv9on95f40M7RC2uraa3edFEqFSQ65APj1qFJwWSSRY4nictnvB1OgAe8yEq7Lq0juj61aOMdl7i1XVI6SB3AzFCwwQrHLksxVdsdcElc4xvK05LLf6NI6smrr9mq0t7bhPD5LSO4+USTOXZlHcXIA3IJCd1NgTknPgNoP2g4GlyCygLMOh6avR/X1qeWXYrmaXmfusEZUi1tq2JVn5hK5Go7EEdfWmnFuyZiDyxTErGhZ0lGJML+qVGGz92PvotaCnW7yJ1NHVa3pFG3VvoOCd/rDBBVs7qc+P8a0VMu33DgNE6/W7r/2gNj+G1Q2u+MtysiEtysVKlSqxc7N7I/QbP7NF+WtFqE9kfoNn9mi/LWi1AcPP1PxqQdluzC3Mc801wttbwaA8jIznVISEAVdz0OT4bVH36n41OfZleNGLjk3sdtcHRhLjT8mmjGdYfKnDLnI+Jx40AA4r2XnjuJYYh8p5YDcy3DSIUYBlY6QdOx3z0OaHJwydk5ghlMe3fCMU3bSO9jG7d347Vb1zxS1czRWF9BZOt3FNLKpMcTqIQsphH+sVZNR5Z2bJ+NDuG9qoIv8kK9zrhS5uXuAMqDmbVDJLEOm+HAOcb4oCtX4PciVYTBMJWGViMbiQjfouMnofDwpQcHuXYokEzMraWVY3LBsE6SAMg4B29D5Vc3+cdsLhYXmtjIbWdElW6nZQ0ksbhHuSNSalRiCPd1Y8dxfEe1kYa9aK4iSQzWC64pWPMEYfmsHbDPgaVZvHTnxoCoXQgkEEEHBB2II6g+VY0d7dTxycRvHjZWRriRlZSCpBYnII6g9c0JsbYyyxxggF3VAT0BYgb/jQFw+zy30cNiOMcyR3Prg6V/YKkFNLi1axhtLTMZYMYjIzFYQcsSzHGVG34mtlreCWKOUDTrXVpzkA5KnBwMqcZBx0IrGfJ5urCVufodNitTCvEbPiKzK/A1k1ZRLBqavM16+AN2ArDWvmNutVomjK1uJIZ0uIgpZQyMrHAaN9JYasEqcqpB8xvTi/wCO3LhVQyQxoS3880krsQRhm8EGc6cnJA6AbspJVB94U2muwpHQ5zjdQNuu5IFRm8G0NSaWxEy4bdK6RyhyEeIBXGcKRgOp/VPdO/Wm/ai8VoJnJyqwNGW8GZ10gDz3y2aA/wCcDK1ukGmBRy+cXdGV1IUB+WMHJTckA52rAcfkeOeOfRLzNSxvkroVhg9zB36+I229a5X8VqVt4u/7/wCwetL5UFGnzVEc4xw5ZLSVXcJhGcMempAWUf8AuPd++qlq7eIQiSCVc7MjDPltVT9qeDGzu5rYvr5TadYGnOwOcZOOteloPB53xnhoFUqVKtjpOzeyP0Gz+zRflrRahPZH6DZ/Zovy1otQHDz9T8axrOVcGsKAmPEvZrfwxPKwhYRpzHRJUaRY8BixTrgA5PpUOroTjXDzzbuVrNYY3sip4iJctj5OgI5RYjcjl4AB8jTabhUQsIluljMKPYEOscSQ8tnUTGNgxkfZsSO5AJ6AUBSfA+ES3UwhhwXIZhk4GEUu2/wBrO44HMltHdPpWOV2WME999PvMq9SgO2rz2q4bSG7Xidub2K3RRJeLEIwiTNAIXI9zumIDZWPezUM9ogW7tbPiMCaIinyZ4QcrA8edAXyVl3Hw33NAQzhC25kxctKseD3olVmDeB0sQCPPfNWR2J9miXWZre6WQRSI8b6JEDaTlkkRlyjbbMpYdc+FVWy4ODRXgnFbpJIkhnlTLqAFkcDJYeAOOtAdIXvB3muFhlcpzFL5XSTkA6gNSkHdt9j4V6fZopJJvbo9MfzGB93Kotc8wcQs11NoEMuodQWwmM+vXf41JqpFIp9cSB/yaJt+mXR8/5jf4fM7VsHs0h/pV3+MP8AhFU4pVal0Prj0QNvZhBv+k3XoCYtv/1ZNL+S+3yM3Fzj+2mT/wDDH7KnleYpS6J2R6IL/JZabZmuvX5xN/j83t92K3QezSyUkl7hh5GTp94AP7ammK8am1dDbHoig7AWA6I/QD+cfoBgePkAPurVL2Ish/q2/wCI/wDGpRI1aHOaq4x6LbV0Vp2j4bHBMsMS4V4ixySdySvj6VSHa66Mt3K5zk6c58wig/uq/O2y/pkP+5P/ADmqB7WR6budfJ/2YGP2VSC82Ywdakl+ATSpV7itjY7M7I/QbP7NF+WtFqE9kfoNn9mi/LWi1AcPP1PxrGsn6n41M+xZgisb+5ltobhontlQShsASGUNjBB8B+FAQvNLUfM+X3das3iHZmCRZZLaKKNbi1tZlRyzcl5pjCwjby1Kd28DTK/9mLJdwWq3Sl5WkQ64ZY9JjTXkBx84hxgOu1AQBnJ6knAx93lXmasXhfYyGNJphLHdwPYXbRyBHXTPCBnutvlcgg+Oaap7OdUMUq3aMGkgjkIikCIZ9lKyHCzaSQG0nbxoCB0b7E2/M4hZpjrcRfhrBP7K28c7LPawc2RwGNzLAseDkiE6XfPgNfdx6Gnfsr/0tZf70fuNQ+CVydPXIzew7HaNjnw6EUaoWfpQ9I/8TRSqwdqyqFSpUquSKvK9pUB4RWMgrOsXoBsyVpkG/T8K3Oa1t6VDJRXfb6dUu4ckDMJ/HXj/ABA/Cqe9pr/pQTRGAEVg6rh31gNl2+vjoPIbVZntfEpurfkqWYQnoMlTrGkj1zj0qou2M0rzKZlCvy1BUbYAzpGMnG2NvCqKPluM1GptgGlSpVoXOzeyP0Gz+zRflrRahPZH6DZ/Zovy1otQHDz9TUj7LdpIbeC5guLX5RHO0TEc1o8GLWRuoyff/ZUcfqfjUm7JcItmhuLy85jQQGNBHEQrySSE4Go+6qhST91AO7zt8z/KB8njEckUMMcQJMccUDh1Ujq4O+enU1JuBe0SKa9slaMW8EcssrNLO8qhmhdAqF8cqLfAQbbjpUTl7MRXc7f5NfMAiWSRrhhGICxwY5HbCsdXQjrnxwTWNp7Pb55JY9MaGKVYnMkqIA7jMeCT3tW2MZzqHnQD1+3yLGYYLVYoPk08QQSMx5lwAHkLEbgYAC+Q6+Tvi/tA+WxNbCEQPO1uGlad+UjREBSqkaYY8ZJ09Ou+KZp7Obg20Tgp8oku3t+UZIxgrhfPOrXqyPAAHxpvB7Ob53dByMoyoSZ4wplYahEhzhpPNR0++gCntK4it/fQQQywFY4gpk1hYGnbMkzBzt3m2z4ketaOw3Abq14vYi4hePMw0lh3G2PusO633E0I47wBYLG0mIZZpJJ0lUnYGJwgAHgRvmn/ALLOLXC31vbJPIkMz6HRW2w3ioOQreTDcVD4JXJ00WxdqPOP/E0VqGtaX8FwOVKl2Amyz4jkxk7c2NdJ9MpnzPiCCdrokOm7jltG85l+a+6dcxfcWB9KiCpFUSKlWEMquAysGU7ggggj0I61nViRUqVeUB7WEgrKsZKAbOKyYik61rk9KqSVF7ZrjTcRHfSLZ84ODgvnb4af3VS/Gr0zOHPljrnxP8auL22D55cjpaNj175/d/jVNyq2hsHC5GoZ6nfTt4+NSuLKRzJoY0qVKpLHZvZH6DZ/Zovy1otQnsj9Bs/s0X5a0WoDh5+p+NSXspxi2WG4tLwSiCco4eIKXjkjJ0kK2AykMQfuqNP1Pxor2d7NXV6zrbR8woAzd5VwCcD3iPGgJRH2k4YflNoIp4bOWKFRIgRpzJC2rmSKTpOvJBAO2B64ccQ7eW0gkUJKq/KbRowQpbk2yaO+c++cZ8t+tQnjvA7izk5VzGY3wGAOCCp6FSCQRsenlTaCxldGdY2ZFZVLAEgM2dC58zg4HpQFk2vbuy5vNcTgpxSS7QBFOqKXSCG7+zAA7dOm9CeAdp7LkpFeC4HIujdRNCFJfOCySamGDkDDDzP3wm6t3jdkkUq6kqykYII2II8CK1UBLe2HamO8ghUKyyCe6mcbaRz5OYoU5ycfCtXsw/0tZf75ai9Sj2Yf6Wsf9+tQ+CVydUyD9JX+wf8AGiDoCCCAQeoO4oFxjiqQTqz5xo8MeZ86wt+18L50hj9w/jVYtUZb4puz2bshADqtmktH65t20IT/AFoiDE+fVc+oO9Yc/iUHvxxXkY+tF8zPj+w55bnruHT4V63bCEAkq2FGT7p2/Gk/a1FOHilTLFQTowWUZZRhic4B9NqtaJU4tWOLHtVayOImYwzHpDOpikP9kNs/xUkUaJqCcf7a2hUxz2/MRuquEZT8QTUC7R8Zga2aGwkmhzj5t5vmQQQQ0YYO0RUgFQjIBt8DG6PY+yPZfNYsaqn2ddvb19MF4iTf/njdNQGCfnE8enVd/MdTVjC6uMn5gY8O+v7TVi6d8Dtq0uPKmr3Vx4Qb+XMA+/Pj+FaWubrUP0cadt+aCfwwMfHP3VBJWXtqhJlUj+jMB5511SE6DDaiwfbSMbY8Sc9K6R7WcFvLmaKSOIIY1Zf5xTnJBGNwQdqpv2sqBdqrauakapIDjTlVAGD476s/d61W2nRSKe5kIpUqVXLHZvZH6DZ/Zovy1otQnsl9Bs/s0X5a0WoDh5+p+NWB7K7YSQ8SQ2z3QMMXzCMUZ8TKdmG4xjV8FNQa1sZZnKRRvI250orM2PE4AJxShuZoWYI8kbdGClkO3gcYOx8DQF1zcGJmhYWqqIuHHTZzR/KpYfnyoKRkjms2TguQFBPlTi9QW5vooLaEJHxCycryVOhXRXZiPqgNnB6KCwHWqMXiEwcyCWQORguHbUQRggtnJ22pC/mww5smGUKw1thlXZQwzuB4A9KAvm34RHJc3ry2cbyNxFonQWiyE2wTUh3dRCZMsxn8WANRS2urO2ThSfJbZ4biWdZZZYUaUxi5kiQ6iDgqpzkb7AZ2FVo3FJyWJmlJddLnW2WX9VjnvD0NZ8LvwksTSx8+OMnELswQ5ycbHIGo5wOvjQEn9pHCI7M2tiiLzY42aVwq63eV2KKzAZbSgXH9qiHs67F8Rj4jaTSWsyRpKrMzrpAA6nfBqGdo+NS3dzLcS4Du2cDYKBsqr5AAAfdTzsSZW4hBy2PNLnS2d86T4nxPrRkN0rOiePcOYzJPG0Css5Znc5OkAhdY1DUobB0gg9PWtUHApZDFPJLBlECEIshAGsSEe9gnVkasDIPhQvjl/DI/d1HCjCMBzNWGDDxYZJXGOhyemKh3aJHEq4LgaO6oZ0Ve/JkADHQjHTwqYx9GSkpFiw9n9Lq2XkQgKylJGBXCLsWlGnBUnPQA+QrXx2Owh1FZJ3kUHCmZ3XV3Sf5zUA2HG4GSCRvjFVnySR78vw5kn/VWfZ60Pynu627g7oLMxfmLpKgnqBq/EVZwpZJaVYDUMkFwHaTUVC93SCwDeI3x44G4pvJY2/JVtxMG3GO6V8//AD1+5/Pxd1uLopq1Nu4lQtvpCaQ2g6n6DBC41AVFOM8WnikZEiVlBIBIfcA4zt4ZB/CqxSv/AEWtLxX8h+6jiinh+TmQE++GGOu2B6Y6/dV7IapDsxfz3xjlmidjEeWqqgXLNnAUn3vNmOAuMn1vBRVVdUy1pvAmrWT6VsIrDFSSaWrl/wBs5/8AVJ/TH7s/41fFnZ8UHFJ5JJUNgV+bTIyDhcALjIYEMSxO4PwxQvtiGOJz7/W23JwCFON/XO1QQ2QilSpVJJ2b2R+g2f2aL8taLUJ7I/QbP7NF+WtFqA5W4VezW3BpZrV2ila+EcskZKyCIRao11DdVL6viRiilxad25v+L2pmm5kEXJVjDs8ermuU3LMoGPXOfIQngPaW7sndrWZoi2zYCkEDOMhgQcZONtq3cO7Z38E0s0dw4kmIMrEK2ojdSQwIyPA428MUBYUHYvh0EvJmhefXxP5Ijc1kKRvFFIpYLszIX9M758BTXhHZPh5S1hkhd5bn5cvO5rLoNsXMbBBsxIXBHT0NV/F2lu1KkTNlbj5SCcE8/Ycwkjc7Drt6VlH2ovFaJhMQYeaYzhe7zs87w31ZPXz2xQE7k7GWHyKJSyJcvaw3AlMrmQtKy91odOgRBWwHznUB50R4Pwuwi4tBFDYzD5PdmBpmkZ4nPLJVnyO7IGGoKMDH3VWr9rL02otDO/ycADl93oDkLqxqK5305x6U4u+3PEZTCz3TkwMHjOFGHAwGOB3zjbLZ22oCacN7P8Ple2SS2kL8RmuAjrK36OqOyKFHSUgjJLeFZ9n+H2lvPwYRwH5ROqzPNzGIAHMUhU6d7AOfDAx1NQqLt3xFVmVblwJmZ5AAg7ze+V7vzefHTivezfHJzd2jM5PydSsWw7qgMwXpuMk7nzpdZIfBcl5w4PGFaVu5llj5MTAlWKqpJj3Bj3yT1PXNR7jijnIFXTiIHThQR35CdlYgdfAkUd9l9vcXANzd3spV1LG2ePQmP1kL7lVJA1IMZ2yacdpWs3TmvCypEpKvH/OaTnZ8g5O+fMZx50jLazFtxxIhTy433/8APKnfY+dPlYPdzpBAY6RgOM7+W+PvFELqKxFvHNy7jS4yMuoZgAc4DKP1TTiztoYT83HDIdYJJmRyVDZUYUdzrqBKnOjrtvo5pqibSyBu2szEyRKiFedK4InbqSucoU2AYZyd+g8K2dk7cPLHGFwucMwkVwA+llXYYYgat8eh6b7e0izytr0d0ZwsZlfAYknCgYBLat8Dc/iU7PMpmTAZWDRq+piZMqAO+GOtTjAwQOhHgaztNYKylZa3COHRwxhY1AGP37/+HxrbxKSVYpGhUPKEYojHAZwO6CfAE7ZrbbjCL/ZH7q2UOga8MuWkijd42idlBaNtypIyVJ8cHalxGflxvJpLaVJ05xnHqelOqbcTUGGTIyNB2+7NAD247bf7TH/tfH7q5v8AbKVPEpHU5VwrDbHgB/hWz2gccuknVUZkRVBXG2SetAO1N48y20kpzKYsN9xIU+mRg/fVE3gxg5SpuqAFKlSq5sdm9kfoNn9mi/LWi1CeyP0Gz+zRflrRagOHn6n41P8A2ZcBS4t71/kQvZY2gEcZkaPZ+ZrOQw/VFQB+p+NG+Ecf5FpcwKGDyyQSJIDjQYS7fHOWGD6UBY9v2RtPlF2I7FZpI7WCQ2huDpindiJY+bqGcLg7k9cVDYuGxycZht5LVbdDNHG9ushkAzpDd/JJz12PjTjj3bmG4W7Itykt3BCkpBGgzRvqaQDH1gBt5jNRHg3EWt54Z0ALRSK4B6EqQcH0OMUBLOG9nIZouJAKBJHdQRQsS2EEkzRnx3GMdc9Ke2Xs7aK6tw729yrXLW8iBpFCyqpfS5C53XfK58q1X3bm0UEWlo8XNuY7i4LSa88t+YEj22Gok5Ne2XtDjSXmclj/AOove41D3XjMejp13zmgGnaPsgkdvw9rdhJPdasxKWJ1asALkAYX3DvknJ6UY9n3DrS14hbRyMLi7ZypVGzBB3WzqYbTyeGFOgZO5IqLdoe0UVzaW0XLdZYDINWoaDG7lxtjOrJG/TasvZnME4pZk9DKF+9gVH7TUoiXDL2vZIxKSCA0oXJAPeAJ0AtjZRhsKSAMVHePRqlpIMBjIARknukA+73gOgJ9TjxAr28WNlaLQrnnyMBscY0ajjOep64JBLb4NOLWeGSBVBLhYwBrBjJO6EFevXWMfs6VG1rJxuO3yRHruP8AQ4UBZmBIYHSdLamJUYJ22/YaY8Nsy3MwxXEZyyg5H4Y8iMddzUnvdOWjKt31XJJymWdife72osTkbePXOza1lZSivywO5jlwhZWBwikkv3gTjc+O9W5Rpue3AU4ZcnvvGrRqeUmg8oHKalkOFzkFhnIPXc+uMkba5ZFZtRfWcHctgEkDYAk+WM7ZNauK8U5EkEbK5E+CjBe7g4xk/eOlPHJXPkevocYz8POsHKV9GOpKXszh49dt0lk64+qMb43yQR5/D12p9bdoZztzWz+/9lArLhyISw94HvDJ94Yx9bfbH/gGHCxZUee+Px8fSjmQ5vsN/wCWpyR89p36scKPVjjpQW649dksObMCemMAYPNVMHIAyTH+HhvXttcaiV+uvUDr/wCbH44rF7bUXOVA0qvUatWWYEDxA8/++KKTi8kx1JLgaT8LhlVeaFcgnCkNrAzkaidjnPgT0/CsvafEq3SBQABEoAGw8fCrWuVBlDCJABowdWSgyQQCw1MGO53GDjrtVU+1J83gHlEmfvyaabbkawilNNeyH0qVKug6js3sl9BtPs8X5a0WoT2R+g2f2aL8taLUBw8/U/GsayfqfjWNAKlU14Lw3h8FnDc38csxuZXSNI30aIo8CSQ7d5tRwF6YFF+BdnOHm3lmW2ur5flphi5RZJOVoDqzKF65OPDc+FAVnSqeduuyVvZwymIszLfvCGY78vkRShWA21KzkE+lNe0/Y1hxC7t7NBy4GUYeWNSAygjeRl1b56UBDaJ9mZtF5av+rPE34Opol/mNeeIgHxurb/8ArWUfY26QhuZaAqc73dv4b/7SgZ0BxfhkbW+pERJHmnUyBRrIIm2LYz4Db0FVzFfQwqVbmKS5CGMzZ7rBSToGAFbUV9cmralspJbdOUYzuXHe21Mpz3hqDbsT5biqx7ZcJeLkq5UFldu4wYe8M9AM7k74H34qdPmjKSuuqEON2Zk1srONQOD8oBKgtgFtHXBU/FPWmkvFbYkMdWe59SdsBWiOBlcEYWTc9S2TvTdRt4nbr+6vSw9c1otPPJDrocMEItLmInTGgMmpGI1ITrKqQcZKkb7AsvgCaM3fElUmMAnUobO+BkgHO2kHcHTn1xihVpGnKgBaNS2sDWJMFjLKDuDpyRnY9aIHgx5h06QNIBJGCTqDFsg/1fFT4VlKvZhN5p8BCC5RmlKspGodCP1RTSG/04UjOXCjSOgOoEnvb4I36Y/bWkQJApXPMLHuhskjr0yScHP7KFPwq4eVo1mTKkOAythQSdGCE0g9dgT41kobm6IjFO6MmV/lvNBYfV93u4zI2/fyd1Tw21/DM5k4TKAp5b7gZJ0nLHdtOk7L5Z386gQs7nkvN8pTQmQwKyZ2ODgaN99qnPZa/m5ISZlaRTgMzOMggNjGNiowMH7qz1ozSTo0UE1UlQPu2eORUMfvaCSSAVwXIODuQdxkef4U17QZtV/N6aV/BQKurjshNzECygqAu4BZ8sSNJY5UgZONyd/AHFDdp5td3cN5yt+w4qdHs0hFJquv7BdKlSroNjs3sj9Bs/s0P5a0WoT2R+g2f2aL8taLUBw8/U/GsayfqfjWNATLgXH7FrWK24hHOwt5WkhaEpkq+C8ThvqlhnI33r257blbWaK0Eto0l404ELlEWEx6BHlSCTkA9MbZqM8H4XLczRwQrqkkOFGcepJPgAAST5A1IZ/Z7drJCitBIJuYEkilDxaolLyKzAd1gAdv4GgMuA8esmtGteILcsBcm5WSEoWZmQI6vr8DpBz1z5eIftbxn5beT3IXSJXyFzkgYAUHzOAKIjsDelbJgEIvTiHDegPf27uxz4+NBeO8JktLiS3l08yNtLaTkZxnY+PWgGFKlSoDoSxmuJLO2kV20NawoVwTH/qlPQZGfnOn6o6ZoV2pvJJDDzCCVV17oIGMoehJPj50X9n/ABKI8HthMGIw6nCswCpId3wDhemSdqJXfZkXRhdHSJlDqVWLMbA7DIGw6Hf4b7Crp5MFy0QIMKxbFS667AOmdVxAoG+WJXb7xWMXYiE4Et2uc40xDxAJI1MMA4Gela7kGxpwW21WqncEI2kgN7wmlyeuk+GxBo1wOwnmjchQ2JCB3lBxgEZGcjr94xRCG0htkWOBAwx7zlnOSxfpsPreX7qyt+LzKjAHByRsAAoy2yqBgH1rkk1lMym4t5I3xHhMsVxGkkUAR3Byyo0+dceNDK+pRjVvp20N11beSSMmo7FRMSFAw2ptK4z4jA2zQefh+b1ZmuANU641SNklSFIwTjJIIx60dupAGLHfDYx+G+PTNb6MUzS8KuhWxkV8EplETfSMZjKEZHmcH40raMAk7ZJwcZ8FU+PxNPIyuvGxBGc5G/T+NYNhnwuPex/8UFRrwioY/gz1ZNxyaZYxkMc5Xcbnw8xnB8etc93T6nc+bE/ia6D7QAwxzZIykbHPh7px/hXPArn0lyW+NebPKVKlWp1HZvZH6DZ/Zovy1otQnsj9Bs/s0X5a0WoDh5+p+NY06srGWeURQo0kjHCqoyx+6s+LcJntpOVcRPE+AdLjBwehHmPWgCns/ZxxC3McyQPqOl5BlMlSNLDI2f3Ov1qtaDh6x3VjJNbRWV0z3QaCKUNG8fyWT53QCVjOru7dc/hRFKgL5suIolhA2oCS04fFcxdN3dLm20+mGaM/hVZ+1MZ4veY3zLtjfPdXpUSrZBMyMroxVlIZWBwQwOQQR0IO+aAOWPYu/kXVyGjT9eYrCn3NIVB+6t54BZRfSOIRlh1jto3mOPISHRHnw2Jx60E4pczu/wCkPKzj/asxbB3Hvb7jBpnQHQvsuvrRrF0gjlMaytF88yljrCsSwRQAufDJrVx7tJeRTSpFLoVSAFVECjYf1c9T60M9hska2Ny0gOFuFOwYnOgAbDc0u0n0iU+o/wCUVrpq2Ytuxk/Fbpzl5A2ds4XP/LTnhs0jSxKznDSLnAUb5xnIAOdzvTKMU54bKDPH6OufxBq9ENJoMdprsxyRlzJh0TIQHboCwIU407kjoQaM8KXVCpByCoIPoS2PLwxTTtDfQZjicwh9GAHYh8smxABGdyuD5/tMdnbZVjCdABhc7ZAyQPQ6SKwlmJm1hAJuD6ZdY1bEnIY47xYnunIHvY2wdh8a0m0UzNlSGLajIX7jKeqac7MGGc+NTG7tR/38fOgsiDP3VktRxeSim44I5BAigkQvgKAUMo1PpI1aGz3NQGw8KIcLQhwBnR3dIJzjONvj0B+FPSg9K9j6j4iqy1E1SRE9ZzVMHe0qXTb3Zz9TH46RXP8AV8e1HPyW6ycnC5/vLVD1eHs6ND3+TylSpVc3OzeyP0Gz+zRflrRahPZH6DZ/Zovy1otQHKns91criggz8qNr81pzrKcxeeExvnTjpv1orwHg90/KPEY2nWGynntLaQnW2lgNLgfOacnUFPUAY2BFV3b3ckMgeKRo3U7OjFWHwIwRW+Tjt00wuDcTGcdJTI/MHUbNnIGCRj1oCy5+F2kcc109jGHNhDcfJm1hElM5jyBkMqsqhtPkSOhrdc8Jsbea9kFnFIqz2OiNyxRBcRlpQMHcZJwDsML5YqrLjjNzIZGeeZjKAJC0jEuAcgPk94AgYB6YpS8XuGzqnlbUVLZkc5MYxGWydyo2Xy8MUBcXDex/DY+erxB1e9uIT83cSyRxxjuLEYgdDAHXqbqNt+tAX4ZFDb26xcNW4X5LFdvdlmUh9eX1H3WQAaDGMHfz3qAQ9obxebpurheaSZcSuNZPUvv3ifM1qHGLnk/J+fLyM55WtuXnOfczjrv060BcHa63jFxf3f8Ak9LqVbiGARFZCvLaMuZSq7szECMN0GBj1B9quFWVha3ojto5W+XSW0buWLRIYEfu795kYkAn161BF7T3yyGQXdwH0BNYmkDaBnSuc5wMkgeZzTCS+lZCjSOULmQqWYqZCMFyM41EbautAXT7BIFezulYZBmXIyR9UeVSziXYdpJGk5qqGOQpUk9AN96A/wD09W7pZzyMuFebuEj3tK4bT6A7Z86tCV8kn8PhVlJrgwnhlfj2fOM/Ppv/AFW/jWdp2FdJFcypswY9074OfOp0xrQk+Xwq6iAdiMgjIBI38Dj8al6kkiqy6IdcWTTD9IicYVgWBKjYal7ujBGxXqPv61t4I/Nil1IFaNe6UdyMYOnIIGCMdN+tSS8jzzCcr3TlQMY28KFcGv5J+7GitjIIYafdOnzI3/w+NRyg0+D2+4qqtoZX/mRKXC5U48MDJLHBwAKCNHdszMtu0kWT3wUXChck6WIckHB6dDjGRT28sDFOBKmkTaUARslQWVcrvsNRHTfxrf2wsTZWyskzHvBSZPdC6W97QnicDfr02JqHBMKHtoYsMEivAM7Dqabx2SRkzPeZBIXlsgVNbbFVYgHIbAGetbpplTLMQqrq1E9ANJXfcbb+dc04OJg9OpJMAe0GMiwnyCO6Ov8AaWqNq7u2NzHJw28eORpFdlJ3GlWURqygYGgnAYjHVifGqRrTS4OvTgoWkKlSpVoanZvZH6DZ/Zovy1otQnsj9Bs/s0X5a0WoDh5+p+NY1k/U/GsaAVGuAdmbi8juZIQpW2j5kmSc43OFwDlsBjjboaC1bPYriVjw+ztGuJJFkuJjO4iVH1RKGhRJskEIQ8jY36mgIR2a7Hz3oUxNEoabkjWxHeETzEnCnChUO/mRWHaPsnNaJHKZIJoZCVWW3k5ketcEqTgYbBzg+tWTwWySyvbGzV00tPez51KRpMTwW/ezjdEzv+tUT49Ymw4V8kneI3E10JhHG6yaI0QpqYqSFLE4x4gelAQOpB2a4NGytdXRK2kRwcbNNJ1WGL+sfFvqjc+FNOznDI55TzpRDDGuuVzjVoBAxGv13JIAHmfKs+0nG/lDqsacq3iGmCEHIRepJP1nY7s3Un4CgLc9jvbA3M9zFJpTKqYI12RIkyvLQeSjT6ncmrE45xMQR6y0aqN2aRtKgdOuDXKfB+Jy200c8LaZIzlT+wg+YIyD6Gr1TjFlx6z5JflTkAtFqAYMpyGjzs652+B8DV40zGcc36JJZ9pDIoZAkikZV4XDrsTnOrT5eGd8g4oRxftjHbFGIZe9pOWUEIxLEjS+T7uwwTUF7U29zwxYbS1WRlCs7MAWbLNsTpGANjgeh3p12f7BHiEEdxczXCSHI0YAxpJC4DDI8/vq7inxyQklkkt97RbNtcHMkWVmMWdLHDE8snVnfG/j4UM4B24tYrgiIiFjqTGJHyc5GrWSAcgDY4/fWr+R+2zn5TPnOc4TOfPOOua0yeyS3U5W4nyD1woP44qNkuifHsKcX7Urd6Ndwo3CqyxkEZaEZGc4I5ynPhj0OGR49CU1yTk90P7rFR3U3C7YbExXrto+Faf5K4x0uZ/T3fT/AKV/AUy4x7No4oJHFzOSiEhSBg4HTb4D9lTtkT4kgsbyRh8woyW1K5wEyQQQ27HGCd8E71lg3CyRu9tIvSQW8xeRDnKkZQDZgNj5Hr0qsOx1/cx3EMZEuh3Cadx1OMjbrvVj8A7K2vClluJ5yqMukcwAHHUAKN3bpvt8Ko4RaszcK/IL7fymCxlDyNLJcSjU76dTEKBnAAAAVFFVBUh7a9pDezlgCsS7RoeoHiW/rE/4DwqPVnFUjXTi0vLk9NeUqVSaHZvZH6DZ/Zovy1otQnsj9Bs/s0X5a0WoDh5+p+NGo+yF+1sbpbaQwAZ1gfVHVgPeKj9YDFBZOp+NWtx/h3EJLxJ7JnjthYIyTEkQLCIAHUnBUHORp65OfWgKoryrdu+BQC1eIWcfyZeGC6S+0HmNcYDAc3OMM50crrTnj8NlEb39CtwllLYuCqd51mxz1cnqpHRQMD40BTVKrqTsnYw31tZvHG7SPc3YyuotHhhaRYGCVwpcpncj1rHidnZwLdXPyOFpEs4JOXJbtFDzGmMYdYmbUgK4yud9PrQFNzW7pp1qy6lDLqBGVPRhnqDg71qq9Tax3M1tJLbQ/N8IiliAgeRGc6Aw5Yb51YwdkHTV40G7UWtnaQX8kVpEX50EYWWIjktLAzSctS2V/WUEnBYeVAVIBSBx0rylQFweyC/nlhvSZnMirEqs51kKDIcAHfxO2fGrTS7yck1ytZ8RmizypZI9WM6HZc46Zwd8ZP406/zjvf6Vcf8AFk/6q2jqJKmZuFs6baZD4/8AelzFI2Oc+u4rmZe018Ol3cf8WT+NejtTfD/7u4/4r/xq32or9bOjXIxWuMjz8a54/wA67/8Apc//ABG/jS/zqvt/0mbfr3zT7Yj62W17RrqaGzeRZMOs4aNk2KqRpx+BP41Sl7eyTMXldpGP1mYk/t8Kd33H7qZNEs8joSDpZsjI6UMrKctzwaRjQqVKlVCwqVKlQHZvZH6DZ/Zovy1otQnsj9Bs/s0X5a0WoDiF4jk7eNORf3HKMHNk5JOTFrPLznOdOcdd6VKgEb645Qg5knJB1CPWdGfPTnGa8lvJ216pJG5mnXlydWn3NWT3seGelKlQGLXU5dXMjl0ACMXOpQvuhTnK48MdK2XHELmQyF5ZWMmOYWdjrA90Pv3gMDGemK8pUBnFxS6XlFZpRyc8rEjDRnro37ufStM11OwYNJIwdtbAuSGfcamyd23O533r2lQDblHypco+VKlQHvKPlXnKPlSpUB6EavOWfKvaVAeco+VLlHyr2lQHnKPlS5RpUqAXKPlS5R8q9pUB5yj5UjGfKlSoDsrsl9BtPs8X5a0WpUqA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373737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1237755" y="-19510"/>
            <a:ext cx="5873750" cy="1191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Ideal Vapor-Compression Refrigeration Cycle</a:t>
            </a:r>
            <a:endParaRPr lang="en-US" sz="3200" dirty="0">
              <a:solidFill>
                <a:srgbClr val="FF0000"/>
              </a:solidFill>
            </a:endParaRPr>
          </a:p>
        </p:txBody>
      </p:sp>
      <p:pic>
        <p:nvPicPr>
          <p:cNvPr id="1648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609725"/>
            <a:ext cx="3429343" cy="417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8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8944" y="1800225"/>
            <a:ext cx="2546869" cy="223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86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7400" y="4346258"/>
            <a:ext cx="33528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86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5375" y="4921568"/>
            <a:ext cx="2438400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87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8230" y="5611178"/>
            <a:ext cx="2409825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8120" y="1698352"/>
            <a:ext cx="2250440" cy="230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692761" y="824508"/>
            <a:ext cx="2168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Enthalpy,</a:t>
            </a:r>
            <a:r>
              <a:rPr lang="zh-CN" altLang="en-US" dirty="0"/>
              <a:t> </a:t>
            </a:r>
            <a:r>
              <a:rPr lang="en-US" altLang="zh-CN" dirty="0"/>
              <a:t>H= U+PV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13144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9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3695" y="1190445"/>
            <a:ext cx="4160014" cy="4982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837" y="2179192"/>
            <a:ext cx="3574626" cy="35746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01675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data:image/jpeg;base64,/9j/4AAQSkZJRgABAQAAAQABAAD/2wCEAAkGBxITEhQUExQVFhUXFxwZGBcYGBgaFxwYHBwcGBcdGBweHCggGB0lHBwaITEhJSwsLi4uHB8zODMsNygtLisBCgoKDg0OGxAQGzAkHCU0LC00NCssLCwsLC80LDAsLCwsLywvLCwsLCwsLywsLCwsLCwsLCwsLCwsLCwsLCwsLP/AABEIAQcAvwMBIgACEQEDEQH/xAAcAAABBAMBAAAAAAAAAAAAAAAFAAQGBwIDCAH/xABNEAACAQMCAwUDCAUHCwMFAAABAgMABBESIQUTMQYiQVFhBzJxFCM0QnSBkbMkUqGx0RczVGJyksEVFjVDU3OTstLh8CWCoghEY6PT/8QAGQEBAAMBAQAAAAAAAAAAAAAAAAECAwQF/8QAJxEAAgIBBAICAgIDAAAAAAAAAAECESEDEjFRIkEEE3GhYcEUkfD/2gAMAwEAAhEDEQA/AKQdzk7nrXms+ZpP1PxrGgMtZ8zS1nzNY074pw2a3kMU6NHIuCVbqMgMPxBBoBtrPmaWs+ZrGnV9w+WHl8xCnMQSJn6yNnSw9Dg0A31nzNLWfM04FhLyefoPK5nL1+HMKlgvx0gmmtAZaz5mlrPmaxpUBlrPmaWs+ZqU8D7AcQvNPKg0ggbuwXI/Wwxz+AqYxewa8KjVcQq2+oYYgeWD41DklyE74Kl1nzNLWfM1bw9gl1/Sofwf+Fe/yB3P9Lh/uvVfsj2CoNZ8zS1nzNXCPYFcf0uH+49YzewS4AJF3Dt5qwH40+yPZNMqDWfM0tZ8zUv457Nb+3QyhUnhG/NgdXXy6e9+yoeRirJp8EHus+Zpaz5msaVSDLWfM0tR8zWNKgOzeyX0Gz+zRflrRahPZH6DZ/Zovy1otQHDzdTWNZP1PxrGgJP7OOFLcX8IkIWKImeVicKI4hrYsfBTgAn1qx+IcGiv73h1xPJb3Otp4pzAzPEXjV57dDsGyyYUjG+nbrVL291ImrQ7JrUo2liNSHBKtjqpwNjtsKzt+ITRrpSWRF1B9KuwGtfdbAPvDwPUUBbd5Y2MTTXHySJ2SwMrRPbywQGRbhER0jc6gCCQQDg6T+tWXD+ERO8MxtoXUcOtmYNHJKqvLI4ykCZMhONO5AUb+lVPc8ZuZGdpJ5nZ10OWkdiyA5CsSe8uQDg7bVlBxu6QgpcTqQnLBWRwRGOiDB9zc93pQFhe0Lh0dvZ3sUS6Y14sulfAA2zNgegztURik4S6rrS9hfABKNFMmfE6WCHc+Gqg11xOeQESTSuCwYhnZgWC6AxBO7Be7nrjamlAShezdpKQLfiMJY/VnjlhPoAQHUn76sTsl7N2tF5kiJPc+AVldIvI4G7N45xUQ9lHB1eWS6cZWDAQHoZWzj+6Mn8KsyQHJzuR41ScqwcnyNWvFAr2d8F4nBxVmnkZIO+W1EgSAghcKRsQSDvjp41cpuF/WX8RVawX8y+7I+PIsSPwO1bDxNj78cT/ABQKfxXBrm1fP3ROn8mlTRYhu0/XX+8P414b2P8AXT+8P41XTT27dYnT1R8/sYH99YG2t292Yr6SRn96Fv3Vj9T9Mv8A5P8AH7LGPEYv9on95f40M7RC2uraa3edFEqFSQ65APj1qFJwWSSRY4nictnvB1OgAe8yEq7Lq0juj61aOMdl7i1XVI6SB3AzFCwwQrHLksxVdsdcElc4xvK05LLf6NI6smrr9mq0t7bhPD5LSO4+USTOXZlHcXIA3IJCd1NgTknPgNoP2g4GlyCygLMOh6avR/X1qeWXYrmaXmfusEZUi1tq2JVn5hK5Go7EEdfWmnFuyZiDyxTErGhZ0lGJML+qVGGz92PvotaCnW7yJ1NHVa3pFG3VvoOCd/rDBBVs7qc+P8a0VMu33DgNE6/W7r/2gNj+G1Q2u+MtysiEtysVKlSqxc7N7I/QbP7NF+WtFqE9kfoNn9mi/LWi1AcPP1PxqQdluzC3Mc801wttbwaA8jIznVISEAVdz0OT4bVH36n41OfZleNGLjk3sdtcHRhLjT8mmjGdYfKnDLnI+Jx40AA4r2XnjuJYYh8p5YDcy3DSIUYBlY6QdOx3z0OaHJwydk5ghlMe3fCMU3bSO9jG7d347Vb1zxS1czRWF9BZOt3FNLKpMcTqIQsphH+sVZNR5Z2bJ+NDuG9qoIv8kK9zrhS5uXuAMqDmbVDJLEOm+HAOcb4oCtX4PciVYTBMJWGViMbiQjfouMnofDwpQcHuXYokEzMraWVY3LBsE6SAMg4B29D5Vc3+cdsLhYXmtjIbWdElW6nZQ0ksbhHuSNSalRiCPd1Y8dxfEe1kYa9aK4iSQzWC64pWPMEYfmsHbDPgaVZvHTnxoCoXQgkEEEHBB2II6g+VY0d7dTxycRvHjZWRriRlZSCpBYnII6g9c0JsbYyyxxggF3VAT0BYgb/jQFw+zy30cNiOMcyR3Prg6V/YKkFNLi1axhtLTMZYMYjIzFYQcsSzHGVG34mtlreCWKOUDTrXVpzkA5KnBwMqcZBx0IrGfJ5urCVufodNitTCvEbPiKzK/A1k1ZRLBqavM16+AN2ArDWvmNutVomjK1uJIZ0uIgpZQyMrHAaN9JYasEqcqpB8xvTi/wCO3LhVQyQxoS3880krsQRhm8EGc6cnJA6AbspJVB94U2muwpHQ5zjdQNuu5IFRm8G0NSaWxEy4bdK6RyhyEeIBXGcKRgOp/VPdO/Wm/ai8VoJnJyqwNGW8GZ10gDz3y2aA/wCcDK1ukGmBRy+cXdGV1IUB+WMHJTckA52rAcfkeOeOfRLzNSxvkroVhg9zB36+I229a5X8VqVt4u/7/wCwetL5UFGnzVEc4xw5ZLSVXcJhGcMempAWUf8AuPd++qlq7eIQiSCVc7MjDPltVT9qeDGzu5rYvr5TadYGnOwOcZOOteloPB53xnhoFUqVKtjpOzeyP0Gz+zRflrRahPZH6DZ/Zovy1otQHDz9T8axrOVcGsKAmPEvZrfwxPKwhYRpzHRJUaRY8BixTrgA5PpUOroTjXDzzbuVrNYY3sip4iJctj5OgI5RYjcjl4AB8jTabhUQsIluljMKPYEOscSQ8tnUTGNgxkfZsSO5AJ6AUBSfA+ES3UwhhwXIZhk4GEUu2/wBrO44HMltHdPpWOV2WME999PvMq9SgO2rz2q4bSG7Xidub2K3RRJeLEIwiTNAIXI9zumIDZWPezUM9ogW7tbPiMCaIinyZ4QcrA8edAXyVl3Hw33NAQzhC25kxctKseD3olVmDeB0sQCPPfNWR2J9miXWZre6WQRSI8b6JEDaTlkkRlyjbbMpYdc+FVWy4ODRXgnFbpJIkhnlTLqAFkcDJYeAOOtAdIXvB3muFhlcpzFL5XSTkA6gNSkHdt9j4V6fZopJJvbo9MfzGB93Kotc8wcQs11NoEMuodQWwmM+vXf41JqpFIp9cSB/yaJt+mXR8/5jf4fM7VsHs0h/pV3+MP8AhFU4pVal0Prj0QNvZhBv+k3XoCYtv/1ZNL+S+3yM3Fzj+2mT/wDDH7KnleYpS6J2R6IL/JZabZmuvX5xN/j83t92K3QezSyUkl7hh5GTp94AP7ammK8am1dDbHoig7AWA6I/QD+cfoBgePkAPurVL2Ish/q2/wCI/wDGpRI1aHOaq4x6LbV0Vp2j4bHBMsMS4V4ixySdySvj6VSHa66Mt3K5zk6c58wig/uq/O2y/pkP+5P/ADmqB7WR6budfJ/2YGP2VSC82Ywdakl+ATSpV7itjY7M7I/QbP7NF+WtFqE9kfoNn9mi/LWi1AcPP1PxrGsn6n41M+xZgisb+5ltobhontlQShsASGUNjBB8B+FAQvNLUfM+X3das3iHZmCRZZLaKKNbi1tZlRyzcl5pjCwjby1Kd28DTK/9mLJdwWq3Sl5WkQ64ZY9JjTXkBx84hxgOu1AQBnJ6knAx93lXmasXhfYyGNJphLHdwPYXbRyBHXTPCBnutvlcgg+Oaap7OdUMUq3aMGkgjkIikCIZ9lKyHCzaSQG0nbxoCB0b7E2/M4hZpjrcRfhrBP7K28c7LPawc2RwGNzLAseDkiE6XfPgNfdx6Gnfsr/0tZf70fuNQ+CVydPXIzew7HaNjnw6EUaoWfpQ9I/8TRSqwdqyqFSpUquSKvK9pUB4RWMgrOsXoBsyVpkG/T8K3Oa1t6VDJRXfb6dUu4ckDMJ/HXj/ABA/Cqe9pr/pQTRGAEVg6rh31gNl2+vjoPIbVZntfEpurfkqWYQnoMlTrGkj1zj0qou2M0rzKZlCvy1BUbYAzpGMnG2NvCqKPluM1GptgGlSpVoXOzeyP0Gz+zRflrRahPZH6DZ/Zovy1otQHDz9TUj7LdpIbeC5guLX5RHO0TEc1o8GLWRuoyff/ZUcfqfjUm7JcItmhuLy85jQQGNBHEQrySSE4Go+6qhST91AO7zt8z/KB8njEckUMMcQJMccUDh1Ujq4O+enU1JuBe0SKa9slaMW8EcssrNLO8qhmhdAqF8cqLfAQbbjpUTl7MRXc7f5NfMAiWSRrhhGICxwY5HbCsdXQjrnxwTWNp7Pb55JY9MaGKVYnMkqIA7jMeCT3tW2MZzqHnQD1+3yLGYYLVYoPk08QQSMx5lwAHkLEbgYAC+Q6+Tvi/tA+WxNbCEQPO1uGlad+UjREBSqkaYY8ZJ09Ou+KZp7Obg20Tgp8oku3t+UZIxgrhfPOrXqyPAAHxpvB7Ob53dByMoyoSZ4wplYahEhzhpPNR0++gCntK4it/fQQQywFY4gpk1hYGnbMkzBzt3m2z4ketaOw3Abq14vYi4hePMw0lh3G2PusO633E0I47wBYLG0mIZZpJJ0lUnYGJwgAHgRvmn/ALLOLXC31vbJPIkMz6HRW2w3ioOQreTDcVD4JXJ00WxdqPOP/E0VqGtaX8FwOVKl2Amyz4jkxk7c2NdJ9MpnzPiCCdrokOm7jltG85l+a+6dcxfcWB9KiCpFUSKlWEMquAysGU7ggggj0I61nViRUqVeUB7WEgrKsZKAbOKyYik61rk9KqSVF7ZrjTcRHfSLZ84ODgvnb4af3VS/Gr0zOHPljrnxP8auL22D55cjpaNj175/d/jVNyq2hsHC5GoZ6nfTt4+NSuLKRzJoY0qVKpLHZvZH6DZ/Zovy1otQnsj9Bs/s0X5a0WoDh5+p+NSXspxi2WG4tLwSiCco4eIKXjkjJ0kK2AykMQfuqNP1Pxor2d7NXV6zrbR8woAzd5VwCcD3iPGgJRH2k4YflNoIp4bOWKFRIgRpzJC2rmSKTpOvJBAO2B64ccQ7eW0gkUJKq/KbRowQpbk2yaO+c++cZ8t+tQnjvA7izk5VzGY3wGAOCCp6FSCQRsenlTaCxldGdY2ZFZVLAEgM2dC58zg4HpQFk2vbuy5vNcTgpxSS7QBFOqKXSCG7+zAA7dOm9CeAdp7LkpFeC4HIujdRNCFJfOCySamGDkDDDzP3wm6t3jdkkUq6kqykYII2II8CK1UBLe2HamO8ghUKyyCe6mcbaRz5OYoU5ycfCtXsw/0tZf75ai9Sj2Yf6Wsf9+tQ+CVydUyD9JX+wf8AGiDoCCCAQeoO4oFxjiqQTqz5xo8MeZ86wt+18L50hj9w/jVYtUZb4puz2bshADqtmktH65t20IT/AFoiDE+fVc+oO9Yc/iUHvxxXkY+tF8zPj+w55bnruHT4V63bCEAkq2FGT7p2/Gk/a1FOHilTLFQTowWUZZRhic4B9NqtaJU4tWOLHtVayOImYwzHpDOpikP9kNs/xUkUaJqCcf7a2hUxz2/MRuquEZT8QTUC7R8Zga2aGwkmhzj5t5vmQQQQ0YYO0RUgFQjIBt8DG6PY+yPZfNYsaqn2ddvb19MF4iTf/njdNQGCfnE8enVd/MdTVjC6uMn5gY8O+v7TVi6d8Dtq0uPKmr3Vx4Qb+XMA+/Pj+FaWubrUP0cadt+aCfwwMfHP3VBJWXtqhJlUj+jMB5511SE6DDaiwfbSMbY8Sc9K6R7WcFvLmaKSOIIY1Zf5xTnJBGNwQdqpv2sqBdqrauakapIDjTlVAGD476s/d61W2nRSKe5kIpUqVXLHZvZH6DZ/Zovy1otQnsl9Bs/s0X5a0WoDh5+p+NWB7K7YSQ8SQ2z3QMMXzCMUZ8TKdmG4xjV8FNQa1sZZnKRRvI250orM2PE4AJxShuZoWYI8kbdGClkO3gcYOx8DQF1zcGJmhYWqqIuHHTZzR/KpYfnyoKRkjms2TguQFBPlTi9QW5vooLaEJHxCycryVOhXRXZiPqgNnB6KCwHWqMXiEwcyCWQORguHbUQRggtnJ22pC/mww5smGUKw1thlXZQwzuB4A9KAvm34RHJc3ry2cbyNxFonQWiyE2wTUh3dRCZMsxn8WANRS2urO2ThSfJbZ4biWdZZZYUaUxi5kiQ6iDgqpzkb7AZ2FVo3FJyWJmlJddLnW2WX9VjnvD0NZ8LvwksTSx8+OMnELswQ5ycbHIGo5wOvjQEn9pHCI7M2tiiLzY42aVwq63eV2KKzAZbSgXH9qiHs67F8Rj4jaTSWsyRpKrMzrpAA6nfBqGdo+NS3dzLcS4Du2cDYKBsqr5AAAfdTzsSZW4hBy2PNLnS2d86T4nxPrRkN0rOiePcOYzJPG0Css5Znc5OkAhdY1DUobB0gg9PWtUHApZDFPJLBlECEIshAGsSEe9gnVkasDIPhQvjl/DI/d1HCjCMBzNWGDDxYZJXGOhyemKh3aJHEq4LgaO6oZ0Ve/JkADHQjHTwqYx9GSkpFiw9n9Lq2XkQgKylJGBXCLsWlGnBUnPQA+QrXx2Owh1FZJ3kUHCmZ3XV3Sf5zUA2HG4GSCRvjFVnySR78vw5kn/VWfZ60Pynu627g7oLMxfmLpKgnqBq/EVZwpZJaVYDUMkFwHaTUVC93SCwDeI3x44G4pvJY2/JVtxMG3GO6V8//AD1+5/Pxd1uLopq1Nu4lQtvpCaQ2g6n6DBC41AVFOM8WnikZEiVlBIBIfcA4zt4ZB/CqxSv/AEWtLxX8h+6jiinh+TmQE++GGOu2B6Y6/dV7IapDsxfz3xjlmidjEeWqqgXLNnAUn3vNmOAuMn1vBRVVdUy1pvAmrWT6VsIrDFSSaWrl/wBs5/8AVJ/TH7s/41fFnZ8UHFJ5JJUNgV+bTIyDhcALjIYEMSxO4PwxQvtiGOJz7/W23JwCFON/XO1QQ2QilSpVJJ2b2R+g2f2aL8taLUJ7I/QbP7NF+WtFqA5W4VezW3BpZrV2ila+EcskZKyCIRao11DdVL6viRiilxad25v+L2pmm5kEXJVjDs8ermuU3LMoGPXOfIQngPaW7sndrWZoi2zYCkEDOMhgQcZONtq3cO7Z38E0s0dw4kmIMrEK2ojdSQwIyPA428MUBYUHYvh0EvJmhefXxP5Ijc1kKRvFFIpYLszIX9M758BTXhHZPh5S1hkhd5bn5cvO5rLoNsXMbBBsxIXBHT0NV/F2lu1KkTNlbj5SCcE8/Ycwkjc7Drt6VlH2ovFaJhMQYeaYzhe7zs87w31ZPXz2xQE7k7GWHyKJSyJcvaw3AlMrmQtKy91odOgRBWwHznUB50R4Pwuwi4tBFDYzD5PdmBpmkZ4nPLJVnyO7IGGoKMDH3VWr9rL02otDO/ycADl93oDkLqxqK5305x6U4u+3PEZTCz3TkwMHjOFGHAwGOB3zjbLZ22oCacN7P8Ple2SS2kL8RmuAjrK36OqOyKFHSUgjJLeFZ9n+H2lvPwYRwH5ROqzPNzGIAHMUhU6d7AOfDAx1NQqLt3xFVmVblwJmZ5AAg7ze+V7vzefHTivezfHJzd2jM5PydSsWw7qgMwXpuMk7nzpdZIfBcl5w4PGFaVu5llj5MTAlWKqpJj3Bj3yT1PXNR7jijnIFXTiIHThQR35CdlYgdfAkUd9l9vcXANzd3spV1LG2ePQmP1kL7lVJA1IMZ2yacdpWs3TmvCypEpKvH/OaTnZ8g5O+fMZx50jLazFtxxIhTy433/8APKnfY+dPlYPdzpBAY6RgOM7+W+PvFELqKxFvHNy7jS4yMuoZgAc4DKP1TTiztoYT83HDIdYJJmRyVDZUYUdzrqBKnOjrtvo5pqibSyBu2szEyRKiFedK4InbqSucoU2AYZyd+g8K2dk7cPLHGFwucMwkVwA+llXYYYgat8eh6b7e0izytr0d0ZwsZlfAYknCgYBLat8Dc/iU7PMpmTAZWDRq+piZMqAO+GOtTjAwQOhHgaztNYKylZa3COHRwxhY1AGP37/+HxrbxKSVYpGhUPKEYojHAZwO6CfAE7ZrbbjCL/ZH7q2UOga8MuWkijd42idlBaNtypIyVJ8cHalxGflxvJpLaVJ05xnHqelOqbcTUGGTIyNB2+7NAD247bf7TH/tfH7q5v8AbKVPEpHU5VwrDbHgB/hWz2gccuknVUZkRVBXG2SetAO1N48y20kpzKYsN9xIU+mRg/fVE3gxg5SpuqAFKlSq5sdm9kfoNn9mi/LWi1CeyP0Gz+zRflrRagOHn6n41P8A2ZcBS4t71/kQvZY2gEcZkaPZ+ZrOQw/VFQB+p+NG+Ecf5FpcwKGDyyQSJIDjQYS7fHOWGD6UBY9v2RtPlF2I7FZpI7WCQ2huDpindiJY+bqGcLg7k9cVDYuGxycZht5LVbdDNHG9ushkAzpDd/JJz12PjTjj3bmG4W7Itykt3BCkpBGgzRvqaQDH1gBt5jNRHg3EWt54Z0ALRSK4B6EqQcH0OMUBLOG9nIZouJAKBJHdQRQsS2EEkzRnx3GMdc9Ke2Xs7aK6tw729yrXLW8iBpFCyqpfS5C53XfK58q1X3bm0UEWlo8XNuY7i4LSa88t+YEj22Gok5Ne2XtDjSXmclj/AOove41D3XjMejp13zmgGnaPsgkdvw9rdhJPdasxKWJ1asALkAYX3DvknJ6UY9n3DrS14hbRyMLi7ZypVGzBB3WzqYbTyeGFOgZO5IqLdoe0UVzaW0XLdZYDINWoaDG7lxtjOrJG/TasvZnME4pZk9DKF+9gVH7TUoiXDL2vZIxKSCA0oXJAPeAJ0AtjZRhsKSAMVHePRqlpIMBjIARknukA+73gOgJ9TjxAr28WNlaLQrnnyMBscY0ajjOep64JBLb4NOLWeGSBVBLhYwBrBjJO6EFevXWMfs6VG1rJxuO3yRHruP8AQ4UBZmBIYHSdLamJUYJ22/YaY8Nsy3MwxXEZyyg5H4Y8iMddzUnvdOWjKt31XJJymWdife72osTkbePXOza1lZSivywO5jlwhZWBwikkv3gTjc+O9W5Rpue3AU4ZcnvvGrRqeUmg8oHKalkOFzkFhnIPXc+uMkba5ZFZtRfWcHctgEkDYAk+WM7ZNauK8U5EkEbK5E+CjBe7g4xk/eOlPHJXPkevocYz8POsHKV9GOpKXszh49dt0lk64+qMb43yQR5/D12p9bdoZztzWz+/9lArLhyISw94HvDJ94Yx9bfbH/gGHCxZUee+Px8fSjmQ5vsN/wCWpyR89p36scKPVjjpQW649dksObMCemMAYPNVMHIAyTH+HhvXttcaiV+uvUDr/wCbH44rF7bUXOVA0qvUatWWYEDxA8/++KKTi8kx1JLgaT8LhlVeaFcgnCkNrAzkaidjnPgT0/CsvafEq3SBQABEoAGw8fCrWuVBlDCJABowdWSgyQQCw1MGO53GDjrtVU+1J83gHlEmfvyaabbkawilNNeyH0qVKug6js3sl9BtPs8X5a0WoT2R+g2f2aL8taLUBw8/U/GsayfqfjWNAKlU14Lw3h8FnDc38csxuZXSNI30aIo8CSQ7d5tRwF6YFF+BdnOHm3lmW2ur5flphi5RZJOVoDqzKF65OPDc+FAVnSqeduuyVvZwymIszLfvCGY78vkRShWA21KzkE+lNe0/Y1hxC7t7NBy4GUYeWNSAygjeRl1b56UBDaJ9mZtF5av+rPE34Opol/mNeeIgHxurb/8ArWUfY26QhuZaAqc73dv4b/7SgZ0BxfhkbW+pERJHmnUyBRrIIm2LYz4Db0FVzFfQwqVbmKS5CGMzZ7rBSToGAFbUV9cmralspJbdOUYzuXHe21Mpz3hqDbsT5biqx7ZcJeLkq5UFldu4wYe8M9AM7k74H34qdPmjKSuuqEON2Zk1srONQOD8oBKgtgFtHXBU/FPWmkvFbYkMdWe59SdsBWiOBlcEYWTc9S2TvTdRt4nbr+6vSw9c1otPPJDrocMEItLmInTGgMmpGI1ITrKqQcZKkb7AsvgCaM3fElUmMAnUobO+BkgHO2kHcHTn1xihVpGnKgBaNS2sDWJMFjLKDuDpyRnY9aIHgx5h06QNIBJGCTqDFsg/1fFT4VlKvZhN5p8BCC5RmlKspGodCP1RTSG/04UjOXCjSOgOoEnvb4I36Y/bWkQJApXPMLHuhskjr0yScHP7KFPwq4eVo1mTKkOAythQSdGCE0g9dgT41kobm6IjFO6MmV/lvNBYfV93u4zI2/fyd1Tw21/DM5k4TKAp5b7gZJ0nLHdtOk7L5Z386gQs7nkvN8pTQmQwKyZ2ODgaN99qnPZa/m5ISZlaRTgMzOMggNjGNiowMH7qz1ozSTo0UE1UlQPu2eORUMfvaCSSAVwXIODuQdxkef4U17QZtV/N6aV/BQKurjshNzECygqAu4BZ8sSNJY5UgZONyd/AHFDdp5td3cN5yt+w4qdHs0hFJquv7BdKlSroNjs3sj9Bs/s0P5a0WoT2R+g2f2aL8taLUBw8/U/GsayfqfjWNATLgXH7FrWK24hHOwt5WkhaEpkq+C8ThvqlhnI33r257blbWaK0Eto0l404ELlEWEx6BHlSCTkA9MbZqM8H4XLczRwQrqkkOFGcepJPgAAST5A1IZ/Z7drJCitBIJuYEkilDxaolLyKzAd1gAdv4GgMuA8esmtGteILcsBcm5WSEoWZmQI6vr8DpBz1z5eIftbxn5beT3IXSJXyFzkgYAUHzOAKIjsDelbJgEIvTiHDegPf27uxz4+NBeO8JktLiS3l08yNtLaTkZxnY+PWgGFKlSoDoSxmuJLO2kV20NawoVwTH/qlPQZGfnOn6o6ZoV2pvJJDDzCCVV17oIGMoehJPj50X9n/ABKI8HthMGIw6nCswCpId3wDhemSdqJXfZkXRhdHSJlDqVWLMbA7DIGw6Hf4b7Crp5MFy0QIMKxbFS667AOmdVxAoG+WJXb7xWMXYiE4Et2uc40xDxAJI1MMA4Gela7kGxpwW21WqncEI2kgN7wmlyeuk+GxBo1wOwnmjchQ2JCB3lBxgEZGcjr94xRCG0htkWOBAwx7zlnOSxfpsPreX7qyt+LzKjAHByRsAAoy2yqBgH1rkk1lMym4t5I3xHhMsVxGkkUAR3Byyo0+dceNDK+pRjVvp20N11beSSMmo7FRMSFAw2ptK4z4jA2zQefh+b1ZmuANU641SNklSFIwTjJIIx60dupAGLHfDYx+G+PTNb6MUzS8KuhWxkV8EplETfSMZjKEZHmcH40raMAk7ZJwcZ8FU+PxNPIyuvGxBGc5G/T+NYNhnwuPex/8UFRrwioY/gz1ZNxyaZYxkMc5Xcbnw8xnB8etc93T6nc+bE/ia6D7QAwxzZIykbHPh7px/hXPArn0lyW+NebPKVKlWp1HZvZH6DZ/Zovy1otQnsj9Bs/s0X5a0WoDh5+p+NY06srGWeURQo0kjHCqoyx+6s+LcJntpOVcRPE+AdLjBwehHmPWgCns/ZxxC3McyQPqOl5BlMlSNLDI2f3Ov1qtaDh6x3VjJNbRWV0z3QaCKUNG8fyWT53QCVjOru7dc/hRFKgL5suIolhA2oCS04fFcxdN3dLm20+mGaM/hVZ+1MZ4veY3zLtjfPdXpUSrZBMyMroxVlIZWBwQwOQQR0IO+aAOWPYu/kXVyGjT9eYrCn3NIVB+6t54BZRfSOIRlh1jto3mOPISHRHnw2Jx60E4pczu/wCkPKzj/asxbB3Hvb7jBpnQHQvsuvrRrF0gjlMaytF88yljrCsSwRQAufDJrVx7tJeRTSpFLoVSAFVECjYf1c9T60M9hska2Ny0gOFuFOwYnOgAbDc0u0n0iU+o/wCUVrpq2Ytuxk/Fbpzl5A2ds4XP/LTnhs0jSxKznDSLnAUb5xnIAOdzvTKMU54bKDPH6OufxBq9ENJoMdprsxyRlzJh0TIQHboCwIU407kjoQaM8KXVCpByCoIPoS2PLwxTTtDfQZjicwh9GAHYh8smxABGdyuD5/tMdnbZVjCdABhc7ZAyQPQ6SKwlmJm1hAJuD6ZdY1bEnIY47xYnunIHvY2wdh8a0m0UzNlSGLajIX7jKeqac7MGGc+NTG7tR/38fOgsiDP3VktRxeSim44I5BAigkQvgKAUMo1PpI1aGz3NQGw8KIcLQhwBnR3dIJzjONvj0B+FPSg9K9j6j4iqy1E1SRE9ZzVMHe0qXTb3Zz9TH46RXP8AV8e1HPyW6ycnC5/vLVD1eHs6ND3+TylSpVc3OzeyP0Gz+zRflrRahPZH6DZ/Zovy1otQHKns91criggz8qNr81pzrKcxeeExvnTjpv1orwHg90/KPEY2nWGynntLaQnW2lgNLgfOacnUFPUAY2BFV3b3ckMgeKRo3U7OjFWHwIwRW+Tjt00wuDcTGcdJTI/MHUbNnIGCRj1oCy5+F2kcc109jGHNhDcfJm1hElM5jyBkMqsqhtPkSOhrdc8Jsbea9kFnFIqz2OiNyxRBcRlpQMHcZJwDsML5YqrLjjNzIZGeeZjKAJC0jEuAcgPk94AgYB6YpS8XuGzqnlbUVLZkc5MYxGWydyo2Xy8MUBcXDex/DY+erxB1e9uIT83cSyRxxjuLEYgdDAHXqbqNt+tAX4ZFDb26xcNW4X5LFdvdlmUh9eX1H3WQAaDGMHfz3qAQ9obxebpurheaSZcSuNZPUvv3ifM1qHGLnk/J+fLyM55WtuXnOfczjrv060BcHa63jFxf3f8Ak9LqVbiGARFZCvLaMuZSq7szECMN0GBj1B9quFWVha3ojto5W+XSW0buWLRIYEfu795kYkAn161BF7T3yyGQXdwH0BNYmkDaBnSuc5wMkgeZzTCS+lZCjSOULmQqWYqZCMFyM41EbautAXT7BIFezulYZBmXIyR9UeVSziXYdpJGk5qqGOQpUk9AN96A/wD09W7pZzyMuFebuEj3tK4bT6A7Z86tCV8kn8PhVlJrgwnhlfj2fOM/Ppv/AFW/jWdp2FdJFcypswY9074OfOp0xrQk+Xwq6iAdiMgjIBI38Dj8al6kkiqy6IdcWTTD9IicYVgWBKjYal7ujBGxXqPv61t4I/Nil1IFaNe6UdyMYOnIIGCMdN+tSS8jzzCcr3TlQMY28KFcGv5J+7GitjIIYafdOnzI3/w+NRyg0+D2+4qqtoZX/mRKXC5U48MDJLHBwAKCNHdszMtu0kWT3wUXChck6WIckHB6dDjGRT28sDFOBKmkTaUARslQWVcrvsNRHTfxrf2wsTZWyskzHvBSZPdC6W97QnicDfr02JqHBMKHtoYsMEivAM7Dqabx2SRkzPeZBIXlsgVNbbFVYgHIbAGetbpplTLMQqrq1E9ANJXfcbb+dc04OJg9OpJMAe0GMiwnyCO6Ov8AaWqNq7u2NzHJw28eORpFdlJ3GlWURqygYGgnAYjHVifGqRrTS4OvTgoWkKlSpVoanZvZH6DZ/Zovy1otQnsj9Bs/s0X5a0WoDh5+p+NY1k/U/GsaAVGuAdmbi8juZIQpW2j5kmSc43OFwDlsBjjboaC1bPYriVjw+ztGuJJFkuJjO4iVH1RKGhRJskEIQ8jY36mgIR2a7Hz3oUxNEoabkjWxHeETzEnCnChUO/mRWHaPsnNaJHKZIJoZCVWW3k5ketcEqTgYbBzg+tWTwWySyvbGzV00tPez51KRpMTwW/ezjdEzv+tUT49Ymw4V8kneI3E10JhHG6yaI0QpqYqSFLE4x4gelAQOpB2a4NGytdXRK2kRwcbNNJ1WGL+sfFvqjc+FNOznDI55TzpRDDGuuVzjVoBAxGv13JIAHmfKs+0nG/lDqsacq3iGmCEHIRepJP1nY7s3Un4CgLc9jvbA3M9zFJpTKqYI12RIkyvLQeSjT6ncmrE45xMQR6y0aqN2aRtKgdOuDXKfB+Jy200c8LaZIzlT+wg+YIyD6Gr1TjFlx6z5JflTkAtFqAYMpyGjzs652+B8DV40zGcc36JJZ9pDIoZAkikZV4XDrsTnOrT5eGd8g4oRxftjHbFGIZe9pOWUEIxLEjS+T7uwwTUF7U29zwxYbS1WRlCs7MAWbLNsTpGANjgeh3p12f7BHiEEdxczXCSHI0YAxpJC4DDI8/vq7inxyQklkkt97RbNtcHMkWVmMWdLHDE8snVnfG/j4UM4B24tYrgiIiFjqTGJHyc5GrWSAcgDY4/fWr+R+2zn5TPnOc4TOfPOOua0yeyS3U5W4nyD1woP44qNkuifHsKcX7Urd6Ndwo3CqyxkEZaEZGc4I5ynPhj0OGR49CU1yTk90P7rFR3U3C7YbExXrto+Faf5K4x0uZ/T3fT/AKV/AUy4x7No4oJHFzOSiEhSBg4HTb4D9lTtkT4kgsbyRh8woyW1K5wEyQQQ27HGCd8E71lg3CyRu9tIvSQW8xeRDnKkZQDZgNj5Hr0qsOx1/cx3EMZEuh3Cadx1OMjbrvVj8A7K2vClluJ5yqMukcwAHHUAKN3bpvt8Ko4RaszcK/IL7fymCxlDyNLJcSjU76dTEKBnAAAAVFFVBUh7a9pDezlgCsS7RoeoHiW/rE/4DwqPVnFUjXTi0vLk9NeUqVSaHZvZH6DZ/Zovy1otQnsj9Bs/s0X5a0WoDh5+p+NGo+yF+1sbpbaQwAZ1gfVHVgPeKj9YDFBZOp+NWtx/h3EJLxJ7JnjthYIyTEkQLCIAHUnBUHORp65OfWgKoryrdu+BQC1eIWcfyZeGC6S+0HmNcYDAc3OMM50crrTnj8NlEb39CtwllLYuCqd51mxz1cnqpHRQMD40BTVKrqTsnYw31tZvHG7SPc3YyuotHhhaRYGCVwpcpncj1rHidnZwLdXPyOFpEs4JOXJbtFDzGmMYdYmbUgK4yud9PrQFNzW7pp1qy6lDLqBGVPRhnqDg71qq9Tax3M1tJLbQ/N8IiliAgeRGc6Aw5Yb51YwdkHTV40G7UWtnaQX8kVpEX50EYWWIjktLAzSctS2V/WUEnBYeVAVIBSBx0rylQFweyC/nlhvSZnMirEqs51kKDIcAHfxO2fGrTS7yck1ytZ8RmizypZI9WM6HZc46Zwd8ZP406/zjvf6Vcf8AFk/6q2jqJKmZuFs6baZD4/8AelzFI2Oc+u4rmZe018Ol3cf8WT+NejtTfD/7u4/4r/xq32or9bOjXIxWuMjz8a54/wA67/8Apc//ABG/jS/zqvt/0mbfr3zT7Yj62W17RrqaGzeRZMOs4aNk2KqRpx+BP41Sl7eyTMXldpGP1mYk/t8Kd33H7qZNEs8joSDpZsjI6UMrKctzwaRjQqVKlVCwqVKlQHZvZH6DZ/Zovy1otQnsj9Bs/s0X5a0WoDiF4jk7eNORf3HKMHNk5JOTFrPLznOdOcdd6VKgEb645Qg5knJB1CPWdGfPTnGa8lvJ216pJG5mnXlydWn3NWT3seGelKlQGLXU5dXMjl0ACMXOpQvuhTnK48MdK2XHELmQyF5ZWMmOYWdjrA90Pv3gMDGemK8pUBnFxS6XlFZpRyc8rEjDRnro37ufStM11OwYNJIwdtbAuSGfcamyd23O533r2lQDblHypco+VKlQHvKPlXnKPlSpUB6EavOWfKvaVAeco+VLlHyr2lQHnKPlS5RpUqAXKPlS5R8q9pUB5yj5UjGfKlSoDsrsl9BtPs8X5a0WpUqA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373737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1413923" y="7937"/>
            <a:ext cx="5873750" cy="1191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Actual Vapor-Compression Refrigeration Cycle</a:t>
            </a:r>
            <a:endParaRPr lang="en-US" sz="3200" dirty="0">
              <a:solidFill>
                <a:srgbClr val="FF0000"/>
              </a:solidFill>
            </a:endParaRPr>
          </a:p>
        </p:txBody>
      </p:sp>
      <p:pic>
        <p:nvPicPr>
          <p:cNvPr id="16589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728" y="1890214"/>
            <a:ext cx="2154610" cy="2258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7357" y="1902936"/>
            <a:ext cx="2250440" cy="230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850035" y="1533604"/>
            <a:ext cx="13388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Idea case</a:t>
            </a:r>
            <a:endParaRPr lang="zh-CN" altLang="en-US" sz="2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4972415" y="1520882"/>
            <a:ext cx="16097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Actual case</a:t>
            </a:r>
            <a:endParaRPr lang="zh-CN" altLang="en-US" sz="20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778035" y="4325882"/>
            <a:ext cx="334578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Irreversibility: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altLang="zh-CN" dirty="0"/>
              <a:t>Fluid frication 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altLang="zh-CN" dirty="0"/>
              <a:t>Heat transfer to surrounding</a:t>
            </a:r>
            <a:endParaRPr lang="zh-CN" altLang="en-US" dirty="0"/>
          </a:p>
        </p:txBody>
      </p:sp>
      <p:pic>
        <p:nvPicPr>
          <p:cNvPr id="12" name="Picture 3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85" t="15074" r="20930" b="11540"/>
          <a:stretch/>
        </p:blipFill>
        <p:spPr bwMode="auto">
          <a:xfrm>
            <a:off x="6819645" y="1425144"/>
            <a:ext cx="2179004" cy="4000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7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14" t="11259" r="38500" b="14489"/>
          <a:stretch/>
        </p:blipFill>
        <p:spPr bwMode="auto">
          <a:xfrm>
            <a:off x="155574" y="1540235"/>
            <a:ext cx="2325593" cy="40327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椭圆 4"/>
          <p:cNvSpPr/>
          <p:nvPr/>
        </p:nvSpPr>
        <p:spPr>
          <a:xfrm>
            <a:off x="6874096" y="2765177"/>
            <a:ext cx="232913" cy="25447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5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6892787" y="3702581"/>
            <a:ext cx="232913" cy="25447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6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0174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818785"/>
            <a:ext cx="3197225" cy="3185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AutoShape 4" descr="data:image/jpeg;base64,/9j/4AAQSkZJRgABAQAAAQABAAD/2wCEAAkGBxITEhQUExQVFhUXFxwZGBcYGBgaFxwYHBwcGBcdGBweHCggGB0lHBwaITEhJSwsLi4uHB8zODMsNygtLisBCgoKDg0OGxAQGzAkHCU0LC00NCssLCwsLC80LDAsLCwsLywvLCwsLCwsLywsLCwsLCwsLCwsLCwsLCwsLCwsLP/AABEIAQcAvwMBIgACEQEDEQH/xAAcAAABBAMBAAAAAAAAAAAAAAAFAAQGBwIDCAH/xABNEAACAQMCAwUDCAUHCwMFAAABAgMABBESIQUTMQYiQVFhBzJxFCM0QnSBkbMkUqGx0RczVGJyksEVFjVDU3OTstLh8CWCoghEY6PT/8QAGQEBAAMBAQAAAAAAAAAAAAAAAAECAwQF/8QAJxEAAgIBBAICAgIDAAAAAAAAAAECESEDEjFRIkEEE3GhYcEUkfD/2gAMAwEAAhEDEQA/AKQdzk7nrXms+ZpP1PxrGgMtZ8zS1nzNY074pw2a3kMU6NHIuCVbqMgMPxBBoBtrPmaWs+ZrGnV9w+WHl8xCnMQSJn6yNnSw9Dg0A31nzNLWfM04FhLyefoPK5nL1+HMKlgvx0gmmtAZaz5mlrPmaxpUBlrPmaWs+ZqU8D7AcQvNPKg0ggbuwXI/Wwxz+AqYxewa8KjVcQq2+oYYgeWD41DklyE74Kl1nzNLWfM1bw9gl1/Sofwf+Fe/yB3P9Lh/uvVfsj2CoNZ8zS1nzNXCPYFcf0uH+49YzewS4AJF3Dt5qwH40+yPZNMqDWfM0tZ8zUv457Nb+3QyhUnhG/NgdXXy6e9+yoeRirJp8EHus+Zpaz5msaVSDLWfM0tR8zWNKgOzeyX0Gz+zRflrRahPZH6DZ/Zovy1otQHDzdTWNZP1PxrGgJP7OOFLcX8IkIWKImeVicKI4hrYsfBTgAn1qx+IcGiv73h1xPJb3Otp4pzAzPEXjV57dDsGyyYUjG+nbrVL291ImrQ7JrUo2liNSHBKtjqpwNjtsKzt+ITRrpSWRF1B9KuwGtfdbAPvDwPUUBbd5Y2MTTXHySJ2SwMrRPbywQGRbhER0jc6gCCQQDg6T+tWXD+ERO8MxtoXUcOtmYNHJKqvLI4ykCZMhONO5AUb+lVPc8ZuZGdpJ5nZ10OWkdiyA5CsSe8uQDg7bVlBxu6QgpcTqQnLBWRwRGOiDB9zc93pQFhe0Lh0dvZ3sUS6Y14sulfAA2zNgegztURik4S6rrS9hfABKNFMmfE6WCHc+Gqg11xOeQESTSuCwYhnZgWC6AxBO7Be7nrjamlAShezdpKQLfiMJY/VnjlhPoAQHUn76sTsl7N2tF5kiJPc+AVldIvI4G7N45xUQ9lHB1eWS6cZWDAQHoZWzj+6Mn8KsyQHJzuR41ScqwcnyNWvFAr2d8F4nBxVmnkZIO+W1EgSAghcKRsQSDvjp41cpuF/WX8RVawX8y+7I+PIsSPwO1bDxNj78cT/ABQKfxXBrm1fP3ROn8mlTRYhu0/XX+8P414b2P8AXT+8P41XTT27dYnT1R8/sYH99YG2t292Yr6SRn96Fv3Vj9T9Mv8A5P8AH7LGPEYv9on95f40M7RC2uraa3edFEqFSQ65APj1qFJwWSSRY4nictnvB1OgAe8yEq7Lq0juj61aOMdl7i1XVI6SB3AzFCwwQrHLksxVdsdcElc4xvK05LLf6NI6smrr9mq0t7bhPD5LSO4+USTOXZlHcXIA3IJCd1NgTknPgNoP2g4GlyCygLMOh6avR/X1qeWXYrmaXmfusEZUi1tq2JVn5hK5Go7EEdfWmnFuyZiDyxTErGhZ0lGJML+qVGGz92PvotaCnW7yJ1NHVa3pFG3VvoOCd/rDBBVs7qc+P8a0VMu33DgNE6/W7r/2gNj+G1Q2u+MtysiEtysVKlSqxc7N7I/QbP7NF+WtFqE9kfoNn9mi/LWi1AcPP1PxqQdluzC3Mc801wttbwaA8jIznVISEAVdz0OT4bVH36n41OfZleNGLjk3sdtcHRhLjT8mmjGdYfKnDLnI+Jx40AA4r2XnjuJYYh8p5YDcy3DSIUYBlY6QdOx3z0OaHJwydk5ghlMe3fCMU3bSO9jG7d347Vb1zxS1czRWF9BZOt3FNLKpMcTqIQsphH+sVZNR5Z2bJ+NDuG9qoIv8kK9zrhS5uXuAMqDmbVDJLEOm+HAOcb4oCtX4PciVYTBMJWGViMbiQjfouMnofDwpQcHuXYokEzMraWVY3LBsE6SAMg4B29D5Vc3+cdsLhYXmtjIbWdElW6nZQ0ksbhHuSNSalRiCPd1Y8dxfEe1kYa9aK4iSQzWC64pWPMEYfmsHbDPgaVZvHTnxoCoXQgkEEEHBB2II6g+VY0d7dTxycRvHjZWRriRlZSCpBYnII6g9c0JsbYyyxxggF3VAT0BYgb/jQFw+zy30cNiOMcyR3Prg6V/YKkFNLi1axhtLTMZYMYjIzFYQcsSzHGVG34mtlreCWKOUDTrXVpzkA5KnBwMqcZBx0IrGfJ5urCVufodNitTCvEbPiKzK/A1k1ZRLBqavM16+AN2ArDWvmNutVomjK1uJIZ0uIgpZQyMrHAaN9JYasEqcqpB8xvTi/wCO3LhVQyQxoS3880krsQRhm8EGc6cnJA6AbspJVB94U2muwpHQ5zjdQNuu5IFRm8G0NSaWxEy4bdK6RyhyEeIBXGcKRgOp/VPdO/Wm/ai8VoJnJyqwNGW8GZ10gDz3y2aA/wCcDK1ukGmBRy+cXdGV1IUB+WMHJTckA52rAcfkeOeOfRLzNSxvkroVhg9zB36+I229a5X8VqVt4u/7/wCwetL5UFGnzVEc4xw5ZLSVXcJhGcMempAWUf8AuPd++qlq7eIQiSCVc7MjDPltVT9qeDGzu5rYvr5TadYGnOwOcZOOteloPB53xnhoFUqVKtjpOzeyP0Gz+zRflrRahPZH6DZ/Zovy1otQHDz9T8axrOVcGsKAmPEvZrfwxPKwhYRpzHRJUaRY8BixTrgA5PpUOroTjXDzzbuVrNYY3sip4iJctj5OgI5RYjcjl4AB8jTabhUQsIluljMKPYEOscSQ8tnUTGNgxkfZsSO5AJ6AUBSfA+ES3UwhhwXIZhk4GEUu2/wBrO44HMltHdPpWOV2WME999PvMq9SgO2rz2q4bSG7Xidub2K3RRJeLEIwiTNAIXI9zumIDZWPezUM9ogW7tbPiMCaIinyZ4QcrA8edAXyVl3Hw33NAQzhC25kxctKseD3olVmDeB0sQCPPfNWR2J9miXWZre6WQRSI8b6JEDaTlkkRlyjbbMpYdc+FVWy4ODRXgnFbpJIkhnlTLqAFkcDJYeAOOtAdIXvB3muFhlcpzFL5XSTkA6gNSkHdt9j4V6fZopJJvbo9MfzGB93Kotc8wcQs11NoEMuodQWwmM+vXf41JqpFIp9cSB/yaJt+mXR8/5jf4fM7VsHs0h/pV3+MP8AhFU4pVal0Prj0QNvZhBv+k3XoCYtv/1ZNL+S+3yM3Fzj+2mT/wDDH7KnleYpS6J2R6IL/JZabZmuvX5xN/j83t92K3QezSyUkl7hh5GTp94AP7ammK8am1dDbHoig7AWA6I/QD+cfoBgePkAPurVL2Ish/q2/wCI/wDGpRI1aHOaq4x6LbV0Vp2j4bHBMsMS4V4ixySdySvj6VSHa66Mt3K5zk6c58wig/uq/O2y/pkP+5P/ADmqB7WR6budfJ/2YGP2VSC82Ywdakl+ATSpV7itjY7M7I/QbP7NF+WtFqE9kfoNn9mi/LWi1AcPP1PxrGsn6n41M+xZgisb+5ltobhontlQShsASGUNjBB8B+FAQvNLUfM+X3das3iHZmCRZZLaKKNbi1tZlRyzcl5pjCwjby1Kd28DTK/9mLJdwWq3Sl5WkQ64ZY9JjTXkBx84hxgOu1AQBnJ6knAx93lXmasXhfYyGNJphLHdwPYXbRyBHXTPCBnutvlcgg+Oaap7OdUMUq3aMGkgjkIikCIZ9lKyHCzaSQG0nbxoCB0b7E2/M4hZpjrcRfhrBP7K28c7LPawc2RwGNzLAseDkiE6XfPgNfdx6Gnfsr/0tZf70fuNQ+CVydPXIzew7HaNjnw6EUaoWfpQ9I/8TRSqwdqyqFSpUquSKvK9pUB4RWMgrOsXoBsyVpkG/T8K3Oa1t6VDJRXfb6dUu4ckDMJ/HXj/ABA/Cqe9pr/pQTRGAEVg6rh31gNl2+vjoPIbVZntfEpurfkqWYQnoMlTrGkj1zj0qou2M0rzKZlCvy1BUbYAzpGMnG2NvCqKPluM1GptgGlSpVoXOzeyP0Gz+zRflrRahPZH6DZ/Zovy1otQHDz9TUj7LdpIbeC5guLX5RHO0TEc1o8GLWRuoyff/ZUcfqfjUm7JcItmhuLy85jQQGNBHEQrySSE4Go+6qhST91AO7zt8z/KB8njEckUMMcQJMccUDh1Ujq4O+enU1JuBe0SKa9slaMW8EcssrNLO8qhmhdAqF8cqLfAQbbjpUTl7MRXc7f5NfMAiWSRrhhGICxwY5HbCsdXQjrnxwTWNp7Pb55JY9MaGKVYnMkqIA7jMeCT3tW2MZzqHnQD1+3yLGYYLVYoPk08QQSMx5lwAHkLEbgYAC+Q6+Tvi/tA+WxNbCEQPO1uGlad+UjREBSqkaYY8ZJ09Ou+KZp7Obg20Tgp8oku3t+UZIxgrhfPOrXqyPAAHxpvB7Ob53dByMoyoSZ4wplYahEhzhpPNR0++gCntK4it/fQQQywFY4gpk1hYGnbMkzBzt3m2z4ketaOw3Abq14vYi4hePMw0lh3G2PusO633E0I47wBYLG0mIZZpJJ0lUnYGJwgAHgRvmn/ALLOLXC31vbJPIkMz6HRW2w3ioOQreTDcVD4JXJ00WxdqPOP/E0VqGtaX8FwOVKl2Amyz4jkxk7c2NdJ9MpnzPiCCdrokOm7jltG85l+a+6dcxfcWB9KiCpFUSKlWEMquAysGU7ggggj0I61nViRUqVeUB7WEgrKsZKAbOKyYik61rk9KqSVF7ZrjTcRHfSLZ84ODgvnb4af3VS/Gr0zOHPljrnxP8auL22D55cjpaNj175/d/jVNyq2hsHC5GoZ6nfTt4+NSuLKRzJoY0qVKpLHZvZH6DZ/Zovy1otQnsj9Bs/s0X5a0WoDh5+p+NSXspxi2WG4tLwSiCco4eIKXjkjJ0kK2AykMQfuqNP1Pxor2d7NXV6zrbR8woAzd5VwCcD3iPGgJRH2k4YflNoIp4bOWKFRIgRpzJC2rmSKTpOvJBAO2B64ccQ7eW0gkUJKq/KbRowQpbk2yaO+c++cZ8t+tQnjvA7izk5VzGY3wGAOCCp6FSCQRsenlTaCxldGdY2ZFZVLAEgM2dC58zg4HpQFk2vbuy5vNcTgpxSS7QBFOqKXSCG7+zAA7dOm9CeAdp7LkpFeC4HIujdRNCFJfOCySamGDkDDDzP3wm6t3jdkkUq6kqykYII2II8CK1UBLe2HamO8ghUKyyCe6mcbaRz5OYoU5ycfCtXsw/0tZf75ai9Sj2Yf6Wsf9+tQ+CVydUyD9JX+wf8AGiDoCCCAQeoO4oFxjiqQTqz5xo8MeZ86wt+18L50hj9w/jVYtUZb4puz2bshADqtmktH65t20IT/AFoiDE+fVc+oO9Yc/iUHvxxXkY+tF8zPj+w55bnruHT4V63bCEAkq2FGT7p2/Gk/a1FOHilTLFQTowWUZZRhic4B9NqtaJU4tWOLHtVayOImYwzHpDOpikP9kNs/xUkUaJqCcf7a2hUxz2/MRuquEZT8QTUC7R8Zga2aGwkmhzj5t5vmQQQQ0YYO0RUgFQjIBt8DG6PY+yPZfNYsaqn2ddvb19MF4iTf/njdNQGCfnE8enVd/MdTVjC6uMn5gY8O+v7TVi6d8Dtq0uPKmr3Vx4Qb+XMA+/Pj+FaWubrUP0cadt+aCfwwMfHP3VBJWXtqhJlUj+jMB5511SE6DDaiwfbSMbY8Sc9K6R7WcFvLmaKSOIIY1Zf5xTnJBGNwQdqpv2sqBdqrauakapIDjTlVAGD476s/d61W2nRSKe5kIpUqVXLHZvZH6DZ/Zovy1otQnsl9Bs/s0X5a0WoDh5+p+NWB7K7YSQ8SQ2z3QMMXzCMUZ8TKdmG4xjV8FNQa1sZZnKRRvI250orM2PE4AJxShuZoWYI8kbdGClkO3gcYOx8DQF1zcGJmhYWqqIuHHTZzR/KpYfnyoKRkjms2TguQFBPlTi9QW5vooLaEJHxCycryVOhXRXZiPqgNnB6KCwHWqMXiEwcyCWQORguHbUQRggtnJ22pC/mww5smGUKw1thlXZQwzuB4A9KAvm34RHJc3ry2cbyNxFonQWiyE2wTUh3dRCZMsxn8WANRS2urO2ThSfJbZ4biWdZZZYUaUxi5kiQ6iDgqpzkb7AZ2FVo3FJyWJmlJddLnW2WX9VjnvD0NZ8LvwksTSx8+OMnELswQ5ycbHIGo5wOvjQEn9pHCI7M2tiiLzY42aVwq63eV2KKzAZbSgXH9qiHs67F8Rj4jaTSWsyRpKrMzrpAA6nfBqGdo+NS3dzLcS4Du2cDYKBsqr5AAAfdTzsSZW4hBy2PNLnS2d86T4nxPrRkN0rOiePcOYzJPG0Css5Znc5OkAhdY1DUobB0gg9PWtUHApZDFPJLBlECEIshAGsSEe9gnVkasDIPhQvjl/DI/d1HCjCMBzNWGDDxYZJXGOhyemKh3aJHEq4LgaO6oZ0Ve/JkADHQjHTwqYx9GSkpFiw9n9Lq2XkQgKylJGBXCLsWlGnBUnPQA+QrXx2Owh1FZJ3kUHCmZ3XV3Sf5zUA2HG4GSCRvjFVnySR78vw5kn/VWfZ60Pynu627g7oLMxfmLpKgnqBq/EVZwpZJaVYDUMkFwHaTUVC93SCwDeI3x44G4pvJY2/JVtxMG3GO6V8//AD1+5/Pxd1uLopq1Nu4lQtvpCaQ2g6n6DBC41AVFOM8WnikZEiVlBIBIfcA4zt4ZB/CqxSv/AEWtLxX8h+6jiinh+TmQE++GGOu2B6Y6/dV7IapDsxfz3xjlmidjEeWqqgXLNnAUn3vNmOAuMn1vBRVVdUy1pvAmrWT6VsIrDFSSaWrl/wBs5/8AVJ/TH7s/41fFnZ8UHFJ5JJUNgV+bTIyDhcALjIYEMSxO4PwxQvtiGOJz7/W23JwCFON/XO1QQ2QilSpVJJ2b2R+g2f2aL8taLUJ7I/QbP7NF+WtFqA5W4VezW3BpZrV2ila+EcskZKyCIRao11DdVL6viRiilxad25v+L2pmm5kEXJVjDs8ermuU3LMoGPXOfIQngPaW7sndrWZoi2zYCkEDOMhgQcZONtq3cO7Z38E0s0dw4kmIMrEK2ojdSQwIyPA428MUBYUHYvh0EvJmhefXxP5Ijc1kKRvFFIpYLszIX9M758BTXhHZPh5S1hkhd5bn5cvO5rLoNsXMbBBsxIXBHT0NV/F2lu1KkTNlbj5SCcE8/Ycwkjc7Drt6VlH2ovFaJhMQYeaYzhe7zs87w31ZPXz2xQE7k7GWHyKJSyJcvaw3AlMrmQtKy91odOgRBWwHznUB50R4Pwuwi4tBFDYzD5PdmBpmkZ4nPLJVnyO7IGGoKMDH3VWr9rL02otDO/ycADl93oDkLqxqK5305x6U4u+3PEZTCz3TkwMHjOFGHAwGOB3zjbLZ22oCacN7P8Ple2SS2kL8RmuAjrK36OqOyKFHSUgjJLeFZ9n+H2lvPwYRwH5ROqzPNzGIAHMUhU6d7AOfDAx1NQqLt3xFVmVblwJmZ5AAg7ze+V7vzefHTivezfHJzd2jM5PydSsWw7qgMwXpuMk7nzpdZIfBcl5w4PGFaVu5llj5MTAlWKqpJj3Bj3yT1PXNR7jijnIFXTiIHThQR35CdlYgdfAkUd9l9vcXANzd3spV1LG2ePQmP1kL7lVJA1IMZ2yacdpWs3TmvCypEpKvH/OaTnZ8g5O+fMZx50jLazFtxxIhTy433/8APKnfY+dPlYPdzpBAY6RgOM7+W+PvFELqKxFvHNy7jS4yMuoZgAc4DKP1TTiztoYT83HDIdYJJmRyVDZUYUdzrqBKnOjrtvo5pqibSyBu2szEyRKiFedK4InbqSucoU2AYZyd+g8K2dk7cPLHGFwucMwkVwA+llXYYYgat8eh6b7e0izytr0d0ZwsZlfAYknCgYBLat8Dc/iU7PMpmTAZWDRq+piZMqAO+GOtTjAwQOhHgaztNYKylZa3COHRwxhY1AGP37/+HxrbxKSVYpGhUPKEYojHAZwO6CfAE7ZrbbjCL/ZH7q2UOga8MuWkijd42idlBaNtypIyVJ8cHalxGflxvJpLaVJ05xnHqelOqbcTUGGTIyNB2+7NAD247bf7TH/tfH7q5v8AbKVPEpHU5VwrDbHgB/hWz2gccuknVUZkRVBXG2SetAO1N48y20kpzKYsN9xIU+mRg/fVE3gxg5SpuqAFKlSq5sdm9kfoNn9mi/LWi1CeyP0Gz+zRflrRagOHn6n41P8A2ZcBS4t71/kQvZY2gEcZkaPZ+ZrOQw/VFQB+p+NG+Ecf5FpcwKGDyyQSJIDjQYS7fHOWGD6UBY9v2RtPlF2I7FZpI7WCQ2huDpindiJY+bqGcLg7k9cVDYuGxycZht5LVbdDNHG9ushkAzpDd/JJz12PjTjj3bmG4W7Itykt3BCkpBGgzRvqaQDH1gBt5jNRHg3EWt54Z0ALRSK4B6EqQcH0OMUBLOG9nIZouJAKBJHdQRQsS2EEkzRnx3GMdc9Ke2Xs7aK6tw729yrXLW8iBpFCyqpfS5C53XfK58q1X3bm0UEWlo8XNuY7i4LSa88t+YEj22Gok5Ne2XtDjSXmclj/AOove41D3XjMejp13zmgGnaPsgkdvw9rdhJPdasxKWJ1asALkAYX3DvknJ6UY9n3DrS14hbRyMLi7ZypVGzBB3WzqYbTyeGFOgZO5IqLdoe0UVzaW0XLdZYDINWoaDG7lxtjOrJG/TasvZnME4pZk9DKF+9gVH7TUoiXDL2vZIxKSCA0oXJAPeAJ0AtjZRhsKSAMVHePRqlpIMBjIARknukA+73gOgJ9TjxAr28WNlaLQrnnyMBscY0ajjOep64JBLb4NOLWeGSBVBLhYwBrBjJO6EFevXWMfs6VG1rJxuO3yRHruP8AQ4UBZmBIYHSdLamJUYJ22/YaY8Nsy3MwxXEZyyg5H4Y8iMddzUnvdOWjKt31XJJymWdife72osTkbePXOza1lZSivywO5jlwhZWBwikkv3gTjc+O9W5Rpue3AU4ZcnvvGrRqeUmg8oHKalkOFzkFhnIPXc+uMkba5ZFZtRfWcHctgEkDYAk+WM7ZNauK8U5EkEbK5E+CjBe7g4xk/eOlPHJXPkevocYz8POsHKV9GOpKXszh49dt0lk64+qMb43yQR5/D12p9bdoZztzWz+/9lArLhyISw94HvDJ94Yx9bfbH/gGHCxZUee+Px8fSjmQ5vsN/wCWpyR89p36scKPVjjpQW649dksObMCemMAYPNVMHIAyTH+HhvXttcaiV+uvUDr/wCbH44rF7bUXOVA0qvUatWWYEDxA8/++KKTi8kx1JLgaT8LhlVeaFcgnCkNrAzkaidjnPgT0/CsvafEq3SBQABEoAGw8fCrWuVBlDCJABowdWSgyQQCw1MGO53GDjrtVU+1J83gHlEmfvyaabbkawilNNeyH0qVKug6js3sl9BtPs8X5a0WoT2R+g2f2aL8taLUBw8/U/GsayfqfjWNAKlU14Lw3h8FnDc38csxuZXSNI30aIo8CSQ7d5tRwF6YFF+BdnOHm3lmW2ur5flphi5RZJOVoDqzKF65OPDc+FAVnSqeduuyVvZwymIszLfvCGY78vkRShWA21KzkE+lNe0/Y1hxC7t7NBy4GUYeWNSAygjeRl1b56UBDaJ9mZtF5av+rPE34Opol/mNeeIgHxurb/8ArWUfY26QhuZaAqc73dv4b/7SgZ0BxfhkbW+pERJHmnUyBRrIIm2LYz4Db0FVzFfQwqVbmKS5CGMzZ7rBSToGAFbUV9cmralspJbdOUYzuXHe21Mpz3hqDbsT5biqx7ZcJeLkq5UFldu4wYe8M9AM7k74H34qdPmjKSuuqEON2Zk1srONQOD8oBKgtgFtHXBU/FPWmkvFbYkMdWe59SdsBWiOBlcEYWTc9S2TvTdRt4nbr+6vSw9c1otPPJDrocMEItLmInTGgMmpGI1ITrKqQcZKkb7AsvgCaM3fElUmMAnUobO+BkgHO2kHcHTn1xihVpGnKgBaNS2sDWJMFjLKDuDpyRnY9aIHgx5h06QNIBJGCTqDFsg/1fFT4VlKvZhN5p8BCC5RmlKspGodCP1RTSG/04UjOXCjSOgOoEnvb4I36Y/bWkQJApXPMLHuhskjr0yScHP7KFPwq4eVo1mTKkOAythQSdGCE0g9dgT41kobm6IjFO6MmV/lvNBYfV93u4zI2/fyd1Tw21/DM5k4TKAp5b7gZJ0nLHdtOk7L5Z386gQs7nkvN8pTQmQwKyZ2ODgaN99qnPZa/m5ISZlaRTgMzOMggNjGNiowMH7qz1ozSTo0UE1UlQPu2eORUMfvaCSSAVwXIODuQdxkef4U17QZtV/N6aV/BQKurjshNzECygqAu4BZ8sSNJY5UgZONyd/AHFDdp5td3cN5yt+w4qdHs0hFJquv7BdKlSroNjs3sj9Bs/s0P5a0WoT2R+g2f2aL8taLUBw8/U/GsayfqfjWNATLgXH7FrWK24hHOwt5WkhaEpkq+C8ThvqlhnI33r257blbWaK0Eto0l404ELlEWEx6BHlSCTkA9MbZqM8H4XLczRwQrqkkOFGcepJPgAAST5A1IZ/Z7drJCitBIJuYEkilDxaolLyKzAd1gAdv4GgMuA8esmtGteILcsBcm5WSEoWZmQI6vr8DpBz1z5eIftbxn5beT3IXSJXyFzkgYAUHzOAKIjsDelbJgEIvTiHDegPf27uxz4+NBeO8JktLiS3l08yNtLaTkZxnY+PWgGFKlSoDoSxmuJLO2kV20NawoVwTH/qlPQZGfnOn6o6ZoV2pvJJDDzCCVV17oIGMoehJPj50X9n/ABKI8HthMGIw6nCswCpId3wDhemSdqJXfZkXRhdHSJlDqVWLMbA7DIGw6Hf4b7Crp5MFy0QIMKxbFS667AOmdVxAoG+WJXb7xWMXYiE4Et2uc40xDxAJI1MMA4Gela7kGxpwW21WqncEI2kgN7wmlyeuk+GxBo1wOwnmjchQ2JCB3lBxgEZGcjr94xRCG0htkWOBAwx7zlnOSxfpsPreX7qyt+LzKjAHByRsAAoy2yqBgH1rkk1lMym4t5I3xHhMsVxGkkUAR3Byyo0+dceNDK+pRjVvp20N11beSSMmo7FRMSFAw2ptK4z4jA2zQefh+b1ZmuANU641SNklSFIwTjJIIx60dupAGLHfDYx+G+PTNb6MUzS8KuhWxkV8EplETfSMZjKEZHmcH40raMAk7ZJwcZ8FU+PxNPIyuvGxBGc5G/T+NYNhnwuPex/8UFRrwioY/gz1ZNxyaZYxkMc5Xcbnw8xnB8etc93T6nc+bE/ia6D7QAwxzZIykbHPh7px/hXPArn0lyW+NebPKVKlWp1HZvZH6DZ/Zovy1otQnsj9Bs/s0X5a0WoDh5+p+NY06srGWeURQo0kjHCqoyx+6s+LcJntpOVcRPE+AdLjBwehHmPWgCns/ZxxC3McyQPqOl5BlMlSNLDI2f3Ov1qtaDh6x3VjJNbRWV0z3QaCKUNG8fyWT53QCVjOru7dc/hRFKgL5suIolhA2oCS04fFcxdN3dLm20+mGaM/hVZ+1MZ4veY3zLtjfPdXpUSrZBMyMroxVlIZWBwQwOQQR0IO+aAOWPYu/kXVyGjT9eYrCn3NIVB+6t54BZRfSOIRlh1jto3mOPISHRHnw2Jx60E4pczu/wCkPKzj/asxbB3Hvb7jBpnQHQvsuvrRrF0gjlMaytF88yljrCsSwRQAufDJrVx7tJeRTSpFLoVSAFVECjYf1c9T60M9hska2Ny0gOFuFOwYnOgAbDc0u0n0iU+o/wCUVrpq2Ytuxk/Fbpzl5A2ds4XP/LTnhs0jSxKznDSLnAUb5xnIAOdzvTKMU54bKDPH6OufxBq9ENJoMdprsxyRlzJh0TIQHboCwIU407kjoQaM8KXVCpByCoIPoS2PLwxTTtDfQZjicwh9GAHYh8smxABGdyuD5/tMdnbZVjCdABhc7ZAyQPQ6SKwlmJm1hAJuD6ZdY1bEnIY47xYnunIHvY2wdh8a0m0UzNlSGLajIX7jKeqac7MGGc+NTG7tR/38fOgsiDP3VktRxeSim44I5BAigkQvgKAUMo1PpI1aGz3NQGw8KIcLQhwBnR3dIJzjONvj0B+FPSg9K9j6j4iqy1E1SRE9ZzVMHe0qXTb3Zz9TH46RXP8AV8e1HPyW6ycnC5/vLVD1eHs6ND3+TylSpVc3OzeyP0Gz+zRflrRahPZH6DZ/Zovy1otQHKns91criggz8qNr81pzrKcxeeExvnTjpv1orwHg90/KPEY2nWGynntLaQnW2lgNLgfOacnUFPUAY2BFV3b3ckMgeKRo3U7OjFWHwIwRW+Tjt00wuDcTGcdJTI/MHUbNnIGCRj1oCy5+F2kcc109jGHNhDcfJm1hElM5jyBkMqsqhtPkSOhrdc8Jsbea9kFnFIqz2OiNyxRBcRlpQMHcZJwDsML5YqrLjjNzIZGeeZjKAJC0jEuAcgPk94AgYB6YpS8XuGzqnlbUVLZkc5MYxGWydyo2Xy8MUBcXDex/DY+erxB1e9uIT83cSyRxxjuLEYgdDAHXqbqNt+tAX4ZFDb26xcNW4X5LFdvdlmUh9eX1H3WQAaDGMHfz3qAQ9obxebpurheaSZcSuNZPUvv3ifM1qHGLnk/J+fLyM55WtuXnOfczjrv060BcHa63jFxf3f8Ak9LqVbiGARFZCvLaMuZSq7szECMN0GBj1B9quFWVha3ojto5W+XSW0buWLRIYEfu795kYkAn161BF7T3yyGQXdwH0BNYmkDaBnSuc5wMkgeZzTCS+lZCjSOULmQqWYqZCMFyM41EbautAXT7BIFezulYZBmXIyR9UeVSziXYdpJGk5qqGOQpUk9AN96A/wD09W7pZzyMuFebuEj3tK4bT6A7Z86tCV8kn8PhVlJrgwnhlfj2fOM/Ppv/AFW/jWdp2FdJFcypswY9074OfOp0xrQk+Xwq6iAdiMgjIBI38Dj8al6kkiqy6IdcWTTD9IicYVgWBKjYal7ujBGxXqPv61t4I/Nil1IFaNe6UdyMYOnIIGCMdN+tSS8jzzCcr3TlQMY28KFcGv5J+7GitjIIYafdOnzI3/w+NRyg0+D2+4qqtoZX/mRKXC5U48MDJLHBwAKCNHdszMtu0kWT3wUXChck6WIckHB6dDjGRT28sDFOBKmkTaUARslQWVcrvsNRHTfxrf2wsTZWyskzHvBSZPdC6W97QnicDfr02JqHBMKHtoYsMEivAM7Dqabx2SRkzPeZBIXlsgVNbbFVYgHIbAGetbpplTLMQqrq1E9ANJXfcbb+dc04OJg9OpJMAe0GMiwnyCO6Ov8AaWqNq7u2NzHJw28eORpFdlJ3GlWURqygYGgnAYjHVifGqRrTS4OvTgoWkKlSpVoanZvZH6DZ/Zovy1otQnsj9Bs/s0X5a0WoDh5+p+NY1k/U/GsaAVGuAdmbi8juZIQpW2j5kmSc43OFwDlsBjjboaC1bPYriVjw+ztGuJJFkuJjO4iVH1RKGhRJskEIQ8jY36mgIR2a7Hz3oUxNEoabkjWxHeETzEnCnChUO/mRWHaPsnNaJHKZIJoZCVWW3k5ketcEqTgYbBzg+tWTwWySyvbGzV00tPez51KRpMTwW/ezjdEzv+tUT49Ymw4V8kneI3E10JhHG6yaI0QpqYqSFLE4x4gelAQOpB2a4NGytdXRK2kRwcbNNJ1WGL+sfFvqjc+FNOznDI55TzpRDDGuuVzjVoBAxGv13JIAHmfKs+0nG/lDqsacq3iGmCEHIRepJP1nY7s3Un4CgLc9jvbA3M9zFJpTKqYI12RIkyvLQeSjT6ncmrE45xMQR6y0aqN2aRtKgdOuDXKfB+Jy200c8LaZIzlT+wg+YIyD6Gr1TjFlx6z5JflTkAtFqAYMpyGjzs652+B8DV40zGcc36JJZ9pDIoZAkikZV4XDrsTnOrT5eGd8g4oRxftjHbFGIZe9pOWUEIxLEjS+T7uwwTUF7U29zwxYbS1WRlCs7MAWbLNsTpGANjgeh3p12f7BHiEEdxczXCSHI0YAxpJC4DDI8/vq7inxyQklkkt97RbNtcHMkWVmMWdLHDE8snVnfG/j4UM4B24tYrgiIiFjqTGJHyc5GrWSAcgDY4/fWr+R+2zn5TPnOc4TOfPOOua0yeyS3U5W4nyD1woP44qNkuifHsKcX7Urd6Ndwo3CqyxkEZaEZGc4I5ynPhj0OGR49CU1yTk90P7rFR3U3C7YbExXrto+Faf5K4x0uZ/T3fT/AKV/AUy4x7No4oJHFzOSiEhSBg4HTb4D9lTtkT4kgsbyRh8woyW1K5wEyQQQ27HGCd8E71lg3CyRu9tIvSQW8xeRDnKkZQDZgNj5Hr0qsOx1/cx3EMZEuh3Cadx1OMjbrvVj8A7K2vClluJ5yqMukcwAHHUAKN3bpvt8Ko4RaszcK/IL7fymCxlDyNLJcSjU76dTEKBnAAAAVFFVBUh7a9pDezlgCsS7RoeoHiW/rE/4DwqPVnFUjXTi0vLk9NeUqVSaHZvZH6DZ/Zovy1otQnsj9Bs/s0X5a0WoDh5+p+NGo+yF+1sbpbaQwAZ1gfVHVgPeKj9YDFBZOp+NWtx/h3EJLxJ7JnjthYIyTEkQLCIAHUnBUHORp65OfWgKoryrdu+BQC1eIWcfyZeGC6S+0HmNcYDAc3OMM50crrTnj8NlEb39CtwllLYuCqd51mxz1cnqpHRQMD40BTVKrqTsnYw31tZvHG7SPc3YyuotHhhaRYGCVwpcpncj1rHidnZwLdXPyOFpEs4JOXJbtFDzGmMYdYmbUgK4yud9PrQFNzW7pp1qy6lDLqBGVPRhnqDg71qq9Tax3M1tJLbQ/N8IiliAgeRGc6Aw5Yb51YwdkHTV40G7UWtnaQX8kVpEX50EYWWIjktLAzSctS2V/WUEnBYeVAVIBSBx0rylQFweyC/nlhvSZnMirEqs51kKDIcAHfxO2fGrTS7yck1ytZ8RmizypZI9WM6HZc46Zwd8ZP406/zjvf6Vcf8AFk/6q2jqJKmZuFs6baZD4/8AelzFI2Oc+u4rmZe018Ol3cf8WT+NejtTfD/7u4/4r/xq32or9bOjXIxWuMjz8a54/wA67/8Apc//ABG/jS/zqvt/0mbfr3zT7Yj62W17RrqaGzeRZMOs4aNk2KqRpx+BP41Sl7eyTMXldpGP1mYk/t8Kd33H7qZNEs8joSDpZsjI6UMrKctzwaRjQqVKlVCwqVKlQHZvZH6DZ/Zovy1otQnsj9Bs/s0X5a0WoDiF4jk7eNORf3HKMHNk5JOTFrPLznOdOcdd6VKgEb645Qg5knJB1CPWdGfPTnGa8lvJ216pJG5mnXlydWn3NWT3seGelKlQGLXU5dXMjl0ACMXOpQvuhTnK48MdK2XHELmQyF5ZWMmOYWdjrA90Pv3gMDGemK8pUBnFxS6XlFZpRyc8rEjDRnro37ufStM11OwYNJIwdtbAuSGfcamyd23O533r2lQDblHypco+VKlQHvKPlXnKPlSpUB6EavOWfKvaVAeco+VLlHyr2lQHnKPlS5RpUqAXKPlS5R8q9pUB5yj5UjGfKlSoDsrsl9BtPs8X5a0WpUqA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373737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1209965" y="130951"/>
            <a:ext cx="5873750" cy="576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Gas refrigeration cycle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1738690"/>
            <a:ext cx="2751740" cy="2457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0666" y="4212227"/>
            <a:ext cx="325755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7903" y="5058062"/>
            <a:ext cx="1892401" cy="1158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31077"/>
            <a:ext cx="1681163" cy="1592508"/>
          </a:xfrm>
          <a:prstGeom prst="rect">
            <a:avLst/>
          </a:prstGeom>
          <a:noFill/>
          <a:ln w="9525">
            <a:solidFill>
              <a:schemeClr val="tx1"/>
            </a:solidFill>
            <a:prstDash val="sys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608089" y="1161745"/>
            <a:ext cx="2662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Reversed </a:t>
            </a:r>
            <a:r>
              <a:rPr lang="en-US" altLang="zh-CN" dirty="0" err="1"/>
              <a:t>Brayton</a:t>
            </a:r>
            <a:r>
              <a:rPr lang="en-US" altLang="zh-CN" dirty="0"/>
              <a:t> cycles</a:t>
            </a:r>
            <a:r>
              <a:rPr lang="zh-CN" altLang="en-US" dirty="0"/>
              <a:t>：</a:t>
            </a:r>
          </a:p>
        </p:txBody>
      </p:sp>
      <p:sp>
        <p:nvSpPr>
          <p:cNvPr id="4" name="矩形 3"/>
          <p:cNvSpPr/>
          <p:nvPr/>
        </p:nvSpPr>
        <p:spPr>
          <a:xfrm>
            <a:off x="270717" y="1110119"/>
            <a:ext cx="15229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/>
              <a:t>Brayton</a:t>
            </a:r>
            <a:r>
              <a:rPr lang="en-US" altLang="zh-CN" dirty="0"/>
              <a:t> cycles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82137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data:image/jpeg;base64,/9j/4AAQSkZJRgABAQAAAQABAAD/2wCEAAkGBxITEhQUExQVFhUXFxwZGBcYGBgaFxwYHBwcGBcdGBweHCggGB0lHBwaITEhJSwsLi4uHB8zODMsNygtLisBCgoKDg0OGxAQGzAkHCU0LC00NCssLCwsLC80LDAsLCwsLywvLCwsLCwsLywsLCwsLCwsLCwsLCwsLCwsLCwsLP/AABEIAQcAvwMBIgACEQEDEQH/xAAcAAABBAMBAAAAAAAAAAAAAAAFAAQGBwIDCAH/xABNEAACAQMCAwUDCAUHCwMFAAABAgMABBESIQUTMQYiQVFhBzJxFCM0QnSBkbMkUqGx0RczVGJyksEVFjVDU3OTstLh8CWCoghEY6PT/8QAGQEBAAMBAQAAAAAAAAAAAAAAAAECAwQF/8QAJxEAAgIBBAICAgIDAAAAAAAAAAECESEDEjFRIkEEE3GhYcEUkfD/2gAMAwEAAhEDEQA/AKQdzk7nrXms+ZpP1PxrGgMtZ8zS1nzNY074pw2a3kMU6NHIuCVbqMgMPxBBoBtrPmaWs+ZrGnV9w+WHl8xCnMQSJn6yNnSw9Dg0A31nzNLWfM04FhLyefoPK5nL1+HMKlgvx0gmmtAZaz5mlrPmaxpUBlrPmaWs+ZqU8D7AcQvNPKg0ggbuwXI/Wwxz+AqYxewa8KjVcQq2+oYYgeWD41DklyE74Kl1nzNLWfM1bw9gl1/Sofwf+Fe/yB3P9Lh/uvVfsj2CoNZ8zS1nzNXCPYFcf0uH+49YzewS4AJF3Dt5qwH40+yPZNMqDWfM0tZ8zUv457Nb+3QyhUnhG/NgdXXy6e9+yoeRirJp8EHus+Zpaz5msaVSDLWfM0tR8zWNKgOzeyX0Gz+zRflrRahPZH6DZ/Zovy1otQHDzdTWNZP1PxrGgJP7OOFLcX8IkIWKImeVicKI4hrYsfBTgAn1qx+IcGiv73h1xPJb3Otp4pzAzPEXjV57dDsGyyYUjG+nbrVL291ImrQ7JrUo2liNSHBKtjqpwNjtsKzt+ITRrpSWRF1B9KuwGtfdbAPvDwPUUBbd5Y2MTTXHySJ2SwMrRPbywQGRbhER0jc6gCCQQDg6T+tWXD+ERO8MxtoXUcOtmYNHJKqvLI4ykCZMhONO5AUb+lVPc8ZuZGdpJ5nZ10OWkdiyA5CsSe8uQDg7bVlBxu6QgpcTqQnLBWRwRGOiDB9zc93pQFhe0Lh0dvZ3sUS6Y14sulfAA2zNgegztURik4S6rrS9hfABKNFMmfE6WCHc+Gqg11xOeQESTSuCwYhnZgWC6AxBO7Be7nrjamlAShezdpKQLfiMJY/VnjlhPoAQHUn76sTsl7N2tF5kiJPc+AVldIvI4G7N45xUQ9lHB1eWS6cZWDAQHoZWzj+6Mn8KsyQHJzuR41ScqwcnyNWvFAr2d8F4nBxVmnkZIO+W1EgSAghcKRsQSDvjp41cpuF/WX8RVawX8y+7I+PIsSPwO1bDxNj78cT/ABQKfxXBrm1fP3ROn8mlTRYhu0/XX+8P414b2P8AXT+8P41XTT27dYnT1R8/sYH99YG2t292Yr6SRn96Fv3Vj9T9Mv8A5P8AH7LGPEYv9on95f40M7RC2uraa3edFEqFSQ65APj1qFJwWSSRY4nictnvB1OgAe8yEq7Lq0juj61aOMdl7i1XVI6SB3AzFCwwQrHLksxVdsdcElc4xvK05LLf6NI6smrr9mq0t7bhPD5LSO4+USTOXZlHcXIA3IJCd1NgTknPgNoP2g4GlyCygLMOh6avR/X1qeWXYrmaXmfusEZUi1tq2JVn5hK5Go7EEdfWmnFuyZiDyxTErGhZ0lGJML+qVGGz92PvotaCnW7yJ1NHVa3pFG3VvoOCd/rDBBVs7qc+P8a0VMu33DgNE6/W7r/2gNj+G1Q2u+MtysiEtysVKlSqxc7N7I/QbP7NF+WtFqE9kfoNn9mi/LWi1AcPP1PxqQdluzC3Mc801wttbwaA8jIznVISEAVdz0OT4bVH36n41OfZleNGLjk3sdtcHRhLjT8mmjGdYfKnDLnI+Jx40AA4r2XnjuJYYh8p5YDcy3DSIUYBlY6QdOx3z0OaHJwydk5ghlMe3fCMU3bSO9jG7d347Vb1zxS1czRWF9BZOt3FNLKpMcTqIQsphH+sVZNR5Z2bJ+NDuG9qoIv8kK9zrhS5uXuAMqDmbVDJLEOm+HAOcb4oCtX4PciVYTBMJWGViMbiQjfouMnofDwpQcHuXYokEzMraWVY3LBsE6SAMg4B29D5Vc3+cdsLhYXmtjIbWdElW6nZQ0ksbhHuSNSalRiCPd1Y8dxfEe1kYa9aK4iSQzWC64pWPMEYfmsHbDPgaVZvHTnxoCoXQgkEEEHBB2II6g+VY0d7dTxycRvHjZWRriRlZSCpBYnII6g9c0JsbYyyxxggF3VAT0BYgb/jQFw+zy30cNiOMcyR3Prg6V/YKkFNLi1axhtLTMZYMYjIzFYQcsSzHGVG34mtlreCWKOUDTrXVpzkA5KnBwMqcZBx0IrGfJ5urCVufodNitTCvEbPiKzK/A1k1ZRLBqavM16+AN2ArDWvmNutVomjK1uJIZ0uIgpZQyMrHAaN9JYasEqcqpB8xvTi/wCO3LhVQyQxoS3880krsQRhm8EGc6cnJA6AbspJVB94U2muwpHQ5zjdQNuu5IFRm8G0NSaWxEy4bdK6RyhyEeIBXGcKRgOp/VPdO/Wm/ai8VoJnJyqwNGW8GZ10gDz3y2aA/wCcDK1ukGmBRy+cXdGV1IUB+WMHJTckA52rAcfkeOeOfRLzNSxvkroVhg9zB36+I229a5X8VqVt4u/7/wCwetL5UFGnzVEc4xw5ZLSVXcJhGcMempAWUf8AuPd++qlq7eIQiSCVc7MjDPltVT9qeDGzu5rYvr5TadYGnOwOcZOOteloPB53xnhoFUqVKtjpOzeyP0Gz+zRflrRahPZH6DZ/Zovy1otQHDz9T8axrOVcGsKAmPEvZrfwxPKwhYRpzHRJUaRY8BixTrgA5PpUOroTjXDzzbuVrNYY3sip4iJctj5OgI5RYjcjl4AB8jTabhUQsIluljMKPYEOscSQ8tnUTGNgxkfZsSO5AJ6AUBSfA+ES3UwhhwXIZhk4GEUu2/wBrO44HMltHdPpWOV2WME999PvMq9SgO2rz2q4bSG7Xidub2K3RRJeLEIwiTNAIXI9zumIDZWPezUM9ogW7tbPiMCaIinyZ4QcrA8edAXyVl3Hw33NAQzhC25kxctKseD3olVmDeB0sQCPPfNWR2J9miXWZre6WQRSI8b6JEDaTlkkRlyjbbMpYdc+FVWy4ODRXgnFbpJIkhnlTLqAFkcDJYeAOOtAdIXvB3muFhlcpzFL5XSTkA6gNSkHdt9j4V6fZopJJvbo9MfzGB93Kotc8wcQs11NoEMuodQWwmM+vXf41JqpFIp9cSB/yaJt+mXR8/5jf4fM7VsHs0h/pV3+MP8AhFU4pVal0Prj0QNvZhBv+k3XoCYtv/1ZNL+S+3yM3Fzj+2mT/wDDH7KnleYpS6J2R6IL/JZabZmuvX5xN/j83t92K3QezSyUkl7hh5GTp94AP7ammK8am1dDbHoig7AWA6I/QD+cfoBgePkAPurVL2Ish/q2/wCI/wDGpRI1aHOaq4x6LbV0Vp2j4bHBMsMS4V4ixySdySvj6VSHa66Mt3K5zk6c58wig/uq/O2y/pkP+5P/ADmqB7WR6budfJ/2YGP2VSC82Ywdakl+ATSpV7itjY7M7I/QbP7NF+WtFqE9kfoNn9mi/LWi1AcPP1PxrGsn6n41M+xZgisb+5ltobhontlQShsASGUNjBB8B+FAQvNLUfM+X3das3iHZmCRZZLaKKNbi1tZlRyzcl5pjCwjby1Kd28DTK/9mLJdwWq3Sl5WkQ64ZY9JjTXkBx84hxgOu1AQBnJ6knAx93lXmasXhfYyGNJphLHdwPYXbRyBHXTPCBnutvlcgg+Oaap7OdUMUq3aMGkgjkIikCIZ9lKyHCzaSQG0nbxoCB0b7E2/M4hZpjrcRfhrBP7K28c7LPawc2RwGNzLAseDkiE6XfPgNfdx6Gnfsr/0tZf70fuNQ+CVydPXIzew7HaNjnw6EUaoWfpQ9I/8TRSqwdqyqFSpUquSKvK9pUB4RWMgrOsXoBsyVpkG/T8K3Oa1t6VDJRXfb6dUu4ckDMJ/HXj/ABA/Cqe9pr/pQTRGAEVg6rh31gNl2+vjoPIbVZntfEpurfkqWYQnoMlTrGkj1zj0qou2M0rzKZlCvy1BUbYAzpGMnG2NvCqKPluM1GptgGlSpVoXOzeyP0Gz+zRflrRahPZH6DZ/Zovy1otQHDz9TUj7LdpIbeC5guLX5RHO0TEc1o8GLWRuoyff/ZUcfqfjUm7JcItmhuLy85jQQGNBHEQrySSE4Go+6qhST91AO7zt8z/KB8njEckUMMcQJMccUDh1Ujq4O+enU1JuBe0SKa9slaMW8EcssrNLO8qhmhdAqF8cqLfAQbbjpUTl7MRXc7f5NfMAiWSRrhhGICxwY5HbCsdXQjrnxwTWNp7Pb55JY9MaGKVYnMkqIA7jMeCT3tW2MZzqHnQD1+3yLGYYLVYoPk08QQSMx5lwAHkLEbgYAC+Q6+Tvi/tA+WxNbCEQPO1uGlad+UjREBSqkaYY8ZJ09Ou+KZp7Obg20Tgp8oku3t+UZIxgrhfPOrXqyPAAHxpvB7Ob53dByMoyoSZ4wplYahEhzhpPNR0++gCntK4it/fQQQywFY4gpk1hYGnbMkzBzt3m2z4ketaOw3Abq14vYi4hePMw0lh3G2PusO633E0I47wBYLG0mIZZpJJ0lUnYGJwgAHgRvmn/ALLOLXC31vbJPIkMz6HRW2w3ioOQreTDcVD4JXJ00WxdqPOP/E0VqGtaX8FwOVKl2Amyz4jkxk7c2NdJ9MpnzPiCCdrokOm7jltG85l+a+6dcxfcWB9KiCpFUSKlWEMquAysGU7ggggj0I61nViRUqVeUB7WEgrKsZKAbOKyYik61rk9KqSVF7ZrjTcRHfSLZ84ODgvnb4af3VS/Gr0zOHPljrnxP8auL22D55cjpaNj175/d/jVNyq2hsHC5GoZ6nfTt4+NSuLKRzJoY0qVKpLHZvZH6DZ/Zovy1otQnsj9Bs/s0X5a0WoDh5+p+NSXspxi2WG4tLwSiCco4eIKXjkjJ0kK2AykMQfuqNP1Pxor2d7NXV6zrbR8woAzd5VwCcD3iPGgJRH2k4YflNoIp4bOWKFRIgRpzJC2rmSKTpOvJBAO2B64ccQ7eW0gkUJKq/KbRowQpbk2yaO+c++cZ8t+tQnjvA7izk5VzGY3wGAOCCp6FSCQRsenlTaCxldGdY2ZFZVLAEgM2dC58zg4HpQFk2vbuy5vNcTgpxSS7QBFOqKXSCG7+zAA7dOm9CeAdp7LkpFeC4HIujdRNCFJfOCySamGDkDDDzP3wm6t3jdkkUq6kqykYII2II8CK1UBLe2HamO8ghUKyyCe6mcbaRz5OYoU5ycfCtXsw/0tZf75ai9Sj2Yf6Wsf9+tQ+CVydUyD9JX+wf8AGiDoCCCAQeoO4oFxjiqQTqz5xo8MeZ86wt+18L50hj9w/jVYtUZb4puz2bshADqtmktH65t20IT/AFoiDE+fVc+oO9Yc/iUHvxxXkY+tF8zPj+w55bnruHT4V63bCEAkq2FGT7p2/Gk/a1FOHilTLFQTowWUZZRhic4B9NqtaJU4tWOLHtVayOImYwzHpDOpikP9kNs/xUkUaJqCcf7a2hUxz2/MRuquEZT8QTUC7R8Zga2aGwkmhzj5t5vmQQQQ0YYO0RUgFQjIBt8DG6PY+yPZfNYsaqn2ddvb19MF4iTf/njdNQGCfnE8enVd/MdTVjC6uMn5gY8O+v7TVi6d8Dtq0uPKmr3Vx4Qb+XMA+/Pj+FaWubrUP0cadt+aCfwwMfHP3VBJWXtqhJlUj+jMB5511SE6DDaiwfbSMbY8Sc9K6R7WcFvLmaKSOIIY1Zf5xTnJBGNwQdqpv2sqBdqrauakapIDjTlVAGD476s/d61W2nRSKe5kIpUqVXLHZvZH6DZ/Zovy1otQnsl9Bs/s0X5a0WoDh5+p+NWB7K7YSQ8SQ2z3QMMXzCMUZ8TKdmG4xjV8FNQa1sZZnKRRvI250orM2PE4AJxShuZoWYI8kbdGClkO3gcYOx8DQF1zcGJmhYWqqIuHHTZzR/KpYfnyoKRkjms2TguQFBPlTi9QW5vooLaEJHxCycryVOhXRXZiPqgNnB6KCwHWqMXiEwcyCWQORguHbUQRggtnJ22pC/mww5smGUKw1thlXZQwzuB4A9KAvm34RHJc3ry2cbyNxFonQWiyE2wTUh3dRCZMsxn8WANRS2urO2ThSfJbZ4biWdZZZYUaUxi5kiQ6iDgqpzkb7AZ2FVo3FJyWJmlJddLnW2WX9VjnvD0NZ8LvwksTSx8+OMnELswQ5ycbHIGo5wOvjQEn9pHCI7M2tiiLzY42aVwq63eV2KKzAZbSgXH9qiHs67F8Rj4jaTSWsyRpKrMzrpAA6nfBqGdo+NS3dzLcS4Du2cDYKBsqr5AAAfdTzsSZW4hBy2PNLnS2d86T4nxPrRkN0rOiePcOYzJPG0Css5Znc5OkAhdY1DUobB0gg9PWtUHApZDFPJLBlECEIshAGsSEe9gnVkasDIPhQvjl/DI/d1HCjCMBzNWGDDxYZJXGOhyemKh3aJHEq4LgaO6oZ0Ve/JkADHQjHTwqYx9GSkpFiw9n9Lq2XkQgKylJGBXCLsWlGnBUnPQA+QrXx2Owh1FZJ3kUHCmZ3XV3Sf5zUA2HG4GSCRvjFVnySR78vw5kn/VWfZ60Pynu627g7oLMxfmLpKgnqBq/EVZwpZJaVYDUMkFwHaTUVC93SCwDeI3x44G4pvJY2/JVtxMG3GO6V8//AD1+5/Pxd1uLopq1Nu4lQtvpCaQ2g6n6DBC41AVFOM8WnikZEiVlBIBIfcA4zt4ZB/CqxSv/AEWtLxX8h+6jiinh+TmQE++GGOu2B6Y6/dV7IapDsxfz3xjlmidjEeWqqgXLNnAUn3vNmOAuMn1vBRVVdUy1pvAmrWT6VsIrDFSSaWrl/wBs5/8AVJ/TH7s/41fFnZ8UHFJ5JJUNgV+bTIyDhcALjIYEMSxO4PwxQvtiGOJz7/W23JwCFON/XO1QQ2QilSpVJJ2b2R+g2f2aL8taLUJ7I/QbP7NF+WtFqA5W4VezW3BpZrV2ila+EcskZKyCIRao11DdVL6viRiilxad25v+L2pmm5kEXJVjDs8ermuU3LMoGPXOfIQngPaW7sndrWZoi2zYCkEDOMhgQcZONtq3cO7Z38E0s0dw4kmIMrEK2ojdSQwIyPA428MUBYUHYvh0EvJmhefXxP5Ijc1kKRvFFIpYLszIX9M758BTXhHZPh5S1hkhd5bn5cvO5rLoNsXMbBBsxIXBHT0NV/F2lu1KkTNlbj5SCcE8/Ycwkjc7Drt6VlH2ovFaJhMQYeaYzhe7zs87w31ZPXz2xQE7k7GWHyKJSyJcvaw3AlMrmQtKy91odOgRBWwHznUB50R4Pwuwi4tBFDYzD5PdmBpmkZ4nPLJVnyO7IGGoKMDH3VWr9rL02otDO/ycADl93oDkLqxqK5305x6U4u+3PEZTCz3TkwMHjOFGHAwGOB3zjbLZ22oCacN7P8Ple2SS2kL8RmuAjrK36OqOyKFHSUgjJLeFZ9n+H2lvPwYRwH5ROqzPNzGIAHMUhU6d7AOfDAx1NQqLt3xFVmVblwJmZ5AAg7ze+V7vzefHTivezfHJzd2jM5PydSsWw7qgMwXpuMk7nzpdZIfBcl5w4PGFaVu5llj5MTAlWKqpJj3Bj3yT1PXNR7jijnIFXTiIHThQR35CdlYgdfAkUd9l9vcXANzd3spV1LG2ePQmP1kL7lVJA1IMZ2yacdpWs3TmvCypEpKvH/OaTnZ8g5O+fMZx50jLazFtxxIhTy433/8APKnfY+dPlYPdzpBAY6RgOM7+W+PvFELqKxFvHNy7jS4yMuoZgAc4DKP1TTiztoYT83HDIdYJJmRyVDZUYUdzrqBKnOjrtvo5pqibSyBu2szEyRKiFedK4InbqSucoU2AYZyd+g8K2dk7cPLHGFwucMwkVwA+llXYYYgat8eh6b7e0izytr0d0ZwsZlfAYknCgYBLat8Dc/iU7PMpmTAZWDRq+piZMqAO+GOtTjAwQOhHgaztNYKylZa3COHRwxhY1AGP37/+HxrbxKSVYpGhUPKEYojHAZwO6CfAE7ZrbbjCL/ZH7q2UOga8MuWkijd42idlBaNtypIyVJ8cHalxGflxvJpLaVJ05xnHqelOqbcTUGGTIyNB2+7NAD247bf7TH/tfH7q5v8AbKVPEpHU5VwrDbHgB/hWz2gccuknVUZkRVBXG2SetAO1N48y20kpzKYsN9xIU+mRg/fVE3gxg5SpuqAFKlSq5sdm9kfoNn9mi/LWi1CeyP0Gz+zRflrRagOHn6n41P8A2ZcBS4t71/kQvZY2gEcZkaPZ+ZrOQw/VFQB+p+NG+Ecf5FpcwKGDyyQSJIDjQYS7fHOWGD6UBY9v2RtPlF2I7FZpI7WCQ2huDpindiJY+bqGcLg7k9cVDYuGxycZht5LVbdDNHG9ushkAzpDd/JJz12PjTjj3bmG4W7Itykt3BCkpBGgzRvqaQDH1gBt5jNRHg3EWt54Z0ALRSK4B6EqQcH0OMUBLOG9nIZouJAKBJHdQRQsS2EEkzRnx3GMdc9Ke2Xs7aK6tw729yrXLW8iBpFCyqpfS5C53XfK58q1X3bm0UEWlo8XNuY7i4LSa88t+YEj22Gok5Ne2XtDjSXmclj/AOove41D3XjMejp13zmgGnaPsgkdvw9rdhJPdasxKWJ1asALkAYX3DvknJ6UY9n3DrS14hbRyMLi7ZypVGzBB3WzqYbTyeGFOgZO5IqLdoe0UVzaW0XLdZYDINWoaDG7lxtjOrJG/TasvZnME4pZk9DKF+9gVH7TUoiXDL2vZIxKSCA0oXJAPeAJ0AtjZRhsKSAMVHePRqlpIMBjIARknukA+73gOgJ9TjxAr28WNlaLQrnnyMBscY0ajjOep64JBLb4NOLWeGSBVBLhYwBrBjJO6EFevXWMfs6VG1rJxuO3yRHruP8AQ4UBZmBIYHSdLamJUYJ22/YaY8Nsy3MwxXEZyyg5H4Y8iMddzUnvdOWjKt31XJJymWdife72osTkbePXOza1lZSivywO5jlwhZWBwikkv3gTjc+O9W5Rpue3AU4ZcnvvGrRqeUmg8oHKalkOFzkFhnIPXc+uMkba5ZFZtRfWcHctgEkDYAk+WM7ZNauK8U5EkEbK5E+CjBe7g4xk/eOlPHJXPkevocYz8POsHKV9GOpKXszh49dt0lk64+qMb43yQR5/D12p9bdoZztzWz+/9lArLhyISw94HvDJ94Yx9bfbH/gGHCxZUee+Px8fSjmQ5vsN/wCWpyR89p36scKPVjjpQW649dksObMCemMAYPNVMHIAyTH+HhvXttcaiV+uvUDr/wCbH44rF7bUXOVA0qvUatWWYEDxA8/++KKTi8kx1JLgaT8LhlVeaFcgnCkNrAzkaidjnPgT0/CsvafEq3SBQABEoAGw8fCrWuVBlDCJABowdWSgyQQCw1MGO53GDjrtVU+1J83gHlEmfvyaabbkawilNNeyH0qVKug6js3sl9BtPs8X5a0WoT2R+g2f2aL8taLUBw8/U/GsayfqfjWNAKlU14Lw3h8FnDc38csxuZXSNI30aIo8CSQ7d5tRwF6YFF+BdnOHm3lmW2ur5flphi5RZJOVoDqzKF65OPDc+FAVnSqeduuyVvZwymIszLfvCGY78vkRShWA21KzkE+lNe0/Y1hxC7t7NBy4GUYeWNSAygjeRl1b56UBDaJ9mZtF5av+rPE34Opol/mNeeIgHxurb/8ArWUfY26QhuZaAqc73dv4b/7SgZ0BxfhkbW+pERJHmnUyBRrIIm2LYz4Db0FVzFfQwqVbmKS5CGMzZ7rBSToGAFbUV9cmralspJbdOUYzuXHe21Mpz3hqDbsT5biqx7ZcJeLkq5UFldu4wYe8M9AM7k74H34qdPmjKSuuqEON2Zk1srONQOD8oBKgtgFtHXBU/FPWmkvFbYkMdWe59SdsBWiOBlcEYWTc9S2TvTdRt4nbr+6vSw9c1otPPJDrocMEItLmInTGgMmpGI1ITrKqQcZKkb7AsvgCaM3fElUmMAnUobO+BkgHO2kHcHTn1xihVpGnKgBaNS2sDWJMFjLKDuDpyRnY9aIHgx5h06QNIBJGCTqDFsg/1fFT4VlKvZhN5p8BCC5RmlKspGodCP1RTSG/04UjOXCjSOgOoEnvb4I36Y/bWkQJApXPMLHuhskjr0yScHP7KFPwq4eVo1mTKkOAythQSdGCE0g9dgT41kobm6IjFO6MmV/lvNBYfV93u4zI2/fyd1Tw21/DM5k4TKAp5b7gZJ0nLHdtOk7L5Z386gQs7nkvN8pTQmQwKyZ2ODgaN99qnPZa/m5ISZlaRTgMzOMggNjGNiowMH7qz1ozSTo0UE1UlQPu2eORUMfvaCSSAVwXIODuQdxkef4U17QZtV/N6aV/BQKurjshNzECygqAu4BZ8sSNJY5UgZONyd/AHFDdp5td3cN5yt+w4qdHs0hFJquv7BdKlSroNjs3sj9Bs/s0P5a0WoT2R+g2f2aL8taLUBw8/U/GsayfqfjWNATLgXH7FrWK24hHOwt5WkhaEpkq+C8ThvqlhnI33r257blbWaK0Eto0l404ELlEWEx6BHlSCTkA9MbZqM8H4XLczRwQrqkkOFGcepJPgAAST5A1IZ/Z7drJCitBIJuYEkilDxaolLyKzAd1gAdv4GgMuA8esmtGteILcsBcm5WSEoWZmQI6vr8DpBz1z5eIftbxn5beT3IXSJXyFzkgYAUHzOAKIjsDelbJgEIvTiHDegPf27uxz4+NBeO8JktLiS3l08yNtLaTkZxnY+PWgGFKlSoDoSxmuJLO2kV20NawoVwTH/qlPQZGfnOn6o6ZoV2pvJJDDzCCVV17oIGMoehJPj50X9n/ABKI8HthMGIw6nCswCpId3wDhemSdqJXfZkXRhdHSJlDqVWLMbA7DIGw6Hf4b7Crp5MFy0QIMKxbFS667AOmdVxAoG+WJXb7xWMXYiE4Et2uc40xDxAJI1MMA4Gela7kGxpwW21WqncEI2kgN7wmlyeuk+GxBo1wOwnmjchQ2JCB3lBxgEZGcjr94xRCG0htkWOBAwx7zlnOSxfpsPreX7qyt+LzKjAHByRsAAoy2yqBgH1rkk1lMym4t5I3xHhMsVxGkkUAR3Byyo0+dceNDK+pRjVvp20N11beSSMmo7FRMSFAw2ptK4z4jA2zQefh+b1ZmuANU641SNklSFIwTjJIIx60dupAGLHfDYx+G+PTNb6MUzS8KuhWxkV8EplETfSMZjKEZHmcH40raMAk7ZJwcZ8FU+PxNPIyuvGxBGc5G/T+NYNhnwuPex/8UFRrwioY/gz1ZNxyaZYxkMc5Xcbnw8xnB8etc93T6nc+bE/ia6D7QAwxzZIykbHPh7px/hXPArn0lyW+NebPKVKlWp1HZvZH6DZ/Zovy1otQnsj9Bs/s0X5a0WoDh5+p+NY06srGWeURQo0kjHCqoyx+6s+LcJntpOVcRPE+AdLjBwehHmPWgCns/ZxxC3McyQPqOl5BlMlSNLDI2f3Ov1qtaDh6x3VjJNbRWV0z3QaCKUNG8fyWT53QCVjOru7dc/hRFKgL5suIolhA2oCS04fFcxdN3dLm20+mGaM/hVZ+1MZ4veY3zLtjfPdXpUSrZBMyMroxVlIZWBwQwOQQR0IO+aAOWPYu/kXVyGjT9eYrCn3NIVB+6t54BZRfSOIRlh1jto3mOPISHRHnw2Jx60E4pczu/wCkPKzj/asxbB3Hvb7jBpnQHQvsuvrRrF0gjlMaytF88yljrCsSwRQAufDJrVx7tJeRTSpFLoVSAFVECjYf1c9T60M9hska2Ny0gOFuFOwYnOgAbDc0u0n0iU+o/wCUVrpq2Ytuxk/Fbpzl5A2ds4XP/LTnhs0jSxKznDSLnAUb5xnIAOdzvTKMU54bKDPH6OufxBq9ENJoMdprsxyRlzJh0TIQHboCwIU407kjoQaM8KXVCpByCoIPoS2PLwxTTtDfQZjicwh9GAHYh8smxABGdyuD5/tMdnbZVjCdABhc7ZAyQPQ6SKwlmJm1hAJuD6ZdY1bEnIY47xYnunIHvY2wdh8a0m0UzNlSGLajIX7jKeqac7MGGc+NTG7tR/38fOgsiDP3VktRxeSim44I5BAigkQvgKAUMo1PpI1aGz3NQGw8KIcLQhwBnR3dIJzjONvj0B+FPSg9K9j6j4iqy1E1SRE9ZzVMHe0qXTb3Zz9TH46RXP8AV8e1HPyW6ycnC5/vLVD1eHs6ND3+TylSpVc3OzeyP0Gz+zRflrRahPZH6DZ/Zovy1otQHKns91criggz8qNr81pzrKcxeeExvnTjpv1orwHg90/KPEY2nWGynntLaQnW2lgNLgfOacnUFPUAY2BFV3b3ckMgeKRo3U7OjFWHwIwRW+Tjt00wuDcTGcdJTI/MHUbNnIGCRj1oCy5+F2kcc109jGHNhDcfJm1hElM5jyBkMqsqhtPkSOhrdc8Jsbea9kFnFIqz2OiNyxRBcRlpQMHcZJwDsML5YqrLjjNzIZGeeZjKAJC0jEuAcgPk94AgYB6YpS8XuGzqnlbUVLZkc5MYxGWydyo2Xy8MUBcXDex/DY+erxB1e9uIT83cSyRxxjuLEYgdDAHXqbqNt+tAX4ZFDb26xcNW4X5LFdvdlmUh9eX1H3WQAaDGMHfz3qAQ9obxebpurheaSZcSuNZPUvv3ifM1qHGLnk/J+fLyM55WtuXnOfczjrv060BcHa63jFxf3f8Ak9LqVbiGARFZCvLaMuZSq7szECMN0GBj1B9quFWVha3ojto5W+XSW0buWLRIYEfu795kYkAn161BF7T3yyGQXdwH0BNYmkDaBnSuc5wMkgeZzTCS+lZCjSOULmQqWYqZCMFyM41EbautAXT7BIFezulYZBmXIyR9UeVSziXYdpJGk5qqGOQpUk9AN96A/wD09W7pZzyMuFebuEj3tK4bT6A7Z86tCV8kn8PhVlJrgwnhlfj2fOM/Ppv/AFW/jWdp2FdJFcypswY9074OfOp0xrQk+Xwq6iAdiMgjIBI38Dj8al6kkiqy6IdcWTTD9IicYVgWBKjYal7ujBGxXqPv61t4I/Nil1IFaNe6UdyMYOnIIGCMdN+tSS8jzzCcr3TlQMY28KFcGv5J+7GitjIIYafdOnzI3/w+NRyg0+D2+4qqtoZX/mRKXC5U48MDJLHBwAKCNHdszMtu0kWT3wUXChck6WIckHB6dDjGRT28sDFOBKmkTaUARslQWVcrvsNRHTfxrf2wsTZWyskzHvBSZPdC6W97QnicDfr02JqHBMKHtoYsMEivAM7Dqabx2SRkzPeZBIXlsgVNbbFVYgHIbAGetbpplTLMQqrq1E9ANJXfcbb+dc04OJg9OpJMAe0GMiwnyCO6Ov8AaWqNq7u2NzHJw28eORpFdlJ3GlWURqygYGgnAYjHVifGqRrTS4OvTgoWkKlSpVoanZvZH6DZ/Zovy1otQnsj9Bs/s0X5a0WoDh5+p+NY1k/U/GsaAVGuAdmbi8juZIQpW2j5kmSc43OFwDlsBjjboaC1bPYriVjw+ztGuJJFkuJjO4iVH1RKGhRJskEIQ8jY36mgIR2a7Hz3oUxNEoabkjWxHeETzEnCnChUO/mRWHaPsnNaJHKZIJoZCVWW3k5ketcEqTgYbBzg+tWTwWySyvbGzV00tPez51KRpMTwW/ezjdEzv+tUT49Ymw4V8kneI3E10JhHG6yaI0QpqYqSFLE4x4gelAQOpB2a4NGytdXRK2kRwcbNNJ1WGL+sfFvqjc+FNOznDI55TzpRDDGuuVzjVoBAxGv13JIAHmfKs+0nG/lDqsacq3iGmCEHIRepJP1nY7s3Un4CgLc9jvbA3M9zFJpTKqYI12RIkyvLQeSjT6ncmrE45xMQR6y0aqN2aRtKgdOuDXKfB+Jy200c8LaZIzlT+wg+YIyD6Gr1TjFlx6z5JflTkAtFqAYMpyGjzs652+B8DV40zGcc36JJZ9pDIoZAkikZV4XDrsTnOrT5eGd8g4oRxftjHbFGIZe9pOWUEIxLEjS+T7uwwTUF7U29zwxYbS1WRlCs7MAWbLNsTpGANjgeh3p12f7BHiEEdxczXCSHI0YAxpJC4DDI8/vq7inxyQklkkt97RbNtcHMkWVmMWdLHDE8snVnfG/j4UM4B24tYrgiIiFjqTGJHyc5GrWSAcgDY4/fWr+R+2zn5TPnOc4TOfPOOua0yeyS3U5W4nyD1woP44qNkuifHsKcX7Urd6Ndwo3CqyxkEZaEZGc4I5ynPhj0OGR49CU1yTk90P7rFR3U3C7YbExXrto+Faf5K4x0uZ/T3fT/AKV/AUy4x7No4oJHFzOSiEhSBg4HTb4D9lTtkT4kgsbyRh8woyW1K5wEyQQQ27HGCd8E71lg3CyRu9tIvSQW8xeRDnKkZQDZgNj5Hr0qsOx1/cx3EMZEuh3Cadx1OMjbrvVj8A7K2vClluJ5yqMukcwAHHUAKN3bpvt8Ko4RaszcK/IL7fymCxlDyNLJcSjU76dTEKBnAAAAVFFVBUh7a9pDezlgCsS7RoeoHiW/rE/4DwqPVnFUjXTi0vLk9NeUqVSaHZvZH6DZ/Zovy1otQnsj9Bs/s0X5a0WoDh5+p+NGo+yF+1sbpbaQwAZ1gfVHVgPeKj9YDFBZOp+NWtx/h3EJLxJ7JnjthYIyTEkQLCIAHUnBUHORp65OfWgKoryrdu+BQC1eIWcfyZeGC6S+0HmNcYDAc3OMM50crrTnj8NlEb39CtwllLYuCqd51mxz1cnqpHRQMD40BTVKrqTsnYw31tZvHG7SPc3YyuotHhhaRYGCVwpcpncj1rHidnZwLdXPyOFpEs4JOXJbtFDzGmMYdYmbUgK4yud9PrQFNzW7pp1qy6lDLqBGVPRhnqDg71qq9Tax3M1tJLbQ/N8IiliAgeRGc6Aw5Yb51YwdkHTV40G7UWtnaQX8kVpEX50EYWWIjktLAzSctS2V/WUEnBYeVAVIBSBx0rylQFweyC/nlhvSZnMirEqs51kKDIcAHfxO2fGrTS7yck1ytZ8RmizypZI9WM6HZc46Zwd8ZP406/zjvf6Vcf8AFk/6q2jqJKmZuFs6baZD4/8AelzFI2Oc+u4rmZe018Ol3cf8WT+NejtTfD/7u4/4r/xq32or9bOjXIxWuMjz8a54/wA67/8Apc//ABG/jS/zqvt/0mbfr3zT7Yj62W17RrqaGzeRZMOs4aNk2KqRpx+BP41Sl7eyTMXldpGP1mYk/t8Kd33H7qZNEs8joSDpZsjI6UMrKctzwaRjQqVKlVCwqVKlQHZvZH6DZ/Zovy1otQnsj9Bs/s0X5a0WoDiF4jk7eNORf3HKMHNk5JOTFrPLznOdOcdd6VKgEb645Qg5knJB1CPWdGfPTnGa8lvJ216pJG5mnXlydWn3NWT3seGelKlQGLXU5dXMjl0ACMXOpQvuhTnK48MdK2XHELmQyF5ZWMmOYWdjrA90Pv3gMDGemK8pUBnFxS6XlFZpRyc8rEjDRnro37ufStM11OwYNJIwdtbAuSGfcamyd23O533r2lQDblHypco+VKlQHvKPlXnKPlSpUB6EavOWfKvaVAeco+VLlHyr2lQHnKPlS5RpUqAXKPlS5R8q9pUB5yj5UjGfKlSoDsrsl9BtPs8X5a0WpUqA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373737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1489425" y="-914"/>
            <a:ext cx="5873750" cy="1191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Gas refrigeration cycle with regeneration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492875"/>
            <a:ext cx="2133600" cy="365125"/>
          </a:xfrm>
        </p:spPr>
        <p:txBody>
          <a:bodyPr/>
          <a:lstStyle/>
          <a:p>
            <a:r>
              <a:rPr lang="en-US" dirty="0"/>
              <a:t>SUSTC  |  </a:t>
            </a:r>
            <a:fld id="{C915B95C-5458-41FC-90FC-CACA4B5603FB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076" y="1530009"/>
            <a:ext cx="4634222" cy="350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6325" y="2290435"/>
            <a:ext cx="2840061" cy="2913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409249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18" name="Picture 2" descr="See the source imag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531"/>
          <a:stretch/>
        </p:blipFill>
        <p:spPr bwMode="auto">
          <a:xfrm>
            <a:off x="426522" y="937716"/>
            <a:ext cx="8266216" cy="498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13833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12. Silent</a:t>
            </a:r>
            <a:r>
              <a:rPr lang="zh-CN" altLang="en-US" sz="2800" dirty="0">
                <a:solidFill>
                  <a:srgbClr val="FF0000"/>
                </a:solidFill>
              </a:rPr>
              <a:t> </a:t>
            </a:r>
            <a:r>
              <a:rPr lang="en-US" altLang="zh-CN" sz="2800" dirty="0">
                <a:solidFill>
                  <a:srgbClr val="FF0000"/>
                </a:solidFill>
              </a:rPr>
              <a:t>power generator and refrigerator </a:t>
            </a:r>
          </a:p>
        </p:txBody>
      </p:sp>
    </p:spTree>
    <p:extLst>
      <p:ext uri="{BB962C8B-B14F-4D97-AF65-F5344CB8AC3E}">
        <p14:creationId xmlns:p14="http://schemas.microsoft.com/office/powerpoint/2010/main" val="19212127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879" y="1915509"/>
            <a:ext cx="2474263" cy="20468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1915509"/>
            <a:ext cx="2518824" cy="20468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879" y="4589736"/>
            <a:ext cx="2505846" cy="1879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6986" y="4589736"/>
            <a:ext cx="2516352" cy="1887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矩形 11"/>
          <p:cNvSpPr/>
          <p:nvPr/>
        </p:nvSpPr>
        <p:spPr>
          <a:xfrm>
            <a:off x="1251896" y="181327"/>
            <a:ext cx="65662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Silent</a:t>
            </a:r>
            <a:r>
              <a:rPr lang="zh-CN" altLang="en-US" sz="2800" dirty="0">
                <a:solidFill>
                  <a:srgbClr val="FF0000"/>
                </a:solidFill>
              </a:rPr>
              <a:t> </a:t>
            </a:r>
            <a:r>
              <a:rPr lang="en-US" altLang="zh-CN" sz="2800" dirty="0">
                <a:solidFill>
                  <a:srgbClr val="FF0000"/>
                </a:solidFill>
              </a:rPr>
              <a:t>power generator and refrigerator  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15527" y="1371600"/>
            <a:ext cx="83078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How to get power in deep space when no enough light available?</a:t>
            </a:r>
            <a:endParaRPr lang="zh-CN" altLang="en-US" sz="2400" dirty="0"/>
          </a:p>
        </p:txBody>
      </p:sp>
      <p:sp>
        <p:nvSpPr>
          <p:cNvPr id="17" name="TextBox 16"/>
          <p:cNvSpPr txBox="1"/>
          <p:nvPr/>
        </p:nvSpPr>
        <p:spPr>
          <a:xfrm>
            <a:off x="186624" y="4127281"/>
            <a:ext cx="77716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How cooling the tiny the laser communicate device quietly?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287447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477"/>
          <a:stretch/>
        </p:blipFill>
        <p:spPr bwMode="auto">
          <a:xfrm>
            <a:off x="3048000" y="1643230"/>
            <a:ext cx="2743830" cy="2054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4" descr="太阳系 - 温柔的鲨鱼 - 温柔的鲨鱼博客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206" y="4484132"/>
            <a:ext cx="3441559" cy="2090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http://a2.att.hudong.com/37/65/14300000491308128987652215861_950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477"/>
          <a:stretch/>
        </p:blipFill>
        <p:spPr bwMode="auto">
          <a:xfrm>
            <a:off x="100398" y="1643230"/>
            <a:ext cx="2852882" cy="2070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407075" y="3913464"/>
            <a:ext cx="1911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Satellite</a:t>
            </a:r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：</a:t>
            </a:r>
            <a:r>
              <a:rPr lang="en-US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Solar cell</a:t>
            </a:r>
            <a:endParaRPr lang="en-US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8694" y="1277996"/>
            <a:ext cx="2941137" cy="2434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2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04"/>
          <a:stretch/>
        </p:blipFill>
        <p:spPr bwMode="auto">
          <a:xfrm>
            <a:off x="5404506" y="4177542"/>
            <a:ext cx="3544652" cy="2174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Rectangle 7"/>
          <p:cNvSpPr/>
          <p:nvPr/>
        </p:nvSpPr>
        <p:spPr>
          <a:xfrm>
            <a:off x="2743200" y="3913464"/>
            <a:ext cx="16433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Spaceship</a:t>
            </a:r>
            <a:r>
              <a:rPr 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: </a:t>
            </a:r>
            <a:r>
              <a:rPr lang="en-US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RTG</a:t>
            </a:r>
            <a:endParaRPr lang="en-US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04337" y="288091"/>
            <a:ext cx="67557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Radioisotope thermoelectric generator 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092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733" y="2057400"/>
            <a:ext cx="3666067" cy="3096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1"/>
          <p:cNvSpPr/>
          <p:nvPr/>
        </p:nvSpPr>
        <p:spPr>
          <a:xfrm>
            <a:off x="1217103" y="265381"/>
            <a:ext cx="679442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Radioisotope Thermoelectric Generator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4535" y="1459468"/>
            <a:ext cx="2527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RTG made by </a:t>
            </a:r>
            <a:r>
              <a:rPr lang="en-US" altLang="zh-CN" b="1" dirty="0"/>
              <a:t>Ukraine</a:t>
            </a:r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5029200" y="138326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嫦娥计划</a:t>
            </a:r>
          </a:p>
        </p:txBody>
      </p:sp>
      <p:pic>
        <p:nvPicPr>
          <p:cNvPr id="4915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1986289"/>
            <a:ext cx="3410125" cy="4108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225824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4" descr="eTEC HV3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8953" y="2034400"/>
            <a:ext cx="1856846" cy="1337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Evergen Power Strap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904" y="1882000"/>
            <a:ext cx="1944695" cy="1549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8" descr="nextreme logo">
            <a:hlinkClick r:id="rId4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8459" y="1393523"/>
            <a:ext cx="1752600" cy="362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2" descr="http://a0.twimg.com/profile_images/1299626692/twitter_logo.jpg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687" b="28285"/>
          <a:stretch/>
        </p:blipFill>
        <p:spPr bwMode="auto">
          <a:xfrm>
            <a:off x="343469" y="1348600"/>
            <a:ext cx="1752871" cy="438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4" descr="http://www.kryotherm.ru/imagez/multistage.jpg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2259"/>
          <a:stretch/>
        </p:blipFill>
        <p:spPr bwMode="auto">
          <a:xfrm>
            <a:off x="5201371" y="2034400"/>
            <a:ext cx="1350581" cy="1212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6" descr="http://www.kryothermusa.com/imagez/logotype_top.gif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809"/>
          <a:stretch/>
        </p:blipFill>
        <p:spPr bwMode="auto">
          <a:xfrm>
            <a:off x="4949360" y="1348600"/>
            <a:ext cx="1794989" cy="419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0329" y="2991564"/>
            <a:ext cx="1370463" cy="414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5"/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172"/>
          <a:stretch/>
        </p:blipFill>
        <p:spPr bwMode="auto">
          <a:xfrm flipH="1">
            <a:off x="7490329" y="2079255"/>
            <a:ext cx="1370463" cy="912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913" y="4424724"/>
            <a:ext cx="2336800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矩形 18"/>
          <p:cNvSpPr/>
          <p:nvPr/>
        </p:nvSpPr>
        <p:spPr>
          <a:xfrm>
            <a:off x="228599" y="3939400"/>
            <a:ext cx="33596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/>
              <a:t>Thermoelectric Cooler for CPU</a:t>
            </a:r>
            <a:endParaRPr lang="zh-CN" altLang="en-US" sz="2000" dirty="0"/>
          </a:p>
        </p:txBody>
      </p:sp>
      <p:pic>
        <p:nvPicPr>
          <p:cNvPr id="20" name="Picture 5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8513" y="4339510"/>
            <a:ext cx="2552019" cy="19140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" name="矩形 20"/>
          <p:cNvSpPr/>
          <p:nvPr/>
        </p:nvSpPr>
        <p:spPr>
          <a:xfrm>
            <a:off x="4363387" y="3939400"/>
            <a:ext cx="379001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/>
              <a:t>Thermoelectric Cooler for Telecom</a:t>
            </a:r>
            <a:endParaRPr lang="zh-CN" altLang="en-US" sz="2000" dirty="0"/>
          </a:p>
        </p:txBody>
      </p:sp>
      <p:pic>
        <p:nvPicPr>
          <p:cNvPr id="22" name="Picture 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1676" y="4339510"/>
            <a:ext cx="2552019" cy="19140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" name="圆角矩形 22"/>
          <p:cNvSpPr/>
          <p:nvPr/>
        </p:nvSpPr>
        <p:spPr>
          <a:xfrm>
            <a:off x="267269" y="1139110"/>
            <a:ext cx="1866330" cy="2428845"/>
          </a:xfrm>
          <a:prstGeom prst="roundRect">
            <a:avLst>
              <a:gd name="adj" fmla="val 5665"/>
            </a:avLst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圆角矩形 23"/>
          <p:cNvSpPr/>
          <p:nvPr/>
        </p:nvSpPr>
        <p:spPr>
          <a:xfrm>
            <a:off x="2620929" y="1139110"/>
            <a:ext cx="1866330" cy="2428845"/>
          </a:xfrm>
          <a:prstGeom prst="roundRect">
            <a:avLst>
              <a:gd name="adj" fmla="val 5665"/>
            </a:avLst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圆角矩形 24"/>
          <p:cNvSpPr/>
          <p:nvPr/>
        </p:nvSpPr>
        <p:spPr>
          <a:xfrm>
            <a:off x="4915469" y="1139109"/>
            <a:ext cx="1866330" cy="2428845"/>
          </a:xfrm>
          <a:prstGeom prst="roundRect">
            <a:avLst>
              <a:gd name="adj" fmla="val 5665"/>
            </a:avLst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圆角矩形 25"/>
          <p:cNvSpPr/>
          <p:nvPr/>
        </p:nvSpPr>
        <p:spPr>
          <a:xfrm>
            <a:off x="7201469" y="1139110"/>
            <a:ext cx="1866330" cy="2428845"/>
          </a:xfrm>
          <a:prstGeom prst="roundRect">
            <a:avLst>
              <a:gd name="adj" fmla="val 5665"/>
            </a:avLst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圆角矩形 26"/>
          <p:cNvSpPr/>
          <p:nvPr/>
        </p:nvSpPr>
        <p:spPr>
          <a:xfrm>
            <a:off x="238865" y="4365150"/>
            <a:ext cx="2860694" cy="2197065"/>
          </a:xfrm>
          <a:prstGeom prst="roundRect">
            <a:avLst>
              <a:gd name="adj" fmla="val 5665"/>
            </a:avLst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圆角矩形 27"/>
          <p:cNvSpPr/>
          <p:nvPr/>
        </p:nvSpPr>
        <p:spPr>
          <a:xfrm>
            <a:off x="3605972" y="4371525"/>
            <a:ext cx="5376541" cy="2197065"/>
          </a:xfrm>
          <a:prstGeom prst="roundRect">
            <a:avLst>
              <a:gd name="adj" fmla="val 5665"/>
            </a:avLst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Rectangle 1"/>
          <p:cNvSpPr/>
          <p:nvPr/>
        </p:nvSpPr>
        <p:spPr>
          <a:xfrm>
            <a:off x="1045188" y="339375"/>
            <a:ext cx="42793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Thermoelectric Cooler (TEC)</a:t>
            </a:r>
          </a:p>
        </p:txBody>
      </p:sp>
      <p:pic>
        <p:nvPicPr>
          <p:cNvPr id="79874" name="Picture 2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3568" y="1348600"/>
            <a:ext cx="1499662" cy="4781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7935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59987" b="14363"/>
          <a:stretch/>
        </p:blipFill>
        <p:spPr bwMode="auto">
          <a:xfrm>
            <a:off x="609600" y="1435103"/>
            <a:ext cx="2362200" cy="3262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110" r="-4383" b="18363"/>
          <a:stretch/>
        </p:blipFill>
        <p:spPr bwMode="auto">
          <a:xfrm>
            <a:off x="3576456" y="1963579"/>
            <a:ext cx="3404203" cy="2747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07930" y="4697849"/>
            <a:ext cx="19655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Thomas J. Seebeck</a:t>
            </a:r>
          </a:p>
          <a:p>
            <a:pPr algn="ctr"/>
            <a:r>
              <a:rPr lang="en-US" dirty="0"/>
              <a:t>German physicist</a:t>
            </a:r>
          </a:p>
          <a:p>
            <a:pPr algn="ctr"/>
            <a:r>
              <a:rPr lang="en-US" dirty="0"/>
              <a:t>(1770-1831)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5234970"/>
            <a:ext cx="5339035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An electrical voltage  was produced </a:t>
            </a:r>
          </a:p>
          <a:p>
            <a:pPr algn="ctr"/>
            <a:r>
              <a:rPr lang="en-US" sz="1600" b="1" dirty="0"/>
              <a:t>by heating the junction between two different electrical conductors (e.g. Cu and Fe)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18551" y="1430179"/>
            <a:ext cx="31922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Seebeck Effect, 1821</a:t>
            </a:r>
          </a:p>
        </p:txBody>
      </p:sp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5283539"/>
              </p:ext>
            </p:extLst>
          </p:nvPr>
        </p:nvGraphicFramePr>
        <p:xfrm>
          <a:off x="6324600" y="2247991"/>
          <a:ext cx="23495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91880" imgH="253800" progId="Equation.DSMT4">
                  <p:embed/>
                </p:oleObj>
              </mc:Choice>
              <mc:Fallback>
                <p:oleObj name="Equation" r:id="rId3" imgW="1091880" imgH="253800" progId="Equation.DSMT4">
                  <p:embed/>
                  <p:pic>
                    <p:nvPicPr>
                      <p:cNvPr id="18" name="Object 1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324600" y="2247991"/>
                        <a:ext cx="2349500" cy="546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063176" y="434893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0" y="4316665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2750" y="3063371"/>
            <a:ext cx="22522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FF0000"/>
                </a:solidFill>
              </a:rPr>
              <a:t>S</a:t>
            </a:r>
            <a:r>
              <a:rPr lang="en-US" dirty="0"/>
              <a:t>, Seebeck coefficient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279" y="3631049"/>
            <a:ext cx="19030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i="1" dirty="0" err="1"/>
              <a:t>eg</a:t>
            </a:r>
            <a:r>
              <a:rPr lang="en-US" b="1" i="1" dirty="0"/>
              <a:t>. </a:t>
            </a:r>
          </a:p>
          <a:p>
            <a:pPr algn="r"/>
            <a:r>
              <a:rPr lang="en-US" dirty="0"/>
              <a:t>Cu: +1.8 </a:t>
            </a:r>
            <a:r>
              <a:rPr lang="el-GR" dirty="0">
                <a:latin typeface="Times New Roman"/>
                <a:cs typeface="Times New Roman"/>
              </a:rPr>
              <a:t>μ</a:t>
            </a:r>
            <a:r>
              <a:rPr lang="en-US" dirty="0">
                <a:latin typeface="Times New Roman"/>
                <a:cs typeface="Times New Roman"/>
              </a:rPr>
              <a:t>V/K</a:t>
            </a:r>
          </a:p>
          <a:p>
            <a:pPr algn="r"/>
            <a:r>
              <a:rPr lang="en-US" dirty="0">
                <a:latin typeface="Times New Roman"/>
                <a:cs typeface="Times New Roman"/>
              </a:rPr>
              <a:t>Bi</a:t>
            </a:r>
            <a:r>
              <a:rPr lang="en-US" baseline="-25000" dirty="0">
                <a:latin typeface="Times New Roman"/>
                <a:cs typeface="Times New Roman"/>
              </a:rPr>
              <a:t>2</a:t>
            </a:r>
            <a:r>
              <a:rPr lang="en-US" dirty="0">
                <a:latin typeface="Times New Roman"/>
                <a:cs typeface="Times New Roman"/>
              </a:rPr>
              <a:t>Te</a:t>
            </a:r>
            <a:r>
              <a:rPr lang="en-US" baseline="-25000" dirty="0">
                <a:latin typeface="Times New Roman"/>
                <a:cs typeface="Times New Roman"/>
              </a:rPr>
              <a:t>3</a:t>
            </a:r>
            <a:r>
              <a:rPr lang="en-US" dirty="0">
                <a:latin typeface="Times New Roman"/>
                <a:cs typeface="Times New Roman"/>
              </a:rPr>
              <a:t>:+200 </a:t>
            </a:r>
            <a:r>
              <a:rPr lang="el-GR" dirty="0">
                <a:latin typeface="Times New Roman"/>
                <a:cs typeface="Times New Roman"/>
              </a:rPr>
              <a:t>μ</a:t>
            </a:r>
            <a:r>
              <a:rPr lang="en-US" dirty="0">
                <a:latin typeface="Times New Roman"/>
                <a:cs typeface="Times New Roman"/>
              </a:rPr>
              <a:t>V/K</a:t>
            </a:r>
          </a:p>
        </p:txBody>
      </p:sp>
      <p:sp>
        <p:nvSpPr>
          <p:cNvPr id="2" name="矩形 1"/>
          <p:cNvSpPr/>
          <p:nvPr/>
        </p:nvSpPr>
        <p:spPr>
          <a:xfrm>
            <a:off x="1189121" y="206514"/>
            <a:ext cx="319177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000" dirty="0" err="1">
                <a:solidFill>
                  <a:srgbClr val="FF0000"/>
                </a:solidFill>
              </a:rPr>
              <a:t>Seebeck</a:t>
            </a:r>
            <a:r>
              <a:rPr lang="en-US" altLang="zh-CN" sz="4000" dirty="0">
                <a:solidFill>
                  <a:srgbClr val="FF0000"/>
                </a:solidFill>
              </a:rPr>
              <a:t> Effect</a:t>
            </a:r>
            <a:endParaRPr lang="zh-CN" altLang="en-US" sz="4000" dirty="0">
              <a:solidFill>
                <a:srgbClr val="FF0000"/>
              </a:solidFill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457200" y="1391913"/>
            <a:ext cx="2895600" cy="4381666"/>
          </a:xfrm>
          <a:prstGeom prst="roundRect">
            <a:avLst>
              <a:gd name="adj" fmla="val 6867"/>
            </a:avLst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圆角矩形 24"/>
          <p:cNvSpPr/>
          <p:nvPr/>
        </p:nvSpPr>
        <p:spPr>
          <a:xfrm>
            <a:off x="3670750" y="1382983"/>
            <a:ext cx="5163549" cy="3776531"/>
          </a:xfrm>
          <a:prstGeom prst="roundRect">
            <a:avLst>
              <a:gd name="adj" fmla="val 6867"/>
            </a:avLst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1157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02693" y="160338"/>
            <a:ext cx="319177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000" dirty="0" err="1">
                <a:solidFill>
                  <a:srgbClr val="FF0000"/>
                </a:solidFill>
              </a:rPr>
              <a:t>Seebeck</a:t>
            </a:r>
            <a:r>
              <a:rPr lang="en-US" altLang="zh-CN" sz="4000" dirty="0">
                <a:solidFill>
                  <a:srgbClr val="FF0000"/>
                </a:solidFill>
              </a:rPr>
              <a:t> Effect</a:t>
            </a:r>
            <a:endParaRPr lang="zh-CN" altLang="en-US" sz="4000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78547" y="4898865"/>
            <a:ext cx="496545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0" dirty="0">
                <a:latin typeface="Arial" pitchFamily="34" charset="0"/>
                <a:ea typeface="楷体_GB2312" pitchFamily="49" charset="-122"/>
                <a:cs typeface="Arial" pitchFamily="34" charset="0"/>
              </a:rPr>
              <a:t>T.J. Seebeck, </a:t>
            </a:r>
          </a:p>
          <a:p>
            <a:r>
              <a:rPr lang="en-US" altLang="zh-CN" sz="1100" b="0" dirty="0" err="1">
                <a:latin typeface="Arial" pitchFamily="34" charset="0"/>
                <a:ea typeface="楷体_GB2312" pitchFamily="49" charset="-122"/>
                <a:cs typeface="Arial" pitchFamily="34" charset="0"/>
              </a:rPr>
              <a:t>Magnetische</a:t>
            </a:r>
            <a:r>
              <a:rPr lang="en-US" altLang="zh-CN" sz="1100" b="0" dirty="0">
                <a:latin typeface="Arial" pitchFamily="34" charset="0"/>
                <a:ea typeface="楷体_GB2312" pitchFamily="49" charset="-122"/>
                <a:cs typeface="Arial" pitchFamily="34" charset="0"/>
              </a:rPr>
              <a:t> </a:t>
            </a:r>
            <a:r>
              <a:rPr lang="en-US" altLang="zh-CN" sz="1100" b="0" dirty="0" err="1">
                <a:latin typeface="Arial" pitchFamily="34" charset="0"/>
                <a:ea typeface="楷体_GB2312" pitchFamily="49" charset="-122"/>
                <a:cs typeface="Arial" pitchFamily="34" charset="0"/>
              </a:rPr>
              <a:t>Polarisation</a:t>
            </a:r>
            <a:r>
              <a:rPr lang="en-US" altLang="zh-CN" sz="1100" b="0" dirty="0">
                <a:latin typeface="Arial" pitchFamily="34" charset="0"/>
                <a:ea typeface="楷体_GB2312" pitchFamily="49" charset="-122"/>
                <a:cs typeface="Arial" pitchFamily="34" charset="0"/>
              </a:rPr>
              <a:t> der </a:t>
            </a:r>
            <a:r>
              <a:rPr lang="en-US" altLang="zh-CN" sz="1100" b="0" dirty="0" err="1">
                <a:latin typeface="Arial" pitchFamily="34" charset="0"/>
                <a:ea typeface="楷体_GB2312" pitchFamily="49" charset="-122"/>
                <a:cs typeface="Arial" pitchFamily="34" charset="0"/>
              </a:rPr>
              <a:t>Metalle</a:t>
            </a:r>
            <a:r>
              <a:rPr lang="en-US" altLang="zh-CN" sz="1100" b="0" dirty="0">
                <a:latin typeface="Arial" pitchFamily="34" charset="0"/>
                <a:ea typeface="楷体_GB2312" pitchFamily="49" charset="-122"/>
                <a:cs typeface="Arial" pitchFamily="34" charset="0"/>
              </a:rPr>
              <a:t> und </a:t>
            </a:r>
            <a:r>
              <a:rPr lang="en-US" altLang="zh-CN" sz="1100" b="0" dirty="0" err="1">
                <a:latin typeface="Arial" pitchFamily="34" charset="0"/>
                <a:ea typeface="楷体_GB2312" pitchFamily="49" charset="-122"/>
                <a:cs typeface="Arial" pitchFamily="34" charset="0"/>
              </a:rPr>
              <a:t>Erze</a:t>
            </a:r>
            <a:r>
              <a:rPr lang="en-US" altLang="zh-CN" sz="1100" b="0" dirty="0">
                <a:latin typeface="Arial" pitchFamily="34" charset="0"/>
                <a:ea typeface="楷体_GB2312" pitchFamily="49" charset="-122"/>
                <a:cs typeface="Arial" pitchFamily="34" charset="0"/>
              </a:rPr>
              <a:t> </a:t>
            </a:r>
            <a:r>
              <a:rPr lang="en-US" altLang="zh-CN" sz="1100" b="0" dirty="0" err="1">
                <a:latin typeface="Arial" pitchFamily="34" charset="0"/>
                <a:ea typeface="楷体_GB2312" pitchFamily="49" charset="-122"/>
                <a:cs typeface="Arial" pitchFamily="34" charset="0"/>
              </a:rPr>
              <a:t>durch</a:t>
            </a:r>
            <a:r>
              <a:rPr lang="en-US" altLang="zh-CN" sz="1100" b="0" dirty="0">
                <a:latin typeface="Arial" pitchFamily="34" charset="0"/>
                <a:ea typeface="楷体_GB2312" pitchFamily="49" charset="-122"/>
                <a:cs typeface="Arial" pitchFamily="34" charset="0"/>
              </a:rPr>
              <a:t> </a:t>
            </a:r>
            <a:r>
              <a:rPr lang="en-US" altLang="zh-CN" sz="1100" b="0" dirty="0" err="1">
                <a:latin typeface="Arial" pitchFamily="34" charset="0"/>
                <a:ea typeface="楷体_GB2312" pitchFamily="49" charset="-122"/>
                <a:cs typeface="Arial" pitchFamily="34" charset="0"/>
              </a:rPr>
              <a:t>Temperatur-Differenz</a:t>
            </a:r>
            <a:r>
              <a:rPr lang="en-US" altLang="zh-CN" sz="1100" b="0" dirty="0">
                <a:latin typeface="Arial" pitchFamily="34" charset="0"/>
                <a:ea typeface="楷体_GB2312" pitchFamily="49" charset="-122"/>
                <a:cs typeface="Arial" pitchFamily="34" charset="0"/>
              </a:rPr>
              <a:t>, </a:t>
            </a:r>
          </a:p>
          <a:p>
            <a:r>
              <a:rPr lang="en-US" altLang="zh-CN" sz="1100" b="0" i="1" dirty="0" err="1">
                <a:latin typeface="Arial" pitchFamily="34" charset="0"/>
                <a:ea typeface="楷体_GB2312" pitchFamily="49" charset="-122"/>
                <a:cs typeface="Arial" pitchFamily="34" charset="0"/>
              </a:rPr>
              <a:t>Abh</a:t>
            </a:r>
            <a:r>
              <a:rPr lang="en-US" altLang="zh-CN" sz="1100" b="0" i="1" dirty="0">
                <a:latin typeface="Arial" pitchFamily="34" charset="0"/>
                <a:ea typeface="楷体_GB2312" pitchFamily="49" charset="-122"/>
                <a:cs typeface="Arial" pitchFamily="34" charset="0"/>
              </a:rPr>
              <a:t>. Deut. </a:t>
            </a:r>
            <a:r>
              <a:rPr lang="en-US" altLang="zh-CN" sz="1100" b="0" i="1" dirty="0" err="1">
                <a:latin typeface="Arial" pitchFamily="34" charset="0"/>
                <a:ea typeface="楷体_GB2312" pitchFamily="49" charset="-122"/>
                <a:cs typeface="Arial" pitchFamily="34" charset="0"/>
              </a:rPr>
              <a:t>Akad</a:t>
            </a:r>
            <a:r>
              <a:rPr lang="en-US" altLang="zh-CN" sz="1100" b="0" i="1" dirty="0">
                <a:latin typeface="Arial" pitchFamily="34" charset="0"/>
                <a:ea typeface="楷体_GB2312" pitchFamily="49" charset="-122"/>
                <a:cs typeface="Arial" pitchFamily="34" charset="0"/>
              </a:rPr>
              <a:t>. </a:t>
            </a:r>
            <a:r>
              <a:rPr lang="en-US" altLang="zh-CN" sz="1100" b="0" i="1" dirty="0" err="1">
                <a:latin typeface="Arial" pitchFamily="34" charset="0"/>
                <a:ea typeface="楷体_GB2312" pitchFamily="49" charset="-122"/>
                <a:cs typeface="Arial" pitchFamily="34" charset="0"/>
              </a:rPr>
              <a:t>Wissensch</a:t>
            </a:r>
            <a:r>
              <a:rPr lang="en-US" altLang="zh-CN" sz="1100" b="0" i="1" dirty="0">
                <a:latin typeface="Arial" pitchFamily="34" charset="0"/>
                <a:ea typeface="楷体_GB2312" pitchFamily="49" charset="-122"/>
                <a:cs typeface="Arial" pitchFamily="34" charset="0"/>
              </a:rPr>
              <a:t>. Berlin, Phys., </a:t>
            </a:r>
            <a:r>
              <a:rPr lang="en-US" altLang="zh-CN" sz="1100" dirty="0">
                <a:latin typeface="Arial" pitchFamily="34" charset="0"/>
                <a:ea typeface="楷体_GB2312" pitchFamily="49" charset="-122"/>
                <a:cs typeface="Arial" pitchFamily="34" charset="0"/>
              </a:rPr>
              <a:t>Kl. (J. 1822-1823)</a:t>
            </a:r>
            <a:r>
              <a:rPr lang="en-US" altLang="zh-CN" sz="1100" b="0" dirty="0">
                <a:latin typeface="Arial" pitchFamily="34" charset="0"/>
                <a:ea typeface="楷体_GB2312" pitchFamily="49" charset="-122"/>
                <a:cs typeface="Arial" pitchFamily="34" charset="0"/>
              </a:rPr>
              <a:t>, p.265-373, 1825</a:t>
            </a:r>
            <a:endParaRPr lang="zh-CN" altLang="en-US" sz="1100" b="0" dirty="0">
              <a:latin typeface="Arial" pitchFamily="34" charset="0"/>
              <a:ea typeface="楷体_GB2312" pitchFamily="49" charset="-122"/>
              <a:cs typeface="Arial" pitchFamily="34" charset="0"/>
            </a:endParaRPr>
          </a:p>
        </p:txBody>
      </p:sp>
      <p:pic>
        <p:nvPicPr>
          <p:cNvPr id="10" name="图片 9" descr="Seebeck1825首页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71189" y="1350655"/>
            <a:ext cx="3671565" cy="4781169"/>
          </a:xfrm>
          <a:prstGeom prst="rect">
            <a:avLst/>
          </a:prstGeom>
        </p:spPr>
      </p:pic>
      <p:grpSp>
        <p:nvGrpSpPr>
          <p:cNvPr id="11" name="组合 48"/>
          <p:cNvGrpSpPr/>
          <p:nvPr/>
        </p:nvGrpSpPr>
        <p:grpSpPr>
          <a:xfrm>
            <a:off x="4178547" y="1208865"/>
            <a:ext cx="4051822" cy="3420435"/>
            <a:chOff x="4295267" y="847725"/>
            <a:chExt cx="4051822" cy="3420435"/>
          </a:xfrm>
        </p:grpSpPr>
        <p:pic>
          <p:nvPicPr>
            <p:cNvPr id="12" name="图片 11" descr="seebeck_experiment1.jpg"/>
            <p:cNvPicPr>
              <a:picLocks noChangeAspect="1"/>
            </p:cNvPicPr>
            <p:nvPr/>
          </p:nvPicPr>
          <p:blipFill>
            <a:blip r:embed="rId4" cstate="print">
              <a:lum contrast="10000"/>
            </a:blip>
            <a:stretch>
              <a:fillRect/>
            </a:stretch>
          </p:blipFill>
          <p:spPr>
            <a:xfrm>
              <a:off x="4295267" y="1452143"/>
              <a:ext cx="4051822" cy="2816017"/>
            </a:xfrm>
            <a:prstGeom prst="rect">
              <a:avLst/>
            </a:prstGeom>
          </p:spPr>
        </p:pic>
        <p:sp>
          <p:nvSpPr>
            <p:cNvPr id="13" name="TextBox 12"/>
            <p:cNvSpPr txBox="1"/>
            <p:nvPr/>
          </p:nvSpPr>
          <p:spPr>
            <a:xfrm>
              <a:off x="4940504" y="992664"/>
              <a:ext cx="15055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  <a:latin typeface="Arial" pitchFamily="34" charset="0"/>
                  <a:ea typeface="黑体" pitchFamily="49" charset="-122"/>
                  <a:cs typeface="Arial" pitchFamily="34" charset="0"/>
                </a:rPr>
                <a:t>Current Flow</a:t>
              </a:r>
              <a:endParaRPr lang="zh-CN" altLang="en-US" b="0" dirty="0">
                <a:solidFill>
                  <a:srgbClr val="FF0000"/>
                </a:solidFill>
                <a:latin typeface="Arial" pitchFamily="34" charset="0"/>
                <a:ea typeface="黑体" pitchFamily="49" charset="-122"/>
                <a:cs typeface="Arial" pitchFamily="34" charset="0"/>
              </a:endParaRPr>
            </a:p>
          </p:txBody>
        </p:sp>
        <p:cxnSp>
          <p:nvCxnSpPr>
            <p:cNvPr id="14" name="直接连接符 13"/>
            <p:cNvCxnSpPr>
              <a:stCxn id="15" idx="0"/>
              <a:endCxn id="19" idx="4"/>
            </p:cNvCxnSpPr>
            <p:nvPr/>
          </p:nvCxnSpPr>
          <p:spPr bwMode="auto">
            <a:xfrm flipV="1">
              <a:off x="5006202" y="1962150"/>
              <a:ext cx="170636" cy="462802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000FF"/>
              </a:solidFill>
              <a:prstDash val="solid"/>
              <a:miter lim="800000"/>
              <a:headEnd type="none" w="med" len="med"/>
              <a:tailEnd type="triangle" w="med" len="lg"/>
            </a:ln>
            <a:effectLst/>
          </p:spPr>
        </p:cxnSp>
        <p:sp>
          <p:nvSpPr>
            <p:cNvPr id="15" name="TextBox 14"/>
            <p:cNvSpPr txBox="1"/>
            <p:nvPr/>
          </p:nvSpPr>
          <p:spPr>
            <a:xfrm>
              <a:off x="4513423" y="2424952"/>
              <a:ext cx="985558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0" dirty="0">
                  <a:solidFill>
                    <a:srgbClr val="0000FF"/>
                  </a:solidFill>
                  <a:latin typeface="Arial" pitchFamily="34" charset="0"/>
                  <a:ea typeface="黑体" pitchFamily="49" charset="-122"/>
                  <a:cs typeface="Arial" pitchFamily="34" charset="0"/>
                </a:rPr>
                <a:t>Magnetic needle move</a:t>
              </a:r>
              <a:endParaRPr lang="zh-CN" altLang="en-US" sz="1400" b="0" dirty="0">
                <a:solidFill>
                  <a:srgbClr val="0000FF"/>
                </a:solidFill>
                <a:latin typeface="Arial" pitchFamily="34" charset="0"/>
                <a:ea typeface="黑体" pitchFamily="49" charset="-122"/>
                <a:cs typeface="Arial" pitchFamily="34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648575" y="1304925"/>
              <a:ext cx="45878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0" dirty="0">
                  <a:latin typeface="Arial" pitchFamily="34" charset="0"/>
                  <a:ea typeface="黑体" pitchFamily="49" charset="-122"/>
                  <a:cs typeface="Arial" pitchFamily="34" charset="0"/>
                </a:rPr>
                <a:t>Bi</a:t>
              </a:r>
              <a:endParaRPr lang="zh-CN" altLang="en-US" b="0" dirty="0">
                <a:latin typeface="Arial" pitchFamily="34" charset="0"/>
                <a:ea typeface="黑体" pitchFamily="49" charset="-122"/>
                <a:cs typeface="Arial" pitchFamily="34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667500" y="847725"/>
              <a:ext cx="59503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0" dirty="0">
                  <a:latin typeface="Arial" pitchFamily="34" charset="0"/>
                  <a:ea typeface="黑体" pitchFamily="49" charset="-122"/>
                  <a:cs typeface="Arial" pitchFamily="34" charset="0"/>
                </a:rPr>
                <a:t>Cu</a:t>
              </a:r>
              <a:endParaRPr lang="zh-CN" altLang="en-US" b="0" dirty="0">
                <a:latin typeface="Arial" pitchFamily="34" charset="0"/>
                <a:ea typeface="黑体" pitchFamily="49" charset="-122"/>
                <a:cs typeface="Arial" pitchFamily="34" charset="0"/>
              </a:endParaRPr>
            </a:p>
          </p:txBody>
        </p:sp>
        <p:cxnSp>
          <p:nvCxnSpPr>
            <p:cNvPr id="18" name="直接连接符 17"/>
            <p:cNvCxnSpPr/>
            <p:nvPr/>
          </p:nvCxnSpPr>
          <p:spPr bwMode="auto">
            <a:xfrm flipH="1">
              <a:off x="5353050" y="1520825"/>
              <a:ext cx="533400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triangle" w="med" len="lg"/>
            </a:ln>
            <a:effectLst/>
          </p:spPr>
        </p:cxnSp>
        <p:sp>
          <p:nvSpPr>
            <p:cNvPr id="19" name="椭圆 18"/>
            <p:cNvSpPr/>
            <p:nvPr/>
          </p:nvSpPr>
          <p:spPr bwMode="auto">
            <a:xfrm>
              <a:off x="5105400" y="1819275"/>
              <a:ext cx="142875" cy="142875"/>
            </a:xfrm>
            <a:prstGeom prst="ellipse">
              <a:avLst/>
            </a:prstGeom>
            <a:noFill/>
            <a:ln w="1905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ea typeface="黑体" pitchFamily="49" charset="-122"/>
                <a:cs typeface="Arial" pitchFamily="34" charset="0"/>
              </a:endParaRPr>
            </a:p>
          </p:txBody>
        </p:sp>
        <p:sp>
          <p:nvSpPr>
            <p:cNvPr id="20" name="椭圆 19"/>
            <p:cNvSpPr/>
            <p:nvPr/>
          </p:nvSpPr>
          <p:spPr bwMode="auto">
            <a:xfrm>
              <a:off x="6743700" y="1724025"/>
              <a:ext cx="142875" cy="142875"/>
            </a:xfrm>
            <a:prstGeom prst="ellipse">
              <a:avLst/>
            </a:prstGeom>
            <a:noFill/>
            <a:ln w="1905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ea typeface="黑体" pitchFamily="49" charset="-122"/>
                <a:cs typeface="Arial" pitchFamily="34" charset="0"/>
              </a:endParaRPr>
            </a:p>
          </p:txBody>
        </p:sp>
        <p:sp>
          <p:nvSpPr>
            <p:cNvPr id="21" name="椭圆 20"/>
            <p:cNvSpPr/>
            <p:nvPr/>
          </p:nvSpPr>
          <p:spPr bwMode="auto">
            <a:xfrm>
              <a:off x="6153150" y="1533525"/>
              <a:ext cx="142875" cy="142875"/>
            </a:xfrm>
            <a:prstGeom prst="ellipse">
              <a:avLst/>
            </a:prstGeom>
            <a:noFill/>
            <a:ln w="1905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itchFamily="34" charset="0"/>
                <a:ea typeface="黑体" pitchFamily="49" charset="-122"/>
                <a:cs typeface="Arial" pitchFamily="34" charset="0"/>
              </a:endParaRPr>
            </a:p>
          </p:txBody>
        </p:sp>
        <p:cxnSp>
          <p:nvCxnSpPr>
            <p:cNvPr id="22" name="直接连接符 21"/>
            <p:cNvCxnSpPr>
              <a:stCxn id="17" idx="1"/>
              <a:endCxn id="21" idx="0"/>
            </p:cNvCxnSpPr>
            <p:nvPr/>
          </p:nvCxnSpPr>
          <p:spPr bwMode="auto">
            <a:xfrm flipH="1">
              <a:off x="6224588" y="1078558"/>
              <a:ext cx="442912" cy="454967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000FF"/>
              </a:solidFill>
              <a:prstDash val="solid"/>
              <a:miter lim="800000"/>
              <a:headEnd type="none" w="med" len="med"/>
              <a:tailEnd type="triangle" w="med" len="lg"/>
            </a:ln>
            <a:effectLst/>
          </p:spPr>
        </p:cxnSp>
        <p:cxnSp>
          <p:nvCxnSpPr>
            <p:cNvPr id="23" name="直接连接符 22"/>
            <p:cNvCxnSpPr>
              <a:stCxn id="16" idx="1"/>
              <a:endCxn id="20" idx="7"/>
            </p:cNvCxnSpPr>
            <p:nvPr/>
          </p:nvCxnSpPr>
          <p:spPr bwMode="auto">
            <a:xfrm flipH="1">
              <a:off x="6865651" y="1535758"/>
              <a:ext cx="782924" cy="209191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000FF"/>
              </a:solidFill>
              <a:prstDash val="solid"/>
              <a:miter lim="800000"/>
              <a:headEnd type="none" w="med" len="med"/>
              <a:tailEnd type="triangle" w="med" len="lg"/>
            </a:ln>
            <a:effectLst/>
          </p:spPr>
        </p:cxnSp>
      </p:grpSp>
      <p:sp>
        <p:nvSpPr>
          <p:cNvPr id="2" name="AutoShape 4" descr="http://onlinelibrary.wiley.com/store/10.1002/andp.18260820302/asset/18260820302_ftp_p1.png?v=1&amp;s=82b4d4d65ca8bb897e069f7c2d8787f09bc02fe9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4" name="TextBox 33"/>
          <p:cNvSpPr txBox="1"/>
          <p:nvPr/>
        </p:nvSpPr>
        <p:spPr>
          <a:xfrm>
            <a:off x="6590917" y="3741239"/>
            <a:ext cx="2013693" cy="58477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Symbol" pitchFamily="18" charset="2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3200" i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V</a:t>
            </a:r>
            <a:r>
              <a:rPr lang="en-US" altLang="zh-CN" sz="3200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3200" i="1" dirty="0">
                <a:solidFill>
                  <a:srgbClr val="FF0000"/>
                </a:solidFill>
                <a:latin typeface="Symbol" pitchFamily="18" charset="2"/>
                <a:ea typeface="楷体_GB2312" pitchFamily="49" charset="-122"/>
                <a:cs typeface="Times New Roman" pitchFamily="18" charset="0"/>
              </a:rPr>
              <a:t>a </a:t>
            </a:r>
            <a:r>
              <a:rPr lang="en-US" altLang="zh-CN" sz="3200" dirty="0">
                <a:solidFill>
                  <a:srgbClr val="FF0000"/>
                </a:solidFill>
                <a:latin typeface="Symbol" pitchFamily="18" charset="2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3200" i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T</a:t>
            </a:r>
            <a:endParaRPr lang="zh-CN" altLang="en-US" sz="3200" i="1" dirty="0">
              <a:solidFill>
                <a:srgbClr val="FF0000"/>
              </a:solidFill>
              <a:ea typeface="楷体_GB2312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00724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215654" y="292387"/>
            <a:ext cx="24550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>
                <a:solidFill>
                  <a:srgbClr val="FF0000"/>
                </a:solidFill>
              </a:rPr>
              <a:t>Peltier</a:t>
            </a:r>
            <a:r>
              <a:rPr lang="en-US" sz="3200" dirty="0">
                <a:solidFill>
                  <a:srgbClr val="FF0000"/>
                </a:solidFill>
              </a:rPr>
              <a:t> effect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343" b="29566"/>
          <a:stretch/>
        </p:blipFill>
        <p:spPr bwMode="auto">
          <a:xfrm>
            <a:off x="771157" y="1503402"/>
            <a:ext cx="2241456" cy="289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/>
          <p:cNvSpPr/>
          <p:nvPr/>
        </p:nvSpPr>
        <p:spPr>
          <a:xfrm>
            <a:off x="990411" y="4483195"/>
            <a:ext cx="176477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/>
              <a:t>Jean </a:t>
            </a:r>
            <a:r>
              <a:rPr lang="en-US" b="1" dirty="0" err="1"/>
              <a:t>C.A.Peltier</a:t>
            </a:r>
            <a:endParaRPr lang="en-US" dirty="0"/>
          </a:p>
          <a:p>
            <a:pPr algn="ctr"/>
            <a:r>
              <a:rPr lang="en-US" dirty="0"/>
              <a:t>French physicist </a:t>
            </a:r>
          </a:p>
          <a:p>
            <a:pPr algn="ctr"/>
            <a:r>
              <a:rPr lang="en-US" dirty="0"/>
              <a:t>and watchmaker</a:t>
            </a:r>
          </a:p>
          <a:p>
            <a:pPr algn="ctr"/>
            <a:r>
              <a:rPr lang="en-US" dirty="0"/>
              <a:t>(1775-1845)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66626" y="5303236"/>
            <a:ext cx="516354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Cooling was produced </a:t>
            </a:r>
          </a:p>
          <a:p>
            <a:pPr algn="ctr"/>
            <a:r>
              <a:rPr lang="en-US" sz="2000" dirty="0"/>
              <a:t>at the junction of two dissimilar metals  as a current pass it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3505200" y="2113002"/>
            <a:ext cx="3575650" cy="3011270"/>
            <a:chOff x="3505200" y="2133600"/>
            <a:chExt cx="3575650" cy="3011270"/>
          </a:xfrm>
        </p:grpSpPr>
        <p:pic>
          <p:nvPicPr>
            <p:cNvPr id="8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611" t="10102" b="23681"/>
            <a:stretch/>
          </p:blipFill>
          <p:spPr bwMode="auto">
            <a:xfrm>
              <a:off x="3505200" y="2584012"/>
              <a:ext cx="3575650" cy="25608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0" name="TextBox 9"/>
            <p:cNvSpPr txBox="1"/>
            <p:nvPr/>
          </p:nvSpPr>
          <p:spPr>
            <a:xfrm>
              <a:off x="5105400" y="2133600"/>
              <a:ext cx="9412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Cooling </a:t>
              </a:r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 flipH="1">
              <a:off x="5257800" y="4191000"/>
              <a:ext cx="563111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5410200" y="3810000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825539" y="3810000"/>
              <a:ext cx="8226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N-type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248400" y="3810000"/>
              <a:ext cx="7922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P-type</a:t>
              </a:r>
            </a:p>
          </p:txBody>
        </p:sp>
      </p:grpSp>
      <p:graphicFrame>
        <p:nvGraphicFramePr>
          <p:cNvPr id="19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178099"/>
              </p:ext>
            </p:extLst>
          </p:nvPr>
        </p:nvGraphicFramePr>
        <p:xfrm>
          <a:off x="6427047" y="2417802"/>
          <a:ext cx="2212975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28520" imgH="253800" progId="Equation.DSMT4">
                  <p:embed/>
                </p:oleObj>
              </mc:Choice>
              <mc:Fallback>
                <p:oleObj name="Equation" r:id="rId3" imgW="1028520" imgH="253800" progId="Equation.DSMT4">
                  <p:embed/>
                  <p:pic>
                    <p:nvPicPr>
                      <p:cNvPr id="19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7047" y="2417802"/>
                        <a:ext cx="2212975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578659" y="3005327"/>
            <a:ext cx="2108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dirty="0"/>
              <a:t>, </a:t>
            </a:r>
            <a:r>
              <a:rPr lang="en-US" dirty="0" err="1"/>
              <a:t>Peltier</a:t>
            </a:r>
            <a:r>
              <a:rPr lang="en-US" dirty="0"/>
              <a:t> coefficient</a:t>
            </a:r>
          </a:p>
        </p:txBody>
      </p:sp>
      <p:sp>
        <p:nvSpPr>
          <p:cNvPr id="24" name="圆角矩形 23"/>
          <p:cNvSpPr/>
          <p:nvPr/>
        </p:nvSpPr>
        <p:spPr>
          <a:xfrm>
            <a:off x="457200" y="1388936"/>
            <a:ext cx="2895600" cy="4381666"/>
          </a:xfrm>
          <a:prstGeom prst="roundRect">
            <a:avLst>
              <a:gd name="adj" fmla="val 6867"/>
            </a:avLst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4676887" y="1503402"/>
            <a:ext cx="29431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Peltier</a:t>
            </a:r>
            <a:r>
              <a:rPr lang="en-US" sz="2800" dirty="0"/>
              <a:t> effect, 1834</a:t>
            </a:r>
          </a:p>
        </p:txBody>
      </p:sp>
      <p:sp>
        <p:nvSpPr>
          <p:cNvPr id="26" name="圆角矩形 25"/>
          <p:cNvSpPr/>
          <p:nvPr/>
        </p:nvSpPr>
        <p:spPr>
          <a:xfrm>
            <a:off x="3670750" y="1380006"/>
            <a:ext cx="5163549" cy="3776531"/>
          </a:xfrm>
          <a:prstGeom prst="roundRect">
            <a:avLst>
              <a:gd name="adj" fmla="val 6867"/>
            </a:avLst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50197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AnnChimPhys1834封面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61433" y="1173036"/>
            <a:ext cx="2521432" cy="4076962"/>
          </a:xfrm>
          <a:prstGeom prst="rect">
            <a:avLst/>
          </a:prstGeom>
          <a:ln w="38100" cmpd="thickThin">
            <a:solidFill>
              <a:srgbClr val="996633"/>
            </a:solidFill>
          </a:ln>
        </p:spPr>
      </p:pic>
      <p:pic>
        <p:nvPicPr>
          <p:cNvPr id="5" name="图片 4" descr="AnnChimPhys1834-Peltier-371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098721" y="1416317"/>
            <a:ext cx="2521432" cy="4076962"/>
          </a:xfrm>
          <a:prstGeom prst="rect">
            <a:avLst/>
          </a:prstGeom>
          <a:ln w="38100" cmpd="thickThin">
            <a:solidFill>
              <a:srgbClr val="996633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1428545" y="5935297"/>
            <a:ext cx="66792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0" dirty="0">
                <a:solidFill>
                  <a:srgbClr val="996600"/>
                </a:solidFill>
                <a:latin typeface="Arial" pitchFamily="34" charset="0"/>
                <a:ea typeface="楷体_GB2312" pitchFamily="49" charset="-122"/>
                <a:cs typeface="Arial" pitchFamily="34" charset="0"/>
              </a:rPr>
              <a:t>J.C.A. Peltier, </a:t>
            </a:r>
            <a:r>
              <a:rPr lang="en-US" altLang="zh-CN" sz="1400" b="0" dirty="0" err="1">
                <a:solidFill>
                  <a:srgbClr val="996600"/>
                </a:solidFill>
                <a:latin typeface="Arial" pitchFamily="34" charset="0"/>
                <a:ea typeface="楷体_GB2312" pitchFamily="49" charset="-122"/>
                <a:cs typeface="Arial" pitchFamily="34" charset="0"/>
              </a:rPr>
              <a:t>Nouvelles</a:t>
            </a:r>
            <a:r>
              <a:rPr lang="en-US" altLang="zh-CN" sz="1400" b="0" dirty="0">
                <a:solidFill>
                  <a:srgbClr val="996600"/>
                </a:solidFill>
                <a:latin typeface="Arial" pitchFamily="34" charset="0"/>
                <a:ea typeface="楷体_GB2312" pitchFamily="49" charset="-122"/>
                <a:cs typeface="Arial" pitchFamily="34" charset="0"/>
              </a:rPr>
              <a:t> </a:t>
            </a:r>
            <a:r>
              <a:rPr lang="en-US" altLang="zh-CN" sz="1400" b="0" dirty="0" err="1">
                <a:solidFill>
                  <a:srgbClr val="996600"/>
                </a:solidFill>
                <a:latin typeface="Arial" pitchFamily="34" charset="0"/>
                <a:ea typeface="楷体_GB2312" pitchFamily="49" charset="-122"/>
                <a:cs typeface="Arial" pitchFamily="34" charset="0"/>
              </a:rPr>
              <a:t>Expériemences</a:t>
            </a:r>
            <a:r>
              <a:rPr lang="en-US" altLang="zh-CN" sz="1400" b="0" dirty="0">
                <a:solidFill>
                  <a:srgbClr val="996600"/>
                </a:solidFill>
                <a:latin typeface="Arial" pitchFamily="34" charset="0"/>
                <a:ea typeface="楷体_GB2312" pitchFamily="49" charset="-122"/>
                <a:cs typeface="Arial" pitchFamily="34" charset="0"/>
              </a:rPr>
              <a:t> </a:t>
            </a:r>
            <a:r>
              <a:rPr lang="en-US" altLang="zh-CN" sz="1400" b="0" dirty="0" err="1">
                <a:solidFill>
                  <a:srgbClr val="996600"/>
                </a:solidFill>
                <a:latin typeface="Arial" pitchFamily="34" charset="0"/>
                <a:ea typeface="楷体_GB2312" pitchFamily="49" charset="-122"/>
                <a:cs typeface="Arial" pitchFamily="34" charset="0"/>
              </a:rPr>
              <a:t>sur</a:t>
            </a:r>
            <a:r>
              <a:rPr lang="en-US" altLang="zh-CN" sz="1400" b="0" dirty="0">
                <a:solidFill>
                  <a:srgbClr val="996600"/>
                </a:solidFill>
                <a:latin typeface="Arial" pitchFamily="34" charset="0"/>
                <a:ea typeface="楷体_GB2312" pitchFamily="49" charset="-122"/>
                <a:cs typeface="Arial" pitchFamily="34" charset="0"/>
              </a:rPr>
              <a:t> la </a:t>
            </a:r>
            <a:r>
              <a:rPr lang="en-US" altLang="zh-CN" sz="1400" b="0" dirty="0" err="1">
                <a:solidFill>
                  <a:srgbClr val="996600"/>
                </a:solidFill>
                <a:latin typeface="Arial" pitchFamily="34" charset="0"/>
                <a:ea typeface="楷体_GB2312" pitchFamily="49" charset="-122"/>
                <a:cs typeface="Arial" pitchFamily="34" charset="0"/>
              </a:rPr>
              <a:t>Caloricite</a:t>
            </a:r>
            <a:r>
              <a:rPr lang="en-US" altLang="zh-CN" sz="1400" b="0" dirty="0">
                <a:solidFill>
                  <a:srgbClr val="996600"/>
                </a:solidFill>
                <a:latin typeface="Arial" pitchFamily="34" charset="0"/>
                <a:ea typeface="楷体_GB2312" pitchFamily="49" charset="-122"/>
                <a:cs typeface="Arial" pitchFamily="34" charset="0"/>
              </a:rPr>
              <a:t> des </a:t>
            </a:r>
            <a:r>
              <a:rPr lang="en-US" altLang="zh-CN" sz="1400" b="0" dirty="0" err="1">
                <a:solidFill>
                  <a:srgbClr val="996600"/>
                </a:solidFill>
                <a:latin typeface="Arial" pitchFamily="34" charset="0"/>
                <a:ea typeface="楷体_GB2312" pitchFamily="49" charset="-122"/>
                <a:cs typeface="Arial" pitchFamily="34" charset="0"/>
              </a:rPr>
              <a:t>courants</a:t>
            </a:r>
            <a:r>
              <a:rPr lang="en-US" altLang="zh-CN" sz="1400" b="0" dirty="0">
                <a:solidFill>
                  <a:srgbClr val="996600"/>
                </a:solidFill>
                <a:latin typeface="Arial" pitchFamily="34" charset="0"/>
                <a:ea typeface="楷体_GB2312" pitchFamily="49" charset="-122"/>
                <a:cs typeface="Arial" pitchFamily="34" charset="0"/>
              </a:rPr>
              <a:t> </a:t>
            </a:r>
            <a:r>
              <a:rPr lang="en-US" altLang="zh-CN" sz="1400" b="0" dirty="0" err="1">
                <a:solidFill>
                  <a:srgbClr val="996600"/>
                </a:solidFill>
                <a:latin typeface="Arial" pitchFamily="34" charset="0"/>
                <a:ea typeface="楷体_GB2312" pitchFamily="49" charset="-122"/>
                <a:cs typeface="Arial" pitchFamily="34" charset="0"/>
              </a:rPr>
              <a:t>électriques</a:t>
            </a:r>
            <a:r>
              <a:rPr lang="en-US" altLang="zh-CN" sz="1400" b="0" dirty="0">
                <a:solidFill>
                  <a:srgbClr val="996600"/>
                </a:solidFill>
                <a:latin typeface="Arial" pitchFamily="34" charset="0"/>
                <a:ea typeface="楷体_GB2312" pitchFamily="49" charset="-122"/>
                <a:cs typeface="Arial" pitchFamily="34" charset="0"/>
              </a:rPr>
              <a:t>, </a:t>
            </a:r>
            <a:r>
              <a:rPr lang="fr-FR" altLang="zh-CN" sz="1400" b="0" i="1" dirty="0">
                <a:solidFill>
                  <a:srgbClr val="996600"/>
                </a:solidFill>
                <a:latin typeface="Arial" pitchFamily="34" charset="0"/>
                <a:ea typeface="楷体_GB2312" pitchFamily="49" charset="-122"/>
                <a:cs typeface="Arial" pitchFamily="34" charset="0"/>
              </a:rPr>
              <a:t>Annales de Chimie et de Physique</a:t>
            </a:r>
            <a:r>
              <a:rPr lang="en-US" altLang="zh-CN" sz="1400" b="0" dirty="0">
                <a:solidFill>
                  <a:srgbClr val="996600"/>
                </a:solidFill>
                <a:latin typeface="Arial" pitchFamily="34" charset="0"/>
                <a:ea typeface="楷体_GB2312" pitchFamily="49" charset="-122"/>
                <a:cs typeface="Arial" pitchFamily="34" charset="0"/>
              </a:rPr>
              <a:t>, </a:t>
            </a:r>
            <a:r>
              <a:rPr lang="en-US" altLang="zh-CN" sz="1400" dirty="0">
                <a:solidFill>
                  <a:srgbClr val="996600"/>
                </a:solidFill>
                <a:latin typeface="Arial" pitchFamily="34" charset="0"/>
                <a:ea typeface="楷体_GB2312" pitchFamily="49" charset="-122"/>
                <a:cs typeface="Arial" pitchFamily="34" charset="0"/>
              </a:rPr>
              <a:t>56</a:t>
            </a:r>
            <a:r>
              <a:rPr lang="en-US" altLang="zh-CN" sz="1400" b="0" dirty="0">
                <a:solidFill>
                  <a:srgbClr val="996600"/>
                </a:solidFill>
                <a:latin typeface="Arial" pitchFamily="34" charset="0"/>
                <a:ea typeface="楷体_GB2312" pitchFamily="49" charset="-122"/>
                <a:cs typeface="Arial" pitchFamily="34" charset="0"/>
              </a:rPr>
              <a:t>, p.371-386, 1834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9866" y="151002"/>
            <a:ext cx="24550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>
                <a:solidFill>
                  <a:srgbClr val="FF0000"/>
                </a:solidFill>
              </a:rPr>
              <a:t>Peltier</a:t>
            </a:r>
            <a:r>
              <a:rPr lang="en-US" sz="3200" dirty="0">
                <a:solidFill>
                  <a:srgbClr val="FF0000"/>
                </a:solidFill>
              </a:rPr>
              <a:t> effect</a:t>
            </a:r>
          </a:p>
        </p:txBody>
      </p:sp>
    </p:spTree>
    <p:extLst>
      <p:ext uri="{BB962C8B-B14F-4D97-AF65-F5344CB8AC3E}">
        <p14:creationId xmlns:p14="http://schemas.microsoft.com/office/powerpoint/2010/main" val="18058306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37139" y="1229380"/>
            <a:ext cx="33590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Thomson effect, 1855</a:t>
            </a:r>
          </a:p>
        </p:txBody>
      </p:sp>
      <p:sp>
        <p:nvSpPr>
          <p:cNvPr id="3" name="Rectangle 7"/>
          <p:cNvSpPr/>
          <p:nvPr/>
        </p:nvSpPr>
        <p:spPr>
          <a:xfrm>
            <a:off x="571043" y="4076866"/>
            <a:ext cx="1822935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William Thomson</a:t>
            </a:r>
          </a:p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Baron Kelvin </a:t>
            </a:r>
          </a:p>
          <a:p>
            <a:pPr algn="ctr"/>
            <a:r>
              <a:rPr lang="en-US" dirty="0"/>
              <a:t> British physicist</a:t>
            </a:r>
          </a:p>
          <a:p>
            <a:pPr algn="ctr"/>
            <a:r>
              <a:rPr lang="en-US" dirty="0"/>
              <a:t>(1824-1907)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3322427" y="1905000"/>
            <a:ext cx="3154573" cy="1957864"/>
            <a:chOff x="3142346" y="1905000"/>
            <a:chExt cx="3154573" cy="1957864"/>
          </a:xfrm>
        </p:grpSpPr>
        <p:sp>
          <p:nvSpPr>
            <p:cNvPr id="5" name="Rounded Rectangle 8"/>
            <p:cNvSpPr/>
            <p:nvPr/>
          </p:nvSpPr>
          <p:spPr>
            <a:xfrm>
              <a:off x="3751946" y="2655332"/>
              <a:ext cx="1981200" cy="4191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Arrow Connector 10"/>
            <p:cNvCxnSpPr/>
            <p:nvPr/>
          </p:nvCxnSpPr>
          <p:spPr>
            <a:xfrm>
              <a:off x="3828146" y="3341132"/>
              <a:ext cx="1752600" cy="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4209146" y="3493532"/>
              <a:ext cx="10676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Current, I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142346" y="2667000"/>
              <a:ext cx="5385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T</a:t>
              </a:r>
              <a:r>
                <a:rPr lang="en-US" baseline="-25000" dirty="0" err="1"/>
                <a:t>cold</a:t>
              </a:r>
              <a:endParaRPr lang="en-US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786843" y="2667000"/>
              <a:ext cx="5100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T</a:t>
              </a:r>
              <a:r>
                <a:rPr lang="en-US" baseline="-25000" dirty="0" err="1"/>
                <a:t>hot</a:t>
              </a:r>
              <a:endParaRPr lang="en-US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447146" y="1905000"/>
              <a:ext cx="27075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Heat release/absorption, </a:t>
              </a:r>
              <a:r>
                <a:rPr lang="en-US" i="1" dirty="0"/>
                <a:t>q</a:t>
              </a:r>
            </a:p>
          </p:txBody>
        </p:sp>
        <p:cxnSp>
          <p:nvCxnSpPr>
            <p:cNvPr id="11" name="Straight Arrow Connector 16"/>
            <p:cNvCxnSpPr/>
            <p:nvPr/>
          </p:nvCxnSpPr>
          <p:spPr>
            <a:xfrm>
              <a:off x="4437746" y="2274332"/>
              <a:ext cx="0" cy="38100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2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089304"/>
              </p:ext>
            </p:extLst>
          </p:nvPr>
        </p:nvGraphicFramePr>
        <p:xfrm>
          <a:off x="7083425" y="1981498"/>
          <a:ext cx="1536700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36560" imgH="203040" progId="Equation.DSMT4">
                  <p:embed/>
                </p:oleObj>
              </mc:Choice>
              <mc:Fallback>
                <p:oleObj name="Equation" r:id="rId2" imgW="736560" imgH="203040" progId="Equation.DSMT4">
                  <p:embed/>
                  <p:pic>
                    <p:nvPicPr>
                      <p:cNvPr id="12" name="Object 19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083425" y="1981498"/>
                        <a:ext cx="1536700" cy="4238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629400" y="2357735"/>
            <a:ext cx="23756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400" b="1" dirty="0">
                <a:solidFill>
                  <a:srgbClr val="FF0000"/>
                </a:solidFill>
              </a:rPr>
              <a:t>β</a:t>
            </a:r>
            <a:r>
              <a:rPr lang="en-US" dirty="0"/>
              <a:t>, Thomson coefficient</a:t>
            </a:r>
          </a:p>
        </p:txBody>
      </p:sp>
      <p:sp>
        <p:nvSpPr>
          <p:cNvPr id="14" name="Rectangle 20"/>
          <p:cNvSpPr/>
          <p:nvPr/>
        </p:nvSpPr>
        <p:spPr>
          <a:xfrm>
            <a:off x="3314800" y="3862864"/>
            <a:ext cx="5372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Evaluation of heat when electric current passes through a single material that has a temperature difference along its length</a:t>
            </a:r>
          </a:p>
        </p:txBody>
      </p:sp>
      <p:graphicFrame>
        <p:nvGraphicFramePr>
          <p:cNvPr id="15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2003529"/>
              </p:ext>
            </p:extLst>
          </p:nvPr>
        </p:nvGraphicFramePr>
        <p:xfrm>
          <a:off x="7391400" y="5227148"/>
          <a:ext cx="1060450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07960" imgH="177480" progId="Equation.DSMT4">
                  <p:embed/>
                </p:oleObj>
              </mc:Choice>
              <mc:Fallback>
                <p:oleObj name="Equation" r:id="rId4" imgW="507960" imgH="177480" progId="Equation.DSMT4">
                  <p:embed/>
                  <p:pic>
                    <p:nvPicPr>
                      <p:cNvPr id="15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5227148"/>
                        <a:ext cx="1060450" cy="369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5523860"/>
              </p:ext>
            </p:extLst>
          </p:nvPr>
        </p:nvGraphicFramePr>
        <p:xfrm>
          <a:off x="5913227" y="5012203"/>
          <a:ext cx="1298575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22080" imgH="393480" progId="Equation.DSMT4">
                  <p:embed/>
                </p:oleObj>
              </mc:Choice>
              <mc:Fallback>
                <p:oleObj name="Equation" r:id="rId6" imgW="622080" imgH="393480" progId="Equation.DSMT4">
                  <p:embed/>
                  <p:pic>
                    <p:nvPicPr>
                      <p:cNvPr id="16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3227" y="5012203"/>
                        <a:ext cx="1298575" cy="81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398448" y="5117231"/>
            <a:ext cx="236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Kelvin Relation</a:t>
            </a:r>
          </a:p>
        </p:txBody>
      </p:sp>
      <p:pic>
        <p:nvPicPr>
          <p:cNvPr id="18" name="Picture 16" descr="Thomson, William, Baron Kelvin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174" y="1255878"/>
            <a:ext cx="2139404" cy="2831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26"/>
          <p:cNvSpPr/>
          <p:nvPr/>
        </p:nvSpPr>
        <p:spPr>
          <a:xfrm>
            <a:off x="192061" y="5906869"/>
            <a:ext cx="824955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* He is widely known for determining the correct value of absolute zero as approximately -273.15 Celsius.</a:t>
            </a:r>
          </a:p>
        </p:txBody>
      </p:sp>
      <p:sp>
        <p:nvSpPr>
          <p:cNvPr id="20" name="圆角矩形 19"/>
          <p:cNvSpPr/>
          <p:nvPr/>
        </p:nvSpPr>
        <p:spPr>
          <a:xfrm>
            <a:off x="152400" y="1066800"/>
            <a:ext cx="2895600" cy="4381666"/>
          </a:xfrm>
          <a:prstGeom prst="roundRect">
            <a:avLst>
              <a:gd name="adj" fmla="val 6867"/>
            </a:avLst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279755" y="5498068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英国皇家“开尔文公爵”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2507" y="48087"/>
            <a:ext cx="27829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Thomson effect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3276600" y="1066800"/>
            <a:ext cx="5686097" cy="3776531"/>
          </a:xfrm>
          <a:prstGeom prst="roundRect">
            <a:avLst>
              <a:gd name="adj" fmla="val 6867"/>
            </a:avLst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09384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24000"/>
            <a:ext cx="2713182" cy="358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252057" y="76200"/>
            <a:ext cx="484940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TD of thermoelectric </a:t>
            </a:r>
          </a:p>
          <a:p>
            <a:r>
              <a:rPr lang="en-US" altLang="zh-CN" sz="3200" dirty="0">
                <a:solidFill>
                  <a:srgbClr val="FF0000"/>
                </a:solidFill>
              </a:rPr>
              <a:t>generator and refrigerator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54944" y="1992868"/>
            <a:ext cx="393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</a:t>
            </a:r>
            <a:r>
              <a:rPr lang="en-US" altLang="zh-CN" baseline="-25000" dirty="0"/>
              <a:t>H</a:t>
            </a:r>
            <a:endParaRPr lang="zh-CN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2458416" y="4583668"/>
            <a:ext cx="360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</a:t>
            </a:r>
            <a:r>
              <a:rPr lang="en-US" altLang="zh-CN" baseline="-25000" dirty="0"/>
              <a:t>L</a:t>
            </a:r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566972" y="5024735"/>
            <a:ext cx="261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itchFamily="34" charset="0"/>
                <a:cs typeface="Arial" pitchFamily="34" charset="0"/>
              </a:rPr>
              <a:t>Efficiency of TEG</a:t>
            </a:r>
            <a:endParaRPr lang="zh-CN" altLang="en-US" sz="2400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2399269"/>
              </p:ext>
            </p:extLst>
          </p:nvPr>
        </p:nvGraphicFramePr>
        <p:xfrm>
          <a:off x="1303338" y="5668963"/>
          <a:ext cx="1020762" cy="96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07960" imgH="431640" progId="Equation.DSMT4">
                  <p:embed/>
                </p:oleObj>
              </mc:Choice>
              <mc:Fallback>
                <p:oleObj name="Equation" r:id="rId3" imgW="507960" imgH="431640" progId="Equation.DSMT4">
                  <p:embed/>
                  <p:pic>
                    <p:nvPicPr>
                      <p:cNvPr id="1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3338" y="5668963"/>
                        <a:ext cx="1020762" cy="960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154"/>
          <a:stretch/>
        </p:blipFill>
        <p:spPr bwMode="auto">
          <a:xfrm>
            <a:off x="4649362" y="1371600"/>
            <a:ext cx="3150778" cy="31313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5237900" y="5029200"/>
            <a:ext cx="261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itchFamily="34" charset="0"/>
                <a:cs typeface="Arial" pitchFamily="34" charset="0"/>
              </a:rPr>
              <a:t>COP of TEC</a:t>
            </a:r>
            <a:endParaRPr lang="zh-CN" altLang="en-US" sz="2400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5650681"/>
              </p:ext>
            </p:extLst>
          </p:nvPr>
        </p:nvGraphicFramePr>
        <p:xfrm>
          <a:off x="5799138" y="5681663"/>
          <a:ext cx="969962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82400" imgH="393480" progId="Equation.DSMT4">
                  <p:embed/>
                </p:oleObj>
              </mc:Choice>
              <mc:Fallback>
                <p:oleObj name="Equation" r:id="rId6" imgW="482400" imgH="393480" progId="Equation.DSMT4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9138" y="5681663"/>
                        <a:ext cx="969962" cy="874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/>
          <p:cNvGrpSpPr/>
          <p:nvPr/>
        </p:nvGrpSpPr>
        <p:grpSpPr>
          <a:xfrm>
            <a:off x="4813540" y="3726612"/>
            <a:ext cx="2820836" cy="1121433"/>
            <a:chOff x="4813540" y="3726612"/>
            <a:chExt cx="2820836" cy="1121433"/>
          </a:xfrm>
        </p:grpSpPr>
        <p:sp>
          <p:nvSpPr>
            <p:cNvPr id="2" name="任意多边形 1"/>
            <p:cNvSpPr/>
            <p:nvPr/>
          </p:nvSpPr>
          <p:spPr>
            <a:xfrm>
              <a:off x="4813540" y="4477109"/>
              <a:ext cx="1017917" cy="215661"/>
            </a:xfrm>
            <a:custGeom>
              <a:avLst/>
              <a:gdLst>
                <a:gd name="connsiteX0" fmla="*/ 0 w 1009291"/>
                <a:gd name="connsiteY0" fmla="*/ 0 h 215661"/>
                <a:gd name="connsiteX1" fmla="*/ 0 w 1009291"/>
                <a:gd name="connsiteY1" fmla="*/ 0 h 215661"/>
                <a:gd name="connsiteX2" fmla="*/ 0 w 1009291"/>
                <a:gd name="connsiteY2" fmla="*/ 215661 h 215661"/>
                <a:gd name="connsiteX3" fmla="*/ 1009291 w 1009291"/>
                <a:gd name="connsiteY3" fmla="*/ 215661 h 215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9291" h="215661">
                  <a:moveTo>
                    <a:pt x="0" y="0"/>
                  </a:moveTo>
                  <a:lnTo>
                    <a:pt x="0" y="0"/>
                  </a:lnTo>
                  <a:lnTo>
                    <a:pt x="0" y="215661"/>
                  </a:lnTo>
                  <a:lnTo>
                    <a:pt x="1009291" y="215661"/>
                  </a:lnTo>
                </a:path>
              </a:pathLst>
            </a:cu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5831457" y="4583668"/>
              <a:ext cx="0" cy="26437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5929226" y="4635108"/>
              <a:ext cx="0" cy="16149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6012318" y="4577999"/>
              <a:ext cx="0" cy="26437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6110087" y="4629439"/>
              <a:ext cx="0" cy="16149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任意多边形 21"/>
            <p:cNvSpPr/>
            <p:nvPr/>
          </p:nvSpPr>
          <p:spPr>
            <a:xfrm flipH="1">
              <a:off x="6119117" y="4488693"/>
              <a:ext cx="1515259" cy="215661"/>
            </a:xfrm>
            <a:custGeom>
              <a:avLst/>
              <a:gdLst>
                <a:gd name="connsiteX0" fmla="*/ 0 w 1009291"/>
                <a:gd name="connsiteY0" fmla="*/ 0 h 215661"/>
                <a:gd name="connsiteX1" fmla="*/ 0 w 1009291"/>
                <a:gd name="connsiteY1" fmla="*/ 0 h 215661"/>
                <a:gd name="connsiteX2" fmla="*/ 0 w 1009291"/>
                <a:gd name="connsiteY2" fmla="*/ 215661 h 215661"/>
                <a:gd name="connsiteX3" fmla="*/ 1009291 w 1009291"/>
                <a:gd name="connsiteY3" fmla="*/ 215661 h 215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9291" h="215661">
                  <a:moveTo>
                    <a:pt x="0" y="0"/>
                  </a:moveTo>
                  <a:lnTo>
                    <a:pt x="0" y="0"/>
                  </a:lnTo>
                  <a:lnTo>
                    <a:pt x="0" y="215661"/>
                  </a:lnTo>
                  <a:lnTo>
                    <a:pt x="1009291" y="215661"/>
                  </a:lnTo>
                </a:path>
              </a:pathLst>
            </a:cu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" name="直接箭头连接符 7"/>
            <p:cNvCxnSpPr>
              <a:stCxn id="2" idx="0"/>
            </p:cNvCxnSpPr>
            <p:nvPr/>
          </p:nvCxnSpPr>
          <p:spPr>
            <a:xfrm flipV="1">
              <a:off x="4813540" y="3916394"/>
              <a:ext cx="8626" cy="560715"/>
            </a:xfrm>
            <a:prstGeom prst="straightConnector1">
              <a:avLst/>
            </a:prstGeom>
            <a:ln w="38100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/>
            <p:nvPr/>
          </p:nvCxnSpPr>
          <p:spPr>
            <a:xfrm>
              <a:off x="7634376" y="3726612"/>
              <a:ext cx="0" cy="411194"/>
            </a:xfrm>
            <a:prstGeom prst="straightConnector1">
              <a:avLst/>
            </a:prstGeom>
            <a:ln w="38100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/>
          <p:cNvSpPr txBox="1"/>
          <p:nvPr/>
        </p:nvSpPr>
        <p:spPr>
          <a:xfrm>
            <a:off x="5090638" y="4227191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/>
              <a:t>I</a:t>
            </a:r>
            <a:endParaRPr lang="zh-CN" altLang="en-US" i="1" dirty="0"/>
          </a:p>
        </p:txBody>
      </p:sp>
      <p:cxnSp>
        <p:nvCxnSpPr>
          <p:cNvPr id="31" name="直接箭头连接符 30"/>
          <p:cNvCxnSpPr/>
          <p:nvPr/>
        </p:nvCxnSpPr>
        <p:spPr>
          <a:xfrm flipH="1">
            <a:off x="4983947" y="4635108"/>
            <a:ext cx="50790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24543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圆角矩形 30"/>
          <p:cNvSpPr/>
          <p:nvPr/>
        </p:nvSpPr>
        <p:spPr>
          <a:xfrm>
            <a:off x="176965" y="5514929"/>
            <a:ext cx="3949262" cy="9906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1136113" y="252706"/>
            <a:ext cx="4038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Efficiency of TEG</a:t>
            </a:r>
            <a:endParaRPr lang="zh-CN" altLang="en-US" sz="3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9113261"/>
              </p:ext>
            </p:extLst>
          </p:nvPr>
        </p:nvGraphicFramePr>
        <p:xfrm>
          <a:off x="3022915" y="5643517"/>
          <a:ext cx="962025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83920" imgH="431640" progId="Equation.DSMT4">
                  <p:embed/>
                </p:oleObj>
              </mc:Choice>
              <mc:Fallback>
                <p:oleObj name="Equation" r:id="rId3" imgW="583920" imgH="431640" progId="Equation.DSMT4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2915" y="5643517"/>
                        <a:ext cx="962025" cy="785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176965" y="5743529"/>
            <a:ext cx="261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itchFamily="34" charset="0"/>
                <a:cs typeface="Arial" pitchFamily="34" charset="0"/>
              </a:rPr>
              <a:t>Efficiency of TEG</a:t>
            </a:r>
            <a:endParaRPr lang="zh-CN" alt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495800" y="2178784"/>
            <a:ext cx="449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0000FF"/>
                </a:solidFill>
              </a:rPr>
              <a:t>For simple, Assume: </a:t>
            </a:r>
          </a:p>
          <a:p>
            <a:pPr marL="342900" indent="-342900">
              <a:buAutoNum type="arabicPeriod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T-independent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S, </a:t>
            </a:r>
            <a:r>
              <a:rPr lang="el-GR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l-GR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κ</a:t>
            </a:r>
            <a:endParaRPr lang="en-US" altLang="zh-CN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AutoNum type="arabicPeriod"/>
            </a:pP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=-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l-GR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ρ 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  <a:r>
              <a:rPr lang="el-GR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ρ 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l-GR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κ 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  <a:r>
              <a:rPr lang="el-GR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κ 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</a:p>
          <a:p>
            <a:pPr marL="342900" indent="-342900">
              <a:buFontTx/>
              <a:buAutoNum type="arabicPeriod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leg length =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section=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9" name="对象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8472839"/>
              </p:ext>
            </p:extLst>
          </p:nvPr>
        </p:nvGraphicFramePr>
        <p:xfrm>
          <a:off x="4720304" y="4547393"/>
          <a:ext cx="160337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54080" imgH="634680" progId="Equation.DSMT4">
                  <p:embed/>
                </p:oleObj>
              </mc:Choice>
              <mc:Fallback>
                <p:oleObj name="Equation" r:id="rId5" imgW="1054080" imgH="634680" progId="Equation.DSMT4">
                  <p:embed/>
                  <p:pic>
                    <p:nvPicPr>
                      <p:cNvPr id="49" name="对象 4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20304" y="4547393"/>
                        <a:ext cx="1603375" cy="965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710902"/>
              </p:ext>
            </p:extLst>
          </p:nvPr>
        </p:nvGraphicFramePr>
        <p:xfrm>
          <a:off x="6815137" y="4344987"/>
          <a:ext cx="1643063" cy="1370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79280" imgH="901440" progId="Equation.DSMT4">
                  <p:embed/>
                </p:oleObj>
              </mc:Choice>
              <mc:Fallback>
                <p:oleObj name="Equation" r:id="rId7" imgW="1079280" imgH="901440" progId="Equation.DSMT4">
                  <p:embed/>
                  <p:pic>
                    <p:nvPicPr>
                      <p:cNvPr id="50" name="对象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5137" y="4344987"/>
                        <a:ext cx="1643063" cy="1370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0" name="组合 59"/>
          <p:cNvGrpSpPr/>
          <p:nvPr/>
        </p:nvGrpSpPr>
        <p:grpSpPr>
          <a:xfrm>
            <a:off x="241738" y="1028205"/>
            <a:ext cx="3720662" cy="4219529"/>
            <a:chOff x="241738" y="1295400"/>
            <a:chExt cx="3720662" cy="4219529"/>
          </a:xfrm>
        </p:grpSpPr>
        <p:sp>
          <p:nvSpPr>
            <p:cNvPr id="12" name="圆角矩形 11"/>
            <p:cNvSpPr/>
            <p:nvPr/>
          </p:nvSpPr>
          <p:spPr>
            <a:xfrm>
              <a:off x="1066530" y="2209800"/>
              <a:ext cx="2053728" cy="239111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圆角矩形 12"/>
            <p:cNvSpPr/>
            <p:nvPr/>
          </p:nvSpPr>
          <p:spPr>
            <a:xfrm>
              <a:off x="1066530" y="2448911"/>
              <a:ext cx="716287" cy="1242848"/>
            </a:xfrm>
            <a:prstGeom prst="roundRect">
              <a:avLst>
                <a:gd name="adj" fmla="val 5662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圆角矩形 15"/>
            <p:cNvSpPr/>
            <p:nvPr/>
          </p:nvSpPr>
          <p:spPr>
            <a:xfrm>
              <a:off x="2430517" y="2468618"/>
              <a:ext cx="689741" cy="1242848"/>
            </a:xfrm>
            <a:prstGeom prst="roundRect">
              <a:avLst>
                <a:gd name="adj" fmla="val 667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圆角矩形 16"/>
            <p:cNvSpPr/>
            <p:nvPr/>
          </p:nvSpPr>
          <p:spPr>
            <a:xfrm>
              <a:off x="563617" y="3686505"/>
              <a:ext cx="1219200" cy="239110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圆角矩形 17"/>
            <p:cNvSpPr/>
            <p:nvPr/>
          </p:nvSpPr>
          <p:spPr>
            <a:xfrm>
              <a:off x="2430517" y="3728546"/>
              <a:ext cx="1219200" cy="239110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 13"/>
            <p:cNvSpPr/>
            <p:nvPr/>
          </p:nvSpPr>
          <p:spPr>
            <a:xfrm>
              <a:off x="241738" y="3788978"/>
              <a:ext cx="3720662" cy="1624397"/>
            </a:xfrm>
            <a:custGeom>
              <a:avLst/>
              <a:gdLst>
                <a:gd name="connsiteX0" fmla="*/ 315310 w 3720662"/>
                <a:gd name="connsiteY0" fmla="*/ 0 h 1182414"/>
                <a:gd name="connsiteX1" fmla="*/ 0 w 3720662"/>
                <a:gd name="connsiteY1" fmla="*/ 0 h 1182414"/>
                <a:gd name="connsiteX2" fmla="*/ 0 w 3720662"/>
                <a:gd name="connsiteY2" fmla="*/ 914400 h 1182414"/>
                <a:gd name="connsiteX3" fmla="*/ 1450427 w 3720662"/>
                <a:gd name="connsiteY3" fmla="*/ 914400 h 1182414"/>
                <a:gd name="connsiteX4" fmla="*/ 1450427 w 3720662"/>
                <a:gd name="connsiteY4" fmla="*/ 898635 h 1182414"/>
                <a:gd name="connsiteX5" fmla="*/ 1560786 w 3720662"/>
                <a:gd name="connsiteY5" fmla="*/ 1182414 h 1182414"/>
                <a:gd name="connsiteX6" fmla="*/ 1702676 w 3720662"/>
                <a:gd name="connsiteY6" fmla="*/ 1024759 h 1182414"/>
                <a:gd name="connsiteX7" fmla="*/ 1813034 w 3720662"/>
                <a:gd name="connsiteY7" fmla="*/ 1182414 h 1182414"/>
                <a:gd name="connsiteX8" fmla="*/ 1923393 w 3720662"/>
                <a:gd name="connsiteY8" fmla="*/ 1040524 h 1182414"/>
                <a:gd name="connsiteX9" fmla="*/ 2065282 w 3720662"/>
                <a:gd name="connsiteY9" fmla="*/ 1182414 h 1182414"/>
                <a:gd name="connsiteX10" fmla="*/ 2175641 w 3720662"/>
                <a:gd name="connsiteY10" fmla="*/ 1040524 h 1182414"/>
                <a:gd name="connsiteX11" fmla="*/ 2317531 w 3720662"/>
                <a:gd name="connsiteY11" fmla="*/ 1182414 h 1182414"/>
                <a:gd name="connsiteX12" fmla="*/ 2364827 w 3720662"/>
                <a:gd name="connsiteY12" fmla="*/ 930166 h 1182414"/>
                <a:gd name="connsiteX13" fmla="*/ 3720662 w 3720662"/>
                <a:gd name="connsiteY13" fmla="*/ 930166 h 1182414"/>
                <a:gd name="connsiteX14" fmla="*/ 3720662 w 3720662"/>
                <a:gd name="connsiteY14" fmla="*/ 63062 h 1182414"/>
                <a:gd name="connsiteX15" fmla="*/ 3405351 w 3720662"/>
                <a:gd name="connsiteY15" fmla="*/ 63062 h 1182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720662" h="1182414">
                  <a:moveTo>
                    <a:pt x="31531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450427" y="914400"/>
                  </a:lnTo>
                  <a:lnTo>
                    <a:pt x="1450427" y="898635"/>
                  </a:lnTo>
                  <a:lnTo>
                    <a:pt x="1560786" y="1182414"/>
                  </a:lnTo>
                  <a:lnTo>
                    <a:pt x="1702676" y="1024759"/>
                  </a:lnTo>
                  <a:lnTo>
                    <a:pt x="1813034" y="1182414"/>
                  </a:lnTo>
                  <a:lnTo>
                    <a:pt x="1923393" y="1040524"/>
                  </a:lnTo>
                  <a:lnTo>
                    <a:pt x="2065282" y="1182414"/>
                  </a:lnTo>
                  <a:lnTo>
                    <a:pt x="2175641" y="1040524"/>
                  </a:lnTo>
                  <a:lnTo>
                    <a:pt x="2317531" y="1182414"/>
                  </a:lnTo>
                  <a:lnTo>
                    <a:pt x="2364827" y="930166"/>
                  </a:lnTo>
                  <a:lnTo>
                    <a:pt x="3720662" y="930166"/>
                  </a:lnTo>
                  <a:lnTo>
                    <a:pt x="3720662" y="63062"/>
                  </a:lnTo>
                  <a:lnTo>
                    <a:pt x="3405351" y="63062"/>
                  </a:lnTo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 14"/>
            <p:cNvSpPr/>
            <p:nvPr/>
          </p:nvSpPr>
          <p:spPr>
            <a:xfrm>
              <a:off x="1690083" y="5043056"/>
              <a:ext cx="923026" cy="347016"/>
            </a:xfrm>
            <a:custGeom>
              <a:avLst/>
              <a:gdLst>
                <a:gd name="connsiteX0" fmla="*/ 0 w 923026"/>
                <a:gd name="connsiteY0" fmla="*/ 0 h 284671"/>
                <a:gd name="connsiteX1" fmla="*/ 129396 w 923026"/>
                <a:gd name="connsiteY1" fmla="*/ 284671 h 284671"/>
                <a:gd name="connsiteX2" fmla="*/ 267419 w 923026"/>
                <a:gd name="connsiteY2" fmla="*/ 112143 h 284671"/>
                <a:gd name="connsiteX3" fmla="*/ 362309 w 923026"/>
                <a:gd name="connsiteY3" fmla="*/ 258792 h 284671"/>
                <a:gd name="connsiteX4" fmla="*/ 491706 w 923026"/>
                <a:gd name="connsiteY4" fmla="*/ 129396 h 284671"/>
                <a:gd name="connsiteX5" fmla="*/ 603849 w 923026"/>
                <a:gd name="connsiteY5" fmla="*/ 267419 h 284671"/>
                <a:gd name="connsiteX6" fmla="*/ 741872 w 923026"/>
                <a:gd name="connsiteY6" fmla="*/ 138022 h 284671"/>
                <a:gd name="connsiteX7" fmla="*/ 871268 w 923026"/>
                <a:gd name="connsiteY7" fmla="*/ 258792 h 284671"/>
                <a:gd name="connsiteX8" fmla="*/ 923026 w 923026"/>
                <a:gd name="connsiteY8" fmla="*/ 8626 h 284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23026" h="284671">
                  <a:moveTo>
                    <a:pt x="0" y="0"/>
                  </a:moveTo>
                  <a:lnTo>
                    <a:pt x="129396" y="284671"/>
                  </a:lnTo>
                  <a:lnTo>
                    <a:pt x="267419" y="112143"/>
                  </a:lnTo>
                  <a:lnTo>
                    <a:pt x="362309" y="258792"/>
                  </a:lnTo>
                  <a:lnTo>
                    <a:pt x="491706" y="129396"/>
                  </a:lnTo>
                  <a:lnTo>
                    <a:pt x="603849" y="267419"/>
                  </a:lnTo>
                  <a:lnTo>
                    <a:pt x="741872" y="138022"/>
                  </a:lnTo>
                  <a:lnTo>
                    <a:pt x="871268" y="258792"/>
                  </a:lnTo>
                  <a:lnTo>
                    <a:pt x="923026" y="8626"/>
                  </a:ln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" name="直接箭头连接符 19"/>
            <p:cNvCxnSpPr/>
            <p:nvPr/>
          </p:nvCxnSpPr>
          <p:spPr>
            <a:xfrm>
              <a:off x="1956494" y="4980540"/>
              <a:ext cx="522514" cy="5343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2639865" y="5145597"/>
              <a:ext cx="5933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err="1"/>
                <a:t>W</a:t>
              </a:r>
              <a:r>
                <a:rPr lang="en-US" altLang="zh-CN" baseline="-25000" dirty="0" err="1"/>
                <a:t>out</a:t>
              </a:r>
              <a:endParaRPr lang="zh-CN" altLang="en-US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271426" y="2885669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i="1" dirty="0"/>
                <a:t>p</a:t>
              </a:r>
              <a:endParaRPr lang="zh-CN" altLang="en-US" i="1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622140" y="2905376"/>
              <a:ext cx="3032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i="1" dirty="0"/>
                <a:t>n</a:t>
              </a:r>
              <a:endParaRPr lang="zh-CN" altLang="en-US" i="1" dirty="0"/>
            </a:p>
          </p:txBody>
        </p:sp>
        <p:pic>
          <p:nvPicPr>
            <p:cNvPr id="10246" name="Picture 6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9800" y="1295400"/>
              <a:ext cx="1172828" cy="5432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</p:pic>
        <p:pic>
          <p:nvPicPr>
            <p:cNvPr id="10247" name="Picture 7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8829" flipH="1">
              <a:off x="1875817" y="1741511"/>
              <a:ext cx="514000" cy="6177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9" name="TextBox 28"/>
            <p:cNvSpPr txBox="1"/>
            <p:nvPr/>
          </p:nvSpPr>
          <p:spPr>
            <a:xfrm>
              <a:off x="1670119" y="1654030"/>
              <a:ext cx="4203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err="1"/>
                <a:t>Q</a:t>
              </a:r>
              <a:r>
                <a:rPr lang="en-US" altLang="zh-CN" baseline="-25000" dirty="0" err="1"/>
                <a:t>h</a:t>
              </a:r>
              <a:endParaRPr lang="zh-CN" altLang="en-US" dirty="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132817" y="3942916"/>
              <a:ext cx="4058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Q</a:t>
              </a:r>
              <a:r>
                <a:rPr lang="en-US" altLang="zh-CN" baseline="-25000" dirty="0"/>
                <a:t>c</a:t>
              </a:r>
              <a:endParaRPr lang="zh-CN" altLang="en-US" dirty="0"/>
            </a:p>
          </p:txBody>
        </p:sp>
        <p:pic>
          <p:nvPicPr>
            <p:cNvPr id="36" name="Picture 6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012" y="4336988"/>
              <a:ext cx="1172828" cy="5432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</p:pic>
        <p:pic>
          <p:nvPicPr>
            <p:cNvPr id="37" name="Picture 7"/>
            <p:cNvPicPr>
              <a:picLocks noChangeAspect="1" noChangeArrowheads="1"/>
            </p:cNvPicPr>
            <p:nvPr/>
          </p:nvPicPr>
          <p:blipFill>
            <a:blip r:embed="rId10" cstate="print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8829" flipH="1">
              <a:off x="1691581" y="3847421"/>
              <a:ext cx="514000" cy="6177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0" name="TextBox 29"/>
            <p:cNvSpPr txBox="1"/>
            <p:nvPr/>
          </p:nvSpPr>
          <p:spPr>
            <a:xfrm>
              <a:off x="2613109" y="1382382"/>
              <a:ext cx="4635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i="1" baseline="-25000" dirty="0"/>
                <a:t> </a:t>
              </a:r>
              <a:r>
                <a:rPr lang="en-US" altLang="zh-CN" i="1" dirty="0"/>
                <a:t> </a:t>
              </a:r>
              <a:r>
                <a:rPr lang="en-US" altLang="zh-CN" i="1" dirty="0" err="1"/>
                <a:t>T</a:t>
              </a:r>
              <a:r>
                <a:rPr lang="en-US" altLang="zh-CN" i="1" baseline="-25000" dirty="0" err="1"/>
                <a:t>h</a:t>
              </a:r>
              <a:endParaRPr lang="en-US" altLang="zh-CN" i="1" baseline="-25000" dirty="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059364" y="4416510"/>
              <a:ext cx="4303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i="1" baseline="-25000" dirty="0"/>
                <a:t> </a:t>
              </a:r>
              <a:r>
                <a:rPr lang="en-US" altLang="zh-CN" i="1" dirty="0"/>
                <a:t> </a:t>
              </a:r>
              <a:r>
                <a:rPr lang="en-US" altLang="zh-CN" i="1" dirty="0" err="1"/>
                <a:t>T</a:t>
              </a:r>
              <a:r>
                <a:rPr lang="en-US" altLang="zh-CN" i="1" baseline="-25000" dirty="0" err="1"/>
                <a:t>c</a:t>
              </a:r>
              <a:endParaRPr lang="zh-CN" altLang="en-US" i="1" baseline="-25000" dirty="0"/>
            </a:p>
          </p:txBody>
        </p:sp>
        <p:cxnSp>
          <p:nvCxnSpPr>
            <p:cNvPr id="55" name="直接箭头连接符 54"/>
            <p:cNvCxnSpPr/>
            <p:nvPr/>
          </p:nvCxnSpPr>
          <p:spPr>
            <a:xfrm>
              <a:off x="2844903" y="4880284"/>
              <a:ext cx="660297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/>
            <p:cNvSpPr txBox="1"/>
            <p:nvPr/>
          </p:nvSpPr>
          <p:spPr>
            <a:xfrm>
              <a:off x="3034226" y="4495800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i="1" dirty="0"/>
                <a:t>I</a:t>
              </a:r>
              <a:endParaRPr lang="zh-CN" altLang="en-US" i="1" dirty="0"/>
            </a:p>
          </p:txBody>
        </p:sp>
      </p:grpSp>
      <p:sp>
        <p:nvSpPr>
          <p:cNvPr id="59" name="圆角矩形 58"/>
          <p:cNvSpPr/>
          <p:nvPr/>
        </p:nvSpPr>
        <p:spPr>
          <a:xfrm>
            <a:off x="4495800" y="4114800"/>
            <a:ext cx="4267200" cy="1632466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8760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241738" y="5379085"/>
            <a:ext cx="3949262" cy="9906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5506534"/>
              </p:ext>
            </p:extLst>
          </p:nvPr>
        </p:nvGraphicFramePr>
        <p:xfrm>
          <a:off x="3087688" y="5507673"/>
          <a:ext cx="962025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83920" imgH="431640" progId="Equation.DSMT4">
                  <p:embed/>
                </p:oleObj>
              </mc:Choice>
              <mc:Fallback>
                <p:oleObj name="Equation" r:id="rId2" imgW="583920" imgH="431640" progId="Equation.DSMT4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7688" y="5507673"/>
                        <a:ext cx="962025" cy="785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41738" y="5607685"/>
            <a:ext cx="261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itchFamily="34" charset="0"/>
                <a:cs typeface="Arial" pitchFamily="34" charset="0"/>
              </a:rPr>
              <a:t>Efficiency of TEG</a:t>
            </a:r>
            <a:endParaRPr lang="zh-CN" altLang="en-US" sz="2400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41738" y="959485"/>
            <a:ext cx="3720662" cy="4219529"/>
            <a:chOff x="241738" y="1295400"/>
            <a:chExt cx="3720662" cy="4219529"/>
          </a:xfrm>
        </p:grpSpPr>
        <p:sp>
          <p:nvSpPr>
            <p:cNvPr id="8" name="圆角矩形 7"/>
            <p:cNvSpPr/>
            <p:nvPr/>
          </p:nvSpPr>
          <p:spPr>
            <a:xfrm>
              <a:off x="1066530" y="2209800"/>
              <a:ext cx="2053728" cy="239111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圆角矩形 8"/>
            <p:cNvSpPr/>
            <p:nvPr/>
          </p:nvSpPr>
          <p:spPr>
            <a:xfrm>
              <a:off x="1066530" y="2448911"/>
              <a:ext cx="716287" cy="1242848"/>
            </a:xfrm>
            <a:prstGeom prst="roundRect">
              <a:avLst>
                <a:gd name="adj" fmla="val 5662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圆角矩形 9"/>
            <p:cNvSpPr/>
            <p:nvPr/>
          </p:nvSpPr>
          <p:spPr>
            <a:xfrm>
              <a:off x="2430517" y="2468618"/>
              <a:ext cx="689741" cy="1242848"/>
            </a:xfrm>
            <a:prstGeom prst="roundRect">
              <a:avLst>
                <a:gd name="adj" fmla="val 667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圆角矩形 10"/>
            <p:cNvSpPr/>
            <p:nvPr/>
          </p:nvSpPr>
          <p:spPr>
            <a:xfrm>
              <a:off x="563617" y="3686505"/>
              <a:ext cx="1219200" cy="239110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圆角矩形 11"/>
            <p:cNvSpPr/>
            <p:nvPr/>
          </p:nvSpPr>
          <p:spPr>
            <a:xfrm>
              <a:off x="2430517" y="3728546"/>
              <a:ext cx="1219200" cy="239110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 12"/>
            <p:cNvSpPr/>
            <p:nvPr/>
          </p:nvSpPr>
          <p:spPr>
            <a:xfrm>
              <a:off x="241738" y="3788978"/>
              <a:ext cx="3720662" cy="1624397"/>
            </a:xfrm>
            <a:custGeom>
              <a:avLst/>
              <a:gdLst>
                <a:gd name="connsiteX0" fmla="*/ 315310 w 3720662"/>
                <a:gd name="connsiteY0" fmla="*/ 0 h 1182414"/>
                <a:gd name="connsiteX1" fmla="*/ 0 w 3720662"/>
                <a:gd name="connsiteY1" fmla="*/ 0 h 1182414"/>
                <a:gd name="connsiteX2" fmla="*/ 0 w 3720662"/>
                <a:gd name="connsiteY2" fmla="*/ 914400 h 1182414"/>
                <a:gd name="connsiteX3" fmla="*/ 1450427 w 3720662"/>
                <a:gd name="connsiteY3" fmla="*/ 914400 h 1182414"/>
                <a:gd name="connsiteX4" fmla="*/ 1450427 w 3720662"/>
                <a:gd name="connsiteY4" fmla="*/ 898635 h 1182414"/>
                <a:gd name="connsiteX5" fmla="*/ 1560786 w 3720662"/>
                <a:gd name="connsiteY5" fmla="*/ 1182414 h 1182414"/>
                <a:gd name="connsiteX6" fmla="*/ 1702676 w 3720662"/>
                <a:gd name="connsiteY6" fmla="*/ 1024759 h 1182414"/>
                <a:gd name="connsiteX7" fmla="*/ 1813034 w 3720662"/>
                <a:gd name="connsiteY7" fmla="*/ 1182414 h 1182414"/>
                <a:gd name="connsiteX8" fmla="*/ 1923393 w 3720662"/>
                <a:gd name="connsiteY8" fmla="*/ 1040524 h 1182414"/>
                <a:gd name="connsiteX9" fmla="*/ 2065282 w 3720662"/>
                <a:gd name="connsiteY9" fmla="*/ 1182414 h 1182414"/>
                <a:gd name="connsiteX10" fmla="*/ 2175641 w 3720662"/>
                <a:gd name="connsiteY10" fmla="*/ 1040524 h 1182414"/>
                <a:gd name="connsiteX11" fmla="*/ 2317531 w 3720662"/>
                <a:gd name="connsiteY11" fmla="*/ 1182414 h 1182414"/>
                <a:gd name="connsiteX12" fmla="*/ 2364827 w 3720662"/>
                <a:gd name="connsiteY12" fmla="*/ 930166 h 1182414"/>
                <a:gd name="connsiteX13" fmla="*/ 3720662 w 3720662"/>
                <a:gd name="connsiteY13" fmla="*/ 930166 h 1182414"/>
                <a:gd name="connsiteX14" fmla="*/ 3720662 w 3720662"/>
                <a:gd name="connsiteY14" fmla="*/ 63062 h 1182414"/>
                <a:gd name="connsiteX15" fmla="*/ 3405351 w 3720662"/>
                <a:gd name="connsiteY15" fmla="*/ 63062 h 1182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720662" h="1182414">
                  <a:moveTo>
                    <a:pt x="31531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450427" y="914400"/>
                  </a:lnTo>
                  <a:lnTo>
                    <a:pt x="1450427" y="898635"/>
                  </a:lnTo>
                  <a:lnTo>
                    <a:pt x="1560786" y="1182414"/>
                  </a:lnTo>
                  <a:lnTo>
                    <a:pt x="1702676" y="1024759"/>
                  </a:lnTo>
                  <a:lnTo>
                    <a:pt x="1813034" y="1182414"/>
                  </a:lnTo>
                  <a:lnTo>
                    <a:pt x="1923393" y="1040524"/>
                  </a:lnTo>
                  <a:lnTo>
                    <a:pt x="2065282" y="1182414"/>
                  </a:lnTo>
                  <a:lnTo>
                    <a:pt x="2175641" y="1040524"/>
                  </a:lnTo>
                  <a:lnTo>
                    <a:pt x="2317531" y="1182414"/>
                  </a:lnTo>
                  <a:lnTo>
                    <a:pt x="2364827" y="930166"/>
                  </a:lnTo>
                  <a:lnTo>
                    <a:pt x="3720662" y="930166"/>
                  </a:lnTo>
                  <a:lnTo>
                    <a:pt x="3720662" y="63062"/>
                  </a:lnTo>
                  <a:lnTo>
                    <a:pt x="3405351" y="63062"/>
                  </a:lnTo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 13"/>
            <p:cNvSpPr/>
            <p:nvPr/>
          </p:nvSpPr>
          <p:spPr>
            <a:xfrm>
              <a:off x="1690083" y="5043056"/>
              <a:ext cx="923026" cy="347016"/>
            </a:xfrm>
            <a:custGeom>
              <a:avLst/>
              <a:gdLst>
                <a:gd name="connsiteX0" fmla="*/ 0 w 923026"/>
                <a:gd name="connsiteY0" fmla="*/ 0 h 284671"/>
                <a:gd name="connsiteX1" fmla="*/ 129396 w 923026"/>
                <a:gd name="connsiteY1" fmla="*/ 284671 h 284671"/>
                <a:gd name="connsiteX2" fmla="*/ 267419 w 923026"/>
                <a:gd name="connsiteY2" fmla="*/ 112143 h 284671"/>
                <a:gd name="connsiteX3" fmla="*/ 362309 w 923026"/>
                <a:gd name="connsiteY3" fmla="*/ 258792 h 284671"/>
                <a:gd name="connsiteX4" fmla="*/ 491706 w 923026"/>
                <a:gd name="connsiteY4" fmla="*/ 129396 h 284671"/>
                <a:gd name="connsiteX5" fmla="*/ 603849 w 923026"/>
                <a:gd name="connsiteY5" fmla="*/ 267419 h 284671"/>
                <a:gd name="connsiteX6" fmla="*/ 741872 w 923026"/>
                <a:gd name="connsiteY6" fmla="*/ 138022 h 284671"/>
                <a:gd name="connsiteX7" fmla="*/ 871268 w 923026"/>
                <a:gd name="connsiteY7" fmla="*/ 258792 h 284671"/>
                <a:gd name="connsiteX8" fmla="*/ 923026 w 923026"/>
                <a:gd name="connsiteY8" fmla="*/ 8626 h 284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23026" h="284671">
                  <a:moveTo>
                    <a:pt x="0" y="0"/>
                  </a:moveTo>
                  <a:lnTo>
                    <a:pt x="129396" y="284671"/>
                  </a:lnTo>
                  <a:lnTo>
                    <a:pt x="267419" y="112143"/>
                  </a:lnTo>
                  <a:lnTo>
                    <a:pt x="362309" y="258792"/>
                  </a:lnTo>
                  <a:lnTo>
                    <a:pt x="491706" y="129396"/>
                  </a:lnTo>
                  <a:lnTo>
                    <a:pt x="603849" y="267419"/>
                  </a:lnTo>
                  <a:lnTo>
                    <a:pt x="741872" y="138022"/>
                  </a:lnTo>
                  <a:lnTo>
                    <a:pt x="871268" y="258792"/>
                  </a:lnTo>
                  <a:lnTo>
                    <a:pt x="923026" y="8626"/>
                  </a:ln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5" name="直接箭头连接符 14"/>
            <p:cNvCxnSpPr/>
            <p:nvPr/>
          </p:nvCxnSpPr>
          <p:spPr>
            <a:xfrm>
              <a:off x="1956494" y="4980540"/>
              <a:ext cx="522514" cy="53438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2639865" y="5145597"/>
              <a:ext cx="5906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err="1"/>
                <a:t>W</a:t>
              </a:r>
              <a:r>
                <a:rPr lang="en-US" altLang="zh-CN" baseline="-25000" dirty="0" err="1"/>
                <a:t>net</a:t>
              </a:r>
              <a:endParaRPr lang="zh-CN" altLang="en-US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271426" y="2885669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i="1" dirty="0"/>
                <a:t>p</a:t>
              </a:r>
              <a:endParaRPr lang="zh-CN" altLang="en-US" i="1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622140" y="2905376"/>
              <a:ext cx="3032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i="1" dirty="0"/>
                <a:t>n</a:t>
              </a:r>
              <a:endParaRPr lang="zh-CN" altLang="en-US" i="1" dirty="0"/>
            </a:p>
          </p:txBody>
        </p:sp>
        <p:pic>
          <p:nvPicPr>
            <p:cNvPr id="19" name="Picture 6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9800" y="1295400"/>
              <a:ext cx="1172828" cy="5432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</p:pic>
        <p:pic>
          <p:nvPicPr>
            <p:cNvPr id="20" name="Picture 7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8829" flipH="1">
              <a:off x="1875817" y="1741511"/>
              <a:ext cx="514000" cy="6177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1" name="TextBox 20"/>
            <p:cNvSpPr txBox="1"/>
            <p:nvPr/>
          </p:nvSpPr>
          <p:spPr>
            <a:xfrm>
              <a:off x="1670119" y="1654030"/>
              <a:ext cx="4203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err="1"/>
                <a:t>Q</a:t>
              </a:r>
              <a:r>
                <a:rPr lang="en-US" altLang="zh-CN" baseline="-25000" dirty="0" err="1"/>
                <a:t>h</a:t>
              </a:r>
              <a:endParaRPr lang="zh-CN" altLang="en-US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132817" y="3942916"/>
              <a:ext cx="4058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Q</a:t>
              </a:r>
              <a:r>
                <a:rPr lang="en-US" altLang="zh-CN" baseline="-25000" dirty="0"/>
                <a:t>c</a:t>
              </a:r>
              <a:endParaRPr lang="zh-CN" altLang="en-US" dirty="0"/>
            </a:p>
          </p:txBody>
        </p:sp>
        <p:pic>
          <p:nvPicPr>
            <p:cNvPr id="23" name="Picture 6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012" y="4336988"/>
              <a:ext cx="1172828" cy="5432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</p:pic>
        <p:pic>
          <p:nvPicPr>
            <p:cNvPr id="24" name="Picture 7"/>
            <p:cNvPicPr>
              <a:picLocks noChangeAspect="1" noChangeArrowheads="1"/>
            </p:cNvPicPr>
            <p:nvPr/>
          </p:nvPicPr>
          <p:blipFill>
            <a:blip r:embed="rId5" cstate="print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8829" flipH="1">
              <a:off x="1691581" y="3847421"/>
              <a:ext cx="514000" cy="6177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5" name="TextBox 24"/>
            <p:cNvSpPr txBox="1"/>
            <p:nvPr/>
          </p:nvSpPr>
          <p:spPr>
            <a:xfrm>
              <a:off x="2613109" y="1382382"/>
              <a:ext cx="4635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i="1" baseline="-25000" dirty="0"/>
                <a:t> </a:t>
              </a:r>
              <a:r>
                <a:rPr lang="en-US" altLang="zh-CN" i="1" dirty="0"/>
                <a:t> </a:t>
              </a:r>
              <a:r>
                <a:rPr lang="en-US" altLang="zh-CN" i="1" dirty="0" err="1"/>
                <a:t>T</a:t>
              </a:r>
              <a:r>
                <a:rPr lang="en-US" altLang="zh-CN" i="1" baseline="-25000" dirty="0" err="1"/>
                <a:t>h</a:t>
              </a:r>
              <a:endParaRPr lang="en-US" altLang="zh-CN" i="1" baseline="-25000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059364" y="4416510"/>
              <a:ext cx="4303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i="1" baseline="-25000" dirty="0"/>
                <a:t> </a:t>
              </a:r>
              <a:r>
                <a:rPr lang="en-US" altLang="zh-CN" i="1" dirty="0"/>
                <a:t> </a:t>
              </a:r>
              <a:r>
                <a:rPr lang="en-US" altLang="zh-CN" i="1" dirty="0" err="1"/>
                <a:t>T</a:t>
              </a:r>
              <a:r>
                <a:rPr lang="en-US" altLang="zh-CN" i="1" baseline="-25000" dirty="0" err="1"/>
                <a:t>c</a:t>
              </a:r>
              <a:endParaRPr lang="zh-CN" altLang="en-US" i="1" baseline="-25000" dirty="0"/>
            </a:p>
          </p:txBody>
        </p:sp>
        <p:cxnSp>
          <p:nvCxnSpPr>
            <p:cNvPr id="27" name="直接箭头连接符 26"/>
            <p:cNvCxnSpPr/>
            <p:nvPr/>
          </p:nvCxnSpPr>
          <p:spPr>
            <a:xfrm>
              <a:off x="2844903" y="4880284"/>
              <a:ext cx="660297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3034226" y="4495800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i="1" dirty="0"/>
                <a:t>I</a:t>
              </a:r>
              <a:endParaRPr lang="zh-CN" altLang="en-US" i="1" dirty="0"/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1155751" y="77764"/>
            <a:ext cx="4038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Efficiency of TEG</a:t>
            </a:r>
            <a:endParaRPr lang="zh-CN" altLang="en-US" sz="3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35" name="对象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0779416"/>
              </p:ext>
            </p:extLst>
          </p:nvPr>
        </p:nvGraphicFramePr>
        <p:xfrm>
          <a:off x="4648200" y="1473835"/>
          <a:ext cx="1211263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36560" imgH="241200" progId="Equation.DSMT4">
                  <p:embed/>
                </p:oleObj>
              </mc:Choice>
              <mc:Fallback>
                <p:oleObj name="Equation" r:id="rId6" imgW="736560" imgH="241200" progId="Equation.DSMT4">
                  <p:embed/>
                  <p:pic>
                    <p:nvPicPr>
                      <p:cNvPr id="35" name="对象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1473835"/>
                        <a:ext cx="1211263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5482929"/>
              </p:ext>
            </p:extLst>
          </p:nvPr>
        </p:nvGraphicFramePr>
        <p:xfrm>
          <a:off x="4733925" y="1854835"/>
          <a:ext cx="3111500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92160" imgH="393480" progId="Equation.DSMT4">
                  <p:embed/>
                </p:oleObj>
              </mc:Choice>
              <mc:Fallback>
                <p:oleObj name="Equation" r:id="rId8" imgW="1892160" imgH="393480" progId="Equation.DSMT4">
                  <p:embed/>
                  <p:pic>
                    <p:nvPicPr>
                      <p:cNvPr id="36" name="对象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3925" y="1854835"/>
                        <a:ext cx="3111500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1352711"/>
              </p:ext>
            </p:extLst>
          </p:nvPr>
        </p:nvGraphicFramePr>
        <p:xfrm>
          <a:off x="4735513" y="2512060"/>
          <a:ext cx="3068637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866600" imgH="393480" progId="Equation.DSMT4">
                  <p:embed/>
                </p:oleObj>
              </mc:Choice>
              <mc:Fallback>
                <p:oleObj name="Equation" r:id="rId10" imgW="1866600" imgH="393480" progId="Equation.DSMT4">
                  <p:embed/>
                  <p:pic>
                    <p:nvPicPr>
                      <p:cNvPr id="37" name="对象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5513" y="2512060"/>
                        <a:ext cx="3068637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214358"/>
              </p:ext>
            </p:extLst>
          </p:nvPr>
        </p:nvGraphicFramePr>
        <p:xfrm>
          <a:off x="4733925" y="3434398"/>
          <a:ext cx="2444750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485720" imgH="482400" progId="Equation.DSMT4">
                  <p:embed/>
                </p:oleObj>
              </mc:Choice>
              <mc:Fallback>
                <p:oleObj name="Equation" r:id="rId12" imgW="1485720" imgH="482400" progId="Equation.DSMT4">
                  <p:embed/>
                  <p:pic>
                    <p:nvPicPr>
                      <p:cNvPr id="39" name="对象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3925" y="3434398"/>
                        <a:ext cx="2444750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圆角矩形 39"/>
          <p:cNvSpPr/>
          <p:nvPr/>
        </p:nvSpPr>
        <p:spPr>
          <a:xfrm>
            <a:off x="4419600" y="1318115"/>
            <a:ext cx="4191000" cy="1851170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2" name="对象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4805764"/>
              </p:ext>
            </p:extLst>
          </p:nvPr>
        </p:nvGraphicFramePr>
        <p:xfrm>
          <a:off x="4701672" y="4570612"/>
          <a:ext cx="1699128" cy="13542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31560" imgH="888840" progId="Equation.DSMT4">
                  <p:embed/>
                </p:oleObj>
              </mc:Choice>
              <mc:Fallback>
                <p:oleObj name="Equation" r:id="rId14" imgW="1231560" imgH="888840" progId="Equation.DSMT4">
                  <p:embed/>
                  <p:pic>
                    <p:nvPicPr>
                      <p:cNvPr id="42" name="对象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1672" y="4570612"/>
                        <a:ext cx="1699128" cy="13542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右大括号 42"/>
          <p:cNvSpPr/>
          <p:nvPr/>
        </p:nvSpPr>
        <p:spPr>
          <a:xfrm>
            <a:off x="6396965" y="4693285"/>
            <a:ext cx="247650" cy="1028835"/>
          </a:xfrm>
          <a:prstGeom prst="rightBrace">
            <a:avLst>
              <a:gd name="adj1" fmla="val 51930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4" name="对象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6480831"/>
              </p:ext>
            </p:extLst>
          </p:nvPr>
        </p:nvGraphicFramePr>
        <p:xfrm>
          <a:off x="6988175" y="4696460"/>
          <a:ext cx="120967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736560" imgH="241200" progId="Equation.DSMT4">
                  <p:embed/>
                </p:oleObj>
              </mc:Choice>
              <mc:Fallback>
                <p:oleObj name="Equation" r:id="rId16" imgW="736560" imgH="241200" progId="Equation.DSMT4">
                  <p:embed/>
                  <p:pic>
                    <p:nvPicPr>
                      <p:cNvPr id="44" name="对象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8175" y="4696460"/>
                        <a:ext cx="1209675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6108007"/>
              </p:ext>
            </p:extLst>
          </p:nvPr>
        </p:nvGraphicFramePr>
        <p:xfrm>
          <a:off x="6945313" y="5294948"/>
          <a:ext cx="2112962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498320" imgH="253800" progId="Equation.DSMT4">
                  <p:embed/>
                </p:oleObj>
              </mc:Choice>
              <mc:Fallback>
                <p:oleObj name="Equation" r:id="rId18" imgW="1498320" imgH="253800" progId="Equation.DSMT4">
                  <p:embed/>
                  <p:pic>
                    <p:nvPicPr>
                      <p:cNvPr id="45" name="对象 44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945313" y="5294948"/>
                        <a:ext cx="2112962" cy="358775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920173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7698301"/>
              </p:ext>
            </p:extLst>
          </p:nvPr>
        </p:nvGraphicFramePr>
        <p:xfrm>
          <a:off x="4550489" y="943797"/>
          <a:ext cx="1027183" cy="3846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11000" imgH="241200" progId="Equation.DSMT4">
                  <p:embed/>
                </p:oleObj>
              </mc:Choice>
              <mc:Fallback>
                <p:oleObj name="Equation" r:id="rId2" imgW="711000" imgH="241200" progId="Equation.DSMT4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0489" y="943797"/>
                        <a:ext cx="1027183" cy="3846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3062377"/>
              </p:ext>
            </p:extLst>
          </p:nvPr>
        </p:nvGraphicFramePr>
        <p:xfrm>
          <a:off x="4564777" y="1529584"/>
          <a:ext cx="2637430" cy="6058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92160" imgH="393480" progId="Equation.DSMT4">
                  <p:embed/>
                </p:oleObj>
              </mc:Choice>
              <mc:Fallback>
                <p:oleObj name="Equation" r:id="rId4" imgW="1892160" imgH="393480" progId="Equation.DSMT4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4777" y="1529584"/>
                        <a:ext cx="2637430" cy="6058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6810973"/>
              </p:ext>
            </p:extLst>
          </p:nvPr>
        </p:nvGraphicFramePr>
        <p:xfrm>
          <a:off x="1075451" y="1357506"/>
          <a:ext cx="1218325" cy="6837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50680" imgH="431640" progId="Equation.DSMT4">
                  <p:embed/>
                </p:oleObj>
              </mc:Choice>
              <mc:Fallback>
                <p:oleObj name="Equation" r:id="rId6" imgW="850680" imgH="431640" progId="Equation.DSMT4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5451" y="1357506"/>
                        <a:ext cx="1218325" cy="6837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72820" y="796159"/>
            <a:ext cx="261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itchFamily="34" charset="0"/>
                <a:cs typeface="Arial" pitchFamily="34" charset="0"/>
              </a:rPr>
              <a:t>Efficiency of TEG</a:t>
            </a:r>
            <a:endParaRPr lang="zh-CN" alt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55679" y="44662"/>
            <a:ext cx="50828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Efficiency of TEG-updated</a:t>
            </a:r>
            <a:endParaRPr lang="zh-CN" altLang="en-US" sz="3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6600764"/>
              </p:ext>
            </p:extLst>
          </p:nvPr>
        </p:nvGraphicFramePr>
        <p:xfrm>
          <a:off x="614919" y="2870585"/>
          <a:ext cx="2133600" cy="1278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50960" imgH="990360" progId="Equation.DSMT4">
                  <p:embed/>
                </p:oleObj>
              </mc:Choice>
              <mc:Fallback>
                <p:oleObj name="Equation" r:id="rId8" imgW="1650960" imgH="990360" progId="Equation.DSMT4">
                  <p:embed/>
                  <p:pic>
                    <p:nvPicPr>
                      <p:cNvPr id="16" name="对象 1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14919" y="2870585"/>
                        <a:ext cx="2133600" cy="12789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10119" y="2413385"/>
            <a:ext cx="1291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Set m=R</a:t>
            </a:r>
            <a:r>
              <a:rPr lang="en-US" altLang="zh-CN" baseline="-25000" dirty="0"/>
              <a:t>L</a:t>
            </a:r>
            <a:r>
              <a:rPr lang="en-US" altLang="zh-CN" dirty="0"/>
              <a:t>/R </a:t>
            </a:r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1262958"/>
              </p:ext>
            </p:extLst>
          </p:nvPr>
        </p:nvGraphicFramePr>
        <p:xfrm>
          <a:off x="5980826" y="796160"/>
          <a:ext cx="1195501" cy="5971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14400" imgH="457200" progId="Equation.DSMT4">
                  <p:embed/>
                </p:oleObj>
              </mc:Choice>
              <mc:Fallback>
                <p:oleObj name="Equation" r:id="rId10" imgW="914400" imgH="457200" progId="Equation.DSMT4">
                  <p:embed/>
                  <p:pic>
                    <p:nvPicPr>
                      <p:cNvPr id="19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0826" y="796160"/>
                        <a:ext cx="1195501" cy="5971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2064996"/>
              </p:ext>
            </p:extLst>
          </p:nvPr>
        </p:nvGraphicFramePr>
        <p:xfrm>
          <a:off x="3483794" y="2355522"/>
          <a:ext cx="3315133" cy="10650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504960" imgH="1015920" progId="Equation.DSMT4">
                  <p:embed/>
                </p:oleObj>
              </mc:Choice>
              <mc:Fallback>
                <p:oleObj name="Equation" r:id="rId12" imgW="3504960" imgH="1015920" progId="Equation.DSMT4">
                  <p:embed/>
                  <p:pic>
                    <p:nvPicPr>
                      <p:cNvPr id="2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3794" y="2355522"/>
                        <a:ext cx="3315133" cy="10650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0431063"/>
              </p:ext>
            </p:extLst>
          </p:nvPr>
        </p:nvGraphicFramePr>
        <p:xfrm>
          <a:off x="3557157" y="3433907"/>
          <a:ext cx="2722874" cy="80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387520" imgH="634680" progId="Equation.DSMT4">
                  <p:embed/>
                </p:oleObj>
              </mc:Choice>
              <mc:Fallback>
                <p:oleObj name="Equation" r:id="rId14" imgW="2387520" imgH="634680" progId="Equation.DSMT4">
                  <p:embed/>
                  <p:pic>
                    <p:nvPicPr>
                      <p:cNvPr id="21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7157" y="3433907"/>
                        <a:ext cx="2722874" cy="802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3474759"/>
              </p:ext>
            </p:extLst>
          </p:nvPr>
        </p:nvGraphicFramePr>
        <p:xfrm>
          <a:off x="1093703" y="4694605"/>
          <a:ext cx="688975" cy="62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82400" imgH="393480" progId="Equation.DSMT4">
                  <p:embed/>
                </p:oleObj>
              </mc:Choice>
              <mc:Fallback>
                <p:oleObj name="Equation" r:id="rId16" imgW="482400" imgH="393480" progId="Equation.DSMT4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3703" y="4694605"/>
                        <a:ext cx="688975" cy="623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2082458"/>
              </p:ext>
            </p:extLst>
          </p:nvPr>
        </p:nvGraphicFramePr>
        <p:xfrm>
          <a:off x="3051468" y="4648644"/>
          <a:ext cx="1576388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104840" imgH="545760" progId="Equation.DSMT4">
                  <p:embed/>
                </p:oleObj>
              </mc:Choice>
              <mc:Fallback>
                <p:oleObj name="Equation" r:id="rId18" imgW="1104840" imgH="545760" progId="Equation.DSMT4">
                  <p:embed/>
                  <p:pic>
                    <p:nvPicPr>
                      <p:cNvPr id="23" name="对象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1468" y="4648644"/>
                        <a:ext cx="1576388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圆角矩形 23"/>
          <p:cNvSpPr/>
          <p:nvPr/>
        </p:nvSpPr>
        <p:spPr>
          <a:xfrm>
            <a:off x="310119" y="2146956"/>
            <a:ext cx="8359428" cy="2170711"/>
          </a:xfrm>
          <a:prstGeom prst="roundRect">
            <a:avLst>
              <a:gd name="adj" fmla="val 7181"/>
            </a:avLst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6081699"/>
              </p:ext>
            </p:extLst>
          </p:nvPr>
        </p:nvGraphicFramePr>
        <p:xfrm>
          <a:off x="5471333" y="4592123"/>
          <a:ext cx="2349092" cy="9891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803240" imgH="685800" progId="Equation.DSMT4">
                  <p:embed/>
                </p:oleObj>
              </mc:Choice>
              <mc:Fallback>
                <p:oleObj name="Equation" r:id="rId20" imgW="1803240" imgH="685800" progId="Equation.DSMT4">
                  <p:embed/>
                  <p:pic>
                    <p:nvPicPr>
                      <p:cNvPr id="26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1333" y="4592123"/>
                        <a:ext cx="2349092" cy="9891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240369"/>
              </p:ext>
            </p:extLst>
          </p:nvPr>
        </p:nvGraphicFramePr>
        <p:xfrm>
          <a:off x="7572494" y="3512025"/>
          <a:ext cx="608013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533160" imgH="419040" progId="Equation.DSMT4">
                  <p:embed/>
                </p:oleObj>
              </mc:Choice>
              <mc:Fallback>
                <p:oleObj name="Equation" r:id="rId22" imgW="533160" imgH="419040" progId="Equation.DSMT4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2494" y="3512025"/>
                        <a:ext cx="608013" cy="530225"/>
                      </a:xfrm>
                      <a:prstGeom prst="rect">
                        <a:avLst/>
                      </a:prstGeom>
                      <a:solidFill>
                        <a:schemeClr val="bg1">
                          <a:lumMod val="75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右箭头 2"/>
          <p:cNvSpPr/>
          <p:nvPr/>
        </p:nvSpPr>
        <p:spPr>
          <a:xfrm>
            <a:off x="2070340" y="4812726"/>
            <a:ext cx="491706" cy="345057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右箭头 26"/>
          <p:cNvSpPr/>
          <p:nvPr/>
        </p:nvSpPr>
        <p:spPr>
          <a:xfrm>
            <a:off x="4698521" y="4812726"/>
            <a:ext cx="491706" cy="345057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36508" y="5681577"/>
            <a:ext cx="8761283" cy="9233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Home work</a:t>
            </a:r>
            <a:r>
              <a:rPr lang="zh-CN" altLang="en-US" dirty="0"/>
              <a:t>： </a:t>
            </a:r>
            <a:r>
              <a:rPr lang="en-US" altLang="zh-CN" dirty="0"/>
              <a:t>finishing the derivation of </a:t>
            </a:r>
            <a:r>
              <a:rPr lang="el-GR" altLang="zh-CN" dirty="0"/>
              <a:t>η</a:t>
            </a:r>
            <a:r>
              <a:rPr lang="en-US" altLang="zh-CN" baseline="-25000" dirty="0"/>
              <a:t>max </a:t>
            </a:r>
            <a:r>
              <a:rPr lang="en-US" altLang="zh-CN" dirty="0"/>
              <a:t>for a thermoelectric generator, and thinking about whether the Joule heat term in the Qc could be less than ½ I</a:t>
            </a:r>
            <a:r>
              <a:rPr lang="en-US" altLang="zh-CN" baseline="30000" dirty="0"/>
              <a:t>2</a:t>
            </a:r>
            <a:r>
              <a:rPr lang="en-US" altLang="zh-CN" dirty="0"/>
              <a:t>R, </a:t>
            </a:r>
          </a:p>
          <a:p>
            <a:r>
              <a:rPr lang="en-US" altLang="zh-CN" dirty="0"/>
              <a:t>if possible how to achieve it, if not why?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997294" y="3047645"/>
            <a:ext cx="15087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Figure of merit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0458303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7423" y="1007737"/>
            <a:ext cx="1477628" cy="684491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</p:pic>
      <p:pic>
        <p:nvPicPr>
          <p:cNvPr id="27" name="Picture 7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8829" flipH="1" flipV="1">
            <a:off x="1840921" y="3319278"/>
            <a:ext cx="514000" cy="7186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5901" y="3951134"/>
            <a:ext cx="1477628" cy="684491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1155751" y="140621"/>
            <a:ext cx="4038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Efficiency of TEC</a:t>
            </a:r>
            <a:endParaRPr lang="zh-CN" altLang="en-US" sz="3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1066530" y="2122202"/>
            <a:ext cx="2053728" cy="239111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1066530" y="2361313"/>
            <a:ext cx="716287" cy="1242848"/>
          </a:xfrm>
          <a:prstGeom prst="roundRect">
            <a:avLst>
              <a:gd name="adj" fmla="val 5662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2430517" y="2381020"/>
            <a:ext cx="689741" cy="1242848"/>
          </a:xfrm>
          <a:prstGeom prst="roundRect">
            <a:avLst>
              <a:gd name="adj" fmla="val 667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563617" y="3598907"/>
            <a:ext cx="1219200" cy="239110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2209800" y="5032991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W</a:t>
            </a:r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1271426" y="279807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/>
              <a:t>p</a:t>
            </a:r>
            <a:endParaRPr lang="zh-CN" altLang="en-US" i="1" dirty="0"/>
          </a:p>
        </p:txBody>
      </p:sp>
      <p:sp>
        <p:nvSpPr>
          <p:cNvPr id="21" name="TextBox 20"/>
          <p:cNvSpPr txBox="1"/>
          <p:nvPr/>
        </p:nvSpPr>
        <p:spPr>
          <a:xfrm>
            <a:off x="2622140" y="2817778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/>
              <a:t>n</a:t>
            </a:r>
            <a:endParaRPr lang="zh-CN" altLang="en-US" i="1" dirty="0"/>
          </a:p>
        </p:txBody>
      </p:sp>
      <p:pic>
        <p:nvPicPr>
          <p:cNvPr id="23" name="Picture 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867912" flipV="1">
            <a:off x="1775515" y="1595323"/>
            <a:ext cx="393391" cy="6482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" name="TextBox 23"/>
          <p:cNvSpPr txBox="1"/>
          <p:nvPr/>
        </p:nvSpPr>
        <p:spPr>
          <a:xfrm>
            <a:off x="1429055" y="3994716"/>
            <a:ext cx="405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Q</a:t>
            </a:r>
            <a:r>
              <a:rPr lang="en-US" altLang="zh-CN" baseline="-25000" dirty="0"/>
              <a:t>c</a:t>
            </a:r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253459" y="1486645"/>
            <a:ext cx="420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Q</a:t>
            </a:r>
            <a:r>
              <a:rPr lang="en-US" altLang="zh-CN" baseline="-25000" dirty="0" err="1"/>
              <a:t>h</a:t>
            </a:r>
            <a:endParaRPr lang="zh-CN" altLang="en-US" dirty="0"/>
          </a:p>
        </p:txBody>
      </p:sp>
      <p:cxnSp>
        <p:nvCxnSpPr>
          <p:cNvPr id="30" name="直接箭头连接符 29"/>
          <p:cNvCxnSpPr/>
          <p:nvPr/>
        </p:nvCxnSpPr>
        <p:spPr>
          <a:xfrm flipH="1">
            <a:off x="731505" y="4824042"/>
            <a:ext cx="57092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34222" y="4532113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/>
              <a:t>I</a:t>
            </a:r>
            <a:endParaRPr lang="zh-CN" altLang="en-US" i="1" dirty="0"/>
          </a:p>
        </p:txBody>
      </p:sp>
      <p:sp>
        <p:nvSpPr>
          <p:cNvPr id="2" name="任意多边形 1"/>
          <p:cNvSpPr/>
          <p:nvPr/>
        </p:nvSpPr>
        <p:spPr>
          <a:xfrm>
            <a:off x="238125" y="3712831"/>
            <a:ext cx="1685925" cy="1257300"/>
          </a:xfrm>
          <a:custGeom>
            <a:avLst/>
            <a:gdLst>
              <a:gd name="connsiteX0" fmla="*/ 314325 w 1685925"/>
              <a:gd name="connsiteY0" fmla="*/ 0 h 1257300"/>
              <a:gd name="connsiteX1" fmla="*/ 314325 w 1685925"/>
              <a:gd name="connsiteY1" fmla="*/ 0 h 1257300"/>
              <a:gd name="connsiteX2" fmla="*/ 19050 w 1685925"/>
              <a:gd name="connsiteY2" fmla="*/ 9525 h 1257300"/>
              <a:gd name="connsiteX3" fmla="*/ 0 w 1685925"/>
              <a:gd name="connsiteY3" fmla="*/ 1257300 h 1257300"/>
              <a:gd name="connsiteX4" fmla="*/ 1685925 w 1685925"/>
              <a:gd name="connsiteY4" fmla="*/ 1257300 h 1257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85925" h="1257300">
                <a:moveTo>
                  <a:pt x="314325" y="0"/>
                </a:moveTo>
                <a:lnTo>
                  <a:pt x="314325" y="0"/>
                </a:lnTo>
                <a:lnTo>
                  <a:pt x="19050" y="9525"/>
                </a:lnTo>
                <a:lnTo>
                  <a:pt x="0" y="1257300"/>
                </a:lnTo>
                <a:lnTo>
                  <a:pt x="1685925" y="125730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任意多边形 31"/>
          <p:cNvSpPr/>
          <p:nvPr/>
        </p:nvSpPr>
        <p:spPr>
          <a:xfrm flipH="1">
            <a:off x="2124075" y="3789031"/>
            <a:ext cx="1885950" cy="1181100"/>
          </a:xfrm>
          <a:custGeom>
            <a:avLst/>
            <a:gdLst>
              <a:gd name="connsiteX0" fmla="*/ 314325 w 1685925"/>
              <a:gd name="connsiteY0" fmla="*/ 0 h 1257300"/>
              <a:gd name="connsiteX1" fmla="*/ 314325 w 1685925"/>
              <a:gd name="connsiteY1" fmla="*/ 0 h 1257300"/>
              <a:gd name="connsiteX2" fmla="*/ 19050 w 1685925"/>
              <a:gd name="connsiteY2" fmla="*/ 9525 h 1257300"/>
              <a:gd name="connsiteX3" fmla="*/ 0 w 1685925"/>
              <a:gd name="connsiteY3" fmla="*/ 1257300 h 1257300"/>
              <a:gd name="connsiteX4" fmla="*/ 1685925 w 1685925"/>
              <a:gd name="connsiteY4" fmla="*/ 1257300 h 1257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85925" h="1257300">
                <a:moveTo>
                  <a:pt x="314325" y="0"/>
                </a:moveTo>
                <a:lnTo>
                  <a:pt x="314325" y="0"/>
                </a:lnTo>
                <a:lnTo>
                  <a:pt x="19050" y="9525"/>
                </a:lnTo>
                <a:lnTo>
                  <a:pt x="0" y="1257300"/>
                </a:lnTo>
                <a:lnTo>
                  <a:pt x="1685925" y="125730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5" name="直接连接符 34"/>
          <p:cNvCxnSpPr/>
          <p:nvPr/>
        </p:nvCxnSpPr>
        <p:spPr>
          <a:xfrm>
            <a:off x="1928234" y="4783872"/>
            <a:ext cx="0" cy="33165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2124075" y="4853071"/>
            <a:ext cx="0" cy="1932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/>
          <p:nvPr/>
        </p:nvCxnSpPr>
        <p:spPr>
          <a:xfrm flipH="1" flipV="1">
            <a:off x="2362200" y="4801763"/>
            <a:ext cx="250909" cy="3074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053404" y="4032449"/>
            <a:ext cx="9652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/>
              <a:t>Refrigerator </a:t>
            </a:r>
          </a:p>
          <a:p>
            <a:pPr algn="ctr"/>
            <a:r>
              <a:rPr lang="en-US" altLang="zh-CN" sz="1200" dirty="0"/>
              <a:t>Space, </a:t>
            </a:r>
            <a:r>
              <a:rPr lang="en-US" altLang="zh-CN" sz="1200" dirty="0" err="1"/>
              <a:t>Tc</a:t>
            </a:r>
            <a:endParaRPr lang="zh-CN" altLang="en-US" sz="1200" dirty="0"/>
          </a:p>
        </p:txBody>
      </p:sp>
      <p:sp>
        <p:nvSpPr>
          <p:cNvPr id="47" name="TextBox 46"/>
          <p:cNvSpPr txBox="1"/>
          <p:nvPr/>
        </p:nvSpPr>
        <p:spPr>
          <a:xfrm>
            <a:off x="1782817" y="1119149"/>
            <a:ext cx="14668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Warm</a:t>
            </a:r>
          </a:p>
          <a:p>
            <a:pPr algn="ctr"/>
            <a:r>
              <a:rPr lang="en-US" altLang="zh-CN" sz="1200" dirty="0"/>
              <a:t>Environment, </a:t>
            </a:r>
            <a:r>
              <a:rPr lang="en-US" altLang="zh-CN" sz="1200" dirty="0" err="1"/>
              <a:t>Th</a:t>
            </a:r>
            <a:endParaRPr lang="zh-CN" altLang="en-US" sz="1200" dirty="0"/>
          </a:p>
        </p:txBody>
      </p:sp>
      <p:sp>
        <p:nvSpPr>
          <p:cNvPr id="48" name="圆角矩形 47"/>
          <p:cNvSpPr/>
          <p:nvPr/>
        </p:nvSpPr>
        <p:spPr>
          <a:xfrm>
            <a:off x="152400" y="5490191"/>
            <a:ext cx="3949262" cy="9906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TextBox 49"/>
          <p:cNvSpPr txBox="1"/>
          <p:nvPr/>
        </p:nvSpPr>
        <p:spPr>
          <a:xfrm>
            <a:off x="309780" y="5718791"/>
            <a:ext cx="19762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itchFamily="34" charset="0"/>
                <a:cs typeface="Arial" pitchFamily="34" charset="0"/>
              </a:rPr>
              <a:t>COP of TEC</a:t>
            </a:r>
            <a:endParaRPr lang="zh-CN" altLang="en-US" sz="2400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1" name="对象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6800888"/>
              </p:ext>
            </p:extLst>
          </p:nvPr>
        </p:nvGraphicFramePr>
        <p:xfrm>
          <a:off x="2665413" y="5510829"/>
          <a:ext cx="968375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82400" imgH="393480" progId="Equation.DSMT4">
                  <p:embed/>
                </p:oleObj>
              </mc:Choice>
              <mc:Fallback>
                <p:oleObj name="Equation" r:id="rId4" imgW="482400" imgH="393480" progId="Equation.DSMT4">
                  <p:embed/>
                  <p:pic>
                    <p:nvPicPr>
                      <p:cNvPr id="51" name="对象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5413" y="5510829"/>
                        <a:ext cx="968375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对象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1105075"/>
              </p:ext>
            </p:extLst>
          </p:nvPr>
        </p:nvGraphicFramePr>
        <p:xfrm>
          <a:off x="4223649" y="1213813"/>
          <a:ext cx="2699229" cy="52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84200" imgH="241200" progId="Equation.DSMT4">
                  <p:embed/>
                </p:oleObj>
              </mc:Choice>
              <mc:Fallback>
                <p:oleObj name="Equation" r:id="rId6" imgW="1384200" imgH="241200" progId="Equation.DSMT4">
                  <p:embed/>
                  <p:pic>
                    <p:nvPicPr>
                      <p:cNvPr id="52" name="对象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3649" y="1213813"/>
                        <a:ext cx="2699229" cy="52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对象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595667"/>
              </p:ext>
            </p:extLst>
          </p:nvPr>
        </p:nvGraphicFramePr>
        <p:xfrm>
          <a:off x="4243441" y="2356748"/>
          <a:ext cx="3214275" cy="7379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92160" imgH="393480" progId="Equation.DSMT4">
                  <p:embed/>
                </p:oleObj>
              </mc:Choice>
              <mc:Fallback>
                <p:oleObj name="Equation" r:id="rId8" imgW="1892160" imgH="393480" progId="Equation.DSMT4">
                  <p:embed/>
                  <p:pic>
                    <p:nvPicPr>
                      <p:cNvPr id="53" name="对象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3441" y="2356748"/>
                        <a:ext cx="3214275" cy="7379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对象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7874662"/>
              </p:ext>
            </p:extLst>
          </p:nvPr>
        </p:nvGraphicFramePr>
        <p:xfrm>
          <a:off x="4242430" y="1740196"/>
          <a:ext cx="2887482" cy="6722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866600" imgH="393480" progId="Equation.DSMT4">
                  <p:embed/>
                </p:oleObj>
              </mc:Choice>
              <mc:Fallback>
                <p:oleObj name="Equation" r:id="rId10" imgW="1866600" imgH="393480" progId="Equation.DSMT4">
                  <p:embed/>
                  <p:pic>
                    <p:nvPicPr>
                      <p:cNvPr id="54" name="对象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2430" y="1740196"/>
                        <a:ext cx="2887482" cy="6722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对象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5073165"/>
              </p:ext>
            </p:extLst>
          </p:nvPr>
        </p:nvGraphicFramePr>
        <p:xfrm>
          <a:off x="4502150" y="3444721"/>
          <a:ext cx="3698875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438280" imgH="609480" progId="Equation.DSMT4">
                  <p:embed/>
                </p:oleObj>
              </mc:Choice>
              <mc:Fallback>
                <p:oleObj name="Equation" r:id="rId12" imgW="2438280" imgH="609480" progId="Equation.DSMT4">
                  <p:embed/>
                  <p:pic>
                    <p:nvPicPr>
                      <p:cNvPr id="55" name="对象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2150" y="3444721"/>
                        <a:ext cx="3698875" cy="101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对象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7726974"/>
              </p:ext>
            </p:extLst>
          </p:nvPr>
        </p:nvGraphicFramePr>
        <p:xfrm>
          <a:off x="5137485" y="555547"/>
          <a:ext cx="1662112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74360" imgH="228600" progId="Equation.DSMT4">
                  <p:embed/>
                </p:oleObj>
              </mc:Choice>
              <mc:Fallback>
                <p:oleObj name="Equation" r:id="rId14" imgW="774360" imgH="228600" progId="Equation.DSMT4">
                  <p:embed/>
                  <p:pic>
                    <p:nvPicPr>
                      <p:cNvPr id="56" name="对象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7485" y="555547"/>
                        <a:ext cx="1662112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圆角矩形 56"/>
          <p:cNvSpPr/>
          <p:nvPr/>
        </p:nvSpPr>
        <p:spPr>
          <a:xfrm>
            <a:off x="4010025" y="1119149"/>
            <a:ext cx="4191000" cy="1964119"/>
          </a:xfrm>
          <a:prstGeom prst="roundRect">
            <a:avLst>
              <a:gd name="adj" fmla="val 8547"/>
            </a:avLst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58" name="对象 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02673"/>
              </p:ext>
            </p:extLst>
          </p:nvPr>
        </p:nvGraphicFramePr>
        <p:xfrm>
          <a:off x="4520241" y="4682700"/>
          <a:ext cx="3302000" cy="13823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790640" imgH="685800" progId="Equation.DSMT4">
                  <p:embed/>
                </p:oleObj>
              </mc:Choice>
              <mc:Fallback>
                <p:oleObj name="Equation" r:id="rId16" imgW="1790640" imgH="685800" progId="Equation.DSMT4">
                  <p:embed/>
                  <p:pic>
                    <p:nvPicPr>
                      <p:cNvPr id="58" name="对象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0241" y="4682700"/>
                        <a:ext cx="3302000" cy="13823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圆角矩形 35"/>
          <p:cNvSpPr/>
          <p:nvPr/>
        </p:nvSpPr>
        <p:spPr>
          <a:xfrm>
            <a:off x="2443259" y="3604847"/>
            <a:ext cx="1219200" cy="239110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411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12*. TEG of a real device</a:t>
            </a:r>
            <a:br>
              <a:rPr lang="en-US" altLang="zh-CN" sz="2800" dirty="0">
                <a:solidFill>
                  <a:srgbClr val="FF0000"/>
                </a:solidFill>
              </a:rPr>
            </a:br>
            <a:r>
              <a:rPr lang="en-US" altLang="zh-CN" sz="2800" dirty="0">
                <a:solidFill>
                  <a:srgbClr val="FF0000"/>
                </a:solidFill>
              </a:rPr>
              <a:t>      </a:t>
            </a:r>
            <a:r>
              <a:rPr lang="en-US" altLang="zh-CN" sz="2400" dirty="0"/>
              <a:t>Considering </a:t>
            </a:r>
            <a:r>
              <a:rPr lang="zh-CN" altLang="en-US" sz="2400" dirty="0"/>
              <a:t> </a:t>
            </a:r>
            <a:r>
              <a:rPr lang="en-US" altLang="zh-CN" sz="2400" dirty="0"/>
              <a:t>T –dependent properties 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7197265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75" y="973440"/>
            <a:ext cx="2911799" cy="2668482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1375" y="973440"/>
            <a:ext cx="3482626" cy="277567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0196" y="1070271"/>
            <a:ext cx="2781205" cy="2474820"/>
          </a:xfrm>
          <a:prstGeom prst="rect">
            <a:avLst/>
          </a:prstGeom>
        </p:spPr>
      </p:pic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4446600" y="4296235"/>
          <a:ext cx="1211263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36560" imgH="241200" progId="Equation.DSMT4">
                  <p:embed/>
                </p:oleObj>
              </mc:Choice>
              <mc:Fallback>
                <p:oleObj name="Equation" r:id="rId5" imgW="736560" imgH="241200" progId="Equation.DSMT4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6600" y="4296235"/>
                        <a:ext cx="1211263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4532325" y="4677235"/>
          <a:ext cx="3111500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892160" imgH="393480" progId="Equation.DSMT4">
                  <p:embed/>
                </p:oleObj>
              </mc:Choice>
              <mc:Fallback>
                <p:oleObj name="Equation" r:id="rId7" imgW="1892160" imgH="393480" progId="Equation.DSMT4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2325" y="4677235"/>
                        <a:ext cx="3111500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4533913" y="5334460"/>
          <a:ext cx="3068637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866600" imgH="393480" progId="Equation.DSMT4">
                  <p:embed/>
                </p:oleObj>
              </mc:Choice>
              <mc:Fallback>
                <p:oleObj name="Equation" r:id="rId9" imgW="1866600" imgH="39348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3913" y="5334460"/>
                        <a:ext cx="3068637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圆角矩形 8"/>
          <p:cNvSpPr/>
          <p:nvPr/>
        </p:nvSpPr>
        <p:spPr>
          <a:xfrm>
            <a:off x="4218000" y="4140515"/>
            <a:ext cx="4191000" cy="1851170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9152" y="4210721"/>
            <a:ext cx="1681486" cy="1945249"/>
          </a:xfrm>
          <a:prstGeom prst="rect">
            <a:avLst/>
          </a:prstGeom>
        </p:spPr>
      </p:pic>
      <p:sp>
        <p:nvSpPr>
          <p:cNvPr id="33" name="矩形 32"/>
          <p:cNvSpPr/>
          <p:nvPr/>
        </p:nvSpPr>
        <p:spPr>
          <a:xfrm>
            <a:off x="1018536" y="140965"/>
            <a:ext cx="42713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T –dependent thermoelectric properties 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0773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7">
            <a:extLst>
              <a:ext uri="{FF2B5EF4-FFF2-40B4-BE49-F238E27FC236}">
                <a16:creationId xmlns:a16="http://schemas.microsoft.com/office/drawing/2014/main" id="{5DA77F6D-5D32-48CF-9356-58EAEADE6586}"/>
              </a:ext>
            </a:extLst>
          </p:cNvPr>
          <p:cNvSpPr txBox="1"/>
          <p:nvPr/>
        </p:nvSpPr>
        <p:spPr>
          <a:xfrm>
            <a:off x="136470" y="3279660"/>
            <a:ext cx="57777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itchFamily="34" charset="0"/>
                <a:cs typeface="Arial" pitchFamily="34" charset="0"/>
              </a:rPr>
              <a:t>Continuity equation of charge:</a:t>
            </a:r>
            <a:endParaRPr lang="en-US" altLang="zh-CN" sz="2000" dirty="0">
              <a:cs typeface="Times New Roman" panose="02020603050405020304" pitchFamily="18" charset="0"/>
            </a:endParaRPr>
          </a:p>
        </p:txBody>
      </p:sp>
      <p:sp>
        <p:nvSpPr>
          <p:cNvPr id="29" name="TextBox 7">
            <a:extLst>
              <a:ext uri="{FF2B5EF4-FFF2-40B4-BE49-F238E27FC236}">
                <a16:creationId xmlns:a16="http://schemas.microsoft.com/office/drawing/2014/main" id="{22A4F654-8A54-4E01-8CC1-90D88FE6E96C}"/>
              </a:ext>
            </a:extLst>
          </p:cNvPr>
          <p:cNvSpPr txBox="1"/>
          <p:nvPr/>
        </p:nvSpPr>
        <p:spPr>
          <a:xfrm>
            <a:off x="136470" y="2277906"/>
            <a:ext cx="57777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itchFamily="34" charset="0"/>
                <a:cs typeface="Arial" pitchFamily="34" charset="0"/>
              </a:rPr>
              <a:t>Current density:</a:t>
            </a:r>
            <a:endParaRPr lang="en-US" altLang="zh-CN" sz="2000" dirty="0">
              <a:cs typeface="Times New Roman" panose="02020603050405020304" pitchFamily="18" charset="0"/>
            </a:endParaRPr>
          </a:p>
        </p:txBody>
      </p:sp>
      <p:sp>
        <p:nvSpPr>
          <p:cNvPr id="30" name="TextBox 7">
            <a:extLst>
              <a:ext uri="{FF2B5EF4-FFF2-40B4-BE49-F238E27FC236}">
                <a16:creationId xmlns:a16="http://schemas.microsoft.com/office/drawing/2014/main" id="{C060ACD4-986F-4113-98AB-A1E6598F0EC1}"/>
              </a:ext>
            </a:extLst>
          </p:cNvPr>
          <p:cNvSpPr txBox="1"/>
          <p:nvPr/>
        </p:nvSpPr>
        <p:spPr>
          <a:xfrm>
            <a:off x="136470" y="2780340"/>
            <a:ext cx="57777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itchFamily="34" charset="0"/>
                <a:cs typeface="Arial" pitchFamily="34" charset="0"/>
              </a:rPr>
              <a:t>Heat flux:</a:t>
            </a:r>
            <a:endParaRPr lang="en-US" altLang="zh-CN" sz="2000" dirty="0"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6470" y="72935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itchFamily="34" charset="0"/>
                <a:cs typeface="Arial" pitchFamily="34" charset="0"/>
              </a:rPr>
              <a:t>What if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S, </a:t>
            </a:r>
            <a:r>
              <a:rPr lang="el-GR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l-GR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κ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cs typeface="Times New Roman" panose="02020603050405020304" pitchFamily="18" charset="0"/>
              </a:rPr>
              <a:t>are </a:t>
            </a:r>
            <a:r>
              <a:rPr lang="en-US" altLang="zh-CN" sz="2000" dirty="0">
                <a:solidFill>
                  <a:srgbClr val="FF0000"/>
                </a:solidFill>
                <a:cs typeface="Times New Roman" panose="02020603050405020304" pitchFamily="18" charset="0"/>
              </a:rPr>
              <a:t>temperature dependent</a:t>
            </a:r>
            <a:r>
              <a:rPr lang="en-US" altLang="zh-CN" sz="2000" dirty="0">
                <a:cs typeface="Times New Roman" panose="02020603050405020304" pitchFamily="18" charset="0"/>
              </a:rPr>
              <a:t> (common case for most materials)?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DED9079-E28D-4E5F-A26B-E7A7854A4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952" y="1429841"/>
            <a:ext cx="3466567" cy="2520000"/>
          </a:xfrm>
          <a:prstGeom prst="rect">
            <a:avLst/>
          </a:prstGeom>
        </p:spPr>
      </p:pic>
      <p:sp>
        <p:nvSpPr>
          <p:cNvPr id="25" name="TextBox 7">
            <a:extLst>
              <a:ext uri="{FF2B5EF4-FFF2-40B4-BE49-F238E27FC236}">
                <a16:creationId xmlns:a16="http://schemas.microsoft.com/office/drawing/2014/main" id="{B04190A0-3550-462B-B4D5-F68F0FC3C6CE}"/>
              </a:ext>
            </a:extLst>
          </p:cNvPr>
          <p:cNvSpPr txBox="1"/>
          <p:nvPr/>
        </p:nvSpPr>
        <p:spPr>
          <a:xfrm>
            <a:off x="136470" y="1233500"/>
            <a:ext cx="57777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itchFamily="34" charset="0"/>
                <a:cs typeface="Arial" pitchFamily="34" charset="0"/>
              </a:rPr>
              <a:t>To answer this question, go back to the </a:t>
            </a:r>
            <a:r>
              <a:rPr lang="en-US" altLang="zh-CN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governing equation </a:t>
            </a:r>
            <a:r>
              <a:rPr lang="en-US" altLang="zh-CN" sz="2000" dirty="0">
                <a:latin typeface="Arial" pitchFamily="34" charset="0"/>
                <a:cs typeface="Arial" pitchFamily="34" charset="0"/>
              </a:rPr>
              <a:t>of the thermal-electric transport phenomenon</a:t>
            </a:r>
            <a:endParaRPr lang="en-US" altLang="zh-CN" sz="2000" dirty="0"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013117ED-A86E-4327-BBD8-61663B86A9F3}"/>
                  </a:ext>
                </a:extLst>
              </p:cNvPr>
              <p:cNvSpPr/>
              <p:nvPr/>
            </p:nvSpPr>
            <p:spPr>
              <a:xfrm>
                <a:off x="2150232" y="2293711"/>
                <a:ext cx="1580817" cy="3684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⃑"/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</m:acc>
                      <m:r>
                        <a:rPr lang="zh-CN" altLang="en-US" sz="16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1600" i="1">
                          <a:latin typeface="Cambria Math" panose="02040503050406030204" pitchFamily="18" charset="0"/>
                        </a:rPr>
                        <m:t>𝜎</m:t>
                      </m:r>
                      <m:acc>
                        <m:accPr>
                          <m:chr m:val="⃑"/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  <m:r>
                        <a:rPr lang="zh-CN" altLang="en-US" sz="160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1600" i="1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zh-CN" altLang="en-US" sz="16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zh-CN" altLang="en-US" sz="1600" i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zh-CN" altLang="en-US" sz="1600" i="1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013117ED-A86E-4327-BBD8-61663B86A9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0232" y="2293711"/>
                <a:ext cx="1580817" cy="368499"/>
              </a:xfrm>
              <a:prstGeom prst="rect">
                <a:avLst/>
              </a:prstGeom>
              <a:blipFill>
                <a:blip r:embed="rId3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9255AB60-A0F5-4C2B-A6DD-EE62B8850313}"/>
                  </a:ext>
                </a:extLst>
              </p:cNvPr>
              <p:cNvSpPr/>
              <p:nvPr/>
            </p:nvSpPr>
            <p:spPr>
              <a:xfrm>
                <a:off x="1632136" y="2767421"/>
                <a:ext cx="1554336" cy="3684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⃑"/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zh-CN" altLang="en-US" sz="16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1600" i="1">
                          <a:latin typeface="Cambria Math" panose="02040503050406030204" pitchFamily="18" charset="0"/>
                        </a:rPr>
                        <m:t>𝑆𝑇</m:t>
                      </m:r>
                      <m:acc>
                        <m:accPr>
                          <m:chr m:val="⃑"/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</m:acc>
                      <m:r>
                        <a:rPr lang="zh-CN" altLang="en-US" sz="160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1600" i="1">
                          <a:latin typeface="Cambria Math" panose="02040503050406030204" pitchFamily="18" charset="0"/>
                        </a:rPr>
                        <m:t>𝜅</m:t>
                      </m:r>
                      <m:r>
                        <a:rPr lang="zh-CN" altLang="en-US" sz="1600" i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zh-CN" altLang="en-US" sz="1600" i="1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9255AB60-A0F5-4C2B-A6DD-EE62B88503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2136" y="2767421"/>
                <a:ext cx="1554336" cy="368499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89AE14B8-9B24-46DD-B01F-668834348E99}"/>
                  </a:ext>
                </a:extLst>
              </p:cNvPr>
              <p:cNvSpPr/>
              <p:nvPr/>
            </p:nvSpPr>
            <p:spPr>
              <a:xfrm>
                <a:off x="3731049" y="3279660"/>
                <a:ext cx="977383" cy="3684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60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zh-CN" altLang="en-US" sz="1600" i="0">
                          <a:latin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⃑"/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</m:acc>
                      <m:r>
                        <a:rPr lang="zh-CN" altLang="en-US" sz="1600" i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89AE14B8-9B24-46DD-B01F-668834348E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1049" y="3279660"/>
                <a:ext cx="977383" cy="368499"/>
              </a:xfrm>
              <a:prstGeom prst="rect">
                <a:avLst/>
              </a:prstGeom>
              <a:blipFill>
                <a:blip r:embed="rId5"/>
                <a:stretch>
                  <a:fillRect b="-1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7">
            <a:extLst>
              <a:ext uri="{FF2B5EF4-FFF2-40B4-BE49-F238E27FC236}">
                <a16:creationId xmlns:a16="http://schemas.microsoft.com/office/drawing/2014/main" id="{2B86F05A-3B67-4016-9F21-D2F967814B9C}"/>
              </a:ext>
            </a:extLst>
          </p:cNvPr>
          <p:cNvSpPr txBox="1"/>
          <p:nvPr/>
        </p:nvSpPr>
        <p:spPr>
          <a:xfrm>
            <a:off x="136470" y="3778980"/>
            <a:ext cx="57777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itchFamily="34" charset="0"/>
                <a:cs typeface="Arial" pitchFamily="34" charset="0"/>
              </a:rPr>
              <a:t>Energy conservation equation:</a:t>
            </a:r>
            <a:endParaRPr lang="en-US" altLang="zh-CN" sz="2000" dirty="0"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6C8EBA41-F3B7-4B6D-B840-9162F1F80480}"/>
                  </a:ext>
                </a:extLst>
              </p:cNvPr>
              <p:cNvSpPr/>
              <p:nvPr/>
            </p:nvSpPr>
            <p:spPr>
              <a:xfrm>
                <a:off x="3731049" y="3778980"/>
                <a:ext cx="1265539" cy="3684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60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zh-CN" altLang="en-US" sz="1600" i="0">
                          <a:latin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⃑"/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zh-CN" altLang="en-US" sz="1600" i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⃑"/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</m:acc>
                      <m:r>
                        <a:rPr lang="zh-CN" altLang="en-US" sz="1600" i="0">
                          <a:latin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⃑"/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6C8EBA41-F3B7-4B6D-B840-9162F1F804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1049" y="3778980"/>
                <a:ext cx="1265539" cy="368499"/>
              </a:xfrm>
              <a:prstGeom prst="rect">
                <a:avLst/>
              </a:prstGeom>
              <a:blipFill>
                <a:blip r:embed="rId6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3CF13495-5B33-4B61-8D27-25E3444ADE7D}"/>
                  </a:ext>
                </a:extLst>
              </p:cNvPr>
              <p:cNvSpPr/>
              <p:nvPr/>
            </p:nvSpPr>
            <p:spPr>
              <a:xfrm>
                <a:off x="136470" y="4303380"/>
                <a:ext cx="2499274" cy="6455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60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zh-CN" altLang="en-US" sz="1600" i="0">
                          <a:latin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⃑"/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zh-CN" altLang="en-US" sz="16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600" i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zh-CN" altLang="en-US" sz="1600" i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d>
                        <m:dPr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6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𝜅</m:t>
                          </m:r>
                          <m:f>
                            <m:fPr>
                              <m:ctrlP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600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r>
                                <a:rPr lang="zh-CN" altLang="en-US" sz="1600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  <m:r>
                            <a:rPr lang="zh-CN" altLang="en-US" sz="16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𝑆𝑇𝐽</m:t>
                          </m:r>
                        </m:e>
                      </m:d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3CF13495-5B33-4B61-8D27-25E3444ADE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470" y="4303380"/>
                <a:ext cx="2499274" cy="64556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5483FA27-9849-42CF-B6C1-FD5B0B7600E2}"/>
                  </a:ext>
                </a:extLst>
              </p:cNvPr>
              <p:cNvSpPr/>
              <p:nvPr/>
            </p:nvSpPr>
            <p:spPr>
              <a:xfrm>
                <a:off x="3909407" y="4303380"/>
                <a:ext cx="3349699" cy="6505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⃑"/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</m:acc>
                      <m:r>
                        <a:rPr lang="zh-CN" altLang="en-US" sz="1600" i="0">
                          <a:latin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⃑"/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  <m:r>
                        <a:rPr lang="zh-CN" altLang="en-US" sz="1600" i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⃑"/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</m:acc>
                      <m:r>
                        <a:rPr lang="zh-CN" altLang="en-US" sz="1600" i="0">
                          <a:latin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6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den>
                          </m:f>
                          <m:acc>
                            <m:accPr>
                              <m:chr m:val="⃑"/>
                              <m:ctrlP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</m:acc>
                          <m:r>
                            <a:rPr lang="zh-CN" altLang="en-US" sz="16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zh-CN" altLang="en-US" sz="1600" i="0">
                              <a:latin typeface="Cambria Math" panose="02040503050406030204" pitchFamily="18" charset="0"/>
                            </a:rPr>
                            <m:t>𝛻</m:t>
                          </m:r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zh-CN" altLang="en-US" sz="16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  <m:r>
                        <a:rPr lang="zh-CN" altLang="en-US" sz="16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1600" i="1">
                          <a:latin typeface="Cambria Math" panose="02040503050406030204" pitchFamily="18" charset="0"/>
                        </a:rPr>
                        <m:t>𝑆𝐽</m:t>
                      </m:r>
                      <m:f>
                        <m:fPr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600" i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zh-CN" altLang="en-US" sz="1600" i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5483FA27-9849-42CF-B6C1-FD5B0B7600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9407" y="4303380"/>
                <a:ext cx="3349699" cy="65056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箭头: 左右 10">
            <a:extLst>
              <a:ext uri="{FF2B5EF4-FFF2-40B4-BE49-F238E27FC236}">
                <a16:creationId xmlns:a16="http://schemas.microsoft.com/office/drawing/2014/main" id="{0C203E78-884E-4DB8-8069-D1CFD178B617}"/>
              </a:ext>
            </a:extLst>
          </p:cNvPr>
          <p:cNvSpPr/>
          <p:nvPr/>
        </p:nvSpPr>
        <p:spPr>
          <a:xfrm>
            <a:off x="2947624" y="4496131"/>
            <a:ext cx="587230" cy="260058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68D98C5C-482B-4ABA-B922-9044E4C9266C}"/>
                  </a:ext>
                </a:extLst>
              </p:cNvPr>
              <p:cNvSpPr/>
              <p:nvPr/>
            </p:nvSpPr>
            <p:spPr>
              <a:xfrm>
                <a:off x="136470" y="5079854"/>
                <a:ext cx="3050002" cy="6455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60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zh-CN" altLang="en-US" sz="1600" i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d>
                        <m:dPr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6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𝜅</m:t>
                          </m:r>
                          <m:f>
                            <m:fPr>
                              <m:ctrlP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600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r>
                                <a:rPr lang="zh-CN" altLang="en-US" sz="1600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  <m:r>
                            <a:rPr lang="zh-CN" altLang="en-US" sz="16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𝑆𝑇𝐽</m:t>
                          </m:r>
                        </m:e>
                      </m:d>
                      <m:r>
                        <a:rPr lang="zh-CN" altLang="en-US" sz="16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  <m:r>
                        <a:rPr lang="zh-CN" altLang="en-US" sz="16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1600" i="1">
                          <a:latin typeface="Cambria Math" panose="02040503050406030204" pitchFamily="18" charset="0"/>
                        </a:rPr>
                        <m:t>𝑆𝐽</m:t>
                      </m:r>
                      <m:f>
                        <m:fPr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600" i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zh-CN" altLang="en-US" sz="1600" i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68D98C5C-482B-4ABA-B922-9044E4C926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470" y="5079854"/>
                <a:ext cx="3050002" cy="64556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箭头: 右 11">
            <a:extLst>
              <a:ext uri="{FF2B5EF4-FFF2-40B4-BE49-F238E27FC236}">
                <a16:creationId xmlns:a16="http://schemas.microsoft.com/office/drawing/2014/main" id="{025BC845-D7DA-49EA-B3DF-4EE4B72485DA}"/>
              </a:ext>
            </a:extLst>
          </p:cNvPr>
          <p:cNvSpPr/>
          <p:nvPr/>
        </p:nvSpPr>
        <p:spPr>
          <a:xfrm>
            <a:off x="3349622" y="5262057"/>
            <a:ext cx="511728" cy="2811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ECE01C61-B6E5-4922-B8C4-C978DADE0475}"/>
                  </a:ext>
                </a:extLst>
              </p:cNvPr>
              <p:cNvSpPr/>
              <p:nvPr/>
            </p:nvSpPr>
            <p:spPr>
              <a:xfrm>
                <a:off x="4005755" y="5079854"/>
                <a:ext cx="3470245" cy="650563"/>
              </a:xfrm>
              <a:prstGeom prst="rect">
                <a:avLst/>
              </a:prstGeom>
              <a:ln w="19050"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16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16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d>
                        <m:dPr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𝜅</m:t>
                          </m:r>
                          <m:d>
                            <m:dPr>
                              <m:ctrlP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f>
                            <m:fPr>
                              <m:ctrlP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altLang="zh-CN" sz="1600" b="0" i="0" smtClean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altLang="zh-CN" sz="1600" b="0" i="0" smtClean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  <m:r>
                        <a:rPr lang="zh-CN" altLang="en-US" sz="16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</m:den>
                      </m:f>
                      <m:r>
                        <a:rPr lang="zh-CN" altLang="en-US" sz="160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1600" i="1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zh-CN" altLang="en-US" sz="1600" i="1">
                          <a:latin typeface="Cambria Math" panose="02040503050406030204" pitchFamily="18" charset="0"/>
                        </a:rPr>
                        <m:t>𝜏</m:t>
                      </m:r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f>
                        <m:fPr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16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16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zh-CN" altLang="en-US" sz="1600" i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ECE01C61-B6E5-4922-B8C4-C978DADE04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5755" y="5079854"/>
                <a:ext cx="3470245" cy="65056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5130A60C-9245-4FF1-A81B-371AEE212500}"/>
                  </a:ext>
                </a:extLst>
              </p:cNvPr>
              <p:cNvSpPr/>
              <p:nvPr/>
            </p:nvSpPr>
            <p:spPr>
              <a:xfrm>
                <a:off x="7725304" y="5122650"/>
                <a:ext cx="1293239" cy="5702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60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𝑇</m:t>
                      </m:r>
                      <m:f>
                        <m:f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16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d>
                            <m:d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16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5130A60C-9245-4FF1-A81B-371AEE2125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5304" y="5122650"/>
                <a:ext cx="1293239" cy="57022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7">
            <a:extLst>
              <a:ext uri="{FF2B5EF4-FFF2-40B4-BE49-F238E27FC236}">
                <a16:creationId xmlns:a16="http://schemas.microsoft.com/office/drawing/2014/main" id="{CF79FFCB-DA7F-4A83-A594-EA6046348E7E}"/>
              </a:ext>
            </a:extLst>
          </p:cNvPr>
          <p:cNvSpPr txBox="1"/>
          <p:nvPr/>
        </p:nvSpPr>
        <p:spPr>
          <a:xfrm>
            <a:off x="4708432" y="5727184"/>
            <a:ext cx="43912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One dimensional governing equation</a:t>
            </a:r>
            <a:endParaRPr lang="en-US" altLang="zh-CN" sz="20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22" name="TextBox 9">
            <a:extLst>
              <a:ext uri="{FF2B5EF4-FFF2-40B4-BE49-F238E27FC236}">
                <a16:creationId xmlns:a16="http://schemas.microsoft.com/office/drawing/2014/main" id="{FC18895B-C288-4874-B2EE-54935754CA33}"/>
              </a:ext>
            </a:extLst>
          </p:cNvPr>
          <p:cNvSpPr txBox="1"/>
          <p:nvPr/>
        </p:nvSpPr>
        <p:spPr>
          <a:xfrm>
            <a:off x="944492" y="92512"/>
            <a:ext cx="7082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Efficiency of TEG– </a:t>
            </a:r>
            <a:r>
              <a:rPr lang="en-US" altLang="zh-CN" sz="2000" dirty="0">
                <a:latin typeface="Arial" pitchFamily="34" charset="0"/>
                <a:cs typeface="Arial" pitchFamily="34" charset="0"/>
              </a:rPr>
              <a:t>T dependent properties</a:t>
            </a:r>
            <a:endParaRPr lang="zh-CN" alt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4" name="Rectangle 39">
            <a:extLst>
              <a:ext uri="{FF2B5EF4-FFF2-40B4-BE49-F238E27FC236}">
                <a16:creationId xmlns:a16="http://schemas.microsoft.com/office/drawing/2014/main" id="{6DD38E4C-C503-4C22-8DC5-4B3A64A721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87" y="6180044"/>
            <a:ext cx="595560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en-US" i="1" dirty="0"/>
              <a:t>H.K. Kim, W. S. Liu, </a:t>
            </a:r>
            <a:r>
              <a:rPr lang="en-US" altLang="zh-CN" i="1" dirty="0"/>
              <a:t>Z.F. Ren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i="1" dirty="0"/>
              <a:t>PNAS</a:t>
            </a:r>
            <a:r>
              <a:rPr lang="en-US" altLang="zh-CN" dirty="0"/>
              <a:t> (</a:t>
            </a:r>
            <a:r>
              <a:rPr lang="en-US" altLang="en-US" dirty="0"/>
              <a:t>2015), </a:t>
            </a:r>
            <a:r>
              <a:rPr lang="en-US" altLang="zh-CN" i="1" dirty="0"/>
              <a:t>EES</a:t>
            </a:r>
            <a:r>
              <a:rPr lang="en-US" altLang="zh-CN" dirty="0"/>
              <a:t> (</a:t>
            </a:r>
            <a:r>
              <a:rPr lang="en-US" altLang="en-US" dirty="0"/>
              <a:t>2016)</a:t>
            </a:r>
            <a:endParaRPr lang="en-US" altLang="en-US" dirty="0">
              <a:ea typeface="宋体" pitchFamily="2" charset="-122"/>
            </a:endParaRPr>
          </a:p>
          <a:p>
            <a:endParaRPr lang="en-US" altLang="en-US" dirty="0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64855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ECE01C61-B6E5-4922-B8C4-C978DADE0475}"/>
                  </a:ext>
                </a:extLst>
              </p:cNvPr>
              <p:cNvSpPr/>
              <p:nvPr/>
            </p:nvSpPr>
            <p:spPr>
              <a:xfrm>
                <a:off x="314599" y="759524"/>
                <a:ext cx="3470245" cy="650563"/>
              </a:xfrm>
              <a:prstGeom prst="rect">
                <a:avLst/>
              </a:prstGeom>
              <a:ln w="19050"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16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16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d>
                        <m:dPr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𝜅</m:t>
                          </m:r>
                          <m:d>
                            <m:dPr>
                              <m:ctrlP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f>
                            <m:fPr>
                              <m:ctrlP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altLang="zh-CN" sz="1600" b="0" i="0" smtClean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altLang="zh-CN" sz="1600" b="0" i="0" smtClean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  <m:r>
                        <a:rPr lang="zh-CN" altLang="en-US" sz="16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</m:den>
                      </m:f>
                      <m:r>
                        <a:rPr lang="zh-CN" altLang="en-US" sz="160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1600" i="1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zh-CN" altLang="en-US" sz="1600" i="1">
                          <a:latin typeface="Cambria Math" panose="02040503050406030204" pitchFamily="18" charset="0"/>
                        </a:rPr>
                        <m:t>𝜏</m:t>
                      </m:r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f>
                        <m:fPr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16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16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zh-CN" altLang="en-US" sz="1600" i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ECE01C61-B6E5-4922-B8C4-C978DADE04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599" y="759524"/>
                <a:ext cx="3470245" cy="6505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箭头: 下 1">
            <a:extLst>
              <a:ext uri="{FF2B5EF4-FFF2-40B4-BE49-F238E27FC236}">
                <a16:creationId xmlns:a16="http://schemas.microsoft.com/office/drawing/2014/main" id="{313FF69F-14E3-4D32-9D0A-E70CFCABD842}"/>
              </a:ext>
            </a:extLst>
          </p:cNvPr>
          <p:cNvSpPr/>
          <p:nvPr/>
        </p:nvSpPr>
        <p:spPr>
          <a:xfrm>
            <a:off x="1786855" y="1560352"/>
            <a:ext cx="335560" cy="56206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TextBox 7">
            <a:extLst>
              <a:ext uri="{FF2B5EF4-FFF2-40B4-BE49-F238E27FC236}">
                <a16:creationId xmlns:a16="http://schemas.microsoft.com/office/drawing/2014/main" id="{8F4BD9AF-30B2-4EBA-97DF-5A9928819F04}"/>
              </a:ext>
            </a:extLst>
          </p:cNvPr>
          <p:cNvSpPr txBox="1"/>
          <p:nvPr/>
        </p:nvSpPr>
        <p:spPr>
          <a:xfrm>
            <a:off x="2122415" y="1560352"/>
            <a:ext cx="3137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itchFamily="34" charset="0"/>
                <a:cs typeface="Arial" pitchFamily="34" charset="0"/>
              </a:rPr>
              <a:t>For T independent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S, </a:t>
            </a:r>
            <a:r>
              <a:rPr lang="el-GR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l-GR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κ</a:t>
            </a:r>
            <a:endParaRPr lang="en-US" altLang="zh-CN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24B992E5-98CE-4F59-A393-FB7091F43AFE}"/>
                  </a:ext>
                </a:extLst>
              </p:cNvPr>
              <p:cNvSpPr/>
              <p:nvPr/>
            </p:nvSpPr>
            <p:spPr>
              <a:xfrm>
                <a:off x="1188463" y="2272680"/>
                <a:ext cx="1532343" cy="586443"/>
              </a:xfrm>
              <a:prstGeom prst="rect">
                <a:avLst/>
              </a:prstGeom>
              <a:ln w="19050"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600" i="1" smtClean="0">
                          <a:latin typeface="Cambria Math" panose="02040503050406030204" pitchFamily="18" charset="0"/>
                        </a:rPr>
                        <m:t>𝜅</m:t>
                      </m:r>
                      <m:f>
                        <m:f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600" b="0" i="0" smtClean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16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CN" altLang="en-US" sz="16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160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  <m:r>
                        <a:rPr lang="zh-CN" altLang="en-US" sz="1600" i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24B992E5-98CE-4F59-A393-FB7091F43A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8463" y="2272680"/>
                <a:ext cx="1532343" cy="586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箭头: 下 25">
            <a:extLst>
              <a:ext uri="{FF2B5EF4-FFF2-40B4-BE49-F238E27FC236}">
                <a16:creationId xmlns:a16="http://schemas.microsoft.com/office/drawing/2014/main" id="{396BC9C8-ACE1-48E7-98C2-D7863825CC74}"/>
              </a:ext>
            </a:extLst>
          </p:cNvPr>
          <p:cNvSpPr/>
          <p:nvPr/>
        </p:nvSpPr>
        <p:spPr>
          <a:xfrm>
            <a:off x="1786854" y="3009388"/>
            <a:ext cx="335560" cy="56206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F5D41154-6A0C-45E1-84C4-0F22B508166E}"/>
                  </a:ext>
                </a:extLst>
              </p:cNvPr>
              <p:cNvSpPr/>
              <p:nvPr/>
            </p:nvSpPr>
            <p:spPr>
              <a:xfrm>
                <a:off x="528891" y="3571451"/>
                <a:ext cx="2851486" cy="6481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𝜎𝜅</m:t>
                          </m:r>
                        </m:den>
                      </m:f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F5D41154-6A0C-45E1-84C4-0F22B50816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891" y="3571451"/>
                <a:ext cx="2851486" cy="64819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7">
            <a:extLst>
              <a:ext uri="{FF2B5EF4-FFF2-40B4-BE49-F238E27FC236}">
                <a16:creationId xmlns:a16="http://schemas.microsoft.com/office/drawing/2014/main" id="{2AB80A5B-8CA1-4925-BEA7-187FEB3BE520}"/>
              </a:ext>
            </a:extLst>
          </p:cNvPr>
          <p:cNvSpPr txBox="1"/>
          <p:nvPr/>
        </p:nvSpPr>
        <p:spPr>
          <a:xfrm>
            <a:off x="2122414" y="3028890"/>
            <a:ext cx="4202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itchFamily="34" charset="0"/>
                <a:cs typeface="Arial" pitchFamily="34" charset="0"/>
              </a:rPr>
              <a:t>Integrating twice</a:t>
            </a:r>
            <a:endParaRPr lang="en-US" altLang="zh-CN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箭头: 下 40">
            <a:extLst>
              <a:ext uri="{FF2B5EF4-FFF2-40B4-BE49-F238E27FC236}">
                <a16:creationId xmlns:a16="http://schemas.microsoft.com/office/drawing/2014/main" id="{3329EC9A-2284-49B5-BFF8-AEE7B86BA460}"/>
              </a:ext>
            </a:extLst>
          </p:cNvPr>
          <p:cNvSpPr/>
          <p:nvPr/>
        </p:nvSpPr>
        <p:spPr>
          <a:xfrm>
            <a:off x="1786854" y="4358847"/>
            <a:ext cx="335560" cy="56206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TextBox 7">
            <a:extLst>
              <a:ext uri="{FF2B5EF4-FFF2-40B4-BE49-F238E27FC236}">
                <a16:creationId xmlns:a16="http://schemas.microsoft.com/office/drawing/2014/main" id="{53F57BE0-725B-4982-B24A-A7671C5279B7}"/>
              </a:ext>
            </a:extLst>
          </p:cNvPr>
          <p:cNvSpPr txBox="1"/>
          <p:nvPr/>
        </p:nvSpPr>
        <p:spPr>
          <a:xfrm>
            <a:off x="2122414" y="4183253"/>
            <a:ext cx="14320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>
                <a:latin typeface="Arial" pitchFamily="34" charset="0"/>
                <a:cs typeface="Arial" pitchFamily="34" charset="0"/>
              </a:rPr>
              <a:t>x</a:t>
            </a:r>
            <a:r>
              <a:rPr lang="en-US" altLang="zh-CN" dirty="0">
                <a:latin typeface="Arial" pitchFamily="34" charset="0"/>
                <a:cs typeface="Arial" pitchFamily="34" charset="0"/>
              </a:rPr>
              <a:t>=0, </a:t>
            </a:r>
            <a:r>
              <a:rPr lang="en-US" altLang="zh-CN" i="1" dirty="0">
                <a:latin typeface="Arial" pitchFamily="34" charset="0"/>
                <a:cs typeface="Arial" pitchFamily="34" charset="0"/>
              </a:rPr>
              <a:t>T</a:t>
            </a:r>
            <a:r>
              <a:rPr lang="en-US" altLang="zh-CN" dirty="0">
                <a:latin typeface="Arial" pitchFamily="34" charset="0"/>
                <a:cs typeface="Arial" pitchFamily="34" charset="0"/>
              </a:rPr>
              <a:t>=</a:t>
            </a:r>
            <a:r>
              <a:rPr lang="en-US" altLang="zh-CN" i="1" dirty="0">
                <a:latin typeface="Arial" pitchFamily="34" charset="0"/>
                <a:cs typeface="Arial" pitchFamily="34" charset="0"/>
              </a:rPr>
              <a:t>T</a:t>
            </a:r>
            <a:r>
              <a:rPr lang="en-US" altLang="zh-CN" i="1" baseline="-25000" dirty="0">
                <a:latin typeface="Arial" pitchFamily="34" charset="0"/>
                <a:cs typeface="Arial" pitchFamily="34" charset="0"/>
              </a:rPr>
              <a:t>h</a:t>
            </a:r>
          </a:p>
          <a:p>
            <a:r>
              <a:rPr lang="en-US" altLang="zh-CN" i="1" dirty="0">
                <a:latin typeface="Arial" pitchFamily="34" charset="0"/>
                <a:cs typeface="Arial" pitchFamily="34" charset="0"/>
              </a:rPr>
              <a:t>x=L, T</a:t>
            </a:r>
            <a:r>
              <a:rPr lang="en-US" altLang="zh-CN" dirty="0">
                <a:latin typeface="Arial" pitchFamily="34" charset="0"/>
                <a:cs typeface="Arial" pitchFamily="34" charset="0"/>
              </a:rPr>
              <a:t>=</a:t>
            </a:r>
            <a:r>
              <a:rPr lang="en-US" altLang="zh-CN" i="1" dirty="0">
                <a:latin typeface="Arial" pitchFamily="34" charset="0"/>
                <a:cs typeface="Arial" pitchFamily="34" charset="0"/>
              </a:rPr>
              <a:t>T</a:t>
            </a:r>
            <a:r>
              <a:rPr lang="en-US" altLang="zh-CN" i="1" baseline="-25000" dirty="0">
                <a:latin typeface="Arial" pitchFamily="34" charset="0"/>
                <a:cs typeface="Arial" pitchFamily="34" charset="0"/>
              </a:rPr>
              <a:t>c</a:t>
            </a:r>
            <a:endParaRPr lang="en-US" altLang="zh-CN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CAED7F32-8D35-446F-9AB7-2C0B490A3ED2}"/>
                  </a:ext>
                </a:extLst>
              </p:cNvPr>
              <p:cNvSpPr/>
              <p:nvPr/>
            </p:nvSpPr>
            <p:spPr>
              <a:xfrm>
                <a:off x="528891" y="4976995"/>
                <a:ext cx="3991156" cy="72032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𝜎𝜅</m:t>
                          </m:r>
                        </m:den>
                      </m:f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𝜎𝜅</m:t>
                              </m:r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CAED7F32-8D35-446F-9AB7-2C0B490A3E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891" y="4976995"/>
                <a:ext cx="3991156" cy="7203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FE7CCE74-2522-4139-8AAA-049784A74073}"/>
                  </a:ext>
                </a:extLst>
              </p:cNvPr>
              <p:cNvSpPr/>
              <p:nvPr/>
            </p:nvSpPr>
            <p:spPr>
              <a:xfrm>
                <a:off x="5461317" y="775618"/>
                <a:ext cx="2386102" cy="75507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CN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n-US" altLang="zh-CN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𝜎𝜅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FE7CCE74-2522-4139-8AAA-049784A740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317" y="775618"/>
                <a:ext cx="2386102" cy="75507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46686D92-5645-4257-86A5-ABFE691BD305}"/>
                  </a:ext>
                </a:extLst>
              </p:cNvPr>
              <p:cNvSpPr/>
              <p:nvPr/>
            </p:nvSpPr>
            <p:spPr>
              <a:xfrm>
                <a:off x="5461317" y="1760407"/>
                <a:ext cx="2595775" cy="7548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CN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n-US" altLang="zh-CN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𝜎𝜅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46686D92-5645-4257-86A5-ABFE691BD3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317" y="1760407"/>
                <a:ext cx="2595775" cy="75482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箭头: 下 45">
            <a:extLst>
              <a:ext uri="{FF2B5EF4-FFF2-40B4-BE49-F238E27FC236}">
                <a16:creationId xmlns:a16="http://schemas.microsoft.com/office/drawing/2014/main" id="{6A200083-3CAF-4915-B948-09E82F8C1B26}"/>
              </a:ext>
            </a:extLst>
          </p:cNvPr>
          <p:cNvSpPr/>
          <p:nvPr/>
        </p:nvSpPr>
        <p:spPr>
          <a:xfrm>
            <a:off x="6591424" y="2602267"/>
            <a:ext cx="335560" cy="56206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F12FFFFC-5E88-4267-B07E-045AF80C6CF5}"/>
                  </a:ext>
                </a:extLst>
              </p:cNvPr>
              <p:cNvSpPr txBox="1"/>
              <p:nvPr/>
            </p:nvSpPr>
            <p:spPr>
              <a:xfrm>
                <a:off x="5589557" y="3353334"/>
                <a:ext cx="2339294" cy="1196546"/>
              </a:xfrm>
              <a:prstGeom prst="rect">
                <a:avLst/>
              </a:prstGeom>
              <a:noFill/>
              <a:ln w="12700"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𝑆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𝜅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CN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n-US" altLang="zh-CN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</m:sSub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𝑆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𝐾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altLang="zh-CN" i="1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F12FFFFC-5E88-4267-B07E-045AF80C6C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9557" y="3353334"/>
                <a:ext cx="2339294" cy="119654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1C2FCB35-B587-4623-A0AF-34334B7824ED}"/>
                  </a:ext>
                </a:extLst>
              </p:cNvPr>
              <p:cNvSpPr txBox="1"/>
              <p:nvPr/>
            </p:nvSpPr>
            <p:spPr>
              <a:xfrm>
                <a:off x="5589557" y="4738884"/>
                <a:ext cx="2299797" cy="1172437"/>
              </a:xfrm>
              <a:prstGeom prst="rect">
                <a:avLst/>
              </a:prstGeom>
              <a:noFill/>
              <a:ln w="12700"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𝑆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𝜅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CN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n-US" altLang="zh-CN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𝑆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𝐾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altLang="zh-CN" i="1" dirty="0"/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1C2FCB35-B587-4623-A0AF-34334B7824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9557" y="4738884"/>
                <a:ext cx="2299797" cy="117243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27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7">
            <a:extLst>
              <a:ext uri="{FF2B5EF4-FFF2-40B4-BE49-F238E27FC236}">
                <a16:creationId xmlns:a16="http://schemas.microsoft.com/office/drawing/2014/main" id="{29C721C1-B30E-468F-93C7-55BF8B51622F}"/>
              </a:ext>
            </a:extLst>
          </p:cNvPr>
          <p:cNvSpPr txBox="1"/>
          <p:nvPr/>
        </p:nvSpPr>
        <p:spPr>
          <a:xfrm>
            <a:off x="4740953" y="6082382"/>
            <a:ext cx="43720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Exactly the previously given formula</a:t>
            </a:r>
            <a:endParaRPr lang="en-US" altLang="zh-CN" sz="20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9">
            <a:extLst>
              <a:ext uri="{FF2B5EF4-FFF2-40B4-BE49-F238E27FC236}">
                <a16:creationId xmlns:a16="http://schemas.microsoft.com/office/drawing/2014/main" id="{5FA57839-B325-48E1-80A3-AFE27F0F6370}"/>
              </a:ext>
            </a:extLst>
          </p:cNvPr>
          <p:cNvSpPr txBox="1"/>
          <p:nvPr/>
        </p:nvSpPr>
        <p:spPr>
          <a:xfrm>
            <a:off x="870351" y="43709"/>
            <a:ext cx="70824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Efficiency of TEG– </a:t>
            </a:r>
            <a:r>
              <a:rPr lang="en-US" altLang="zh-CN" dirty="0">
                <a:latin typeface="Arial" pitchFamily="34" charset="0"/>
                <a:cs typeface="Arial" pitchFamily="34" charset="0"/>
              </a:rPr>
              <a:t>T independent properties</a:t>
            </a:r>
            <a:endParaRPr lang="zh-CN" altLang="en-US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0592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ECE01C61-B6E5-4922-B8C4-C978DADE0475}"/>
                  </a:ext>
                </a:extLst>
              </p:cNvPr>
              <p:cNvSpPr/>
              <p:nvPr/>
            </p:nvSpPr>
            <p:spPr>
              <a:xfrm>
                <a:off x="314599" y="759524"/>
                <a:ext cx="3470245" cy="650563"/>
              </a:xfrm>
              <a:prstGeom prst="rect">
                <a:avLst/>
              </a:prstGeom>
              <a:ln w="19050"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16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16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d>
                        <m:dPr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𝜅</m:t>
                          </m:r>
                          <m:d>
                            <m:dPr>
                              <m:ctrlP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f>
                            <m:fPr>
                              <m:ctrlP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altLang="zh-CN" sz="1600" b="0" i="0" smtClean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altLang="zh-CN" sz="1600" b="0" i="0" smtClean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  <m:r>
                        <a:rPr lang="zh-CN" altLang="en-US" sz="16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</m:den>
                      </m:f>
                      <m:r>
                        <a:rPr lang="zh-CN" altLang="en-US" sz="160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1600" i="1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zh-CN" altLang="en-US" sz="1600" i="1">
                          <a:latin typeface="Cambria Math" panose="02040503050406030204" pitchFamily="18" charset="0"/>
                        </a:rPr>
                        <m:t>𝜏</m:t>
                      </m:r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f>
                        <m:fPr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16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16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zh-CN" altLang="en-US" sz="1600" i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ECE01C61-B6E5-4922-B8C4-C978DADE04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599" y="759524"/>
                <a:ext cx="3470245" cy="6505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箭头: 下 1">
            <a:extLst>
              <a:ext uri="{FF2B5EF4-FFF2-40B4-BE49-F238E27FC236}">
                <a16:creationId xmlns:a16="http://schemas.microsoft.com/office/drawing/2014/main" id="{313FF69F-14E3-4D32-9D0A-E70CFCABD842}"/>
              </a:ext>
            </a:extLst>
          </p:cNvPr>
          <p:cNvSpPr/>
          <p:nvPr/>
        </p:nvSpPr>
        <p:spPr>
          <a:xfrm>
            <a:off x="1786855" y="1560352"/>
            <a:ext cx="335560" cy="56206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TextBox 7">
            <a:extLst>
              <a:ext uri="{FF2B5EF4-FFF2-40B4-BE49-F238E27FC236}">
                <a16:creationId xmlns:a16="http://schemas.microsoft.com/office/drawing/2014/main" id="{8F4BD9AF-30B2-4EBA-97DF-5A9928819F04}"/>
              </a:ext>
            </a:extLst>
          </p:cNvPr>
          <p:cNvSpPr txBox="1"/>
          <p:nvPr/>
        </p:nvSpPr>
        <p:spPr>
          <a:xfrm>
            <a:off x="2132213" y="1441273"/>
            <a:ext cx="33052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rial" pitchFamily="34" charset="0"/>
                <a:cs typeface="Arial" pitchFamily="34" charset="0"/>
              </a:rPr>
              <a:t>For T dependent properties</a:t>
            </a:r>
            <a:endParaRPr lang="en-US" altLang="zh-CN" sz="1600" dirty="0">
              <a:cs typeface="Times New Roman" panose="02020603050405020304" pitchFamily="18" charset="0"/>
            </a:endParaRP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D6482529-C596-469D-8084-3B1F56317056}"/>
              </a:ext>
            </a:extLst>
          </p:cNvPr>
          <p:cNvSpPr txBox="1"/>
          <p:nvPr/>
        </p:nvSpPr>
        <p:spPr>
          <a:xfrm>
            <a:off x="2122415" y="1841383"/>
            <a:ext cx="33052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rial" pitchFamily="34" charset="0"/>
                <a:cs typeface="Arial" pitchFamily="34" charset="0"/>
              </a:rPr>
              <a:t>Integrating once</a:t>
            </a:r>
            <a:endParaRPr lang="en-US" altLang="zh-CN" sz="1600" dirty="0"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8D988EBF-D068-4BE8-AB89-06D8C267DE3C}"/>
                  </a:ext>
                </a:extLst>
              </p:cNvPr>
              <p:cNvSpPr/>
              <p:nvPr/>
            </p:nvSpPr>
            <p:spPr>
              <a:xfrm>
                <a:off x="-377505" y="2272679"/>
                <a:ext cx="4811086" cy="5591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400" i="1">
                          <a:latin typeface="Cambria Math" panose="02040503050406030204" pitchFamily="18" charset="0"/>
                        </a:rPr>
                        <m:t>𝜅</m:t>
                      </m:r>
                      <m:r>
                        <a:rPr lang="zh-CN" altLang="en-US" sz="1400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140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zh-CN" altLang="en-US" sz="1400" i="0">
                          <a:latin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zh-CN" alt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400" i="1">
                              <a:latin typeface="Cambria Math" panose="02040503050406030204" pitchFamily="18" charset="0"/>
                            </a:rPr>
                            <m:t>𝑑𝑇</m:t>
                          </m:r>
                        </m:num>
                        <m:den>
                          <m:r>
                            <a:rPr lang="zh-CN" altLang="en-US" sz="1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zh-CN" altLang="en-US" sz="1400" i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CN" alt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14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zh-CN" altLang="en-US" sz="14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nary>
                        <m:naryPr>
                          <m:limLoc m:val="subSup"/>
                          <m:grow m:val="on"/>
                          <m:ctrlPr>
                            <a:rPr lang="zh-CN" altLang="en-US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14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r>
                            <a:rPr lang="zh-CN" altLang="en-US" sz="1400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zh-CN" altLang="en-US" sz="1400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14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zh-CN" altLang="en-US" sz="1400" i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zh-CN" altLang="en-US" sz="1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zh-CN" altLang="en-US" sz="140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1400" i="1">
                          <a:latin typeface="Cambria Math" panose="02040503050406030204" pitchFamily="18" charset="0"/>
                        </a:rPr>
                        <m:t>𝐽</m:t>
                      </m:r>
                      <m:nary>
                        <m:naryPr>
                          <m:limLoc m:val="subSup"/>
                          <m:grow m:val="on"/>
                          <m:ctrlPr>
                            <a:rPr lang="zh-CN" altLang="en-US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14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r>
                            <a:rPr lang="zh-CN" altLang="en-US" sz="1400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zh-CN" altLang="en-US" sz="1400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14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zh-CN" altLang="en-US" sz="1400" i="0">
                              <a:latin typeface="Cambria Math" panose="02040503050406030204" pitchFamily="18" charset="0"/>
                            </a:rPr>
                            <m:t>)</m:t>
                          </m:r>
                          <m:f>
                            <m:fPr>
                              <m:ctrlP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  <m:t>𝑑𝑇</m:t>
                              </m:r>
                            </m:num>
                            <m:den>
                              <m: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den>
                          </m:f>
                          <m:r>
                            <a:rPr lang="zh-CN" altLang="en-US" sz="1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zh-CN" altLang="en-US" sz="14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zh-CN" altLang="en-US" sz="14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1400" i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8D988EBF-D068-4BE8-AB89-06D8C267DE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77505" y="2272679"/>
                <a:ext cx="4811086" cy="559192"/>
              </a:xfrm>
              <a:prstGeom prst="rect">
                <a:avLst/>
              </a:prstGeom>
              <a:blipFill>
                <a:blip r:embed="rId3"/>
                <a:stretch>
                  <a:fillRect t="-151087" b="-2217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箭头: 下 7">
            <a:extLst>
              <a:ext uri="{FF2B5EF4-FFF2-40B4-BE49-F238E27FC236}">
                <a16:creationId xmlns:a16="http://schemas.microsoft.com/office/drawing/2014/main" id="{EF3D2966-E23E-4B82-A6D8-AFDED2259112}"/>
              </a:ext>
            </a:extLst>
          </p:cNvPr>
          <p:cNvSpPr/>
          <p:nvPr/>
        </p:nvSpPr>
        <p:spPr>
          <a:xfrm>
            <a:off x="1786855" y="2929806"/>
            <a:ext cx="335560" cy="56206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5C2E92FA-4A12-45D7-8221-8F25EC1C9041}"/>
              </a:ext>
            </a:extLst>
          </p:cNvPr>
          <p:cNvSpPr txBox="1"/>
          <p:nvPr/>
        </p:nvSpPr>
        <p:spPr>
          <a:xfrm>
            <a:off x="2122414" y="3008027"/>
            <a:ext cx="33052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rial" pitchFamily="34" charset="0"/>
                <a:cs typeface="Arial" pitchFamily="34" charset="0"/>
              </a:rPr>
              <a:t>Integrating twice</a:t>
            </a:r>
            <a:endParaRPr lang="en-US" altLang="zh-CN" sz="1600" dirty="0"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D7D8096D-9A45-4203-B69B-24B2B790F3E6}"/>
                  </a:ext>
                </a:extLst>
              </p:cNvPr>
              <p:cNvSpPr/>
              <p:nvPr/>
            </p:nvSpPr>
            <p:spPr>
              <a:xfrm>
                <a:off x="0" y="3533229"/>
                <a:ext cx="4697835" cy="5309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subSup"/>
                          <m:grow m:val="on"/>
                          <m:ctrlPr>
                            <a:rPr lang="zh-CN" altLang="en-US" sz="12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sub>
                        <m:sup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𝜅</m:t>
                          </m:r>
                          <m:r>
                            <a:rPr lang="zh-CN" altLang="en-US" sz="1200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zh-CN" altLang="en-US" sz="1200" i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𝑑𝑇</m:t>
                          </m:r>
                        </m:e>
                      </m:nary>
                      <m:r>
                        <a:rPr lang="zh-CN" altLang="en-US" sz="1200" i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zh-CN" altLang="en-US" sz="12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nary>
                        <m:naryPr>
                          <m:ctrlPr>
                            <a:rPr lang="zh-CN" altLang="en-US" sz="12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nary>
                            <m:naryPr>
                              <m:limLoc m:val="subSup"/>
                              <m:grow m:val="on"/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12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  <m:e>
                              <m:d>
                                <m:dPr>
                                  <m:begChr m:val=""/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  <m:r>
                                    <a:rPr lang="zh-CN" altLang="en-US" sz="120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</m:e>
                          </m:nary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zh-CN" altLang="en-US" sz="120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1200" i="1">
                          <a:latin typeface="Cambria Math" panose="02040503050406030204" pitchFamily="18" charset="0"/>
                        </a:rPr>
                        <m:t>𝐽</m:t>
                      </m:r>
                      <m:nary>
                        <m:naryPr>
                          <m:ctrlPr>
                            <a:rPr lang="zh-CN" altLang="en-US" sz="12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nary>
                            <m:naryPr>
                              <m:limLoc m:val="subSup"/>
                              <m:grow m:val="on"/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zh-CN" altLang="en-US" sz="120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zh-CN" altLang="en-US" sz="120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𝑑𝑇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nary>
                        </m:e>
                      </m:nary>
                      <m:r>
                        <a:rPr lang="zh-CN" altLang="en-US" sz="12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zh-CN" altLang="en-US" sz="12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12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12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zh-CN" altLang="en-US" sz="12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1200" i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D7D8096D-9A45-4203-B69B-24B2B790F3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533229"/>
                <a:ext cx="4697835" cy="530915"/>
              </a:xfrm>
              <a:prstGeom prst="rect">
                <a:avLst/>
              </a:prstGeom>
              <a:blipFill>
                <a:blip r:embed="rId4"/>
                <a:stretch>
                  <a:fillRect l="-11803" t="-135632" b="-20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7">
            <a:extLst>
              <a:ext uri="{FF2B5EF4-FFF2-40B4-BE49-F238E27FC236}">
                <a16:creationId xmlns:a16="http://schemas.microsoft.com/office/drawing/2014/main" id="{CDBE0E7D-00B0-4D3E-9EC6-1DADADE96C85}"/>
              </a:ext>
            </a:extLst>
          </p:cNvPr>
          <p:cNvSpPr txBox="1"/>
          <p:nvPr/>
        </p:nvSpPr>
        <p:spPr>
          <a:xfrm>
            <a:off x="2122414" y="4183253"/>
            <a:ext cx="1432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i="1" dirty="0">
                <a:latin typeface="Arial" pitchFamily="34" charset="0"/>
                <a:cs typeface="Arial" pitchFamily="34" charset="0"/>
              </a:rPr>
              <a:t>x</a:t>
            </a:r>
            <a:r>
              <a:rPr lang="en-US" altLang="zh-CN" sz="1600" dirty="0">
                <a:latin typeface="Arial" pitchFamily="34" charset="0"/>
                <a:cs typeface="Arial" pitchFamily="34" charset="0"/>
              </a:rPr>
              <a:t>=0, </a:t>
            </a:r>
            <a:r>
              <a:rPr lang="en-US" altLang="zh-CN" sz="1600" i="1" dirty="0">
                <a:latin typeface="Arial" pitchFamily="34" charset="0"/>
                <a:cs typeface="Arial" pitchFamily="34" charset="0"/>
              </a:rPr>
              <a:t>T</a:t>
            </a:r>
            <a:r>
              <a:rPr lang="en-US" altLang="zh-CN" sz="1600" dirty="0">
                <a:latin typeface="Arial" pitchFamily="34" charset="0"/>
                <a:cs typeface="Arial" pitchFamily="34" charset="0"/>
              </a:rPr>
              <a:t>=</a:t>
            </a:r>
            <a:r>
              <a:rPr lang="en-US" altLang="zh-CN" sz="1600" i="1" dirty="0">
                <a:latin typeface="Arial" pitchFamily="34" charset="0"/>
                <a:cs typeface="Arial" pitchFamily="34" charset="0"/>
              </a:rPr>
              <a:t>T</a:t>
            </a:r>
            <a:r>
              <a:rPr lang="en-US" altLang="zh-CN" sz="1600" i="1" baseline="-25000" dirty="0">
                <a:latin typeface="Arial" pitchFamily="34" charset="0"/>
                <a:cs typeface="Arial" pitchFamily="34" charset="0"/>
              </a:rPr>
              <a:t>h</a:t>
            </a:r>
          </a:p>
          <a:p>
            <a:r>
              <a:rPr lang="en-US" altLang="zh-CN" sz="1600" i="1" dirty="0">
                <a:latin typeface="Arial" pitchFamily="34" charset="0"/>
                <a:cs typeface="Arial" pitchFamily="34" charset="0"/>
              </a:rPr>
              <a:t>x=L, T</a:t>
            </a:r>
            <a:r>
              <a:rPr lang="en-US" altLang="zh-CN" sz="1600" dirty="0">
                <a:latin typeface="Arial" pitchFamily="34" charset="0"/>
                <a:cs typeface="Arial" pitchFamily="34" charset="0"/>
              </a:rPr>
              <a:t>=</a:t>
            </a:r>
            <a:r>
              <a:rPr lang="en-US" altLang="zh-CN" sz="1600" i="1" dirty="0">
                <a:latin typeface="Arial" pitchFamily="34" charset="0"/>
                <a:cs typeface="Arial" pitchFamily="34" charset="0"/>
              </a:rPr>
              <a:t>T</a:t>
            </a:r>
            <a:r>
              <a:rPr lang="en-US" altLang="zh-CN" sz="1600" i="1" baseline="-25000" dirty="0">
                <a:latin typeface="Arial" pitchFamily="34" charset="0"/>
                <a:cs typeface="Arial" pitchFamily="34" charset="0"/>
              </a:rPr>
              <a:t>c</a:t>
            </a:r>
            <a:endParaRPr lang="en-US" altLang="zh-CN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箭头: 下 11">
            <a:extLst>
              <a:ext uri="{FF2B5EF4-FFF2-40B4-BE49-F238E27FC236}">
                <a16:creationId xmlns:a16="http://schemas.microsoft.com/office/drawing/2014/main" id="{78EE29FB-D8F2-4FF4-BB32-0AC8200F03B0}"/>
              </a:ext>
            </a:extLst>
          </p:cNvPr>
          <p:cNvSpPr/>
          <p:nvPr/>
        </p:nvSpPr>
        <p:spPr>
          <a:xfrm>
            <a:off x="1796653" y="4329076"/>
            <a:ext cx="335560" cy="56206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12F810E8-A58B-42C1-9FF3-9286CD9DE7F1}"/>
                  </a:ext>
                </a:extLst>
              </p:cNvPr>
              <p:cNvSpPr/>
              <p:nvPr/>
            </p:nvSpPr>
            <p:spPr>
              <a:xfrm>
                <a:off x="0" y="4927644"/>
                <a:ext cx="4236440" cy="5309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zh-CN" altLang="en-US" sz="12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1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2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nary>
                        <m:naryPr>
                          <m:limLoc m:val="subSup"/>
                          <m:grow m:val="on"/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begChr m:val=""/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</m:e>
                      </m:nary>
                      <m:r>
                        <a:rPr lang="zh-CN" altLang="en-US" sz="1200" i="1">
                          <a:latin typeface="Cambria Math" panose="02040503050406030204" pitchFamily="18" charset="0"/>
                        </a:rPr>
                        <m:t>𝑑𝑇</m:t>
                      </m:r>
                      <m:r>
                        <a:rPr lang="zh-CN" altLang="en-US" sz="1200" i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p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nary>
                        <m:naryPr>
                          <m:ctrlPr>
                            <a:rPr lang="zh-CN" altLang="en-US" sz="12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  <m:e>
                          <m:nary>
                            <m:naryPr>
                              <m:limLoc m:val="subSup"/>
                              <m:grow m:val="on"/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12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  <m:e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zh-CN" altLang="en-US" sz="120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zh-CN" altLang="en-US" sz="120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nary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zh-CN" altLang="en-US" sz="12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nary>
                        <m:naryPr>
                          <m:ctrlPr>
                            <a:rPr lang="zh-CN" altLang="en-US" sz="12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  <m:e>
                          <m:nary>
                            <m:naryPr>
                              <m:limLoc m:val="subSup"/>
                              <m:grow m:val="on"/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zh-CN" altLang="en-US" sz="120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zh-CN" altLang="en-US" sz="120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𝑑𝑇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12F810E8-A58B-42C1-9FF3-9286CD9DE7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927644"/>
                <a:ext cx="4236440" cy="530915"/>
              </a:xfrm>
              <a:prstGeom prst="rect">
                <a:avLst/>
              </a:prstGeom>
              <a:blipFill>
                <a:blip r:embed="rId5"/>
                <a:stretch>
                  <a:fillRect l="-2014" t="-135632" r="-2590" b="-20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1415EDA-531B-4B00-9AFC-33864D1E0CEC}"/>
                  </a:ext>
                </a:extLst>
              </p:cNvPr>
              <p:cNvSpPr/>
              <p:nvPr/>
            </p:nvSpPr>
            <p:spPr>
              <a:xfrm>
                <a:off x="0" y="5666251"/>
                <a:ext cx="668323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2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12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200" b="0" i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1415EDA-531B-4B00-9AFC-33864D1E0C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666251"/>
                <a:ext cx="668323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箭头: 下 14">
            <a:extLst>
              <a:ext uri="{FF2B5EF4-FFF2-40B4-BE49-F238E27FC236}">
                <a16:creationId xmlns:a16="http://schemas.microsoft.com/office/drawing/2014/main" id="{068BD3C4-4CDB-4CA8-82FE-3F50083DD675}"/>
              </a:ext>
            </a:extLst>
          </p:cNvPr>
          <p:cNvSpPr/>
          <p:nvPr/>
        </p:nvSpPr>
        <p:spPr>
          <a:xfrm>
            <a:off x="1786855" y="5495064"/>
            <a:ext cx="335560" cy="56206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18E07AC3-E12A-4982-A31B-D488BB902D4F}"/>
                  </a:ext>
                </a:extLst>
              </p:cNvPr>
              <p:cNvSpPr/>
              <p:nvPr/>
            </p:nvSpPr>
            <p:spPr>
              <a:xfrm>
                <a:off x="1148869" y="6093632"/>
                <a:ext cx="1611531" cy="5516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  <m:r>
                                <a:rPr lang="zh-CN" altLang="en-US" sz="120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zh-CN" altLang="en-US" sz="120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f>
                                <m:f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𝑑𝑇</m:t>
                                  </m:r>
                                </m:num>
                                <m:den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sub>
                      </m:sSub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zh-CN" altLang="en-US" sz="12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18E07AC3-E12A-4982-A31B-D488BB902D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8869" y="6093632"/>
                <a:ext cx="1611531" cy="551626"/>
              </a:xfrm>
              <a:prstGeom prst="rect">
                <a:avLst/>
              </a:prstGeom>
              <a:blipFill>
                <a:blip r:embed="rId7"/>
                <a:stretch>
                  <a:fillRect t="-162222" r="-4906" b="-22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770B285B-FC4A-4728-8157-D406EC10BE71}"/>
                  </a:ext>
                </a:extLst>
              </p:cNvPr>
              <p:cNvSpPr/>
              <p:nvPr/>
            </p:nvSpPr>
            <p:spPr>
              <a:xfrm>
                <a:off x="4504888" y="816085"/>
                <a:ext cx="4572000" cy="530338"/>
              </a:xfrm>
              <a:prstGeom prst="rect">
                <a:avLst/>
              </a:prstGeom>
              <a:ln w="12700">
                <a:solidFill>
                  <a:srgbClr val="FF0000"/>
                </a:solidFill>
              </a:ln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zh-CN" altLang="en-US" sz="1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nary>
                        <m:naryPr>
                          <m:limLoc m:val="subSup"/>
                          <m:grow m:val="on"/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begChr m:val=""/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</m:e>
                      </m:nary>
                      <m:r>
                        <a:rPr lang="zh-CN" altLang="en-US" sz="1200" i="1">
                          <a:latin typeface="Cambria Math" panose="02040503050406030204" pitchFamily="18" charset="0"/>
                        </a:rPr>
                        <m:t>𝑑𝑇</m:t>
                      </m:r>
                      <m:r>
                        <a:rPr lang="zh-CN" altLang="en-US" sz="12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1200" i="1">
                          <a:latin typeface="Cambria Math" panose="02040503050406030204" pitchFamily="18" charset="0"/>
                        </a:rPr>
                        <m:t>𝐼</m:t>
                      </m:r>
                      <m:sSub>
                        <m:sSubPr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zh-CN" altLang="en-US" sz="12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zh-CN" altLang="en-US" sz="1200" i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zh-CN" altLang="en-US" sz="1200" i="0">
                          <a:latin typeface="Cambria Math" panose="02040503050406030204" pitchFamily="18" charset="0"/>
                        </a:rPr>
                        <m:t>)−</m:t>
                      </m:r>
                      <m:sSub>
                        <m:sSubPr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𝐽</m:t>
                          </m:r>
                        </m:sub>
                      </m:sSub>
                      <m:sSup>
                        <m:sSupPr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p>
                          <m:r>
                            <a:rPr lang="zh-CN" altLang="en-US" sz="12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1200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1200" i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zh-CN" altLang="en-US" sz="1200" i="1">
                          <a:latin typeface="Cambria Math" panose="02040503050406030204" pitchFamily="18" charset="0"/>
                        </a:rPr>
                        <m:t>𝐼</m:t>
                      </m:r>
                      <m:nary>
                        <m:naryPr>
                          <m:limLoc m:val="subSup"/>
                          <m:grow m:val="on"/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begChr m:val=""/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</m:e>
                      </m:nary>
                      <m:r>
                        <a:rPr lang="zh-CN" altLang="en-US" sz="1200" i="1">
                          <a:latin typeface="Cambria Math" panose="02040503050406030204" pitchFamily="18" charset="0"/>
                        </a:rPr>
                        <m:t>𝑑𝑇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770B285B-FC4A-4728-8157-D406EC10BE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4888" y="816085"/>
                <a:ext cx="4572000" cy="530338"/>
              </a:xfrm>
              <a:prstGeom prst="rect">
                <a:avLst/>
              </a:prstGeom>
              <a:blipFill>
                <a:blip r:embed="rId8"/>
                <a:stretch>
                  <a:fillRect t="-131461" b="-194382"/>
                </a:stretch>
              </a:blipFill>
              <a:ln w="127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C0CB1737-6C12-4CA3-9136-BBFD5E633A9E}"/>
                  </a:ext>
                </a:extLst>
              </p:cNvPr>
              <p:cNvSpPr/>
              <p:nvPr/>
            </p:nvSpPr>
            <p:spPr>
              <a:xfrm>
                <a:off x="5622194" y="1651600"/>
                <a:ext cx="1649490" cy="5303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1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2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zh-CN" altLang="en-US" sz="1200" i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f>
                        <m:fPr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  <m:nary>
                        <m:naryPr>
                          <m:limLoc m:val="subSup"/>
                          <m:grow m:val="on"/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begChr m:val=""/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</m:e>
                      </m:nary>
                      <m:r>
                        <a:rPr lang="zh-CN" altLang="en-US" sz="1200" i="1">
                          <a:latin typeface="Cambria Math" panose="02040503050406030204" pitchFamily="18" charset="0"/>
                        </a:rPr>
                        <m:t>𝑑𝑇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C0CB1737-6C12-4CA3-9136-BBFD5E633A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2194" y="1651600"/>
                <a:ext cx="1649490" cy="530338"/>
              </a:xfrm>
              <a:prstGeom prst="rect">
                <a:avLst/>
              </a:prstGeom>
              <a:blipFill>
                <a:blip r:embed="rId9"/>
                <a:stretch>
                  <a:fillRect t="-135632" r="-11070" b="-20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7">
            <a:extLst>
              <a:ext uri="{FF2B5EF4-FFF2-40B4-BE49-F238E27FC236}">
                <a16:creationId xmlns:a16="http://schemas.microsoft.com/office/drawing/2014/main" id="{0CBC750E-DDFA-43B5-859A-681BEC8AC288}"/>
              </a:ext>
            </a:extLst>
          </p:cNvPr>
          <p:cNvSpPr txBox="1"/>
          <p:nvPr/>
        </p:nvSpPr>
        <p:spPr>
          <a:xfrm>
            <a:off x="5359156" y="1355275"/>
            <a:ext cx="33052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rial" pitchFamily="34" charset="0"/>
                <a:cs typeface="Arial" pitchFamily="34" charset="0"/>
              </a:rPr>
              <a:t>where</a:t>
            </a:r>
            <a:endParaRPr lang="en-US" altLang="zh-CN" sz="1600" dirty="0"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69CE40F5-FE76-48A6-97D1-63AEEB5D894C}"/>
                  </a:ext>
                </a:extLst>
              </p:cNvPr>
              <p:cNvSpPr/>
              <p:nvPr/>
            </p:nvSpPr>
            <p:spPr>
              <a:xfrm>
                <a:off x="4813415" y="2182448"/>
                <a:ext cx="1633524" cy="6869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𝐽</m:t>
                          </m:r>
                        </m:sub>
                      </m:sSub>
                      <m:r>
                        <a:rPr lang="zh-CN" altLang="en-US" sz="1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trlPr>
                                <a:rPr lang="zh-CN" altLang="en-US" sz="12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p>
                            <m:e>
                              <m:nary>
                                <m:naryPr>
                                  <m:limLoc m:val="subSup"/>
                                  <m:grow m:val="on"/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zh-CN" altLang="en-US" sz="120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  <m:r>
                                    <a:rPr lang="zh-CN" altLang="en-US" sz="120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zh-CN" altLang="en-US" sz="120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𝑑𝑥𝑑𝑥</m:t>
                                  </m:r>
                                </m:e>
                              </m:nary>
                            </m:e>
                          </m:nary>
                        </m:num>
                        <m:den>
                          <m:f>
                            <m:f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p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  <m:nary>
                            <m:naryPr>
                              <m:limLoc m:val="subSup"/>
                              <m:grow m:val="on"/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sub>
                            <m:sup>
                              <m:sSub>
                                <m:sSub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sup>
                            <m:e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zh-CN" altLang="en-US" sz="120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zh-CN" altLang="en-US" sz="120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𝑑𝑇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69CE40F5-FE76-48A6-97D1-63AEEB5D89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3415" y="2182448"/>
                <a:ext cx="1633524" cy="68698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38EA3A2F-56D4-483D-A1BE-E0BE56321F0F}"/>
                  </a:ext>
                </a:extLst>
              </p:cNvPr>
              <p:cNvSpPr/>
              <p:nvPr/>
            </p:nvSpPr>
            <p:spPr>
              <a:xfrm>
                <a:off x="6635953" y="2202470"/>
                <a:ext cx="1724510" cy="6434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zh-CN" altLang="en-US" sz="1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trlPr>
                                <a:rPr lang="zh-CN" altLang="en-US" sz="12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p>
                            <m:e>
                              <m:nary>
                                <m:naryPr>
                                  <m:limLoc m:val="subSup"/>
                                  <m:grow m:val="on"/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</m:sup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  <m:r>
                                    <a:rPr lang="zh-CN" altLang="en-US" sz="120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zh-CN" altLang="en-US" sz="120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𝑑𝑇𝑑𝑥</m:t>
                                  </m:r>
                                </m:e>
                              </m:nary>
                            </m:e>
                          </m:nary>
                        </m:num>
                        <m:den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  <m:nary>
                            <m:naryPr>
                              <m:limLoc m:val="subSup"/>
                              <m:grow m:val="on"/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sub>
                            <m:sup>
                              <m:sSub>
                                <m:sSub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sup>
                            <m:e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zh-CN" altLang="en-US" sz="120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zh-CN" altLang="en-US" sz="120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𝑑𝑇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38EA3A2F-56D4-483D-A1BE-E0BE56321F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5953" y="2202470"/>
                <a:ext cx="1724510" cy="64344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592E953C-1B20-4DF1-9696-4897F6600077}"/>
                  </a:ext>
                </a:extLst>
              </p:cNvPr>
              <p:cNvSpPr/>
              <p:nvPr/>
            </p:nvSpPr>
            <p:spPr>
              <a:xfrm>
                <a:off x="4655890" y="2935287"/>
                <a:ext cx="4446165" cy="779509"/>
              </a:xfrm>
              <a:prstGeom prst="rect">
                <a:avLst/>
              </a:prstGeom>
              <a:ln w="12700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zh-CN" altLang="en-US" sz="1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  <m:r>
                        <a:rPr lang="zh-CN" altLang="en-US" sz="1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𝑜𝑐</m:t>
                                  </m:r>
                                </m:sub>
                                <m:sup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den>
                          </m:f>
                          <m:f>
                            <m:f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1200"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num>
                            <m:den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  <m:nary>
                            <m:naryPr>
                              <m:limLoc m:val="subSup"/>
                              <m:grow m:val="on"/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sub>
                            <m:sup>
                              <m:sSub>
                                <m:sSub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sup>
                            <m:e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𝑑𝑇</m:t>
                              </m:r>
                            </m:e>
                          </m:nary>
                          <m:r>
                            <a:rPr lang="zh-CN" altLang="en-US" sz="12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𝐼</m:t>
                          </m:r>
                          <m:sSub>
                            <m:sSub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zh-CN" altLang="en-US" sz="1200" i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lang="zh-CN" altLang="en-US" sz="1200" i="0">
                              <a:latin typeface="Cambria Math" panose="02040503050406030204" pitchFamily="18" charset="0"/>
                            </a:rPr>
                            <m:t>)−</m:t>
                          </m:r>
                          <m:sSub>
                            <m:sSub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p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zh-CN" altLang="en-US" sz="1200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𝐼</m:t>
                          </m:r>
                          <m:nary>
                            <m:naryPr>
                              <m:limLoc m:val="subSup"/>
                              <m:grow m:val="on"/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sub>
                            <m:sup>
                              <m:sSub>
                                <m:sSub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sup>
                            <m:e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𝑑𝑇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592E953C-1B20-4DF1-9696-4897F66000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5890" y="2935287"/>
                <a:ext cx="4446165" cy="77950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127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箭头: 下 23">
            <a:extLst>
              <a:ext uri="{FF2B5EF4-FFF2-40B4-BE49-F238E27FC236}">
                <a16:creationId xmlns:a16="http://schemas.microsoft.com/office/drawing/2014/main" id="{0E30191E-D80B-4113-B8BD-80505D3DA91F}"/>
              </a:ext>
            </a:extLst>
          </p:cNvPr>
          <p:cNvSpPr/>
          <p:nvPr/>
        </p:nvSpPr>
        <p:spPr>
          <a:xfrm>
            <a:off x="6623108" y="3854692"/>
            <a:ext cx="335560" cy="56206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96A10094-CEFD-4F8C-B6B5-973C64CDD6C6}"/>
                  </a:ext>
                </a:extLst>
              </p:cNvPr>
              <p:cNvSpPr/>
              <p:nvPr/>
            </p:nvSpPr>
            <p:spPr>
              <a:xfrm>
                <a:off x="7086832" y="3781020"/>
                <a:ext cx="1121076" cy="4641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𝑜𝑐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120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96A10094-CEFD-4F8C-B6B5-973C64CDD6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6832" y="3781020"/>
                <a:ext cx="1121076" cy="46416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045820A7-16B5-4225-B93D-F88318EB7F95}"/>
                  </a:ext>
                </a:extLst>
              </p:cNvPr>
              <p:cNvSpPr/>
              <p:nvPr/>
            </p:nvSpPr>
            <p:spPr>
              <a:xfrm>
                <a:off x="4951470" y="4556651"/>
                <a:ext cx="3855003" cy="941027"/>
              </a:xfrm>
              <a:prstGeom prst="rect">
                <a:avLst/>
              </a:prstGeom>
              <a:ln w="12700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zh-CN" altLang="en-US" sz="1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num>
                            <m:den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𝑒𝑛𝑔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  <m:r>
                            <a:rPr lang="zh-CN" altLang="en-US" sz="1200" i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sSub>
                                <m:sSub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num>
                            <m:den>
                              <m:nary>
                                <m:naryPr>
                                  <m:limLoc m:val="subSup"/>
                                  <m:grow m:val="on"/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sub>
                                <m:sup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</m:sup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zh-CN" altLang="en-US" sz="120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zh-CN" altLang="en-US" sz="120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𝑑𝑇</m:t>
                                  </m:r>
                                </m:e>
                              </m:nary>
                            </m:den>
                          </m:f>
                          <m:r>
                            <a:rPr lang="zh-CN" altLang="en-US" sz="1200" i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sub>
                              </m:sSub>
                            </m:num>
                            <m:den>
                              <m:d>
                                <m:d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d>
                            </m:den>
                          </m:f>
                          <m:r>
                            <a:rPr lang="zh-CN" altLang="en-US" sz="1200" i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  <m:nary>
                                <m:naryPr>
                                  <m:limLoc m:val="subSup"/>
                                  <m:grow m:val="on"/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sub>
                                <m:sup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</m:sup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  <m:r>
                                    <a:rPr lang="zh-CN" altLang="en-US" sz="120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zh-CN" altLang="en-US" sz="120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𝑑𝑇</m:t>
                                  </m:r>
                                </m:e>
                              </m:nary>
                            </m:num>
                            <m:den>
                              <m:nary>
                                <m:naryPr>
                                  <m:limLoc m:val="subSup"/>
                                  <m:grow m:val="on"/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sub>
                                <m:sup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</m:sup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zh-CN" altLang="en-US" sz="120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zh-CN" altLang="en-US" sz="120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𝑑𝑇</m:t>
                                  </m:r>
                                </m:e>
                              </m:nary>
                            </m:den>
                          </m:f>
                        </m:den>
                      </m:f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045820A7-16B5-4225-B93D-F88318EB7F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1470" y="4556651"/>
                <a:ext cx="3855003" cy="94102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127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CC4FA09E-EC77-49A9-A889-37AD8989AE64}"/>
                  </a:ext>
                </a:extLst>
              </p:cNvPr>
              <p:cNvSpPr/>
              <p:nvPr/>
            </p:nvSpPr>
            <p:spPr>
              <a:xfrm>
                <a:off x="5184112" y="5618460"/>
                <a:ext cx="3389717" cy="709553"/>
              </a:xfrm>
              <a:prstGeom prst="rect">
                <a:avLst/>
              </a:prstGeom>
              <a:ln w="12700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𝑍𝑇</m:t>
                              </m:r>
                            </m:e>
                          </m:d>
                        </m:e>
                        <m:sub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𝑒𝑛𝑔</m:t>
                          </m:r>
                        </m:sub>
                      </m:sSub>
                      <m:r>
                        <a:rPr lang="zh-CN" altLang="en-US" sz="12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𝑒𝑛𝑔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altLang="en-US" sz="1200" i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zh-CN" altLang="en-US" sz="120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zh-CN" altLang="en-US" sz="1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limLoc m:val="subSup"/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sSub>
                                        <m:sSubPr>
                                          <m:ctrlP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sub>
                                      </m:sSub>
                                    </m:sup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d>
                                        <m:dPr>
                                          <m:ctrlP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</m:d>
                                    </m:e>
                                  </m:nary>
                                  <m:r>
                                    <m:rPr>
                                      <m:sty m:val="p"/>
                                    </m:rP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</m:e>
                            <m:sup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nary>
                            <m:naryPr>
                              <m:limLoc m:val="subSup"/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sub>
                            <m:sup>
                              <m:sSub>
                                <m:sSub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sup>
                            <m:e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d>
                                <m:d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</m:e>
                          </m:nary>
                          <m:r>
                            <m:rPr>
                              <m:sty m:val="p"/>
                            </m:rPr>
                            <a:rPr lang="zh-CN" altLang="en-US" sz="1200" i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𝑇</m:t>
                          </m:r>
                          <m:nary>
                            <m:naryPr>
                              <m:limLoc m:val="subSup"/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sub>
                            <m:sup>
                              <m:sSub>
                                <m:sSub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sup>
                            <m:e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  <m:d>
                                <m:d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</m:e>
                          </m:nary>
                          <m:r>
                            <m:rPr>
                              <m:sty m:val="p"/>
                            </m:rPr>
                            <a:rPr lang="zh-CN" altLang="en-US" sz="1200" i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altLang="en-US" sz="1200" i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zh-CN" altLang="en-US" sz="1200" i="1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CC4FA09E-EC77-49A9-A889-37AD8989AE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4112" y="5618460"/>
                <a:ext cx="3389717" cy="70955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127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9">
            <a:extLst>
              <a:ext uri="{FF2B5EF4-FFF2-40B4-BE49-F238E27FC236}">
                <a16:creationId xmlns:a16="http://schemas.microsoft.com/office/drawing/2014/main" id="{A89100B7-1AAF-4E64-A3E4-1A018C425E85}"/>
              </a:ext>
            </a:extLst>
          </p:cNvPr>
          <p:cNvSpPr txBox="1"/>
          <p:nvPr/>
        </p:nvSpPr>
        <p:spPr>
          <a:xfrm>
            <a:off x="870351" y="43709"/>
            <a:ext cx="70824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Efficiency of TEG– </a:t>
            </a:r>
            <a:r>
              <a:rPr lang="en-US" altLang="zh-CN" sz="2000" dirty="0">
                <a:latin typeface="Arial" pitchFamily="34" charset="0"/>
                <a:cs typeface="Arial" pitchFamily="34" charset="0"/>
              </a:rPr>
              <a:t>T dependent properties</a:t>
            </a:r>
            <a:endParaRPr lang="zh-CN" altLang="en-US" sz="2000" dirty="0">
              <a:latin typeface="Arial" pitchFamily="34" charset="0"/>
              <a:cs typeface="Arial" pitchFamily="34" charset="0"/>
            </a:endParaRPr>
          </a:p>
          <a:p>
            <a:endParaRPr lang="zh-CN" altLang="en-US" sz="28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55787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2">
            <a:extLst>
              <a:ext uri="{FF2B5EF4-FFF2-40B4-BE49-F238E27FC236}">
                <a16:creationId xmlns:a16="http://schemas.microsoft.com/office/drawing/2014/main" id="{F8DD90B8-3CEE-4CC6-AB21-8B69220888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7711" y="666996"/>
            <a:ext cx="3994467" cy="28447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045820A7-16B5-4225-B93D-F88318EB7F95}"/>
                  </a:ext>
                </a:extLst>
              </p:cNvPr>
              <p:cNvSpPr/>
              <p:nvPr/>
            </p:nvSpPr>
            <p:spPr>
              <a:xfrm>
                <a:off x="152967" y="697715"/>
                <a:ext cx="3855003" cy="941027"/>
              </a:xfrm>
              <a:prstGeom prst="rect">
                <a:avLst/>
              </a:prstGeom>
              <a:ln w="12700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zh-CN" altLang="en-US" sz="1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num>
                            <m:den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𝑒𝑛𝑔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  <m:r>
                            <a:rPr lang="zh-CN" altLang="en-US" sz="1200" i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sSub>
                                <m:sSub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num>
                            <m:den>
                              <m:nary>
                                <m:naryPr>
                                  <m:limLoc m:val="subSup"/>
                                  <m:grow m:val="on"/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sub>
                                <m:sup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</m:sup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zh-CN" altLang="en-US" sz="120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zh-CN" altLang="en-US" sz="120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𝑑𝑇</m:t>
                                  </m:r>
                                </m:e>
                              </m:nary>
                            </m:den>
                          </m:f>
                          <m:r>
                            <a:rPr lang="zh-CN" altLang="en-US" sz="1200" i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sub>
                              </m:sSub>
                            </m:num>
                            <m:den>
                              <m:d>
                                <m:d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d>
                            </m:den>
                          </m:f>
                          <m:r>
                            <a:rPr lang="zh-CN" altLang="en-US" sz="1200" i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  <m:nary>
                                <m:naryPr>
                                  <m:limLoc m:val="subSup"/>
                                  <m:grow m:val="on"/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sub>
                                <m:sup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</m:sup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  <m:r>
                                    <a:rPr lang="zh-CN" altLang="en-US" sz="120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zh-CN" altLang="en-US" sz="120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𝑑𝑇</m:t>
                                  </m:r>
                                </m:e>
                              </m:nary>
                            </m:num>
                            <m:den>
                              <m:nary>
                                <m:naryPr>
                                  <m:limLoc m:val="subSup"/>
                                  <m:grow m:val="on"/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sub>
                                <m:sup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</m:sup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zh-CN" altLang="en-US" sz="120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zh-CN" altLang="en-US" sz="120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𝑑𝑇</m:t>
                                  </m:r>
                                </m:e>
                              </m:nary>
                            </m:den>
                          </m:f>
                        </m:den>
                      </m:f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045820A7-16B5-4225-B93D-F88318EB7F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967" y="697715"/>
                <a:ext cx="3855003" cy="9410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CC4FA09E-EC77-49A9-A889-37AD8989AE64}"/>
                  </a:ext>
                </a:extLst>
              </p:cNvPr>
              <p:cNvSpPr/>
              <p:nvPr/>
            </p:nvSpPr>
            <p:spPr>
              <a:xfrm>
                <a:off x="385609" y="1759524"/>
                <a:ext cx="3389717" cy="709553"/>
              </a:xfrm>
              <a:prstGeom prst="rect">
                <a:avLst/>
              </a:prstGeom>
              <a:ln w="12700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𝑍𝑇</m:t>
                              </m:r>
                            </m:e>
                          </m:d>
                        </m:e>
                        <m:sub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𝑒𝑛𝑔</m:t>
                          </m:r>
                        </m:sub>
                      </m:sSub>
                      <m:r>
                        <a:rPr lang="zh-CN" altLang="en-US" sz="12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𝑒𝑛𝑔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altLang="en-US" sz="1200" i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zh-CN" altLang="en-US" sz="120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zh-CN" altLang="en-US" sz="1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limLoc m:val="subSup"/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sSub>
                                        <m:sSubPr>
                                          <m:ctrlP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sub>
                                      </m:sSub>
                                    </m:sup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d>
                                        <m:dPr>
                                          <m:ctrlP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</m:d>
                                    </m:e>
                                  </m:nary>
                                  <m:r>
                                    <m:rPr>
                                      <m:sty m:val="p"/>
                                    </m:rP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</m:e>
                            <m:sup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nary>
                            <m:naryPr>
                              <m:limLoc m:val="subSup"/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sub>
                            <m:sup>
                              <m:sSub>
                                <m:sSub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sup>
                            <m:e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d>
                                <m:d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</m:e>
                          </m:nary>
                          <m:r>
                            <m:rPr>
                              <m:sty m:val="p"/>
                            </m:rPr>
                            <a:rPr lang="zh-CN" altLang="en-US" sz="1200" i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𝑇</m:t>
                          </m:r>
                          <m:nary>
                            <m:naryPr>
                              <m:limLoc m:val="subSup"/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sub>
                            <m:sup>
                              <m:sSub>
                                <m:sSub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sup>
                            <m:e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  <m:d>
                                <m:d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</m:e>
                          </m:nary>
                          <m:r>
                            <m:rPr>
                              <m:sty m:val="p"/>
                            </m:rPr>
                            <a:rPr lang="zh-CN" altLang="en-US" sz="1200" i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altLang="en-US" sz="1200" i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zh-CN" altLang="en-US" sz="1200" i="1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CC4FA09E-EC77-49A9-A889-37AD8989AE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609" y="1759524"/>
                <a:ext cx="3389717" cy="7095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箭头: 下 27">
            <a:extLst>
              <a:ext uri="{FF2B5EF4-FFF2-40B4-BE49-F238E27FC236}">
                <a16:creationId xmlns:a16="http://schemas.microsoft.com/office/drawing/2014/main" id="{695F1F71-FF14-4B2F-928F-B7AD0163FE5A}"/>
              </a:ext>
            </a:extLst>
          </p:cNvPr>
          <p:cNvSpPr/>
          <p:nvPr/>
        </p:nvSpPr>
        <p:spPr>
          <a:xfrm>
            <a:off x="1912687" y="2589859"/>
            <a:ext cx="335560" cy="56206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C81CE3C4-D44E-4A25-B5BA-AC3104439490}"/>
                  </a:ext>
                </a:extLst>
              </p:cNvPr>
              <p:cNvSpPr/>
              <p:nvPr/>
            </p:nvSpPr>
            <p:spPr>
              <a:xfrm>
                <a:off x="2330274" y="2589859"/>
                <a:ext cx="729687" cy="4430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12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1200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12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C81CE3C4-D44E-4A25-B5BA-AC31044394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0274" y="2589859"/>
                <a:ext cx="729687" cy="443006"/>
              </a:xfrm>
              <a:prstGeom prst="rect">
                <a:avLst/>
              </a:prstGeom>
              <a:blipFill>
                <a:blip r:embed="rId5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47FE7DD3-A4D2-42D1-98C7-15409F1AF9E9}"/>
                  </a:ext>
                </a:extLst>
              </p:cNvPr>
              <p:cNvSpPr/>
              <p:nvPr/>
            </p:nvSpPr>
            <p:spPr>
              <a:xfrm>
                <a:off x="582386" y="3380583"/>
                <a:ext cx="2761269" cy="87049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zh-CN" altLang="en-US" sz="12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f>
                        <m:fPr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𝑍𝑇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𝑒𝑛𝑔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  <m:sup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</m:e>
                          </m:rad>
                          <m:r>
                            <a:rPr lang="zh-CN" altLang="en-US" sz="1200" i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ad>
                            <m:radPr>
                              <m:degHide m:val="on"/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𝑍𝑇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𝑒𝑛𝑔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  <m:sup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</m:e>
                          </m:rad>
                          <m:r>
                            <a:rPr lang="zh-CN" altLang="en-US" sz="120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47FE7DD3-A4D2-42D1-98C7-15409F1AF9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386" y="3380583"/>
                <a:ext cx="2761269" cy="87049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D898B34D-F943-41AE-B921-C065A7CF042B}"/>
                  </a:ext>
                </a:extLst>
              </p:cNvPr>
              <p:cNvSpPr/>
              <p:nvPr/>
            </p:nvSpPr>
            <p:spPr>
              <a:xfrm>
                <a:off x="-831" y="4362293"/>
                <a:ext cx="4427317" cy="6660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1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𝑆</m:t>
                          </m:r>
                          <m:d>
                            <m:d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limLoc m:val="subSup"/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sub>
                            <m:sup>
                              <m:sSub>
                                <m:sSub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sup>
                            <m:e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d>
                                <m:d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</m:e>
                          </m:nary>
                          <m:r>
                            <m:rPr>
                              <m:sty m:val="p"/>
                            </m:rPr>
                            <a:rPr lang="zh-CN" altLang="en-US" sz="1200" i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zh-CN" altLang="en-US" sz="1200" i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limLoc m:val="subSup"/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sub>
                            <m:sup>
                              <m:sSub>
                                <m:sSub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sup>
                            <m:e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d>
                                <m:d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</m:e>
                          </m:nary>
                          <m:r>
                            <m:rPr>
                              <m:sty m:val="p"/>
                            </m:rPr>
                            <a:rPr lang="zh-CN" altLang="en-US" sz="1200" i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nary>
                            <m:naryPr>
                              <m:limLoc m:val="subSup"/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sub>
                            <m:sup>
                              <m:sSub>
                                <m:sSub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sup>
                            <m:e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d>
                                <m:d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</m:e>
                          </m:nary>
                          <m:r>
                            <m:rPr>
                              <m:sty m:val="p"/>
                            </m:rPr>
                            <a:rPr lang="zh-CN" altLang="en-US" sz="1200" i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sSub>
                        <m:sSubPr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sSub>
                        <m:sSubPr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zh-CN" altLang="en-US" sz="120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1200" i="1">
                          <a:latin typeface="Cambria Math" panose="02040503050406030204" pitchFamily="18" charset="0"/>
                        </a:rPr>
                        <m:t>𝑖</m:t>
                      </m:r>
                      <m:sSub>
                        <m:sSubPr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𝐽</m:t>
                          </m:r>
                        </m:sub>
                      </m:sSub>
                      <m:sSub>
                        <m:sSubPr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=0,1,2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D898B34D-F943-41AE-B921-C065A7CF04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31" y="4362293"/>
                <a:ext cx="4427317" cy="66608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361880FE-2E53-4E47-8FDC-2EEBBE32F06A}"/>
                  </a:ext>
                </a:extLst>
              </p:cNvPr>
              <p:cNvSpPr/>
              <p:nvPr/>
            </p:nvSpPr>
            <p:spPr>
              <a:xfrm>
                <a:off x="929339" y="5137527"/>
                <a:ext cx="2067361" cy="4681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𝑜𝑝𝑡</m:t>
                          </m:r>
                        </m:sub>
                        <m:sup>
                          <m:r>
                            <a:rPr lang="zh-CN" altLang="en-US" sz="120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zh-CN" altLang="en-US" sz="1200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zh-CN" altLang="en-US" sz="1200" i="0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𝑍𝑇</m:t>
                                  </m:r>
                                </m:e>
                              </m:d>
                            </m:e>
                            <m:sub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𝑒𝑛𝑔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  <m:sup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361880FE-2E53-4E47-8FDC-2EEBBE32F0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339" y="5137527"/>
                <a:ext cx="2067361" cy="46814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649ACCA-ABD9-4C01-A657-1D61D0D3F1D1}"/>
              </a:ext>
            </a:extLst>
          </p:cNvPr>
          <p:cNvSpPr/>
          <p:nvPr/>
        </p:nvSpPr>
        <p:spPr>
          <a:xfrm>
            <a:off x="100668" y="3269368"/>
            <a:ext cx="4043493" cy="245192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4" name="Picture 3">
            <a:extLst>
              <a:ext uri="{FF2B5EF4-FFF2-40B4-BE49-F238E27FC236}">
                <a16:creationId xmlns:a16="http://schemas.microsoft.com/office/drawing/2014/main" id="{BBCB3CE9-C89E-451B-BBDA-E4807222E1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3176" y="3448004"/>
            <a:ext cx="3788898" cy="2685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0DE2080D-E6D0-49F2-923F-5D44703D4615}"/>
              </a:ext>
            </a:extLst>
          </p:cNvPr>
          <p:cNvCxnSpPr/>
          <p:nvPr/>
        </p:nvCxnSpPr>
        <p:spPr>
          <a:xfrm flipV="1">
            <a:off x="5322627" y="3594746"/>
            <a:ext cx="2634018" cy="1869742"/>
          </a:xfrm>
          <a:prstGeom prst="line">
            <a:avLst/>
          </a:prstGeom>
          <a:ln w="76200">
            <a:solidFill>
              <a:srgbClr val="00B050">
                <a:alpha val="51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7BC8690E-F6B5-41A3-949E-BD3BB2689FE6}"/>
              </a:ext>
            </a:extLst>
          </p:cNvPr>
          <p:cNvCxnSpPr/>
          <p:nvPr/>
        </p:nvCxnSpPr>
        <p:spPr>
          <a:xfrm flipV="1">
            <a:off x="5269534" y="893487"/>
            <a:ext cx="1573633" cy="206081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65A91C6E-1405-4891-8C1F-3BDF76EF2D7A}"/>
              </a:ext>
            </a:extLst>
          </p:cNvPr>
          <p:cNvCxnSpPr/>
          <p:nvPr/>
        </p:nvCxnSpPr>
        <p:spPr>
          <a:xfrm flipV="1">
            <a:off x="5239395" y="1923893"/>
            <a:ext cx="2804775" cy="103040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B9355710-7ED4-4721-8F10-E14362A77736}"/>
                  </a:ext>
                </a:extLst>
              </p:cNvPr>
              <p:cNvSpPr/>
              <p:nvPr/>
            </p:nvSpPr>
            <p:spPr>
              <a:xfrm>
                <a:off x="33836" y="6096777"/>
                <a:ext cx="8942576" cy="391902"/>
              </a:xfrm>
              <a:prstGeom prst="rect">
                <a:avLst/>
              </a:prstGeom>
              <a:ln w="12700"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𝑍𝑇</m:t>
                            </m:r>
                          </m:e>
                        </m:d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𝑒𝑛𝑔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 found to be a good index for thermoelectric performance on the device level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B9355710-7ED4-4721-8F10-E14362A777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36" y="6096777"/>
                <a:ext cx="8942576" cy="391902"/>
              </a:xfrm>
              <a:prstGeom prst="rect">
                <a:avLst/>
              </a:prstGeom>
              <a:blipFill>
                <a:blip r:embed="rId10"/>
                <a:stretch>
                  <a:fillRect t="-6061" r="-68" b="-16667"/>
                </a:stretch>
              </a:blipFill>
              <a:ln w="127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9">
            <a:extLst>
              <a:ext uri="{FF2B5EF4-FFF2-40B4-BE49-F238E27FC236}">
                <a16:creationId xmlns:a16="http://schemas.microsoft.com/office/drawing/2014/main" id="{3C834335-D4C6-408C-9A6B-00FAE992E294}"/>
              </a:ext>
            </a:extLst>
          </p:cNvPr>
          <p:cNvSpPr txBox="1"/>
          <p:nvPr/>
        </p:nvSpPr>
        <p:spPr>
          <a:xfrm>
            <a:off x="870351" y="43709"/>
            <a:ext cx="70824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Efficiency of TEG– </a:t>
            </a:r>
            <a:r>
              <a:rPr lang="en-US" altLang="zh-CN" sz="2000" dirty="0">
                <a:latin typeface="Arial" pitchFamily="34" charset="0"/>
                <a:cs typeface="Arial" pitchFamily="34" charset="0"/>
              </a:rPr>
              <a:t>T dependent properties</a:t>
            </a:r>
            <a:endParaRPr lang="zh-CN" altLang="en-US" sz="2000" dirty="0">
              <a:latin typeface="Arial" pitchFamily="34" charset="0"/>
              <a:cs typeface="Arial" pitchFamily="34" charset="0"/>
            </a:endParaRPr>
          </a:p>
          <a:p>
            <a:endParaRPr lang="zh-CN" altLang="en-US" sz="28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30424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12**. TEG of a real system </a:t>
            </a:r>
            <a:br>
              <a:rPr lang="en-US" altLang="zh-CN" sz="2800" dirty="0">
                <a:solidFill>
                  <a:srgbClr val="FF0000"/>
                </a:solidFill>
              </a:rPr>
            </a:br>
            <a:r>
              <a:rPr lang="en-US" altLang="zh-CN" sz="2800" dirty="0">
                <a:solidFill>
                  <a:srgbClr val="FF0000"/>
                </a:solidFill>
              </a:rPr>
              <a:t>         </a:t>
            </a:r>
            <a:r>
              <a:rPr lang="en-US" altLang="zh-CN" sz="2000" dirty="0"/>
              <a:t>Considering </a:t>
            </a:r>
            <a:r>
              <a:rPr lang="zh-CN" altLang="en-US" sz="2000" dirty="0"/>
              <a:t> </a:t>
            </a:r>
            <a:r>
              <a:rPr lang="en-US" altLang="zh-CN" sz="2000" dirty="0"/>
              <a:t>external thermal resistance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8898690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7">
            <a:extLst>
              <a:ext uri="{FF2B5EF4-FFF2-40B4-BE49-F238E27FC236}">
                <a16:creationId xmlns:a16="http://schemas.microsoft.com/office/drawing/2014/main" id="{9106C780-0AA0-4E9A-A01C-E99D8FA5711F}"/>
              </a:ext>
            </a:extLst>
          </p:cNvPr>
          <p:cNvSpPr txBox="1"/>
          <p:nvPr/>
        </p:nvSpPr>
        <p:spPr>
          <a:xfrm>
            <a:off x="-6143" y="72935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itchFamily="34" charset="0"/>
                <a:cs typeface="Arial" pitchFamily="34" charset="0"/>
              </a:rPr>
              <a:t>What if </a:t>
            </a:r>
            <a:r>
              <a:rPr lang="en-US" altLang="zh-CN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the boundary temperatures are unknown</a:t>
            </a:r>
            <a:r>
              <a:rPr lang="en-US" altLang="zh-CN" sz="2000" dirty="0">
                <a:latin typeface="Arial" pitchFamily="34" charset="0"/>
                <a:cs typeface="Arial" pitchFamily="34" charset="0"/>
              </a:rPr>
              <a:t> (common for real applications)?</a:t>
            </a:r>
            <a:endParaRPr lang="en-US" altLang="zh-CN" sz="2000" dirty="0"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DB60C640-4898-44CA-AF04-D2BC32A05A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85439" y="1138006"/>
          <a:ext cx="4962525" cy="247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4598588" imgH="5754965" progId="Origin50.Graph">
                  <p:embed/>
                </p:oleObj>
              </mc:Choice>
              <mc:Fallback>
                <p:oleObj name="Graph" r:id="rId2" imgW="4598588" imgH="5754965" progId="Origin50.Graph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DB60C640-4898-44CA-AF04-D2BC32A05A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9708" t="1126" r="6889" b="65871"/>
                      <a:stretch>
                        <a:fillRect/>
                      </a:stretch>
                    </p:blipFill>
                    <p:spPr bwMode="auto">
                      <a:xfrm>
                        <a:off x="4085439" y="1138006"/>
                        <a:ext cx="4962525" cy="2476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7">
                <a:extLst>
                  <a:ext uri="{FF2B5EF4-FFF2-40B4-BE49-F238E27FC236}">
                    <a16:creationId xmlns:a16="http://schemas.microsoft.com/office/drawing/2014/main" id="{4CB4B443-0970-4599-B62B-6EF38BCF4F2D}"/>
                  </a:ext>
                </a:extLst>
              </p:cNvPr>
              <p:cNvSpPr txBox="1"/>
              <p:nvPr/>
            </p:nvSpPr>
            <p:spPr>
              <a:xfrm>
                <a:off x="0" y="1229373"/>
                <a:ext cx="4005575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>
                    <a:latin typeface="Arial" pitchFamily="34" charset="0"/>
                    <a:cs typeface="Arial" pitchFamily="34" charset="0"/>
                  </a:rPr>
                  <a:t>External thermal resistances (of various levels) exist at the hot and cold sides of the TEG, which 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</a:rPr>
                  <a:t>contract the effective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Δ</m:t>
                        </m:r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𝑇</m:t>
                        </m:r>
                      </m:e>
                      <m:sup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from the 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Δ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𝑇</m:t>
                    </m:r>
                  </m:oMath>
                </a14:m>
                <a:r>
                  <a:rPr lang="en-US" altLang="zh-CN" sz="2000" dirty="0">
                    <a:cs typeface="Times New Roman" panose="02020603050405020304" pitchFamily="18" charset="0"/>
                  </a:rPr>
                  <a:t> provided by the specific thermal environment</a:t>
                </a:r>
              </a:p>
            </p:txBody>
          </p:sp>
        </mc:Choice>
        <mc:Fallback xmlns="">
          <p:sp>
            <p:nvSpPr>
              <p:cNvPr id="20" name="TextBox 7">
                <a:extLst>
                  <a:ext uri="{FF2B5EF4-FFF2-40B4-BE49-F238E27FC236}">
                    <a16:creationId xmlns:a16="http://schemas.microsoft.com/office/drawing/2014/main" id="{4CB4B443-0970-4599-B62B-6EF38BCF4F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229373"/>
                <a:ext cx="4005575" cy="1938992"/>
              </a:xfrm>
              <a:prstGeom prst="rect">
                <a:avLst/>
              </a:prstGeom>
              <a:blipFill>
                <a:blip r:embed="rId5"/>
                <a:stretch>
                  <a:fillRect l="-1522" t="-1572" r="-2588" b="-50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7">
            <a:extLst>
              <a:ext uri="{FF2B5EF4-FFF2-40B4-BE49-F238E27FC236}">
                <a16:creationId xmlns:a16="http://schemas.microsoft.com/office/drawing/2014/main" id="{3395E845-98B0-4545-AC0D-206B8C6C69A5}"/>
              </a:ext>
            </a:extLst>
          </p:cNvPr>
          <p:cNvSpPr txBox="1"/>
          <p:nvPr/>
        </p:nvSpPr>
        <p:spPr>
          <a:xfrm>
            <a:off x="0" y="3623052"/>
            <a:ext cx="91378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itchFamily="34" charset="0"/>
                <a:cs typeface="Arial" pitchFamily="34" charset="0"/>
              </a:rPr>
              <a:t>To answer this question, go back to the governing equation with general thermal boundary conditions</a:t>
            </a:r>
            <a:endParaRPr lang="en-US" altLang="zh-CN" sz="2000" dirty="0"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77B56439-0337-46B0-894E-101FBF79D51C}"/>
                  </a:ext>
                </a:extLst>
              </p:cNvPr>
              <p:cNvSpPr/>
              <p:nvPr/>
            </p:nvSpPr>
            <p:spPr>
              <a:xfrm>
                <a:off x="170915" y="4620792"/>
                <a:ext cx="2476832" cy="137460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zh-CN" altLang="en-US" sz="1200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zh-CN" altLang="en-US" sz="1200">
                              <a:latin typeface="Cambria Math" panose="02040503050406030204" pitchFamily="18" charset="0"/>
                            </a:rPr>
                            <m:t>&amp;</m:t>
                          </m:r>
                          <m:d>
                            <m:dPr>
                              <m:begChr m:val="{"/>
                              <m:endChr m:val=""/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&amp;</m:t>
                                  </m:r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𝜅</m:t>
                                  </m:r>
                                  <m:f>
                                    <m:f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p>
                                          <m:r>
                                            <a:rPr lang="zh-CN" altLang="en-US" sz="1200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num>
                                    <m:den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sSup>
                                        <m:sSupPr>
                                          <m:ctrlP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zh-CN" altLang="en-US" sz="1200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𝐼</m:t>
                                          </m:r>
                                        </m:e>
                                        <m:sup>
                                          <m:r>
                                            <a:rPr lang="zh-CN" altLang="en-US" sz="1200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p>
                                          <m:r>
                                            <a:rPr lang="zh-CN" altLang="en-US" sz="1200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  <m:e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&amp;−</m:t>
                                  </m:r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𝜅</m:t>
                                  </m:r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f>
                                    <m:f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𝑑𝑇</m:t>
                                      </m:r>
                                    </m:num>
                                    <m:den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𝑑𝑥</m:t>
                                      </m:r>
                                    </m:den>
                                  </m:f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zh-CN" altLang="en-US" sz="120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  <m:sSubSup>
                                    <m:sSubSup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  <m:sup>
                                      <m:r>
                                        <a:rPr lang="zh-CN" altLang="en-US" sz="1200" i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f>
                                    <m:f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sub>
                                      </m:sSub>
                                      <m:r>
                                        <a:rPr lang="zh-CN" altLang="en-US" sz="1200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sub>
                                        <m:sup>
                                          <m:r>
                                            <a:rPr lang="zh-CN" altLang="en-US" sz="1200" i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zh-CN" altLang="en-US" sz="1200" i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  <m:e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&amp;−</m:t>
                                  </m:r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𝜅</m:t>
                                  </m:r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f>
                                    <m:f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𝑑𝑇</m:t>
                                      </m:r>
                                    </m:num>
                                    <m:den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𝑑𝑥</m:t>
                                      </m:r>
                                    </m:den>
                                  </m:f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zh-CN" altLang="en-US" sz="120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  <m:sSubSup>
                                    <m:sSubSup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  <m:sup>
                                      <m:r>
                                        <a:rPr lang="zh-CN" altLang="en-US" sz="1200" i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f>
                                    <m:f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Sup>
                                        <m:sSubSupPr>
                                          <m:ctrlP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  <m:sup>
                                          <m:r>
                                            <a:rPr lang="zh-CN" altLang="en-US" sz="1200" i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zh-CN" altLang="en-US" sz="1200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zh-CN" altLang="en-US" sz="1200" i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</m:eqArr>
                            </m:e>
                          </m:d>
                          <m:r>
                            <a:rPr lang="zh-CN" altLang="en-US" sz="1200" i="0">
                              <a:latin typeface="Cambria Math" panose="02040503050406030204" pitchFamily="18" charset="0"/>
                            </a:rPr>
                            <m:t>#</m:t>
                          </m:r>
                        </m:e>
                      </m:eqAr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77B56439-0337-46B0-894E-101FBF79D5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915" y="4620792"/>
                <a:ext cx="2476832" cy="137460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1F28DA1F-8160-4999-9D83-EEBFEBFC0F27}"/>
                  </a:ext>
                </a:extLst>
              </p:cNvPr>
              <p:cNvSpPr/>
              <p:nvPr/>
            </p:nvSpPr>
            <p:spPr>
              <a:xfrm>
                <a:off x="3756080" y="4407848"/>
                <a:ext cx="5217005" cy="18004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zh-CN" altLang="en-US" sz="1200">
                              <a:latin typeface="Cambria Math" panose="02040503050406030204" pitchFamily="18" charset="0"/>
                            </a:rPr>
                            <m:t>&amp;</m:t>
                          </m:r>
                          <m:d>
                            <m:dPr>
                              <m:begChr m:val="{"/>
                              <m:endChr m:val=""/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&amp;</m:t>
                                  </m:r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=−</m:t>
                                  </m:r>
                                  <m:f>
                                    <m:f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zh-CN" altLang="en-US" sz="1200" i="0">
                                              <a:latin typeface="Cambria Math" panose="02040503050406030204" pitchFamily="18" charset="0"/>
                                            </a:rPr>
                                            <m:t>0.5</m:t>
                                          </m:r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𝐼</m:t>
                                          </m:r>
                                        </m:e>
                                        <m:sup>
                                          <m:r>
                                            <a:rPr lang="zh-CN" altLang="en-US" sz="1200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zh-CN" altLang="en-US" sz="1200" i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p>
                                          <m:r>
                                            <a:rPr lang="zh-CN" altLang="en-US" sz="1200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  <m:sSup>
                                    <m:sSup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zh-CN" altLang="en-US" sz="12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zh-CN" altLang="en-US" sz="120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zh-CN" altLang="en-US" sz="12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&amp;</m:t>
                                  </m:r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zh-CN" altLang="en-US" sz="120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f>
                                    <m:f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120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den>
                                  </m:f>
                                  <m:f>
                                    <m:f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𝑐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sz="1200" i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  <m:sSup>
                                        <m:sSupPr>
                                          <m:ctrlP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𝐼</m:t>
                                          </m:r>
                                        </m:e>
                                        <m:sup>
                                          <m:r>
                                            <a:rPr lang="zh-CN" altLang="en-US" sz="1200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zh-CN" altLang="en-US" sz="1200" i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sub>
                                      </m:sSub>
                                      <m:r>
                                        <a:rPr lang="zh-CN" altLang="en-US" sz="1200" i="0">
                                          <a:latin typeface="Cambria Math" panose="02040503050406030204" pitchFamily="18" charset="0"/>
                                        </a:rPr>
                                        <m:t>+0.5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200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200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sSup>
                                        <m:sSupPr>
                                          <m:ctrlP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𝐼</m:t>
                                          </m:r>
                                        </m:e>
                                        <m:sup>
                                          <m:r>
                                            <a:rPr lang="zh-CN" altLang="en-US" sz="1200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zh-CN" altLang="en-US" sz="1200" i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sub>
                                      </m:sSub>
                                      <m:r>
                                        <a:rPr lang="zh-CN" altLang="en-US" sz="1200" i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zh-CN" altLang="en-US" sz="1200" i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sub>
                                      </m:sSub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  <m:d>
                                        <m:dPr>
                                          <m:ctrlP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𝑐</m:t>
                                              </m:r>
                                            </m:sub>
                                          </m:sSub>
                                          <m:r>
                                            <a:rPr lang="zh-CN" altLang="en-US" sz="1200" i="0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𝑐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zh-CN" altLang="en-US" sz="1200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1200" i="0"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sub>
                                      </m:sSub>
                                      <m:r>
                                        <a:rPr lang="zh-CN" altLang="en-US" sz="1200" i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  <m:r>
                                        <a:rPr lang="zh-CN" altLang="en-US" sz="1200" i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200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200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  <m:e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&amp;</m:t>
                                  </m:r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zh-CN" altLang="en-US" sz="12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f>
                                    <m:f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120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200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begChr m:val="["/>
                                              <m:endChr m:val="]"/>
                                              <m:ctrlP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zh-CN" alt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zh-CN" altLang="en-US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zh-CN" altLang="en-US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𝑐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zh-CN" altLang="en-US" sz="1200" i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</m:t>
                                                      </m:r>
                                                    </m:sub>
                                                  </m:sSub>
                                                  <m:r>
                                                    <a:rPr lang="zh-CN" alt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𝑓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zh-CN" alt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𝑐</m:t>
                                                  </m:r>
                                                </m:sub>
                                              </m:sSub>
                                              <m:sSup>
                                                <m:sSupPr>
                                                  <m:ctrlPr>
                                                    <a:rPr lang="zh-CN" alt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zh-CN" alt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𝐼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zh-CN" altLang="en-US" sz="1200" i="0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p>
                                              </m:sSup>
                                              <m: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𝑅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zh-CN" alt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zh-CN" alt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𝑅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zh-CN" alt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  <m:r>
                                                    <a:rPr lang="zh-CN" altLang="en-US" sz="1200" i="0">
                                                      <a:latin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zh-CN" alt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𝑙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zh-CN" altLang="en-US" sz="1200" i="0">
                                                  <a:latin typeface="Cambria Math" panose="02040503050406030204" pitchFamily="18" charset="0"/>
                                                </a:rPr>
                                                <m:t>+0.5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zh-CN" alt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zh-CN" alt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𝑐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zh-CN" altLang="en-US" sz="1200" i="0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zh-CN" alt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zh-CN" alt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𝑐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zh-CN" altLang="en-US" sz="1200" i="0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b>
                                              </m:sSub>
                                              <m:sSup>
                                                <m:sSupPr>
                                                  <m:ctrlPr>
                                                    <a:rPr lang="zh-CN" alt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zh-CN" alt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𝐼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zh-CN" altLang="en-US" sz="1200" i="0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p>
                                              </m:sSup>
                                              <m: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𝑅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zh-CN" alt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zh-CN" alt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𝑅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zh-CN" alt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  <m:r>
                                                    <a:rPr lang="zh-CN" altLang="en-US" sz="1200" i="0">
                                                      <a:latin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zh-CN" alt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𝑙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zh-CN" altLang="en-US" sz="1200" i="0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zh-CN" alt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zh-CN" alt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𝛼</m:t>
                                                  </m:r>
                                                  <m:r>
                                                    <a:rPr lang="zh-CN" alt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𝑅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zh-CN" alt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  <m:r>
                                                    <a:rPr lang="zh-CN" altLang="en-US" sz="1200" i="0">
                                                      <a:latin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zh-CN" alt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𝑙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𝐼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zh-CN" alt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zh-CN" altLang="en-US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zh-CN" altLang="en-US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𝑓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zh-CN" altLang="en-US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h</m:t>
                                                      </m:r>
                                                    </m:sub>
                                                  </m:sSub>
                                                  <m:sSub>
                                                    <m:sSubPr>
                                                      <m:ctrlPr>
                                                        <a:rPr lang="zh-CN" altLang="en-US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zh-CN" altLang="en-US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𝑇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zh-CN" altLang="en-US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𝑐</m:t>
                                                      </m:r>
                                                    </m:sub>
                                                  </m:sSub>
                                                  <m:r>
                                                    <a:rPr lang="zh-CN" altLang="en-US" sz="1200" i="0">
                                                      <a:latin typeface="Cambria Math" panose="02040503050406030204" pitchFamily="18" charset="0"/>
                                                    </a:rPr>
                                                    <m:t>+</m:t>
                                                  </m:r>
                                                  <m:sSub>
                                                    <m:sSubPr>
                                                      <m:ctrlPr>
                                                        <a:rPr lang="zh-CN" altLang="en-US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zh-CN" altLang="en-US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𝑓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zh-CN" altLang="en-US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𝑐</m:t>
                                                      </m:r>
                                                    </m:sub>
                                                  </m:sSub>
                                                  <m:sSub>
                                                    <m:sSubPr>
                                                      <m:ctrlPr>
                                                        <a:rPr lang="zh-CN" altLang="en-US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zh-CN" altLang="en-US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𝑇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zh-CN" altLang="en-US" sz="12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h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  <m:r>
                                                <a:rPr lang="zh-CN" altLang="en-US" sz="1200" i="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zh-CN" altLang="en-US" sz="1200" i="0">
                                                  <a:latin typeface="Cambria Math" panose="02040503050406030204" pitchFamily="18" charset="0"/>
                                                </a:rPr>
                                                <m:t>Δ</m:t>
                                              </m:r>
                                              <m: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</m:e>
                                          </m:d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sub>
                                          </m:sSub>
                                          <m:r>
                                            <a:rPr lang="zh-CN" altLang="en-US" sz="1200" i="0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𝑐</m:t>
                                              </m:r>
                                            </m:sub>
                                          </m:sSub>
                                          <m:r>
                                            <a:rPr lang="zh-CN" altLang="en-US" sz="1200" i="0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𝑐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sz="1200" i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𝑐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sz="1200" i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  <m:r>
                                        <a:rPr lang="zh-CN" altLang="en-US" sz="1200" i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e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&amp;</m:t>
                                  </m:r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zh-CN" altLang="en-US" sz="120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0"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zh-CN" altLang="en-US" sz="1200" i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e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&amp;</m:t>
                                  </m:r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zh-CN" altLang="en-US" sz="12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zh-CN" altLang="en-US" sz="1200" i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</m:eqArr>
                            </m:e>
                          </m:d>
                          <m:r>
                            <a:rPr lang="zh-CN" altLang="en-US" sz="1200" i="0">
                              <a:latin typeface="Cambria Math" panose="02040503050406030204" pitchFamily="18" charset="0"/>
                            </a:rPr>
                            <m:t>#</m:t>
                          </m:r>
                        </m:e>
                      </m:eqAr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1F28DA1F-8160-4999-9D83-EEBFEBFC0F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6080" y="4407848"/>
                <a:ext cx="5217005" cy="180049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箭头: 右 4">
            <a:extLst>
              <a:ext uri="{FF2B5EF4-FFF2-40B4-BE49-F238E27FC236}">
                <a16:creationId xmlns:a16="http://schemas.microsoft.com/office/drawing/2014/main" id="{96949041-F119-4E92-A56E-768E21270EAC}"/>
              </a:ext>
            </a:extLst>
          </p:cNvPr>
          <p:cNvSpPr/>
          <p:nvPr/>
        </p:nvSpPr>
        <p:spPr>
          <a:xfrm>
            <a:off x="2838653" y="5179907"/>
            <a:ext cx="666572" cy="2563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04610488-DD6F-4776-A511-9F906BD2E3F5}"/>
                  </a:ext>
                </a:extLst>
              </p:cNvPr>
              <p:cNvSpPr/>
              <p:nvPr/>
            </p:nvSpPr>
            <p:spPr>
              <a:xfrm>
                <a:off x="2616409" y="4481012"/>
                <a:ext cx="1040285" cy="2852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zh-CN" altLang="en-US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sz="12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zh-CN" altLang="en-US" sz="12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sSub>
                        <m:sSubPr>
                          <m:ctrlPr>
                            <a:rPr lang="zh-CN" altLang="en-US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zh-CN" altLang="en-US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sz="12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04610488-DD6F-4776-A511-9F906BD2E3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6409" y="4481012"/>
                <a:ext cx="1040285" cy="285206"/>
              </a:xfrm>
              <a:prstGeom prst="rect">
                <a:avLst/>
              </a:prstGeom>
              <a:blipFill>
                <a:blip r:embed="rId8"/>
                <a:stretch>
                  <a:fillRect b="-42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9365E4BB-C11E-47E4-992B-6999BBD25DC3}"/>
                  </a:ext>
                </a:extLst>
              </p:cNvPr>
              <p:cNvSpPr/>
              <p:nvPr/>
            </p:nvSpPr>
            <p:spPr>
              <a:xfrm>
                <a:off x="2616409" y="4842998"/>
                <a:ext cx="1006942" cy="2852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zh-CN" altLang="en-US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sz="12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zh-CN" altLang="en-US" sz="12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 lang="zh-CN" altLang="en-US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zh-CN" altLang="en-US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sz="12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9365E4BB-C11E-47E4-992B-6999BBD25D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6409" y="4842998"/>
                <a:ext cx="1006942" cy="285206"/>
              </a:xfrm>
              <a:prstGeom prst="rect">
                <a:avLst/>
              </a:prstGeom>
              <a:blipFill>
                <a:blip r:embed="rId9"/>
                <a:stretch>
                  <a:fillRect b="-42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9">
            <a:extLst>
              <a:ext uri="{FF2B5EF4-FFF2-40B4-BE49-F238E27FC236}">
                <a16:creationId xmlns:a16="http://schemas.microsoft.com/office/drawing/2014/main" id="{3193EF99-C6A5-4BBC-A1E2-07913DF020A1}"/>
              </a:ext>
            </a:extLst>
          </p:cNvPr>
          <p:cNvSpPr txBox="1"/>
          <p:nvPr/>
        </p:nvSpPr>
        <p:spPr>
          <a:xfrm>
            <a:off x="870351" y="43709"/>
            <a:ext cx="7268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Efficiency of TEG– </a:t>
            </a:r>
            <a:r>
              <a:rPr lang="en-US" altLang="zh-CN" sz="2000" dirty="0"/>
              <a:t>external thermal resistance</a:t>
            </a:r>
            <a:endParaRPr lang="zh-CN" altLang="en-US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Rectangle 39">
            <a:extLst>
              <a:ext uri="{FF2B5EF4-FFF2-40B4-BE49-F238E27FC236}">
                <a16:creationId xmlns:a16="http://schemas.microsoft.com/office/drawing/2014/main" id="{E1BF4FEE-432E-40C9-BB39-68417D2FBB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21" y="6208341"/>
            <a:ext cx="380110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en-US" i="1" dirty="0"/>
              <a:t>K Zhu, W. S. Liu, et al.,</a:t>
            </a:r>
            <a:r>
              <a:rPr lang="zh-CN" altLang="en-US" i="1" dirty="0"/>
              <a:t> </a:t>
            </a:r>
            <a:r>
              <a:rPr lang="en-US" altLang="zh-CN" i="1" dirty="0"/>
              <a:t>EES</a:t>
            </a:r>
            <a:r>
              <a:rPr lang="en-US" altLang="zh-CN" dirty="0"/>
              <a:t> (</a:t>
            </a:r>
            <a:r>
              <a:rPr lang="en-US" altLang="en-US" dirty="0"/>
              <a:t>2020)</a:t>
            </a:r>
            <a:endParaRPr lang="en-US" altLang="en-US" dirty="0">
              <a:ea typeface="宋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EDB728FB-845C-438F-ABA9-E82ADB03179D}"/>
                  </a:ext>
                </a:extLst>
              </p:cNvPr>
              <p:cNvSpPr txBox="1"/>
              <p:nvPr/>
            </p:nvSpPr>
            <p:spPr>
              <a:xfrm>
                <a:off x="3889637" y="6162174"/>
                <a:ext cx="494989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solidFill>
                      <a:srgbClr val="FF0000"/>
                    </a:solidFill>
                  </a:rPr>
                  <a:t>The </a:t>
                </a:r>
                <a:r>
                  <a:rPr lang="en-US" altLang="zh-CN" sz="1200" dirty="0" err="1">
                    <a:solidFill>
                      <a:srgbClr val="FF0000"/>
                    </a:solidFill>
                  </a:rPr>
                  <a:t>Seebeck</a:t>
                </a:r>
                <a:r>
                  <a:rPr lang="en-US" altLang="zh-CN" sz="1200" dirty="0">
                    <a:solidFill>
                      <a:srgbClr val="FF0000"/>
                    </a:solidFill>
                  </a:rPr>
                  <a:t> coefficient is denoted here as </a:t>
                </a:r>
                <a14:m>
                  <m:oMath xmlns:m="http://schemas.openxmlformats.org/officeDocument/2006/math">
                    <m:r>
                      <a:rPr lang="zh-CN" altLang="en-US" sz="1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sz="12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1200" dirty="0">
                    <a:solidFill>
                      <a:srgbClr val="FF0000"/>
                    </a:solidFill>
                  </a:rPr>
                  <a:t>to avoid any confusion with the entropy term (S) which will appear later</a:t>
                </a:r>
                <a:endParaRPr lang="zh-CN" altLang="en-US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EDB728FB-845C-438F-ABA9-E82ADB0317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9637" y="6162174"/>
                <a:ext cx="4949890" cy="461665"/>
              </a:xfrm>
              <a:prstGeom prst="rect">
                <a:avLst/>
              </a:prstGeom>
              <a:blipFill>
                <a:blip r:embed="rId10"/>
                <a:stretch>
                  <a:fillRect t="-2632" b="-78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61574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7">
            <a:extLst>
              <a:ext uri="{FF2B5EF4-FFF2-40B4-BE49-F238E27FC236}">
                <a16:creationId xmlns:a16="http://schemas.microsoft.com/office/drawing/2014/main" id="{166E6C67-0D68-42B1-8959-015752BB6674}"/>
              </a:ext>
            </a:extLst>
          </p:cNvPr>
          <p:cNvSpPr txBox="1"/>
          <p:nvPr/>
        </p:nvSpPr>
        <p:spPr>
          <a:xfrm>
            <a:off x="-6143" y="729350"/>
            <a:ext cx="5686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itchFamily="34" charset="0"/>
                <a:cs typeface="Arial" pitchFamily="34" charset="0"/>
              </a:rPr>
              <a:t>Exact solution for the effective temperature difference:</a:t>
            </a:r>
            <a:endParaRPr lang="en-US" altLang="zh-CN" dirty="0"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C03BF1E9-4189-487C-9B6D-D36FE401AA05}"/>
                  </a:ext>
                </a:extLst>
              </p:cNvPr>
              <p:cNvSpPr/>
              <p:nvPr/>
            </p:nvSpPr>
            <p:spPr>
              <a:xfrm>
                <a:off x="3212927" y="3103856"/>
                <a:ext cx="1121076" cy="4760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zh-CN" altLang="en-US" sz="1200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zh-CN" altLang="en-US" sz="120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zh-CN" altLang="en-US" sz="1200" i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p>
                                <m:sSup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p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d>
                                <m:d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d>
                            </m:den>
                          </m:f>
                          <m:r>
                            <a:rPr lang="zh-CN" altLang="en-US" sz="1200" i="0">
                              <a:latin typeface="Cambria Math" panose="02040503050406030204" pitchFamily="18" charset="0"/>
                            </a:rPr>
                            <m:t>#</m:t>
                          </m:r>
                        </m:e>
                      </m:eqAr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03BF1E9-4189-487C-9B6D-D36FE401AA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2927" y="3103856"/>
                <a:ext cx="1121076" cy="47609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7">
                <a:extLst>
                  <a:ext uri="{FF2B5EF4-FFF2-40B4-BE49-F238E27FC236}">
                    <a16:creationId xmlns:a16="http://schemas.microsoft.com/office/drawing/2014/main" id="{F9048BDC-6D37-4C25-AADE-1D8B88C40ADE}"/>
                  </a:ext>
                </a:extLst>
              </p:cNvPr>
              <p:cNvSpPr txBox="1"/>
              <p:nvPr/>
            </p:nvSpPr>
            <p:spPr>
              <a:xfrm>
                <a:off x="114245" y="4937510"/>
                <a:ext cx="4716869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Arial" pitchFamily="34" charset="0"/>
                    <a:cs typeface="Arial" pitchFamily="34" charset="0"/>
                  </a:rPr>
                  <a:t>Both 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altLang="zh-CN" sz="1600" dirty="0">
                    <a:latin typeface="Arial" pitchFamily="34" charset="0"/>
                    <a:cs typeface="Arial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 sz="1600">
                        <a:latin typeface="Cambria Math" panose="02040503050406030204" pitchFamily="18" charset="0"/>
                      </a:rPr>
                      <m:t>Δ</m:t>
                    </m:r>
                    <m:sSup>
                      <m:sSupPr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zh-CN" altLang="en-US" sz="16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CN" sz="1600" dirty="0">
                    <a:latin typeface="Arial" pitchFamily="34" charset="0"/>
                    <a:cs typeface="Arial" pitchFamily="34" charset="0"/>
                  </a:rPr>
                  <a:t> are supposed to be solved here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Arial" pitchFamily="34" charset="0"/>
                    <a:cs typeface="Arial" pitchFamily="34" charset="0"/>
                  </a:rPr>
                  <a:t>But the cubic equation of 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altLang="zh-CN" sz="1600" dirty="0">
                    <a:latin typeface="Arial" pitchFamily="34" charset="0"/>
                    <a:cs typeface="Arial" pitchFamily="34" charset="0"/>
                  </a:rPr>
                  <a:t> is too complicated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</a:rPr>
                  <a:t>So we need to simplify the temperature profile</a:t>
                </a:r>
                <a:endParaRPr lang="en-US" altLang="zh-CN" sz="1600" dirty="0">
                  <a:solidFill>
                    <a:srgbClr val="FF0000"/>
                  </a:solidFill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TextBox 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9048BDC-6D37-4C25-AADE-1D8B88C40A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45" y="4937510"/>
                <a:ext cx="4716869" cy="1200329"/>
              </a:xfrm>
              <a:prstGeom prst="rect">
                <a:avLst/>
              </a:prstGeom>
              <a:blipFill rotWithShape="0">
                <a:blip r:embed="rId3"/>
                <a:stretch>
                  <a:fillRect l="-775" b="-20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9">
            <a:extLst>
              <a:ext uri="{FF2B5EF4-FFF2-40B4-BE49-F238E27FC236}">
                <a16:creationId xmlns:a16="http://schemas.microsoft.com/office/drawing/2014/main" id="{3F83056E-A167-48F5-B12C-FBC5CA3A5328}"/>
              </a:ext>
            </a:extLst>
          </p:cNvPr>
          <p:cNvSpPr txBox="1"/>
          <p:nvPr/>
        </p:nvSpPr>
        <p:spPr>
          <a:xfrm>
            <a:off x="870351" y="43709"/>
            <a:ext cx="8743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Efficiency of TEG– </a:t>
            </a:r>
            <a:r>
              <a:rPr lang="en-US" altLang="zh-CN" sz="2000" dirty="0"/>
              <a:t>external thermal resistance</a:t>
            </a:r>
            <a:endParaRPr lang="zh-CN" altLang="en-US" sz="20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114245" y="3753276"/>
                <a:ext cx="3706336" cy="114255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zh-CN" altLang="en-US" sz="1200">
                              <a:latin typeface="Cambria Math" panose="02040503050406030204" pitchFamily="18" charset="0"/>
                            </a:rPr>
                            <m:t>&amp;</m:t>
                          </m:r>
                          <m:sSub>
                            <m:sSub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p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zh-CN" altLang="en-US" sz="1200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p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120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zh-CN" altLang="en-US" sz="120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zh-CN" altLang="en-US" sz="1200" i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  <m:e>
                          <m:r>
                            <a:rPr lang="zh-CN" altLang="en-US" sz="1200" i="0">
                              <a:latin typeface="Cambria Math" panose="02040503050406030204" pitchFamily="18" charset="0"/>
                            </a:rPr>
                            <m:t>&amp;</m:t>
                          </m:r>
                          <m:sSub>
                            <m:sSub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1200" i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20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p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Sup>
                            <m:sSubSup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  <m:sup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𝑅𝑚</m:t>
                          </m:r>
                        </m:e>
                        <m:e>
                          <m:r>
                            <a:rPr lang="zh-CN" altLang="en-US" sz="1200" i="0">
                              <a:latin typeface="Cambria Math" panose="02040503050406030204" pitchFamily="18" charset="0"/>
                            </a:rPr>
                            <m:t>&amp;</m:t>
                          </m:r>
                          <m:sSub>
                            <m:sSub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1200" i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120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+0.5</m:t>
                              </m:r>
                            </m:e>
                          </m:d>
                        </m:e>
                        <m:e>
                          <m:r>
                            <a:rPr lang="zh-CN" altLang="en-US" sz="1200" i="0">
                              <a:latin typeface="Cambria Math" panose="02040503050406030204" pitchFamily="18" charset="0"/>
                            </a:rPr>
                            <m:t>&amp;</m:t>
                          </m:r>
                          <m:sSub>
                            <m:sSub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sz="1200" i="0">
                              <a:latin typeface="Cambria Math" panose="02040503050406030204" pitchFamily="18" charset="0"/>
                            </a:rPr>
                            <m:t>=−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120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p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d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d>
                        </m:e>
                        <m:e>
                          <m:r>
                            <a:rPr lang="zh-CN" altLang="en-US" sz="1200" i="0">
                              <a:latin typeface="Cambria Math" panose="02040503050406030204" pitchFamily="18" charset="0"/>
                            </a:rPr>
                            <m:t>&amp;</m:t>
                          </m:r>
                          <m:sSub>
                            <m:sSub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zh-CN" altLang="en-US" sz="1200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sz="120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𝛥</m:t>
                          </m:r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eqAr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45" y="3753276"/>
                <a:ext cx="3706336" cy="114255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6193032" y="1237801"/>
                <a:ext cx="2205667" cy="103900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11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110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11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zh-CN" altLang="en-US" sz="1100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zh-CN" alt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1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zh-CN" altLang="en-US" sz="11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sz="11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11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1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zh-CN" altLang="en-US" sz="11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CN" altLang="en-US" sz="11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1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zh-CN" altLang="en-US" sz="11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sz="1100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zh-CN" alt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11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altLang="en-US" sz="11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f>
                                <m:fPr>
                                  <m:ctrlPr>
                                    <a:rPr lang="zh-CN" alt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CN" altLang="en-US" sz="1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100" i="1" smtClean="0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  <m:r>
                                        <a:rPr lang="zh-CN" altLang="en-US" sz="11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zh-CN" altLang="en-US" sz="11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zh-CN" altLang="en-US" sz="1100" i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zh-CN" altLang="en-US" sz="11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  <m:r>
                                    <a:rPr lang="zh-CN" altLang="en-US" sz="11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  <m:d>
                                    <m:dPr>
                                      <m:ctrlPr>
                                        <a:rPr lang="zh-CN" altLang="en-US" sz="1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CN" altLang="en-US" sz="11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1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1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zh-CN" altLang="en-US" sz="11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1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1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  <m:r>
                                        <a:rPr lang="zh-CN" altLang="en-US" sz="1100" i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sz="11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1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1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zh-CN" altLang="en-US" sz="11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1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1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zh-CN" altLang="en-US" sz="11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altLang="en-US" sz="1100" i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zh-CN" altLang="en-US" sz="11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en-US" sz="1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100" i="0"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zh-CN" altLang="en-US" sz="11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zh-CN" altLang="en-US" sz="11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  <m:r>
                                    <a:rPr lang="zh-CN" altLang="en-US" sz="1100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zh-CN" altLang="en-US" sz="1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1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zh-CN" altLang="en-US" sz="11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r>
                                <a:rPr lang="zh-CN" altLang="en-US" sz="11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1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zh-CN" altLang="en-US" sz="11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sz="1100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zh-CN" alt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CN" altLang="en-US" sz="1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sSub>
                                        <m:sSubPr>
                                          <m:ctrlPr>
                                            <a:rPr lang="zh-CN" altLang="en-US" sz="11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1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1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sub>
                                      </m:sSub>
                                      <m:r>
                                        <a:rPr lang="zh-CN" altLang="en-US" sz="1100" i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zh-CN" altLang="en-US" sz="11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zh-CN" altLang="en-US" sz="11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zh-CN" altLang="en-US" sz="1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1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zh-CN" altLang="en-US" sz="11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zh-CN" altLang="en-US" sz="1100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zh-CN" altLang="en-US" sz="1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1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zh-CN" altLang="en-US" sz="11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zh-CN" altLang="en-US" sz="1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1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zh-CN" altLang="en-US" sz="11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zh-CN" altLang="en-US" sz="1100" i="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b>
                                    <m:sSubPr>
                                      <m:ctrlPr>
                                        <a:rPr lang="zh-CN" altLang="en-US" sz="1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1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zh-CN" altLang="en-US" sz="11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  <m:r>
                                    <a:rPr lang="zh-CN" altLang="en-US" sz="1100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zh-CN" altLang="en-US" sz="1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1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zh-CN" altLang="en-US" sz="11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1100" dirty="0"/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3032" y="1237801"/>
                <a:ext cx="2205667" cy="103900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/>
              <p:cNvSpPr/>
              <p:nvPr/>
            </p:nvSpPr>
            <p:spPr>
              <a:xfrm>
                <a:off x="6193032" y="2711261"/>
                <a:ext cx="2380517" cy="9325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120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  <m:sup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Sup>
                                <m:sSubSup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  <m:sup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𝛥</m:t>
                              </m:r>
                              <m:sSup>
                                <m:sSup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p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 smtClean="0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zh-CN" altLang="en-US" sz="1200" i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  <m:d>
                                    <m:d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  <m:r>
                                        <a:rPr lang="zh-CN" altLang="en-US" sz="1200" i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0"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1" name="矩形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3032" y="2711261"/>
                <a:ext cx="2380517" cy="9325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/>
              <p:cNvSpPr/>
              <p:nvPr/>
            </p:nvSpPr>
            <p:spPr>
              <a:xfrm>
                <a:off x="6193032" y="4296268"/>
                <a:ext cx="2489575" cy="9293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120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0"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den>
                              </m:f>
                              <m:f>
                                <m:f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120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num>
                                <m:den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den>
                              </m:f>
                              <m:f>
                                <m:f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+1+</m:t>
                                  </m:r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  <m:sSup>
                                    <m:sSup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p>
                                      <m:r>
                                        <a:rPr lang="zh-CN" altLang="en-US" sz="1200" i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  <m:e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p>
                                <m:sSup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p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0"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2" name="矩形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3032" y="4296268"/>
                <a:ext cx="2489575" cy="92935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BE6974FC-E39B-494A-B5ED-84EC154EBB26}"/>
                  </a:ext>
                </a:extLst>
              </p:cNvPr>
              <p:cNvSpPr/>
              <p:nvPr/>
            </p:nvSpPr>
            <p:spPr>
              <a:xfrm>
                <a:off x="-6143" y="1972668"/>
                <a:ext cx="4716869" cy="101232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zh-CN" altLang="en-US" sz="1200">
                              <a:latin typeface="Cambria Math" panose="02040503050406030204" pitchFamily="18" charset="0"/>
                            </a:rPr>
                            <m:t>&amp;</m:t>
                          </m:r>
                          <m:d>
                            <m:dPr>
                              <m:begChr m:val="{"/>
                              <m:endChr m:val=""/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&amp;</m:t>
                                  </m:r>
                                  <m:sSubSup>
                                    <m:sSubSup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  <m:sup>
                                      <m:r>
                                        <a:rPr lang="zh-CN" altLang="en-US" sz="1200" i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zh-CN" altLang="en-US" sz="12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&amp;</m:t>
                                  </m:r>
                                  <m:sSubSup>
                                    <m:sSubSup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  <m:sup>
                                      <m:r>
                                        <a:rPr lang="zh-CN" altLang="en-US" sz="1200" i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=−0.5</m:t>
                                  </m:r>
                                  <m:sSup>
                                    <m:sSup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p>
                                      <m:r>
                                        <a:rPr lang="zh-CN" altLang="en-US" sz="12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zh-CN" altLang="en-US" sz="1200" i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zh-CN" altLang="en-US" sz="120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zh-CN" altLang="en-US" sz="12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&amp;</m:t>
                                  </m:r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𝛥</m:t>
                                  </m:r>
                                  <m:sSup>
                                    <m:sSup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p>
                                      <m:r>
                                        <a:rPr lang="zh-CN" altLang="en-US" sz="1200" i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f>
                                    <m:f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1200" i="0"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  <m:r>
                                        <a:rPr lang="zh-CN" altLang="en-US" sz="1200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zh-CN" altLang="en-US" sz="1200" i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sub>
                                      </m:sSub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  <m:d>
                                        <m:dPr>
                                          <m:ctrlP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𝑐</m:t>
                                              </m:r>
                                            </m:sub>
                                          </m:sSub>
                                          <m:r>
                                            <a:rPr lang="zh-CN" altLang="en-US" sz="1200" i="0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𝑐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sub>
                                          </m:sSub>
                                          <m:r>
                                            <a:rPr lang="zh-CN" altLang="en-US" sz="1200" i="0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𝑐</m:t>
                                              </m:r>
                                            </m:sub>
                                          </m:sSub>
                                          <m:sSup>
                                            <m:sSupPr>
                                              <m:ctrlP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𝐼</m:t>
                                              </m:r>
                                            </m:e>
                                            <m:sup>
                                              <m:r>
                                                <a:rPr lang="zh-CN" altLang="en-US" sz="1200" i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𝑅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  <m:r>
                                                <a:rPr lang="zh-CN" altLang="en-US" sz="1200" i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𝑙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zh-CN" altLang="en-US" sz="1200" i="0">
                                          <a:latin typeface="Cambria Math" panose="02040503050406030204" pitchFamily="18" charset="0"/>
                                        </a:rPr>
                                        <m:t>+0.5</m:t>
                                      </m:r>
                                      <m:sSup>
                                        <m:sSupPr>
                                          <m:ctrlP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𝐼</m:t>
                                          </m:r>
                                        </m:e>
                                        <m:sup>
                                          <m:r>
                                            <a:rPr lang="zh-CN" altLang="en-US" sz="1200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zh-CN" altLang="en-US" sz="1200" i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sub>
                                          </m:sSub>
                                          <m:r>
                                            <a:rPr lang="zh-CN" altLang="en-US" sz="1200" i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𝑐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sub>
                                      </m:sSub>
                                      <m:r>
                                        <a:rPr lang="zh-CN" altLang="en-US" sz="1200" i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  <m:r>
                                        <a:rPr lang="zh-CN" altLang="en-US" sz="1200" i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d>
                                        <m:dPr>
                                          <m:ctrlP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1200">
                                                  <a:latin typeface="Cambria Math" panose="02040503050406030204" pitchFamily="18" charset="0"/>
                                                </a:rPr>
                                                <m:t>1+</m:t>
                                              </m:r>
                                              <m: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𝛼</m:t>
                                              </m:r>
                                              <m: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𝑅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  <m:r>
                                                <a:rPr lang="zh-CN" altLang="en-US" sz="120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𝑙</m:t>
                                              </m:r>
                                            </m:sub>
                                          </m:sSub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𝐼</m:t>
                                          </m:r>
                                        </m:e>
                                      </m:d>
                                      <m:d>
                                        <m:dPr>
                                          <m:ctrlP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1200">
                                                  <a:latin typeface="Cambria Math" panose="02040503050406030204" pitchFamily="18" charset="0"/>
                                                </a:rPr>
                                                <m:t>1−</m:t>
                                              </m:r>
                                              <m: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𝑐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𝛼</m:t>
                                              </m:r>
                                              <m: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𝑅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  <m:r>
                                                <a:rPr lang="zh-CN" altLang="en-US" sz="120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𝑙</m:t>
                                              </m:r>
                                            </m:sub>
                                          </m:sSub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𝐼</m:t>
                                          </m:r>
                                        </m:e>
                                      </m:d>
                                    </m:den>
                                  </m:f>
                                </m:e>
                              </m:eqArr>
                            </m:e>
                          </m:d>
                          <m:r>
                            <a:rPr lang="zh-CN" altLang="en-US" sz="1200" i="0">
                              <a:latin typeface="Cambria Math" panose="02040503050406030204" pitchFamily="18" charset="0"/>
                            </a:rPr>
                            <m:t>#</m:t>
                          </m:r>
                        </m:e>
                      </m:eqAr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E6974FC-E39B-494A-B5ED-84EC154EBB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143" y="1972668"/>
                <a:ext cx="4716869" cy="1012328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7">
            <a:extLst>
              <a:ext uri="{FF2B5EF4-FFF2-40B4-BE49-F238E27FC236}">
                <a16:creationId xmlns:a16="http://schemas.microsoft.com/office/drawing/2014/main" id="{DF5FAB5C-65D2-440C-A128-3DF79D60513E}"/>
              </a:ext>
            </a:extLst>
          </p:cNvPr>
          <p:cNvSpPr txBox="1"/>
          <p:nvPr/>
        </p:nvSpPr>
        <p:spPr>
          <a:xfrm>
            <a:off x="1417005" y="3194330"/>
            <a:ext cx="18367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Arial" pitchFamily="34" charset="0"/>
                <a:cs typeface="Arial" pitchFamily="34" charset="0"/>
              </a:rPr>
              <a:t>The closed condition</a:t>
            </a:r>
            <a:endParaRPr lang="en-US" altLang="zh-CN" sz="1400" dirty="0">
              <a:cs typeface="Times New Roman" panose="02020603050405020304" pitchFamily="18" charset="0"/>
            </a:endParaRPr>
          </a:p>
        </p:txBody>
      </p:sp>
      <p:sp>
        <p:nvSpPr>
          <p:cNvPr id="10" name="箭头: 下 9">
            <a:extLst>
              <a:ext uri="{FF2B5EF4-FFF2-40B4-BE49-F238E27FC236}">
                <a16:creationId xmlns:a16="http://schemas.microsoft.com/office/drawing/2014/main" id="{1A152BAA-33E8-4784-BC98-B791DDEB8BC8}"/>
              </a:ext>
            </a:extLst>
          </p:cNvPr>
          <p:cNvSpPr/>
          <p:nvPr/>
        </p:nvSpPr>
        <p:spPr>
          <a:xfrm>
            <a:off x="870351" y="3103856"/>
            <a:ext cx="320886" cy="51776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箭头: 下 13">
            <a:extLst>
              <a:ext uri="{FF2B5EF4-FFF2-40B4-BE49-F238E27FC236}">
                <a16:creationId xmlns:a16="http://schemas.microsoft.com/office/drawing/2014/main" id="{338A81D2-6F13-45E7-96DA-CC238F526488}"/>
              </a:ext>
            </a:extLst>
          </p:cNvPr>
          <p:cNvSpPr/>
          <p:nvPr/>
        </p:nvSpPr>
        <p:spPr>
          <a:xfrm>
            <a:off x="7111307" y="2382125"/>
            <a:ext cx="184558" cy="30354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箭头: 下 26">
            <a:extLst>
              <a:ext uri="{FF2B5EF4-FFF2-40B4-BE49-F238E27FC236}">
                <a16:creationId xmlns:a16="http://schemas.microsoft.com/office/drawing/2014/main" id="{8A5BCDF2-5C44-4363-8B79-6AE76A2546A9}"/>
              </a:ext>
            </a:extLst>
          </p:cNvPr>
          <p:cNvSpPr/>
          <p:nvPr/>
        </p:nvSpPr>
        <p:spPr>
          <a:xfrm>
            <a:off x="7111307" y="3818275"/>
            <a:ext cx="184558" cy="30354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821004DE-77E7-420F-8C58-DB22691A7769}"/>
                  </a:ext>
                </a:extLst>
              </p:cNvPr>
              <p:cNvSpPr/>
              <p:nvPr/>
            </p:nvSpPr>
            <p:spPr>
              <a:xfrm>
                <a:off x="7383290" y="3669418"/>
                <a:ext cx="1121076" cy="4760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zh-CN" altLang="en-US" sz="1200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zh-CN" altLang="en-US" sz="120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zh-CN" altLang="en-US" sz="1200" i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p>
                                <m:sSup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p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d>
                                <m:d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d>
                            </m:den>
                          </m:f>
                          <m:r>
                            <a:rPr lang="zh-CN" altLang="en-US" sz="1200" i="0">
                              <a:latin typeface="Cambria Math" panose="02040503050406030204" pitchFamily="18" charset="0"/>
                            </a:rPr>
                            <m:t>#</m:t>
                          </m:r>
                        </m:e>
                      </m:eqAr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821004DE-77E7-420F-8C58-DB22691A77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3290" y="3669418"/>
                <a:ext cx="1121076" cy="47609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7">
                <a:extLst>
                  <a:ext uri="{FF2B5EF4-FFF2-40B4-BE49-F238E27FC236}">
                    <a16:creationId xmlns:a16="http://schemas.microsoft.com/office/drawing/2014/main" id="{A6E7E35C-046B-4F92-ACFD-0BE093F5C089}"/>
                  </a:ext>
                </a:extLst>
              </p:cNvPr>
              <p:cNvSpPr txBox="1"/>
              <p:nvPr/>
            </p:nvSpPr>
            <p:spPr>
              <a:xfrm>
                <a:off x="5766622" y="5320230"/>
                <a:ext cx="3377378" cy="11546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Arial" pitchFamily="34" charset="0"/>
                    <a:cs typeface="Arial" pitchFamily="34" charset="0"/>
                  </a:rPr>
                  <a:t>Here 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altLang="zh-CN" sz="1600" dirty="0">
                    <a:latin typeface="Arial" pitchFamily="34" charset="0"/>
                    <a:cs typeface="Arial" pitchFamily="34" charset="0"/>
                  </a:rPr>
                  <a:t> is easily solved from a linear equation, thus the derivation could proceed </a:t>
                </a:r>
              </a:p>
            </p:txBody>
          </p:sp>
        </mc:Choice>
        <mc:Fallback xmlns="">
          <p:sp>
            <p:nvSpPr>
              <p:cNvPr id="29" name="TextBox 7">
                <a:extLst>
                  <a:ext uri="{FF2B5EF4-FFF2-40B4-BE49-F238E27FC236}">
                    <a16:creationId xmlns:a16="http://schemas.microsoft.com/office/drawing/2014/main" id="{A6E7E35C-046B-4F92-ACFD-0BE093F5C0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6622" y="5320230"/>
                <a:ext cx="3377378" cy="1154675"/>
              </a:xfrm>
              <a:prstGeom prst="rect">
                <a:avLst/>
              </a:prstGeom>
              <a:blipFill>
                <a:blip r:embed="rId10"/>
                <a:stretch>
                  <a:fillRect l="-1083" r="-2527" b="-63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114245" y="1212509"/>
                <a:ext cx="331962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zh-CN" altLang="en-US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p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45" y="1212509"/>
                <a:ext cx="3319627" cy="646331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/>
          <p:cNvSpPr txBox="1"/>
          <p:nvPr/>
        </p:nvSpPr>
        <p:spPr>
          <a:xfrm>
            <a:off x="6193032" y="697844"/>
            <a:ext cx="1957368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r>
              <a:rPr lang="en-US" altLang="zh-CN" baseline="30000" dirty="0"/>
              <a:t>st </a:t>
            </a:r>
            <a:r>
              <a:rPr lang="en-US" altLang="zh-CN" dirty="0"/>
              <a:t> simplification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5925007" y="1152124"/>
            <a:ext cx="2757600" cy="4277701"/>
          </a:xfrm>
          <a:prstGeom prst="roundRect">
            <a:avLst>
              <a:gd name="adj" fmla="val 491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08058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7">
            <a:extLst>
              <a:ext uri="{FF2B5EF4-FFF2-40B4-BE49-F238E27FC236}">
                <a16:creationId xmlns:a16="http://schemas.microsoft.com/office/drawing/2014/main" id="{166E6C67-0D68-42B1-8959-015752BB6674}"/>
              </a:ext>
            </a:extLst>
          </p:cNvPr>
          <p:cNvSpPr txBox="1"/>
          <p:nvPr/>
        </p:nvSpPr>
        <p:spPr>
          <a:xfrm>
            <a:off x="-6143" y="72935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itchFamily="34" charset="0"/>
                <a:cs typeface="Arial" pitchFamily="34" charset="0"/>
              </a:rPr>
              <a:t>Approximate solution for the system performance:</a:t>
            </a:r>
            <a:endParaRPr lang="en-US" altLang="zh-CN" sz="2000" dirty="0"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F9A9572F-63BE-414A-A96A-BB6F14AC2BFF}"/>
                  </a:ext>
                </a:extLst>
              </p:cNvPr>
              <p:cNvSpPr/>
              <p:nvPr/>
            </p:nvSpPr>
            <p:spPr>
              <a:xfrm>
                <a:off x="4750261" y="3008834"/>
                <a:ext cx="3715671" cy="4950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z="120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zh-CN" altLang="en-US" sz="120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1200" i="1" smtClean="0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altLang="en-US" sz="1200" i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lang="zh-CN" altLang="en-US" sz="120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r>
                        <a:rPr lang="zh-CN" altLang="en-US" sz="1200" i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acc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0"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F9A9572F-63BE-414A-A96A-BB6F14AC2B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0261" y="3008834"/>
                <a:ext cx="3715671" cy="495007"/>
              </a:xfrm>
              <a:prstGeom prst="rect">
                <a:avLst/>
              </a:prstGeom>
              <a:blipFill>
                <a:blip r:embed="rId2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箭头: 下 25">
            <a:extLst>
              <a:ext uri="{FF2B5EF4-FFF2-40B4-BE49-F238E27FC236}">
                <a16:creationId xmlns:a16="http://schemas.microsoft.com/office/drawing/2014/main" id="{EA925D15-095A-47BD-BCE5-D2098ECB9789}"/>
              </a:ext>
            </a:extLst>
          </p:cNvPr>
          <p:cNvSpPr/>
          <p:nvPr/>
        </p:nvSpPr>
        <p:spPr>
          <a:xfrm>
            <a:off x="1397682" y="2329599"/>
            <a:ext cx="335560" cy="56206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35840B6-5848-4B49-A0C2-BFDCDF8F5700}"/>
                  </a:ext>
                </a:extLst>
              </p:cNvPr>
              <p:cNvSpPr/>
              <p:nvPr/>
            </p:nvSpPr>
            <p:spPr>
              <a:xfrm>
                <a:off x="90190" y="3264155"/>
                <a:ext cx="3518107" cy="4952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zh-CN" altLang="en-US" sz="120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zh-CN" altLang="en-US" sz="1200" i="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p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𝑅𝑚</m:t>
                          </m:r>
                          <m:r>
                            <a:rPr lang="zh-CN" altLang="en-US" sz="1200" i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200" i="0">
                                              <a:latin typeface="Cambria Math" panose="02040503050406030204" pitchFamily="18" charset="0"/>
                                            </a:rPr>
                                            <m:t>1+</m:t>
                                          </m:r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sub>
                                      </m:sSub>
                                      <m:r>
                                        <a:rPr lang="zh-CN" altLang="en-US" sz="1200" i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f>
                            <m:f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  <m:r>
                                        <a:rPr lang="zh-CN" altLang="en-US" sz="1200" i="0">
                                          <a:latin typeface="Cambria Math" panose="02040503050406030204" pitchFamily="18" charset="0"/>
                                        </a:rPr>
                                        <m:t>∆</m:t>
                                      </m:r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den>
                          </m:f>
                          <m:f>
                            <m:f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  <m:r>
                                        <a:rPr lang="zh-CN" altLang="en-US" sz="1200" i="0">
                                          <a:latin typeface="Cambria Math" panose="02040503050406030204" pitchFamily="18" charset="0"/>
                                        </a:rPr>
                                        <m:t>+1+</m:t>
                                      </m:r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  <m:sSup>
                                        <m:sSupPr>
                                          <m:ctrlP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p>
                                          <m:r>
                                            <a:rPr lang="zh-CN" altLang="en-US" sz="1200" i="0">
                                              <a:latin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zh-CN" altLang="en-US" sz="1200" i="0">
                              <a:latin typeface="Cambria Math" panose="02040503050406030204" pitchFamily="18" charset="0"/>
                            </a:rPr>
                            <m:t>#</m:t>
                          </m:r>
                        </m:e>
                      </m:eqAr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35840B6-5848-4B49-A0C2-BFDCDF8F57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90" y="3264155"/>
                <a:ext cx="3518107" cy="495264"/>
              </a:xfrm>
              <a:prstGeom prst="rect">
                <a:avLst/>
              </a:prstGeom>
              <a:blipFill>
                <a:blip r:embed="rId3"/>
                <a:stretch>
                  <a:fillRect b="-48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A6353F99-1430-449B-A927-4635EDEDFF75}"/>
                  </a:ext>
                </a:extLst>
              </p:cNvPr>
              <p:cNvSpPr/>
              <p:nvPr/>
            </p:nvSpPr>
            <p:spPr>
              <a:xfrm>
                <a:off x="40095" y="3924266"/>
                <a:ext cx="3618298" cy="5073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zh-CN" altLang="en-US" sz="1200">
                              <a:latin typeface="Cambria Math" panose="02040503050406030204" pitchFamily="18" charset="0"/>
                            </a:rPr>
                            <m:t>&amp;</m:t>
                          </m:r>
                          <m:sSub>
                            <m:sSub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lang="zh-CN" altLang="en-US" sz="1200" i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den>
                          </m:f>
                          <m:f>
                            <m:f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</m:den>
                          </m:f>
                          <m:d>
                            <m:d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f>
                                <m:f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0"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den>
                              </m:f>
                              <m:f>
                                <m:f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+1+</m:t>
                                  </m:r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  <m:sSup>
                                    <m:sSup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p>
                                      <m:r>
                                        <a:rPr lang="zh-CN" altLang="en-US" sz="1200" i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  <m:r>
                            <a:rPr lang="zh-CN" altLang="en-US" sz="1200" i="0">
                              <a:latin typeface="Cambria Math" panose="02040503050406030204" pitchFamily="18" charset="0"/>
                            </a:rPr>
                            <m:t>#</m:t>
                          </m:r>
                        </m:e>
                      </m:eqAr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A6353F99-1430-449B-A927-4635EDEDFF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95" y="3924266"/>
                <a:ext cx="3618298" cy="507318"/>
              </a:xfrm>
              <a:prstGeom prst="rect">
                <a:avLst/>
              </a:prstGeom>
              <a:blipFill>
                <a:blip r:embed="rId4"/>
                <a:stretch>
                  <a:fillRect b="-12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2F36FFE2-782E-4EEA-AEF2-64CEF324A765}"/>
                  </a:ext>
                </a:extLst>
              </p:cNvPr>
              <p:cNvSpPr/>
              <p:nvPr/>
            </p:nvSpPr>
            <p:spPr>
              <a:xfrm>
                <a:off x="40095" y="4668294"/>
                <a:ext cx="4210320" cy="471604"/>
              </a:xfrm>
              <a:prstGeom prst="rect">
                <a:avLst/>
              </a:prstGeom>
              <a:ln w="12700"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zh-CN" altLang="en-US" sz="120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𝜂</m:t>
                          </m:r>
                          <m:r>
                            <a:rPr lang="zh-CN" altLang="en-US" sz="1200" i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den>
                          </m:f>
                          <m:r>
                            <a:rPr lang="zh-CN" altLang="en-US" sz="1200" i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𝑇𝑚</m:t>
                              </m:r>
                            </m:num>
                            <m:den>
                              <m:d>
                                <m:d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+1+</m:t>
                                  </m:r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  <m:sSup>
                                    <m:sSup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p>
                                      <m:r>
                                        <a:rPr lang="zh-CN" altLang="en-US" sz="1200" i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200" i="0">
                                              <a:latin typeface="Cambria Math" panose="02040503050406030204" pitchFamily="18" charset="0"/>
                                            </a:rPr>
                                            <m:t>1+</m:t>
                                          </m:r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sub>
                                      </m:sSub>
                                      <m:r>
                                        <a:rPr lang="zh-CN" altLang="en-US" sz="1200" i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  <m:r>
                                        <a:rPr lang="zh-CN" altLang="en-US" sz="1200" i="0">
                                          <a:latin typeface="Cambria Math" panose="02040503050406030204" pitchFamily="18" charset="0"/>
                                        </a:rPr>
                                        <m:t>+1+</m:t>
                                      </m:r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  <m:sSup>
                                        <m:sSupPr>
                                          <m:ctrlP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p>
                                          <m:r>
                                            <a:rPr lang="zh-CN" altLang="en-US" sz="1200" i="0">
                                              <a:latin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  <m:r>
                            <a:rPr lang="zh-CN" altLang="en-US" sz="1200" i="0">
                              <a:latin typeface="Cambria Math" panose="02040503050406030204" pitchFamily="18" charset="0"/>
                            </a:rPr>
                            <m:t>#</m:t>
                          </m:r>
                        </m:e>
                      </m:eqAr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2F36FFE2-782E-4EEA-AEF2-64CEF324A7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95" y="4668294"/>
                <a:ext cx="4210320" cy="471604"/>
              </a:xfrm>
              <a:prstGeom prst="rect">
                <a:avLst/>
              </a:prstGeom>
              <a:blipFill>
                <a:blip r:embed="rId5"/>
                <a:stretch>
                  <a:fillRect b="-3797"/>
                </a:stretch>
              </a:blipFill>
              <a:ln w="127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B8381BF6-4297-4367-9E49-7805E54F98C7}"/>
                  </a:ext>
                </a:extLst>
              </p:cNvPr>
              <p:cNvSpPr/>
              <p:nvPr/>
            </p:nvSpPr>
            <p:spPr>
              <a:xfrm>
                <a:off x="5729152" y="3649645"/>
                <a:ext cx="1121076" cy="4760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zh-CN" altLang="en-US" sz="1200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zh-CN" altLang="en-US" sz="120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zh-CN" altLang="en-US" sz="1200" i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p>
                                <m:sSup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p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d>
                                <m:d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d>
                            </m:den>
                          </m:f>
                          <m:r>
                            <a:rPr lang="zh-CN" altLang="en-US" sz="1200" i="0">
                              <a:latin typeface="Cambria Math" panose="02040503050406030204" pitchFamily="18" charset="0"/>
                            </a:rPr>
                            <m:t>#</m:t>
                          </m:r>
                        </m:e>
                      </m:eqAr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8381BF6-4297-4367-9E49-7805E54F98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9152" y="3649645"/>
                <a:ext cx="1121076" cy="47609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箭头: 下 28">
            <a:extLst>
              <a:ext uri="{FF2B5EF4-FFF2-40B4-BE49-F238E27FC236}">
                <a16:creationId xmlns:a16="http://schemas.microsoft.com/office/drawing/2014/main" id="{0686EED3-099A-48DB-B21C-0CFF73F2F925}"/>
              </a:ext>
            </a:extLst>
          </p:cNvPr>
          <p:cNvSpPr/>
          <p:nvPr/>
        </p:nvSpPr>
        <p:spPr>
          <a:xfrm>
            <a:off x="5360363" y="3658847"/>
            <a:ext cx="335560" cy="56206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0D791A73-5DEF-477B-8643-B5C62B6462A8}"/>
                  </a:ext>
                </a:extLst>
              </p:cNvPr>
              <p:cNvSpPr/>
              <p:nvPr/>
            </p:nvSpPr>
            <p:spPr>
              <a:xfrm>
                <a:off x="4565857" y="4559674"/>
                <a:ext cx="4217501" cy="688843"/>
              </a:xfrm>
              <a:prstGeom prst="rect">
                <a:avLst/>
              </a:prstGeom>
              <a:ln w="12700"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zh-CN" altLang="en-US" sz="1200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zh-CN" altLang="en-US" sz="1200" i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1200" i="0"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sub>
                                      </m:sSub>
                                      <m:r>
                                        <a:rPr lang="zh-CN" altLang="en-US" sz="1200" i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f>
                            <m:f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  <m:r>
                                        <a:rPr lang="zh-CN" altLang="en-US" sz="1200" i="0">
                                          <a:latin typeface="Cambria Math" panose="02040503050406030204" pitchFamily="18" charset="0"/>
                                        </a:rPr>
                                        <m:t>∆</m:t>
                                      </m:r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den>
                          </m:f>
                          <m:f>
                            <m:f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  <m:r>
                                        <a:rPr lang="zh-CN" altLang="en-US" sz="1200" i="0">
                                          <a:latin typeface="Cambria Math" panose="02040503050406030204" pitchFamily="18" charset="0"/>
                                        </a:rPr>
                                        <m:t>+1+</m:t>
                                      </m:r>
                                      <m:f>
                                        <m:fPr>
                                          <m:ctrlP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sub>
                                          </m:sSub>
                                          <m:r>
                                            <a:rPr lang="zh-CN" altLang="en-US" sz="1200" i="0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𝑐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a:rPr lang="zh-CN" altLang="en-US" sz="1200" i="0">
                                              <a:latin typeface="Cambria Math" panose="02040503050406030204" pitchFamily="18" charset="0"/>
                                            </a:rPr>
                                            <m:t>1+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sub>
                                          </m:sSub>
                                          <m:r>
                                            <a:rPr lang="zh-CN" altLang="en-US" sz="1200" i="0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𝑐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  <m:d>
                                        <m:dPr>
                                          <m:ctrlP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</m:e>
                                            <m:sup>
                                              <m:r>
                                                <a:rPr lang="zh-CN" altLang="en-US" sz="1200" i="0"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</m:sup>
                                          </m:sSup>
                                          <m:r>
                                            <a:rPr lang="zh-CN" altLang="en-US" sz="1200" i="0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zh-CN" altLang="en-US" sz="1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lang="zh-CN" alt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zh-CN" altLang="en-US" sz="12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𝑇</m:t>
                                                  </m:r>
                                                </m:e>
                                              </m:acc>
                                            </m:e>
                                            <m:sup>
                                              <m:r>
                                                <a:rPr lang="zh-CN" altLang="en-US" sz="1200" i="0"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zh-CN" altLang="en-US" sz="1200" i="0">
                              <a:latin typeface="Cambria Math" panose="02040503050406030204" pitchFamily="18" charset="0"/>
                            </a:rPr>
                            <m:t>#</m:t>
                          </m:r>
                        </m:e>
                      </m:eqAr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0D791A73-5DEF-477B-8643-B5C62B6462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5857" y="4559674"/>
                <a:ext cx="4217501" cy="6888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9">
            <a:extLst>
              <a:ext uri="{FF2B5EF4-FFF2-40B4-BE49-F238E27FC236}">
                <a16:creationId xmlns:a16="http://schemas.microsoft.com/office/drawing/2014/main" id="{3F83056E-A167-48F5-B12C-FBC5CA3A5328}"/>
              </a:ext>
            </a:extLst>
          </p:cNvPr>
          <p:cNvSpPr txBox="1"/>
          <p:nvPr/>
        </p:nvSpPr>
        <p:spPr>
          <a:xfrm>
            <a:off x="870351" y="43709"/>
            <a:ext cx="8743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Efficiency of TEG– </a:t>
            </a:r>
            <a:r>
              <a:rPr lang="en-US" altLang="zh-CN" sz="2000" dirty="0"/>
              <a:t>external thermal resistance</a:t>
            </a:r>
            <a:endParaRPr lang="zh-CN" altLang="en-US" sz="20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A12E04B1-0684-47A3-ACC6-997D6D8D7845}"/>
                  </a:ext>
                </a:extLst>
              </p:cNvPr>
              <p:cNvSpPr/>
              <p:nvPr/>
            </p:nvSpPr>
            <p:spPr>
              <a:xfrm>
                <a:off x="329322" y="1262486"/>
                <a:ext cx="2472280" cy="92935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120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0"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den>
                              </m:f>
                              <m:f>
                                <m:f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120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num>
                                <m:den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den>
                              </m:f>
                              <m:f>
                                <m:f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+1+</m:t>
                                  </m:r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  <m:sSup>
                                    <m:sSup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p>
                                      <m:r>
                                        <a:rPr lang="zh-CN" altLang="en-US" sz="1200" i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  <m:e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p>
                                <m:sSup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p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0"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  <m: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A12E04B1-0684-47A3-ACC6-997D6D8D78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322" y="1262486"/>
                <a:ext cx="2472280" cy="92935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90733098-95CD-46CA-AAE6-4B7E9A572C87}"/>
                  </a:ext>
                </a:extLst>
              </p:cNvPr>
              <p:cNvSpPr/>
              <p:nvPr/>
            </p:nvSpPr>
            <p:spPr>
              <a:xfrm>
                <a:off x="4750261" y="1472186"/>
                <a:ext cx="2270173" cy="4830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>
                          <a:latin typeface="Cambria Math" panose="02040503050406030204" pitchFamily="18" charset="0"/>
                        </a:rPr>
                        <m:t>𝛥</m:t>
                      </m:r>
                      <m:sSup>
                        <m:sSupPr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zh-CN" altLang="en-US" sz="120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12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altLang="en-US" sz="120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zh-CN" altLang="en-US" sz="120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20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sz="12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zh-CN" altLang="en-US" sz="12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20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lang="zh-CN" altLang="en-US" sz="12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0733098-95CD-46CA-AAE6-4B7E9A572C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0261" y="1472186"/>
                <a:ext cx="2270173" cy="483081"/>
              </a:xfrm>
              <a:prstGeom prst="rect">
                <a:avLst/>
              </a:prstGeom>
              <a:blipFill rotWithShape="0">
                <a:blip r:embed="rId9"/>
                <a:stretch>
                  <a:fillRect b="-37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7">
                <a:extLst>
                  <a:ext uri="{FF2B5EF4-FFF2-40B4-BE49-F238E27FC236}">
                    <a16:creationId xmlns:a16="http://schemas.microsoft.com/office/drawing/2014/main" id="{B67D1EAD-045E-44A3-86D3-552CF365A310}"/>
                  </a:ext>
                </a:extLst>
              </p:cNvPr>
              <p:cNvSpPr txBox="1"/>
              <p:nvPr/>
            </p:nvSpPr>
            <p:spPr>
              <a:xfrm>
                <a:off x="90190" y="5270969"/>
                <a:ext cx="4097248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latin typeface="Arial" pitchFamily="34" charset="0"/>
                    <a:cs typeface="Arial" pitchFamily="34" charset="0"/>
                  </a:rPr>
                  <a:t>In the previous step, the temperature profile is </a:t>
                </a:r>
                <a:r>
                  <a:rPr lang="en-US" altLang="zh-CN" sz="1600" dirty="0">
                    <a:solidFill>
                      <a:srgbClr val="FF0000"/>
                    </a:solidFill>
                    <a:latin typeface="Arial" pitchFamily="34" charset="0"/>
                    <a:cs typeface="Arial" pitchFamily="34" charset="0"/>
                  </a:rPr>
                  <a:t>over-simplified</a:t>
                </a:r>
                <a:r>
                  <a:rPr lang="en-US" altLang="zh-CN" sz="1600" dirty="0">
                    <a:latin typeface="Arial" pitchFamily="34" charset="0"/>
                    <a:cs typeface="Arial" pitchFamily="34" charset="0"/>
                  </a:rPr>
                  <a:t>, leading to an error up to 15% for the output power</a:t>
                </a:r>
              </a:p>
              <a:p>
                <a:r>
                  <a:rPr lang="en-US" altLang="zh-CN" sz="1600" dirty="0">
                    <a:latin typeface="Arial" pitchFamily="34" charset="0"/>
                    <a:cs typeface="Arial" pitchFamily="34" charset="0"/>
                  </a:rPr>
                  <a:t>Here we need to get back some items in the 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</a:rPr>
                      <m:t>𝛥</m:t>
                    </m:r>
                    <m:sSup>
                      <m:sSupPr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zh-CN" altLang="en-US" sz="16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CN" sz="1600" dirty="0">
                    <a:cs typeface="Times New Roman" panose="02020603050405020304" pitchFamily="18" charset="0"/>
                  </a:rPr>
                  <a:t> term</a:t>
                </a:r>
              </a:p>
            </p:txBody>
          </p:sp>
        </mc:Choice>
        <mc:Fallback xmlns="">
          <p:sp>
            <p:nvSpPr>
              <p:cNvPr id="22" name="TextBox 7">
                <a:extLst>
                  <a:ext uri="{FF2B5EF4-FFF2-40B4-BE49-F238E27FC236}">
                    <a16:creationId xmlns:a16="http://schemas.microsoft.com/office/drawing/2014/main" id="{B67D1EAD-045E-44A3-86D3-552CF365A3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90" y="5270969"/>
                <a:ext cx="4097248" cy="1323439"/>
              </a:xfrm>
              <a:prstGeom prst="rect">
                <a:avLst/>
              </a:prstGeom>
              <a:blipFill>
                <a:blip r:embed="rId10"/>
                <a:stretch>
                  <a:fillRect l="-893" t="-1382" r="-1488" b="-50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7">
            <a:extLst>
              <a:ext uri="{FF2B5EF4-FFF2-40B4-BE49-F238E27FC236}">
                <a16:creationId xmlns:a16="http://schemas.microsoft.com/office/drawing/2014/main" id="{6F889849-450B-49DF-98AF-7C449F107C17}"/>
              </a:ext>
            </a:extLst>
          </p:cNvPr>
          <p:cNvSpPr txBox="1"/>
          <p:nvPr/>
        </p:nvSpPr>
        <p:spPr>
          <a:xfrm>
            <a:off x="4877653" y="5640300"/>
            <a:ext cx="4097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rial" pitchFamily="34" charset="0"/>
                <a:cs typeface="Arial" pitchFamily="34" charset="0"/>
              </a:rPr>
              <a:t>Now accurate output power estimation (with errors within 4%)</a:t>
            </a:r>
            <a:endParaRPr lang="en-US" altLang="zh-CN" sz="1600" dirty="0">
              <a:cs typeface="Times New Roman" panose="02020603050405020304" pitchFamily="18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750261" y="1145698"/>
            <a:ext cx="1957368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r>
              <a:rPr lang="en-US" altLang="zh-CN" baseline="30000" dirty="0"/>
              <a:t>st </a:t>
            </a:r>
            <a:r>
              <a:rPr lang="en-US" altLang="zh-CN" dirty="0"/>
              <a:t> simplification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4717239" y="2522030"/>
            <a:ext cx="1957368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2</a:t>
            </a:r>
            <a:r>
              <a:rPr lang="en-US" altLang="zh-CN" baseline="30000" dirty="0"/>
              <a:t>nd </a:t>
            </a:r>
            <a:r>
              <a:rPr lang="en-US" altLang="zh-CN" dirty="0"/>
              <a:t> simplification</a:t>
            </a:r>
          </a:p>
        </p:txBody>
      </p:sp>
    </p:spTree>
    <p:extLst>
      <p:ext uri="{BB962C8B-B14F-4D97-AF65-F5344CB8AC3E}">
        <p14:creationId xmlns:p14="http://schemas.microsoft.com/office/powerpoint/2010/main" val="26322961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7">
            <a:extLst>
              <a:ext uri="{FF2B5EF4-FFF2-40B4-BE49-F238E27FC236}">
                <a16:creationId xmlns:a16="http://schemas.microsoft.com/office/drawing/2014/main" id="{166E6C67-0D68-42B1-8959-015752BB6674}"/>
              </a:ext>
            </a:extLst>
          </p:cNvPr>
          <p:cNvSpPr txBox="1"/>
          <p:nvPr/>
        </p:nvSpPr>
        <p:spPr>
          <a:xfrm>
            <a:off x="-6143" y="729350"/>
            <a:ext cx="43363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itchFamily="34" charset="0"/>
                <a:cs typeface="Arial" pitchFamily="34" charset="0"/>
              </a:rPr>
              <a:t>The maximum efficiency and power of a TEG on the system level: </a:t>
            </a:r>
            <a:endParaRPr lang="en-US" altLang="zh-CN" sz="2000" dirty="0"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61215C32-459E-4B97-A46A-61B4DDF647EC}"/>
                  </a:ext>
                </a:extLst>
              </p:cNvPr>
              <p:cNvSpPr/>
              <p:nvPr/>
            </p:nvSpPr>
            <p:spPr>
              <a:xfrm>
                <a:off x="219614" y="1671999"/>
                <a:ext cx="3629390" cy="2095445"/>
              </a:xfrm>
              <a:prstGeom prst="rect">
                <a:avLst/>
              </a:prstGeom>
              <a:ln w="25400"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zh-CN" altLang="en-US" sz="1400">
                              <a:latin typeface="Cambria Math" panose="02040503050406030204" pitchFamily="18" charset="0"/>
                            </a:rPr>
                            <m:t>&amp;</m:t>
                          </m:r>
                          <m:d>
                            <m:dPr>
                              <m:begChr m:val="{"/>
                              <m:endChr m:val=""/>
                              <m:ctrlP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zh-CN" altLang="en-US" sz="1400" i="0">
                                      <a:latin typeface="Cambria Math" panose="02040503050406030204" pitchFamily="18" charset="0"/>
                                    </a:rPr>
                                    <m:t>&amp;</m:t>
                                  </m:r>
                                  <m:sSub>
                                    <m:sSubPr>
                                      <m:ctrlP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  <m:t>𝜂</m:t>
                                      </m:r>
                                    </m:e>
                                    <m:sub>
                                      <m: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  <m:t>𝑚𝑎𝑥</m:t>
                                      </m:r>
                                    </m:sub>
                                  </m:sSub>
                                  <m:r>
                                    <a:rPr lang="zh-CN" altLang="en-US" sz="140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f>
                                    <m:fPr>
                                      <m:ctrlP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1400"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sub>
                                      </m:sSub>
                                    </m:den>
                                  </m:f>
                                  <m:f>
                                    <m:fPr>
                                      <m:ctrlP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  <m:t>𝑜𝑝𝑡</m:t>
                                          </m:r>
                                          <m:r>
                                            <a:rPr lang="zh-CN" altLang="en-US" sz="140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  <m:t>𝜂</m:t>
                                          </m:r>
                                        </m:sub>
                                      </m:sSub>
                                      <m:r>
                                        <a:rPr lang="zh-CN" altLang="en-US" sz="140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  <m:t>𝑜𝑝𝑡</m:t>
                                          </m:r>
                                          <m:r>
                                            <a:rPr lang="zh-CN" altLang="en-US" sz="140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  <m:t>𝜂</m:t>
                                          </m:r>
                                        </m:sub>
                                      </m:sSub>
                                      <m:r>
                                        <a:rPr lang="zh-CN" altLang="en-US" sz="140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zh-CN" alt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𝑐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zh-CN" alt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  <m:r>
                                        <a:rPr lang="zh-CN" altLang="en-US" sz="140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zh-CN" altLang="en-US" sz="1400" i="1" smtClean="0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den>
                                  </m:f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  <m:d>
                                    <m:dPr>
                                      <m:ctrlPr>
                                        <a:rPr lang="en-US" altLang="zh-CN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4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</m:d>
                                </m:e>
                                <m:e>
                                  <m:r>
                                    <a:rPr lang="zh-CN" altLang="en-US" sz="1400" i="0">
                                      <a:latin typeface="Cambria Math" panose="02040503050406030204" pitchFamily="18" charset="0"/>
                                    </a:rPr>
                                    <m:t>&amp;</m:t>
                                  </m:r>
                                  <m:sSub>
                                    <m:sSubPr>
                                      <m:ctrlP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  <m:t>𝑜𝑝𝑡</m:t>
                                      </m:r>
                                      <m:r>
                                        <a:rPr lang="zh-CN" altLang="en-US" sz="140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  <m:t>𝜂</m:t>
                                      </m:r>
                                    </m:sub>
                                  </m:sSub>
                                  <m:r>
                                    <a:rPr lang="zh-CN" altLang="en-US" sz="140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d>
                                        <m:dPr>
                                          <m:ctrlP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altLang="en-US" sz="1400">
                                              <a:latin typeface="Cambria Math" panose="02040503050406030204" pitchFamily="18" charset="0"/>
                                            </a:rPr>
                                            <m:t>1+</m:t>
                                          </m:r>
                                          <m: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  <m:t>𝑍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zh-CN" alt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zh-CN" alt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</m:e>
                                            <m:sup>
                                              <m:r>
                                                <a:rPr lang="zh-CN" altLang="en-US" sz="1400"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altLang="en-US" sz="1400">
                                              <a:latin typeface="Cambria Math" panose="02040503050406030204" pitchFamily="18" charset="0"/>
                                            </a:rPr>
                                            <m:t>1+</m:t>
                                          </m:r>
                                          <m: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  <m:t>𝑍</m:t>
                                          </m:r>
                                          <m:d>
                                            <m:dPr>
                                              <m:ctrlPr>
                                                <a:rPr lang="zh-CN" alt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lang="zh-CN" altLang="en-US" sz="1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zh-CN" altLang="en-US" sz="1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𝑇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zh-CN" altLang="en-US" sz="1400">
                                                      <a:latin typeface="Cambria Math" panose="02040503050406030204" pitchFamily="18" charset="0"/>
                                                    </a:rPr>
                                                    <m:t>∗</m:t>
                                                  </m:r>
                                                </m:sup>
                                              </m:sSup>
                                              <m:r>
                                                <a:rPr lang="zh-CN" altLang="en-US" sz="1400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sSup>
                                                <m:sSupPr>
                                                  <m:ctrlPr>
                                                    <a:rPr lang="zh-CN" altLang="en-US" sz="1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acc>
                                                    <m:accPr>
                                                      <m:chr m:val="̅"/>
                                                      <m:ctrlPr>
                                                        <a:rPr lang="zh-CN" altLang="en-US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accPr>
                                                    <m:e>
                                                      <m:r>
                                                        <a:rPr lang="zh-CN" altLang="en-US" sz="1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𝑇</m:t>
                                                      </m:r>
                                                    </m:e>
                                                  </m:acc>
                                                </m:e>
                                                <m:sup>
                                                  <m:r>
                                                    <a:rPr lang="zh-CN" altLang="en-US" sz="1400">
                                                      <a:latin typeface="Cambria Math" panose="02040503050406030204" pitchFamily="18" charset="0"/>
                                                    </a:rPr>
                                                    <m:t>∗</m:t>
                                                  </m:r>
                                                </m:sup>
                                              </m:sSup>
                                            </m:e>
                                          </m:d>
                                        </m:e>
                                      </m:d>
                                    </m:e>
                                  </m:rad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d>
                                    <m:dPr>
                                      <m:ctrlPr>
                                        <a:rPr lang="en-US" altLang="zh-CN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400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</m:d>
                                </m:e>
                                <m:e>
                                  <m:r>
                                    <a:rPr lang="zh-CN" altLang="en-US" sz="1400" i="0">
                                      <a:latin typeface="Cambria Math" panose="02040503050406030204" pitchFamily="18" charset="0"/>
                                    </a:rPr>
                                    <m:t>&amp;</m:t>
                                  </m:r>
                                  <m:sSub>
                                    <m:sSubPr>
                                      <m:ctrlP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  <m:t>𝑚𝑎𝑥</m:t>
                                      </m:r>
                                    </m:sub>
                                  </m:sSub>
                                  <m:r>
                                    <a:rPr lang="zh-CN" altLang="en-US" sz="140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f>
                                    <m:fPr>
                                      <m:ctrlP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140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zh-CN" alt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zh-CN" altLang="en-US" sz="1400">
                                                  <a:latin typeface="Cambria Math" panose="02040503050406030204" pitchFamily="18" charset="0"/>
                                                </a:rPr>
                                                <m:t>1+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zh-CN" altLang="en-US" sz="1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zh-CN" altLang="en-US" sz="1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𝑓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zh-CN" altLang="en-US" sz="1400" i="1">
                                                      <a:latin typeface="Cambria Math" panose="02040503050406030204" pitchFamily="18" charset="0"/>
                                                    </a:rPr>
                                                    <m:t>h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zh-CN" altLang="en-US" sz="1400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zh-CN" altLang="en-US" sz="1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zh-CN" altLang="en-US" sz="1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𝑓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zh-CN" altLang="en-US" sz="1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𝑐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zh-CN" altLang="en-US" sz="140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  <m:f>
                                    <m:fPr>
                                      <m:ctrlP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zh-CN" alt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zh-CN" altLang="en-US" sz="1400" i="1" smtClean="0">
                                                  <a:latin typeface="Cambria Math" panose="02040503050406030204" pitchFamily="18" charset="0"/>
                                                </a:rPr>
                                                <m:t>𝛼</m:t>
                                              </m:r>
                                              <m:r>
                                                <a:rPr lang="zh-CN" altLang="en-US" sz="1400">
                                                  <a:latin typeface="Cambria Math" panose="02040503050406030204" pitchFamily="18" charset="0"/>
                                                </a:rPr>
                                                <m:t>∆</m:t>
                                              </m:r>
                                              <m:r>
                                                <a:rPr lang="zh-CN" alt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zh-CN" altLang="en-US" sz="140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r>
                                        <a:rPr lang="zh-CN" altLang="en-US" sz="140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  <m: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  <m:t>𝑜𝑝𝑡</m:t>
                                          </m:r>
                                          <m:r>
                                            <a:rPr lang="zh-CN" altLang="en-US" sz="140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    </m:t>
                                  </m:r>
                                  <m:d>
                                    <m:dPr>
                                      <m:ctrlPr>
                                        <a:rPr lang="en-US" altLang="zh-CN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400" b="0" i="1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</m:d>
                                </m:e>
                                <m:e>
                                  <m:r>
                                    <a:rPr lang="zh-CN" altLang="en-US" sz="1400" i="0">
                                      <a:latin typeface="Cambria Math" panose="02040503050406030204" pitchFamily="18" charset="0"/>
                                    </a:rPr>
                                    <m:t>&amp;</m:t>
                                  </m:r>
                                  <m:sSub>
                                    <m:sSubPr>
                                      <m:ctrlP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  <m:t>𝑜𝑝𝑡</m:t>
                                      </m:r>
                                      <m:r>
                                        <a:rPr lang="zh-CN" altLang="en-US" sz="140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sub>
                                  </m:sSub>
                                  <m:r>
                                    <a:rPr lang="zh-CN" altLang="en-US" sz="1400">
                                      <a:latin typeface="Cambria Math" panose="02040503050406030204" pitchFamily="18" charset="0"/>
                                    </a:rPr>
                                    <m:t>=1+</m:t>
                                  </m:r>
                                  <m:f>
                                    <m:fPr>
                                      <m:ctrlP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sub>
                                      </m:sSub>
                                      <m:r>
                                        <a:rPr lang="zh-CN" altLang="en-US" sz="140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zh-CN" altLang="en-US" sz="1400"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sub>
                                      </m:sSub>
                                      <m:r>
                                        <a:rPr lang="zh-CN" altLang="en-US" sz="140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  <m:d>
                                    <m:dPr>
                                      <m:ctrlP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p>
                                          <m:r>
                                            <a:rPr lang="zh-CN" altLang="en-US" sz="1400">
                                              <a:latin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p>
                                      <m:r>
                                        <a:rPr lang="zh-CN" altLang="en-US" sz="140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zh-CN" alt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zh-CN" alt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</m:e>
                                          </m:acc>
                                        </m:e>
                                        <m:sup>
                                          <m:r>
                                            <a:rPr lang="zh-CN" altLang="en-US" sz="1400">
                                              <a:latin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d>
                                    <m:dPr>
                                      <m:ctrlPr>
                                        <a:rPr lang="en-US" altLang="zh-CN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400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</m:d>
                                </m:e>
                              </m:eqArr>
                            </m:e>
                          </m:d>
                          <m:r>
                            <a:rPr lang="zh-CN" altLang="en-US" sz="1400" i="0">
                              <a:latin typeface="Cambria Math" panose="02040503050406030204" pitchFamily="18" charset="0"/>
                            </a:rPr>
                            <m:t>#</m:t>
                          </m:r>
                        </m:e>
                      </m:eqAr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61215C32-459E-4B97-A46A-61B4DDF647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614" y="1671999"/>
                <a:ext cx="3629390" cy="209544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54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9AF9DBB2-D2CF-494B-8883-97B8C840049C}"/>
                  </a:ext>
                </a:extLst>
              </p:cNvPr>
              <p:cNvSpPr/>
              <p:nvPr/>
            </p:nvSpPr>
            <p:spPr>
              <a:xfrm>
                <a:off x="373437" y="3874000"/>
                <a:ext cx="2745110" cy="585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altLang="zh-CN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zh-CN" altLang="en-US" sz="1400" i="0">
                          <a:latin typeface="Cambria Math" panose="02040503050406030204" pitchFamily="18" charset="0"/>
                        </a:rPr>
                        <m:t>=2</m:t>
                      </m:r>
                      <m:f>
                        <m:fPr>
                          <m:ctrlPr>
                            <a:rPr lang="zh-CN" alt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zh-CN" altLang="en-US" sz="1400" i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acc>
                            </m:e>
                            <m:sup>
                              <m:r>
                                <a:rPr lang="zh-CN" altLang="en-US" sz="1400" i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zh-CN" alt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bar>
                            <m:barPr>
                              <m:pos m:val="top"/>
                              <m:ctrlP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bar>
                        </m:num>
                        <m:den>
                          <m:sSub>
                            <m:sSubPr>
                              <m:ctrlP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zh-CN" alt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4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zh-CN" altLang="en-US" sz="1400" i="1">
                              <a:latin typeface="Cambria Math" panose="02040503050406030204" pitchFamily="18" charset="0"/>
                            </a:rPr>
                            <m:t>𝑜𝑝𝑡</m:t>
                          </m:r>
                          <m:r>
                            <a:rPr lang="zh-CN" altLang="en-US" sz="1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1400" i="1">
                              <a:latin typeface="Cambria Math" panose="02040503050406030204" pitchFamily="18" charset="0"/>
                            </a:rPr>
                            <m:t>𝜂</m:t>
                          </m:r>
                        </m:sub>
                      </m:sSub>
                      <m:d>
                        <m:dPr>
                          <m:ctrlPr>
                            <a:rPr lang="zh-CN" alt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400" i="0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  <m:t>𝑜𝑝𝑡</m:t>
                                  </m:r>
                                  <m:r>
                                    <a:rPr lang="zh-CN" altLang="en-US" sz="1400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zh-CN" altLang="en-US" sz="1400" i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sSup>
                                <m:sSupPr>
                                  <m:ctrlP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p>
                                  <m:r>
                                    <a:rPr lang="zh-CN" altLang="en-US" sz="1400" i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9AF9DBB2-D2CF-494B-8883-97B8C84004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437" y="3874000"/>
                <a:ext cx="2745110" cy="5856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CBF7FB1C-4D9C-47A4-848C-6BEE44B0C13C}"/>
                  </a:ext>
                </a:extLst>
              </p:cNvPr>
              <p:cNvSpPr/>
              <p:nvPr/>
            </p:nvSpPr>
            <p:spPr>
              <a:xfrm>
                <a:off x="373437" y="4607539"/>
                <a:ext cx="1516569" cy="53963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14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zh-CN" altLang="en-US" sz="1400" i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sz="1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zh-CN" altLang="en-US" sz="140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1400" i="0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lang="zh-CN" altLang="en-US" sz="14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CBF7FB1C-4D9C-47A4-848C-6BEE44B0C1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437" y="4607539"/>
                <a:ext cx="1516569" cy="539635"/>
              </a:xfrm>
              <a:prstGeom prst="rect">
                <a:avLst/>
              </a:prstGeom>
              <a:blipFill>
                <a:blip r:embed="rId4"/>
                <a:stretch>
                  <a:fillRect b="-56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90447EAA-CA32-437A-A2A7-C56C20F1DB30}"/>
                  </a:ext>
                </a:extLst>
              </p:cNvPr>
              <p:cNvSpPr/>
              <p:nvPr/>
            </p:nvSpPr>
            <p:spPr>
              <a:xfrm>
                <a:off x="2142858" y="4546688"/>
                <a:ext cx="1489575" cy="5870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acc>
                        </m:e>
                        <m:sup>
                          <m:r>
                            <a:rPr lang="zh-CN" altLang="en-US" sz="1400" i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sz="1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bar>
                            <m:barPr>
                              <m:pos m:val="top"/>
                              <m:ctrlP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bar>
                        </m:num>
                        <m:den>
                          <m:r>
                            <a:rPr lang="zh-CN" altLang="en-US" sz="1400" i="0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lang="zh-CN" altLang="en-US" sz="14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90447EAA-CA32-437A-A2A7-C56C20F1DB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2858" y="4546688"/>
                <a:ext cx="1489575" cy="5870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矩形 31">
            <a:extLst>
              <a:ext uri="{FF2B5EF4-FFF2-40B4-BE49-F238E27FC236}">
                <a16:creationId xmlns:a16="http://schemas.microsoft.com/office/drawing/2014/main" id="{E2DF066D-F756-425A-8425-1750BE4DBC48}"/>
              </a:ext>
            </a:extLst>
          </p:cNvPr>
          <p:cNvSpPr/>
          <p:nvPr/>
        </p:nvSpPr>
        <p:spPr>
          <a:xfrm>
            <a:off x="373437" y="3874000"/>
            <a:ext cx="3258996" cy="13406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BAD6B161-D025-4B72-B45E-B5A191954D62}"/>
                  </a:ext>
                </a:extLst>
              </p:cNvPr>
              <p:cNvSpPr/>
              <p:nvPr/>
            </p:nvSpPr>
            <p:spPr>
              <a:xfrm>
                <a:off x="5201157" y="1157217"/>
                <a:ext cx="2552365" cy="1833835"/>
              </a:xfrm>
              <a:prstGeom prst="rect">
                <a:avLst/>
              </a:prstGeom>
              <a:ln w="12700">
                <a:solidFill>
                  <a:srgbClr val="0000FF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140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  <m:t>𝑚𝑎𝑥</m:t>
                                  </m:r>
                                </m:sub>
                              </m:sSub>
                              <m:r>
                                <a:rPr lang="zh-CN" altLang="en-US" sz="140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zh-CN" altLang="en-US" sz="14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</m:den>
                              </m:f>
                              <m:f>
                                <m:fPr>
                                  <m:ctrlP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  <m:t>𝑜𝑝𝑡</m:t>
                                      </m:r>
                                      <m:r>
                                        <a:rPr lang="zh-CN" altLang="en-US" sz="140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  <m:t>𝜂</m:t>
                                      </m:r>
                                    </m:sub>
                                  </m:sSub>
                                  <m:r>
                                    <a:rPr lang="zh-CN" altLang="en-US" sz="140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  <m:t>𝑜𝑝𝑡</m:t>
                                      </m:r>
                                      <m:r>
                                        <a:rPr lang="zh-CN" altLang="en-US" sz="140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  <m:t>𝜂</m:t>
                                      </m:r>
                                    </m:sub>
                                  </m:sSub>
                                  <m:r>
                                    <a:rPr lang="zh-CN" altLang="en-US" sz="140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sub>
                                      </m:sSub>
                                    </m:den>
                                  </m:f>
                                </m:den>
                              </m:f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d>
                                <m:d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  <m:e>
                              <m:r>
                                <a:rPr lang="zh-CN" altLang="en-US" sz="1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  <m:t>𝑜𝑝𝑡</m:t>
                                  </m:r>
                                  <m:r>
                                    <a:rPr lang="zh-CN" altLang="en-US" sz="140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sub>
                              </m:sSub>
                              <m:r>
                                <a:rPr lang="zh-CN" altLang="en-US" sz="140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ad>
                                <m:radPr>
                                  <m:degHide m:val="on"/>
                                  <m:ctrlP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zh-CN" altLang="en-US" sz="140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  <m:bar>
                                    <m:barPr>
                                      <m:pos m:val="top"/>
                                      <m:ctrlP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barPr>
                                    <m:e>
                                      <m: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</m:bar>
                                </m:e>
                              </m:rad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d>
                                <m:d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e>
                            <m:e>
                              <m:r>
                                <a:rPr lang="zh-CN" altLang="en-US" sz="1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  <m:t>𝑚𝑎𝑥</m:t>
                                  </m:r>
                                </m:sub>
                              </m:sSub>
                              <m:r>
                                <a:rPr lang="zh-CN" altLang="en-US" sz="140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altLang="en-US" sz="1400" i="1" smtClean="0">
                                              <a:latin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  <m:r>
                                            <a:rPr lang="zh-CN" altLang="en-US" sz="1400">
                                              <a:latin typeface="Cambria Math" panose="02040503050406030204" pitchFamily="18" charset="0"/>
                                            </a:rPr>
                                            <m:t>∆</m:t>
                                          </m:r>
                                          <m: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zh-CN" altLang="en-US" sz="140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zh-CN" altLang="en-US" sz="140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den>
                              </m:f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d>
                                <m:d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</m:d>
                            </m:e>
                            <m:e>
                              <m:r>
                                <a:rPr lang="zh-CN" altLang="en-US" sz="1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  <m:t>𝑜𝑝𝑡</m:t>
                                  </m:r>
                                  <m:r>
                                    <a:rPr lang="zh-CN" altLang="en-US" sz="140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sub>
                              </m:sSub>
                              <m:r>
                                <a:rPr lang="zh-CN" altLang="en-US" sz="140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d>
                                <m:d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BAD6B161-D025-4B72-B45E-B5A191954D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1157" y="1157217"/>
                <a:ext cx="2552365" cy="183383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>
                <a:solidFill>
                  <a:srgbClr val="0000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7">
            <a:extLst>
              <a:ext uri="{FF2B5EF4-FFF2-40B4-BE49-F238E27FC236}">
                <a16:creationId xmlns:a16="http://schemas.microsoft.com/office/drawing/2014/main" id="{67EABBD0-CF4C-4D48-8C99-711AC71153BD}"/>
              </a:ext>
            </a:extLst>
          </p:cNvPr>
          <p:cNvSpPr txBox="1"/>
          <p:nvPr/>
        </p:nvSpPr>
        <p:spPr>
          <a:xfrm>
            <a:off x="5297096" y="729350"/>
            <a:ext cx="26808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itchFamily="34" charset="0"/>
                <a:cs typeface="Arial" pitchFamily="34" charset="0"/>
              </a:rPr>
              <a:t>On the material level: </a:t>
            </a:r>
            <a:endParaRPr lang="en-US" altLang="zh-CN" sz="2000" dirty="0"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9F6AFFFE-2A1D-4DFB-B7AF-F4D7FD74086E}"/>
                  </a:ext>
                </a:extLst>
              </p:cNvPr>
              <p:cNvSpPr/>
              <p:nvPr/>
            </p:nvSpPr>
            <p:spPr>
              <a:xfrm>
                <a:off x="5028128" y="3729009"/>
                <a:ext cx="2898422" cy="1799852"/>
              </a:xfrm>
              <a:prstGeom prst="rect">
                <a:avLst/>
              </a:prstGeom>
              <a:ln w="12700">
                <a:solidFill>
                  <a:srgbClr val="0000FF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140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  <m:t>𝑚𝑎𝑥</m:t>
                                  </m:r>
                                </m:sub>
                              </m:sSub>
                              <m:r>
                                <a:rPr lang="zh-CN" altLang="en-US" sz="140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zh-CN" altLang="en-US" sz="14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</m:den>
                              </m:f>
                              <m:f>
                                <m:fPr>
                                  <m:ctrlP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  <m:t>𝑜𝑝𝑡</m:t>
                                      </m:r>
                                      <m:r>
                                        <a:rPr lang="zh-CN" altLang="en-US" sz="140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  <m:t>𝜂</m:t>
                                      </m:r>
                                    </m:sub>
                                  </m:sSub>
                                  <m:r>
                                    <a:rPr lang="zh-CN" altLang="en-US" sz="140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zh-CN" altLang="en-US" sz="140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  <m:t>𝑜𝑝𝑡</m:t>
                                      </m:r>
                                      <m:r>
                                        <a:rPr lang="zh-CN" altLang="en-US" sz="140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  <m:t>𝜂</m:t>
                                      </m:r>
                                    </m:sub>
                                  </m:sSub>
                                  <m:r>
                                    <a:rPr lang="zh-CN" altLang="en-US" sz="140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zh-CN" altLang="en-US" sz="140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  <m:d>
                                <m:d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  <m:e>
                              <m:r>
                                <a:rPr lang="zh-CN" altLang="en-US" sz="1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  <m:t>𝑜𝑝𝑡</m:t>
                                  </m:r>
                                  <m:r>
                                    <a:rPr lang="zh-CN" altLang="en-US" sz="140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sub>
                              </m:sSub>
                              <m:r>
                                <a:rPr lang="zh-CN" altLang="en-US" sz="140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ad>
                                <m:radPr>
                                  <m:degHide m:val="on"/>
                                  <m:ctrlP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zh-CN" altLang="en-US" sz="140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b>
                                    <m:sSubPr>
                                      <m:ctrlP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ctrlP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  <m:t>𝑍𝑇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  <m:t>𝑒𝑛𝑔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zh-CN" altLang="en-US" sz="140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Sup>
                                    <m:sSubSupPr>
                                      <m:ctrlP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  <m:t>𝜂</m:t>
                                      </m:r>
                                    </m:e>
                                    <m:sub>
                                      <m: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  <m:sup>
                                      <m:r>
                                        <a:rPr lang="zh-CN" altLang="en-US" sz="140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bSup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rad>
                              <m:d>
                                <m:d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e>
                            <m:e>
                              <m:r>
                                <a:rPr lang="zh-CN" altLang="en-US" sz="1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  <m:t>𝑚𝑎𝑥</m:t>
                                  </m:r>
                                </m:sub>
                              </m:sSub>
                              <m:r>
                                <a:rPr lang="zh-CN" altLang="en-US" sz="140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1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ctrlPr>
                                            <a:rPr lang="en-US" altLang="zh-CN" sz="14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𝑃𝐹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altLang="zh-CN" sz="1400" b="0" i="1" smtClean="0">
                                          <a:latin typeface="Cambria Math" panose="02040503050406030204" pitchFamily="18" charset="0"/>
                                        </a:rPr>
                                        <m:t>𝑒𝑛𝑔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l-GR" altLang="zh-CN" sz="1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num>
                                <m:den>
                                  <m:r>
                                    <a:rPr lang="zh-CN" altLang="en-US" sz="140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d>
                                <m:d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</m:d>
                            </m:e>
                            <m:e>
                              <m:r>
                                <a:rPr lang="zh-CN" altLang="en-US" sz="1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  <m:t>𝑜𝑝𝑡</m:t>
                                  </m:r>
                                  <m:r>
                                    <a:rPr lang="zh-CN" altLang="en-US" sz="140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sub>
                              </m:sSub>
                              <m:r>
                                <a:rPr lang="zh-CN" altLang="en-US" sz="140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d>
                                <m:d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9F6AFFFE-2A1D-4DFB-B7AF-F4D7FD7408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8128" y="3729009"/>
                <a:ext cx="2898422" cy="17998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solidFill>
                  <a:srgbClr val="0000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7">
            <a:extLst>
              <a:ext uri="{FF2B5EF4-FFF2-40B4-BE49-F238E27FC236}">
                <a16:creationId xmlns:a16="http://schemas.microsoft.com/office/drawing/2014/main" id="{AA7AFD53-1EFB-489B-9E82-6E5023E61F04}"/>
              </a:ext>
            </a:extLst>
          </p:cNvPr>
          <p:cNvSpPr txBox="1"/>
          <p:nvPr/>
        </p:nvSpPr>
        <p:spPr>
          <a:xfrm>
            <a:off x="5294998" y="3195553"/>
            <a:ext cx="26201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itchFamily="34" charset="0"/>
                <a:cs typeface="Arial" pitchFamily="34" charset="0"/>
              </a:rPr>
              <a:t>On the device level: </a:t>
            </a:r>
            <a:endParaRPr lang="en-US" altLang="zh-CN" sz="2000" dirty="0"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79A86C52-17D5-4379-B588-3BD6E1B0C5FE}"/>
                  </a:ext>
                </a:extLst>
              </p:cNvPr>
              <p:cNvSpPr/>
              <p:nvPr/>
            </p:nvSpPr>
            <p:spPr>
              <a:xfrm>
                <a:off x="7007910" y="5785227"/>
                <a:ext cx="1950149" cy="7095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𝑃𝐹</m:t>
                              </m:r>
                            </m:e>
                          </m:d>
                        </m:e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𝑒𝑛𝑔</m:t>
                          </m:r>
                        </m:sub>
                      </m:sSub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limLoc m:val="subSup"/>
                                      <m:grow m:val="on"/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sSub>
                                        <m:sSubPr>
                                          <m:ctrlP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sub>
                                      </m:sSub>
                                    </m:sup>
                                    <m:e>
                                      <m:d>
                                        <m:dPr>
                                          <m:begChr m:val=""/>
                                          <m:ctrlP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l-GR" altLang="zh-CN" sz="1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  <m:r>
                                            <a:rPr lang="zh-CN" altLang="en-US" sz="1200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</m:d>
                                    </m:e>
                                  </m:nary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𝑑𝑇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nary>
                            <m:naryPr>
                              <m:limLoc m:val="subSup"/>
                              <m:grow m:val="on"/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sub>
                            <m:sup>
                              <m:sSub>
                                <m:sSub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sup>
                            <m:e>
                              <m:d>
                                <m:dPr>
                                  <m:begChr m:val=""/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l-GR" altLang="zh-CN" sz="1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𝜌</m:t>
                                  </m:r>
                                  <m:r>
                                    <a:rPr lang="zh-CN" altLang="en-US" sz="120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</m:e>
                          </m:nary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𝑑𝑇</m:t>
                          </m:r>
                        </m:den>
                      </m:f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79A86C52-17D5-4379-B588-3BD6E1B0C5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7910" y="5785227"/>
                <a:ext cx="1950149" cy="70955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DCFAA72B-55ED-44AE-B842-4B193AAEE9DA}"/>
                  </a:ext>
                </a:extLst>
              </p:cNvPr>
              <p:cNvSpPr/>
              <p:nvPr/>
            </p:nvSpPr>
            <p:spPr>
              <a:xfrm>
                <a:off x="4328372" y="5774707"/>
                <a:ext cx="2679538" cy="709553"/>
              </a:xfrm>
              <a:prstGeom prst="rect">
                <a:avLst/>
              </a:prstGeom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𝑍𝑇</m:t>
                              </m:r>
                            </m:e>
                          </m:d>
                        </m:e>
                        <m:sub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𝑒𝑛𝑔</m:t>
                          </m:r>
                        </m:sub>
                      </m:sSub>
                      <m:r>
                        <a:rPr lang="zh-CN" altLang="en-US" sz="1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limLoc m:val="subSup"/>
                                      <m:ctrlPr>
                                        <a:rPr lang="zh-CN" alt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sSub>
                                        <m:sSubPr>
                                          <m:ctrlP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sub>
                                      </m:sSub>
                                    </m:sup>
                                    <m:e>
                                      <m:r>
                                        <a:rPr lang="zh-CN" altLang="en-US" sz="1200" i="1" smtClean="0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  <m:d>
                                        <m:dPr>
                                          <m:ctrlP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altLang="en-US" sz="12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</m:d>
                                    </m:e>
                                  </m:nary>
                                  <m:r>
                                    <m:rPr>
                                      <m:sty m:val="p"/>
                                    </m:rPr>
                                    <a:rPr lang="zh-CN" altLang="en-US" sz="120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</m:e>
                            <m:sup>
                              <m:r>
                                <a:rPr lang="zh-CN" altLang="en-US" sz="12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nary>
                            <m:naryPr>
                              <m:limLoc m:val="subSup"/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sub>
                            <m:sup>
                              <m:sSub>
                                <m:sSub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sup>
                            <m:e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d>
                                <m:d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</m:e>
                          </m:nary>
                          <m:r>
                            <m:rPr>
                              <m:sty m:val="p"/>
                            </m:rPr>
                            <a:rPr lang="zh-CN" altLang="en-US" sz="1200" i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𝑇</m:t>
                          </m:r>
                          <m:nary>
                            <m:naryPr>
                              <m:limLoc m:val="subSup"/>
                              <m:ctrlP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sub>
                            <m:sup>
                              <m:sSub>
                                <m:sSub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sup>
                            <m:e>
                              <m:r>
                                <a:rPr lang="zh-CN" altLang="en-US" sz="1200" i="1"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  <m:d>
                                <m:dPr>
                                  <m:ctrlP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</m:e>
                          </m:nary>
                          <m:r>
                            <m:rPr>
                              <m:sty m:val="p"/>
                            </m:rPr>
                            <a:rPr lang="zh-CN" altLang="en-US" sz="1200" i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1200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altLang="en-US" sz="1200" i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zh-CN" altLang="en-US" sz="1200" i="1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DCFAA72B-55ED-44AE-B842-4B193AAEE9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8372" y="5774707"/>
                <a:ext cx="2679538" cy="70955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extLst>
              <a:ext uri="{FF2B5EF4-FFF2-40B4-BE49-F238E27FC236}">
                <a16:creationId xmlns:a16="http://schemas.microsoft.com/office/drawing/2014/main" id="{BFC26A20-7D57-437F-9BB6-7D95C8B926C3}"/>
              </a:ext>
            </a:extLst>
          </p:cNvPr>
          <p:cNvSpPr/>
          <p:nvPr/>
        </p:nvSpPr>
        <p:spPr>
          <a:xfrm>
            <a:off x="4228051" y="5774707"/>
            <a:ext cx="4650592" cy="70788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TextBox 7">
            <a:extLst>
              <a:ext uri="{FF2B5EF4-FFF2-40B4-BE49-F238E27FC236}">
                <a16:creationId xmlns:a16="http://schemas.microsoft.com/office/drawing/2014/main" id="{7E68E81C-9AD4-4FDD-9FAC-069158157A04}"/>
              </a:ext>
            </a:extLst>
          </p:cNvPr>
          <p:cNvSpPr txBox="1"/>
          <p:nvPr/>
        </p:nvSpPr>
        <p:spPr>
          <a:xfrm>
            <a:off x="307770" y="5887345"/>
            <a:ext cx="26808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All in the similar form</a:t>
            </a:r>
            <a:endParaRPr lang="en-US" altLang="zh-CN" sz="20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7C05E7BD-0042-412A-AB79-C3B97A28A59A}"/>
              </a:ext>
            </a:extLst>
          </p:cNvPr>
          <p:cNvSpPr txBox="1"/>
          <p:nvPr/>
        </p:nvSpPr>
        <p:spPr>
          <a:xfrm>
            <a:off x="870351" y="43709"/>
            <a:ext cx="70824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Efficiency of TEG– </a:t>
            </a:r>
            <a:r>
              <a:rPr lang="en-US" altLang="zh-CN" sz="2400" dirty="0">
                <a:latin typeface="Arial" pitchFamily="34" charset="0"/>
                <a:cs typeface="Arial" pitchFamily="34" charset="0"/>
              </a:rPr>
              <a:t>on three levels</a:t>
            </a:r>
            <a:endParaRPr lang="zh-CN" altLang="en-US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36368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4418268"/>
              </p:ext>
            </p:extLst>
          </p:nvPr>
        </p:nvGraphicFramePr>
        <p:xfrm>
          <a:off x="2217049" y="1958879"/>
          <a:ext cx="2699229" cy="52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84200" imgH="241200" progId="Equation.DSMT4">
                  <p:embed/>
                </p:oleObj>
              </mc:Choice>
              <mc:Fallback>
                <p:oleObj name="Equation" r:id="rId2" imgW="1384200" imgH="241200" progId="Equation.DSMT4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7049" y="1958879"/>
                        <a:ext cx="2699229" cy="52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6672702"/>
              </p:ext>
            </p:extLst>
          </p:nvPr>
        </p:nvGraphicFramePr>
        <p:xfrm>
          <a:off x="2236841" y="3101814"/>
          <a:ext cx="3214275" cy="7379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92160" imgH="393480" progId="Equation.DSMT4">
                  <p:embed/>
                </p:oleObj>
              </mc:Choice>
              <mc:Fallback>
                <p:oleObj name="Equation" r:id="rId4" imgW="1892160" imgH="393480" progId="Equation.DSMT4">
                  <p:embed/>
                  <p:pic>
                    <p:nvPicPr>
                      <p:cNvPr id="3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6841" y="3101814"/>
                        <a:ext cx="3214275" cy="7379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9798454"/>
              </p:ext>
            </p:extLst>
          </p:nvPr>
        </p:nvGraphicFramePr>
        <p:xfrm>
          <a:off x="2235830" y="2485262"/>
          <a:ext cx="2887482" cy="6722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66600" imgH="393480" progId="Equation.DSMT4">
                  <p:embed/>
                </p:oleObj>
              </mc:Choice>
              <mc:Fallback>
                <p:oleObj name="Equation" r:id="rId6" imgW="1866600" imgH="393480" progId="Equation.DSMT4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5830" y="2485262"/>
                        <a:ext cx="2887482" cy="6722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圆角矩形 4"/>
          <p:cNvSpPr/>
          <p:nvPr/>
        </p:nvSpPr>
        <p:spPr>
          <a:xfrm>
            <a:off x="2003425" y="1864215"/>
            <a:ext cx="4191000" cy="1964119"/>
          </a:xfrm>
          <a:prstGeom prst="roundRect">
            <a:avLst>
              <a:gd name="adj" fmla="val 8547"/>
            </a:avLst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0" y="373610"/>
            <a:ext cx="2497666" cy="914400"/>
          </a:xfrm>
          <a:prstGeom prst="roundRect">
            <a:avLst>
              <a:gd name="adj" fmla="val 0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Open Question</a:t>
            </a:r>
            <a:endParaRPr lang="zh-CN" altLang="en-US" sz="2000" dirty="0"/>
          </a:p>
        </p:txBody>
      </p:sp>
      <p:sp>
        <p:nvSpPr>
          <p:cNvPr id="7" name="文本框 6"/>
          <p:cNvSpPr txBox="1"/>
          <p:nvPr/>
        </p:nvSpPr>
        <p:spPr>
          <a:xfrm>
            <a:off x="1371600" y="4685518"/>
            <a:ext cx="5655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The assumption of ½ I</a:t>
            </a:r>
            <a:r>
              <a:rPr lang="en-US" altLang="zh-CN" baseline="30000" dirty="0"/>
              <a:t>2</a:t>
            </a:r>
            <a:r>
              <a:rPr lang="en-US" altLang="zh-CN" dirty="0"/>
              <a:t>R is reasonable in real case? 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13608320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 Boar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等线 Light"/>
        <a:cs typeface=""/>
      </a:majorFont>
      <a:minorFont>
        <a:latin typeface="Arial"/>
        <a:ea typeface="等线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Master Board</Template>
  <TotalTime>3594</TotalTime>
  <Words>1728</Words>
  <Application>Microsoft Macintosh PowerPoint</Application>
  <PresentationFormat>On-screen Show (4:3)</PresentationFormat>
  <Paragraphs>303</Paragraphs>
  <Slides>43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43</vt:i4>
      </vt:variant>
    </vt:vector>
  </HeadingPairs>
  <TitlesOfParts>
    <vt:vector size="56" baseType="lpstr">
      <vt:lpstr>Arial Unicode MS</vt:lpstr>
      <vt:lpstr>等线</vt:lpstr>
      <vt:lpstr>黑体</vt:lpstr>
      <vt:lpstr>华文仿宋</vt:lpstr>
      <vt:lpstr>Arial</vt:lpstr>
      <vt:lpstr>Calibri</vt:lpstr>
      <vt:lpstr>Cambria Math</vt:lpstr>
      <vt:lpstr>Symbol</vt:lpstr>
      <vt:lpstr>Times New Roman</vt:lpstr>
      <vt:lpstr>Wingdings</vt:lpstr>
      <vt:lpstr>Master Board</vt:lpstr>
      <vt:lpstr>Equation</vt:lpstr>
      <vt:lpstr>Graph</vt:lpstr>
      <vt:lpstr>PowerPoint Presentation</vt:lpstr>
      <vt:lpstr>11. Refrigeration Cycles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12. Silent power generator and refrigerator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12*. TEG of a real device       Considering  T –dependent properties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12**. TEG of a real system           Considering  external thermal resistance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liu weishu</dc:creator>
  <cp:lastModifiedBy>Philip Zhan</cp:lastModifiedBy>
  <cp:revision>178</cp:revision>
  <cp:lastPrinted>2019-09-26T13:58:03Z</cp:lastPrinted>
  <dcterms:created xsi:type="dcterms:W3CDTF">2019-02-07T07:31:12Z</dcterms:created>
  <dcterms:modified xsi:type="dcterms:W3CDTF">2022-10-18T03:06:58Z</dcterms:modified>
</cp:coreProperties>
</file>