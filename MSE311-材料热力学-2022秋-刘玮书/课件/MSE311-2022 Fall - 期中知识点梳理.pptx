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handoutMasterIdLst>
    <p:handoutMasterId r:id="rId105"/>
  </p:handoutMasterIdLst>
  <p:sldIdLst>
    <p:sldId id="256" r:id="rId2"/>
    <p:sldId id="259" r:id="rId3"/>
    <p:sldId id="283" r:id="rId4"/>
    <p:sldId id="344" r:id="rId5"/>
    <p:sldId id="346" r:id="rId6"/>
    <p:sldId id="347" r:id="rId7"/>
    <p:sldId id="261" r:id="rId8"/>
    <p:sldId id="262" r:id="rId9"/>
    <p:sldId id="271" r:id="rId10"/>
    <p:sldId id="494" r:id="rId11"/>
    <p:sldId id="297" r:id="rId12"/>
    <p:sldId id="280" r:id="rId13"/>
    <p:sldId id="278" r:id="rId14"/>
    <p:sldId id="279" r:id="rId15"/>
    <p:sldId id="275" r:id="rId16"/>
    <p:sldId id="281" r:id="rId17"/>
    <p:sldId id="348" r:id="rId18"/>
    <p:sldId id="284" r:id="rId19"/>
    <p:sldId id="378" r:id="rId20"/>
    <p:sldId id="366" r:id="rId21"/>
    <p:sldId id="267" r:id="rId22"/>
    <p:sldId id="492" r:id="rId23"/>
    <p:sldId id="368" r:id="rId24"/>
    <p:sldId id="382" r:id="rId25"/>
    <p:sldId id="383" r:id="rId26"/>
    <p:sldId id="401" r:id="rId27"/>
    <p:sldId id="403" r:id="rId28"/>
    <p:sldId id="480" r:id="rId29"/>
    <p:sldId id="398" r:id="rId30"/>
    <p:sldId id="406" r:id="rId31"/>
    <p:sldId id="408" r:id="rId32"/>
    <p:sldId id="389" r:id="rId33"/>
    <p:sldId id="402" r:id="rId34"/>
    <p:sldId id="483" r:id="rId35"/>
    <p:sldId id="405" r:id="rId36"/>
    <p:sldId id="493" r:id="rId37"/>
    <p:sldId id="409" r:id="rId38"/>
    <p:sldId id="410" r:id="rId39"/>
    <p:sldId id="411" r:id="rId40"/>
    <p:sldId id="427" r:id="rId41"/>
    <p:sldId id="419" r:id="rId42"/>
    <p:sldId id="465" r:id="rId43"/>
    <p:sldId id="459" r:id="rId44"/>
    <p:sldId id="478" r:id="rId45"/>
    <p:sldId id="479" r:id="rId46"/>
    <p:sldId id="460" r:id="rId47"/>
    <p:sldId id="462" r:id="rId48"/>
    <p:sldId id="464" r:id="rId49"/>
    <p:sldId id="433" r:id="rId50"/>
    <p:sldId id="495" r:id="rId51"/>
    <p:sldId id="461" r:id="rId52"/>
    <p:sldId id="441" r:id="rId53"/>
    <p:sldId id="443" r:id="rId54"/>
    <p:sldId id="467" r:id="rId55"/>
    <p:sldId id="448" r:id="rId56"/>
    <p:sldId id="449" r:id="rId57"/>
    <p:sldId id="307" r:id="rId58"/>
    <p:sldId id="285" r:id="rId59"/>
    <p:sldId id="290" r:id="rId60"/>
    <p:sldId id="291" r:id="rId61"/>
    <p:sldId id="293" r:id="rId62"/>
    <p:sldId id="317" r:id="rId63"/>
    <p:sldId id="486" r:id="rId64"/>
    <p:sldId id="309" r:id="rId65"/>
    <p:sldId id="268" r:id="rId66"/>
    <p:sldId id="312" r:id="rId67"/>
    <p:sldId id="316" r:id="rId68"/>
    <p:sldId id="296" r:id="rId69"/>
    <p:sldId id="301" r:id="rId70"/>
    <p:sldId id="302" r:id="rId71"/>
    <p:sldId id="303" r:id="rId72"/>
    <p:sldId id="304" r:id="rId73"/>
    <p:sldId id="488" r:id="rId74"/>
    <p:sldId id="327" r:id="rId75"/>
    <p:sldId id="328" r:id="rId76"/>
    <p:sldId id="329" r:id="rId77"/>
    <p:sldId id="330" r:id="rId78"/>
    <p:sldId id="331" r:id="rId79"/>
    <p:sldId id="334" r:id="rId80"/>
    <p:sldId id="339" r:id="rId81"/>
    <p:sldId id="358" r:id="rId82"/>
    <p:sldId id="491" r:id="rId83"/>
    <p:sldId id="373" r:id="rId84"/>
    <p:sldId id="496" r:id="rId85"/>
    <p:sldId id="377" r:id="rId86"/>
    <p:sldId id="381" r:id="rId87"/>
    <p:sldId id="498" r:id="rId88"/>
    <p:sldId id="384" r:id="rId89"/>
    <p:sldId id="387" r:id="rId90"/>
    <p:sldId id="390" r:id="rId91"/>
    <p:sldId id="391" r:id="rId92"/>
    <p:sldId id="508" r:id="rId93"/>
    <p:sldId id="393" r:id="rId94"/>
    <p:sldId id="396" r:id="rId95"/>
    <p:sldId id="400" r:id="rId96"/>
    <p:sldId id="502" r:id="rId97"/>
    <p:sldId id="416" r:id="rId98"/>
    <p:sldId id="418" r:id="rId99"/>
    <p:sldId id="509" r:id="rId100"/>
    <p:sldId id="504" r:id="rId101"/>
    <p:sldId id="505" r:id="rId102"/>
    <p:sldId id="507" r:id="rId103"/>
  </p:sldIdLst>
  <p:sldSz cx="9144000" cy="6858000" type="screen4x3"/>
  <p:notesSz cx="6669088"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2976D2-ECB3-4E03-BFAA-A51B4C62034F}" v="1" dt="2022-10-29T03:10:42.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84087" autoAdjust="0"/>
  </p:normalViewPr>
  <p:slideViewPr>
    <p:cSldViewPr>
      <p:cViewPr varScale="1">
        <p:scale>
          <a:sx n="119" d="100"/>
          <a:sy n="119" d="100"/>
        </p:scale>
        <p:origin x="854" y="91"/>
      </p:cViewPr>
      <p:guideLst>
        <p:guide orient="horz" pos="2160"/>
        <p:guide pos="2880"/>
      </p:guideLst>
    </p:cSldViewPr>
  </p:slideViewPr>
  <p:outlineViewPr>
    <p:cViewPr>
      <p:scale>
        <a:sx n="33" d="100"/>
        <a:sy n="33" d="100"/>
      </p:scale>
      <p:origin x="0" y="160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7" d="100"/>
          <a:sy n="77" d="100"/>
        </p:scale>
        <p:origin x="-3108" y="-90"/>
      </p:cViewPr>
      <p:guideLst>
        <p:guide orient="horz" pos="3126"/>
        <p:guide pos="210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viewProps" Target="view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umailsustech" userId="4348df40-e42d-4b4c-92fe-38dca5e9ca3c" providerId="ADAL" clId="{592976D2-ECB3-4E03-BFAA-A51B4C62034F}"/>
    <pc:docChg chg="modSld">
      <pc:chgData name="Wumailsustech" userId="4348df40-e42d-4b4c-92fe-38dca5e9ca3c" providerId="ADAL" clId="{592976D2-ECB3-4E03-BFAA-A51B4C62034F}" dt="2022-10-29T03:10:42.074" v="0" actId="14100"/>
      <pc:docMkLst>
        <pc:docMk/>
      </pc:docMkLst>
      <pc:sldChg chg="modSp">
        <pc:chgData name="Wumailsustech" userId="4348df40-e42d-4b4c-92fe-38dca5e9ca3c" providerId="ADAL" clId="{592976D2-ECB3-4E03-BFAA-A51B4C62034F}" dt="2022-10-29T03:10:42.074" v="0" actId="14100"/>
        <pc:sldMkLst>
          <pc:docMk/>
          <pc:sldMk cId="2431930048" sldId="406"/>
        </pc:sldMkLst>
        <pc:spChg chg="mod">
          <ac:chgData name="Wumailsustech" userId="4348df40-e42d-4b4c-92fe-38dca5e9ca3c" providerId="ADAL" clId="{592976D2-ECB3-4E03-BFAA-A51B4C62034F}" dt="2022-10-29T03:10:42.074" v="0" actId="14100"/>
          <ac:spMkLst>
            <pc:docMk/>
            <pc:sldMk cId="2431930048" sldId="406"/>
            <ac:spMk id="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25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8250" y="0"/>
            <a:ext cx="2889250" cy="496888"/>
          </a:xfrm>
          <a:prstGeom prst="rect">
            <a:avLst/>
          </a:prstGeom>
        </p:spPr>
        <p:txBody>
          <a:bodyPr vert="horz" lIns="91440" tIns="45720" rIns="91440" bIns="45720" rtlCol="0"/>
          <a:lstStyle>
            <a:lvl1pPr algn="r">
              <a:defRPr sz="1200"/>
            </a:lvl1pPr>
          </a:lstStyle>
          <a:p>
            <a:fld id="{6D9C1540-07B8-40F6-84A6-F26C64920C31}" type="datetimeFigureOut">
              <a:rPr lang="zh-CN" altLang="en-US" smtClean="0"/>
              <a:t>2022/10/29</a:t>
            </a:fld>
            <a:endParaRPr lang="zh-CN" altLang="en-US"/>
          </a:p>
        </p:txBody>
      </p:sp>
      <p:sp>
        <p:nvSpPr>
          <p:cNvPr id="4" name="页脚占位符 3"/>
          <p:cNvSpPr>
            <a:spLocks noGrp="1"/>
          </p:cNvSpPr>
          <p:nvPr>
            <p:ph type="ftr" sz="quarter" idx="2"/>
          </p:nvPr>
        </p:nvSpPr>
        <p:spPr>
          <a:xfrm>
            <a:off x="0" y="9428163"/>
            <a:ext cx="288925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8250" y="9428163"/>
            <a:ext cx="2889250" cy="496887"/>
          </a:xfrm>
          <a:prstGeom prst="rect">
            <a:avLst/>
          </a:prstGeom>
        </p:spPr>
        <p:txBody>
          <a:bodyPr vert="horz" lIns="91440" tIns="45720" rIns="91440" bIns="45720" rtlCol="0" anchor="b"/>
          <a:lstStyle>
            <a:lvl1pPr algn="r">
              <a:defRPr sz="1200"/>
            </a:lvl1pPr>
          </a:lstStyle>
          <a:p>
            <a:fld id="{125D361F-E7B0-4C7C-8146-82FA76B66FE6}" type="slidenum">
              <a:rPr lang="zh-CN" altLang="en-US" smtClean="0"/>
              <a:t>‹#›</a:t>
            </a:fld>
            <a:endParaRPr lang="zh-CN" altLang="en-US"/>
          </a:p>
        </p:txBody>
      </p:sp>
    </p:spTree>
    <p:extLst>
      <p:ext uri="{BB962C8B-B14F-4D97-AF65-F5344CB8AC3E}">
        <p14:creationId xmlns:p14="http://schemas.microsoft.com/office/powerpoint/2010/main" val="20623553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765DE1CE-A030-42F6-97C0-1C4EC007C0C5}" type="datetimeFigureOut">
              <a:rPr lang="zh-CN" altLang="en-US" smtClean="0"/>
              <a:t>2022/10/29</a:t>
            </a:fld>
            <a:endParaRPr lang="zh-CN" altLang="en-US"/>
          </a:p>
        </p:txBody>
      </p:sp>
      <p:sp>
        <p:nvSpPr>
          <p:cNvPr id="4" name="幻灯片图像占位符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15153"/>
            <a:ext cx="5335270" cy="4466987"/>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8C981095-EDDE-4FA4-832D-6F17BC63E72F}" type="slidenum">
              <a:rPr lang="zh-CN" altLang="en-US" smtClean="0"/>
              <a:t>‹#›</a:t>
            </a:fld>
            <a:endParaRPr lang="zh-CN" altLang="en-US"/>
          </a:p>
        </p:txBody>
      </p:sp>
    </p:spTree>
    <p:extLst>
      <p:ext uri="{BB962C8B-B14F-4D97-AF65-F5344CB8AC3E}">
        <p14:creationId xmlns:p14="http://schemas.microsoft.com/office/powerpoint/2010/main" val="302076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Introduction of Thermodynamics of materials,</a:t>
            </a:r>
            <a:r>
              <a:rPr lang="en-US" altLang="zh-CN" baseline="0" dirty="0"/>
              <a:t> D. R. Gaskell, CRC Press</a:t>
            </a:r>
            <a:r>
              <a:rPr lang="en-US" altLang="zh-CN" baseline="0"/>
              <a:t>, chapter 5, section 5.10</a:t>
            </a:r>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28</a:t>
            </a:fld>
            <a:endParaRPr lang="zh-CN" altLang="en-US"/>
          </a:p>
        </p:txBody>
      </p:sp>
    </p:spTree>
    <p:extLst>
      <p:ext uri="{BB962C8B-B14F-4D97-AF65-F5344CB8AC3E}">
        <p14:creationId xmlns:p14="http://schemas.microsoft.com/office/powerpoint/2010/main" val="550681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Figure</a:t>
            </a:r>
            <a:r>
              <a:rPr lang="en-US" altLang="zh-CN" baseline="0" dirty="0"/>
              <a:t> 10-2</a:t>
            </a:r>
            <a:endParaRPr lang="zh-CN" altLang="en-US" dirty="0"/>
          </a:p>
        </p:txBody>
      </p:sp>
      <p:sp>
        <p:nvSpPr>
          <p:cNvPr id="4" name="灯片编号占位符 3"/>
          <p:cNvSpPr>
            <a:spLocks noGrp="1"/>
          </p:cNvSpPr>
          <p:nvPr>
            <p:ph type="sldNum" sz="quarter" idx="10"/>
          </p:nvPr>
        </p:nvSpPr>
        <p:spPr/>
        <p:txBody>
          <a:bodyPr/>
          <a:lstStyle/>
          <a:p>
            <a:fld id="{CF548533-9099-4785-AEC1-41A7C9214B7F}" type="slidenum">
              <a:rPr lang="en-US" smtClean="0"/>
              <a:pPr/>
              <a:t>43</a:t>
            </a:fld>
            <a:endParaRPr lang="en-US"/>
          </a:p>
        </p:txBody>
      </p:sp>
    </p:spTree>
    <p:extLst>
      <p:ext uri="{BB962C8B-B14F-4D97-AF65-F5344CB8AC3E}">
        <p14:creationId xmlns:p14="http://schemas.microsoft.com/office/powerpoint/2010/main" val="1781602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F94922-854C-44B1-AD42-3245CD93F530}" type="slidenum">
              <a:rPr lang="zh-CN" altLang="en-US" smtClean="0"/>
              <a:t>59</a:t>
            </a:fld>
            <a:endParaRPr lang="zh-CN" altLang="en-US"/>
          </a:p>
        </p:txBody>
      </p:sp>
    </p:spTree>
    <p:extLst>
      <p:ext uri="{BB962C8B-B14F-4D97-AF65-F5344CB8AC3E}">
        <p14:creationId xmlns:p14="http://schemas.microsoft.com/office/powerpoint/2010/main" val="2787613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有更正</a:t>
            </a:r>
          </a:p>
        </p:txBody>
      </p:sp>
      <p:sp>
        <p:nvSpPr>
          <p:cNvPr id="4" name="灯片编号占位符 3"/>
          <p:cNvSpPr>
            <a:spLocks noGrp="1"/>
          </p:cNvSpPr>
          <p:nvPr>
            <p:ph type="sldNum" sz="quarter" idx="10"/>
          </p:nvPr>
        </p:nvSpPr>
        <p:spPr/>
        <p:txBody>
          <a:bodyPr/>
          <a:lstStyle/>
          <a:p>
            <a:fld id="{7F497359-BD37-41E1-AF95-71E7D52515AE}" type="slidenum">
              <a:rPr lang="zh-CN" altLang="en-US" smtClean="0"/>
              <a:t>63</a:t>
            </a:fld>
            <a:endParaRPr lang="zh-CN" altLang="en-US"/>
          </a:p>
        </p:txBody>
      </p:sp>
    </p:spTree>
    <p:extLst>
      <p:ext uri="{BB962C8B-B14F-4D97-AF65-F5344CB8AC3E}">
        <p14:creationId xmlns:p14="http://schemas.microsoft.com/office/powerpoint/2010/main" val="1313242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80</a:t>
            </a:fld>
            <a:endParaRPr lang="zh-CN" altLang="en-US"/>
          </a:p>
        </p:txBody>
      </p:sp>
    </p:spTree>
    <p:extLst>
      <p:ext uri="{BB962C8B-B14F-4D97-AF65-F5344CB8AC3E}">
        <p14:creationId xmlns:p14="http://schemas.microsoft.com/office/powerpoint/2010/main" val="3507261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82</a:t>
            </a:fld>
            <a:endParaRPr lang="zh-CN" altLang="en-US"/>
          </a:p>
        </p:txBody>
      </p:sp>
    </p:spTree>
    <p:extLst>
      <p:ext uri="{BB962C8B-B14F-4D97-AF65-F5344CB8AC3E}">
        <p14:creationId xmlns:p14="http://schemas.microsoft.com/office/powerpoint/2010/main" val="2645853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F94922-854C-44B1-AD42-3245CD93F530}" type="slidenum">
              <a:rPr lang="zh-CN" altLang="en-US" smtClean="0"/>
              <a:t>83</a:t>
            </a:fld>
            <a:endParaRPr lang="zh-CN" altLang="en-US"/>
          </a:p>
        </p:txBody>
      </p:sp>
    </p:spTree>
    <p:extLst>
      <p:ext uri="{BB962C8B-B14F-4D97-AF65-F5344CB8AC3E}">
        <p14:creationId xmlns:p14="http://schemas.microsoft.com/office/powerpoint/2010/main" val="2684038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1936</a:t>
            </a:r>
            <a:r>
              <a:rPr lang="zh-CN" altLang="en-US" sz="1200" b="0" i="0" kern="1200" dirty="0">
                <a:solidFill>
                  <a:schemeClr val="tx1"/>
                </a:solidFill>
                <a:effectLst/>
                <a:latin typeface="+mn-lt"/>
                <a:ea typeface="+mn-ea"/>
                <a:cs typeface="+mn-cs"/>
              </a:rPr>
              <a:t>年度的德拜（</a:t>
            </a:r>
            <a:r>
              <a:rPr lang="en-US" altLang="zh-CN" sz="1200" b="0" i="0" kern="1200" dirty="0">
                <a:solidFill>
                  <a:schemeClr val="tx1"/>
                </a:solidFill>
                <a:effectLst/>
                <a:latin typeface="+mn-lt"/>
                <a:ea typeface="+mn-ea"/>
                <a:cs typeface="+mn-cs"/>
              </a:rPr>
              <a:t>Peter Debye</a:t>
            </a:r>
            <a:r>
              <a:rPr lang="zh-CN" altLang="en-US" sz="1200" b="0" i="0" kern="1200" dirty="0">
                <a:solidFill>
                  <a:schemeClr val="tx1"/>
                </a:solidFill>
                <a:effectLst/>
                <a:latin typeface="+mn-lt"/>
                <a:ea typeface="+mn-ea"/>
                <a:cs typeface="+mn-cs"/>
              </a:rPr>
              <a:t>）因发展</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射线衍射而获奖。德拜是大牌物理学家，其</a:t>
            </a:r>
            <a:r>
              <a:rPr lang="en-US" altLang="zh-CN" sz="1200" b="0" i="0" kern="1200" dirty="0">
                <a:solidFill>
                  <a:schemeClr val="tx1"/>
                </a:solidFill>
                <a:effectLst/>
                <a:latin typeface="+mn-lt"/>
                <a:ea typeface="+mn-ea"/>
                <a:cs typeface="+mn-cs"/>
              </a:rPr>
              <a:t>1925</a:t>
            </a:r>
            <a:r>
              <a:rPr lang="zh-CN" altLang="en-US" sz="1200" b="0" i="0" kern="1200" dirty="0">
                <a:solidFill>
                  <a:schemeClr val="tx1"/>
                </a:solidFill>
                <a:effectLst/>
                <a:latin typeface="+mn-lt"/>
                <a:ea typeface="+mn-ea"/>
                <a:cs typeface="+mn-cs"/>
              </a:rPr>
              <a:t>年底嘟哝的一句“谈论波动总得有个波动方程吧”导致薛定谔老师上山写出了量子力学的基本方程；</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1998</a:t>
            </a:r>
            <a:r>
              <a:rPr lang="zh-CN" altLang="en-US" sz="1200" b="0" i="0" kern="1200" dirty="0">
                <a:solidFill>
                  <a:schemeClr val="tx1"/>
                </a:solidFill>
                <a:effectLst/>
                <a:latin typeface="+mn-lt"/>
                <a:ea typeface="+mn-ea"/>
                <a:cs typeface="+mn-cs"/>
              </a:rPr>
              <a:t>年度的柯恩（</a:t>
            </a:r>
            <a:r>
              <a:rPr lang="en-US" altLang="zh-CN" sz="1200" b="0" i="0" kern="1200" dirty="0">
                <a:solidFill>
                  <a:schemeClr val="tx1"/>
                </a:solidFill>
                <a:effectLst/>
                <a:latin typeface="+mn-lt"/>
                <a:ea typeface="+mn-ea"/>
                <a:cs typeface="+mn-cs"/>
              </a:rPr>
              <a:t>Walter Kohn</a:t>
            </a:r>
            <a:r>
              <a:rPr lang="zh-CN" altLang="en-US" sz="1200" b="0" i="0" kern="1200" dirty="0">
                <a:solidFill>
                  <a:schemeClr val="tx1"/>
                </a:solidFill>
                <a:effectLst/>
                <a:latin typeface="+mn-lt"/>
                <a:ea typeface="+mn-ea"/>
                <a:cs typeface="+mn-cs"/>
              </a:rPr>
              <a:t>）因发展密度泛函理论获奖，</a:t>
            </a:r>
            <a:r>
              <a:rPr lang="en-US" altLang="zh-CN" sz="1200" b="0" i="0" kern="1200" dirty="0">
                <a:solidFill>
                  <a:schemeClr val="tx1"/>
                </a:solidFill>
                <a:effectLst/>
                <a:latin typeface="+mn-lt"/>
                <a:ea typeface="+mn-ea"/>
                <a:cs typeface="+mn-cs"/>
              </a:rPr>
              <a:t>1977</a:t>
            </a:r>
            <a:r>
              <a:rPr lang="zh-CN" altLang="en-US" sz="1200" b="0" i="0" kern="1200" dirty="0">
                <a:solidFill>
                  <a:schemeClr val="tx1"/>
                </a:solidFill>
                <a:effectLst/>
                <a:latin typeface="+mn-lt"/>
                <a:ea typeface="+mn-ea"/>
                <a:cs typeface="+mn-cs"/>
              </a:rPr>
              <a:t>年度的普利高津（</a:t>
            </a:r>
            <a:r>
              <a:rPr lang="en-US" altLang="zh-CN" sz="1200" b="0" i="0" kern="1200" dirty="0" err="1">
                <a:solidFill>
                  <a:schemeClr val="tx1"/>
                </a:solidFill>
                <a:effectLst/>
                <a:latin typeface="+mn-lt"/>
                <a:ea typeface="+mn-ea"/>
                <a:cs typeface="+mn-cs"/>
              </a:rPr>
              <a:t>Ilya</a:t>
            </a:r>
            <a:r>
              <a:rPr lang="en-US" altLang="zh-CN" sz="1200" b="0" i="0" kern="1200" dirty="0">
                <a:solidFill>
                  <a:schemeClr val="tx1"/>
                </a:solidFill>
                <a:effectLst/>
                <a:latin typeface="+mn-lt"/>
                <a:ea typeface="+mn-ea"/>
                <a:cs typeface="+mn-cs"/>
              </a:rPr>
              <a:t> Prigogine</a:t>
            </a:r>
            <a:r>
              <a:rPr lang="zh-CN" altLang="en-US" sz="1200" b="0" i="0" kern="1200" dirty="0">
                <a:solidFill>
                  <a:schemeClr val="tx1"/>
                </a:solidFill>
                <a:effectLst/>
                <a:latin typeface="+mn-lt"/>
                <a:ea typeface="+mn-ea"/>
                <a:cs typeface="+mn-cs"/>
              </a:rPr>
              <a:t>）因发展非平衡态热力学获奖</a:t>
            </a:r>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90</a:t>
            </a:fld>
            <a:endParaRPr lang="zh-CN" altLang="en-US"/>
          </a:p>
        </p:txBody>
      </p:sp>
    </p:spTree>
    <p:extLst>
      <p:ext uri="{BB962C8B-B14F-4D97-AF65-F5344CB8AC3E}">
        <p14:creationId xmlns:p14="http://schemas.microsoft.com/office/powerpoint/2010/main" val="3657425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a:extLst>
              <a:ext uri="{FF2B5EF4-FFF2-40B4-BE49-F238E27FC236}">
                <a16:creationId xmlns:a16="http://schemas.microsoft.com/office/drawing/2014/main" id="{37652969-BD49-8A41-9A80-605BBF6C84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2" name="备注占位符 2">
            <a:extLst>
              <a:ext uri="{FF2B5EF4-FFF2-40B4-BE49-F238E27FC236}">
                <a16:creationId xmlns:a16="http://schemas.microsoft.com/office/drawing/2014/main" id="{67C83D08-4E7F-2D41-AAD9-8834E6F583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0" lang="zh-CN" altLang="en-US"/>
          </a:p>
        </p:txBody>
      </p:sp>
      <p:sp>
        <p:nvSpPr>
          <p:cNvPr id="56323" name="灯片编号占位符 3">
            <a:extLst>
              <a:ext uri="{FF2B5EF4-FFF2-40B4-BE49-F238E27FC236}">
                <a16:creationId xmlns:a16="http://schemas.microsoft.com/office/drawing/2014/main" id="{3C626580-8EB0-4A4C-8F5A-C26453BFB3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Calibri" panose="020F0502020204030204" pitchFamily="34" charset="0"/>
                <a:ea typeface="宋体" panose="02010600030101010101" pitchFamily="2" charset="-122"/>
              </a:defRPr>
            </a:lvl1pPr>
            <a:lvl2pPr marL="742950" indent="-285750">
              <a:defRPr kumimoji="1" sz="2400">
                <a:solidFill>
                  <a:schemeClr val="tx1"/>
                </a:solidFill>
                <a:latin typeface="Calibri" panose="020F0502020204030204" pitchFamily="34" charset="0"/>
                <a:ea typeface="宋体" panose="02010600030101010101" pitchFamily="2" charset="-122"/>
              </a:defRPr>
            </a:lvl2pPr>
            <a:lvl3pPr marL="1143000" indent="-228600">
              <a:defRPr kumimoji="1" sz="2400">
                <a:solidFill>
                  <a:schemeClr val="tx1"/>
                </a:solidFill>
                <a:latin typeface="Calibri" panose="020F0502020204030204" pitchFamily="34" charset="0"/>
                <a:ea typeface="宋体" panose="02010600030101010101" pitchFamily="2" charset="-122"/>
              </a:defRPr>
            </a:lvl3pPr>
            <a:lvl4pPr marL="1600200" indent="-228600">
              <a:defRPr kumimoji="1" sz="2400">
                <a:solidFill>
                  <a:schemeClr val="tx1"/>
                </a:solidFill>
                <a:latin typeface="Calibri" panose="020F0502020204030204" pitchFamily="34" charset="0"/>
                <a:ea typeface="宋体" panose="02010600030101010101" pitchFamily="2" charset="-122"/>
              </a:defRPr>
            </a:lvl4pPr>
            <a:lvl5pPr marL="2057400" indent="-228600">
              <a:defRPr kumimoji="1" sz="24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fld id="{946F1CF6-B956-AA49-BCD3-378318C66A25}" type="slidenum">
              <a:rPr kumimoji="0" lang="zh-CN" altLang="en-US" sz="1200"/>
              <a:pPr/>
              <a:t>95</a:t>
            </a:fld>
            <a:endParaRPr kumimoji="0" lang="zh-CN" altLang="en-US" sz="1200"/>
          </a:p>
        </p:txBody>
      </p:sp>
    </p:spTree>
    <p:extLst>
      <p:ext uri="{BB962C8B-B14F-4D97-AF65-F5344CB8AC3E}">
        <p14:creationId xmlns:p14="http://schemas.microsoft.com/office/powerpoint/2010/main" val="4282737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a:extLst>
              <a:ext uri="{FF2B5EF4-FFF2-40B4-BE49-F238E27FC236}">
                <a16:creationId xmlns:a16="http://schemas.microsoft.com/office/drawing/2014/main" id="{3DBD32D0-730E-C94D-81B1-70C3F0EC03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8" name="备注占位符 2">
            <a:extLst>
              <a:ext uri="{FF2B5EF4-FFF2-40B4-BE49-F238E27FC236}">
                <a16:creationId xmlns:a16="http://schemas.microsoft.com/office/drawing/2014/main" id="{9A2DD248-77B9-F445-B27D-6720C84C63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0" lang="zh-CN" altLang="en-US"/>
          </a:p>
        </p:txBody>
      </p:sp>
      <p:sp>
        <p:nvSpPr>
          <p:cNvPr id="60419" name="灯片编号占位符 3">
            <a:extLst>
              <a:ext uri="{FF2B5EF4-FFF2-40B4-BE49-F238E27FC236}">
                <a16:creationId xmlns:a16="http://schemas.microsoft.com/office/drawing/2014/main" id="{469E9D5B-7BDB-DC47-B621-E820107162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Calibri" panose="020F0502020204030204" pitchFamily="34" charset="0"/>
                <a:ea typeface="宋体" panose="02010600030101010101" pitchFamily="2" charset="-122"/>
              </a:defRPr>
            </a:lvl1pPr>
            <a:lvl2pPr marL="742950" indent="-285750">
              <a:defRPr kumimoji="1" sz="2400">
                <a:solidFill>
                  <a:schemeClr val="tx1"/>
                </a:solidFill>
                <a:latin typeface="Calibri" panose="020F0502020204030204" pitchFamily="34" charset="0"/>
                <a:ea typeface="宋体" panose="02010600030101010101" pitchFamily="2" charset="-122"/>
              </a:defRPr>
            </a:lvl2pPr>
            <a:lvl3pPr marL="1143000" indent="-228600">
              <a:defRPr kumimoji="1" sz="2400">
                <a:solidFill>
                  <a:schemeClr val="tx1"/>
                </a:solidFill>
                <a:latin typeface="Calibri" panose="020F0502020204030204" pitchFamily="34" charset="0"/>
                <a:ea typeface="宋体" panose="02010600030101010101" pitchFamily="2" charset="-122"/>
              </a:defRPr>
            </a:lvl3pPr>
            <a:lvl4pPr marL="1600200" indent="-228600">
              <a:defRPr kumimoji="1" sz="2400">
                <a:solidFill>
                  <a:schemeClr val="tx1"/>
                </a:solidFill>
                <a:latin typeface="Calibri" panose="020F0502020204030204" pitchFamily="34" charset="0"/>
                <a:ea typeface="宋体" panose="02010600030101010101" pitchFamily="2" charset="-122"/>
              </a:defRPr>
            </a:lvl4pPr>
            <a:lvl5pPr marL="2057400" indent="-228600">
              <a:defRPr kumimoji="1" sz="24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fld id="{FA5D3DDD-0F94-C348-8396-86C7521394BE}" type="slidenum">
              <a:rPr kumimoji="0" lang="zh-CN" altLang="en-US" sz="1200"/>
              <a:pPr/>
              <a:t>96</a:t>
            </a:fld>
            <a:endParaRPr kumimoji="0" lang="zh-CN" altLang="en-US" sz="1200"/>
          </a:p>
        </p:txBody>
      </p:sp>
    </p:spTree>
    <p:extLst>
      <p:ext uri="{BB962C8B-B14F-4D97-AF65-F5344CB8AC3E}">
        <p14:creationId xmlns:p14="http://schemas.microsoft.com/office/powerpoint/2010/main" val="3333935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从研究历史也可以发现固体的比热大致包含以下几类：晶体比热、电子比热、磁比热、异常比热</a:t>
            </a:r>
            <a:endParaRPr lang="en-US"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1800</a:t>
            </a:r>
            <a:r>
              <a:rPr lang="zh-CN" altLang="en-US" sz="1200" b="1" kern="1200" dirty="0">
                <a:solidFill>
                  <a:schemeClr val="tx1"/>
                </a:solidFill>
                <a:effectLst/>
                <a:latin typeface="+mn-lt"/>
                <a:ea typeface="+mn-ea"/>
                <a:cs typeface="+mn-cs"/>
              </a:rPr>
              <a:t>布莱克首次提出比热的概念</a:t>
            </a:r>
            <a:endParaRPr lang="en-US"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1819</a:t>
            </a:r>
            <a:r>
              <a:rPr lang="zh-CN" altLang="en-US" sz="1200" b="1" kern="1200" dirty="0">
                <a:solidFill>
                  <a:schemeClr val="tx1"/>
                </a:solidFill>
                <a:effectLst/>
                <a:latin typeface="+mn-lt"/>
                <a:ea typeface="+mn-ea"/>
                <a:cs typeface="+mn-cs"/>
              </a:rPr>
              <a:t>杜隆泊替定律</a:t>
            </a:r>
            <a:endParaRPr lang="en-US"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1831</a:t>
            </a:r>
            <a:r>
              <a:rPr lang="zh-CN" altLang="en-US" sz="1200" b="1" kern="1200" dirty="0">
                <a:solidFill>
                  <a:schemeClr val="tx1"/>
                </a:solidFill>
                <a:effectLst/>
                <a:latin typeface="+mn-lt"/>
                <a:ea typeface="+mn-ea"/>
                <a:cs typeface="+mn-cs"/>
              </a:rPr>
              <a:t>纽曼</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科普定律进一步发展了杜隆泊替定律</a:t>
            </a:r>
            <a:endParaRPr lang="en-US"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1907</a:t>
            </a:r>
            <a:r>
              <a:rPr lang="zh-CN" altLang="en-US" sz="1200" b="1" kern="1200" dirty="0">
                <a:solidFill>
                  <a:schemeClr val="tx1"/>
                </a:solidFill>
                <a:effectLst/>
                <a:latin typeface="+mn-lt"/>
                <a:ea typeface="+mn-ea"/>
                <a:cs typeface="+mn-cs"/>
              </a:rPr>
              <a:t>年随着低温技术的发展，随着温度的降低，比热迅速减小，爱因斯坦基于量子理论提出了爱因斯坦模型</a:t>
            </a:r>
            <a:endParaRPr lang="en-US"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1912</a:t>
            </a:r>
            <a:r>
              <a:rPr lang="zh-CN" altLang="en-US" sz="1200" b="1" kern="1200" dirty="0">
                <a:solidFill>
                  <a:schemeClr val="tx1"/>
                </a:solidFill>
                <a:effectLst/>
                <a:latin typeface="+mn-lt"/>
                <a:ea typeface="+mn-ea"/>
                <a:cs typeface="+mn-cs"/>
              </a:rPr>
              <a:t>年，随着温度的进一步降低，在</a:t>
            </a:r>
            <a:r>
              <a:rPr lang="en-US" altLang="zh-CN" sz="1200" b="1" kern="1200" dirty="0">
                <a:solidFill>
                  <a:schemeClr val="tx1"/>
                </a:solidFill>
                <a:effectLst/>
                <a:latin typeface="+mn-lt"/>
                <a:ea typeface="+mn-ea"/>
                <a:cs typeface="+mn-cs"/>
              </a:rPr>
              <a:t>20K</a:t>
            </a:r>
            <a:r>
              <a:rPr lang="zh-CN" altLang="en-US" sz="1200" b="1" kern="1200" dirty="0">
                <a:solidFill>
                  <a:schemeClr val="tx1"/>
                </a:solidFill>
                <a:effectLst/>
                <a:latin typeface="+mn-lt"/>
                <a:ea typeface="+mn-ea"/>
                <a:cs typeface="+mn-cs"/>
              </a:rPr>
              <a:t>以下，爱因斯坦模型和实验结果差别较大，德拜提出德拜模型</a:t>
            </a:r>
            <a:endParaRPr lang="en-US"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1928</a:t>
            </a:r>
            <a:r>
              <a:rPr lang="zh-CN" altLang="en-US" sz="1200" b="1" kern="1200" dirty="0">
                <a:solidFill>
                  <a:schemeClr val="tx1"/>
                </a:solidFill>
                <a:effectLst/>
                <a:latin typeface="+mn-lt"/>
                <a:ea typeface="+mn-ea"/>
                <a:cs typeface="+mn-cs"/>
              </a:rPr>
              <a:t>年索末菲提出自由电子气模型，并由此推导出了电子比热</a:t>
            </a:r>
            <a:endParaRPr lang="en-US" altLang="zh-CN" sz="1200" b="1" kern="1200" dirty="0">
              <a:solidFill>
                <a:schemeClr val="tx1"/>
              </a:solidFill>
              <a:effectLst/>
              <a:latin typeface="+mn-lt"/>
              <a:ea typeface="+mn-ea"/>
              <a:cs typeface="+mn-cs"/>
            </a:endParaRPr>
          </a:p>
          <a:p>
            <a:pPr marL="0" marR="0" indent="0" algn="l" defTabSz="685800" rtl="0" eaLnBrk="1" fontAlgn="auto" latinLnBrk="0" hangingPunct="1">
              <a:lnSpc>
                <a:spcPct val="100000"/>
              </a:lnSpc>
              <a:spcBef>
                <a:spcPts val="0"/>
              </a:spcBef>
              <a:spcAft>
                <a:spcPts val="0"/>
              </a:spcAft>
              <a:buClrTx/>
              <a:buSzTx/>
              <a:buFontTx/>
              <a:buNone/>
              <a:defRPr/>
            </a:pPr>
            <a:r>
              <a:rPr lang="en-US" altLang="zh-CN" sz="1200" b="1" kern="1200" dirty="0">
                <a:solidFill>
                  <a:schemeClr val="tx1"/>
                </a:solidFill>
                <a:effectLst/>
                <a:latin typeface="+mn-lt"/>
                <a:ea typeface="+mn-ea"/>
                <a:cs typeface="+mn-cs"/>
              </a:rPr>
              <a:t>1963</a:t>
            </a:r>
            <a:r>
              <a:rPr lang="zh-CN" altLang="en-US" sz="1200" b="1" kern="1200" dirty="0">
                <a:solidFill>
                  <a:schemeClr val="tx1"/>
                </a:solidFill>
                <a:effectLst/>
                <a:latin typeface="+mn-lt"/>
                <a:ea typeface="+mn-ea"/>
                <a:cs typeface="+mn-cs"/>
              </a:rPr>
              <a:t>年，</a:t>
            </a:r>
            <a:r>
              <a:rPr lang="en-US" altLang="zh-CN" sz="1200" b="1" dirty="0"/>
              <a:t>Rosenberg</a:t>
            </a:r>
            <a:r>
              <a:rPr lang="zh-CN" altLang="en-US" sz="1200" b="1" dirty="0"/>
              <a:t>提出了固体中的肖特基异常比热</a:t>
            </a:r>
            <a:endParaRPr lang="en-US" altLang="zh-CN" sz="1200" b="1" dirty="0"/>
          </a:p>
          <a:p>
            <a:pPr marL="0" marR="0" indent="0" algn="l" defTabSz="685800" rtl="0" eaLnBrk="1" fontAlgn="auto" latinLnBrk="0" hangingPunct="1">
              <a:lnSpc>
                <a:spcPct val="100000"/>
              </a:lnSpc>
              <a:spcBef>
                <a:spcPts val="0"/>
              </a:spcBef>
              <a:spcAft>
                <a:spcPts val="0"/>
              </a:spcAft>
              <a:buClrTx/>
              <a:buSzTx/>
              <a:buFontTx/>
              <a:buNone/>
              <a:defRPr/>
            </a:pPr>
            <a:r>
              <a:rPr lang="en-US" altLang="zh-CN" sz="1200" b="1" dirty="0"/>
              <a:t>1980</a:t>
            </a:r>
            <a:r>
              <a:rPr lang="zh-CN" altLang="en-US" sz="1200" b="1" dirty="0"/>
              <a:t>年，</a:t>
            </a:r>
            <a:r>
              <a:rPr lang="en-US" altLang="zh-CN" sz="1200" b="1" dirty="0"/>
              <a:t>Sinha and Kumar</a:t>
            </a:r>
            <a:r>
              <a:rPr lang="zh-CN" altLang="en-US" sz="1200" b="1" dirty="0"/>
              <a:t>在前人的基础上系统的提出了各种磁作用的比热</a:t>
            </a:r>
            <a:endParaRPr lang="en-US" altLang="zh-CN" sz="1200" b="1" dirty="0"/>
          </a:p>
          <a:p>
            <a:pPr marL="0" marR="0" indent="0" algn="l" defTabSz="685800" rtl="0" eaLnBrk="1" fontAlgn="auto" latinLnBrk="0" hangingPunct="1">
              <a:lnSpc>
                <a:spcPct val="100000"/>
              </a:lnSpc>
              <a:spcBef>
                <a:spcPts val="0"/>
              </a:spcBef>
              <a:spcAft>
                <a:spcPts val="0"/>
              </a:spcAft>
              <a:buClrTx/>
              <a:buSzTx/>
              <a:buFontTx/>
              <a:buNone/>
              <a:defRPr/>
            </a:pPr>
            <a:r>
              <a:rPr lang="en-US" altLang="zh-CN" sz="1200" b="1" dirty="0"/>
              <a:t>1992</a:t>
            </a:r>
            <a:r>
              <a:rPr lang="zh-CN" altLang="en-US" sz="1200" b="1" dirty="0"/>
              <a:t>年，</a:t>
            </a:r>
            <a:r>
              <a:rPr lang="en-US" altLang="zh-CN" sz="1200" b="1" dirty="0"/>
              <a:t>Elliott</a:t>
            </a:r>
            <a:r>
              <a:rPr lang="zh-CN" altLang="en-US" sz="1200" b="1" dirty="0"/>
              <a:t>首次发现了波色峰</a:t>
            </a:r>
            <a:endParaRPr lang="en-US" altLang="zh-CN" sz="1200" b="1"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b="1" dirty="0"/>
              <a:t>2010-2020</a:t>
            </a:r>
            <a:r>
              <a:rPr lang="zh-CN" altLang="en-US" sz="1200" b="1" dirty="0"/>
              <a:t>进入</a:t>
            </a:r>
            <a:r>
              <a:rPr lang="en-US" altLang="zh-CN" sz="1200" b="1" dirty="0"/>
              <a:t>21</a:t>
            </a:r>
            <a:r>
              <a:rPr lang="zh-CN" altLang="en-US" sz="1200" b="1" dirty="0"/>
              <a:t>世纪，</a:t>
            </a:r>
            <a:r>
              <a:rPr lang="zh-CN" altLang="en-US" sz="1200" b="1" kern="1200" dirty="0">
                <a:solidFill>
                  <a:schemeClr val="tx1"/>
                </a:solidFill>
                <a:effectLst/>
                <a:latin typeface="+mn-lt"/>
                <a:ea typeface="+mn-ea"/>
                <a:cs typeface="+mn-cs"/>
              </a:rPr>
              <a:t>比热的研究主要集中在量热学、新型比热拟合模型的开发、比热在物理现象解析中的应用</a:t>
            </a:r>
            <a:endParaRPr lang="en-US"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7F497359-BD37-41E1-AF95-71E7D52515AE}" type="slidenum">
              <a:rPr lang="zh-CN" altLang="en-US" smtClean="0"/>
              <a:t>97</a:t>
            </a:fld>
            <a:endParaRPr lang="zh-CN" altLang="en-US"/>
          </a:p>
        </p:txBody>
      </p:sp>
    </p:spTree>
    <p:extLst>
      <p:ext uri="{BB962C8B-B14F-4D97-AF65-F5344CB8AC3E}">
        <p14:creationId xmlns:p14="http://schemas.microsoft.com/office/powerpoint/2010/main" val="3466837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2220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409407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1731143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7.wmf"/><Relationship Id="rId7" Type="http://schemas.openxmlformats.org/officeDocument/2006/relationships/oleObject" Target="../embeddings/oleObject4.bin"/><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image" Target="../media/image19.wmf"/><Relationship Id="rId5" Type="http://schemas.openxmlformats.org/officeDocument/2006/relationships/oleObject" Target="../embeddings/oleObject3.bin"/><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22.wmf"/></Relationships>
</file>

<file path=ppt/slides/_rels/slide1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28.wmf"/><Relationship Id="rId5" Type="http://schemas.openxmlformats.org/officeDocument/2006/relationships/oleObject" Target="../embeddings/oleObject10.bin"/><Relationship Id="rId4" Type="http://schemas.openxmlformats.org/officeDocument/2006/relationships/image" Target="../media/image27.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11.bin"/><Relationship Id="rId1" Type="http://schemas.openxmlformats.org/officeDocument/2006/relationships/slideLayout" Target="../slideLayouts/slideLayout12.xml"/><Relationship Id="rId6" Type="http://schemas.openxmlformats.org/officeDocument/2006/relationships/oleObject" Target="../embeddings/oleObject13.bin"/><Relationship Id="rId5" Type="http://schemas.openxmlformats.org/officeDocument/2006/relationships/image" Target="../media/image30.wmf"/><Relationship Id="rId4" Type="http://schemas.openxmlformats.org/officeDocument/2006/relationships/oleObject" Target="../embeddings/oleObject12.bin"/><Relationship Id="rId9" Type="http://schemas.openxmlformats.org/officeDocument/2006/relationships/image" Target="../media/image32.wmf"/></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15.bin"/><Relationship Id="rId1" Type="http://schemas.openxmlformats.org/officeDocument/2006/relationships/slideLayout" Target="../slideLayouts/slideLayout12.xml"/><Relationship Id="rId6" Type="http://schemas.openxmlformats.org/officeDocument/2006/relationships/oleObject" Target="../embeddings/oleObject17.bin"/><Relationship Id="rId5" Type="http://schemas.openxmlformats.org/officeDocument/2006/relationships/image" Target="../media/image36.wmf"/><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18.bin"/><Relationship Id="rId1" Type="http://schemas.openxmlformats.org/officeDocument/2006/relationships/slideLayout" Target="../slideLayouts/slideLayout12.xml"/><Relationship Id="rId6" Type="http://schemas.openxmlformats.org/officeDocument/2006/relationships/oleObject" Target="../embeddings/oleObject20.bin"/><Relationship Id="rId11" Type="http://schemas.openxmlformats.org/officeDocument/2006/relationships/image" Target="../media/image42.wmf"/><Relationship Id="rId5" Type="http://schemas.openxmlformats.org/officeDocument/2006/relationships/image" Target="../media/image39.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41.wmf"/></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12.xml"/><Relationship Id="rId4" Type="http://schemas.openxmlformats.org/officeDocument/2006/relationships/hyperlink" Target="https://en.wikipedia.org/wiki/Thermodynamics"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23.bin"/><Relationship Id="rId1" Type="http://schemas.openxmlformats.org/officeDocument/2006/relationships/slideLayout" Target="../slideLayouts/slideLayout12.xml"/><Relationship Id="rId6" Type="http://schemas.openxmlformats.org/officeDocument/2006/relationships/oleObject" Target="../embeddings/oleObject25.bin"/><Relationship Id="rId5" Type="http://schemas.openxmlformats.org/officeDocument/2006/relationships/image" Target="../media/image46.wmf"/><Relationship Id="rId4" Type="http://schemas.openxmlformats.org/officeDocument/2006/relationships/oleObject" Target="../embeddings/oleObject24.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image" Target="../media/image49.emf"/><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50.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27.bin"/><Relationship Id="rId1" Type="http://schemas.openxmlformats.org/officeDocument/2006/relationships/slideLayout" Target="../slideLayouts/slideLayout12.xml"/><Relationship Id="rId4" Type="http://schemas.openxmlformats.org/officeDocument/2006/relationships/image" Target="../media/image53.jpeg"/></Relationships>
</file>

<file path=ppt/slides/_rels/slide26.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56.wmf"/><Relationship Id="rId5" Type="http://schemas.openxmlformats.org/officeDocument/2006/relationships/oleObject" Target="../embeddings/oleObject29.bin"/><Relationship Id="rId4" Type="http://schemas.openxmlformats.org/officeDocument/2006/relationships/image" Target="../media/image55.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0.wmf"/><Relationship Id="rId12" Type="http://schemas.openxmlformats.org/officeDocument/2006/relationships/oleObject" Target="../embeddings/oleObject36.bin"/><Relationship Id="rId2" Type="http://schemas.openxmlformats.org/officeDocument/2006/relationships/oleObject" Target="../embeddings/oleObject31.bin"/><Relationship Id="rId1" Type="http://schemas.openxmlformats.org/officeDocument/2006/relationships/slideLayout" Target="../slideLayouts/slideLayout12.xml"/><Relationship Id="rId6" Type="http://schemas.openxmlformats.org/officeDocument/2006/relationships/oleObject" Target="../embeddings/oleObject33.bin"/><Relationship Id="rId11" Type="http://schemas.openxmlformats.org/officeDocument/2006/relationships/image" Target="../media/image62.wmf"/><Relationship Id="rId5" Type="http://schemas.openxmlformats.org/officeDocument/2006/relationships/image" Target="../media/image59.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61.wmf"/></Relationships>
</file>

<file path=ppt/slides/_rels/slide28.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image" Target="../media/image68.wmf"/><Relationship Id="rId18" Type="http://schemas.openxmlformats.org/officeDocument/2006/relationships/oleObject" Target="../embeddings/oleObject45.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oleObject" Target="../embeddings/oleObject42.bin"/><Relationship Id="rId17" Type="http://schemas.openxmlformats.org/officeDocument/2006/relationships/image" Target="../media/image69.wmf"/><Relationship Id="rId2" Type="http://schemas.openxmlformats.org/officeDocument/2006/relationships/notesSlide" Target="../notesSlides/notesSlide1.xml"/><Relationship Id="rId16" Type="http://schemas.openxmlformats.org/officeDocument/2006/relationships/oleObject" Target="../embeddings/oleObject44.bin"/><Relationship Id="rId1" Type="http://schemas.openxmlformats.org/officeDocument/2006/relationships/slideLayout" Target="../slideLayouts/slideLayout12.xml"/><Relationship Id="rId6" Type="http://schemas.openxmlformats.org/officeDocument/2006/relationships/image" Target="../media/image65.wmf"/><Relationship Id="rId11" Type="http://schemas.openxmlformats.org/officeDocument/2006/relationships/image" Target="../media/image67.wmf"/><Relationship Id="rId5" Type="http://schemas.openxmlformats.org/officeDocument/2006/relationships/oleObject" Target="../embeddings/oleObject38.bin"/><Relationship Id="rId15" Type="http://schemas.openxmlformats.org/officeDocument/2006/relationships/image" Target="../media/image58.wmf"/><Relationship Id="rId10" Type="http://schemas.openxmlformats.org/officeDocument/2006/relationships/oleObject" Target="../embeddings/oleObject41.bin"/><Relationship Id="rId19" Type="http://schemas.openxmlformats.org/officeDocument/2006/relationships/image" Target="../media/image70.wmf"/><Relationship Id="rId4" Type="http://schemas.openxmlformats.org/officeDocument/2006/relationships/image" Target="../media/image64.wmf"/><Relationship Id="rId9" Type="http://schemas.openxmlformats.org/officeDocument/2006/relationships/oleObject" Target="../embeddings/oleObject40.bin"/><Relationship Id="rId14" Type="http://schemas.openxmlformats.org/officeDocument/2006/relationships/oleObject" Target="../embeddings/oleObject43.bin"/></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2.xml"/><Relationship Id="rId5" Type="http://schemas.openxmlformats.org/officeDocument/2006/relationships/image" Target="../media/image77.png"/><Relationship Id="rId4" Type="http://schemas.openxmlformats.org/officeDocument/2006/relationships/image" Target="../media/image76.png"/></Relationships>
</file>

<file path=ppt/slides/_rels/slide35.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2.wmf"/><Relationship Id="rId12" Type="http://schemas.openxmlformats.org/officeDocument/2006/relationships/image" Target="../media/image1290.png"/><Relationship Id="rId2" Type="http://schemas.openxmlformats.org/officeDocument/2006/relationships/image" Target="../media/image78.png"/><Relationship Id="rId1" Type="http://schemas.openxmlformats.org/officeDocument/2006/relationships/slideLayout" Target="../slideLayouts/slideLayout12.xml"/><Relationship Id="rId6" Type="http://schemas.openxmlformats.org/officeDocument/2006/relationships/oleObject" Target="../embeddings/oleObject46.bin"/><Relationship Id="rId11" Type="http://schemas.openxmlformats.org/officeDocument/2006/relationships/image" Target="../media/image1280.png"/><Relationship Id="rId5" Type="http://schemas.openxmlformats.org/officeDocument/2006/relationships/image" Target="../media/image81.png"/><Relationship Id="rId10" Type="http://schemas.openxmlformats.org/officeDocument/2006/relationships/image" Target="../media/image1270.png"/><Relationship Id="rId4" Type="http://schemas.openxmlformats.org/officeDocument/2006/relationships/image" Target="../media/image80.png"/><Relationship Id="rId9" Type="http://schemas.openxmlformats.org/officeDocument/2006/relationships/image" Target="../media/image650.png"/></Relationships>
</file>

<file path=ppt/slides/_rels/slide36.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oleObject" Target="../embeddings/oleObject47.bin"/><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8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78.png"/><Relationship Id="rId5" Type="http://schemas.openxmlformats.org/officeDocument/2006/relationships/image" Target="../media/image89.png"/><Relationship Id="rId4" Type="http://schemas.openxmlformats.org/officeDocument/2006/relationships/image" Target="../media/image88.png"/></Relationships>
</file>

<file path=ppt/slides/_rels/slide39.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1470.png"/><Relationship Id="rId2" Type="http://schemas.openxmlformats.org/officeDocument/2006/relationships/image" Target="../media/image90.png"/><Relationship Id="rId1" Type="http://schemas.openxmlformats.org/officeDocument/2006/relationships/slideLayout" Target="../slideLayouts/slideLayout12.xml"/><Relationship Id="rId6" Type="http://schemas.openxmlformats.org/officeDocument/2006/relationships/image" Target="../media/image1460.png"/><Relationship Id="rId5" Type="http://schemas.openxmlformats.org/officeDocument/2006/relationships/image" Target="../media/image86.png"/><Relationship Id="rId4" Type="http://schemas.openxmlformats.org/officeDocument/2006/relationships/image" Target="../media/image9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8" Type="http://schemas.openxmlformats.org/officeDocument/2006/relationships/image" Target="../media/image98.emf"/><Relationship Id="rId3" Type="http://schemas.openxmlformats.org/officeDocument/2006/relationships/image" Target="../media/image94.png"/><Relationship Id="rId7" Type="http://schemas.openxmlformats.org/officeDocument/2006/relationships/image" Target="../media/image1790.png"/><Relationship Id="rId12" Type="http://schemas.openxmlformats.org/officeDocument/2006/relationships/image" Target="../media/image102.emf"/><Relationship Id="rId2" Type="http://schemas.openxmlformats.org/officeDocument/2006/relationships/image" Target="../media/image93.png"/><Relationship Id="rId1" Type="http://schemas.openxmlformats.org/officeDocument/2006/relationships/slideLayout" Target="../slideLayouts/slideLayout12.xml"/><Relationship Id="rId6" Type="http://schemas.openxmlformats.org/officeDocument/2006/relationships/image" Target="../media/image97.png"/><Relationship Id="rId11" Type="http://schemas.openxmlformats.org/officeDocument/2006/relationships/image" Target="../media/image101.emf"/><Relationship Id="rId5" Type="http://schemas.openxmlformats.org/officeDocument/2006/relationships/image" Target="../media/image96.png"/><Relationship Id="rId10" Type="http://schemas.openxmlformats.org/officeDocument/2006/relationships/image" Target="../media/image100.emf"/><Relationship Id="rId4" Type="http://schemas.openxmlformats.org/officeDocument/2006/relationships/image" Target="../media/image95.png"/><Relationship Id="rId9" Type="http://schemas.openxmlformats.org/officeDocument/2006/relationships/image" Target="../media/image99.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6.emf"/><Relationship Id="rId5" Type="http://schemas.openxmlformats.org/officeDocument/2006/relationships/image" Target="../media/image105.emf"/><Relationship Id="rId4" Type="http://schemas.openxmlformats.org/officeDocument/2006/relationships/image" Target="../media/image104.png"/></Relationships>
</file>

<file path=ppt/slides/_rels/slide44.x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image" Target="../media/image109.png"/><Relationship Id="rId1" Type="http://schemas.openxmlformats.org/officeDocument/2006/relationships/slideLayout" Target="../slideLayouts/slideLayout12.xml"/><Relationship Id="rId4" Type="http://schemas.openxmlformats.org/officeDocument/2006/relationships/image" Target="../media/image110.wmf"/></Relationships>
</file>

<file path=ppt/slides/_rels/slide48.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oleObject" Target="../embeddings/oleObject49.bin"/><Relationship Id="rId1" Type="http://schemas.openxmlformats.org/officeDocument/2006/relationships/slideLayout" Target="../slideLayouts/slideLayout12.xml"/><Relationship Id="rId5" Type="http://schemas.openxmlformats.org/officeDocument/2006/relationships/image" Target="../media/image112.wmf"/><Relationship Id="rId4" Type="http://schemas.openxmlformats.org/officeDocument/2006/relationships/oleObject" Target="../embeddings/oleObject50.bin"/></Relationships>
</file>

<file path=ppt/slides/_rels/slide49.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image" Target="../media/image113.png"/><Relationship Id="rId1" Type="http://schemas.openxmlformats.org/officeDocument/2006/relationships/slideLayout" Target="../slideLayouts/slideLayout1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image" Target="../media/image119.emf"/><Relationship Id="rId1" Type="http://schemas.openxmlformats.org/officeDocument/2006/relationships/slideLayout" Target="../slideLayouts/slideLayout12.xml"/><Relationship Id="rId4" Type="http://schemas.openxmlformats.org/officeDocument/2006/relationships/image" Target="../media/image120.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image" Target="../media/image121.png"/><Relationship Id="rId1" Type="http://schemas.openxmlformats.org/officeDocument/2006/relationships/slideLayout" Target="../slideLayouts/slideLayout12.xml"/><Relationship Id="rId4" Type="http://schemas.openxmlformats.org/officeDocument/2006/relationships/image" Target="../media/image122.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image" Target="../media/image123.png"/><Relationship Id="rId1" Type="http://schemas.openxmlformats.org/officeDocument/2006/relationships/slideLayout" Target="../slideLayouts/slideLayout12.xml"/><Relationship Id="rId4" Type="http://schemas.openxmlformats.org/officeDocument/2006/relationships/image" Target="../media/image124.wmf"/></Relationships>
</file>

<file path=ppt/slides/_rels/slide54.xml.rels><?xml version="1.0" encoding="UTF-8" standalone="yes"?>
<Relationships xmlns="http://schemas.openxmlformats.org/package/2006/relationships"><Relationship Id="rId8" Type="http://schemas.openxmlformats.org/officeDocument/2006/relationships/image" Target="../media/image128.jpeg"/><Relationship Id="rId3" Type="http://schemas.openxmlformats.org/officeDocument/2006/relationships/image" Target="../media/image125.wmf"/><Relationship Id="rId7" Type="http://schemas.openxmlformats.org/officeDocument/2006/relationships/image" Target="../media/image127.wmf"/><Relationship Id="rId2" Type="http://schemas.openxmlformats.org/officeDocument/2006/relationships/oleObject" Target="../embeddings/oleObject54.bin"/><Relationship Id="rId1" Type="http://schemas.openxmlformats.org/officeDocument/2006/relationships/slideLayout" Target="../slideLayouts/slideLayout12.xml"/><Relationship Id="rId6" Type="http://schemas.openxmlformats.org/officeDocument/2006/relationships/oleObject" Target="../embeddings/oleObject56.bin"/><Relationship Id="rId5" Type="http://schemas.openxmlformats.org/officeDocument/2006/relationships/image" Target="../media/image126.wmf"/><Relationship Id="rId4" Type="http://schemas.openxmlformats.org/officeDocument/2006/relationships/oleObject" Target="../embeddings/oleObject55.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134.wmf"/><Relationship Id="rId18" Type="http://schemas.openxmlformats.org/officeDocument/2006/relationships/oleObject" Target="../embeddings/oleObject65.bin"/><Relationship Id="rId3" Type="http://schemas.openxmlformats.org/officeDocument/2006/relationships/image" Target="../media/image129.wmf"/><Relationship Id="rId21" Type="http://schemas.openxmlformats.org/officeDocument/2006/relationships/image" Target="../media/image138.wmf"/><Relationship Id="rId7" Type="http://schemas.openxmlformats.org/officeDocument/2006/relationships/image" Target="../media/image131.wmf"/><Relationship Id="rId12" Type="http://schemas.openxmlformats.org/officeDocument/2006/relationships/oleObject" Target="../embeddings/oleObject62.bin"/><Relationship Id="rId17" Type="http://schemas.openxmlformats.org/officeDocument/2006/relationships/image" Target="../media/image136.wmf"/><Relationship Id="rId2" Type="http://schemas.openxmlformats.org/officeDocument/2006/relationships/oleObject" Target="../embeddings/oleObject57.bin"/><Relationship Id="rId16" Type="http://schemas.openxmlformats.org/officeDocument/2006/relationships/oleObject" Target="../embeddings/oleObject64.bin"/><Relationship Id="rId20" Type="http://schemas.openxmlformats.org/officeDocument/2006/relationships/oleObject" Target="../embeddings/oleObject66.bin"/><Relationship Id="rId1" Type="http://schemas.openxmlformats.org/officeDocument/2006/relationships/slideLayout" Target="../slideLayouts/slideLayout12.xml"/><Relationship Id="rId6" Type="http://schemas.openxmlformats.org/officeDocument/2006/relationships/oleObject" Target="../embeddings/oleObject59.bin"/><Relationship Id="rId11" Type="http://schemas.openxmlformats.org/officeDocument/2006/relationships/image" Target="../media/image133.wmf"/><Relationship Id="rId5" Type="http://schemas.openxmlformats.org/officeDocument/2006/relationships/image" Target="../media/image130.wmf"/><Relationship Id="rId15" Type="http://schemas.openxmlformats.org/officeDocument/2006/relationships/image" Target="../media/image135.wmf"/><Relationship Id="rId23" Type="http://schemas.openxmlformats.org/officeDocument/2006/relationships/image" Target="../media/image139.wmf"/><Relationship Id="rId10" Type="http://schemas.openxmlformats.org/officeDocument/2006/relationships/oleObject" Target="../embeddings/oleObject61.bin"/><Relationship Id="rId19" Type="http://schemas.openxmlformats.org/officeDocument/2006/relationships/image" Target="../media/image137.wmf"/><Relationship Id="rId4" Type="http://schemas.openxmlformats.org/officeDocument/2006/relationships/oleObject" Target="../embeddings/oleObject58.bin"/><Relationship Id="rId9" Type="http://schemas.openxmlformats.org/officeDocument/2006/relationships/image" Target="../media/image132.wmf"/><Relationship Id="rId14" Type="http://schemas.openxmlformats.org/officeDocument/2006/relationships/oleObject" Target="../embeddings/oleObject63.bin"/><Relationship Id="rId22" Type="http://schemas.openxmlformats.org/officeDocument/2006/relationships/oleObject" Target="../embeddings/oleObject67.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146.wmf"/><Relationship Id="rId3" Type="http://schemas.openxmlformats.org/officeDocument/2006/relationships/image" Target="../media/image141.png"/><Relationship Id="rId7" Type="http://schemas.openxmlformats.org/officeDocument/2006/relationships/image" Target="../media/image143.wmf"/><Relationship Id="rId12" Type="http://schemas.openxmlformats.org/officeDocument/2006/relationships/oleObject" Target="../embeddings/oleObject72.bin"/><Relationship Id="rId17" Type="http://schemas.openxmlformats.org/officeDocument/2006/relationships/image" Target="../media/image148.wmf"/><Relationship Id="rId2" Type="http://schemas.openxmlformats.org/officeDocument/2006/relationships/image" Target="../media/image140.png"/><Relationship Id="rId16" Type="http://schemas.openxmlformats.org/officeDocument/2006/relationships/oleObject" Target="../embeddings/oleObject74.bin"/><Relationship Id="rId1" Type="http://schemas.openxmlformats.org/officeDocument/2006/relationships/slideLayout" Target="../slideLayouts/slideLayout12.xml"/><Relationship Id="rId6" Type="http://schemas.openxmlformats.org/officeDocument/2006/relationships/oleObject" Target="../embeddings/oleObject69.bin"/><Relationship Id="rId11" Type="http://schemas.openxmlformats.org/officeDocument/2006/relationships/image" Target="../media/image145.wmf"/><Relationship Id="rId5" Type="http://schemas.openxmlformats.org/officeDocument/2006/relationships/image" Target="../media/image142.wmf"/><Relationship Id="rId15" Type="http://schemas.openxmlformats.org/officeDocument/2006/relationships/image" Target="../media/image147.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144.wmf"/><Relationship Id="rId14" Type="http://schemas.openxmlformats.org/officeDocument/2006/relationships/oleObject" Target="../embeddings/oleObject73.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oleObject" Target="../embeddings/oleObject75.bin"/><Relationship Id="rId1" Type="http://schemas.openxmlformats.org/officeDocument/2006/relationships/slideLayout" Target="../slideLayouts/slideLayout12.xml"/><Relationship Id="rId5" Type="http://schemas.openxmlformats.org/officeDocument/2006/relationships/image" Target="../media/image150.wmf"/><Relationship Id="rId4" Type="http://schemas.openxmlformats.org/officeDocument/2006/relationships/oleObject" Target="../embeddings/oleObject76.bin"/></Relationships>
</file>

<file path=ppt/slides/_rels/slide59.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5.wmf"/><Relationship Id="rId11" Type="http://schemas.openxmlformats.org/officeDocument/2006/relationships/image" Target="../media/image67.wmf"/><Relationship Id="rId5" Type="http://schemas.openxmlformats.org/officeDocument/2006/relationships/oleObject" Target="../embeddings/oleObject78.bin"/><Relationship Id="rId10" Type="http://schemas.openxmlformats.org/officeDocument/2006/relationships/oleObject" Target="../embeddings/oleObject81.bin"/><Relationship Id="rId4" Type="http://schemas.openxmlformats.org/officeDocument/2006/relationships/image" Target="../media/image64.wmf"/><Relationship Id="rId9" Type="http://schemas.openxmlformats.org/officeDocument/2006/relationships/oleObject" Target="../embeddings/oleObject80.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oleObject" Target="../embeddings/oleObject88.bin"/><Relationship Id="rId18" Type="http://schemas.openxmlformats.org/officeDocument/2006/relationships/image" Target="../media/image157.wmf"/><Relationship Id="rId3" Type="http://schemas.openxmlformats.org/officeDocument/2006/relationships/image" Target="../media/image64.wmf"/><Relationship Id="rId21" Type="http://schemas.openxmlformats.org/officeDocument/2006/relationships/image" Target="../media/image158.wmf"/><Relationship Id="rId7" Type="http://schemas.openxmlformats.org/officeDocument/2006/relationships/image" Target="../media/image152.wmf"/><Relationship Id="rId12" Type="http://schemas.openxmlformats.org/officeDocument/2006/relationships/image" Target="../media/image154.wmf"/><Relationship Id="rId17" Type="http://schemas.openxmlformats.org/officeDocument/2006/relationships/oleObject" Target="../embeddings/oleObject90.bin"/><Relationship Id="rId2" Type="http://schemas.openxmlformats.org/officeDocument/2006/relationships/oleObject" Target="../embeddings/oleObject82.bin"/><Relationship Id="rId16" Type="http://schemas.openxmlformats.org/officeDocument/2006/relationships/image" Target="../media/image156.wmf"/><Relationship Id="rId20" Type="http://schemas.openxmlformats.org/officeDocument/2006/relationships/oleObject" Target="../embeddings/oleObject92.bin"/><Relationship Id="rId1" Type="http://schemas.openxmlformats.org/officeDocument/2006/relationships/slideLayout" Target="../slideLayouts/slideLayout12.xml"/><Relationship Id="rId6" Type="http://schemas.openxmlformats.org/officeDocument/2006/relationships/oleObject" Target="../embeddings/oleObject84.bin"/><Relationship Id="rId11" Type="http://schemas.openxmlformats.org/officeDocument/2006/relationships/oleObject" Target="../embeddings/oleObject87.bin"/><Relationship Id="rId5" Type="http://schemas.openxmlformats.org/officeDocument/2006/relationships/image" Target="../media/image151.wmf"/><Relationship Id="rId15" Type="http://schemas.openxmlformats.org/officeDocument/2006/relationships/oleObject" Target="../embeddings/oleObject89.bin"/><Relationship Id="rId23" Type="http://schemas.openxmlformats.org/officeDocument/2006/relationships/image" Target="../media/image159.wmf"/><Relationship Id="rId10" Type="http://schemas.openxmlformats.org/officeDocument/2006/relationships/oleObject" Target="../embeddings/oleObject86.bin"/><Relationship Id="rId19" Type="http://schemas.openxmlformats.org/officeDocument/2006/relationships/oleObject" Target="../embeddings/oleObject91.bin"/><Relationship Id="rId4" Type="http://schemas.openxmlformats.org/officeDocument/2006/relationships/oleObject" Target="../embeddings/oleObject83.bin"/><Relationship Id="rId9" Type="http://schemas.openxmlformats.org/officeDocument/2006/relationships/image" Target="../media/image153.wmf"/><Relationship Id="rId14" Type="http://schemas.openxmlformats.org/officeDocument/2006/relationships/image" Target="../media/image155.wmf"/><Relationship Id="rId22" Type="http://schemas.openxmlformats.org/officeDocument/2006/relationships/oleObject" Target="../embeddings/oleObject93.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image" Target="../media/image160.png"/><Relationship Id="rId1" Type="http://schemas.openxmlformats.org/officeDocument/2006/relationships/slideLayout" Target="../slideLayouts/slideLayout12.xml"/><Relationship Id="rId6" Type="http://schemas.openxmlformats.org/officeDocument/2006/relationships/image" Target="../media/image162.wmf"/><Relationship Id="rId5" Type="http://schemas.openxmlformats.org/officeDocument/2006/relationships/oleObject" Target="../embeddings/oleObject95.bin"/><Relationship Id="rId4" Type="http://schemas.openxmlformats.org/officeDocument/2006/relationships/image" Target="../media/image161.w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68.wmf"/><Relationship Id="rId3" Type="http://schemas.openxmlformats.org/officeDocument/2006/relationships/image" Target="../media/image163.png"/><Relationship Id="rId7" Type="http://schemas.openxmlformats.org/officeDocument/2006/relationships/image" Target="../media/image165.wmf"/><Relationship Id="rId12" Type="http://schemas.openxmlformats.org/officeDocument/2006/relationships/oleObject" Target="../embeddings/oleObject100.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oleObject" Target="../embeddings/oleObject97.bin"/><Relationship Id="rId11" Type="http://schemas.openxmlformats.org/officeDocument/2006/relationships/image" Target="../media/image167.wmf"/><Relationship Id="rId5" Type="http://schemas.openxmlformats.org/officeDocument/2006/relationships/image" Target="../media/image164.wmf"/><Relationship Id="rId10" Type="http://schemas.openxmlformats.org/officeDocument/2006/relationships/oleObject" Target="../embeddings/oleObject99.bin"/><Relationship Id="rId4" Type="http://schemas.openxmlformats.org/officeDocument/2006/relationships/oleObject" Target="../embeddings/oleObject96.bin"/><Relationship Id="rId9" Type="http://schemas.openxmlformats.org/officeDocument/2006/relationships/image" Target="../media/image166.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image" Target="../media/image169.png"/><Relationship Id="rId1" Type="http://schemas.openxmlformats.org/officeDocument/2006/relationships/slideLayout" Target="../slideLayouts/slideLayout12.xml"/><Relationship Id="rId6" Type="http://schemas.openxmlformats.org/officeDocument/2006/relationships/image" Target="../media/image171.wmf"/><Relationship Id="rId5" Type="http://schemas.openxmlformats.org/officeDocument/2006/relationships/oleObject" Target="../embeddings/oleObject102.bin"/><Relationship Id="rId4" Type="http://schemas.openxmlformats.org/officeDocument/2006/relationships/image" Target="../media/image170.wmf"/></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77.wmf"/><Relationship Id="rId3" Type="http://schemas.openxmlformats.org/officeDocument/2006/relationships/oleObject" Target="../embeddings/oleObject103.bin"/><Relationship Id="rId7" Type="http://schemas.openxmlformats.org/officeDocument/2006/relationships/image" Target="../media/image175.png"/><Relationship Id="rId12" Type="http://schemas.openxmlformats.org/officeDocument/2006/relationships/oleObject" Target="../embeddings/oleObject107.bin"/><Relationship Id="rId2" Type="http://schemas.openxmlformats.org/officeDocument/2006/relationships/image" Target="../media/image172.png"/><Relationship Id="rId1" Type="http://schemas.openxmlformats.org/officeDocument/2006/relationships/slideLayout" Target="../slideLayouts/slideLayout12.xml"/><Relationship Id="rId6" Type="http://schemas.openxmlformats.org/officeDocument/2006/relationships/image" Target="../media/image174.wmf"/><Relationship Id="rId11" Type="http://schemas.openxmlformats.org/officeDocument/2006/relationships/image" Target="../media/image166.wmf"/><Relationship Id="rId5" Type="http://schemas.openxmlformats.org/officeDocument/2006/relationships/oleObject" Target="../embeddings/oleObject104.bin"/><Relationship Id="rId10" Type="http://schemas.openxmlformats.org/officeDocument/2006/relationships/oleObject" Target="../embeddings/oleObject106.bin"/><Relationship Id="rId4" Type="http://schemas.openxmlformats.org/officeDocument/2006/relationships/image" Target="../media/image173.wmf"/><Relationship Id="rId9" Type="http://schemas.openxmlformats.org/officeDocument/2006/relationships/image" Target="../media/image176.wmf"/></Relationships>
</file>

<file path=ppt/slides/_rels/slide66.x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oleObject" Target="../embeddings/oleObject108.bin"/><Relationship Id="rId1" Type="http://schemas.openxmlformats.org/officeDocument/2006/relationships/slideLayout" Target="../slideLayouts/slideLayout12.xml"/><Relationship Id="rId5" Type="http://schemas.openxmlformats.org/officeDocument/2006/relationships/image" Target="../media/image180.png"/><Relationship Id="rId4" Type="http://schemas.openxmlformats.org/officeDocument/2006/relationships/image" Target="../media/image179.png"/></Relationships>
</file>

<file path=ppt/slides/_rels/slide67.xml.rels><?xml version="1.0" encoding="UTF-8" standalone="yes"?>
<Relationships xmlns="http://schemas.openxmlformats.org/package/2006/relationships"><Relationship Id="rId3" Type="http://schemas.openxmlformats.org/officeDocument/2006/relationships/image" Target="../media/image181.wmf"/><Relationship Id="rId7" Type="http://schemas.openxmlformats.org/officeDocument/2006/relationships/image" Target="../media/image183.wmf"/><Relationship Id="rId2" Type="http://schemas.openxmlformats.org/officeDocument/2006/relationships/oleObject" Target="../embeddings/oleObject109.bin"/><Relationship Id="rId1" Type="http://schemas.openxmlformats.org/officeDocument/2006/relationships/slideLayout" Target="../slideLayouts/slideLayout12.xml"/><Relationship Id="rId6" Type="http://schemas.openxmlformats.org/officeDocument/2006/relationships/oleObject" Target="../embeddings/oleObject111.bin"/><Relationship Id="rId5" Type="http://schemas.openxmlformats.org/officeDocument/2006/relationships/image" Target="../media/image182.wmf"/><Relationship Id="rId4" Type="http://schemas.openxmlformats.org/officeDocument/2006/relationships/oleObject" Target="../embeddings/oleObject110.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89.wmf"/><Relationship Id="rId3" Type="http://schemas.openxmlformats.org/officeDocument/2006/relationships/image" Target="../media/image184.wmf"/><Relationship Id="rId7" Type="http://schemas.openxmlformats.org/officeDocument/2006/relationships/image" Target="../media/image186.wmf"/><Relationship Id="rId12" Type="http://schemas.openxmlformats.org/officeDocument/2006/relationships/oleObject" Target="../embeddings/oleObject117.bin"/><Relationship Id="rId2" Type="http://schemas.openxmlformats.org/officeDocument/2006/relationships/oleObject" Target="../embeddings/oleObject112.bin"/><Relationship Id="rId1" Type="http://schemas.openxmlformats.org/officeDocument/2006/relationships/slideLayout" Target="../slideLayouts/slideLayout12.xml"/><Relationship Id="rId6" Type="http://schemas.openxmlformats.org/officeDocument/2006/relationships/oleObject" Target="../embeddings/oleObject114.bin"/><Relationship Id="rId11" Type="http://schemas.openxmlformats.org/officeDocument/2006/relationships/image" Target="../media/image188.wmf"/><Relationship Id="rId5" Type="http://schemas.openxmlformats.org/officeDocument/2006/relationships/image" Target="../media/image185.w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87.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95.wmf"/><Relationship Id="rId18" Type="http://schemas.openxmlformats.org/officeDocument/2006/relationships/oleObject" Target="../embeddings/oleObject126.bin"/><Relationship Id="rId3" Type="http://schemas.openxmlformats.org/officeDocument/2006/relationships/image" Target="../media/image190.wmf"/><Relationship Id="rId7" Type="http://schemas.openxmlformats.org/officeDocument/2006/relationships/image" Target="../media/image192.wmf"/><Relationship Id="rId12" Type="http://schemas.openxmlformats.org/officeDocument/2006/relationships/oleObject" Target="../embeddings/oleObject123.bin"/><Relationship Id="rId17" Type="http://schemas.openxmlformats.org/officeDocument/2006/relationships/image" Target="../media/image197.wmf"/><Relationship Id="rId2" Type="http://schemas.openxmlformats.org/officeDocument/2006/relationships/oleObject" Target="../embeddings/oleObject118.bin"/><Relationship Id="rId16" Type="http://schemas.openxmlformats.org/officeDocument/2006/relationships/oleObject" Target="../embeddings/oleObject125.bin"/><Relationship Id="rId1" Type="http://schemas.openxmlformats.org/officeDocument/2006/relationships/slideLayout" Target="../slideLayouts/slideLayout12.xml"/><Relationship Id="rId6" Type="http://schemas.openxmlformats.org/officeDocument/2006/relationships/oleObject" Target="../embeddings/oleObject120.bin"/><Relationship Id="rId11" Type="http://schemas.openxmlformats.org/officeDocument/2006/relationships/image" Target="../media/image194.wmf"/><Relationship Id="rId5" Type="http://schemas.openxmlformats.org/officeDocument/2006/relationships/image" Target="../media/image191.wmf"/><Relationship Id="rId15" Type="http://schemas.openxmlformats.org/officeDocument/2006/relationships/image" Target="../media/image196.wmf"/><Relationship Id="rId10" Type="http://schemas.openxmlformats.org/officeDocument/2006/relationships/oleObject" Target="../embeddings/oleObject122.bin"/><Relationship Id="rId19" Type="http://schemas.openxmlformats.org/officeDocument/2006/relationships/image" Target="../media/image198.wmf"/><Relationship Id="rId4" Type="http://schemas.openxmlformats.org/officeDocument/2006/relationships/oleObject" Target="../embeddings/oleObject119.bin"/><Relationship Id="rId9" Type="http://schemas.openxmlformats.org/officeDocument/2006/relationships/image" Target="../media/image193.wmf"/><Relationship Id="rId14" Type="http://schemas.openxmlformats.org/officeDocument/2006/relationships/oleObject" Target="../embeddings/oleObject124.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203.wmf"/><Relationship Id="rId3" Type="http://schemas.openxmlformats.org/officeDocument/2006/relationships/image" Target="../media/image199.wmf"/><Relationship Id="rId7" Type="http://schemas.openxmlformats.org/officeDocument/2006/relationships/image" Target="../media/image200.wmf"/><Relationship Id="rId12" Type="http://schemas.openxmlformats.org/officeDocument/2006/relationships/oleObject" Target="../embeddings/oleObject132.bin"/><Relationship Id="rId2" Type="http://schemas.openxmlformats.org/officeDocument/2006/relationships/oleObject" Target="../embeddings/oleObject127.bin"/><Relationship Id="rId1" Type="http://schemas.openxmlformats.org/officeDocument/2006/relationships/slideLayout" Target="../slideLayouts/slideLayout12.xml"/><Relationship Id="rId6" Type="http://schemas.openxmlformats.org/officeDocument/2006/relationships/oleObject" Target="../embeddings/oleObject129.bin"/><Relationship Id="rId11" Type="http://schemas.openxmlformats.org/officeDocument/2006/relationships/image" Target="../media/image202.wmf"/><Relationship Id="rId5" Type="http://schemas.openxmlformats.org/officeDocument/2006/relationships/image" Target="../media/image193.wmf"/><Relationship Id="rId15" Type="http://schemas.openxmlformats.org/officeDocument/2006/relationships/image" Target="../media/image204.wmf"/><Relationship Id="rId10" Type="http://schemas.openxmlformats.org/officeDocument/2006/relationships/oleObject" Target="../embeddings/oleObject131.bin"/><Relationship Id="rId4" Type="http://schemas.openxmlformats.org/officeDocument/2006/relationships/oleObject" Target="../embeddings/oleObject128.bin"/><Relationship Id="rId9" Type="http://schemas.openxmlformats.org/officeDocument/2006/relationships/image" Target="../media/image201.wmf"/><Relationship Id="rId14" Type="http://schemas.openxmlformats.org/officeDocument/2006/relationships/oleObject" Target="../embeddings/oleObject133.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98.wmf"/><Relationship Id="rId3" Type="http://schemas.openxmlformats.org/officeDocument/2006/relationships/image" Target="../media/image205.wmf"/><Relationship Id="rId7" Type="http://schemas.openxmlformats.org/officeDocument/2006/relationships/image" Target="../media/image207.wmf"/><Relationship Id="rId12" Type="http://schemas.openxmlformats.org/officeDocument/2006/relationships/oleObject" Target="../embeddings/oleObject139.bin"/><Relationship Id="rId2" Type="http://schemas.openxmlformats.org/officeDocument/2006/relationships/oleObject" Target="../embeddings/oleObject134.bin"/><Relationship Id="rId1" Type="http://schemas.openxmlformats.org/officeDocument/2006/relationships/slideLayout" Target="../slideLayouts/slideLayout12.xml"/><Relationship Id="rId6" Type="http://schemas.openxmlformats.org/officeDocument/2006/relationships/oleObject" Target="../embeddings/oleObject136.bin"/><Relationship Id="rId11" Type="http://schemas.openxmlformats.org/officeDocument/2006/relationships/image" Target="../media/image209.wmf"/><Relationship Id="rId5" Type="http://schemas.openxmlformats.org/officeDocument/2006/relationships/image" Target="../media/image206.wmf"/><Relationship Id="rId10" Type="http://schemas.openxmlformats.org/officeDocument/2006/relationships/oleObject" Target="../embeddings/oleObject138.bin"/><Relationship Id="rId4" Type="http://schemas.openxmlformats.org/officeDocument/2006/relationships/oleObject" Target="../embeddings/oleObject135.bin"/><Relationship Id="rId9" Type="http://schemas.openxmlformats.org/officeDocument/2006/relationships/image" Target="../media/image208.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oleObject" Target="../embeddings/oleObject140.bin"/><Relationship Id="rId1" Type="http://schemas.openxmlformats.org/officeDocument/2006/relationships/slideLayout" Target="../slideLayouts/slideLayout12.xml"/><Relationship Id="rId5" Type="http://schemas.openxmlformats.org/officeDocument/2006/relationships/image" Target="../media/image211.wmf"/><Relationship Id="rId4" Type="http://schemas.openxmlformats.org/officeDocument/2006/relationships/oleObject" Target="../embeddings/oleObject141.bin"/></Relationships>
</file>

<file path=ppt/slides/_rels/slide75.xml.rels><?xml version="1.0" encoding="UTF-8" standalone="yes"?>
<Relationships xmlns="http://schemas.openxmlformats.org/package/2006/relationships"><Relationship Id="rId8" Type="http://schemas.openxmlformats.org/officeDocument/2006/relationships/image" Target="../media/image215.wmf"/><Relationship Id="rId3" Type="http://schemas.openxmlformats.org/officeDocument/2006/relationships/oleObject" Target="../embeddings/oleObject142.bin"/><Relationship Id="rId7" Type="http://schemas.openxmlformats.org/officeDocument/2006/relationships/oleObject" Target="../embeddings/oleObject144.bin"/><Relationship Id="rId12" Type="http://schemas.openxmlformats.org/officeDocument/2006/relationships/image" Target="../media/image217.wmf"/><Relationship Id="rId2" Type="http://schemas.openxmlformats.org/officeDocument/2006/relationships/image" Target="../media/image212.png"/><Relationship Id="rId1" Type="http://schemas.openxmlformats.org/officeDocument/2006/relationships/slideLayout" Target="../slideLayouts/slideLayout12.xml"/><Relationship Id="rId6" Type="http://schemas.openxmlformats.org/officeDocument/2006/relationships/image" Target="../media/image214.wmf"/><Relationship Id="rId11" Type="http://schemas.openxmlformats.org/officeDocument/2006/relationships/oleObject" Target="../embeddings/oleObject146.bin"/><Relationship Id="rId5" Type="http://schemas.openxmlformats.org/officeDocument/2006/relationships/oleObject" Target="../embeddings/oleObject143.bin"/><Relationship Id="rId10" Type="http://schemas.openxmlformats.org/officeDocument/2006/relationships/image" Target="../media/image216.wmf"/><Relationship Id="rId4" Type="http://schemas.openxmlformats.org/officeDocument/2006/relationships/image" Target="../media/image213.wmf"/><Relationship Id="rId9" Type="http://schemas.openxmlformats.org/officeDocument/2006/relationships/oleObject" Target="../embeddings/oleObject145.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150.bin"/><Relationship Id="rId13" Type="http://schemas.openxmlformats.org/officeDocument/2006/relationships/image" Target="../media/image223.wmf"/><Relationship Id="rId18" Type="http://schemas.openxmlformats.org/officeDocument/2006/relationships/oleObject" Target="../embeddings/oleObject155.bin"/><Relationship Id="rId3" Type="http://schemas.openxmlformats.org/officeDocument/2006/relationships/image" Target="../media/image218.wmf"/><Relationship Id="rId7" Type="http://schemas.openxmlformats.org/officeDocument/2006/relationships/image" Target="../media/image220.wmf"/><Relationship Id="rId12" Type="http://schemas.openxmlformats.org/officeDocument/2006/relationships/oleObject" Target="../embeddings/oleObject152.bin"/><Relationship Id="rId17" Type="http://schemas.openxmlformats.org/officeDocument/2006/relationships/image" Target="../media/image225.wmf"/><Relationship Id="rId2" Type="http://schemas.openxmlformats.org/officeDocument/2006/relationships/oleObject" Target="../embeddings/oleObject147.bin"/><Relationship Id="rId16" Type="http://schemas.openxmlformats.org/officeDocument/2006/relationships/oleObject" Target="../embeddings/oleObject154.bin"/><Relationship Id="rId1" Type="http://schemas.openxmlformats.org/officeDocument/2006/relationships/slideLayout" Target="../slideLayouts/slideLayout12.xml"/><Relationship Id="rId6" Type="http://schemas.openxmlformats.org/officeDocument/2006/relationships/oleObject" Target="../embeddings/oleObject149.bin"/><Relationship Id="rId11" Type="http://schemas.openxmlformats.org/officeDocument/2006/relationships/image" Target="../media/image222.wmf"/><Relationship Id="rId5" Type="http://schemas.openxmlformats.org/officeDocument/2006/relationships/image" Target="../media/image219.wmf"/><Relationship Id="rId15" Type="http://schemas.openxmlformats.org/officeDocument/2006/relationships/image" Target="../media/image224.wmf"/><Relationship Id="rId10" Type="http://schemas.openxmlformats.org/officeDocument/2006/relationships/oleObject" Target="../embeddings/oleObject151.bin"/><Relationship Id="rId19" Type="http://schemas.openxmlformats.org/officeDocument/2006/relationships/image" Target="../media/image226.wmf"/><Relationship Id="rId4" Type="http://schemas.openxmlformats.org/officeDocument/2006/relationships/oleObject" Target="../embeddings/oleObject148.bin"/><Relationship Id="rId9" Type="http://schemas.openxmlformats.org/officeDocument/2006/relationships/image" Target="../media/image221.wmf"/><Relationship Id="rId14" Type="http://schemas.openxmlformats.org/officeDocument/2006/relationships/oleObject" Target="../embeddings/oleObject153.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159.bin"/><Relationship Id="rId13" Type="http://schemas.openxmlformats.org/officeDocument/2006/relationships/image" Target="../media/image231.wmf"/><Relationship Id="rId18" Type="http://schemas.openxmlformats.org/officeDocument/2006/relationships/oleObject" Target="../embeddings/oleObject164.bin"/><Relationship Id="rId3" Type="http://schemas.openxmlformats.org/officeDocument/2006/relationships/image" Target="../media/image226.wmf"/><Relationship Id="rId21" Type="http://schemas.openxmlformats.org/officeDocument/2006/relationships/image" Target="../media/image235.wmf"/><Relationship Id="rId7" Type="http://schemas.openxmlformats.org/officeDocument/2006/relationships/image" Target="../media/image228.wmf"/><Relationship Id="rId12" Type="http://schemas.openxmlformats.org/officeDocument/2006/relationships/oleObject" Target="../embeddings/oleObject161.bin"/><Relationship Id="rId17" Type="http://schemas.openxmlformats.org/officeDocument/2006/relationships/image" Target="../media/image233.wmf"/><Relationship Id="rId25" Type="http://schemas.openxmlformats.org/officeDocument/2006/relationships/image" Target="../media/image237.wmf"/><Relationship Id="rId2" Type="http://schemas.openxmlformats.org/officeDocument/2006/relationships/oleObject" Target="../embeddings/oleObject156.bin"/><Relationship Id="rId16" Type="http://schemas.openxmlformats.org/officeDocument/2006/relationships/oleObject" Target="../embeddings/oleObject163.bin"/><Relationship Id="rId20" Type="http://schemas.openxmlformats.org/officeDocument/2006/relationships/oleObject" Target="../embeddings/oleObject165.bin"/><Relationship Id="rId1" Type="http://schemas.openxmlformats.org/officeDocument/2006/relationships/slideLayout" Target="../slideLayouts/slideLayout12.xml"/><Relationship Id="rId6" Type="http://schemas.openxmlformats.org/officeDocument/2006/relationships/oleObject" Target="../embeddings/oleObject158.bin"/><Relationship Id="rId11" Type="http://schemas.openxmlformats.org/officeDocument/2006/relationships/image" Target="../media/image230.wmf"/><Relationship Id="rId24" Type="http://schemas.openxmlformats.org/officeDocument/2006/relationships/oleObject" Target="../embeddings/oleObject167.bin"/><Relationship Id="rId5" Type="http://schemas.openxmlformats.org/officeDocument/2006/relationships/image" Target="../media/image227.wmf"/><Relationship Id="rId15" Type="http://schemas.openxmlformats.org/officeDocument/2006/relationships/image" Target="../media/image232.wmf"/><Relationship Id="rId23" Type="http://schemas.openxmlformats.org/officeDocument/2006/relationships/image" Target="../media/image236.wmf"/><Relationship Id="rId10" Type="http://schemas.openxmlformats.org/officeDocument/2006/relationships/oleObject" Target="../embeddings/oleObject160.bin"/><Relationship Id="rId19" Type="http://schemas.openxmlformats.org/officeDocument/2006/relationships/image" Target="../media/image234.wmf"/><Relationship Id="rId4" Type="http://schemas.openxmlformats.org/officeDocument/2006/relationships/oleObject" Target="../embeddings/oleObject157.bin"/><Relationship Id="rId9" Type="http://schemas.openxmlformats.org/officeDocument/2006/relationships/image" Target="../media/image229.wmf"/><Relationship Id="rId14" Type="http://schemas.openxmlformats.org/officeDocument/2006/relationships/oleObject" Target="../embeddings/oleObject162.bin"/><Relationship Id="rId22" Type="http://schemas.openxmlformats.org/officeDocument/2006/relationships/oleObject" Target="../embeddings/oleObject166.bin"/></Relationships>
</file>

<file path=ppt/slides/_rels/slide78.xml.rels><?xml version="1.0" encoding="UTF-8" standalone="yes"?>
<Relationships xmlns="http://schemas.openxmlformats.org/package/2006/relationships"><Relationship Id="rId8" Type="http://schemas.openxmlformats.org/officeDocument/2006/relationships/image" Target="../media/image241.wmf"/><Relationship Id="rId3" Type="http://schemas.openxmlformats.org/officeDocument/2006/relationships/image" Target="../media/image238.wmf"/><Relationship Id="rId7" Type="http://schemas.openxmlformats.org/officeDocument/2006/relationships/oleObject" Target="../embeddings/oleObject170.bin"/><Relationship Id="rId2" Type="http://schemas.openxmlformats.org/officeDocument/2006/relationships/oleObject" Target="../embeddings/oleObject168.bin"/><Relationship Id="rId1" Type="http://schemas.openxmlformats.org/officeDocument/2006/relationships/slideLayout" Target="../slideLayouts/slideLayout12.xml"/><Relationship Id="rId6" Type="http://schemas.openxmlformats.org/officeDocument/2006/relationships/image" Target="../media/image240.wmf"/><Relationship Id="rId5" Type="http://schemas.openxmlformats.org/officeDocument/2006/relationships/oleObject" Target="../embeddings/oleObject169.bin"/><Relationship Id="rId4" Type="http://schemas.openxmlformats.org/officeDocument/2006/relationships/image" Target="../media/image239.png"/></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174.bin"/><Relationship Id="rId3" Type="http://schemas.openxmlformats.org/officeDocument/2006/relationships/image" Target="../media/image242.wmf"/><Relationship Id="rId7" Type="http://schemas.openxmlformats.org/officeDocument/2006/relationships/image" Target="../media/image244.wmf"/><Relationship Id="rId2" Type="http://schemas.openxmlformats.org/officeDocument/2006/relationships/oleObject" Target="../embeddings/oleObject171.bin"/><Relationship Id="rId1" Type="http://schemas.openxmlformats.org/officeDocument/2006/relationships/slideLayout" Target="../slideLayouts/slideLayout12.xml"/><Relationship Id="rId6" Type="http://schemas.openxmlformats.org/officeDocument/2006/relationships/oleObject" Target="../embeddings/oleObject173.bin"/><Relationship Id="rId11" Type="http://schemas.openxmlformats.org/officeDocument/2006/relationships/image" Target="../media/image246.wmf"/><Relationship Id="rId5" Type="http://schemas.openxmlformats.org/officeDocument/2006/relationships/image" Target="../media/image243.wmf"/><Relationship Id="rId10" Type="http://schemas.openxmlformats.org/officeDocument/2006/relationships/oleObject" Target="../embeddings/oleObject175.bin"/><Relationship Id="rId4" Type="http://schemas.openxmlformats.org/officeDocument/2006/relationships/oleObject" Target="../embeddings/oleObject172.bin"/><Relationship Id="rId9" Type="http://schemas.openxmlformats.org/officeDocument/2006/relationships/image" Target="../media/image245.w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178.bin"/><Relationship Id="rId3" Type="http://schemas.openxmlformats.org/officeDocument/2006/relationships/image" Target="../media/image247.png"/><Relationship Id="rId7" Type="http://schemas.openxmlformats.org/officeDocument/2006/relationships/image" Target="../media/image249.wmf"/><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oleObject" Target="../embeddings/oleObject177.bin"/><Relationship Id="rId5" Type="http://schemas.openxmlformats.org/officeDocument/2006/relationships/image" Target="../media/image248.wmf"/><Relationship Id="rId10" Type="http://schemas.openxmlformats.org/officeDocument/2006/relationships/image" Target="../media/image251.jpeg"/><Relationship Id="rId4" Type="http://schemas.openxmlformats.org/officeDocument/2006/relationships/oleObject" Target="../embeddings/oleObject176.bin"/><Relationship Id="rId9" Type="http://schemas.openxmlformats.org/officeDocument/2006/relationships/image" Target="../media/image250.wmf"/></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257.wmf"/><Relationship Id="rId3" Type="http://schemas.openxmlformats.org/officeDocument/2006/relationships/image" Target="../media/image252.wmf"/><Relationship Id="rId7" Type="http://schemas.openxmlformats.org/officeDocument/2006/relationships/image" Target="../media/image254.wmf"/><Relationship Id="rId12" Type="http://schemas.openxmlformats.org/officeDocument/2006/relationships/oleObject" Target="../embeddings/oleObject184.bin"/><Relationship Id="rId2" Type="http://schemas.openxmlformats.org/officeDocument/2006/relationships/oleObject" Target="../embeddings/oleObject179.bin"/><Relationship Id="rId1" Type="http://schemas.openxmlformats.org/officeDocument/2006/relationships/slideLayout" Target="../slideLayouts/slideLayout12.xml"/><Relationship Id="rId6" Type="http://schemas.openxmlformats.org/officeDocument/2006/relationships/oleObject" Target="../embeddings/oleObject181.bin"/><Relationship Id="rId11" Type="http://schemas.openxmlformats.org/officeDocument/2006/relationships/image" Target="../media/image256.wmf"/><Relationship Id="rId5" Type="http://schemas.openxmlformats.org/officeDocument/2006/relationships/image" Target="../media/image253.wmf"/><Relationship Id="rId15" Type="http://schemas.openxmlformats.org/officeDocument/2006/relationships/image" Target="../media/image258.wmf"/><Relationship Id="rId10" Type="http://schemas.openxmlformats.org/officeDocument/2006/relationships/oleObject" Target="../embeddings/oleObject183.bin"/><Relationship Id="rId4" Type="http://schemas.openxmlformats.org/officeDocument/2006/relationships/oleObject" Target="../embeddings/oleObject180.bin"/><Relationship Id="rId9" Type="http://schemas.openxmlformats.org/officeDocument/2006/relationships/image" Target="../media/image255.wmf"/><Relationship Id="rId14" Type="http://schemas.openxmlformats.org/officeDocument/2006/relationships/oleObject" Target="../embeddings/oleObject185.bin"/></Relationships>
</file>

<file path=ppt/slides/_rels/slide82.xml.rels><?xml version="1.0" encoding="UTF-8" standalone="yes"?>
<Relationships xmlns="http://schemas.openxmlformats.org/package/2006/relationships"><Relationship Id="rId3" Type="http://schemas.openxmlformats.org/officeDocument/2006/relationships/image" Target="../media/image259.emf"/><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62.emf"/><Relationship Id="rId5" Type="http://schemas.openxmlformats.org/officeDocument/2006/relationships/image" Target="../media/image261.jpeg"/><Relationship Id="rId4" Type="http://schemas.openxmlformats.org/officeDocument/2006/relationships/image" Target="../media/image260.emf"/></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188.bin"/><Relationship Id="rId13" Type="http://schemas.openxmlformats.org/officeDocument/2006/relationships/image" Target="../media/image268.wmf"/><Relationship Id="rId3" Type="http://schemas.openxmlformats.org/officeDocument/2006/relationships/image" Target="../media/image263.jpeg"/><Relationship Id="rId7" Type="http://schemas.openxmlformats.org/officeDocument/2006/relationships/image" Target="../media/image265.wmf"/><Relationship Id="rId12" Type="http://schemas.openxmlformats.org/officeDocument/2006/relationships/oleObject" Target="../embeddings/oleObject190.bin"/><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oleObject" Target="../embeddings/oleObject187.bin"/><Relationship Id="rId11" Type="http://schemas.openxmlformats.org/officeDocument/2006/relationships/image" Target="../media/image267.wmf"/><Relationship Id="rId5" Type="http://schemas.openxmlformats.org/officeDocument/2006/relationships/image" Target="../media/image264.wmf"/><Relationship Id="rId10" Type="http://schemas.openxmlformats.org/officeDocument/2006/relationships/oleObject" Target="../embeddings/oleObject189.bin"/><Relationship Id="rId4" Type="http://schemas.openxmlformats.org/officeDocument/2006/relationships/oleObject" Target="../embeddings/oleObject186.bin"/><Relationship Id="rId9" Type="http://schemas.openxmlformats.org/officeDocument/2006/relationships/image" Target="../media/image266.wmf"/></Relationships>
</file>

<file path=ppt/slides/_rels/slide84.xml.rels><?xml version="1.0" encoding="UTF-8" standalone="yes"?>
<Relationships xmlns="http://schemas.openxmlformats.org/package/2006/relationships"><Relationship Id="rId3" Type="http://schemas.openxmlformats.org/officeDocument/2006/relationships/image" Target="../media/image269.wmf"/><Relationship Id="rId7" Type="http://schemas.openxmlformats.org/officeDocument/2006/relationships/image" Target="../media/image271.wmf"/><Relationship Id="rId2" Type="http://schemas.openxmlformats.org/officeDocument/2006/relationships/oleObject" Target="../embeddings/oleObject191.bin"/><Relationship Id="rId1" Type="http://schemas.openxmlformats.org/officeDocument/2006/relationships/slideLayout" Target="../slideLayouts/slideLayout12.xml"/><Relationship Id="rId6" Type="http://schemas.openxmlformats.org/officeDocument/2006/relationships/oleObject" Target="../embeddings/oleObject193.bin"/><Relationship Id="rId5" Type="http://schemas.openxmlformats.org/officeDocument/2006/relationships/image" Target="../media/image270.wmf"/><Relationship Id="rId4" Type="http://schemas.openxmlformats.org/officeDocument/2006/relationships/oleObject" Target="../embeddings/oleObject192.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197.bin"/><Relationship Id="rId13" Type="http://schemas.openxmlformats.org/officeDocument/2006/relationships/image" Target="../media/image278.jpeg"/><Relationship Id="rId3" Type="http://schemas.openxmlformats.org/officeDocument/2006/relationships/image" Target="../media/image272.wmf"/><Relationship Id="rId7" Type="http://schemas.openxmlformats.org/officeDocument/2006/relationships/image" Target="../media/image274.wmf"/><Relationship Id="rId12" Type="http://schemas.openxmlformats.org/officeDocument/2006/relationships/image" Target="../media/image277.jpeg"/><Relationship Id="rId2" Type="http://schemas.openxmlformats.org/officeDocument/2006/relationships/oleObject" Target="../embeddings/oleObject194.bin"/><Relationship Id="rId1" Type="http://schemas.openxmlformats.org/officeDocument/2006/relationships/slideLayout" Target="../slideLayouts/slideLayout12.xml"/><Relationship Id="rId6" Type="http://schemas.openxmlformats.org/officeDocument/2006/relationships/oleObject" Target="../embeddings/oleObject196.bin"/><Relationship Id="rId11" Type="http://schemas.openxmlformats.org/officeDocument/2006/relationships/image" Target="../media/image276.wmf"/><Relationship Id="rId5" Type="http://schemas.openxmlformats.org/officeDocument/2006/relationships/image" Target="../media/image273.wmf"/><Relationship Id="rId10" Type="http://schemas.openxmlformats.org/officeDocument/2006/relationships/oleObject" Target="../embeddings/oleObject198.bin"/><Relationship Id="rId4" Type="http://schemas.openxmlformats.org/officeDocument/2006/relationships/oleObject" Target="../embeddings/oleObject195.bin"/><Relationship Id="rId9" Type="http://schemas.openxmlformats.org/officeDocument/2006/relationships/image" Target="../media/image275.wmf"/></Relationships>
</file>

<file path=ppt/slides/_rels/slide8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9.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86.wmf"/><Relationship Id="rId3" Type="http://schemas.openxmlformats.org/officeDocument/2006/relationships/image" Target="../media/image281.wmf"/><Relationship Id="rId7" Type="http://schemas.openxmlformats.org/officeDocument/2006/relationships/image" Target="../media/image283.wmf"/><Relationship Id="rId12" Type="http://schemas.openxmlformats.org/officeDocument/2006/relationships/oleObject" Target="../embeddings/oleObject204.bin"/><Relationship Id="rId2" Type="http://schemas.openxmlformats.org/officeDocument/2006/relationships/oleObject" Target="../embeddings/oleObject199.bin"/><Relationship Id="rId1" Type="http://schemas.openxmlformats.org/officeDocument/2006/relationships/slideLayout" Target="../slideLayouts/slideLayout12.xml"/><Relationship Id="rId6" Type="http://schemas.openxmlformats.org/officeDocument/2006/relationships/oleObject" Target="../embeddings/oleObject201.bin"/><Relationship Id="rId11" Type="http://schemas.openxmlformats.org/officeDocument/2006/relationships/image" Target="../media/image285.wmf"/><Relationship Id="rId5" Type="http://schemas.openxmlformats.org/officeDocument/2006/relationships/image" Target="../media/image282.wmf"/><Relationship Id="rId10" Type="http://schemas.openxmlformats.org/officeDocument/2006/relationships/oleObject" Target="../embeddings/oleObject203.bin"/><Relationship Id="rId4" Type="http://schemas.openxmlformats.org/officeDocument/2006/relationships/oleObject" Target="../embeddings/oleObject200.bin"/><Relationship Id="rId9" Type="http://schemas.openxmlformats.org/officeDocument/2006/relationships/image" Target="../media/image284.wmf"/></Relationships>
</file>

<file path=ppt/slides/_rels/slide89.xml.rels><?xml version="1.0" encoding="UTF-8" standalone="yes"?>
<Relationships xmlns="http://schemas.openxmlformats.org/package/2006/relationships"><Relationship Id="rId3" Type="http://schemas.openxmlformats.org/officeDocument/2006/relationships/image" Target="../media/image287.wmf"/><Relationship Id="rId2" Type="http://schemas.openxmlformats.org/officeDocument/2006/relationships/oleObject" Target="../embeddings/oleObject205.bin"/><Relationship Id="rId1" Type="http://schemas.openxmlformats.org/officeDocument/2006/relationships/slideLayout" Target="../slideLayouts/slideLayout12.xml"/><Relationship Id="rId4" Type="http://schemas.openxmlformats.org/officeDocument/2006/relationships/image" Target="../media/image288.emf"/></Relationships>
</file>

<file path=ppt/slides/_rels/slide90.xml.rels><?xml version="1.0" encoding="UTF-8" standalone="yes"?>
<Relationships xmlns="http://schemas.openxmlformats.org/package/2006/relationships"><Relationship Id="rId8" Type="http://schemas.openxmlformats.org/officeDocument/2006/relationships/image" Target="../media/image292.png"/><Relationship Id="rId13" Type="http://schemas.openxmlformats.org/officeDocument/2006/relationships/oleObject" Target="../embeddings/oleObject210.bin"/><Relationship Id="rId18" Type="http://schemas.openxmlformats.org/officeDocument/2006/relationships/image" Target="../media/image297.wmf"/><Relationship Id="rId3" Type="http://schemas.openxmlformats.org/officeDocument/2006/relationships/image" Target="../media/image289.png"/><Relationship Id="rId7" Type="http://schemas.openxmlformats.org/officeDocument/2006/relationships/image" Target="../media/image291.wmf"/><Relationship Id="rId12" Type="http://schemas.openxmlformats.org/officeDocument/2006/relationships/image" Target="../media/image294.wmf"/><Relationship Id="rId17" Type="http://schemas.openxmlformats.org/officeDocument/2006/relationships/oleObject" Target="../embeddings/oleObject212.bin"/><Relationship Id="rId2" Type="http://schemas.openxmlformats.org/officeDocument/2006/relationships/notesSlide" Target="../notesSlides/notesSlide8.xml"/><Relationship Id="rId16" Type="http://schemas.openxmlformats.org/officeDocument/2006/relationships/image" Target="../media/image296.wmf"/><Relationship Id="rId20" Type="http://schemas.openxmlformats.org/officeDocument/2006/relationships/image" Target="../media/image298.wmf"/><Relationship Id="rId1" Type="http://schemas.openxmlformats.org/officeDocument/2006/relationships/slideLayout" Target="../slideLayouts/slideLayout12.xml"/><Relationship Id="rId6" Type="http://schemas.openxmlformats.org/officeDocument/2006/relationships/oleObject" Target="../embeddings/oleObject207.bin"/><Relationship Id="rId11" Type="http://schemas.openxmlformats.org/officeDocument/2006/relationships/oleObject" Target="../embeddings/oleObject209.bin"/><Relationship Id="rId5" Type="http://schemas.openxmlformats.org/officeDocument/2006/relationships/image" Target="../media/image290.wmf"/><Relationship Id="rId15" Type="http://schemas.openxmlformats.org/officeDocument/2006/relationships/oleObject" Target="../embeddings/oleObject211.bin"/><Relationship Id="rId10" Type="http://schemas.openxmlformats.org/officeDocument/2006/relationships/image" Target="../media/image293.wmf"/><Relationship Id="rId19" Type="http://schemas.openxmlformats.org/officeDocument/2006/relationships/oleObject" Target="../embeddings/oleObject213.bin"/><Relationship Id="rId4" Type="http://schemas.openxmlformats.org/officeDocument/2006/relationships/oleObject" Target="../embeddings/oleObject206.bin"/><Relationship Id="rId9" Type="http://schemas.openxmlformats.org/officeDocument/2006/relationships/oleObject" Target="../embeddings/oleObject208.bin"/><Relationship Id="rId14" Type="http://schemas.openxmlformats.org/officeDocument/2006/relationships/image" Target="../media/image295.wmf"/></Relationships>
</file>

<file path=ppt/slides/_rels/slide91.xml.rels><?xml version="1.0" encoding="UTF-8" standalone="yes"?>
<Relationships xmlns="http://schemas.openxmlformats.org/package/2006/relationships"><Relationship Id="rId2" Type="http://schemas.openxmlformats.org/officeDocument/2006/relationships/image" Target="../media/image299.GIF"/><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0.png"/><Relationship Id="rId1" Type="http://schemas.openxmlformats.org/officeDocument/2006/relationships/slideLayout" Target="../slideLayouts/slideLayout12.xml"/><Relationship Id="rId6" Type="http://schemas.openxmlformats.org/officeDocument/2006/relationships/image" Target="../media/image304.emf"/><Relationship Id="rId5" Type="http://schemas.openxmlformats.org/officeDocument/2006/relationships/image" Target="../media/image303.png"/><Relationship Id="rId4" Type="http://schemas.openxmlformats.org/officeDocument/2006/relationships/image" Target="../media/image302.png"/></Relationships>
</file>

<file path=ppt/slides/_rels/slide94.xml.rels><?xml version="1.0" encoding="UTF-8" standalone="yes"?>
<Relationships xmlns="http://schemas.openxmlformats.org/package/2006/relationships"><Relationship Id="rId3" Type="http://schemas.openxmlformats.org/officeDocument/2006/relationships/image" Target="../media/image305.emf"/><Relationship Id="rId2" Type="http://schemas.openxmlformats.org/officeDocument/2006/relationships/oleObject" Target="../embeddings/oleObject214.bin"/><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306.emf"/><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08.wmf"/><Relationship Id="rId5" Type="http://schemas.openxmlformats.org/officeDocument/2006/relationships/oleObject" Target="../embeddings/oleObject215.bin"/><Relationship Id="rId4" Type="http://schemas.openxmlformats.org/officeDocument/2006/relationships/image" Target="../media/image307.png"/></Relationships>
</file>

<file path=ppt/slides/_rels/slide96.x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oleObject" Target="../embeddings/oleObject216.bin"/><Relationship Id="rId7" Type="http://schemas.openxmlformats.org/officeDocument/2006/relationships/oleObject" Target="../embeddings/oleObject218.bin"/><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90.wmf"/><Relationship Id="rId5" Type="http://schemas.openxmlformats.org/officeDocument/2006/relationships/oleObject" Target="../embeddings/oleObject217.bin"/><Relationship Id="rId4" Type="http://schemas.openxmlformats.org/officeDocument/2006/relationships/image" Target="../media/image309.emf"/><Relationship Id="rId9" Type="http://schemas.openxmlformats.org/officeDocument/2006/relationships/oleObject" Target="../embeddings/oleObject219.bin"/></Relationships>
</file>

<file path=ppt/slides/_rels/slide9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312.png"/><Relationship Id="rId7" Type="http://schemas.openxmlformats.org/officeDocument/2006/relationships/image" Target="../media/image1180.png"/><Relationship Id="rId2" Type="http://schemas.openxmlformats.org/officeDocument/2006/relationships/image" Target="../media/image311.png"/><Relationship Id="rId1" Type="http://schemas.openxmlformats.org/officeDocument/2006/relationships/slideLayout" Target="../slideLayouts/slideLayout12.xml"/><Relationship Id="rId6" Type="http://schemas.openxmlformats.org/officeDocument/2006/relationships/image" Target="../media/image1170.png"/><Relationship Id="rId5" Type="http://schemas.openxmlformats.org/officeDocument/2006/relationships/image" Target="../media/image1160.png"/><Relationship Id="rId4" Type="http://schemas.openxmlformats.org/officeDocument/2006/relationships/image" Target="../media/image1150.png"/></Relationships>
</file>

<file path=ppt/slides/_rels/slide99.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image" Target="../media/image313.png"/><Relationship Id="rId1" Type="http://schemas.openxmlformats.org/officeDocument/2006/relationships/slideLayout" Target="../slideLayouts/slideLayout12.xml"/><Relationship Id="rId4" Type="http://schemas.openxmlformats.org/officeDocument/2006/relationships/image" Target="../media/image31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image" Target="../media/image316.png"/><Relationship Id="rId1" Type="http://schemas.openxmlformats.org/officeDocument/2006/relationships/slideLayout" Target="../slideLayouts/slideLayout12.xml"/><Relationship Id="rId4" Type="http://schemas.openxmlformats.org/officeDocument/2006/relationships/image" Target="../media/image318.emf"/></Relationships>
</file>

<file path=ppt/slides/_rels/slide102.xml.rels><?xml version="1.0" encoding="UTF-8" standalone="yes"?>
<Relationships xmlns="http://schemas.openxmlformats.org/package/2006/relationships"><Relationship Id="rId8" Type="http://schemas.openxmlformats.org/officeDocument/2006/relationships/image" Target="../media/image323.png"/><Relationship Id="rId3" Type="http://schemas.openxmlformats.org/officeDocument/2006/relationships/oleObject" Target="../embeddings/oleObject220.bin"/><Relationship Id="rId7" Type="http://schemas.openxmlformats.org/officeDocument/2006/relationships/image" Target="../media/image322.png"/><Relationship Id="rId2" Type="http://schemas.openxmlformats.org/officeDocument/2006/relationships/image" Target="../media/image319.png"/><Relationship Id="rId1" Type="http://schemas.openxmlformats.org/officeDocument/2006/relationships/slideLayout" Target="../slideLayouts/slideLayout12.xml"/><Relationship Id="rId6" Type="http://schemas.openxmlformats.org/officeDocument/2006/relationships/image" Target="../media/image321.wmf"/><Relationship Id="rId5" Type="http://schemas.openxmlformats.org/officeDocument/2006/relationships/oleObject" Target="../embeddings/oleObject221.bin"/><Relationship Id="rId4" Type="http://schemas.openxmlformats.org/officeDocument/2006/relationships/image" Target="../media/image320.wmf"/><Relationship Id="rId9" Type="http://schemas.openxmlformats.org/officeDocument/2006/relationships/hyperlink" Target="https://www.researchgate.net/journal/1359-6454_Acta_Material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09700" y="2514600"/>
            <a:ext cx="6324600" cy="1938992"/>
          </a:xfrm>
          <a:prstGeom prst="rect">
            <a:avLst/>
          </a:prstGeom>
          <a:noFill/>
        </p:spPr>
        <p:txBody>
          <a:bodyPr wrap="square" rtlCol="0">
            <a:spAutoFit/>
          </a:bodyPr>
          <a:lstStyle/>
          <a:p>
            <a:pPr algn="ctr"/>
            <a:r>
              <a:rPr lang="zh-CN" altLang="en-US" sz="60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期中考试</a:t>
            </a:r>
            <a:endParaRPr lang="en-US" altLang="zh-CN" sz="60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60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知识点梳理</a:t>
            </a:r>
            <a:endParaRPr lang="en-US" sz="6000" b="1" dirty="0">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矩形 4"/>
          <p:cNvSpPr/>
          <p:nvPr/>
        </p:nvSpPr>
        <p:spPr>
          <a:xfrm>
            <a:off x="1524000" y="129808"/>
            <a:ext cx="7460256"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spTree>
    <p:extLst>
      <p:ext uri="{BB962C8B-B14F-4D97-AF65-F5344CB8AC3E}">
        <p14:creationId xmlns:p14="http://schemas.microsoft.com/office/powerpoint/2010/main" val="2927315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p:cNvSpPr>
            <a:spLocks noGrp="1"/>
          </p:cNvSpPr>
          <p:nvPr>
            <p:ph type="title" idx="4294967295"/>
          </p:nvPr>
        </p:nvSpPr>
        <p:spPr>
          <a:xfrm>
            <a:off x="893620" y="-1"/>
            <a:ext cx="4592780" cy="762001"/>
          </a:xfrm>
        </p:spPr>
        <p:txBody>
          <a:bodyPr>
            <a:normAutofit/>
          </a:bodyPr>
          <a:lstStyle/>
          <a:p>
            <a:pPr algn="l"/>
            <a:r>
              <a:rPr lang="en-US" altLang="zh-CN" sz="3200" dirty="0">
                <a:solidFill>
                  <a:srgbClr val="FF0000"/>
                </a:solidFill>
              </a:rPr>
              <a:t>Laws of Thermodynamics</a:t>
            </a:r>
            <a:endParaRPr lang="zh-CN" altLang="en-US" sz="3200" dirty="0">
              <a:solidFill>
                <a:srgbClr val="FF0000"/>
              </a:solidFill>
            </a:endParaRPr>
          </a:p>
        </p:txBody>
      </p:sp>
      <p:sp>
        <p:nvSpPr>
          <p:cNvPr id="9" name="TextBox 8"/>
          <p:cNvSpPr txBox="1"/>
          <p:nvPr/>
        </p:nvSpPr>
        <p:spPr>
          <a:xfrm>
            <a:off x="514526" y="1295400"/>
            <a:ext cx="7875449" cy="1200329"/>
          </a:xfrm>
          <a:prstGeom prst="rect">
            <a:avLst/>
          </a:prstGeom>
          <a:noFill/>
        </p:spPr>
        <p:txBody>
          <a:bodyPr wrap="square" rtlCol="0">
            <a:spAutoFit/>
          </a:bodyPr>
          <a:lstStyle/>
          <a:p>
            <a:pPr marL="342900" indent="-342900">
              <a:buFont typeface="Wingdings" panose="05000000000000000000" pitchFamily="2" charset="2"/>
              <a:buChar char="p"/>
            </a:pPr>
            <a:r>
              <a:rPr lang="en-US" altLang="zh-CN" sz="2400" dirty="0" err="1">
                <a:solidFill>
                  <a:srgbClr val="0000FF"/>
                </a:solidFill>
              </a:rPr>
              <a:t>Zeroth</a:t>
            </a:r>
            <a:r>
              <a:rPr lang="zh-CN" altLang="en-US" sz="2400" dirty="0">
                <a:solidFill>
                  <a:srgbClr val="0000FF"/>
                </a:solidFill>
              </a:rPr>
              <a:t> </a:t>
            </a:r>
            <a:r>
              <a:rPr lang="en-US" altLang="zh-CN" sz="2400" dirty="0">
                <a:solidFill>
                  <a:srgbClr val="0000FF"/>
                </a:solidFill>
              </a:rPr>
              <a:t>Law of thermodynamics:</a:t>
            </a:r>
          </a:p>
          <a:p>
            <a:r>
              <a:rPr lang="en-US" altLang="zh-CN" sz="2400" dirty="0"/>
              <a:t>     </a:t>
            </a:r>
            <a:r>
              <a:rPr lang="en-US" altLang="zh-CN" sz="2400" i="1" dirty="0"/>
              <a:t>If two systems are each in thermal equilibrium with a third, they are also in thermal equilibrium with each other.</a:t>
            </a:r>
            <a:endParaRPr lang="zh-CN" altLang="en-US" sz="2400" dirty="0"/>
          </a:p>
        </p:txBody>
      </p:sp>
      <p:sp>
        <p:nvSpPr>
          <p:cNvPr id="11" name="TextBox 10"/>
          <p:cNvSpPr txBox="1"/>
          <p:nvPr/>
        </p:nvSpPr>
        <p:spPr>
          <a:xfrm>
            <a:off x="561886" y="2738735"/>
            <a:ext cx="6764929" cy="830997"/>
          </a:xfrm>
          <a:prstGeom prst="rect">
            <a:avLst/>
          </a:prstGeom>
          <a:noFill/>
        </p:spPr>
        <p:txBody>
          <a:bodyPr wrap="none" rtlCol="0">
            <a:spAutoFit/>
          </a:bodyPr>
          <a:lstStyle/>
          <a:p>
            <a:pPr marL="342900" indent="-342900">
              <a:buFont typeface="Wingdings" panose="05000000000000000000" pitchFamily="2" charset="2"/>
              <a:buChar char="p"/>
            </a:pPr>
            <a:r>
              <a:rPr lang="en-US" altLang="zh-CN" sz="2400" dirty="0">
                <a:solidFill>
                  <a:srgbClr val="0000FF"/>
                </a:solidFill>
              </a:rPr>
              <a:t>First</a:t>
            </a:r>
            <a:r>
              <a:rPr lang="zh-CN" altLang="en-US" sz="2400" dirty="0">
                <a:solidFill>
                  <a:srgbClr val="0000FF"/>
                </a:solidFill>
              </a:rPr>
              <a:t> </a:t>
            </a:r>
            <a:r>
              <a:rPr lang="en-US" altLang="zh-CN" sz="2400" dirty="0">
                <a:solidFill>
                  <a:srgbClr val="0000FF"/>
                </a:solidFill>
              </a:rPr>
              <a:t>Law of thermodynamics</a:t>
            </a:r>
          </a:p>
          <a:p>
            <a:r>
              <a:rPr lang="en-US" altLang="zh-CN" sz="2400" dirty="0"/>
              <a:t> </a:t>
            </a:r>
            <a:r>
              <a:rPr lang="en-US" altLang="zh-CN" sz="2400" i="1" dirty="0"/>
              <a:t>The internal energy of an isolated system is constant</a:t>
            </a:r>
          </a:p>
        </p:txBody>
      </p:sp>
      <p:sp>
        <p:nvSpPr>
          <p:cNvPr id="12" name="TextBox 11"/>
          <p:cNvSpPr txBox="1"/>
          <p:nvPr/>
        </p:nvSpPr>
        <p:spPr>
          <a:xfrm>
            <a:off x="566497" y="3691116"/>
            <a:ext cx="7985071" cy="1261884"/>
          </a:xfrm>
          <a:prstGeom prst="rect">
            <a:avLst/>
          </a:prstGeom>
          <a:noFill/>
        </p:spPr>
        <p:txBody>
          <a:bodyPr wrap="square" rtlCol="0">
            <a:spAutoFit/>
          </a:bodyPr>
          <a:lstStyle/>
          <a:p>
            <a:pPr marL="342900" indent="-342900">
              <a:buFont typeface="Wingdings" panose="05000000000000000000" pitchFamily="2" charset="2"/>
              <a:buChar char="p"/>
            </a:pPr>
            <a:r>
              <a:rPr lang="en-US" altLang="zh-CN" sz="2400" dirty="0">
                <a:solidFill>
                  <a:srgbClr val="0000FF"/>
                </a:solidFill>
              </a:rPr>
              <a:t>Second</a:t>
            </a:r>
            <a:r>
              <a:rPr lang="zh-CN" altLang="en-US" sz="2400" dirty="0">
                <a:solidFill>
                  <a:srgbClr val="0000FF"/>
                </a:solidFill>
              </a:rPr>
              <a:t> </a:t>
            </a:r>
            <a:r>
              <a:rPr lang="en-US" altLang="zh-CN" sz="2400" dirty="0">
                <a:solidFill>
                  <a:srgbClr val="0000FF"/>
                </a:solidFill>
              </a:rPr>
              <a:t>Law of thermodynamics </a:t>
            </a:r>
          </a:p>
          <a:p>
            <a:r>
              <a:rPr lang="en-US" altLang="zh-CN" sz="2800" dirty="0"/>
              <a:t> </a:t>
            </a:r>
            <a:r>
              <a:rPr lang="en-US" altLang="zh-CN" sz="2400" i="1" dirty="0"/>
              <a:t>Heat cannot spontaneously flow from a colder location to a hotter location</a:t>
            </a:r>
            <a:endParaRPr lang="en-US" altLang="zh-CN" sz="2400" dirty="0"/>
          </a:p>
        </p:txBody>
      </p:sp>
      <p:sp>
        <p:nvSpPr>
          <p:cNvPr id="14" name="TextBox 13"/>
          <p:cNvSpPr txBox="1"/>
          <p:nvPr/>
        </p:nvSpPr>
        <p:spPr>
          <a:xfrm>
            <a:off x="550568" y="5062716"/>
            <a:ext cx="7839407" cy="1261884"/>
          </a:xfrm>
          <a:prstGeom prst="rect">
            <a:avLst/>
          </a:prstGeom>
          <a:noFill/>
        </p:spPr>
        <p:txBody>
          <a:bodyPr wrap="square" rtlCol="0">
            <a:spAutoFit/>
          </a:bodyPr>
          <a:lstStyle/>
          <a:p>
            <a:pPr marL="342900" indent="-342900">
              <a:buFont typeface="Wingdings" panose="05000000000000000000" pitchFamily="2" charset="2"/>
              <a:buChar char="p"/>
            </a:pPr>
            <a:r>
              <a:rPr lang="en-US" altLang="zh-CN" sz="2400" dirty="0">
                <a:solidFill>
                  <a:srgbClr val="0000FF"/>
                </a:solidFill>
              </a:rPr>
              <a:t>Third</a:t>
            </a:r>
            <a:r>
              <a:rPr lang="zh-CN" altLang="en-US" sz="2400" dirty="0">
                <a:solidFill>
                  <a:srgbClr val="0000FF"/>
                </a:solidFill>
              </a:rPr>
              <a:t> </a:t>
            </a:r>
            <a:r>
              <a:rPr lang="en-US" altLang="zh-CN" sz="2400" dirty="0">
                <a:solidFill>
                  <a:srgbClr val="0000FF"/>
                </a:solidFill>
              </a:rPr>
              <a:t>Law of thermodynamics </a:t>
            </a:r>
          </a:p>
          <a:p>
            <a:r>
              <a:rPr lang="en-US" altLang="zh-CN" sz="2800" dirty="0"/>
              <a:t> </a:t>
            </a:r>
            <a:r>
              <a:rPr lang="en-US" altLang="zh-CN" sz="2400" i="1" dirty="0"/>
              <a:t>As a system approaches absolute zero, all processes cease and the entropy of the system approaches a minimum value</a:t>
            </a:r>
            <a:endParaRPr lang="en-US" altLang="zh-CN" sz="2400" dirty="0"/>
          </a:p>
        </p:txBody>
      </p:sp>
    </p:spTree>
    <p:extLst>
      <p:ext uri="{BB962C8B-B14F-4D97-AF65-F5344CB8AC3E}">
        <p14:creationId xmlns:p14="http://schemas.microsoft.com/office/powerpoint/2010/main" val="3924399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19200" y="2801793"/>
            <a:ext cx="4492192" cy="584775"/>
          </a:xfrm>
          <a:prstGeom prst="rect">
            <a:avLst/>
          </a:prstGeom>
          <a:noFill/>
        </p:spPr>
        <p:txBody>
          <a:bodyPr wrap="none" rtlCol="0">
            <a:spAutoFit/>
          </a:bodyPr>
          <a:lstStyle/>
          <a:p>
            <a:r>
              <a:rPr lang="en-US" altLang="zh-CN" sz="3200" dirty="0">
                <a:solidFill>
                  <a:srgbClr val="FF0000"/>
                </a:solidFill>
              </a:rPr>
              <a:t>1. Temperature and Scale </a:t>
            </a:r>
            <a:endParaRPr lang="zh-CN" altLang="en-US" sz="3200" dirty="0">
              <a:solidFill>
                <a:srgbClr val="FF0000"/>
              </a:solidFill>
            </a:endParaRPr>
          </a:p>
        </p:txBody>
      </p:sp>
      <p:sp>
        <p:nvSpPr>
          <p:cNvPr id="5" name="圆角矩形 4"/>
          <p:cNvSpPr/>
          <p:nvPr/>
        </p:nvSpPr>
        <p:spPr>
          <a:xfrm>
            <a:off x="49800" y="3780298"/>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圆角矩形 5"/>
          <p:cNvSpPr/>
          <p:nvPr/>
        </p:nvSpPr>
        <p:spPr>
          <a:xfrm>
            <a:off x="1063916" y="3780298"/>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圆角矩形 6"/>
          <p:cNvSpPr/>
          <p:nvPr/>
        </p:nvSpPr>
        <p:spPr>
          <a:xfrm>
            <a:off x="4774200" y="3780298"/>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514600"/>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004928" y="3924300"/>
            <a:ext cx="7086600" cy="646331"/>
          </a:xfrm>
          <a:prstGeom prst="rect">
            <a:avLst/>
          </a:prstGeom>
          <a:noFill/>
        </p:spPr>
        <p:txBody>
          <a:bodyPr wrap="square" rtlCol="0">
            <a:spAutoFit/>
          </a:bodyPr>
          <a:lstStyle/>
          <a:p>
            <a:r>
              <a:rPr lang="en-US" altLang="zh-CN" b="1" dirty="0"/>
              <a:t>Chapter1</a:t>
            </a:r>
            <a:r>
              <a:rPr lang="zh-CN" altLang="en-US" b="1" dirty="0"/>
              <a:t>： </a:t>
            </a:r>
            <a:r>
              <a:rPr lang="en-US" altLang="zh-CN" b="1" dirty="0"/>
              <a:t> </a:t>
            </a:r>
          </a:p>
          <a:p>
            <a:pPr>
              <a:spcAft>
                <a:spcPts val="1200"/>
              </a:spcAft>
            </a:pPr>
            <a:r>
              <a:rPr lang="zh-CN" altLang="en-US" dirty="0"/>
              <a:t>热力学，王竹溪，北京大学出版社</a:t>
            </a:r>
            <a:endParaRPr lang="en-US" altLang="zh-CN" dirty="0"/>
          </a:p>
        </p:txBody>
      </p:sp>
    </p:spTree>
    <p:extLst>
      <p:ext uri="{BB962C8B-B14F-4D97-AF65-F5344CB8AC3E}">
        <p14:creationId xmlns:p14="http://schemas.microsoft.com/office/powerpoint/2010/main" val="382562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796E7F3-FCB2-4BDB-85AB-CD6449DAA475}"/>
              </a:ext>
            </a:extLst>
          </p:cNvPr>
          <p:cNvSpPr txBox="1"/>
          <p:nvPr/>
        </p:nvSpPr>
        <p:spPr>
          <a:xfrm>
            <a:off x="381000" y="3276600"/>
            <a:ext cx="6860661" cy="461665"/>
          </a:xfrm>
          <a:prstGeom prst="rect">
            <a:avLst/>
          </a:prstGeom>
          <a:noFill/>
        </p:spPr>
        <p:txBody>
          <a:bodyPr wrap="none" rtlCol="0">
            <a:spAutoFit/>
          </a:bodyPr>
          <a:lstStyle/>
          <a:p>
            <a:r>
              <a:rPr lang="en-US" altLang="zh-CN" sz="2400" dirty="0"/>
              <a:t>The quantification of the degree of the cold and hot? </a:t>
            </a:r>
            <a:endParaRPr lang="zh-CN" altLang="en-US" sz="2400" dirty="0"/>
          </a:p>
        </p:txBody>
      </p:sp>
      <p:sp>
        <p:nvSpPr>
          <p:cNvPr id="2" name="文本框 1"/>
          <p:cNvSpPr txBox="1"/>
          <p:nvPr/>
        </p:nvSpPr>
        <p:spPr>
          <a:xfrm>
            <a:off x="1828800" y="304800"/>
            <a:ext cx="5269456" cy="584775"/>
          </a:xfrm>
          <a:prstGeom prst="rect">
            <a:avLst/>
          </a:prstGeom>
          <a:noFill/>
        </p:spPr>
        <p:txBody>
          <a:bodyPr wrap="none" rtlCol="0">
            <a:spAutoFit/>
          </a:bodyPr>
          <a:lstStyle/>
          <a:p>
            <a:r>
              <a:rPr lang="en-US" altLang="zh-CN" sz="3200" dirty="0">
                <a:solidFill>
                  <a:srgbClr val="FF0000"/>
                </a:solidFill>
              </a:rPr>
              <a:t>The definition of  Temperature</a:t>
            </a:r>
            <a:endParaRPr lang="zh-CN" altLang="en-US" sz="3200" dirty="0">
              <a:solidFill>
                <a:srgbClr val="FF0000"/>
              </a:solidFill>
            </a:endParaRPr>
          </a:p>
        </p:txBody>
      </p:sp>
      <p:sp>
        <p:nvSpPr>
          <p:cNvPr id="3" name="文本框 2"/>
          <p:cNvSpPr txBox="1"/>
          <p:nvPr/>
        </p:nvSpPr>
        <p:spPr>
          <a:xfrm>
            <a:off x="426720" y="2519065"/>
            <a:ext cx="2587440" cy="461665"/>
          </a:xfrm>
          <a:prstGeom prst="rect">
            <a:avLst/>
          </a:prstGeom>
          <a:solidFill>
            <a:schemeClr val="accent3">
              <a:lumMod val="40000"/>
              <a:lumOff val="60000"/>
            </a:schemeClr>
          </a:solid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&lt;Temperature&gt; </a:t>
            </a:r>
            <a:endParaRPr lang="zh-CN" altLang="en-US" sz="24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381000" y="4610220"/>
            <a:ext cx="226215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冷热程度的数值表述</a:t>
            </a:r>
          </a:p>
        </p:txBody>
      </p:sp>
      <p:sp>
        <p:nvSpPr>
          <p:cNvPr id="6" name="矩形 5"/>
          <p:cNvSpPr/>
          <p:nvPr/>
        </p:nvSpPr>
        <p:spPr>
          <a:xfrm>
            <a:off x="457200" y="4126468"/>
            <a:ext cx="989373" cy="369332"/>
          </a:xfrm>
          <a:prstGeom prst="rect">
            <a:avLst/>
          </a:prstGeom>
          <a:solidFill>
            <a:schemeClr val="accent3">
              <a:lumMod val="40000"/>
              <a:lumOff val="60000"/>
            </a:schemeClr>
          </a:solidFill>
        </p:spPr>
        <p:txBody>
          <a:bodyPr wrap="none">
            <a:spAutoFit/>
          </a:bodyPr>
          <a:lstStyle/>
          <a:p>
            <a:r>
              <a:rPr lang="en-US" altLang="zh-CN" dirty="0">
                <a:latin typeface="微软雅黑" panose="020B0503020204020204" pitchFamily="34" charset="-122"/>
                <a:ea typeface="微软雅黑" panose="020B0503020204020204" pitchFamily="34" charset="-122"/>
              </a:rPr>
              <a:t>&lt;</a:t>
            </a:r>
            <a:r>
              <a:rPr lang="zh-CN" altLang="en-US" dirty="0">
                <a:latin typeface="微软雅黑" panose="020B0503020204020204" pitchFamily="34" charset="-122"/>
                <a:ea typeface="微软雅黑" panose="020B0503020204020204" pitchFamily="34" charset="-122"/>
              </a:rPr>
              <a:t>温度</a:t>
            </a:r>
            <a:r>
              <a:rPr lang="en-US" altLang="zh-CN" dirty="0">
                <a:latin typeface="微软雅黑" panose="020B0503020204020204" pitchFamily="34" charset="-122"/>
                <a:ea typeface="微软雅黑" panose="020B0503020204020204" pitchFamily="34" charset="-122"/>
              </a:rPr>
              <a:t>&gt;</a:t>
            </a:r>
          </a:p>
        </p:txBody>
      </p:sp>
    </p:spTree>
    <p:extLst>
      <p:ext uri="{BB962C8B-B14F-4D97-AF65-F5344CB8AC3E}">
        <p14:creationId xmlns:p14="http://schemas.microsoft.com/office/powerpoint/2010/main" val="1536957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34961" y="64545"/>
            <a:ext cx="2209900" cy="523220"/>
          </a:xfrm>
          <a:prstGeom prst="rect">
            <a:avLst/>
          </a:prstGeom>
          <a:noFill/>
        </p:spPr>
        <p:txBody>
          <a:bodyPr wrap="none" rtlCol="0">
            <a:spAutoFit/>
          </a:bodyPr>
          <a:lstStyle/>
          <a:p>
            <a:r>
              <a:rPr lang="en-US" altLang="zh-CN" sz="2800" dirty="0">
                <a:solidFill>
                  <a:srgbClr val="FF0000"/>
                </a:solidFill>
              </a:rPr>
              <a:t>Thermometer</a:t>
            </a:r>
            <a:endParaRPr lang="zh-CN" altLang="en-US" sz="2800" dirty="0">
              <a:solidFill>
                <a:srgbClr val="FF0000"/>
              </a:solidFill>
            </a:endParaRPr>
          </a:p>
        </p:txBody>
      </p:sp>
      <p:sp>
        <p:nvSpPr>
          <p:cNvPr id="5" name="矩形 4">
            <a:extLst>
              <a:ext uri="{FF2B5EF4-FFF2-40B4-BE49-F238E27FC236}">
                <a16:creationId xmlns:a16="http://schemas.microsoft.com/office/drawing/2014/main" id="{EFE9EEE7-266B-4651-B484-DF30F0FFFD7D}"/>
              </a:ext>
            </a:extLst>
          </p:cNvPr>
          <p:cNvSpPr/>
          <p:nvPr/>
        </p:nvSpPr>
        <p:spPr>
          <a:xfrm>
            <a:off x="232415" y="966010"/>
            <a:ext cx="2347117" cy="461665"/>
          </a:xfrm>
          <a:prstGeom prst="rect">
            <a:avLst/>
          </a:prstGeom>
        </p:spPr>
        <p:txBody>
          <a:bodyPr wrap="none">
            <a:spAutoFit/>
          </a:bodyPr>
          <a:lstStyle/>
          <a:p>
            <a:pPr marL="342900" indent="-342900">
              <a:buFont typeface="Wingdings" pitchFamily="2" charset="2"/>
              <a:buChar char="ü"/>
            </a:pPr>
            <a:r>
              <a:rPr lang="en-US" altLang="zh-CN" sz="2400" dirty="0">
                <a:solidFill>
                  <a:srgbClr val="000000"/>
                </a:solidFill>
                <a:latin typeface="Arial Unicode MS" pitchFamily="34" charset="-122"/>
                <a:ea typeface="Arial Unicode MS" pitchFamily="34" charset="-122"/>
                <a:cs typeface="Arial Unicode MS" pitchFamily="34" charset="-122"/>
              </a:rPr>
              <a:t>Celsius scale</a:t>
            </a:r>
            <a:endParaRPr lang="en-US" altLang="zh-CN" sz="2400" b="0" i="0" dirty="0">
              <a:solidFill>
                <a:srgbClr val="000000"/>
              </a:solidFill>
              <a:effectLst/>
              <a:latin typeface="Arial Unicode MS" pitchFamily="34" charset="-122"/>
              <a:ea typeface="Arial Unicode MS" pitchFamily="34" charset="-122"/>
              <a:cs typeface="Arial Unicode MS" pitchFamily="34" charset="-122"/>
            </a:endParaRPr>
          </a:p>
        </p:txBody>
      </p:sp>
      <p:sp>
        <p:nvSpPr>
          <p:cNvPr id="6" name="矩形 5">
            <a:extLst>
              <a:ext uri="{FF2B5EF4-FFF2-40B4-BE49-F238E27FC236}">
                <a16:creationId xmlns:a16="http://schemas.microsoft.com/office/drawing/2014/main" id="{051B225D-7A9E-48BA-AEFA-D237B70AB0C4}"/>
              </a:ext>
            </a:extLst>
          </p:cNvPr>
          <p:cNvSpPr/>
          <p:nvPr/>
        </p:nvSpPr>
        <p:spPr>
          <a:xfrm>
            <a:off x="192657" y="2823075"/>
            <a:ext cx="4684143" cy="646331"/>
          </a:xfrm>
          <a:prstGeom prst="rect">
            <a:avLst/>
          </a:prstGeom>
        </p:spPr>
        <p:txBody>
          <a:bodyPr wrap="square">
            <a:spAutoFit/>
          </a:bodyPr>
          <a:lstStyle/>
          <a:p>
            <a:r>
              <a:rPr lang="en-US" altLang="zh-CN" dirty="0">
                <a:solidFill>
                  <a:srgbClr val="222222"/>
                </a:solidFill>
                <a:latin typeface="Arial Unicode MS" pitchFamily="34" charset="-122"/>
                <a:ea typeface="Arial Unicode MS" pitchFamily="34" charset="-122"/>
                <a:cs typeface="Arial Unicode MS" pitchFamily="34" charset="-122"/>
              </a:rPr>
              <a:t>Celsius was known until 1948 as centigrade </a:t>
            </a:r>
          </a:p>
          <a:p>
            <a:r>
              <a:rPr lang="en-US" altLang="zh-CN" dirty="0">
                <a:solidFill>
                  <a:srgbClr val="222222"/>
                </a:solidFill>
                <a:latin typeface="Arial Unicode MS" pitchFamily="34" charset="-122"/>
                <a:ea typeface="Arial Unicode MS" pitchFamily="34" charset="-122"/>
                <a:cs typeface="Arial Unicode MS" pitchFamily="34" charset="-122"/>
              </a:rPr>
              <a:t>The first proposed ~1742.</a:t>
            </a:r>
            <a:endParaRPr lang="zh-CN" altLang="en-US" dirty="0">
              <a:latin typeface="Arial Unicode MS" pitchFamily="34" charset="-122"/>
              <a:ea typeface="Arial Unicode MS" pitchFamily="34" charset="-122"/>
              <a:cs typeface="Arial Unicode MS" pitchFamily="34" charset="-122"/>
            </a:endParaRPr>
          </a:p>
        </p:txBody>
      </p:sp>
      <p:pic>
        <p:nvPicPr>
          <p:cNvPr id="7" name="图片 6">
            <a:extLst>
              <a:ext uri="{FF2B5EF4-FFF2-40B4-BE49-F238E27FC236}">
                <a16:creationId xmlns:a16="http://schemas.microsoft.com/office/drawing/2014/main" id="{5FF846AA-C23B-4A8C-87FA-E67AACB317FB}"/>
              </a:ext>
            </a:extLst>
          </p:cNvPr>
          <p:cNvPicPr>
            <a:picLocks noChangeAspect="1"/>
          </p:cNvPicPr>
          <p:nvPr/>
        </p:nvPicPr>
        <p:blipFill>
          <a:blip r:embed="rId2"/>
          <a:stretch>
            <a:fillRect/>
          </a:stretch>
        </p:blipFill>
        <p:spPr>
          <a:xfrm>
            <a:off x="6857999" y="777351"/>
            <a:ext cx="1538287" cy="1747837"/>
          </a:xfrm>
          <a:prstGeom prst="rect">
            <a:avLst/>
          </a:prstGeom>
        </p:spPr>
      </p:pic>
      <p:sp>
        <p:nvSpPr>
          <p:cNvPr id="8" name="矩形 7">
            <a:extLst>
              <a:ext uri="{FF2B5EF4-FFF2-40B4-BE49-F238E27FC236}">
                <a16:creationId xmlns:a16="http://schemas.microsoft.com/office/drawing/2014/main" id="{A53DA236-5EF5-4E97-9267-4136C806C002}"/>
              </a:ext>
            </a:extLst>
          </p:cNvPr>
          <p:cNvSpPr/>
          <p:nvPr/>
        </p:nvSpPr>
        <p:spPr>
          <a:xfrm>
            <a:off x="232415" y="1462255"/>
            <a:ext cx="5787386" cy="923330"/>
          </a:xfrm>
          <a:prstGeom prst="rect">
            <a:avLst/>
          </a:prstGeom>
        </p:spPr>
        <p:txBody>
          <a:bodyPr wrap="square">
            <a:spAutoFit/>
          </a:bodyPr>
          <a:lstStyle/>
          <a:p>
            <a:r>
              <a:rPr lang="en-US" altLang="zh-CN" dirty="0">
                <a:latin typeface="Arial Unicode MS" pitchFamily="34" charset="-122"/>
                <a:ea typeface="Arial Unicode MS" pitchFamily="34" charset="-122"/>
                <a:cs typeface="Arial Unicode MS" pitchFamily="34" charset="-122"/>
              </a:rPr>
              <a:t>Numerically describe the degreed of the cold and hot:</a:t>
            </a:r>
          </a:p>
          <a:p>
            <a:pPr marL="342900" indent="-342900">
              <a:buFont typeface="Arial" pitchFamily="34" charset="0"/>
              <a:buChar char="•"/>
            </a:pPr>
            <a:r>
              <a:rPr lang="en-US" altLang="zh-CN" dirty="0">
                <a:solidFill>
                  <a:srgbClr val="0000FF"/>
                </a:solidFill>
                <a:latin typeface="Arial Unicode MS" pitchFamily="34" charset="-122"/>
                <a:ea typeface="Arial Unicode MS" pitchFamily="34" charset="-122"/>
                <a:cs typeface="Arial Unicode MS" pitchFamily="34" charset="-122"/>
              </a:rPr>
              <a:t>0° for the freezing point of water </a:t>
            </a:r>
          </a:p>
          <a:p>
            <a:pPr marL="342900" indent="-342900">
              <a:buFont typeface="Arial" pitchFamily="34" charset="0"/>
              <a:buChar char="•"/>
            </a:pPr>
            <a:r>
              <a:rPr lang="en-US" altLang="zh-CN" dirty="0">
                <a:solidFill>
                  <a:srgbClr val="0000FF"/>
                </a:solidFill>
                <a:latin typeface="Arial Unicode MS" pitchFamily="34" charset="-122"/>
                <a:ea typeface="Arial Unicode MS" pitchFamily="34" charset="-122"/>
                <a:cs typeface="Arial Unicode MS" pitchFamily="34" charset="-122"/>
              </a:rPr>
              <a:t>100° for the boiling point of water </a:t>
            </a:r>
          </a:p>
        </p:txBody>
      </p:sp>
      <p:sp>
        <p:nvSpPr>
          <p:cNvPr id="10" name="矩形 9"/>
          <p:cNvSpPr/>
          <p:nvPr/>
        </p:nvSpPr>
        <p:spPr>
          <a:xfrm>
            <a:off x="6400800" y="2567946"/>
            <a:ext cx="2362200" cy="861774"/>
          </a:xfrm>
          <a:prstGeom prst="rect">
            <a:avLst/>
          </a:prstGeom>
        </p:spPr>
        <p:txBody>
          <a:bodyPr wrap="square">
            <a:spAutoFit/>
          </a:bodyPr>
          <a:lstStyle/>
          <a:p>
            <a:pPr lvl="0" algn="ctr"/>
            <a:r>
              <a:rPr lang="en-US" altLang="zh-CN" sz="1600" dirty="0">
                <a:solidFill>
                  <a:srgbClr val="0000FF"/>
                </a:solidFill>
                <a:latin typeface="Arial Unicode MS" pitchFamily="34" charset="-122"/>
                <a:ea typeface="Arial Unicode MS" pitchFamily="34" charset="-122"/>
                <a:cs typeface="Arial Unicode MS" pitchFamily="34" charset="-122"/>
              </a:rPr>
              <a:t>Anders Celsius</a:t>
            </a:r>
          </a:p>
          <a:p>
            <a:pPr algn="ctr"/>
            <a:r>
              <a:rPr lang="en-US" altLang="zh-CN" sz="1600" dirty="0">
                <a:solidFill>
                  <a:srgbClr val="222222"/>
                </a:solidFill>
                <a:latin typeface="Arial Unicode MS" pitchFamily="34" charset="-122"/>
                <a:ea typeface="Arial Unicode MS" pitchFamily="34" charset="-122"/>
                <a:cs typeface="Arial Unicode MS" pitchFamily="34" charset="-122"/>
              </a:rPr>
              <a:t>Swedish astronomer</a:t>
            </a:r>
            <a:endParaRPr lang="en-US" altLang="zh-CN" sz="1600" dirty="0">
              <a:solidFill>
                <a:srgbClr val="0000FF"/>
              </a:solidFill>
              <a:latin typeface="Arial Unicode MS" pitchFamily="34" charset="-122"/>
              <a:ea typeface="Arial Unicode MS" pitchFamily="34" charset="-122"/>
              <a:cs typeface="Arial Unicode MS" pitchFamily="34" charset="-122"/>
            </a:endParaRPr>
          </a:p>
          <a:p>
            <a:pPr lvl="0" algn="ctr"/>
            <a:r>
              <a:rPr lang="en-US" altLang="zh-CN" dirty="0">
                <a:solidFill>
                  <a:srgbClr val="222222"/>
                </a:solidFill>
                <a:latin typeface="Arial Unicode MS" pitchFamily="34" charset="-122"/>
                <a:ea typeface="Arial Unicode MS" pitchFamily="34" charset="-122"/>
                <a:cs typeface="Arial Unicode MS" pitchFamily="34" charset="-122"/>
              </a:rPr>
              <a:t> (1701–1744)</a:t>
            </a:r>
          </a:p>
        </p:txBody>
      </p:sp>
      <p:sp>
        <p:nvSpPr>
          <p:cNvPr id="12" name="矩形 11">
            <a:extLst>
              <a:ext uri="{FF2B5EF4-FFF2-40B4-BE49-F238E27FC236}">
                <a16:creationId xmlns:a16="http://schemas.microsoft.com/office/drawing/2014/main" id="{EFE9EEE7-266B-4651-B484-DF30F0FFFD7D}"/>
              </a:ext>
            </a:extLst>
          </p:cNvPr>
          <p:cNvSpPr/>
          <p:nvPr/>
        </p:nvSpPr>
        <p:spPr>
          <a:xfrm>
            <a:off x="255419" y="3657600"/>
            <a:ext cx="2541080" cy="400110"/>
          </a:xfrm>
          <a:prstGeom prst="rect">
            <a:avLst/>
          </a:prstGeom>
        </p:spPr>
        <p:txBody>
          <a:bodyPr wrap="none">
            <a:spAutoFit/>
          </a:bodyPr>
          <a:lstStyle/>
          <a:p>
            <a:pPr marL="342900" indent="-342900">
              <a:buFont typeface="Wingdings" pitchFamily="2" charset="2"/>
              <a:buChar char="ü"/>
            </a:pPr>
            <a:r>
              <a:rPr lang="en-US" altLang="zh-CN" sz="2000" dirty="0">
                <a:solidFill>
                  <a:srgbClr val="000000"/>
                </a:solidFill>
                <a:latin typeface="Arial Unicode MS" pitchFamily="34" charset="-122"/>
                <a:ea typeface="Arial Unicode MS" pitchFamily="34" charset="-122"/>
                <a:cs typeface="Arial Unicode MS" pitchFamily="34" charset="-122"/>
              </a:rPr>
              <a:t>Fahrenheit Scale </a:t>
            </a:r>
            <a:endParaRPr lang="en-US" altLang="zh-CN" sz="2000" b="0" i="0" dirty="0">
              <a:solidFill>
                <a:srgbClr val="000000"/>
              </a:solidFill>
              <a:effectLst/>
              <a:latin typeface="Arial Unicode MS" pitchFamily="34" charset="-122"/>
              <a:ea typeface="Arial Unicode MS" pitchFamily="34" charset="-122"/>
              <a:cs typeface="Arial Unicode MS" pitchFamily="34" charset="-122"/>
            </a:endParaRPr>
          </a:p>
        </p:txBody>
      </p:sp>
      <p:sp>
        <p:nvSpPr>
          <p:cNvPr id="13" name="TextBox 12"/>
          <p:cNvSpPr txBox="1"/>
          <p:nvPr/>
        </p:nvSpPr>
        <p:spPr>
          <a:xfrm>
            <a:off x="439747" y="3963036"/>
            <a:ext cx="4279569" cy="369332"/>
          </a:xfrm>
          <a:prstGeom prst="rect">
            <a:avLst/>
          </a:prstGeom>
          <a:noFill/>
        </p:spPr>
        <p:txBody>
          <a:bodyPr wrap="none" rtlCol="0">
            <a:spAutoFit/>
          </a:bodyPr>
          <a:lstStyle/>
          <a:p>
            <a:r>
              <a:rPr lang="en-US" altLang="zh-CN" dirty="0"/>
              <a:t>Proposed Mercury as a thermometric fluid. </a:t>
            </a:r>
            <a:endParaRPr lang="zh-CN" altLang="en-US" dirty="0"/>
          </a:p>
        </p:txBody>
      </p:sp>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8491" y="3469406"/>
            <a:ext cx="1499477" cy="205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6804804" y="5735158"/>
            <a:ext cx="2139496" cy="923330"/>
          </a:xfrm>
          <a:prstGeom prst="rect">
            <a:avLst/>
          </a:prstGeom>
        </p:spPr>
        <p:txBody>
          <a:bodyPr wrap="none">
            <a:spAutoFit/>
          </a:bodyPr>
          <a:lstStyle/>
          <a:p>
            <a:pPr algn="ctr"/>
            <a:r>
              <a:rPr lang="en-US" altLang="zh-CN" dirty="0">
                <a:solidFill>
                  <a:srgbClr val="0000FF"/>
                </a:solidFill>
              </a:rPr>
              <a:t>Daniel G. Fahrenheit</a:t>
            </a:r>
          </a:p>
          <a:p>
            <a:pPr algn="ctr"/>
            <a:r>
              <a:rPr lang="en-US" altLang="zh-CN" dirty="0"/>
              <a:t> Dutch Physicist </a:t>
            </a:r>
          </a:p>
          <a:p>
            <a:pPr algn="ctr"/>
            <a:r>
              <a:rPr lang="en-US" altLang="zh-CN" b="1" dirty="0"/>
              <a:t>(1701-1736)</a:t>
            </a:r>
            <a:endParaRPr lang="zh-CN" altLang="en-US" dirty="0"/>
          </a:p>
        </p:txBody>
      </p:sp>
      <p:pic>
        <p:nvPicPr>
          <p:cNvPr id="2458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723" y="4991258"/>
            <a:ext cx="171450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4992596"/>
            <a:ext cx="1144243" cy="1413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4232045" y="5576549"/>
            <a:ext cx="2378374" cy="830997"/>
          </a:xfrm>
          <a:prstGeom prst="rect">
            <a:avLst/>
          </a:prstGeom>
        </p:spPr>
        <p:txBody>
          <a:bodyPr wrap="square">
            <a:spAutoFit/>
          </a:bodyPr>
          <a:lstStyle/>
          <a:p>
            <a:r>
              <a:rPr lang="en-US" altLang="zh-CN" sz="1600" dirty="0"/>
              <a:t>Memorial plaque at Fahrenheit's burial site</a:t>
            </a:r>
          </a:p>
          <a:p>
            <a:r>
              <a:rPr lang="en-US" altLang="zh-CN" sz="1600" dirty="0"/>
              <a:t>in the Hague</a:t>
            </a:r>
            <a:endParaRPr lang="zh-CN" altLang="en-US" sz="1600" dirty="0"/>
          </a:p>
        </p:txBody>
      </p:sp>
      <p:sp>
        <p:nvSpPr>
          <p:cNvPr id="16" name="矩形 15"/>
          <p:cNvSpPr/>
          <p:nvPr/>
        </p:nvSpPr>
        <p:spPr>
          <a:xfrm>
            <a:off x="455139" y="4306221"/>
            <a:ext cx="4607917" cy="584775"/>
          </a:xfrm>
          <a:prstGeom prst="rect">
            <a:avLst/>
          </a:prstGeom>
        </p:spPr>
        <p:txBody>
          <a:bodyPr wrap="square">
            <a:spAutoFit/>
          </a:bodyPr>
          <a:lstStyle/>
          <a:p>
            <a:pPr marL="285750" indent="-285750">
              <a:buFont typeface="Arial" pitchFamily="34" charset="0"/>
              <a:buChar char="•"/>
            </a:pPr>
            <a:r>
              <a:rPr lang="en-US" altLang="zh-CN" sz="1600" dirty="0">
                <a:solidFill>
                  <a:srgbClr val="0000FF"/>
                </a:solidFill>
                <a:latin typeface="Arial Unicode MS" pitchFamily="34" charset="-122"/>
                <a:ea typeface="Arial Unicode MS" pitchFamily="34" charset="-122"/>
                <a:cs typeface="Arial Unicode MS" pitchFamily="34" charset="-122"/>
              </a:rPr>
              <a:t>32 °F for the freezing point of water </a:t>
            </a:r>
          </a:p>
          <a:p>
            <a:pPr marL="285750" indent="-285750">
              <a:buFont typeface="Arial" pitchFamily="34" charset="0"/>
              <a:buChar char="•"/>
            </a:pPr>
            <a:r>
              <a:rPr lang="en-US" altLang="zh-CN" sz="1600" dirty="0">
                <a:solidFill>
                  <a:srgbClr val="0000FF"/>
                </a:solidFill>
              </a:rPr>
              <a:t>96 </a:t>
            </a:r>
            <a:r>
              <a:rPr lang="en-US" altLang="zh-CN" sz="1600" dirty="0">
                <a:solidFill>
                  <a:srgbClr val="0000FF"/>
                </a:solidFill>
                <a:latin typeface="Arial Unicode MS" pitchFamily="34" charset="-122"/>
                <a:ea typeface="Arial Unicode MS" pitchFamily="34" charset="-122"/>
                <a:cs typeface="Arial Unicode MS" pitchFamily="34" charset="-122"/>
              </a:rPr>
              <a:t>°F </a:t>
            </a:r>
            <a:r>
              <a:rPr lang="en-US" altLang="zh-CN" sz="1600" dirty="0">
                <a:solidFill>
                  <a:srgbClr val="0000FF"/>
                </a:solidFill>
              </a:rPr>
              <a:t> , as it placed in the arm or in the mouth</a:t>
            </a:r>
            <a:endParaRPr lang="en-US" altLang="zh-CN" sz="1600" dirty="0">
              <a:solidFill>
                <a:srgbClr val="0000FF"/>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718189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9800" y="3437398"/>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圆角矩形 6"/>
          <p:cNvSpPr/>
          <p:nvPr/>
        </p:nvSpPr>
        <p:spPr>
          <a:xfrm>
            <a:off x="1063916" y="3437398"/>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7"/>
          <p:cNvSpPr/>
          <p:nvPr/>
        </p:nvSpPr>
        <p:spPr>
          <a:xfrm>
            <a:off x="4774200" y="3437398"/>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TextBox 9"/>
          <p:cNvSpPr txBox="1"/>
          <p:nvPr/>
        </p:nvSpPr>
        <p:spPr>
          <a:xfrm>
            <a:off x="1219200" y="2602300"/>
            <a:ext cx="6294031"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dirty="0">
                <a:solidFill>
                  <a:srgbClr val="FF0000"/>
                </a:solidFill>
              </a:rPr>
              <a:t>2. Heat and</a:t>
            </a:r>
            <a:r>
              <a:rPr lang="zh-CN" altLang="en-US" sz="3600" dirty="0">
                <a:solidFill>
                  <a:srgbClr val="FF0000"/>
                </a:solidFill>
              </a:rPr>
              <a:t> </a:t>
            </a:r>
            <a:r>
              <a:rPr lang="en-US" altLang="zh-CN" sz="3600" dirty="0">
                <a:solidFill>
                  <a:srgbClr val="FF0000"/>
                </a:solidFill>
              </a:rPr>
              <a:t>Energy Conservation</a:t>
            </a:r>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165869"/>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63916" y="3890665"/>
            <a:ext cx="7546684" cy="1231106"/>
          </a:xfrm>
          <a:prstGeom prst="rect">
            <a:avLst/>
          </a:prstGeom>
        </p:spPr>
        <p:txBody>
          <a:bodyPr wrap="square">
            <a:spAutoFit/>
          </a:bodyPr>
          <a:lstStyle/>
          <a:p>
            <a:pPr>
              <a:spcAft>
                <a:spcPts val="1200"/>
              </a:spcAft>
            </a:pPr>
            <a:r>
              <a:rPr lang="en-US" altLang="zh-CN" b="1" dirty="0">
                <a:solidFill>
                  <a:srgbClr val="0000FF"/>
                </a:solidFill>
              </a:rPr>
              <a:t>Chapter 2</a:t>
            </a:r>
          </a:p>
          <a:p>
            <a:pPr>
              <a:spcAft>
                <a:spcPts val="1200"/>
              </a:spcAft>
            </a:pPr>
            <a:r>
              <a:rPr lang="en-US" altLang="zh-CN" b="1" dirty="0">
                <a:solidFill>
                  <a:srgbClr val="0000FF"/>
                </a:solidFill>
              </a:rPr>
              <a:t>Introduction to the thermodynamics of materials</a:t>
            </a:r>
            <a:r>
              <a:rPr lang="en-US" altLang="zh-CN" dirty="0">
                <a:solidFill>
                  <a:srgbClr val="0000FF"/>
                </a:solidFill>
              </a:rPr>
              <a:t>, </a:t>
            </a:r>
          </a:p>
          <a:p>
            <a:pPr>
              <a:spcAft>
                <a:spcPts val="1200"/>
              </a:spcAft>
            </a:pPr>
            <a:r>
              <a:rPr lang="en-US" altLang="zh-CN" dirty="0">
                <a:solidFill>
                  <a:srgbClr val="0000FF"/>
                </a:solidFill>
              </a:rPr>
              <a:t>5</a:t>
            </a:r>
            <a:r>
              <a:rPr lang="en-US" altLang="zh-CN" baseline="30000" dirty="0">
                <a:solidFill>
                  <a:srgbClr val="0000FF"/>
                </a:solidFill>
              </a:rPr>
              <a:t>th</a:t>
            </a:r>
            <a:r>
              <a:rPr lang="zh-CN" altLang="en-US" dirty="0">
                <a:solidFill>
                  <a:srgbClr val="0000FF"/>
                </a:solidFill>
              </a:rPr>
              <a:t> </a:t>
            </a:r>
            <a:r>
              <a:rPr lang="en-US" altLang="zh-CN" dirty="0">
                <a:solidFill>
                  <a:srgbClr val="0000FF"/>
                </a:solidFill>
              </a:rPr>
              <a:t>or 6</a:t>
            </a:r>
            <a:r>
              <a:rPr lang="en-US" altLang="zh-CN" baseline="30000" dirty="0">
                <a:solidFill>
                  <a:srgbClr val="0000FF"/>
                </a:solidFill>
              </a:rPr>
              <a:t>th</a:t>
            </a:r>
            <a:r>
              <a:rPr lang="en-US" altLang="zh-CN" dirty="0">
                <a:solidFill>
                  <a:srgbClr val="0000FF"/>
                </a:solidFill>
              </a:rPr>
              <a:t> edition, by David R. Gaskell, Taylor &amp; Francis Press, 2018</a:t>
            </a:r>
          </a:p>
        </p:txBody>
      </p:sp>
    </p:spTree>
    <p:extLst>
      <p:ext uri="{BB962C8B-B14F-4D97-AF65-F5344CB8AC3E}">
        <p14:creationId xmlns:p14="http://schemas.microsoft.com/office/powerpoint/2010/main" val="1803490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4"/>
          <p:cNvSpPr txBox="1">
            <a:spLocks noChangeArrowheads="1"/>
          </p:cNvSpPr>
          <p:nvPr/>
        </p:nvSpPr>
        <p:spPr bwMode="auto">
          <a:xfrm>
            <a:off x="304799" y="1295400"/>
            <a:ext cx="886011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2400" b="1" u="sng" dirty="0">
                <a:solidFill>
                  <a:srgbClr val="0000FF"/>
                </a:solidFill>
                <a:latin typeface="Arial Unicode MS" pitchFamily="34" charset="-122"/>
                <a:ea typeface="Arial Unicode MS" pitchFamily="34" charset="-122"/>
                <a:cs typeface="Arial Unicode MS" pitchFamily="34" charset="-122"/>
              </a:rPr>
              <a:t>Heat (</a:t>
            </a:r>
            <a:r>
              <a:rPr lang="en-US" altLang="zh-CN" sz="2400" b="1" i="1" u="sng" dirty="0">
                <a:solidFill>
                  <a:srgbClr val="0000FF"/>
                </a:solidFill>
                <a:latin typeface="Arial Unicode MS" pitchFamily="34" charset="-122"/>
                <a:ea typeface="Arial Unicode MS" pitchFamily="34" charset="-122"/>
                <a:cs typeface="Arial Unicode MS" pitchFamily="34" charset="-122"/>
              </a:rPr>
              <a:t>q</a:t>
            </a:r>
            <a:r>
              <a:rPr lang="en-US" altLang="zh-CN" sz="2400" b="1" u="sng" dirty="0">
                <a:solidFill>
                  <a:srgbClr val="0000FF"/>
                </a:solidFill>
                <a:latin typeface="Arial Unicode MS" pitchFamily="34" charset="-122"/>
                <a:ea typeface="Arial Unicode MS" pitchFamily="34" charset="-122"/>
                <a:cs typeface="Arial Unicode MS" pitchFamily="34" charset="-122"/>
              </a:rPr>
              <a:t>):</a:t>
            </a:r>
            <a:r>
              <a:rPr lang="en-US" altLang="zh-CN" sz="2400" b="1" dirty="0">
                <a:solidFill>
                  <a:srgbClr val="0000FF"/>
                </a:solidFill>
                <a:latin typeface="Arial Unicode MS" pitchFamily="34" charset="-122"/>
                <a:ea typeface="Arial Unicode MS" pitchFamily="34" charset="-122"/>
                <a:cs typeface="Arial Unicode MS" pitchFamily="34" charset="-122"/>
              </a:rPr>
              <a:t> </a:t>
            </a:r>
            <a:r>
              <a:rPr lang="en-US" altLang="zh-CN" sz="2400" dirty="0">
                <a:latin typeface="Arial Unicode MS" pitchFamily="34" charset="-122"/>
                <a:ea typeface="Arial Unicode MS" pitchFamily="34" charset="-122"/>
                <a:cs typeface="Arial Unicode MS" pitchFamily="34" charset="-122"/>
              </a:rPr>
              <a:t>energy exchange due to temperature difference.</a:t>
            </a:r>
          </a:p>
          <a:p>
            <a:pPr defTabSz="914400" eaLnBrk="1" hangingPunct="1"/>
            <a:r>
              <a:rPr lang="en-US" altLang="zh-CN" sz="2400" dirty="0">
                <a:latin typeface="Arial Unicode MS" pitchFamily="34" charset="-122"/>
                <a:ea typeface="Arial Unicode MS" pitchFamily="34" charset="-122"/>
                <a:cs typeface="Arial Unicode MS" pitchFamily="34" charset="-122"/>
              </a:rPr>
              <a:t>	</a:t>
            </a:r>
            <a:r>
              <a:rPr lang="en-US" altLang="zh-CN" sz="2400" i="1" dirty="0">
                <a:latin typeface="Arial Unicode MS" pitchFamily="34" charset="-122"/>
                <a:ea typeface="Arial Unicode MS" pitchFamily="34" charset="-122"/>
                <a:cs typeface="Arial Unicode MS" pitchFamily="34" charset="-122"/>
              </a:rPr>
              <a:t>q</a:t>
            </a:r>
            <a:r>
              <a:rPr lang="en-US" altLang="zh-CN" sz="2400" dirty="0">
                <a:latin typeface="Arial Unicode MS" pitchFamily="34" charset="-122"/>
                <a:ea typeface="Arial Unicode MS" pitchFamily="34" charset="-122"/>
                <a:cs typeface="Arial Unicode MS" pitchFamily="34" charset="-122"/>
              </a:rPr>
              <a:t> is positive when heat flows into the system</a:t>
            </a:r>
          </a:p>
          <a:p>
            <a:pPr defTabSz="914400" eaLnBrk="1" hangingPunct="1"/>
            <a:r>
              <a:rPr lang="en-US" altLang="zh-CN" sz="2400" dirty="0">
                <a:latin typeface="Arial Unicode MS" pitchFamily="34" charset="-122"/>
                <a:ea typeface="Arial Unicode MS" pitchFamily="34" charset="-122"/>
                <a:cs typeface="Arial Unicode MS" pitchFamily="34" charset="-122"/>
              </a:rPr>
              <a:t>	</a:t>
            </a:r>
            <a:r>
              <a:rPr lang="en-US" altLang="zh-CN" sz="2400" i="1" dirty="0">
                <a:latin typeface="Arial Unicode MS" pitchFamily="34" charset="-122"/>
                <a:ea typeface="Arial Unicode MS" pitchFamily="34" charset="-122"/>
                <a:cs typeface="Arial Unicode MS" pitchFamily="34" charset="-122"/>
              </a:rPr>
              <a:t>q</a:t>
            </a:r>
            <a:r>
              <a:rPr lang="en-US" altLang="zh-CN" sz="2400" dirty="0">
                <a:latin typeface="Arial Unicode MS" pitchFamily="34" charset="-122"/>
                <a:ea typeface="Arial Unicode MS" pitchFamily="34" charset="-122"/>
                <a:cs typeface="Arial Unicode MS" pitchFamily="34" charset="-122"/>
              </a:rPr>
              <a:t> is negative when heat flows out the system</a:t>
            </a:r>
          </a:p>
          <a:p>
            <a:pPr defTabSz="914400" eaLnBrk="1" hangingPunct="1"/>
            <a:endParaRPr lang="en-US" altLang="zh-CN" sz="2400" dirty="0">
              <a:latin typeface="Arial Unicode MS" pitchFamily="34" charset="-122"/>
              <a:ea typeface="Arial Unicode MS" pitchFamily="34" charset="-122"/>
              <a:cs typeface="Arial Unicode MS" pitchFamily="34" charset="-122"/>
            </a:endParaRPr>
          </a:p>
          <a:p>
            <a:pPr defTabSz="914400" eaLnBrk="1" hangingPunct="1"/>
            <a:r>
              <a:rPr lang="en-US" altLang="zh-CN" sz="2400" b="1" u="sng" dirty="0">
                <a:solidFill>
                  <a:srgbClr val="0000FF"/>
                </a:solidFill>
                <a:latin typeface="Arial Unicode MS" pitchFamily="34" charset="-122"/>
                <a:ea typeface="Arial Unicode MS" pitchFamily="34" charset="-122"/>
                <a:cs typeface="Arial Unicode MS" pitchFamily="34" charset="-122"/>
              </a:rPr>
              <a:t>Work (</a:t>
            </a:r>
            <a:r>
              <a:rPr lang="en-US" altLang="zh-CN" sz="2400" b="1" i="1" u="sng" dirty="0">
                <a:solidFill>
                  <a:srgbClr val="0000FF"/>
                </a:solidFill>
                <a:latin typeface="Arial Unicode MS" pitchFamily="34" charset="-122"/>
                <a:ea typeface="Arial Unicode MS" pitchFamily="34" charset="-122"/>
                <a:cs typeface="Arial Unicode MS" pitchFamily="34" charset="-122"/>
              </a:rPr>
              <a:t>w</a:t>
            </a:r>
            <a:r>
              <a:rPr lang="en-US" altLang="zh-CN" sz="2400" b="1" u="sng" dirty="0">
                <a:solidFill>
                  <a:srgbClr val="0000FF"/>
                </a:solidFill>
                <a:latin typeface="Arial Unicode MS" pitchFamily="34" charset="-122"/>
                <a:ea typeface="Arial Unicode MS" pitchFamily="34" charset="-122"/>
                <a:cs typeface="Arial Unicode MS" pitchFamily="34" charset="-122"/>
              </a:rPr>
              <a:t>):</a:t>
            </a:r>
            <a:r>
              <a:rPr lang="en-US" altLang="zh-CN" sz="2400" b="1" dirty="0">
                <a:solidFill>
                  <a:srgbClr val="0000FF"/>
                </a:solidFill>
                <a:latin typeface="Arial Unicode MS" pitchFamily="34" charset="-122"/>
                <a:ea typeface="Arial Unicode MS" pitchFamily="34" charset="-122"/>
                <a:cs typeface="Arial Unicode MS" pitchFamily="34" charset="-122"/>
              </a:rPr>
              <a:t> </a:t>
            </a:r>
            <a:r>
              <a:rPr lang="en-US" altLang="zh-CN" sz="2400" dirty="0">
                <a:latin typeface="Arial Unicode MS" pitchFamily="34" charset="-122"/>
                <a:ea typeface="Arial Unicode MS" pitchFamily="34" charset="-122"/>
                <a:cs typeface="Arial Unicode MS" pitchFamily="34" charset="-122"/>
              </a:rPr>
              <a:t>energy exchange due to other driving forces.</a:t>
            </a:r>
          </a:p>
          <a:p>
            <a:pPr defTabSz="914400" eaLnBrk="1" hangingPunct="1"/>
            <a:r>
              <a:rPr lang="en-US" altLang="zh-CN" sz="2400" dirty="0">
                <a:latin typeface="Arial Unicode MS" pitchFamily="34" charset="-122"/>
                <a:ea typeface="Arial Unicode MS" pitchFamily="34" charset="-122"/>
                <a:cs typeface="Arial Unicode MS" pitchFamily="34" charset="-122"/>
              </a:rPr>
              <a:t>	Work done by the system to the surroundings is positive</a:t>
            </a:r>
          </a:p>
          <a:p>
            <a:pPr defTabSz="914400" eaLnBrk="1" hangingPunct="1"/>
            <a:r>
              <a:rPr lang="en-US" altLang="zh-CN" sz="2400" dirty="0">
                <a:latin typeface="Arial Unicode MS" pitchFamily="34" charset="-122"/>
                <a:ea typeface="Arial Unicode MS" pitchFamily="34" charset="-122"/>
                <a:cs typeface="Arial Unicode MS" pitchFamily="34" charset="-122"/>
              </a:rPr>
              <a:t>	Work done by the surroundings to the system is negative</a:t>
            </a:r>
          </a:p>
        </p:txBody>
      </p:sp>
      <p:graphicFrame>
        <p:nvGraphicFramePr>
          <p:cNvPr id="3" name="对象 2"/>
          <p:cNvGraphicFramePr>
            <a:graphicFrameLocks noChangeAspect="1"/>
          </p:cNvGraphicFramePr>
          <p:nvPr/>
        </p:nvGraphicFramePr>
        <p:xfrm>
          <a:off x="990600" y="4784263"/>
          <a:ext cx="1573213" cy="579437"/>
        </p:xfrm>
        <a:graphic>
          <a:graphicData uri="http://schemas.openxmlformats.org/presentationml/2006/ole">
            <mc:AlternateContent xmlns:mc="http://schemas.openxmlformats.org/markup-compatibility/2006">
              <mc:Choice xmlns:v="urn:schemas-microsoft-com:vml" Requires="v">
                <p:oleObj name="Equation" r:id="rId2" imgW="749300" imgH="279400" progId="Equation.3">
                  <p:embed/>
                </p:oleObj>
              </mc:Choice>
              <mc:Fallback>
                <p:oleObj name="Equation" r:id="rId2" imgW="749300" imgH="279400" progId="Equation.3">
                  <p:embed/>
                  <p:pic>
                    <p:nvPicPr>
                      <p:cNvPr id="3"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784263"/>
                        <a:ext cx="1573213"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18"/>
          <p:cNvSpPr txBox="1">
            <a:spLocks noChangeArrowheads="1"/>
          </p:cNvSpPr>
          <p:nvPr/>
        </p:nvSpPr>
        <p:spPr bwMode="auto">
          <a:xfrm>
            <a:off x="307975" y="5525869"/>
            <a:ext cx="45100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1800" b="1" dirty="0">
                <a:solidFill>
                  <a:srgbClr val="FF0000"/>
                </a:solidFill>
                <a:latin typeface="Arial Unicode MS" pitchFamily="34" charset="-122"/>
                <a:ea typeface="Arial Unicode MS" pitchFamily="34" charset="-122"/>
                <a:cs typeface="Arial Unicode MS" pitchFamily="34" charset="-122"/>
              </a:rPr>
              <a:t>Both heat and work are process variables, they disappear when process finishes.</a:t>
            </a:r>
          </a:p>
        </p:txBody>
      </p:sp>
      <p:pic>
        <p:nvPicPr>
          <p:cNvPr id="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5734" y="4106862"/>
            <a:ext cx="2364132"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304799" y="4116636"/>
            <a:ext cx="5834092" cy="400110"/>
          </a:xfrm>
          <a:prstGeom prst="rect">
            <a:avLst/>
          </a:prstGeom>
        </p:spPr>
        <p:txBody>
          <a:bodyPr wrap="square">
            <a:spAutoFit/>
          </a:bodyPr>
          <a:lstStyle/>
          <a:p>
            <a:r>
              <a:rPr lang="en-US" altLang="zh-CN" sz="2000" u="sng" dirty="0">
                <a:latin typeface="Arial Unicode MS" pitchFamily="34" charset="-122"/>
                <a:ea typeface="Arial Unicode MS" pitchFamily="34" charset="-122"/>
                <a:cs typeface="Arial Unicode MS" pitchFamily="34" charset="-122"/>
              </a:rPr>
              <a:t>Mechanical work: due to volume change</a:t>
            </a:r>
            <a:r>
              <a:rPr lang="en-US" altLang="zh-CN" sz="2000" dirty="0">
                <a:latin typeface="Arial Unicode MS" pitchFamily="34" charset="-122"/>
                <a:ea typeface="Arial Unicode MS" pitchFamily="34" charset="-122"/>
                <a:cs typeface="Arial Unicode MS" pitchFamily="34" charset="-122"/>
              </a:rPr>
              <a:t> </a:t>
            </a:r>
          </a:p>
        </p:txBody>
      </p:sp>
      <p:sp>
        <p:nvSpPr>
          <p:cNvPr id="7" name="TextBox 6"/>
          <p:cNvSpPr txBox="1"/>
          <p:nvPr/>
        </p:nvSpPr>
        <p:spPr>
          <a:xfrm>
            <a:off x="76200" y="76200"/>
            <a:ext cx="2685159" cy="584775"/>
          </a:xfrm>
          <a:prstGeom prst="rect">
            <a:avLst/>
          </a:prstGeom>
          <a:noFill/>
        </p:spPr>
        <p:txBody>
          <a:bodyPr wrap="none" rtlCol="0">
            <a:spAutoFit/>
          </a:bodyPr>
          <a:lstStyle/>
          <a:p>
            <a:r>
              <a:rPr lang="en-US" altLang="zh-CN" sz="3200" dirty="0">
                <a:solidFill>
                  <a:srgbClr val="FF0000"/>
                </a:solidFill>
              </a:rPr>
              <a:t>Heat and Work</a:t>
            </a:r>
            <a:endParaRPr lang="zh-CN" altLang="en-US" sz="3200" dirty="0">
              <a:solidFill>
                <a:srgbClr val="FF0000"/>
              </a:solidFill>
            </a:endParaRPr>
          </a:p>
        </p:txBody>
      </p:sp>
    </p:spTree>
    <p:extLst>
      <p:ext uri="{BB962C8B-B14F-4D97-AF65-F5344CB8AC3E}">
        <p14:creationId xmlns:p14="http://schemas.microsoft.com/office/powerpoint/2010/main" val="305955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155575" y="1219200"/>
            <a:ext cx="56356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400" dirty="0">
                <a:latin typeface="Arial Unicode MS" pitchFamily="34" charset="-122"/>
                <a:ea typeface="Arial Unicode MS" pitchFamily="34" charset="-122"/>
                <a:cs typeface="Arial Unicode MS" pitchFamily="34" charset="-122"/>
              </a:rPr>
              <a:t>First</a:t>
            </a:r>
            <a:r>
              <a:rPr lang="zh-CN" altLang="en-US" sz="2400" dirty="0">
                <a:latin typeface="Arial Unicode MS" pitchFamily="34" charset="-122"/>
                <a:ea typeface="Arial Unicode MS" pitchFamily="34" charset="-122"/>
                <a:cs typeface="Arial Unicode MS" pitchFamily="34" charset="-122"/>
              </a:rPr>
              <a:t> </a:t>
            </a:r>
            <a:r>
              <a:rPr lang="en-US" altLang="zh-CN" sz="2400" dirty="0">
                <a:latin typeface="Arial Unicode MS" pitchFamily="34" charset="-122"/>
                <a:ea typeface="Arial Unicode MS" pitchFamily="34" charset="-122"/>
                <a:cs typeface="Arial Unicode MS" pitchFamily="34" charset="-122"/>
              </a:rPr>
              <a:t>Law of thermodynamics is also called as </a:t>
            </a:r>
            <a:r>
              <a:rPr lang="en-US" altLang="zh-CN" sz="2400" b="1" dirty="0">
                <a:solidFill>
                  <a:srgbClr val="FF0000"/>
                </a:solidFill>
                <a:latin typeface="Arial Unicode MS" pitchFamily="34" charset="-122"/>
                <a:ea typeface="Arial Unicode MS" pitchFamily="34" charset="-122"/>
                <a:cs typeface="Arial Unicode MS" pitchFamily="34" charset="-122"/>
              </a:rPr>
              <a:t>The energy conservation law</a:t>
            </a:r>
          </a:p>
        </p:txBody>
      </p:sp>
      <p:graphicFrame>
        <p:nvGraphicFramePr>
          <p:cNvPr id="3" name="Object 2"/>
          <p:cNvGraphicFramePr>
            <a:graphicFrameLocks noChangeAspect="1"/>
          </p:cNvGraphicFramePr>
          <p:nvPr/>
        </p:nvGraphicFramePr>
        <p:xfrm>
          <a:off x="6662520" y="1485154"/>
          <a:ext cx="1730375" cy="468313"/>
        </p:xfrm>
        <a:graphic>
          <a:graphicData uri="http://schemas.openxmlformats.org/presentationml/2006/ole">
            <mc:AlternateContent xmlns:mc="http://schemas.openxmlformats.org/markup-compatibility/2006">
              <mc:Choice xmlns:v="urn:schemas-microsoft-com:vml" Requires="v">
                <p:oleObj name="公式" r:id="rId2" imgW="736600" imgH="203200" progId="Equation.3">
                  <p:embed/>
                </p:oleObj>
              </mc:Choice>
              <mc:Fallback>
                <p:oleObj name="公式" r:id="rId2" imgW="736600" imgH="203200" progId="Equation.3">
                  <p:embed/>
                  <p:pic>
                    <p:nvPicPr>
                      <p:cNvPr id="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2520" y="1485154"/>
                        <a:ext cx="1730375" cy="46831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1044"/>
          <p:cNvSpPr txBox="1">
            <a:spLocks noChangeArrowheads="1"/>
          </p:cNvSpPr>
          <p:nvPr/>
        </p:nvSpPr>
        <p:spPr bwMode="auto">
          <a:xfrm>
            <a:off x="328720" y="2517884"/>
            <a:ext cx="568136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dirty="0">
                <a:solidFill>
                  <a:srgbClr val="0000CC"/>
                </a:solidFill>
                <a:latin typeface="Arial Unicode MS" pitchFamily="34" charset="-122"/>
                <a:ea typeface="Arial Unicode MS" pitchFamily="34" charset="-122"/>
                <a:cs typeface="Arial Unicode MS" pitchFamily="34" charset="-122"/>
              </a:rPr>
              <a:t>For an infinitesimal change:     </a:t>
            </a:r>
            <a:r>
              <a:rPr lang="en-US" altLang="zh-CN" sz="2600" b="1" dirty="0" err="1">
                <a:solidFill>
                  <a:srgbClr val="000000"/>
                </a:solidFill>
                <a:latin typeface="Arial Unicode MS" pitchFamily="34" charset="-122"/>
                <a:ea typeface="Arial Unicode MS" pitchFamily="34" charset="-122"/>
                <a:cs typeface="Arial Unicode MS" pitchFamily="34" charset="-122"/>
                <a:sym typeface="Symbol" pitchFamily="18" charset="2"/>
              </a:rPr>
              <a:t>d</a:t>
            </a:r>
            <a:r>
              <a:rPr lang="en-US" altLang="zh-CN" sz="2600" b="1" dirty="0" err="1">
                <a:solidFill>
                  <a:srgbClr val="000000"/>
                </a:solidFill>
                <a:latin typeface="Arial Unicode MS" pitchFamily="34" charset="-122"/>
                <a:ea typeface="Arial Unicode MS" pitchFamily="34" charset="-122"/>
                <a:cs typeface="Arial Unicode MS" pitchFamily="34" charset="-122"/>
              </a:rPr>
              <a:t>U</a:t>
            </a:r>
            <a:r>
              <a:rPr lang="en-US" altLang="zh-CN" sz="2600" b="1" dirty="0">
                <a:solidFill>
                  <a:srgbClr val="000000"/>
                </a:solidFill>
                <a:latin typeface="Arial Unicode MS" pitchFamily="34" charset="-122"/>
                <a:ea typeface="Arial Unicode MS" pitchFamily="34" charset="-122"/>
                <a:cs typeface="Arial Unicode MS" pitchFamily="34" charset="-122"/>
              </a:rPr>
              <a:t> = </a:t>
            </a:r>
            <a:r>
              <a:rPr lang="en-US" altLang="zh-CN" sz="2600" b="1" dirty="0">
                <a:solidFill>
                  <a:srgbClr val="000000"/>
                </a:solidFill>
                <a:latin typeface="Arial Unicode MS" pitchFamily="34" charset="-122"/>
                <a:ea typeface="Arial Unicode MS" pitchFamily="34" charset="-122"/>
                <a:cs typeface="Arial Unicode MS" pitchFamily="34" charset="-122"/>
                <a:sym typeface="Symbol" pitchFamily="18" charset="2"/>
              </a:rPr>
              <a:t></a:t>
            </a:r>
            <a:r>
              <a:rPr lang="en-US" altLang="zh-CN" sz="2600" b="1" dirty="0">
                <a:solidFill>
                  <a:srgbClr val="000000"/>
                </a:solidFill>
                <a:latin typeface="Arial Unicode MS" pitchFamily="34" charset="-122"/>
                <a:ea typeface="Arial Unicode MS" pitchFamily="34" charset="-122"/>
                <a:cs typeface="Arial Unicode MS" pitchFamily="34" charset="-122"/>
              </a:rPr>
              <a:t>q – </a:t>
            </a:r>
            <a:r>
              <a:rPr lang="en-US" altLang="zh-CN" sz="2600" b="1" dirty="0">
                <a:solidFill>
                  <a:srgbClr val="000000"/>
                </a:solidFill>
                <a:latin typeface="Arial Unicode MS" pitchFamily="34" charset="-122"/>
                <a:ea typeface="Arial Unicode MS" pitchFamily="34" charset="-122"/>
                <a:cs typeface="Arial Unicode MS" pitchFamily="34" charset="-122"/>
                <a:sym typeface="Symbol" pitchFamily="18" charset="2"/>
              </a:rPr>
              <a:t></a:t>
            </a:r>
            <a:r>
              <a:rPr lang="en-US" altLang="zh-CN" sz="2600" b="1" dirty="0">
                <a:solidFill>
                  <a:srgbClr val="000000"/>
                </a:solidFill>
                <a:latin typeface="Arial Unicode MS" pitchFamily="34" charset="-122"/>
                <a:ea typeface="Arial Unicode MS" pitchFamily="34" charset="-122"/>
                <a:cs typeface="Arial Unicode MS" pitchFamily="34" charset="-122"/>
              </a:rPr>
              <a:t>W</a:t>
            </a:r>
          </a:p>
        </p:txBody>
      </p:sp>
      <p:sp>
        <p:nvSpPr>
          <p:cNvPr id="5" name="Text Box 1045"/>
          <p:cNvSpPr txBox="1">
            <a:spLocks noChangeArrowheads="1"/>
          </p:cNvSpPr>
          <p:nvPr/>
        </p:nvSpPr>
        <p:spPr bwMode="auto">
          <a:xfrm>
            <a:off x="459385" y="3302221"/>
            <a:ext cx="5703997" cy="707886"/>
          </a:xfrm>
          <a:prstGeom prst="rect">
            <a:avLst/>
          </a:prstGeom>
          <a:noFill/>
          <a:ln w="25400">
            <a:solidFill>
              <a:srgbClr val="CC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dirty="0">
                <a:solidFill>
                  <a:srgbClr val="000000"/>
                </a:solidFill>
                <a:latin typeface="Arial Unicode MS" pitchFamily="34" charset="-122"/>
                <a:ea typeface="Arial Unicode MS" pitchFamily="34" charset="-122"/>
                <a:cs typeface="Arial Unicode MS" pitchFamily="34" charset="-122"/>
              </a:rPr>
              <a:t>d </a:t>
            </a:r>
            <a:r>
              <a:rPr lang="en-US" altLang="zh-CN" sz="2000" dirty="0">
                <a:solidFill>
                  <a:srgbClr val="000000"/>
                </a:solidFill>
                <a:latin typeface="Arial Unicode MS" pitchFamily="34" charset="-122"/>
                <a:ea typeface="Arial Unicode MS" pitchFamily="34" charset="-122"/>
                <a:cs typeface="Arial Unicode MS" pitchFamily="34" charset="-122"/>
                <a:sym typeface="Wingdings" pitchFamily="2" charset="2"/>
              </a:rPr>
              <a:t> a differential element of a state function</a:t>
            </a:r>
            <a:endParaRPr lang="en-US" altLang="zh-CN" sz="2000" dirty="0">
              <a:solidFill>
                <a:srgbClr val="000000"/>
              </a:solidFill>
              <a:latin typeface="Arial Unicode MS" pitchFamily="34" charset="-122"/>
              <a:ea typeface="Arial Unicode MS" pitchFamily="34" charset="-122"/>
              <a:cs typeface="Arial Unicode MS" pitchFamily="34" charset="-122"/>
            </a:endParaRPr>
          </a:p>
          <a:p>
            <a:pPr defTabSz="914400" eaLnBrk="1" hangingPunct="1"/>
            <a:r>
              <a:rPr lang="en-US" altLang="zh-CN" sz="2000" dirty="0">
                <a:solidFill>
                  <a:srgbClr val="000000"/>
                </a:solidFill>
                <a:latin typeface="Arial Unicode MS" pitchFamily="34" charset="-122"/>
                <a:ea typeface="Arial Unicode MS" pitchFamily="34" charset="-122"/>
                <a:cs typeface="Arial Unicode MS" pitchFamily="34" charset="-122"/>
                <a:sym typeface="Symbol" pitchFamily="18" charset="2"/>
              </a:rPr>
              <a:t> </a:t>
            </a:r>
            <a:r>
              <a:rPr lang="en-US" altLang="zh-CN" sz="2000" dirty="0">
                <a:solidFill>
                  <a:srgbClr val="000000"/>
                </a:solidFill>
                <a:latin typeface="Arial Unicode MS" pitchFamily="34" charset="-122"/>
                <a:ea typeface="Arial Unicode MS" pitchFamily="34" charset="-122"/>
                <a:cs typeface="Arial Unicode MS" pitchFamily="34" charset="-122"/>
                <a:sym typeface="Wingdings" pitchFamily="2" charset="2"/>
              </a:rPr>
              <a:t> a differential element of a non-state function</a:t>
            </a:r>
            <a:endParaRPr lang="en-US" altLang="zh-CN" sz="2000" dirty="0">
              <a:solidFill>
                <a:srgbClr val="000000"/>
              </a:solidFill>
              <a:latin typeface="Arial Unicode MS" pitchFamily="34" charset="-122"/>
              <a:ea typeface="Arial Unicode MS" pitchFamily="34" charset="-122"/>
              <a:cs typeface="Arial Unicode MS" pitchFamily="34" charset="-122"/>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563067"/>
            <a:ext cx="1867848" cy="1322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9"/>
          <p:cNvSpPr txBox="1">
            <a:spLocks noChangeArrowheads="1"/>
          </p:cNvSpPr>
          <p:nvPr/>
        </p:nvSpPr>
        <p:spPr bwMode="auto">
          <a:xfrm>
            <a:off x="609600" y="4339480"/>
            <a:ext cx="554671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2000" b="1" i="1" dirty="0">
                <a:solidFill>
                  <a:srgbClr val="000000"/>
                </a:solidFill>
                <a:latin typeface="Arial Unicode MS" pitchFamily="34" charset="-122"/>
                <a:ea typeface="Arial Unicode MS" pitchFamily="34" charset="-122"/>
                <a:cs typeface="Arial Unicode MS" pitchFamily="34" charset="-122"/>
              </a:rPr>
              <a:t>U</a:t>
            </a:r>
            <a:r>
              <a:rPr lang="en-US" altLang="zh-CN" sz="2000" b="1" dirty="0">
                <a:solidFill>
                  <a:srgbClr val="000000"/>
                </a:solidFill>
                <a:latin typeface="Arial Unicode MS" pitchFamily="34" charset="-122"/>
                <a:ea typeface="Arial Unicode MS" pitchFamily="34" charset="-122"/>
                <a:cs typeface="Arial Unicode MS" pitchFamily="34" charset="-122"/>
              </a:rPr>
              <a:t> is the state function, independent on process</a:t>
            </a:r>
          </a:p>
          <a:p>
            <a:pPr defTabSz="914400" eaLnBrk="1" hangingPunct="1"/>
            <a:r>
              <a:rPr lang="en-US" altLang="zh-CN" sz="2000" b="1" dirty="0">
                <a:solidFill>
                  <a:srgbClr val="000000"/>
                </a:solidFill>
                <a:latin typeface="Arial Unicode MS" pitchFamily="34" charset="-122"/>
                <a:ea typeface="Arial Unicode MS" pitchFamily="34" charset="-122"/>
                <a:cs typeface="Arial Unicode MS" pitchFamily="34" charset="-122"/>
              </a:rPr>
              <a:t>While, both </a:t>
            </a:r>
            <a:r>
              <a:rPr lang="en-US" altLang="zh-CN" sz="2000" b="1" i="1" dirty="0">
                <a:solidFill>
                  <a:srgbClr val="000000"/>
                </a:solidFill>
                <a:latin typeface="Arial Unicode MS" pitchFamily="34" charset="-122"/>
                <a:ea typeface="Arial Unicode MS" pitchFamily="34" charset="-122"/>
                <a:cs typeface="Arial Unicode MS" pitchFamily="34" charset="-122"/>
              </a:rPr>
              <a:t>q</a:t>
            </a:r>
            <a:r>
              <a:rPr lang="en-US" altLang="zh-CN" sz="2000" b="1" dirty="0">
                <a:solidFill>
                  <a:srgbClr val="000000"/>
                </a:solidFill>
                <a:latin typeface="Arial Unicode MS" pitchFamily="34" charset="-122"/>
                <a:ea typeface="Arial Unicode MS" pitchFamily="34" charset="-122"/>
                <a:cs typeface="Arial Unicode MS" pitchFamily="34" charset="-122"/>
              </a:rPr>
              <a:t> and </a:t>
            </a:r>
            <a:r>
              <a:rPr lang="en-US" altLang="zh-CN" sz="2000" b="1" i="1" dirty="0">
                <a:solidFill>
                  <a:srgbClr val="000000"/>
                </a:solidFill>
                <a:latin typeface="Arial Unicode MS" pitchFamily="34" charset="-122"/>
                <a:ea typeface="Arial Unicode MS" pitchFamily="34" charset="-122"/>
                <a:cs typeface="Arial Unicode MS" pitchFamily="34" charset="-122"/>
              </a:rPr>
              <a:t>w</a:t>
            </a:r>
            <a:r>
              <a:rPr lang="en-US" altLang="zh-CN" sz="2000" b="1" dirty="0">
                <a:solidFill>
                  <a:srgbClr val="000000"/>
                </a:solidFill>
                <a:latin typeface="Arial Unicode MS" pitchFamily="34" charset="-122"/>
                <a:ea typeface="Arial Unicode MS" pitchFamily="34" charset="-122"/>
                <a:cs typeface="Arial Unicode MS" pitchFamily="34" charset="-122"/>
              </a:rPr>
              <a:t> depend on process</a:t>
            </a:r>
          </a:p>
        </p:txBody>
      </p:sp>
      <p:sp>
        <p:nvSpPr>
          <p:cNvPr id="8" name="Text Box 10"/>
          <p:cNvSpPr txBox="1">
            <a:spLocks noChangeArrowheads="1"/>
          </p:cNvSpPr>
          <p:nvPr/>
        </p:nvSpPr>
        <p:spPr bwMode="auto">
          <a:xfrm>
            <a:off x="565150" y="5331448"/>
            <a:ext cx="44259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1800" dirty="0">
                <a:solidFill>
                  <a:srgbClr val="000000"/>
                </a:solidFill>
                <a:latin typeface="Arial Unicode MS" pitchFamily="34" charset="-122"/>
                <a:ea typeface="Arial Unicode MS" pitchFamily="34" charset="-122"/>
                <a:cs typeface="Arial Unicode MS" pitchFamily="34" charset="-122"/>
              </a:rPr>
              <a:t>So, for cyclic process (the system come back to the initial state after the process): </a:t>
            </a:r>
          </a:p>
        </p:txBody>
      </p:sp>
      <p:graphicFrame>
        <p:nvGraphicFramePr>
          <p:cNvPr id="9" name="Object 4"/>
          <p:cNvGraphicFramePr>
            <a:graphicFrameLocks noChangeAspect="1"/>
          </p:cNvGraphicFramePr>
          <p:nvPr/>
        </p:nvGraphicFramePr>
        <p:xfrm>
          <a:off x="5218114" y="5457763"/>
          <a:ext cx="1096962" cy="393700"/>
        </p:xfrm>
        <a:graphic>
          <a:graphicData uri="http://schemas.openxmlformats.org/presentationml/2006/ole">
            <mc:AlternateContent xmlns:mc="http://schemas.openxmlformats.org/markup-compatibility/2006">
              <mc:Choice xmlns:v="urn:schemas-microsoft-com:vml" Requires="v">
                <p:oleObj name="Equation" r:id="rId5" imgW="494870" imgH="177646" progId="Equation.3">
                  <p:embed/>
                </p:oleObj>
              </mc:Choice>
              <mc:Fallback>
                <p:oleObj name="Equation" r:id="rId5" imgW="494870" imgH="177646" progId="Equation.3">
                  <p:embed/>
                  <p:pic>
                    <p:nvPicPr>
                      <p:cNvPr id="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8114" y="5457763"/>
                        <a:ext cx="10969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7272806" y="5503838"/>
          <a:ext cx="918049" cy="396799"/>
        </p:xfrm>
        <a:graphic>
          <a:graphicData uri="http://schemas.openxmlformats.org/presentationml/2006/ole">
            <mc:AlternateContent xmlns:mc="http://schemas.openxmlformats.org/markup-compatibility/2006">
              <mc:Choice xmlns:v="urn:schemas-microsoft-com:vml" Requires="v">
                <p:oleObj name="Equation" r:id="rId7" imgW="380835" imgH="165028" progId="Equation.3">
                  <p:embed/>
                </p:oleObj>
              </mc:Choice>
              <mc:Fallback>
                <p:oleObj name="Equation" r:id="rId7" imgW="380835" imgH="165028" progId="Equation.3">
                  <p:embed/>
                  <p:pic>
                    <p:nvPicPr>
                      <p:cNvPr id="1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72806" y="5503838"/>
                        <a:ext cx="918049" cy="396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3"/>
          <p:cNvSpPr txBox="1">
            <a:spLocks noChangeArrowheads="1"/>
          </p:cNvSpPr>
          <p:nvPr/>
        </p:nvSpPr>
        <p:spPr bwMode="auto">
          <a:xfrm>
            <a:off x="6494649" y="5469947"/>
            <a:ext cx="65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1800" dirty="0">
                <a:solidFill>
                  <a:srgbClr val="000000"/>
                </a:solidFill>
                <a:latin typeface="Arial Unicode MS" pitchFamily="34" charset="-122"/>
                <a:ea typeface="Arial Unicode MS" pitchFamily="34" charset="-122"/>
                <a:cs typeface="Arial Unicode MS" pitchFamily="34" charset="-122"/>
              </a:rPr>
              <a:t>And</a:t>
            </a:r>
            <a:r>
              <a:rPr lang="en-US" altLang="zh-CN" sz="1600" dirty="0">
                <a:solidFill>
                  <a:srgbClr val="000000"/>
                </a:solidFill>
                <a:latin typeface="Arial Unicode MS" pitchFamily="34" charset="-122"/>
                <a:ea typeface="Arial Unicode MS" pitchFamily="34" charset="-122"/>
                <a:cs typeface="Arial Unicode MS" pitchFamily="34" charset="-122"/>
              </a:rPr>
              <a:t> </a:t>
            </a:r>
          </a:p>
        </p:txBody>
      </p:sp>
      <p:sp>
        <p:nvSpPr>
          <p:cNvPr id="12" name="矩形 11"/>
          <p:cNvSpPr/>
          <p:nvPr/>
        </p:nvSpPr>
        <p:spPr>
          <a:xfrm>
            <a:off x="167865" y="200527"/>
            <a:ext cx="4105611" cy="523220"/>
          </a:xfrm>
          <a:prstGeom prst="rect">
            <a:avLst/>
          </a:prstGeom>
        </p:spPr>
        <p:txBody>
          <a:bodyPr wrap="none">
            <a:spAutoFit/>
          </a:bodyPr>
          <a:lstStyle/>
          <a:p>
            <a:r>
              <a:rPr lang="en-US" altLang="zh-CN" sz="2800" b="1" dirty="0">
                <a:solidFill>
                  <a:srgbClr val="FF0000"/>
                </a:solidFill>
                <a:latin typeface="Arial Unicode MS" pitchFamily="34" charset="-122"/>
                <a:ea typeface="Arial Unicode MS" pitchFamily="34" charset="-122"/>
                <a:cs typeface="Arial Unicode MS" pitchFamily="34" charset="-122"/>
              </a:rPr>
              <a:t>Energy conservation law</a:t>
            </a:r>
            <a:endParaRPr lang="zh-CN" altLang="en-US" sz="2800" dirty="0"/>
          </a:p>
        </p:txBody>
      </p:sp>
      <p:sp>
        <p:nvSpPr>
          <p:cNvPr id="13" name="文本框 12">
            <a:extLst>
              <a:ext uri="{FF2B5EF4-FFF2-40B4-BE49-F238E27FC236}">
                <a16:creationId xmlns:a16="http://schemas.microsoft.com/office/drawing/2014/main" id="{5DD95EE9-A53F-48A5-8810-95C08ED9EA65}"/>
              </a:ext>
            </a:extLst>
          </p:cNvPr>
          <p:cNvSpPr txBox="1"/>
          <p:nvPr/>
        </p:nvSpPr>
        <p:spPr>
          <a:xfrm>
            <a:off x="6510806" y="1034534"/>
            <a:ext cx="1524000" cy="369332"/>
          </a:xfrm>
          <a:prstGeom prst="rect">
            <a:avLst/>
          </a:prstGeom>
          <a:noFill/>
        </p:spPr>
        <p:txBody>
          <a:bodyPr wrap="square" rtlCol="0">
            <a:spAutoFit/>
          </a:bodyPr>
          <a:lstStyle/>
          <a:p>
            <a:r>
              <a:rPr lang="en-US" altLang="zh-CN" b="1" dirty="0">
                <a:solidFill>
                  <a:srgbClr val="7030A0"/>
                </a:solidFill>
              </a:rPr>
              <a:t>Quiz 1</a:t>
            </a:r>
            <a:r>
              <a:rPr lang="zh-CN" altLang="en-US" b="1" dirty="0">
                <a:solidFill>
                  <a:srgbClr val="7030A0"/>
                </a:solidFill>
              </a:rPr>
              <a:t>：</a:t>
            </a:r>
            <a:r>
              <a:rPr lang="en-US" altLang="zh-CN" b="1" dirty="0">
                <a:solidFill>
                  <a:srgbClr val="7030A0"/>
                </a:solidFill>
              </a:rPr>
              <a:t>2</a:t>
            </a:r>
            <a:endParaRPr lang="zh-CN" altLang="en-US" b="1" dirty="0">
              <a:solidFill>
                <a:srgbClr val="7030A0"/>
              </a:solidFill>
            </a:endParaRPr>
          </a:p>
        </p:txBody>
      </p:sp>
    </p:spTree>
    <p:extLst>
      <p:ext uri="{BB962C8B-B14F-4D97-AF65-F5344CB8AC3E}">
        <p14:creationId xmlns:p14="http://schemas.microsoft.com/office/powerpoint/2010/main" val="3968338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181225"/>
            <a:ext cx="18669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2667000" y="1600200"/>
            <a:ext cx="2706703" cy="369332"/>
          </a:xfrm>
          <a:prstGeom prst="rect">
            <a:avLst/>
          </a:prstGeom>
        </p:spPr>
        <p:txBody>
          <a:bodyPr wrap="none">
            <a:spAutoFit/>
          </a:bodyPr>
          <a:lstStyle/>
          <a:p>
            <a:r>
              <a:rPr lang="en-US" altLang="zh-CN" b="1" dirty="0">
                <a:latin typeface="Arial" panose="020B0604020202020204" pitchFamily="34" charset="0"/>
                <a:cs typeface="Arial" panose="020B0604020202020204" pitchFamily="34" charset="0"/>
              </a:rPr>
              <a:t>Constant Volume Proc.</a:t>
            </a:r>
            <a:endParaRPr lang="zh-CN" altLang="en-US" dirty="0"/>
          </a:p>
        </p:txBody>
      </p:sp>
      <p:graphicFrame>
        <p:nvGraphicFramePr>
          <p:cNvPr id="12" name="对象 11"/>
          <p:cNvGraphicFramePr>
            <a:graphicFrameLocks noChangeAspect="1"/>
          </p:cNvGraphicFramePr>
          <p:nvPr/>
        </p:nvGraphicFramePr>
        <p:xfrm>
          <a:off x="304800" y="1621354"/>
          <a:ext cx="1730375" cy="468312"/>
        </p:xfrm>
        <a:graphic>
          <a:graphicData uri="http://schemas.openxmlformats.org/presentationml/2006/ole">
            <mc:AlternateContent xmlns:mc="http://schemas.openxmlformats.org/markup-compatibility/2006">
              <mc:Choice xmlns:v="urn:schemas-microsoft-com:vml" Requires="v">
                <p:oleObj name="公式" r:id="rId3" imgW="736560" imgH="203040" progId="Equation.3">
                  <p:embed/>
                </p:oleObj>
              </mc:Choice>
              <mc:Fallback>
                <p:oleObj name="公式" r:id="rId3" imgW="736560" imgH="203040" progId="Equation.3">
                  <p:embed/>
                  <p:pic>
                    <p:nvPicPr>
                      <p:cNvPr id="12" name="对象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621354"/>
                        <a:ext cx="1730375" cy="46831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5638800" y="1524000"/>
            <a:ext cx="1268296" cy="369332"/>
          </a:xfrm>
          <a:prstGeom prst="rect">
            <a:avLst/>
          </a:prstGeom>
          <a:noFill/>
          <a:ln>
            <a:solidFill>
              <a:schemeClr val="accent1"/>
            </a:solidFill>
          </a:ln>
        </p:spPr>
        <p:txBody>
          <a:bodyPr wrap="none" rtlCol="0">
            <a:spAutoFit/>
          </a:bodyPr>
          <a:lstStyle/>
          <a:p>
            <a:r>
              <a:rPr lang="en-US" altLang="zh-CN" dirty="0">
                <a:latin typeface="Times New Roman"/>
                <a:cs typeface="Times New Roman"/>
              </a:rPr>
              <a:t>w=0</a:t>
            </a:r>
            <a:r>
              <a:rPr lang="en-US" altLang="zh-CN" dirty="0"/>
              <a:t>, </a:t>
            </a:r>
            <a:r>
              <a:rPr lang="en-US" altLang="zh-CN" dirty="0">
                <a:latin typeface="Times New Roman"/>
                <a:cs typeface="Times New Roman"/>
              </a:rPr>
              <a:t>q=</a:t>
            </a:r>
            <a:r>
              <a:rPr lang="el-GR" altLang="zh-CN" dirty="0">
                <a:latin typeface="Times New Roman"/>
                <a:cs typeface="Times New Roman"/>
              </a:rPr>
              <a:t>Δ</a:t>
            </a:r>
            <a:r>
              <a:rPr lang="en-US" altLang="zh-CN" dirty="0">
                <a:latin typeface="Times New Roman"/>
                <a:cs typeface="Times New Roman"/>
              </a:rPr>
              <a:t>U</a:t>
            </a:r>
            <a:endParaRPr lang="zh-CN" altLang="en-US" dirty="0"/>
          </a:p>
        </p:txBody>
      </p:sp>
      <p:sp>
        <p:nvSpPr>
          <p:cNvPr id="16" name="矩形 15"/>
          <p:cNvSpPr/>
          <p:nvPr/>
        </p:nvSpPr>
        <p:spPr>
          <a:xfrm>
            <a:off x="2662962" y="2221468"/>
            <a:ext cx="2518638" cy="369332"/>
          </a:xfrm>
          <a:prstGeom prst="rect">
            <a:avLst/>
          </a:prstGeom>
        </p:spPr>
        <p:txBody>
          <a:bodyPr wrap="none">
            <a:spAutoFit/>
          </a:bodyPr>
          <a:lstStyle/>
          <a:p>
            <a:r>
              <a:rPr lang="en-US" altLang="zh-CN" b="1" dirty="0">
                <a:latin typeface="Arial" panose="020B0604020202020204" pitchFamily="34" charset="0"/>
                <a:cs typeface="Arial" panose="020B0604020202020204" pitchFamily="34" charset="0"/>
              </a:rPr>
              <a:t>Constant Press Proc.</a:t>
            </a:r>
            <a:endParaRPr lang="zh-CN" altLang="en-US" dirty="0"/>
          </a:p>
        </p:txBody>
      </p:sp>
      <p:sp>
        <p:nvSpPr>
          <p:cNvPr id="18" name="矩形 17"/>
          <p:cNvSpPr/>
          <p:nvPr/>
        </p:nvSpPr>
        <p:spPr>
          <a:xfrm>
            <a:off x="5638800" y="2057400"/>
            <a:ext cx="1859805" cy="646331"/>
          </a:xfrm>
          <a:prstGeom prst="rect">
            <a:avLst/>
          </a:prstGeom>
          <a:noFill/>
          <a:ln>
            <a:solidFill>
              <a:schemeClr val="accent1"/>
            </a:solidFill>
          </a:ln>
        </p:spPr>
        <p:txBody>
          <a:bodyPr wrap="none">
            <a:spAutoFit/>
          </a:bodyPr>
          <a:lstStyle/>
          <a:p>
            <a:r>
              <a:rPr lang="en-US" altLang="zh-CN" dirty="0"/>
              <a:t>w=P(V</a:t>
            </a:r>
            <a:r>
              <a:rPr lang="en-US" altLang="zh-CN" baseline="-25000" dirty="0"/>
              <a:t>2</a:t>
            </a:r>
            <a:r>
              <a:rPr lang="en-US" altLang="zh-CN" dirty="0"/>
              <a:t>-V</a:t>
            </a:r>
            <a:r>
              <a:rPr lang="en-US" altLang="zh-CN" baseline="-25000" dirty="0"/>
              <a:t>1</a:t>
            </a:r>
            <a:r>
              <a:rPr lang="en-US" altLang="zh-CN" dirty="0"/>
              <a:t>),</a:t>
            </a:r>
            <a:endParaRPr lang="zh-CN" altLang="en-US" dirty="0"/>
          </a:p>
          <a:p>
            <a:r>
              <a:rPr lang="en-US" altLang="zh-CN" dirty="0"/>
              <a:t>q – P(V</a:t>
            </a:r>
            <a:r>
              <a:rPr lang="en-US" altLang="zh-CN" baseline="-25000" dirty="0"/>
              <a:t>2</a:t>
            </a:r>
            <a:r>
              <a:rPr lang="en-US" altLang="zh-CN" dirty="0"/>
              <a:t> – V</a:t>
            </a:r>
            <a:r>
              <a:rPr lang="en-US" altLang="zh-CN" baseline="-25000" dirty="0"/>
              <a:t>1</a:t>
            </a:r>
            <a:r>
              <a:rPr lang="en-US" altLang="zh-CN" dirty="0"/>
              <a:t>)=</a:t>
            </a:r>
            <a:r>
              <a:rPr lang="el-GR" altLang="zh-CN" dirty="0">
                <a:latin typeface="Times New Roman"/>
                <a:cs typeface="Times New Roman"/>
              </a:rPr>
              <a:t>Δ</a:t>
            </a:r>
            <a:r>
              <a:rPr lang="en-US" altLang="zh-CN" dirty="0">
                <a:latin typeface="Times New Roman"/>
                <a:cs typeface="Times New Roman"/>
              </a:rPr>
              <a:t>U</a:t>
            </a:r>
            <a:endParaRPr lang="en-US" altLang="zh-CN" dirty="0"/>
          </a:p>
        </p:txBody>
      </p:sp>
      <p:graphicFrame>
        <p:nvGraphicFramePr>
          <p:cNvPr id="17" name="对象 16"/>
          <p:cNvGraphicFramePr>
            <a:graphicFrameLocks noChangeAspect="1"/>
          </p:cNvGraphicFramePr>
          <p:nvPr/>
        </p:nvGraphicFramePr>
        <p:xfrm>
          <a:off x="5638800" y="2784990"/>
          <a:ext cx="2646363" cy="1019175"/>
        </p:xfrm>
        <a:graphic>
          <a:graphicData uri="http://schemas.openxmlformats.org/presentationml/2006/ole">
            <mc:AlternateContent xmlns:mc="http://schemas.openxmlformats.org/markup-compatibility/2006">
              <mc:Choice xmlns:v="urn:schemas-microsoft-com:vml" Requires="v">
                <p:oleObj name="Equation" r:id="rId5" imgW="1714320" imgH="660240" progId="Equation.DSMT4">
                  <p:embed/>
                </p:oleObj>
              </mc:Choice>
              <mc:Fallback>
                <p:oleObj name="Equation" r:id="rId5" imgW="1714320" imgH="660240" progId="Equation.DSMT4">
                  <p:embed/>
                  <p:pic>
                    <p:nvPicPr>
                      <p:cNvPr id="17" name="对象 16"/>
                      <p:cNvPicPr>
                        <a:picLocks noChangeAspect="1" noChangeArrowheads="1"/>
                      </p:cNvPicPr>
                      <p:nvPr/>
                    </p:nvPicPr>
                    <p:blipFill>
                      <a:blip r:embed="rId6"/>
                      <a:srcRect/>
                      <a:stretch>
                        <a:fillRect/>
                      </a:stretch>
                    </p:blipFill>
                    <p:spPr bwMode="auto">
                      <a:xfrm>
                        <a:off x="5638800" y="2784990"/>
                        <a:ext cx="2646363" cy="1019175"/>
                      </a:xfrm>
                      <a:prstGeom prst="rect">
                        <a:avLst/>
                      </a:prstGeom>
                      <a:noFill/>
                      <a:ln>
                        <a:solidFill>
                          <a:schemeClr val="accent1"/>
                        </a:solidFill>
                      </a:ln>
                    </p:spPr>
                  </p:pic>
                </p:oleObj>
              </mc:Fallback>
            </mc:AlternateContent>
          </a:graphicData>
        </a:graphic>
      </p:graphicFrame>
      <p:sp>
        <p:nvSpPr>
          <p:cNvPr id="19" name="矩形 18"/>
          <p:cNvSpPr/>
          <p:nvPr/>
        </p:nvSpPr>
        <p:spPr>
          <a:xfrm>
            <a:off x="2590800" y="3109912"/>
            <a:ext cx="3087127" cy="369332"/>
          </a:xfrm>
          <a:prstGeom prst="rect">
            <a:avLst/>
          </a:prstGeom>
        </p:spPr>
        <p:txBody>
          <a:bodyPr wrap="none">
            <a:spAutoFit/>
          </a:bodyPr>
          <a:lstStyle/>
          <a:p>
            <a:r>
              <a:rPr lang="en-US" altLang="zh-CN" b="1" dirty="0">
                <a:effectLst>
                  <a:outerShdw blurRad="38100" dist="38100" dir="2700000" algn="tl">
                    <a:srgbClr val="000000">
                      <a:alpha val="43137"/>
                    </a:srgbClr>
                  </a:outerShdw>
                </a:effectLst>
                <a:latin typeface="Arial" charset="0"/>
                <a:cs typeface="Arial" charset="0"/>
              </a:rPr>
              <a:t>Reversible Adiabatic Proc.</a:t>
            </a:r>
            <a:endParaRPr lang="zh-CN" altLang="en-US" dirty="0"/>
          </a:p>
        </p:txBody>
      </p:sp>
      <p:sp>
        <p:nvSpPr>
          <p:cNvPr id="22" name="矩形 21"/>
          <p:cNvSpPr/>
          <p:nvPr/>
        </p:nvSpPr>
        <p:spPr>
          <a:xfrm>
            <a:off x="2522383" y="4038600"/>
            <a:ext cx="3223959" cy="369332"/>
          </a:xfrm>
          <a:prstGeom prst="rect">
            <a:avLst/>
          </a:prstGeom>
        </p:spPr>
        <p:txBody>
          <a:bodyPr wrap="none">
            <a:spAutoFit/>
          </a:bodyPr>
          <a:lstStyle/>
          <a:p>
            <a:r>
              <a:rPr lang="en-US" altLang="zh-CN" b="1" dirty="0">
                <a:effectLst>
                  <a:outerShdw blurRad="38100" dist="38100" dir="2700000" algn="tl">
                    <a:srgbClr val="000000">
                      <a:alpha val="43137"/>
                    </a:srgbClr>
                  </a:outerShdw>
                </a:effectLst>
                <a:latin typeface="Arial" charset="0"/>
                <a:cs typeface="Arial" charset="0"/>
              </a:rPr>
              <a:t>Reversible Isothermal Proc.</a:t>
            </a:r>
            <a:endParaRPr lang="zh-CN" altLang="en-US" dirty="0"/>
          </a:p>
        </p:txBody>
      </p:sp>
      <p:graphicFrame>
        <p:nvGraphicFramePr>
          <p:cNvPr id="24" name="对象 23"/>
          <p:cNvGraphicFramePr>
            <a:graphicFrameLocks noChangeAspect="1"/>
          </p:cNvGraphicFramePr>
          <p:nvPr/>
        </p:nvGraphicFramePr>
        <p:xfrm>
          <a:off x="5695950" y="3962400"/>
          <a:ext cx="2914650" cy="985837"/>
        </p:xfrm>
        <a:graphic>
          <a:graphicData uri="http://schemas.openxmlformats.org/presentationml/2006/ole">
            <mc:AlternateContent xmlns:mc="http://schemas.openxmlformats.org/markup-compatibility/2006">
              <mc:Choice xmlns:v="urn:schemas-microsoft-com:vml" Requires="v">
                <p:oleObj name="Equation" r:id="rId7" imgW="1955520" imgH="660240" progId="Equation.DSMT4">
                  <p:embed/>
                </p:oleObj>
              </mc:Choice>
              <mc:Fallback>
                <p:oleObj name="Equation" r:id="rId7" imgW="1955520" imgH="660240" progId="Equation.DSMT4">
                  <p:embed/>
                  <p:pic>
                    <p:nvPicPr>
                      <p:cNvPr id="24" name="对象 23"/>
                      <p:cNvPicPr>
                        <a:picLocks noChangeAspect="1" noChangeArrowheads="1"/>
                      </p:cNvPicPr>
                      <p:nvPr/>
                    </p:nvPicPr>
                    <p:blipFill>
                      <a:blip r:embed="rId8"/>
                      <a:srcRect/>
                      <a:stretch>
                        <a:fillRect/>
                      </a:stretch>
                    </p:blipFill>
                    <p:spPr bwMode="auto">
                      <a:xfrm>
                        <a:off x="5695950" y="3962400"/>
                        <a:ext cx="2914650" cy="985837"/>
                      </a:xfrm>
                      <a:prstGeom prst="rect">
                        <a:avLst/>
                      </a:prstGeom>
                      <a:noFill/>
                      <a:ln>
                        <a:solidFill>
                          <a:schemeClr val="accent1"/>
                        </a:solidFill>
                      </a:ln>
                    </p:spPr>
                  </p:pic>
                </p:oleObj>
              </mc:Fallback>
            </mc:AlternateContent>
          </a:graphicData>
        </a:graphic>
      </p:graphicFrame>
      <p:sp>
        <p:nvSpPr>
          <p:cNvPr id="25" name="TextBox 24"/>
          <p:cNvSpPr txBox="1"/>
          <p:nvPr/>
        </p:nvSpPr>
        <p:spPr>
          <a:xfrm>
            <a:off x="1238250" y="5105400"/>
            <a:ext cx="6248399" cy="830997"/>
          </a:xfrm>
          <a:prstGeom prst="rect">
            <a:avLst/>
          </a:prstGeom>
          <a:noFill/>
        </p:spPr>
        <p:txBody>
          <a:bodyPr wrap="square" rtlCol="0">
            <a:spAutoFit/>
          </a:bodyPr>
          <a:lstStyle/>
          <a:p>
            <a:pPr algn="ctr"/>
            <a:r>
              <a:rPr lang="en-US" altLang="zh-CN" sz="2400" b="1" dirty="0">
                <a:solidFill>
                  <a:srgbClr val="0000FF"/>
                </a:solidFill>
              </a:rPr>
              <a:t>The amount of work generated from the heat highly depends on the process  </a:t>
            </a:r>
            <a:endParaRPr lang="zh-CN" altLang="en-US" sz="2400" b="1" dirty="0">
              <a:solidFill>
                <a:srgbClr val="0000FF"/>
              </a:solidFill>
            </a:endParaRPr>
          </a:p>
        </p:txBody>
      </p:sp>
      <p:sp>
        <p:nvSpPr>
          <p:cNvPr id="26" name="TextBox 25"/>
          <p:cNvSpPr txBox="1"/>
          <p:nvPr/>
        </p:nvSpPr>
        <p:spPr>
          <a:xfrm>
            <a:off x="253920" y="6077247"/>
            <a:ext cx="8217058" cy="400110"/>
          </a:xfrm>
          <a:prstGeom prst="rect">
            <a:avLst/>
          </a:prstGeom>
          <a:noFill/>
        </p:spPr>
        <p:txBody>
          <a:bodyPr wrap="none" rtlCol="0">
            <a:spAutoFit/>
          </a:bodyPr>
          <a:lstStyle/>
          <a:p>
            <a:r>
              <a:rPr lang="en-US" altLang="zh-CN" sz="2000" b="1" dirty="0">
                <a:solidFill>
                  <a:srgbClr val="FF0000"/>
                </a:solidFill>
              </a:rPr>
              <a:t>What’s the nature of the process involving the transfer from heat to work?</a:t>
            </a:r>
            <a:endParaRPr lang="zh-CN" altLang="en-US" sz="2000" b="1" dirty="0">
              <a:solidFill>
                <a:srgbClr val="FF0000"/>
              </a:solidFill>
            </a:endParaRPr>
          </a:p>
        </p:txBody>
      </p:sp>
      <p:sp>
        <p:nvSpPr>
          <p:cNvPr id="27" name="矩形 26"/>
          <p:cNvSpPr/>
          <p:nvPr/>
        </p:nvSpPr>
        <p:spPr>
          <a:xfrm>
            <a:off x="91909" y="21154"/>
            <a:ext cx="2430474"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Comparison</a:t>
            </a:r>
            <a:endParaRPr lang="zh-CN" altLang="en-US" sz="3200"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4019616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75E0BF7-E49E-4D07-B642-01507B8B3232}"/>
              </a:ext>
            </a:extLst>
          </p:cNvPr>
          <p:cNvSpPr txBox="1"/>
          <p:nvPr/>
        </p:nvSpPr>
        <p:spPr>
          <a:xfrm>
            <a:off x="304800" y="152400"/>
            <a:ext cx="2057400" cy="369332"/>
          </a:xfrm>
          <a:prstGeom prst="rect">
            <a:avLst/>
          </a:prstGeom>
          <a:noFill/>
        </p:spPr>
        <p:txBody>
          <a:bodyPr wrap="square" rtlCol="0">
            <a:spAutoFit/>
          </a:bodyPr>
          <a:lstStyle/>
          <a:p>
            <a:r>
              <a:rPr lang="en-US" altLang="zh-CN" b="1" dirty="0">
                <a:solidFill>
                  <a:srgbClr val="7030A0"/>
                </a:solidFill>
              </a:rPr>
              <a:t>Homework 1</a:t>
            </a:r>
            <a:r>
              <a:rPr lang="zh-CN" altLang="en-US" b="1" dirty="0">
                <a:solidFill>
                  <a:srgbClr val="7030A0"/>
                </a:solidFill>
              </a:rPr>
              <a:t>：</a:t>
            </a:r>
            <a:r>
              <a:rPr lang="en-US" altLang="zh-CN" b="1" dirty="0">
                <a:solidFill>
                  <a:srgbClr val="7030A0"/>
                </a:solidFill>
              </a:rPr>
              <a:t>5</a:t>
            </a:r>
            <a:endParaRPr lang="zh-CN" altLang="en-US" b="1" dirty="0">
              <a:solidFill>
                <a:srgbClr val="7030A0"/>
              </a:solidFill>
            </a:endParaRPr>
          </a:p>
        </p:txBody>
      </p:sp>
      <p:sp>
        <p:nvSpPr>
          <p:cNvPr id="5" name="文本框 4">
            <a:extLst>
              <a:ext uri="{FF2B5EF4-FFF2-40B4-BE49-F238E27FC236}">
                <a16:creationId xmlns:a16="http://schemas.microsoft.com/office/drawing/2014/main" id="{1A6CAF50-F085-4559-B5E6-98C721256E63}"/>
              </a:ext>
            </a:extLst>
          </p:cNvPr>
          <p:cNvSpPr txBox="1"/>
          <p:nvPr/>
        </p:nvSpPr>
        <p:spPr>
          <a:xfrm>
            <a:off x="304800" y="521732"/>
            <a:ext cx="8382000" cy="2835776"/>
          </a:xfrm>
          <a:prstGeom prst="rect">
            <a:avLst/>
          </a:prstGeom>
          <a:noFill/>
        </p:spPr>
        <p:txBody>
          <a:bodyPr wrap="square">
            <a:spAutoFit/>
          </a:bodyPr>
          <a:lstStyle/>
          <a:p>
            <a:pPr>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Ten moles of ideal gas, in the initial state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kern="100" baseline="-250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10 atm,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1800" kern="100" baseline="-250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300 K, are taken round the following cycle:</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 A reversible change of state along a straight line path on the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diagram to the state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1 atm,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300 K,</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 A reversible isobaric compression to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24.6 liters, and</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 A reversible constant volume process to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10 atm.</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How much work is done on or by the system during the cycle? Is this work done on the system or by the system?</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aphicFrame>
        <p:nvGraphicFramePr>
          <p:cNvPr id="6" name="对象 5">
            <a:extLst>
              <a:ext uri="{FF2B5EF4-FFF2-40B4-BE49-F238E27FC236}">
                <a16:creationId xmlns:a16="http://schemas.microsoft.com/office/drawing/2014/main" id="{87FE827B-EEC5-47EA-8D6B-A1FA75DD2443}"/>
              </a:ext>
            </a:extLst>
          </p:cNvPr>
          <p:cNvGraphicFramePr>
            <a:graphicFrameLocks noChangeAspect="1"/>
          </p:cNvGraphicFramePr>
          <p:nvPr>
            <p:extLst>
              <p:ext uri="{D42A27DB-BD31-4B8C-83A1-F6EECF244321}">
                <p14:modId xmlns:p14="http://schemas.microsoft.com/office/powerpoint/2010/main" val="2205870069"/>
              </p:ext>
            </p:extLst>
          </p:nvPr>
        </p:nvGraphicFramePr>
        <p:xfrm>
          <a:off x="457200" y="3357508"/>
          <a:ext cx="6824238" cy="3195692"/>
        </p:xfrm>
        <a:graphic>
          <a:graphicData uri="http://schemas.openxmlformats.org/presentationml/2006/ole">
            <mc:AlternateContent xmlns:mc="http://schemas.openxmlformats.org/markup-compatibility/2006">
              <mc:Choice xmlns:v="urn:schemas-microsoft-com:vml" Requires="v">
                <p:oleObj name="Equation" r:id="rId2" imgW="4380196" imgH="2051306" progId="Equation.DSMT4">
                  <p:embed/>
                </p:oleObj>
              </mc:Choice>
              <mc:Fallback>
                <p:oleObj name="Equation" r:id="rId2" imgW="4380196" imgH="2051306" progId="Equation.DSMT4">
                  <p:embed/>
                  <p:pic>
                    <p:nvPicPr>
                      <p:cNvPr id="6" name="对象 5">
                        <a:extLst>
                          <a:ext uri="{FF2B5EF4-FFF2-40B4-BE49-F238E27FC236}">
                            <a16:creationId xmlns:a16="http://schemas.microsoft.com/office/drawing/2014/main" id="{87FE827B-EEC5-47EA-8D6B-A1FA75DD2443}"/>
                          </a:ext>
                        </a:extLst>
                      </p:cNvPr>
                      <p:cNvPicPr/>
                      <p:nvPr/>
                    </p:nvPicPr>
                    <p:blipFill>
                      <a:blip r:embed="rId3"/>
                      <a:stretch>
                        <a:fillRect/>
                      </a:stretch>
                    </p:blipFill>
                    <p:spPr>
                      <a:xfrm>
                        <a:off x="457200" y="3357508"/>
                        <a:ext cx="6824238" cy="3195692"/>
                      </a:xfrm>
                      <a:prstGeom prst="rect">
                        <a:avLst/>
                      </a:prstGeom>
                    </p:spPr>
                  </p:pic>
                </p:oleObj>
              </mc:Fallback>
            </mc:AlternateContent>
          </a:graphicData>
        </a:graphic>
      </p:graphicFrame>
    </p:spTree>
    <p:extLst>
      <p:ext uri="{BB962C8B-B14F-4D97-AF65-F5344CB8AC3E}">
        <p14:creationId xmlns:p14="http://schemas.microsoft.com/office/powerpoint/2010/main" val="3842000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1000" y="222363"/>
            <a:ext cx="3391249" cy="646331"/>
          </a:xfrm>
          <a:prstGeom prst="rect">
            <a:avLst/>
          </a:prstGeom>
          <a:noFill/>
        </p:spPr>
        <p:txBody>
          <a:bodyPr wrap="none" rtlCol="0">
            <a:spAutoFit/>
          </a:bodyPr>
          <a:lstStyle/>
          <a:p>
            <a:r>
              <a:rPr lang="en-US" altLang="zh-CN" sz="3200" dirty="0" err="1">
                <a:solidFill>
                  <a:srgbClr val="FF0000"/>
                </a:solidFill>
              </a:rPr>
              <a:t>Polytropic</a:t>
            </a:r>
            <a:r>
              <a:rPr lang="en-US" altLang="zh-CN" sz="3600" dirty="0">
                <a:solidFill>
                  <a:srgbClr val="FF0000"/>
                </a:solidFill>
              </a:rPr>
              <a:t> process</a:t>
            </a:r>
            <a:endParaRPr lang="zh-CN" altLang="en-US" sz="3600" dirty="0">
              <a:solidFill>
                <a:srgbClr val="FF0000"/>
              </a:solidFill>
            </a:endParaRPr>
          </a:p>
        </p:txBody>
      </p:sp>
      <p:cxnSp>
        <p:nvCxnSpPr>
          <p:cNvPr id="7" name="直接箭头连接符 6"/>
          <p:cNvCxnSpPr/>
          <p:nvPr/>
        </p:nvCxnSpPr>
        <p:spPr>
          <a:xfrm flipV="1">
            <a:off x="1143000" y="2942968"/>
            <a:ext cx="24714" cy="2314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143000" y="5257800"/>
            <a:ext cx="27761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706395" y="3223054"/>
            <a:ext cx="311304" cy="369332"/>
          </a:xfrm>
          <a:prstGeom prst="rect">
            <a:avLst/>
          </a:prstGeom>
          <a:noFill/>
        </p:spPr>
        <p:txBody>
          <a:bodyPr wrap="none" rtlCol="0">
            <a:spAutoFit/>
          </a:bodyPr>
          <a:lstStyle/>
          <a:p>
            <a:r>
              <a:rPr lang="en-US" altLang="zh-CN" dirty="0"/>
              <a:t>P</a:t>
            </a:r>
            <a:endParaRPr lang="zh-CN" altLang="en-US" dirty="0"/>
          </a:p>
        </p:txBody>
      </p:sp>
      <p:sp>
        <p:nvSpPr>
          <p:cNvPr id="11" name="文本框 10"/>
          <p:cNvSpPr txBox="1"/>
          <p:nvPr/>
        </p:nvSpPr>
        <p:spPr>
          <a:xfrm>
            <a:off x="2219772" y="5369011"/>
            <a:ext cx="325730" cy="369332"/>
          </a:xfrm>
          <a:prstGeom prst="rect">
            <a:avLst/>
          </a:prstGeom>
          <a:noFill/>
        </p:spPr>
        <p:txBody>
          <a:bodyPr wrap="none" rtlCol="0">
            <a:spAutoFit/>
          </a:bodyPr>
          <a:lstStyle/>
          <a:p>
            <a:r>
              <a:rPr lang="en-US" altLang="zh-CN" dirty="0"/>
              <a:t>V</a:t>
            </a:r>
            <a:endParaRPr lang="zh-CN" altLang="en-US" dirty="0"/>
          </a:p>
        </p:txBody>
      </p:sp>
      <mc:AlternateContent xmlns:mc="http://schemas.openxmlformats.org/markup-compatibility/2006" xmlns:a14="http://schemas.microsoft.com/office/drawing/2010/main">
        <mc:Choice Requires="a14">
          <p:sp>
            <p:nvSpPr>
              <p:cNvPr id="12" name="矩形 11"/>
              <p:cNvSpPr/>
              <p:nvPr/>
            </p:nvSpPr>
            <p:spPr>
              <a:xfrm>
                <a:off x="4876800" y="3831110"/>
                <a:ext cx="3149372" cy="13408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sSup>
                        <m:sSupPr>
                          <m:ctrlPr>
                            <a:rPr lang="zh-CN" altLang="en-US" i="1">
                              <a:latin typeface="Cambria Math" panose="02040503050406030204" pitchFamily="18" charset="0"/>
                            </a:rPr>
                          </m:ctrlPr>
                        </m:sSupPr>
                        <m:e>
                          <m:r>
                            <a:rPr lang="zh-CN" altLang="en-US" i="1">
                              <a:latin typeface="Cambria Math" panose="02040503050406030204" pitchFamily="18" charset="0"/>
                            </a:rPr>
                            <m:t>𝑉</m:t>
                          </m:r>
                        </m:e>
                        <m:sup>
                          <m:r>
                            <a:rPr lang="zh-CN" altLang="en-US" i="1">
                              <a:latin typeface="Cambria Math" panose="02040503050406030204" pitchFamily="18" charset="0"/>
                            </a:rPr>
                            <m:t>𝑛</m:t>
                          </m:r>
                        </m:sup>
                      </m:sSup>
                      <m:r>
                        <a:rPr lang="zh-CN" altLang="en-US" i="0">
                          <a:latin typeface="Cambria Math" panose="02040503050406030204" pitchFamily="18" charset="0"/>
                        </a:rPr>
                        <m:t>=</m:t>
                      </m:r>
                      <m:r>
                        <a:rPr lang="zh-CN" altLang="en-US" i="1">
                          <a:latin typeface="Cambria Math" panose="02040503050406030204" pitchFamily="18" charset="0"/>
                        </a:rPr>
                        <m:t>𝐶</m:t>
                      </m:r>
                      <m:r>
                        <m:rPr>
                          <m:nor/>
                        </m:rPr>
                        <a:rPr lang="zh-CN" altLang="en-US" i="1">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sty m:val="p"/>
                                  </m:rPr>
                                  <a:rPr lang="en-US" altLang="zh-CN" i="1">
                                    <a:latin typeface="Cambria Math" panose="02040503050406030204" pitchFamily="18" charset="0"/>
                                  </a:rPr>
                                  <m:t>V</m:t>
                                </m:r>
                              </m:e>
                            </m:mr>
                            <m:mr>
                              <m:e>
                                <m:r>
                                  <a:rPr lang="zh-CN" altLang="en-US" i="1">
                                    <a:latin typeface="Cambria Math" panose="02040503050406030204" pitchFamily="18" charset="0"/>
                                  </a:rPr>
                                  <m:t>𝑛</m:t>
                                </m:r>
                                <m:r>
                                  <a:rPr lang="zh-CN" altLang="en-US" i="0">
                                    <a:latin typeface="Cambria Math" panose="02040503050406030204" pitchFamily="18" charset="0"/>
                                  </a:rPr>
                                  <m:t>=0,</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sty m:val="p"/>
                                  </m:rPr>
                                  <a:rPr lang="en-US" altLang="zh-CN" i="1">
                                    <a:latin typeface="Cambria Math" panose="02040503050406030204" pitchFamily="18" charset="0"/>
                                  </a:rPr>
                                  <m:t>P</m:t>
                                </m:r>
                              </m:e>
                            </m:mr>
                            <m:mr>
                              <m:e>
                                <m:r>
                                  <a:rPr lang="zh-CN" altLang="en-US" i="1">
                                    <a:latin typeface="Cambria Math" panose="02040503050406030204" pitchFamily="18" charset="0"/>
                                  </a:rPr>
                                  <m:t>𝑛</m:t>
                                </m:r>
                                <m:r>
                                  <a:rPr lang="zh-CN" altLang="en-US" i="0">
                                    <a:latin typeface="Cambria Math" panose="02040503050406030204" pitchFamily="18" charset="0"/>
                                  </a:rPr>
                                  <m:t>=1,</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nor/>
                                  </m:rPr>
                                  <a:rPr lang="zh-CN" altLang="en-US" i="1">
                                    <a:latin typeface="Cambria Math" panose="02040503050406030204" pitchFamily="18" charset="0"/>
                                  </a:rPr>
                                  <m:t>T</m:t>
                                </m:r>
                              </m:e>
                            </m:mr>
                            <m:mr>
                              <m:e>
                                <m:r>
                                  <m:rPr>
                                    <m:nor/>
                                  </m:rPr>
                                  <a:rPr lang="zh-CN" altLang="en-US" i="1">
                                    <a:latin typeface="Cambria Math" panose="02040503050406030204" pitchFamily="18" charset="0"/>
                                  </a:rPr>
                                  <m:t>n</m:t>
                                </m:r>
                                <m:r>
                                  <m:rPr>
                                    <m:nor/>
                                  </m:rPr>
                                  <a:rPr lang="zh-CN" altLang="en-US" i="1">
                                    <a:latin typeface="Cambria Math" panose="02040503050406030204" pitchFamily="18" charset="0"/>
                                  </a:rPr>
                                  <m:t>=</m:t>
                                </m:r>
                                <m:r>
                                  <a:rPr lang="zh-CN" altLang="en-US" i="1">
                                    <a:latin typeface="Cambria Math" panose="02040503050406030204" pitchFamily="18" charset="0"/>
                                  </a:rPr>
                                  <m:t>𝛾</m:t>
                                </m:r>
                                <m:r>
                                  <m:rPr>
                                    <m:nor/>
                                  </m:rPr>
                                  <a:rPr lang="zh-CN" altLang="en-US" i="1">
                                    <a:latin typeface="Cambria Math" panose="02040503050406030204" pitchFamily="18" charset="0"/>
                                  </a:rPr>
                                  <m:t>, </m:t>
                                </m:r>
                                <m:r>
                                  <m:rPr>
                                    <m:nor/>
                                  </m:rPr>
                                  <a:rPr lang="zh-CN" altLang="en-US" i="1">
                                    <a:latin typeface="Cambria Math" panose="02040503050406030204" pitchFamily="18" charset="0"/>
                                  </a:rPr>
                                  <m:t>const</m:t>
                                </m:r>
                                <m:r>
                                  <m:rPr>
                                    <m:nor/>
                                  </m:rPr>
                                  <a:rPr lang="zh-CN" altLang="en-US" i="1">
                                    <a:latin typeface="Cambria Math" panose="02040503050406030204" pitchFamily="18" charset="0"/>
                                  </a:rPr>
                                  <m:t> </m:t>
                                </m:r>
                                <m:r>
                                  <m:rPr>
                                    <m:nor/>
                                  </m:rPr>
                                  <a:rPr lang="zh-CN" altLang="en-US" i="1">
                                    <a:latin typeface="Cambria Math" panose="02040503050406030204" pitchFamily="18" charset="0"/>
                                  </a:rPr>
                                  <m:t>S</m:t>
                                </m:r>
                              </m:e>
                            </m:mr>
                          </m:m>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4876800" y="3831110"/>
                <a:ext cx="3149372" cy="1340880"/>
              </a:xfrm>
              <a:prstGeom prst="rect">
                <a:avLst/>
              </a:prstGeom>
              <a:blipFill rotWithShape="0">
                <a:blip r:embed="rId2"/>
                <a:stretch>
                  <a:fillRect/>
                </a:stretch>
              </a:blipFill>
            </p:spPr>
            <p:txBody>
              <a:bodyPr/>
              <a:lstStyle/>
              <a:p>
                <a:r>
                  <a:rPr lang="zh-CN" altLang="en-US">
                    <a:noFill/>
                  </a:rPr>
                  <a:t> </a:t>
                </a:r>
              </a:p>
            </p:txBody>
          </p:sp>
        </mc:Fallback>
      </mc:AlternateContent>
      <p:cxnSp>
        <p:nvCxnSpPr>
          <p:cNvPr id="3" name="直接连接符 2"/>
          <p:cNvCxnSpPr/>
          <p:nvPr/>
        </p:nvCxnSpPr>
        <p:spPr>
          <a:xfrm>
            <a:off x="1263744" y="3448734"/>
            <a:ext cx="1532237" cy="8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3148687" y="3800902"/>
            <a:ext cx="8237" cy="1345688"/>
          </a:xfrm>
          <a:prstGeom prst="line">
            <a:avLst/>
          </a:prstGeom>
        </p:spPr>
        <p:style>
          <a:lnRef idx="1">
            <a:schemeClr val="accent1"/>
          </a:lnRef>
          <a:fillRef idx="0">
            <a:schemeClr val="accent1"/>
          </a:fillRef>
          <a:effectRef idx="0">
            <a:schemeClr val="accent1"/>
          </a:effectRef>
          <a:fontRef idx="minor">
            <a:schemeClr val="tx1"/>
          </a:fontRef>
        </p:style>
      </p:cxnSp>
      <p:sp>
        <p:nvSpPr>
          <p:cNvPr id="8" name="任意多边形 7"/>
          <p:cNvSpPr/>
          <p:nvPr/>
        </p:nvSpPr>
        <p:spPr>
          <a:xfrm>
            <a:off x="1573314" y="3516696"/>
            <a:ext cx="1161535" cy="1482811"/>
          </a:xfrm>
          <a:custGeom>
            <a:avLst/>
            <a:gdLst>
              <a:gd name="connsiteX0" fmla="*/ 0 w 1161535"/>
              <a:gd name="connsiteY0" fmla="*/ 0 h 1482811"/>
              <a:gd name="connsiteX1" fmla="*/ 345989 w 1161535"/>
              <a:gd name="connsiteY1" fmla="*/ 782594 h 1482811"/>
              <a:gd name="connsiteX2" fmla="*/ 1161535 w 1161535"/>
              <a:gd name="connsiteY2" fmla="*/ 1482811 h 1482811"/>
            </a:gdLst>
            <a:ahLst/>
            <a:cxnLst>
              <a:cxn ang="0">
                <a:pos x="connsiteX0" y="connsiteY0"/>
              </a:cxn>
              <a:cxn ang="0">
                <a:pos x="connsiteX1" y="connsiteY1"/>
              </a:cxn>
              <a:cxn ang="0">
                <a:pos x="connsiteX2" y="connsiteY2"/>
              </a:cxn>
            </a:cxnLst>
            <a:rect l="l" t="t" r="r" b="b"/>
            <a:pathLst>
              <a:path w="1161535" h="1482811">
                <a:moveTo>
                  <a:pt x="0" y="0"/>
                </a:moveTo>
                <a:cubicBezTo>
                  <a:pt x="76200" y="267729"/>
                  <a:pt x="152400" y="535459"/>
                  <a:pt x="345989" y="782594"/>
                </a:cubicBezTo>
                <a:cubicBezTo>
                  <a:pt x="539578" y="1029729"/>
                  <a:pt x="850556" y="1256270"/>
                  <a:pt x="1161535" y="14828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1461021" y="3568182"/>
            <a:ext cx="684171" cy="1578408"/>
          </a:xfrm>
          <a:custGeom>
            <a:avLst/>
            <a:gdLst>
              <a:gd name="connsiteX0" fmla="*/ 0 w 1161535"/>
              <a:gd name="connsiteY0" fmla="*/ 0 h 1482811"/>
              <a:gd name="connsiteX1" fmla="*/ 345989 w 1161535"/>
              <a:gd name="connsiteY1" fmla="*/ 782594 h 1482811"/>
              <a:gd name="connsiteX2" fmla="*/ 1161535 w 1161535"/>
              <a:gd name="connsiteY2" fmla="*/ 1482811 h 1482811"/>
            </a:gdLst>
            <a:ahLst/>
            <a:cxnLst>
              <a:cxn ang="0">
                <a:pos x="connsiteX0" y="connsiteY0"/>
              </a:cxn>
              <a:cxn ang="0">
                <a:pos x="connsiteX1" y="connsiteY1"/>
              </a:cxn>
              <a:cxn ang="0">
                <a:pos x="connsiteX2" y="connsiteY2"/>
              </a:cxn>
            </a:cxnLst>
            <a:rect l="l" t="t" r="r" b="b"/>
            <a:pathLst>
              <a:path w="1161535" h="1482811">
                <a:moveTo>
                  <a:pt x="0" y="0"/>
                </a:moveTo>
                <a:cubicBezTo>
                  <a:pt x="76200" y="267729"/>
                  <a:pt x="152400" y="535459"/>
                  <a:pt x="345989" y="782594"/>
                </a:cubicBezTo>
                <a:cubicBezTo>
                  <a:pt x="539578" y="1029729"/>
                  <a:pt x="850556" y="1256270"/>
                  <a:pt x="1161535" y="14828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076624" y="1095645"/>
            <a:ext cx="4730782" cy="1200329"/>
          </a:xfrm>
          <a:prstGeom prst="rect">
            <a:avLst/>
          </a:prstGeom>
        </p:spPr>
        <p:txBody>
          <a:bodyPr wrap="none">
            <a:spAutoFit/>
          </a:bodyPr>
          <a:lstStyle/>
          <a:p>
            <a:pPr marL="285750" indent="-285750">
              <a:buFont typeface="Wingdings" panose="05000000000000000000" pitchFamily="2" charset="2"/>
              <a:buChar char="ü"/>
            </a:pPr>
            <a:r>
              <a:rPr lang="en-US" altLang="zh-CN" dirty="0">
                <a:solidFill>
                  <a:srgbClr val="0000FF"/>
                </a:solidFill>
                <a:latin typeface="Arial" charset="0"/>
                <a:cs typeface="Arial" charset="0"/>
              </a:rPr>
              <a:t>Constant Volume Process, V= 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Constant Pressure Process, P=const.</a:t>
            </a:r>
            <a:endParaRPr lang="zh-CN" altLang="en-US" dirty="0">
              <a:solidFill>
                <a:srgbClr val="0000FF"/>
              </a:solidFill>
            </a:endParaRP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Adiabatic Process, </a:t>
            </a:r>
            <a:r>
              <a:rPr lang="el-GR" altLang="zh-CN" dirty="0">
                <a:solidFill>
                  <a:srgbClr val="0000FF"/>
                </a:solidFill>
                <a:latin typeface="Times New Roman"/>
                <a:cs typeface="Times New Roman"/>
              </a:rPr>
              <a:t>δ</a:t>
            </a:r>
            <a:r>
              <a:rPr lang="en-US" altLang="zh-CN" dirty="0">
                <a:solidFill>
                  <a:srgbClr val="0000FF"/>
                </a:solidFill>
                <a:latin typeface="Arial" charset="0"/>
                <a:cs typeface="Arial" charset="0"/>
              </a:rPr>
              <a:t>q=const.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Isothermal Process, </a:t>
            </a:r>
            <a:r>
              <a:rPr lang="el-GR" altLang="zh-CN" dirty="0">
                <a:solidFill>
                  <a:srgbClr val="0000FF"/>
                </a:solidFill>
                <a:latin typeface="Times New Roman"/>
                <a:cs typeface="Times New Roman"/>
              </a:rPr>
              <a:t>δ</a:t>
            </a:r>
            <a:r>
              <a:rPr lang="en-US" altLang="zh-CN" dirty="0">
                <a:solidFill>
                  <a:srgbClr val="0000FF"/>
                </a:solidFill>
                <a:latin typeface="Times New Roman"/>
                <a:cs typeface="Times New Roman"/>
              </a:rPr>
              <a:t>T</a:t>
            </a:r>
            <a:r>
              <a:rPr lang="en-US" altLang="zh-CN" dirty="0">
                <a:solidFill>
                  <a:srgbClr val="0000FF"/>
                </a:solidFill>
                <a:latin typeface="Arial" charset="0"/>
                <a:cs typeface="Arial" charset="0"/>
              </a:rPr>
              <a:t>=const.</a:t>
            </a:r>
            <a:endParaRPr lang="zh-CN" altLang="en-US" dirty="0">
              <a:solidFill>
                <a:srgbClr val="0000FF"/>
              </a:solidFill>
            </a:endParaRPr>
          </a:p>
        </p:txBody>
      </p:sp>
      <p:sp>
        <p:nvSpPr>
          <p:cNvPr id="15" name="文本框 14">
            <a:extLst>
              <a:ext uri="{FF2B5EF4-FFF2-40B4-BE49-F238E27FC236}">
                <a16:creationId xmlns:a16="http://schemas.microsoft.com/office/drawing/2014/main" id="{4746D5BC-C687-4306-B123-2B9B113F4DD1}"/>
              </a:ext>
            </a:extLst>
          </p:cNvPr>
          <p:cNvSpPr txBox="1"/>
          <p:nvPr/>
        </p:nvSpPr>
        <p:spPr>
          <a:xfrm>
            <a:off x="5126760" y="5171990"/>
            <a:ext cx="1524000" cy="369332"/>
          </a:xfrm>
          <a:prstGeom prst="rect">
            <a:avLst/>
          </a:prstGeom>
          <a:noFill/>
        </p:spPr>
        <p:txBody>
          <a:bodyPr wrap="square" rtlCol="0">
            <a:spAutoFit/>
          </a:bodyPr>
          <a:lstStyle/>
          <a:p>
            <a:r>
              <a:rPr lang="en-US" altLang="zh-CN" b="1" dirty="0">
                <a:solidFill>
                  <a:srgbClr val="7030A0"/>
                </a:solidFill>
              </a:rPr>
              <a:t>Quiz 1</a:t>
            </a:r>
            <a:r>
              <a:rPr lang="zh-CN" altLang="en-US" b="1" dirty="0">
                <a:solidFill>
                  <a:srgbClr val="7030A0"/>
                </a:solidFill>
              </a:rPr>
              <a:t>：</a:t>
            </a:r>
            <a:r>
              <a:rPr lang="en-US" altLang="zh-CN" b="1" dirty="0">
                <a:solidFill>
                  <a:srgbClr val="7030A0"/>
                </a:solidFill>
              </a:rPr>
              <a:t>4</a:t>
            </a:r>
            <a:endParaRPr lang="zh-CN" altLang="en-US" b="1" dirty="0">
              <a:solidFill>
                <a:srgbClr val="7030A0"/>
              </a:solidFill>
            </a:endParaRPr>
          </a:p>
        </p:txBody>
      </p:sp>
    </p:spTree>
    <p:extLst>
      <p:ext uri="{BB962C8B-B14F-4D97-AF65-F5344CB8AC3E}">
        <p14:creationId xmlns:p14="http://schemas.microsoft.com/office/powerpoint/2010/main" val="674327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9800" y="3437398"/>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圆角矩形 6"/>
          <p:cNvSpPr/>
          <p:nvPr/>
        </p:nvSpPr>
        <p:spPr>
          <a:xfrm>
            <a:off x="1063916" y="3437398"/>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7"/>
          <p:cNvSpPr/>
          <p:nvPr/>
        </p:nvSpPr>
        <p:spPr>
          <a:xfrm>
            <a:off x="4774200" y="3437398"/>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TextBox 9"/>
          <p:cNvSpPr txBox="1"/>
          <p:nvPr/>
        </p:nvSpPr>
        <p:spPr>
          <a:xfrm>
            <a:off x="1219200" y="2602300"/>
            <a:ext cx="6053580"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dirty="0">
                <a:solidFill>
                  <a:srgbClr val="FF0000"/>
                </a:solidFill>
              </a:rPr>
              <a:t>3. Latent heat and Specific heat</a:t>
            </a:r>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165869"/>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106396" y="4038600"/>
            <a:ext cx="3647152" cy="800219"/>
          </a:xfrm>
          <a:prstGeom prst="rect">
            <a:avLst/>
          </a:prstGeom>
        </p:spPr>
        <p:txBody>
          <a:bodyPr wrap="none">
            <a:spAutoFit/>
          </a:bodyPr>
          <a:lstStyle/>
          <a:p>
            <a:pPr>
              <a:spcAft>
                <a:spcPts val="1200"/>
              </a:spcAft>
            </a:pPr>
            <a:r>
              <a:rPr lang="en-US" altLang="zh-CN" dirty="0"/>
              <a:t>Chapter 1 </a:t>
            </a:r>
          </a:p>
          <a:p>
            <a:pPr>
              <a:spcAft>
                <a:spcPts val="1200"/>
              </a:spcAft>
            </a:pPr>
            <a:r>
              <a:rPr lang="zh-CN" altLang="en-US" dirty="0"/>
              <a:t>热力学，王竹溪，北京大学出版社</a:t>
            </a:r>
            <a:endParaRPr lang="en-US" altLang="zh-CN" dirty="0"/>
          </a:p>
        </p:txBody>
      </p:sp>
      <p:sp>
        <p:nvSpPr>
          <p:cNvPr id="9" name="矩形 8"/>
          <p:cNvSpPr/>
          <p:nvPr/>
        </p:nvSpPr>
        <p:spPr>
          <a:xfrm>
            <a:off x="1140515" y="4838819"/>
            <a:ext cx="7546684" cy="1231106"/>
          </a:xfrm>
          <a:prstGeom prst="rect">
            <a:avLst/>
          </a:prstGeom>
        </p:spPr>
        <p:txBody>
          <a:bodyPr wrap="square">
            <a:spAutoFit/>
          </a:bodyPr>
          <a:lstStyle/>
          <a:p>
            <a:pPr>
              <a:spcAft>
                <a:spcPts val="1200"/>
              </a:spcAft>
            </a:pPr>
            <a:r>
              <a:rPr lang="en-US" altLang="zh-CN" b="1" dirty="0"/>
              <a:t>Chapter 2.6</a:t>
            </a:r>
          </a:p>
          <a:p>
            <a:pPr>
              <a:spcAft>
                <a:spcPts val="1200"/>
              </a:spcAft>
            </a:pPr>
            <a:r>
              <a:rPr lang="en-US" altLang="zh-CN" b="1" dirty="0"/>
              <a:t>Introduction to the thermodynamics of materials</a:t>
            </a:r>
            <a:r>
              <a:rPr lang="en-US" altLang="zh-CN" dirty="0"/>
              <a:t>, </a:t>
            </a:r>
          </a:p>
          <a:p>
            <a:pPr>
              <a:spcAft>
                <a:spcPts val="1200"/>
              </a:spcAft>
            </a:pPr>
            <a:r>
              <a:rPr lang="en-US" altLang="zh-CN" dirty="0"/>
              <a:t>6</a:t>
            </a:r>
            <a:r>
              <a:rPr lang="en-US" altLang="zh-CN" baseline="30000" dirty="0"/>
              <a:t>th</a:t>
            </a:r>
            <a:r>
              <a:rPr lang="en-US" altLang="zh-CN" dirty="0"/>
              <a:t> edition, by David R. Gaskell, </a:t>
            </a:r>
            <a:r>
              <a:rPr lang="en-US" altLang="zh-CN" dirty="0" err="1"/>
              <a:t>Talor</a:t>
            </a:r>
            <a:r>
              <a:rPr lang="en-US" altLang="zh-CN" dirty="0"/>
              <a:t> &amp; Francis Press, 2018</a:t>
            </a:r>
          </a:p>
        </p:txBody>
      </p:sp>
    </p:spTree>
    <p:extLst>
      <p:ext uri="{BB962C8B-B14F-4D97-AF65-F5344CB8AC3E}">
        <p14:creationId xmlns:p14="http://schemas.microsoft.com/office/powerpoint/2010/main" val="3661231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5662"/>
            <a:ext cx="6457950" cy="1244601"/>
          </a:xfrm>
        </p:spPr>
        <p:txBody>
          <a:bodyPr>
            <a:normAutofit/>
          </a:bodyPr>
          <a:lstStyle/>
          <a:p>
            <a:pPr algn="l"/>
            <a:r>
              <a:rPr lang="en-US" sz="3600" i="1" dirty="0">
                <a:solidFill>
                  <a:srgbClr val="FF0000"/>
                </a:solidFill>
                <a:latin typeface="Arial" charset="0"/>
                <a:cs typeface="Arial" charset="0"/>
              </a:rPr>
              <a:t>Heat Capacity</a:t>
            </a:r>
            <a:endParaRPr lang="en-US" sz="3600" i="1" baseline="-250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Text Box 4"/>
          <p:cNvSpPr txBox="1">
            <a:spLocks noChangeArrowheads="1"/>
          </p:cNvSpPr>
          <p:nvPr/>
        </p:nvSpPr>
        <p:spPr bwMode="auto">
          <a:xfrm>
            <a:off x="414337" y="1360203"/>
            <a:ext cx="847248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u="sng" dirty="0">
                <a:solidFill>
                  <a:srgbClr val="FF0000"/>
                </a:solidFill>
                <a:latin typeface="Arial" charset="0"/>
                <a:ea typeface="宋体" charset="-122"/>
              </a:rPr>
              <a:t>Heat Capacity (C): </a:t>
            </a:r>
            <a:r>
              <a:rPr lang="en-US" altLang="zh-CN" sz="2000" b="1" dirty="0">
                <a:solidFill>
                  <a:srgbClr val="000000"/>
                </a:solidFill>
                <a:latin typeface="Arial" charset="0"/>
                <a:ea typeface="宋体" charset="-122"/>
              </a:rPr>
              <a:t>T</a:t>
            </a:r>
            <a:r>
              <a:rPr lang="en-US" altLang="zh-CN" sz="2000" b="1" dirty="0">
                <a:solidFill>
                  <a:srgbClr val="336600"/>
                </a:solidFill>
                <a:latin typeface="Arial" charset="0"/>
                <a:ea typeface="宋体" charset="-122"/>
              </a:rPr>
              <a:t>he ratio of </a:t>
            </a:r>
            <a:r>
              <a:rPr lang="en-US" altLang="zh-CN" sz="2000" b="1" dirty="0">
                <a:solidFill>
                  <a:srgbClr val="000000"/>
                </a:solidFill>
                <a:latin typeface="Arial" charset="0"/>
                <a:ea typeface="宋体" charset="-122"/>
              </a:rPr>
              <a:t>heat</a:t>
            </a:r>
            <a:r>
              <a:rPr lang="en-US" altLang="zh-CN" sz="2000" b="1" dirty="0">
                <a:solidFill>
                  <a:srgbClr val="FF0000"/>
                </a:solidFill>
                <a:latin typeface="Arial" charset="0"/>
                <a:ea typeface="宋体" charset="-122"/>
              </a:rPr>
              <a:t> </a:t>
            </a:r>
            <a:r>
              <a:rPr lang="en-US" altLang="zh-CN" sz="2000" b="1" dirty="0">
                <a:solidFill>
                  <a:srgbClr val="336600"/>
                </a:solidFill>
                <a:latin typeface="Arial" charset="0"/>
                <a:ea typeface="宋体" charset="-122"/>
              </a:rPr>
              <a:t>transferred between the system and the surrounding </a:t>
            </a:r>
            <a:r>
              <a:rPr lang="en-US" altLang="zh-CN" sz="2000" b="1" dirty="0">
                <a:solidFill>
                  <a:srgbClr val="000000"/>
                </a:solidFill>
                <a:latin typeface="Arial" charset="0"/>
                <a:ea typeface="宋体" charset="-122"/>
              </a:rPr>
              <a:t>divided by</a:t>
            </a:r>
            <a:r>
              <a:rPr lang="en-US" altLang="zh-CN" sz="2000" b="1" dirty="0">
                <a:solidFill>
                  <a:srgbClr val="336600"/>
                </a:solidFill>
                <a:latin typeface="Arial" charset="0"/>
                <a:ea typeface="宋体" charset="-122"/>
              </a:rPr>
              <a:t> the resulted </a:t>
            </a:r>
            <a:r>
              <a:rPr lang="en-US" altLang="zh-CN" sz="2000" b="1" dirty="0">
                <a:solidFill>
                  <a:srgbClr val="000000"/>
                </a:solidFill>
                <a:latin typeface="Arial" charset="0"/>
                <a:ea typeface="宋体" charset="-122"/>
              </a:rPr>
              <a:t>change in temperature</a:t>
            </a:r>
            <a:r>
              <a:rPr lang="en-US" altLang="zh-CN" sz="2000" b="1" dirty="0">
                <a:solidFill>
                  <a:srgbClr val="336600"/>
                </a:solidFill>
                <a:latin typeface="Arial" charset="0"/>
                <a:ea typeface="宋体" charset="-122"/>
              </a:rPr>
              <a:t> of the system</a:t>
            </a:r>
          </a:p>
          <a:p>
            <a:pPr defTabSz="914400" eaLnBrk="1" hangingPunct="1"/>
            <a:r>
              <a:rPr lang="en-US" altLang="zh-CN" sz="2000" b="1" u="sng" dirty="0">
                <a:solidFill>
                  <a:srgbClr val="FF0000"/>
                </a:solidFill>
                <a:latin typeface="Arial" charset="0"/>
                <a:ea typeface="宋体" charset="-122"/>
              </a:rPr>
              <a:t>Specific Heat Capacity (c): </a:t>
            </a:r>
            <a:r>
              <a:rPr lang="en-US" altLang="zh-CN" sz="2000" b="1" dirty="0">
                <a:solidFill>
                  <a:srgbClr val="336600"/>
                </a:solidFill>
                <a:latin typeface="Arial" charset="0"/>
                <a:ea typeface="宋体" charset="-122"/>
              </a:rPr>
              <a:t>heat capacity / mole</a:t>
            </a:r>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075" y="3600699"/>
            <a:ext cx="3241675" cy="2493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Text Box 6"/>
          <p:cNvSpPr txBox="1">
            <a:spLocks noChangeArrowheads="1"/>
          </p:cNvSpPr>
          <p:nvPr/>
        </p:nvSpPr>
        <p:spPr bwMode="auto">
          <a:xfrm>
            <a:off x="4581525" y="4658890"/>
            <a:ext cx="29386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dirty="0">
                <a:solidFill>
                  <a:srgbClr val="336600"/>
                </a:solidFill>
                <a:latin typeface="Arial" charset="0"/>
                <a:ea typeface="宋体" charset="-122"/>
              </a:rPr>
              <a:t>A Material Property?</a:t>
            </a:r>
            <a:r>
              <a:rPr lang="en-US" altLang="zh-CN" sz="2000" dirty="0">
                <a:solidFill>
                  <a:srgbClr val="000000"/>
                </a:solidFill>
                <a:latin typeface="Arial" charset="0"/>
                <a:ea typeface="宋体" charset="-122"/>
              </a:rPr>
              <a:t> </a:t>
            </a:r>
          </a:p>
          <a:p>
            <a:pPr defTabSz="914400" eaLnBrk="1" hangingPunct="1"/>
            <a:r>
              <a:rPr lang="en-US" altLang="zh-CN" sz="2000" b="1" dirty="0">
                <a:solidFill>
                  <a:srgbClr val="0000CC"/>
                </a:solidFill>
                <a:latin typeface="Arial" charset="0"/>
                <a:ea typeface="宋体" charset="-122"/>
              </a:rPr>
              <a:t>Process Dependence?</a:t>
            </a:r>
          </a:p>
        </p:txBody>
      </p:sp>
      <p:sp>
        <p:nvSpPr>
          <p:cNvPr id="41" name="Text Box 7"/>
          <p:cNvSpPr txBox="1">
            <a:spLocks noChangeArrowheads="1"/>
          </p:cNvSpPr>
          <p:nvPr/>
        </p:nvSpPr>
        <p:spPr bwMode="auto">
          <a:xfrm>
            <a:off x="4698206" y="5579869"/>
            <a:ext cx="24360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dirty="0">
                <a:solidFill>
                  <a:srgbClr val="FF0000"/>
                </a:solidFill>
                <a:latin typeface="Arial" charset="0"/>
                <a:ea typeface="宋体" charset="-122"/>
              </a:rPr>
              <a:t>Phase Transition</a:t>
            </a:r>
          </a:p>
        </p:txBody>
      </p:sp>
      <p:grpSp>
        <p:nvGrpSpPr>
          <p:cNvPr id="11" name="组合 10"/>
          <p:cNvGrpSpPr/>
          <p:nvPr/>
        </p:nvGrpSpPr>
        <p:grpSpPr>
          <a:xfrm>
            <a:off x="3078284" y="2931829"/>
            <a:ext cx="5675809" cy="1134207"/>
            <a:chOff x="1856153" y="3103685"/>
            <a:chExt cx="5675809" cy="1134207"/>
          </a:xfrm>
        </p:grpSpPr>
        <p:sp>
          <p:nvSpPr>
            <p:cNvPr id="12" name="TextBox 11"/>
            <p:cNvSpPr txBox="1"/>
            <p:nvPr/>
          </p:nvSpPr>
          <p:spPr>
            <a:xfrm>
              <a:off x="3859823" y="3103685"/>
              <a:ext cx="2189286" cy="400110"/>
            </a:xfrm>
            <a:prstGeom prst="rect">
              <a:avLst/>
            </a:prstGeom>
            <a:noFill/>
            <a:ln w="12700">
              <a:solidFill>
                <a:srgbClr val="FF0000"/>
              </a:solidFill>
            </a:ln>
          </p:spPr>
          <p:txBody>
            <a:bodyPr wrap="square" rtlCol="0">
              <a:spAutoFit/>
            </a:bodyPr>
            <a:lstStyle/>
            <a:p>
              <a:pPr algn="ctr"/>
              <a:r>
                <a:rPr lang="en-US" altLang="zh-CN" sz="2000" dirty="0"/>
                <a:t>Heat transferred</a:t>
              </a:r>
              <a:endParaRPr lang="zh-CN" altLang="en-US" sz="2000" dirty="0"/>
            </a:p>
          </p:txBody>
        </p:sp>
        <p:sp>
          <p:nvSpPr>
            <p:cNvPr id="13" name="TextBox 12"/>
            <p:cNvSpPr txBox="1"/>
            <p:nvPr/>
          </p:nvSpPr>
          <p:spPr>
            <a:xfrm>
              <a:off x="3634154" y="3853962"/>
              <a:ext cx="2397370" cy="369332"/>
            </a:xfrm>
            <a:prstGeom prst="rect">
              <a:avLst/>
            </a:prstGeom>
            <a:noFill/>
            <a:ln w="12700">
              <a:solidFill>
                <a:srgbClr val="FF0000"/>
              </a:solidFill>
            </a:ln>
          </p:spPr>
          <p:txBody>
            <a:bodyPr wrap="square" rtlCol="0">
              <a:spAutoFit/>
            </a:bodyPr>
            <a:lstStyle/>
            <a:p>
              <a:pPr algn="ctr"/>
              <a:r>
                <a:rPr lang="en-US" altLang="zh-CN" sz="1800" dirty="0"/>
                <a:t>Temperature change</a:t>
              </a:r>
              <a:endParaRPr lang="zh-CN" altLang="en-US" sz="1800" dirty="0"/>
            </a:p>
          </p:txBody>
        </p:sp>
        <p:graphicFrame>
          <p:nvGraphicFramePr>
            <p:cNvPr id="14" name="Object 3"/>
            <p:cNvGraphicFramePr>
              <a:graphicFrameLocks noChangeAspect="1"/>
            </p:cNvGraphicFramePr>
            <p:nvPr/>
          </p:nvGraphicFramePr>
          <p:xfrm>
            <a:off x="6492149" y="3241065"/>
            <a:ext cx="1039813" cy="809625"/>
          </p:xfrm>
          <a:graphic>
            <a:graphicData uri="http://schemas.openxmlformats.org/presentationml/2006/ole">
              <mc:AlternateContent xmlns:mc="http://schemas.openxmlformats.org/markup-compatibility/2006">
                <mc:Choice xmlns:v="urn:schemas-microsoft-com:vml" Requires="v">
                  <p:oleObj name="公式" r:id="rId3" imgW="507960" imgH="393480" progId="Equation.3">
                    <p:embed/>
                  </p:oleObj>
                </mc:Choice>
                <mc:Fallback>
                  <p:oleObj name="公式" r:id="rId3" imgW="507960" imgH="393480" progId="Equation.3">
                    <p:embed/>
                    <p:pic>
                      <p:nvPicPr>
                        <p:cNvPr id="1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2149" y="3241065"/>
                          <a:ext cx="1039813"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4"/>
            <p:cNvGraphicFramePr>
              <a:graphicFrameLocks noChangeAspect="1"/>
            </p:cNvGraphicFramePr>
            <p:nvPr/>
          </p:nvGraphicFramePr>
          <p:xfrm>
            <a:off x="1856153" y="3158026"/>
            <a:ext cx="1092200" cy="809625"/>
          </p:xfrm>
          <a:graphic>
            <a:graphicData uri="http://schemas.openxmlformats.org/presentationml/2006/ole">
              <mc:AlternateContent xmlns:mc="http://schemas.openxmlformats.org/markup-compatibility/2006">
                <mc:Choice xmlns:v="urn:schemas-microsoft-com:vml" Requires="v">
                  <p:oleObj name="公式" r:id="rId5" imgW="533160" imgH="393480" progId="Equation.3">
                    <p:embed/>
                  </p:oleObj>
                </mc:Choice>
                <mc:Fallback>
                  <p:oleObj name="公式" r:id="rId5" imgW="533160" imgH="393480" progId="Equation.3">
                    <p:embed/>
                    <p:pic>
                      <p:nvPicPr>
                        <p:cNvPr id="1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6153" y="3158026"/>
                          <a:ext cx="109220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6" name="直接箭头连接符 15"/>
            <p:cNvCxnSpPr/>
            <p:nvPr/>
          </p:nvCxnSpPr>
          <p:spPr>
            <a:xfrm rot="10800000" flipV="1">
              <a:off x="2857501" y="3130062"/>
              <a:ext cx="993531" cy="360484"/>
            </a:xfrm>
            <a:prstGeom prst="straightConnector1">
              <a:avLst/>
            </a:prstGeom>
            <a:ln w="127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7" name="直接箭头连接符 16"/>
            <p:cNvCxnSpPr/>
            <p:nvPr/>
          </p:nvCxnSpPr>
          <p:spPr>
            <a:xfrm rot="10800000">
              <a:off x="2787162" y="3763108"/>
              <a:ext cx="826476" cy="474784"/>
            </a:xfrm>
            <a:prstGeom prst="straightConnector1">
              <a:avLst/>
            </a:prstGeom>
            <a:ln w="12700">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70079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 y="-7271"/>
            <a:ext cx="6457950" cy="1244600"/>
          </a:xfrm>
        </p:spPr>
        <p:txBody>
          <a:bodyPr>
            <a:normAutofit/>
          </a:bodyPr>
          <a:lstStyle/>
          <a:p>
            <a:pPr algn="l"/>
            <a:r>
              <a:rPr lang="en-US" altLang="zh-CN" sz="3600" dirty="0">
                <a:solidFill>
                  <a:srgbClr val="FF0000"/>
                </a:solidFill>
                <a:latin typeface="Arial" charset="0"/>
                <a:cs typeface="Arial" charset="0"/>
              </a:rPr>
              <a:t>Heat Capacity: C</a:t>
            </a:r>
            <a:r>
              <a:rPr lang="en-US" altLang="zh-CN" sz="3600" baseline="-25000" dirty="0">
                <a:solidFill>
                  <a:srgbClr val="FF0000"/>
                </a:solidFill>
                <a:latin typeface="Arial" charset="0"/>
                <a:cs typeface="Arial" charset="0"/>
              </a:rPr>
              <a:t>V</a:t>
            </a:r>
            <a:r>
              <a:rPr lang="en-US" altLang="zh-CN" sz="3600" dirty="0">
                <a:solidFill>
                  <a:srgbClr val="FF0000"/>
                </a:solidFill>
                <a:latin typeface="Arial" charset="0"/>
                <a:cs typeface="Arial" charset="0"/>
              </a:rPr>
              <a:t> and </a:t>
            </a:r>
            <a:r>
              <a:rPr lang="en-US" altLang="zh-CN" sz="3600" dirty="0" err="1">
                <a:solidFill>
                  <a:srgbClr val="FF0000"/>
                </a:solidFill>
                <a:latin typeface="Arial" charset="0"/>
                <a:cs typeface="Arial" charset="0"/>
              </a:rPr>
              <a:t>C</a:t>
            </a:r>
            <a:r>
              <a:rPr lang="en-US" altLang="zh-CN" sz="3600" baseline="-25000" dirty="0" err="1">
                <a:solidFill>
                  <a:srgbClr val="FF0000"/>
                </a:solidFill>
                <a:latin typeface="Arial" charset="0"/>
                <a:cs typeface="Arial" charset="0"/>
              </a:rPr>
              <a:t>P</a:t>
            </a:r>
            <a:endParaRPr lang="en-US" sz="36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Rectangle 5"/>
          <p:cNvSpPr>
            <a:spLocks noChangeArrowheads="1"/>
          </p:cNvSpPr>
          <p:nvPr/>
        </p:nvSpPr>
        <p:spPr bwMode="auto">
          <a:xfrm>
            <a:off x="609600" y="1924050"/>
            <a:ext cx="5181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defTabSz="914400" eaLnBrk="1" hangingPunct="1"/>
            <a:r>
              <a:rPr lang="en-US" altLang="zh-CN" sz="2600" b="1" dirty="0">
                <a:solidFill>
                  <a:srgbClr val="FF0000"/>
                </a:solidFill>
                <a:latin typeface="Arial" charset="0"/>
                <a:ea typeface="宋体" charset="-122"/>
                <a:cs typeface="Times New Roman" pitchFamily="18" charset="0"/>
              </a:rPr>
              <a:t> </a:t>
            </a:r>
            <a:r>
              <a:rPr lang="en-US" altLang="zh-CN" sz="2000" b="1" dirty="0">
                <a:solidFill>
                  <a:srgbClr val="0000CC"/>
                </a:solidFill>
                <a:latin typeface="Arial" charset="0"/>
                <a:ea typeface="宋体" charset="-122"/>
                <a:cs typeface="Times New Roman" pitchFamily="18" charset="0"/>
              </a:rPr>
              <a:t>Constant Volume Process (C</a:t>
            </a:r>
            <a:r>
              <a:rPr lang="en-US" altLang="zh-CN" sz="2000" b="1" baseline="-25000" dirty="0">
                <a:solidFill>
                  <a:srgbClr val="0000CC"/>
                </a:solidFill>
                <a:latin typeface="Arial" charset="0"/>
                <a:ea typeface="宋体" charset="-122"/>
                <a:cs typeface="Times New Roman" pitchFamily="18" charset="0"/>
              </a:rPr>
              <a:t>V</a:t>
            </a:r>
            <a:r>
              <a:rPr lang="en-US" altLang="zh-CN" sz="2000" b="1" dirty="0">
                <a:solidFill>
                  <a:srgbClr val="0000CC"/>
                </a:solidFill>
                <a:latin typeface="Arial" charset="0"/>
                <a:ea typeface="宋体" charset="-122"/>
                <a:cs typeface="Times New Roman" pitchFamily="18" charset="0"/>
              </a:rPr>
              <a:t>):</a:t>
            </a:r>
            <a:r>
              <a:rPr lang="en-US" altLang="zh-CN" b="1" dirty="0">
                <a:solidFill>
                  <a:srgbClr val="0000CC"/>
                </a:solidFill>
                <a:latin typeface="Arial" charset="0"/>
                <a:ea typeface="宋体" charset="-122"/>
                <a:cs typeface="Times New Roman" pitchFamily="18" charset="0"/>
              </a:rPr>
              <a:t> </a:t>
            </a:r>
            <a:endParaRPr lang="en-US" altLang="zh-CN" b="1" dirty="0">
              <a:solidFill>
                <a:srgbClr val="0000CC"/>
              </a:solidFill>
              <a:latin typeface="Arial" charset="0"/>
              <a:ea typeface="宋体" charset="-122"/>
            </a:endParaRPr>
          </a:p>
        </p:txBody>
      </p:sp>
      <p:graphicFrame>
        <p:nvGraphicFramePr>
          <p:cNvPr id="11" name="Object 4"/>
          <p:cNvGraphicFramePr>
            <a:graphicFrameLocks noChangeAspect="1"/>
          </p:cNvGraphicFramePr>
          <p:nvPr/>
        </p:nvGraphicFramePr>
        <p:xfrm>
          <a:off x="5048250" y="1790700"/>
          <a:ext cx="1639160" cy="918368"/>
        </p:xfrm>
        <a:graphic>
          <a:graphicData uri="http://schemas.openxmlformats.org/presentationml/2006/ole">
            <mc:AlternateContent xmlns:mc="http://schemas.openxmlformats.org/markup-compatibility/2006">
              <mc:Choice xmlns:v="urn:schemas-microsoft-com:vml" Requires="v">
                <p:oleObj r:id="rId2" imgW="799753" imgH="444307" progId="Equation.3">
                  <p:embed/>
                </p:oleObj>
              </mc:Choice>
              <mc:Fallback>
                <p:oleObj r:id="rId2" imgW="799753" imgH="444307" progId="Equation.3">
                  <p:embed/>
                  <p:pic>
                    <p:nvPicPr>
                      <p:cNvPr id="1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0" y="1790700"/>
                        <a:ext cx="1639160" cy="918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
          <p:cNvGraphicFramePr>
            <a:graphicFrameLocks noChangeAspect="1"/>
          </p:cNvGraphicFramePr>
          <p:nvPr/>
        </p:nvGraphicFramePr>
        <p:xfrm>
          <a:off x="5181600" y="4186881"/>
          <a:ext cx="1552969" cy="869950"/>
        </p:xfrm>
        <a:graphic>
          <a:graphicData uri="http://schemas.openxmlformats.org/presentationml/2006/ole">
            <mc:AlternateContent xmlns:mc="http://schemas.openxmlformats.org/markup-compatibility/2006">
              <mc:Choice xmlns:v="urn:schemas-microsoft-com:vml" Requires="v">
                <p:oleObj name="公式" r:id="rId4" imgW="799920" imgH="444240" progId="Equation.3">
                  <p:embed/>
                </p:oleObj>
              </mc:Choice>
              <mc:Fallback>
                <p:oleObj name="公式" r:id="rId4" imgW="799920" imgH="444240" progId="Equation.3">
                  <p:embed/>
                  <p:pic>
                    <p:nvPicPr>
                      <p:cNvPr id="1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4186881"/>
                        <a:ext cx="1552969"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6"/>
          <p:cNvSpPr>
            <a:spLocks noChangeArrowheads="1"/>
          </p:cNvSpPr>
          <p:nvPr/>
        </p:nvSpPr>
        <p:spPr bwMode="auto">
          <a:xfrm>
            <a:off x="533400" y="4314824"/>
            <a:ext cx="5791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defTabSz="914400" eaLnBrk="1" hangingPunct="1"/>
            <a:r>
              <a:rPr lang="en-US" altLang="zh-CN" sz="2600" b="1" dirty="0">
                <a:solidFill>
                  <a:srgbClr val="0000CC"/>
                </a:solidFill>
                <a:latin typeface="Arial" charset="0"/>
                <a:ea typeface="宋体" charset="-122"/>
                <a:cs typeface="Times New Roman" pitchFamily="18" charset="0"/>
              </a:rPr>
              <a:t> </a:t>
            </a:r>
            <a:r>
              <a:rPr lang="en-US" altLang="zh-CN" sz="2000" b="1" dirty="0">
                <a:solidFill>
                  <a:srgbClr val="0000CC"/>
                </a:solidFill>
                <a:latin typeface="Arial" charset="0"/>
                <a:ea typeface="宋体" charset="-122"/>
                <a:cs typeface="Times New Roman" pitchFamily="18" charset="0"/>
              </a:rPr>
              <a:t>Constant Pressure Process (</a:t>
            </a:r>
            <a:r>
              <a:rPr lang="en-US" altLang="zh-CN" sz="2000" b="1" dirty="0" err="1">
                <a:solidFill>
                  <a:srgbClr val="0000CC"/>
                </a:solidFill>
                <a:latin typeface="Arial" charset="0"/>
                <a:ea typeface="宋体" charset="-122"/>
                <a:cs typeface="Times New Roman" pitchFamily="18" charset="0"/>
              </a:rPr>
              <a:t>C</a:t>
            </a:r>
            <a:r>
              <a:rPr lang="en-US" altLang="zh-CN" sz="2000" b="1" baseline="-25000" dirty="0" err="1">
                <a:solidFill>
                  <a:srgbClr val="0000CC"/>
                </a:solidFill>
                <a:latin typeface="Arial" charset="0"/>
                <a:ea typeface="宋体" charset="-122"/>
                <a:cs typeface="Times New Roman" pitchFamily="18" charset="0"/>
              </a:rPr>
              <a:t>P</a:t>
            </a:r>
            <a:r>
              <a:rPr lang="en-US" altLang="zh-CN" sz="2000" b="1" dirty="0">
                <a:solidFill>
                  <a:srgbClr val="0000CC"/>
                </a:solidFill>
                <a:latin typeface="Arial" charset="0"/>
                <a:ea typeface="宋体" charset="-122"/>
                <a:cs typeface="Times New Roman" pitchFamily="18" charset="0"/>
              </a:rPr>
              <a:t>): </a:t>
            </a:r>
            <a:endParaRPr lang="en-US" altLang="zh-CN" sz="2000" b="1" dirty="0">
              <a:solidFill>
                <a:srgbClr val="0000CC"/>
              </a:solidFill>
              <a:latin typeface="Arial" charset="0"/>
              <a:ea typeface="宋体" charset="-122"/>
            </a:endParaRPr>
          </a:p>
        </p:txBody>
      </p:sp>
      <p:sp>
        <p:nvSpPr>
          <p:cNvPr id="14" name="Text Box 7"/>
          <p:cNvSpPr txBox="1">
            <a:spLocks noChangeArrowheads="1"/>
          </p:cNvSpPr>
          <p:nvPr/>
        </p:nvSpPr>
        <p:spPr bwMode="auto">
          <a:xfrm>
            <a:off x="756535" y="3141821"/>
            <a:ext cx="295504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600" b="1" dirty="0" err="1">
                <a:solidFill>
                  <a:srgbClr val="336600"/>
                </a:solidFill>
                <a:ea typeface="宋体" charset="-122"/>
              </a:rPr>
              <a:t>dU</a:t>
            </a:r>
            <a:r>
              <a:rPr lang="en-US" altLang="zh-CN" sz="2600" b="1" dirty="0">
                <a:solidFill>
                  <a:srgbClr val="336600"/>
                </a:solidFill>
                <a:ea typeface="宋体" charset="-122"/>
              </a:rPr>
              <a:t> = </a:t>
            </a:r>
            <a:r>
              <a:rPr lang="en-US" altLang="zh-CN" sz="2600" b="1" dirty="0" err="1">
                <a:solidFill>
                  <a:srgbClr val="336600"/>
                </a:solidFill>
                <a:latin typeface="Symbol" pitchFamily="18" charset="2"/>
                <a:ea typeface="宋体" charset="-122"/>
              </a:rPr>
              <a:t>d</a:t>
            </a:r>
            <a:r>
              <a:rPr lang="en-US" altLang="zh-CN" sz="2600" b="1" dirty="0" err="1">
                <a:solidFill>
                  <a:srgbClr val="336600"/>
                </a:solidFill>
                <a:ea typeface="宋体" charset="-122"/>
              </a:rPr>
              <a:t>q</a:t>
            </a:r>
            <a:r>
              <a:rPr lang="en-US" altLang="zh-CN" sz="2600" b="1" dirty="0">
                <a:solidFill>
                  <a:srgbClr val="336600"/>
                </a:solidFill>
                <a:ea typeface="宋体" charset="-122"/>
              </a:rPr>
              <a:t> – </a:t>
            </a:r>
            <a:r>
              <a:rPr lang="en-US" altLang="zh-CN" sz="2600" b="1" dirty="0" err="1">
                <a:solidFill>
                  <a:srgbClr val="336600"/>
                </a:solidFill>
                <a:latin typeface="Symbol" pitchFamily="18" charset="2"/>
                <a:ea typeface="宋体" charset="-122"/>
              </a:rPr>
              <a:t>d</a:t>
            </a:r>
            <a:r>
              <a:rPr lang="en-US" altLang="zh-CN" sz="2600" b="1" dirty="0" err="1">
                <a:solidFill>
                  <a:srgbClr val="336600"/>
                </a:solidFill>
                <a:ea typeface="宋体" charset="-122"/>
              </a:rPr>
              <a:t>W</a:t>
            </a:r>
            <a:r>
              <a:rPr lang="en-US" altLang="zh-CN" sz="2600" b="1" dirty="0">
                <a:solidFill>
                  <a:srgbClr val="336600"/>
                </a:solidFill>
                <a:ea typeface="宋体" charset="-122"/>
              </a:rPr>
              <a:t> =</a:t>
            </a:r>
            <a:r>
              <a:rPr lang="en-US" altLang="zh-CN" sz="2600" b="1" dirty="0">
                <a:solidFill>
                  <a:srgbClr val="336600"/>
                </a:solidFill>
                <a:latin typeface="Symbol" pitchFamily="18" charset="2"/>
                <a:ea typeface="宋体" charset="-122"/>
              </a:rPr>
              <a:t> </a:t>
            </a:r>
            <a:r>
              <a:rPr lang="en-US" altLang="zh-CN" sz="2600" b="1" dirty="0" err="1">
                <a:solidFill>
                  <a:srgbClr val="336600"/>
                </a:solidFill>
                <a:latin typeface="Symbol" pitchFamily="18" charset="2"/>
                <a:ea typeface="宋体" charset="-122"/>
              </a:rPr>
              <a:t>d</a:t>
            </a:r>
            <a:r>
              <a:rPr lang="en-US" altLang="zh-CN" sz="2600" b="1" dirty="0" err="1">
                <a:solidFill>
                  <a:srgbClr val="336600"/>
                </a:solidFill>
                <a:latin typeface="Arial" pitchFamily="34" charset="0"/>
                <a:ea typeface="宋体" charset="-122"/>
              </a:rPr>
              <a:t>q</a:t>
            </a:r>
            <a:r>
              <a:rPr lang="en-US" altLang="zh-CN" sz="2600" b="1" dirty="0">
                <a:solidFill>
                  <a:srgbClr val="336600"/>
                </a:solidFill>
                <a:ea typeface="宋体" charset="-122"/>
              </a:rPr>
              <a:t> </a:t>
            </a:r>
          </a:p>
        </p:txBody>
      </p:sp>
      <p:sp>
        <p:nvSpPr>
          <p:cNvPr id="18" name="Text Box 11"/>
          <p:cNvSpPr txBox="1">
            <a:spLocks noChangeArrowheads="1"/>
          </p:cNvSpPr>
          <p:nvPr/>
        </p:nvSpPr>
        <p:spPr bwMode="auto">
          <a:xfrm>
            <a:off x="1146504" y="5341935"/>
            <a:ext cx="25571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b="1" dirty="0" err="1">
                <a:solidFill>
                  <a:srgbClr val="336600"/>
                </a:solidFill>
                <a:ea typeface="宋体" charset="-122"/>
              </a:rPr>
              <a:t>dH</a:t>
            </a:r>
            <a:r>
              <a:rPr lang="en-US" altLang="zh-CN" b="1" dirty="0">
                <a:solidFill>
                  <a:srgbClr val="336600"/>
                </a:solidFill>
                <a:ea typeface="宋体" charset="-122"/>
              </a:rPr>
              <a:t> =</a:t>
            </a:r>
            <a:r>
              <a:rPr lang="en-US" altLang="zh-CN" b="1" dirty="0" err="1">
                <a:solidFill>
                  <a:srgbClr val="336600"/>
                </a:solidFill>
                <a:ea typeface="宋体" charset="-122"/>
              </a:rPr>
              <a:t>dU+pdV</a:t>
            </a:r>
            <a:r>
              <a:rPr lang="en-US" altLang="zh-CN" b="1" dirty="0">
                <a:solidFill>
                  <a:srgbClr val="336600"/>
                </a:solidFill>
                <a:ea typeface="宋体" charset="-122"/>
              </a:rPr>
              <a:t>= </a:t>
            </a:r>
            <a:r>
              <a:rPr lang="en-US" altLang="zh-CN" b="1" dirty="0" err="1">
                <a:solidFill>
                  <a:srgbClr val="336600"/>
                </a:solidFill>
                <a:latin typeface="Symbol" pitchFamily="18" charset="2"/>
                <a:ea typeface="宋体" charset="-122"/>
              </a:rPr>
              <a:t>d</a:t>
            </a:r>
            <a:r>
              <a:rPr lang="en-US" altLang="zh-CN" b="1" dirty="0" err="1">
                <a:solidFill>
                  <a:srgbClr val="336600"/>
                </a:solidFill>
                <a:ea typeface="宋体" charset="-122"/>
              </a:rPr>
              <a:t>q</a:t>
            </a:r>
            <a:endParaRPr lang="en-US" altLang="zh-CN" b="1" dirty="0">
              <a:solidFill>
                <a:srgbClr val="336600"/>
              </a:solidFill>
              <a:ea typeface="宋体" charset="-122"/>
            </a:endParaRPr>
          </a:p>
        </p:txBody>
      </p:sp>
      <p:graphicFrame>
        <p:nvGraphicFramePr>
          <p:cNvPr id="29964" name="Object 268"/>
          <p:cNvGraphicFramePr>
            <a:graphicFrameLocks noChangeAspect="1"/>
          </p:cNvGraphicFramePr>
          <p:nvPr/>
        </p:nvGraphicFramePr>
        <p:xfrm>
          <a:off x="4183429" y="2841259"/>
          <a:ext cx="1690688" cy="914400"/>
        </p:xfrm>
        <a:graphic>
          <a:graphicData uri="http://schemas.openxmlformats.org/presentationml/2006/ole">
            <mc:AlternateContent xmlns:mc="http://schemas.openxmlformats.org/markup-compatibility/2006">
              <mc:Choice xmlns:v="urn:schemas-microsoft-com:vml" Requires="v">
                <p:oleObj name="公式" r:id="rId6" imgW="825480" imgH="444240" progId="Equation.3">
                  <p:embed/>
                </p:oleObj>
              </mc:Choice>
              <mc:Fallback>
                <p:oleObj name="公式" r:id="rId6" imgW="825480" imgH="444240" progId="Equation.3">
                  <p:embed/>
                  <p:pic>
                    <p:nvPicPr>
                      <p:cNvPr id="29964" name="Object 2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83429" y="2841259"/>
                        <a:ext cx="16906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6031523" y="3068515"/>
            <a:ext cx="2523393" cy="400110"/>
          </a:xfrm>
          <a:prstGeom prst="rect">
            <a:avLst/>
          </a:prstGeom>
          <a:noFill/>
        </p:spPr>
        <p:txBody>
          <a:bodyPr wrap="square" rtlCol="0">
            <a:spAutoFit/>
          </a:bodyPr>
          <a:lstStyle/>
          <a:p>
            <a:r>
              <a:rPr lang="en-US" altLang="zh-CN" sz="2000" b="1" dirty="0">
                <a:solidFill>
                  <a:srgbClr val="0C23FC"/>
                </a:solidFill>
                <a:latin typeface="Times New Roman" pitchFamily="18" charset="0"/>
                <a:cs typeface="Times New Roman" pitchFamily="18" charset="0"/>
              </a:rPr>
              <a:t>or  </a:t>
            </a:r>
            <a:r>
              <a:rPr lang="en-US" altLang="zh-CN" sz="2000" b="1" dirty="0" err="1">
                <a:solidFill>
                  <a:srgbClr val="0C23FC"/>
                </a:solidFill>
                <a:latin typeface="Times New Roman" pitchFamily="18" charset="0"/>
                <a:cs typeface="Times New Roman" pitchFamily="18" charset="0"/>
              </a:rPr>
              <a:t>dU</a:t>
            </a:r>
            <a:r>
              <a:rPr lang="en-US" altLang="zh-CN" sz="2000" b="1" dirty="0">
                <a:solidFill>
                  <a:srgbClr val="0C23FC"/>
                </a:solidFill>
                <a:latin typeface="Times New Roman" pitchFamily="18" charset="0"/>
                <a:cs typeface="Times New Roman" pitchFamily="18" charset="0"/>
              </a:rPr>
              <a:t>=C</a:t>
            </a:r>
            <a:r>
              <a:rPr lang="en-US" altLang="zh-CN" sz="2000" b="1" baseline="-25000" dirty="0">
                <a:solidFill>
                  <a:srgbClr val="0C23FC"/>
                </a:solidFill>
                <a:latin typeface="Times New Roman" pitchFamily="18" charset="0"/>
                <a:cs typeface="Times New Roman" pitchFamily="18" charset="0"/>
              </a:rPr>
              <a:t>v</a:t>
            </a:r>
            <a:r>
              <a:rPr lang="en-US" altLang="zh-CN" sz="2000" b="1" dirty="0">
                <a:solidFill>
                  <a:srgbClr val="0C23FC"/>
                </a:solidFill>
                <a:latin typeface="Times New Roman" pitchFamily="18" charset="0"/>
                <a:cs typeface="Times New Roman" pitchFamily="18" charset="0"/>
              </a:rPr>
              <a:t>dT</a:t>
            </a:r>
            <a:endParaRPr lang="zh-CN" altLang="en-US" sz="2000" b="1" dirty="0">
              <a:solidFill>
                <a:srgbClr val="0C23FC"/>
              </a:solidFill>
              <a:latin typeface="Times New Roman" pitchFamily="18" charset="0"/>
              <a:cs typeface="Times New Roman" pitchFamily="18" charset="0"/>
            </a:endParaRPr>
          </a:p>
        </p:txBody>
      </p:sp>
      <p:graphicFrame>
        <p:nvGraphicFramePr>
          <p:cNvPr id="29965" name="Object 269"/>
          <p:cNvGraphicFramePr>
            <a:graphicFrameLocks noChangeAspect="1"/>
          </p:cNvGraphicFramePr>
          <p:nvPr/>
        </p:nvGraphicFramePr>
        <p:xfrm>
          <a:off x="3763596" y="5229102"/>
          <a:ext cx="1598613" cy="863600"/>
        </p:xfrm>
        <a:graphic>
          <a:graphicData uri="http://schemas.openxmlformats.org/presentationml/2006/ole">
            <mc:AlternateContent xmlns:mc="http://schemas.openxmlformats.org/markup-compatibility/2006">
              <mc:Choice xmlns:v="urn:schemas-microsoft-com:vml" Requires="v">
                <p:oleObj name="公式" r:id="rId8" imgW="825480" imgH="444240" progId="Equation.3">
                  <p:embed/>
                </p:oleObj>
              </mc:Choice>
              <mc:Fallback>
                <p:oleObj name="公式" r:id="rId8" imgW="825480" imgH="444240" progId="Equation.3">
                  <p:embed/>
                  <p:pic>
                    <p:nvPicPr>
                      <p:cNvPr id="29965" name="Object 2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63596" y="5229102"/>
                        <a:ext cx="1598613"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5471745" y="5445369"/>
            <a:ext cx="2523393" cy="400110"/>
          </a:xfrm>
          <a:prstGeom prst="rect">
            <a:avLst/>
          </a:prstGeom>
          <a:noFill/>
        </p:spPr>
        <p:txBody>
          <a:bodyPr wrap="square" rtlCol="0">
            <a:spAutoFit/>
          </a:bodyPr>
          <a:lstStyle/>
          <a:p>
            <a:r>
              <a:rPr lang="en-US" altLang="zh-CN" sz="2000" b="1" dirty="0">
                <a:solidFill>
                  <a:srgbClr val="0C23FC"/>
                </a:solidFill>
                <a:latin typeface="Times New Roman" pitchFamily="18" charset="0"/>
                <a:cs typeface="Times New Roman" pitchFamily="18" charset="0"/>
              </a:rPr>
              <a:t>or  </a:t>
            </a:r>
            <a:r>
              <a:rPr lang="en-US" altLang="zh-CN" sz="2000" b="1" dirty="0" err="1">
                <a:solidFill>
                  <a:srgbClr val="0C23FC"/>
                </a:solidFill>
                <a:latin typeface="Times New Roman" pitchFamily="18" charset="0"/>
                <a:cs typeface="Times New Roman" pitchFamily="18" charset="0"/>
              </a:rPr>
              <a:t>dH</a:t>
            </a:r>
            <a:r>
              <a:rPr lang="en-US" altLang="zh-CN" sz="2000" b="1" dirty="0">
                <a:solidFill>
                  <a:srgbClr val="0C23FC"/>
                </a:solidFill>
                <a:latin typeface="Times New Roman" pitchFamily="18" charset="0"/>
                <a:cs typeface="Times New Roman" pitchFamily="18" charset="0"/>
              </a:rPr>
              <a:t>=</a:t>
            </a:r>
            <a:r>
              <a:rPr lang="en-US" altLang="zh-CN" sz="2000" b="1" dirty="0" err="1">
                <a:solidFill>
                  <a:srgbClr val="0C23FC"/>
                </a:solidFill>
                <a:latin typeface="Times New Roman" pitchFamily="18" charset="0"/>
                <a:cs typeface="Times New Roman" pitchFamily="18" charset="0"/>
              </a:rPr>
              <a:t>C</a:t>
            </a:r>
            <a:r>
              <a:rPr lang="en-US" altLang="zh-CN" sz="2000" b="1" baseline="-25000" dirty="0" err="1">
                <a:solidFill>
                  <a:srgbClr val="0C23FC"/>
                </a:solidFill>
                <a:latin typeface="Times New Roman" pitchFamily="18" charset="0"/>
                <a:cs typeface="Times New Roman" pitchFamily="18" charset="0"/>
              </a:rPr>
              <a:t>P</a:t>
            </a:r>
            <a:r>
              <a:rPr lang="en-US" altLang="zh-CN" sz="2000" b="1" dirty="0" err="1">
                <a:solidFill>
                  <a:srgbClr val="0C23FC"/>
                </a:solidFill>
                <a:latin typeface="Times New Roman" pitchFamily="18" charset="0"/>
                <a:cs typeface="Times New Roman" pitchFamily="18" charset="0"/>
              </a:rPr>
              <a:t>dT</a:t>
            </a:r>
            <a:endParaRPr lang="zh-CN" altLang="en-US" sz="2000" b="1" dirty="0">
              <a:solidFill>
                <a:srgbClr val="0C23FC"/>
              </a:solidFill>
              <a:latin typeface="Times New Roman" pitchFamily="18" charset="0"/>
              <a:cs typeface="Times New Roman" pitchFamily="18" charset="0"/>
            </a:endParaRPr>
          </a:p>
        </p:txBody>
      </p:sp>
      <p:sp>
        <p:nvSpPr>
          <p:cNvPr id="16" name="文本框 15">
            <a:extLst>
              <a:ext uri="{FF2B5EF4-FFF2-40B4-BE49-F238E27FC236}">
                <a16:creationId xmlns:a16="http://schemas.microsoft.com/office/drawing/2014/main" id="{8CAB2A59-4DBB-414E-9A5B-0382E7983385}"/>
              </a:ext>
            </a:extLst>
          </p:cNvPr>
          <p:cNvSpPr txBox="1"/>
          <p:nvPr/>
        </p:nvSpPr>
        <p:spPr>
          <a:xfrm>
            <a:off x="747949" y="952872"/>
            <a:ext cx="7062345" cy="923330"/>
          </a:xfrm>
          <a:prstGeom prst="rect">
            <a:avLst/>
          </a:prstGeom>
          <a:noFill/>
        </p:spPr>
        <p:txBody>
          <a:bodyPr wrap="square" rtlCol="0">
            <a:spAutoFit/>
          </a:bodyPr>
          <a:lstStyle/>
          <a:p>
            <a:r>
              <a:rPr lang="en-US" altLang="zh-CN" b="1" dirty="0">
                <a:solidFill>
                  <a:srgbClr val="7030A0"/>
                </a:solidFill>
              </a:rPr>
              <a:t>Quiz 1</a:t>
            </a:r>
            <a:r>
              <a:rPr lang="zh-CN" altLang="en-US" b="1" dirty="0">
                <a:solidFill>
                  <a:srgbClr val="7030A0"/>
                </a:solidFill>
              </a:rPr>
              <a:t>：</a:t>
            </a:r>
            <a:r>
              <a:rPr lang="en-US" altLang="zh-CN" b="1" dirty="0">
                <a:solidFill>
                  <a:srgbClr val="7030A0"/>
                </a:solidFill>
              </a:rPr>
              <a:t>5</a:t>
            </a:r>
          </a:p>
          <a:p>
            <a:r>
              <a:rPr lang="en-US" altLang="zh-CN" sz="1800" dirty="0">
                <a:effectLst/>
                <a:latin typeface="Times New Roman" panose="02020603050405020304" pitchFamily="18" charset="0"/>
                <a:ea typeface="微软雅黑" panose="020B0503020204020204" pitchFamily="34" charset="-122"/>
              </a:rPr>
              <a:t>Is </a:t>
            </a:r>
            <a:r>
              <a:rPr lang="en-US" altLang="zh-CN" sz="1800" b="1" i="1" dirty="0" err="1">
                <a:effectLst/>
                <a:latin typeface="Times New Roman" panose="02020603050405020304" pitchFamily="18" charset="0"/>
                <a:ea typeface="微软雅黑" panose="020B0503020204020204" pitchFamily="34" charset="-122"/>
              </a:rPr>
              <a:t>dU</a:t>
            </a:r>
            <a:r>
              <a:rPr lang="en-US" altLang="zh-CN" sz="1800" b="1" i="1" dirty="0">
                <a:effectLst/>
                <a:latin typeface="Times New Roman" panose="02020603050405020304" pitchFamily="18" charset="0"/>
                <a:ea typeface="微软雅黑" panose="020B0503020204020204" pitchFamily="34" charset="-122"/>
              </a:rPr>
              <a:t>=</a:t>
            </a:r>
            <a:r>
              <a:rPr lang="en-US" altLang="zh-CN" sz="1800" b="1" i="1" dirty="0" err="1">
                <a:effectLst/>
                <a:latin typeface="Times New Roman" panose="02020603050405020304" pitchFamily="18" charset="0"/>
                <a:ea typeface="微软雅黑" panose="020B0503020204020204" pitchFamily="34" charset="-122"/>
              </a:rPr>
              <a:t>C</a:t>
            </a:r>
            <a:r>
              <a:rPr lang="en-US" altLang="zh-CN" sz="1800" b="1" i="1" baseline="-25000" dirty="0" err="1">
                <a:effectLst/>
                <a:latin typeface="Times New Roman" panose="02020603050405020304" pitchFamily="18" charset="0"/>
                <a:ea typeface="微软雅黑" panose="020B0503020204020204" pitchFamily="34" charset="-122"/>
              </a:rPr>
              <a:t>v</a:t>
            </a:r>
            <a:r>
              <a:rPr lang="en-US" altLang="zh-CN" sz="1800" b="1" i="1" dirty="0" err="1">
                <a:effectLst/>
                <a:latin typeface="Times New Roman" panose="02020603050405020304" pitchFamily="18" charset="0"/>
                <a:ea typeface="微软雅黑" panose="020B0503020204020204" pitchFamily="34" charset="-122"/>
              </a:rPr>
              <a:t>dT</a:t>
            </a:r>
            <a:r>
              <a:rPr lang="en-US" altLang="zh-CN" sz="1800" dirty="0">
                <a:effectLst/>
                <a:latin typeface="Times New Roman" panose="02020603050405020304" pitchFamily="18" charset="0"/>
                <a:ea typeface="微软雅黑" panose="020B0503020204020204" pitchFamily="34" charset="-122"/>
              </a:rPr>
              <a:t> always true? If not, please state the condition of invalidity.</a:t>
            </a:r>
          </a:p>
          <a:p>
            <a:r>
              <a:rPr lang="en-US" altLang="zh-CN" sz="1800" i="1"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No. For nonideal gas.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0680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209550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52400" y="152400"/>
            <a:ext cx="2082878" cy="584775"/>
          </a:xfrm>
          <a:prstGeom prst="rect">
            <a:avLst/>
          </a:prstGeom>
          <a:noFill/>
        </p:spPr>
        <p:txBody>
          <a:bodyPr wrap="none" rtlCol="0">
            <a:spAutoFit/>
          </a:bodyPr>
          <a:lstStyle/>
          <a:p>
            <a:r>
              <a:rPr lang="en-US" altLang="zh-CN" sz="3200" dirty="0">
                <a:solidFill>
                  <a:srgbClr val="FF0000"/>
                </a:solidFill>
              </a:rPr>
              <a:t>Latent heat</a:t>
            </a:r>
            <a:endParaRPr lang="zh-CN" altLang="en-US" sz="3200" dirty="0">
              <a:solidFill>
                <a:srgbClr val="FF0000"/>
              </a:solidFill>
            </a:endParaRPr>
          </a:p>
        </p:txBody>
      </p:sp>
      <p:sp>
        <p:nvSpPr>
          <p:cNvPr id="3" name="矩形 2"/>
          <p:cNvSpPr/>
          <p:nvPr/>
        </p:nvSpPr>
        <p:spPr>
          <a:xfrm>
            <a:off x="304800" y="3886200"/>
            <a:ext cx="2095500" cy="923330"/>
          </a:xfrm>
          <a:prstGeom prst="rect">
            <a:avLst/>
          </a:prstGeom>
        </p:spPr>
        <p:txBody>
          <a:bodyPr wrap="square">
            <a:spAutoFit/>
          </a:bodyPr>
          <a:lstStyle/>
          <a:p>
            <a:pPr algn="ctr"/>
            <a:r>
              <a:rPr lang="en-US" altLang="zh-CN" b="1" dirty="0"/>
              <a:t>Joseph Black</a:t>
            </a:r>
          </a:p>
          <a:p>
            <a:pPr algn="ctr"/>
            <a:r>
              <a:rPr lang="en-US" altLang="zh-CN" dirty="0"/>
              <a:t>Scottish physicist </a:t>
            </a:r>
          </a:p>
          <a:p>
            <a:pPr algn="ctr"/>
            <a:r>
              <a:rPr lang="en-US" altLang="zh-CN" dirty="0"/>
              <a:t>(1728 –1799)</a:t>
            </a:r>
            <a:endParaRPr lang="zh-CN" altLang="en-US" dirty="0"/>
          </a:p>
        </p:txBody>
      </p:sp>
      <p:sp>
        <p:nvSpPr>
          <p:cNvPr id="4" name="矩形 3"/>
          <p:cNvSpPr/>
          <p:nvPr/>
        </p:nvSpPr>
        <p:spPr>
          <a:xfrm>
            <a:off x="3581400" y="3777619"/>
            <a:ext cx="4572000" cy="1323439"/>
          </a:xfrm>
          <a:prstGeom prst="rect">
            <a:avLst/>
          </a:prstGeom>
        </p:spPr>
        <p:txBody>
          <a:bodyPr>
            <a:spAutoFit/>
          </a:bodyPr>
          <a:lstStyle/>
          <a:p>
            <a:pPr algn="ctr"/>
            <a:r>
              <a:rPr lang="en-US" altLang="zh-CN" sz="2000" dirty="0">
                <a:solidFill>
                  <a:srgbClr val="0000FF"/>
                </a:solidFill>
              </a:rPr>
              <a:t> energy released or absorbed, </a:t>
            </a:r>
          </a:p>
          <a:p>
            <a:pPr algn="ctr"/>
            <a:r>
              <a:rPr lang="en-US" altLang="zh-CN" sz="2000" dirty="0">
                <a:solidFill>
                  <a:srgbClr val="0000FF"/>
                </a:solidFill>
              </a:rPr>
              <a:t>by a body or a thermodynamic system, </a:t>
            </a:r>
          </a:p>
          <a:p>
            <a:pPr algn="ctr"/>
            <a:r>
              <a:rPr lang="en-US" altLang="zh-CN" sz="2000" dirty="0">
                <a:solidFill>
                  <a:srgbClr val="0000FF"/>
                </a:solidFill>
              </a:rPr>
              <a:t>during a constant-temperature process,</a:t>
            </a:r>
          </a:p>
          <a:p>
            <a:pPr algn="ctr"/>
            <a:r>
              <a:rPr lang="en-US" altLang="zh-CN" sz="2000" dirty="0">
                <a:solidFill>
                  <a:srgbClr val="0000FF"/>
                </a:solidFill>
              </a:rPr>
              <a:t> usually a first-order phase transition.</a:t>
            </a:r>
            <a:endParaRPr lang="zh-CN" altLang="en-US" sz="2000" dirty="0">
              <a:solidFill>
                <a:srgbClr val="0000FF"/>
              </a:solidFill>
            </a:endParaRPr>
          </a:p>
        </p:txBody>
      </p:sp>
      <p:pic>
        <p:nvPicPr>
          <p:cNvPr id="2458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7738" y="1288505"/>
            <a:ext cx="5744533" cy="2249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7542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DC2D242-8FE1-4C73-B259-4829F69F07BD}"/>
              </a:ext>
            </a:extLst>
          </p:cNvPr>
          <p:cNvSpPr>
            <a:spLocks noGrp="1"/>
          </p:cNvSpPr>
          <p:nvPr>
            <p:ph type="title"/>
          </p:nvPr>
        </p:nvSpPr>
        <p:spPr>
          <a:xfrm>
            <a:off x="1014116" y="3149600"/>
            <a:ext cx="7886700" cy="818987"/>
          </a:xfrm>
        </p:spPr>
        <p:txBody>
          <a:bodyPr>
            <a:normAutofit/>
          </a:bodyPr>
          <a:lstStyle/>
          <a:p>
            <a:pPr algn="l"/>
            <a:r>
              <a:rPr lang="en-US" altLang="zh-CN" sz="3600" dirty="0">
                <a:solidFill>
                  <a:srgbClr val="FF0000"/>
                </a:solidFill>
              </a:rPr>
              <a:t>4</a:t>
            </a:r>
            <a:r>
              <a:rPr lang="en-US" altLang="zh-CN" sz="4000" dirty="0"/>
              <a:t>. </a:t>
            </a:r>
            <a:r>
              <a:rPr lang="en-US" altLang="zh-CN" sz="4000" dirty="0">
                <a:solidFill>
                  <a:srgbClr val="FF0000"/>
                </a:solidFill>
              </a:rPr>
              <a:t>The measurement of </a:t>
            </a:r>
            <a:r>
              <a:rPr lang="en-US" altLang="zh-CN" sz="4000" dirty="0" err="1">
                <a:solidFill>
                  <a:srgbClr val="FF0000"/>
                </a:solidFill>
              </a:rPr>
              <a:t>C</a:t>
            </a:r>
            <a:r>
              <a:rPr lang="en-US" altLang="zh-CN" sz="4000" baseline="-25000" dirty="0" err="1">
                <a:solidFill>
                  <a:srgbClr val="FF0000"/>
                </a:solidFill>
              </a:rPr>
              <a:t>v</a:t>
            </a:r>
            <a:endParaRPr lang="zh-CN" altLang="en-US" sz="4000" baseline="-25000" dirty="0"/>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285" y="2745450"/>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8206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2514600" y="1981200"/>
          <a:ext cx="3589338" cy="728662"/>
        </p:xfrm>
        <a:graphic>
          <a:graphicData uri="http://schemas.openxmlformats.org/presentationml/2006/ole">
            <mc:AlternateContent xmlns:mc="http://schemas.openxmlformats.org/markup-compatibility/2006">
              <mc:Choice xmlns:v="urn:schemas-microsoft-com:vml" Requires="v">
                <p:oleObj name="Equation" r:id="rId2" imgW="2247840" imgH="457200" progId="Equation.DSMT4">
                  <p:embed/>
                </p:oleObj>
              </mc:Choice>
              <mc:Fallback>
                <p:oleObj name="Equation" r:id="rId2" imgW="2247840" imgH="457200" progId="Equation.DSMT4">
                  <p:embed/>
                  <p:pic>
                    <p:nvPicPr>
                      <p:cNvPr id="10" name="对象 9"/>
                      <p:cNvPicPr>
                        <a:picLocks noChangeAspect="1" noChangeArrowheads="1"/>
                      </p:cNvPicPr>
                      <p:nvPr/>
                    </p:nvPicPr>
                    <p:blipFill>
                      <a:blip r:embed="rId3"/>
                      <a:srcRect/>
                      <a:stretch>
                        <a:fillRect/>
                      </a:stretch>
                    </p:blipFill>
                    <p:spPr bwMode="auto">
                      <a:xfrm>
                        <a:off x="2514600" y="1981200"/>
                        <a:ext cx="3589338" cy="7286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643979" y="3256955"/>
          <a:ext cx="914400" cy="685800"/>
        </p:xfrm>
        <a:graphic>
          <a:graphicData uri="http://schemas.openxmlformats.org/presentationml/2006/ole">
            <mc:AlternateContent xmlns:mc="http://schemas.openxmlformats.org/markup-compatibility/2006">
              <mc:Choice xmlns:v="urn:schemas-microsoft-com:vml" Requires="v">
                <p:oleObj name="Equation" r:id="rId4" imgW="609480" imgH="457200" progId="Equation.DSMT4">
                  <p:embed/>
                </p:oleObj>
              </mc:Choice>
              <mc:Fallback>
                <p:oleObj name="Equation" r:id="rId4" imgW="609480" imgH="457200" progId="Equation.DSMT4">
                  <p:embed/>
                  <p:pic>
                    <p:nvPicPr>
                      <p:cNvPr id="11" name="对象 10"/>
                      <p:cNvPicPr/>
                      <p:nvPr/>
                    </p:nvPicPr>
                    <p:blipFill>
                      <a:blip r:embed="rId5"/>
                      <a:stretch>
                        <a:fillRect/>
                      </a:stretch>
                    </p:blipFill>
                    <p:spPr>
                      <a:xfrm>
                        <a:off x="643979" y="3256955"/>
                        <a:ext cx="914400" cy="685800"/>
                      </a:xfrm>
                      <a:prstGeom prst="rect">
                        <a:avLst/>
                      </a:prstGeom>
                    </p:spPr>
                  </p:pic>
                </p:oleObj>
              </mc:Fallback>
            </mc:AlternateContent>
          </a:graphicData>
        </a:graphic>
      </p:graphicFrame>
      <p:sp>
        <p:nvSpPr>
          <p:cNvPr id="12" name="TextBox 11"/>
          <p:cNvSpPr txBox="1"/>
          <p:nvPr/>
        </p:nvSpPr>
        <p:spPr>
          <a:xfrm>
            <a:off x="2027134" y="3171825"/>
            <a:ext cx="6156973" cy="923330"/>
          </a:xfrm>
          <a:prstGeom prst="rect">
            <a:avLst/>
          </a:prstGeom>
          <a:noFill/>
        </p:spPr>
        <p:txBody>
          <a:bodyPr wrap="square" rtlCol="0">
            <a:spAutoFit/>
          </a:bodyPr>
          <a:lstStyle/>
          <a:p>
            <a:r>
              <a:rPr lang="en-US" altLang="zh-CN" dirty="0"/>
              <a:t>Represents the work done by the system per degree rise in temperature in expanding </a:t>
            </a:r>
            <a:r>
              <a:rPr lang="en-US" altLang="zh-CN" b="1" dirty="0"/>
              <a:t>against the constant external pressure P acting on the system</a:t>
            </a:r>
            <a:endParaRPr lang="zh-CN" altLang="en-US" b="1" dirty="0"/>
          </a:p>
        </p:txBody>
      </p:sp>
      <p:graphicFrame>
        <p:nvGraphicFramePr>
          <p:cNvPr id="13" name="对象 12"/>
          <p:cNvGraphicFramePr>
            <a:graphicFrameLocks noChangeAspect="1"/>
          </p:cNvGraphicFramePr>
          <p:nvPr/>
        </p:nvGraphicFramePr>
        <p:xfrm>
          <a:off x="319680" y="4547806"/>
          <a:ext cx="1438227" cy="690349"/>
        </p:xfrm>
        <a:graphic>
          <a:graphicData uri="http://schemas.openxmlformats.org/presentationml/2006/ole">
            <mc:AlternateContent xmlns:mc="http://schemas.openxmlformats.org/markup-compatibility/2006">
              <mc:Choice xmlns:v="urn:schemas-microsoft-com:vml" Requires="v">
                <p:oleObj name="Equation" r:id="rId6" imgW="952200" imgH="457200" progId="Equation.DSMT4">
                  <p:embed/>
                </p:oleObj>
              </mc:Choice>
              <mc:Fallback>
                <p:oleObj name="Equation" r:id="rId6" imgW="952200" imgH="457200" progId="Equation.DSMT4">
                  <p:embed/>
                  <p:pic>
                    <p:nvPicPr>
                      <p:cNvPr id="13" name="对象 12"/>
                      <p:cNvPicPr/>
                      <p:nvPr/>
                    </p:nvPicPr>
                    <p:blipFill>
                      <a:blip r:embed="rId7"/>
                      <a:stretch>
                        <a:fillRect/>
                      </a:stretch>
                    </p:blipFill>
                    <p:spPr>
                      <a:xfrm>
                        <a:off x="319680" y="4547806"/>
                        <a:ext cx="1438227" cy="690349"/>
                      </a:xfrm>
                      <a:prstGeom prst="rect">
                        <a:avLst/>
                      </a:prstGeom>
                    </p:spPr>
                  </p:pic>
                </p:oleObj>
              </mc:Fallback>
            </mc:AlternateContent>
          </a:graphicData>
        </a:graphic>
      </p:graphicFrame>
      <p:sp>
        <p:nvSpPr>
          <p:cNvPr id="14" name="TextBox 13"/>
          <p:cNvSpPr txBox="1"/>
          <p:nvPr/>
        </p:nvSpPr>
        <p:spPr>
          <a:xfrm>
            <a:off x="2148827" y="4399955"/>
            <a:ext cx="6156973" cy="923330"/>
          </a:xfrm>
          <a:prstGeom prst="rect">
            <a:avLst/>
          </a:prstGeom>
          <a:noFill/>
        </p:spPr>
        <p:txBody>
          <a:bodyPr wrap="square" rtlCol="0">
            <a:spAutoFit/>
          </a:bodyPr>
          <a:lstStyle/>
          <a:p>
            <a:r>
              <a:rPr lang="en-US" altLang="zh-CN" dirty="0"/>
              <a:t>Represents the work done by the system per degree rise in temperature in expanding against </a:t>
            </a:r>
            <a:r>
              <a:rPr lang="en-US" altLang="zh-CN" b="1" dirty="0"/>
              <a:t>the internal cohesive forces acting between the constituent particles of the substance </a:t>
            </a:r>
            <a:endParaRPr lang="zh-CN" altLang="en-US" b="1" dirty="0"/>
          </a:p>
        </p:txBody>
      </p:sp>
      <p:sp>
        <p:nvSpPr>
          <p:cNvPr id="16" name="Title 1"/>
          <p:cNvSpPr txBox="1">
            <a:spLocks/>
          </p:cNvSpPr>
          <p:nvPr/>
        </p:nvSpPr>
        <p:spPr>
          <a:xfrm>
            <a:off x="1295400" y="0"/>
            <a:ext cx="7848600" cy="12446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3200">
                <a:solidFill>
                  <a:srgbClr val="FF0000"/>
                </a:solidFill>
                <a:latin typeface="Arial" charset="0"/>
                <a:cs typeface="Arial" charset="0"/>
              </a:rPr>
              <a:t>The relation between C</a:t>
            </a:r>
            <a:r>
              <a:rPr lang="en-US" altLang="zh-CN" sz="3200" baseline="-25000">
                <a:solidFill>
                  <a:srgbClr val="FF0000"/>
                </a:solidFill>
                <a:latin typeface="Arial" charset="0"/>
                <a:cs typeface="Arial" charset="0"/>
              </a:rPr>
              <a:t>V</a:t>
            </a:r>
            <a:r>
              <a:rPr lang="en-US" altLang="zh-CN" sz="3200">
                <a:solidFill>
                  <a:srgbClr val="FF0000"/>
                </a:solidFill>
                <a:latin typeface="Arial" charset="0"/>
                <a:cs typeface="Arial" charset="0"/>
              </a:rPr>
              <a:t> and C</a:t>
            </a:r>
            <a:r>
              <a:rPr lang="en-US" altLang="zh-CN" sz="3200" baseline="-25000">
                <a:solidFill>
                  <a:srgbClr val="FF0000"/>
                </a:solidFill>
                <a:latin typeface="Arial" charset="0"/>
                <a:cs typeface="Arial" charset="0"/>
              </a:rPr>
              <a:t>P</a:t>
            </a:r>
            <a:endParaRPr lang="en-US" sz="3200" dirty="0">
              <a:solidFill>
                <a:srgbClr val="FF0000"/>
              </a:solidFill>
            </a:endParaRPr>
          </a:p>
        </p:txBody>
      </p:sp>
    </p:spTree>
    <p:extLst>
      <p:ext uri="{BB962C8B-B14F-4D97-AF65-F5344CB8AC3E}">
        <p14:creationId xmlns:p14="http://schemas.microsoft.com/office/powerpoint/2010/main" val="1596586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8" name="Text Box 9"/>
          <p:cNvSpPr txBox="1">
            <a:spLocks noChangeArrowheads="1"/>
          </p:cNvSpPr>
          <p:nvPr/>
        </p:nvSpPr>
        <p:spPr bwMode="auto">
          <a:xfrm>
            <a:off x="712526" y="1244600"/>
            <a:ext cx="73702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000" dirty="0">
                <a:ea typeface="宋体" charset="-122"/>
              </a:rPr>
              <a:t>Joule concluded that the internal energy of a gas (ideal) is a function of temperature only. </a:t>
            </a:r>
          </a:p>
        </p:txBody>
      </p:sp>
      <p:sp>
        <p:nvSpPr>
          <p:cNvPr id="19" name="Text Box 14"/>
          <p:cNvSpPr txBox="1">
            <a:spLocks noChangeArrowheads="1"/>
          </p:cNvSpPr>
          <p:nvPr/>
        </p:nvSpPr>
        <p:spPr bwMode="auto">
          <a:xfrm>
            <a:off x="846474" y="3353588"/>
            <a:ext cx="17379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000" dirty="0">
                <a:ea typeface="宋体" charset="-122"/>
              </a:rPr>
              <a:t>For ideal gas:</a:t>
            </a:r>
          </a:p>
        </p:txBody>
      </p:sp>
      <p:graphicFrame>
        <p:nvGraphicFramePr>
          <p:cNvPr id="15" name="对象 14"/>
          <p:cNvGraphicFramePr>
            <a:graphicFrameLocks noChangeAspect="1"/>
          </p:cNvGraphicFramePr>
          <p:nvPr/>
        </p:nvGraphicFramePr>
        <p:xfrm>
          <a:off x="1696671" y="3753698"/>
          <a:ext cx="1627187" cy="839788"/>
        </p:xfrm>
        <a:graphic>
          <a:graphicData uri="http://schemas.openxmlformats.org/presentationml/2006/ole">
            <mc:AlternateContent xmlns:mc="http://schemas.openxmlformats.org/markup-compatibility/2006">
              <mc:Choice xmlns:v="urn:schemas-microsoft-com:vml" Requires="v">
                <p:oleObj name="Equation" r:id="rId2" imgW="1130040" imgH="583920" progId="Equation.DSMT4">
                  <p:embed/>
                </p:oleObj>
              </mc:Choice>
              <mc:Fallback>
                <p:oleObj name="Equation" r:id="rId2" imgW="1130040" imgH="583920" progId="Equation.DSMT4">
                  <p:embed/>
                  <p:pic>
                    <p:nvPicPr>
                      <p:cNvPr id="15" name="对象 14"/>
                      <p:cNvPicPr>
                        <a:picLocks noChangeAspect="1" noChangeArrowheads="1"/>
                      </p:cNvPicPr>
                      <p:nvPr/>
                    </p:nvPicPr>
                    <p:blipFill>
                      <a:blip r:embed="rId3"/>
                      <a:srcRect/>
                      <a:stretch>
                        <a:fillRect/>
                      </a:stretch>
                    </p:blipFill>
                    <p:spPr bwMode="auto">
                      <a:xfrm>
                        <a:off x="1696671" y="3753698"/>
                        <a:ext cx="1627187" cy="839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nvGraphicFramePr>
        <p:xfrm>
          <a:off x="1772648" y="4974672"/>
          <a:ext cx="1326092" cy="434410"/>
        </p:xfrm>
        <a:graphic>
          <a:graphicData uri="http://schemas.openxmlformats.org/presentationml/2006/ole">
            <mc:AlternateContent xmlns:mc="http://schemas.openxmlformats.org/markup-compatibility/2006">
              <mc:Choice xmlns:v="urn:schemas-microsoft-com:vml" Requires="v">
                <p:oleObj name="Equation" r:id="rId4" imgW="736560" imgH="241200" progId="">
                  <p:embed/>
                </p:oleObj>
              </mc:Choice>
              <mc:Fallback>
                <p:oleObj name="Equation" r:id="rId4" imgW="736560" imgH="241200" progId="">
                  <p:embed/>
                  <p:pic>
                    <p:nvPicPr>
                      <p:cNvPr id="21" name="对象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2648" y="4974672"/>
                        <a:ext cx="1326092" cy="434410"/>
                      </a:xfrm>
                      <a:prstGeom prst="rect">
                        <a:avLst/>
                      </a:prstGeom>
                      <a:noFill/>
                      <a:ln w="19050">
                        <a:solidFill>
                          <a:srgbClr val="FF0000"/>
                        </a:solidFill>
                        <a:miter lim="800000"/>
                        <a:headEnd/>
                        <a:tailEnd/>
                      </a:ln>
                    </p:spPr>
                  </p:pic>
                </p:oleObj>
              </mc:Fallback>
            </mc:AlternateContent>
          </a:graphicData>
        </a:graphic>
      </p:graphicFrame>
      <p:sp>
        <p:nvSpPr>
          <p:cNvPr id="23" name="Title 1"/>
          <p:cNvSpPr txBox="1">
            <a:spLocks/>
          </p:cNvSpPr>
          <p:nvPr/>
        </p:nvSpPr>
        <p:spPr>
          <a:xfrm>
            <a:off x="1295400" y="0"/>
            <a:ext cx="7848600" cy="12446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2800">
                <a:solidFill>
                  <a:srgbClr val="FF0000"/>
                </a:solidFill>
                <a:latin typeface="Arial" charset="0"/>
                <a:cs typeface="Arial" charset="0"/>
              </a:rPr>
              <a:t>The relation between C</a:t>
            </a:r>
            <a:r>
              <a:rPr lang="en-US" altLang="zh-CN" sz="2800" baseline="-25000">
                <a:solidFill>
                  <a:srgbClr val="FF0000"/>
                </a:solidFill>
                <a:latin typeface="Arial" charset="0"/>
                <a:cs typeface="Arial" charset="0"/>
              </a:rPr>
              <a:t>V</a:t>
            </a:r>
            <a:r>
              <a:rPr lang="en-US" altLang="zh-CN" sz="2800">
                <a:solidFill>
                  <a:srgbClr val="FF0000"/>
                </a:solidFill>
                <a:latin typeface="Arial" charset="0"/>
                <a:cs typeface="Arial" charset="0"/>
              </a:rPr>
              <a:t> and C</a:t>
            </a:r>
            <a:r>
              <a:rPr lang="en-US" altLang="zh-CN" sz="2800" baseline="-25000">
                <a:solidFill>
                  <a:srgbClr val="FF0000"/>
                </a:solidFill>
                <a:latin typeface="Arial" charset="0"/>
                <a:cs typeface="Arial" charset="0"/>
              </a:rPr>
              <a:t>P</a:t>
            </a:r>
            <a:endParaRPr lang="en-US" sz="2800" dirty="0">
              <a:solidFill>
                <a:srgbClr val="FF0000"/>
              </a:solidFill>
            </a:endParaRPr>
          </a:p>
        </p:txBody>
      </p:sp>
      <p:sp>
        <p:nvSpPr>
          <p:cNvPr id="24" name="TextBox 23"/>
          <p:cNvSpPr txBox="1"/>
          <p:nvPr/>
        </p:nvSpPr>
        <p:spPr>
          <a:xfrm>
            <a:off x="1502554" y="2094381"/>
            <a:ext cx="1363450" cy="369332"/>
          </a:xfrm>
          <a:prstGeom prst="rect">
            <a:avLst/>
          </a:prstGeom>
          <a:noFill/>
        </p:spPr>
        <p:txBody>
          <a:bodyPr wrap="none" rtlCol="0">
            <a:spAutoFit/>
          </a:bodyPr>
          <a:lstStyle/>
          <a:p>
            <a:r>
              <a:rPr lang="en-US" altLang="zh-CN" dirty="0"/>
              <a:t>For idea gas:</a:t>
            </a:r>
            <a:endParaRPr lang="zh-CN" altLang="en-US" dirty="0"/>
          </a:p>
        </p:txBody>
      </p:sp>
      <p:sp>
        <p:nvSpPr>
          <p:cNvPr id="25" name="TextBox 24"/>
          <p:cNvSpPr txBox="1"/>
          <p:nvPr/>
        </p:nvSpPr>
        <p:spPr>
          <a:xfrm>
            <a:off x="1502554" y="2616113"/>
            <a:ext cx="1866280" cy="369332"/>
          </a:xfrm>
          <a:prstGeom prst="rect">
            <a:avLst/>
          </a:prstGeom>
          <a:noFill/>
        </p:spPr>
        <p:txBody>
          <a:bodyPr wrap="none" rtlCol="0">
            <a:spAutoFit/>
          </a:bodyPr>
          <a:lstStyle/>
          <a:p>
            <a:r>
              <a:rPr lang="en-US" altLang="zh-CN" dirty="0"/>
              <a:t>For liquid or solid </a:t>
            </a:r>
            <a:endParaRPr lang="zh-CN" altLang="en-US" dirty="0"/>
          </a:p>
        </p:txBody>
      </p:sp>
      <p:graphicFrame>
        <p:nvGraphicFramePr>
          <p:cNvPr id="27" name="对象 26"/>
          <p:cNvGraphicFramePr>
            <a:graphicFrameLocks noChangeAspect="1"/>
          </p:cNvGraphicFramePr>
          <p:nvPr/>
        </p:nvGraphicFramePr>
        <p:xfrm>
          <a:off x="3331354" y="2564281"/>
          <a:ext cx="812800" cy="444500"/>
        </p:xfrm>
        <a:graphic>
          <a:graphicData uri="http://schemas.openxmlformats.org/presentationml/2006/ole">
            <mc:AlternateContent xmlns:mc="http://schemas.openxmlformats.org/markup-compatibility/2006">
              <mc:Choice xmlns:v="urn:schemas-microsoft-com:vml" Requires="v">
                <p:oleObj name="Equation" r:id="rId6" imgW="812520" imgH="444240" progId="Equation.DSMT4">
                  <p:embed/>
                </p:oleObj>
              </mc:Choice>
              <mc:Fallback>
                <p:oleObj name="Equation" r:id="rId6" imgW="812520" imgH="444240" progId="Equation.DSMT4">
                  <p:embed/>
                  <p:pic>
                    <p:nvPicPr>
                      <p:cNvPr id="27" name="对象 26"/>
                      <p:cNvPicPr>
                        <a:picLocks noChangeAspect="1" noChangeArrowheads="1"/>
                      </p:cNvPicPr>
                      <p:nvPr/>
                    </p:nvPicPr>
                    <p:blipFill>
                      <a:blip r:embed="rId7"/>
                      <a:srcRect/>
                      <a:stretch>
                        <a:fillRect/>
                      </a:stretch>
                    </p:blipFill>
                    <p:spPr bwMode="auto">
                      <a:xfrm>
                        <a:off x="3331354" y="2564281"/>
                        <a:ext cx="812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对象 27"/>
          <p:cNvGraphicFramePr>
            <a:graphicFrameLocks noChangeAspect="1"/>
          </p:cNvGraphicFramePr>
          <p:nvPr/>
        </p:nvGraphicFramePr>
        <p:xfrm>
          <a:off x="3142598" y="2019213"/>
          <a:ext cx="723900" cy="444500"/>
        </p:xfrm>
        <a:graphic>
          <a:graphicData uri="http://schemas.openxmlformats.org/presentationml/2006/ole">
            <mc:AlternateContent xmlns:mc="http://schemas.openxmlformats.org/markup-compatibility/2006">
              <mc:Choice xmlns:v="urn:schemas-microsoft-com:vml" Requires="v">
                <p:oleObj name="Equation" r:id="rId8" imgW="723600" imgH="444240" progId="Equation.DSMT4">
                  <p:embed/>
                </p:oleObj>
              </mc:Choice>
              <mc:Fallback>
                <p:oleObj name="Equation" r:id="rId8" imgW="723600" imgH="444240" progId="Equation.DSMT4">
                  <p:embed/>
                  <p:pic>
                    <p:nvPicPr>
                      <p:cNvPr id="28" name="对象 27"/>
                      <p:cNvPicPr/>
                      <p:nvPr/>
                    </p:nvPicPr>
                    <p:blipFill>
                      <a:blip r:embed="rId9"/>
                      <a:stretch>
                        <a:fillRect/>
                      </a:stretch>
                    </p:blipFill>
                    <p:spPr>
                      <a:xfrm>
                        <a:off x="3142598" y="2019213"/>
                        <a:ext cx="723900" cy="444500"/>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5893310" y="2113669"/>
          <a:ext cx="2984500" cy="700087"/>
        </p:xfrm>
        <a:graphic>
          <a:graphicData uri="http://schemas.openxmlformats.org/presentationml/2006/ole">
            <mc:AlternateContent xmlns:mc="http://schemas.openxmlformats.org/markup-compatibility/2006">
              <mc:Choice xmlns:v="urn:schemas-microsoft-com:vml" Requires="v">
                <p:oleObj name="Equation" r:id="rId10" imgW="1841400" imgH="431640" progId="Equation.DSMT4">
                  <p:embed/>
                </p:oleObj>
              </mc:Choice>
              <mc:Fallback>
                <p:oleObj name="Equation" r:id="rId10" imgW="1841400" imgH="431640" progId="Equation.DSMT4">
                  <p:embed/>
                  <p:pic>
                    <p:nvPicPr>
                      <p:cNvPr id="4" name="对象 3"/>
                      <p:cNvPicPr>
                        <a:picLocks noChangeAspect="1" noChangeArrowheads="1"/>
                      </p:cNvPicPr>
                      <p:nvPr/>
                    </p:nvPicPr>
                    <p:blipFill>
                      <a:blip r:embed="rId11"/>
                      <a:srcRect/>
                      <a:stretch>
                        <a:fillRect/>
                      </a:stretch>
                    </p:blipFill>
                    <p:spPr bwMode="auto">
                      <a:xfrm>
                        <a:off x="5893310" y="2113669"/>
                        <a:ext cx="2984500" cy="700087"/>
                      </a:xfrm>
                      <a:prstGeom prst="rect">
                        <a:avLst/>
                      </a:prstGeom>
                      <a:solidFill>
                        <a:srgbClr val="FFE6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文本框 12">
            <a:extLst>
              <a:ext uri="{FF2B5EF4-FFF2-40B4-BE49-F238E27FC236}">
                <a16:creationId xmlns:a16="http://schemas.microsoft.com/office/drawing/2014/main" id="{1A183A54-EE55-468A-88CB-736B9565D045}"/>
              </a:ext>
            </a:extLst>
          </p:cNvPr>
          <p:cNvSpPr txBox="1"/>
          <p:nvPr/>
        </p:nvSpPr>
        <p:spPr>
          <a:xfrm>
            <a:off x="1695070" y="5428734"/>
            <a:ext cx="1524000" cy="369332"/>
          </a:xfrm>
          <a:prstGeom prst="rect">
            <a:avLst/>
          </a:prstGeom>
          <a:noFill/>
        </p:spPr>
        <p:txBody>
          <a:bodyPr wrap="square" rtlCol="0">
            <a:spAutoFit/>
          </a:bodyPr>
          <a:lstStyle/>
          <a:p>
            <a:r>
              <a:rPr lang="en-US" altLang="zh-CN" b="1" dirty="0">
                <a:solidFill>
                  <a:srgbClr val="7030A0"/>
                </a:solidFill>
              </a:rPr>
              <a:t>Quiz 1</a:t>
            </a:r>
            <a:r>
              <a:rPr lang="zh-CN" altLang="en-US" b="1" dirty="0">
                <a:solidFill>
                  <a:srgbClr val="7030A0"/>
                </a:solidFill>
              </a:rPr>
              <a:t>：</a:t>
            </a:r>
            <a:r>
              <a:rPr lang="en-US" altLang="zh-CN" b="1" dirty="0">
                <a:solidFill>
                  <a:srgbClr val="7030A0"/>
                </a:solidFill>
              </a:rPr>
              <a:t>3</a:t>
            </a:r>
            <a:endParaRPr lang="zh-CN" altLang="en-US" b="1" dirty="0">
              <a:solidFill>
                <a:srgbClr val="7030A0"/>
              </a:solidFill>
            </a:endParaRPr>
          </a:p>
        </p:txBody>
      </p:sp>
    </p:spTree>
    <p:extLst>
      <p:ext uri="{BB962C8B-B14F-4D97-AF65-F5344CB8AC3E}">
        <p14:creationId xmlns:p14="http://schemas.microsoft.com/office/powerpoint/2010/main" val="129174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9800" y="3437398"/>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圆角矩形 6"/>
          <p:cNvSpPr/>
          <p:nvPr/>
        </p:nvSpPr>
        <p:spPr>
          <a:xfrm>
            <a:off x="1063916" y="3437398"/>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7"/>
          <p:cNvSpPr/>
          <p:nvPr/>
        </p:nvSpPr>
        <p:spPr>
          <a:xfrm>
            <a:off x="4774200" y="3437398"/>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TextBox 9"/>
          <p:cNvSpPr txBox="1"/>
          <p:nvPr/>
        </p:nvSpPr>
        <p:spPr>
          <a:xfrm>
            <a:off x="1219200" y="2602300"/>
            <a:ext cx="3956532"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dirty="0">
                <a:solidFill>
                  <a:srgbClr val="FF0000"/>
                </a:solidFill>
              </a:rPr>
              <a:t>5. Carnot Efficiency</a:t>
            </a:r>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165869"/>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1063916" y="3890665"/>
            <a:ext cx="7546684" cy="1231106"/>
          </a:xfrm>
          <a:prstGeom prst="rect">
            <a:avLst/>
          </a:prstGeom>
        </p:spPr>
        <p:txBody>
          <a:bodyPr wrap="square">
            <a:spAutoFit/>
          </a:bodyPr>
          <a:lstStyle/>
          <a:p>
            <a:pPr>
              <a:spcAft>
                <a:spcPts val="1200"/>
              </a:spcAft>
            </a:pPr>
            <a:r>
              <a:rPr lang="en-US" altLang="zh-CN" b="1" dirty="0">
                <a:solidFill>
                  <a:srgbClr val="0000FF"/>
                </a:solidFill>
              </a:rPr>
              <a:t>Chapter 3</a:t>
            </a:r>
          </a:p>
          <a:p>
            <a:pPr>
              <a:spcAft>
                <a:spcPts val="1200"/>
              </a:spcAft>
            </a:pPr>
            <a:r>
              <a:rPr lang="en-US" altLang="zh-CN" b="1" dirty="0">
                <a:solidFill>
                  <a:srgbClr val="0000FF"/>
                </a:solidFill>
              </a:rPr>
              <a:t>Introduction to the thermodynamics of materials</a:t>
            </a:r>
            <a:r>
              <a:rPr lang="en-US" altLang="zh-CN" dirty="0">
                <a:solidFill>
                  <a:srgbClr val="0000FF"/>
                </a:solidFill>
              </a:rPr>
              <a:t>, </a:t>
            </a:r>
          </a:p>
          <a:p>
            <a:pPr>
              <a:spcAft>
                <a:spcPts val="1200"/>
              </a:spcAft>
            </a:pPr>
            <a:r>
              <a:rPr lang="en-US" altLang="zh-CN" dirty="0">
                <a:solidFill>
                  <a:srgbClr val="0000FF"/>
                </a:solidFill>
              </a:rPr>
              <a:t>5</a:t>
            </a:r>
            <a:r>
              <a:rPr lang="en-US" altLang="zh-CN" baseline="30000" dirty="0">
                <a:solidFill>
                  <a:srgbClr val="0000FF"/>
                </a:solidFill>
              </a:rPr>
              <a:t>th</a:t>
            </a:r>
            <a:r>
              <a:rPr lang="zh-CN" altLang="en-US" dirty="0">
                <a:solidFill>
                  <a:srgbClr val="0000FF"/>
                </a:solidFill>
              </a:rPr>
              <a:t> </a:t>
            </a:r>
            <a:r>
              <a:rPr lang="en-US" altLang="zh-CN" dirty="0">
                <a:solidFill>
                  <a:srgbClr val="0000FF"/>
                </a:solidFill>
              </a:rPr>
              <a:t>or 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88266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09B64CF6-B479-465F-8E03-B8681FDB4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397" y="1342802"/>
            <a:ext cx="3914358"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8">
            <a:extLst>
              <a:ext uri="{FF2B5EF4-FFF2-40B4-BE49-F238E27FC236}">
                <a16:creationId xmlns:a16="http://schemas.microsoft.com/office/drawing/2014/main" id="{CB2244CF-F01F-49D2-9B5D-4703639820C8}"/>
              </a:ext>
            </a:extLst>
          </p:cNvPr>
          <p:cNvSpPr txBox="1">
            <a:spLocks noChangeArrowheads="1"/>
          </p:cNvSpPr>
          <p:nvPr/>
        </p:nvSpPr>
        <p:spPr bwMode="auto">
          <a:xfrm>
            <a:off x="549680" y="4145010"/>
            <a:ext cx="4298767" cy="1985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eaLnBrk="1" hangingPunct="1">
              <a:lnSpc>
                <a:spcPct val="200000"/>
              </a:lnSpc>
            </a:pPr>
            <a:r>
              <a:rPr lang="en-US" altLang="zh-CN" sz="1600" b="1" dirty="0">
                <a:solidFill>
                  <a:srgbClr val="000000"/>
                </a:solidFill>
                <a:ea typeface="宋体" panose="02010600030101010101" pitchFamily="2" charset="-122"/>
              </a:rPr>
              <a:t>A-B: Reversible isothermal expansion</a:t>
            </a:r>
            <a:r>
              <a:rPr lang="en-US" altLang="zh-CN" sz="1600" dirty="0">
                <a:solidFill>
                  <a:srgbClr val="000000"/>
                </a:solidFill>
                <a:ea typeface="宋体" panose="02010600030101010101" pitchFamily="2" charset="-122"/>
              </a:rPr>
              <a:t>. </a:t>
            </a:r>
          </a:p>
          <a:p>
            <a:pPr defTabSz="914400" eaLnBrk="1" hangingPunct="1">
              <a:lnSpc>
                <a:spcPct val="200000"/>
              </a:lnSpc>
            </a:pPr>
            <a:r>
              <a:rPr lang="en-US" altLang="zh-CN" sz="1600" b="1" dirty="0">
                <a:solidFill>
                  <a:srgbClr val="000000"/>
                </a:solidFill>
                <a:ea typeface="宋体" panose="02010600030101010101" pitchFamily="2" charset="-122"/>
              </a:rPr>
              <a:t>B-C: Reversible Adiabatic expansion</a:t>
            </a:r>
            <a:r>
              <a:rPr lang="en-US" altLang="zh-CN" sz="1600" dirty="0">
                <a:solidFill>
                  <a:srgbClr val="000000"/>
                </a:solidFill>
                <a:ea typeface="宋体" panose="02010600030101010101" pitchFamily="2" charset="-122"/>
              </a:rPr>
              <a:t>. </a:t>
            </a:r>
          </a:p>
          <a:p>
            <a:pPr defTabSz="914400" eaLnBrk="1" hangingPunct="1">
              <a:lnSpc>
                <a:spcPct val="200000"/>
              </a:lnSpc>
            </a:pPr>
            <a:r>
              <a:rPr lang="en-US" altLang="zh-CN" sz="1600" b="1" dirty="0">
                <a:solidFill>
                  <a:srgbClr val="000000"/>
                </a:solidFill>
                <a:ea typeface="宋体" panose="02010600030101010101" pitchFamily="2" charset="-122"/>
              </a:rPr>
              <a:t>C-D: Reversible isothermal compression</a:t>
            </a:r>
            <a:r>
              <a:rPr lang="en-US" altLang="zh-CN" sz="1600" dirty="0">
                <a:solidFill>
                  <a:srgbClr val="000000"/>
                </a:solidFill>
                <a:ea typeface="宋体" panose="02010600030101010101" pitchFamily="2" charset="-122"/>
              </a:rPr>
              <a:t>. </a:t>
            </a:r>
          </a:p>
          <a:p>
            <a:pPr defTabSz="914400" eaLnBrk="1" hangingPunct="1">
              <a:lnSpc>
                <a:spcPct val="200000"/>
              </a:lnSpc>
            </a:pPr>
            <a:r>
              <a:rPr lang="en-US" altLang="zh-CN" sz="1600" b="1" dirty="0">
                <a:solidFill>
                  <a:srgbClr val="000000"/>
                </a:solidFill>
                <a:ea typeface="宋体" panose="02010600030101010101" pitchFamily="2" charset="-122"/>
              </a:rPr>
              <a:t>D-A: Reversible adiabatic compression</a:t>
            </a:r>
            <a:r>
              <a:rPr lang="en-US" altLang="zh-CN" sz="1600" dirty="0">
                <a:solidFill>
                  <a:srgbClr val="000000"/>
                </a:solidFill>
                <a:ea typeface="宋体" panose="02010600030101010101" pitchFamily="2" charset="-122"/>
              </a:rPr>
              <a:t>. </a:t>
            </a:r>
          </a:p>
        </p:txBody>
      </p:sp>
      <p:sp>
        <p:nvSpPr>
          <p:cNvPr id="4" name="矩形 3">
            <a:extLst>
              <a:ext uri="{FF2B5EF4-FFF2-40B4-BE49-F238E27FC236}">
                <a16:creationId xmlns:a16="http://schemas.microsoft.com/office/drawing/2014/main" id="{62337CD9-7E31-45A8-8571-10FB97E63FC5}"/>
              </a:ext>
            </a:extLst>
          </p:cNvPr>
          <p:cNvSpPr/>
          <p:nvPr/>
        </p:nvSpPr>
        <p:spPr>
          <a:xfrm>
            <a:off x="89184" y="114940"/>
            <a:ext cx="5777965" cy="523220"/>
          </a:xfrm>
          <a:prstGeom prst="rect">
            <a:avLst/>
          </a:prstGeom>
        </p:spPr>
        <p:txBody>
          <a:bodyPr wrap="square">
            <a:spAutoFit/>
          </a:bodyPr>
          <a:lstStyle/>
          <a:p>
            <a:r>
              <a:rPr lang="en-US" altLang="zh-CN" sz="2800" dirty="0">
                <a:solidFill>
                  <a:srgbClr val="FF0000"/>
                </a:solidFill>
              </a:rPr>
              <a:t>Carnot cycles in Clapeyron graph</a:t>
            </a:r>
            <a:endParaRPr lang="zh-CN" altLang="en-US" sz="2800" dirty="0">
              <a:solidFill>
                <a:srgbClr val="FF0000"/>
              </a:solidFill>
            </a:endParaRPr>
          </a:p>
        </p:txBody>
      </p:sp>
      <p:pic>
        <p:nvPicPr>
          <p:cNvPr id="54274" name="Picture 2" descr="BenoitClapeyron (dÃ©tail).jpg">
            <a:extLst>
              <a:ext uri="{FF2B5EF4-FFF2-40B4-BE49-F238E27FC236}">
                <a16:creationId xmlns:a16="http://schemas.microsoft.com/office/drawing/2014/main" id="{AED47E3A-52A7-4722-B91C-B574CF869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3896" y="1224073"/>
            <a:ext cx="1676400" cy="234315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385C243D-2553-42B6-9781-99156C86099D}"/>
              </a:ext>
            </a:extLst>
          </p:cNvPr>
          <p:cNvSpPr txBox="1"/>
          <p:nvPr/>
        </p:nvSpPr>
        <p:spPr>
          <a:xfrm>
            <a:off x="6984742" y="3960067"/>
            <a:ext cx="1274708" cy="646331"/>
          </a:xfrm>
          <a:prstGeom prst="rect">
            <a:avLst/>
          </a:prstGeom>
          <a:noFill/>
        </p:spPr>
        <p:txBody>
          <a:bodyPr wrap="none" rtlCol="0">
            <a:spAutoFit/>
          </a:bodyPr>
          <a:lstStyle/>
          <a:p>
            <a:r>
              <a:rPr lang="en-US" altLang="zh-CN" dirty="0"/>
              <a:t>1799-1864</a:t>
            </a:r>
          </a:p>
          <a:p>
            <a:pPr algn="ctr"/>
            <a:r>
              <a:rPr lang="en-US" altLang="zh-CN" dirty="0"/>
              <a:t>French </a:t>
            </a:r>
          </a:p>
        </p:txBody>
      </p:sp>
      <p:sp>
        <p:nvSpPr>
          <p:cNvPr id="6" name="矩形 5">
            <a:extLst>
              <a:ext uri="{FF2B5EF4-FFF2-40B4-BE49-F238E27FC236}">
                <a16:creationId xmlns:a16="http://schemas.microsoft.com/office/drawing/2014/main" id="{6DB5291D-1ACC-445B-8D3C-625F918572A8}"/>
              </a:ext>
            </a:extLst>
          </p:cNvPr>
          <p:cNvSpPr/>
          <p:nvPr/>
        </p:nvSpPr>
        <p:spPr>
          <a:xfrm>
            <a:off x="6574374" y="3658601"/>
            <a:ext cx="2095445" cy="369332"/>
          </a:xfrm>
          <a:prstGeom prst="rect">
            <a:avLst/>
          </a:prstGeom>
        </p:spPr>
        <p:txBody>
          <a:bodyPr wrap="none">
            <a:spAutoFit/>
          </a:bodyPr>
          <a:lstStyle/>
          <a:p>
            <a:r>
              <a:rPr lang="en-US" altLang="zh-CN" b="1" dirty="0">
                <a:solidFill>
                  <a:srgbClr val="222222"/>
                </a:solidFill>
                <a:latin typeface="Arial" panose="020B0604020202020204" pitchFamily="34" charset="0"/>
              </a:rPr>
              <a:t>Benoît Clapeyron</a:t>
            </a:r>
            <a:endParaRPr lang="zh-CN" altLang="en-US" dirty="0"/>
          </a:p>
        </p:txBody>
      </p:sp>
      <p:sp>
        <p:nvSpPr>
          <p:cNvPr id="7" name="矩形 6">
            <a:extLst>
              <a:ext uri="{FF2B5EF4-FFF2-40B4-BE49-F238E27FC236}">
                <a16:creationId xmlns:a16="http://schemas.microsoft.com/office/drawing/2014/main" id="{CB3C757A-CE3F-4F1B-943A-45EC09FCB3D6}"/>
              </a:ext>
            </a:extLst>
          </p:cNvPr>
          <p:cNvSpPr/>
          <p:nvPr/>
        </p:nvSpPr>
        <p:spPr>
          <a:xfrm>
            <a:off x="6440409" y="4652564"/>
            <a:ext cx="2703591" cy="646331"/>
          </a:xfrm>
          <a:prstGeom prst="rect">
            <a:avLst/>
          </a:prstGeom>
        </p:spPr>
        <p:txBody>
          <a:bodyPr wrap="square">
            <a:spAutoFit/>
          </a:bodyPr>
          <a:lstStyle/>
          <a:p>
            <a:pPr algn="ctr"/>
            <a:r>
              <a:rPr lang="en-US" altLang="zh-CN" dirty="0"/>
              <a:t>one of the founders of </a:t>
            </a:r>
            <a:r>
              <a:rPr lang="en-US" altLang="zh-CN" dirty="0">
                <a:hlinkClick r:id="rId4"/>
              </a:rPr>
              <a:t>thermodynamics</a:t>
            </a:r>
            <a:endParaRPr lang="zh-CN" altLang="en-US" dirty="0"/>
          </a:p>
        </p:txBody>
      </p:sp>
      <p:sp>
        <p:nvSpPr>
          <p:cNvPr id="11" name="文本框 10">
            <a:extLst>
              <a:ext uri="{FF2B5EF4-FFF2-40B4-BE49-F238E27FC236}">
                <a16:creationId xmlns:a16="http://schemas.microsoft.com/office/drawing/2014/main" id="{10514BE5-124B-4C5D-91F9-A1066E20E8D2}"/>
              </a:ext>
            </a:extLst>
          </p:cNvPr>
          <p:cNvSpPr txBox="1"/>
          <p:nvPr/>
        </p:nvSpPr>
        <p:spPr>
          <a:xfrm>
            <a:off x="514263" y="6130682"/>
            <a:ext cx="1524000" cy="369332"/>
          </a:xfrm>
          <a:prstGeom prst="rect">
            <a:avLst/>
          </a:prstGeom>
          <a:noFill/>
        </p:spPr>
        <p:txBody>
          <a:bodyPr wrap="square" rtlCol="0">
            <a:spAutoFit/>
          </a:bodyPr>
          <a:lstStyle/>
          <a:p>
            <a:r>
              <a:rPr lang="en-US" altLang="zh-CN" b="1" dirty="0">
                <a:solidFill>
                  <a:srgbClr val="7030A0"/>
                </a:solidFill>
              </a:rPr>
              <a:t>Quiz 2</a:t>
            </a:r>
            <a:r>
              <a:rPr lang="zh-CN" altLang="en-US" b="1" dirty="0">
                <a:solidFill>
                  <a:srgbClr val="7030A0"/>
                </a:solidFill>
              </a:rPr>
              <a:t>：</a:t>
            </a:r>
            <a:r>
              <a:rPr lang="en-US" altLang="zh-CN" b="1" dirty="0">
                <a:solidFill>
                  <a:srgbClr val="7030A0"/>
                </a:solidFill>
              </a:rPr>
              <a:t>1</a:t>
            </a:r>
            <a:endParaRPr lang="zh-CN" altLang="en-US" b="1" dirty="0">
              <a:solidFill>
                <a:srgbClr val="7030A0"/>
              </a:solidFill>
            </a:endParaRPr>
          </a:p>
        </p:txBody>
      </p:sp>
    </p:spTree>
    <p:extLst>
      <p:ext uri="{BB962C8B-B14F-4D97-AF65-F5344CB8AC3E}">
        <p14:creationId xmlns:p14="http://schemas.microsoft.com/office/powerpoint/2010/main" val="2593387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155575" y="108846"/>
            <a:ext cx="7162835" cy="568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dirty="0">
                <a:solidFill>
                  <a:srgbClr val="FF0000"/>
                </a:solidFill>
                <a:latin typeface="Arial" panose="020B0604020202020204" pitchFamily="34" charset="0"/>
                <a:cs typeface="Arial" panose="020B0604020202020204" pitchFamily="34" charset="0"/>
              </a:rPr>
              <a:t>Properties of Heat Engine</a:t>
            </a:r>
            <a:endParaRPr lang="en-US" altLang="zh-CN" dirty="0">
              <a:solidFill>
                <a:srgbClr val="FF0000"/>
              </a:solidFill>
            </a:endParaRPr>
          </a:p>
        </p:txBody>
      </p:sp>
      <p:graphicFrame>
        <p:nvGraphicFramePr>
          <p:cNvPr id="10" name="Object 2"/>
          <p:cNvGraphicFramePr>
            <a:graphicFrameLocks noChangeAspect="1"/>
          </p:cNvGraphicFramePr>
          <p:nvPr/>
        </p:nvGraphicFramePr>
        <p:xfrm>
          <a:off x="450297" y="1449238"/>
          <a:ext cx="6462875" cy="2976524"/>
        </p:xfrm>
        <a:graphic>
          <a:graphicData uri="http://schemas.openxmlformats.org/presentationml/2006/ole">
            <mc:AlternateContent xmlns:mc="http://schemas.openxmlformats.org/markup-compatibility/2006">
              <mc:Choice xmlns:v="urn:schemas-microsoft-com:vml" Requires="v">
                <p:oleObj name="公式" r:id="rId2" imgW="4000500" imgH="1841500" progId="Equation.3">
                  <p:embed/>
                </p:oleObj>
              </mc:Choice>
              <mc:Fallback>
                <p:oleObj name="公式" r:id="rId2" imgW="4000500" imgH="1841500" progId="Equation.3">
                  <p:embed/>
                  <p:pic>
                    <p:nvPicPr>
                      <p:cNvPr id="1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97" y="1449238"/>
                        <a:ext cx="6462875" cy="2976524"/>
                      </a:xfrm>
                      <a:prstGeom prst="rect">
                        <a:avLst/>
                      </a:prstGeom>
                      <a:noFill/>
                    </p:spPr>
                  </p:pic>
                </p:oleObj>
              </mc:Fallback>
            </mc:AlternateContent>
          </a:graphicData>
        </a:graphic>
      </p:graphicFrame>
      <p:graphicFrame>
        <p:nvGraphicFramePr>
          <p:cNvPr id="11" name="Object 3"/>
          <p:cNvGraphicFramePr>
            <a:graphicFrameLocks noChangeAspect="1"/>
          </p:cNvGraphicFramePr>
          <p:nvPr/>
        </p:nvGraphicFramePr>
        <p:xfrm>
          <a:off x="450297" y="4802038"/>
          <a:ext cx="6375199" cy="1066800"/>
        </p:xfrm>
        <a:graphic>
          <a:graphicData uri="http://schemas.openxmlformats.org/presentationml/2006/ole">
            <mc:AlternateContent xmlns:mc="http://schemas.openxmlformats.org/markup-compatibility/2006">
              <mc:Choice xmlns:v="urn:schemas-microsoft-com:vml" Requires="v">
                <p:oleObj name="公式" r:id="rId4" imgW="5016500" imgH="838200" progId="Equation.3">
                  <p:embed/>
                </p:oleObj>
              </mc:Choice>
              <mc:Fallback>
                <p:oleObj name="公式" r:id="rId4" imgW="5016500" imgH="838200" progId="Equation.3">
                  <p:embed/>
                  <p:pic>
                    <p:nvPicPr>
                      <p:cNvPr id="1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297" y="4802038"/>
                        <a:ext cx="6375199" cy="1066800"/>
                      </a:xfrm>
                      <a:prstGeom prst="rect">
                        <a:avLst/>
                      </a:prstGeom>
                      <a:noFill/>
                    </p:spPr>
                  </p:pic>
                </p:oleObj>
              </mc:Fallback>
            </mc:AlternateContent>
          </a:graphicData>
        </a:graphic>
      </p:graphicFrame>
      <p:graphicFrame>
        <p:nvGraphicFramePr>
          <p:cNvPr id="12" name="Object 4"/>
          <p:cNvGraphicFramePr>
            <a:graphicFrameLocks noChangeAspect="1"/>
          </p:cNvGraphicFramePr>
          <p:nvPr/>
        </p:nvGraphicFramePr>
        <p:xfrm>
          <a:off x="3726897" y="3739962"/>
          <a:ext cx="4986460" cy="558234"/>
        </p:xfrm>
        <a:graphic>
          <a:graphicData uri="http://schemas.openxmlformats.org/presentationml/2006/ole">
            <mc:AlternateContent xmlns:mc="http://schemas.openxmlformats.org/markup-compatibility/2006">
              <mc:Choice xmlns:v="urn:schemas-microsoft-com:vml" Requires="v">
                <p:oleObj name="公式" r:id="rId6" imgW="4089400" imgH="457200" progId="Equation.3">
                  <p:embed/>
                </p:oleObj>
              </mc:Choice>
              <mc:Fallback>
                <p:oleObj name="公式" r:id="rId6" imgW="4089400" imgH="457200" progId="Equation.3">
                  <p:embed/>
                  <p:pic>
                    <p:nvPicPr>
                      <p:cNvPr id="1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6897" y="3739962"/>
                        <a:ext cx="4986460" cy="558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右大括号 12"/>
          <p:cNvSpPr/>
          <p:nvPr/>
        </p:nvSpPr>
        <p:spPr>
          <a:xfrm>
            <a:off x="3422097" y="3722377"/>
            <a:ext cx="193430" cy="703385"/>
          </a:xfrm>
          <a:prstGeom prst="rightBrace">
            <a:avLst/>
          </a:prstGeom>
          <a:ln w="12700">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pic>
        <p:nvPicPr>
          <p:cNvPr id="15"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13172" y="1037353"/>
            <a:ext cx="2154627" cy="176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7291920" y="997130"/>
            <a:ext cx="1775880" cy="307777"/>
          </a:xfrm>
          <a:prstGeom prst="rect">
            <a:avLst/>
          </a:prstGeom>
          <a:noFill/>
        </p:spPr>
        <p:txBody>
          <a:bodyPr wrap="square" rtlCol="0">
            <a:spAutoFit/>
          </a:bodyPr>
          <a:lstStyle/>
          <a:p>
            <a:r>
              <a:rPr lang="en-US" altLang="zh-CN" sz="1400" dirty="0"/>
              <a:t>One mole ideal gas.</a:t>
            </a:r>
            <a:endParaRPr lang="zh-CN" altLang="en-US" sz="1400" dirty="0"/>
          </a:p>
        </p:txBody>
      </p:sp>
    </p:spTree>
    <p:extLst>
      <p:ext uri="{BB962C8B-B14F-4D97-AF65-F5344CB8AC3E}">
        <p14:creationId xmlns:p14="http://schemas.microsoft.com/office/powerpoint/2010/main" val="3253943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7735590-CD3D-40D8-891C-3393A917E0C6}"/>
              </a:ext>
            </a:extLst>
          </p:cNvPr>
          <p:cNvSpPr txBox="1"/>
          <p:nvPr/>
        </p:nvSpPr>
        <p:spPr>
          <a:xfrm>
            <a:off x="457200" y="457200"/>
            <a:ext cx="1524000" cy="369332"/>
          </a:xfrm>
          <a:prstGeom prst="rect">
            <a:avLst/>
          </a:prstGeom>
          <a:noFill/>
        </p:spPr>
        <p:txBody>
          <a:bodyPr wrap="square" rtlCol="0">
            <a:spAutoFit/>
          </a:bodyPr>
          <a:lstStyle/>
          <a:p>
            <a:r>
              <a:rPr lang="en-US" altLang="zh-CN" b="1" dirty="0">
                <a:solidFill>
                  <a:srgbClr val="7030A0"/>
                </a:solidFill>
              </a:rPr>
              <a:t>Quiz 2</a:t>
            </a:r>
            <a:r>
              <a:rPr lang="zh-CN" altLang="en-US" b="1" dirty="0">
                <a:solidFill>
                  <a:srgbClr val="7030A0"/>
                </a:solidFill>
              </a:rPr>
              <a:t>：</a:t>
            </a:r>
            <a:r>
              <a:rPr lang="en-US" altLang="zh-CN" b="1" dirty="0">
                <a:solidFill>
                  <a:srgbClr val="7030A0"/>
                </a:solidFill>
              </a:rPr>
              <a:t>2</a:t>
            </a:r>
            <a:endParaRPr lang="zh-CN" altLang="en-US" b="1" dirty="0">
              <a:solidFill>
                <a:srgbClr val="7030A0"/>
              </a:solidFill>
            </a:endParaRPr>
          </a:p>
        </p:txBody>
      </p:sp>
      <p:sp>
        <p:nvSpPr>
          <p:cNvPr id="5" name="文本框 4">
            <a:extLst>
              <a:ext uri="{FF2B5EF4-FFF2-40B4-BE49-F238E27FC236}">
                <a16:creationId xmlns:a16="http://schemas.microsoft.com/office/drawing/2014/main" id="{B33B1383-6F5D-42EA-B148-3935B048F855}"/>
              </a:ext>
            </a:extLst>
          </p:cNvPr>
          <p:cNvSpPr txBox="1"/>
          <p:nvPr/>
        </p:nvSpPr>
        <p:spPr>
          <a:xfrm>
            <a:off x="457200" y="834045"/>
            <a:ext cx="8077200" cy="923330"/>
          </a:xfrm>
          <a:prstGeom prst="rect">
            <a:avLst/>
          </a:prstGeom>
          <a:noFill/>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 Carnot heat engine receives 650 kJ of heat from a source of unknown temperature and rejects 250 kJ of it to a sink at 24°C. Determine (a) the temperature of the source and (b) the thermal efficiency of the heat engine.</a:t>
            </a:r>
            <a:endParaRPr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E8ECE7BE-53BF-4EE6-8244-814C537107CF}"/>
              </a:ext>
            </a:extLst>
          </p:cNvPr>
          <p:cNvPicPr>
            <a:picLocks noChangeAspect="1"/>
          </p:cNvPicPr>
          <p:nvPr/>
        </p:nvPicPr>
        <p:blipFill>
          <a:blip r:embed="rId2"/>
          <a:stretch>
            <a:fillRect/>
          </a:stretch>
        </p:blipFill>
        <p:spPr>
          <a:xfrm>
            <a:off x="533400" y="1676400"/>
            <a:ext cx="9323099" cy="1676400"/>
          </a:xfrm>
          <a:prstGeom prst="rect">
            <a:avLst/>
          </a:prstGeom>
        </p:spPr>
      </p:pic>
      <p:sp>
        <p:nvSpPr>
          <p:cNvPr id="16" name="文本框 15">
            <a:extLst>
              <a:ext uri="{FF2B5EF4-FFF2-40B4-BE49-F238E27FC236}">
                <a16:creationId xmlns:a16="http://schemas.microsoft.com/office/drawing/2014/main" id="{160032D5-8ECD-4117-83E7-0D10DB5A0F57}"/>
              </a:ext>
            </a:extLst>
          </p:cNvPr>
          <p:cNvSpPr txBox="1"/>
          <p:nvPr/>
        </p:nvSpPr>
        <p:spPr>
          <a:xfrm>
            <a:off x="457200" y="3657600"/>
            <a:ext cx="1524000" cy="369332"/>
          </a:xfrm>
          <a:prstGeom prst="rect">
            <a:avLst/>
          </a:prstGeom>
          <a:noFill/>
        </p:spPr>
        <p:txBody>
          <a:bodyPr wrap="square" rtlCol="0">
            <a:spAutoFit/>
          </a:bodyPr>
          <a:lstStyle/>
          <a:p>
            <a:r>
              <a:rPr lang="en-US" altLang="zh-CN" b="1" dirty="0">
                <a:solidFill>
                  <a:srgbClr val="7030A0"/>
                </a:solidFill>
              </a:rPr>
              <a:t>Quiz 2</a:t>
            </a:r>
            <a:r>
              <a:rPr lang="zh-CN" altLang="en-US" b="1" dirty="0">
                <a:solidFill>
                  <a:srgbClr val="7030A0"/>
                </a:solidFill>
              </a:rPr>
              <a:t>：</a:t>
            </a:r>
            <a:r>
              <a:rPr lang="en-US" altLang="zh-CN" b="1" dirty="0">
                <a:solidFill>
                  <a:srgbClr val="7030A0"/>
                </a:solidFill>
              </a:rPr>
              <a:t>4</a:t>
            </a:r>
            <a:endParaRPr lang="zh-CN" altLang="en-US" b="1" dirty="0">
              <a:solidFill>
                <a:srgbClr val="7030A0"/>
              </a:solidFill>
            </a:endParaRPr>
          </a:p>
        </p:txBody>
      </p:sp>
      <p:sp>
        <p:nvSpPr>
          <p:cNvPr id="19" name="文本框 18">
            <a:extLst>
              <a:ext uri="{FF2B5EF4-FFF2-40B4-BE49-F238E27FC236}">
                <a16:creationId xmlns:a16="http://schemas.microsoft.com/office/drawing/2014/main" id="{60E00D05-A42F-4766-A8AC-0F8E13002EAC}"/>
              </a:ext>
            </a:extLst>
          </p:cNvPr>
          <p:cNvSpPr txBox="1"/>
          <p:nvPr/>
        </p:nvSpPr>
        <p:spPr>
          <a:xfrm>
            <a:off x="457200" y="3962400"/>
            <a:ext cx="8077200" cy="923330"/>
          </a:xfrm>
          <a:prstGeom prst="rect">
            <a:avLst/>
          </a:prstGeom>
          <a:noFill/>
        </p:spPr>
        <p:txBody>
          <a:bodyPr wrap="square">
            <a:spAutoFit/>
          </a:bodyPr>
          <a:lstStyle/>
          <a:p>
            <a:r>
              <a:rPr lang="en-US" altLang="zh-CN" sz="1800" dirty="0">
                <a:effectLst/>
                <a:latin typeface="Times New Roman" panose="02020603050405020304" pitchFamily="18" charset="0"/>
                <a:ea typeface="微软雅黑" panose="020B0503020204020204" pitchFamily="34" charset="-122"/>
              </a:rPr>
              <a:t>Considering the following heat engine as a system, system efficiency is about 60% of Carnot efficiency under the same temperature. Please calculate the total entropy generation in this system.</a:t>
            </a:r>
            <a:endParaRPr lang="zh-CN" altLang="en-US" dirty="0"/>
          </a:p>
        </p:txBody>
      </p:sp>
      <p:graphicFrame>
        <p:nvGraphicFramePr>
          <p:cNvPr id="44" name="对象 43">
            <a:extLst>
              <a:ext uri="{FF2B5EF4-FFF2-40B4-BE49-F238E27FC236}">
                <a16:creationId xmlns:a16="http://schemas.microsoft.com/office/drawing/2014/main" id="{0981E83C-63B9-4FD5-83E3-94CF2DB497B1}"/>
              </a:ext>
            </a:extLst>
          </p:cNvPr>
          <p:cNvGraphicFramePr>
            <a:graphicFrameLocks noChangeAspect="1"/>
          </p:cNvGraphicFramePr>
          <p:nvPr>
            <p:extLst>
              <p:ext uri="{D42A27DB-BD31-4B8C-83A1-F6EECF244321}">
                <p14:modId xmlns:p14="http://schemas.microsoft.com/office/powerpoint/2010/main" val="3370524794"/>
              </p:ext>
            </p:extLst>
          </p:nvPr>
        </p:nvGraphicFramePr>
        <p:xfrm>
          <a:off x="5105400" y="4652355"/>
          <a:ext cx="3312619" cy="1676400"/>
        </p:xfrm>
        <a:graphic>
          <a:graphicData uri="http://schemas.openxmlformats.org/presentationml/2006/ole">
            <mc:AlternateContent xmlns:mc="http://schemas.openxmlformats.org/markup-compatibility/2006">
              <mc:Choice xmlns:v="urn:schemas-microsoft-com:vml" Requires="v">
                <p:oleObj name="Equation" r:id="rId3" imgW="2356551" imgH="1192419" progId="Equation.DSMT4">
                  <p:embed/>
                </p:oleObj>
              </mc:Choice>
              <mc:Fallback>
                <p:oleObj name="Equation" r:id="rId3" imgW="2356551" imgH="1192419" progId="Equation.DSMT4">
                  <p:embed/>
                  <p:pic>
                    <p:nvPicPr>
                      <p:cNvPr id="44" name="对象 43">
                        <a:extLst>
                          <a:ext uri="{FF2B5EF4-FFF2-40B4-BE49-F238E27FC236}">
                            <a16:creationId xmlns:a16="http://schemas.microsoft.com/office/drawing/2014/main" id="{0981E83C-63B9-4FD5-83E3-94CF2DB497B1}"/>
                          </a:ext>
                        </a:extLst>
                      </p:cNvPr>
                      <p:cNvPicPr/>
                      <p:nvPr/>
                    </p:nvPicPr>
                    <p:blipFill>
                      <a:blip r:embed="rId4"/>
                      <a:stretch>
                        <a:fillRect/>
                      </a:stretch>
                    </p:blipFill>
                    <p:spPr>
                      <a:xfrm>
                        <a:off x="5105400" y="4652355"/>
                        <a:ext cx="3312619" cy="1676400"/>
                      </a:xfrm>
                      <a:prstGeom prst="rect">
                        <a:avLst/>
                      </a:prstGeom>
                    </p:spPr>
                  </p:pic>
                </p:oleObj>
              </mc:Fallback>
            </mc:AlternateContent>
          </a:graphicData>
        </a:graphic>
      </p:graphicFrame>
      <p:pic>
        <p:nvPicPr>
          <p:cNvPr id="45" name="图片 44">
            <a:extLst>
              <a:ext uri="{FF2B5EF4-FFF2-40B4-BE49-F238E27FC236}">
                <a16:creationId xmlns:a16="http://schemas.microsoft.com/office/drawing/2014/main" id="{0E742535-A353-41C6-B585-6FC04B27B1E2}"/>
              </a:ext>
            </a:extLst>
          </p:cNvPr>
          <p:cNvPicPr>
            <a:picLocks noChangeAspect="1"/>
          </p:cNvPicPr>
          <p:nvPr/>
        </p:nvPicPr>
        <p:blipFill>
          <a:blip r:embed="rId5"/>
          <a:stretch>
            <a:fillRect/>
          </a:stretch>
        </p:blipFill>
        <p:spPr>
          <a:xfrm>
            <a:off x="437882" y="4874295"/>
            <a:ext cx="4551137" cy="993105"/>
          </a:xfrm>
          <a:prstGeom prst="rect">
            <a:avLst/>
          </a:prstGeom>
        </p:spPr>
      </p:pic>
    </p:spTree>
    <p:extLst>
      <p:ext uri="{BB962C8B-B14F-4D97-AF65-F5344CB8AC3E}">
        <p14:creationId xmlns:p14="http://schemas.microsoft.com/office/powerpoint/2010/main" val="1360145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a:extLst>
              <a:ext uri="{FF2B5EF4-FFF2-40B4-BE49-F238E27FC236}">
                <a16:creationId xmlns:a16="http://schemas.microsoft.com/office/drawing/2014/main" id="{7D148A19-FCD6-41B9-AA65-870A5B333BB1}"/>
              </a:ext>
            </a:extLst>
          </p:cNvPr>
          <p:cNvSpPr>
            <a:spLocks noGrp="1"/>
          </p:cNvSpPr>
          <p:nvPr>
            <p:ph type="title"/>
          </p:nvPr>
        </p:nvSpPr>
        <p:spPr>
          <a:xfrm>
            <a:off x="982218" y="3019506"/>
            <a:ext cx="7886700" cy="818987"/>
          </a:xfrm>
        </p:spPr>
        <p:txBody>
          <a:bodyPr>
            <a:normAutofit/>
          </a:bodyPr>
          <a:lstStyle/>
          <a:p>
            <a:r>
              <a:rPr lang="en-US" altLang="zh-CN" sz="4000" dirty="0">
                <a:solidFill>
                  <a:srgbClr val="FF0000"/>
                </a:solidFill>
              </a:rPr>
              <a:t>7. Entropy</a:t>
            </a:r>
            <a:endParaRPr lang="zh-CN" altLang="en-US" sz="4000" dirty="0">
              <a:solidFill>
                <a:srgbClr val="FF0000"/>
              </a:solidFill>
            </a:endParaRPr>
          </a:p>
        </p:txBody>
      </p:sp>
      <p:sp>
        <p:nvSpPr>
          <p:cNvPr id="4" name="矩形 3"/>
          <p:cNvSpPr/>
          <p:nvPr/>
        </p:nvSpPr>
        <p:spPr>
          <a:xfrm>
            <a:off x="1079156" y="4385965"/>
            <a:ext cx="7546684" cy="1231106"/>
          </a:xfrm>
          <a:prstGeom prst="rect">
            <a:avLst/>
          </a:prstGeom>
        </p:spPr>
        <p:txBody>
          <a:bodyPr wrap="square">
            <a:spAutoFit/>
          </a:bodyPr>
          <a:lstStyle/>
          <a:p>
            <a:pPr>
              <a:spcAft>
                <a:spcPts val="1200"/>
              </a:spcAft>
            </a:pPr>
            <a:r>
              <a:rPr lang="en-US" altLang="zh-CN" b="1" dirty="0">
                <a:solidFill>
                  <a:srgbClr val="0000FF"/>
                </a:solidFill>
              </a:rPr>
              <a:t>Chapter 3</a:t>
            </a:r>
          </a:p>
          <a:p>
            <a:pPr>
              <a:spcAft>
                <a:spcPts val="1200"/>
              </a:spcAft>
            </a:pPr>
            <a:r>
              <a:rPr lang="en-US" altLang="zh-CN" b="1" dirty="0">
                <a:solidFill>
                  <a:srgbClr val="0000FF"/>
                </a:solidFill>
              </a:rPr>
              <a:t>Introduction to the thermodynamics of materials</a:t>
            </a:r>
            <a:r>
              <a:rPr lang="en-US" altLang="zh-CN" dirty="0">
                <a:solidFill>
                  <a:srgbClr val="0000FF"/>
                </a:solidFill>
              </a:rPr>
              <a:t>, </a:t>
            </a:r>
          </a:p>
          <a:p>
            <a:pPr>
              <a:spcAft>
                <a:spcPts val="1200"/>
              </a:spcAft>
            </a:pPr>
            <a:r>
              <a:rPr lang="en-US" altLang="zh-CN" dirty="0">
                <a:solidFill>
                  <a:srgbClr val="0000FF"/>
                </a:solidFill>
              </a:rPr>
              <a:t>5</a:t>
            </a:r>
            <a:r>
              <a:rPr lang="en-US" altLang="zh-CN" baseline="30000" dirty="0">
                <a:solidFill>
                  <a:srgbClr val="0000FF"/>
                </a:solidFill>
              </a:rPr>
              <a:t>th</a:t>
            </a:r>
            <a:r>
              <a:rPr lang="zh-CN" altLang="en-US" dirty="0">
                <a:solidFill>
                  <a:srgbClr val="0000FF"/>
                </a:solidFill>
              </a:rPr>
              <a:t> </a:t>
            </a:r>
            <a:r>
              <a:rPr lang="en-US" altLang="zh-CN" dirty="0">
                <a:solidFill>
                  <a:srgbClr val="0000FF"/>
                </a:solidFill>
              </a:rPr>
              <a:t>or 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612597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7259" y="136584"/>
            <a:ext cx="5242141" cy="461665"/>
          </a:xfrm>
          <a:prstGeom prst="rect">
            <a:avLst/>
          </a:prstGeom>
          <a:noFill/>
        </p:spPr>
        <p:txBody>
          <a:bodyPr wrap="none" rtlCol="0">
            <a:spAutoFit/>
          </a:bodyPr>
          <a:lstStyle/>
          <a:p>
            <a:r>
              <a:rPr lang="en-US" altLang="zh-CN" sz="2400" dirty="0">
                <a:solidFill>
                  <a:srgbClr val="FF0000"/>
                </a:solidFill>
              </a:rPr>
              <a:t>Why we need the concept of entropy?</a:t>
            </a:r>
            <a:endParaRPr lang="zh-CN" altLang="en-US" sz="2400" dirty="0">
              <a:solidFill>
                <a:srgbClr val="FF0000"/>
              </a:solidFill>
            </a:endParaRPr>
          </a:p>
        </p:txBody>
      </p:sp>
      <p:sp>
        <p:nvSpPr>
          <p:cNvPr id="3" name="Title 1">
            <a:extLst>
              <a:ext uri="{FF2B5EF4-FFF2-40B4-BE49-F238E27FC236}">
                <a16:creationId xmlns:a16="http://schemas.microsoft.com/office/drawing/2014/main" id="{A76F7568-7365-4E9B-9650-0DA0E96BA45F}"/>
              </a:ext>
            </a:extLst>
          </p:cNvPr>
          <p:cNvSpPr txBox="1"/>
          <p:nvPr/>
        </p:nvSpPr>
        <p:spPr bwMode="auto">
          <a:xfrm>
            <a:off x="507921" y="1250625"/>
            <a:ext cx="4176221" cy="25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sz="20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Irreversible Processes</a:t>
            </a:r>
            <a:endParaRPr lang="en-US" altLang="zh-CN" sz="2000" dirty="0">
              <a:solidFill>
                <a:srgbClr val="FF0000"/>
              </a:solidFill>
            </a:endParaRPr>
          </a:p>
        </p:txBody>
      </p:sp>
      <p:sp>
        <p:nvSpPr>
          <p:cNvPr id="4" name="矩形 3">
            <a:extLst>
              <a:ext uri="{FF2B5EF4-FFF2-40B4-BE49-F238E27FC236}">
                <a16:creationId xmlns:a16="http://schemas.microsoft.com/office/drawing/2014/main" id="{743979FF-858B-477C-A1CE-D7D5F8A9CB53}"/>
              </a:ext>
            </a:extLst>
          </p:cNvPr>
          <p:cNvSpPr/>
          <p:nvPr/>
        </p:nvSpPr>
        <p:spPr>
          <a:xfrm>
            <a:off x="365243" y="3066031"/>
            <a:ext cx="4120039" cy="400110"/>
          </a:xfrm>
          <a:prstGeom prst="rect">
            <a:avLst/>
          </a:prstGeom>
        </p:spPr>
        <p:txBody>
          <a:bodyPr wrap="none">
            <a:spAutoFit/>
          </a:bodyPr>
          <a:lstStyle/>
          <a:p>
            <a:r>
              <a:rPr lang="en-US" altLang="zh-CN" sz="20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Natural/Spontaneous Processes</a:t>
            </a:r>
            <a:endParaRPr lang="en-US" altLang="zh-CN" sz="2000" dirty="0">
              <a:solidFill>
                <a:srgbClr val="0000FF"/>
              </a:solidFill>
            </a:endParaRPr>
          </a:p>
        </p:txBody>
      </p:sp>
      <p:sp>
        <p:nvSpPr>
          <p:cNvPr id="5" name="矩形 4">
            <a:extLst>
              <a:ext uri="{FF2B5EF4-FFF2-40B4-BE49-F238E27FC236}">
                <a16:creationId xmlns:a16="http://schemas.microsoft.com/office/drawing/2014/main" id="{F7C4DCED-B1B1-41C2-B5C2-B07AE3D739AD}"/>
              </a:ext>
            </a:extLst>
          </p:cNvPr>
          <p:cNvSpPr/>
          <p:nvPr/>
        </p:nvSpPr>
        <p:spPr>
          <a:xfrm>
            <a:off x="205205" y="3619157"/>
            <a:ext cx="5626251" cy="646331"/>
          </a:xfrm>
          <a:prstGeom prst="rect">
            <a:avLst/>
          </a:prstGeom>
        </p:spPr>
        <p:txBody>
          <a:bodyPr wrap="square">
            <a:spAutoFit/>
          </a:bodyPr>
          <a:lstStyle/>
          <a:p>
            <a:r>
              <a:rPr lang="en-US" altLang="zh-CN" b="1" dirty="0">
                <a:latin typeface="Arial" panose="020B0604020202020204" pitchFamily="34" charset="0"/>
                <a:ea typeface="宋体" panose="02010600030101010101" pitchFamily="2" charset="-122"/>
                <a:cs typeface="Times New Roman" panose="02020603050405020304" pitchFamily="18" charset="0"/>
              </a:rPr>
              <a:t>If a system is not initially at equilibrium,</a:t>
            </a:r>
          </a:p>
          <a:p>
            <a:r>
              <a:rPr lang="en-US" altLang="zh-CN" b="1" dirty="0">
                <a:latin typeface="Arial" panose="020B0604020202020204" pitchFamily="34" charset="0"/>
                <a:ea typeface="宋体" panose="02010600030101010101" pitchFamily="2" charset="-122"/>
                <a:cs typeface="Times New Roman" panose="02020603050405020304" pitchFamily="18" charset="0"/>
              </a:rPr>
              <a:t>it will tend to move towards its equilibrium state</a:t>
            </a:r>
            <a:endParaRPr lang="en-US" altLang="zh-CN" b="1" dirty="0">
              <a:latin typeface="Arial" panose="020B0604020202020204" pitchFamily="34" charset="0"/>
              <a:ea typeface="宋体" panose="02010600030101010101" pitchFamily="2" charset="-122"/>
            </a:endParaRPr>
          </a:p>
        </p:txBody>
      </p:sp>
      <p:sp>
        <p:nvSpPr>
          <p:cNvPr id="6" name="矩形 5">
            <a:extLst>
              <a:ext uri="{FF2B5EF4-FFF2-40B4-BE49-F238E27FC236}">
                <a16:creationId xmlns:a16="http://schemas.microsoft.com/office/drawing/2014/main" id="{5066BE22-A5D4-4CDF-A97F-CB67F43E4BA8}"/>
              </a:ext>
            </a:extLst>
          </p:cNvPr>
          <p:cNvSpPr/>
          <p:nvPr/>
        </p:nvSpPr>
        <p:spPr>
          <a:xfrm>
            <a:off x="205205" y="1760406"/>
            <a:ext cx="6419881" cy="1015663"/>
          </a:xfrm>
          <a:prstGeom prst="rect">
            <a:avLst/>
          </a:prstGeom>
        </p:spPr>
        <p:txBody>
          <a:bodyPr wrap="square">
            <a:spAutoFit/>
          </a:bodyPr>
          <a:lstStyle/>
          <a:p>
            <a:r>
              <a:rPr lang="en-US" altLang="zh-CN" sz="2000" b="1" dirty="0"/>
              <a:t>A system left to itself will do one of two things:</a:t>
            </a:r>
          </a:p>
          <a:p>
            <a:pPr marL="285750" indent="-285750">
              <a:buFont typeface="Wingdings" panose="05000000000000000000" pitchFamily="2" charset="2"/>
              <a:buChar char="ü"/>
            </a:pPr>
            <a:r>
              <a:rPr lang="en-US" altLang="zh-CN" sz="2000" dirty="0"/>
              <a:t> it may remain in the state in which it happens to be </a:t>
            </a:r>
          </a:p>
          <a:p>
            <a:pPr marL="285750" indent="-285750">
              <a:buFont typeface="Wingdings" panose="05000000000000000000" pitchFamily="2" charset="2"/>
              <a:buChar char="ü"/>
            </a:pPr>
            <a:r>
              <a:rPr lang="en-US" altLang="zh-CN" sz="2000" dirty="0"/>
              <a:t>it may change of its own accord to some other state</a:t>
            </a:r>
            <a:endParaRPr lang="zh-CN" altLang="en-US" sz="2000" dirty="0"/>
          </a:p>
        </p:txBody>
      </p:sp>
      <p:sp>
        <p:nvSpPr>
          <p:cNvPr id="7" name="矩形 6"/>
          <p:cNvSpPr/>
          <p:nvPr/>
        </p:nvSpPr>
        <p:spPr>
          <a:xfrm>
            <a:off x="1394076" y="4929996"/>
            <a:ext cx="5912196" cy="369332"/>
          </a:xfrm>
          <a:prstGeom prst="rect">
            <a:avLst/>
          </a:prstGeom>
          <a:solidFill>
            <a:schemeClr val="accent6">
              <a:lumMod val="20000"/>
              <a:lumOff val="80000"/>
            </a:schemeClr>
          </a:solidFill>
        </p:spPr>
        <p:txBody>
          <a:bodyPr wrap="none">
            <a:spAutoFit/>
          </a:bodyPr>
          <a:lstStyle/>
          <a:p>
            <a:r>
              <a:rPr lang="en-US" altLang="zh-CN" b="1" dirty="0">
                <a:solidFill>
                  <a:srgbClr val="FF0000"/>
                </a:solidFill>
              </a:rPr>
              <a:t>Entropy</a:t>
            </a:r>
            <a:r>
              <a:rPr lang="en-US" altLang="zh-CN" dirty="0">
                <a:solidFill>
                  <a:srgbClr val="FF0000"/>
                </a:solidFill>
              </a:rPr>
              <a:t>, </a:t>
            </a:r>
            <a:r>
              <a:rPr lang="en-US" altLang="zh-CN" dirty="0">
                <a:latin typeface="Arial Unicode MS" pitchFamily="34" charset="-122"/>
                <a:ea typeface="Arial Unicode MS" pitchFamily="34" charset="-122"/>
                <a:cs typeface="Arial Unicode MS" pitchFamily="34" charset="-122"/>
              </a:rPr>
              <a:t>the quantification of the Irreversible Processes </a:t>
            </a:r>
            <a:endParaRPr lang="zh-CN" alt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2912675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42">
            <a:extLst>
              <a:ext uri="{FF2B5EF4-FFF2-40B4-BE49-F238E27FC236}">
                <a16:creationId xmlns:a16="http://schemas.microsoft.com/office/drawing/2014/main" id="{78F4CF6F-60D2-4A98-9529-D1C0B9EDE91B}"/>
              </a:ext>
            </a:extLst>
          </p:cNvPr>
          <p:cNvSpPr txBox="1"/>
          <p:nvPr/>
        </p:nvSpPr>
        <p:spPr>
          <a:xfrm>
            <a:off x="88752" y="254394"/>
            <a:ext cx="6106159" cy="523220"/>
          </a:xfrm>
          <a:prstGeom prst="rect">
            <a:avLst/>
          </a:prstGeom>
          <a:noFill/>
        </p:spPr>
        <p:txBody>
          <a:bodyPr wrap="none" rtlCol="0">
            <a:spAutoFit/>
          </a:bodyPr>
          <a:lstStyle/>
          <a:p>
            <a:r>
              <a:rPr lang="en-US" altLang="zh-CN" sz="2800" dirty="0">
                <a:solidFill>
                  <a:srgbClr val="FF0000"/>
                </a:solidFill>
              </a:rPr>
              <a:t>The mathematic form of 2</a:t>
            </a:r>
            <a:r>
              <a:rPr lang="en-US" altLang="zh-CN" sz="2800" baseline="30000" dirty="0">
                <a:solidFill>
                  <a:srgbClr val="FF0000"/>
                </a:solidFill>
              </a:rPr>
              <a:t>nd</a:t>
            </a:r>
            <a:r>
              <a:rPr lang="en-US" altLang="zh-CN" sz="2800" dirty="0">
                <a:solidFill>
                  <a:srgbClr val="FF0000"/>
                </a:solidFill>
              </a:rPr>
              <a:t>  law of TD</a:t>
            </a:r>
            <a:endParaRPr lang="zh-CN" altLang="en-US" sz="2800" dirty="0">
              <a:solidFill>
                <a:srgbClr val="FF0000"/>
              </a:solidFill>
            </a:endParaRPr>
          </a:p>
        </p:txBody>
      </p:sp>
      <p:graphicFrame>
        <p:nvGraphicFramePr>
          <p:cNvPr id="44" name="对象 43">
            <a:extLst>
              <a:ext uri="{FF2B5EF4-FFF2-40B4-BE49-F238E27FC236}">
                <a16:creationId xmlns:a16="http://schemas.microsoft.com/office/drawing/2014/main" id="{0586E78F-1E47-4CFF-A083-ADF0980C083D}"/>
              </a:ext>
            </a:extLst>
          </p:cNvPr>
          <p:cNvGraphicFramePr>
            <a:graphicFrameLocks noChangeAspect="1"/>
          </p:cNvGraphicFramePr>
          <p:nvPr/>
        </p:nvGraphicFramePr>
        <p:xfrm>
          <a:off x="1536699" y="1381730"/>
          <a:ext cx="2206625" cy="912209"/>
        </p:xfrm>
        <a:graphic>
          <a:graphicData uri="http://schemas.openxmlformats.org/presentationml/2006/ole">
            <mc:AlternateContent xmlns:mc="http://schemas.openxmlformats.org/markup-compatibility/2006">
              <mc:Choice xmlns:v="urn:schemas-microsoft-com:vml" Requires="v">
                <p:oleObj name="Equation" r:id="rId2" imgW="431640" imgH="177480" progId="Equation.DSMT4">
                  <p:embed/>
                </p:oleObj>
              </mc:Choice>
              <mc:Fallback>
                <p:oleObj name="Equation" r:id="rId2" imgW="431640" imgH="177480" progId="Equation.DSMT4">
                  <p:embed/>
                  <p:pic>
                    <p:nvPicPr>
                      <p:cNvPr id="44" name="对象 43">
                        <a:extLst>
                          <a:ext uri="{FF2B5EF4-FFF2-40B4-BE49-F238E27FC236}">
                            <a16:creationId xmlns:a16="http://schemas.microsoft.com/office/drawing/2014/main" id="{0586E78F-1E47-4CFF-A083-ADF0980C083D}"/>
                          </a:ext>
                        </a:extLst>
                      </p:cNvPr>
                      <p:cNvPicPr>
                        <a:picLocks noChangeAspect="1" noChangeArrowheads="1"/>
                      </p:cNvPicPr>
                      <p:nvPr/>
                    </p:nvPicPr>
                    <p:blipFill>
                      <a:blip r:embed="rId3"/>
                      <a:srcRect/>
                      <a:stretch>
                        <a:fillRect/>
                      </a:stretch>
                    </p:blipFill>
                    <p:spPr bwMode="auto">
                      <a:xfrm>
                        <a:off x="1536699" y="1381730"/>
                        <a:ext cx="2206625" cy="912209"/>
                      </a:xfrm>
                      <a:prstGeom prst="rect">
                        <a:avLst/>
                      </a:prstGeom>
                      <a:solidFill>
                        <a:schemeClr val="accent6">
                          <a:lumMod val="20000"/>
                          <a:lumOff val="80000"/>
                        </a:schemeClr>
                      </a:solidFill>
                    </p:spPr>
                  </p:pic>
                </p:oleObj>
              </mc:Fallback>
            </mc:AlternateContent>
          </a:graphicData>
        </a:graphic>
      </p:graphicFrame>
      <p:sp>
        <p:nvSpPr>
          <p:cNvPr id="4" name="文本框 3">
            <a:extLst>
              <a:ext uri="{FF2B5EF4-FFF2-40B4-BE49-F238E27FC236}">
                <a16:creationId xmlns:a16="http://schemas.microsoft.com/office/drawing/2014/main" id="{CD2CA581-7EC7-44D0-8C4B-0F564ABB6C27}"/>
              </a:ext>
            </a:extLst>
          </p:cNvPr>
          <p:cNvSpPr txBox="1"/>
          <p:nvPr/>
        </p:nvSpPr>
        <p:spPr>
          <a:xfrm>
            <a:off x="1053952" y="2978952"/>
            <a:ext cx="5880248" cy="646331"/>
          </a:xfrm>
          <a:prstGeom prst="rect">
            <a:avLst/>
          </a:prstGeom>
          <a:noFill/>
        </p:spPr>
        <p:txBody>
          <a:bodyPr wrap="square" rtlCol="0">
            <a:spAutoFit/>
          </a:bodyPr>
          <a:lstStyle/>
          <a:p>
            <a:r>
              <a:rPr lang="en-US" altLang="zh-CN" dirty="0"/>
              <a:t>For close system subjected to spontaneous processes, it will have the change of entropy large or equal to zero </a:t>
            </a:r>
            <a:endParaRPr lang="zh-CN" altLang="en-US" dirty="0"/>
          </a:p>
        </p:txBody>
      </p:sp>
      <p:sp>
        <p:nvSpPr>
          <p:cNvPr id="45" name="TextBox 10">
            <a:extLst>
              <a:ext uri="{FF2B5EF4-FFF2-40B4-BE49-F238E27FC236}">
                <a16:creationId xmlns:a16="http://schemas.microsoft.com/office/drawing/2014/main" id="{960B0CE4-E0EE-44BA-BE9E-09569D056DBA}"/>
              </a:ext>
            </a:extLst>
          </p:cNvPr>
          <p:cNvSpPr txBox="1"/>
          <p:nvPr/>
        </p:nvSpPr>
        <p:spPr>
          <a:xfrm>
            <a:off x="720375" y="4085492"/>
            <a:ext cx="7177029" cy="1697068"/>
          </a:xfrm>
          <a:prstGeom prst="rect">
            <a:avLst/>
          </a:prstGeom>
          <a:noFill/>
        </p:spPr>
        <p:txBody>
          <a:bodyPr wrap="none" rtlCol="0">
            <a:spAutoFit/>
          </a:bodyPr>
          <a:lstStyle/>
          <a:p>
            <a:pPr>
              <a:lnSpc>
                <a:spcPct val="150000"/>
              </a:lnSpc>
            </a:pPr>
            <a:r>
              <a:rPr lang="en-US" altLang="zh-CN" sz="2400" dirty="0"/>
              <a:t>Time is  asymmetry !</a:t>
            </a:r>
          </a:p>
          <a:p>
            <a:pPr>
              <a:lnSpc>
                <a:spcPct val="150000"/>
              </a:lnSpc>
            </a:pPr>
            <a:r>
              <a:rPr lang="en-US" altLang="zh-CN" sz="2400" dirty="0"/>
              <a:t>The beginning of the world should be perfect!</a:t>
            </a:r>
          </a:p>
          <a:p>
            <a:pPr>
              <a:lnSpc>
                <a:spcPct val="150000"/>
              </a:lnSpc>
            </a:pPr>
            <a:r>
              <a:rPr lang="en-US" altLang="zh-CN" sz="2400" dirty="0"/>
              <a:t>The world might be end up with mess if without “God”! </a:t>
            </a:r>
            <a:endParaRPr lang="zh-CN" altLang="en-US" sz="2400" dirty="0"/>
          </a:p>
        </p:txBody>
      </p:sp>
      <p:pic>
        <p:nvPicPr>
          <p:cNvPr id="46" name="Picture 2" descr="See the source image">
            <a:extLst>
              <a:ext uri="{FF2B5EF4-FFF2-40B4-BE49-F238E27FC236}">
                <a16:creationId xmlns:a16="http://schemas.microsoft.com/office/drawing/2014/main" id="{AE28808C-F2E0-47DD-9346-24186CE36A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72427" y="989966"/>
            <a:ext cx="2841301" cy="1782543"/>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69A31C32-DADF-4085-9AF7-3FB314B16996}"/>
              </a:ext>
            </a:extLst>
          </p:cNvPr>
          <p:cNvSpPr txBox="1"/>
          <p:nvPr/>
        </p:nvSpPr>
        <p:spPr>
          <a:xfrm>
            <a:off x="1053952" y="3587484"/>
            <a:ext cx="1524000" cy="369332"/>
          </a:xfrm>
          <a:prstGeom prst="rect">
            <a:avLst/>
          </a:prstGeom>
          <a:noFill/>
        </p:spPr>
        <p:txBody>
          <a:bodyPr wrap="square" rtlCol="0">
            <a:spAutoFit/>
          </a:bodyPr>
          <a:lstStyle/>
          <a:p>
            <a:r>
              <a:rPr lang="en-US" altLang="zh-CN" b="1" dirty="0">
                <a:solidFill>
                  <a:srgbClr val="7030A0"/>
                </a:solidFill>
              </a:rPr>
              <a:t>Quiz 2</a:t>
            </a:r>
            <a:r>
              <a:rPr lang="zh-CN" altLang="en-US" b="1" dirty="0">
                <a:solidFill>
                  <a:srgbClr val="7030A0"/>
                </a:solidFill>
              </a:rPr>
              <a:t>：</a:t>
            </a:r>
            <a:r>
              <a:rPr lang="en-US" altLang="zh-CN" b="1" dirty="0">
                <a:solidFill>
                  <a:srgbClr val="7030A0"/>
                </a:solidFill>
              </a:rPr>
              <a:t>3</a:t>
            </a:r>
            <a:endParaRPr lang="zh-CN" altLang="en-US" b="1" dirty="0">
              <a:solidFill>
                <a:srgbClr val="7030A0"/>
              </a:solidFill>
            </a:endParaRPr>
          </a:p>
        </p:txBody>
      </p:sp>
    </p:spTree>
    <p:extLst>
      <p:ext uri="{BB962C8B-B14F-4D97-AF65-F5344CB8AC3E}">
        <p14:creationId xmlns:p14="http://schemas.microsoft.com/office/powerpoint/2010/main" val="1486277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312" y="135308"/>
            <a:ext cx="3392207" cy="523220"/>
          </a:xfrm>
          <a:prstGeom prst="rect">
            <a:avLst/>
          </a:prstGeom>
          <a:noFill/>
        </p:spPr>
        <p:txBody>
          <a:bodyPr wrap="square" rtlCol="0">
            <a:spAutoFit/>
          </a:bodyPr>
          <a:lstStyle/>
          <a:p>
            <a:r>
              <a:rPr lang="en-US" altLang="zh-CN" sz="2800" dirty="0">
                <a:solidFill>
                  <a:srgbClr val="FF0000"/>
                </a:solidFill>
              </a:rPr>
              <a:t>Entropy balance </a:t>
            </a:r>
            <a:endParaRPr lang="zh-CN" altLang="en-US" sz="2800" dirty="0">
              <a:solidFill>
                <a:srgbClr val="FF0000"/>
              </a:solidFill>
            </a:endParaRPr>
          </a:p>
        </p:txBody>
      </p:sp>
      <p:sp>
        <p:nvSpPr>
          <p:cNvPr id="3" name="TextBox 2"/>
          <p:cNvSpPr txBox="1"/>
          <p:nvPr/>
        </p:nvSpPr>
        <p:spPr>
          <a:xfrm>
            <a:off x="673958" y="1320140"/>
            <a:ext cx="1082348" cy="923330"/>
          </a:xfrm>
          <a:prstGeom prst="rect">
            <a:avLst/>
          </a:prstGeom>
          <a:solidFill>
            <a:schemeClr val="accent6">
              <a:lumMod val="20000"/>
              <a:lumOff val="80000"/>
            </a:schemeClr>
          </a:solidFill>
        </p:spPr>
        <p:txBody>
          <a:bodyPr wrap="none" rtlCol="0">
            <a:spAutoFit/>
          </a:bodyPr>
          <a:lstStyle/>
          <a:p>
            <a:pPr algn="ctr"/>
            <a:r>
              <a:rPr lang="en-US" altLang="zh-CN" dirty="0"/>
              <a:t>Total</a:t>
            </a:r>
          </a:p>
          <a:p>
            <a:pPr algn="ctr"/>
            <a:r>
              <a:rPr lang="en-US" altLang="zh-CN" dirty="0"/>
              <a:t>Entropy</a:t>
            </a:r>
          </a:p>
          <a:p>
            <a:pPr algn="ctr"/>
            <a:r>
              <a:rPr lang="en-US" altLang="zh-CN" dirty="0"/>
              <a:t>entering </a:t>
            </a:r>
            <a:endParaRPr lang="zh-CN" altLang="en-US" dirty="0"/>
          </a:p>
        </p:txBody>
      </p:sp>
      <p:sp>
        <p:nvSpPr>
          <p:cNvPr id="4" name="TextBox 3"/>
          <p:cNvSpPr txBox="1"/>
          <p:nvPr/>
        </p:nvSpPr>
        <p:spPr>
          <a:xfrm>
            <a:off x="2623481" y="1320140"/>
            <a:ext cx="979755" cy="923330"/>
          </a:xfrm>
          <a:prstGeom prst="rect">
            <a:avLst/>
          </a:prstGeom>
          <a:solidFill>
            <a:schemeClr val="accent6">
              <a:lumMod val="20000"/>
              <a:lumOff val="80000"/>
            </a:schemeClr>
          </a:solidFill>
        </p:spPr>
        <p:txBody>
          <a:bodyPr wrap="none" rtlCol="0">
            <a:spAutoFit/>
          </a:bodyPr>
          <a:lstStyle/>
          <a:p>
            <a:r>
              <a:rPr lang="en-US" altLang="zh-CN" dirty="0"/>
              <a:t>Total</a:t>
            </a:r>
          </a:p>
          <a:p>
            <a:r>
              <a:rPr lang="en-US" altLang="zh-CN" dirty="0"/>
              <a:t>Entropy</a:t>
            </a:r>
          </a:p>
          <a:p>
            <a:r>
              <a:rPr lang="en-US" altLang="zh-CN" dirty="0"/>
              <a:t>out </a:t>
            </a:r>
            <a:endParaRPr lang="zh-CN" altLang="en-US" dirty="0"/>
          </a:p>
        </p:txBody>
      </p:sp>
      <p:sp>
        <p:nvSpPr>
          <p:cNvPr id="5" name="TextBox 4"/>
          <p:cNvSpPr txBox="1"/>
          <p:nvPr/>
        </p:nvSpPr>
        <p:spPr>
          <a:xfrm>
            <a:off x="663325" y="808075"/>
            <a:ext cx="3531736" cy="369332"/>
          </a:xfrm>
          <a:prstGeom prst="rect">
            <a:avLst/>
          </a:prstGeom>
          <a:noFill/>
        </p:spPr>
        <p:txBody>
          <a:bodyPr wrap="none" rtlCol="0">
            <a:spAutoFit/>
          </a:bodyPr>
          <a:lstStyle/>
          <a:p>
            <a:r>
              <a:rPr lang="en-US" altLang="zh-CN" i="1" dirty="0"/>
              <a:t>Increase entropy for any system </a:t>
            </a:r>
            <a:endParaRPr lang="zh-CN" altLang="en-US" i="1" dirty="0"/>
          </a:p>
        </p:txBody>
      </p:sp>
      <p:sp>
        <p:nvSpPr>
          <p:cNvPr id="7" name="圆角矩形 6"/>
          <p:cNvSpPr/>
          <p:nvPr/>
        </p:nvSpPr>
        <p:spPr>
          <a:xfrm>
            <a:off x="1927049" y="1781805"/>
            <a:ext cx="512777" cy="79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3865719" y="1542156"/>
            <a:ext cx="512777" cy="512777"/>
          </a:xfrm>
          <a:custGeom>
            <a:avLst/>
            <a:gdLst/>
            <a:ahLst/>
            <a:cxnLst/>
            <a:rect l="l" t="t" r="r" b="b"/>
            <a:pathLst>
              <a:path w="512777" h="512777">
                <a:moveTo>
                  <a:pt x="229744" y="0"/>
                </a:moveTo>
                <a:lnTo>
                  <a:pt x="283031" y="0"/>
                </a:lnTo>
                <a:cubicBezTo>
                  <a:pt x="290389" y="0"/>
                  <a:pt x="296353" y="5964"/>
                  <a:pt x="296353" y="13322"/>
                </a:cubicBezTo>
                <a:lnTo>
                  <a:pt x="296353" y="216424"/>
                </a:lnTo>
                <a:lnTo>
                  <a:pt x="499455" y="216424"/>
                </a:lnTo>
                <a:cubicBezTo>
                  <a:pt x="506813" y="216424"/>
                  <a:pt x="512777" y="222388"/>
                  <a:pt x="512777" y="229746"/>
                </a:cubicBezTo>
                <a:lnTo>
                  <a:pt x="512777" y="283033"/>
                </a:lnTo>
                <a:cubicBezTo>
                  <a:pt x="512777" y="290391"/>
                  <a:pt x="506813" y="296355"/>
                  <a:pt x="499455" y="296355"/>
                </a:cubicBezTo>
                <a:lnTo>
                  <a:pt x="296353" y="296355"/>
                </a:lnTo>
                <a:lnTo>
                  <a:pt x="296353" y="499455"/>
                </a:lnTo>
                <a:cubicBezTo>
                  <a:pt x="296353" y="506813"/>
                  <a:pt x="290389" y="512777"/>
                  <a:pt x="283031" y="512777"/>
                </a:cubicBezTo>
                <a:lnTo>
                  <a:pt x="229744" y="512777"/>
                </a:lnTo>
                <a:cubicBezTo>
                  <a:pt x="222386" y="512777"/>
                  <a:pt x="216422" y="506813"/>
                  <a:pt x="216422" y="499455"/>
                </a:cubicBezTo>
                <a:lnTo>
                  <a:pt x="216422" y="296355"/>
                </a:lnTo>
                <a:lnTo>
                  <a:pt x="13322" y="296355"/>
                </a:lnTo>
                <a:cubicBezTo>
                  <a:pt x="5964" y="296355"/>
                  <a:pt x="0" y="290391"/>
                  <a:pt x="0" y="283033"/>
                </a:cubicBezTo>
                <a:lnTo>
                  <a:pt x="0" y="229746"/>
                </a:lnTo>
                <a:cubicBezTo>
                  <a:pt x="0" y="222388"/>
                  <a:pt x="5964" y="216424"/>
                  <a:pt x="13322" y="216424"/>
                </a:cubicBezTo>
                <a:lnTo>
                  <a:pt x="216422" y="216424"/>
                </a:lnTo>
                <a:lnTo>
                  <a:pt x="216422" y="13322"/>
                </a:lnTo>
                <a:cubicBezTo>
                  <a:pt x="216422" y="5964"/>
                  <a:pt x="222386" y="0"/>
                  <a:pt x="229744"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4395815" y="1320140"/>
            <a:ext cx="1338828" cy="923330"/>
          </a:xfrm>
          <a:prstGeom prst="rect">
            <a:avLst/>
          </a:prstGeom>
          <a:solidFill>
            <a:schemeClr val="accent6">
              <a:lumMod val="20000"/>
              <a:lumOff val="80000"/>
            </a:schemeClr>
          </a:solidFill>
        </p:spPr>
        <p:txBody>
          <a:bodyPr wrap="none" rtlCol="0">
            <a:spAutoFit/>
          </a:bodyPr>
          <a:lstStyle/>
          <a:p>
            <a:pPr algn="ctr"/>
            <a:r>
              <a:rPr lang="en-US" altLang="zh-CN" dirty="0"/>
              <a:t>Total</a:t>
            </a:r>
          </a:p>
          <a:p>
            <a:pPr algn="ctr"/>
            <a:r>
              <a:rPr lang="en-US" altLang="zh-CN" dirty="0"/>
              <a:t>Entropy</a:t>
            </a:r>
          </a:p>
          <a:p>
            <a:pPr algn="ctr"/>
            <a:r>
              <a:rPr lang="en-US" altLang="zh-CN" dirty="0"/>
              <a:t>generation </a:t>
            </a:r>
            <a:endParaRPr lang="zh-CN" altLang="en-US" dirty="0"/>
          </a:p>
        </p:txBody>
      </p:sp>
      <p:sp>
        <p:nvSpPr>
          <p:cNvPr id="11" name="圆角矩形 10"/>
          <p:cNvSpPr/>
          <p:nvPr/>
        </p:nvSpPr>
        <p:spPr>
          <a:xfrm>
            <a:off x="5885904" y="1701874"/>
            <a:ext cx="512777" cy="79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圆角矩形 11"/>
          <p:cNvSpPr/>
          <p:nvPr/>
        </p:nvSpPr>
        <p:spPr>
          <a:xfrm>
            <a:off x="5902493" y="1865512"/>
            <a:ext cx="512777" cy="79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TextBox 12"/>
          <p:cNvSpPr txBox="1"/>
          <p:nvPr/>
        </p:nvSpPr>
        <p:spPr>
          <a:xfrm>
            <a:off x="6598593" y="1320140"/>
            <a:ext cx="1867479" cy="923330"/>
          </a:xfrm>
          <a:prstGeom prst="rect">
            <a:avLst/>
          </a:prstGeom>
          <a:solidFill>
            <a:schemeClr val="accent6">
              <a:lumMod val="20000"/>
              <a:lumOff val="80000"/>
            </a:schemeClr>
          </a:solidFill>
        </p:spPr>
        <p:txBody>
          <a:bodyPr wrap="square" rtlCol="0">
            <a:spAutoFit/>
          </a:bodyPr>
          <a:lstStyle/>
          <a:p>
            <a:pPr algn="ctr"/>
            <a:r>
              <a:rPr lang="en-US" altLang="zh-CN" dirty="0"/>
              <a:t>Changing in the</a:t>
            </a:r>
          </a:p>
          <a:p>
            <a:pPr algn="ctr"/>
            <a:r>
              <a:rPr lang="en-US" altLang="zh-CN" dirty="0"/>
              <a:t>Total entropy </a:t>
            </a:r>
          </a:p>
          <a:p>
            <a:pPr algn="ctr"/>
            <a:r>
              <a:rPr lang="en-US" altLang="zh-CN" dirty="0"/>
              <a:t>Of the system  </a:t>
            </a:r>
            <a:endParaRPr lang="zh-CN" altLang="en-US" dirty="0"/>
          </a:p>
        </p:txBody>
      </p:sp>
      <p:pic>
        <p:nvPicPr>
          <p:cNvPr id="808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1226" t="32911" r="5733" b="5605"/>
          <a:stretch/>
        </p:blipFill>
        <p:spPr bwMode="auto">
          <a:xfrm>
            <a:off x="154171" y="2977492"/>
            <a:ext cx="2051816" cy="2200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232750" y="5386356"/>
            <a:ext cx="2257364" cy="584775"/>
          </a:xfrm>
          <a:prstGeom prst="rect">
            <a:avLst/>
          </a:prstGeom>
          <a:noFill/>
        </p:spPr>
        <p:txBody>
          <a:bodyPr wrap="square" rtlCol="0">
            <a:spAutoFit/>
          </a:bodyPr>
          <a:lstStyle/>
          <a:p>
            <a:pPr algn="ctr"/>
            <a:r>
              <a:rPr lang="en-US" altLang="zh-CN" sz="1600" dirty="0"/>
              <a:t>Energy and entropy balance for system</a:t>
            </a:r>
            <a:endParaRPr lang="zh-CN" altLang="en-US" sz="1600" dirty="0"/>
          </a:p>
        </p:txBody>
      </p:sp>
      <p:graphicFrame>
        <p:nvGraphicFramePr>
          <p:cNvPr id="17" name="对象 16"/>
          <p:cNvGraphicFramePr>
            <a:graphicFrameLocks noChangeAspect="1"/>
          </p:cNvGraphicFramePr>
          <p:nvPr/>
        </p:nvGraphicFramePr>
        <p:xfrm>
          <a:off x="170013" y="6112694"/>
          <a:ext cx="2382837" cy="384175"/>
        </p:xfrm>
        <a:graphic>
          <a:graphicData uri="http://schemas.openxmlformats.org/presentationml/2006/ole">
            <mc:AlternateContent xmlns:mc="http://schemas.openxmlformats.org/markup-compatibility/2006">
              <mc:Choice xmlns:v="urn:schemas-microsoft-com:vml" Requires="v">
                <p:oleObj name="Equation" r:id="rId3" imgW="1498320" imgH="241200" progId="Equation.DSMT4">
                  <p:embed/>
                </p:oleObj>
              </mc:Choice>
              <mc:Fallback>
                <p:oleObj name="Equation" r:id="rId3" imgW="1498320" imgH="241200" progId="Equation.DSMT4">
                  <p:embed/>
                  <p:pic>
                    <p:nvPicPr>
                      <p:cNvPr id="17" name="对象 16"/>
                      <p:cNvPicPr>
                        <a:picLocks noChangeAspect="1" noChangeArrowheads="1"/>
                      </p:cNvPicPr>
                      <p:nvPr/>
                    </p:nvPicPr>
                    <p:blipFill>
                      <a:blip r:embed="rId4"/>
                      <a:srcRect/>
                      <a:stretch>
                        <a:fillRect/>
                      </a:stretch>
                    </p:blipFill>
                    <p:spPr bwMode="auto">
                      <a:xfrm>
                        <a:off x="170013" y="6112694"/>
                        <a:ext cx="2382837" cy="384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圆角矩形 18"/>
          <p:cNvSpPr/>
          <p:nvPr/>
        </p:nvSpPr>
        <p:spPr>
          <a:xfrm>
            <a:off x="2817194" y="2898332"/>
            <a:ext cx="933450" cy="5429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Source</a:t>
            </a:r>
          </a:p>
          <a:p>
            <a:pPr algn="ctr"/>
            <a:r>
              <a:rPr lang="zh-CN" altLang="en-US" sz="1200" dirty="0"/>
              <a:t>（</a:t>
            </a:r>
            <a:r>
              <a:rPr lang="en-US" altLang="zh-CN" sz="1200" dirty="0"/>
              <a:t>800K</a:t>
            </a:r>
            <a:r>
              <a:rPr lang="zh-CN" altLang="en-US" sz="1200" dirty="0"/>
              <a:t>）</a:t>
            </a:r>
          </a:p>
        </p:txBody>
      </p:sp>
      <p:sp>
        <p:nvSpPr>
          <p:cNvPr id="20" name="下箭头 19"/>
          <p:cNvSpPr/>
          <p:nvPr/>
        </p:nvSpPr>
        <p:spPr>
          <a:xfrm>
            <a:off x="3158278" y="3504658"/>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3384353" y="3472809"/>
            <a:ext cx="1269899" cy="276999"/>
          </a:xfrm>
          <a:prstGeom prst="rect">
            <a:avLst/>
          </a:prstGeom>
          <a:noFill/>
        </p:spPr>
        <p:txBody>
          <a:bodyPr wrap="none" rtlCol="0">
            <a:spAutoFit/>
          </a:bodyPr>
          <a:lstStyle/>
          <a:p>
            <a:r>
              <a:rPr lang="en-US" altLang="zh-CN" sz="1200" i="1" dirty="0" err="1"/>
              <a:t>Q</a:t>
            </a:r>
            <a:r>
              <a:rPr lang="en-US" altLang="zh-CN" sz="1200" i="1" baseline="-25000" dirty="0" err="1"/>
              <a:t>source</a:t>
            </a:r>
            <a:r>
              <a:rPr lang="en-US" altLang="zh-CN" sz="1200" i="1" baseline="-25000" dirty="0"/>
              <a:t> </a:t>
            </a:r>
            <a:r>
              <a:rPr lang="en-US" altLang="zh-CN" sz="1200" i="1" dirty="0"/>
              <a:t>=2000 kJ</a:t>
            </a:r>
            <a:endParaRPr lang="zh-CN" altLang="en-US" sz="1200" i="1" dirty="0"/>
          </a:p>
        </p:txBody>
      </p:sp>
      <p:sp>
        <p:nvSpPr>
          <p:cNvPr id="22" name="圆角矩形 21"/>
          <p:cNvSpPr/>
          <p:nvPr/>
        </p:nvSpPr>
        <p:spPr>
          <a:xfrm>
            <a:off x="2852943" y="4504470"/>
            <a:ext cx="933450" cy="542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Sink</a:t>
            </a:r>
          </a:p>
          <a:p>
            <a:pPr algn="ctr"/>
            <a:r>
              <a:rPr lang="en-US" altLang="zh-CN" sz="1200" dirty="0"/>
              <a:t>(500 K)</a:t>
            </a:r>
            <a:endParaRPr lang="zh-CN" altLang="en-US" sz="1200" dirty="0"/>
          </a:p>
        </p:txBody>
      </p:sp>
      <p:sp>
        <p:nvSpPr>
          <p:cNvPr id="23" name="椭圆 22"/>
          <p:cNvSpPr/>
          <p:nvPr/>
        </p:nvSpPr>
        <p:spPr>
          <a:xfrm>
            <a:off x="3055319" y="3780585"/>
            <a:ext cx="457200" cy="4192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0" dirty="0"/>
          </a:p>
        </p:txBody>
      </p:sp>
      <p:sp>
        <p:nvSpPr>
          <p:cNvPr id="24" name="下箭头 23"/>
          <p:cNvSpPr/>
          <p:nvPr/>
        </p:nvSpPr>
        <p:spPr>
          <a:xfrm>
            <a:off x="3158278" y="4254455"/>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p:cNvSpPr txBox="1"/>
          <p:nvPr/>
        </p:nvSpPr>
        <p:spPr>
          <a:xfrm>
            <a:off x="2429193" y="3851707"/>
            <a:ext cx="1010213" cy="276999"/>
          </a:xfrm>
          <a:prstGeom prst="rect">
            <a:avLst/>
          </a:prstGeom>
          <a:noFill/>
        </p:spPr>
        <p:txBody>
          <a:bodyPr wrap="none" rtlCol="0">
            <a:spAutoFit/>
          </a:bodyPr>
          <a:lstStyle/>
          <a:p>
            <a:r>
              <a:rPr lang="en-US" altLang="zh-CN" sz="1200" dirty="0"/>
              <a:t>Heat</a:t>
            </a:r>
            <a:r>
              <a:rPr lang="zh-CN" altLang="en-US" sz="1200" dirty="0"/>
              <a:t> </a:t>
            </a:r>
            <a:r>
              <a:rPr lang="en-US" altLang="zh-CN" sz="1200" dirty="0"/>
              <a:t>engine</a:t>
            </a:r>
          </a:p>
        </p:txBody>
      </p:sp>
      <p:sp>
        <p:nvSpPr>
          <p:cNvPr id="26" name="下箭头 25"/>
          <p:cNvSpPr/>
          <p:nvPr/>
        </p:nvSpPr>
        <p:spPr>
          <a:xfrm rot="16200000">
            <a:off x="3548916" y="3868167"/>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3783350" y="3859402"/>
            <a:ext cx="1035861" cy="307777"/>
          </a:xfrm>
          <a:prstGeom prst="rect">
            <a:avLst/>
          </a:prstGeom>
          <a:noFill/>
        </p:spPr>
        <p:txBody>
          <a:bodyPr wrap="none" rtlCol="0">
            <a:spAutoFit/>
          </a:bodyPr>
          <a:lstStyle/>
          <a:p>
            <a:r>
              <a:rPr lang="en-US" altLang="zh-CN" sz="1400" i="1" dirty="0">
                <a:solidFill>
                  <a:srgbClr val="FF0000"/>
                </a:solidFill>
              </a:rPr>
              <a:t>W= 750 kJ</a:t>
            </a:r>
            <a:endParaRPr lang="zh-CN" altLang="en-US" sz="1400" i="1" dirty="0">
              <a:solidFill>
                <a:srgbClr val="FF0000"/>
              </a:solidFill>
            </a:endParaRPr>
          </a:p>
        </p:txBody>
      </p:sp>
      <p:sp>
        <p:nvSpPr>
          <p:cNvPr id="28" name="TextBox 27"/>
          <p:cNvSpPr txBox="1"/>
          <p:nvPr/>
        </p:nvSpPr>
        <p:spPr>
          <a:xfrm>
            <a:off x="3445026" y="4181906"/>
            <a:ext cx="1143262" cy="276999"/>
          </a:xfrm>
          <a:prstGeom prst="rect">
            <a:avLst/>
          </a:prstGeom>
          <a:noFill/>
        </p:spPr>
        <p:txBody>
          <a:bodyPr wrap="none" rtlCol="0">
            <a:spAutoFit/>
          </a:bodyPr>
          <a:lstStyle/>
          <a:p>
            <a:r>
              <a:rPr lang="en-US" altLang="zh-CN" sz="1200" i="1" dirty="0" err="1"/>
              <a:t>Q</a:t>
            </a:r>
            <a:r>
              <a:rPr lang="en-US" altLang="zh-CN" sz="1200" i="1" baseline="-25000" dirty="0" err="1"/>
              <a:t>sink</a:t>
            </a:r>
            <a:r>
              <a:rPr lang="en-US" altLang="zh-CN" sz="1200" i="1" baseline="-25000" dirty="0"/>
              <a:t> </a:t>
            </a:r>
            <a:r>
              <a:rPr lang="en-US" altLang="zh-CN" sz="1200" i="1" dirty="0"/>
              <a:t>=1250 kJ</a:t>
            </a:r>
            <a:endParaRPr lang="zh-CN" altLang="en-US" sz="1200" i="1" dirty="0"/>
          </a:p>
        </p:txBody>
      </p:sp>
      <p:sp>
        <p:nvSpPr>
          <p:cNvPr id="18" name="TextBox 17"/>
          <p:cNvSpPr txBox="1"/>
          <p:nvPr/>
        </p:nvSpPr>
        <p:spPr>
          <a:xfrm>
            <a:off x="3158278" y="2454572"/>
            <a:ext cx="3788217" cy="369332"/>
          </a:xfrm>
          <a:prstGeom prst="rect">
            <a:avLst/>
          </a:prstGeom>
          <a:noFill/>
        </p:spPr>
        <p:txBody>
          <a:bodyPr wrap="none" rtlCol="0">
            <a:spAutoFit/>
          </a:bodyPr>
          <a:lstStyle/>
          <a:p>
            <a:r>
              <a:rPr lang="en-US" altLang="zh-CN" dirty="0"/>
              <a:t>Considering </a:t>
            </a:r>
            <a:r>
              <a:rPr lang="en-US" altLang="zh-CN" dirty="0">
                <a:solidFill>
                  <a:srgbClr val="FF0000"/>
                </a:solidFill>
              </a:rPr>
              <a:t>heat engine </a:t>
            </a:r>
            <a:r>
              <a:rPr lang="en-US" altLang="zh-CN" dirty="0"/>
              <a:t>as system</a:t>
            </a:r>
            <a:endParaRPr lang="zh-CN" altLang="en-US" dirty="0"/>
          </a:p>
        </p:txBody>
      </p:sp>
      <p:graphicFrame>
        <p:nvGraphicFramePr>
          <p:cNvPr id="29" name="对象 28"/>
          <p:cNvGraphicFramePr>
            <a:graphicFrameLocks noChangeAspect="1"/>
          </p:cNvGraphicFramePr>
          <p:nvPr/>
        </p:nvGraphicFramePr>
        <p:xfrm>
          <a:off x="2863879" y="5263043"/>
          <a:ext cx="1845028" cy="1159004"/>
        </p:xfrm>
        <a:graphic>
          <a:graphicData uri="http://schemas.openxmlformats.org/presentationml/2006/ole">
            <mc:AlternateContent xmlns:mc="http://schemas.openxmlformats.org/markup-compatibility/2006">
              <mc:Choice xmlns:v="urn:schemas-microsoft-com:vml" Requires="v">
                <p:oleObj name="Equation" r:id="rId5" imgW="2222280" imgH="1396800" progId="Equation.DSMT4">
                  <p:embed/>
                </p:oleObj>
              </mc:Choice>
              <mc:Fallback>
                <p:oleObj name="Equation" r:id="rId5" imgW="2222280" imgH="1396800" progId="Equation.DSMT4">
                  <p:embed/>
                  <p:pic>
                    <p:nvPicPr>
                      <p:cNvPr id="29" name="对象 28"/>
                      <p:cNvPicPr>
                        <a:picLocks noChangeAspect="1" noChangeArrowheads="1"/>
                      </p:cNvPicPr>
                      <p:nvPr/>
                    </p:nvPicPr>
                    <p:blipFill>
                      <a:blip r:embed="rId6"/>
                      <a:srcRect/>
                      <a:stretch>
                        <a:fillRect/>
                      </a:stretch>
                    </p:blipFill>
                    <p:spPr bwMode="auto">
                      <a:xfrm>
                        <a:off x="2863879" y="5263043"/>
                        <a:ext cx="1845028" cy="1159004"/>
                      </a:xfrm>
                      <a:prstGeom prst="rect">
                        <a:avLst/>
                      </a:prstGeom>
                      <a:solidFill>
                        <a:srgbClr val="E2F0D9"/>
                      </a:solidFill>
                      <a:ln>
                        <a:noFill/>
                      </a:ln>
                    </p:spPr>
                  </p:pic>
                </p:oleObj>
              </mc:Fallback>
            </mc:AlternateContent>
          </a:graphicData>
        </a:graphic>
      </p:graphicFrame>
      <p:sp>
        <p:nvSpPr>
          <p:cNvPr id="31" name="圆角矩形 30"/>
          <p:cNvSpPr/>
          <p:nvPr/>
        </p:nvSpPr>
        <p:spPr>
          <a:xfrm>
            <a:off x="6436493" y="2902836"/>
            <a:ext cx="933450" cy="5429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Source</a:t>
            </a:r>
          </a:p>
          <a:p>
            <a:pPr algn="ctr"/>
            <a:r>
              <a:rPr lang="zh-CN" altLang="en-US" sz="1200" dirty="0"/>
              <a:t>（</a:t>
            </a:r>
            <a:r>
              <a:rPr lang="en-US" altLang="zh-CN" sz="1200" dirty="0"/>
              <a:t>800K</a:t>
            </a:r>
            <a:r>
              <a:rPr lang="zh-CN" altLang="en-US" sz="1200" dirty="0"/>
              <a:t>）</a:t>
            </a:r>
          </a:p>
        </p:txBody>
      </p:sp>
      <p:sp>
        <p:nvSpPr>
          <p:cNvPr id="32" name="下箭头 31"/>
          <p:cNvSpPr/>
          <p:nvPr/>
        </p:nvSpPr>
        <p:spPr>
          <a:xfrm>
            <a:off x="6777577" y="3509162"/>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7003652" y="3477313"/>
            <a:ext cx="1269899" cy="276999"/>
          </a:xfrm>
          <a:prstGeom prst="rect">
            <a:avLst/>
          </a:prstGeom>
          <a:noFill/>
        </p:spPr>
        <p:txBody>
          <a:bodyPr wrap="none" rtlCol="0">
            <a:spAutoFit/>
          </a:bodyPr>
          <a:lstStyle/>
          <a:p>
            <a:r>
              <a:rPr lang="en-US" altLang="zh-CN" sz="1200" i="1" dirty="0" err="1"/>
              <a:t>Q</a:t>
            </a:r>
            <a:r>
              <a:rPr lang="en-US" altLang="zh-CN" sz="1200" i="1" baseline="-25000" dirty="0" err="1"/>
              <a:t>source</a:t>
            </a:r>
            <a:r>
              <a:rPr lang="en-US" altLang="zh-CN" sz="1200" i="1" baseline="-25000" dirty="0"/>
              <a:t> </a:t>
            </a:r>
            <a:r>
              <a:rPr lang="en-US" altLang="zh-CN" sz="1200" i="1" dirty="0"/>
              <a:t>=2000 kJ</a:t>
            </a:r>
            <a:endParaRPr lang="zh-CN" altLang="en-US" sz="1200" i="1" dirty="0"/>
          </a:p>
        </p:txBody>
      </p:sp>
      <p:sp>
        <p:nvSpPr>
          <p:cNvPr id="34" name="圆角矩形 33"/>
          <p:cNvSpPr/>
          <p:nvPr/>
        </p:nvSpPr>
        <p:spPr>
          <a:xfrm>
            <a:off x="6472242" y="4508974"/>
            <a:ext cx="933450" cy="542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Sink</a:t>
            </a:r>
          </a:p>
          <a:p>
            <a:pPr algn="ctr"/>
            <a:r>
              <a:rPr lang="en-US" altLang="zh-CN" sz="1200" dirty="0"/>
              <a:t>(500 K)</a:t>
            </a:r>
            <a:endParaRPr lang="zh-CN" altLang="en-US" sz="1200" dirty="0"/>
          </a:p>
        </p:txBody>
      </p:sp>
      <p:sp>
        <p:nvSpPr>
          <p:cNvPr id="35" name="椭圆 34"/>
          <p:cNvSpPr/>
          <p:nvPr/>
        </p:nvSpPr>
        <p:spPr>
          <a:xfrm>
            <a:off x="6674618" y="3785089"/>
            <a:ext cx="457200" cy="4192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0" dirty="0"/>
          </a:p>
        </p:txBody>
      </p:sp>
      <p:sp>
        <p:nvSpPr>
          <p:cNvPr id="36" name="下箭头 35"/>
          <p:cNvSpPr/>
          <p:nvPr/>
        </p:nvSpPr>
        <p:spPr>
          <a:xfrm>
            <a:off x="6777577" y="4258959"/>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6048492" y="3856211"/>
            <a:ext cx="1010213" cy="276999"/>
          </a:xfrm>
          <a:prstGeom prst="rect">
            <a:avLst/>
          </a:prstGeom>
          <a:noFill/>
        </p:spPr>
        <p:txBody>
          <a:bodyPr wrap="none" rtlCol="0">
            <a:spAutoFit/>
          </a:bodyPr>
          <a:lstStyle/>
          <a:p>
            <a:r>
              <a:rPr lang="en-US" altLang="zh-CN" sz="1200" dirty="0"/>
              <a:t>Heat</a:t>
            </a:r>
            <a:r>
              <a:rPr lang="zh-CN" altLang="en-US" sz="1200" dirty="0"/>
              <a:t> </a:t>
            </a:r>
            <a:r>
              <a:rPr lang="en-US" altLang="zh-CN" sz="1200" dirty="0"/>
              <a:t>engine</a:t>
            </a:r>
          </a:p>
        </p:txBody>
      </p:sp>
      <p:sp>
        <p:nvSpPr>
          <p:cNvPr id="38" name="下箭头 37"/>
          <p:cNvSpPr/>
          <p:nvPr/>
        </p:nvSpPr>
        <p:spPr>
          <a:xfrm rot="16200000">
            <a:off x="7168215" y="3872671"/>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7402649" y="3863906"/>
            <a:ext cx="1035861" cy="307777"/>
          </a:xfrm>
          <a:prstGeom prst="rect">
            <a:avLst/>
          </a:prstGeom>
          <a:noFill/>
        </p:spPr>
        <p:txBody>
          <a:bodyPr wrap="none" rtlCol="0">
            <a:spAutoFit/>
          </a:bodyPr>
          <a:lstStyle/>
          <a:p>
            <a:r>
              <a:rPr lang="en-US" altLang="zh-CN" sz="1400" i="1" dirty="0">
                <a:solidFill>
                  <a:srgbClr val="FF0000"/>
                </a:solidFill>
              </a:rPr>
              <a:t>W= 600 kJ</a:t>
            </a:r>
            <a:endParaRPr lang="zh-CN" altLang="en-US" sz="1400" i="1" dirty="0">
              <a:solidFill>
                <a:srgbClr val="FF0000"/>
              </a:solidFill>
            </a:endParaRPr>
          </a:p>
        </p:txBody>
      </p:sp>
      <p:sp>
        <p:nvSpPr>
          <p:cNvPr id="40" name="TextBox 39"/>
          <p:cNvSpPr txBox="1"/>
          <p:nvPr/>
        </p:nvSpPr>
        <p:spPr>
          <a:xfrm>
            <a:off x="7064325" y="4186410"/>
            <a:ext cx="1143262" cy="276999"/>
          </a:xfrm>
          <a:prstGeom prst="rect">
            <a:avLst/>
          </a:prstGeom>
          <a:noFill/>
        </p:spPr>
        <p:txBody>
          <a:bodyPr wrap="none" rtlCol="0">
            <a:spAutoFit/>
          </a:bodyPr>
          <a:lstStyle/>
          <a:p>
            <a:r>
              <a:rPr lang="en-US" altLang="zh-CN" sz="1200" i="1" dirty="0" err="1"/>
              <a:t>Q</a:t>
            </a:r>
            <a:r>
              <a:rPr lang="en-US" altLang="zh-CN" sz="1200" i="1" baseline="-25000" dirty="0" err="1"/>
              <a:t>sink</a:t>
            </a:r>
            <a:r>
              <a:rPr lang="en-US" altLang="zh-CN" sz="1200" i="1" baseline="-25000" dirty="0"/>
              <a:t> </a:t>
            </a:r>
            <a:r>
              <a:rPr lang="en-US" altLang="zh-CN" sz="1200" i="1" dirty="0"/>
              <a:t>=1400 kJ</a:t>
            </a:r>
            <a:endParaRPr lang="zh-CN" altLang="en-US" sz="1200" i="1" dirty="0"/>
          </a:p>
        </p:txBody>
      </p:sp>
      <p:graphicFrame>
        <p:nvGraphicFramePr>
          <p:cNvPr id="30" name="对象 29"/>
          <p:cNvGraphicFramePr>
            <a:graphicFrameLocks noChangeAspect="1"/>
          </p:cNvGraphicFramePr>
          <p:nvPr/>
        </p:nvGraphicFramePr>
        <p:xfrm>
          <a:off x="6181726" y="5178019"/>
          <a:ext cx="1844675" cy="1284288"/>
        </p:xfrm>
        <a:graphic>
          <a:graphicData uri="http://schemas.openxmlformats.org/presentationml/2006/ole">
            <mc:AlternateContent xmlns:mc="http://schemas.openxmlformats.org/markup-compatibility/2006">
              <mc:Choice xmlns:v="urn:schemas-microsoft-com:vml" Requires="v">
                <p:oleObj name="Equation" r:id="rId7" imgW="2222280" imgH="1549080" progId="Equation.DSMT4">
                  <p:embed/>
                </p:oleObj>
              </mc:Choice>
              <mc:Fallback>
                <p:oleObj name="Equation" r:id="rId7" imgW="2222280" imgH="1549080" progId="Equation.DSMT4">
                  <p:embed/>
                  <p:pic>
                    <p:nvPicPr>
                      <p:cNvPr id="30" name="对象 29"/>
                      <p:cNvPicPr>
                        <a:picLocks noChangeAspect="1" noChangeArrowheads="1"/>
                      </p:cNvPicPr>
                      <p:nvPr/>
                    </p:nvPicPr>
                    <p:blipFill>
                      <a:blip r:embed="rId8"/>
                      <a:srcRect/>
                      <a:stretch>
                        <a:fillRect/>
                      </a:stretch>
                    </p:blipFill>
                    <p:spPr bwMode="auto">
                      <a:xfrm>
                        <a:off x="6181726" y="5178019"/>
                        <a:ext cx="1844675" cy="1284288"/>
                      </a:xfrm>
                      <a:prstGeom prst="rect">
                        <a:avLst/>
                      </a:prstGeom>
                      <a:solidFill>
                        <a:srgbClr val="E2F0D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6158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100800" y="1771200"/>
            <a:ext cx="2455200" cy="1605600"/>
          </a:xfrm>
          <a:prstGeom prst="roundRect">
            <a:avLst>
              <a:gd name="adj" fmla="val 75"/>
            </a:avLst>
          </a:prstGeom>
          <a:solidFill>
            <a:schemeClr val="accent1">
              <a:lumMod val="40000"/>
              <a:lumOff val="6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a:off x="1080001" y="136800"/>
            <a:ext cx="4572000" cy="707886"/>
          </a:xfrm>
          <a:prstGeom prst="rect">
            <a:avLst/>
          </a:prstGeom>
          <a:noFill/>
        </p:spPr>
        <p:txBody>
          <a:bodyPr wrap="square" rtlCol="0">
            <a:spAutoFit/>
          </a:bodyPr>
          <a:lstStyle/>
          <a:p>
            <a:r>
              <a:rPr lang="en-US" altLang="zh-CN" sz="2000" dirty="0">
                <a:solidFill>
                  <a:srgbClr val="FF0000"/>
                </a:solidFill>
              </a:rPr>
              <a:t>Entropy generated associated with heat transfer</a:t>
            </a:r>
            <a:endParaRPr lang="zh-CN" altLang="en-US" sz="2000" dirty="0">
              <a:solidFill>
                <a:srgbClr val="FF0000"/>
              </a:solidFill>
            </a:endParaRPr>
          </a:p>
        </p:txBody>
      </p:sp>
      <p:sp>
        <p:nvSpPr>
          <p:cNvPr id="8" name="任意多边形 7"/>
          <p:cNvSpPr/>
          <p:nvPr/>
        </p:nvSpPr>
        <p:spPr>
          <a:xfrm rot="380412">
            <a:off x="322485" y="2854775"/>
            <a:ext cx="2247665" cy="533376"/>
          </a:xfrm>
          <a:custGeom>
            <a:avLst/>
            <a:gdLst>
              <a:gd name="connsiteX0" fmla="*/ 0 w 2448000"/>
              <a:gd name="connsiteY0" fmla="*/ 288576 h 288576"/>
              <a:gd name="connsiteX1" fmla="*/ 43200 w 2448000"/>
              <a:gd name="connsiteY1" fmla="*/ 281376 h 288576"/>
              <a:gd name="connsiteX2" fmla="*/ 194400 w 2448000"/>
              <a:gd name="connsiteY2" fmla="*/ 266976 h 288576"/>
              <a:gd name="connsiteX3" fmla="*/ 280800 w 2448000"/>
              <a:gd name="connsiteY3" fmla="*/ 252576 h 288576"/>
              <a:gd name="connsiteX4" fmla="*/ 338400 w 2448000"/>
              <a:gd name="connsiteY4" fmla="*/ 230976 h 288576"/>
              <a:gd name="connsiteX5" fmla="*/ 388800 w 2448000"/>
              <a:gd name="connsiteY5" fmla="*/ 209376 h 288576"/>
              <a:gd name="connsiteX6" fmla="*/ 417600 w 2448000"/>
              <a:gd name="connsiteY6" fmla="*/ 202176 h 288576"/>
              <a:gd name="connsiteX7" fmla="*/ 921600 w 2448000"/>
              <a:gd name="connsiteY7" fmla="*/ 187776 h 288576"/>
              <a:gd name="connsiteX8" fmla="*/ 957600 w 2448000"/>
              <a:gd name="connsiteY8" fmla="*/ 180576 h 288576"/>
              <a:gd name="connsiteX9" fmla="*/ 1008000 w 2448000"/>
              <a:gd name="connsiteY9" fmla="*/ 151776 h 288576"/>
              <a:gd name="connsiteX10" fmla="*/ 1036800 w 2448000"/>
              <a:gd name="connsiteY10" fmla="*/ 137376 h 288576"/>
              <a:gd name="connsiteX11" fmla="*/ 1065600 w 2448000"/>
              <a:gd name="connsiteY11" fmla="*/ 130176 h 288576"/>
              <a:gd name="connsiteX12" fmla="*/ 1123200 w 2448000"/>
              <a:gd name="connsiteY12" fmla="*/ 101376 h 288576"/>
              <a:gd name="connsiteX13" fmla="*/ 1209600 w 2448000"/>
              <a:gd name="connsiteY13" fmla="*/ 86976 h 288576"/>
              <a:gd name="connsiteX14" fmla="*/ 1231200 w 2448000"/>
              <a:gd name="connsiteY14" fmla="*/ 79776 h 288576"/>
              <a:gd name="connsiteX15" fmla="*/ 1641600 w 2448000"/>
              <a:gd name="connsiteY15" fmla="*/ 65376 h 288576"/>
              <a:gd name="connsiteX16" fmla="*/ 1699200 w 2448000"/>
              <a:gd name="connsiteY16" fmla="*/ 50976 h 288576"/>
              <a:gd name="connsiteX17" fmla="*/ 1749600 w 2448000"/>
              <a:gd name="connsiteY17" fmla="*/ 29376 h 288576"/>
              <a:gd name="connsiteX18" fmla="*/ 1821600 w 2448000"/>
              <a:gd name="connsiteY18" fmla="*/ 14976 h 288576"/>
              <a:gd name="connsiteX19" fmla="*/ 1843200 w 2448000"/>
              <a:gd name="connsiteY19" fmla="*/ 576 h 288576"/>
              <a:gd name="connsiteX20" fmla="*/ 1958400 w 2448000"/>
              <a:gd name="connsiteY20" fmla="*/ 7776 h 288576"/>
              <a:gd name="connsiteX21" fmla="*/ 1987200 w 2448000"/>
              <a:gd name="connsiteY21" fmla="*/ 22176 h 288576"/>
              <a:gd name="connsiteX22" fmla="*/ 2008800 w 2448000"/>
              <a:gd name="connsiteY22" fmla="*/ 29376 h 288576"/>
              <a:gd name="connsiteX23" fmla="*/ 2030400 w 2448000"/>
              <a:gd name="connsiteY23" fmla="*/ 43776 h 288576"/>
              <a:gd name="connsiteX24" fmla="*/ 2080800 w 2448000"/>
              <a:gd name="connsiteY24" fmla="*/ 58176 h 288576"/>
              <a:gd name="connsiteX25" fmla="*/ 2376000 w 2448000"/>
              <a:gd name="connsiteY25" fmla="*/ 65376 h 288576"/>
              <a:gd name="connsiteX26" fmla="*/ 2397600 w 2448000"/>
              <a:gd name="connsiteY26" fmla="*/ 86976 h 288576"/>
              <a:gd name="connsiteX27" fmla="*/ 2448000 w 2448000"/>
              <a:gd name="connsiteY27" fmla="*/ 94176 h 28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448000" h="288576">
                <a:moveTo>
                  <a:pt x="0" y="288576"/>
                </a:moveTo>
                <a:cubicBezTo>
                  <a:pt x="14400" y="286176"/>
                  <a:pt x="28691" y="282988"/>
                  <a:pt x="43200" y="281376"/>
                </a:cubicBezTo>
                <a:cubicBezTo>
                  <a:pt x="243009" y="259175"/>
                  <a:pt x="31879" y="287291"/>
                  <a:pt x="194400" y="266976"/>
                </a:cubicBezTo>
                <a:cubicBezTo>
                  <a:pt x="218784" y="263928"/>
                  <a:pt x="255655" y="258862"/>
                  <a:pt x="280800" y="252576"/>
                </a:cubicBezTo>
                <a:cubicBezTo>
                  <a:pt x="294371" y="249183"/>
                  <a:pt x="329906" y="234751"/>
                  <a:pt x="338400" y="230976"/>
                </a:cubicBezTo>
                <a:cubicBezTo>
                  <a:pt x="372960" y="215616"/>
                  <a:pt x="357745" y="218249"/>
                  <a:pt x="388800" y="209376"/>
                </a:cubicBezTo>
                <a:cubicBezTo>
                  <a:pt x="398315" y="206658"/>
                  <a:pt x="407713" y="202577"/>
                  <a:pt x="417600" y="202176"/>
                </a:cubicBezTo>
                <a:cubicBezTo>
                  <a:pt x="585531" y="195368"/>
                  <a:pt x="753600" y="192576"/>
                  <a:pt x="921600" y="187776"/>
                </a:cubicBezTo>
                <a:cubicBezTo>
                  <a:pt x="933600" y="185376"/>
                  <a:pt x="945990" y="184446"/>
                  <a:pt x="957600" y="180576"/>
                </a:cubicBezTo>
                <a:cubicBezTo>
                  <a:pt x="983709" y="171873"/>
                  <a:pt x="985879" y="164417"/>
                  <a:pt x="1008000" y="151776"/>
                </a:cubicBezTo>
                <a:cubicBezTo>
                  <a:pt x="1017319" y="146451"/>
                  <a:pt x="1026750" y="141145"/>
                  <a:pt x="1036800" y="137376"/>
                </a:cubicBezTo>
                <a:cubicBezTo>
                  <a:pt x="1046065" y="133901"/>
                  <a:pt x="1056466" y="133982"/>
                  <a:pt x="1065600" y="130176"/>
                </a:cubicBezTo>
                <a:cubicBezTo>
                  <a:pt x="1085415" y="121920"/>
                  <a:pt x="1102151" y="105586"/>
                  <a:pt x="1123200" y="101376"/>
                </a:cubicBezTo>
                <a:cubicBezTo>
                  <a:pt x="1175841" y="90848"/>
                  <a:pt x="1147085" y="95907"/>
                  <a:pt x="1209600" y="86976"/>
                </a:cubicBezTo>
                <a:cubicBezTo>
                  <a:pt x="1216800" y="84576"/>
                  <a:pt x="1223648" y="80531"/>
                  <a:pt x="1231200" y="79776"/>
                </a:cubicBezTo>
                <a:cubicBezTo>
                  <a:pt x="1329633" y="69933"/>
                  <a:pt x="1594300" y="66559"/>
                  <a:pt x="1641600" y="65376"/>
                </a:cubicBezTo>
                <a:cubicBezTo>
                  <a:pt x="1662730" y="61150"/>
                  <a:pt x="1679828" y="59278"/>
                  <a:pt x="1699200" y="50976"/>
                </a:cubicBezTo>
                <a:cubicBezTo>
                  <a:pt x="1724334" y="40204"/>
                  <a:pt x="1725210" y="35004"/>
                  <a:pt x="1749600" y="29376"/>
                </a:cubicBezTo>
                <a:cubicBezTo>
                  <a:pt x="1773449" y="23872"/>
                  <a:pt x="1821600" y="14976"/>
                  <a:pt x="1821600" y="14976"/>
                </a:cubicBezTo>
                <a:cubicBezTo>
                  <a:pt x="1828800" y="10176"/>
                  <a:pt x="1834559" y="1031"/>
                  <a:pt x="1843200" y="576"/>
                </a:cubicBezTo>
                <a:cubicBezTo>
                  <a:pt x="1881622" y="-1446"/>
                  <a:pt x="1920351" y="2069"/>
                  <a:pt x="1958400" y="7776"/>
                </a:cubicBezTo>
                <a:cubicBezTo>
                  <a:pt x="1969014" y="9368"/>
                  <a:pt x="1977335" y="17948"/>
                  <a:pt x="1987200" y="22176"/>
                </a:cubicBezTo>
                <a:cubicBezTo>
                  <a:pt x="1994176" y="25166"/>
                  <a:pt x="2002012" y="25982"/>
                  <a:pt x="2008800" y="29376"/>
                </a:cubicBezTo>
                <a:cubicBezTo>
                  <a:pt x="2016540" y="33246"/>
                  <a:pt x="2022660" y="39906"/>
                  <a:pt x="2030400" y="43776"/>
                </a:cubicBezTo>
                <a:cubicBezTo>
                  <a:pt x="2037536" y="47344"/>
                  <a:pt x="2075736" y="57951"/>
                  <a:pt x="2080800" y="58176"/>
                </a:cubicBezTo>
                <a:cubicBezTo>
                  <a:pt x="2179132" y="62546"/>
                  <a:pt x="2277600" y="62976"/>
                  <a:pt x="2376000" y="65376"/>
                </a:cubicBezTo>
                <a:cubicBezTo>
                  <a:pt x="2383200" y="72576"/>
                  <a:pt x="2389128" y="81328"/>
                  <a:pt x="2397600" y="86976"/>
                </a:cubicBezTo>
                <a:cubicBezTo>
                  <a:pt x="2412954" y="97212"/>
                  <a:pt x="2431032" y="94176"/>
                  <a:pt x="2448000" y="94176"/>
                </a:cubicBezTo>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100800" y="2966400"/>
            <a:ext cx="2455200" cy="403200"/>
          </a:xfrm>
          <a:custGeom>
            <a:avLst/>
            <a:gdLst>
              <a:gd name="connsiteX0" fmla="*/ 0 w 2476800"/>
              <a:gd name="connsiteY0" fmla="*/ 396000 h 403200"/>
              <a:gd name="connsiteX1" fmla="*/ 0 w 2476800"/>
              <a:gd name="connsiteY1" fmla="*/ 396000 h 403200"/>
              <a:gd name="connsiteX2" fmla="*/ 72000 w 2476800"/>
              <a:gd name="connsiteY2" fmla="*/ 388800 h 403200"/>
              <a:gd name="connsiteX3" fmla="*/ 129600 w 2476800"/>
              <a:gd name="connsiteY3" fmla="*/ 360000 h 403200"/>
              <a:gd name="connsiteX4" fmla="*/ 158400 w 2476800"/>
              <a:gd name="connsiteY4" fmla="*/ 352800 h 403200"/>
              <a:gd name="connsiteX5" fmla="*/ 201600 w 2476800"/>
              <a:gd name="connsiteY5" fmla="*/ 309600 h 403200"/>
              <a:gd name="connsiteX6" fmla="*/ 208800 w 2476800"/>
              <a:gd name="connsiteY6" fmla="*/ 288000 h 403200"/>
              <a:gd name="connsiteX7" fmla="*/ 230400 w 2476800"/>
              <a:gd name="connsiteY7" fmla="*/ 273600 h 403200"/>
              <a:gd name="connsiteX8" fmla="*/ 237600 w 2476800"/>
              <a:gd name="connsiteY8" fmla="*/ 252000 h 403200"/>
              <a:gd name="connsiteX9" fmla="*/ 280800 w 2476800"/>
              <a:gd name="connsiteY9" fmla="*/ 208800 h 403200"/>
              <a:gd name="connsiteX10" fmla="*/ 324000 w 2476800"/>
              <a:gd name="connsiteY10" fmla="*/ 194400 h 403200"/>
              <a:gd name="connsiteX11" fmla="*/ 345600 w 2476800"/>
              <a:gd name="connsiteY11" fmla="*/ 187200 h 403200"/>
              <a:gd name="connsiteX12" fmla="*/ 468000 w 2476800"/>
              <a:gd name="connsiteY12" fmla="*/ 194400 h 403200"/>
              <a:gd name="connsiteX13" fmla="*/ 540000 w 2476800"/>
              <a:gd name="connsiteY13" fmla="*/ 216000 h 403200"/>
              <a:gd name="connsiteX14" fmla="*/ 561600 w 2476800"/>
              <a:gd name="connsiteY14" fmla="*/ 223200 h 403200"/>
              <a:gd name="connsiteX15" fmla="*/ 612000 w 2476800"/>
              <a:gd name="connsiteY15" fmla="*/ 230400 h 403200"/>
              <a:gd name="connsiteX16" fmla="*/ 712800 w 2476800"/>
              <a:gd name="connsiteY16" fmla="*/ 223200 h 403200"/>
              <a:gd name="connsiteX17" fmla="*/ 734400 w 2476800"/>
              <a:gd name="connsiteY17" fmla="*/ 208800 h 403200"/>
              <a:gd name="connsiteX18" fmla="*/ 763200 w 2476800"/>
              <a:gd name="connsiteY18" fmla="*/ 194400 h 403200"/>
              <a:gd name="connsiteX19" fmla="*/ 784800 w 2476800"/>
              <a:gd name="connsiteY19" fmla="*/ 180000 h 403200"/>
              <a:gd name="connsiteX20" fmla="*/ 813600 w 2476800"/>
              <a:gd name="connsiteY20" fmla="*/ 172800 h 403200"/>
              <a:gd name="connsiteX21" fmla="*/ 986400 w 2476800"/>
              <a:gd name="connsiteY21" fmla="*/ 151200 h 403200"/>
              <a:gd name="connsiteX22" fmla="*/ 1051200 w 2476800"/>
              <a:gd name="connsiteY22" fmla="*/ 172800 h 403200"/>
              <a:gd name="connsiteX23" fmla="*/ 1072800 w 2476800"/>
              <a:gd name="connsiteY23" fmla="*/ 180000 h 403200"/>
              <a:gd name="connsiteX24" fmla="*/ 1116000 w 2476800"/>
              <a:gd name="connsiteY24" fmla="*/ 201600 h 403200"/>
              <a:gd name="connsiteX25" fmla="*/ 1195200 w 2476800"/>
              <a:gd name="connsiteY25" fmla="*/ 194400 h 403200"/>
              <a:gd name="connsiteX26" fmla="*/ 1224000 w 2476800"/>
              <a:gd name="connsiteY26" fmla="*/ 172800 h 403200"/>
              <a:gd name="connsiteX27" fmla="*/ 1260000 w 2476800"/>
              <a:gd name="connsiteY27" fmla="*/ 158400 h 403200"/>
              <a:gd name="connsiteX28" fmla="*/ 1317600 w 2476800"/>
              <a:gd name="connsiteY28" fmla="*/ 122400 h 403200"/>
              <a:gd name="connsiteX29" fmla="*/ 1368000 w 2476800"/>
              <a:gd name="connsiteY29" fmla="*/ 108000 h 403200"/>
              <a:gd name="connsiteX30" fmla="*/ 1389600 w 2476800"/>
              <a:gd name="connsiteY30" fmla="*/ 100800 h 403200"/>
              <a:gd name="connsiteX31" fmla="*/ 1432800 w 2476800"/>
              <a:gd name="connsiteY31" fmla="*/ 108000 h 403200"/>
              <a:gd name="connsiteX32" fmla="*/ 1454400 w 2476800"/>
              <a:gd name="connsiteY32" fmla="*/ 122400 h 403200"/>
              <a:gd name="connsiteX33" fmla="*/ 1476000 w 2476800"/>
              <a:gd name="connsiteY33" fmla="*/ 129600 h 403200"/>
              <a:gd name="connsiteX34" fmla="*/ 1519200 w 2476800"/>
              <a:gd name="connsiteY34" fmla="*/ 151200 h 403200"/>
              <a:gd name="connsiteX35" fmla="*/ 1648800 w 2476800"/>
              <a:gd name="connsiteY35" fmla="*/ 144000 h 403200"/>
              <a:gd name="connsiteX36" fmla="*/ 1670400 w 2476800"/>
              <a:gd name="connsiteY36" fmla="*/ 136800 h 403200"/>
              <a:gd name="connsiteX37" fmla="*/ 1742400 w 2476800"/>
              <a:gd name="connsiteY37" fmla="*/ 122400 h 403200"/>
              <a:gd name="connsiteX38" fmla="*/ 1771200 w 2476800"/>
              <a:gd name="connsiteY38" fmla="*/ 115200 h 403200"/>
              <a:gd name="connsiteX39" fmla="*/ 1864800 w 2476800"/>
              <a:gd name="connsiteY39" fmla="*/ 108000 h 403200"/>
              <a:gd name="connsiteX40" fmla="*/ 1922400 w 2476800"/>
              <a:gd name="connsiteY40" fmla="*/ 79200 h 403200"/>
              <a:gd name="connsiteX41" fmla="*/ 1944000 w 2476800"/>
              <a:gd name="connsiteY41" fmla="*/ 64800 h 403200"/>
              <a:gd name="connsiteX42" fmla="*/ 1965600 w 2476800"/>
              <a:gd name="connsiteY42" fmla="*/ 57600 h 403200"/>
              <a:gd name="connsiteX43" fmla="*/ 2030400 w 2476800"/>
              <a:gd name="connsiteY43" fmla="*/ 28800 h 403200"/>
              <a:gd name="connsiteX44" fmla="*/ 2052000 w 2476800"/>
              <a:gd name="connsiteY44" fmla="*/ 14400 h 403200"/>
              <a:gd name="connsiteX45" fmla="*/ 2080800 w 2476800"/>
              <a:gd name="connsiteY45" fmla="*/ 7200 h 403200"/>
              <a:gd name="connsiteX46" fmla="*/ 2102400 w 2476800"/>
              <a:gd name="connsiteY46" fmla="*/ 0 h 403200"/>
              <a:gd name="connsiteX47" fmla="*/ 2196000 w 2476800"/>
              <a:gd name="connsiteY47" fmla="*/ 7200 h 403200"/>
              <a:gd name="connsiteX48" fmla="*/ 2239200 w 2476800"/>
              <a:gd name="connsiteY48" fmla="*/ 21600 h 403200"/>
              <a:gd name="connsiteX49" fmla="*/ 2296800 w 2476800"/>
              <a:gd name="connsiteY49" fmla="*/ 43200 h 403200"/>
              <a:gd name="connsiteX50" fmla="*/ 2325600 w 2476800"/>
              <a:gd name="connsiteY50" fmla="*/ 86400 h 403200"/>
              <a:gd name="connsiteX51" fmla="*/ 2340000 w 2476800"/>
              <a:gd name="connsiteY51" fmla="*/ 108000 h 403200"/>
              <a:gd name="connsiteX52" fmla="*/ 2390400 w 2476800"/>
              <a:gd name="connsiteY52" fmla="*/ 115200 h 403200"/>
              <a:gd name="connsiteX53" fmla="*/ 2412000 w 2476800"/>
              <a:gd name="connsiteY53" fmla="*/ 129600 h 403200"/>
              <a:gd name="connsiteX54" fmla="*/ 2419200 w 2476800"/>
              <a:gd name="connsiteY54" fmla="*/ 151200 h 403200"/>
              <a:gd name="connsiteX55" fmla="*/ 2433600 w 2476800"/>
              <a:gd name="connsiteY55" fmla="*/ 172800 h 403200"/>
              <a:gd name="connsiteX56" fmla="*/ 2455200 w 2476800"/>
              <a:gd name="connsiteY56" fmla="*/ 223200 h 403200"/>
              <a:gd name="connsiteX57" fmla="*/ 2476800 w 2476800"/>
              <a:gd name="connsiteY57" fmla="*/ 230400 h 403200"/>
              <a:gd name="connsiteX58" fmla="*/ 2469600 w 2476800"/>
              <a:gd name="connsiteY58" fmla="*/ 252000 h 403200"/>
              <a:gd name="connsiteX59" fmla="*/ 2455200 w 2476800"/>
              <a:gd name="connsiteY59" fmla="*/ 280800 h 403200"/>
              <a:gd name="connsiteX60" fmla="*/ 2455200 w 2476800"/>
              <a:gd name="connsiteY60" fmla="*/ 403200 h 40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76800" h="403200">
                <a:moveTo>
                  <a:pt x="0" y="396000"/>
                </a:moveTo>
                <a:lnTo>
                  <a:pt x="0" y="396000"/>
                </a:lnTo>
                <a:cubicBezTo>
                  <a:pt x="24000" y="393600"/>
                  <a:pt x="48760" y="395255"/>
                  <a:pt x="72000" y="388800"/>
                </a:cubicBezTo>
                <a:cubicBezTo>
                  <a:pt x="92683" y="383055"/>
                  <a:pt x="108775" y="365206"/>
                  <a:pt x="129600" y="360000"/>
                </a:cubicBezTo>
                <a:lnTo>
                  <a:pt x="158400" y="352800"/>
                </a:lnTo>
                <a:cubicBezTo>
                  <a:pt x="182554" y="336697"/>
                  <a:pt x="185113" y="338453"/>
                  <a:pt x="201600" y="309600"/>
                </a:cubicBezTo>
                <a:cubicBezTo>
                  <a:pt x="205365" y="303010"/>
                  <a:pt x="204059" y="293926"/>
                  <a:pt x="208800" y="288000"/>
                </a:cubicBezTo>
                <a:cubicBezTo>
                  <a:pt x="214206" y="281243"/>
                  <a:pt x="223200" y="278400"/>
                  <a:pt x="230400" y="273600"/>
                </a:cubicBezTo>
                <a:cubicBezTo>
                  <a:pt x="232800" y="266400"/>
                  <a:pt x="234206" y="258788"/>
                  <a:pt x="237600" y="252000"/>
                </a:cubicBezTo>
                <a:cubicBezTo>
                  <a:pt x="247344" y="232511"/>
                  <a:pt x="260764" y="218818"/>
                  <a:pt x="280800" y="208800"/>
                </a:cubicBezTo>
                <a:cubicBezTo>
                  <a:pt x="294376" y="202012"/>
                  <a:pt x="309600" y="199200"/>
                  <a:pt x="324000" y="194400"/>
                </a:cubicBezTo>
                <a:lnTo>
                  <a:pt x="345600" y="187200"/>
                </a:lnTo>
                <a:cubicBezTo>
                  <a:pt x="386400" y="189600"/>
                  <a:pt x="427314" y="190525"/>
                  <a:pt x="468000" y="194400"/>
                </a:cubicBezTo>
                <a:cubicBezTo>
                  <a:pt x="483234" y="195851"/>
                  <a:pt x="530810" y="212937"/>
                  <a:pt x="540000" y="216000"/>
                </a:cubicBezTo>
                <a:cubicBezTo>
                  <a:pt x="547200" y="218400"/>
                  <a:pt x="554087" y="222127"/>
                  <a:pt x="561600" y="223200"/>
                </a:cubicBezTo>
                <a:lnTo>
                  <a:pt x="612000" y="230400"/>
                </a:lnTo>
                <a:cubicBezTo>
                  <a:pt x="645600" y="228000"/>
                  <a:pt x="679627" y="229054"/>
                  <a:pt x="712800" y="223200"/>
                </a:cubicBezTo>
                <a:cubicBezTo>
                  <a:pt x="721322" y="221696"/>
                  <a:pt x="726887" y="213093"/>
                  <a:pt x="734400" y="208800"/>
                </a:cubicBezTo>
                <a:cubicBezTo>
                  <a:pt x="743719" y="203475"/>
                  <a:pt x="753881" y="199725"/>
                  <a:pt x="763200" y="194400"/>
                </a:cubicBezTo>
                <a:cubicBezTo>
                  <a:pt x="770713" y="190107"/>
                  <a:pt x="776846" y="183409"/>
                  <a:pt x="784800" y="180000"/>
                </a:cubicBezTo>
                <a:cubicBezTo>
                  <a:pt x="793895" y="176102"/>
                  <a:pt x="804000" y="175200"/>
                  <a:pt x="813600" y="172800"/>
                </a:cubicBezTo>
                <a:cubicBezTo>
                  <a:pt x="892800" y="120000"/>
                  <a:pt x="839520" y="143040"/>
                  <a:pt x="986400" y="151200"/>
                </a:cubicBezTo>
                <a:cubicBezTo>
                  <a:pt x="1047086" y="163337"/>
                  <a:pt x="999034" y="150443"/>
                  <a:pt x="1051200" y="172800"/>
                </a:cubicBezTo>
                <a:cubicBezTo>
                  <a:pt x="1058176" y="175790"/>
                  <a:pt x="1066012" y="176606"/>
                  <a:pt x="1072800" y="180000"/>
                </a:cubicBezTo>
                <a:cubicBezTo>
                  <a:pt x="1128630" y="207915"/>
                  <a:pt x="1061708" y="183503"/>
                  <a:pt x="1116000" y="201600"/>
                </a:cubicBezTo>
                <a:cubicBezTo>
                  <a:pt x="1142400" y="199200"/>
                  <a:pt x="1169586" y="201230"/>
                  <a:pt x="1195200" y="194400"/>
                </a:cubicBezTo>
                <a:cubicBezTo>
                  <a:pt x="1206795" y="191308"/>
                  <a:pt x="1213510" y="178628"/>
                  <a:pt x="1224000" y="172800"/>
                </a:cubicBezTo>
                <a:cubicBezTo>
                  <a:pt x="1235298" y="166523"/>
                  <a:pt x="1248620" y="164527"/>
                  <a:pt x="1260000" y="158400"/>
                </a:cubicBezTo>
                <a:cubicBezTo>
                  <a:pt x="1279935" y="147666"/>
                  <a:pt x="1296120" y="129560"/>
                  <a:pt x="1317600" y="122400"/>
                </a:cubicBezTo>
                <a:cubicBezTo>
                  <a:pt x="1369389" y="105137"/>
                  <a:pt x="1304715" y="126081"/>
                  <a:pt x="1368000" y="108000"/>
                </a:cubicBezTo>
                <a:cubicBezTo>
                  <a:pt x="1375297" y="105915"/>
                  <a:pt x="1382400" y="103200"/>
                  <a:pt x="1389600" y="100800"/>
                </a:cubicBezTo>
                <a:cubicBezTo>
                  <a:pt x="1404000" y="103200"/>
                  <a:pt x="1418951" y="103384"/>
                  <a:pt x="1432800" y="108000"/>
                </a:cubicBezTo>
                <a:cubicBezTo>
                  <a:pt x="1441009" y="110736"/>
                  <a:pt x="1446660" y="118530"/>
                  <a:pt x="1454400" y="122400"/>
                </a:cubicBezTo>
                <a:cubicBezTo>
                  <a:pt x="1461188" y="125794"/>
                  <a:pt x="1469212" y="126206"/>
                  <a:pt x="1476000" y="129600"/>
                </a:cubicBezTo>
                <a:cubicBezTo>
                  <a:pt x="1531830" y="157515"/>
                  <a:pt x="1464908" y="133103"/>
                  <a:pt x="1519200" y="151200"/>
                </a:cubicBezTo>
                <a:cubicBezTo>
                  <a:pt x="1562400" y="148800"/>
                  <a:pt x="1605728" y="148102"/>
                  <a:pt x="1648800" y="144000"/>
                </a:cubicBezTo>
                <a:cubicBezTo>
                  <a:pt x="1656355" y="143280"/>
                  <a:pt x="1663005" y="138507"/>
                  <a:pt x="1670400" y="136800"/>
                </a:cubicBezTo>
                <a:cubicBezTo>
                  <a:pt x="1694249" y="131296"/>
                  <a:pt x="1718655" y="128336"/>
                  <a:pt x="1742400" y="122400"/>
                </a:cubicBezTo>
                <a:cubicBezTo>
                  <a:pt x="1752000" y="120000"/>
                  <a:pt x="1761372" y="116356"/>
                  <a:pt x="1771200" y="115200"/>
                </a:cubicBezTo>
                <a:cubicBezTo>
                  <a:pt x="1802278" y="111544"/>
                  <a:pt x="1833600" y="110400"/>
                  <a:pt x="1864800" y="108000"/>
                </a:cubicBezTo>
                <a:cubicBezTo>
                  <a:pt x="1928762" y="60028"/>
                  <a:pt x="1859491" y="106161"/>
                  <a:pt x="1922400" y="79200"/>
                </a:cubicBezTo>
                <a:cubicBezTo>
                  <a:pt x="1930354" y="75791"/>
                  <a:pt x="1936260" y="68670"/>
                  <a:pt x="1944000" y="64800"/>
                </a:cubicBezTo>
                <a:cubicBezTo>
                  <a:pt x="1950788" y="61406"/>
                  <a:pt x="1958400" y="60000"/>
                  <a:pt x="1965600" y="57600"/>
                </a:cubicBezTo>
                <a:cubicBezTo>
                  <a:pt x="2026048" y="12264"/>
                  <a:pt x="1960342" y="55072"/>
                  <a:pt x="2030400" y="28800"/>
                </a:cubicBezTo>
                <a:cubicBezTo>
                  <a:pt x="2038502" y="25762"/>
                  <a:pt x="2044046" y="17809"/>
                  <a:pt x="2052000" y="14400"/>
                </a:cubicBezTo>
                <a:cubicBezTo>
                  <a:pt x="2061095" y="10502"/>
                  <a:pt x="2071285" y="9918"/>
                  <a:pt x="2080800" y="7200"/>
                </a:cubicBezTo>
                <a:cubicBezTo>
                  <a:pt x="2088097" y="5115"/>
                  <a:pt x="2095200" y="2400"/>
                  <a:pt x="2102400" y="0"/>
                </a:cubicBezTo>
                <a:cubicBezTo>
                  <a:pt x="2133600" y="2400"/>
                  <a:pt x="2165091" y="2320"/>
                  <a:pt x="2196000" y="7200"/>
                </a:cubicBezTo>
                <a:cubicBezTo>
                  <a:pt x="2210993" y="9567"/>
                  <a:pt x="2224474" y="17919"/>
                  <a:pt x="2239200" y="21600"/>
                </a:cubicBezTo>
                <a:cubicBezTo>
                  <a:pt x="2278413" y="31403"/>
                  <a:pt x="2259149" y="24375"/>
                  <a:pt x="2296800" y="43200"/>
                </a:cubicBezTo>
                <a:cubicBezTo>
                  <a:pt x="2309453" y="81160"/>
                  <a:pt x="2295637" y="50445"/>
                  <a:pt x="2325600" y="86400"/>
                </a:cubicBezTo>
                <a:cubicBezTo>
                  <a:pt x="2331140" y="93048"/>
                  <a:pt x="2332092" y="104486"/>
                  <a:pt x="2340000" y="108000"/>
                </a:cubicBezTo>
                <a:cubicBezTo>
                  <a:pt x="2355508" y="114892"/>
                  <a:pt x="2373600" y="112800"/>
                  <a:pt x="2390400" y="115200"/>
                </a:cubicBezTo>
                <a:cubicBezTo>
                  <a:pt x="2397600" y="120000"/>
                  <a:pt x="2406594" y="122843"/>
                  <a:pt x="2412000" y="129600"/>
                </a:cubicBezTo>
                <a:cubicBezTo>
                  <a:pt x="2416741" y="135526"/>
                  <a:pt x="2415806" y="144412"/>
                  <a:pt x="2419200" y="151200"/>
                </a:cubicBezTo>
                <a:cubicBezTo>
                  <a:pt x="2423070" y="158940"/>
                  <a:pt x="2428800" y="165600"/>
                  <a:pt x="2433600" y="172800"/>
                </a:cubicBezTo>
                <a:cubicBezTo>
                  <a:pt x="2437923" y="190094"/>
                  <a:pt x="2439662" y="210769"/>
                  <a:pt x="2455200" y="223200"/>
                </a:cubicBezTo>
                <a:cubicBezTo>
                  <a:pt x="2461126" y="227941"/>
                  <a:pt x="2469600" y="228000"/>
                  <a:pt x="2476800" y="230400"/>
                </a:cubicBezTo>
                <a:cubicBezTo>
                  <a:pt x="2474400" y="237600"/>
                  <a:pt x="2472590" y="245024"/>
                  <a:pt x="2469600" y="252000"/>
                </a:cubicBezTo>
                <a:cubicBezTo>
                  <a:pt x="2465372" y="261865"/>
                  <a:pt x="2456218" y="270115"/>
                  <a:pt x="2455200" y="280800"/>
                </a:cubicBezTo>
                <a:cubicBezTo>
                  <a:pt x="2451332" y="321416"/>
                  <a:pt x="2455200" y="362400"/>
                  <a:pt x="2455200" y="403200"/>
                </a:cubicBezTo>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518472" y="2408790"/>
            <a:ext cx="771128" cy="66561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555200" y="2450752"/>
            <a:ext cx="779381" cy="577081"/>
          </a:xfrm>
          <a:prstGeom prst="rect">
            <a:avLst/>
          </a:prstGeom>
          <a:noFill/>
        </p:spPr>
        <p:txBody>
          <a:bodyPr wrap="none" rtlCol="0">
            <a:spAutoFit/>
          </a:bodyPr>
          <a:lstStyle/>
          <a:p>
            <a:pPr algn="ctr"/>
            <a:r>
              <a:rPr lang="en-US" altLang="zh-CN" sz="1050" dirty="0"/>
              <a:t>Iron</a:t>
            </a:r>
          </a:p>
          <a:p>
            <a:pPr algn="ctr"/>
            <a:r>
              <a:rPr lang="en-US" altLang="zh-CN" sz="1050" dirty="0"/>
              <a:t>m= 50 kg </a:t>
            </a:r>
          </a:p>
          <a:p>
            <a:pPr algn="ctr"/>
            <a:r>
              <a:rPr lang="en-US" altLang="zh-CN" sz="1050" dirty="0"/>
              <a:t>T</a:t>
            </a:r>
            <a:r>
              <a:rPr lang="en-US" altLang="zh-CN" sz="1050" baseline="-25000" dirty="0"/>
              <a:t>1</a:t>
            </a:r>
            <a:r>
              <a:rPr lang="en-US" altLang="zh-CN" sz="1050" dirty="0"/>
              <a:t>= 500K</a:t>
            </a:r>
          </a:p>
        </p:txBody>
      </p:sp>
      <p:sp>
        <p:nvSpPr>
          <p:cNvPr id="13" name="任意多边形 12"/>
          <p:cNvSpPr/>
          <p:nvPr/>
        </p:nvSpPr>
        <p:spPr>
          <a:xfrm>
            <a:off x="165601" y="1981894"/>
            <a:ext cx="1828800" cy="170015"/>
          </a:xfrm>
          <a:custGeom>
            <a:avLst/>
            <a:gdLst>
              <a:gd name="connsiteX0" fmla="*/ 0 w 1828800"/>
              <a:gd name="connsiteY0" fmla="*/ 36310 h 331683"/>
              <a:gd name="connsiteX1" fmla="*/ 446400 w 1828800"/>
              <a:gd name="connsiteY1" fmla="*/ 331510 h 331683"/>
              <a:gd name="connsiteX2" fmla="*/ 928800 w 1828800"/>
              <a:gd name="connsiteY2" fmla="*/ 310 h 331683"/>
              <a:gd name="connsiteX3" fmla="*/ 1533600 w 1828800"/>
              <a:gd name="connsiteY3" fmla="*/ 266710 h 331683"/>
              <a:gd name="connsiteX4" fmla="*/ 1828800 w 1828800"/>
              <a:gd name="connsiteY4" fmla="*/ 14710 h 331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331683">
                <a:moveTo>
                  <a:pt x="0" y="36310"/>
                </a:moveTo>
                <a:cubicBezTo>
                  <a:pt x="145800" y="186910"/>
                  <a:pt x="291600" y="337510"/>
                  <a:pt x="446400" y="331510"/>
                </a:cubicBezTo>
                <a:cubicBezTo>
                  <a:pt x="601200" y="325510"/>
                  <a:pt x="747600" y="11110"/>
                  <a:pt x="928800" y="310"/>
                </a:cubicBezTo>
                <a:cubicBezTo>
                  <a:pt x="1110000" y="-10490"/>
                  <a:pt x="1383600" y="264310"/>
                  <a:pt x="1533600" y="266710"/>
                </a:cubicBezTo>
                <a:cubicBezTo>
                  <a:pt x="1683600" y="269110"/>
                  <a:pt x="1756200" y="141910"/>
                  <a:pt x="1828800" y="14710"/>
                </a:cubicBez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531917" y="1889686"/>
            <a:ext cx="1828800" cy="170015"/>
          </a:xfrm>
          <a:custGeom>
            <a:avLst/>
            <a:gdLst>
              <a:gd name="connsiteX0" fmla="*/ 0 w 1828800"/>
              <a:gd name="connsiteY0" fmla="*/ 36310 h 331683"/>
              <a:gd name="connsiteX1" fmla="*/ 446400 w 1828800"/>
              <a:gd name="connsiteY1" fmla="*/ 331510 h 331683"/>
              <a:gd name="connsiteX2" fmla="*/ 928800 w 1828800"/>
              <a:gd name="connsiteY2" fmla="*/ 310 h 331683"/>
              <a:gd name="connsiteX3" fmla="*/ 1533600 w 1828800"/>
              <a:gd name="connsiteY3" fmla="*/ 266710 h 331683"/>
              <a:gd name="connsiteX4" fmla="*/ 1828800 w 1828800"/>
              <a:gd name="connsiteY4" fmla="*/ 14710 h 331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331683">
                <a:moveTo>
                  <a:pt x="0" y="36310"/>
                </a:moveTo>
                <a:cubicBezTo>
                  <a:pt x="145800" y="186910"/>
                  <a:pt x="291600" y="337510"/>
                  <a:pt x="446400" y="331510"/>
                </a:cubicBezTo>
                <a:cubicBezTo>
                  <a:pt x="601200" y="325510"/>
                  <a:pt x="747600" y="11110"/>
                  <a:pt x="928800" y="310"/>
                </a:cubicBezTo>
                <a:cubicBezTo>
                  <a:pt x="1110000" y="-10490"/>
                  <a:pt x="1383600" y="264310"/>
                  <a:pt x="1533600" y="266710"/>
                </a:cubicBezTo>
                <a:cubicBezTo>
                  <a:pt x="1683600" y="269110"/>
                  <a:pt x="1756200" y="141910"/>
                  <a:pt x="1828800" y="14710"/>
                </a:cubicBez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93478" y="2244117"/>
            <a:ext cx="736099" cy="415498"/>
          </a:xfrm>
          <a:prstGeom prst="rect">
            <a:avLst/>
          </a:prstGeom>
          <a:noFill/>
        </p:spPr>
        <p:txBody>
          <a:bodyPr wrap="none" rtlCol="0">
            <a:spAutoFit/>
          </a:bodyPr>
          <a:lstStyle/>
          <a:p>
            <a:r>
              <a:rPr lang="en-US" altLang="zh-CN" sz="1050" dirty="0"/>
              <a:t>Lake</a:t>
            </a:r>
          </a:p>
          <a:p>
            <a:r>
              <a:rPr lang="en-US" altLang="zh-CN" sz="1050" dirty="0"/>
              <a:t>T</a:t>
            </a:r>
            <a:r>
              <a:rPr lang="en-US" altLang="zh-CN" sz="1050" baseline="-25000" dirty="0"/>
              <a:t>2</a:t>
            </a:r>
            <a:r>
              <a:rPr lang="en-US" altLang="zh-CN" sz="1050" dirty="0"/>
              <a:t>=285K</a:t>
            </a:r>
          </a:p>
        </p:txBody>
      </p:sp>
      <p:sp>
        <p:nvSpPr>
          <p:cNvPr id="16" name="文本框 15"/>
          <p:cNvSpPr txBox="1"/>
          <p:nvPr/>
        </p:nvSpPr>
        <p:spPr>
          <a:xfrm>
            <a:off x="100800" y="3630923"/>
            <a:ext cx="2908800" cy="646331"/>
          </a:xfrm>
          <a:prstGeom prst="rect">
            <a:avLst/>
          </a:prstGeom>
          <a:noFill/>
        </p:spPr>
        <p:txBody>
          <a:bodyPr wrap="square" rtlCol="0">
            <a:spAutoFit/>
          </a:bodyPr>
          <a:lstStyle/>
          <a:p>
            <a:r>
              <a:rPr lang="en-US" altLang="zh-CN" dirty="0"/>
              <a:t>Both the water and the iron are incompressible</a:t>
            </a:r>
            <a:endParaRPr lang="zh-CN" altLang="en-US" dirty="0"/>
          </a:p>
        </p:txBody>
      </p:sp>
      <p:sp>
        <p:nvSpPr>
          <p:cNvPr id="17" name="文本框 16"/>
          <p:cNvSpPr txBox="1"/>
          <p:nvPr/>
        </p:nvSpPr>
        <p:spPr>
          <a:xfrm>
            <a:off x="194155" y="1389983"/>
            <a:ext cx="2223686" cy="369332"/>
          </a:xfrm>
          <a:prstGeom prst="rect">
            <a:avLst/>
          </a:prstGeom>
          <a:noFill/>
        </p:spPr>
        <p:txBody>
          <a:bodyPr wrap="none" rtlCol="0">
            <a:spAutoFit/>
          </a:bodyPr>
          <a:lstStyle/>
          <a:p>
            <a:r>
              <a:rPr lang="en-US" altLang="zh-CN" dirty="0"/>
              <a:t>System= lake + iron</a:t>
            </a:r>
          </a:p>
        </p:txBody>
      </p:sp>
      <p:sp>
        <p:nvSpPr>
          <p:cNvPr id="18" name="文本框 17"/>
          <p:cNvSpPr txBox="1"/>
          <p:nvPr/>
        </p:nvSpPr>
        <p:spPr>
          <a:xfrm>
            <a:off x="70780" y="4393530"/>
            <a:ext cx="2751074" cy="369332"/>
          </a:xfrm>
          <a:prstGeom prst="rect">
            <a:avLst/>
          </a:prstGeom>
          <a:noFill/>
        </p:spPr>
        <p:txBody>
          <a:bodyPr wrap="none" rtlCol="0">
            <a:spAutoFit/>
          </a:bodyPr>
          <a:lstStyle/>
          <a:p>
            <a:r>
              <a:rPr lang="en-US" altLang="zh-CN" dirty="0"/>
              <a:t>Iron</a:t>
            </a:r>
            <a:r>
              <a:rPr lang="zh-CN" altLang="en-US" dirty="0"/>
              <a:t>：</a:t>
            </a:r>
            <a:r>
              <a:rPr lang="en-US" altLang="zh-CN" dirty="0" err="1"/>
              <a:t>c</a:t>
            </a:r>
            <a:r>
              <a:rPr lang="en-US" altLang="zh-CN" baseline="-25000" dirty="0" err="1"/>
              <a:t>avg</a:t>
            </a:r>
            <a:r>
              <a:rPr lang="en-US" altLang="zh-CN" baseline="-25000" dirty="0"/>
              <a:t> </a:t>
            </a:r>
            <a:r>
              <a:rPr lang="en-US" altLang="zh-CN" dirty="0"/>
              <a:t> = 0.45 kJ/</a:t>
            </a:r>
            <a:r>
              <a:rPr lang="en-US" altLang="zh-CN" dirty="0" err="1"/>
              <a:t>kg·K</a:t>
            </a:r>
            <a:endParaRPr lang="zh-CN" altLang="en-US" dirty="0"/>
          </a:p>
        </p:txBody>
      </p:sp>
      <p:sp>
        <p:nvSpPr>
          <p:cNvPr id="19" name="文本框 18"/>
          <p:cNvSpPr txBox="1"/>
          <p:nvPr/>
        </p:nvSpPr>
        <p:spPr>
          <a:xfrm>
            <a:off x="3046328" y="1020651"/>
            <a:ext cx="4912563" cy="369332"/>
          </a:xfrm>
          <a:prstGeom prst="rect">
            <a:avLst/>
          </a:prstGeom>
          <a:noFill/>
        </p:spPr>
        <p:txBody>
          <a:bodyPr wrap="none" rtlCol="0">
            <a:spAutoFit/>
          </a:bodyPr>
          <a:lstStyle/>
          <a:p>
            <a:r>
              <a:rPr lang="en-US" altLang="zh-CN" dirty="0"/>
              <a:t>(a) The entropy change of the subsystem Iron</a:t>
            </a:r>
            <a:endParaRPr lang="zh-CN" altLang="en-US" dirty="0"/>
          </a:p>
        </p:txBody>
      </p:sp>
      <p:sp>
        <p:nvSpPr>
          <p:cNvPr id="20" name="矩形 19"/>
          <p:cNvSpPr/>
          <p:nvPr/>
        </p:nvSpPr>
        <p:spPr>
          <a:xfrm>
            <a:off x="3435129" y="1497079"/>
            <a:ext cx="2434328" cy="523220"/>
          </a:xfrm>
          <a:prstGeom prst="rect">
            <a:avLst/>
          </a:prstGeom>
        </p:spPr>
        <p:txBody>
          <a:bodyPr wrap="square">
            <a:spAutoFit/>
          </a:bodyPr>
          <a:lstStyle/>
          <a:p>
            <a:r>
              <a:rPr lang="en-US" altLang="zh-CN" sz="1400" dirty="0">
                <a:solidFill>
                  <a:srgbClr val="0000FF"/>
                </a:solidFill>
              </a:rPr>
              <a:t>Iron is cooling at constant volume condition </a:t>
            </a:r>
            <a:endParaRPr lang="zh-CN" altLang="en-US" sz="1400" dirty="0">
              <a:solidFill>
                <a:srgbClr val="0000FF"/>
              </a:solidFill>
            </a:endParaRPr>
          </a:p>
        </p:txBody>
      </p:sp>
      <p:graphicFrame>
        <p:nvGraphicFramePr>
          <p:cNvPr id="21" name="对象 20"/>
          <p:cNvGraphicFramePr>
            <a:graphicFrameLocks noChangeAspect="1"/>
          </p:cNvGraphicFramePr>
          <p:nvPr/>
        </p:nvGraphicFramePr>
        <p:xfrm>
          <a:off x="6346684" y="1526792"/>
          <a:ext cx="1315574" cy="518620"/>
        </p:xfrm>
        <a:graphic>
          <a:graphicData uri="http://schemas.openxmlformats.org/presentationml/2006/ole">
            <mc:AlternateContent xmlns:mc="http://schemas.openxmlformats.org/markup-compatibility/2006">
              <mc:Choice xmlns:v="urn:schemas-microsoft-com:vml" Requires="v">
                <p:oleObj name="Equation" r:id="rId2" imgW="1002960" imgH="393480" progId="Equation.DSMT4">
                  <p:embed/>
                </p:oleObj>
              </mc:Choice>
              <mc:Fallback>
                <p:oleObj name="Equation" r:id="rId2" imgW="1002960" imgH="393480" progId="Equation.DSMT4">
                  <p:embed/>
                  <p:pic>
                    <p:nvPicPr>
                      <p:cNvPr id="21" name="对象 20"/>
                      <p:cNvPicPr>
                        <a:picLocks noChangeAspect="1" noChangeArrowheads="1"/>
                      </p:cNvPicPr>
                      <p:nvPr/>
                    </p:nvPicPr>
                    <p:blipFill>
                      <a:blip r:embed="rId3"/>
                      <a:srcRect/>
                      <a:stretch>
                        <a:fillRect/>
                      </a:stretch>
                    </p:blipFill>
                    <p:spPr bwMode="auto">
                      <a:xfrm>
                        <a:off x="6346684" y="1526792"/>
                        <a:ext cx="1315574" cy="518620"/>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nvGraphicFramePr>
        <p:xfrm>
          <a:off x="3701529" y="2137098"/>
          <a:ext cx="3559175" cy="458787"/>
        </p:xfrm>
        <a:graphic>
          <a:graphicData uri="http://schemas.openxmlformats.org/presentationml/2006/ole">
            <mc:AlternateContent xmlns:mc="http://schemas.openxmlformats.org/markup-compatibility/2006">
              <mc:Choice xmlns:v="urn:schemas-microsoft-com:vml" Requires="v">
                <p:oleObj name="Equation" r:id="rId4" imgW="3530520" imgH="457200" progId="Equation.DSMT4">
                  <p:embed/>
                </p:oleObj>
              </mc:Choice>
              <mc:Fallback>
                <p:oleObj name="Equation" r:id="rId4" imgW="3530520" imgH="457200" progId="Equation.DSMT4">
                  <p:embed/>
                  <p:pic>
                    <p:nvPicPr>
                      <p:cNvPr id="22" name="对象 21"/>
                      <p:cNvPicPr>
                        <a:picLocks noChangeAspect="1" noChangeArrowheads="1"/>
                      </p:cNvPicPr>
                      <p:nvPr/>
                    </p:nvPicPr>
                    <p:blipFill>
                      <a:blip r:embed="rId5"/>
                      <a:srcRect/>
                      <a:stretch>
                        <a:fillRect/>
                      </a:stretch>
                    </p:blipFill>
                    <p:spPr bwMode="auto">
                      <a:xfrm>
                        <a:off x="3701529" y="2137098"/>
                        <a:ext cx="3559175" cy="458787"/>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nvGraphicFramePr>
        <p:xfrm>
          <a:off x="3969357" y="2699656"/>
          <a:ext cx="2765425" cy="433387"/>
        </p:xfrm>
        <a:graphic>
          <a:graphicData uri="http://schemas.openxmlformats.org/presentationml/2006/ole">
            <mc:AlternateContent xmlns:mc="http://schemas.openxmlformats.org/markup-compatibility/2006">
              <mc:Choice xmlns:v="urn:schemas-microsoft-com:vml" Requires="v">
                <p:oleObj name="Equation" r:id="rId6" imgW="2743200" imgH="431640" progId="Equation.DSMT4">
                  <p:embed/>
                </p:oleObj>
              </mc:Choice>
              <mc:Fallback>
                <p:oleObj name="Equation" r:id="rId6" imgW="2743200" imgH="431640" progId="Equation.DSMT4">
                  <p:embed/>
                  <p:pic>
                    <p:nvPicPr>
                      <p:cNvPr id="23" name="对象 22"/>
                      <p:cNvPicPr>
                        <a:picLocks noChangeAspect="1" noChangeArrowheads="1"/>
                      </p:cNvPicPr>
                      <p:nvPr/>
                    </p:nvPicPr>
                    <p:blipFill>
                      <a:blip r:embed="rId7"/>
                      <a:srcRect/>
                      <a:stretch>
                        <a:fillRect/>
                      </a:stretch>
                    </p:blipFill>
                    <p:spPr bwMode="auto">
                      <a:xfrm>
                        <a:off x="3969357" y="2699656"/>
                        <a:ext cx="2765425" cy="433387"/>
                      </a:xfrm>
                      <a:prstGeom prst="rect">
                        <a:avLst/>
                      </a:prstGeom>
                      <a:noFill/>
                      <a:ln>
                        <a:noFill/>
                      </a:ln>
                    </p:spPr>
                  </p:pic>
                </p:oleObj>
              </mc:Fallback>
            </mc:AlternateContent>
          </a:graphicData>
        </a:graphic>
      </p:graphicFrame>
      <p:sp>
        <p:nvSpPr>
          <p:cNvPr id="24" name="文本框 23"/>
          <p:cNvSpPr txBox="1"/>
          <p:nvPr/>
        </p:nvSpPr>
        <p:spPr>
          <a:xfrm>
            <a:off x="3046329" y="3254002"/>
            <a:ext cx="4874091" cy="369332"/>
          </a:xfrm>
          <a:prstGeom prst="rect">
            <a:avLst/>
          </a:prstGeom>
          <a:noFill/>
        </p:spPr>
        <p:txBody>
          <a:bodyPr wrap="none" rtlCol="0">
            <a:spAutoFit/>
          </a:bodyPr>
          <a:lstStyle/>
          <a:p>
            <a:r>
              <a:rPr lang="en-US" altLang="zh-CN" dirty="0"/>
              <a:t>(b) The entropy change of the subsystem lake</a:t>
            </a:r>
            <a:endParaRPr lang="zh-CN" altLang="en-US" dirty="0"/>
          </a:p>
        </p:txBody>
      </p:sp>
      <p:sp>
        <p:nvSpPr>
          <p:cNvPr id="25" name="文本框 24"/>
          <p:cNvSpPr txBox="1"/>
          <p:nvPr/>
        </p:nvSpPr>
        <p:spPr>
          <a:xfrm>
            <a:off x="3339010" y="3650586"/>
            <a:ext cx="3087705" cy="307777"/>
          </a:xfrm>
          <a:prstGeom prst="rect">
            <a:avLst/>
          </a:prstGeom>
          <a:noFill/>
        </p:spPr>
        <p:txBody>
          <a:bodyPr wrap="none" rtlCol="0">
            <a:spAutoFit/>
          </a:bodyPr>
          <a:lstStyle/>
          <a:p>
            <a:r>
              <a:rPr lang="en-US" altLang="zh-CN" sz="1400" dirty="0">
                <a:solidFill>
                  <a:srgbClr val="0000FF"/>
                </a:solidFill>
              </a:rPr>
              <a:t>The temperature of the lake is const.</a:t>
            </a:r>
            <a:endParaRPr lang="zh-CN" altLang="en-US" sz="1400" dirty="0">
              <a:solidFill>
                <a:srgbClr val="0000FF"/>
              </a:solidFill>
            </a:endParaRPr>
          </a:p>
        </p:txBody>
      </p:sp>
      <p:sp>
        <p:nvSpPr>
          <p:cNvPr id="26" name="文本框 25"/>
          <p:cNvSpPr txBox="1"/>
          <p:nvPr/>
        </p:nvSpPr>
        <p:spPr>
          <a:xfrm>
            <a:off x="3339010" y="3972301"/>
            <a:ext cx="1954381" cy="307777"/>
          </a:xfrm>
          <a:prstGeom prst="rect">
            <a:avLst/>
          </a:prstGeom>
          <a:noFill/>
        </p:spPr>
        <p:txBody>
          <a:bodyPr wrap="none" rtlCol="0">
            <a:spAutoFit/>
          </a:bodyPr>
          <a:lstStyle/>
          <a:p>
            <a:r>
              <a:rPr lang="en-US" altLang="zh-CN" sz="1400" dirty="0"/>
              <a:t>The energy it receive: </a:t>
            </a:r>
            <a:endParaRPr lang="zh-CN" altLang="en-US" sz="1400" dirty="0"/>
          </a:p>
        </p:txBody>
      </p:sp>
      <p:graphicFrame>
        <p:nvGraphicFramePr>
          <p:cNvPr id="28" name="对象 27"/>
          <p:cNvGraphicFramePr>
            <a:graphicFrameLocks noChangeAspect="1"/>
          </p:cNvGraphicFramePr>
          <p:nvPr/>
        </p:nvGraphicFramePr>
        <p:xfrm>
          <a:off x="3751870" y="4396693"/>
          <a:ext cx="2690812" cy="255588"/>
        </p:xfrm>
        <a:graphic>
          <a:graphicData uri="http://schemas.openxmlformats.org/presentationml/2006/ole">
            <mc:AlternateContent xmlns:mc="http://schemas.openxmlformats.org/markup-compatibility/2006">
              <mc:Choice xmlns:v="urn:schemas-microsoft-com:vml" Requires="v">
                <p:oleObj name="Equation" r:id="rId8" imgW="2666880" imgH="253800" progId="Equation.DSMT4">
                  <p:embed/>
                </p:oleObj>
              </mc:Choice>
              <mc:Fallback>
                <p:oleObj name="Equation" r:id="rId8" imgW="2666880" imgH="253800" progId="Equation.DSMT4">
                  <p:embed/>
                  <p:pic>
                    <p:nvPicPr>
                      <p:cNvPr id="28" name="对象 27"/>
                      <p:cNvPicPr>
                        <a:picLocks noChangeAspect="1" noChangeArrowheads="1"/>
                      </p:cNvPicPr>
                      <p:nvPr/>
                    </p:nvPicPr>
                    <p:blipFill>
                      <a:blip r:embed="rId9"/>
                      <a:srcRect/>
                      <a:stretch>
                        <a:fillRect/>
                      </a:stretch>
                    </p:blipFill>
                    <p:spPr bwMode="auto">
                      <a:xfrm>
                        <a:off x="3751870" y="4396693"/>
                        <a:ext cx="2690812" cy="255588"/>
                      </a:xfrm>
                      <a:prstGeom prst="rect">
                        <a:avLst/>
                      </a:prstGeom>
                      <a:noFill/>
                      <a:ln>
                        <a:noFill/>
                      </a:ln>
                    </p:spPr>
                  </p:pic>
                </p:oleObj>
              </mc:Fallback>
            </mc:AlternateContent>
          </a:graphicData>
        </a:graphic>
      </p:graphicFrame>
      <p:sp>
        <p:nvSpPr>
          <p:cNvPr id="29" name="文本框 28"/>
          <p:cNvSpPr txBox="1"/>
          <p:nvPr/>
        </p:nvSpPr>
        <p:spPr>
          <a:xfrm>
            <a:off x="3339010" y="4689285"/>
            <a:ext cx="1864613" cy="307777"/>
          </a:xfrm>
          <a:prstGeom prst="rect">
            <a:avLst/>
          </a:prstGeom>
          <a:noFill/>
        </p:spPr>
        <p:txBody>
          <a:bodyPr wrap="none" rtlCol="0">
            <a:spAutoFit/>
          </a:bodyPr>
          <a:lstStyle/>
          <a:p>
            <a:r>
              <a:rPr lang="en-US" altLang="zh-CN" sz="1400" dirty="0"/>
              <a:t>The entropy</a:t>
            </a:r>
            <a:r>
              <a:rPr lang="zh-CN" altLang="en-US" sz="1400" dirty="0"/>
              <a:t> </a:t>
            </a:r>
            <a:r>
              <a:rPr lang="en-US" altLang="zh-CN" sz="1400" dirty="0"/>
              <a:t>of lake: </a:t>
            </a:r>
            <a:endParaRPr lang="zh-CN" altLang="en-US" sz="1400" dirty="0"/>
          </a:p>
        </p:txBody>
      </p:sp>
      <p:graphicFrame>
        <p:nvGraphicFramePr>
          <p:cNvPr id="30" name="对象 29"/>
          <p:cNvGraphicFramePr>
            <a:graphicFrameLocks noChangeAspect="1"/>
          </p:cNvGraphicFramePr>
          <p:nvPr/>
        </p:nvGraphicFramePr>
        <p:xfrm>
          <a:off x="3724780" y="5048026"/>
          <a:ext cx="2316163" cy="433388"/>
        </p:xfrm>
        <a:graphic>
          <a:graphicData uri="http://schemas.openxmlformats.org/presentationml/2006/ole">
            <mc:AlternateContent xmlns:mc="http://schemas.openxmlformats.org/markup-compatibility/2006">
              <mc:Choice xmlns:v="urn:schemas-microsoft-com:vml" Requires="v">
                <p:oleObj name="Equation" r:id="rId10" imgW="2298600" imgH="431640" progId="Equation.DSMT4">
                  <p:embed/>
                </p:oleObj>
              </mc:Choice>
              <mc:Fallback>
                <p:oleObj name="Equation" r:id="rId10" imgW="2298600" imgH="431640" progId="Equation.DSMT4">
                  <p:embed/>
                  <p:pic>
                    <p:nvPicPr>
                      <p:cNvPr id="30" name="对象 29"/>
                      <p:cNvPicPr>
                        <a:picLocks noChangeAspect="1" noChangeArrowheads="1"/>
                      </p:cNvPicPr>
                      <p:nvPr/>
                    </p:nvPicPr>
                    <p:blipFill>
                      <a:blip r:embed="rId11"/>
                      <a:srcRect/>
                      <a:stretch>
                        <a:fillRect/>
                      </a:stretch>
                    </p:blipFill>
                    <p:spPr bwMode="auto">
                      <a:xfrm>
                        <a:off x="3724780" y="5048026"/>
                        <a:ext cx="2316163" cy="433388"/>
                      </a:xfrm>
                      <a:prstGeom prst="rect">
                        <a:avLst/>
                      </a:prstGeom>
                      <a:noFill/>
                      <a:ln>
                        <a:noFill/>
                      </a:ln>
                    </p:spPr>
                  </p:pic>
                </p:oleObj>
              </mc:Fallback>
            </mc:AlternateContent>
          </a:graphicData>
        </a:graphic>
      </p:graphicFrame>
      <p:sp>
        <p:nvSpPr>
          <p:cNvPr id="31" name="文本框 30"/>
          <p:cNvSpPr txBox="1"/>
          <p:nvPr/>
        </p:nvSpPr>
        <p:spPr>
          <a:xfrm>
            <a:off x="746874" y="5692493"/>
            <a:ext cx="2954655" cy="369332"/>
          </a:xfrm>
          <a:prstGeom prst="rect">
            <a:avLst/>
          </a:prstGeom>
          <a:noFill/>
        </p:spPr>
        <p:txBody>
          <a:bodyPr wrap="none" rtlCol="0">
            <a:spAutoFit/>
          </a:bodyPr>
          <a:lstStyle/>
          <a:p>
            <a:r>
              <a:rPr lang="en-US" altLang="zh-CN" dirty="0"/>
              <a:t>The generation of entropy: </a:t>
            </a:r>
            <a:endParaRPr lang="zh-CN" altLang="en-US" dirty="0"/>
          </a:p>
        </p:txBody>
      </p:sp>
      <p:graphicFrame>
        <p:nvGraphicFramePr>
          <p:cNvPr id="32" name="对象 31"/>
          <p:cNvGraphicFramePr>
            <a:graphicFrameLocks noChangeAspect="1"/>
          </p:cNvGraphicFramePr>
          <p:nvPr/>
        </p:nvGraphicFramePr>
        <p:xfrm>
          <a:off x="3751870" y="5818937"/>
          <a:ext cx="3148012" cy="242888"/>
        </p:xfrm>
        <a:graphic>
          <a:graphicData uri="http://schemas.openxmlformats.org/presentationml/2006/ole">
            <mc:AlternateContent xmlns:mc="http://schemas.openxmlformats.org/markup-compatibility/2006">
              <mc:Choice xmlns:v="urn:schemas-microsoft-com:vml" Requires="v">
                <p:oleObj name="Equation" r:id="rId12" imgW="3124080" imgH="241200" progId="Equation.DSMT4">
                  <p:embed/>
                </p:oleObj>
              </mc:Choice>
              <mc:Fallback>
                <p:oleObj name="Equation" r:id="rId12" imgW="3124080" imgH="241200" progId="Equation.DSMT4">
                  <p:embed/>
                  <p:pic>
                    <p:nvPicPr>
                      <p:cNvPr id="32" name="对象 31"/>
                      <p:cNvPicPr>
                        <a:picLocks noChangeAspect="1" noChangeArrowheads="1"/>
                      </p:cNvPicPr>
                      <p:nvPr/>
                    </p:nvPicPr>
                    <p:blipFill>
                      <a:blip r:embed="rId13"/>
                      <a:srcRect/>
                      <a:stretch>
                        <a:fillRect/>
                      </a:stretch>
                    </p:blipFill>
                    <p:spPr bwMode="auto">
                      <a:xfrm>
                        <a:off x="3751870" y="5818937"/>
                        <a:ext cx="3148012" cy="242888"/>
                      </a:xfrm>
                      <a:prstGeom prst="rect">
                        <a:avLst/>
                      </a:prstGeom>
                      <a:noFill/>
                      <a:ln>
                        <a:noFill/>
                      </a:ln>
                    </p:spPr>
                  </p:pic>
                </p:oleObj>
              </mc:Fallback>
            </mc:AlternateContent>
          </a:graphicData>
        </a:graphic>
      </p:graphicFrame>
      <p:sp>
        <p:nvSpPr>
          <p:cNvPr id="33" name="文本框 32"/>
          <p:cNvSpPr txBox="1"/>
          <p:nvPr/>
        </p:nvSpPr>
        <p:spPr>
          <a:xfrm>
            <a:off x="1532546" y="6224811"/>
            <a:ext cx="4878259" cy="369332"/>
          </a:xfrm>
          <a:prstGeom prst="rect">
            <a:avLst/>
          </a:prstGeom>
          <a:noFill/>
        </p:spPr>
        <p:txBody>
          <a:bodyPr wrap="none" rtlCol="0">
            <a:spAutoFit/>
          </a:bodyPr>
          <a:lstStyle/>
          <a:p>
            <a:r>
              <a:rPr lang="en-US" altLang="zh-CN" dirty="0"/>
              <a:t>Where the location of the entropy generated ?</a:t>
            </a:r>
            <a:endParaRPr lang="zh-CN" altLang="en-US" dirty="0"/>
          </a:p>
        </p:txBody>
      </p:sp>
    </p:spTree>
    <p:extLst>
      <p:ext uri="{BB962C8B-B14F-4D97-AF65-F5344CB8AC3E}">
        <p14:creationId xmlns:p14="http://schemas.microsoft.com/office/powerpoint/2010/main" val="417937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3652" y="205064"/>
            <a:ext cx="4063933" cy="523220"/>
          </a:xfrm>
          <a:prstGeom prst="rect">
            <a:avLst/>
          </a:prstGeom>
          <a:noFill/>
        </p:spPr>
        <p:txBody>
          <a:bodyPr wrap="none" rtlCol="0">
            <a:spAutoFit/>
          </a:bodyPr>
          <a:lstStyle/>
          <a:p>
            <a:r>
              <a:rPr lang="en-US" altLang="zh-CN" sz="2800" dirty="0">
                <a:solidFill>
                  <a:srgbClr val="FF0000"/>
                </a:solidFill>
              </a:rPr>
              <a:t>The changes of entropy </a:t>
            </a:r>
            <a:endParaRPr lang="zh-CN" altLang="en-US" sz="2800" dirty="0">
              <a:solidFill>
                <a:srgbClr val="FF0000"/>
              </a:solidFill>
            </a:endParaRPr>
          </a:p>
        </p:txBody>
      </p:sp>
      <p:graphicFrame>
        <p:nvGraphicFramePr>
          <p:cNvPr id="3" name="对象 2"/>
          <p:cNvGraphicFramePr>
            <a:graphicFrameLocks noChangeAspect="1"/>
          </p:cNvGraphicFramePr>
          <p:nvPr/>
        </p:nvGraphicFramePr>
        <p:xfrm>
          <a:off x="3091229" y="1748237"/>
          <a:ext cx="2160158" cy="355226"/>
        </p:xfrm>
        <a:graphic>
          <a:graphicData uri="http://schemas.openxmlformats.org/presentationml/2006/ole">
            <mc:AlternateContent xmlns:mc="http://schemas.openxmlformats.org/markup-compatibility/2006">
              <mc:Choice xmlns:v="urn:schemas-microsoft-com:vml" Requires="v">
                <p:oleObj name="Equation" r:id="rId3" imgW="1079032" imgH="177723" progId="Equation.DSMT4">
                  <p:embed/>
                </p:oleObj>
              </mc:Choice>
              <mc:Fallback>
                <p:oleObj name="Equation" r:id="rId3" imgW="1079032" imgH="177723" progId="Equation.DSMT4">
                  <p:embed/>
                  <p:pic>
                    <p:nvPicPr>
                      <p:cNvPr id="3"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1229" y="1748237"/>
                        <a:ext cx="2160158" cy="355226"/>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113652" y="1614531"/>
          <a:ext cx="2619666" cy="838200"/>
        </p:xfrm>
        <a:graphic>
          <a:graphicData uri="http://schemas.openxmlformats.org/presentationml/2006/ole">
            <mc:AlternateContent xmlns:mc="http://schemas.openxmlformats.org/markup-compatibility/2006">
              <mc:Choice xmlns:v="urn:schemas-microsoft-com:vml" Requires="v">
                <p:oleObj name="Equation" r:id="rId5" imgW="1346040" imgH="431640" progId="Equation.DSMT4">
                  <p:embed/>
                </p:oleObj>
              </mc:Choice>
              <mc:Fallback>
                <p:oleObj name="Equation" r:id="rId5" imgW="1346040" imgH="431640" progId="Equation.DSMT4">
                  <p:embed/>
                  <p:pic>
                    <p:nvPicPr>
                      <p:cNvPr id="4" name="对象 3"/>
                      <p:cNvPicPr>
                        <a:picLocks noChangeAspect="1" noChangeArrowheads="1"/>
                      </p:cNvPicPr>
                      <p:nvPr/>
                    </p:nvPicPr>
                    <p:blipFill>
                      <a:blip r:embed="rId6"/>
                      <a:srcRect/>
                      <a:stretch>
                        <a:fillRect/>
                      </a:stretch>
                    </p:blipFill>
                    <p:spPr bwMode="auto">
                      <a:xfrm>
                        <a:off x="113652" y="1614531"/>
                        <a:ext cx="2619666" cy="838200"/>
                      </a:xfrm>
                      <a:prstGeom prst="rect">
                        <a:avLst/>
                      </a:prstGeom>
                      <a:noFill/>
                      <a:ln>
                        <a:noFill/>
                      </a:ln>
                    </p:spPr>
                  </p:pic>
                </p:oleObj>
              </mc:Fallback>
            </mc:AlternateContent>
          </a:graphicData>
        </a:graphic>
      </p:graphicFrame>
      <p:sp>
        <p:nvSpPr>
          <p:cNvPr id="5" name="右大括号 4"/>
          <p:cNvSpPr/>
          <p:nvPr/>
        </p:nvSpPr>
        <p:spPr>
          <a:xfrm>
            <a:off x="2800572" y="1614530"/>
            <a:ext cx="152400" cy="685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6" name="对象 5"/>
          <p:cNvGraphicFramePr>
            <a:graphicFrameLocks noChangeAspect="1"/>
          </p:cNvGraphicFramePr>
          <p:nvPr/>
        </p:nvGraphicFramePr>
        <p:xfrm>
          <a:off x="182992" y="4276813"/>
          <a:ext cx="2340776" cy="1066800"/>
        </p:xfrm>
        <a:graphic>
          <a:graphicData uri="http://schemas.openxmlformats.org/presentationml/2006/ole">
            <mc:AlternateContent xmlns:mc="http://schemas.openxmlformats.org/markup-compatibility/2006">
              <mc:Choice xmlns:v="urn:schemas-microsoft-com:vml" Requires="v">
                <p:oleObj name="Equation" r:id="rId7" imgW="1422360" imgH="647640" progId="Equation.DSMT4">
                  <p:embed/>
                </p:oleObj>
              </mc:Choice>
              <mc:Fallback>
                <p:oleObj name="Equation" r:id="rId7" imgW="1422360" imgH="647640" progId="Equation.DSMT4">
                  <p:embed/>
                  <p:pic>
                    <p:nvPicPr>
                      <p:cNvPr id="6" name="对象 5"/>
                      <p:cNvPicPr>
                        <a:picLocks noChangeAspect="1" noChangeArrowheads="1"/>
                      </p:cNvPicPr>
                      <p:nvPr/>
                    </p:nvPicPr>
                    <p:blipFill>
                      <a:blip r:embed="rId8"/>
                      <a:srcRect/>
                      <a:stretch>
                        <a:fillRect/>
                      </a:stretch>
                    </p:blipFill>
                    <p:spPr bwMode="auto">
                      <a:xfrm>
                        <a:off x="182992" y="4276813"/>
                        <a:ext cx="2340776" cy="1066800"/>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nvGraphicFramePr>
        <p:xfrm>
          <a:off x="152384" y="5496012"/>
          <a:ext cx="1935608" cy="319044"/>
        </p:xfrm>
        <a:graphic>
          <a:graphicData uri="http://schemas.openxmlformats.org/presentationml/2006/ole">
            <mc:AlternateContent xmlns:mc="http://schemas.openxmlformats.org/markup-compatibility/2006">
              <mc:Choice xmlns:v="urn:schemas-microsoft-com:vml" Requires="v">
                <p:oleObj name="Equation" r:id="rId9" imgW="1079032" imgH="177723" progId="Equation.DSMT4">
                  <p:embed/>
                </p:oleObj>
              </mc:Choice>
              <mc:Fallback>
                <p:oleObj name="Equation" r:id="rId9" imgW="1079032" imgH="177723"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384" y="5496012"/>
                        <a:ext cx="1935608" cy="319044"/>
                      </a:xfrm>
                      <a:prstGeom prst="rect">
                        <a:avLst/>
                      </a:prstGeom>
                      <a:noFill/>
                      <a:ln>
                        <a:noFill/>
                      </a:ln>
                    </p:spPr>
                  </p:pic>
                </p:oleObj>
              </mc:Fallback>
            </mc:AlternateContent>
          </a:graphicData>
        </a:graphic>
      </p:graphicFrame>
      <p:sp>
        <p:nvSpPr>
          <p:cNvPr id="8" name="右大括号 7"/>
          <p:cNvSpPr/>
          <p:nvPr/>
        </p:nvSpPr>
        <p:spPr>
          <a:xfrm>
            <a:off x="2745439" y="4367256"/>
            <a:ext cx="152400" cy="1447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9" name="对象 8"/>
          <p:cNvGraphicFramePr>
            <a:graphicFrameLocks noChangeAspect="1"/>
          </p:cNvGraphicFramePr>
          <p:nvPr/>
        </p:nvGraphicFramePr>
        <p:xfrm>
          <a:off x="2949806" y="4888242"/>
          <a:ext cx="2165119" cy="370877"/>
        </p:xfrm>
        <a:graphic>
          <a:graphicData uri="http://schemas.openxmlformats.org/presentationml/2006/ole">
            <mc:AlternateContent xmlns:mc="http://schemas.openxmlformats.org/markup-compatibility/2006">
              <mc:Choice xmlns:v="urn:schemas-microsoft-com:vml" Requires="v">
                <p:oleObj name="Equation" r:id="rId10" imgW="1041120" imgH="177480" progId="Equation.DSMT4">
                  <p:embed/>
                </p:oleObj>
              </mc:Choice>
              <mc:Fallback>
                <p:oleObj name="Equation" r:id="rId10" imgW="1041120" imgH="177480" progId="Equation.DSMT4">
                  <p:embed/>
                  <p:pic>
                    <p:nvPicPr>
                      <p:cNvPr id="9" name="对象 8"/>
                      <p:cNvPicPr>
                        <a:picLocks noChangeAspect="1" noChangeArrowheads="1"/>
                      </p:cNvPicPr>
                      <p:nvPr/>
                    </p:nvPicPr>
                    <p:blipFill>
                      <a:blip r:embed="rId11"/>
                      <a:srcRect/>
                      <a:stretch>
                        <a:fillRect/>
                      </a:stretch>
                    </p:blipFill>
                    <p:spPr bwMode="auto">
                      <a:xfrm>
                        <a:off x="2949806" y="4888242"/>
                        <a:ext cx="2165119" cy="370877"/>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nvGraphicFramePr>
        <p:xfrm>
          <a:off x="6383338" y="1516063"/>
          <a:ext cx="2082800" cy="784225"/>
        </p:xfrm>
        <a:graphic>
          <a:graphicData uri="http://schemas.openxmlformats.org/presentationml/2006/ole">
            <mc:AlternateContent xmlns:mc="http://schemas.openxmlformats.org/markup-compatibility/2006">
              <mc:Choice xmlns:v="urn:schemas-microsoft-com:vml" Requires="v">
                <p:oleObj name="Equation" r:id="rId12" imgW="1041120" imgH="393480" progId="Equation.DSMT4">
                  <p:embed/>
                </p:oleObj>
              </mc:Choice>
              <mc:Fallback>
                <p:oleObj name="Equation" r:id="rId12" imgW="1041120" imgH="393480" progId="Equation.DSMT4">
                  <p:embed/>
                  <p:pic>
                    <p:nvPicPr>
                      <p:cNvPr id="11" name="对象 10"/>
                      <p:cNvPicPr>
                        <a:picLocks noChangeAspect="1" noChangeArrowheads="1"/>
                      </p:cNvPicPr>
                      <p:nvPr/>
                    </p:nvPicPr>
                    <p:blipFill>
                      <a:blip r:embed="rId13"/>
                      <a:srcRect/>
                      <a:stretch>
                        <a:fillRect/>
                      </a:stretch>
                    </p:blipFill>
                    <p:spPr bwMode="auto">
                      <a:xfrm>
                        <a:off x="6383338" y="1516063"/>
                        <a:ext cx="2082800" cy="784225"/>
                      </a:xfrm>
                      <a:prstGeom prst="rect">
                        <a:avLst/>
                      </a:prstGeom>
                      <a:noFill/>
                      <a:ln>
                        <a:noFill/>
                      </a:ln>
                    </p:spPr>
                  </p:pic>
                </p:oleObj>
              </mc:Fallback>
            </mc:AlternateContent>
          </a:graphicData>
        </a:graphic>
      </p:graphicFrame>
      <p:sp>
        <p:nvSpPr>
          <p:cNvPr id="12" name="TextBox 11"/>
          <p:cNvSpPr txBox="1"/>
          <p:nvPr/>
        </p:nvSpPr>
        <p:spPr>
          <a:xfrm>
            <a:off x="546126" y="3536912"/>
            <a:ext cx="6377067" cy="400110"/>
          </a:xfrm>
          <a:prstGeom prst="rect">
            <a:avLst/>
          </a:prstGeom>
          <a:noFill/>
        </p:spPr>
        <p:txBody>
          <a:bodyPr wrap="none" rtlCol="0">
            <a:spAutoFit/>
          </a:bodyPr>
          <a:lstStyle/>
          <a:p>
            <a:pPr marL="285750" indent="-285750">
              <a:buFont typeface="Wingdings" pitchFamily="2" charset="2"/>
              <a:buChar char="ü"/>
            </a:pPr>
            <a:r>
              <a:rPr lang="en-US" altLang="zh-CN" sz="2000" dirty="0">
                <a:solidFill>
                  <a:srgbClr val="FF0000"/>
                </a:solidFill>
              </a:rPr>
              <a:t>2</a:t>
            </a:r>
            <a:r>
              <a:rPr lang="en-US" altLang="zh-CN" sz="2000" baseline="30000" dirty="0">
                <a:solidFill>
                  <a:srgbClr val="FF0000"/>
                </a:solidFill>
              </a:rPr>
              <a:t>nd</a:t>
            </a:r>
            <a:r>
              <a:rPr lang="en-US" altLang="zh-CN" sz="2000" dirty="0">
                <a:solidFill>
                  <a:srgbClr val="FF0000"/>
                </a:solidFill>
              </a:rPr>
              <a:t> </a:t>
            </a:r>
            <a:r>
              <a:rPr lang="en-US" altLang="zh-CN" sz="2000" dirty="0" err="1">
                <a:solidFill>
                  <a:srgbClr val="FF0000"/>
                </a:solidFill>
              </a:rPr>
              <a:t>TdS</a:t>
            </a:r>
            <a:r>
              <a:rPr lang="en-US" altLang="zh-CN" sz="2000" dirty="0">
                <a:solidFill>
                  <a:srgbClr val="FF0000"/>
                </a:solidFill>
              </a:rPr>
              <a:t>, considering T and P as independent variable </a:t>
            </a:r>
            <a:endParaRPr lang="zh-CN" altLang="en-US" sz="2000" dirty="0">
              <a:solidFill>
                <a:srgbClr val="FF0000"/>
              </a:solidFill>
            </a:endParaRPr>
          </a:p>
        </p:txBody>
      </p:sp>
      <p:sp>
        <p:nvSpPr>
          <p:cNvPr id="13" name="右箭头 12"/>
          <p:cNvSpPr/>
          <p:nvPr/>
        </p:nvSpPr>
        <p:spPr>
          <a:xfrm>
            <a:off x="5500687" y="1785980"/>
            <a:ext cx="504825" cy="3429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466965" y="1014702"/>
            <a:ext cx="6308137" cy="400110"/>
          </a:xfrm>
          <a:prstGeom prst="rect">
            <a:avLst/>
          </a:prstGeom>
          <a:noFill/>
        </p:spPr>
        <p:txBody>
          <a:bodyPr wrap="none" rtlCol="0">
            <a:spAutoFit/>
          </a:bodyPr>
          <a:lstStyle/>
          <a:p>
            <a:pPr marL="285750" indent="-285750">
              <a:buFont typeface="Wingdings" pitchFamily="2" charset="2"/>
              <a:buChar char="ü"/>
            </a:pPr>
            <a:r>
              <a:rPr lang="en-US" altLang="zh-CN" sz="2000" dirty="0">
                <a:solidFill>
                  <a:srgbClr val="FF0000"/>
                </a:solidFill>
              </a:rPr>
              <a:t>1</a:t>
            </a:r>
            <a:r>
              <a:rPr lang="en-US" altLang="zh-CN" sz="2000" baseline="30000" dirty="0">
                <a:solidFill>
                  <a:srgbClr val="FF0000"/>
                </a:solidFill>
              </a:rPr>
              <a:t>st</a:t>
            </a:r>
            <a:r>
              <a:rPr lang="en-US" altLang="zh-CN" sz="2000" dirty="0">
                <a:solidFill>
                  <a:srgbClr val="FF0000"/>
                </a:solidFill>
              </a:rPr>
              <a:t> </a:t>
            </a:r>
            <a:r>
              <a:rPr lang="en-US" altLang="zh-CN" sz="2000" dirty="0" err="1">
                <a:solidFill>
                  <a:srgbClr val="FF0000"/>
                </a:solidFill>
              </a:rPr>
              <a:t>TdS</a:t>
            </a:r>
            <a:r>
              <a:rPr lang="en-US" altLang="zh-CN" sz="2000" dirty="0">
                <a:solidFill>
                  <a:srgbClr val="FF0000"/>
                </a:solidFill>
              </a:rPr>
              <a:t>, considering T and V as independent variable </a:t>
            </a:r>
            <a:endParaRPr lang="zh-CN" altLang="en-US" sz="2000" dirty="0">
              <a:solidFill>
                <a:srgbClr val="FF0000"/>
              </a:solidFill>
            </a:endParaRPr>
          </a:p>
        </p:txBody>
      </p:sp>
      <p:graphicFrame>
        <p:nvGraphicFramePr>
          <p:cNvPr id="15" name="对象 14"/>
          <p:cNvGraphicFramePr>
            <a:graphicFrameLocks noChangeAspect="1"/>
          </p:cNvGraphicFramePr>
          <p:nvPr/>
        </p:nvGraphicFramePr>
        <p:xfrm>
          <a:off x="6408738" y="4679950"/>
          <a:ext cx="2085975" cy="822325"/>
        </p:xfrm>
        <a:graphic>
          <a:graphicData uri="http://schemas.openxmlformats.org/presentationml/2006/ole">
            <mc:AlternateContent xmlns:mc="http://schemas.openxmlformats.org/markup-compatibility/2006">
              <mc:Choice xmlns:v="urn:schemas-microsoft-com:vml" Requires="v">
                <p:oleObj name="Equation" r:id="rId14" imgW="1002960" imgH="393480" progId="Equation.DSMT4">
                  <p:embed/>
                </p:oleObj>
              </mc:Choice>
              <mc:Fallback>
                <p:oleObj name="Equation" r:id="rId14" imgW="1002960" imgH="393480" progId="Equation.DSMT4">
                  <p:embed/>
                  <p:pic>
                    <p:nvPicPr>
                      <p:cNvPr id="15" name="对象 14"/>
                      <p:cNvPicPr>
                        <a:picLocks noChangeAspect="1" noChangeArrowheads="1"/>
                      </p:cNvPicPr>
                      <p:nvPr/>
                    </p:nvPicPr>
                    <p:blipFill>
                      <a:blip r:embed="rId15"/>
                      <a:srcRect/>
                      <a:stretch>
                        <a:fillRect/>
                      </a:stretch>
                    </p:blipFill>
                    <p:spPr bwMode="auto">
                      <a:xfrm>
                        <a:off x="6408738" y="4679950"/>
                        <a:ext cx="20859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5132388" y="2614613"/>
          <a:ext cx="3333750" cy="604837"/>
        </p:xfrm>
        <a:graphic>
          <a:graphicData uri="http://schemas.openxmlformats.org/presentationml/2006/ole">
            <mc:AlternateContent xmlns:mc="http://schemas.openxmlformats.org/markup-compatibility/2006">
              <mc:Choice xmlns:v="urn:schemas-microsoft-com:vml" Requires="v">
                <p:oleObj name="Equation" r:id="rId16" imgW="2514600" imgH="457200" progId="Equation.DSMT4">
                  <p:embed/>
                </p:oleObj>
              </mc:Choice>
              <mc:Fallback>
                <p:oleObj name="Equation" r:id="rId16" imgW="2514600" imgH="457200" progId="Equation.DSMT4">
                  <p:embed/>
                  <p:pic>
                    <p:nvPicPr>
                      <p:cNvPr id="16" name="对象 15"/>
                      <p:cNvPicPr>
                        <a:picLocks noChangeAspect="1" noChangeArrowheads="1"/>
                      </p:cNvPicPr>
                      <p:nvPr/>
                    </p:nvPicPr>
                    <p:blipFill>
                      <a:blip r:embed="rId17"/>
                      <a:srcRect/>
                      <a:stretch>
                        <a:fillRect/>
                      </a:stretch>
                    </p:blipFill>
                    <p:spPr bwMode="auto">
                      <a:xfrm>
                        <a:off x="5132388" y="2614613"/>
                        <a:ext cx="3333750" cy="604837"/>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nvGraphicFramePr>
        <p:xfrm>
          <a:off x="5132388" y="5729288"/>
          <a:ext cx="3316287" cy="604837"/>
        </p:xfrm>
        <a:graphic>
          <a:graphicData uri="http://schemas.openxmlformats.org/presentationml/2006/ole">
            <mc:AlternateContent xmlns:mc="http://schemas.openxmlformats.org/markup-compatibility/2006">
              <mc:Choice xmlns:v="urn:schemas-microsoft-com:vml" Requires="v">
                <p:oleObj name="Equation" r:id="rId18" imgW="2501640" imgH="457200" progId="Equation.DSMT4">
                  <p:embed/>
                </p:oleObj>
              </mc:Choice>
              <mc:Fallback>
                <p:oleObj name="Equation" r:id="rId18" imgW="2501640" imgH="457200" progId="Equation.DSMT4">
                  <p:embed/>
                  <p:pic>
                    <p:nvPicPr>
                      <p:cNvPr id="17" name="对象 16"/>
                      <p:cNvPicPr>
                        <a:picLocks noChangeAspect="1" noChangeArrowheads="1"/>
                      </p:cNvPicPr>
                      <p:nvPr/>
                    </p:nvPicPr>
                    <p:blipFill>
                      <a:blip r:embed="rId19"/>
                      <a:srcRect/>
                      <a:stretch>
                        <a:fillRect/>
                      </a:stretch>
                    </p:blipFill>
                    <p:spPr bwMode="auto">
                      <a:xfrm>
                        <a:off x="5132388" y="5729288"/>
                        <a:ext cx="3316287"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82358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7672" y="2932867"/>
            <a:ext cx="7886700" cy="867940"/>
          </a:xfrm>
        </p:spPr>
        <p:txBody>
          <a:bodyPr>
            <a:normAutofit/>
          </a:bodyPr>
          <a:lstStyle/>
          <a:p>
            <a:r>
              <a:rPr lang="en-US" altLang="zh-CN" sz="3600" dirty="0">
                <a:solidFill>
                  <a:srgbClr val="FF0000"/>
                </a:solidFill>
              </a:rPr>
              <a:t>8. </a:t>
            </a:r>
            <a:r>
              <a:rPr lang="en-US" altLang="zh-CN" sz="3600" dirty="0" err="1">
                <a:solidFill>
                  <a:srgbClr val="FF0000"/>
                </a:solidFill>
              </a:rPr>
              <a:t>Exergy</a:t>
            </a:r>
            <a:r>
              <a:rPr lang="en-US" altLang="zh-CN" sz="3600" dirty="0">
                <a:solidFill>
                  <a:srgbClr val="FF0000"/>
                </a:solidFill>
              </a:rPr>
              <a:t> and </a:t>
            </a:r>
            <a:r>
              <a:rPr lang="en-US" altLang="zh-CN" sz="3600" b="1" dirty="0">
                <a:solidFill>
                  <a:srgbClr val="FF0000"/>
                </a:solidFill>
                <a:effectLst>
                  <a:outerShdw blurRad="38100" dist="38100" dir="2700000" algn="tl">
                    <a:srgbClr val="000000">
                      <a:alpha val="43137"/>
                    </a:srgbClr>
                  </a:outerShdw>
                </a:effectLst>
              </a:rPr>
              <a:t>Quality of Energy</a:t>
            </a:r>
            <a:endParaRPr lang="en-US" altLang="zh-CN" sz="3600" dirty="0">
              <a:solidFill>
                <a:srgbClr val="FF0000"/>
              </a:solidFill>
            </a:endParaRPr>
          </a:p>
        </p:txBody>
      </p:sp>
      <p:sp>
        <p:nvSpPr>
          <p:cNvPr id="3" name="矩形 2"/>
          <p:cNvSpPr/>
          <p:nvPr/>
        </p:nvSpPr>
        <p:spPr>
          <a:xfrm>
            <a:off x="1061208" y="4347406"/>
            <a:ext cx="6639886" cy="369332"/>
          </a:xfrm>
          <a:prstGeom prst="rect">
            <a:avLst/>
          </a:prstGeom>
        </p:spPr>
        <p:txBody>
          <a:bodyPr wrap="square">
            <a:spAutoFit/>
          </a:bodyPr>
          <a:lstStyle/>
          <a:p>
            <a:r>
              <a:rPr lang="en-US" altLang="zh-CN" b="1" dirty="0">
                <a:solidFill>
                  <a:srgbClr val="0000FF"/>
                </a:solidFill>
              </a:rPr>
              <a:t>Ref. Thermodynamics: A Engineering approach, Chapter 8</a:t>
            </a:r>
            <a:r>
              <a:rPr lang="zh-CN" altLang="en-US" b="1" dirty="0">
                <a:solidFill>
                  <a:srgbClr val="0000FF"/>
                </a:solidFill>
              </a:rPr>
              <a:t> </a:t>
            </a:r>
            <a:endParaRPr lang="zh-CN" altLang="en-US" dirty="0">
              <a:solidFill>
                <a:srgbClr val="0000FF"/>
              </a:solidFill>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745450"/>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0360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23890" y="7937"/>
            <a:ext cx="6238910"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b="1" dirty="0">
                <a:solidFill>
                  <a:srgbClr val="FF0000"/>
                </a:solidFill>
                <a:effectLst>
                  <a:outerShdw blurRad="38100" dist="38100" dir="2700000" algn="tl">
                    <a:srgbClr val="000000">
                      <a:alpha val="43137"/>
                    </a:srgbClr>
                  </a:outerShdw>
                </a:effectLst>
                <a:latin typeface="Arial Unicode MS" pitchFamily="34" charset="-122"/>
                <a:ea typeface="Arial Unicode MS" pitchFamily="34" charset="-122"/>
                <a:cs typeface="Arial Unicode MS" pitchFamily="34" charset="-122"/>
              </a:rPr>
              <a:t>Quality of Energy</a:t>
            </a:r>
            <a:endParaRPr lang="en-US" dirty="0">
              <a:solidFill>
                <a:srgbClr val="FF0000"/>
              </a:solidFill>
              <a:latin typeface="Arial Unicode MS" pitchFamily="34" charset="-122"/>
              <a:ea typeface="Arial Unicode MS" pitchFamily="34" charset="-122"/>
              <a:cs typeface="Arial Unicode MS" pitchFamily="34" charset="-122"/>
            </a:endParaRPr>
          </a:p>
        </p:txBody>
      </p:sp>
      <p:sp>
        <p:nvSpPr>
          <p:cNvPr id="16" name="TextBox 15"/>
          <p:cNvSpPr txBox="1"/>
          <p:nvPr/>
        </p:nvSpPr>
        <p:spPr>
          <a:xfrm>
            <a:off x="460375" y="1129455"/>
            <a:ext cx="8321675" cy="378565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Arial Unicode MS" pitchFamily="34" charset="-122"/>
                <a:ea typeface="Arial Unicode MS" pitchFamily="34" charset="-122"/>
                <a:cs typeface="Arial Unicode MS" pitchFamily="34" charset="-122"/>
              </a:rPr>
              <a:t>1</a:t>
            </a:r>
            <a:r>
              <a:rPr lang="en-US" altLang="zh-CN" sz="2400" baseline="30000" dirty="0">
                <a:latin typeface="Arial Unicode MS" pitchFamily="34" charset="-122"/>
                <a:ea typeface="Arial Unicode MS" pitchFamily="34" charset="-122"/>
                <a:cs typeface="Arial Unicode MS" pitchFamily="34" charset="-122"/>
              </a:rPr>
              <a:t>st</a:t>
            </a:r>
            <a:r>
              <a:rPr lang="en-US" altLang="zh-CN" sz="2400" dirty="0">
                <a:latin typeface="Arial Unicode MS" pitchFamily="34" charset="-122"/>
                <a:ea typeface="Arial Unicode MS" pitchFamily="34" charset="-122"/>
                <a:cs typeface="Arial Unicode MS" pitchFamily="34" charset="-122"/>
              </a:rPr>
              <a:t> law of TD: quantity of energy </a:t>
            </a:r>
            <a:r>
              <a:rPr lang="en-US" altLang="zh-CN" sz="2400" dirty="0">
                <a:latin typeface="Arial Unicode MS" pitchFamily="34" charset="-122"/>
                <a:ea typeface="Arial Unicode MS" pitchFamily="34" charset="-122"/>
                <a:cs typeface="Arial Unicode MS" pitchFamily="34" charset="-122"/>
                <a:sym typeface="Symbol"/>
              </a:rPr>
              <a:t> energy cannot be created or destroyed.</a:t>
            </a:r>
          </a:p>
          <a:p>
            <a:pPr marL="342900" indent="-342900">
              <a:buFont typeface="Arial" panose="020B0604020202020204" pitchFamily="34" charset="0"/>
              <a:buChar char="•"/>
            </a:pPr>
            <a:endParaRPr lang="en-US" altLang="zh-CN" sz="2400" dirty="0">
              <a:latin typeface="Arial Unicode MS" pitchFamily="34" charset="-122"/>
              <a:ea typeface="Arial Unicode MS" pitchFamily="34" charset="-122"/>
              <a:cs typeface="Arial Unicode MS" pitchFamily="34" charset="-122"/>
              <a:sym typeface="Symbol"/>
            </a:endParaRPr>
          </a:p>
          <a:p>
            <a:pPr marL="342900" indent="-342900">
              <a:buFont typeface="Arial" panose="020B0604020202020204" pitchFamily="34" charset="0"/>
              <a:buChar char="•"/>
            </a:pPr>
            <a:r>
              <a:rPr lang="en-US" altLang="zh-CN" sz="2400" dirty="0">
                <a:latin typeface="Arial Unicode MS" pitchFamily="34" charset="-122"/>
                <a:ea typeface="Arial Unicode MS" pitchFamily="34" charset="-122"/>
                <a:cs typeface="Arial Unicode MS" pitchFamily="34" charset="-122"/>
                <a:sym typeface="Symbol"/>
              </a:rPr>
              <a:t>2</a:t>
            </a:r>
            <a:r>
              <a:rPr lang="en-US" altLang="zh-CN" sz="2400" baseline="30000" dirty="0">
                <a:latin typeface="Arial Unicode MS" pitchFamily="34" charset="-122"/>
                <a:ea typeface="Arial Unicode MS" pitchFamily="34" charset="-122"/>
                <a:cs typeface="Arial Unicode MS" pitchFamily="34" charset="-122"/>
                <a:sym typeface="Symbol"/>
              </a:rPr>
              <a:t>nd</a:t>
            </a:r>
            <a:r>
              <a:rPr lang="en-US" altLang="zh-CN" sz="2400" dirty="0">
                <a:latin typeface="Arial Unicode MS" pitchFamily="34" charset="-122"/>
                <a:ea typeface="Arial Unicode MS" pitchFamily="34" charset="-122"/>
                <a:cs typeface="Arial Unicode MS" pitchFamily="34" charset="-122"/>
                <a:sym typeface="Symbol"/>
              </a:rPr>
              <a:t> law of TD: quality of energy  degradation of energy: entropy increase / lost opportunities to do work  energy has quality as well as quantity.</a:t>
            </a:r>
          </a:p>
          <a:p>
            <a:pPr marL="342900" indent="-342900">
              <a:buFont typeface="Arial" panose="020B0604020202020204" pitchFamily="34" charset="0"/>
              <a:buChar char="•"/>
            </a:pPr>
            <a:endParaRPr lang="en-US" altLang="zh-CN" sz="2400" dirty="0">
              <a:latin typeface="Arial Unicode MS" pitchFamily="34" charset="-122"/>
              <a:ea typeface="Arial Unicode MS" pitchFamily="34" charset="-122"/>
              <a:cs typeface="Arial Unicode MS" pitchFamily="34" charset="-122"/>
              <a:sym typeface="Symbol"/>
            </a:endParaRPr>
          </a:p>
          <a:p>
            <a:pPr marL="342900" indent="-342900">
              <a:buFont typeface="Arial" panose="020B0604020202020204" pitchFamily="34" charset="0"/>
              <a:buChar char="•"/>
            </a:pPr>
            <a:r>
              <a:rPr lang="en-US" altLang="zh-CN" sz="2400" dirty="0" err="1">
                <a:latin typeface="Arial Unicode MS" pitchFamily="34" charset="-122"/>
                <a:ea typeface="Arial Unicode MS" pitchFamily="34" charset="-122"/>
                <a:cs typeface="Arial Unicode MS" pitchFamily="34" charset="-122"/>
                <a:sym typeface="Symbol"/>
              </a:rPr>
              <a:t>E</a:t>
            </a:r>
            <a:r>
              <a:rPr lang="en-US" altLang="zh-CN" sz="2400" b="1" dirty="0" err="1">
                <a:solidFill>
                  <a:srgbClr val="FF0000"/>
                </a:solidFill>
                <a:latin typeface="Arial Unicode MS" pitchFamily="34" charset="-122"/>
                <a:ea typeface="Arial Unicode MS" pitchFamily="34" charset="-122"/>
                <a:cs typeface="Arial Unicode MS" pitchFamily="34" charset="-122"/>
                <a:sym typeface="Symbol"/>
              </a:rPr>
              <a:t>x</a:t>
            </a:r>
            <a:r>
              <a:rPr lang="en-US" altLang="zh-CN" sz="2400" dirty="0" err="1">
                <a:latin typeface="Arial Unicode MS" pitchFamily="34" charset="-122"/>
                <a:ea typeface="Arial Unicode MS" pitchFamily="34" charset="-122"/>
                <a:cs typeface="Arial Unicode MS" pitchFamily="34" charset="-122"/>
                <a:sym typeface="Symbol"/>
              </a:rPr>
              <a:t>ergy</a:t>
            </a:r>
            <a:r>
              <a:rPr lang="en-US" altLang="zh-CN" sz="2400" dirty="0">
                <a:latin typeface="Arial Unicode MS" pitchFamily="34" charset="-122"/>
                <a:ea typeface="Arial Unicode MS" pitchFamily="34" charset="-122"/>
                <a:cs typeface="Arial Unicode MS" pitchFamily="34" charset="-122"/>
                <a:sym typeface="Symbol"/>
              </a:rPr>
              <a:t> (</a:t>
            </a:r>
            <a:r>
              <a:rPr lang="zh-CN" altLang="en-US" sz="2400" dirty="0">
                <a:latin typeface="Arial Unicode MS" pitchFamily="34" charset="-122"/>
                <a:ea typeface="Arial Unicode MS" pitchFamily="34" charset="-122"/>
                <a:cs typeface="Arial Unicode MS" pitchFamily="34" charset="-122"/>
                <a:sym typeface="Symbol"/>
              </a:rPr>
              <a:t>可用能</a:t>
            </a:r>
            <a:r>
              <a:rPr lang="en-US" altLang="zh-CN" sz="2400" dirty="0">
                <a:latin typeface="Arial Unicode MS" pitchFamily="34" charset="-122"/>
                <a:ea typeface="Arial Unicode MS" pitchFamily="34" charset="-122"/>
                <a:cs typeface="Arial Unicode MS" pitchFamily="34" charset="-122"/>
                <a:sym typeface="Symbol"/>
              </a:rPr>
              <a:t>): the maximum useful work that can be obtained from the system at a given state in a specified environment. </a:t>
            </a:r>
            <a:endParaRPr lang="zh-CN" altLang="en-US" sz="2400" dirty="0">
              <a:latin typeface="Arial Unicode MS" pitchFamily="34" charset="-122"/>
              <a:ea typeface="Arial Unicode MS" pitchFamily="34" charset="-122"/>
              <a:cs typeface="Arial Unicode MS" pitchFamily="34" charset="-122"/>
            </a:endParaRPr>
          </a:p>
        </p:txBody>
      </p:sp>
      <p:sp>
        <p:nvSpPr>
          <p:cNvPr id="2" name="TextBox 1"/>
          <p:cNvSpPr txBox="1"/>
          <p:nvPr/>
        </p:nvSpPr>
        <p:spPr>
          <a:xfrm>
            <a:off x="2494890" y="5399663"/>
            <a:ext cx="4463081" cy="523220"/>
          </a:xfrm>
          <a:prstGeom prst="rect">
            <a:avLst/>
          </a:prstGeom>
          <a:noFill/>
        </p:spPr>
        <p:txBody>
          <a:bodyPr wrap="none" rtlCol="0">
            <a:spAutoFit/>
          </a:bodyPr>
          <a:lstStyle/>
          <a:p>
            <a:r>
              <a:rPr lang="en-US" altLang="zh-CN" sz="2800" dirty="0">
                <a:solidFill>
                  <a:srgbClr val="0000FF"/>
                </a:solidFill>
              </a:rPr>
              <a:t>The availability of energy ! </a:t>
            </a:r>
            <a:endParaRPr lang="zh-CN" altLang="en-US" sz="2800" dirty="0">
              <a:solidFill>
                <a:srgbClr val="0000FF"/>
              </a:solidFill>
            </a:endParaRPr>
          </a:p>
        </p:txBody>
      </p:sp>
    </p:spTree>
    <p:extLst>
      <p:ext uri="{BB962C8B-B14F-4D97-AF65-F5344CB8AC3E}">
        <p14:creationId xmlns:p14="http://schemas.microsoft.com/office/powerpoint/2010/main" val="2431930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53163" y="76840"/>
            <a:ext cx="3904588" cy="49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Quality of Energy</a:t>
            </a:r>
            <a:endParaRPr lang="en-US" altLang="zh-CN" dirty="0">
              <a:solidFill>
                <a:srgbClr val="FF0000"/>
              </a:solidFill>
            </a:endParaRPr>
          </a:p>
        </p:txBody>
      </p:sp>
      <p:pic>
        <p:nvPicPr>
          <p:cNvPr id="819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954" y="913910"/>
            <a:ext cx="2525571" cy="3028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0487" y="1387111"/>
            <a:ext cx="2331612" cy="2373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60375" y="4355078"/>
            <a:ext cx="8415111" cy="1754326"/>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800" i="1" dirty="0"/>
              <a:t>More of the high-temperature thermal energy can be converted to work </a:t>
            </a:r>
            <a:r>
              <a:rPr lang="en-US" altLang="zh-CN" sz="1800" i="1" dirty="0">
                <a:sym typeface="Symbol"/>
              </a:rPr>
              <a:t> The higher the temperature, the higher the quality of energy.</a:t>
            </a:r>
          </a:p>
          <a:p>
            <a:pPr marL="285750" indent="-285750">
              <a:buFont typeface="Wingdings" panose="05000000000000000000" pitchFamily="2" charset="2"/>
              <a:buChar char="Ø"/>
            </a:pPr>
            <a:r>
              <a:rPr lang="en-US" altLang="zh-CN" sz="1800" i="1" dirty="0">
                <a:sym typeface="Symbol"/>
              </a:rPr>
              <a:t>mechanical energy is a more valuable form of energy (higher quality) than thermal energy</a:t>
            </a:r>
            <a:r>
              <a:rPr lang="zh-CN" altLang="en-US" sz="1800" i="1" dirty="0">
                <a:sym typeface="Symbol"/>
              </a:rPr>
              <a:t>，</a:t>
            </a:r>
            <a:r>
              <a:rPr lang="en-US" altLang="zh-CN" sz="1800" i="1" dirty="0">
                <a:sym typeface="Symbol"/>
              </a:rPr>
              <a:t>because work can be converted to heat with efficiency100%.</a:t>
            </a:r>
          </a:p>
          <a:p>
            <a:pPr marL="285750" indent="-285750">
              <a:buFont typeface="Wingdings" panose="05000000000000000000" pitchFamily="2" charset="2"/>
              <a:buChar char="Ø"/>
            </a:pPr>
            <a:r>
              <a:rPr lang="en-US" altLang="zh-CN" sz="1800" i="1" dirty="0"/>
              <a:t>Electricity/electrical energy has higher quality than heat and in most times higher than work also.</a:t>
            </a:r>
            <a:endParaRPr lang="zh-CN" altLang="en-US" sz="1800" i="1" dirty="0"/>
          </a:p>
        </p:txBody>
      </p:sp>
    </p:spTree>
    <p:extLst>
      <p:ext uri="{BB962C8B-B14F-4D97-AF65-F5344CB8AC3E}">
        <p14:creationId xmlns:p14="http://schemas.microsoft.com/office/powerpoint/2010/main" val="3306514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solidFill>
                  <a:srgbClr val="FF0000"/>
                </a:solidFill>
              </a:rPr>
              <a:t>9. Otto cycle and Diesel cycle</a:t>
            </a:r>
            <a:endParaRPr lang="zh-CN" altLang="en-US" sz="3600" dirty="0">
              <a:solidFill>
                <a:srgbClr val="FF0000"/>
              </a:solidFill>
            </a:endParaRPr>
          </a:p>
        </p:txBody>
      </p:sp>
      <p:sp>
        <p:nvSpPr>
          <p:cNvPr id="3" name="矩形 2"/>
          <p:cNvSpPr/>
          <p:nvPr/>
        </p:nvSpPr>
        <p:spPr>
          <a:xfrm>
            <a:off x="1061208" y="4347406"/>
            <a:ext cx="6639886" cy="369332"/>
          </a:xfrm>
          <a:prstGeom prst="rect">
            <a:avLst/>
          </a:prstGeom>
        </p:spPr>
        <p:txBody>
          <a:bodyPr wrap="square">
            <a:spAutoFit/>
          </a:bodyPr>
          <a:lstStyle/>
          <a:p>
            <a:r>
              <a:rPr lang="en-US" altLang="zh-CN" b="1" dirty="0">
                <a:solidFill>
                  <a:srgbClr val="0000FF"/>
                </a:solidFill>
              </a:rPr>
              <a:t>Ref. Thermodynamics: A Engineering approach, Chapter 9</a:t>
            </a:r>
            <a:r>
              <a:rPr lang="zh-CN" altLang="en-US" b="1" dirty="0">
                <a:solidFill>
                  <a:srgbClr val="0000FF"/>
                </a:solidFill>
              </a:rPr>
              <a:t> </a:t>
            </a:r>
            <a:endParaRPr lang="zh-CN" altLang="en-US" dirty="0">
              <a:solidFill>
                <a:srgbClr val="0000FF"/>
              </a:solidFill>
            </a:endParaRPr>
          </a:p>
        </p:txBody>
      </p:sp>
    </p:spTree>
    <p:extLst>
      <p:ext uri="{BB962C8B-B14F-4D97-AF65-F5344CB8AC3E}">
        <p14:creationId xmlns:p14="http://schemas.microsoft.com/office/powerpoint/2010/main" val="29684714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489424" y="-144463"/>
            <a:ext cx="7324760" cy="1246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Otto Cycle </a:t>
            </a:r>
          </a:p>
          <a:p>
            <a:r>
              <a:rPr lang="en-US" altLang="zh-CN" sz="3200" b="1" dirty="0">
                <a:solidFill>
                  <a:srgbClr val="0000FF"/>
                </a:solidFill>
                <a:effectLst>
                  <a:outerShdw blurRad="38100" dist="38100" dir="2700000" algn="tl">
                    <a:srgbClr val="000000">
                      <a:alpha val="43137"/>
                    </a:srgbClr>
                  </a:outerShdw>
                </a:effectLst>
                <a:latin typeface="Arial" charset="0"/>
                <a:cs typeface="Arial" charset="0"/>
              </a:rPr>
              <a:t>——</a:t>
            </a:r>
            <a:r>
              <a:rPr lang="en-US" sz="3200" b="1" dirty="0">
                <a:solidFill>
                  <a:srgbClr val="0000FF"/>
                </a:solidFill>
                <a:effectLst>
                  <a:outerShdw blurRad="38100" dist="38100" dir="2700000" algn="tl">
                    <a:srgbClr val="000000">
                      <a:alpha val="43137"/>
                    </a:srgbClr>
                  </a:outerShdw>
                </a:effectLst>
                <a:latin typeface="Arial" charset="0"/>
                <a:cs typeface="Arial" charset="0"/>
              </a:rPr>
              <a:t>Spark-Ignition (SI) Engine</a:t>
            </a:r>
            <a:endParaRPr lang="en-US" sz="3200" dirty="0">
              <a:solidFill>
                <a:srgbClr val="0000FF"/>
              </a:solidFill>
            </a:endParaRPr>
          </a:p>
        </p:txBody>
      </p:sp>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883" y="1403934"/>
            <a:ext cx="5903172" cy="2627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5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882" y="4197668"/>
            <a:ext cx="6367145" cy="222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6581467" y="2464482"/>
            <a:ext cx="2509841" cy="646331"/>
          </a:xfrm>
          <a:prstGeom prst="rect">
            <a:avLst/>
          </a:prstGeom>
          <a:noFill/>
        </p:spPr>
        <p:txBody>
          <a:bodyPr wrap="square" rtlCol="0">
            <a:spAutoFit/>
          </a:bodyPr>
          <a:lstStyle/>
          <a:p>
            <a:r>
              <a:rPr lang="en-US" altLang="zh-CN" sz="1800" b="1" dirty="0">
                <a:sym typeface="Symbol"/>
              </a:rPr>
              <a:t>Otto cycle</a:t>
            </a:r>
            <a:r>
              <a:rPr lang="en-US" altLang="zh-CN" sz="1800" dirty="0">
                <a:sym typeface="Symbol"/>
              </a:rPr>
              <a:t>:</a:t>
            </a:r>
          </a:p>
          <a:p>
            <a:r>
              <a:rPr lang="en-US" altLang="zh-CN" sz="1800" dirty="0">
                <a:sym typeface="Symbol"/>
              </a:rPr>
              <a:t>after </a:t>
            </a:r>
            <a:r>
              <a:rPr lang="en-US" altLang="zh-CN" sz="1800" dirty="0" err="1">
                <a:sym typeface="Symbol"/>
              </a:rPr>
              <a:t>Nikolaus</a:t>
            </a:r>
            <a:r>
              <a:rPr lang="en-US" altLang="zh-CN" sz="1800" dirty="0">
                <a:sym typeface="Symbol"/>
              </a:rPr>
              <a:t> A. Otto</a:t>
            </a:r>
            <a:endParaRPr lang="en-US" altLang="zh-CN" sz="1800" dirty="0"/>
          </a:p>
        </p:txBody>
      </p:sp>
      <p:pic>
        <p:nvPicPr>
          <p:cNvPr id="604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6770" y="3374290"/>
            <a:ext cx="1504950"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3"/>
          <p:cNvSpPr txBox="1">
            <a:spLocks/>
          </p:cNvSpPr>
          <p:nvPr/>
        </p:nvSpPr>
        <p:spPr>
          <a:xfrm>
            <a:off x="6934200" y="6294437"/>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b="1" i="1" dirty="0">
                <a:solidFill>
                  <a:srgbClr val="FF0000"/>
                </a:solidFill>
                <a:ea typeface="华文楷体" panose="02010600040101010101" pitchFamily="2" charset="-122"/>
                <a:cs typeface="Times New Roman" panose="02020603050405020304" pitchFamily="18" charset="0"/>
              </a:rPr>
              <a:t>MSE 5006 </a:t>
            </a:r>
            <a:r>
              <a:rPr lang="en-US" dirty="0"/>
              <a:t>|  </a:t>
            </a:r>
            <a:fld id="{C915B95C-5458-41FC-90FC-CACA4B5603FB}" type="slidenum">
              <a:rPr lang="en-US" smtClean="0"/>
              <a:pPr algn="r"/>
              <a:t>33</a:t>
            </a:fld>
            <a:endParaRPr lang="en-US" dirty="0"/>
          </a:p>
        </p:txBody>
      </p:sp>
    </p:spTree>
    <p:extLst>
      <p:ext uri="{BB962C8B-B14F-4D97-AF65-F5344CB8AC3E}">
        <p14:creationId xmlns:p14="http://schemas.microsoft.com/office/powerpoint/2010/main" val="3164402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6356350"/>
            <a:ext cx="2057400" cy="365125"/>
          </a:xfrm>
        </p:spPr>
        <p:txBody>
          <a:bodyPr/>
          <a:lstStyle/>
          <a:p>
            <a:r>
              <a:rPr lang="en-US" dirty="0"/>
              <a:t>SUSTC  |  </a:t>
            </a:r>
            <a:fld id="{C915B95C-5458-41FC-90FC-CACA4B5603FB}" type="slidenum">
              <a:rPr lang="en-US" smtClean="0"/>
              <a:pPr/>
              <a:t>34</a:t>
            </a:fld>
            <a:endParaRPr lang="en-US" dirty="0"/>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93834" y="-136439"/>
            <a:ext cx="7324760" cy="1246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Otto Cycle </a:t>
            </a:r>
          </a:p>
          <a:p>
            <a:r>
              <a:rPr lang="en-US" altLang="zh-CN" sz="3200" b="1" dirty="0">
                <a:solidFill>
                  <a:srgbClr val="0000FF"/>
                </a:solidFill>
                <a:effectLst>
                  <a:outerShdw blurRad="38100" dist="38100" dir="2700000" algn="tl">
                    <a:srgbClr val="000000">
                      <a:alpha val="43137"/>
                    </a:srgbClr>
                  </a:outerShdw>
                </a:effectLst>
                <a:latin typeface="Arial" charset="0"/>
                <a:cs typeface="Arial" charset="0"/>
              </a:rPr>
              <a:t>——</a:t>
            </a:r>
            <a:r>
              <a:rPr lang="en-US" sz="3200" b="1" dirty="0">
                <a:solidFill>
                  <a:srgbClr val="0000FF"/>
                </a:solidFill>
                <a:effectLst>
                  <a:outerShdw blurRad="38100" dist="38100" dir="2700000" algn="tl">
                    <a:srgbClr val="000000">
                      <a:alpha val="43137"/>
                    </a:srgbClr>
                  </a:outerShdw>
                </a:effectLst>
                <a:latin typeface="Arial" charset="0"/>
                <a:cs typeface="Arial" charset="0"/>
              </a:rPr>
              <a:t>Spark-Ignition Engine</a:t>
            </a:r>
            <a:endParaRPr lang="en-US" sz="3200" dirty="0">
              <a:solidFill>
                <a:srgbClr val="0000FF"/>
              </a:solidFill>
            </a:endParaRPr>
          </a:p>
        </p:txBody>
      </p:sp>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292" y="1325953"/>
            <a:ext cx="3432449" cy="1528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5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1428" y="1393424"/>
            <a:ext cx="3989706" cy="139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95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668" y="2980294"/>
            <a:ext cx="3188837" cy="2983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95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819" y="3363142"/>
            <a:ext cx="3407838" cy="2601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右箭头 1"/>
          <p:cNvSpPr/>
          <p:nvPr/>
        </p:nvSpPr>
        <p:spPr>
          <a:xfrm>
            <a:off x="4149909" y="4636595"/>
            <a:ext cx="962295" cy="232229"/>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4031774" y="4318371"/>
            <a:ext cx="1241045" cy="307777"/>
          </a:xfrm>
          <a:prstGeom prst="rect">
            <a:avLst/>
          </a:prstGeom>
          <a:noFill/>
        </p:spPr>
        <p:txBody>
          <a:bodyPr wrap="none" rtlCol="0">
            <a:spAutoFit/>
          </a:bodyPr>
          <a:lstStyle/>
          <a:p>
            <a:r>
              <a:rPr lang="en-US" altLang="zh-CN" sz="1400" dirty="0"/>
              <a:t>Simplification</a:t>
            </a:r>
            <a:endParaRPr lang="zh-CN" altLang="en-US" sz="1400" dirty="0"/>
          </a:p>
        </p:txBody>
      </p:sp>
    </p:spTree>
    <p:extLst>
      <p:ext uri="{BB962C8B-B14F-4D97-AF65-F5344CB8AC3E}">
        <p14:creationId xmlns:p14="http://schemas.microsoft.com/office/powerpoint/2010/main" val="1275744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94703" y="-26724"/>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Otto Cycle</a:t>
            </a:r>
          </a:p>
          <a:p>
            <a:r>
              <a:rPr lang="en-US" altLang="zh-CN" b="1" dirty="0">
                <a:solidFill>
                  <a:srgbClr val="FF0000"/>
                </a:solidFill>
                <a:effectLst>
                  <a:outerShdw blurRad="38100" dist="38100" dir="2700000" algn="tl">
                    <a:srgbClr val="000000">
                      <a:alpha val="43137"/>
                    </a:srgbClr>
                  </a:outerShdw>
                </a:effectLst>
                <a:latin typeface="Arial" charset="0"/>
                <a:cs typeface="Arial" charset="0"/>
              </a:rPr>
              <a:t>——</a:t>
            </a:r>
            <a:r>
              <a:rPr lang="en-US" b="1" dirty="0">
                <a:solidFill>
                  <a:srgbClr val="FF0000"/>
                </a:solidFill>
                <a:effectLst>
                  <a:outerShdw blurRad="38100" dist="38100" dir="2700000" algn="tl">
                    <a:srgbClr val="000000">
                      <a:alpha val="43137"/>
                    </a:srgbClr>
                  </a:outerShdw>
                </a:effectLst>
                <a:latin typeface="Arial" charset="0"/>
                <a:cs typeface="Arial" charset="0"/>
              </a:rPr>
              <a:t> Spark-Ignition Engine</a:t>
            </a:r>
            <a:endParaRPr lang="en-US" dirty="0">
              <a:solidFill>
                <a:srgbClr val="FF0000"/>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3" y="1849432"/>
            <a:ext cx="2569206" cy="245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0595" y="5211992"/>
            <a:ext cx="3049614" cy="1112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1439" y="4302487"/>
            <a:ext cx="1904533" cy="6348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2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1592" y="4485687"/>
            <a:ext cx="2889625" cy="345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Slide Number Placeholder 3"/>
          <p:cNvSpPr>
            <a:spLocks noGrp="1"/>
          </p:cNvSpPr>
          <p:nvPr>
            <p:ph type="sldNum" sz="quarter" idx="4294967295"/>
          </p:nvPr>
        </p:nvSpPr>
        <p:spPr>
          <a:xfrm>
            <a:off x="7010400" y="6492875"/>
            <a:ext cx="2133600" cy="365125"/>
          </a:xfrm>
        </p:spPr>
        <p:txBody>
          <a:bodyPr/>
          <a:lstStyle/>
          <a:p>
            <a:r>
              <a:rPr lang="en-US" dirty="0"/>
              <a:t>SUSTC  |  </a:t>
            </a:r>
            <a:fld id="{C915B95C-5458-41FC-90FC-CACA4B5603FB}" type="slidenum">
              <a:rPr lang="en-US" smtClean="0"/>
              <a:pPr/>
              <a:t>35</a:t>
            </a:fld>
            <a:endParaRPr lang="en-US" dirty="0"/>
          </a:p>
        </p:txBody>
      </p:sp>
      <p:sp>
        <p:nvSpPr>
          <p:cNvPr id="2" name="TextBox 1"/>
          <p:cNvSpPr txBox="1"/>
          <p:nvPr/>
        </p:nvSpPr>
        <p:spPr>
          <a:xfrm>
            <a:off x="4155276" y="1555688"/>
            <a:ext cx="3409908" cy="369332"/>
          </a:xfrm>
          <a:prstGeom prst="rect">
            <a:avLst/>
          </a:prstGeom>
          <a:noFill/>
        </p:spPr>
        <p:txBody>
          <a:bodyPr wrap="none" rtlCol="0">
            <a:spAutoFit/>
          </a:bodyPr>
          <a:lstStyle/>
          <a:p>
            <a:r>
              <a:rPr lang="en-US" altLang="zh-CN" dirty="0"/>
              <a:t>Isentropic, and v</a:t>
            </a:r>
            <a:r>
              <a:rPr lang="en-US" altLang="zh-CN" baseline="-25000" dirty="0"/>
              <a:t>2</a:t>
            </a:r>
            <a:r>
              <a:rPr lang="en-US" altLang="zh-CN" dirty="0"/>
              <a:t>=v</a:t>
            </a:r>
            <a:r>
              <a:rPr lang="en-US" altLang="zh-CN" baseline="-25000" dirty="0"/>
              <a:t>3</a:t>
            </a:r>
            <a:r>
              <a:rPr lang="en-US" altLang="zh-CN" dirty="0"/>
              <a:t> and v</a:t>
            </a:r>
            <a:r>
              <a:rPr lang="en-US" altLang="zh-CN" baseline="-25000" dirty="0"/>
              <a:t>4</a:t>
            </a:r>
            <a:r>
              <a:rPr lang="en-US" altLang="zh-CN" dirty="0"/>
              <a:t>=v</a:t>
            </a:r>
            <a:r>
              <a:rPr lang="en-US" altLang="zh-CN" baseline="-25000" dirty="0"/>
              <a:t>1</a:t>
            </a:r>
            <a:r>
              <a:rPr lang="en-US" altLang="zh-CN" dirty="0"/>
              <a:t> </a:t>
            </a:r>
            <a:endParaRPr lang="zh-CN" altLang="en-US" dirty="0"/>
          </a:p>
        </p:txBody>
      </p:sp>
      <p:graphicFrame>
        <p:nvGraphicFramePr>
          <p:cNvPr id="4" name="对象 3"/>
          <p:cNvGraphicFramePr>
            <a:graphicFrameLocks noChangeAspect="1"/>
          </p:cNvGraphicFramePr>
          <p:nvPr/>
        </p:nvGraphicFramePr>
        <p:xfrm>
          <a:off x="4134956" y="2115928"/>
          <a:ext cx="2632983" cy="780143"/>
        </p:xfrm>
        <a:graphic>
          <a:graphicData uri="http://schemas.openxmlformats.org/presentationml/2006/ole">
            <mc:AlternateContent xmlns:mc="http://schemas.openxmlformats.org/markup-compatibility/2006">
              <mc:Choice xmlns:v="urn:schemas-microsoft-com:vml" Requires="v">
                <p:oleObj name="Equation" r:id="rId6" imgW="1714320" imgH="507960" progId="Equation.DSMT4">
                  <p:embed/>
                </p:oleObj>
              </mc:Choice>
              <mc:Fallback>
                <p:oleObj name="Equation" r:id="rId6" imgW="1714320" imgH="507960" progId="Equation.DSMT4">
                  <p:embed/>
                  <p:pic>
                    <p:nvPicPr>
                      <p:cNvPr id="4" name="对象 3"/>
                      <p:cNvPicPr/>
                      <p:nvPr/>
                    </p:nvPicPr>
                    <p:blipFill>
                      <a:blip r:embed="rId7"/>
                      <a:stretch>
                        <a:fillRect/>
                      </a:stretch>
                    </p:blipFill>
                    <p:spPr>
                      <a:xfrm>
                        <a:off x="4134956" y="2115928"/>
                        <a:ext cx="2632983" cy="78014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矩形 6"/>
              <p:cNvSpPr/>
              <p:nvPr/>
            </p:nvSpPr>
            <p:spPr>
              <a:xfrm>
                <a:off x="155575" y="4658359"/>
                <a:ext cx="3075907" cy="6765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𝜂</m:t>
                          </m:r>
                        </m:e>
                        <m:sub>
                          <m:r>
                            <a:rPr lang="zh-CN" altLang="en-US" i="1">
                              <a:latin typeface="Cambria Math" panose="02040503050406030204" pitchFamily="18" charset="0"/>
                            </a:rPr>
                            <m:t>𝑡h</m:t>
                          </m:r>
                          <m:r>
                            <a:rPr lang="zh-CN" altLang="en-US" i="0">
                              <a:latin typeface="Cambria Math" panose="02040503050406030204" pitchFamily="18" charset="0"/>
                            </a:rPr>
                            <m:t>,</m:t>
                          </m:r>
                          <m:r>
                            <a:rPr lang="zh-CN" altLang="en-US" i="1">
                              <a:latin typeface="Cambria Math" panose="02040503050406030204" pitchFamily="18" charset="0"/>
                            </a:rPr>
                            <m:t>𝑜𝑡𝑡𝑜</m:t>
                          </m:r>
                        </m:sub>
                      </m:sSub>
                      <m:r>
                        <a:rPr lang="zh-CN" altLang="en-US" i="0">
                          <a:latin typeface="Cambria Math" panose="02040503050406030204" pitchFamily="18" charset="0"/>
                        </a:rPr>
                        <m:t>=1−</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f>
                        <m:fPr>
                          <m:ctrlPr>
                            <a:rPr lang="zh-CN" altLang="en-US" i="1">
                              <a:latin typeface="Cambria Math" panose="02040503050406030204" pitchFamily="18" charset="0"/>
                            </a:rPr>
                          </m:ctrlPr>
                        </m:fPr>
                        <m:num>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4</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den>
                              </m:f>
                              <m:r>
                                <a:rPr lang="zh-CN" altLang="en-US" i="0">
                                  <a:latin typeface="Cambria Math" panose="02040503050406030204" pitchFamily="18" charset="0"/>
                                </a:rPr>
                                <m:t>−1</m:t>
                              </m:r>
                            </m:e>
                          </m:d>
                        </m:num>
                        <m:den>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3</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r>
                                <a:rPr lang="zh-CN" altLang="en-US" i="0">
                                  <a:latin typeface="Cambria Math" panose="02040503050406030204" pitchFamily="18" charset="0"/>
                                </a:rPr>
                                <m:t>−1</m:t>
                              </m:r>
                            </m:e>
                          </m:d>
                        </m:den>
                      </m:f>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155575" y="4658359"/>
                <a:ext cx="3075907" cy="676595"/>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6915707" y="3342171"/>
                <a:ext cx="1873333"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𝜂</m:t>
                          </m:r>
                        </m:e>
                        <m:sub>
                          <m:r>
                            <a:rPr lang="zh-CN" altLang="en-US" i="1">
                              <a:latin typeface="Cambria Math" panose="02040503050406030204" pitchFamily="18" charset="0"/>
                            </a:rPr>
                            <m:t>𝑡h</m:t>
                          </m:r>
                          <m:r>
                            <a:rPr lang="zh-CN" altLang="en-US" i="0">
                              <a:latin typeface="Cambria Math" panose="02040503050406030204" pitchFamily="18" charset="0"/>
                            </a:rPr>
                            <m:t>,</m:t>
                          </m:r>
                          <m:r>
                            <a:rPr lang="zh-CN" altLang="en-US" i="1">
                              <a:latin typeface="Cambria Math" panose="02040503050406030204" pitchFamily="18" charset="0"/>
                            </a:rPr>
                            <m:t>𝑜𝑡𝑡𝑜</m:t>
                          </m:r>
                        </m:sub>
                      </m:sSub>
                      <m:r>
                        <a:rPr lang="zh-CN" altLang="en-US" i="0">
                          <a:latin typeface="Cambria Math" panose="02040503050406030204" pitchFamily="18" charset="0"/>
                        </a:rPr>
                        <m:t>=1−</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6915707" y="3342171"/>
                <a:ext cx="1873333" cy="656205"/>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359579" y="2167639"/>
                <a:ext cx="985591"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4</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1</m:t>
                              </m:r>
                            </m:sub>
                          </m:sSub>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3</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0">
                                  <a:latin typeface="Cambria Math" panose="02040503050406030204" pitchFamily="18" charset="0"/>
                                </a:rPr>
                                <m:t>2</m:t>
                              </m:r>
                            </m:sub>
                          </m:sSub>
                        </m:den>
                      </m:f>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7359579" y="2167639"/>
                <a:ext cx="985591" cy="656205"/>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308567" y="3433048"/>
                <a:ext cx="2750625" cy="6117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latin typeface="Cambria Math" panose="02040503050406030204" pitchFamily="18" charset="0"/>
                            </a:rPr>
                          </m:ctrlPr>
                        </m:sSubPr>
                        <m:e>
                          <m:r>
                            <a:rPr lang="zh-CN" altLang="en-US" sz="1600" i="1">
                              <a:latin typeface="Cambria Math" panose="02040503050406030204" pitchFamily="18" charset="0"/>
                            </a:rPr>
                            <m:t>𝜂</m:t>
                          </m:r>
                        </m:e>
                        <m:sub>
                          <m:r>
                            <a:rPr lang="zh-CN" altLang="en-US" sz="1600" i="1">
                              <a:latin typeface="Cambria Math" panose="02040503050406030204" pitchFamily="18" charset="0"/>
                            </a:rPr>
                            <m:t>𝑡h</m:t>
                          </m:r>
                          <m:r>
                            <a:rPr lang="zh-CN" altLang="en-US" sz="1600" i="0">
                              <a:latin typeface="Cambria Math" panose="02040503050406030204" pitchFamily="18" charset="0"/>
                            </a:rPr>
                            <m:t>,</m:t>
                          </m:r>
                          <m:r>
                            <a:rPr lang="zh-CN" altLang="en-US" sz="1600" i="1">
                              <a:latin typeface="Cambria Math" panose="02040503050406030204" pitchFamily="18" charset="0"/>
                            </a:rPr>
                            <m:t>𝑜𝑡𝑡𝑜</m:t>
                          </m:r>
                        </m:sub>
                      </m:sSub>
                      <m:r>
                        <a:rPr lang="zh-CN" altLang="en-US" sz="1600" i="0">
                          <a:latin typeface="Cambria Math" panose="02040503050406030204" pitchFamily="18" charset="0"/>
                        </a:rPr>
                        <m:t>=1−</m:t>
                      </m:r>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1</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2</m:t>
                              </m:r>
                            </m:sub>
                          </m:sSub>
                        </m:den>
                      </m:f>
                      <m:f>
                        <m:fPr>
                          <m:ctrlPr>
                            <a:rPr lang="zh-CN" altLang="en-US" sz="1600" i="1">
                              <a:latin typeface="Cambria Math" panose="02040503050406030204" pitchFamily="18" charset="0"/>
                            </a:rPr>
                          </m:ctrlPr>
                        </m:fPr>
                        <m:num>
                          <m:d>
                            <m:dPr>
                              <m:ctrlPr>
                                <a:rPr lang="zh-CN" altLang="en-US" sz="1600" i="1">
                                  <a:latin typeface="Cambria Math" panose="02040503050406030204" pitchFamily="18" charset="0"/>
                                </a:rPr>
                              </m:ctrlPr>
                            </m:dPr>
                            <m:e>
                              <m:f>
                                <m:fPr>
                                  <m:type m:val="lin"/>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4</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1</m:t>
                                      </m:r>
                                    </m:sub>
                                  </m:sSub>
                                </m:den>
                              </m:f>
                              <m:r>
                                <a:rPr lang="zh-CN" altLang="en-US" sz="1600" i="0">
                                  <a:latin typeface="Cambria Math" panose="02040503050406030204" pitchFamily="18" charset="0"/>
                                </a:rPr>
                                <m:t>−1</m:t>
                              </m:r>
                            </m:e>
                          </m:d>
                        </m:num>
                        <m:den>
                          <m:d>
                            <m:dPr>
                              <m:ctrlPr>
                                <a:rPr lang="zh-CN" altLang="en-US" sz="1600" i="1">
                                  <a:latin typeface="Cambria Math" panose="02040503050406030204" pitchFamily="18" charset="0"/>
                                </a:rPr>
                              </m:ctrlPr>
                            </m:dPr>
                            <m:e>
                              <m:f>
                                <m:fPr>
                                  <m:type m:val="lin"/>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3</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0">
                                          <a:latin typeface="Cambria Math" panose="02040503050406030204" pitchFamily="18" charset="0"/>
                                        </a:rPr>
                                        <m:t>2</m:t>
                                      </m:r>
                                    </m:sub>
                                  </m:sSub>
                                </m:den>
                              </m:f>
                              <m:r>
                                <a:rPr lang="zh-CN" altLang="en-US" sz="1600" i="0">
                                  <a:latin typeface="Cambria Math" panose="02040503050406030204" pitchFamily="18" charset="0"/>
                                </a:rPr>
                                <m:t>−1</m:t>
                              </m:r>
                            </m:e>
                          </m:d>
                        </m:den>
                      </m:f>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3308567" y="3433048"/>
                <a:ext cx="2750625" cy="611771"/>
              </a:xfrm>
              <a:prstGeom prst="rect">
                <a:avLst/>
              </a:prstGeom>
              <a:blipFill rotWithShape="0">
                <a:blip r:embed="rId12"/>
                <a:stretch>
                  <a:fillRect/>
                </a:stretch>
              </a:blipFill>
            </p:spPr>
            <p:txBody>
              <a:bodyPr/>
              <a:lstStyle/>
              <a:p>
                <a:r>
                  <a:rPr lang="zh-CN" altLang="en-US">
                    <a:noFill/>
                  </a:rPr>
                  <a:t> </a:t>
                </a:r>
              </a:p>
            </p:txBody>
          </p:sp>
        </mc:Fallback>
      </mc:AlternateContent>
      <p:cxnSp>
        <p:nvCxnSpPr>
          <p:cNvPr id="13" name="直接箭头连接符 12"/>
          <p:cNvCxnSpPr/>
          <p:nvPr/>
        </p:nvCxnSpPr>
        <p:spPr>
          <a:xfrm>
            <a:off x="6116792" y="3808242"/>
            <a:ext cx="500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27202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D5FD48C-93B9-4FF5-B305-83D58CF28FE5}"/>
              </a:ext>
            </a:extLst>
          </p:cNvPr>
          <p:cNvSpPr txBox="1"/>
          <p:nvPr/>
        </p:nvSpPr>
        <p:spPr>
          <a:xfrm>
            <a:off x="457200" y="457200"/>
            <a:ext cx="1524000" cy="369332"/>
          </a:xfrm>
          <a:prstGeom prst="rect">
            <a:avLst/>
          </a:prstGeom>
          <a:noFill/>
        </p:spPr>
        <p:txBody>
          <a:bodyPr wrap="square" rtlCol="0">
            <a:spAutoFit/>
          </a:bodyPr>
          <a:lstStyle/>
          <a:p>
            <a:r>
              <a:rPr lang="en-US" altLang="zh-CN" b="1" dirty="0">
                <a:solidFill>
                  <a:srgbClr val="7030A0"/>
                </a:solidFill>
              </a:rPr>
              <a:t>Quiz 3</a:t>
            </a:r>
            <a:r>
              <a:rPr lang="zh-CN" altLang="en-US" b="1" dirty="0">
                <a:solidFill>
                  <a:srgbClr val="7030A0"/>
                </a:solidFill>
              </a:rPr>
              <a:t>：</a:t>
            </a:r>
            <a:r>
              <a:rPr lang="en-US" altLang="zh-CN" b="1" dirty="0">
                <a:solidFill>
                  <a:srgbClr val="7030A0"/>
                </a:solidFill>
              </a:rPr>
              <a:t>4</a:t>
            </a:r>
            <a:endParaRPr lang="zh-CN" altLang="en-US" b="1" dirty="0">
              <a:solidFill>
                <a:srgbClr val="7030A0"/>
              </a:solidFill>
            </a:endParaRPr>
          </a:p>
        </p:txBody>
      </p:sp>
      <p:sp>
        <p:nvSpPr>
          <p:cNvPr id="5" name="文本框 4">
            <a:extLst>
              <a:ext uri="{FF2B5EF4-FFF2-40B4-BE49-F238E27FC236}">
                <a16:creationId xmlns:a16="http://schemas.microsoft.com/office/drawing/2014/main" id="{47AC637E-3CDF-4686-AC4F-319AEAC3B097}"/>
              </a:ext>
            </a:extLst>
          </p:cNvPr>
          <p:cNvSpPr txBox="1"/>
          <p:nvPr/>
        </p:nvSpPr>
        <p:spPr>
          <a:xfrm>
            <a:off x="457200" y="826532"/>
            <a:ext cx="8077200" cy="1477328"/>
          </a:xfrm>
          <a:prstGeom prst="rect">
            <a:avLst/>
          </a:prstGeom>
          <a:noFill/>
        </p:spPr>
        <p:txBody>
          <a:bodyPr wrap="square">
            <a:spAutoFit/>
          </a:bodyPr>
          <a:lstStyle/>
          <a:p>
            <a:r>
              <a:rPr lang="en-US" altLang="zh-CN" sz="1800" dirty="0">
                <a:effectLst/>
                <a:latin typeface="Times New Roman" panose="02020603050405020304" pitchFamily="18" charset="0"/>
                <a:ea typeface="宋体" panose="02010600030101010101" pitchFamily="2" charset="-122"/>
              </a:rPr>
              <a:t>The compression ratio of an air-standard Otto cycle is 9.5. Prior to the isentropic compression process, the air is at 100 kPa, 35°C, and 600 cm</a:t>
            </a:r>
            <a:r>
              <a:rPr lang="en-US" altLang="zh-CN" sz="1800" baseline="30000" dirty="0">
                <a:effectLst/>
                <a:latin typeface="Times New Roman" panose="02020603050405020304" pitchFamily="18" charset="0"/>
                <a:ea typeface="宋体" panose="02010600030101010101" pitchFamily="2" charset="-122"/>
              </a:rPr>
              <a:t>3</a:t>
            </a:r>
            <a:r>
              <a:rPr lang="en-US" altLang="zh-CN" sz="1800" dirty="0">
                <a:effectLst/>
                <a:latin typeface="Times New Roman" panose="02020603050405020304" pitchFamily="18" charset="0"/>
                <a:ea typeface="宋体" panose="02010600030101010101" pitchFamily="2" charset="-122"/>
              </a:rPr>
              <a:t>. The temperature at the end of the isentropic expansion process is 800 K. Using specific heat values (</a:t>
            </a:r>
            <a:r>
              <a:rPr lang="en-US" altLang="zh-CN" sz="1800" i="1" dirty="0">
                <a:effectLst/>
                <a:latin typeface="Times New Roman" panose="02020603050405020304" pitchFamily="18" charset="0"/>
                <a:ea typeface="宋体" panose="02010600030101010101" pitchFamily="2" charset="-122"/>
              </a:rPr>
              <a:t>C</a:t>
            </a:r>
            <a:r>
              <a:rPr lang="en-US" altLang="zh-CN" sz="1800" i="1" baseline="-25000" dirty="0">
                <a:effectLst/>
                <a:latin typeface="Times New Roman" panose="02020603050405020304" pitchFamily="18" charset="0"/>
                <a:ea typeface="宋体" panose="02010600030101010101" pitchFamily="2" charset="-122"/>
              </a:rPr>
              <a:t>p</a:t>
            </a:r>
            <a:r>
              <a:rPr lang="en-US" altLang="zh-CN" sz="1800" dirty="0">
                <a:effectLst/>
                <a:latin typeface="Times New Roman" panose="02020603050405020304" pitchFamily="18" charset="0"/>
                <a:ea typeface="宋体" panose="02010600030101010101" pitchFamily="2" charset="-122"/>
              </a:rPr>
              <a:t>=1 kJ/kg, </a:t>
            </a:r>
            <a:r>
              <a:rPr lang="en-US" altLang="zh-CN" sz="1800" i="1" dirty="0" err="1">
                <a:effectLst/>
                <a:latin typeface="Times New Roman" panose="02020603050405020304" pitchFamily="18" charset="0"/>
                <a:ea typeface="宋体" panose="02010600030101010101" pitchFamily="2" charset="-122"/>
              </a:rPr>
              <a:t>C</a:t>
            </a:r>
            <a:r>
              <a:rPr lang="en-US" altLang="zh-CN" sz="1800" i="1" baseline="-25000" dirty="0" err="1">
                <a:effectLst/>
                <a:latin typeface="Times New Roman" panose="02020603050405020304" pitchFamily="18" charset="0"/>
                <a:ea typeface="宋体" panose="02010600030101010101" pitchFamily="2" charset="-122"/>
              </a:rPr>
              <a:t>v</a:t>
            </a:r>
            <a:r>
              <a:rPr lang="en-US" altLang="zh-CN" sz="1800" dirty="0">
                <a:effectLst/>
                <a:latin typeface="Times New Roman" panose="02020603050405020304" pitchFamily="18" charset="0"/>
                <a:ea typeface="宋体" panose="02010600030101010101" pitchFamily="2" charset="-122"/>
              </a:rPr>
              <a:t>=0.718 kJ/kg) at room temperature (</a:t>
            </a:r>
            <a:r>
              <a:rPr lang="en-US" altLang="zh-CN" sz="1800" i="1" dirty="0">
                <a:effectLst/>
                <a:latin typeface="Times New Roman" panose="02020603050405020304" pitchFamily="18" charset="0"/>
                <a:ea typeface="宋体" panose="02010600030101010101" pitchFamily="2" charset="-122"/>
              </a:rPr>
              <a:t>T</a:t>
            </a:r>
            <a:r>
              <a:rPr lang="en-US" altLang="zh-CN" sz="1800" i="1" baseline="-25000" dirty="0">
                <a:effectLst/>
                <a:latin typeface="Times New Roman" panose="02020603050405020304" pitchFamily="18" charset="0"/>
                <a:ea typeface="宋体" panose="02010600030101010101" pitchFamily="2" charset="-122"/>
              </a:rPr>
              <a:t>a</a:t>
            </a:r>
            <a:r>
              <a:rPr lang="en-US" altLang="zh-CN" sz="1800" dirty="0">
                <a:effectLst/>
                <a:latin typeface="Times New Roman" panose="02020603050405020304" pitchFamily="18" charset="0"/>
                <a:ea typeface="宋体" panose="02010600030101010101" pitchFamily="2" charset="-122"/>
              </a:rPr>
              <a:t>=300 K), determine (a) the highest temperature and pressure in the cycle; (b) the thermal efficiency.</a:t>
            </a:r>
            <a:endParaRPr lang="zh-CN" altLang="en-US" dirty="0"/>
          </a:p>
        </p:txBody>
      </p:sp>
      <p:graphicFrame>
        <p:nvGraphicFramePr>
          <p:cNvPr id="6" name="对象 5">
            <a:extLst>
              <a:ext uri="{FF2B5EF4-FFF2-40B4-BE49-F238E27FC236}">
                <a16:creationId xmlns:a16="http://schemas.microsoft.com/office/drawing/2014/main" id="{37EAF66D-0883-4DE6-A83C-9B429B9EEB17}"/>
              </a:ext>
            </a:extLst>
          </p:cNvPr>
          <p:cNvGraphicFramePr>
            <a:graphicFrameLocks noChangeAspect="1"/>
          </p:cNvGraphicFramePr>
          <p:nvPr>
            <p:extLst>
              <p:ext uri="{D42A27DB-BD31-4B8C-83A1-F6EECF244321}">
                <p14:modId xmlns:p14="http://schemas.microsoft.com/office/powerpoint/2010/main" val="3683619251"/>
              </p:ext>
            </p:extLst>
          </p:nvPr>
        </p:nvGraphicFramePr>
        <p:xfrm>
          <a:off x="525463" y="2311400"/>
          <a:ext cx="4929187" cy="4294188"/>
        </p:xfrm>
        <a:graphic>
          <a:graphicData uri="http://schemas.openxmlformats.org/presentationml/2006/ole">
            <mc:AlternateContent xmlns:mc="http://schemas.openxmlformats.org/markup-compatibility/2006">
              <mc:Choice xmlns:v="urn:schemas-microsoft-com:vml" Requires="v">
                <p:oleObj name="Equation" r:id="rId2" imgW="3555720" imgH="3098520" progId="Equation.DSMT4">
                  <p:embed/>
                </p:oleObj>
              </mc:Choice>
              <mc:Fallback>
                <p:oleObj name="Equation" r:id="rId2" imgW="3555720" imgH="3098520" progId="Equation.DSMT4">
                  <p:embed/>
                  <p:pic>
                    <p:nvPicPr>
                      <p:cNvPr id="6" name="对象 5">
                        <a:extLst>
                          <a:ext uri="{FF2B5EF4-FFF2-40B4-BE49-F238E27FC236}">
                            <a16:creationId xmlns:a16="http://schemas.microsoft.com/office/drawing/2014/main" id="{37EAF66D-0883-4DE6-A83C-9B429B9EEB17}"/>
                          </a:ext>
                        </a:extLst>
                      </p:cNvPr>
                      <p:cNvPicPr/>
                      <p:nvPr/>
                    </p:nvPicPr>
                    <p:blipFill>
                      <a:blip r:embed="rId3"/>
                      <a:stretch>
                        <a:fillRect/>
                      </a:stretch>
                    </p:blipFill>
                    <p:spPr>
                      <a:xfrm>
                        <a:off x="525463" y="2311400"/>
                        <a:ext cx="4929187" cy="4294188"/>
                      </a:xfrm>
                      <a:prstGeom prst="rect">
                        <a:avLst/>
                      </a:prstGeom>
                    </p:spPr>
                  </p:pic>
                </p:oleObj>
              </mc:Fallback>
            </mc:AlternateContent>
          </a:graphicData>
        </a:graphic>
      </p:graphicFrame>
      <p:pic>
        <p:nvPicPr>
          <p:cNvPr id="7" name="图片 6" descr="图表, 折线图&#10;&#10;描述已自动生成">
            <a:extLst>
              <a:ext uri="{FF2B5EF4-FFF2-40B4-BE49-F238E27FC236}">
                <a16:creationId xmlns:a16="http://schemas.microsoft.com/office/drawing/2014/main" id="{43B80048-8362-4F4B-97E9-82D7DE3C35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5845503" y="2312446"/>
            <a:ext cx="2765098" cy="2107154"/>
          </a:xfrm>
          <a:prstGeom prst="rect">
            <a:avLst/>
          </a:prstGeom>
          <a:noFill/>
        </p:spPr>
      </p:pic>
    </p:spTree>
    <p:extLst>
      <p:ext uri="{BB962C8B-B14F-4D97-AF65-F5344CB8AC3E}">
        <p14:creationId xmlns:p14="http://schemas.microsoft.com/office/powerpoint/2010/main" val="2121232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43244" y="-144463"/>
            <a:ext cx="7172587"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altLang="zh-CN" sz="2800" b="1" dirty="0">
                <a:solidFill>
                  <a:srgbClr val="0000FF"/>
                </a:solidFill>
                <a:effectLst>
                  <a:outerShdw blurRad="38100" dist="38100" dir="2700000" algn="tl">
                    <a:srgbClr val="000000">
                      <a:alpha val="43137"/>
                    </a:srgbClr>
                  </a:outerShdw>
                </a:effectLst>
                <a:latin typeface="Arial" charset="0"/>
                <a:cs typeface="Arial" charset="0"/>
              </a:rPr>
              <a:t>——Combustion-Ignition (CI) Engine</a:t>
            </a:r>
            <a:endParaRPr lang="en-US" sz="3200" dirty="0">
              <a:solidFill>
                <a:srgbClr val="0000FF"/>
              </a:solidFill>
            </a:endParaRPr>
          </a:p>
        </p:txBody>
      </p:sp>
      <p:pic>
        <p:nvPicPr>
          <p:cNvPr id="113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2255" y="1752597"/>
            <a:ext cx="4827905" cy="40469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47922"/>
          <a:stretch/>
        </p:blipFill>
        <p:spPr bwMode="auto">
          <a:xfrm>
            <a:off x="793856" y="1551059"/>
            <a:ext cx="2602865" cy="2224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717656" y="3874852"/>
            <a:ext cx="2618105" cy="2331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429682" y="5961959"/>
            <a:ext cx="2300630" cy="369332"/>
          </a:xfrm>
          <a:prstGeom prst="rect">
            <a:avLst/>
          </a:prstGeom>
          <a:noFill/>
        </p:spPr>
        <p:txBody>
          <a:bodyPr wrap="none" rtlCol="0">
            <a:spAutoFit/>
          </a:bodyPr>
          <a:lstStyle/>
          <a:p>
            <a:r>
              <a:rPr lang="en-US" altLang="zh-CN" sz="1800" dirty="0">
                <a:latin typeface="+mn-lt"/>
              </a:rPr>
              <a:t>After Rudolph Diesel</a:t>
            </a:r>
            <a:endParaRPr lang="zh-CN" altLang="en-US" sz="1800" dirty="0">
              <a:latin typeface="+mn-lt"/>
            </a:endParaRPr>
          </a:p>
        </p:txBody>
      </p:sp>
    </p:spTree>
    <p:extLst>
      <p:ext uri="{BB962C8B-B14F-4D97-AF65-F5344CB8AC3E}">
        <p14:creationId xmlns:p14="http://schemas.microsoft.com/office/powerpoint/2010/main" val="19697693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68105" y="92279"/>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altLang="zh-CN" b="1" dirty="0">
                <a:solidFill>
                  <a:srgbClr val="FF0000"/>
                </a:solidFill>
                <a:effectLst>
                  <a:outerShdw blurRad="38100" dist="38100" dir="2700000" algn="tl">
                    <a:srgbClr val="000000">
                      <a:alpha val="43137"/>
                    </a:srgbClr>
                  </a:outerShdw>
                </a:effectLst>
                <a:latin typeface="Arial" charset="0"/>
                <a:cs typeface="Arial" charset="0"/>
              </a:rPr>
              <a:t>——Combustion-Ignition Engine</a:t>
            </a:r>
            <a:endParaRPr lang="en-US" dirty="0">
              <a:solidFill>
                <a:srgbClr val="FF0000"/>
              </a:solidFill>
            </a:endParaRPr>
          </a:p>
        </p:txBody>
      </p:sp>
      <p:pic>
        <p:nvPicPr>
          <p:cNvPr id="1136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 y="1589480"/>
            <a:ext cx="3021328" cy="28396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36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580" y="1717707"/>
            <a:ext cx="2821427" cy="27114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2729" y="2146332"/>
            <a:ext cx="2818387" cy="6475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8874" y="3280944"/>
            <a:ext cx="2650653" cy="296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992200" y="4779528"/>
            <a:ext cx="3936370" cy="1200329"/>
          </a:xfrm>
          <a:prstGeom prst="rect">
            <a:avLst/>
          </a:prstGeom>
          <a:noFill/>
        </p:spPr>
        <p:txBody>
          <a:bodyPr wrap="square" rtlCol="0">
            <a:spAutoFit/>
          </a:bodyPr>
          <a:lstStyle/>
          <a:p>
            <a:r>
              <a:rPr lang="en-US" altLang="zh-CN" sz="1800" dirty="0">
                <a:sym typeface="Symbol"/>
              </a:rPr>
              <a:t>1-2: Isentropic compression;</a:t>
            </a:r>
          </a:p>
          <a:p>
            <a:r>
              <a:rPr lang="en-US" altLang="zh-CN" sz="1800" dirty="0">
                <a:sym typeface="Symbol"/>
              </a:rPr>
              <a:t>2-3: Constant-pressure heat addition;</a:t>
            </a:r>
          </a:p>
          <a:p>
            <a:r>
              <a:rPr lang="en-US" altLang="zh-CN" sz="1800" dirty="0">
                <a:sym typeface="Symbol"/>
              </a:rPr>
              <a:t>3-4: Isentropic expansion;</a:t>
            </a:r>
          </a:p>
          <a:p>
            <a:r>
              <a:rPr lang="en-US" altLang="zh-CN" sz="1800" dirty="0">
                <a:sym typeface="Symbol"/>
              </a:rPr>
              <a:t>4-1: Constant-volume heat rejection</a:t>
            </a:r>
            <a:endParaRPr lang="en-US" altLang="zh-CN" sz="1800" dirty="0"/>
          </a:p>
        </p:txBody>
      </p:sp>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0494" y="4267200"/>
            <a:ext cx="2150217" cy="2055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712407" y="1777000"/>
            <a:ext cx="1415772" cy="369332"/>
          </a:xfrm>
          <a:prstGeom prst="rect">
            <a:avLst/>
          </a:prstGeom>
          <a:noFill/>
        </p:spPr>
        <p:txBody>
          <a:bodyPr wrap="none" rtlCol="0">
            <a:spAutoFit/>
          </a:bodyPr>
          <a:lstStyle/>
          <a:p>
            <a:r>
              <a:rPr lang="en-US" altLang="zh-CN" sz="1800" dirty="0"/>
              <a:t>Diesel cycle</a:t>
            </a:r>
            <a:endParaRPr lang="zh-CN" altLang="en-US" sz="1800" dirty="0"/>
          </a:p>
        </p:txBody>
      </p:sp>
      <p:sp>
        <p:nvSpPr>
          <p:cNvPr id="13" name="TextBox 12"/>
          <p:cNvSpPr txBox="1"/>
          <p:nvPr/>
        </p:nvSpPr>
        <p:spPr>
          <a:xfrm>
            <a:off x="1254957" y="1717223"/>
            <a:ext cx="1415772" cy="369332"/>
          </a:xfrm>
          <a:prstGeom prst="rect">
            <a:avLst/>
          </a:prstGeom>
          <a:noFill/>
        </p:spPr>
        <p:txBody>
          <a:bodyPr wrap="none" rtlCol="0">
            <a:spAutoFit/>
          </a:bodyPr>
          <a:lstStyle/>
          <a:p>
            <a:r>
              <a:rPr lang="en-US" altLang="zh-CN" sz="1800" dirty="0"/>
              <a:t>Diesel cycle</a:t>
            </a:r>
            <a:endParaRPr lang="zh-CN" altLang="en-US" sz="1800" dirty="0"/>
          </a:p>
        </p:txBody>
      </p:sp>
      <p:sp>
        <p:nvSpPr>
          <p:cNvPr id="14" name="TextBox 13"/>
          <p:cNvSpPr txBox="1"/>
          <p:nvPr/>
        </p:nvSpPr>
        <p:spPr>
          <a:xfrm>
            <a:off x="7637620" y="5601000"/>
            <a:ext cx="1210588" cy="369332"/>
          </a:xfrm>
          <a:prstGeom prst="rect">
            <a:avLst/>
          </a:prstGeom>
          <a:noFill/>
        </p:spPr>
        <p:txBody>
          <a:bodyPr wrap="none" rtlCol="0">
            <a:spAutoFit/>
          </a:bodyPr>
          <a:lstStyle/>
          <a:p>
            <a:r>
              <a:rPr lang="en-US" altLang="zh-CN" sz="1800" dirty="0"/>
              <a:t>Otto cycle</a:t>
            </a:r>
            <a:endParaRPr lang="zh-CN" altLang="en-US" sz="1800" dirty="0"/>
          </a:p>
        </p:txBody>
      </p:sp>
    </p:spTree>
    <p:extLst>
      <p:ext uri="{BB962C8B-B14F-4D97-AF65-F5344CB8AC3E}">
        <p14:creationId xmlns:p14="http://schemas.microsoft.com/office/powerpoint/2010/main" val="3020625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20473" y="-17063"/>
            <a:ext cx="7324760" cy="120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Diesel Cycle </a:t>
            </a:r>
          </a:p>
          <a:p>
            <a:r>
              <a:rPr lang="en-US" altLang="zh-CN" sz="3200" b="1" dirty="0">
                <a:solidFill>
                  <a:srgbClr val="FF0000"/>
                </a:solidFill>
                <a:effectLst>
                  <a:outerShdw blurRad="38100" dist="38100" dir="2700000" algn="tl">
                    <a:srgbClr val="000000">
                      <a:alpha val="43137"/>
                    </a:srgbClr>
                  </a:outerShdw>
                </a:effectLst>
                <a:latin typeface="Arial" charset="0"/>
                <a:cs typeface="Arial" charset="0"/>
              </a:rPr>
              <a:t>——Combustion-Ignition Engine</a:t>
            </a:r>
            <a:endParaRPr lang="en-US" sz="3200" dirty="0">
              <a:solidFill>
                <a:srgbClr val="FF0000"/>
              </a:solidFill>
            </a:endParaRPr>
          </a:p>
        </p:txBody>
      </p:sp>
      <p:pic>
        <p:nvPicPr>
          <p:cNvPr id="1126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000" y="1555676"/>
            <a:ext cx="6549174" cy="681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6963" y="4399807"/>
            <a:ext cx="168592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4283" y="5375540"/>
            <a:ext cx="372427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3994283" y="4596141"/>
            <a:ext cx="1593850" cy="369332"/>
          </a:xfrm>
          <a:prstGeom prst="rect">
            <a:avLst/>
          </a:prstGeom>
          <a:noFill/>
        </p:spPr>
        <p:txBody>
          <a:bodyPr wrap="square" rtlCol="0">
            <a:spAutoFit/>
          </a:bodyPr>
          <a:lstStyle/>
          <a:p>
            <a:r>
              <a:rPr lang="en-US" altLang="zh-CN" sz="1800" dirty="0"/>
              <a:t>Cutoff ratio </a:t>
            </a:r>
            <a:r>
              <a:rPr lang="en-US" altLang="zh-CN" sz="1800" dirty="0" err="1"/>
              <a:t>r</a:t>
            </a:r>
            <a:r>
              <a:rPr lang="en-US" altLang="zh-CN" sz="1800" baseline="-25000" dirty="0" err="1"/>
              <a:t>c</a:t>
            </a:r>
            <a:endParaRPr lang="en-US" altLang="zh-CN" sz="1800" baseline="-25000" dirty="0"/>
          </a:p>
        </p:txBody>
      </p:sp>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375" y="4255801"/>
            <a:ext cx="2251596" cy="2116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文本框 19"/>
          <p:cNvSpPr txBox="1"/>
          <p:nvPr/>
        </p:nvSpPr>
        <p:spPr>
          <a:xfrm>
            <a:off x="4435915" y="2401746"/>
            <a:ext cx="2888868" cy="307777"/>
          </a:xfrm>
          <a:prstGeom prst="rect">
            <a:avLst/>
          </a:prstGeom>
          <a:noFill/>
        </p:spPr>
        <p:txBody>
          <a:bodyPr wrap="none" rtlCol="0">
            <a:spAutoFit/>
          </a:bodyPr>
          <a:lstStyle/>
          <a:p>
            <a:pPr marL="171450" indent="-171450">
              <a:buFont typeface="Arial" panose="020B0604020202020204" pitchFamily="34" charset="0"/>
              <a:buChar char="•"/>
            </a:pPr>
            <a:r>
              <a:rPr lang="en-US" altLang="zh-CN" sz="1400" dirty="0"/>
              <a:t>Considering </a:t>
            </a:r>
            <a:r>
              <a:rPr lang="en-US" altLang="zh-CN" sz="1400" dirty="0" err="1"/>
              <a:t>const</a:t>
            </a:r>
            <a:r>
              <a:rPr lang="en-US" altLang="zh-CN" sz="1400" dirty="0"/>
              <a:t> P from 2</a:t>
            </a:r>
            <a:r>
              <a:rPr lang="en-US" altLang="zh-CN" sz="1400" dirty="0">
                <a:sym typeface="Wingdings" panose="05000000000000000000" pitchFamily="2" charset="2"/>
              </a:rPr>
              <a:t> 3</a:t>
            </a:r>
            <a:r>
              <a:rPr lang="en-US" altLang="zh-CN" sz="1400" dirty="0"/>
              <a:t> </a:t>
            </a:r>
            <a:endParaRPr lang="zh-CN" altLang="en-US" sz="1400" dirty="0"/>
          </a:p>
        </p:txBody>
      </p:sp>
      <p:sp>
        <p:nvSpPr>
          <p:cNvPr id="21" name="文本框 20"/>
          <p:cNvSpPr txBox="1"/>
          <p:nvPr/>
        </p:nvSpPr>
        <p:spPr>
          <a:xfrm>
            <a:off x="536542" y="2402142"/>
            <a:ext cx="3376245" cy="307777"/>
          </a:xfrm>
          <a:prstGeom prst="rect">
            <a:avLst/>
          </a:prstGeom>
          <a:noFill/>
        </p:spPr>
        <p:txBody>
          <a:bodyPr wrap="none" rtlCol="0">
            <a:spAutoFit/>
          </a:bodyPr>
          <a:lstStyle/>
          <a:p>
            <a:pPr marL="171450" indent="-171450">
              <a:buFont typeface="Arial" panose="020B0604020202020204" pitchFamily="34" charset="0"/>
              <a:buChar char="•"/>
            </a:pPr>
            <a:r>
              <a:rPr lang="en-US" altLang="zh-CN" sz="1400" dirty="0"/>
              <a:t>Considering isentropic 1</a:t>
            </a:r>
            <a:r>
              <a:rPr lang="en-US" altLang="zh-CN" sz="1400" dirty="0">
                <a:sym typeface="Wingdings" panose="05000000000000000000" pitchFamily="2" charset="2"/>
              </a:rPr>
              <a:t>2 and 3 4</a:t>
            </a:r>
            <a:endParaRPr lang="zh-CN" altLang="en-US" sz="1400" dirty="0"/>
          </a:p>
        </p:txBody>
      </p:sp>
      <mc:AlternateContent xmlns:mc="http://schemas.openxmlformats.org/markup-compatibility/2006" xmlns:a14="http://schemas.microsoft.com/office/drawing/2010/main">
        <mc:Choice Requires="a14">
          <p:sp>
            <p:nvSpPr>
              <p:cNvPr id="23" name="矩形 22"/>
              <p:cNvSpPr/>
              <p:nvPr/>
            </p:nvSpPr>
            <p:spPr>
              <a:xfrm>
                <a:off x="4684003" y="2999498"/>
                <a:ext cx="904130" cy="87075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en-US" sz="1200" i="1">
                              <a:latin typeface="Cambria Math" panose="02040503050406030204" pitchFamily="18" charset="0"/>
                            </a:rPr>
                          </m:ctrlPr>
                        </m:mPr>
                        <m:mr>
                          <m:e>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2</m:t>
                                    </m:r>
                                  </m:sub>
                                </m:sSub>
                              </m:den>
                            </m:f>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𝑐</m:t>
                                </m:r>
                              </m:sub>
                            </m:sSub>
                          </m:e>
                        </m:mr>
                        <m:mr>
                          <m:e>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2</m:t>
                                    </m:r>
                                  </m:sub>
                                </m:sSub>
                              </m:den>
                            </m:f>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𝛾</m:t>
                                </m:r>
                              </m:e>
                              <m:sub>
                                <m:r>
                                  <a:rPr lang="zh-CN" altLang="en-US" sz="1200" i="1">
                                    <a:latin typeface="Cambria Math" panose="02040503050406030204" pitchFamily="18" charset="0"/>
                                  </a:rPr>
                                  <m:t>𝑐</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
                    </m:oMath>
                  </m:oMathPara>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4684003" y="2999498"/>
                <a:ext cx="904130" cy="870751"/>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536542" y="2962619"/>
                <a:ext cx="3457741" cy="9578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1</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2</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4</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3</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r>
                          <m:e>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4</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1</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3</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2</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3</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𝑉</m:t>
                                    </m:r>
                                  </m:e>
                                  <m:sub>
                                    <m:r>
                                      <a:rPr lang="zh-CN" altLang="en-US" sz="1200" i="0">
                                        <a:latin typeface="Cambria Math" panose="02040503050406030204" pitchFamily="18" charset="0"/>
                                      </a:rPr>
                                      <m:t>2</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4</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m:t>
                                    </m:r>
                                  </m:sub>
                                </m:sSub>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m:t>
                                    </m:r>
                                  </m:sub>
                                </m:sSub>
                              </m:den>
                            </m:f>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𝑟</m:t>
                                </m:r>
                              </m:e>
                              <m:sub>
                                <m:r>
                                  <a:rPr lang="zh-CN" altLang="en-US" sz="1200" i="1">
                                    <a:latin typeface="Cambria Math" panose="02040503050406030204" pitchFamily="18" charset="0"/>
                                  </a:rPr>
                                  <m:t>𝑐</m:t>
                                </m:r>
                              </m:sub>
                              <m:sup>
                                <m:r>
                                  <a:rPr lang="zh-CN" altLang="en-US" sz="1200" i="1">
                                    <a:latin typeface="Cambria Math" panose="02040503050406030204" pitchFamily="18" charset="0"/>
                                  </a:rPr>
                                  <m:t>𝑘</m:t>
                                </m:r>
                                <m:r>
                                  <a:rPr lang="zh-CN" altLang="en-US" sz="1200" i="0">
                                    <a:latin typeface="Cambria Math" panose="02040503050406030204" pitchFamily="18" charset="0"/>
                                  </a:rPr>
                                  <m:t>−1</m:t>
                                </m:r>
                              </m:sup>
                            </m:sSubSup>
                          </m:e>
                        </m:mr>
                      </m:m>
                    </m:oMath>
                  </m:oMathPara>
                </a14:m>
                <a:endParaRPr lang="zh-CN" altLang="en-US" sz="1200" dirty="0"/>
              </a:p>
            </p:txBody>
          </p:sp>
        </mc:Choice>
        <mc:Fallback xmlns="">
          <p:sp>
            <p:nvSpPr>
              <p:cNvPr id="24" name="矩形 23"/>
              <p:cNvSpPr>
                <a:spLocks noRot="1" noChangeAspect="1" noMove="1" noResize="1" noEditPoints="1" noAdjustHandles="1" noChangeArrowheads="1" noChangeShapeType="1" noTextEdit="1"/>
              </p:cNvSpPr>
              <p:nvPr/>
            </p:nvSpPr>
            <p:spPr>
              <a:xfrm>
                <a:off x="536542" y="2962619"/>
                <a:ext cx="3457741" cy="957826"/>
              </a:xfrm>
              <a:prstGeom prst="rect">
                <a:avLst/>
              </a:prstGeom>
              <a:blipFill rotWithShape="0">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70361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p:txBody>
          <a:bodyPr>
            <a:normAutofit/>
          </a:bodyPr>
          <a:lstStyle/>
          <a:p>
            <a:r>
              <a:rPr lang="en-US" altLang="zh-CN" sz="2800" dirty="0">
                <a:solidFill>
                  <a:srgbClr val="FF0000"/>
                </a:solidFill>
              </a:rPr>
              <a:t>10. </a:t>
            </a:r>
            <a:r>
              <a:rPr lang="en-US" altLang="zh-CN" sz="2800" b="1" dirty="0" err="1">
                <a:solidFill>
                  <a:srgbClr val="FF0000"/>
                </a:solidFill>
                <a:effectLst>
                  <a:outerShdw blurRad="38100" dist="38100" dir="2700000" algn="tl">
                    <a:srgbClr val="000000">
                      <a:alpha val="43137"/>
                    </a:srgbClr>
                  </a:outerShdw>
                </a:effectLst>
                <a:latin typeface="Arial" charset="0"/>
                <a:cs typeface="Arial" charset="0"/>
              </a:rPr>
              <a:t>Brayton</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 Cycle</a:t>
            </a:r>
            <a:endParaRPr lang="en-US" altLang="zh-CN" sz="2800" dirty="0">
              <a:solidFill>
                <a:srgbClr val="FF0000"/>
              </a:solidFill>
            </a:endParaRPr>
          </a:p>
        </p:txBody>
      </p:sp>
      <p:sp>
        <p:nvSpPr>
          <p:cNvPr id="4" name="矩形 3"/>
          <p:cNvSpPr/>
          <p:nvPr/>
        </p:nvSpPr>
        <p:spPr>
          <a:xfrm>
            <a:off x="1061208" y="4347406"/>
            <a:ext cx="7002792" cy="369332"/>
          </a:xfrm>
          <a:prstGeom prst="rect">
            <a:avLst/>
          </a:prstGeom>
        </p:spPr>
        <p:txBody>
          <a:bodyPr wrap="square">
            <a:spAutoFit/>
          </a:bodyPr>
          <a:lstStyle/>
          <a:p>
            <a:r>
              <a:rPr lang="en-US" altLang="zh-CN" b="1" dirty="0">
                <a:solidFill>
                  <a:srgbClr val="0000FF"/>
                </a:solidFill>
              </a:rPr>
              <a:t>Ref. Thermodynamics: A Engineering approach, Chapter 9,17</a:t>
            </a:r>
            <a:r>
              <a:rPr lang="zh-CN" altLang="en-US" b="1" dirty="0">
                <a:solidFill>
                  <a:srgbClr val="0000FF"/>
                </a:solidFill>
              </a:rPr>
              <a:t> </a:t>
            </a:r>
            <a:endParaRPr lang="zh-CN" altLang="en-US" dirty="0">
              <a:solidFill>
                <a:srgbClr val="0000FF"/>
              </a:solidFill>
            </a:endParaRPr>
          </a:p>
        </p:txBody>
      </p:sp>
    </p:spTree>
    <p:extLst>
      <p:ext uri="{BB962C8B-B14F-4D97-AF65-F5344CB8AC3E}">
        <p14:creationId xmlns:p14="http://schemas.microsoft.com/office/powerpoint/2010/main" val="1368866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6908" y="1745520"/>
            <a:ext cx="2273160" cy="1968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nvSpPr>
        <p:spPr>
          <a:xfrm>
            <a:off x="235204" y="1024217"/>
            <a:ext cx="1736373" cy="369332"/>
          </a:xfrm>
          <a:prstGeom prst="rect">
            <a:avLst/>
          </a:prstGeom>
        </p:spPr>
        <p:txBody>
          <a:bodyPr wrap="none">
            <a:spAutoFit/>
          </a:bodyPr>
          <a:lstStyle/>
          <a:p>
            <a:r>
              <a:rPr lang="en-US" altLang="zh-CN" b="1" dirty="0" err="1">
                <a:solidFill>
                  <a:srgbClr val="FF0000"/>
                </a:solidFill>
                <a:effectLst>
                  <a:outerShdw blurRad="38100" dist="38100" dir="2700000" algn="tl">
                    <a:srgbClr val="000000">
                      <a:alpha val="43137"/>
                    </a:srgbClr>
                  </a:outerShdw>
                </a:effectLst>
                <a:latin typeface="Arial" charset="0"/>
                <a:cs typeface="Arial" charset="0"/>
              </a:rPr>
              <a:t>Brayton</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Cycle</a:t>
            </a:r>
            <a:endParaRPr lang="en-US" altLang="zh-CN" dirty="0">
              <a:solidFill>
                <a:srgbClr val="FF0000"/>
              </a:solidFill>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4498" y="1733909"/>
            <a:ext cx="2236634" cy="2109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0068" y="1828800"/>
            <a:ext cx="2015169" cy="1885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5237" y="4685533"/>
            <a:ext cx="2282058" cy="69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p:cNvSpPr txBox="1"/>
          <p:nvPr/>
        </p:nvSpPr>
        <p:spPr>
          <a:xfrm>
            <a:off x="1264562" y="128840"/>
            <a:ext cx="5105400" cy="646331"/>
          </a:xfrm>
          <a:prstGeom prst="rect">
            <a:avLst/>
          </a:prstGeom>
          <a:noFill/>
        </p:spPr>
        <p:txBody>
          <a:bodyPr wrap="square" rtlCol="0">
            <a:spAutoFit/>
          </a:bodyPr>
          <a:lstStyle/>
          <a:p>
            <a:r>
              <a:rPr lang="en-US" altLang="zh-CN" sz="3600" b="1" dirty="0" err="1">
                <a:solidFill>
                  <a:srgbClr val="FF0000"/>
                </a:solidFill>
                <a:effectLst>
                  <a:outerShdw blurRad="38100" dist="38100" dir="2700000" algn="tl">
                    <a:srgbClr val="000000">
                      <a:alpha val="43137"/>
                    </a:srgbClr>
                  </a:outerShdw>
                </a:effectLst>
                <a:latin typeface="Arial" charset="0"/>
                <a:cs typeface="Arial" charset="0"/>
              </a:rPr>
              <a:t>Brayton</a:t>
            </a:r>
            <a:r>
              <a:rPr lang="en-US" altLang="zh-CN" sz="3600" b="1" dirty="0">
                <a:solidFill>
                  <a:srgbClr val="FF0000"/>
                </a:solidFill>
                <a:effectLst>
                  <a:outerShdw blurRad="38100" dist="38100" dir="2700000" algn="tl">
                    <a:srgbClr val="000000">
                      <a:alpha val="43137"/>
                    </a:srgbClr>
                  </a:outerShdw>
                </a:effectLst>
                <a:latin typeface="Arial" charset="0"/>
                <a:cs typeface="Arial" charset="0"/>
              </a:rPr>
              <a:t> Cycle</a:t>
            </a:r>
            <a:endParaRPr lang="en-US" altLang="zh-CN" sz="3600" dirty="0">
              <a:solidFill>
                <a:srgbClr val="FF0000"/>
              </a:solidFill>
            </a:endParaRPr>
          </a:p>
        </p:txBody>
      </p:sp>
      <p:pic>
        <p:nvPicPr>
          <p:cNvPr id="72710" name="Picture 6"/>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5043" t="29328" r="38375" b="26840"/>
          <a:stretch/>
        </p:blipFill>
        <p:spPr bwMode="auto">
          <a:xfrm>
            <a:off x="216774" y="1813956"/>
            <a:ext cx="1777185" cy="1831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 name="矩形 2"/>
              <p:cNvSpPr/>
              <p:nvPr/>
            </p:nvSpPr>
            <p:spPr>
              <a:xfrm>
                <a:off x="6497947" y="5677496"/>
                <a:ext cx="1311065" cy="390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𝑟</m:t>
                          </m:r>
                        </m:e>
                        <m:sub>
                          <m:r>
                            <a:rPr lang="zh-CN" altLang="en-US" i="1">
                              <a:latin typeface="Cambria Math" panose="02040503050406030204" pitchFamily="18" charset="0"/>
                            </a:rPr>
                            <m:t>𝑝</m:t>
                          </m:r>
                        </m:sub>
                      </m:sSub>
                      <m:r>
                        <a:rPr lang="zh-CN" altLang="en-US" i="0">
                          <a:latin typeface="Cambria Math" panose="02040503050406030204" pitchFamily="18" charset="0"/>
                        </a:rPr>
                        <m:t>=</m:t>
                      </m:r>
                      <m:f>
                        <m:fPr>
                          <m:type m:val="lin"/>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2</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1</m:t>
                              </m:r>
                            </m:sub>
                          </m:sSub>
                        </m:den>
                      </m:f>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6497947" y="5677496"/>
                <a:ext cx="1311065" cy="390748"/>
              </a:xfrm>
              <a:prstGeom prst="rect">
                <a:avLst/>
              </a:prstGeom>
              <a:blipFill rotWithShape="0">
                <a:blip r:embed="rId7"/>
                <a:stretch>
                  <a:fillRect t="-109375" r="-29302" b="-164063"/>
                </a:stretch>
              </a:blipFill>
            </p:spPr>
            <p:txBody>
              <a:bodyPr/>
              <a:lstStyle/>
              <a:p>
                <a:r>
                  <a:rPr lang="zh-CN" altLang="en-US">
                    <a:noFill/>
                  </a:rPr>
                  <a:t> </a:t>
                </a:r>
              </a:p>
            </p:txBody>
          </p:sp>
        </mc:Fallback>
      </mc:AlternateContent>
      <p:sp>
        <p:nvSpPr>
          <p:cNvPr id="4" name="文本框 3"/>
          <p:cNvSpPr txBox="1"/>
          <p:nvPr/>
        </p:nvSpPr>
        <p:spPr>
          <a:xfrm>
            <a:off x="235204" y="3958178"/>
            <a:ext cx="2932213" cy="1077218"/>
          </a:xfrm>
          <a:prstGeom prst="rect">
            <a:avLst/>
          </a:prstGeom>
          <a:noFill/>
        </p:spPr>
        <p:txBody>
          <a:bodyPr wrap="none" rtlCol="0">
            <a:spAutoFit/>
          </a:bodyPr>
          <a:lstStyle/>
          <a:p>
            <a:r>
              <a:rPr lang="en-US" altLang="zh-CN" sz="1600" dirty="0"/>
              <a:t>1</a:t>
            </a:r>
            <a:r>
              <a:rPr lang="en-US" altLang="zh-CN" sz="1600" dirty="0">
                <a:sym typeface="Wingdings" panose="05000000000000000000" pitchFamily="2" charset="2"/>
              </a:rPr>
              <a:t>2: isentropic compression</a:t>
            </a:r>
          </a:p>
          <a:p>
            <a:r>
              <a:rPr lang="en-US" altLang="zh-CN" sz="1600" dirty="0">
                <a:sym typeface="Wingdings" panose="05000000000000000000" pitchFamily="2" charset="2"/>
              </a:rPr>
              <a:t>23: const. pressure</a:t>
            </a:r>
          </a:p>
          <a:p>
            <a:r>
              <a:rPr lang="en-US" altLang="zh-CN" sz="1600" dirty="0">
                <a:sym typeface="Wingdings" panose="05000000000000000000" pitchFamily="2" charset="2"/>
              </a:rPr>
              <a:t>34: isentropic expansion</a:t>
            </a:r>
          </a:p>
          <a:p>
            <a:r>
              <a:rPr lang="en-US" altLang="zh-CN" sz="1600" dirty="0">
                <a:sym typeface="Wingdings" panose="05000000000000000000" pitchFamily="2" charset="2"/>
              </a:rPr>
              <a:t>41: </a:t>
            </a:r>
            <a:r>
              <a:rPr lang="en-US" altLang="zh-CN" sz="1600" dirty="0" err="1">
                <a:sym typeface="Wingdings" panose="05000000000000000000" pitchFamily="2" charset="2"/>
              </a:rPr>
              <a:t>const</a:t>
            </a:r>
            <a:r>
              <a:rPr lang="en-US" altLang="zh-CN" sz="1600" dirty="0">
                <a:sym typeface="Wingdings" panose="05000000000000000000" pitchFamily="2" charset="2"/>
              </a:rPr>
              <a:t> press (heat reject)</a:t>
            </a:r>
          </a:p>
        </p:txBody>
      </p:sp>
      <p:pic>
        <p:nvPicPr>
          <p:cNvPr id="5" name="图片 4"/>
          <p:cNvPicPr>
            <a:picLocks noChangeAspect="1"/>
          </p:cNvPicPr>
          <p:nvPr/>
        </p:nvPicPr>
        <p:blipFill>
          <a:blip r:embed="rId8"/>
          <a:stretch>
            <a:fillRect/>
          </a:stretch>
        </p:blipFill>
        <p:spPr>
          <a:xfrm>
            <a:off x="143689" y="5430276"/>
            <a:ext cx="3185700" cy="301320"/>
          </a:xfrm>
          <a:prstGeom prst="rect">
            <a:avLst/>
          </a:prstGeom>
        </p:spPr>
      </p:pic>
      <p:pic>
        <p:nvPicPr>
          <p:cNvPr id="6" name="图片 5"/>
          <p:cNvPicPr>
            <a:picLocks noChangeAspect="1"/>
          </p:cNvPicPr>
          <p:nvPr/>
        </p:nvPicPr>
        <p:blipFill>
          <a:blip r:embed="rId9"/>
          <a:stretch>
            <a:fillRect/>
          </a:stretch>
        </p:blipFill>
        <p:spPr>
          <a:xfrm>
            <a:off x="3493218" y="3958178"/>
            <a:ext cx="2369850" cy="923400"/>
          </a:xfrm>
          <a:prstGeom prst="rect">
            <a:avLst/>
          </a:prstGeom>
        </p:spPr>
      </p:pic>
      <p:pic>
        <p:nvPicPr>
          <p:cNvPr id="7" name="图片 6"/>
          <p:cNvPicPr>
            <a:picLocks noChangeAspect="1"/>
          </p:cNvPicPr>
          <p:nvPr/>
        </p:nvPicPr>
        <p:blipFill>
          <a:blip r:embed="rId10"/>
          <a:stretch>
            <a:fillRect/>
          </a:stretch>
        </p:blipFill>
        <p:spPr>
          <a:xfrm>
            <a:off x="3491361" y="5035396"/>
            <a:ext cx="2175600" cy="583200"/>
          </a:xfrm>
          <a:prstGeom prst="rect">
            <a:avLst/>
          </a:prstGeom>
        </p:spPr>
      </p:pic>
      <p:pic>
        <p:nvPicPr>
          <p:cNvPr id="17" name="图片 16"/>
          <p:cNvPicPr>
            <a:picLocks noChangeAspect="1"/>
          </p:cNvPicPr>
          <p:nvPr/>
        </p:nvPicPr>
        <p:blipFill>
          <a:blip r:embed="rId11"/>
          <a:stretch>
            <a:fillRect/>
          </a:stretch>
        </p:blipFill>
        <p:spPr>
          <a:xfrm>
            <a:off x="3643447" y="5682748"/>
            <a:ext cx="2631825" cy="520268"/>
          </a:xfrm>
          <a:prstGeom prst="rect">
            <a:avLst/>
          </a:prstGeom>
        </p:spPr>
      </p:pic>
      <p:pic>
        <p:nvPicPr>
          <p:cNvPr id="18" name="图片 17"/>
          <p:cNvPicPr>
            <a:picLocks noChangeAspect="1"/>
          </p:cNvPicPr>
          <p:nvPr/>
        </p:nvPicPr>
        <p:blipFill>
          <a:blip r:embed="rId12"/>
          <a:stretch>
            <a:fillRect/>
          </a:stretch>
        </p:blipFill>
        <p:spPr>
          <a:xfrm>
            <a:off x="6497947" y="3934897"/>
            <a:ext cx="2353185" cy="610829"/>
          </a:xfrm>
          <a:prstGeom prst="rect">
            <a:avLst/>
          </a:prstGeom>
        </p:spPr>
      </p:pic>
      <p:sp>
        <p:nvSpPr>
          <p:cNvPr id="19" name="文本框 18"/>
          <p:cNvSpPr txBox="1"/>
          <p:nvPr/>
        </p:nvSpPr>
        <p:spPr>
          <a:xfrm>
            <a:off x="6497947" y="5362264"/>
            <a:ext cx="1298753" cy="307777"/>
          </a:xfrm>
          <a:prstGeom prst="rect">
            <a:avLst/>
          </a:prstGeom>
          <a:noFill/>
        </p:spPr>
        <p:txBody>
          <a:bodyPr wrap="none" rtlCol="0">
            <a:spAutoFit/>
          </a:bodyPr>
          <a:lstStyle/>
          <a:p>
            <a:r>
              <a:rPr lang="en-US" altLang="zh-CN" sz="1400" dirty="0"/>
              <a:t>Pressure ratio</a:t>
            </a:r>
            <a:endParaRPr lang="zh-CN" altLang="en-US" sz="1400" dirty="0"/>
          </a:p>
        </p:txBody>
      </p:sp>
    </p:spTree>
    <p:extLst>
      <p:ext uri="{BB962C8B-B14F-4D97-AF65-F5344CB8AC3E}">
        <p14:creationId xmlns:p14="http://schemas.microsoft.com/office/powerpoint/2010/main" val="37579087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p:txBody>
          <a:bodyPr>
            <a:normAutofit/>
          </a:bodyPr>
          <a:lstStyle/>
          <a:p>
            <a:r>
              <a:rPr lang="en-US" altLang="zh-CN" sz="2800" dirty="0">
                <a:solidFill>
                  <a:srgbClr val="FF0000"/>
                </a:solidFill>
              </a:rPr>
              <a:t>11. </a:t>
            </a:r>
            <a:r>
              <a:rPr lang="en-US" altLang="zh-CN" sz="2800" b="1" dirty="0" err="1">
                <a:solidFill>
                  <a:srgbClr val="FF0000"/>
                </a:solidFill>
                <a:effectLst>
                  <a:outerShdw blurRad="38100" dist="38100" dir="2700000" algn="tl">
                    <a:srgbClr val="000000">
                      <a:alpha val="43137"/>
                    </a:srgbClr>
                  </a:outerShdw>
                </a:effectLst>
                <a:latin typeface="Arial" charset="0"/>
                <a:cs typeface="Arial" charset="0"/>
              </a:rPr>
              <a:t>Rankine</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 Cycle</a:t>
            </a:r>
            <a:endParaRPr lang="en-US" altLang="zh-CN" sz="2800" dirty="0">
              <a:solidFill>
                <a:srgbClr val="FF0000"/>
              </a:solidFill>
            </a:endParaRPr>
          </a:p>
        </p:txBody>
      </p:sp>
      <p:sp>
        <p:nvSpPr>
          <p:cNvPr id="4" name="矩形 3"/>
          <p:cNvSpPr/>
          <p:nvPr/>
        </p:nvSpPr>
        <p:spPr>
          <a:xfrm>
            <a:off x="1061208" y="4347406"/>
            <a:ext cx="7002792" cy="369332"/>
          </a:xfrm>
          <a:prstGeom prst="rect">
            <a:avLst/>
          </a:prstGeom>
        </p:spPr>
        <p:txBody>
          <a:bodyPr wrap="square">
            <a:spAutoFit/>
          </a:bodyPr>
          <a:lstStyle/>
          <a:p>
            <a:r>
              <a:rPr lang="en-US" altLang="zh-CN" b="1" dirty="0">
                <a:solidFill>
                  <a:srgbClr val="0000FF"/>
                </a:solidFill>
              </a:rPr>
              <a:t>Ref. Thermodynamics: A Engineering approach, Chapter 3</a:t>
            </a:r>
            <a:r>
              <a:rPr lang="zh-CN" altLang="en-US" b="1" dirty="0">
                <a:solidFill>
                  <a:srgbClr val="0000FF"/>
                </a:solidFill>
              </a:rPr>
              <a:t>，</a:t>
            </a:r>
            <a:r>
              <a:rPr lang="en-US" altLang="zh-CN" b="1" dirty="0">
                <a:solidFill>
                  <a:srgbClr val="0000FF"/>
                </a:solidFill>
              </a:rPr>
              <a:t>10</a:t>
            </a:r>
            <a:endParaRPr lang="zh-CN" altLang="en-US" dirty="0">
              <a:solidFill>
                <a:srgbClr val="0000FF"/>
              </a:solidFill>
            </a:endParaRPr>
          </a:p>
        </p:txBody>
      </p:sp>
    </p:spTree>
    <p:extLst>
      <p:ext uri="{BB962C8B-B14F-4D97-AF65-F5344CB8AC3E}">
        <p14:creationId xmlns:p14="http://schemas.microsoft.com/office/powerpoint/2010/main" val="14644181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20067" y="160338"/>
            <a:ext cx="7324760" cy="6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Rankine Cycle</a:t>
            </a:r>
            <a:endParaRPr lang="en-US" dirty="0">
              <a:solidFill>
                <a:srgbClr val="FF0000"/>
              </a:solidFill>
            </a:endParaRPr>
          </a:p>
        </p:txBody>
      </p:sp>
      <p:pic>
        <p:nvPicPr>
          <p:cNvPr id="1536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5134794"/>
            <a:ext cx="4133161" cy="581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0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7336" y="5200704"/>
            <a:ext cx="4426639" cy="517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图片 1"/>
          <p:cNvPicPr>
            <a:picLocks noChangeAspect="1"/>
          </p:cNvPicPr>
          <p:nvPr/>
        </p:nvPicPr>
        <p:blipFill>
          <a:blip r:embed="rId5"/>
          <a:stretch>
            <a:fillRect/>
          </a:stretch>
        </p:blipFill>
        <p:spPr>
          <a:xfrm>
            <a:off x="675686" y="1373234"/>
            <a:ext cx="3613050" cy="3411720"/>
          </a:xfrm>
          <a:prstGeom prst="rect">
            <a:avLst/>
          </a:prstGeom>
        </p:spPr>
      </p:pic>
      <p:pic>
        <p:nvPicPr>
          <p:cNvPr id="4" name="图片 3"/>
          <p:cNvPicPr>
            <a:picLocks noChangeAspect="1"/>
          </p:cNvPicPr>
          <p:nvPr/>
        </p:nvPicPr>
        <p:blipFill>
          <a:blip r:embed="rId6"/>
          <a:stretch>
            <a:fillRect/>
          </a:stretch>
        </p:blipFill>
        <p:spPr>
          <a:xfrm>
            <a:off x="4407582" y="1572494"/>
            <a:ext cx="3651900" cy="3013200"/>
          </a:xfrm>
          <a:prstGeom prst="rect">
            <a:avLst/>
          </a:prstGeom>
        </p:spPr>
      </p:pic>
    </p:spTree>
    <p:extLst>
      <p:ext uri="{BB962C8B-B14F-4D97-AF65-F5344CB8AC3E}">
        <p14:creationId xmlns:p14="http://schemas.microsoft.com/office/powerpoint/2010/main" val="31055292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45630" y="830460"/>
            <a:ext cx="2874900" cy="5044680"/>
          </a:xfrm>
          <a:prstGeom prst="rect">
            <a:avLst/>
          </a:prstGeom>
        </p:spPr>
      </p:pic>
      <p:sp>
        <p:nvSpPr>
          <p:cNvPr id="4" name="矩形 3"/>
          <p:cNvSpPr/>
          <p:nvPr/>
        </p:nvSpPr>
        <p:spPr>
          <a:xfrm>
            <a:off x="3220530" y="928638"/>
            <a:ext cx="5397500" cy="954107"/>
          </a:xfrm>
          <a:prstGeom prst="rect">
            <a:avLst/>
          </a:prstGeom>
          <a:solidFill>
            <a:schemeClr val="accent6">
              <a:lumMod val="20000"/>
              <a:lumOff val="80000"/>
            </a:schemeClr>
          </a:solidFill>
        </p:spPr>
        <p:txBody>
          <a:bodyPr wrap="square">
            <a:spAutoFit/>
          </a:bodyPr>
          <a:lstStyle/>
          <a:p>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Consider a steam power plant operating on the simple ideal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cycle.Steam</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enters the turbine at 3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MPa</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and 3508C and is condensed in the condenser at a pressure of 75 </a:t>
            </a:r>
            <a:r>
              <a:rPr lang="en-US" altLang="zh-CN" sz="1400" dirty="0" err="1">
                <a:latin typeface="Arial Unicode MS" panose="020B0604020202020204" pitchFamily="34" charset="-122"/>
                <a:ea typeface="Arial Unicode MS" panose="020B0604020202020204" pitchFamily="34" charset="-122"/>
                <a:cs typeface="Arial Unicode MS" panose="020B0604020202020204" pitchFamily="34" charset="-122"/>
              </a:rPr>
              <a:t>kPa</a:t>
            </a:r>
            <a:r>
              <a:rPr lang="en-US" altLang="zh-CN" sz="1400" dirty="0">
                <a:latin typeface="Arial Unicode MS" panose="020B0604020202020204" pitchFamily="34" charset="-122"/>
                <a:ea typeface="Arial Unicode MS" panose="020B0604020202020204" pitchFamily="34" charset="-122"/>
                <a:cs typeface="Arial Unicode MS" panose="020B0604020202020204" pitchFamily="34" charset="-122"/>
              </a:rPr>
              <a:t>. Determine the thermal efficiency of this cycle.</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矩形 4"/>
          <p:cNvSpPr/>
          <p:nvPr/>
        </p:nvSpPr>
        <p:spPr>
          <a:xfrm>
            <a:off x="3467100" y="2235756"/>
            <a:ext cx="5511800" cy="2923877"/>
          </a:xfrm>
          <a:prstGeom prst="rect">
            <a:avLst/>
          </a:prstGeom>
        </p:spPr>
        <p:txBody>
          <a:bodyPr wrap="square">
            <a:spAutoFit/>
          </a:bodyPr>
          <a:lstStyle/>
          <a:p>
            <a:r>
              <a:rPr lang="en-US" altLang="zh-CN" sz="1600" b="1" dirty="0">
                <a:solidFill>
                  <a:srgbClr val="008D00"/>
                </a:solidFill>
                <a:latin typeface="Arial Unicode MS" panose="020B0604020202020204" pitchFamily="34" charset="-122"/>
                <a:ea typeface="Arial Unicode MS" panose="020B0604020202020204" pitchFamily="34" charset="-122"/>
                <a:cs typeface="Arial Unicode MS" panose="020B0604020202020204" pitchFamily="34" charset="-122"/>
              </a:rPr>
              <a:t>SOLUTION </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 steam power plant operating on the simple ideal </a:t>
            </a:r>
            <a:r>
              <a:rPr lang="en-US" altLang="zh-CN" sz="14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cycle is considered. The thermal efficiency of the cycle is to be determined.</a:t>
            </a:r>
          </a:p>
          <a:p>
            <a:r>
              <a:rPr lang="en-US" altLang="zh-CN" sz="1400" b="1" i="1" dirty="0">
                <a:solidFill>
                  <a:srgbClr val="008D00"/>
                </a:solidFill>
                <a:latin typeface="Arial Unicode MS" panose="020B0604020202020204" pitchFamily="34" charset="-122"/>
                <a:ea typeface="Arial Unicode MS" panose="020B0604020202020204" pitchFamily="34" charset="-122"/>
                <a:cs typeface="Arial Unicode MS" panose="020B0604020202020204" pitchFamily="34" charset="-122"/>
              </a:rPr>
              <a:t>Assumptions </a:t>
            </a:r>
            <a:r>
              <a:rPr lang="en-US" altLang="zh-CN" sz="1400" b="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 </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Steady operating conditions exist. </a:t>
            </a:r>
            <a:r>
              <a:rPr lang="en-US" altLang="zh-CN" sz="1400" b="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2 </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Kinetic and potential energy changes are negligible.</a:t>
            </a:r>
          </a:p>
          <a:p>
            <a:r>
              <a:rPr lang="en-US" altLang="zh-CN" sz="1400" b="1" i="1" dirty="0">
                <a:solidFill>
                  <a:srgbClr val="008D00"/>
                </a:solidFill>
                <a:latin typeface="Arial Unicode MS" panose="020B0604020202020204" pitchFamily="34" charset="-122"/>
                <a:ea typeface="Arial Unicode MS" panose="020B0604020202020204" pitchFamily="34" charset="-122"/>
                <a:cs typeface="Arial Unicode MS" panose="020B0604020202020204" pitchFamily="34" charset="-122"/>
              </a:rPr>
              <a:t>Analysis </a:t>
            </a:r>
          </a:p>
          <a:p>
            <a:pPr marL="285750" indent="-285750">
              <a:buFont typeface="Arial" panose="020B0604020202020204" pitchFamily="34" charset="0"/>
              <a:buChar char="•"/>
            </a:pP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The schematic of the power plant and the </a:t>
            </a:r>
            <a:r>
              <a:rPr lang="en-US" altLang="zh-CN" sz="1400" i="1"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T-s </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diagram of the cycle are shown in Fig. 10–3. </a:t>
            </a:r>
          </a:p>
          <a:p>
            <a:pPr marL="285750" indent="-285750">
              <a:buFont typeface="Arial" panose="020B0604020202020204" pitchFamily="34" charset="0"/>
              <a:buChar char="•"/>
            </a:pP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We note that the power plant operates on the ideal </a:t>
            </a:r>
            <a:r>
              <a:rPr lang="en-US" altLang="zh-CN" sz="1400" dirty="0" err="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sz="140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cycle. Therefore, the pump and the turbine are isentropic, there are no pressure drops in the boiler and condenser, and steam leaves the condenser and enters the pump as saturated liquid at the condenser pressure.</a:t>
            </a:r>
            <a:endParaRPr lang="zh-CN" altLang="en-US" sz="1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6" name="矩形 5"/>
          <p:cNvSpPr/>
          <p:nvPr/>
        </p:nvSpPr>
        <p:spPr>
          <a:xfrm>
            <a:off x="1600200" y="198135"/>
            <a:ext cx="4800600" cy="369332"/>
          </a:xfrm>
          <a:prstGeom prst="rect">
            <a:avLst/>
          </a:prstGeom>
        </p:spPr>
        <p:txBody>
          <a:bodyPr wrap="square">
            <a:spAutoFit/>
          </a:bodyPr>
          <a:lstStyle/>
          <a:p>
            <a:r>
              <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rPr>
              <a:t>EXAMPLE</a:t>
            </a:r>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The Simple Ideal </a:t>
            </a:r>
            <a:r>
              <a:rPr lang="en-US" altLang="zh-CN" b="1" dirty="0" err="1">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Rankine</a:t>
            </a:r>
            <a:r>
              <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Cycle</a:t>
            </a:r>
            <a:endParaRPr lang="zh-CN" altLang="en-US"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979247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069174" y="188100"/>
            <a:ext cx="5030039" cy="6250800"/>
          </a:xfrm>
          <a:prstGeom prst="rect">
            <a:avLst/>
          </a:prstGeom>
        </p:spPr>
      </p:pic>
    </p:spTree>
    <p:extLst>
      <p:ext uri="{BB962C8B-B14F-4D97-AF65-F5344CB8AC3E}">
        <p14:creationId xmlns:p14="http://schemas.microsoft.com/office/powerpoint/2010/main" val="16329332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p:txBody>
          <a:bodyPr>
            <a:normAutofit/>
          </a:bodyPr>
          <a:lstStyle/>
          <a:p>
            <a:r>
              <a:rPr lang="en-US" altLang="zh-CN" sz="2800" dirty="0">
                <a:solidFill>
                  <a:srgbClr val="FF0000"/>
                </a:solidFill>
              </a:rPr>
              <a:t>12. </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Refrigeration Cycles</a:t>
            </a:r>
            <a:endParaRPr lang="en-US" altLang="zh-CN" sz="2800" dirty="0">
              <a:solidFill>
                <a:srgbClr val="FF0000"/>
              </a:solidFill>
            </a:endParaRPr>
          </a:p>
        </p:txBody>
      </p:sp>
      <p:sp>
        <p:nvSpPr>
          <p:cNvPr id="4" name="矩形 3"/>
          <p:cNvSpPr/>
          <p:nvPr/>
        </p:nvSpPr>
        <p:spPr>
          <a:xfrm>
            <a:off x="1061207" y="4347406"/>
            <a:ext cx="7056249" cy="369332"/>
          </a:xfrm>
          <a:prstGeom prst="rect">
            <a:avLst/>
          </a:prstGeom>
        </p:spPr>
        <p:txBody>
          <a:bodyPr wrap="square">
            <a:spAutoFit/>
          </a:bodyPr>
          <a:lstStyle/>
          <a:p>
            <a:r>
              <a:rPr lang="en-US" altLang="zh-CN" b="1" dirty="0">
                <a:solidFill>
                  <a:srgbClr val="0000FF"/>
                </a:solidFill>
              </a:rPr>
              <a:t>Ref. Thermodynamics: A Engineering approach, Chapter 10</a:t>
            </a:r>
            <a:r>
              <a:rPr lang="zh-CN" altLang="en-US" b="1" dirty="0">
                <a:solidFill>
                  <a:srgbClr val="0000FF"/>
                </a:solidFill>
              </a:rPr>
              <a:t> </a:t>
            </a:r>
            <a:endParaRPr lang="zh-CN" altLang="en-US" dirty="0">
              <a:solidFill>
                <a:srgbClr val="0000FF"/>
              </a:solidFill>
            </a:endParaRPr>
          </a:p>
        </p:txBody>
      </p:sp>
    </p:spTree>
    <p:extLst>
      <p:ext uri="{BB962C8B-B14F-4D97-AF65-F5344CB8AC3E}">
        <p14:creationId xmlns:p14="http://schemas.microsoft.com/office/powerpoint/2010/main" val="16552104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7532" y="69011"/>
            <a:ext cx="4133696" cy="461665"/>
          </a:xfrm>
          <a:prstGeom prst="rect">
            <a:avLst/>
          </a:prstGeom>
          <a:noFill/>
        </p:spPr>
        <p:txBody>
          <a:bodyPr wrap="none" rtlCol="0">
            <a:spAutoFit/>
          </a:bodyPr>
          <a:lstStyle/>
          <a:p>
            <a:r>
              <a:rPr lang="en-US" altLang="zh-CN" sz="2400" dirty="0">
                <a:solidFill>
                  <a:srgbClr val="FF0000"/>
                </a:solidFill>
              </a:rPr>
              <a:t>Nozzles and Throttling valve </a:t>
            </a:r>
            <a:endParaRPr lang="zh-CN" altLang="en-US" sz="2400" dirty="0">
              <a:solidFill>
                <a:srgbClr val="FF0000"/>
              </a:solidFill>
            </a:endParaRPr>
          </a:p>
        </p:txBody>
      </p:sp>
      <p:pic>
        <p:nvPicPr>
          <p:cNvPr id="79876"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23638"/>
          <a:stretch/>
        </p:blipFill>
        <p:spPr bwMode="auto">
          <a:xfrm>
            <a:off x="890004" y="2644741"/>
            <a:ext cx="6076950" cy="3585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52366" y="611296"/>
            <a:ext cx="4455066" cy="369332"/>
          </a:xfrm>
          <a:prstGeom prst="rect">
            <a:avLst/>
          </a:prstGeom>
          <a:noFill/>
        </p:spPr>
        <p:txBody>
          <a:bodyPr wrap="none" rtlCol="0">
            <a:spAutoFit/>
          </a:bodyPr>
          <a:lstStyle/>
          <a:p>
            <a:r>
              <a:rPr lang="en-US" altLang="zh-CN" dirty="0"/>
              <a:t>Energy balance of the steady-flow system</a:t>
            </a:r>
          </a:p>
        </p:txBody>
      </p:sp>
      <p:graphicFrame>
        <p:nvGraphicFramePr>
          <p:cNvPr id="5" name="对象 4"/>
          <p:cNvGraphicFramePr>
            <a:graphicFrameLocks noChangeAspect="1"/>
          </p:cNvGraphicFramePr>
          <p:nvPr/>
        </p:nvGraphicFramePr>
        <p:xfrm>
          <a:off x="1028567" y="1132392"/>
          <a:ext cx="6075363" cy="1109663"/>
        </p:xfrm>
        <a:graphic>
          <a:graphicData uri="http://schemas.openxmlformats.org/presentationml/2006/ole">
            <mc:AlternateContent xmlns:mc="http://schemas.openxmlformats.org/markup-compatibility/2006">
              <mc:Choice xmlns:v="urn:schemas-microsoft-com:vml" Requires="v">
                <p:oleObj name="Equation" r:id="rId3" imgW="4025880" imgH="736560" progId="Equation.DSMT4">
                  <p:embed/>
                </p:oleObj>
              </mc:Choice>
              <mc:Fallback>
                <p:oleObj name="Equation" r:id="rId3" imgW="4025880" imgH="736560" progId="Equation.DSMT4">
                  <p:embed/>
                  <p:pic>
                    <p:nvPicPr>
                      <p:cNvPr id="5" name="对象 4"/>
                      <p:cNvPicPr>
                        <a:picLocks noChangeAspect="1" noChangeArrowheads="1"/>
                      </p:cNvPicPr>
                      <p:nvPr/>
                    </p:nvPicPr>
                    <p:blipFill>
                      <a:blip r:embed="rId4"/>
                      <a:srcRect/>
                      <a:stretch>
                        <a:fillRect/>
                      </a:stretch>
                    </p:blipFill>
                    <p:spPr bwMode="auto">
                      <a:xfrm>
                        <a:off x="1028567" y="1132392"/>
                        <a:ext cx="6075363" cy="1109663"/>
                      </a:xfrm>
                      <a:prstGeom prst="rect">
                        <a:avLst/>
                      </a:prstGeom>
                      <a:solidFill>
                        <a:schemeClr val="accent2">
                          <a:lumMod val="20000"/>
                          <a:lumOff val="80000"/>
                        </a:schemeClr>
                      </a:solidFill>
                      <a:ln>
                        <a:noFill/>
                      </a:ln>
                    </p:spPr>
                  </p:pic>
                </p:oleObj>
              </mc:Fallback>
            </mc:AlternateContent>
          </a:graphicData>
        </a:graphic>
      </p:graphicFrame>
      <p:sp>
        <p:nvSpPr>
          <p:cNvPr id="6" name="TextBox 5"/>
          <p:cNvSpPr txBox="1"/>
          <p:nvPr/>
        </p:nvSpPr>
        <p:spPr>
          <a:xfrm>
            <a:off x="693574" y="4317143"/>
            <a:ext cx="1082348" cy="369332"/>
          </a:xfrm>
          <a:prstGeom prst="rect">
            <a:avLst/>
          </a:prstGeom>
          <a:noFill/>
        </p:spPr>
        <p:txBody>
          <a:bodyPr wrap="none" rtlCol="0">
            <a:spAutoFit/>
          </a:bodyPr>
          <a:lstStyle/>
          <a:p>
            <a:r>
              <a:rPr lang="en-US" altLang="zh-CN" dirty="0"/>
              <a:t>Enthalpy</a:t>
            </a:r>
            <a:endParaRPr lang="zh-CN" altLang="en-US" dirty="0"/>
          </a:p>
        </p:txBody>
      </p:sp>
      <p:sp>
        <p:nvSpPr>
          <p:cNvPr id="7" name="TextBox 6"/>
          <p:cNvSpPr txBox="1"/>
          <p:nvPr/>
        </p:nvSpPr>
        <p:spPr>
          <a:xfrm>
            <a:off x="952366" y="5938910"/>
            <a:ext cx="696024" cy="461665"/>
          </a:xfrm>
          <a:prstGeom prst="rect">
            <a:avLst/>
          </a:prstGeom>
          <a:noFill/>
        </p:spPr>
        <p:txBody>
          <a:bodyPr wrap="none" rtlCol="0">
            <a:spAutoFit/>
          </a:bodyPr>
          <a:lstStyle/>
          <a:p>
            <a:r>
              <a:rPr lang="en-US" altLang="zh-CN" sz="1200" dirty="0"/>
              <a:t>Internal</a:t>
            </a:r>
          </a:p>
          <a:p>
            <a:r>
              <a:rPr lang="en-US" altLang="zh-CN" sz="1200" dirty="0"/>
              <a:t>energy</a:t>
            </a:r>
            <a:endParaRPr lang="zh-CN" altLang="en-US" sz="1200" dirty="0"/>
          </a:p>
        </p:txBody>
      </p:sp>
      <p:sp>
        <p:nvSpPr>
          <p:cNvPr id="11" name="TextBox 10"/>
          <p:cNvSpPr txBox="1"/>
          <p:nvPr/>
        </p:nvSpPr>
        <p:spPr>
          <a:xfrm>
            <a:off x="1800790" y="5938909"/>
            <a:ext cx="652743" cy="461665"/>
          </a:xfrm>
          <a:prstGeom prst="rect">
            <a:avLst/>
          </a:prstGeom>
          <a:noFill/>
        </p:spPr>
        <p:txBody>
          <a:bodyPr wrap="none" rtlCol="0">
            <a:spAutoFit/>
          </a:bodyPr>
          <a:lstStyle/>
          <a:p>
            <a:r>
              <a:rPr lang="en-US" altLang="zh-CN" sz="1200" dirty="0"/>
              <a:t>Flow</a:t>
            </a:r>
          </a:p>
          <a:p>
            <a:r>
              <a:rPr lang="en-US" altLang="zh-CN" sz="1200" dirty="0"/>
              <a:t>energy</a:t>
            </a:r>
            <a:endParaRPr lang="zh-CN" altLang="en-US" sz="1200" dirty="0"/>
          </a:p>
        </p:txBody>
      </p:sp>
    </p:spTree>
    <p:extLst>
      <p:ext uri="{BB962C8B-B14F-4D97-AF65-F5344CB8AC3E}">
        <p14:creationId xmlns:p14="http://schemas.microsoft.com/office/powerpoint/2010/main" val="12614792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3026" y="77638"/>
            <a:ext cx="3139834" cy="461665"/>
          </a:xfrm>
          <a:prstGeom prst="rect">
            <a:avLst/>
          </a:prstGeom>
          <a:noFill/>
        </p:spPr>
        <p:txBody>
          <a:bodyPr wrap="none" rtlCol="0">
            <a:spAutoFit/>
          </a:bodyPr>
          <a:lstStyle/>
          <a:p>
            <a:r>
              <a:rPr lang="en-US" altLang="zh-CN" sz="2400" dirty="0">
                <a:solidFill>
                  <a:srgbClr val="FF0000"/>
                </a:solidFill>
              </a:rPr>
              <a:t>Joule-Thomson effect</a:t>
            </a:r>
            <a:endParaRPr lang="zh-CN" altLang="en-US" sz="2400" dirty="0">
              <a:solidFill>
                <a:srgbClr val="FF0000"/>
              </a:solidFill>
            </a:endParaRPr>
          </a:p>
        </p:txBody>
      </p:sp>
      <p:sp>
        <p:nvSpPr>
          <p:cNvPr id="3" name="TextBox 2"/>
          <p:cNvSpPr txBox="1"/>
          <p:nvPr/>
        </p:nvSpPr>
        <p:spPr>
          <a:xfrm>
            <a:off x="439946" y="746033"/>
            <a:ext cx="7996687" cy="923330"/>
          </a:xfrm>
          <a:prstGeom prst="rect">
            <a:avLst/>
          </a:prstGeom>
          <a:noFill/>
        </p:spPr>
        <p:txBody>
          <a:bodyPr wrap="square" rtlCol="0">
            <a:spAutoFit/>
          </a:bodyPr>
          <a:lstStyle/>
          <a:p>
            <a:r>
              <a:rPr lang="en-US" altLang="zh-CN" dirty="0"/>
              <a:t>The temperature change of a real gas or liquid (as differentiated from an ideal gas) when it is forced through a valve or porous plug while keeping it insulated so that no heat is exchanged with the environment.</a:t>
            </a:r>
            <a:endParaRPr lang="zh-CN" altLang="en-US" dirty="0"/>
          </a:p>
        </p:txBody>
      </p:sp>
      <p:graphicFrame>
        <p:nvGraphicFramePr>
          <p:cNvPr id="4" name="对象 3"/>
          <p:cNvGraphicFramePr>
            <a:graphicFrameLocks noChangeAspect="1"/>
          </p:cNvGraphicFramePr>
          <p:nvPr/>
        </p:nvGraphicFramePr>
        <p:xfrm>
          <a:off x="652463" y="1968500"/>
          <a:ext cx="1489075" cy="973138"/>
        </p:xfrm>
        <a:graphic>
          <a:graphicData uri="http://schemas.openxmlformats.org/presentationml/2006/ole">
            <mc:AlternateContent xmlns:mc="http://schemas.openxmlformats.org/markup-compatibility/2006">
              <mc:Choice xmlns:v="urn:schemas-microsoft-com:vml" Requires="v">
                <p:oleObj name="Equation" r:id="rId2" imgW="660240" imgH="431640" progId="Equation.DSMT4">
                  <p:embed/>
                </p:oleObj>
              </mc:Choice>
              <mc:Fallback>
                <p:oleObj name="Equation" r:id="rId2" imgW="660240" imgH="431640" progId="Equation.DSMT4">
                  <p:embed/>
                  <p:pic>
                    <p:nvPicPr>
                      <p:cNvPr id="4" name="对象 3"/>
                      <p:cNvPicPr>
                        <a:picLocks noChangeAspect="1" noChangeArrowheads="1"/>
                      </p:cNvPicPr>
                      <p:nvPr/>
                    </p:nvPicPr>
                    <p:blipFill>
                      <a:blip r:embed="rId3"/>
                      <a:srcRect/>
                      <a:stretch>
                        <a:fillRect/>
                      </a:stretch>
                    </p:blipFill>
                    <p:spPr bwMode="auto">
                      <a:xfrm>
                        <a:off x="652463" y="1968500"/>
                        <a:ext cx="1489075" cy="973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2777706" y="2260420"/>
            <a:ext cx="4766048" cy="923330"/>
          </a:xfrm>
          <a:prstGeom prst="rect">
            <a:avLst/>
          </a:prstGeom>
          <a:noFill/>
        </p:spPr>
        <p:txBody>
          <a:bodyPr wrap="none" rtlCol="0">
            <a:spAutoFit/>
          </a:bodyPr>
          <a:lstStyle/>
          <a:p>
            <a:r>
              <a:rPr lang="el-GR" altLang="zh-CN" dirty="0"/>
              <a:t>μ</a:t>
            </a:r>
            <a:r>
              <a:rPr lang="en-US" altLang="zh-CN" baseline="-25000" dirty="0"/>
              <a:t>J </a:t>
            </a:r>
            <a:r>
              <a:rPr lang="en-US" altLang="zh-CN" dirty="0"/>
              <a:t> &gt;0 temperature decrease after throttling </a:t>
            </a:r>
          </a:p>
          <a:p>
            <a:r>
              <a:rPr lang="el-GR" altLang="zh-CN" dirty="0"/>
              <a:t>μ</a:t>
            </a:r>
            <a:r>
              <a:rPr lang="en-US" altLang="zh-CN" baseline="-25000" dirty="0"/>
              <a:t>J </a:t>
            </a:r>
            <a:r>
              <a:rPr lang="en-US" altLang="zh-CN" dirty="0"/>
              <a:t> =0 temperature no-change after throttling </a:t>
            </a:r>
          </a:p>
          <a:p>
            <a:r>
              <a:rPr lang="el-GR" altLang="zh-CN" dirty="0"/>
              <a:t>μ</a:t>
            </a:r>
            <a:r>
              <a:rPr lang="en-US" altLang="zh-CN" baseline="-25000" dirty="0"/>
              <a:t>J </a:t>
            </a:r>
            <a:r>
              <a:rPr lang="en-US" altLang="zh-CN" dirty="0"/>
              <a:t> &lt;0 temperature increase after throttling </a:t>
            </a:r>
          </a:p>
        </p:txBody>
      </p:sp>
      <p:graphicFrame>
        <p:nvGraphicFramePr>
          <p:cNvPr id="6" name="对象 5"/>
          <p:cNvGraphicFramePr>
            <a:graphicFrameLocks noChangeAspect="1"/>
          </p:cNvGraphicFramePr>
          <p:nvPr/>
        </p:nvGraphicFramePr>
        <p:xfrm>
          <a:off x="766013" y="4001040"/>
          <a:ext cx="4983163" cy="1889125"/>
        </p:xfrm>
        <a:graphic>
          <a:graphicData uri="http://schemas.openxmlformats.org/presentationml/2006/ole">
            <mc:AlternateContent xmlns:mc="http://schemas.openxmlformats.org/markup-compatibility/2006">
              <mc:Choice xmlns:v="urn:schemas-microsoft-com:vml" Requires="v">
                <p:oleObj name="Equation" r:id="rId4" imgW="2209680" imgH="838080" progId="Equation.DSMT4">
                  <p:embed/>
                </p:oleObj>
              </mc:Choice>
              <mc:Fallback>
                <p:oleObj name="Equation" r:id="rId4" imgW="2209680" imgH="838080" progId="Equation.DSMT4">
                  <p:embed/>
                  <p:pic>
                    <p:nvPicPr>
                      <p:cNvPr id="6" name="对象 5"/>
                      <p:cNvPicPr>
                        <a:picLocks noChangeAspect="1" noChangeArrowheads="1"/>
                      </p:cNvPicPr>
                      <p:nvPr/>
                    </p:nvPicPr>
                    <p:blipFill>
                      <a:blip r:embed="rId5"/>
                      <a:srcRect/>
                      <a:stretch>
                        <a:fillRect/>
                      </a:stretch>
                    </p:blipFill>
                    <p:spPr bwMode="auto">
                      <a:xfrm>
                        <a:off x="766013" y="4001040"/>
                        <a:ext cx="4983163" cy="18891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252601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37755" y="-19510"/>
            <a:ext cx="5873750" cy="119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Ideal Vapor-Compression Refrigeration Cycle</a:t>
            </a:r>
            <a:endParaRPr lang="en-US" sz="3200" dirty="0">
              <a:solidFill>
                <a:srgbClr val="FF0000"/>
              </a:solidFill>
            </a:endParaRPr>
          </a:p>
        </p:txBody>
      </p:sp>
      <p:pic>
        <p:nvPicPr>
          <p:cNvPr id="164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609725"/>
            <a:ext cx="3429343" cy="417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48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944" y="1800225"/>
            <a:ext cx="2546869"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48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7400" y="4346258"/>
            <a:ext cx="3352800"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486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5375" y="4921568"/>
            <a:ext cx="24384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487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8230" y="5611178"/>
            <a:ext cx="2409825"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08120" y="1698352"/>
            <a:ext cx="2250440" cy="2300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6692761" y="824508"/>
            <a:ext cx="2168094" cy="369332"/>
          </a:xfrm>
          <a:prstGeom prst="rect">
            <a:avLst/>
          </a:prstGeom>
          <a:noFill/>
        </p:spPr>
        <p:txBody>
          <a:bodyPr wrap="none" rtlCol="0">
            <a:spAutoFit/>
          </a:bodyPr>
          <a:lstStyle/>
          <a:p>
            <a:r>
              <a:rPr lang="en-US" altLang="zh-CN" dirty="0"/>
              <a:t>Enthalpy,</a:t>
            </a:r>
            <a:r>
              <a:rPr lang="zh-CN" altLang="en-US" dirty="0"/>
              <a:t> </a:t>
            </a:r>
            <a:r>
              <a:rPr lang="en-US" altLang="zh-CN" dirty="0"/>
              <a:t>H= U+PV</a:t>
            </a:r>
            <a:endParaRPr lang="zh-CN" altLang="en-US" dirty="0"/>
          </a:p>
        </p:txBody>
      </p:sp>
      <p:sp>
        <p:nvSpPr>
          <p:cNvPr id="12" name="文本框 11">
            <a:extLst>
              <a:ext uri="{FF2B5EF4-FFF2-40B4-BE49-F238E27FC236}">
                <a16:creationId xmlns:a16="http://schemas.microsoft.com/office/drawing/2014/main" id="{D775612D-5D06-49DB-9860-504528C81246}"/>
              </a:ext>
            </a:extLst>
          </p:cNvPr>
          <p:cNvSpPr txBox="1"/>
          <p:nvPr/>
        </p:nvSpPr>
        <p:spPr>
          <a:xfrm>
            <a:off x="4888230" y="6116122"/>
            <a:ext cx="1524000" cy="369332"/>
          </a:xfrm>
          <a:prstGeom prst="rect">
            <a:avLst/>
          </a:prstGeom>
          <a:noFill/>
        </p:spPr>
        <p:txBody>
          <a:bodyPr wrap="square" rtlCol="0">
            <a:spAutoFit/>
          </a:bodyPr>
          <a:lstStyle/>
          <a:p>
            <a:r>
              <a:rPr lang="en-US" altLang="zh-CN" b="1" dirty="0">
                <a:solidFill>
                  <a:srgbClr val="7030A0"/>
                </a:solidFill>
              </a:rPr>
              <a:t>Quiz 4</a:t>
            </a:r>
            <a:r>
              <a:rPr lang="zh-CN" altLang="en-US" b="1" dirty="0">
                <a:solidFill>
                  <a:srgbClr val="7030A0"/>
                </a:solidFill>
              </a:rPr>
              <a:t>：</a:t>
            </a:r>
            <a:r>
              <a:rPr lang="en-US" altLang="zh-CN" b="1" dirty="0">
                <a:solidFill>
                  <a:srgbClr val="7030A0"/>
                </a:solidFill>
              </a:rPr>
              <a:t>1</a:t>
            </a:r>
            <a:endParaRPr lang="zh-CN" altLang="en-US" b="1" dirty="0">
              <a:solidFill>
                <a:srgbClr val="7030A0"/>
              </a:solidFill>
            </a:endParaRPr>
          </a:p>
        </p:txBody>
      </p:sp>
    </p:spTree>
    <p:extLst>
      <p:ext uri="{BB962C8B-B14F-4D97-AF65-F5344CB8AC3E}">
        <p14:creationId xmlns:p14="http://schemas.microsoft.com/office/powerpoint/2010/main" val="16131444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4D280FB-7635-41F7-900D-8A90D0EF2CEE}"/>
              </a:ext>
            </a:extLst>
          </p:cNvPr>
          <p:cNvSpPr txBox="1"/>
          <p:nvPr/>
        </p:nvSpPr>
        <p:spPr>
          <a:xfrm>
            <a:off x="304800" y="152400"/>
            <a:ext cx="2514600" cy="369332"/>
          </a:xfrm>
          <a:prstGeom prst="rect">
            <a:avLst/>
          </a:prstGeom>
          <a:noFill/>
        </p:spPr>
        <p:txBody>
          <a:bodyPr wrap="square" rtlCol="0">
            <a:spAutoFit/>
          </a:bodyPr>
          <a:lstStyle/>
          <a:p>
            <a:r>
              <a:rPr lang="en-US" altLang="zh-CN" b="1" dirty="0">
                <a:solidFill>
                  <a:srgbClr val="7030A0"/>
                </a:solidFill>
              </a:rPr>
              <a:t>Homework 4</a:t>
            </a:r>
            <a:r>
              <a:rPr lang="zh-CN" altLang="en-US" b="1" dirty="0">
                <a:solidFill>
                  <a:srgbClr val="7030A0"/>
                </a:solidFill>
              </a:rPr>
              <a:t>：</a:t>
            </a:r>
            <a:r>
              <a:rPr lang="en-US" altLang="zh-CN" b="1" dirty="0">
                <a:solidFill>
                  <a:srgbClr val="7030A0"/>
                </a:solidFill>
              </a:rPr>
              <a:t>3</a:t>
            </a:r>
            <a:endParaRPr lang="zh-CN" altLang="en-US" b="1" dirty="0">
              <a:solidFill>
                <a:srgbClr val="7030A0"/>
              </a:solidFill>
            </a:endParaRPr>
          </a:p>
        </p:txBody>
      </p:sp>
      <p:sp>
        <p:nvSpPr>
          <p:cNvPr id="5" name="文本框 4">
            <a:extLst>
              <a:ext uri="{FF2B5EF4-FFF2-40B4-BE49-F238E27FC236}">
                <a16:creationId xmlns:a16="http://schemas.microsoft.com/office/drawing/2014/main" id="{7AD54B8A-8144-49C9-8656-E35DB5474F8D}"/>
              </a:ext>
            </a:extLst>
          </p:cNvPr>
          <p:cNvSpPr txBox="1"/>
          <p:nvPr/>
        </p:nvSpPr>
        <p:spPr>
          <a:xfrm>
            <a:off x="304800" y="457200"/>
            <a:ext cx="8229600" cy="2308324"/>
          </a:xfrm>
          <a:prstGeom prst="rect">
            <a:avLst/>
          </a:prstGeom>
          <a:noFill/>
        </p:spPr>
        <p:txBody>
          <a:bodyPr wrap="square">
            <a:spAutoFit/>
          </a:bodyPr>
          <a:lstStyle/>
          <a:p>
            <a:r>
              <a:rPr lang="en-US" altLang="zh-CN" sz="1800" dirty="0">
                <a:effectLst/>
                <a:latin typeface="Times New Roman" panose="02020603050405020304" pitchFamily="18" charset="0"/>
                <a:ea typeface="宋体" panose="02010600030101010101" pitchFamily="2" charset="-122"/>
              </a:rPr>
              <a:t>Refrigerant-134a enters the compressor of a refrigerator as superheated vapor at 0.14 MPa and -10°C at a rate of 0.12 kg/s, and it leaves at 0.7 MPa and 50°C. The refrigerant is cooled in the condenser to 24°C and 0.65 MPa, and it is throttled to 0.15 MPa. Disregarding any heat transfer and pressure drops in the connecting lines between the components, show the cycle on a </a:t>
            </a:r>
            <a:r>
              <a:rPr lang="en-US" altLang="zh-CN" sz="1800" i="1" dirty="0">
                <a:effectLst/>
                <a:latin typeface="Times New Roman" panose="02020603050405020304" pitchFamily="18" charset="0"/>
                <a:ea typeface="宋体" panose="02010600030101010101" pitchFamily="2" charset="-122"/>
              </a:rPr>
              <a:t>T-s</a:t>
            </a:r>
            <a:r>
              <a:rPr lang="en-US" altLang="zh-CN" sz="1800" dirty="0">
                <a:effectLst/>
                <a:latin typeface="Times New Roman" panose="02020603050405020304" pitchFamily="18" charset="0"/>
                <a:ea typeface="宋体" panose="02010600030101010101" pitchFamily="2" charset="-122"/>
              </a:rPr>
              <a:t> diagram with respect to saturation lines, and determine (a) the rate of heat removal from the refrigerated space and the power input to the compressor, (b) the isentropic efficiency of the compressor, and (c) the COP of the refrigerator.</a:t>
            </a:r>
            <a:endParaRPr lang="zh-CN" altLang="en-US" dirty="0"/>
          </a:p>
        </p:txBody>
      </p:sp>
      <p:pic>
        <p:nvPicPr>
          <p:cNvPr id="6" name="图片 5">
            <a:extLst>
              <a:ext uri="{FF2B5EF4-FFF2-40B4-BE49-F238E27FC236}">
                <a16:creationId xmlns:a16="http://schemas.microsoft.com/office/drawing/2014/main" id="{C829045B-D630-48E9-8BA7-266841032CD8}"/>
              </a:ext>
            </a:extLst>
          </p:cNvPr>
          <p:cNvPicPr>
            <a:picLocks noChangeAspect="1"/>
          </p:cNvPicPr>
          <p:nvPr/>
        </p:nvPicPr>
        <p:blipFill>
          <a:blip r:embed="rId2"/>
          <a:stretch>
            <a:fillRect/>
          </a:stretch>
        </p:blipFill>
        <p:spPr>
          <a:xfrm>
            <a:off x="-1600200" y="2667000"/>
            <a:ext cx="7140759" cy="3505200"/>
          </a:xfrm>
          <a:prstGeom prst="rect">
            <a:avLst/>
          </a:prstGeom>
        </p:spPr>
      </p:pic>
      <p:graphicFrame>
        <p:nvGraphicFramePr>
          <p:cNvPr id="7" name="对象 6">
            <a:extLst>
              <a:ext uri="{FF2B5EF4-FFF2-40B4-BE49-F238E27FC236}">
                <a16:creationId xmlns:a16="http://schemas.microsoft.com/office/drawing/2014/main" id="{F10EAFF7-EF0D-4488-B447-DB6A4950ED26}"/>
              </a:ext>
            </a:extLst>
          </p:cNvPr>
          <p:cNvGraphicFramePr>
            <a:graphicFrameLocks noChangeAspect="1"/>
          </p:cNvGraphicFramePr>
          <p:nvPr>
            <p:extLst>
              <p:ext uri="{D42A27DB-BD31-4B8C-83A1-F6EECF244321}">
                <p14:modId xmlns:p14="http://schemas.microsoft.com/office/powerpoint/2010/main" val="3585574501"/>
              </p:ext>
            </p:extLst>
          </p:nvPr>
        </p:nvGraphicFramePr>
        <p:xfrm>
          <a:off x="3657600" y="3088979"/>
          <a:ext cx="5396927" cy="2819400"/>
        </p:xfrm>
        <a:graphic>
          <a:graphicData uri="http://schemas.openxmlformats.org/presentationml/2006/ole">
            <mc:AlternateContent xmlns:mc="http://schemas.openxmlformats.org/markup-compatibility/2006">
              <mc:Choice xmlns:v="urn:schemas-microsoft-com:vml" Requires="v">
                <p:oleObj name="Equation" r:id="rId3" imgW="3506096" imgH="1831717" progId="Equation.DSMT4">
                  <p:embed/>
                </p:oleObj>
              </mc:Choice>
              <mc:Fallback>
                <p:oleObj name="Equation" r:id="rId3" imgW="3506096" imgH="1831717" progId="Equation.DSMT4">
                  <p:embed/>
                  <p:pic>
                    <p:nvPicPr>
                      <p:cNvPr id="7" name="对象 6">
                        <a:extLst>
                          <a:ext uri="{FF2B5EF4-FFF2-40B4-BE49-F238E27FC236}">
                            <a16:creationId xmlns:a16="http://schemas.microsoft.com/office/drawing/2014/main" id="{F10EAFF7-EF0D-4488-B447-DB6A4950ED26}"/>
                          </a:ext>
                        </a:extLst>
                      </p:cNvPr>
                      <p:cNvPicPr/>
                      <p:nvPr/>
                    </p:nvPicPr>
                    <p:blipFill>
                      <a:blip r:embed="rId4"/>
                      <a:stretch>
                        <a:fillRect/>
                      </a:stretch>
                    </p:blipFill>
                    <p:spPr>
                      <a:xfrm>
                        <a:off x="3657600" y="3088979"/>
                        <a:ext cx="5396927" cy="2819400"/>
                      </a:xfrm>
                      <a:prstGeom prst="rect">
                        <a:avLst/>
                      </a:prstGeom>
                    </p:spPr>
                  </p:pic>
                </p:oleObj>
              </mc:Fallback>
            </mc:AlternateContent>
          </a:graphicData>
        </a:graphic>
      </p:graphicFrame>
    </p:spTree>
    <p:extLst>
      <p:ext uri="{BB962C8B-B14F-4D97-AF65-F5344CB8AC3E}">
        <p14:creationId xmlns:p14="http://schemas.microsoft.com/office/powerpoint/2010/main" val="38158278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p:txBody>
          <a:bodyPr>
            <a:normAutofit/>
          </a:bodyPr>
          <a:lstStyle/>
          <a:p>
            <a:r>
              <a:rPr lang="en-US" altLang="zh-CN" sz="2800" dirty="0">
                <a:solidFill>
                  <a:srgbClr val="FF0000"/>
                </a:solidFill>
              </a:rPr>
              <a:t>13. Silent</a:t>
            </a:r>
            <a:r>
              <a:rPr lang="zh-CN" altLang="en-US" sz="2800" dirty="0">
                <a:solidFill>
                  <a:srgbClr val="FF0000"/>
                </a:solidFill>
              </a:rPr>
              <a:t> </a:t>
            </a:r>
            <a:r>
              <a:rPr lang="en-US" altLang="zh-CN" sz="2800" dirty="0">
                <a:solidFill>
                  <a:srgbClr val="FF0000"/>
                </a:solidFill>
              </a:rPr>
              <a:t>power generator and refrigerator </a:t>
            </a:r>
          </a:p>
        </p:txBody>
      </p:sp>
    </p:spTree>
    <p:extLst>
      <p:ext uri="{BB962C8B-B14F-4D97-AF65-F5344CB8AC3E}">
        <p14:creationId xmlns:p14="http://schemas.microsoft.com/office/powerpoint/2010/main" val="1921212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 r="59987" b="14363"/>
          <a:stretch/>
        </p:blipFill>
        <p:spPr bwMode="auto">
          <a:xfrm>
            <a:off x="609600" y="1435103"/>
            <a:ext cx="2362200" cy="3262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9110" r="-4383" b="18363"/>
          <a:stretch/>
        </p:blipFill>
        <p:spPr bwMode="auto">
          <a:xfrm>
            <a:off x="3576456" y="1963579"/>
            <a:ext cx="3404203" cy="274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807930" y="4697849"/>
            <a:ext cx="1965539" cy="923330"/>
          </a:xfrm>
          <a:prstGeom prst="rect">
            <a:avLst/>
          </a:prstGeom>
          <a:noFill/>
        </p:spPr>
        <p:txBody>
          <a:bodyPr wrap="none" rtlCol="0">
            <a:spAutoFit/>
          </a:bodyPr>
          <a:lstStyle/>
          <a:p>
            <a:pPr algn="ctr"/>
            <a:r>
              <a:rPr lang="en-US" b="1" dirty="0"/>
              <a:t>Thomas J. Seebeck</a:t>
            </a:r>
          </a:p>
          <a:p>
            <a:pPr algn="ctr"/>
            <a:r>
              <a:rPr lang="en-US" dirty="0"/>
              <a:t>German physicist</a:t>
            </a:r>
          </a:p>
          <a:p>
            <a:pPr algn="ctr"/>
            <a:r>
              <a:rPr lang="en-US" dirty="0"/>
              <a:t>(1770-1831)</a:t>
            </a:r>
          </a:p>
        </p:txBody>
      </p:sp>
      <p:sp>
        <p:nvSpPr>
          <p:cNvPr id="10" name="Rectangle 9"/>
          <p:cNvSpPr/>
          <p:nvPr/>
        </p:nvSpPr>
        <p:spPr>
          <a:xfrm>
            <a:off x="3429000" y="5234970"/>
            <a:ext cx="5339035" cy="861774"/>
          </a:xfrm>
          <a:prstGeom prst="rect">
            <a:avLst/>
          </a:prstGeom>
        </p:spPr>
        <p:txBody>
          <a:bodyPr wrap="square">
            <a:spAutoFit/>
          </a:bodyPr>
          <a:lstStyle/>
          <a:p>
            <a:pPr algn="ctr"/>
            <a:r>
              <a:rPr lang="en-US" b="1" dirty="0">
                <a:solidFill>
                  <a:srgbClr val="FF0000"/>
                </a:solidFill>
              </a:rPr>
              <a:t>An electrical voltage  was produced </a:t>
            </a:r>
          </a:p>
          <a:p>
            <a:pPr algn="ctr"/>
            <a:r>
              <a:rPr lang="en-US" sz="1600" b="1" dirty="0"/>
              <a:t>by heating the junction between two different electrical conductors (e.g. Cu and Fe)</a:t>
            </a:r>
          </a:p>
        </p:txBody>
      </p:sp>
      <p:sp>
        <p:nvSpPr>
          <p:cNvPr id="11" name="TextBox 10"/>
          <p:cNvSpPr txBox="1"/>
          <p:nvPr/>
        </p:nvSpPr>
        <p:spPr>
          <a:xfrm>
            <a:off x="5118551" y="1430179"/>
            <a:ext cx="3192284" cy="523220"/>
          </a:xfrm>
          <a:prstGeom prst="rect">
            <a:avLst/>
          </a:prstGeom>
          <a:noFill/>
        </p:spPr>
        <p:txBody>
          <a:bodyPr wrap="none" rtlCol="0">
            <a:spAutoFit/>
          </a:bodyPr>
          <a:lstStyle/>
          <a:p>
            <a:r>
              <a:rPr lang="en-US" sz="2800" dirty="0"/>
              <a:t>Seebeck Effect, 1821</a:t>
            </a:r>
          </a:p>
        </p:txBody>
      </p:sp>
      <p:graphicFrame>
        <p:nvGraphicFramePr>
          <p:cNvPr id="18" name="Object 17"/>
          <p:cNvGraphicFramePr>
            <a:graphicFrameLocks noChangeAspect="1"/>
          </p:cNvGraphicFramePr>
          <p:nvPr/>
        </p:nvGraphicFramePr>
        <p:xfrm>
          <a:off x="6324600" y="2247991"/>
          <a:ext cx="2349500" cy="546100"/>
        </p:xfrm>
        <a:graphic>
          <a:graphicData uri="http://schemas.openxmlformats.org/presentationml/2006/ole">
            <mc:AlternateContent xmlns:mc="http://schemas.openxmlformats.org/markup-compatibility/2006">
              <mc:Choice xmlns:v="urn:schemas-microsoft-com:vml" Requires="v">
                <p:oleObj name="Equation" r:id="rId3" imgW="1091880" imgH="253800" progId="Equation.DSMT4">
                  <p:embed/>
                </p:oleObj>
              </mc:Choice>
              <mc:Fallback>
                <p:oleObj name="Equation" r:id="rId3" imgW="1091880" imgH="253800" progId="Equation.DSMT4">
                  <p:embed/>
                  <p:pic>
                    <p:nvPicPr>
                      <p:cNvPr id="18" name="Object 17"/>
                      <p:cNvPicPr/>
                      <p:nvPr/>
                    </p:nvPicPr>
                    <p:blipFill>
                      <a:blip r:embed="rId4"/>
                      <a:stretch>
                        <a:fillRect/>
                      </a:stretch>
                    </p:blipFill>
                    <p:spPr>
                      <a:xfrm>
                        <a:off x="6324600" y="2247991"/>
                        <a:ext cx="2349500" cy="546100"/>
                      </a:xfrm>
                      <a:prstGeom prst="rect">
                        <a:avLst/>
                      </a:prstGeom>
                    </p:spPr>
                  </p:pic>
                </p:oleObj>
              </mc:Fallback>
            </mc:AlternateContent>
          </a:graphicData>
        </a:graphic>
      </p:graphicFrame>
      <p:sp>
        <p:nvSpPr>
          <p:cNvPr id="19" name="TextBox 18"/>
          <p:cNvSpPr txBox="1"/>
          <p:nvPr/>
        </p:nvSpPr>
        <p:spPr>
          <a:xfrm>
            <a:off x="4063176" y="4348931"/>
            <a:ext cx="317716" cy="369332"/>
          </a:xfrm>
          <a:prstGeom prst="rect">
            <a:avLst/>
          </a:prstGeom>
          <a:noFill/>
        </p:spPr>
        <p:txBody>
          <a:bodyPr wrap="none" rtlCol="0">
            <a:spAutoFit/>
          </a:bodyPr>
          <a:lstStyle/>
          <a:p>
            <a:r>
              <a:rPr lang="en-US" dirty="0"/>
              <a:t>A</a:t>
            </a:r>
          </a:p>
        </p:txBody>
      </p:sp>
      <p:sp>
        <p:nvSpPr>
          <p:cNvPr id="21" name="TextBox 20"/>
          <p:cNvSpPr txBox="1"/>
          <p:nvPr/>
        </p:nvSpPr>
        <p:spPr>
          <a:xfrm>
            <a:off x="6096000" y="4316665"/>
            <a:ext cx="309700" cy="369332"/>
          </a:xfrm>
          <a:prstGeom prst="rect">
            <a:avLst/>
          </a:prstGeom>
          <a:noFill/>
        </p:spPr>
        <p:txBody>
          <a:bodyPr wrap="none" rtlCol="0">
            <a:spAutoFit/>
          </a:bodyPr>
          <a:lstStyle/>
          <a:p>
            <a:r>
              <a:rPr lang="en-US" dirty="0"/>
              <a:t>B</a:t>
            </a:r>
          </a:p>
        </p:txBody>
      </p:sp>
      <p:sp>
        <p:nvSpPr>
          <p:cNvPr id="22" name="TextBox 21"/>
          <p:cNvSpPr txBox="1"/>
          <p:nvPr/>
        </p:nvSpPr>
        <p:spPr>
          <a:xfrm>
            <a:off x="6542750" y="3063371"/>
            <a:ext cx="2252220" cy="461665"/>
          </a:xfrm>
          <a:prstGeom prst="rect">
            <a:avLst/>
          </a:prstGeom>
          <a:noFill/>
        </p:spPr>
        <p:txBody>
          <a:bodyPr wrap="none" rtlCol="0">
            <a:spAutoFit/>
          </a:bodyPr>
          <a:lstStyle/>
          <a:p>
            <a:r>
              <a:rPr lang="en-US" sz="2400" b="1" i="1" dirty="0">
                <a:solidFill>
                  <a:srgbClr val="FF0000"/>
                </a:solidFill>
              </a:rPr>
              <a:t>S</a:t>
            </a:r>
            <a:r>
              <a:rPr lang="en-US" dirty="0"/>
              <a:t>, Seebeck coefficient</a:t>
            </a:r>
          </a:p>
        </p:txBody>
      </p:sp>
      <p:sp>
        <p:nvSpPr>
          <p:cNvPr id="24" name="TextBox 23"/>
          <p:cNvSpPr txBox="1"/>
          <p:nvPr/>
        </p:nvSpPr>
        <p:spPr>
          <a:xfrm>
            <a:off x="6931279" y="3631049"/>
            <a:ext cx="1903021" cy="923330"/>
          </a:xfrm>
          <a:prstGeom prst="rect">
            <a:avLst/>
          </a:prstGeom>
          <a:noFill/>
        </p:spPr>
        <p:txBody>
          <a:bodyPr wrap="none" rtlCol="0">
            <a:spAutoFit/>
          </a:bodyPr>
          <a:lstStyle/>
          <a:p>
            <a:pPr algn="r"/>
            <a:r>
              <a:rPr lang="en-US" b="1" i="1" dirty="0" err="1"/>
              <a:t>eg</a:t>
            </a:r>
            <a:r>
              <a:rPr lang="en-US" b="1" i="1" dirty="0"/>
              <a:t>. </a:t>
            </a:r>
          </a:p>
          <a:p>
            <a:pPr algn="r"/>
            <a:r>
              <a:rPr lang="en-US" dirty="0"/>
              <a:t>Cu: +1.8 </a:t>
            </a:r>
            <a:r>
              <a:rPr lang="el-GR" dirty="0">
                <a:latin typeface="Times New Roman"/>
                <a:cs typeface="Times New Roman"/>
              </a:rPr>
              <a:t>μ</a:t>
            </a:r>
            <a:r>
              <a:rPr lang="en-US" dirty="0">
                <a:latin typeface="Times New Roman"/>
                <a:cs typeface="Times New Roman"/>
              </a:rPr>
              <a:t>V/K</a:t>
            </a:r>
          </a:p>
          <a:p>
            <a:pPr algn="r"/>
            <a:r>
              <a:rPr lang="en-US" dirty="0">
                <a:latin typeface="Times New Roman"/>
                <a:cs typeface="Times New Roman"/>
              </a:rPr>
              <a:t>Bi</a:t>
            </a:r>
            <a:r>
              <a:rPr lang="en-US" baseline="-25000" dirty="0">
                <a:latin typeface="Times New Roman"/>
                <a:cs typeface="Times New Roman"/>
              </a:rPr>
              <a:t>2</a:t>
            </a:r>
            <a:r>
              <a:rPr lang="en-US" dirty="0">
                <a:latin typeface="Times New Roman"/>
                <a:cs typeface="Times New Roman"/>
              </a:rPr>
              <a:t>Te</a:t>
            </a:r>
            <a:r>
              <a:rPr lang="en-US" baseline="-25000" dirty="0">
                <a:latin typeface="Times New Roman"/>
                <a:cs typeface="Times New Roman"/>
              </a:rPr>
              <a:t>3</a:t>
            </a:r>
            <a:r>
              <a:rPr lang="en-US" dirty="0">
                <a:latin typeface="Times New Roman"/>
                <a:cs typeface="Times New Roman"/>
              </a:rPr>
              <a:t>:+200 </a:t>
            </a:r>
            <a:r>
              <a:rPr lang="el-GR" dirty="0">
                <a:latin typeface="Times New Roman"/>
                <a:cs typeface="Times New Roman"/>
              </a:rPr>
              <a:t>μ</a:t>
            </a:r>
            <a:r>
              <a:rPr lang="en-US" dirty="0">
                <a:latin typeface="Times New Roman"/>
                <a:cs typeface="Times New Roman"/>
              </a:rPr>
              <a:t>V/K</a:t>
            </a:r>
          </a:p>
        </p:txBody>
      </p:sp>
      <p:sp>
        <p:nvSpPr>
          <p:cNvPr id="2" name="矩形 1"/>
          <p:cNvSpPr/>
          <p:nvPr/>
        </p:nvSpPr>
        <p:spPr>
          <a:xfrm>
            <a:off x="1189121" y="206514"/>
            <a:ext cx="3191771" cy="707886"/>
          </a:xfrm>
          <a:prstGeom prst="rect">
            <a:avLst/>
          </a:prstGeom>
        </p:spPr>
        <p:txBody>
          <a:bodyPr wrap="none">
            <a:spAutoFit/>
          </a:bodyPr>
          <a:lstStyle/>
          <a:p>
            <a:r>
              <a:rPr lang="en-US" altLang="zh-CN" sz="4000" dirty="0" err="1">
                <a:solidFill>
                  <a:srgbClr val="FF0000"/>
                </a:solidFill>
              </a:rPr>
              <a:t>Seebeck</a:t>
            </a:r>
            <a:r>
              <a:rPr lang="en-US" altLang="zh-CN" sz="4000" dirty="0">
                <a:solidFill>
                  <a:srgbClr val="FF0000"/>
                </a:solidFill>
              </a:rPr>
              <a:t> Effect</a:t>
            </a:r>
            <a:endParaRPr lang="zh-CN" altLang="en-US" sz="4000" dirty="0">
              <a:solidFill>
                <a:srgbClr val="FF0000"/>
              </a:solidFill>
            </a:endParaRPr>
          </a:p>
        </p:txBody>
      </p:sp>
      <p:sp>
        <p:nvSpPr>
          <p:cNvPr id="3" name="圆角矩形 2"/>
          <p:cNvSpPr/>
          <p:nvPr/>
        </p:nvSpPr>
        <p:spPr>
          <a:xfrm>
            <a:off x="457200" y="1391913"/>
            <a:ext cx="2895600" cy="4381666"/>
          </a:xfrm>
          <a:prstGeom prst="roundRect">
            <a:avLst>
              <a:gd name="adj" fmla="val 6867"/>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p:cNvSpPr/>
          <p:nvPr/>
        </p:nvSpPr>
        <p:spPr>
          <a:xfrm>
            <a:off x="3670750" y="1382983"/>
            <a:ext cx="5163549" cy="3776531"/>
          </a:xfrm>
          <a:prstGeom prst="roundRect">
            <a:avLst>
              <a:gd name="adj" fmla="val 6867"/>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0E74A845-102B-427F-969C-E12BA8F08E9F}"/>
              </a:ext>
            </a:extLst>
          </p:cNvPr>
          <p:cNvSpPr txBox="1"/>
          <p:nvPr/>
        </p:nvSpPr>
        <p:spPr>
          <a:xfrm>
            <a:off x="4888230" y="6116122"/>
            <a:ext cx="1524000" cy="369332"/>
          </a:xfrm>
          <a:prstGeom prst="rect">
            <a:avLst/>
          </a:prstGeom>
          <a:noFill/>
        </p:spPr>
        <p:txBody>
          <a:bodyPr wrap="square" rtlCol="0">
            <a:spAutoFit/>
          </a:bodyPr>
          <a:lstStyle/>
          <a:p>
            <a:r>
              <a:rPr lang="en-US" altLang="zh-CN" b="1" dirty="0">
                <a:solidFill>
                  <a:srgbClr val="7030A0"/>
                </a:solidFill>
              </a:rPr>
              <a:t>Quiz 4</a:t>
            </a:r>
            <a:r>
              <a:rPr lang="zh-CN" altLang="en-US" b="1" dirty="0">
                <a:solidFill>
                  <a:srgbClr val="7030A0"/>
                </a:solidFill>
              </a:rPr>
              <a:t>：</a:t>
            </a:r>
            <a:r>
              <a:rPr lang="en-US" altLang="zh-CN" b="1" dirty="0">
                <a:solidFill>
                  <a:srgbClr val="7030A0"/>
                </a:solidFill>
              </a:rPr>
              <a:t>2</a:t>
            </a:r>
            <a:endParaRPr lang="zh-CN" altLang="en-US" b="1" dirty="0">
              <a:solidFill>
                <a:srgbClr val="7030A0"/>
              </a:solidFill>
            </a:endParaRPr>
          </a:p>
        </p:txBody>
      </p:sp>
    </p:spTree>
    <p:extLst>
      <p:ext uri="{BB962C8B-B14F-4D97-AF65-F5344CB8AC3E}">
        <p14:creationId xmlns:p14="http://schemas.microsoft.com/office/powerpoint/2010/main" val="1210115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15654" y="292387"/>
            <a:ext cx="2455096" cy="584775"/>
          </a:xfrm>
          <a:prstGeom prst="rect">
            <a:avLst/>
          </a:prstGeom>
          <a:noFill/>
        </p:spPr>
        <p:txBody>
          <a:bodyPr wrap="none" rtlCol="0">
            <a:spAutoFit/>
          </a:bodyPr>
          <a:lstStyle/>
          <a:p>
            <a:r>
              <a:rPr lang="en-US" sz="3200" dirty="0" err="1">
                <a:solidFill>
                  <a:srgbClr val="FF0000"/>
                </a:solidFill>
              </a:rPr>
              <a:t>Peltier</a:t>
            </a:r>
            <a:r>
              <a:rPr lang="en-US" sz="3200" dirty="0">
                <a:solidFill>
                  <a:srgbClr val="FF0000"/>
                </a:solidFill>
              </a:rPr>
              <a:t> effect</a:t>
            </a:r>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64343" b="29566"/>
          <a:stretch/>
        </p:blipFill>
        <p:spPr bwMode="auto">
          <a:xfrm>
            <a:off x="771157" y="1503402"/>
            <a:ext cx="2241456" cy="289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990411" y="4483195"/>
            <a:ext cx="1764778" cy="1200329"/>
          </a:xfrm>
          <a:prstGeom prst="rect">
            <a:avLst/>
          </a:prstGeom>
        </p:spPr>
        <p:txBody>
          <a:bodyPr wrap="none">
            <a:spAutoFit/>
          </a:bodyPr>
          <a:lstStyle/>
          <a:p>
            <a:pPr algn="ctr"/>
            <a:r>
              <a:rPr lang="en-US" b="1" dirty="0"/>
              <a:t>Jean </a:t>
            </a:r>
            <a:r>
              <a:rPr lang="en-US" b="1" dirty="0" err="1"/>
              <a:t>C.A.Peltier</a:t>
            </a:r>
            <a:endParaRPr lang="en-US" dirty="0"/>
          </a:p>
          <a:p>
            <a:pPr algn="ctr"/>
            <a:r>
              <a:rPr lang="en-US" dirty="0"/>
              <a:t>French physicist </a:t>
            </a:r>
          </a:p>
          <a:p>
            <a:pPr algn="ctr"/>
            <a:r>
              <a:rPr lang="en-US" dirty="0"/>
              <a:t>and watchmaker</a:t>
            </a:r>
          </a:p>
          <a:p>
            <a:pPr algn="ctr"/>
            <a:r>
              <a:rPr lang="en-US" dirty="0"/>
              <a:t>(1775-1845)</a:t>
            </a:r>
          </a:p>
        </p:txBody>
      </p:sp>
      <p:sp>
        <p:nvSpPr>
          <p:cNvPr id="11" name="Rectangle 10"/>
          <p:cNvSpPr/>
          <p:nvPr/>
        </p:nvSpPr>
        <p:spPr>
          <a:xfrm>
            <a:off x="3666626" y="5303236"/>
            <a:ext cx="5163548" cy="1015663"/>
          </a:xfrm>
          <a:prstGeom prst="rect">
            <a:avLst/>
          </a:prstGeom>
        </p:spPr>
        <p:txBody>
          <a:bodyPr wrap="square">
            <a:spAutoFit/>
          </a:bodyPr>
          <a:lstStyle/>
          <a:p>
            <a:pPr algn="ctr"/>
            <a:r>
              <a:rPr lang="en-US" sz="2000" b="1" dirty="0">
                <a:solidFill>
                  <a:srgbClr val="FF0000"/>
                </a:solidFill>
              </a:rPr>
              <a:t>Cooling was produced </a:t>
            </a:r>
          </a:p>
          <a:p>
            <a:pPr algn="ctr"/>
            <a:r>
              <a:rPr lang="en-US" sz="2000" dirty="0"/>
              <a:t>at the junction of two dissimilar metals  as a current pass it</a:t>
            </a:r>
          </a:p>
        </p:txBody>
      </p:sp>
      <p:grpSp>
        <p:nvGrpSpPr>
          <p:cNvPr id="2" name="组合 1"/>
          <p:cNvGrpSpPr/>
          <p:nvPr/>
        </p:nvGrpSpPr>
        <p:grpSpPr>
          <a:xfrm>
            <a:off x="3505200" y="2113002"/>
            <a:ext cx="3575650" cy="3011270"/>
            <a:chOff x="3505200" y="2133600"/>
            <a:chExt cx="3575650" cy="3011270"/>
          </a:xfrm>
        </p:grpSpPr>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9611" t="10102" b="23681"/>
            <a:stretch/>
          </p:blipFill>
          <p:spPr bwMode="auto">
            <a:xfrm>
              <a:off x="3505200" y="2584012"/>
              <a:ext cx="3575650" cy="2560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5105400" y="2133600"/>
              <a:ext cx="941283" cy="369332"/>
            </a:xfrm>
            <a:prstGeom prst="rect">
              <a:avLst/>
            </a:prstGeom>
            <a:noFill/>
          </p:spPr>
          <p:txBody>
            <a:bodyPr wrap="none" rtlCol="0">
              <a:spAutoFit/>
            </a:bodyPr>
            <a:lstStyle/>
            <a:p>
              <a:r>
                <a:rPr lang="en-US" dirty="0"/>
                <a:t>Cooling </a:t>
              </a:r>
            </a:p>
          </p:txBody>
        </p:sp>
        <p:cxnSp>
          <p:nvCxnSpPr>
            <p:cNvPr id="15" name="Straight Arrow Connector 14"/>
            <p:cNvCxnSpPr/>
            <p:nvPr/>
          </p:nvCxnSpPr>
          <p:spPr>
            <a:xfrm flipH="1">
              <a:off x="5257800" y="4191000"/>
              <a:ext cx="56311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410200" y="3810000"/>
              <a:ext cx="242374" cy="369332"/>
            </a:xfrm>
            <a:prstGeom prst="rect">
              <a:avLst/>
            </a:prstGeom>
            <a:noFill/>
          </p:spPr>
          <p:txBody>
            <a:bodyPr wrap="none" rtlCol="0">
              <a:spAutoFit/>
            </a:bodyPr>
            <a:lstStyle/>
            <a:p>
              <a:r>
                <a:rPr lang="en-US" dirty="0"/>
                <a:t>I</a:t>
              </a:r>
            </a:p>
          </p:txBody>
        </p:sp>
        <p:sp>
          <p:nvSpPr>
            <p:cNvPr id="17" name="TextBox 16"/>
            <p:cNvSpPr txBox="1"/>
            <p:nvPr/>
          </p:nvSpPr>
          <p:spPr>
            <a:xfrm>
              <a:off x="3825539" y="3810000"/>
              <a:ext cx="822661" cy="369332"/>
            </a:xfrm>
            <a:prstGeom prst="rect">
              <a:avLst/>
            </a:prstGeom>
            <a:noFill/>
          </p:spPr>
          <p:txBody>
            <a:bodyPr wrap="none" rtlCol="0">
              <a:spAutoFit/>
            </a:bodyPr>
            <a:lstStyle/>
            <a:p>
              <a:r>
                <a:rPr lang="en-US" dirty="0"/>
                <a:t>N-type</a:t>
              </a:r>
            </a:p>
          </p:txBody>
        </p:sp>
        <p:sp>
          <p:nvSpPr>
            <p:cNvPr id="18" name="TextBox 17"/>
            <p:cNvSpPr txBox="1"/>
            <p:nvPr/>
          </p:nvSpPr>
          <p:spPr>
            <a:xfrm>
              <a:off x="6248400" y="3810000"/>
              <a:ext cx="792205" cy="369332"/>
            </a:xfrm>
            <a:prstGeom prst="rect">
              <a:avLst/>
            </a:prstGeom>
            <a:noFill/>
          </p:spPr>
          <p:txBody>
            <a:bodyPr wrap="none" rtlCol="0">
              <a:spAutoFit/>
            </a:bodyPr>
            <a:lstStyle/>
            <a:p>
              <a:r>
                <a:rPr lang="en-US" dirty="0"/>
                <a:t>P-type</a:t>
              </a:r>
            </a:p>
          </p:txBody>
        </p:sp>
      </p:grpSp>
      <p:graphicFrame>
        <p:nvGraphicFramePr>
          <p:cNvPr id="19" name="Object 18"/>
          <p:cNvGraphicFramePr>
            <a:graphicFrameLocks noChangeAspect="1"/>
          </p:cNvGraphicFramePr>
          <p:nvPr/>
        </p:nvGraphicFramePr>
        <p:xfrm>
          <a:off x="6427047" y="2417802"/>
          <a:ext cx="2212975" cy="546100"/>
        </p:xfrm>
        <a:graphic>
          <a:graphicData uri="http://schemas.openxmlformats.org/presentationml/2006/ole">
            <mc:AlternateContent xmlns:mc="http://schemas.openxmlformats.org/markup-compatibility/2006">
              <mc:Choice xmlns:v="urn:schemas-microsoft-com:vml" Requires="v">
                <p:oleObj name="Equation" r:id="rId3" imgW="1028520" imgH="253800" progId="Equation.DSMT4">
                  <p:embed/>
                </p:oleObj>
              </mc:Choice>
              <mc:Fallback>
                <p:oleObj name="Equation" r:id="rId3" imgW="1028520" imgH="253800" progId="Equation.DSMT4">
                  <p:embed/>
                  <p:pic>
                    <p:nvPicPr>
                      <p:cNvPr id="19" name="Object 18"/>
                      <p:cNvPicPr>
                        <a:picLocks noChangeAspect="1" noChangeArrowheads="1"/>
                      </p:cNvPicPr>
                      <p:nvPr/>
                    </p:nvPicPr>
                    <p:blipFill>
                      <a:blip r:embed="rId4"/>
                      <a:srcRect/>
                      <a:stretch>
                        <a:fillRect/>
                      </a:stretch>
                    </p:blipFill>
                    <p:spPr bwMode="auto">
                      <a:xfrm>
                        <a:off x="6427047" y="2417802"/>
                        <a:ext cx="221297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Box 19"/>
          <p:cNvSpPr txBox="1"/>
          <p:nvPr/>
        </p:nvSpPr>
        <p:spPr>
          <a:xfrm>
            <a:off x="6578659" y="3005327"/>
            <a:ext cx="2108141" cy="369332"/>
          </a:xfrm>
          <a:prstGeom prst="rect">
            <a:avLst/>
          </a:prstGeom>
          <a:noFill/>
        </p:spPr>
        <p:txBody>
          <a:bodyPr wrap="none" rtlCol="0">
            <a:spAutoFit/>
          </a:bodyPr>
          <a:lstStyle/>
          <a:p>
            <a:r>
              <a:rPr lang="el-GR" b="1" dirty="0">
                <a:latin typeface="Times New Roman" panose="02020603050405020304" pitchFamily="18" charset="0"/>
                <a:cs typeface="Times New Roman" panose="02020603050405020304" pitchFamily="18" charset="0"/>
              </a:rPr>
              <a:t>Π</a:t>
            </a:r>
            <a:r>
              <a:rPr lang="en-US" dirty="0"/>
              <a:t>, </a:t>
            </a:r>
            <a:r>
              <a:rPr lang="en-US" dirty="0" err="1"/>
              <a:t>Peltier</a:t>
            </a:r>
            <a:r>
              <a:rPr lang="en-US" dirty="0"/>
              <a:t> coefficient</a:t>
            </a:r>
          </a:p>
        </p:txBody>
      </p:sp>
      <p:sp>
        <p:nvSpPr>
          <p:cNvPr id="24" name="圆角矩形 23"/>
          <p:cNvSpPr/>
          <p:nvPr/>
        </p:nvSpPr>
        <p:spPr>
          <a:xfrm>
            <a:off x="457200" y="1388936"/>
            <a:ext cx="2895600" cy="4381666"/>
          </a:xfrm>
          <a:prstGeom prst="roundRect">
            <a:avLst>
              <a:gd name="adj" fmla="val 6867"/>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p:cNvSpPr txBox="1"/>
          <p:nvPr/>
        </p:nvSpPr>
        <p:spPr>
          <a:xfrm>
            <a:off x="4676887" y="1503402"/>
            <a:ext cx="2943113" cy="523220"/>
          </a:xfrm>
          <a:prstGeom prst="rect">
            <a:avLst/>
          </a:prstGeom>
          <a:noFill/>
        </p:spPr>
        <p:txBody>
          <a:bodyPr wrap="none" rtlCol="0">
            <a:spAutoFit/>
          </a:bodyPr>
          <a:lstStyle/>
          <a:p>
            <a:r>
              <a:rPr lang="en-US" sz="2800" dirty="0" err="1"/>
              <a:t>Peltier</a:t>
            </a:r>
            <a:r>
              <a:rPr lang="en-US" sz="2800" dirty="0"/>
              <a:t> effect, 1834</a:t>
            </a:r>
          </a:p>
        </p:txBody>
      </p:sp>
      <p:sp>
        <p:nvSpPr>
          <p:cNvPr id="26" name="圆角矩形 25"/>
          <p:cNvSpPr/>
          <p:nvPr/>
        </p:nvSpPr>
        <p:spPr>
          <a:xfrm>
            <a:off x="3670750" y="1380006"/>
            <a:ext cx="5163549" cy="3776531"/>
          </a:xfrm>
          <a:prstGeom prst="roundRect">
            <a:avLst>
              <a:gd name="adj" fmla="val 6867"/>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D808B527-25B1-4567-A3CF-16EA61F7C5E9}"/>
              </a:ext>
            </a:extLst>
          </p:cNvPr>
          <p:cNvSpPr txBox="1"/>
          <p:nvPr/>
        </p:nvSpPr>
        <p:spPr>
          <a:xfrm>
            <a:off x="5410200" y="6216871"/>
            <a:ext cx="1524000" cy="369332"/>
          </a:xfrm>
          <a:prstGeom prst="rect">
            <a:avLst/>
          </a:prstGeom>
          <a:noFill/>
        </p:spPr>
        <p:txBody>
          <a:bodyPr wrap="square" rtlCol="0">
            <a:spAutoFit/>
          </a:bodyPr>
          <a:lstStyle/>
          <a:p>
            <a:r>
              <a:rPr lang="en-US" altLang="zh-CN" b="1" dirty="0">
                <a:solidFill>
                  <a:srgbClr val="7030A0"/>
                </a:solidFill>
              </a:rPr>
              <a:t>Quiz 4</a:t>
            </a:r>
            <a:r>
              <a:rPr lang="zh-CN" altLang="en-US" b="1" dirty="0">
                <a:solidFill>
                  <a:srgbClr val="7030A0"/>
                </a:solidFill>
              </a:rPr>
              <a:t>：</a:t>
            </a:r>
            <a:r>
              <a:rPr lang="en-US" altLang="zh-CN" b="1" dirty="0">
                <a:solidFill>
                  <a:srgbClr val="7030A0"/>
                </a:solidFill>
              </a:rPr>
              <a:t>2</a:t>
            </a:r>
            <a:endParaRPr lang="zh-CN" altLang="en-US" b="1" dirty="0">
              <a:solidFill>
                <a:srgbClr val="7030A0"/>
              </a:solidFill>
            </a:endParaRPr>
          </a:p>
        </p:txBody>
      </p:sp>
    </p:spTree>
    <p:extLst>
      <p:ext uri="{BB962C8B-B14F-4D97-AF65-F5344CB8AC3E}">
        <p14:creationId xmlns:p14="http://schemas.microsoft.com/office/powerpoint/2010/main" val="12550197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37139" y="1229380"/>
            <a:ext cx="3359061" cy="523220"/>
          </a:xfrm>
          <a:prstGeom prst="rect">
            <a:avLst/>
          </a:prstGeom>
          <a:noFill/>
        </p:spPr>
        <p:txBody>
          <a:bodyPr wrap="none" rtlCol="0">
            <a:spAutoFit/>
          </a:bodyPr>
          <a:lstStyle/>
          <a:p>
            <a:r>
              <a:rPr lang="en-US" sz="2800" dirty="0"/>
              <a:t>Thomson effect, 1855</a:t>
            </a:r>
          </a:p>
        </p:txBody>
      </p:sp>
      <p:sp>
        <p:nvSpPr>
          <p:cNvPr id="3" name="Rectangle 7"/>
          <p:cNvSpPr/>
          <p:nvPr/>
        </p:nvSpPr>
        <p:spPr>
          <a:xfrm>
            <a:off x="571043" y="4076866"/>
            <a:ext cx="1822935" cy="1200329"/>
          </a:xfrm>
          <a:prstGeom prst="rect">
            <a:avLst/>
          </a:prstGeom>
        </p:spPr>
        <p:txBody>
          <a:bodyPr wrap="none">
            <a:spAutoFit/>
          </a:bodyPr>
          <a:lstStyle/>
          <a:p>
            <a:pPr algn="ctr"/>
            <a:r>
              <a:rPr lang="en-US" dirty="0"/>
              <a:t>William Thomson</a:t>
            </a:r>
          </a:p>
          <a:p>
            <a:pPr algn="ctr"/>
            <a:r>
              <a:rPr lang="en-US" dirty="0"/>
              <a:t>1</a:t>
            </a:r>
            <a:r>
              <a:rPr lang="en-US" baseline="30000" dirty="0"/>
              <a:t>st</a:t>
            </a:r>
            <a:r>
              <a:rPr lang="en-US" dirty="0"/>
              <a:t> Baron Kelvin </a:t>
            </a:r>
          </a:p>
          <a:p>
            <a:pPr algn="ctr"/>
            <a:r>
              <a:rPr lang="en-US" dirty="0"/>
              <a:t> British physicist</a:t>
            </a:r>
          </a:p>
          <a:p>
            <a:pPr algn="ctr"/>
            <a:r>
              <a:rPr lang="en-US" dirty="0"/>
              <a:t>(1824-1907)</a:t>
            </a:r>
          </a:p>
        </p:txBody>
      </p:sp>
      <p:grpSp>
        <p:nvGrpSpPr>
          <p:cNvPr id="4" name="组合 3"/>
          <p:cNvGrpSpPr/>
          <p:nvPr/>
        </p:nvGrpSpPr>
        <p:grpSpPr>
          <a:xfrm>
            <a:off x="3322427" y="1905000"/>
            <a:ext cx="3154573" cy="1957864"/>
            <a:chOff x="3142346" y="1905000"/>
            <a:chExt cx="3154573" cy="1957864"/>
          </a:xfrm>
        </p:grpSpPr>
        <p:sp>
          <p:nvSpPr>
            <p:cNvPr id="5" name="Rounded Rectangle 8"/>
            <p:cNvSpPr/>
            <p:nvPr/>
          </p:nvSpPr>
          <p:spPr>
            <a:xfrm>
              <a:off x="3751946" y="2655332"/>
              <a:ext cx="1981200" cy="419100"/>
            </a:xfrm>
            <a:prstGeom prst="roundRect">
              <a:avLst>
                <a:gd name="adj" fmla="val 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10"/>
            <p:cNvCxnSpPr/>
            <p:nvPr/>
          </p:nvCxnSpPr>
          <p:spPr>
            <a:xfrm>
              <a:off x="3828146" y="3341132"/>
              <a:ext cx="17526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209146" y="3493532"/>
              <a:ext cx="1067600" cy="369332"/>
            </a:xfrm>
            <a:prstGeom prst="rect">
              <a:avLst/>
            </a:prstGeom>
            <a:noFill/>
          </p:spPr>
          <p:txBody>
            <a:bodyPr wrap="none" rtlCol="0">
              <a:spAutoFit/>
            </a:bodyPr>
            <a:lstStyle/>
            <a:p>
              <a:r>
                <a:rPr lang="en-US" dirty="0"/>
                <a:t>Current, I</a:t>
              </a:r>
            </a:p>
          </p:txBody>
        </p:sp>
        <p:sp>
          <p:nvSpPr>
            <p:cNvPr id="8" name="TextBox 7"/>
            <p:cNvSpPr txBox="1"/>
            <p:nvPr/>
          </p:nvSpPr>
          <p:spPr>
            <a:xfrm>
              <a:off x="3142346" y="2667000"/>
              <a:ext cx="538545" cy="369332"/>
            </a:xfrm>
            <a:prstGeom prst="rect">
              <a:avLst/>
            </a:prstGeom>
            <a:noFill/>
          </p:spPr>
          <p:txBody>
            <a:bodyPr wrap="none" rtlCol="0">
              <a:spAutoFit/>
            </a:bodyPr>
            <a:lstStyle/>
            <a:p>
              <a:r>
                <a:rPr lang="en-US" dirty="0" err="1"/>
                <a:t>T</a:t>
              </a:r>
              <a:r>
                <a:rPr lang="en-US" baseline="-25000" dirty="0" err="1"/>
                <a:t>cold</a:t>
              </a:r>
              <a:endParaRPr lang="en-US" dirty="0"/>
            </a:p>
          </p:txBody>
        </p:sp>
        <p:sp>
          <p:nvSpPr>
            <p:cNvPr id="9" name="TextBox 8"/>
            <p:cNvSpPr txBox="1"/>
            <p:nvPr/>
          </p:nvSpPr>
          <p:spPr>
            <a:xfrm>
              <a:off x="5786843" y="2667000"/>
              <a:ext cx="510076" cy="369332"/>
            </a:xfrm>
            <a:prstGeom prst="rect">
              <a:avLst/>
            </a:prstGeom>
            <a:noFill/>
          </p:spPr>
          <p:txBody>
            <a:bodyPr wrap="none" rtlCol="0">
              <a:spAutoFit/>
            </a:bodyPr>
            <a:lstStyle/>
            <a:p>
              <a:r>
                <a:rPr lang="en-US" dirty="0" err="1"/>
                <a:t>T</a:t>
              </a:r>
              <a:r>
                <a:rPr lang="en-US" baseline="-25000" dirty="0" err="1"/>
                <a:t>hot</a:t>
              </a:r>
              <a:endParaRPr lang="en-US" dirty="0"/>
            </a:p>
          </p:txBody>
        </p:sp>
        <p:sp>
          <p:nvSpPr>
            <p:cNvPr id="10" name="TextBox 9"/>
            <p:cNvSpPr txBox="1"/>
            <p:nvPr/>
          </p:nvSpPr>
          <p:spPr>
            <a:xfrm>
              <a:off x="3447146" y="1905000"/>
              <a:ext cx="2707536" cy="369332"/>
            </a:xfrm>
            <a:prstGeom prst="rect">
              <a:avLst/>
            </a:prstGeom>
            <a:noFill/>
          </p:spPr>
          <p:txBody>
            <a:bodyPr wrap="none" rtlCol="0">
              <a:spAutoFit/>
            </a:bodyPr>
            <a:lstStyle/>
            <a:p>
              <a:r>
                <a:rPr lang="en-US" dirty="0"/>
                <a:t>Heat release/absorption, </a:t>
              </a:r>
              <a:r>
                <a:rPr lang="en-US" i="1" dirty="0"/>
                <a:t>q</a:t>
              </a:r>
            </a:p>
          </p:txBody>
        </p:sp>
        <p:cxnSp>
          <p:nvCxnSpPr>
            <p:cNvPr id="11" name="Straight Arrow Connector 16"/>
            <p:cNvCxnSpPr/>
            <p:nvPr/>
          </p:nvCxnSpPr>
          <p:spPr>
            <a:xfrm>
              <a:off x="4437746" y="2274332"/>
              <a:ext cx="0" cy="381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aphicFrame>
        <p:nvGraphicFramePr>
          <p:cNvPr id="12" name="Object 19"/>
          <p:cNvGraphicFramePr>
            <a:graphicFrameLocks noChangeAspect="1"/>
          </p:cNvGraphicFramePr>
          <p:nvPr/>
        </p:nvGraphicFramePr>
        <p:xfrm>
          <a:off x="7083425" y="1981498"/>
          <a:ext cx="1536700" cy="423862"/>
        </p:xfrm>
        <a:graphic>
          <a:graphicData uri="http://schemas.openxmlformats.org/presentationml/2006/ole">
            <mc:AlternateContent xmlns:mc="http://schemas.openxmlformats.org/markup-compatibility/2006">
              <mc:Choice xmlns:v="urn:schemas-microsoft-com:vml" Requires="v">
                <p:oleObj name="Equation" r:id="rId2" imgW="736560" imgH="203040" progId="Equation.DSMT4">
                  <p:embed/>
                </p:oleObj>
              </mc:Choice>
              <mc:Fallback>
                <p:oleObj name="Equation" r:id="rId2" imgW="736560" imgH="203040" progId="Equation.DSMT4">
                  <p:embed/>
                  <p:pic>
                    <p:nvPicPr>
                      <p:cNvPr id="12" name="Object 19"/>
                      <p:cNvPicPr/>
                      <p:nvPr/>
                    </p:nvPicPr>
                    <p:blipFill>
                      <a:blip r:embed="rId3"/>
                      <a:stretch>
                        <a:fillRect/>
                      </a:stretch>
                    </p:blipFill>
                    <p:spPr>
                      <a:xfrm>
                        <a:off x="7083425" y="1981498"/>
                        <a:ext cx="1536700" cy="423862"/>
                      </a:xfrm>
                      <a:prstGeom prst="rect">
                        <a:avLst/>
                      </a:prstGeom>
                    </p:spPr>
                  </p:pic>
                </p:oleObj>
              </mc:Fallback>
            </mc:AlternateContent>
          </a:graphicData>
        </a:graphic>
      </p:graphicFrame>
      <p:sp>
        <p:nvSpPr>
          <p:cNvPr id="13" name="TextBox 12"/>
          <p:cNvSpPr txBox="1"/>
          <p:nvPr/>
        </p:nvSpPr>
        <p:spPr>
          <a:xfrm>
            <a:off x="6629400" y="2357735"/>
            <a:ext cx="2375650" cy="461665"/>
          </a:xfrm>
          <a:prstGeom prst="rect">
            <a:avLst/>
          </a:prstGeom>
          <a:noFill/>
        </p:spPr>
        <p:txBody>
          <a:bodyPr wrap="none" rtlCol="0">
            <a:spAutoFit/>
          </a:bodyPr>
          <a:lstStyle/>
          <a:p>
            <a:r>
              <a:rPr lang="el-GR" sz="2400" b="1" dirty="0">
                <a:solidFill>
                  <a:srgbClr val="FF0000"/>
                </a:solidFill>
              </a:rPr>
              <a:t>β</a:t>
            </a:r>
            <a:r>
              <a:rPr lang="en-US" dirty="0"/>
              <a:t>, Thomson coefficient</a:t>
            </a:r>
          </a:p>
        </p:txBody>
      </p:sp>
      <p:sp>
        <p:nvSpPr>
          <p:cNvPr id="14" name="Rectangle 20"/>
          <p:cNvSpPr/>
          <p:nvPr/>
        </p:nvSpPr>
        <p:spPr>
          <a:xfrm>
            <a:off x="3314800" y="3862864"/>
            <a:ext cx="5372000" cy="923330"/>
          </a:xfrm>
          <a:prstGeom prst="rect">
            <a:avLst/>
          </a:prstGeom>
        </p:spPr>
        <p:txBody>
          <a:bodyPr wrap="square">
            <a:spAutoFit/>
          </a:bodyPr>
          <a:lstStyle/>
          <a:p>
            <a:pPr algn="ctr"/>
            <a:r>
              <a:rPr lang="en-US" dirty="0"/>
              <a:t>Evaluation of heat when electric current passes through a single material that has a temperature difference along its length</a:t>
            </a:r>
          </a:p>
        </p:txBody>
      </p:sp>
      <p:graphicFrame>
        <p:nvGraphicFramePr>
          <p:cNvPr id="15" name="Object 23"/>
          <p:cNvGraphicFramePr>
            <a:graphicFrameLocks noChangeAspect="1"/>
          </p:cNvGraphicFramePr>
          <p:nvPr/>
        </p:nvGraphicFramePr>
        <p:xfrm>
          <a:off x="7391400" y="5227148"/>
          <a:ext cx="1060450" cy="369887"/>
        </p:xfrm>
        <a:graphic>
          <a:graphicData uri="http://schemas.openxmlformats.org/presentationml/2006/ole">
            <mc:AlternateContent xmlns:mc="http://schemas.openxmlformats.org/markup-compatibility/2006">
              <mc:Choice xmlns:v="urn:schemas-microsoft-com:vml" Requires="v">
                <p:oleObj name="Equation" r:id="rId4" imgW="507960" imgH="177480" progId="Equation.DSMT4">
                  <p:embed/>
                </p:oleObj>
              </mc:Choice>
              <mc:Fallback>
                <p:oleObj name="Equation" r:id="rId4" imgW="507960" imgH="177480" progId="Equation.DSMT4">
                  <p:embed/>
                  <p:pic>
                    <p:nvPicPr>
                      <p:cNvPr id="15" name="Object 23"/>
                      <p:cNvPicPr>
                        <a:picLocks noChangeAspect="1" noChangeArrowheads="1"/>
                      </p:cNvPicPr>
                      <p:nvPr/>
                    </p:nvPicPr>
                    <p:blipFill>
                      <a:blip r:embed="rId5"/>
                      <a:srcRect/>
                      <a:stretch>
                        <a:fillRect/>
                      </a:stretch>
                    </p:blipFill>
                    <p:spPr bwMode="auto">
                      <a:xfrm>
                        <a:off x="7391400" y="5227148"/>
                        <a:ext cx="1060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4"/>
          <p:cNvGraphicFramePr>
            <a:graphicFrameLocks noChangeAspect="1"/>
          </p:cNvGraphicFramePr>
          <p:nvPr/>
        </p:nvGraphicFramePr>
        <p:xfrm>
          <a:off x="5913227" y="5012203"/>
          <a:ext cx="1298575" cy="817563"/>
        </p:xfrm>
        <a:graphic>
          <a:graphicData uri="http://schemas.openxmlformats.org/presentationml/2006/ole">
            <mc:AlternateContent xmlns:mc="http://schemas.openxmlformats.org/markup-compatibility/2006">
              <mc:Choice xmlns:v="urn:schemas-microsoft-com:vml" Requires="v">
                <p:oleObj name="Equation" r:id="rId6" imgW="622080" imgH="393480" progId="Equation.DSMT4">
                  <p:embed/>
                </p:oleObj>
              </mc:Choice>
              <mc:Fallback>
                <p:oleObj name="Equation" r:id="rId6" imgW="622080" imgH="393480" progId="Equation.DSMT4">
                  <p:embed/>
                  <p:pic>
                    <p:nvPicPr>
                      <p:cNvPr id="16" name="Object 24"/>
                      <p:cNvPicPr>
                        <a:picLocks noChangeAspect="1" noChangeArrowheads="1"/>
                      </p:cNvPicPr>
                      <p:nvPr/>
                    </p:nvPicPr>
                    <p:blipFill>
                      <a:blip r:embed="rId7"/>
                      <a:srcRect/>
                      <a:stretch>
                        <a:fillRect/>
                      </a:stretch>
                    </p:blipFill>
                    <p:spPr bwMode="auto">
                      <a:xfrm>
                        <a:off x="5913227" y="5012203"/>
                        <a:ext cx="1298575"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Box 16"/>
          <p:cNvSpPr txBox="1"/>
          <p:nvPr/>
        </p:nvSpPr>
        <p:spPr>
          <a:xfrm>
            <a:off x="3398448" y="5117231"/>
            <a:ext cx="2362200" cy="461665"/>
          </a:xfrm>
          <a:prstGeom prst="rect">
            <a:avLst/>
          </a:prstGeom>
          <a:noFill/>
        </p:spPr>
        <p:txBody>
          <a:bodyPr wrap="square" rtlCol="0">
            <a:spAutoFit/>
          </a:bodyPr>
          <a:lstStyle/>
          <a:p>
            <a:pPr algn="ctr"/>
            <a:r>
              <a:rPr lang="en-US" sz="2400" b="1" dirty="0">
                <a:solidFill>
                  <a:srgbClr val="FF0000"/>
                </a:solidFill>
              </a:rPr>
              <a:t>Kelvin Relation</a:t>
            </a:r>
          </a:p>
        </p:txBody>
      </p:sp>
      <p:pic>
        <p:nvPicPr>
          <p:cNvPr id="18" name="Picture 16" descr="Thomson, William, Baron Kelvi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174" y="1255878"/>
            <a:ext cx="2139404" cy="28315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26"/>
          <p:cNvSpPr/>
          <p:nvPr/>
        </p:nvSpPr>
        <p:spPr>
          <a:xfrm>
            <a:off x="192061" y="5906869"/>
            <a:ext cx="8249554" cy="646331"/>
          </a:xfrm>
          <a:prstGeom prst="rect">
            <a:avLst/>
          </a:prstGeom>
        </p:spPr>
        <p:txBody>
          <a:bodyPr wrap="square">
            <a:spAutoFit/>
          </a:bodyPr>
          <a:lstStyle/>
          <a:p>
            <a:r>
              <a:rPr lang="en-US" dirty="0"/>
              <a:t>* He is widely known for determining the correct value of absolute zero as approximately -273.15 Celsius.</a:t>
            </a:r>
          </a:p>
        </p:txBody>
      </p:sp>
      <p:sp>
        <p:nvSpPr>
          <p:cNvPr id="20" name="圆角矩形 19"/>
          <p:cNvSpPr/>
          <p:nvPr/>
        </p:nvSpPr>
        <p:spPr>
          <a:xfrm>
            <a:off x="152400" y="1066800"/>
            <a:ext cx="2895600" cy="4381666"/>
          </a:xfrm>
          <a:prstGeom prst="roundRect">
            <a:avLst>
              <a:gd name="adj" fmla="val 6867"/>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279755" y="5498068"/>
            <a:ext cx="2723823" cy="369332"/>
          </a:xfrm>
          <a:prstGeom prst="rect">
            <a:avLst/>
          </a:prstGeom>
          <a:noFill/>
        </p:spPr>
        <p:txBody>
          <a:bodyPr wrap="none" rtlCol="0">
            <a:spAutoFit/>
          </a:bodyPr>
          <a:lstStyle/>
          <a:p>
            <a:r>
              <a:rPr lang="zh-CN" altLang="en-US" dirty="0">
                <a:solidFill>
                  <a:srgbClr val="FF0000"/>
                </a:solidFill>
              </a:rPr>
              <a:t>英国皇家“开尔文公爵”</a:t>
            </a:r>
          </a:p>
        </p:txBody>
      </p:sp>
      <p:sp>
        <p:nvSpPr>
          <p:cNvPr id="22" name="TextBox 21"/>
          <p:cNvSpPr txBox="1"/>
          <p:nvPr/>
        </p:nvSpPr>
        <p:spPr>
          <a:xfrm>
            <a:off x="1002507" y="48087"/>
            <a:ext cx="2782941" cy="584775"/>
          </a:xfrm>
          <a:prstGeom prst="rect">
            <a:avLst/>
          </a:prstGeom>
          <a:noFill/>
        </p:spPr>
        <p:txBody>
          <a:bodyPr wrap="none" rtlCol="0">
            <a:spAutoFit/>
          </a:bodyPr>
          <a:lstStyle/>
          <a:p>
            <a:r>
              <a:rPr lang="en-US" altLang="zh-CN" sz="3200" dirty="0">
                <a:solidFill>
                  <a:srgbClr val="FF0000"/>
                </a:solidFill>
              </a:rPr>
              <a:t>Thomson effect</a:t>
            </a:r>
            <a:endParaRPr lang="en-US" sz="3200" dirty="0">
              <a:solidFill>
                <a:srgbClr val="FF0000"/>
              </a:solidFill>
            </a:endParaRPr>
          </a:p>
        </p:txBody>
      </p:sp>
      <p:sp>
        <p:nvSpPr>
          <p:cNvPr id="23" name="圆角矩形 22"/>
          <p:cNvSpPr/>
          <p:nvPr/>
        </p:nvSpPr>
        <p:spPr>
          <a:xfrm>
            <a:off x="3276600" y="1066800"/>
            <a:ext cx="5686097" cy="3776531"/>
          </a:xfrm>
          <a:prstGeom prst="roundRect">
            <a:avLst>
              <a:gd name="adj" fmla="val 6867"/>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509384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nvGraphicFramePr>
        <p:xfrm>
          <a:off x="4550489" y="943797"/>
          <a:ext cx="1027183" cy="384671"/>
        </p:xfrm>
        <a:graphic>
          <a:graphicData uri="http://schemas.openxmlformats.org/presentationml/2006/ole">
            <mc:AlternateContent xmlns:mc="http://schemas.openxmlformats.org/markup-compatibility/2006">
              <mc:Choice xmlns:v="urn:schemas-microsoft-com:vml" Requires="v">
                <p:oleObj name="Equation" r:id="rId2" imgW="711000" imgH="241200" progId="Equation.DSMT4">
                  <p:embed/>
                </p:oleObj>
              </mc:Choice>
              <mc:Fallback>
                <p:oleObj name="Equation" r:id="rId2" imgW="711000" imgH="241200" progId="Equation.DSMT4">
                  <p:embed/>
                  <p:pic>
                    <p:nvPicPr>
                      <p:cNvPr id="5" name="对象 4"/>
                      <p:cNvPicPr>
                        <a:picLocks noChangeAspect="1" noChangeArrowheads="1"/>
                      </p:cNvPicPr>
                      <p:nvPr/>
                    </p:nvPicPr>
                    <p:blipFill>
                      <a:blip r:embed="rId3"/>
                      <a:srcRect/>
                      <a:stretch>
                        <a:fillRect/>
                      </a:stretch>
                    </p:blipFill>
                    <p:spPr bwMode="auto">
                      <a:xfrm>
                        <a:off x="4550489" y="943797"/>
                        <a:ext cx="1027183" cy="384671"/>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nvGraphicFramePr>
        <p:xfrm>
          <a:off x="4564777" y="1529584"/>
          <a:ext cx="2637430" cy="605841"/>
        </p:xfrm>
        <a:graphic>
          <a:graphicData uri="http://schemas.openxmlformats.org/presentationml/2006/ole">
            <mc:AlternateContent xmlns:mc="http://schemas.openxmlformats.org/markup-compatibility/2006">
              <mc:Choice xmlns:v="urn:schemas-microsoft-com:vml" Requires="v">
                <p:oleObj name="Equation" r:id="rId4" imgW="1892160" imgH="393480" progId="Equation.DSMT4">
                  <p:embed/>
                </p:oleObj>
              </mc:Choice>
              <mc:Fallback>
                <p:oleObj name="Equation" r:id="rId4" imgW="1892160" imgH="393480" progId="Equation.DSMT4">
                  <p:embed/>
                  <p:pic>
                    <p:nvPicPr>
                      <p:cNvPr id="6" name="对象 5"/>
                      <p:cNvPicPr>
                        <a:picLocks noChangeAspect="1" noChangeArrowheads="1"/>
                      </p:cNvPicPr>
                      <p:nvPr/>
                    </p:nvPicPr>
                    <p:blipFill>
                      <a:blip r:embed="rId5"/>
                      <a:srcRect/>
                      <a:stretch>
                        <a:fillRect/>
                      </a:stretch>
                    </p:blipFill>
                    <p:spPr bwMode="auto">
                      <a:xfrm>
                        <a:off x="4564777" y="1529584"/>
                        <a:ext cx="2637430" cy="605841"/>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nvGraphicFramePr>
        <p:xfrm>
          <a:off x="1075451" y="1357506"/>
          <a:ext cx="1218325" cy="683753"/>
        </p:xfrm>
        <a:graphic>
          <a:graphicData uri="http://schemas.openxmlformats.org/presentationml/2006/ole">
            <mc:AlternateContent xmlns:mc="http://schemas.openxmlformats.org/markup-compatibility/2006">
              <mc:Choice xmlns:v="urn:schemas-microsoft-com:vml" Requires="v">
                <p:oleObj name="Equation" r:id="rId6" imgW="850680" imgH="431640" progId="Equation.DSMT4">
                  <p:embed/>
                </p:oleObj>
              </mc:Choice>
              <mc:Fallback>
                <p:oleObj name="Equation" r:id="rId6" imgW="850680" imgH="431640" progId="Equation.DSMT4">
                  <p:embed/>
                  <p:pic>
                    <p:nvPicPr>
                      <p:cNvPr id="7" name="对象 6"/>
                      <p:cNvPicPr>
                        <a:picLocks noChangeAspect="1" noChangeArrowheads="1"/>
                      </p:cNvPicPr>
                      <p:nvPr/>
                    </p:nvPicPr>
                    <p:blipFill>
                      <a:blip r:embed="rId7"/>
                      <a:srcRect/>
                      <a:stretch>
                        <a:fillRect/>
                      </a:stretch>
                    </p:blipFill>
                    <p:spPr bwMode="auto">
                      <a:xfrm>
                        <a:off x="1075451" y="1357506"/>
                        <a:ext cx="1218325" cy="683753"/>
                      </a:xfrm>
                      <a:prstGeom prst="rect">
                        <a:avLst/>
                      </a:prstGeom>
                      <a:noFill/>
                      <a:ln>
                        <a:noFill/>
                      </a:ln>
                    </p:spPr>
                  </p:pic>
                </p:oleObj>
              </mc:Fallback>
            </mc:AlternateContent>
          </a:graphicData>
        </a:graphic>
      </p:graphicFrame>
      <p:sp>
        <p:nvSpPr>
          <p:cNvPr id="8" name="TextBox 7"/>
          <p:cNvSpPr txBox="1"/>
          <p:nvPr/>
        </p:nvSpPr>
        <p:spPr>
          <a:xfrm>
            <a:off x="872820" y="796159"/>
            <a:ext cx="2610700" cy="461665"/>
          </a:xfrm>
          <a:prstGeom prst="rect">
            <a:avLst/>
          </a:prstGeom>
          <a:noFill/>
        </p:spPr>
        <p:txBody>
          <a:bodyPr wrap="square" rtlCol="0">
            <a:spAutoFit/>
          </a:bodyPr>
          <a:lstStyle/>
          <a:p>
            <a:r>
              <a:rPr lang="en-US" altLang="zh-CN" sz="2400" dirty="0">
                <a:latin typeface="Arial" pitchFamily="34" charset="0"/>
                <a:cs typeface="Arial" pitchFamily="34" charset="0"/>
              </a:rPr>
              <a:t>Efficiency of TEG</a:t>
            </a:r>
            <a:endParaRPr lang="zh-CN" altLang="en-US" sz="2400" dirty="0">
              <a:latin typeface="Arial" pitchFamily="34" charset="0"/>
              <a:cs typeface="Arial" pitchFamily="34" charset="0"/>
            </a:endParaRPr>
          </a:p>
        </p:txBody>
      </p:sp>
      <p:sp>
        <p:nvSpPr>
          <p:cNvPr id="14" name="TextBox 13"/>
          <p:cNvSpPr txBox="1"/>
          <p:nvPr/>
        </p:nvSpPr>
        <p:spPr>
          <a:xfrm>
            <a:off x="955679" y="44662"/>
            <a:ext cx="5082811" cy="584775"/>
          </a:xfrm>
          <a:prstGeom prst="rect">
            <a:avLst/>
          </a:prstGeom>
          <a:noFill/>
        </p:spPr>
        <p:txBody>
          <a:bodyPr wrap="square" rtlCol="0">
            <a:spAutoFit/>
          </a:bodyPr>
          <a:lstStyle/>
          <a:p>
            <a:r>
              <a:rPr lang="en-US" altLang="zh-CN" sz="3200" dirty="0">
                <a:solidFill>
                  <a:srgbClr val="FF0000"/>
                </a:solidFill>
                <a:latin typeface="Arial" pitchFamily="34" charset="0"/>
                <a:cs typeface="Arial" pitchFamily="34" charset="0"/>
              </a:rPr>
              <a:t>Efficiency of TEG-updated</a:t>
            </a:r>
            <a:endParaRPr lang="zh-CN" altLang="en-US" sz="3200" dirty="0">
              <a:solidFill>
                <a:srgbClr val="FF0000"/>
              </a:solidFill>
              <a:latin typeface="Arial" pitchFamily="34" charset="0"/>
              <a:cs typeface="Arial" pitchFamily="34" charset="0"/>
            </a:endParaRPr>
          </a:p>
        </p:txBody>
      </p:sp>
      <p:graphicFrame>
        <p:nvGraphicFramePr>
          <p:cNvPr id="16" name="对象 15"/>
          <p:cNvGraphicFramePr>
            <a:graphicFrameLocks noChangeAspect="1"/>
          </p:cNvGraphicFramePr>
          <p:nvPr/>
        </p:nvGraphicFramePr>
        <p:xfrm>
          <a:off x="614919" y="2870585"/>
          <a:ext cx="2133600" cy="1278985"/>
        </p:xfrm>
        <a:graphic>
          <a:graphicData uri="http://schemas.openxmlformats.org/presentationml/2006/ole">
            <mc:AlternateContent xmlns:mc="http://schemas.openxmlformats.org/markup-compatibility/2006">
              <mc:Choice xmlns:v="urn:schemas-microsoft-com:vml" Requires="v">
                <p:oleObj name="Equation" r:id="rId8" imgW="1650960" imgH="990360" progId="Equation.DSMT4">
                  <p:embed/>
                </p:oleObj>
              </mc:Choice>
              <mc:Fallback>
                <p:oleObj name="Equation" r:id="rId8" imgW="1650960" imgH="990360" progId="Equation.DSMT4">
                  <p:embed/>
                  <p:pic>
                    <p:nvPicPr>
                      <p:cNvPr id="16" name="对象 15"/>
                      <p:cNvPicPr/>
                      <p:nvPr/>
                    </p:nvPicPr>
                    <p:blipFill>
                      <a:blip r:embed="rId9"/>
                      <a:stretch>
                        <a:fillRect/>
                      </a:stretch>
                    </p:blipFill>
                    <p:spPr>
                      <a:xfrm>
                        <a:off x="614919" y="2870585"/>
                        <a:ext cx="2133600" cy="1278985"/>
                      </a:xfrm>
                      <a:prstGeom prst="rect">
                        <a:avLst/>
                      </a:prstGeom>
                    </p:spPr>
                  </p:pic>
                </p:oleObj>
              </mc:Fallback>
            </mc:AlternateContent>
          </a:graphicData>
        </a:graphic>
      </p:graphicFrame>
      <p:sp>
        <p:nvSpPr>
          <p:cNvPr id="18" name="TextBox 17"/>
          <p:cNvSpPr txBox="1"/>
          <p:nvPr/>
        </p:nvSpPr>
        <p:spPr>
          <a:xfrm>
            <a:off x="310119" y="2413385"/>
            <a:ext cx="1291123" cy="369332"/>
          </a:xfrm>
          <a:prstGeom prst="rect">
            <a:avLst/>
          </a:prstGeom>
          <a:noFill/>
        </p:spPr>
        <p:txBody>
          <a:bodyPr wrap="none" rtlCol="0">
            <a:spAutoFit/>
          </a:bodyPr>
          <a:lstStyle/>
          <a:p>
            <a:r>
              <a:rPr lang="en-US" altLang="zh-CN" dirty="0"/>
              <a:t>Set m=R</a:t>
            </a:r>
            <a:r>
              <a:rPr lang="en-US" altLang="zh-CN" baseline="-25000" dirty="0"/>
              <a:t>L</a:t>
            </a:r>
            <a:r>
              <a:rPr lang="en-US" altLang="zh-CN" dirty="0"/>
              <a:t>/R </a:t>
            </a:r>
          </a:p>
        </p:txBody>
      </p:sp>
      <p:graphicFrame>
        <p:nvGraphicFramePr>
          <p:cNvPr id="19" name="对象 18"/>
          <p:cNvGraphicFramePr>
            <a:graphicFrameLocks noChangeAspect="1"/>
          </p:cNvGraphicFramePr>
          <p:nvPr/>
        </p:nvGraphicFramePr>
        <p:xfrm>
          <a:off x="5980826" y="796160"/>
          <a:ext cx="1195501" cy="597156"/>
        </p:xfrm>
        <a:graphic>
          <a:graphicData uri="http://schemas.openxmlformats.org/presentationml/2006/ole">
            <mc:AlternateContent xmlns:mc="http://schemas.openxmlformats.org/markup-compatibility/2006">
              <mc:Choice xmlns:v="urn:schemas-microsoft-com:vml" Requires="v">
                <p:oleObj name="Equation" r:id="rId10" imgW="914400" imgH="457200" progId="Equation.DSMT4">
                  <p:embed/>
                </p:oleObj>
              </mc:Choice>
              <mc:Fallback>
                <p:oleObj name="Equation" r:id="rId10" imgW="914400" imgH="457200" progId="Equation.DSMT4">
                  <p:embed/>
                  <p:pic>
                    <p:nvPicPr>
                      <p:cNvPr id="19" name="对象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80826" y="796160"/>
                        <a:ext cx="1195501" cy="597156"/>
                      </a:xfrm>
                      <a:prstGeom prst="rect">
                        <a:avLst/>
                      </a:prstGeom>
                      <a:noFill/>
                      <a:ln>
                        <a:noFill/>
                      </a:ln>
                    </p:spPr>
                  </p:pic>
                </p:oleObj>
              </mc:Fallback>
            </mc:AlternateContent>
          </a:graphicData>
        </a:graphic>
      </p:graphicFrame>
      <p:graphicFrame>
        <p:nvGraphicFramePr>
          <p:cNvPr id="20" name="对象 19"/>
          <p:cNvGraphicFramePr>
            <a:graphicFrameLocks noChangeAspect="1"/>
          </p:cNvGraphicFramePr>
          <p:nvPr/>
        </p:nvGraphicFramePr>
        <p:xfrm>
          <a:off x="3483794" y="2355522"/>
          <a:ext cx="3315133" cy="1065091"/>
        </p:xfrm>
        <a:graphic>
          <a:graphicData uri="http://schemas.openxmlformats.org/presentationml/2006/ole">
            <mc:AlternateContent xmlns:mc="http://schemas.openxmlformats.org/markup-compatibility/2006">
              <mc:Choice xmlns:v="urn:schemas-microsoft-com:vml" Requires="v">
                <p:oleObj name="Equation" r:id="rId12" imgW="3504960" imgH="1015920" progId="Equation.DSMT4">
                  <p:embed/>
                </p:oleObj>
              </mc:Choice>
              <mc:Fallback>
                <p:oleObj name="Equation" r:id="rId12" imgW="3504960" imgH="1015920" progId="Equation.DSMT4">
                  <p:embed/>
                  <p:pic>
                    <p:nvPicPr>
                      <p:cNvPr id="20" name="对象 19"/>
                      <p:cNvPicPr>
                        <a:picLocks noChangeAspect="1" noChangeArrowheads="1"/>
                      </p:cNvPicPr>
                      <p:nvPr/>
                    </p:nvPicPr>
                    <p:blipFill>
                      <a:blip r:embed="rId13"/>
                      <a:srcRect/>
                      <a:stretch>
                        <a:fillRect/>
                      </a:stretch>
                    </p:blipFill>
                    <p:spPr bwMode="auto">
                      <a:xfrm>
                        <a:off x="3483794" y="2355522"/>
                        <a:ext cx="3315133" cy="1065091"/>
                      </a:xfrm>
                      <a:prstGeom prst="rect">
                        <a:avLst/>
                      </a:prstGeom>
                      <a:noFill/>
                      <a:ln>
                        <a:noFill/>
                      </a:ln>
                    </p:spPr>
                  </p:pic>
                </p:oleObj>
              </mc:Fallback>
            </mc:AlternateContent>
          </a:graphicData>
        </a:graphic>
      </p:graphicFrame>
      <p:graphicFrame>
        <p:nvGraphicFramePr>
          <p:cNvPr id="21" name="对象 20"/>
          <p:cNvGraphicFramePr>
            <a:graphicFrameLocks noChangeAspect="1"/>
          </p:cNvGraphicFramePr>
          <p:nvPr/>
        </p:nvGraphicFramePr>
        <p:xfrm>
          <a:off x="3557157" y="3433907"/>
          <a:ext cx="2722874" cy="802412"/>
        </p:xfrm>
        <a:graphic>
          <a:graphicData uri="http://schemas.openxmlformats.org/presentationml/2006/ole">
            <mc:AlternateContent xmlns:mc="http://schemas.openxmlformats.org/markup-compatibility/2006">
              <mc:Choice xmlns:v="urn:schemas-microsoft-com:vml" Requires="v">
                <p:oleObj name="Equation" r:id="rId14" imgW="2387520" imgH="634680" progId="Equation.DSMT4">
                  <p:embed/>
                </p:oleObj>
              </mc:Choice>
              <mc:Fallback>
                <p:oleObj name="Equation" r:id="rId14" imgW="2387520" imgH="634680" progId="Equation.DSMT4">
                  <p:embed/>
                  <p:pic>
                    <p:nvPicPr>
                      <p:cNvPr id="21" name="对象 20"/>
                      <p:cNvPicPr>
                        <a:picLocks noChangeAspect="1" noChangeArrowheads="1"/>
                      </p:cNvPicPr>
                      <p:nvPr/>
                    </p:nvPicPr>
                    <p:blipFill>
                      <a:blip r:embed="rId15"/>
                      <a:srcRect/>
                      <a:stretch>
                        <a:fillRect/>
                      </a:stretch>
                    </p:blipFill>
                    <p:spPr bwMode="auto">
                      <a:xfrm>
                        <a:off x="3557157" y="3433907"/>
                        <a:ext cx="2722874" cy="802412"/>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nvGraphicFramePr>
        <p:xfrm>
          <a:off x="1093703" y="4694605"/>
          <a:ext cx="688975" cy="623888"/>
        </p:xfrm>
        <a:graphic>
          <a:graphicData uri="http://schemas.openxmlformats.org/presentationml/2006/ole">
            <mc:AlternateContent xmlns:mc="http://schemas.openxmlformats.org/markup-compatibility/2006">
              <mc:Choice xmlns:v="urn:schemas-microsoft-com:vml" Requires="v">
                <p:oleObj name="Equation" r:id="rId16" imgW="482400" imgH="393480" progId="Equation.DSMT4">
                  <p:embed/>
                </p:oleObj>
              </mc:Choice>
              <mc:Fallback>
                <p:oleObj name="Equation" r:id="rId16" imgW="482400" imgH="393480" progId="Equation.DSMT4">
                  <p:embed/>
                  <p:pic>
                    <p:nvPicPr>
                      <p:cNvPr id="22" name="对象 21"/>
                      <p:cNvPicPr>
                        <a:picLocks noChangeAspect="1" noChangeArrowheads="1"/>
                      </p:cNvPicPr>
                      <p:nvPr/>
                    </p:nvPicPr>
                    <p:blipFill>
                      <a:blip r:embed="rId17"/>
                      <a:srcRect/>
                      <a:stretch>
                        <a:fillRect/>
                      </a:stretch>
                    </p:blipFill>
                    <p:spPr bwMode="auto">
                      <a:xfrm>
                        <a:off x="1093703" y="4694605"/>
                        <a:ext cx="6889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nvGraphicFramePr>
        <p:xfrm>
          <a:off x="3051468" y="4648644"/>
          <a:ext cx="1576388" cy="863600"/>
        </p:xfrm>
        <a:graphic>
          <a:graphicData uri="http://schemas.openxmlformats.org/presentationml/2006/ole">
            <mc:AlternateContent xmlns:mc="http://schemas.openxmlformats.org/markup-compatibility/2006">
              <mc:Choice xmlns:v="urn:schemas-microsoft-com:vml" Requires="v">
                <p:oleObj name="Equation" r:id="rId18" imgW="1104840" imgH="545760" progId="Equation.DSMT4">
                  <p:embed/>
                </p:oleObj>
              </mc:Choice>
              <mc:Fallback>
                <p:oleObj name="Equation" r:id="rId18" imgW="1104840" imgH="545760" progId="Equation.DSMT4">
                  <p:embed/>
                  <p:pic>
                    <p:nvPicPr>
                      <p:cNvPr id="23" name="对象 22"/>
                      <p:cNvPicPr>
                        <a:picLocks noChangeAspect="1" noChangeArrowheads="1"/>
                      </p:cNvPicPr>
                      <p:nvPr/>
                    </p:nvPicPr>
                    <p:blipFill>
                      <a:blip r:embed="rId19"/>
                      <a:srcRect/>
                      <a:stretch>
                        <a:fillRect/>
                      </a:stretch>
                    </p:blipFill>
                    <p:spPr bwMode="auto">
                      <a:xfrm>
                        <a:off x="3051468" y="4648644"/>
                        <a:ext cx="157638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圆角矩形 23"/>
          <p:cNvSpPr/>
          <p:nvPr/>
        </p:nvSpPr>
        <p:spPr>
          <a:xfrm>
            <a:off x="310119" y="2146956"/>
            <a:ext cx="8359428" cy="2170711"/>
          </a:xfrm>
          <a:prstGeom prst="roundRect">
            <a:avLst>
              <a:gd name="adj" fmla="val 7181"/>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6" name="对象 25"/>
          <p:cNvGraphicFramePr>
            <a:graphicFrameLocks noChangeAspect="1"/>
          </p:cNvGraphicFramePr>
          <p:nvPr/>
        </p:nvGraphicFramePr>
        <p:xfrm>
          <a:off x="5471333" y="4592123"/>
          <a:ext cx="2349092" cy="989167"/>
        </p:xfrm>
        <a:graphic>
          <a:graphicData uri="http://schemas.openxmlformats.org/presentationml/2006/ole">
            <mc:AlternateContent xmlns:mc="http://schemas.openxmlformats.org/markup-compatibility/2006">
              <mc:Choice xmlns:v="urn:schemas-microsoft-com:vml" Requires="v">
                <p:oleObj name="Equation" r:id="rId20" imgW="1803240" imgH="685800" progId="Equation.DSMT4">
                  <p:embed/>
                </p:oleObj>
              </mc:Choice>
              <mc:Fallback>
                <p:oleObj name="Equation" r:id="rId20" imgW="1803240" imgH="685800" progId="Equation.DSMT4">
                  <p:embed/>
                  <p:pic>
                    <p:nvPicPr>
                      <p:cNvPr id="26" name="对象 25"/>
                      <p:cNvPicPr>
                        <a:picLocks noChangeAspect="1" noChangeArrowheads="1"/>
                      </p:cNvPicPr>
                      <p:nvPr/>
                    </p:nvPicPr>
                    <p:blipFill>
                      <a:blip r:embed="rId21"/>
                      <a:srcRect/>
                      <a:stretch>
                        <a:fillRect/>
                      </a:stretch>
                    </p:blipFill>
                    <p:spPr bwMode="auto">
                      <a:xfrm>
                        <a:off x="5471333" y="4592123"/>
                        <a:ext cx="2349092" cy="989167"/>
                      </a:xfrm>
                      <a:prstGeom prst="rect">
                        <a:avLst/>
                      </a:prstGeom>
                      <a:noFill/>
                      <a:ln>
                        <a:noFill/>
                      </a:ln>
                    </p:spPr>
                  </p:pic>
                </p:oleObj>
              </mc:Fallback>
            </mc:AlternateContent>
          </a:graphicData>
        </a:graphic>
      </p:graphicFrame>
      <p:graphicFrame>
        <p:nvGraphicFramePr>
          <p:cNvPr id="2" name="对象 1"/>
          <p:cNvGraphicFramePr>
            <a:graphicFrameLocks noChangeAspect="1"/>
          </p:cNvGraphicFramePr>
          <p:nvPr/>
        </p:nvGraphicFramePr>
        <p:xfrm>
          <a:off x="7572494" y="3512025"/>
          <a:ext cx="608013" cy="530225"/>
        </p:xfrm>
        <a:graphic>
          <a:graphicData uri="http://schemas.openxmlformats.org/presentationml/2006/ole">
            <mc:AlternateContent xmlns:mc="http://schemas.openxmlformats.org/markup-compatibility/2006">
              <mc:Choice xmlns:v="urn:schemas-microsoft-com:vml" Requires="v">
                <p:oleObj name="Equation" r:id="rId22" imgW="533160" imgH="419040" progId="Equation.DSMT4">
                  <p:embed/>
                </p:oleObj>
              </mc:Choice>
              <mc:Fallback>
                <p:oleObj name="Equation" r:id="rId22" imgW="533160" imgH="419040" progId="Equation.DSMT4">
                  <p:embed/>
                  <p:pic>
                    <p:nvPicPr>
                      <p:cNvPr id="2" name="对象 1"/>
                      <p:cNvPicPr>
                        <a:picLocks noChangeAspect="1" noChangeArrowheads="1"/>
                      </p:cNvPicPr>
                      <p:nvPr/>
                    </p:nvPicPr>
                    <p:blipFill>
                      <a:blip r:embed="rId23"/>
                      <a:srcRect/>
                      <a:stretch>
                        <a:fillRect/>
                      </a:stretch>
                    </p:blipFill>
                    <p:spPr bwMode="auto">
                      <a:xfrm>
                        <a:off x="7572494" y="3512025"/>
                        <a:ext cx="608013" cy="530225"/>
                      </a:xfrm>
                      <a:prstGeom prst="rect">
                        <a:avLst/>
                      </a:prstGeom>
                      <a:solidFill>
                        <a:schemeClr val="bg1">
                          <a:lumMod val="75000"/>
                        </a:schemeClr>
                      </a:solidFill>
                      <a:ln>
                        <a:noFill/>
                      </a:ln>
                    </p:spPr>
                  </p:pic>
                </p:oleObj>
              </mc:Fallback>
            </mc:AlternateContent>
          </a:graphicData>
        </a:graphic>
      </p:graphicFrame>
      <p:sp>
        <p:nvSpPr>
          <p:cNvPr id="3" name="右箭头 2"/>
          <p:cNvSpPr/>
          <p:nvPr/>
        </p:nvSpPr>
        <p:spPr>
          <a:xfrm>
            <a:off x="2070340" y="4812726"/>
            <a:ext cx="491706" cy="345057"/>
          </a:xfrm>
          <a:prstGeom prst="right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右箭头 26"/>
          <p:cNvSpPr/>
          <p:nvPr/>
        </p:nvSpPr>
        <p:spPr>
          <a:xfrm>
            <a:off x="4698521" y="4812726"/>
            <a:ext cx="491706" cy="345057"/>
          </a:xfrm>
          <a:prstGeom prst="right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136508" y="5681577"/>
            <a:ext cx="8761283" cy="923330"/>
          </a:xfrm>
          <a:prstGeom prst="rect">
            <a:avLst/>
          </a:prstGeom>
          <a:solidFill>
            <a:schemeClr val="accent6">
              <a:lumMod val="40000"/>
              <a:lumOff val="60000"/>
            </a:schemeClr>
          </a:solidFill>
        </p:spPr>
        <p:txBody>
          <a:bodyPr wrap="square" rtlCol="0">
            <a:spAutoFit/>
          </a:bodyPr>
          <a:lstStyle/>
          <a:p>
            <a:r>
              <a:rPr lang="en-US" altLang="zh-CN" dirty="0">
                <a:solidFill>
                  <a:srgbClr val="FF0000"/>
                </a:solidFill>
              </a:rPr>
              <a:t>Home work</a:t>
            </a:r>
            <a:r>
              <a:rPr lang="zh-CN" altLang="en-US" dirty="0"/>
              <a:t>： </a:t>
            </a:r>
            <a:r>
              <a:rPr lang="en-US" altLang="zh-CN" dirty="0"/>
              <a:t>finishing the derivation of </a:t>
            </a:r>
            <a:r>
              <a:rPr lang="el-GR" altLang="zh-CN" dirty="0"/>
              <a:t>η</a:t>
            </a:r>
            <a:r>
              <a:rPr lang="en-US" altLang="zh-CN" baseline="-25000" dirty="0"/>
              <a:t>max </a:t>
            </a:r>
            <a:r>
              <a:rPr lang="en-US" altLang="zh-CN" dirty="0"/>
              <a:t>for a thermoelectric generator, and thinking about whether the Joule heat term in the Qc could be less than ½ I</a:t>
            </a:r>
            <a:r>
              <a:rPr lang="en-US" altLang="zh-CN" baseline="30000" dirty="0"/>
              <a:t>2</a:t>
            </a:r>
            <a:r>
              <a:rPr lang="en-US" altLang="zh-CN" dirty="0"/>
              <a:t>R, </a:t>
            </a:r>
          </a:p>
          <a:p>
            <a:r>
              <a:rPr lang="en-US" altLang="zh-CN" dirty="0"/>
              <a:t>if possible how to achieve it, if not why?</a:t>
            </a:r>
            <a:endParaRPr lang="zh-CN" altLang="en-US" dirty="0"/>
          </a:p>
        </p:txBody>
      </p:sp>
      <p:sp>
        <p:nvSpPr>
          <p:cNvPr id="9" name="TextBox 8"/>
          <p:cNvSpPr txBox="1"/>
          <p:nvPr/>
        </p:nvSpPr>
        <p:spPr>
          <a:xfrm>
            <a:off x="6997294" y="3047645"/>
            <a:ext cx="1508746" cy="338554"/>
          </a:xfrm>
          <a:prstGeom prst="rect">
            <a:avLst/>
          </a:prstGeom>
          <a:noFill/>
        </p:spPr>
        <p:txBody>
          <a:bodyPr wrap="none" rtlCol="0">
            <a:spAutoFit/>
          </a:bodyPr>
          <a:lstStyle/>
          <a:p>
            <a:r>
              <a:rPr lang="en-US" altLang="zh-CN" sz="1600" dirty="0"/>
              <a:t>Figure of merit</a:t>
            </a:r>
            <a:endParaRPr lang="zh-CN" altLang="en-US" sz="1600" dirty="0"/>
          </a:p>
        </p:txBody>
      </p:sp>
    </p:spTree>
    <p:extLst>
      <p:ext uri="{BB962C8B-B14F-4D97-AF65-F5344CB8AC3E}">
        <p14:creationId xmlns:p14="http://schemas.microsoft.com/office/powerpoint/2010/main" val="30458303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423" y="1007737"/>
            <a:ext cx="1477628" cy="684491"/>
          </a:xfrm>
          <a:prstGeom prst="rect">
            <a:avLst/>
          </a:prstGeom>
          <a:solidFill>
            <a:srgbClr val="FF0000"/>
          </a:solidFill>
          <a:ln>
            <a:noFill/>
          </a:ln>
          <a:effectLst/>
        </p:spPr>
      </p:pic>
      <p:pic>
        <p:nvPicPr>
          <p:cNvPr id="27" name="Picture 7"/>
          <p:cNvPicPr>
            <a:picLocks noChangeAspect="1" noChangeArrowheads="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98829" flipH="1" flipV="1">
            <a:off x="1840921" y="3319278"/>
            <a:ext cx="514000" cy="718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5901" y="3951134"/>
            <a:ext cx="1477628" cy="684491"/>
          </a:xfrm>
          <a:prstGeom prst="rect">
            <a:avLst/>
          </a:prstGeom>
          <a:solidFill>
            <a:srgbClr val="FF0000"/>
          </a:solidFill>
          <a:ln>
            <a:noFill/>
          </a:ln>
          <a:effectLst/>
        </p:spPr>
      </p:pic>
      <p:sp>
        <p:nvSpPr>
          <p:cNvPr id="9" name="TextBox 8"/>
          <p:cNvSpPr txBox="1"/>
          <p:nvPr/>
        </p:nvSpPr>
        <p:spPr>
          <a:xfrm>
            <a:off x="1155751" y="140621"/>
            <a:ext cx="4038600" cy="584775"/>
          </a:xfrm>
          <a:prstGeom prst="rect">
            <a:avLst/>
          </a:prstGeom>
          <a:noFill/>
        </p:spPr>
        <p:txBody>
          <a:bodyPr wrap="square" rtlCol="0">
            <a:spAutoFit/>
          </a:bodyPr>
          <a:lstStyle/>
          <a:p>
            <a:r>
              <a:rPr lang="en-US" altLang="zh-CN" sz="3200" dirty="0">
                <a:solidFill>
                  <a:srgbClr val="FF0000"/>
                </a:solidFill>
                <a:latin typeface="Arial" pitchFamily="34" charset="0"/>
                <a:cs typeface="Arial" pitchFamily="34" charset="0"/>
              </a:rPr>
              <a:t>Efficiency of TEC</a:t>
            </a:r>
            <a:endParaRPr lang="zh-CN" altLang="en-US" sz="3200" dirty="0">
              <a:solidFill>
                <a:srgbClr val="FF0000"/>
              </a:solidFill>
              <a:latin typeface="Arial" pitchFamily="34" charset="0"/>
              <a:cs typeface="Arial" pitchFamily="34" charset="0"/>
            </a:endParaRPr>
          </a:p>
        </p:txBody>
      </p:sp>
      <p:sp>
        <p:nvSpPr>
          <p:cNvPr id="11" name="圆角矩形 10"/>
          <p:cNvSpPr/>
          <p:nvPr/>
        </p:nvSpPr>
        <p:spPr>
          <a:xfrm>
            <a:off x="1066530" y="2122202"/>
            <a:ext cx="2053728" cy="239111"/>
          </a:xfrm>
          <a:prstGeom prst="roundRect">
            <a:avLst>
              <a:gd name="adj" fmla="val 0"/>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1066530" y="2361313"/>
            <a:ext cx="716287" cy="1242848"/>
          </a:xfrm>
          <a:prstGeom prst="roundRect">
            <a:avLst>
              <a:gd name="adj" fmla="val 5662"/>
            </a:avLst>
          </a:prstGeom>
          <a:solidFill>
            <a:schemeClr val="accent6">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430517" y="2381020"/>
            <a:ext cx="689741" cy="1242848"/>
          </a:xfrm>
          <a:prstGeom prst="roundRect">
            <a:avLst>
              <a:gd name="adj" fmla="val 667"/>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563617" y="3598907"/>
            <a:ext cx="1219200" cy="239110"/>
          </a:xfrm>
          <a:prstGeom prst="roundRect">
            <a:avLst>
              <a:gd name="adj" fmla="val 0"/>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2209800" y="5032991"/>
            <a:ext cx="389850" cy="369332"/>
          </a:xfrm>
          <a:prstGeom prst="rect">
            <a:avLst/>
          </a:prstGeom>
          <a:noFill/>
        </p:spPr>
        <p:txBody>
          <a:bodyPr wrap="none" rtlCol="0">
            <a:spAutoFit/>
          </a:bodyPr>
          <a:lstStyle/>
          <a:p>
            <a:r>
              <a:rPr lang="en-US" altLang="zh-CN" dirty="0"/>
              <a:t>W</a:t>
            </a:r>
            <a:endParaRPr lang="zh-CN" altLang="en-US" dirty="0"/>
          </a:p>
        </p:txBody>
      </p:sp>
      <p:sp>
        <p:nvSpPr>
          <p:cNvPr id="20" name="TextBox 19"/>
          <p:cNvSpPr txBox="1"/>
          <p:nvPr/>
        </p:nvSpPr>
        <p:spPr>
          <a:xfrm>
            <a:off x="1271426" y="2798071"/>
            <a:ext cx="306494" cy="369332"/>
          </a:xfrm>
          <a:prstGeom prst="rect">
            <a:avLst/>
          </a:prstGeom>
          <a:noFill/>
        </p:spPr>
        <p:txBody>
          <a:bodyPr wrap="none" rtlCol="0">
            <a:spAutoFit/>
          </a:bodyPr>
          <a:lstStyle/>
          <a:p>
            <a:r>
              <a:rPr lang="en-US" altLang="zh-CN" i="1" dirty="0"/>
              <a:t>p</a:t>
            </a:r>
            <a:endParaRPr lang="zh-CN" altLang="en-US" i="1" dirty="0"/>
          </a:p>
        </p:txBody>
      </p:sp>
      <p:sp>
        <p:nvSpPr>
          <p:cNvPr id="21" name="TextBox 20"/>
          <p:cNvSpPr txBox="1"/>
          <p:nvPr/>
        </p:nvSpPr>
        <p:spPr>
          <a:xfrm>
            <a:off x="2622140" y="2817778"/>
            <a:ext cx="303288" cy="369332"/>
          </a:xfrm>
          <a:prstGeom prst="rect">
            <a:avLst/>
          </a:prstGeom>
          <a:noFill/>
        </p:spPr>
        <p:txBody>
          <a:bodyPr wrap="none" rtlCol="0">
            <a:spAutoFit/>
          </a:bodyPr>
          <a:lstStyle/>
          <a:p>
            <a:r>
              <a:rPr lang="en-US" altLang="zh-CN" i="1" dirty="0"/>
              <a:t>n</a:t>
            </a:r>
            <a:endParaRPr lang="zh-CN" altLang="en-US" i="1" dirty="0"/>
          </a:p>
        </p:txBody>
      </p:sp>
      <p:pic>
        <p:nvPicPr>
          <p:cNvPr id="23"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867912" flipV="1">
            <a:off x="1775515" y="1595323"/>
            <a:ext cx="393391" cy="648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TextBox 23"/>
          <p:cNvSpPr txBox="1"/>
          <p:nvPr/>
        </p:nvSpPr>
        <p:spPr>
          <a:xfrm>
            <a:off x="1429055" y="3994716"/>
            <a:ext cx="405880" cy="369332"/>
          </a:xfrm>
          <a:prstGeom prst="rect">
            <a:avLst/>
          </a:prstGeom>
          <a:noFill/>
        </p:spPr>
        <p:txBody>
          <a:bodyPr wrap="none" rtlCol="0">
            <a:spAutoFit/>
          </a:bodyPr>
          <a:lstStyle/>
          <a:p>
            <a:r>
              <a:rPr lang="en-US" altLang="zh-CN" dirty="0"/>
              <a:t>Q</a:t>
            </a:r>
            <a:r>
              <a:rPr lang="en-US" altLang="zh-CN" baseline="-25000" dirty="0"/>
              <a:t>c</a:t>
            </a:r>
            <a:endParaRPr lang="zh-CN" altLang="en-US" dirty="0"/>
          </a:p>
        </p:txBody>
      </p:sp>
      <p:sp>
        <p:nvSpPr>
          <p:cNvPr id="25" name="TextBox 24"/>
          <p:cNvSpPr txBox="1"/>
          <p:nvPr/>
        </p:nvSpPr>
        <p:spPr>
          <a:xfrm>
            <a:off x="1253459" y="1486645"/>
            <a:ext cx="420308" cy="369332"/>
          </a:xfrm>
          <a:prstGeom prst="rect">
            <a:avLst/>
          </a:prstGeom>
          <a:noFill/>
        </p:spPr>
        <p:txBody>
          <a:bodyPr wrap="none" rtlCol="0">
            <a:spAutoFit/>
          </a:bodyPr>
          <a:lstStyle/>
          <a:p>
            <a:r>
              <a:rPr lang="en-US" altLang="zh-CN" dirty="0" err="1"/>
              <a:t>Q</a:t>
            </a:r>
            <a:r>
              <a:rPr lang="en-US" altLang="zh-CN" baseline="-25000" dirty="0" err="1"/>
              <a:t>h</a:t>
            </a:r>
            <a:endParaRPr lang="zh-CN" altLang="en-US" dirty="0"/>
          </a:p>
        </p:txBody>
      </p:sp>
      <p:cxnSp>
        <p:nvCxnSpPr>
          <p:cNvPr id="30" name="直接箭头连接符 29"/>
          <p:cNvCxnSpPr/>
          <p:nvPr/>
        </p:nvCxnSpPr>
        <p:spPr>
          <a:xfrm flipH="1">
            <a:off x="731505" y="4824042"/>
            <a:ext cx="57092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34222" y="4532113"/>
            <a:ext cx="242374" cy="369332"/>
          </a:xfrm>
          <a:prstGeom prst="rect">
            <a:avLst/>
          </a:prstGeom>
          <a:noFill/>
        </p:spPr>
        <p:txBody>
          <a:bodyPr wrap="none" rtlCol="0">
            <a:spAutoFit/>
          </a:bodyPr>
          <a:lstStyle/>
          <a:p>
            <a:r>
              <a:rPr lang="en-US" altLang="zh-CN" i="1" dirty="0"/>
              <a:t>I</a:t>
            </a:r>
            <a:endParaRPr lang="zh-CN" altLang="en-US" i="1" dirty="0"/>
          </a:p>
        </p:txBody>
      </p:sp>
      <p:sp>
        <p:nvSpPr>
          <p:cNvPr id="2" name="任意多边形 1"/>
          <p:cNvSpPr/>
          <p:nvPr/>
        </p:nvSpPr>
        <p:spPr>
          <a:xfrm>
            <a:off x="238125" y="3712831"/>
            <a:ext cx="1685925" cy="1257300"/>
          </a:xfrm>
          <a:custGeom>
            <a:avLst/>
            <a:gdLst>
              <a:gd name="connsiteX0" fmla="*/ 314325 w 1685925"/>
              <a:gd name="connsiteY0" fmla="*/ 0 h 1257300"/>
              <a:gd name="connsiteX1" fmla="*/ 314325 w 1685925"/>
              <a:gd name="connsiteY1" fmla="*/ 0 h 1257300"/>
              <a:gd name="connsiteX2" fmla="*/ 19050 w 1685925"/>
              <a:gd name="connsiteY2" fmla="*/ 9525 h 1257300"/>
              <a:gd name="connsiteX3" fmla="*/ 0 w 1685925"/>
              <a:gd name="connsiteY3" fmla="*/ 1257300 h 1257300"/>
              <a:gd name="connsiteX4" fmla="*/ 1685925 w 1685925"/>
              <a:gd name="connsiteY4" fmla="*/ 1257300 h 1257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1257300">
                <a:moveTo>
                  <a:pt x="314325" y="0"/>
                </a:moveTo>
                <a:lnTo>
                  <a:pt x="314325" y="0"/>
                </a:lnTo>
                <a:lnTo>
                  <a:pt x="19050" y="9525"/>
                </a:lnTo>
                <a:lnTo>
                  <a:pt x="0" y="1257300"/>
                </a:lnTo>
                <a:lnTo>
                  <a:pt x="1685925" y="125730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flipH="1">
            <a:off x="2124075" y="3789031"/>
            <a:ext cx="1885950" cy="1181100"/>
          </a:xfrm>
          <a:custGeom>
            <a:avLst/>
            <a:gdLst>
              <a:gd name="connsiteX0" fmla="*/ 314325 w 1685925"/>
              <a:gd name="connsiteY0" fmla="*/ 0 h 1257300"/>
              <a:gd name="connsiteX1" fmla="*/ 314325 w 1685925"/>
              <a:gd name="connsiteY1" fmla="*/ 0 h 1257300"/>
              <a:gd name="connsiteX2" fmla="*/ 19050 w 1685925"/>
              <a:gd name="connsiteY2" fmla="*/ 9525 h 1257300"/>
              <a:gd name="connsiteX3" fmla="*/ 0 w 1685925"/>
              <a:gd name="connsiteY3" fmla="*/ 1257300 h 1257300"/>
              <a:gd name="connsiteX4" fmla="*/ 1685925 w 1685925"/>
              <a:gd name="connsiteY4" fmla="*/ 1257300 h 1257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1257300">
                <a:moveTo>
                  <a:pt x="314325" y="0"/>
                </a:moveTo>
                <a:lnTo>
                  <a:pt x="314325" y="0"/>
                </a:lnTo>
                <a:lnTo>
                  <a:pt x="19050" y="9525"/>
                </a:lnTo>
                <a:lnTo>
                  <a:pt x="0" y="1257300"/>
                </a:lnTo>
                <a:lnTo>
                  <a:pt x="1685925" y="125730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p:nvCxnSpPr>
        <p:spPr>
          <a:xfrm>
            <a:off x="1928234" y="4783872"/>
            <a:ext cx="0" cy="3316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2124075" y="4853071"/>
            <a:ext cx="0" cy="1932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2362200" y="4801763"/>
            <a:ext cx="250909" cy="3074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2053404" y="4032449"/>
            <a:ext cx="965201" cy="461665"/>
          </a:xfrm>
          <a:prstGeom prst="rect">
            <a:avLst/>
          </a:prstGeom>
          <a:noFill/>
        </p:spPr>
        <p:txBody>
          <a:bodyPr wrap="none" rtlCol="0">
            <a:spAutoFit/>
          </a:bodyPr>
          <a:lstStyle/>
          <a:p>
            <a:pPr algn="ctr"/>
            <a:r>
              <a:rPr lang="en-US" altLang="zh-CN" sz="1200" dirty="0"/>
              <a:t>Refrigerator </a:t>
            </a:r>
          </a:p>
          <a:p>
            <a:pPr algn="ctr"/>
            <a:r>
              <a:rPr lang="en-US" altLang="zh-CN" sz="1200" dirty="0"/>
              <a:t>Space, </a:t>
            </a:r>
            <a:r>
              <a:rPr lang="en-US" altLang="zh-CN" sz="1200" dirty="0" err="1"/>
              <a:t>Tc</a:t>
            </a:r>
            <a:endParaRPr lang="zh-CN" altLang="en-US" sz="1200" dirty="0"/>
          </a:p>
        </p:txBody>
      </p:sp>
      <p:sp>
        <p:nvSpPr>
          <p:cNvPr id="47" name="TextBox 46"/>
          <p:cNvSpPr txBox="1"/>
          <p:nvPr/>
        </p:nvSpPr>
        <p:spPr>
          <a:xfrm>
            <a:off x="1782817" y="1119149"/>
            <a:ext cx="1466851" cy="461665"/>
          </a:xfrm>
          <a:prstGeom prst="rect">
            <a:avLst/>
          </a:prstGeom>
          <a:noFill/>
        </p:spPr>
        <p:txBody>
          <a:bodyPr wrap="square" rtlCol="0">
            <a:spAutoFit/>
          </a:bodyPr>
          <a:lstStyle/>
          <a:p>
            <a:pPr algn="ctr"/>
            <a:r>
              <a:rPr lang="en-US" altLang="zh-CN" sz="1200" dirty="0"/>
              <a:t>Warm</a:t>
            </a:r>
          </a:p>
          <a:p>
            <a:pPr algn="ctr"/>
            <a:r>
              <a:rPr lang="en-US" altLang="zh-CN" sz="1200" dirty="0"/>
              <a:t>Environment, </a:t>
            </a:r>
            <a:r>
              <a:rPr lang="en-US" altLang="zh-CN" sz="1200" dirty="0" err="1"/>
              <a:t>Th</a:t>
            </a:r>
            <a:endParaRPr lang="zh-CN" altLang="en-US" sz="1200" dirty="0"/>
          </a:p>
        </p:txBody>
      </p:sp>
      <p:sp>
        <p:nvSpPr>
          <p:cNvPr id="48" name="圆角矩形 47"/>
          <p:cNvSpPr/>
          <p:nvPr/>
        </p:nvSpPr>
        <p:spPr>
          <a:xfrm>
            <a:off x="152400" y="5490191"/>
            <a:ext cx="3949262" cy="990600"/>
          </a:xfrm>
          <a:prstGeom prst="roundRect">
            <a:avLst/>
          </a:prstGeom>
          <a:solidFill>
            <a:schemeClr val="accent6">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TextBox 49"/>
          <p:cNvSpPr txBox="1"/>
          <p:nvPr/>
        </p:nvSpPr>
        <p:spPr>
          <a:xfrm>
            <a:off x="309780" y="5718791"/>
            <a:ext cx="1976220" cy="461665"/>
          </a:xfrm>
          <a:prstGeom prst="rect">
            <a:avLst/>
          </a:prstGeom>
          <a:noFill/>
        </p:spPr>
        <p:txBody>
          <a:bodyPr wrap="square" rtlCol="0">
            <a:spAutoFit/>
          </a:bodyPr>
          <a:lstStyle/>
          <a:p>
            <a:r>
              <a:rPr lang="en-US" altLang="zh-CN" sz="2400" dirty="0">
                <a:latin typeface="Arial" pitchFamily="34" charset="0"/>
                <a:cs typeface="Arial" pitchFamily="34" charset="0"/>
              </a:rPr>
              <a:t>COP of TEC</a:t>
            </a:r>
            <a:endParaRPr lang="zh-CN" altLang="en-US" sz="2400" dirty="0">
              <a:latin typeface="Arial" pitchFamily="34" charset="0"/>
              <a:cs typeface="Arial" pitchFamily="34" charset="0"/>
            </a:endParaRPr>
          </a:p>
        </p:txBody>
      </p:sp>
      <p:graphicFrame>
        <p:nvGraphicFramePr>
          <p:cNvPr id="51" name="对象 50"/>
          <p:cNvGraphicFramePr>
            <a:graphicFrameLocks noChangeAspect="1"/>
          </p:cNvGraphicFramePr>
          <p:nvPr/>
        </p:nvGraphicFramePr>
        <p:xfrm>
          <a:off x="2665413" y="5510829"/>
          <a:ext cx="968375" cy="876300"/>
        </p:xfrm>
        <a:graphic>
          <a:graphicData uri="http://schemas.openxmlformats.org/presentationml/2006/ole">
            <mc:AlternateContent xmlns:mc="http://schemas.openxmlformats.org/markup-compatibility/2006">
              <mc:Choice xmlns:v="urn:schemas-microsoft-com:vml" Requires="v">
                <p:oleObj name="Equation" r:id="rId4" imgW="482400" imgH="393480" progId="Equation.DSMT4">
                  <p:embed/>
                </p:oleObj>
              </mc:Choice>
              <mc:Fallback>
                <p:oleObj name="Equation" r:id="rId4" imgW="482400" imgH="393480" progId="Equation.DSMT4">
                  <p:embed/>
                  <p:pic>
                    <p:nvPicPr>
                      <p:cNvPr id="51" name="对象 50"/>
                      <p:cNvPicPr>
                        <a:picLocks noChangeAspect="1" noChangeArrowheads="1"/>
                      </p:cNvPicPr>
                      <p:nvPr/>
                    </p:nvPicPr>
                    <p:blipFill>
                      <a:blip r:embed="rId5"/>
                      <a:srcRect/>
                      <a:stretch>
                        <a:fillRect/>
                      </a:stretch>
                    </p:blipFill>
                    <p:spPr bwMode="auto">
                      <a:xfrm>
                        <a:off x="2665413" y="5510829"/>
                        <a:ext cx="96837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 name="对象 51"/>
          <p:cNvGraphicFramePr>
            <a:graphicFrameLocks noChangeAspect="1"/>
          </p:cNvGraphicFramePr>
          <p:nvPr/>
        </p:nvGraphicFramePr>
        <p:xfrm>
          <a:off x="4223649" y="1213813"/>
          <a:ext cx="2699229" cy="520525"/>
        </p:xfrm>
        <a:graphic>
          <a:graphicData uri="http://schemas.openxmlformats.org/presentationml/2006/ole">
            <mc:AlternateContent xmlns:mc="http://schemas.openxmlformats.org/markup-compatibility/2006">
              <mc:Choice xmlns:v="urn:schemas-microsoft-com:vml" Requires="v">
                <p:oleObj name="Equation" r:id="rId6" imgW="1384200" imgH="241200" progId="Equation.DSMT4">
                  <p:embed/>
                </p:oleObj>
              </mc:Choice>
              <mc:Fallback>
                <p:oleObj name="Equation" r:id="rId6" imgW="1384200" imgH="241200" progId="Equation.DSMT4">
                  <p:embed/>
                  <p:pic>
                    <p:nvPicPr>
                      <p:cNvPr id="52" name="对象 51"/>
                      <p:cNvPicPr>
                        <a:picLocks noChangeAspect="1" noChangeArrowheads="1"/>
                      </p:cNvPicPr>
                      <p:nvPr/>
                    </p:nvPicPr>
                    <p:blipFill>
                      <a:blip r:embed="rId7"/>
                      <a:srcRect/>
                      <a:stretch>
                        <a:fillRect/>
                      </a:stretch>
                    </p:blipFill>
                    <p:spPr bwMode="auto">
                      <a:xfrm>
                        <a:off x="4223649" y="1213813"/>
                        <a:ext cx="2699229" cy="520525"/>
                      </a:xfrm>
                      <a:prstGeom prst="rect">
                        <a:avLst/>
                      </a:prstGeom>
                      <a:noFill/>
                      <a:ln>
                        <a:noFill/>
                      </a:ln>
                      <a:effectLst/>
                    </p:spPr>
                  </p:pic>
                </p:oleObj>
              </mc:Fallback>
            </mc:AlternateContent>
          </a:graphicData>
        </a:graphic>
      </p:graphicFrame>
      <p:graphicFrame>
        <p:nvGraphicFramePr>
          <p:cNvPr id="53" name="对象 52"/>
          <p:cNvGraphicFramePr>
            <a:graphicFrameLocks noChangeAspect="1"/>
          </p:cNvGraphicFramePr>
          <p:nvPr/>
        </p:nvGraphicFramePr>
        <p:xfrm>
          <a:off x="4243441" y="2356748"/>
          <a:ext cx="3214275" cy="737971"/>
        </p:xfrm>
        <a:graphic>
          <a:graphicData uri="http://schemas.openxmlformats.org/presentationml/2006/ole">
            <mc:AlternateContent xmlns:mc="http://schemas.openxmlformats.org/markup-compatibility/2006">
              <mc:Choice xmlns:v="urn:schemas-microsoft-com:vml" Requires="v">
                <p:oleObj name="Equation" r:id="rId8" imgW="1892160" imgH="393480" progId="Equation.DSMT4">
                  <p:embed/>
                </p:oleObj>
              </mc:Choice>
              <mc:Fallback>
                <p:oleObj name="Equation" r:id="rId8" imgW="1892160" imgH="393480" progId="Equation.DSMT4">
                  <p:embed/>
                  <p:pic>
                    <p:nvPicPr>
                      <p:cNvPr id="53" name="对象 52"/>
                      <p:cNvPicPr>
                        <a:picLocks noChangeAspect="1" noChangeArrowheads="1"/>
                      </p:cNvPicPr>
                      <p:nvPr/>
                    </p:nvPicPr>
                    <p:blipFill>
                      <a:blip r:embed="rId9"/>
                      <a:srcRect/>
                      <a:stretch>
                        <a:fillRect/>
                      </a:stretch>
                    </p:blipFill>
                    <p:spPr bwMode="auto">
                      <a:xfrm>
                        <a:off x="4243441" y="2356748"/>
                        <a:ext cx="3214275" cy="737971"/>
                      </a:xfrm>
                      <a:prstGeom prst="rect">
                        <a:avLst/>
                      </a:prstGeom>
                      <a:noFill/>
                      <a:ln>
                        <a:noFill/>
                      </a:ln>
                    </p:spPr>
                  </p:pic>
                </p:oleObj>
              </mc:Fallback>
            </mc:AlternateContent>
          </a:graphicData>
        </a:graphic>
      </p:graphicFrame>
      <p:graphicFrame>
        <p:nvGraphicFramePr>
          <p:cNvPr id="54" name="对象 53"/>
          <p:cNvGraphicFramePr>
            <a:graphicFrameLocks noChangeAspect="1"/>
          </p:cNvGraphicFramePr>
          <p:nvPr/>
        </p:nvGraphicFramePr>
        <p:xfrm>
          <a:off x="4242430" y="1740196"/>
          <a:ext cx="2887482" cy="672203"/>
        </p:xfrm>
        <a:graphic>
          <a:graphicData uri="http://schemas.openxmlformats.org/presentationml/2006/ole">
            <mc:AlternateContent xmlns:mc="http://schemas.openxmlformats.org/markup-compatibility/2006">
              <mc:Choice xmlns:v="urn:schemas-microsoft-com:vml" Requires="v">
                <p:oleObj name="Equation" r:id="rId10" imgW="1866600" imgH="393480" progId="Equation.DSMT4">
                  <p:embed/>
                </p:oleObj>
              </mc:Choice>
              <mc:Fallback>
                <p:oleObj name="Equation" r:id="rId10" imgW="1866600" imgH="393480" progId="Equation.DSMT4">
                  <p:embed/>
                  <p:pic>
                    <p:nvPicPr>
                      <p:cNvPr id="54" name="对象 53"/>
                      <p:cNvPicPr>
                        <a:picLocks noChangeAspect="1" noChangeArrowheads="1"/>
                      </p:cNvPicPr>
                      <p:nvPr/>
                    </p:nvPicPr>
                    <p:blipFill>
                      <a:blip r:embed="rId11"/>
                      <a:srcRect/>
                      <a:stretch>
                        <a:fillRect/>
                      </a:stretch>
                    </p:blipFill>
                    <p:spPr bwMode="auto">
                      <a:xfrm>
                        <a:off x="4242430" y="1740196"/>
                        <a:ext cx="2887482" cy="672203"/>
                      </a:xfrm>
                      <a:prstGeom prst="rect">
                        <a:avLst/>
                      </a:prstGeom>
                      <a:noFill/>
                      <a:ln>
                        <a:noFill/>
                      </a:ln>
                    </p:spPr>
                  </p:pic>
                </p:oleObj>
              </mc:Fallback>
            </mc:AlternateContent>
          </a:graphicData>
        </a:graphic>
      </p:graphicFrame>
      <p:graphicFrame>
        <p:nvGraphicFramePr>
          <p:cNvPr id="55" name="对象 54"/>
          <p:cNvGraphicFramePr>
            <a:graphicFrameLocks noChangeAspect="1"/>
          </p:cNvGraphicFramePr>
          <p:nvPr/>
        </p:nvGraphicFramePr>
        <p:xfrm>
          <a:off x="4502150" y="3444721"/>
          <a:ext cx="3698875" cy="1012825"/>
        </p:xfrm>
        <a:graphic>
          <a:graphicData uri="http://schemas.openxmlformats.org/presentationml/2006/ole">
            <mc:AlternateContent xmlns:mc="http://schemas.openxmlformats.org/markup-compatibility/2006">
              <mc:Choice xmlns:v="urn:schemas-microsoft-com:vml" Requires="v">
                <p:oleObj name="Equation" r:id="rId12" imgW="2438280" imgH="609480" progId="Equation.DSMT4">
                  <p:embed/>
                </p:oleObj>
              </mc:Choice>
              <mc:Fallback>
                <p:oleObj name="Equation" r:id="rId12" imgW="2438280" imgH="609480" progId="Equation.DSMT4">
                  <p:embed/>
                  <p:pic>
                    <p:nvPicPr>
                      <p:cNvPr id="55" name="对象 54"/>
                      <p:cNvPicPr>
                        <a:picLocks noChangeAspect="1" noChangeArrowheads="1"/>
                      </p:cNvPicPr>
                      <p:nvPr/>
                    </p:nvPicPr>
                    <p:blipFill>
                      <a:blip r:embed="rId13"/>
                      <a:srcRect/>
                      <a:stretch>
                        <a:fillRect/>
                      </a:stretch>
                    </p:blipFill>
                    <p:spPr bwMode="auto">
                      <a:xfrm>
                        <a:off x="4502150" y="3444721"/>
                        <a:ext cx="3698875" cy="1012825"/>
                      </a:xfrm>
                      <a:prstGeom prst="rect">
                        <a:avLst/>
                      </a:prstGeom>
                      <a:noFill/>
                      <a:ln>
                        <a:noFill/>
                      </a:ln>
                      <a:effectLst/>
                    </p:spPr>
                  </p:pic>
                </p:oleObj>
              </mc:Fallback>
            </mc:AlternateContent>
          </a:graphicData>
        </a:graphic>
      </p:graphicFrame>
      <p:graphicFrame>
        <p:nvGraphicFramePr>
          <p:cNvPr id="56" name="对象 55"/>
          <p:cNvGraphicFramePr>
            <a:graphicFrameLocks noChangeAspect="1"/>
          </p:cNvGraphicFramePr>
          <p:nvPr/>
        </p:nvGraphicFramePr>
        <p:xfrm>
          <a:off x="5137485" y="555547"/>
          <a:ext cx="1662112" cy="542925"/>
        </p:xfrm>
        <a:graphic>
          <a:graphicData uri="http://schemas.openxmlformats.org/presentationml/2006/ole">
            <mc:AlternateContent xmlns:mc="http://schemas.openxmlformats.org/markup-compatibility/2006">
              <mc:Choice xmlns:v="urn:schemas-microsoft-com:vml" Requires="v">
                <p:oleObj name="Equation" r:id="rId14" imgW="774360" imgH="228600" progId="Equation.DSMT4">
                  <p:embed/>
                </p:oleObj>
              </mc:Choice>
              <mc:Fallback>
                <p:oleObj name="Equation" r:id="rId14" imgW="774360" imgH="228600" progId="Equation.DSMT4">
                  <p:embed/>
                  <p:pic>
                    <p:nvPicPr>
                      <p:cNvPr id="56" name="对象 55"/>
                      <p:cNvPicPr>
                        <a:picLocks noChangeAspect="1" noChangeArrowheads="1"/>
                      </p:cNvPicPr>
                      <p:nvPr/>
                    </p:nvPicPr>
                    <p:blipFill>
                      <a:blip r:embed="rId15"/>
                      <a:srcRect/>
                      <a:stretch>
                        <a:fillRect/>
                      </a:stretch>
                    </p:blipFill>
                    <p:spPr bwMode="auto">
                      <a:xfrm>
                        <a:off x="5137485" y="555547"/>
                        <a:ext cx="1662112"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圆角矩形 56"/>
          <p:cNvSpPr/>
          <p:nvPr/>
        </p:nvSpPr>
        <p:spPr>
          <a:xfrm>
            <a:off x="4010025" y="1119149"/>
            <a:ext cx="4191000" cy="1964119"/>
          </a:xfrm>
          <a:prstGeom prst="roundRect">
            <a:avLst>
              <a:gd name="adj" fmla="val 8547"/>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8" name="对象 57"/>
          <p:cNvGraphicFramePr>
            <a:graphicFrameLocks noChangeAspect="1"/>
          </p:cNvGraphicFramePr>
          <p:nvPr/>
        </p:nvGraphicFramePr>
        <p:xfrm>
          <a:off x="4520241" y="4682700"/>
          <a:ext cx="3302000" cy="1382333"/>
        </p:xfrm>
        <a:graphic>
          <a:graphicData uri="http://schemas.openxmlformats.org/presentationml/2006/ole">
            <mc:AlternateContent xmlns:mc="http://schemas.openxmlformats.org/markup-compatibility/2006">
              <mc:Choice xmlns:v="urn:schemas-microsoft-com:vml" Requires="v">
                <p:oleObj name="Equation" r:id="rId16" imgW="1790640" imgH="685800" progId="Equation.DSMT4">
                  <p:embed/>
                </p:oleObj>
              </mc:Choice>
              <mc:Fallback>
                <p:oleObj name="Equation" r:id="rId16" imgW="1790640" imgH="685800" progId="Equation.DSMT4">
                  <p:embed/>
                  <p:pic>
                    <p:nvPicPr>
                      <p:cNvPr id="58" name="对象 57"/>
                      <p:cNvPicPr>
                        <a:picLocks noChangeAspect="1" noChangeArrowheads="1"/>
                      </p:cNvPicPr>
                      <p:nvPr/>
                    </p:nvPicPr>
                    <p:blipFill>
                      <a:blip r:embed="rId17"/>
                      <a:srcRect/>
                      <a:stretch>
                        <a:fillRect/>
                      </a:stretch>
                    </p:blipFill>
                    <p:spPr bwMode="auto">
                      <a:xfrm>
                        <a:off x="4520241" y="4682700"/>
                        <a:ext cx="3302000" cy="1382333"/>
                      </a:xfrm>
                      <a:prstGeom prst="rect">
                        <a:avLst/>
                      </a:prstGeom>
                      <a:noFill/>
                      <a:ln>
                        <a:noFill/>
                      </a:ln>
                      <a:effectLst/>
                    </p:spPr>
                  </p:pic>
                </p:oleObj>
              </mc:Fallback>
            </mc:AlternateContent>
          </a:graphicData>
        </a:graphic>
      </p:graphicFrame>
      <p:sp>
        <p:nvSpPr>
          <p:cNvPr id="36" name="圆角矩形 35"/>
          <p:cNvSpPr/>
          <p:nvPr/>
        </p:nvSpPr>
        <p:spPr>
          <a:xfrm>
            <a:off x="2443259" y="3604847"/>
            <a:ext cx="1219200" cy="239110"/>
          </a:xfrm>
          <a:prstGeom prst="roundRect">
            <a:avLst>
              <a:gd name="adj" fmla="val 0"/>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6411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03416" y="3124200"/>
            <a:ext cx="3875356" cy="523220"/>
          </a:xfrm>
          <a:prstGeom prst="rect">
            <a:avLst/>
          </a:prstGeom>
          <a:noFill/>
        </p:spPr>
        <p:txBody>
          <a:bodyPr wrap="none" rtlCol="0">
            <a:spAutoFit/>
          </a:bodyPr>
          <a:lstStyle/>
          <a:p>
            <a:r>
              <a:rPr lang="en-US" altLang="zh-CN" sz="2800" dirty="0">
                <a:solidFill>
                  <a:srgbClr val="FF0000"/>
                </a:solidFill>
              </a:rPr>
              <a:t>13. Gibbs Free Energy </a:t>
            </a:r>
            <a:endParaRPr lang="zh-CN" altLang="en-US" sz="2800" dirty="0">
              <a:solidFill>
                <a:srgbClr val="FF0000"/>
              </a:solidFill>
            </a:endParaRPr>
          </a:p>
        </p:txBody>
      </p:sp>
      <p:sp>
        <p:nvSpPr>
          <p:cNvPr id="5" name="圆角矩形 4"/>
          <p:cNvSpPr/>
          <p:nvPr/>
        </p:nvSpPr>
        <p:spPr>
          <a:xfrm>
            <a:off x="150082"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6" name="圆角矩形 5"/>
          <p:cNvSpPr/>
          <p:nvPr/>
        </p:nvSpPr>
        <p:spPr>
          <a:xfrm>
            <a:off x="1727554"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821682"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1004928" y="3924300"/>
            <a:ext cx="7086600" cy="923330"/>
          </a:xfrm>
          <a:prstGeom prst="rect">
            <a:avLst/>
          </a:prstGeom>
          <a:noFill/>
        </p:spPr>
        <p:txBody>
          <a:bodyPr wrap="square" rtlCol="0">
            <a:spAutoFit/>
          </a:bodyPr>
          <a:lstStyle/>
          <a:p>
            <a:r>
              <a:rPr lang="en-US" altLang="zh-CN" b="1" dirty="0"/>
              <a:t>Chapter 5</a:t>
            </a:r>
            <a:r>
              <a:rPr lang="zh-CN" altLang="en-US" b="1" dirty="0"/>
              <a:t>： </a:t>
            </a:r>
            <a:r>
              <a:rPr lang="en-US" altLang="zh-CN" b="1" dirty="0"/>
              <a:t> </a:t>
            </a:r>
          </a:p>
          <a:p>
            <a:r>
              <a:rPr lang="en-US" altLang="zh-CN" b="1" dirty="0">
                <a:solidFill>
                  <a:srgbClr val="0000FF"/>
                </a:solidFill>
              </a:rPr>
              <a:t>Introduction to the thermodynamics of materials</a:t>
            </a:r>
            <a:r>
              <a:rPr lang="en-US" altLang="zh-CN" dirty="0">
                <a:solidFill>
                  <a:srgbClr val="0000FF"/>
                </a:solidFill>
              </a:rPr>
              <a:t>, </a:t>
            </a:r>
          </a:p>
          <a:p>
            <a:r>
              <a:rPr lang="en-US" altLang="zh-CN" dirty="0">
                <a:solidFill>
                  <a:srgbClr val="0000FF"/>
                </a:solidFill>
              </a:rPr>
              <a:t>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4796086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1199382" y="-47887"/>
            <a:ext cx="7178676" cy="97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Thermodynamics</a:t>
            </a:r>
            <a:r>
              <a:rPr lang="en-US" b="1" dirty="0">
                <a:solidFill>
                  <a:srgbClr val="FF0000"/>
                </a:solidFill>
                <a:effectLst>
                  <a:outerShdw blurRad="38100" dist="38100" dir="2700000" algn="tl">
                    <a:srgbClr val="000000">
                      <a:alpha val="43137"/>
                    </a:srgbClr>
                  </a:outerShdw>
                </a:effectLst>
                <a:latin typeface="Arial" charset="0"/>
                <a:cs typeface="Arial" charset="0"/>
              </a:rPr>
              <a:t> free energy </a:t>
            </a:r>
            <a:endParaRPr lang="en-US" dirty="0">
              <a:solidFill>
                <a:srgbClr val="FF0000"/>
              </a:solidFill>
            </a:endParaRPr>
          </a:p>
        </p:txBody>
      </p:sp>
      <p:graphicFrame>
        <p:nvGraphicFramePr>
          <p:cNvPr id="10" name="对象 9"/>
          <p:cNvGraphicFramePr>
            <a:graphicFrameLocks noChangeAspect="1"/>
          </p:cNvGraphicFramePr>
          <p:nvPr/>
        </p:nvGraphicFramePr>
        <p:xfrm>
          <a:off x="841872" y="2995523"/>
          <a:ext cx="1764871" cy="433477"/>
        </p:xfrm>
        <a:graphic>
          <a:graphicData uri="http://schemas.openxmlformats.org/presentationml/2006/ole">
            <mc:AlternateContent xmlns:mc="http://schemas.openxmlformats.org/markup-compatibility/2006">
              <mc:Choice xmlns:v="urn:schemas-microsoft-com:vml" Requires="v">
                <p:oleObj name="Equation" r:id="rId2" imgW="723600" imgH="177480" progId="Equation.DSMT4">
                  <p:embed/>
                </p:oleObj>
              </mc:Choice>
              <mc:Fallback>
                <p:oleObj name="Equation" r:id="rId2" imgW="723600" imgH="177480" progId="Equation.DSMT4">
                  <p:embed/>
                  <p:pic>
                    <p:nvPicPr>
                      <p:cNvPr id="10" name="对象 9"/>
                      <p:cNvPicPr/>
                      <p:nvPr/>
                    </p:nvPicPr>
                    <p:blipFill>
                      <a:blip r:embed="rId3"/>
                      <a:stretch>
                        <a:fillRect/>
                      </a:stretch>
                    </p:blipFill>
                    <p:spPr>
                      <a:xfrm>
                        <a:off x="841872" y="2995523"/>
                        <a:ext cx="1764871" cy="433477"/>
                      </a:xfrm>
                      <a:prstGeom prst="rect">
                        <a:avLst/>
                      </a:prstGeom>
                    </p:spPr>
                  </p:pic>
                </p:oleObj>
              </mc:Fallback>
            </mc:AlternateContent>
          </a:graphicData>
        </a:graphic>
      </p:graphicFrame>
      <p:sp>
        <p:nvSpPr>
          <p:cNvPr id="11" name="TextBox 10"/>
          <p:cNvSpPr txBox="1"/>
          <p:nvPr/>
        </p:nvSpPr>
        <p:spPr>
          <a:xfrm>
            <a:off x="223349" y="2287637"/>
            <a:ext cx="7244612" cy="707886"/>
          </a:xfrm>
          <a:prstGeom prst="rect">
            <a:avLst/>
          </a:prstGeom>
          <a:noFill/>
        </p:spPr>
        <p:txBody>
          <a:bodyPr wrap="none" rtlCol="0">
            <a:spAutoFit/>
          </a:bodyPr>
          <a:lstStyle/>
          <a:p>
            <a:r>
              <a:rPr lang="en-US" altLang="zh-CN" sz="2000" b="1" dirty="0">
                <a:solidFill>
                  <a:srgbClr val="0000FF"/>
                </a:solidFill>
              </a:rPr>
              <a:t>Helmholtz Free Energy A, or F</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V</a:t>
            </a:r>
            <a:endParaRPr lang="zh-CN" altLang="en-US" sz="2000" b="1" i="1" dirty="0">
              <a:solidFill>
                <a:srgbClr val="FF0000"/>
              </a:solidFill>
            </a:endParaRPr>
          </a:p>
        </p:txBody>
      </p:sp>
      <p:sp>
        <p:nvSpPr>
          <p:cNvPr id="15" name="矩形 14"/>
          <p:cNvSpPr/>
          <p:nvPr/>
        </p:nvSpPr>
        <p:spPr>
          <a:xfrm>
            <a:off x="313823" y="1409631"/>
            <a:ext cx="8202258" cy="677108"/>
          </a:xfrm>
          <a:prstGeom prst="rect">
            <a:avLst/>
          </a:prstGeom>
        </p:spPr>
        <p:txBody>
          <a:bodyPr wrap="square">
            <a:spAutoFit/>
          </a:bodyPr>
          <a:lstStyle/>
          <a:p>
            <a:r>
              <a:rPr lang="en-US" altLang="zh-CN" sz="2000" b="1" dirty="0">
                <a:solidFill>
                  <a:srgbClr val="0000FF"/>
                </a:solidFill>
              </a:rPr>
              <a:t>Thermodynamic free energy, </a:t>
            </a:r>
          </a:p>
          <a:p>
            <a:r>
              <a:rPr lang="en-US" altLang="zh-CN" dirty="0"/>
              <a:t>the energy in a physical system that can be converted to do work</a:t>
            </a:r>
            <a:endParaRPr lang="zh-CN" altLang="en-US" dirty="0"/>
          </a:p>
        </p:txBody>
      </p:sp>
      <p:sp>
        <p:nvSpPr>
          <p:cNvPr id="16" name="TextBox 15"/>
          <p:cNvSpPr txBox="1"/>
          <p:nvPr/>
        </p:nvSpPr>
        <p:spPr>
          <a:xfrm>
            <a:off x="228600" y="3556337"/>
            <a:ext cx="7236596" cy="1015663"/>
          </a:xfrm>
          <a:prstGeom prst="rect">
            <a:avLst/>
          </a:prstGeom>
          <a:noFill/>
        </p:spPr>
        <p:txBody>
          <a:bodyPr wrap="none" rtlCol="0">
            <a:spAutoFit/>
          </a:bodyPr>
          <a:lstStyle/>
          <a:p>
            <a:r>
              <a:rPr lang="en-US" altLang="zh-CN" sz="2000" b="1" dirty="0">
                <a:solidFill>
                  <a:srgbClr val="0000FF"/>
                </a:solidFill>
              </a:rPr>
              <a:t>Gibbs Free Energy G, </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P</a:t>
            </a:r>
          </a:p>
          <a:p>
            <a:r>
              <a:rPr lang="en-US" altLang="zh-CN" sz="2000" b="1" i="1" dirty="0">
                <a:solidFill>
                  <a:srgbClr val="FF0000"/>
                </a:solidFill>
              </a:rPr>
              <a:t>      throughout the system</a:t>
            </a:r>
            <a:endParaRPr lang="zh-CN" altLang="en-US" sz="2000" b="1" i="1" dirty="0">
              <a:solidFill>
                <a:srgbClr val="FF0000"/>
              </a:solidFill>
            </a:endParaRPr>
          </a:p>
        </p:txBody>
      </p:sp>
      <p:graphicFrame>
        <p:nvGraphicFramePr>
          <p:cNvPr id="17" name="对象 16"/>
          <p:cNvGraphicFramePr>
            <a:graphicFrameLocks noChangeAspect="1"/>
          </p:cNvGraphicFramePr>
          <p:nvPr/>
        </p:nvGraphicFramePr>
        <p:xfrm>
          <a:off x="895350" y="4672012"/>
          <a:ext cx="4057650" cy="433388"/>
        </p:xfrm>
        <a:graphic>
          <a:graphicData uri="http://schemas.openxmlformats.org/presentationml/2006/ole">
            <mc:AlternateContent xmlns:mc="http://schemas.openxmlformats.org/markup-compatibility/2006">
              <mc:Choice xmlns:v="urn:schemas-microsoft-com:vml" Requires="v">
                <p:oleObj name="Equation" r:id="rId4" imgW="1663560" imgH="177480" progId="Equation.DSMT4">
                  <p:embed/>
                </p:oleObj>
              </mc:Choice>
              <mc:Fallback>
                <p:oleObj name="Equation" r:id="rId4" imgW="1663560" imgH="177480" progId="Equation.DSMT4">
                  <p:embed/>
                  <p:pic>
                    <p:nvPicPr>
                      <p:cNvPr id="17" name="对象 16"/>
                      <p:cNvPicPr>
                        <a:picLocks noChangeAspect="1" noChangeArrowheads="1"/>
                      </p:cNvPicPr>
                      <p:nvPr/>
                    </p:nvPicPr>
                    <p:blipFill>
                      <a:blip r:embed="rId5"/>
                      <a:srcRect/>
                      <a:stretch>
                        <a:fillRect/>
                      </a:stretch>
                    </p:blipFill>
                    <p:spPr bwMode="auto">
                      <a:xfrm>
                        <a:off x="895350" y="4672012"/>
                        <a:ext cx="40576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862918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23946" y="2709"/>
            <a:ext cx="6546600" cy="646331"/>
          </a:xfrm>
          <a:prstGeom prst="rect">
            <a:avLst/>
          </a:prstGeom>
        </p:spPr>
        <p:txBody>
          <a:bodyPr wrap="none">
            <a:spAutoFit/>
          </a:bodyPr>
          <a:lstStyle/>
          <a:p>
            <a:r>
              <a:rPr lang="en-US" altLang="zh-CN" sz="3600" b="1" dirty="0">
                <a:solidFill>
                  <a:srgbClr val="FF0000"/>
                </a:solidFill>
              </a:rPr>
              <a:t>Differential of the state functions</a:t>
            </a:r>
            <a:endParaRPr lang="zh-CN" altLang="en-US" sz="3600" dirty="0">
              <a:solidFill>
                <a:srgbClr val="FF0000"/>
              </a:solidFill>
            </a:endParaRPr>
          </a:p>
        </p:txBody>
      </p:sp>
      <p:graphicFrame>
        <p:nvGraphicFramePr>
          <p:cNvPr id="10" name="对象 9"/>
          <p:cNvGraphicFramePr>
            <a:graphicFrameLocks noChangeAspect="1"/>
          </p:cNvGraphicFramePr>
          <p:nvPr/>
        </p:nvGraphicFramePr>
        <p:xfrm>
          <a:off x="3536901" y="2396665"/>
          <a:ext cx="2544245" cy="418387"/>
        </p:xfrm>
        <a:graphic>
          <a:graphicData uri="http://schemas.openxmlformats.org/presentationml/2006/ole">
            <mc:AlternateContent xmlns:mc="http://schemas.openxmlformats.org/markup-compatibility/2006">
              <mc:Choice xmlns:v="urn:schemas-microsoft-com:vml" Requires="v">
                <p:oleObj name="Equation" r:id="rId3" imgW="1079032" imgH="177723" progId="Equation.DSMT4">
                  <p:embed/>
                </p:oleObj>
              </mc:Choice>
              <mc:Fallback>
                <p:oleObj name="Equation" r:id="rId3" imgW="1079032" imgH="177723" progId="Equation.DSMT4">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901" y="2396665"/>
                        <a:ext cx="2544245" cy="418387"/>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nvGraphicFramePr>
        <p:xfrm>
          <a:off x="462966" y="2195557"/>
          <a:ext cx="2619666" cy="838200"/>
        </p:xfrm>
        <a:graphic>
          <a:graphicData uri="http://schemas.openxmlformats.org/presentationml/2006/ole">
            <mc:AlternateContent xmlns:mc="http://schemas.openxmlformats.org/markup-compatibility/2006">
              <mc:Choice xmlns:v="urn:schemas-microsoft-com:vml" Requires="v">
                <p:oleObj name="Equation" r:id="rId5" imgW="1346040" imgH="431640" progId="Equation.DSMT4">
                  <p:embed/>
                </p:oleObj>
              </mc:Choice>
              <mc:Fallback>
                <p:oleObj name="Equation" r:id="rId5" imgW="1346040" imgH="431640" progId="Equation.DSMT4">
                  <p:embed/>
                  <p:pic>
                    <p:nvPicPr>
                      <p:cNvPr id="12" name="对象 11"/>
                      <p:cNvPicPr>
                        <a:picLocks noChangeAspect="1" noChangeArrowheads="1"/>
                      </p:cNvPicPr>
                      <p:nvPr/>
                    </p:nvPicPr>
                    <p:blipFill>
                      <a:blip r:embed="rId6"/>
                      <a:srcRect/>
                      <a:stretch>
                        <a:fillRect/>
                      </a:stretch>
                    </p:blipFill>
                    <p:spPr bwMode="auto">
                      <a:xfrm>
                        <a:off x="462966" y="2195557"/>
                        <a:ext cx="2619666" cy="838200"/>
                      </a:xfrm>
                      <a:prstGeom prst="rect">
                        <a:avLst/>
                      </a:prstGeom>
                      <a:noFill/>
                      <a:ln>
                        <a:noFill/>
                      </a:ln>
                    </p:spPr>
                  </p:pic>
                </p:oleObj>
              </mc:Fallback>
            </mc:AlternateContent>
          </a:graphicData>
        </a:graphic>
      </p:graphicFrame>
      <p:sp>
        <p:nvSpPr>
          <p:cNvPr id="14" name="TextBox 13"/>
          <p:cNvSpPr txBox="1"/>
          <p:nvPr/>
        </p:nvSpPr>
        <p:spPr>
          <a:xfrm>
            <a:off x="304800" y="1447800"/>
            <a:ext cx="6008504" cy="400110"/>
          </a:xfrm>
          <a:prstGeom prst="rect">
            <a:avLst/>
          </a:prstGeom>
          <a:noFill/>
        </p:spPr>
        <p:txBody>
          <a:bodyPr wrap="none" rtlCol="0">
            <a:spAutoFit/>
          </a:bodyPr>
          <a:lstStyle/>
          <a:p>
            <a:r>
              <a:rPr lang="en-US" altLang="zh-CN" sz="2000" dirty="0"/>
              <a:t>For a incremental change in the state of a closed system</a:t>
            </a:r>
            <a:endParaRPr lang="zh-CN" altLang="en-US" sz="2000" dirty="0"/>
          </a:p>
        </p:txBody>
      </p:sp>
      <p:sp>
        <p:nvSpPr>
          <p:cNvPr id="15" name="右大括号 14"/>
          <p:cNvSpPr/>
          <p:nvPr/>
        </p:nvSpPr>
        <p:spPr>
          <a:xfrm>
            <a:off x="3309794" y="2195556"/>
            <a:ext cx="152400" cy="685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7" name="对象 16"/>
          <p:cNvGraphicFramePr>
            <a:graphicFrameLocks noChangeAspect="1"/>
          </p:cNvGraphicFramePr>
          <p:nvPr/>
        </p:nvGraphicFramePr>
        <p:xfrm>
          <a:off x="457200" y="3490957"/>
          <a:ext cx="2340776" cy="1066800"/>
        </p:xfrm>
        <a:graphic>
          <a:graphicData uri="http://schemas.openxmlformats.org/presentationml/2006/ole">
            <mc:AlternateContent xmlns:mc="http://schemas.openxmlformats.org/markup-compatibility/2006">
              <mc:Choice xmlns:v="urn:schemas-microsoft-com:vml" Requires="v">
                <p:oleObj name="Equation" r:id="rId7" imgW="1422360" imgH="647640" progId="Equation.DSMT4">
                  <p:embed/>
                </p:oleObj>
              </mc:Choice>
              <mc:Fallback>
                <p:oleObj name="Equation" r:id="rId7" imgW="1422360" imgH="647640" progId="Equation.DSMT4">
                  <p:embed/>
                  <p:pic>
                    <p:nvPicPr>
                      <p:cNvPr id="17" name="对象 16"/>
                      <p:cNvPicPr>
                        <a:picLocks noChangeAspect="1" noChangeArrowheads="1"/>
                      </p:cNvPicPr>
                      <p:nvPr/>
                    </p:nvPicPr>
                    <p:blipFill>
                      <a:blip r:embed="rId8"/>
                      <a:srcRect/>
                      <a:stretch>
                        <a:fillRect/>
                      </a:stretch>
                    </p:blipFill>
                    <p:spPr bwMode="auto">
                      <a:xfrm>
                        <a:off x="457200" y="3490957"/>
                        <a:ext cx="2340776" cy="1066800"/>
                      </a:xfrm>
                      <a:prstGeom prst="rect">
                        <a:avLst/>
                      </a:prstGeom>
                      <a:noFill/>
                      <a:ln>
                        <a:noFill/>
                      </a:ln>
                    </p:spPr>
                  </p:pic>
                </p:oleObj>
              </mc:Fallback>
            </mc:AlternateContent>
          </a:graphicData>
        </a:graphic>
      </p:graphicFrame>
      <p:graphicFrame>
        <p:nvGraphicFramePr>
          <p:cNvPr id="18" name="对象 17"/>
          <p:cNvGraphicFramePr>
            <a:graphicFrameLocks noChangeAspect="1"/>
          </p:cNvGraphicFramePr>
          <p:nvPr/>
        </p:nvGraphicFramePr>
        <p:xfrm>
          <a:off x="426592" y="4710156"/>
          <a:ext cx="1935608" cy="319044"/>
        </p:xfrm>
        <a:graphic>
          <a:graphicData uri="http://schemas.openxmlformats.org/presentationml/2006/ole">
            <mc:AlternateContent xmlns:mc="http://schemas.openxmlformats.org/markup-compatibility/2006">
              <mc:Choice xmlns:v="urn:schemas-microsoft-com:vml" Requires="v">
                <p:oleObj name="Equation" r:id="rId9" imgW="1079032" imgH="177723" progId="Equation.DSMT4">
                  <p:embed/>
                </p:oleObj>
              </mc:Choice>
              <mc:Fallback>
                <p:oleObj name="Equation" r:id="rId9" imgW="1079032" imgH="177723" progId="Equation.DSMT4">
                  <p:embed/>
                  <p:pic>
                    <p:nvPicPr>
                      <p:cNvPr id="18" name="对象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592" y="4710156"/>
                        <a:ext cx="1935608" cy="319044"/>
                      </a:xfrm>
                      <a:prstGeom prst="rect">
                        <a:avLst/>
                      </a:prstGeom>
                      <a:noFill/>
                      <a:ln>
                        <a:noFill/>
                      </a:ln>
                    </p:spPr>
                  </p:pic>
                </p:oleObj>
              </mc:Fallback>
            </mc:AlternateContent>
          </a:graphicData>
        </a:graphic>
      </p:graphicFrame>
      <p:sp>
        <p:nvSpPr>
          <p:cNvPr id="19" name="右大括号 18"/>
          <p:cNvSpPr/>
          <p:nvPr/>
        </p:nvSpPr>
        <p:spPr>
          <a:xfrm>
            <a:off x="3276600" y="3567156"/>
            <a:ext cx="152400" cy="1447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0" name="对象 19"/>
          <p:cNvGraphicFramePr>
            <a:graphicFrameLocks noChangeAspect="1"/>
          </p:cNvGraphicFramePr>
          <p:nvPr/>
        </p:nvGraphicFramePr>
        <p:xfrm>
          <a:off x="3616005" y="4026336"/>
          <a:ext cx="2369159" cy="405828"/>
        </p:xfrm>
        <a:graphic>
          <a:graphicData uri="http://schemas.openxmlformats.org/presentationml/2006/ole">
            <mc:AlternateContent xmlns:mc="http://schemas.openxmlformats.org/markup-compatibility/2006">
              <mc:Choice xmlns:v="urn:schemas-microsoft-com:vml" Requires="v">
                <p:oleObj name="Equation" r:id="rId10" imgW="1041120" imgH="177480" progId="Equation.DSMT4">
                  <p:embed/>
                </p:oleObj>
              </mc:Choice>
              <mc:Fallback>
                <p:oleObj name="Equation" r:id="rId10" imgW="1041120" imgH="177480" progId="Equation.DSMT4">
                  <p:embed/>
                  <p:pic>
                    <p:nvPicPr>
                      <p:cNvPr id="20" name="对象 19"/>
                      <p:cNvPicPr>
                        <a:picLocks noChangeAspect="1" noChangeArrowheads="1"/>
                      </p:cNvPicPr>
                      <p:nvPr/>
                    </p:nvPicPr>
                    <p:blipFill>
                      <a:blip r:embed="rId11"/>
                      <a:srcRect/>
                      <a:stretch>
                        <a:fillRect/>
                      </a:stretch>
                    </p:blipFill>
                    <p:spPr bwMode="auto">
                      <a:xfrm>
                        <a:off x="3616005" y="4026336"/>
                        <a:ext cx="2369159" cy="40582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716716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09674" y="-65534"/>
            <a:ext cx="7648576" cy="1077218"/>
          </a:xfrm>
          <a:prstGeom prst="rect">
            <a:avLst/>
          </a:prstGeom>
        </p:spPr>
        <p:txBody>
          <a:bodyPr wrap="square">
            <a:spAutoFit/>
          </a:bodyPr>
          <a:lstStyle/>
          <a:p>
            <a:r>
              <a:rPr lang="en-US" altLang="zh-CN" sz="3200" b="1" dirty="0">
                <a:solidFill>
                  <a:srgbClr val="FF0000"/>
                </a:solidFill>
              </a:rPr>
              <a:t>Differential equations of the state functions</a:t>
            </a:r>
            <a:endParaRPr lang="zh-CN" altLang="en-US" sz="3200" dirty="0">
              <a:solidFill>
                <a:srgbClr val="FF0000"/>
              </a:solidFill>
            </a:endParaRPr>
          </a:p>
        </p:txBody>
      </p:sp>
      <p:graphicFrame>
        <p:nvGraphicFramePr>
          <p:cNvPr id="10" name="对象 9"/>
          <p:cNvGraphicFramePr>
            <a:graphicFrameLocks noChangeAspect="1"/>
          </p:cNvGraphicFramePr>
          <p:nvPr/>
        </p:nvGraphicFramePr>
        <p:xfrm>
          <a:off x="6042818" y="2438400"/>
          <a:ext cx="2544763" cy="417513"/>
        </p:xfrm>
        <a:graphic>
          <a:graphicData uri="http://schemas.openxmlformats.org/presentationml/2006/ole">
            <mc:AlternateContent xmlns:mc="http://schemas.openxmlformats.org/markup-compatibility/2006">
              <mc:Choice xmlns:v="urn:schemas-microsoft-com:vml" Requires="v">
                <p:oleObj name="Equation" r:id="rId2" imgW="1079032" imgH="177723" progId="Equation.DSMT4">
                  <p:embed/>
                </p:oleObj>
              </mc:Choice>
              <mc:Fallback>
                <p:oleObj name="Equation" r:id="rId2" imgW="1079032" imgH="177723" progId="Equation.DSMT4">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818" y="2438400"/>
                        <a:ext cx="2544763"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6096000" y="2947390"/>
          <a:ext cx="2368550" cy="406400"/>
        </p:xfrm>
        <a:graphic>
          <a:graphicData uri="http://schemas.openxmlformats.org/presentationml/2006/ole">
            <mc:AlternateContent xmlns:mc="http://schemas.openxmlformats.org/markup-compatibility/2006">
              <mc:Choice xmlns:v="urn:schemas-microsoft-com:vml" Requires="v">
                <p:oleObj name="Equation" r:id="rId4" imgW="1041120" imgH="177480" progId="Equation.DSMT4">
                  <p:embed/>
                </p:oleObj>
              </mc:Choice>
              <mc:Fallback>
                <p:oleObj name="Equation" r:id="rId4" imgW="1041120" imgH="177480"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947390"/>
                        <a:ext cx="23685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圆角矩形 11"/>
          <p:cNvSpPr/>
          <p:nvPr/>
        </p:nvSpPr>
        <p:spPr>
          <a:xfrm>
            <a:off x="5867400" y="2209800"/>
            <a:ext cx="2971800" cy="259080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对象 12"/>
          <p:cNvGraphicFramePr>
            <a:graphicFrameLocks noChangeAspect="1"/>
          </p:cNvGraphicFramePr>
          <p:nvPr/>
        </p:nvGraphicFramePr>
        <p:xfrm>
          <a:off x="422729" y="2265363"/>
          <a:ext cx="2360613" cy="755650"/>
        </p:xfrm>
        <a:graphic>
          <a:graphicData uri="http://schemas.openxmlformats.org/presentationml/2006/ole">
            <mc:AlternateContent xmlns:mc="http://schemas.openxmlformats.org/markup-compatibility/2006">
              <mc:Choice xmlns:v="urn:schemas-microsoft-com:vml" Requires="v">
                <p:oleObj name="Equation" r:id="rId6" imgW="1346040" imgH="431640" progId="Equation.DSMT4">
                  <p:embed/>
                </p:oleObj>
              </mc:Choice>
              <mc:Fallback>
                <p:oleObj name="Equation" r:id="rId6" imgW="1346040" imgH="431640" progId="Equation.DSMT4">
                  <p:embed/>
                  <p:pic>
                    <p:nvPicPr>
                      <p:cNvPr id="13" name="对象 12"/>
                      <p:cNvPicPr>
                        <a:picLocks noChangeAspect="1" noChangeArrowheads="1"/>
                      </p:cNvPicPr>
                      <p:nvPr/>
                    </p:nvPicPr>
                    <p:blipFill>
                      <a:blip r:embed="rId7"/>
                      <a:srcRect/>
                      <a:stretch>
                        <a:fillRect/>
                      </a:stretch>
                    </p:blipFill>
                    <p:spPr bwMode="auto">
                      <a:xfrm>
                        <a:off x="422729" y="2265363"/>
                        <a:ext cx="2360613" cy="755650"/>
                      </a:xfrm>
                      <a:prstGeom prst="rect">
                        <a:avLst/>
                      </a:prstGeom>
                      <a:noFill/>
                      <a:ln>
                        <a:noFill/>
                      </a:ln>
                    </p:spPr>
                  </p:pic>
                </p:oleObj>
              </mc:Fallback>
            </mc:AlternateContent>
          </a:graphicData>
        </a:graphic>
      </p:graphicFrame>
      <p:sp>
        <p:nvSpPr>
          <p:cNvPr id="15" name="矩形 14"/>
          <p:cNvSpPr/>
          <p:nvPr/>
        </p:nvSpPr>
        <p:spPr>
          <a:xfrm>
            <a:off x="304800" y="1695617"/>
            <a:ext cx="2386744" cy="369332"/>
          </a:xfrm>
          <a:prstGeom prst="rect">
            <a:avLst/>
          </a:prstGeom>
        </p:spPr>
        <p:txBody>
          <a:bodyPr wrap="none">
            <a:spAutoFit/>
          </a:bodyPr>
          <a:lstStyle/>
          <a:p>
            <a:r>
              <a:rPr lang="en-US" altLang="zh-CN" b="1" dirty="0">
                <a:solidFill>
                  <a:srgbClr val="FF0000"/>
                </a:solidFill>
              </a:rPr>
              <a:t>Helmholtz Free Energy </a:t>
            </a:r>
            <a:endParaRPr lang="zh-CN" altLang="en-US" dirty="0"/>
          </a:p>
        </p:txBody>
      </p:sp>
      <p:graphicFrame>
        <p:nvGraphicFramePr>
          <p:cNvPr id="17" name="对象 16"/>
          <p:cNvGraphicFramePr>
            <a:graphicFrameLocks noChangeAspect="1"/>
          </p:cNvGraphicFramePr>
          <p:nvPr/>
        </p:nvGraphicFramePr>
        <p:xfrm>
          <a:off x="3021759" y="1791383"/>
          <a:ext cx="1113804" cy="273566"/>
        </p:xfrm>
        <a:graphic>
          <a:graphicData uri="http://schemas.openxmlformats.org/presentationml/2006/ole">
            <mc:AlternateContent xmlns:mc="http://schemas.openxmlformats.org/markup-compatibility/2006">
              <mc:Choice xmlns:v="urn:schemas-microsoft-com:vml" Requires="v">
                <p:oleObj name="Equation" r:id="rId8" imgW="723600" imgH="177480" progId="Equation.DSMT4">
                  <p:embed/>
                </p:oleObj>
              </mc:Choice>
              <mc:Fallback>
                <p:oleObj name="Equation" r:id="rId8" imgW="723600" imgH="177480" progId="Equation.DSMT4">
                  <p:embed/>
                  <p:pic>
                    <p:nvPicPr>
                      <p:cNvPr id="17" name="对象 16"/>
                      <p:cNvPicPr/>
                      <p:nvPr/>
                    </p:nvPicPr>
                    <p:blipFill>
                      <a:blip r:embed="rId9"/>
                      <a:stretch>
                        <a:fillRect/>
                      </a:stretch>
                    </p:blipFill>
                    <p:spPr>
                      <a:xfrm>
                        <a:off x="3021759" y="1791383"/>
                        <a:ext cx="1113804" cy="273566"/>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454231" y="3153470"/>
          <a:ext cx="1679369" cy="275530"/>
        </p:xfrm>
        <a:graphic>
          <a:graphicData uri="http://schemas.openxmlformats.org/presentationml/2006/ole">
            <mc:AlternateContent xmlns:mc="http://schemas.openxmlformats.org/markup-compatibility/2006">
              <mc:Choice xmlns:v="urn:schemas-microsoft-com:vml" Requires="v">
                <p:oleObj name="Equation" r:id="rId10" imgW="1079032" imgH="177723" progId="Equation.DSMT4">
                  <p:embed/>
                </p:oleObj>
              </mc:Choice>
              <mc:Fallback>
                <p:oleObj name="Equation" r:id="rId10" imgW="1079032" imgH="177723" progId="Equation.DSMT4">
                  <p:embed/>
                  <p:pic>
                    <p:nvPicPr>
                      <p:cNvPr id="18" name="对象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231" y="3153470"/>
                        <a:ext cx="1679369" cy="275530"/>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nvGraphicFramePr>
        <p:xfrm>
          <a:off x="3140529" y="2654300"/>
          <a:ext cx="2041071" cy="317500"/>
        </p:xfrm>
        <a:graphic>
          <a:graphicData uri="http://schemas.openxmlformats.org/presentationml/2006/ole">
            <mc:AlternateContent xmlns:mc="http://schemas.openxmlformats.org/markup-compatibility/2006">
              <mc:Choice xmlns:v="urn:schemas-microsoft-com:vml" Requires="v">
                <p:oleObj name="Equation" r:id="rId11" imgW="1143000" imgH="177480" progId="Equation.DSMT4">
                  <p:embed/>
                </p:oleObj>
              </mc:Choice>
              <mc:Fallback>
                <p:oleObj name="Equation" r:id="rId11" imgW="1143000" imgH="177480" progId="Equation.DSMT4">
                  <p:embed/>
                  <p:pic>
                    <p:nvPicPr>
                      <p:cNvPr id="19" name="对象 18"/>
                      <p:cNvPicPr/>
                      <p:nvPr/>
                    </p:nvPicPr>
                    <p:blipFill>
                      <a:blip r:embed="rId12"/>
                      <a:stretch>
                        <a:fillRect/>
                      </a:stretch>
                    </p:blipFill>
                    <p:spPr>
                      <a:xfrm>
                        <a:off x="3140529" y="2654300"/>
                        <a:ext cx="2041071" cy="317500"/>
                      </a:xfrm>
                      <a:prstGeom prst="rect">
                        <a:avLst/>
                      </a:prstGeom>
                    </p:spPr>
                  </p:pic>
                </p:oleObj>
              </mc:Fallback>
            </mc:AlternateContent>
          </a:graphicData>
        </a:graphic>
      </p:graphicFrame>
      <p:sp>
        <p:nvSpPr>
          <p:cNvPr id="20" name="右大括号 19"/>
          <p:cNvSpPr/>
          <p:nvPr/>
        </p:nvSpPr>
        <p:spPr>
          <a:xfrm>
            <a:off x="2759529" y="2362200"/>
            <a:ext cx="262230" cy="991590"/>
          </a:xfrm>
          <a:prstGeom prst="rightBrace">
            <a:avLst>
              <a:gd name="adj1" fmla="val 4810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1" name="对象 20"/>
          <p:cNvGraphicFramePr>
            <a:graphicFrameLocks noChangeAspect="1"/>
          </p:cNvGraphicFramePr>
          <p:nvPr/>
        </p:nvGraphicFramePr>
        <p:xfrm>
          <a:off x="434975" y="3984670"/>
          <a:ext cx="2405063" cy="755650"/>
        </p:xfrm>
        <a:graphic>
          <a:graphicData uri="http://schemas.openxmlformats.org/presentationml/2006/ole">
            <mc:AlternateContent xmlns:mc="http://schemas.openxmlformats.org/markup-compatibility/2006">
              <mc:Choice xmlns:v="urn:schemas-microsoft-com:vml" Requires="v">
                <p:oleObj name="Equation" r:id="rId13" imgW="1371600" imgH="431640" progId="Equation.DSMT4">
                  <p:embed/>
                </p:oleObj>
              </mc:Choice>
              <mc:Fallback>
                <p:oleObj name="Equation" r:id="rId13" imgW="1371600" imgH="431640" progId="Equation.DSMT4">
                  <p:embed/>
                  <p:pic>
                    <p:nvPicPr>
                      <p:cNvPr id="21" name="对象 20"/>
                      <p:cNvPicPr>
                        <a:picLocks noChangeAspect="1" noChangeArrowheads="1"/>
                      </p:cNvPicPr>
                      <p:nvPr/>
                    </p:nvPicPr>
                    <p:blipFill>
                      <a:blip r:embed="rId14"/>
                      <a:srcRect/>
                      <a:stretch>
                        <a:fillRect/>
                      </a:stretch>
                    </p:blipFill>
                    <p:spPr bwMode="auto">
                      <a:xfrm>
                        <a:off x="434975" y="3984670"/>
                        <a:ext cx="2405063" cy="755650"/>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nvGraphicFramePr>
        <p:xfrm>
          <a:off x="3124200" y="4386307"/>
          <a:ext cx="1858962" cy="317500"/>
        </p:xfrm>
        <a:graphic>
          <a:graphicData uri="http://schemas.openxmlformats.org/presentationml/2006/ole">
            <mc:AlternateContent xmlns:mc="http://schemas.openxmlformats.org/markup-compatibility/2006">
              <mc:Choice xmlns:v="urn:schemas-microsoft-com:vml" Requires="v">
                <p:oleObj name="Equation" r:id="rId15" imgW="1041120" imgH="177480" progId="Equation.DSMT4">
                  <p:embed/>
                </p:oleObj>
              </mc:Choice>
              <mc:Fallback>
                <p:oleObj name="Equation" r:id="rId15" imgW="1041120" imgH="177480" progId="Equation.DSMT4">
                  <p:embed/>
                  <p:pic>
                    <p:nvPicPr>
                      <p:cNvPr id="23" name="对象 22"/>
                      <p:cNvPicPr/>
                      <p:nvPr/>
                    </p:nvPicPr>
                    <p:blipFill>
                      <a:blip r:embed="rId16"/>
                      <a:stretch>
                        <a:fillRect/>
                      </a:stretch>
                    </p:blipFill>
                    <p:spPr>
                      <a:xfrm>
                        <a:off x="3124200" y="4386307"/>
                        <a:ext cx="1858962" cy="317500"/>
                      </a:xfrm>
                      <a:prstGeom prst="rect">
                        <a:avLst/>
                      </a:prstGeom>
                    </p:spPr>
                  </p:pic>
                </p:oleObj>
              </mc:Fallback>
            </mc:AlternateContent>
          </a:graphicData>
        </a:graphic>
      </p:graphicFrame>
      <p:sp>
        <p:nvSpPr>
          <p:cNvPr id="24" name="右大括号 23"/>
          <p:cNvSpPr/>
          <p:nvPr/>
        </p:nvSpPr>
        <p:spPr>
          <a:xfrm>
            <a:off x="2794000" y="4081507"/>
            <a:ext cx="262230" cy="991590"/>
          </a:xfrm>
          <a:prstGeom prst="rightBrace">
            <a:avLst>
              <a:gd name="adj1" fmla="val 4810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p:cNvSpPr/>
          <p:nvPr/>
        </p:nvSpPr>
        <p:spPr>
          <a:xfrm>
            <a:off x="372785" y="3581400"/>
            <a:ext cx="1947969" cy="369332"/>
          </a:xfrm>
          <a:prstGeom prst="rect">
            <a:avLst/>
          </a:prstGeom>
        </p:spPr>
        <p:txBody>
          <a:bodyPr wrap="none">
            <a:spAutoFit/>
          </a:bodyPr>
          <a:lstStyle/>
          <a:p>
            <a:r>
              <a:rPr lang="en-US" altLang="zh-CN" b="1" dirty="0">
                <a:solidFill>
                  <a:srgbClr val="FF0000"/>
                </a:solidFill>
              </a:rPr>
              <a:t>Gibbs Free Energy </a:t>
            </a:r>
            <a:endParaRPr lang="zh-CN" altLang="en-US" dirty="0"/>
          </a:p>
        </p:txBody>
      </p:sp>
      <p:graphicFrame>
        <p:nvGraphicFramePr>
          <p:cNvPr id="26" name="对象 25"/>
          <p:cNvGraphicFramePr>
            <a:graphicFrameLocks noChangeAspect="1"/>
          </p:cNvGraphicFramePr>
          <p:nvPr/>
        </p:nvGraphicFramePr>
        <p:xfrm>
          <a:off x="2573367" y="3629541"/>
          <a:ext cx="1152525" cy="273050"/>
        </p:xfrm>
        <a:graphic>
          <a:graphicData uri="http://schemas.openxmlformats.org/presentationml/2006/ole">
            <mc:AlternateContent xmlns:mc="http://schemas.openxmlformats.org/markup-compatibility/2006">
              <mc:Choice xmlns:v="urn:schemas-microsoft-com:vml" Requires="v">
                <p:oleObj name="Equation" r:id="rId17" imgW="749160" imgH="177480" progId="Equation.DSMT4">
                  <p:embed/>
                </p:oleObj>
              </mc:Choice>
              <mc:Fallback>
                <p:oleObj name="Equation" r:id="rId17" imgW="749160" imgH="177480" progId="Equation.DSMT4">
                  <p:embed/>
                  <p:pic>
                    <p:nvPicPr>
                      <p:cNvPr id="26" name="对象 25"/>
                      <p:cNvPicPr>
                        <a:picLocks noChangeAspect="1" noChangeArrowheads="1"/>
                      </p:cNvPicPr>
                      <p:nvPr/>
                    </p:nvPicPr>
                    <p:blipFill>
                      <a:blip r:embed="rId18"/>
                      <a:srcRect/>
                      <a:stretch>
                        <a:fillRect/>
                      </a:stretch>
                    </p:blipFill>
                    <p:spPr bwMode="auto">
                      <a:xfrm>
                        <a:off x="2573367" y="3629541"/>
                        <a:ext cx="11525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对象 26"/>
          <p:cNvGraphicFramePr>
            <a:graphicFrameLocks noChangeAspect="1"/>
          </p:cNvGraphicFramePr>
          <p:nvPr/>
        </p:nvGraphicFramePr>
        <p:xfrm>
          <a:off x="392748" y="4843508"/>
          <a:ext cx="1970442" cy="338092"/>
        </p:xfrm>
        <a:graphic>
          <a:graphicData uri="http://schemas.openxmlformats.org/presentationml/2006/ole">
            <mc:AlternateContent xmlns:mc="http://schemas.openxmlformats.org/markup-compatibility/2006">
              <mc:Choice xmlns:v="urn:schemas-microsoft-com:vml" Requires="v">
                <p:oleObj name="Equation" r:id="rId19" imgW="1040948" imgH="177723" progId="Equation.DSMT4">
                  <p:embed/>
                </p:oleObj>
              </mc:Choice>
              <mc:Fallback>
                <p:oleObj name="Equation" r:id="rId19" imgW="1040948" imgH="177723" progId="Equation.DSMT4">
                  <p:embed/>
                  <p:pic>
                    <p:nvPicPr>
                      <p:cNvPr id="27" name="对象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748" y="4843508"/>
                        <a:ext cx="1970442" cy="338092"/>
                      </a:xfrm>
                      <a:prstGeom prst="rect">
                        <a:avLst/>
                      </a:prstGeom>
                      <a:noFill/>
                      <a:ln>
                        <a:noFill/>
                      </a:ln>
                    </p:spPr>
                  </p:pic>
                </p:oleObj>
              </mc:Fallback>
            </mc:AlternateContent>
          </a:graphicData>
        </a:graphic>
      </p:graphicFrame>
      <p:graphicFrame>
        <p:nvGraphicFramePr>
          <p:cNvPr id="28" name="对象 27"/>
          <p:cNvGraphicFramePr>
            <a:graphicFrameLocks noChangeAspect="1"/>
          </p:cNvGraphicFramePr>
          <p:nvPr/>
        </p:nvGraphicFramePr>
        <p:xfrm>
          <a:off x="6096000" y="3505200"/>
          <a:ext cx="2687920" cy="418028"/>
        </p:xfrm>
        <a:graphic>
          <a:graphicData uri="http://schemas.openxmlformats.org/presentationml/2006/ole">
            <mc:AlternateContent xmlns:mc="http://schemas.openxmlformats.org/markup-compatibility/2006">
              <mc:Choice xmlns:v="urn:schemas-microsoft-com:vml" Requires="v">
                <p:oleObj name="Equation" r:id="rId20" imgW="1143000" imgH="177480" progId="Equation.DSMT4">
                  <p:embed/>
                </p:oleObj>
              </mc:Choice>
              <mc:Fallback>
                <p:oleObj name="Equation" r:id="rId20" imgW="1143000" imgH="177480" progId="Equation.DSMT4">
                  <p:embed/>
                  <p:pic>
                    <p:nvPicPr>
                      <p:cNvPr id="28" name="对象 27"/>
                      <p:cNvPicPr>
                        <a:picLocks noChangeAspect="1" noChangeArrowheads="1"/>
                      </p:cNvPicPr>
                      <p:nvPr/>
                    </p:nvPicPr>
                    <p:blipFill>
                      <a:blip r:embed="rId21"/>
                      <a:srcRect/>
                      <a:stretch>
                        <a:fillRect/>
                      </a:stretch>
                    </p:blipFill>
                    <p:spPr bwMode="auto">
                      <a:xfrm>
                        <a:off x="6096000" y="3505200"/>
                        <a:ext cx="2687920" cy="418028"/>
                      </a:xfrm>
                      <a:prstGeom prst="rect">
                        <a:avLst/>
                      </a:prstGeom>
                      <a:noFill/>
                      <a:ln>
                        <a:noFill/>
                      </a:ln>
                    </p:spPr>
                  </p:pic>
                </p:oleObj>
              </mc:Fallback>
            </mc:AlternateContent>
          </a:graphicData>
        </a:graphic>
      </p:graphicFrame>
      <p:graphicFrame>
        <p:nvGraphicFramePr>
          <p:cNvPr id="29" name="对象 28"/>
          <p:cNvGraphicFramePr>
            <a:graphicFrameLocks noChangeAspect="1"/>
          </p:cNvGraphicFramePr>
          <p:nvPr/>
        </p:nvGraphicFramePr>
        <p:xfrm>
          <a:off x="6096000" y="4069506"/>
          <a:ext cx="2597150" cy="407650"/>
        </p:xfrm>
        <a:graphic>
          <a:graphicData uri="http://schemas.openxmlformats.org/presentationml/2006/ole">
            <mc:AlternateContent xmlns:mc="http://schemas.openxmlformats.org/markup-compatibility/2006">
              <mc:Choice xmlns:v="urn:schemas-microsoft-com:vml" Requires="v">
                <p:oleObj name="Equation" r:id="rId22" imgW="1130040" imgH="177480" progId="Equation.DSMT4">
                  <p:embed/>
                </p:oleObj>
              </mc:Choice>
              <mc:Fallback>
                <p:oleObj name="Equation" r:id="rId22" imgW="1130040" imgH="177480" progId="Equation.DSMT4">
                  <p:embed/>
                  <p:pic>
                    <p:nvPicPr>
                      <p:cNvPr id="29" name="对象 28"/>
                      <p:cNvPicPr>
                        <a:picLocks noChangeAspect="1" noChangeArrowheads="1"/>
                      </p:cNvPicPr>
                      <p:nvPr/>
                    </p:nvPicPr>
                    <p:blipFill>
                      <a:blip r:embed="rId23"/>
                      <a:srcRect/>
                      <a:stretch>
                        <a:fillRect/>
                      </a:stretch>
                    </p:blipFill>
                    <p:spPr bwMode="auto">
                      <a:xfrm>
                        <a:off x="6096000" y="4069506"/>
                        <a:ext cx="2597150" cy="407650"/>
                      </a:xfrm>
                      <a:prstGeom prst="rect">
                        <a:avLst/>
                      </a:prstGeom>
                      <a:noFill/>
                      <a:ln>
                        <a:noFill/>
                      </a:ln>
                    </p:spPr>
                  </p:pic>
                </p:oleObj>
              </mc:Fallback>
            </mc:AlternateContent>
          </a:graphicData>
        </a:graphic>
      </p:graphicFrame>
      <p:sp>
        <p:nvSpPr>
          <p:cNvPr id="3" name="TextBox 2"/>
          <p:cNvSpPr txBox="1"/>
          <p:nvPr/>
        </p:nvSpPr>
        <p:spPr>
          <a:xfrm>
            <a:off x="2690407" y="5638800"/>
            <a:ext cx="5384103" cy="830997"/>
          </a:xfrm>
          <a:prstGeom prst="rect">
            <a:avLst/>
          </a:prstGeom>
          <a:noFill/>
        </p:spPr>
        <p:txBody>
          <a:bodyPr wrap="none" rtlCol="0">
            <a:spAutoFit/>
          </a:bodyPr>
          <a:lstStyle/>
          <a:p>
            <a:r>
              <a:rPr lang="en-US" altLang="zh-CN" sz="2400" dirty="0"/>
              <a:t>Thermodynamic state variable:  U, H, A, G</a:t>
            </a:r>
          </a:p>
          <a:p>
            <a:r>
              <a:rPr lang="en-US" altLang="zh-CN" sz="2400" dirty="0"/>
              <a:t>Thermodynamic state variable: T, P, V, S</a:t>
            </a:r>
            <a:endParaRPr lang="zh-CN" altLang="en-US" sz="2400" dirty="0"/>
          </a:p>
        </p:txBody>
      </p:sp>
    </p:spTree>
    <p:extLst>
      <p:ext uri="{BB962C8B-B14F-4D97-AF65-F5344CB8AC3E}">
        <p14:creationId xmlns:p14="http://schemas.microsoft.com/office/powerpoint/2010/main" val="33982472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447675" y="609600"/>
            <a:ext cx="7178676" cy="119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pPr algn="ctr"/>
            <a:endParaRPr lang="en-US" dirty="0">
              <a:solidFill>
                <a:srgbClr val="FF0000"/>
              </a:solidFill>
            </a:endParaRPr>
          </a:p>
        </p:txBody>
      </p:sp>
      <p:sp>
        <p:nvSpPr>
          <p:cNvPr id="5" name="TextBox 3">
            <a:extLst>
              <a:ext uri="{FF2B5EF4-FFF2-40B4-BE49-F238E27FC236}">
                <a16:creationId xmlns:a16="http://schemas.microsoft.com/office/drawing/2014/main" id="{DDA19631-AC09-471B-94EA-C1246D941380}"/>
              </a:ext>
            </a:extLst>
          </p:cNvPr>
          <p:cNvSpPr txBox="1"/>
          <p:nvPr/>
        </p:nvSpPr>
        <p:spPr>
          <a:xfrm>
            <a:off x="1655191" y="3111130"/>
            <a:ext cx="5279009" cy="523220"/>
          </a:xfrm>
          <a:prstGeom prst="rect">
            <a:avLst/>
          </a:prstGeom>
          <a:noFill/>
        </p:spPr>
        <p:txBody>
          <a:bodyPr wrap="none" rtlCol="0">
            <a:spAutoFit/>
          </a:bodyPr>
          <a:lstStyle/>
          <a:p>
            <a:r>
              <a:rPr lang="en-US" altLang="zh-CN" sz="2800" dirty="0">
                <a:solidFill>
                  <a:srgbClr val="FF0000"/>
                </a:solidFill>
              </a:rPr>
              <a:t>14. </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Thermodynamic Relations</a:t>
            </a:r>
            <a:endParaRPr lang="en-US" altLang="zh-CN" sz="2800" dirty="0">
              <a:solidFill>
                <a:srgbClr val="FF0000"/>
              </a:solidFill>
            </a:endParaRPr>
          </a:p>
        </p:txBody>
      </p:sp>
      <p:grpSp>
        <p:nvGrpSpPr>
          <p:cNvPr id="2" name="组合 1">
            <a:extLst>
              <a:ext uri="{FF2B5EF4-FFF2-40B4-BE49-F238E27FC236}">
                <a16:creationId xmlns:a16="http://schemas.microsoft.com/office/drawing/2014/main" id="{AD54B97B-B289-4D08-B02E-E6971D14F14C}"/>
              </a:ext>
            </a:extLst>
          </p:cNvPr>
          <p:cNvGrpSpPr/>
          <p:nvPr/>
        </p:nvGrpSpPr>
        <p:grpSpPr>
          <a:xfrm>
            <a:off x="11509" y="3723620"/>
            <a:ext cx="8991600" cy="144002"/>
            <a:chOff x="11509" y="3723620"/>
            <a:chExt cx="8991600" cy="144002"/>
          </a:xfrm>
        </p:grpSpPr>
        <p:sp>
          <p:nvSpPr>
            <p:cNvPr id="6" name="圆角矩形 4">
              <a:extLst>
                <a:ext uri="{FF2B5EF4-FFF2-40B4-BE49-F238E27FC236}">
                  <a16:creationId xmlns:a16="http://schemas.microsoft.com/office/drawing/2014/main" id="{1A4CAF38-52ED-474D-BFAB-A8B886F45284}"/>
                </a:ext>
              </a:extLst>
            </p:cNvPr>
            <p:cNvSpPr/>
            <p:nvPr/>
          </p:nvSpPr>
          <p:spPr>
            <a:xfrm>
              <a:off x="11509"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圆角矩形 5">
              <a:extLst>
                <a:ext uri="{FF2B5EF4-FFF2-40B4-BE49-F238E27FC236}">
                  <a16:creationId xmlns:a16="http://schemas.microsoft.com/office/drawing/2014/main" id="{2EE964D7-4BE7-4770-A5C7-B6465CC70D46}"/>
                </a:ext>
              </a:extLst>
            </p:cNvPr>
            <p:cNvSpPr/>
            <p:nvPr/>
          </p:nvSpPr>
          <p:spPr>
            <a:xfrm>
              <a:off x="1588981"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6">
              <a:extLst>
                <a:ext uri="{FF2B5EF4-FFF2-40B4-BE49-F238E27FC236}">
                  <a16:creationId xmlns:a16="http://schemas.microsoft.com/office/drawing/2014/main" id="{315D4BB7-AC43-4AFF-BE5E-D43E7104F3F4}"/>
                </a:ext>
              </a:extLst>
            </p:cNvPr>
            <p:cNvSpPr/>
            <p:nvPr/>
          </p:nvSpPr>
          <p:spPr>
            <a:xfrm>
              <a:off x="4683109"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TextBox 7">
            <a:extLst>
              <a:ext uri="{FF2B5EF4-FFF2-40B4-BE49-F238E27FC236}">
                <a16:creationId xmlns:a16="http://schemas.microsoft.com/office/drawing/2014/main" id="{BA142D8C-256D-4497-B3C3-C6ACD3850970}"/>
              </a:ext>
            </a:extLst>
          </p:cNvPr>
          <p:cNvSpPr txBox="1"/>
          <p:nvPr/>
        </p:nvSpPr>
        <p:spPr>
          <a:xfrm>
            <a:off x="1004928" y="3924300"/>
            <a:ext cx="7086600" cy="923330"/>
          </a:xfrm>
          <a:prstGeom prst="rect">
            <a:avLst/>
          </a:prstGeom>
          <a:noFill/>
        </p:spPr>
        <p:txBody>
          <a:bodyPr wrap="square" rtlCol="0">
            <a:spAutoFit/>
          </a:bodyPr>
          <a:lstStyle/>
          <a:p>
            <a:r>
              <a:rPr lang="en-US" altLang="zh-CN" b="1" dirty="0"/>
              <a:t>Chapter 5</a:t>
            </a:r>
            <a:r>
              <a:rPr lang="zh-CN" altLang="en-US" b="1" dirty="0"/>
              <a:t>： </a:t>
            </a:r>
            <a:r>
              <a:rPr lang="en-US" altLang="zh-CN" b="1" dirty="0"/>
              <a:t> </a:t>
            </a:r>
          </a:p>
          <a:p>
            <a:r>
              <a:rPr lang="en-US" altLang="zh-CN" b="1" dirty="0">
                <a:solidFill>
                  <a:srgbClr val="0000FF"/>
                </a:solidFill>
              </a:rPr>
              <a:t>Introduction to the thermodynamics of materials</a:t>
            </a:r>
            <a:r>
              <a:rPr lang="en-US" altLang="zh-CN" dirty="0">
                <a:solidFill>
                  <a:srgbClr val="0000FF"/>
                </a:solidFill>
              </a:rPr>
              <a:t>, </a:t>
            </a:r>
          </a:p>
          <a:p>
            <a:r>
              <a:rPr lang="en-US" altLang="zh-CN" dirty="0">
                <a:solidFill>
                  <a:srgbClr val="0000FF"/>
                </a:solidFill>
              </a:rPr>
              <a:t>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1604547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9669" t="58803" r="17435"/>
          <a:stretch/>
        </p:blipFill>
        <p:spPr bwMode="auto">
          <a:xfrm>
            <a:off x="1548580" y="634387"/>
            <a:ext cx="5810864" cy="191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069258" y="176981"/>
            <a:ext cx="3005951" cy="400110"/>
          </a:xfrm>
          <a:prstGeom prst="rect">
            <a:avLst/>
          </a:prstGeom>
          <a:noFill/>
        </p:spPr>
        <p:txBody>
          <a:bodyPr wrap="none" rtlCol="0">
            <a:spAutoFit/>
          </a:bodyPr>
          <a:lstStyle/>
          <a:p>
            <a:r>
              <a:rPr lang="en-US" altLang="zh-CN" sz="2000" dirty="0">
                <a:solidFill>
                  <a:srgbClr val="FF0000"/>
                </a:solidFill>
              </a:rPr>
              <a:t>Thermodynamics square</a:t>
            </a:r>
            <a:endParaRPr lang="zh-CN" altLang="en-US" sz="2000" dirty="0">
              <a:solidFill>
                <a:srgbClr val="FF0000"/>
              </a:solidFill>
            </a:endParaRPr>
          </a:p>
        </p:txBody>
      </p:sp>
      <p:sp>
        <p:nvSpPr>
          <p:cNvPr id="5" name="矩形 4"/>
          <p:cNvSpPr/>
          <p:nvPr/>
        </p:nvSpPr>
        <p:spPr>
          <a:xfrm>
            <a:off x="973393" y="3362632"/>
            <a:ext cx="2109019" cy="1917291"/>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V="1">
            <a:off x="1032386" y="3410564"/>
            <a:ext cx="1991032" cy="18214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1025012" y="3414253"/>
            <a:ext cx="1998406" cy="181773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20383" y="5095257"/>
            <a:ext cx="423514" cy="523220"/>
          </a:xfrm>
          <a:prstGeom prst="rect">
            <a:avLst/>
          </a:prstGeom>
          <a:noFill/>
        </p:spPr>
        <p:txBody>
          <a:bodyPr wrap="none" rtlCol="0">
            <a:spAutoFit/>
          </a:bodyPr>
          <a:lstStyle/>
          <a:p>
            <a:r>
              <a:rPr lang="en-US" altLang="zh-CN" sz="2800" dirty="0"/>
              <a:t>S</a:t>
            </a:r>
            <a:endParaRPr lang="zh-CN" altLang="en-US" sz="2800" dirty="0"/>
          </a:p>
        </p:txBody>
      </p:sp>
      <p:sp>
        <p:nvSpPr>
          <p:cNvPr id="14" name="文本框 13"/>
          <p:cNvSpPr txBox="1"/>
          <p:nvPr/>
        </p:nvSpPr>
        <p:spPr>
          <a:xfrm>
            <a:off x="557584" y="3054855"/>
            <a:ext cx="423514" cy="523220"/>
          </a:xfrm>
          <a:prstGeom prst="rect">
            <a:avLst/>
          </a:prstGeom>
          <a:noFill/>
        </p:spPr>
        <p:txBody>
          <a:bodyPr wrap="none" rtlCol="0">
            <a:spAutoFit/>
          </a:bodyPr>
          <a:lstStyle/>
          <a:p>
            <a:r>
              <a:rPr lang="en-US" altLang="zh-CN" sz="2800" dirty="0"/>
              <a:t>V</a:t>
            </a:r>
            <a:endParaRPr lang="zh-CN" altLang="en-US" sz="2800" dirty="0"/>
          </a:p>
        </p:txBody>
      </p:sp>
      <p:sp>
        <p:nvSpPr>
          <p:cNvPr id="15" name="文本框 14"/>
          <p:cNvSpPr txBox="1"/>
          <p:nvPr/>
        </p:nvSpPr>
        <p:spPr>
          <a:xfrm>
            <a:off x="3104202" y="3070885"/>
            <a:ext cx="434734" cy="584775"/>
          </a:xfrm>
          <a:prstGeom prst="rect">
            <a:avLst/>
          </a:prstGeom>
          <a:noFill/>
        </p:spPr>
        <p:txBody>
          <a:bodyPr wrap="none" rtlCol="0">
            <a:spAutoFit/>
          </a:bodyPr>
          <a:lstStyle/>
          <a:p>
            <a:r>
              <a:rPr lang="en-US" altLang="zh-CN" sz="3200" dirty="0"/>
              <a:t>T</a:t>
            </a:r>
            <a:endParaRPr lang="zh-CN" altLang="en-US" sz="3200" dirty="0"/>
          </a:p>
        </p:txBody>
      </p:sp>
      <p:sp>
        <p:nvSpPr>
          <p:cNvPr id="16" name="文本框 15"/>
          <p:cNvSpPr txBox="1"/>
          <p:nvPr/>
        </p:nvSpPr>
        <p:spPr>
          <a:xfrm>
            <a:off x="3141404" y="5080509"/>
            <a:ext cx="389850" cy="461665"/>
          </a:xfrm>
          <a:prstGeom prst="rect">
            <a:avLst/>
          </a:prstGeom>
          <a:noFill/>
        </p:spPr>
        <p:txBody>
          <a:bodyPr wrap="none" rtlCol="0">
            <a:spAutoFit/>
          </a:bodyPr>
          <a:lstStyle/>
          <a:p>
            <a:r>
              <a:rPr lang="en-US" altLang="zh-CN" sz="2400" dirty="0"/>
              <a:t>P</a:t>
            </a:r>
            <a:endParaRPr lang="zh-CN" altLang="en-US" sz="2400" dirty="0"/>
          </a:p>
        </p:txBody>
      </p:sp>
      <p:sp>
        <p:nvSpPr>
          <p:cNvPr id="17" name="文本框 16"/>
          <p:cNvSpPr txBox="1"/>
          <p:nvPr/>
        </p:nvSpPr>
        <p:spPr>
          <a:xfrm>
            <a:off x="520383" y="4136611"/>
            <a:ext cx="370614" cy="400110"/>
          </a:xfrm>
          <a:prstGeom prst="rect">
            <a:avLst/>
          </a:prstGeom>
          <a:noFill/>
        </p:spPr>
        <p:txBody>
          <a:bodyPr wrap="none" rtlCol="0">
            <a:spAutoFit/>
          </a:bodyPr>
          <a:lstStyle/>
          <a:p>
            <a:r>
              <a:rPr lang="en-US" altLang="zh-CN" sz="2000" i="1" dirty="0">
                <a:solidFill>
                  <a:srgbClr val="FF0000"/>
                </a:solidFill>
              </a:rPr>
              <a:t>U</a:t>
            </a:r>
            <a:endParaRPr lang="zh-CN" altLang="en-US" sz="2000" i="1" dirty="0">
              <a:solidFill>
                <a:srgbClr val="FF0000"/>
              </a:solidFill>
            </a:endParaRPr>
          </a:p>
        </p:txBody>
      </p:sp>
      <p:sp>
        <p:nvSpPr>
          <p:cNvPr id="18" name="文本框 17"/>
          <p:cNvSpPr txBox="1"/>
          <p:nvPr/>
        </p:nvSpPr>
        <p:spPr>
          <a:xfrm>
            <a:off x="1871770" y="2984644"/>
            <a:ext cx="356188" cy="400110"/>
          </a:xfrm>
          <a:prstGeom prst="rect">
            <a:avLst/>
          </a:prstGeom>
          <a:noFill/>
        </p:spPr>
        <p:txBody>
          <a:bodyPr wrap="none" rtlCol="0">
            <a:spAutoFit/>
          </a:bodyPr>
          <a:lstStyle/>
          <a:p>
            <a:r>
              <a:rPr lang="en-US" altLang="zh-CN" sz="2000" i="1" dirty="0">
                <a:solidFill>
                  <a:srgbClr val="FF0000"/>
                </a:solidFill>
              </a:rPr>
              <a:t>A</a:t>
            </a:r>
            <a:endParaRPr lang="zh-CN" altLang="en-US" sz="2000" i="1" dirty="0">
              <a:solidFill>
                <a:srgbClr val="FF0000"/>
              </a:solidFill>
            </a:endParaRPr>
          </a:p>
        </p:txBody>
      </p:sp>
      <p:sp>
        <p:nvSpPr>
          <p:cNvPr id="19" name="文本框 18"/>
          <p:cNvSpPr txBox="1"/>
          <p:nvPr/>
        </p:nvSpPr>
        <p:spPr>
          <a:xfrm>
            <a:off x="1838908" y="5305733"/>
            <a:ext cx="370614" cy="400110"/>
          </a:xfrm>
          <a:prstGeom prst="rect">
            <a:avLst/>
          </a:prstGeom>
          <a:noFill/>
        </p:spPr>
        <p:txBody>
          <a:bodyPr wrap="none" rtlCol="0">
            <a:spAutoFit/>
          </a:bodyPr>
          <a:lstStyle/>
          <a:p>
            <a:r>
              <a:rPr lang="en-US" altLang="zh-CN" sz="2000" i="1" dirty="0">
                <a:solidFill>
                  <a:srgbClr val="FF0000"/>
                </a:solidFill>
              </a:rPr>
              <a:t>H</a:t>
            </a:r>
            <a:endParaRPr lang="zh-CN" altLang="en-US" sz="2000" i="1" dirty="0">
              <a:solidFill>
                <a:srgbClr val="FF0000"/>
              </a:solidFill>
            </a:endParaRPr>
          </a:p>
        </p:txBody>
      </p:sp>
      <p:sp>
        <p:nvSpPr>
          <p:cNvPr id="20" name="文本框 19"/>
          <p:cNvSpPr txBox="1"/>
          <p:nvPr/>
        </p:nvSpPr>
        <p:spPr>
          <a:xfrm>
            <a:off x="3158235" y="4057944"/>
            <a:ext cx="383438" cy="400110"/>
          </a:xfrm>
          <a:prstGeom prst="rect">
            <a:avLst/>
          </a:prstGeom>
          <a:noFill/>
        </p:spPr>
        <p:txBody>
          <a:bodyPr wrap="none" rtlCol="0">
            <a:spAutoFit/>
          </a:bodyPr>
          <a:lstStyle/>
          <a:p>
            <a:r>
              <a:rPr lang="en-US" altLang="zh-CN" sz="2000" i="1" dirty="0">
                <a:solidFill>
                  <a:srgbClr val="FF0000"/>
                </a:solidFill>
              </a:rPr>
              <a:t>G</a:t>
            </a:r>
            <a:endParaRPr lang="zh-CN" altLang="en-US" sz="2000" i="1" dirty="0">
              <a:solidFill>
                <a:srgbClr val="FF0000"/>
              </a:solidFill>
            </a:endParaRPr>
          </a:p>
        </p:txBody>
      </p:sp>
      <p:graphicFrame>
        <p:nvGraphicFramePr>
          <p:cNvPr id="21" name="对象 20"/>
          <p:cNvGraphicFramePr>
            <a:graphicFrameLocks noChangeAspect="1"/>
          </p:cNvGraphicFramePr>
          <p:nvPr/>
        </p:nvGraphicFramePr>
        <p:xfrm>
          <a:off x="5250894" y="2989088"/>
          <a:ext cx="1295400" cy="575830"/>
        </p:xfrm>
        <a:graphic>
          <a:graphicData uri="http://schemas.openxmlformats.org/presentationml/2006/ole">
            <mc:AlternateContent xmlns:mc="http://schemas.openxmlformats.org/markup-compatibility/2006">
              <mc:Choice xmlns:v="urn:schemas-microsoft-com:vml" Requires="v">
                <p:oleObj name="Equation" r:id="rId3" imgW="1054080" imgH="444240" progId="Equation.DSMT4">
                  <p:embed/>
                </p:oleObj>
              </mc:Choice>
              <mc:Fallback>
                <p:oleObj name="Equation" r:id="rId3" imgW="1054080" imgH="444240" progId="Equation.DSMT4">
                  <p:embed/>
                  <p:pic>
                    <p:nvPicPr>
                      <p:cNvPr id="21" name="对象 20"/>
                      <p:cNvPicPr>
                        <a:picLocks noChangeAspect="1" noChangeArrowheads="1"/>
                      </p:cNvPicPr>
                      <p:nvPr/>
                    </p:nvPicPr>
                    <p:blipFill>
                      <a:blip r:embed="rId4"/>
                      <a:srcRect/>
                      <a:stretch>
                        <a:fillRect/>
                      </a:stretch>
                    </p:blipFill>
                    <p:spPr bwMode="auto">
                      <a:xfrm>
                        <a:off x="5250894" y="2989088"/>
                        <a:ext cx="1295400" cy="575830"/>
                      </a:xfrm>
                      <a:prstGeom prst="rect">
                        <a:avLst/>
                      </a:prstGeom>
                      <a:noFill/>
                      <a:ln>
                        <a:solidFill>
                          <a:srgbClr val="FF0000"/>
                        </a:solidFill>
                        <a:prstDash val="dash"/>
                      </a:ln>
                    </p:spPr>
                  </p:pic>
                </p:oleObj>
              </mc:Fallback>
            </mc:AlternateContent>
          </a:graphicData>
        </a:graphic>
      </p:graphicFrame>
      <p:sp>
        <p:nvSpPr>
          <p:cNvPr id="22" name="矩形 21"/>
          <p:cNvSpPr/>
          <p:nvPr/>
        </p:nvSpPr>
        <p:spPr>
          <a:xfrm>
            <a:off x="4852219" y="3835464"/>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4532578" y="3666186"/>
            <a:ext cx="304892" cy="307777"/>
          </a:xfrm>
          <a:prstGeom prst="rect">
            <a:avLst/>
          </a:prstGeom>
          <a:noFill/>
        </p:spPr>
        <p:txBody>
          <a:bodyPr wrap="none" rtlCol="0">
            <a:spAutoFit/>
          </a:bodyPr>
          <a:lstStyle/>
          <a:p>
            <a:r>
              <a:rPr lang="en-US" altLang="zh-CN" sz="1400" dirty="0"/>
              <a:t>V</a:t>
            </a:r>
            <a:endParaRPr lang="zh-CN" altLang="en-US" sz="1400" dirty="0"/>
          </a:p>
        </p:txBody>
      </p:sp>
      <p:sp>
        <p:nvSpPr>
          <p:cNvPr id="24" name="文本框 23"/>
          <p:cNvSpPr txBox="1"/>
          <p:nvPr/>
        </p:nvSpPr>
        <p:spPr>
          <a:xfrm>
            <a:off x="4532578" y="4286278"/>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25" name="文本框 24"/>
          <p:cNvSpPr txBox="1"/>
          <p:nvPr/>
        </p:nvSpPr>
        <p:spPr>
          <a:xfrm>
            <a:off x="5446310" y="4286278"/>
            <a:ext cx="304892" cy="307777"/>
          </a:xfrm>
          <a:prstGeom prst="rect">
            <a:avLst/>
          </a:prstGeom>
          <a:noFill/>
        </p:spPr>
        <p:txBody>
          <a:bodyPr wrap="none" rtlCol="0">
            <a:spAutoFit/>
          </a:bodyPr>
          <a:lstStyle/>
          <a:p>
            <a:r>
              <a:rPr lang="en-US" altLang="zh-CN" sz="1400" dirty="0"/>
              <a:t>P</a:t>
            </a:r>
            <a:endParaRPr lang="zh-CN" altLang="en-US" sz="1400" dirty="0"/>
          </a:p>
        </p:txBody>
      </p:sp>
      <p:cxnSp>
        <p:nvCxnSpPr>
          <p:cNvPr id="27" name="直接箭头连接符 26"/>
          <p:cNvCxnSpPr/>
          <p:nvPr/>
        </p:nvCxnSpPr>
        <p:spPr>
          <a:xfrm flipV="1">
            <a:off x="4874810" y="4019274"/>
            <a:ext cx="376084" cy="38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6270415" y="3835464"/>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6882473" y="3653116"/>
            <a:ext cx="304892" cy="307777"/>
          </a:xfrm>
          <a:prstGeom prst="rect">
            <a:avLst/>
          </a:prstGeom>
          <a:noFill/>
        </p:spPr>
        <p:txBody>
          <a:bodyPr wrap="none" rtlCol="0">
            <a:spAutoFit/>
          </a:bodyPr>
          <a:lstStyle/>
          <a:p>
            <a:r>
              <a:rPr lang="en-US" altLang="zh-CN" sz="1400" dirty="0"/>
              <a:t>T</a:t>
            </a:r>
            <a:endParaRPr lang="zh-CN" altLang="en-US" sz="1400" dirty="0"/>
          </a:p>
        </p:txBody>
      </p:sp>
      <p:sp>
        <p:nvSpPr>
          <p:cNvPr id="30" name="文本框 29"/>
          <p:cNvSpPr txBox="1"/>
          <p:nvPr/>
        </p:nvSpPr>
        <p:spPr>
          <a:xfrm>
            <a:off x="5950774" y="4286278"/>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31" name="文本框 30"/>
          <p:cNvSpPr txBox="1"/>
          <p:nvPr/>
        </p:nvSpPr>
        <p:spPr>
          <a:xfrm>
            <a:off x="6864506" y="4286278"/>
            <a:ext cx="304892" cy="307777"/>
          </a:xfrm>
          <a:prstGeom prst="rect">
            <a:avLst/>
          </a:prstGeom>
          <a:noFill/>
        </p:spPr>
        <p:txBody>
          <a:bodyPr wrap="none" rtlCol="0">
            <a:spAutoFit/>
          </a:bodyPr>
          <a:lstStyle/>
          <a:p>
            <a:r>
              <a:rPr lang="en-US" altLang="zh-CN" sz="1400" dirty="0"/>
              <a:t>P</a:t>
            </a:r>
            <a:endParaRPr lang="zh-CN" altLang="en-US" sz="1400" dirty="0"/>
          </a:p>
        </p:txBody>
      </p:sp>
      <p:cxnSp>
        <p:nvCxnSpPr>
          <p:cNvPr id="32" name="直接箭头连接符 31"/>
          <p:cNvCxnSpPr/>
          <p:nvPr/>
        </p:nvCxnSpPr>
        <p:spPr>
          <a:xfrm flipH="1" flipV="1">
            <a:off x="6542591" y="3973963"/>
            <a:ext cx="307166" cy="404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5" name="对象 34"/>
          <p:cNvGraphicFramePr>
            <a:graphicFrameLocks noChangeAspect="1"/>
          </p:cNvGraphicFramePr>
          <p:nvPr/>
        </p:nvGraphicFramePr>
        <p:xfrm>
          <a:off x="5227638" y="4781550"/>
          <a:ext cx="1403350" cy="574675"/>
        </p:xfrm>
        <a:graphic>
          <a:graphicData uri="http://schemas.openxmlformats.org/presentationml/2006/ole">
            <mc:AlternateContent xmlns:mc="http://schemas.openxmlformats.org/markup-compatibility/2006">
              <mc:Choice xmlns:v="urn:schemas-microsoft-com:vml" Requires="v">
                <p:oleObj name="Equation" r:id="rId5" imgW="1143000" imgH="444240" progId="Equation.DSMT4">
                  <p:embed/>
                </p:oleObj>
              </mc:Choice>
              <mc:Fallback>
                <p:oleObj name="Equation" r:id="rId5" imgW="1143000" imgH="444240" progId="Equation.DSMT4">
                  <p:embed/>
                  <p:pic>
                    <p:nvPicPr>
                      <p:cNvPr id="35" name="对象 34"/>
                      <p:cNvPicPr>
                        <a:picLocks noChangeAspect="1" noChangeArrowheads="1"/>
                      </p:cNvPicPr>
                      <p:nvPr/>
                    </p:nvPicPr>
                    <p:blipFill>
                      <a:blip r:embed="rId6"/>
                      <a:srcRect/>
                      <a:stretch>
                        <a:fillRect/>
                      </a:stretch>
                    </p:blipFill>
                    <p:spPr bwMode="auto">
                      <a:xfrm>
                        <a:off x="5227638" y="4781550"/>
                        <a:ext cx="1403350" cy="574675"/>
                      </a:xfrm>
                      <a:prstGeom prst="rect">
                        <a:avLst/>
                      </a:prstGeom>
                      <a:noFill/>
                      <a:ln>
                        <a:solidFill>
                          <a:srgbClr val="FF0000"/>
                        </a:solidFill>
                        <a:prstDash val="dash"/>
                      </a:ln>
                    </p:spPr>
                  </p:pic>
                </p:oleObj>
              </mc:Fallback>
            </mc:AlternateContent>
          </a:graphicData>
        </a:graphic>
      </p:graphicFrame>
      <p:sp>
        <p:nvSpPr>
          <p:cNvPr id="36" name="矩形 35"/>
          <p:cNvSpPr/>
          <p:nvPr/>
        </p:nvSpPr>
        <p:spPr>
          <a:xfrm>
            <a:off x="4834252" y="5618477"/>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4514611" y="5449199"/>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38" name="文本框 37"/>
          <p:cNvSpPr txBox="1"/>
          <p:nvPr/>
        </p:nvSpPr>
        <p:spPr>
          <a:xfrm>
            <a:off x="4514611" y="6069291"/>
            <a:ext cx="304892" cy="307777"/>
          </a:xfrm>
          <a:prstGeom prst="rect">
            <a:avLst/>
          </a:prstGeom>
          <a:noFill/>
        </p:spPr>
        <p:txBody>
          <a:bodyPr wrap="none" rtlCol="0">
            <a:spAutoFit/>
          </a:bodyPr>
          <a:lstStyle/>
          <a:p>
            <a:r>
              <a:rPr lang="en-US" altLang="zh-CN" sz="1400" dirty="0"/>
              <a:t>P</a:t>
            </a:r>
            <a:endParaRPr lang="zh-CN" altLang="en-US" sz="1400" dirty="0"/>
          </a:p>
        </p:txBody>
      </p:sp>
      <p:sp>
        <p:nvSpPr>
          <p:cNvPr id="39" name="文本框 38"/>
          <p:cNvSpPr txBox="1"/>
          <p:nvPr/>
        </p:nvSpPr>
        <p:spPr>
          <a:xfrm>
            <a:off x="5428343" y="6069291"/>
            <a:ext cx="304892" cy="307777"/>
          </a:xfrm>
          <a:prstGeom prst="rect">
            <a:avLst/>
          </a:prstGeom>
          <a:noFill/>
        </p:spPr>
        <p:txBody>
          <a:bodyPr wrap="none" rtlCol="0">
            <a:spAutoFit/>
          </a:bodyPr>
          <a:lstStyle/>
          <a:p>
            <a:r>
              <a:rPr lang="en-US" altLang="zh-CN" sz="1400" dirty="0"/>
              <a:t>T</a:t>
            </a:r>
            <a:endParaRPr lang="zh-CN" altLang="en-US" sz="1400" dirty="0"/>
          </a:p>
        </p:txBody>
      </p:sp>
      <p:cxnSp>
        <p:nvCxnSpPr>
          <p:cNvPr id="40" name="直接箭头连接符 39"/>
          <p:cNvCxnSpPr/>
          <p:nvPr/>
        </p:nvCxnSpPr>
        <p:spPr>
          <a:xfrm flipV="1">
            <a:off x="4856843" y="5802287"/>
            <a:ext cx="376084" cy="38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6252448" y="5618477"/>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6864506" y="5436129"/>
            <a:ext cx="304892" cy="307777"/>
          </a:xfrm>
          <a:prstGeom prst="rect">
            <a:avLst/>
          </a:prstGeom>
          <a:noFill/>
        </p:spPr>
        <p:txBody>
          <a:bodyPr wrap="none" rtlCol="0">
            <a:spAutoFit/>
          </a:bodyPr>
          <a:lstStyle/>
          <a:p>
            <a:r>
              <a:rPr lang="en-US" altLang="zh-CN" sz="1400" dirty="0"/>
              <a:t>V</a:t>
            </a:r>
            <a:endParaRPr lang="zh-CN" altLang="en-US" sz="1400" dirty="0"/>
          </a:p>
        </p:txBody>
      </p:sp>
      <p:sp>
        <p:nvSpPr>
          <p:cNvPr id="43" name="文本框 42"/>
          <p:cNvSpPr txBox="1"/>
          <p:nvPr/>
        </p:nvSpPr>
        <p:spPr>
          <a:xfrm>
            <a:off x="5932807" y="6069291"/>
            <a:ext cx="304892" cy="307777"/>
          </a:xfrm>
          <a:prstGeom prst="rect">
            <a:avLst/>
          </a:prstGeom>
          <a:noFill/>
        </p:spPr>
        <p:txBody>
          <a:bodyPr wrap="none" rtlCol="0">
            <a:spAutoFit/>
          </a:bodyPr>
          <a:lstStyle/>
          <a:p>
            <a:r>
              <a:rPr lang="en-US" altLang="zh-CN" sz="1400" dirty="0"/>
              <a:t>P</a:t>
            </a:r>
            <a:endParaRPr lang="zh-CN" altLang="en-US" sz="1400" dirty="0"/>
          </a:p>
        </p:txBody>
      </p:sp>
      <p:sp>
        <p:nvSpPr>
          <p:cNvPr id="44" name="文本框 43"/>
          <p:cNvSpPr txBox="1"/>
          <p:nvPr/>
        </p:nvSpPr>
        <p:spPr>
          <a:xfrm>
            <a:off x="6846539" y="6069291"/>
            <a:ext cx="304892" cy="307777"/>
          </a:xfrm>
          <a:prstGeom prst="rect">
            <a:avLst/>
          </a:prstGeom>
          <a:noFill/>
        </p:spPr>
        <p:txBody>
          <a:bodyPr wrap="none" rtlCol="0">
            <a:spAutoFit/>
          </a:bodyPr>
          <a:lstStyle/>
          <a:p>
            <a:r>
              <a:rPr lang="en-US" altLang="zh-CN" sz="1400" dirty="0"/>
              <a:t>T</a:t>
            </a:r>
            <a:endParaRPr lang="zh-CN" altLang="en-US" sz="1400" dirty="0"/>
          </a:p>
        </p:txBody>
      </p:sp>
      <p:cxnSp>
        <p:nvCxnSpPr>
          <p:cNvPr id="45" name="直接箭头连接符 44"/>
          <p:cNvCxnSpPr/>
          <p:nvPr/>
        </p:nvCxnSpPr>
        <p:spPr>
          <a:xfrm flipH="1" flipV="1">
            <a:off x="6539373" y="5862484"/>
            <a:ext cx="292418" cy="29914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45300" y="2494085"/>
            <a:ext cx="1249060" cy="646331"/>
          </a:xfrm>
          <a:prstGeom prst="rect">
            <a:avLst/>
          </a:prstGeom>
          <a:noFill/>
        </p:spPr>
        <p:txBody>
          <a:bodyPr wrap="none" rtlCol="0">
            <a:spAutoFit/>
          </a:bodyPr>
          <a:lstStyle/>
          <a:p>
            <a:r>
              <a:rPr lang="en-US" altLang="zh-CN" dirty="0"/>
              <a:t>Extensive </a:t>
            </a:r>
          </a:p>
          <a:p>
            <a:r>
              <a:rPr lang="en-US" altLang="zh-CN" dirty="0"/>
              <a:t>parameter</a:t>
            </a:r>
            <a:endParaRPr lang="zh-CN" altLang="en-US" dirty="0"/>
          </a:p>
        </p:txBody>
      </p:sp>
      <p:sp>
        <p:nvSpPr>
          <p:cNvPr id="49" name="文本框 48"/>
          <p:cNvSpPr txBox="1"/>
          <p:nvPr/>
        </p:nvSpPr>
        <p:spPr>
          <a:xfrm>
            <a:off x="2884601" y="2551835"/>
            <a:ext cx="1236236" cy="646331"/>
          </a:xfrm>
          <a:prstGeom prst="rect">
            <a:avLst/>
          </a:prstGeom>
          <a:noFill/>
        </p:spPr>
        <p:txBody>
          <a:bodyPr wrap="none" rtlCol="0">
            <a:spAutoFit/>
          </a:bodyPr>
          <a:lstStyle/>
          <a:p>
            <a:r>
              <a:rPr lang="en-US" altLang="zh-CN" dirty="0"/>
              <a:t>Intensive</a:t>
            </a:r>
          </a:p>
          <a:p>
            <a:r>
              <a:rPr lang="en-US" altLang="zh-CN" dirty="0"/>
              <a:t>parameter</a:t>
            </a:r>
            <a:endParaRPr lang="zh-CN" altLang="en-US" dirty="0"/>
          </a:p>
        </p:txBody>
      </p:sp>
      <p:sp>
        <p:nvSpPr>
          <p:cNvPr id="46" name="文本框 45">
            <a:extLst>
              <a:ext uri="{FF2B5EF4-FFF2-40B4-BE49-F238E27FC236}">
                <a16:creationId xmlns:a16="http://schemas.microsoft.com/office/drawing/2014/main" id="{E63E4DB3-775B-42B7-87F3-D2F033B5F243}"/>
              </a:ext>
            </a:extLst>
          </p:cNvPr>
          <p:cNvSpPr txBox="1"/>
          <p:nvPr/>
        </p:nvSpPr>
        <p:spPr>
          <a:xfrm>
            <a:off x="3922310" y="187469"/>
            <a:ext cx="1524000" cy="369332"/>
          </a:xfrm>
          <a:prstGeom prst="rect">
            <a:avLst/>
          </a:prstGeom>
          <a:noFill/>
        </p:spPr>
        <p:txBody>
          <a:bodyPr wrap="square" rtlCol="0">
            <a:spAutoFit/>
          </a:bodyPr>
          <a:lstStyle/>
          <a:p>
            <a:r>
              <a:rPr lang="en-US" altLang="zh-CN" b="1" dirty="0">
                <a:solidFill>
                  <a:srgbClr val="7030A0"/>
                </a:solidFill>
              </a:rPr>
              <a:t>Quiz 4</a:t>
            </a:r>
            <a:r>
              <a:rPr lang="zh-CN" altLang="en-US" b="1" dirty="0">
                <a:solidFill>
                  <a:srgbClr val="7030A0"/>
                </a:solidFill>
              </a:rPr>
              <a:t>：</a:t>
            </a:r>
            <a:r>
              <a:rPr lang="en-US" altLang="zh-CN" b="1" dirty="0">
                <a:solidFill>
                  <a:srgbClr val="7030A0"/>
                </a:solidFill>
              </a:rPr>
              <a:t>3</a:t>
            </a:r>
            <a:endParaRPr lang="zh-CN" altLang="en-US" b="1" dirty="0">
              <a:solidFill>
                <a:srgbClr val="7030A0"/>
              </a:solidFill>
            </a:endParaRPr>
          </a:p>
        </p:txBody>
      </p:sp>
    </p:spTree>
    <p:extLst>
      <p:ext uri="{BB962C8B-B14F-4D97-AF65-F5344CB8AC3E}">
        <p14:creationId xmlns:p14="http://schemas.microsoft.com/office/powerpoint/2010/main" val="5539630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76350" y="148407"/>
            <a:ext cx="7178676"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Application: 1</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2560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9869"/>
          <a:stretch/>
        </p:blipFill>
        <p:spPr bwMode="auto">
          <a:xfrm>
            <a:off x="155574" y="809918"/>
            <a:ext cx="8858726" cy="3628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nvGraphicFramePr>
        <p:xfrm>
          <a:off x="189968" y="3397087"/>
          <a:ext cx="1402647" cy="810418"/>
        </p:xfrm>
        <a:graphic>
          <a:graphicData uri="http://schemas.openxmlformats.org/presentationml/2006/ole">
            <mc:AlternateContent xmlns:mc="http://schemas.openxmlformats.org/markup-compatibility/2006">
              <mc:Choice xmlns:v="urn:schemas-microsoft-com:vml" Requires="v">
                <p:oleObj name="Equation" r:id="rId4" imgW="1143000" imgH="660240" progId="Equation.DSMT4">
                  <p:embed/>
                </p:oleObj>
              </mc:Choice>
              <mc:Fallback>
                <p:oleObj name="Equation" r:id="rId4" imgW="1143000" imgH="660240" progId="Equation.DSMT4">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968" y="3397087"/>
                        <a:ext cx="1402647" cy="810418"/>
                      </a:xfrm>
                      <a:prstGeom prst="rect">
                        <a:avLst/>
                      </a:prstGeom>
                      <a:noFill/>
                      <a:ln>
                        <a:solidFill>
                          <a:srgbClr val="FF0000"/>
                        </a:solidFill>
                        <a:prstDash val="dash"/>
                      </a:ln>
                    </p:spPr>
                  </p:pic>
                </p:oleObj>
              </mc:Fallback>
            </mc:AlternateContent>
          </a:graphicData>
        </a:graphic>
      </p:graphicFrame>
      <p:sp>
        <p:nvSpPr>
          <p:cNvPr id="4" name="任意多边形 3"/>
          <p:cNvSpPr/>
          <p:nvPr/>
        </p:nvSpPr>
        <p:spPr>
          <a:xfrm>
            <a:off x="1529255" y="3802296"/>
            <a:ext cx="1371600" cy="462305"/>
          </a:xfrm>
          <a:custGeom>
            <a:avLst/>
            <a:gdLst>
              <a:gd name="connsiteX0" fmla="*/ 0 w 1371600"/>
              <a:gd name="connsiteY0" fmla="*/ 462305 h 462305"/>
              <a:gd name="connsiteX1" fmla="*/ 567559 w 1371600"/>
              <a:gd name="connsiteY1" fmla="*/ 5105 h 462305"/>
              <a:gd name="connsiteX2" fmla="*/ 1371600 w 1371600"/>
              <a:gd name="connsiteY2" fmla="*/ 257353 h 462305"/>
            </a:gdLst>
            <a:ahLst/>
            <a:cxnLst>
              <a:cxn ang="0">
                <a:pos x="connsiteX0" y="connsiteY0"/>
              </a:cxn>
              <a:cxn ang="0">
                <a:pos x="connsiteX1" y="connsiteY1"/>
              </a:cxn>
              <a:cxn ang="0">
                <a:pos x="connsiteX2" y="connsiteY2"/>
              </a:cxn>
            </a:cxnLst>
            <a:rect l="l" t="t" r="r" b="b"/>
            <a:pathLst>
              <a:path w="1371600" h="462305">
                <a:moveTo>
                  <a:pt x="0" y="462305"/>
                </a:moveTo>
                <a:cubicBezTo>
                  <a:pt x="169479" y="250784"/>
                  <a:pt x="338959" y="39264"/>
                  <a:pt x="567559" y="5105"/>
                </a:cubicBezTo>
                <a:cubicBezTo>
                  <a:pt x="796159" y="-29054"/>
                  <a:pt x="1083879" y="114149"/>
                  <a:pt x="1371600" y="257353"/>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p:cNvGraphicFramePr>
            <a:graphicFrameLocks noChangeAspect="1"/>
          </p:cNvGraphicFramePr>
          <p:nvPr/>
        </p:nvGraphicFramePr>
        <p:xfrm>
          <a:off x="6470389" y="4811732"/>
          <a:ext cx="2312276" cy="1264526"/>
        </p:xfrm>
        <a:graphic>
          <a:graphicData uri="http://schemas.openxmlformats.org/presentationml/2006/ole">
            <mc:AlternateContent xmlns:mc="http://schemas.openxmlformats.org/markup-compatibility/2006">
              <mc:Choice xmlns:v="urn:schemas-microsoft-com:vml" Requires="v">
                <p:oleObj name="Equation" r:id="rId6" imgW="1625400" imgH="888840" progId="Equation.DSMT4">
                  <p:embed/>
                </p:oleObj>
              </mc:Choice>
              <mc:Fallback>
                <p:oleObj name="Equation" r:id="rId6" imgW="1625400" imgH="888840" progId="Equation.DSMT4">
                  <p:embed/>
                  <p:pic>
                    <p:nvPicPr>
                      <p:cNvPr id="5" name="对象 4"/>
                      <p:cNvPicPr/>
                      <p:nvPr/>
                    </p:nvPicPr>
                    <p:blipFill>
                      <a:blip r:embed="rId7"/>
                      <a:stretch>
                        <a:fillRect/>
                      </a:stretch>
                    </p:blipFill>
                    <p:spPr>
                      <a:xfrm>
                        <a:off x="6470389" y="4811732"/>
                        <a:ext cx="2312276" cy="1264526"/>
                      </a:xfrm>
                      <a:prstGeom prst="rect">
                        <a:avLst/>
                      </a:prstGeom>
                      <a:ln>
                        <a:solidFill>
                          <a:srgbClr val="FF0000"/>
                        </a:solidFill>
                      </a:ln>
                    </p:spPr>
                  </p:pic>
                </p:oleObj>
              </mc:Fallback>
            </mc:AlternateContent>
          </a:graphicData>
        </a:graphic>
      </p:graphicFrame>
      <p:sp>
        <p:nvSpPr>
          <p:cNvPr id="13" name="TextBox 12"/>
          <p:cNvSpPr txBox="1"/>
          <p:nvPr/>
        </p:nvSpPr>
        <p:spPr>
          <a:xfrm>
            <a:off x="126348" y="6155133"/>
            <a:ext cx="2932534" cy="461665"/>
          </a:xfrm>
          <a:prstGeom prst="rect">
            <a:avLst/>
          </a:prstGeom>
          <a:noFill/>
        </p:spPr>
        <p:txBody>
          <a:bodyPr wrap="none" rtlCol="0">
            <a:spAutoFit/>
          </a:bodyPr>
          <a:lstStyle/>
          <a:p>
            <a:r>
              <a:rPr lang="en-US" altLang="zh-CN" sz="1200" dirty="0"/>
              <a:t>α: coefficient of thermal expansion</a:t>
            </a:r>
          </a:p>
          <a:p>
            <a:r>
              <a:rPr lang="el-GR" altLang="zh-CN" sz="1200" dirty="0"/>
              <a:t>β</a:t>
            </a:r>
            <a:r>
              <a:rPr lang="en-US" altLang="zh-CN" sz="1200" baseline="-25000" dirty="0"/>
              <a:t>T</a:t>
            </a:r>
            <a:r>
              <a:rPr lang="en-US" altLang="zh-CN" sz="1200" dirty="0"/>
              <a:t>: coefficient of isothermal compression</a:t>
            </a:r>
            <a:endParaRPr lang="zh-CN" altLang="en-US" sz="1200" dirty="0"/>
          </a:p>
        </p:txBody>
      </p:sp>
      <p:graphicFrame>
        <p:nvGraphicFramePr>
          <p:cNvPr id="15" name="对象 14"/>
          <p:cNvGraphicFramePr>
            <a:graphicFrameLocks noChangeAspect="1"/>
          </p:cNvGraphicFramePr>
          <p:nvPr/>
        </p:nvGraphicFramePr>
        <p:xfrm>
          <a:off x="155574" y="4811732"/>
          <a:ext cx="1010126" cy="602191"/>
        </p:xfrm>
        <a:graphic>
          <a:graphicData uri="http://schemas.openxmlformats.org/presentationml/2006/ole">
            <mc:AlternateContent xmlns:mc="http://schemas.openxmlformats.org/markup-compatibility/2006">
              <mc:Choice xmlns:v="urn:schemas-microsoft-com:vml" Requires="v">
                <p:oleObj name="Equation" r:id="rId8" imgW="660240" imgH="393480" progId="Equation.DSMT4">
                  <p:embed/>
                </p:oleObj>
              </mc:Choice>
              <mc:Fallback>
                <p:oleObj name="Equation" r:id="rId8" imgW="660240" imgH="393480" progId="Equation.DSMT4">
                  <p:embed/>
                  <p:pic>
                    <p:nvPicPr>
                      <p:cNvPr id="15" name="对象 14"/>
                      <p:cNvPicPr/>
                      <p:nvPr/>
                    </p:nvPicPr>
                    <p:blipFill>
                      <a:blip r:embed="rId9"/>
                      <a:stretch>
                        <a:fillRect/>
                      </a:stretch>
                    </p:blipFill>
                    <p:spPr>
                      <a:xfrm>
                        <a:off x="155574" y="4811732"/>
                        <a:ext cx="1010126" cy="602191"/>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189968" y="5494202"/>
          <a:ext cx="1126232" cy="536908"/>
        </p:xfrm>
        <a:graphic>
          <a:graphicData uri="http://schemas.openxmlformats.org/presentationml/2006/ole">
            <mc:AlternateContent xmlns:mc="http://schemas.openxmlformats.org/markup-compatibility/2006">
              <mc:Choice xmlns:v="urn:schemas-microsoft-com:vml" Requires="v">
                <p:oleObj name="Equation" r:id="rId10" imgW="825480" imgH="393480" progId="Equation.DSMT4">
                  <p:embed/>
                </p:oleObj>
              </mc:Choice>
              <mc:Fallback>
                <p:oleObj name="Equation" r:id="rId10" imgW="825480" imgH="393480" progId="Equation.DSMT4">
                  <p:embed/>
                  <p:pic>
                    <p:nvPicPr>
                      <p:cNvPr id="16" name="对象 15"/>
                      <p:cNvPicPr>
                        <a:picLocks noChangeAspect="1" noChangeArrowheads="1"/>
                      </p:cNvPicPr>
                      <p:nvPr/>
                    </p:nvPicPr>
                    <p:blipFill>
                      <a:blip r:embed="rId11"/>
                      <a:srcRect/>
                      <a:stretch>
                        <a:fillRect/>
                      </a:stretch>
                    </p:blipFill>
                    <p:spPr bwMode="auto">
                      <a:xfrm>
                        <a:off x="189968" y="5494202"/>
                        <a:ext cx="1126232" cy="536908"/>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nvGraphicFramePr>
        <p:xfrm>
          <a:off x="1852719" y="4963073"/>
          <a:ext cx="3930650" cy="901700"/>
        </p:xfrm>
        <a:graphic>
          <a:graphicData uri="http://schemas.openxmlformats.org/presentationml/2006/ole">
            <mc:AlternateContent xmlns:mc="http://schemas.openxmlformats.org/markup-compatibility/2006">
              <mc:Choice xmlns:v="urn:schemas-microsoft-com:vml" Requires="v">
                <p:oleObj name="Equation" r:id="rId12" imgW="3771720" imgH="863280" progId="Equation.DSMT4">
                  <p:embed/>
                </p:oleObj>
              </mc:Choice>
              <mc:Fallback>
                <p:oleObj name="Equation" r:id="rId12" imgW="3771720" imgH="863280" progId="Equation.DSMT4">
                  <p:embed/>
                  <p:pic>
                    <p:nvPicPr>
                      <p:cNvPr id="12" name="对象 11"/>
                      <p:cNvPicPr>
                        <a:picLocks noChangeAspect="1" noChangeArrowheads="1"/>
                      </p:cNvPicPr>
                      <p:nvPr/>
                    </p:nvPicPr>
                    <p:blipFill>
                      <a:blip r:embed="rId13"/>
                      <a:srcRect/>
                      <a:stretch>
                        <a:fillRect/>
                      </a:stretch>
                    </p:blipFill>
                    <p:spPr bwMode="auto">
                      <a:xfrm>
                        <a:off x="1852719" y="4963073"/>
                        <a:ext cx="3930650" cy="901700"/>
                      </a:xfrm>
                      <a:prstGeom prst="rect">
                        <a:avLst/>
                      </a:prstGeom>
                      <a:solidFill>
                        <a:schemeClr val="accent2">
                          <a:lumMod val="20000"/>
                          <a:lumOff val="80000"/>
                        </a:schemeClr>
                      </a:solidFill>
                      <a:ln>
                        <a:noFill/>
                      </a:ln>
                    </p:spPr>
                  </p:pic>
                </p:oleObj>
              </mc:Fallback>
            </mc:AlternateContent>
          </a:graphicData>
        </a:graphic>
      </p:graphicFrame>
    </p:spTree>
    <p:extLst>
      <p:ext uri="{BB962C8B-B14F-4D97-AF65-F5344CB8AC3E}">
        <p14:creationId xmlns:p14="http://schemas.microsoft.com/office/powerpoint/2010/main" val="8242758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10234" y="0"/>
            <a:ext cx="5530409"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1</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58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3438"/>
          <a:stretch/>
        </p:blipFill>
        <p:spPr bwMode="auto">
          <a:xfrm>
            <a:off x="3137031" y="981855"/>
            <a:ext cx="5912670" cy="3637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p:cNvSpPr/>
          <p:nvPr/>
        </p:nvSpPr>
        <p:spPr>
          <a:xfrm>
            <a:off x="379168" y="2103620"/>
            <a:ext cx="2039341" cy="369332"/>
          </a:xfrm>
          <a:prstGeom prst="rect">
            <a:avLst/>
          </a:prstGeom>
          <a:solidFill>
            <a:schemeClr val="accent6">
              <a:lumMod val="20000"/>
              <a:lumOff val="80000"/>
            </a:schemeClr>
          </a:solidFill>
        </p:spPr>
        <p:txBody>
          <a:bodyPr wrap="none">
            <a:spAutoFit/>
          </a:body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1</a:t>
            </a:r>
            <a:r>
              <a:rPr lang="en-US" altLang="zh-CN"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a:t>
            </a:r>
            <a:r>
              <a:rPr lang="en-US" altLang="zh-CN" b="1" dirty="0" err="1">
                <a:solidFill>
                  <a:srgbClr val="FF0000"/>
                </a:solidFill>
                <a:effectLst>
                  <a:outerShdw blurRad="38100" dist="38100" dir="2700000" algn="tl">
                    <a:srgbClr val="000000">
                      <a:alpha val="43137"/>
                    </a:srgbClr>
                  </a:outerShdw>
                </a:effectLst>
                <a:latin typeface="Arial" charset="0"/>
                <a:cs typeface="Arial" charset="0"/>
              </a:rPr>
              <a:t>TdS</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equation </a:t>
            </a:r>
            <a:endParaRPr lang="zh-CN" altLang="en-US" dirty="0"/>
          </a:p>
        </p:txBody>
      </p:sp>
      <p:graphicFrame>
        <p:nvGraphicFramePr>
          <p:cNvPr id="17" name="对象 16"/>
          <p:cNvGraphicFramePr>
            <a:graphicFrameLocks noChangeAspect="1"/>
          </p:cNvGraphicFramePr>
          <p:nvPr/>
        </p:nvGraphicFramePr>
        <p:xfrm>
          <a:off x="369888" y="3036888"/>
          <a:ext cx="2082800" cy="687387"/>
        </p:xfrm>
        <a:graphic>
          <a:graphicData uri="http://schemas.openxmlformats.org/presentationml/2006/ole">
            <mc:AlternateContent xmlns:mc="http://schemas.openxmlformats.org/markup-compatibility/2006">
              <mc:Choice xmlns:v="urn:schemas-microsoft-com:vml" Requires="v">
                <p:oleObj name="Equation" r:id="rId3" imgW="1307880" imgH="431640" progId="Equation.DSMT4">
                  <p:embed/>
                </p:oleObj>
              </mc:Choice>
              <mc:Fallback>
                <p:oleObj name="Equation" r:id="rId3" imgW="1307880" imgH="431640" progId="Equation.DSMT4">
                  <p:embed/>
                  <p:pic>
                    <p:nvPicPr>
                      <p:cNvPr id="17" name="对象 16"/>
                      <p:cNvPicPr/>
                      <p:nvPr/>
                    </p:nvPicPr>
                    <p:blipFill>
                      <a:blip r:embed="rId4"/>
                      <a:stretch>
                        <a:fillRect/>
                      </a:stretch>
                    </p:blipFill>
                    <p:spPr>
                      <a:xfrm>
                        <a:off x="369888" y="3036888"/>
                        <a:ext cx="2082800" cy="687387"/>
                      </a:xfrm>
                      <a:prstGeom prst="rect">
                        <a:avLst/>
                      </a:prstGeom>
                      <a:solidFill>
                        <a:schemeClr val="accent2">
                          <a:lumMod val="20000"/>
                          <a:lumOff val="80000"/>
                        </a:schemeClr>
                      </a:solidFill>
                    </p:spPr>
                  </p:pic>
                </p:oleObj>
              </mc:Fallback>
            </mc:AlternateContent>
          </a:graphicData>
        </a:graphic>
      </p:graphicFrame>
      <p:graphicFrame>
        <p:nvGraphicFramePr>
          <p:cNvPr id="18" name="对象 17"/>
          <p:cNvGraphicFramePr>
            <a:graphicFrameLocks noChangeAspect="1"/>
          </p:cNvGraphicFramePr>
          <p:nvPr/>
        </p:nvGraphicFramePr>
        <p:xfrm>
          <a:off x="6472871" y="4619296"/>
          <a:ext cx="1800225" cy="1414462"/>
        </p:xfrm>
        <a:graphic>
          <a:graphicData uri="http://schemas.openxmlformats.org/presentationml/2006/ole">
            <mc:AlternateContent xmlns:mc="http://schemas.openxmlformats.org/markup-compatibility/2006">
              <mc:Choice xmlns:v="urn:schemas-microsoft-com:vml" Requires="v">
                <p:oleObj name="Equation" r:id="rId5" imgW="1130040" imgH="888840" progId="Equation.DSMT4">
                  <p:embed/>
                </p:oleObj>
              </mc:Choice>
              <mc:Fallback>
                <p:oleObj name="Equation" r:id="rId5" imgW="1130040" imgH="888840" progId="Equation.DSMT4">
                  <p:embed/>
                  <p:pic>
                    <p:nvPicPr>
                      <p:cNvPr id="18" name="对象 17"/>
                      <p:cNvPicPr>
                        <a:picLocks noChangeAspect="1" noChangeArrowheads="1"/>
                      </p:cNvPicPr>
                      <p:nvPr/>
                    </p:nvPicPr>
                    <p:blipFill>
                      <a:blip r:embed="rId6"/>
                      <a:srcRect/>
                      <a:stretch>
                        <a:fillRect/>
                      </a:stretch>
                    </p:blipFill>
                    <p:spPr bwMode="auto">
                      <a:xfrm>
                        <a:off x="6472871" y="4619296"/>
                        <a:ext cx="1800225" cy="141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7">
            <a:extLst>
              <a:ext uri="{FF2B5EF4-FFF2-40B4-BE49-F238E27FC236}">
                <a16:creationId xmlns:a16="http://schemas.microsoft.com/office/drawing/2014/main" id="{A69858B8-62CE-4381-BE00-67C604D72BD8}"/>
              </a:ext>
            </a:extLst>
          </p:cNvPr>
          <p:cNvSpPr txBox="1"/>
          <p:nvPr/>
        </p:nvSpPr>
        <p:spPr>
          <a:xfrm>
            <a:off x="6324600" y="1317798"/>
            <a:ext cx="1524000" cy="369332"/>
          </a:xfrm>
          <a:prstGeom prst="rect">
            <a:avLst/>
          </a:prstGeom>
          <a:noFill/>
        </p:spPr>
        <p:txBody>
          <a:bodyPr wrap="square" rtlCol="0">
            <a:spAutoFit/>
          </a:bodyPr>
          <a:lstStyle/>
          <a:p>
            <a:r>
              <a:rPr lang="en-US" altLang="zh-CN" b="1" dirty="0">
                <a:solidFill>
                  <a:srgbClr val="7030A0"/>
                </a:solidFill>
              </a:rPr>
              <a:t>Quiz 4</a:t>
            </a:r>
            <a:r>
              <a:rPr lang="zh-CN" altLang="en-US" b="1" dirty="0">
                <a:solidFill>
                  <a:srgbClr val="7030A0"/>
                </a:solidFill>
              </a:rPr>
              <a:t>：</a:t>
            </a:r>
            <a:r>
              <a:rPr lang="en-US" altLang="zh-CN" b="1" dirty="0">
                <a:solidFill>
                  <a:srgbClr val="7030A0"/>
                </a:solidFill>
              </a:rPr>
              <a:t>4</a:t>
            </a:r>
            <a:endParaRPr lang="zh-CN" altLang="en-US" b="1" dirty="0">
              <a:solidFill>
                <a:srgbClr val="7030A0"/>
              </a:solidFill>
            </a:endParaRPr>
          </a:p>
        </p:txBody>
      </p:sp>
    </p:spTree>
    <p:extLst>
      <p:ext uri="{BB962C8B-B14F-4D97-AF65-F5344CB8AC3E}">
        <p14:creationId xmlns:p14="http://schemas.microsoft.com/office/powerpoint/2010/main" val="42742536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3" name="Title 1"/>
          <p:cNvSpPr txBox="1">
            <a:spLocks/>
          </p:cNvSpPr>
          <p:nvPr/>
        </p:nvSpPr>
        <p:spPr bwMode="auto">
          <a:xfrm>
            <a:off x="1014604" y="10031"/>
            <a:ext cx="7178676" cy="627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23" y="1047750"/>
            <a:ext cx="800906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3400" y="3867150"/>
            <a:ext cx="3350469" cy="369332"/>
          </a:xfrm>
          <a:prstGeom prst="rect">
            <a:avLst/>
          </a:prstGeom>
          <a:noFill/>
        </p:spPr>
        <p:txBody>
          <a:bodyPr wrap="none" rtlCol="0">
            <a:spAutoFit/>
          </a:bodyPr>
          <a:lstStyle/>
          <a:p>
            <a:r>
              <a:rPr lang="en-US" altLang="zh-CN" dirty="0"/>
              <a:t>For reversible constant pressure : </a:t>
            </a:r>
            <a:endParaRPr lang="zh-CN" altLang="en-US" dirty="0"/>
          </a:p>
        </p:txBody>
      </p:sp>
      <p:graphicFrame>
        <p:nvGraphicFramePr>
          <p:cNvPr id="14" name="对象 13"/>
          <p:cNvGraphicFramePr>
            <a:graphicFrameLocks noChangeAspect="1"/>
          </p:cNvGraphicFramePr>
          <p:nvPr/>
        </p:nvGraphicFramePr>
        <p:xfrm>
          <a:off x="3886200" y="3749675"/>
          <a:ext cx="914400" cy="604838"/>
        </p:xfrm>
        <a:graphic>
          <a:graphicData uri="http://schemas.openxmlformats.org/presentationml/2006/ole">
            <mc:AlternateContent xmlns:mc="http://schemas.openxmlformats.org/markup-compatibility/2006">
              <mc:Choice xmlns:v="urn:schemas-microsoft-com:vml" Requires="v">
                <p:oleObj name="Equation" r:id="rId3" imgW="672840" imgH="444240" progId="Equation.DSMT4">
                  <p:embed/>
                </p:oleObj>
              </mc:Choice>
              <mc:Fallback>
                <p:oleObj name="Equation" r:id="rId3" imgW="672840" imgH="444240" progId="Equation.DSMT4">
                  <p:embed/>
                  <p:pic>
                    <p:nvPicPr>
                      <p:cNvPr id="14" name="对象 13"/>
                      <p:cNvPicPr/>
                      <p:nvPr/>
                    </p:nvPicPr>
                    <p:blipFill>
                      <a:blip r:embed="rId4"/>
                      <a:stretch>
                        <a:fillRect/>
                      </a:stretch>
                    </p:blipFill>
                    <p:spPr>
                      <a:xfrm>
                        <a:off x="3886200" y="3749675"/>
                        <a:ext cx="914400" cy="604838"/>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7334250" y="3646209"/>
          <a:ext cx="1403350" cy="811213"/>
        </p:xfrm>
        <a:graphic>
          <a:graphicData uri="http://schemas.openxmlformats.org/presentationml/2006/ole">
            <mc:AlternateContent xmlns:mc="http://schemas.openxmlformats.org/markup-compatibility/2006">
              <mc:Choice xmlns:v="urn:schemas-microsoft-com:vml" Requires="v">
                <p:oleObj name="Equation" r:id="rId5" imgW="1143000" imgH="660240" progId="Equation.DSMT4">
                  <p:embed/>
                </p:oleObj>
              </mc:Choice>
              <mc:Fallback>
                <p:oleObj name="Equation" r:id="rId5" imgW="1143000" imgH="660240" progId="Equation.DSMT4">
                  <p:embed/>
                  <p:pic>
                    <p:nvPicPr>
                      <p:cNvPr id="15" name="对象 14"/>
                      <p:cNvPicPr>
                        <a:picLocks noChangeAspect="1" noChangeArrowheads="1"/>
                      </p:cNvPicPr>
                      <p:nvPr/>
                    </p:nvPicPr>
                    <p:blipFill>
                      <a:blip r:embed="rId6"/>
                      <a:srcRect/>
                      <a:stretch>
                        <a:fillRect/>
                      </a:stretch>
                    </p:blipFill>
                    <p:spPr bwMode="auto">
                      <a:xfrm>
                        <a:off x="7334250" y="3646209"/>
                        <a:ext cx="1403350" cy="811213"/>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789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3751778"/>
            <a:ext cx="148590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任意多边形 15"/>
          <p:cNvSpPr/>
          <p:nvPr/>
        </p:nvSpPr>
        <p:spPr>
          <a:xfrm>
            <a:off x="6227379" y="3332137"/>
            <a:ext cx="1639614" cy="285392"/>
          </a:xfrm>
          <a:custGeom>
            <a:avLst/>
            <a:gdLst>
              <a:gd name="connsiteX0" fmla="*/ 1639614 w 1639614"/>
              <a:gd name="connsiteY0" fmla="*/ 190799 h 285392"/>
              <a:gd name="connsiteX1" fmla="*/ 567559 w 1639614"/>
              <a:gd name="connsiteY1" fmla="*/ 1613 h 285392"/>
              <a:gd name="connsiteX2" fmla="*/ 0 w 1639614"/>
              <a:gd name="connsiteY2" fmla="*/ 285392 h 285392"/>
            </a:gdLst>
            <a:ahLst/>
            <a:cxnLst>
              <a:cxn ang="0">
                <a:pos x="connsiteX0" y="connsiteY0"/>
              </a:cxn>
              <a:cxn ang="0">
                <a:pos x="connsiteX1" y="connsiteY1"/>
              </a:cxn>
              <a:cxn ang="0">
                <a:pos x="connsiteX2" y="connsiteY2"/>
              </a:cxn>
            </a:cxnLst>
            <a:rect l="l" t="t" r="r" b="b"/>
            <a:pathLst>
              <a:path w="1639614" h="285392">
                <a:moveTo>
                  <a:pt x="1639614" y="190799"/>
                </a:moveTo>
                <a:cubicBezTo>
                  <a:pt x="1240221" y="88323"/>
                  <a:pt x="840828" y="-14153"/>
                  <a:pt x="567559" y="1613"/>
                </a:cubicBezTo>
                <a:cubicBezTo>
                  <a:pt x="294290" y="17378"/>
                  <a:pt x="147145" y="151385"/>
                  <a:pt x="0" y="285392"/>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对象 16"/>
          <p:cNvGraphicFramePr>
            <a:graphicFrameLocks noChangeAspect="1"/>
          </p:cNvGraphicFramePr>
          <p:nvPr/>
        </p:nvGraphicFramePr>
        <p:xfrm>
          <a:off x="3582988" y="4773613"/>
          <a:ext cx="2330450" cy="976312"/>
        </p:xfrm>
        <a:graphic>
          <a:graphicData uri="http://schemas.openxmlformats.org/presentationml/2006/ole">
            <mc:AlternateContent xmlns:mc="http://schemas.openxmlformats.org/markup-compatibility/2006">
              <mc:Choice xmlns:v="urn:schemas-microsoft-com:vml" Requires="v">
                <p:oleObj name="Equation" r:id="rId8" imgW="1638000" imgH="685800" progId="Equation.DSMT4">
                  <p:embed/>
                </p:oleObj>
              </mc:Choice>
              <mc:Fallback>
                <p:oleObj name="Equation" r:id="rId8" imgW="1638000" imgH="685800" progId="Equation.DSMT4">
                  <p:embed/>
                  <p:pic>
                    <p:nvPicPr>
                      <p:cNvPr id="17" name="对象 16"/>
                      <p:cNvPicPr>
                        <a:picLocks noChangeAspect="1" noChangeArrowheads="1"/>
                      </p:cNvPicPr>
                      <p:nvPr/>
                    </p:nvPicPr>
                    <p:blipFill>
                      <a:blip r:embed="rId9"/>
                      <a:srcRect/>
                      <a:stretch>
                        <a:fillRect/>
                      </a:stretch>
                    </p:blipFill>
                    <p:spPr bwMode="auto">
                      <a:xfrm>
                        <a:off x="3582988" y="4773613"/>
                        <a:ext cx="23304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Box 21"/>
          <p:cNvSpPr txBox="1"/>
          <p:nvPr/>
        </p:nvSpPr>
        <p:spPr>
          <a:xfrm>
            <a:off x="0" y="5829984"/>
            <a:ext cx="4024563" cy="646331"/>
          </a:xfrm>
          <a:prstGeom prst="rect">
            <a:avLst/>
          </a:prstGeom>
          <a:noFill/>
        </p:spPr>
        <p:txBody>
          <a:bodyPr wrap="none" rtlCol="0">
            <a:spAutoFit/>
          </a:bodyPr>
          <a:lstStyle/>
          <a:p>
            <a:r>
              <a:rPr lang="en-US" altLang="zh-CN" dirty="0"/>
              <a:t>α: coefficient of thermal expansion</a:t>
            </a:r>
          </a:p>
          <a:p>
            <a:r>
              <a:rPr lang="el-GR" altLang="zh-CN" dirty="0"/>
              <a:t>β</a:t>
            </a:r>
            <a:r>
              <a:rPr lang="en-US" altLang="zh-CN" baseline="-25000" dirty="0"/>
              <a:t>T</a:t>
            </a:r>
            <a:r>
              <a:rPr lang="en-US" altLang="zh-CN" dirty="0"/>
              <a:t>: coefficient of isothermal compression</a:t>
            </a:r>
            <a:endParaRPr lang="zh-CN" altLang="en-US" dirty="0"/>
          </a:p>
        </p:txBody>
      </p:sp>
      <p:graphicFrame>
        <p:nvGraphicFramePr>
          <p:cNvPr id="23" name="对象 22"/>
          <p:cNvGraphicFramePr>
            <a:graphicFrameLocks noChangeAspect="1"/>
          </p:cNvGraphicFramePr>
          <p:nvPr/>
        </p:nvGraphicFramePr>
        <p:xfrm>
          <a:off x="209074" y="5017559"/>
          <a:ext cx="1010126" cy="602191"/>
        </p:xfrm>
        <a:graphic>
          <a:graphicData uri="http://schemas.openxmlformats.org/presentationml/2006/ole">
            <mc:AlternateContent xmlns:mc="http://schemas.openxmlformats.org/markup-compatibility/2006">
              <mc:Choice xmlns:v="urn:schemas-microsoft-com:vml" Requires="v">
                <p:oleObj name="Equation" r:id="rId10" imgW="660240" imgH="393480" progId="Equation.DSMT4">
                  <p:embed/>
                </p:oleObj>
              </mc:Choice>
              <mc:Fallback>
                <p:oleObj name="Equation" r:id="rId10" imgW="660240" imgH="393480" progId="Equation.DSMT4">
                  <p:embed/>
                  <p:pic>
                    <p:nvPicPr>
                      <p:cNvPr id="23" name="对象 22"/>
                      <p:cNvPicPr/>
                      <p:nvPr/>
                    </p:nvPicPr>
                    <p:blipFill>
                      <a:blip r:embed="rId11"/>
                      <a:stretch>
                        <a:fillRect/>
                      </a:stretch>
                    </p:blipFill>
                    <p:spPr>
                      <a:xfrm>
                        <a:off x="209074" y="5017559"/>
                        <a:ext cx="1010126" cy="602191"/>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1584325" y="5010150"/>
          <a:ext cx="1262063" cy="601663"/>
        </p:xfrm>
        <a:graphic>
          <a:graphicData uri="http://schemas.openxmlformats.org/presentationml/2006/ole">
            <mc:AlternateContent xmlns:mc="http://schemas.openxmlformats.org/markup-compatibility/2006">
              <mc:Choice xmlns:v="urn:schemas-microsoft-com:vml" Requires="v">
                <p:oleObj name="Equation" r:id="rId12" imgW="825480" imgH="393480" progId="Equation.DSMT4">
                  <p:embed/>
                </p:oleObj>
              </mc:Choice>
              <mc:Fallback>
                <p:oleObj name="Equation" r:id="rId12" imgW="825480" imgH="393480" progId="Equation.DSMT4">
                  <p:embed/>
                  <p:pic>
                    <p:nvPicPr>
                      <p:cNvPr id="24" name="对象 23"/>
                      <p:cNvPicPr>
                        <a:picLocks noChangeAspect="1" noChangeArrowheads="1"/>
                      </p:cNvPicPr>
                      <p:nvPr/>
                    </p:nvPicPr>
                    <p:blipFill>
                      <a:blip r:embed="rId13"/>
                      <a:srcRect/>
                      <a:stretch>
                        <a:fillRect/>
                      </a:stretch>
                    </p:blipFill>
                    <p:spPr bwMode="auto">
                      <a:xfrm>
                        <a:off x="1584325" y="5010150"/>
                        <a:ext cx="1262063"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圆角矩形 17"/>
          <p:cNvSpPr/>
          <p:nvPr/>
        </p:nvSpPr>
        <p:spPr>
          <a:xfrm>
            <a:off x="0" y="4857750"/>
            <a:ext cx="3177672" cy="972234"/>
          </a:xfrm>
          <a:prstGeom prst="roundRect">
            <a:avLst>
              <a:gd name="adj" fmla="val 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2260194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4624" y="1512120"/>
            <a:ext cx="2733441" cy="400110"/>
          </a:xfrm>
          <a:prstGeom prst="rect">
            <a:avLst/>
          </a:prstGeom>
          <a:noFill/>
        </p:spPr>
        <p:txBody>
          <a:bodyPr wrap="none" rtlCol="0">
            <a:spAutoFit/>
          </a:bodyPr>
          <a:lstStyle/>
          <a:p>
            <a:r>
              <a:rPr lang="en-US" altLang="zh-CN" sz="2000" dirty="0"/>
              <a:t>For the 1 </a:t>
            </a:r>
            <a:r>
              <a:rPr lang="en-US" altLang="zh-CN" sz="2000" dirty="0" err="1"/>
              <a:t>mol</a:t>
            </a:r>
            <a:r>
              <a:rPr lang="en-US" altLang="zh-CN" sz="2000" dirty="0"/>
              <a:t> idea gas</a:t>
            </a:r>
            <a:endParaRPr lang="zh-CN" altLang="en-US" sz="2000" dirty="0"/>
          </a:p>
        </p:txBody>
      </p:sp>
      <p:graphicFrame>
        <p:nvGraphicFramePr>
          <p:cNvPr id="5" name="对象 4"/>
          <p:cNvGraphicFramePr>
            <a:graphicFrameLocks noChangeAspect="1"/>
          </p:cNvGraphicFramePr>
          <p:nvPr/>
        </p:nvGraphicFramePr>
        <p:xfrm>
          <a:off x="307975" y="2362200"/>
          <a:ext cx="2079625" cy="561975"/>
        </p:xfrm>
        <a:graphic>
          <a:graphicData uri="http://schemas.openxmlformats.org/presentationml/2006/ole">
            <mc:AlternateContent xmlns:mc="http://schemas.openxmlformats.org/markup-compatibility/2006">
              <mc:Choice xmlns:v="urn:schemas-microsoft-com:vml" Requires="v">
                <p:oleObj name="Equation" r:id="rId2" imgW="1460160" imgH="393480" progId="Equation.DSMT4">
                  <p:embed/>
                </p:oleObj>
              </mc:Choice>
              <mc:Fallback>
                <p:oleObj name="Equation" r:id="rId2" imgW="1460160" imgH="393480" progId="Equation.DSMT4">
                  <p:embed/>
                  <p:pic>
                    <p:nvPicPr>
                      <p:cNvPr id="5" name="对象 4"/>
                      <p:cNvPicPr>
                        <a:picLocks noChangeAspect="1" noChangeArrowheads="1"/>
                      </p:cNvPicPr>
                      <p:nvPr/>
                    </p:nvPicPr>
                    <p:blipFill>
                      <a:blip r:embed="rId3"/>
                      <a:srcRect/>
                      <a:stretch>
                        <a:fillRect/>
                      </a:stretch>
                    </p:blipFill>
                    <p:spPr bwMode="auto">
                      <a:xfrm>
                        <a:off x="307975" y="2362200"/>
                        <a:ext cx="20796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itle 1"/>
          <p:cNvSpPr txBox="1">
            <a:spLocks/>
          </p:cNvSpPr>
          <p:nvPr/>
        </p:nvSpPr>
        <p:spPr bwMode="auto">
          <a:xfrm>
            <a:off x="1638166" y="150509"/>
            <a:ext cx="7178676" cy="632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99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312" y="1578188"/>
            <a:ext cx="4950206" cy="4406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958" y="5305547"/>
            <a:ext cx="100965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2350957" y="5136270"/>
            <a:ext cx="2597186" cy="338554"/>
          </a:xfrm>
          <a:prstGeom prst="rect">
            <a:avLst/>
          </a:prstGeom>
          <a:noFill/>
        </p:spPr>
        <p:txBody>
          <a:bodyPr wrap="none" rtlCol="0">
            <a:spAutoFit/>
          </a:bodyPr>
          <a:lstStyle/>
          <a:p>
            <a:r>
              <a:rPr lang="en-US" altLang="zh-CN" sz="1600" i="1" dirty="0"/>
              <a:t>Apply Maxwell relationship</a:t>
            </a:r>
            <a:endParaRPr lang="zh-CN" altLang="en-US" sz="1600" i="1" dirty="0"/>
          </a:p>
        </p:txBody>
      </p:sp>
      <p:sp>
        <p:nvSpPr>
          <p:cNvPr id="14" name="任意多边形 13"/>
          <p:cNvSpPr/>
          <p:nvPr/>
        </p:nvSpPr>
        <p:spPr>
          <a:xfrm>
            <a:off x="5107663" y="5013434"/>
            <a:ext cx="489096" cy="583325"/>
          </a:xfrm>
          <a:custGeom>
            <a:avLst/>
            <a:gdLst>
              <a:gd name="connsiteX0" fmla="*/ 489096 w 489096"/>
              <a:gd name="connsiteY0" fmla="*/ 0 h 583325"/>
              <a:gd name="connsiteX1" fmla="*/ 365 w 489096"/>
              <a:gd name="connsiteY1" fmla="*/ 189187 h 583325"/>
              <a:gd name="connsiteX2" fmla="*/ 426034 w 489096"/>
              <a:gd name="connsiteY2" fmla="*/ 583325 h 583325"/>
            </a:gdLst>
            <a:ahLst/>
            <a:cxnLst>
              <a:cxn ang="0">
                <a:pos x="connsiteX0" y="connsiteY0"/>
              </a:cxn>
              <a:cxn ang="0">
                <a:pos x="connsiteX1" y="connsiteY1"/>
              </a:cxn>
              <a:cxn ang="0">
                <a:pos x="connsiteX2" y="connsiteY2"/>
              </a:cxn>
            </a:cxnLst>
            <a:rect l="l" t="t" r="r" b="b"/>
            <a:pathLst>
              <a:path w="489096" h="583325">
                <a:moveTo>
                  <a:pt x="489096" y="0"/>
                </a:moveTo>
                <a:cubicBezTo>
                  <a:pt x="249985" y="45983"/>
                  <a:pt x="10875" y="91966"/>
                  <a:pt x="365" y="189187"/>
                </a:cubicBezTo>
                <a:cubicBezTo>
                  <a:pt x="-10145" y="286408"/>
                  <a:pt x="207944" y="434866"/>
                  <a:pt x="426034" y="583325"/>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0" y="1315597"/>
            <a:ext cx="3133725" cy="2714625"/>
          </a:xfrm>
          <a:prstGeom prst="roundRect">
            <a:avLst>
              <a:gd name="adj" fmla="val 859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480560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454613" y="117406"/>
            <a:ext cx="7178676" cy="992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Elastic, Magnetic, electric contribution to the free energy</a:t>
            </a:r>
            <a:endParaRPr lang="en-US" dirty="0">
              <a:solidFill>
                <a:srgbClr val="FF0000"/>
              </a:solidFill>
            </a:endParaRPr>
          </a:p>
        </p:txBody>
      </p:sp>
      <p:graphicFrame>
        <p:nvGraphicFramePr>
          <p:cNvPr id="14" name="对象 13"/>
          <p:cNvGraphicFramePr>
            <a:graphicFrameLocks noChangeAspect="1"/>
          </p:cNvGraphicFramePr>
          <p:nvPr/>
        </p:nvGraphicFramePr>
        <p:xfrm>
          <a:off x="762000" y="1596511"/>
          <a:ext cx="5795151" cy="1189879"/>
        </p:xfrm>
        <a:graphic>
          <a:graphicData uri="http://schemas.openxmlformats.org/presentationml/2006/ole">
            <mc:AlternateContent xmlns:mc="http://schemas.openxmlformats.org/markup-compatibility/2006">
              <mc:Choice xmlns:v="urn:schemas-microsoft-com:vml" Requires="v">
                <p:oleObj name="Equation" r:id="rId2" imgW="3340080" imgH="685800" progId="Equation.DSMT4">
                  <p:embed/>
                </p:oleObj>
              </mc:Choice>
              <mc:Fallback>
                <p:oleObj name="Equation" r:id="rId2" imgW="3340080" imgH="685800" progId="Equation.DSMT4">
                  <p:embed/>
                  <p:pic>
                    <p:nvPicPr>
                      <p:cNvPr id="14" name="对象 13"/>
                      <p:cNvPicPr/>
                      <p:nvPr/>
                    </p:nvPicPr>
                    <p:blipFill>
                      <a:blip r:embed="rId3"/>
                      <a:stretch>
                        <a:fillRect/>
                      </a:stretch>
                    </p:blipFill>
                    <p:spPr>
                      <a:xfrm>
                        <a:off x="762000" y="1596511"/>
                        <a:ext cx="5795151" cy="1189879"/>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2560637" y="2938790"/>
          <a:ext cx="2620963" cy="2297113"/>
        </p:xfrm>
        <a:graphic>
          <a:graphicData uri="http://schemas.openxmlformats.org/presentationml/2006/ole">
            <mc:AlternateContent xmlns:mc="http://schemas.openxmlformats.org/markup-compatibility/2006">
              <mc:Choice xmlns:v="urn:schemas-microsoft-com:vml" Requires="v">
                <p:oleObj name="Equation" r:id="rId4" imgW="1460160" imgH="1282680" progId="Equation.DSMT4">
                  <p:embed/>
                </p:oleObj>
              </mc:Choice>
              <mc:Fallback>
                <p:oleObj name="Equation" r:id="rId4" imgW="1460160" imgH="1282680" progId="Equation.DSMT4">
                  <p:embed/>
                  <p:pic>
                    <p:nvPicPr>
                      <p:cNvPr id="15" name="对象 14"/>
                      <p:cNvPicPr/>
                      <p:nvPr/>
                    </p:nvPicPr>
                    <p:blipFill>
                      <a:blip r:embed="rId5"/>
                      <a:stretch>
                        <a:fillRect/>
                      </a:stretch>
                    </p:blipFill>
                    <p:spPr>
                      <a:xfrm>
                        <a:off x="2560637" y="2938790"/>
                        <a:ext cx="2620963" cy="2297113"/>
                      </a:xfrm>
                      <a:prstGeom prst="rect">
                        <a:avLst/>
                      </a:prstGeom>
                    </p:spPr>
                  </p:pic>
                </p:oleObj>
              </mc:Fallback>
            </mc:AlternateContent>
          </a:graphicData>
        </a:graphic>
      </p:graphicFrame>
      <p:sp>
        <p:nvSpPr>
          <p:cNvPr id="16" name="TextBox 15"/>
          <p:cNvSpPr txBox="1"/>
          <p:nvPr/>
        </p:nvSpPr>
        <p:spPr>
          <a:xfrm>
            <a:off x="685800" y="1109990"/>
            <a:ext cx="1469633" cy="369332"/>
          </a:xfrm>
          <a:prstGeom prst="rect">
            <a:avLst/>
          </a:prstGeom>
          <a:noFill/>
        </p:spPr>
        <p:txBody>
          <a:bodyPr wrap="none" rtlCol="0">
            <a:spAutoFit/>
          </a:bodyPr>
          <a:lstStyle/>
          <a:p>
            <a:r>
              <a:rPr lang="en-US" altLang="zh-CN" dirty="0"/>
              <a:t>From first law</a:t>
            </a:r>
            <a:endParaRPr lang="zh-CN" altLang="en-US" dirty="0"/>
          </a:p>
        </p:txBody>
      </p:sp>
      <p:sp>
        <p:nvSpPr>
          <p:cNvPr id="17" name="TextBox 16"/>
          <p:cNvSpPr txBox="1"/>
          <p:nvPr/>
        </p:nvSpPr>
        <p:spPr>
          <a:xfrm>
            <a:off x="1004227" y="2949903"/>
            <a:ext cx="1053173" cy="369332"/>
          </a:xfrm>
          <a:prstGeom prst="rect">
            <a:avLst/>
          </a:prstGeom>
          <a:noFill/>
        </p:spPr>
        <p:txBody>
          <a:bodyPr wrap="none" rtlCol="0">
            <a:spAutoFit/>
          </a:bodyPr>
          <a:lstStyle/>
          <a:p>
            <a:r>
              <a:rPr lang="en-US" altLang="zh-CN" b="1" dirty="0">
                <a:solidFill>
                  <a:srgbClr val="0000FF"/>
                </a:solidFill>
              </a:rPr>
              <a:t>P-V work</a:t>
            </a:r>
            <a:endParaRPr lang="zh-CN" altLang="en-US" b="1" dirty="0">
              <a:solidFill>
                <a:srgbClr val="0000FF"/>
              </a:solidFill>
            </a:endParaRPr>
          </a:p>
        </p:txBody>
      </p:sp>
      <p:sp>
        <p:nvSpPr>
          <p:cNvPr id="18" name="TextBox 17"/>
          <p:cNvSpPr txBox="1"/>
          <p:nvPr/>
        </p:nvSpPr>
        <p:spPr>
          <a:xfrm>
            <a:off x="533400" y="3342571"/>
            <a:ext cx="1592039" cy="369332"/>
          </a:xfrm>
          <a:prstGeom prst="rect">
            <a:avLst/>
          </a:prstGeom>
          <a:noFill/>
        </p:spPr>
        <p:txBody>
          <a:bodyPr wrap="none" rtlCol="0">
            <a:spAutoFit/>
          </a:bodyPr>
          <a:lstStyle/>
          <a:p>
            <a:r>
              <a:rPr lang="en-US" altLang="zh-CN" b="1" dirty="0">
                <a:solidFill>
                  <a:srgbClr val="0000FF"/>
                </a:solidFill>
              </a:rPr>
              <a:t>Chemical work</a:t>
            </a:r>
            <a:endParaRPr lang="zh-CN" altLang="en-US" b="1" dirty="0">
              <a:solidFill>
                <a:srgbClr val="0000FF"/>
              </a:solidFill>
            </a:endParaRPr>
          </a:p>
        </p:txBody>
      </p:sp>
      <p:sp>
        <p:nvSpPr>
          <p:cNvPr id="19" name="TextBox 18"/>
          <p:cNvSpPr txBox="1"/>
          <p:nvPr/>
        </p:nvSpPr>
        <p:spPr>
          <a:xfrm>
            <a:off x="731075" y="3864303"/>
            <a:ext cx="1326325" cy="369332"/>
          </a:xfrm>
          <a:prstGeom prst="rect">
            <a:avLst/>
          </a:prstGeom>
          <a:noFill/>
        </p:spPr>
        <p:txBody>
          <a:bodyPr wrap="none" rtlCol="0">
            <a:spAutoFit/>
          </a:bodyPr>
          <a:lstStyle/>
          <a:p>
            <a:r>
              <a:rPr lang="en-US" altLang="zh-CN" b="1" dirty="0">
                <a:solidFill>
                  <a:srgbClr val="0000FF"/>
                </a:solidFill>
              </a:rPr>
              <a:t>Elastic work</a:t>
            </a:r>
            <a:endParaRPr lang="zh-CN" altLang="en-US" b="1" dirty="0">
              <a:solidFill>
                <a:srgbClr val="0000FF"/>
              </a:solidFill>
            </a:endParaRPr>
          </a:p>
        </p:txBody>
      </p:sp>
      <p:sp>
        <p:nvSpPr>
          <p:cNvPr id="20" name="TextBox 19"/>
          <p:cNvSpPr txBox="1"/>
          <p:nvPr/>
        </p:nvSpPr>
        <p:spPr>
          <a:xfrm>
            <a:off x="516170" y="4387232"/>
            <a:ext cx="1617430" cy="369332"/>
          </a:xfrm>
          <a:prstGeom prst="rect">
            <a:avLst/>
          </a:prstGeom>
          <a:noFill/>
        </p:spPr>
        <p:txBody>
          <a:bodyPr wrap="none" rtlCol="0">
            <a:spAutoFit/>
          </a:bodyPr>
          <a:lstStyle/>
          <a:p>
            <a:r>
              <a:rPr lang="en-US" altLang="zh-CN" b="1" dirty="0">
                <a:solidFill>
                  <a:srgbClr val="0000FF"/>
                </a:solidFill>
              </a:rPr>
              <a:t>Magnetic work</a:t>
            </a:r>
            <a:endParaRPr lang="zh-CN" altLang="en-US" b="1" dirty="0">
              <a:solidFill>
                <a:srgbClr val="0000FF"/>
              </a:solidFill>
            </a:endParaRPr>
          </a:p>
        </p:txBody>
      </p:sp>
      <p:sp>
        <p:nvSpPr>
          <p:cNvPr id="21" name="TextBox 20"/>
          <p:cNvSpPr txBox="1"/>
          <p:nvPr/>
        </p:nvSpPr>
        <p:spPr>
          <a:xfrm>
            <a:off x="716545" y="4866571"/>
            <a:ext cx="1417055" cy="369332"/>
          </a:xfrm>
          <a:prstGeom prst="rect">
            <a:avLst/>
          </a:prstGeom>
          <a:noFill/>
        </p:spPr>
        <p:txBody>
          <a:bodyPr wrap="none" rtlCol="0">
            <a:spAutoFit/>
          </a:bodyPr>
          <a:lstStyle/>
          <a:p>
            <a:r>
              <a:rPr lang="en-US" altLang="zh-CN" b="1" dirty="0">
                <a:solidFill>
                  <a:srgbClr val="0000FF"/>
                </a:solidFill>
              </a:rPr>
              <a:t>Electric work</a:t>
            </a:r>
            <a:endParaRPr lang="zh-CN" altLang="en-US" b="1" dirty="0">
              <a:solidFill>
                <a:srgbClr val="0000FF"/>
              </a:solidFill>
            </a:endParaRPr>
          </a:p>
        </p:txBody>
      </p:sp>
      <p:graphicFrame>
        <p:nvGraphicFramePr>
          <p:cNvPr id="22" name="对象 21"/>
          <p:cNvGraphicFramePr>
            <a:graphicFrameLocks noChangeAspect="1"/>
          </p:cNvGraphicFramePr>
          <p:nvPr/>
        </p:nvGraphicFramePr>
        <p:xfrm>
          <a:off x="1004227" y="5562928"/>
          <a:ext cx="7318375" cy="500062"/>
        </p:xfrm>
        <a:graphic>
          <a:graphicData uri="http://schemas.openxmlformats.org/presentationml/2006/ole">
            <mc:AlternateContent xmlns:mc="http://schemas.openxmlformats.org/markup-compatibility/2006">
              <mc:Choice xmlns:v="urn:schemas-microsoft-com:vml" Requires="v">
                <p:oleObj name="Equation" r:id="rId6" imgW="4076640" imgH="279360" progId="Equation.DSMT4">
                  <p:embed/>
                </p:oleObj>
              </mc:Choice>
              <mc:Fallback>
                <p:oleObj name="Equation" r:id="rId6" imgW="4076640" imgH="279360" progId="Equation.DSMT4">
                  <p:embed/>
                  <p:pic>
                    <p:nvPicPr>
                      <p:cNvPr id="22" name="对象 21"/>
                      <p:cNvPicPr>
                        <a:picLocks noChangeAspect="1" noChangeArrowheads="1"/>
                      </p:cNvPicPr>
                      <p:nvPr/>
                    </p:nvPicPr>
                    <p:blipFill>
                      <a:blip r:embed="rId7"/>
                      <a:srcRect/>
                      <a:stretch>
                        <a:fillRect/>
                      </a:stretch>
                    </p:blipFill>
                    <p:spPr bwMode="auto">
                      <a:xfrm>
                        <a:off x="1004227" y="5562928"/>
                        <a:ext cx="7318375" cy="500062"/>
                      </a:xfrm>
                      <a:prstGeom prst="rect">
                        <a:avLst/>
                      </a:prstGeom>
                      <a:noFill/>
                      <a:ln>
                        <a:noFill/>
                      </a:ln>
                    </p:spPr>
                  </p:pic>
                </p:oleObj>
              </mc:Fallback>
            </mc:AlternateContent>
          </a:graphicData>
        </a:graphic>
      </p:graphicFrame>
      <p:sp>
        <p:nvSpPr>
          <p:cNvPr id="23" name="TextBox 22"/>
          <p:cNvSpPr txBox="1"/>
          <p:nvPr/>
        </p:nvSpPr>
        <p:spPr>
          <a:xfrm>
            <a:off x="5487170" y="3875971"/>
            <a:ext cx="2513830" cy="307777"/>
          </a:xfrm>
          <a:prstGeom prst="rect">
            <a:avLst/>
          </a:prstGeom>
          <a:noFill/>
        </p:spPr>
        <p:txBody>
          <a:bodyPr wrap="none" rtlCol="0">
            <a:spAutoFit/>
          </a:bodyPr>
          <a:lstStyle/>
          <a:p>
            <a:r>
              <a:rPr lang="el-GR" altLang="zh-CN" sz="1400" i="1" dirty="0"/>
              <a:t>σ</a:t>
            </a:r>
            <a:r>
              <a:rPr lang="en-US" altLang="zh-CN" sz="1400" i="1" dirty="0"/>
              <a:t> and </a:t>
            </a:r>
            <a:r>
              <a:rPr lang="el-GR" altLang="zh-CN" sz="1400" i="1" dirty="0">
                <a:latin typeface="Sylfaen"/>
              </a:rPr>
              <a:t>ε</a:t>
            </a:r>
            <a:r>
              <a:rPr lang="en-US" altLang="zh-CN" sz="1400" i="1" dirty="0">
                <a:latin typeface="Sylfaen"/>
              </a:rPr>
              <a:t> are the strain and stress</a:t>
            </a:r>
            <a:endParaRPr lang="zh-CN" altLang="en-US" sz="1400" i="1" dirty="0"/>
          </a:p>
        </p:txBody>
      </p:sp>
      <p:sp>
        <p:nvSpPr>
          <p:cNvPr id="24" name="TextBox 23"/>
          <p:cNvSpPr txBox="1"/>
          <p:nvPr/>
        </p:nvSpPr>
        <p:spPr>
          <a:xfrm>
            <a:off x="5476923" y="4331683"/>
            <a:ext cx="2752677" cy="523220"/>
          </a:xfrm>
          <a:prstGeom prst="rect">
            <a:avLst/>
          </a:prstGeom>
          <a:noFill/>
        </p:spPr>
        <p:txBody>
          <a:bodyPr wrap="none" rtlCol="0">
            <a:spAutoFit/>
          </a:bodyPr>
          <a:lstStyle/>
          <a:p>
            <a:r>
              <a:rPr lang="en-US" altLang="zh-CN" sz="1400" i="1" dirty="0"/>
              <a:t>H and </a:t>
            </a:r>
            <a:r>
              <a:rPr lang="en-US" altLang="zh-CN" sz="1400" i="1" dirty="0">
                <a:latin typeface="Sylfaen"/>
              </a:rPr>
              <a:t>B are the magnetic field </a:t>
            </a:r>
          </a:p>
          <a:p>
            <a:r>
              <a:rPr lang="en-US" altLang="zh-CN" sz="1400" i="1" dirty="0">
                <a:latin typeface="Sylfaen"/>
              </a:rPr>
              <a:t>                   strength and induction</a:t>
            </a:r>
          </a:p>
        </p:txBody>
      </p:sp>
      <p:sp>
        <p:nvSpPr>
          <p:cNvPr id="25" name="矩形 24"/>
          <p:cNvSpPr/>
          <p:nvPr/>
        </p:nvSpPr>
        <p:spPr>
          <a:xfrm>
            <a:off x="5428319" y="4854903"/>
            <a:ext cx="3715681" cy="523220"/>
          </a:xfrm>
          <a:prstGeom prst="rect">
            <a:avLst/>
          </a:prstGeom>
        </p:spPr>
        <p:txBody>
          <a:bodyPr wrap="square">
            <a:spAutoFit/>
          </a:bodyPr>
          <a:lstStyle/>
          <a:p>
            <a:r>
              <a:rPr lang="en-US" altLang="zh-CN" sz="1400" i="1" dirty="0">
                <a:latin typeface="Sylfaen"/>
              </a:rPr>
              <a:t>E and D are the electric filed </a:t>
            </a:r>
          </a:p>
          <a:p>
            <a:r>
              <a:rPr lang="en-US" altLang="zh-CN" sz="1400" i="1" dirty="0">
                <a:latin typeface="Sylfaen"/>
              </a:rPr>
              <a:t>                           strength and displacement</a:t>
            </a:r>
            <a:endParaRPr lang="zh-CN" altLang="en-US" sz="1400" i="1" dirty="0"/>
          </a:p>
        </p:txBody>
      </p:sp>
      <p:sp>
        <p:nvSpPr>
          <p:cNvPr id="26" name="TextBox 25"/>
          <p:cNvSpPr txBox="1"/>
          <p:nvPr/>
        </p:nvSpPr>
        <p:spPr>
          <a:xfrm>
            <a:off x="0" y="6033096"/>
            <a:ext cx="6688049" cy="584775"/>
          </a:xfrm>
          <a:prstGeom prst="rect">
            <a:avLst/>
          </a:prstGeom>
          <a:noFill/>
        </p:spPr>
        <p:txBody>
          <a:bodyPr wrap="none" rtlCol="0">
            <a:spAutoFit/>
          </a:bodyPr>
          <a:lstStyle/>
          <a:p>
            <a:r>
              <a:rPr lang="en-US" altLang="zh-CN" sz="1600" dirty="0"/>
              <a:t>Ref. </a:t>
            </a:r>
            <a:r>
              <a:rPr lang="en-US" altLang="zh-CN" sz="1600" dirty="0" err="1"/>
              <a:t>ZiKui</a:t>
            </a:r>
            <a:r>
              <a:rPr lang="en-US" altLang="zh-CN" sz="1600" dirty="0"/>
              <a:t> Liu and Yi Wang,  </a:t>
            </a:r>
          </a:p>
          <a:p>
            <a:r>
              <a:rPr lang="en-US" altLang="zh-CN" sz="1600" dirty="0"/>
              <a:t>computation of thermodynamics of materials</a:t>
            </a:r>
            <a:r>
              <a:rPr lang="zh-CN" altLang="en-US" sz="1600" dirty="0"/>
              <a:t>，</a:t>
            </a:r>
            <a:r>
              <a:rPr lang="en-US" altLang="zh-CN" sz="1600" dirty="0"/>
              <a:t>Cambridge Press, 2016 </a:t>
            </a:r>
            <a:endParaRPr lang="zh-CN" altLang="en-US" sz="1600" dirty="0"/>
          </a:p>
        </p:txBody>
      </p:sp>
    </p:spTree>
    <p:extLst>
      <p:ext uri="{BB962C8B-B14F-4D97-AF65-F5344CB8AC3E}">
        <p14:creationId xmlns:p14="http://schemas.microsoft.com/office/powerpoint/2010/main" val="17799234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465216" y="2703492"/>
            <a:ext cx="6957289" cy="954107"/>
          </a:xfrm>
          <a:prstGeom prst="rect">
            <a:avLst/>
          </a:prstGeom>
          <a:noFill/>
        </p:spPr>
        <p:txBody>
          <a:bodyPr wrap="none" rtlCol="0">
            <a:spAutoFit/>
          </a:bodyPr>
          <a:lstStyle/>
          <a:p>
            <a:r>
              <a:rPr lang="en-US" altLang="zh-CN" sz="2800" dirty="0">
                <a:solidFill>
                  <a:srgbClr val="FF0000"/>
                </a:solidFill>
              </a:rPr>
              <a:t>15. The general strategy for the derivation </a:t>
            </a:r>
          </a:p>
          <a:p>
            <a:r>
              <a:rPr lang="en-US" altLang="zh-CN" sz="2800" dirty="0">
                <a:solidFill>
                  <a:srgbClr val="FF0000"/>
                </a:solidFill>
              </a:rPr>
              <a:t>      of thermodynamic relation </a:t>
            </a:r>
          </a:p>
        </p:txBody>
      </p:sp>
      <p:grpSp>
        <p:nvGrpSpPr>
          <p:cNvPr id="11" name="组合 10">
            <a:extLst>
              <a:ext uri="{FF2B5EF4-FFF2-40B4-BE49-F238E27FC236}">
                <a16:creationId xmlns:a16="http://schemas.microsoft.com/office/drawing/2014/main" id="{58DD4CBF-0338-47CF-AF5D-F17ED52F2F8A}"/>
              </a:ext>
            </a:extLst>
          </p:cNvPr>
          <p:cNvGrpSpPr/>
          <p:nvPr/>
        </p:nvGrpSpPr>
        <p:grpSpPr>
          <a:xfrm>
            <a:off x="11509" y="3723620"/>
            <a:ext cx="8991600" cy="144002"/>
            <a:chOff x="11509" y="3723620"/>
            <a:chExt cx="8991600" cy="144002"/>
          </a:xfrm>
        </p:grpSpPr>
        <p:sp>
          <p:nvSpPr>
            <p:cNvPr id="12" name="圆角矩形 4">
              <a:extLst>
                <a:ext uri="{FF2B5EF4-FFF2-40B4-BE49-F238E27FC236}">
                  <a16:creationId xmlns:a16="http://schemas.microsoft.com/office/drawing/2014/main" id="{BBE67C6D-4FA4-4903-A815-112A2F64E376}"/>
                </a:ext>
              </a:extLst>
            </p:cNvPr>
            <p:cNvSpPr/>
            <p:nvPr/>
          </p:nvSpPr>
          <p:spPr>
            <a:xfrm>
              <a:off x="11509"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圆角矩形 5">
              <a:extLst>
                <a:ext uri="{FF2B5EF4-FFF2-40B4-BE49-F238E27FC236}">
                  <a16:creationId xmlns:a16="http://schemas.microsoft.com/office/drawing/2014/main" id="{3704EA5C-488E-4B4C-8440-6123B3AB38B6}"/>
                </a:ext>
              </a:extLst>
            </p:cNvPr>
            <p:cNvSpPr/>
            <p:nvPr/>
          </p:nvSpPr>
          <p:spPr>
            <a:xfrm>
              <a:off x="1588981"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6">
              <a:extLst>
                <a:ext uri="{FF2B5EF4-FFF2-40B4-BE49-F238E27FC236}">
                  <a16:creationId xmlns:a16="http://schemas.microsoft.com/office/drawing/2014/main" id="{0167F0F7-B2FB-479A-A271-4BDCA0DC1C5E}"/>
                </a:ext>
              </a:extLst>
            </p:cNvPr>
            <p:cNvSpPr/>
            <p:nvPr/>
          </p:nvSpPr>
          <p:spPr>
            <a:xfrm>
              <a:off x="4683109"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3757E278-0384-4D91-A5DD-62277626F940}"/>
              </a:ext>
            </a:extLst>
          </p:cNvPr>
          <p:cNvSpPr/>
          <p:nvPr/>
        </p:nvSpPr>
        <p:spPr>
          <a:xfrm>
            <a:off x="1542853" y="3934599"/>
            <a:ext cx="5910370" cy="646331"/>
          </a:xfrm>
          <a:prstGeom prst="rect">
            <a:avLst/>
          </a:prstGeom>
        </p:spPr>
        <p:txBody>
          <a:bodyPr wrap="square">
            <a:spAutoFit/>
          </a:bodyPr>
          <a:lstStyle/>
          <a:p>
            <a:r>
              <a:rPr lang="en-US" altLang="zh-CN" dirty="0"/>
              <a:t>Ref. Robert </a:t>
            </a:r>
            <a:r>
              <a:rPr lang="en-US" altLang="zh-CN" dirty="0" err="1"/>
              <a:t>Dehoff</a:t>
            </a:r>
            <a:r>
              <a:rPr lang="en-US" altLang="zh-CN" dirty="0"/>
              <a:t>, CRC Press, (2006)</a:t>
            </a:r>
          </a:p>
          <a:p>
            <a:r>
              <a:rPr lang="en-US" altLang="zh-CN" dirty="0"/>
              <a:t>Thermodynamics in Materials Science</a:t>
            </a:r>
            <a:r>
              <a:rPr lang="zh-CN" altLang="en-US" dirty="0"/>
              <a:t>： </a:t>
            </a:r>
            <a:r>
              <a:rPr lang="en-US" altLang="zh-CN" dirty="0"/>
              <a:t>Chapter 4 </a:t>
            </a:r>
            <a:endParaRPr lang="zh-CN" altLang="en-US" dirty="0"/>
          </a:p>
        </p:txBody>
      </p:sp>
    </p:spTree>
    <p:extLst>
      <p:ext uri="{BB962C8B-B14F-4D97-AF65-F5344CB8AC3E}">
        <p14:creationId xmlns:p14="http://schemas.microsoft.com/office/powerpoint/2010/main" val="41411910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31233" y="260211"/>
            <a:ext cx="6380080" cy="523220"/>
          </a:xfrm>
          <a:prstGeom prst="rect">
            <a:avLst/>
          </a:prstGeom>
          <a:noFill/>
        </p:spPr>
        <p:txBody>
          <a:bodyPr wrap="none" rtlCol="0">
            <a:spAutoFit/>
          </a:bodyPr>
          <a:lstStyle/>
          <a:p>
            <a:r>
              <a:rPr lang="en-US" altLang="zh-CN" sz="2800" dirty="0">
                <a:solidFill>
                  <a:srgbClr val="FF0000"/>
                </a:solidFill>
              </a:rPr>
              <a:t>Energy function expressed of T and P  </a:t>
            </a:r>
            <a:endParaRPr lang="zh-CN" altLang="en-US" sz="2800" dirty="0">
              <a:solidFill>
                <a:srgbClr val="FF0000"/>
              </a:solidFill>
            </a:endParaRPr>
          </a:p>
        </p:txBody>
      </p:sp>
      <p:graphicFrame>
        <p:nvGraphicFramePr>
          <p:cNvPr id="10" name="对象 9"/>
          <p:cNvGraphicFramePr>
            <a:graphicFrameLocks noChangeAspect="1"/>
          </p:cNvGraphicFramePr>
          <p:nvPr/>
        </p:nvGraphicFramePr>
        <p:xfrm>
          <a:off x="265113" y="1752600"/>
          <a:ext cx="2901950" cy="1600200"/>
        </p:xfrm>
        <a:graphic>
          <a:graphicData uri="http://schemas.openxmlformats.org/presentationml/2006/ole">
            <mc:AlternateContent xmlns:mc="http://schemas.openxmlformats.org/markup-compatibility/2006">
              <mc:Choice xmlns:v="urn:schemas-microsoft-com:vml" Requires="v">
                <p:oleObj name="Equation" r:id="rId2" imgW="1841400" imgH="1015920" progId="Equation.DSMT4">
                  <p:embed/>
                </p:oleObj>
              </mc:Choice>
              <mc:Fallback>
                <p:oleObj name="Equation" r:id="rId2" imgW="1841400" imgH="1015920" progId="Equation.DSMT4">
                  <p:embed/>
                  <p:pic>
                    <p:nvPicPr>
                      <p:cNvPr id="10" name="对象 9"/>
                      <p:cNvPicPr/>
                      <p:nvPr/>
                    </p:nvPicPr>
                    <p:blipFill>
                      <a:blip r:embed="rId3"/>
                      <a:stretch>
                        <a:fillRect/>
                      </a:stretch>
                    </p:blipFill>
                    <p:spPr>
                      <a:xfrm>
                        <a:off x="265113" y="1752600"/>
                        <a:ext cx="2901950" cy="1600200"/>
                      </a:xfrm>
                      <a:prstGeom prst="rect">
                        <a:avLst/>
                      </a:prstGeom>
                    </p:spPr>
                  </p:pic>
                </p:oleObj>
              </mc:Fallback>
            </mc:AlternateContent>
          </a:graphicData>
        </a:graphic>
      </p:graphicFrame>
      <p:sp>
        <p:nvSpPr>
          <p:cNvPr id="11" name="圆角矩形 10"/>
          <p:cNvSpPr/>
          <p:nvPr/>
        </p:nvSpPr>
        <p:spPr>
          <a:xfrm>
            <a:off x="114984" y="1600200"/>
            <a:ext cx="3314016" cy="1905000"/>
          </a:xfrm>
          <a:prstGeom prst="roundRect">
            <a:avLst>
              <a:gd name="adj" fmla="val 448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对象 14"/>
          <p:cNvGraphicFramePr>
            <a:graphicFrameLocks noChangeAspect="1"/>
          </p:cNvGraphicFramePr>
          <p:nvPr/>
        </p:nvGraphicFramePr>
        <p:xfrm>
          <a:off x="3981450" y="1494503"/>
          <a:ext cx="4459721" cy="1206121"/>
        </p:xfrm>
        <a:graphic>
          <a:graphicData uri="http://schemas.openxmlformats.org/presentationml/2006/ole">
            <mc:AlternateContent xmlns:mc="http://schemas.openxmlformats.org/markup-compatibility/2006">
              <mc:Choice xmlns:v="urn:schemas-microsoft-com:vml" Requires="v">
                <p:oleObj name="Equation" r:id="rId4" imgW="2819160" imgH="761760" progId="Equation.DSMT4">
                  <p:embed/>
                </p:oleObj>
              </mc:Choice>
              <mc:Fallback>
                <p:oleObj name="Equation" r:id="rId4" imgW="2819160" imgH="761760" progId="Equation.DSMT4">
                  <p:embed/>
                  <p:pic>
                    <p:nvPicPr>
                      <p:cNvPr id="15" name="对象 14"/>
                      <p:cNvPicPr>
                        <a:picLocks noChangeAspect="1" noChangeArrowheads="1"/>
                      </p:cNvPicPr>
                      <p:nvPr/>
                    </p:nvPicPr>
                    <p:blipFill>
                      <a:blip r:embed="rId5"/>
                      <a:srcRect/>
                      <a:stretch>
                        <a:fillRect/>
                      </a:stretch>
                    </p:blipFill>
                    <p:spPr bwMode="auto">
                      <a:xfrm>
                        <a:off x="3981450" y="1494503"/>
                        <a:ext cx="4459721" cy="1206121"/>
                      </a:xfrm>
                      <a:prstGeom prst="rect">
                        <a:avLst/>
                      </a:prstGeom>
                      <a:noFill/>
                      <a:ln>
                        <a:noFill/>
                      </a:ln>
                    </p:spPr>
                  </p:pic>
                </p:oleObj>
              </mc:Fallback>
            </mc:AlternateContent>
          </a:graphicData>
        </a:graphic>
      </p:graphicFrame>
      <p:graphicFrame>
        <p:nvGraphicFramePr>
          <p:cNvPr id="16" name="对象 15"/>
          <p:cNvGraphicFramePr>
            <a:graphicFrameLocks noChangeAspect="1"/>
          </p:cNvGraphicFramePr>
          <p:nvPr/>
        </p:nvGraphicFramePr>
        <p:xfrm>
          <a:off x="3981450" y="2766635"/>
          <a:ext cx="3486150" cy="1335087"/>
        </p:xfrm>
        <a:graphic>
          <a:graphicData uri="http://schemas.openxmlformats.org/presentationml/2006/ole">
            <mc:AlternateContent xmlns:mc="http://schemas.openxmlformats.org/markup-compatibility/2006">
              <mc:Choice xmlns:v="urn:schemas-microsoft-com:vml" Requires="v">
                <p:oleObj name="Equation" r:id="rId6" imgW="1917360" imgH="736560" progId="Equation.DSMT4">
                  <p:embed/>
                </p:oleObj>
              </mc:Choice>
              <mc:Fallback>
                <p:oleObj name="Equation" r:id="rId6" imgW="1917360" imgH="736560" progId="Equation.DSMT4">
                  <p:embed/>
                  <p:pic>
                    <p:nvPicPr>
                      <p:cNvPr id="16" name="对象 15"/>
                      <p:cNvPicPr/>
                      <p:nvPr/>
                    </p:nvPicPr>
                    <p:blipFill>
                      <a:blip r:embed="rId7"/>
                      <a:stretch>
                        <a:fillRect/>
                      </a:stretch>
                    </p:blipFill>
                    <p:spPr>
                      <a:xfrm>
                        <a:off x="3981450" y="2766635"/>
                        <a:ext cx="3486150" cy="1335087"/>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962400" y="4363660"/>
          <a:ext cx="3551092" cy="910632"/>
        </p:xfrm>
        <a:graphic>
          <a:graphicData uri="http://schemas.openxmlformats.org/presentationml/2006/ole">
            <mc:AlternateContent xmlns:mc="http://schemas.openxmlformats.org/markup-compatibility/2006">
              <mc:Choice xmlns:v="urn:schemas-microsoft-com:vml" Requires="v">
                <p:oleObj name="Equation" r:id="rId8" imgW="1981080" imgH="507960" progId="Equation.DSMT4">
                  <p:embed/>
                </p:oleObj>
              </mc:Choice>
              <mc:Fallback>
                <p:oleObj name="Equation" r:id="rId8" imgW="1981080" imgH="507960" progId="Equation.DSMT4">
                  <p:embed/>
                  <p:pic>
                    <p:nvPicPr>
                      <p:cNvPr id="17" name="对象 16"/>
                      <p:cNvPicPr/>
                      <p:nvPr/>
                    </p:nvPicPr>
                    <p:blipFill>
                      <a:blip r:embed="rId9"/>
                      <a:stretch>
                        <a:fillRect/>
                      </a:stretch>
                    </p:blipFill>
                    <p:spPr>
                      <a:xfrm>
                        <a:off x="3962400" y="4363660"/>
                        <a:ext cx="3551092" cy="910632"/>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993203" y="5619277"/>
          <a:ext cx="2230176" cy="350814"/>
        </p:xfrm>
        <a:graphic>
          <a:graphicData uri="http://schemas.openxmlformats.org/presentationml/2006/ole">
            <mc:AlternateContent xmlns:mc="http://schemas.openxmlformats.org/markup-compatibility/2006">
              <mc:Choice xmlns:v="urn:schemas-microsoft-com:vml" Requires="v">
                <p:oleObj name="Equation" r:id="rId10" imgW="1130040" imgH="177480" progId="Equation.DSMT4">
                  <p:embed/>
                </p:oleObj>
              </mc:Choice>
              <mc:Fallback>
                <p:oleObj name="Equation" r:id="rId10" imgW="1130040" imgH="177480" progId="Equation.DSMT4">
                  <p:embed/>
                  <p:pic>
                    <p:nvPicPr>
                      <p:cNvPr id="18" name="对象 17"/>
                      <p:cNvPicPr/>
                      <p:nvPr/>
                    </p:nvPicPr>
                    <p:blipFill>
                      <a:blip r:embed="rId11"/>
                      <a:stretch>
                        <a:fillRect/>
                      </a:stretch>
                    </p:blipFill>
                    <p:spPr>
                      <a:xfrm>
                        <a:off x="3993203" y="5619277"/>
                        <a:ext cx="2230176" cy="350814"/>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218603" y="3886200"/>
          <a:ext cx="2777881" cy="2356714"/>
        </p:xfrm>
        <a:graphic>
          <a:graphicData uri="http://schemas.openxmlformats.org/presentationml/2006/ole">
            <mc:AlternateContent xmlns:mc="http://schemas.openxmlformats.org/markup-compatibility/2006">
              <mc:Choice xmlns:v="urn:schemas-microsoft-com:vml" Requires="v">
                <p:oleObj name="Equation" r:id="rId12" imgW="1828800" imgH="1549080" progId="Equation.DSMT4">
                  <p:embed/>
                </p:oleObj>
              </mc:Choice>
              <mc:Fallback>
                <p:oleObj name="Equation" r:id="rId12" imgW="1828800" imgH="1549080" progId="Equation.DSMT4">
                  <p:embed/>
                  <p:pic>
                    <p:nvPicPr>
                      <p:cNvPr id="2" name="对象 1"/>
                      <p:cNvPicPr>
                        <a:picLocks noChangeAspect="1" noChangeArrowheads="1"/>
                      </p:cNvPicPr>
                      <p:nvPr/>
                    </p:nvPicPr>
                    <p:blipFill>
                      <a:blip r:embed="rId13"/>
                      <a:srcRect/>
                      <a:stretch>
                        <a:fillRect/>
                      </a:stretch>
                    </p:blipFill>
                    <p:spPr bwMode="auto">
                      <a:xfrm>
                        <a:off x="218603" y="3886200"/>
                        <a:ext cx="2777881" cy="2356714"/>
                      </a:xfrm>
                      <a:prstGeom prst="rect">
                        <a:avLst/>
                      </a:prstGeom>
                      <a:noFill/>
                      <a:ln w="12700">
                        <a:solidFill>
                          <a:srgbClr val="00B050"/>
                        </a:solidFill>
                        <a:miter lim="800000"/>
                        <a:headEnd/>
                        <a:tailEnd/>
                      </a:ln>
                    </p:spPr>
                  </p:pic>
                </p:oleObj>
              </mc:Fallback>
            </mc:AlternateContent>
          </a:graphicData>
        </a:graphic>
      </p:graphicFrame>
      <p:sp>
        <p:nvSpPr>
          <p:cNvPr id="3" name="矩形 2"/>
          <p:cNvSpPr/>
          <p:nvPr/>
        </p:nvSpPr>
        <p:spPr>
          <a:xfrm>
            <a:off x="152400" y="4876800"/>
            <a:ext cx="1945276" cy="369332"/>
          </a:xfrm>
          <a:prstGeom prst="rect">
            <a:avLst/>
          </a:prstGeom>
        </p:spPr>
        <p:txBody>
          <a:bodyPr wrap="none">
            <a:spAutoFit/>
          </a:bodyPr>
          <a:lstStyle/>
          <a:p>
            <a:r>
              <a:rPr lang="en-US" altLang="zh-CN" dirty="0"/>
              <a:t>Determinant form:</a:t>
            </a:r>
            <a:endParaRPr lang="en-US" altLang="zh-CN" dirty="0">
              <a:effectLst/>
            </a:endParaRPr>
          </a:p>
        </p:txBody>
      </p:sp>
    </p:spTree>
    <p:extLst>
      <p:ext uri="{BB962C8B-B14F-4D97-AF65-F5344CB8AC3E}">
        <p14:creationId xmlns:p14="http://schemas.microsoft.com/office/powerpoint/2010/main" val="19288966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62025" y="227112"/>
            <a:ext cx="6705554" cy="523220"/>
          </a:xfrm>
          <a:prstGeom prst="rect">
            <a:avLst/>
          </a:prstGeom>
          <a:noFill/>
        </p:spPr>
        <p:txBody>
          <a:bodyPr wrap="none" rtlCol="0">
            <a:spAutoFit/>
          </a:bodyPr>
          <a:lstStyle/>
          <a:p>
            <a:r>
              <a:rPr lang="en-US" altLang="zh-CN" sz="2800" dirty="0">
                <a:solidFill>
                  <a:srgbClr val="FF0000"/>
                </a:solidFill>
              </a:rPr>
              <a:t>Related the entropy of system to T and V</a:t>
            </a:r>
            <a:endParaRPr lang="zh-CN" altLang="en-US" sz="2800" dirty="0">
              <a:solidFill>
                <a:srgbClr val="FF0000"/>
              </a:solidFill>
            </a:endParaRPr>
          </a:p>
        </p:txBody>
      </p:sp>
      <p:sp>
        <p:nvSpPr>
          <p:cNvPr id="10" name="TextBox 9"/>
          <p:cNvSpPr txBox="1"/>
          <p:nvPr/>
        </p:nvSpPr>
        <p:spPr>
          <a:xfrm>
            <a:off x="304800" y="1371600"/>
            <a:ext cx="3211970" cy="369332"/>
          </a:xfrm>
          <a:prstGeom prst="rect">
            <a:avLst/>
          </a:prstGeom>
          <a:noFill/>
        </p:spPr>
        <p:txBody>
          <a:bodyPr wrap="none" rtlCol="0">
            <a:spAutoFit/>
          </a:bodyPr>
          <a:lstStyle/>
          <a:p>
            <a:r>
              <a:rPr lang="en-US" altLang="zh-CN" dirty="0"/>
              <a:t>1. Identify the variable: S=S(T, V)</a:t>
            </a:r>
            <a:endParaRPr lang="zh-CN" altLang="en-US" dirty="0"/>
          </a:p>
        </p:txBody>
      </p:sp>
      <p:sp>
        <p:nvSpPr>
          <p:cNvPr id="11" name="TextBox 10"/>
          <p:cNvSpPr txBox="1"/>
          <p:nvPr/>
        </p:nvSpPr>
        <p:spPr>
          <a:xfrm>
            <a:off x="304800" y="1752600"/>
            <a:ext cx="4347665" cy="369332"/>
          </a:xfrm>
          <a:prstGeom prst="rect">
            <a:avLst/>
          </a:prstGeom>
          <a:noFill/>
        </p:spPr>
        <p:txBody>
          <a:bodyPr wrap="none" rtlCol="0">
            <a:spAutoFit/>
          </a:bodyPr>
          <a:lstStyle/>
          <a:p>
            <a:r>
              <a:rPr lang="en-US" altLang="zh-CN" dirty="0"/>
              <a:t>2. Write the differential form : </a:t>
            </a:r>
            <a:r>
              <a:rPr lang="en-US" altLang="zh-CN" dirty="0" err="1"/>
              <a:t>dS</a:t>
            </a:r>
            <a:r>
              <a:rPr lang="en-US" altLang="zh-CN" dirty="0"/>
              <a:t>=</a:t>
            </a:r>
            <a:r>
              <a:rPr lang="en-US" altLang="zh-CN" dirty="0" err="1"/>
              <a:t>MdT+NdV</a:t>
            </a:r>
            <a:endParaRPr lang="zh-CN" altLang="en-US" dirty="0"/>
          </a:p>
        </p:txBody>
      </p:sp>
      <p:sp>
        <p:nvSpPr>
          <p:cNvPr id="12" name="TextBox 11"/>
          <p:cNvSpPr txBox="1"/>
          <p:nvPr/>
        </p:nvSpPr>
        <p:spPr>
          <a:xfrm>
            <a:off x="300535" y="2209800"/>
            <a:ext cx="1510478" cy="369332"/>
          </a:xfrm>
          <a:prstGeom prst="rect">
            <a:avLst/>
          </a:prstGeom>
          <a:noFill/>
        </p:spPr>
        <p:txBody>
          <a:bodyPr wrap="none" rtlCol="0">
            <a:spAutoFit/>
          </a:bodyPr>
          <a:lstStyle/>
          <a:p>
            <a:r>
              <a:rPr lang="en-US" altLang="zh-CN" dirty="0"/>
              <a:t>3. Convert </a:t>
            </a:r>
            <a:r>
              <a:rPr lang="en-US" altLang="zh-CN" dirty="0" err="1"/>
              <a:t>dV</a:t>
            </a:r>
            <a:r>
              <a:rPr lang="en-US" altLang="zh-CN" dirty="0"/>
              <a:t>:</a:t>
            </a:r>
            <a:endParaRPr lang="zh-CN" altLang="en-US" dirty="0"/>
          </a:p>
        </p:txBody>
      </p:sp>
      <p:graphicFrame>
        <p:nvGraphicFramePr>
          <p:cNvPr id="13" name="对象 12"/>
          <p:cNvGraphicFramePr>
            <a:graphicFrameLocks noChangeAspect="1"/>
          </p:cNvGraphicFramePr>
          <p:nvPr/>
        </p:nvGraphicFramePr>
        <p:xfrm>
          <a:off x="5715000" y="1520911"/>
          <a:ext cx="3276600" cy="2356709"/>
        </p:xfrm>
        <a:graphic>
          <a:graphicData uri="http://schemas.openxmlformats.org/presentationml/2006/ole">
            <mc:AlternateContent xmlns:mc="http://schemas.openxmlformats.org/markup-compatibility/2006">
              <mc:Choice xmlns:v="urn:schemas-microsoft-com:vml" Requires="v">
                <p:oleObj name="Equation" r:id="rId2" imgW="2298600" imgH="1650960" progId="Equation.DSMT4">
                  <p:embed/>
                </p:oleObj>
              </mc:Choice>
              <mc:Fallback>
                <p:oleObj name="Equation" r:id="rId2" imgW="2298600" imgH="1650960" progId="Equation.DSMT4">
                  <p:embed/>
                  <p:pic>
                    <p:nvPicPr>
                      <p:cNvPr id="13" name="对象 12"/>
                      <p:cNvPicPr>
                        <a:picLocks noChangeAspect="1" noChangeArrowheads="1"/>
                      </p:cNvPicPr>
                      <p:nvPr/>
                    </p:nvPicPr>
                    <p:blipFill>
                      <a:blip r:embed="rId3"/>
                      <a:srcRect/>
                      <a:stretch>
                        <a:fillRect/>
                      </a:stretch>
                    </p:blipFill>
                    <p:spPr bwMode="auto">
                      <a:xfrm>
                        <a:off x="5715000" y="1520911"/>
                        <a:ext cx="3276600" cy="2356709"/>
                      </a:xfrm>
                      <a:prstGeom prst="rect">
                        <a:avLst/>
                      </a:prstGeom>
                      <a:noFill/>
                      <a:ln w="57150">
                        <a:solidFill>
                          <a:srgbClr val="00B050"/>
                        </a:solidFill>
                        <a:miter lim="800000"/>
                        <a:headEnd/>
                        <a:tailEnd/>
                      </a:ln>
                    </p:spPr>
                  </p:pic>
                </p:oleObj>
              </mc:Fallback>
            </mc:AlternateContent>
          </a:graphicData>
        </a:graphic>
      </p:graphicFrame>
      <p:sp>
        <p:nvSpPr>
          <p:cNvPr id="15" name="TextBox 14"/>
          <p:cNvSpPr txBox="1"/>
          <p:nvPr/>
        </p:nvSpPr>
        <p:spPr>
          <a:xfrm>
            <a:off x="304800" y="2676098"/>
            <a:ext cx="1586396" cy="369332"/>
          </a:xfrm>
          <a:prstGeom prst="rect">
            <a:avLst/>
          </a:prstGeom>
          <a:noFill/>
        </p:spPr>
        <p:txBody>
          <a:bodyPr wrap="none" rtlCol="0">
            <a:spAutoFit/>
          </a:bodyPr>
          <a:lstStyle/>
          <a:p>
            <a:r>
              <a:rPr lang="en-US" altLang="zh-CN" dirty="0"/>
              <a:t>4. Collect  item</a:t>
            </a:r>
            <a:endParaRPr lang="zh-CN" altLang="en-US" dirty="0"/>
          </a:p>
        </p:txBody>
      </p:sp>
      <p:graphicFrame>
        <p:nvGraphicFramePr>
          <p:cNvPr id="16" name="对象 15"/>
          <p:cNvGraphicFramePr>
            <a:graphicFrameLocks noChangeAspect="1"/>
          </p:cNvGraphicFramePr>
          <p:nvPr/>
        </p:nvGraphicFramePr>
        <p:xfrm>
          <a:off x="1920836" y="2251585"/>
          <a:ext cx="2611285" cy="336940"/>
        </p:xfrm>
        <a:graphic>
          <a:graphicData uri="http://schemas.openxmlformats.org/presentationml/2006/ole">
            <mc:AlternateContent xmlns:mc="http://schemas.openxmlformats.org/markup-compatibility/2006">
              <mc:Choice xmlns:v="urn:schemas-microsoft-com:vml" Requires="v">
                <p:oleObj name="Equation" r:id="rId4" imgW="1968480" imgH="253800" progId="Equation.DSMT4">
                  <p:embed/>
                </p:oleObj>
              </mc:Choice>
              <mc:Fallback>
                <p:oleObj name="Equation" r:id="rId4" imgW="1968480" imgH="253800" progId="Equation.DSMT4">
                  <p:embed/>
                  <p:pic>
                    <p:nvPicPr>
                      <p:cNvPr id="16" name="对象 15"/>
                      <p:cNvPicPr/>
                      <p:nvPr/>
                    </p:nvPicPr>
                    <p:blipFill>
                      <a:blip r:embed="rId5"/>
                      <a:stretch>
                        <a:fillRect/>
                      </a:stretch>
                    </p:blipFill>
                    <p:spPr>
                      <a:xfrm>
                        <a:off x="1920836" y="2251585"/>
                        <a:ext cx="2611285" cy="33694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1981200" y="2692400"/>
          <a:ext cx="2560638" cy="338138"/>
        </p:xfrm>
        <a:graphic>
          <a:graphicData uri="http://schemas.openxmlformats.org/presentationml/2006/ole">
            <mc:AlternateContent xmlns:mc="http://schemas.openxmlformats.org/markup-compatibility/2006">
              <mc:Choice xmlns:v="urn:schemas-microsoft-com:vml" Requires="v">
                <p:oleObj name="Equation" r:id="rId6" imgW="1930320" imgH="253800" progId="Equation.DSMT4">
                  <p:embed/>
                </p:oleObj>
              </mc:Choice>
              <mc:Fallback>
                <p:oleObj name="Equation" r:id="rId6" imgW="1930320" imgH="253800" progId="Equation.DSMT4">
                  <p:embed/>
                  <p:pic>
                    <p:nvPicPr>
                      <p:cNvPr id="17" name="对象 16"/>
                      <p:cNvPicPr>
                        <a:picLocks noChangeAspect="1" noChangeArrowheads="1"/>
                      </p:cNvPicPr>
                      <p:nvPr/>
                    </p:nvPicPr>
                    <p:blipFill>
                      <a:blip r:embed="rId7"/>
                      <a:srcRect/>
                      <a:stretch>
                        <a:fillRect/>
                      </a:stretch>
                    </p:blipFill>
                    <p:spPr bwMode="auto">
                      <a:xfrm>
                        <a:off x="1981200" y="2692400"/>
                        <a:ext cx="25606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17"/>
          <p:cNvSpPr txBox="1"/>
          <p:nvPr/>
        </p:nvSpPr>
        <p:spPr>
          <a:xfrm>
            <a:off x="304800" y="3124200"/>
            <a:ext cx="3336234" cy="369332"/>
          </a:xfrm>
          <a:prstGeom prst="rect">
            <a:avLst/>
          </a:prstGeom>
          <a:noFill/>
        </p:spPr>
        <p:txBody>
          <a:bodyPr wrap="none" rtlCol="0">
            <a:spAutoFit/>
          </a:bodyPr>
          <a:lstStyle/>
          <a:p>
            <a:r>
              <a:rPr lang="en-US" altLang="zh-CN" dirty="0"/>
              <a:t>5. Obtain S=S(T, P) form</a:t>
            </a:r>
            <a:r>
              <a:rPr lang="zh-CN" altLang="en-US" dirty="0"/>
              <a:t>  </a:t>
            </a:r>
            <a:r>
              <a:rPr lang="en-US" altLang="zh-CN" dirty="0"/>
              <a:t>the table</a:t>
            </a:r>
            <a:endParaRPr lang="zh-CN" altLang="en-US" dirty="0"/>
          </a:p>
        </p:txBody>
      </p:sp>
      <p:graphicFrame>
        <p:nvGraphicFramePr>
          <p:cNvPr id="19" name="对象 18"/>
          <p:cNvGraphicFramePr>
            <a:graphicFrameLocks noChangeAspect="1"/>
          </p:cNvGraphicFramePr>
          <p:nvPr/>
        </p:nvGraphicFramePr>
        <p:xfrm>
          <a:off x="1972917" y="3505200"/>
          <a:ext cx="1590792" cy="535675"/>
        </p:xfrm>
        <a:graphic>
          <a:graphicData uri="http://schemas.openxmlformats.org/presentationml/2006/ole">
            <mc:AlternateContent xmlns:mc="http://schemas.openxmlformats.org/markup-compatibility/2006">
              <mc:Choice xmlns:v="urn:schemas-microsoft-com:vml" Requires="v">
                <p:oleObj name="Equation" r:id="rId8" imgW="1244520" imgH="419040" progId="Equation.DSMT4">
                  <p:embed/>
                </p:oleObj>
              </mc:Choice>
              <mc:Fallback>
                <p:oleObj name="Equation" r:id="rId8" imgW="1244520" imgH="419040" progId="Equation.DSMT4">
                  <p:embed/>
                  <p:pic>
                    <p:nvPicPr>
                      <p:cNvPr id="19" name="对象 18"/>
                      <p:cNvPicPr/>
                      <p:nvPr/>
                    </p:nvPicPr>
                    <p:blipFill>
                      <a:blip r:embed="rId9"/>
                      <a:stretch>
                        <a:fillRect/>
                      </a:stretch>
                    </p:blipFill>
                    <p:spPr>
                      <a:xfrm>
                        <a:off x="1972917" y="3505200"/>
                        <a:ext cx="1590792" cy="535675"/>
                      </a:xfrm>
                      <a:prstGeom prst="rect">
                        <a:avLst/>
                      </a:prstGeom>
                    </p:spPr>
                  </p:pic>
                </p:oleObj>
              </mc:Fallback>
            </mc:AlternateContent>
          </a:graphicData>
        </a:graphic>
      </p:graphicFrame>
      <p:sp>
        <p:nvSpPr>
          <p:cNvPr id="20" name="TextBox 19"/>
          <p:cNvSpPr txBox="1"/>
          <p:nvPr/>
        </p:nvSpPr>
        <p:spPr>
          <a:xfrm>
            <a:off x="304800" y="3962400"/>
            <a:ext cx="2672398" cy="369332"/>
          </a:xfrm>
          <a:prstGeom prst="rect">
            <a:avLst/>
          </a:prstGeom>
          <a:noFill/>
        </p:spPr>
        <p:txBody>
          <a:bodyPr wrap="none" rtlCol="0">
            <a:spAutoFit/>
          </a:bodyPr>
          <a:lstStyle/>
          <a:p>
            <a:r>
              <a:rPr lang="en-US" altLang="zh-CN" dirty="0"/>
              <a:t>6. Compare the coefficient</a:t>
            </a:r>
            <a:endParaRPr lang="zh-CN" altLang="en-US" dirty="0"/>
          </a:p>
        </p:txBody>
      </p:sp>
      <p:graphicFrame>
        <p:nvGraphicFramePr>
          <p:cNvPr id="21" name="对象 20"/>
          <p:cNvGraphicFramePr>
            <a:graphicFrameLocks noChangeAspect="1"/>
          </p:cNvGraphicFramePr>
          <p:nvPr/>
        </p:nvGraphicFramePr>
        <p:xfrm>
          <a:off x="1913482" y="4267200"/>
          <a:ext cx="1130300" cy="635000"/>
        </p:xfrm>
        <a:graphic>
          <a:graphicData uri="http://schemas.openxmlformats.org/presentationml/2006/ole">
            <mc:AlternateContent xmlns:mc="http://schemas.openxmlformats.org/markup-compatibility/2006">
              <mc:Choice xmlns:v="urn:schemas-microsoft-com:vml" Requires="v">
                <p:oleObj name="Equation" r:id="rId10" imgW="1130040" imgH="634680" progId="Equation.DSMT4">
                  <p:embed/>
                </p:oleObj>
              </mc:Choice>
              <mc:Fallback>
                <p:oleObj name="Equation" r:id="rId10" imgW="1130040" imgH="634680" progId="Equation.DSMT4">
                  <p:embed/>
                  <p:pic>
                    <p:nvPicPr>
                      <p:cNvPr id="21" name="对象 20"/>
                      <p:cNvPicPr/>
                      <p:nvPr/>
                    </p:nvPicPr>
                    <p:blipFill>
                      <a:blip r:embed="rId11"/>
                      <a:stretch>
                        <a:fillRect/>
                      </a:stretch>
                    </p:blipFill>
                    <p:spPr>
                      <a:xfrm>
                        <a:off x="1913482" y="4267200"/>
                        <a:ext cx="1130300" cy="635000"/>
                      </a:xfrm>
                      <a:prstGeom prst="rect">
                        <a:avLst/>
                      </a:prstGeom>
                    </p:spPr>
                  </p:pic>
                </p:oleObj>
              </mc:Fallback>
            </mc:AlternateContent>
          </a:graphicData>
        </a:graphic>
      </p:graphicFrame>
      <p:sp>
        <p:nvSpPr>
          <p:cNvPr id="22" name="TextBox 21"/>
          <p:cNvSpPr txBox="1"/>
          <p:nvPr/>
        </p:nvSpPr>
        <p:spPr>
          <a:xfrm>
            <a:off x="319585" y="4953000"/>
            <a:ext cx="3350982" cy="369332"/>
          </a:xfrm>
          <a:prstGeom prst="rect">
            <a:avLst/>
          </a:prstGeom>
          <a:noFill/>
        </p:spPr>
        <p:txBody>
          <a:bodyPr wrap="none" rtlCol="0">
            <a:spAutoFit/>
          </a:bodyPr>
          <a:lstStyle/>
          <a:p>
            <a:r>
              <a:rPr lang="en-US" altLang="zh-CN" dirty="0"/>
              <a:t>7. Solve the equation for M and N</a:t>
            </a:r>
            <a:endParaRPr lang="zh-CN" altLang="en-US" dirty="0"/>
          </a:p>
        </p:txBody>
      </p:sp>
      <p:graphicFrame>
        <p:nvGraphicFramePr>
          <p:cNvPr id="23" name="对象 22"/>
          <p:cNvGraphicFramePr>
            <a:graphicFrameLocks noChangeAspect="1"/>
          </p:cNvGraphicFramePr>
          <p:nvPr/>
        </p:nvGraphicFramePr>
        <p:xfrm>
          <a:off x="1835150" y="5384800"/>
          <a:ext cx="1892300" cy="939800"/>
        </p:xfrm>
        <a:graphic>
          <a:graphicData uri="http://schemas.openxmlformats.org/presentationml/2006/ole">
            <mc:AlternateContent xmlns:mc="http://schemas.openxmlformats.org/markup-compatibility/2006">
              <mc:Choice xmlns:v="urn:schemas-microsoft-com:vml" Requires="v">
                <p:oleObj name="Equation" r:id="rId12" imgW="1892160" imgH="939600" progId="Equation.DSMT4">
                  <p:embed/>
                </p:oleObj>
              </mc:Choice>
              <mc:Fallback>
                <p:oleObj name="Equation" r:id="rId12" imgW="1892160" imgH="939600" progId="Equation.DSMT4">
                  <p:embed/>
                  <p:pic>
                    <p:nvPicPr>
                      <p:cNvPr id="23" name="对象 22"/>
                      <p:cNvPicPr>
                        <a:picLocks noChangeAspect="1" noChangeArrowheads="1"/>
                      </p:cNvPicPr>
                      <p:nvPr/>
                    </p:nvPicPr>
                    <p:blipFill>
                      <a:blip r:embed="rId13"/>
                      <a:srcRect/>
                      <a:stretch>
                        <a:fillRect/>
                      </a:stretch>
                    </p:blipFill>
                    <p:spPr bwMode="auto">
                      <a:xfrm>
                        <a:off x="1835150" y="5384800"/>
                        <a:ext cx="18923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nvGraphicFramePr>
        <p:xfrm>
          <a:off x="5625071" y="4585774"/>
          <a:ext cx="3290329" cy="786368"/>
        </p:xfrm>
        <a:graphic>
          <a:graphicData uri="http://schemas.openxmlformats.org/presentationml/2006/ole">
            <mc:AlternateContent xmlns:mc="http://schemas.openxmlformats.org/markup-compatibility/2006">
              <mc:Choice xmlns:v="urn:schemas-microsoft-com:vml" Requires="v">
                <p:oleObj name="Equation" r:id="rId14" imgW="2019240" imgH="482400" progId="Equation.DSMT4">
                  <p:embed/>
                </p:oleObj>
              </mc:Choice>
              <mc:Fallback>
                <p:oleObj name="Equation" r:id="rId14" imgW="2019240" imgH="482400" progId="Equation.DSMT4">
                  <p:embed/>
                  <p:pic>
                    <p:nvPicPr>
                      <p:cNvPr id="24" name="对象 23"/>
                      <p:cNvPicPr>
                        <a:picLocks noChangeAspect="1" noChangeArrowheads="1"/>
                      </p:cNvPicPr>
                      <p:nvPr/>
                    </p:nvPicPr>
                    <p:blipFill>
                      <a:blip r:embed="rId15"/>
                      <a:srcRect/>
                      <a:stretch>
                        <a:fillRect/>
                      </a:stretch>
                    </p:blipFill>
                    <p:spPr bwMode="auto">
                      <a:xfrm>
                        <a:off x="5625071" y="4585774"/>
                        <a:ext cx="3290329" cy="786368"/>
                      </a:xfrm>
                      <a:prstGeom prst="rect">
                        <a:avLst/>
                      </a:prstGeom>
                      <a:noFill/>
                      <a:ln>
                        <a:noFill/>
                      </a:ln>
                    </p:spPr>
                  </p:pic>
                </p:oleObj>
              </mc:Fallback>
            </mc:AlternateContent>
          </a:graphicData>
        </a:graphic>
      </p:graphicFrame>
      <p:sp>
        <p:nvSpPr>
          <p:cNvPr id="25" name="TextBox 24"/>
          <p:cNvSpPr txBox="1"/>
          <p:nvPr/>
        </p:nvSpPr>
        <p:spPr>
          <a:xfrm>
            <a:off x="5798454" y="4215178"/>
            <a:ext cx="983346" cy="369332"/>
          </a:xfrm>
          <a:prstGeom prst="rect">
            <a:avLst/>
          </a:prstGeom>
          <a:noFill/>
        </p:spPr>
        <p:txBody>
          <a:bodyPr wrap="none" rtlCol="0">
            <a:spAutoFit/>
          </a:bodyPr>
          <a:lstStyle/>
          <a:p>
            <a:r>
              <a:rPr lang="en-US" altLang="zh-CN" dirty="0"/>
              <a:t>S=S(T, V)</a:t>
            </a:r>
            <a:endParaRPr lang="zh-CN" altLang="en-US" dirty="0"/>
          </a:p>
        </p:txBody>
      </p:sp>
      <p:sp>
        <p:nvSpPr>
          <p:cNvPr id="26" name="圆角矩形 25"/>
          <p:cNvSpPr/>
          <p:nvPr/>
        </p:nvSpPr>
        <p:spPr>
          <a:xfrm>
            <a:off x="5480721" y="4038600"/>
            <a:ext cx="3581400" cy="1310185"/>
          </a:xfrm>
          <a:prstGeom prst="roundRect">
            <a:avLst>
              <a:gd name="adj" fmla="val 950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对象 26"/>
          <p:cNvGraphicFramePr>
            <a:graphicFrameLocks noChangeAspect="1"/>
          </p:cNvGraphicFramePr>
          <p:nvPr/>
        </p:nvGraphicFramePr>
        <p:xfrm>
          <a:off x="5638800" y="5638800"/>
          <a:ext cx="1600200" cy="939800"/>
        </p:xfrm>
        <a:graphic>
          <a:graphicData uri="http://schemas.openxmlformats.org/presentationml/2006/ole">
            <mc:AlternateContent xmlns:mc="http://schemas.openxmlformats.org/markup-compatibility/2006">
              <mc:Choice xmlns:v="urn:schemas-microsoft-com:vml" Requires="v">
                <p:oleObj name="Equation" r:id="rId16" imgW="1600200" imgH="939600" progId="Equation.DSMT4">
                  <p:embed/>
                </p:oleObj>
              </mc:Choice>
              <mc:Fallback>
                <p:oleObj name="Equation" r:id="rId16" imgW="1600200" imgH="939600" progId="Equation.DSMT4">
                  <p:embed/>
                  <p:pic>
                    <p:nvPicPr>
                      <p:cNvPr id="27" name="对象 26"/>
                      <p:cNvPicPr/>
                      <p:nvPr/>
                    </p:nvPicPr>
                    <p:blipFill>
                      <a:blip r:embed="rId17"/>
                      <a:stretch>
                        <a:fillRect/>
                      </a:stretch>
                    </p:blipFill>
                    <p:spPr>
                      <a:xfrm>
                        <a:off x="5638800" y="5638800"/>
                        <a:ext cx="1600200" cy="9398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7392860" y="5745707"/>
          <a:ext cx="1598740" cy="682389"/>
        </p:xfrm>
        <a:graphic>
          <a:graphicData uri="http://schemas.openxmlformats.org/presentationml/2006/ole">
            <mc:AlternateContent xmlns:mc="http://schemas.openxmlformats.org/markup-compatibility/2006">
              <mc:Choice xmlns:v="urn:schemas-microsoft-com:vml" Requires="v">
                <p:oleObj name="Equation" r:id="rId18" imgW="1041120" imgH="444240" progId="Equation.DSMT4">
                  <p:embed/>
                </p:oleObj>
              </mc:Choice>
              <mc:Fallback>
                <p:oleObj name="Equation" r:id="rId18" imgW="1041120" imgH="444240" progId="Equation.DSMT4">
                  <p:embed/>
                  <p:pic>
                    <p:nvPicPr>
                      <p:cNvPr id="28" name="对象 27"/>
                      <p:cNvPicPr/>
                      <p:nvPr/>
                    </p:nvPicPr>
                    <p:blipFill>
                      <a:blip r:embed="rId19"/>
                      <a:stretch>
                        <a:fillRect/>
                      </a:stretch>
                    </p:blipFill>
                    <p:spPr>
                      <a:xfrm>
                        <a:off x="7392860" y="5745707"/>
                        <a:ext cx="1598740" cy="682389"/>
                      </a:xfrm>
                      <a:prstGeom prst="rect">
                        <a:avLst/>
                      </a:prstGeom>
                    </p:spPr>
                  </p:pic>
                </p:oleObj>
              </mc:Fallback>
            </mc:AlternateContent>
          </a:graphicData>
        </a:graphic>
      </p:graphicFrame>
      <p:sp>
        <p:nvSpPr>
          <p:cNvPr id="29" name="圆角矩形 28"/>
          <p:cNvSpPr/>
          <p:nvPr/>
        </p:nvSpPr>
        <p:spPr>
          <a:xfrm>
            <a:off x="5486400" y="5442466"/>
            <a:ext cx="3581400" cy="1310185"/>
          </a:xfrm>
          <a:prstGeom prst="roundRect">
            <a:avLst>
              <a:gd name="adj" fmla="val 950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1"/>
          <p:cNvSpPr/>
          <p:nvPr/>
        </p:nvSpPr>
        <p:spPr>
          <a:xfrm>
            <a:off x="3668233" y="5677786"/>
            <a:ext cx="1924493" cy="818707"/>
          </a:xfrm>
          <a:custGeom>
            <a:avLst/>
            <a:gdLst>
              <a:gd name="connsiteX0" fmla="*/ 0 w 1924493"/>
              <a:gd name="connsiteY0" fmla="*/ 0 h 818707"/>
              <a:gd name="connsiteX1" fmla="*/ 967562 w 1924493"/>
              <a:gd name="connsiteY1" fmla="*/ 606056 h 818707"/>
              <a:gd name="connsiteX2" fmla="*/ 1924493 w 1924493"/>
              <a:gd name="connsiteY2" fmla="*/ 818707 h 818707"/>
            </a:gdLst>
            <a:ahLst/>
            <a:cxnLst>
              <a:cxn ang="0">
                <a:pos x="connsiteX0" y="connsiteY0"/>
              </a:cxn>
              <a:cxn ang="0">
                <a:pos x="connsiteX1" y="connsiteY1"/>
              </a:cxn>
              <a:cxn ang="0">
                <a:pos x="connsiteX2" y="connsiteY2"/>
              </a:cxn>
            </a:cxnLst>
            <a:rect l="l" t="t" r="r" b="b"/>
            <a:pathLst>
              <a:path w="1924493" h="818707">
                <a:moveTo>
                  <a:pt x="0" y="0"/>
                </a:moveTo>
                <a:cubicBezTo>
                  <a:pt x="323406" y="234802"/>
                  <a:pt x="646813" y="469605"/>
                  <a:pt x="967562" y="606056"/>
                </a:cubicBezTo>
                <a:cubicBezTo>
                  <a:pt x="1288311" y="742507"/>
                  <a:pt x="1606402" y="780607"/>
                  <a:pt x="1924493" y="8187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18142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62696" y="256947"/>
            <a:ext cx="6204904" cy="523220"/>
          </a:xfrm>
          <a:prstGeom prst="rect">
            <a:avLst/>
          </a:prstGeom>
          <a:noFill/>
        </p:spPr>
        <p:txBody>
          <a:bodyPr wrap="none" rtlCol="0">
            <a:spAutoFit/>
          </a:bodyPr>
          <a:lstStyle/>
          <a:p>
            <a:r>
              <a:rPr lang="en-US" altLang="zh-CN" sz="2800" dirty="0"/>
              <a:t>Related the entropy of system to  P and V</a:t>
            </a:r>
            <a:endParaRPr lang="zh-CN" altLang="en-US" sz="2800" dirty="0"/>
          </a:p>
        </p:txBody>
      </p:sp>
      <p:sp>
        <p:nvSpPr>
          <p:cNvPr id="10" name="TextBox 9"/>
          <p:cNvSpPr txBox="1"/>
          <p:nvPr/>
        </p:nvSpPr>
        <p:spPr>
          <a:xfrm>
            <a:off x="304800" y="1323975"/>
            <a:ext cx="3211970" cy="369332"/>
          </a:xfrm>
          <a:prstGeom prst="rect">
            <a:avLst/>
          </a:prstGeom>
          <a:noFill/>
        </p:spPr>
        <p:txBody>
          <a:bodyPr wrap="none" rtlCol="0">
            <a:spAutoFit/>
          </a:bodyPr>
          <a:lstStyle/>
          <a:p>
            <a:r>
              <a:rPr lang="en-US" altLang="zh-CN" dirty="0"/>
              <a:t>1. Identify the variable: S=S(P, V)</a:t>
            </a:r>
            <a:endParaRPr lang="zh-CN" altLang="en-US" dirty="0"/>
          </a:p>
        </p:txBody>
      </p:sp>
      <p:sp>
        <p:nvSpPr>
          <p:cNvPr id="11" name="TextBox 10"/>
          <p:cNvSpPr txBox="1"/>
          <p:nvPr/>
        </p:nvSpPr>
        <p:spPr>
          <a:xfrm>
            <a:off x="304800" y="1704975"/>
            <a:ext cx="4347665" cy="369332"/>
          </a:xfrm>
          <a:prstGeom prst="rect">
            <a:avLst/>
          </a:prstGeom>
          <a:noFill/>
        </p:spPr>
        <p:txBody>
          <a:bodyPr wrap="none" rtlCol="0">
            <a:spAutoFit/>
          </a:bodyPr>
          <a:lstStyle/>
          <a:p>
            <a:r>
              <a:rPr lang="en-US" altLang="zh-CN" dirty="0"/>
              <a:t>2. Write the differential form : </a:t>
            </a:r>
            <a:r>
              <a:rPr lang="en-US" altLang="zh-CN" dirty="0" err="1"/>
              <a:t>dS</a:t>
            </a:r>
            <a:r>
              <a:rPr lang="en-US" altLang="zh-CN" dirty="0"/>
              <a:t>=</a:t>
            </a:r>
            <a:r>
              <a:rPr lang="en-US" altLang="zh-CN" dirty="0" err="1"/>
              <a:t>MdP+NdV</a:t>
            </a:r>
            <a:endParaRPr lang="zh-CN" altLang="en-US" dirty="0"/>
          </a:p>
        </p:txBody>
      </p:sp>
      <p:sp>
        <p:nvSpPr>
          <p:cNvPr id="12" name="TextBox 11"/>
          <p:cNvSpPr txBox="1"/>
          <p:nvPr/>
        </p:nvSpPr>
        <p:spPr>
          <a:xfrm>
            <a:off x="300535" y="2162175"/>
            <a:ext cx="1510478" cy="369332"/>
          </a:xfrm>
          <a:prstGeom prst="rect">
            <a:avLst/>
          </a:prstGeom>
          <a:noFill/>
        </p:spPr>
        <p:txBody>
          <a:bodyPr wrap="none" rtlCol="0">
            <a:spAutoFit/>
          </a:bodyPr>
          <a:lstStyle/>
          <a:p>
            <a:r>
              <a:rPr lang="en-US" altLang="zh-CN" dirty="0"/>
              <a:t>3. Convert </a:t>
            </a:r>
            <a:r>
              <a:rPr lang="en-US" altLang="zh-CN" dirty="0" err="1"/>
              <a:t>dV</a:t>
            </a:r>
            <a:r>
              <a:rPr lang="en-US" altLang="zh-CN" dirty="0"/>
              <a:t>:</a:t>
            </a:r>
            <a:endParaRPr lang="zh-CN" altLang="en-US" dirty="0"/>
          </a:p>
        </p:txBody>
      </p:sp>
      <p:sp>
        <p:nvSpPr>
          <p:cNvPr id="13" name="TextBox 12"/>
          <p:cNvSpPr txBox="1"/>
          <p:nvPr/>
        </p:nvSpPr>
        <p:spPr>
          <a:xfrm>
            <a:off x="304800" y="2628473"/>
            <a:ext cx="1586396" cy="369332"/>
          </a:xfrm>
          <a:prstGeom prst="rect">
            <a:avLst/>
          </a:prstGeom>
          <a:noFill/>
        </p:spPr>
        <p:txBody>
          <a:bodyPr wrap="none" rtlCol="0">
            <a:spAutoFit/>
          </a:bodyPr>
          <a:lstStyle/>
          <a:p>
            <a:r>
              <a:rPr lang="en-US" altLang="zh-CN" dirty="0"/>
              <a:t>4. Collect  item</a:t>
            </a:r>
            <a:endParaRPr lang="zh-CN" altLang="en-US" dirty="0"/>
          </a:p>
        </p:txBody>
      </p:sp>
      <p:graphicFrame>
        <p:nvGraphicFramePr>
          <p:cNvPr id="14" name="对象 13"/>
          <p:cNvGraphicFramePr>
            <a:graphicFrameLocks noChangeAspect="1"/>
          </p:cNvGraphicFramePr>
          <p:nvPr/>
        </p:nvGraphicFramePr>
        <p:xfrm>
          <a:off x="1928813" y="2203450"/>
          <a:ext cx="2595562" cy="338138"/>
        </p:xfrm>
        <a:graphic>
          <a:graphicData uri="http://schemas.openxmlformats.org/presentationml/2006/ole">
            <mc:AlternateContent xmlns:mc="http://schemas.openxmlformats.org/markup-compatibility/2006">
              <mc:Choice xmlns:v="urn:schemas-microsoft-com:vml" Requires="v">
                <p:oleObj name="Equation" r:id="rId2" imgW="1955520" imgH="253800" progId="Equation.DSMT4">
                  <p:embed/>
                </p:oleObj>
              </mc:Choice>
              <mc:Fallback>
                <p:oleObj name="Equation" r:id="rId2" imgW="1955520" imgH="253800" progId="Equation.DSMT4">
                  <p:embed/>
                  <p:pic>
                    <p:nvPicPr>
                      <p:cNvPr id="14" name="对象 13"/>
                      <p:cNvPicPr/>
                      <p:nvPr/>
                    </p:nvPicPr>
                    <p:blipFill>
                      <a:blip r:embed="rId3"/>
                      <a:stretch>
                        <a:fillRect/>
                      </a:stretch>
                    </p:blipFill>
                    <p:spPr>
                      <a:xfrm>
                        <a:off x="1928813" y="2203450"/>
                        <a:ext cx="2595562" cy="338138"/>
                      </a:xfrm>
                      <a:prstGeom prst="rect">
                        <a:avLst/>
                      </a:prstGeom>
                    </p:spPr>
                  </p:pic>
                </p:oleObj>
              </mc:Fallback>
            </mc:AlternateContent>
          </a:graphicData>
        </a:graphic>
      </p:graphicFrame>
      <p:sp>
        <p:nvSpPr>
          <p:cNvPr id="16" name="TextBox 15"/>
          <p:cNvSpPr txBox="1"/>
          <p:nvPr/>
        </p:nvSpPr>
        <p:spPr>
          <a:xfrm>
            <a:off x="304800" y="3076575"/>
            <a:ext cx="3336234" cy="369332"/>
          </a:xfrm>
          <a:prstGeom prst="rect">
            <a:avLst/>
          </a:prstGeom>
          <a:noFill/>
        </p:spPr>
        <p:txBody>
          <a:bodyPr wrap="none" rtlCol="0">
            <a:spAutoFit/>
          </a:bodyPr>
          <a:lstStyle/>
          <a:p>
            <a:r>
              <a:rPr lang="en-US" altLang="zh-CN" dirty="0"/>
              <a:t>5. Obtain S=S(T, P) form</a:t>
            </a:r>
            <a:r>
              <a:rPr lang="zh-CN" altLang="en-US" dirty="0"/>
              <a:t>  </a:t>
            </a:r>
            <a:r>
              <a:rPr lang="en-US" altLang="zh-CN" dirty="0"/>
              <a:t>the table</a:t>
            </a:r>
            <a:endParaRPr lang="zh-CN" altLang="en-US" dirty="0"/>
          </a:p>
        </p:txBody>
      </p:sp>
      <p:graphicFrame>
        <p:nvGraphicFramePr>
          <p:cNvPr id="17" name="对象 16"/>
          <p:cNvGraphicFramePr>
            <a:graphicFrameLocks noChangeAspect="1"/>
          </p:cNvGraphicFramePr>
          <p:nvPr/>
        </p:nvGraphicFramePr>
        <p:xfrm>
          <a:off x="1972917" y="3457575"/>
          <a:ext cx="1590792" cy="535675"/>
        </p:xfrm>
        <a:graphic>
          <a:graphicData uri="http://schemas.openxmlformats.org/presentationml/2006/ole">
            <mc:AlternateContent xmlns:mc="http://schemas.openxmlformats.org/markup-compatibility/2006">
              <mc:Choice xmlns:v="urn:schemas-microsoft-com:vml" Requires="v">
                <p:oleObj name="Equation" r:id="rId4" imgW="1244520" imgH="419040" progId="Equation.DSMT4">
                  <p:embed/>
                </p:oleObj>
              </mc:Choice>
              <mc:Fallback>
                <p:oleObj name="Equation" r:id="rId4" imgW="1244520" imgH="419040" progId="Equation.DSMT4">
                  <p:embed/>
                  <p:pic>
                    <p:nvPicPr>
                      <p:cNvPr id="17" name="对象 16"/>
                      <p:cNvPicPr/>
                      <p:nvPr/>
                    </p:nvPicPr>
                    <p:blipFill>
                      <a:blip r:embed="rId5"/>
                      <a:stretch>
                        <a:fillRect/>
                      </a:stretch>
                    </p:blipFill>
                    <p:spPr>
                      <a:xfrm>
                        <a:off x="1972917" y="3457575"/>
                        <a:ext cx="1590792" cy="535675"/>
                      </a:xfrm>
                      <a:prstGeom prst="rect">
                        <a:avLst/>
                      </a:prstGeom>
                    </p:spPr>
                  </p:pic>
                </p:oleObj>
              </mc:Fallback>
            </mc:AlternateContent>
          </a:graphicData>
        </a:graphic>
      </p:graphicFrame>
      <p:sp>
        <p:nvSpPr>
          <p:cNvPr id="18" name="TextBox 17"/>
          <p:cNvSpPr txBox="1"/>
          <p:nvPr/>
        </p:nvSpPr>
        <p:spPr>
          <a:xfrm>
            <a:off x="304800" y="3914775"/>
            <a:ext cx="2672398" cy="369332"/>
          </a:xfrm>
          <a:prstGeom prst="rect">
            <a:avLst/>
          </a:prstGeom>
          <a:noFill/>
        </p:spPr>
        <p:txBody>
          <a:bodyPr wrap="none" rtlCol="0">
            <a:spAutoFit/>
          </a:bodyPr>
          <a:lstStyle/>
          <a:p>
            <a:r>
              <a:rPr lang="en-US" altLang="zh-CN" dirty="0"/>
              <a:t>6. Compare the coefficient</a:t>
            </a:r>
            <a:endParaRPr lang="zh-CN" altLang="en-US" dirty="0"/>
          </a:p>
        </p:txBody>
      </p:sp>
      <p:graphicFrame>
        <p:nvGraphicFramePr>
          <p:cNvPr id="19" name="对象 18"/>
          <p:cNvGraphicFramePr>
            <a:graphicFrameLocks noChangeAspect="1"/>
          </p:cNvGraphicFramePr>
          <p:nvPr/>
        </p:nvGraphicFramePr>
        <p:xfrm>
          <a:off x="1925638" y="4219575"/>
          <a:ext cx="1104900" cy="635000"/>
        </p:xfrm>
        <a:graphic>
          <a:graphicData uri="http://schemas.openxmlformats.org/presentationml/2006/ole">
            <mc:AlternateContent xmlns:mc="http://schemas.openxmlformats.org/markup-compatibility/2006">
              <mc:Choice xmlns:v="urn:schemas-microsoft-com:vml" Requires="v">
                <p:oleObj name="Equation" r:id="rId6" imgW="1104840" imgH="634680" progId="Equation.DSMT4">
                  <p:embed/>
                </p:oleObj>
              </mc:Choice>
              <mc:Fallback>
                <p:oleObj name="Equation" r:id="rId6" imgW="1104840" imgH="634680" progId="Equation.DSMT4">
                  <p:embed/>
                  <p:pic>
                    <p:nvPicPr>
                      <p:cNvPr id="19" name="对象 18"/>
                      <p:cNvPicPr/>
                      <p:nvPr/>
                    </p:nvPicPr>
                    <p:blipFill>
                      <a:blip r:embed="rId7"/>
                      <a:stretch>
                        <a:fillRect/>
                      </a:stretch>
                    </p:blipFill>
                    <p:spPr>
                      <a:xfrm>
                        <a:off x="1925638" y="4219575"/>
                        <a:ext cx="1104900" cy="635000"/>
                      </a:xfrm>
                      <a:prstGeom prst="rect">
                        <a:avLst/>
                      </a:prstGeom>
                    </p:spPr>
                  </p:pic>
                </p:oleObj>
              </mc:Fallback>
            </mc:AlternateContent>
          </a:graphicData>
        </a:graphic>
      </p:graphicFrame>
      <p:sp>
        <p:nvSpPr>
          <p:cNvPr id="20" name="TextBox 19"/>
          <p:cNvSpPr txBox="1"/>
          <p:nvPr/>
        </p:nvSpPr>
        <p:spPr>
          <a:xfrm>
            <a:off x="319585" y="4905375"/>
            <a:ext cx="3350982" cy="369332"/>
          </a:xfrm>
          <a:prstGeom prst="rect">
            <a:avLst/>
          </a:prstGeom>
          <a:noFill/>
        </p:spPr>
        <p:txBody>
          <a:bodyPr wrap="none" rtlCol="0">
            <a:spAutoFit/>
          </a:bodyPr>
          <a:lstStyle/>
          <a:p>
            <a:r>
              <a:rPr lang="en-US" altLang="zh-CN" dirty="0"/>
              <a:t>7. Solve the equation for M and N</a:t>
            </a:r>
            <a:endParaRPr lang="zh-CN" altLang="en-US" dirty="0"/>
          </a:p>
        </p:txBody>
      </p:sp>
      <p:graphicFrame>
        <p:nvGraphicFramePr>
          <p:cNvPr id="21" name="对象 20"/>
          <p:cNvGraphicFramePr>
            <a:graphicFrameLocks noChangeAspect="1"/>
          </p:cNvGraphicFramePr>
          <p:nvPr/>
        </p:nvGraphicFramePr>
        <p:xfrm>
          <a:off x="1905000" y="5387975"/>
          <a:ext cx="1701800" cy="889000"/>
        </p:xfrm>
        <a:graphic>
          <a:graphicData uri="http://schemas.openxmlformats.org/presentationml/2006/ole">
            <mc:AlternateContent xmlns:mc="http://schemas.openxmlformats.org/markup-compatibility/2006">
              <mc:Choice xmlns:v="urn:schemas-microsoft-com:vml" Requires="v">
                <p:oleObj name="Equation" r:id="rId8" imgW="1701720" imgH="888840" progId="Equation.DSMT4">
                  <p:embed/>
                </p:oleObj>
              </mc:Choice>
              <mc:Fallback>
                <p:oleObj name="Equation" r:id="rId8" imgW="1701720" imgH="888840" progId="Equation.DSMT4">
                  <p:embed/>
                  <p:pic>
                    <p:nvPicPr>
                      <p:cNvPr id="21" name="对象 20"/>
                      <p:cNvPicPr>
                        <a:picLocks noChangeAspect="1" noChangeArrowheads="1"/>
                      </p:cNvPicPr>
                      <p:nvPr/>
                    </p:nvPicPr>
                    <p:blipFill>
                      <a:blip r:embed="rId9"/>
                      <a:srcRect/>
                      <a:stretch>
                        <a:fillRect/>
                      </a:stretch>
                    </p:blipFill>
                    <p:spPr bwMode="auto">
                      <a:xfrm>
                        <a:off x="1905000" y="5387975"/>
                        <a:ext cx="1701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5943600" y="1168400"/>
          <a:ext cx="3048000" cy="2192966"/>
        </p:xfrm>
        <a:graphic>
          <a:graphicData uri="http://schemas.openxmlformats.org/presentationml/2006/ole">
            <mc:AlternateContent xmlns:mc="http://schemas.openxmlformats.org/markup-compatibility/2006">
              <mc:Choice xmlns:v="urn:schemas-microsoft-com:vml" Requires="v">
                <p:oleObj name="Equation" r:id="rId10" imgW="2298600" imgH="1650960" progId="Equation.DSMT4">
                  <p:embed/>
                </p:oleObj>
              </mc:Choice>
              <mc:Fallback>
                <p:oleObj name="Equation" r:id="rId10" imgW="2298600" imgH="1650960" progId="Equation.DSMT4">
                  <p:embed/>
                  <p:pic>
                    <p:nvPicPr>
                      <p:cNvPr id="22" name="对象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1168400"/>
                        <a:ext cx="3048000" cy="2192966"/>
                      </a:xfrm>
                      <a:prstGeom prst="rect">
                        <a:avLst/>
                      </a:prstGeom>
                      <a:noFill/>
                      <a:ln w="57150">
                        <a:solidFill>
                          <a:srgbClr val="00B050"/>
                        </a:solidFill>
                        <a:miter lim="800000"/>
                        <a:headEnd/>
                        <a:tailEnd/>
                      </a:ln>
                    </p:spPr>
                  </p:pic>
                </p:oleObj>
              </mc:Fallback>
            </mc:AlternateContent>
          </a:graphicData>
        </a:graphic>
      </p:graphicFrame>
      <p:graphicFrame>
        <p:nvGraphicFramePr>
          <p:cNvPr id="23" name="对象 22"/>
          <p:cNvGraphicFramePr>
            <a:graphicFrameLocks noChangeAspect="1"/>
          </p:cNvGraphicFramePr>
          <p:nvPr/>
        </p:nvGraphicFramePr>
        <p:xfrm>
          <a:off x="1965325" y="2682875"/>
          <a:ext cx="2562225" cy="338138"/>
        </p:xfrm>
        <a:graphic>
          <a:graphicData uri="http://schemas.openxmlformats.org/presentationml/2006/ole">
            <mc:AlternateContent xmlns:mc="http://schemas.openxmlformats.org/markup-compatibility/2006">
              <mc:Choice xmlns:v="urn:schemas-microsoft-com:vml" Requires="v">
                <p:oleObj name="Equation" r:id="rId12" imgW="1930320" imgH="253800" progId="Equation.DSMT4">
                  <p:embed/>
                </p:oleObj>
              </mc:Choice>
              <mc:Fallback>
                <p:oleObj name="Equation" r:id="rId12" imgW="1930320" imgH="253800" progId="Equation.DSMT4">
                  <p:embed/>
                  <p:pic>
                    <p:nvPicPr>
                      <p:cNvPr id="23" name="对象 22"/>
                      <p:cNvPicPr>
                        <a:picLocks noChangeAspect="1" noChangeArrowheads="1"/>
                      </p:cNvPicPr>
                      <p:nvPr/>
                    </p:nvPicPr>
                    <p:blipFill>
                      <a:blip r:embed="rId13"/>
                      <a:srcRect/>
                      <a:stretch>
                        <a:fillRect/>
                      </a:stretch>
                    </p:blipFill>
                    <p:spPr bwMode="auto">
                      <a:xfrm>
                        <a:off x="1965325" y="2682875"/>
                        <a:ext cx="2562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nvGraphicFramePr>
        <p:xfrm>
          <a:off x="5932034" y="5396884"/>
          <a:ext cx="2773829" cy="596900"/>
        </p:xfrm>
        <a:graphic>
          <a:graphicData uri="http://schemas.openxmlformats.org/presentationml/2006/ole">
            <mc:AlternateContent xmlns:mc="http://schemas.openxmlformats.org/markup-compatibility/2006">
              <mc:Choice xmlns:v="urn:schemas-microsoft-com:vml" Requires="v">
                <p:oleObj name="Equation" r:id="rId14" imgW="2006280" imgH="431640" progId="Equation.DSMT4">
                  <p:embed/>
                </p:oleObj>
              </mc:Choice>
              <mc:Fallback>
                <p:oleObj name="Equation" r:id="rId14" imgW="2006280" imgH="431640" progId="Equation.DSMT4">
                  <p:embed/>
                  <p:pic>
                    <p:nvPicPr>
                      <p:cNvPr id="24" name="对象 23"/>
                      <p:cNvPicPr>
                        <a:picLocks noChangeAspect="1" noChangeArrowheads="1"/>
                      </p:cNvPicPr>
                      <p:nvPr/>
                    </p:nvPicPr>
                    <p:blipFill>
                      <a:blip r:embed="rId15"/>
                      <a:srcRect/>
                      <a:stretch>
                        <a:fillRect/>
                      </a:stretch>
                    </p:blipFill>
                    <p:spPr bwMode="auto">
                      <a:xfrm>
                        <a:off x="5932034" y="5396884"/>
                        <a:ext cx="2773829" cy="596900"/>
                      </a:xfrm>
                      <a:prstGeom prst="rect">
                        <a:avLst/>
                      </a:prstGeom>
                      <a:noFill/>
                      <a:ln>
                        <a:noFill/>
                      </a:ln>
                    </p:spPr>
                  </p:pic>
                </p:oleObj>
              </mc:Fallback>
            </mc:AlternateContent>
          </a:graphicData>
        </a:graphic>
      </p:graphicFrame>
      <p:sp>
        <p:nvSpPr>
          <p:cNvPr id="25" name="矩形 24"/>
          <p:cNvSpPr/>
          <p:nvPr/>
        </p:nvSpPr>
        <p:spPr>
          <a:xfrm>
            <a:off x="5922979" y="4905375"/>
            <a:ext cx="984821" cy="369332"/>
          </a:xfrm>
          <a:prstGeom prst="rect">
            <a:avLst/>
          </a:prstGeom>
        </p:spPr>
        <p:txBody>
          <a:bodyPr wrap="none">
            <a:spAutoFit/>
          </a:bodyPr>
          <a:lstStyle/>
          <a:p>
            <a:r>
              <a:rPr lang="en-US" altLang="zh-CN" dirty="0"/>
              <a:t>S=S(P, V)</a:t>
            </a:r>
            <a:endParaRPr lang="zh-CN" altLang="en-US" dirty="0"/>
          </a:p>
        </p:txBody>
      </p:sp>
      <p:sp>
        <p:nvSpPr>
          <p:cNvPr id="26" name="圆角矩形 25"/>
          <p:cNvSpPr/>
          <p:nvPr/>
        </p:nvSpPr>
        <p:spPr>
          <a:xfrm>
            <a:off x="5922979" y="4752975"/>
            <a:ext cx="3068621" cy="1600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385582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304925" y="291525"/>
            <a:ext cx="3244799" cy="523220"/>
          </a:xfrm>
          <a:prstGeom prst="rect">
            <a:avLst/>
          </a:prstGeom>
          <a:noFill/>
        </p:spPr>
        <p:txBody>
          <a:bodyPr wrap="none" rtlCol="0">
            <a:spAutoFit/>
          </a:bodyPr>
          <a:lstStyle/>
          <a:p>
            <a:r>
              <a:rPr lang="en-US" altLang="zh-CN" sz="2800" dirty="0">
                <a:solidFill>
                  <a:srgbClr val="FF0000"/>
                </a:solidFill>
              </a:rPr>
              <a:t>Applied to idea gas</a:t>
            </a:r>
            <a:endParaRPr lang="zh-CN" altLang="en-US" sz="2800" dirty="0">
              <a:solidFill>
                <a:srgbClr val="FF0000"/>
              </a:solidFill>
            </a:endParaRPr>
          </a:p>
        </p:txBody>
      </p:sp>
      <p:sp>
        <p:nvSpPr>
          <p:cNvPr id="10" name="TextBox 9"/>
          <p:cNvSpPr txBox="1"/>
          <p:nvPr/>
        </p:nvSpPr>
        <p:spPr>
          <a:xfrm>
            <a:off x="1014298" y="1060536"/>
            <a:ext cx="2735942" cy="400110"/>
          </a:xfrm>
          <a:prstGeom prst="rect">
            <a:avLst/>
          </a:prstGeom>
          <a:noFill/>
        </p:spPr>
        <p:txBody>
          <a:bodyPr wrap="none" rtlCol="0">
            <a:spAutoFit/>
          </a:bodyPr>
          <a:lstStyle/>
          <a:p>
            <a:r>
              <a:rPr lang="en-US" altLang="zh-CN" sz="2000" dirty="0"/>
              <a:t>The equation of idea gas</a:t>
            </a:r>
            <a:endParaRPr lang="zh-CN" altLang="en-US" sz="2000" dirty="0"/>
          </a:p>
        </p:txBody>
      </p:sp>
      <p:graphicFrame>
        <p:nvGraphicFramePr>
          <p:cNvPr id="11" name="对象 10"/>
          <p:cNvGraphicFramePr>
            <a:graphicFrameLocks noChangeAspect="1"/>
          </p:cNvGraphicFramePr>
          <p:nvPr/>
        </p:nvGraphicFramePr>
        <p:xfrm>
          <a:off x="1319099" y="1593936"/>
          <a:ext cx="1527412" cy="395996"/>
        </p:xfrm>
        <a:graphic>
          <a:graphicData uri="http://schemas.openxmlformats.org/presentationml/2006/ole">
            <mc:AlternateContent xmlns:mc="http://schemas.openxmlformats.org/markup-compatibility/2006">
              <mc:Choice xmlns:v="urn:schemas-microsoft-com:vml" Requires="v">
                <p:oleObj name="Equation" r:id="rId2" imgW="685800" imgH="177480" progId="Equation.DSMT4">
                  <p:embed/>
                </p:oleObj>
              </mc:Choice>
              <mc:Fallback>
                <p:oleObj name="Equation" r:id="rId2" imgW="685800" imgH="177480" progId="Equation.DSMT4">
                  <p:embed/>
                  <p:pic>
                    <p:nvPicPr>
                      <p:cNvPr id="11" name="对象 10"/>
                      <p:cNvPicPr/>
                      <p:nvPr/>
                    </p:nvPicPr>
                    <p:blipFill>
                      <a:blip r:embed="rId3"/>
                      <a:stretch>
                        <a:fillRect/>
                      </a:stretch>
                    </p:blipFill>
                    <p:spPr>
                      <a:xfrm>
                        <a:off x="1319099" y="1593936"/>
                        <a:ext cx="1527412" cy="395996"/>
                      </a:xfrm>
                      <a:prstGeom prst="rect">
                        <a:avLst/>
                      </a:prstGeom>
                    </p:spPr>
                  </p:pic>
                </p:oleObj>
              </mc:Fallback>
            </mc:AlternateContent>
          </a:graphicData>
        </a:graphic>
      </p:graphicFrame>
      <p:sp>
        <p:nvSpPr>
          <p:cNvPr id="12" name="TextBox 11"/>
          <p:cNvSpPr txBox="1"/>
          <p:nvPr/>
        </p:nvSpPr>
        <p:spPr>
          <a:xfrm>
            <a:off x="4500399" y="1069268"/>
            <a:ext cx="2454262" cy="400110"/>
          </a:xfrm>
          <a:prstGeom prst="rect">
            <a:avLst/>
          </a:prstGeom>
          <a:noFill/>
        </p:spPr>
        <p:txBody>
          <a:bodyPr wrap="none" rtlCol="0">
            <a:spAutoFit/>
          </a:bodyPr>
          <a:lstStyle/>
          <a:p>
            <a:r>
              <a:rPr lang="en-US" altLang="zh-CN" sz="2000" dirty="0"/>
              <a:t>For </a:t>
            </a:r>
            <a:r>
              <a:rPr lang="en-US" altLang="zh-CN" sz="2000" i="1" dirty="0"/>
              <a:t>1</a:t>
            </a:r>
            <a:r>
              <a:rPr lang="en-US" altLang="zh-CN" sz="2000" dirty="0"/>
              <a:t>mol gas, i.e. n=1 </a:t>
            </a:r>
            <a:endParaRPr lang="zh-CN" altLang="en-US" sz="2000" dirty="0"/>
          </a:p>
        </p:txBody>
      </p:sp>
      <p:graphicFrame>
        <p:nvGraphicFramePr>
          <p:cNvPr id="13" name="对象 12"/>
          <p:cNvGraphicFramePr>
            <a:graphicFrameLocks noChangeAspect="1"/>
          </p:cNvGraphicFramePr>
          <p:nvPr/>
        </p:nvGraphicFramePr>
        <p:xfrm>
          <a:off x="4824298" y="1547106"/>
          <a:ext cx="1385887" cy="395287"/>
        </p:xfrm>
        <a:graphic>
          <a:graphicData uri="http://schemas.openxmlformats.org/presentationml/2006/ole">
            <mc:AlternateContent xmlns:mc="http://schemas.openxmlformats.org/markup-compatibility/2006">
              <mc:Choice xmlns:v="urn:schemas-microsoft-com:vml" Requires="v">
                <p:oleObj name="Equation" r:id="rId4" imgW="622080" imgH="177480" progId="Equation.DSMT4">
                  <p:embed/>
                </p:oleObj>
              </mc:Choice>
              <mc:Fallback>
                <p:oleObj name="Equation" r:id="rId4" imgW="622080" imgH="177480" progId="Equation.DSMT4">
                  <p:embed/>
                  <p:pic>
                    <p:nvPicPr>
                      <p:cNvPr id="13" name="对象 12"/>
                      <p:cNvPicPr>
                        <a:picLocks noChangeAspect="1" noChangeArrowheads="1"/>
                      </p:cNvPicPr>
                      <p:nvPr/>
                    </p:nvPicPr>
                    <p:blipFill>
                      <a:blip r:embed="rId5"/>
                      <a:srcRect/>
                      <a:stretch>
                        <a:fillRect/>
                      </a:stretch>
                    </p:blipFill>
                    <p:spPr bwMode="auto">
                      <a:xfrm>
                        <a:off x="4824298" y="1547106"/>
                        <a:ext cx="13858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1642899" y="2221514"/>
          <a:ext cx="5573229" cy="1537442"/>
        </p:xfrm>
        <a:graphic>
          <a:graphicData uri="http://schemas.openxmlformats.org/presentationml/2006/ole">
            <mc:AlternateContent xmlns:mc="http://schemas.openxmlformats.org/markup-compatibility/2006">
              <mc:Choice xmlns:v="urn:schemas-microsoft-com:vml" Requires="v">
                <p:oleObj name="Equation" r:id="rId6" imgW="4419360" imgH="1218960" progId="Equation.DSMT4">
                  <p:embed/>
                </p:oleObj>
              </mc:Choice>
              <mc:Fallback>
                <p:oleObj name="Equation" r:id="rId6" imgW="4419360" imgH="1218960" progId="Equation.DSMT4">
                  <p:embed/>
                  <p:pic>
                    <p:nvPicPr>
                      <p:cNvPr id="14" name="对象 13"/>
                      <p:cNvPicPr/>
                      <p:nvPr/>
                    </p:nvPicPr>
                    <p:blipFill>
                      <a:blip r:embed="rId7"/>
                      <a:stretch>
                        <a:fillRect/>
                      </a:stretch>
                    </p:blipFill>
                    <p:spPr>
                      <a:xfrm>
                        <a:off x="1642899" y="2221514"/>
                        <a:ext cx="5573229" cy="1537442"/>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992410" y="5172659"/>
          <a:ext cx="4129202" cy="704265"/>
        </p:xfrm>
        <a:graphic>
          <a:graphicData uri="http://schemas.openxmlformats.org/presentationml/2006/ole">
            <mc:AlternateContent xmlns:mc="http://schemas.openxmlformats.org/markup-compatibility/2006">
              <mc:Choice xmlns:v="urn:schemas-microsoft-com:vml" Requires="v">
                <p:oleObj name="Equation" r:id="rId8" imgW="2755800" imgH="469800" progId="Equation.DSMT4">
                  <p:embed/>
                </p:oleObj>
              </mc:Choice>
              <mc:Fallback>
                <p:oleObj name="Equation" r:id="rId8" imgW="2755800" imgH="469800" progId="Equation.DSMT4">
                  <p:embed/>
                  <p:pic>
                    <p:nvPicPr>
                      <p:cNvPr id="15" name="对象 14"/>
                      <p:cNvPicPr>
                        <a:picLocks noChangeAspect="1" noChangeArrowheads="1"/>
                      </p:cNvPicPr>
                      <p:nvPr/>
                    </p:nvPicPr>
                    <p:blipFill>
                      <a:blip r:embed="rId9"/>
                      <a:srcRect/>
                      <a:stretch>
                        <a:fillRect/>
                      </a:stretch>
                    </p:blipFill>
                    <p:spPr bwMode="auto">
                      <a:xfrm>
                        <a:off x="1992410" y="5172659"/>
                        <a:ext cx="4129202" cy="704265"/>
                      </a:xfrm>
                      <a:prstGeom prst="rect">
                        <a:avLst/>
                      </a:prstGeom>
                      <a:noFill/>
                      <a:ln>
                        <a:solidFill>
                          <a:srgbClr val="FF0000"/>
                        </a:solidFill>
                      </a:ln>
                    </p:spPr>
                  </p:pic>
                </p:oleObj>
              </mc:Fallback>
            </mc:AlternateContent>
          </a:graphicData>
        </a:graphic>
      </p:graphicFrame>
      <p:graphicFrame>
        <p:nvGraphicFramePr>
          <p:cNvPr id="17" name="对象 16"/>
          <p:cNvGraphicFramePr>
            <a:graphicFrameLocks noChangeAspect="1"/>
          </p:cNvGraphicFramePr>
          <p:nvPr/>
        </p:nvGraphicFramePr>
        <p:xfrm>
          <a:off x="1838325" y="3917985"/>
          <a:ext cx="1600200" cy="939800"/>
        </p:xfrm>
        <a:graphic>
          <a:graphicData uri="http://schemas.openxmlformats.org/presentationml/2006/ole">
            <mc:AlternateContent xmlns:mc="http://schemas.openxmlformats.org/markup-compatibility/2006">
              <mc:Choice xmlns:v="urn:schemas-microsoft-com:vml" Requires="v">
                <p:oleObj name="Equation" r:id="rId10" imgW="1600200" imgH="939600" progId="Equation.DSMT4">
                  <p:embed/>
                </p:oleObj>
              </mc:Choice>
              <mc:Fallback>
                <p:oleObj name="Equation" r:id="rId10" imgW="1600200" imgH="939600" progId="Equation.DSMT4">
                  <p:embed/>
                  <p:pic>
                    <p:nvPicPr>
                      <p:cNvPr id="17" name="对象 16"/>
                      <p:cNvPicPr/>
                      <p:nvPr/>
                    </p:nvPicPr>
                    <p:blipFill>
                      <a:blip r:embed="rId11"/>
                      <a:stretch>
                        <a:fillRect/>
                      </a:stretch>
                    </p:blipFill>
                    <p:spPr>
                      <a:xfrm>
                        <a:off x="1838325" y="3917985"/>
                        <a:ext cx="1600200" cy="9398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4611445" y="3917985"/>
          <a:ext cx="1598740" cy="682389"/>
        </p:xfrm>
        <a:graphic>
          <a:graphicData uri="http://schemas.openxmlformats.org/presentationml/2006/ole">
            <mc:AlternateContent xmlns:mc="http://schemas.openxmlformats.org/markup-compatibility/2006">
              <mc:Choice xmlns:v="urn:schemas-microsoft-com:vml" Requires="v">
                <p:oleObj name="Equation" r:id="rId12" imgW="1041120" imgH="444240" progId="Equation.DSMT4">
                  <p:embed/>
                </p:oleObj>
              </mc:Choice>
              <mc:Fallback>
                <p:oleObj name="Equation" r:id="rId12" imgW="1041120" imgH="444240" progId="Equation.DSMT4">
                  <p:embed/>
                  <p:pic>
                    <p:nvPicPr>
                      <p:cNvPr id="18" name="对象 17"/>
                      <p:cNvPicPr/>
                      <p:nvPr/>
                    </p:nvPicPr>
                    <p:blipFill>
                      <a:blip r:embed="rId13"/>
                      <a:stretch>
                        <a:fillRect/>
                      </a:stretch>
                    </p:blipFill>
                    <p:spPr>
                      <a:xfrm>
                        <a:off x="4611445" y="3917985"/>
                        <a:ext cx="1598740" cy="682389"/>
                      </a:xfrm>
                      <a:prstGeom prst="rect">
                        <a:avLst/>
                      </a:prstGeom>
                    </p:spPr>
                  </p:pic>
                </p:oleObj>
              </mc:Fallback>
            </mc:AlternateContent>
          </a:graphicData>
        </a:graphic>
      </p:graphicFrame>
    </p:spTree>
    <p:extLst>
      <p:ext uri="{BB962C8B-B14F-4D97-AF65-F5344CB8AC3E}">
        <p14:creationId xmlns:p14="http://schemas.microsoft.com/office/powerpoint/2010/main" val="29359982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542852" y="3074429"/>
            <a:ext cx="4257897" cy="523220"/>
          </a:xfrm>
          <a:prstGeom prst="rect">
            <a:avLst/>
          </a:prstGeom>
          <a:noFill/>
        </p:spPr>
        <p:txBody>
          <a:bodyPr wrap="none" rtlCol="0">
            <a:spAutoFit/>
          </a:bodyPr>
          <a:lstStyle/>
          <a:p>
            <a:r>
              <a:rPr lang="en-US" altLang="zh-CN" sz="2800" dirty="0">
                <a:solidFill>
                  <a:srgbClr val="FF0000"/>
                </a:solidFill>
              </a:rPr>
              <a:t>16. </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Boltzmann Equation</a:t>
            </a:r>
            <a:endParaRPr lang="en-US" altLang="zh-CN" sz="2800" dirty="0">
              <a:solidFill>
                <a:srgbClr val="FF0000"/>
              </a:solidFill>
            </a:endParaRPr>
          </a:p>
        </p:txBody>
      </p:sp>
      <p:grpSp>
        <p:nvGrpSpPr>
          <p:cNvPr id="11" name="组合 10">
            <a:extLst>
              <a:ext uri="{FF2B5EF4-FFF2-40B4-BE49-F238E27FC236}">
                <a16:creationId xmlns:a16="http://schemas.microsoft.com/office/drawing/2014/main" id="{58DD4CBF-0338-47CF-AF5D-F17ED52F2F8A}"/>
              </a:ext>
            </a:extLst>
          </p:cNvPr>
          <p:cNvGrpSpPr/>
          <p:nvPr/>
        </p:nvGrpSpPr>
        <p:grpSpPr>
          <a:xfrm>
            <a:off x="11509" y="3723620"/>
            <a:ext cx="8991600" cy="144002"/>
            <a:chOff x="11509" y="3723620"/>
            <a:chExt cx="8991600" cy="144002"/>
          </a:xfrm>
        </p:grpSpPr>
        <p:sp>
          <p:nvSpPr>
            <p:cNvPr id="12" name="圆角矩形 4">
              <a:extLst>
                <a:ext uri="{FF2B5EF4-FFF2-40B4-BE49-F238E27FC236}">
                  <a16:creationId xmlns:a16="http://schemas.microsoft.com/office/drawing/2014/main" id="{BBE67C6D-4FA4-4903-A815-112A2F64E376}"/>
                </a:ext>
              </a:extLst>
            </p:cNvPr>
            <p:cNvSpPr/>
            <p:nvPr/>
          </p:nvSpPr>
          <p:spPr>
            <a:xfrm>
              <a:off x="11509"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圆角矩形 5">
              <a:extLst>
                <a:ext uri="{FF2B5EF4-FFF2-40B4-BE49-F238E27FC236}">
                  <a16:creationId xmlns:a16="http://schemas.microsoft.com/office/drawing/2014/main" id="{3704EA5C-488E-4B4C-8440-6123B3AB38B6}"/>
                </a:ext>
              </a:extLst>
            </p:cNvPr>
            <p:cNvSpPr/>
            <p:nvPr/>
          </p:nvSpPr>
          <p:spPr>
            <a:xfrm>
              <a:off x="1588981"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6">
              <a:extLst>
                <a:ext uri="{FF2B5EF4-FFF2-40B4-BE49-F238E27FC236}">
                  <a16:creationId xmlns:a16="http://schemas.microsoft.com/office/drawing/2014/main" id="{0167F0F7-B2FB-479A-A271-4BDCA0DC1C5E}"/>
                </a:ext>
              </a:extLst>
            </p:cNvPr>
            <p:cNvSpPr/>
            <p:nvPr/>
          </p:nvSpPr>
          <p:spPr>
            <a:xfrm>
              <a:off x="4683109"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3757E278-0384-4D91-A5DD-62277626F940}"/>
              </a:ext>
            </a:extLst>
          </p:cNvPr>
          <p:cNvSpPr/>
          <p:nvPr/>
        </p:nvSpPr>
        <p:spPr>
          <a:xfrm>
            <a:off x="1542853" y="3934599"/>
            <a:ext cx="4572000" cy="923330"/>
          </a:xfrm>
          <a:prstGeom prst="rect">
            <a:avLst/>
          </a:prstGeom>
        </p:spPr>
        <p:txBody>
          <a:bodyPr>
            <a:spAutoFit/>
          </a:bodyPr>
          <a:lstStyle/>
          <a:p>
            <a:r>
              <a:rPr lang="en-US" altLang="zh-CN" dirty="0"/>
              <a:t>Chapter 4</a:t>
            </a:r>
          </a:p>
          <a:p>
            <a:r>
              <a:rPr lang="en-US" altLang="zh-CN" dirty="0"/>
              <a:t>Introduction of Thermodynamics, /6</a:t>
            </a:r>
            <a:r>
              <a:rPr lang="en-US" altLang="zh-CN" baseline="30000" dirty="0"/>
              <a:t>th</a:t>
            </a:r>
            <a:r>
              <a:rPr lang="en-US" altLang="zh-CN" dirty="0"/>
              <a:t> Edition, CRC Press, 2018</a:t>
            </a:r>
            <a:endParaRPr lang="zh-CN" altLang="en-US" dirty="0"/>
          </a:p>
        </p:txBody>
      </p:sp>
    </p:spTree>
    <p:extLst>
      <p:ext uri="{BB962C8B-B14F-4D97-AF65-F5344CB8AC3E}">
        <p14:creationId xmlns:p14="http://schemas.microsoft.com/office/powerpoint/2010/main" val="19261392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9" name="Text Box 4"/>
          <p:cNvSpPr txBox="1">
            <a:spLocks noChangeArrowheads="1"/>
          </p:cNvSpPr>
          <p:nvPr/>
        </p:nvSpPr>
        <p:spPr bwMode="auto">
          <a:xfrm>
            <a:off x="152400" y="1371600"/>
            <a:ext cx="8839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buFontTx/>
              <a:buChar char="•"/>
            </a:pPr>
            <a:r>
              <a:rPr lang="en-US" altLang="zh-CN" sz="1800" dirty="0">
                <a:ea typeface="宋体" charset="-122"/>
              </a:rPr>
              <a:t> Let’s say we have a system of volume V, internal energy, U and temperature T, consists of n particles.</a:t>
            </a:r>
          </a:p>
          <a:p>
            <a:pPr eaLnBrk="1" hangingPunct="1">
              <a:buFontTx/>
              <a:buChar char="•"/>
            </a:pPr>
            <a:r>
              <a:rPr lang="en-US" altLang="zh-CN" sz="1800" dirty="0">
                <a:ea typeface="宋体" charset="-122"/>
              </a:rPr>
              <a:t> The particles can be atoms, molecules, which are structurally identical.</a:t>
            </a:r>
          </a:p>
          <a:p>
            <a:pPr eaLnBrk="1" hangingPunct="1">
              <a:buFontTx/>
              <a:buChar char="•"/>
            </a:pPr>
            <a:r>
              <a:rPr lang="en-US" altLang="zh-CN" sz="1800" dirty="0">
                <a:ea typeface="宋体" charset="-122"/>
              </a:rPr>
              <a:t> These particles are distributed in </a:t>
            </a:r>
            <a:r>
              <a:rPr lang="en-US" altLang="zh-CN" sz="1800" dirty="0" err="1">
                <a:ea typeface="宋体" charset="-122"/>
              </a:rPr>
              <a:t>i</a:t>
            </a:r>
            <a:r>
              <a:rPr lang="en-US" altLang="zh-CN" sz="1800" dirty="0">
                <a:ea typeface="宋体" charset="-122"/>
              </a:rPr>
              <a:t> energy levels (quantum theory)</a:t>
            </a:r>
          </a:p>
        </p:txBody>
      </p:sp>
      <p:sp>
        <p:nvSpPr>
          <p:cNvPr id="10" name="Rectangle 5"/>
          <p:cNvSpPr>
            <a:spLocks noChangeArrowheads="1"/>
          </p:cNvSpPr>
          <p:nvPr/>
        </p:nvSpPr>
        <p:spPr bwMode="auto">
          <a:xfrm>
            <a:off x="1843088" y="31242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1400" dirty="0">
                <a:ea typeface="宋体" charset="-122"/>
              </a:rPr>
              <a:t>Energy level</a:t>
            </a:r>
          </a:p>
        </p:txBody>
      </p:sp>
      <p:sp>
        <p:nvSpPr>
          <p:cNvPr id="11" name="Rectangle 6"/>
          <p:cNvSpPr>
            <a:spLocks noChangeArrowheads="1"/>
          </p:cNvSpPr>
          <p:nvPr/>
        </p:nvSpPr>
        <p:spPr bwMode="auto">
          <a:xfrm>
            <a:off x="1843088" y="34290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1400">
                <a:ea typeface="宋体" charset="-122"/>
              </a:rPr>
              <a:t># of particles</a:t>
            </a:r>
          </a:p>
        </p:txBody>
      </p:sp>
      <p:sp>
        <p:nvSpPr>
          <p:cNvPr id="12" name="Rectangle 7"/>
          <p:cNvSpPr>
            <a:spLocks noChangeArrowheads="1"/>
          </p:cNvSpPr>
          <p:nvPr/>
        </p:nvSpPr>
        <p:spPr bwMode="auto">
          <a:xfrm>
            <a:off x="2909888" y="31242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sym typeface="Symbol" pitchFamily="18" charset="2"/>
              </a:rPr>
              <a:t>e</a:t>
            </a:r>
            <a:r>
              <a:rPr lang="en-US" altLang="zh-CN" sz="2400" baseline="-25000" dirty="0">
                <a:ea typeface="宋体" charset="-122"/>
                <a:sym typeface="Symbol" pitchFamily="18" charset="2"/>
              </a:rPr>
              <a:t>0</a:t>
            </a:r>
            <a:endParaRPr lang="en-US" altLang="zh-CN" sz="2400" baseline="-25000" dirty="0">
              <a:ea typeface="宋体" charset="-122"/>
            </a:endParaRPr>
          </a:p>
        </p:txBody>
      </p:sp>
      <p:sp>
        <p:nvSpPr>
          <p:cNvPr id="13" name="Rectangle 8"/>
          <p:cNvSpPr>
            <a:spLocks noChangeArrowheads="1"/>
          </p:cNvSpPr>
          <p:nvPr/>
        </p:nvSpPr>
        <p:spPr bwMode="auto">
          <a:xfrm>
            <a:off x="2909888" y="34290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n</a:t>
            </a:r>
            <a:r>
              <a:rPr lang="en-US" altLang="zh-CN" sz="2400" baseline="-25000" dirty="0">
                <a:ea typeface="宋体" charset="-122"/>
              </a:rPr>
              <a:t>0</a:t>
            </a:r>
          </a:p>
        </p:txBody>
      </p:sp>
      <p:sp>
        <p:nvSpPr>
          <p:cNvPr id="14" name="Rectangle 9"/>
          <p:cNvSpPr>
            <a:spLocks noChangeArrowheads="1"/>
          </p:cNvSpPr>
          <p:nvPr/>
        </p:nvSpPr>
        <p:spPr bwMode="auto">
          <a:xfrm>
            <a:off x="3976688" y="31242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e</a:t>
            </a:r>
            <a:r>
              <a:rPr lang="en-US" altLang="zh-CN" sz="2400" baseline="-25000" dirty="0">
                <a:ea typeface="宋体" charset="-122"/>
              </a:rPr>
              <a:t>1</a:t>
            </a:r>
          </a:p>
        </p:txBody>
      </p:sp>
      <p:sp>
        <p:nvSpPr>
          <p:cNvPr id="15" name="Rectangle 10"/>
          <p:cNvSpPr>
            <a:spLocks noChangeArrowheads="1"/>
          </p:cNvSpPr>
          <p:nvPr/>
        </p:nvSpPr>
        <p:spPr bwMode="auto">
          <a:xfrm>
            <a:off x="3976688" y="34290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n</a:t>
            </a:r>
            <a:r>
              <a:rPr lang="en-US" altLang="zh-CN" sz="2400" baseline="-25000" dirty="0">
                <a:ea typeface="宋体" charset="-122"/>
              </a:rPr>
              <a:t>1</a:t>
            </a:r>
          </a:p>
        </p:txBody>
      </p:sp>
      <p:sp>
        <p:nvSpPr>
          <p:cNvPr id="17" name="Rectangle 11"/>
          <p:cNvSpPr>
            <a:spLocks noChangeArrowheads="1"/>
          </p:cNvSpPr>
          <p:nvPr/>
        </p:nvSpPr>
        <p:spPr bwMode="auto">
          <a:xfrm>
            <a:off x="5043488" y="31242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e</a:t>
            </a:r>
            <a:r>
              <a:rPr lang="en-US" altLang="zh-CN" sz="2400" baseline="-25000" dirty="0">
                <a:ea typeface="宋体" charset="-122"/>
              </a:rPr>
              <a:t>2</a:t>
            </a:r>
          </a:p>
        </p:txBody>
      </p:sp>
      <p:sp>
        <p:nvSpPr>
          <p:cNvPr id="18" name="Rectangle 12"/>
          <p:cNvSpPr>
            <a:spLocks noChangeArrowheads="1"/>
          </p:cNvSpPr>
          <p:nvPr/>
        </p:nvSpPr>
        <p:spPr bwMode="auto">
          <a:xfrm>
            <a:off x="5043488" y="34290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n</a:t>
            </a:r>
            <a:r>
              <a:rPr lang="en-US" altLang="zh-CN" sz="2400" baseline="-25000" dirty="0">
                <a:ea typeface="宋体" charset="-122"/>
              </a:rPr>
              <a:t>2</a:t>
            </a:r>
          </a:p>
        </p:txBody>
      </p:sp>
      <p:sp>
        <p:nvSpPr>
          <p:cNvPr id="19" name="Rectangle 13"/>
          <p:cNvSpPr>
            <a:spLocks noChangeArrowheads="1"/>
          </p:cNvSpPr>
          <p:nvPr/>
        </p:nvSpPr>
        <p:spPr bwMode="auto">
          <a:xfrm>
            <a:off x="6110288" y="31242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a:ea typeface="宋体" charset="-122"/>
              </a:rPr>
              <a:t>……..</a:t>
            </a:r>
          </a:p>
        </p:txBody>
      </p:sp>
      <p:sp>
        <p:nvSpPr>
          <p:cNvPr id="20" name="Rectangle 14"/>
          <p:cNvSpPr>
            <a:spLocks noChangeArrowheads="1"/>
          </p:cNvSpPr>
          <p:nvPr/>
        </p:nvSpPr>
        <p:spPr bwMode="auto">
          <a:xfrm>
            <a:off x="6110288" y="34290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a:ea typeface="宋体" charset="-122"/>
              </a:rPr>
              <a:t>……..</a:t>
            </a:r>
          </a:p>
        </p:txBody>
      </p:sp>
      <p:sp>
        <p:nvSpPr>
          <p:cNvPr id="21" name="Rectangle 15"/>
          <p:cNvSpPr>
            <a:spLocks noChangeArrowheads="1"/>
          </p:cNvSpPr>
          <p:nvPr/>
        </p:nvSpPr>
        <p:spPr bwMode="auto">
          <a:xfrm>
            <a:off x="7177088" y="31242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a:ea typeface="宋体" charset="-122"/>
              </a:rPr>
              <a:t>e</a:t>
            </a:r>
            <a:r>
              <a:rPr lang="en-US" altLang="zh-CN" sz="2400" baseline="-25000">
                <a:ea typeface="宋体" charset="-122"/>
              </a:rPr>
              <a:t>i</a:t>
            </a:r>
          </a:p>
        </p:txBody>
      </p:sp>
      <p:sp>
        <p:nvSpPr>
          <p:cNvPr id="22" name="Rectangle 16"/>
          <p:cNvSpPr>
            <a:spLocks noChangeArrowheads="1"/>
          </p:cNvSpPr>
          <p:nvPr/>
        </p:nvSpPr>
        <p:spPr bwMode="auto">
          <a:xfrm>
            <a:off x="7177088" y="34290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a:ea typeface="宋体" charset="-122"/>
              </a:rPr>
              <a:t>n</a:t>
            </a:r>
            <a:r>
              <a:rPr lang="en-US" altLang="zh-CN" sz="2400" baseline="-25000">
                <a:ea typeface="宋体" charset="-122"/>
              </a:rPr>
              <a:t>i</a:t>
            </a:r>
          </a:p>
        </p:txBody>
      </p:sp>
      <p:sp>
        <p:nvSpPr>
          <p:cNvPr id="23" name="Text Box 17"/>
          <p:cNvSpPr txBox="1">
            <a:spLocks noChangeArrowheads="1"/>
          </p:cNvSpPr>
          <p:nvPr/>
        </p:nvSpPr>
        <p:spPr bwMode="auto">
          <a:xfrm>
            <a:off x="2977653" y="4143233"/>
            <a:ext cx="31886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2400" i="1" dirty="0">
                <a:ea typeface="宋体" charset="-122"/>
                <a:sym typeface="Symbol" pitchFamily="18" charset="2"/>
              </a:rPr>
              <a:t></a:t>
            </a:r>
            <a:r>
              <a:rPr lang="en-US" altLang="zh-CN" sz="2400" i="1" dirty="0" err="1">
                <a:ea typeface="宋体" charset="-122"/>
                <a:sym typeface="Symbol" pitchFamily="18" charset="2"/>
              </a:rPr>
              <a:t>n</a:t>
            </a:r>
            <a:r>
              <a:rPr lang="en-US" altLang="zh-CN" sz="2400" i="1" baseline="-25000" dirty="0" err="1">
                <a:ea typeface="宋体" charset="-122"/>
                <a:sym typeface="Symbol" pitchFamily="18" charset="2"/>
              </a:rPr>
              <a:t>i</a:t>
            </a:r>
            <a:r>
              <a:rPr lang="en-US" altLang="zh-CN" sz="2400" i="1" dirty="0">
                <a:ea typeface="宋体" charset="-122"/>
                <a:sym typeface="Symbol" pitchFamily="18" charset="2"/>
              </a:rPr>
              <a:t> = n,   and </a:t>
            </a:r>
            <a:r>
              <a:rPr lang="en-US" altLang="zh-CN" sz="2400" i="1" dirty="0" err="1">
                <a:ea typeface="宋体" charset="-122"/>
                <a:sym typeface="Symbol" pitchFamily="18" charset="2"/>
              </a:rPr>
              <a:t>e</a:t>
            </a:r>
            <a:r>
              <a:rPr lang="en-US" altLang="zh-CN" sz="2400" i="1" baseline="-25000" dirty="0" err="1">
                <a:ea typeface="宋体" charset="-122"/>
                <a:sym typeface="Symbol" pitchFamily="18" charset="2"/>
              </a:rPr>
              <a:t>i</a:t>
            </a:r>
            <a:r>
              <a:rPr lang="en-US" altLang="zh-CN" sz="2400" i="1" dirty="0" err="1">
                <a:ea typeface="宋体" charset="-122"/>
                <a:sym typeface="Symbol" pitchFamily="18" charset="2"/>
              </a:rPr>
              <a:t>n</a:t>
            </a:r>
            <a:r>
              <a:rPr lang="en-US" altLang="zh-CN" sz="2400" i="1" baseline="-25000" dirty="0" err="1">
                <a:ea typeface="宋体" charset="-122"/>
                <a:sym typeface="Symbol" pitchFamily="18" charset="2"/>
              </a:rPr>
              <a:t>i</a:t>
            </a:r>
            <a:r>
              <a:rPr lang="en-US" altLang="zh-CN" sz="2400" i="1" dirty="0">
                <a:ea typeface="宋体" charset="-122"/>
                <a:sym typeface="Symbol" pitchFamily="18" charset="2"/>
              </a:rPr>
              <a:t> = U</a:t>
            </a:r>
            <a:endParaRPr lang="en-US" altLang="zh-CN" sz="2400" i="1" dirty="0">
              <a:ea typeface="宋体" charset="-122"/>
            </a:endParaRPr>
          </a:p>
        </p:txBody>
      </p:sp>
      <p:sp>
        <p:nvSpPr>
          <p:cNvPr id="24" name="Rectangle 19"/>
          <p:cNvSpPr>
            <a:spLocks noChangeArrowheads="1"/>
          </p:cNvSpPr>
          <p:nvPr/>
        </p:nvSpPr>
        <p:spPr bwMode="auto">
          <a:xfrm>
            <a:off x="1843088" y="37338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1400">
                <a:ea typeface="宋体" charset="-122"/>
              </a:rPr>
              <a:t># of particles</a:t>
            </a:r>
          </a:p>
        </p:txBody>
      </p:sp>
      <p:sp>
        <p:nvSpPr>
          <p:cNvPr id="25" name="Rectangle 20"/>
          <p:cNvSpPr>
            <a:spLocks noChangeArrowheads="1"/>
          </p:cNvSpPr>
          <p:nvPr/>
        </p:nvSpPr>
        <p:spPr bwMode="auto">
          <a:xfrm>
            <a:off x="2909888" y="37338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n’</a:t>
            </a:r>
            <a:r>
              <a:rPr lang="en-US" altLang="zh-CN" sz="2400" baseline="-25000" dirty="0">
                <a:ea typeface="宋体" charset="-122"/>
              </a:rPr>
              <a:t>0</a:t>
            </a:r>
          </a:p>
        </p:txBody>
      </p:sp>
      <p:sp>
        <p:nvSpPr>
          <p:cNvPr id="26" name="Rectangle 21"/>
          <p:cNvSpPr>
            <a:spLocks noChangeArrowheads="1"/>
          </p:cNvSpPr>
          <p:nvPr/>
        </p:nvSpPr>
        <p:spPr bwMode="auto">
          <a:xfrm>
            <a:off x="3976688" y="37338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n’</a:t>
            </a:r>
            <a:r>
              <a:rPr lang="en-US" altLang="zh-CN" sz="2400" baseline="-25000" dirty="0">
                <a:ea typeface="宋体" charset="-122"/>
              </a:rPr>
              <a:t>1</a:t>
            </a:r>
          </a:p>
        </p:txBody>
      </p:sp>
      <p:sp>
        <p:nvSpPr>
          <p:cNvPr id="27" name="Rectangle 22"/>
          <p:cNvSpPr>
            <a:spLocks noChangeArrowheads="1"/>
          </p:cNvSpPr>
          <p:nvPr/>
        </p:nvSpPr>
        <p:spPr bwMode="auto">
          <a:xfrm>
            <a:off x="5043488" y="37338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dirty="0">
                <a:ea typeface="宋体" charset="-122"/>
              </a:rPr>
              <a:t>n’</a:t>
            </a:r>
            <a:r>
              <a:rPr lang="en-US" altLang="zh-CN" sz="2400" baseline="-25000" dirty="0">
                <a:ea typeface="宋体" charset="-122"/>
              </a:rPr>
              <a:t>2</a:t>
            </a:r>
          </a:p>
        </p:txBody>
      </p:sp>
      <p:sp>
        <p:nvSpPr>
          <p:cNvPr id="28" name="Rectangle 23"/>
          <p:cNvSpPr>
            <a:spLocks noChangeArrowheads="1"/>
          </p:cNvSpPr>
          <p:nvPr/>
        </p:nvSpPr>
        <p:spPr bwMode="auto">
          <a:xfrm>
            <a:off x="6110288" y="37338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a:ea typeface="宋体" charset="-122"/>
              </a:rPr>
              <a:t>……..</a:t>
            </a:r>
          </a:p>
        </p:txBody>
      </p:sp>
      <p:sp>
        <p:nvSpPr>
          <p:cNvPr id="29" name="Rectangle 24"/>
          <p:cNvSpPr>
            <a:spLocks noChangeArrowheads="1"/>
          </p:cNvSpPr>
          <p:nvPr/>
        </p:nvSpPr>
        <p:spPr bwMode="auto">
          <a:xfrm>
            <a:off x="7177088" y="3733800"/>
            <a:ext cx="1066800" cy="304800"/>
          </a:xfrm>
          <a:prstGeom prst="rect">
            <a:avLst/>
          </a:prstGeom>
          <a:solidFill>
            <a:schemeClr val="bg1"/>
          </a:solidFill>
          <a:ln w="9525">
            <a:solidFill>
              <a:schemeClr val="tx1"/>
            </a:solidFill>
            <a:miter lim="800000"/>
            <a:headEnd/>
            <a:tailEnd/>
          </a:ln>
        </p:spPr>
        <p:txBody>
          <a:bodyPr wrap="none" anchor="ct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1" hangingPunct="1"/>
            <a:r>
              <a:rPr lang="en-US" altLang="zh-CN" sz="2400">
                <a:ea typeface="宋体" charset="-122"/>
              </a:rPr>
              <a:t>n’</a:t>
            </a:r>
            <a:r>
              <a:rPr lang="en-US" altLang="zh-CN" sz="2400" baseline="-25000">
                <a:ea typeface="宋体" charset="-122"/>
              </a:rPr>
              <a:t>i</a:t>
            </a:r>
          </a:p>
        </p:txBody>
      </p:sp>
      <p:sp>
        <p:nvSpPr>
          <p:cNvPr id="30" name="Text Box 29"/>
          <p:cNvSpPr txBox="1">
            <a:spLocks noChangeArrowheads="1"/>
          </p:cNvSpPr>
          <p:nvPr/>
        </p:nvSpPr>
        <p:spPr bwMode="auto">
          <a:xfrm>
            <a:off x="434975" y="3386138"/>
            <a:ext cx="1322388"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a:ea typeface="宋体" charset="-122"/>
              </a:rPr>
              <a:t>Distribution 1</a:t>
            </a:r>
          </a:p>
          <a:p>
            <a:pPr eaLnBrk="1" hangingPunct="1"/>
            <a:endParaRPr lang="en-US" altLang="zh-CN" sz="500">
              <a:ea typeface="宋体" charset="-122"/>
            </a:endParaRPr>
          </a:p>
          <a:p>
            <a:pPr eaLnBrk="1" hangingPunct="1"/>
            <a:r>
              <a:rPr lang="en-US" altLang="zh-CN">
                <a:ea typeface="宋体" charset="-122"/>
              </a:rPr>
              <a:t>Distribution 2</a:t>
            </a:r>
          </a:p>
        </p:txBody>
      </p:sp>
      <p:sp>
        <p:nvSpPr>
          <p:cNvPr id="31" name="Text Box 18"/>
          <p:cNvSpPr txBox="1">
            <a:spLocks noChangeArrowheads="1"/>
          </p:cNvSpPr>
          <p:nvPr/>
        </p:nvSpPr>
        <p:spPr bwMode="auto">
          <a:xfrm>
            <a:off x="1683410" y="4933386"/>
            <a:ext cx="28793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b="1" dirty="0">
                <a:ea typeface="宋体" charset="-122"/>
              </a:rPr>
              <a:t>The number of combinations: </a:t>
            </a:r>
          </a:p>
        </p:txBody>
      </p:sp>
      <p:sp>
        <p:nvSpPr>
          <p:cNvPr id="32" name="Text Box 26"/>
          <p:cNvSpPr txBox="1">
            <a:spLocks noChangeArrowheads="1"/>
          </p:cNvSpPr>
          <p:nvPr/>
        </p:nvSpPr>
        <p:spPr bwMode="auto">
          <a:xfrm>
            <a:off x="5029200" y="4909129"/>
            <a:ext cx="3263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b="1" dirty="0">
                <a:ea typeface="宋体" charset="-122"/>
              </a:rPr>
              <a:t>The number of total combination:  </a:t>
            </a:r>
          </a:p>
        </p:txBody>
      </p:sp>
      <p:graphicFrame>
        <p:nvGraphicFramePr>
          <p:cNvPr id="33" name="Object 28"/>
          <p:cNvGraphicFramePr>
            <a:graphicFrameLocks noChangeAspect="1"/>
          </p:cNvGraphicFramePr>
          <p:nvPr/>
        </p:nvGraphicFramePr>
        <p:xfrm>
          <a:off x="6255532" y="5518729"/>
          <a:ext cx="983468" cy="392906"/>
        </p:xfrm>
        <a:graphic>
          <a:graphicData uri="http://schemas.openxmlformats.org/presentationml/2006/ole">
            <mc:AlternateContent xmlns:mc="http://schemas.openxmlformats.org/markup-compatibility/2006">
              <mc:Choice xmlns:v="urn:schemas-microsoft-com:vml" Requires="v">
                <p:oleObj name="公式" r:id="rId2" imgW="571252" imgH="228501" progId="Equation.3">
                  <p:embed/>
                </p:oleObj>
              </mc:Choice>
              <mc:Fallback>
                <p:oleObj name="公式" r:id="rId2" imgW="571252" imgH="228501" progId="Equation.3">
                  <p:embed/>
                  <p:pic>
                    <p:nvPicPr>
                      <p:cNvPr id="33"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532" y="5518729"/>
                        <a:ext cx="983468" cy="392906"/>
                      </a:xfrm>
                      <a:prstGeom prst="rect">
                        <a:avLst/>
                      </a:prstGeom>
                      <a:noFill/>
                    </p:spPr>
                  </p:pic>
                </p:oleObj>
              </mc:Fallback>
            </mc:AlternateContent>
          </a:graphicData>
        </a:graphic>
      </p:graphicFrame>
      <p:sp>
        <p:nvSpPr>
          <p:cNvPr id="41" name="Title 1"/>
          <p:cNvSpPr txBox="1">
            <a:spLocks/>
          </p:cNvSpPr>
          <p:nvPr/>
        </p:nvSpPr>
        <p:spPr bwMode="auto">
          <a:xfrm>
            <a:off x="1509922" y="148664"/>
            <a:ext cx="5873750" cy="878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Most Probable Distribution</a:t>
            </a:r>
            <a:endParaRPr lang="en-US" dirty="0">
              <a:solidFill>
                <a:srgbClr val="FF0000"/>
              </a:solidFill>
            </a:endParaRPr>
          </a:p>
        </p:txBody>
      </p:sp>
      <p:graphicFrame>
        <p:nvGraphicFramePr>
          <p:cNvPr id="2" name="对象 1"/>
          <p:cNvGraphicFramePr>
            <a:graphicFrameLocks noChangeAspect="1"/>
          </p:cNvGraphicFramePr>
          <p:nvPr/>
        </p:nvGraphicFramePr>
        <p:xfrm>
          <a:off x="2025650" y="5271940"/>
          <a:ext cx="2133600" cy="747860"/>
        </p:xfrm>
        <a:graphic>
          <a:graphicData uri="http://schemas.openxmlformats.org/presentationml/2006/ole">
            <mc:AlternateContent xmlns:mc="http://schemas.openxmlformats.org/markup-compatibility/2006">
              <mc:Choice xmlns:v="urn:schemas-microsoft-com:vml" Requires="v">
                <p:oleObj name="Equation" r:id="rId4" imgW="1231560" imgH="431640" progId="Equation.DSMT4">
                  <p:embed/>
                </p:oleObj>
              </mc:Choice>
              <mc:Fallback>
                <p:oleObj name="Equation" r:id="rId4" imgW="1231560" imgH="431640" progId="Equation.DSMT4">
                  <p:embed/>
                  <p:pic>
                    <p:nvPicPr>
                      <p:cNvPr id="2" name="对象 1"/>
                      <p:cNvPicPr/>
                      <p:nvPr/>
                    </p:nvPicPr>
                    <p:blipFill>
                      <a:blip r:embed="rId5"/>
                      <a:stretch>
                        <a:fillRect/>
                      </a:stretch>
                    </p:blipFill>
                    <p:spPr>
                      <a:xfrm>
                        <a:off x="2025650" y="5271940"/>
                        <a:ext cx="2133600" cy="747860"/>
                      </a:xfrm>
                      <a:prstGeom prst="rect">
                        <a:avLst/>
                      </a:prstGeom>
                    </p:spPr>
                  </p:pic>
                </p:oleObj>
              </mc:Fallback>
            </mc:AlternateContent>
          </a:graphicData>
        </a:graphic>
      </p:graphicFrame>
      <p:sp>
        <p:nvSpPr>
          <p:cNvPr id="4" name="TextBox 3"/>
          <p:cNvSpPr txBox="1"/>
          <p:nvPr/>
        </p:nvSpPr>
        <p:spPr>
          <a:xfrm>
            <a:off x="46638" y="2667896"/>
            <a:ext cx="1659429" cy="369332"/>
          </a:xfrm>
          <a:prstGeom prst="rect">
            <a:avLst/>
          </a:prstGeom>
          <a:solidFill>
            <a:schemeClr val="accent2"/>
          </a:solidFill>
        </p:spPr>
        <p:txBody>
          <a:bodyPr wrap="none" rtlCol="0">
            <a:spAutoFit/>
          </a:bodyPr>
          <a:lstStyle/>
          <a:p>
            <a:r>
              <a:rPr lang="en-US" altLang="zh-CN" dirty="0" err="1"/>
              <a:t>Combinatorics</a:t>
            </a:r>
            <a:endParaRPr lang="zh-CN" altLang="en-US" dirty="0"/>
          </a:p>
        </p:txBody>
      </p:sp>
    </p:spTree>
    <p:extLst>
      <p:ext uri="{BB962C8B-B14F-4D97-AF65-F5344CB8AC3E}">
        <p14:creationId xmlns:p14="http://schemas.microsoft.com/office/powerpoint/2010/main" val="1908898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0"/>
          <p:cNvSpPr txBox="1">
            <a:spLocks noChangeArrowheads="1"/>
          </p:cNvSpPr>
          <p:nvPr/>
        </p:nvSpPr>
        <p:spPr bwMode="auto">
          <a:xfrm>
            <a:off x="85378" y="1371600"/>
            <a:ext cx="29106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2400" b="1" dirty="0">
                <a:solidFill>
                  <a:srgbClr val="0000FF"/>
                </a:solidFill>
                <a:ea typeface="宋体" charset="-122"/>
              </a:rPr>
              <a:t>The earlier example:</a:t>
            </a:r>
          </a:p>
        </p:txBody>
      </p:sp>
      <p:pic>
        <p:nvPicPr>
          <p:cNvPr id="6" name="image253.png"/>
          <p:cNvPicPr/>
          <p:nvPr/>
        </p:nvPicPr>
        <p:blipFill>
          <a:blip r:embed="rId2" cstate="print"/>
          <a:stretch>
            <a:fillRect/>
          </a:stretch>
        </p:blipFill>
        <p:spPr>
          <a:xfrm>
            <a:off x="146831" y="2248554"/>
            <a:ext cx="5720569" cy="1713846"/>
          </a:xfrm>
          <a:prstGeom prst="rect">
            <a:avLst/>
          </a:prstGeom>
        </p:spPr>
      </p:pic>
      <p:sp>
        <p:nvSpPr>
          <p:cNvPr id="12" name="Title 1"/>
          <p:cNvSpPr txBox="1">
            <a:spLocks/>
          </p:cNvSpPr>
          <p:nvPr/>
        </p:nvSpPr>
        <p:spPr bwMode="auto">
          <a:xfrm>
            <a:off x="1540680" y="99031"/>
            <a:ext cx="5873750" cy="878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Most Probable Distribution</a:t>
            </a:r>
            <a:endParaRPr lang="en-US" dirty="0">
              <a:solidFill>
                <a:srgbClr val="FF0000"/>
              </a:solidFill>
            </a:endParaRPr>
          </a:p>
        </p:txBody>
      </p:sp>
      <p:graphicFrame>
        <p:nvGraphicFramePr>
          <p:cNvPr id="13" name="对象 12"/>
          <p:cNvGraphicFramePr>
            <a:graphicFrameLocks noChangeAspect="1"/>
          </p:cNvGraphicFramePr>
          <p:nvPr/>
        </p:nvGraphicFramePr>
        <p:xfrm>
          <a:off x="6477000" y="2182346"/>
          <a:ext cx="2354317" cy="1846262"/>
        </p:xfrm>
        <a:graphic>
          <a:graphicData uri="http://schemas.openxmlformats.org/presentationml/2006/ole">
            <mc:AlternateContent xmlns:mc="http://schemas.openxmlformats.org/markup-compatibility/2006">
              <mc:Choice xmlns:v="urn:schemas-microsoft-com:vml" Requires="v">
                <p:oleObj name="Equation" r:id="rId3" imgW="1231560" imgH="1066680" progId="Equation.DSMT4">
                  <p:embed/>
                </p:oleObj>
              </mc:Choice>
              <mc:Fallback>
                <p:oleObj name="Equation" r:id="rId3" imgW="1231560" imgH="1066680" progId="Equation.DSMT4">
                  <p:embed/>
                  <p:pic>
                    <p:nvPicPr>
                      <p:cNvPr id="13" name="对象 12"/>
                      <p:cNvPicPr>
                        <a:picLocks noChangeAspect="1" noChangeArrowheads="1"/>
                      </p:cNvPicPr>
                      <p:nvPr/>
                    </p:nvPicPr>
                    <p:blipFill>
                      <a:blip r:embed="rId4"/>
                      <a:srcRect/>
                      <a:stretch>
                        <a:fillRect/>
                      </a:stretch>
                    </p:blipFill>
                    <p:spPr bwMode="auto">
                      <a:xfrm>
                        <a:off x="6477000" y="2182346"/>
                        <a:ext cx="2354317" cy="1846262"/>
                      </a:xfrm>
                      <a:prstGeom prst="rect">
                        <a:avLst/>
                      </a:prstGeom>
                      <a:noFill/>
                      <a:ln>
                        <a:solidFill>
                          <a:srgbClr val="FF0000"/>
                        </a:solidFill>
                      </a:ln>
                    </p:spPr>
                  </p:pic>
                </p:oleObj>
              </mc:Fallback>
            </mc:AlternateContent>
          </a:graphicData>
        </a:graphic>
      </p:graphicFrame>
      <p:graphicFrame>
        <p:nvGraphicFramePr>
          <p:cNvPr id="14" name="对象 13"/>
          <p:cNvGraphicFramePr>
            <a:graphicFrameLocks noChangeAspect="1"/>
          </p:cNvGraphicFramePr>
          <p:nvPr/>
        </p:nvGraphicFramePr>
        <p:xfrm>
          <a:off x="457200" y="4495800"/>
          <a:ext cx="1958975" cy="681037"/>
        </p:xfrm>
        <a:graphic>
          <a:graphicData uri="http://schemas.openxmlformats.org/presentationml/2006/ole">
            <mc:AlternateContent xmlns:mc="http://schemas.openxmlformats.org/markup-compatibility/2006">
              <mc:Choice xmlns:v="urn:schemas-microsoft-com:vml" Requires="v">
                <p:oleObj name="Equation" r:id="rId5" imgW="1130040" imgH="393480" progId="Equation.DSMT4">
                  <p:embed/>
                </p:oleObj>
              </mc:Choice>
              <mc:Fallback>
                <p:oleObj name="Equation" r:id="rId5" imgW="1130040" imgH="393480" progId="Equation.DSMT4">
                  <p:embed/>
                  <p:pic>
                    <p:nvPicPr>
                      <p:cNvPr id="14" name="对象 13"/>
                      <p:cNvPicPr>
                        <a:picLocks noChangeAspect="1" noChangeArrowheads="1"/>
                      </p:cNvPicPr>
                      <p:nvPr/>
                    </p:nvPicPr>
                    <p:blipFill>
                      <a:blip r:embed="rId6"/>
                      <a:srcRect/>
                      <a:stretch>
                        <a:fillRect/>
                      </a:stretch>
                    </p:blipFill>
                    <p:spPr bwMode="auto">
                      <a:xfrm>
                        <a:off x="457200" y="4495800"/>
                        <a:ext cx="1958975"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2766340" y="4495800"/>
          <a:ext cx="1958975" cy="681038"/>
        </p:xfrm>
        <a:graphic>
          <a:graphicData uri="http://schemas.openxmlformats.org/presentationml/2006/ole">
            <mc:AlternateContent xmlns:mc="http://schemas.openxmlformats.org/markup-compatibility/2006">
              <mc:Choice xmlns:v="urn:schemas-microsoft-com:vml" Requires="v">
                <p:oleObj name="Equation" r:id="rId7" imgW="1130040" imgH="393480" progId="Equation.DSMT4">
                  <p:embed/>
                </p:oleObj>
              </mc:Choice>
              <mc:Fallback>
                <p:oleObj name="Equation" r:id="rId7" imgW="1130040" imgH="393480" progId="Equation.DSMT4">
                  <p:embed/>
                  <p:pic>
                    <p:nvPicPr>
                      <p:cNvPr id="15" name="对象 14"/>
                      <p:cNvPicPr>
                        <a:picLocks noChangeAspect="1" noChangeArrowheads="1"/>
                      </p:cNvPicPr>
                      <p:nvPr/>
                    </p:nvPicPr>
                    <p:blipFill>
                      <a:blip r:embed="rId8"/>
                      <a:srcRect/>
                      <a:stretch>
                        <a:fillRect/>
                      </a:stretch>
                    </p:blipFill>
                    <p:spPr bwMode="auto">
                      <a:xfrm>
                        <a:off x="2766340" y="4495800"/>
                        <a:ext cx="1958975"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5094287" y="4500562"/>
          <a:ext cx="1870075" cy="681038"/>
        </p:xfrm>
        <a:graphic>
          <a:graphicData uri="http://schemas.openxmlformats.org/presentationml/2006/ole">
            <mc:AlternateContent xmlns:mc="http://schemas.openxmlformats.org/markup-compatibility/2006">
              <mc:Choice xmlns:v="urn:schemas-microsoft-com:vml" Requires="v">
                <p:oleObj name="Equation" r:id="rId9" imgW="1079280" imgH="393480" progId="Equation.DSMT4">
                  <p:embed/>
                </p:oleObj>
              </mc:Choice>
              <mc:Fallback>
                <p:oleObj name="Equation" r:id="rId9" imgW="1079280" imgH="393480" progId="Equation.DSMT4">
                  <p:embed/>
                  <p:pic>
                    <p:nvPicPr>
                      <p:cNvPr id="16" name="对象 15"/>
                      <p:cNvPicPr>
                        <a:picLocks noChangeAspect="1" noChangeArrowheads="1"/>
                      </p:cNvPicPr>
                      <p:nvPr/>
                    </p:nvPicPr>
                    <p:blipFill>
                      <a:blip r:embed="rId10"/>
                      <a:srcRect/>
                      <a:stretch>
                        <a:fillRect/>
                      </a:stretch>
                    </p:blipFill>
                    <p:spPr bwMode="auto">
                      <a:xfrm>
                        <a:off x="5094287" y="4500562"/>
                        <a:ext cx="1870075"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381000" y="5486400"/>
          <a:ext cx="4140200" cy="566738"/>
        </p:xfrm>
        <a:graphic>
          <a:graphicData uri="http://schemas.openxmlformats.org/presentationml/2006/ole">
            <mc:AlternateContent xmlns:mc="http://schemas.openxmlformats.org/markup-compatibility/2006">
              <mc:Choice xmlns:v="urn:schemas-microsoft-com:vml" Requires="v">
                <p:oleObj name="Equation" r:id="rId11" imgW="1854000" imgH="253800" progId="Equation.DSMT4">
                  <p:embed/>
                </p:oleObj>
              </mc:Choice>
              <mc:Fallback>
                <p:oleObj name="Equation" r:id="rId11" imgW="1854000" imgH="253800" progId="Equation.DSMT4">
                  <p:embed/>
                  <p:pic>
                    <p:nvPicPr>
                      <p:cNvPr id="17" name="对象 16"/>
                      <p:cNvPicPr/>
                      <p:nvPr/>
                    </p:nvPicPr>
                    <p:blipFill>
                      <a:blip r:embed="rId12"/>
                      <a:stretch>
                        <a:fillRect/>
                      </a:stretch>
                    </p:blipFill>
                    <p:spPr>
                      <a:xfrm>
                        <a:off x="381000" y="5486400"/>
                        <a:ext cx="4140200" cy="566738"/>
                      </a:xfrm>
                      <a:prstGeom prst="rect">
                        <a:avLst/>
                      </a:prstGeom>
                    </p:spPr>
                  </p:pic>
                </p:oleObj>
              </mc:Fallback>
            </mc:AlternateContent>
          </a:graphicData>
        </a:graphic>
      </p:graphicFrame>
      <p:sp>
        <p:nvSpPr>
          <p:cNvPr id="18" name="TextBox 17"/>
          <p:cNvSpPr txBox="1"/>
          <p:nvPr/>
        </p:nvSpPr>
        <p:spPr>
          <a:xfrm>
            <a:off x="6172200" y="1602432"/>
            <a:ext cx="2848087" cy="369332"/>
          </a:xfrm>
          <a:prstGeom prst="rect">
            <a:avLst/>
          </a:prstGeom>
          <a:noFill/>
        </p:spPr>
        <p:txBody>
          <a:bodyPr wrap="none" rtlCol="0">
            <a:spAutoFit/>
          </a:bodyPr>
          <a:lstStyle/>
          <a:p>
            <a:r>
              <a:rPr lang="en-US" altLang="zh-CN" dirty="0"/>
              <a:t>The number of arrangement</a:t>
            </a:r>
            <a:endParaRPr lang="zh-CN" altLang="en-US" dirty="0"/>
          </a:p>
        </p:txBody>
      </p:sp>
    </p:spTree>
    <p:extLst>
      <p:ext uri="{BB962C8B-B14F-4D97-AF65-F5344CB8AC3E}">
        <p14:creationId xmlns:p14="http://schemas.microsoft.com/office/powerpoint/2010/main" val="4116156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99382" y="7937"/>
            <a:ext cx="7178676" cy="802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Find Most Probable Distribution</a:t>
            </a:r>
            <a:endParaRPr lang="en-US" sz="3200" dirty="0">
              <a:solidFill>
                <a:srgbClr val="FF0000"/>
              </a:solidFill>
            </a:endParaRPr>
          </a:p>
        </p:txBody>
      </p:sp>
      <p:sp>
        <p:nvSpPr>
          <p:cNvPr id="15" name="Text Box 25"/>
          <p:cNvSpPr txBox="1">
            <a:spLocks noChangeArrowheads="1"/>
          </p:cNvSpPr>
          <p:nvPr/>
        </p:nvSpPr>
        <p:spPr bwMode="auto">
          <a:xfrm>
            <a:off x="310623" y="1161370"/>
            <a:ext cx="5627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2000" b="1" dirty="0">
                <a:solidFill>
                  <a:srgbClr val="FF0000"/>
                </a:solidFill>
                <a:effectLst>
                  <a:outerShdw blurRad="38100" dist="38100" dir="2700000" algn="tl">
                    <a:srgbClr val="000000">
                      <a:alpha val="43137"/>
                    </a:srgbClr>
                  </a:outerShdw>
                </a:effectLst>
                <a:latin typeface="Arial" charset="0"/>
                <a:cs typeface="Arial" charset="0"/>
              </a:rPr>
              <a:t>Find Most Probable Distribution</a:t>
            </a:r>
            <a:endParaRPr lang="en-US" altLang="zh-CN" sz="2000" dirty="0">
              <a:ea typeface="宋体" charset="-122"/>
            </a:endParaRPr>
          </a:p>
          <a:p>
            <a:pPr eaLnBrk="1" hangingPunct="1"/>
            <a:r>
              <a:rPr lang="en-US" altLang="zh-CN" sz="2000" dirty="0">
                <a:ea typeface="宋体" charset="-122"/>
              </a:rPr>
              <a:t>=Find set of </a:t>
            </a:r>
            <a:r>
              <a:rPr lang="en-US" altLang="zh-CN" sz="2000" dirty="0" err="1">
                <a:ea typeface="宋体" charset="-122"/>
              </a:rPr>
              <a:t>n</a:t>
            </a:r>
            <a:r>
              <a:rPr lang="en-US" altLang="zh-CN" sz="2000" baseline="-25000" dirty="0" err="1">
                <a:ea typeface="宋体" charset="-122"/>
              </a:rPr>
              <a:t>i</a:t>
            </a:r>
            <a:r>
              <a:rPr lang="en-US" altLang="zh-CN" sz="2000" dirty="0">
                <a:ea typeface="宋体" charset="-122"/>
              </a:rPr>
              <a:t>, to maximize </a:t>
            </a:r>
            <a:r>
              <a:rPr lang="en-US" altLang="zh-CN" sz="2000" dirty="0">
                <a:ea typeface="宋体" charset="-122"/>
                <a:sym typeface="Symbol" pitchFamily="18" charset="2"/>
              </a:rPr>
              <a:t></a:t>
            </a:r>
            <a:r>
              <a:rPr lang="en-US" altLang="zh-CN" sz="2000" baseline="-25000" dirty="0" err="1">
                <a:ea typeface="宋体" charset="-122"/>
                <a:sym typeface="Symbol" pitchFamily="18" charset="2"/>
              </a:rPr>
              <a:t>i</a:t>
            </a:r>
            <a:r>
              <a:rPr lang="en-US" altLang="zh-CN" sz="2000" dirty="0">
                <a:ea typeface="宋体" charset="-122"/>
                <a:sym typeface="Symbol" pitchFamily="18" charset="2"/>
              </a:rPr>
              <a:t> = n!/(n</a:t>
            </a:r>
            <a:r>
              <a:rPr lang="en-US" altLang="zh-CN" sz="2000" baseline="-25000" dirty="0">
                <a:ea typeface="宋体" charset="-122"/>
                <a:sym typeface="Symbol" pitchFamily="18" charset="2"/>
              </a:rPr>
              <a:t>1</a:t>
            </a:r>
            <a:r>
              <a:rPr lang="en-US" altLang="zh-CN" sz="2000" dirty="0">
                <a:ea typeface="宋体" charset="-122"/>
                <a:sym typeface="Symbol" pitchFamily="18" charset="2"/>
              </a:rPr>
              <a:t>!n</a:t>
            </a:r>
            <a:r>
              <a:rPr lang="en-US" altLang="zh-CN" sz="2000" baseline="-25000" dirty="0">
                <a:ea typeface="宋体" charset="-122"/>
                <a:sym typeface="Symbol" pitchFamily="18" charset="2"/>
              </a:rPr>
              <a:t>2</a:t>
            </a:r>
            <a:r>
              <a:rPr lang="en-US" altLang="zh-CN" sz="2000" dirty="0">
                <a:ea typeface="宋体" charset="-122"/>
                <a:sym typeface="Symbol" pitchFamily="18" charset="2"/>
              </a:rPr>
              <a:t>!..n</a:t>
            </a:r>
            <a:r>
              <a:rPr lang="en-US" altLang="zh-CN" sz="2000" baseline="-25000" dirty="0">
                <a:ea typeface="宋体" charset="-122"/>
                <a:sym typeface="Symbol" pitchFamily="18" charset="2"/>
              </a:rPr>
              <a:t>i</a:t>
            </a:r>
            <a:r>
              <a:rPr lang="en-US" altLang="zh-CN" sz="2000" dirty="0">
                <a:ea typeface="宋体" charset="-122"/>
                <a:sym typeface="Symbol" pitchFamily="18" charset="2"/>
              </a:rPr>
              <a:t>!) </a:t>
            </a:r>
            <a:endParaRPr lang="en-US" altLang="zh-CN" sz="2000" dirty="0">
              <a:ea typeface="宋体" charset="-122"/>
            </a:endParaRPr>
          </a:p>
        </p:txBody>
      </p:sp>
      <p:sp>
        <p:nvSpPr>
          <p:cNvPr id="17" name="Text Box 10"/>
          <p:cNvSpPr txBox="1">
            <a:spLocks noChangeArrowheads="1"/>
          </p:cNvSpPr>
          <p:nvPr/>
        </p:nvSpPr>
        <p:spPr bwMode="auto">
          <a:xfrm>
            <a:off x="325477" y="2057250"/>
            <a:ext cx="58794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err="1">
                <a:ea typeface="宋体" charset="-122"/>
              </a:rPr>
              <a:t>Stirling’s</a:t>
            </a:r>
            <a:r>
              <a:rPr lang="en-US" altLang="zh-CN" dirty="0">
                <a:ea typeface="宋体" charset="-122"/>
              </a:rPr>
              <a:t> approximation:  when X is very large: ln(X!) </a:t>
            </a:r>
            <a:r>
              <a:rPr lang="en-US" altLang="zh-CN" dirty="0">
                <a:ea typeface="宋体" charset="-122"/>
                <a:sym typeface="Symbol"/>
              </a:rPr>
              <a:t></a:t>
            </a:r>
            <a:r>
              <a:rPr lang="en-US" altLang="zh-CN" dirty="0">
                <a:ea typeface="宋体" charset="-122"/>
              </a:rPr>
              <a:t> </a:t>
            </a:r>
            <a:r>
              <a:rPr lang="en-US" altLang="zh-CN" dirty="0" err="1">
                <a:ea typeface="宋体" charset="-122"/>
              </a:rPr>
              <a:t>XlnX</a:t>
            </a:r>
            <a:r>
              <a:rPr lang="en-US" altLang="zh-CN" dirty="0">
                <a:ea typeface="宋体" charset="-122"/>
              </a:rPr>
              <a:t> -X </a:t>
            </a:r>
          </a:p>
        </p:txBody>
      </p:sp>
      <p:graphicFrame>
        <p:nvGraphicFramePr>
          <p:cNvPr id="2" name="对象 1"/>
          <p:cNvGraphicFramePr>
            <a:graphicFrameLocks noChangeAspect="1"/>
          </p:cNvGraphicFramePr>
          <p:nvPr/>
        </p:nvGraphicFramePr>
        <p:xfrm>
          <a:off x="421749" y="2436506"/>
          <a:ext cx="3654425" cy="390525"/>
        </p:xfrm>
        <a:graphic>
          <a:graphicData uri="http://schemas.openxmlformats.org/presentationml/2006/ole">
            <mc:AlternateContent xmlns:mc="http://schemas.openxmlformats.org/markup-compatibility/2006">
              <mc:Choice xmlns:v="urn:schemas-microsoft-com:vml" Requires="v">
                <p:oleObj r:id="rId2" imgW="2133600" imgH="228600" progId="Equation.3">
                  <p:embed/>
                </p:oleObj>
              </mc:Choice>
              <mc:Fallback>
                <p:oleObj r:id="rId2" imgW="2133600" imgH="228600" progId="Equation.3">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749" y="2436506"/>
                        <a:ext cx="36544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383648" y="2884524"/>
          <a:ext cx="5554663" cy="407987"/>
        </p:xfrm>
        <a:graphic>
          <a:graphicData uri="http://schemas.openxmlformats.org/presentationml/2006/ole">
            <mc:AlternateContent xmlns:mc="http://schemas.openxmlformats.org/markup-compatibility/2006">
              <mc:Choice xmlns:v="urn:schemas-microsoft-com:vml" Requires="v">
                <p:oleObj name="Equation" r:id="rId4" imgW="3124200" imgH="228600" progId="Equation.3">
                  <p:embed/>
                </p:oleObj>
              </mc:Choice>
              <mc:Fallback>
                <p:oleObj name="Equation" r:id="rId4" imgW="3124200" imgH="228600" progId="Equation.3">
                  <p:embed/>
                  <p:pic>
                    <p:nvPicPr>
                      <p:cNvPr id="4"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648" y="2884524"/>
                        <a:ext cx="55546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圆角矩形 4"/>
          <p:cNvSpPr/>
          <p:nvPr/>
        </p:nvSpPr>
        <p:spPr>
          <a:xfrm>
            <a:off x="85198" y="1130886"/>
            <a:ext cx="5516727" cy="868684"/>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对象 9"/>
          <p:cNvGraphicFramePr>
            <a:graphicFrameLocks noChangeAspect="1"/>
          </p:cNvGraphicFramePr>
          <p:nvPr/>
        </p:nvGraphicFramePr>
        <p:xfrm>
          <a:off x="6204972" y="970991"/>
          <a:ext cx="1953447" cy="380757"/>
        </p:xfrm>
        <a:graphic>
          <a:graphicData uri="http://schemas.openxmlformats.org/presentationml/2006/ole">
            <mc:AlternateContent xmlns:mc="http://schemas.openxmlformats.org/markup-compatibility/2006">
              <mc:Choice xmlns:v="urn:schemas-microsoft-com:vml" Requires="v">
                <p:oleObj name="Equation" r:id="rId6" imgW="1295280" imgH="253800" progId="Equation.DSMT4">
                  <p:embed/>
                </p:oleObj>
              </mc:Choice>
              <mc:Fallback>
                <p:oleObj name="Equation" r:id="rId6" imgW="1295280" imgH="253800" progId="Equation.DSMT4">
                  <p:embed/>
                  <p:pic>
                    <p:nvPicPr>
                      <p:cNvPr id="10" name="对象 9"/>
                      <p:cNvPicPr>
                        <a:picLocks noChangeAspect="1" noChangeArrowheads="1"/>
                      </p:cNvPicPr>
                      <p:nvPr/>
                    </p:nvPicPr>
                    <p:blipFill>
                      <a:blip r:embed="rId7"/>
                      <a:srcRect/>
                      <a:stretch>
                        <a:fillRect/>
                      </a:stretch>
                    </p:blipFill>
                    <p:spPr bwMode="auto">
                      <a:xfrm>
                        <a:off x="6204972" y="970991"/>
                        <a:ext cx="1953447" cy="380757"/>
                      </a:xfrm>
                      <a:prstGeom prst="rect">
                        <a:avLst/>
                      </a:prstGeom>
                      <a:noFill/>
                      <a:ln>
                        <a:noFill/>
                      </a:ln>
                    </p:spPr>
                  </p:pic>
                </p:oleObj>
              </mc:Fallback>
            </mc:AlternateContent>
          </a:graphicData>
        </a:graphic>
      </p:graphicFrame>
      <p:sp>
        <p:nvSpPr>
          <p:cNvPr id="11" name="矩形 10"/>
          <p:cNvSpPr/>
          <p:nvPr/>
        </p:nvSpPr>
        <p:spPr>
          <a:xfrm>
            <a:off x="6204972" y="1411339"/>
            <a:ext cx="2441575" cy="307777"/>
          </a:xfrm>
          <a:prstGeom prst="rect">
            <a:avLst/>
          </a:prstGeom>
        </p:spPr>
        <p:txBody>
          <a:bodyPr wrap="square">
            <a:spAutoFit/>
          </a:bodyPr>
          <a:lstStyle/>
          <a:p>
            <a:r>
              <a:rPr lang="en-US" altLang="zh-CN" sz="1400" dirty="0">
                <a:ea typeface="宋体" charset="-122"/>
                <a:sym typeface="Symbol" pitchFamily="18" charset="2"/>
              </a:rPr>
              <a:t>Any interchange of particles</a:t>
            </a:r>
          </a:p>
        </p:txBody>
      </p:sp>
      <p:graphicFrame>
        <p:nvGraphicFramePr>
          <p:cNvPr id="12" name="对象 11"/>
          <p:cNvGraphicFramePr>
            <a:graphicFrameLocks noChangeAspect="1"/>
          </p:cNvGraphicFramePr>
          <p:nvPr/>
        </p:nvGraphicFramePr>
        <p:xfrm>
          <a:off x="6231361" y="1711780"/>
          <a:ext cx="2535587" cy="314951"/>
        </p:xfrm>
        <a:graphic>
          <a:graphicData uri="http://schemas.openxmlformats.org/presentationml/2006/ole">
            <mc:AlternateContent xmlns:mc="http://schemas.openxmlformats.org/markup-compatibility/2006">
              <mc:Choice xmlns:v="urn:schemas-microsoft-com:vml" Requires="v">
                <p:oleObj name="Equation" r:id="rId8" imgW="2031840" imgH="253800" progId="Equation.DSMT4">
                  <p:embed/>
                </p:oleObj>
              </mc:Choice>
              <mc:Fallback>
                <p:oleObj name="Equation" r:id="rId8" imgW="2031840" imgH="253800" progId="Equation.DSMT4">
                  <p:embed/>
                  <p:pic>
                    <p:nvPicPr>
                      <p:cNvPr id="12" name="对象 11"/>
                      <p:cNvPicPr>
                        <a:picLocks noChangeAspect="1" noChangeArrowheads="1"/>
                      </p:cNvPicPr>
                      <p:nvPr/>
                    </p:nvPicPr>
                    <p:blipFill>
                      <a:blip r:embed="rId9"/>
                      <a:srcRect/>
                      <a:stretch>
                        <a:fillRect/>
                      </a:stretch>
                    </p:blipFill>
                    <p:spPr bwMode="auto">
                      <a:xfrm>
                        <a:off x="6231361" y="1711780"/>
                        <a:ext cx="2535587" cy="314951"/>
                      </a:xfrm>
                      <a:prstGeom prst="rect">
                        <a:avLst/>
                      </a:prstGeom>
                      <a:noFill/>
                      <a:ln>
                        <a:noFill/>
                      </a:ln>
                    </p:spPr>
                  </p:pic>
                </p:oleObj>
              </mc:Fallback>
            </mc:AlternateContent>
          </a:graphicData>
        </a:graphic>
      </p:graphicFrame>
      <p:cxnSp>
        <p:nvCxnSpPr>
          <p:cNvPr id="36" name="直接连接符 35"/>
          <p:cNvCxnSpPr/>
          <p:nvPr/>
        </p:nvCxnSpPr>
        <p:spPr>
          <a:xfrm flipV="1">
            <a:off x="1873677" y="3265524"/>
            <a:ext cx="509908" cy="374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3585054" y="3265524"/>
            <a:ext cx="509908" cy="374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9" name="对象 38"/>
          <p:cNvGraphicFramePr>
            <a:graphicFrameLocks noChangeAspect="1"/>
          </p:cNvGraphicFramePr>
          <p:nvPr/>
        </p:nvGraphicFramePr>
        <p:xfrm>
          <a:off x="637814" y="3464868"/>
          <a:ext cx="3202194" cy="1619704"/>
        </p:xfrm>
        <a:graphic>
          <a:graphicData uri="http://schemas.openxmlformats.org/presentationml/2006/ole">
            <mc:AlternateContent xmlns:mc="http://schemas.openxmlformats.org/markup-compatibility/2006">
              <mc:Choice xmlns:v="urn:schemas-microsoft-com:vml" Requires="v">
                <p:oleObj name="Equation" r:id="rId10" imgW="2044440" imgH="1041120" progId="Equation.DSMT4">
                  <p:embed/>
                </p:oleObj>
              </mc:Choice>
              <mc:Fallback>
                <p:oleObj name="Equation" r:id="rId10" imgW="2044440" imgH="1041120" progId="Equation.DSMT4">
                  <p:embed/>
                  <p:pic>
                    <p:nvPicPr>
                      <p:cNvPr id="39" name="对象 38"/>
                      <p:cNvPicPr>
                        <a:picLocks noChangeAspect="1" noChangeArrowheads="1"/>
                      </p:cNvPicPr>
                      <p:nvPr/>
                    </p:nvPicPr>
                    <p:blipFill>
                      <a:blip r:embed="rId11"/>
                      <a:srcRect/>
                      <a:stretch>
                        <a:fillRect/>
                      </a:stretch>
                    </p:blipFill>
                    <p:spPr bwMode="auto">
                      <a:xfrm>
                        <a:off x="637814" y="3464868"/>
                        <a:ext cx="3202194" cy="1619704"/>
                      </a:xfrm>
                      <a:prstGeom prst="rect">
                        <a:avLst/>
                      </a:prstGeom>
                      <a:noFill/>
                      <a:ln>
                        <a:noFill/>
                      </a:ln>
                    </p:spPr>
                  </p:pic>
                </p:oleObj>
              </mc:Fallback>
            </mc:AlternateContent>
          </a:graphicData>
        </a:graphic>
      </p:graphicFrame>
      <p:sp>
        <p:nvSpPr>
          <p:cNvPr id="40" name="矩形 39"/>
          <p:cNvSpPr/>
          <p:nvPr/>
        </p:nvSpPr>
        <p:spPr>
          <a:xfrm>
            <a:off x="310623" y="5210396"/>
            <a:ext cx="5074463" cy="830997"/>
          </a:xfrm>
          <a:prstGeom prst="rect">
            <a:avLst/>
          </a:prstGeom>
          <a:solidFill>
            <a:schemeClr val="accent4">
              <a:lumMod val="20000"/>
              <a:lumOff val="80000"/>
            </a:schemeClr>
          </a:solidFill>
        </p:spPr>
        <p:txBody>
          <a:bodyPr wrap="square">
            <a:spAutoFit/>
          </a:bodyPr>
          <a:lstStyle/>
          <a:p>
            <a:r>
              <a:rPr lang="en-US" altLang="zh-CN" sz="1600" dirty="0"/>
              <a:t>If </a:t>
            </a:r>
            <a:r>
              <a:rPr lang="el-GR" altLang="zh-CN" sz="1600" dirty="0">
                <a:latin typeface="Times New Roman"/>
                <a:cs typeface="Times New Roman"/>
              </a:rPr>
              <a:t>Ω</a:t>
            </a:r>
            <a:r>
              <a:rPr lang="en-US" altLang="zh-CN" sz="1600" dirty="0">
                <a:latin typeface="Times New Roman"/>
                <a:cs typeface="Times New Roman"/>
              </a:rPr>
              <a:t> </a:t>
            </a:r>
            <a:r>
              <a:rPr lang="en-US" altLang="zh-CN" sz="1600" dirty="0"/>
              <a:t>has the maximum possible value then a small rearrangement of particles among the energy levels will not alter the value of </a:t>
            </a:r>
            <a:r>
              <a:rPr lang="el-GR" altLang="zh-CN" sz="1600" dirty="0">
                <a:latin typeface="Times New Roman"/>
                <a:cs typeface="Times New Roman"/>
              </a:rPr>
              <a:t>Ω</a:t>
            </a:r>
            <a:r>
              <a:rPr lang="en-US" altLang="zh-CN" sz="1600" dirty="0">
                <a:latin typeface="Times New Roman"/>
                <a:cs typeface="Times New Roman"/>
              </a:rPr>
              <a:t> </a:t>
            </a:r>
            <a:r>
              <a:rPr lang="en-US" altLang="zh-CN" sz="1600" dirty="0"/>
              <a:t>or of </a:t>
            </a:r>
            <a:r>
              <a:rPr lang="en-US" altLang="zh-CN" sz="1600" dirty="0" err="1"/>
              <a:t>ln</a:t>
            </a:r>
            <a:r>
              <a:rPr lang="en-US" altLang="zh-CN" sz="1600" dirty="0"/>
              <a:t> </a:t>
            </a:r>
            <a:r>
              <a:rPr lang="el-GR" altLang="zh-CN" sz="1600" dirty="0">
                <a:latin typeface="Times New Roman"/>
                <a:cs typeface="Times New Roman"/>
              </a:rPr>
              <a:t>Ω</a:t>
            </a:r>
            <a:endParaRPr lang="zh-CN" altLang="en-US" sz="1600" dirty="0"/>
          </a:p>
        </p:txBody>
      </p:sp>
      <p:graphicFrame>
        <p:nvGraphicFramePr>
          <p:cNvPr id="41" name="对象 40"/>
          <p:cNvGraphicFramePr>
            <a:graphicFrameLocks noChangeAspect="1"/>
          </p:cNvGraphicFramePr>
          <p:nvPr/>
        </p:nvGraphicFramePr>
        <p:xfrm>
          <a:off x="5727611" y="5440392"/>
          <a:ext cx="1327150" cy="371004"/>
        </p:xfrm>
        <a:graphic>
          <a:graphicData uri="http://schemas.openxmlformats.org/presentationml/2006/ole">
            <mc:AlternateContent xmlns:mc="http://schemas.openxmlformats.org/markup-compatibility/2006">
              <mc:Choice xmlns:v="urn:schemas-microsoft-com:vml" Requires="v">
                <p:oleObj name="Equation" r:id="rId12" imgW="634680" imgH="177480" progId="Equation.DSMT4">
                  <p:embed/>
                </p:oleObj>
              </mc:Choice>
              <mc:Fallback>
                <p:oleObj name="Equation" r:id="rId12" imgW="634680" imgH="177480" progId="Equation.DSMT4">
                  <p:embed/>
                  <p:pic>
                    <p:nvPicPr>
                      <p:cNvPr id="41" name="对象 40"/>
                      <p:cNvPicPr/>
                      <p:nvPr/>
                    </p:nvPicPr>
                    <p:blipFill>
                      <a:blip r:embed="rId13"/>
                      <a:stretch>
                        <a:fillRect/>
                      </a:stretch>
                    </p:blipFill>
                    <p:spPr>
                      <a:xfrm>
                        <a:off x="5727611" y="5440392"/>
                        <a:ext cx="1327150" cy="371004"/>
                      </a:xfrm>
                      <a:prstGeom prst="rect">
                        <a:avLst/>
                      </a:prstGeom>
                    </p:spPr>
                  </p:pic>
                </p:oleObj>
              </mc:Fallback>
            </mc:AlternateContent>
          </a:graphicData>
        </a:graphic>
      </p:graphicFrame>
      <p:sp>
        <p:nvSpPr>
          <p:cNvPr id="7" name="圆角矩形 6"/>
          <p:cNvSpPr/>
          <p:nvPr/>
        </p:nvSpPr>
        <p:spPr>
          <a:xfrm>
            <a:off x="1411714" y="3428268"/>
            <a:ext cx="923925" cy="352425"/>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4525233" y="3463209"/>
            <a:ext cx="2233304" cy="338554"/>
          </a:xfrm>
          <a:prstGeom prst="rect">
            <a:avLst/>
          </a:prstGeom>
          <a:noFill/>
          <a:ln>
            <a:solidFill>
              <a:srgbClr val="FF0000"/>
            </a:solidFill>
          </a:ln>
        </p:spPr>
        <p:txBody>
          <a:bodyPr wrap="none" rtlCol="0">
            <a:spAutoFit/>
          </a:bodyPr>
          <a:lstStyle/>
          <a:p>
            <a:r>
              <a:rPr lang="en-US" altLang="zh-CN" sz="1600" dirty="0">
                <a:latin typeface="Times New Roman" pitchFamily="18" charset="0"/>
                <a:cs typeface="Times New Roman" pitchFamily="18" charset="0"/>
              </a:rPr>
              <a:t>n is constant </a:t>
            </a:r>
            <a:r>
              <a:rPr lang="en-US" altLang="zh-CN" sz="1600" dirty="0">
                <a:latin typeface="Times New Roman" pitchFamily="18" charset="0"/>
                <a:cs typeface="Times New Roman" pitchFamily="18" charset="0"/>
                <a:sym typeface="Wingdings" pitchFamily="2" charset="2"/>
              </a:rPr>
              <a:t> </a:t>
            </a:r>
            <a:r>
              <a:rPr lang="el-GR" altLang="zh-CN" sz="1600" dirty="0">
                <a:latin typeface="Sylfaen"/>
              </a:rPr>
              <a:t>δ</a:t>
            </a:r>
            <a:r>
              <a:rPr lang="en-US" altLang="zh-CN" sz="1600" i="1" dirty="0" err="1">
                <a:latin typeface="Sylfaen"/>
              </a:rPr>
              <a:t>n</a:t>
            </a:r>
            <a:r>
              <a:rPr lang="en-US" altLang="zh-CN" sz="1600" dirty="0" err="1">
                <a:latin typeface="Sylfaen"/>
              </a:rPr>
              <a:t>ln</a:t>
            </a:r>
            <a:r>
              <a:rPr lang="en-US" altLang="zh-CN" sz="1600" i="1" dirty="0" err="1">
                <a:latin typeface="Sylfaen"/>
              </a:rPr>
              <a:t>n</a:t>
            </a:r>
            <a:r>
              <a:rPr lang="en-US" altLang="zh-CN" sz="1600" dirty="0">
                <a:latin typeface="Sylfaen"/>
              </a:rPr>
              <a:t>=0</a:t>
            </a:r>
            <a:endParaRPr lang="zh-CN" altLang="en-US" sz="1600" dirty="0"/>
          </a:p>
        </p:txBody>
      </p:sp>
      <p:graphicFrame>
        <p:nvGraphicFramePr>
          <p:cNvPr id="16" name="对象 15"/>
          <p:cNvGraphicFramePr>
            <a:graphicFrameLocks noChangeAspect="1"/>
          </p:cNvGraphicFramePr>
          <p:nvPr/>
        </p:nvGraphicFramePr>
        <p:xfrm>
          <a:off x="4513263" y="3962400"/>
          <a:ext cx="1778000" cy="482600"/>
        </p:xfrm>
        <a:graphic>
          <a:graphicData uri="http://schemas.openxmlformats.org/presentationml/2006/ole">
            <mc:AlternateContent xmlns:mc="http://schemas.openxmlformats.org/markup-compatibility/2006">
              <mc:Choice xmlns:v="urn:schemas-microsoft-com:vml" Requires="v">
                <p:oleObj name="Equation" r:id="rId14" imgW="1777680" imgH="482400" progId="Equation.DSMT4">
                  <p:embed/>
                </p:oleObj>
              </mc:Choice>
              <mc:Fallback>
                <p:oleObj name="Equation" r:id="rId14" imgW="1777680" imgH="482400" progId="Equation.DSMT4">
                  <p:embed/>
                  <p:pic>
                    <p:nvPicPr>
                      <p:cNvPr id="16" name="对象 15"/>
                      <p:cNvPicPr/>
                      <p:nvPr/>
                    </p:nvPicPr>
                    <p:blipFill>
                      <a:blip r:embed="rId15"/>
                      <a:stretch>
                        <a:fillRect/>
                      </a:stretch>
                    </p:blipFill>
                    <p:spPr>
                      <a:xfrm>
                        <a:off x="4513263" y="3962400"/>
                        <a:ext cx="1778000" cy="482600"/>
                      </a:xfrm>
                      <a:prstGeom prst="rect">
                        <a:avLst/>
                      </a:prstGeom>
                      <a:ln>
                        <a:solidFill>
                          <a:schemeClr val="accent1"/>
                        </a:solidFill>
                      </a:ln>
                    </p:spPr>
                  </p:pic>
                </p:oleObj>
              </mc:Fallback>
            </mc:AlternateContent>
          </a:graphicData>
        </a:graphic>
      </p:graphicFrame>
      <p:graphicFrame>
        <p:nvGraphicFramePr>
          <p:cNvPr id="20" name="对象 19"/>
          <p:cNvGraphicFramePr>
            <a:graphicFrameLocks noChangeAspect="1"/>
          </p:cNvGraphicFramePr>
          <p:nvPr/>
        </p:nvGraphicFramePr>
        <p:xfrm>
          <a:off x="4514082" y="4571837"/>
          <a:ext cx="622300" cy="254000"/>
        </p:xfrm>
        <a:graphic>
          <a:graphicData uri="http://schemas.openxmlformats.org/presentationml/2006/ole">
            <mc:AlternateContent xmlns:mc="http://schemas.openxmlformats.org/markup-compatibility/2006">
              <mc:Choice xmlns:v="urn:schemas-microsoft-com:vml" Requires="v">
                <p:oleObj name="Equation" r:id="rId16" imgW="622080" imgH="253800" progId="Equation.DSMT4">
                  <p:embed/>
                </p:oleObj>
              </mc:Choice>
              <mc:Fallback>
                <p:oleObj name="Equation" r:id="rId16" imgW="622080" imgH="253800" progId="Equation.DSMT4">
                  <p:embed/>
                  <p:pic>
                    <p:nvPicPr>
                      <p:cNvPr id="20" name="对象 19"/>
                      <p:cNvPicPr/>
                      <p:nvPr/>
                    </p:nvPicPr>
                    <p:blipFill>
                      <a:blip r:embed="rId17"/>
                      <a:stretch>
                        <a:fillRect/>
                      </a:stretch>
                    </p:blipFill>
                    <p:spPr>
                      <a:xfrm>
                        <a:off x="4514082" y="4571837"/>
                        <a:ext cx="622300" cy="254000"/>
                      </a:xfrm>
                      <a:prstGeom prst="rect">
                        <a:avLst/>
                      </a:prstGeom>
                      <a:ln>
                        <a:solidFill>
                          <a:srgbClr val="FF00FF"/>
                        </a:solidFill>
                      </a:ln>
                    </p:spPr>
                  </p:pic>
                </p:oleObj>
              </mc:Fallback>
            </mc:AlternateContent>
          </a:graphicData>
        </a:graphic>
      </p:graphicFrame>
      <p:graphicFrame>
        <p:nvGraphicFramePr>
          <p:cNvPr id="9" name="对象 8"/>
          <p:cNvGraphicFramePr>
            <a:graphicFrameLocks noChangeAspect="1"/>
          </p:cNvGraphicFramePr>
          <p:nvPr/>
        </p:nvGraphicFramePr>
        <p:xfrm>
          <a:off x="6811813" y="5977828"/>
          <a:ext cx="1549400" cy="420688"/>
        </p:xfrm>
        <a:graphic>
          <a:graphicData uri="http://schemas.openxmlformats.org/presentationml/2006/ole">
            <mc:AlternateContent xmlns:mc="http://schemas.openxmlformats.org/markup-compatibility/2006">
              <mc:Choice xmlns:v="urn:schemas-microsoft-com:vml" Requires="v">
                <p:oleObj name="Equation" r:id="rId18" imgW="838200" imgH="228600" progId="Equation.3">
                  <p:embed/>
                </p:oleObj>
              </mc:Choice>
              <mc:Fallback>
                <p:oleObj name="Equation" r:id="rId18" imgW="838200" imgH="228600" progId="Equation.3">
                  <p:embed/>
                  <p:pic>
                    <p:nvPicPr>
                      <p:cNvPr id="9" name="对象 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11813" y="5977828"/>
                        <a:ext cx="15494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直接箭头连接符 17"/>
          <p:cNvCxnSpPr/>
          <p:nvPr/>
        </p:nvCxnSpPr>
        <p:spPr>
          <a:xfrm>
            <a:off x="7104173" y="5751538"/>
            <a:ext cx="643172" cy="2272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圆角矩形 27"/>
          <p:cNvSpPr/>
          <p:nvPr/>
        </p:nvSpPr>
        <p:spPr>
          <a:xfrm>
            <a:off x="2734990" y="3885616"/>
            <a:ext cx="923925" cy="352425"/>
          </a:xfrm>
          <a:prstGeom prst="round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2734989" y="4268355"/>
            <a:ext cx="923925" cy="352425"/>
          </a:xfrm>
          <a:prstGeom prst="roundRect">
            <a:avLst/>
          </a:prstGeom>
          <a:noFill/>
          <a:ln>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p:cNvCxnSpPr/>
          <p:nvPr/>
        </p:nvCxnSpPr>
        <p:spPr>
          <a:xfrm>
            <a:off x="3947532" y="3632486"/>
            <a:ext cx="4125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3840008" y="4061828"/>
            <a:ext cx="520119" cy="1762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3840008" y="4444567"/>
            <a:ext cx="520119" cy="2947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5368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93902" y="-10926"/>
            <a:ext cx="7178676" cy="878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Find Most Probable Distribution</a:t>
            </a:r>
            <a:endParaRPr lang="en-US" sz="3200" dirty="0">
              <a:solidFill>
                <a:srgbClr val="FF0000"/>
              </a:solidFill>
            </a:endParaRPr>
          </a:p>
        </p:txBody>
      </p:sp>
      <p:graphicFrame>
        <p:nvGraphicFramePr>
          <p:cNvPr id="5" name="对象 4"/>
          <p:cNvGraphicFramePr>
            <a:graphicFrameLocks noChangeAspect="1"/>
          </p:cNvGraphicFramePr>
          <p:nvPr/>
        </p:nvGraphicFramePr>
        <p:xfrm>
          <a:off x="2160046" y="1432931"/>
          <a:ext cx="1549400" cy="420688"/>
        </p:xfrm>
        <a:graphic>
          <a:graphicData uri="http://schemas.openxmlformats.org/presentationml/2006/ole">
            <mc:AlternateContent xmlns:mc="http://schemas.openxmlformats.org/markup-compatibility/2006">
              <mc:Choice xmlns:v="urn:schemas-microsoft-com:vml" Requires="v">
                <p:oleObj name="Equation" r:id="rId2" imgW="838200" imgH="228600" progId="Equation.3">
                  <p:embed/>
                </p:oleObj>
              </mc:Choice>
              <mc:Fallback>
                <p:oleObj name="Equation" r:id="rId2" imgW="838200" imgH="228600" progId="Equation.3">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046" y="1432931"/>
                        <a:ext cx="15494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104733" y="1432931"/>
          <a:ext cx="1063625" cy="436563"/>
        </p:xfrm>
        <a:graphic>
          <a:graphicData uri="http://schemas.openxmlformats.org/presentationml/2006/ole">
            <mc:AlternateContent xmlns:mc="http://schemas.openxmlformats.org/markup-compatibility/2006">
              <mc:Choice xmlns:v="urn:schemas-microsoft-com:vml" Requires="v">
                <p:oleObj name="Equation" r:id="rId4" imgW="558800" imgH="228600" progId="Equation.3">
                  <p:embed/>
                </p:oleObj>
              </mc:Choice>
              <mc:Fallback>
                <p:oleObj name="Equation" r:id="rId4" imgW="558800" imgH="228600" progId="Equation.3">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4733" y="1432931"/>
                        <a:ext cx="106362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Text Box 11"/>
          <p:cNvSpPr txBox="1">
            <a:spLocks noChangeArrowheads="1"/>
          </p:cNvSpPr>
          <p:nvPr/>
        </p:nvSpPr>
        <p:spPr bwMode="auto">
          <a:xfrm>
            <a:off x="2409283" y="2075869"/>
            <a:ext cx="436562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a:ea typeface="宋体" charset="-122"/>
                <a:sym typeface="Symbol" pitchFamily="18" charset="2"/>
              </a:rPr>
              <a:t> is the constant with the units of reciprocal energy</a:t>
            </a:r>
          </a:p>
          <a:p>
            <a:pPr eaLnBrk="1" hangingPunct="1"/>
            <a:endParaRPr lang="en-US" altLang="zh-CN" sz="1400" dirty="0">
              <a:ea typeface="宋体" charset="-122"/>
              <a:sym typeface="Symbol" pitchFamily="18" charset="2"/>
            </a:endParaRPr>
          </a:p>
          <a:p>
            <a:pPr eaLnBrk="1" hangingPunct="1"/>
            <a:r>
              <a:rPr lang="el-GR" altLang="zh-CN" dirty="0">
                <a:latin typeface="Times New Roman"/>
                <a:ea typeface="宋体" charset="-122"/>
                <a:cs typeface="Times New Roman"/>
                <a:sym typeface="Symbol" pitchFamily="18" charset="2"/>
              </a:rPr>
              <a:t>Α</a:t>
            </a:r>
            <a:r>
              <a:rPr lang="en-US" altLang="zh-CN" dirty="0">
                <a:latin typeface="Times New Roman"/>
                <a:ea typeface="宋体" charset="-122"/>
                <a:cs typeface="Times New Roman"/>
                <a:sym typeface="Symbol" pitchFamily="18" charset="2"/>
              </a:rPr>
              <a:t> </a:t>
            </a:r>
            <a:r>
              <a:rPr lang="en-US" altLang="zh-CN" dirty="0">
                <a:ea typeface="宋体" charset="-122"/>
                <a:sym typeface="Symbol" pitchFamily="18" charset="2"/>
              </a:rPr>
              <a:t>is the dimensionless constant</a:t>
            </a:r>
          </a:p>
        </p:txBody>
      </p:sp>
      <p:sp>
        <p:nvSpPr>
          <p:cNvPr id="30" name="Line 19"/>
          <p:cNvSpPr>
            <a:spLocks noChangeShapeType="1"/>
          </p:cNvSpPr>
          <p:nvPr/>
        </p:nvSpPr>
        <p:spPr bwMode="auto">
          <a:xfrm>
            <a:off x="4326983" y="3358553"/>
            <a:ext cx="2889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20"/>
          <p:cNvSpPr>
            <a:spLocks noChangeShapeType="1"/>
          </p:cNvSpPr>
          <p:nvPr/>
        </p:nvSpPr>
        <p:spPr bwMode="auto">
          <a:xfrm>
            <a:off x="3996783" y="4152303"/>
            <a:ext cx="2873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 Box 17"/>
          <p:cNvSpPr txBox="1">
            <a:spLocks noChangeArrowheads="1"/>
          </p:cNvSpPr>
          <p:nvPr/>
        </p:nvSpPr>
        <p:spPr bwMode="auto">
          <a:xfrm>
            <a:off x="6328821" y="4690466"/>
            <a:ext cx="1617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a:ea typeface="宋体" charset="-122"/>
              </a:rPr>
              <a:t>Partition function</a:t>
            </a:r>
          </a:p>
        </p:txBody>
      </p:sp>
      <p:graphicFrame>
        <p:nvGraphicFramePr>
          <p:cNvPr id="34" name="Object 18"/>
          <p:cNvGraphicFramePr>
            <a:graphicFrameLocks noChangeAspect="1"/>
          </p:cNvGraphicFramePr>
          <p:nvPr/>
        </p:nvGraphicFramePr>
        <p:xfrm>
          <a:off x="1661068" y="5255614"/>
          <a:ext cx="863600" cy="630238"/>
        </p:xfrm>
        <a:graphic>
          <a:graphicData uri="http://schemas.openxmlformats.org/presentationml/2006/ole">
            <mc:AlternateContent xmlns:mc="http://schemas.openxmlformats.org/markup-compatibility/2006">
              <mc:Choice xmlns:v="urn:schemas-microsoft-com:vml" Requires="v">
                <p:oleObj name="Equation" r:id="rId6" imgW="533160" imgH="393480" progId="Equation.DSMT4">
                  <p:embed/>
                </p:oleObj>
              </mc:Choice>
              <mc:Fallback>
                <p:oleObj name="Equation" r:id="rId6" imgW="533160" imgH="393480" progId="Equation.DSMT4">
                  <p:embed/>
                  <p:pic>
                    <p:nvPicPr>
                      <p:cNvPr id="34" name="Object 18"/>
                      <p:cNvPicPr>
                        <a:picLocks noChangeAspect="1" noChangeArrowheads="1"/>
                      </p:cNvPicPr>
                      <p:nvPr/>
                    </p:nvPicPr>
                    <p:blipFill>
                      <a:blip r:embed="rId7"/>
                      <a:srcRect/>
                      <a:stretch>
                        <a:fillRect/>
                      </a:stretch>
                    </p:blipFill>
                    <p:spPr bwMode="auto">
                      <a:xfrm>
                        <a:off x="1661068" y="5255614"/>
                        <a:ext cx="863600"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Line 23"/>
          <p:cNvSpPr>
            <a:spLocks noChangeShapeType="1"/>
          </p:cNvSpPr>
          <p:nvPr/>
        </p:nvSpPr>
        <p:spPr bwMode="auto">
          <a:xfrm>
            <a:off x="2740568" y="5544539"/>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 name="对象 1"/>
          <p:cNvGraphicFramePr>
            <a:graphicFrameLocks noChangeAspect="1"/>
          </p:cNvGraphicFramePr>
          <p:nvPr/>
        </p:nvGraphicFramePr>
        <p:xfrm>
          <a:off x="5901807" y="1432931"/>
          <a:ext cx="1123950" cy="381000"/>
        </p:xfrm>
        <a:graphic>
          <a:graphicData uri="http://schemas.openxmlformats.org/presentationml/2006/ole">
            <mc:AlternateContent xmlns:mc="http://schemas.openxmlformats.org/markup-compatibility/2006">
              <mc:Choice xmlns:v="urn:schemas-microsoft-com:vml" Requires="v">
                <p:oleObj name="Equation" r:id="rId8" imgW="749160" imgH="253800" progId="Equation.DSMT4">
                  <p:embed/>
                </p:oleObj>
              </mc:Choice>
              <mc:Fallback>
                <p:oleObj name="Equation" r:id="rId8" imgW="749160" imgH="253800" progId="Equation.DSMT4">
                  <p:embed/>
                  <p:pic>
                    <p:nvPicPr>
                      <p:cNvPr id="2" name="对象 1"/>
                      <p:cNvPicPr/>
                      <p:nvPr/>
                    </p:nvPicPr>
                    <p:blipFill>
                      <a:blip r:embed="rId9"/>
                      <a:stretch>
                        <a:fillRect/>
                      </a:stretch>
                    </p:blipFill>
                    <p:spPr>
                      <a:xfrm>
                        <a:off x="5901807" y="1432931"/>
                        <a:ext cx="1123950" cy="381000"/>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944307" y="1966331"/>
          <a:ext cx="1276350" cy="381000"/>
        </p:xfrm>
        <a:graphic>
          <a:graphicData uri="http://schemas.openxmlformats.org/presentationml/2006/ole">
            <mc:AlternateContent xmlns:mc="http://schemas.openxmlformats.org/markup-compatibility/2006">
              <mc:Choice xmlns:v="urn:schemas-microsoft-com:vml" Requires="v">
                <p:oleObj name="Equation" r:id="rId10" imgW="850680" imgH="253800" progId="Equation.DSMT4">
                  <p:embed/>
                </p:oleObj>
              </mc:Choice>
              <mc:Fallback>
                <p:oleObj name="Equation" r:id="rId10" imgW="850680" imgH="253800" progId="Equation.DSMT4">
                  <p:embed/>
                  <p:pic>
                    <p:nvPicPr>
                      <p:cNvPr id="4" name="对象 3"/>
                      <p:cNvPicPr>
                        <a:picLocks noChangeAspect="1" noChangeArrowheads="1"/>
                      </p:cNvPicPr>
                      <p:nvPr/>
                    </p:nvPicPr>
                    <p:blipFill>
                      <a:blip r:embed="rId11"/>
                      <a:srcRect/>
                      <a:stretch>
                        <a:fillRect/>
                      </a:stretch>
                    </p:blipFill>
                    <p:spPr bwMode="auto">
                      <a:xfrm>
                        <a:off x="944307" y="1966331"/>
                        <a:ext cx="12763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974183" y="2575931"/>
          <a:ext cx="1104900" cy="381000"/>
        </p:xfrm>
        <a:graphic>
          <a:graphicData uri="http://schemas.openxmlformats.org/presentationml/2006/ole">
            <mc:AlternateContent xmlns:mc="http://schemas.openxmlformats.org/markup-compatibility/2006">
              <mc:Choice xmlns:v="urn:schemas-microsoft-com:vml" Requires="v">
                <p:oleObj name="Equation" r:id="rId12" imgW="736560" imgH="253800" progId="Equation.DSMT4">
                  <p:embed/>
                </p:oleObj>
              </mc:Choice>
              <mc:Fallback>
                <p:oleObj name="Equation" r:id="rId12" imgW="736560" imgH="253800" progId="Equation.DSMT4">
                  <p:embed/>
                  <p:pic>
                    <p:nvPicPr>
                      <p:cNvPr id="9" name="对象 8"/>
                      <p:cNvPicPr>
                        <a:picLocks noChangeAspect="1" noChangeArrowheads="1"/>
                      </p:cNvPicPr>
                      <p:nvPr/>
                    </p:nvPicPr>
                    <p:blipFill>
                      <a:blip r:embed="rId13"/>
                      <a:srcRect/>
                      <a:stretch>
                        <a:fillRect/>
                      </a:stretch>
                    </p:blipFill>
                    <p:spPr bwMode="auto">
                      <a:xfrm>
                        <a:off x="974183" y="2575931"/>
                        <a:ext cx="1104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1637255" y="3169641"/>
          <a:ext cx="2400301" cy="381000"/>
        </p:xfrm>
        <a:graphic>
          <a:graphicData uri="http://schemas.openxmlformats.org/presentationml/2006/ole">
            <mc:AlternateContent xmlns:mc="http://schemas.openxmlformats.org/markup-compatibility/2006">
              <mc:Choice xmlns:v="urn:schemas-microsoft-com:vml" Requires="v">
                <p:oleObj name="Equation" r:id="rId14" imgW="1600200" imgH="253800" progId="Equation.DSMT4">
                  <p:embed/>
                </p:oleObj>
              </mc:Choice>
              <mc:Fallback>
                <p:oleObj name="Equation" r:id="rId14" imgW="1600200" imgH="253800" progId="Equation.DSMT4">
                  <p:embed/>
                  <p:pic>
                    <p:nvPicPr>
                      <p:cNvPr id="10" name="对象 9"/>
                      <p:cNvPicPr>
                        <a:picLocks noChangeAspect="1" noChangeArrowheads="1"/>
                      </p:cNvPicPr>
                      <p:nvPr/>
                    </p:nvPicPr>
                    <p:blipFill>
                      <a:blip r:embed="rId15"/>
                      <a:srcRect/>
                      <a:stretch>
                        <a:fillRect/>
                      </a:stretch>
                    </p:blipFill>
                    <p:spPr bwMode="auto">
                      <a:xfrm>
                        <a:off x="1637255" y="3169641"/>
                        <a:ext cx="240030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4921946" y="3074391"/>
          <a:ext cx="2605437" cy="532930"/>
        </p:xfrm>
        <a:graphic>
          <a:graphicData uri="http://schemas.openxmlformats.org/presentationml/2006/ole">
            <mc:AlternateContent xmlns:mc="http://schemas.openxmlformats.org/markup-compatibility/2006">
              <mc:Choice xmlns:v="urn:schemas-microsoft-com:vml" Requires="v">
                <p:oleObj name="Equation" r:id="rId16" imgW="1117440" imgH="228600" progId="Equation.DSMT4">
                  <p:embed/>
                </p:oleObj>
              </mc:Choice>
              <mc:Fallback>
                <p:oleObj name="Equation" r:id="rId16" imgW="1117440" imgH="228600" progId="Equation.DSMT4">
                  <p:embed/>
                  <p:pic>
                    <p:nvPicPr>
                      <p:cNvPr id="11" name="对象 10"/>
                      <p:cNvPicPr/>
                      <p:nvPr/>
                    </p:nvPicPr>
                    <p:blipFill>
                      <a:blip r:embed="rId17"/>
                      <a:stretch>
                        <a:fillRect/>
                      </a:stretch>
                    </p:blipFill>
                    <p:spPr>
                      <a:xfrm>
                        <a:off x="4921946" y="3074391"/>
                        <a:ext cx="2605437" cy="53293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812383" y="3870522"/>
          <a:ext cx="1746250" cy="563562"/>
        </p:xfrm>
        <a:graphic>
          <a:graphicData uri="http://schemas.openxmlformats.org/presentationml/2006/ole">
            <mc:AlternateContent xmlns:mc="http://schemas.openxmlformats.org/markup-compatibility/2006">
              <mc:Choice xmlns:v="urn:schemas-microsoft-com:vml" Requires="v">
                <p:oleObj name="Equation" r:id="rId18" imgW="749160" imgH="241200" progId="Equation.DSMT4">
                  <p:embed/>
                </p:oleObj>
              </mc:Choice>
              <mc:Fallback>
                <p:oleObj name="Equation" r:id="rId18" imgW="749160" imgH="241200" progId="Equation.DSMT4">
                  <p:embed/>
                  <p:pic>
                    <p:nvPicPr>
                      <p:cNvPr id="12" name="对象 11"/>
                      <p:cNvPicPr>
                        <a:picLocks noChangeAspect="1" noChangeArrowheads="1"/>
                      </p:cNvPicPr>
                      <p:nvPr/>
                    </p:nvPicPr>
                    <p:blipFill>
                      <a:blip r:embed="rId19"/>
                      <a:srcRect/>
                      <a:stretch>
                        <a:fillRect/>
                      </a:stretch>
                    </p:blipFill>
                    <p:spPr bwMode="auto">
                      <a:xfrm>
                        <a:off x="1812383" y="3870522"/>
                        <a:ext cx="174625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4696498" y="3857028"/>
          <a:ext cx="3167062" cy="590550"/>
        </p:xfrm>
        <a:graphic>
          <a:graphicData uri="http://schemas.openxmlformats.org/presentationml/2006/ole">
            <mc:AlternateContent xmlns:mc="http://schemas.openxmlformats.org/markup-compatibility/2006">
              <mc:Choice xmlns:v="urn:schemas-microsoft-com:vml" Requires="v">
                <p:oleObj name="Equation" r:id="rId20" imgW="1358640" imgH="253800" progId="Equation.DSMT4">
                  <p:embed/>
                </p:oleObj>
              </mc:Choice>
              <mc:Fallback>
                <p:oleObj name="Equation" r:id="rId20" imgW="1358640" imgH="253800" progId="Equation.DSMT4">
                  <p:embed/>
                  <p:pic>
                    <p:nvPicPr>
                      <p:cNvPr id="13" name="对象 12"/>
                      <p:cNvPicPr>
                        <a:picLocks noChangeAspect="1" noChangeArrowheads="1"/>
                      </p:cNvPicPr>
                      <p:nvPr/>
                    </p:nvPicPr>
                    <p:blipFill>
                      <a:blip r:embed="rId21"/>
                      <a:srcRect/>
                      <a:stretch>
                        <a:fillRect/>
                      </a:stretch>
                    </p:blipFill>
                    <p:spPr bwMode="auto">
                      <a:xfrm>
                        <a:off x="4696498" y="3857028"/>
                        <a:ext cx="3167062"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1507583" y="4587721"/>
          <a:ext cx="4628978" cy="523432"/>
        </p:xfrm>
        <a:graphic>
          <a:graphicData uri="http://schemas.openxmlformats.org/presentationml/2006/ole">
            <mc:AlternateContent xmlns:mc="http://schemas.openxmlformats.org/markup-compatibility/2006">
              <mc:Choice xmlns:v="urn:schemas-microsoft-com:vml" Requires="v">
                <p:oleObj name="Equation" r:id="rId22" imgW="2247840" imgH="253800" progId="Equation.DSMT4">
                  <p:embed/>
                </p:oleObj>
              </mc:Choice>
              <mc:Fallback>
                <p:oleObj name="Equation" r:id="rId22" imgW="2247840" imgH="253800" progId="Equation.DSMT4">
                  <p:embed/>
                  <p:pic>
                    <p:nvPicPr>
                      <p:cNvPr id="14" name="对象 13"/>
                      <p:cNvPicPr/>
                      <p:nvPr/>
                    </p:nvPicPr>
                    <p:blipFill>
                      <a:blip r:embed="rId23"/>
                      <a:stretch>
                        <a:fillRect/>
                      </a:stretch>
                    </p:blipFill>
                    <p:spPr>
                      <a:xfrm>
                        <a:off x="1507583" y="4587721"/>
                        <a:ext cx="4628978" cy="523432"/>
                      </a:xfrm>
                      <a:prstGeom prst="rect">
                        <a:avLst/>
                      </a:prstGeom>
                      <a:solidFill>
                        <a:schemeClr val="accent4">
                          <a:lumMod val="20000"/>
                          <a:lumOff val="80000"/>
                        </a:schemeClr>
                      </a:solidFill>
                    </p:spPr>
                  </p:pic>
                </p:oleObj>
              </mc:Fallback>
            </mc:AlternateContent>
          </a:graphicData>
        </a:graphic>
      </p:graphicFrame>
      <p:graphicFrame>
        <p:nvGraphicFramePr>
          <p:cNvPr id="16" name="对象 15"/>
          <p:cNvGraphicFramePr>
            <a:graphicFrameLocks noChangeAspect="1"/>
          </p:cNvGraphicFramePr>
          <p:nvPr/>
        </p:nvGraphicFramePr>
        <p:xfrm>
          <a:off x="3441158" y="5085769"/>
          <a:ext cx="1687513" cy="917575"/>
        </p:xfrm>
        <a:graphic>
          <a:graphicData uri="http://schemas.openxmlformats.org/presentationml/2006/ole">
            <mc:AlternateContent xmlns:mc="http://schemas.openxmlformats.org/markup-compatibility/2006">
              <mc:Choice xmlns:v="urn:schemas-microsoft-com:vml" Requires="v">
                <p:oleObj name="Equation" r:id="rId24" imgW="723600" imgH="393480" progId="Equation.DSMT4">
                  <p:embed/>
                </p:oleObj>
              </mc:Choice>
              <mc:Fallback>
                <p:oleObj name="Equation" r:id="rId24" imgW="723600" imgH="393480" progId="Equation.DSMT4">
                  <p:embed/>
                  <p:pic>
                    <p:nvPicPr>
                      <p:cNvPr id="16" name="对象 15"/>
                      <p:cNvPicPr>
                        <a:picLocks noChangeAspect="1" noChangeArrowheads="1"/>
                      </p:cNvPicPr>
                      <p:nvPr/>
                    </p:nvPicPr>
                    <p:blipFill>
                      <a:blip r:embed="rId25"/>
                      <a:srcRect/>
                      <a:stretch>
                        <a:fillRect/>
                      </a:stretch>
                    </p:blipFill>
                    <p:spPr bwMode="auto">
                      <a:xfrm>
                        <a:off x="3441158" y="5085769"/>
                        <a:ext cx="168751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圆角矩形 7"/>
          <p:cNvSpPr/>
          <p:nvPr/>
        </p:nvSpPr>
        <p:spPr>
          <a:xfrm>
            <a:off x="593183" y="1813931"/>
            <a:ext cx="7543800" cy="121920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2858549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2"/>
          <p:cNvSpPr txBox="1">
            <a:spLocks noChangeArrowheads="1"/>
          </p:cNvSpPr>
          <p:nvPr/>
        </p:nvSpPr>
        <p:spPr bwMode="auto">
          <a:xfrm>
            <a:off x="320580" y="3269411"/>
            <a:ext cx="38621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b="1" dirty="0">
                <a:ea typeface="宋体" charset="-122"/>
              </a:rPr>
              <a:t>Boltzmann’s distribution function</a:t>
            </a:r>
          </a:p>
        </p:txBody>
      </p:sp>
      <p:sp>
        <p:nvSpPr>
          <p:cNvPr id="8" name="Title 1"/>
          <p:cNvSpPr txBox="1">
            <a:spLocks/>
          </p:cNvSpPr>
          <p:nvPr/>
        </p:nvSpPr>
        <p:spPr bwMode="auto">
          <a:xfrm>
            <a:off x="1337394" y="250166"/>
            <a:ext cx="7178676" cy="62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b="1" dirty="0">
                <a:solidFill>
                  <a:srgbClr val="FF0000"/>
                </a:solidFill>
                <a:ea typeface="宋体" charset="-122"/>
              </a:rPr>
              <a:t>Boltzmann’s distribution function</a:t>
            </a:r>
          </a:p>
        </p:txBody>
      </p:sp>
      <p:graphicFrame>
        <p:nvGraphicFramePr>
          <p:cNvPr id="3" name="对象 2"/>
          <p:cNvGraphicFramePr>
            <a:graphicFrameLocks noChangeAspect="1"/>
          </p:cNvGraphicFramePr>
          <p:nvPr/>
        </p:nvGraphicFramePr>
        <p:xfrm>
          <a:off x="876300" y="1744663"/>
          <a:ext cx="2111375" cy="1149350"/>
        </p:xfrm>
        <a:graphic>
          <a:graphicData uri="http://schemas.openxmlformats.org/presentationml/2006/ole">
            <mc:AlternateContent xmlns:mc="http://schemas.openxmlformats.org/markup-compatibility/2006">
              <mc:Choice xmlns:v="urn:schemas-microsoft-com:vml" Requires="v">
                <p:oleObj name="Equation" r:id="rId2" imgW="723600" imgH="393480" progId="Equation.DSMT4">
                  <p:embed/>
                </p:oleObj>
              </mc:Choice>
              <mc:Fallback>
                <p:oleObj name="Equation" r:id="rId2" imgW="723600" imgH="393480" progId="Equation.DSMT4">
                  <p:embed/>
                  <p:pic>
                    <p:nvPicPr>
                      <p:cNvPr id="3" name="对象 2"/>
                      <p:cNvPicPr>
                        <a:picLocks noChangeAspect="1" noChangeArrowheads="1"/>
                      </p:cNvPicPr>
                      <p:nvPr/>
                    </p:nvPicPr>
                    <p:blipFill>
                      <a:blip r:embed="rId3"/>
                      <a:srcRect/>
                      <a:stretch>
                        <a:fillRect/>
                      </a:stretch>
                    </p:blipFill>
                    <p:spPr bwMode="auto">
                      <a:xfrm>
                        <a:off x="876300" y="1744663"/>
                        <a:ext cx="2111375" cy="1149350"/>
                      </a:xfrm>
                      <a:prstGeom prst="rect">
                        <a:avLst/>
                      </a:prstGeom>
                      <a:noFill/>
                      <a:ln>
                        <a:noFill/>
                      </a:ln>
                    </p:spPr>
                  </p:pic>
                </p:oleObj>
              </mc:Fallback>
            </mc:AlternateContent>
          </a:graphicData>
        </a:graphic>
      </p:graphicFrame>
      <p:pic>
        <p:nvPicPr>
          <p:cNvPr id="14" name="image273.png"/>
          <p:cNvPicPr/>
          <p:nvPr/>
        </p:nvPicPr>
        <p:blipFill>
          <a:blip r:embed="rId4" cstate="print"/>
          <a:stretch>
            <a:fillRect/>
          </a:stretch>
        </p:blipFill>
        <p:spPr>
          <a:xfrm>
            <a:off x="4498018" y="1638195"/>
            <a:ext cx="3825875" cy="2790825"/>
          </a:xfrm>
          <a:prstGeom prst="rect">
            <a:avLst/>
          </a:prstGeom>
        </p:spPr>
      </p:pic>
      <p:sp>
        <p:nvSpPr>
          <p:cNvPr id="15" name="TextBox 14"/>
          <p:cNvSpPr txBox="1"/>
          <p:nvPr/>
        </p:nvSpPr>
        <p:spPr>
          <a:xfrm>
            <a:off x="4434612" y="4598297"/>
            <a:ext cx="3921126" cy="923330"/>
          </a:xfrm>
          <a:prstGeom prst="rect">
            <a:avLst/>
          </a:prstGeom>
          <a:noFill/>
        </p:spPr>
        <p:txBody>
          <a:bodyPr wrap="square" rtlCol="0">
            <a:spAutoFit/>
          </a:bodyPr>
          <a:lstStyle/>
          <a:p>
            <a:r>
              <a:rPr lang="en-US" altLang="zh-CN" sz="1800" dirty="0">
                <a:latin typeface="Times New Roman" panose="02020603050405020304" pitchFamily="18" charset="0"/>
                <a:cs typeface="Times New Roman" panose="02020603050405020304" pitchFamily="18" charset="0"/>
              </a:rPr>
              <a:t>Schematic  representation  of  the  most  probable distribution  of particles among the quantized energy levels.</a:t>
            </a:r>
            <a:endParaRPr lang="zh-CN" altLang="en-US" sz="1800" dirty="0">
              <a:latin typeface="Times New Roman" panose="02020603050405020304" pitchFamily="18" charset="0"/>
              <a:cs typeface="Times New Roman" panose="02020603050405020304" pitchFamily="18" charset="0"/>
            </a:endParaRPr>
          </a:p>
        </p:txBody>
      </p:sp>
      <p:graphicFrame>
        <p:nvGraphicFramePr>
          <p:cNvPr id="16" name="对象 15"/>
          <p:cNvGraphicFramePr>
            <a:graphicFrameLocks noChangeAspect="1"/>
          </p:cNvGraphicFramePr>
          <p:nvPr/>
        </p:nvGraphicFramePr>
        <p:xfrm>
          <a:off x="1387476" y="3737872"/>
          <a:ext cx="854635" cy="660400"/>
        </p:xfrm>
        <a:graphic>
          <a:graphicData uri="http://schemas.openxmlformats.org/presentationml/2006/ole">
            <mc:AlternateContent xmlns:mc="http://schemas.openxmlformats.org/markup-compatibility/2006">
              <mc:Choice xmlns:v="urn:schemas-microsoft-com:vml" Requires="v">
                <p:oleObj name="Equation" r:id="rId5" imgW="558720" imgH="431640" progId="Equation.DSMT4">
                  <p:embed/>
                </p:oleObj>
              </mc:Choice>
              <mc:Fallback>
                <p:oleObj name="Equation" r:id="rId5" imgW="558720" imgH="431640" progId="Equation.DSMT4">
                  <p:embed/>
                  <p:pic>
                    <p:nvPicPr>
                      <p:cNvPr id="16" name="对象 15"/>
                      <p:cNvPicPr/>
                      <p:nvPr/>
                    </p:nvPicPr>
                    <p:blipFill>
                      <a:blip r:embed="rId6"/>
                      <a:stretch>
                        <a:fillRect/>
                      </a:stretch>
                    </p:blipFill>
                    <p:spPr>
                      <a:xfrm>
                        <a:off x="1387476" y="3737872"/>
                        <a:ext cx="854635" cy="6604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701579" y="5034941"/>
          <a:ext cx="3077573" cy="486686"/>
        </p:xfrm>
        <a:graphic>
          <a:graphicData uri="http://schemas.openxmlformats.org/presentationml/2006/ole">
            <mc:AlternateContent xmlns:mc="http://schemas.openxmlformats.org/markup-compatibility/2006">
              <mc:Choice xmlns:v="urn:schemas-microsoft-com:vml" Requires="v">
                <p:oleObj name="Equation" r:id="rId7" imgW="2730240" imgH="431640" progId="Equation.DSMT4">
                  <p:embed/>
                </p:oleObj>
              </mc:Choice>
              <mc:Fallback>
                <p:oleObj name="Equation" r:id="rId7" imgW="2730240" imgH="431640" progId="Equation.DSMT4">
                  <p:embed/>
                  <p:pic>
                    <p:nvPicPr>
                      <p:cNvPr id="17" name="对象 16"/>
                      <p:cNvPicPr/>
                      <p:nvPr/>
                    </p:nvPicPr>
                    <p:blipFill>
                      <a:blip r:embed="rId8"/>
                      <a:stretch>
                        <a:fillRect/>
                      </a:stretch>
                    </p:blipFill>
                    <p:spPr>
                      <a:xfrm>
                        <a:off x="701579" y="5034941"/>
                        <a:ext cx="3077573" cy="486686"/>
                      </a:xfrm>
                      <a:prstGeom prst="rect">
                        <a:avLst/>
                      </a:prstGeom>
                    </p:spPr>
                  </p:pic>
                </p:oleObj>
              </mc:Fallback>
            </mc:AlternateContent>
          </a:graphicData>
        </a:graphic>
      </p:graphicFrame>
      <p:sp>
        <p:nvSpPr>
          <p:cNvPr id="18" name="Text Box 22"/>
          <p:cNvSpPr txBox="1">
            <a:spLocks noChangeArrowheads="1"/>
          </p:cNvSpPr>
          <p:nvPr/>
        </p:nvSpPr>
        <p:spPr bwMode="auto">
          <a:xfrm>
            <a:off x="320580" y="4429020"/>
            <a:ext cx="38621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b="1" dirty="0" err="1">
                <a:ea typeface="宋体" charset="-122"/>
              </a:rPr>
              <a:t>k</a:t>
            </a:r>
            <a:r>
              <a:rPr lang="en-US" altLang="zh-CN" b="1" baseline="-25000" dirty="0" err="1">
                <a:ea typeface="宋体" charset="-122"/>
              </a:rPr>
              <a:t>B</a:t>
            </a:r>
            <a:r>
              <a:rPr lang="en-US" altLang="zh-CN" b="1" baseline="30000" dirty="0">
                <a:ea typeface="宋体" charset="-122"/>
              </a:rPr>
              <a:t>   </a:t>
            </a:r>
            <a:r>
              <a:rPr lang="en-US" altLang="zh-CN" b="1" dirty="0">
                <a:ea typeface="宋体" charset="-122"/>
              </a:rPr>
              <a:t> is the  Boltzmann constant</a:t>
            </a:r>
          </a:p>
        </p:txBody>
      </p:sp>
    </p:spTree>
    <p:extLst>
      <p:ext uri="{BB962C8B-B14F-4D97-AF65-F5344CB8AC3E}">
        <p14:creationId xmlns:p14="http://schemas.microsoft.com/office/powerpoint/2010/main" val="37468650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42503" y="19746"/>
            <a:ext cx="7178676" cy="996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Temperature Effect</a:t>
            </a:r>
            <a:endParaRPr lang="en-US" dirty="0">
              <a:solidFill>
                <a:srgbClr val="FF0000"/>
              </a:solidFill>
            </a:endParaRPr>
          </a:p>
        </p:txBody>
      </p:sp>
      <p:graphicFrame>
        <p:nvGraphicFramePr>
          <p:cNvPr id="5" name="对象 4"/>
          <p:cNvGraphicFramePr>
            <a:graphicFrameLocks noChangeAspect="1"/>
          </p:cNvGraphicFramePr>
          <p:nvPr/>
        </p:nvGraphicFramePr>
        <p:xfrm>
          <a:off x="882594" y="1394908"/>
          <a:ext cx="5373688" cy="390525"/>
        </p:xfrm>
        <a:graphic>
          <a:graphicData uri="http://schemas.openxmlformats.org/presentationml/2006/ole">
            <mc:AlternateContent xmlns:mc="http://schemas.openxmlformats.org/markup-compatibility/2006">
              <mc:Choice xmlns:v="urn:schemas-microsoft-com:vml" Requires="v">
                <p:oleObj name="Equation" r:id="rId2" imgW="3136900" imgH="228600" progId="Equation.3">
                  <p:embed/>
                </p:oleObj>
              </mc:Choice>
              <mc:Fallback>
                <p:oleObj name="Equation" r:id="rId2" imgW="3136900" imgH="228600" progId="Equation.3">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594" y="1394908"/>
                        <a:ext cx="537368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4609744" y="5029200"/>
          <a:ext cx="2049463" cy="708025"/>
        </p:xfrm>
        <a:graphic>
          <a:graphicData uri="http://schemas.openxmlformats.org/presentationml/2006/ole">
            <mc:AlternateContent xmlns:mc="http://schemas.openxmlformats.org/markup-compatibility/2006">
              <mc:Choice xmlns:v="urn:schemas-microsoft-com:vml" Requires="v">
                <p:oleObj name="Equation" r:id="rId4" imgW="1130040" imgH="393480" progId="Equation.DSMT4">
                  <p:embed/>
                </p:oleObj>
              </mc:Choice>
              <mc:Fallback>
                <p:oleObj name="Equation" r:id="rId4" imgW="1130040" imgH="393480" progId="Equation.DSMT4">
                  <p:embed/>
                  <p:pic>
                    <p:nvPicPr>
                      <p:cNvPr id="11" name="对象 10"/>
                      <p:cNvPicPr>
                        <a:picLocks noChangeAspect="1" noChangeArrowheads="1"/>
                      </p:cNvPicPr>
                      <p:nvPr/>
                    </p:nvPicPr>
                    <p:blipFill>
                      <a:blip r:embed="rId5"/>
                      <a:srcRect/>
                      <a:stretch>
                        <a:fillRect/>
                      </a:stretch>
                    </p:blipFill>
                    <p:spPr bwMode="auto">
                      <a:xfrm>
                        <a:off x="4609744" y="5029200"/>
                        <a:ext cx="2049463" cy="708025"/>
                      </a:xfrm>
                      <a:prstGeom prst="rect">
                        <a:avLst/>
                      </a:prstGeom>
                      <a:solidFill>
                        <a:schemeClr val="accent4">
                          <a:lumMod val="20000"/>
                          <a:lumOff val="80000"/>
                        </a:schemeClr>
                      </a:solidFill>
                      <a:ln w="19050">
                        <a:solidFill>
                          <a:srgbClr val="0070C0"/>
                        </a:solidFill>
                      </a:ln>
                    </p:spPr>
                  </p:pic>
                </p:oleObj>
              </mc:Fallback>
            </mc:AlternateContent>
          </a:graphicData>
        </a:graphic>
      </p:graphicFrame>
      <p:sp>
        <p:nvSpPr>
          <p:cNvPr id="17" name="Text Box 20"/>
          <p:cNvSpPr txBox="1">
            <a:spLocks noChangeArrowheads="1"/>
          </p:cNvSpPr>
          <p:nvPr/>
        </p:nvSpPr>
        <p:spPr bwMode="auto">
          <a:xfrm>
            <a:off x="592138" y="5910263"/>
            <a:ext cx="80352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charset="-122"/>
              </a:rPr>
              <a:t>Higher temperature, higher energy levels become more populated, so the U increases</a:t>
            </a:r>
          </a:p>
        </p:txBody>
      </p:sp>
      <p:graphicFrame>
        <p:nvGraphicFramePr>
          <p:cNvPr id="4" name="对象 3"/>
          <p:cNvGraphicFramePr>
            <a:graphicFrameLocks noChangeAspect="1"/>
          </p:cNvGraphicFramePr>
          <p:nvPr/>
        </p:nvGraphicFramePr>
        <p:xfrm>
          <a:off x="6629400" y="1133139"/>
          <a:ext cx="2109958" cy="922629"/>
        </p:xfrm>
        <a:graphic>
          <a:graphicData uri="http://schemas.openxmlformats.org/presentationml/2006/ole">
            <mc:AlternateContent xmlns:mc="http://schemas.openxmlformats.org/markup-compatibility/2006">
              <mc:Choice xmlns:v="urn:schemas-microsoft-com:vml" Requires="v">
                <p:oleObj name="Equation" r:id="rId6" imgW="901440" imgH="393480" progId="Equation.DSMT4">
                  <p:embed/>
                </p:oleObj>
              </mc:Choice>
              <mc:Fallback>
                <p:oleObj name="Equation" r:id="rId6" imgW="901440" imgH="393480" progId="Equation.DSMT4">
                  <p:embed/>
                  <p:pic>
                    <p:nvPicPr>
                      <p:cNvPr id="4" name="对象 3"/>
                      <p:cNvPicPr>
                        <a:picLocks noChangeAspect="1" noChangeArrowheads="1"/>
                      </p:cNvPicPr>
                      <p:nvPr/>
                    </p:nvPicPr>
                    <p:blipFill>
                      <a:blip r:embed="rId7"/>
                      <a:srcRect/>
                      <a:stretch>
                        <a:fillRect/>
                      </a:stretch>
                    </p:blipFill>
                    <p:spPr bwMode="auto">
                      <a:xfrm>
                        <a:off x="6629400" y="1133139"/>
                        <a:ext cx="2109958" cy="922629"/>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nvGraphicFramePr>
        <p:xfrm>
          <a:off x="817563" y="1905000"/>
          <a:ext cx="5357812" cy="2894013"/>
        </p:xfrm>
        <a:graphic>
          <a:graphicData uri="http://schemas.openxmlformats.org/presentationml/2006/ole">
            <mc:AlternateContent xmlns:mc="http://schemas.openxmlformats.org/markup-compatibility/2006">
              <mc:Choice xmlns:v="urn:schemas-microsoft-com:vml" Requires="v">
                <p:oleObj name="Equation" r:id="rId8" imgW="3377880" imgH="1828800" progId="Equation.DSMT4">
                  <p:embed/>
                </p:oleObj>
              </mc:Choice>
              <mc:Fallback>
                <p:oleObj name="Equation" r:id="rId8" imgW="3377880" imgH="1828800" progId="Equation.DSMT4">
                  <p:embed/>
                  <p:pic>
                    <p:nvPicPr>
                      <p:cNvPr id="9" name="对象 8"/>
                      <p:cNvPicPr>
                        <a:picLocks noChangeAspect="1" noChangeArrowheads="1"/>
                      </p:cNvPicPr>
                      <p:nvPr/>
                    </p:nvPicPr>
                    <p:blipFill>
                      <a:blip r:embed="rId9"/>
                      <a:srcRect/>
                      <a:stretch>
                        <a:fillRect/>
                      </a:stretch>
                    </p:blipFill>
                    <p:spPr bwMode="auto">
                      <a:xfrm>
                        <a:off x="817563" y="1905000"/>
                        <a:ext cx="5357812" cy="2894013"/>
                      </a:xfrm>
                      <a:prstGeom prst="rect">
                        <a:avLst/>
                      </a:prstGeom>
                      <a:noFill/>
                      <a:ln>
                        <a:noFill/>
                      </a:ln>
                    </p:spPr>
                  </p:pic>
                </p:oleObj>
              </mc:Fallback>
            </mc:AlternateContent>
          </a:graphicData>
        </a:graphic>
      </p:graphicFrame>
      <p:graphicFrame>
        <p:nvGraphicFramePr>
          <p:cNvPr id="20" name="对象 19"/>
          <p:cNvGraphicFramePr>
            <a:graphicFrameLocks noChangeAspect="1"/>
          </p:cNvGraphicFramePr>
          <p:nvPr/>
        </p:nvGraphicFramePr>
        <p:xfrm>
          <a:off x="1267183" y="5105400"/>
          <a:ext cx="2477729" cy="609600"/>
        </p:xfrm>
        <a:graphic>
          <a:graphicData uri="http://schemas.openxmlformats.org/presentationml/2006/ole">
            <mc:AlternateContent xmlns:mc="http://schemas.openxmlformats.org/markup-compatibility/2006">
              <mc:Choice xmlns:v="urn:schemas-microsoft-com:vml" Requires="v">
                <p:oleObj name="Equation" r:id="rId10" imgW="1600200" imgH="393480" progId="Equation.DSMT4">
                  <p:embed/>
                </p:oleObj>
              </mc:Choice>
              <mc:Fallback>
                <p:oleObj name="Equation" r:id="rId10" imgW="1600200" imgH="393480" progId="Equation.DSMT4">
                  <p:embed/>
                  <p:pic>
                    <p:nvPicPr>
                      <p:cNvPr id="20" name="对象 19"/>
                      <p:cNvPicPr/>
                      <p:nvPr/>
                    </p:nvPicPr>
                    <p:blipFill>
                      <a:blip r:embed="rId11"/>
                      <a:stretch>
                        <a:fillRect/>
                      </a:stretch>
                    </p:blipFill>
                    <p:spPr>
                      <a:xfrm>
                        <a:off x="1267183" y="5105400"/>
                        <a:ext cx="2477729" cy="609600"/>
                      </a:xfrm>
                      <a:prstGeom prst="rect">
                        <a:avLst/>
                      </a:prstGeom>
                    </p:spPr>
                  </p:pic>
                </p:oleObj>
              </mc:Fallback>
            </mc:AlternateContent>
          </a:graphicData>
        </a:graphic>
      </p:graphicFrame>
    </p:spTree>
    <p:extLst>
      <p:ext uri="{BB962C8B-B14F-4D97-AF65-F5344CB8AC3E}">
        <p14:creationId xmlns:p14="http://schemas.microsoft.com/office/powerpoint/2010/main" val="28445770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87006" y="7937"/>
            <a:ext cx="7178676" cy="996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Boltzmann Equation</a:t>
            </a:r>
            <a:endParaRPr lang="en-US" dirty="0">
              <a:solidFill>
                <a:srgbClr val="FF0000"/>
              </a:solidFill>
            </a:endParaRPr>
          </a:p>
        </p:txBody>
      </p:sp>
      <p:sp>
        <p:nvSpPr>
          <p:cNvPr id="12" name="Text Box 17"/>
          <p:cNvSpPr txBox="1">
            <a:spLocks noChangeArrowheads="1"/>
          </p:cNvSpPr>
          <p:nvPr/>
        </p:nvSpPr>
        <p:spPr bwMode="auto">
          <a:xfrm>
            <a:off x="307975" y="1624704"/>
            <a:ext cx="83324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charset="-122"/>
              </a:rPr>
              <a:t>The system of </a:t>
            </a:r>
            <a:r>
              <a:rPr lang="en-US" altLang="zh-CN" sz="1800" b="1" i="1" dirty="0">
                <a:solidFill>
                  <a:srgbClr val="FF0000"/>
                </a:solidFill>
                <a:ea typeface="宋体" charset="-122"/>
              </a:rPr>
              <a:t>n</a:t>
            </a:r>
            <a:r>
              <a:rPr lang="en-US" altLang="zh-CN" sz="1800" dirty="0">
                <a:ea typeface="宋体" charset="-122"/>
              </a:rPr>
              <a:t> particles and heat bath with fixed </a:t>
            </a:r>
            <a:r>
              <a:rPr lang="en-US" altLang="zh-CN" sz="1800" b="1" i="1" dirty="0">
                <a:solidFill>
                  <a:srgbClr val="FF0000"/>
                </a:solidFill>
                <a:ea typeface="宋体" charset="-122"/>
              </a:rPr>
              <a:t>U</a:t>
            </a:r>
            <a:r>
              <a:rPr lang="en-US" altLang="zh-CN" sz="1800" dirty="0">
                <a:ea typeface="宋体" charset="-122"/>
              </a:rPr>
              <a:t>, </a:t>
            </a:r>
            <a:r>
              <a:rPr lang="en-US" altLang="zh-CN" sz="1800" b="1" i="1" dirty="0">
                <a:solidFill>
                  <a:srgbClr val="FF0000"/>
                </a:solidFill>
                <a:ea typeface="宋体" charset="-122"/>
              </a:rPr>
              <a:t>V </a:t>
            </a:r>
            <a:r>
              <a:rPr lang="en-US" altLang="zh-CN" sz="1800" dirty="0">
                <a:ea typeface="宋体" charset="-122"/>
              </a:rPr>
              <a:t>and </a:t>
            </a:r>
            <a:r>
              <a:rPr lang="en-US" altLang="zh-CN" sz="1800" b="1" i="1" dirty="0">
                <a:solidFill>
                  <a:srgbClr val="FF0000"/>
                </a:solidFill>
                <a:ea typeface="宋体" charset="-122"/>
              </a:rPr>
              <a:t>n </a:t>
            </a:r>
            <a:r>
              <a:rPr lang="en-US" altLang="zh-CN" sz="1800" dirty="0">
                <a:ea typeface="宋体" charset="-122"/>
              </a:rPr>
              <a:t>are in thermal equilibrium</a:t>
            </a:r>
          </a:p>
        </p:txBody>
      </p:sp>
      <p:sp>
        <p:nvSpPr>
          <p:cNvPr id="14" name="Text Box 20"/>
          <p:cNvSpPr txBox="1">
            <a:spLocks noChangeArrowheads="1"/>
          </p:cNvSpPr>
          <p:nvPr/>
        </p:nvSpPr>
        <p:spPr bwMode="auto">
          <a:xfrm>
            <a:off x="524318" y="3021704"/>
            <a:ext cx="65053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charset="-122"/>
              </a:rPr>
              <a:t>Now let small amount of heat flow to the system, the </a:t>
            </a:r>
            <a:r>
              <a:rPr lang="en-US" altLang="zh-CN" sz="1800" dirty="0">
                <a:ea typeface="宋体" charset="-122"/>
                <a:sym typeface="Symbol" pitchFamily="18" charset="2"/>
              </a:rPr>
              <a:t> will change:</a:t>
            </a:r>
            <a:endParaRPr lang="en-US" altLang="zh-CN" sz="1800" dirty="0">
              <a:ea typeface="宋体" charset="-122"/>
            </a:endParaRPr>
          </a:p>
        </p:txBody>
      </p:sp>
      <p:sp>
        <p:nvSpPr>
          <p:cNvPr id="18" name="Text Box 25"/>
          <p:cNvSpPr txBox="1">
            <a:spLocks noChangeArrowheads="1"/>
          </p:cNvSpPr>
          <p:nvPr/>
        </p:nvSpPr>
        <p:spPr bwMode="auto">
          <a:xfrm>
            <a:off x="971550" y="4350442"/>
            <a:ext cx="26404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charset="-122"/>
                <a:sym typeface="Symbol" pitchFamily="18" charset="2"/>
              </a:rPr>
              <a:t>q = </a:t>
            </a:r>
            <a:r>
              <a:rPr lang="en-US" altLang="zh-CN" sz="1800" dirty="0" err="1">
                <a:ea typeface="宋体" charset="-122"/>
                <a:sym typeface="Symbol" pitchFamily="18" charset="2"/>
              </a:rPr>
              <a:t>dU</a:t>
            </a:r>
            <a:r>
              <a:rPr lang="en-US" altLang="zh-CN" sz="1800" dirty="0">
                <a:ea typeface="宋体" charset="-122"/>
                <a:sym typeface="Symbol" pitchFamily="18" charset="2"/>
              </a:rPr>
              <a:t>, constant volume:</a:t>
            </a:r>
            <a:endParaRPr lang="en-US" altLang="zh-CN" sz="1800" dirty="0">
              <a:ea typeface="宋体" charset="-122"/>
            </a:endParaRPr>
          </a:p>
        </p:txBody>
      </p:sp>
      <p:sp>
        <p:nvSpPr>
          <p:cNvPr id="20" name="Text Box 28"/>
          <p:cNvSpPr txBox="1">
            <a:spLocks noChangeArrowheads="1"/>
          </p:cNvSpPr>
          <p:nvPr/>
        </p:nvSpPr>
        <p:spPr bwMode="auto">
          <a:xfrm>
            <a:off x="4980366" y="4383224"/>
            <a:ext cx="996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err="1">
                <a:ea typeface="宋体" charset="-122"/>
              </a:rPr>
              <a:t>dS</a:t>
            </a:r>
            <a:r>
              <a:rPr lang="en-US" altLang="zh-CN" dirty="0">
                <a:ea typeface="宋体" charset="-122"/>
              </a:rPr>
              <a:t> = </a:t>
            </a:r>
            <a:r>
              <a:rPr lang="en-US" altLang="zh-CN" dirty="0">
                <a:ea typeface="宋体" charset="-122"/>
                <a:sym typeface="Symbol" pitchFamily="18" charset="2"/>
              </a:rPr>
              <a:t>q/T</a:t>
            </a:r>
            <a:endParaRPr lang="en-US" altLang="zh-CN" dirty="0">
              <a:ea typeface="宋体" charset="-122"/>
            </a:endParaRPr>
          </a:p>
        </p:txBody>
      </p:sp>
      <p:sp>
        <p:nvSpPr>
          <p:cNvPr id="21" name="Freeform 31"/>
          <p:cNvSpPr>
            <a:spLocks/>
          </p:cNvSpPr>
          <p:nvPr/>
        </p:nvSpPr>
        <p:spPr bwMode="auto">
          <a:xfrm>
            <a:off x="2224131" y="5094554"/>
            <a:ext cx="1143000" cy="558800"/>
          </a:xfrm>
          <a:custGeom>
            <a:avLst/>
            <a:gdLst>
              <a:gd name="T0" fmla="*/ 0 w 720"/>
              <a:gd name="T1" fmla="*/ 16 h 352"/>
              <a:gd name="T2" fmla="*/ 288 w 720"/>
              <a:gd name="T3" fmla="*/ 256 h 352"/>
              <a:gd name="T4" fmla="*/ 288 w 720"/>
              <a:gd name="T5" fmla="*/ 16 h 352"/>
              <a:gd name="T6" fmla="*/ 720 w 720"/>
              <a:gd name="T7" fmla="*/ 352 h 352"/>
              <a:gd name="T8" fmla="*/ 0 60000 65536"/>
              <a:gd name="T9" fmla="*/ 0 60000 65536"/>
              <a:gd name="T10" fmla="*/ 0 60000 65536"/>
              <a:gd name="T11" fmla="*/ 0 60000 65536"/>
              <a:gd name="T12" fmla="*/ 0 w 720"/>
              <a:gd name="T13" fmla="*/ 0 h 352"/>
              <a:gd name="T14" fmla="*/ 720 w 720"/>
              <a:gd name="T15" fmla="*/ 352 h 352"/>
            </a:gdLst>
            <a:ahLst/>
            <a:cxnLst>
              <a:cxn ang="T8">
                <a:pos x="T0" y="T1"/>
              </a:cxn>
              <a:cxn ang="T9">
                <a:pos x="T2" y="T3"/>
              </a:cxn>
              <a:cxn ang="T10">
                <a:pos x="T4" y="T5"/>
              </a:cxn>
              <a:cxn ang="T11">
                <a:pos x="T6" y="T7"/>
              </a:cxn>
            </a:cxnLst>
            <a:rect l="T12" t="T13" r="T14" b="T15"/>
            <a:pathLst>
              <a:path w="720" h="352">
                <a:moveTo>
                  <a:pt x="0" y="16"/>
                </a:moveTo>
                <a:cubicBezTo>
                  <a:pt x="120" y="136"/>
                  <a:pt x="240" y="256"/>
                  <a:pt x="288" y="256"/>
                </a:cubicBezTo>
                <a:cubicBezTo>
                  <a:pt x="336" y="256"/>
                  <a:pt x="216" y="0"/>
                  <a:pt x="288" y="16"/>
                </a:cubicBezTo>
                <a:cubicBezTo>
                  <a:pt x="360" y="32"/>
                  <a:pt x="540" y="192"/>
                  <a:pt x="720" y="352"/>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endParaRPr lang="zh-CN" altLang="zh-CN"/>
          </a:p>
        </p:txBody>
      </p:sp>
      <p:sp>
        <p:nvSpPr>
          <p:cNvPr id="22" name="Text Box 30"/>
          <p:cNvSpPr txBox="1">
            <a:spLocks noChangeArrowheads="1"/>
          </p:cNvSpPr>
          <p:nvPr/>
        </p:nvSpPr>
        <p:spPr bwMode="auto">
          <a:xfrm>
            <a:off x="1041400" y="4977033"/>
            <a:ext cx="1244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charset="-122"/>
              </a:rPr>
              <a:t>Boltzmann </a:t>
            </a:r>
          </a:p>
          <a:p>
            <a:pPr eaLnBrk="1" hangingPunct="1"/>
            <a:r>
              <a:rPr lang="en-US" altLang="zh-CN" sz="1800" dirty="0">
                <a:ea typeface="宋体" charset="-122"/>
              </a:rPr>
              <a:t>equation</a:t>
            </a:r>
          </a:p>
        </p:txBody>
      </p:sp>
      <p:pic>
        <p:nvPicPr>
          <p:cNvPr id="23" name="image282.png"/>
          <p:cNvPicPr/>
          <p:nvPr/>
        </p:nvPicPr>
        <p:blipFill>
          <a:blip r:embed="rId3" cstate="print"/>
          <a:stretch>
            <a:fillRect/>
          </a:stretch>
        </p:blipFill>
        <p:spPr>
          <a:xfrm>
            <a:off x="2286000" y="2103534"/>
            <a:ext cx="4953000" cy="918170"/>
          </a:xfrm>
          <a:prstGeom prst="rect">
            <a:avLst/>
          </a:prstGeom>
        </p:spPr>
      </p:pic>
      <p:sp>
        <p:nvSpPr>
          <p:cNvPr id="2" name="TextBox 1"/>
          <p:cNvSpPr txBox="1"/>
          <p:nvPr/>
        </p:nvSpPr>
        <p:spPr>
          <a:xfrm>
            <a:off x="3530238" y="5928678"/>
            <a:ext cx="1137876" cy="369332"/>
          </a:xfrm>
          <a:prstGeom prst="rect">
            <a:avLst/>
          </a:prstGeom>
          <a:noFill/>
        </p:spPr>
        <p:txBody>
          <a:bodyPr wrap="none" rtlCol="0">
            <a:spAutoFit/>
          </a:bodyPr>
          <a:lstStyle/>
          <a:p>
            <a:r>
              <a:rPr lang="en-US" altLang="zh-CN" dirty="0"/>
              <a:t>Entropy: S</a:t>
            </a:r>
            <a:endParaRPr lang="zh-CN" altLang="en-US" dirty="0"/>
          </a:p>
        </p:txBody>
      </p:sp>
      <p:sp>
        <p:nvSpPr>
          <p:cNvPr id="5" name="TextBox 4"/>
          <p:cNvSpPr txBox="1"/>
          <p:nvPr/>
        </p:nvSpPr>
        <p:spPr>
          <a:xfrm>
            <a:off x="3505200" y="6233772"/>
            <a:ext cx="2742289" cy="369332"/>
          </a:xfrm>
          <a:prstGeom prst="rect">
            <a:avLst/>
          </a:prstGeom>
          <a:noFill/>
        </p:spPr>
        <p:txBody>
          <a:bodyPr wrap="none" rtlCol="0">
            <a:spAutoFit/>
          </a:bodyPr>
          <a:lstStyle/>
          <a:p>
            <a:r>
              <a:rPr lang="en-US" altLang="zh-CN" dirty="0"/>
              <a:t>Number of arrangement: </a:t>
            </a:r>
            <a:r>
              <a:rPr lang="el-GR" altLang="zh-CN" dirty="0">
                <a:latin typeface="Times New Roman"/>
                <a:cs typeface="Times New Roman"/>
              </a:rPr>
              <a:t>Ω</a:t>
            </a:r>
            <a:endParaRPr lang="zh-CN" altLang="en-US" dirty="0"/>
          </a:p>
        </p:txBody>
      </p:sp>
      <p:graphicFrame>
        <p:nvGraphicFramePr>
          <p:cNvPr id="7" name="对象 6"/>
          <p:cNvGraphicFramePr>
            <a:graphicFrameLocks noChangeAspect="1"/>
          </p:cNvGraphicFramePr>
          <p:nvPr/>
        </p:nvGraphicFramePr>
        <p:xfrm>
          <a:off x="3899268" y="3439292"/>
          <a:ext cx="1149821" cy="601445"/>
        </p:xfrm>
        <a:graphic>
          <a:graphicData uri="http://schemas.openxmlformats.org/presentationml/2006/ole">
            <mc:AlternateContent xmlns:mc="http://schemas.openxmlformats.org/markup-compatibility/2006">
              <mc:Choice xmlns:v="urn:schemas-microsoft-com:vml" Requires="v">
                <p:oleObj name="Equation" r:id="rId4" imgW="825480" imgH="431640" progId="Equation.DSMT4">
                  <p:embed/>
                </p:oleObj>
              </mc:Choice>
              <mc:Fallback>
                <p:oleObj name="Equation" r:id="rId4" imgW="825480" imgH="431640" progId="Equation.DSMT4">
                  <p:embed/>
                  <p:pic>
                    <p:nvPicPr>
                      <p:cNvPr id="7" name="对象 6"/>
                      <p:cNvPicPr/>
                      <p:nvPr/>
                    </p:nvPicPr>
                    <p:blipFill>
                      <a:blip r:embed="rId5"/>
                      <a:stretch>
                        <a:fillRect/>
                      </a:stretch>
                    </p:blipFill>
                    <p:spPr>
                      <a:xfrm>
                        <a:off x="3899268" y="3439292"/>
                        <a:ext cx="1149821" cy="601445"/>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657600" y="4250668"/>
          <a:ext cx="1150938" cy="601662"/>
        </p:xfrm>
        <a:graphic>
          <a:graphicData uri="http://schemas.openxmlformats.org/presentationml/2006/ole">
            <mc:AlternateContent xmlns:mc="http://schemas.openxmlformats.org/markup-compatibility/2006">
              <mc:Choice xmlns:v="urn:schemas-microsoft-com:vml" Requires="v">
                <p:oleObj name="Equation" r:id="rId6" imgW="825480" imgH="431640" progId="Equation.DSMT4">
                  <p:embed/>
                </p:oleObj>
              </mc:Choice>
              <mc:Fallback>
                <p:oleObj name="Equation" r:id="rId6" imgW="825480" imgH="431640" progId="Equation.DSMT4">
                  <p:embed/>
                  <p:pic>
                    <p:nvPicPr>
                      <p:cNvPr id="8" name="对象 7"/>
                      <p:cNvPicPr>
                        <a:picLocks noChangeAspect="1" noChangeArrowheads="1"/>
                      </p:cNvPicPr>
                      <p:nvPr/>
                    </p:nvPicPr>
                    <p:blipFill>
                      <a:blip r:embed="rId7"/>
                      <a:srcRect/>
                      <a:stretch>
                        <a:fillRect/>
                      </a:stretch>
                    </p:blipFill>
                    <p:spPr bwMode="auto">
                      <a:xfrm>
                        <a:off x="3657600" y="4250668"/>
                        <a:ext cx="1150938"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3672166" y="5124317"/>
          <a:ext cx="1222375" cy="636587"/>
        </p:xfrm>
        <a:graphic>
          <a:graphicData uri="http://schemas.openxmlformats.org/presentationml/2006/ole">
            <mc:AlternateContent xmlns:mc="http://schemas.openxmlformats.org/markup-compatibility/2006">
              <mc:Choice xmlns:v="urn:schemas-microsoft-com:vml" Requires="v">
                <p:oleObj name="Equation" r:id="rId8" imgW="876240" imgH="457200" progId="Equation.DSMT4">
                  <p:embed/>
                </p:oleObj>
              </mc:Choice>
              <mc:Fallback>
                <p:oleObj name="Equation" r:id="rId8" imgW="876240" imgH="457200" progId="Equation.DSMT4">
                  <p:embed/>
                  <p:pic>
                    <p:nvPicPr>
                      <p:cNvPr id="10" name="对象 9"/>
                      <p:cNvPicPr>
                        <a:picLocks noChangeAspect="1" noChangeArrowheads="1"/>
                      </p:cNvPicPr>
                      <p:nvPr/>
                    </p:nvPicPr>
                    <p:blipFill>
                      <a:blip r:embed="rId9"/>
                      <a:srcRect/>
                      <a:stretch>
                        <a:fillRect/>
                      </a:stretch>
                    </p:blipFill>
                    <p:spPr bwMode="auto">
                      <a:xfrm>
                        <a:off x="3672166" y="5124317"/>
                        <a:ext cx="1222375" cy="636587"/>
                      </a:xfrm>
                      <a:prstGeom prst="rect">
                        <a:avLst/>
                      </a:prstGeom>
                      <a:noFill/>
                      <a:ln>
                        <a:solidFill>
                          <a:srgbClr val="FF0000"/>
                        </a:solidFill>
                      </a:ln>
                    </p:spPr>
                  </p:pic>
                </p:oleObj>
              </mc:Fallback>
            </mc:AlternateContent>
          </a:graphicData>
        </a:graphic>
      </p:graphicFrame>
      <p:pic>
        <p:nvPicPr>
          <p:cNvPr id="13389" name="Picture 77" descr="Image result for Boltzman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429" y="3391036"/>
            <a:ext cx="1995986" cy="2658291"/>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p:cNvSpPr txBox="1"/>
          <p:nvPr/>
        </p:nvSpPr>
        <p:spPr>
          <a:xfrm>
            <a:off x="7449032" y="6368542"/>
            <a:ext cx="1191352" cy="369332"/>
          </a:xfrm>
          <a:prstGeom prst="rect">
            <a:avLst/>
          </a:prstGeom>
          <a:noFill/>
        </p:spPr>
        <p:txBody>
          <a:bodyPr wrap="none" rtlCol="0">
            <a:spAutoFit/>
          </a:bodyPr>
          <a:lstStyle/>
          <a:p>
            <a:r>
              <a:rPr lang="en-US" altLang="zh-CN" dirty="0"/>
              <a:t>1844-1906</a:t>
            </a:r>
            <a:endParaRPr lang="zh-CN" altLang="en-US" dirty="0"/>
          </a:p>
        </p:txBody>
      </p:sp>
      <p:sp>
        <p:nvSpPr>
          <p:cNvPr id="29" name="矩形 28"/>
          <p:cNvSpPr/>
          <p:nvPr/>
        </p:nvSpPr>
        <p:spPr>
          <a:xfrm>
            <a:off x="7017433" y="5992073"/>
            <a:ext cx="1912703" cy="369332"/>
          </a:xfrm>
          <a:prstGeom prst="rect">
            <a:avLst/>
          </a:prstGeom>
        </p:spPr>
        <p:txBody>
          <a:bodyPr wrap="none">
            <a:spAutoFit/>
          </a:bodyPr>
          <a:lstStyle/>
          <a:p>
            <a:r>
              <a:rPr lang="en-US" altLang="zh-CN" dirty="0"/>
              <a:t>Ludwig Boltzmann</a:t>
            </a:r>
            <a:endParaRPr lang="zh-CN" altLang="en-US" dirty="0"/>
          </a:p>
        </p:txBody>
      </p:sp>
    </p:spTree>
    <p:extLst>
      <p:ext uri="{BB962C8B-B14F-4D97-AF65-F5344CB8AC3E}">
        <p14:creationId xmlns:p14="http://schemas.microsoft.com/office/powerpoint/2010/main" val="42821847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04875" y="9496"/>
            <a:ext cx="7178676" cy="1038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err="1">
                <a:solidFill>
                  <a:srgbClr val="FF0000"/>
                </a:solidFill>
                <a:effectLst>
                  <a:outerShdw blurRad="38100" dist="38100" dir="2700000" algn="tl">
                    <a:srgbClr val="000000">
                      <a:alpha val="43137"/>
                    </a:srgbClr>
                  </a:outerShdw>
                </a:effectLst>
                <a:latin typeface="Arial" charset="0"/>
                <a:cs typeface="Arial" charset="0"/>
              </a:rPr>
              <a:t>Config</a:t>
            </a:r>
            <a:r>
              <a:rPr lang="en-US" altLang="zh-CN" b="1" dirty="0" err="1">
                <a:solidFill>
                  <a:srgbClr val="FF0000"/>
                </a:solidFill>
                <a:effectLst>
                  <a:outerShdw blurRad="38100" dist="38100" dir="2700000" algn="tl">
                    <a:srgbClr val="000000">
                      <a:alpha val="43137"/>
                    </a:srgbClr>
                  </a:outerShdw>
                </a:effectLst>
                <a:latin typeface="Arial" charset="0"/>
                <a:cs typeface="Arial" charset="0"/>
              </a:rPr>
              <a:t>u</a:t>
            </a:r>
            <a:r>
              <a:rPr lang="en-US" b="1" dirty="0" err="1">
                <a:solidFill>
                  <a:srgbClr val="FF0000"/>
                </a:solidFill>
                <a:effectLst>
                  <a:outerShdw blurRad="38100" dist="38100" dir="2700000" algn="tl">
                    <a:srgbClr val="000000">
                      <a:alpha val="43137"/>
                    </a:srgbClr>
                  </a:outerShdw>
                </a:effectLst>
                <a:latin typeface="Arial" charset="0"/>
                <a:cs typeface="Arial" charset="0"/>
              </a:rPr>
              <a:t>rational</a:t>
            </a:r>
            <a:r>
              <a:rPr lang="en-US" b="1" dirty="0">
                <a:solidFill>
                  <a:srgbClr val="FF0000"/>
                </a:solidFill>
                <a:effectLst>
                  <a:outerShdw blurRad="38100" dist="38100" dir="2700000" algn="tl">
                    <a:srgbClr val="000000">
                      <a:alpha val="43137"/>
                    </a:srgbClr>
                  </a:outerShdw>
                </a:effectLst>
                <a:latin typeface="Arial" charset="0"/>
                <a:cs typeface="Arial" charset="0"/>
              </a:rPr>
              <a:t> Entropy </a:t>
            </a:r>
            <a:endParaRPr lang="en-US" dirty="0">
              <a:solidFill>
                <a:srgbClr val="FF0000"/>
              </a:solidFill>
            </a:endParaRPr>
          </a:p>
        </p:txBody>
      </p:sp>
      <p:sp>
        <p:nvSpPr>
          <p:cNvPr id="14" name="Text Box 5"/>
          <p:cNvSpPr txBox="1">
            <a:spLocks noChangeArrowheads="1"/>
          </p:cNvSpPr>
          <p:nvPr/>
        </p:nvSpPr>
        <p:spPr bwMode="auto">
          <a:xfrm>
            <a:off x="1676400" y="1524000"/>
            <a:ext cx="57165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charset="-122"/>
              </a:rPr>
              <a:t>A + B (unmixed)  </a:t>
            </a:r>
            <a:r>
              <a:rPr lang="en-US" altLang="zh-CN" sz="1800" dirty="0">
                <a:ea typeface="宋体" charset="-122"/>
                <a:sym typeface="Symbol" pitchFamily="18" charset="2"/>
              </a:rPr>
              <a:t> A + B (mixed) at </a:t>
            </a:r>
            <a:r>
              <a:rPr lang="en-US" altLang="zh-CN" sz="1800" b="1" i="1" dirty="0">
                <a:ea typeface="宋体" charset="-122"/>
                <a:sym typeface="Symbol" pitchFamily="18" charset="2"/>
              </a:rPr>
              <a:t>constant U, V and n</a:t>
            </a:r>
          </a:p>
        </p:txBody>
      </p:sp>
      <p:sp>
        <p:nvSpPr>
          <p:cNvPr id="15" name="Text Box 6"/>
          <p:cNvSpPr txBox="1">
            <a:spLocks noChangeArrowheads="1"/>
          </p:cNvSpPr>
          <p:nvPr/>
        </p:nvSpPr>
        <p:spPr bwMode="auto">
          <a:xfrm>
            <a:off x="2071688" y="1960562"/>
            <a:ext cx="2422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a:ea typeface="宋体" charset="-122"/>
              </a:rPr>
              <a:t>(state 1)	             (state 2)</a:t>
            </a:r>
          </a:p>
        </p:txBody>
      </p:sp>
      <p:graphicFrame>
        <p:nvGraphicFramePr>
          <p:cNvPr id="2" name="对象 1"/>
          <p:cNvGraphicFramePr>
            <a:graphicFrameLocks noChangeAspect="1"/>
          </p:cNvGraphicFramePr>
          <p:nvPr/>
        </p:nvGraphicFramePr>
        <p:xfrm>
          <a:off x="1919287" y="2530475"/>
          <a:ext cx="990933" cy="271462"/>
        </p:xfrm>
        <a:graphic>
          <a:graphicData uri="http://schemas.openxmlformats.org/presentationml/2006/ole">
            <mc:AlternateContent xmlns:mc="http://schemas.openxmlformats.org/markup-compatibility/2006">
              <mc:Choice xmlns:v="urn:schemas-microsoft-com:vml" Requires="v">
                <p:oleObj name="Equation" r:id="rId2" imgW="647419" imgH="177723" progId="Equation.3">
                  <p:embed/>
                </p:oleObj>
              </mc:Choice>
              <mc:Fallback>
                <p:oleObj name="Equation" r:id="rId2" imgW="647419" imgH="177723" progId="Equation.3">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7" y="2530475"/>
                        <a:ext cx="990933" cy="271462"/>
                      </a:xfrm>
                      <a:prstGeom prst="rect">
                        <a:avLst/>
                      </a:prstGeom>
                      <a:noFill/>
                      <a:ln>
                        <a:noFill/>
                      </a:ln>
                      <a:effectLst/>
                    </p:spPr>
                  </p:pic>
                </p:oleObj>
              </mc:Fallback>
            </mc:AlternateContent>
          </a:graphicData>
        </a:graphic>
      </p:graphicFrame>
      <p:graphicFrame>
        <p:nvGraphicFramePr>
          <p:cNvPr id="4" name="对象 3"/>
          <p:cNvGraphicFramePr>
            <a:graphicFrameLocks noChangeAspect="1"/>
          </p:cNvGraphicFramePr>
          <p:nvPr/>
        </p:nvGraphicFramePr>
        <p:xfrm>
          <a:off x="3282950" y="2489200"/>
          <a:ext cx="2991385" cy="341312"/>
        </p:xfrm>
        <a:graphic>
          <a:graphicData uri="http://schemas.openxmlformats.org/presentationml/2006/ole">
            <mc:AlternateContent xmlns:mc="http://schemas.openxmlformats.org/markup-compatibility/2006">
              <mc:Choice xmlns:v="urn:schemas-microsoft-com:vml" Requires="v">
                <p:oleObj name="Equation" r:id="rId4" imgW="1892300" imgH="215900" progId="Equation.3">
                  <p:embed/>
                </p:oleObj>
              </mc:Choice>
              <mc:Fallback>
                <p:oleObj name="Equation" r:id="rId4" imgW="1892300" imgH="215900" progId="Equation.3">
                  <p:embed/>
                  <p:pic>
                    <p:nvPicPr>
                      <p:cNvPr id="4"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2950" y="2489200"/>
                        <a:ext cx="2991385" cy="341312"/>
                      </a:xfrm>
                      <a:prstGeom prst="rect">
                        <a:avLst/>
                      </a:prstGeom>
                      <a:noFill/>
                      <a:ln>
                        <a:noFill/>
                      </a:ln>
                      <a:effectLst/>
                    </p:spPr>
                  </p:pic>
                </p:oleObj>
              </mc:Fallback>
            </mc:AlternateContent>
          </a:graphicData>
        </a:graphic>
      </p:graphicFrame>
      <p:sp>
        <p:nvSpPr>
          <p:cNvPr id="19" name="Text Box 8"/>
          <p:cNvSpPr txBox="1">
            <a:spLocks noChangeArrowheads="1"/>
          </p:cNvSpPr>
          <p:nvPr/>
        </p:nvSpPr>
        <p:spPr bwMode="auto">
          <a:xfrm>
            <a:off x="1913731" y="3148013"/>
            <a:ext cx="11064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a:ea typeface="宋体" charset="-122"/>
              </a:rPr>
              <a:t>Total mix</a:t>
            </a:r>
          </a:p>
          <a:p>
            <a:pPr eaLnBrk="1" hangingPunct="1"/>
            <a:endParaRPr lang="en-US" altLang="zh-CN" dirty="0">
              <a:ea typeface="宋体" charset="-122"/>
            </a:endParaRPr>
          </a:p>
          <a:p>
            <a:pPr eaLnBrk="1" hangingPunct="1"/>
            <a:r>
              <a:rPr lang="en-US" altLang="zh-CN" dirty="0">
                <a:ea typeface="宋体" charset="-122"/>
              </a:rPr>
              <a:t>Before mix</a:t>
            </a:r>
          </a:p>
        </p:txBody>
      </p:sp>
      <p:graphicFrame>
        <p:nvGraphicFramePr>
          <p:cNvPr id="20" name="Object 9"/>
          <p:cNvGraphicFramePr>
            <a:graphicFrameLocks noChangeAspect="1"/>
          </p:cNvGraphicFramePr>
          <p:nvPr/>
        </p:nvGraphicFramePr>
        <p:xfrm>
          <a:off x="3380581" y="3073400"/>
          <a:ext cx="2227263" cy="552450"/>
        </p:xfrm>
        <a:graphic>
          <a:graphicData uri="http://schemas.openxmlformats.org/presentationml/2006/ole">
            <mc:AlternateContent xmlns:mc="http://schemas.openxmlformats.org/markup-compatibility/2006">
              <mc:Choice xmlns:v="urn:schemas-microsoft-com:vml" Requires="v">
                <p:oleObj name="Equation" r:id="rId6" imgW="1739880" imgH="431640" progId="Equation.3">
                  <p:embed/>
                </p:oleObj>
              </mc:Choice>
              <mc:Fallback>
                <p:oleObj name="Equation" r:id="rId6" imgW="1739880" imgH="431640" progId="Equation.3">
                  <p:embed/>
                  <p:pic>
                    <p:nvPicPr>
                      <p:cNvPr id="2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80581" y="3073400"/>
                        <a:ext cx="2227263"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0"/>
          <p:cNvGraphicFramePr>
            <a:graphicFrameLocks noChangeAspect="1"/>
          </p:cNvGraphicFramePr>
          <p:nvPr/>
        </p:nvGraphicFramePr>
        <p:xfrm>
          <a:off x="3541712" y="3697288"/>
          <a:ext cx="1236663" cy="276225"/>
        </p:xfrm>
        <a:graphic>
          <a:graphicData uri="http://schemas.openxmlformats.org/presentationml/2006/ole">
            <mc:AlternateContent xmlns:mc="http://schemas.openxmlformats.org/markup-compatibility/2006">
              <mc:Choice xmlns:v="urn:schemas-microsoft-com:vml" Requires="v">
                <p:oleObj name="Equation" r:id="rId8" imgW="965160" imgH="215640" progId="Equation.3">
                  <p:embed/>
                </p:oleObj>
              </mc:Choice>
              <mc:Fallback>
                <p:oleObj name="Equation" r:id="rId8" imgW="965160" imgH="215640" progId="Equation.3">
                  <p:embed/>
                  <p:pic>
                    <p:nvPicPr>
                      <p:cNvPr id="21"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1712" y="3697288"/>
                        <a:ext cx="1236663"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p:cNvGraphicFramePr>
            <a:graphicFrameLocks noChangeAspect="1"/>
          </p:cNvGraphicFramePr>
          <p:nvPr/>
        </p:nvGraphicFramePr>
        <p:xfrm>
          <a:off x="3281151" y="4213225"/>
          <a:ext cx="1787948" cy="646112"/>
        </p:xfrm>
        <a:graphic>
          <a:graphicData uri="http://schemas.openxmlformats.org/presentationml/2006/ole">
            <mc:AlternateContent xmlns:mc="http://schemas.openxmlformats.org/markup-compatibility/2006">
              <mc:Choice xmlns:v="urn:schemas-microsoft-com:vml" Requires="v">
                <p:oleObj name="Equation" r:id="rId10" imgW="1193800" imgH="431800" progId="Equation.3">
                  <p:embed/>
                </p:oleObj>
              </mc:Choice>
              <mc:Fallback>
                <p:oleObj name="Equation" r:id="rId10" imgW="1193800" imgH="431800" progId="Equation.3">
                  <p:embed/>
                  <p:pic>
                    <p:nvPicPr>
                      <p:cNvPr id="5" name="对象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1151" y="4213225"/>
                        <a:ext cx="1787948" cy="646112"/>
                      </a:xfrm>
                      <a:prstGeom prst="rect">
                        <a:avLst/>
                      </a:prstGeom>
                      <a:noFill/>
                      <a:ln>
                        <a:noFill/>
                      </a:ln>
                      <a:effectLst/>
                    </p:spPr>
                  </p:pic>
                </p:oleObj>
              </mc:Fallback>
            </mc:AlternateContent>
          </a:graphicData>
        </a:graphic>
      </p:graphicFrame>
      <p:graphicFrame>
        <p:nvGraphicFramePr>
          <p:cNvPr id="7" name="对象 6"/>
          <p:cNvGraphicFramePr>
            <a:graphicFrameLocks noChangeAspect="1"/>
          </p:cNvGraphicFramePr>
          <p:nvPr/>
        </p:nvGraphicFramePr>
        <p:xfrm>
          <a:off x="2057400" y="5113738"/>
          <a:ext cx="5462502" cy="407587"/>
        </p:xfrm>
        <a:graphic>
          <a:graphicData uri="http://schemas.openxmlformats.org/presentationml/2006/ole">
            <mc:AlternateContent xmlns:mc="http://schemas.openxmlformats.org/markup-compatibility/2006">
              <mc:Choice xmlns:v="urn:schemas-microsoft-com:vml" Requires="v">
                <p:oleObj name="Equation" r:id="rId12" imgW="3225800" imgH="241300" progId="Equation.3">
                  <p:embed/>
                </p:oleObj>
              </mc:Choice>
              <mc:Fallback>
                <p:oleObj name="Equation" r:id="rId12" imgW="3225800" imgH="241300" progId="Equation.3">
                  <p:embed/>
                  <p:pic>
                    <p:nvPicPr>
                      <p:cNvPr id="7" name="对象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7400" y="5113738"/>
                        <a:ext cx="5462502" cy="407587"/>
                      </a:xfrm>
                      <a:prstGeom prst="rect">
                        <a:avLst/>
                      </a:prstGeom>
                      <a:noFill/>
                      <a:ln>
                        <a:noFill/>
                      </a:ln>
                      <a:effectLst/>
                    </p:spPr>
                  </p:pic>
                </p:oleObj>
              </mc:Fallback>
            </mc:AlternateContent>
          </a:graphicData>
        </a:graphic>
      </p:graphicFrame>
      <p:graphicFrame>
        <p:nvGraphicFramePr>
          <p:cNvPr id="8" name="对象 7"/>
          <p:cNvGraphicFramePr>
            <a:graphicFrameLocks noChangeAspect="1"/>
          </p:cNvGraphicFramePr>
          <p:nvPr/>
        </p:nvGraphicFramePr>
        <p:xfrm>
          <a:off x="1981200" y="5638800"/>
          <a:ext cx="5604647" cy="685800"/>
        </p:xfrm>
        <a:graphic>
          <a:graphicData uri="http://schemas.openxmlformats.org/presentationml/2006/ole">
            <mc:AlternateContent xmlns:mc="http://schemas.openxmlformats.org/markup-compatibility/2006">
              <mc:Choice xmlns:v="urn:schemas-microsoft-com:vml" Requires="v">
                <p:oleObj name="Equation" r:id="rId14" imgW="3822700" imgH="469900" progId="Equation.3">
                  <p:embed/>
                </p:oleObj>
              </mc:Choice>
              <mc:Fallback>
                <p:oleObj name="Equation" r:id="rId14" imgW="3822700" imgH="469900" progId="Equation.3">
                  <p:embed/>
                  <p:pic>
                    <p:nvPicPr>
                      <p:cNvPr id="8" name="对象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81200" y="5638800"/>
                        <a:ext cx="5604647" cy="685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075242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46922" y="132521"/>
            <a:ext cx="4661854" cy="523220"/>
          </a:xfrm>
          <a:prstGeom prst="rect">
            <a:avLst/>
          </a:prstGeom>
          <a:noFill/>
        </p:spPr>
        <p:txBody>
          <a:bodyPr wrap="none" rtlCol="0">
            <a:spAutoFit/>
          </a:bodyPr>
          <a:lstStyle/>
          <a:p>
            <a:r>
              <a:rPr lang="en-US" altLang="zh-CN" sz="2800" dirty="0">
                <a:solidFill>
                  <a:srgbClr val="FF0000"/>
                </a:solidFill>
              </a:rPr>
              <a:t>Application</a:t>
            </a:r>
            <a:r>
              <a:rPr lang="zh-CN" altLang="en-US" sz="2800" dirty="0">
                <a:solidFill>
                  <a:srgbClr val="FF0000"/>
                </a:solidFill>
              </a:rPr>
              <a:t>：</a:t>
            </a:r>
            <a:r>
              <a:rPr lang="en-US" altLang="zh-CN" sz="2800" dirty="0" err="1">
                <a:solidFill>
                  <a:srgbClr val="FF0000"/>
                </a:solidFill>
              </a:rPr>
              <a:t>elasto-coloric</a:t>
            </a:r>
            <a:r>
              <a:rPr lang="en-US" altLang="zh-CN" sz="2800" dirty="0">
                <a:solidFill>
                  <a:srgbClr val="FF0000"/>
                </a:solidFill>
              </a:rPr>
              <a:t> </a:t>
            </a:r>
            <a:endParaRPr lang="zh-CN" altLang="en-US" sz="2800" dirty="0">
              <a:solidFill>
                <a:srgbClr val="FF0000"/>
              </a:solidFill>
            </a:endParaRPr>
          </a:p>
        </p:txBody>
      </p:sp>
      <p:pic>
        <p:nvPicPr>
          <p:cNvPr id="3" name="图片 2"/>
          <p:cNvPicPr>
            <a:picLocks noChangeAspect="1"/>
          </p:cNvPicPr>
          <p:nvPr/>
        </p:nvPicPr>
        <p:blipFill>
          <a:blip r:embed="rId3"/>
          <a:stretch>
            <a:fillRect/>
          </a:stretch>
        </p:blipFill>
        <p:spPr>
          <a:xfrm>
            <a:off x="616438" y="3762852"/>
            <a:ext cx="2120623" cy="2044762"/>
          </a:xfrm>
          <a:prstGeom prst="rect">
            <a:avLst/>
          </a:prstGeom>
        </p:spPr>
      </p:pic>
      <p:pic>
        <p:nvPicPr>
          <p:cNvPr id="5" name="图片 4"/>
          <p:cNvPicPr>
            <a:picLocks noChangeAspect="1"/>
          </p:cNvPicPr>
          <p:nvPr/>
        </p:nvPicPr>
        <p:blipFill>
          <a:blip r:embed="rId4"/>
          <a:stretch>
            <a:fillRect/>
          </a:stretch>
        </p:blipFill>
        <p:spPr>
          <a:xfrm>
            <a:off x="6491356" y="3762852"/>
            <a:ext cx="1921566" cy="2044762"/>
          </a:xfrm>
          <a:prstGeom prst="rect">
            <a:avLst/>
          </a:prstGeom>
        </p:spPr>
      </p:pic>
      <p:sp>
        <p:nvSpPr>
          <p:cNvPr id="6" name="矩形 5"/>
          <p:cNvSpPr/>
          <p:nvPr/>
        </p:nvSpPr>
        <p:spPr>
          <a:xfrm>
            <a:off x="220765" y="874710"/>
            <a:ext cx="8474766" cy="2308324"/>
          </a:xfrm>
          <a:prstGeom prst="rect">
            <a:avLst/>
          </a:prstGeom>
        </p:spPr>
        <p:txBody>
          <a:bodyPr wrap="square">
            <a:spAutoFit/>
          </a:bodyPr>
          <a:lstStyle/>
          <a:p>
            <a:r>
              <a:rPr lang="en-US" altLang="zh-CN" dirty="0"/>
              <a:t>Rapid stretching or </a:t>
            </a:r>
            <a:r>
              <a:rPr lang="en-US" altLang="zh-CN" dirty="0" err="1"/>
              <a:t>unstretching</a:t>
            </a:r>
            <a:r>
              <a:rPr lang="en-US" altLang="zh-CN" dirty="0"/>
              <a:t> of a wide rubber band is nearly isentropic/ adiabatic process </a:t>
            </a:r>
          </a:p>
          <a:p>
            <a:pPr marL="285750" indent="-285750">
              <a:buFont typeface="Arial" panose="020B0604020202020204" pitchFamily="34" charset="0"/>
              <a:buChar char="•"/>
            </a:pPr>
            <a:r>
              <a:rPr lang="en-US" altLang="zh-CN" dirty="0"/>
              <a:t>The stretching decreases the </a:t>
            </a:r>
            <a:r>
              <a:rPr lang="en-US" altLang="zh-CN" dirty="0" err="1"/>
              <a:t>configurational</a:t>
            </a:r>
            <a:r>
              <a:rPr lang="en-US" altLang="zh-CN" dirty="0"/>
              <a:t> entropy </a:t>
            </a:r>
            <a:r>
              <a:rPr lang="en-US" altLang="zh-CN" i="1" dirty="0" err="1"/>
              <a:t>S</a:t>
            </a:r>
            <a:r>
              <a:rPr lang="en-US" altLang="zh-CN" i="1" baseline="-25000" dirty="0" err="1"/>
              <a:t>conf</a:t>
            </a:r>
            <a:r>
              <a:rPr lang="en-US" altLang="zh-CN" i="1" baseline="-25000" dirty="0"/>
              <a:t> </a:t>
            </a:r>
            <a:r>
              <a:rPr lang="en-US" altLang="zh-CN" dirty="0"/>
              <a:t>(molecular structure becomes more ordered)</a:t>
            </a:r>
          </a:p>
          <a:p>
            <a:pPr marL="285750" indent="-285750">
              <a:buFont typeface="Arial" panose="020B0604020202020204" pitchFamily="34" charset="0"/>
              <a:buChar char="•"/>
            </a:pPr>
            <a:r>
              <a:rPr lang="en-US" altLang="zh-CN" dirty="0"/>
              <a:t>the stretching is isentropic, then the thermal/vibrational entropy </a:t>
            </a:r>
            <a:r>
              <a:rPr lang="en-US" altLang="zh-CN" i="1" dirty="0" err="1"/>
              <a:t>S</a:t>
            </a:r>
            <a:r>
              <a:rPr lang="en-US" altLang="zh-CN" i="1" baseline="-25000" dirty="0" err="1"/>
              <a:t>th</a:t>
            </a:r>
            <a:r>
              <a:rPr lang="en-US" altLang="zh-CN" i="1" baseline="-25000" dirty="0"/>
              <a:t> </a:t>
            </a:r>
            <a:r>
              <a:rPr lang="en-US" altLang="zh-CN" i="1" dirty="0"/>
              <a:t> </a:t>
            </a:r>
            <a:r>
              <a:rPr lang="en-US" altLang="zh-CN" dirty="0"/>
              <a:t>increase to compensate for the decrease of </a:t>
            </a:r>
            <a:r>
              <a:rPr lang="en-US" altLang="zh-CN" i="1" dirty="0" err="1"/>
              <a:t>S</a:t>
            </a:r>
            <a:r>
              <a:rPr lang="en-US" altLang="zh-CN" i="1" baseline="-25000" dirty="0" err="1"/>
              <a:t>conf</a:t>
            </a:r>
            <a:r>
              <a:rPr lang="en-US" altLang="zh-CN" dirty="0"/>
              <a:t>.</a:t>
            </a:r>
          </a:p>
          <a:p>
            <a:pPr marL="285750" indent="-285750">
              <a:buFont typeface="Arial" panose="020B0604020202020204" pitchFamily="34" charset="0"/>
              <a:buChar char="•"/>
            </a:pPr>
            <a:r>
              <a:rPr lang="en-US" altLang="zh-CN" dirty="0"/>
              <a:t>the heat generated by stretching is dissipated</a:t>
            </a:r>
          </a:p>
          <a:p>
            <a:pPr marL="285750" indent="-285750">
              <a:buFont typeface="Arial" panose="020B0604020202020204" pitchFamily="34" charset="0"/>
              <a:buChar char="•"/>
            </a:pPr>
            <a:r>
              <a:rPr lang="en-US" altLang="zh-CN" i="1" dirty="0"/>
              <a:t>T </a:t>
            </a:r>
            <a:r>
              <a:rPr lang="en-US" altLang="zh-CN" dirty="0"/>
              <a:t>should decrease as a result of rapid </a:t>
            </a:r>
            <a:r>
              <a:rPr lang="en-US" altLang="zh-CN" dirty="0" err="1"/>
              <a:t>unstretching</a:t>
            </a:r>
            <a:endParaRPr lang="zh-CN" altLang="en-US" dirty="0"/>
          </a:p>
        </p:txBody>
      </p:sp>
      <p:pic>
        <p:nvPicPr>
          <p:cNvPr id="143362" name="Picture 2" descr="See the source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17001" y="-22012"/>
            <a:ext cx="2026999" cy="1520249"/>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6">
            <a:duotone>
              <a:prstClr val="black"/>
              <a:schemeClr val="accent3">
                <a:tint val="45000"/>
                <a:satMod val="400000"/>
              </a:schemeClr>
            </a:duotone>
          </a:blip>
          <a:stretch>
            <a:fillRect/>
          </a:stretch>
        </p:blipFill>
        <p:spPr>
          <a:xfrm>
            <a:off x="4588809" y="3197355"/>
            <a:ext cx="1590426" cy="3150148"/>
          </a:xfrm>
          <a:prstGeom prst="rect">
            <a:avLst/>
          </a:prstGeom>
        </p:spPr>
      </p:pic>
      <p:pic>
        <p:nvPicPr>
          <p:cNvPr id="9" name="图片 8"/>
          <p:cNvPicPr>
            <a:picLocks noChangeAspect="1"/>
          </p:cNvPicPr>
          <p:nvPr/>
        </p:nvPicPr>
        <p:blipFill>
          <a:blip r:embed="rId6"/>
          <a:stretch>
            <a:fillRect/>
          </a:stretch>
        </p:blipFill>
        <p:spPr>
          <a:xfrm>
            <a:off x="2867722" y="3197355"/>
            <a:ext cx="1590426" cy="3150148"/>
          </a:xfrm>
          <a:prstGeom prst="rect">
            <a:avLst/>
          </a:prstGeom>
        </p:spPr>
      </p:pic>
    </p:spTree>
    <p:extLst>
      <p:ext uri="{BB962C8B-B14F-4D97-AF65-F5344CB8AC3E}">
        <p14:creationId xmlns:p14="http://schemas.microsoft.com/office/powerpoint/2010/main" val="18900904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104196" y="111746"/>
            <a:ext cx="6603090" cy="523220"/>
          </a:xfrm>
          <a:prstGeom prst="rect">
            <a:avLst/>
          </a:prstGeom>
          <a:noFill/>
        </p:spPr>
        <p:txBody>
          <a:bodyPr wrap="none" rtlCol="0">
            <a:spAutoFit/>
          </a:bodyPr>
          <a:lstStyle/>
          <a:p>
            <a:r>
              <a:rPr lang="en-US" altLang="zh-CN" sz="2800" dirty="0">
                <a:solidFill>
                  <a:srgbClr val="FF0000"/>
                </a:solidFill>
              </a:rPr>
              <a:t>Application</a:t>
            </a:r>
            <a:r>
              <a:rPr lang="zh-CN" altLang="en-US" sz="2800" dirty="0">
                <a:solidFill>
                  <a:srgbClr val="FF0000"/>
                </a:solidFill>
              </a:rPr>
              <a:t>：</a:t>
            </a:r>
            <a:r>
              <a:rPr lang="en-US" altLang="zh-CN" sz="2800" dirty="0">
                <a:solidFill>
                  <a:srgbClr val="FF0000"/>
                </a:solidFill>
              </a:rPr>
              <a:t>the vacancy concentration</a:t>
            </a:r>
            <a:endParaRPr lang="zh-CN" altLang="en-US" sz="2800" dirty="0">
              <a:solidFill>
                <a:srgbClr val="FF0000"/>
              </a:solidFill>
            </a:endParaRPr>
          </a:p>
        </p:txBody>
      </p:sp>
      <p:pic>
        <p:nvPicPr>
          <p:cNvPr id="22530" name="Picture 2" descr="C:\Users\Administrator.SUSTC-609071422\Pictures\ControlCenter4\Scan\CCI20171014.jpg"/>
          <p:cNvPicPr>
            <a:picLocks noChangeAspect="1" noChangeArrowheads="1"/>
          </p:cNvPicPr>
          <p:nvPr/>
        </p:nvPicPr>
        <p:blipFill rotWithShape="1">
          <a:blip r:embed="rId3">
            <a:extLst>
              <a:ext uri="{28A0092B-C50C-407E-A947-70E740481C1C}">
                <a14:useLocalDpi xmlns:a14="http://schemas.microsoft.com/office/drawing/2010/main" val="0"/>
              </a:ext>
            </a:extLst>
          </a:blip>
          <a:srcRect l="10896" t="42924" r="67015" b="22659"/>
          <a:stretch/>
        </p:blipFill>
        <p:spPr bwMode="auto">
          <a:xfrm>
            <a:off x="304800" y="1524000"/>
            <a:ext cx="4100941" cy="448101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18448" y="882556"/>
            <a:ext cx="5377241" cy="400110"/>
          </a:xfrm>
          <a:prstGeom prst="rect">
            <a:avLst/>
          </a:prstGeom>
          <a:noFill/>
        </p:spPr>
        <p:txBody>
          <a:bodyPr wrap="none" rtlCol="0">
            <a:spAutoFit/>
          </a:bodyPr>
          <a:lstStyle/>
          <a:p>
            <a:r>
              <a:rPr lang="en-US" altLang="zh-CN" sz="2000" dirty="0"/>
              <a:t>Considering the formation energy of a vacancy: </a:t>
            </a:r>
            <a:r>
              <a:rPr lang="el-GR" altLang="zh-CN" sz="2000" dirty="0">
                <a:latin typeface="Sylfaen"/>
              </a:rPr>
              <a:t>ε</a:t>
            </a:r>
            <a:r>
              <a:rPr lang="en-US" altLang="zh-CN" sz="2000" baseline="-25000" dirty="0">
                <a:latin typeface="Sylfaen"/>
              </a:rPr>
              <a:t>V</a:t>
            </a:r>
            <a:endParaRPr lang="zh-CN" altLang="en-US" sz="2000" dirty="0"/>
          </a:p>
        </p:txBody>
      </p:sp>
      <p:graphicFrame>
        <p:nvGraphicFramePr>
          <p:cNvPr id="3" name="对象 2"/>
          <p:cNvGraphicFramePr>
            <a:graphicFrameLocks noChangeAspect="1"/>
          </p:cNvGraphicFramePr>
          <p:nvPr/>
        </p:nvGraphicFramePr>
        <p:xfrm>
          <a:off x="4885686" y="1530256"/>
          <a:ext cx="1306512" cy="419100"/>
        </p:xfrm>
        <a:graphic>
          <a:graphicData uri="http://schemas.openxmlformats.org/presentationml/2006/ole">
            <mc:AlternateContent xmlns:mc="http://schemas.openxmlformats.org/markup-compatibility/2006">
              <mc:Choice xmlns:v="urn:schemas-microsoft-com:vml" Requires="v">
                <p:oleObj name="Equation" r:id="rId4" imgW="711000" imgH="228600" progId="Equation.DSMT4">
                  <p:embed/>
                </p:oleObj>
              </mc:Choice>
              <mc:Fallback>
                <p:oleObj name="Equation" r:id="rId4" imgW="711000" imgH="228600" progId="Equation.DSMT4">
                  <p:embed/>
                  <p:pic>
                    <p:nvPicPr>
                      <p:cNvPr id="3" name="对象 2"/>
                      <p:cNvPicPr/>
                      <p:nvPr/>
                    </p:nvPicPr>
                    <p:blipFill>
                      <a:blip r:embed="rId5"/>
                      <a:stretch>
                        <a:fillRect/>
                      </a:stretch>
                    </p:blipFill>
                    <p:spPr>
                      <a:xfrm>
                        <a:off x="4885686" y="1530256"/>
                        <a:ext cx="1306512" cy="419100"/>
                      </a:xfrm>
                      <a:prstGeom prst="rect">
                        <a:avLst/>
                      </a:prstGeom>
                    </p:spPr>
                  </p:pic>
                </p:oleObj>
              </mc:Fallback>
            </mc:AlternateContent>
          </a:graphicData>
        </a:graphic>
      </p:graphicFrame>
      <p:sp>
        <p:nvSpPr>
          <p:cNvPr id="4" name="TextBox 3"/>
          <p:cNvSpPr txBox="1"/>
          <p:nvPr/>
        </p:nvSpPr>
        <p:spPr>
          <a:xfrm>
            <a:off x="4738048" y="2101756"/>
            <a:ext cx="4038600" cy="923330"/>
          </a:xfrm>
          <a:prstGeom prst="rect">
            <a:avLst/>
          </a:prstGeom>
          <a:noFill/>
        </p:spPr>
        <p:txBody>
          <a:bodyPr wrap="square" rtlCol="0">
            <a:spAutoFit/>
          </a:bodyPr>
          <a:lstStyle/>
          <a:p>
            <a:r>
              <a:rPr lang="en-US" altLang="zh-CN" dirty="0"/>
              <a:t>The increase entropy equivalent to arrange N atoms and n vacancies on </a:t>
            </a:r>
            <a:r>
              <a:rPr lang="en-US" altLang="zh-CN" dirty="0" err="1"/>
              <a:t>N+n</a:t>
            </a:r>
            <a:r>
              <a:rPr lang="en-US" altLang="zh-CN" dirty="0"/>
              <a:t> lattice site:</a:t>
            </a:r>
            <a:endParaRPr lang="zh-CN" altLang="en-US" dirty="0"/>
          </a:p>
        </p:txBody>
      </p:sp>
      <p:graphicFrame>
        <p:nvGraphicFramePr>
          <p:cNvPr id="11" name="对象 10"/>
          <p:cNvGraphicFramePr>
            <a:graphicFrameLocks noChangeAspect="1"/>
          </p:cNvGraphicFramePr>
          <p:nvPr/>
        </p:nvGraphicFramePr>
        <p:xfrm>
          <a:off x="4778508" y="3025086"/>
          <a:ext cx="1254940" cy="616640"/>
        </p:xfrm>
        <a:graphic>
          <a:graphicData uri="http://schemas.openxmlformats.org/presentationml/2006/ole">
            <mc:AlternateContent xmlns:mc="http://schemas.openxmlformats.org/markup-compatibility/2006">
              <mc:Choice xmlns:v="urn:schemas-microsoft-com:vml" Requires="v">
                <p:oleObj name="Equation" r:id="rId6" imgW="850680" imgH="419040" progId="Equation.DSMT4">
                  <p:embed/>
                </p:oleObj>
              </mc:Choice>
              <mc:Fallback>
                <p:oleObj name="Equation" r:id="rId6" imgW="850680" imgH="419040" progId="Equation.DSMT4">
                  <p:embed/>
                  <p:pic>
                    <p:nvPicPr>
                      <p:cNvPr id="11" name="对象 10"/>
                      <p:cNvPicPr>
                        <a:picLocks noChangeAspect="1" noChangeArrowheads="1"/>
                      </p:cNvPicPr>
                      <p:nvPr/>
                    </p:nvPicPr>
                    <p:blipFill>
                      <a:blip r:embed="rId7"/>
                      <a:srcRect/>
                      <a:stretch>
                        <a:fillRect/>
                      </a:stretch>
                    </p:blipFill>
                    <p:spPr bwMode="auto">
                      <a:xfrm>
                        <a:off x="4778508" y="3025086"/>
                        <a:ext cx="1254940" cy="616640"/>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nvGraphicFramePr>
        <p:xfrm>
          <a:off x="6431910" y="2979645"/>
          <a:ext cx="1959796" cy="695210"/>
        </p:xfrm>
        <a:graphic>
          <a:graphicData uri="http://schemas.openxmlformats.org/presentationml/2006/ole">
            <mc:AlternateContent xmlns:mc="http://schemas.openxmlformats.org/markup-compatibility/2006">
              <mc:Choice xmlns:v="urn:schemas-microsoft-com:vml" Requires="v">
                <p:oleObj name="Equation" r:id="rId8" imgW="1358640" imgH="482400" progId="Equation.DSMT4">
                  <p:embed/>
                </p:oleObj>
              </mc:Choice>
              <mc:Fallback>
                <p:oleObj name="Equation" r:id="rId8" imgW="1358640" imgH="482400" progId="Equation.DSMT4">
                  <p:embed/>
                  <p:pic>
                    <p:nvPicPr>
                      <p:cNvPr id="12" name="对象 11"/>
                      <p:cNvPicPr>
                        <a:picLocks noChangeAspect="1" noChangeArrowheads="1"/>
                      </p:cNvPicPr>
                      <p:nvPr/>
                    </p:nvPicPr>
                    <p:blipFill>
                      <a:blip r:embed="rId9"/>
                      <a:srcRect/>
                      <a:stretch>
                        <a:fillRect/>
                      </a:stretch>
                    </p:blipFill>
                    <p:spPr bwMode="auto">
                      <a:xfrm>
                        <a:off x="6431910" y="2979645"/>
                        <a:ext cx="1959796" cy="695210"/>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nvGraphicFramePr>
        <p:xfrm>
          <a:off x="4710731" y="3625756"/>
          <a:ext cx="3680975" cy="681707"/>
        </p:xfrm>
        <a:graphic>
          <a:graphicData uri="http://schemas.openxmlformats.org/presentationml/2006/ole">
            <mc:AlternateContent xmlns:mc="http://schemas.openxmlformats.org/markup-compatibility/2006">
              <mc:Choice xmlns:v="urn:schemas-microsoft-com:vml" Requires="v">
                <p:oleObj name="Equation" r:id="rId10" imgW="2603160" imgH="482400" progId="Equation.DSMT4">
                  <p:embed/>
                </p:oleObj>
              </mc:Choice>
              <mc:Fallback>
                <p:oleObj name="Equation" r:id="rId10" imgW="2603160" imgH="482400" progId="Equation.DSMT4">
                  <p:embed/>
                  <p:pic>
                    <p:nvPicPr>
                      <p:cNvPr id="13" name="对象 12"/>
                      <p:cNvPicPr>
                        <a:picLocks noChangeAspect="1" noChangeArrowheads="1"/>
                      </p:cNvPicPr>
                      <p:nvPr/>
                    </p:nvPicPr>
                    <p:blipFill>
                      <a:blip r:embed="rId11"/>
                      <a:srcRect/>
                      <a:stretch>
                        <a:fillRect/>
                      </a:stretch>
                    </p:blipFill>
                    <p:spPr bwMode="auto">
                      <a:xfrm>
                        <a:off x="4710731" y="3625756"/>
                        <a:ext cx="3680975" cy="681707"/>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nvGraphicFramePr>
        <p:xfrm>
          <a:off x="4727277" y="4463956"/>
          <a:ext cx="3638550" cy="750888"/>
        </p:xfrm>
        <a:graphic>
          <a:graphicData uri="http://schemas.openxmlformats.org/presentationml/2006/ole">
            <mc:AlternateContent xmlns:mc="http://schemas.openxmlformats.org/markup-compatibility/2006">
              <mc:Choice xmlns:v="urn:schemas-microsoft-com:vml" Requires="v">
                <p:oleObj name="Equation" r:id="rId12" imgW="2336760" imgH="482400" progId="Equation.DSMT4">
                  <p:embed/>
                </p:oleObj>
              </mc:Choice>
              <mc:Fallback>
                <p:oleObj name="Equation" r:id="rId12" imgW="2336760" imgH="482400" progId="Equation.DSMT4">
                  <p:embed/>
                  <p:pic>
                    <p:nvPicPr>
                      <p:cNvPr id="14" name="对象 13"/>
                      <p:cNvPicPr>
                        <a:picLocks noChangeAspect="1" noChangeArrowheads="1"/>
                      </p:cNvPicPr>
                      <p:nvPr/>
                    </p:nvPicPr>
                    <p:blipFill>
                      <a:blip r:embed="rId13"/>
                      <a:srcRect/>
                      <a:stretch>
                        <a:fillRect/>
                      </a:stretch>
                    </p:blipFill>
                    <p:spPr bwMode="auto">
                      <a:xfrm>
                        <a:off x="4727277" y="4463956"/>
                        <a:ext cx="3638550" cy="75088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000284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7DA4BCE-B56D-42AE-9FFC-96FC70ED8AB6}"/>
              </a:ext>
            </a:extLst>
          </p:cNvPr>
          <p:cNvSpPr txBox="1"/>
          <p:nvPr/>
        </p:nvSpPr>
        <p:spPr>
          <a:xfrm>
            <a:off x="304800" y="152400"/>
            <a:ext cx="1828800" cy="369332"/>
          </a:xfrm>
          <a:prstGeom prst="rect">
            <a:avLst/>
          </a:prstGeom>
          <a:noFill/>
        </p:spPr>
        <p:txBody>
          <a:bodyPr wrap="square" rtlCol="0">
            <a:spAutoFit/>
          </a:bodyPr>
          <a:lstStyle/>
          <a:p>
            <a:r>
              <a:rPr lang="en-US" altLang="zh-CN" b="1" dirty="0">
                <a:solidFill>
                  <a:srgbClr val="7030A0"/>
                </a:solidFill>
              </a:rPr>
              <a:t>Homework 7</a:t>
            </a:r>
            <a:r>
              <a:rPr lang="zh-CN" altLang="en-US" b="1" dirty="0">
                <a:solidFill>
                  <a:srgbClr val="7030A0"/>
                </a:solidFill>
              </a:rPr>
              <a:t>：</a:t>
            </a:r>
            <a:r>
              <a:rPr lang="en-US" altLang="zh-CN" b="1" dirty="0">
                <a:solidFill>
                  <a:srgbClr val="7030A0"/>
                </a:solidFill>
              </a:rPr>
              <a:t>2</a:t>
            </a:r>
            <a:endParaRPr lang="zh-CN" altLang="en-US" b="1" dirty="0">
              <a:solidFill>
                <a:srgbClr val="7030A0"/>
              </a:solidFill>
            </a:endParaRPr>
          </a:p>
        </p:txBody>
      </p:sp>
      <p:sp>
        <p:nvSpPr>
          <p:cNvPr id="5" name="文本框 4">
            <a:extLst>
              <a:ext uri="{FF2B5EF4-FFF2-40B4-BE49-F238E27FC236}">
                <a16:creationId xmlns:a16="http://schemas.microsoft.com/office/drawing/2014/main" id="{FEBE4153-AE29-4F36-8823-D57F9F02CFA2}"/>
              </a:ext>
            </a:extLst>
          </p:cNvPr>
          <p:cNvSpPr txBox="1"/>
          <p:nvPr/>
        </p:nvSpPr>
        <p:spPr>
          <a:xfrm>
            <a:off x="304800" y="457200"/>
            <a:ext cx="8382000" cy="2489528"/>
          </a:xfrm>
          <a:prstGeom prst="rect">
            <a:avLst/>
          </a:prstGeom>
          <a:noFill/>
        </p:spPr>
        <p:txBody>
          <a:bodyPr wrap="square">
            <a:spAutoFit/>
          </a:bodyPr>
          <a:lstStyle/>
          <a:p>
            <a:pPr algn="just">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Considering the formation energy of a vacancy in a metal is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ε</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 For 1 mole of the metal, if the fraction of the vacancy is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(atom fraction), please calculate the configurational entropy.  </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 If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1 at%, please calculated the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ε</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27℃ in unit eV, and formation enthalpy in the unit J/mol.  </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 Please explain some strategies to reduce the concentration of vacancies from the view point of thermodynamics.</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aphicFrame>
        <p:nvGraphicFramePr>
          <p:cNvPr id="6" name="对象 5">
            <a:extLst>
              <a:ext uri="{FF2B5EF4-FFF2-40B4-BE49-F238E27FC236}">
                <a16:creationId xmlns:a16="http://schemas.microsoft.com/office/drawing/2014/main" id="{F6C51956-9674-4A59-BA8F-49AE4C9D9EDF}"/>
              </a:ext>
            </a:extLst>
          </p:cNvPr>
          <p:cNvGraphicFramePr>
            <a:graphicFrameLocks noChangeAspect="1"/>
          </p:cNvGraphicFramePr>
          <p:nvPr>
            <p:extLst>
              <p:ext uri="{D42A27DB-BD31-4B8C-83A1-F6EECF244321}">
                <p14:modId xmlns:p14="http://schemas.microsoft.com/office/powerpoint/2010/main" val="2616939534"/>
              </p:ext>
            </p:extLst>
          </p:nvPr>
        </p:nvGraphicFramePr>
        <p:xfrm>
          <a:off x="321972" y="3079716"/>
          <a:ext cx="4652963" cy="731837"/>
        </p:xfrm>
        <a:graphic>
          <a:graphicData uri="http://schemas.openxmlformats.org/presentationml/2006/ole">
            <mc:AlternateContent xmlns:mc="http://schemas.openxmlformats.org/markup-compatibility/2006">
              <mc:Choice xmlns:v="urn:schemas-microsoft-com:vml" Requires="v">
                <p:oleObj name="Equation" r:id="rId2" imgW="2501640" imgH="393480" progId="Equation.DSMT4">
                  <p:embed/>
                </p:oleObj>
              </mc:Choice>
              <mc:Fallback>
                <p:oleObj name="Equation" r:id="rId2" imgW="2501640" imgH="393480" progId="Equation.DSMT4">
                  <p:embed/>
                  <p:pic>
                    <p:nvPicPr>
                      <p:cNvPr id="6" name="对象 5">
                        <a:extLst>
                          <a:ext uri="{FF2B5EF4-FFF2-40B4-BE49-F238E27FC236}">
                            <a16:creationId xmlns:a16="http://schemas.microsoft.com/office/drawing/2014/main" id="{F6C51956-9674-4A59-BA8F-49AE4C9D9EDF}"/>
                          </a:ext>
                        </a:extLst>
                      </p:cNvPr>
                      <p:cNvPicPr/>
                      <p:nvPr/>
                    </p:nvPicPr>
                    <p:blipFill>
                      <a:blip r:embed="rId3"/>
                      <a:stretch>
                        <a:fillRect/>
                      </a:stretch>
                    </p:blipFill>
                    <p:spPr>
                      <a:xfrm>
                        <a:off x="321972" y="3079716"/>
                        <a:ext cx="4652963" cy="73183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E5B403D0-9655-4889-9A58-BD57138698BD}"/>
              </a:ext>
            </a:extLst>
          </p:cNvPr>
          <p:cNvGraphicFramePr>
            <a:graphicFrameLocks noChangeAspect="1"/>
          </p:cNvGraphicFramePr>
          <p:nvPr>
            <p:extLst>
              <p:ext uri="{D42A27DB-BD31-4B8C-83A1-F6EECF244321}">
                <p14:modId xmlns:p14="http://schemas.microsoft.com/office/powerpoint/2010/main" val="295277088"/>
              </p:ext>
            </p:extLst>
          </p:nvPr>
        </p:nvGraphicFramePr>
        <p:xfrm>
          <a:off x="321972" y="3944541"/>
          <a:ext cx="1882608" cy="831850"/>
        </p:xfrm>
        <a:graphic>
          <a:graphicData uri="http://schemas.openxmlformats.org/presentationml/2006/ole">
            <mc:AlternateContent xmlns:mc="http://schemas.openxmlformats.org/markup-compatibility/2006">
              <mc:Choice xmlns:v="urn:schemas-microsoft-com:vml" Requires="v">
                <p:oleObj name="Equation" r:id="rId4" imgW="1091880" imgH="482400" progId="Equation.DSMT4">
                  <p:embed/>
                </p:oleObj>
              </mc:Choice>
              <mc:Fallback>
                <p:oleObj name="Equation" r:id="rId4" imgW="1091880" imgH="482400" progId="Equation.DSMT4">
                  <p:embed/>
                  <p:pic>
                    <p:nvPicPr>
                      <p:cNvPr id="7" name="对象 6">
                        <a:extLst>
                          <a:ext uri="{FF2B5EF4-FFF2-40B4-BE49-F238E27FC236}">
                            <a16:creationId xmlns:a16="http://schemas.microsoft.com/office/drawing/2014/main" id="{E5B403D0-9655-4889-9A58-BD57138698BD}"/>
                          </a:ext>
                        </a:extLst>
                      </p:cNvPr>
                      <p:cNvPicPr/>
                      <p:nvPr/>
                    </p:nvPicPr>
                    <p:blipFill>
                      <a:blip r:embed="rId5"/>
                      <a:stretch>
                        <a:fillRect/>
                      </a:stretch>
                    </p:blipFill>
                    <p:spPr>
                      <a:xfrm>
                        <a:off x="321972" y="3944541"/>
                        <a:ext cx="1882608" cy="8318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E6EF5FE-7051-4E94-9440-99EF79E416E1}"/>
              </a:ext>
            </a:extLst>
          </p:cNvPr>
          <p:cNvGraphicFramePr>
            <a:graphicFrameLocks noChangeAspect="1"/>
          </p:cNvGraphicFramePr>
          <p:nvPr>
            <p:extLst>
              <p:ext uri="{D42A27DB-BD31-4B8C-83A1-F6EECF244321}">
                <p14:modId xmlns:p14="http://schemas.microsoft.com/office/powerpoint/2010/main" val="2713111335"/>
              </p:ext>
            </p:extLst>
          </p:nvPr>
        </p:nvGraphicFramePr>
        <p:xfrm>
          <a:off x="304800" y="4929257"/>
          <a:ext cx="4083050" cy="731837"/>
        </p:xfrm>
        <a:graphic>
          <a:graphicData uri="http://schemas.openxmlformats.org/presentationml/2006/ole">
            <mc:AlternateContent xmlns:mc="http://schemas.openxmlformats.org/markup-compatibility/2006">
              <mc:Choice xmlns:v="urn:schemas-microsoft-com:vml" Requires="v">
                <p:oleObj name="Equation" r:id="rId6" imgW="2692080" imgH="482400" progId="Equation.DSMT4">
                  <p:embed/>
                </p:oleObj>
              </mc:Choice>
              <mc:Fallback>
                <p:oleObj name="Equation" r:id="rId6" imgW="2692080" imgH="482400" progId="Equation.DSMT4">
                  <p:embed/>
                  <p:pic>
                    <p:nvPicPr>
                      <p:cNvPr id="8" name="对象 7">
                        <a:extLst>
                          <a:ext uri="{FF2B5EF4-FFF2-40B4-BE49-F238E27FC236}">
                            <a16:creationId xmlns:a16="http://schemas.microsoft.com/office/drawing/2014/main" id="{CE6EF5FE-7051-4E94-9440-99EF79E416E1}"/>
                          </a:ext>
                        </a:extLst>
                      </p:cNvPr>
                      <p:cNvPicPr/>
                      <p:nvPr/>
                    </p:nvPicPr>
                    <p:blipFill>
                      <a:blip r:embed="rId7"/>
                      <a:stretch>
                        <a:fillRect/>
                      </a:stretch>
                    </p:blipFill>
                    <p:spPr>
                      <a:xfrm>
                        <a:off x="304800" y="4929257"/>
                        <a:ext cx="4083050" cy="731837"/>
                      </a:xfrm>
                      <a:prstGeom prst="rect">
                        <a:avLst/>
                      </a:prstGeom>
                    </p:spPr>
                  </p:pic>
                </p:oleObj>
              </mc:Fallback>
            </mc:AlternateContent>
          </a:graphicData>
        </a:graphic>
      </p:graphicFrame>
    </p:spTree>
    <p:extLst>
      <p:ext uri="{BB962C8B-B14F-4D97-AF65-F5344CB8AC3E}">
        <p14:creationId xmlns:p14="http://schemas.microsoft.com/office/powerpoint/2010/main" val="10415240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solidFill>
                  <a:srgbClr val="FF0000"/>
                </a:solidFill>
              </a:rPr>
              <a:t>21. Statistic interpret of Heat capacity</a:t>
            </a:r>
            <a:endParaRPr lang="zh-CN" altLang="en-US" sz="3200" dirty="0">
              <a:solidFill>
                <a:srgbClr val="FF0000"/>
              </a:solidFill>
            </a:endParaRPr>
          </a:p>
        </p:txBody>
      </p:sp>
    </p:spTree>
    <p:extLst>
      <p:ext uri="{BB962C8B-B14F-4D97-AF65-F5344CB8AC3E}">
        <p14:creationId xmlns:p14="http://schemas.microsoft.com/office/powerpoint/2010/main" val="35917160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45898" y="123673"/>
            <a:ext cx="3280870" cy="461665"/>
          </a:xfrm>
          <a:prstGeom prst="rect">
            <a:avLst/>
          </a:prstGeom>
        </p:spPr>
        <p:txBody>
          <a:bodyPr wrap="square">
            <a:spAutoFit/>
          </a:bodyPr>
          <a:lstStyle/>
          <a:p>
            <a:r>
              <a:rPr lang="en-US" altLang="zh-CN" sz="2400" dirty="0">
                <a:solidFill>
                  <a:srgbClr val="FF0000"/>
                </a:solidFill>
                <a:latin typeface="Arial" panose="020B0604020202020204" pitchFamily="34" charset="0"/>
                <a:ea typeface="宋体" panose="02010600030101010101" pitchFamily="2" charset="-122"/>
                <a:cs typeface="Arial" panose="020B0604020202020204" pitchFamily="34" charset="0"/>
              </a:rPr>
              <a:t>E</a:t>
            </a:r>
            <a:r>
              <a:rPr lang="zh-CN" altLang="zh-CN" sz="2400" dirty="0">
                <a:solidFill>
                  <a:srgbClr val="FF0000"/>
                </a:solidFill>
                <a:latin typeface="Arial" panose="020B0604020202020204" pitchFamily="34" charset="0"/>
                <a:ea typeface="宋体" panose="02010600030101010101" pitchFamily="2" charset="-122"/>
                <a:cs typeface="Arial" panose="020B0604020202020204" pitchFamily="34" charset="0"/>
              </a:rPr>
              <a:t>quipartition of energy</a:t>
            </a:r>
            <a:endParaRPr lang="zh-CN" altLang="en-US" sz="2400" dirty="0">
              <a:solidFill>
                <a:srgbClr val="FF0000"/>
              </a:solidFill>
            </a:endParaRPr>
          </a:p>
        </p:txBody>
      </p:sp>
      <p:graphicFrame>
        <p:nvGraphicFramePr>
          <p:cNvPr id="2" name="对象 1"/>
          <p:cNvGraphicFramePr>
            <a:graphicFrameLocks noChangeAspect="1"/>
          </p:cNvGraphicFramePr>
          <p:nvPr/>
        </p:nvGraphicFramePr>
        <p:xfrm>
          <a:off x="1302266" y="880835"/>
          <a:ext cx="4906607" cy="835741"/>
        </p:xfrm>
        <a:graphic>
          <a:graphicData uri="http://schemas.openxmlformats.org/presentationml/2006/ole">
            <mc:AlternateContent xmlns:mc="http://schemas.openxmlformats.org/markup-compatibility/2006">
              <mc:Choice xmlns:v="urn:schemas-microsoft-com:vml" Requires="v">
                <p:oleObj name="Equation" r:id="rId2" imgW="2311200" imgH="393480" progId="Equation.DSMT4">
                  <p:embed/>
                </p:oleObj>
              </mc:Choice>
              <mc:Fallback>
                <p:oleObj name="Equation" r:id="rId2" imgW="2311200" imgH="393480" progId="Equation.DSMT4">
                  <p:embed/>
                  <p:pic>
                    <p:nvPicPr>
                      <p:cNvPr id="2" name="对象 1"/>
                      <p:cNvPicPr/>
                      <p:nvPr/>
                    </p:nvPicPr>
                    <p:blipFill>
                      <a:blip r:embed="rId3"/>
                      <a:stretch>
                        <a:fillRect/>
                      </a:stretch>
                    </p:blipFill>
                    <p:spPr>
                      <a:xfrm>
                        <a:off x="1302266" y="880835"/>
                        <a:ext cx="4906607" cy="835741"/>
                      </a:xfrm>
                      <a:prstGeom prst="rect">
                        <a:avLst/>
                      </a:prstGeom>
                    </p:spPr>
                  </p:pic>
                </p:oleObj>
              </mc:Fallback>
            </mc:AlternateContent>
          </a:graphicData>
        </a:graphic>
      </p:graphicFrame>
      <p:sp>
        <p:nvSpPr>
          <p:cNvPr id="5" name="矩形 4"/>
          <p:cNvSpPr/>
          <p:nvPr/>
        </p:nvSpPr>
        <p:spPr>
          <a:xfrm>
            <a:off x="410546" y="1857427"/>
            <a:ext cx="7975920" cy="923330"/>
          </a:xfrm>
          <a:prstGeom prst="rect">
            <a:avLst/>
          </a:prstGeom>
        </p:spPr>
        <p:txBody>
          <a:bodyPr wrap="square">
            <a:spAutoFit/>
          </a:bodyPr>
          <a:lstStyle/>
          <a:p>
            <a:pPr marL="285750" indent="-285750">
              <a:buFont typeface="Arial" pitchFamily="34" charset="0"/>
              <a:buChar char="•"/>
            </a:pPr>
            <a:r>
              <a:rPr lang="zh-CN" altLang="zh-CN" dirty="0">
                <a:solidFill>
                  <a:srgbClr val="222222"/>
                </a:solidFill>
                <a:latin typeface="Arial" panose="020B0604020202020204" pitchFamily="34" charset="0"/>
                <a:ea typeface="宋体" panose="02010600030101010101" pitchFamily="2" charset="-122"/>
                <a:cs typeface="Arial" panose="020B0604020202020204" pitchFamily="34" charset="0"/>
              </a:rPr>
              <a:t>each degree of freedom would have an average energy in the amount of </a:t>
            </a:r>
            <a:r>
              <a:rPr lang="zh-CN" altLang="zh-CN" i="1" dirty="0">
                <a:solidFill>
                  <a:srgbClr val="222222"/>
                </a:solidFill>
                <a:latin typeface="Arial" panose="020B0604020202020204" pitchFamily="34" charset="0"/>
                <a:ea typeface="宋体" panose="02010600030101010101" pitchFamily="2" charset="-122"/>
                <a:cs typeface="Arial" panose="020B0604020202020204" pitchFamily="34" charset="0"/>
              </a:rPr>
              <a:t>k</a:t>
            </a:r>
            <a:r>
              <a:rPr lang="en-US" altLang="zh-CN" i="1" baseline="-25000" dirty="0">
                <a:solidFill>
                  <a:srgbClr val="222222"/>
                </a:solidFill>
                <a:latin typeface="Arial" panose="020B0604020202020204" pitchFamily="34" charset="0"/>
                <a:ea typeface="宋体" panose="02010600030101010101" pitchFamily="2" charset="-122"/>
                <a:cs typeface="Arial" panose="020B0604020202020204" pitchFamily="34" charset="0"/>
              </a:rPr>
              <a:t>B</a:t>
            </a:r>
            <a:r>
              <a:rPr lang="zh-CN" altLang="zh-CN" i="1" dirty="0">
                <a:solidFill>
                  <a:srgbClr val="222222"/>
                </a:solidFill>
                <a:latin typeface="Arial" panose="020B0604020202020204" pitchFamily="34" charset="0"/>
                <a:ea typeface="宋体" panose="02010600030101010101" pitchFamily="2" charset="-122"/>
                <a:cs typeface="Arial" panose="020B0604020202020204" pitchFamily="34" charset="0"/>
              </a:rPr>
              <a:t>T</a:t>
            </a:r>
            <a:r>
              <a:rPr lang="en-US" altLang="zh-CN" i="1" dirty="0">
                <a:solidFill>
                  <a:srgbClr val="222222"/>
                </a:solidFill>
                <a:latin typeface="Arial" panose="020B0604020202020204" pitchFamily="34" charset="0"/>
                <a:ea typeface="宋体" panose="02010600030101010101" pitchFamily="2" charset="-122"/>
                <a:cs typeface="Arial" panose="020B0604020202020204" pitchFamily="34" charset="0"/>
              </a:rPr>
              <a:t>/2</a:t>
            </a:r>
          </a:p>
          <a:p>
            <a:pPr marL="285750" indent="-285750">
              <a:buFont typeface="Arial" pitchFamily="34" charset="0"/>
              <a:buChar char="•"/>
            </a:pPr>
            <a:r>
              <a:rPr lang="en-US" altLang="zh-CN" dirty="0"/>
              <a:t>The possible degree of freedom include: translation, rotation and vibration</a:t>
            </a:r>
            <a:endParaRPr lang="zh-CN" altLang="en-US" dirty="0"/>
          </a:p>
        </p:txBody>
      </p:sp>
      <p:sp>
        <p:nvSpPr>
          <p:cNvPr id="4" name="TextBox 3"/>
          <p:cNvSpPr txBox="1"/>
          <p:nvPr/>
        </p:nvSpPr>
        <p:spPr>
          <a:xfrm>
            <a:off x="167951" y="2935249"/>
            <a:ext cx="3647152" cy="369332"/>
          </a:xfrm>
          <a:prstGeom prst="rect">
            <a:avLst/>
          </a:prstGeom>
          <a:noFill/>
        </p:spPr>
        <p:txBody>
          <a:bodyPr wrap="none" rtlCol="0">
            <a:spAutoFit/>
          </a:bodyPr>
          <a:lstStyle/>
          <a:p>
            <a:r>
              <a:rPr lang="en-US" altLang="zh-CN" dirty="0">
                <a:solidFill>
                  <a:srgbClr val="FF0000"/>
                </a:solidFill>
              </a:rPr>
              <a:t>Internal energy </a:t>
            </a:r>
            <a:r>
              <a:rPr lang="zh-CN" altLang="en-US" dirty="0">
                <a:solidFill>
                  <a:srgbClr val="FF0000"/>
                </a:solidFill>
              </a:rPr>
              <a:t> </a:t>
            </a:r>
            <a:r>
              <a:rPr lang="en-US" altLang="zh-CN" dirty="0">
                <a:solidFill>
                  <a:srgbClr val="FF0000"/>
                </a:solidFill>
              </a:rPr>
              <a:t>and specific heat </a:t>
            </a:r>
            <a:endParaRPr lang="zh-CN" altLang="en-US" dirty="0">
              <a:solidFill>
                <a:srgbClr val="FF0000"/>
              </a:solidFill>
            </a:endParaRPr>
          </a:p>
        </p:txBody>
      </p:sp>
      <p:graphicFrame>
        <p:nvGraphicFramePr>
          <p:cNvPr id="6" name="对象 5"/>
          <p:cNvGraphicFramePr>
            <a:graphicFrameLocks noChangeAspect="1"/>
          </p:cNvGraphicFramePr>
          <p:nvPr/>
        </p:nvGraphicFramePr>
        <p:xfrm>
          <a:off x="758793" y="3372467"/>
          <a:ext cx="2805112" cy="600075"/>
        </p:xfrm>
        <a:graphic>
          <a:graphicData uri="http://schemas.openxmlformats.org/presentationml/2006/ole">
            <mc:AlternateContent xmlns:mc="http://schemas.openxmlformats.org/markup-compatibility/2006">
              <mc:Choice xmlns:v="urn:schemas-microsoft-com:vml" Requires="v">
                <p:oleObj name="Equation" r:id="rId4" imgW="1841400" imgH="393480" progId="Equation.DSMT4">
                  <p:embed/>
                </p:oleObj>
              </mc:Choice>
              <mc:Fallback>
                <p:oleObj name="Equation" r:id="rId4" imgW="1841400" imgH="393480" progId="Equation.DSMT4">
                  <p:embed/>
                  <p:pic>
                    <p:nvPicPr>
                      <p:cNvPr id="6" name="对象 5"/>
                      <p:cNvPicPr>
                        <a:picLocks noChangeAspect="1" noChangeArrowheads="1"/>
                      </p:cNvPicPr>
                      <p:nvPr/>
                    </p:nvPicPr>
                    <p:blipFill>
                      <a:blip r:embed="rId5"/>
                      <a:srcRect/>
                      <a:stretch>
                        <a:fillRect/>
                      </a:stretch>
                    </p:blipFill>
                    <p:spPr bwMode="auto">
                      <a:xfrm>
                        <a:off x="758793" y="3372467"/>
                        <a:ext cx="2805112" cy="600075"/>
                      </a:xfrm>
                      <a:prstGeom prst="rect">
                        <a:avLst/>
                      </a:prstGeom>
                      <a:noFill/>
                      <a:ln>
                        <a:noFill/>
                      </a:ln>
                    </p:spPr>
                  </p:pic>
                </p:oleObj>
              </mc:Fallback>
            </mc:AlternateContent>
          </a:graphicData>
        </a:graphic>
      </p:graphicFrame>
      <p:sp>
        <p:nvSpPr>
          <p:cNvPr id="8" name="AutoShape 3" descr="{\displaystyle C_{V,m}={\frac {f}{2}}R.}"/>
          <p:cNvSpPr>
            <a:spLocks noChangeAspect="1" noChangeArrowheads="1"/>
          </p:cNvSpPr>
          <p:nvPr/>
        </p:nvSpPr>
        <p:spPr bwMode="auto">
          <a:xfrm>
            <a:off x="288925" y="388132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285750" indent="-285750">
              <a:buFont typeface="Arial" pitchFamily="34" charset="0"/>
              <a:buChar char="•"/>
            </a:pPr>
            <a:endParaRPr lang="zh-CN" altLang="en-US" sz="1600"/>
          </a:p>
        </p:txBody>
      </p:sp>
      <p:graphicFrame>
        <p:nvGraphicFramePr>
          <p:cNvPr id="9" name="对象 8"/>
          <p:cNvGraphicFramePr>
            <a:graphicFrameLocks noChangeAspect="1"/>
          </p:cNvGraphicFramePr>
          <p:nvPr/>
        </p:nvGraphicFramePr>
        <p:xfrm>
          <a:off x="6485543" y="4472663"/>
          <a:ext cx="1165379" cy="768885"/>
        </p:xfrm>
        <a:graphic>
          <a:graphicData uri="http://schemas.openxmlformats.org/presentationml/2006/ole">
            <mc:AlternateContent xmlns:mc="http://schemas.openxmlformats.org/markup-compatibility/2006">
              <mc:Choice xmlns:v="urn:schemas-microsoft-com:vml" Requires="v">
                <p:oleObj name="Equation" r:id="rId6" imgW="14325600" imgH="9448800" progId="Equation.DSMT4">
                  <p:embed/>
                </p:oleObj>
              </mc:Choice>
              <mc:Fallback>
                <p:oleObj name="Equation" r:id="rId6" imgW="14325600" imgH="9448800" progId="Equation.DSMT4">
                  <p:embed/>
                  <p:pic>
                    <p:nvPicPr>
                      <p:cNvPr id="9" name="对象 8"/>
                      <p:cNvPicPr/>
                      <p:nvPr/>
                    </p:nvPicPr>
                    <p:blipFill>
                      <a:blip r:embed="rId7"/>
                      <a:stretch>
                        <a:fillRect/>
                      </a:stretch>
                    </p:blipFill>
                    <p:spPr>
                      <a:xfrm>
                        <a:off x="6485543" y="4472663"/>
                        <a:ext cx="1165379" cy="768885"/>
                      </a:xfrm>
                      <a:prstGeom prst="rect">
                        <a:avLst/>
                      </a:prstGeom>
                    </p:spPr>
                  </p:pic>
                </p:oleObj>
              </mc:Fallback>
            </mc:AlternateContent>
          </a:graphicData>
        </a:graphic>
      </p:graphicFrame>
      <p:sp>
        <p:nvSpPr>
          <p:cNvPr id="10" name="矩形 9"/>
          <p:cNvSpPr/>
          <p:nvPr/>
        </p:nvSpPr>
        <p:spPr>
          <a:xfrm>
            <a:off x="76200" y="4001462"/>
            <a:ext cx="2640466" cy="369332"/>
          </a:xfrm>
          <a:prstGeom prst="rect">
            <a:avLst/>
          </a:prstGeom>
        </p:spPr>
        <p:txBody>
          <a:bodyPr wrap="none">
            <a:spAutoFit/>
          </a:bodyPr>
          <a:lstStyle/>
          <a:p>
            <a:pPr marL="285750" indent="-285750">
              <a:buFont typeface="Arial" pitchFamily="34" charset="0"/>
              <a:buChar char="•"/>
            </a:pPr>
            <a:r>
              <a:rPr lang="en-US" altLang="zh-CN" b="1" dirty="0"/>
              <a:t>The monatomic gas</a:t>
            </a:r>
          </a:p>
        </p:txBody>
      </p:sp>
      <p:graphicFrame>
        <p:nvGraphicFramePr>
          <p:cNvPr id="11" name="对象 10"/>
          <p:cNvGraphicFramePr>
            <a:graphicFrameLocks noChangeAspect="1"/>
          </p:cNvGraphicFramePr>
          <p:nvPr/>
        </p:nvGraphicFramePr>
        <p:xfrm>
          <a:off x="593725" y="4392741"/>
          <a:ext cx="1189703" cy="838200"/>
        </p:xfrm>
        <a:graphic>
          <a:graphicData uri="http://schemas.openxmlformats.org/presentationml/2006/ole">
            <mc:AlternateContent xmlns:mc="http://schemas.openxmlformats.org/markup-compatibility/2006">
              <mc:Choice xmlns:v="urn:schemas-microsoft-com:vml" Requires="v">
                <p:oleObj name="Equation" r:id="rId8" imgW="13411200" imgH="9448800" progId="Equation.DSMT4">
                  <p:embed/>
                </p:oleObj>
              </mc:Choice>
              <mc:Fallback>
                <p:oleObj name="Equation" r:id="rId8" imgW="13411200" imgH="9448800" progId="Equation.DSMT4">
                  <p:embed/>
                  <p:pic>
                    <p:nvPicPr>
                      <p:cNvPr id="11" name="对象 10"/>
                      <p:cNvPicPr/>
                      <p:nvPr/>
                    </p:nvPicPr>
                    <p:blipFill>
                      <a:blip r:embed="rId9"/>
                      <a:stretch>
                        <a:fillRect/>
                      </a:stretch>
                    </p:blipFill>
                    <p:spPr>
                      <a:xfrm>
                        <a:off x="593725" y="4392741"/>
                        <a:ext cx="1189703" cy="838200"/>
                      </a:xfrm>
                      <a:prstGeom prst="rect">
                        <a:avLst/>
                      </a:prstGeom>
                    </p:spPr>
                  </p:pic>
                </p:oleObj>
              </mc:Fallback>
            </mc:AlternateContent>
          </a:graphicData>
        </a:graphic>
      </p:graphicFrame>
      <p:sp>
        <p:nvSpPr>
          <p:cNvPr id="12" name="矩形 11"/>
          <p:cNvSpPr/>
          <p:nvPr/>
        </p:nvSpPr>
        <p:spPr>
          <a:xfrm>
            <a:off x="3254828" y="4023409"/>
            <a:ext cx="2358338" cy="369332"/>
          </a:xfrm>
          <a:prstGeom prst="rect">
            <a:avLst/>
          </a:prstGeom>
        </p:spPr>
        <p:txBody>
          <a:bodyPr wrap="none">
            <a:spAutoFit/>
          </a:bodyPr>
          <a:lstStyle/>
          <a:p>
            <a:pPr marL="285750" indent="-285750">
              <a:buFont typeface="Arial" pitchFamily="34" charset="0"/>
              <a:buChar char="•"/>
            </a:pPr>
            <a:r>
              <a:rPr lang="en-US" altLang="zh-CN" b="1" dirty="0"/>
              <a:t>The diatomic gas</a:t>
            </a:r>
          </a:p>
        </p:txBody>
      </p:sp>
      <p:graphicFrame>
        <p:nvGraphicFramePr>
          <p:cNvPr id="13" name="对象 12"/>
          <p:cNvGraphicFramePr>
            <a:graphicFrameLocks noChangeAspect="1"/>
          </p:cNvGraphicFramePr>
          <p:nvPr/>
        </p:nvGraphicFramePr>
        <p:xfrm>
          <a:off x="3632249" y="4532359"/>
          <a:ext cx="1189037" cy="838200"/>
        </p:xfrm>
        <a:graphic>
          <a:graphicData uri="http://schemas.openxmlformats.org/presentationml/2006/ole">
            <mc:AlternateContent xmlns:mc="http://schemas.openxmlformats.org/markup-compatibility/2006">
              <mc:Choice xmlns:v="urn:schemas-microsoft-com:vml" Requires="v">
                <p:oleObj name="Equation" r:id="rId10" imgW="13411200" imgH="9448800" progId="Equation.DSMT4">
                  <p:embed/>
                </p:oleObj>
              </mc:Choice>
              <mc:Fallback>
                <p:oleObj name="Equation" r:id="rId10" imgW="13411200" imgH="9448800" progId="Equation.DSMT4">
                  <p:embed/>
                  <p:pic>
                    <p:nvPicPr>
                      <p:cNvPr id="13" name="对象 12"/>
                      <p:cNvPicPr>
                        <a:picLocks noChangeAspect="1" noChangeArrowheads="1"/>
                      </p:cNvPicPr>
                      <p:nvPr/>
                    </p:nvPicPr>
                    <p:blipFill>
                      <a:blip r:embed="rId11"/>
                      <a:srcRect/>
                      <a:stretch>
                        <a:fillRect/>
                      </a:stretch>
                    </p:blipFill>
                    <p:spPr bwMode="auto">
                      <a:xfrm>
                        <a:off x="3632249" y="4532359"/>
                        <a:ext cx="11890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7725570" y="4533941"/>
            <a:ext cx="1327608" cy="646331"/>
          </a:xfrm>
          <a:prstGeom prst="rect">
            <a:avLst/>
          </a:prstGeom>
        </p:spPr>
        <p:txBody>
          <a:bodyPr wrap="none">
            <a:spAutoFit/>
          </a:bodyPr>
          <a:lstStyle/>
          <a:p>
            <a:r>
              <a:rPr lang="en-US" altLang="zh-CN" i="1" dirty="0"/>
              <a:t>N</a:t>
            </a:r>
            <a:r>
              <a:rPr lang="en-US" altLang="zh-CN" i="1" baseline="-25000" dirty="0"/>
              <a:t>2</a:t>
            </a:r>
            <a:r>
              <a:rPr lang="en-US" altLang="zh-CN" i="1" dirty="0"/>
              <a:t>O: f=13</a:t>
            </a:r>
          </a:p>
          <a:p>
            <a:r>
              <a:rPr lang="en-US" altLang="zh-CN" i="1" dirty="0"/>
              <a:t>H</a:t>
            </a:r>
            <a:r>
              <a:rPr lang="en-US" altLang="zh-CN" i="1" baseline="-25000" dirty="0"/>
              <a:t>2</a:t>
            </a:r>
            <a:r>
              <a:rPr lang="en-US" altLang="zh-CN" i="1" dirty="0"/>
              <a:t>O: f=12  </a:t>
            </a:r>
            <a:endParaRPr lang="zh-CN" altLang="en-US" i="1" dirty="0"/>
          </a:p>
        </p:txBody>
      </p:sp>
      <p:sp>
        <p:nvSpPr>
          <p:cNvPr id="15" name="矩形 14"/>
          <p:cNvSpPr/>
          <p:nvPr/>
        </p:nvSpPr>
        <p:spPr>
          <a:xfrm>
            <a:off x="6090239" y="4033728"/>
            <a:ext cx="3121367" cy="338554"/>
          </a:xfrm>
          <a:prstGeom prst="rect">
            <a:avLst/>
          </a:prstGeom>
        </p:spPr>
        <p:txBody>
          <a:bodyPr wrap="none">
            <a:spAutoFit/>
          </a:bodyPr>
          <a:lstStyle/>
          <a:p>
            <a:pPr marL="285750" indent="-285750">
              <a:buFont typeface="Arial" pitchFamily="34" charset="0"/>
              <a:buChar char="•"/>
            </a:pPr>
            <a:r>
              <a:rPr lang="en-US" altLang="zh-CN" sz="1600" b="1" dirty="0"/>
              <a:t>More complicate molecular</a:t>
            </a:r>
          </a:p>
        </p:txBody>
      </p:sp>
      <p:pic>
        <p:nvPicPr>
          <p:cNvPr id="162904" name="Picture 88" descr="See the source imag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08873" y="5463691"/>
            <a:ext cx="938213" cy="752476"/>
          </a:xfrm>
          <a:prstGeom prst="rect">
            <a:avLst/>
          </a:prstGeom>
          <a:noFill/>
          <a:extLst>
            <a:ext uri="{909E8E84-426E-40DD-AFC4-6F175D3DCCD1}">
              <a14:hiddenFill xmlns:a14="http://schemas.microsoft.com/office/drawing/2010/main">
                <a:solidFill>
                  <a:srgbClr val="FFFFFF"/>
                </a:solidFill>
              </a14:hiddenFill>
            </a:ext>
          </a:extLst>
        </p:spPr>
      </p:pic>
      <p:pic>
        <p:nvPicPr>
          <p:cNvPr id="162906" name="Picture 90" descr="See the source imag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840133" y="5463691"/>
            <a:ext cx="1113104" cy="617489"/>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3987800" y="5918200"/>
            <a:ext cx="1685077" cy="369332"/>
          </a:xfrm>
          <a:prstGeom prst="rect">
            <a:avLst/>
          </a:prstGeom>
          <a:solidFill>
            <a:schemeClr val="accent6"/>
          </a:solidFill>
        </p:spPr>
        <p:txBody>
          <a:bodyPr wrap="none" rtlCol="0">
            <a:spAutoFit/>
          </a:bodyPr>
          <a:lstStyle/>
          <a:p>
            <a:r>
              <a:rPr lang="en-US" altLang="zh-CN" dirty="0"/>
              <a:t>Open question</a:t>
            </a:r>
            <a:endParaRPr lang="zh-CN" altLang="en-US" dirty="0"/>
          </a:p>
        </p:txBody>
      </p:sp>
    </p:spTree>
    <p:extLst>
      <p:ext uri="{BB962C8B-B14F-4D97-AF65-F5344CB8AC3E}">
        <p14:creationId xmlns:p14="http://schemas.microsoft.com/office/powerpoint/2010/main" val="29964223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941832" y="0"/>
            <a:ext cx="6457950" cy="777240"/>
          </a:xfrm>
        </p:spPr>
        <p:txBody>
          <a:bodyPr>
            <a:normAutofit/>
          </a:bodyPr>
          <a:lstStyle/>
          <a:p>
            <a:r>
              <a:rPr lang="en-US" altLang="zh-CN" sz="3200" dirty="0">
                <a:solidFill>
                  <a:srgbClr val="FF0000"/>
                </a:solidFill>
              </a:rPr>
              <a:t>Einstein model</a:t>
            </a:r>
            <a:endParaRPr lang="en-US" sz="3200" baseline="-25000" dirty="0">
              <a:solidFill>
                <a:srgbClr val="FF0000"/>
              </a:solidFill>
            </a:endParaRPr>
          </a:p>
        </p:txBody>
      </p:sp>
      <p:sp>
        <p:nvSpPr>
          <p:cNvPr id="10" name="矩形 9"/>
          <p:cNvSpPr/>
          <p:nvPr/>
        </p:nvSpPr>
        <p:spPr>
          <a:xfrm>
            <a:off x="525127" y="3947659"/>
            <a:ext cx="8378058" cy="2031325"/>
          </a:xfrm>
          <a:prstGeom prst="rect">
            <a:avLst/>
          </a:prstGeom>
        </p:spPr>
        <p:txBody>
          <a:bodyPr wrap="square">
            <a:spAutoFit/>
          </a:bodyPr>
          <a:lstStyle/>
          <a:p>
            <a:pPr marL="285750" indent="-285750">
              <a:buFont typeface="Arial" pitchFamily="34" charset="0"/>
              <a:buChar char="•"/>
            </a:pPr>
            <a:r>
              <a:rPr lang="en-US" altLang="zh-CN" dirty="0"/>
              <a:t>A crystal containing </a:t>
            </a:r>
            <a:r>
              <a:rPr lang="en-US" altLang="zh-CN" i="1" dirty="0"/>
              <a:t>n </a:t>
            </a:r>
            <a:r>
              <a:rPr lang="en-US" altLang="zh-CN" dirty="0"/>
              <a:t>atoms,  </a:t>
            </a:r>
            <a:r>
              <a:rPr lang="en-US" altLang="zh-CN" b="1" dirty="0">
                <a:solidFill>
                  <a:srgbClr val="0000FF"/>
                </a:solidFill>
              </a:rPr>
              <a:t>each atom behaves as a harmonic oscillator vibrating independently about its lattice point</a:t>
            </a:r>
            <a:r>
              <a:rPr lang="en-US" altLang="zh-CN" dirty="0">
                <a:solidFill>
                  <a:srgbClr val="0000FF"/>
                </a:solidFill>
              </a:rPr>
              <a:t>. </a:t>
            </a:r>
          </a:p>
          <a:p>
            <a:pPr marL="285750" indent="-285750">
              <a:buFont typeface="Arial" pitchFamily="34" charset="0"/>
              <a:buChar char="•"/>
            </a:pPr>
            <a:endParaRPr lang="en-US" altLang="zh-CN" b="1" dirty="0">
              <a:solidFill>
                <a:srgbClr val="7030A0"/>
              </a:solidFill>
            </a:endParaRPr>
          </a:p>
          <a:p>
            <a:pPr marL="285750" indent="-285750">
              <a:buFont typeface="Arial" pitchFamily="34" charset="0"/>
              <a:buChar char="•"/>
            </a:pPr>
            <a:r>
              <a:rPr lang="en-US" altLang="zh-CN" dirty="0"/>
              <a:t>As the behavior of each oscillator is not influenced by the behavior of its neighbors, each oscillator vibrates with a single fixed frequency </a:t>
            </a:r>
            <a:r>
              <a:rPr lang="en-US" altLang="zh-CN" i="1" dirty="0"/>
              <a:t>v</a:t>
            </a:r>
          </a:p>
          <a:p>
            <a:pPr marL="285750" indent="-285750">
              <a:buFont typeface="Arial" pitchFamily="34" charset="0"/>
              <a:buChar char="•"/>
            </a:pPr>
            <a:endParaRPr lang="en-US" altLang="zh-CN" b="1" i="1" dirty="0">
              <a:solidFill>
                <a:srgbClr val="7030A0"/>
              </a:solidFill>
            </a:endParaRPr>
          </a:p>
          <a:p>
            <a:pPr marL="285750" indent="-285750">
              <a:buFont typeface="Arial" pitchFamily="34" charset="0"/>
              <a:buChar char="•"/>
            </a:pPr>
            <a:r>
              <a:rPr lang="en-US" altLang="zh-CN" dirty="0"/>
              <a:t>A system of such oscillators is called an Einstein crystal.</a:t>
            </a:r>
            <a:endParaRPr lang="zh-CN" altLang="en-US" dirty="0"/>
          </a:p>
        </p:txBody>
      </p:sp>
      <p:sp>
        <p:nvSpPr>
          <p:cNvPr id="11" name="矩形 10"/>
          <p:cNvSpPr/>
          <p:nvPr/>
        </p:nvSpPr>
        <p:spPr>
          <a:xfrm>
            <a:off x="641234" y="3366544"/>
            <a:ext cx="2467342" cy="369332"/>
          </a:xfrm>
          <a:prstGeom prst="rect">
            <a:avLst/>
          </a:prstGeom>
        </p:spPr>
        <p:txBody>
          <a:bodyPr wrap="none">
            <a:spAutoFit/>
          </a:bodyPr>
          <a:lstStyle/>
          <a:p>
            <a:r>
              <a:rPr lang="en-US" altLang="zh-CN" b="1" dirty="0">
                <a:solidFill>
                  <a:srgbClr val="0000FF"/>
                </a:solidFill>
              </a:rPr>
              <a:t>Einstein model, 1907</a:t>
            </a:r>
            <a:endParaRPr lang="zh-CN" altLang="en-US" b="1" dirty="0">
              <a:solidFill>
                <a:srgbClr val="0000FF"/>
              </a:solidFill>
            </a:endParaRPr>
          </a:p>
        </p:txBody>
      </p:sp>
      <p:pic>
        <p:nvPicPr>
          <p:cNvPr id="155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061" y="931856"/>
            <a:ext cx="2768579" cy="2245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图片 3">
            <a:extLst>
              <a:ext uri="{FF2B5EF4-FFF2-40B4-BE49-F238E27FC236}">
                <a16:creationId xmlns:a16="http://schemas.microsoft.com/office/drawing/2014/main" id="{B251E0D4-56CA-E54A-B1E0-A2B9332B2E31}"/>
              </a:ext>
            </a:extLst>
          </p:cNvPr>
          <p:cNvPicPr>
            <a:picLocks noChangeAspect="1"/>
          </p:cNvPicPr>
          <p:nvPr/>
        </p:nvPicPr>
        <p:blipFill rotWithShape="1">
          <a:blip r:embed="rId3">
            <a:extLst>
              <a:ext uri="{28A0092B-C50C-407E-A947-70E740481C1C}">
                <a14:useLocalDpi xmlns:a14="http://schemas.microsoft.com/office/drawing/2010/main" val="0"/>
              </a:ext>
            </a:extLst>
          </a:blip>
          <a:srcRect l="4531" t="3683" r="6542" b="22292"/>
          <a:stretch/>
        </p:blipFill>
        <p:spPr bwMode="auto">
          <a:xfrm>
            <a:off x="3966860" y="810463"/>
            <a:ext cx="1656142" cy="2091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箭头连接符 2"/>
          <p:cNvCxnSpPr/>
          <p:nvPr/>
        </p:nvCxnSpPr>
        <p:spPr>
          <a:xfrm>
            <a:off x="6391469" y="2835301"/>
            <a:ext cx="21460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V="1">
            <a:off x="6391469" y="931856"/>
            <a:ext cx="0" cy="19034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rot="16200000">
            <a:off x="5543245" y="1714301"/>
            <a:ext cx="1152880" cy="338554"/>
          </a:xfrm>
          <a:prstGeom prst="rect">
            <a:avLst/>
          </a:prstGeom>
          <a:noFill/>
        </p:spPr>
        <p:txBody>
          <a:bodyPr wrap="none" rtlCol="0">
            <a:spAutoFit/>
          </a:bodyPr>
          <a:lstStyle/>
          <a:p>
            <a:r>
              <a:rPr lang="en-US" altLang="zh-CN" sz="1600" dirty="0"/>
              <a:t>Frequency</a:t>
            </a:r>
            <a:endParaRPr lang="zh-CN" altLang="en-US" sz="1600" dirty="0"/>
          </a:p>
        </p:txBody>
      </p:sp>
      <p:sp>
        <p:nvSpPr>
          <p:cNvPr id="16" name="TextBox 15"/>
          <p:cNvSpPr txBox="1"/>
          <p:nvPr/>
        </p:nvSpPr>
        <p:spPr>
          <a:xfrm>
            <a:off x="6774160" y="2830624"/>
            <a:ext cx="1194045" cy="307777"/>
          </a:xfrm>
          <a:prstGeom prst="rect">
            <a:avLst/>
          </a:prstGeom>
          <a:noFill/>
        </p:spPr>
        <p:txBody>
          <a:bodyPr wrap="none" rtlCol="0">
            <a:spAutoFit/>
          </a:bodyPr>
          <a:lstStyle/>
          <a:p>
            <a:r>
              <a:rPr lang="en-US" altLang="zh-CN" sz="1400" dirty="0"/>
              <a:t>Wave Vector</a:t>
            </a:r>
            <a:endParaRPr lang="zh-CN" altLang="en-US" sz="1400" dirty="0"/>
          </a:p>
        </p:txBody>
      </p:sp>
      <p:sp>
        <p:nvSpPr>
          <p:cNvPr id="8" name="TextBox 7"/>
          <p:cNvSpPr txBox="1"/>
          <p:nvPr/>
        </p:nvSpPr>
        <p:spPr>
          <a:xfrm>
            <a:off x="6152435" y="2747931"/>
            <a:ext cx="287258" cy="307777"/>
          </a:xfrm>
          <a:prstGeom prst="rect">
            <a:avLst/>
          </a:prstGeom>
          <a:noFill/>
        </p:spPr>
        <p:txBody>
          <a:bodyPr wrap="none" rtlCol="0">
            <a:spAutoFit/>
          </a:bodyPr>
          <a:lstStyle/>
          <a:p>
            <a:r>
              <a:rPr lang="el-GR" altLang="zh-CN" sz="1400" i="1" dirty="0">
                <a:latin typeface="Times New Roman" pitchFamily="18" charset="0"/>
                <a:cs typeface="Times New Roman" pitchFamily="18" charset="0"/>
              </a:rPr>
              <a:t>Γ</a:t>
            </a:r>
            <a:endParaRPr lang="zh-CN" altLang="en-US" sz="1400" i="1" dirty="0">
              <a:latin typeface="Times New Roman" pitchFamily="18" charset="0"/>
              <a:cs typeface="Times New Roman" pitchFamily="18" charset="0"/>
            </a:endParaRPr>
          </a:p>
        </p:txBody>
      </p:sp>
      <p:cxnSp>
        <p:nvCxnSpPr>
          <p:cNvPr id="17" name="直接连接符 16"/>
          <p:cNvCxnSpPr/>
          <p:nvPr/>
        </p:nvCxnSpPr>
        <p:spPr>
          <a:xfrm>
            <a:off x="6439693" y="1595535"/>
            <a:ext cx="2023172" cy="0"/>
          </a:xfrm>
          <a:prstGeom prst="line">
            <a:avLst/>
          </a:prstGeom>
          <a:ln w="4762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4062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347663" y="857250"/>
          <a:ext cx="2597150" cy="1027113"/>
        </p:xfrm>
        <a:graphic>
          <a:graphicData uri="http://schemas.openxmlformats.org/presentationml/2006/ole">
            <mc:AlternateContent xmlns:mc="http://schemas.openxmlformats.org/markup-compatibility/2006">
              <mc:Choice xmlns:v="urn:schemas-microsoft-com:vml" Requires="v">
                <p:oleObj name="Equation" r:id="rId2" imgW="2311200" imgH="914400" progId="Equation.DSMT4">
                  <p:embed/>
                </p:oleObj>
              </mc:Choice>
              <mc:Fallback>
                <p:oleObj name="Equation" r:id="rId2" imgW="2311200" imgH="914400" progId="Equation.DSMT4">
                  <p:embed/>
                  <p:pic>
                    <p:nvPicPr>
                      <p:cNvPr id="10" name="对象 9"/>
                      <p:cNvPicPr/>
                      <p:nvPr/>
                    </p:nvPicPr>
                    <p:blipFill>
                      <a:blip r:embed="rId3"/>
                      <a:stretch>
                        <a:fillRect/>
                      </a:stretch>
                    </p:blipFill>
                    <p:spPr>
                      <a:xfrm>
                        <a:off x="347663" y="857250"/>
                        <a:ext cx="2597150" cy="102711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11150" y="1885950"/>
          <a:ext cx="3270250" cy="763588"/>
        </p:xfrm>
        <a:graphic>
          <a:graphicData uri="http://schemas.openxmlformats.org/presentationml/2006/ole">
            <mc:AlternateContent xmlns:mc="http://schemas.openxmlformats.org/markup-compatibility/2006">
              <mc:Choice xmlns:v="urn:schemas-microsoft-com:vml" Requires="v">
                <p:oleObj name="Equation" r:id="rId4" imgW="2933640" imgH="685800" progId="Equation.DSMT4">
                  <p:embed/>
                </p:oleObj>
              </mc:Choice>
              <mc:Fallback>
                <p:oleObj name="Equation" r:id="rId4" imgW="2933640" imgH="685800" progId="Equation.DSMT4">
                  <p:embed/>
                  <p:pic>
                    <p:nvPicPr>
                      <p:cNvPr id="11" name="对象 10"/>
                      <p:cNvPicPr>
                        <a:picLocks noChangeAspect="1" noChangeArrowheads="1"/>
                      </p:cNvPicPr>
                      <p:nvPr/>
                    </p:nvPicPr>
                    <p:blipFill>
                      <a:blip r:embed="rId5"/>
                      <a:srcRect/>
                      <a:stretch>
                        <a:fillRect/>
                      </a:stretch>
                    </p:blipFill>
                    <p:spPr bwMode="auto">
                      <a:xfrm>
                        <a:off x="311150" y="1885950"/>
                        <a:ext cx="3270250" cy="763588"/>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nvGraphicFramePr>
        <p:xfrm>
          <a:off x="4680371" y="1193087"/>
          <a:ext cx="3196557" cy="1260864"/>
        </p:xfrm>
        <a:graphic>
          <a:graphicData uri="http://schemas.openxmlformats.org/presentationml/2006/ole">
            <mc:AlternateContent xmlns:mc="http://schemas.openxmlformats.org/markup-compatibility/2006">
              <mc:Choice xmlns:v="urn:schemas-microsoft-com:vml" Requires="v">
                <p:oleObj name="Equation" r:id="rId6" imgW="2286000" imgH="901440" progId="Equation.DSMT4">
                  <p:embed/>
                </p:oleObj>
              </mc:Choice>
              <mc:Fallback>
                <p:oleObj name="Equation" r:id="rId6" imgW="2286000" imgH="901440" progId="Equation.DSMT4">
                  <p:embed/>
                  <p:pic>
                    <p:nvPicPr>
                      <p:cNvPr id="13" name="对象 12"/>
                      <p:cNvPicPr>
                        <a:picLocks noChangeAspect="1" noChangeArrowheads="1"/>
                      </p:cNvPicPr>
                      <p:nvPr/>
                    </p:nvPicPr>
                    <p:blipFill>
                      <a:blip r:embed="rId7"/>
                      <a:srcRect/>
                      <a:stretch>
                        <a:fillRect/>
                      </a:stretch>
                    </p:blipFill>
                    <p:spPr bwMode="auto">
                      <a:xfrm>
                        <a:off x="4680371" y="1193087"/>
                        <a:ext cx="3196557" cy="1260864"/>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nvGraphicFramePr>
        <p:xfrm>
          <a:off x="162347" y="2775274"/>
          <a:ext cx="3836987" cy="3152775"/>
        </p:xfrm>
        <a:graphic>
          <a:graphicData uri="http://schemas.openxmlformats.org/presentationml/2006/ole">
            <mc:AlternateContent xmlns:mc="http://schemas.openxmlformats.org/markup-compatibility/2006">
              <mc:Choice xmlns:v="urn:schemas-microsoft-com:vml" Requires="v">
                <p:oleObj name="Equation" r:id="rId8" imgW="3441600" imgH="2831760" progId="Equation.DSMT4">
                  <p:embed/>
                </p:oleObj>
              </mc:Choice>
              <mc:Fallback>
                <p:oleObj name="Equation" r:id="rId8" imgW="3441600" imgH="2831760" progId="Equation.DSMT4">
                  <p:embed/>
                  <p:pic>
                    <p:nvPicPr>
                      <p:cNvPr id="14" name="对象 13"/>
                      <p:cNvPicPr>
                        <a:picLocks noChangeAspect="1" noChangeArrowheads="1"/>
                      </p:cNvPicPr>
                      <p:nvPr/>
                    </p:nvPicPr>
                    <p:blipFill>
                      <a:blip r:embed="rId9"/>
                      <a:srcRect/>
                      <a:stretch>
                        <a:fillRect/>
                      </a:stretch>
                    </p:blipFill>
                    <p:spPr bwMode="auto">
                      <a:xfrm>
                        <a:off x="162347" y="2775274"/>
                        <a:ext cx="3836987" cy="3152775"/>
                      </a:xfrm>
                      <a:prstGeom prst="rect">
                        <a:avLst/>
                      </a:prstGeom>
                      <a:solidFill>
                        <a:schemeClr val="accent6">
                          <a:lumMod val="20000"/>
                          <a:lumOff val="80000"/>
                        </a:schemeClr>
                      </a:solidFill>
                      <a:ln>
                        <a:noFill/>
                      </a:ln>
                    </p:spPr>
                  </p:pic>
                </p:oleObj>
              </mc:Fallback>
            </mc:AlternateContent>
          </a:graphicData>
        </a:graphic>
      </p:graphicFrame>
      <p:sp>
        <p:nvSpPr>
          <p:cNvPr id="15" name="Title 1"/>
          <p:cNvSpPr txBox="1">
            <a:spLocks/>
          </p:cNvSpPr>
          <p:nvPr/>
        </p:nvSpPr>
        <p:spPr>
          <a:xfrm>
            <a:off x="1109783" y="0"/>
            <a:ext cx="6457950" cy="77724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3200" dirty="0">
                <a:solidFill>
                  <a:srgbClr val="FF0000"/>
                </a:solidFill>
              </a:rPr>
              <a:t>Einstein model</a:t>
            </a:r>
            <a:endParaRPr lang="en-US" sz="3200" baseline="-25000" dirty="0">
              <a:solidFill>
                <a:srgbClr val="FF0000"/>
              </a:solidFill>
            </a:endParaRPr>
          </a:p>
        </p:txBody>
      </p:sp>
      <p:graphicFrame>
        <p:nvGraphicFramePr>
          <p:cNvPr id="17" name="对象 16"/>
          <p:cNvGraphicFramePr>
            <a:graphicFrameLocks noChangeAspect="1"/>
          </p:cNvGraphicFramePr>
          <p:nvPr/>
        </p:nvGraphicFramePr>
        <p:xfrm>
          <a:off x="4765698" y="2937911"/>
          <a:ext cx="3372868" cy="747680"/>
        </p:xfrm>
        <a:graphic>
          <a:graphicData uri="http://schemas.openxmlformats.org/presentationml/2006/ole">
            <mc:AlternateContent xmlns:mc="http://schemas.openxmlformats.org/markup-compatibility/2006">
              <mc:Choice xmlns:v="urn:schemas-microsoft-com:vml" Requires="v">
                <p:oleObj name="Equation" r:id="rId10" imgW="2577960" imgH="571320" progId="Equation.DSMT4">
                  <p:embed/>
                </p:oleObj>
              </mc:Choice>
              <mc:Fallback>
                <p:oleObj name="Equation" r:id="rId10" imgW="2577960" imgH="571320" progId="Equation.DSMT4">
                  <p:embed/>
                  <p:pic>
                    <p:nvPicPr>
                      <p:cNvPr id="17" name="对象 16"/>
                      <p:cNvPicPr/>
                      <p:nvPr/>
                    </p:nvPicPr>
                    <p:blipFill>
                      <a:blip r:embed="rId11"/>
                      <a:stretch>
                        <a:fillRect/>
                      </a:stretch>
                    </p:blipFill>
                    <p:spPr>
                      <a:xfrm>
                        <a:off x="4765698" y="2937911"/>
                        <a:ext cx="3372868" cy="747680"/>
                      </a:xfrm>
                      <a:prstGeom prst="rect">
                        <a:avLst/>
                      </a:prstGeom>
                    </p:spPr>
                  </p:pic>
                </p:oleObj>
              </mc:Fallback>
            </mc:AlternateContent>
          </a:graphicData>
        </a:graphic>
      </p:graphicFrame>
      <p:sp>
        <p:nvSpPr>
          <p:cNvPr id="18" name="矩形 17"/>
          <p:cNvSpPr/>
          <p:nvPr/>
        </p:nvSpPr>
        <p:spPr>
          <a:xfrm>
            <a:off x="4264115" y="3859763"/>
            <a:ext cx="4646622" cy="923330"/>
          </a:xfrm>
          <a:prstGeom prst="rect">
            <a:avLst/>
          </a:prstGeom>
        </p:spPr>
        <p:txBody>
          <a:bodyPr wrap="square">
            <a:spAutoFit/>
          </a:bodyPr>
          <a:lstStyle/>
          <a:p>
            <a:pPr marL="285750" indent="-285750">
              <a:buFont typeface="Arial" pitchFamily="34" charset="0"/>
              <a:buChar char="•"/>
            </a:pPr>
            <a:r>
              <a:rPr lang="en-US" altLang="zh-CN" dirty="0"/>
              <a:t>Defining </a:t>
            </a:r>
            <a:r>
              <a:rPr lang="en-US" altLang="zh-CN" i="1" dirty="0" err="1"/>
              <a:t>hv</a:t>
            </a:r>
            <a:r>
              <a:rPr lang="en-US" altLang="zh-CN" i="1" dirty="0"/>
              <a:t>/k</a:t>
            </a:r>
            <a:r>
              <a:rPr lang="en-US" altLang="zh-CN" dirty="0"/>
              <a:t>=</a:t>
            </a:r>
            <a:r>
              <a:rPr lang="el-GR" altLang="zh-CN" dirty="0">
                <a:latin typeface="Times New Roman" panose="02020603050405020304"/>
                <a:cs typeface="Times New Roman" panose="02020603050405020304"/>
              </a:rPr>
              <a:t>θ</a:t>
            </a:r>
            <a:r>
              <a:rPr lang="en-US" altLang="zh-CN" baseline="-25000" dirty="0">
                <a:latin typeface="Times New Roman" panose="02020603050405020304"/>
                <a:cs typeface="Times New Roman" panose="02020603050405020304"/>
              </a:rPr>
              <a:t>E</a:t>
            </a:r>
            <a:r>
              <a:rPr lang="en-US" altLang="zh-CN" dirty="0"/>
              <a:t>, where </a:t>
            </a:r>
            <a:r>
              <a:rPr lang="el-GR" altLang="zh-CN" dirty="0">
                <a:latin typeface="Times New Roman" panose="02020603050405020304"/>
                <a:cs typeface="Times New Roman" panose="02020603050405020304"/>
              </a:rPr>
              <a:t>θ</a:t>
            </a:r>
            <a:r>
              <a:rPr lang="en-US" altLang="zh-CN" baseline="-25000" dirty="0">
                <a:latin typeface="Times New Roman" panose="02020603050405020304"/>
                <a:cs typeface="Times New Roman" panose="02020603050405020304"/>
              </a:rPr>
              <a:t>E</a:t>
            </a:r>
            <a:r>
              <a:rPr lang="en-US" altLang="zh-CN" i="1" dirty="0"/>
              <a:t> </a:t>
            </a:r>
            <a:r>
              <a:rPr lang="en-US" altLang="zh-CN" dirty="0"/>
              <a:t>is the Einstein characteristic temperature, </a:t>
            </a:r>
          </a:p>
          <a:p>
            <a:pPr marL="285750" indent="-285750">
              <a:buFont typeface="Arial" pitchFamily="34" charset="0"/>
              <a:buChar char="•"/>
            </a:pPr>
            <a:r>
              <a:rPr lang="en-US" altLang="zh-CN" i="1" dirty="0"/>
              <a:t>n </a:t>
            </a:r>
            <a:r>
              <a:rPr lang="en-US" altLang="zh-CN" dirty="0"/>
              <a:t>equal to Avogadro’s number N</a:t>
            </a:r>
            <a:r>
              <a:rPr lang="en-US" altLang="zh-CN" baseline="-25000" dirty="0"/>
              <a:t>a</a:t>
            </a:r>
            <a:r>
              <a:rPr lang="en-US" altLang="zh-CN" dirty="0"/>
              <a:t>, </a:t>
            </a:r>
            <a:r>
              <a:rPr lang="en-US" altLang="zh-CN" dirty="0" err="1"/>
              <a:t>nk</a:t>
            </a:r>
            <a:r>
              <a:rPr lang="en-US" altLang="zh-CN" baseline="-25000" dirty="0" err="1"/>
              <a:t>B</a:t>
            </a:r>
            <a:r>
              <a:rPr lang="en-US" altLang="zh-CN" dirty="0"/>
              <a:t> =R</a:t>
            </a:r>
            <a:endParaRPr lang="zh-CN" altLang="en-US" dirty="0"/>
          </a:p>
        </p:txBody>
      </p:sp>
      <p:graphicFrame>
        <p:nvGraphicFramePr>
          <p:cNvPr id="19" name="对象 18"/>
          <p:cNvGraphicFramePr>
            <a:graphicFrameLocks noChangeAspect="1"/>
          </p:cNvGraphicFramePr>
          <p:nvPr/>
        </p:nvGraphicFramePr>
        <p:xfrm>
          <a:off x="4547799" y="4953000"/>
          <a:ext cx="2916237" cy="1017588"/>
        </p:xfrm>
        <a:graphic>
          <a:graphicData uri="http://schemas.openxmlformats.org/presentationml/2006/ole">
            <mc:AlternateContent xmlns:mc="http://schemas.openxmlformats.org/markup-compatibility/2006">
              <mc:Choice xmlns:v="urn:schemas-microsoft-com:vml" Requires="v">
                <p:oleObj name="Equation" r:id="rId12" imgW="38404800" imgH="13411200" progId="Equation.DSMT4">
                  <p:embed/>
                </p:oleObj>
              </mc:Choice>
              <mc:Fallback>
                <p:oleObj name="Equation" r:id="rId12" imgW="38404800" imgH="13411200" progId="Equation.DSMT4">
                  <p:embed/>
                  <p:pic>
                    <p:nvPicPr>
                      <p:cNvPr id="19" name="对象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47799" y="4953000"/>
                        <a:ext cx="2916237"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913260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3192" y="863024"/>
            <a:ext cx="2646558" cy="461665"/>
          </a:xfrm>
          <a:prstGeom prst="rect">
            <a:avLst/>
          </a:prstGeom>
        </p:spPr>
        <p:txBody>
          <a:bodyPr wrap="none">
            <a:spAutoFit/>
          </a:bodyPr>
          <a:lstStyle/>
          <a:p>
            <a:r>
              <a:rPr lang="en-US" altLang="zh-CN" sz="2400" b="1" dirty="0">
                <a:solidFill>
                  <a:srgbClr val="0000FF"/>
                </a:solidFill>
              </a:rPr>
              <a:t>Debye model, 1912</a:t>
            </a:r>
            <a:endParaRPr lang="zh-CN" altLang="en-US" sz="2400" b="1" dirty="0">
              <a:solidFill>
                <a:srgbClr val="0000FF"/>
              </a:solidFill>
            </a:endParaRPr>
          </a:p>
        </p:txBody>
      </p:sp>
      <p:sp>
        <p:nvSpPr>
          <p:cNvPr id="10" name="矩形 9"/>
          <p:cNvSpPr/>
          <p:nvPr/>
        </p:nvSpPr>
        <p:spPr>
          <a:xfrm>
            <a:off x="921533" y="0"/>
            <a:ext cx="3555782" cy="584775"/>
          </a:xfrm>
          <a:prstGeom prst="rect">
            <a:avLst/>
          </a:prstGeom>
        </p:spPr>
        <p:txBody>
          <a:bodyPr wrap="none">
            <a:spAutoFit/>
          </a:bodyPr>
          <a:lstStyle/>
          <a:p>
            <a:r>
              <a:rPr lang="en-US" altLang="zh-CN" sz="3200" dirty="0">
                <a:solidFill>
                  <a:srgbClr val="FF0000"/>
                </a:solidFill>
              </a:rPr>
              <a:t>Debye model of </a:t>
            </a:r>
            <a:r>
              <a:rPr lang="en-US" altLang="zh-CN" sz="3200" dirty="0" err="1">
                <a:solidFill>
                  <a:srgbClr val="FF0000"/>
                </a:solidFill>
              </a:rPr>
              <a:t>c</a:t>
            </a:r>
            <a:r>
              <a:rPr lang="en-US" altLang="zh-CN" sz="3200" baseline="-25000" dirty="0" err="1">
                <a:solidFill>
                  <a:srgbClr val="FF0000"/>
                </a:solidFill>
              </a:rPr>
              <a:t>V</a:t>
            </a:r>
            <a:endParaRPr lang="zh-CN" altLang="en-US" sz="3200" dirty="0">
              <a:solidFill>
                <a:srgbClr val="FF0000"/>
              </a:solidFill>
            </a:endParaRPr>
          </a:p>
        </p:txBody>
      </p:sp>
      <p:sp>
        <p:nvSpPr>
          <p:cNvPr id="11" name="矩形 10"/>
          <p:cNvSpPr/>
          <p:nvPr/>
        </p:nvSpPr>
        <p:spPr>
          <a:xfrm>
            <a:off x="609600" y="1350240"/>
            <a:ext cx="7391400" cy="707886"/>
          </a:xfrm>
          <a:prstGeom prst="rect">
            <a:avLst/>
          </a:prstGeom>
          <a:solidFill>
            <a:schemeClr val="accent3">
              <a:lumMod val="60000"/>
              <a:lumOff val="40000"/>
            </a:schemeClr>
          </a:solidFill>
        </p:spPr>
        <p:txBody>
          <a:bodyPr wrap="square">
            <a:spAutoFit/>
          </a:bodyPr>
          <a:lstStyle/>
          <a:p>
            <a:r>
              <a:rPr lang="en-US" altLang="zh-CN" sz="2000" dirty="0">
                <a:solidFill>
                  <a:schemeClr val="accent2">
                    <a:lumMod val="50000"/>
                  </a:schemeClr>
                </a:solidFill>
              </a:rPr>
              <a:t>Einstein’s assumption:  </a:t>
            </a:r>
          </a:p>
          <a:p>
            <a:r>
              <a:rPr lang="en-US" altLang="zh-CN" sz="2000" dirty="0">
                <a:solidFill>
                  <a:schemeClr val="accent2">
                    <a:lumMod val="50000"/>
                  </a:schemeClr>
                </a:solidFill>
              </a:rPr>
              <a:t>the assumption the oscillators vibrate with a single frequency</a:t>
            </a:r>
            <a:endParaRPr lang="zh-CN" altLang="en-US" sz="2000" dirty="0">
              <a:solidFill>
                <a:schemeClr val="accent2">
                  <a:lumMod val="50000"/>
                </a:schemeClr>
              </a:solidFill>
            </a:endParaRPr>
          </a:p>
        </p:txBody>
      </p:sp>
      <p:sp>
        <p:nvSpPr>
          <p:cNvPr id="12" name="矩形 11"/>
          <p:cNvSpPr/>
          <p:nvPr/>
        </p:nvSpPr>
        <p:spPr>
          <a:xfrm>
            <a:off x="609600" y="2210526"/>
            <a:ext cx="7391400" cy="707886"/>
          </a:xfrm>
          <a:prstGeom prst="rect">
            <a:avLst/>
          </a:prstGeom>
          <a:solidFill>
            <a:schemeClr val="accent3">
              <a:lumMod val="60000"/>
              <a:lumOff val="40000"/>
            </a:schemeClr>
          </a:solidFill>
        </p:spPr>
        <p:txBody>
          <a:bodyPr wrap="square">
            <a:spAutoFit/>
          </a:bodyPr>
          <a:lstStyle/>
          <a:p>
            <a:r>
              <a:rPr lang="en-US" altLang="zh-CN" sz="2000" dirty="0">
                <a:solidFill>
                  <a:schemeClr val="accent2">
                    <a:lumMod val="50000"/>
                  </a:schemeClr>
                </a:solidFill>
              </a:rPr>
              <a:t>Debye’s modification:  </a:t>
            </a:r>
          </a:p>
          <a:p>
            <a:r>
              <a:rPr lang="en-US" altLang="zh-CN" sz="2000" dirty="0">
                <a:solidFill>
                  <a:schemeClr val="accent2">
                    <a:lumMod val="50000"/>
                  </a:schemeClr>
                </a:solidFill>
              </a:rPr>
              <a:t>the oscillators vibrate with in a rang of frequency</a:t>
            </a:r>
            <a:endParaRPr lang="zh-CN" altLang="en-US" sz="2000" dirty="0">
              <a:solidFill>
                <a:schemeClr val="accent2">
                  <a:lumMod val="50000"/>
                </a:schemeClr>
              </a:solidFill>
            </a:endParaRPr>
          </a:p>
        </p:txBody>
      </p:sp>
      <p:graphicFrame>
        <p:nvGraphicFramePr>
          <p:cNvPr id="2" name="对象 1"/>
          <p:cNvGraphicFramePr>
            <a:graphicFrameLocks noChangeAspect="1"/>
          </p:cNvGraphicFramePr>
          <p:nvPr/>
        </p:nvGraphicFramePr>
        <p:xfrm>
          <a:off x="5217076" y="3106903"/>
          <a:ext cx="2895892" cy="3284052"/>
        </p:xfrm>
        <a:graphic>
          <a:graphicData uri="http://schemas.openxmlformats.org/presentationml/2006/ole">
            <mc:AlternateContent xmlns:mc="http://schemas.openxmlformats.org/markup-compatibility/2006">
              <mc:Choice xmlns:v="urn:schemas-microsoft-com:vml" Requires="v">
                <p:oleObj name="Graph" r:id="rId2" imgW="16459200" imgH="18656300" progId="Origin50.Graph">
                  <p:embed/>
                </p:oleObj>
              </mc:Choice>
              <mc:Fallback>
                <p:oleObj name="Graph" r:id="rId2" imgW="16459200" imgH="18656300" progId="Origin50.Graph">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7076" y="3106903"/>
                        <a:ext cx="2895892" cy="3284052"/>
                      </a:xfrm>
                      <a:prstGeom prst="rect">
                        <a:avLst/>
                      </a:prstGeom>
                      <a:noFill/>
                      <a:ln>
                        <a:noFill/>
                      </a:ln>
                    </p:spPr>
                  </p:pic>
                </p:oleObj>
              </mc:Fallback>
            </mc:AlternateContent>
          </a:graphicData>
        </a:graphic>
      </p:graphicFrame>
      <p:pic>
        <p:nvPicPr>
          <p:cNvPr id="16" name="图片 1">
            <a:extLst>
              <a:ext uri="{FF2B5EF4-FFF2-40B4-BE49-F238E27FC236}">
                <a16:creationId xmlns:a16="http://schemas.microsoft.com/office/drawing/2014/main" id="{DC9F16D3-078F-AE47-96AA-EFE7DEFB84D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167" y="3585093"/>
            <a:ext cx="4608513"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79997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23583" y="127909"/>
            <a:ext cx="1851789" cy="400110"/>
          </a:xfrm>
          <a:prstGeom prst="rect">
            <a:avLst/>
          </a:prstGeom>
        </p:spPr>
        <p:txBody>
          <a:bodyPr wrap="none">
            <a:spAutoFit/>
          </a:bodyPr>
          <a:lstStyle/>
          <a:p>
            <a:r>
              <a:rPr lang="en-US" altLang="zh-CN" sz="2000" b="1" dirty="0">
                <a:solidFill>
                  <a:srgbClr val="FF0000"/>
                </a:solidFill>
              </a:rPr>
              <a:t>Debye model </a:t>
            </a:r>
            <a:endParaRPr lang="zh-CN" altLang="en-US" sz="2000" dirty="0"/>
          </a:p>
        </p:txBody>
      </p:sp>
      <p:pic>
        <p:nvPicPr>
          <p:cNvPr id="1617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167" y="1064462"/>
            <a:ext cx="1366934" cy="2050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494167" y="3114863"/>
            <a:ext cx="1467068" cy="646331"/>
          </a:xfrm>
          <a:prstGeom prst="rect">
            <a:avLst/>
          </a:prstGeom>
        </p:spPr>
        <p:txBody>
          <a:bodyPr wrap="none">
            <a:spAutoFit/>
          </a:bodyPr>
          <a:lstStyle/>
          <a:p>
            <a:r>
              <a:rPr lang="en-US" altLang="zh-CN" dirty="0"/>
              <a:t>Peter Debye</a:t>
            </a:r>
          </a:p>
          <a:p>
            <a:r>
              <a:rPr lang="en-US" altLang="zh-CN" dirty="0"/>
              <a:t>1884-1966</a:t>
            </a:r>
            <a:endParaRPr lang="zh-CN" altLang="en-US" dirty="0"/>
          </a:p>
        </p:txBody>
      </p:sp>
      <p:sp>
        <p:nvSpPr>
          <p:cNvPr id="4" name="矩形 3"/>
          <p:cNvSpPr/>
          <p:nvPr/>
        </p:nvSpPr>
        <p:spPr>
          <a:xfrm>
            <a:off x="289249" y="3915080"/>
            <a:ext cx="2961067" cy="307777"/>
          </a:xfrm>
          <a:prstGeom prst="rect">
            <a:avLst/>
          </a:prstGeom>
        </p:spPr>
        <p:txBody>
          <a:bodyPr wrap="none">
            <a:spAutoFit/>
          </a:bodyPr>
          <a:lstStyle/>
          <a:p>
            <a:r>
              <a:rPr lang="en-US" altLang="zh-CN" sz="1400" dirty="0"/>
              <a:t>The Nobel Prize in Chemistry 1936</a:t>
            </a:r>
            <a:endParaRPr lang="zh-CN" altLang="en-US" sz="1400" dirty="0"/>
          </a:p>
        </p:txBody>
      </p:sp>
      <p:cxnSp>
        <p:nvCxnSpPr>
          <p:cNvPr id="7" name="直接箭头连接符 6"/>
          <p:cNvCxnSpPr/>
          <p:nvPr/>
        </p:nvCxnSpPr>
        <p:spPr>
          <a:xfrm>
            <a:off x="3909526" y="2659487"/>
            <a:ext cx="21460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3909526" y="756042"/>
            <a:ext cx="0" cy="19034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rot="16200000">
            <a:off x="3061302" y="1538487"/>
            <a:ext cx="1152880" cy="338554"/>
          </a:xfrm>
          <a:prstGeom prst="rect">
            <a:avLst/>
          </a:prstGeom>
          <a:noFill/>
        </p:spPr>
        <p:txBody>
          <a:bodyPr wrap="none" rtlCol="0">
            <a:spAutoFit/>
          </a:bodyPr>
          <a:lstStyle/>
          <a:p>
            <a:r>
              <a:rPr lang="en-US" altLang="zh-CN" sz="1600" dirty="0"/>
              <a:t>Frequency</a:t>
            </a:r>
            <a:endParaRPr lang="zh-CN" altLang="en-US" sz="1600" dirty="0"/>
          </a:p>
        </p:txBody>
      </p:sp>
      <p:sp>
        <p:nvSpPr>
          <p:cNvPr id="10" name="TextBox 9"/>
          <p:cNvSpPr txBox="1"/>
          <p:nvPr/>
        </p:nvSpPr>
        <p:spPr>
          <a:xfrm>
            <a:off x="4292217" y="2654810"/>
            <a:ext cx="1194045" cy="307777"/>
          </a:xfrm>
          <a:prstGeom prst="rect">
            <a:avLst/>
          </a:prstGeom>
          <a:noFill/>
        </p:spPr>
        <p:txBody>
          <a:bodyPr wrap="none" rtlCol="0">
            <a:spAutoFit/>
          </a:bodyPr>
          <a:lstStyle/>
          <a:p>
            <a:r>
              <a:rPr lang="en-US" altLang="zh-CN" sz="1400" dirty="0"/>
              <a:t>Wave Vector</a:t>
            </a:r>
            <a:endParaRPr lang="zh-CN" altLang="en-US" sz="1400" dirty="0"/>
          </a:p>
        </p:txBody>
      </p:sp>
      <p:sp>
        <p:nvSpPr>
          <p:cNvPr id="11" name="TextBox 10"/>
          <p:cNvSpPr txBox="1"/>
          <p:nvPr/>
        </p:nvSpPr>
        <p:spPr>
          <a:xfrm>
            <a:off x="3670492" y="2572117"/>
            <a:ext cx="287258" cy="307777"/>
          </a:xfrm>
          <a:prstGeom prst="rect">
            <a:avLst/>
          </a:prstGeom>
          <a:noFill/>
        </p:spPr>
        <p:txBody>
          <a:bodyPr wrap="none" rtlCol="0">
            <a:spAutoFit/>
          </a:bodyPr>
          <a:lstStyle/>
          <a:p>
            <a:r>
              <a:rPr lang="el-GR" altLang="zh-CN" sz="1400" i="1" dirty="0">
                <a:latin typeface="Times New Roman" pitchFamily="18" charset="0"/>
                <a:cs typeface="Times New Roman" pitchFamily="18" charset="0"/>
              </a:rPr>
              <a:t>Γ</a:t>
            </a:r>
            <a:endParaRPr lang="zh-CN" altLang="en-US" sz="1400" i="1" dirty="0">
              <a:latin typeface="Times New Roman" pitchFamily="18" charset="0"/>
              <a:cs typeface="Times New Roman" pitchFamily="18" charset="0"/>
            </a:endParaRPr>
          </a:p>
        </p:txBody>
      </p:sp>
      <p:cxnSp>
        <p:nvCxnSpPr>
          <p:cNvPr id="12" name="直接连接符 11"/>
          <p:cNvCxnSpPr/>
          <p:nvPr/>
        </p:nvCxnSpPr>
        <p:spPr>
          <a:xfrm flipV="1">
            <a:off x="3909526" y="1436914"/>
            <a:ext cx="1399592" cy="1222574"/>
          </a:xfrm>
          <a:prstGeom prst="line">
            <a:avLst/>
          </a:prstGeom>
          <a:ln w="4762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411943" y="3084151"/>
            <a:ext cx="2957676" cy="1077218"/>
          </a:xfrm>
          <a:prstGeom prst="rect">
            <a:avLst/>
          </a:prstGeom>
          <a:noFill/>
        </p:spPr>
        <p:txBody>
          <a:bodyPr wrap="square" rtlCol="0">
            <a:spAutoFit/>
          </a:bodyPr>
          <a:lstStyle/>
          <a:p>
            <a:pPr marL="285750" indent="-285750">
              <a:buFont typeface="Arial" pitchFamily="34" charset="0"/>
              <a:buChar char="•"/>
            </a:pPr>
            <a:r>
              <a:rPr lang="en-US" altLang="zh-CN" sz="1600" dirty="0"/>
              <a:t>linear dispersion relationship</a:t>
            </a:r>
          </a:p>
          <a:p>
            <a:pPr marL="285750" indent="-285750">
              <a:buFont typeface="Arial" pitchFamily="34" charset="0"/>
              <a:buChar char="•"/>
            </a:pPr>
            <a:r>
              <a:rPr lang="en-US" altLang="zh-CN" sz="1600" dirty="0"/>
              <a:t>Cut-off frequency:  </a:t>
            </a:r>
            <a:r>
              <a:rPr lang="el-GR" altLang="zh-CN" sz="1600" dirty="0"/>
              <a:t>ω</a:t>
            </a:r>
            <a:r>
              <a:rPr lang="en-US" altLang="zh-CN" sz="1600" baseline="-25000" dirty="0"/>
              <a:t>D</a:t>
            </a:r>
          </a:p>
          <a:p>
            <a:pPr marL="285750" indent="-285750">
              <a:buFont typeface="Arial" pitchFamily="34" charset="0"/>
              <a:buChar char="•"/>
            </a:pPr>
            <a:r>
              <a:rPr lang="en-US" altLang="zh-CN" sz="1600" dirty="0"/>
              <a:t>Cut-off frequency:  </a:t>
            </a:r>
            <a:r>
              <a:rPr lang="en-US" altLang="zh-CN" sz="1600" dirty="0" err="1"/>
              <a:t>k</a:t>
            </a:r>
            <a:r>
              <a:rPr lang="en-US" altLang="zh-CN" sz="1600" baseline="-25000" dirty="0" err="1"/>
              <a:t>D</a:t>
            </a:r>
            <a:endParaRPr lang="en-US" altLang="zh-CN" sz="1600" baseline="-25000" dirty="0"/>
          </a:p>
        </p:txBody>
      </p:sp>
      <p:graphicFrame>
        <p:nvGraphicFramePr>
          <p:cNvPr id="16" name="对象 15"/>
          <p:cNvGraphicFramePr>
            <a:graphicFrameLocks noChangeAspect="1"/>
          </p:cNvGraphicFramePr>
          <p:nvPr/>
        </p:nvGraphicFramePr>
        <p:xfrm>
          <a:off x="4248150" y="1643063"/>
          <a:ext cx="615950" cy="231775"/>
        </p:xfrm>
        <a:graphic>
          <a:graphicData uri="http://schemas.openxmlformats.org/presentationml/2006/ole">
            <mc:AlternateContent xmlns:mc="http://schemas.openxmlformats.org/markup-compatibility/2006">
              <mc:Choice xmlns:v="urn:schemas-microsoft-com:vml" Requires="v">
                <p:oleObj name="Equation" r:id="rId4" imgW="469800" imgH="177480" progId="Equation.DSMT4">
                  <p:embed/>
                </p:oleObj>
              </mc:Choice>
              <mc:Fallback>
                <p:oleObj name="Equation" r:id="rId4" imgW="469800" imgH="177480" progId="Equation.DSMT4">
                  <p:embed/>
                  <p:pic>
                    <p:nvPicPr>
                      <p:cNvPr id="16" name="对象 15"/>
                      <p:cNvPicPr>
                        <a:picLocks noChangeAspect="1" noChangeArrowheads="1"/>
                      </p:cNvPicPr>
                      <p:nvPr/>
                    </p:nvPicPr>
                    <p:blipFill>
                      <a:blip r:embed="rId5"/>
                      <a:srcRect/>
                      <a:stretch>
                        <a:fillRect/>
                      </a:stretch>
                    </p:blipFill>
                    <p:spPr bwMode="auto">
                      <a:xfrm>
                        <a:off x="4248150" y="1643063"/>
                        <a:ext cx="6159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直接连接符 17"/>
          <p:cNvCxnSpPr/>
          <p:nvPr/>
        </p:nvCxnSpPr>
        <p:spPr>
          <a:xfrm flipH="1">
            <a:off x="3957750" y="1436914"/>
            <a:ext cx="1840653"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aphicFrame>
        <p:nvGraphicFramePr>
          <p:cNvPr id="21" name="对象 20"/>
          <p:cNvGraphicFramePr>
            <a:graphicFrameLocks noChangeAspect="1"/>
          </p:cNvGraphicFramePr>
          <p:nvPr/>
        </p:nvGraphicFramePr>
        <p:xfrm>
          <a:off x="5465763" y="1084263"/>
          <a:ext cx="280987" cy="296862"/>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21" name="对象 20"/>
                      <p:cNvPicPr>
                        <a:picLocks noChangeAspect="1" noChangeArrowheads="1"/>
                      </p:cNvPicPr>
                      <p:nvPr/>
                    </p:nvPicPr>
                    <p:blipFill>
                      <a:blip r:embed="rId7"/>
                      <a:srcRect/>
                      <a:stretch>
                        <a:fillRect/>
                      </a:stretch>
                    </p:blipFill>
                    <p:spPr bwMode="auto">
                      <a:xfrm>
                        <a:off x="5465763" y="1084263"/>
                        <a:ext cx="280987"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1801" name="Picture 9"/>
          <p:cNvPicPr>
            <a:picLocks noChangeAspect="1" noChangeArrowheads="1"/>
          </p:cNvPicPr>
          <p:nvPr/>
        </p:nvPicPr>
        <p:blipFill rotWithShape="1">
          <a:blip r:embed="rId8">
            <a:extLst>
              <a:ext uri="{28A0092B-C50C-407E-A947-70E740481C1C}">
                <a14:useLocalDpi xmlns:a14="http://schemas.microsoft.com/office/drawing/2010/main" val="0"/>
              </a:ext>
            </a:extLst>
          </a:blip>
          <a:srcRect r="46912"/>
          <a:stretch/>
        </p:blipFill>
        <p:spPr bwMode="auto">
          <a:xfrm>
            <a:off x="6430334" y="877078"/>
            <a:ext cx="2441512" cy="2395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任意多边形 22"/>
          <p:cNvSpPr/>
          <p:nvPr/>
        </p:nvSpPr>
        <p:spPr>
          <a:xfrm>
            <a:off x="4320073" y="877078"/>
            <a:ext cx="242596" cy="858416"/>
          </a:xfrm>
          <a:custGeom>
            <a:avLst/>
            <a:gdLst>
              <a:gd name="connsiteX0" fmla="*/ 18662 w 242596"/>
              <a:gd name="connsiteY0" fmla="*/ 858416 h 858416"/>
              <a:gd name="connsiteX1" fmla="*/ 0 w 242596"/>
              <a:gd name="connsiteY1" fmla="*/ 307910 h 858416"/>
              <a:gd name="connsiteX2" fmla="*/ 242596 w 242596"/>
              <a:gd name="connsiteY2" fmla="*/ 0 h 858416"/>
            </a:gdLst>
            <a:ahLst/>
            <a:cxnLst>
              <a:cxn ang="0">
                <a:pos x="connsiteX0" y="connsiteY0"/>
              </a:cxn>
              <a:cxn ang="0">
                <a:pos x="connsiteX1" y="connsiteY1"/>
              </a:cxn>
              <a:cxn ang="0">
                <a:pos x="connsiteX2" y="connsiteY2"/>
              </a:cxn>
            </a:cxnLst>
            <a:rect l="l" t="t" r="r" b="b"/>
            <a:pathLst>
              <a:path w="242596" h="858416">
                <a:moveTo>
                  <a:pt x="18662" y="858416"/>
                </a:moveTo>
                <a:lnTo>
                  <a:pt x="0" y="307910"/>
                </a:lnTo>
                <a:lnTo>
                  <a:pt x="242596" y="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TextBox 23"/>
          <p:cNvSpPr txBox="1"/>
          <p:nvPr/>
        </p:nvSpPr>
        <p:spPr>
          <a:xfrm>
            <a:off x="4124253" y="541242"/>
            <a:ext cx="970137" cy="523220"/>
          </a:xfrm>
          <a:prstGeom prst="rect">
            <a:avLst/>
          </a:prstGeom>
          <a:noFill/>
        </p:spPr>
        <p:txBody>
          <a:bodyPr wrap="none" rtlCol="0">
            <a:spAutoFit/>
          </a:bodyPr>
          <a:lstStyle/>
          <a:p>
            <a:r>
              <a:rPr lang="en-US" altLang="zh-CN" sz="1400" dirty="0"/>
              <a:t>Angular </a:t>
            </a:r>
          </a:p>
          <a:p>
            <a:r>
              <a:rPr lang="en-US" altLang="zh-CN" sz="1400" dirty="0"/>
              <a:t>frequency</a:t>
            </a:r>
            <a:endParaRPr lang="zh-CN" altLang="en-US" sz="1400" dirty="0"/>
          </a:p>
        </p:txBody>
      </p:sp>
      <p:sp>
        <p:nvSpPr>
          <p:cNvPr id="28" name="TextBox 27"/>
          <p:cNvSpPr txBox="1"/>
          <p:nvPr/>
        </p:nvSpPr>
        <p:spPr>
          <a:xfrm>
            <a:off x="4590523" y="2130448"/>
            <a:ext cx="671979" cy="523220"/>
          </a:xfrm>
          <a:prstGeom prst="rect">
            <a:avLst/>
          </a:prstGeom>
          <a:noFill/>
        </p:spPr>
        <p:txBody>
          <a:bodyPr wrap="none" rtlCol="0">
            <a:spAutoFit/>
          </a:bodyPr>
          <a:lstStyle/>
          <a:p>
            <a:r>
              <a:rPr lang="en-US" altLang="zh-CN" sz="1400" dirty="0"/>
              <a:t>Wave</a:t>
            </a:r>
          </a:p>
          <a:p>
            <a:r>
              <a:rPr lang="en-US" altLang="zh-CN" sz="1400" dirty="0"/>
              <a:t>vector</a:t>
            </a:r>
            <a:endParaRPr lang="zh-CN" altLang="en-US" sz="1400" dirty="0"/>
          </a:p>
        </p:txBody>
      </p:sp>
      <p:sp>
        <p:nvSpPr>
          <p:cNvPr id="25" name="任意多边形 24"/>
          <p:cNvSpPr/>
          <p:nvPr/>
        </p:nvSpPr>
        <p:spPr>
          <a:xfrm>
            <a:off x="4805265" y="1791478"/>
            <a:ext cx="270588" cy="363893"/>
          </a:xfrm>
          <a:custGeom>
            <a:avLst/>
            <a:gdLst>
              <a:gd name="connsiteX0" fmla="*/ 0 w 270588"/>
              <a:gd name="connsiteY0" fmla="*/ 0 h 363893"/>
              <a:gd name="connsiteX1" fmla="*/ 102637 w 270588"/>
              <a:gd name="connsiteY1" fmla="*/ 307910 h 363893"/>
              <a:gd name="connsiteX2" fmla="*/ 270588 w 270588"/>
              <a:gd name="connsiteY2" fmla="*/ 363893 h 363893"/>
            </a:gdLst>
            <a:ahLst/>
            <a:cxnLst>
              <a:cxn ang="0">
                <a:pos x="connsiteX0" y="connsiteY0"/>
              </a:cxn>
              <a:cxn ang="0">
                <a:pos x="connsiteX1" y="connsiteY1"/>
              </a:cxn>
              <a:cxn ang="0">
                <a:pos x="connsiteX2" y="connsiteY2"/>
              </a:cxn>
            </a:cxnLst>
            <a:rect l="l" t="t" r="r" b="b"/>
            <a:pathLst>
              <a:path w="270588" h="363893">
                <a:moveTo>
                  <a:pt x="0" y="0"/>
                </a:moveTo>
                <a:lnTo>
                  <a:pt x="102637" y="307910"/>
                </a:lnTo>
                <a:lnTo>
                  <a:pt x="270588" y="363893"/>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任意多边形 25"/>
          <p:cNvSpPr/>
          <p:nvPr/>
        </p:nvSpPr>
        <p:spPr>
          <a:xfrm>
            <a:off x="4655976" y="877078"/>
            <a:ext cx="746448" cy="821093"/>
          </a:xfrm>
          <a:custGeom>
            <a:avLst/>
            <a:gdLst>
              <a:gd name="connsiteX0" fmla="*/ 0 w 746448"/>
              <a:gd name="connsiteY0" fmla="*/ 821093 h 821093"/>
              <a:gd name="connsiteX1" fmla="*/ 447869 w 746448"/>
              <a:gd name="connsiteY1" fmla="*/ 186612 h 821093"/>
              <a:gd name="connsiteX2" fmla="*/ 746448 w 746448"/>
              <a:gd name="connsiteY2" fmla="*/ 0 h 821093"/>
            </a:gdLst>
            <a:ahLst/>
            <a:cxnLst>
              <a:cxn ang="0">
                <a:pos x="connsiteX0" y="connsiteY0"/>
              </a:cxn>
              <a:cxn ang="0">
                <a:pos x="connsiteX1" y="connsiteY1"/>
              </a:cxn>
              <a:cxn ang="0">
                <a:pos x="connsiteX2" y="connsiteY2"/>
              </a:cxn>
            </a:cxnLst>
            <a:rect l="l" t="t" r="r" b="b"/>
            <a:pathLst>
              <a:path w="746448" h="821093">
                <a:moveTo>
                  <a:pt x="0" y="821093"/>
                </a:moveTo>
                <a:lnTo>
                  <a:pt x="447869" y="186612"/>
                </a:lnTo>
                <a:lnTo>
                  <a:pt x="746448" y="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TextBox 30"/>
          <p:cNvSpPr txBox="1"/>
          <p:nvPr/>
        </p:nvSpPr>
        <p:spPr>
          <a:xfrm>
            <a:off x="5337182" y="353858"/>
            <a:ext cx="801823" cy="523220"/>
          </a:xfrm>
          <a:prstGeom prst="rect">
            <a:avLst/>
          </a:prstGeom>
          <a:noFill/>
        </p:spPr>
        <p:txBody>
          <a:bodyPr wrap="none" rtlCol="0">
            <a:spAutoFit/>
          </a:bodyPr>
          <a:lstStyle/>
          <a:p>
            <a:r>
              <a:rPr lang="en-US" altLang="zh-CN" sz="1400" dirty="0"/>
              <a:t>Phonon</a:t>
            </a:r>
          </a:p>
          <a:p>
            <a:r>
              <a:rPr lang="en-US" altLang="zh-CN" sz="1400" dirty="0"/>
              <a:t>velocity</a:t>
            </a:r>
            <a:endParaRPr lang="zh-CN" altLang="en-US" sz="1400" dirty="0"/>
          </a:p>
        </p:txBody>
      </p:sp>
      <p:cxnSp>
        <p:nvCxnSpPr>
          <p:cNvPr id="32" name="直接连接符 31"/>
          <p:cNvCxnSpPr/>
          <p:nvPr/>
        </p:nvCxnSpPr>
        <p:spPr>
          <a:xfrm flipH="1">
            <a:off x="5309118" y="1296955"/>
            <a:ext cx="1" cy="135785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aphicFrame>
        <p:nvGraphicFramePr>
          <p:cNvPr id="30" name="对象 29"/>
          <p:cNvGraphicFramePr>
            <a:graphicFrameLocks noChangeAspect="1"/>
          </p:cNvGraphicFramePr>
          <p:nvPr/>
        </p:nvGraphicFramePr>
        <p:xfrm>
          <a:off x="6371253" y="3696430"/>
          <a:ext cx="1404938" cy="314325"/>
        </p:xfrm>
        <a:graphic>
          <a:graphicData uri="http://schemas.openxmlformats.org/presentationml/2006/ole">
            <mc:AlternateContent xmlns:mc="http://schemas.openxmlformats.org/markup-compatibility/2006">
              <mc:Choice xmlns:v="urn:schemas-microsoft-com:vml" Requires="v">
                <p:oleObj name="Equation" r:id="rId9" imgW="1079280" imgH="241200" progId="Equation.DSMT4">
                  <p:embed/>
                </p:oleObj>
              </mc:Choice>
              <mc:Fallback>
                <p:oleObj name="Equation" r:id="rId9" imgW="1079280" imgH="241200" progId="Equation.DSMT4">
                  <p:embed/>
                  <p:pic>
                    <p:nvPicPr>
                      <p:cNvPr id="30" name="对象 29"/>
                      <p:cNvPicPr>
                        <a:picLocks noChangeAspect="1" noChangeArrowheads="1"/>
                      </p:cNvPicPr>
                      <p:nvPr/>
                    </p:nvPicPr>
                    <p:blipFill>
                      <a:blip r:embed="rId10"/>
                      <a:srcRect/>
                      <a:stretch>
                        <a:fillRect/>
                      </a:stretch>
                    </p:blipFill>
                    <p:spPr bwMode="auto">
                      <a:xfrm>
                        <a:off x="6371253" y="3696430"/>
                        <a:ext cx="1404938" cy="314325"/>
                      </a:xfrm>
                      <a:prstGeom prst="rect">
                        <a:avLst/>
                      </a:prstGeom>
                      <a:solidFill>
                        <a:schemeClr val="accent6">
                          <a:lumMod val="20000"/>
                          <a:lumOff val="80000"/>
                        </a:schemeClr>
                      </a:solidFill>
                      <a:ln>
                        <a:noFill/>
                      </a:ln>
                    </p:spPr>
                  </p:pic>
                </p:oleObj>
              </mc:Fallback>
            </mc:AlternateContent>
          </a:graphicData>
        </a:graphic>
      </p:graphicFrame>
      <p:graphicFrame>
        <p:nvGraphicFramePr>
          <p:cNvPr id="33" name="对象 32"/>
          <p:cNvGraphicFramePr>
            <a:graphicFrameLocks noChangeAspect="1"/>
          </p:cNvGraphicFramePr>
          <p:nvPr/>
        </p:nvGraphicFramePr>
        <p:xfrm>
          <a:off x="8087082" y="3527152"/>
          <a:ext cx="727075" cy="528638"/>
        </p:xfrm>
        <a:graphic>
          <a:graphicData uri="http://schemas.openxmlformats.org/presentationml/2006/ole">
            <mc:AlternateContent xmlns:mc="http://schemas.openxmlformats.org/markup-compatibility/2006">
              <mc:Choice xmlns:v="urn:schemas-microsoft-com:vml" Requires="v">
                <p:oleObj name="Equation" r:id="rId11" imgW="558720" imgH="406080" progId="Equation.DSMT4">
                  <p:embed/>
                </p:oleObj>
              </mc:Choice>
              <mc:Fallback>
                <p:oleObj name="Equation" r:id="rId11" imgW="558720" imgH="406080" progId="Equation.DSMT4">
                  <p:embed/>
                  <p:pic>
                    <p:nvPicPr>
                      <p:cNvPr id="33" name="对象 32"/>
                      <p:cNvPicPr>
                        <a:picLocks noChangeAspect="1" noChangeArrowheads="1"/>
                      </p:cNvPicPr>
                      <p:nvPr/>
                    </p:nvPicPr>
                    <p:blipFill>
                      <a:blip r:embed="rId12"/>
                      <a:srcRect/>
                      <a:stretch>
                        <a:fillRect/>
                      </a:stretch>
                    </p:blipFill>
                    <p:spPr bwMode="auto">
                      <a:xfrm>
                        <a:off x="8087082" y="3527152"/>
                        <a:ext cx="727075" cy="528638"/>
                      </a:xfrm>
                      <a:prstGeom prst="rect">
                        <a:avLst/>
                      </a:prstGeom>
                      <a:solidFill>
                        <a:srgbClr val="E2F0D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对象 33"/>
          <p:cNvGraphicFramePr>
            <a:graphicFrameLocks noChangeAspect="1"/>
          </p:cNvGraphicFramePr>
          <p:nvPr/>
        </p:nvGraphicFramePr>
        <p:xfrm>
          <a:off x="535397" y="4580955"/>
          <a:ext cx="2339975" cy="884237"/>
        </p:xfrm>
        <a:graphic>
          <a:graphicData uri="http://schemas.openxmlformats.org/presentationml/2006/ole">
            <mc:AlternateContent xmlns:mc="http://schemas.openxmlformats.org/markup-compatibility/2006">
              <mc:Choice xmlns:v="urn:schemas-microsoft-com:vml" Requires="v">
                <p:oleObj name="Equation" r:id="rId13" imgW="2082600" imgH="787320" progId="Equation.DSMT4">
                  <p:embed/>
                </p:oleObj>
              </mc:Choice>
              <mc:Fallback>
                <p:oleObj name="Equation" r:id="rId13" imgW="2082600" imgH="787320" progId="Equation.DSMT4">
                  <p:embed/>
                  <p:pic>
                    <p:nvPicPr>
                      <p:cNvPr id="34" name="对象 33"/>
                      <p:cNvPicPr>
                        <a:picLocks noChangeAspect="1" noChangeArrowheads="1"/>
                      </p:cNvPicPr>
                      <p:nvPr/>
                    </p:nvPicPr>
                    <p:blipFill>
                      <a:blip r:embed="rId14"/>
                      <a:srcRect/>
                      <a:stretch>
                        <a:fillRect/>
                      </a:stretch>
                    </p:blipFill>
                    <p:spPr bwMode="auto">
                      <a:xfrm>
                        <a:off x="535397" y="4580955"/>
                        <a:ext cx="2339975"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对象 34"/>
          <p:cNvGraphicFramePr>
            <a:graphicFrameLocks noChangeAspect="1"/>
          </p:cNvGraphicFramePr>
          <p:nvPr/>
        </p:nvGraphicFramePr>
        <p:xfrm>
          <a:off x="3580918" y="4751084"/>
          <a:ext cx="1037858" cy="392080"/>
        </p:xfrm>
        <a:graphic>
          <a:graphicData uri="http://schemas.openxmlformats.org/presentationml/2006/ole">
            <mc:AlternateContent xmlns:mc="http://schemas.openxmlformats.org/markup-compatibility/2006">
              <mc:Choice xmlns:v="urn:schemas-microsoft-com:vml" Requires="v">
                <p:oleObj name="Equation" r:id="rId15" imgW="571320" imgH="215640" progId="Equation.DSMT4">
                  <p:embed/>
                </p:oleObj>
              </mc:Choice>
              <mc:Fallback>
                <p:oleObj name="Equation" r:id="rId15" imgW="571320" imgH="215640" progId="Equation.DSMT4">
                  <p:embed/>
                  <p:pic>
                    <p:nvPicPr>
                      <p:cNvPr id="35" name="对象 34"/>
                      <p:cNvPicPr/>
                      <p:nvPr/>
                    </p:nvPicPr>
                    <p:blipFill>
                      <a:blip r:embed="rId16"/>
                      <a:stretch>
                        <a:fillRect/>
                      </a:stretch>
                    </p:blipFill>
                    <p:spPr>
                      <a:xfrm>
                        <a:off x="3580918" y="4751084"/>
                        <a:ext cx="1037858" cy="392080"/>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6139005" y="4445842"/>
          <a:ext cx="2239962" cy="1139825"/>
        </p:xfrm>
        <a:graphic>
          <a:graphicData uri="http://schemas.openxmlformats.org/presentationml/2006/ole">
            <mc:AlternateContent xmlns:mc="http://schemas.openxmlformats.org/markup-compatibility/2006">
              <mc:Choice xmlns:v="urn:schemas-microsoft-com:vml" Requires="v">
                <p:oleObj name="Equation" r:id="rId17" imgW="1993680" imgH="1015920" progId="Equation.DSMT4">
                  <p:embed/>
                </p:oleObj>
              </mc:Choice>
              <mc:Fallback>
                <p:oleObj name="Equation" r:id="rId17" imgW="1993680" imgH="1015920" progId="Equation.DSMT4">
                  <p:embed/>
                  <p:pic>
                    <p:nvPicPr>
                      <p:cNvPr id="36" name="对象 35"/>
                      <p:cNvPicPr>
                        <a:picLocks noChangeAspect="1" noChangeArrowheads="1"/>
                      </p:cNvPicPr>
                      <p:nvPr/>
                    </p:nvPicPr>
                    <p:blipFill>
                      <a:blip r:embed="rId18"/>
                      <a:srcRect/>
                      <a:stretch>
                        <a:fillRect/>
                      </a:stretch>
                    </p:blipFill>
                    <p:spPr bwMode="auto">
                      <a:xfrm>
                        <a:off x="6139005" y="4445842"/>
                        <a:ext cx="2239962"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对象 36"/>
          <p:cNvGraphicFramePr>
            <a:graphicFrameLocks noChangeAspect="1"/>
          </p:cNvGraphicFramePr>
          <p:nvPr/>
        </p:nvGraphicFramePr>
        <p:xfrm>
          <a:off x="3243263" y="5627688"/>
          <a:ext cx="2009775" cy="641350"/>
        </p:xfrm>
        <a:graphic>
          <a:graphicData uri="http://schemas.openxmlformats.org/presentationml/2006/ole">
            <mc:AlternateContent xmlns:mc="http://schemas.openxmlformats.org/markup-compatibility/2006">
              <mc:Choice xmlns:v="urn:schemas-microsoft-com:vml" Requires="v">
                <p:oleObj name="Equation" r:id="rId19" imgW="1790640" imgH="571320" progId="Equation.DSMT4">
                  <p:embed/>
                </p:oleObj>
              </mc:Choice>
              <mc:Fallback>
                <p:oleObj name="Equation" r:id="rId19" imgW="1790640" imgH="571320" progId="Equation.DSMT4">
                  <p:embed/>
                  <p:pic>
                    <p:nvPicPr>
                      <p:cNvPr id="37" name="对象 36"/>
                      <p:cNvPicPr>
                        <a:picLocks noChangeAspect="1" noChangeArrowheads="1"/>
                      </p:cNvPicPr>
                      <p:nvPr/>
                    </p:nvPicPr>
                    <p:blipFill>
                      <a:blip r:embed="rId20"/>
                      <a:srcRect/>
                      <a:stretch>
                        <a:fillRect/>
                      </a:stretch>
                    </p:blipFill>
                    <p:spPr bwMode="auto">
                      <a:xfrm>
                        <a:off x="3243263" y="5627688"/>
                        <a:ext cx="2009775" cy="641350"/>
                      </a:xfrm>
                      <a:prstGeom prst="rect">
                        <a:avLst/>
                      </a:prstGeom>
                      <a:solidFill>
                        <a:schemeClr val="accent2">
                          <a:lumMod val="60000"/>
                          <a:lumOff val="40000"/>
                        </a:schemeClr>
                      </a:solidFill>
                      <a:ln>
                        <a:noFill/>
                      </a:ln>
                    </p:spPr>
                  </p:pic>
                </p:oleObj>
              </mc:Fallback>
            </mc:AlternateContent>
          </a:graphicData>
        </a:graphic>
      </p:graphicFrame>
    </p:spTree>
    <p:extLst>
      <p:ext uri="{BB962C8B-B14F-4D97-AF65-F5344CB8AC3E}">
        <p14:creationId xmlns:p14="http://schemas.microsoft.com/office/powerpoint/2010/main" val="35573740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70025" y="134034"/>
            <a:ext cx="3701975" cy="646331"/>
          </a:xfrm>
          <a:prstGeom prst="rect">
            <a:avLst/>
          </a:prstGeom>
        </p:spPr>
        <p:txBody>
          <a:bodyPr wrap="none">
            <a:spAutoFit/>
          </a:bodyPr>
          <a:lstStyle/>
          <a:p>
            <a:r>
              <a:rPr lang="en-US" altLang="zh-CN" sz="3600" b="1" dirty="0">
                <a:solidFill>
                  <a:srgbClr val="FF0000"/>
                </a:solidFill>
              </a:rPr>
              <a:t>Debye model of </a:t>
            </a:r>
            <a:r>
              <a:rPr lang="en-US" altLang="zh-CN" sz="3600" b="1" dirty="0" err="1">
                <a:solidFill>
                  <a:srgbClr val="FF0000"/>
                </a:solidFill>
              </a:rPr>
              <a:t>c</a:t>
            </a:r>
            <a:r>
              <a:rPr lang="en-US" altLang="zh-CN" sz="3600" b="1" baseline="-25000" dirty="0" err="1">
                <a:solidFill>
                  <a:srgbClr val="FF0000"/>
                </a:solidFill>
              </a:rPr>
              <a:t>V</a:t>
            </a:r>
            <a:endParaRPr lang="zh-CN" altLang="en-US" sz="3600" dirty="0">
              <a:solidFill>
                <a:srgbClr val="FF0000"/>
              </a:solidFill>
            </a:endParaRPr>
          </a:p>
        </p:txBody>
      </p:sp>
      <p:sp>
        <p:nvSpPr>
          <p:cNvPr id="10"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4337" name="image47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9293" y="1380249"/>
            <a:ext cx="4594949" cy="352765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p:cNvSpPr>
            <a:spLocks noChangeArrowheads="1"/>
          </p:cNvSpPr>
          <p:nvPr/>
        </p:nvSpPr>
        <p:spPr bwMode="auto">
          <a:xfrm>
            <a:off x="607795" y="5631556"/>
            <a:ext cx="754560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10202"/>
                </a:solidFill>
                <a:effectLst/>
                <a:latin typeface="Arial" panose="020B0604020202020204" pitchFamily="34" charset="0"/>
                <a:ea typeface="Times New Roman" panose="02020603050405020304" pitchFamily="18" charset="0"/>
                <a:cs typeface="Times New Roman" panose="02020603050405020304" pitchFamily="18" charset="0"/>
              </a:rPr>
              <a:t>Figure 6.3 </a:t>
            </a:r>
            <a:r>
              <a:rPr kumimoji="0" lang="en-US" altLang="zh-CN" sz="1600" b="0" i="0" u="none" strike="noStrike" cap="none" normalizeH="0" baseline="0" dirty="0">
                <a:ln>
                  <a:noFill/>
                </a:ln>
                <a:solidFill>
                  <a:srgbClr val="010202"/>
                </a:solidFill>
                <a:effectLst/>
                <a:latin typeface="Arial" panose="020B0604020202020204" pitchFamily="34" charset="0"/>
                <a:ea typeface="Times New Roman" panose="02020603050405020304" pitchFamily="18" charset="0"/>
                <a:cs typeface="Times New Roman" panose="02020603050405020304" pitchFamily="18" charset="0"/>
              </a:rPr>
              <a:t>The constant-volume molar heat capacities of several solid elements. The curves are the Debye equation with the indicated values of </a:t>
            </a:r>
            <a:r>
              <a:rPr kumimoji="0" lang="en-US" altLang="zh-CN" sz="1600" b="0" i="0" u="none" strike="noStrike" cap="none" normalizeH="0" dirty="0">
                <a:ln>
                  <a:noFill/>
                </a:ln>
                <a:solidFill>
                  <a:srgbClr val="010202"/>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l-GR" altLang="zh-CN" sz="1600" b="0" i="0" u="none" strike="noStrike" cap="none" normalizeH="0" dirty="0">
                <a:ln>
                  <a:noFill/>
                </a:ln>
                <a:solidFill>
                  <a:srgbClr val="010202"/>
                </a:solidFill>
                <a:effectLst/>
                <a:latin typeface="Times New Roman" panose="02020603050405020304"/>
                <a:ea typeface="Times New Roman" panose="02020603050405020304" pitchFamily="18" charset="0"/>
                <a:cs typeface="Times New Roman" panose="02020603050405020304"/>
              </a:rPr>
              <a:t>θ</a:t>
            </a:r>
            <a:r>
              <a:rPr kumimoji="0" lang="en-US" altLang="zh-CN" sz="1050" b="0" i="1" u="none" strike="noStrike" cap="none" normalizeH="0" baseline="0" dirty="0">
                <a:ln>
                  <a:noFill/>
                </a:ln>
                <a:solidFill>
                  <a:srgbClr val="010202"/>
                </a:solidFill>
                <a:effectLst/>
                <a:latin typeface="Arial" panose="020B0604020202020204" pitchFamily="34" charset="0"/>
                <a:ea typeface="Times New Roman" panose="02020603050405020304" pitchFamily="18" charset="0"/>
                <a:cs typeface="Times New Roman" panose="02020603050405020304" pitchFamily="18" charset="0"/>
              </a:rPr>
              <a:t>D</a:t>
            </a:r>
            <a:r>
              <a:rPr kumimoji="0" lang="en-US" altLang="zh-CN" sz="1600" b="0" i="0" u="none" strike="noStrike" cap="none" normalizeH="0" baseline="0" dirty="0">
                <a:ln>
                  <a:noFill/>
                </a:ln>
                <a:solidFill>
                  <a:srgbClr val="010202"/>
                </a:solidFill>
                <a:effectLst/>
                <a:latin typeface="Arial" panose="020B0604020202020204" pitchFamily="34" charset="0"/>
                <a:ea typeface="Times New Roman" panose="02020603050405020304" pitchFamily="18" charset="0"/>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 name="TextBox 1"/>
          <p:cNvSpPr txBox="1"/>
          <p:nvPr/>
        </p:nvSpPr>
        <p:spPr>
          <a:xfrm>
            <a:off x="1266039" y="5094514"/>
            <a:ext cx="6039829" cy="400110"/>
          </a:xfrm>
          <a:prstGeom prst="rect">
            <a:avLst/>
          </a:prstGeom>
          <a:noFill/>
        </p:spPr>
        <p:txBody>
          <a:bodyPr wrap="square" rtlCol="0">
            <a:spAutoFit/>
          </a:bodyPr>
          <a:lstStyle/>
          <a:p>
            <a:r>
              <a:rPr lang="en-US" altLang="zh-CN" sz="2000" dirty="0">
                <a:solidFill>
                  <a:srgbClr val="FF0000"/>
                </a:solidFill>
              </a:rPr>
              <a:t>The  materials with heavier atom has smaller  </a:t>
            </a:r>
            <a:r>
              <a:rPr lang="el-GR" altLang="zh-CN" sz="2000" dirty="0">
                <a:solidFill>
                  <a:srgbClr val="FF0000"/>
                </a:solidFill>
                <a:latin typeface="Times New Roman" panose="02020603050405020304"/>
                <a:cs typeface="Times New Roman" panose="02020603050405020304"/>
              </a:rPr>
              <a:t>θ</a:t>
            </a:r>
            <a:r>
              <a:rPr lang="en-US" altLang="zh-CN" sz="2000" baseline="-25000" dirty="0">
                <a:solidFill>
                  <a:srgbClr val="FF0000"/>
                </a:solidFill>
                <a:latin typeface="Times New Roman" panose="02020603050405020304"/>
                <a:cs typeface="Times New Roman" panose="02020603050405020304"/>
              </a:rPr>
              <a:t>D</a:t>
            </a:r>
            <a:endParaRPr lang="zh-CN" altLang="en-US" sz="2000" dirty="0">
              <a:solidFill>
                <a:srgbClr val="FF0000"/>
              </a:solidFill>
            </a:endParaRPr>
          </a:p>
        </p:txBody>
      </p:sp>
    </p:spTree>
    <p:extLst>
      <p:ext uri="{BB962C8B-B14F-4D97-AF65-F5344CB8AC3E}">
        <p14:creationId xmlns:p14="http://schemas.microsoft.com/office/powerpoint/2010/main" val="40917113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0936277-3665-4A76-9E0F-5BCB95322F75}"/>
              </a:ext>
            </a:extLst>
          </p:cNvPr>
          <p:cNvSpPr txBox="1"/>
          <p:nvPr/>
        </p:nvSpPr>
        <p:spPr>
          <a:xfrm>
            <a:off x="304800" y="152400"/>
            <a:ext cx="1981200" cy="369332"/>
          </a:xfrm>
          <a:prstGeom prst="rect">
            <a:avLst/>
          </a:prstGeom>
          <a:noFill/>
        </p:spPr>
        <p:txBody>
          <a:bodyPr wrap="square" rtlCol="0">
            <a:spAutoFit/>
          </a:bodyPr>
          <a:lstStyle/>
          <a:p>
            <a:r>
              <a:rPr lang="en-US" altLang="zh-CN" b="1" dirty="0">
                <a:solidFill>
                  <a:srgbClr val="7030A0"/>
                </a:solidFill>
              </a:rPr>
              <a:t>Homework 7</a:t>
            </a:r>
            <a:r>
              <a:rPr lang="zh-CN" altLang="en-US" b="1" dirty="0">
                <a:solidFill>
                  <a:srgbClr val="7030A0"/>
                </a:solidFill>
              </a:rPr>
              <a:t>：</a:t>
            </a:r>
            <a:r>
              <a:rPr lang="en-US" altLang="zh-CN" b="1" dirty="0">
                <a:solidFill>
                  <a:srgbClr val="7030A0"/>
                </a:solidFill>
              </a:rPr>
              <a:t>3</a:t>
            </a:r>
            <a:endParaRPr lang="zh-CN" altLang="en-US" b="1" dirty="0">
              <a:solidFill>
                <a:srgbClr val="7030A0"/>
              </a:solidFill>
            </a:endParaRPr>
          </a:p>
        </p:txBody>
      </p:sp>
      <p:sp>
        <p:nvSpPr>
          <p:cNvPr id="5" name="文本框 4">
            <a:extLst>
              <a:ext uri="{FF2B5EF4-FFF2-40B4-BE49-F238E27FC236}">
                <a16:creationId xmlns:a16="http://schemas.microsoft.com/office/drawing/2014/main" id="{62965ED4-33EA-4D9D-9420-DCD3CBB12F0D}"/>
              </a:ext>
            </a:extLst>
          </p:cNvPr>
          <p:cNvSpPr txBox="1"/>
          <p:nvPr/>
        </p:nvSpPr>
        <p:spPr>
          <a:xfrm>
            <a:off x="303810" y="521732"/>
            <a:ext cx="8382990" cy="2835776"/>
          </a:xfrm>
          <a:prstGeom prst="rect">
            <a:avLst/>
          </a:prstGeom>
          <a:noFill/>
        </p:spPr>
        <p:txBody>
          <a:bodyPr wrap="square">
            <a:spAutoFit/>
          </a:bodyPr>
          <a:lstStyle/>
          <a:p>
            <a:pPr algn="just">
              <a:lnSpc>
                <a:spcPct val="125000"/>
              </a:lnSpc>
            </a:pP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It is well-known that the heat capacity follows the Dulong-Petit law, but it significantly deviates from the value of 3R. Figure below shows the temperature dependent heat capacity, </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of four solid elements.</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(1) Please write the approximate relationship of </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and </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as </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is close to 0K.</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(2) Please tell the differences between Einstein model and Debye model of </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cv</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you can explain with schematic figure. Which model is better at low temperatures?</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(3) Use the relation to distinguish and mark the two curves between Ag (</a:t>
            </a:r>
            <a:r>
              <a:rPr lang="en-US" altLang="zh-CN" b="1" i="1" kern="100" dirty="0" err="1">
                <a:effectLst/>
                <a:latin typeface="Times New Roman" panose="02020603050405020304" pitchFamily="18" charset="0"/>
                <a:ea typeface="宋体" panose="02010600030101010101" pitchFamily="2" charset="-122"/>
                <a:cs typeface="Times New Roman" panose="02020603050405020304" pitchFamily="18" charset="0"/>
              </a:rPr>
              <a:t>θ</a:t>
            </a:r>
            <a:r>
              <a:rPr lang="en-US" altLang="zh-CN"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213) and Al (</a:t>
            </a:r>
            <a:r>
              <a:rPr lang="en-US" altLang="zh-CN" b="1" i="1" kern="100" dirty="0" err="1">
                <a:effectLst/>
                <a:latin typeface="Times New Roman" panose="02020603050405020304" pitchFamily="18" charset="0"/>
                <a:ea typeface="宋体" panose="02010600030101010101" pitchFamily="2" charset="-122"/>
                <a:cs typeface="Times New Roman" panose="02020603050405020304" pitchFamily="18" charset="0"/>
              </a:rPr>
              <a:t>θ</a:t>
            </a:r>
            <a:r>
              <a:rPr lang="en-US" altLang="zh-CN"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385) in the image below.</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720453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2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7433"/>
          <a:stretch/>
        </p:blipFill>
        <p:spPr bwMode="auto">
          <a:xfrm>
            <a:off x="5289099" y="9331"/>
            <a:ext cx="3798920" cy="86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867746" y="54475"/>
            <a:ext cx="5681363" cy="892552"/>
          </a:xfrm>
          <a:prstGeom prst="rect">
            <a:avLst/>
          </a:prstGeom>
          <a:noFill/>
        </p:spPr>
        <p:txBody>
          <a:bodyPr wrap="none" rtlCol="0">
            <a:spAutoFit/>
          </a:bodyPr>
          <a:lstStyle/>
          <a:p>
            <a:r>
              <a:rPr lang="en-US" altLang="zh-CN" sz="2800" dirty="0">
                <a:solidFill>
                  <a:srgbClr val="FF0000"/>
                </a:solidFill>
              </a:rPr>
              <a:t>Pei Model: </a:t>
            </a:r>
          </a:p>
          <a:p>
            <a:r>
              <a:rPr lang="en-US" altLang="zh-CN" sz="2400" dirty="0">
                <a:solidFill>
                  <a:srgbClr val="0000FF"/>
                </a:solidFill>
              </a:rPr>
              <a:t>modify the linear dispersion assumption </a:t>
            </a:r>
            <a:endParaRPr lang="zh-CN" altLang="en-US" sz="2400" dirty="0">
              <a:solidFill>
                <a:srgbClr val="0000FF"/>
              </a:solidFill>
            </a:endParaRPr>
          </a:p>
        </p:txBody>
      </p:sp>
      <p:pic>
        <p:nvPicPr>
          <p:cNvPr id="1628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245" y="1325752"/>
            <a:ext cx="1035697" cy="1321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04588" y="2813983"/>
            <a:ext cx="1629484" cy="584775"/>
          </a:xfrm>
          <a:prstGeom prst="rect">
            <a:avLst/>
          </a:prstGeom>
          <a:noFill/>
        </p:spPr>
        <p:txBody>
          <a:bodyPr wrap="none" rtlCol="0">
            <a:spAutoFit/>
          </a:bodyPr>
          <a:lstStyle/>
          <a:p>
            <a:pPr algn="ctr"/>
            <a:r>
              <a:rPr lang="en-US" altLang="zh-CN" dirty="0" err="1"/>
              <a:t>YanZhong</a:t>
            </a:r>
            <a:r>
              <a:rPr lang="en-US" altLang="zh-CN" dirty="0"/>
              <a:t> Pei</a:t>
            </a:r>
          </a:p>
          <a:p>
            <a:pPr algn="ctr"/>
            <a:r>
              <a:rPr lang="en-US" altLang="zh-CN" sz="1400" dirty="0" err="1"/>
              <a:t>Tongji</a:t>
            </a:r>
            <a:r>
              <a:rPr lang="en-US" altLang="zh-CN" sz="1400" dirty="0"/>
              <a:t> University</a:t>
            </a:r>
            <a:endParaRPr lang="zh-CN" altLang="en-US" sz="1400" dirty="0"/>
          </a:p>
        </p:txBody>
      </p:sp>
      <p:pic>
        <p:nvPicPr>
          <p:cNvPr id="1628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4072" y="1512364"/>
            <a:ext cx="6752642" cy="2222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240" y="3492064"/>
            <a:ext cx="2895600" cy="2655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文本框 1">
            <a:extLst>
              <a:ext uri="{FF2B5EF4-FFF2-40B4-BE49-F238E27FC236}">
                <a16:creationId xmlns:a16="http://schemas.microsoft.com/office/drawing/2014/main" id="{11803AED-F8CD-6E40-BC76-33D8E5369DDA}"/>
              </a:ext>
            </a:extLst>
          </p:cNvPr>
          <p:cNvSpPr txBox="1">
            <a:spLocks noChangeArrowheads="1"/>
          </p:cNvSpPr>
          <p:nvPr/>
        </p:nvSpPr>
        <p:spPr bwMode="auto">
          <a:xfrm>
            <a:off x="4026858" y="3526600"/>
            <a:ext cx="184731" cy="7078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Calibri" panose="020F0502020204030204" pitchFamily="34" charset="0"/>
                <a:ea typeface="宋体" panose="02010600030101010101" pitchFamily="2" charset="-122"/>
              </a:defRPr>
            </a:lvl1pPr>
            <a:lvl2pPr marL="742950" indent="-285750">
              <a:defRPr kumimoji="1" sz="2400">
                <a:solidFill>
                  <a:schemeClr val="tx1"/>
                </a:solidFill>
                <a:latin typeface="Calibri" panose="020F0502020204030204" pitchFamily="34" charset="0"/>
                <a:ea typeface="宋体" panose="02010600030101010101" pitchFamily="2" charset="-122"/>
              </a:defRPr>
            </a:lvl2pPr>
            <a:lvl3pPr marL="1143000" indent="-228600">
              <a:defRPr kumimoji="1" sz="2400">
                <a:solidFill>
                  <a:schemeClr val="tx1"/>
                </a:solidFill>
                <a:latin typeface="Calibri" panose="020F0502020204030204" pitchFamily="34" charset="0"/>
                <a:ea typeface="宋体" panose="02010600030101010101" pitchFamily="2" charset="-122"/>
              </a:defRPr>
            </a:lvl3pPr>
            <a:lvl4pPr marL="1600200" indent="-228600">
              <a:defRPr kumimoji="1" sz="2400">
                <a:solidFill>
                  <a:schemeClr val="tx1"/>
                </a:solidFill>
                <a:latin typeface="Calibri" panose="020F0502020204030204" pitchFamily="34" charset="0"/>
                <a:ea typeface="宋体" panose="02010600030101010101" pitchFamily="2" charset="-122"/>
              </a:defRPr>
            </a:lvl4pPr>
            <a:lvl5pPr marL="2057400" indent="-228600">
              <a:defRPr kumimoji="1" sz="24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endParaRPr lang="zh-CN" altLang="en-US" sz="4000" b="1" dirty="0"/>
          </a:p>
        </p:txBody>
      </p:sp>
      <p:sp>
        <p:nvSpPr>
          <p:cNvPr id="5" name="TextBox 4"/>
          <p:cNvSpPr txBox="1"/>
          <p:nvPr/>
        </p:nvSpPr>
        <p:spPr>
          <a:xfrm>
            <a:off x="3345516" y="3880543"/>
            <a:ext cx="5061366" cy="646331"/>
          </a:xfrm>
          <a:prstGeom prst="rect">
            <a:avLst/>
          </a:prstGeom>
          <a:noFill/>
        </p:spPr>
        <p:txBody>
          <a:bodyPr wrap="square" rtlCol="0">
            <a:spAutoFit/>
          </a:bodyPr>
          <a:lstStyle/>
          <a:p>
            <a:r>
              <a:rPr lang="en-US" altLang="zh-CN" dirty="0"/>
              <a:t>The phonon dispersion relationship is</a:t>
            </a:r>
          </a:p>
          <a:p>
            <a:r>
              <a:rPr lang="en-US" altLang="zh-CN" dirty="0">
                <a:solidFill>
                  <a:srgbClr val="FF0000"/>
                </a:solidFill>
              </a:rPr>
              <a:t>a sine-type rather than a linear type</a:t>
            </a:r>
            <a:endParaRPr lang="zh-CN" altLang="en-US" dirty="0">
              <a:solidFill>
                <a:srgbClr val="FF0000"/>
              </a:solidFill>
            </a:endParaRPr>
          </a:p>
        </p:txBody>
      </p:sp>
      <p:grpSp>
        <p:nvGrpSpPr>
          <p:cNvPr id="11" name="组合 3">
            <a:extLst>
              <a:ext uri="{FF2B5EF4-FFF2-40B4-BE49-F238E27FC236}">
                <a16:creationId xmlns:a16="http://schemas.microsoft.com/office/drawing/2014/main" id="{BE7BA91D-2E7D-F549-8083-8ED359009B7B}"/>
              </a:ext>
            </a:extLst>
          </p:cNvPr>
          <p:cNvGrpSpPr>
            <a:grpSpLocks/>
          </p:cNvGrpSpPr>
          <p:nvPr/>
        </p:nvGrpSpPr>
        <p:grpSpPr bwMode="auto">
          <a:xfrm>
            <a:off x="3482940" y="4864511"/>
            <a:ext cx="3854901" cy="796567"/>
            <a:chOff x="4572000" y="625199"/>
            <a:chExt cx="4453958" cy="979367"/>
          </a:xfrm>
        </p:grpSpPr>
        <p:pic>
          <p:nvPicPr>
            <p:cNvPr id="12" name="Picture 8">
              <a:extLst>
                <a:ext uri="{FF2B5EF4-FFF2-40B4-BE49-F238E27FC236}">
                  <a16:creationId xmlns:a16="http://schemas.microsoft.com/office/drawing/2014/main" id="{D679FE43-F9F9-DD4E-A0F1-71AA92C57FC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33160" t="13721" r="33499" b="12447"/>
            <a:stretch>
              <a:fillRect/>
            </a:stretch>
          </p:blipFill>
          <p:spPr bwMode="auto">
            <a:xfrm>
              <a:off x="4572000" y="639093"/>
              <a:ext cx="4453958"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椭圆 12">
              <a:extLst>
                <a:ext uri="{FF2B5EF4-FFF2-40B4-BE49-F238E27FC236}">
                  <a16:creationId xmlns:a16="http://schemas.microsoft.com/office/drawing/2014/main" id="{9C293DBC-FB09-B843-9618-FCF9FE51BF7A}"/>
                </a:ext>
              </a:extLst>
            </p:cNvPr>
            <p:cNvSpPr/>
            <p:nvPr/>
          </p:nvSpPr>
          <p:spPr>
            <a:xfrm>
              <a:off x="7884672" y="625199"/>
              <a:ext cx="1141286" cy="979367"/>
            </a:xfrm>
            <a:prstGeom prst="ellipse">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008000"/>
                </a:solidFill>
              </a:endParaRPr>
            </a:p>
          </p:txBody>
        </p:sp>
      </p:grpSp>
    </p:spTree>
    <p:extLst>
      <p:ext uri="{BB962C8B-B14F-4D97-AF65-F5344CB8AC3E}">
        <p14:creationId xmlns:p14="http://schemas.microsoft.com/office/powerpoint/2010/main" val="35024646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对象 25">
            <a:extLst>
              <a:ext uri="{FF2B5EF4-FFF2-40B4-BE49-F238E27FC236}">
                <a16:creationId xmlns:a16="http://schemas.microsoft.com/office/drawing/2014/main" id="{B4BE4898-2ECC-CB4C-8D3D-DA3516F61634}"/>
              </a:ext>
            </a:extLst>
          </p:cNvPr>
          <p:cNvGraphicFramePr>
            <a:graphicFrameLocks noChangeAspect="1"/>
          </p:cNvGraphicFramePr>
          <p:nvPr/>
        </p:nvGraphicFramePr>
        <p:xfrm>
          <a:off x="1355271" y="841204"/>
          <a:ext cx="5695172" cy="4967288"/>
        </p:xfrm>
        <a:graphic>
          <a:graphicData uri="http://schemas.openxmlformats.org/presentationml/2006/ole">
            <mc:AlternateContent xmlns:mc="http://schemas.openxmlformats.org/markup-compatibility/2006">
              <mc:Choice xmlns:v="urn:schemas-microsoft-com:vml" Requires="v">
                <p:oleObj name="Graph" r:id="rId2" imgW="19202400" imgH="16459200" progId="Origin50.Graph">
                  <p:embed/>
                </p:oleObj>
              </mc:Choice>
              <mc:Fallback>
                <p:oleObj name="Graph" r:id="rId2" imgW="19202400" imgH="16459200" progId="Origin50.Graph">
                  <p:embed/>
                  <p:pic>
                    <p:nvPicPr>
                      <p:cNvPr id="21" name="对象 25">
                        <a:extLst>
                          <a:ext uri="{FF2B5EF4-FFF2-40B4-BE49-F238E27FC236}">
                            <a16:creationId xmlns:a16="http://schemas.microsoft.com/office/drawing/2014/main" id="{B4BE4898-2ECC-CB4C-8D3D-DA3516F616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5271" y="841204"/>
                        <a:ext cx="5695172" cy="496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TextBox 24"/>
          <p:cNvSpPr txBox="1"/>
          <p:nvPr/>
        </p:nvSpPr>
        <p:spPr>
          <a:xfrm>
            <a:off x="951722" y="13966"/>
            <a:ext cx="5681363" cy="892552"/>
          </a:xfrm>
          <a:prstGeom prst="rect">
            <a:avLst/>
          </a:prstGeom>
          <a:noFill/>
        </p:spPr>
        <p:txBody>
          <a:bodyPr wrap="none" rtlCol="0">
            <a:spAutoFit/>
          </a:bodyPr>
          <a:lstStyle/>
          <a:p>
            <a:r>
              <a:rPr lang="en-US" altLang="zh-CN" sz="2800" dirty="0">
                <a:solidFill>
                  <a:srgbClr val="FF0000"/>
                </a:solidFill>
              </a:rPr>
              <a:t>Pei Model: </a:t>
            </a:r>
          </a:p>
          <a:p>
            <a:r>
              <a:rPr lang="en-US" altLang="zh-CN" sz="2400" dirty="0">
                <a:solidFill>
                  <a:srgbClr val="0000FF"/>
                </a:solidFill>
              </a:rPr>
              <a:t>modify the linear dispersion assumption </a:t>
            </a:r>
            <a:endParaRPr lang="zh-CN" altLang="en-US" sz="2400" dirty="0">
              <a:solidFill>
                <a:srgbClr val="0000FF"/>
              </a:solidFill>
            </a:endParaRPr>
          </a:p>
        </p:txBody>
      </p:sp>
      <p:sp>
        <p:nvSpPr>
          <p:cNvPr id="26" name="TextBox 25"/>
          <p:cNvSpPr txBox="1"/>
          <p:nvPr/>
        </p:nvSpPr>
        <p:spPr>
          <a:xfrm>
            <a:off x="1735495" y="5740273"/>
            <a:ext cx="4777274" cy="646331"/>
          </a:xfrm>
          <a:prstGeom prst="rect">
            <a:avLst/>
          </a:prstGeom>
          <a:noFill/>
        </p:spPr>
        <p:txBody>
          <a:bodyPr wrap="square" rtlCol="0">
            <a:spAutoFit/>
          </a:bodyPr>
          <a:lstStyle/>
          <a:p>
            <a:pPr algn="ctr"/>
            <a:r>
              <a:rPr lang="en-US" altLang="zh-CN" dirty="0">
                <a:solidFill>
                  <a:srgbClr val="FF0000"/>
                </a:solidFill>
              </a:rPr>
              <a:t>Pei’s mode covering both the features </a:t>
            </a:r>
          </a:p>
          <a:p>
            <a:pPr algn="ctr"/>
            <a:r>
              <a:rPr lang="en-US" altLang="zh-CN" dirty="0">
                <a:solidFill>
                  <a:srgbClr val="FF0000"/>
                </a:solidFill>
              </a:rPr>
              <a:t>of </a:t>
            </a:r>
            <a:r>
              <a:rPr lang="en-US" altLang="zh-CN" dirty="0" err="1">
                <a:solidFill>
                  <a:srgbClr val="FF0000"/>
                </a:solidFill>
              </a:rPr>
              <a:t>Einstien’s</a:t>
            </a:r>
            <a:r>
              <a:rPr lang="en-US" altLang="zh-CN" dirty="0">
                <a:solidFill>
                  <a:srgbClr val="FF0000"/>
                </a:solidFill>
              </a:rPr>
              <a:t> model and Debye’s mode</a:t>
            </a:r>
            <a:endParaRPr lang="zh-CN" altLang="en-US" dirty="0">
              <a:solidFill>
                <a:srgbClr val="FF0000"/>
              </a:solidFill>
            </a:endParaRPr>
          </a:p>
        </p:txBody>
      </p:sp>
    </p:spTree>
    <p:extLst>
      <p:ext uri="{BB962C8B-B14F-4D97-AF65-F5344CB8AC3E}">
        <p14:creationId xmlns:p14="http://schemas.microsoft.com/office/powerpoint/2010/main" val="19153248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9" name="图片 3">
            <a:extLst>
              <a:ext uri="{FF2B5EF4-FFF2-40B4-BE49-F238E27FC236}">
                <a16:creationId xmlns:a16="http://schemas.microsoft.com/office/drawing/2014/main" id="{B5429891-7765-404A-AF37-0F0C3754E2AF}"/>
              </a:ext>
            </a:extLst>
          </p:cNvPr>
          <p:cNvPicPr>
            <a:picLocks noChangeAspect="1"/>
          </p:cNvPicPr>
          <p:nvPr/>
        </p:nvPicPr>
        <p:blipFill>
          <a:blip r:embed="rId3" cstate="print">
            <a:extLst>
              <a:ext uri="{28A0092B-C50C-407E-A947-70E740481C1C}">
                <a14:useLocalDpi xmlns:a14="http://schemas.microsoft.com/office/drawing/2010/main" val="0"/>
              </a:ext>
            </a:extLst>
          </a:blip>
          <a:srcRect l="11380" t="10101" r="37711" b="39500"/>
          <a:stretch>
            <a:fillRect/>
          </a:stretch>
        </p:blipFill>
        <p:spPr bwMode="auto">
          <a:xfrm>
            <a:off x="3741576" y="1023939"/>
            <a:ext cx="4264089" cy="35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0" name="图片 5">
            <a:extLst>
              <a:ext uri="{FF2B5EF4-FFF2-40B4-BE49-F238E27FC236}">
                <a16:creationId xmlns:a16="http://schemas.microsoft.com/office/drawing/2014/main" id="{76BF06F1-77AC-3E48-9F13-29385A50B6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174783"/>
            <a:ext cx="2248159" cy="3030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57592" y="4256705"/>
            <a:ext cx="1723549" cy="369332"/>
          </a:xfrm>
          <a:prstGeom prst="rect">
            <a:avLst/>
          </a:prstGeom>
          <a:noFill/>
        </p:spPr>
        <p:txBody>
          <a:bodyPr wrap="none" rtlCol="0">
            <a:spAutoFit/>
          </a:bodyPr>
          <a:lstStyle/>
          <a:p>
            <a:r>
              <a:rPr lang="en-US" altLang="zh-CN" dirty="0"/>
              <a:t>David G. Cahill</a:t>
            </a:r>
            <a:endParaRPr lang="zh-CN" altLang="en-US" dirty="0"/>
          </a:p>
        </p:txBody>
      </p:sp>
      <p:sp>
        <p:nvSpPr>
          <p:cNvPr id="10" name="TextBox 9"/>
          <p:cNvSpPr txBox="1"/>
          <p:nvPr/>
        </p:nvSpPr>
        <p:spPr>
          <a:xfrm>
            <a:off x="1084186" y="160030"/>
            <a:ext cx="2533066" cy="461665"/>
          </a:xfrm>
          <a:prstGeom prst="rect">
            <a:avLst/>
          </a:prstGeom>
          <a:noFill/>
        </p:spPr>
        <p:txBody>
          <a:bodyPr wrap="none" rtlCol="0">
            <a:spAutoFit/>
          </a:bodyPr>
          <a:lstStyle/>
          <a:p>
            <a:r>
              <a:rPr lang="en-US" altLang="zh-CN" sz="2400" dirty="0">
                <a:solidFill>
                  <a:srgbClr val="FF0000"/>
                </a:solidFill>
              </a:rPr>
              <a:t>Estimation of </a:t>
            </a:r>
            <a:r>
              <a:rPr lang="el-GR" altLang="zh-CN" sz="2400" dirty="0">
                <a:solidFill>
                  <a:srgbClr val="FF0000"/>
                </a:solidFill>
              </a:rPr>
              <a:t>κ</a:t>
            </a:r>
            <a:r>
              <a:rPr lang="en-US" altLang="zh-CN" sz="2400" baseline="-25000" dirty="0">
                <a:solidFill>
                  <a:srgbClr val="FF0000"/>
                </a:solidFill>
              </a:rPr>
              <a:t>min</a:t>
            </a:r>
            <a:endParaRPr lang="zh-CN" altLang="en-US" sz="2400" baseline="-25000" dirty="0">
              <a:solidFill>
                <a:srgbClr val="FF0000"/>
              </a:solidFill>
            </a:endParaRPr>
          </a:p>
        </p:txBody>
      </p:sp>
      <p:graphicFrame>
        <p:nvGraphicFramePr>
          <p:cNvPr id="4" name="对象 3"/>
          <p:cNvGraphicFramePr>
            <a:graphicFrameLocks noChangeAspect="1"/>
          </p:cNvGraphicFramePr>
          <p:nvPr/>
        </p:nvGraphicFramePr>
        <p:xfrm>
          <a:off x="2469194" y="4887913"/>
          <a:ext cx="2544763" cy="585787"/>
        </p:xfrm>
        <a:graphic>
          <a:graphicData uri="http://schemas.openxmlformats.org/presentationml/2006/ole">
            <mc:AlternateContent xmlns:mc="http://schemas.openxmlformats.org/markup-compatibility/2006">
              <mc:Choice xmlns:v="urn:schemas-microsoft-com:vml" Requires="v">
                <p:oleObj name="Equation" r:id="rId5" imgW="1714320" imgH="393480" progId="Equation.DSMT4">
                  <p:embed/>
                </p:oleObj>
              </mc:Choice>
              <mc:Fallback>
                <p:oleObj name="Equation" r:id="rId5" imgW="1714320" imgH="393480" progId="Equation.DSMT4">
                  <p:embed/>
                  <p:pic>
                    <p:nvPicPr>
                      <p:cNvPr id="4" name="对象 3"/>
                      <p:cNvPicPr>
                        <a:picLocks noChangeAspect="1" noChangeArrowheads="1"/>
                      </p:cNvPicPr>
                      <p:nvPr/>
                    </p:nvPicPr>
                    <p:blipFill>
                      <a:blip r:embed="rId6"/>
                      <a:srcRect/>
                      <a:stretch>
                        <a:fillRect/>
                      </a:stretch>
                    </p:blipFill>
                    <p:spPr bwMode="auto">
                      <a:xfrm>
                        <a:off x="2469194" y="4887913"/>
                        <a:ext cx="25447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p:cNvSpPr txBox="1"/>
          <p:nvPr/>
        </p:nvSpPr>
        <p:spPr>
          <a:xfrm>
            <a:off x="1519367" y="5648325"/>
            <a:ext cx="5763116" cy="646331"/>
          </a:xfrm>
          <a:prstGeom prst="rect">
            <a:avLst/>
          </a:prstGeom>
          <a:noFill/>
        </p:spPr>
        <p:txBody>
          <a:bodyPr wrap="none" rtlCol="0">
            <a:spAutoFit/>
          </a:bodyPr>
          <a:lstStyle/>
          <a:p>
            <a:r>
              <a:rPr lang="en-US" altLang="zh-CN" dirty="0"/>
              <a:t>The relax time is equal to the half of the vibration circle</a:t>
            </a:r>
          </a:p>
          <a:p>
            <a:r>
              <a:rPr lang="en-US" altLang="zh-CN" dirty="0"/>
              <a:t>Lattice thermal conductivity reach the minimum  </a:t>
            </a:r>
            <a:endParaRPr lang="zh-CN" altLang="en-US" dirty="0"/>
          </a:p>
        </p:txBody>
      </p:sp>
    </p:spTree>
    <p:extLst>
      <p:ext uri="{BB962C8B-B14F-4D97-AF65-F5344CB8AC3E}">
        <p14:creationId xmlns:p14="http://schemas.microsoft.com/office/powerpoint/2010/main" val="1347686982"/>
      </p:ext>
    </p:extLst>
  </p:cSld>
  <p:clrMapOvr>
    <a:masterClrMapping/>
  </p:clrMapOvr>
  <p:transition spd="slow" advTm="25418"/>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394" name="对象 19">
            <a:extLst>
              <a:ext uri="{FF2B5EF4-FFF2-40B4-BE49-F238E27FC236}">
                <a16:creationId xmlns:a16="http://schemas.microsoft.com/office/drawing/2014/main" id="{9D13049C-9C77-7244-B927-D4BAE781C3C0}"/>
              </a:ext>
            </a:extLst>
          </p:cNvPr>
          <p:cNvGraphicFramePr>
            <a:graphicFrameLocks noChangeAspect="1"/>
          </p:cNvGraphicFramePr>
          <p:nvPr/>
        </p:nvGraphicFramePr>
        <p:xfrm>
          <a:off x="2007885" y="796216"/>
          <a:ext cx="5259104" cy="4506037"/>
        </p:xfrm>
        <a:graphic>
          <a:graphicData uri="http://schemas.openxmlformats.org/presentationml/2006/ole">
            <mc:AlternateContent xmlns:mc="http://schemas.openxmlformats.org/markup-compatibility/2006">
              <mc:Choice xmlns:v="urn:schemas-microsoft-com:vml" Requires="v">
                <p:oleObj name="Graph" r:id="rId3" imgW="19202400" imgH="16459200" progId="Origin50.Graph">
                  <p:embed/>
                </p:oleObj>
              </mc:Choice>
              <mc:Fallback>
                <p:oleObj name="Graph" r:id="rId3" imgW="19202400" imgH="16459200" progId="Origin50.Graph">
                  <p:embed/>
                  <p:pic>
                    <p:nvPicPr>
                      <p:cNvPr id="59394" name="对象 19">
                        <a:extLst>
                          <a:ext uri="{FF2B5EF4-FFF2-40B4-BE49-F238E27FC236}">
                            <a16:creationId xmlns:a16="http://schemas.microsoft.com/office/drawing/2014/main" id="{9D13049C-9C77-7244-B927-D4BAE781C3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7885" y="796216"/>
                        <a:ext cx="5259104" cy="4506037"/>
                      </a:xfrm>
                      <a:prstGeom prst="rect">
                        <a:avLst/>
                      </a:prstGeom>
                      <a:noFill/>
                      <a:ln>
                        <a:noFill/>
                      </a:ln>
                    </p:spPr>
                  </p:pic>
                </p:oleObj>
              </mc:Fallback>
            </mc:AlternateContent>
          </a:graphicData>
        </a:graphic>
      </p:graphicFrame>
      <p:sp>
        <p:nvSpPr>
          <p:cNvPr id="59395" name="TextBox 18">
            <a:extLst>
              <a:ext uri="{FF2B5EF4-FFF2-40B4-BE49-F238E27FC236}">
                <a16:creationId xmlns:a16="http://schemas.microsoft.com/office/drawing/2014/main" id="{E1B5779A-392B-8B43-9FBA-0D0967F94EE4}"/>
              </a:ext>
            </a:extLst>
          </p:cNvPr>
          <p:cNvSpPr txBox="1">
            <a:spLocks noChangeArrowheads="1"/>
          </p:cNvSpPr>
          <p:nvPr/>
        </p:nvSpPr>
        <p:spPr bwMode="auto">
          <a:xfrm>
            <a:off x="900112" y="535305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Calibri" panose="020F0502020204030204" pitchFamily="34" charset="0"/>
                <a:ea typeface="宋体" panose="02010600030101010101" pitchFamily="2" charset="-122"/>
              </a:defRPr>
            </a:lvl1pPr>
            <a:lvl2pPr marL="742950" indent="-285750">
              <a:defRPr kumimoji="1" sz="2400">
                <a:solidFill>
                  <a:schemeClr val="tx1"/>
                </a:solidFill>
                <a:latin typeface="Calibri" panose="020F0502020204030204" pitchFamily="34" charset="0"/>
                <a:ea typeface="宋体" panose="02010600030101010101" pitchFamily="2" charset="-122"/>
              </a:defRPr>
            </a:lvl2pPr>
            <a:lvl3pPr marL="1143000" indent="-228600">
              <a:defRPr kumimoji="1" sz="2400">
                <a:solidFill>
                  <a:schemeClr val="tx1"/>
                </a:solidFill>
                <a:latin typeface="Calibri" panose="020F0502020204030204" pitchFamily="34" charset="0"/>
                <a:ea typeface="宋体" panose="02010600030101010101" pitchFamily="2" charset="-122"/>
              </a:defRPr>
            </a:lvl3pPr>
            <a:lvl4pPr marL="1600200" indent="-228600">
              <a:defRPr kumimoji="1" sz="2400">
                <a:solidFill>
                  <a:schemeClr val="tx1"/>
                </a:solidFill>
                <a:latin typeface="Calibri" panose="020F0502020204030204" pitchFamily="34" charset="0"/>
                <a:ea typeface="宋体" panose="02010600030101010101" pitchFamily="2" charset="-122"/>
              </a:defRPr>
            </a:lvl4pPr>
            <a:lvl5pPr marL="2057400" indent="-228600">
              <a:defRPr kumimoji="1" sz="24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algn="ctr" eaLnBrk="1" hangingPunct="1"/>
            <a:r>
              <a:rPr kumimoji="0" lang="en-US" altLang="zh-CN" sz="1800" b="1" dirty="0">
                <a:solidFill>
                  <a:srgbClr val="008000"/>
                </a:solidFill>
              </a:rPr>
              <a:t>Pei’s mode correct the linear dispersion approximation</a:t>
            </a:r>
          </a:p>
          <a:p>
            <a:pPr algn="ctr" eaLnBrk="1" hangingPunct="1"/>
            <a:r>
              <a:rPr kumimoji="0" lang="en-US" altLang="zh-CN" sz="1800" b="1" dirty="0">
                <a:solidFill>
                  <a:srgbClr val="008000"/>
                </a:solidFill>
              </a:rPr>
              <a:t>And give a lower </a:t>
            </a:r>
            <a:r>
              <a:rPr kumimoji="0" lang="el-GR" altLang="zh-CN" sz="1800" b="1" dirty="0">
                <a:solidFill>
                  <a:srgbClr val="008000"/>
                </a:solidFill>
              </a:rPr>
              <a:t>κ</a:t>
            </a:r>
            <a:r>
              <a:rPr kumimoji="0" lang="en-US" altLang="zh-CN" sz="1800" b="1" baseline="-25000" dirty="0">
                <a:solidFill>
                  <a:srgbClr val="008000"/>
                </a:solidFill>
              </a:rPr>
              <a:t>min</a:t>
            </a:r>
            <a:endParaRPr kumimoji="0" lang="en-US" altLang="zh-CN" sz="1800" b="1" dirty="0">
              <a:solidFill>
                <a:srgbClr val="008000"/>
              </a:solidFill>
            </a:endParaRPr>
          </a:p>
        </p:txBody>
      </p:sp>
      <p:sp>
        <p:nvSpPr>
          <p:cNvPr id="8" name="TextBox 7"/>
          <p:cNvSpPr txBox="1"/>
          <p:nvPr/>
        </p:nvSpPr>
        <p:spPr>
          <a:xfrm>
            <a:off x="1084186" y="160030"/>
            <a:ext cx="2533066" cy="461665"/>
          </a:xfrm>
          <a:prstGeom prst="rect">
            <a:avLst/>
          </a:prstGeom>
          <a:noFill/>
        </p:spPr>
        <p:txBody>
          <a:bodyPr wrap="none" rtlCol="0">
            <a:spAutoFit/>
          </a:bodyPr>
          <a:lstStyle/>
          <a:p>
            <a:r>
              <a:rPr lang="en-US" altLang="zh-CN" sz="2400" dirty="0">
                <a:solidFill>
                  <a:srgbClr val="FF0000"/>
                </a:solidFill>
              </a:rPr>
              <a:t>Estimation of </a:t>
            </a:r>
            <a:r>
              <a:rPr lang="el-GR" altLang="zh-CN" sz="2400" dirty="0">
                <a:solidFill>
                  <a:srgbClr val="FF0000"/>
                </a:solidFill>
              </a:rPr>
              <a:t>κ</a:t>
            </a:r>
            <a:r>
              <a:rPr lang="en-US" altLang="zh-CN" sz="2400" baseline="-25000" dirty="0">
                <a:solidFill>
                  <a:srgbClr val="FF0000"/>
                </a:solidFill>
              </a:rPr>
              <a:t>min</a:t>
            </a:r>
            <a:endParaRPr lang="zh-CN" altLang="en-US" sz="2400" baseline="-25000" dirty="0">
              <a:solidFill>
                <a:srgbClr val="FF0000"/>
              </a:solidFill>
            </a:endParaRPr>
          </a:p>
        </p:txBody>
      </p:sp>
      <p:grpSp>
        <p:nvGrpSpPr>
          <p:cNvPr id="5" name="组合 4"/>
          <p:cNvGrpSpPr/>
          <p:nvPr/>
        </p:nvGrpSpPr>
        <p:grpSpPr>
          <a:xfrm>
            <a:off x="-1" y="1027589"/>
            <a:ext cx="2329938" cy="1919643"/>
            <a:chOff x="-49038" y="1158763"/>
            <a:chExt cx="2587102" cy="2073532"/>
          </a:xfrm>
        </p:grpSpPr>
        <p:cxnSp>
          <p:nvCxnSpPr>
            <p:cNvPr id="9" name="直接箭头连接符 8"/>
            <p:cNvCxnSpPr/>
            <p:nvPr/>
          </p:nvCxnSpPr>
          <p:spPr>
            <a:xfrm>
              <a:off x="392023" y="2929195"/>
              <a:ext cx="21460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392023" y="1158763"/>
              <a:ext cx="0" cy="17704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rot="16200000">
              <a:off x="-456201" y="1808195"/>
              <a:ext cx="1152880" cy="338554"/>
            </a:xfrm>
            <a:prstGeom prst="rect">
              <a:avLst/>
            </a:prstGeom>
            <a:noFill/>
          </p:spPr>
          <p:txBody>
            <a:bodyPr wrap="none" rtlCol="0">
              <a:spAutoFit/>
            </a:bodyPr>
            <a:lstStyle/>
            <a:p>
              <a:r>
                <a:rPr lang="en-US" altLang="zh-CN" sz="1600" dirty="0"/>
                <a:t>Frequency</a:t>
              </a:r>
              <a:endParaRPr lang="zh-CN" altLang="en-US" sz="1600" dirty="0"/>
            </a:p>
          </p:txBody>
        </p:sp>
        <p:sp>
          <p:nvSpPr>
            <p:cNvPr id="12" name="TextBox 11"/>
            <p:cNvSpPr txBox="1"/>
            <p:nvPr/>
          </p:nvSpPr>
          <p:spPr>
            <a:xfrm>
              <a:off x="774714" y="2924518"/>
              <a:ext cx="1194045" cy="307777"/>
            </a:xfrm>
            <a:prstGeom prst="rect">
              <a:avLst/>
            </a:prstGeom>
            <a:noFill/>
          </p:spPr>
          <p:txBody>
            <a:bodyPr wrap="none" rtlCol="0">
              <a:spAutoFit/>
            </a:bodyPr>
            <a:lstStyle/>
            <a:p>
              <a:r>
                <a:rPr lang="en-US" altLang="zh-CN" sz="1400" dirty="0"/>
                <a:t>Wave Vector</a:t>
              </a:r>
              <a:endParaRPr lang="zh-CN" altLang="en-US" sz="1400" dirty="0"/>
            </a:p>
          </p:txBody>
        </p:sp>
        <p:sp>
          <p:nvSpPr>
            <p:cNvPr id="13" name="TextBox 12"/>
            <p:cNvSpPr txBox="1"/>
            <p:nvPr/>
          </p:nvSpPr>
          <p:spPr>
            <a:xfrm>
              <a:off x="152989" y="2841825"/>
              <a:ext cx="287258" cy="307777"/>
            </a:xfrm>
            <a:prstGeom prst="rect">
              <a:avLst/>
            </a:prstGeom>
            <a:noFill/>
          </p:spPr>
          <p:txBody>
            <a:bodyPr wrap="none" rtlCol="0">
              <a:spAutoFit/>
            </a:bodyPr>
            <a:lstStyle/>
            <a:p>
              <a:r>
                <a:rPr lang="el-GR" altLang="zh-CN" sz="1400" i="1" dirty="0">
                  <a:latin typeface="Times New Roman" pitchFamily="18" charset="0"/>
                  <a:cs typeface="Times New Roman" pitchFamily="18" charset="0"/>
                </a:rPr>
                <a:t>Γ</a:t>
              </a:r>
              <a:endParaRPr lang="zh-CN" altLang="en-US" sz="1400" i="1" dirty="0">
                <a:latin typeface="Times New Roman" pitchFamily="18" charset="0"/>
                <a:cs typeface="Times New Roman" pitchFamily="18" charset="0"/>
              </a:endParaRPr>
            </a:p>
          </p:txBody>
        </p:sp>
        <p:cxnSp>
          <p:nvCxnSpPr>
            <p:cNvPr id="14" name="直接连接符 13"/>
            <p:cNvCxnSpPr/>
            <p:nvPr/>
          </p:nvCxnSpPr>
          <p:spPr>
            <a:xfrm flipV="1">
              <a:off x="392023" y="1706622"/>
              <a:ext cx="1399592" cy="1222574"/>
            </a:xfrm>
            <a:prstGeom prst="line">
              <a:avLst/>
            </a:prstGeom>
            <a:ln w="4762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对象 14"/>
            <p:cNvGraphicFramePr>
              <a:graphicFrameLocks noChangeAspect="1"/>
            </p:cNvGraphicFramePr>
            <p:nvPr/>
          </p:nvGraphicFramePr>
          <p:xfrm>
            <a:off x="730647" y="1912771"/>
            <a:ext cx="615950" cy="231775"/>
          </p:xfrm>
          <a:graphic>
            <a:graphicData uri="http://schemas.openxmlformats.org/presentationml/2006/ole">
              <mc:AlternateContent xmlns:mc="http://schemas.openxmlformats.org/markup-compatibility/2006">
                <mc:Choice xmlns:v="urn:schemas-microsoft-com:vml" Requires="v">
                  <p:oleObj name="Equation" r:id="rId5" imgW="469800" imgH="177480" progId="Equation.DSMT4">
                    <p:embed/>
                  </p:oleObj>
                </mc:Choice>
                <mc:Fallback>
                  <p:oleObj name="Equation" r:id="rId5" imgW="469800" imgH="177480" progId="Equation.DSMT4">
                    <p:embed/>
                    <p:pic>
                      <p:nvPicPr>
                        <p:cNvPr id="15" name="对象 14"/>
                        <p:cNvPicPr>
                          <a:picLocks noChangeAspect="1" noChangeArrowheads="1"/>
                        </p:cNvPicPr>
                        <p:nvPr/>
                      </p:nvPicPr>
                      <p:blipFill>
                        <a:blip r:embed="rId6"/>
                        <a:srcRect/>
                        <a:stretch>
                          <a:fillRect/>
                        </a:stretch>
                      </p:blipFill>
                      <p:spPr bwMode="auto">
                        <a:xfrm>
                          <a:off x="730647" y="1912771"/>
                          <a:ext cx="6159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6" name="直接连接符 15"/>
            <p:cNvCxnSpPr/>
            <p:nvPr/>
          </p:nvCxnSpPr>
          <p:spPr>
            <a:xfrm flipH="1">
              <a:off x="440247" y="1706622"/>
              <a:ext cx="1840653"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aphicFrame>
          <p:nvGraphicFramePr>
            <p:cNvPr id="17" name="对象 16"/>
            <p:cNvGraphicFramePr>
              <a:graphicFrameLocks noChangeAspect="1"/>
            </p:cNvGraphicFramePr>
            <p:nvPr/>
          </p:nvGraphicFramePr>
          <p:xfrm>
            <a:off x="1948260" y="1353971"/>
            <a:ext cx="280987" cy="296862"/>
          </p:xfrm>
          <a:graphic>
            <a:graphicData uri="http://schemas.openxmlformats.org/presentationml/2006/ole">
              <mc:AlternateContent xmlns:mc="http://schemas.openxmlformats.org/markup-compatibility/2006">
                <mc:Choice xmlns:v="urn:schemas-microsoft-com:vml" Requires="v">
                  <p:oleObj name="Equation" r:id="rId7" imgW="215640" imgH="228600" progId="Equation.DSMT4">
                    <p:embed/>
                  </p:oleObj>
                </mc:Choice>
                <mc:Fallback>
                  <p:oleObj name="Equation" r:id="rId7" imgW="215640" imgH="228600" progId="Equation.DSMT4">
                    <p:embed/>
                    <p:pic>
                      <p:nvPicPr>
                        <p:cNvPr id="17" name="对象 16"/>
                        <p:cNvPicPr>
                          <a:picLocks noChangeAspect="1" noChangeArrowheads="1"/>
                        </p:cNvPicPr>
                        <p:nvPr/>
                      </p:nvPicPr>
                      <p:blipFill>
                        <a:blip r:embed="rId8"/>
                        <a:srcRect/>
                        <a:stretch>
                          <a:fillRect/>
                        </a:stretch>
                      </p:blipFill>
                      <p:spPr bwMode="auto">
                        <a:xfrm>
                          <a:off x="1948260" y="1353971"/>
                          <a:ext cx="280987"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直接连接符 17"/>
            <p:cNvCxnSpPr/>
            <p:nvPr/>
          </p:nvCxnSpPr>
          <p:spPr>
            <a:xfrm flipH="1">
              <a:off x="1791615" y="1566663"/>
              <a:ext cx="1" cy="135785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pSp>
      <p:sp>
        <p:nvSpPr>
          <p:cNvPr id="3" name="任意多边形 2"/>
          <p:cNvSpPr/>
          <p:nvPr/>
        </p:nvSpPr>
        <p:spPr>
          <a:xfrm>
            <a:off x="550505" y="3049235"/>
            <a:ext cx="2500604" cy="951723"/>
          </a:xfrm>
          <a:custGeom>
            <a:avLst/>
            <a:gdLst>
              <a:gd name="connsiteX0" fmla="*/ 0 w 2836506"/>
              <a:gd name="connsiteY0" fmla="*/ 0 h 951723"/>
              <a:gd name="connsiteX1" fmla="*/ 839755 w 2836506"/>
              <a:gd name="connsiteY1" fmla="*/ 951723 h 951723"/>
              <a:gd name="connsiteX2" fmla="*/ 2836506 w 2836506"/>
              <a:gd name="connsiteY2" fmla="*/ 923731 h 951723"/>
            </a:gdLst>
            <a:ahLst/>
            <a:cxnLst>
              <a:cxn ang="0">
                <a:pos x="connsiteX0" y="connsiteY0"/>
              </a:cxn>
              <a:cxn ang="0">
                <a:pos x="connsiteX1" y="connsiteY1"/>
              </a:cxn>
              <a:cxn ang="0">
                <a:pos x="connsiteX2" y="connsiteY2"/>
              </a:cxn>
            </a:cxnLst>
            <a:rect l="l" t="t" r="r" b="b"/>
            <a:pathLst>
              <a:path w="2836506" h="951723">
                <a:moveTo>
                  <a:pt x="0" y="0"/>
                </a:moveTo>
                <a:lnTo>
                  <a:pt x="839755" y="951723"/>
                </a:lnTo>
                <a:lnTo>
                  <a:pt x="2836506" y="923731"/>
                </a:lnTo>
              </a:path>
            </a:pathLst>
          </a:cu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TextBox 3"/>
          <p:cNvSpPr txBox="1"/>
          <p:nvPr/>
        </p:nvSpPr>
        <p:spPr>
          <a:xfrm>
            <a:off x="440246" y="4025057"/>
            <a:ext cx="2005677" cy="369332"/>
          </a:xfrm>
          <a:prstGeom prst="rect">
            <a:avLst/>
          </a:prstGeom>
          <a:noFill/>
        </p:spPr>
        <p:txBody>
          <a:bodyPr wrap="none" rtlCol="0">
            <a:spAutoFit/>
          </a:bodyPr>
          <a:lstStyle/>
          <a:p>
            <a:r>
              <a:rPr lang="en-US" altLang="zh-CN" dirty="0"/>
              <a:t>Linear dispersion</a:t>
            </a:r>
            <a:endParaRPr lang="zh-CN" altLang="en-US" dirty="0"/>
          </a:p>
        </p:txBody>
      </p:sp>
      <p:grpSp>
        <p:nvGrpSpPr>
          <p:cNvPr id="23" name="组合 22"/>
          <p:cNvGrpSpPr/>
          <p:nvPr/>
        </p:nvGrpSpPr>
        <p:grpSpPr>
          <a:xfrm>
            <a:off x="6580773" y="2947232"/>
            <a:ext cx="2329938" cy="1919643"/>
            <a:chOff x="-49038" y="1158763"/>
            <a:chExt cx="2587102" cy="2073532"/>
          </a:xfrm>
        </p:grpSpPr>
        <p:cxnSp>
          <p:nvCxnSpPr>
            <p:cNvPr id="24" name="直接箭头连接符 23"/>
            <p:cNvCxnSpPr/>
            <p:nvPr/>
          </p:nvCxnSpPr>
          <p:spPr>
            <a:xfrm>
              <a:off x="392023" y="2929195"/>
              <a:ext cx="21460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392023" y="1158763"/>
              <a:ext cx="0" cy="17704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rot="16200000">
              <a:off x="-456201" y="1808195"/>
              <a:ext cx="1152880" cy="338554"/>
            </a:xfrm>
            <a:prstGeom prst="rect">
              <a:avLst/>
            </a:prstGeom>
            <a:noFill/>
          </p:spPr>
          <p:txBody>
            <a:bodyPr wrap="none" rtlCol="0">
              <a:spAutoFit/>
            </a:bodyPr>
            <a:lstStyle/>
            <a:p>
              <a:r>
                <a:rPr lang="en-US" altLang="zh-CN" sz="1600" dirty="0"/>
                <a:t>Frequency</a:t>
              </a:r>
              <a:endParaRPr lang="zh-CN" altLang="en-US" sz="1600" dirty="0"/>
            </a:p>
          </p:txBody>
        </p:sp>
        <p:sp>
          <p:nvSpPr>
            <p:cNvPr id="27" name="TextBox 26"/>
            <p:cNvSpPr txBox="1"/>
            <p:nvPr/>
          </p:nvSpPr>
          <p:spPr>
            <a:xfrm>
              <a:off x="774714" y="2924518"/>
              <a:ext cx="1194045" cy="307777"/>
            </a:xfrm>
            <a:prstGeom prst="rect">
              <a:avLst/>
            </a:prstGeom>
            <a:noFill/>
          </p:spPr>
          <p:txBody>
            <a:bodyPr wrap="none" rtlCol="0">
              <a:spAutoFit/>
            </a:bodyPr>
            <a:lstStyle/>
            <a:p>
              <a:r>
                <a:rPr lang="en-US" altLang="zh-CN" sz="1400" dirty="0"/>
                <a:t>Wave Vector</a:t>
              </a:r>
              <a:endParaRPr lang="zh-CN" altLang="en-US" sz="1400" dirty="0"/>
            </a:p>
          </p:txBody>
        </p:sp>
        <p:sp>
          <p:nvSpPr>
            <p:cNvPr id="28" name="TextBox 27"/>
            <p:cNvSpPr txBox="1"/>
            <p:nvPr/>
          </p:nvSpPr>
          <p:spPr>
            <a:xfrm>
              <a:off x="152989" y="2841825"/>
              <a:ext cx="287258" cy="307777"/>
            </a:xfrm>
            <a:prstGeom prst="rect">
              <a:avLst/>
            </a:prstGeom>
            <a:noFill/>
          </p:spPr>
          <p:txBody>
            <a:bodyPr wrap="none" rtlCol="0">
              <a:spAutoFit/>
            </a:bodyPr>
            <a:lstStyle/>
            <a:p>
              <a:r>
                <a:rPr lang="el-GR" altLang="zh-CN" sz="1400" i="1" dirty="0">
                  <a:latin typeface="Times New Roman" pitchFamily="18" charset="0"/>
                  <a:cs typeface="Times New Roman" pitchFamily="18" charset="0"/>
                </a:rPr>
                <a:t>Γ</a:t>
              </a:r>
              <a:endParaRPr lang="zh-CN" altLang="en-US" sz="1400" i="1" dirty="0">
                <a:latin typeface="Times New Roman" pitchFamily="18" charset="0"/>
                <a:cs typeface="Times New Roman" pitchFamily="18" charset="0"/>
              </a:endParaRPr>
            </a:p>
          </p:txBody>
        </p:sp>
        <p:cxnSp>
          <p:nvCxnSpPr>
            <p:cNvPr id="31" name="直接连接符 30"/>
            <p:cNvCxnSpPr/>
            <p:nvPr/>
          </p:nvCxnSpPr>
          <p:spPr>
            <a:xfrm flipH="1">
              <a:off x="440247" y="1706622"/>
              <a:ext cx="1840653"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aphicFrame>
          <p:nvGraphicFramePr>
            <p:cNvPr id="32" name="对象 31"/>
            <p:cNvGraphicFramePr>
              <a:graphicFrameLocks noChangeAspect="1"/>
            </p:cNvGraphicFramePr>
            <p:nvPr/>
          </p:nvGraphicFramePr>
          <p:xfrm>
            <a:off x="1948260" y="1353971"/>
            <a:ext cx="280987" cy="296862"/>
          </p:xfrm>
          <a:graphic>
            <a:graphicData uri="http://schemas.openxmlformats.org/presentationml/2006/ole">
              <mc:AlternateContent xmlns:mc="http://schemas.openxmlformats.org/markup-compatibility/2006">
                <mc:Choice xmlns:v="urn:schemas-microsoft-com:vml" Requires="v">
                  <p:oleObj name="Equation" r:id="rId9" imgW="215640" imgH="228600" progId="Equation.DSMT4">
                    <p:embed/>
                  </p:oleObj>
                </mc:Choice>
                <mc:Fallback>
                  <p:oleObj name="Equation" r:id="rId9" imgW="215640" imgH="228600" progId="Equation.DSMT4">
                    <p:embed/>
                    <p:pic>
                      <p:nvPicPr>
                        <p:cNvPr id="32" name="对象 31"/>
                        <p:cNvPicPr>
                          <a:picLocks noChangeAspect="1" noChangeArrowheads="1"/>
                        </p:cNvPicPr>
                        <p:nvPr/>
                      </p:nvPicPr>
                      <p:blipFill>
                        <a:blip r:embed="rId8"/>
                        <a:srcRect/>
                        <a:stretch>
                          <a:fillRect/>
                        </a:stretch>
                      </p:blipFill>
                      <p:spPr bwMode="auto">
                        <a:xfrm>
                          <a:off x="1948260" y="1353971"/>
                          <a:ext cx="280987"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3" name="直接连接符 32"/>
            <p:cNvCxnSpPr/>
            <p:nvPr/>
          </p:nvCxnSpPr>
          <p:spPr>
            <a:xfrm flipH="1">
              <a:off x="1791615" y="1566663"/>
              <a:ext cx="1" cy="135785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pSp>
      <p:sp>
        <p:nvSpPr>
          <p:cNvPr id="6" name="任意多边形 5"/>
          <p:cNvSpPr/>
          <p:nvPr/>
        </p:nvSpPr>
        <p:spPr>
          <a:xfrm>
            <a:off x="6969966" y="3487774"/>
            <a:ext cx="1278294" cy="1101012"/>
          </a:xfrm>
          <a:custGeom>
            <a:avLst/>
            <a:gdLst>
              <a:gd name="connsiteX0" fmla="*/ 0 w 1278294"/>
              <a:gd name="connsiteY0" fmla="*/ 1101012 h 1101012"/>
              <a:gd name="connsiteX1" fmla="*/ 410547 w 1278294"/>
              <a:gd name="connsiteY1" fmla="*/ 587828 h 1101012"/>
              <a:gd name="connsiteX2" fmla="*/ 821094 w 1278294"/>
              <a:gd name="connsiteY2" fmla="*/ 186612 h 1101012"/>
              <a:gd name="connsiteX3" fmla="*/ 1278294 w 1278294"/>
              <a:gd name="connsiteY3" fmla="*/ 0 h 1101012"/>
            </a:gdLst>
            <a:ahLst/>
            <a:cxnLst>
              <a:cxn ang="0">
                <a:pos x="connsiteX0" y="connsiteY0"/>
              </a:cxn>
              <a:cxn ang="0">
                <a:pos x="connsiteX1" y="connsiteY1"/>
              </a:cxn>
              <a:cxn ang="0">
                <a:pos x="connsiteX2" y="connsiteY2"/>
              </a:cxn>
              <a:cxn ang="0">
                <a:pos x="connsiteX3" y="connsiteY3"/>
              </a:cxn>
            </a:cxnLst>
            <a:rect l="l" t="t" r="r" b="b"/>
            <a:pathLst>
              <a:path w="1278294" h="1101012">
                <a:moveTo>
                  <a:pt x="0" y="1101012"/>
                </a:moveTo>
                <a:cubicBezTo>
                  <a:pt x="136849" y="920620"/>
                  <a:pt x="273698" y="740228"/>
                  <a:pt x="410547" y="587828"/>
                </a:cubicBezTo>
                <a:cubicBezTo>
                  <a:pt x="547396" y="435428"/>
                  <a:pt x="676470" y="284583"/>
                  <a:pt x="821094" y="186612"/>
                </a:cubicBezTo>
                <a:cubicBezTo>
                  <a:pt x="965718" y="88641"/>
                  <a:pt x="1278294" y="0"/>
                  <a:pt x="1278294" y="0"/>
                </a:cubicBezTo>
              </a:path>
            </a:pathLst>
          </a:cu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任意多边形 6"/>
          <p:cNvSpPr/>
          <p:nvPr/>
        </p:nvSpPr>
        <p:spPr>
          <a:xfrm>
            <a:off x="6008913" y="2265464"/>
            <a:ext cx="2015413" cy="811763"/>
          </a:xfrm>
          <a:custGeom>
            <a:avLst/>
            <a:gdLst>
              <a:gd name="connsiteX0" fmla="*/ 0 w 2015413"/>
              <a:gd name="connsiteY0" fmla="*/ 0 h 811763"/>
              <a:gd name="connsiteX1" fmla="*/ 1156996 w 2015413"/>
              <a:gd name="connsiteY1" fmla="*/ 9330 h 811763"/>
              <a:gd name="connsiteX2" fmla="*/ 2015413 w 2015413"/>
              <a:gd name="connsiteY2" fmla="*/ 811763 h 811763"/>
            </a:gdLst>
            <a:ahLst/>
            <a:cxnLst>
              <a:cxn ang="0">
                <a:pos x="connsiteX0" y="connsiteY0"/>
              </a:cxn>
              <a:cxn ang="0">
                <a:pos x="connsiteX1" y="connsiteY1"/>
              </a:cxn>
              <a:cxn ang="0">
                <a:pos x="connsiteX2" y="connsiteY2"/>
              </a:cxn>
            </a:cxnLst>
            <a:rect l="l" t="t" r="r" b="b"/>
            <a:pathLst>
              <a:path w="2015413" h="811763">
                <a:moveTo>
                  <a:pt x="0" y="0"/>
                </a:moveTo>
                <a:lnTo>
                  <a:pt x="1156996" y="9330"/>
                </a:lnTo>
                <a:lnTo>
                  <a:pt x="2015413" y="811763"/>
                </a:lnTo>
              </a:path>
            </a:pathLst>
          </a:custGeom>
          <a:ln>
            <a:solidFill>
              <a:schemeClr val="accent6">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TextBox 35"/>
          <p:cNvSpPr txBox="1"/>
          <p:nvPr/>
        </p:nvSpPr>
        <p:spPr>
          <a:xfrm>
            <a:off x="6733223" y="1785536"/>
            <a:ext cx="1762021" cy="369332"/>
          </a:xfrm>
          <a:prstGeom prst="rect">
            <a:avLst/>
          </a:prstGeom>
          <a:noFill/>
        </p:spPr>
        <p:txBody>
          <a:bodyPr wrap="none" rtlCol="0">
            <a:spAutoFit/>
          </a:bodyPr>
          <a:lstStyle/>
          <a:p>
            <a:r>
              <a:rPr lang="en-US" altLang="zh-CN" dirty="0"/>
              <a:t>Sine dispersion</a:t>
            </a:r>
            <a:endParaRPr lang="zh-CN" altLang="en-US" dirty="0"/>
          </a:p>
        </p:txBody>
      </p:sp>
      <p:sp>
        <p:nvSpPr>
          <p:cNvPr id="19" name="TextBox 18"/>
          <p:cNvSpPr txBox="1"/>
          <p:nvPr/>
        </p:nvSpPr>
        <p:spPr>
          <a:xfrm>
            <a:off x="1110709" y="6131361"/>
            <a:ext cx="7148111" cy="369332"/>
          </a:xfrm>
          <a:prstGeom prst="rect">
            <a:avLst/>
          </a:prstGeom>
          <a:noFill/>
        </p:spPr>
        <p:txBody>
          <a:bodyPr wrap="none" rtlCol="0">
            <a:spAutoFit/>
          </a:bodyPr>
          <a:lstStyle/>
          <a:p>
            <a:r>
              <a:rPr lang="en-US" altLang="zh-CN" i="1" dirty="0"/>
              <a:t>I would like to thank Prof. Pei to provide the slides for this lecture. </a:t>
            </a:r>
            <a:endParaRPr lang="zh-CN" altLang="en-US" i="1" dirty="0"/>
          </a:p>
        </p:txBody>
      </p:sp>
    </p:spTree>
    <p:extLst>
      <p:ext uri="{BB962C8B-B14F-4D97-AF65-F5344CB8AC3E}">
        <p14:creationId xmlns:p14="http://schemas.microsoft.com/office/powerpoint/2010/main" val="3448874369"/>
      </p:ext>
    </p:extLst>
  </p:cSld>
  <p:clrMapOvr>
    <a:masterClrMapping/>
  </p:clrMapOvr>
  <p:transition spd="slow" advTm="25418"/>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3908699-B4D1-49AA-A2F8-07D39A8AC3B8}"/>
              </a:ext>
            </a:extLst>
          </p:cNvPr>
          <p:cNvSpPr txBox="1"/>
          <p:nvPr/>
        </p:nvSpPr>
        <p:spPr>
          <a:xfrm>
            <a:off x="977428" y="113421"/>
            <a:ext cx="6548588" cy="461665"/>
          </a:xfrm>
          <a:prstGeom prst="rect">
            <a:avLst/>
          </a:prstGeom>
          <a:noFill/>
        </p:spPr>
        <p:txBody>
          <a:bodyPr wrap="none" rtlCol="0">
            <a:spAutoFit/>
          </a:bodyPr>
          <a:lstStyle/>
          <a:p>
            <a:r>
              <a:rPr lang="en-US" altLang="zh-CN" sz="2400" dirty="0">
                <a:solidFill>
                  <a:srgbClr val="FF0000"/>
                </a:solidFill>
                <a:cs typeface="Times New Roman" panose="02020603050405020304" pitchFamily="18" charset="0"/>
              </a:rPr>
              <a:t>The heat capacity of matter at low temperature</a:t>
            </a:r>
          </a:p>
        </p:txBody>
      </p:sp>
      <p:pic>
        <p:nvPicPr>
          <p:cNvPr id="3" name="Picture 2">
            <a:extLst>
              <a:ext uri="{FF2B5EF4-FFF2-40B4-BE49-F238E27FC236}">
                <a16:creationId xmlns:a16="http://schemas.microsoft.com/office/drawing/2014/main" id="{A92F125D-6C34-496A-8890-7C312AA8D991}"/>
              </a:ext>
            </a:extLst>
          </p:cNvPr>
          <p:cNvPicPr>
            <a:picLocks noChangeAspect="1" noChangeArrowheads="1"/>
          </p:cNvPicPr>
          <p:nvPr/>
        </p:nvPicPr>
        <p:blipFill>
          <a:blip r:embed="rId3" cstate="print"/>
          <a:srcRect/>
          <a:stretch>
            <a:fillRect/>
          </a:stretch>
        </p:blipFill>
        <p:spPr bwMode="auto">
          <a:xfrm>
            <a:off x="3808975" y="1096455"/>
            <a:ext cx="4651853" cy="1307978"/>
          </a:xfrm>
          <a:prstGeom prst="rect">
            <a:avLst/>
          </a:prstGeom>
          <a:noFill/>
          <a:ln w="9525">
            <a:noFill/>
            <a:miter lim="800000"/>
            <a:headEnd/>
            <a:tailEnd/>
          </a:ln>
        </p:spPr>
      </p:pic>
      <p:sp>
        <p:nvSpPr>
          <p:cNvPr id="14" name="文本框 13">
            <a:extLst>
              <a:ext uri="{FF2B5EF4-FFF2-40B4-BE49-F238E27FC236}">
                <a16:creationId xmlns:a16="http://schemas.microsoft.com/office/drawing/2014/main" id="{030637AF-7DE6-4016-B8CD-3460601D459B}"/>
              </a:ext>
            </a:extLst>
          </p:cNvPr>
          <p:cNvSpPr txBox="1"/>
          <p:nvPr/>
        </p:nvSpPr>
        <p:spPr>
          <a:xfrm>
            <a:off x="277251" y="2689254"/>
            <a:ext cx="3181611" cy="1703030"/>
          </a:xfrm>
          <a:prstGeom prst="rect">
            <a:avLst/>
          </a:prstGeom>
          <a:noFill/>
        </p:spPr>
        <p:txBody>
          <a:bodyPr wrap="square" rtlCol="0">
            <a:spAutoFit/>
          </a:bodyPr>
          <a:lstStyle/>
          <a:p>
            <a:pPr algn="just">
              <a:lnSpc>
                <a:spcPct val="150000"/>
              </a:lnSpc>
            </a:pPr>
            <a:r>
              <a:rPr lang="en-US" altLang="zh-CN" sz="1800" b="1" dirty="0">
                <a:solidFill>
                  <a:srgbClr val="FF0000"/>
                </a:solidFill>
                <a:latin typeface="Times New Roman" panose="02020603050405020304" pitchFamily="18" charset="0"/>
                <a:cs typeface="Times New Roman" panose="02020603050405020304" pitchFamily="18" charset="0"/>
              </a:rPr>
              <a:t>1. Lattice heat capacity</a:t>
            </a:r>
          </a:p>
          <a:p>
            <a:pPr algn="just">
              <a:lnSpc>
                <a:spcPct val="150000"/>
              </a:lnSpc>
            </a:pPr>
            <a:r>
              <a:rPr lang="en-US" altLang="zh-CN" sz="1800" b="1" dirty="0">
                <a:latin typeface="Times New Roman" panose="02020603050405020304" pitchFamily="18" charset="0"/>
                <a:cs typeface="Times New Roman" panose="02020603050405020304" pitchFamily="18" charset="0"/>
              </a:rPr>
              <a:t>2. Electronic heat capacity</a:t>
            </a:r>
          </a:p>
          <a:p>
            <a:pPr>
              <a:lnSpc>
                <a:spcPct val="150000"/>
              </a:lnSpc>
            </a:pPr>
            <a:r>
              <a:rPr lang="en-US" altLang="zh-CN" sz="1800" b="1" dirty="0">
                <a:latin typeface="Times New Roman" panose="02020603050405020304" pitchFamily="18" charset="0"/>
                <a:cs typeface="Times New Roman" panose="02020603050405020304" pitchFamily="18" charset="0"/>
              </a:rPr>
              <a:t>3. Magnetic heat capacity</a:t>
            </a:r>
          </a:p>
          <a:p>
            <a:pPr>
              <a:lnSpc>
                <a:spcPct val="150000"/>
              </a:lnSpc>
            </a:pPr>
            <a:r>
              <a:rPr lang="en-US" altLang="zh-CN" sz="1800" b="1" dirty="0">
                <a:latin typeface="Times New Roman" panose="02020603050405020304" pitchFamily="18" charset="0"/>
                <a:cs typeface="Times New Roman" panose="02020603050405020304" pitchFamily="18" charset="0"/>
              </a:rPr>
              <a:t>4. Heat capacity anomalies</a:t>
            </a:r>
          </a:p>
        </p:txBody>
      </p:sp>
      <p:sp>
        <p:nvSpPr>
          <p:cNvPr id="17" name="文本框 16">
            <a:extLst>
              <a:ext uri="{FF2B5EF4-FFF2-40B4-BE49-F238E27FC236}">
                <a16:creationId xmlns:a16="http://schemas.microsoft.com/office/drawing/2014/main" id="{602E1F51-CCD5-401C-B283-1FDC7CB6FA7E}"/>
              </a:ext>
            </a:extLst>
          </p:cNvPr>
          <p:cNvSpPr txBox="1"/>
          <p:nvPr/>
        </p:nvSpPr>
        <p:spPr>
          <a:xfrm>
            <a:off x="3798032" y="2689254"/>
            <a:ext cx="4959143" cy="3035446"/>
          </a:xfrm>
          <a:prstGeom prst="rect">
            <a:avLst/>
          </a:prstGeom>
          <a:noFill/>
        </p:spPr>
        <p:txBody>
          <a:bodyPr wrap="square" rtlCol="0">
            <a:spAutoFit/>
          </a:bodyPr>
          <a:lstStyle/>
          <a:p>
            <a:pPr marL="285750" indent="-285750">
              <a:lnSpc>
                <a:spcPts val="2100"/>
              </a:lnSpc>
              <a:buFont typeface="Arial" panose="020B0604020202020204" pitchFamily="34" charset="0"/>
              <a:buChar char="•"/>
            </a:pPr>
            <a:r>
              <a:rPr lang="en-US" altLang="zh-CN" sz="1600" kern="1200" dirty="0">
                <a:solidFill>
                  <a:schemeClr val="tx1"/>
                </a:solidFill>
                <a:effectLst/>
                <a:latin typeface="Times New Roman" panose="02020603050405020304" pitchFamily="18" charset="0"/>
                <a:cs typeface="Times New Roman" panose="02020603050405020304" pitchFamily="18" charset="0"/>
              </a:rPr>
              <a:t>1800 Black first proposed the concept of heat capacity</a:t>
            </a:r>
          </a:p>
          <a:p>
            <a:pPr marL="285750" indent="-285750">
              <a:lnSpc>
                <a:spcPts val="2100"/>
              </a:lnSpc>
              <a:buFont typeface="Arial" panose="020B0604020202020204" pitchFamily="34" charset="0"/>
              <a:buChar char="•"/>
            </a:pPr>
            <a:r>
              <a:rPr lang="en-US" altLang="zh-CN" sz="1600" kern="1200" dirty="0">
                <a:solidFill>
                  <a:schemeClr val="tx1"/>
                </a:solidFill>
                <a:effectLst/>
                <a:latin typeface="Times New Roman" panose="02020603050405020304" pitchFamily="18" charset="0"/>
                <a:cs typeface="Times New Roman" panose="02020603050405020304" pitchFamily="18" charset="0"/>
              </a:rPr>
              <a:t>1819 Dulong-Petit Law</a:t>
            </a:r>
          </a:p>
          <a:p>
            <a:pPr marL="285750" indent="-285750">
              <a:lnSpc>
                <a:spcPts val="2100"/>
              </a:lnSpc>
              <a:buFont typeface="Arial" panose="020B0604020202020204" pitchFamily="34" charset="0"/>
              <a:buChar char="•"/>
            </a:pPr>
            <a:r>
              <a:rPr lang="en-US" altLang="zh-CN" sz="1600" kern="1200" dirty="0">
                <a:solidFill>
                  <a:schemeClr val="tx1"/>
                </a:solidFill>
                <a:effectLst/>
                <a:latin typeface="Times New Roman" panose="02020603050405020304" pitchFamily="18" charset="0"/>
                <a:cs typeface="Times New Roman" panose="02020603050405020304" pitchFamily="18" charset="0"/>
              </a:rPr>
              <a:t>1907 Einstein Model</a:t>
            </a:r>
          </a:p>
          <a:p>
            <a:pPr marL="285750" indent="-285750">
              <a:lnSpc>
                <a:spcPts val="2100"/>
              </a:lnSpc>
              <a:buFont typeface="Arial" panose="020B0604020202020204" pitchFamily="34" charset="0"/>
              <a:buChar char="•"/>
            </a:pPr>
            <a:r>
              <a:rPr lang="en-US" altLang="zh-CN" sz="1600" kern="1200" dirty="0">
                <a:solidFill>
                  <a:schemeClr val="tx1"/>
                </a:solidFill>
                <a:effectLst/>
                <a:latin typeface="Times New Roman" panose="02020603050405020304" pitchFamily="18" charset="0"/>
                <a:cs typeface="Times New Roman" panose="02020603050405020304" pitchFamily="18" charset="0"/>
              </a:rPr>
              <a:t>1912 Debye Model</a:t>
            </a:r>
          </a:p>
          <a:p>
            <a:pPr marL="285750" indent="-285750">
              <a:lnSpc>
                <a:spcPts val="2100"/>
              </a:lnSpc>
              <a:buFont typeface="Arial" panose="020B0604020202020204" pitchFamily="34" charset="0"/>
              <a:buChar char="•"/>
            </a:pPr>
            <a:r>
              <a:rPr lang="en-US" altLang="zh-CN" sz="1600" kern="1200" dirty="0">
                <a:solidFill>
                  <a:schemeClr val="tx1"/>
                </a:solidFill>
                <a:effectLst/>
                <a:latin typeface="Times New Roman" panose="02020603050405020304" pitchFamily="18" charset="0"/>
                <a:cs typeface="Times New Roman" panose="02020603050405020304" pitchFamily="18" charset="0"/>
              </a:rPr>
              <a:t>1928 </a:t>
            </a:r>
            <a:r>
              <a:rPr lang="en-US" altLang="zh-CN" sz="1600" dirty="0">
                <a:latin typeface="Times New Roman" panose="02020603050405020304" pitchFamily="18" charset="0"/>
                <a:cs typeface="Times New Roman" panose="02020603050405020304" pitchFamily="18" charset="0"/>
              </a:rPr>
              <a:t>Electronic heat capacity - Sommerfeld</a:t>
            </a:r>
            <a:endParaRPr lang="en-US" altLang="zh-CN" sz="1600" kern="1200" dirty="0">
              <a:solidFill>
                <a:schemeClr val="tx1"/>
              </a:solidFill>
              <a:effectLst/>
              <a:latin typeface="Times New Roman" panose="02020603050405020304" pitchFamily="18" charset="0"/>
              <a:cs typeface="Times New Roman" panose="02020603050405020304" pitchFamily="18" charset="0"/>
            </a:endParaRPr>
          </a:p>
          <a:p>
            <a:pPr marL="285750" marR="0" indent="-285750" algn="l" defTabSz="685800" rtl="0" eaLnBrk="1" fontAlgn="auto" latinLnBrk="0" hangingPunct="1">
              <a:lnSpc>
                <a:spcPts val="2100"/>
              </a:lnSpc>
              <a:spcBef>
                <a:spcPts val="0"/>
              </a:spcBef>
              <a:spcAft>
                <a:spcPts val="0"/>
              </a:spcAft>
              <a:buClrTx/>
              <a:buSzTx/>
              <a:buFont typeface="Arial" panose="020B0604020202020204" pitchFamily="34" charset="0"/>
              <a:buChar char="•"/>
              <a:defRPr/>
            </a:pPr>
            <a:r>
              <a:rPr lang="en-US" altLang="zh-CN" sz="1600" kern="1200" dirty="0">
                <a:solidFill>
                  <a:schemeClr val="tx1"/>
                </a:solidFill>
                <a:effectLst/>
                <a:latin typeface="Times New Roman" panose="02020603050405020304" pitchFamily="18" charset="0"/>
                <a:cs typeface="Times New Roman" panose="02020603050405020304" pitchFamily="18" charset="0"/>
              </a:rPr>
              <a:t>1963</a:t>
            </a:r>
            <a:r>
              <a:rPr lang="zh-CN" altLang="en-US" sz="1600" kern="1200" dirty="0">
                <a:solidFill>
                  <a:schemeClr val="tx1"/>
                </a:solidFill>
                <a:effectLst/>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Rosenberg proposed the Schottky anomaly of heat capacity in solids</a:t>
            </a:r>
          </a:p>
          <a:p>
            <a:pPr marL="285750" marR="0" indent="-285750" algn="l" defTabSz="685800" rtl="0" eaLnBrk="1" fontAlgn="auto" latinLnBrk="0" hangingPunct="1">
              <a:lnSpc>
                <a:spcPts val="2100"/>
              </a:lnSpc>
              <a:spcBef>
                <a:spcPts val="0"/>
              </a:spcBef>
              <a:spcAft>
                <a:spcPts val="0"/>
              </a:spcAft>
              <a:buClrTx/>
              <a:buSzTx/>
              <a:buFont typeface="Arial" panose="020B0604020202020204" pitchFamily="34" charset="0"/>
              <a:buChar char="•"/>
              <a:defRPr/>
            </a:pPr>
            <a:r>
              <a:rPr lang="en-US" altLang="zh-CN" sz="1600" dirty="0">
                <a:latin typeface="Times New Roman" panose="02020603050405020304" pitchFamily="18" charset="0"/>
                <a:cs typeface="Times New Roman" panose="02020603050405020304" pitchFamily="18" charset="0"/>
              </a:rPr>
              <a:t>1980 Magnetic heat capacity - Sinha and Kumar</a:t>
            </a:r>
          </a:p>
          <a:p>
            <a:pPr marL="285750" marR="0" indent="-285750" algn="l" defTabSz="685800" rtl="0" eaLnBrk="1" fontAlgn="auto" latinLnBrk="0" hangingPunct="1">
              <a:lnSpc>
                <a:spcPts val="2100"/>
              </a:lnSpc>
              <a:spcBef>
                <a:spcPts val="0"/>
              </a:spcBef>
              <a:spcAft>
                <a:spcPts val="0"/>
              </a:spcAft>
              <a:buClrTx/>
              <a:buSzTx/>
              <a:buFont typeface="Arial" panose="020B0604020202020204" pitchFamily="34" charset="0"/>
              <a:buChar char="•"/>
              <a:defRPr/>
            </a:pPr>
            <a:r>
              <a:rPr lang="en-US" altLang="zh-CN" sz="1600" dirty="0">
                <a:latin typeface="Times New Roman" panose="02020603050405020304" pitchFamily="18" charset="0"/>
                <a:cs typeface="Times New Roman" panose="02020603050405020304" pitchFamily="18" charset="0"/>
              </a:rPr>
              <a:t>1992</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Elliott discovered the Boson peak anomaly in heat capacity</a:t>
            </a:r>
          </a:p>
          <a:p>
            <a:pPr marL="285750" marR="0" indent="-285750" algn="l" defTabSz="685800" rtl="0" eaLnBrk="1" fontAlgn="auto" latinLnBrk="0" hangingPunct="1">
              <a:lnSpc>
                <a:spcPts val="2100"/>
              </a:lnSpc>
              <a:spcBef>
                <a:spcPts val="0"/>
              </a:spcBef>
              <a:spcAft>
                <a:spcPts val="0"/>
              </a:spcAft>
              <a:buClrTx/>
              <a:buSzTx/>
              <a:buFont typeface="Arial" panose="020B0604020202020204" pitchFamily="34" charset="0"/>
              <a:buChar char="•"/>
              <a:defRPr/>
            </a:pPr>
            <a:r>
              <a:rPr lang="en-US" altLang="zh-CN" sz="1600" dirty="0">
                <a:latin typeface="Times New Roman" panose="02020603050405020304" pitchFamily="18" charset="0"/>
                <a:cs typeface="Times New Roman" panose="02020603050405020304" pitchFamily="18" charset="0"/>
              </a:rPr>
              <a:t>2010-2020  C</a:t>
            </a:r>
            <a:r>
              <a:rPr lang="en-US" altLang="zh-CN" sz="1600" kern="1200" dirty="0">
                <a:solidFill>
                  <a:schemeClr val="tx1"/>
                </a:solidFill>
                <a:effectLst/>
                <a:latin typeface="Times New Roman" panose="02020603050405020304" pitchFamily="18" charset="0"/>
                <a:cs typeface="Times New Roman" panose="02020603050405020304" pitchFamily="18" charset="0"/>
              </a:rPr>
              <a:t>alorimetry, New model and Application</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3243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70AC4FB-0F95-44EF-90C9-0B28A6A26E0E}"/>
              </a:ext>
            </a:extLst>
          </p:cNvPr>
          <p:cNvPicPr>
            <a:picLocks noChangeAspect="1"/>
          </p:cNvPicPr>
          <p:nvPr/>
        </p:nvPicPr>
        <p:blipFill>
          <a:blip r:embed="rId2"/>
          <a:stretch>
            <a:fillRect/>
          </a:stretch>
        </p:blipFill>
        <p:spPr>
          <a:xfrm>
            <a:off x="892112" y="2536082"/>
            <a:ext cx="2633682" cy="1945084"/>
          </a:xfrm>
          <a:prstGeom prst="rect">
            <a:avLst/>
          </a:prstGeom>
        </p:spPr>
      </p:pic>
      <p:sp>
        <p:nvSpPr>
          <p:cNvPr id="5" name="文本框 4">
            <a:extLst>
              <a:ext uri="{FF2B5EF4-FFF2-40B4-BE49-F238E27FC236}">
                <a16:creationId xmlns:a16="http://schemas.microsoft.com/office/drawing/2014/main" id="{59A71A4B-ECD7-4A36-A325-CD2A63A8B27E}"/>
              </a:ext>
            </a:extLst>
          </p:cNvPr>
          <p:cNvSpPr txBox="1"/>
          <p:nvPr/>
        </p:nvSpPr>
        <p:spPr>
          <a:xfrm>
            <a:off x="3066016" y="142078"/>
            <a:ext cx="3124199" cy="553998"/>
          </a:xfrm>
          <a:prstGeom prst="rect">
            <a:avLst/>
          </a:prstGeom>
          <a:noFill/>
        </p:spPr>
        <p:txBody>
          <a:bodyPr wrap="square">
            <a:spAutoFit/>
          </a:bodyPr>
          <a:lstStyle/>
          <a:p>
            <a:pPr algn="just">
              <a:lnSpc>
                <a:spcPct val="150000"/>
              </a:lnSpc>
            </a:pPr>
            <a:r>
              <a:rPr lang="en-US" altLang="zh-CN" sz="2000" dirty="0">
                <a:solidFill>
                  <a:srgbClr val="FF0000"/>
                </a:solidFill>
              </a:rPr>
              <a:t>Electronic heat capacity</a:t>
            </a:r>
          </a:p>
        </p:txBody>
      </p:sp>
      <p:pic>
        <p:nvPicPr>
          <p:cNvPr id="7" name="图片 6">
            <a:extLst>
              <a:ext uri="{FF2B5EF4-FFF2-40B4-BE49-F238E27FC236}">
                <a16:creationId xmlns:a16="http://schemas.microsoft.com/office/drawing/2014/main" id="{06A34355-3167-4801-954B-1125264B1CCC}"/>
              </a:ext>
            </a:extLst>
          </p:cNvPr>
          <p:cNvPicPr>
            <a:picLocks noChangeAspect="1"/>
          </p:cNvPicPr>
          <p:nvPr/>
        </p:nvPicPr>
        <p:blipFill>
          <a:blip r:embed="rId3"/>
          <a:stretch>
            <a:fillRect/>
          </a:stretch>
        </p:blipFill>
        <p:spPr>
          <a:xfrm>
            <a:off x="4483809" y="2411354"/>
            <a:ext cx="2403023" cy="2110305"/>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47B55ED-6FAF-4F7C-821E-1F001799B9EB}"/>
                  </a:ext>
                </a:extLst>
              </p:cNvPr>
              <p:cNvSpPr txBox="1"/>
              <p:nvPr/>
            </p:nvSpPr>
            <p:spPr>
              <a:xfrm>
                <a:off x="2670600" y="1665458"/>
                <a:ext cx="2225096"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𝜀</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type m:val="lin"/>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𝜀</m:t>
                                      </m:r>
                                      <m:r>
                                        <a:rPr lang="en-US" altLang="zh-CN" b="0" i="1" smtClean="0">
                                          <a:latin typeface="Cambria Math" panose="02040503050406030204" pitchFamily="18" charset="0"/>
                                        </a:rPr>
                                        <m:t>−</m:t>
                                      </m:r>
                                      <m:r>
                                        <a:rPr lang="zh-CN" altLang="en-US" b="0" i="1" smtClean="0">
                                          <a:latin typeface="Cambria Math" panose="02040503050406030204" pitchFamily="18" charset="0"/>
                                        </a:rPr>
                                        <m:t>𝜇</m:t>
                                      </m:r>
                                    </m:e>
                                  </m:d>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𝑇</m:t>
                                  </m:r>
                                </m:den>
                              </m:f>
                            </m:sup>
                          </m:sSup>
                          <m:r>
                            <a:rPr lang="en-US" altLang="zh-CN" b="0" i="1" smtClean="0">
                              <a:latin typeface="Cambria Math" panose="02040503050406030204" pitchFamily="18" charset="0"/>
                            </a:rPr>
                            <m:t>+1</m:t>
                          </m:r>
                        </m:den>
                      </m:f>
                    </m:oMath>
                  </m:oMathPara>
                </a14:m>
                <a:endParaRPr lang="zh-CN" altLang="en-US" dirty="0"/>
              </a:p>
            </p:txBody>
          </p:sp>
        </mc:Choice>
        <mc:Fallback xmlns="">
          <p:sp>
            <p:nvSpPr>
              <p:cNvPr id="11" name="文本框 10">
                <a:extLst>
                  <a:ext uri="{FF2B5EF4-FFF2-40B4-BE49-F238E27FC236}">
                    <a16:creationId xmlns:a16="http://schemas.microsoft.com/office/drawing/2014/main" xmlns="" xmlns:a14="http://schemas.microsoft.com/office/drawing/2010/main" id="{D47B55ED-6FAF-4F7C-821E-1F001799B9EB}"/>
                  </a:ext>
                </a:extLst>
              </p:cNvPr>
              <p:cNvSpPr txBox="1">
                <a:spLocks noRot="1" noChangeAspect="1" noMove="1" noResize="1" noEditPoints="1" noAdjustHandles="1" noChangeArrowheads="1" noChangeShapeType="1" noTextEdit="1"/>
              </p:cNvSpPr>
              <p:nvPr/>
            </p:nvSpPr>
            <p:spPr>
              <a:xfrm>
                <a:off x="2670600" y="1665458"/>
                <a:ext cx="2225096" cy="536814"/>
              </a:xfrm>
              <a:prstGeom prst="rect">
                <a:avLst/>
              </a:prstGeom>
              <a:blipFill rotWithShape="0">
                <a:blip r:embed="rId4"/>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2F228388-9D55-4783-A217-1122F5848607}"/>
              </a:ext>
            </a:extLst>
          </p:cNvPr>
          <p:cNvSpPr txBox="1"/>
          <p:nvPr/>
        </p:nvSpPr>
        <p:spPr>
          <a:xfrm>
            <a:off x="568085" y="734170"/>
            <a:ext cx="7831448" cy="830997"/>
          </a:xfrm>
          <a:prstGeom prst="rect">
            <a:avLst/>
          </a:prstGeom>
          <a:noFill/>
        </p:spPr>
        <p:txBody>
          <a:bodyPr wrap="square" rtlCol="0">
            <a:spAutoFit/>
          </a:bodyPr>
          <a:lstStyle/>
          <a:p>
            <a:pPr algn="just"/>
            <a:r>
              <a:rPr lang="en-US" altLang="zh-CN" sz="1600" dirty="0">
                <a:cs typeface="Times New Roman" panose="02020603050405020304" pitchFamily="18" charset="0"/>
              </a:rPr>
              <a:t>When a gas consisting of N electrons (N is assumed to be very large) is in thermal equilibrium the probability that a particular energy level is occupied is given by the Fermi-Dirac distribution function.</a:t>
            </a:r>
            <a:endParaRPr lang="zh-CN" altLang="en-US" sz="1600" dirty="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C1915493-2499-476E-89B7-D2F25F2EBC34}"/>
                  </a:ext>
                </a:extLst>
              </p:cNvPr>
              <p:cNvSpPr txBox="1"/>
              <p:nvPr/>
            </p:nvSpPr>
            <p:spPr>
              <a:xfrm>
                <a:off x="3921111" y="5673497"/>
                <a:ext cx="2525500"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𝑒</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3</m:t>
                          </m:r>
                        </m:den>
                      </m:f>
                      <m:sSup>
                        <m:sSupPr>
                          <m:ctrlPr>
                            <a:rPr lang="en-US" altLang="zh-CN" b="0" i="1" smtClean="0">
                              <a:latin typeface="Cambria Math" panose="02040503050406030204" pitchFamily="18" charset="0"/>
                            </a:rPr>
                          </m:ctrlPr>
                        </m:sSupPr>
                        <m:e>
                          <m:r>
                            <a:rPr lang="zh-CN" altLang="en-US" b="0" i="1" smtClean="0">
                              <a:latin typeface="Cambria Math" panose="02040503050406030204" pitchFamily="18" charset="0"/>
                            </a:rPr>
                            <m:t>𝜋</m:t>
                          </m:r>
                        </m:e>
                        <m:sup>
                          <m:r>
                            <a:rPr lang="en-US" altLang="zh-CN" b="0" i="1" smtClean="0">
                              <a:latin typeface="Cambria Math" panose="02040503050406030204" pitchFamily="18" charset="0"/>
                            </a:rPr>
                            <m:t>2</m:t>
                          </m:r>
                        </m:sup>
                      </m:s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𝐵</m:t>
                          </m:r>
                        </m:sub>
                        <m:sup>
                          <m:r>
                            <a:rPr lang="en-US" altLang="zh-CN" b="0" i="1" smtClean="0">
                              <a:latin typeface="Cambria Math" panose="02040503050406030204" pitchFamily="18" charset="0"/>
                            </a:rPr>
                            <m:t>2</m:t>
                          </m:r>
                        </m:sup>
                      </m:sSubSup>
                      <m:r>
                        <a:rPr lang="zh-CN" altLang="en-US" b="0" i="1" smtClean="0">
                          <a:latin typeface="Cambria Math" panose="02040503050406030204" pitchFamily="18" charset="0"/>
                        </a:rPr>
                        <m:t>𝜂</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𝜀</m:t>
                              </m:r>
                            </m:e>
                            <m:sub>
                              <m:r>
                                <a:rPr lang="en-US" altLang="zh-CN" b="0" i="1" smtClean="0">
                                  <a:latin typeface="Cambria Math" panose="02040503050406030204" pitchFamily="18" charset="0"/>
                                </a:rPr>
                                <m:t>𝐹</m:t>
                              </m:r>
                            </m:sub>
                          </m:sSub>
                        </m:e>
                      </m:d>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zh-CN" altLang="en-US" b="0" i="1" smtClean="0">
                          <a:latin typeface="Cambria Math" panose="02040503050406030204" pitchFamily="18" charset="0"/>
                        </a:rPr>
                        <m:t>𝛾</m:t>
                      </m:r>
                      <m:r>
                        <a:rPr lang="en-US" altLang="zh-CN" b="0" i="1" smtClean="0">
                          <a:latin typeface="Cambria Math" panose="02040503050406030204" pitchFamily="18" charset="0"/>
                        </a:rPr>
                        <m:t>𝑇</m:t>
                      </m:r>
                    </m:oMath>
                  </m:oMathPara>
                </a14:m>
                <a:endParaRPr lang="zh-CN" altLang="en-US" dirty="0"/>
              </a:p>
            </p:txBody>
          </p:sp>
        </mc:Choice>
        <mc:Fallback xmlns="">
          <p:sp>
            <p:nvSpPr>
              <p:cNvPr id="16" name="文本框 15">
                <a:extLst>
                  <a:ext uri="{FF2B5EF4-FFF2-40B4-BE49-F238E27FC236}">
                    <a16:creationId xmlns:a16="http://schemas.microsoft.com/office/drawing/2014/main" xmlns="" xmlns:a14="http://schemas.microsoft.com/office/drawing/2010/main" id="{C1915493-2499-476E-89B7-D2F25F2EBC34}"/>
                  </a:ext>
                </a:extLst>
              </p:cNvPr>
              <p:cNvSpPr txBox="1">
                <a:spLocks noRot="1" noChangeAspect="1" noMove="1" noResize="1" noEditPoints="1" noAdjustHandles="1" noChangeArrowheads="1" noChangeShapeType="1" noTextEdit="1"/>
              </p:cNvSpPr>
              <p:nvPr/>
            </p:nvSpPr>
            <p:spPr>
              <a:xfrm>
                <a:off x="3921111" y="5673497"/>
                <a:ext cx="2525500" cy="520399"/>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58D2F340-BA08-4C30-9A93-B68F5EEE16C6}"/>
                  </a:ext>
                </a:extLst>
              </p:cNvPr>
              <p:cNvSpPr txBox="1"/>
              <p:nvPr/>
            </p:nvSpPr>
            <p:spPr>
              <a:xfrm>
                <a:off x="3887263" y="4825423"/>
                <a:ext cx="3596113" cy="6197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𝑒</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𝐵</m:t>
                                  </m:r>
                                </m:sub>
                              </m:sSub>
                              <m:r>
                                <a:rPr lang="en-US" altLang="zh-CN" i="1">
                                  <a:latin typeface="Cambria Math" panose="02040503050406030204" pitchFamily="18" charset="0"/>
                                </a:rPr>
                                <m:t>𝑇</m:t>
                              </m:r>
                            </m:e>
                          </m:d>
                        </m:e>
                        <m:sup>
                          <m:r>
                            <a:rPr lang="en-US" altLang="zh-CN" b="0" i="1" smtClean="0">
                              <a:latin typeface="Cambria Math" panose="02040503050406030204" pitchFamily="18" charset="0"/>
                            </a:rPr>
                            <m:t>2</m:t>
                          </m:r>
                        </m:sup>
                      </m:sSup>
                      <m:f>
                        <m:fPr>
                          <m:ctrlPr>
                            <a:rPr lang="en-US" altLang="zh-CN" b="0" i="1" smtClean="0">
                              <a:latin typeface="Cambria Math" panose="02040503050406030204" pitchFamily="18" charset="0"/>
                            </a:rPr>
                          </m:ctrlPr>
                        </m:fPr>
                        <m:num>
                          <m:r>
                            <a:rPr lang="zh-CN" altLang="en-US" i="1">
                              <a:latin typeface="Cambria Math" panose="02040503050406030204" pitchFamily="18" charset="0"/>
                            </a:rPr>
                            <m:t>𝜂</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i="1">
                                      <a:latin typeface="Cambria Math" panose="02040503050406030204" pitchFamily="18" charset="0"/>
                                    </a:rPr>
                                    <m:t>𝐹</m:t>
                                  </m:r>
                                </m:sub>
                              </m:sSub>
                            </m:e>
                          </m:d>
                        </m:num>
                        <m:den>
                          <m:r>
                            <a:rPr lang="en-US" altLang="zh-CN" b="0" i="1" smtClean="0">
                              <a:latin typeface="Cambria Math" panose="02040503050406030204" pitchFamily="18" charset="0"/>
                            </a:rPr>
                            <m:t>𝑇</m:t>
                          </m:r>
                        </m:den>
                      </m:f>
                      <m:r>
                        <a:rPr lang="en-US" altLang="zh-CN" b="0" i="1" smtClean="0">
                          <a:latin typeface="Cambria Math" panose="02040503050406030204" pitchFamily="18" charset="0"/>
                        </a:rPr>
                        <m:t>2</m:t>
                      </m:r>
                      <m:nary>
                        <m:naryPr>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0</m:t>
                          </m:r>
                        </m:sub>
                        <m:sup>
                          <m:r>
                            <a:rPr lang="en-US" altLang="zh-CN" b="0" i="1" smtClean="0">
                              <a:latin typeface="Cambria Math" panose="02040503050406030204" pitchFamily="18" charset="0"/>
                              <a:ea typeface="Cambria Math" panose="02040503050406030204" pitchFamily="18" charset="0"/>
                            </a:rPr>
                            <m:t>∞</m:t>
                          </m:r>
                        </m:sup>
                        <m:e>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𝑥</m:t>
                                  </m:r>
                                </m:sup>
                              </m:sSup>
                            </m:num>
                            <m:den>
                              <m:d>
                                <m:dPr>
                                  <m:ctrlPr>
                                    <a:rPr lang="en-US" altLang="zh-CN" b="0" i="1" smtClean="0">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𝑥</m:t>
                                      </m:r>
                                    </m:sup>
                                  </m:sSup>
                                  <m:r>
                                    <a:rPr lang="en-US" altLang="zh-CN" b="0" i="1" smtClean="0">
                                      <a:latin typeface="Cambria Math" panose="02040503050406030204" pitchFamily="18" charset="0"/>
                                    </a:rPr>
                                    <m:t>+1</m:t>
                                  </m:r>
                                </m:e>
                              </m:d>
                            </m:den>
                          </m:f>
                        </m:e>
                      </m:nary>
                      <m:r>
                        <a:rPr lang="en-US" altLang="zh-CN" b="0" i="1" smtClean="0">
                          <a:latin typeface="Cambria Math" panose="02040503050406030204" pitchFamily="18" charset="0"/>
                        </a:rPr>
                        <m:t>𝑑𝑥</m:t>
                      </m:r>
                    </m:oMath>
                  </m:oMathPara>
                </a14:m>
                <a:endParaRPr lang="zh-CN" altLang="en-US" dirty="0"/>
              </a:p>
            </p:txBody>
          </p:sp>
        </mc:Choice>
        <mc:Fallback xmlns="">
          <p:sp>
            <p:nvSpPr>
              <p:cNvPr id="17" name="文本框 16">
                <a:extLst>
                  <a:ext uri="{FF2B5EF4-FFF2-40B4-BE49-F238E27FC236}">
                    <a16:creationId xmlns:a16="http://schemas.microsoft.com/office/drawing/2014/main" xmlns="" xmlns:a14="http://schemas.microsoft.com/office/drawing/2010/main" id="{58D2F340-BA08-4C30-9A93-B68F5EEE16C6}"/>
                  </a:ext>
                </a:extLst>
              </p:cNvPr>
              <p:cNvSpPr txBox="1">
                <a:spLocks noRot="1" noChangeAspect="1" noMove="1" noResize="1" noEditPoints="1" noAdjustHandles="1" noChangeArrowheads="1" noChangeShapeType="1" noTextEdit="1"/>
              </p:cNvSpPr>
              <p:nvPr/>
            </p:nvSpPr>
            <p:spPr>
              <a:xfrm>
                <a:off x="3887263" y="4825423"/>
                <a:ext cx="3596113" cy="619785"/>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FDBC804-97B6-4837-B26D-C788EA96FE6A}"/>
                  </a:ext>
                </a:extLst>
              </p:cNvPr>
              <p:cNvSpPr txBox="1"/>
              <p:nvPr/>
            </p:nvSpPr>
            <p:spPr>
              <a:xfrm>
                <a:off x="573782" y="5673497"/>
                <a:ext cx="3177955" cy="590354"/>
              </a:xfrm>
              <a:prstGeom prst="rect">
                <a:avLst/>
              </a:prstGeom>
              <a:noFill/>
            </p:spPr>
            <p:txBody>
              <a:bodyPr wrap="square" rtlCol="0">
                <a:spAutoFit/>
              </a:bodyPr>
              <a:lstStyle/>
              <a:p>
                <a:pPr algn="just"/>
                <a:r>
                  <a:rPr lang="en-US" altLang="zh-CN" sz="1600" dirty="0"/>
                  <a:t>The numerical value of the above integral is </a:t>
                </a:r>
                <a14:m>
                  <m:oMath xmlns:m="http://schemas.openxmlformats.org/officeDocument/2006/math">
                    <m:f>
                      <m:fPr>
                        <m:type m:val="lin"/>
                        <m:ctrlPr>
                          <a:rPr lang="en-US" altLang="zh-CN" sz="1600" i="1" smtClean="0">
                            <a:latin typeface="Cambria Math" panose="02040503050406030204" pitchFamily="18" charset="0"/>
                          </a:rPr>
                        </m:ctrlPr>
                      </m:fPr>
                      <m:num>
                        <m:sSup>
                          <m:sSupPr>
                            <m:ctrlPr>
                              <a:rPr lang="en-US" altLang="zh-CN" sz="1600" i="1" smtClean="0">
                                <a:latin typeface="Cambria Math" panose="02040503050406030204" pitchFamily="18" charset="0"/>
                              </a:rPr>
                            </m:ctrlPr>
                          </m:sSupPr>
                          <m:e>
                            <m:r>
                              <a:rPr lang="zh-CN" altLang="en-US" sz="1600" i="1" smtClean="0">
                                <a:latin typeface="Cambria Math" panose="02040503050406030204" pitchFamily="18" charset="0"/>
                              </a:rPr>
                              <m:t>𝜋</m:t>
                            </m:r>
                          </m:e>
                          <m:sup>
                            <m:r>
                              <a:rPr lang="en-US" altLang="zh-CN" sz="1600" b="0" i="1" smtClean="0">
                                <a:latin typeface="Cambria Math" panose="02040503050406030204" pitchFamily="18" charset="0"/>
                              </a:rPr>
                              <m:t>2</m:t>
                            </m:r>
                          </m:sup>
                        </m:sSup>
                      </m:num>
                      <m:den>
                        <m:r>
                          <a:rPr lang="en-US" altLang="zh-CN" sz="1600" b="0" i="1" smtClean="0">
                            <a:latin typeface="Cambria Math" panose="02040503050406030204" pitchFamily="18" charset="0"/>
                          </a:rPr>
                          <m:t>6</m:t>
                        </m:r>
                      </m:den>
                    </m:f>
                  </m:oMath>
                </a14:m>
                <a:r>
                  <a:rPr lang="zh-CN" altLang="en-US" sz="1600" dirty="0"/>
                  <a:t> </a:t>
                </a:r>
                <a:r>
                  <a:rPr lang="en-US" altLang="zh-CN" sz="1600" dirty="0"/>
                  <a:t>and hence:</a:t>
                </a:r>
                <a:endParaRPr lang="zh-CN" altLang="en-US" sz="1600" dirty="0"/>
              </a:p>
            </p:txBody>
          </p:sp>
        </mc:Choice>
        <mc:Fallback xmlns="">
          <p:sp>
            <p:nvSpPr>
              <p:cNvPr id="18" name="文本框 17">
                <a:extLst>
                  <a:ext uri="{FF2B5EF4-FFF2-40B4-BE49-F238E27FC236}">
                    <a16:creationId xmlns:a16="http://schemas.microsoft.com/office/drawing/2014/main" xmlns="" xmlns:a14="http://schemas.microsoft.com/office/drawing/2010/main" id="{FFDBC804-97B6-4837-B26D-C788EA96FE6A}"/>
                  </a:ext>
                </a:extLst>
              </p:cNvPr>
              <p:cNvSpPr txBox="1">
                <a:spLocks noRot="1" noChangeAspect="1" noMove="1" noResize="1" noEditPoints="1" noAdjustHandles="1" noChangeArrowheads="1" noChangeShapeType="1" noTextEdit="1"/>
              </p:cNvSpPr>
              <p:nvPr/>
            </p:nvSpPr>
            <p:spPr>
              <a:xfrm>
                <a:off x="573782" y="5673497"/>
                <a:ext cx="3177955" cy="590354"/>
              </a:xfrm>
              <a:prstGeom prst="rect">
                <a:avLst/>
              </a:prstGeom>
              <a:blipFill rotWithShape="0">
                <a:blip r:embed="rId7"/>
                <a:stretch>
                  <a:fillRect l="-960" t="-15464" r="-3071" b="-948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6981918" y="3150365"/>
                <a:ext cx="2181706" cy="523220"/>
              </a:xfrm>
              <a:prstGeom prst="rect">
                <a:avLst/>
              </a:prstGeom>
            </p:spPr>
            <p:txBody>
              <a:bodyPr wrap="square">
                <a:spAutoFit/>
              </a:bodyPr>
              <a:lstStyle/>
              <a:p>
                <a14:m>
                  <m:oMath xmlns:m="http://schemas.openxmlformats.org/officeDocument/2006/math">
                    <m:r>
                      <a:rPr lang="zh-CN" altLang="en-US" sz="1400" i="1">
                        <a:latin typeface="Cambria Math" panose="02040503050406030204" pitchFamily="18" charset="0"/>
                      </a:rPr>
                      <m:t>𝜂</m:t>
                    </m:r>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zh-CN" altLang="en-US" sz="1400" i="1">
                                <a:latin typeface="Cambria Math" panose="02040503050406030204" pitchFamily="18" charset="0"/>
                              </a:rPr>
                              <m:t>𝜀</m:t>
                            </m:r>
                          </m:e>
                          <m:sub>
                            <m:r>
                              <a:rPr lang="en-US" altLang="zh-CN" sz="1400" i="1">
                                <a:latin typeface="Cambria Math" panose="02040503050406030204" pitchFamily="18" charset="0"/>
                              </a:rPr>
                              <m:t>𝐹</m:t>
                            </m:r>
                          </m:sub>
                        </m:sSub>
                      </m:e>
                    </m:d>
                  </m:oMath>
                </a14:m>
                <a:r>
                  <a:rPr lang="zh-CN" altLang="en-US" sz="1400" dirty="0"/>
                  <a:t> </a:t>
                </a:r>
                <a:r>
                  <a:rPr lang="en-US" altLang="zh-CN" sz="1400" dirty="0"/>
                  <a:t>is the density of states at the Fermi level. </a:t>
                </a:r>
                <a:endParaRPr lang="zh-CN" altLang="en-US" sz="1400" dirty="0"/>
              </a:p>
            </p:txBody>
          </p:sp>
        </mc:Choice>
        <mc:Fallback xmlns="">
          <p:sp>
            <p:nvSpPr>
              <p:cNvPr id="2" name="矩形 1"/>
              <p:cNvSpPr>
                <a:spLocks noRot="1" noChangeAspect="1" noMove="1" noResize="1" noEditPoints="1" noAdjustHandles="1" noChangeArrowheads="1" noChangeShapeType="1" noTextEdit="1"/>
              </p:cNvSpPr>
              <p:nvPr/>
            </p:nvSpPr>
            <p:spPr>
              <a:xfrm>
                <a:off x="6981918" y="3150365"/>
                <a:ext cx="2181706" cy="523220"/>
              </a:xfrm>
              <a:prstGeom prst="rect">
                <a:avLst/>
              </a:prstGeom>
              <a:blipFill rotWithShape="0">
                <a:blip r:embed="rId8"/>
                <a:stretch>
                  <a:fillRect l="-838" t="-2326" b="-10465"/>
                </a:stretch>
              </a:blipFill>
            </p:spPr>
            <p:txBody>
              <a:bodyPr/>
              <a:lstStyle/>
              <a:p>
                <a:r>
                  <a:rPr lang="zh-CN" altLang="en-US">
                    <a:noFill/>
                  </a:rPr>
                  <a:t> </a:t>
                </a:r>
              </a:p>
            </p:txBody>
          </p:sp>
        </mc:Fallback>
      </mc:AlternateContent>
      <p:sp>
        <p:nvSpPr>
          <p:cNvPr id="6" name="矩形 5"/>
          <p:cNvSpPr/>
          <p:nvPr/>
        </p:nvSpPr>
        <p:spPr>
          <a:xfrm>
            <a:off x="1045407" y="4831163"/>
            <a:ext cx="2621230" cy="507831"/>
          </a:xfrm>
          <a:prstGeom prst="rect">
            <a:avLst/>
          </a:prstGeom>
        </p:spPr>
        <p:txBody>
          <a:bodyPr wrap="none">
            <a:spAutoFit/>
          </a:bodyPr>
          <a:lstStyle/>
          <a:p>
            <a:pPr algn="just">
              <a:lnSpc>
                <a:spcPct val="150000"/>
              </a:lnSpc>
            </a:pPr>
            <a:r>
              <a:rPr lang="en-US" altLang="zh-CN" dirty="0">
                <a:solidFill>
                  <a:srgbClr val="FF0000"/>
                </a:solidFill>
              </a:rPr>
              <a:t>Electronic heat capacity</a:t>
            </a:r>
          </a:p>
        </p:txBody>
      </p:sp>
    </p:spTree>
    <p:extLst>
      <p:ext uri="{BB962C8B-B14F-4D97-AF65-F5344CB8AC3E}">
        <p14:creationId xmlns:p14="http://schemas.microsoft.com/office/powerpoint/2010/main" val="34018171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E8A4348-7AF9-4A40-A821-9CFCB4A78E7D}"/>
              </a:ext>
            </a:extLst>
          </p:cNvPr>
          <p:cNvSpPr txBox="1"/>
          <p:nvPr/>
        </p:nvSpPr>
        <p:spPr>
          <a:xfrm>
            <a:off x="457200" y="852725"/>
            <a:ext cx="4572000" cy="369332"/>
          </a:xfrm>
          <a:prstGeom prst="rect">
            <a:avLst/>
          </a:prstGeom>
          <a:noFill/>
        </p:spPr>
        <p:txBody>
          <a:bodyPr wrap="square">
            <a:spAutoFit/>
          </a:bodyPr>
          <a:lstStyle/>
          <a:p>
            <a:r>
              <a:rPr lang="en-US" altLang="zh-CN" sz="1800" dirty="0">
                <a:solidFill>
                  <a:srgbClr val="FF0000"/>
                </a:solidFill>
                <a:cs typeface="Times New Roman" panose="02020603050405020304" pitchFamily="18" charset="0"/>
              </a:rPr>
              <a:t>Fermi-Dirac distribution function</a:t>
            </a:r>
            <a:endParaRPr lang="zh-CN" altLang="en-US" dirty="0">
              <a:solidFill>
                <a:srgbClr val="FF0000"/>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57098B4-7FA1-431F-AFD7-FAABEA6F2B90}"/>
                  </a:ext>
                </a:extLst>
              </p:cNvPr>
              <p:cNvSpPr txBox="1"/>
              <p:nvPr/>
            </p:nvSpPr>
            <p:spPr>
              <a:xfrm>
                <a:off x="1148938" y="1386125"/>
                <a:ext cx="2225096"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𝜀</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type m:val="lin"/>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𝜀</m:t>
                                      </m:r>
                                      <m:r>
                                        <a:rPr lang="en-US" altLang="zh-CN" b="0" i="1" smtClean="0">
                                          <a:latin typeface="Cambria Math" panose="02040503050406030204" pitchFamily="18" charset="0"/>
                                        </a:rPr>
                                        <m:t>−</m:t>
                                      </m:r>
                                      <m:r>
                                        <a:rPr lang="zh-CN" altLang="en-US" b="0" i="1" smtClean="0">
                                          <a:latin typeface="Cambria Math" panose="02040503050406030204" pitchFamily="18" charset="0"/>
                                        </a:rPr>
                                        <m:t>𝜇</m:t>
                                      </m:r>
                                    </m:e>
                                  </m:d>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𝑇</m:t>
                                  </m:r>
                                </m:den>
                              </m:f>
                            </m:sup>
                          </m:sSup>
                          <m:r>
                            <a:rPr lang="en-US" altLang="zh-CN" b="0" i="1" smtClean="0">
                              <a:latin typeface="Cambria Math" panose="02040503050406030204" pitchFamily="18" charset="0"/>
                            </a:rPr>
                            <m:t>+1</m:t>
                          </m:r>
                        </m:den>
                      </m:f>
                    </m:oMath>
                  </m:oMathPara>
                </a14:m>
                <a:endParaRPr lang="zh-CN" altLang="en-US" dirty="0"/>
              </a:p>
            </p:txBody>
          </p:sp>
        </mc:Choice>
        <mc:Fallback xmlns="">
          <p:sp>
            <p:nvSpPr>
              <p:cNvPr id="4" name="文本框 3">
                <a:extLst>
                  <a:ext uri="{FF2B5EF4-FFF2-40B4-BE49-F238E27FC236}">
                    <a16:creationId xmlns:a16="http://schemas.microsoft.com/office/drawing/2014/main" id="{057098B4-7FA1-431F-AFD7-FAABEA6F2B90}"/>
                  </a:ext>
                </a:extLst>
              </p:cNvPr>
              <p:cNvSpPr txBox="1">
                <a:spLocks noRot="1" noChangeAspect="1" noMove="1" noResize="1" noEditPoints="1" noAdjustHandles="1" noChangeArrowheads="1" noChangeShapeType="1" noTextEdit="1"/>
              </p:cNvSpPr>
              <p:nvPr/>
            </p:nvSpPr>
            <p:spPr>
              <a:xfrm>
                <a:off x="1148938" y="1386125"/>
                <a:ext cx="2225096" cy="536814"/>
              </a:xfrm>
              <a:prstGeom prst="rect">
                <a:avLst/>
              </a:prstGeom>
              <a:blipFill>
                <a:blip r:embed="rId2"/>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4F6EB2C8-F28A-47B4-BC29-E8081CEB2C87}"/>
              </a:ext>
            </a:extLst>
          </p:cNvPr>
          <p:cNvSpPr txBox="1"/>
          <p:nvPr/>
        </p:nvSpPr>
        <p:spPr>
          <a:xfrm>
            <a:off x="457200" y="3730512"/>
            <a:ext cx="4572000" cy="369332"/>
          </a:xfrm>
          <a:prstGeom prst="rect">
            <a:avLst/>
          </a:prstGeom>
          <a:noFill/>
        </p:spPr>
        <p:txBody>
          <a:bodyPr wrap="square">
            <a:spAutoFit/>
          </a:bodyPr>
          <a:lstStyle/>
          <a:p>
            <a:r>
              <a:rPr lang="en-US" altLang="zh-CN" sz="1800" dirty="0">
                <a:solidFill>
                  <a:srgbClr val="FF0000"/>
                </a:solidFill>
                <a:cs typeface="Times New Roman" panose="02020603050405020304" pitchFamily="18" charset="0"/>
              </a:rPr>
              <a:t>Bose-Einstein distribution function</a:t>
            </a:r>
            <a:endParaRPr lang="zh-CN" altLang="en-US" dirty="0">
              <a:solidFill>
                <a:srgbClr val="FF0000"/>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E94CE69-00BE-4D8F-8F42-95C9A0A22BCE}"/>
                  </a:ext>
                </a:extLst>
              </p:cNvPr>
              <p:cNvSpPr txBox="1"/>
              <p:nvPr/>
            </p:nvSpPr>
            <p:spPr>
              <a:xfrm>
                <a:off x="1143000" y="4129325"/>
                <a:ext cx="2213876" cy="5321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𝜀</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type m:val="lin"/>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𝜀</m:t>
                                      </m:r>
                                      <m:r>
                                        <a:rPr lang="en-US" altLang="zh-CN" b="0" i="1" smtClean="0">
                                          <a:latin typeface="Cambria Math" panose="02040503050406030204" pitchFamily="18" charset="0"/>
                                        </a:rPr>
                                        <m:t>−</m:t>
                                      </m:r>
                                      <m:r>
                                        <a:rPr lang="zh-CN" altLang="en-US" b="0" i="1" smtClean="0">
                                          <a:latin typeface="Cambria Math" panose="02040503050406030204" pitchFamily="18" charset="0"/>
                                        </a:rPr>
                                        <m:t>𝜇</m:t>
                                      </m:r>
                                    </m:e>
                                  </m:d>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𝑇</m:t>
                                  </m:r>
                                </m:den>
                              </m:f>
                            </m:sup>
                          </m:sSup>
                          <m:r>
                            <a:rPr lang="en-US" altLang="zh-CN" b="0" i="1" smtClean="0">
                              <a:latin typeface="Cambria Math" panose="02040503050406030204" pitchFamily="18" charset="0"/>
                            </a:rPr>
                            <m:t>−1</m:t>
                          </m:r>
                        </m:den>
                      </m:f>
                    </m:oMath>
                  </m:oMathPara>
                </a14:m>
                <a:endParaRPr lang="zh-CN" altLang="en-US" dirty="0"/>
              </a:p>
            </p:txBody>
          </p:sp>
        </mc:Choice>
        <mc:Fallback xmlns="">
          <p:sp>
            <p:nvSpPr>
              <p:cNvPr id="6" name="文本框 5">
                <a:extLst>
                  <a:ext uri="{FF2B5EF4-FFF2-40B4-BE49-F238E27FC236}">
                    <a16:creationId xmlns:a16="http://schemas.microsoft.com/office/drawing/2014/main" id="{7E94CE69-00BE-4D8F-8F42-95C9A0A22BCE}"/>
                  </a:ext>
                </a:extLst>
              </p:cNvPr>
              <p:cNvSpPr txBox="1">
                <a:spLocks noRot="1" noChangeAspect="1" noMove="1" noResize="1" noEditPoints="1" noAdjustHandles="1" noChangeArrowheads="1" noChangeShapeType="1" noTextEdit="1"/>
              </p:cNvSpPr>
              <p:nvPr/>
            </p:nvSpPr>
            <p:spPr>
              <a:xfrm>
                <a:off x="1143000" y="4129325"/>
                <a:ext cx="2213876" cy="532197"/>
              </a:xfrm>
              <a:prstGeom prst="rect">
                <a:avLst/>
              </a:prstGeom>
              <a:blipFill>
                <a:blip r:embed="rId3"/>
                <a:stretch>
                  <a:fillRect/>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0D9D8D27-8483-49D9-886D-92F698CDAAED}"/>
              </a:ext>
            </a:extLst>
          </p:cNvPr>
          <p:cNvPicPr>
            <a:picLocks noChangeAspect="1"/>
          </p:cNvPicPr>
          <p:nvPr/>
        </p:nvPicPr>
        <p:blipFill rotWithShape="1">
          <a:blip r:embed="rId4"/>
          <a:srcRect l="1482"/>
          <a:stretch/>
        </p:blipFill>
        <p:spPr>
          <a:xfrm>
            <a:off x="4038600" y="831944"/>
            <a:ext cx="4851243" cy="5158485"/>
          </a:xfrm>
          <a:prstGeom prst="rect">
            <a:avLst/>
          </a:prstGeom>
        </p:spPr>
      </p:pic>
      <p:sp>
        <p:nvSpPr>
          <p:cNvPr id="9" name="文本框 8">
            <a:extLst>
              <a:ext uri="{FF2B5EF4-FFF2-40B4-BE49-F238E27FC236}">
                <a16:creationId xmlns:a16="http://schemas.microsoft.com/office/drawing/2014/main" id="{82BF04DB-63FB-42EB-8C17-CB6E31635DCA}"/>
              </a:ext>
            </a:extLst>
          </p:cNvPr>
          <p:cNvSpPr txBox="1"/>
          <p:nvPr/>
        </p:nvSpPr>
        <p:spPr>
          <a:xfrm>
            <a:off x="457200" y="2104820"/>
            <a:ext cx="3510148" cy="923330"/>
          </a:xfrm>
          <a:prstGeom prst="rect">
            <a:avLst/>
          </a:prstGeom>
          <a:noFill/>
        </p:spPr>
        <p:txBody>
          <a:bodyPr wrap="square">
            <a:spAutoFit/>
          </a:bodyPr>
          <a:lstStyle>
            <a:defPPr>
              <a:defRPr lang="en-US"/>
            </a:defPPr>
            <a:lvl1pPr>
              <a:defRPr>
                <a:cs typeface="Times New Roman" panose="02020603050405020304" pitchFamily="18" charset="0"/>
              </a:defRPr>
            </a:lvl1pPr>
          </a:lstStyle>
          <a:p>
            <a:r>
              <a:rPr lang="en-US" altLang="zh-CN" dirty="0"/>
              <a:t>Fermions are the raw materials from which matter is made. (Electrons, quarks)</a:t>
            </a:r>
            <a:endParaRPr lang="zh-CN" altLang="en-US" dirty="0"/>
          </a:p>
        </p:txBody>
      </p:sp>
      <p:sp>
        <p:nvSpPr>
          <p:cNvPr id="11" name="文本框 10">
            <a:extLst>
              <a:ext uri="{FF2B5EF4-FFF2-40B4-BE49-F238E27FC236}">
                <a16:creationId xmlns:a16="http://schemas.microsoft.com/office/drawing/2014/main" id="{FF6D2B84-9774-4FC0-98A4-9C9E69937843}"/>
              </a:ext>
            </a:extLst>
          </p:cNvPr>
          <p:cNvSpPr txBox="1"/>
          <p:nvPr/>
        </p:nvSpPr>
        <p:spPr>
          <a:xfrm>
            <a:off x="457200" y="4904942"/>
            <a:ext cx="3510148" cy="646331"/>
          </a:xfrm>
          <a:prstGeom prst="rect">
            <a:avLst/>
          </a:prstGeom>
          <a:noFill/>
        </p:spPr>
        <p:txBody>
          <a:bodyPr wrap="square">
            <a:spAutoFit/>
          </a:bodyPr>
          <a:lstStyle>
            <a:defPPr>
              <a:defRPr lang="en-US"/>
            </a:defPPr>
            <a:lvl1pPr>
              <a:defRPr>
                <a:cs typeface="Times New Roman" panose="02020603050405020304" pitchFamily="18" charset="0"/>
              </a:defRPr>
            </a:lvl1pPr>
          </a:lstStyle>
          <a:p>
            <a:r>
              <a:rPr lang="en-US" altLang="zh-CN" dirty="0"/>
              <a:t>Bosons are particles that transmit forces. (Photons, mesons, phonons)</a:t>
            </a:r>
            <a:endParaRPr lang="zh-CN" altLang="en-US" dirty="0"/>
          </a:p>
        </p:txBody>
      </p:sp>
    </p:spTree>
    <p:extLst>
      <p:ext uri="{BB962C8B-B14F-4D97-AF65-F5344CB8AC3E}">
        <p14:creationId xmlns:p14="http://schemas.microsoft.com/office/powerpoint/2010/main" val="21544673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800" dirty="0">
                <a:solidFill>
                  <a:srgbClr val="FF0000"/>
                </a:solidFill>
              </a:rPr>
              <a:t>22. Engineering considering of heat capacity</a:t>
            </a:r>
            <a:endParaRPr lang="zh-CN" altLang="en-US" sz="2800" dirty="0">
              <a:solidFill>
                <a:srgbClr val="FF0000"/>
              </a:solidFill>
            </a:endParaRPr>
          </a:p>
        </p:txBody>
      </p:sp>
    </p:spTree>
    <p:extLst>
      <p:ext uri="{BB962C8B-B14F-4D97-AF65-F5344CB8AC3E}">
        <p14:creationId xmlns:p14="http://schemas.microsoft.com/office/powerpoint/2010/main" val="41862878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717"/>
          <a:stretch>
            <a:fillRect/>
          </a:stretch>
        </p:blipFill>
        <p:spPr bwMode="auto">
          <a:xfrm>
            <a:off x="4596332" y="2131231"/>
            <a:ext cx="4352596" cy="410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984190" y="81046"/>
            <a:ext cx="6503191" cy="461665"/>
          </a:xfrm>
          <a:prstGeom prst="rect">
            <a:avLst/>
          </a:prstGeom>
          <a:noFill/>
        </p:spPr>
        <p:txBody>
          <a:bodyPr wrap="none" rtlCol="0">
            <a:spAutoFit/>
          </a:bodyPr>
          <a:lstStyle/>
          <a:p>
            <a:r>
              <a:rPr lang="en-US" altLang="zh-CN" sz="2400" baseline="-25000" dirty="0">
                <a:solidFill>
                  <a:srgbClr val="FF0000"/>
                </a:solidFill>
              </a:rPr>
              <a:t> </a:t>
            </a:r>
            <a:r>
              <a:rPr lang="en-US" altLang="zh-CN" sz="2400" dirty="0">
                <a:solidFill>
                  <a:srgbClr val="FF0000"/>
                </a:solidFill>
              </a:rPr>
              <a:t>The Empirical representation of heat capacity </a:t>
            </a:r>
            <a:endParaRPr lang="zh-CN" altLang="en-US" sz="2400" dirty="0">
              <a:solidFill>
                <a:srgbClr val="FF0000"/>
              </a:solidFill>
            </a:endParaRPr>
          </a:p>
        </p:txBody>
      </p:sp>
      <p:sp>
        <p:nvSpPr>
          <p:cNvPr id="10" name="Rectangle 2"/>
          <p:cNvSpPr>
            <a:spLocks noChangeArrowheads="1"/>
          </p:cNvSpPr>
          <p:nvPr/>
        </p:nvSpPr>
        <p:spPr bwMode="auto">
          <a:xfrm>
            <a:off x="381000" y="943419"/>
            <a:ext cx="7924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10202"/>
                </a:solidFill>
                <a:effectLst/>
                <a:latin typeface="Arial" panose="020B0604020202020204" pitchFamily="34" charset="0"/>
                <a:ea typeface="Times New Roman" panose="02020603050405020304" pitchFamily="18" charset="0"/>
                <a:cs typeface="Times New Roman" panose="02020603050405020304" pitchFamily="18" charset="0"/>
              </a:rPr>
              <a:t>The experimentally measured variation of the constant-pressure molar heat capacity of a material with temperature is normally fitted to an expression of the form</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 name="Rectangle 3"/>
          <p:cNvSpPr>
            <a:spLocks noChangeArrowheads="1"/>
          </p:cNvSpPr>
          <p:nvPr/>
        </p:nvSpPr>
        <p:spPr bwMode="auto">
          <a:xfrm>
            <a:off x="1370013" y="704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468" y="3039706"/>
            <a:ext cx="4414736"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25" y="2247609"/>
            <a:ext cx="2407354" cy="792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95265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640" y="3659328"/>
            <a:ext cx="3339193" cy="2513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nvGraphicFramePr>
        <p:xfrm>
          <a:off x="4799109" y="1265073"/>
          <a:ext cx="1598613" cy="682625"/>
        </p:xfrm>
        <a:graphic>
          <a:graphicData uri="http://schemas.openxmlformats.org/presentationml/2006/ole">
            <mc:AlternateContent xmlns:mc="http://schemas.openxmlformats.org/markup-compatibility/2006">
              <mc:Choice xmlns:v="urn:schemas-microsoft-com:vml" Requires="v">
                <p:oleObj name="Equation" r:id="rId3" imgW="24993600" imgH="10668000" progId="Equation.DSMT4">
                  <p:embed/>
                </p:oleObj>
              </mc:Choice>
              <mc:Fallback>
                <p:oleObj name="Equation" r:id="rId3" imgW="24993600" imgH="10668000" progId="Equation.DSMT4">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9109" y="1265073"/>
                        <a:ext cx="1598613"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4850881" y="2277254"/>
          <a:ext cx="1627188" cy="638175"/>
        </p:xfrm>
        <a:graphic>
          <a:graphicData uri="http://schemas.openxmlformats.org/presentationml/2006/ole">
            <mc:AlternateContent xmlns:mc="http://schemas.openxmlformats.org/markup-compatibility/2006">
              <mc:Choice xmlns:v="urn:schemas-microsoft-com:vml" Requires="v">
                <p:oleObj name="Equation" r:id="rId5" imgW="1130040" imgH="444240" progId="Equation.DSMT4">
                  <p:embed/>
                </p:oleObj>
              </mc:Choice>
              <mc:Fallback>
                <p:oleObj name="Equation" r:id="rId5" imgW="1130040" imgH="444240" progId="Equation.DSMT4">
                  <p:embed/>
                  <p:pic>
                    <p:nvPicPr>
                      <p:cNvPr id="4" name="对象 3"/>
                      <p:cNvPicPr>
                        <a:picLocks noChangeAspect="1" noChangeArrowheads="1"/>
                      </p:cNvPicPr>
                      <p:nvPr/>
                    </p:nvPicPr>
                    <p:blipFill>
                      <a:blip r:embed="rId6"/>
                      <a:srcRect/>
                      <a:stretch>
                        <a:fillRect/>
                      </a:stretch>
                    </p:blipFill>
                    <p:spPr bwMode="auto">
                      <a:xfrm>
                        <a:off x="4850881" y="2277254"/>
                        <a:ext cx="1627188"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p:cNvSpPr txBox="1"/>
          <p:nvPr/>
        </p:nvSpPr>
        <p:spPr>
          <a:xfrm>
            <a:off x="1026367" y="156674"/>
            <a:ext cx="3935244" cy="461665"/>
          </a:xfrm>
          <a:prstGeom prst="rect">
            <a:avLst/>
          </a:prstGeom>
          <a:noFill/>
        </p:spPr>
        <p:txBody>
          <a:bodyPr wrap="none" rtlCol="0">
            <a:spAutoFit/>
          </a:bodyPr>
          <a:lstStyle/>
          <a:p>
            <a:r>
              <a:rPr lang="en-US" altLang="zh-CN" sz="2400" dirty="0">
                <a:solidFill>
                  <a:srgbClr val="FF0000"/>
                </a:solidFill>
              </a:rPr>
              <a:t>Temperature dependent </a:t>
            </a:r>
            <a:r>
              <a:rPr lang="en-US" altLang="zh-CN" sz="2400" dirty="0" err="1">
                <a:solidFill>
                  <a:srgbClr val="FF0000"/>
                </a:solidFill>
              </a:rPr>
              <a:t>C</a:t>
            </a:r>
            <a:r>
              <a:rPr lang="en-US" altLang="zh-CN" sz="2400" baseline="-25000" dirty="0" err="1">
                <a:solidFill>
                  <a:srgbClr val="FF0000"/>
                </a:solidFill>
              </a:rPr>
              <a:t>p</a:t>
            </a:r>
            <a:endParaRPr lang="zh-CN" altLang="en-US" sz="2400" baseline="-25000" dirty="0">
              <a:solidFill>
                <a:srgbClr val="FF0000"/>
              </a:solidFill>
            </a:endParaRPr>
          </a:p>
        </p:txBody>
      </p:sp>
      <p:pic>
        <p:nvPicPr>
          <p:cNvPr id="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0880" y="990600"/>
            <a:ext cx="2834081" cy="2418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49290" y="727788"/>
            <a:ext cx="1992853" cy="369332"/>
          </a:xfrm>
          <a:prstGeom prst="rect">
            <a:avLst/>
          </a:prstGeom>
          <a:noFill/>
        </p:spPr>
        <p:txBody>
          <a:bodyPr wrap="none" rtlCol="0">
            <a:spAutoFit/>
          </a:bodyPr>
          <a:lstStyle/>
          <a:p>
            <a:r>
              <a:rPr lang="en-US" altLang="zh-CN" dirty="0"/>
              <a:t>Regular materials</a:t>
            </a:r>
            <a:endParaRPr lang="zh-CN" altLang="en-US" dirty="0"/>
          </a:p>
        </p:txBody>
      </p:sp>
      <p:sp>
        <p:nvSpPr>
          <p:cNvPr id="9" name="TextBox 8"/>
          <p:cNvSpPr txBox="1"/>
          <p:nvPr/>
        </p:nvSpPr>
        <p:spPr>
          <a:xfrm>
            <a:off x="149290" y="3289996"/>
            <a:ext cx="846707" cy="369332"/>
          </a:xfrm>
          <a:prstGeom prst="rect">
            <a:avLst/>
          </a:prstGeom>
          <a:noFill/>
        </p:spPr>
        <p:txBody>
          <a:bodyPr wrap="none" rtlCol="0">
            <a:spAutoFit/>
          </a:bodyPr>
          <a:lstStyle/>
          <a:p>
            <a:r>
              <a:rPr lang="en-US" altLang="zh-CN" dirty="0"/>
              <a:t>Cu</a:t>
            </a:r>
            <a:r>
              <a:rPr lang="en-US" altLang="zh-CN" baseline="-25000" dirty="0"/>
              <a:t>2</a:t>
            </a:r>
            <a:r>
              <a:rPr lang="en-US" altLang="zh-CN" dirty="0"/>
              <a:t>Se</a:t>
            </a:r>
            <a:endParaRPr lang="zh-CN" altLang="en-US" dirty="0"/>
          </a:p>
        </p:txBody>
      </p:sp>
      <p:pic>
        <p:nvPicPr>
          <p:cNvPr id="150538" name="Picture 10" descr="Atomistic trajectories of b-Cu 2 Se sampled with AIMD atomic trajectories for 3 ps, for four different temperatures: (a) 500, (b) 700, (c) 900 and (d) 1100 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4049" y="3510766"/>
            <a:ext cx="3638159" cy="23848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566343" y="3233767"/>
            <a:ext cx="542136" cy="276999"/>
          </a:xfrm>
          <a:prstGeom prst="rect">
            <a:avLst/>
          </a:prstGeom>
          <a:noFill/>
        </p:spPr>
        <p:txBody>
          <a:bodyPr wrap="none" rtlCol="0">
            <a:spAutoFit/>
          </a:bodyPr>
          <a:lstStyle/>
          <a:p>
            <a:r>
              <a:rPr lang="en-US" altLang="zh-CN" sz="1200" dirty="0">
                <a:solidFill>
                  <a:srgbClr val="FF0000"/>
                </a:solidFill>
              </a:rPr>
              <a:t>500K</a:t>
            </a:r>
            <a:endParaRPr lang="zh-CN" altLang="en-US" sz="1200" dirty="0">
              <a:solidFill>
                <a:srgbClr val="FF0000"/>
              </a:solidFill>
            </a:endParaRPr>
          </a:p>
        </p:txBody>
      </p:sp>
      <p:sp>
        <p:nvSpPr>
          <p:cNvPr id="12" name="TextBox 11"/>
          <p:cNvSpPr txBox="1"/>
          <p:nvPr/>
        </p:nvSpPr>
        <p:spPr>
          <a:xfrm>
            <a:off x="7258294" y="3228351"/>
            <a:ext cx="542136" cy="276999"/>
          </a:xfrm>
          <a:prstGeom prst="rect">
            <a:avLst/>
          </a:prstGeom>
          <a:noFill/>
        </p:spPr>
        <p:txBody>
          <a:bodyPr wrap="none" rtlCol="0">
            <a:spAutoFit/>
          </a:bodyPr>
          <a:lstStyle/>
          <a:p>
            <a:r>
              <a:rPr lang="en-US" altLang="zh-CN" sz="1200" dirty="0">
                <a:solidFill>
                  <a:srgbClr val="FF0000"/>
                </a:solidFill>
              </a:rPr>
              <a:t>700K</a:t>
            </a:r>
            <a:endParaRPr lang="zh-CN" altLang="en-US" sz="1200" dirty="0">
              <a:solidFill>
                <a:srgbClr val="FF0000"/>
              </a:solidFill>
            </a:endParaRPr>
          </a:p>
        </p:txBody>
      </p:sp>
      <p:sp>
        <p:nvSpPr>
          <p:cNvPr id="13" name="TextBox 12"/>
          <p:cNvSpPr txBox="1"/>
          <p:nvPr/>
        </p:nvSpPr>
        <p:spPr>
          <a:xfrm>
            <a:off x="5612554" y="4639015"/>
            <a:ext cx="542136" cy="276999"/>
          </a:xfrm>
          <a:prstGeom prst="rect">
            <a:avLst/>
          </a:prstGeom>
          <a:noFill/>
        </p:spPr>
        <p:txBody>
          <a:bodyPr wrap="none" rtlCol="0">
            <a:spAutoFit/>
          </a:bodyPr>
          <a:lstStyle/>
          <a:p>
            <a:r>
              <a:rPr lang="en-US" altLang="zh-CN" sz="1200" dirty="0">
                <a:solidFill>
                  <a:srgbClr val="FF0000"/>
                </a:solidFill>
              </a:rPr>
              <a:t>900K</a:t>
            </a:r>
            <a:endParaRPr lang="zh-CN" altLang="en-US" sz="1200" dirty="0">
              <a:solidFill>
                <a:srgbClr val="FF0000"/>
              </a:solidFill>
            </a:endParaRPr>
          </a:p>
        </p:txBody>
      </p:sp>
      <p:sp>
        <p:nvSpPr>
          <p:cNvPr id="14" name="TextBox 13"/>
          <p:cNvSpPr txBox="1"/>
          <p:nvPr/>
        </p:nvSpPr>
        <p:spPr>
          <a:xfrm>
            <a:off x="7258294" y="4639015"/>
            <a:ext cx="615681" cy="276999"/>
          </a:xfrm>
          <a:prstGeom prst="rect">
            <a:avLst/>
          </a:prstGeom>
          <a:noFill/>
        </p:spPr>
        <p:txBody>
          <a:bodyPr wrap="none" rtlCol="0">
            <a:spAutoFit/>
          </a:bodyPr>
          <a:lstStyle/>
          <a:p>
            <a:r>
              <a:rPr lang="en-US" altLang="zh-CN" sz="1200" dirty="0">
                <a:solidFill>
                  <a:srgbClr val="FF0000"/>
                </a:solidFill>
              </a:rPr>
              <a:t>1100K</a:t>
            </a:r>
            <a:endParaRPr lang="zh-CN" altLang="en-US" sz="1200" dirty="0">
              <a:solidFill>
                <a:srgbClr val="FF0000"/>
              </a:solidFill>
            </a:endParaRPr>
          </a:p>
        </p:txBody>
      </p:sp>
      <p:sp>
        <p:nvSpPr>
          <p:cNvPr id="10" name="矩形 9"/>
          <p:cNvSpPr/>
          <p:nvPr/>
        </p:nvSpPr>
        <p:spPr>
          <a:xfrm>
            <a:off x="5230496" y="5907662"/>
            <a:ext cx="2569934" cy="369332"/>
          </a:xfrm>
          <a:prstGeom prst="rect">
            <a:avLst/>
          </a:prstGeom>
        </p:spPr>
        <p:txBody>
          <a:bodyPr wrap="none">
            <a:spAutoFit/>
          </a:bodyPr>
          <a:lstStyle/>
          <a:p>
            <a:r>
              <a:rPr lang="en-US" altLang="zh-CN" dirty="0"/>
              <a:t> </a:t>
            </a:r>
            <a:r>
              <a:rPr lang="en-US" altLang="zh-CN" u="sng" dirty="0" err="1">
                <a:hlinkClick r:id="rId9"/>
              </a:rPr>
              <a:t>Acta</a:t>
            </a:r>
            <a:r>
              <a:rPr lang="en-US" altLang="zh-CN" u="sng" dirty="0">
                <a:hlinkClick r:id="rId9"/>
              </a:rPr>
              <a:t> </a:t>
            </a:r>
            <a:r>
              <a:rPr lang="en-US" altLang="zh-CN" u="sng" dirty="0" err="1">
                <a:hlinkClick r:id="rId9"/>
              </a:rPr>
              <a:t>Materialia</a:t>
            </a:r>
            <a:r>
              <a:rPr lang="zh-CN" altLang="en-US" u="sng" dirty="0"/>
              <a:t>，</a:t>
            </a:r>
            <a:r>
              <a:rPr lang="en-US" altLang="zh-CN" u="sng" dirty="0"/>
              <a:t>2015</a:t>
            </a:r>
            <a:endParaRPr lang="zh-CN" altLang="en-US" dirty="0"/>
          </a:p>
        </p:txBody>
      </p:sp>
    </p:spTree>
    <p:extLst>
      <p:ext uri="{BB962C8B-B14F-4D97-AF65-F5344CB8AC3E}">
        <p14:creationId xmlns:p14="http://schemas.microsoft.com/office/powerpoint/2010/main" val="2056711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3092</TotalTime>
  <Words>4917</Words>
  <Application>Microsoft Office PowerPoint</Application>
  <PresentationFormat>全屏显示(4:3)</PresentationFormat>
  <Paragraphs>708</Paragraphs>
  <Slides>102</Slides>
  <Notes>11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102</vt:i4>
      </vt:variant>
    </vt:vector>
  </HeadingPairs>
  <TitlesOfParts>
    <vt:vector size="118" baseType="lpstr">
      <vt:lpstr>Arial Unicode MS</vt:lpstr>
      <vt:lpstr>等线</vt:lpstr>
      <vt:lpstr>黑体</vt:lpstr>
      <vt:lpstr>微软雅黑</vt:lpstr>
      <vt:lpstr>Arial</vt:lpstr>
      <vt:lpstr>Calibri</vt:lpstr>
      <vt:lpstr>Cambria Math</vt:lpstr>
      <vt:lpstr>Sylfaen</vt:lpstr>
      <vt:lpstr>Symbol</vt:lpstr>
      <vt:lpstr>Times New Roman</vt:lpstr>
      <vt:lpstr>Wingdings</vt:lpstr>
      <vt:lpstr>Office Theme</vt:lpstr>
      <vt:lpstr>Equation</vt:lpstr>
      <vt:lpstr>公式</vt:lpstr>
      <vt:lpstr>Equation.3</vt:lpstr>
      <vt:lpstr>Graph</vt:lpstr>
      <vt:lpstr>PowerPoint 演示文稿</vt:lpstr>
      <vt:lpstr>Laws of Thermodynamics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Heat Capacity</vt:lpstr>
      <vt:lpstr>Heat Capacity: CV and CP</vt:lpstr>
      <vt:lpstr>PowerPoint 演示文稿</vt:lpstr>
      <vt:lpstr>4. The measurement of Cv</vt:lpstr>
      <vt:lpstr>PowerPoint 演示文稿</vt:lpstr>
      <vt:lpstr>PowerPoint 演示文稿</vt:lpstr>
      <vt:lpstr>PowerPoint 演示文稿</vt:lpstr>
      <vt:lpstr>PowerPoint 演示文稿</vt:lpstr>
      <vt:lpstr>PowerPoint 演示文稿</vt:lpstr>
      <vt:lpstr>PowerPoint 演示文稿</vt:lpstr>
      <vt:lpstr>7. Entropy</vt:lpstr>
      <vt:lpstr>PowerPoint 演示文稿</vt:lpstr>
      <vt:lpstr>PowerPoint 演示文稿</vt:lpstr>
      <vt:lpstr>PowerPoint 演示文稿</vt:lpstr>
      <vt:lpstr>PowerPoint 演示文稿</vt:lpstr>
      <vt:lpstr>PowerPoint 演示文稿</vt:lpstr>
      <vt:lpstr>8. Exergy and Quality of Energy</vt:lpstr>
      <vt:lpstr>PowerPoint 演示文稿</vt:lpstr>
      <vt:lpstr>PowerPoint 演示文稿</vt:lpstr>
      <vt:lpstr>9. Otto cycle and Diesel cycle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 Brayton Cycle</vt:lpstr>
      <vt:lpstr>PowerPoint 演示文稿</vt:lpstr>
      <vt:lpstr>11. Rankine Cycle</vt:lpstr>
      <vt:lpstr>PowerPoint 演示文稿</vt:lpstr>
      <vt:lpstr>PowerPoint 演示文稿</vt:lpstr>
      <vt:lpstr>PowerPoint 演示文稿</vt:lpstr>
      <vt:lpstr>12. Refrigeration Cycles</vt:lpstr>
      <vt:lpstr>PowerPoint 演示文稿</vt:lpstr>
      <vt:lpstr>PowerPoint 演示文稿</vt:lpstr>
      <vt:lpstr>PowerPoint 演示文稿</vt:lpstr>
      <vt:lpstr>PowerPoint 演示文稿</vt:lpstr>
      <vt:lpstr>13. Silent power generator and refrigerator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21. Statistic interpret of Heat capacity</vt:lpstr>
      <vt:lpstr>PowerPoint 演示文稿</vt:lpstr>
      <vt:lpstr>Einstein model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Engineering considering of heat capacity</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Wumailsustech</cp:lastModifiedBy>
  <cp:revision>183</cp:revision>
  <cp:lastPrinted>2018-09-06T09:27:19Z</cp:lastPrinted>
  <dcterms:created xsi:type="dcterms:W3CDTF">2006-08-16T00:00:00Z</dcterms:created>
  <dcterms:modified xsi:type="dcterms:W3CDTF">2022-10-29T03:10:53Z</dcterms:modified>
</cp:coreProperties>
</file>