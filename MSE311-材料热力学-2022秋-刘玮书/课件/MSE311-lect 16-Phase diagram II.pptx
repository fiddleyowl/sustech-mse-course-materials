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9"/>
  </p:handoutMasterIdLst>
  <p:sldIdLst>
    <p:sldId id="304" r:id="rId2"/>
    <p:sldId id="305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3" r:id="rId16"/>
    <p:sldId id="274" r:id="rId17"/>
    <p:sldId id="275" r:id="rId18"/>
    <p:sldId id="276" r:id="rId19"/>
    <p:sldId id="272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</p:sldIdLst>
  <p:sldSz cx="9144000" cy="6858000" type="screen4x3"/>
  <p:notesSz cx="6669088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153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9D67D7-36C8-44C3-8C5B-4C7A926FE02D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F4326B-3131-4A2E-958A-F048B3E548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9474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3551FB5-644E-4958-A980-4C6B4A9B56E7}"/>
              </a:ext>
            </a:extLst>
          </p:cNvPr>
          <p:cNvGrpSpPr>
            <a:grpSpLocks/>
          </p:cNvGrpSpPr>
          <p:nvPr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8" name="圆角矩形 11">
              <a:extLst>
                <a:ext uri="{FF2B5EF4-FFF2-40B4-BE49-F238E27FC236}">
                  <a16:creationId xmlns:a16="http://schemas.microsoft.com/office/drawing/2014/main" id="{206B57DE-B2E2-477E-A47F-DA530482154A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圆角矩形 12">
              <a:extLst>
                <a:ext uri="{FF2B5EF4-FFF2-40B4-BE49-F238E27FC236}">
                  <a16:creationId xmlns:a16="http://schemas.microsoft.com/office/drawing/2014/main" id="{38C3280C-D608-4B4D-8279-5808A7C72777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3">
              <a:extLst>
                <a:ext uri="{FF2B5EF4-FFF2-40B4-BE49-F238E27FC236}">
                  <a16:creationId xmlns:a16="http://schemas.microsoft.com/office/drawing/2014/main" id="{43328620-830D-498B-AD47-8DBB81A79D3F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1" name="图片 3">
            <a:extLst>
              <a:ext uri="{FF2B5EF4-FFF2-40B4-BE49-F238E27FC236}">
                <a16:creationId xmlns:a16="http://schemas.microsoft.com/office/drawing/2014/main" id="{B0C51A74-65A9-4F9C-9DAC-5C9B5FEFD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46ADAA-5CE7-436F-BDC5-5BE32504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06671" y="6174558"/>
            <a:ext cx="442918" cy="396090"/>
          </a:xfrm>
        </p:spPr>
        <p:txBody>
          <a:bodyPr/>
          <a:lstStyle/>
          <a:p>
            <a:r>
              <a:rPr lang="en-US" altLang="zh-CN"/>
              <a:t>2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E675BB-162D-4CCA-94D2-B314C0C6F64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13" name="圆角矩形 11">
              <a:extLst>
                <a:ext uri="{FF2B5EF4-FFF2-40B4-BE49-F238E27FC236}">
                  <a16:creationId xmlns:a16="http://schemas.microsoft.com/office/drawing/2014/main" id="{8497BCD2-D048-4CC6-AA21-D749E9E85DCE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4" name="圆角矩形 12">
              <a:extLst>
                <a:ext uri="{FF2B5EF4-FFF2-40B4-BE49-F238E27FC236}">
                  <a16:creationId xmlns:a16="http://schemas.microsoft.com/office/drawing/2014/main" id="{9C83145A-9A38-4389-BA55-B2DC124C7CCE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圆角矩形 13">
              <a:extLst>
                <a:ext uri="{FF2B5EF4-FFF2-40B4-BE49-F238E27FC236}">
                  <a16:creationId xmlns:a16="http://schemas.microsoft.com/office/drawing/2014/main" id="{5F30C916-99CD-41F6-B9F5-44A06301974D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6" name="图片 3">
            <a:extLst>
              <a:ext uri="{FF2B5EF4-FFF2-40B4-BE49-F238E27FC236}">
                <a16:creationId xmlns:a16="http://schemas.microsoft.com/office/drawing/2014/main" id="{408ADF0C-ACC1-4673-9FB1-66E00A8197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1607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6473A-FAF4-414C-9522-3C4BCFE2B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16" y="3100647"/>
            <a:ext cx="7886700" cy="867940"/>
          </a:xfrm>
        </p:spPr>
        <p:txBody>
          <a:bodyPr anchor="b"/>
          <a:lstStyle>
            <a:lvl1pPr>
              <a:defRPr sz="4500">
                <a:latin typeface="Arial Unicode MS" pitchFamily="34" charset="-122"/>
                <a:ea typeface="Arial Unicode MS" pitchFamily="34" charset="-122"/>
                <a:cs typeface="Arial Unicode MS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圆角矩形 5">
            <a:extLst>
              <a:ext uri="{FF2B5EF4-FFF2-40B4-BE49-F238E27FC236}">
                <a16:creationId xmlns:a16="http://schemas.microsoft.com/office/drawing/2014/main" id="{3BD87344-C6CA-4F87-9448-0B8B7FAF9E1B}"/>
              </a:ext>
            </a:extLst>
          </p:cNvPr>
          <p:cNvSpPr/>
          <p:nvPr userDrawn="1"/>
        </p:nvSpPr>
        <p:spPr>
          <a:xfrm>
            <a:off x="0" y="4044001"/>
            <a:ext cx="952500" cy="144000"/>
          </a:xfrm>
          <a:prstGeom prst="roundRect">
            <a:avLst>
              <a:gd name="adj" fmla="val 0"/>
            </a:avLst>
          </a:prstGeom>
          <a:solidFill>
            <a:srgbClr val="C83C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圆角矩形 6">
            <a:extLst>
              <a:ext uri="{FF2B5EF4-FFF2-40B4-BE49-F238E27FC236}">
                <a16:creationId xmlns:a16="http://schemas.microsoft.com/office/drawing/2014/main" id="{6DA4B6E9-D6DC-4952-865A-DA8EE6DB8245}"/>
              </a:ext>
            </a:extLst>
          </p:cNvPr>
          <p:cNvSpPr/>
          <p:nvPr userDrawn="1"/>
        </p:nvSpPr>
        <p:spPr>
          <a:xfrm>
            <a:off x="1014116" y="4044001"/>
            <a:ext cx="3643609" cy="144002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圆角矩形 7">
            <a:extLst>
              <a:ext uri="{FF2B5EF4-FFF2-40B4-BE49-F238E27FC236}">
                <a16:creationId xmlns:a16="http://schemas.microsoft.com/office/drawing/2014/main" id="{F7595CA0-CBC9-4927-B9FF-0B4BA5FB62ED}"/>
              </a:ext>
            </a:extLst>
          </p:cNvPr>
          <p:cNvSpPr/>
          <p:nvPr userDrawn="1"/>
        </p:nvSpPr>
        <p:spPr>
          <a:xfrm>
            <a:off x="4724400" y="4044001"/>
            <a:ext cx="4320000" cy="144000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955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23"/>
          <p:cNvGrpSpPr>
            <a:grpSpLocks/>
          </p:cNvGrpSpPr>
          <p:nvPr userDrawn="1"/>
        </p:nvGrpSpPr>
        <p:grpSpPr bwMode="auto">
          <a:xfrm>
            <a:off x="371475" y="-190500"/>
            <a:ext cx="1230313" cy="1358900"/>
            <a:chOff x="371610" y="-231341"/>
            <a:chExt cx="1230631" cy="1358900"/>
          </a:xfrm>
        </p:grpSpPr>
        <p:sp>
          <p:nvSpPr>
            <p:cNvPr id="7" name="同侧圆角矩形 6"/>
            <p:cNvSpPr/>
            <p:nvPr/>
          </p:nvSpPr>
          <p:spPr>
            <a:xfrm flipV="1">
              <a:off x="627264" y="-36078"/>
              <a:ext cx="719323" cy="9683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E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65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同侧圆角矩形 7"/>
            <p:cNvSpPr/>
            <p:nvPr/>
          </p:nvSpPr>
          <p:spPr>
            <a:xfrm flipV="1">
              <a:off x="627264" y="-36078"/>
              <a:ext cx="719323" cy="9683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E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65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9" name="图片 29" descr="logo（背景透明）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610" y="-231341"/>
              <a:ext cx="1230631" cy="1358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组合 7"/>
          <p:cNvGrpSpPr>
            <a:grpSpLocks/>
          </p:cNvGrpSpPr>
          <p:nvPr userDrawn="1"/>
        </p:nvGrpSpPr>
        <p:grpSpPr bwMode="auto">
          <a:xfrm>
            <a:off x="76200" y="2151063"/>
            <a:ext cx="9043988" cy="381000"/>
            <a:chOff x="76200" y="2151457"/>
            <a:chExt cx="9043988" cy="381000"/>
          </a:xfrm>
        </p:grpSpPr>
        <p:sp>
          <p:nvSpPr>
            <p:cNvPr id="11" name="圆角矩形 10"/>
            <p:cNvSpPr/>
            <p:nvPr/>
          </p:nvSpPr>
          <p:spPr>
            <a:xfrm>
              <a:off x="76200" y="2294332"/>
              <a:ext cx="1676400" cy="144462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524000" y="2294332"/>
              <a:ext cx="3200400" cy="1444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4800600" y="2294332"/>
              <a:ext cx="4319588" cy="144462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 rot="1383523">
              <a:off x="1417638" y="2151457"/>
              <a:ext cx="215900" cy="38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 rot="1383523">
              <a:off x="4616450" y="2151457"/>
              <a:ext cx="215900" cy="38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16" name="Picture 7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53" b="10274"/>
          <a:stretch>
            <a:fillRect/>
          </a:stretch>
        </p:blipFill>
        <p:spPr bwMode="auto">
          <a:xfrm>
            <a:off x="157163" y="5467350"/>
            <a:ext cx="1957387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3"/>
          <p:cNvPicPr>
            <a:picLocks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5478463"/>
            <a:ext cx="2124075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4"/>
          <p:cNvPicPr>
            <a:picLocks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675" y="5478463"/>
            <a:ext cx="2390775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45"/>
          <a:stretch/>
        </p:blipFill>
        <p:spPr bwMode="auto">
          <a:xfrm>
            <a:off x="6846888" y="5467351"/>
            <a:ext cx="2220912" cy="1273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463" y="4702719"/>
            <a:ext cx="1506537" cy="84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TextBox 2"/>
          <p:cNvSpPr txBox="1">
            <a:spLocks noChangeArrowheads="1"/>
          </p:cNvSpPr>
          <p:nvPr userDrawn="1"/>
        </p:nvSpPr>
        <p:spPr bwMode="auto">
          <a:xfrm>
            <a:off x="8172400" y="5165911"/>
            <a:ext cx="7810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900" b="0" baseline="0" dirty="0">
                <a:latin typeface="黑体" panose="02010609060101010101" pitchFamily="49" charset="-122"/>
                <a:ea typeface="黑体" panose="02010609060101010101" pitchFamily="49" charset="-122"/>
              </a:rPr>
              <a:t>Since 2016</a:t>
            </a:r>
            <a:endParaRPr lang="zh-CN" altLang="en-US" sz="900" b="0" baseline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3616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2022/10/27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4.wmf"/><Relationship Id="rId2" Type="http://schemas.openxmlformats.org/officeDocument/2006/relationships/image" Target="../media/image9.png"/><Relationship Id="rId16" Type="http://schemas.openxmlformats.org/officeDocument/2006/relationships/image" Target="../media/image16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5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wmf"/><Relationship Id="rId4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29.w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1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18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41.png"/><Relationship Id="rId5" Type="http://schemas.openxmlformats.org/officeDocument/2006/relationships/image" Target="../media/image37.wmf"/><Relationship Id="rId10" Type="http://schemas.openxmlformats.org/officeDocument/2006/relationships/image" Target="../media/image40.png"/><Relationship Id="rId4" Type="http://schemas.openxmlformats.org/officeDocument/2006/relationships/oleObject" Target="../embeddings/oleObject21.bin"/><Relationship Id="rId9" Type="http://schemas.openxmlformats.org/officeDocument/2006/relationships/image" Target="../media/image39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7" Type="http://schemas.openxmlformats.org/officeDocument/2006/relationships/image" Target="../media/image71.wmf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4" Type="http://schemas.openxmlformats.org/officeDocument/2006/relationships/image" Target="../media/image7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78.wmf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77.wmf"/><Relationship Id="rId4" Type="http://schemas.openxmlformats.org/officeDocument/2006/relationships/oleObject" Target="../embeddings/oleObject25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84.wmf"/><Relationship Id="rId3" Type="http://schemas.openxmlformats.org/officeDocument/2006/relationships/image" Target="../media/image79.wmf"/><Relationship Id="rId7" Type="http://schemas.openxmlformats.org/officeDocument/2006/relationships/image" Target="../media/image81.wmf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86.wmf"/><Relationship Id="rId2" Type="http://schemas.openxmlformats.org/officeDocument/2006/relationships/oleObject" Target="../embeddings/oleObject27.bin"/><Relationship Id="rId16" Type="http://schemas.openxmlformats.org/officeDocument/2006/relationships/oleObject" Target="../embeddings/oleObject3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83.wmf"/><Relationship Id="rId5" Type="http://schemas.openxmlformats.org/officeDocument/2006/relationships/image" Target="../media/image80.wmf"/><Relationship Id="rId15" Type="http://schemas.openxmlformats.org/officeDocument/2006/relationships/image" Target="../media/image85.w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82.wmf"/><Relationship Id="rId14" Type="http://schemas.openxmlformats.org/officeDocument/2006/relationships/oleObject" Target="../embeddings/oleObject33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image" Target="../media/image88.png"/><Relationship Id="rId7" Type="http://schemas.openxmlformats.org/officeDocument/2006/relationships/image" Target="../media/image82.wmf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81.w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89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3.png"/><Relationship Id="rId4" Type="http://schemas.openxmlformats.org/officeDocument/2006/relationships/image" Target="../media/image9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image" Target="../media/image95.png"/><Relationship Id="rId7" Type="http://schemas.openxmlformats.org/officeDocument/2006/relationships/oleObject" Target="../embeddings/oleObject39.bin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7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9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image" Target="../media/image100.png"/><Relationship Id="rId7" Type="http://schemas.openxmlformats.org/officeDocument/2006/relationships/oleObject" Target="../embeddings/oleObject41.bin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10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13" Type="http://schemas.openxmlformats.org/officeDocument/2006/relationships/image" Target="../media/image103.wmf"/><Relationship Id="rId3" Type="http://schemas.openxmlformats.org/officeDocument/2006/relationships/image" Target="../media/image82.wmf"/><Relationship Id="rId7" Type="http://schemas.openxmlformats.org/officeDocument/2006/relationships/image" Target="../media/image97.wmf"/><Relationship Id="rId12" Type="http://schemas.openxmlformats.org/officeDocument/2006/relationships/oleObject" Target="../embeddings/oleObject47.bin"/><Relationship Id="rId2" Type="http://schemas.openxmlformats.org/officeDocument/2006/relationships/oleObject" Target="../embeddings/oleObject42.bin"/><Relationship Id="rId16" Type="http://schemas.openxmlformats.org/officeDocument/2006/relationships/image" Target="../media/image106.png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102.wmf"/><Relationship Id="rId5" Type="http://schemas.openxmlformats.org/officeDocument/2006/relationships/image" Target="../media/image81.wmf"/><Relationship Id="rId15" Type="http://schemas.openxmlformats.org/officeDocument/2006/relationships/image" Target="../media/image105.png"/><Relationship Id="rId10" Type="http://schemas.openxmlformats.org/officeDocument/2006/relationships/oleObject" Target="../embeddings/oleObject46.bin"/><Relationship Id="rId4" Type="http://schemas.openxmlformats.org/officeDocument/2006/relationships/oleObject" Target="../embeddings/oleObject43.bin"/><Relationship Id="rId9" Type="http://schemas.openxmlformats.org/officeDocument/2006/relationships/image" Target="../media/image98.wmf"/><Relationship Id="rId14" Type="http://schemas.openxmlformats.org/officeDocument/2006/relationships/image" Target="../media/image10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AA9D0B63-D9C1-4432-AF96-2EA7E99C0383}"/>
              </a:ext>
            </a:extLst>
          </p:cNvPr>
          <p:cNvSpPr txBox="1">
            <a:spLocks/>
          </p:cNvSpPr>
          <p:nvPr/>
        </p:nvSpPr>
        <p:spPr>
          <a:xfrm>
            <a:off x="1279047" y="2417928"/>
            <a:ext cx="7433153" cy="20221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 err="1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Weishu</a:t>
            </a:r>
            <a:r>
              <a:rPr lang="en-US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</a:t>
            </a:r>
            <a:r>
              <a:rPr lang="en-US" sz="2800" b="1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iu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Department of Materials Science and Engineering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Southern University of Science and Technology (</a:t>
            </a:r>
            <a:r>
              <a:rPr lang="en-US" sz="1800" dirty="0" err="1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SUSTec</a:t>
            </a:r>
            <a:r>
              <a:rPr lang="en-US" altLang="zh-CN" sz="1800" dirty="0" err="1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h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Email: 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liuws@sustech.edu.cn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Office: </a:t>
            </a:r>
            <a:r>
              <a:rPr lang="en-US" sz="1800" dirty="0">
                <a:solidFill>
                  <a:schemeClr val="tx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North Tower, Rm310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1B1E1D-7C41-4F56-BF1E-96200593BAF0}"/>
              </a:ext>
            </a:extLst>
          </p:cNvPr>
          <p:cNvSpPr txBox="1"/>
          <p:nvPr/>
        </p:nvSpPr>
        <p:spPr>
          <a:xfrm>
            <a:off x="1279046" y="1220254"/>
            <a:ext cx="78649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Lecture 16: </a:t>
            </a:r>
            <a:r>
              <a:rPr lang="en-US" altLang="zh-CN" sz="3200" b="1" dirty="0">
                <a:solidFill>
                  <a:srgbClr val="FF0000"/>
                </a:solidFill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Phase diagram-II</a:t>
            </a:r>
            <a:endParaRPr lang="en-US" altLang="zh-CN" sz="3200" dirty="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9" t="32802" r="17069" b="36756"/>
          <a:stretch/>
        </p:blipFill>
        <p:spPr>
          <a:xfrm>
            <a:off x="152400" y="4724400"/>
            <a:ext cx="2333297" cy="73434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6334F18-1FA8-0C49-2708-E3BA78D85056}"/>
              </a:ext>
            </a:extLst>
          </p:cNvPr>
          <p:cNvSpPr/>
          <p:nvPr/>
        </p:nvSpPr>
        <p:spPr>
          <a:xfrm>
            <a:off x="2550929" y="84135"/>
            <a:ext cx="6593071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MSE 311: Thermodynamics  of Materials</a:t>
            </a:r>
          </a:p>
        </p:txBody>
      </p:sp>
    </p:spTree>
    <p:extLst>
      <p:ext uri="{BB962C8B-B14F-4D97-AF65-F5344CB8AC3E}">
        <p14:creationId xmlns:p14="http://schemas.microsoft.com/office/powerpoint/2010/main" val="3696818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564" y="3352800"/>
            <a:ext cx="62401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42. Phase diagram – </a:t>
            </a:r>
            <a:r>
              <a:rPr lang="en-US" altLang="zh-CN" sz="2800" dirty="0">
                <a:ea typeface="宋体" pitchFamily="2" charset="-122"/>
              </a:rPr>
              <a:t>Partial solid solution </a:t>
            </a:r>
            <a:endParaRPr lang="en-US" altLang="zh-CN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4343400"/>
            <a:ext cx="71549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Chapter 10</a:t>
            </a:r>
          </a:p>
          <a:p>
            <a:r>
              <a:rPr lang="en-US" altLang="zh-CN" dirty="0"/>
              <a:t>Gibbs Free energy Composition and Phase diagrams of Binary System</a:t>
            </a:r>
          </a:p>
          <a:p>
            <a:endParaRPr lang="en-US" altLang="zh-CN" dirty="0"/>
          </a:p>
          <a:p>
            <a:r>
              <a:rPr lang="en-US" altLang="zh-CN" dirty="0"/>
              <a:t>Ref. Introduction to the thermodynamics of Materials, 6</a:t>
            </a:r>
            <a:r>
              <a:rPr lang="en-US" altLang="zh-CN" baseline="30000" dirty="0"/>
              <a:t>th</a:t>
            </a:r>
            <a:r>
              <a:rPr lang="en-US" altLang="zh-CN" dirty="0"/>
              <a:t> edition, D. R. Gaskell, and D. E. Laughlin</a:t>
            </a:r>
          </a:p>
        </p:txBody>
      </p:sp>
      <p:sp>
        <p:nvSpPr>
          <p:cNvPr id="4" name="矩形 3"/>
          <p:cNvSpPr/>
          <p:nvPr/>
        </p:nvSpPr>
        <p:spPr>
          <a:xfrm>
            <a:off x="899592" y="975480"/>
            <a:ext cx="724108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Phase diagram of binary system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FF0000"/>
                </a:solidFill>
              </a:rPr>
              <a:t>Complete liquid and solid solutions (idea solution)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2400" dirty="0">
                <a:ea typeface="宋体" pitchFamily="2" charset="-122"/>
              </a:rPr>
              <a:t>Partial solid solution </a:t>
            </a:r>
            <a:endParaRPr lang="en-US" altLang="zh-CN" sz="2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2400" dirty="0">
                <a:ea typeface="宋体" pitchFamily="2" charset="-122"/>
              </a:rPr>
              <a:t>Complete liquid miscibility and solid immiscibility</a:t>
            </a:r>
          </a:p>
        </p:txBody>
      </p:sp>
    </p:spTree>
    <p:extLst>
      <p:ext uri="{BB962C8B-B14F-4D97-AF65-F5344CB8AC3E}">
        <p14:creationId xmlns:p14="http://schemas.microsoft.com/office/powerpoint/2010/main" val="4008344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333500"/>
            <a:ext cx="4343400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8855994"/>
              </p:ext>
            </p:extLst>
          </p:nvPr>
        </p:nvGraphicFramePr>
        <p:xfrm>
          <a:off x="4849813" y="3062288"/>
          <a:ext cx="3525837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30320" imgH="241200" progId="Equation.DSMT4">
                  <p:embed/>
                </p:oleObj>
              </mc:Choice>
              <mc:Fallback>
                <p:oleObj name="Equation" r:id="rId3" imgW="19303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9813" y="3062288"/>
                        <a:ext cx="3525837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6773646"/>
              </p:ext>
            </p:extLst>
          </p:nvPr>
        </p:nvGraphicFramePr>
        <p:xfrm>
          <a:off x="4994275" y="1309688"/>
          <a:ext cx="3570288" cy="155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68400" imgH="1206360" progId="Equation.DSMT4">
                  <p:embed/>
                </p:oleObj>
              </mc:Choice>
              <mc:Fallback>
                <p:oleObj name="Equation" r:id="rId5" imgW="2768400" imgH="1206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4275" y="1309688"/>
                        <a:ext cx="3570288" cy="15541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prstDash val="dash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4347972"/>
              </p:ext>
            </p:extLst>
          </p:nvPr>
        </p:nvGraphicFramePr>
        <p:xfrm>
          <a:off x="7668344" y="5013176"/>
          <a:ext cx="796925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71320" imgH="228600" progId="Equation.DSMT4">
                  <p:embed/>
                </p:oleObj>
              </mc:Choice>
              <mc:Fallback>
                <p:oleObj name="Equation" r:id="rId7" imgW="571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8344" y="5013176"/>
                        <a:ext cx="796925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964864" y="5817192"/>
            <a:ext cx="2221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Curve I: ideal solution</a:t>
            </a:r>
            <a:endParaRPr lang="zh-CN" altLang="en-US" dirty="0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203317"/>
              </p:ext>
            </p:extLst>
          </p:nvPr>
        </p:nvGraphicFramePr>
        <p:xfrm>
          <a:off x="5008563" y="6186488"/>
          <a:ext cx="3259137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36760" imgH="241200" progId="Equation.DSMT4">
                  <p:embed/>
                </p:oleObj>
              </mc:Choice>
              <mc:Fallback>
                <p:oleObj name="Equation" r:id="rId9" imgW="2336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8563" y="6186488"/>
                        <a:ext cx="3259137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828756"/>
              </p:ext>
            </p:extLst>
          </p:nvPr>
        </p:nvGraphicFramePr>
        <p:xfrm>
          <a:off x="5053219" y="3519524"/>
          <a:ext cx="3085118" cy="524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39800" imgH="431640" progId="Equation.DSMT4">
                  <p:embed/>
                </p:oleObj>
              </mc:Choice>
              <mc:Fallback>
                <p:oleObj name="Equation" r:id="rId11" imgW="25398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53219" y="3519524"/>
                        <a:ext cx="3085118" cy="524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圆角矩形 1"/>
          <p:cNvSpPr/>
          <p:nvPr/>
        </p:nvSpPr>
        <p:spPr>
          <a:xfrm>
            <a:off x="990600" y="1524000"/>
            <a:ext cx="3048000" cy="2438400"/>
          </a:xfrm>
          <a:prstGeom prst="roundRect">
            <a:avLst>
              <a:gd name="adj" fmla="val 1405"/>
            </a:avLst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115616" y="188640"/>
            <a:ext cx="51891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Effect of interaction parameter: </a:t>
            </a:r>
            <a:r>
              <a:rPr lang="el-GR" altLang="zh-CN" sz="2800" dirty="0">
                <a:solidFill>
                  <a:srgbClr val="FF0000"/>
                </a:solidFill>
                <a:latin typeface="Times New Roman"/>
                <a:cs typeface="Times New Roman"/>
              </a:rPr>
              <a:t>Ω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788024" y="4162846"/>
            <a:ext cx="1740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Regular solution</a:t>
            </a:r>
            <a:endParaRPr lang="zh-CN" altLang="en-US" b="1" dirty="0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051208"/>
              </p:ext>
            </p:extLst>
          </p:nvPr>
        </p:nvGraphicFramePr>
        <p:xfrm>
          <a:off x="4847581" y="4653136"/>
          <a:ext cx="1916112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43000" imgH="241200" progId="Equation.DSMT4">
                  <p:embed/>
                </p:oleObj>
              </mc:Choice>
              <mc:Fallback>
                <p:oleObj name="Equation" r:id="rId13" imgW="1143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7581" y="4653136"/>
                        <a:ext cx="1916112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7597590"/>
              </p:ext>
            </p:extLst>
          </p:nvPr>
        </p:nvGraphicFramePr>
        <p:xfrm>
          <a:off x="4935143" y="5157192"/>
          <a:ext cx="19177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43000" imgH="241200" progId="Equation.DSMT4">
                  <p:embed/>
                </p:oleObj>
              </mc:Choice>
              <mc:Fallback>
                <p:oleObj name="Equation" r:id="rId15" imgW="1143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5143" y="5157192"/>
                        <a:ext cx="19177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5584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04950"/>
            <a:ext cx="2981325" cy="520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841872" y="1307068"/>
            <a:ext cx="19586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Complete solution 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990600" y="3886200"/>
            <a:ext cx="1514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miscibility gap</a:t>
            </a:r>
            <a:endParaRPr lang="zh-CN" altLang="en-US" dirty="0"/>
          </a:p>
        </p:txBody>
      </p:sp>
      <p:sp>
        <p:nvSpPr>
          <p:cNvPr id="13" name="任意多边形 12"/>
          <p:cNvSpPr/>
          <p:nvPr/>
        </p:nvSpPr>
        <p:spPr>
          <a:xfrm>
            <a:off x="1224501" y="4714928"/>
            <a:ext cx="1248355" cy="747618"/>
          </a:xfrm>
          <a:custGeom>
            <a:avLst/>
            <a:gdLst>
              <a:gd name="connsiteX0" fmla="*/ 0 w 1248355"/>
              <a:gd name="connsiteY0" fmla="*/ 747618 h 747618"/>
              <a:gd name="connsiteX1" fmla="*/ 206734 w 1248355"/>
              <a:gd name="connsiteY1" fmla="*/ 540884 h 747618"/>
              <a:gd name="connsiteX2" fmla="*/ 381662 w 1248355"/>
              <a:gd name="connsiteY2" fmla="*/ 143319 h 747618"/>
              <a:gd name="connsiteX3" fmla="*/ 580445 w 1248355"/>
              <a:gd name="connsiteY3" fmla="*/ 195 h 747618"/>
              <a:gd name="connsiteX4" fmla="*/ 811033 w 1248355"/>
              <a:gd name="connsiteY4" fmla="*/ 167173 h 747618"/>
              <a:gd name="connsiteX5" fmla="*/ 970059 w 1248355"/>
              <a:gd name="connsiteY5" fmla="*/ 469322 h 747618"/>
              <a:gd name="connsiteX6" fmla="*/ 1137036 w 1248355"/>
              <a:gd name="connsiteY6" fmla="*/ 707862 h 747618"/>
              <a:gd name="connsiteX7" fmla="*/ 1248355 w 1248355"/>
              <a:gd name="connsiteY7" fmla="*/ 747618 h 747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8355" h="747618">
                <a:moveTo>
                  <a:pt x="0" y="747618"/>
                </a:moveTo>
                <a:cubicBezTo>
                  <a:pt x="71562" y="694609"/>
                  <a:pt x="143124" y="641601"/>
                  <a:pt x="206734" y="540884"/>
                </a:cubicBezTo>
                <a:cubicBezTo>
                  <a:pt x="270344" y="440167"/>
                  <a:pt x="319377" y="233434"/>
                  <a:pt x="381662" y="143319"/>
                </a:cubicBezTo>
                <a:cubicBezTo>
                  <a:pt x="443947" y="53204"/>
                  <a:pt x="508883" y="-3781"/>
                  <a:pt x="580445" y="195"/>
                </a:cubicBezTo>
                <a:cubicBezTo>
                  <a:pt x="652007" y="4171"/>
                  <a:pt x="746097" y="88985"/>
                  <a:pt x="811033" y="167173"/>
                </a:cubicBezTo>
                <a:cubicBezTo>
                  <a:pt x="875969" y="245361"/>
                  <a:pt x="915725" y="379207"/>
                  <a:pt x="970059" y="469322"/>
                </a:cubicBezTo>
                <a:cubicBezTo>
                  <a:pt x="1024393" y="559437"/>
                  <a:pt x="1090653" y="661479"/>
                  <a:pt x="1137036" y="707862"/>
                </a:cubicBezTo>
                <a:cubicBezTo>
                  <a:pt x="1183419" y="754245"/>
                  <a:pt x="1229802" y="742317"/>
                  <a:pt x="1248355" y="747618"/>
                </a:cubicBezTo>
              </a:path>
            </a:pathLst>
          </a:custGeom>
          <a:noFill/>
          <a:ln w="38100">
            <a:solidFill>
              <a:srgbClr val="FF0000">
                <a:alpha val="5019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/>
        </p:nvSpPr>
        <p:spPr>
          <a:xfrm>
            <a:off x="1248355" y="5470497"/>
            <a:ext cx="1200647" cy="7952"/>
          </a:xfrm>
          <a:custGeom>
            <a:avLst/>
            <a:gdLst>
              <a:gd name="connsiteX0" fmla="*/ 0 w 1200647"/>
              <a:gd name="connsiteY0" fmla="*/ 7952 h 7952"/>
              <a:gd name="connsiteX1" fmla="*/ 1200647 w 1200647"/>
              <a:gd name="connsiteY1" fmla="*/ 0 h 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0647" h="7952">
                <a:moveTo>
                  <a:pt x="0" y="7952"/>
                </a:moveTo>
                <a:lnTo>
                  <a:pt x="1200647" y="0"/>
                </a:lnTo>
              </a:path>
            </a:pathLst>
          </a:cu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3767928" y="1707392"/>
            <a:ext cx="4629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Curve</a:t>
            </a:r>
            <a:r>
              <a:rPr lang="en-US" altLang="zh-CN" sz="2000" dirty="0">
                <a:solidFill>
                  <a:srgbClr val="FF0000"/>
                </a:solidFill>
              </a:rPr>
              <a:t> (</a:t>
            </a:r>
            <a:r>
              <a:rPr lang="en-US" altLang="zh-CN" sz="2000" dirty="0" err="1">
                <a:solidFill>
                  <a:srgbClr val="FF0000"/>
                </a:solidFill>
              </a:rPr>
              <a:t>mnopq</a:t>
            </a:r>
            <a:r>
              <a:rPr lang="en-US" altLang="zh-CN" sz="2000" dirty="0">
                <a:solidFill>
                  <a:srgbClr val="FF0000"/>
                </a:solidFill>
              </a:rPr>
              <a:t>): </a:t>
            </a:r>
          </a:p>
          <a:p>
            <a:r>
              <a:rPr lang="en-US" altLang="zh-CN" sz="2000" dirty="0"/>
              <a:t>The Gibbs energy to form a single solution </a:t>
            </a:r>
            <a:endParaRPr lang="zh-CN" alt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3733800" y="2590800"/>
            <a:ext cx="49328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Line </a:t>
            </a:r>
            <a:r>
              <a:rPr lang="en-US" altLang="zh-CN" sz="2000" dirty="0">
                <a:solidFill>
                  <a:srgbClr val="0000FF"/>
                </a:solidFill>
              </a:rPr>
              <a:t> (</a:t>
            </a:r>
            <a:r>
              <a:rPr lang="en-US" altLang="zh-CN" sz="2000" dirty="0" err="1">
                <a:solidFill>
                  <a:srgbClr val="0000FF"/>
                </a:solidFill>
              </a:rPr>
              <a:t>mq</a:t>
            </a:r>
            <a:r>
              <a:rPr lang="en-US" altLang="zh-CN" sz="2000" dirty="0">
                <a:solidFill>
                  <a:srgbClr val="0000FF"/>
                </a:solidFill>
              </a:rPr>
              <a:t>): </a:t>
            </a:r>
          </a:p>
          <a:p>
            <a:r>
              <a:rPr lang="en-US" altLang="zh-CN" sz="2000" dirty="0"/>
              <a:t>The Gibbs energy to form a mixing of m and q</a:t>
            </a:r>
            <a:endParaRPr lang="zh-CN" alt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3753911" y="4057471"/>
            <a:ext cx="4780489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if the homogeneous solution of composition </a:t>
            </a:r>
            <a:r>
              <a:rPr lang="en-US" altLang="zh-CN" i="1" dirty="0"/>
              <a:t>r </a:t>
            </a:r>
            <a:r>
              <a:rPr lang="en-US" altLang="zh-CN" dirty="0"/>
              <a:t>separates into the two coexisting solutions </a:t>
            </a:r>
            <a:r>
              <a:rPr lang="en-US" altLang="zh-CN" i="1" dirty="0"/>
              <a:t>m </a:t>
            </a:r>
            <a:r>
              <a:rPr lang="en-US" altLang="zh-CN" dirty="0"/>
              <a:t>and </a:t>
            </a:r>
            <a:r>
              <a:rPr lang="en-US" altLang="zh-CN" i="1" dirty="0"/>
              <a:t>q </a:t>
            </a:r>
            <a:r>
              <a:rPr lang="en-US" altLang="zh-CN" dirty="0"/>
              <a:t>, the Gibbs free energy of mixing of the system is decreased from </a:t>
            </a:r>
            <a:r>
              <a:rPr lang="en-US" altLang="zh-CN" i="1" dirty="0"/>
              <a:t>r </a:t>
            </a:r>
            <a:r>
              <a:rPr lang="en-US" altLang="zh-CN" dirty="0"/>
              <a:t>to </a:t>
            </a:r>
            <a:r>
              <a:rPr lang="en-US" altLang="zh-CN" i="1" dirty="0"/>
              <a:t>s 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248944" y="260648"/>
            <a:ext cx="26681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Miscibility gap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308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412194" y="188640"/>
            <a:ext cx="62069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Criteria for the coexisted two phase 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8600" y="1334869"/>
            <a:ext cx="838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The equilibrium coexistence of two separate solutions at the temperature </a:t>
            </a:r>
            <a:r>
              <a:rPr lang="en-US" altLang="zh-CN" i="1" dirty="0"/>
              <a:t>T </a:t>
            </a:r>
            <a:r>
              <a:rPr lang="en-US" altLang="zh-CN" dirty="0"/>
              <a:t>and pressure </a:t>
            </a:r>
            <a:r>
              <a:rPr lang="en-US" altLang="zh-CN" i="1" dirty="0"/>
              <a:t>P </a:t>
            </a:r>
            <a:r>
              <a:rPr lang="en-US" altLang="zh-CN" dirty="0"/>
              <a:t>requires that</a:t>
            </a:r>
            <a:endParaRPr lang="zh-CN" altLang="en-US" dirty="0"/>
          </a:p>
        </p:txBody>
      </p:sp>
      <p:pic>
        <p:nvPicPr>
          <p:cNvPr id="149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2" y="2721593"/>
            <a:ext cx="379603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9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180" y="3302617"/>
            <a:ext cx="3840170" cy="561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292788"/>
              </p:ext>
            </p:extLst>
          </p:nvPr>
        </p:nvGraphicFramePr>
        <p:xfrm>
          <a:off x="7315200" y="2262187"/>
          <a:ext cx="1377043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440" imgH="533160" progId="Equation.DSMT4">
                  <p:embed/>
                </p:oleObj>
              </mc:Choice>
              <mc:Fallback>
                <p:oleObj name="Equation" r:id="rId4" imgW="111744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315200" y="2262187"/>
                        <a:ext cx="1377043" cy="657225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315200" y="1828800"/>
            <a:ext cx="489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Ref</a:t>
            </a:r>
            <a:endParaRPr lang="zh-CN" altLang="en-US" dirty="0"/>
          </a:p>
        </p:txBody>
      </p:sp>
      <p:pic>
        <p:nvPicPr>
          <p:cNvPr id="14950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53" y="4245593"/>
            <a:ext cx="3650827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下箭头 14"/>
          <p:cNvSpPr/>
          <p:nvPr/>
        </p:nvSpPr>
        <p:spPr>
          <a:xfrm>
            <a:off x="2452180" y="3712193"/>
            <a:ext cx="304800" cy="533400"/>
          </a:xfrm>
          <a:prstGeom prst="down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050410" y="5312393"/>
            <a:ext cx="3387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 err="1"/>
              <a:t>a</a:t>
            </a:r>
            <a:r>
              <a:rPr lang="en-US" altLang="zh-CN" baseline="-25000" dirty="0" err="1"/>
              <a:t>A</a:t>
            </a:r>
            <a:r>
              <a:rPr lang="en-US" altLang="zh-CN" dirty="0"/>
              <a:t>(in solution </a:t>
            </a:r>
            <a:r>
              <a:rPr lang="en-US" altLang="zh-CN" b="1" i="1" dirty="0"/>
              <a:t>m</a:t>
            </a:r>
            <a:r>
              <a:rPr lang="en-US" altLang="zh-CN" dirty="0"/>
              <a:t>)=</a:t>
            </a:r>
            <a:r>
              <a:rPr lang="en-US" altLang="zh-CN" i="1" dirty="0" err="1"/>
              <a:t>a</a:t>
            </a:r>
            <a:r>
              <a:rPr lang="en-US" altLang="zh-CN" baseline="-25000" dirty="0" err="1"/>
              <a:t>A</a:t>
            </a:r>
            <a:r>
              <a:rPr lang="en-US" altLang="zh-CN" dirty="0"/>
              <a:t>(in solution </a:t>
            </a:r>
            <a:r>
              <a:rPr lang="en-US" altLang="zh-CN" b="1" i="1" dirty="0"/>
              <a:t>q</a:t>
            </a:r>
            <a:r>
              <a:rPr lang="en-US" altLang="zh-CN" dirty="0"/>
              <a:t>)</a:t>
            </a:r>
          </a:p>
          <a:p>
            <a:r>
              <a:rPr lang="en-US" altLang="zh-CN" i="1" dirty="0" err="1"/>
              <a:t>a</a:t>
            </a:r>
            <a:r>
              <a:rPr lang="en-US" altLang="zh-CN" baseline="-25000" dirty="0" err="1"/>
              <a:t>B</a:t>
            </a:r>
            <a:r>
              <a:rPr lang="en-US" altLang="zh-CN" dirty="0"/>
              <a:t>(in solution </a:t>
            </a:r>
            <a:r>
              <a:rPr lang="en-US" altLang="zh-CN" b="1" i="1" dirty="0"/>
              <a:t>m</a:t>
            </a:r>
            <a:r>
              <a:rPr lang="en-US" altLang="zh-CN" dirty="0"/>
              <a:t>)=</a:t>
            </a:r>
            <a:r>
              <a:rPr lang="en-US" altLang="zh-CN" i="1" dirty="0" err="1"/>
              <a:t>a</a:t>
            </a:r>
            <a:r>
              <a:rPr lang="en-US" altLang="zh-CN" baseline="-25000" dirty="0" err="1"/>
              <a:t>B</a:t>
            </a:r>
            <a:r>
              <a:rPr lang="en-US" altLang="zh-CN" dirty="0"/>
              <a:t>(in solution </a:t>
            </a:r>
            <a:r>
              <a:rPr lang="en-US" altLang="zh-CN" b="1" i="1" dirty="0"/>
              <a:t>q</a:t>
            </a:r>
            <a:r>
              <a:rPr lang="en-US" altLang="zh-CN" dirty="0"/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528" y="2188193"/>
            <a:ext cx="3575915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Criteria for the coexisted two phase </a:t>
            </a:r>
            <a:endParaRPr lang="zh-CN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293840" y="4781180"/>
            <a:ext cx="4610558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Equivalent Criteria for the coexisted two phase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3304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035424" y="1471267"/>
            <a:ext cx="3925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Criteria for phase stability</a:t>
            </a:r>
            <a:endParaRPr lang="zh-CN" altLang="en-US" sz="2800" dirty="0"/>
          </a:p>
        </p:txBody>
      </p:sp>
      <p:pic>
        <p:nvPicPr>
          <p:cNvPr id="150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0" y="533400"/>
            <a:ext cx="4970487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432478"/>
              </p:ext>
            </p:extLst>
          </p:nvPr>
        </p:nvGraphicFramePr>
        <p:xfrm>
          <a:off x="5105400" y="2514600"/>
          <a:ext cx="33274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93960" imgH="1726920" progId="Equation.DSMT4">
                  <p:embed/>
                </p:oleObj>
              </mc:Choice>
              <mc:Fallback>
                <p:oleObj name="Equation" r:id="rId3" imgW="2793960" imgH="1726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514600"/>
                        <a:ext cx="332740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6202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1609869" y="330977"/>
            <a:ext cx="3925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Criteria for phase stability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pic>
        <p:nvPicPr>
          <p:cNvPr id="151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187" y="1287002"/>
            <a:ext cx="3591524" cy="5114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8373285"/>
              </p:ext>
            </p:extLst>
          </p:nvPr>
        </p:nvGraphicFramePr>
        <p:xfrm>
          <a:off x="4175580" y="1340768"/>
          <a:ext cx="3941011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34880" imgH="241200" progId="Equation.DSMT4">
                  <p:embed/>
                </p:oleObj>
              </mc:Choice>
              <mc:Fallback>
                <p:oleObj name="Equation" r:id="rId3" imgW="22348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75580" y="1340768"/>
                        <a:ext cx="3941011" cy="42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758031"/>
              </p:ext>
            </p:extLst>
          </p:nvPr>
        </p:nvGraphicFramePr>
        <p:xfrm>
          <a:off x="4154559" y="1797968"/>
          <a:ext cx="4212020" cy="36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08080" imgH="253800" progId="Equation.DSMT4">
                  <p:embed/>
                </p:oleObj>
              </mc:Choice>
              <mc:Fallback>
                <p:oleObj name="Equation" r:id="rId5" imgW="29080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54559" y="1797968"/>
                        <a:ext cx="4212020" cy="367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2831898"/>
              </p:ext>
            </p:extLst>
          </p:nvPr>
        </p:nvGraphicFramePr>
        <p:xfrm>
          <a:off x="4279378" y="2331368"/>
          <a:ext cx="2337860" cy="1103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44440" imgH="965160" progId="Equation.DSMT4">
                  <p:embed/>
                </p:oleObj>
              </mc:Choice>
              <mc:Fallback>
                <p:oleObj name="Equation" r:id="rId7" imgW="2044440" imgH="965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79378" y="2331368"/>
                        <a:ext cx="2337860" cy="11035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右大括号 15"/>
          <p:cNvSpPr/>
          <p:nvPr/>
        </p:nvSpPr>
        <p:spPr>
          <a:xfrm>
            <a:off x="6871857" y="2483768"/>
            <a:ext cx="152746" cy="762000"/>
          </a:xfrm>
          <a:prstGeom prst="rightBrace">
            <a:avLst>
              <a:gd name="adj1" fmla="val 50099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7268265" y="2541602"/>
            <a:ext cx="117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r>
              <a:rPr lang="en-US" altLang="zh-CN" baseline="-25000" dirty="0"/>
              <a:t>A</a:t>
            </a:r>
            <a:r>
              <a:rPr lang="en-US" altLang="zh-CN" dirty="0"/>
              <a:t>= X</a:t>
            </a:r>
            <a:r>
              <a:rPr lang="en-US" altLang="zh-CN" baseline="-25000" dirty="0"/>
              <a:t>B</a:t>
            </a:r>
            <a:r>
              <a:rPr lang="en-US" altLang="zh-CN" dirty="0"/>
              <a:t>=0.5</a:t>
            </a:r>
          </a:p>
          <a:p>
            <a:r>
              <a:rPr lang="el-GR" altLang="zh-CN" dirty="0">
                <a:latin typeface="Sylfaen"/>
              </a:rPr>
              <a:t>α</a:t>
            </a:r>
            <a:r>
              <a:rPr lang="en-US" altLang="zh-CN" dirty="0">
                <a:latin typeface="Sylfaen"/>
              </a:rPr>
              <a:t>=2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143180" y="3702968"/>
            <a:ext cx="2728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sz="2000" b="1" dirty="0">
                <a:solidFill>
                  <a:srgbClr val="FF0000"/>
                </a:solidFill>
                <a:latin typeface="Sylfaen"/>
              </a:rPr>
              <a:t>α</a:t>
            </a:r>
            <a:r>
              <a:rPr lang="en-US" altLang="zh-CN" sz="2000" b="1" dirty="0">
                <a:solidFill>
                  <a:srgbClr val="FF0000"/>
                </a:solidFill>
                <a:latin typeface="Sylfaen"/>
              </a:rPr>
              <a:t>=2 is the critical value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9290207"/>
              </p:ext>
            </p:extLst>
          </p:nvPr>
        </p:nvGraphicFramePr>
        <p:xfrm>
          <a:off x="4227584" y="5104325"/>
          <a:ext cx="942753" cy="269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22080" imgH="177480" progId="Equation.DSMT4">
                  <p:embed/>
                </p:oleObj>
              </mc:Choice>
              <mc:Fallback>
                <p:oleObj name="Equation" r:id="rId9" imgW="6220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27584" y="5104325"/>
                        <a:ext cx="942753" cy="2693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箭头连接符 19"/>
          <p:cNvCxnSpPr/>
          <p:nvPr/>
        </p:nvCxnSpPr>
        <p:spPr>
          <a:xfrm>
            <a:off x="5304407" y="5256725"/>
            <a:ext cx="5260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9582890"/>
              </p:ext>
            </p:extLst>
          </p:nvPr>
        </p:nvGraphicFramePr>
        <p:xfrm>
          <a:off x="5944763" y="4958275"/>
          <a:ext cx="8667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71320" imgH="393480" progId="Equation.DSMT4">
                  <p:embed/>
                </p:oleObj>
              </mc:Choice>
              <mc:Fallback>
                <p:oleObj name="Equation" r:id="rId11" imgW="5713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4763" y="4958275"/>
                        <a:ext cx="86677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273900" y="484596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dirty="0">
                <a:latin typeface="Sylfaen"/>
              </a:rPr>
              <a:t>α</a:t>
            </a:r>
            <a:r>
              <a:rPr lang="en-US" altLang="zh-CN" dirty="0">
                <a:latin typeface="Sylfaen"/>
              </a:rPr>
              <a:t>=2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4220560" y="4103078"/>
            <a:ext cx="22076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altLang="zh-CN" dirty="0">
                <a:latin typeface="Sylfaen"/>
              </a:rPr>
              <a:t>α</a:t>
            </a:r>
            <a:r>
              <a:rPr lang="en-US" altLang="zh-CN" dirty="0">
                <a:latin typeface="Sylfaen"/>
              </a:rPr>
              <a:t>&gt;2 phase separation</a:t>
            </a:r>
          </a:p>
          <a:p>
            <a:r>
              <a:rPr lang="el-GR" altLang="zh-CN" dirty="0">
                <a:latin typeface="Sylfaen"/>
              </a:rPr>
              <a:t>α</a:t>
            </a:r>
            <a:r>
              <a:rPr lang="en-US" altLang="zh-CN" dirty="0">
                <a:latin typeface="Sylfaen"/>
              </a:rPr>
              <a:t>&lt;2 single phase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4231446" y="5876037"/>
            <a:ext cx="23583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Sylfaen"/>
              </a:rPr>
              <a:t>T&gt;</a:t>
            </a:r>
            <a:r>
              <a:rPr lang="en-US" altLang="zh-CN" dirty="0" err="1">
                <a:latin typeface="Sylfaen"/>
              </a:rPr>
              <a:t>T</a:t>
            </a:r>
            <a:r>
              <a:rPr lang="en-US" altLang="zh-CN" baseline="-25000" dirty="0" err="1">
                <a:latin typeface="Sylfaen"/>
              </a:rPr>
              <a:t>cr</a:t>
            </a:r>
            <a:r>
              <a:rPr lang="en-US" altLang="zh-CN" baseline="-25000" dirty="0">
                <a:latin typeface="Sylfaen"/>
              </a:rPr>
              <a:t> </a:t>
            </a:r>
            <a:r>
              <a:rPr lang="en-US" altLang="zh-CN" dirty="0">
                <a:latin typeface="Sylfaen"/>
              </a:rPr>
              <a:t>single phase</a:t>
            </a:r>
          </a:p>
          <a:p>
            <a:r>
              <a:rPr lang="en-US" altLang="zh-CN" dirty="0">
                <a:latin typeface="Sylfaen"/>
              </a:rPr>
              <a:t>T&lt;</a:t>
            </a:r>
            <a:r>
              <a:rPr lang="en-US" altLang="zh-CN" dirty="0" err="1">
                <a:latin typeface="Sylfaen"/>
              </a:rPr>
              <a:t>T</a:t>
            </a:r>
            <a:r>
              <a:rPr lang="en-US" altLang="zh-CN" baseline="-25000" dirty="0" err="1">
                <a:latin typeface="Sylfaen"/>
              </a:rPr>
              <a:t>cr</a:t>
            </a:r>
            <a:r>
              <a:rPr lang="en-US" altLang="zh-CN" dirty="0">
                <a:latin typeface="Sylfaen"/>
              </a:rPr>
              <a:t> phase separation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4143180" y="5493588"/>
            <a:ext cx="30011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  <a:latin typeface="Sylfaen"/>
              </a:rPr>
              <a:t>T</a:t>
            </a:r>
            <a:r>
              <a:rPr lang="en-US" altLang="zh-CN" b="1" baseline="-25000" dirty="0" err="1">
                <a:solidFill>
                  <a:srgbClr val="FF0000"/>
                </a:solidFill>
                <a:latin typeface="Sylfaen"/>
              </a:rPr>
              <a:t>cr</a:t>
            </a:r>
            <a:r>
              <a:rPr lang="en-US" altLang="zh-CN" b="1" dirty="0">
                <a:solidFill>
                  <a:srgbClr val="FF0000"/>
                </a:solidFill>
                <a:latin typeface="Sylfaen"/>
              </a:rPr>
              <a:t> is the critical temperature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028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947" y="1157418"/>
            <a:ext cx="3751746" cy="5342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862938"/>
              </p:ext>
            </p:extLst>
          </p:nvPr>
        </p:nvGraphicFramePr>
        <p:xfrm>
          <a:off x="4310226" y="1447801"/>
          <a:ext cx="3619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12720" imgH="457200" progId="Equation.DSMT4">
                  <p:embed/>
                </p:oleObj>
              </mc:Choice>
              <mc:Fallback>
                <p:oleObj name="Equation" r:id="rId3" imgW="241272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10226" y="1447801"/>
                        <a:ext cx="36195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10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 bwMode="auto">
          <a:xfrm>
            <a:off x="1447800" y="15162"/>
            <a:ext cx="5873750" cy="1005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Criteria for phase stability in regular solutions</a:t>
            </a:r>
            <a:endParaRPr lang="en-US" sz="2800" dirty="0">
              <a:solidFill>
                <a:srgbClr val="FF0000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2291817"/>
              </p:ext>
            </p:extLst>
          </p:nvPr>
        </p:nvGraphicFramePr>
        <p:xfrm>
          <a:off x="4527556" y="5427410"/>
          <a:ext cx="8667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71320" imgH="393480" progId="Equation.DSMT4">
                  <p:embed/>
                </p:oleObj>
              </mc:Choice>
              <mc:Fallback>
                <p:oleObj name="Equation" r:id="rId5" imgW="5713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7556" y="5427410"/>
                        <a:ext cx="86677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5842657" y="5414710"/>
            <a:ext cx="23583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Sylfaen"/>
              </a:rPr>
              <a:t>T&gt;</a:t>
            </a:r>
            <a:r>
              <a:rPr lang="en-US" altLang="zh-CN" dirty="0" err="1">
                <a:latin typeface="Sylfaen"/>
              </a:rPr>
              <a:t>T</a:t>
            </a:r>
            <a:r>
              <a:rPr lang="en-US" altLang="zh-CN" baseline="-25000" dirty="0" err="1">
                <a:latin typeface="Sylfaen"/>
              </a:rPr>
              <a:t>cr</a:t>
            </a:r>
            <a:r>
              <a:rPr lang="en-US" altLang="zh-CN" baseline="-25000" dirty="0">
                <a:latin typeface="Sylfaen"/>
              </a:rPr>
              <a:t> </a:t>
            </a:r>
            <a:r>
              <a:rPr lang="en-US" altLang="zh-CN" dirty="0">
                <a:latin typeface="Sylfaen"/>
              </a:rPr>
              <a:t>single phase</a:t>
            </a:r>
          </a:p>
          <a:p>
            <a:r>
              <a:rPr lang="en-US" altLang="zh-CN" dirty="0">
                <a:latin typeface="Sylfaen"/>
              </a:rPr>
              <a:t>T&lt;</a:t>
            </a:r>
            <a:r>
              <a:rPr lang="en-US" altLang="zh-CN" dirty="0" err="1">
                <a:latin typeface="Sylfaen"/>
              </a:rPr>
              <a:t>T</a:t>
            </a:r>
            <a:r>
              <a:rPr lang="en-US" altLang="zh-CN" baseline="-25000" dirty="0" err="1">
                <a:latin typeface="Sylfaen"/>
              </a:rPr>
              <a:t>cr</a:t>
            </a:r>
            <a:r>
              <a:rPr lang="en-US" altLang="zh-CN" dirty="0">
                <a:latin typeface="Sylfaen"/>
              </a:rPr>
              <a:t> phase separation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33799" y="6107668"/>
            <a:ext cx="366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solidFill>
                  <a:srgbClr val="FF0000"/>
                </a:solidFill>
              </a:rPr>
              <a:t>The  loci of  the double tangent point</a:t>
            </a:r>
            <a:endParaRPr lang="zh-CN" altLang="en-US" i="1" dirty="0">
              <a:solidFill>
                <a:srgbClr val="FF0000"/>
              </a:solidFill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790127" y="4488460"/>
            <a:ext cx="2498652" cy="1557700"/>
          </a:xfrm>
          <a:custGeom>
            <a:avLst/>
            <a:gdLst>
              <a:gd name="connsiteX0" fmla="*/ 0 w 2498652"/>
              <a:gd name="connsiteY0" fmla="*/ 1547068 h 1557700"/>
              <a:gd name="connsiteX1" fmla="*/ 276447 w 2498652"/>
              <a:gd name="connsiteY1" fmla="*/ 664565 h 1557700"/>
              <a:gd name="connsiteX2" fmla="*/ 871870 w 2498652"/>
              <a:gd name="connsiteY2" fmla="*/ 58509 h 1557700"/>
              <a:gd name="connsiteX3" fmla="*/ 1690577 w 2498652"/>
              <a:gd name="connsiteY3" fmla="*/ 111672 h 1557700"/>
              <a:gd name="connsiteX4" fmla="*/ 2307266 w 2498652"/>
              <a:gd name="connsiteY4" fmla="*/ 834686 h 1557700"/>
              <a:gd name="connsiteX5" fmla="*/ 2498652 w 2498652"/>
              <a:gd name="connsiteY5" fmla="*/ 1557700 h 15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98652" h="1557700">
                <a:moveTo>
                  <a:pt x="0" y="1547068"/>
                </a:moveTo>
                <a:cubicBezTo>
                  <a:pt x="65567" y="1229863"/>
                  <a:pt x="131135" y="912658"/>
                  <a:pt x="276447" y="664565"/>
                </a:cubicBezTo>
                <a:cubicBezTo>
                  <a:pt x="421759" y="416472"/>
                  <a:pt x="636182" y="150658"/>
                  <a:pt x="871870" y="58509"/>
                </a:cubicBezTo>
                <a:cubicBezTo>
                  <a:pt x="1107558" y="-33640"/>
                  <a:pt x="1451344" y="-17691"/>
                  <a:pt x="1690577" y="111672"/>
                </a:cubicBezTo>
                <a:cubicBezTo>
                  <a:pt x="1929810" y="241035"/>
                  <a:pt x="2172587" y="593681"/>
                  <a:pt x="2307266" y="834686"/>
                </a:cubicBezTo>
                <a:cubicBezTo>
                  <a:pt x="2441945" y="1075691"/>
                  <a:pt x="2470298" y="1316695"/>
                  <a:pt x="2498652" y="155770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1125053" y="2689816"/>
            <a:ext cx="76200" cy="76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2877653" y="2689816"/>
            <a:ext cx="76200" cy="76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376330" y="5003527"/>
            <a:ext cx="1526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Miscibility gap</a:t>
            </a:r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7857604"/>
              </p:ext>
            </p:extLst>
          </p:nvPr>
        </p:nvGraphicFramePr>
        <p:xfrm>
          <a:off x="4323851" y="2731532"/>
          <a:ext cx="3410948" cy="668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63480" imgH="482400" progId="Equation.DSMT4">
                  <p:embed/>
                </p:oleObj>
              </mc:Choice>
              <mc:Fallback>
                <p:oleObj name="Equation" r:id="rId7" imgW="24634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3851" y="2731532"/>
                        <a:ext cx="3410948" cy="6681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228383"/>
              </p:ext>
            </p:extLst>
          </p:nvPr>
        </p:nvGraphicFramePr>
        <p:xfrm>
          <a:off x="4269444" y="3800296"/>
          <a:ext cx="3146425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73040" imgH="482400" progId="Equation.DSMT4">
                  <p:embed/>
                </p:oleObj>
              </mc:Choice>
              <mc:Fallback>
                <p:oleObj name="Equation" r:id="rId9" imgW="22730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9444" y="3800296"/>
                        <a:ext cx="3146425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317792" y="2337460"/>
            <a:ext cx="2646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Equation of </a:t>
            </a:r>
            <a:r>
              <a:rPr lang="en-US" altLang="zh-CN" dirty="0" err="1">
                <a:solidFill>
                  <a:srgbClr val="FF0000"/>
                </a:solidFill>
              </a:rPr>
              <a:t>binodal</a:t>
            </a:r>
            <a:r>
              <a:rPr lang="en-US" altLang="zh-CN" dirty="0">
                <a:solidFill>
                  <a:srgbClr val="FF0000"/>
                </a:solidFill>
              </a:rPr>
              <a:t> curve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287485" y="3352800"/>
            <a:ext cx="2682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</a:rPr>
              <a:t>Equation of </a:t>
            </a:r>
            <a:r>
              <a:rPr lang="en-US" altLang="zh-CN" dirty="0" err="1">
                <a:solidFill>
                  <a:srgbClr val="00B0F0"/>
                </a:solidFill>
              </a:rPr>
              <a:t>spinodal</a:t>
            </a:r>
            <a:r>
              <a:rPr lang="en-US" altLang="zh-CN" dirty="0">
                <a:solidFill>
                  <a:srgbClr val="00B0F0"/>
                </a:solidFill>
              </a:rPr>
              <a:t> curve</a:t>
            </a:r>
            <a:endParaRPr lang="zh-CN" altLang="en-US" dirty="0">
              <a:solidFill>
                <a:srgbClr val="00B0F0"/>
              </a:solidFill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429853" y="2613616"/>
            <a:ext cx="159744" cy="152400"/>
            <a:chOff x="1447800" y="2819400"/>
            <a:chExt cx="159744" cy="152400"/>
          </a:xfrm>
        </p:grpSpPr>
        <p:cxnSp>
          <p:nvCxnSpPr>
            <p:cNvPr id="29" name="直接连接符 28"/>
            <p:cNvCxnSpPr/>
            <p:nvPr/>
          </p:nvCxnSpPr>
          <p:spPr>
            <a:xfrm>
              <a:off x="1447800" y="2819400"/>
              <a:ext cx="159744" cy="15240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 flipV="1">
              <a:off x="1447800" y="2819400"/>
              <a:ext cx="159744" cy="15240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/>
          <p:cNvGrpSpPr/>
          <p:nvPr/>
        </p:nvGrpSpPr>
        <p:grpSpPr>
          <a:xfrm>
            <a:off x="2420453" y="2613616"/>
            <a:ext cx="159744" cy="152400"/>
            <a:chOff x="1447800" y="2819400"/>
            <a:chExt cx="159744" cy="152400"/>
          </a:xfrm>
        </p:grpSpPr>
        <p:cxnSp>
          <p:nvCxnSpPr>
            <p:cNvPr id="35" name="直接连接符 34"/>
            <p:cNvCxnSpPr/>
            <p:nvPr/>
          </p:nvCxnSpPr>
          <p:spPr>
            <a:xfrm>
              <a:off x="1447800" y="2819400"/>
              <a:ext cx="159744" cy="15240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V="1">
              <a:off x="1447800" y="2819400"/>
              <a:ext cx="159744" cy="15240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任意多边形 36"/>
          <p:cNvSpPr/>
          <p:nvPr/>
        </p:nvSpPr>
        <p:spPr>
          <a:xfrm>
            <a:off x="1102827" y="4496368"/>
            <a:ext cx="1873251" cy="1557700"/>
          </a:xfrm>
          <a:custGeom>
            <a:avLst/>
            <a:gdLst>
              <a:gd name="connsiteX0" fmla="*/ 0 w 2498652"/>
              <a:gd name="connsiteY0" fmla="*/ 1547068 h 1557700"/>
              <a:gd name="connsiteX1" fmla="*/ 276447 w 2498652"/>
              <a:gd name="connsiteY1" fmla="*/ 664565 h 1557700"/>
              <a:gd name="connsiteX2" fmla="*/ 871870 w 2498652"/>
              <a:gd name="connsiteY2" fmla="*/ 58509 h 1557700"/>
              <a:gd name="connsiteX3" fmla="*/ 1690577 w 2498652"/>
              <a:gd name="connsiteY3" fmla="*/ 111672 h 1557700"/>
              <a:gd name="connsiteX4" fmla="*/ 2307266 w 2498652"/>
              <a:gd name="connsiteY4" fmla="*/ 834686 h 1557700"/>
              <a:gd name="connsiteX5" fmla="*/ 2498652 w 2498652"/>
              <a:gd name="connsiteY5" fmla="*/ 1557700 h 15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98652" h="1557700">
                <a:moveTo>
                  <a:pt x="0" y="1547068"/>
                </a:moveTo>
                <a:cubicBezTo>
                  <a:pt x="65567" y="1229863"/>
                  <a:pt x="131135" y="912658"/>
                  <a:pt x="276447" y="664565"/>
                </a:cubicBezTo>
                <a:cubicBezTo>
                  <a:pt x="421759" y="416472"/>
                  <a:pt x="636182" y="150658"/>
                  <a:pt x="871870" y="58509"/>
                </a:cubicBezTo>
                <a:cubicBezTo>
                  <a:pt x="1107558" y="-33640"/>
                  <a:pt x="1451344" y="-17691"/>
                  <a:pt x="1690577" y="111672"/>
                </a:cubicBezTo>
                <a:cubicBezTo>
                  <a:pt x="1929810" y="241035"/>
                  <a:pt x="2172587" y="593681"/>
                  <a:pt x="2307266" y="834686"/>
                </a:cubicBezTo>
                <a:cubicBezTo>
                  <a:pt x="2441945" y="1075691"/>
                  <a:pt x="2470298" y="1316695"/>
                  <a:pt x="2498652" y="1557700"/>
                </a:cubicBezTo>
              </a:path>
            </a:pathLst>
          </a:cu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164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r>
              <a:rPr lang="en-US" dirty="0"/>
              <a:t>SUSTC  |  </a:t>
            </a:r>
            <a:fld id="{C915B95C-5458-41FC-90FC-CACA4B5603F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" name="矩形 1"/>
          <p:cNvSpPr/>
          <p:nvPr/>
        </p:nvSpPr>
        <p:spPr>
          <a:xfrm>
            <a:off x="3581400" y="5464314"/>
            <a:ext cx="4796658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effect of temperature on the activities of component α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derived from the </a:t>
            </a:r>
            <a:r>
              <a:rPr lang="el-GR" altLang="zh-CN" sz="2000" dirty="0">
                <a:latin typeface="Sylfaen"/>
                <a:cs typeface="Times New Roman" panose="02020603050405020304" pitchFamily="18" charset="0"/>
              </a:rPr>
              <a:t>Δ</a:t>
            </a:r>
            <a:r>
              <a:rPr lang="en-US" altLang="zh-CN" sz="2000" dirty="0">
                <a:latin typeface="Sylfaen"/>
                <a:cs typeface="Times New Roman" panose="02020603050405020304" pitchFamily="18" charset="0"/>
              </a:rPr>
              <a:t>G</a:t>
            </a:r>
            <a:r>
              <a:rPr lang="en-US" altLang="zh-CN" sz="2000" baseline="30000" dirty="0">
                <a:latin typeface="Sylfaen"/>
                <a:cs typeface="Times New Roman" panose="02020603050405020304" pitchFamily="18" charset="0"/>
              </a:rPr>
              <a:t>M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23928" y="1788453"/>
            <a:ext cx="433991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/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Activities obtained from the intercepts, with the </a:t>
            </a:r>
            <a:r>
              <a:rPr lang="en-US" altLang="zh-CN" sz="2000" i="1" dirty="0" err="1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X</a:t>
            </a:r>
            <a:r>
              <a:rPr lang="en-US" altLang="zh-CN" sz="2000" i="1" baseline="-25000" dirty="0" err="1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B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 = 1 axis, of tangent drawn to the free energy curves as: 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766776"/>
              </p:ext>
            </p:extLst>
          </p:nvPr>
        </p:nvGraphicFramePr>
        <p:xfrm>
          <a:off x="4572000" y="2971800"/>
          <a:ext cx="1947862" cy="503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28254" imgH="266584" progId="Equation.3">
                  <p:embed/>
                </p:oleObj>
              </mc:Choice>
              <mc:Fallback>
                <p:oleObj name="Equation" r:id="rId2" imgW="1028254" imgH="2665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971800"/>
                        <a:ext cx="1947862" cy="5035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4218295" y="3581400"/>
            <a:ext cx="431262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At </a:t>
            </a:r>
            <a:r>
              <a:rPr lang="en-US" altLang="zh-CN" sz="2000" i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T = </a:t>
            </a:r>
            <a:r>
              <a:rPr lang="en-US" altLang="zh-CN" sz="2000" i="1" dirty="0" err="1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T</a:t>
            </a:r>
            <a:r>
              <a:rPr lang="en-US" altLang="zh-CN" sz="2000" i="1" baseline="-25000" dirty="0" err="1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cr</a:t>
            </a:r>
            <a:r>
              <a:rPr lang="en-US" altLang="zh-CN" sz="2000" i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and</a:t>
            </a:r>
            <a:r>
              <a:rPr lang="en-US" altLang="zh-CN" sz="2000" i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X</a:t>
            </a:r>
            <a:r>
              <a:rPr lang="en-US" altLang="zh-CN" sz="2000" i="1" baseline="-2500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B</a:t>
            </a:r>
            <a:r>
              <a:rPr lang="en-US" altLang="zh-CN" sz="2000" i="1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 = 0.5</a:t>
            </a:r>
            <a:r>
              <a:rPr lang="en-US" altLang="zh-CN" sz="200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, 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the activity exhibits a horizontal inflexion</a:t>
            </a:r>
          </a:p>
        </p:txBody>
      </p:sp>
      <p:sp>
        <p:nvSpPr>
          <p:cNvPr id="11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1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14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 bwMode="auto">
          <a:xfrm>
            <a:off x="1281420" y="-76200"/>
            <a:ext cx="5873750" cy="1191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Criteria for phase stability in regular solutions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23" name="image1290.png"/>
          <p:cNvPicPr/>
          <p:nvPr/>
        </p:nvPicPr>
        <p:blipFill rotWithShape="1">
          <a:blip r:embed="rId4" cstate="print"/>
          <a:srcRect t="64680" r="8563"/>
          <a:stretch/>
        </p:blipFill>
        <p:spPr>
          <a:xfrm>
            <a:off x="152400" y="3857070"/>
            <a:ext cx="3497448" cy="2769562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V="1">
            <a:off x="790353" y="4478218"/>
            <a:ext cx="2541182" cy="1834654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82044" y="5845398"/>
            <a:ext cx="777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CN" i="1" dirty="0">
                <a:solidFill>
                  <a:srgbClr val="FF0000"/>
                </a:solidFill>
                <a:latin typeface="Sylfaen"/>
              </a:rPr>
              <a:t>α</a:t>
            </a:r>
            <a:r>
              <a:rPr lang="en-US" altLang="zh-CN" i="1" baseline="-25000" dirty="0">
                <a:solidFill>
                  <a:srgbClr val="FF0000"/>
                </a:solidFill>
                <a:latin typeface="Sylfaen"/>
              </a:rPr>
              <a:t>B</a:t>
            </a:r>
            <a:r>
              <a:rPr lang="en-US" altLang="zh-CN" i="1" dirty="0">
                <a:solidFill>
                  <a:srgbClr val="FF0000"/>
                </a:solidFill>
                <a:latin typeface="Sylfaen"/>
              </a:rPr>
              <a:t>=X</a:t>
            </a:r>
            <a:r>
              <a:rPr lang="en-US" altLang="zh-CN" i="1" baseline="-25000" dirty="0">
                <a:solidFill>
                  <a:srgbClr val="FF0000"/>
                </a:solidFill>
                <a:latin typeface="Sylfaen"/>
              </a:rPr>
              <a:t>B</a:t>
            </a:r>
            <a:endParaRPr lang="zh-CN" altLang="en-US" i="1" baseline="-25000" dirty="0">
              <a:solidFill>
                <a:srgbClr val="FF0000"/>
              </a:solidFill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2342707" y="4947404"/>
            <a:ext cx="346393" cy="469884"/>
          </a:xfrm>
          <a:custGeom>
            <a:avLst/>
            <a:gdLst>
              <a:gd name="connsiteX0" fmla="*/ 0 w 346393"/>
              <a:gd name="connsiteY0" fmla="*/ 520995 h 520995"/>
              <a:gd name="connsiteX1" fmla="*/ 318977 w 346393"/>
              <a:gd name="connsiteY1" fmla="*/ 244549 h 520995"/>
              <a:gd name="connsiteX2" fmla="*/ 308344 w 346393"/>
              <a:gd name="connsiteY2" fmla="*/ 0 h 520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393" h="520995">
                <a:moveTo>
                  <a:pt x="0" y="520995"/>
                </a:moveTo>
                <a:cubicBezTo>
                  <a:pt x="133793" y="426188"/>
                  <a:pt x="267586" y="331381"/>
                  <a:pt x="318977" y="244549"/>
                </a:cubicBezTo>
                <a:cubicBezTo>
                  <a:pt x="370368" y="157716"/>
                  <a:pt x="339356" y="78858"/>
                  <a:pt x="308344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609"/>
          <a:stretch/>
        </p:blipFill>
        <p:spPr bwMode="auto">
          <a:xfrm>
            <a:off x="28426" y="1323394"/>
            <a:ext cx="3751746" cy="2486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096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data:image/jpeg;base64,/9j/4AAQSkZJRgABAQAAAQABAAD/2wCEAAkGBxITEhQUExQVFhUXFxwZGBcYGBgaFxwYHBwcGBcdGBweHCggGB0lHBwaITEhJSwsLi4uHB8zODMsNygtLisBCgoKDg0OGxAQGzAkHCU0LC00NCssLCwsLC80LDAsLCwsLywvLCwsLCwsLywsLCwsLCwsLCwsLCwsLCwsLCwsLP/AABEIAQcAvwMBIgACEQEDEQH/xAAcAAABBAMBAAAAAAAAAAAAAAAFAAQGBwIDCAH/xABNEAACAQMCAwUDCAUHCwMFAAABAgMABBESIQUTMQYiQVFhBzJxFCM0QnSBkbMkUqGx0RczVGJyksEVFjVDU3OTstLh8CWCoghEY6PT/8QAGQEBAAMBAQAAAAAAAAAAAAAAAAECAwQF/8QAJxEAAgIBBAICAgIDAAAAAAAAAAECESEDEjFRIkEEE3GhYcEUkfD/2gAMAwEAAhEDEQA/AKQdzk7nrXms+ZpP1PxrGgMtZ8zS1nzNY074pw2a3kMU6NHIuCVbqMgMPxBBoBtrPmaWs+ZrGnV9w+WHl8xCnMQSJn6yNnSw9Dg0A31nzNLWfM04FhLyefoPK5nL1+HMKlgvx0gmmtAZaz5mlrPmaxpUBlrPmaWs+ZqU8D7AcQvNPKg0ggbuwXI/Wwxz+AqYxewa8KjVcQq2+oYYgeWD41DklyE74Kl1nzNLWfM1bw9gl1/Sofwf+Fe/yB3P9Lh/uvVfsj2CoNZ8zS1nzNXCPYFcf0uH+49YzewS4AJF3Dt5qwH40+yPZNMqDWfM0tZ8zUv457Nb+3QyhUnhG/NgdXXy6e9+yoeRirJp8EHus+Zpaz5msaVSDLWfM0tR8zWNKgOzeyX0Gz+zRflrRahPZH6DZ/Zovy1otQHDzdTWNZP1PxrGgJP7OOFLcX8IkIWKImeVicKI4hrYsfBTgAn1qx+IcGiv73h1xPJb3Otp4pzAzPEXjV57dDsGyyYUjG+nbrVL291ImrQ7JrUo2liNSHBKtjqpwNjtsKzt+ITRrpSWRF1B9KuwGtfdbAPvDwPUUBbd5Y2MTTXHySJ2SwMrRPbywQGRbhER0jc6gCCQQDg6T+tWXD+ERO8MxtoXUcOtmYNHJKqvLI4ykCZMhONO5AUb+lVPc8ZuZGdpJ5nZ10OWkdiyA5CsSe8uQDg7bVlBxu6QgpcTqQnLBWRwRGOiDB9zc93pQFhe0Lh0dvZ3sUS6Y14sulfAA2zNgegztURik4S6rrS9hfABKNFMmfE6WCHc+Gqg11xOeQESTSuCwYhnZgWC6AxBO7Be7nrjamlAShezdpKQLfiMJY/VnjlhPoAQHUn76sTsl7N2tF5kiJPc+AVldIvI4G7N45xUQ9lHB1eWS6cZWDAQHoZWzj+6Mn8KsyQHJzuR41ScqwcnyNWvFAr2d8F4nBxVmnkZIO+W1EgSAghcKRsQSDvjp41cpuF/WX8RVawX8y+7I+PIsSPwO1bDxNj78cT/ABQKfxXBrm1fP3ROn8mlTRYhu0/XX+8P414b2P8AXT+8P41XTT27dYnT1R8/sYH99YG2t292Yr6SRn96Fv3Vj9T9Mv8A5P8AH7LGPEYv9on95f40M7RC2uraa3edFEqFSQ65APj1qFJwWSSRY4nictnvB1OgAe8yEq7Lq0juj61aOMdl7i1XVI6SB3AzFCwwQrHLksxVdsdcElc4xvK05LLf6NI6smrr9mq0t7bhPD5LSO4+USTOXZlHcXIA3IJCd1NgTknPgNoP2g4GlyCygLMOh6avR/X1qeWXYrmaXmfusEZUi1tq2JVn5hK5Go7EEdfWmnFuyZiDyxTErGhZ0lGJML+qVGGz92PvotaCnW7yJ1NHVa3pFG3VvoOCd/rDBBVs7qc+P8a0VMu33DgNE6/W7r/2gNj+G1Q2u+MtysiEtysVKlSqxc7N7I/QbP7NF+WtFqE9kfoNn9mi/LWi1AcPP1PxqQdluzC3Mc801wttbwaA8jIznVISEAVdz0OT4bVH36n41OfZleNGLjk3sdtcHRhLjT8mmjGdYfKnDLnI+Jx40AA4r2XnjuJYYh8p5YDcy3DSIUYBlY6QdOx3z0OaHJwydk5ghlMe3fCMU3bSO9jG7d347Vb1zxS1czRWF9BZOt3FNLKpMcTqIQsphH+sVZNR5Z2bJ+NDuG9qoIv8kK9zrhS5uXuAMqDmbVDJLEOm+HAOcb4oCtX4PciVYTBMJWGViMbiQjfouMnofDwpQcHuXYokEzMraWVY3LBsE6SAMg4B29D5Vc3+cdsLhYXmtjIbWdElW6nZQ0ksbhHuSNSalRiCPd1Y8dxfEe1kYa9aK4iSQzWC64pWPMEYfmsHbDPgaVZvHTnxoCoXQgkEEEHBB2II6g+VY0d7dTxycRvHjZWRriRlZSCpBYnII6g9c0JsbYyyxxggF3VAT0BYgb/jQFw+zy30cNiOMcyR3Prg6V/YKkFNLi1axhtLTMZYMYjIzFYQcsSzHGVG34mtlreCWKOUDTrXVpzkA5KnBwMqcZBx0IrGfJ5urCVufodNitTCvEbPiKzK/A1k1ZRLBqavM16+AN2ArDWvmNutVomjK1uJIZ0uIgpZQyMrHAaN9JYasEqcqpB8xvTi/wCO3LhVQyQxoS3880krsQRhm8EGc6cnJA6AbspJVB94U2muwpHQ5zjdQNuu5IFRm8G0NSaWxEy4bdK6RyhyEeIBXGcKRgOp/VPdO/Wm/ai8VoJnJyqwNGW8GZ10gDz3y2aA/wCcDK1ukGmBRy+cXdGV1IUB+WMHJTckA52rAcfkeOeOfRLzNSxvkroVhg9zB36+I229a5X8VqVt4u/7/wCwetL5UFGnzVEc4xw5ZLSVXcJhGcMempAWUf8AuPd++qlq7eIQiSCVc7MjDPltVT9qeDGzu5rYvr5TadYGnOwOcZOOteloPB53xnhoFUqVKtjpOzeyP0Gz+zRflrRahPZH6DZ/Zovy1otQHDz9T8axrOVcGsKAmPEvZrfwxPKwhYRpzHRJUaRY8BixTrgA5PpUOroTjXDzzbuVrNYY3sip4iJctj5OgI5RYjcjl4AB8jTabhUQsIluljMKPYEOscSQ8tnUTGNgxkfZsSO5AJ6AUBSfA+ES3UwhhwXIZhk4GEUu2/wBrO44HMltHdPpWOV2WME999PvMq9SgO2rz2q4bSG7Xidub2K3RRJeLEIwiTNAIXI9zumIDZWPezUM9ogW7tbPiMCaIinyZ4QcrA8edAXyVl3Hw33NAQzhC25kxctKseD3olVmDeB0sQCPPfNWR2J9miXWZre6WQRSI8b6JEDaTlkkRlyjbbMpYdc+FVWy4ODRXgnFbpJIkhnlTLqAFkcDJYeAOOtAdIXvB3muFhlcpzFL5XSTkA6gNSkHdt9j4V6fZopJJvbo9MfzGB93Kotc8wcQs11NoEMuodQWwmM+vXf41JqpFIp9cSB/yaJt+mXR8/5jf4fM7VsHs0h/pV3+MP8AhFU4pVal0Prj0QNvZhBv+k3XoCYtv/1ZNL+S+3yM3Fzj+2mT/wDDH7KnleYpS6J2R6IL/JZabZmuvX5xN/j83t92K3QezSyUkl7hh5GTp94AP7ammK8am1dDbHoig7AWA6I/QD+cfoBgePkAPurVL2Ish/q2/wCI/wDGpRI1aHOaq4x6LbV0Vp2j4bHBMsMS4V4ixySdySvj6VSHa66Mt3K5zk6c58wig/uq/O2y/pkP+5P/ADmqB7WR6budfJ/2YGP2VSC82Ywdakl+ATSpV7itjY7M7I/QbP7NF+WtFqE9kfoNn9mi/LWi1AcPP1PxrGsn6n41M+xZgisb+5ltobhontlQShsASGUNjBB8B+FAQvNLUfM+X3das3iHZmCRZZLaKKNbi1tZlRyzcl5pjCwjby1Kd28DTK/9mLJdwWq3Sl5WkQ64ZY9JjTXkBx84hxgOu1AQBnJ6knAx93lXmasXhfYyGNJphLHdwPYXbRyBHXTPCBnutvlcgg+Oaap7OdUMUq3aMGkgjkIikCIZ9lKyHCzaSQG0nbxoCB0b7E2/M4hZpjrcRfhrBP7K28c7LPawc2RwGNzLAseDkiE6XfPgNfdx6Gnfsr/0tZf70fuNQ+CVydPXIzew7HaNjnw6EUaoWfpQ9I/8TRSqwdqyqFSpUquSKvK9pUB4RWMgrOsXoBsyVpkG/T8K3Oa1t6VDJRXfb6dUu4ckDMJ/HXj/ABA/Cqe9pr/pQTRGAEVg6rh31gNl2+vjoPIbVZntfEpurfkqWYQnoMlTrGkj1zj0qou2M0rzKZlCvy1BUbYAzpGMnG2NvCqKPluM1GptgGlSpVoXOzeyP0Gz+zRflrRahPZH6DZ/Zovy1otQHDz9TUj7LdpIbeC5guLX5RHO0TEc1o8GLWRuoyff/ZUcfqfjUm7JcItmhuLy85jQQGNBHEQrySSE4Go+6qhST91AO7zt8z/KB8njEckUMMcQJMccUDh1Ujq4O+enU1JuBe0SKa9slaMW8EcssrNLO8qhmhdAqF8cqLfAQbbjpUTl7MRXc7f5NfMAiWSRrhhGICxwY5HbCsdXQjrnxwTWNp7Pb55JY9MaGKVYnMkqIA7jMeCT3tW2MZzqHnQD1+3yLGYYLVYoPk08QQSMx5lwAHkLEbgYAC+Q6+Tvi/tA+WxNbCEQPO1uGlad+UjREBSqkaYY8ZJ09Ou+KZp7Obg20Tgp8oku3t+UZIxgrhfPOrXqyPAAHxpvB7Ob53dByMoyoSZ4wplYahEhzhpPNR0++gCntK4it/fQQQywFY4gpk1hYGnbMkzBzt3m2z4ketaOw3Abq14vYi4hePMw0lh3G2PusO633E0I47wBYLG0mIZZpJJ0lUnYGJwgAHgRvmn/ALLOLXC31vbJPIkMz6HRW2w3ioOQreTDcVD4JXJ00WxdqPOP/E0VqGtaX8FwOVKl2Amyz4jkxk7c2NdJ9MpnzPiCCdrokOm7jltG85l+a+6dcxfcWB9KiCpFUSKlWEMquAysGU7ggggj0I61nViRUqVeUB7WEgrKsZKAbOKyYik61rk9KqSVF7ZrjTcRHfSLZ84ODgvnb4af3VS/Gr0zOHPljrnxP8auL22D55cjpaNj175/d/jVNyq2hsHC5GoZ6nfTt4+NSuLKRzJoY0qVKpLHZvZH6DZ/Zovy1otQnsj9Bs/s0X5a0WoDh5+p+NSXspxi2WG4tLwSiCco4eIKXjkjJ0kK2AykMQfuqNP1Pxor2d7NXV6zrbR8woAzd5VwCcD3iPGgJRH2k4YflNoIp4bOWKFRIgRpzJC2rmSKTpOvJBAO2B64ccQ7eW0gkUJKq/KbRowQpbk2yaO+c++cZ8t+tQnjvA7izk5VzGY3wGAOCCp6FSCQRsenlTaCxldGdY2ZFZVLAEgM2dC58zg4HpQFk2vbuy5vNcTgpxSS7QBFOqKXSCG7+zAA7dOm9CeAdp7LkpFeC4HIujdRNCFJfOCySamGDkDDDzP3wm6t3jdkkUq6kqykYII2II8CK1UBLe2HamO8ghUKyyCe6mcbaRz5OYoU5ycfCtXsw/0tZf75ai9Sj2Yf6Wsf9+tQ+CVydUyD9JX+wf8AGiDoCCCAQeoO4oFxjiqQTqz5xo8MeZ86wt+18L50hj9w/jVYtUZb4puz2bshADqtmktH65t20IT/AFoiDE+fVc+oO9Yc/iUHvxxXkY+tF8zPj+w55bnruHT4V63bCEAkq2FGT7p2/Gk/a1FOHilTLFQTowWUZZRhic4B9NqtaJU4tWOLHtVayOImYwzHpDOpikP9kNs/xUkUaJqCcf7a2hUxz2/MRuquEZT8QTUC7R8Zga2aGwkmhzj5t5vmQQQQ0YYO0RUgFQjIBt8DG6PY+yPZfNYsaqn2ddvb19MF4iTf/njdNQGCfnE8enVd/MdTVjC6uMn5gY8O+v7TVi6d8Dtq0uPKmr3Vx4Qb+XMA+/Pj+FaWubrUP0cadt+aCfwwMfHP3VBJWXtqhJlUj+jMB5511SE6DDaiwfbSMbY8Sc9K6R7WcFvLmaKSOIIY1Zf5xTnJBGNwQdqpv2sqBdqrauakapIDjTlVAGD476s/d61W2nRSKe5kIpUqVXLHZvZH6DZ/Zovy1otQnsl9Bs/s0X5a0WoDh5+p+NWB7K7YSQ8SQ2z3QMMXzCMUZ8TKdmG4xjV8FNQa1sZZnKRRvI250orM2PE4AJxShuZoWYI8kbdGClkO3gcYOx8DQF1zcGJmhYWqqIuHHTZzR/KpYfnyoKRkjms2TguQFBPlTi9QW5vooLaEJHxCycryVOhXRXZiPqgNnB6KCwHWqMXiEwcyCWQORguHbUQRggtnJ22pC/mww5smGUKw1thlXZQwzuB4A9KAvm34RHJc3ry2cbyNxFonQWiyE2wTUh3dRCZMsxn8WANRS2urO2ThSfJbZ4biWdZZZYUaUxi5kiQ6iDgqpzkb7AZ2FVo3FJyWJmlJddLnW2WX9VjnvD0NZ8LvwksTSx8+OMnELswQ5ycbHIGo5wOvjQEn9pHCI7M2tiiLzY42aVwq63eV2KKzAZbSgXH9qiHs67F8Rj4jaTSWsyRpKrMzrpAA6nfBqGdo+NS3dzLcS4Du2cDYKBsqr5AAAfdTzsSZW4hBy2PNLnS2d86T4nxPrRkN0rOiePcOYzJPG0Css5Znc5OkAhdY1DUobB0gg9PWtUHApZDFPJLBlECEIshAGsSEe9gnVkasDIPhQvjl/DI/d1HCjCMBzNWGDDxYZJXGOhyemKh3aJHEq4LgaO6oZ0Ve/JkADHQjHTwqYx9GSkpFiw9n9Lq2XkQgKylJGBXCLsWlGnBUnPQA+QrXx2Owh1FZJ3kUHCmZ3XV3Sf5zUA2HG4GSCRvjFVnySR78vw5kn/VWfZ60Pynu627g7oLMxfmLpKgnqBq/EVZwpZJaVYDUMkFwHaTUVC93SCwDeI3x44G4pvJY2/JVtxMG3GO6V8//AD1+5/Pxd1uLopq1Nu4lQtvpCaQ2g6n6DBC41AVFOM8WnikZEiVlBIBIfcA4zt4ZB/CqxSv/AEWtLxX8h+6jiinh+TmQE++GGOu2B6Y6/dV7IapDsxfz3xjlmidjEeWqqgXLNnAUn3vNmOAuMn1vBRVVdUy1pvAmrWT6VsIrDFSSaWrl/wBs5/8AVJ/TH7s/41fFnZ8UHFJ5JJUNgV+bTIyDhcALjIYEMSxO4PwxQvtiGOJz7/W23JwCFON/XO1QQ2QilSpVJJ2b2R+g2f2aL8taLUJ7I/QbP7NF+WtFqA5W4VezW3BpZrV2ila+EcskZKyCIRao11DdVL6viRiilxad25v+L2pmm5kEXJVjDs8ermuU3LMoGPXOfIQngPaW7sndrWZoi2zYCkEDOMhgQcZONtq3cO7Z38E0s0dw4kmIMrEK2ojdSQwIyPA428MUBYUHYvh0EvJmhefXxP5Ijc1kKRvFFIpYLszIX9M758BTXhHZPh5S1hkhd5bn5cvO5rLoNsXMbBBsxIXBHT0NV/F2lu1KkTNlbj5SCcE8/Ycwkjc7Drt6VlH2ovFaJhMQYeaYzhe7zs87w31ZPXz2xQE7k7GWHyKJSyJcvaw3AlMrmQtKy91odOgRBWwHznUB50R4Pwuwi4tBFDYzD5PdmBpmkZ4nPLJVnyO7IGGoKMDH3VWr9rL02otDO/ycADl93oDkLqxqK5305x6U4u+3PEZTCz3TkwMHjOFGHAwGOB3zjbLZ22oCacN7P8Ple2SS2kL8RmuAjrK36OqOyKFHSUgjJLeFZ9n+H2lvPwYRwH5ROqzPNzGIAHMUhU6d7AOfDAx1NQqLt3xFVmVblwJmZ5AAg7ze+V7vzefHTivezfHJzd2jM5PydSsWw7qgMwXpuMk7nzpdZIfBcl5w4PGFaVu5llj5MTAlWKqpJj3Bj3yT1PXNR7jijnIFXTiIHThQR35CdlYgdfAkUd9l9vcXANzd3spV1LG2ePQmP1kL7lVJA1IMZ2yacdpWs3TmvCypEpKvH/OaTnZ8g5O+fMZx50jLazFtxxIhTy433/8APKnfY+dPlYPdzpBAY6RgOM7+W+PvFELqKxFvHNy7jS4yMuoZgAc4DKP1TTiztoYT83HDIdYJJmRyVDZUYUdzrqBKnOjrtvo5pqibSyBu2szEyRKiFedK4InbqSucoU2AYZyd+g8K2dk7cPLHGFwucMwkVwA+llXYYYgat8eh6b7e0izytr0d0ZwsZlfAYknCgYBLat8Dc/iU7PMpmTAZWDRq+piZMqAO+GOtTjAwQOhHgaztNYKylZa3COHRwxhY1AGP37/+HxrbxKSVYpGhUPKEYojHAZwO6CfAE7ZrbbjCL/ZH7q2UOga8MuWkijd42idlBaNtypIyVJ8cHalxGflxvJpLaVJ05xnHqelOqbcTUGGTIyNB2+7NAD247bf7TH/tfH7q5v8AbKVPEpHU5VwrDbHgB/hWz2gccuknVUZkRVBXG2SetAO1N48y20kpzKYsN9xIU+mRg/fVE3gxg5SpuqAFKlSq5sdm9kfoNn9mi/LWi1CeyP0Gz+zRflrRagOHn6n41P8A2ZcBS4t71/kQvZY2gEcZkaPZ+ZrOQw/VFQB+p+NG+Ecf5FpcwKGDyyQSJIDjQYS7fHOWGD6UBY9v2RtPlF2I7FZpI7WCQ2huDpindiJY+bqGcLg7k9cVDYuGxycZht5LVbdDNHG9ushkAzpDd/JJz12PjTjj3bmG4W7Itykt3BCkpBGgzRvqaQDH1gBt5jNRHg3EWt54Z0ALRSK4B6EqQcH0OMUBLOG9nIZouJAKBJHdQRQsS2EEkzRnx3GMdc9Ke2Xs7aK6tw729yrXLW8iBpFCyqpfS5C53XfK58q1X3bm0UEWlo8XNuY7i4LSa88t+YEj22Gok5Ne2XtDjSXmclj/AOove41D3XjMejp13zmgGnaPsgkdvw9rdhJPdasxKWJ1asALkAYX3DvknJ6UY9n3DrS14hbRyMLi7ZypVGzBB3WzqYbTyeGFOgZO5IqLdoe0UVzaW0XLdZYDINWoaDG7lxtjOrJG/TasvZnME4pZk9DKF+9gVH7TUoiXDL2vZIxKSCA0oXJAPeAJ0AtjZRhsKSAMVHePRqlpIMBjIARknukA+73gOgJ9TjxAr28WNlaLQrnnyMBscY0ajjOep64JBLb4NOLWeGSBVBLhYwBrBjJO6EFevXWMfs6VG1rJxuO3yRHruP8AQ4UBZmBIYHSdLamJUYJ22/YaY8Nsy3MwxXEZyyg5H4Y8iMddzUnvdOWjKt31XJJymWdife72osTkbePXOza1lZSivywO5jlwhZWBwikkv3gTjc+O9W5Rpue3AU4ZcnvvGrRqeUmg8oHKalkOFzkFhnIPXc+uMkba5ZFZtRfWcHctgEkDYAk+WM7ZNauK8U5EkEbK5E+CjBe7g4xk/eOlPHJXPkevocYz8POsHKV9GOpKXszh49dt0lk64+qMb43yQR5/D12p9bdoZztzWz+/9lArLhyISw94HvDJ94Yx9bfbH/gGHCxZUee+Px8fSjmQ5vsN/wCWpyR89p36scKPVjjpQW649dksObMCemMAYPNVMHIAyTH+HhvXttcaiV+uvUDr/wCbH44rF7bUXOVA0qvUatWWYEDxA8/++KKTi8kx1JLgaT8LhlVeaFcgnCkNrAzkaidjnPgT0/CsvafEq3SBQABEoAGw8fCrWuVBlDCJABowdWSgyQQCw1MGO53GDjrtVU+1J83gHlEmfvyaabbkawilNNeyH0qVKug6js3sl9BtPs8X5a0WoT2R+g2f2aL8taLUBw8/U/GsayfqfjWNAKlU14Lw3h8FnDc38csxuZXSNI30aIo8CSQ7d5tRwF6YFF+BdnOHm3lmW2ur5flphi5RZJOVoDqzKF65OPDc+FAVnSqeduuyVvZwymIszLfvCGY78vkRShWA21KzkE+lNe0/Y1hxC7t7NBy4GUYeWNSAygjeRl1b56UBDaJ9mZtF5av+rPE34Opol/mNeeIgHxurb/8ArWUfY26QhuZaAqc73dv4b/7SgZ0BxfhkbW+pERJHmnUyBRrIIm2LYz4Db0FVzFfQwqVbmKS5CGMzZ7rBSToGAFbUV9cmralspJbdOUYzuXHe21Mpz3hqDbsT5biqx7ZcJeLkq5UFldu4wYe8M9AM7k74H34qdPmjKSuuqEON2Zk1srONQOD8oBKgtgFtHXBU/FPWmkvFbYkMdWe59SdsBWiOBlcEYWTc9S2TvTdRt4nbr+6vSw9c1otPPJDrocMEItLmInTGgMmpGI1ITrKqQcZKkb7AsvgCaM3fElUmMAnUobO+BkgHO2kHcHTn1xihVpGnKgBaNS2sDWJMFjLKDuDpyRnY9aIHgx5h06QNIBJGCTqDFsg/1fFT4VlKvZhN5p8BCC5RmlKspGodCP1RTSG/04UjOXCjSOgOoEnvb4I36Y/bWkQJApXPMLHuhskjr0yScHP7KFPwq4eVo1mTKkOAythQSdGCE0g9dgT41kobm6IjFO6MmV/lvNBYfV93u4zI2/fyd1Tw21/DM5k4TKAp5b7gZJ0nLHdtOk7L5Z386gQs7nkvN8pTQmQwKyZ2ODgaN99qnPZa/m5ISZlaRTgMzOMggNjGNiowMH7qz1ozSTo0UE1UlQPu2eORUMfvaCSSAVwXIODuQdxkef4U17QZtV/N6aV/BQKurjshNzECygqAu4BZ8sSNJY5UgZONyd/AHFDdp5td3cN5yt+w4qdHs0hFJquv7BdKlSroNjs3sj9Bs/s0P5a0WoT2R+g2f2aL8taLUBw8/U/GsayfqfjWNATLgXH7FrWK24hHOwt5WkhaEpkq+C8ThvqlhnI33r257blbWaK0Eto0l404ELlEWEx6BHlSCTkA9MbZqM8H4XLczRwQrqkkOFGcepJPgAAST5A1IZ/Z7drJCitBIJuYEkilDxaolLyKzAd1gAdv4GgMuA8esmtGteILcsBcm5WSEoWZmQI6vr8DpBz1z5eIftbxn5beT3IXSJXyFzkgYAUHzOAKIjsDelbJgEIvTiHDegPf27uxz4+NBeO8JktLiS3l08yNtLaTkZxnY+PWgGFKlSoDoSxmuJLO2kV20NawoVwTH/qlPQZGfnOn6o6ZoV2pvJJDDzCCVV17oIGMoehJPj50X9n/ABKI8HthMGIw6nCswCpId3wDhemSdqJXfZkXRhdHSJlDqVWLMbA7DIGw6Hf4b7Crp5MFy0QIMKxbFS667AOmdVxAoG+WJXb7xWMXYiE4Et2uc40xDxAJI1MMA4Gela7kGxpwW21WqncEI2kgN7wmlyeuk+GxBo1wOwnmjchQ2JCB3lBxgEZGcjr94xRCG0htkWOBAwx7zlnOSxfpsPreX7qyt+LzKjAHByRsAAoy2yqBgH1rkk1lMym4t5I3xHhMsVxGkkUAR3Byyo0+dceNDK+pRjVvp20N11beSSMmo7FRMSFAw2ptK4z4jA2zQefh+b1ZmuANU641SNklSFIwTjJIIx60dupAGLHfDYx+G+PTNb6MUzS8KuhWxkV8EplETfSMZjKEZHmcH40raMAk7ZJwcZ8FU+PxNPIyuvGxBGc5G/T+NYNhnwuPex/8UFRrwioY/gz1ZNxyaZYxkMc5Xcbnw8xnB8etc93T6nc+bE/ia6D7QAwxzZIykbHPh7px/hXPArn0lyW+NebPKVKlWp1HZvZH6DZ/Zovy1otQnsj9Bs/s0X5a0WoDh5+p+NY06srGWeURQo0kjHCqoyx+6s+LcJntpOVcRPE+AdLjBwehHmPWgCns/ZxxC3McyQPqOl5BlMlSNLDI2f3Ov1qtaDh6x3VjJNbRWV0z3QaCKUNG8fyWT53QCVjOru7dc/hRFKgL5suIolhA2oCS04fFcxdN3dLm20+mGaM/hVZ+1MZ4veY3zLtjfPdXpUSrZBMyMroxVlIZWBwQwOQQR0IO+aAOWPYu/kXVyGjT9eYrCn3NIVB+6t54BZRfSOIRlh1jto3mOPISHRHnw2Jx60E4pczu/wCkPKzj/asxbB3Hvb7jBpnQHQvsuvrRrF0gjlMaytF88yljrCsSwRQAufDJrVx7tJeRTSpFLoVSAFVECjYf1c9T60M9hska2Ny0gOFuFOwYnOgAbDc0u0n0iU+o/wCUVrpq2Ytuxk/Fbpzl5A2ds4XP/LTnhs0jSxKznDSLnAUb5xnIAOdzvTKMU54bKDPH6OufxBq9ENJoMdprsxyRlzJh0TIQHboCwIU407kjoQaM8KXVCpByCoIPoS2PLwxTTtDfQZjicwh9GAHYh8smxABGdyuD5/tMdnbZVjCdABhc7ZAyQPQ6SKwlmJm1hAJuD6ZdY1bEnIY47xYnunIHvY2wdh8a0m0UzNlSGLajIX7jKeqac7MGGc+NTG7tR/38fOgsiDP3VktRxeSim44I5BAigkQvgKAUMo1PpI1aGz3NQGw8KIcLQhwBnR3dIJzjONvj0B+FPSg9K9j6j4iqy1E1SRE9ZzVMHe0qXTb3Zz9TH46RXP8AV8e1HPyW6ycnC5/vLVD1eHs6ND3+TylSpVc3OzeyP0Gz+zRflrRahPZH6DZ/Zovy1otQHKns91criggz8qNr81pzrKcxeeExvnTjpv1orwHg90/KPEY2nWGynntLaQnW2lgNLgfOacnUFPUAY2BFV3b3ckMgeKRo3U7OjFWHwIwRW+Tjt00wuDcTGcdJTI/MHUbNnIGCRj1oCy5+F2kcc109jGHNhDcfJm1hElM5jyBkMqsqhtPkSOhrdc8Jsbea9kFnFIqz2OiNyxRBcRlpQMHcZJwDsML5YqrLjjNzIZGeeZjKAJC0jEuAcgPk94AgYB6YpS8XuGzqnlbUVLZkc5MYxGWydyo2Xy8MUBcXDex/DY+erxB1e9uIT83cSyRxxjuLEYgdDAHXqbqNt+tAX4ZFDb26xcNW4X5LFdvdlmUh9eX1H3WQAaDGMHfz3qAQ9obxebpurheaSZcSuNZPUvv3ifM1qHGLnk/J+fLyM55WtuXnOfczjrv060BcHa63jFxf3f8Ak9LqVbiGARFZCvLaMuZSq7szECMN0GBj1B9quFWVha3ojto5W+XSW0buWLRIYEfu795kYkAn161BF7T3yyGQXdwH0BNYmkDaBnSuc5wMkgeZzTCS+lZCjSOULmQqWYqZCMFyM41EbautAXT7BIFezulYZBmXIyR9UeVSziXYdpJGk5qqGOQpUk9AN96A/wD09W7pZzyMuFebuEj3tK4bT6A7Z86tCV8kn8PhVlJrgwnhlfj2fOM/Ppv/AFW/jWdp2FdJFcypswY9074OfOp0xrQk+Xwq6iAdiMgjIBI38Dj8al6kkiqy6IdcWTTD9IicYVgWBKjYal7ujBGxXqPv61t4I/Nil1IFaNe6UdyMYOnIIGCMdN+tSS8jzzCcr3TlQMY28KFcGv5J+7GitjIIYafdOnzI3/w+NRyg0+D2+4qqtoZX/mRKXC5U48MDJLHBwAKCNHdszMtu0kWT3wUXChck6WIckHB6dDjGRT28sDFOBKmkTaUARslQWVcrvsNRHTfxrf2wsTZWyskzHvBSZPdC6W97QnicDfr02JqHBMKHtoYsMEivAM7Dqabx2SRkzPeZBIXlsgVNbbFVYgHIbAGetbpplTLMQqrq1E9ANJXfcbb+dc04OJg9OpJMAe0GMiwnyCO6Ov8AaWqNq7u2NzHJw28eORpFdlJ3GlWURqygYGgnAYjHVifGqRrTS4OvTgoWkKlSpVoanZvZH6DZ/Zovy1otQnsj9Bs/s0X5a0WoDh5+p+NY1k/U/GsaAVGuAdmbi8juZIQpW2j5kmSc43OFwDlsBjjboaC1bPYriVjw+ztGuJJFkuJjO4iVH1RKGhRJskEIQ8jY36mgIR2a7Hz3oUxNEoabkjWxHeETzEnCnChUO/mRWHaPsnNaJHKZIJoZCVWW3k5ketcEqTgYbBzg+tWTwWySyvbGzV00tPez51KRpMTwW/ezjdEzv+tUT49Ymw4V8kneI3E10JhHG6yaI0QpqYqSFLE4x4gelAQOpB2a4NGytdXRK2kRwcbNNJ1WGL+sfFvqjc+FNOznDI55TzpRDDGuuVzjVoBAxGv13JIAHmfKs+0nG/lDqsacq3iGmCEHIRepJP1nY7s3Un4CgLc9jvbA3M9zFJpTKqYI12RIkyvLQeSjT6ncmrE45xMQR6y0aqN2aRtKgdOuDXKfB+Jy200c8LaZIzlT+wg+YIyD6Gr1TjFlx6z5JflTkAtFqAYMpyGjzs652+B8DV40zGcc36JJZ9pDIoZAkikZV4XDrsTnOrT5eGd8g4oRxftjHbFGIZe9pOWUEIxLEjS+T7uwwTUF7U29zwxYbS1WRlCs7MAWbLNsTpGANjgeh3p12f7BHiEEdxczXCSHI0YAxpJC4DDI8/vq7inxyQklkkt97RbNtcHMkWVmMWdLHDE8snVnfG/j4UM4B24tYrgiIiFjqTGJHyc5GrWSAcgDY4/fWr+R+2zn5TPnOc4TOfPOOua0yeyS3U5W4nyD1woP44qNkuifHsKcX7Urd6Ndwo3CqyxkEZaEZGc4I5ynPhj0OGR49CU1yTk90P7rFR3U3C7YbExXrto+Faf5K4x0uZ/T3fT/AKV/AUy4x7No4oJHFzOSiEhSBg4HTb4D9lTtkT4kgsbyRh8woyW1K5wEyQQQ27HGCd8E71lg3CyRu9tIvSQW8xeRDnKkZQDZgNj5Hr0qsOx1/cx3EMZEuh3Cadx1OMjbrvVj8A7K2vClluJ5yqMukcwAHHUAKN3bpvt8Ko4RaszcK/IL7fymCxlDyNLJcSjU76dTEKBnAAAAVFFVBUh7a9pDezlgCsS7RoeoHiW/rE/4DwqPVnFUjXTi0vLk9NeUqVSaHZvZH6DZ/Zovy1otQnsj9Bs/s0X5a0WoDh5+p+NGo+yF+1sbpbaQwAZ1gfVHVgPeKj9YDFBZOp+NWtx/h3EJLxJ7JnjthYIyTEkQLCIAHUnBUHORp65OfWgKoryrdu+BQC1eIWcfyZeGC6S+0HmNcYDAc3OMM50crrTnj8NlEb39CtwllLYuCqd51mxz1cnqpHRQMD40BTVKrqTsnYw31tZvHG7SPc3YyuotHhhaRYGCVwpcpncj1rHidnZwLdXPyOFpEs4JOXJbtFDzGmMYdYmbUgK4yud9PrQFNzW7pp1qy6lDLqBGVPRhnqDg71qq9Tax3M1tJLbQ/N8IiliAgeRGc6Aw5Yb51YwdkHTV40G7UWtnaQX8kVpEX50EYWWIjktLAzSctS2V/WUEnBYeVAVIBSBx0rylQFweyC/nlhvSZnMirEqs51kKDIcAHfxO2fGrTS7yck1ytZ8RmizypZI9WM6HZc46Zwd8ZP406/zjvf6Vcf8AFk/6q2jqJKmZuFs6baZD4/8AelzFI2Oc+u4rmZe018Ol3cf8WT+NejtTfD/7u4/4r/xq32or9bOjXIxWuMjz8a54/wA67/8Apc//ABG/jS/zqvt/0mbfr3zT7Yj62W17RrqaGzeRZMOs4aNk2KqRpx+BP41Sl7eyTMXldpGP1mYk/t8Kd33H7qZNEs8joSDpZsjI6UMrKctzwaRjQqVKlVCwqVKlQHZvZH6DZ/Zovy1otQnsj9Bs/s0X5a0WoDiF4jk7eNORf3HKMHNk5JOTFrPLznOdOcdd6VKgEb645Qg5knJB1CPWdGfPTnGa8lvJ216pJG5mnXlydWn3NWT3seGelKlQGLXU5dXMjl0ACMXOpQvuhTnK48MdK2XHELmQyF5ZWMmOYWdjrA90Pv3gMDGemK8pUBnFxS6XlFZpRyc8rEjDRnro37ufStM11OwYNJIwdtbAuSGfcamyd23O533r2lQDblHypco+VKlQHvKPlXnKPlSpUB6EavOWfKvaVAeco+VLlHyr2lQHnKPlS5RpUqAXKPlS5R8q9pUB5yj5UjGfKlSoDsrsl9BtPs8X5a0WpUqA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373737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241837" y="7936"/>
            <a:ext cx="5873750" cy="1042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Criteria for phase stability in regular solutions</a:t>
            </a:r>
            <a:endParaRPr lang="en-US" sz="2800" dirty="0">
              <a:solidFill>
                <a:srgbClr val="FF0000"/>
              </a:solidFill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0244589"/>
              </p:ext>
            </p:extLst>
          </p:nvPr>
        </p:nvGraphicFramePr>
        <p:xfrm>
          <a:off x="258763" y="1447800"/>
          <a:ext cx="4281487" cy="173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71720" imgH="1523880" progId="Equation.DSMT4">
                  <p:embed/>
                </p:oleObj>
              </mc:Choice>
              <mc:Fallback>
                <p:oleObj name="Equation" r:id="rId2" imgW="3771720" imgH="1523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3" y="1447800"/>
                        <a:ext cx="4281487" cy="173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9565" y="3346080"/>
            <a:ext cx="4339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at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X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0.5, both second and third derivatives of ∆G</a:t>
            </a:r>
            <a:r>
              <a:rPr lang="en-US" altLang="zh-CN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respect to X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zero 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1552443"/>
              </p:ext>
            </p:extLst>
          </p:nvPr>
        </p:nvGraphicFramePr>
        <p:xfrm>
          <a:off x="333375" y="4038600"/>
          <a:ext cx="7493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9160" imgH="990360" progId="Equation.DSMT4">
                  <p:embed/>
                </p:oleObj>
              </mc:Choice>
              <mc:Fallback>
                <p:oleObj name="Equation" r:id="rId4" imgW="749160" imgH="990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3375" y="4038600"/>
                        <a:ext cx="749300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8690041"/>
              </p:ext>
            </p:extLst>
          </p:nvPr>
        </p:nvGraphicFramePr>
        <p:xfrm>
          <a:off x="1400175" y="4078067"/>
          <a:ext cx="558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8720" imgH="431640" progId="Equation.DSMT4">
                  <p:embed/>
                </p:oleObj>
              </mc:Choice>
              <mc:Fallback>
                <p:oleObj name="Equation" r:id="rId6" imgW="5587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00175" y="4078067"/>
                        <a:ext cx="5588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573736"/>
              </p:ext>
            </p:extLst>
          </p:nvPr>
        </p:nvGraphicFramePr>
        <p:xfrm>
          <a:off x="1397000" y="4600354"/>
          <a:ext cx="584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83920" imgH="457200" progId="Equation.DSMT4">
                  <p:embed/>
                </p:oleObj>
              </mc:Choice>
              <mc:Fallback>
                <p:oleObj name="Equation" r:id="rId8" imgW="5839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0" y="4600354"/>
                        <a:ext cx="584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986978" y="4495800"/>
            <a:ext cx="4004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Dash line </a:t>
            </a:r>
            <a:r>
              <a:rPr lang="en-US" altLang="zh-CN" sz="1200" dirty="0" err="1"/>
              <a:t>bc</a:t>
            </a:r>
            <a:r>
              <a:rPr lang="en-US" altLang="zh-CN" sz="1200" dirty="0"/>
              <a:t>: </a:t>
            </a:r>
            <a:r>
              <a:rPr lang="en-US" altLang="zh-CN" sz="1200" dirty="0">
                <a:latin typeface="Sylfaen"/>
              </a:rPr>
              <a:t>∂</a:t>
            </a:r>
            <a:r>
              <a:rPr lang="en-US" altLang="zh-CN" sz="1200" dirty="0" err="1">
                <a:latin typeface="Sylfaen"/>
              </a:rPr>
              <a:t>a</a:t>
            </a:r>
            <a:r>
              <a:rPr lang="en-US" altLang="zh-CN" sz="1200" baseline="-25000" dirty="0" err="1">
                <a:latin typeface="Sylfaen"/>
              </a:rPr>
              <a:t>B</a:t>
            </a:r>
            <a:r>
              <a:rPr lang="en-US" altLang="zh-CN" sz="1200" dirty="0">
                <a:latin typeface="Sylfaen"/>
              </a:rPr>
              <a:t>/ ∂X</a:t>
            </a:r>
            <a:r>
              <a:rPr lang="en-US" altLang="zh-CN" sz="1200" baseline="-25000" dirty="0">
                <a:latin typeface="Sylfaen"/>
              </a:rPr>
              <a:t>B</a:t>
            </a:r>
            <a:r>
              <a:rPr lang="en-US" altLang="zh-CN" sz="1200" dirty="0">
                <a:latin typeface="Sylfaen"/>
              </a:rPr>
              <a:t> is negative </a:t>
            </a:r>
          </a:p>
          <a:p>
            <a:r>
              <a:rPr lang="en-US" altLang="zh-CN" sz="1200" dirty="0">
                <a:latin typeface="Sylfaen"/>
              </a:rPr>
              <a:t>This is violates an intrinsic criterion for stability ∂</a:t>
            </a:r>
            <a:r>
              <a:rPr lang="en-US" altLang="zh-CN" sz="1200" dirty="0" err="1">
                <a:latin typeface="Sylfaen"/>
              </a:rPr>
              <a:t>a</a:t>
            </a:r>
            <a:r>
              <a:rPr lang="en-US" altLang="zh-CN" sz="1200" baseline="-25000" dirty="0" err="1">
                <a:latin typeface="Sylfaen"/>
              </a:rPr>
              <a:t>i</a:t>
            </a:r>
            <a:r>
              <a:rPr lang="en-US" altLang="zh-CN" sz="1200" dirty="0">
                <a:latin typeface="Sylfaen"/>
              </a:rPr>
              <a:t>/ ∂X</a:t>
            </a:r>
            <a:r>
              <a:rPr lang="en-US" altLang="zh-CN" sz="1200" baseline="-25000" dirty="0">
                <a:latin typeface="Sylfaen"/>
              </a:rPr>
              <a:t>i </a:t>
            </a:r>
            <a:r>
              <a:rPr lang="en-US" altLang="zh-CN" sz="1200" dirty="0">
                <a:latin typeface="Sylfaen"/>
              </a:rPr>
              <a:t>&gt;0 </a:t>
            </a:r>
            <a:endParaRPr lang="zh-CN" altLang="en-US" sz="1200" dirty="0"/>
          </a:p>
        </p:txBody>
      </p:sp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312" y="4992865"/>
            <a:ext cx="562927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5655" name="Picture 7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0751" y="1287002"/>
            <a:ext cx="3489673" cy="3208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6658386" y="2438400"/>
            <a:ext cx="1190213" cy="1492455"/>
          </a:xfrm>
          <a:prstGeom prst="roundRect">
            <a:avLst>
              <a:gd name="adj" fmla="val 4611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absolute </a:t>
            </a:r>
          </a:p>
          <a:p>
            <a:pPr algn="ctr"/>
            <a:r>
              <a:rPr lang="en-US" altLang="zh-CN" dirty="0"/>
              <a:t>unstable </a:t>
            </a:r>
            <a:endParaRPr lang="zh-CN" altLang="en-US" dirty="0"/>
          </a:p>
        </p:txBody>
      </p:sp>
      <p:cxnSp>
        <p:nvCxnSpPr>
          <p:cNvPr id="14" name="直接连接符 13"/>
          <p:cNvCxnSpPr/>
          <p:nvPr/>
        </p:nvCxnSpPr>
        <p:spPr>
          <a:xfrm>
            <a:off x="6658387" y="1600200"/>
            <a:ext cx="0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7848600" y="1752600"/>
            <a:ext cx="0" cy="83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圆角矩形 26"/>
          <p:cNvSpPr/>
          <p:nvPr/>
        </p:nvSpPr>
        <p:spPr>
          <a:xfrm>
            <a:off x="6248400" y="2438399"/>
            <a:ext cx="409986" cy="1492455"/>
          </a:xfrm>
          <a:prstGeom prst="roundRect">
            <a:avLst>
              <a:gd name="adj" fmla="val 4611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圆角矩形 27"/>
          <p:cNvSpPr/>
          <p:nvPr/>
        </p:nvSpPr>
        <p:spPr>
          <a:xfrm>
            <a:off x="7815468" y="2438398"/>
            <a:ext cx="409986" cy="1492455"/>
          </a:xfrm>
          <a:prstGeom prst="roundRect">
            <a:avLst>
              <a:gd name="adj" fmla="val 4611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4733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1589450"/>
            <a:ext cx="8884297" cy="4568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331640" y="161769"/>
            <a:ext cx="37788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FF0000"/>
                </a:solidFill>
              </a:rPr>
              <a:t>Spinodal</a:t>
            </a:r>
            <a:r>
              <a:rPr lang="en-US" altLang="zh-CN" sz="2800" dirty="0">
                <a:solidFill>
                  <a:srgbClr val="FF0000"/>
                </a:solidFill>
              </a:rPr>
              <a:t> decomposition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pic>
        <p:nvPicPr>
          <p:cNvPr id="1607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1075224"/>
            <a:ext cx="4619625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07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4" y="6158036"/>
            <a:ext cx="2219325" cy="19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AutoShape 6" descr="Abstract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AutoShape 8" descr="See the source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4" name="AutoShape 10" descr="See the source imag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AutoShape 13" descr="See the source image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696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331640" y="188640"/>
            <a:ext cx="37788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/>
              <a:t>Spinodal</a:t>
            </a:r>
            <a:r>
              <a:rPr lang="en-US" altLang="zh-CN" sz="2800" dirty="0"/>
              <a:t> decomposition </a:t>
            </a:r>
            <a:endParaRPr lang="zh-CN" altLang="en-US" sz="2800" dirty="0"/>
          </a:p>
        </p:txBody>
      </p:sp>
      <p:pic>
        <p:nvPicPr>
          <p:cNvPr id="159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475880"/>
            <a:ext cx="4791075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7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52" y="2819400"/>
            <a:ext cx="287655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7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460" y="2142754"/>
            <a:ext cx="2329140" cy="4258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75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243" y="2114055"/>
            <a:ext cx="2125098" cy="4286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5220862" y="17526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697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7559168" y="177342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550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3294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564" y="3352800"/>
            <a:ext cx="4104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43. Eutectic Phase diagram</a:t>
            </a:r>
            <a:endParaRPr lang="en-US" altLang="zh-CN" sz="2800" dirty="0">
              <a:solidFill>
                <a:srgbClr val="0000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4343400"/>
            <a:ext cx="71549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Chapter 10</a:t>
            </a:r>
          </a:p>
          <a:p>
            <a:r>
              <a:rPr lang="en-US" altLang="zh-CN" dirty="0"/>
              <a:t>Gibbs Free energy Composition and Phase diagrams of Binary System</a:t>
            </a:r>
          </a:p>
          <a:p>
            <a:endParaRPr lang="en-US" altLang="zh-CN" dirty="0"/>
          </a:p>
          <a:p>
            <a:r>
              <a:rPr lang="en-US" altLang="zh-CN" dirty="0"/>
              <a:t>Ref. Introduction to the thermodynamics of Materials, 6</a:t>
            </a:r>
            <a:r>
              <a:rPr lang="en-US" altLang="zh-CN" baseline="30000" dirty="0"/>
              <a:t>th</a:t>
            </a:r>
            <a:r>
              <a:rPr lang="en-US" altLang="zh-CN" dirty="0"/>
              <a:t> edition, D. R. Gaskell, and D. E. Laughlin</a:t>
            </a:r>
          </a:p>
        </p:txBody>
      </p:sp>
      <p:sp>
        <p:nvSpPr>
          <p:cNvPr id="4" name="矩形 3"/>
          <p:cNvSpPr/>
          <p:nvPr/>
        </p:nvSpPr>
        <p:spPr>
          <a:xfrm>
            <a:off x="821783" y="1037272"/>
            <a:ext cx="6942734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Phase diagram of binary system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2400" dirty="0"/>
              <a:t>Complete liquid and solid solutions (idea </a:t>
            </a:r>
            <a:r>
              <a:rPr lang="en-US" altLang="zh-CN" sz="2400" dirty="0" err="1"/>
              <a:t>soludtion</a:t>
            </a:r>
            <a:r>
              <a:rPr lang="en-US" altLang="zh-CN" sz="24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0000FF"/>
                </a:solidFill>
                <a:ea typeface="宋体" pitchFamily="2" charset="-122"/>
              </a:rPr>
              <a:t>Partial solid solution 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2400" dirty="0">
                <a:ea typeface="宋体" pitchFamily="2" charset="-122"/>
              </a:rPr>
              <a:t>Complete liquid miscibility and solid immiscibility</a:t>
            </a:r>
          </a:p>
        </p:txBody>
      </p:sp>
    </p:spTree>
    <p:extLst>
      <p:ext uri="{BB962C8B-B14F-4D97-AF65-F5344CB8AC3E}">
        <p14:creationId xmlns:p14="http://schemas.microsoft.com/office/powerpoint/2010/main" val="69474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2267744" y="167481"/>
            <a:ext cx="7171533" cy="670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Phase diagrams</a:t>
            </a:r>
          </a:p>
        </p:txBody>
      </p:sp>
      <p:sp>
        <p:nvSpPr>
          <p:cNvPr id="21" name="Text Box 66"/>
          <p:cNvSpPr txBox="1">
            <a:spLocks noChangeArrowheads="1"/>
          </p:cNvSpPr>
          <p:nvPr/>
        </p:nvSpPr>
        <p:spPr bwMode="auto">
          <a:xfrm>
            <a:off x="5040900" y="1427726"/>
            <a:ext cx="3950700" cy="163121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000" b="1" dirty="0">
                <a:ea typeface="宋体" pitchFamily="2" charset="-122"/>
              </a:rPr>
              <a:t>Partial solid solution</a:t>
            </a:r>
          </a:p>
          <a:p>
            <a:r>
              <a:rPr lang="en-US" altLang="zh-CN" sz="2000" dirty="0"/>
              <a:t>If any one of these conditions</a:t>
            </a:r>
          </a:p>
          <a:p>
            <a:r>
              <a:rPr lang="en-US" altLang="zh-CN" sz="2000" dirty="0"/>
              <a:t>is not met, then one or more two-phase regions will occur in the solid state </a:t>
            </a:r>
            <a:endParaRPr lang="zh-CN" altLang="en-US" sz="2000" dirty="0"/>
          </a:p>
        </p:txBody>
      </p:sp>
      <p:sp>
        <p:nvSpPr>
          <p:cNvPr id="22" name="Text Box 38"/>
          <p:cNvSpPr txBox="1">
            <a:spLocks noChangeArrowheads="1"/>
          </p:cNvSpPr>
          <p:nvPr/>
        </p:nvSpPr>
        <p:spPr bwMode="auto">
          <a:xfrm>
            <a:off x="135319" y="1427726"/>
            <a:ext cx="4612481" cy="16312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2000" b="1" dirty="0">
                <a:ea typeface="宋体" pitchFamily="2" charset="-122"/>
              </a:rPr>
              <a:t>Complete mutual solid solubility </a:t>
            </a:r>
          </a:p>
          <a:p>
            <a:pPr eaLnBrk="1" hangingPunct="1"/>
            <a:r>
              <a:rPr lang="en-US" altLang="zh-CN" sz="2000" dirty="0">
                <a:ea typeface="宋体" pitchFamily="2" charset="-122"/>
              </a:rPr>
              <a:t>of A and B requires A and B</a:t>
            </a:r>
          </a:p>
          <a:p>
            <a:pPr eaLnBrk="1" hangingPunct="1">
              <a:buFontTx/>
              <a:buChar char="-"/>
            </a:pPr>
            <a:r>
              <a:rPr lang="en-US" altLang="zh-CN" sz="2000" dirty="0">
                <a:ea typeface="宋体" pitchFamily="2" charset="-122"/>
              </a:rPr>
              <a:t> The same crystal structures</a:t>
            </a:r>
          </a:p>
          <a:p>
            <a:pPr eaLnBrk="1" hangingPunct="1">
              <a:buFontTx/>
              <a:buChar char="-"/>
            </a:pPr>
            <a:r>
              <a:rPr lang="en-US" altLang="zh-CN" sz="2000" dirty="0">
                <a:ea typeface="宋体" pitchFamily="2" charset="-122"/>
              </a:rPr>
              <a:t> Comparable atomic size</a:t>
            </a:r>
          </a:p>
          <a:p>
            <a:pPr eaLnBrk="1" hangingPunct="1">
              <a:buFontTx/>
              <a:buChar char="-"/>
            </a:pPr>
            <a:r>
              <a:rPr lang="en-US" altLang="zh-CN" sz="2000" dirty="0">
                <a:ea typeface="宋体" pitchFamily="2" charset="-122"/>
              </a:rPr>
              <a:t> Similar </a:t>
            </a:r>
            <a:r>
              <a:rPr lang="en-US" altLang="zh-CN" sz="2000" dirty="0" err="1">
                <a:ea typeface="宋体" pitchFamily="2" charset="-122"/>
              </a:rPr>
              <a:t>electronegativities</a:t>
            </a:r>
            <a:r>
              <a:rPr lang="en-US" altLang="zh-CN" sz="2000" dirty="0">
                <a:ea typeface="宋体" pitchFamily="2" charset="-122"/>
              </a:rPr>
              <a:t> and valences </a:t>
            </a: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98"/>
          <a:stretch/>
        </p:blipFill>
        <p:spPr bwMode="auto">
          <a:xfrm>
            <a:off x="76200" y="3577314"/>
            <a:ext cx="3945603" cy="2523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13" r="49607" b="47990"/>
          <a:stretch/>
        </p:blipFill>
        <p:spPr bwMode="auto">
          <a:xfrm>
            <a:off x="4734106" y="3642319"/>
            <a:ext cx="3643952" cy="2428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6495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 bwMode="auto">
          <a:xfrm>
            <a:off x="1213642" y="225676"/>
            <a:ext cx="7171533" cy="733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latin typeface="Arial" charset="0"/>
                <a:cs typeface="Arial" charset="0"/>
              </a:rPr>
              <a:t>Phase diagrams, </a:t>
            </a:r>
            <a:r>
              <a:rPr lang="el-GR" sz="3200" b="1" i="1" dirty="0">
                <a:solidFill>
                  <a:srgbClr val="FF0000"/>
                </a:solidFill>
                <a:latin typeface="Sylfaen"/>
                <a:cs typeface="Arial" charset="0"/>
              </a:rPr>
              <a:t>Δ</a:t>
            </a:r>
            <a:r>
              <a:rPr lang="en-US" sz="3200" b="1" i="1" dirty="0">
                <a:solidFill>
                  <a:srgbClr val="FF0000"/>
                </a:solidFill>
                <a:latin typeface="Arial" charset="0"/>
                <a:cs typeface="Arial" charset="0"/>
              </a:rPr>
              <a:t>G </a:t>
            </a:r>
            <a:r>
              <a:rPr lang="en-US" sz="3200" b="1" dirty="0">
                <a:solidFill>
                  <a:srgbClr val="FF0000"/>
                </a:solidFill>
                <a:latin typeface="Arial" charset="0"/>
                <a:cs typeface="Arial" charset="0"/>
              </a:rPr>
              <a:t>and </a:t>
            </a:r>
            <a:r>
              <a:rPr lang="en-US" sz="3200" b="1" i="1" dirty="0">
                <a:solidFill>
                  <a:srgbClr val="FF0000"/>
                </a:solidFill>
                <a:latin typeface="Arial" charset="0"/>
                <a:cs typeface="Arial" charset="0"/>
              </a:rPr>
              <a:t>a</a:t>
            </a:r>
            <a:r>
              <a:rPr lang="en-US" sz="3200" b="1" dirty="0">
                <a:solidFill>
                  <a:srgbClr val="FF0000"/>
                </a:solidFill>
                <a:latin typeface="Arial" charset="0"/>
                <a:cs typeface="Arial" charset="0"/>
              </a:rPr>
              <a:t>: T</a:t>
            </a:r>
            <a:r>
              <a:rPr lang="en-US" sz="3200" b="1" baseline="-25000" dirty="0">
                <a:solidFill>
                  <a:srgbClr val="FF0000"/>
                </a:solidFill>
                <a:latin typeface="Arial" charset="0"/>
                <a:cs typeface="Arial" charset="0"/>
              </a:rPr>
              <a:t>1</a:t>
            </a:r>
          </a:p>
        </p:txBody>
      </p:sp>
      <p:sp>
        <p:nvSpPr>
          <p:cNvPr id="23" name="Text Box 64"/>
          <p:cNvSpPr txBox="1">
            <a:spLocks noChangeArrowheads="1"/>
          </p:cNvSpPr>
          <p:nvPr/>
        </p:nvSpPr>
        <p:spPr bwMode="auto">
          <a:xfrm>
            <a:off x="512763" y="4710158"/>
            <a:ext cx="7939087" cy="161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eaLnBrk="1" hangingPunct="1">
              <a:buFont typeface="Wingdings" panose="05000000000000000000" pitchFamily="2" charset="2"/>
              <a:buChar char="ü"/>
            </a:pPr>
            <a:r>
              <a:rPr lang="en-US" altLang="zh-CN" sz="1800" dirty="0">
                <a:ea typeface="宋体" pitchFamily="2" charset="-122"/>
              </a:rPr>
              <a:t>In Fig. </a:t>
            </a:r>
            <a:r>
              <a:rPr lang="en-US" altLang="zh-CN" sz="1800" dirty="0" err="1">
                <a:ea typeface="宋体" pitchFamily="2" charset="-122"/>
              </a:rPr>
              <a:t>1b</a:t>
            </a:r>
            <a:r>
              <a:rPr lang="en-US" altLang="zh-CN" sz="1800" dirty="0">
                <a:ea typeface="宋体" pitchFamily="2" charset="-122"/>
              </a:rPr>
              <a:t>, </a:t>
            </a:r>
            <a:r>
              <a:rPr lang="en-US" altLang="zh-CN" sz="1800" i="1" dirty="0">
                <a:ea typeface="宋体" pitchFamily="2" charset="-122"/>
              </a:rPr>
              <a:t>a</a:t>
            </a:r>
            <a:r>
              <a:rPr lang="en-US" altLang="zh-CN" sz="1800" dirty="0">
                <a:ea typeface="宋体" pitchFamily="2" charset="-122"/>
              </a:rPr>
              <a:t> and </a:t>
            </a:r>
            <a:r>
              <a:rPr lang="en-US" altLang="zh-CN" sz="1800" i="1" dirty="0">
                <a:ea typeface="宋体" pitchFamily="2" charset="-122"/>
              </a:rPr>
              <a:t>d</a:t>
            </a:r>
            <a:r>
              <a:rPr lang="en-US" altLang="zh-CN" sz="1800" dirty="0">
                <a:ea typeface="宋体" pitchFamily="2" charset="-122"/>
              </a:rPr>
              <a:t> are for solid A and liquid B, which are standard states (</a:t>
            </a:r>
            <a:r>
              <a:rPr lang="en-US" altLang="zh-CN" sz="1800" dirty="0">
                <a:ea typeface="宋体" pitchFamily="2" charset="-122"/>
                <a:sym typeface="Symbol" pitchFamily="18" charset="2"/>
              </a:rPr>
              <a:t>G =0). </a:t>
            </a:r>
            <a:r>
              <a:rPr lang="en-US" altLang="zh-CN" sz="1800" i="1" dirty="0">
                <a:ea typeface="宋体" pitchFamily="2" charset="-122"/>
                <a:sym typeface="Symbol" pitchFamily="18" charset="2"/>
              </a:rPr>
              <a:t>b</a:t>
            </a:r>
            <a:r>
              <a:rPr lang="en-US" altLang="zh-CN" sz="1800" dirty="0">
                <a:ea typeface="宋体" pitchFamily="2" charset="-122"/>
                <a:sym typeface="Symbol" pitchFamily="18" charset="2"/>
              </a:rPr>
              <a:t> and </a:t>
            </a:r>
            <a:r>
              <a:rPr lang="en-US" altLang="zh-CN" sz="1800" i="1" dirty="0">
                <a:ea typeface="宋体" pitchFamily="2" charset="-122"/>
                <a:sym typeface="Symbol" pitchFamily="18" charset="2"/>
              </a:rPr>
              <a:t>c</a:t>
            </a:r>
            <a:r>
              <a:rPr lang="en-US" altLang="zh-CN" sz="1800" dirty="0">
                <a:ea typeface="宋体" pitchFamily="2" charset="-122"/>
                <a:sym typeface="Symbol" pitchFamily="18" charset="2"/>
              </a:rPr>
              <a:t> are for liquid A and solid B. </a:t>
            </a:r>
          </a:p>
          <a:p>
            <a:pPr marL="171450" indent="-171450" eaLnBrk="1" hangingPunct="1">
              <a:buFont typeface="Wingdings" panose="05000000000000000000" pitchFamily="2" charset="2"/>
              <a:buChar char="ü"/>
            </a:pPr>
            <a:endParaRPr lang="en-US" altLang="zh-CN" sz="900" dirty="0">
              <a:ea typeface="宋体" pitchFamily="2" charset="-122"/>
              <a:sym typeface="Symbol" pitchFamily="18" charset="2"/>
            </a:endParaRPr>
          </a:p>
          <a:p>
            <a:pPr marL="285750" indent="-285750" eaLnBrk="1" hangingPunct="1">
              <a:buFont typeface="Wingdings" panose="05000000000000000000" pitchFamily="2" charset="2"/>
              <a:buChar char="ü"/>
            </a:pPr>
            <a:r>
              <a:rPr lang="en-US" altLang="zh-CN" sz="1800" dirty="0">
                <a:ea typeface="宋体" pitchFamily="2" charset="-122"/>
                <a:sym typeface="Symbol" pitchFamily="18" charset="2"/>
              </a:rPr>
              <a:t>Fig. </a:t>
            </a:r>
            <a:r>
              <a:rPr lang="en-US" altLang="zh-CN" sz="1800" dirty="0" err="1">
                <a:ea typeface="宋体" pitchFamily="2" charset="-122"/>
                <a:sym typeface="Symbol" pitchFamily="18" charset="2"/>
              </a:rPr>
              <a:t>1c</a:t>
            </a:r>
            <a:r>
              <a:rPr lang="en-US" altLang="zh-CN" sz="1800" dirty="0">
                <a:ea typeface="宋体" pitchFamily="2" charset="-122"/>
                <a:sym typeface="Symbol" pitchFamily="18" charset="2"/>
              </a:rPr>
              <a:t> is activity-composition relationships by using solid for A and liquid for B as standard states. Assuming the liquid solution follows </a:t>
            </a:r>
            <a:r>
              <a:rPr lang="en-US" altLang="zh-CN" sz="1800" dirty="0" err="1">
                <a:ea typeface="宋体" pitchFamily="2" charset="-122"/>
                <a:sym typeface="Symbol" pitchFamily="18" charset="2"/>
              </a:rPr>
              <a:t>Raoult’s</a:t>
            </a:r>
            <a:r>
              <a:rPr lang="en-US" altLang="zh-CN" sz="1800" dirty="0">
                <a:ea typeface="宋体" pitchFamily="2" charset="-122"/>
                <a:sym typeface="Symbol" pitchFamily="18" charset="2"/>
              </a:rPr>
              <a:t> law and the solid solution follows positive deviation from </a:t>
            </a:r>
            <a:r>
              <a:rPr lang="en-US" altLang="zh-CN" sz="1800" dirty="0" err="1">
                <a:ea typeface="宋体" pitchFamily="2" charset="-122"/>
                <a:sym typeface="Symbol" pitchFamily="18" charset="2"/>
              </a:rPr>
              <a:t>Raoult’s</a:t>
            </a:r>
            <a:r>
              <a:rPr lang="en-US" altLang="zh-CN" sz="1800" dirty="0">
                <a:ea typeface="宋体" pitchFamily="2" charset="-122"/>
                <a:sym typeface="Symbol" pitchFamily="18" charset="2"/>
              </a:rPr>
              <a:t> law.    </a:t>
            </a:r>
          </a:p>
        </p:txBody>
      </p:sp>
      <p:pic>
        <p:nvPicPr>
          <p:cNvPr id="1075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" y="1748438"/>
            <a:ext cx="7915275" cy="2875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44242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r>
              <a:rPr lang="en-US" dirty="0"/>
              <a:t>SUSTC  |  </a:t>
            </a:r>
            <a:fld id="{C915B95C-5458-41FC-90FC-CACA4B5603FB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1" name="Text Box 38"/>
          <p:cNvSpPr txBox="1">
            <a:spLocks noChangeArrowheads="1"/>
          </p:cNvSpPr>
          <p:nvPr/>
        </p:nvSpPr>
        <p:spPr bwMode="auto">
          <a:xfrm>
            <a:off x="747409" y="4894262"/>
            <a:ext cx="756791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eaLnBrk="1" hangingPunct="1">
              <a:buFont typeface="Wingdings" panose="05000000000000000000" pitchFamily="2" charset="2"/>
              <a:buChar char="ü"/>
            </a:pPr>
            <a:r>
              <a:rPr lang="en-US" altLang="zh-CN" sz="1800" dirty="0">
                <a:ea typeface="宋体" pitchFamily="2" charset="-122"/>
              </a:rPr>
              <a:t>In Fig. </a:t>
            </a:r>
            <a:r>
              <a:rPr lang="en-US" altLang="zh-CN" sz="1800" dirty="0" err="1">
                <a:ea typeface="宋体" pitchFamily="2" charset="-122"/>
              </a:rPr>
              <a:t>1b</a:t>
            </a:r>
            <a:r>
              <a:rPr lang="en-US" altLang="zh-CN" sz="1800" dirty="0">
                <a:ea typeface="宋体" pitchFamily="2" charset="-122"/>
              </a:rPr>
              <a:t>, </a:t>
            </a:r>
            <a:r>
              <a:rPr lang="en-US" altLang="zh-CN" sz="1800" i="1" dirty="0">
                <a:ea typeface="宋体" pitchFamily="2" charset="-122"/>
              </a:rPr>
              <a:t>a</a:t>
            </a:r>
            <a:r>
              <a:rPr lang="en-US" altLang="zh-CN" sz="1800" dirty="0">
                <a:ea typeface="宋体" pitchFamily="2" charset="-122"/>
              </a:rPr>
              <a:t> and </a:t>
            </a:r>
            <a:r>
              <a:rPr lang="en-US" altLang="zh-CN" sz="1800" i="1" dirty="0">
                <a:ea typeface="宋体" pitchFamily="2" charset="-122"/>
              </a:rPr>
              <a:t>c</a:t>
            </a:r>
            <a:r>
              <a:rPr lang="en-US" altLang="zh-CN" sz="1800" dirty="0">
                <a:ea typeface="宋体" pitchFamily="2" charset="-122"/>
              </a:rPr>
              <a:t> are for solid A and solid B, which are standard states (</a:t>
            </a:r>
            <a:r>
              <a:rPr lang="en-US" altLang="zh-CN" sz="1800" dirty="0">
                <a:ea typeface="宋体" pitchFamily="2" charset="-122"/>
                <a:sym typeface="Symbol" pitchFamily="18" charset="2"/>
              </a:rPr>
              <a:t>G =0). </a:t>
            </a:r>
            <a:r>
              <a:rPr lang="en-US" altLang="zh-CN" sz="1800" i="1" dirty="0">
                <a:ea typeface="宋体" pitchFamily="2" charset="-122"/>
                <a:sym typeface="Symbol" pitchFamily="18" charset="2"/>
              </a:rPr>
              <a:t>b</a:t>
            </a:r>
            <a:r>
              <a:rPr lang="en-US" altLang="zh-CN" sz="1800" dirty="0">
                <a:ea typeface="宋体" pitchFamily="2" charset="-122"/>
                <a:sym typeface="Symbol" pitchFamily="18" charset="2"/>
              </a:rPr>
              <a:t> and </a:t>
            </a:r>
            <a:r>
              <a:rPr lang="en-US" altLang="zh-CN" sz="1800" i="1" dirty="0">
                <a:ea typeface="宋体" pitchFamily="2" charset="-122"/>
                <a:sym typeface="Symbol" pitchFamily="18" charset="2"/>
              </a:rPr>
              <a:t>d</a:t>
            </a:r>
            <a:r>
              <a:rPr lang="en-US" altLang="zh-CN" sz="1800" dirty="0">
                <a:ea typeface="宋体" pitchFamily="2" charset="-122"/>
                <a:sym typeface="Symbol" pitchFamily="18" charset="2"/>
              </a:rPr>
              <a:t> are for liquid A and liquid B. </a:t>
            </a:r>
          </a:p>
          <a:p>
            <a:pPr marL="171450" indent="-171450" eaLnBrk="1" hangingPunct="1">
              <a:buFont typeface="Wingdings" panose="05000000000000000000" pitchFamily="2" charset="2"/>
              <a:buChar char="ü"/>
            </a:pPr>
            <a:endParaRPr lang="en-US" altLang="zh-CN" sz="800" dirty="0">
              <a:ea typeface="宋体" pitchFamily="2" charset="-122"/>
              <a:sym typeface="Symbol" pitchFamily="18" charset="2"/>
            </a:endParaRPr>
          </a:p>
          <a:p>
            <a:pPr marL="285750" indent="-285750" eaLnBrk="1" hangingPunct="1">
              <a:buFont typeface="Wingdings" panose="05000000000000000000" pitchFamily="2" charset="2"/>
              <a:buChar char="ü"/>
            </a:pPr>
            <a:r>
              <a:rPr lang="en-US" altLang="zh-CN" sz="1800" dirty="0">
                <a:ea typeface="宋体" pitchFamily="2" charset="-122"/>
                <a:sym typeface="Symbol" pitchFamily="18" charset="2"/>
              </a:rPr>
              <a:t>Fig. </a:t>
            </a:r>
            <a:r>
              <a:rPr lang="en-US" altLang="zh-CN" sz="1800" dirty="0" err="1">
                <a:ea typeface="宋体" pitchFamily="2" charset="-122"/>
                <a:sym typeface="Symbol" pitchFamily="18" charset="2"/>
              </a:rPr>
              <a:t>1c</a:t>
            </a:r>
            <a:r>
              <a:rPr lang="en-US" altLang="zh-CN" sz="1800" dirty="0">
                <a:ea typeface="宋体" pitchFamily="2" charset="-122"/>
                <a:sym typeface="Symbol" pitchFamily="18" charset="2"/>
              </a:rPr>
              <a:t> is activity-composition relationships by using both solid A and B as standard states. </a:t>
            </a:r>
          </a:p>
        </p:txBody>
      </p:sp>
      <p:pic>
        <p:nvPicPr>
          <p:cNvPr id="1085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1721564"/>
            <a:ext cx="7962900" cy="2893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1331640" y="217611"/>
            <a:ext cx="7171533" cy="733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latin typeface="Arial" charset="0"/>
                <a:cs typeface="Arial" charset="0"/>
              </a:rPr>
              <a:t>Phase diagrams, </a:t>
            </a:r>
            <a:r>
              <a:rPr lang="el-GR" sz="3200" b="1" i="1" dirty="0">
                <a:solidFill>
                  <a:srgbClr val="FF0000"/>
                </a:solidFill>
                <a:latin typeface="Sylfaen"/>
                <a:cs typeface="Arial" charset="0"/>
              </a:rPr>
              <a:t>Δ</a:t>
            </a:r>
            <a:r>
              <a:rPr lang="en-US" sz="3200" b="1" i="1" dirty="0">
                <a:solidFill>
                  <a:srgbClr val="FF0000"/>
                </a:solidFill>
                <a:latin typeface="Arial" charset="0"/>
                <a:cs typeface="Arial" charset="0"/>
              </a:rPr>
              <a:t>G </a:t>
            </a:r>
            <a:r>
              <a:rPr lang="en-US" sz="3200" b="1" dirty="0">
                <a:solidFill>
                  <a:srgbClr val="FF0000"/>
                </a:solidFill>
                <a:latin typeface="Arial" charset="0"/>
                <a:cs typeface="Arial" charset="0"/>
              </a:rPr>
              <a:t>and </a:t>
            </a:r>
            <a:r>
              <a:rPr lang="en-US" sz="3200" b="1" i="1" dirty="0">
                <a:solidFill>
                  <a:srgbClr val="FF0000"/>
                </a:solidFill>
                <a:latin typeface="Arial" charset="0"/>
                <a:cs typeface="Arial" charset="0"/>
              </a:rPr>
              <a:t>a</a:t>
            </a:r>
            <a:r>
              <a:rPr lang="en-US" sz="3200" b="1" dirty="0">
                <a:solidFill>
                  <a:srgbClr val="FF0000"/>
                </a:solidFill>
                <a:latin typeface="Arial" charset="0"/>
                <a:cs typeface="Arial" charset="0"/>
              </a:rPr>
              <a:t>: T</a:t>
            </a:r>
            <a:r>
              <a:rPr lang="en-US" sz="3200" b="1" baseline="-25000" dirty="0">
                <a:solidFill>
                  <a:srgbClr val="FF0000"/>
                </a:solidFill>
                <a:latin typeface="Arial" charset="0"/>
                <a:cs typeface="Arial" charset="0"/>
              </a:rPr>
              <a:t>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0028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r>
              <a:rPr lang="en-US" dirty="0"/>
              <a:t>SUSTC  |  </a:t>
            </a:r>
            <a:fld id="{C915B95C-5458-41FC-90FC-CACA4B5603FB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1" y="1668379"/>
            <a:ext cx="8235950" cy="297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 Box 38"/>
          <p:cNvSpPr txBox="1">
            <a:spLocks noChangeArrowheads="1"/>
          </p:cNvSpPr>
          <p:nvPr/>
        </p:nvSpPr>
        <p:spPr bwMode="auto">
          <a:xfrm>
            <a:off x="827770" y="4860787"/>
            <a:ext cx="755740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eaLnBrk="1" hangingPunct="1">
              <a:buFont typeface="Wingdings" panose="05000000000000000000" pitchFamily="2" charset="2"/>
              <a:buChar char="ü"/>
            </a:pPr>
            <a:r>
              <a:rPr lang="en-US" altLang="zh-CN" sz="1800" dirty="0">
                <a:ea typeface="宋体" pitchFamily="2" charset="-122"/>
              </a:rPr>
              <a:t>In Fig. </a:t>
            </a:r>
            <a:r>
              <a:rPr lang="en-US" altLang="zh-CN" sz="1800" dirty="0" err="1">
                <a:ea typeface="宋体" pitchFamily="2" charset="-122"/>
              </a:rPr>
              <a:t>1b</a:t>
            </a:r>
            <a:r>
              <a:rPr lang="en-US" altLang="zh-CN" sz="1800" dirty="0">
                <a:ea typeface="宋体" pitchFamily="2" charset="-122"/>
              </a:rPr>
              <a:t>, </a:t>
            </a:r>
            <a:r>
              <a:rPr lang="en-US" altLang="zh-CN" sz="1800" i="1" dirty="0">
                <a:ea typeface="宋体" pitchFamily="2" charset="-122"/>
              </a:rPr>
              <a:t>a</a:t>
            </a:r>
            <a:r>
              <a:rPr lang="en-US" altLang="zh-CN" sz="1800" dirty="0">
                <a:ea typeface="宋体" pitchFamily="2" charset="-122"/>
              </a:rPr>
              <a:t> and </a:t>
            </a:r>
            <a:r>
              <a:rPr lang="en-US" altLang="zh-CN" sz="1800" i="1" dirty="0">
                <a:ea typeface="宋体" pitchFamily="2" charset="-122"/>
              </a:rPr>
              <a:t>c</a:t>
            </a:r>
            <a:r>
              <a:rPr lang="en-US" altLang="zh-CN" sz="1800" dirty="0">
                <a:ea typeface="宋体" pitchFamily="2" charset="-122"/>
              </a:rPr>
              <a:t> are for solid A and solid B, which are standard states (</a:t>
            </a:r>
            <a:r>
              <a:rPr lang="en-US" altLang="zh-CN" sz="1800" dirty="0">
                <a:ea typeface="宋体" pitchFamily="2" charset="-122"/>
                <a:sym typeface="Symbol" pitchFamily="18" charset="2"/>
              </a:rPr>
              <a:t>G =0). </a:t>
            </a:r>
            <a:r>
              <a:rPr lang="en-US" altLang="zh-CN" sz="1800" i="1" dirty="0">
                <a:ea typeface="宋体" pitchFamily="2" charset="-122"/>
                <a:sym typeface="Symbol" pitchFamily="18" charset="2"/>
              </a:rPr>
              <a:t>b</a:t>
            </a:r>
            <a:r>
              <a:rPr lang="en-US" altLang="zh-CN" sz="1800" dirty="0">
                <a:ea typeface="宋体" pitchFamily="2" charset="-122"/>
                <a:sym typeface="Symbol" pitchFamily="18" charset="2"/>
              </a:rPr>
              <a:t> and </a:t>
            </a:r>
            <a:r>
              <a:rPr lang="en-US" altLang="zh-CN" sz="1800" i="1" dirty="0">
                <a:ea typeface="宋体" pitchFamily="2" charset="-122"/>
                <a:sym typeface="Symbol" pitchFamily="18" charset="2"/>
              </a:rPr>
              <a:t>d</a:t>
            </a:r>
            <a:r>
              <a:rPr lang="en-US" altLang="zh-CN" sz="1800" dirty="0">
                <a:ea typeface="宋体" pitchFamily="2" charset="-122"/>
                <a:sym typeface="Symbol" pitchFamily="18" charset="2"/>
              </a:rPr>
              <a:t> are for liquid A and liquid B. </a:t>
            </a:r>
          </a:p>
          <a:p>
            <a:pPr marL="171450" indent="-171450" eaLnBrk="1" hangingPunct="1">
              <a:buFont typeface="Wingdings" panose="05000000000000000000" pitchFamily="2" charset="2"/>
              <a:buChar char="ü"/>
            </a:pPr>
            <a:endParaRPr lang="en-US" altLang="zh-CN" sz="800" dirty="0">
              <a:ea typeface="宋体" pitchFamily="2" charset="-122"/>
              <a:sym typeface="Symbol" pitchFamily="18" charset="2"/>
            </a:endParaRPr>
          </a:p>
          <a:p>
            <a:pPr marL="285750" indent="-285750" eaLnBrk="1" hangingPunct="1">
              <a:buFont typeface="Wingdings" panose="05000000000000000000" pitchFamily="2" charset="2"/>
              <a:buChar char="ü"/>
            </a:pPr>
            <a:r>
              <a:rPr lang="en-US" altLang="zh-CN" sz="1800" dirty="0">
                <a:ea typeface="宋体" pitchFamily="2" charset="-122"/>
                <a:sym typeface="Symbol" pitchFamily="18" charset="2"/>
              </a:rPr>
              <a:t>Fig. </a:t>
            </a:r>
            <a:r>
              <a:rPr lang="en-US" altLang="zh-CN" sz="1800" dirty="0" err="1">
                <a:ea typeface="宋体" pitchFamily="2" charset="-122"/>
                <a:sym typeface="Symbol" pitchFamily="18" charset="2"/>
              </a:rPr>
              <a:t>1c</a:t>
            </a:r>
            <a:r>
              <a:rPr lang="en-US" altLang="zh-CN" sz="1800" dirty="0">
                <a:ea typeface="宋体" pitchFamily="2" charset="-122"/>
                <a:sym typeface="Symbol" pitchFamily="18" charset="2"/>
              </a:rPr>
              <a:t> is activity-composition relationships by using both solid A and B as standard states.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213642" y="217611"/>
            <a:ext cx="7171533" cy="733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latin typeface="Arial" charset="0"/>
                <a:cs typeface="Arial" charset="0"/>
              </a:rPr>
              <a:t>Phase diagrams, </a:t>
            </a:r>
            <a:r>
              <a:rPr lang="el-GR" sz="3200" b="1" i="1" dirty="0">
                <a:solidFill>
                  <a:srgbClr val="FF0000"/>
                </a:solidFill>
                <a:latin typeface="Sylfaen"/>
                <a:cs typeface="Arial" charset="0"/>
              </a:rPr>
              <a:t>Δ</a:t>
            </a:r>
            <a:r>
              <a:rPr lang="en-US" sz="3200" b="1" i="1" dirty="0">
                <a:solidFill>
                  <a:srgbClr val="FF0000"/>
                </a:solidFill>
                <a:latin typeface="Arial" charset="0"/>
                <a:cs typeface="Arial" charset="0"/>
              </a:rPr>
              <a:t>G </a:t>
            </a:r>
            <a:r>
              <a:rPr lang="en-US" sz="3200" b="1" dirty="0">
                <a:solidFill>
                  <a:srgbClr val="FF0000"/>
                </a:solidFill>
                <a:latin typeface="Arial" charset="0"/>
                <a:cs typeface="Arial" charset="0"/>
              </a:rPr>
              <a:t>and </a:t>
            </a:r>
            <a:r>
              <a:rPr lang="en-US" sz="3200" b="1" i="1" dirty="0">
                <a:solidFill>
                  <a:srgbClr val="FF0000"/>
                </a:solidFill>
                <a:latin typeface="Arial" charset="0"/>
                <a:cs typeface="Arial" charset="0"/>
              </a:rPr>
              <a:t>a</a:t>
            </a:r>
            <a:r>
              <a:rPr lang="en-US" sz="3200" b="1" dirty="0">
                <a:solidFill>
                  <a:srgbClr val="FF0000"/>
                </a:solidFill>
                <a:latin typeface="Arial" charset="0"/>
                <a:cs typeface="Arial" charset="0"/>
              </a:rPr>
              <a:t>: T</a:t>
            </a:r>
            <a:r>
              <a:rPr lang="en-US" sz="3200" b="1" baseline="-25000" dirty="0">
                <a:solidFill>
                  <a:srgbClr val="FF0000"/>
                </a:solidFill>
                <a:latin typeface="Arial" charset="0"/>
                <a:cs typeface="Arial" charset="0"/>
              </a:rPr>
              <a:t>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7425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r>
              <a:rPr lang="en-US" dirty="0"/>
              <a:t>SUSTC  |  </a:t>
            </a:r>
            <a:fld id="{C915B95C-5458-41FC-90FC-CACA4B5603F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8" name="Text Box 38"/>
          <p:cNvSpPr txBox="1">
            <a:spLocks noChangeArrowheads="1"/>
          </p:cNvSpPr>
          <p:nvPr/>
        </p:nvSpPr>
        <p:spPr bwMode="auto">
          <a:xfrm>
            <a:off x="702359" y="4844774"/>
            <a:ext cx="755740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eaLnBrk="1" hangingPunct="1">
              <a:buFont typeface="Wingdings" panose="05000000000000000000" pitchFamily="2" charset="2"/>
              <a:buChar char="ü"/>
            </a:pPr>
            <a:r>
              <a:rPr lang="en-US" altLang="zh-CN" sz="1800" dirty="0">
                <a:ea typeface="宋体" pitchFamily="2" charset="-122"/>
              </a:rPr>
              <a:t>In Fig. </a:t>
            </a:r>
            <a:r>
              <a:rPr lang="en-US" altLang="zh-CN" sz="1800" dirty="0" err="1">
                <a:ea typeface="宋体" pitchFamily="2" charset="-122"/>
              </a:rPr>
              <a:t>1b</a:t>
            </a:r>
            <a:r>
              <a:rPr lang="en-US" altLang="zh-CN" sz="1800" dirty="0">
                <a:ea typeface="宋体" pitchFamily="2" charset="-122"/>
              </a:rPr>
              <a:t>, </a:t>
            </a:r>
            <a:r>
              <a:rPr lang="en-US" altLang="zh-CN" sz="1800" i="1" dirty="0">
                <a:ea typeface="宋体" pitchFamily="2" charset="-122"/>
              </a:rPr>
              <a:t>a</a:t>
            </a:r>
            <a:r>
              <a:rPr lang="en-US" altLang="zh-CN" sz="1800" dirty="0">
                <a:ea typeface="宋体" pitchFamily="2" charset="-122"/>
              </a:rPr>
              <a:t> and </a:t>
            </a:r>
            <a:r>
              <a:rPr lang="en-US" altLang="zh-CN" sz="1800" i="1" dirty="0">
                <a:ea typeface="宋体" pitchFamily="2" charset="-122"/>
              </a:rPr>
              <a:t>c</a:t>
            </a:r>
            <a:r>
              <a:rPr lang="en-US" altLang="zh-CN" sz="1800" dirty="0">
                <a:ea typeface="宋体" pitchFamily="2" charset="-122"/>
              </a:rPr>
              <a:t> are for solid A and solid B, which are standard states (</a:t>
            </a:r>
            <a:r>
              <a:rPr lang="en-US" altLang="zh-CN" sz="1800" dirty="0">
                <a:ea typeface="宋体" pitchFamily="2" charset="-122"/>
                <a:sym typeface="Symbol" pitchFamily="18" charset="2"/>
              </a:rPr>
              <a:t>G =0). </a:t>
            </a:r>
            <a:r>
              <a:rPr lang="en-US" altLang="zh-CN" sz="1800" i="1" dirty="0">
                <a:ea typeface="宋体" pitchFamily="2" charset="-122"/>
                <a:sym typeface="Symbol" pitchFamily="18" charset="2"/>
              </a:rPr>
              <a:t>b</a:t>
            </a:r>
            <a:r>
              <a:rPr lang="en-US" altLang="zh-CN" sz="1800" dirty="0">
                <a:ea typeface="宋体" pitchFamily="2" charset="-122"/>
                <a:sym typeface="Symbol" pitchFamily="18" charset="2"/>
              </a:rPr>
              <a:t> and </a:t>
            </a:r>
            <a:r>
              <a:rPr lang="en-US" altLang="zh-CN" sz="1800" i="1" dirty="0">
                <a:ea typeface="宋体" pitchFamily="2" charset="-122"/>
                <a:sym typeface="Symbol" pitchFamily="18" charset="2"/>
              </a:rPr>
              <a:t>d</a:t>
            </a:r>
            <a:r>
              <a:rPr lang="en-US" altLang="zh-CN" sz="1800" dirty="0">
                <a:ea typeface="宋体" pitchFamily="2" charset="-122"/>
                <a:sym typeface="Symbol" pitchFamily="18" charset="2"/>
              </a:rPr>
              <a:t> are for liquid A and liquid B. </a:t>
            </a:r>
          </a:p>
          <a:p>
            <a:pPr marL="171450" indent="-171450" eaLnBrk="1" hangingPunct="1">
              <a:buFont typeface="Wingdings" panose="05000000000000000000" pitchFamily="2" charset="2"/>
              <a:buChar char="ü"/>
            </a:pPr>
            <a:endParaRPr lang="en-US" altLang="zh-CN" sz="800" dirty="0">
              <a:ea typeface="宋体" pitchFamily="2" charset="-122"/>
              <a:sym typeface="Symbol" pitchFamily="18" charset="2"/>
            </a:endParaRPr>
          </a:p>
          <a:p>
            <a:pPr marL="285750" indent="-285750" eaLnBrk="1" hangingPunct="1">
              <a:buFont typeface="Wingdings" panose="05000000000000000000" pitchFamily="2" charset="2"/>
              <a:buChar char="ü"/>
            </a:pPr>
            <a:r>
              <a:rPr lang="en-US" altLang="zh-CN" sz="1800" dirty="0">
                <a:ea typeface="宋体" pitchFamily="2" charset="-122"/>
                <a:sym typeface="Symbol" pitchFamily="18" charset="2"/>
              </a:rPr>
              <a:t>Fig. </a:t>
            </a:r>
            <a:r>
              <a:rPr lang="en-US" altLang="zh-CN" sz="1800" dirty="0" err="1">
                <a:ea typeface="宋体" pitchFamily="2" charset="-122"/>
                <a:sym typeface="Symbol" pitchFamily="18" charset="2"/>
              </a:rPr>
              <a:t>1c</a:t>
            </a:r>
            <a:r>
              <a:rPr lang="en-US" altLang="zh-CN" sz="1800" dirty="0">
                <a:ea typeface="宋体" pitchFamily="2" charset="-122"/>
                <a:sym typeface="Symbol" pitchFamily="18" charset="2"/>
              </a:rPr>
              <a:t> is activity-composition relationships by using both solid A and B as standard states. </a:t>
            </a:r>
          </a:p>
        </p:txBody>
      </p:sp>
      <p:pic>
        <p:nvPicPr>
          <p:cNvPr id="1105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6" y="1758869"/>
            <a:ext cx="7697788" cy="2779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itle 1"/>
          <p:cNvSpPr txBox="1">
            <a:spLocks/>
          </p:cNvSpPr>
          <p:nvPr/>
        </p:nvSpPr>
        <p:spPr bwMode="auto">
          <a:xfrm>
            <a:off x="1354496" y="-622"/>
            <a:ext cx="7171533" cy="733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latin typeface="Arial" charset="0"/>
                <a:cs typeface="Arial" charset="0"/>
              </a:rPr>
              <a:t>Phase diagrams, </a:t>
            </a:r>
            <a:r>
              <a:rPr lang="el-GR" sz="3200" b="1" i="1" dirty="0">
                <a:solidFill>
                  <a:srgbClr val="FF0000"/>
                </a:solidFill>
                <a:latin typeface="Sylfaen"/>
                <a:cs typeface="Arial" charset="0"/>
              </a:rPr>
              <a:t>Δ</a:t>
            </a:r>
            <a:r>
              <a:rPr lang="en-US" sz="3200" b="1" i="1" dirty="0">
                <a:solidFill>
                  <a:srgbClr val="FF0000"/>
                </a:solidFill>
                <a:latin typeface="Arial" charset="0"/>
                <a:cs typeface="Arial" charset="0"/>
              </a:rPr>
              <a:t>G </a:t>
            </a:r>
            <a:r>
              <a:rPr lang="en-US" sz="3200" b="1" dirty="0">
                <a:solidFill>
                  <a:srgbClr val="FF0000"/>
                </a:solidFill>
                <a:latin typeface="Arial" charset="0"/>
                <a:cs typeface="Arial" charset="0"/>
              </a:rPr>
              <a:t>and </a:t>
            </a:r>
            <a:r>
              <a:rPr lang="en-US" sz="3200" b="1" i="1" dirty="0">
                <a:solidFill>
                  <a:srgbClr val="FF0000"/>
                </a:solidFill>
                <a:latin typeface="Arial" charset="0"/>
                <a:cs typeface="Arial" charset="0"/>
              </a:rPr>
              <a:t>a</a:t>
            </a:r>
            <a:r>
              <a:rPr lang="en-US" sz="3200" b="1" dirty="0">
                <a:solidFill>
                  <a:srgbClr val="FF0000"/>
                </a:solidFill>
                <a:latin typeface="Arial" charset="0"/>
                <a:cs typeface="Arial" charset="0"/>
              </a:rPr>
              <a:t>: T</a:t>
            </a:r>
            <a:r>
              <a:rPr lang="en-US" sz="3200" b="1" baseline="-25000" dirty="0">
                <a:solidFill>
                  <a:srgbClr val="FF0000"/>
                </a:solidFill>
                <a:latin typeface="Arial" charset="0"/>
                <a:cs typeface="Arial" charset="0"/>
              </a:rPr>
              <a:t>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4833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403648" y="172569"/>
            <a:ext cx="37321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Eutectic phase diagram  </a:t>
            </a:r>
            <a:endParaRPr lang="zh-CN" altLang="en-US" sz="2800" dirty="0"/>
          </a:p>
        </p:txBody>
      </p:sp>
      <p:pic>
        <p:nvPicPr>
          <p:cNvPr id="156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452" y="940350"/>
            <a:ext cx="1817748" cy="5489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66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945307"/>
            <a:ext cx="1878423" cy="5489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66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474" y="983210"/>
            <a:ext cx="1787100" cy="5446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66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7074" y="1013588"/>
            <a:ext cx="1615454" cy="5421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1551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1"/>
          <p:cNvSpPr txBox="1"/>
          <p:nvPr/>
        </p:nvSpPr>
        <p:spPr>
          <a:xfrm>
            <a:off x="1331640" y="0"/>
            <a:ext cx="225818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  <a:p>
            <a:r>
              <a:rPr lang="en-US" altLang="zh-CN" sz="3200" dirty="0"/>
              <a:t>Application 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1484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46" y="1496043"/>
            <a:ext cx="4295775" cy="339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848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825" y="5207578"/>
            <a:ext cx="3990975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848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8500" y="1572243"/>
            <a:ext cx="4038600" cy="323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848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5886" y="5182933"/>
            <a:ext cx="3543828" cy="1591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7974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33" y="1173974"/>
            <a:ext cx="2007968" cy="368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95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8351" y="1173973"/>
            <a:ext cx="2699286" cy="3825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950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769" y="1352104"/>
            <a:ext cx="3486725" cy="28621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1"/>
          <p:cNvSpPr txBox="1"/>
          <p:nvPr/>
        </p:nvSpPr>
        <p:spPr>
          <a:xfrm>
            <a:off x="1259632" y="116632"/>
            <a:ext cx="22581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Application 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86888" y="4999512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L</a:t>
            </a:r>
            <a:r>
              <a:rPr lang="en-US" altLang="zh-CN" dirty="0">
                <a:solidFill>
                  <a:srgbClr val="0000FF"/>
                </a:solidFill>
                <a:sym typeface="Wingdings" panose="05000000000000000000" pitchFamily="2" charset="2"/>
              </a:rPr>
              <a:t>L+</a:t>
            </a:r>
            <a:r>
              <a:rPr lang="el-GR" altLang="zh-CN" dirty="0">
                <a:solidFill>
                  <a:srgbClr val="0000FF"/>
                </a:solidFill>
                <a:latin typeface="Sylfaen"/>
                <a:sym typeface="Wingdings" panose="05000000000000000000" pitchFamily="2" charset="2"/>
              </a:rPr>
              <a:t> α </a:t>
            </a:r>
            <a:r>
              <a:rPr lang="en-US" altLang="zh-CN" dirty="0">
                <a:solidFill>
                  <a:srgbClr val="0000FF"/>
                </a:solidFill>
                <a:latin typeface="Sylfaen"/>
                <a:sym typeface="Wingdings" panose="05000000000000000000" pitchFamily="2" charset="2"/>
              </a:rPr>
              <a:t></a:t>
            </a:r>
            <a:r>
              <a:rPr lang="el-GR" altLang="zh-CN" dirty="0">
                <a:solidFill>
                  <a:srgbClr val="0000FF"/>
                </a:solidFill>
                <a:latin typeface="Sylfaen"/>
                <a:sym typeface="Wingdings" panose="05000000000000000000" pitchFamily="2" charset="2"/>
              </a:rPr>
              <a:t> α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32266" y="4963642"/>
            <a:ext cx="2055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L</a:t>
            </a:r>
            <a:r>
              <a:rPr lang="en-US" altLang="zh-CN" dirty="0">
                <a:solidFill>
                  <a:srgbClr val="0000FF"/>
                </a:solidFill>
                <a:sym typeface="Wingdings" panose="05000000000000000000" pitchFamily="2" charset="2"/>
              </a:rPr>
              <a:t>L+</a:t>
            </a:r>
            <a:r>
              <a:rPr lang="el-GR" altLang="zh-CN" dirty="0">
                <a:solidFill>
                  <a:srgbClr val="0000FF"/>
                </a:solidFill>
                <a:latin typeface="Sylfaen"/>
                <a:sym typeface="Wingdings" panose="05000000000000000000" pitchFamily="2" charset="2"/>
              </a:rPr>
              <a:t> α </a:t>
            </a:r>
            <a:r>
              <a:rPr lang="en-US" altLang="zh-CN" dirty="0">
                <a:solidFill>
                  <a:srgbClr val="0000FF"/>
                </a:solidFill>
                <a:latin typeface="Sylfaen"/>
                <a:sym typeface="Wingdings" panose="05000000000000000000" pitchFamily="2" charset="2"/>
              </a:rPr>
              <a:t></a:t>
            </a:r>
            <a:r>
              <a:rPr lang="el-GR" altLang="zh-CN" dirty="0">
                <a:solidFill>
                  <a:srgbClr val="0000FF"/>
                </a:solidFill>
                <a:latin typeface="Sylfaen"/>
                <a:sym typeface="Wingdings" panose="05000000000000000000" pitchFamily="2" charset="2"/>
              </a:rPr>
              <a:t> α</a:t>
            </a:r>
            <a:r>
              <a:rPr lang="en-US" altLang="zh-CN" dirty="0">
                <a:solidFill>
                  <a:srgbClr val="0000FF"/>
                </a:solidFill>
                <a:latin typeface="Sylfaen"/>
                <a:sym typeface="Wingdings" panose="05000000000000000000" pitchFamily="2" charset="2"/>
              </a:rPr>
              <a:t></a:t>
            </a:r>
            <a:r>
              <a:rPr lang="el-GR" altLang="zh-CN" dirty="0">
                <a:solidFill>
                  <a:srgbClr val="0000FF"/>
                </a:solidFill>
                <a:latin typeface="Sylfaen"/>
                <a:sym typeface="Wingdings" panose="05000000000000000000" pitchFamily="2" charset="2"/>
              </a:rPr>
              <a:t> α</a:t>
            </a:r>
            <a:r>
              <a:rPr lang="en-US" altLang="zh-CN" dirty="0">
                <a:solidFill>
                  <a:srgbClr val="0000FF"/>
                </a:solidFill>
                <a:latin typeface="Sylfaen"/>
                <a:sym typeface="Wingdings" panose="05000000000000000000" pitchFamily="2" charset="2"/>
              </a:rPr>
              <a:t>+</a:t>
            </a:r>
            <a:r>
              <a:rPr lang="el-GR" altLang="zh-CN" dirty="0">
                <a:solidFill>
                  <a:srgbClr val="0000FF"/>
                </a:solidFill>
                <a:latin typeface="Sylfaen"/>
                <a:sym typeface="Wingdings" panose="05000000000000000000" pitchFamily="2" charset="2"/>
              </a:rPr>
              <a:t>β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13050" y="107073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L</a:t>
            </a:r>
            <a:r>
              <a:rPr lang="en-US" altLang="zh-CN" dirty="0">
                <a:solidFill>
                  <a:srgbClr val="0000FF"/>
                </a:solidFill>
                <a:sym typeface="Wingdings" panose="05000000000000000000" pitchFamily="2" charset="2"/>
              </a:rPr>
              <a:t></a:t>
            </a:r>
            <a:r>
              <a:rPr lang="el-GR" altLang="zh-CN" dirty="0">
                <a:solidFill>
                  <a:srgbClr val="0000FF"/>
                </a:solidFill>
                <a:latin typeface="Sylfaen"/>
                <a:sym typeface="Wingdings" panose="05000000000000000000" pitchFamily="2" charset="2"/>
              </a:rPr>
              <a:t>α</a:t>
            </a:r>
            <a:r>
              <a:rPr lang="en-US" altLang="zh-CN" dirty="0">
                <a:solidFill>
                  <a:srgbClr val="0000FF"/>
                </a:solidFill>
                <a:latin typeface="Sylfaen"/>
                <a:sym typeface="Wingdings" panose="05000000000000000000" pitchFamily="2" charset="2"/>
              </a:rPr>
              <a:t>+</a:t>
            </a:r>
            <a:r>
              <a:rPr lang="el-GR" altLang="zh-CN" dirty="0">
                <a:solidFill>
                  <a:srgbClr val="0000FF"/>
                </a:solidFill>
                <a:latin typeface="Sylfaen"/>
                <a:sym typeface="Wingdings" panose="05000000000000000000" pitchFamily="2" charset="2"/>
              </a:rPr>
              <a:t>β</a:t>
            </a:r>
            <a:endParaRPr lang="zh-CN" altLang="en-US" dirty="0">
              <a:solidFill>
                <a:srgbClr val="0000FF"/>
              </a:solidFill>
            </a:endParaRPr>
          </a:p>
        </p:txBody>
      </p:sp>
      <p:pic>
        <p:nvPicPr>
          <p:cNvPr id="14950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660" y="4613565"/>
            <a:ext cx="3092833" cy="1998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6206827" y="4224051"/>
            <a:ext cx="18630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E</a:t>
            </a:r>
            <a:r>
              <a:rPr lang="zh-CN" altLang="en-US" b="1" dirty="0"/>
              <a:t>utectic </a:t>
            </a:r>
            <a:r>
              <a:rPr lang="en-US" altLang="zh-CN" b="1" dirty="0"/>
              <a:t>structure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0574543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464808" y="330977"/>
            <a:ext cx="73495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Nano precipitation for small thermal conductivity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pic>
        <p:nvPicPr>
          <p:cNvPr id="1587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809" y="3522363"/>
            <a:ext cx="5617582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87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979" y="6162675"/>
            <a:ext cx="22764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8727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3" y="1524001"/>
            <a:ext cx="3375069" cy="4436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8728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162675"/>
            <a:ext cx="1819275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092495"/>
              </p:ext>
            </p:extLst>
          </p:nvPr>
        </p:nvGraphicFramePr>
        <p:xfrm>
          <a:off x="4572000" y="2286000"/>
          <a:ext cx="122381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419040" progId="Equation.DSMT4">
                  <p:embed/>
                </p:oleObj>
              </mc:Choice>
              <mc:Fallback>
                <p:oleObj name="Equation" r:id="rId6" imgW="6728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72000" y="2286000"/>
                        <a:ext cx="1223818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267200" y="1524000"/>
            <a:ext cx="3017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Thermoelectric figure of merit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324600" y="2057400"/>
            <a:ext cx="24897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S: Seebeck coefficient</a:t>
            </a:r>
          </a:p>
          <a:p>
            <a:r>
              <a:rPr lang="en-US" altLang="zh-CN" dirty="0">
                <a:latin typeface="Times New Roman"/>
                <a:cs typeface="Times New Roman"/>
              </a:rPr>
              <a:t>σ: electrical conductivity</a:t>
            </a:r>
          </a:p>
          <a:p>
            <a:r>
              <a:rPr lang="en-US" altLang="zh-CN" dirty="0">
                <a:latin typeface="Times New Roman"/>
                <a:cs typeface="Times New Roman"/>
              </a:rPr>
              <a:t>κ: thermal conductivity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9615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982" y="2965368"/>
            <a:ext cx="66859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44. Phase diagram-</a:t>
            </a:r>
            <a:r>
              <a:rPr lang="en-US" altLang="zh-CN" sz="2800" dirty="0">
                <a:solidFill>
                  <a:srgbClr val="0000FF"/>
                </a:solidFill>
                <a:ea typeface="宋体" pitchFamily="2" charset="-122"/>
              </a:rPr>
              <a:t>Complete liquid miscibility and solid immiscibility</a:t>
            </a:r>
          </a:p>
          <a:p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4343400"/>
            <a:ext cx="71549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Chapter 10</a:t>
            </a:r>
          </a:p>
          <a:p>
            <a:r>
              <a:rPr lang="en-US" altLang="zh-CN" dirty="0"/>
              <a:t>Gibbs Free energy Composition and Phase diagrams of Binary System</a:t>
            </a:r>
          </a:p>
          <a:p>
            <a:endParaRPr lang="en-US" altLang="zh-CN" dirty="0"/>
          </a:p>
          <a:p>
            <a:r>
              <a:rPr lang="en-US" altLang="zh-CN" dirty="0"/>
              <a:t>Ref. Introduction to the thermodynamics of Materials, 6</a:t>
            </a:r>
            <a:r>
              <a:rPr lang="en-US" altLang="zh-CN" baseline="30000" dirty="0"/>
              <a:t>th</a:t>
            </a:r>
            <a:r>
              <a:rPr lang="en-US" altLang="zh-CN" dirty="0"/>
              <a:t> edition, D. R. Gaskell, and D. E. Laughlin</a:t>
            </a:r>
          </a:p>
        </p:txBody>
      </p:sp>
      <p:sp>
        <p:nvSpPr>
          <p:cNvPr id="4" name="矩形 3"/>
          <p:cNvSpPr/>
          <p:nvPr/>
        </p:nvSpPr>
        <p:spPr>
          <a:xfrm>
            <a:off x="899592" y="975480"/>
            <a:ext cx="6942734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Phase diagram of binary system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2400" dirty="0"/>
              <a:t>Complete liquid and solid solutions (idea </a:t>
            </a:r>
            <a:r>
              <a:rPr lang="en-US" altLang="zh-CN" sz="2400" dirty="0" err="1"/>
              <a:t>soludtion</a:t>
            </a:r>
            <a:r>
              <a:rPr lang="en-US" altLang="zh-CN" sz="24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2400" dirty="0">
                <a:ea typeface="宋体" pitchFamily="2" charset="-122"/>
              </a:rPr>
              <a:t>Partial solid solution </a:t>
            </a:r>
            <a:endParaRPr lang="en-US" altLang="zh-CN" sz="2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0000FF"/>
                </a:solidFill>
                <a:ea typeface="宋体" pitchFamily="2" charset="-122"/>
              </a:rPr>
              <a:t>Complete liquid miscibility and solid immiscibility</a:t>
            </a:r>
          </a:p>
        </p:txBody>
      </p:sp>
    </p:spTree>
    <p:extLst>
      <p:ext uri="{BB962C8B-B14F-4D97-AF65-F5344CB8AC3E}">
        <p14:creationId xmlns:p14="http://schemas.microsoft.com/office/powerpoint/2010/main" val="106898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8"/>
          <p:cNvSpPr txBox="1">
            <a:spLocks noChangeArrowheads="1"/>
          </p:cNvSpPr>
          <p:nvPr/>
        </p:nvSpPr>
        <p:spPr bwMode="auto">
          <a:xfrm>
            <a:off x="453800" y="4416699"/>
            <a:ext cx="8305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eaLnBrk="1" hangingPunct="1">
              <a:buFont typeface="Wingdings" panose="05000000000000000000" pitchFamily="2" charset="2"/>
              <a:buChar char="ü"/>
            </a:pPr>
            <a:r>
              <a:rPr lang="en-US" altLang="zh-CN" sz="1800" dirty="0">
                <a:ea typeface="宋体" pitchFamily="2" charset="-122"/>
              </a:rPr>
              <a:t>If the solubility is immeasurable small, A and B are insoluble. </a:t>
            </a:r>
            <a:endParaRPr lang="en-US" altLang="zh-CN" sz="800" dirty="0">
              <a:ea typeface="宋体" pitchFamily="2" charset="-122"/>
            </a:endParaRPr>
          </a:p>
          <a:p>
            <a:pPr marL="285750" indent="-285750" eaLnBrk="1" hangingPunct="1">
              <a:buFont typeface="Wingdings" panose="05000000000000000000" pitchFamily="2" charset="2"/>
              <a:buChar char="ü"/>
            </a:pPr>
            <a:r>
              <a:rPr lang="en-US" altLang="zh-CN" sz="1800" dirty="0">
                <a:ea typeface="宋体" pitchFamily="2" charset="-122"/>
              </a:rPr>
              <a:t>In Fig. </a:t>
            </a:r>
            <a:r>
              <a:rPr lang="en-US" altLang="zh-CN" sz="1800" dirty="0" err="1">
                <a:ea typeface="宋体" pitchFamily="2" charset="-122"/>
              </a:rPr>
              <a:t>1b</a:t>
            </a:r>
            <a:r>
              <a:rPr lang="en-US" altLang="zh-CN" sz="1800" dirty="0">
                <a:ea typeface="宋体" pitchFamily="2" charset="-122"/>
              </a:rPr>
              <a:t>, </a:t>
            </a:r>
            <a:r>
              <a:rPr lang="en-US" altLang="zh-CN" sz="1800" i="1" dirty="0">
                <a:ea typeface="宋体" pitchFamily="2" charset="-122"/>
              </a:rPr>
              <a:t>a</a:t>
            </a:r>
            <a:r>
              <a:rPr lang="en-US" altLang="zh-CN" sz="1800" dirty="0">
                <a:ea typeface="宋体" pitchFamily="2" charset="-122"/>
              </a:rPr>
              <a:t> and </a:t>
            </a:r>
            <a:r>
              <a:rPr lang="en-US" altLang="zh-CN" sz="1800" i="1" dirty="0">
                <a:ea typeface="宋体" pitchFamily="2" charset="-122"/>
              </a:rPr>
              <a:t>c</a:t>
            </a:r>
            <a:r>
              <a:rPr lang="en-US" altLang="zh-CN" sz="1800" dirty="0">
                <a:ea typeface="宋体" pitchFamily="2" charset="-122"/>
              </a:rPr>
              <a:t> are for solid A and liquid B, which are standard states (</a:t>
            </a:r>
            <a:r>
              <a:rPr lang="en-US" altLang="zh-CN" sz="1800" dirty="0">
                <a:ea typeface="宋体" pitchFamily="2" charset="-122"/>
                <a:sym typeface="Symbol" pitchFamily="18" charset="2"/>
              </a:rPr>
              <a:t>G =0). </a:t>
            </a:r>
            <a:r>
              <a:rPr lang="en-US" altLang="zh-CN" sz="1800" i="1" dirty="0">
                <a:ea typeface="宋体" pitchFamily="2" charset="-122"/>
                <a:sym typeface="Symbol" pitchFamily="18" charset="2"/>
              </a:rPr>
              <a:t>b</a:t>
            </a:r>
            <a:r>
              <a:rPr lang="en-US" altLang="zh-CN" sz="1800" dirty="0">
                <a:ea typeface="宋体" pitchFamily="2" charset="-122"/>
                <a:sym typeface="Symbol" pitchFamily="18" charset="2"/>
              </a:rPr>
              <a:t> and </a:t>
            </a:r>
            <a:r>
              <a:rPr lang="en-US" altLang="zh-CN" sz="1800" i="1" dirty="0">
                <a:ea typeface="宋体" pitchFamily="2" charset="-122"/>
                <a:sym typeface="Symbol" pitchFamily="18" charset="2"/>
              </a:rPr>
              <a:t>d</a:t>
            </a:r>
            <a:r>
              <a:rPr lang="en-US" altLang="zh-CN" sz="1800" dirty="0">
                <a:ea typeface="宋体" pitchFamily="2" charset="-122"/>
                <a:sym typeface="Symbol" pitchFamily="18" charset="2"/>
              </a:rPr>
              <a:t> are for liquid A and solid B. </a:t>
            </a:r>
            <a:endParaRPr lang="en-US" altLang="zh-CN" sz="800" dirty="0">
              <a:ea typeface="宋体" pitchFamily="2" charset="-122"/>
              <a:sym typeface="Symbol" pitchFamily="18" charset="2"/>
            </a:endParaRPr>
          </a:p>
          <a:p>
            <a:pPr marL="285750" indent="-285750" eaLnBrk="1" hangingPunct="1">
              <a:buFont typeface="Wingdings" panose="05000000000000000000" pitchFamily="2" charset="2"/>
              <a:buChar char="ü"/>
            </a:pPr>
            <a:r>
              <a:rPr lang="en-US" altLang="zh-CN" sz="1800" dirty="0">
                <a:ea typeface="宋体" pitchFamily="2" charset="-122"/>
                <a:sym typeface="Symbol" pitchFamily="18" charset="2"/>
              </a:rPr>
              <a:t>Fig. 1c is activity-composition relationships by using solid A and B as standard states. </a:t>
            </a:r>
          </a:p>
        </p:txBody>
      </p:sp>
      <p:pic>
        <p:nvPicPr>
          <p:cNvPr id="1116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00" y="2492896"/>
            <a:ext cx="5248560" cy="1961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1331640" y="89262"/>
            <a:ext cx="7171533" cy="733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latin typeface="Arial" charset="0"/>
                <a:cs typeface="Arial" charset="0"/>
              </a:rPr>
              <a:t>Phase diagrams, </a:t>
            </a:r>
            <a:r>
              <a:rPr lang="el-GR" sz="3200" b="1" i="1" dirty="0">
                <a:solidFill>
                  <a:srgbClr val="FF0000"/>
                </a:solidFill>
                <a:latin typeface="Sylfaen"/>
                <a:cs typeface="Arial" charset="0"/>
              </a:rPr>
              <a:t>Δ</a:t>
            </a:r>
            <a:r>
              <a:rPr lang="en-US" sz="3200" b="1" i="1" dirty="0">
                <a:solidFill>
                  <a:srgbClr val="FF0000"/>
                </a:solidFill>
                <a:latin typeface="Arial" charset="0"/>
                <a:cs typeface="Arial" charset="0"/>
              </a:rPr>
              <a:t>G </a:t>
            </a:r>
            <a:r>
              <a:rPr lang="en-US" sz="3200" b="1" dirty="0">
                <a:solidFill>
                  <a:srgbClr val="FF0000"/>
                </a:solidFill>
                <a:latin typeface="Arial" charset="0"/>
                <a:cs typeface="Arial" charset="0"/>
              </a:rPr>
              <a:t>and </a:t>
            </a:r>
            <a:r>
              <a:rPr lang="en-US" sz="3200" b="1" i="1" dirty="0">
                <a:solidFill>
                  <a:srgbClr val="FF0000"/>
                </a:solidFill>
                <a:latin typeface="Arial" charset="0"/>
                <a:cs typeface="Arial" charset="0"/>
              </a:rPr>
              <a:t>a</a:t>
            </a:r>
            <a:endParaRPr lang="en-US" sz="3200" b="1" baseline="-25000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pic>
        <p:nvPicPr>
          <p:cNvPr id="15" name="image1381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03401" y="1079024"/>
            <a:ext cx="4684799" cy="141387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70574" y="5795988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any pure substance presents an infinite chemical sink to any other substance, or conversely, it is impossible to obtain an absolutely pure substance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17585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r>
              <a:rPr lang="en-US" dirty="0"/>
              <a:t>SUSTC  |  </a:t>
            </a:r>
            <a:fld id="{C915B95C-5458-41FC-90FC-CACA4B5603FB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1126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67" y="1722437"/>
            <a:ext cx="2792413" cy="407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 Box 28"/>
          <p:cNvSpPr txBox="1">
            <a:spLocks noChangeArrowheads="1"/>
          </p:cNvSpPr>
          <p:nvPr/>
        </p:nvSpPr>
        <p:spPr bwMode="auto">
          <a:xfrm>
            <a:off x="3691334" y="2191919"/>
            <a:ext cx="485928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eaLnBrk="1" hangingPunct="1">
              <a:buFont typeface="Wingdings" panose="05000000000000000000" pitchFamily="2" charset="2"/>
              <a:buChar char="ü"/>
            </a:pPr>
            <a:r>
              <a:rPr lang="en-US" altLang="zh-CN" sz="1800" dirty="0">
                <a:ea typeface="宋体" pitchFamily="2" charset="-122"/>
              </a:rPr>
              <a:t>Activity-composition relationships by assuming the liquid solution follows </a:t>
            </a:r>
            <a:r>
              <a:rPr lang="en-US" altLang="zh-CN" sz="1800" dirty="0" err="1">
                <a:ea typeface="宋体" pitchFamily="2" charset="-122"/>
              </a:rPr>
              <a:t>Raoult’s</a:t>
            </a:r>
            <a:r>
              <a:rPr lang="en-US" altLang="zh-CN" sz="1800" dirty="0">
                <a:ea typeface="宋体" pitchFamily="2" charset="-122"/>
              </a:rPr>
              <a:t> law. </a:t>
            </a:r>
          </a:p>
          <a:p>
            <a:pPr marL="285750" indent="-285750" eaLnBrk="1" hangingPunct="1">
              <a:buFont typeface="Wingdings" panose="05000000000000000000" pitchFamily="2" charset="2"/>
              <a:buChar char="ü"/>
            </a:pPr>
            <a:endParaRPr lang="en-US" altLang="zh-CN" sz="1800" dirty="0">
              <a:ea typeface="宋体" pitchFamily="2" charset="-122"/>
            </a:endParaRPr>
          </a:p>
          <a:p>
            <a:pPr marL="285750" indent="-285750" eaLnBrk="1" hangingPunct="1">
              <a:buFont typeface="Wingdings" panose="05000000000000000000" pitchFamily="2" charset="2"/>
              <a:buChar char="ü"/>
            </a:pPr>
            <a:r>
              <a:rPr lang="en-US" altLang="zh-CN" sz="1800" i="1" dirty="0" err="1">
                <a:solidFill>
                  <a:srgbClr val="FF0000"/>
                </a:solidFill>
                <a:ea typeface="宋体" pitchFamily="2" charset="-122"/>
              </a:rPr>
              <a:t>pqr</a:t>
            </a:r>
            <a:r>
              <a:rPr lang="en-US" altLang="zh-CN" sz="1800" dirty="0">
                <a:solidFill>
                  <a:srgbClr val="FF0000"/>
                </a:solidFill>
                <a:ea typeface="宋体" pitchFamily="2" charset="-122"/>
              </a:rPr>
              <a:t> is the activity of A </a:t>
            </a:r>
            <a:r>
              <a:rPr lang="en-US" altLang="zh-CN" sz="1800" dirty="0">
                <a:ea typeface="宋体" pitchFamily="2" charset="-122"/>
              </a:rPr>
              <a:t>with respect to pure solid A</a:t>
            </a:r>
          </a:p>
          <a:p>
            <a:pPr marL="285750" indent="-285750" eaLnBrk="1" hangingPunct="1">
              <a:buFont typeface="Wingdings" panose="05000000000000000000" pitchFamily="2" charset="2"/>
              <a:buChar char="ü"/>
            </a:pPr>
            <a:r>
              <a:rPr lang="en-US" altLang="zh-CN" sz="1800" dirty="0">
                <a:ea typeface="宋体" pitchFamily="2" charset="-122"/>
              </a:rPr>
              <a:t> </a:t>
            </a:r>
            <a:r>
              <a:rPr lang="en-US" altLang="zh-CN" sz="1800" i="1" dirty="0">
                <a:ea typeface="宋体" pitchFamily="2" charset="-122"/>
              </a:rPr>
              <a:t>s</a:t>
            </a:r>
            <a:r>
              <a:rPr lang="en-US" altLang="zh-CN" sz="1800" dirty="0">
                <a:ea typeface="宋体" pitchFamily="2" charset="-122"/>
              </a:rPr>
              <a:t> is the activity of pure solid A with respect to liquid A</a:t>
            </a:r>
          </a:p>
          <a:p>
            <a:pPr marL="285750" indent="-285750" eaLnBrk="1" hangingPunct="1">
              <a:buFont typeface="Wingdings" panose="05000000000000000000" pitchFamily="2" charset="2"/>
              <a:buChar char="ü"/>
            </a:pPr>
            <a:r>
              <a:rPr lang="en-US" altLang="zh-CN" sz="1800" dirty="0">
                <a:ea typeface="宋体" pitchFamily="2" charset="-122"/>
              </a:rPr>
              <a:t> </a:t>
            </a:r>
            <a:r>
              <a:rPr lang="en-US" altLang="zh-CN" sz="1800" i="1" dirty="0" err="1">
                <a:solidFill>
                  <a:srgbClr val="FF0000"/>
                </a:solidFill>
                <a:ea typeface="宋体" pitchFamily="2" charset="-122"/>
              </a:rPr>
              <a:t>str</a:t>
            </a:r>
            <a:r>
              <a:rPr lang="en-US" altLang="zh-CN" sz="1800" dirty="0">
                <a:solidFill>
                  <a:srgbClr val="FF0000"/>
                </a:solidFill>
                <a:ea typeface="宋体" pitchFamily="2" charset="-122"/>
              </a:rPr>
              <a:t> is the activity of A </a:t>
            </a:r>
            <a:r>
              <a:rPr lang="en-US" altLang="zh-CN" sz="1800" dirty="0">
                <a:ea typeface="宋体" pitchFamily="2" charset="-122"/>
              </a:rPr>
              <a:t>with respect to liquid A as the standard state </a:t>
            </a:r>
          </a:p>
          <a:p>
            <a:pPr marL="285750" indent="-285750" eaLnBrk="1" hangingPunct="1">
              <a:buFont typeface="Wingdings" panose="05000000000000000000" pitchFamily="2" charset="2"/>
              <a:buChar char="ü"/>
            </a:pPr>
            <a:r>
              <a:rPr lang="en-US" altLang="zh-CN" sz="1800" dirty="0">
                <a:ea typeface="宋体" pitchFamily="2" charset="-122"/>
              </a:rPr>
              <a:t>- </a:t>
            </a:r>
            <a:r>
              <a:rPr lang="en-US" altLang="zh-CN" sz="1800" dirty="0" err="1">
                <a:ea typeface="宋体" pitchFamily="2" charset="-122"/>
              </a:rPr>
              <a:t>A</a:t>
            </a:r>
            <a:r>
              <a:rPr lang="en-US" altLang="zh-CN" sz="1800" i="1" dirty="0" err="1">
                <a:ea typeface="宋体" pitchFamily="2" charset="-122"/>
              </a:rPr>
              <a:t>uvw</a:t>
            </a:r>
            <a:r>
              <a:rPr lang="en-US" altLang="zh-CN" sz="1800" dirty="0">
                <a:ea typeface="宋体" pitchFamily="2" charset="-122"/>
              </a:rPr>
              <a:t> is the activity of B with respect to liquid B as the standard state.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379081" y="188640"/>
            <a:ext cx="7171533" cy="554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95467"/>
                </a:solidFill>
                <a:latin typeface="Arial"/>
                <a:ea typeface="Geneva" pitchFamily="-107" charset="-128"/>
                <a:cs typeface="Arial"/>
              </a:defRPr>
            </a:lvl1pPr>
            <a:lvl2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2pPr>
            <a:lvl3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3pPr>
            <a:lvl4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4pPr>
            <a:lvl5pPr algn="l" defTabSz="457200" rtl="0" eaLnBrk="1" fontAlgn="base" hangingPunct="1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pitchFamily="-107" charset="0"/>
                <a:ea typeface="Geneva" pitchFamily="-107" charset="-128"/>
                <a:cs typeface="Geneva" pitchFamily="34" charset="0"/>
              </a:defRPr>
            </a:lvl5pPr>
            <a:lvl6pPr marL="4572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6pPr>
            <a:lvl7pPr marL="9144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7pPr>
            <a:lvl8pPr marL="13716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8pPr>
            <a:lvl9pPr marL="1828800" algn="ctr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-107" charset="0"/>
                <a:ea typeface="Geneva" pitchFamily="-107" charset="-128"/>
              </a:defRPr>
            </a:lvl9pPr>
          </a:lstStyle>
          <a:p>
            <a:r>
              <a:rPr lang="en-US" sz="3200" dirty="0">
                <a:solidFill>
                  <a:srgbClr val="FF0000"/>
                </a:solidFill>
                <a:latin typeface="Arial" charset="0"/>
                <a:cs typeface="Arial" charset="0"/>
              </a:rPr>
              <a:t>Phase diagrams, </a:t>
            </a:r>
            <a:r>
              <a:rPr lang="el-GR" sz="3200" i="1" dirty="0">
                <a:solidFill>
                  <a:srgbClr val="FF0000"/>
                </a:solidFill>
                <a:latin typeface="Sylfaen"/>
                <a:cs typeface="Arial" charset="0"/>
              </a:rPr>
              <a:t>Δ</a:t>
            </a:r>
            <a:r>
              <a:rPr lang="en-US" sz="3200" i="1" dirty="0">
                <a:solidFill>
                  <a:srgbClr val="FF0000"/>
                </a:solidFill>
                <a:latin typeface="Arial" charset="0"/>
                <a:cs typeface="Arial" charset="0"/>
              </a:rPr>
              <a:t>G </a:t>
            </a:r>
            <a:r>
              <a:rPr lang="en-US" sz="3200" dirty="0">
                <a:solidFill>
                  <a:srgbClr val="FF0000"/>
                </a:solidFill>
                <a:latin typeface="Arial" charset="0"/>
                <a:cs typeface="Arial" charset="0"/>
              </a:rPr>
              <a:t>and </a:t>
            </a:r>
            <a:r>
              <a:rPr lang="en-US" sz="3200" i="1" dirty="0">
                <a:solidFill>
                  <a:srgbClr val="FF0000"/>
                </a:solidFill>
                <a:latin typeface="Arial" charset="0"/>
                <a:cs typeface="Arial" charset="0"/>
              </a:rPr>
              <a:t>a</a:t>
            </a:r>
            <a:endParaRPr lang="en-US" sz="3200" baseline="-25000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17388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437"/>
          <a:stretch/>
        </p:blipFill>
        <p:spPr bwMode="auto">
          <a:xfrm>
            <a:off x="274044" y="1531764"/>
            <a:ext cx="2667000" cy="2430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236667" y="72565"/>
            <a:ext cx="771621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Calculate the liquid line </a:t>
            </a:r>
          </a:p>
          <a:p>
            <a:r>
              <a:rPr lang="en-US" altLang="zh-CN" sz="2800" dirty="0">
                <a:solidFill>
                  <a:srgbClr val="FF0000"/>
                </a:solidFill>
                <a:ea typeface="宋体" pitchFamily="2" charset="-122"/>
              </a:rPr>
              <a:t>Of Complete liquid miscibility and solid immiscibility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8" t="39214" b="38486"/>
          <a:stretch/>
        </p:blipFill>
        <p:spPr bwMode="auto">
          <a:xfrm>
            <a:off x="3276600" y="1952708"/>
            <a:ext cx="5335901" cy="1169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675410" y="4114800"/>
            <a:ext cx="498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Consider the equilibrium between Liquid and Solid 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685800" y="2105891"/>
            <a:ext cx="556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L+S 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774338" y="4504638"/>
            <a:ext cx="37289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L: </a:t>
            </a:r>
            <a:r>
              <a:rPr lang="en-US" altLang="zh-CN" dirty="0" err="1"/>
              <a:t>Raoultian</a:t>
            </a:r>
            <a:r>
              <a:rPr lang="en-US" altLang="zh-CN" dirty="0"/>
              <a:t> liquid solution: </a:t>
            </a:r>
            <a:r>
              <a:rPr lang="en-US" altLang="zh-CN" i="1" dirty="0" err="1"/>
              <a:t>a</a:t>
            </a:r>
            <a:r>
              <a:rPr lang="en-US" altLang="zh-CN" i="1" baseline="-25000" dirty="0" err="1"/>
              <a:t>A</a:t>
            </a:r>
            <a:r>
              <a:rPr lang="en-US" altLang="zh-CN" i="1" baseline="-25000" dirty="0"/>
              <a:t>(l)</a:t>
            </a:r>
            <a:r>
              <a:rPr lang="en-US" altLang="zh-CN" i="1" dirty="0"/>
              <a:t> = X</a:t>
            </a:r>
            <a:r>
              <a:rPr lang="en-US" altLang="zh-CN" i="1" baseline="-25000" dirty="0"/>
              <a:t>A(l)</a:t>
            </a:r>
            <a:r>
              <a:rPr lang="en-US" altLang="zh-CN" i="1" dirty="0"/>
              <a:t> </a:t>
            </a:r>
            <a:endParaRPr lang="en-US" altLang="zh-CN" i="1" baseline="-25000" dirty="0"/>
          </a:p>
          <a:p>
            <a:r>
              <a:rPr lang="en-US" altLang="zh-CN" dirty="0"/>
              <a:t>S: pure solid A, X</a:t>
            </a:r>
            <a:r>
              <a:rPr lang="en-US" altLang="zh-CN" baseline="-25000" dirty="0"/>
              <a:t>A(s)</a:t>
            </a:r>
            <a:r>
              <a:rPr lang="en-US" altLang="zh-CN" dirty="0"/>
              <a:t>=1 and X</a:t>
            </a:r>
            <a:r>
              <a:rPr lang="en-US" altLang="zh-CN" baseline="-25000" dirty="0"/>
              <a:t>B(s)</a:t>
            </a:r>
            <a:r>
              <a:rPr lang="en-US" altLang="zh-CN" dirty="0"/>
              <a:t> =0</a:t>
            </a:r>
            <a:endParaRPr lang="zh-CN" altLang="en-US" dirty="0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098695"/>
              </p:ext>
            </p:extLst>
          </p:nvPr>
        </p:nvGraphicFramePr>
        <p:xfrm>
          <a:off x="860050" y="5234962"/>
          <a:ext cx="2700528" cy="86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52480" imgH="558720" progId="Equation.DSMT4">
                  <p:embed/>
                </p:oleObj>
              </mc:Choice>
              <mc:Fallback>
                <p:oleObj name="Equation" r:id="rId4" imgW="1752480" imgH="55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60050" y="5234962"/>
                        <a:ext cx="2700528" cy="861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9429863"/>
              </p:ext>
            </p:extLst>
          </p:nvPr>
        </p:nvGraphicFramePr>
        <p:xfrm>
          <a:off x="4572000" y="5158886"/>
          <a:ext cx="2450351" cy="96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22360" imgH="558720" progId="Equation.DSMT4">
                  <p:embed/>
                </p:oleObj>
              </mc:Choice>
              <mc:Fallback>
                <p:oleObj name="Equation" r:id="rId6" imgW="142236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158886"/>
                        <a:ext cx="2450351" cy="96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箭头连接符 19"/>
          <p:cNvCxnSpPr/>
          <p:nvPr/>
        </p:nvCxnSpPr>
        <p:spPr>
          <a:xfrm>
            <a:off x="3611943" y="5715000"/>
            <a:ext cx="57394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任意多边形 21"/>
          <p:cNvSpPr/>
          <p:nvPr/>
        </p:nvSpPr>
        <p:spPr>
          <a:xfrm>
            <a:off x="748145" y="1649681"/>
            <a:ext cx="1876302" cy="950026"/>
          </a:xfrm>
          <a:custGeom>
            <a:avLst/>
            <a:gdLst>
              <a:gd name="connsiteX0" fmla="*/ 0 w 1876302"/>
              <a:gd name="connsiteY0" fmla="*/ 23750 h 950026"/>
              <a:gd name="connsiteX1" fmla="*/ 1056904 w 1876302"/>
              <a:gd name="connsiteY1" fmla="*/ 950026 h 950026"/>
              <a:gd name="connsiteX2" fmla="*/ 1852551 w 1876302"/>
              <a:gd name="connsiteY2" fmla="*/ 617516 h 950026"/>
              <a:gd name="connsiteX3" fmla="*/ 1876302 w 1876302"/>
              <a:gd name="connsiteY3" fmla="*/ 0 h 950026"/>
              <a:gd name="connsiteX4" fmla="*/ 0 w 1876302"/>
              <a:gd name="connsiteY4" fmla="*/ 23750 h 950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6302" h="950026">
                <a:moveTo>
                  <a:pt x="0" y="23750"/>
                </a:moveTo>
                <a:lnTo>
                  <a:pt x="1056904" y="950026"/>
                </a:lnTo>
                <a:lnTo>
                  <a:pt x="1852551" y="617516"/>
                </a:lnTo>
                <a:lnTo>
                  <a:pt x="1876302" y="0"/>
                </a:lnTo>
                <a:lnTo>
                  <a:pt x="0" y="23750"/>
                </a:lnTo>
                <a:close/>
              </a:path>
            </a:pathLst>
          </a:custGeom>
          <a:solidFill>
            <a:srgbClr val="FF0000">
              <a:alpha val="25882"/>
            </a:srgbClr>
          </a:solidFill>
          <a:ln>
            <a:solidFill>
              <a:srgbClr val="385D8A">
                <a:alpha val="4588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/>
        </p:nvSpPr>
        <p:spPr>
          <a:xfrm>
            <a:off x="700644" y="2599707"/>
            <a:ext cx="1935678" cy="1045028"/>
          </a:xfrm>
          <a:custGeom>
            <a:avLst/>
            <a:gdLst>
              <a:gd name="connsiteX0" fmla="*/ 23751 w 1935678"/>
              <a:gd name="connsiteY0" fmla="*/ 71252 h 1045028"/>
              <a:gd name="connsiteX1" fmla="*/ 11875 w 1935678"/>
              <a:gd name="connsiteY1" fmla="*/ 1033153 h 1045028"/>
              <a:gd name="connsiteX2" fmla="*/ 1888177 w 1935678"/>
              <a:gd name="connsiteY2" fmla="*/ 1045028 h 1045028"/>
              <a:gd name="connsiteX3" fmla="*/ 1935678 w 1935678"/>
              <a:gd name="connsiteY3" fmla="*/ 0 h 1045028"/>
              <a:gd name="connsiteX4" fmla="*/ 0 w 1935678"/>
              <a:gd name="connsiteY4" fmla="*/ 23750 h 104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35678" h="1045028">
                <a:moveTo>
                  <a:pt x="23751" y="71252"/>
                </a:moveTo>
                <a:lnTo>
                  <a:pt x="11875" y="1033153"/>
                </a:lnTo>
                <a:lnTo>
                  <a:pt x="1888177" y="1045028"/>
                </a:lnTo>
                <a:lnTo>
                  <a:pt x="1935678" y="0"/>
                </a:lnTo>
                <a:lnTo>
                  <a:pt x="0" y="23750"/>
                </a:lnTo>
              </a:path>
            </a:pathLst>
          </a:custGeom>
          <a:solidFill>
            <a:srgbClr val="0000FF">
              <a:alpha val="4588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4039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564" y="3352800"/>
            <a:ext cx="6409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45. Topological evolution of Phase diagram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4343400"/>
            <a:ext cx="71549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Chapter 10</a:t>
            </a:r>
          </a:p>
          <a:p>
            <a:r>
              <a:rPr lang="en-US" altLang="zh-CN" dirty="0"/>
              <a:t>Gibbs Free energy Composition and Phase diagrams of Binary System</a:t>
            </a:r>
          </a:p>
          <a:p>
            <a:endParaRPr lang="en-US" altLang="zh-CN" dirty="0"/>
          </a:p>
          <a:p>
            <a:r>
              <a:rPr lang="en-US" altLang="zh-CN" dirty="0"/>
              <a:t>Ref. Introduction to the thermodynamics of Materials, 6</a:t>
            </a:r>
            <a:r>
              <a:rPr lang="en-US" altLang="zh-CN" baseline="30000" dirty="0"/>
              <a:t>th</a:t>
            </a:r>
            <a:r>
              <a:rPr lang="en-US" altLang="zh-CN" dirty="0"/>
              <a:t> edition, D. R. Gaskell, and D. E. Laughlin</a:t>
            </a:r>
          </a:p>
        </p:txBody>
      </p:sp>
    </p:spTree>
    <p:extLst>
      <p:ext uri="{BB962C8B-B14F-4D97-AF65-F5344CB8AC3E}">
        <p14:creationId xmlns:p14="http://schemas.microsoft.com/office/powerpoint/2010/main" val="21323472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403648" y="200275"/>
            <a:ext cx="69593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Regular solution in both liquid and solid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00804" y="1162760"/>
            <a:ext cx="8416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Consider the binary system A–B which forms regular liquid solutions and regular solid solutions</a:t>
            </a:r>
            <a:r>
              <a:rPr lang="en-US" altLang="zh-CN" dirty="0">
                <a:latin typeface="Times New Roman" panose="02020603050405020304" pitchFamily="18" charset="0"/>
              </a:rPr>
              <a:t>.The melting temperatures of A and B are, respectively, 800 and 1200 K.</a:t>
            </a: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087907"/>
              </p:ext>
            </p:extLst>
          </p:nvPr>
        </p:nvGraphicFramePr>
        <p:xfrm>
          <a:off x="1294581" y="1987028"/>
          <a:ext cx="2346920" cy="342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08100" imgH="190500" progId="Equation.KSEE3">
                  <p:embed/>
                </p:oleObj>
              </mc:Choice>
              <mc:Fallback>
                <p:oleObj r:id="rId2" imgW="1308100" imgH="1905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94581" y="1987028"/>
                        <a:ext cx="2346920" cy="3420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186201"/>
              </p:ext>
            </p:extLst>
          </p:nvPr>
        </p:nvGraphicFramePr>
        <p:xfrm>
          <a:off x="1303471" y="2486137"/>
          <a:ext cx="2308860" cy="317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84300" imgH="190500" progId="Equation.KSEE3">
                  <p:embed/>
                </p:oleObj>
              </mc:Choice>
              <mc:Fallback>
                <p:oleObj r:id="rId4" imgW="1384300" imgH="1905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03471" y="2486137"/>
                        <a:ext cx="2308860" cy="3176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035268"/>
              </p:ext>
            </p:extLst>
          </p:nvPr>
        </p:nvGraphicFramePr>
        <p:xfrm>
          <a:off x="4776920" y="2041002"/>
          <a:ext cx="1411605" cy="273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914400" imgH="177165" progId="Equation.KSEE3">
                  <p:embed/>
                </p:oleObj>
              </mc:Choice>
              <mc:Fallback>
                <p:oleObj r:id="rId6" imgW="914400" imgH="177165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76920" y="2041002"/>
                        <a:ext cx="1411605" cy="273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3606262"/>
              </p:ext>
            </p:extLst>
          </p:nvPr>
        </p:nvGraphicFramePr>
        <p:xfrm>
          <a:off x="4758334" y="2450578"/>
          <a:ext cx="656946" cy="269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31800" imgH="177165" progId="Equation.KSEE3">
                  <p:embed/>
                </p:oleObj>
              </mc:Choice>
              <mc:Fallback>
                <p:oleObj r:id="rId8" imgW="431800" imgH="177165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58334" y="2450578"/>
                        <a:ext cx="656946" cy="2697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"/>
          <p:cNvSpPr txBox="1"/>
          <p:nvPr/>
        </p:nvSpPr>
        <p:spPr>
          <a:xfrm>
            <a:off x="300803" y="2903332"/>
            <a:ext cx="8331201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</a:t>
            </a:r>
            <a:r>
              <a:rPr lang="zh-CN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m,(A)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&lt;1000 K&lt;T</a:t>
            </a:r>
            <a:r>
              <a:rPr lang="zh-CN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m,(B)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liquid is chosen as the standard state for 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solid is chosen as the standard state for 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With reference to these standard states, the Gibbs free energies of mixing are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18" name="对象 17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137738"/>
              </p:ext>
            </p:extLst>
          </p:nvPr>
        </p:nvGraphicFramePr>
        <p:xfrm>
          <a:off x="1051089" y="3818843"/>
          <a:ext cx="5741797" cy="443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288665" imgH="254000" progId="Equation.KSEE3">
                  <p:embed/>
                </p:oleObj>
              </mc:Choice>
              <mc:Fallback>
                <p:oleObj r:id="rId10" imgW="3288665" imgH="2540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51089" y="3818843"/>
                        <a:ext cx="5741797" cy="4435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3"/>
          <p:cNvSpPr txBox="1"/>
          <p:nvPr/>
        </p:nvSpPr>
        <p:spPr>
          <a:xfrm>
            <a:off x="384174" y="4269734"/>
            <a:ext cx="8068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for the liquid solutions and</a:t>
            </a:r>
          </a:p>
        </p:txBody>
      </p:sp>
      <p:graphicFrame>
        <p:nvGraphicFramePr>
          <p:cNvPr id="20" name="对象 19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5129060"/>
              </p:ext>
            </p:extLst>
          </p:nvPr>
        </p:nvGraphicFramePr>
        <p:xfrm>
          <a:off x="1070346" y="4666609"/>
          <a:ext cx="5794548" cy="405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632200" imgH="254000" progId="Equation.KSEE3">
                  <p:embed/>
                </p:oleObj>
              </mc:Choice>
              <mc:Fallback>
                <p:oleObj r:id="rId12" imgW="3632200" imgH="2540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70346" y="4666609"/>
                        <a:ext cx="5794548" cy="4052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351795" y="5088117"/>
            <a:ext cx="3609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>
                <a:solidFill>
                  <a:srgbClr val="FF0000"/>
                </a:solidFill>
              </a:rPr>
              <a:t>The formation of idea liquid solution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926157"/>
              </p:ext>
            </p:extLst>
          </p:nvPr>
        </p:nvGraphicFramePr>
        <p:xfrm>
          <a:off x="5252723" y="5394490"/>
          <a:ext cx="3680869" cy="34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819160" imgH="266400" progId="Equation.DSMT4">
                  <p:embed/>
                </p:oleObj>
              </mc:Choice>
              <mc:Fallback>
                <p:oleObj name="Equation" r:id="rId14" imgW="281916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2723" y="5394490"/>
                        <a:ext cx="3680869" cy="34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397288" y="5699866"/>
            <a:ext cx="3524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>
                <a:solidFill>
                  <a:srgbClr val="0000FF"/>
                </a:solidFill>
              </a:rPr>
              <a:t>The formation of idea solid solution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5375704"/>
              </p:ext>
            </p:extLst>
          </p:nvPr>
        </p:nvGraphicFramePr>
        <p:xfrm>
          <a:off x="5351794" y="6069199"/>
          <a:ext cx="3573338" cy="338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819160" imgH="266400" progId="Equation.DSMT4">
                  <p:embed/>
                </p:oleObj>
              </mc:Choice>
              <mc:Fallback>
                <p:oleObj name="Equation" r:id="rId16" imgW="281916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1794" y="6069199"/>
                        <a:ext cx="3573338" cy="3388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圆角矩形 1"/>
          <p:cNvSpPr/>
          <p:nvPr/>
        </p:nvSpPr>
        <p:spPr>
          <a:xfrm>
            <a:off x="5201009" y="5088117"/>
            <a:ext cx="3827721" cy="1365219"/>
          </a:xfrm>
          <a:prstGeom prst="roundRect">
            <a:avLst>
              <a:gd name="adj" fmla="val 6551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4482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74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220" y="3435716"/>
            <a:ext cx="2676524" cy="288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1"/>
          <p:cNvSpPr txBox="1"/>
          <p:nvPr/>
        </p:nvSpPr>
        <p:spPr>
          <a:xfrm>
            <a:off x="1341966" y="200275"/>
            <a:ext cx="63689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Regular solution in both liquid and solid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21544" y="1202793"/>
            <a:ext cx="8166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for the solid solutions. Inserting the numerical data gives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6769994" y="4324702"/>
            <a:ext cx="1857375" cy="0"/>
          </a:xfrm>
          <a:prstGeom prst="line">
            <a:avLst/>
          </a:prstGeom>
          <a:ln w="57150">
            <a:solidFill>
              <a:srgbClr val="FF0000">
                <a:alpha val="36863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6769994" y="4886677"/>
            <a:ext cx="1857375" cy="0"/>
          </a:xfrm>
          <a:prstGeom prst="line">
            <a:avLst/>
          </a:prstGeom>
          <a:ln w="57150">
            <a:solidFill>
              <a:srgbClr val="FF0000">
                <a:alpha val="36863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97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96" y="3376962"/>
            <a:ext cx="5879018" cy="3148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对象 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1201439"/>
              </p:ext>
            </p:extLst>
          </p:nvPr>
        </p:nvGraphicFramePr>
        <p:xfrm>
          <a:off x="7317041" y="2736701"/>
          <a:ext cx="1411288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14400" imgH="177480" progId="Equation.KSEE3">
                  <p:embed/>
                </p:oleObj>
              </mc:Choice>
              <mc:Fallback>
                <p:oleObj r:id="rId4" imgW="914400" imgH="177480" progId="Equation.KSEE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7041" y="2736701"/>
                        <a:ext cx="1411288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8159760"/>
              </p:ext>
            </p:extLst>
          </p:nvPr>
        </p:nvGraphicFramePr>
        <p:xfrm>
          <a:off x="7297991" y="3146276"/>
          <a:ext cx="657225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31640" imgH="177480" progId="Equation.KSEE3">
                  <p:embed/>
                </p:oleObj>
              </mc:Choice>
              <mc:Fallback>
                <p:oleObj r:id="rId6" imgW="431640" imgH="177480" progId="Equation.KSEE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7991" y="3146276"/>
                        <a:ext cx="657225" cy="26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圆角矩形 3"/>
          <p:cNvSpPr/>
          <p:nvPr/>
        </p:nvSpPr>
        <p:spPr>
          <a:xfrm>
            <a:off x="7097876" y="2660501"/>
            <a:ext cx="1813560" cy="83820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EA366A1-ED31-4BC9-804E-1EB1EE6E7B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453147"/>
              </p:ext>
            </p:extLst>
          </p:nvPr>
        </p:nvGraphicFramePr>
        <p:xfrm>
          <a:off x="180282" y="1775544"/>
          <a:ext cx="7442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441920" imgH="812520" progId="Equation.DSMT4">
                  <p:embed/>
                </p:oleObj>
              </mc:Choice>
              <mc:Fallback>
                <p:oleObj name="Equation" r:id="rId8" imgW="74419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0282" y="1775544"/>
                        <a:ext cx="7442200" cy="8128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53852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647" y="3179813"/>
            <a:ext cx="2676524" cy="288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直接连接符 2"/>
          <p:cNvCxnSpPr/>
          <p:nvPr/>
        </p:nvCxnSpPr>
        <p:spPr>
          <a:xfrm>
            <a:off x="6746421" y="5133400"/>
            <a:ext cx="1857375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6746420" y="5485825"/>
            <a:ext cx="1857375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Box 28"/>
          <p:cNvSpPr txBox="1">
            <a:spLocks noChangeArrowheads="1"/>
          </p:cNvSpPr>
          <p:nvPr/>
        </p:nvSpPr>
        <p:spPr bwMode="auto">
          <a:xfrm>
            <a:off x="265054" y="1113850"/>
            <a:ext cx="80140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1800" dirty="0">
                <a:ea typeface="宋体" pitchFamily="2" charset="-122"/>
              </a:rPr>
              <a:t>At temperatures lower than T</a:t>
            </a:r>
            <a:r>
              <a:rPr lang="en-US" altLang="zh-CN" sz="1800" baseline="-25000" dirty="0">
                <a:ea typeface="宋体" pitchFamily="2" charset="-122"/>
              </a:rPr>
              <a:t>m,(A)</a:t>
            </a:r>
            <a:r>
              <a:rPr lang="en-US" altLang="zh-CN" sz="1800" dirty="0">
                <a:ea typeface="宋体" pitchFamily="2" charset="-122"/>
              </a:rPr>
              <a:t> and T</a:t>
            </a:r>
            <a:r>
              <a:rPr lang="en-US" altLang="zh-CN" sz="1800" baseline="-25000" dirty="0">
                <a:ea typeface="宋体" pitchFamily="2" charset="-122"/>
              </a:rPr>
              <a:t>m,(B)</a:t>
            </a:r>
            <a:r>
              <a:rPr lang="en-US" altLang="zh-CN" sz="1800" dirty="0">
                <a:ea typeface="宋体" pitchFamily="2" charset="-122"/>
              </a:rPr>
              <a:t> solid  is chosen as the standard state for both components:</a:t>
            </a:r>
          </a:p>
        </p:txBody>
      </p:sp>
      <p:pic>
        <p:nvPicPr>
          <p:cNvPr id="6" name="image1425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4829" y="1619790"/>
            <a:ext cx="4471592" cy="623887"/>
          </a:xfrm>
          <a:prstGeom prst="rect">
            <a:avLst/>
          </a:prstGeom>
        </p:spPr>
      </p:pic>
      <p:pic>
        <p:nvPicPr>
          <p:cNvPr id="7" name="image1426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4829" y="2379408"/>
            <a:ext cx="2395142" cy="261938"/>
          </a:xfrm>
          <a:prstGeom prst="rect">
            <a:avLst/>
          </a:prstGeom>
        </p:spPr>
      </p:pic>
      <p:sp>
        <p:nvSpPr>
          <p:cNvPr id="15" name="TextBox 11"/>
          <p:cNvSpPr txBox="1"/>
          <p:nvPr/>
        </p:nvSpPr>
        <p:spPr>
          <a:xfrm>
            <a:off x="1259632" y="200275"/>
            <a:ext cx="63689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Regular solution in both liquid and solid</a:t>
            </a:r>
          </a:p>
        </p:txBody>
      </p:sp>
      <p:pic>
        <p:nvPicPr>
          <p:cNvPr id="16384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83" y="3068960"/>
            <a:ext cx="5821212" cy="3022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9047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3098006"/>
            <a:ext cx="2819400" cy="304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11"/>
          <p:cNvSpPr txBox="1"/>
          <p:nvPr/>
        </p:nvSpPr>
        <p:spPr>
          <a:xfrm>
            <a:off x="1115616" y="208306"/>
            <a:ext cx="72400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Regular solution in both liquid and solid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5326857" y="5521054"/>
            <a:ext cx="1857375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 Box 28"/>
          <p:cNvSpPr txBox="1">
            <a:spLocks noChangeArrowheads="1"/>
          </p:cNvSpPr>
          <p:nvPr/>
        </p:nvSpPr>
        <p:spPr bwMode="auto">
          <a:xfrm>
            <a:off x="383107" y="1232666"/>
            <a:ext cx="80140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zh-CN" sz="1800" dirty="0">
                <a:ea typeface="宋体" pitchFamily="2" charset="-122"/>
              </a:rPr>
              <a:t>At temperatures lower than T</a:t>
            </a:r>
            <a:r>
              <a:rPr lang="en-US" altLang="zh-CN" sz="1800" baseline="-25000" dirty="0">
                <a:ea typeface="宋体" pitchFamily="2" charset="-122"/>
              </a:rPr>
              <a:t>m,(A)</a:t>
            </a:r>
            <a:r>
              <a:rPr lang="en-US" altLang="zh-CN" sz="1800" dirty="0">
                <a:ea typeface="宋体" pitchFamily="2" charset="-122"/>
              </a:rPr>
              <a:t> and T</a:t>
            </a:r>
            <a:r>
              <a:rPr lang="en-US" altLang="zh-CN" sz="1800" baseline="-25000" dirty="0">
                <a:ea typeface="宋体" pitchFamily="2" charset="-122"/>
              </a:rPr>
              <a:t>m,(B)</a:t>
            </a:r>
            <a:r>
              <a:rPr lang="en-US" altLang="zh-CN" sz="1800" dirty="0">
                <a:ea typeface="宋体" pitchFamily="2" charset="-122"/>
              </a:rPr>
              <a:t> solid  is chosen as the standard state for both components:</a:t>
            </a:r>
          </a:p>
        </p:txBody>
      </p:sp>
      <p:pic>
        <p:nvPicPr>
          <p:cNvPr id="19" name="image1425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92882" y="1738606"/>
            <a:ext cx="4471592" cy="623887"/>
          </a:xfrm>
          <a:prstGeom prst="rect">
            <a:avLst/>
          </a:prstGeom>
        </p:spPr>
      </p:pic>
      <p:pic>
        <p:nvPicPr>
          <p:cNvPr id="20" name="image1426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92882" y="2498224"/>
            <a:ext cx="2395142" cy="261938"/>
          </a:xfrm>
          <a:prstGeom prst="rect">
            <a:avLst/>
          </a:prstGeom>
        </p:spPr>
      </p:pic>
      <p:pic>
        <p:nvPicPr>
          <p:cNvPr id="16486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19" y="3035027"/>
            <a:ext cx="3583305" cy="3289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34931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77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43" y="3777668"/>
            <a:ext cx="4694749" cy="256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077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019" y="1252978"/>
            <a:ext cx="4431573" cy="235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07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3" y="1206070"/>
            <a:ext cx="4495800" cy="2463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1"/>
          <p:cNvSpPr txBox="1"/>
          <p:nvPr/>
        </p:nvSpPr>
        <p:spPr>
          <a:xfrm>
            <a:off x="1415620" y="200275"/>
            <a:ext cx="72400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Regular solution in both liquid and solid</a:t>
            </a:r>
          </a:p>
        </p:txBody>
      </p:sp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051320"/>
              </p:ext>
            </p:extLst>
          </p:nvPr>
        </p:nvGraphicFramePr>
        <p:xfrm>
          <a:off x="6348145" y="5026110"/>
          <a:ext cx="1281452" cy="349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838200" imgH="228600" progId="Equation.KSEE3">
                  <p:embed/>
                </p:oleObj>
              </mc:Choice>
              <mc:Fallback>
                <p:oleObj r:id="rId5" imgW="838200" imgH="2286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48145" y="5026110"/>
                        <a:ext cx="1281452" cy="349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109029"/>
              </p:ext>
            </p:extLst>
          </p:nvPr>
        </p:nvGraphicFramePr>
        <p:xfrm>
          <a:off x="6348145" y="4607622"/>
          <a:ext cx="1273101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812800" imgH="228600" progId="Equation.KSEE3">
                  <p:embed/>
                </p:oleObj>
              </mc:Choice>
              <mc:Fallback>
                <p:oleObj r:id="rId7" imgW="812800" imgH="2286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48145" y="4607622"/>
                        <a:ext cx="1273101" cy="360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560" y="1459844"/>
            <a:ext cx="55175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800K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60246" y="1458355"/>
            <a:ext cx="55175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700K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56838" y="1456866"/>
            <a:ext cx="55175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661K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32592" y="1435260"/>
            <a:ext cx="55175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601K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74395" y="3777668"/>
            <a:ext cx="3204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Phase diagram of binary system 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5189339" y="4072723"/>
            <a:ext cx="3916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sym typeface="+mn-ea"/>
              </a:rPr>
              <a:t>Regular solution in both liquid and solid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658" y="4043211"/>
            <a:ext cx="55175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500K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0253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79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54" y="4032409"/>
            <a:ext cx="4229064" cy="227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17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818" y="1316690"/>
            <a:ext cx="4714382" cy="2474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17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6690"/>
            <a:ext cx="4680726" cy="2534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11"/>
          <p:cNvSpPr txBox="1"/>
          <p:nvPr/>
        </p:nvSpPr>
        <p:spPr>
          <a:xfrm>
            <a:off x="1060696" y="292387"/>
            <a:ext cx="72400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Regular solution in both liquid and solid</a:t>
            </a:r>
          </a:p>
        </p:txBody>
      </p:sp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3651130"/>
              </p:ext>
            </p:extLst>
          </p:nvPr>
        </p:nvGraphicFramePr>
        <p:xfrm>
          <a:off x="6182474" y="5221479"/>
          <a:ext cx="1230307" cy="329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850680" imgH="228600" progId="Equation.KSEE3">
                  <p:embed/>
                </p:oleObj>
              </mc:Choice>
              <mc:Fallback>
                <p:oleObj r:id="rId5" imgW="850680" imgH="228600" progId="Equation.KSEE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2474" y="5221479"/>
                        <a:ext cx="1230307" cy="3298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554624"/>
              </p:ext>
            </p:extLst>
          </p:nvPr>
        </p:nvGraphicFramePr>
        <p:xfrm>
          <a:off x="6205525" y="5591462"/>
          <a:ext cx="1181275" cy="334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812520" imgH="228600" progId="Equation.KSEE3">
                  <p:embed/>
                </p:oleObj>
              </mc:Choice>
              <mc:Fallback>
                <p:oleObj r:id="rId7" imgW="812520" imgH="228600" progId="Equation.KSEE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5525" y="5591462"/>
                        <a:ext cx="1181275" cy="3343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285603" y="4144483"/>
            <a:ext cx="3204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Phase diagram of binary system 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5100547" y="4439538"/>
            <a:ext cx="3916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sym typeface="+mn-ea"/>
              </a:rPr>
              <a:t>Regular solution in both liquid and solid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872" y="1895811"/>
            <a:ext cx="57900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1203K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77672" y="1979034"/>
            <a:ext cx="57900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1150K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83927" y="1618812"/>
            <a:ext cx="57900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1090K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36588" y="1577201"/>
            <a:ext cx="50045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950K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92945" y="4190649"/>
            <a:ext cx="50045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</a:rPr>
              <a:t>789K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9812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3312752"/>
              </p:ext>
            </p:extLst>
          </p:nvPr>
        </p:nvGraphicFramePr>
        <p:xfrm>
          <a:off x="1186955" y="2143909"/>
          <a:ext cx="657225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31640" imgH="177480" progId="Equation.KSEE3">
                  <p:embed/>
                </p:oleObj>
              </mc:Choice>
              <mc:Fallback>
                <p:oleObj r:id="rId2" imgW="431640" imgH="177480" progId="Equation.KSEE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6955" y="2143909"/>
                        <a:ext cx="657225" cy="26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557427"/>
              </p:ext>
            </p:extLst>
          </p:nvPr>
        </p:nvGraphicFramePr>
        <p:xfrm>
          <a:off x="1206005" y="1734334"/>
          <a:ext cx="1411288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14400" imgH="177480" progId="Equation.KSEE3">
                  <p:embed/>
                </p:oleObj>
              </mc:Choice>
              <mc:Fallback>
                <p:oleObj r:id="rId4" imgW="914400" imgH="177480" progId="Equation.KSEE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005" y="1734334"/>
                        <a:ext cx="1411288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723161"/>
              </p:ext>
            </p:extLst>
          </p:nvPr>
        </p:nvGraphicFramePr>
        <p:xfrm>
          <a:off x="4155389" y="2103465"/>
          <a:ext cx="1281452" cy="349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838200" imgH="228600" progId="Equation.KSEE3">
                  <p:embed/>
                </p:oleObj>
              </mc:Choice>
              <mc:Fallback>
                <p:oleObj r:id="rId6" imgW="838200" imgH="2286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55389" y="2103465"/>
                        <a:ext cx="1281452" cy="349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2939052"/>
              </p:ext>
            </p:extLst>
          </p:nvPr>
        </p:nvGraphicFramePr>
        <p:xfrm>
          <a:off x="4155389" y="1684977"/>
          <a:ext cx="1273101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812800" imgH="228600" progId="Equation.KSEE3">
                  <p:embed/>
                </p:oleObj>
              </mc:Choice>
              <mc:Fallback>
                <p:oleObj r:id="rId8" imgW="812800" imgH="22860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55389" y="1684977"/>
                        <a:ext cx="1273101" cy="360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116039"/>
              </p:ext>
            </p:extLst>
          </p:nvPr>
        </p:nvGraphicFramePr>
        <p:xfrm>
          <a:off x="6907800" y="2100212"/>
          <a:ext cx="123031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850680" imgH="228600" progId="Equation.KSEE3">
                  <p:embed/>
                </p:oleObj>
              </mc:Choice>
              <mc:Fallback>
                <p:oleObj r:id="rId10" imgW="850680" imgH="228600" progId="Equation.KSEE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7800" y="2100212"/>
                        <a:ext cx="1230313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189483"/>
              </p:ext>
            </p:extLst>
          </p:nvPr>
        </p:nvGraphicFramePr>
        <p:xfrm>
          <a:off x="6907800" y="1672317"/>
          <a:ext cx="11811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812520" imgH="228600" progId="Equation.KSEE3">
                  <p:embed/>
                </p:oleObj>
              </mc:Choice>
              <mc:Fallback>
                <p:oleObj r:id="rId12" imgW="812520" imgH="228600" progId="Equation.KSEE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7800" y="1672317"/>
                        <a:ext cx="1181100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1"/>
          <p:cNvSpPr txBox="1"/>
          <p:nvPr/>
        </p:nvSpPr>
        <p:spPr>
          <a:xfrm>
            <a:off x="1403648" y="230846"/>
            <a:ext cx="72587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Effect of </a:t>
            </a:r>
            <a:r>
              <a:rPr lang="el-GR" altLang="zh-CN" sz="32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sz="3200" b="1" baseline="-25000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l </a:t>
            </a:r>
            <a:r>
              <a:rPr lang="en-US" altLang="zh-CN" sz="32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 and </a:t>
            </a:r>
            <a:r>
              <a:rPr lang="el-GR" altLang="zh-CN" sz="32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sz="3200" b="1" baseline="-25000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s </a:t>
            </a:r>
            <a:r>
              <a:rPr lang="en-US" altLang="zh-CN" sz="32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 on the phase diagram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162824" name="Picture 8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360" y="2808566"/>
            <a:ext cx="2765240" cy="3085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2825" name="Picture 9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1" y="2897966"/>
            <a:ext cx="2667000" cy="2906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2826" name="Picture 10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015" y="2897966"/>
            <a:ext cx="2715985" cy="3017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72684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8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153" y="1151042"/>
            <a:ext cx="6912647" cy="5449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1"/>
          <p:cNvSpPr txBox="1"/>
          <p:nvPr/>
        </p:nvSpPr>
        <p:spPr>
          <a:xfrm>
            <a:off x="1206163" y="116632"/>
            <a:ext cx="72587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Effect of </a:t>
            </a:r>
            <a:r>
              <a:rPr lang="el-GR" altLang="zh-CN" sz="32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sz="3200" b="1" baseline="-25000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l </a:t>
            </a:r>
            <a:r>
              <a:rPr lang="en-US" altLang="zh-CN" sz="32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 and </a:t>
            </a:r>
            <a:r>
              <a:rPr lang="el-GR" altLang="zh-CN" sz="32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sz="3200" b="1" baseline="-25000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s </a:t>
            </a:r>
            <a:r>
              <a:rPr lang="en-US" altLang="zh-CN" sz="32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 on the phase diagram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13062" y="5164678"/>
            <a:ext cx="38547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/>
              <a:t>Topological changes</a:t>
            </a:r>
            <a:endParaRPr lang="en-US" altLang="zh-CN" dirty="0"/>
          </a:p>
          <a:p>
            <a:pPr algn="r"/>
            <a:r>
              <a:rPr lang="zh-CN" altLang="en-US" dirty="0"/>
              <a:t> in the phase diagram </a:t>
            </a:r>
            <a:endParaRPr lang="en-US" altLang="zh-CN" dirty="0"/>
          </a:p>
          <a:p>
            <a:pPr algn="r"/>
            <a:r>
              <a:rPr lang="zh-CN" altLang="en-US" dirty="0"/>
              <a:t>for a system A–B </a:t>
            </a:r>
            <a:endParaRPr lang="en-US" altLang="zh-CN" dirty="0"/>
          </a:p>
          <a:p>
            <a:pPr algn="r"/>
            <a:r>
              <a:rPr lang="zh-CN" altLang="en-US" dirty="0"/>
              <a:t>with regular solid and liquid solutions </a:t>
            </a:r>
          </a:p>
        </p:txBody>
      </p:sp>
      <p:sp>
        <p:nvSpPr>
          <p:cNvPr id="3" name="矩形 2"/>
          <p:cNvSpPr/>
          <p:nvPr/>
        </p:nvSpPr>
        <p:spPr>
          <a:xfrm>
            <a:off x="3533076" y="921105"/>
            <a:ext cx="119135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l-GR" altLang="zh-CN" b="1" i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b="1" i="1" baseline="-25000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l</a:t>
            </a:r>
            <a:r>
              <a:rPr lang="zh-CN" altLang="en-US" b="1" baseline="-25000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[kJ]</a:t>
            </a:r>
            <a:r>
              <a:rPr lang="zh-CN" altLang="en-US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　</a:t>
            </a:r>
            <a:r>
              <a:rPr lang="en-US" altLang="zh-CN" b="1" baseline="-25000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 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 rot="16200000">
            <a:off x="-30010" y="3639725"/>
            <a:ext cx="119135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l-GR" altLang="zh-CN" b="1" i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b="1" i="1" baseline="-25000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s</a:t>
            </a:r>
            <a:r>
              <a:rPr lang="zh-CN" altLang="en-US" b="1" baseline="-25000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[kJ]</a:t>
            </a:r>
            <a:r>
              <a:rPr lang="zh-CN" altLang="en-US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　</a:t>
            </a:r>
            <a:r>
              <a:rPr lang="en-US" altLang="zh-CN" b="1" baseline="-25000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 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014615" y="1227242"/>
            <a:ext cx="2605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</a:rPr>
              <a:t>0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50817" y="1227242"/>
            <a:ext cx="42177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</a:rPr>
              <a:t>-10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68184" y="1227242"/>
            <a:ext cx="42177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</a:rPr>
              <a:t>-20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83424" y="1227242"/>
            <a:ext cx="5842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</a:rPr>
              <a:t>+10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50221" y="1227242"/>
            <a:ext cx="5842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</a:rPr>
              <a:t>+20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38983" y="4311144"/>
            <a:ext cx="2605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</a:rPr>
              <a:t>0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6942" y="3088386"/>
            <a:ext cx="55844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>
                <a:solidFill>
                  <a:srgbClr val="0000FF"/>
                </a:solidFill>
              </a:rPr>
              <a:t>+15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2594" y="1791996"/>
            <a:ext cx="55844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>
                <a:solidFill>
                  <a:srgbClr val="0000FF"/>
                </a:solidFill>
              </a:rPr>
              <a:t>+30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62697" y="5764843"/>
            <a:ext cx="55844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>
                <a:solidFill>
                  <a:srgbClr val="0000FF"/>
                </a:solidFill>
              </a:rPr>
              <a:t>-15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07704" y="1807161"/>
            <a:ext cx="243978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100" b="1" i="1" dirty="0"/>
              <a:t>L</a:t>
            </a:r>
            <a:endParaRPr lang="zh-CN" altLang="en-US" sz="1100" b="1" i="1" dirty="0"/>
          </a:p>
        </p:txBody>
      </p:sp>
      <p:sp>
        <p:nvSpPr>
          <p:cNvPr id="27" name="TextBox 26"/>
          <p:cNvSpPr txBox="1"/>
          <p:nvPr/>
        </p:nvSpPr>
        <p:spPr>
          <a:xfrm>
            <a:off x="2897653" y="1791996"/>
            <a:ext cx="243978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100" b="1" i="1" dirty="0"/>
              <a:t>L</a:t>
            </a:r>
            <a:endParaRPr lang="zh-CN" altLang="en-US" sz="1100" b="1" i="1" dirty="0"/>
          </a:p>
        </p:txBody>
      </p:sp>
      <p:sp>
        <p:nvSpPr>
          <p:cNvPr id="28" name="TextBox 27"/>
          <p:cNvSpPr txBox="1"/>
          <p:nvPr/>
        </p:nvSpPr>
        <p:spPr>
          <a:xfrm>
            <a:off x="3884774" y="1684274"/>
            <a:ext cx="243978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100" b="1" i="1" dirty="0"/>
              <a:t>L</a:t>
            </a:r>
            <a:endParaRPr lang="zh-CN" altLang="en-US" sz="1100" b="1" i="1" dirty="0"/>
          </a:p>
        </p:txBody>
      </p:sp>
      <p:sp>
        <p:nvSpPr>
          <p:cNvPr id="29" name="TextBox 28"/>
          <p:cNvSpPr txBox="1"/>
          <p:nvPr/>
        </p:nvSpPr>
        <p:spPr>
          <a:xfrm>
            <a:off x="4831556" y="1676356"/>
            <a:ext cx="243978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100" b="1" i="1" dirty="0"/>
              <a:t>L</a:t>
            </a:r>
            <a:endParaRPr lang="zh-CN" altLang="en-US" sz="1100" b="1" i="1" dirty="0"/>
          </a:p>
        </p:txBody>
      </p:sp>
      <p:sp>
        <p:nvSpPr>
          <p:cNvPr id="30" name="TextBox 29"/>
          <p:cNvSpPr txBox="1"/>
          <p:nvPr/>
        </p:nvSpPr>
        <p:spPr>
          <a:xfrm>
            <a:off x="1895728" y="3018721"/>
            <a:ext cx="243978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100" b="1" i="1" dirty="0"/>
              <a:t>L</a:t>
            </a:r>
            <a:endParaRPr lang="zh-CN" altLang="en-US" sz="1100" b="1" i="1" dirty="0"/>
          </a:p>
        </p:txBody>
      </p:sp>
      <p:sp>
        <p:nvSpPr>
          <p:cNvPr id="31" name="TextBox 30"/>
          <p:cNvSpPr txBox="1"/>
          <p:nvPr/>
        </p:nvSpPr>
        <p:spPr>
          <a:xfrm>
            <a:off x="2828828" y="2942521"/>
            <a:ext cx="243978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100" b="1" i="1" dirty="0"/>
              <a:t>L</a:t>
            </a:r>
            <a:endParaRPr lang="zh-CN" altLang="en-US" sz="1100" b="1" i="1" dirty="0"/>
          </a:p>
        </p:txBody>
      </p:sp>
      <p:sp>
        <p:nvSpPr>
          <p:cNvPr id="32" name="TextBox 31"/>
          <p:cNvSpPr txBox="1"/>
          <p:nvPr/>
        </p:nvSpPr>
        <p:spPr>
          <a:xfrm>
            <a:off x="3810000" y="2866321"/>
            <a:ext cx="243978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100" b="1" i="1" dirty="0"/>
              <a:t>L</a:t>
            </a:r>
            <a:endParaRPr lang="zh-CN" altLang="en-US" sz="1100" b="1" i="1" dirty="0"/>
          </a:p>
        </p:txBody>
      </p:sp>
      <p:sp>
        <p:nvSpPr>
          <p:cNvPr id="33" name="TextBox 32"/>
          <p:cNvSpPr txBox="1"/>
          <p:nvPr/>
        </p:nvSpPr>
        <p:spPr>
          <a:xfrm>
            <a:off x="4800600" y="2866321"/>
            <a:ext cx="243978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100" b="1" i="1" dirty="0"/>
              <a:t>L</a:t>
            </a:r>
            <a:endParaRPr lang="zh-CN" altLang="en-US" sz="1100" b="1" i="1" dirty="0"/>
          </a:p>
        </p:txBody>
      </p:sp>
      <p:sp>
        <p:nvSpPr>
          <p:cNvPr id="34" name="TextBox 33"/>
          <p:cNvSpPr txBox="1"/>
          <p:nvPr/>
        </p:nvSpPr>
        <p:spPr>
          <a:xfrm>
            <a:off x="5715000" y="2790121"/>
            <a:ext cx="232756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900" b="1" i="1" dirty="0"/>
              <a:t>L</a:t>
            </a:r>
            <a:endParaRPr lang="zh-CN" altLang="en-US" sz="900" b="1" i="1" dirty="0"/>
          </a:p>
        </p:txBody>
      </p:sp>
      <p:sp>
        <p:nvSpPr>
          <p:cNvPr id="35" name="TextBox 34"/>
          <p:cNvSpPr txBox="1"/>
          <p:nvPr/>
        </p:nvSpPr>
        <p:spPr>
          <a:xfrm>
            <a:off x="1868184" y="4113412"/>
            <a:ext cx="232756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900" b="1" i="1" dirty="0"/>
              <a:t>L</a:t>
            </a:r>
            <a:endParaRPr lang="zh-CN" altLang="en-US" sz="900" b="1" i="1" dirty="0"/>
          </a:p>
        </p:txBody>
      </p:sp>
      <p:sp>
        <p:nvSpPr>
          <p:cNvPr id="36" name="TextBox 35"/>
          <p:cNvSpPr txBox="1"/>
          <p:nvPr/>
        </p:nvSpPr>
        <p:spPr>
          <a:xfrm>
            <a:off x="2928948" y="4113412"/>
            <a:ext cx="232756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900" b="1" i="1" dirty="0"/>
              <a:t>L</a:t>
            </a:r>
            <a:endParaRPr lang="zh-CN" altLang="en-US" sz="900" b="1" i="1" dirty="0"/>
          </a:p>
        </p:txBody>
      </p:sp>
      <p:sp>
        <p:nvSpPr>
          <p:cNvPr id="37" name="TextBox 36"/>
          <p:cNvSpPr txBox="1"/>
          <p:nvPr/>
        </p:nvSpPr>
        <p:spPr>
          <a:xfrm>
            <a:off x="3890385" y="4095491"/>
            <a:ext cx="232756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900" b="1" i="1" dirty="0"/>
              <a:t>L</a:t>
            </a:r>
            <a:endParaRPr lang="zh-CN" altLang="en-US" sz="900" b="1" i="1" dirty="0"/>
          </a:p>
        </p:txBody>
      </p:sp>
      <p:sp>
        <p:nvSpPr>
          <p:cNvPr id="38" name="TextBox 37"/>
          <p:cNvSpPr txBox="1"/>
          <p:nvPr/>
        </p:nvSpPr>
        <p:spPr>
          <a:xfrm>
            <a:off x="4800600" y="3933121"/>
            <a:ext cx="232756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900" b="1" i="1" dirty="0"/>
              <a:t>L</a:t>
            </a:r>
            <a:endParaRPr lang="zh-CN" altLang="en-US" sz="900" b="1" i="1" dirty="0"/>
          </a:p>
        </p:txBody>
      </p:sp>
      <p:sp>
        <p:nvSpPr>
          <p:cNvPr id="43" name="TextBox 42"/>
          <p:cNvSpPr txBox="1"/>
          <p:nvPr/>
        </p:nvSpPr>
        <p:spPr>
          <a:xfrm>
            <a:off x="5961219" y="3632146"/>
            <a:ext cx="417565" cy="1846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altLang="zh-CN" sz="600" b="1" i="1" dirty="0">
                <a:latin typeface="Sylfaen"/>
              </a:rPr>
              <a:t>α</a:t>
            </a:r>
            <a:r>
              <a:rPr lang="en-US" altLang="zh-CN" sz="600" b="1" i="1" dirty="0">
                <a:latin typeface="Sylfaen"/>
              </a:rPr>
              <a:t>+</a:t>
            </a:r>
            <a:r>
              <a:rPr lang="el-GR" altLang="zh-CN" sz="600" b="1" i="1" dirty="0">
                <a:latin typeface="Sylfaen"/>
              </a:rPr>
              <a:t>α</a:t>
            </a:r>
            <a:r>
              <a:rPr lang="zh-CN" altLang="en-US" sz="600" b="1" i="1" dirty="0">
                <a:latin typeface="Sylfaen"/>
              </a:rPr>
              <a:t>‘</a:t>
            </a:r>
            <a:endParaRPr lang="zh-CN" altLang="en-US" sz="600" b="1" i="1" dirty="0"/>
          </a:p>
        </p:txBody>
      </p:sp>
      <p:sp>
        <p:nvSpPr>
          <p:cNvPr id="44" name="TextBox 43"/>
          <p:cNvSpPr txBox="1"/>
          <p:nvPr/>
        </p:nvSpPr>
        <p:spPr>
          <a:xfrm>
            <a:off x="6907800" y="3632146"/>
            <a:ext cx="417565" cy="1846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altLang="zh-CN" sz="600" b="1" i="1" dirty="0">
                <a:latin typeface="Sylfaen"/>
              </a:rPr>
              <a:t>α</a:t>
            </a:r>
            <a:r>
              <a:rPr lang="en-US" altLang="zh-CN" sz="600" b="1" i="1" dirty="0">
                <a:latin typeface="Sylfaen"/>
              </a:rPr>
              <a:t>+</a:t>
            </a:r>
            <a:r>
              <a:rPr lang="el-GR" altLang="zh-CN" sz="600" b="1" i="1" dirty="0">
                <a:latin typeface="Sylfaen"/>
              </a:rPr>
              <a:t>α</a:t>
            </a:r>
            <a:r>
              <a:rPr lang="zh-CN" altLang="en-US" sz="600" b="1" i="1" dirty="0">
                <a:latin typeface="Sylfaen"/>
              </a:rPr>
              <a:t>‘</a:t>
            </a:r>
            <a:endParaRPr lang="zh-CN" altLang="en-US" sz="600" b="1" i="1" dirty="0"/>
          </a:p>
        </p:txBody>
      </p:sp>
      <p:sp>
        <p:nvSpPr>
          <p:cNvPr id="45" name="TextBox 44"/>
          <p:cNvSpPr txBox="1"/>
          <p:nvPr/>
        </p:nvSpPr>
        <p:spPr>
          <a:xfrm>
            <a:off x="6553200" y="2637721"/>
            <a:ext cx="349776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800" b="1" i="1" dirty="0"/>
              <a:t>L+L’</a:t>
            </a:r>
            <a:endParaRPr lang="zh-CN" altLang="en-US" sz="800" b="1" i="1" dirty="0"/>
          </a:p>
        </p:txBody>
      </p:sp>
      <p:sp>
        <p:nvSpPr>
          <p:cNvPr id="47" name="TextBox 46"/>
          <p:cNvSpPr txBox="1"/>
          <p:nvPr/>
        </p:nvSpPr>
        <p:spPr>
          <a:xfrm>
            <a:off x="5638800" y="2281749"/>
            <a:ext cx="417565" cy="1846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altLang="zh-CN" sz="600" b="1" i="1" dirty="0">
                <a:latin typeface="Sylfaen"/>
              </a:rPr>
              <a:t>α</a:t>
            </a:r>
            <a:r>
              <a:rPr lang="en-US" altLang="zh-CN" sz="600" b="1" i="1" dirty="0">
                <a:latin typeface="Sylfaen"/>
              </a:rPr>
              <a:t>+</a:t>
            </a:r>
            <a:r>
              <a:rPr lang="el-GR" altLang="zh-CN" sz="600" b="1" i="1" dirty="0">
                <a:latin typeface="Sylfaen"/>
              </a:rPr>
              <a:t>α</a:t>
            </a:r>
            <a:r>
              <a:rPr lang="zh-CN" altLang="en-US" sz="600" b="1" i="1" dirty="0">
                <a:latin typeface="Sylfaen"/>
              </a:rPr>
              <a:t>‘</a:t>
            </a:r>
            <a:endParaRPr lang="zh-CN" altLang="en-US" sz="600" b="1" i="1" dirty="0"/>
          </a:p>
        </p:txBody>
      </p:sp>
      <p:sp>
        <p:nvSpPr>
          <p:cNvPr id="48" name="TextBox 47"/>
          <p:cNvSpPr txBox="1"/>
          <p:nvPr/>
        </p:nvSpPr>
        <p:spPr>
          <a:xfrm>
            <a:off x="4724400" y="2297651"/>
            <a:ext cx="417565" cy="1846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altLang="zh-CN" sz="600" b="1" i="1" dirty="0">
                <a:latin typeface="Sylfaen"/>
              </a:rPr>
              <a:t>α</a:t>
            </a:r>
            <a:r>
              <a:rPr lang="en-US" altLang="zh-CN" sz="600" b="1" i="1" dirty="0">
                <a:latin typeface="Sylfaen"/>
              </a:rPr>
              <a:t>+</a:t>
            </a:r>
            <a:r>
              <a:rPr lang="el-GR" altLang="zh-CN" sz="600" b="1" i="1" dirty="0">
                <a:latin typeface="Sylfaen"/>
              </a:rPr>
              <a:t>α</a:t>
            </a:r>
            <a:r>
              <a:rPr lang="zh-CN" altLang="en-US" sz="600" b="1" i="1" dirty="0">
                <a:latin typeface="Sylfaen"/>
              </a:rPr>
              <a:t>‘</a:t>
            </a:r>
            <a:endParaRPr lang="zh-CN" altLang="en-US" sz="600" b="1" i="1" dirty="0"/>
          </a:p>
        </p:txBody>
      </p:sp>
      <p:sp>
        <p:nvSpPr>
          <p:cNvPr id="46" name="TextBox 45"/>
          <p:cNvSpPr txBox="1"/>
          <p:nvPr/>
        </p:nvSpPr>
        <p:spPr>
          <a:xfrm>
            <a:off x="6717947" y="1263144"/>
            <a:ext cx="5842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</a:rPr>
              <a:t>+30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98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8077270" y="3976246"/>
            <a:ext cx="565293" cy="4024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12446" y="4858874"/>
            <a:ext cx="83176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As is shown in the above Figure</a:t>
            </a:r>
          </a:p>
          <a:p>
            <a:r>
              <a:rPr lang="zh-CN" altLang="en-US" b="1" dirty="0">
                <a:solidFill>
                  <a:srgbClr val="FF0000"/>
                </a:solidFill>
              </a:rPr>
              <a:t>the liquid solutions become increasing less stable relative to the solid phases with the consequence that the eutectic temperature is increased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8795" y="2067670"/>
            <a:ext cx="26050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</a:rPr>
              <a:t>0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85459" y="2067670"/>
            <a:ext cx="42177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</a:rPr>
              <a:t>-10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24356" y="2061493"/>
            <a:ext cx="5842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</a:rPr>
              <a:t>+10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22239" y="2093025"/>
            <a:ext cx="5842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</a:rPr>
              <a:t>+20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9755" y="1338505"/>
            <a:ext cx="133241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l-GR" altLang="zh-CN" b="1" dirty="0"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b="1" baseline="-25000" dirty="0" err="1">
                <a:latin typeface="Sylfaen"/>
                <a:ea typeface="宋体" panose="02010600030101010101" pitchFamily="2" charset="-122"/>
                <a:sym typeface="+mn-ea"/>
              </a:rPr>
              <a:t>s</a:t>
            </a:r>
            <a:r>
              <a:rPr lang="en-US" altLang="zh-CN" b="1" dirty="0" err="1">
                <a:latin typeface="Sylfaen"/>
                <a:ea typeface="宋体" panose="02010600030101010101" pitchFamily="2" charset="-122"/>
                <a:sym typeface="+mn-ea"/>
              </a:rPr>
              <a:t>,</a:t>
            </a:r>
            <a:r>
              <a:rPr lang="en-US" altLang="zh-CN" b="1" baseline="-25000" dirty="0" err="1">
                <a:latin typeface="Sylfaen"/>
                <a:ea typeface="宋体" panose="02010600030101010101" pitchFamily="2" charset="-122"/>
                <a:sym typeface="+mn-ea"/>
              </a:rPr>
              <a:t>l</a:t>
            </a:r>
            <a:r>
              <a:rPr lang="zh-CN" altLang="en-US" b="1" baseline="-25000" dirty="0">
                <a:latin typeface="Sylfaen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b="1" dirty="0">
                <a:latin typeface="Sylfaen"/>
                <a:ea typeface="宋体" panose="02010600030101010101" pitchFamily="2" charset="-122"/>
                <a:sym typeface="+mn-ea"/>
              </a:rPr>
              <a:t>[kJ]</a:t>
            </a:r>
            <a:r>
              <a:rPr lang="zh-CN" altLang="en-US" b="1" dirty="0">
                <a:latin typeface="Sylfaen"/>
                <a:ea typeface="宋体" panose="02010600030101010101" pitchFamily="2" charset="-122"/>
                <a:sym typeface="+mn-ea"/>
              </a:rPr>
              <a:t>　</a:t>
            </a:r>
            <a:r>
              <a:rPr lang="en-US" altLang="zh-CN" b="1" baseline="-25000" dirty="0">
                <a:latin typeface="Sylfaen"/>
                <a:ea typeface="宋体" panose="02010600030101010101" pitchFamily="2" charset="-122"/>
                <a:sym typeface="+mn-ea"/>
              </a:rPr>
              <a:t> </a:t>
            </a:r>
            <a:endParaRPr lang="zh-CN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630669" y="2779750"/>
            <a:ext cx="243978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100" b="1" i="1" dirty="0"/>
              <a:t>L</a:t>
            </a:r>
            <a:endParaRPr lang="zh-CN" altLang="en-US" sz="1100" b="1" i="1" dirty="0"/>
          </a:p>
        </p:txBody>
      </p:sp>
      <p:sp>
        <p:nvSpPr>
          <p:cNvPr id="27" name="TextBox 26"/>
          <p:cNvSpPr txBox="1"/>
          <p:nvPr/>
        </p:nvSpPr>
        <p:spPr>
          <a:xfrm>
            <a:off x="2954767" y="2824118"/>
            <a:ext cx="243978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100" b="1" i="1" dirty="0"/>
              <a:t>L</a:t>
            </a:r>
            <a:endParaRPr lang="zh-CN" altLang="en-US" sz="1100" b="1" i="1" dirty="0"/>
          </a:p>
        </p:txBody>
      </p:sp>
      <p:sp>
        <p:nvSpPr>
          <p:cNvPr id="28" name="TextBox 27"/>
          <p:cNvSpPr txBox="1"/>
          <p:nvPr/>
        </p:nvSpPr>
        <p:spPr>
          <a:xfrm>
            <a:off x="4322919" y="2824118"/>
            <a:ext cx="243978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100" b="1" i="1" dirty="0"/>
              <a:t>L</a:t>
            </a:r>
            <a:endParaRPr lang="zh-CN" altLang="en-US" sz="1100" b="1" i="1" dirty="0"/>
          </a:p>
        </p:txBody>
      </p:sp>
      <p:sp>
        <p:nvSpPr>
          <p:cNvPr id="29" name="TextBox 28"/>
          <p:cNvSpPr txBox="1"/>
          <p:nvPr/>
        </p:nvSpPr>
        <p:spPr>
          <a:xfrm>
            <a:off x="5835087" y="2680102"/>
            <a:ext cx="243978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100" b="1" i="1" dirty="0"/>
              <a:t>L</a:t>
            </a:r>
            <a:endParaRPr lang="zh-CN" altLang="en-US" sz="1100" b="1" i="1" dirty="0"/>
          </a:p>
        </p:txBody>
      </p:sp>
      <p:sp>
        <p:nvSpPr>
          <p:cNvPr id="31" name="TextBox 30"/>
          <p:cNvSpPr txBox="1"/>
          <p:nvPr/>
        </p:nvSpPr>
        <p:spPr>
          <a:xfrm>
            <a:off x="5686731" y="3604009"/>
            <a:ext cx="540689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altLang="zh-CN" sz="1100" dirty="0">
                <a:latin typeface="Sylfaen"/>
              </a:rPr>
              <a:t>α</a:t>
            </a:r>
            <a:r>
              <a:rPr lang="en-US" altLang="zh-CN" sz="1100" dirty="0">
                <a:latin typeface="Sylfaen"/>
              </a:rPr>
              <a:t>+</a:t>
            </a:r>
            <a:r>
              <a:rPr lang="el-GR" altLang="zh-CN" sz="1100" dirty="0">
                <a:latin typeface="Sylfaen"/>
              </a:rPr>
              <a:t>α</a:t>
            </a:r>
            <a:r>
              <a:rPr lang="en-US" altLang="zh-CN" sz="1100" dirty="0">
                <a:latin typeface="Sylfaen"/>
              </a:rPr>
              <a:t>’</a:t>
            </a:r>
            <a:endParaRPr lang="zh-CN" altLang="en-US" sz="1100" dirty="0"/>
          </a:p>
        </p:txBody>
      </p:sp>
      <p:sp>
        <p:nvSpPr>
          <p:cNvPr id="32" name="TextBox 31"/>
          <p:cNvSpPr txBox="1"/>
          <p:nvPr/>
        </p:nvSpPr>
        <p:spPr>
          <a:xfrm>
            <a:off x="7231935" y="3625604"/>
            <a:ext cx="540689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altLang="zh-CN" sz="1100" dirty="0">
                <a:latin typeface="Sylfaen"/>
              </a:rPr>
              <a:t>α</a:t>
            </a:r>
            <a:r>
              <a:rPr lang="en-US" altLang="zh-CN" sz="1100" dirty="0">
                <a:latin typeface="Sylfaen"/>
              </a:rPr>
              <a:t>+</a:t>
            </a:r>
            <a:r>
              <a:rPr lang="el-GR" altLang="zh-CN" sz="1100" dirty="0">
                <a:latin typeface="Sylfaen"/>
              </a:rPr>
              <a:t>α</a:t>
            </a:r>
            <a:r>
              <a:rPr lang="en-US" altLang="zh-CN" sz="1100" dirty="0">
                <a:latin typeface="Sylfaen"/>
              </a:rPr>
              <a:t>’</a:t>
            </a:r>
            <a:endParaRPr lang="zh-CN" altLang="en-US" sz="1100" dirty="0"/>
          </a:p>
        </p:txBody>
      </p:sp>
      <p:sp>
        <p:nvSpPr>
          <p:cNvPr id="33" name="TextBox 32"/>
          <p:cNvSpPr txBox="1"/>
          <p:nvPr/>
        </p:nvSpPr>
        <p:spPr>
          <a:xfrm>
            <a:off x="8205669" y="2061493"/>
            <a:ext cx="490840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100" b="1" i="1" dirty="0"/>
              <a:t>L</a:t>
            </a:r>
            <a:r>
              <a:rPr lang="en-US" altLang="zh-CN" sz="1100" b="1" i="1" baseline="-25000" dirty="0"/>
              <a:t>1 </a:t>
            </a:r>
            <a:r>
              <a:rPr lang="en-US" altLang="zh-CN" sz="1100" b="1" i="1" dirty="0"/>
              <a:t>+L</a:t>
            </a:r>
            <a:r>
              <a:rPr lang="en-US" altLang="zh-CN" sz="1100" b="1" i="1" baseline="-25000" dirty="0"/>
              <a:t>2</a:t>
            </a:r>
            <a:endParaRPr lang="zh-CN" altLang="en-US" sz="1100" b="1" i="1" baseline="-25000" dirty="0"/>
          </a:p>
        </p:txBody>
      </p:sp>
      <p:sp>
        <p:nvSpPr>
          <p:cNvPr id="34" name="TextBox 33"/>
          <p:cNvSpPr txBox="1"/>
          <p:nvPr/>
        </p:nvSpPr>
        <p:spPr>
          <a:xfrm>
            <a:off x="1310185" y="4121684"/>
            <a:ext cx="43633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(a)</a:t>
            </a:r>
            <a:endParaRPr lang="zh-CN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2954767" y="4121684"/>
            <a:ext cx="44755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(b)</a:t>
            </a:r>
            <a:endParaRPr lang="zh-CN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4405517" y="4121684"/>
            <a:ext cx="42351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(c)</a:t>
            </a:r>
            <a:endParaRPr lang="zh-CN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5835087" y="4121684"/>
            <a:ext cx="44755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(d)</a:t>
            </a:r>
            <a:endParaRPr lang="zh-CN" alt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7122239" y="4121684"/>
            <a:ext cx="44755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(e)</a:t>
            </a:r>
            <a:endParaRPr lang="zh-CN" altLang="en-US" dirty="0"/>
          </a:p>
        </p:txBody>
      </p:sp>
      <p:sp>
        <p:nvSpPr>
          <p:cNvPr id="39" name="TextBox 11"/>
          <p:cNvSpPr txBox="1"/>
          <p:nvPr/>
        </p:nvSpPr>
        <p:spPr>
          <a:xfrm>
            <a:off x="1492782" y="273437"/>
            <a:ext cx="72587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Effect of </a:t>
            </a:r>
            <a:r>
              <a:rPr lang="el-GR" altLang="zh-CN" sz="32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sz="3200" b="1" baseline="-25000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l </a:t>
            </a:r>
            <a:r>
              <a:rPr lang="en-US" altLang="zh-CN" sz="32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 and </a:t>
            </a:r>
            <a:r>
              <a:rPr lang="el-GR" altLang="zh-CN" sz="32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sz="3200" b="1" baseline="-25000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s </a:t>
            </a:r>
            <a:r>
              <a:rPr lang="en-US" altLang="zh-CN" sz="32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 on the phase diagram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254802" y="1798664"/>
            <a:ext cx="79773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l-GR" altLang="zh-CN" sz="1400" b="1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sz="1400" b="1" baseline="-25000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l </a:t>
            </a:r>
            <a:r>
              <a:rPr lang="en-US" altLang="zh-CN" sz="1400" b="1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=</a:t>
            </a:r>
            <a:r>
              <a:rPr lang="en-US" altLang="zh-CN" sz="1400" b="1" dirty="0">
                <a:solidFill>
                  <a:srgbClr val="0000FF"/>
                </a:solidFill>
                <a:sym typeface="+mn-ea"/>
              </a:rPr>
              <a:t>--20</a:t>
            </a:r>
          </a:p>
          <a:p>
            <a:r>
              <a:rPr lang="el-GR" altLang="zh-CN" sz="14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sz="1400" b="1" baseline="-25000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s</a:t>
            </a:r>
            <a:r>
              <a:rPr lang="en-US" altLang="zh-CN" sz="14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 =30 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812681" y="1831415"/>
            <a:ext cx="79773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l-GR" altLang="zh-CN" sz="1400" b="1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sz="1400" b="1" baseline="-25000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l </a:t>
            </a:r>
            <a:r>
              <a:rPr lang="en-US" altLang="zh-CN" sz="1400" b="1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=</a:t>
            </a:r>
            <a:r>
              <a:rPr lang="en-US" altLang="zh-CN" sz="1400" b="1" dirty="0">
                <a:solidFill>
                  <a:srgbClr val="0000FF"/>
                </a:solidFill>
                <a:sym typeface="+mn-ea"/>
              </a:rPr>
              <a:t>-10</a:t>
            </a:r>
          </a:p>
          <a:p>
            <a:r>
              <a:rPr lang="el-GR" altLang="zh-CN" sz="14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sz="1400" b="1" baseline="-25000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s</a:t>
            </a:r>
            <a:r>
              <a:rPr lang="en-US" altLang="zh-CN" sz="14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 =30 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18404" y="1827325"/>
            <a:ext cx="79773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l-GR" altLang="zh-CN" sz="1400" b="1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sz="1400" b="1" baseline="-25000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l </a:t>
            </a:r>
            <a:r>
              <a:rPr lang="en-US" altLang="zh-CN" sz="1400" b="1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=</a:t>
            </a:r>
            <a:r>
              <a:rPr lang="en-US" altLang="zh-CN" sz="1400" b="1" dirty="0">
                <a:solidFill>
                  <a:srgbClr val="0000FF"/>
                </a:solidFill>
                <a:sym typeface="+mn-ea"/>
              </a:rPr>
              <a:t>0</a:t>
            </a:r>
          </a:p>
          <a:p>
            <a:r>
              <a:rPr lang="el-GR" altLang="zh-CN" sz="14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sz="1400" b="1" baseline="-25000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s</a:t>
            </a:r>
            <a:r>
              <a:rPr lang="en-US" altLang="zh-CN" sz="14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 =30 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643926" y="1812745"/>
            <a:ext cx="79773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l-GR" altLang="zh-CN" sz="1400" b="1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sz="1400" b="1" baseline="-25000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l </a:t>
            </a:r>
            <a:r>
              <a:rPr lang="en-US" altLang="zh-CN" sz="1400" b="1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=1</a:t>
            </a:r>
            <a:r>
              <a:rPr lang="en-US" altLang="zh-CN" sz="1400" b="1" dirty="0">
                <a:solidFill>
                  <a:srgbClr val="0000FF"/>
                </a:solidFill>
                <a:sym typeface="+mn-ea"/>
              </a:rPr>
              <a:t>0</a:t>
            </a:r>
          </a:p>
          <a:p>
            <a:r>
              <a:rPr lang="el-GR" altLang="zh-CN" sz="14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sz="1400" b="1" baseline="-25000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s</a:t>
            </a:r>
            <a:r>
              <a:rPr lang="en-US" altLang="zh-CN" sz="14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 =30 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997121" y="1806060"/>
            <a:ext cx="79773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l-GR" altLang="zh-CN" sz="1400" b="1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sz="1400" b="1" baseline="-25000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l </a:t>
            </a:r>
            <a:r>
              <a:rPr lang="en-US" altLang="zh-CN" sz="1400" b="1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=2</a:t>
            </a:r>
            <a:r>
              <a:rPr lang="en-US" altLang="zh-CN" sz="1400" b="1" dirty="0">
                <a:solidFill>
                  <a:srgbClr val="0000FF"/>
                </a:solidFill>
                <a:sym typeface="+mn-ea"/>
              </a:rPr>
              <a:t>0</a:t>
            </a:r>
          </a:p>
          <a:p>
            <a:r>
              <a:rPr lang="el-GR" altLang="zh-CN" sz="14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sz="1400" b="1" baseline="-25000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s</a:t>
            </a:r>
            <a:r>
              <a:rPr lang="en-US" altLang="zh-CN" sz="14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 =30 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pic>
        <p:nvPicPr>
          <p:cNvPr id="166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502" y="2362200"/>
            <a:ext cx="7162768" cy="225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" name="任意多边形 44"/>
          <p:cNvSpPr/>
          <p:nvPr/>
        </p:nvSpPr>
        <p:spPr>
          <a:xfrm>
            <a:off x="6972744" y="2400802"/>
            <a:ext cx="1405313" cy="888491"/>
          </a:xfrm>
          <a:custGeom>
            <a:avLst/>
            <a:gdLst>
              <a:gd name="connsiteX0" fmla="*/ 996286 w 996286"/>
              <a:gd name="connsiteY0" fmla="*/ 13648 h 668740"/>
              <a:gd name="connsiteX1" fmla="*/ 395785 w 996286"/>
              <a:gd name="connsiteY1" fmla="*/ 0 h 668740"/>
              <a:gd name="connsiteX2" fmla="*/ 0 w 996286"/>
              <a:gd name="connsiteY2" fmla="*/ 668740 h 66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6286" h="668740">
                <a:moveTo>
                  <a:pt x="996286" y="13648"/>
                </a:moveTo>
                <a:lnTo>
                  <a:pt x="395785" y="0"/>
                </a:lnTo>
                <a:lnTo>
                  <a:pt x="0" y="668740"/>
                </a:ln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7944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1"/>
          <p:cNvSpPr txBox="1"/>
          <p:nvPr/>
        </p:nvSpPr>
        <p:spPr>
          <a:xfrm>
            <a:off x="1372171" y="200275"/>
            <a:ext cx="72400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Regular solution in both liquid and solid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913681" y="4290291"/>
            <a:ext cx="57023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/>
              <a:t>(p)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724022" y="4290291"/>
            <a:ext cx="58483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(l)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673575" y="4290291"/>
            <a:ext cx="47244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(f)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989611" y="5091410"/>
            <a:ext cx="68535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the solid phase becomes increasingly less stable</a:t>
            </a:r>
            <a:r>
              <a:rPr lang="zh-CN" altLang="en-US" dirty="0"/>
              <a:t> than the liquid phase, which deepens the depression of the liquidus and solidus curves and eventually forms a eutectic.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8114" y="1722076"/>
            <a:ext cx="81498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altLang="zh-CN" sz="14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sz="1400" b="1" baseline="-25000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s</a:t>
            </a:r>
            <a:r>
              <a:rPr lang="en-US" altLang="zh-CN" sz="14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 =-15 </a:t>
            </a:r>
          </a:p>
          <a:p>
            <a:pPr algn="ctr"/>
            <a:r>
              <a:rPr lang="el-GR" altLang="zh-CN" sz="1400" b="1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sz="1400" b="1" baseline="-25000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l </a:t>
            </a:r>
            <a:r>
              <a:rPr lang="en-US" altLang="zh-CN" sz="1400" b="1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=</a:t>
            </a:r>
            <a:r>
              <a:rPr lang="en-US" altLang="zh-CN" sz="1400" b="1" dirty="0">
                <a:solidFill>
                  <a:srgbClr val="0000FF"/>
                </a:solidFill>
              </a:rPr>
              <a:t>-20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01380" y="1714934"/>
            <a:ext cx="81498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altLang="zh-CN" sz="14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sz="1400" b="1" baseline="-25000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s</a:t>
            </a:r>
            <a:r>
              <a:rPr lang="en-US" altLang="zh-CN" sz="14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 =0 </a:t>
            </a:r>
          </a:p>
          <a:p>
            <a:pPr algn="ctr"/>
            <a:r>
              <a:rPr lang="el-GR" altLang="zh-CN" sz="1400" b="1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sz="1400" b="1" baseline="-25000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l </a:t>
            </a:r>
            <a:r>
              <a:rPr lang="en-US" altLang="zh-CN" sz="1400" b="1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=</a:t>
            </a:r>
            <a:r>
              <a:rPr lang="en-US" altLang="zh-CN" sz="1400" b="1" dirty="0">
                <a:solidFill>
                  <a:srgbClr val="0000FF"/>
                </a:solidFill>
              </a:rPr>
              <a:t>-20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49661" y="1730968"/>
            <a:ext cx="81498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altLang="zh-CN" sz="14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sz="1400" b="1" baseline="-25000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s</a:t>
            </a:r>
            <a:r>
              <a:rPr lang="en-US" altLang="zh-CN" sz="1400" b="1" dirty="0">
                <a:solidFill>
                  <a:srgbClr val="FF0000"/>
                </a:solidFill>
                <a:latin typeface="Sylfaen"/>
                <a:ea typeface="宋体" panose="02010600030101010101" pitchFamily="2" charset="-122"/>
                <a:sym typeface="+mn-ea"/>
              </a:rPr>
              <a:t> =+15 </a:t>
            </a:r>
          </a:p>
          <a:p>
            <a:pPr algn="ctr"/>
            <a:r>
              <a:rPr lang="el-GR" altLang="zh-CN" sz="1400" b="1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sz="1400" b="1" baseline="-25000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l </a:t>
            </a:r>
            <a:r>
              <a:rPr lang="en-US" altLang="zh-CN" sz="1400" b="1" dirty="0">
                <a:solidFill>
                  <a:srgbClr val="0000FF"/>
                </a:solidFill>
                <a:latin typeface="Sylfaen"/>
                <a:ea typeface="宋体" panose="02010600030101010101" pitchFamily="2" charset="-122"/>
                <a:sym typeface="+mn-ea"/>
              </a:rPr>
              <a:t>=</a:t>
            </a:r>
            <a:r>
              <a:rPr lang="en-US" altLang="zh-CN" sz="1400" b="1" dirty="0">
                <a:solidFill>
                  <a:srgbClr val="0000FF"/>
                </a:solidFill>
              </a:rPr>
              <a:t>-20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551586" y="2835043"/>
            <a:ext cx="243978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100" b="1" i="1" dirty="0"/>
              <a:t>L</a:t>
            </a:r>
            <a:endParaRPr lang="zh-CN" altLang="en-US" sz="1100" b="1" i="1" dirty="0"/>
          </a:p>
        </p:txBody>
      </p:sp>
      <p:sp>
        <p:nvSpPr>
          <p:cNvPr id="31" name="矩形 30"/>
          <p:cNvSpPr/>
          <p:nvPr/>
        </p:nvSpPr>
        <p:spPr>
          <a:xfrm>
            <a:off x="39755" y="1338505"/>
            <a:ext cx="133241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l-GR" altLang="zh-CN" b="1" dirty="0">
                <a:latin typeface="Sylfaen"/>
                <a:ea typeface="宋体" panose="02010600030101010101" pitchFamily="2" charset="-122"/>
                <a:sym typeface="+mn-ea"/>
              </a:rPr>
              <a:t>Ω</a:t>
            </a:r>
            <a:r>
              <a:rPr lang="en-US" altLang="zh-CN" b="1" baseline="-25000" dirty="0" err="1">
                <a:latin typeface="Sylfaen"/>
                <a:ea typeface="宋体" panose="02010600030101010101" pitchFamily="2" charset="-122"/>
                <a:sym typeface="+mn-ea"/>
              </a:rPr>
              <a:t>s</a:t>
            </a:r>
            <a:r>
              <a:rPr lang="en-US" altLang="zh-CN" b="1" dirty="0" err="1">
                <a:latin typeface="Sylfaen"/>
                <a:ea typeface="宋体" panose="02010600030101010101" pitchFamily="2" charset="-122"/>
                <a:sym typeface="+mn-ea"/>
              </a:rPr>
              <a:t>,</a:t>
            </a:r>
            <a:r>
              <a:rPr lang="en-US" altLang="zh-CN" b="1" baseline="-25000" dirty="0" err="1">
                <a:latin typeface="Sylfaen"/>
                <a:ea typeface="宋体" panose="02010600030101010101" pitchFamily="2" charset="-122"/>
                <a:sym typeface="+mn-ea"/>
              </a:rPr>
              <a:t>l</a:t>
            </a:r>
            <a:r>
              <a:rPr lang="zh-CN" altLang="en-US" b="1" baseline="-25000" dirty="0">
                <a:latin typeface="Sylfaen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b="1" dirty="0">
                <a:latin typeface="Sylfaen"/>
                <a:ea typeface="宋体" panose="02010600030101010101" pitchFamily="2" charset="-122"/>
                <a:sym typeface="+mn-ea"/>
              </a:rPr>
              <a:t>[kJ]</a:t>
            </a:r>
            <a:r>
              <a:rPr lang="zh-CN" altLang="en-US" b="1" dirty="0">
                <a:latin typeface="Sylfaen"/>
                <a:ea typeface="宋体" panose="02010600030101010101" pitchFamily="2" charset="-122"/>
                <a:sym typeface="+mn-ea"/>
              </a:rPr>
              <a:t>　</a:t>
            </a:r>
            <a:r>
              <a:rPr lang="en-US" altLang="zh-CN" b="1" baseline="-25000" dirty="0">
                <a:latin typeface="Sylfaen"/>
                <a:ea typeface="宋体" panose="02010600030101010101" pitchFamily="2" charset="-122"/>
                <a:sym typeface="+mn-ea"/>
              </a:rPr>
              <a:t> </a:t>
            </a:r>
            <a:endParaRPr lang="zh-CN" altLang="en-US" dirty="0"/>
          </a:p>
        </p:txBody>
      </p:sp>
      <p:pic>
        <p:nvPicPr>
          <p:cNvPr id="16793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03"/>
          <a:stretch/>
        </p:blipFill>
        <p:spPr bwMode="auto">
          <a:xfrm>
            <a:off x="4747800" y="2245297"/>
            <a:ext cx="1905571" cy="2145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793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60"/>
          <a:stretch/>
        </p:blipFill>
        <p:spPr bwMode="auto">
          <a:xfrm>
            <a:off x="3052919" y="2286845"/>
            <a:ext cx="1746757" cy="2103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79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792" y="2286845"/>
            <a:ext cx="1882879" cy="2145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96470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SLIDE_DUENO" val="30"/>
  <p:tag name="ARS_SLIDE_PARTICIPANTNUM" val="30"/>
  <p:tag name="ARS_SLIDE_SUBMITNUM" val="0"/>
  <p:tag name="ARS_SLIDE_CORRECTNUM" val="0"/>
  <p:tag name="ARS_SLIDE_VOTEMEAN" val="0"/>
  <p:tag name="ARS_RESPONSETYPE" val="Slide"/>
  <p:tag name="ARS_CHARTCOLOR_0" val="-12481296"/>
  <p:tag name="ARS_CHARTCOLOR_1" val="-2080758"/>
  <p:tag name="ARS_CHARTCOLOR_2" val="-215999"/>
  <p:tag name="ARS_CHARTCOLOR_3" val="-16423790"/>
  <p:tag name="ARS_CHARTCOLOR_4" val="-4210753"/>
  <p:tag name="ARS_CHARTCOLOR_5" val="-15058071"/>
  <p:tag name="ARS_CHARTCOLOR_6" val="-7294"/>
  <p:tag name="ARS_CHARTCOLOR_7" val="-15557411"/>
  <p:tag name="ARS_CHARTCOLOR_8" val="-3511477"/>
  <p:tag name="ARS_CHARTCOLOR_9" val="-16753445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SLIDE_DUENO" val="30"/>
  <p:tag name="ARS_SLIDE_PARTICIPANTNUM" val="30"/>
  <p:tag name="ARS_SLIDE_SUBMITNUM" val="0"/>
  <p:tag name="ARS_SLIDE_CORRECTNUM" val="0"/>
  <p:tag name="ARS_SLIDE_VOTEMEAN" val="0"/>
  <p:tag name="ARS_RESPONSETYPE" val="Slide"/>
  <p:tag name="ARS_CHARTCOLOR_0" val="-12481296"/>
  <p:tag name="ARS_CHARTCOLOR_1" val="-2080758"/>
  <p:tag name="ARS_CHARTCOLOR_2" val="-215999"/>
  <p:tag name="ARS_CHARTCOLOR_3" val="-16423790"/>
  <p:tag name="ARS_CHARTCOLOR_4" val="-4210753"/>
  <p:tag name="ARS_CHARTCOLOR_5" val="-15058071"/>
  <p:tag name="ARS_CHARTCOLOR_6" val="-7294"/>
  <p:tag name="ARS_CHARTCOLOR_7" val="-15557411"/>
  <p:tag name="ARS_CHARTCOLOR_8" val="-3511477"/>
  <p:tag name="ARS_CHARTCOLOR_9" val="-16753445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SLIDE_DUENO" val="30"/>
  <p:tag name="ARS_SLIDE_PARTICIPANTNUM" val="30"/>
  <p:tag name="ARS_SLIDE_SUBMITNUM" val="0"/>
  <p:tag name="ARS_SLIDE_CORRECTNUM" val="0"/>
  <p:tag name="ARS_SLIDE_VOTEMEAN" val="0"/>
  <p:tag name="ARS_RESPONSETYPE" val="Slide"/>
  <p:tag name="ARS_CHARTCOLOR_0" val="-12481296"/>
  <p:tag name="ARS_CHARTCOLOR_1" val="-2080758"/>
  <p:tag name="ARS_CHARTCOLOR_2" val="-215999"/>
  <p:tag name="ARS_CHARTCOLOR_3" val="-16423790"/>
  <p:tag name="ARS_CHARTCOLOR_4" val="-4210753"/>
  <p:tag name="ARS_CHARTCOLOR_5" val="-15058071"/>
  <p:tag name="ARS_CHARTCOLOR_6" val="-7294"/>
  <p:tag name="ARS_CHARTCOLOR_7" val="-15557411"/>
  <p:tag name="ARS_CHARTCOLOR_8" val="-3511477"/>
  <p:tag name="ARS_CHARTCOLOR_9" val="-16753445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SLIDE_DUENO" val="30"/>
  <p:tag name="ARS_SLIDE_PARTICIPANTNUM" val="30"/>
  <p:tag name="ARS_SLIDE_SUBMITNUM" val="0"/>
  <p:tag name="ARS_SLIDE_CORRECTNUM" val="0"/>
  <p:tag name="ARS_SLIDE_VOTEMEAN" val="0"/>
  <p:tag name="ARS_RESPONSETYPE" val="Slide"/>
  <p:tag name="ARS_CHARTCOLOR_0" val="-12481296"/>
  <p:tag name="ARS_CHARTCOLOR_1" val="-2080758"/>
  <p:tag name="ARS_CHARTCOLOR_2" val="-215999"/>
  <p:tag name="ARS_CHARTCOLOR_3" val="-16423790"/>
  <p:tag name="ARS_CHARTCOLOR_4" val="-4210753"/>
  <p:tag name="ARS_CHARTCOLOR_5" val="-15058071"/>
  <p:tag name="ARS_CHARTCOLOR_6" val="-7294"/>
  <p:tag name="ARS_CHARTCOLOR_7" val="-15557411"/>
  <p:tag name="ARS_CHARTCOLOR_8" val="-3511477"/>
  <p:tag name="ARS_CHARTCOLOR_9" val="-16753445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SLIDE_DUENO" val="30"/>
  <p:tag name="ARS_SLIDE_PARTICIPANTNUM" val="30"/>
  <p:tag name="ARS_SLIDE_SUBMITNUM" val="0"/>
  <p:tag name="ARS_SLIDE_CORRECTNUM" val="0"/>
  <p:tag name="ARS_SLIDE_VOTEMEAN" val="0"/>
  <p:tag name="ARS_RESPONSETYPE" val="Slide"/>
  <p:tag name="ARS_CHARTCOLOR_0" val="-12481296"/>
  <p:tag name="ARS_CHARTCOLOR_1" val="-2080758"/>
  <p:tag name="ARS_CHARTCOLOR_2" val="-215999"/>
  <p:tag name="ARS_CHARTCOLOR_3" val="-16423790"/>
  <p:tag name="ARS_CHARTCOLOR_4" val="-4210753"/>
  <p:tag name="ARS_CHARTCOLOR_5" val="-15058071"/>
  <p:tag name="ARS_CHARTCOLOR_6" val="-7294"/>
  <p:tag name="ARS_CHARTCOLOR_7" val="-15557411"/>
  <p:tag name="ARS_CHARTCOLOR_8" val="-3511477"/>
  <p:tag name="ARS_CHARTCOLOR_9" val="-16753445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SLIDE_DUENO" val="30"/>
  <p:tag name="ARS_SLIDE_PARTICIPANTNUM" val="30"/>
  <p:tag name="ARS_SLIDE_SUBMITNUM" val="0"/>
  <p:tag name="ARS_SLIDE_CORRECTNUM" val="0"/>
  <p:tag name="ARS_SLIDE_VOTEMEAN" val="0"/>
  <p:tag name="ARS_RESPONSETYPE" val="Slide"/>
  <p:tag name="ARS_CHARTCOLOR_0" val="-12481296"/>
  <p:tag name="ARS_CHARTCOLOR_1" val="-2080758"/>
  <p:tag name="ARS_CHARTCOLOR_2" val="-215999"/>
  <p:tag name="ARS_CHARTCOLOR_3" val="-16423790"/>
  <p:tag name="ARS_CHARTCOLOR_4" val="-4210753"/>
  <p:tag name="ARS_CHARTCOLOR_5" val="-15058071"/>
  <p:tag name="ARS_CHARTCOLOR_6" val="-7294"/>
  <p:tag name="ARS_CHARTCOLOR_7" val="-15557411"/>
  <p:tag name="ARS_CHARTCOLOR_8" val="-3511477"/>
  <p:tag name="ARS_CHARTCOLOR_9" val="-16753445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SLIDE_DUENO" val="30"/>
  <p:tag name="ARS_SLIDE_PARTICIPANTNUM" val="30"/>
  <p:tag name="ARS_SLIDE_SUBMITNUM" val="0"/>
  <p:tag name="ARS_SLIDE_CORRECTNUM" val="0"/>
  <p:tag name="ARS_SLIDE_VOTEMEAN" val="0"/>
  <p:tag name="ARS_RESPONSETYPE" val="Slide"/>
  <p:tag name="ARS_CHARTCOLOR_0" val="-12481296"/>
  <p:tag name="ARS_CHARTCOLOR_1" val="-2080758"/>
  <p:tag name="ARS_CHARTCOLOR_2" val="-215999"/>
  <p:tag name="ARS_CHARTCOLOR_3" val="-16423790"/>
  <p:tag name="ARS_CHARTCOLOR_4" val="-4210753"/>
  <p:tag name="ARS_CHARTCOLOR_5" val="-15058071"/>
  <p:tag name="ARS_CHARTCOLOR_6" val="-7294"/>
  <p:tag name="ARS_CHARTCOLOR_7" val="-15557411"/>
  <p:tag name="ARS_CHARTCOLOR_8" val="-3511477"/>
  <p:tag name="ARS_CHARTCOLOR_9" val="-16753445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3832</TotalTime>
  <Words>1795</Words>
  <Application>Microsoft Office PowerPoint</Application>
  <PresentationFormat>全屏显示(4:3)</PresentationFormat>
  <Paragraphs>259</Paragraphs>
  <Slides>37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47" baseType="lpstr">
      <vt:lpstr>Arial Unicode MS</vt:lpstr>
      <vt:lpstr>黑体</vt:lpstr>
      <vt:lpstr>Arial</vt:lpstr>
      <vt:lpstr>Calibri</vt:lpstr>
      <vt:lpstr>Sylfaen</vt:lpstr>
      <vt:lpstr>Times New Roman</vt:lpstr>
      <vt:lpstr>Wingdings</vt:lpstr>
      <vt:lpstr>Office 主题</vt:lpstr>
      <vt:lpstr>Equation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Liu WS</cp:lastModifiedBy>
  <cp:revision>26</cp:revision>
  <cp:lastPrinted>2020-12-15T13:07:40Z</cp:lastPrinted>
  <dcterms:created xsi:type="dcterms:W3CDTF">2019-05-06T03:41:03Z</dcterms:created>
  <dcterms:modified xsi:type="dcterms:W3CDTF">2022-10-27T13:41:24Z</dcterms:modified>
</cp:coreProperties>
</file>