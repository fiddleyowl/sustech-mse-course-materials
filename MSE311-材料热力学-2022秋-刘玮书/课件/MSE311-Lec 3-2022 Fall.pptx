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notesMasterIdLst>
    <p:notesMasterId r:id="rId41"/>
  </p:notesMasterIdLst>
  <p:handoutMasterIdLst>
    <p:handoutMasterId r:id="rId42"/>
  </p:handoutMasterIdLst>
  <p:sldIdLst>
    <p:sldId id="377" r:id="rId2"/>
    <p:sldId id="378" r:id="rId3"/>
    <p:sldId id="393" r:id="rId4"/>
    <p:sldId id="263" r:id="rId5"/>
    <p:sldId id="366" r:id="rId6"/>
    <p:sldId id="264" r:id="rId7"/>
    <p:sldId id="282" r:id="rId8"/>
    <p:sldId id="265" r:id="rId9"/>
    <p:sldId id="283" r:id="rId10"/>
    <p:sldId id="266" r:id="rId11"/>
    <p:sldId id="267" r:id="rId12"/>
    <p:sldId id="386" r:id="rId13"/>
    <p:sldId id="269" r:id="rId14"/>
    <p:sldId id="270" r:id="rId15"/>
    <p:sldId id="390" r:id="rId16"/>
    <p:sldId id="363" r:id="rId17"/>
    <p:sldId id="364" r:id="rId18"/>
    <p:sldId id="284" r:id="rId19"/>
    <p:sldId id="362" r:id="rId20"/>
    <p:sldId id="368" r:id="rId21"/>
    <p:sldId id="389" r:id="rId22"/>
    <p:sldId id="382" r:id="rId23"/>
    <p:sldId id="384" r:id="rId24"/>
    <p:sldId id="383" r:id="rId25"/>
    <p:sldId id="380" r:id="rId26"/>
    <p:sldId id="381" r:id="rId27"/>
    <p:sldId id="397" r:id="rId28"/>
    <p:sldId id="398" r:id="rId29"/>
    <p:sldId id="399" r:id="rId30"/>
    <p:sldId id="400" r:id="rId31"/>
    <p:sldId id="401" r:id="rId32"/>
    <p:sldId id="402" r:id="rId33"/>
    <p:sldId id="403" r:id="rId34"/>
    <p:sldId id="404" r:id="rId35"/>
    <p:sldId id="406" r:id="rId36"/>
    <p:sldId id="407" r:id="rId37"/>
    <p:sldId id="412" r:id="rId38"/>
    <p:sldId id="413" r:id="rId39"/>
    <p:sldId id="414" r:id="rId40"/>
  </p:sldIdLst>
  <p:sldSz cx="9144000" cy="6858000" type="screen4x3"/>
  <p:notesSz cx="6669088" cy="99266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850" autoAdjust="0"/>
  </p:normalViewPr>
  <p:slideViewPr>
    <p:cSldViewPr snapToGrid="0">
      <p:cViewPr varScale="1">
        <p:scale>
          <a:sx n="121" d="100"/>
          <a:sy n="121" d="100"/>
        </p:scale>
        <p:origin x="1236" y="11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777607" y="0"/>
            <a:ext cx="2889938" cy="496332"/>
          </a:xfrm>
          <a:prstGeom prst="rect">
            <a:avLst/>
          </a:prstGeom>
        </p:spPr>
        <p:txBody>
          <a:bodyPr vert="horz" lIns="91440" tIns="45720" rIns="91440" bIns="45720" rtlCol="0"/>
          <a:lstStyle>
            <a:lvl1pPr algn="r">
              <a:defRPr sz="1200"/>
            </a:lvl1pPr>
          </a:lstStyle>
          <a:p>
            <a:fld id="{A72900F5-B10D-4AF3-9643-B31E22FE484C}" type="datetimeFigureOut">
              <a:rPr lang="zh-CN" altLang="en-US" smtClean="0"/>
              <a:t>2022/9/4</a:t>
            </a:fld>
            <a:endParaRPr lang="zh-CN" altLang="en-US"/>
          </a:p>
        </p:txBody>
      </p:sp>
      <p:sp>
        <p:nvSpPr>
          <p:cNvPr id="4" name="页脚占位符 3"/>
          <p:cNvSpPr>
            <a:spLocks noGrp="1"/>
          </p:cNvSpPr>
          <p:nvPr>
            <p:ph type="ftr" sz="quarter" idx="2"/>
          </p:nvPr>
        </p:nvSpPr>
        <p:spPr>
          <a:xfrm>
            <a:off x="0" y="9428583"/>
            <a:ext cx="2889938" cy="496332"/>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777607" y="9428583"/>
            <a:ext cx="2889938" cy="496332"/>
          </a:xfrm>
          <a:prstGeom prst="rect">
            <a:avLst/>
          </a:prstGeom>
        </p:spPr>
        <p:txBody>
          <a:bodyPr vert="horz" lIns="91440" tIns="45720" rIns="91440" bIns="45720" rtlCol="0" anchor="b"/>
          <a:lstStyle>
            <a:lvl1pPr algn="r">
              <a:defRPr sz="1200"/>
            </a:lvl1pPr>
          </a:lstStyle>
          <a:p>
            <a:fld id="{70732D01-29E1-4417-9923-E0D52D05369E}" type="slidenum">
              <a:rPr lang="zh-CN" altLang="en-US" smtClean="0"/>
              <a:t>‹#›</a:t>
            </a:fld>
            <a:endParaRPr lang="zh-CN" altLang="en-US"/>
          </a:p>
        </p:txBody>
      </p:sp>
    </p:spTree>
    <p:extLst>
      <p:ext uri="{BB962C8B-B14F-4D97-AF65-F5344CB8AC3E}">
        <p14:creationId xmlns:p14="http://schemas.microsoft.com/office/powerpoint/2010/main" val="40206155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8056"/>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777607" y="0"/>
            <a:ext cx="2889938" cy="498056"/>
          </a:xfrm>
          <a:prstGeom prst="rect">
            <a:avLst/>
          </a:prstGeom>
        </p:spPr>
        <p:txBody>
          <a:bodyPr vert="horz" lIns="91440" tIns="45720" rIns="91440" bIns="45720" rtlCol="0"/>
          <a:lstStyle>
            <a:lvl1pPr algn="r">
              <a:defRPr sz="1200"/>
            </a:lvl1pPr>
          </a:lstStyle>
          <a:p>
            <a:fld id="{473A478E-90E3-4BE0-BF7B-B1AD7461FEF4}" type="datetimeFigureOut">
              <a:rPr lang="zh-CN" altLang="en-US" smtClean="0"/>
              <a:t>2022/9/4</a:t>
            </a:fld>
            <a:endParaRPr lang="zh-CN" altLang="en-US"/>
          </a:p>
        </p:txBody>
      </p:sp>
      <p:sp>
        <p:nvSpPr>
          <p:cNvPr id="4" name="幻灯片图像占位符 3"/>
          <p:cNvSpPr>
            <a:spLocks noGrp="1" noRot="1" noChangeAspect="1"/>
          </p:cNvSpPr>
          <p:nvPr>
            <p:ph type="sldImg" idx="2"/>
          </p:nvPr>
        </p:nvSpPr>
        <p:spPr>
          <a:xfrm>
            <a:off x="1101725" y="1241425"/>
            <a:ext cx="4465638"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66909" y="4777194"/>
            <a:ext cx="5335270" cy="3908614"/>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28584"/>
            <a:ext cx="2889938" cy="49805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777607" y="9428584"/>
            <a:ext cx="2889938" cy="498055"/>
          </a:xfrm>
          <a:prstGeom prst="rect">
            <a:avLst/>
          </a:prstGeom>
        </p:spPr>
        <p:txBody>
          <a:bodyPr vert="horz" lIns="91440" tIns="45720" rIns="91440" bIns="45720" rtlCol="0" anchor="b"/>
          <a:lstStyle>
            <a:lvl1pPr algn="r">
              <a:defRPr sz="1200"/>
            </a:lvl1pPr>
          </a:lstStyle>
          <a:p>
            <a:fld id="{7F497359-BD37-41E1-AF95-71E7D52515AE}" type="slidenum">
              <a:rPr lang="zh-CN" altLang="en-US" smtClean="0"/>
              <a:t>‹#›</a:t>
            </a:fld>
            <a:endParaRPr lang="zh-CN" altLang="en-US"/>
          </a:p>
        </p:txBody>
      </p:sp>
    </p:spTree>
    <p:extLst>
      <p:ext uri="{BB962C8B-B14F-4D97-AF65-F5344CB8AC3E}">
        <p14:creationId xmlns:p14="http://schemas.microsoft.com/office/powerpoint/2010/main" val="2815872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Recall the concept of equilibrium</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7F497359-BD37-41E1-AF95-71E7D52515AE}" type="slidenum">
              <a:rPr lang="zh-CN" altLang="en-US" smtClean="0"/>
              <a:t>3</a:t>
            </a:fld>
            <a:endParaRPr lang="zh-CN" altLang="en-US"/>
          </a:p>
        </p:txBody>
      </p:sp>
    </p:spTree>
    <p:extLst>
      <p:ext uri="{BB962C8B-B14F-4D97-AF65-F5344CB8AC3E}">
        <p14:creationId xmlns:p14="http://schemas.microsoft.com/office/powerpoint/2010/main" val="3836611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British nobility: Duke; Marquesses; Earls; Viscount; Baron/Lord; </a:t>
            </a:r>
          </a:p>
          <a:p>
            <a:r>
              <a:rPr lang="zh-CN" altLang="en-US" sz="1200" b="0" i="0" kern="1200" dirty="0">
                <a:solidFill>
                  <a:schemeClr val="tx1"/>
                </a:solidFill>
                <a:effectLst/>
                <a:latin typeface="+mn-lt"/>
                <a:ea typeface="+mn-ea"/>
                <a:cs typeface="+mn-cs"/>
              </a:rPr>
              <a:t>公爵，侯爵，伯爵，子爵，男爵 </a:t>
            </a:r>
            <a:endParaRPr lang="zh-CN" altLang="en-US" dirty="0"/>
          </a:p>
        </p:txBody>
      </p:sp>
      <p:sp>
        <p:nvSpPr>
          <p:cNvPr id="4" name="灯片编号占位符 3"/>
          <p:cNvSpPr>
            <a:spLocks noGrp="1"/>
          </p:cNvSpPr>
          <p:nvPr>
            <p:ph type="sldNum" sz="quarter" idx="5"/>
          </p:nvPr>
        </p:nvSpPr>
        <p:spPr/>
        <p:txBody>
          <a:bodyPr/>
          <a:lstStyle/>
          <a:p>
            <a:fld id="{7F497359-BD37-41E1-AF95-71E7D52515AE}" type="slidenum">
              <a:rPr lang="zh-CN" altLang="en-US" smtClean="0"/>
              <a:t>16</a:t>
            </a:fld>
            <a:endParaRPr lang="zh-CN" altLang="en-US"/>
          </a:p>
        </p:txBody>
      </p:sp>
    </p:spTree>
    <p:extLst>
      <p:ext uri="{BB962C8B-B14F-4D97-AF65-F5344CB8AC3E}">
        <p14:creationId xmlns:p14="http://schemas.microsoft.com/office/powerpoint/2010/main" val="35500385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pic>
        <p:nvPicPr>
          <p:cNvPr id="7" name="图片 9">
            <a:extLst>
              <a:ext uri="{FF2B5EF4-FFF2-40B4-BE49-F238E27FC236}">
                <a16:creationId xmlns:a16="http://schemas.microsoft.com/office/drawing/2014/main" id="{36484A2C-39A1-4BDC-B92B-AF52D58B0F5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11">
            <a:extLst>
              <a:ext uri="{FF2B5EF4-FFF2-40B4-BE49-F238E27FC236}">
                <a16:creationId xmlns:a16="http://schemas.microsoft.com/office/drawing/2014/main" id="{56818F0A-1B6A-44A9-9717-55DA1C8C1ED4}"/>
              </a:ext>
            </a:extLst>
          </p:cNvPr>
          <p:cNvGrpSpPr>
            <a:grpSpLocks/>
          </p:cNvGrpSpPr>
          <p:nvPr/>
        </p:nvGrpSpPr>
        <p:grpSpPr bwMode="auto">
          <a:xfrm>
            <a:off x="0" y="4741863"/>
            <a:ext cx="9043988" cy="142875"/>
            <a:chOff x="76199" y="1241003"/>
            <a:chExt cx="9044401" cy="144000"/>
          </a:xfrm>
        </p:grpSpPr>
        <p:sp>
          <p:nvSpPr>
            <p:cNvPr id="9" name="圆角矩形 11">
              <a:extLst>
                <a:ext uri="{FF2B5EF4-FFF2-40B4-BE49-F238E27FC236}">
                  <a16:creationId xmlns:a16="http://schemas.microsoft.com/office/drawing/2014/main" id="{2658448A-EA7B-40C8-99E5-5CDD7E4A2B5E}"/>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2">
              <a:extLst>
                <a:ext uri="{FF2B5EF4-FFF2-40B4-BE49-F238E27FC236}">
                  <a16:creationId xmlns:a16="http://schemas.microsoft.com/office/drawing/2014/main" id="{0F1BA9DE-48A6-4320-A3CB-CA0618F88CA6}"/>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1" name="圆角矩形 13">
              <a:extLst>
                <a:ext uri="{FF2B5EF4-FFF2-40B4-BE49-F238E27FC236}">
                  <a16:creationId xmlns:a16="http://schemas.microsoft.com/office/drawing/2014/main" id="{95532181-9B56-4565-85B0-26FAE243974A}"/>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2" name="图片 18">
            <a:extLst>
              <a:ext uri="{FF2B5EF4-FFF2-40B4-BE49-F238E27FC236}">
                <a16:creationId xmlns:a16="http://schemas.microsoft.com/office/drawing/2014/main" id="{C6EF10A3-5E14-4AC4-BEC5-788C4A6ABF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0">
            <a:extLst>
              <a:ext uri="{FF2B5EF4-FFF2-40B4-BE49-F238E27FC236}">
                <a16:creationId xmlns:a16="http://schemas.microsoft.com/office/drawing/2014/main" id="{E5368EC2-A439-426F-9848-8912DFFAC1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3">
            <a:extLst>
              <a:ext uri="{FF2B5EF4-FFF2-40B4-BE49-F238E27FC236}">
                <a16:creationId xmlns:a16="http://schemas.microsoft.com/office/drawing/2014/main" id="{DB79EDD7-2DA9-41B8-BF25-43496C70960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9">
            <a:extLst>
              <a:ext uri="{FF2B5EF4-FFF2-40B4-BE49-F238E27FC236}">
                <a16:creationId xmlns:a16="http://schemas.microsoft.com/office/drawing/2014/main" id="{AAD387B1-3103-410C-8A6F-61D494AEADD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11">
            <a:extLst>
              <a:ext uri="{FF2B5EF4-FFF2-40B4-BE49-F238E27FC236}">
                <a16:creationId xmlns:a16="http://schemas.microsoft.com/office/drawing/2014/main" id="{EF2F75DC-2FDE-4EE3-8E34-8BABCC7179F1}"/>
              </a:ext>
            </a:extLst>
          </p:cNvPr>
          <p:cNvGrpSpPr>
            <a:grpSpLocks/>
          </p:cNvGrpSpPr>
          <p:nvPr userDrawn="1"/>
        </p:nvGrpSpPr>
        <p:grpSpPr bwMode="auto">
          <a:xfrm>
            <a:off x="0" y="4741863"/>
            <a:ext cx="9043988" cy="142875"/>
            <a:chOff x="76199" y="1241003"/>
            <a:chExt cx="9044401" cy="144000"/>
          </a:xfrm>
        </p:grpSpPr>
        <p:sp>
          <p:nvSpPr>
            <p:cNvPr id="17" name="圆角矩形 11">
              <a:extLst>
                <a:ext uri="{FF2B5EF4-FFF2-40B4-BE49-F238E27FC236}">
                  <a16:creationId xmlns:a16="http://schemas.microsoft.com/office/drawing/2014/main" id="{367FAD37-4817-483B-B455-9B9EAAFE7BD8}"/>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8" name="圆角矩形 12">
              <a:extLst>
                <a:ext uri="{FF2B5EF4-FFF2-40B4-BE49-F238E27FC236}">
                  <a16:creationId xmlns:a16="http://schemas.microsoft.com/office/drawing/2014/main" id="{405E6F80-4ED3-42FA-B9E2-EC6BC04F1A02}"/>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9" name="圆角矩形 13">
              <a:extLst>
                <a:ext uri="{FF2B5EF4-FFF2-40B4-BE49-F238E27FC236}">
                  <a16:creationId xmlns:a16="http://schemas.microsoft.com/office/drawing/2014/main" id="{FFCB71A7-724E-4CF3-8659-D7FFA4994A95}"/>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20" name="图片 18">
            <a:extLst>
              <a:ext uri="{FF2B5EF4-FFF2-40B4-BE49-F238E27FC236}">
                <a16:creationId xmlns:a16="http://schemas.microsoft.com/office/drawing/2014/main" id="{B230B797-9AF8-41D8-B5AB-3C485238D84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20">
            <a:extLst>
              <a:ext uri="{FF2B5EF4-FFF2-40B4-BE49-F238E27FC236}">
                <a16:creationId xmlns:a16="http://schemas.microsoft.com/office/drawing/2014/main" id="{32E52780-17F0-4F25-B262-66C011AE71D7}"/>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3">
            <a:extLst>
              <a:ext uri="{FF2B5EF4-FFF2-40B4-BE49-F238E27FC236}">
                <a16:creationId xmlns:a16="http://schemas.microsoft.com/office/drawing/2014/main" id="{A6617996-BF24-4585-AE38-DD4FEC22395F}"/>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1452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1" name="图片 3">
            <a:extLst>
              <a:ext uri="{FF2B5EF4-FFF2-40B4-BE49-F238E27FC236}">
                <a16:creationId xmlns:a16="http://schemas.microsoft.com/office/drawing/2014/main" id="{B0C51A74-65A9-4F9C-9DAC-5C9B5FEFDC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a:t>2</a:t>
            </a:r>
            <a:endParaRPr lang="zh-CN" altLang="en-US" dirty="0"/>
          </a:p>
        </p:txBody>
      </p:sp>
      <p:grpSp>
        <p:nvGrpSpPr>
          <p:cNvPr id="12" name="组合 11">
            <a:extLst>
              <a:ext uri="{FF2B5EF4-FFF2-40B4-BE49-F238E27FC236}">
                <a16:creationId xmlns:a16="http://schemas.microsoft.com/office/drawing/2014/main" id="{DBE675BB-162D-4CCA-94D2-B314C0C6F644}"/>
              </a:ext>
            </a:extLst>
          </p:cNvPr>
          <p:cNvGrpSpPr>
            <a:grpSpLocks/>
          </p:cNvGrpSpPr>
          <p:nvPr userDrawn="1"/>
        </p:nvGrpSpPr>
        <p:grpSpPr bwMode="auto">
          <a:xfrm>
            <a:off x="41722" y="6645423"/>
            <a:ext cx="9045575" cy="142875"/>
            <a:chOff x="76199" y="1241003"/>
            <a:chExt cx="9044401" cy="144000"/>
          </a:xfrm>
        </p:grpSpPr>
        <p:sp>
          <p:nvSpPr>
            <p:cNvPr id="13" name="圆角矩形 11">
              <a:extLst>
                <a:ext uri="{FF2B5EF4-FFF2-40B4-BE49-F238E27FC236}">
                  <a16:creationId xmlns:a16="http://schemas.microsoft.com/office/drawing/2014/main" id="{8497BCD2-D048-4CC6-AA21-D749E9E85DCE}"/>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4" name="圆角矩形 12">
              <a:extLst>
                <a:ext uri="{FF2B5EF4-FFF2-40B4-BE49-F238E27FC236}">
                  <a16:creationId xmlns:a16="http://schemas.microsoft.com/office/drawing/2014/main" id="{9C83145A-9A38-4389-BA55-B2DC124C7CCE}"/>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5" name="圆角矩形 13">
              <a:extLst>
                <a:ext uri="{FF2B5EF4-FFF2-40B4-BE49-F238E27FC236}">
                  <a16:creationId xmlns:a16="http://schemas.microsoft.com/office/drawing/2014/main" id="{5F30C916-99CD-41F6-B9F5-44A06301974D}"/>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6" name="图片 3">
            <a:extLst>
              <a:ext uri="{FF2B5EF4-FFF2-40B4-BE49-F238E27FC236}">
                <a16:creationId xmlns:a16="http://schemas.microsoft.com/office/drawing/2014/main" id="{408ADF0C-ACC1-4673-9FB1-66E00A81977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6539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6473A-FAF4-414C-9522-3C4BCFE2B205}"/>
              </a:ext>
            </a:extLst>
          </p:cNvPr>
          <p:cNvSpPr>
            <a:spLocks noGrp="1"/>
          </p:cNvSpPr>
          <p:nvPr>
            <p:ph type="title"/>
          </p:nvPr>
        </p:nvSpPr>
        <p:spPr>
          <a:xfrm>
            <a:off x="1014116" y="3100647"/>
            <a:ext cx="7886700" cy="867940"/>
          </a:xfrm>
        </p:spPr>
        <p:txBody>
          <a:bodyPr anchor="b"/>
          <a:lstStyle>
            <a:lvl1pPr>
              <a:defRPr sz="4500">
                <a:latin typeface="Arial Unicode MS" pitchFamily="34" charset="-122"/>
                <a:ea typeface="Arial Unicode MS" pitchFamily="34" charset="-122"/>
                <a:cs typeface="Arial Unicode MS" pitchFamily="34" charset="-122"/>
              </a:defRPr>
            </a:lvl1pPr>
          </a:lstStyle>
          <a:p>
            <a:r>
              <a:rPr lang="zh-CN" altLang="en-US" dirty="0"/>
              <a:t>单击此处编辑母版标题样式</a:t>
            </a:r>
          </a:p>
        </p:txBody>
      </p:sp>
      <p:sp>
        <p:nvSpPr>
          <p:cNvPr id="7" name="圆角矩形 5">
            <a:extLst>
              <a:ext uri="{FF2B5EF4-FFF2-40B4-BE49-F238E27FC236}">
                <a16:creationId xmlns:a16="http://schemas.microsoft.com/office/drawing/2014/main" id="{3BD87344-C6CA-4F87-9448-0B8B7FAF9E1B}"/>
              </a:ext>
            </a:extLst>
          </p:cNvPr>
          <p:cNvSpPr/>
          <p:nvPr userDrawn="1"/>
        </p:nvSpPr>
        <p:spPr>
          <a:xfrm>
            <a:off x="0" y="4044001"/>
            <a:ext cx="952500"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圆角矩形 6">
            <a:extLst>
              <a:ext uri="{FF2B5EF4-FFF2-40B4-BE49-F238E27FC236}">
                <a16:creationId xmlns:a16="http://schemas.microsoft.com/office/drawing/2014/main" id="{6DA4B6E9-D6DC-4952-865A-DA8EE6DB8245}"/>
              </a:ext>
            </a:extLst>
          </p:cNvPr>
          <p:cNvSpPr/>
          <p:nvPr userDrawn="1"/>
        </p:nvSpPr>
        <p:spPr>
          <a:xfrm>
            <a:off x="1014116" y="4044001"/>
            <a:ext cx="3643609"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圆角矩形 7">
            <a:extLst>
              <a:ext uri="{FF2B5EF4-FFF2-40B4-BE49-F238E27FC236}">
                <a16:creationId xmlns:a16="http://schemas.microsoft.com/office/drawing/2014/main" id="{F7595CA0-CBC9-4927-B9FF-0B4BA5FB62ED}"/>
              </a:ext>
            </a:extLst>
          </p:cNvPr>
          <p:cNvSpPr/>
          <p:nvPr userDrawn="1"/>
        </p:nvSpPr>
        <p:spPr>
          <a:xfrm>
            <a:off x="4724400" y="4044001"/>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510138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232448-0BA2-40E5-A2C0-FE19F5B0EFC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C981BA7-2F47-4ADB-915A-3DEA803B6CA4}"/>
              </a:ext>
            </a:extLst>
          </p:cNvPr>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9AE45C7A-E3DB-493E-9698-B006439AB31B}"/>
              </a:ext>
            </a:extLst>
          </p:cNvPr>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CA42E52-6363-4A26-9F01-A62CE34E16AD}"/>
              </a:ext>
            </a:extLst>
          </p:cNvPr>
          <p:cNvSpPr>
            <a:spLocks noGrp="1"/>
          </p:cNvSpPr>
          <p:nvPr>
            <p:ph type="dt" sz="half" idx="10"/>
          </p:nvPr>
        </p:nvSpPr>
        <p:spPr/>
        <p:txBody>
          <a:bodyPr/>
          <a:lstStyle/>
          <a:p>
            <a:fld id="{B9B1AB40-DF97-4AB0-B63B-B6C2904246EB}" type="datetimeFigureOut">
              <a:rPr lang="zh-CN" altLang="en-US" smtClean="0"/>
              <a:t>2022/9/4</a:t>
            </a:fld>
            <a:endParaRPr lang="zh-CN" altLang="en-US"/>
          </a:p>
        </p:txBody>
      </p:sp>
      <p:sp>
        <p:nvSpPr>
          <p:cNvPr id="6" name="页脚占位符 5">
            <a:extLst>
              <a:ext uri="{FF2B5EF4-FFF2-40B4-BE49-F238E27FC236}">
                <a16:creationId xmlns:a16="http://schemas.microsoft.com/office/drawing/2014/main" id="{465B047E-2EC3-4418-B2C1-A69A897003F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5C945B0-B70D-4BF6-A6CF-ED8DAA8C8943}"/>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1869679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E450FD-26B7-480D-8261-CD4C51DD80D3}"/>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464C6F2-EDC6-4263-A281-7872A6E3CF6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a:extLst>
              <a:ext uri="{FF2B5EF4-FFF2-40B4-BE49-F238E27FC236}">
                <a16:creationId xmlns:a16="http://schemas.microsoft.com/office/drawing/2014/main" id="{5CD5D4B2-383D-449C-8900-FB1B3EB93CFF}"/>
              </a:ext>
            </a:extLst>
          </p:cNvPr>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87ABC02C-F6DC-4DAF-938D-195593E621D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a:extLst>
              <a:ext uri="{FF2B5EF4-FFF2-40B4-BE49-F238E27FC236}">
                <a16:creationId xmlns:a16="http://schemas.microsoft.com/office/drawing/2014/main" id="{BA408A11-7060-4D85-B243-5DD965556665}"/>
              </a:ext>
            </a:extLst>
          </p:cNvPr>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DDFAAD3C-B42A-47A7-B768-611AFC7BEB6F}"/>
              </a:ext>
            </a:extLst>
          </p:cNvPr>
          <p:cNvSpPr>
            <a:spLocks noGrp="1"/>
          </p:cNvSpPr>
          <p:nvPr>
            <p:ph type="dt" sz="half" idx="10"/>
          </p:nvPr>
        </p:nvSpPr>
        <p:spPr/>
        <p:txBody>
          <a:bodyPr/>
          <a:lstStyle/>
          <a:p>
            <a:fld id="{B9B1AB40-DF97-4AB0-B63B-B6C2904246EB}" type="datetimeFigureOut">
              <a:rPr lang="zh-CN" altLang="en-US" smtClean="0"/>
              <a:t>2022/9/4</a:t>
            </a:fld>
            <a:endParaRPr lang="zh-CN" altLang="en-US"/>
          </a:p>
        </p:txBody>
      </p:sp>
      <p:sp>
        <p:nvSpPr>
          <p:cNvPr id="8" name="页脚占位符 7">
            <a:extLst>
              <a:ext uri="{FF2B5EF4-FFF2-40B4-BE49-F238E27FC236}">
                <a16:creationId xmlns:a16="http://schemas.microsoft.com/office/drawing/2014/main" id="{F1B5FF39-DD9B-4C57-A344-275219341F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7BEA18A-253C-40CA-A957-3BA37B7A19C7}"/>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83929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75BCCD-B3FE-4D64-9C90-CF64C82B18F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1C5B8F4-1CBB-4613-A7A2-350FF2B86D80}"/>
              </a:ext>
            </a:extLst>
          </p:cNvPr>
          <p:cNvSpPr>
            <a:spLocks noGrp="1"/>
          </p:cNvSpPr>
          <p:nvPr>
            <p:ph type="dt" sz="half" idx="10"/>
          </p:nvPr>
        </p:nvSpPr>
        <p:spPr/>
        <p:txBody>
          <a:bodyPr/>
          <a:lstStyle/>
          <a:p>
            <a:fld id="{B9B1AB40-DF97-4AB0-B63B-B6C2904246EB}" type="datetimeFigureOut">
              <a:rPr lang="zh-CN" altLang="en-US" smtClean="0"/>
              <a:t>2022/9/4</a:t>
            </a:fld>
            <a:endParaRPr lang="zh-CN" altLang="en-US"/>
          </a:p>
        </p:txBody>
      </p:sp>
      <p:sp>
        <p:nvSpPr>
          <p:cNvPr id="4" name="页脚占位符 3">
            <a:extLst>
              <a:ext uri="{FF2B5EF4-FFF2-40B4-BE49-F238E27FC236}">
                <a16:creationId xmlns:a16="http://schemas.microsoft.com/office/drawing/2014/main" id="{D7B22DBA-ADB6-459C-8DDD-B1702C76D87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D426E1B-8DFB-40A0-B0EA-1E9256D1BC74}"/>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2136122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2189721-9F85-4C93-AF25-890CD11FA42C}"/>
              </a:ext>
            </a:extLst>
          </p:cNvPr>
          <p:cNvSpPr>
            <a:spLocks noGrp="1"/>
          </p:cNvSpPr>
          <p:nvPr>
            <p:ph type="dt" sz="half" idx="10"/>
          </p:nvPr>
        </p:nvSpPr>
        <p:spPr/>
        <p:txBody>
          <a:bodyPr/>
          <a:lstStyle/>
          <a:p>
            <a:fld id="{B9B1AB40-DF97-4AB0-B63B-B6C2904246EB}" type="datetimeFigureOut">
              <a:rPr lang="zh-CN" altLang="en-US" smtClean="0"/>
              <a:t>2022/9/4</a:t>
            </a:fld>
            <a:endParaRPr lang="zh-CN" altLang="en-US"/>
          </a:p>
        </p:txBody>
      </p:sp>
      <p:sp>
        <p:nvSpPr>
          <p:cNvPr id="3" name="页脚占位符 2">
            <a:extLst>
              <a:ext uri="{FF2B5EF4-FFF2-40B4-BE49-F238E27FC236}">
                <a16:creationId xmlns:a16="http://schemas.microsoft.com/office/drawing/2014/main" id="{BE57016C-A313-4228-8D34-FC5C12BCC33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0EAED29-461C-427E-94B8-4F64E97E0564}"/>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808515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0F51D1-5EA7-4401-99BA-1EC037C49421}"/>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74CF08B5-D317-4883-94CE-FAEEE05A6E6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486986A2-D743-430F-AA70-9B06B2C0F66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18817CAD-5352-4EAF-B2E4-2B49B31E3EDC}"/>
              </a:ext>
            </a:extLst>
          </p:cNvPr>
          <p:cNvSpPr>
            <a:spLocks noGrp="1"/>
          </p:cNvSpPr>
          <p:nvPr>
            <p:ph type="dt" sz="half" idx="10"/>
          </p:nvPr>
        </p:nvSpPr>
        <p:spPr/>
        <p:txBody>
          <a:bodyPr/>
          <a:lstStyle/>
          <a:p>
            <a:fld id="{B9B1AB40-DF97-4AB0-B63B-B6C2904246EB}" type="datetimeFigureOut">
              <a:rPr lang="zh-CN" altLang="en-US" smtClean="0"/>
              <a:t>2022/9/4</a:t>
            </a:fld>
            <a:endParaRPr lang="zh-CN" altLang="en-US"/>
          </a:p>
        </p:txBody>
      </p:sp>
      <p:sp>
        <p:nvSpPr>
          <p:cNvPr id="6" name="页脚占位符 5">
            <a:extLst>
              <a:ext uri="{FF2B5EF4-FFF2-40B4-BE49-F238E27FC236}">
                <a16:creationId xmlns:a16="http://schemas.microsoft.com/office/drawing/2014/main" id="{71068CC4-251C-4854-9963-7DDB0C8959D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B0C261-FF00-4B26-B51E-6D72F060403F}"/>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2254414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CCB7F6-3B15-4872-B555-7F1565B905D1}"/>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CBFA923F-001E-4E54-AE2E-D70CAC715EB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a:extLst>
              <a:ext uri="{FF2B5EF4-FFF2-40B4-BE49-F238E27FC236}">
                <a16:creationId xmlns:a16="http://schemas.microsoft.com/office/drawing/2014/main" id="{F8120E55-EACB-4D2C-973C-7AE05E56251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7C155047-D836-41BF-B4EC-6E058AC14225}"/>
              </a:ext>
            </a:extLst>
          </p:cNvPr>
          <p:cNvSpPr>
            <a:spLocks noGrp="1"/>
          </p:cNvSpPr>
          <p:nvPr>
            <p:ph type="dt" sz="half" idx="10"/>
          </p:nvPr>
        </p:nvSpPr>
        <p:spPr/>
        <p:txBody>
          <a:bodyPr/>
          <a:lstStyle/>
          <a:p>
            <a:fld id="{B9B1AB40-DF97-4AB0-B63B-B6C2904246EB}" type="datetimeFigureOut">
              <a:rPr lang="zh-CN" altLang="en-US" smtClean="0"/>
              <a:t>2022/9/4</a:t>
            </a:fld>
            <a:endParaRPr lang="zh-CN" altLang="en-US"/>
          </a:p>
        </p:txBody>
      </p:sp>
      <p:sp>
        <p:nvSpPr>
          <p:cNvPr id="6" name="页脚占位符 5">
            <a:extLst>
              <a:ext uri="{FF2B5EF4-FFF2-40B4-BE49-F238E27FC236}">
                <a16:creationId xmlns:a16="http://schemas.microsoft.com/office/drawing/2014/main" id="{ABEDD3A4-3A50-440F-A891-A798B3A6C1D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17A6A10-432E-4945-AF1E-64FDF90A2601}"/>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4044899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116CF1-CD97-4DBA-A96F-F883552B4FB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399B747-8D5C-4895-A7EC-E7332E48E29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87135EC-C807-4A0E-90F1-EE1D3601DEEA}"/>
              </a:ext>
            </a:extLst>
          </p:cNvPr>
          <p:cNvSpPr>
            <a:spLocks noGrp="1"/>
          </p:cNvSpPr>
          <p:nvPr>
            <p:ph type="dt" sz="half" idx="10"/>
          </p:nvPr>
        </p:nvSpPr>
        <p:spPr/>
        <p:txBody>
          <a:bodyPr/>
          <a:lstStyle/>
          <a:p>
            <a:fld id="{B9B1AB40-DF97-4AB0-B63B-B6C2904246EB}" type="datetimeFigureOut">
              <a:rPr lang="zh-CN" altLang="en-US" smtClean="0"/>
              <a:t>2022/9/4</a:t>
            </a:fld>
            <a:endParaRPr lang="zh-CN" altLang="en-US"/>
          </a:p>
        </p:txBody>
      </p:sp>
      <p:sp>
        <p:nvSpPr>
          <p:cNvPr id="5" name="页脚占位符 4">
            <a:extLst>
              <a:ext uri="{FF2B5EF4-FFF2-40B4-BE49-F238E27FC236}">
                <a16:creationId xmlns:a16="http://schemas.microsoft.com/office/drawing/2014/main" id="{FAD0FB47-2483-4992-8D35-B58CEC00DFA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555DE4-AE2F-40B7-AF19-7220940C1185}"/>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4132220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20F266B-DA68-452A-BFC2-0DBF1351710D}"/>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DC26948-9D79-4503-B7E8-FB720785EE46}"/>
              </a:ext>
            </a:extLst>
          </p:cNvPr>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6763795-09C4-4CE3-967D-39D8EED2D346}"/>
              </a:ext>
            </a:extLst>
          </p:cNvPr>
          <p:cNvSpPr>
            <a:spLocks noGrp="1"/>
          </p:cNvSpPr>
          <p:nvPr>
            <p:ph type="dt" sz="half" idx="10"/>
          </p:nvPr>
        </p:nvSpPr>
        <p:spPr/>
        <p:txBody>
          <a:bodyPr/>
          <a:lstStyle/>
          <a:p>
            <a:fld id="{B9B1AB40-DF97-4AB0-B63B-B6C2904246EB}" type="datetimeFigureOut">
              <a:rPr lang="zh-CN" altLang="en-US" smtClean="0"/>
              <a:t>2022/9/4</a:t>
            </a:fld>
            <a:endParaRPr lang="zh-CN" altLang="en-US"/>
          </a:p>
        </p:txBody>
      </p:sp>
      <p:sp>
        <p:nvSpPr>
          <p:cNvPr id="5" name="页脚占位符 4">
            <a:extLst>
              <a:ext uri="{FF2B5EF4-FFF2-40B4-BE49-F238E27FC236}">
                <a16:creationId xmlns:a16="http://schemas.microsoft.com/office/drawing/2014/main" id="{D292961E-4D31-4C00-8456-DA422BEC94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04869D-578E-442B-AC17-5E714BDBD47B}"/>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789998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7" name="图片 9">
            <a:extLst>
              <a:ext uri="{FF2B5EF4-FFF2-40B4-BE49-F238E27FC236}">
                <a16:creationId xmlns:a16="http://schemas.microsoft.com/office/drawing/2014/main" id="{36484A2C-39A1-4BDC-B92B-AF52D58B0F55}"/>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11">
            <a:extLst>
              <a:ext uri="{FF2B5EF4-FFF2-40B4-BE49-F238E27FC236}">
                <a16:creationId xmlns:a16="http://schemas.microsoft.com/office/drawing/2014/main" id="{56818F0A-1B6A-44A9-9717-55DA1C8C1ED4}"/>
              </a:ext>
            </a:extLst>
          </p:cNvPr>
          <p:cNvGrpSpPr>
            <a:grpSpLocks/>
          </p:cNvGrpSpPr>
          <p:nvPr userDrawn="1"/>
        </p:nvGrpSpPr>
        <p:grpSpPr bwMode="auto">
          <a:xfrm>
            <a:off x="0" y="4741863"/>
            <a:ext cx="9043988" cy="142875"/>
            <a:chOff x="76199" y="1241003"/>
            <a:chExt cx="9044401" cy="144000"/>
          </a:xfrm>
        </p:grpSpPr>
        <p:sp>
          <p:nvSpPr>
            <p:cNvPr id="9" name="圆角矩形 11">
              <a:extLst>
                <a:ext uri="{FF2B5EF4-FFF2-40B4-BE49-F238E27FC236}">
                  <a16:creationId xmlns:a16="http://schemas.microsoft.com/office/drawing/2014/main" id="{2658448A-EA7B-40C8-99E5-5CDD7E4A2B5E}"/>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2">
              <a:extLst>
                <a:ext uri="{FF2B5EF4-FFF2-40B4-BE49-F238E27FC236}">
                  <a16:creationId xmlns:a16="http://schemas.microsoft.com/office/drawing/2014/main" id="{0F1BA9DE-48A6-4320-A3CB-CA0618F88CA6}"/>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1" name="圆角矩形 13">
              <a:extLst>
                <a:ext uri="{FF2B5EF4-FFF2-40B4-BE49-F238E27FC236}">
                  <a16:creationId xmlns:a16="http://schemas.microsoft.com/office/drawing/2014/main" id="{95532181-9B56-4565-85B0-26FAE243974A}"/>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2" name="图片 18">
            <a:extLst>
              <a:ext uri="{FF2B5EF4-FFF2-40B4-BE49-F238E27FC236}">
                <a16:creationId xmlns:a16="http://schemas.microsoft.com/office/drawing/2014/main" id="{C6EF10A3-5E14-4AC4-BEC5-788C4A6ABF70}"/>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0">
            <a:extLst>
              <a:ext uri="{FF2B5EF4-FFF2-40B4-BE49-F238E27FC236}">
                <a16:creationId xmlns:a16="http://schemas.microsoft.com/office/drawing/2014/main" id="{E5368EC2-A439-426F-9848-8912DFFAC14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3">
            <a:extLst>
              <a:ext uri="{FF2B5EF4-FFF2-40B4-BE49-F238E27FC236}">
                <a16:creationId xmlns:a16="http://schemas.microsoft.com/office/drawing/2014/main" id="{DB79EDD7-2DA9-41B8-BF25-43496C709607}"/>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21198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userDrawn="1"/>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1" name="图片 3">
            <a:extLst>
              <a:ext uri="{FF2B5EF4-FFF2-40B4-BE49-F238E27FC236}">
                <a16:creationId xmlns:a16="http://schemas.microsoft.com/office/drawing/2014/main" id="{B0C51A74-65A9-4F9C-9DAC-5C9B5FEFDC4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dirty="0"/>
              <a:t>2</a:t>
            </a:r>
            <a:endParaRPr lang="zh-CN" altLang="en-US" dirty="0"/>
          </a:p>
        </p:txBody>
      </p:sp>
    </p:spTree>
    <p:extLst>
      <p:ext uri="{BB962C8B-B14F-4D97-AF65-F5344CB8AC3E}">
        <p14:creationId xmlns:p14="http://schemas.microsoft.com/office/powerpoint/2010/main" val="10475944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3426454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pSp>
        <p:nvGrpSpPr>
          <p:cNvPr id="6" name="组合 23"/>
          <p:cNvGrpSpPr>
            <a:grpSpLocks/>
          </p:cNvGrpSpPr>
          <p:nvPr userDrawn="1"/>
        </p:nvGrpSpPr>
        <p:grpSpPr bwMode="auto">
          <a:xfrm>
            <a:off x="371475" y="-190500"/>
            <a:ext cx="1230313" cy="1358900"/>
            <a:chOff x="371610" y="-231341"/>
            <a:chExt cx="1230631" cy="1358900"/>
          </a:xfrm>
        </p:grpSpPr>
        <p:sp>
          <p:nvSpPr>
            <p:cNvPr id="7" name="同侧圆角矩形 6"/>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sp>
          <p:nvSpPr>
            <p:cNvPr id="8" name="同侧圆角矩形 7"/>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pic>
          <p:nvPicPr>
            <p:cNvPr id="9" name="图片 29" descr="logo（背景透明）"/>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1610" y="-231341"/>
              <a:ext cx="1230631"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组合 7"/>
          <p:cNvGrpSpPr>
            <a:grpSpLocks/>
          </p:cNvGrpSpPr>
          <p:nvPr userDrawn="1"/>
        </p:nvGrpSpPr>
        <p:grpSpPr bwMode="auto">
          <a:xfrm>
            <a:off x="76200" y="2151063"/>
            <a:ext cx="9043988" cy="381000"/>
            <a:chOff x="76200" y="2151457"/>
            <a:chExt cx="9043988" cy="381000"/>
          </a:xfrm>
        </p:grpSpPr>
        <p:sp>
          <p:nvSpPr>
            <p:cNvPr id="11" name="圆角矩形 10"/>
            <p:cNvSpPr/>
            <p:nvPr/>
          </p:nvSpPr>
          <p:spPr>
            <a:xfrm>
              <a:off x="76200" y="2294332"/>
              <a:ext cx="1676400"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2" name="圆角矩形 11"/>
            <p:cNvSpPr/>
            <p:nvPr/>
          </p:nvSpPr>
          <p:spPr>
            <a:xfrm>
              <a:off x="1524000" y="2294332"/>
              <a:ext cx="3200400"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3" name="圆角矩形 12"/>
            <p:cNvSpPr/>
            <p:nvPr/>
          </p:nvSpPr>
          <p:spPr>
            <a:xfrm>
              <a:off x="4800600" y="2294332"/>
              <a:ext cx="4319588"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4" name="圆角矩形 13"/>
            <p:cNvSpPr/>
            <p:nvPr/>
          </p:nvSpPr>
          <p:spPr>
            <a:xfrm rot="1383523">
              <a:off x="1417638"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sp>
          <p:nvSpPr>
            <p:cNvPr id="15" name="圆角矩形 14"/>
            <p:cNvSpPr/>
            <p:nvPr/>
          </p:nvSpPr>
          <p:spPr>
            <a:xfrm rot="1383523">
              <a:off x="4616450"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grpSp>
      <p:pic>
        <p:nvPicPr>
          <p:cNvPr id="16" name="Picture 7"/>
          <p:cNvPicPr>
            <a:picLocks noChangeAspect="1" noChangeArrowheads="1"/>
          </p:cNvPicPr>
          <p:nvPr userDrawn="1"/>
        </p:nvPicPr>
        <p:blipFill>
          <a:blip r:embed="rId3">
            <a:extLst>
              <a:ext uri="{28A0092B-C50C-407E-A947-70E740481C1C}">
                <a14:useLocalDpi xmlns:a14="http://schemas.microsoft.com/office/drawing/2010/main" val="0"/>
              </a:ext>
            </a:extLst>
          </a:blip>
          <a:srcRect t="17253" b="10274"/>
          <a:stretch>
            <a:fillRect/>
          </a:stretch>
        </p:blipFill>
        <p:spPr bwMode="auto">
          <a:xfrm>
            <a:off x="157163" y="5467350"/>
            <a:ext cx="1957387"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3"/>
          <p:cNvPicPr>
            <a:picLocks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181225" y="5478463"/>
            <a:ext cx="21240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4"/>
          <p:cNvPicPr>
            <a:picLocks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384675" y="5478463"/>
            <a:ext cx="23907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b="11245"/>
          <a:stretch/>
        </p:blipFill>
        <p:spPr bwMode="auto">
          <a:xfrm>
            <a:off x="6846888" y="5467351"/>
            <a:ext cx="2220912" cy="1273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3"/>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637463" y="4702719"/>
            <a:ext cx="1506537" cy="84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TextBox 2"/>
          <p:cNvSpPr txBox="1">
            <a:spLocks noChangeArrowheads="1"/>
          </p:cNvSpPr>
          <p:nvPr userDrawn="1"/>
        </p:nvSpPr>
        <p:spPr bwMode="auto">
          <a:xfrm>
            <a:off x="8172400" y="5165911"/>
            <a:ext cx="7810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baseline="-25000">
                <a:solidFill>
                  <a:schemeClr val="tx1"/>
                </a:solidFill>
                <a:latin typeface="Arial" charset="0"/>
              </a:defRPr>
            </a:lvl1pPr>
            <a:lvl2pPr marL="742950" indent="-285750">
              <a:defRPr sz="2800" b="1" baseline="-25000">
                <a:solidFill>
                  <a:schemeClr val="tx1"/>
                </a:solidFill>
                <a:latin typeface="Arial" charset="0"/>
              </a:defRPr>
            </a:lvl2pPr>
            <a:lvl3pPr marL="1143000" indent="-228600">
              <a:defRPr sz="2800" b="1" baseline="-25000">
                <a:solidFill>
                  <a:schemeClr val="tx1"/>
                </a:solidFill>
                <a:latin typeface="Arial" charset="0"/>
              </a:defRPr>
            </a:lvl3pPr>
            <a:lvl4pPr marL="1600200" indent="-228600">
              <a:defRPr sz="2800" b="1" baseline="-25000">
                <a:solidFill>
                  <a:schemeClr val="tx1"/>
                </a:solidFill>
                <a:latin typeface="Arial" charset="0"/>
              </a:defRPr>
            </a:lvl4pPr>
            <a:lvl5pPr marL="2057400" indent="-228600">
              <a:defRPr sz="2800" b="1" baseline="-25000">
                <a:solidFill>
                  <a:schemeClr val="tx1"/>
                </a:solidFill>
                <a:latin typeface="Arial" charset="0"/>
              </a:defRPr>
            </a:lvl5pPr>
            <a:lvl6pPr marL="2514600" indent="-228600" eaLnBrk="0" fontAlgn="base" hangingPunct="0">
              <a:spcBef>
                <a:spcPct val="0"/>
              </a:spcBef>
              <a:spcAft>
                <a:spcPct val="0"/>
              </a:spcAft>
              <a:defRPr sz="2800" b="1" baseline="-25000">
                <a:solidFill>
                  <a:schemeClr val="tx1"/>
                </a:solidFill>
                <a:latin typeface="Arial" charset="0"/>
              </a:defRPr>
            </a:lvl6pPr>
            <a:lvl7pPr marL="2971800" indent="-228600" eaLnBrk="0" fontAlgn="base" hangingPunct="0">
              <a:spcBef>
                <a:spcPct val="0"/>
              </a:spcBef>
              <a:spcAft>
                <a:spcPct val="0"/>
              </a:spcAft>
              <a:defRPr sz="2800" b="1" baseline="-25000">
                <a:solidFill>
                  <a:schemeClr val="tx1"/>
                </a:solidFill>
                <a:latin typeface="Arial" charset="0"/>
              </a:defRPr>
            </a:lvl7pPr>
            <a:lvl8pPr marL="3429000" indent="-228600" eaLnBrk="0" fontAlgn="base" hangingPunct="0">
              <a:spcBef>
                <a:spcPct val="0"/>
              </a:spcBef>
              <a:spcAft>
                <a:spcPct val="0"/>
              </a:spcAft>
              <a:defRPr sz="2800" b="1" baseline="-25000">
                <a:solidFill>
                  <a:schemeClr val="tx1"/>
                </a:solidFill>
                <a:latin typeface="Arial" charset="0"/>
              </a:defRPr>
            </a:lvl8pPr>
            <a:lvl9pPr marL="3886200" indent="-228600" eaLnBrk="0" fontAlgn="base" hangingPunct="0">
              <a:spcBef>
                <a:spcPct val="0"/>
              </a:spcBef>
              <a:spcAft>
                <a:spcPct val="0"/>
              </a:spcAft>
              <a:defRPr sz="2800" b="1" baseline="-25000">
                <a:solidFill>
                  <a:schemeClr val="tx1"/>
                </a:solidFill>
                <a:latin typeface="Arial" charset="0"/>
              </a:defRPr>
            </a:lvl9pPr>
          </a:lstStyle>
          <a:p>
            <a:r>
              <a:rPr lang="en-US" altLang="zh-CN" sz="900" b="0" baseline="0" dirty="0">
                <a:latin typeface="黑体" panose="02010609060101010101" pitchFamily="49" charset="-122"/>
                <a:ea typeface="黑体" panose="02010609060101010101" pitchFamily="49" charset="-122"/>
              </a:rPr>
              <a:t>Since 2016</a:t>
            </a:r>
            <a:endParaRPr lang="zh-CN" altLang="en-US" sz="900" b="0" baseline="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5031253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pic>
        <p:nvPicPr>
          <p:cNvPr id="2"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82000" y="6526213"/>
            <a:ext cx="6794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组合 7"/>
          <p:cNvGrpSpPr>
            <a:grpSpLocks/>
          </p:cNvGrpSpPr>
          <p:nvPr userDrawn="1"/>
        </p:nvGrpSpPr>
        <p:grpSpPr bwMode="auto">
          <a:xfrm>
            <a:off x="73025" y="6643688"/>
            <a:ext cx="8150225" cy="144462"/>
            <a:chOff x="76199" y="2293938"/>
            <a:chExt cx="9043989" cy="144462"/>
          </a:xfrm>
        </p:grpSpPr>
        <p:sp>
          <p:nvSpPr>
            <p:cNvPr id="4" name="圆角矩形 3"/>
            <p:cNvSpPr/>
            <p:nvPr/>
          </p:nvSpPr>
          <p:spPr>
            <a:xfrm>
              <a:off x="76199" y="2293938"/>
              <a:ext cx="1250727"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5" name="圆角矩形 4"/>
            <p:cNvSpPr/>
            <p:nvPr/>
          </p:nvSpPr>
          <p:spPr>
            <a:xfrm>
              <a:off x="1415005" y="2293938"/>
              <a:ext cx="3310023"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 name="圆角矩形 5"/>
            <p:cNvSpPr/>
            <p:nvPr/>
          </p:nvSpPr>
          <p:spPr>
            <a:xfrm>
              <a:off x="4800776" y="2293938"/>
              <a:ext cx="4319412"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pic>
        <p:nvPicPr>
          <p:cNvPr id="7"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796213" y="-104775"/>
            <a:ext cx="854075"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02836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pic>
        <p:nvPicPr>
          <p:cNvPr id="2"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82000" y="6526213"/>
            <a:ext cx="6794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组合 7"/>
          <p:cNvGrpSpPr>
            <a:grpSpLocks/>
          </p:cNvGrpSpPr>
          <p:nvPr userDrawn="1"/>
        </p:nvGrpSpPr>
        <p:grpSpPr bwMode="auto">
          <a:xfrm>
            <a:off x="73025" y="6643688"/>
            <a:ext cx="8150225" cy="144462"/>
            <a:chOff x="76199" y="2293938"/>
            <a:chExt cx="9043989" cy="144462"/>
          </a:xfrm>
        </p:grpSpPr>
        <p:sp>
          <p:nvSpPr>
            <p:cNvPr id="4" name="圆角矩形 3"/>
            <p:cNvSpPr/>
            <p:nvPr/>
          </p:nvSpPr>
          <p:spPr>
            <a:xfrm>
              <a:off x="76199" y="2293938"/>
              <a:ext cx="1250727"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5" name="圆角矩形 4"/>
            <p:cNvSpPr/>
            <p:nvPr/>
          </p:nvSpPr>
          <p:spPr>
            <a:xfrm>
              <a:off x="1415005" y="2293938"/>
              <a:ext cx="3310023"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 name="圆角矩形 5"/>
            <p:cNvSpPr/>
            <p:nvPr/>
          </p:nvSpPr>
          <p:spPr>
            <a:xfrm>
              <a:off x="4800776" y="2293938"/>
              <a:ext cx="4319412"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pic>
        <p:nvPicPr>
          <p:cNvPr id="7"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796213" y="-104775"/>
            <a:ext cx="854075"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7243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8B20F97-D093-4167-88EF-C188D3B8DC0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B78C6B4-EDBC-4C7B-80E2-2A36D8872A6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AB1772D-D631-4D4E-BF62-42EF4690EB9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9B1AB40-DF97-4AB0-B63B-B6C2904246EB}" type="datetimeFigureOut">
              <a:rPr lang="zh-CN" altLang="en-US" smtClean="0"/>
              <a:t>2022/9/4</a:t>
            </a:fld>
            <a:endParaRPr lang="zh-CN" altLang="en-US"/>
          </a:p>
        </p:txBody>
      </p:sp>
      <p:sp>
        <p:nvSpPr>
          <p:cNvPr id="5" name="页脚占位符 4">
            <a:extLst>
              <a:ext uri="{FF2B5EF4-FFF2-40B4-BE49-F238E27FC236}">
                <a16:creationId xmlns:a16="http://schemas.microsoft.com/office/drawing/2014/main" id="{33AFB56B-864D-497D-8AE9-5E092905F79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832445E-5DFA-480A-96AF-CCD8859EA90F}"/>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682342105"/>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33" r:id="rId12"/>
    <p:sldLayoutId id="2147483734" r:id="rId13"/>
    <p:sldLayoutId id="2147483757" r:id="rId14"/>
    <p:sldLayoutId id="2147483758" r:id="rId15"/>
    <p:sldLayoutId id="2147483759" r:id="rId16"/>
    <p:sldLayoutId id="2147483760" r:id="rId17"/>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16.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16.xml"/><Relationship Id="rId4" Type="http://schemas.openxmlformats.org/officeDocument/2006/relationships/hyperlink" Target="https://en.wikipedia.org/wiki/Thermodynamic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bin"/><Relationship Id="rId1" Type="http://schemas.openxmlformats.org/officeDocument/2006/relationships/slideLayout" Target="../slideLayouts/slideLayout16.xml"/><Relationship Id="rId5" Type="http://schemas.openxmlformats.org/officeDocument/2006/relationships/image" Target="../media/image26.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9.wmf"/><Relationship Id="rId2" Type="http://schemas.openxmlformats.org/officeDocument/2006/relationships/image" Target="../media/image23.png"/><Relationship Id="rId1" Type="http://schemas.openxmlformats.org/officeDocument/2006/relationships/slideLayout" Target="../slideLayouts/slideLayout16.xml"/><Relationship Id="rId6" Type="http://schemas.openxmlformats.org/officeDocument/2006/relationships/oleObject" Target="../embeddings/oleObject3.bin"/><Relationship Id="rId5" Type="http://schemas.openxmlformats.org/officeDocument/2006/relationships/image" Target="../media/image28.w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4.bin"/><Relationship Id="rId1" Type="http://schemas.openxmlformats.org/officeDocument/2006/relationships/slideLayout" Target="../slideLayouts/slideLayout16.xml"/><Relationship Id="rId5" Type="http://schemas.openxmlformats.org/officeDocument/2006/relationships/image" Target="../media/image31.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4.wmf"/><Relationship Id="rId2" Type="http://schemas.openxmlformats.org/officeDocument/2006/relationships/image" Target="../media/image23.png"/><Relationship Id="rId1" Type="http://schemas.openxmlformats.org/officeDocument/2006/relationships/slideLayout" Target="../slideLayouts/slideLayout16.xml"/><Relationship Id="rId6" Type="http://schemas.openxmlformats.org/officeDocument/2006/relationships/oleObject" Target="../embeddings/oleObject6.bin"/><Relationship Id="rId5" Type="http://schemas.openxmlformats.org/officeDocument/2006/relationships/image" Target="../media/image33.wmf"/><Relationship Id="rId4"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37.wmf"/><Relationship Id="rId2" Type="http://schemas.openxmlformats.org/officeDocument/2006/relationships/image" Target="../media/image35.png"/><Relationship Id="rId1" Type="http://schemas.openxmlformats.org/officeDocument/2006/relationships/slideLayout" Target="../slideLayouts/slideLayout16.xml"/><Relationship Id="rId6" Type="http://schemas.openxmlformats.org/officeDocument/2006/relationships/oleObject" Target="../embeddings/oleObject8.bin"/><Relationship Id="rId5" Type="http://schemas.openxmlformats.org/officeDocument/2006/relationships/image" Target="../media/image23.png"/><Relationship Id="rId4" Type="http://schemas.openxmlformats.org/officeDocument/2006/relationships/image" Target="../media/image36.wmf"/></Relationships>
</file>

<file path=ppt/slides/_rels/slide11.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8.wmf"/><Relationship Id="rId7" Type="http://schemas.openxmlformats.org/officeDocument/2006/relationships/image" Target="../media/image40.wmf"/><Relationship Id="rId2" Type="http://schemas.openxmlformats.org/officeDocument/2006/relationships/oleObject" Target="../embeddings/oleObject9.bin"/><Relationship Id="rId1" Type="http://schemas.openxmlformats.org/officeDocument/2006/relationships/slideLayout" Target="../slideLayouts/slideLayout16.xml"/><Relationship Id="rId6" Type="http://schemas.openxmlformats.org/officeDocument/2006/relationships/oleObject" Target="../embeddings/oleObject11.bin"/><Relationship Id="rId5" Type="http://schemas.openxmlformats.org/officeDocument/2006/relationships/image" Target="../media/image39.wmf"/><Relationship Id="rId4"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8.wmf"/><Relationship Id="rId7" Type="http://schemas.openxmlformats.org/officeDocument/2006/relationships/image" Target="../media/image40.wmf"/><Relationship Id="rId2" Type="http://schemas.openxmlformats.org/officeDocument/2006/relationships/oleObject" Target="../embeddings/oleObject12.bin"/><Relationship Id="rId1" Type="http://schemas.openxmlformats.org/officeDocument/2006/relationships/slideLayout" Target="../slideLayouts/slideLayout16.xml"/><Relationship Id="rId6" Type="http://schemas.openxmlformats.org/officeDocument/2006/relationships/oleObject" Target="../embeddings/oleObject14.bin"/><Relationship Id="rId5" Type="http://schemas.openxmlformats.org/officeDocument/2006/relationships/image" Target="../media/image39.wmf"/><Relationship Id="rId4" Type="http://schemas.openxmlformats.org/officeDocument/2006/relationships/oleObject" Target="../embeddings/oleObject13.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image" Target="../media/image42.png"/><Relationship Id="rId1" Type="http://schemas.openxmlformats.org/officeDocument/2006/relationships/slideLayout" Target="../slideLayouts/slideLayout16.xml"/><Relationship Id="rId4" Type="http://schemas.openxmlformats.org/officeDocument/2006/relationships/image" Target="../media/image43.wmf"/></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6.xml"/><Relationship Id="rId6" Type="http://schemas.openxmlformats.org/officeDocument/2006/relationships/hyperlink" Target="https://v.youku.com/v_show/id_XMjI1ODA3ODIw.html" TargetMode="External"/><Relationship Id="rId5" Type="http://schemas.openxmlformats.org/officeDocument/2006/relationships/image" Target="../media/image47.png"/><Relationship Id="rId4" Type="http://schemas.openxmlformats.org/officeDocument/2006/relationships/hyperlink" Target="https://v.youku.com/v_show/id_XNDQ3MzEwMzA4.html"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xml"/><Relationship Id="rId1" Type="http://schemas.openxmlformats.org/officeDocument/2006/relationships/slideLayout" Target="../slideLayouts/slideLayout16.xml"/><Relationship Id="rId6" Type="http://schemas.openxmlformats.org/officeDocument/2006/relationships/hyperlink" Target="https://en.wikipedia.org/wiki/Celsius" TargetMode="External"/><Relationship Id="rId5" Type="http://schemas.openxmlformats.org/officeDocument/2006/relationships/image" Target="../media/image49.jpeg"/><Relationship Id="rId4" Type="http://schemas.openxmlformats.org/officeDocument/2006/relationships/hyperlink" Target="https://en.wikipedia.org/wiki/Entropy"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baike.baidu.com/item/%E7%83%AD%E5%8A%9B%E5%AD%A6/60326" TargetMode="External"/><Relationship Id="rId2" Type="http://schemas.openxmlformats.org/officeDocument/2006/relationships/image" Target="../media/image50.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12" Type="http://schemas.openxmlformats.org/officeDocument/2006/relationships/image" Target="../media/image61.png"/><Relationship Id="rId2" Type="http://schemas.openxmlformats.org/officeDocument/2006/relationships/image" Target="../media/image51.png"/><Relationship Id="rId1" Type="http://schemas.openxmlformats.org/officeDocument/2006/relationships/slideLayout" Target="../slideLayouts/slideLayout16.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s>
</file>

<file path=ppt/slides/_rels/slide19.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image" Target="../media/image62.wmf"/><Relationship Id="rId7" Type="http://schemas.openxmlformats.org/officeDocument/2006/relationships/oleObject" Target="../embeddings/oleObject18.bin"/><Relationship Id="rId2" Type="http://schemas.openxmlformats.org/officeDocument/2006/relationships/oleObject" Target="../embeddings/oleObject16.bin"/><Relationship Id="rId1" Type="http://schemas.openxmlformats.org/officeDocument/2006/relationships/slideLayout" Target="../slideLayouts/slideLayout16.xml"/><Relationship Id="rId6" Type="http://schemas.openxmlformats.org/officeDocument/2006/relationships/image" Target="../media/image64.wmf"/><Relationship Id="rId5" Type="http://schemas.openxmlformats.org/officeDocument/2006/relationships/oleObject" Target="../embeddings/oleObject17.bin"/><Relationship Id="rId10" Type="http://schemas.openxmlformats.org/officeDocument/2006/relationships/image" Target="../media/image66.wmf"/><Relationship Id="rId4" Type="http://schemas.openxmlformats.org/officeDocument/2006/relationships/image" Target="../media/image63.emf"/><Relationship Id="rId9" Type="http://schemas.openxmlformats.org/officeDocument/2006/relationships/oleObject" Target="../embeddings/oleObject19.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hyperlink" Target="https://en.wiktionary.org/wiki/entropy" TargetMode="Externa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oleObject" Target="../embeddings/oleObject20.bin"/><Relationship Id="rId1" Type="http://schemas.openxmlformats.org/officeDocument/2006/relationships/slideLayout" Target="../slideLayouts/slideLayout16.xml"/><Relationship Id="rId4" Type="http://schemas.openxmlformats.org/officeDocument/2006/relationships/image" Target="../media/image71.jpeg"/></Relationships>
</file>

<file path=ppt/slides/_rels/slide2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image" Target="../media/image75.png"/><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8" Type="http://schemas.openxmlformats.org/officeDocument/2006/relationships/image" Target="../media/image78.wmf"/><Relationship Id="rId13" Type="http://schemas.openxmlformats.org/officeDocument/2006/relationships/oleObject" Target="../embeddings/oleObject26.bin"/><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80.wmf"/><Relationship Id="rId17" Type="http://schemas.openxmlformats.org/officeDocument/2006/relationships/image" Target="../media/image90.png"/><Relationship Id="rId2" Type="http://schemas.openxmlformats.org/officeDocument/2006/relationships/image" Target="../media/image63.emf"/><Relationship Id="rId16" Type="http://schemas.openxmlformats.org/officeDocument/2006/relationships/image" Target="../media/image89.png"/><Relationship Id="rId1" Type="http://schemas.openxmlformats.org/officeDocument/2006/relationships/slideLayout" Target="../slideLayouts/slideLayout17.xml"/><Relationship Id="rId6" Type="http://schemas.openxmlformats.org/officeDocument/2006/relationships/image" Target="../media/image77.wmf"/><Relationship Id="rId11" Type="http://schemas.openxmlformats.org/officeDocument/2006/relationships/oleObject" Target="../embeddings/oleObject25.bin"/><Relationship Id="rId5" Type="http://schemas.openxmlformats.org/officeDocument/2006/relationships/oleObject" Target="../embeddings/oleObject22.bin"/><Relationship Id="rId10" Type="http://schemas.openxmlformats.org/officeDocument/2006/relationships/image" Target="../media/image79.wmf"/><Relationship Id="rId4" Type="http://schemas.openxmlformats.org/officeDocument/2006/relationships/image" Target="../media/image64.wmf"/><Relationship Id="rId9" Type="http://schemas.openxmlformats.org/officeDocument/2006/relationships/oleObject" Target="../embeddings/oleObject24.bin"/><Relationship Id="rId14" Type="http://schemas.openxmlformats.org/officeDocument/2006/relationships/image" Target="../media/image81.wmf"/></Relationships>
</file>

<file path=ppt/slides/_rels/slide30.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image" Target="../media/image82.wmf"/><Relationship Id="rId7" Type="http://schemas.openxmlformats.org/officeDocument/2006/relationships/oleObject" Target="../embeddings/oleObject29.bin"/><Relationship Id="rId2" Type="http://schemas.openxmlformats.org/officeDocument/2006/relationships/oleObject" Target="../embeddings/oleObject27.bin"/><Relationship Id="rId1" Type="http://schemas.openxmlformats.org/officeDocument/2006/relationships/slideLayout" Target="../slideLayouts/slideLayout17.xml"/><Relationship Id="rId6" Type="http://schemas.openxmlformats.org/officeDocument/2006/relationships/image" Target="../media/image84.png"/><Relationship Id="rId5" Type="http://schemas.openxmlformats.org/officeDocument/2006/relationships/image" Target="../media/image83.wmf"/><Relationship Id="rId10" Type="http://schemas.openxmlformats.org/officeDocument/2006/relationships/image" Target="../media/image86.wmf"/><Relationship Id="rId4" Type="http://schemas.openxmlformats.org/officeDocument/2006/relationships/oleObject" Target="../embeddings/oleObject28.bin"/><Relationship Id="rId9" Type="http://schemas.openxmlformats.org/officeDocument/2006/relationships/oleObject" Target="../embeddings/oleObject30.bin"/></Relationships>
</file>

<file path=ppt/slides/_rels/slide31.xml.rels><?xml version="1.0" encoding="UTF-8" standalone="yes"?>
<Relationships xmlns="http://schemas.openxmlformats.org/package/2006/relationships"><Relationship Id="rId8" Type="http://schemas.openxmlformats.org/officeDocument/2006/relationships/image" Target="../media/image90.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image" Target="../media/image87.png"/><Relationship Id="rId1" Type="http://schemas.openxmlformats.org/officeDocument/2006/relationships/slideLayout" Target="../slideLayouts/slideLayout17.xml"/><Relationship Id="rId6" Type="http://schemas.openxmlformats.org/officeDocument/2006/relationships/image" Target="../media/image89.wmf"/><Relationship Id="rId5" Type="http://schemas.openxmlformats.org/officeDocument/2006/relationships/oleObject" Target="../embeddings/oleObject32.bin"/><Relationship Id="rId4" Type="http://schemas.openxmlformats.org/officeDocument/2006/relationships/image" Target="../media/image88.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oleObject" Target="../embeddings/oleObject40.bin"/><Relationship Id="rId18" Type="http://schemas.openxmlformats.org/officeDocument/2006/relationships/image" Target="../media/image98.wmf"/><Relationship Id="rId3" Type="http://schemas.openxmlformats.org/officeDocument/2006/relationships/image" Target="../media/image91.wmf"/><Relationship Id="rId7" Type="http://schemas.openxmlformats.org/officeDocument/2006/relationships/image" Target="../media/image93.wmf"/><Relationship Id="rId12" Type="http://schemas.openxmlformats.org/officeDocument/2006/relationships/image" Target="../media/image95.wmf"/><Relationship Id="rId17" Type="http://schemas.openxmlformats.org/officeDocument/2006/relationships/oleObject" Target="../embeddings/oleObject42.bin"/><Relationship Id="rId2" Type="http://schemas.openxmlformats.org/officeDocument/2006/relationships/oleObject" Target="../embeddings/oleObject34.bin"/><Relationship Id="rId16" Type="http://schemas.openxmlformats.org/officeDocument/2006/relationships/image" Target="../media/image97.wmf"/><Relationship Id="rId1" Type="http://schemas.openxmlformats.org/officeDocument/2006/relationships/slideLayout" Target="../slideLayouts/slideLayout17.xml"/><Relationship Id="rId6" Type="http://schemas.openxmlformats.org/officeDocument/2006/relationships/oleObject" Target="../embeddings/oleObject36.bin"/><Relationship Id="rId11" Type="http://schemas.openxmlformats.org/officeDocument/2006/relationships/oleObject" Target="../embeddings/oleObject39.bin"/><Relationship Id="rId5" Type="http://schemas.openxmlformats.org/officeDocument/2006/relationships/image" Target="../media/image92.wmf"/><Relationship Id="rId15" Type="http://schemas.openxmlformats.org/officeDocument/2006/relationships/oleObject" Target="../embeddings/oleObject41.bin"/><Relationship Id="rId10" Type="http://schemas.openxmlformats.org/officeDocument/2006/relationships/image" Target="../media/image94.wmf"/><Relationship Id="rId4" Type="http://schemas.openxmlformats.org/officeDocument/2006/relationships/oleObject" Target="../embeddings/oleObject35.bin"/><Relationship Id="rId9" Type="http://schemas.openxmlformats.org/officeDocument/2006/relationships/oleObject" Target="../embeddings/oleObject38.bin"/><Relationship Id="rId14" Type="http://schemas.openxmlformats.org/officeDocument/2006/relationships/image" Target="../media/image96.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46.bin"/><Relationship Id="rId13" Type="http://schemas.openxmlformats.org/officeDocument/2006/relationships/image" Target="../media/image103.wmf"/><Relationship Id="rId3" Type="http://schemas.openxmlformats.org/officeDocument/2006/relationships/image" Target="../media/image96.wmf"/><Relationship Id="rId7" Type="http://schemas.openxmlformats.org/officeDocument/2006/relationships/image" Target="../media/image100.wmf"/><Relationship Id="rId12" Type="http://schemas.openxmlformats.org/officeDocument/2006/relationships/oleObject" Target="../embeddings/oleObject48.bin"/><Relationship Id="rId2" Type="http://schemas.openxmlformats.org/officeDocument/2006/relationships/oleObject" Target="../embeddings/oleObject43.bin"/><Relationship Id="rId1" Type="http://schemas.openxmlformats.org/officeDocument/2006/relationships/slideLayout" Target="../slideLayouts/slideLayout17.xml"/><Relationship Id="rId6" Type="http://schemas.openxmlformats.org/officeDocument/2006/relationships/oleObject" Target="../embeddings/oleObject45.bin"/><Relationship Id="rId11" Type="http://schemas.openxmlformats.org/officeDocument/2006/relationships/image" Target="../media/image102.wmf"/><Relationship Id="rId5" Type="http://schemas.openxmlformats.org/officeDocument/2006/relationships/image" Target="../media/image99.wmf"/><Relationship Id="rId10" Type="http://schemas.openxmlformats.org/officeDocument/2006/relationships/oleObject" Target="../embeddings/oleObject47.bin"/><Relationship Id="rId4" Type="http://schemas.openxmlformats.org/officeDocument/2006/relationships/oleObject" Target="../embeddings/oleObject44.bin"/><Relationship Id="rId9" Type="http://schemas.openxmlformats.org/officeDocument/2006/relationships/image" Target="../media/image101.wmf"/></Relationships>
</file>

<file path=ppt/slides/_rels/slide34.xml.rels><?xml version="1.0" encoding="UTF-8" standalone="yes"?>
<Relationships xmlns="http://schemas.openxmlformats.org/package/2006/relationships"><Relationship Id="rId2" Type="http://schemas.openxmlformats.org/officeDocument/2006/relationships/image" Target="../media/image104.jpg"/><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jpeg"/><Relationship Id="rId1" Type="http://schemas.openxmlformats.org/officeDocument/2006/relationships/slideLayout" Target="../slideLayouts/slideLayout17.xml"/><Relationship Id="rId5" Type="http://schemas.openxmlformats.org/officeDocument/2006/relationships/image" Target="../media/image107.wmf"/><Relationship Id="rId4" Type="http://schemas.openxmlformats.org/officeDocument/2006/relationships/oleObject" Target="../embeddings/oleObject49.bin"/></Relationships>
</file>

<file path=ppt/slides/_rels/slide37.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17.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image" Target="../media/image113.png"/><Relationship Id="rId1" Type="http://schemas.openxmlformats.org/officeDocument/2006/relationships/slideLayout" Target="../slideLayouts/slideLayout17.xml"/><Relationship Id="rId6" Type="http://schemas.openxmlformats.org/officeDocument/2006/relationships/image" Target="../media/image115.wmf"/><Relationship Id="rId5" Type="http://schemas.openxmlformats.org/officeDocument/2006/relationships/oleObject" Target="../embeddings/oleObject51.bin"/><Relationship Id="rId4" Type="http://schemas.openxmlformats.org/officeDocument/2006/relationships/image" Target="../media/image114.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76401" y="914400"/>
            <a:ext cx="5486400" cy="1077218"/>
          </a:xfrm>
          <a:prstGeom prst="rect">
            <a:avLst/>
          </a:prstGeom>
          <a:noFill/>
        </p:spPr>
        <p:txBody>
          <a:bodyPr wrap="square" rtlCol="0">
            <a:spAutoFit/>
          </a:bodyPr>
          <a:lstStyle/>
          <a:p>
            <a:r>
              <a:rPr lang="en-US" altLang="zh-CN" sz="3200" b="1" dirty="0">
                <a:solidFill>
                  <a:srgbClr val="FF0000"/>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Lecture-03:</a:t>
            </a:r>
          </a:p>
          <a:p>
            <a:r>
              <a:rPr lang="en-US" altLang="zh-CN" sz="3200" b="1" dirty="0">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Entropy and Carrot efficiency</a:t>
            </a:r>
            <a:endParaRPr lang="en-US" sz="3200" b="1" dirty="0">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TextBox 6"/>
          <p:cNvSpPr txBox="1"/>
          <p:nvPr/>
        </p:nvSpPr>
        <p:spPr>
          <a:xfrm>
            <a:off x="3599" y="6409225"/>
            <a:ext cx="1410964" cy="369332"/>
          </a:xfrm>
          <a:prstGeom prst="rect">
            <a:avLst/>
          </a:prstGeom>
          <a:noFill/>
        </p:spPr>
        <p:txBody>
          <a:bodyPr wrap="none" rtlCol="0">
            <a:spAutoFit/>
          </a:bodyPr>
          <a:lstStyle/>
          <a:p>
            <a:r>
              <a:rPr lang="en-US" altLang="zh-CN" sz="1800" b="1" dirty="0">
                <a:latin typeface="Times New Roman" panose="02020603050405020304" pitchFamily="18" charset="0"/>
                <a:cs typeface="Times New Roman" panose="02020603050405020304" pitchFamily="18" charset="0"/>
              </a:rPr>
              <a:t>Sep 7</a:t>
            </a:r>
            <a:r>
              <a:rPr lang="zh-CN" altLang="en-US" sz="1800" b="1" dirty="0">
                <a:latin typeface="Times New Roman" panose="02020603050405020304" pitchFamily="18" charset="0"/>
                <a:cs typeface="Times New Roman" panose="02020603050405020304" pitchFamily="18" charset="0"/>
              </a:rPr>
              <a:t>，</a:t>
            </a:r>
            <a:r>
              <a:rPr lang="en-US" altLang="zh-CN" sz="1800" b="1" dirty="0">
                <a:latin typeface="Times New Roman" panose="02020603050405020304" pitchFamily="18" charset="0"/>
                <a:cs typeface="Times New Roman" panose="02020603050405020304" pitchFamily="18" charset="0"/>
              </a:rPr>
              <a:t>2018</a:t>
            </a:r>
            <a:endParaRPr lang="zh-CN" altLang="en-US" sz="1800" b="1" dirty="0">
              <a:latin typeface="Times New Roman" panose="02020603050405020304" pitchFamily="18" charset="0"/>
              <a:cs typeface="Times New Roman" panose="02020603050405020304" pitchFamily="18" charset="0"/>
            </a:endParaRPr>
          </a:p>
        </p:txBody>
      </p:sp>
      <p:sp>
        <p:nvSpPr>
          <p:cNvPr id="16" name="Slide Number Placeholder 3"/>
          <p:cNvSpPr txBox="1">
            <a:spLocks/>
          </p:cNvSpPr>
          <p:nvPr/>
        </p:nvSpPr>
        <p:spPr>
          <a:xfrm>
            <a:off x="6934200" y="6477000"/>
            <a:ext cx="2133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i="1" dirty="0"/>
              <a:t>Prof. W.S. Liu  </a:t>
            </a:r>
            <a:r>
              <a:rPr lang="en-US" dirty="0"/>
              <a:t>|  </a:t>
            </a:r>
            <a:fld id="{C915B95C-5458-41FC-90FC-CACA4B5603FB}" type="slidenum">
              <a:rPr lang="en-US" smtClean="0"/>
              <a:pPr algn="r"/>
              <a:t>1</a:t>
            </a:fld>
            <a:endParaRPr lang="en-US" dirty="0"/>
          </a:p>
        </p:txBody>
      </p:sp>
      <p:sp>
        <p:nvSpPr>
          <p:cNvPr id="6" name="矩形 5"/>
          <p:cNvSpPr/>
          <p:nvPr/>
        </p:nvSpPr>
        <p:spPr>
          <a:xfrm>
            <a:off x="1524000" y="129808"/>
            <a:ext cx="7460256" cy="52322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i="1" dirty="0">
                <a:solidFill>
                  <a:srgbClr val="0000FF"/>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MSE 311: Thermodynamics  of Materials</a:t>
            </a:r>
          </a:p>
        </p:txBody>
      </p:sp>
      <p:pic>
        <p:nvPicPr>
          <p:cNvPr id="8" name="图片 7"/>
          <p:cNvPicPr>
            <a:picLocks noChangeAspect="1"/>
          </p:cNvPicPr>
          <p:nvPr/>
        </p:nvPicPr>
        <p:blipFill rotWithShape="1">
          <a:blip r:embed="rId2" cstate="print">
            <a:extLst>
              <a:ext uri="{28A0092B-C50C-407E-A947-70E740481C1C}">
                <a14:useLocalDpi xmlns:a14="http://schemas.microsoft.com/office/drawing/2010/main" val="0"/>
              </a:ext>
            </a:extLst>
          </a:blip>
          <a:srcRect l="18449" t="32802" r="17069" b="36756"/>
          <a:stretch/>
        </p:blipFill>
        <p:spPr>
          <a:xfrm>
            <a:off x="152400" y="4724400"/>
            <a:ext cx="2333297" cy="734346"/>
          </a:xfrm>
          <a:prstGeom prst="rect">
            <a:avLst/>
          </a:prstGeom>
        </p:spPr>
      </p:pic>
      <p:sp>
        <p:nvSpPr>
          <p:cNvPr id="9" name="Subtitle 2"/>
          <p:cNvSpPr txBox="1">
            <a:spLocks/>
          </p:cNvSpPr>
          <p:nvPr/>
        </p:nvSpPr>
        <p:spPr>
          <a:xfrm>
            <a:off x="1701554" y="2762849"/>
            <a:ext cx="7433153" cy="202214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800" b="1" dirty="0" err="1">
                <a:solidFill>
                  <a:srgbClr val="0000FF"/>
                </a:solidFill>
              </a:rPr>
              <a:t>Weishu</a:t>
            </a:r>
            <a:r>
              <a:rPr lang="en-US" sz="2800" b="1" dirty="0">
                <a:solidFill>
                  <a:srgbClr val="0000FF"/>
                </a:solidFill>
              </a:rPr>
              <a:t> </a:t>
            </a:r>
            <a:r>
              <a:rPr lang="en-US" altLang="zh-CN" sz="2800" b="1" dirty="0">
                <a:solidFill>
                  <a:srgbClr val="0000FF"/>
                </a:solidFill>
              </a:rPr>
              <a:t>L</a:t>
            </a:r>
            <a:r>
              <a:rPr lang="en-US" sz="2800" b="1" dirty="0">
                <a:solidFill>
                  <a:srgbClr val="0000FF"/>
                </a:solidFill>
              </a:rPr>
              <a:t>iu</a:t>
            </a:r>
          </a:p>
          <a:p>
            <a:pPr algn="l"/>
            <a:r>
              <a:rPr lang="en-US" sz="1800" dirty="0">
                <a:solidFill>
                  <a:schemeClr val="tx1"/>
                </a:solidFill>
              </a:rPr>
              <a:t>Department of Materials Science and Engineering</a:t>
            </a:r>
          </a:p>
          <a:p>
            <a:pPr algn="l"/>
            <a:r>
              <a:rPr lang="en-US" sz="1800" dirty="0">
                <a:solidFill>
                  <a:schemeClr val="tx1"/>
                </a:solidFill>
              </a:rPr>
              <a:t>Southern University of Science and Technology (</a:t>
            </a:r>
            <a:r>
              <a:rPr lang="en-US" sz="1800" dirty="0" err="1">
                <a:solidFill>
                  <a:schemeClr val="tx1"/>
                </a:solidFill>
              </a:rPr>
              <a:t>SUSTec</a:t>
            </a:r>
            <a:r>
              <a:rPr lang="en-US" altLang="zh-CN" sz="1800" dirty="0" err="1">
                <a:solidFill>
                  <a:schemeClr val="tx1"/>
                </a:solidFill>
              </a:rPr>
              <a:t>h</a:t>
            </a:r>
            <a:r>
              <a:rPr lang="en-US" sz="1800" dirty="0">
                <a:solidFill>
                  <a:schemeClr val="tx1"/>
                </a:solidFill>
              </a:rPr>
              <a:t>)</a:t>
            </a:r>
          </a:p>
          <a:p>
            <a:pPr algn="l"/>
            <a:r>
              <a:rPr lang="en-US" sz="1800" b="1" dirty="0">
                <a:solidFill>
                  <a:schemeClr val="tx1"/>
                </a:solidFill>
              </a:rPr>
              <a:t>Email: </a:t>
            </a:r>
            <a:r>
              <a:rPr lang="en-US" sz="1800" dirty="0">
                <a:solidFill>
                  <a:schemeClr val="tx1"/>
                </a:solidFill>
              </a:rPr>
              <a:t>liuws@sustech.edu.cn</a:t>
            </a:r>
          </a:p>
          <a:p>
            <a:pPr algn="l"/>
            <a:r>
              <a:rPr lang="en-US" sz="1800" b="1" dirty="0">
                <a:solidFill>
                  <a:schemeClr val="tx1"/>
                </a:solidFill>
              </a:rPr>
              <a:t>Office: </a:t>
            </a:r>
            <a:r>
              <a:rPr lang="en-US" sz="1800" dirty="0">
                <a:solidFill>
                  <a:schemeClr val="tx1"/>
                </a:solidFill>
              </a:rPr>
              <a:t>North Tower, Rm310</a:t>
            </a:r>
          </a:p>
        </p:txBody>
      </p:sp>
    </p:spTree>
    <p:extLst>
      <p:ext uri="{BB962C8B-B14F-4D97-AF65-F5344CB8AC3E}">
        <p14:creationId xmlns:p14="http://schemas.microsoft.com/office/powerpoint/2010/main" val="2974053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49800" y="3437398"/>
            <a:ext cx="952500"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圆角矩形 6"/>
          <p:cNvSpPr/>
          <p:nvPr/>
        </p:nvSpPr>
        <p:spPr>
          <a:xfrm>
            <a:off x="1063916" y="3437398"/>
            <a:ext cx="3643609"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圆角矩形 7"/>
          <p:cNvSpPr/>
          <p:nvPr/>
        </p:nvSpPr>
        <p:spPr>
          <a:xfrm>
            <a:off x="4774200" y="3437398"/>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TextBox 9"/>
          <p:cNvSpPr txBox="1"/>
          <p:nvPr/>
        </p:nvSpPr>
        <p:spPr>
          <a:xfrm>
            <a:off x="1219200" y="2602300"/>
            <a:ext cx="4451860"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dirty="0">
                <a:solidFill>
                  <a:srgbClr val="FF0000"/>
                </a:solidFill>
              </a:rPr>
              <a:t>4. </a:t>
            </a:r>
            <a:r>
              <a:rPr lang="en-US" altLang="zh-CN" sz="3600" dirty="0">
                <a:solidFill>
                  <a:srgbClr val="FF0000"/>
                </a:solidFill>
                <a:latin typeface="Arial" panose="020B0604020202020204" pitchFamily="34" charset="0"/>
                <a:cs typeface="Arial" panose="020B0604020202020204" pitchFamily="34" charset="0"/>
              </a:rPr>
              <a:t>Principle of Carnot</a:t>
            </a:r>
            <a:endParaRPr lang="en-US" altLang="zh-CN" sz="3600" dirty="0">
              <a:solidFill>
                <a:srgbClr val="FF0000"/>
              </a:solidFill>
            </a:endParaRPr>
          </a:p>
        </p:txBody>
      </p:sp>
      <p:pic>
        <p:nvPicPr>
          <p:cNvPr id="1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850" y="2165869"/>
            <a:ext cx="788400" cy="1159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p:nvPr/>
        </p:nvSpPr>
        <p:spPr>
          <a:xfrm>
            <a:off x="1063916" y="3890665"/>
            <a:ext cx="7546684" cy="1231106"/>
          </a:xfrm>
          <a:prstGeom prst="rect">
            <a:avLst/>
          </a:prstGeom>
        </p:spPr>
        <p:txBody>
          <a:bodyPr wrap="square">
            <a:spAutoFit/>
          </a:bodyPr>
          <a:lstStyle/>
          <a:p>
            <a:pPr>
              <a:spcAft>
                <a:spcPts val="1200"/>
              </a:spcAft>
            </a:pPr>
            <a:r>
              <a:rPr lang="en-US" altLang="zh-CN" b="1" dirty="0">
                <a:solidFill>
                  <a:srgbClr val="0000FF"/>
                </a:solidFill>
              </a:rPr>
              <a:t>Chapter 3</a:t>
            </a:r>
          </a:p>
          <a:p>
            <a:pPr>
              <a:spcAft>
                <a:spcPts val="1200"/>
              </a:spcAft>
            </a:pPr>
            <a:r>
              <a:rPr lang="en-US" altLang="zh-CN" b="1" dirty="0">
                <a:solidFill>
                  <a:srgbClr val="0000FF"/>
                </a:solidFill>
              </a:rPr>
              <a:t>Introduction to the thermodynamics of materials</a:t>
            </a:r>
            <a:r>
              <a:rPr lang="en-US" altLang="zh-CN" dirty="0">
                <a:solidFill>
                  <a:srgbClr val="0000FF"/>
                </a:solidFill>
              </a:rPr>
              <a:t>, </a:t>
            </a:r>
          </a:p>
          <a:p>
            <a:pPr>
              <a:spcAft>
                <a:spcPts val="1200"/>
              </a:spcAft>
            </a:pPr>
            <a:r>
              <a:rPr lang="en-US" altLang="zh-CN" dirty="0">
                <a:solidFill>
                  <a:srgbClr val="0000FF"/>
                </a:solidFill>
              </a:rPr>
              <a:t>5</a:t>
            </a:r>
            <a:r>
              <a:rPr lang="en-US" altLang="zh-CN" baseline="30000" dirty="0">
                <a:solidFill>
                  <a:srgbClr val="0000FF"/>
                </a:solidFill>
              </a:rPr>
              <a:t>th</a:t>
            </a:r>
            <a:r>
              <a:rPr lang="zh-CN" altLang="en-US" dirty="0">
                <a:solidFill>
                  <a:srgbClr val="0000FF"/>
                </a:solidFill>
              </a:rPr>
              <a:t> </a:t>
            </a:r>
            <a:r>
              <a:rPr lang="en-US" altLang="zh-CN" dirty="0">
                <a:solidFill>
                  <a:srgbClr val="0000FF"/>
                </a:solidFill>
              </a:rPr>
              <a:t>or 6</a:t>
            </a:r>
            <a:r>
              <a:rPr lang="en-US" altLang="zh-CN" baseline="30000" dirty="0">
                <a:solidFill>
                  <a:srgbClr val="0000FF"/>
                </a:solidFill>
              </a:rPr>
              <a:t>th</a:t>
            </a:r>
            <a:r>
              <a:rPr lang="en-US" altLang="zh-CN" dirty="0">
                <a:solidFill>
                  <a:srgbClr val="0000FF"/>
                </a:solidFill>
              </a:rPr>
              <a:t> edition, by David R. Gaskell, </a:t>
            </a:r>
            <a:r>
              <a:rPr lang="en-US" altLang="zh-CN" dirty="0" err="1">
                <a:solidFill>
                  <a:srgbClr val="0000FF"/>
                </a:solidFill>
              </a:rPr>
              <a:t>Talor</a:t>
            </a:r>
            <a:r>
              <a:rPr lang="en-US" altLang="zh-CN" dirty="0">
                <a:solidFill>
                  <a:srgbClr val="0000FF"/>
                </a:solidFill>
              </a:rPr>
              <a:t> &amp; Francis Press, 2018</a:t>
            </a:r>
          </a:p>
        </p:txBody>
      </p:sp>
    </p:spTree>
    <p:extLst>
      <p:ext uri="{BB962C8B-B14F-4D97-AF65-F5344CB8AC3E}">
        <p14:creationId xmlns:p14="http://schemas.microsoft.com/office/powerpoint/2010/main" val="388266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0CE72DF8-E7DD-465A-B4D6-7D1355CFA412}"/>
              </a:ext>
            </a:extLst>
          </p:cNvPr>
          <p:cNvPicPr>
            <a:picLocks noChangeAspect="1"/>
          </p:cNvPicPr>
          <p:nvPr/>
        </p:nvPicPr>
        <p:blipFill>
          <a:blip r:embed="rId3"/>
          <a:stretch>
            <a:fillRect/>
          </a:stretch>
        </p:blipFill>
        <p:spPr>
          <a:xfrm>
            <a:off x="153268" y="1069055"/>
            <a:ext cx="2419401" cy="1837883"/>
          </a:xfrm>
          <a:prstGeom prst="rect">
            <a:avLst/>
          </a:prstGeom>
        </p:spPr>
      </p:pic>
      <p:pic>
        <p:nvPicPr>
          <p:cNvPr id="16" name="图片 15">
            <a:extLst>
              <a:ext uri="{FF2B5EF4-FFF2-40B4-BE49-F238E27FC236}">
                <a16:creationId xmlns:a16="http://schemas.microsoft.com/office/drawing/2014/main" id="{C0E4FC0F-2131-4C95-8EC5-9E9253CE7CD8}"/>
              </a:ext>
            </a:extLst>
          </p:cNvPr>
          <p:cNvPicPr>
            <a:picLocks noChangeAspect="1"/>
          </p:cNvPicPr>
          <p:nvPr/>
        </p:nvPicPr>
        <p:blipFill>
          <a:blip r:embed="rId4"/>
          <a:stretch>
            <a:fillRect/>
          </a:stretch>
        </p:blipFill>
        <p:spPr>
          <a:xfrm>
            <a:off x="2927035" y="1069055"/>
            <a:ext cx="2861756" cy="1837883"/>
          </a:xfrm>
          <a:prstGeom prst="rect">
            <a:avLst/>
          </a:prstGeom>
        </p:spPr>
      </p:pic>
      <p:sp>
        <p:nvSpPr>
          <p:cNvPr id="19" name="文本框 18">
            <a:extLst>
              <a:ext uri="{FF2B5EF4-FFF2-40B4-BE49-F238E27FC236}">
                <a16:creationId xmlns:a16="http://schemas.microsoft.com/office/drawing/2014/main" id="{6A89AA0A-C0A1-4BDC-8CC7-56681D782BBE}"/>
              </a:ext>
            </a:extLst>
          </p:cNvPr>
          <p:cNvSpPr txBox="1"/>
          <p:nvPr/>
        </p:nvSpPr>
        <p:spPr>
          <a:xfrm>
            <a:off x="1840236" y="3031349"/>
            <a:ext cx="5035353" cy="523220"/>
          </a:xfrm>
          <a:prstGeom prst="rect">
            <a:avLst/>
          </a:prstGeom>
          <a:noFill/>
        </p:spPr>
        <p:txBody>
          <a:bodyPr wrap="none" rtlCol="0">
            <a:spAutoFit/>
          </a:bodyPr>
          <a:lstStyle/>
          <a:p>
            <a:r>
              <a:rPr lang="en-US" altLang="zh-CN" sz="2800" dirty="0">
                <a:solidFill>
                  <a:srgbClr val="FF0000"/>
                </a:solidFill>
              </a:rPr>
              <a:t>“Efficiency” VS “Delicious + Joy”</a:t>
            </a:r>
          </a:p>
        </p:txBody>
      </p:sp>
      <p:pic>
        <p:nvPicPr>
          <p:cNvPr id="6963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7840" y="3880343"/>
            <a:ext cx="2453337" cy="1869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2" descr="See the source imag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15969" y="3880343"/>
            <a:ext cx="2858030" cy="1869988"/>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p:cNvPicPr>
            <a:picLocks noChangeAspect="1"/>
          </p:cNvPicPr>
          <p:nvPr/>
        </p:nvPicPr>
        <p:blipFill>
          <a:blip r:embed="rId7"/>
          <a:stretch>
            <a:fillRect/>
          </a:stretch>
        </p:blipFill>
        <p:spPr>
          <a:xfrm>
            <a:off x="5788791" y="3880343"/>
            <a:ext cx="3008236" cy="1878561"/>
          </a:xfrm>
          <a:prstGeom prst="rect">
            <a:avLst/>
          </a:prstGeom>
        </p:spPr>
      </p:pic>
      <p:pic>
        <p:nvPicPr>
          <p:cNvPr id="3" name="图片 2"/>
          <p:cNvPicPr>
            <a:picLocks noChangeAspect="1"/>
          </p:cNvPicPr>
          <p:nvPr/>
        </p:nvPicPr>
        <p:blipFill>
          <a:blip r:embed="rId8"/>
          <a:stretch>
            <a:fillRect/>
          </a:stretch>
        </p:blipFill>
        <p:spPr>
          <a:xfrm>
            <a:off x="6079317" y="1069055"/>
            <a:ext cx="2832502" cy="1837883"/>
          </a:xfrm>
          <a:prstGeom prst="rect">
            <a:avLst/>
          </a:prstGeom>
        </p:spPr>
      </p:pic>
    </p:spTree>
    <p:extLst>
      <p:ext uri="{BB962C8B-B14F-4D97-AF65-F5344CB8AC3E}">
        <p14:creationId xmlns:p14="http://schemas.microsoft.com/office/powerpoint/2010/main" val="10765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373737"/>
              </a:solidFill>
            </a:endParaRPr>
          </a:p>
        </p:txBody>
      </p:sp>
      <p:sp>
        <p:nvSpPr>
          <p:cNvPr id="6" name="Title 1"/>
          <p:cNvSpPr txBox="1"/>
          <p:nvPr/>
        </p:nvSpPr>
        <p:spPr bwMode="auto">
          <a:xfrm>
            <a:off x="255065" y="42439"/>
            <a:ext cx="7162835" cy="557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lvl1pPr algn="l" defTabSz="457200" rtl="0" eaLnBrk="1" fontAlgn="base" hangingPunct="1">
              <a:lnSpc>
                <a:spcPct val="100000"/>
              </a:lnSpc>
              <a:spcBef>
                <a:spcPct val="0"/>
              </a:spcBef>
              <a:spcAft>
                <a:spcPct val="0"/>
              </a:spcAft>
              <a:defRPr sz="3600" kern="1200">
                <a:solidFill>
                  <a:srgbClr val="295467"/>
                </a:solidFill>
                <a:latin typeface="Arial" panose="020B0604020202020204"/>
                <a:ea typeface="Geneva" pitchFamily="-107" charset="-128"/>
                <a:cs typeface="Arial" panose="020B0604020202020204"/>
              </a:defRPr>
            </a:lvl1pPr>
            <a:lvl2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9pPr>
          </a:lstStyle>
          <a:p>
            <a:r>
              <a:rPr lang="en-US" dirty="0">
                <a:solidFill>
                  <a:srgbClr val="FF0000"/>
                </a:solidFill>
                <a:latin typeface="Arial" panose="020B0604020202020204" pitchFamily="34" charset="0"/>
                <a:cs typeface="Arial" panose="020B0604020202020204" pitchFamily="34" charset="0"/>
              </a:rPr>
              <a:t>Principle of Carnot</a:t>
            </a:r>
            <a:endParaRPr lang="en-US" dirty="0">
              <a:solidFill>
                <a:srgbClr val="FF0000"/>
              </a:solidFill>
            </a:endParaRPr>
          </a:p>
        </p:txBody>
      </p:sp>
      <p:pic>
        <p:nvPicPr>
          <p:cNvPr id="614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8434" y="1623462"/>
            <a:ext cx="1276001" cy="1560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6504924" y="3410563"/>
            <a:ext cx="1970091" cy="923330"/>
          </a:xfrm>
          <a:prstGeom prst="rect">
            <a:avLst/>
          </a:prstGeom>
        </p:spPr>
        <p:txBody>
          <a:bodyPr wrap="none">
            <a:spAutoFit/>
          </a:bodyPr>
          <a:lstStyle/>
          <a:p>
            <a:r>
              <a:rPr lang="en-US" altLang="zh-CN" dirty="0"/>
              <a:t>Nicolas L. S. Carnot</a:t>
            </a:r>
          </a:p>
          <a:p>
            <a:r>
              <a:rPr lang="en-US" altLang="zh-CN" dirty="0"/>
              <a:t>French physics</a:t>
            </a:r>
          </a:p>
          <a:p>
            <a:r>
              <a:rPr lang="en-US" altLang="zh-CN" dirty="0"/>
              <a:t>1796-1832</a:t>
            </a:r>
          </a:p>
        </p:txBody>
      </p:sp>
      <p:sp>
        <p:nvSpPr>
          <p:cNvPr id="4" name="矩形 3"/>
          <p:cNvSpPr/>
          <p:nvPr/>
        </p:nvSpPr>
        <p:spPr>
          <a:xfrm>
            <a:off x="6463970" y="4412536"/>
            <a:ext cx="2634521" cy="646331"/>
          </a:xfrm>
          <a:prstGeom prst="rect">
            <a:avLst/>
          </a:prstGeom>
        </p:spPr>
        <p:txBody>
          <a:bodyPr wrap="square">
            <a:spAutoFit/>
          </a:bodyPr>
          <a:lstStyle/>
          <a:p>
            <a:r>
              <a:rPr lang="en-US" altLang="zh-CN" b="1" dirty="0">
                <a:solidFill>
                  <a:srgbClr val="FF0000"/>
                </a:solidFill>
              </a:rPr>
              <a:t>"father of thermodynamics"</a:t>
            </a:r>
            <a:endParaRPr lang="zh-CN" altLang="en-US" b="1" dirty="0">
              <a:solidFill>
                <a:srgbClr val="FF0000"/>
              </a:solidFill>
            </a:endParaRPr>
          </a:p>
        </p:txBody>
      </p:sp>
      <p:sp>
        <p:nvSpPr>
          <p:cNvPr id="17" name="Text Box 4">
            <a:extLst>
              <a:ext uri="{FF2B5EF4-FFF2-40B4-BE49-F238E27FC236}">
                <a16:creationId xmlns:a16="http://schemas.microsoft.com/office/drawing/2014/main" id="{7EDB142E-EE1C-424E-9957-823566FC338B}"/>
              </a:ext>
            </a:extLst>
          </p:cNvPr>
          <p:cNvSpPr txBox="1">
            <a:spLocks noChangeArrowheads="1"/>
          </p:cNvSpPr>
          <p:nvPr/>
        </p:nvSpPr>
        <p:spPr bwMode="auto">
          <a:xfrm>
            <a:off x="255065" y="3007220"/>
            <a:ext cx="5926169" cy="2062103"/>
          </a:xfrm>
          <a:prstGeom prst="rect">
            <a:avLst/>
          </a:prstGeom>
          <a:solidFill>
            <a:schemeClr val="accent2">
              <a:lumMod val="40000"/>
              <a:lumOff val="60000"/>
            </a:schemeClr>
          </a:solidFill>
          <a:ln>
            <a:noFill/>
          </a:ln>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57200" indent="-457200" defTabSz="914400" eaLnBrk="1" hangingPunct="1">
              <a:buFont typeface="+mj-lt"/>
              <a:buAutoNum type="arabicPeriod"/>
            </a:pPr>
            <a:r>
              <a:rPr lang="en-US" altLang="zh-CN" sz="1600" dirty="0">
                <a:solidFill>
                  <a:srgbClr val="000000"/>
                </a:solidFill>
                <a:ea typeface="宋体" panose="02010600030101010101" pitchFamily="2" charset="-122"/>
              </a:rPr>
              <a:t>Reversible heat engines have the maximum efficiency.</a:t>
            </a:r>
          </a:p>
          <a:p>
            <a:pPr marL="457200" indent="-457200" defTabSz="914400" eaLnBrk="1" hangingPunct="1">
              <a:buFont typeface="+mj-lt"/>
              <a:buAutoNum type="arabicPeriod"/>
            </a:pPr>
            <a:endParaRPr lang="en-US" altLang="zh-CN" sz="1600" dirty="0">
              <a:solidFill>
                <a:srgbClr val="000000"/>
              </a:solidFill>
              <a:ea typeface="宋体" panose="02010600030101010101" pitchFamily="2" charset="-122"/>
            </a:endParaRPr>
          </a:p>
          <a:p>
            <a:pPr marL="457200" indent="-457200" defTabSz="914400" eaLnBrk="1" hangingPunct="1">
              <a:buFont typeface="+mj-lt"/>
              <a:buAutoNum type="arabicPeriod"/>
            </a:pPr>
            <a:r>
              <a:rPr lang="en-US" altLang="zh-CN" sz="1600" dirty="0">
                <a:solidFill>
                  <a:srgbClr val="000000"/>
                </a:solidFill>
                <a:ea typeface="宋体" panose="02010600030101010101" pitchFamily="2" charset="-122"/>
              </a:rPr>
              <a:t>The efficiencies of all the reversible heat engines operating between the same two reservoirs are the same.</a:t>
            </a:r>
          </a:p>
          <a:p>
            <a:pPr marL="457200" indent="-457200" defTabSz="914400" eaLnBrk="1" hangingPunct="1">
              <a:buFont typeface="+mj-lt"/>
              <a:buAutoNum type="arabicPeriod"/>
            </a:pPr>
            <a:endParaRPr lang="en-US" altLang="zh-CN" sz="1600" dirty="0">
              <a:solidFill>
                <a:srgbClr val="000000"/>
              </a:solidFill>
              <a:ea typeface="宋体" panose="02010600030101010101" pitchFamily="2" charset="-122"/>
            </a:endParaRPr>
          </a:p>
          <a:p>
            <a:pPr marL="457200" indent="-457200" defTabSz="914400" eaLnBrk="1" hangingPunct="1">
              <a:buFont typeface="+mj-lt"/>
              <a:buAutoNum type="arabicPeriod"/>
            </a:pPr>
            <a:r>
              <a:rPr lang="en-US" altLang="zh-CN" sz="1600" dirty="0">
                <a:solidFill>
                  <a:srgbClr val="000000"/>
                </a:solidFill>
                <a:ea typeface="宋体" panose="02010600030101010101" pitchFamily="2" charset="-122"/>
              </a:rPr>
              <a:t>The efficiency of an irreversible heat engine is always less than the efficiency of a reversible one operating between the same two reservoirs. </a:t>
            </a:r>
          </a:p>
        </p:txBody>
      </p:sp>
      <p:sp>
        <p:nvSpPr>
          <p:cNvPr id="15" name="文本框 14">
            <a:extLst>
              <a:ext uri="{FF2B5EF4-FFF2-40B4-BE49-F238E27FC236}">
                <a16:creationId xmlns:a16="http://schemas.microsoft.com/office/drawing/2014/main" id="{200072A6-A7E5-43E9-AE86-572C514F2447}"/>
              </a:ext>
            </a:extLst>
          </p:cNvPr>
          <p:cNvSpPr txBox="1"/>
          <p:nvPr/>
        </p:nvSpPr>
        <p:spPr>
          <a:xfrm>
            <a:off x="224118" y="2657309"/>
            <a:ext cx="3094474" cy="369332"/>
          </a:xfrm>
          <a:prstGeom prst="rect">
            <a:avLst/>
          </a:prstGeom>
          <a:noFill/>
        </p:spPr>
        <p:txBody>
          <a:bodyPr wrap="square" rtlCol="0">
            <a:spAutoFit/>
          </a:bodyPr>
          <a:lstStyle/>
          <a:p>
            <a:r>
              <a:rPr lang="en-US" altLang="zh-CN" dirty="0"/>
              <a:t>1824: </a:t>
            </a:r>
            <a:r>
              <a:rPr lang="en-US" altLang="zh-CN" dirty="0">
                <a:solidFill>
                  <a:srgbClr val="FF0000"/>
                </a:solidFill>
                <a:latin typeface="Arial" panose="020B0604020202020204" pitchFamily="34" charset="0"/>
                <a:cs typeface="Arial" panose="020B0604020202020204" pitchFamily="34" charset="0"/>
              </a:rPr>
              <a:t>Principle of Carnot</a:t>
            </a:r>
            <a:endParaRPr lang="en-US" altLang="zh-CN" dirty="0">
              <a:solidFill>
                <a:srgbClr val="FF0000"/>
              </a:solidFill>
            </a:endParaRPr>
          </a:p>
        </p:txBody>
      </p:sp>
      <p:sp>
        <p:nvSpPr>
          <p:cNvPr id="16" name="文本框 15">
            <a:extLst>
              <a:ext uri="{FF2B5EF4-FFF2-40B4-BE49-F238E27FC236}">
                <a16:creationId xmlns:a16="http://schemas.microsoft.com/office/drawing/2014/main" id="{A9421F01-89D3-4A1F-A19B-F26F73FAF4AC}"/>
              </a:ext>
            </a:extLst>
          </p:cNvPr>
          <p:cNvSpPr txBox="1"/>
          <p:nvPr/>
        </p:nvSpPr>
        <p:spPr>
          <a:xfrm>
            <a:off x="352264" y="5264822"/>
            <a:ext cx="6023814" cy="923330"/>
          </a:xfrm>
          <a:prstGeom prst="rect">
            <a:avLst/>
          </a:prstGeom>
          <a:noFill/>
        </p:spPr>
        <p:txBody>
          <a:bodyPr wrap="square" rtlCol="0">
            <a:spAutoFit/>
          </a:bodyPr>
          <a:lstStyle/>
          <a:p>
            <a:r>
              <a:rPr lang="en-US" altLang="zh-CN" dirty="0"/>
              <a:t>A heat engine must working between two different temperatures, the work is obtained as the heat flows from the hot end to the cold end. </a:t>
            </a:r>
            <a:endParaRPr lang="zh-CN" altLang="en-US" dirty="0"/>
          </a:p>
        </p:txBody>
      </p:sp>
      <p:sp>
        <p:nvSpPr>
          <p:cNvPr id="11" name="圆角矩形 10"/>
          <p:cNvSpPr/>
          <p:nvPr/>
        </p:nvSpPr>
        <p:spPr>
          <a:xfrm>
            <a:off x="620971" y="1115736"/>
            <a:ext cx="1110695"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Heat Source</a:t>
            </a:r>
            <a:endParaRPr lang="zh-CN" altLang="en-US" b="1" dirty="0"/>
          </a:p>
        </p:txBody>
      </p:sp>
      <p:sp>
        <p:nvSpPr>
          <p:cNvPr id="12" name="椭圆 11"/>
          <p:cNvSpPr/>
          <p:nvPr/>
        </p:nvSpPr>
        <p:spPr>
          <a:xfrm>
            <a:off x="2449771" y="1001436"/>
            <a:ext cx="914400" cy="914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圆角矩形 12"/>
          <p:cNvSpPr/>
          <p:nvPr/>
        </p:nvSpPr>
        <p:spPr>
          <a:xfrm>
            <a:off x="4158476" y="1115736"/>
            <a:ext cx="1110695" cy="685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Cold </a:t>
            </a:r>
          </a:p>
          <a:p>
            <a:pPr algn="ctr"/>
            <a:r>
              <a:rPr lang="en-US" altLang="zh-CN" b="1" dirty="0"/>
              <a:t>Sink</a:t>
            </a:r>
            <a:endParaRPr lang="zh-CN" altLang="en-US" b="1" dirty="0"/>
          </a:p>
        </p:txBody>
      </p:sp>
      <p:cxnSp>
        <p:nvCxnSpPr>
          <p:cNvPr id="14" name="直接箭头连接符 13"/>
          <p:cNvCxnSpPr/>
          <p:nvPr/>
        </p:nvCxnSpPr>
        <p:spPr>
          <a:xfrm>
            <a:off x="3364171" y="1458636"/>
            <a:ext cx="718105"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12" idx="4"/>
          </p:cNvCxnSpPr>
          <p:nvPr/>
        </p:nvCxnSpPr>
        <p:spPr>
          <a:xfrm>
            <a:off x="2906971" y="1915836"/>
            <a:ext cx="0" cy="6477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9" name="TextBox 25"/>
          <p:cNvSpPr txBox="1"/>
          <p:nvPr/>
        </p:nvSpPr>
        <p:spPr>
          <a:xfrm>
            <a:off x="2498044" y="1079005"/>
            <a:ext cx="817853" cy="646331"/>
          </a:xfrm>
          <a:prstGeom prst="rect">
            <a:avLst/>
          </a:prstGeom>
          <a:noFill/>
        </p:spPr>
        <p:txBody>
          <a:bodyPr wrap="none" rtlCol="0">
            <a:spAutoFit/>
          </a:bodyPr>
          <a:lstStyle/>
          <a:p>
            <a:pPr algn="ctr"/>
            <a:r>
              <a:rPr lang="en-US" altLang="zh-CN" b="1" dirty="0">
                <a:solidFill>
                  <a:schemeClr val="bg1"/>
                </a:solidFill>
              </a:rPr>
              <a:t>Heat</a:t>
            </a:r>
          </a:p>
          <a:p>
            <a:pPr algn="ctr"/>
            <a:r>
              <a:rPr lang="en-US" altLang="zh-CN" b="1" dirty="0">
                <a:solidFill>
                  <a:schemeClr val="bg1"/>
                </a:solidFill>
              </a:rPr>
              <a:t>Engine</a:t>
            </a:r>
            <a:endParaRPr lang="zh-CN" altLang="en-US" b="1" dirty="0">
              <a:solidFill>
                <a:schemeClr val="bg1"/>
              </a:solidFill>
            </a:endParaRPr>
          </a:p>
        </p:txBody>
      </p:sp>
      <p:sp>
        <p:nvSpPr>
          <p:cNvPr id="20" name="TextBox 26"/>
          <p:cNvSpPr txBox="1"/>
          <p:nvPr/>
        </p:nvSpPr>
        <p:spPr>
          <a:xfrm>
            <a:off x="3059371" y="2055020"/>
            <a:ext cx="389850" cy="369332"/>
          </a:xfrm>
          <a:prstGeom prst="rect">
            <a:avLst/>
          </a:prstGeom>
          <a:noFill/>
        </p:spPr>
        <p:txBody>
          <a:bodyPr wrap="none" rtlCol="0">
            <a:spAutoFit/>
          </a:bodyPr>
          <a:lstStyle/>
          <a:p>
            <a:r>
              <a:rPr lang="en-US" altLang="zh-CN" dirty="0"/>
              <a:t>W</a:t>
            </a:r>
            <a:endParaRPr lang="zh-CN" altLang="en-US" dirty="0"/>
          </a:p>
        </p:txBody>
      </p:sp>
      <p:sp>
        <p:nvSpPr>
          <p:cNvPr id="21" name="TextBox 27"/>
          <p:cNvSpPr txBox="1"/>
          <p:nvPr/>
        </p:nvSpPr>
        <p:spPr>
          <a:xfrm>
            <a:off x="1763971" y="898804"/>
            <a:ext cx="436338" cy="369332"/>
          </a:xfrm>
          <a:prstGeom prst="rect">
            <a:avLst/>
          </a:prstGeom>
          <a:noFill/>
        </p:spPr>
        <p:txBody>
          <a:bodyPr wrap="none" rtlCol="0">
            <a:spAutoFit/>
          </a:bodyPr>
          <a:lstStyle/>
          <a:p>
            <a:r>
              <a:rPr lang="en-US" altLang="zh-CN" dirty="0"/>
              <a:t>Q</a:t>
            </a:r>
            <a:r>
              <a:rPr lang="en-US" altLang="zh-CN" baseline="-25000" dirty="0"/>
              <a:t>H</a:t>
            </a:r>
            <a:endParaRPr lang="zh-CN" altLang="en-US" dirty="0"/>
          </a:p>
        </p:txBody>
      </p:sp>
      <p:sp>
        <p:nvSpPr>
          <p:cNvPr id="22" name="TextBox 28"/>
          <p:cNvSpPr txBox="1"/>
          <p:nvPr/>
        </p:nvSpPr>
        <p:spPr>
          <a:xfrm>
            <a:off x="3516571" y="822604"/>
            <a:ext cx="405880" cy="369332"/>
          </a:xfrm>
          <a:prstGeom prst="rect">
            <a:avLst/>
          </a:prstGeom>
          <a:noFill/>
        </p:spPr>
        <p:txBody>
          <a:bodyPr wrap="none" rtlCol="0">
            <a:spAutoFit/>
          </a:bodyPr>
          <a:lstStyle/>
          <a:p>
            <a:r>
              <a:rPr lang="en-US" altLang="zh-CN" dirty="0"/>
              <a:t>Q</a:t>
            </a:r>
            <a:r>
              <a:rPr lang="en-US" altLang="zh-CN" baseline="-25000" dirty="0"/>
              <a:t>c</a:t>
            </a:r>
            <a:endParaRPr lang="zh-CN" altLang="en-US" dirty="0"/>
          </a:p>
        </p:txBody>
      </p:sp>
      <p:cxnSp>
        <p:nvCxnSpPr>
          <p:cNvPr id="23" name="直接箭头连接符 22"/>
          <p:cNvCxnSpPr/>
          <p:nvPr/>
        </p:nvCxnSpPr>
        <p:spPr>
          <a:xfrm>
            <a:off x="1687771" y="1496736"/>
            <a:ext cx="718105" cy="0"/>
          </a:xfrm>
          <a:prstGeom prst="straightConnector1">
            <a:avLst/>
          </a:prstGeom>
          <a:ln w="5715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8751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09B64CF6-B479-465F-8E03-B8681FDB48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397" y="1342802"/>
            <a:ext cx="3914358" cy="2682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 Box 18">
            <a:extLst>
              <a:ext uri="{FF2B5EF4-FFF2-40B4-BE49-F238E27FC236}">
                <a16:creationId xmlns:a16="http://schemas.microsoft.com/office/drawing/2014/main" id="{CB2244CF-F01F-49D2-9B5D-4703639820C8}"/>
              </a:ext>
            </a:extLst>
          </p:cNvPr>
          <p:cNvSpPr txBox="1">
            <a:spLocks noChangeArrowheads="1"/>
          </p:cNvSpPr>
          <p:nvPr/>
        </p:nvSpPr>
        <p:spPr bwMode="auto">
          <a:xfrm>
            <a:off x="549680" y="4145010"/>
            <a:ext cx="4298767" cy="19856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eaLnBrk="1" hangingPunct="1">
              <a:lnSpc>
                <a:spcPct val="200000"/>
              </a:lnSpc>
            </a:pPr>
            <a:r>
              <a:rPr lang="en-US" altLang="zh-CN" sz="1600" b="1" dirty="0">
                <a:solidFill>
                  <a:srgbClr val="000000"/>
                </a:solidFill>
                <a:ea typeface="宋体" panose="02010600030101010101" pitchFamily="2" charset="-122"/>
              </a:rPr>
              <a:t>A-B: Reversible isothermal expansion</a:t>
            </a:r>
            <a:r>
              <a:rPr lang="en-US" altLang="zh-CN" sz="1600" dirty="0">
                <a:solidFill>
                  <a:srgbClr val="000000"/>
                </a:solidFill>
                <a:ea typeface="宋体" panose="02010600030101010101" pitchFamily="2" charset="-122"/>
              </a:rPr>
              <a:t>. </a:t>
            </a:r>
          </a:p>
          <a:p>
            <a:pPr defTabSz="914400" eaLnBrk="1" hangingPunct="1">
              <a:lnSpc>
                <a:spcPct val="200000"/>
              </a:lnSpc>
            </a:pPr>
            <a:r>
              <a:rPr lang="en-US" altLang="zh-CN" sz="1600" b="1" dirty="0">
                <a:solidFill>
                  <a:srgbClr val="000000"/>
                </a:solidFill>
                <a:ea typeface="宋体" panose="02010600030101010101" pitchFamily="2" charset="-122"/>
              </a:rPr>
              <a:t>B-C: Reversible Adiabatic expansion</a:t>
            </a:r>
            <a:r>
              <a:rPr lang="en-US" altLang="zh-CN" sz="1600" dirty="0">
                <a:solidFill>
                  <a:srgbClr val="000000"/>
                </a:solidFill>
                <a:ea typeface="宋体" panose="02010600030101010101" pitchFamily="2" charset="-122"/>
              </a:rPr>
              <a:t>. </a:t>
            </a:r>
          </a:p>
          <a:p>
            <a:pPr defTabSz="914400" eaLnBrk="1" hangingPunct="1">
              <a:lnSpc>
                <a:spcPct val="200000"/>
              </a:lnSpc>
            </a:pPr>
            <a:r>
              <a:rPr lang="en-US" altLang="zh-CN" sz="1600" b="1" dirty="0">
                <a:solidFill>
                  <a:srgbClr val="000000"/>
                </a:solidFill>
                <a:ea typeface="宋体" panose="02010600030101010101" pitchFamily="2" charset="-122"/>
              </a:rPr>
              <a:t>C-D: Reversible isothermal compression</a:t>
            </a:r>
            <a:r>
              <a:rPr lang="en-US" altLang="zh-CN" sz="1600" dirty="0">
                <a:solidFill>
                  <a:srgbClr val="000000"/>
                </a:solidFill>
                <a:ea typeface="宋体" panose="02010600030101010101" pitchFamily="2" charset="-122"/>
              </a:rPr>
              <a:t>. </a:t>
            </a:r>
          </a:p>
          <a:p>
            <a:pPr defTabSz="914400" eaLnBrk="1" hangingPunct="1">
              <a:lnSpc>
                <a:spcPct val="200000"/>
              </a:lnSpc>
            </a:pPr>
            <a:r>
              <a:rPr lang="en-US" altLang="zh-CN" sz="1600" b="1" dirty="0">
                <a:solidFill>
                  <a:srgbClr val="000000"/>
                </a:solidFill>
                <a:ea typeface="宋体" panose="02010600030101010101" pitchFamily="2" charset="-122"/>
              </a:rPr>
              <a:t>D-A: Reversible adiabatic compression</a:t>
            </a:r>
            <a:r>
              <a:rPr lang="en-US" altLang="zh-CN" sz="1600" dirty="0">
                <a:solidFill>
                  <a:srgbClr val="000000"/>
                </a:solidFill>
                <a:ea typeface="宋体" panose="02010600030101010101" pitchFamily="2" charset="-122"/>
              </a:rPr>
              <a:t>. </a:t>
            </a:r>
          </a:p>
        </p:txBody>
      </p:sp>
      <p:sp>
        <p:nvSpPr>
          <p:cNvPr id="4" name="矩形 3">
            <a:extLst>
              <a:ext uri="{FF2B5EF4-FFF2-40B4-BE49-F238E27FC236}">
                <a16:creationId xmlns:a16="http://schemas.microsoft.com/office/drawing/2014/main" id="{62337CD9-7E31-45A8-8571-10FB97E63FC5}"/>
              </a:ext>
            </a:extLst>
          </p:cNvPr>
          <p:cNvSpPr/>
          <p:nvPr/>
        </p:nvSpPr>
        <p:spPr>
          <a:xfrm>
            <a:off x="89184" y="114940"/>
            <a:ext cx="5777965" cy="523220"/>
          </a:xfrm>
          <a:prstGeom prst="rect">
            <a:avLst/>
          </a:prstGeom>
        </p:spPr>
        <p:txBody>
          <a:bodyPr wrap="square">
            <a:spAutoFit/>
          </a:bodyPr>
          <a:lstStyle/>
          <a:p>
            <a:r>
              <a:rPr lang="en-US" altLang="zh-CN" sz="2800" dirty="0">
                <a:solidFill>
                  <a:srgbClr val="FF0000"/>
                </a:solidFill>
              </a:rPr>
              <a:t>Carnot cycles in Clapeyron graph</a:t>
            </a:r>
            <a:endParaRPr lang="zh-CN" altLang="en-US" sz="2800" dirty="0">
              <a:solidFill>
                <a:srgbClr val="FF0000"/>
              </a:solidFill>
            </a:endParaRPr>
          </a:p>
        </p:txBody>
      </p:sp>
      <p:pic>
        <p:nvPicPr>
          <p:cNvPr id="54274" name="Picture 2" descr="BenoitClapeyron (dÃ©tail).jpg">
            <a:extLst>
              <a:ext uri="{FF2B5EF4-FFF2-40B4-BE49-F238E27FC236}">
                <a16:creationId xmlns:a16="http://schemas.microsoft.com/office/drawing/2014/main" id="{AED47E3A-52A7-4722-B91C-B574CF869E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3896" y="1224073"/>
            <a:ext cx="1676400" cy="234315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385C243D-2553-42B6-9781-99156C86099D}"/>
              </a:ext>
            </a:extLst>
          </p:cNvPr>
          <p:cNvSpPr txBox="1"/>
          <p:nvPr/>
        </p:nvSpPr>
        <p:spPr>
          <a:xfrm>
            <a:off x="6984742" y="3960067"/>
            <a:ext cx="1274708" cy="646331"/>
          </a:xfrm>
          <a:prstGeom prst="rect">
            <a:avLst/>
          </a:prstGeom>
          <a:noFill/>
        </p:spPr>
        <p:txBody>
          <a:bodyPr wrap="none" rtlCol="0">
            <a:spAutoFit/>
          </a:bodyPr>
          <a:lstStyle/>
          <a:p>
            <a:r>
              <a:rPr lang="en-US" altLang="zh-CN" dirty="0"/>
              <a:t>1799-1864</a:t>
            </a:r>
          </a:p>
          <a:p>
            <a:pPr algn="ctr"/>
            <a:r>
              <a:rPr lang="en-US" altLang="zh-CN" dirty="0"/>
              <a:t>French </a:t>
            </a:r>
          </a:p>
        </p:txBody>
      </p:sp>
      <p:sp>
        <p:nvSpPr>
          <p:cNvPr id="6" name="矩形 5">
            <a:extLst>
              <a:ext uri="{FF2B5EF4-FFF2-40B4-BE49-F238E27FC236}">
                <a16:creationId xmlns:a16="http://schemas.microsoft.com/office/drawing/2014/main" id="{6DB5291D-1ACC-445B-8D3C-625F918572A8}"/>
              </a:ext>
            </a:extLst>
          </p:cNvPr>
          <p:cNvSpPr/>
          <p:nvPr/>
        </p:nvSpPr>
        <p:spPr>
          <a:xfrm>
            <a:off x="6574374" y="3658601"/>
            <a:ext cx="2095445" cy="369332"/>
          </a:xfrm>
          <a:prstGeom prst="rect">
            <a:avLst/>
          </a:prstGeom>
        </p:spPr>
        <p:txBody>
          <a:bodyPr wrap="none">
            <a:spAutoFit/>
          </a:bodyPr>
          <a:lstStyle/>
          <a:p>
            <a:r>
              <a:rPr lang="en-US" altLang="zh-CN" b="1" dirty="0">
                <a:solidFill>
                  <a:srgbClr val="222222"/>
                </a:solidFill>
                <a:latin typeface="Arial" panose="020B0604020202020204" pitchFamily="34" charset="0"/>
              </a:rPr>
              <a:t>Benoît Clapeyron</a:t>
            </a:r>
            <a:endParaRPr lang="zh-CN" altLang="en-US" dirty="0"/>
          </a:p>
        </p:txBody>
      </p:sp>
      <p:sp>
        <p:nvSpPr>
          <p:cNvPr id="7" name="矩形 6">
            <a:extLst>
              <a:ext uri="{FF2B5EF4-FFF2-40B4-BE49-F238E27FC236}">
                <a16:creationId xmlns:a16="http://schemas.microsoft.com/office/drawing/2014/main" id="{CB3C757A-CE3F-4F1B-943A-45EC09FCB3D6}"/>
              </a:ext>
            </a:extLst>
          </p:cNvPr>
          <p:cNvSpPr/>
          <p:nvPr/>
        </p:nvSpPr>
        <p:spPr>
          <a:xfrm>
            <a:off x="6440409" y="4652564"/>
            <a:ext cx="2703591" cy="646331"/>
          </a:xfrm>
          <a:prstGeom prst="rect">
            <a:avLst/>
          </a:prstGeom>
        </p:spPr>
        <p:txBody>
          <a:bodyPr wrap="square">
            <a:spAutoFit/>
          </a:bodyPr>
          <a:lstStyle/>
          <a:p>
            <a:pPr algn="ctr"/>
            <a:r>
              <a:rPr lang="en-US" altLang="zh-CN" dirty="0"/>
              <a:t>one of the founders of </a:t>
            </a:r>
            <a:r>
              <a:rPr lang="en-US" altLang="zh-CN" dirty="0">
                <a:hlinkClick r:id="rId4"/>
              </a:rPr>
              <a:t>thermodynamics</a:t>
            </a:r>
            <a:endParaRPr lang="zh-CN" altLang="en-US" dirty="0"/>
          </a:p>
        </p:txBody>
      </p:sp>
    </p:spTree>
    <p:extLst>
      <p:ext uri="{BB962C8B-B14F-4D97-AF65-F5344CB8AC3E}">
        <p14:creationId xmlns:p14="http://schemas.microsoft.com/office/powerpoint/2010/main" val="2593387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373737"/>
              </a:solidFill>
            </a:endParaRPr>
          </a:p>
        </p:txBody>
      </p:sp>
      <p:sp>
        <p:nvSpPr>
          <p:cNvPr id="6" name="Title 1"/>
          <p:cNvSpPr txBox="1"/>
          <p:nvPr/>
        </p:nvSpPr>
        <p:spPr bwMode="auto">
          <a:xfrm>
            <a:off x="245401" y="-155727"/>
            <a:ext cx="3793761"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lvl1pPr algn="l" defTabSz="457200" rtl="0" eaLnBrk="1" fontAlgn="base" hangingPunct="1">
              <a:lnSpc>
                <a:spcPct val="100000"/>
              </a:lnSpc>
              <a:spcBef>
                <a:spcPct val="0"/>
              </a:spcBef>
              <a:spcAft>
                <a:spcPct val="0"/>
              </a:spcAft>
              <a:defRPr sz="3600" kern="1200">
                <a:solidFill>
                  <a:srgbClr val="295467"/>
                </a:solidFill>
                <a:latin typeface="Arial" panose="020B0604020202020204"/>
                <a:ea typeface="Geneva" pitchFamily="-107" charset="-128"/>
                <a:cs typeface="Arial" panose="020B0604020202020204"/>
              </a:defRPr>
            </a:lvl1pPr>
            <a:lvl2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9pPr>
          </a:lstStyle>
          <a:p>
            <a:r>
              <a:rPr lang="en-US" dirty="0">
                <a:solidFill>
                  <a:srgbClr val="FF0000"/>
                </a:solidFill>
                <a:latin typeface="Arial" panose="020B0604020202020204" pitchFamily="34" charset="0"/>
                <a:cs typeface="Arial" panose="020B0604020202020204" pitchFamily="34" charset="0"/>
              </a:rPr>
              <a:t>Carnot Cycle</a:t>
            </a:r>
            <a:endParaRPr lang="en-US" dirty="0">
              <a:solidFill>
                <a:srgbClr val="FF0000"/>
              </a:solidFill>
            </a:endParaRPr>
          </a:p>
        </p:txBody>
      </p:sp>
      <p:sp>
        <p:nvSpPr>
          <p:cNvPr id="7" name="TextBox 6"/>
          <p:cNvSpPr txBox="1"/>
          <p:nvPr/>
        </p:nvSpPr>
        <p:spPr>
          <a:xfrm>
            <a:off x="228600" y="1331249"/>
            <a:ext cx="4993247" cy="830997"/>
          </a:xfrm>
          <a:prstGeom prst="rect">
            <a:avLst/>
          </a:prstGeom>
          <a:noFill/>
        </p:spPr>
        <p:txBody>
          <a:bodyPr wrap="square" rtlCol="0">
            <a:spAutoFit/>
          </a:bodyPr>
          <a:lstStyle/>
          <a:p>
            <a:r>
              <a:rPr lang="en-US" altLang="zh-CN" sz="1600" b="1" dirty="0">
                <a:solidFill>
                  <a:srgbClr val="0000FF"/>
                </a:solidFill>
              </a:rPr>
              <a:t>-Process A to B (Isothermal expansion)</a:t>
            </a:r>
          </a:p>
          <a:p>
            <a:r>
              <a:rPr lang="en-US" altLang="zh-CN" sz="1600" dirty="0">
                <a:latin typeface="Times New Roman"/>
                <a:cs typeface="Times New Roman"/>
              </a:rPr>
              <a:t>∆T=0</a:t>
            </a:r>
            <a:endParaRPr lang="en-US" altLang="zh-CN" sz="1600" dirty="0"/>
          </a:p>
          <a:p>
            <a:r>
              <a:rPr lang="en-US" altLang="zh-CN" sz="1600" dirty="0"/>
              <a:t>For ideal gas, the internal energy remains the same.</a:t>
            </a:r>
          </a:p>
        </p:txBody>
      </p:sp>
      <p:graphicFrame>
        <p:nvGraphicFramePr>
          <p:cNvPr id="112641" name="Object 1"/>
          <p:cNvGraphicFramePr>
            <a:graphicFrameLocks noChangeAspect="1"/>
          </p:cNvGraphicFramePr>
          <p:nvPr>
            <p:extLst>
              <p:ext uri="{D42A27DB-BD31-4B8C-83A1-F6EECF244321}">
                <p14:modId xmlns:p14="http://schemas.microsoft.com/office/powerpoint/2010/main" val="4140306052"/>
              </p:ext>
            </p:extLst>
          </p:nvPr>
        </p:nvGraphicFramePr>
        <p:xfrm>
          <a:off x="589763" y="2194790"/>
          <a:ext cx="3278069" cy="1118123"/>
        </p:xfrm>
        <a:graphic>
          <a:graphicData uri="http://schemas.openxmlformats.org/presentationml/2006/ole">
            <mc:AlternateContent xmlns:mc="http://schemas.openxmlformats.org/markup-compatibility/2006">
              <mc:Choice xmlns:v="urn:schemas-microsoft-com:vml" Requires="v">
                <p:oleObj name="公式" r:id="rId2" imgW="2628900" imgH="901700" progId="Equation.3">
                  <p:embed/>
                </p:oleObj>
              </mc:Choice>
              <mc:Fallback>
                <p:oleObj name="公式" r:id="rId2" imgW="2628900" imgH="901700" progId="Equation.3">
                  <p:embed/>
                  <p:pic>
                    <p:nvPicPr>
                      <p:cNvPr id="112641"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763" y="2194790"/>
                        <a:ext cx="3278069" cy="11181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p:nvPr/>
        </p:nvSpPr>
        <p:spPr>
          <a:xfrm>
            <a:off x="245401" y="3475674"/>
            <a:ext cx="8168054" cy="338554"/>
          </a:xfrm>
          <a:prstGeom prst="rect">
            <a:avLst/>
          </a:prstGeom>
          <a:noFill/>
        </p:spPr>
        <p:txBody>
          <a:bodyPr wrap="square" rtlCol="0">
            <a:spAutoFit/>
          </a:bodyPr>
          <a:lstStyle/>
          <a:p>
            <a:r>
              <a:rPr lang="en-US" altLang="zh-CN" sz="1600" b="1" dirty="0">
                <a:solidFill>
                  <a:srgbClr val="FF0000"/>
                </a:solidFill>
              </a:rPr>
              <a:t>V</a:t>
            </a:r>
            <a:r>
              <a:rPr lang="en-US" altLang="zh-CN" sz="1600" b="1" baseline="-25000" dirty="0">
                <a:solidFill>
                  <a:srgbClr val="FF0000"/>
                </a:solidFill>
              </a:rPr>
              <a:t>A</a:t>
            </a:r>
            <a:r>
              <a:rPr lang="en-US" altLang="zh-CN" sz="1600" b="1" dirty="0">
                <a:solidFill>
                  <a:srgbClr val="FF0000"/>
                </a:solidFill>
              </a:rPr>
              <a:t> &lt; V</a:t>
            </a:r>
            <a:r>
              <a:rPr lang="en-US" altLang="zh-CN" sz="1600" b="1" baseline="-25000" dirty="0">
                <a:solidFill>
                  <a:srgbClr val="FF0000"/>
                </a:solidFill>
              </a:rPr>
              <a:t>B</a:t>
            </a:r>
            <a:r>
              <a:rPr lang="en-US" altLang="zh-CN" sz="1600" dirty="0"/>
              <a:t>, </a:t>
            </a:r>
            <a:r>
              <a:rPr lang="el-GR" altLang="zh-CN" sz="1600" dirty="0"/>
              <a:t>ω</a:t>
            </a:r>
            <a:r>
              <a:rPr lang="en-US" altLang="zh-CN" sz="1600" baseline="-25000" dirty="0"/>
              <a:t>1</a:t>
            </a:r>
            <a:r>
              <a:rPr lang="en-US" altLang="zh-CN" sz="1600" dirty="0"/>
              <a:t> is positive (the system perform work); q</a:t>
            </a:r>
            <a:r>
              <a:rPr lang="en-US" altLang="zh-CN" sz="1600" baseline="-25000" dirty="0"/>
              <a:t>2 </a:t>
            </a:r>
            <a:r>
              <a:rPr lang="en-US" altLang="zh-CN" sz="1600" dirty="0"/>
              <a:t>is positive (heat is transferred to the system.)</a:t>
            </a:r>
          </a:p>
        </p:txBody>
      </p:sp>
      <p:pic>
        <p:nvPicPr>
          <p:cNvPr id="13"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8722" y="4073665"/>
            <a:ext cx="3050955" cy="2091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任意多边形 3"/>
          <p:cNvSpPr/>
          <p:nvPr/>
        </p:nvSpPr>
        <p:spPr>
          <a:xfrm>
            <a:off x="1322568" y="4588868"/>
            <a:ext cx="955343" cy="354922"/>
          </a:xfrm>
          <a:custGeom>
            <a:avLst/>
            <a:gdLst>
              <a:gd name="connsiteX0" fmla="*/ 0 w 955343"/>
              <a:gd name="connsiteY0" fmla="*/ 0 h 354922"/>
              <a:gd name="connsiteX1" fmla="*/ 573206 w 955343"/>
              <a:gd name="connsiteY1" fmla="*/ 300251 h 354922"/>
              <a:gd name="connsiteX2" fmla="*/ 955343 w 955343"/>
              <a:gd name="connsiteY2" fmla="*/ 354842 h 354922"/>
            </a:gdLst>
            <a:ahLst/>
            <a:cxnLst>
              <a:cxn ang="0">
                <a:pos x="connsiteX0" y="connsiteY0"/>
              </a:cxn>
              <a:cxn ang="0">
                <a:pos x="connsiteX1" y="connsiteY1"/>
              </a:cxn>
              <a:cxn ang="0">
                <a:pos x="connsiteX2" y="connsiteY2"/>
              </a:cxn>
            </a:cxnLst>
            <a:rect l="l" t="t" r="r" b="b"/>
            <a:pathLst>
              <a:path w="955343" h="354922">
                <a:moveTo>
                  <a:pt x="0" y="0"/>
                </a:moveTo>
                <a:cubicBezTo>
                  <a:pt x="206991" y="120555"/>
                  <a:pt x="413982" y="241111"/>
                  <a:pt x="573206" y="300251"/>
                </a:cubicBezTo>
                <a:cubicBezTo>
                  <a:pt x="732430" y="359391"/>
                  <a:pt x="955343" y="354842"/>
                  <a:pt x="955343" y="354842"/>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2240" name="Picture 16"/>
          <p:cNvPicPr>
            <a:picLocks noChangeAspect="1" noChangeArrowheads="1"/>
          </p:cNvPicPr>
          <p:nvPr/>
        </p:nvPicPr>
        <p:blipFill rotWithShape="1">
          <a:blip r:embed="rId5">
            <a:extLst>
              <a:ext uri="{28A0092B-C50C-407E-A947-70E740481C1C}">
                <a14:useLocalDpi xmlns:a14="http://schemas.microsoft.com/office/drawing/2010/main" val="0"/>
              </a:ext>
            </a:extLst>
          </a:blip>
          <a:srcRect t="41343"/>
          <a:stretch/>
        </p:blipFill>
        <p:spPr bwMode="auto">
          <a:xfrm>
            <a:off x="4382803" y="3914686"/>
            <a:ext cx="4244598" cy="2140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064199" y="4302265"/>
            <a:ext cx="1110369" cy="369332"/>
          </a:xfrm>
          <a:prstGeom prst="rect">
            <a:avLst/>
          </a:prstGeom>
          <a:noFill/>
        </p:spPr>
        <p:txBody>
          <a:bodyPr wrap="none" rtlCol="0">
            <a:spAutoFit/>
          </a:bodyPr>
          <a:lstStyle/>
          <a:p>
            <a:r>
              <a:rPr lang="en-US" altLang="zh-CN" dirty="0"/>
              <a:t>PV=const.</a:t>
            </a:r>
            <a:endParaRPr lang="zh-CN" altLang="en-US" dirty="0"/>
          </a:p>
        </p:txBody>
      </p:sp>
      <p:grpSp>
        <p:nvGrpSpPr>
          <p:cNvPr id="10" name="组合 9"/>
          <p:cNvGrpSpPr/>
          <p:nvPr/>
        </p:nvGrpSpPr>
        <p:grpSpPr>
          <a:xfrm>
            <a:off x="1429179" y="4356126"/>
            <a:ext cx="635020" cy="1454898"/>
            <a:chOff x="1429179" y="4356126"/>
            <a:chExt cx="635020" cy="1454898"/>
          </a:xfrm>
        </p:grpSpPr>
        <p:cxnSp>
          <p:nvCxnSpPr>
            <p:cNvPr id="8" name="直接箭头连接符 7"/>
            <p:cNvCxnSpPr/>
            <p:nvPr/>
          </p:nvCxnSpPr>
          <p:spPr>
            <a:xfrm>
              <a:off x="1630017" y="4588868"/>
              <a:ext cx="63611" cy="3549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429179" y="4356126"/>
              <a:ext cx="371060" cy="261610"/>
            </a:xfrm>
            <a:prstGeom prst="rect">
              <a:avLst/>
            </a:prstGeom>
            <a:noFill/>
          </p:spPr>
          <p:txBody>
            <a:bodyPr wrap="square" rtlCol="0">
              <a:spAutoFit/>
            </a:bodyPr>
            <a:lstStyle/>
            <a:p>
              <a:r>
                <a:rPr lang="en-US" altLang="zh-CN" sz="1100" dirty="0"/>
                <a:t>q2</a:t>
              </a:r>
              <a:endParaRPr lang="zh-CN" altLang="en-US" sz="1100" dirty="0"/>
            </a:p>
          </p:txBody>
        </p:sp>
        <p:cxnSp>
          <p:nvCxnSpPr>
            <p:cNvPr id="14" name="直接箭头连接符 13"/>
            <p:cNvCxnSpPr/>
            <p:nvPr/>
          </p:nvCxnSpPr>
          <p:spPr>
            <a:xfrm>
              <a:off x="1665066" y="5194492"/>
              <a:ext cx="63611" cy="3549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693139" y="5549414"/>
              <a:ext cx="371060" cy="261610"/>
            </a:xfrm>
            <a:prstGeom prst="rect">
              <a:avLst/>
            </a:prstGeom>
            <a:noFill/>
          </p:spPr>
          <p:txBody>
            <a:bodyPr wrap="square" rtlCol="0">
              <a:spAutoFit/>
            </a:bodyPr>
            <a:lstStyle/>
            <a:p>
              <a:r>
                <a:rPr lang="en-US" altLang="zh-CN" sz="1100" dirty="0"/>
                <a:t>q1</a:t>
              </a:r>
              <a:endParaRPr lang="zh-CN" altLang="en-US" sz="1100" dirty="0"/>
            </a:p>
          </p:txBody>
        </p:sp>
      </p:grpSp>
    </p:spTree>
    <p:extLst>
      <p:ext uri="{BB962C8B-B14F-4D97-AF65-F5344CB8AC3E}">
        <p14:creationId xmlns:p14="http://schemas.microsoft.com/office/powerpoint/2010/main" val="4035961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373737"/>
              </a:solidFill>
            </a:endParaRPr>
          </a:p>
        </p:txBody>
      </p:sp>
      <p:sp>
        <p:nvSpPr>
          <p:cNvPr id="6" name="Title 1"/>
          <p:cNvSpPr txBox="1"/>
          <p:nvPr/>
        </p:nvSpPr>
        <p:spPr bwMode="auto">
          <a:xfrm>
            <a:off x="295240" y="170373"/>
            <a:ext cx="7162835" cy="575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lvl1pPr algn="l" defTabSz="457200" rtl="0" eaLnBrk="1" fontAlgn="base" hangingPunct="1">
              <a:lnSpc>
                <a:spcPct val="100000"/>
              </a:lnSpc>
              <a:spcBef>
                <a:spcPct val="0"/>
              </a:spcBef>
              <a:spcAft>
                <a:spcPct val="0"/>
              </a:spcAft>
              <a:defRPr sz="3600" kern="1200">
                <a:solidFill>
                  <a:srgbClr val="295467"/>
                </a:solidFill>
                <a:latin typeface="Arial" panose="020B0604020202020204"/>
                <a:ea typeface="Geneva" pitchFamily="-107" charset="-128"/>
                <a:cs typeface="Arial" panose="020B0604020202020204"/>
              </a:defRPr>
            </a:lvl1pPr>
            <a:lvl2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9pPr>
          </a:lstStyle>
          <a:p>
            <a:r>
              <a:rPr lang="en-US" dirty="0">
                <a:solidFill>
                  <a:srgbClr val="FF0000"/>
                </a:solidFill>
                <a:latin typeface="Arial" panose="020B0604020202020204" pitchFamily="34" charset="0"/>
                <a:cs typeface="Arial" panose="020B0604020202020204" pitchFamily="34" charset="0"/>
              </a:rPr>
              <a:t>Carnot Cycle</a:t>
            </a:r>
            <a:endParaRPr lang="en-US" dirty="0">
              <a:solidFill>
                <a:srgbClr val="FF0000"/>
              </a:solidFill>
            </a:endParaRPr>
          </a:p>
        </p:txBody>
      </p:sp>
      <p:sp>
        <p:nvSpPr>
          <p:cNvPr id="11" name="TextBox 10"/>
          <p:cNvSpPr txBox="1"/>
          <p:nvPr/>
        </p:nvSpPr>
        <p:spPr>
          <a:xfrm>
            <a:off x="273631" y="1444477"/>
            <a:ext cx="8168054" cy="584775"/>
          </a:xfrm>
          <a:prstGeom prst="rect">
            <a:avLst/>
          </a:prstGeom>
          <a:noFill/>
        </p:spPr>
        <p:txBody>
          <a:bodyPr wrap="square" rtlCol="0">
            <a:spAutoFit/>
          </a:bodyPr>
          <a:lstStyle/>
          <a:p>
            <a:r>
              <a:rPr lang="en-US" altLang="zh-CN" sz="1600" b="1" dirty="0">
                <a:solidFill>
                  <a:srgbClr val="0000FF"/>
                </a:solidFill>
              </a:rPr>
              <a:t>-Process B to C: </a:t>
            </a:r>
            <a:r>
              <a:rPr lang="en-US" altLang="zh-CN" sz="1600" b="1" dirty="0">
                <a:solidFill>
                  <a:srgbClr val="FF0000"/>
                </a:solidFill>
              </a:rPr>
              <a:t>Adiabatic expansion</a:t>
            </a:r>
            <a:r>
              <a:rPr lang="en-US" altLang="zh-CN" sz="1600" b="1" dirty="0">
                <a:solidFill>
                  <a:srgbClr val="0000FF"/>
                </a:solidFill>
              </a:rPr>
              <a:t> </a:t>
            </a:r>
          </a:p>
          <a:p>
            <a:r>
              <a:rPr lang="en-US" altLang="zh-CN" sz="1600" dirty="0"/>
              <a:t>Adiabatic means no heat transfer between the system and surroundings </a:t>
            </a:r>
          </a:p>
        </p:txBody>
      </p:sp>
      <p:sp>
        <p:nvSpPr>
          <p:cNvPr id="12" name="TextBox 11"/>
          <p:cNvSpPr txBox="1"/>
          <p:nvPr/>
        </p:nvSpPr>
        <p:spPr>
          <a:xfrm>
            <a:off x="3623367" y="2743200"/>
            <a:ext cx="4730058" cy="338554"/>
          </a:xfrm>
          <a:prstGeom prst="rect">
            <a:avLst/>
          </a:prstGeom>
          <a:noFill/>
        </p:spPr>
        <p:txBody>
          <a:bodyPr wrap="square" rtlCol="0">
            <a:spAutoFit/>
          </a:bodyPr>
          <a:lstStyle/>
          <a:p>
            <a:r>
              <a:rPr lang="en-US" altLang="zh-CN" sz="1600" dirty="0" err="1"/>
              <a:t>V</a:t>
            </a:r>
            <a:r>
              <a:rPr lang="en-US" altLang="zh-CN" sz="1600" baseline="-25000" dirty="0" err="1"/>
              <a:t>c</a:t>
            </a:r>
            <a:r>
              <a:rPr lang="en-US" altLang="zh-CN" sz="1600" dirty="0"/>
              <a:t> &gt; </a:t>
            </a:r>
            <a:r>
              <a:rPr lang="en-US" altLang="zh-CN" sz="1600" dirty="0" err="1"/>
              <a:t>V</a:t>
            </a:r>
            <a:r>
              <a:rPr lang="en-US" altLang="zh-CN" sz="1600" baseline="-25000" dirty="0" err="1"/>
              <a:t>b</a:t>
            </a:r>
            <a:r>
              <a:rPr lang="en-US" altLang="zh-CN" sz="1600" dirty="0"/>
              <a:t>, </a:t>
            </a:r>
            <a:r>
              <a:rPr lang="el-GR" altLang="zh-CN" sz="1600" dirty="0"/>
              <a:t>ω</a:t>
            </a:r>
            <a:r>
              <a:rPr lang="en-US" altLang="zh-CN" sz="1600" baseline="-25000" dirty="0"/>
              <a:t>2</a:t>
            </a:r>
            <a:r>
              <a:rPr lang="en-US" altLang="zh-CN" sz="1600" dirty="0"/>
              <a:t> is positive (the system perform work). </a:t>
            </a:r>
          </a:p>
        </p:txBody>
      </p:sp>
      <p:sp>
        <p:nvSpPr>
          <p:cNvPr id="2" name="文本框 1">
            <a:extLst>
              <a:ext uri="{FF2B5EF4-FFF2-40B4-BE49-F238E27FC236}">
                <a16:creationId xmlns:a16="http://schemas.microsoft.com/office/drawing/2014/main" id="{1B824E46-CF11-4536-AA1E-E4D778E4BFD2}"/>
              </a:ext>
            </a:extLst>
          </p:cNvPr>
          <p:cNvSpPr txBox="1"/>
          <p:nvPr/>
        </p:nvSpPr>
        <p:spPr>
          <a:xfrm>
            <a:off x="1970172" y="3973136"/>
            <a:ext cx="1687428" cy="338554"/>
          </a:xfrm>
          <a:prstGeom prst="rect">
            <a:avLst/>
          </a:prstGeom>
          <a:noFill/>
        </p:spPr>
        <p:txBody>
          <a:bodyPr wrap="square" rtlCol="0">
            <a:spAutoFit/>
          </a:bodyPr>
          <a:lstStyle/>
          <a:p>
            <a:r>
              <a:rPr lang="en-US" altLang="zh-CN" sz="1600" i="1" dirty="0"/>
              <a:t>P V </a:t>
            </a:r>
            <a:r>
              <a:rPr lang="en-US" altLang="zh-CN" sz="1600" i="1" baseline="30000" dirty="0"/>
              <a:t>γ</a:t>
            </a:r>
            <a:r>
              <a:rPr lang="en-US" altLang="zh-CN" sz="1600" i="1" dirty="0"/>
              <a:t>=const.</a:t>
            </a:r>
            <a:endParaRPr lang="zh-CN" altLang="en-US" sz="1600" i="1" dirty="0"/>
          </a:p>
        </p:txBody>
      </p:sp>
      <p:pic>
        <p:nvPicPr>
          <p:cNvPr id="2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6645" y="3803320"/>
            <a:ext cx="3050955" cy="2091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任意多边形 3"/>
          <p:cNvSpPr/>
          <p:nvPr/>
        </p:nvSpPr>
        <p:spPr>
          <a:xfrm>
            <a:off x="2306472" y="4644517"/>
            <a:ext cx="191068" cy="682388"/>
          </a:xfrm>
          <a:custGeom>
            <a:avLst/>
            <a:gdLst>
              <a:gd name="connsiteX0" fmla="*/ 0 w 191068"/>
              <a:gd name="connsiteY0" fmla="*/ 0 h 682388"/>
              <a:gd name="connsiteX1" fmla="*/ 191068 w 191068"/>
              <a:gd name="connsiteY1" fmla="*/ 682388 h 682388"/>
            </a:gdLst>
            <a:ahLst/>
            <a:cxnLst>
              <a:cxn ang="0">
                <a:pos x="connsiteX0" y="connsiteY0"/>
              </a:cxn>
              <a:cxn ang="0">
                <a:pos x="connsiteX1" y="connsiteY1"/>
              </a:cxn>
            </a:cxnLst>
            <a:rect l="l" t="t" r="r" b="b"/>
            <a:pathLst>
              <a:path w="191068" h="682388">
                <a:moveTo>
                  <a:pt x="0" y="0"/>
                </a:moveTo>
                <a:lnTo>
                  <a:pt x="191068" y="682388"/>
                </a:ln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837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27802"/>
          <a:stretch/>
        </p:blipFill>
        <p:spPr bwMode="auto">
          <a:xfrm>
            <a:off x="4191000" y="3603946"/>
            <a:ext cx="4114800" cy="2187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对象 4"/>
          <p:cNvGraphicFramePr>
            <a:graphicFrameLocks noChangeAspect="1"/>
          </p:cNvGraphicFramePr>
          <p:nvPr/>
        </p:nvGraphicFramePr>
        <p:xfrm>
          <a:off x="295240" y="2133600"/>
          <a:ext cx="2159000" cy="558800"/>
        </p:xfrm>
        <a:graphic>
          <a:graphicData uri="http://schemas.openxmlformats.org/presentationml/2006/ole">
            <mc:AlternateContent xmlns:mc="http://schemas.openxmlformats.org/markup-compatibility/2006">
              <mc:Choice xmlns:v="urn:schemas-microsoft-com:vml" Requires="v">
                <p:oleObj name="Equation" r:id="rId4" imgW="2158920" imgH="558720" progId="Equation.DSMT4">
                  <p:embed/>
                </p:oleObj>
              </mc:Choice>
              <mc:Fallback>
                <p:oleObj name="Equation" r:id="rId4" imgW="2158920" imgH="558720" progId="Equation.DSMT4">
                  <p:embed/>
                  <p:pic>
                    <p:nvPicPr>
                      <p:cNvPr id="5" name="对象 4"/>
                      <p:cNvPicPr/>
                      <p:nvPr/>
                    </p:nvPicPr>
                    <p:blipFill>
                      <a:blip r:embed="rId5"/>
                      <a:stretch>
                        <a:fillRect/>
                      </a:stretch>
                    </p:blipFill>
                    <p:spPr>
                      <a:xfrm>
                        <a:off x="295240" y="2133600"/>
                        <a:ext cx="2159000" cy="55880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3662481" y="2209800"/>
          <a:ext cx="2616200" cy="393700"/>
        </p:xfrm>
        <a:graphic>
          <a:graphicData uri="http://schemas.openxmlformats.org/presentationml/2006/ole">
            <mc:AlternateContent xmlns:mc="http://schemas.openxmlformats.org/markup-compatibility/2006">
              <mc:Choice xmlns:v="urn:schemas-microsoft-com:vml" Requires="v">
                <p:oleObj name="Equation" r:id="rId6" imgW="2616120" imgH="393480" progId="Equation.DSMT4">
                  <p:embed/>
                </p:oleObj>
              </mc:Choice>
              <mc:Fallback>
                <p:oleObj name="Equation" r:id="rId6" imgW="2616120" imgH="393480" progId="Equation.DSMT4">
                  <p:embed/>
                  <p:pic>
                    <p:nvPicPr>
                      <p:cNvPr id="8" name="对象 7"/>
                      <p:cNvPicPr/>
                      <p:nvPr/>
                    </p:nvPicPr>
                    <p:blipFill>
                      <a:blip r:embed="rId7"/>
                      <a:stretch>
                        <a:fillRect/>
                      </a:stretch>
                    </p:blipFill>
                    <p:spPr>
                      <a:xfrm>
                        <a:off x="3662481" y="2209800"/>
                        <a:ext cx="2616200" cy="393700"/>
                      </a:xfrm>
                      <a:prstGeom prst="rect">
                        <a:avLst/>
                      </a:prstGeom>
                    </p:spPr>
                  </p:pic>
                </p:oleObj>
              </mc:Fallback>
            </mc:AlternateContent>
          </a:graphicData>
        </a:graphic>
      </p:graphicFrame>
      <p:grpSp>
        <p:nvGrpSpPr>
          <p:cNvPr id="13" name="组合 12"/>
          <p:cNvGrpSpPr/>
          <p:nvPr/>
        </p:nvGrpSpPr>
        <p:grpSpPr>
          <a:xfrm>
            <a:off x="1405376" y="4071199"/>
            <a:ext cx="635020" cy="1454898"/>
            <a:chOff x="1429179" y="4356126"/>
            <a:chExt cx="635020" cy="1454898"/>
          </a:xfrm>
        </p:grpSpPr>
        <p:cxnSp>
          <p:nvCxnSpPr>
            <p:cNvPr id="14" name="直接箭头连接符 13"/>
            <p:cNvCxnSpPr/>
            <p:nvPr/>
          </p:nvCxnSpPr>
          <p:spPr>
            <a:xfrm>
              <a:off x="1630017" y="4588868"/>
              <a:ext cx="63611" cy="3549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429179" y="4356126"/>
              <a:ext cx="371060" cy="261610"/>
            </a:xfrm>
            <a:prstGeom prst="rect">
              <a:avLst/>
            </a:prstGeom>
            <a:noFill/>
          </p:spPr>
          <p:txBody>
            <a:bodyPr wrap="square" rtlCol="0">
              <a:spAutoFit/>
            </a:bodyPr>
            <a:lstStyle/>
            <a:p>
              <a:r>
                <a:rPr lang="en-US" altLang="zh-CN" sz="1100" dirty="0"/>
                <a:t>q2</a:t>
              </a:r>
              <a:endParaRPr lang="zh-CN" altLang="en-US" sz="1100" dirty="0"/>
            </a:p>
          </p:txBody>
        </p:sp>
        <p:cxnSp>
          <p:nvCxnSpPr>
            <p:cNvPr id="16" name="直接箭头连接符 15"/>
            <p:cNvCxnSpPr/>
            <p:nvPr/>
          </p:nvCxnSpPr>
          <p:spPr>
            <a:xfrm>
              <a:off x="1665066" y="5194492"/>
              <a:ext cx="63611" cy="3549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693139" y="5549414"/>
              <a:ext cx="371060" cy="261610"/>
            </a:xfrm>
            <a:prstGeom prst="rect">
              <a:avLst/>
            </a:prstGeom>
            <a:noFill/>
          </p:spPr>
          <p:txBody>
            <a:bodyPr wrap="square" rtlCol="0">
              <a:spAutoFit/>
            </a:bodyPr>
            <a:lstStyle/>
            <a:p>
              <a:r>
                <a:rPr lang="en-US" altLang="zh-CN" sz="1100" dirty="0"/>
                <a:t>q1</a:t>
              </a:r>
              <a:endParaRPr lang="zh-CN" altLang="en-US" sz="1100" dirty="0"/>
            </a:p>
          </p:txBody>
        </p:sp>
      </p:grpSp>
    </p:spTree>
    <p:extLst>
      <p:ext uri="{BB962C8B-B14F-4D97-AF65-F5344CB8AC3E}">
        <p14:creationId xmlns:p14="http://schemas.microsoft.com/office/powerpoint/2010/main" val="2369186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373737"/>
              </a:solidFill>
            </a:endParaRPr>
          </a:p>
        </p:txBody>
      </p:sp>
      <p:sp>
        <p:nvSpPr>
          <p:cNvPr id="6" name="Title 1"/>
          <p:cNvSpPr txBox="1"/>
          <p:nvPr/>
        </p:nvSpPr>
        <p:spPr bwMode="auto">
          <a:xfrm>
            <a:off x="152400" y="86004"/>
            <a:ext cx="7162835" cy="544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lvl1pPr algn="l" defTabSz="457200" rtl="0" eaLnBrk="1" fontAlgn="base" hangingPunct="1">
              <a:lnSpc>
                <a:spcPct val="100000"/>
              </a:lnSpc>
              <a:spcBef>
                <a:spcPct val="0"/>
              </a:spcBef>
              <a:spcAft>
                <a:spcPct val="0"/>
              </a:spcAft>
              <a:defRPr sz="3600" kern="1200">
                <a:solidFill>
                  <a:srgbClr val="295467"/>
                </a:solidFill>
                <a:latin typeface="Arial" panose="020B0604020202020204"/>
                <a:ea typeface="Geneva" pitchFamily="-107" charset="-128"/>
                <a:cs typeface="Arial" panose="020B0604020202020204"/>
              </a:defRPr>
            </a:lvl1pPr>
            <a:lvl2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9pPr>
          </a:lstStyle>
          <a:p>
            <a:r>
              <a:rPr lang="en-US" dirty="0">
                <a:solidFill>
                  <a:srgbClr val="FF0000"/>
                </a:solidFill>
                <a:latin typeface="Arial" panose="020B0604020202020204" pitchFamily="34" charset="0"/>
                <a:cs typeface="Arial" panose="020B0604020202020204" pitchFamily="34" charset="0"/>
              </a:rPr>
              <a:t>Carnot Cycle</a:t>
            </a:r>
            <a:endParaRPr lang="en-US" dirty="0">
              <a:solidFill>
                <a:srgbClr val="FF0000"/>
              </a:solidFill>
            </a:endParaRPr>
          </a:p>
        </p:txBody>
      </p:sp>
      <p:sp>
        <p:nvSpPr>
          <p:cNvPr id="7" name="TextBox 6"/>
          <p:cNvSpPr txBox="1"/>
          <p:nvPr/>
        </p:nvSpPr>
        <p:spPr>
          <a:xfrm>
            <a:off x="211799" y="1295400"/>
            <a:ext cx="4993247" cy="861774"/>
          </a:xfrm>
          <a:prstGeom prst="rect">
            <a:avLst/>
          </a:prstGeom>
          <a:noFill/>
        </p:spPr>
        <p:txBody>
          <a:bodyPr wrap="square" rtlCol="0">
            <a:spAutoFit/>
          </a:bodyPr>
          <a:lstStyle/>
          <a:p>
            <a:r>
              <a:rPr lang="en-US" altLang="zh-CN" sz="1600" b="1" dirty="0"/>
              <a:t>-</a:t>
            </a:r>
            <a:r>
              <a:rPr lang="en-US" altLang="zh-CN" sz="1600" b="1" dirty="0">
                <a:solidFill>
                  <a:srgbClr val="0000FF"/>
                </a:solidFill>
              </a:rPr>
              <a:t>Process C to D: </a:t>
            </a:r>
            <a:r>
              <a:rPr lang="en-US" altLang="zh-CN" sz="1600" b="1" dirty="0">
                <a:solidFill>
                  <a:srgbClr val="FF0000"/>
                </a:solidFill>
              </a:rPr>
              <a:t>Isothermal compression</a:t>
            </a:r>
          </a:p>
          <a:p>
            <a:r>
              <a:rPr lang="en-US" altLang="zh-CN" sz="1600" dirty="0"/>
              <a:t> Isothermal means constant temperature. For ideal gas, the internal energy remains the same.</a:t>
            </a:r>
          </a:p>
        </p:txBody>
      </p:sp>
      <p:sp>
        <p:nvSpPr>
          <p:cNvPr id="11" name="TextBox 10"/>
          <p:cNvSpPr txBox="1"/>
          <p:nvPr/>
        </p:nvSpPr>
        <p:spPr>
          <a:xfrm>
            <a:off x="152400" y="3200400"/>
            <a:ext cx="8534400" cy="584775"/>
          </a:xfrm>
          <a:prstGeom prst="rect">
            <a:avLst/>
          </a:prstGeom>
          <a:noFill/>
        </p:spPr>
        <p:txBody>
          <a:bodyPr wrap="square" rtlCol="0">
            <a:spAutoFit/>
          </a:bodyPr>
          <a:lstStyle/>
          <a:p>
            <a:r>
              <a:rPr lang="en-US" altLang="zh-CN" sz="1600" dirty="0"/>
              <a:t>V</a:t>
            </a:r>
            <a:r>
              <a:rPr lang="en-US" altLang="zh-CN" sz="1600" baseline="-25000" dirty="0"/>
              <a:t>C</a:t>
            </a:r>
            <a:r>
              <a:rPr lang="en-US" altLang="zh-CN" sz="1600" dirty="0"/>
              <a:t> &gt; V</a:t>
            </a:r>
            <a:r>
              <a:rPr lang="en-US" altLang="zh-CN" sz="1600" baseline="-25000" dirty="0"/>
              <a:t>D</a:t>
            </a:r>
            <a:r>
              <a:rPr lang="en-US" altLang="zh-CN" sz="1600" dirty="0"/>
              <a:t>, </a:t>
            </a:r>
            <a:r>
              <a:rPr lang="el-GR" altLang="zh-CN" sz="1600" dirty="0"/>
              <a:t>ω</a:t>
            </a:r>
            <a:r>
              <a:rPr lang="en-US" altLang="zh-CN" sz="1600" baseline="-25000" dirty="0"/>
              <a:t>3</a:t>
            </a:r>
            <a:r>
              <a:rPr lang="en-US" altLang="zh-CN" sz="1600" dirty="0"/>
              <a:t> is negative (work is performed on the system); </a:t>
            </a:r>
          </a:p>
          <a:p>
            <a:r>
              <a:rPr lang="en-US" altLang="zh-CN" sz="1600" dirty="0"/>
              <a:t>q</a:t>
            </a:r>
            <a:r>
              <a:rPr lang="en-US" altLang="zh-CN" sz="1600" baseline="-25000" dirty="0"/>
              <a:t>1 </a:t>
            </a:r>
            <a:r>
              <a:rPr lang="en-US" altLang="zh-CN" sz="1600" dirty="0"/>
              <a:t>is negative (heat is transferred out of the system.)</a:t>
            </a:r>
          </a:p>
        </p:txBody>
      </p:sp>
      <p:graphicFrame>
        <p:nvGraphicFramePr>
          <p:cNvPr id="131076" name="Object 4"/>
          <p:cNvGraphicFramePr>
            <a:graphicFrameLocks noChangeAspect="1"/>
          </p:cNvGraphicFramePr>
          <p:nvPr>
            <p:extLst>
              <p:ext uri="{D42A27DB-BD31-4B8C-83A1-F6EECF244321}">
                <p14:modId xmlns:p14="http://schemas.microsoft.com/office/powerpoint/2010/main" val="1603261232"/>
              </p:ext>
            </p:extLst>
          </p:nvPr>
        </p:nvGraphicFramePr>
        <p:xfrm>
          <a:off x="574675" y="2141538"/>
          <a:ext cx="3294063" cy="1119187"/>
        </p:xfrm>
        <a:graphic>
          <a:graphicData uri="http://schemas.openxmlformats.org/presentationml/2006/ole">
            <mc:AlternateContent xmlns:mc="http://schemas.openxmlformats.org/markup-compatibility/2006">
              <mc:Choice xmlns:v="urn:schemas-microsoft-com:vml" Requires="v">
                <p:oleObj name="Equation" r:id="rId2" imgW="2641320" imgH="901440" progId="Equation.DSMT4">
                  <p:embed/>
                </p:oleObj>
              </mc:Choice>
              <mc:Fallback>
                <p:oleObj name="Equation" r:id="rId2" imgW="2641320" imgH="901440" progId="Equation.DSMT4">
                  <p:embed/>
                  <p:pic>
                    <p:nvPicPr>
                      <p:cNvPr id="131076" name="Object 4"/>
                      <p:cNvPicPr>
                        <a:picLocks noChangeAspect="1" noChangeArrowheads="1"/>
                      </p:cNvPicPr>
                      <p:nvPr/>
                    </p:nvPicPr>
                    <p:blipFill>
                      <a:blip r:embed="rId3"/>
                      <a:srcRect/>
                      <a:stretch>
                        <a:fillRect/>
                      </a:stretch>
                    </p:blipFill>
                    <p:spPr bwMode="auto">
                      <a:xfrm>
                        <a:off x="574675" y="2141538"/>
                        <a:ext cx="3294063" cy="1119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5" name="组合 14"/>
          <p:cNvGrpSpPr/>
          <p:nvPr/>
        </p:nvGrpSpPr>
        <p:grpSpPr>
          <a:xfrm>
            <a:off x="280533" y="4311621"/>
            <a:ext cx="3782309" cy="2091104"/>
            <a:chOff x="5203429" y="1478573"/>
            <a:chExt cx="3782309" cy="2091104"/>
          </a:xfrm>
        </p:grpSpPr>
        <p:pic>
          <p:nvPicPr>
            <p:cNvPr id="13"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03429" y="1478573"/>
              <a:ext cx="3050955" cy="2091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Box 13"/>
            <p:cNvSpPr txBox="1"/>
            <p:nvPr/>
          </p:nvSpPr>
          <p:spPr>
            <a:xfrm>
              <a:off x="6400800" y="1696916"/>
              <a:ext cx="2584938" cy="338554"/>
            </a:xfrm>
            <a:prstGeom prst="rect">
              <a:avLst/>
            </a:prstGeom>
            <a:noFill/>
          </p:spPr>
          <p:txBody>
            <a:bodyPr wrap="square" rtlCol="0">
              <a:spAutoFit/>
            </a:bodyPr>
            <a:lstStyle/>
            <a:p>
              <a:r>
                <a:rPr lang="en-US" altLang="zh-CN" sz="1600" dirty="0"/>
                <a:t>On mole ideal gas.</a:t>
              </a:r>
              <a:endParaRPr lang="zh-CN" altLang="en-US" sz="1600" dirty="0"/>
            </a:p>
          </p:txBody>
        </p:sp>
      </p:grpSp>
      <p:sp>
        <p:nvSpPr>
          <p:cNvPr id="21" name="Slide Number Placeholder 3"/>
          <p:cNvSpPr txBox="1"/>
          <p:nvPr/>
        </p:nvSpPr>
        <p:spPr>
          <a:xfrm>
            <a:off x="6934200" y="6477000"/>
            <a:ext cx="2133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i="1" dirty="0"/>
              <a:t>Prof. W.S. Liu  </a:t>
            </a:r>
            <a:r>
              <a:rPr lang="en-US" dirty="0"/>
              <a:t>|  </a:t>
            </a:r>
            <a:fld id="{C915B95C-5458-41FC-90FC-CACA4B5603FB}" type="slidenum">
              <a:rPr lang="en-US" dirty="0" smtClean="0"/>
              <a:t>8</a:t>
            </a:fld>
            <a:endParaRPr lang="en-US" dirty="0"/>
          </a:p>
        </p:txBody>
      </p:sp>
      <p:sp>
        <p:nvSpPr>
          <p:cNvPr id="2" name="任意多边形 1"/>
          <p:cNvSpPr/>
          <p:nvPr/>
        </p:nvSpPr>
        <p:spPr>
          <a:xfrm>
            <a:off x="1241946" y="5459104"/>
            <a:ext cx="928048" cy="354842"/>
          </a:xfrm>
          <a:custGeom>
            <a:avLst/>
            <a:gdLst>
              <a:gd name="connsiteX0" fmla="*/ 928048 w 928048"/>
              <a:gd name="connsiteY0" fmla="*/ 354842 h 354842"/>
              <a:gd name="connsiteX1" fmla="*/ 491320 w 928048"/>
              <a:gd name="connsiteY1" fmla="*/ 259308 h 354842"/>
              <a:gd name="connsiteX2" fmla="*/ 204717 w 928048"/>
              <a:gd name="connsiteY2" fmla="*/ 109183 h 354842"/>
              <a:gd name="connsiteX3" fmla="*/ 0 w 928048"/>
              <a:gd name="connsiteY3" fmla="*/ 0 h 354842"/>
            </a:gdLst>
            <a:ahLst/>
            <a:cxnLst>
              <a:cxn ang="0">
                <a:pos x="connsiteX0" y="connsiteY0"/>
              </a:cxn>
              <a:cxn ang="0">
                <a:pos x="connsiteX1" y="connsiteY1"/>
              </a:cxn>
              <a:cxn ang="0">
                <a:pos x="connsiteX2" y="connsiteY2"/>
              </a:cxn>
              <a:cxn ang="0">
                <a:pos x="connsiteX3" y="connsiteY3"/>
              </a:cxn>
            </a:cxnLst>
            <a:rect l="l" t="t" r="r" b="b"/>
            <a:pathLst>
              <a:path w="928048" h="354842">
                <a:moveTo>
                  <a:pt x="928048" y="354842"/>
                </a:moveTo>
                <a:cubicBezTo>
                  <a:pt x="769961" y="327546"/>
                  <a:pt x="611875" y="300251"/>
                  <a:pt x="491320" y="259308"/>
                </a:cubicBezTo>
                <a:cubicBezTo>
                  <a:pt x="370765" y="218365"/>
                  <a:pt x="204717" y="109183"/>
                  <a:pt x="204717" y="109183"/>
                </a:cubicBezTo>
                <a:lnTo>
                  <a:pt x="0" y="0"/>
                </a:ln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3266" name="Picture 18"/>
          <p:cNvPicPr>
            <a:picLocks noChangeAspect="1" noChangeArrowheads="1"/>
          </p:cNvPicPr>
          <p:nvPr/>
        </p:nvPicPr>
        <p:blipFill rotWithShape="1">
          <a:blip r:embed="rId5">
            <a:extLst>
              <a:ext uri="{28A0092B-C50C-407E-A947-70E740481C1C}">
                <a14:useLocalDpi xmlns:a14="http://schemas.microsoft.com/office/drawing/2010/main" val="0"/>
              </a:ext>
            </a:extLst>
          </a:blip>
          <a:srcRect t="30615"/>
          <a:stretch/>
        </p:blipFill>
        <p:spPr bwMode="auto">
          <a:xfrm>
            <a:off x="3863689" y="3862014"/>
            <a:ext cx="5280311" cy="2614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6" name="组合 15"/>
          <p:cNvGrpSpPr/>
          <p:nvPr/>
        </p:nvGrpSpPr>
        <p:grpSpPr>
          <a:xfrm>
            <a:off x="1158782" y="4629724"/>
            <a:ext cx="635020" cy="1454898"/>
            <a:chOff x="1429179" y="4356126"/>
            <a:chExt cx="635020" cy="1454898"/>
          </a:xfrm>
        </p:grpSpPr>
        <p:cxnSp>
          <p:nvCxnSpPr>
            <p:cNvPr id="17" name="直接箭头连接符 16"/>
            <p:cNvCxnSpPr/>
            <p:nvPr/>
          </p:nvCxnSpPr>
          <p:spPr>
            <a:xfrm>
              <a:off x="1630017" y="4588868"/>
              <a:ext cx="63611" cy="3549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429179" y="4356126"/>
              <a:ext cx="371060" cy="261610"/>
            </a:xfrm>
            <a:prstGeom prst="rect">
              <a:avLst/>
            </a:prstGeom>
            <a:noFill/>
          </p:spPr>
          <p:txBody>
            <a:bodyPr wrap="square" rtlCol="0">
              <a:spAutoFit/>
            </a:bodyPr>
            <a:lstStyle/>
            <a:p>
              <a:r>
                <a:rPr lang="en-US" altLang="zh-CN" sz="1100" dirty="0"/>
                <a:t>q2</a:t>
              </a:r>
              <a:endParaRPr lang="zh-CN" altLang="en-US" sz="1100" dirty="0"/>
            </a:p>
          </p:txBody>
        </p:sp>
        <p:cxnSp>
          <p:nvCxnSpPr>
            <p:cNvPr id="19" name="直接箭头连接符 18"/>
            <p:cNvCxnSpPr/>
            <p:nvPr/>
          </p:nvCxnSpPr>
          <p:spPr>
            <a:xfrm>
              <a:off x="1665066" y="5194492"/>
              <a:ext cx="63611" cy="3549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693139" y="5549414"/>
              <a:ext cx="371060" cy="261610"/>
            </a:xfrm>
            <a:prstGeom prst="rect">
              <a:avLst/>
            </a:prstGeom>
            <a:noFill/>
          </p:spPr>
          <p:txBody>
            <a:bodyPr wrap="square" rtlCol="0">
              <a:spAutoFit/>
            </a:bodyPr>
            <a:lstStyle/>
            <a:p>
              <a:r>
                <a:rPr lang="en-US" altLang="zh-CN" sz="1100" dirty="0"/>
                <a:t>q1</a:t>
              </a:r>
              <a:endParaRPr lang="zh-CN" altLang="en-US" sz="1100" dirty="0"/>
            </a:p>
          </p:txBody>
        </p:sp>
      </p:grpSp>
    </p:spTree>
    <p:extLst>
      <p:ext uri="{BB962C8B-B14F-4D97-AF65-F5344CB8AC3E}">
        <p14:creationId xmlns:p14="http://schemas.microsoft.com/office/powerpoint/2010/main" val="3048384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373737"/>
              </a:solidFill>
            </a:endParaRPr>
          </a:p>
        </p:txBody>
      </p:sp>
      <p:sp>
        <p:nvSpPr>
          <p:cNvPr id="6" name="Title 1"/>
          <p:cNvSpPr txBox="1"/>
          <p:nvPr/>
        </p:nvSpPr>
        <p:spPr bwMode="auto">
          <a:xfrm>
            <a:off x="98961" y="197190"/>
            <a:ext cx="3311528" cy="465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lvl1pPr algn="l" defTabSz="457200" rtl="0" eaLnBrk="1" fontAlgn="base" hangingPunct="1">
              <a:lnSpc>
                <a:spcPct val="100000"/>
              </a:lnSpc>
              <a:spcBef>
                <a:spcPct val="0"/>
              </a:spcBef>
              <a:spcAft>
                <a:spcPct val="0"/>
              </a:spcAft>
              <a:defRPr sz="3600" kern="1200">
                <a:solidFill>
                  <a:srgbClr val="295467"/>
                </a:solidFill>
                <a:latin typeface="Arial" panose="020B0604020202020204"/>
                <a:ea typeface="Geneva" pitchFamily="-107" charset="-128"/>
                <a:cs typeface="Arial" panose="020B0604020202020204"/>
              </a:defRPr>
            </a:lvl1pPr>
            <a:lvl2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9pPr>
          </a:lstStyle>
          <a:p>
            <a:r>
              <a:rPr lang="en-US" dirty="0">
                <a:solidFill>
                  <a:srgbClr val="FF0000"/>
                </a:solidFill>
                <a:latin typeface="Arial" panose="020B0604020202020204" pitchFamily="34" charset="0"/>
                <a:cs typeface="Arial" panose="020B0604020202020204" pitchFamily="34" charset="0"/>
              </a:rPr>
              <a:t>Carnot Cycle</a:t>
            </a:r>
            <a:endParaRPr lang="en-US" dirty="0">
              <a:solidFill>
                <a:srgbClr val="FF0000"/>
              </a:solidFill>
            </a:endParaRPr>
          </a:p>
        </p:txBody>
      </p:sp>
      <p:sp>
        <p:nvSpPr>
          <p:cNvPr id="11" name="TextBox 10"/>
          <p:cNvSpPr txBox="1"/>
          <p:nvPr/>
        </p:nvSpPr>
        <p:spPr>
          <a:xfrm>
            <a:off x="99978" y="1050667"/>
            <a:ext cx="8168054" cy="584775"/>
          </a:xfrm>
          <a:prstGeom prst="rect">
            <a:avLst/>
          </a:prstGeom>
          <a:noFill/>
        </p:spPr>
        <p:txBody>
          <a:bodyPr wrap="square" rtlCol="0">
            <a:spAutoFit/>
          </a:bodyPr>
          <a:lstStyle/>
          <a:p>
            <a:r>
              <a:rPr lang="en-US" altLang="zh-CN" sz="1600" b="1" dirty="0">
                <a:solidFill>
                  <a:srgbClr val="0000FF"/>
                </a:solidFill>
              </a:rPr>
              <a:t>-Process D to A :</a:t>
            </a:r>
            <a:r>
              <a:rPr lang="en-US" altLang="zh-CN" sz="1600" b="1" dirty="0">
                <a:solidFill>
                  <a:srgbClr val="FF0000"/>
                </a:solidFill>
              </a:rPr>
              <a:t> Adiabatic compression</a:t>
            </a:r>
            <a:endParaRPr lang="en-US" altLang="zh-CN" sz="1600" b="1" dirty="0">
              <a:solidFill>
                <a:srgbClr val="0000FF"/>
              </a:solidFill>
            </a:endParaRPr>
          </a:p>
          <a:p>
            <a:r>
              <a:rPr lang="en-US" altLang="zh-CN" sz="1600" dirty="0"/>
              <a:t>Adiabatic means no heat transfer between the system and surroundings </a:t>
            </a:r>
          </a:p>
        </p:txBody>
      </p:sp>
      <p:sp>
        <p:nvSpPr>
          <p:cNvPr id="12" name="TextBox 11"/>
          <p:cNvSpPr txBox="1"/>
          <p:nvPr/>
        </p:nvSpPr>
        <p:spPr>
          <a:xfrm>
            <a:off x="3360229" y="2481189"/>
            <a:ext cx="5707571" cy="584775"/>
          </a:xfrm>
          <a:prstGeom prst="rect">
            <a:avLst/>
          </a:prstGeom>
          <a:noFill/>
        </p:spPr>
        <p:txBody>
          <a:bodyPr wrap="square" rtlCol="0">
            <a:spAutoFit/>
          </a:bodyPr>
          <a:lstStyle/>
          <a:p>
            <a:r>
              <a:rPr lang="en-US" altLang="zh-CN" sz="1600" dirty="0"/>
              <a:t>V</a:t>
            </a:r>
            <a:r>
              <a:rPr lang="en-US" altLang="zh-CN" sz="1600" baseline="-25000" dirty="0"/>
              <a:t>D</a:t>
            </a:r>
            <a:r>
              <a:rPr lang="en-US" altLang="zh-CN" sz="1600" dirty="0"/>
              <a:t> &gt; V</a:t>
            </a:r>
            <a:r>
              <a:rPr lang="en-US" altLang="zh-CN" sz="1600" baseline="-25000" dirty="0"/>
              <a:t>A</a:t>
            </a:r>
            <a:r>
              <a:rPr lang="en-US" altLang="zh-CN" sz="1600" dirty="0"/>
              <a:t>, </a:t>
            </a:r>
            <a:r>
              <a:rPr lang="el-GR" altLang="zh-CN" sz="1600" dirty="0"/>
              <a:t>ω</a:t>
            </a:r>
            <a:r>
              <a:rPr lang="en-US" altLang="zh-CN" sz="1600" baseline="-25000" dirty="0"/>
              <a:t>4</a:t>
            </a:r>
            <a:r>
              <a:rPr lang="en-US" altLang="zh-CN" sz="1600" dirty="0"/>
              <a:t> is negative </a:t>
            </a:r>
          </a:p>
          <a:p>
            <a:r>
              <a:rPr lang="en-US" altLang="zh-CN" sz="1600" dirty="0"/>
              <a:t>(work is performed on the system). </a:t>
            </a:r>
          </a:p>
        </p:txBody>
      </p:sp>
      <p:pic>
        <p:nvPicPr>
          <p:cNvPr id="1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3666582"/>
            <a:ext cx="3312519" cy="2270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39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t="32996"/>
          <a:stretch/>
        </p:blipFill>
        <p:spPr bwMode="auto">
          <a:xfrm>
            <a:off x="3778430" y="3437982"/>
            <a:ext cx="5289370" cy="2383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对象 1"/>
          <p:cNvGraphicFramePr>
            <a:graphicFrameLocks noChangeAspect="1"/>
          </p:cNvGraphicFramePr>
          <p:nvPr>
            <p:extLst>
              <p:ext uri="{D42A27DB-BD31-4B8C-83A1-F6EECF244321}">
                <p14:modId xmlns:p14="http://schemas.microsoft.com/office/powerpoint/2010/main" val="3667688991"/>
              </p:ext>
            </p:extLst>
          </p:nvPr>
        </p:nvGraphicFramePr>
        <p:xfrm>
          <a:off x="171450" y="1990182"/>
          <a:ext cx="2260600" cy="558800"/>
        </p:xfrm>
        <a:graphic>
          <a:graphicData uri="http://schemas.openxmlformats.org/presentationml/2006/ole">
            <mc:AlternateContent xmlns:mc="http://schemas.openxmlformats.org/markup-compatibility/2006">
              <mc:Choice xmlns:v="urn:schemas-microsoft-com:vml" Requires="v">
                <p:oleObj name="Equation" r:id="rId4" imgW="2260440" imgH="558720" progId="Equation.DSMT4">
                  <p:embed/>
                </p:oleObj>
              </mc:Choice>
              <mc:Fallback>
                <p:oleObj name="Equation" r:id="rId4" imgW="2260440" imgH="558720" progId="Equation.DSMT4">
                  <p:embed/>
                  <p:pic>
                    <p:nvPicPr>
                      <p:cNvPr id="2" name="对象 1"/>
                      <p:cNvPicPr>
                        <a:picLocks noChangeAspect="1" noChangeArrowheads="1"/>
                      </p:cNvPicPr>
                      <p:nvPr/>
                    </p:nvPicPr>
                    <p:blipFill>
                      <a:blip r:embed="rId5"/>
                      <a:srcRect/>
                      <a:stretch>
                        <a:fillRect/>
                      </a:stretch>
                    </p:blipFill>
                    <p:spPr bwMode="auto">
                      <a:xfrm>
                        <a:off x="171450" y="1990182"/>
                        <a:ext cx="22606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36860356"/>
              </p:ext>
            </p:extLst>
          </p:nvPr>
        </p:nvGraphicFramePr>
        <p:xfrm>
          <a:off x="3393572" y="1837782"/>
          <a:ext cx="2616200" cy="393700"/>
        </p:xfrm>
        <a:graphic>
          <a:graphicData uri="http://schemas.openxmlformats.org/presentationml/2006/ole">
            <mc:AlternateContent xmlns:mc="http://schemas.openxmlformats.org/markup-compatibility/2006">
              <mc:Choice xmlns:v="urn:schemas-microsoft-com:vml" Requires="v">
                <p:oleObj name="Equation" r:id="rId6" imgW="2616120" imgH="393480" progId="Equation.DSMT4">
                  <p:embed/>
                </p:oleObj>
              </mc:Choice>
              <mc:Fallback>
                <p:oleObj name="Equation" r:id="rId6" imgW="2616120" imgH="393480" progId="Equation.DSMT4">
                  <p:embed/>
                  <p:pic>
                    <p:nvPicPr>
                      <p:cNvPr id="4" name="对象 3"/>
                      <p:cNvPicPr>
                        <a:picLocks noChangeAspect="1" noChangeArrowheads="1"/>
                      </p:cNvPicPr>
                      <p:nvPr/>
                    </p:nvPicPr>
                    <p:blipFill>
                      <a:blip r:embed="rId7"/>
                      <a:srcRect/>
                      <a:stretch>
                        <a:fillRect/>
                      </a:stretch>
                    </p:blipFill>
                    <p:spPr bwMode="auto">
                      <a:xfrm>
                        <a:off x="3393572" y="1837782"/>
                        <a:ext cx="26162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 name="组合 9"/>
          <p:cNvGrpSpPr/>
          <p:nvPr/>
        </p:nvGrpSpPr>
        <p:grpSpPr>
          <a:xfrm>
            <a:off x="1165219" y="4094516"/>
            <a:ext cx="635020" cy="1454898"/>
            <a:chOff x="1429179" y="4356126"/>
            <a:chExt cx="635020" cy="1454898"/>
          </a:xfrm>
        </p:grpSpPr>
        <p:cxnSp>
          <p:nvCxnSpPr>
            <p:cNvPr id="14" name="直接箭头连接符 13"/>
            <p:cNvCxnSpPr/>
            <p:nvPr/>
          </p:nvCxnSpPr>
          <p:spPr>
            <a:xfrm>
              <a:off x="1630017" y="4588868"/>
              <a:ext cx="63611" cy="3549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1429179" y="4356126"/>
              <a:ext cx="371060" cy="261610"/>
            </a:xfrm>
            <a:prstGeom prst="rect">
              <a:avLst/>
            </a:prstGeom>
            <a:noFill/>
          </p:spPr>
          <p:txBody>
            <a:bodyPr wrap="square" rtlCol="0">
              <a:spAutoFit/>
            </a:bodyPr>
            <a:lstStyle/>
            <a:p>
              <a:r>
                <a:rPr lang="en-US" altLang="zh-CN" sz="1100" dirty="0"/>
                <a:t>q2</a:t>
              </a:r>
              <a:endParaRPr lang="zh-CN" altLang="en-US" sz="1100" dirty="0"/>
            </a:p>
          </p:txBody>
        </p:sp>
        <p:cxnSp>
          <p:nvCxnSpPr>
            <p:cNvPr id="16" name="直接箭头连接符 15"/>
            <p:cNvCxnSpPr/>
            <p:nvPr/>
          </p:nvCxnSpPr>
          <p:spPr>
            <a:xfrm>
              <a:off x="1665066" y="5194492"/>
              <a:ext cx="63611" cy="3549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693139" y="5549414"/>
              <a:ext cx="371060" cy="261610"/>
            </a:xfrm>
            <a:prstGeom prst="rect">
              <a:avLst/>
            </a:prstGeom>
            <a:noFill/>
          </p:spPr>
          <p:txBody>
            <a:bodyPr wrap="square" rtlCol="0">
              <a:spAutoFit/>
            </a:bodyPr>
            <a:lstStyle/>
            <a:p>
              <a:r>
                <a:rPr lang="en-US" altLang="zh-CN" sz="1100" dirty="0"/>
                <a:t>q1</a:t>
              </a:r>
              <a:endParaRPr lang="zh-CN" altLang="en-US" sz="1100" dirty="0"/>
            </a:p>
          </p:txBody>
        </p:sp>
      </p:grpSp>
    </p:spTree>
    <p:extLst>
      <p:ext uri="{BB962C8B-B14F-4D97-AF65-F5344CB8AC3E}">
        <p14:creationId xmlns:p14="http://schemas.microsoft.com/office/powerpoint/2010/main" val="2226725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373737"/>
              </a:solidFill>
            </a:endParaRPr>
          </a:p>
        </p:txBody>
      </p:sp>
      <p:sp>
        <p:nvSpPr>
          <p:cNvPr id="6" name="Title 1"/>
          <p:cNvSpPr txBox="1"/>
          <p:nvPr/>
        </p:nvSpPr>
        <p:spPr bwMode="auto">
          <a:xfrm>
            <a:off x="155575" y="7937"/>
            <a:ext cx="3105382" cy="654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lvl1pPr algn="l" defTabSz="457200" rtl="0" eaLnBrk="1" fontAlgn="base" hangingPunct="1">
              <a:lnSpc>
                <a:spcPct val="100000"/>
              </a:lnSpc>
              <a:spcBef>
                <a:spcPct val="0"/>
              </a:spcBef>
              <a:spcAft>
                <a:spcPct val="0"/>
              </a:spcAft>
              <a:defRPr sz="3600" kern="1200">
                <a:solidFill>
                  <a:srgbClr val="295467"/>
                </a:solidFill>
                <a:latin typeface="Arial" panose="020B0604020202020204"/>
                <a:ea typeface="Geneva" pitchFamily="-107" charset="-128"/>
                <a:cs typeface="Arial" panose="020B0604020202020204"/>
              </a:defRPr>
            </a:lvl1pPr>
            <a:lvl2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9pPr>
          </a:lstStyle>
          <a:p>
            <a:r>
              <a:rPr lang="en-US" dirty="0">
                <a:solidFill>
                  <a:srgbClr val="FF0000"/>
                </a:solidFill>
                <a:latin typeface="Arial" panose="020B0604020202020204" pitchFamily="34" charset="0"/>
                <a:cs typeface="Arial" panose="020B0604020202020204" pitchFamily="34" charset="0"/>
              </a:rPr>
              <a:t>Carnot Cycle</a:t>
            </a:r>
            <a:endParaRPr lang="en-US" dirty="0">
              <a:solidFill>
                <a:srgbClr val="FF0000"/>
              </a:solidFill>
            </a:endParaRPr>
          </a:p>
        </p:txBody>
      </p:sp>
      <p:pic>
        <p:nvPicPr>
          <p:cNvPr id="593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0706" y="1377002"/>
            <a:ext cx="2435772" cy="236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 Box 10"/>
          <p:cNvSpPr txBox="1">
            <a:spLocks noChangeArrowheads="1"/>
          </p:cNvSpPr>
          <p:nvPr/>
        </p:nvSpPr>
        <p:spPr bwMode="auto">
          <a:xfrm>
            <a:off x="5577192" y="4448453"/>
            <a:ext cx="32839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eaLnBrk="1" hangingPunct="1"/>
            <a:r>
              <a:rPr lang="en-US" altLang="zh-CN" sz="1800" dirty="0">
                <a:solidFill>
                  <a:srgbClr val="000000"/>
                </a:solidFill>
                <a:ea typeface="宋体" panose="02010600030101010101" pitchFamily="2" charset="-122"/>
              </a:rPr>
              <a:t>Efficiency of the Carnot cycle: </a:t>
            </a:r>
            <a:endParaRPr lang="en-US" altLang="zh-CN" sz="1800" baseline="-25000" dirty="0">
              <a:solidFill>
                <a:srgbClr val="000000"/>
              </a:solidFill>
              <a:ea typeface="宋体" panose="02010600030101010101" pitchFamily="2" charset="-122"/>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510089053"/>
              </p:ext>
            </p:extLst>
          </p:nvPr>
        </p:nvGraphicFramePr>
        <p:xfrm>
          <a:off x="5937719" y="4969947"/>
          <a:ext cx="2781977" cy="788987"/>
        </p:xfrm>
        <a:graphic>
          <a:graphicData uri="http://schemas.openxmlformats.org/presentationml/2006/ole">
            <mc:AlternateContent xmlns:mc="http://schemas.openxmlformats.org/markup-compatibility/2006">
              <mc:Choice xmlns:v="urn:schemas-microsoft-com:vml" Requires="v">
                <p:oleObj name="Equation" r:id="rId3" imgW="1524000" imgH="431800" progId="Equation.3">
                  <p:embed/>
                </p:oleObj>
              </mc:Choice>
              <mc:Fallback>
                <p:oleObj name="Equation" r:id="rId3" imgW="1524000" imgH="431800" progId="Equation.3">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7719" y="4969947"/>
                        <a:ext cx="2781977" cy="788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6" name="组合 15"/>
          <p:cNvGrpSpPr/>
          <p:nvPr/>
        </p:nvGrpSpPr>
        <p:grpSpPr>
          <a:xfrm>
            <a:off x="398767" y="1259748"/>
            <a:ext cx="3782309" cy="2091104"/>
            <a:chOff x="5203429" y="1478573"/>
            <a:chExt cx="3782309" cy="2091104"/>
          </a:xfrm>
        </p:grpSpPr>
        <p:pic>
          <p:nvPicPr>
            <p:cNvPr id="17"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03429" y="1478573"/>
              <a:ext cx="3050955" cy="2091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TextBox 17"/>
            <p:cNvSpPr txBox="1"/>
            <p:nvPr/>
          </p:nvSpPr>
          <p:spPr>
            <a:xfrm>
              <a:off x="6400800" y="1696916"/>
              <a:ext cx="2584938" cy="338554"/>
            </a:xfrm>
            <a:prstGeom prst="rect">
              <a:avLst/>
            </a:prstGeom>
            <a:noFill/>
          </p:spPr>
          <p:txBody>
            <a:bodyPr wrap="square" rtlCol="0">
              <a:spAutoFit/>
            </a:bodyPr>
            <a:lstStyle/>
            <a:p>
              <a:r>
                <a:rPr lang="en-US" altLang="zh-CN" sz="1600" dirty="0"/>
                <a:t>On mole ideal gas.</a:t>
              </a:r>
              <a:endParaRPr lang="zh-CN" altLang="en-US" sz="1600" dirty="0"/>
            </a:p>
          </p:txBody>
        </p:sp>
      </p:grpSp>
      <p:sp>
        <p:nvSpPr>
          <p:cNvPr id="2" name="矩形 1"/>
          <p:cNvSpPr/>
          <p:nvPr/>
        </p:nvSpPr>
        <p:spPr>
          <a:xfrm>
            <a:off x="410964" y="3369980"/>
            <a:ext cx="2574744" cy="369332"/>
          </a:xfrm>
          <a:prstGeom prst="rect">
            <a:avLst/>
          </a:prstGeom>
        </p:spPr>
        <p:txBody>
          <a:bodyPr wrap="none">
            <a:spAutoFit/>
          </a:bodyPr>
          <a:lstStyle/>
          <a:p>
            <a:r>
              <a:rPr lang="pl-PL" altLang="zh-CN" i="1" dirty="0">
                <a:solidFill>
                  <a:srgbClr val="FF0000"/>
                </a:solidFill>
              </a:rPr>
              <a:t>w </a:t>
            </a:r>
            <a:r>
              <a:rPr lang="pl-PL" altLang="zh-CN" dirty="0">
                <a:solidFill>
                  <a:srgbClr val="FF0000"/>
                </a:solidFill>
              </a:rPr>
              <a:t>= </a:t>
            </a:r>
            <a:r>
              <a:rPr lang="pl-PL" altLang="zh-CN" i="1" dirty="0">
                <a:solidFill>
                  <a:srgbClr val="FF0000"/>
                </a:solidFill>
              </a:rPr>
              <a:t>w </a:t>
            </a:r>
            <a:r>
              <a:rPr lang="pl-PL" altLang="zh-CN" dirty="0">
                <a:solidFill>
                  <a:srgbClr val="FF0000"/>
                </a:solidFill>
              </a:rPr>
              <a:t>1 + </a:t>
            </a:r>
            <a:r>
              <a:rPr lang="pl-PL" altLang="zh-CN" i="1" dirty="0">
                <a:solidFill>
                  <a:srgbClr val="FF0000"/>
                </a:solidFill>
              </a:rPr>
              <a:t>w </a:t>
            </a:r>
            <a:r>
              <a:rPr lang="pl-PL" altLang="zh-CN" dirty="0">
                <a:solidFill>
                  <a:srgbClr val="FF0000"/>
                </a:solidFill>
              </a:rPr>
              <a:t>2 </a:t>
            </a:r>
            <a:r>
              <a:rPr lang="en-US" altLang="zh-CN" dirty="0">
                <a:solidFill>
                  <a:srgbClr val="FF0000"/>
                </a:solidFill>
              </a:rPr>
              <a:t>+</a:t>
            </a:r>
            <a:r>
              <a:rPr lang="pl-PL" altLang="zh-CN" dirty="0">
                <a:solidFill>
                  <a:srgbClr val="FF0000"/>
                </a:solidFill>
              </a:rPr>
              <a:t> </a:t>
            </a:r>
            <a:r>
              <a:rPr lang="pl-PL" altLang="zh-CN" i="1" dirty="0">
                <a:solidFill>
                  <a:srgbClr val="FF0000"/>
                </a:solidFill>
              </a:rPr>
              <a:t>w </a:t>
            </a:r>
            <a:r>
              <a:rPr lang="pl-PL" altLang="zh-CN" dirty="0">
                <a:solidFill>
                  <a:srgbClr val="FF0000"/>
                </a:solidFill>
              </a:rPr>
              <a:t>3 </a:t>
            </a:r>
            <a:r>
              <a:rPr lang="en-US" altLang="zh-CN" dirty="0">
                <a:solidFill>
                  <a:srgbClr val="FF0000"/>
                </a:solidFill>
              </a:rPr>
              <a:t>+</a:t>
            </a:r>
            <a:r>
              <a:rPr lang="pl-PL" altLang="zh-CN" dirty="0">
                <a:solidFill>
                  <a:srgbClr val="FF0000"/>
                </a:solidFill>
              </a:rPr>
              <a:t> </a:t>
            </a:r>
            <a:r>
              <a:rPr lang="pl-PL" altLang="zh-CN" i="1" dirty="0">
                <a:solidFill>
                  <a:srgbClr val="FF0000"/>
                </a:solidFill>
              </a:rPr>
              <a:t>w </a:t>
            </a:r>
            <a:r>
              <a:rPr lang="pl-PL" altLang="zh-CN" dirty="0">
                <a:solidFill>
                  <a:srgbClr val="FF0000"/>
                </a:solidFill>
              </a:rPr>
              <a:t>4</a:t>
            </a:r>
            <a:endParaRPr lang="zh-CN" altLang="en-US" dirty="0">
              <a:solidFill>
                <a:srgbClr val="FF0000"/>
              </a:solidFill>
            </a:endParaRPr>
          </a:p>
        </p:txBody>
      </p:sp>
      <p:cxnSp>
        <p:nvCxnSpPr>
          <p:cNvPr id="9" name="直接箭头连接符 8"/>
          <p:cNvCxnSpPr/>
          <p:nvPr/>
        </p:nvCxnSpPr>
        <p:spPr>
          <a:xfrm>
            <a:off x="4357992" y="2558533"/>
            <a:ext cx="142271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19" name="对象 18"/>
          <p:cNvGraphicFramePr>
            <a:graphicFrameLocks noChangeAspect="1"/>
          </p:cNvGraphicFramePr>
          <p:nvPr>
            <p:extLst>
              <p:ext uri="{D42A27DB-BD31-4B8C-83A1-F6EECF244321}">
                <p14:modId xmlns:p14="http://schemas.microsoft.com/office/powerpoint/2010/main" val="243708971"/>
              </p:ext>
            </p:extLst>
          </p:nvPr>
        </p:nvGraphicFramePr>
        <p:xfrm>
          <a:off x="755270" y="3812104"/>
          <a:ext cx="2230438" cy="2011362"/>
        </p:xfrm>
        <a:graphic>
          <a:graphicData uri="http://schemas.openxmlformats.org/presentationml/2006/ole">
            <mc:AlternateContent xmlns:mc="http://schemas.openxmlformats.org/markup-compatibility/2006">
              <mc:Choice xmlns:v="urn:schemas-microsoft-com:vml" Requires="v">
                <p:oleObj name="Equation" r:id="rId6" imgW="1790640" imgH="1612800" progId="Equation.DSMT4">
                  <p:embed/>
                </p:oleObj>
              </mc:Choice>
              <mc:Fallback>
                <p:oleObj name="Equation" r:id="rId6" imgW="1790640" imgH="1612800" progId="Equation.DSMT4">
                  <p:embed/>
                  <p:pic>
                    <p:nvPicPr>
                      <p:cNvPr id="19" name="对象 18"/>
                      <p:cNvPicPr/>
                      <p:nvPr/>
                    </p:nvPicPr>
                    <p:blipFill>
                      <a:blip r:embed="rId7"/>
                      <a:stretch>
                        <a:fillRect/>
                      </a:stretch>
                    </p:blipFill>
                    <p:spPr>
                      <a:xfrm>
                        <a:off x="755270" y="3812104"/>
                        <a:ext cx="2230438" cy="2011362"/>
                      </a:xfrm>
                      <a:prstGeom prst="rect">
                        <a:avLst/>
                      </a:prstGeom>
                    </p:spPr>
                  </p:pic>
                </p:oleObj>
              </mc:Fallback>
            </mc:AlternateContent>
          </a:graphicData>
        </a:graphic>
      </p:graphicFrame>
      <p:sp>
        <p:nvSpPr>
          <p:cNvPr id="7" name="矩形 6"/>
          <p:cNvSpPr/>
          <p:nvPr/>
        </p:nvSpPr>
        <p:spPr>
          <a:xfrm>
            <a:off x="914528" y="6035040"/>
            <a:ext cx="1170513" cy="369332"/>
          </a:xfrm>
          <a:prstGeom prst="rect">
            <a:avLst/>
          </a:prstGeom>
        </p:spPr>
        <p:txBody>
          <a:bodyPr wrap="none">
            <a:spAutoFit/>
          </a:bodyPr>
          <a:lstStyle/>
          <a:p>
            <a:r>
              <a:rPr lang="pl-PL" altLang="zh-CN" i="1" dirty="0">
                <a:solidFill>
                  <a:srgbClr val="FF0000"/>
                </a:solidFill>
              </a:rPr>
              <a:t>w </a:t>
            </a:r>
            <a:r>
              <a:rPr lang="pl-PL" altLang="zh-CN" dirty="0">
                <a:solidFill>
                  <a:srgbClr val="FF0000"/>
                </a:solidFill>
              </a:rPr>
              <a:t>=</a:t>
            </a:r>
            <a:r>
              <a:rPr lang="en-US" altLang="zh-CN" dirty="0">
                <a:solidFill>
                  <a:srgbClr val="FF0000"/>
                </a:solidFill>
              </a:rPr>
              <a:t>q</a:t>
            </a:r>
            <a:r>
              <a:rPr lang="en-US" altLang="zh-CN" baseline="-25000" dirty="0">
                <a:solidFill>
                  <a:srgbClr val="FF0000"/>
                </a:solidFill>
              </a:rPr>
              <a:t>2</a:t>
            </a:r>
            <a:r>
              <a:rPr lang="en-US" altLang="zh-CN" dirty="0">
                <a:solidFill>
                  <a:srgbClr val="FF0000"/>
                </a:solidFill>
              </a:rPr>
              <a:t> –q</a:t>
            </a:r>
            <a:r>
              <a:rPr lang="en-US" altLang="zh-CN" baseline="-25000" dirty="0">
                <a:solidFill>
                  <a:srgbClr val="FF0000"/>
                </a:solidFill>
              </a:rPr>
              <a:t>1</a:t>
            </a:r>
            <a:endParaRPr lang="zh-CN" altLang="en-US" baseline="-25000" dirty="0">
              <a:solidFill>
                <a:srgbClr val="FF0000"/>
              </a:solidFill>
            </a:endParaRPr>
          </a:p>
        </p:txBody>
      </p:sp>
      <p:sp>
        <p:nvSpPr>
          <p:cNvPr id="12" name="TextBox 11"/>
          <p:cNvSpPr txBox="1"/>
          <p:nvPr/>
        </p:nvSpPr>
        <p:spPr>
          <a:xfrm>
            <a:off x="7418566" y="1874722"/>
            <a:ext cx="460382" cy="369332"/>
          </a:xfrm>
          <a:prstGeom prst="rect">
            <a:avLst/>
          </a:prstGeom>
          <a:noFill/>
        </p:spPr>
        <p:txBody>
          <a:bodyPr wrap="none" rtlCol="0">
            <a:spAutoFit/>
          </a:bodyPr>
          <a:lstStyle/>
          <a:p>
            <a:r>
              <a:rPr lang="en-US" altLang="zh-CN" dirty="0">
                <a:solidFill>
                  <a:srgbClr val="FF0000"/>
                </a:solidFill>
              </a:rPr>
              <a:t>&gt;0</a:t>
            </a:r>
            <a:endParaRPr lang="zh-CN" altLang="en-US" dirty="0">
              <a:solidFill>
                <a:srgbClr val="FF0000"/>
              </a:solidFill>
            </a:endParaRPr>
          </a:p>
        </p:txBody>
      </p:sp>
      <p:sp>
        <p:nvSpPr>
          <p:cNvPr id="20" name="TextBox 19"/>
          <p:cNvSpPr txBox="1"/>
          <p:nvPr/>
        </p:nvSpPr>
        <p:spPr>
          <a:xfrm>
            <a:off x="7418566" y="2774545"/>
            <a:ext cx="460382" cy="369332"/>
          </a:xfrm>
          <a:prstGeom prst="rect">
            <a:avLst/>
          </a:prstGeom>
          <a:noFill/>
        </p:spPr>
        <p:txBody>
          <a:bodyPr wrap="none" rtlCol="0">
            <a:spAutoFit/>
          </a:bodyPr>
          <a:lstStyle/>
          <a:p>
            <a:r>
              <a:rPr lang="en-US" altLang="zh-CN" dirty="0">
                <a:solidFill>
                  <a:srgbClr val="FF0000"/>
                </a:solidFill>
              </a:rPr>
              <a:t>&gt;0</a:t>
            </a:r>
            <a:endParaRPr lang="zh-CN" altLang="en-US" dirty="0">
              <a:solidFill>
                <a:srgbClr val="FF0000"/>
              </a:solidFill>
            </a:endParaRPr>
          </a:p>
        </p:txBody>
      </p:sp>
    </p:spTree>
    <p:extLst>
      <p:ext uri="{BB962C8B-B14F-4D97-AF65-F5344CB8AC3E}">
        <p14:creationId xmlns:p14="http://schemas.microsoft.com/office/powerpoint/2010/main" val="886458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373737"/>
              </a:solidFill>
            </a:endParaRPr>
          </a:p>
        </p:txBody>
      </p:sp>
      <p:sp>
        <p:nvSpPr>
          <p:cNvPr id="6" name="Title 1"/>
          <p:cNvSpPr txBox="1"/>
          <p:nvPr/>
        </p:nvSpPr>
        <p:spPr bwMode="auto">
          <a:xfrm>
            <a:off x="155575" y="108846"/>
            <a:ext cx="7162835" cy="568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lvl1pPr algn="l" defTabSz="457200" rtl="0" eaLnBrk="1" fontAlgn="base" hangingPunct="1">
              <a:lnSpc>
                <a:spcPct val="100000"/>
              </a:lnSpc>
              <a:spcBef>
                <a:spcPct val="0"/>
              </a:spcBef>
              <a:spcAft>
                <a:spcPct val="0"/>
              </a:spcAft>
              <a:defRPr sz="3600" kern="1200">
                <a:solidFill>
                  <a:srgbClr val="295467"/>
                </a:solidFill>
                <a:latin typeface="Arial" panose="020B0604020202020204"/>
                <a:ea typeface="Geneva" pitchFamily="-107" charset="-128"/>
                <a:cs typeface="Arial" panose="020B0604020202020204"/>
              </a:defRPr>
            </a:lvl1pPr>
            <a:lvl2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9pPr>
          </a:lstStyle>
          <a:p>
            <a:r>
              <a:rPr lang="en-US" altLang="zh-CN" dirty="0">
                <a:solidFill>
                  <a:srgbClr val="FF0000"/>
                </a:solidFill>
                <a:latin typeface="Arial" panose="020B0604020202020204" pitchFamily="34" charset="0"/>
                <a:cs typeface="Arial" panose="020B0604020202020204" pitchFamily="34" charset="0"/>
              </a:rPr>
              <a:t>Properties of Heat Engine</a:t>
            </a:r>
            <a:endParaRPr lang="en-US" altLang="zh-CN" dirty="0">
              <a:solidFill>
                <a:srgbClr val="FF0000"/>
              </a:solidFill>
            </a:endParaRPr>
          </a:p>
        </p:txBody>
      </p:sp>
      <p:graphicFrame>
        <p:nvGraphicFramePr>
          <p:cNvPr id="10" name="Object 2"/>
          <p:cNvGraphicFramePr>
            <a:graphicFrameLocks noChangeAspect="1"/>
          </p:cNvGraphicFramePr>
          <p:nvPr>
            <p:extLst>
              <p:ext uri="{D42A27DB-BD31-4B8C-83A1-F6EECF244321}">
                <p14:modId xmlns:p14="http://schemas.microsoft.com/office/powerpoint/2010/main" val="3754440961"/>
              </p:ext>
            </p:extLst>
          </p:nvPr>
        </p:nvGraphicFramePr>
        <p:xfrm>
          <a:off x="450297" y="1449238"/>
          <a:ext cx="6462875" cy="2976524"/>
        </p:xfrm>
        <a:graphic>
          <a:graphicData uri="http://schemas.openxmlformats.org/presentationml/2006/ole">
            <mc:AlternateContent xmlns:mc="http://schemas.openxmlformats.org/markup-compatibility/2006">
              <mc:Choice xmlns:v="urn:schemas-microsoft-com:vml" Requires="v">
                <p:oleObj name="公式" r:id="rId2" imgW="4000500" imgH="1841500" progId="Equation.3">
                  <p:embed/>
                </p:oleObj>
              </mc:Choice>
              <mc:Fallback>
                <p:oleObj name="公式" r:id="rId2" imgW="4000500" imgH="1841500" progId="Equation.3">
                  <p:embed/>
                  <p:pic>
                    <p:nvPicPr>
                      <p:cNvPr id="1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297" y="1449238"/>
                        <a:ext cx="6462875" cy="2976524"/>
                      </a:xfrm>
                      <a:prstGeom prst="rect">
                        <a:avLst/>
                      </a:prstGeom>
                      <a:noFill/>
                    </p:spPr>
                  </p:pic>
                </p:oleObj>
              </mc:Fallback>
            </mc:AlternateContent>
          </a:graphicData>
        </a:graphic>
      </p:graphicFrame>
      <p:graphicFrame>
        <p:nvGraphicFramePr>
          <p:cNvPr id="11" name="Object 3"/>
          <p:cNvGraphicFramePr>
            <a:graphicFrameLocks noChangeAspect="1"/>
          </p:cNvGraphicFramePr>
          <p:nvPr>
            <p:extLst>
              <p:ext uri="{D42A27DB-BD31-4B8C-83A1-F6EECF244321}">
                <p14:modId xmlns:p14="http://schemas.microsoft.com/office/powerpoint/2010/main" val="191088"/>
              </p:ext>
            </p:extLst>
          </p:nvPr>
        </p:nvGraphicFramePr>
        <p:xfrm>
          <a:off x="450297" y="4802038"/>
          <a:ext cx="6375199" cy="1066800"/>
        </p:xfrm>
        <a:graphic>
          <a:graphicData uri="http://schemas.openxmlformats.org/presentationml/2006/ole">
            <mc:AlternateContent xmlns:mc="http://schemas.openxmlformats.org/markup-compatibility/2006">
              <mc:Choice xmlns:v="urn:schemas-microsoft-com:vml" Requires="v">
                <p:oleObj name="公式" r:id="rId4" imgW="5016500" imgH="838200" progId="Equation.3">
                  <p:embed/>
                </p:oleObj>
              </mc:Choice>
              <mc:Fallback>
                <p:oleObj name="公式" r:id="rId4" imgW="5016500" imgH="838200" progId="Equation.3">
                  <p:embed/>
                  <p:pic>
                    <p:nvPicPr>
                      <p:cNvPr id="1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297" y="4802038"/>
                        <a:ext cx="6375199" cy="1066800"/>
                      </a:xfrm>
                      <a:prstGeom prst="rect">
                        <a:avLst/>
                      </a:prstGeom>
                      <a:noFill/>
                    </p:spPr>
                  </p:pic>
                </p:oleObj>
              </mc:Fallback>
            </mc:AlternateContent>
          </a:graphicData>
        </a:graphic>
      </p:graphicFrame>
      <p:graphicFrame>
        <p:nvGraphicFramePr>
          <p:cNvPr id="12" name="Object 4"/>
          <p:cNvGraphicFramePr>
            <a:graphicFrameLocks noChangeAspect="1"/>
          </p:cNvGraphicFramePr>
          <p:nvPr>
            <p:extLst>
              <p:ext uri="{D42A27DB-BD31-4B8C-83A1-F6EECF244321}">
                <p14:modId xmlns:p14="http://schemas.microsoft.com/office/powerpoint/2010/main" val="77621650"/>
              </p:ext>
            </p:extLst>
          </p:nvPr>
        </p:nvGraphicFramePr>
        <p:xfrm>
          <a:off x="3726897" y="3739962"/>
          <a:ext cx="4986460" cy="558234"/>
        </p:xfrm>
        <a:graphic>
          <a:graphicData uri="http://schemas.openxmlformats.org/presentationml/2006/ole">
            <mc:AlternateContent xmlns:mc="http://schemas.openxmlformats.org/markup-compatibility/2006">
              <mc:Choice xmlns:v="urn:schemas-microsoft-com:vml" Requires="v">
                <p:oleObj name="公式" r:id="rId6" imgW="4089400" imgH="457200" progId="Equation.3">
                  <p:embed/>
                </p:oleObj>
              </mc:Choice>
              <mc:Fallback>
                <p:oleObj name="公式" r:id="rId6" imgW="4089400" imgH="457200" progId="Equation.3">
                  <p:embed/>
                  <p:pic>
                    <p:nvPicPr>
                      <p:cNvPr id="12"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26897" y="3739962"/>
                        <a:ext cx="4986460" cy="5582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右大括号 12"/>
          <p:cNvSpPr/>
          <p:nvPr/>
        </p:nvSpPr>
        <p:spPr>
          <a:xfrm>
            <a:off x="3422097" y="3722377"/>
            <a:ext cx="193430" cy="703385"/>
          </a:xfrm>
          <a:prstGeom prst="rightBrace">
            <a:avLst/>
          </a:prstGeom>
          <a:ln w="12700">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pic>
        <p:nvPicPr>
          <p:cNvPr id="15"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913172" y="1037353"/>
            <a:ext cx="2154627" cy="1764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15"/>
          <p:cNvSpPr txBox="1"/>
          <p:nvPr/>
        </p:nvSpPr>
        <p:spPr>
          <a:xfrm>
            <a:off x="7291920" y="997130"/>
            <a:ext cx="1775880" cy="307777"/>
          </a:xfrm>
          <a:prstGeom prst="rect">
            <a:avLst/>
          </a:prstGeom>
          <a:noFill/>
        </p:spPr>
        <p:txBody>
          <a:bodyPr wrap="square" rtlCol="0">
            <a:spAutoFit/>
          </a:bodyPr>
          <a:lstStyle/>
          <a:p>
            <a:r>
              <a:rPr lang="en-US" altLang="zh-CN" sz="1400" dirty="0"/>
              <a:t>One mole ideal gas.</a:t>
            </a:r>
            <a:endParaRPr lang="zh-CN" altLang="en-US" sz="1400" dirty="0"/>
          </a:p>
        </p:txBody>
      </p:sp>
    </p:spTree>
    <p:extLst>
      <p:ext uri="{BB962C8B-B14F-4D97-AF65-F5344CB8AC3E}">
        <p14:creationId xmlns:p14="http://schemas.microsoft.com/office/powerpoint/2010/main" val="3253943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373737"/>
              </a:solidFill>
            </a:endParaRPr>
          </a:p>
        </p:txBody>
      </p:sp>
      <p:sp>
        <p:nvSpPr>
          <p:cNvPr id="6" name="Title 1"/>
          <p:cNvSpPr txBox="1"/>
          <p:nvPr/>
        </p:nvSpPr>
        <p:spPr bwMode="auto">
          <a:xfrm>
            <a:off x="155575" y="124846"/>
            <a:ext cx="7162835" cy="568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lvl1pPr algn="l" defTabSz="457200" rtl="0" eaLnBrk="1" fontAlgn="base" hangingPunct="1">
              <a:lnSpc>
                <a:spcPct val="100000"/>
              </a:lnSpc>
              <a:spcBef>
                <a:spcPct val="0"/>
              </a:spcBef>
              <a:spcAft>
                <a:spcPct val="0"/>
              </a:spcAft>
              <a:defRPr sz="3600" kern="1200">
                <a:solidFill>
                  <a:srgbClr val="295467"/>
                </a:solidFill>
                <a:latin typeface="Arial" panose="020B0604020202020204"/>
                <a:ea typeface="Geneva" pitchFamily="-107" charset="-128"/>
                <a:cs typeface="Arial" panose="020B0604020202020204"/>
              </a:defRPr>
            </a:lvl1pPr>
            <a:lvl2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9pPr>
          </a:lstStyle>
          <a:p>
            <a:r>
              <a:rPr lang="en-US" altLang="zh-CN" dirty="0">
                <a:solidFill>
                  <a:srgbClr val="FF0000"/>
                </a:solidFill>
                <a:latin typeface="Arial" panose="020B0604020202020204" pitchFamily="34" charset="0"/>
                <a:cs typeface="Arial" panose="020B0604020202020204" pitchFamily="34" charset="0"/>
              </a:rPr>
              <a:t>Properties of Heat Engine</a:t>
            </a:r>
            <a:endParaRPr lang="en-US" altLang="zh-CN" dirty="0">
              <a:solidFill>
                <a:srgbClr val="FF0000"/>
              </a:solidFill>
            </a:endParaRPr>
          </a:p>
        </p:txBody>
      </p:sp>
      <p:graphicFrame>
        <p:nvGraphicFramePr>
          <p:cNvPr id="10" name="Object 2"/>
          <p:cNvGraphicFramePr>
            <a:graphicFrameLocks noChangeAspect="1"/>
          </p:cNvGraphicFramePr>
          <p:nvPr>
            <p:extLst>
              <p:ext uri="{D42A27DB-BD31-4B8C-83A1-F6EECF244321}">
                <p14:modId xmlns:p14="http://schemas.microsoft.com/office/powerpoint/2010/main" val="1301041517"/>
              </p:ext>
            </p:extLst>
          </p:nvPr>
        </p:nvGraphicFramePr>
        <p:xfrm>
          <a:off x="450297" y="1449238"/>
          <a:ext cx="6462875" cy="2976524"/>
        </p:xfrm>
        <a:graphic>
          <a:graphicData uri="http://schemas.openxmlformats.org/presentationml/2006/ole">
            <mc:AlternateContent xmlns:mc="http://schemas.openxmlformats.org/markup-compatibility/2006">
              <mc:Choice xmlns:v="urn:schemas-microsoft-com:vml" Requires="v">
                <p:oleObj name="公式" r:id="rId2" imgW="4000500" imgH="1841500" progId="Equation.3">
                  <p:embed/>
                </p:oleObj>
              </mc:Choice>
              <mc:Fallback>
                <p:oleObj name="公式" r:id="rId2" imgW="4000500" imgH="18415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297" y="1449238"/>
                        <a:ext cx="6462875" cy="2976524"/>
                      </a:xfrm>
                      <a:prstGeom prst="rect">
                        <a:avLst/>
                      </a:prstGeom>
                      <a:noFill/>
                    </p:spPr>
                  </p:pic>
                </p:oleObj>
              </mc:Fallback>
            </mc:AlternateContent>
          </a:graphicData>
        </a:graphic>
      </p:graphicFrame>
      <p:graphicFrame>
        <p:nvGraphicFramePr>
          <p:cNvPr id="11" name="Object 3"/>
          <p:cNvGraphicFramePr>
            <a:graphicFrameLocks noChangeAspect="1"/>
          </p:cNvGraphicFramePr>
          <p:nvPr>
            <p:extLst>
              <p:ext uri="{D42A27DB-BD31-4B8C-83A1-F6EECF244321}">
                <p14:modId xmlns:p14="http://schemas.microsoft.com/office/powerpoint/2010/main" val="1890359723"/>
              </p:ext>
            </p:extLst>
          </p:nvPr>
        </p:nvGraphicFramePr>
        <p:xfrm>
          <a:off x="450297" y="4802038"/>
          <a:ext cx="6375199" cy="1066800"/>
        </p:xfrm>
        <a:graphic>
          <a:graphicData uri="http://schemas.openxmlformats.org/presentationml/2006/ole">
            <mc:AlternateContent xmlns:mc="http://schemas.openxmlformats.org/markup-compatibility/2006">
              <mc:Choice xmlns:v="urn:schemas-microsoft-com:vml" Requires="v">
                <p:oleObj name="公式" r:id="rId4" imgW="5016500" imgH="838200" progId="Equation.3">
                  <p:embed/>
                </p:oleObj>
              </mc:Choice>
              <mc:Fallback>
                <p:oleObj name="公式" r:id="rId4" imgW="5016500" imgH="838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297" y="4802038"/>
                        <a:ext cx="6375199" cy="1066800"/>
                      </a:xfrm>
                      <a:prstGeom prst="rect">
                        <a:avLst/>
                      </a:prstGeom>
                      <a:noFill/>
                    </p:spPr>
                  </p:pic>
                </p:oleObj>
              </mc:Fallback>
            </mc:AlternateContent>
          </a:graphicData>
        </a:graphic>
      </p:graphicFrame>
      <p:graphicFrame>
        <p:nvGraphicFramePr>
          <p:cNvPr id="12" name="Object 4"/>
          <p:cNvGraphicFramePr>
            <a:graphicFrameLocks noChangeAspect="1"/>
          </p:cNvGraphicFramePr>
          <p:nvPr>
            <p:extLst>
              <p:ext uri="{D42A27DB-BD31-4B8C-83A1-F6EECF244321}">
                <p14:modId xmlns:p14="http://schemas.microsoft.com/office/powerpoint/2010/main" val="3393988968"/>
              </p:ext>
            </p:extLst>
          </p:nvPr>
        </p:nvGraphicFramePr>
        <p:xfrm>
          <a:off x="3726897" y="3739962"/>
          <a:ext cx="4986460" cy="558234"/>
        </p:xfrm>
        <a:graphic>
          <a:graphicData uri="http://schemas.openxmlformats.org/presentationml/2006/ole">
            <mc:AlternateContent xmlns:mc="http://schemas.openxmlformats.org/markup-compatibility/2006">
              <mc:Choice xmlns:v="urn:schemas-microsoft-com:vml" Requires="v">
                <p:oleObj name="公式" r:id="rId6" imgW="4089400" imgH="457200" progId="Equation.3">
                  <p:embed/>
                </p:oleObj>
              </mc:Choice>
              <mc:Fallback>
                <p:oleObj name="公式" r:id="rId6" imgW="4089400" imgH="457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26897" y="3739962"/>
                        <a:ext cx="4986460" cy="5582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右大括号 12"/>
          <p:cNvSpPr/>
          <p:nvPr/>
        </p:nvSpPr>
        <p:spPr>
          <a:xfrm>
            <a:off x="3422097" y="3722377"/>
            <a:ext cx="193430" cy="703385"/>
          </a:xfrm>
          <a:prstGeom prst="rightBrace">
            <a:avLst/>
          </a:prstGeom>
          <a:ln w="12700">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a:p>
        </p:txBody>
      </p:sp>
      <p:pic>
        <p:nvPicPr>
          <p:cNvPr id="15"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913172" y="1037353"/>
            <a:ext cx="2154627" cy="1764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15"/>
          <p:cNvSpPr txBox="1"/>
          <p:nvPr/>
        </p:nvSpPr>
        <p:spPr>
          <a:xfrm>
            <a:off x="7291920" y="997130"/>
            <a:ext cx="1775880" cy="307777"/>
          </a:xfrm>
          <a:prstGeom prst="rect">
            <a:avLst/>
          </a:prstGeom>
          <a:noFill/>
        </p:spPr>
        <p:txBody>
          <a:bodyPr wrap="square" rtlCol="0">
            <a:spAutoFit/>
          </a:bodyPr>
          <a:lstStyle/>
          <a:p>
            <a:r>
              <a:rPr lang="en-US" altLang="zh-CN" sz="1400" dirty="0"/>
              <a:t>One mole ideal gas.</a:t>
            </a:r>
            <a:endParaRPr lang="zh-CN" altLang="en-US" sz="1400" dirty="0"/>
          </a:p>
        </p:txBody>
      </p:sp>
    </p:spTree>
    <p:extLst>
      <p:ext uri="{BB962C8B-B14F-4D97-AF65-F5344CB8AC3E}">
        <p14:creationId xmlns:p14="http://schemas.microsoft.com/office/powerpoint/2010/main" val="16322019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solidFill>
                <a:srgbClr val="373737"/>
              </a:solidFill>
            </a:endParaRPr>
          </a:p>
        </p:txBody>
      </p:sp>
      <p:sp>
        <p:nvSpPr>
          <p:cNvPr id="6" name="Title 1"/>
          <p:cNvSpPr txBox="1"/>
          <p:nvPr/>
        </p:nvSpPr>
        <p:spPr bwMode="auto">
          <a:xfrm>
            <a:off x="203689" y="46133"/>
            <a:ext cx="5200009" cy="453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lvl1pPr algn="l" defTabSz="457200" rtl="0" eaLnBrk="1" fontAlgn="base" hangingPunct="1">
              <a:lnSpc>
                <a:spcPct val="100000"/>
              </a:lnSpc>
              <a:spcBef>
                <a:spcPct val="0"/>
              </a:spcBef>
              <a:spcAft>
                <a:spcPct val="0"/>
              </a:spcAft>
              <a:defRPr sz="3600" kern="1200">
                <a:solidFill>
                  <a:srgbClr val="295467"/>
                </a:solidFill>
                <a:latin typeface="Arial" panose="020B0604020202020204"/>
                <a:ea typeface="Geneva" pitchFamily="-107" charset="-128"/>
                <a:cs typeface="Arial" panose="020B0604020202020204"/>
              </a:defRPr>
            </a:lvl1pPr>
            <a:lvl2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9pPr>
          </a:lstStyle>
          <a:p>
            <a:r>
              <a:rPr lang="en-US" altLang="zh-CN" sz="2800" dirty="0">
                <a:solidFill>
                  <a:srgbClr val="FF0000"/>
                </a:solidFill>
                <a:latin typeface="Arial" panose="020B0604020202020204" pitchFamily="34" charset="0"/>
                <a:cs typeface="Arial" panose="020B0604020202020204" pitchFamily="34" charset="0"/>
              </a:rPr>
              <a:t>Prove of Carnot Principle</a:t>
            </a:r>
            <a:endParaRPr lang="en-US" altLang="zh-CN" sz="2800" dirty="0">
              <a:solidFill>
                <a:srgbClr val="FF0000"/>
              </a:solidFill>
            </a:endParaRPr>
          </a:p>
        </p:txBody>
      </p:sp>
      <p:pic>
        <p:nvPicPr>
          <p:cNvPr id="60418"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593" t="30565" r="3698" b="23079"/>
          <a:stretch>
            <a:fillRect/>
          </a:stretch>
        </p:blipFill>
        <p:spPr bwMode="auto">
          <a:xfrm>
            <a:off x="463551" y="3193494"/>
            <a:ext cx="4582159" cy="202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217685" y="554197"/>
            <a:ext cx="8839200" cy="646331"/>
          </a:xfrm>
          <a:prstGeom prst="rect">
            <a:avLst/>
          </a:prstGeom>
          <a:noFill/>
        </p:spPr>
        <p:txBody>
          <a:bodyPr wrap="square" rtlCol="0">
            <a:spAutoFit/>
          </a:bodyPr>
          <a:lstStyle/>
          <a:p>
            <a:r>
              <a:rPr lang="en-US" altLang="zh-CN" dirty="0"/>
              <a:t>Consider a </a:t>
            </a:r>
            <a:r>
              <a:rPr lang="en-US" altLang="zh-CN" dirty="0">
                <a:solidFill>
                  <a:srgbClr val="FF0000"/>
                </a:solidFill>
              </a:rPr>
              <a:t>Eng1</a:t>
            </a:r>
            <a:r>
              <a:rPr lang="en-US" altLang="zh-CN" dirty="0"/>
              <a:t>, Carnot engine</a:t>
            </a:r>
          </a:p>
          <a:p>
            <a:r>
              <a:rPr lang="en-US" altLang="zh-CN" dirty="0"/>
              <a:t>And assume</a:t>
            </a:r>
            <a:r>
              <a:rPr lang="en-US" altLang="zh-CN" dirty="0">
                <a:solidFill>
                  <a:srgbClr val="FF0000"/>
                </a:solidFill>
              </a:rPr>
              <a:t> Eng2 </a:t>
            </a:r>
            <a:r>
              <a:rPr lang="en-US" altLang="zh-CN" dirty="0"/>
              <a:t>that works between t</a:t>
            </a:r>
            <a:r>
              <a:rPr lang="en-US" altLang="zh-CN" baseline="-25000" dirty="0"/>
              <a:t>2</a:t>
            </a:r>
            <a:r>
              <a:rPr lang="en-US" altLang="zh-CN" dirty="0"/>
              <a:t> and t</a:t>
            </a:r>
            <a:r>
              <a:rPr lang="en-US" altLang="zh-CN" baseline="-25000" dirty="0"/>
              <a:t>1</a:t>
            </a:r>
            <a:r>
              <a:rPr lang="en-US" altLang="zh-CN" dirty="0"/>
              <a:t> with better efficiency than </a:t>
            </a:r>
            <a:r>
              <a:rPr lang="en-US" altLang="zh-CN" dirty="0">
                <a:solidFill>
                  <a:srgbClr val="FF0000"/>
                </a:solidFill>
              </a:rPr>
              <a:t>Eng1</a:t>
            </a:r>
            <a:endParaRPr lang="en-US" altLang="zh-CN" dirty="0"/>
          </a:p>
        </p:txBody>
      </p:sp>
      <p:graphicFrame>
        <p:nvGraphicFramePr>
          <p:cNvPr id="2" name="对象 1"/>
          <p:cNvGraphicFramePr>
            <a:graphicFrameLocks noChangeAspect="1"/>
          </p:cNvGraphicFramePr>
          <p:nvPr/>
        </p:nvGraphicFramePr>
        <p:xfrm>
          <a:off x="5993719" y="3799359"/>
          <a:ext cx="1887311" cy="1447800"/>
        </p:xfrm>
        <a:graphic>
          <a:graphicData uri="http://schemas.openxmlformats.org/presentationml/2006/ole">
            <mc:AlternateContent xmlns:mc="http://schemas.openxmlformats.org/markup-compatibility/2006">
              <mc:Choice xmlns:v="urn:schemas-microsoft-com:vml" Requires="v">
                <p:oleObj name="Equation" r:id="rId3" imgW="22250400" imgH="17068800" progId="Equation.DSMT4">
                  <p:embed/>
                </p:oleObj>
              </mc:Choice>
              <mc:Fallback>
                <p:oleObj name="Equation" r:id="rId3" imgW="22250400" imgH="17068800" progId="Equation.DSMT4">
                  <p:embed/>
                  <p:pic>
                    <p:nvPicPr>
                      <p:cNvPr id="2" name="对象 1"/>
                      <p:cNvPicPr/>
                      <p:nvPr/>
                    </p:nvPicPr>
                    <p:blipFill>
                      <a:blip r:embed="rId4"/>
                      <a:stretch>
                        <a:fillRect/>
                      </a:stretch>
                    </p:blipFill>
                    <p:spPr>
                      <a:xfrm>
                        <a:off x="5993719" y="3799359"/>
                        <a:ext cx="1887311" cy="1447800"/>
                      </a:xfrm>
                      <a:prstGeom prst="rect">
                        <a:avLst/>
                      </a:prstGeom>
                    </p:spPr>
                  </p:pic>
                </p:oleObj>
              </mc:Fallback>
            </mc:AlternateContent>
          </a:graphicData>
        </a:graphic>
      </p:graphicFrame>
      <p:sp>
        <p:nvSpPr>
          <p:cNvPr id="5" name="圆角矩形 4"/>
          <p:cNvSpPr/>
          <p:nvPr/>
        </p:nvSpPr>
        <p:spPr>
          <a:xfrm>
            <a:off x="5527675" y="3675881"/>
            <a:ext cx="2819400" cy="1711323"/>
          </a:xfrm>
          <a:prstGeom prst="roundRect">
            <a:avLst>
              <a:gd name="adj" fmla="val 6850"/>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3813193" y="4679230"/>
            <a:ext cx="1232517" cy="369332"/>
          </a:xfrm>
          <a:prstGeom prst="rect">
            <a:avLst/>
          </a:prstGeom>
          <a:noFill/>
        </p:spPr>
        <p:txBody>
          <a:bodyPr wrap="none" rtlCol="0">
            <a:spAutoFit/>
          </a:bodyPr>
          <a:lstStyle/>
          <a:p>
            <a:r>
              <a:rPr lang="en-US" altLang="zh-CN" dirty="0">
                <a:solidFill>
                  <a:srgbClr val="FF0000"/>
                </a:solidFill>
              </a:rPr>
              <a:t>Heat pump</a:t>
            </a:r>
            <a:endParaRPr lang="zh-CN" altLang="en-US" dirty="0">
              <a:solidFill>
                <a:srgbClr val="FF0000"/>
              </a:solidFill>
            </a:endParaRPr>
          </a:p>
        </p:txBody>
      </p:sp>
      <p:sp>
        <p:nvSpPr>
          <p:cNvPr id="16" name="TextBox 15"/>
          <p:cNvSpPr txBox="1"/>
          <p:nvPr/>
        </p:nvSpPr>
        <p:spPr>
          <a:xfrm>
            <a:off x="155575" y="4666371"/>
            <a:ext cx="1319079" cy="369332"/>
          </a:xfrm>
          <a:prstGeom prst="rect">
            <a:avLst/>
          </a:prstGeom>
          <a:noFill/>
        </p:spPr>
        <p:txBody>
          <a:bodyPr wrap="none" rtlCol="0">
            <a:spAutoFit/>
          </a:bodyPr>
          <a:lstStyle/>
          <a:p>
            <a:r>
              <a:rPr lang="en-US" altLang="zh-CN" dirty="0">
                <a:solidFill>
                  <a:srgbClr val="FF0000"/>
                </a:solidFill>
              </a:rPr>
              <a:t>Heat engine</a:t>
            </a:r>
            <a:endParaRPr lang="zh-CN" altLang="en-US" dirty="0">
              <a:solidFill>
                <a:srgbClr val="FF0000"/>
              </a:solidFill>
            </a:endParaRPr>
          </a:p>
        </p:txBody>
      </p:sp>
      <p:sp>
        <p:nvSpPr>
          <p:cNvPr id="8" name="矩形 7"/>
          <p:cNvSpPr/>
          <p:nvPr/>
        </p:nvSpPr>
        <p:spPr>
          <a:xfrm>
            <a:off x="715266" y="5717182"/>
            <a:ext cx="7844038" cy="646331"/>
          </a:xfrm>
          <a:prstGeom prst="rect">
            <a:avLst/>
          </a:prstGeom>
        </p:spPr>
        <p:txBody>
          <a:bodyPr wrap="square">
            <a:spAutoFit/>
          </a:bodyPr>
          <a:lstStyle/>
          <a:p>
            <a:r>
              <a:rPr lang="en-US" altLang="zh-CN" b="1" dirty="0">
                <a:solidFill>
                  <a:srgbClr val="FF0000"/>
                </a:solidFill>
              </a:rPr>
              <a:t>That is, an amount of work (</a:t>
            </a:r>
            <a:r>
              <a:rPr lang="en-US" altLang="zh-CN" b="1" i="1" dirty="0">
                <a:solidFill>
                  <a:srgbClr val="FF0000"/>
                </a:solidFill>
              </a:rPr>
              <a:t>w' </a:t>
            </a:r>
            <a:r>
              <a:rPr lang="en-US" altLang="zh-CN" b="1" dirty="0">
                <a:solidFill>
                  <a:srgbClr val="FF0000"/>
                </a:solidFill>
              </a:rPr>
              <a:t>– </a:t>
            </a:r>
            <a:r>
              <a:rPr lang="en-US" altLang="zh-CN" b="1" i="1" dirty="0">
                <a:solidFill>
                  <a:srgbClr val="FF0000"/>
                </a:solidFill>
              </a:rPr>
              <a:t>w </a:t>
            </a:r>
            <a:r>
              <a:rPr lang="en-US" altLang="zh-CN" b="1" dirty="0">
                <a:solidFill>
                  <a:srgbClr val="FF0000"/>
                </a:solidFill>
              </a:rPr>
              <a:t>) has been obtained from a quantity of thermal energy (</a:t>
            </a:r>
            <a:r>
              <a:rPr lang="en-US" altLang="zh-CN" b="1" i="1" dirty="0">
                <a:solidFill>
                  <a:srgbClr val="FF0000"/>
                </a:solidFill>
              </a:rPr>
              <a:t>q</a:t>
            </a:r>
            <a:r>
              <a:rPr lang="en-US" altLang="zh-CN" b="1" dirty="0">
                <a:solidFill>
                  <a:srgbClr val="FF0000"/>
                </a:solidFill>
              </a:rPr>
              <a:t>1 − </a:t>
            </a:r>
            <a:r>
              <a:rPr lang="en-US" altLang="zh-CN" b="1" i="1" dirty="0">
                <a:solidFill>
                  <a:srgbClr val="FF0000"/>
                </a:solidFill>
              </a:rPr>
              <a:t>q</a:t>
            </a:r>
            <a:r>
              <a:rPr lang="en-US" altLang="zh-CN" b="1" dirty="0">
                <a:solidFill>
                  <a:srgbClr val="FF0000"/>
                </a:solidFill>
              </a:rPr>
              <a:t>1) without any other change occurring</a:t>
            </a:r>
            <a:endParaRPr lang="zh-CN" altLang="en-US" b="1" dirty="0">
              <a:solidFill>
                <a:srgbClr val="FF0000"/>
              </a:solidFill>
            </a:endParaRPr>
          </a:p>
        </p:txBody>
      </p:sp>
      <p:sp>
        <p:nvSpPr>
          <p:cNvPr id="9" name="矩形 8"/>
          <p:cNvSpPr/>
          <p:nvPr/>
        </p:nvSpPr>
        <p:spPr>
          <a:xfrm>
            <a:off x="155575" y="1278492"/>
            <a:ext cx="5590448" cy="400110"/>
          </a:xfrm>
          <a:prstGeom prst="rect">
            <a:avLst/>
          </a:prstGeom>
        </p:spPr>
        <p:txBody>
          <a:bodyPr wrap="square">
            <a:spAutoFit/>
          </a:bodyPr>
          <a:lstStyle/>
          <a:p>
            <a:pPr marL="342900" indent="-342900"/>
            <a:r>
              <a:rPr lang="en-US" altLang="zh-CN" sz="2000" b="1" dirty="0">
                <a:solidFill>
                  <a:srgbClr val="0000FF"/>
                </a:solidFill>
              </a:rPr>
              <a:t>Situation 1</a:t>
            </a:r>
            <a:r>
              <a:rPr lang="en-US" altLang="zh-CN" sz="2000" dirty="0"/>
              <a:t> </a:t>
            </a:r>
            <a:r>
              <a:rPr lang="en-US" altLang="zh-CN" sz="2000" dirty="0">
                <a:solidFill>
                  <a:srgbClr val="0000FF"/>
                </a:solidFill>
              </a:rPr>
              <a:t>(</a:t>
            </a:r>
            <a:r>
              <a:rPr lang="en-US" altLang="zh-CN" sz="2000" b="1" dirty="0">
                <a:solidFill>
                  <a:srgbClr val="0000FF"/>
                </a:solidFill>
              </a:rPr>
              <a:t>q</a:t>
            </a:r>
            <a:r>
              <a:rPr lang="en-US" altLang="zh-CN" sz="2000" b="1" baseline="-25000" dirty="0">
                <a:solidFill>
                  <a:srgbClr val="0000FF"/>
                </a:solidFill>
              </a:rPr>
              <a:t>2</a:t>
            </a:r>
            <a:r>
              <a:rPr lang="en-US" altLang="zh-CN" sz="2000" b="1" dirty="0">
                <a:solidFill>
                  <a:srgbClr val="0000FF"/>
                </a:solidFill>
              </a:rPr>
              <a:t> is the same for both engine </a:t>
            </a:r>
            <a:r>
              <a:rPr lang="en-US" altLang="zh-CN" sz="2000" dirty="0">
                <a:solidFill>
                  <a:srgbClr val="0000FF"/>
                </a:solidFill>
              </a:rPr>
              <a:t>)</a:t>
            </a:r>
          </a:p>
        </p:txBody>
      </p:sp>
      <p:sp>
        <p:nvSpPr>
          <p:cNvPr id="10" name="矩形 9"/>
          <p:cNvSpPr/>
          <p:nvPr/>
        </p:nvSpPr>
        <p:spPr>
          <a:xfrm>
            <a:off x="203689" y="1756566"/>
            <a:ext cx="8251826" cy="1200329"/>
          </a:xfrm>
          <a:prstGeom prst="rect">
            <a:avLst/>
          </a:prstGeom>
        </p:spPr>
        <p:txBody>
          <a:bodyPr wrap="square">
            <a:spAutoFit/>
          </a:bodyPr>
          <a:lstStyle/>
          <a:p>
            <a:pPr marL="285750" indent="-285750">
              <a:buFont typeface="Arial" panose="020B0604020202020204" pitchFamily="34" charset="0"/>
              <a:buChar char="•"/>
            </a:pPr>
            <a:r>
              <a:rPr lang="en-US" altLang="zh-CN" dirty="0">
                <a:solidFill>
                  <a:srgbClr val="FF0000"/>
                </a:solidFill>
              </a:rPr>
              <a:t>For Eng2</a:t>
            </a:r>
            <a:r>
              <a:rPr lang="en-US" altLang="zh-CN" dirty="0"/>
              <a:t>, q</a:t>
            </a:r>
            <a:r>
              <a:rPr lang="en-US" altLang="zh-CN" baseline="-25000" dirty="0"/>
              <a:t>2</a:t>
            </a:r>
            <a:r>
              <a:rPr lang="en-US" altLang="zh-CN" dirty="0"/>
              <a:t> is withdrawn from t</a:t>
            </a:r>
            <a:r>
              <a:rPr lang="en-US" altLang="zh-CN" baseline="-25000" dirty="0"/>
              <a:t>2</a:t>
            </a:r>
            <a:r>
              <a:rPr lang="en-US" altLang="zh-CN" dirty="0"/>
              <a:t>, and more work, w’ is obtained, so less heat, q1’ is rejected to t</a:t>
            </a:r>
            <a:r>
              <a:rPr lang="en-US" altLang="zh-CN" baseline="-25000" dirty="0"/>
              <a:t>1</a:t>
            </a:r>
          </a:p>
          <a:p>
            <a:pPr marL="342900" indent="-342900">
              <a:buFont typeface="Arial" panose="020B0604020202020204" pitchFamily="34" charset="0"/>
              <a:buChar char="•"/>
            </a:pPr>
            <a:r>
              <a:rPr lang="en-US" altLang="zh-CN" dirty="0"/>
              <a:t>Let’s run the </a:t>
            </a:r>
            <a:r>
              <a:rPr lang="en-US" altLang="zh-CN" dirty="0" err="1">
                <a:solidFill>
                  <a:srgbClr val="FF0000"/>
                </a:solidFill>
              </a:rPr>
              <a:t>Eng</a:t>
            </a:r>
            <a:r>
              <a:rPr lang="en-US" altLang="zh-CN" dirty="0">
                <a:solidFill>
                  <a:srgbClr val="FF0000"/>
                </a:solidFill>
              </a:rPr>
              <a:t> 2 </a:t>
            </a:r>
            <a:r>
              <a:rPr lang="en-US" altLang="zh-CN" dirty="0"/>
              <a:t>in the forward direction and the Eng.1 in the reverse direction</a:t>
            </a:r>
            <a:endParaRPr lang="zh-CN" altLang="en-US" dirty="0"/>
          </a:p>
        </p:txBody>
      </p:sp>
    </p:spTree>
    <p:extLst>
      <p:ext uri="{BB962C8B-B14F-4D97-AF65-F5344CB8AC3E}">
        <p14:creationId xmlns:p14="http://schemas.microsoft.com/office/powerpoint/2010/main" val="975205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186982" y="1048499"/>
            <a:ext cx="4572000" cy="2308324"/>
          </a:xfrm>
          <a:prstGeom prst="rect">
            <a:avLst/>
          </a:prstGeom>
        </p:spPr>
        <p:txBody>
          <a:bodyPr>
            <a:spAutoFit/>
          </a:bodyPr>
          <a:lstStyle/>
          <a:p>
            <a:pPr marL="285750" indent="-285750">
              <a:buFont typeface="Wingdings" panose="05000000000000000000" pitchFamily="2" charset="2"/>
              <a:buChar char="ü"/>
            </a:pPr>
            <a:r>
              <a:rPr lang="en-US" altLang="zh-CN" dirty="0"/>
              <a:t>Although this conclusion doesn’t contravene the First Law of Thermodynamics, </a:t>
            </a:r>
            <a:r>
              <a:rPr lang="en-US" altLang="zh-CN" b="1" dirty="0"/>
              <a:t>it is contrary to human experience</a:t>
            </a:r>
            <a:r>
              <a:rPr lang="en-US" altLang="zh-CN" dirty="0"/>
              <a:t>.</a:t>
            </a:r>
          </a:p>
          <a:p>
            <a:pPr marL="285750" indent="-285750">
              <a:buFont typeface="Wingdings" panose="05000000000000000000" pitchFamily="2" charset="2"/>
              <a:buChar char="ü"/>
            </a:pPr>
            <a:r>
              <a:rPr lang="en-US" altLang="zh-CN" dirty="0"/>
              <a:t>Such a process corresponds to </a:t>
            </a:r>
            <a:r>
              <a:rPr lang="en-US" altLang="zh-CN" i="1" dirty="0">
                <a:solidFill>
                  <a:srgbClr val="FF0000"/>
                </a:solidFill>
              </a:rPr>
              <a:t>perpetual motion of the second kind</a:t>
            </a:r>
            <a:r>
              <a:rPr lang="en-US" altLang="zh-CN" i="1" dirty="0"/>
              <a:t> </a:t>
            </a:r>
            <a:r>
              <a:rPr lang="en-US" altLang="zh-CN" dirty="0"/>
              <a:t>; that is, heat is converted to work without leaving a change in any other body. </a:t>
            </a:r>
          </a:p>
        </p:txBody>
      </p:sp>
      <p:pic>
        <p:nvPicPr>
          <p:cNvPr id="5"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593" t="30565" r="3698" b="23079"/>
          <a:stretch>
            <a:fillRect/>
          </a:stretch>
        </p:blipFill>
        <p:spPr bwMode="auto">
          <a:xfrm>
            <a:off x="581934" y="1191861"/>
            <a:ext cx="3605048" cy="202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3217290" y="2484522"/>
            <a:ext cx="969692" cy="646331"/>
          </a:xfrm>
          <a:prstGeom prst="rect">
            <a:avLst/>
          </a:prstGeom>
          <a:noFill/>
        </p:spPr>
        <p:txBody>
          <a:bodyPr wrap="square" rtlCol="0">
            <a:spAutoFit/>
          </a:bodyPr>
          <a:lstStyle/>
          <a:p>
            <a:r>
              <a:rPr lang="en-US" altLang="zh-CN" dirty="0">
                <a:solidFill>
                  <a:srgbClr val="FF0000"/>
                </a:solidFill>
              </a:rPr>
              <a:t>Heat pump</a:t>
            </a:r>
            <a:endParaRPr lang="zh-CN" altLang="en-US" dirty="0">
              <a:solidFill>
                <a:srgbClr val="FF0000"/>
              </a:solidFill>
            </a:endParaRPr>
          </a:p>
        </p:txBody>
      </p:sp>
      <p:sp>
        <p:nvSpPr>
          <p:cNvPr id="7" name="TextBox 6"/>
          <p:cNvSpPr txBox="1"/>
          <p:nvPr/>
        </p:nvSpPr>
        <p:spPr>
          <a:xfrm>
            <a:off x="250858" y="2484523"/>
            <a:ext cx="1037795" cy="646331"/>
          </a:xfrm>
          <a:prstGeom prst="rect">
            <a:avLst/>
          </a:prstGeom>
          <a:noFill/>
        </p:spPr>
        <p:txBody>
          <a:bodyPr wrap="square" rtlCol="0">
            <a:spAutoFit/>
          </a:bodyPr>
          <a:lstStyle/>
          <a:p>
            <a:r>
              <a:rPr lang="en-US" altLang="zh-CN" dirty="0">
                <a:solidFill>
                  <a:srgbClr val="FF0000"/>
                </a:solidFill>
              </a:rPr>
              <a:t>Heat engine</a:t>
            </a:r>
            <a:endParaRPr lang="zh-CN" altLang="en-US" dirty="0">
              <a:solidFill>
                <a:srgbClr val="FF0000"/>
              </a:solidFill>
            </a:endParaRPr>
          </a:p>
        </p:txBody>
      </p:sp>
      <p:sp>
        <p:nvSpPr>
          <p:cNvPr id="13" name="矩形 12"/>
          <p:cNvSpPr/>
          <p:nvPr/>
        </p:nvSpPr>
        <p:spPr>
          <a:xfrm>
            <a:off x="515008" y="4343273"/>
            <a:ext cx="5254623" cy="1538883"/>
          </a:xfrm>
          <a:prstGeom prst="rect">
            <a:avLst/>
          </a:prstGeom>
        </p:spPr>
        <p:txBody>
          <a:bodyPr wrap="square">
            <a:spAutoFit/>
          </a:bodyPr>
          <a:lstStyle/>
          <a:p>
            <a:r>
              <a:rPr lang="en-US" altLang="zh-CN" sz="2000" b="1" i="1" dirty="0"/>
              <a:t>Perpetual motion of the 1</a:t>
            </a:r>
            <a:r>
              <a:rPr lang="en-US" altLang="zh-CN" sz="2000" b="1" i="1" baseline="30000" dirty="0"/>
              <a:t>nd</a:t>
            </a:r>
            <a:r>
              <a:rPr lang="en-US" altLang="zh-CN" sz="2000" b="1" i="1" dirty="0"/>
              <a:t> kind :</a:t>
            </a:r>
          </a:p>
          <a:p>
            <a:r>
              <a:rPr lang="en-US" altLang="zh-CN" dirty="0"/>
              <a:t>the creation of energy from nothing</a:t>
            </a:r>
            <a:endParaRPr lang="en-US" altLang="zh-CN" i="1" dirty="0"/>
          </a:p>
          <a:p>
            <a:r>
              <a:rPr lang="en-US" altLang="zh-CN" sz="2000" b="1" i="1" dirty="0"/>
              <a:t>Perpetual motion of the 2</a:t>
            </a:r>
            <a:r>
              <a:rPr lang="en-US" altLang="zh-CN" sz="2000" b="1" i="1" baseline="30000" dirty="0"/>
              <a:t>nd</a:t>
            </a:r>
            <a:r>
              <a:rPr lang="en-US" altLang="zh-CN" sz="2000" b="1" i="1" dirty="0"/>
              <a:t> kind : </a:t>
            </a:r>
          </a:p>
          <a:p>
            <a:r>
              <a:rPr lang="en-US" altLang="zh-CN" dirty="0"/>
              <a:t>heat is converted to work without leaving a change in any other body</a:t>
            </a:r>
            <a:r>
              <a:rPr lang="en-US" altLang="zh-CN" i="1" dirty="0"/>
              <a:t> </a:t>
            </a:r>
            <a:endParaRPr lang="zh-CN" altLang="en-US" dirty="0"/>
          </a:p>
        </p:txBody>
      </p:sp>
      <p:sp>
        <p:nvSpPr>
          <p:cNvPr id="14" name="矩形 13"/>
          <p:cNvSpPr/>
          <p:nvPr/>
        </p:nvSpPr>
        <p:spPr>
          <a:xfrm>
            <a:off x="89703" y="103735"/>
            <a:ext cx="3127587" cy="523220"/>
          </a:xfrm>
          <a:prstGeom prst="rect">
            <a:avLst/>
          </a:prstGeom>
        </p:spPr>
        <p:txBody>
          <a:bodyPr wrap="none">
            <a:spAutoFit/>
          </a:bodyPr>
          <a:lstStyle/>
          <a:p>
            <a:r>
              <a:rPr lang="en-US" altLang="zh-CN" sz="2800" b="1" dirty="0">
                <a:solidFill>
                  <a:srgbClr val="FF0000"/>
                </a:solidFill>
              </a:rPr>
              <a:t>Perpetual motion ? </a:t>
            </a:r>
            <a:endParaRPr lang="zh-CN" altLang="en-US" sz="2800" dirty="0">
              <a:solidFill>
                <a:srgbClr val="FF0000"/>
              </a:solidFill>
            </a:endParaRPr>
          </a:p>
        </p:txBody>
      </p:sp>
      <p:pic>
        <p:nvPicPr>
          <p:cNvPr id="4710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18385" y="3778082"/>
            <a:ext cx="1840597" cy="2496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99415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568155" y="949861"/>
            <a:ext cx="3344821" cy="1806486"/>
          </a:xfrm>
          <a:prstGeom prst="rect">
            <a:avLst/>
          </a:prstGeom>
        </p:spPr>
      </p:pic>
      <p:pic>
        <p:nvPicPr>
          <p:cNvPr id="3" name="图片 2"/>
          <p:cNvPicPr>
            <a:picLocks noChangeAspect="1"/>
          </p:cNvPicPr>
          <p:nvPr/>
        </p:nvPicPr>
        <p:blipFill>
          <a:blip r:embed="rId3"/>
          <a:stretch>
            <a:fillRect/>
          </a:stretch>
        </p:blipFill>
        <p:spPr>
          <a:xfrm>
            <a:off x="336805" y="2972659"/>
            <a:ext cx="2142096" cy="1812195"/>
          </a:xfrm>
          <a:prstGeom prst="rect">
            <a:avLst/>
          </a:prstGeom>
        </p:spPr>
      </p:pic>
      <p:sp>
        <p:nvSpPr>
          <p:cNvPr id="4" name="矩形 3"/>
          <p:cNvSpPr/>
          <p:nvPr/>
        </p:nvSpPr>
        <p:spPr>
          <a:xfrm>
            <a:off x="1182128" y="5353805"/>
            <a:ext cx="6198973" cy="369332"/>
          </a:xfrm>
          <a:prstGeom prst="rect">
            <a:avLst/>
          </a:prstGeom>
        </p:spPr>
        <p:txBody>
          <a:bodyPr wrap="square">
            <a:spAutoFit/>
          </a:bodyPr>
          <a:lstStyle/>
          <a:p>
            <a:r>
              <a:rPr lang="en-US" altLang="zh-CN" dirty="0">
                <a:hlinkClick r:id="rId4"/>
              </a:rPr>
              <a:t>https://v.youku.com/v_show/id_XNDQ3MzEwMzA4.html</a:t>
            </a:r>
            <a:endParaRPr lang="zh-CN" altLang="en-US" dirty="0"/>
          </a:p>
        </p:txBody>
      </p:sp>
      <p:sp>
        <p:nvSpPr>
          <p:cNvPr id="5" name="文本框 4"/>
          <p:cNvSpPr txBox="1"/>
          <p:nvPr/>
        </p:nvSpPr>
        <p:spPr>
          <a:xfrm>
            <a:off x="147983" y="48242"/>
            <a:ext cx="3432350" cy="584775"/>
          </a:xfrm>
          <a:prstGeom prst="rect">
            <a:avLst/>
          </a:prstGeom>
          <a:noFill/>
        </p:spPr>
        <p:txBody>
          <a:bodyPr wrap="none" rtlCol="0">
            <a:spAutoFit/>
          </a:bodyPr>
          <a:lstStyle/>
          <a:p>
            <a:r>
              <a:rPr lang="en-US" altLang="zh-CN" sz="3200" b="1" dirty="0">
                <a:solidFill>
                  <a:srgbClr val="FF0000"/>
                </a:solidFill>
              </a:rPr>
              <a:t>Perpetual motion</a:t>
            </a:r>
            <a:endParaRPr lang="zh-CN" altLang="en-US" sz="3200" dirty="0">
              <a:solidFill>
                <a:srgbClr val="FF0000"/>
              </a:solidFill>
            </a:endParaRPr>
          </a:p>
        </p:txBody>
      </p:sp>
      <p:pic>
        <p:nvPicPr>
          <p:cNvPr id="6" name="图片 5"/>
          <p:cNvPicPr>
            <a:picLocks noChangeAspect="1"/>
          </p:cNvPicPr>
          <p:nvPr/>
        </p:nvPicPr>
        <p:blipFill>
          <a:blip r:embed="rId5"/>
          <a:stretch>
            <a:fillRect/>
          </a:stretch>
        </p:blipFill>
        <p:spPr>
          <a:xfrm>
            <a:off x="6257180" y="0"/>
            <a:ext cx="2886820" cy="2976632"/>
          </a:xfrm>
          <a:prstGeom prst="rect">
            <a:avLst/>
          </a:prstGeom>
        </p:spPr>
      </p:pic>
      <p:sp>
        <p:nvSpPr>
          <p:cNvPr id="8" name="矩形 7"/>
          <p:cNvSpPr/>
          <p:nvPr/>
        </p:nvSpPr>
        <p:spPr>
          <a:xfrm>
            <a:off x="1305694" y="5939449"/>
            <a:ext cx="5951840" cy="369332"/>
          </a:xfrm>
          <a:prstGeom prst="rect">
            <a:avLst/>
          </a:prstGeom>
        </p:spPr>
        <p:txBody>
          <a:bodyPr wrap="square">
            <a:spAutoFit/>
          </a:bodyPr>
          <a:lstStyle/>
          <a:p>
            <a:r>
              <a:rPr lang="en-US" altLang="zh-CN" dirty="0">
                <a:hlinkClick r:id="rId6"/>
              </a:rPr>
              <a:t>https://v.youku.com/v_show/id_XMjI1ODA3ODIw.html</a:t>
            </a:r>
            <a:endParaRPr lang="zh-CN" altLang="en-US" dirty="0"/>
          </a:p>
        </p:txBody>
      </p:sp>
      <p:sp>
        <p:nvSpPr>
          <p:cNvPr id="7" name="文本框 6"/>
          <p:cNvSpPr txBox="1"/>
          <p:nvPr/>
        </p:nvSpPr>
        <p:spPr>
          <a:xfrm>
            <a:off x="3124199" y="3491323"/>
            <a:ext cx="5706533" cy="1754326"/>
          </a:xfrm>
          <a:prstGeom prst="rect">
            <a:avLst/>
          </a:prstGeom>
          <a:noFill/>
        </p:spPr>
        <p:txBody>
          <a:bodyPr wrap="square" rtlCol="0">
            <a:spAutoFit/>
          </a:bodyPr>
          <a:lstStyle/>
          <a:p>
            <a:r>
              <a:rPr lang="en-US" altLang="zh-CN" dirty="0"/>
              <a:t>Open Question: </a:t>
            </a:r>
          </a:p>
          <a:p>
            <a:pPr marL="342900" indent="-342900">
              <a:buAutoNum type="arabicPeriod"/>
            </a:pPr>
            <a:r>
              <a:rPr lang="en-US" altLang="zh-CN" dirty="0"/>
              <a:t>Find two different “</a:t>
            </a:r>
            <a:r>
              <a:rPr lang="en-US" altLang="zh-CN" b="1" dirty="0">
                <a:solidFill>
                  <a:srgbClr val="FF0000"/>
                </a:solidFill>
              </a:rPr>
              <a:t>Perpetual motion machines</a:t>
            </a:r>
            <a:r>
              <a:rPr lang="en-US" altLang="zh-CN" dirty="0"/>
              <a:t>” from the video, and explain why it is not a real </a:t>
            </a:r>
            <a:r>
              <a:rPr lang="en-US" altLang="zh-CN" b="1" dirty="0">
                <a:solidFill>
                  <a:srgbClr val="FF0000"/>
                </a:solidFill>
              </a:rPr>
              <a:t>Perpetual motion.</a:t>
            </a:r>
          </a:p>
          <a:p>
            <a:pPr marL="342900" indent="-342900">
              <a:buAutoNum type="arabicPeriod"/>
            </a:pPr>
            <a:r>
              <a:rPr lang="en-US" altLang="zh-CN" b="1" dirty="0">
                <a:solidFill>
                  <a:srgbClr val="FF0000"/>
                </a:solidFill>
              </a:rPr>
              <a:t>How to make the drink bird to generate electric power</a:t>
            </a:r>
            <a:endParaRPr lang="zh-CN" altLang="en-US" dirty="0"/>
          </a:p>
        </p:txBody>
      </p:sp>
    </p:spTree>
    <p:extLst>
      <p:ext uri="{BB962C8B-B14F-4D97-AF65-F5344CB8AC3E}">
        <p14:creationId xmlns:p14="http://schemas.microsoft.com/office/powerpoint/2010/main" val="3904736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4AFAC86-24CB-4BEC-9930-A2AC1A2A08E3}"/>
              </a:ext>
            </a:extLst>
          </p:cNvPr>
          <p:cNvSpPr txBox="1"/>
          <p:nvPr/>
        </p:nvSpPr>
        <p:spPr>
          <a:xfrm>
            <a:off x="257895" y="90453"/>
            <a:ext cx="6005170" cy="461665"/>
          </a:xfrm>
          <a:prstGeom prst="rect">
            <a:avLst/>
          </a:prstGeom>
          <a:noFill/>
        </p:spPr>
        <p:txBody>
          <a:bodyPr wrap="none" rtlCol="0">
            <a:spAutoFit/>
          </a:bodyPr>
          <a:lstStyle/>
          <a:p>
            <a:r>
              <a:rPr lang="en-US" altLang="zh-CN" sz="2400" dirty="0">
                <a:solidFill>
                  <a:srgbClr val="FF0000"/>
                </a:solidFill>
              </a:rPr>
              <a:t>Generally regular of the irreversible process </a:t>
            </a:r>
            <a:endParaRPr lang="zh-CN" altLang="en-US" sz="2400" dirty="0">
              <a:solidFill>
                <a:srgbClr val="FF0000"/>
              </a:solidFill>
            </a:endParaRPr>
          </a:p>
        </p:txBody>
      </p:sp>
      <p:sp>
        <p:nvSpPr>
          <p:cNvPr id="4" name="文本框 3">
            <a:extLst>
              <a:ext uri="{FF2B5EF4-FFF2-40B4-BE49-F238E27FC236}">
                <a16:creationId xmlns:a16="http://schemas.microsoft.com/office/drawing/2014/main" id="{C319E3D2-39C8-4016-AD45-448869DFE9B3}"/>
              </a:ext>
            </a:extLst>
          </p:cNvPr>
          <p:cNvSpPr txBox="1"/>
          <p:nvPr/>
        </p:nvSpPr>
        <p:spPr>
          <a:xfrm>
            <a:off x="428153" y="1677828"/>
            <a:ext cx="6151525" cy="1200329"/>
          </a:xfrm>
          <a:prstGeom prst="rect">
            <a:avLst/>
          </a:prstGeom>
          <a:noFill/>
        </p:spPr>
        <p:txBody>
          <a:bodyPr wrap="square" rtlCol="0">
            <a:spAutoFit/>
          </a:bodyPr>
          <a:lstStyle/>
          <a:p>
            <a:r>
              <a:rPr lang="en-US" altLang="zh-CN" dirty="0"/>
              <a:t>1850, It is impossible to transfer thermal energy from a cold to a hot reservoir without, in the same process, converting a certain amount of work to thermal energy. </a:t>
            </a:r>
          </a:p>
          <a:p>
            <a:r>
              <a:rPr lang="en-US" altLang="zh-CN" dirty="0"/>
              <a:t> </a:t>
            </a:r>
            <a:endParaRPr lang="zh-CN" altLang="en-US" dirty="0"/>
          </a:p>
        </p:txBody>
      </p:sp>
      <p:sp>
        <p:nvSpPr>
          <p:cNvPr id="5" name="文本框 4">
            <a:extLst>
              <a:ext uri="{FF2B5EF4-FFF2-40B4-BE49-F238E27FC236}">
                <a16:creationId xmlns:a16="http://schemas.microsoft.com/office/drawing/2014/main" id="{6BB0EBD0-5581-402D-B3E4-F75E744B9501}"/>
              </a:ext>
            </a:extLst>
          </p:cNvPr>
          <p:cNvSpPr txBox="1"/>
          <p:nvPr/>
        </p:nvSpPr>
        <p:spPr>
          <a:xfrm>
            <a:off x="1187573" y="736784"/>
            <a:ext cx="5024132" cy="461665"/>
          </a:xfrm>
          <a:prstGeom prst="rect">
            <a:avLst/>
          </a:prstGeom>
          <a:solidFill>
            <a:schemeClr val="accent2">
              <a:lumMod val="20000"/>
              <a:lumOff val="80000"/>
            </a:schemeClr>
          </a:solidFill>
        </p:spPr>
        <p:txBody>
          <a:bodyPr wrap="none" rtlCol="0">
            <a:spAutoFit/>
          </a:bodyPr>
          <a:lstStyle/>
          <a:p>
            <a:r>
              <a:rPr lang="en-US" altLang="zh-CN" sz="2400" dirty="0"/>
              <a:t>Other statement of the 2</a:t>
            </a:r>
            <a:r>
              <a:rPr lang="en-US" altLang="zh-CN" sz="2400" baseline="30000" dirty="0"/>
              <a:t>nd</a:t>
            </a:r>
            <a:r>
              <a:rPr lang="en-US" altLang="zh-CN" sz="2400" dirty="0"/>
              <a:t> law of TD</a:t>
            </a:r>
            <a:endParaRPr lang="zh-CN" altLang="en-US" sz="2400" dirty="0"/>
          </a:p>
        </p:txBody>
      </p:sp>
      <p:sp>
        <p:nvSpPr>
          <p:cNvPr id="6" name="矩形 5">
            <a:extLst>
              <a:ext uri="{FF2B5EF4-FFF2-40B4-BE49-F238E27FC236}">
                <a16:creationId xmlns:a16="http://schemas.microsoft.com/office/drawing/2014/main" id="{A9EA14E4-028F-4753-BC52-51777FAC941C}"/>
              </a:ext>
            </a:extLst>
          </p:cNvPr>
          <p:cNvSpPr/>
          <p:nvPr/>
        </p:nvSpPr>
        <p:spPr>
          <a:xfrm>
            <a:off x="2164315" y="2122069"/>
            <a:ext cx="4572000" cy="369332"/>
          </a:xfrm>
          <a:prstGeom prst="rect">
            <a:avLst/>
          </a:prstGeom>
        </p:spPr>
        <p:txBody>
          <a:bodyPr>
            <a:spAutoFit/>
          </a:bodyPr>
          <a:lstStyle/>
          <a:p>
            <a:endParaRPr lang="zh-CN" altLang="en-US" dirty="0"/>
          </a:p>
        </p:txBody>
      </p:sp>
      <p:pic>
        <p:nvPicPr>
          <p:cNvPr id="44034" name="Picture 2" descr="Clausius.jpg">
            <a:extLst>
              <a:ext uri="{FF2B5EF4-FFF2-40B4-BE49-F238E27FC236}">
                <a16:creationId xmlns:a16="http://schemas.microsoft.com/office/drawing/2014/main" id="{40EA84A3-4445-4350-B08E-818E81F819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7523" y="889980"/>
            <a:ext cx="1585152" cy="1880567"/>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a:extLst>
              <a:ext uri="{FF2B5EF4-FFF2-40B4-BE49-F238E27FC236}">
                <a16:creationId xmlns:a16="http://schemas.microsoft.com/office/drawing/2014/main" id="{3EB4E70B-6C88-4E04-8EA6-5EC40F232AA2}"/>
              </a:ext>
            </a:extLst>
          </p:cNvPr>
          <p:cNvSpPr/>
          <p:nvPr/>
        </p:nvSpPr>
        <p:spPr>
          <a:xfrm>
            <a:off x="684576" y="2737623"/>
            <a:ext cx="5518298" cy="584775"/>
          </a:xfrm>
          <a:prstGeom prst="rect">
            <a:avLst/>
          </a:prstGeom>
        </p:spPr>
        <p:txBody>
          <a:bodyPr wrap="square">
            <a:spAutoFit/>
          </a:bodyPr>
          <a:lstStyle/>
          <a:p>
            <a:r>
              <a:rPr lang="en-US" altLang="zh-CN" sz="1600" i="1" dirty="0">
                <a:solidFill>
                  <a:srgbClr val="222222"/>
                </a:solidFill>
                <a:latin typeface="Arial" panose="020B0604020202020204" pitchFamily="34" charset="0"/>
              </a:rPr>
              <a:t>In 1865, Clausius gave the first mathematical version of the concept of </a:t>
            </a:r>
            <a:r>
              <a:rPr lang="en-US" altLang="zh-CN" sz="1600" i="1" dirty="0">
                <a:solidFill>
                  <a:srgbClr val="0B0080"/>
                </a:solidFill>
                <a:latin typeface="Arial" panose="020B0604020202020204" pitchFamily="34" charset="0"/>
                <a:hlinkClick r:id="rId4" tooltip="Entropy"/>
              </a:rPr>
              <a:t>entropy</a:t>
            </a:r>
            <a:r>
              <a:rPr lang="en-US" altLang="zh-CN" sz="1600" i="1" dirty="0">
                <a:solidFill>
                  <a:srgbClr val="222222"/>
                </a:solidFill>
                <a:latin typeface="Arial" panose="020B0604020202020204" pitchFamily="34" charset="0"/>
              </a:rPr>
              <a:t>, and also gave it its name.</a:t>
            </a:r>
            <a:endParaRPr lang="zh-CN" altLang="en-US" sz="1600" i="1" dirty="0"/>
          </a:p>
        </p:txBody>
      </p:sp>
      <p:sp>
        <p:nvSpPr>
          <p:cNvPr id="8" name="矩形 7">
            <a:extLst>
              <a:ext uri="{FF2B5EF4-FFF2-40B4-BE49-F238E27FC236}">
                <a16:creationId xmlns:a16="http://schemas.microsoft.com/office/drawing/2014/main" id="{EDBCE0EA-EE04-4724-B794-FB13F6309B70}"/>
              </a:ext>
            </a:extLst>
          </p:cNvPr>
          <p:cNvSpPr/>
          <p:nvPr/>
        </p:nvSpPr>
        <p:spPr>
          <a:xfrm>
            <a:off x="6846575" y="2816601"/>
            <a:ext cx="2297425" cy="646331"/>
          </a:xfrm>
          <a:prstGeom prst="rect">
            <a:avLst/>
          </a:prstGeom>
        </p:spPr>
        <p:txBody>
          <a:bodyPr wrap="none">
            <a:spAutoFit/>
          </a:bodyPr>
          <a:lstStyle/>
          <a:p>
            <a:pPr algn="ctr"/>
            <a:r>
              <a:rPr lang="en-US" altLang="zh-CN" dirty="0"/>
              <a:t>(Rudolf J.</a:t>
            </a:r>
            <a:r>
              <a:rPr lang="zh-CN" altLang="en-US" dirty="0"/>
              <a:t> </a:t>
            </a:r>
            <a:r>
              <a:rPr lang="en-US" altLang="zh-CN" dirty="0"/>
              <a:t>E. Clausius, </a:t>
            </a:r>
          </a:p>
          <a:p>
            <a:pPr algn="ctr"/>
            <a:r>
              <a:rPr lang="en-US" altLang="zh-CN" dirty="0"/>
              <a:t>1822– 1888).</a:t>
            </a:r>
            <a:endParaRPr lang="zh-CN" altLang="en-US" dirty="0"/>
          </a:p>
        </p:txBody>
      </p:sp>
      <p:sp>
        <p:nvSpPr>
          <p:cNvPr id="9" name="矩形 8">
            <a:extLst>
              <a:ext uri="{FF2B5EF4-FFF2-40B4-BE49-F238E27FC236}">
                <a16:creationId xmlns:a16="http://schemas.microsoft.com/office/drawing/2014/main" id="{0C4FBD39-0E59-4E59-B481-A708278B8478}"/>
              </a:ext>
            </a:extLst>
          </p:cNvPr>
          <p:cNvSpPr/>
          <p:nvPr/>
        </p:nvSpPr>
        <p:spPr>
          <a:xfrm>
            <a:off x="174628" y="1369497"/>
            <a:ext cx="2810385" cy="369332"/>
          </a:xfrm>
          <a:prstGeom prst="rect">
            <a:avLst/>
          </a:prstGeom>
        </p:spPr>
        <p:txBody>
          <a:bodyPr wrap="none">
            <a:spAutoFit/>
          </a:bodyPr>
          <a:lstStyle/>
          <a:p>
            <a:r>
              <a:rPr lang="en-US" altLang="zh-CN" b="1" i="1" dirty="0">
                <a:solidFill>
                  <a:srgbClr val="0000FF"/>
                </a:solidFill>
              </a:rPr>
              <a:t>The principle of Clausius </a:t>
            </a:r>
            <a:endParaRPr lang="zh-CN" altLang="en-US" b="1" i="1" dirty="0">
              <a:solidFill>
                <a:srgbClr val="0000FF"/>
              </a:solidFill>
            </a:endParaRPr>
          </a:p>
        </p:txBody>
      </p:sp>
      <p:sp>
        <p:nvSpPr>
          <p:cNvPr id="12" name="矩形 11">
            <a:extLst>
              <a:ext uri="{FF2B5EF4-FFF2-40B4-BE49-F238E27FC236}">
                <a16:creationId xmlns:a16="http://schemas.microsoft.com/office/drawing/2014/main" id="{E2A18DB1-6AAE-47DB-B848-B28F34718980}"/>
              </a:ext>
            </a:extLst>
          </p:cNvPr>
          <p:cNvSpPr/>
          <p:nvPr/>
        </p:nvSpPr>
        <p:spPr>
          <a:xfrm>
            <a:off x="182702" y="3630729"/>
            <a:ext cx="3859400" cy="369332"/>
          </a:xfrm>
          <a:prstGeom prst="rect">
            <a:avLst/>
          </a:prstGeom>
        </p:spPr>
        <p:txBody>
          <a:bodyPr wrap="square">
            <a:spAutoFit/>
          </a:bodyPr>
          <a:lstStyle/>
          <a:p>
            <a:r>
              <a:rPr lang="en-US" altLang="zh-CN" b="1" i="1" dirty="0">
                <a:solidFill>
                  <a:srgbClr val="0000FF"/>
                </a:solidFill>
              </a:rPr>
              <a:t>The principle of Kelvin</a:t>
            </a:r>
          </a:p>
        </p:txBody>
      </p:sp>
      <p:sp>
        <p:nvSpPr>
          <p:cNvPr id="11" name="矩形 10">
            <a:extLst>
              <a:ext uri="{FF2B5EF4-FFF2-40B4-BE49-F238E27FC236}">
                <a16:creationId xmlns:a16="http://schemas.microsoft.com/office/drawing/2014/main" id="{43F215EB-D3D4-452E-9CD9-1C5FDD37F4AF}"/>
              </a:ext>
            </a:extLst>
          </p:cNvPr>
          <p:cNvSpPr/>
          <p:nvPr/>
        </p:nvSpPr>
        <p:spPr>
          <a:xfrm>
            <a:off x="367963" y="4000061"/>
            <a:ext cx="6151525" cy="1200329"/>
          </a:xfrm>
          <a:prstGeom prst="rect">
            <a:avLst/>
          </a:prstGeom>
        </p:spPr>
        <p:txBody>
          <a:bodyPr wrap="square">
            <a:spAutoFit/>
          </a:bodyPr>
          <a:lstStyle/>
          <a:p>
            <a:r>
              <a:rPr lang="en-US" altLang="zh-CN" dirty="0"/>
              <a:t>It is impossible, by means of a cyclic process, to transfer thermal energy from a hot reservoir and convert it to work without, in the same process, transferring thermal energy to a cold reservoir</a:t>
            </a:r>
            <a:endParaRPr lang="zh-CN" altLang="en-US" dirty="0"/>
          </a:p>
        </p:txBody>
      </p:sp>
      <p:sp>
        <p:nvSpPr>
          <p:cNvPr id="13" name="矩形 12">
            <a:extLst>
              <a:ext uri="{FF2B5EF4-FFF2-40B4-BE49-F238E27FC236}">
                <a16:creationId xmlns:a16="http://schemas.microsoft.com/office/drawing/2014/main" id="{B7F05D92-06A8-42EB-8DF8-A3955EFEC6B0}"/>
              </a:ext>
            </a:extLst>
          </p:cNvPr>
          <p:cNvSpPr/>
          <p:nvPr/>
        </p:nvSpPr>
        <p:spPr>
          <a:xfrm>
            <a:off x="6878473" y="5506355"/>
            <a:ext cx="2297425" cy="923330"/>
          </a:xfrm>
          <a:prstGeom prst="rect">
            <a:avLst/>
          </a:prstGeom>
        </p:spPr>
        <p:txBody>
          <a:bodyPr wrap="square">
            <a:spAutoFit/>
          </a:bodyPr>
          <a:lstStyle/>
          <a:p>
            <a:pPr algn="ctr"/>
            <a:r>
              <a:rPr lang="en-US" altLang="zh-CN" dirty="0"/>
              <a:t>Lord Kelvin, </a:t>
            </a:r>
          </a:p>
          <a:p>
            <a:pPr algn="ctr"/>
            <a:r>
              <a:rPr lang="en-US" altLang="zh-CN" dirty="0"/>
              <a:t>aka William Thomson, </a:t>
            </a:r>
          </a:p>
          <a:p>
            <a:pPr algn="ctr"/>
            <a:r>
              <a:rPr lang="en-US" altLang="zh-CN" dirty="0"/>
              <a:t>1824– 1907</a:t>
            </a:r>
            <a:endParaRPr lang="zh-CN" altLang="en-US" dirty="0"/>
          </a:p>
        </p:txBody>
      </p:sp>
      <p:pic>
        <p:nvPicPr>
          <p:cNvPr id="44036" name="Picture 4" descr="Lord Kelvin photograph.jpg">
            <a:extLst>
              <a:ext uri="{FF2B5EF4-FFF2-40B4-BE49-F238E27FC236}">
                <a16:creationId xmlns:a16="http://schemas.microsoft.com/office/drawing/2014/main" id="{44AB4B77-88F2-4F17-879F-93BBAE6F82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74062" y="3462932"/>
            <a:ext cx="1610953" cy="2013691"/>
          </a:xfrm>
          <a:prstGeom prst="rect">
            <a:avLst/>
          </a:prstGeom>
          <a:noFill/>
          <a:extLst>
            <a:ext uri="{909E8E84-426E-40DD-AFC4-6F175D3DCCD1}">
              <a14:hiddenFill xmlns:a14="http://schemas.microsoft.com/office/drawing/2010/main">
                <a:solidFill>
                  <a:srgbClr val="FFFFFF"/>
                </a:solidFill>
              </a14:hiddenFill>
            </a:ext>
          </a:extLst>
        </p:spPr>
      </p:pic>
      <p:sp>
        <p:nvSpPr>
          <p:cNvPr id="14" name="矩形 13">
            <a:extLst>
              <a:ext uri="{FF2B5EF4-FFF2-40B4-BE49-F238E27FC236}">
                <a16:creationId xmlns:a16="http://schemas.microsoft.com/office/drawing/2014/main" id="{97020C02-3333-41B6-B792-5BE4834B52CF}"/>
              </a:ext>
            </a:extLst>
          </p:cNvPr>
          <p:cNvSpPr/>
          <p:nvPr/>
        </p:nvSpPr>
        <p:spPr>
          <a:xfrm>
            <a:off x="893963" y="5136049"/>
            <a:ext cx="5476669" cy="646331"/>
          </a:xfrm>
          <a:prstGeom prst="rect">
            <a:avLst/>
          </a:prstGeom>
        </p:spPr>
        <p:txBody>
          <a:bodyPr wrap="square">
            <a:spAutoFit/>
          </a:bodyPr>
          <a:lstStyle/>
          <a:p>
            <a:r>
              <a:rPr lang="en-US" altLang="zh-CN" i="1" dirty="0">
                <a:solidFill>
                  <a:srgbClr val="222222"/>
                </a:solidFill>
                <a:latin typeface="Arial" panose="020B0604020202020204" pitchFamily="34" charset="0"/>
              </a:rPr>
              <a:t>Lord Kelvin is known for determining its correct value as approximately −273.15 degree </a:t>
            </a:r>
            <a:r>
              <a:rPr lang="en-US" altLang="zh-CN" i="1" dirty="0">
                <a:solidFill>
                  <a:srgbClr val="0B0080"/>
                </a:solidFill>
                <a:latin typeface="Arial" panose="020B0604020202020204" pitchFamily="34" charset="0"/>
                <a:hlinkClick r:id="rId6" tooltip="Celsius"/>
              </a:rPr>
              <a:t>Celsius</a:t>
            </a:r>
            <a:r>
              <a:rPr lang="en-US" altLang="zh-CN" i="1" dirty="0">
                <a:solidFill>
                  <a:srgbClr val="222222"/>
                </a:solidFill>
                <a:latin typeface="Arial" panose="020B0604020202020204" pitchFamily="34" charset="0"/>
              </a:rPr>
              <a:t> </a:t>
            </a:r>
            <a:endParaRPr lang="zh-CN" altLang="en-US" i="1" dirty="0"/>
          </a:p>
        </p:txBody>
      </p:sp>
      <p:sp>
        <p:nvSpPr>
          <p:cNvPr id="2" name="文本框 1"/>
          <p:cNvSpPr txBox="1"/>
          <p:nvPr/>
        </p:nvSpPr>
        <p:spPr>
          <a:xfrm>
            <a:off x="257895" y="5891961"/>
            <a:ext cx="6327373" cy="400110"/>
          </a:xfrm>
          <a:prstGeom prst="rect">
            <a:avLst/>
          </a:prstGeom>
          <a:noFill/>
        </p:spPr>
        <p:txBody>
          <a:bodyPr wrap="none" rtlCol="0">
            <a:spAutoFit/>
          </a:bodyPr>
          <a:lstStyle/>
          <a:p>
            <a:r>
              <a:rPr lang="en-US" altLang="zh-CN" sz="2000" dirty="0">
                <a:solidFill>
                  <a:srgbClr val="FF0000"/>
                </a:solidFill>
              </a:rPr>
              <a:t>Open question: Is a possible to go beyond </a:t>
            </a:r>
            <a:r>
              <a:rPr lang="en-US" altLang="zh-CN" sz="2000" i="1" dirty="0">
                <a:solidFill>
                  <a:srgbClr val="222222"/>
                </a:solidFill>
                <a:latin typeface="Arial" panose="020B0604020202020204" pitchFamily="34" charset="0"/>
              </a:rPr>
              <a:t>−273.15 </a:t>
            </a:r>
            <a:r>
              <a:rPr lang="en-US" altLang="zh-CN" sz="2000" i="1" baseline="30000" dirty="0" err="1">
                <a:solidFill>
                  <a:srgbClr val="222222"/>
                </a:solidFill>
                <a:latin typeface="Arial" panose="020B0604020202020204" pitchFamily="34" charset="0"/>
              </a:rPr>
              <a:t>o</a:t>
            </a:r>
            <a:r>
              <a:rPr lang="en-US" altLang="zh-CN" sz="2000" i="1" dirty="0" err="1">
                <a:solidFill>
                  <a:srgbClr val="222222"/>
                </a:solidFill>
                <a:latin typeface="Arial" panose="020B0604020202020204" pitchFamily="34" charset="0"/>
              </a:rPr>
              <a:t>C</a:t>
            </a:r>
            <a:r>
              <a:rPr lang="en-US" altLang="zh-CN" sz="2000" dirty="0">
                <a:solidFill>
                  <a:srgbClr val="FF0000"/>
                </a:solidFill>
              </a:rPr>
              <a:t> </a:t>
            </a:r>
            <a:endParaRPr lang="zh-CN" altLang="en-US" sz="2000" dirty="0">
              <a:solidFill>
                <a:srgbClr val="FF0000"/>
              </a:solidFill>
            </a:endParaRPr>
          </a:p>
        </p:txBody>
      </p:sp>
    </p:spTree>
    <p:extLst>
      <p:ext uri="{BB962C8B-B14F-4D97-AF65-F5344CB8AC3E}">
        <p14:creationId xmlns:p14="http://schemas.microsoft.com/office/powerpoint/2010/main" val="793345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9AE2035-939E-4D12-B2EB-252432D6D5B0}"/>
              </a:ext>
            </a:extLst>
          </p:cNvPr>
          <p:cNvPicPr>
            <a:picLocks noChangeAspect="1"/>
          </p:cNvPicPr>
          <p:nvPr/>
        </p:nvPicPr>
        <p:blipFill>
          <a:blip r:embed="rId2"/>
          <a:stretch>
            <a:fillRect/>
          </a:stretch>
        </p:blipFill>
        <p:spPr>
          <a:xfrm>
            <a:off x="7187167" y="0"/>
            <a:ext cx="1956833" cy="2862233"/>
          </a:xfrm>
          <a:prstGeom prst="rect">
            <a:avLst/>
          </a:prstGeom>
        </p:spPr>
      </p:pic>
      <p:sp>
        <p:nvSpPr>
          <p:cNvPr id="4" name="文本框 3">
            <a:extLst>
              <a:ext uri="{FF2B5EF4-FFF2-40B4-BE49-F238E27FC236}">
                <a16:creationId xmlns:a16="http://schemas.microsoft.com/office/drawing/2014/main" id="{C88445E6-FDF6-438D-AB94-B14CCD2D67C8}"/>
              </a:ext>
            </a:extLst>
          </p:cNvPr>
          <p:cNvSpPr txBox="1"/>
          <p:nvPr/>
        </p:nvSpPr>
        <p:spPr>
          <a:xfrm>
            <a:off x="206535" y="136019"/>
            <a:ext cx="6005170" cy="461665"/>
          </a:xfrm>
          <a:prstGeom prst="rect">
            <a:avLst/>
          </a:prstGeom>
          <a:noFill/>
        </p:spPr>
        <p:txBody>
          <a:bodyPr wrap="none" rtlCol="0">
            <a:spAutoFit/>
          </a:bodyPr>
          <a:lstStyle/>
          <a:p>
            <a:r>
              <a:rPr lang="en-US" altLang="zh-CN" sz="2400" dirty="0">
                <a:solidFill>
                  <a:srgbClr val="FF0000"/>
                </a:solidFill>
              </a:rPr>
              <a:t>Generally regular of the irreversible process </a:t>
            </a:r>
            <a:endParaRPr lang="zh-CN" altLang="en-US" sz="2400" dirty="0">
              <a:solidFill>
                <a:srgbClr val="FF0000"/>
              </a:solidFill>
            </a:endParaRPr>
          </a:p>
        </p:txBody>
      </p:sp>
      <p:sp>
        <p:nvSpPr>
          <p:cNvPr id="6" name="文本框 5">
            <a:extLst>
              <a:ext uri="{FF2B5EF4-FFF2-40B4-BE49-F238E27FC236}">
                <a16:creationId xmlns:a16="http://schemas.microsoft.com/office/drawing/2014/main" id="{9961DD6E-C738-4AA7-A9C6-6582B2CD5091}"/>
              </a:ext>
            </a:extLst>
          </p:cNvPr>
          <p:cNvSpPr txBox="1"/>
          <p:nvPr/>
        </p:nvSpPr>
        <p:spPr>
          <a:xfrm>
            <a:off x="430887" y="2245315"/>
            <a:ext cx="5858539" cy="923330"/>
          </a:xfrm>
          <a:prstGeom prst="rect">
            <a:avLst/>
          </a:prstGeom>
          <a:noFill/>
        </p:spPr>
        <p:txBody>
          <a:bodyPr wrap="square" rtlCol="0">
            <a:spAutoFit/>
          </a:bodyPr>
          <a:lstStyle/>
          <a:p>
            <a:r>
              <a:rPr lang="en-US" altLang="zh-CN" dirty="0"/>
              <a:t>1955</a:t>
            </a:r>
            <a:r>
              <a:rPr lang="zh-CN" altLang="en-US" dirty="0"/>
              <a:t>， “对于挑选的某一不可逆过程，指明它所产生的效果不论利用什么方法也不能完全恢复原状而不引起其他变化</a:t>
            </a:r>
            <a:r>
              <a:rPr lang="en-US" altLang="zh-CN" dirty="0"/>
              <a:t>.</a:t>
            </a:r>
            <a:r>
              <a:rPr lang="zh-CN" altLang="en-US" dirty="0"/>
              <a:t>”</a:t>
            </a:r>
          </a:p>
        </p:txBody>
      </p:sp>
      <p:sp>
        <p:nvSpPr>
          <p:cNvPr id="7" name="矩形 6">
            <a:extLst>
              <a:ext uri="{FF2B5EF4-FFF2-40B4-BE49-F238E27FC236}">
                <a16:creationId xmlns:a16="http://schemas.microsoft.com/office/drawing/2014/main" id="{CA85106F-67D5-4AD3-862F-13447014FE6E}"/>
              </a:ext>
            </a:extLst>
          </p:cNvPr>
          <p:cNvSpPr/>
          <p:nvPr/>
        </p:nvSpPr>
        <p:spPr>
          <a:xfrm>
            <a:off x="6881842" y="2862233"/>
            <a:ext cx="2262158" cy="1477328"/>
          </a:xfrm>
          <a:prstGeom prst="rect">
            <a:avLst/>
          </a:prstGeom>
        </p:spPr>
        <p:txBody>
          <a:bodyPr wrap="none">
            <a:spAutoFit/>
          </a:bodyPr>
          <a:lstStyle/>
          <a:p>
            <a:pPr algn="ctr"/>
            <a:endParaRPr lang="en-US" altLang="zh-CN" dirty="0">
              <a:solidFill>
                <a:srgbClr val="333333"/>
              </a:solidFill>
              <a:latin typeface="arial" panose="020B0604020202020204" pitchFamily="34" charset="0"/>
            </a:endParaRPr>
          </a:p>
          <a:p>
            <a:pPr algn="ctr"/>
            <a:r>
              <a:rPr lang="zh-CN" altLang="en-US" dirty="0">
                <a:solidFill>
                  <a:srgbClr val="333333"/>
                </a:solidFill>
                <a:latin typeface="arial" panose="020B0604020202020204" pitchFamily="34" charset="0"/>
              </a:rPr>
              <a:t>王竹溪</a:t>
            </a:r>
            <a:endParaRPr lang="en-US" altLang="zh-CN" dirty="0">
              <a:solidFill>
                <a:srgbClr val="333333"/>
              </a:solidFill>
              <a:latin typeface="arial" panose="020B0604020202020204" pitchFamily="34" charset="0"/>
            </a:endParaRPr>
          </a:p>
          <a:p>
            <a:pPr algn="ctr"/>
            <a:r>
              <a:rPr lang="en-US" altLang="zh-CN" dirty="0">
                <a:solidFill>
                  <a:srgbClr val="333333"/>
                </a:solidFill>
                <a:latin typeface="arial" panose="020B0604020202020204" pitchFamily="34" charset="0"/>
              </a:rPr>
              <a:t>1911-1983</a:t>
            </a:r>
          </a:p>
          <a:p>
            <a:pPr algn="ctr"/>
            <a:r>
              <a:rPr lang="zh-CN" altLang="en-US" dirty="0"/>
              <a:t>中国</a:t>
            </a:r>
            <a:r>
              <a:rPr lang="zh-CN" altLang="en-US" dirty="0">
                <a:hlinkClick r:id="rId3"/>
              </a:rPr>
              <a:t>热力学</a:t>
            </a:r>
            <a:r>
              <a:rPr lang="zh-CN" altLang="en-US" dirty="0"/>
              <a:t>统计物理</a:t>
            </a:r>
            <a:endParaRPr lang="en-US" altLang="zh-CN" dirty="0"/>
          </a:p>
          <a:p>
            <a:pPr algn="ctr"/>
            <a:r>
              <a:rPr lang="zh-CN" altLang="en-US" dirty="0"/>
              <a:t>研究开拓者</a:t>
            </a:r>
          </a:p>
        </p:txBody>
      </p:sp>
      <p:sp>
        <p:nvSpPr>
          <p:cNvPr id="8" name="文本框 7">
            <a:extLst>
              <a:ext uri="{FF2B5EF4-FFF2-40B4-BE49-F238E27FC236}">
                <a16:creationId xmlns:a16="http://schemas.microsoft.com/office/drawing/2014/main" id="{F476F56E-951D-4916-869F-A312DA3CED32}"/>
              </a:ext>
            </a:extLst>
          </p:cNvPr>
          <p:cNvSpPr txBox="1"/>
          <p:nvPr/>
        </p:nvSpPr>
        <p:spPr>
          <a:xfrm>
            <a:off x="430887" y="1915707"/>
            <a:ext cx="1338828" cy="369332"/>
          </a:xfrm>
          <a:prstGeom prst="rect">
            <a:avLst/>
          </a:prstGeom>
          <a:noFill/>
        </p:spPr>
        <p:txBody>
          <a:bodyPr wrap="none" rtlCol="0">
            <a:spAutoFit/>
          </a:bodyPr>
          <a:lstStyle/>
          <a:p>
            <a:r>
              <a:rPr lang="zh-CN" altLang="en-US" dirty="0"/>
              <a:t>王竹溪说法</a:t>
            </a:r>
          </a:p>
        </p:txBody>
      </p:sp>
      <p:sp>
        <p:nvSpPr>
          <p:cNvPr id="9" name="矩形 8">
            <a:extLst>
              <a:ext uri="{FF2B5EF4-FFF2-40B4-BE49-F238E27FC236}">
                <a16:creationId xmlns:a16="http://schemas.microsoft.com/office/drawing/2014/main" id="{2351B815-43F2-46FB-9A1A-C6432D2E6CF3}"/>
              </a:ext>
            </a:extLst>
          </p:cNvPr>
          <p:cNvSpPr/>
          <p:nvPr/>
        </p:nvSpPr>
        <p:spPr>
          <a:xfrm>
            <a:off x="518642" y="3556304"/>
            <a:ext cx="6594539" cy="369332"/>
          </a:xfrm>
          <a:prstGeom prst="rect">
            <a:avLst/>
          </a:prstGeom>
        </p:spPr>
        <p:txBody>
          <a:bodyPr wrap="square">
            <a:spAutoFit/>
          </a:bodyPr>
          <a:lstStyle/>
          <a:p>
            <a:r>
              <a:rPr lang="en-US" altLang="zh-CN" dirty="0"/>
              <a:t>Max K. E. L. Planck</a:t>
            </a:r>
            <a:r>
              <a:rPr lang="en-US" altLang="zh-CN" b="1" i="1" dirty="0">
                <a:solidFill>
                  <a:srgbClr val="0000FF"/>
                </a:solidFill>
              </a:rPr>
              <a:t> </a:t>
            </a:r>
            <a:endParaRPr lang="zh-CN" altLang="en-US" b="1" i="1" dirty="0">
              <a:solidFill>
                <a:srgbClr val="0000FF"/>
              </a:solidFill>
            </a:endParaRPr>
          </a:p>
        </p:txBody>
      </p:sp>
      <p:sp>
        <p:nvSpPr>
          <p:cNvPr id="10" name="文本框 9">
            <a:extLst>
              <a:ext uri="{FF2B5EF4-FFF2-40B4-BE49-F238E27FC236}">
                <a16:creationId xmlns:a16="http://schemas.microsoft.com/office/drawing/2014/main" id="{81309334-D873-4DB7-96B4-699E3CD3719F}"/>
              </a:ext>
            </a:extLst>
          </p:cNvPr>
          <p:cNvSpPr txBox="1"/>
          <p:nvPr/>
        </p:nvSpPr>
        <p:spPr>
          <a:xfrm>
            <a:off x="430887" y="3908510"/>
            <a:ext cx="5858539" cy="646331"/>
          </a:xfrm>
          <a:prstGeom prst="rect">
            <a:avLst/>
          </a:prstGeom>
          <a:noFill/>
        </p:spPr>
        <p:txBody>
          <a:bodyPr wrap="square" rtlCol="0">
            <a:spAutoFit/>
          </a:bodyPr>
          <a:lstStyle/>
          <a:p>
            <a:r>
              <a:rPr lang="zh-CN" altLang="en-US" dirty="0"/>
              <a:t>不可能造一个机器，在循环动作中把一重物升高而同时使一热库冷却</a:t>
            </a:r>
          </a:p>
        </p:txBody>
      </p:sp>
      <p:sp>
        <p:nvSpPr>
          <p:cNvPr id="11" name="文本框 4">
            <a:extLst>
              <a:ext uri="{FF2B5EF4-FFF2-40B4-BE49-F238E27FC236}">
                <a16:creationId xmlns:a16="http://schemas.microsoft.com/office/drawing/2014/main" id="{6BB0EBD0-5581-402D-B3E4-F75E744B9501}"/>
              </a:ext>
            </a:extLst>
          </p:cNvPr>
          <p:cNvSpPr txBox="1"/>
          <p:nvPr/>
        </p:nvSpPr>
        <p:spPr>
          <a:xfrm>
            <a:off x="1187573" y="736784"/>
            <a:ext cx="5024132" cy="461665"/>
          </a:xfrm>
          <a:prstGeom prst="rect">
            <a:avLst/>
          </a:prstGeom>
          <a:solidFill>
            <a:schemeClr val="accent2">
              <a:lumMod val="20000"/>
              <a:lumOff val="80000"/>
            </a:schemeClr>
          </a:solidFill>
        </p:spPr>
        <p:txBody>
          <a:bodyPr wrap="none" rtlCol="0">
            <a:spAutoFit/>
          </a:bodyPr>
          <a:lstStyle/>
          <a:p>
            <a:r>
              <a:rPr lang="en-US" altLang="zh-CN" sz="2400" dirty="0"/>
              <a:t>Other statement of the 2</a:t>
            </a:r>
            <a:r>
              <a:rPr lang="en-US" altLang="zh-CN" sz="2400" baseline="30000" dirty="0"/>
              <a:t>nd</a:t>
            </a:r>
            <a:r>
              <a:rPr lang="en-US" altLang="zh-CN" sz="2400" dirty="0"/>
              <a:t> law of TD</a:t>
            </a:r>
            <a:endParaRPr lang="zh-CN" altLang="en-US" sz="2400" dirty="0"/>
          </a:p>
        </p:txBody>
      </p:sp>
    </p:spTree>
    <p:extLst>
      <p:ext uri="{BB962C8B-B14F-4D97-AF65-F5344CB8AC3E}">
        <p14:creationId xmlns:p14="http://schemas.microsoft.com/office/powerpoint/2010/main" val="3454460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337949" y="44813"/>
            <a:ext cx="4299767" cy="646331"/>
          </a:xfrm>
          <a:prstGeom prst="rect">
            <a:avLst/>
          </a:prstGeom>
          <a:noFill/>
        </p:spPr>
        <p:txBody>
          <a:bodyPr wrap="none" rtlCol="0">
            <a:spAutoFit/>
          </a:bodyPr>
          <a:lstStyle/>
          <a:p>
            <a:r>
              <a:rPr lang="en-US" altLang="zh-CN" sz="3600" dirty="0">
                <a:solidFill>
                  <a:srgbClr val="FF0000"/>
                </a:solidFill>
              </a:rPr>
              <a:t>TD temperature scale </a:t>
            </a:r>
            <a:endParaRPr lang="zh-CN" altLang="en-US" sz="3600" dirty="0">
              <a:solidFill>
                <a:srgbClr val="FF0000"/>
              </a:solidFill>
            </a:endParaRPr>
          </a:p>
        </p:txBody>
      </p:sp>
      <p:pic>
        <p:nvPicPr>
          <p:cNvPr id="604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3138" y="1102034"/>
            <a:ext cx="4429439" cy="849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98043" y="1106826"/>
            <a:ext cx="1377477" cy="806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15"/>
          <p:cNvSpPr txBox="1"/>
          <p:nvPr/>
        </p:nvSpPr>
        <p:spPr>
          <a:xfrm>
            <a:off x="592857" y="1126855"/>
            <a:ext cx="1486241" cy="400110"/>
          </a:xfrm>
          <a:prstGeom prst="rect">
            <a:avLst/>
          </a:prstGeom>
          <a:noFill/>
        </p:spPr>
        <p:txBody>
          <a:bodyPr wrap="none" rtlCol="0">
            <a:spAutoFit/>
          </a:bodyPr>
          <a:lstStyle/>
          <a:p>
            <a:r>
              <a:rPr lang="en-US" altLang="zh-CN" sz="2000" b="1" dirty="0"/>
              <a:t>Carnot cycle</a:t>
            </a:r>
            <a:endParaRPr lang="zh-CN" altLang="en-US" sz="2000" b="1" dirty="0"/>
          </a:p>
        </p:txBody>
      </p:sp>
      <p:pic>
        <p:nvPicPr>
          <p:cNvPr id="604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98" y="1459689"/>
            <a:ext cx="2465891" cy="2085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2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6866" y="2056941"/>
            <a:ext cx="1409700" cy="134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22"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27066" y="2104566"/>
            <a:ext cx="130492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23"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50866" y="2637966"/>
            <a:ext cx="3476625"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24"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2976" y="4431816"/>
            <a:ext cx="1400175" cy="69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25"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6901" y="5079516"/>
            <a:ext cx="12763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矩形 17"/>
          <p:cNvSpPr/>
          <p:nvPr/>
        </p:nvSpPr>
        <p:spPr>
          <a:xfrm>
            <a:off x="514156" y="3739700"/>
            <a:ext cx="3947354" cy="584775"/>
          </a:xfrm>
          <a:prstGeom prst="rect">
            <a:avLst/>
          </a:prstGeom>
        </p:spPr>
        <p:txBody>
          <a:bodyPr wrap="square">
            <a:spAutoFit/>
          </a:bodyPr>
          <a:lstStyle/>
          <a:p>
            <a:r>
              <a:rPr lang="en-US" altLang="zh-CN" sz="1600" dirty="0"/>
              <a:t>Since </a:t>
            </a:r>
            <a:r>
              <a:rPr lang="en-US" altLang="zh-CN" sz="1600" i="1" dirty="0"/>
              <a:t>f </a:t>
            </a:r>
            <a:r>
              <a:rPr lang="en-US" altLang="zh-CN" sz="1600" dirty="0"/>
              <a:t>(</a:t>
            </a:r>
            <a:r>
              <a:rPr lang="en-US" altLang="zh-CN" sz="1600" i="1" dirty="0"/>
              <a:t>t </a:t>
            </a:r>
            <a:r>
              <a:rPr lang="en-US" altLang="zh-CN" sz="1600" baseline="-25000" dirty="0"/>
              <a:t>1</a:t>
            </a:r>
            <a:r>
              <a:rPr lang="en-US" altLang="zh-CN" sz="1600" dirty="0"/>
              <a:t> ,</a:t>
            </a:r>
            <a:r>
              <a:rPr lang="en-US" altLang="zh-CN" sz="1600" i="1" dirty="0"/>
              <a:t>t </a:t>
            </a:r>
            <a:r>
              <a:rPr lang="en-US" altLang="zh-CN" sz="1600" baseline="-25000" dirty="0"/>
              <a:t>2</a:t>
            </a:r>
            <a:r>
              <a:rPr lang="en-US" altLang="zh-CN" sz="1600" dirty="0"/>
              <a:t> ) is independent of </a:t>
            </a:r>
            <a:r>
              <a:rPr lang="en-US" altLang="zh-CN" sz="1600" i="1" dirty="0"/>
              <a:t>t </a:t>
            </a:r>
            <a:r>
              <a:rPr lang="en-US" altLang="zh-CN" sz="1600" baseline="-25000" dirty="0"/>
              <a:t>3</a:t>
            </a:r>
            <a:r>
              <a:rPr lang="en-US" altLang="zh-CN" sz="1600" dirty="0"/>
              <a:t> ,  then </a:t>
            </a:r>
          </a:p>
          <a:p>
            <a:r>
              <a:rPr lang="en-US" altLang="zh-CN" sz="1600" i="1" dirty="0"/>
              <a:t>f </a:t>
            </a:r>
            <a:r>
              <a:rPr lang="en-US" altLang="zh-CN" sz="1600" dirty="0"/>
              <a:t>(</a:t>
            </a:r>
            <a:r>
              <a:rPr lang="en-US" altLang="zh-CN" sz="1600" i="1" dirty="0"/>
              <a:t>t </a:t>
            </a:r>
            <a:r>
              <a:rPr lang="en-US" altLang="zh-CN" sz="1600" baseline="-25000" dirty="0"/>
              <a:t>1</a:t>
            </a:r>
            <a:r>
              <a:rPr lang="en-US" altLang="zh-CN" sz="1600" dirty="0"/>
              <a:t> ,</a:t>
            </a:r>
            <a:r>
              <a:rPr lang="en-US" altLang="zh-CN" sz="1600" i="1" dirty="0"/>
              <a:t>t </a:t>
            </a:r>
            <a:r>
              <a:rPr lang="en-US" altLang="zh-CN" sz="1600" baseline="-25000" dirty="0"/>
              <a:t>3</a:t>
            </a:r>
            <a:r>
              <a:rPr lang="en-US" altLang="zh-CN" sz="1600" dirty="0"/>
              <a:t> ) and </a:t>
            </a:r>
            <a:r>
              <a:rPr lang="en-US" altLang="zh-CN" sz="1600" i="1" dirty="0"/>
              <a:t>f </a:t>
            </a:r>
            <a:r>
              <a:rPr lang="en-US" altLang="zh-CN" sz="1600" dirty="0"/>
              <a:t>(</a:t>
            </a:r>
            <a:r>
              <a:rPr lang="en-US" altLang="zh-CN" sz="1600" i="1" dirty="0"/>
              <a:t>t </a:t>
            </a:r>
            <a:r>
              <a:rPr lang="en-US" altLang="zh-CN" sz="1600" baseline="-25000" dirty="0"/>
              <a:t>2</a:t>
            </a:r>
            <a:r>
              <a:rPr lang="en-US" altLang="zh-CN" sz="1600" dirty="0"/>
              <a:t> ,</a:t>
            </a:r>
            <a:r>
              <a:rPr lang="en-US" altLang="zh-CN" sz="1600" i="1" dirty="0"/>
              <a:t>t </a:t>
            </a:r>
            <a:r>
              <a:rPr lang="en-US" altLang="zh-CN" sz="1600" baseline="-25000" dirty="0"/>
              <a:t>3</a:t>
            </a:r>
            <a:r>
              <a:rPr lang="en-US" altLang="zh-CN" sz="1600" dirty="0"/>
              <a:t> ) must be of the form</a:t>
            </a:r>
            <a:endParaRPr lang="zh-CN" altLang="en-US" sz="1600" dirty="0"/>
          </a:p>
        </p:txBody>
      </p:sp>
      <p:pic>
        <p:nvPicPr>
          <p:cNvPr id="60426" name="Picture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32710" y="4703278"/>
            <a:ext cx="1057275"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矩形 18"/>
          <p:cNvSpPr/>
          <p:nvPr/>
        </p:nvSpPr>
        <p:spPr>
          <a:xfrm>
            <a:off x="4834627" y="3755541"/>
            <a:ext cx="4046483" cy="584775"/>
          </a:xfrm>
          <a:prstGeom prst="rect">
            <a:avLst/>
          </a:prstGeom>
        </p:spPr>
        <p:txBody>
          <a:bodyPr wrap="square">
            <a:spAutoFit/>
          </a:bodyPr>
          <a:lstStyle/>
          <a:p>
            <a:r>
              <a:rPr lang="en-US" altLang="zh-CN" sz="1600" dirty="0"/>
              <a:t>Kelvin took these functions to </a:t>
            </a:r>
          </a:p>
          <a:p>
            <a:r>
              <a:rPr lang="en-US" altLang="zh-CN" sz="1600" dirty="0"/>
              <a:t>have the simplest possible form—</a:t>
            </a:r>
            <a:r>
              <a:rPr lang="en-US" altLang="zh-CN" sz="1600" i="1" dirty="0"/>
              <a:t>F(</a:t>
            </a:r>
            <a:r>
              <a:rPr lang="en-US" altLang="zh-CN" sz="1600" i="1" dirty="0" err="1"/>
              <a:t>t</a:t>
            </a:r>
            <a:r>
              <a:rPr lang="en-US" altLang="zh-CN" sz="1600" i="1" baseline="-25000" dirty="0" err="1"/>
              <a:t>i</a:t>
            </a:r>
            <a:r>
              <a:rPr lang="en-US" altLang="zh-CN" sz="1600" i="1" dirty="0"/>
              <a:t>)=T</a:t>
            </a:r>
            <a:r>
              <a:rPr lang="en-US" altLang="zh-CN" sz="1600" i="1" baseline="-25000" dirty="0"/>
              <a:t>i</a:t>
            </a:r>
            <a:endParaRPr lang="zh-CN" altLang="en-US" sz="1600" i="1" dirty="0"/>
          </a:p>
        </p:txBody>
      </p:sp>
      <p:pic>
        <p:nvPicPr>
          <p:cNvPr id="60427" name="Picture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47210" y="4703278"/>
            <a:ext cx="7620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6" name="直接箭头连接符 25"/>
          <p:cNvCxnSpPr/>
          <p:nvPr/>
        </p:nvCxnSpPr>
        <p:spPr>
          <a:xfrm>
            <a:off x="1793151" y="5036653"/>
            <a:ext cx="69468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3689985" y="4986966"/>
            <a:ext cx="694682"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60428" name="Picture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04510" y="4641365"/>
            <a:ext cx="3124200"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矩形 26"/>
          <p:cNvSpPr/>
          <p:nvPr/>
        </p:nvSpPr>
        <p:spPr>
          <a:xfrm>
            <a:off x="1342443" y="5721022"/>
            <a:ext cx="6771534" cy="646331"/>
          </a:xfrm>
          <a:prstGeom prst="rect">
            <a:avLst/>
          </a:prstGeom>
        </p:spPr>
        <p:txBody>
          <a:bodyPr wrap="square">
            <a:spAutoFit/>
          </a:bodyPr>
          <a:lstStyle/>
          <a:p>
            <a:r>
              <a:rPr lang="en-US" altLang="zh-CN" b="1" dirty="0">
                <a:solidFill>
                  <a:srgbClr val="FF0000"/>
                </a:solidFill>
              </a:rPr>
              <a:t>This defines </a:t>
            </a:r>
            <a:r>
              <a:rPr lang="en-US" altLang="zh-CN" b="1" dirty="0">
                <a:solidFill>
                  <a:srgbClr val="0000FF"/>
                </a:solidFill>
              </a:rPr>
              <a:t>an </a:t>
            </a:r>
            <a:r>
              <a:rPr lang="en-US" altLang="zh-CN" b="1" i="1" dirty="0">
                <a:solidFill>
                  <a:srgbClr val="0000FF"/>
                </a:solidFill>
              </a:rPr>
              <a:t>absolute thermodynamic scale of temperature</a:t>
            </a:r>
            <a:r>
              <a:rPr lang="en-US" altLang="zh-CN" b="1" i="1" dirty="0">
                <a:solidFill>
                  <a:srgbClr val="FF0000"/>
                </a:solidFill>
              </a:rPr>
              <a:t> </a:t>
            </a:r>
            <a:r>
              <a:rPr lang="en-US" altLang="zh-CN" b="1" dirty="0">
                <a:solidFill>
                  <a:srgbClr val="FF0000"/>
                </a:solidFill>
              </a:rPr>
              <a:t>which is independent of the working substance.</a:t>
            </a:r>
            <a:endParaRPr lang="zh-CN" altLang="en-US" b="1" dirty="0">
              <a:solidFill>
                <a:srgbClr val="FF0000"/>
              </a:solidFill>
            </a:endParaRPr>
          </a:p>
        </p:txBody>
      </p:sp>
    </p:spTree>
    <p:extLst>
      <p:ext uri="{BB962C8B-B14F-4D97-AF65-F5344CB8AC3E}">
        <p14:creationId xmlns:p14="http://schemas.microsoft.com/office/powerpoint/2010/main" val="20970321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6A792-35F3-49F0-9D85-935AF0772674}"/>
              </a:ext>
            </a:extLst>
          </p:cNvPr>
          <p:cNvSpPr txBox="1"/>
          <p:nvPr/>
        </p:nvSpPr>
        <p:spPr bwMode="auto">
          <a:xfrm>
            <a:off x="562251" y="-73796"/>
            <a:ext cx="5622489" cy="712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lvl1pPr algn="l" defTabSz="457200" rtl="0" eaLnBrk="1" fontAlgn="base" hangingPunct="1">
              <a:lnSpc>
                <a:spcPct val="100000"/>
              </a:lnSpc>
              <a:spcBef>
                <a:spcPct val="0"/>
              </a:spcBef>
              <a:spcAft>
                <a:spcPct val="0"/>
              </a:spcAft>
              <a:defRPr sz="3600" kern="1200">
                <a:solidFill>
                  <a:srgbClr val="295467"/>
                </a:solidFill>
                <a:latin typeface="Arial" panose="020B0604020202020204"/>
                <a:ea typeface="Geneva" pitchFamily="-107" charset="-128"/>
                <a:cs typeface="Arial" panose="020B0604020202020204"/>
              </a:defRPr>
            </a:lvl1pPr>
            <a:lvl2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9pPr>
          </a:lstStyle>
          <a:p>
            <a:r>
              <a:rPr lang="en-US" altLang="zh-CN" sz="3200" dirty="0">
                <a:solidFill>
                  <a:srgbClr val="FF0000"/>
                </a:solidFill>
                <a:ea typeface="宋体" panose="02010600030101010101" pitchFamily="2" charset="-122"/>
              </a:rPr>
              <a:t>Any reversible cyclic process</a:t>
            </a:r>
            <a:endParaRPr lang="en-US" altLang="zh-CN" sz="3200" dirty="0">
              <a:solidFill>
                <a:srgbClr val="FF0000"/>
              </a:solidFill>
            </a:endParaRPr>
          </a:p>
        </p:txBody>
      </p:sp>
      <p:graphicFrame>
        <p:nvGraphicFramePr>
          <p:cNvPr id="3" name="对象 2">
            <a:extLst>
              <a:ext uri="{FF2B5EF4-FFF2-40B4-BE49-F238E27FC236}">
                <a16:creationId xmlns:a16="http://schemas.microsoft.com/office/drawing/2014/main" id="{4A40DF37-92B5-4023-973D-F8A2FB9019DF}"/>
              </a:ext>
            </a:extLst>
          </p:cNvPr>
          <p:cNvGraphicFramePr>
            <a:graphicFrameLocks noChangeAspect="1"/>
          </p:cNvGraphicFramePr>
          <p:nvPr/>
        </p:nvGraphicFramePr>
        <p:xfrm>
          <a:off x="611188" y="1006475"/>
          <a:ext cx="2822575" cy="2327275"/>
        </p:xfrm>
        <a:graphic>
          <a:graphicData uri="http://schemas.openxmlformats.org/presentationml/2006/ole">
            <mc:AlternateContent xmlns:mc="http://schemas.openxmlformats.org/markup-compatibility/2006">
              <mc:Choice xmlns:v="urn:schemas-microsoft-com:vml" Requires="v">
                <p:oleObj name="Equation" r:id="rId2" imgW="2222280" imgH="1828800" progId="Equation.DSMT4">
                  <p:embed/>
                </p:oleObj>
              </mc:Choice>
              <mc:Fallback>
                <p:oleObj name="Equation" r:id="rId2" imgW="2222280" imgH="1828800" progId="Equation.DSMT4">
                  <p:embed/>
                  <p:pic>
                    <p:nvPicPr>
                      <p:cNvPr id="3" name="对象 2">
                        <a:extLst>
                          <a:ext uri="{FF2B5EF4-FFF2-40B4-BE49-F238E27FC236}">
                            <a16:creationId xmlns:a16="http://schemas.microsoft.com/office/drawing/2014/main" id="{4A40DF37-92B5-4023-973D-F8A2FB9019DF}"/>
                          </a:ext>
                        </a:extLst>
                      </p:cNvPr>
                      <p:cNvPicPr>
                        <a:picLocks noChangeAspect="1" noChangeArrowheads="1"/>
                      </p:cNvPicPr>
                      <p:nvPr/>
                    </p:nvPicPr>
                    <p:blipFill>
                      <a:blip r:embed="rId3"/>
                      <a:srcRect/>
                      <a:stretch>
                        <a:fillRect/>
                      </a:stretch>
                    </p:blipFill>
                    <p:spPr bwMode="auto">
                      <a:xfrm>
                        <a:off x="611188" y="1006475"/>
                        <a:ext cx="2822575" cy="2327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 name="Picture 3">
            <a:extLst>
              <a:ext uri="{FF2B5EF4-FFF2-40B4-BE49-F238E27FC236}">
                <a16:creationId xmlns:a16="http://schemas.microsoft.com/office/drawing/2014/main" id="{F7F29375-2B81-4BA7-B6F6-0CED76F6D4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567" y="3357099"/>
            <a:ext cx="3225403"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11">
            <a:extLst>
              <a:ext uri="{FF2B5EF4-FFF2-40B4-BE49-F238E27FC236}">
                <a16:creationId xmlns:a16="http://schemas.microsoft.com/office/drawing/2014/main" id="{C539E86B-E58D-4FAB-9E4D-3FE42EDAFECD}"/>
              </a:ext>
            </a:extLst>
          </p:cNvPr>
          <p:cNvSpPr txBox="1">
            <a:spLocks noChangeArrowheads="1"/>
          </p:cNvSpPr>
          <p:nvPr/>
        </p:nvSpPr>
        <p:spPr bwMode="auto">
          <a:xfrm>
            <a:off x="4105276" y="1225400"/>
            <a:ext cx="4495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eaLnBrk="1" hangingPunct="1"/>
            <a:r>
              <a:rPr lang="en-US" altLang="zh-CN" sz="1600" dirty="0">
                <a:solidFill>
                  <a:srgbClr val="000000"/>
                </a:solidFill>
                <a:ea typeface="宋体" panose="02010600030101010101" pitchFamily="2" charset="-122"/>
              </a:rPr>
              <a:t>Any reversible cyclic process can be treated as the sum of a number of Carnot cycles.</a:t>
            </a:r>
          </a:p>
        </p:txBody>
      </p:sp>
      <p:graphicFrame>
        <p:nvGraphicFramePr>
          <p:cNvPr id="6" name="对象 5">
            <a:extLst>
              <a:ext uri="{FF2B5EF4-FFF2-40B4-BE49-F238E27FC236}">
                <a16:creationId xmlns:a16="http://schemas.microsoft.com/office/drawing/2014/main" id="{8B846231-1F4B-4CBE-9742-3EA4A102C2D2}"/>
              </a:ext>
            </a:extLst>
          </p:cNvPr>
          <p:cNvGraphicFramePr>
            <a:graphicFrameLocks noChangeAspect="1"/>
          </p:cNvGraphicFramePr>
          <p:nvPr/>
        </p:nvGraphicFramePr>
        <p:xfrm>
          <a:off x="5853113" y="1993420"/>
          <a:ext cx="804862" cy="1233743"/>
        </p:xfrm>
        <a:graphic>
          <a:graphicData uri="http://schemas.openxmlformats.org/presentationml/2006/ole">
            <mc:AlternateContent xmlns:mc="http://schemas.openxmlformats.org/markup-compatibility/2006">
              <mc:Choice xmlns:v="urn:schemas-microsoft-com:vml" Requires="v">
                <p:oleObj name="Equation" r:id="rId5" imgW="533400" imgH="812165" progId="Equation.3">
                  <p:embed/>
                </p:oleObj>
              </mc:Choice>
              <mc:Fallback>
                <p:oleObj name="Equation" r:id="rId5" imgW="533400" imgH="812165" progId="Equation.3">
                  <p:embed/>
                  <p:pic>
                    <p:nvPicPr>
                      <p:cNvPr id="6" name="对象 5">
                        <a:extLst>
                          <a:ext uri="{FF2B5EF4-FFF2-40B4-BE49-F238E27FC236}">
                            <a16:creationId xmlns:a16="http://schemas.microsoft.com/office/drawing/2014/main" id="{8B846231-1F4B-4CBE-9742-3EA4A102C2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53113" y="1993420"/>
                        <a:ext cx="804862" cy="12337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a:extLst>
              <a:ext uri="{FF2B5EF4-FFF2-40B4-BE49-F238E27FC236}">
                <a16:creationId xmlns:a16="http://schemas.microsoft.com/office/drawing/2014/main" id="{B584A6DC-B655-463E-8300-B40025EA6015}"/>
              </a:ext>
            </a:extLst>
          </p:cNvPr>
          <p:cNvSpPr txBox="1"/>
          <p:nvPr/>
        </p:nvSpPr>
        <p:spPr>
          <a:xfrm>
            <a:off x="4219576" y="3463775"/>
            <a:ext cx="4805362" cy="1077218"/>
          </a:xfrm>
          <a:prstGeom prst="rect">
            <a:avLst/>
          </a:prstGeom>
          <a:noFill/>
        </p:spPr>
        <p:txBody>
          <a:bodyPr wrap="square" rtlCol="0">
            <a:spAutoFit/>
          </a:bodyPr>
          <a:lstStyle/>
          <a:p>
            <a:r>
              <a:rPr lang="en-US" altLang="zh-CN" sz="1600" dirty="0"/>
              <a:t>The vanishing of the cyclic integral indicates that the integral is a perfect differential of some function of state of the system. This function is called the entropy, S, and is defined as:</a:t>
            </a:r>
            <a:endParaRPr lang="zh-CN" altLang="en-US" sz="1600" dirty="0"/>
          </a:p>
        </p:txBody>
      </p:sp>
      <p:graphicFrame>
        <p:nvGraphicFramePr>
          <p:cNvPr id="8" name="对象 7">
            <a:extLst>
              <a:ext uri="{FF2B5EF4-FFF2-40B4-BE49-F238E27FC236}">
                <a16:creationId xmlns:a16="http://schemas.microsoft.com/office/drawing/2014/main" id="{E05F0C21-4B07-4290-A786-331FED358332}"/>
              </a:ext>
            </a:extLst>
          </p:cNvPr>
          <p:cNvGraphicFramePr>
            <a:graphicFrameLocks noChangeAspect="1"/>
          </p:cNvGraphicFramePr>
          <p:nvPr/>
        </p:nvGraphicFramePr>
        <p:xfrm>
          <a:off x="4686301" y="4690599"/>
          <a:ext cx="847724" cy="1136269"/>
        </p:xfrm>
        <a:graphic>
          <a:graphicData uri="http://schemas.openxmlformats.org/presentationml/2006/ole">
            <mc:AlternateContent xmlns:mc="http://schemas.openxmlformats.org/markup-compatibility/2006">
              <mc:Choice xmlns:v="urn:schemas-microsoft-com:vml" Requires="v">
                <p:oleObj name="Equation" r:id="rId7" imgW="533400" imgH="711200" progId="Equation.3">
                  <p:embed/>
                </p:oleObj>
              </mc:Choice>
              <mc:Fallback>
                <p:oleObj name="Equation" r:id="rId7" imgW="533400" imgH="711200" progId="Equation.3">
                  <p:embed/>
                  <p:pic>
                    <p:nvPicPr>
                      <p:cNvPr id="8" name="对象 7">
                        <a:extLst>
                          <a:ext uri="{FF2B5EF4-FFF2-40B4-BE49-F238E27FC236}">
                            <a16:creationId xmlns:a16="http://schemas.microsoft.com/office/drawing/2014/main" id="{E05F0C21-4B07-4290-A786-331FED35833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86301" y="4690599"/>
                        <a:ext cx="847724" cy="11362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a:extLst>
              <a:ext uri="{FF2B5EF4-FFF2-40B4-BE49-F238E27FC236}">
                <a16:creationId xmlns:a16="http://schemas.microsoft.com/office/drawing/2014/main" id="{9818E285-DB4B-45A9-AADF-AA641D02CB6A}"/>
              </a:ext>
            </a:extLst>
          </p:cNvPr>
          <p:cNvGraphicFramePr>
            <a:graphicFrameLocks noChangeAspect="1"/>
          </p:cNvGraphicFramePr>
          <p:nvPr/>
        </p:nvGraphicFramePr>
        <p:xfrm>
          <a:off x="6184740" y="4870300"/>
          <a:ext cx="2416336" cy="622300"/>
        </p:xfrm>
        <a:graphic>
          <a:graphicData uri="http://schemas.openxmlformats.org/presentationml/2006/ole">
            <mc:AlternateContent xmlns:mc="http://schemas.openxmlformats.org/markup-compatibility/2006">
              <mc:Choice xmlns:v="urn:schemas-microsoft-com:vml" Requires="v">
                <p:oleObj name="Equation" r:id="rId9" imgW="1536065" imgH="393700" progId="Equation.3">
                  <p:embed/>
                </p:oleObj>
              </mc:Choice>
              <mc:Fallback>
                <p:oleObj name="Equation" r:id="rId9" imgW="1536065" imgH="393700" progId="Equation.3">
                  <p:embed/>
                  <p:pic>
                    <p:nvPicPr>
                      <p:cNvPr id="9" name="对象 8">
                        <a:extLst>
                          <a:ext uri="{FF2B5EF4-FFF2-40B4-BE49-F238E27FC236}">
                            <a16:creationId xmlns:a16="http://schemas.microsoft.com/office/drawing/2014/main" id="{9818E285-DB4B-45A9-AADF-AA641D02CB6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84740" y="4870300"/>
                        <a:ext cx="2416336"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514669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a:extLst>
              <a:ext uri="{FF2B5EF4-FFF2-40B4-BE49-F238E27FC236}">
                <a16:creationId xmlns:a16="http://schemas.microsoft.com/office/drawing/2014/main" id="{7D148A19-FCD6-41B9-AA65-870A5B333BB1}"/>
              </a:ext>
            </a:extLst>
          </p:cNvPr>
          <p:cNvSpPr>
            <a:spLocks noGrp="1"/>
          </p:cNvSpPr>
          <p:nvPr>
            <p:ph type="title"/>
          </p:nvPr>
        </p:nvSpPr>
        <p:spPr>
          <a:xfrm>
            <a:off x="982218" y="3019506"/>
            <a:ext cx="7886700" cy="818987"/>
          </a:xfrm>
        </p:spPr>
        <p:txBody>
          <a:bodyPr>
            <a:normAutofit/>
          </a:bodyPr>
          <a:lstStyle/>
          <a:p>
            <a:r>
              <a:rPr lang="en-US" altLang="zh-CN" sz="4000" dirty="0">
                <a:solidFill>
                  <a:srgbClr val="FF0000"/>
                </a:solidFill>
              </a:rPr>
              <a:t>5. Entropy</a:t>
            </a:r>
            <a:endParaRPr lang="zh-CN" altLang="en-US" sz="4000" dirty="0">
              <a:solidFill>
                <a:srgbClr val="FF0000"/>
              </a:solidFill>
            </a:endParaRPr>
          </a:p>
        </p:txBody>
      </p:sp>
      <p:sp>
        <p:nvSpPr>
          <p:cNvPr id="4" name="矩形 3"/>
          <p:cNvSpPr/>
          <p:nvPr/>
        </p:nvSpPr>
        <p:spPr>
          <a:xfrm>
            <a:off x="1079156" y="4385965"/>
            <a:ext cx="7546684" cy="1231106"/>
          </a:xfrm>
          <a:prstGeom prst="rect">
            <a:avLst/>
          </a:prstGeom>
        </p:spPr>
        <p:txBody>
          <a:bodyPr wrap="square">
            <a:spAutoFit/>
          </a:bodyPr>
          <a:lstStyle/>
          <a:p>
            <a:pPr>
              <a:spcAft>
                <a:spcPts val="1200"/>
              </a:spcAft>
            </a:pPr>
            <a:r>
              <a:rPr lang="en-US" altLang="zh-CN" b="1" dirty="0">
                <a:solidFill>
                  <a:srgbClr val="0000FF"/>
                </a:solidFill>
              </a:rPr>
              <a:t>Chapter 3</a:t>
            </a:r>
          </a:p>
          <a:p>
            <a:pPr>
              <a:spcAft>
                <a:spcPts val="1200"/>
              </a:spcAft>
            </a:pPr>
            <a:r>
              <a:rPr lang="en-US" altLang="zh-CN" b="1" dirty="0">
                <a:solidFill>
                  <a:srgbClr val="0000FF"/>
                </a:solidFill>
              </a:rPr>
              <a:t>Introduction to the thermodynamics of materials</a:t>
            </a:r>
            <a:r>
              <a:rPr lang="en-US" altLang="zh-CN" dirty="0">
                <a:solidFill>
                  <a:srgbClr val="0000FF"/>
                </a:solidFill>
              </a:rPr>
              <a:t>, </a:t>
            </a:r>
          </a:p>
          <a:p>
            <a:pPr>
              <a:spcAft>
                <a:spcPts val="1200"/>
              </a:spcAft>
            </a:pPr>
            <a:r>
              <a:rPr lang="en-US" altLang="zh-CN" dirty="0">
                <a:solidFill>
                  <a:srgbClr val="0000FF"/>
                </a:solidFill>
              </a:rPr>
              <a:t>5</a:t>
            </a:r>
            <a:r>
              <a:rPr lang="en-US" altLang="zh-CN" baseline="30000" dirty="0">
                <a:solidFill>
                  <a:srgbClr val="0000FF"/>
                </a:solidFill>
              </a:rPr>
              <a:t>th</a:t>
            </a:r>
            <a:r>
              <a:rPr lang="zh-CN" altLang="en-US" dirty="0">
                <a:solidFill>
                  <a:srgbClr val="0000FF"/>
                </a:solidFill>
              </a:rPr>
              <a:t> </a:t>
            </a:r>
            <a:r>
              <a:rPr lang="en-US" altLang="zh-CN" dirty="0">
                <a:solidFill>
                  <a:srgbClr val="0000FF"/>
                </a:solidFill>
              </a:rPr>
              <a:t>or 6</a:t>
            </a:r>
            <a:r>
              <a:rPr lang="en-US" altLang="zh-CN" baseline="30000" dirty="0">
                <a:solidFill>
                  <a:srgbClr val="0000FF"/>
                </a:solidFill>
              </a:rPr>
              <a:t>th</a:t>
            </a:r>
            <a:r>
              <a:rPr lang="en-US" altLang="zh-CN" dirty="0">
                <a:solidFill>
                  <a:srgbClr val="0000FF"/>
                </a:solidFill>
              </a:rPr>
              <a:t> edition, by David R. Gaskell, </a:t>
            </a:r>
            <a:r>
              <a:rPr lang="en-US" altLang="zh-CN" dirty="0" err="1">
                <a:solidFill>
                  <a:srgbClr val="0000FF"/>
                </a:solidFill>
              </a:rPr>
              <a:t>Talor</a:t>
            </a:r>
            <a:r>
              <a:rPr lang="en-US" altLang="zh-CN" dirty="0">
                <a:solidFill>
                  <a:srgbClr val="0000FF"/>
                </a:solidFill>
              </a:rPr>
              <a:t> &amp; Francis Press, 2018</a:t>
            </a:r>
          </a:p>
        </p:txBody>
      </p:sp>
    </p:spTree>
    <p:extLst>
      <p:ext uri="{BB962C8B-B14F-4D97-AF65-F5344CB8AC3E}">
        <p14:creationId xmlns:p14="http://schemas.microsoft.com/office/powerpoint/2010/main" val="612597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p:cNvSpPr txBox="1"/>
          <p:nvPr/>
        </p:nvSpPr>
        <p:spPr>
          <a:xfrm>
            <a:off x="583711" y="252085"/>
            <a:ext cx="6066084" cy="523220"/>
          </a:xfrm>
          <a:prstGeom prst="rect">
            <a:avLst/>
          </a:prstGeom>
          <a:noFill/>
        </p:spPr>
        <p:txBody>
          <a:bodyPr wrap="none" rtlCol="0">
            <a:spAutoFit/>
          </a:bodyPr>
          <a:lstStyle/>
          <a:p>
            <a:r>
              <a:rPr lang="en-US" altLang="zh-CN" sz="2800" dirty="0">
                <a:solidFill>
                  <a:srgbClr val="FF0000"/>
                </a:solidFill>
              </a:rPr>
              <a:t>Why we need the concept of entropy?</a:t>
            </a:r>
            <a:endParaRPr lang="zh-CN" altLang="en-US" sz="2800" dirty="0">
              <a:solidFill>
                <a:srgbClr val="FF0000"/>
              </a:solidFill>
            </a:endParaRPr>
          </a:p>
        </p:txBody>
      </p:sp>
      <p:pic>
        <p:nvPicPr>
          <p:cNvPr id="5" name="图片 4"/>
          <p:cNvPicPr>
            <a:picLocks noChangeAspect="1"/>
          </p:cNvPicPr>
          <p:nvPr/>
        </p:nvPicPr>
        <p:blipFill>
          <a:blip r:embed="rId2"/>
          <a:stretch>
            <a:fillRect/>
          </a:stretch>
        </p:blipFill>
        <p:spPr>
          <a:xfrm>
            <a:off x="397360" y="1886466"/>
            <a:ext cx="4261006" cy="2463113"/>
          </a:xfrm>
          <a:prstGeom prst="rect">
            <a:avLst/>
          </a:prstGeom>
        </p:spPr>
      </p:pic>
      <p:sp>
        <p:nvSpPr>
          <p:cNvPr id="6" name="文本框 5"/>
          <p:cNvSpPr txBox="1"/>
          <p:nvPr/>
        </p:nvSpPr>
        <p:spPr>
          <a:xfrm>
            <a:off x="583711" y="5176730"/>
            <a:ext cx="3381054" cy="369332"/>
          </a:xfrm>
          <a:prstGeom prst="rect">
            <a:avLst/>
          </a:prstGeom>
          <a:noFill/>
        </p:spPr>
        <p:txBody>
          <a:bodyPr wrap="none" rtlCol="0">
            <a:spAutoFit/>
          </a:bodyPr>
          <a:lstStyle/>
          <a:p>
            <a:r>
              <a:rPr lang="en-US" altLang="zh-CN" dirty="0"/>
              <a:t>The heat always flow hot to cold</a:t>
            </a:r>
            <a:endParaRPr lang="zh-CN" altLang="en-US" dirty="0"/>
          </a:p>
        </p:txBody>
      </p:sp>
      <p:pic>
        <p:nvPicPr>
          <p:cNvPr id="7" name="图片 6"/>
          <p:cNvPicPr>
            <a:picLocks noChangeAspect="1"/>
          </p:cNvPicPr>
          <p:nvPr/>
        </p:nvPicPr>
        <p:blipFill>
          <a:blip r:embed="rId3"/>
          <a:stretch>
            <a:fillRect/>
          </a:stretch>
        </p:blipFill>
        <p:spPr>
          <a:xfrm>
            <a:off x="5174086" y="1949015"/>
            <a:ext cx="3262121" cy="2446591"/>
          </a:xfrm>
          <a:prstGeom prst="rect">
            <a:avLst/>
          </a:prstGeom>
        </p:spPr>
      </p:pic>
      <p:sp>
        <p:nvSpPr>
          <p:cNvPr id="8" name="文本框 7"/>
          <p:cNvSpPr txBox="1"/>
          <p:nvPr/>
        </p:nvSpPr>
        <p:spPr>
          <a:xfrm>
            <a:off x="5081609" y="5148005"/>
            <a:ext cx="2815194" cy="369332"/>
          </a:xfrm>
          <a:prstGeom prst="rect">
            <a:avLst/>
          </a:prstGeom>
          <a:noFill/>
        </p:spPr>
        <p:txBody>
          <a:bodyPr wrap="none" rtlCol="0">
            <a:spAutoFit/>
          </a:bodyPr>
          <a:lstStyle/>
          <a:p>
            <a:r>
              <a:rPr lang="en-US" altLang="zh-CN" dirty="0"/>
              <a:t>The water flow high to low</a:t>
            </a:r>
            <a:endParaRPr lang="zh-CN" altLang="en-US" dirty="0"/>
          </a:p>
        </p:txBody>
      </p:sp>
    </p:spTree>
    <p:extLst>
      <p:ext uri="{BB962C8B-B14F-4D97-AF65-F5344CB8AC3E}">
        <p14:creationId xmlns:p14="http://schemas.microsoft.com/office/powerpoint/2010/main" val="2702499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7259" y="136584"/>
            <a:ext cx="5242141" cy="461665"/>
          </a:xfrm>
          <a:prstGeom prst="rect">
            <a:avLst/>
          </a:prstGeom>
          <a:noFill/>
        </p:spPr>
        <p:txBody>
          <a:bodyPr wrap="none" rtlCol="0">
            <a:spAutoFit/>
          </a:bodyPr>
          <a:lstStyle/>
          <a:p>
            <a:r>
              <a:rPr lang="en-US" altLang="zh-CN" sz="2400" dirty="0">
                <a:solidFill>
                  <a:srgbClr val="FF0000"/>
                </a:solidFill>
              </a:rPr>
              <a:t>Why we need the concept of entropy?</a:t>
            </a:r>
            <a:endParaRPr lang="zh-CN" altLang="en-US" sz="2400" dirty="0">
              <a:solidFill>
                <a:srgbClr val="FF0000"/>
              </a:solidFill>
            </a:endParaRPr>
          </a:p>
        </p:txBody>
      </p:sp>
      <p:sp>
        <p:nvSpPr>
          <p:cNvPr id="3" name="Title 1">
            <a:extLst>
              <a:ext uri="{FF2B5EF4-FFF2-40B4-BE49-F238E27FC236}">
                <a16:creationId xmlns:a16="http://schemas.microsoft.com/office/drawing/2014/main" id="{A76F7568-7365-4E9B-9650-0DA0E96BA45F}"/>
              </a:ext>
            </a:extLst>
          </p:cNvPr>
          <p:cNvSpPr txBox="1"/>
          <p:nvPr/>
        </p:nvSpPr>
        <p:spPr bwMode="auto">
          <a:xfrm>
            <a:off x="507921" y="1250625"/>
            <a:ext cx="4176221" cy="253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lvl1pPr algn="l" defTabSz="457200" rtl="0" eaLnBrk="1" fontAlgn="base" hangingPunct="1">
              <a:lnSpc>
                <a:spcPct val="100000"/>
              </a:lnSpc>
              <a:spcBef>
                <a:spcPct val="0"/>
              </a:spcBef>
              <a:spcAft>
                <a:spcPct val="0"/>
              </a:spcAft>
              <a:defRPr sz="3600" kern="1200">
                <a:solidFill>
                  <a:srgbClr val="295467"/>
                </a:solidFill>
                <a:latin typeface="Arial" panose="020B0604020202020204"/>
                <a:ea typeface="Geneva" pitchFamily="-107" charset="-128"/>
                <a:cs typeface="Arial" panose="020B0604020202020204"/>
              </a:defRPr>
            </a:lvl1pPr>
            <a:lvl2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9pPr>
          </a:lstStyle>
          <a:p>
            <a:r>
              <a:rPr lang="en-US" altLang="zh-CN" sz="2000" b="1" dirty="0">
                <a:solidFill>
                  <a:srgbClr val="FF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Irreversible Processes</a:t>
            </a:r>
            <a:endParaRPr lang="en-US" altLang="zh-CN" sz="2000" dirty="0">
              <a:solidFill>
                <a:srgbClr val="FF0000"/>
              </a:solidFill>
            </a:endParaRPr>
          </a:p>
        </p:txBody>
      </p:sp>
      <p:sp>
        <p:nvSpPr>
          <p:cNvPr id="4" name="矩形 3">
            <a:extLst>
              <a:ext uri="{FF2B5EF4-FFF2-40B4-BE49-F238E27FC236}">
                <a16:creationId xmlns:a16="http://schemas.microsoft.com/office/drawing/2014/main" id="{743979FF-858B-477C-A1CE-D7D5F8A9CB53}"/>
              </a:ext>
            </a:extLst>
          </p:cNvPr>
          <p:cNvSpPr/>
          <p:nvPr/>
        </p:nvSpPr>
        <p:spPr>
          <a:xfrm>
            <a:off x="365243" y="3066031"/>
            <a:ext cx="4120039" cy="400110"/>
          </a:xfrm>
          <a:prstGeom prst="rect">
            <a:avLst/>
          </a:prstGeom>
        </p:spPr>
        <p:txBody>
          <a:bodyPr wrap="none">
            <a:spAutoFit/>
          </a:bodyPr>
          <a:lstStyle/>
          <a:p>
            <a:r>
              <a:rPr lang="en-US" altLang="zh-CN" sz="2000" b="1" dirty="0">
                <a:solidFill>
                  <a:srgbClr val="0000FF"/>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Natural/Spontaneous Processes</a:t>
            </a:r>
            <a:endParaRPr lang="en-US" altLang="zh-CN" sz="2000" dirty="0">
              <a:solidFill>
                <a:srgbClr val="0000FF"/>
              </a:solidFill>
            </a:endParaRPr>
          </a:p>
        </p:txBody>
      </p:sp>
      <p:sp>
        <p:nvSpPr>
          <p:cNvPr id="5" name="矩形 4">
            <a:extLst>
              <a:ext uri="{FF2B5EF4-FFF2-40B4-BE49-F238E27FC236}">
                <a16:creationId xmlns:a16="http://schemas.microsoft.com/office/drawing/2014/main" id="{F7C4DCED-B1B1-41C2-B5C2-B07AE3D739AD}"/>
              </a:ext>
            </a:extLst>
          </p:cNvPr>
          <p:cNvSpPr/>
          <p:nvPr/>
        </p:nvSpPr>
        <p:spPr>
          <a:xfrm>
            <a:off x="205205" y="3619157"/>
            <a:ext cx="5626251" cy="646331"/>
          </a:xfrm>
          <a:prstGeom prst="rect">
            <a:avLst/>
          </a:prstGeom>
        </p:spPr>
        <p:txBody>
          <a:bodyPr wrap="square">
            <a:spAutoFit/>
          </a:bodyPr>
          <a:lstStyle/>
          <a:p>
            <a:r>
              <a:rPr lang="en-US" altLang="zh-CN" b="1" dirty="0">
                <a:latin typeface="Arial" panose="020B0604020202020204" pitchFamily="34" charset="0"/>
                <a:ea typeface="宋体" panose="02010600030101010101" pitchFamily="2" charset="-122"/>
                <a:cs typeface="Times New Roman" panose="02020603050405020304" pitchFamily="18" charset="0"/>
              </a:rPr>
              <a:t>If a system is not initially at equilibrium,</a:t>
            </a:r>
          </a:p>
          <a:p>
            <a:r>
              <a:rPr lang="en-US" altLang="zh-CN" b="1" dirty="0">
                <a:latin typeface="Arial" panose="020B0604020202020204" pitchFamily="34" charset="0"/>
                <a:ea typeface="宋体" panose="02010600030101010101" pitchFamily="2" charset="-122"/>
                <a:cs typeface="Times New Roman" panose="02020603050405020304" pitchFamily="18" charset="0"/>
              </a:rPr>
              <a:t>it will tend to move towards its equilibrium state</a:t>
            </a:r>
            <a:endParaRPr lang="en-US" altLang="zh-CN" b="1" dirty="0">
              <a:latin typeface="Arial" panose="020B0604020202020204" pitchFamily="34" charset="0"/>
              <a:ea typeface="宋体" panose="02010600030101010101" pitchFamily="2" charset="-122"/>
            </a:endParaRPr>
          </a:p>
        </p:txBody>
      </p:sp>
      <p:sp>
        <p:nvSpPr>
          <p:cNvPr id="6" name="矩形 5">
            <a:extLst>
              <a:ext uri="{FF2B5EF4-FFF2-40B4-BE49-F238E27FC236}">
                <a16:creationId xmlns:a16="http://schemas.microsoft.com/office/drawing/2014/main" id="{5066BE22-A5D4-4CDF-A97F-CB67F43E4BA8}"/>
              </a:ext>
            </a:extLst>
          </p:cNvPr>
          <p:cNvSpPr/>
          <p:nvPr/>
        </p:nvSpPr>
        <p:spPr>
          <a:xfrm>
            <a:off x="205205" y="1760406"/>
            <a:ext cx="6419881" cy="1015663"/>
          </a:xfrm>
          <a:prstGeom prst="rect">
            <a:avLst/>
          </a:prstGeom>
        </p:spPr>
        <p:txBody>
          <a:bodyPr wrap="square">
            <a:spAutoFit/>
          </a:bodyPr>
          <a:lstStyle/>
          <a:p>
            <a:r>
              <a:rPr lang="en-US" altLang="zh-CN" sz="2000" b="1" dirty="0"/>
              <a:t>A system left to itself will do one of two things:</a:t>
            </a:r>
          </a:p>
          <a:p>
            <a:pPr marL="285750" indent="-285750">
              <a:buFont typeface="Wingdings" panose="05000000000000000000" pitchFamily="2" charset="2"/>
              <a:buChar char="ü"/>
            </a:pPr>
            <a:r>
              <a:rPr lang="en-US" altLang="zh-CN" sz="2000" dirty="0"/>
              <a:t> it may remain in the state in which it happens to be </a:t>
            </a:r>
          </a:p>
          <a:p>
            <a:pPr marL="285750" indent="-285750">
              <a:buFont typeface="Wingdings" panose="05000000000000000000" pitchFamily="2" charset="2"/>
              <a:buChar char="ü"/>
            </a:pPr>
            <a:r>
              <a:rPr lang="en-US" altLang="zh-CN" sz="2000" dirty="0"/>
              <a:t>it may change of its own accord to some other state</a:t>
            </a:r>
            <a:endParaRPr lang="zh-CN" altLang="en-US" sz="2000" dirty="0"/>
          </a:p>
        </p:txBody>
      </p:sp>
      <p:sp>
        <p:nvSpPr>
          <p:cNvPr id="7" name="矩形 6"/>
          <p:cNvSpPr/>
          <p:nvPr/>
        </p:nvSpPr>
        <p:spPr>
          <a:xfrm>
            <a:off x="1394076" y="4929996"/>
            <a:ext cx="5912196" cy="369332"/>
          </a:xfrm>
          <a:prstGeom prst="rect">
            <a:avLst/>
          </a:prstGeom>
          <a:solidFill>
            <a:schemeClr val="accent6">
              <a:lumMod val="20000"/>
              <a:lumOff val="80000"/>
            </a:schemeClr>
          </a:solidFill>
        </p:spPr>
        <p:txBody>
          <a:bodyPr wrap="none">
            <a:spAutoFit/>
          </a:bodyPr>
          <a:lstStyle/>
          <a:p>
            <a:r>
              <a:rPr lang="en-US" altLang="zh-CN" b="1" dirty="0">
                <a:solidFill>
                  <a:srgbClr val="FF0000"/>
                </a:solidFill>
              </a:rPr>
              <a:t>Entropy</a:t>
            </a:r>
            <a:r>
              <a:rPr lang="en-US" altLang="zh-CN" dirty="0">
                <a:solidFill>
                  <a:srgbClr val="FF0000"/>
                </a:solidFill>
              </a:rPr>
              <a:t>, </a:t>
            </a:r>
            <a:r>
              <a:rPr lang="en-US" altLang="zh-CN" dirty="0">
                <a:latin typeface="Arial Unicode MS" pitchFamily="34" charset="-122"/>
                <a:ea typeface="Arial Unicode MS" pitchFamily="34" charset="-122"/>
                <a:cs typeface="Arial Unicode MS" pitchFamily="34" charset="-122"/>
              </a:rPr>
              <a:t>the quantification of the Irreversible Processes </a:t>
            </a:r>
            <a:endParaRPr lang="zh-CN" altLang="en-US" dirty="0">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29126752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0197" y="205436"/>
            <a:ext cx="5062604" cy="523220"/>
          </a:xfrm>
          <a:prstGeom prst="rect">
            <a:avLst/>
          </a:prstGeom>
          <a:noFill/>
        </p:spPr>
        <p:txBody>
          <a:bodyPr wrap="none" rtlCol="0">
            <a:spAutoFit/>
          </a:bodyPr>
          <a:lstStyle/>
          <a:p>
            <a:r>
              <a:rPr lang="en-US" altLang="zh-CN" sz="2800" dirty="0">
                <a:solidFill>
                  <a:srgbClr val="FF0000"/>
                </a:solidFill>
              </a:rPr>
              <a:t>Who give the name of Entropy?</a:t>
            </a:r>
            <a:endParaRPr lang="zh-CN" altLang="en-US" sz="2800" dirty="0">
              <a:solidFill>
                <a:srgbClr val="FF0000"/>
              </a:solidFill>
            </a:endParaRPr>
          </a:p>
        </p:txBody>
      </p:sp>
      <p:sp>
        <p:nvSpPr>
          <p:cNvPr id="3" name="矩形 2"/>
          <p:cNvSpPr/>
          <p:nvPr/>
        </p:nvSpPr>
        <p:spPr>
          <a:xfrm>
            <a:off x="310550" y="1277517"/>
            <a:ext cx="5598543" cy="1477328"/>
          </a:xfrm>
          <a:prstGeom prst="rect">
            <a:avLst/>
          </a:prstGeom>
        </p:spPr>
        <p:txBody>
          <a:bodyPr wrap="square">
            <a:spAutoFit/>
          </a:bodyPr>
          <a:lstStyle/>
          <a:p>
            <a:r>
              <a:rPr lang="en-US" altLang="zh-CN" dirty="0"/>
              <a:t>In 1865, </a:t>
            </a:r>
          </a:p>
          <a:p>
            <a:r>
              <a:rPr lang="en-US" altLang="zh-CN" dirty="0" err="1"/>
              <a:t>Clausius</a:t>
            </a:r>
            <a:r>
              <a:rPr lang="en-US" altLang="zh-CN" dirty="0"/>
              <a:t> named the concept of </a:t>
            </a:r>
            <a:r>
              <a:rPr lang="en-US" altLang="zh-CN" i="1" dirty="0"/>
              <a:t>S</a:t>
            </a:r>
            <a:r>
              <a:rPr lang="en-US" altLang="zh-CN" dirty="0"/>
              <a:t>, "the differential of a quantity which depends on the configuration of the system", </a:t>
            </a:r>
            <a:r>
              <a:rPr lang="en-US" altLang="zh-CN" i="1" dirty="0">
                <a:hlinkClick r:id="rId2" tooltip="wikt:entropy"/>
              </a:rPr>
              <a:t>entropy</a:t>
            </a:r>
            <a:r>
              <a:rPr lang="en-US" altLang="zh-CN" dirty="0"/>
              <a:t> (</a:t>
            </a:r>
            <a:r>
              <a:rPr lang="en-US" altLang="zh-CN" i="1" dirty="0" err="1"/>
              <a:t>Entropie</a:t>
            </a:r>
            <a:r>
              <a:rPr lang="en-US" altLang="zh-CN" dirty="0"/>
              <a:t>) after the Greek work for 'transformation'.</a:t>
            </a:r>
          </a:p>
        </p:txBody>
      </p:sp>
      <p:sp>
        <p:nvSpPr>
          <p:cNvPr id="4" name="矩形 3"/>
          <p:cNvSpPr/>
          <p:nvPr/>
        </p:nvSpPr>
        <p:spPr>
          <a:xfrm>
            <a:off x="362309" y="3702566"/>
            <a:ext cx="5943600" cy="646331"/>
          </a:xfrm>
          <a:prstGeom prst="rect">
            <a:avLst/>
          </a:prstGeom>
        </p:spPr>
        <p:txBody>
          <a:bodyPr wrap="square">
            <a:spAutoFit/>
          </a:bodyPr>
          <a:lstStyle/>
          <a:p>
            <a:r>
              <a:rPr lang="en-US" altLang="zh-CN" i="1" dirty="0"/>
              <a:t>“</a:t>
            </a:r>
            <a:r>
              <a:rPr lang="en-US" altLang="zh-CN" b="1" i="1" dirty="0">
                <a:solidFill>
                  <a:srgbClr val="0000FF"/>
                </a:solidFill>
              </a:rPr>
              <a:t>The energy of the universe is constant.</a:t>
            </a:r>
            <a:br>
              <a:rPr lang="en-US" altLang="zh-CN" b="1" dirty="0">
                <a:solidFill>
                  <a:srgbClr val="FF0000"/>
                </a:solidFill>
              </a:rPr>
            </a:br>
            <a:r>
              <a:rPr lang="en-US" altLang="zh-CN" b="1" i="1" dirty="0">
                <a:solidFill>
                  <a:srgbClr val="FF0000"/>
                </a:solidFill>
              </a:rPr>
              <a:t>The entropy of the universe tends to a maximum.”</a:t>
            </a:r>
            <a:endParaRPr lang="en-US" altLang="zh-CN" b="1" dirty="0">
              <a:solidFill>
                <a:srgbClr val="FF0000"/>
              </a:solidFill>
            </a:endParaRPr>
          </a:p>
        </p:txBody>
      </p:sp>
      <p:pic>
        <p:nvPicPr>
          <p:cNvPr id="686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4047" y="1371600"/>
            <a:ext cx="2095500" cy="248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6662240" y="3918010"/>
            <a:ext cx="1877437" cy="830997"/>
          </a:xfrm>
          <a:prstGeom prst="rect">
            <a:avLst/>
          </a:prstGeom>
        </p:spPr>
        <p:txBody>
          <a:bodyPr wrap="none">
            <a:spAutoFit/>
          </a:bodyPr>
          <a:lstStyle/>
          <a:p>
            <a:pPr algn="ctr"/>
            <a:r>
              <a:rPr lang="en-US" altLang="zh-CN" sz="1600" b="1" dirty="0"/>
              <a:t>Rudolf </a:t>
            </a:r>
            <a:r>
              <a:rPr lang="en-US" altLang="zh-CN" sz="1600" b="1" dirty="0" err="1"/>
              <a:t>Clausius</a:t>
            </a:r>
            <a:endParaRPr lang="en-US" altLang="zh-CN" sz="1600" b="1" dirty="0"/>
          </a:p>
          <a:p>
            <a:pPr algn="ctr"/>
            <a:r>
              <a:rPr lang="en-US" altLang="zh-CN" sz="1600" b="1" dirty="0"/>
              <a:t>Germany Physicist</a:t>
            </a:r>
          </a:p>
          <a:p>
            <a:pPr algn="ctr"/>
            <a:r>
              <a:rPr lang="en-US" altLang="zh-CN" sz="1600" dirty="0"/>
              <a:t>(1822-1888)</a:t>
            </a:r>
            <a:endParaRPr lang="zh-CN" altLang="en-US" sz="1600" dirty="0"/>
          </a:p>
        </p:txBody>
      </p:sp>
    </p:spTree>
    <p:extLst>
      <p:ext uri="{BB962C8B-B14F-4D97-AF65-F5344CB8AC3E}">
        <p14:creationId xmlns:p14="http://schemas.microsoft.com/office/powerpoint/2010/main" val="11856612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文本框 42">
            <a:extLst>
              <a:ext uri="{FF2B5EF4-FFF2-40B4-BE49-F238E27FC236}">
                <a16:creationId xmlns:a16="http://schemas.microsoft.com/office/drawing/2014/main" id="{78F4CF6F-60D2-4A98-9529-D1C0B9EDE91B}"/>
              </a:ext>
            </a:extLst>
          </p:cNvPr>
          <p:cNvSpPr txBox="1"/>
          <p:nvPr/>
        </p:nvSpPr>
        <p:spPr>
          <a:xfrm>
            <a:off x="88752" y="254394"/>
            <a:ext cx="6106159" cy="523220"/>
          </a:xfrm>
          <a:prstGeom prst="rect">
            <a:avLst/>
          </a:prstGeom>
          <a:noFill/>
        </p:spPr>
        <p:txBody>
          <a:bodyPr wrap="none" rtlCol="0">
            <a:spAutoFit/>
          </a:bodyPr>
          <a:lstStyle/>
          <a:p>
            <a:r>
              <a:rPr lang="en-US" altLang="zh-CN" sz="2800" dirty="0">
                <a:solidFill>
                  <a:srgbClr val="FF0000"/>
                </a:solidFill>
              </a:rPr>
              <a:t>The mathematic form of 2</a:t>
            </a:r>
            <a:r>
              <a:rPr lang="en-US" altLang="zh-CN" sz="2800" baseline="30000" dirty="0">
                <a:solidFill>
                  <a:srgbClr val="FF0000"/>
                </a:solidFill>
              </a:rPr>
              <a:t>nd</a:t>
            </a:r>
            <a:r>
              <a:rPr lang="en-US" altLang="zh-CN" sz="2800" dirty="0">
                <a:solidFill>
                  <a:srgbClr val="FF0000"/>
                </a:solidFill>
              </a:rPr>
              <a:t>  law of TD</a:t>
            </a:r>
            <a:endParaRPr lang="zh-CN" altLang="en-US" sz="2800" dirty="0">
              <a:solidFill>
                <a:srgbClr val="FF0000"/>
              </a:solidFill>
            </a:endParaRPr>
          </a:p>
        </p:txBody>
      </p:sp>
      <p:graphicFrame>
        <p:nvGraphicFramePr>
          <p:cNvPr id="44" name="对象 43">
            <a:extLst>
              <a:ext uri="{FF2B5EF4-FFF2-40B4-BE49-F238E27FC236}">
                <a16:creationId xmlns:a16="http://schemas.microsoft.com/office/drawing/2014/main" id="{0586E78F-1E47-4CFF-A083-ADF0980C083D}"/>
              </a:ext>
            </a:extLst>
          </p:cNvPr>
          <p:cNvGraphicFramePr>
            <a:graphicFrameLocks noChangeAspect="1"/>
          </p:cNvGraphicFramePr>
          <p:nvPr>
            <p:extLst>
              <p:ext uri="{D42A27DB-BD31-4B8C-83A1-F6EECF244321}">
                <p14:modId xmlns:p14="http://schemas.microsoft.com/office/powerpoint/2010/main" val="3889007478"/>
              </p:ext>
            </p:extLst>
          </p:nvPr>
        </p:nvGraphicFramePr>
        <p:xfrm>
          <a:off x="1536699" y="1381730"/>
          <a:ext cx="2206625" cy="912209"/>
        </p:xfrm>
        <a:graphic>
          <a:graphicData uri="http://schemas.openxmlformats.org/presentationml/2006/ole">
            <mc:AlternateContent xmlns:mc="http://schemas.openxmlformats.org/markup-compatibility/2006">
              <mc:Choice xmlns:v="urn:schemas-microsoft-com:vml" Requires="v">
                <p:oleObj name="Equation" r:id="rId2" imgW="431640" imgH="177480" progId="Equation.DSMT4">
                  <p:embed/>
                </p:oleObj>
              </mc:Choice>
              <mc:Fallback>
                <p:oleObj name="Equation" r:id="rId2" imgW="431640" imgH="177480" progId="Equation.DSMT4">
                  <p:embed/>
                  <p:pic>
                    <p:nvPicPr>
                      <p:cNvPr id="0" name=""/>
                      <p:cNvPicPr>
                        <a:picLocks noChangeAspect="1" noChangeArrowheads="1"/>
                      </p:cNvPicPr>
                      <p:nvPr/>
                    </p:nvPicPr>
                    <p:blipFill>
                      <a:blip r:embed="rId3"/>
                      <a:srcRect/>
                      <a:stretch>
                        <a:fillRect/>
                      </a:stretch>
                    </p:blipFill>
                    <p:spPr bwMode="auto">
                      <a:xfrm>
                        <a:off x="1536699" y="1381730"/>
                        <a:ext cx="2206625" cy="912209"/>
                      </a:xfrm>
                      <a:prstGeom prst="rect">
                        <a:avLst/>
                      </a:prstGeom>
                      <a:solidFill>
                        <a:schemeClr val="accent6">
                          <a:lumMod val="20000"/>
                          <a:lumOff val="80000"/>
                        </a:schemeClr>
                      </a:solidFill>
                    </p:spPr>
                  </p:pic>
                </p:oleObj>
              </mc:Fallback>
            </mc:AlternateContent>
          </a:graphicData>
        </a:graphic>
      </p:graphicFrame>
      <p:sp>
        <p:nvSpPr>
          <p:cNvPr id="4" name="文本框 3">
            <a:extLst>
              <a:ext uri="{FF2B5EF4-FFF2-40B4-BE49-F238E27FC236}">
                <a16:creationId xmlns:a16="http://schemas.microsoft.com/office/drawing/2014/main" id="{CD2CA581-7EC7-44D0-8C4B-0F564ABB6C27}"/>
              </a:ext>
            </a:extLst>
          </p:cNvPr>
          <p:cNvSpPr txBox="1"/>
          <p:nvPr/>
        </p:nvSpPr>
        <p:spPr>
          <a:xfrm>
            <a:off x="1053952" y="2978952"/>
            <a:ext cx="5880248" cy="646331"/>
          </a:xfrm>
          <a:prstGeom prst="rect">
            <a:avLst/>
          </a:prstGeom>
          <a:noFill/>
        </p:spPr>
        <p:txBody>
          <a:bodyPr wrap="square" rtlCol="0">
            <a:spAutoFit/>
          </a:bodyPr>
          <a:lstStyle/>
          <a:p>
            <a:r>
              <a:rPr lang="en-US" altLang="zh-CN" dirty="0"/>
              <a:t>For close system subjected to spontaneous processes, it will have the change of entropy large or equal to zero </a:t>
            </a:r>
            <a:endParaRPr lang="zh-CN" altLang="en-US" dirty="0"/>
          </a:p>
        </p:txBody>
      </p:sp>
      <p:sp>
        <p:nvSpPr>
          <p:cNvPr id="45" name="TextBox 10">
            <a:extLst>
              <a:ext uri="{FF2B5EF4-FFF2-40B4-BE49-F238E27FC236}">
                <a16:creationId xmlns:a16="http://schemas.microsoft.com/office/drawing/2014/main" id="{960B0CE4-E0EE-44BA-BE9E-09569D056DBA}"/>
              </a:ext>
            </a:extLst>
          </p:cNvPr>
          <p:cNvSpPr txBox="1"/>
          <p:nvPr/>
        </p:nvSpPr>
        <p:spPr>
          <a:xfrm>
            <a:off x="720375" y="4085492"/>
            <a:ext cx="7177029" cy="1697068"/>
          </a:xfrm>
          <a:prstGeom prst="rect">
            <a:avLst/>
          </a:prstGeom>
          <a:noFill/>
        </p:spPr>
        <p:txBody>
          <a:bodyPr wrap="none" rtlCol="0">
            <a:spAutoFit/>
          </a:bodyPr>
          <a:lstStyle/>
          <a:p>
            <a:pPr>
              <a:lnSpc>
                <a:spcPct val="150000"/>
              </a:lnSpc>
            </a:pPr>
            <a:r>
              <a:rPr lang="en-US" altLang="zh-CN" sz="2400" dirty="0"/>
              <a:t>Time is  asymmetry !</a:t>
            </a:r>
          </a:p>
          <a:p>
            <a:pPr>
              <a:lnSpc>
                <a:spcPct val="150000"/>
              </a:lnSpc>
            </a:pPr>
            <a:r>
              <a:rPr lang="en-US" altLang="zh-CN" sz="2400" dirty="0"/>
              <a:t>The beginning of the world should be perfect!</a:t>
            </a:r>
          </a:p>
          <a:p>
            <a:pPr>
              <a:lnSpc>
                <a:spcPct val="150000"/>
              </a:lnSpc>
            </a:pPr>
            <a:r>
              <a:rPr lang="en-US" altLang="zh-CN" sz="2400" dirty="0"/>
              <a:t>The world might be end up with mess if without “God”! </a:t>
            </a:r>
            <a:endParaRPr lang="zh-CN" altLang="en-US" sz="2400" dirty="0"/>
          </a:p>
        </p:txBody>
      </p:sp>
      <p:pic>
        <p:nvPicPr>
          <p:cNvPr id="46" name="Picture 2" descr="See the source image">
            <a:extLst>
              <a:ext uri="{FF2B5EF4-FFF2-40B4-BE49-F238E27FC236}">
                <a16:creationId xmlns:a16="http://schemas.microsoft.com/office/drawing/2014/main" id="{AE28808C-F2E0-47DD-9346-24186CE36AD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72427" y="989966"/>
            <a:ext cx="2841301" cy="17825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62770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258" y="1215876"/>
            <a:ext cx="5759750" cy="2345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65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7057" y="3673234"/>
            <a:ext cx="4514850" cy="256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本框 2">
            <a:extLst>
              <a:ext uri="{FF2B5EF4-FFF2-40B4-BE49-F238E27FC236}">
                <a16:creationId xmlns:a16="http://schemas.microsoft.com/office/drawing/2014/main" id="{FED6053E-978D-4991-AB8F-933AAE5B27DA}"/>
              </a:ext>
            </a:extLst>
          </p:cNvPr>
          <p:cNvSpPr txBox="1"/>
          <p:nvPr/>
        </p:nvSpPr>
        <p:spPr>
          <a:xfrm>
            <a:off x="306716" y="66081"/>
            <a:ext cx="2972289" cy="584775"/>
          </a:xfrm>
          <a:prstGeom prst="rect">
            <a:avLst/>
          </a:prstGeom>
          <a:noFill/>
        </p:spPr>
        <p:txBody>
          <a:bodyPr wrap="none" rtlCol="0">
            <a:spAutoFit/>
          </a:bodyPr>
          <a:lstStyle/>
          <a:p>
            <a:r>
              <a:rPr lang="en-US" altLang="zh-CN" sz="3200" dirty="0">
                <a:solidFill>
                  <a:srgbClr val="FF0000"/>
                </a:solidFill>
              </a:rPr>
              <a:t>Entropy and Art</a:t>
            </a:r>
            <a:endParaRPr lang="zh-CN" altLang="en-US" sz="3200" dirty="0">
              <a:solidFill>
                <a:srgbClr val="FF0000"/>
              </a:solidFill>
            </a:endParaRPr>
          </a:p>
        </p:txBody>
      </p:sp>
    </p:spTree>
    <p:extLst>
      <p:ext uri="{BB962C8B-B14F-4D97-AF65-F5344CB8AC3E}">
        <p14:creationId xmlns:p14="http://schemas.microsoft.com/office/powerpoint/2010/main" val="13131361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5751DAD-2EA0-4F85-A2EC-F85D82A40D03}"/>
              </a:ext>
            </a:extLst>
          </p:cNvPr>
          <p:cNvPicPr>
            <a:picLocks noChangeAspect="1"/>
          </p:cNvPicPr>
          <p:nvPr/>
        </p:nvPicPr>
        <p:blipFill>
          <a:blip r:embed="rId2"/>
          <a:stretch>
            <a:fillRect/>
          </a:stretch>
        </p:blipFill>
        <p:spPr>
          <a:xfrm>
            <a:off x="3330324" y="767749"/>
            <a:ext cx="4381691" cy="5050941"/>
          </a:xfrm>
          <a:prstGeom prst="rect">
            <a:avLst/>
          </a:prstGeom>
        </p:spPr>
      </p:pic>
      <p:sp>
        <p:nvSpPr>
          <p:cNvPr id="3" name="文本框 2">
            <a:extLst>
              <a:ext uri="{FF2B5EF4-FFF2-40B4-BE49-F238E27FC236}">
                <a16:creationId xmlns:a16="http://schemas.microsoft.com/office/drawing/2014/main" id="{FED6053E-978D-4991-AB8F-933AAE5B27DA}"/>
              </a:ext>
            </a:extLst>
          </p:cNvPr>
          <p:cNvSpPr txBox="1"/>
          <p:nvPr/>
        </p:nvSpPr>
        <p:spPr>
          <a:xfrm>
            <a:off x="178464" y="5101"/>
            <a:ext cx="4166525" cy="584775"/>
          </a:xfrm>
          <a:prstGeom prst="rect">
            <a:avLst/>
          </a:prstGeom>
          <a:noFill/>
        </p:spPr>
        <p:txBody>
          <a:bodyPr wrap="none" rtlCol="0">
            <a:spAutoFit/>
          </a:bodyPr>
          <a:lstStyle/>
          <a:p>
            <a:r>
              <a:rPr lang="en-US" altLang="zh-CN" sz="3200" dirty="0">
                <a:solidFill>
                  <a:srgbClr val="FF0000"/>
                </a:solidFill>
              </a:rPr>
              <a:t>Entropy is every where</a:t>
            </a:r>
            <a:endParaRPr lang="zh-CN" altLang="en-US" sz="3200" dirty="0">
              <a:solidFill>
                <a:srgbClr val="FF0000"/>
              </a:solidFill>
            </a:endParaRPr>
          </a:p>
        </p:txBody>
      </p:sp>
      <p:sp>
        <p:nvSpPr>
          <p:cNvPr id="4" name="文本框 3">
            <a:extLst>
              <a:ext uri="{FF2B5EF4-FFF2-40B4-BE49-F238E27FC236}">
                <a16:creationId xmlns:a16="http://schemas.microsoft.com/office/drawing/2014/main" id="{23D74319-8B64-4591-A233-7C898FE1E2BF}"/>
              </a:ext>
            </a:extLst>
          </p:cNvPr>
          <p:cNvSpPr txBox="1"/>
          <p:nvPr/>
        </p:nvSpPr>
        <p:spPr>
          <a:xfrm>
            <a:off x="313359" y="2079821"/>
            <a:ext cx="2488019" cy="923330"/>
          </a:xfrm>
          <a:prstGeom prst="rect">
            <a:avLst/>
          </a:prstGeom>
          <a:noFill/>
        </p:spPr>
        <p:txBody>
          <a:bodyPr wrap="square" rtlCol="0">
            <a:spAutoFit/>
          </a:bodyPr>
          <a:lstStyle/>
          <a:p>
            <a:r>
              <a:rPr lang="en-US" altLang="zh-CN" dirty="0">
                <a:solidFill>
                  <a:srgbClr val="FF0000"/>
                </a:solidFill>
              </a:rPr>
              <a:t>A quantity description of loss during the irreversible process!</a:t>
            </a:r>
            <a:endParaRPr lang="zh-CN" altLang="en-US" dirty="0">
              <a:solidFill>
                <a:srgbClr val="FF0000"/>
              </a:solidFill>
            </a:endParaRPr>
          </a:p>
        </p:txBody>
      </p:sp>
    </p:spTree>
    <p:extLst>
      <p:ext uri="{BB962C8B-B14F-4D97-AF65-F5344CB8AC3E}">
        <p14:creationId xmlns:p14="http://schemas.microsoft.com/office/powerpoint/2010/main" val="17970894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20133" y="2751666"/>
            <a:ext cx="4015036" cy="2082800"/>
          </a:xfrm>
          <a:prstGeom prst="rect">
            <a:avLst/>
          </a:prstGeom>
        </p:spPr>
      </p:pic>
      <p:sp>
        <p:nvSpPr>
          <p:cNvPr id="3" name="文本框 2"/>
          <p:cNvSpPr txBox="1"/>
          <p:nvPr/>
        </p:nvSpPr>
        <p:spPr>
          <a:xfrm>
            <a:off x="220133" y="341604"/>
            <a:ext cx="1947969" cy="400110"/>
          </a:xfrm>
          <a:prstGeom prst="rect">
            <a:avLst/>
          </a:prstGeom>
          <a:noFill/>
        </p:spPr>
        <p:txBody>
          <a:bodyPr wrap="none" rtlCol="0">
            <a:spAutoFit/>
          </a:bodyPr>
          <a:lstStyle/>
          <a:p>
            <a:r>
              <a:rPr lang="en-US" altLang="zh-CN" sz="2000" dirty="0">
                <a:solidFill>
                  <a:srgbClr val="FF0000"/>
                </a:solidFill>
              </a:rPr>
              <a:t>Open question: </a:t>
            </a:r>
            <a:endParaRPr lang="zh-CN" altLang="en-US" sz="2000" dirty="0">
              <a:solidFill>
                <a:srgbClr val="FF0000"/>
              </a:solidFill>
            </a:endParaRPr>
          </a:p>
        </p:txBody>
      </p:sp>
      <p:sp>
        <p:nvSpPr>
          <p:cNvPr id="4" name="文本框 3"/>
          <p:cNvSpPr txBox="1"/>
          <p:nvPr/>
        </p:nvSpPr>
        <p:spPr>
          <a:xfrm>
            <a:off x="364066" y="2006600"/>
            <a:ext cx="2600392" cy="400110"/>
          </a:xfrm>
          <a:prstGeom prst="rect">
            <a:avLst/>
          </a:prstGeom>
          <a:noFill/>
        </p:spPr>
        <p:txBody>
          <a:bodyPr wrap="none" rtlCol="0">
            <a:spAutoFit/>
          </a:bodyPr>
          <a:lstStyle/>
          <a:p>
            <a:r>
              <a:rPr lang="en-US" altLang="zh-CN" sz="2000" dirty="0"/>
              <a:t>The end of the world?</a:t>
            </a:r>
            <a:endParaRPr lang="zh-CN" altLang="en-US" sz="2000" dirty="0"/>
          </a:p>
        </p:txBody>
      </p:sp>
      <p:sp>
        <p:nvSpPr>
          <p:cNvPr id="5" name="AutoShape 2" descr="See the source 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70660" name="Picture 4" descr="See the source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4509" y="2731234"/>
            <a:ext cx="3849158" cy="2103232"/>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p:cNvSpPr txBox="1"/>
          <p:nvPr/>
        </p:nvSpPr>
        <p:spPr>
          <a:xfrm>
            <a:off x="4477338" y="1868100"/>
            <a:ext cx="4666662" cy="646331"/>
          </a:xfrm>
          <a:prstGeom prst="rect">
            <a:avLst/>
          </a:prstGeom>
          <a:noFill/>
        </p:spPr>
        <p:txBody>
          <a:bodyPr wrap="none" rtlCol="0">
            <a:spAutoFit/>
          </a:bodyPr>
          <a:lstStyle/>
          <a:p>
            <a:r>
              <a:rPr lang="en-US" altLang="zh-CN" dirty="0"/>
              <a:t>If the entropy increase is the time direction, </a:t>
            </a:r>
          </a:p>
          <a:p>
            <a:r>
              <a:rPr lang="en-US" altLang="zh-CN" dirty="0"/>
              <a:t>Why nature life and human being appearing?</a:t>
            </a:r>
            <a:endParaRPr lang="zh-CN" altLang="en-US" dirty="0"/>
          </a:p>
        </p:txBody>
      </p:sp>
    </p:spTree>
    <p:extLst>
      <p:ext uri="{BB962C8B-B14F-4D97-AF65-F5344CB8AC3E}">
        <p14:creationId xmlns:p14="http://schemas.microsoft.com/office/powerpoint/2010/main" val="39008020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7672" y="2932867"/>
            <a:ext cx="7886700" cy="867940"/>
          </a:xfrm>
        </p:spPr>
        <p:txBody>
          <a:bodyPr>
            <a:normAutofit/>
          </a:bodyPr>
          <a:lstStyle/>
          <a:p>
            <a:r>
              <a:rPr lang="en-US" altLang="zh-CN" sz="3600" dirty="0">
                <a:solidFill>
                  <a:srgbClr val="FF0000"/>
                </a:solidFill>
              </a:rPr>
              <a:t>6. </a:t>
            </a:r>
            <a:r>
              <a:rPr lang="en-US" altLang="zh-CN" sz="3600" dirty="0">
                <a:solidFill>
                  <a:srgbClr val="FF0000"/>
                </a:solidFill>
                <a:effectLst>
                  <a:outerShdw blurRad="38100" dist="38100" dir="2700000" algn="tl">
                    <a:srgbClr val="000000">
                      <a:alpha val="43137"/>
                    </a:srgbClr>
                  </a:outerShdw>
                </a:effectLst>
              </a:rPr>
              <a:t>Quality of Energy</a:t>
            </a:r>
            <a:endParaRPr lang="en-US" altLang="zh-CN" sz="3600" dirty="0">
              <a:solidFill>
                <a:srgbClr val="FF0000"/>
              </a:solidFill>
            </a:endParaRPr>
          </a:p>
        </p:txBody>
      </p:sp>
      <p:sp>
        <p:nvSpPr>
          <p:cNvPr id="3" name="矩形 2"/>
          <p:cNvSpPr/>
          <p:nvPr/>
        </p:nvSpPr>
        <p:spPr>
          <a:xfrm>
            <a:off x="1061208" y="4347406"/>
            <a:ext cx="6639886" cy="369332"/>
          </a:xfrm>
          <a:prstGeom prst="rect">
            <a:avLst/>
          </a:prstGeom>
        </p:spPr>
        <p:txBody>
          <a:bodyPr wrap="square">
            <a:spAutoFit/>
          </a:bodyPr>
          <a:lstStyle/>
          <a:p>
            <a:r>
              <a:rPr lang="en-US" altLang="zh-CN" b="1" dirty="0">
                <a:solidFill>
                  <a:srgbClr val="0000FF"/>
                </a:solidFill>
              </a:rPr>
              <a:t>Ref. Thermodynamics: A Engineering approach, Chapter 8</a:t>
            </a:r>
            <a:r>
              <a:rPr lang="zh-CN" altLang="en-US" b="1" dirty="0">
                <a:solidFill>
                  <a:srgbClr val="0000FF"/>
                </a:solidFill>
              </a:rPr>
              <a:t> </a:t>
            </a:r>
            <a:endParaRPr lang="zh-CN" altLang="en-US" dirty="0">
              <a:solidFill>
                <a:srgbClr val="0000FF"/>
              </a:solidFill>
            </a:endParaRP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850" y="2745450"/>
            <a:ext cx="788400" cy="1159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03608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6A792-35F3-49F0-9D85-935AF0772674}"/>
              </a:ext>
            </a:extLst>
          </p:cNvPr>
          <p:cNvSpPr txBox="1"/>
          <p:nvPr/>
        </p:nvSpPr>
        <p:spPr bwMode="auto">
          <a:xfrm>
            <a:off x="238126" y="150685"/>
            <a:ext cx="3219808" cy="426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lstStyle>
            <a:lvl1pPr algn="l" defTabSz="457200" rtl="0" eaLnBrk="1" fontAlgn="base" hangingPunct="1">
              <a:lnSpc>
                <a:spcPct val="100000"/>
              </a:lnSpc>
              <a:spcBef>
                <a:spcPct val="0"/>
              </a:spcBef>
              <a:spcAft>
                <a:spcPct val="0"/>
              </a:spcAft>
              <a:defRPr sz="3600" kern="1200">
                <a:solidFill>
                  <a:srgbClr val="295467"/>
                </a:solidFill>
                <a:latin typeface="Arial" panose="020B0604020202020204"/>
                <a:ea typeface="Geneva" pitchFamily="-107" charset="-128"/>
                <a:cs typeface="Arial" panose="020B0604020202020204"/>
              </a:defRPr>
            </a:lvl1pPr>
            <a:lvl2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anose="020B0604020202020204" pitchFamily="34"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anose="020B0604020202020204" pitchFamily="34" charset="0"/>
                <a:ea typeface="Geneva" pitchFamily="-107" charset="-128"/>
              </a:defRPr>
            </a:lvl9pPr>
          </a:lstStyle>
          <a:p>
            <a:r>
              <a:rPr lang="en-US" altLang="zh-CN" sz="2800" dirty="0" err="1">
                <a:solidFill>
                  <a:srgbClr val="FF0000"/>
                </a:solidFill>
              </a:rPr>
              <a:t>Clausius</a:t>
            </a:r>
            <a:r>
              <a:rPr lang="en-US" altLang="zh-CN" sz="2800" dirty="0">
                <a:solidFill>
                  <a:srgbClr val="FF0000"/>
                </a:solidFill>
              </a:rPr>
              <a:t> inequality</a:t>
            </a:r>
          </a:p>
        </p:txBody>
      </p:sp>
      <p:pic>
        <p:nvPicPr>
          <p:cNvPr id="4" name="Picture 3">
            <a:extLst>
              <a:ext uri="{FF2B5EF4-FFF2-40B4-BE49-F238E27FC236}">
                <a16:creationId xmlns:a16="http://schemas.microsoft.com/office/drawing/2014/main" id="{F7F29375-2B81-4BA7-B6F6-0CED76F6D4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126" y="1543320"/>
            <a:ext cx="1951634" cy="1613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11">
            <a:extLst>
              <a:ext uri="{FF2B5EF4-FFF2-40B4-BE49-F238E27FC236}">
                <a16:creationId xmlns:a16="http://schemas.microsoft.com/office/drawing/2014/main" id="{C539E86B-E58D-4FAB-9E4D-3FE42EDAFECD}"/>
              </a:ext>
            </a:extLst>
          </p:cNvPr>
          <p:cNvSpPr txBox="1">
            <a:spLocks noChangeArrowheads="1"/>
          </p:cNvSpPr>
          <p:nvPr/>
        </p:nvSpPr>
        <p:spPr bwMode="auto">
          <a:xfrm>
            <a:off x="238126" y="851449"/>
            <a:ext cx="4495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eaLnBrk="1" hangingPunct="1"/>
            <a:r>
              <a:rPr lang="en-US" altLang="zh-CN" sz="1600" dirty="0">
                <a:solidFill>
                  <a:srgbClr val="000000"/>
                </a:solidFill>
                <a:ea typeface="宋体" panose="02010600030101010101" pitchFamily="2" charset="-122"/>
              </a:rPr>
              <a:t>For </a:t>
            </a:r>
            <a:r>
              <a:rPr lang="en-US" altLang="zh-CN" sz="1600" dirty="0">
                <a:solidFill>
                  <a:srgbClr val="FF0000"/>
                </a:solidFill>
                <a:ea typeface="宋体" panose="02010600030101010101" pitchFamily="2" charset="-122"/>
              </a:rPr>
              <a:t>any</a:t>
            </a:r>
            <a:r>
              <a:rPr lang="en-US" altLang="zh-CN" sz="1600" dirty="0">
                <a:solidFill>
                  <a:srgbClr val="000000"/>
                </a:solidFill>
                <a:ea typeface="宋体" panose="02010600030101010101" pitchFamily="2" charset="-122"/>
              </a:rPr>
              <a:t> </a:t>
            </a:r>
            <a:r>
              <a:rPr lang="en-US" altLang="zh-CN" sz="1600" dirty="0">
                <a:solidFill>
                  <a:srgbClr val="FF0000"/>
                </a:solidFill>
                <a:ea typeface="宋体" panose="02010600030101010101" pitchFamily="2" charset="-122"/>
              </a:rPr>
              <a:t>reversible cyclic process </a:t>
            </a:r>
          </a:p>
          <a:p>
            <a:pPr defTabSz="914400" eaLnBrk="1" hangingPunct="1"/>
            <a:r>
              <a:rPr lang="en-US" altLang="zh-CN" sz="1600" dirty="0">
                <a:solidFill>
                  <a:srgbClr val="000000"/>
                </a:solidFill>
                <a:ea typeface="宋体" panose="02010600030101010101" pitchFamily="2" charset="-122"/>
              </a:rPr>
              <a:t>the sum of a number of Carnot cycles.</a:t>
            </a:r>
          </a:p>
        </p:txBody>
      </p:sp>
      <p:graphicFrame>
        <p:nvGraphicFramePr>
          <p:cNvPr id="6" name="对象 5">
            <a:extLst>
              <a:ext uri="{FF2B5EF4-FFF2-40B4-BE49-F238E27FC236}">
                <a16:creationId xmlns:a16="http://schemas.microsoft.com/office/drawing/2014/main" id="{8B846231-1F4B-4CBE-9742-3EA4A102C2D2}"/>
              </a:ext>
            </a:extLst>
          </p:cNvPr>
          <p:cNvGraphicFramePr>
            <a:graphicFrameLocks noChangeAspect="1"/>
          </p:cNvGraphicFramePr>
          <p:nvPr/>
        </p:nvGraphicFramePr>
        <p:xfrm>
          <a:off x="2609673" y="1573770"/>
          <a:ext cx="804862" cy="1233743"/>
        </p:xfrm>
        <a:graphic>
          <a:graphicData uri="http://schemas.openxmlformats.org/presentationml/2006/ole">
            <mc:AlternateContent xmlns:mc="http://schemas.openxmlformats.org/markup-compatibility/2006">
              <mc:Choice xmlns:v="urn:schemas-microsoft-com:vml" Requires="v">
                <p:oleObj name="Equation" r:id="rId3" imgW="533400" imgH="812165" progId="Equation.DSMT4">
                  <p:embed/>
                </p:oleObj>
              </mc:Choice>
              <mc:Fallback>
                <p:oleObj name="Equation" r:id="rId3" imgW="533400" imgH="812165"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9673" y="1573770"/>
                        <a:ext cx="804862" cy="12337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11">
            <a:extLst>
              <a:ext uri="{FF2B5EF4-FFF2-40B4-BE49-F238E27FC236}">
                <a16:creationId xmlns:a16="http://schemas.microsoft.com/office/drawing/2014/main" id="{C539E86B-E58D-4FAB-9E4D-3FE42EDAFECD}"/>
              </a:ext>
            </a:extLst>
          </p:cNvPr>
          <p:cNvSpPr txBox="1">
            <a:spLocks noChangeArrowheads="1"/>
          </p:cNvSpPr>
          <p:nvPr/>
        </p:nvSpPr>
        <p:spPr bwMode="auto">
          <a:xfrm>
            <a:off x="4381501" y="861244"/>
            <a:ext cx="4495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defTabSz="914400" eaLnBrk="1" hangingPunct="1"/>
            <a:r>
              <a:rPr lang="en-US" altLang="zh-CN" sz="1600" dirty="0">
                <a:solidFill>
                  <a:srgbClr val="000000"/>
                </a:solidFill>
                <a:ea typeface="宋体" panose="02010600030101010101" pitchFamily="2" charset="-122"/>
              </a:rPr>
              <a:t>For </a:t>
            </a:r>
            <a:r>
              <a:rPr lang="en-US" altLang="zh-CN" sz="1600" dirty="0">
                <a:solidFill>
                  <a:srgbClr val="FF0000"/>
                </a:solidFill>
                <a:ea typeface="宋体" panose="02010600030101010101" pitchFamily="2" charset="-122"/>
              </a:rPr>
              <a:t>any cyclic process</a:t>
            </a:r>
            <a:r>
              <a:rPr lang="en-US" altLang="zh-CN" sz="1600" dirty="0">
                <a:solidFill>
                  <a:srgbClr val="000000"/>
                </a:solidFill>
                <a:ea typeface="宋体" panose="02010600030101010101" pitchFamily="2" charset="-122"/>
              </a:rPr>
              <a:t>, the cyclic integral of </a:t>
            </a:r>
            <a:r>
              <a:rPr lang="el-GR" altLang="zh-CN" sz="1600" dirty="0">
                <a:solidFill>
                  <a:srgbClr val="000000"/>
                </a:solidFill>
                <a:ea typeface="宋体" panose="02010600030101010101" pitchFamily="2" charset="-122"/>
              </a:rPr>
              <a:t>δ</a:t>
            </a:r>
            <a:r>
              <a:rPr lang="en-US" altLang="zh-CN" sz="1600" dirty="0">
                <a:solidFill>
                  <a:srgbClr val="000000"/>
                </a:solidFill>
                <a:ea typeface="宋体" panose="02010600030101010101" pitchFamily="2" charset="-122"/>
              </a:rPr>
              <a:t>Q/T is always less than or equal to zero.  </a:t>
            </a:r>
          </a:p>
        </p:txBody>
      </p:sp>
      <p:sp>
        <p:nvSpPr>
          <p:cNvPr id="12" name="TextBox 11"/>
          <p:cNvSpPr txBox="1"/>
          <p:nvPr/>
        </p:nvSpPr>
        <p:spPr>
          <a:xfrm>
            <a:off x="5856565" y="1821310"/>
            <a:ext cx="2108269" cy="369332"/>
          </a:xfrm>
          <a:prstGeom prst="rect">
            <a:avLst/>
          </a:prstGeom>
          <a:solidFill>
            <a:schemeClr val="accent2">
              <a:lumMod val="40000"/>
              <a:lumOff val="60000"/>
            </a:schemeClr>
          </a:solidFill>
        </p:spPr>
        <p:txBody>
          <a:bodyPr wrap="none" rtlCol="0">
            <a:spAutoFit/>
          </a:bodyPr>
          <a:lstStyle/>
          <a:p>
            <a:r>
              <a:rPr lang="en-US" altLang="zh-CN" dirty="0" err="1"/>
              <a:t>Clausius</a:t>
            </a:r>
            <a:r>
              <a:rPr lang="en-US" altLang="zh-CN" dirty="0"/>
              <a:t> inequality</a:t>
            </a:r>
            <a:endParaRPr lang="zh-CN" altLang="en-US" dirty="0"/>
          </a:p>
        </p:txBody>
      </p:sp>
      <p:sp>
        <p:nvSpPr>
          <p:cNvPr id="13" name="圆角矩形 12"/>
          <p:cNvSpPr/>
          <p:nvPr/>
        </p:nvSpPr>
        <p:spPr>
          <a:xfrm>
            <a:off x="447638" y="3627872"/>
            <a:ext cx="1724025" cy="1371600"/>
          </a:xfrm>
          <a:prstGeom prst="roundRect">
            <a:avLst>
              <a:gd name="adj" fmla="val 0"/>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3"/>
          <p:cNvSpPr/>
          <p:nvPr/>
        </p:nvSpPr>
        <p:spPr>
          <a:xfrm>
            <a:off x="601212" y="3899880"/>
            <a:ext cx="1266468" cy="857250"/>
          </a:xfrm>
          <a:custGeom>
            <a:avLst/>
            <a:gdLst>
              <a:gd name="connsiteX0" fmla="*/ 0 w 1343025"/>
              <a:gd name="connsiteY0" fmla="*/ 857250 h 857250"/>
              <a:gd name="connsiteX1" fmla="*/ 923925 w 1343025"/>
              <a:gd name="connsiteY1" fmla="*/ 609600 h 857250"/>
              <a:gd name="connsiteX2" fmla="*/ 1343025 w 1343025"/>
              <a:gd name="connsiteY2" fmla="*/ 0 h 857250"/>
            </a:gdLst>
            <a:ahLst/>
            <a:cxnLst>
              <a:cxn ang="0">
                <a:pos x="connsiteX0" y="connsiteY0"/>
              </a:cxn>
              <a:cxn ang="0">
                <a:pos x="connsiteX1" y="connsiteY1"/>
              </a:cxn>
              <a:cxn ang="0">
                <a:pos x="connsiteX2" y="connsiteY2"/>
              </a:cxn>
            </a:cxnLst>
            <a:rect l="l" t="t" r="r" b="b"/>
            <a:pathLst>
              <a:path w="1343025" h="857250">
                <a:moveTo>
                  <a:pt x="0" y="857250"/>
                </a:moveTo>
                <a:cubicBezTo>
                  <a:pt x="350044" y="804862"/>
                  <a:pt x="700088" y="752475"/>
                  <a:pt x="923925" y="609600"/>
                </a:cubicBezTo>
                <a:cubicBezTo>
                  <a:pt x="1147762" y="466725"/>
                  <a:pt x="1343025" y="0"/>
                  <a:pt x="1343025" y="0"/>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5" name="任意多边形 14"/>
          <p:cNvSpPr/>
          <p:nvPr/>
        </p:nvSpPr>
        <p:spPr>
          <a:xfrm flipH="1" flipV="1">
            <a:off x="638492" y="3885047"/>
            <a:ext cx="1266469" cy="857250"/>
          </a:xfrm>
          <a:custGeom>
            <a:avLst/>
            <a:gdLst>
              <a:gd name="connsiteX0" fmla="*/ 0 w 1343025"/>
              <a:gd name="connsiteY0" fmla="*/ 857250 h 857250"/>
              <a:gd name="connsiteX1" fmla="*/ 923925 w 1343025"/>
              <a:gd name="connsiteY1" fmla="*/ 609600 h 857250"/>
              <a:gd name="connsiteX2" fmla="*/ 1343025 w 1343025"/>
              <a:gd name="connsiteY2" fmla="*/ 0 h 857250"/>
            </a:gdLst>
            <a:ahLst/>
            <a:cxnLst>
              <a:cxn ang="0">
                <a:pos x="connsiteX0" y="connsiteY0"/>
              </a:cxn>
              <a:cxn ang="0">
                <a:pos x="connsiteX1" y="connsiteY1"/>
              </a:cxn>
              <a:cxn ang="0">
                <a:pos x="connsiteX2" y="connsiteY2"/>
              </a:cxn>
            </a:cxnLst>
            <a:rect l="l" t="t" r="r" b="b"/>
            <a:pathLst>
              <a:path w="1343025" h="857250">
                <a:moveTo>
                  <a:pt x="0" y="857250"/>
                </a:moveTo>
                <a:cubicBezTo>
                  <a:pt x="350044" y="804862"/>
                  <a:pt x="700088" y="752475"/>
                  <a:pt x="923925" y="609600"/>
                </a:cubicBezTo>
                <a:cubicBezTo>
                  <a:pt x="1147762" y="466725"/>
                  <a:pt x="1343025" y="0"/>
                  <a:pt x="1343025" y="0"/>
                </a:cubicBezTo>
              </a:path>
            </a:pathLst>
          </a:custGeom>
          <a:ln w="19050">
            <a:solidFill>
              <a:srgbClr val="FF0000"/>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TextBox 15"/>
          <p:cNvSpPr txBox="1"/>
          <p:nvPr/>
        </p:nvSpPr>
        <p:spPr>
          <a:xfrm>
            <a:off x="554315" y="3638270"/>
            <a:ext cx="755335" cy="261610"/>
          </a:xfrm>
          <a:prstGeom prst="rect">
            <a:avLst/>
          </a:prstGeom>
          <a:noFill/>
        </p:spPr>
        <p:txBody>
          <a:bodyPr wrap="none" rtlCol="0">
            <a:spAutoFit/>
          </a:bodyPr>
          <a:lstStyle/>
          <a:p>
            <a:r>
              <a:rPr lang="en-US" altLang="zh-CN" sz="1100" dirty="0"/>
              <a:t>Proc. 1-2</a:t>
            </a:r>
            <a:endParaRPr lang="zh-CN" altLang="en-US" sz="1100" dirty="0"/>
          </a:p>
        </p:txBody>
      </p:sp>
      <p:sp>
        <p:nvSpPr>
          <p:cNvPr id="17" name="TextBox 16"/>
          <p:cNvSpPr txBox="1"/>
          <p:nvPr/>
        </p:nvSpPr>
        <p:spPr>
          <a:xfrm>
            <a:off x="1234446" y="4629088"/>
            <a:ext cx="755335" cy="261610"/>
          </a:xfrm>
          <a:prstGeom prst="rect">
            <a:avLst/>
          </a:prstGeom>
          <a:noFill/>
        </p:spPr>
        <p:txBody>
          <a:bodyPr wrap="none" rtlCol="0">
            <a:spAutoFit/>
          </a:bodyPr>
          <a:lstStyle/>
          <a:p>
            <a:r>
              <a:rPr lang="en-US" altLang="zh-CN" sz="1100" dirty="0"/>
              <a:t>Proc. 2-1</a:t>
            </a:r>
            <a:endParaRPr lang="zh-CN" altLang="en-US" sz="1100" dirty="0"/>
          </a:p>
        </p:txBody>
      </p:sp>
      <p:cxnSp>
        <p:nvCxnSpPr>
          <p:cNvPr id="19" name="直接箭头连接符 18"/>
          <p:cNvCxnSpPr/>
          <p:nvPr/>
        </p:nvCxnSpPr>
        <p:spPr>
          <a:xfrm flipV="1">
            <a:off x="978880" y="3934125"/>
            <a:ext cx="377667" cy="1202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H="1">
            <a:off x="978880" y="4476688"/>
            <a:ext cx="377667"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0" y="5229154"/>
            <a:ext cx="3562349" cy="738664"/>
          </a:xfrm>
          <a:prstGeom prst="rect">
            <a:avLst/>
          </a:prstGeom>
          <a:noFill/>
        </p:spPr>
        <p:txBody>
          <a:bodyPr wrap="square" rtlCol="0">
            <a:spAutoFit/>
          </a:bodyPr>
          <a:lstStyle/>
          <a:p>
            <a:pPr marL="285750" indent="-285750">
              <a:buFont typeface="Wingdings" pitchFamily="2" charset="2"/>
              <a:buChar char="ü"/>
            </a:pPr>
            <a:r>
              <a:rPr lang="en-US" altLang="zh-CN" sz="1400" dirty="0"/>
              <a:t>Considering any process from 1-2</a:t>
            </a:r>
          </a:p>
          <a:p>
            <a:pPr marL="285750" indent="-285750">
              <a:buFont typeface="Wingdings" pitchFamily="2" charset="2"/>
              <a:buChar char="ü"/>
            </a:pPr>
            <a:r>
              <a:rPr lang="en-US" altLang="zh-CN" sz="1400" dirty="0">
                <a:solidFill>
                  <a:srgbClr val="FF0000"/>
                </a:solidFill>
              </a:rPr>
              <a:t>Arbitrarily  adding an internal </a:t>
            </a:r>
          </a:p>
          <a:p>
            <a:r>
              <a:rPr lang="en-US" altLang="zh-CN" sz="1400" dirty="0">
                <a:solidFill>
                  <a:srgbClr val="FF0000"/>
                </a:solidFill>
              </a:rPr>
              <a:t>      reversible process 2-1</a:t>
            </a:r>
          </a:p>
        </p:txBody>
      </p:sp>
      <p:sp>
        <p:nvSpPr>
          <p:cNvPr id="29" name="矩形 28"/>
          <p:cNvSpPr/>
          <p:nvPr/>
        </p:nvSpPr>
        <p:spPr>
          <a:xfrm>
            <a:off x="332700" y="3172677"/>
            <a:ext cx="1838965" cy="369332"/>
          </a:xfrm>
          <a:prstGeom prst="rect">
            <a:avLst/>
          </a:prstGeom>
        </p:spPr>
        <p:txBody>
          <a:bodyPr wrap="none">
            <a:spAutoFit/>
          </a:bodyPr>
          <a:lstStyle/>
          <a:p>
            <a:r>
              <a:rPr lang="en-US" altLang="zh-CN" dirty="0">
                <a:solidFill>
                  <a:srgbClr val="000000"/>
                </a:solidFill>
                <a:ea typeface="宋体" panose="02010600030101010101" pitchFamily="2" charset="-122"/>
              </a:rPr>
              <a:t>For </a:t>
            </a:r>
            <a:r>
              <a:rPr lang="en-US" altLang="zh-CN" dirty="0">
                <a:solidFill>
                  <a:srgbClr val="FF0000"/>
                </a:solidFill>
                <a:ea typeface="宋体" panose="02010600030101010101" pitchFamily="2" charset="-122"/>
              </a:rPr>
              <a:t>any process</a:t>
            </a:r>
            <a:endParaRPr lang="zh-CN" altLang="en-US" dirty="0">
              <a:solidFill>
                <a:srgbClr val="FF0000"/>
              </a:solidFill>
            </a:endParaRPr>
          </a:p>
        </p:txBody>
      </p:sp>
      <p:sp>
        <p:nvSpPr>
          <p:cNvPr id="30" name="右箭头 29"/>
          <p:cNvSpPr/>
          <p:nvPr/>
        </p:nvSpPr>
        <p:spPr>
          <a:xfrm>
            <a:off x="3669462" y="3448836"/>
            <a:ext cx="409576" cy="285313"/>
          </a:xfrm>
          <a:prstGeom prst="right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1" name="对象 30"/>
          <p:cNvGraphicFramePr>
            <a:graphicFrameLocks noChangeAspect="1"/>
          </p:cNvGraphicFramePr>
          <p:nvPr/>
        </p:nvGraphicFramePr>
        <p:xfrm>
          <a:off x="4355263" y="3253327"/>
          <a:ext cx="1565275" cy="577850"/>
        </p:xfrm>
        <a:graphic>
          <a:graphicData uri="http://schemas.openxmlformats.org/presentationml/2006/ole">
            <mc:AlternateContent xmlns:mc="http://schemas.openxmlformats.org/markup-compatibility/2006">
              <mc:Choice xmlns:v="urn:schemas-microsoft-com:vml" Requires="v">
                <p:oleObj name="Equation" r:id="rId5" imgW="1066680" imgH="393480" progId="Equation.DSMT4">
                  <p:embed/>
                </p:oleObj>
              </mc:Choice>
              <mc:Fallback>
                <p:oleObj name="Equation" r:id="rId5" imgW="1066680" imgH="393480" progId="Equation.DSMT4">
                  <p:embed/>
                  <p:pic>
                    <p:nvPicPr>
                      <p:cNvPr id="0" name=""/>
                      <p:cNvPicPr>
                        <a:picLocks noChangeAspect="1" noChangeArrowheads="1"/>
                      </p:cNvPicPr>
                      <p:nvPr/>
                    </p:nvPicPr>
                    <p:blipFill>
                      <a:blip r:embed="rId6"/>
                      <a:srcRect/>
                      <a:stretch>
                        <a:fillRect/>
                      </a:stretch>
                    </p:blipFill>
                    <p:spPr bwMode="auto">
                      <a:xfrm>
                        <a:off x="4355263" y="3253327"/>
                        <a:ext cx="156527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对象 31"/>
          <p:cNvGraphicFramePr>
            <a:graphicFrameLocks noChangeAspect="1"/>
          </p:cNvGraphicFramePr>
          <p:nvPr/>
        </p:nvGraphicFramePr>
        <p:xfrm>
          <a:off x="6608236" y="3264244"/>
          <a:ext cx="1695450" cy="577850"/>
        </p:xfrm>
        <a:graphic>
          <a:graphicData uri="http://schemas.openxmlformats.org/presentationml/2006/ole">
            <mc:AlternateContent xmlns:mc="http://schemas.openxmlformats.org/markup-compatibility/2006">
              <mc:Choice xmlns:v="urn:schemas-microsoft-com:vml" Requires="v">
                <p:oleObj name="Equation" r:id="rId7" imgW="1155600" imgH="393480" progId="Equation.DSMT4">
                  <p:embed/>
                </p:oleObj>
              </mc:Choice>
              <mc:Fallback>
                <p:oleObj name="Equation" r:id="rId7" imgW="1155600" imgH="393480" progId="Equation.DSMT4">
                  <p:embed/>
                  <p:pic>
                    <p:nvPicPr>
                      <p:cNvPr id="0" name=""/>
                      <p:cNvPicPr>
                        <a:picLocks noChangeAspect="1" noChangeArrowheads="1"/>
                      </p:cNvPicPr>
                      <p:nvPr/>
                    </p:nvPicPr>
                    <p:blipFill>
                      <a:blip r:embed="rId8"/>
                      <a:srcRect/>
                      <a:stretch>
                        <a:fillRect/>
                      </a:stretch>
                    </p:blipFill>
                    <p:spPr bwMode="auto">
                      <a:xfrm>
                        <a:off x="6608236" y="3264244"/>
                        <a:ext cx="169545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 name="右箭头 32"/>
          <p:cNvSpPr/>
          <p:nvPr/>
        </p:nvSpPr>
        <p:spPr>
          <a:xfrm>
            <a:off x="6055475" y="3400244"/>
            <a:ext cx="409576" cy="285313"/>
          </a:xfrm>
          <a:prstGeom prst="right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4" name="对象 33"/>
          <p:cNvGraphicFramePr>
            <a:graphicFrameLocks noChangeAspect="1"/>
          </p:cNvGraphicFramePr>
          <p:nvPr/>
        </p:nvGraphicFramePr>
        <p:xfrm>
          <a:off x="2701088" y="4052741"/>
          <a:ext cx="1377950" cy="577850"/>
        </p:xfrm>
        <a:graphic>
          <a:graphicData uri="http://schemas.openxmlformats.org/presentationml/2006/ole">
            <mc:AlternateContent xmlns:mc="http://schemas.openxmlformats.org/markup-compatibility/2006">
              <mc:Choice xmlns:v="urn:schemas-microsoft-com:vml" Requires="v">
                <p:oleObj name="Equation" r:id="rId9" imgW="939600" imgH="393480" progId="Equation.DSMT4">
                  <p:embed/>
                </p:oleObj>
              </mc:Choice>
              <mc:Fallback>
                <p:oleObj name="Equation" r:id="rId9" imgW="939600" imgH="393480" progId="Equation.DSMT4">
                  <p:embed/>
                  <p:pic>
                    <p:nvPicPr>
                      <p:cNvPr id="0" name=""/>
                      <p:cNvPicPr>
                        <a:picLocks noChangeAspect="1" noChangeArrowheads="1"/>
                      </p:cNvPicPr>
                      <p:nvPr/>
                    </p:nvPicPr>
                    <p:blipFill>
                      <a:blip r:embed="rId10"/>
                      <a:srcRect/>
                      <a:stretch>
                        <a:fillRect/>
                      </a:stretch>
                    </p:blipFill>
                    <p:spPr bwMode="auto">
                      <a:xfrm>
                        <a:off x="2701088" y="4052741"/>
                        <a:ext cx="1377950"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 name="右箭头 34"/>
          <p:cNvSpPr/>
          <p:nvPr/>
        </p:nvSpPr>
        <p:spPr>
          <a:xfrm>
            <a:off x="4431463" y="4219313"/>
            <a:ext cx="409576" cy="285313"/>
          </a:xfrm>
          <a:prstGeom prst="rightArrow">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TextBox 36"/>
          <p:cNvSpPr txBox="1"/>
          <p:nvPr/>
        </p:nvSpPr>
        <p:spPr>
          <a:xfrm>
            <a:off x="2697911" y="4553549"/>
            <a:ext cx="649537" cy="415498"/>
          </a:xfrm>
          <a:prstGeom prst="rect">
            <a:avLst/>
          </a:prstGeom>
          <a:noFill/>
        </p:spPr>
        <p:txBody>
          <a:bodyPr wrap="none" rtlCol="0">
            <a:spAutoFit/>
          </a:bodyPr>
          <a:lstStyle/>
          <a:p>
            <a:r>
              <a:rPr lang="en-US" altLang="zh-CN" sz="1050" dirty="0">
                <a:solidFill>
                  <a:srgbClr val="FF0000"/>
                </a:solidFill>
              </a:rPr>
              <a:t>Entropy</a:t>
            </a:r>
          </a:p>
          <a:p>
            <a:r>
              <a:rPr lang="en-US" altLang="zh-CN" sz="1050" dirty="0">
                <a:solidFill>
                  <a:srgbClr val="FF0000"/>
                </a:solidFill>
              </a:rPr>
              <a:t>change</a:t>
            </a:r>
          </a:p>
        </p:txBody>
      </p:sp>
      <p:sp>
        <p:nvSpPr>
          <p:cNvPr id="38" name="TextBox 37"/>
          <p:cNvSpPr txBox="1"/>
          <p:nvPr/>
        </p:nvSpPr>
        <p:spPr>
          <a:xfrm>
            <a:off x="3478461" y="4661766"/>
            <a:ext cx="649537" cy="415498"/>
          </a:xfrm>
          <a:prstGeom prst="rect">
            <a:avLst/>
          </a:prstGeom>
          <a:noFill/>
        </p:spPr>
        <p:txBody>
          <a:bodyPr wrap="none" rtlCol="0">
            <a:spAutoFit/>
          </a:bodyPr>
          <a:lstStyle/>
          <a:p>
            <a:r>
              <a:rPr lang="en-US" altLang="zh-CN" sz="1050" dirty="0">
                <a:solidFill>
                  <a:srgbClr val="FF0000"/>
                </a:solidFill>
              </a:rPr>
              <a:t>Entropy</a:t>
            </a:r>
          </a:p>
          <a:p>
            <a:r>
              <a:rPr lang="en-US" altLang="zh-CN" sz="1050" dirty="0">
                <a:solidFill>
                  <a:srgbClr val="FF0000"/>
                </a:solidFill>
              </a:rPr>
              <a:t>transfer</a:t>
            </a:r>
          </a:p>
        </p:txBody>
      </p:sp>
      <p:graphicFrame>
        <p:nvGraphicFramePr>
          <p:cNvPr id="39" name="对象 38"/>
          <p:cNvGraphicFramePr>
            <a:graphicFrameLocks noChangeAspect="1"/>
          </p:cNvGraphicFramePr>
          <p:nvPr/>
        </p:nvGraphicFramePr>
        <p:xfrm>
          <a:off x="5041062" y="4073044"/>
          <a:ext cx="2028825" cy="577850"/>
        </p:xfrm>
        <a:graphic>
          <a:graphicData uri="http://schemas.openxmlformats.org/presentationml/2006/ole">
            <mc:AlternateContent xmlns:mc="http://schemas.openxmlformats.org/markup-compatibility/2006">
              <mc:Choice xmlns:v="urn:schemas-microsoft-com:vml" Requires="v">
                <p:oleObj name="Equation" r:id="rId11" imgW="1384200" imgH="393480" progId="Equation.DSMT4">
                  <p:embed/>
                </p:oleObj>
              </mc:Choice>
              <mc:Fallback>
                <p:oleObj name="Equation" r:id="rId11" imgW="1384200" imgH="393480" progId="Equation.DSMT4">
                  <p:embed/>
                  <p:pic>
                    <p:nvPicPr>
                      <p:cNvPr id="0" name=""/>
                      <p:cNvPicPr>
                        <a:picLocks noChangeAspect="1" noChangeArrowheads="1"/>
                      </p:cNvPicPr>
                      <p:nvPr/>
                    </p:nvPicPr>
                    <p:blipFill>
                      <a:blip r:embed="rId12"/>
                      <a:srcRect/>
                      <a:stretch>
                        <a:fillRect/>
                      </a:stretch>
                    </p:blipFill>
                    <p:spPr bwMode="auto">
                      <a:xfrm>
                        <a:off x="5041062" y="4073044"/>
                        <a:ext cx="2028825"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 name="TextBox 39"/>
          <p:cNvSpPr txBox="1"/>
          <p:nvPr/>
        </p:nvSpPr>
        <p:spPr>
          <a:xfrm>
            <a:off x="6503568" y="4571228"/>
            <a:ext cx="824265" cy="415498"/>
          </a:xfrm>
          <a:prstGeom prst="rect">
            <a:avLst/>
          </a:prstGeom>
          <a:noFill/>
        </p:spPr>
        <p:txBody>
          <a:bodyPr wrap="none" rtlCol="0">
            <a:spAutoFit/>
          </a:bodyPr>
          <a:lstStyle/>
          <a:p>
            <a:r>
              <a:rPr lang="en-US" altLang="zh-CN" sz="1050" dirty="0">
                <a:solidFill>
                  <a:srgbClr val="FF0000"/>
                </a:solidFill>
              </a:rPr>
              <a:t>Entropy</a:t>
            </a:r>
          </a:p>
          <a:p>
            <a:r>
              <a:rPr lang="en-US" altLang="zh-CN" sz="1050" dirty="0">
                <a:solidFill>
                  <a:srgbClr val="FF0000"/>
                </a:solidFill>
              </a:rPr>
              <a:t>generation</a:t>
            </a:r>
          </a:p>
        </p:txBody>
      </p:sp>
      <p:cxnSp>
        <p:nvCxnSpPr>
          <p:cNvPr id="42" name="直接连接符 41"/>
          <p:cNvCxnSpPr/>
          <p:nvPr/>
        </p:nvCxnSpPr>
        <p:spPr>
          <a:xfrm>
            <a:off x="6570136" y="4537941"/>
            <a:ext cx="54486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2750244" y="4537941"/>
            <a:ext cx="54486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3507036" y="4647428"/>
            <a:ext cx="544869" cy="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46" name="对象 45"/>
          <p:cNvGraphicFramePr>
            <a:graphicFrameLocks noChangeAspect="1"/>
          </p:cNvGraphicFramePr>
          <p:nvPr/>
        </p:nvGraphicFramePr>
        <p:xfrm>
          <a:off x="7317938" y="4003078"/>
          <a:ext cx="1692712" cy="803321"/>
        </p:xfrm>
        <a:graphic>
          <a:graphicData uri="http://schemas.openxmlformats.org/presentationml/2006/ole">
            <mc:AlternateContent xmlns:mc="http://schemas.openxmlformats.org/markup-compatibility/2006">
              <mc:Choice xmlns:v="urn:schemas-microsoft-com:vml" Requires="v">
                <p:oleObj name="Equation" r:id="rId13" imgW="1498320" imgH="711000" progId="Equation.DSMT4">
                  <p:embed/>
                </p:oleObj>
              </mc:Choice>
              <mc:Fallback>
                <p:oleObj name="Equation" r:id="rId13" imgW="1498320" imgH="711000" progId="Equation.DSMT4">
                  <p:embed/>
                  <p:pic>
                    <p:nvPicPr>
                      <p:cNvPr id="0" name=""/>
                      <p:cNvPicPr/>
                      <p:nvPr/>
                    </p:nvPicPr>
                    <p:blipFill>
                      <a:blip r:embed="rId14"/>
                      <a:stretch>
                        <a:fillRect/>
                      </a:stretch>
                    </p:blipFill>
                    <p:spPr>
                      <a:xfrm>
                        <a:off x="7317938" y="4003078"/>
                        <a:ext cx="1692712" cy="803321"/>
                      </a:xfrm>
                      <a:prstGeom prst="rect">
                        <a:avLst/>
                      </a:prstGeom>
                      <a:solidFill>
                        <a:schemeClr val="accent6">
                          <a:lumMod val="20000"/>
                          <a:lumOff val="80000"/>
                        </a:schemeClr>
                      </a:solidFill>
                    </p:spPr>
                  </p:pic>
                </p:oleObj>
              </mc:Fallback>
            </mc:AlternateContent>
          </a:graphicData>
        </a:graphic>
      </p:graphicFrame>
      <p:sp>
        <p:nvSpPr>
          <p:cNvPr id="47" name="TextBox 46"/>
          <p:cNvSpPr txBox="1"/>
          <p:nvPr/>
        </p:nvSpPr>
        <p:spPr>
          <a:xfrm>
            <a:off x="4079038" y="5334632"/>
            <a:ext cx="4083888" cy="923330"/>
          </a:xfrm>
          <a:prstGeom prst="rect">
            <a:avLst/>
          </a:prstGeom>
          <a:solidFill>
            <a:schemeClr val="accent6">
              <a:lumMod val="20000"/>
              <a:lumOff val="80000"/>
            </a:schemeClr>
          </a:solidFill>
        </p:spPr>
        <p:txBody>
          <a:bodyPr wrap="square" rtlCol="0">
            <a:spAutoFit/>
          </a:bodyPr>
          <a:lstStyle/>
          <a:p>
            <a:r>
              <a:rPr lang="en-US" altLang="zh-CN" sz="1600" b="1" dirty="0">
                <a:solidFill>
                  <a:srgbClr val="FF0000"/>
                </a:solidFill>
              </a:rPr>
              <a:t>Increase of entropy principle </a:t>
            </a:r>
          </a:p>
          <a:p>
            <a:r>
              <a:rPr lang="en-US" altLang="zh-CN" dirty="0"/>
              <a:t>“the entropy of isolated system during a process always increase” </a:t>
            </a:r>
            <a:endParaRPr lang="zh-CN" altLang="en-US" dirty="0"/>
          </a:p>
        </p:txBody>
      </p:sp>
      <mc:AlternateContent xmlns:mc="http://schemas.openxmlformats.org/markup-compatibility/2006" xmlns:a14="http://schemas.microsoft.com/office/drawing/2010/main">
        <mc:Choice Requires="a14">
          <p:sp>
            <p:nvSpPr>
              <p:cNvPr id="7" name="矩形 6"/>
              <p:cNvSpPr/>
              <p:nvPr/>
            </p:nvSpPr>
            <p:spPr>
              <a:xfrm>
                <a:off x="4461801" y="1703387"/>
                <a:ext cx="1158522" cy="6812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grow m:val="on"/>
                          <m:subHide m:val="on"/>
                          <m:supHide m:val="on"/>
                          <m:ctrlPr>
                            <a:rPr lang="zh-CN" altLang="en-US" i="1">
                              <a:latin typeface="Cambria Math" panose="02040503050406030204" pitchFamily="18" charset="0"/>
                            </a:rPr>
                          </m:ctrlPr>
                        </m:naryPr>
                        <m:sub/>
                        <m:sup/>
                        <m:e>
                          <m:f>
                            <m:fPr>
                              <m:ctrlPr>
                                <a:rPr lang="zh-CN" altLang="en-US" i="1">
                                  <a:latin typeface="Cambria Math" panose="02040503050406030204" pitchFamily="18" charset="0"/>
                                </a:rPr>
                              </m:ctrlPr>
                            </m:fPr>
                            <m:num>
                              <m:r>
                                <a:rPr lang="zh-CN" altLang="en-US" i="1">
                                  <a:latin typeface="Cambria Math" panose="02040503050406030204" pitchFamily="18" charset="0"/>
                                </a:rPr>
                                <m:t>𝛿</m:t>
                              </m:r>
                              <m:r>
                                <a:rPr lang="zh-CN" altLang="en-US" i="1">
                                  <a:latin typeface="Cambria Math" panose="02040503050406030204" pitchFamily="18" charset="0"/>
                                </a:rPr>
                                <m:t>𝑞</m:t>
                              </m:r>
                            </m:num>
                            <m:den>
                              <m:r>
                                <a:rPr lang="zh-CN" altLang="en-US" i="1">
                                  <a:latin typeface="Cambria Math" panose="02040503050406030204" pitchFamily="18" charset="0"/>
                                </a:rPr>
                                <m:t>𝑇</m:t>
                              </m:r>
                            </m:den>
                          </m:f>
                          <m:r>
                            <a:rPr lang="zh-CN" altLang="en-US" i="0">
                              <a:latin typeface="Cambria Math" panose="02040503050406030204" pitchFamily="18" charset="0"/>
                            </a:rPr>
                            <m:t>≤0</m:t>
                          </m:r>
                        </m:e>
                      </m:nary>
                    </m:oMath>
                  </m:oMathPara>
                </a14:m>
                <a:endParaRPr lang="zh-CN" altLang="en-US" dirty="0"/>
              </a:p>
            </p:txBody>
          </p:sp>
        </mc:Choice>
        <mc:Fallback xmlns="">
          <p:sp>
            <p:nvSpPr>
              <p:cNvPr id="7" name="矩形 6"/>
              <p:cNvSpPr>
                <a:spLocks noRot="1" noChangeAspect="1" noMove="1" noResize="1" noEditPoints="1" noAdjustHandles="1" noChangeArrowheads="1" noChangeShapeType="1" noTextEdit="1"/>
              </p:cNvSpPr>
              <p:nvPr/>
            </p:nvSpPr>
            <p:spPr>
              <a:xfrm>
                <a:off x="4461801" y="1703387"/>
                <a:ext cx="1158522" cy="681212"/>
              </a:xfrm>
              <a:prstGeom prst="rect">
                <a:avLst/>
              </a:prstGeom>
              <a:blipFill rotWithShape="0">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p:cNvSpPr/>
              <p:nvPr/>
            </p:nvSpPr>
            <p:spPr>
              <a:xfrm>
                <a:off x="2479368" y="3248327"/>
                <a:ext cx="1158522" cy="6812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grow m:val="on"/>
                          <m:subHide m:val="on"/>
                          <m:supHide m:val="on"/>
                          <m:ctrlPr>
                            <a:rPr lang="zh-CN" altLang="en-US" i="1">
                              <a:latin typeface="Cambria Math" panose="02040503050406030204" pitchFamily="18" charset="0"/>
                            </a:rPr>
                          </m:ctrlPr>
                        </m:naryPr>
                        <m:sub/>
                        <m:sup/>
                        <m:e>
                          <m:f>
                            <m:fPr>
                              <m:ctrlPr>
                                <a:rPr lang="zh-CN" altLang="en-US" i="1">
                                  <a:latin typeface="Cambria Math" panose="02040503050406030204" pitchFamily="18" charset="0"/>
                                </a:rPr>
                              </m:ctrlPr>
                            </m:fPr>
                            <m:num>
                              <m:r>
                                <a:rPr lang="zh-CN" altLang="en-US" i="1">
                                  <a:latin typeface="Cambria Math" panose="02040503050406030204" pitchFamily="18" charset="0"/>
                                </a:rPr>
                                <m:t>𝛿</m:t>
                              </m:r>
                              <m:r>
                                <a:rPr lang="zh-CN" altLang="en-US" i="1">
                                  <a:latin typeface="Cambria Math" panose="02040503050406030204" pitchFamily="18" charset="0"/>
                                </a:rPr>
                                <m:t>𝑞</m:t>
                              </m:r>
                            </m:num>
                            <m:den>
                              <m:r>
                                <a:rPr lang="zh-CN" altLang="en-US" i="1">
                                  <a:latin typeface="Cambria Math" panose="02040503050406030204" pitchFamily="18" charset="0"/>
                                </a:rPr>
                                <m:t>𝑇</m:t>
                              </m:r>
                            </m:den>
                          </m:f>
                          <m:r>
                            <a:rPr lang="zh-CN" altLang="en-US" i="0">
                              <a:latin typeface="Cambria Math" panose="02040503050406030204" pitchFamily="18" charset="0"/>
                            </a:rPr>
                            <m:t>≤0</m:t>
                          </m:r>
                        </m:e>
                      </m:nary>
                    </m:oMath>
                  </m:oMathPara>
                </a14:m>
                <a:endParaRPr lang="zh-CN" altLang="en-US" dirty="0"/>
              </a:p>
            </p:txBody>
          </p:sp>
        </mc:Choice>
        <mc:Fallback xmlns="">
          <p:sp>
            <p:nvSpPr>
              <p:cNvPr id="36" name="矩形 35"/>
              <p:cNvSpPr>
                <a:spLocks noRot="1" noChangeAspect="1" noMove="1" noResize="1" noEditPoints="1" noAdjustHandles="1" noChangeArrowheads="1" noChangeShapeType="1" noTextEdit="1"/>
              </p:cNvSpPr>
              <p:nvPr/>
            </p:nvSpPr>
            <p:spPr>
              <a:xfrm>
                <a:off x="2479368" y="3248327"/>
                <a:ext cx="1158522" cy="681212"/>
              </a:xfrm>
              <a:prstGeom prst="rect">
                <a:avLst/>
              </a:prstGeom>
              <a:blipFill rotWithShape="0">
                <a:blip r:embed="rId1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890015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1914" y="80132"/>
            <a:ext cx="6845144" cy="523220"/>
          </a:xfrm>
          <a:prstGeom prst="rect">
            <a:avLst/>
          </a:prstGeom>
          <a:noFill/>
        </p:spPr>
        <p:txBody>
          <a:bodyPr wrap="none" rtlCol="0">
            <a:spAutoFit/>
          </a:bodyPr>
          <a:lstStyle/>
          <a:p>
            <a:r>
              <a:rPr lang="en-US" altLang="zh-CN" sz="2800" dirty="0">
                <a:solidFill>
                  <a:srgbClr val="FF0000"/>
                </a:solidFill>
              </a:rPr>
              <a:t>Entropy generation during a  heat transfer</a:t>
            </a:r>
            <a:endParaRPr lang="zh-CN" altLang="en-US" sz="2800" dirty="0">
              <a:solidFill>
                <a:srgbClr val="FF0000"/>
              </a:solidFill>
            </a:endParaRPr>
          </a:p>
        </p:txBody>
      </p:sp>
      <p:sp>
        <p:nvSpPr>
          <p:cNvPr id="4" name="TextBox 3"/>
          <p:cNvSpPr txBox="1"/>
          <p:nvPr/>
        </p:nvSpPr>
        <p:spPr>
          <a:xfrm>
            <a:off x="317361" y="753139"/>
            <a:ext cx="7481600" cy="646331"/>
          </a:xfrm>
          <a:prstGeom prst="rect">
            <a:avLst/>
          </a:prstGeom>
          <a:noFill/>
        </p:spPr>
        <p:txBody>
          <a:bodyPr wrap="none" rtlCol="0">
            <a:spAutoFit/>
          </a:bodyPr>
          <a:lstStyle/>
          <a:p>
            <a:r>
              <a:rPr lang="en-US" altLang="zh-CN" dirty="0"/>
              <a:t>A heat source at 800K lose 2000 kJ of heat to a sink at 500K and 750K.</a:t>
            </a:r>
          </a:p>
          <a:p>
            <a:r>
              <a:rPr lang="en-US" altLang="zh-CN" dirty="0">
                <a:solidFill>
                  <a:srgbClr val="FF0000"/>
                </a:solidFill>
              </a:rPr>
              <a:t>Determine which heat transfer is more irreversible</a:t>
            </a:r>
            <a:r>
              <a:rPr lang="en-US" altLang="zh-CN" dirty="0"/>
              <a:t>. </a:t>
            </a:r>
            <a:endParaRPr lang="zh-CN" altLang="en-US" dirty="0"/>
          </a:p>
        </p:txBody>
      </p:sp>
      <p:sp>
        <p:nvSpPr>
          <p:cNvPr id="5" name="圆角矩形 4"/>
          <p:cNvSpPr/>
          <p:nvPr/>
        </p:nvSpPr>
        <p:spPr>
          <a:xfrm>
            <a:off x="121300" y="1503530"/>
            <a:ext cx="933450" cy="542925"/>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Source</a:t>
            </a:r>
          </a:p>
          <a:p>
            <a:pPr algn="ctr"/>
            <a:r>
              <a:rPr lang="zh-CN" altLang="en-US" sz="1200" dirty="0"/>
              <a:t>（</a:t>
            </a:r>
            <a:r>
              <a:rPr lang="en-US" altLang="zh-CN" sz="1200" dirty="0"/>
              <a:t>800K</a:t>
            </a:r>
            <a:r>
              <a:rPr lang="zh-CN" altLang="en-US" sz="1200" dirty="0"/>
              <a:t>）</a:t>
            </a:r>
          </a:p>
        </p:txBody>
      </p:sp>
      <p:sp>
        <p:nvSpPr>
          <p:cNvPr id="6" name="下箭头 5"/>
          <p:cNvSpPr/>
          <p:nvPr/>
        </p:nvSpPr>
        <p:spPr>
          <a:xfrm>
            <a:off x="426100" y="2141705"/>
            <a:ext cx="314325" cy="9239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Box 6"/>
          <p:cNvSpPr txBox="1"/>
          <p:nvPr/>
        </p:nvSpPr>
        <p:spPr>
          <a:xfrm>
            <a:off x="635650" y="2427454"/>
            <a:ext cx="992579" cy="369332"/>
          </a:xfrm>
          <a:prstGeom prst="rect">
            <a:avLst/>
          </a:prstGeom>
          <a:noFill/>
        </p:spPr>
        <p:txBody>
          <a:bodyPr wrap="none" rtlCol="0">
            <a:spAutoFit/>
          </a:bodyPr>
          <a:lstStyle/>
          <a:p>
            <a:r>
              <a:rPr lang="en-US" altLang="zh-CN" dirty="0"/>
              <a:t>2000 kJ</a:t>
            </a:r>
            <a:endParaRPr lang="zh-CN" altLang="en-US" dirty="0"/>
          </a:p>
        </p:txBody>
      </p:sp>
      <p:sp>
        <p:nvSpPr>
          <p:cNvPr id="8" name="圆角矩形 7"/>
          <p:cNvSpPr/>
          <p:nvPr/>
        </p:nvSpPr>
        <p:spPr>
          <a:xfrm>
            <a:off x="168925" y="3103730"/>
            <a:ext cx="933450" cy="5429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Sink</a:t>
            </a:r>
          </a:p>
          <a:p>
            <a:pPr algn="ctr"/>
            <a:r>
              <a:rPr lang="en-US" altLang="zh-CN" sz="1200" dirty="0"/>
              <a:t>(500 K)</a:t>
            </a:r>
            <a:endParaRPr lang="zh-CN" altLang="en-US" sz="1200" dirty="0"/>
          </a:p>
        </p:txBody>
      </p:sp>
      <p:graphicFrame>
        <p:nvGraphicFramePr>
          <p:cNvPr id="11" name="对象 10"/>
          <p:cNvGraphicFramePr>
            <a:graphicFrameLocks noChangeAspect="1"/>
          </p:cNvGraphicFramePr>
          <p:nvPr/>
        </p:nvGraphicFramePr>
        <p:xfrm>
          <a:off x="1721500" y="1968668"/>
          <a:ext cx="2247900" cy="1123950"/>
        </p:xfrm>
        <a:graphic>
          <a:graphicData uri="http://schemas.openxmlformats.org/presentationml/2006/ole">
            <mc:AlternateContent xmlns:mc="http://schemas.openxmlformats.org/markup-compatibility/2006">
              <mc:Choice xmlns:v="urn:schemas-microsoft-com:vml" Requires="v">
                <p:oleObj name="Equation" r:id="rId2" imgW="2286000" imgH="1143000" progId="Equation.DSMT4">
                  <p:embed/>
                </p:oleObj>
              </mc:Choice>
              <mc:Fallback>
                <p:oleObj name="Equation" r:id="rId2" imgW="2286000" imgH="1143000" progId="Equation.DSMT4">
                  <p:embed/>
                  <p:pic>
                    <p:nvPicPr>
                      <p:cNvPr id="0" name=""/>
                      <p:cNvPicPr>
                        <a:picLocks noChangeAspect="1" noChangeArrowheads="1"/>
                      </p:cNvPicPr>
                      <p:nvPr/>
                    </p:nvPicPr>
                    <p:blipFill>
                      <a:blip r:embed="rId3"/>
                      <a:srcRect/>
                      <a:stretch>
                        <a:fillRect/>
                      </a:stretch>
                    </p:blipFill>
                    <p:spPr bwMode="auto">
                      <a:xfrm>
                        <a:off x="1721500" y="1968668"/>
                        <a:ext cx="2247900" cy="1123950"/>
                      </a:xfrm>
                      <a:prstGeom prst="rect">
                        <a:avLst/>
                      </a:prstGeom>
                      <a:noFill/>
                      <a:ln>
                        <a:noFill/>
                      </a:ln>
                    </p:spPr>
                  </p:pic>
                </p:oleObj>
              </mc:Fallback>
            </mc:AlternateContent>
          </a:graphicData>
        </a:graphic>
      </p:graphicFrame>
      <p:sp>
        <p:nvSpPr>
          <p:cNvPr id="12" name="圆角矩形 11"/>
          <p:cNvSpPr/>
          <p:nvPr/>
        </p:nvSpPr>
        <p:spPr>
          <a:xfrm>
            <a:off x="4159900" y="1492418"/>
            <a:ext cx="933450" cy="542925"/>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Source</a:t>
            </a:r>
          </a:p>
          <a:p>
            <a:pPr algn="ctr"/>
            <a:r>
              <a:rPr lang="zh-CN" altLang="en-US" sz="1200" dirty="0"/>
              <a:t>（</a:t>
            </a:r>
            <a:r>
              <a:rPr lang="en-US" altLang="zh-CN" sz="1200" dirty="0"/>
              <a:t>800K</a:t>
            </a:r>
            <a:r>
              <a:rPr lang="zh-CN" altLang="en-US" sz="1200" dirty="0"/>
              <a:t>）</a:t>
            </a:r>
          </a:p>
        </p:txBody>
      </p:sp>
      <p:sp>
        <p:nvSpPr>
          <p:cNvPr id="13" name="下箭头 12"/>
          <p:cNvSpPr/>
          <p:nvPr/>
        </p:nvSpPr>
        <p:spPr>
          <a:xfrm>
            <a:off x="4464700" y="2130593"/>
            <a:ext cx="314325" cy="9239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3"/>
          <p:cNvSpPr txBox="1"/>
          <p:nvPr/>
        </p:nvSpPr>
        <p:spPr>
          <a:xfrm>
            <a:off x="4674250" y="2416342"/>
            <a:ext cx="992579" cy="369332"/>
          </a:xfrm>
          <a:prstGeom prst="rect">
            <a:avLst/>
          </a:prstGeom>
          <a:noFill/>
        </p:spPr>
        <p:txBody>
          <a:bodyPr wrap="none" rtlCol="0">
            <a:spAutoFit/>
          </a:bodyPr>
          <a:lstStyle/>
          <a:p>
            <a:r>
              <a:rPr lang="en-US" altLang="zh-CN" dirty="0"/>
              <a:t>2000 kJ</a:t>
            </a:r>
            <a:endParaRPr lang="zh-CN" altLang="en-US" dirty="0"/>
          </a:p>
        </p:txBody>
      </p:sp>
      <p:sp>
        <p:nvSpPr>
          <p:cNvPr id="15" name="圆角矩形 14"/>
          <p:cNvSpPr/>
          <p:nvPr/>
        </p:nvSpPr>
        <p:spPr>
          <a:xfrm>
            <a:off x="4207525" y="3092618"/>
            <a:ext cx="933450" cy="5429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Sink</a:t>
            </a:r>
          </a:p>
          <a:p>
            <a:pPr algn="ctr"/>
            <a:r>
              <a:rPr lang="en-US" altLang="zh-CN" sz="1200" dirty="0"/>
              <a:t>(750 K)</a:t>
            </a:r>
            <a:endParaRPr lang="zh-CN" altLang="en-US" sz="1200" dirty="0"/>
          </a:p>
        </p:txBody>
      </p:sp>
      <p:graphicFrame>
        <p:nvGraphicFramePr>
          <p:cNvPr id="16" name="对象 15"/>
          <p:cNvGraphicFramePr>
            <a:graphicFrameLocks noChangeAspect="1"/>
          </p:cNvGraphicFramePr>
          <p:nvPr/>
        </p:nvGraphicFramePr>
        <p:xfrm>
          <a:off x="6115050" y="2135872"/>
          <a:ext cx="2247900" cy="1123950"/>
        </p:xfrm>
        <a:graphic>
          <a:graphicData uri="http://schemas.openxmlformats.org/presentationml/2006/ole">
            <mc:AlternateContent xmlns:mc="http://schemas.openxmlformats.org/markup-compatibility/2006">
              <mc:Choice xmlns:v="urn:schemas-microsoft-com:vml" Requires="v">
                <p:oleObj name="Equation" r:id="rId4" imgW="2286000" imgH="1143000" progId="Equation.DSMT4">
                  <p:embed/>
                </p:oleObj>
              </mc:Choice>
              <mc:Fallback>
                <p:oleObj name="Equation" r:id="rId4" imgW="2286000" imgH="1143000" progId="Equation.DSMT4">
                  <p:embed/>
                  <p:pic>
                    <p:nvPicPr>
                      <p:cNvPr id="0" name=""/>
                      <p:cNvPicPr>
                        <a:picLocks noChangeAspect="1" noChangeArrowheads="1"/>
                      </p:cNvPicPr>
                      <p:nvPr/>
                    </p:nvPicPr>
                    <p:blipFill>
                      <a:blip r:embed="rId5"/>
                      <a:srcRect/>
                      <a:stretch>
                        <a:fillRect/>
                      </a:stretch>
                    </p:blipFill>
                    <p:spPr bwMode="auto">
                      <a:xfrm>
                        <a:off x="6115050" y="2135872"/>
                        <a:ext cx="2247900"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8"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9913" y="4442593"/>
            <a:ext cx="2686050" cy="1841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1" name="对象 20"/>
          <p:cNvGraphicFramePr>
            <a:graphicFrameLocks noChangeAspect="1"/>
          </p:cNvGraphicFramePr>
          <p:nvPr/>
        </p:nvGraphicFramePr>
        <p:xfrm>
          <a:off x="4932363" y="4021138"/>
          <a:ext cx="3365500" cy="469900"/>
        </p:xfrm>
        <a:graphic>
          <a:graphicData uri="http://schemas.openxmlformats.org/presentationml/2006/ole">
            <mc:AlternateContent xmlns:mc="http://schemas.openxmlformats.org/markup-compatibility/2006">
              <mc:Choice xmlns:v="urn:schemas-microsoft-com:vml" Requires="v">
                <p:oleObj name="Equation" r:id="rId7" imgW="2819160" imgH="393480" progId="Equation.DSMT4">
                  <p:embed/>
                </p:oleObj>
              </mc:Choice>
              <mc:Fallback>
                <p:oleObj name="Equation" r:id="rId7" imgW="2819160" imgH="393480" progId="Equation.DSMT4">
                  <p:embed/>
                  <p:pic>
                    <p:nvPicPr>
                      <p:cNvPr id="0" name=""/>
                      <p:cNvPicPr>
                        <a:picLocks noChangeAspect="1" noChangeArrowheads="1"/>
                      </p:cNvPicPr>
                      <p:nvPr/>
                    </p:nvPicPr>
                    <p:blipFill>
                      <a:blip r:embed="rId8"/>
                      <a:srcRect/>
                      <a:stretch>
                        <a:fillRect/>
                      </a:stretch>
                    </p:blipFill>
                    <p:spPr bwMode="auto">
                      <a:xfrm>
                        <a:off x="4932363" y="4021138"/>
                        <a:ext cx="3365500" cy="469900"/>
                      </a:xfrm>
                      <a:prstGeom prst="rect">
                        <a:avLst/>
                      </a:prstGeom>
                      <a:noFill/>
                      <a:ln>
                        <a:noFill/>
                      </a:ln>
                    </p:spPr>
                  </p:pic>
                </p:oleObj>
              </mc:Fallback>
            </mc:AlternateContent>
          </a:graphicData>
        </a:graphic>
      </p:graphicFrame>
      <p:sp>
        <p:nvSpPr>
          <p:cNvPr id="22" name="圆角矩形 21"/>
          <p:cNvSpPr/>
          <p:nvPr/>
        </p:nvSpPr>
        <p:spPr>
          <a:xfrm>
            <a:off x="3213402" y="4066348"/>
            <a:ext cx="933450" cy="542925"/>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Source</a:t>
            </a:r>
          </a:p>
          <a:p>
            <a:pPr algn="ctr"/>
            <a:r>
              <a:rPr lang="zh-CN" altLang="en-US" sz="1200" dirty="0"/>
              <a:t>（</a:t>
            </a:r>
            <a:r>
              <a:rPr lang="en-US" altLang="zh-CN" sz="1200" dirty="0"/>
              <a:t>800K</a:t>
            </a:r>
            <a:r>
              <a:rPr lang="zh-CN" altLang="en-US" sz="1200" dirty="0"/>
              <a:t>）</a:t>
            </a:r>
          </a:p>
        </p:txBody>
      </p:sp>
      <p:sp>
        <p:nvSpPr>
          <p:cNvPr id="23" name="下箭头 22"/>
          <p:cNvSpPr/>
          <p:nvPr/>
        </p:nvSpPr>
        <p:spPr>
          <a:xfrm>
            <a:off x="3554486" y="4672674"/>
            <a:ext cx="226075" cy="244077"/>
          </a:xfrm>
          <a:prstGeom prst="down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TextBox 23"/>
          <p:cNvSpPr txBox="1"/>
          <p:nvPr/>
        </p:nvSpPr>
        <p:spPr>
          <a:xfrm>
            <a:off x="3780561" y="4640825"/>
            <a:ext cx="1269899" cy="276999"/>
          </a:xfrm>
          <a:prstGeom prst="rect">
            <a:avLst/>
          </a:prstGeom>
          <a:noFill/>
        </p:spPr>
        <p:txBody>
          <a:bodyPr wrap="none" rtlCol="0">
            <a:spAutoFit/>
          </a:bodyPr>
          <a:lstStyle/>
          <a:p>
            <a:r>
              <a:rPr lang="en-US" altLang="zh-CN" sz="1200" i="1" dirty="0" err="1"/>
              <a:t>Q</a:t>
            </a:r>
            <a:r>
              <a:rPr lang="en-US" altLang="zh-CN" sz="1200" i="1" baseline="-25000" dirty="0" err="1"/>
              <a:t>source</a:t>
            </a:r>
            <a:r>
              <a:rPr lang="en-US" altLang="zh-CN" sz="1200" i="1" baseline="-25000" dirty="0"/>
              <a:t> </a:t>
            </a:r>
            <a:r>
              <a:rPr lang="en-US" altLang="zh-CN" sz="1200" i="1" dirty="0"/>
              <a:t>=2000 kJ</a:t>
            </a:r>
            <a:endParaRPr lang="zh-CN" altLang="en-US" sz="1200" i="1" dirty="0"/>
          </a:p>
        </p:txBody>
      </p:sp>
      <p:sp>
        <p:nvSpPr>
          <p:cNvPr id="25" name="圆角矩形 24"/>
          <p:cNvSpPr/>
          <p:nvPr/>
        </p:nvSpPr>
        <p:spPr>
          <a:xfrm>
            <a:off x="3249151" y="5672486"/>
            <a:ext cx="933450" cy="5429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Sink</a:t>
            </a:r>
          </a:p>
          <a:p>
            <a:pPr algn="ctr"/>
            <a:r>
              <a:rPr lang="en-US" altLang="zh-CN" sz="1200" dirty="0"/>
              <a:t>(500 K)</a:t>
            </a:r>
            <a:endParaRPr lang="zh-CN" altLang="en-US" sz="1200" dirty="0"/>
          </a:p>
        </p:txBody>
      </p:sp>
      <p:sp>
        <p:nvSpPr>
          <p:cNvPr id="26" name="椭圆 25"/>
          <p:cNvSpPr/>
          <p:nvPr/>
        </p:nvSpPr>
        <p:spPr>
          <a:xfrm>
            <a:off x="3451527" y="4948601"/>
            <a:ext cx="457200" cy="4192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00" dirty="0"/>
          </a:p>
        </p:txBody>
      </p:sp>
      <p:sp>
        <p:nvSpPr>
          <p:cNvPr id="27" name="下箭头 26"/>
          <p:cNvSpPr/>
          <p:nvPr/>
        </p:nvSpPr>
        <p:spPr>
          <a:xfrm>
            <a:off x="3554486" y="5422471"/>
            <a:ext cx="226075" cy="244077"/>
          </a:xfrm>
          <a:prstGeom prst="down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28"/>
          <p:cNvSpPr txBox="1"/>
          <p:nvPr/>
        </p:nvSpPr>
        <p:spPr>
          <a:xfrm>
            <a:off x="2825401" y="5019723"/>
            <a:ext cx="1010213" cy="276999"/>
          </a:xfrm>
          <a:prstGeom prst="rect">
            <a:avLst/>
          </a:prstGeom>
          <a:noFill/>
        </p:spPr>
        <p:txBody>
          <a:bodyPr wrap="none" rtlCol="0">
            <a:spAutoFit/>
          </a:bodyPr>
          <a:lstStyle/>
          <a:p>
            <a:r>
              <a:rPr lang="en-US" altLang="zh-CN" sz="1200" dirty="0"/>
              <a:t>Heat</a:t>
            </a:r>
            <a:r>
              <a:rPr lang="zh-CN" altLang="en-US" sz="1200" dirty="0"/>
              <a:t> </a:t>
            </a:r>
            <a:r>
              <a:rPr lang="en-US" altLang="zh-CN" sz="1200" dirty="0"/>
              <a:t>engine</a:t>
            </a:r>
          </a:p>
        </p:txBody>
      </p:sp>
      <p:sp>
        <p:nvSpPr>
          <p:cNvPr id="30" name="下箭头 29"/>
          <p:cNvSpPr/>
          <p:nvPr/>
        </p:nvSpPr>
        <p:spPr>
          <a:xfrm rot="16200000">
            <a:off x="3945124" y="5036183"/>
            <a:ext cx="226075" cy="244077"/>
          </a:xfrm>
          <a:prstGeom prst="down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TextBox 30"/>
          <p:cNvSpPr txBox="1"/>
          <p:nvPr/>
        </p:nvSpPr>
        <p:spPr>
          <a:xfrm>
            <a:off x="4179558" y="5027418"/>
            <a:ext cx="1035861" cy="307777"/>
          </a:xfrm>
          <a:prstGeom prst="rect">
            <a:avLst/>
          </a:prstGeom>
          <a:noFill/>
        </p:spPr>
        <p:txBody>
          <a:bodyPr wrap="none" rtlCol="0">
            <a:spAutoFit/>
          </a:bodyPr>
          <a:lstStyle/>
          <a:p>
            <a:r>
              <a:rPr lang="en-US" altLang="zh-CN" sz="1400" i="1" dirty="0">
                <a:solidFill>
                  <a:srgbClr val="FF0000"/>
                </a:solidFill>
              </a:rPr>
              <a:t>W= 750 kJ</a:t>
            </a:r>
            <a:endParaRPr lang="zh-CN" altLang="en-US" sz="1400" i="1" dirty="0">
              <a:solidFill>
                <a:srgbClr val="FF0000"/>
              </a:solidFill>
            </a:endParaRPr>
          </a:p>
        </p:txBody>
      </p:sp>
      <p:sp>
        <p:nvSpPr>
          <p:cNvPr id="33" name="TextBox 32"/>
          <p:cNvSpPr txBox="1"/>
          <p:nvPr/>
        </p:nvSpPr>
        <p:spPr>
          <a:xfrm>
            <a:off x="3841234" y="5349922"/>
            <a:ext cx="1143262" cy="276999"/>
          </a:xfrm>
          <a:prstGeom prst="rect">
            <a:avLst/>
          </a:prstGeom>
          <a:noFill/>
        </p:spPr>
        <p:txBody>
          <a:bodyPr wrap="none" rtlCol="0">
            <a:spAutoFit/>
          </a:bodyPr>
          <a:lstStyle/>
          <a:p>
            <a:r>
              <a:rPr lang="en-US" altLang="zh-CN" sz="1200" i="1" dirty="0" err="1"/>
              <a:t>Q</a:t>
            </a:r>
            <a:r>
              <a:rPr lang="en-US" altLang="zh-CN" sz="1200" i="1" baseline="-25000" dirty="0" err="1"/>
              <a:t>sink</a:t>
            </a:r>
            <a:r>
              <a:rPr lang="en-US" altLang="zh-CN" sz="1200" i="1" baseline="-25000" dirty="0"/>
              <a:t> </a:t>
            </a:r>
            <a:r>
              <a:rPr lang="en-US" altLang="zh-CN" sz="1200" i="1" dirty="0"/>
              <a:t>=1250 kJ</a:t>
            </a:r>
            <a:endParaRPr lang="zh-CN" altLang="en-US" sz="1200" i="1" dirty="0"/>
          </a:p>
        </p:txBody>
      </p:sp>
      <p:graphicFrame>
        <p:nvGraphicFramePr>
          <p:cNvPr id="35" name="对象 34"/>
          <p:cNvGraphicFramePr>
            <a:graphicFrameLocks noChangeAspect="1"/>
          </p:cNvGraphicFramePr>
          <p:nvPr/>
        </p:nvGraphicFramePr>
        <p:xfrm>
          <a:off x="5652800" y="4813240"/>
          <a:ext cx="2247900" cy="1123950"/>
        </p:xfrm>
        <a:graphic>
          <a:graphicData uri="http://schemas.openxmlformats.org/presentationml/2006/ole">
            <mc:AlternateContent xmlns:mc="http://schemas.openxmlformats.org/markup-compatibility/2006">
              <mc:Choice xmlns:v="urn:schemas-microsoft-com:vml" Requires="v">
                <p:oleObj name="Equation" r:id="rId9" imgW="2286000" imgH="1143000" progId="Equation.DSMT4">
                  <p:embed/>
                </p:oleObj>
              </mc:Choice>
              <mc:Fallback>
                <p:oleObj name="Equation" r:id="rId9" imgW="2286000" imgH="1143000" progId="Equation.DSMT4">
                  <p:embed/>
                  <p:pic>
                    <p:nvPicPr>
                      <p:cNvPr id="0" name=""/>
                      <p:cNvPicPr>
                        <a:picLocks noChangeAspect="1" noChangeArrowheads="1"/>
                      </p:cNvPicPr>
                      <p:nvPr/>
                    </p:nvPicPr>
                    <p:blipFill>
                      <a:blip r:embed="rId10"/>
                      <a:srcRect/>
                      <a:stretch>
                        <a:fillRect/>
                      </a:stretch>
                    </p:blipFill>
                    <p:spPr bwMode="auto">
                      <a:xfrm>
                        <a:off x="5652800" y="4813240"/>
                        <a:ext cx="2247900" cy="1123950"/>
                      </a:xfrm>
                      <a:prstGeom prst="rect">
                        <a:avLst/>
                      </a:prstGeom>
                      <a:solidFill>
                        <a:schemeClr val="accent6">
                          <a:lumMod val="20000"/>
                          <a:lumOff val="80000"/>
                        </a:schemeClr>
                      </a:solidFill>
                      <a:ln>
                        <a:noFill/>
                      </a:ln>
                    </p:spPr>
                  </p:pic>
                </p:oleObj>
              </mc:Fallback>
            </mc:AlternateContent>
          </a:graphicData>
        </a:graphic>
      </p:graphicFrame>
      <p:sp>
        <p:nvSpPr>
          <p:cNvPr id="36" name="TextBox 35"/>
          <p:cNvSpPr txBox="1"/>
          <p:nvPr/>
        </p:nvSpPr>
        <p:spPr>
          <a:xfrm>
            <a:off x="426100" y="3850243"/>
            <a:ext cx="1749197" cy="369332"/>
          </a:xfrm>
          <a:prstGeom prst="rect">
            <a:avLst/>
          </a:prstGeom>
          <a:noFill/>
        </p:spPr>
        <p:txBody>
          <a:bodyPr wrap="none" rtlCol="0">
            <a:spAutoFit/>
          </a:bodyPr>
          <a:lstStyle/>
          <a:p>
            <a:r>
              <a:rPr lang="en-US" altLang="zh-CN" dirty="0"/>
              <a:t>Furthermore,…</a:t>
            </a:r>
            <a:endParaRPr lang="zh-CN" altLang="en-US" dirty="0"/>
          </a:p>
        </p:txBody>
      </p:sp>
    </p:spTree>
    <p:extLst>
      <p:ext uri="{BB962C8B-B14F-4D97-AF65-F5344CB8AC3E}">
        <p14:creationId xmlns:p14="http://schemas.microsoft.com/office/powerpoint/2010/main" val="4559390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0312" y="135308"/>
            <a:ext cx="3392207" cy="523220"/>
          </a:xfrm>
          <a:prstGeom prst="rect">
            <a:avLst/>
          </a:prstGeom>
          <a:noFill/>
        </p:spPr>
        <p:txBody>
          <a:bodyPr wrap="square" rtlCol="0">
            <a:spAutoFit/>
          </a:bodyPr>
          <a:lstStyle/>
          <a:p>
            <a:r>
              <a:rPr lang="en-US" altLang="zh-CN" sz="2800" dirty="0">
                <a:solidFill>
                  <a:srgbClr val="FF0000"/>
                </a:solidFill>
              </a:rPr>
              <a:t>Entropy balance </a:t>
            </a:r>
            <a:endParaRPr lang="zh-CN" altLang="en-US" sz="2800" dirty="0">
              <a:solidFill>
                <a:srgbClr val="FF0000"/>
              </a:solidFill>
            </a:endParaRPr>
          </a:p>
        </p:txBody>
      </p:sp>
      <p:sp>
        <p:nvSpPr>
          <p:cNvPr id="3" name="TextBox 2"/>
          <p:cNvSpPr txBox="1"/>
          <p:nvPr/>
        </p:nvSpPr>
        <p:spPr>
          <a:xfrm>
            <a:off x="673958" y="1320140"/>
            <a:ext cx="1082348" cy="923330"/>
          </a:xfrm>
          <a:prstGeom prst="rect">
            <a:avLst/>
          </a:prstGeom>
          <a:solidFill>
            <a:schemeClr val="accent6">
              <a:lumMod val="20000"/>
              <a:lumOff val="80000"/>
            </a:schemeClr>
          </a:solidFill>
        </p:spPr>
        <p:txBody>
          <a:bodyPr wrap="none" rtlCol="0">
            <a:spAutoFit/>
          </a:bodyPr>
          <a:lstStyle/>
          <a:p>
            <a:pPr algn="ctr"/>
            <a:r>
              <a:rPr lang="en-US" altLang="zh-CN" dirty="0"/>
              <a:t>Total</a:t>
            </a:r>
          </a:p>
          <a:p>
            <a:pPr algn="ctr"/>
            <a:r>
              <a:rPr lang="en-US" altLang="zh-CN" dirty="0"/>
              <a:t>Entropy</a:t>
            </a:r>
          </a:p>
          <a:p>
            <a:pPr algn="ctr"/>
            <a:r>
              <a:rPr lang="en-US" altLang="zh-CN" dirty="0"/>
              <a:t>entering </a:t>
            </a:r>
            <a:endParaRPr lang="zh-CN" altLang="en-US" dirty="0"/>
          </a:p>
        </p:txBody>
      </p:sp>
      <p:sp>
        <p:nvSpPr>
          <p:cNvPr id="4" name="TextBox 3"/>
          <p:cNvSpPr txBox="1"/>
          <p:nvPr/>
        </p:nvSpPr>
        <p:spPr>
          <a:xfrm>
            <a:off x="2623481" y="1320140"/>
            <a:ext cx="979755" cy="923330"/>
          </a:xfrm>
          <a:prstGeom prst="rect">
            <a:avLst/>
          </a:prstGeom>
          <a:solidFill>
            <a:schemeClr val="accent6">
              <a:lumMod val="20000"/>
              <a:lumOff val="80000"/>
            </a:schemeClr>
          </a:solidFill>
        </p:spPr>
        <p:txBody>
          <a:bodyPr wrap="none" rtlCol="0">
            <a:spAutoFit/>
          </a:bodyPr>
          <a:lstStyle/>
          <a:p>
            <a:r>
              <a:rPr lang="en-US" altLang="zh-CN" dirty="0"/>
              <a:t>Total</a:t>
            </a:r>
          </a:p>
          <a:p>
            <a:r>
              <a:rPr lang="en-US" altLang="zh-CN" dirty="0"/>
              <a:t>Entropy</a:t>
            </a:r>
          </a:p>
          <a:p>
            <a:r>
              <a:rPr lang="en-US" altLang="zh-CN" dirty="0"/>
              <a:t>out </a:t>
            </a:r>
            <a:endParaRPr lang="zh-CN" altLang="en-US" dirty="0"/>
          </a:p>
        </p:txBody>
      </p:sp>
      <p:sp>
        <p:nvSpPr>
          <p:cNvPr id="5" name="TextBox 4"/>
          <p:cNvSpPr txBox="1"/>
          <p:nvPr/>
        </p:nvSpPr>
        <p:spPr>
          <a:xfrm>
            <a:off x="663325" y="808075"/>
            <a:ext cx="3531736" cy="369332"/>
          </a:xfrm>
          <a:prstGeom prst="rect">
            <a:avLst/>
          </a:prstGeom>
          <a:noFill/>
        </p:spPr>
        <p:txBody>
          <a:bodyPr wrap="none" rtlCol="0">
            <a:spAutoFit/>
          </a:bodyPr>
          <a:lstStyle/>
          <a:p>
            <a:r>
              <a:rPr lang="en-US" altLang="zh-CN" i="1" dirty="0"/>
              <a:t>Increase entropy for any system </a:t>
            </a:r>
            <a:endParaRPr lang="zh-CN" altLang="en-US" i="1" dirty="0"/>
          </a:p>
        </p:txBody>
      </p:sp>
      <p:sp>
        <p:nvSpPr>
          <p:cNvPr id="7" name="圆角矩形 6"/>
          <p:cNvSpPr/>
          <p:nvPr/>
        </p:nvSpPr>
        <p:spPr>
          <a:xfrm>
            <a:off x="1927049" y="1781805"/>
            <a:ext cx="512777" cy="79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a:off x="3865719" y="1542156"/>
            <a:ext cx="512777" cy="512777"/>
          </a:xfrm>
          <a:custGeom>
            <a:avLst/>
            <a:gdLst/>
            <a:ahLst/>
            <a:cxnLst/>
            <a:rect l="l" t="t" r="r" b="b"/>
            <a:pathLst>
              <a:path w="512777" h="512777">
                <a:moveTo>
                  <a:pt x="229744" y="0"/>
                </a:moveTo>
                <a:lnTo>
                  <a:pt x="283031" y="0"/>
                </a:lnTo>
                <a:cubicBezTo>
                  <a:pt x="290389" y="0"/>
                  <a:pt x="296353" y="5964"/>
                  <a:pt x="296353" y="13322"/>
                </a:cubicBezTo>
                <a:lnTo>
                  <a:pt x="296353" y="216424"/>
                </a:lnTo>
                <a:lnTo>
                  <a:pt x="499455" y="216424"/>
                </a:lnTo>
                <a:cubicBezTo>
                  <a:pt x="506813" y="216424"/>
                  <a:pt x="512777" y="222388"/>
                  <a:pt x="512777" y="229746"/>
                </a:cubicBezTo>
                <a:lnTo>
                  <a:pt x="512777" y="283033"/>
                </a:lnTo>
                <a:cubicBezTo>
                  <a:pt x="512777" y="290391"/>
                  <a:pt x="506813" y="296355"/>
                  <a:pt x="499455" y="296355"/>
                </a:cubicBezTo>
                <a:lnTo>
                  <a:pt x="296353" y="296355"/>
                </a:lnTo>
                <a:lnTo>
                  <a:pt x="296353" y="499455"/>
                </a:lnTo>
                <a:cubicBezTo>
                  <a:pt x="296353" y="506813"/>
                  <a:pt x="290389" y="512777"/>
                  <a:pt x="283031" y="512777"/>
                </a:cubicBezTo>
                <a:lnTo>
                  <a:pt x="229744" y="512777"/>
                </a:lnTo>
                <a:cubicBezTo>
                  <a:pt x="222386" y="512777"/>
                  <a:pt x="216422" y="506813"/>
                  <a:pt x="216422" y="499455"/>
                </a:cubicBezTo>
                <a:lnTo>
                  <a:pt x="216422" y="296355"/>
                </a:lnTo>
                <a:lnTo>
                  <a:pt x="13322" y="296355"/>
                </a:lnTo>
                <a:cubicBezTo>
                  <a:pt x="5964" y="296355"/>
                  <a:pt x="0" y="290391"/>
                  <a:pt x="0" y="283033"/>
                </a:cubicBezTo>
                <a:lnTo>
                  <a:pt x="0" y="229746"/>
                </a:lnTo>
                <a:cubicBezTo>
                  <a:pt x="0" y="222388"/>
                  <a:pt x="5964" y="216424"/>
                  <a:pt x="13322" y="216424"/>
                </a:cubicBezTo>
                <a:lnTo>
                  <a:pt x="216422" y="216424"/>
                </a:lnTo>
                <a:lnTo>
                  <a:pt x="216422" y="13322"/>
                </a:lnTo>
                <a:cubicBezTo>
                  <a:pt x="216422" y="5964"/>
                  <a:pt x="222386" y="0"/>
                  <a:pt x="229744"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p:cNvSpPr txBox="1"/>
          <p:nvPr/>
        </p:nvSpPr>
        <p:spPr>
          <a:xfrm>
            <a:off x="4395815" y="1320140"/>
            <a:ext cx="1338828" cy="923330"/>
          </a:xfrm>
          <a:prstGeom prst="rect">
            <a:avLst/>
          </a:prstGeom>
          <a:solidFill>
            <a:schemeClr val="accent6">
              <a:lumMod val="20000"/>
              <a:lumOff val="80000"/>
            </a:schemeClr>
          </a:solidFill>
        </p:spPr>
        <p:txBody>
          <a:bodyPr wrap="none" rtlCol="0">
            <a:spAutoFit/>
          </a:bodyPr>
          <a:lstStyle/>
          <a:p>
            <a:pPr algn="ctr"/>
            <a:r>
              <a:rPr lang="en-US" altLang="zh-CN" dirty="0"/>
              <a:t>Total</a:t>
            </a:r>
          </a:p>
          <a:p>
            <a:pPr algn="ctr"/>
            <a:r>
              <a:rPr lang="en-US" altLang="zh-CN" dirty="0"/>
              <a:t>Entropy</a:t>
            </a:r>
          </a:p>
          <a:p>
            <a:pPr algn="ctr"/>
            <a:r>
              <a:rPr lang="en-US" altLang="zh-CN" dirty="0"/>
              <a:t>generation </a:t>
            </a:r>
            <a:endParaRPr lang="zh-CN" altLang="en-US" dirty="0"/>
          </a:p>
        </p:txBody>
      </p:sp>
      <p:sp>
        <p:nvSpPr>
          <p:cNvPr id="11" name="圆角矩形 10"/>
          <p:cNvSpPr/>
          <p:nvPr/>
        </p:nvSpPr>
        <p:spPr>
          <a:xfrm>
            <a:off x="5885904" y="1701874"/>
            <a:ext cx="512777" cy="79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圆角矩形 11"/>
          <p:cNvSpPr/>
          <p:nvPr/>
        </p:nvSpPr>
        <p:spPr>
          <a:xfrm>
            <a:off x="5902493" y="1865512"/>
            <a:ext cx="512777" cy="79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TextBox 12"/>
          <p:cNvSpPr txBox="1"/>
          <p:nvPr/>
        </p:nvSpPr>
        <p:spPr>
          <a:xfrm>
            <a:off x="6598593" y="1320140"/>
            <a:ext cx="1867479" cy="923330"/>
          </a:xfrm>
          <a:prstGeom prst="rect">
            <a:avLst/>
          </a:prstGeom>
          <a:solidFill>
            <a:schemeClr val="accent6">
              <a:lumMod val="20000"/>
              <a:lumOff val="80000"/>
            </a:schemeClr>
          </a:solidFill>
        </p:spPr>
        <p:txBody>
          <a:bodyPr wrap="square" rtlCol="0">
            <a:spAutoFit/>
          </a:bodyPr>
          <a:lstStyle/>
          <a:p>
            <a:pPr algn="ctr"/>
            <a:r>
              <a:rPr lang="en-US" altLang="zh-CN" dirty="0"/>
              <a:t>Changing in the</a:t>
            </a:r>
          </a:p>
          <a:p>
            <a:pPr algn="ctr"/>
            <a:r>
              <a:rPr lang="en-US" altLang="zh-CN" dirty="0"/>
              <a:t>Total entropy </a:t>
            </a:r>
          </a:p>
          <a:p>
            <a:pPr algn="ctr"/>
            <a:r>
              <a:rPr lang="en-US" altLang="zh-CN" dirty="0"/>
              <a:t>Of the system  </a:t>
            </a:r>
            <a:endParaRPr lang="zh-CN" altLang="en-US" dirty="0"/>
          </a:p>
        </p:txBody>
      </p:sp>
      <p:pic>
        <p:nvPicPr>
          <p:cNvPr id="808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1226" t="32911" r="5733" b="5605"/>
          <a:stretch/>
        </p:blipFill>
        <p:spPr bwMode="auto">
          <a:xfrm>
            <a:off x="154171" y="2977492"/>
            <a:ext cx="2051816" cy="2200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Box 14"/>
          <p:cNvSpPr txBox="1"/>
          <p:nvPr/>
        </p:nvSpPr>
        <p:spPr>
          <a:xfrm>
            <a:off x="232750" y="5386356"/>
            <a:ext cx="2257364" cy="584775"/>
          </a:xfrm>
          <a:prstGeom prst="rect">
            <a:avLst/>
          </a:prstGeom>
          <a:noFill/>
        </p:spPr>
        <p:txBody>
          <a:bodyPr wrap="square" rtlCol="0">
            <a:spAutoFit/>
          </a:bodyPr>
          <a:lstStyle/>
          <a:p>
            <a:pPr algn="ctr"/>
            <a:r>
              <a:rPr lang="en-US" altLang="zh-CN" sz="1600" dirty="0"/>
              <a:t>Energy and entropy balance for system</a:t>
            </a:r>
            <a:endParaRPr lang="zh-CN" altLang="en-US" sz="1600" dirty="0"/>
          </a:p>
        </p:txBody>
      </p:sp>
      <p:graphicFrame>
        <p:nvGraphicFramePr>
          <p:cNvPr id="17" name="对象 16"/>
          <p:cNvGraphicFramePr>
            <a:graphicFrameLocks noChangeAspect="1"/>
          </p:cNvGraphicFramePr>
          <p:nvPr/>
        </p:nvGraphicFramePr>
        <p:xfrm>
          <a:off x="170013" y="6112694"/>
          <a:ext cx="2382837" cy="384175"/>
        </p:xfrm>
        <a:graphic>
          <a:graphicData uri="http://schemas.openxmlformats.org/presentationml/2006/ole">
            <mc:AlternateContent xmlns:mc="http://schemas.openxmlformats.org/markup-compatibility/2006">
              <mc:Choice xmlns:v="urn:schemas-microsoft-com:vml" Requires="v">
                <p:oleObj name="Equation" r:id="rId3" imgW="1498320" imgH="241200" progId="Equation.DSMT4">
                  <p:embed/>
                </p:oleObj>
              </mc:Choice>
              <mc:Fallback>
                <p:oleObj name="Equation" r:id="rId3" imgW="1498320" imgH="241200" progId="Equation.DSMT4">
                  <p:embed/>
                  <p:pic>
                    <p:nvPicPr>
                      <p:cNvPr id="0" name=""/>
                      <p:cNvPicPr>
                        <a:picLocks noChangeAspect="1" noChangeArrowheads="1"/>
                      </p:cNvPicPr>
                      <p:nvPr/>
                    </p:nvPicPr>
                    <p:blipFill>
                      <a:blip r:embed="rId4"/>
                      <a:srcRect/>
                      <a:stretch>
                        <a:fillRect/>
                      </a:stretch>
                    </p:blipFill>
                    <p:spPr bwMode="auto">
                      <a:xfrm>
                        <a:off x="170013" y="6112694"/>
                        <a:ext cx="2382837" cy="3841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圆角矩形 18"/>
          <p:cNvSpPr/>
          <p:nvPr/>
        </p:nvSpPr>
        <p:spPr>
          <a:xfrm>
            <a:off x="2817194" y="2898332"/>
            <a:ext cx="933450" cy="542925"/>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Source</a:t>
            </a:r>
          </a:p>
          <a:p>
            <a:pPr algn="ctr"/>
            <a:r>
              <a:rPr lang="zh-CN" altLang="en-US" sz="1200" dirty="0"/>
              <a:t>（</a:t>
            </a:r>
            <a:r>
              <a:rPr lang="en-US" altLang="zh-CN" sz="1200" dirty="0"/>
              <a:t>800K</a:t>
            </a:r>
            <a:r>
              <a:rPr lang="zh-CN" altLang="en-US" sz="1200" dirty="0"/>
              <a:t>）</a:t>
            </a:r>
          </a:p>
        </p:txBody>
      </p:sp>
      <p:sp>
        <p:nvSpPr>
          <p:cNvPr id="20" name="下箭头 19"/>
          <p:cNvSpPr/>
          <p:nvPr/>
        </p:nvSpPr>
        <p:spPr>
          <a:xfrm>
            <a:off x="3158278" y="3504658"/>
            <a:ext cx="226075" cy="244077"/>
          </a:xfrm>
          <a:prstGeom prst="down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20"/>
          <p:cNvSpPr txBox="1"/>
          <p:nvPr/>
        </p:nvSpPr>
        <p:spPr>
          <a:xfrm>
            <a:off x="3384353" y="3472809"/>
            <a:ext cx="1269899" cy="276999"/>
          </a:xfrm>
          <a:prstGeom prst="rect">
            <a:avLst/>
          </a:prstGeom>
          <a:noFill/>
        </p:spPr>
        <p:txBody>
          <a:bodyPr wrap="none" rtlCol="0">
            <a:spAutoFit/>
          </a:bodyPr>
          <a:lstStyle/>
          <a:p>
            <a:r>
              <a:rPr lang="en-US" altLang="zh-CN" sz="1200" i="1" dirty="0" err="1"/>
              <a:t>Q</a:t>
            </a:r>
            <a:r>
              <a:rPr lang="en-US" altLang="zh-CN" sz="1200" i="1" baseline="-25000" dirty="0" err="1"/>
              <a:t>source</a:t>
            </a:r>
            <a:r>
              <a:rPr lang="en-US" altLang="zh-CN" sz="1200" i="1" baseline="-25000" dirty="0"/>
              <a:t> </a:t>
            </a:r>
            <a:r>
              <a:rPr lang="en-US" altLang="zh-CN" sz="1200" i="1" dirty="0"/>
              <a:t>=2000 kJ</a:t>
            </a:r>
            <a:endParaRPr lang="zh-CN" altLang="en-US" sz="1200" i="1" dirty="0"/>
          </a:p>
        </p:txBody>
      </p:sp>
      <p:sp>
        <p:nvSpPr>
          <p:cNvPr id="22" name="圆角矩形 21"/>
          <p:cNvSpPr/>
          <p:nvPr/>
        </p:nvSpPr>
        <p:spPr>
          <a:xfrm>
            <a:off x="2852943" y="4504470"/>
            <a:ext cx="933450" cy="5429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Sink</a:t>
            </a:r>
          </a:p>
          <a:p>
            <a:pPr algn="ctr"/>
            <a:r>
              <a:rPr lang="en-US" altLang="zh-CN" sz="1200" dirty="0"/>
              <a:t>(500 K)</a:t>
            </a:r>
            <a:endParaRPr lang="zh-CN" altLang="en-US" sz="1200" dirty="0"/>
          </a:p>
        </p:txBody>
      </p:sp>
      <p:sp>
        <p:nvSpPr>
          <p:cNvPr id="23" name="椭圆 22"/>
          <p:cNvSpPr/>
          <p:nvPr/>
        </p:nvSpPr>
        <p:spPr>
          <a:xfrm>
            <a:off x="3055319" y="3780585"/>
            <a:ext cx="457200" cy="4192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00" dirty="0"/>
          </a:p>
        </p:txBody>
      </p:sp>
      <p:sp>
        <p:nvSpPr>
          <p:cNvPr id="24" name="下箭头 23"/>
          <p:cNvSpPr/>
          <p:nvPr/>
        </p:nvSpPr>
        <p:spPr>
          <a:xfrm>
            <a:off x="3158278" y="4254455"/>
            <a:ext cx="226075" cy="244077"/>
          </a:xfrm>
          <a:prstGeom prst="down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24"/>
          <p:cNvSpPr txBox="1"/>
          <p:nvPr/>
        </p:nvSpPr>
        <p:spPr>
          <a:xfrm>
            <a:off x="2429193" y="3851707"/>
            <a:ext cx="1010213" cy="276999"/>
          </a:xfrm>
          <a:prstGeom prst="rect">
            <a:avLst/>
          </a:prstGeom>
          <a:noFill/>
        </p:spPr>
        <p:txBody>
          <a:bodyPr wrap="none" rtlCol="0">
            <a:spAutoFit/>
          </a:bodyPr>
          <a:lstStyle/>
          <a:p>
            <a:r>
              <a:rPr lang="en-US" altLang="zh-CN" sz="1200" dirty="0"/>
              <a:t>Heat</a:t>
            </a:r>
            <a:r>
              <a:rPr lang="zh-CN" altLang="en-US" sz="1200" dirty="0"/>
              <a:t> </a:t>
            </a:r>
            <a:r>
              <a:rPr lang="en-US" altLang="zh-CN" sz="1200" dirty="0"/>
              <a:t>engine</a:t>
            </a:r>
          </a:p>
        </p:txBody>
      </p:sp>
      <p:sp>
        <p:nvSpPr>
          <p:cNvPr id="26" name="下箭头 25"/>
          <p:cNvSpPr/>
          <p:nvPr/>
        </p:nvSpPr>
        <p:spPr>
          <a:xfrm rot="16200000">
            <a:off x="3548916" y="3868167"/>
            <a:ext cx="226075" cy="244077"/>
          </a:xfrm>
          <a:prstGeom prst="down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Box 26"/>
          <p:cNvSpPr txBox="1"/>
          <p:nvPr/>
        </p:nvSpPr>
        <p:spPr>
          <a:xfrm>
            <a:off x="3783350" y="3859402"/>
            <a:ext cx="1035861" cy="307777"/>
          </a:xfrm>
          <a:prstGeom prst="rect">
            <a:avLst/>
          </a:prstGeom>
          <a:noFill/>
        </p:spPr>
        <p:txBody>
          <a:bodyPr wrap="none" rtlCol="0">
            <a:spAutoFit/>
          </a:bodyPr>
          <a:lstStyle/>
          <a:p>
            <a:r>
              <a:rPr lang="en-US" altLang="zh-CN" sz="1400" i="1" dirty="0">
                <a:solidFill>
                  <a:srgbClr val="FF0000"/>
                </a:solidFill>
              </a:rPr>
              <a:t>W= 750 kJ</a:t>
            </a:r>
            <a:endParaRPr lang="zh-CN" altLang="en-US" sz="1400" i="1" dirty="0">
              <a:solidFill>
                <a:srgbClr val="FF0000"/>
              </a:solidFill>
            </a:endParaRPr>
          </a:p>
        </p:txBody>
      </p:sp>
      <p:sp>
        <p:nvSpPr>
          <p:cNvPr id="28" name="TextBox 27"/>
          <p:cNvSpPr txBox="1"/>
          <p:nvPr/>
        </p:nvSpPr>
        <p:spPr>
          <a:xfrm>
            <a:off x="3445026" y="4181906"/>
            <a:ext cx="1143262" cy="276999"/>
          </a:xfrm>
          <a:prstGeom prst="rect">
            <a:avLst/>
          </a:prstGeom>
          <a:noFill/>
        </p:spPr>
        <p:txBody>
          <a:bodyPr wrap="none" rtlCol="0">
            <a:spAutoFit/>
          </a:bodyPr>
          <a:lstStyle/>
          <a:p>
            <a:r>
              <a:rPr lang="en-US" altLang="zh-CN" sz="1200" i="1" dirty="0" err="1"/>
              <a:t>Q</a:t>
            </a:r>
            <a:r>
              <a:rPr lang="en-US" altLang="zh-CN" sz="1200" i="1" baseline="-25000" dirty="0" err="1"/>
              <a:t>sink</a:t>
            </a:r>
            <a:r>
              <a:rPr lang="en-US" altLang="zh-CN" sz="1200" i="1" baseline="-25000" dirty="0"/>
              <a:t> </a:t>
            </a:r>
            <a:r>
              <a:rPr lang="en-US" altLang="zh-CN" sz="1200" i="1" dirty="0"/>
              <a:t>=1250 kJ</a:t>
            </a:r>
            <a:endParaRPr lang="zh-CN" altLang="en-US" sz="1200" i="1" dirty="0"/>
          </a:p>
        </p:txBody>
      </p:sp>
      <p:sp>
        <p:nvSpPr>
          <p:cNvPr id="18" name="TextBox 17"/>
          <p:cNvSpPr txBox="1"/>
          <p:nvPr/>
        </p:nvSpPr>
        <p:spPr>
          <a:xfrm>
            <a:off x="3158278" y="2454572"/>
            <a:ext cx="3788217" cy="369332"/>
          </a:xfrm>
          <a:prstGeom prst="rect">
            <a:avLst/>
          </a:prstGeom>
          <a:noFill/>
        </p:spPr>
        <p:txBody>
          <a:bodyPr wrap="none" rtlCol="0">
            <a:spAutoFit/>
          </a:bodyPr>
          <a:lstStyle/>
          <a:p>
            <a:r>
              <a:rPr lang="en-US" altLang="zh-CN" dirty="0"/>
              <a:t>Considering </a:t>
            </a:r>
            <a:r>
              <a:rPr lang="en-US" altLang="zh-CN" dirty="0">
                <a:solidFill>
                  <a:srgbClr val="FF0000"/>
                </a:solidFill>
              </a:rPr>
              <a:t>heat engine </a:t>
            </a:r>
            <a:r>
              <a:rPr lang="en-US" altLang="zh-CN" dirty="0"/>
              <a:t>as system</a:t>
            </a:r>
            <a:endParaRPr lang="zh-CN" altLang="en-US" dirty="0"/>
          </a:p>
        </p:txBody>
      </p:sp>
      <p:graphicFrame>
        <p:nvGraphicFramePr>
          <p:cNvPr id="29" name="对象 28"/>
          <p:cNvGraphicFramePr>
            <a:graphicFrameLocks noChangeAspect="1"/>
          </p:cNvGraphicFramePr>
          <p:nvPr/>
        </p:nvGraphicFramePr>
        <p:xfrm>
          <a:off x="2863879" y="5263043"/>
          <a:ext cx="1845028" cy="1159004"/>
        </p:xfrm>
        <a:graphic>
          <a:graphicData uri="http://schemas.openxmlformats.org/presentationml/2006/ole">
            <mc:AlternateContent xmlns:mc="http://schemas.openxmlformats.org/markup-compatibility/2006">
              <mc:Choice xmlns:v="urn:schemas-microsoft-com:vml" Requires="v">
                <p:oleObj name="Equation" r:id="rId5" imgW="2222280" imgH="1396800" progId="Equation.DSMT4">
                  <p:embed/>
                </p:oleObj>
              </mc:Choice>
              <mc:Fallback>
                <p:oleObj name="Equation" r:id="rId5" imgW="2222280" imgH="1396800" progId="Equation.DSMT4">
                  <p:embed/>
                  <p:pic>
                    <p:nvPicPr>
                      <p:cNvPr id="0" name=""/>
                      <p:cNvPicPr>
                        <a:picLocks noChangeAspect="1" noChangeArrowheads="1"/>
                      </p:cNvPicPr>
                      <p:nvPr/>
                    </p:nvPicPr>
                    <p:blipFill>
                      <a:blip r:embed="rId6"/>
                      <a:srcRect/>
                      <a:stretch>
                        <a:fillRect/>
                      </a:stretch>
                    </p:blipFill>
                    <p:spPr bwMode="auto">
                      <a:xfrm>
                        <a:off x="2863879" y="5263043"/>
                        <a:ext cx="1845028" cy="1159004"/>
                      </a:xfrm>
                      <a:prstGeom prst="rect">
                        <a:avLst/>
                      </a:prstGeom>
                      <a:solidFill>
                        <a:srgbClr val="E2F0D9"/>
                      </a:solidFill>
                      <a:ln>
                        <a:noFill/>
                      </a:ln>
                    </p:spPr>
                  </p:pic>
                </p:oleObj>
              </mc:Fallback>
            </mc:AlternateContent>
          </a:graphicData>
        </a:graphic>
      </p:graphicFrame>
      <p:sp>
        <p:nvSpPr>
          <p:cNvPr id="31" name="圆角矩形 30"/>
          <p:cNvSpPr/>
          <p:nvPr/>
        </p:nvSpPr>
        <p:spPr>
          <a:xfrm>
            <a:off x="6436493" y="2902836"/>
            <a:ext cx="933450" cy="542925"/>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Source</a:t>
            </a:r>
          </a:p>
          <a:p>
            <a:pPr algn="ctr"/>
            <a:r>
              <a:rPr lang="zh-CN" altLang="en-US" sz="1200" dirty="0"/>
              <a:t>（</a:t>
            </a:r>
            <a:r>
              <a:rPr lang="en-US" altLang="zh-CN" sz="1200" dirty="0"/>
              <a:t>800K</a:t>
            </a:r>
            <a:r>
              <a:rPr lang="zh-CN" altLang="en-US" sz="1200" dirty="0"/>
              <a:t>）</a:t>
            </a:r>
          </a:p>
        </p:txBody>
      </p:sp>
      <p:sp>
        <p:nvSpPr>
          <p:cNvPr id="32" name="下箭头 31"/>
          <p:cNvSpPr/>
          <p:nvPr/>
        </p:nvSpPr>
        <p:spPr>
          <a:xfrm>
            <a:off x="6777577" y="3509162"/>
            <a:ext cx="226075" cy="244077"/>
          </a:xfrm>
          <a:prstGeom prst="down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Box 32"/>
          <p:cNvSpPr txBox="1"/>
          <p:nvPr/>
        </p:nvSpPr>
        <p:spPr>
          <a:xfrm>
            <a:off x="7003652" y="3477313"/>
            <a:ext cx="1269899" cy="276999"/>
          </a:xfrm>
          <a:prstGeom prst="rect">
            <a:avLst/>
          </a:prstGeom>
          <a:noFill/>
        </p:spPr>
        <p:txBody>
          <a:bodyPr wrap="none" rtlCol="0">
            <a:spAutoFit/>
          </a:bodyPr>
          <a:lstStyle/>
          <a:p>
            <a:r>
              <a:rPr lang="en-US" altLang="zh-CN" sz="1200" i="1" dirty="0" err="1"/>
              <a:t>Q</a:t>
            </a:r>
            <a:r>
              <a:rPr lang="en-US" altLang="zh-CN" sz="1200" i="1" baseline="-25000" dirty="0" err="1"/>
              <a:t>source</a:t>
            </a:r>
            <a:r>
              <a:rPr lang="en-US" altLang="zh-CN" sz="1200" i="1" baseline="-25000" dirty="0"/>
              <a:t> </a:t>
            </a:r>
            <a:r>
              <a:rPr lang="en-US" altLang="zh-CN" sz="1200" i="1" dirty="0"/>
              <a:t>=2000 kJ</a:t>
            </a:r>
            <a:endParaRPr lang="zh-CN" altLang="en-US" sz="1200" i="1" dirty="0"/>
          </a:p>
        </p:txBody>
      </p:sp>
      <p:sp>
        <p:nvSpPr>
          <p:cNvPr id="34" name="圆角矩形 33"/>
          <p:cNvSpPr/>
          <p:nvPr/>
        </p:nvSpPr>
        <p:spPr>
          <a:xfrm>
            <a:off x="6472242" y="4508974"/>
            <a:ext cx="933450" cy="5429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Sink</a:t>
            </a:r>
          </a:p>
          <a:p>
            <a:pPr algn="ctr"/>
            <a:r>
              <a:rPr lang="en-US" altLang="zh-CN" sz="1200" dirty="0"/>
              <a:t>(500 K)</a:t>
            </a:r>
            <a:endParaRPr lang="zh-CN" altLang="en-US" sz="1200" dirty="0"/>
          </a:p>
        </p:txBody>
      </p:sp>
      <p:sp>
        <p:nvSpPr>
          <p:cNvPr id="35" name="椭圆 34"/>
          <p:cNvSpPr/>
          <p:nvPr/>
        </p:nvSpPr>
        <p:spPr>
          <a:xfrm>
            <a:off x="6674618" y="3785089"/>
            <a:ext cx="457200" cy="4192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00" dirty="0"/>
          </a:p>
        </p:txBody>
      </p:sp>
      <p:sp>
        <p:nvSpPr>
          <p:cNvPr id="36" name="下箭头 35"/>
          <p:cNvSpPr/>
          <p:nvPr/>
        </p:nvSpPr>
        <p:spPr>
          <a:xfrm>
            <a:off x="6777577" y="4258959"/>
            <a:ext cx="226075" cy="244077"/>
          </a:xfrm>
          <a:prstGeom prst="down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TextBox 36"/>
          <p:cNvSpPr txBox="1"/>
          <p:nvPr/>
        </p:nvSpPr>
        <p:spPr>
          <a:xfrm>
            <a:off x="6048492" y="3856211"/>
            <a:ext cx="1010213" cy="276999"/>
          </a:xfrm>
          <a:prstGeom prst="rect">
            <a:avLst/>
          </a:prstGeom>
          <a:noFill/>
        </p:spPr>
        <p:txBody>
          <a:bodyPr wrap="none" rtlCol="0">
            <a:spAutoFit/>
          </a:bodyPr>
          <a:lstStyle/>
          <a:p>
            <a:r>
              <a:rPr lang="en-US" altLang="zh-CN" sz="1200" dirty="0"/>
              <a:t>Heat</a:t>
            </a:r>
            <a:r>
              <a:rPr lang="zh-CN" altLang="en-US" sz="1200" dirty="0"/>
              <a:t> </a:t>
            </a:r>
            <a:r>
              <a:rPr lang="en-US" altLang="zh-CN" sz="1200" dirty="0"/>
              <a:t>engine</a:t>
            </a:r>
          </a:p>
        </p:txBody>
      </p:sp>
      <p:sp>
        <p:nvSpPr>
          <p:cNvPr id="38" name="下箭头 37"/>
          <p:cNvSpPr/>
          <p:nvPr/>
        </p:nvSpPr>
        <p:spPr>
          <a:xfrm rot="16200000">
            <a:off x="7168215" y="3872671"/>
            <a:ext cx="226075" cy="244077"/>
          </a:xfrm>
          <a:prstGeom prst="downArrow">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TextBox 38"/>
          <p:cNvSpPr txBox="1"/>
          <p:nvPr/>
        </p:nvSpPr>
        <p:spPr>
          <a:xfrm>
            <a:off x="7402649" y="3863906"/>
            <a:ext cx="1035861" cy="307777"/>
          </a:xfrm>
          <a:prstGeom prst="rect">
            <a:avLst/>
          </a:prstGeom>
          <a:noFill/>
        </p:spPr>
        <p:txBody>
          <a:bodyPr wrap="none" rtlCol="0">
            <a:spAutoFit/>
          </a:bodyPr>
          <a:lstStyle/>
          <a:p>
            <a:r>
              <a:rPr lang="en-US" altLang="zh-CN" sz="1400" i="1" dirty="0">
                <a:solidFill>
                  <a:srgbClr val="FF0000"/>
                </a:solidFill>
              </a:rPr>
              <a:t>W= 600 kJ</a:t>
            </a:r>
            <a:endParaRPr lang="zh-CN" altLang="en-US" sz="1400" i="1" dirty="0">
              <a:solidFill>
                <a:srgbClr val="FF0000"/>
              </a:solidFill>
            </a:endParaRPr>
          </a:p>
        </p:txBody>
      </p:sp>
      <p:sp>
        <p:nvSpPr>
          <p:cNvPr id="40" name="TextBox 39"/>
          <p:cNvSpPr txBox="1"/>
          <p:nvPr/>
        </p:nvSpPr>
        <p:spPr>
          <a:xfrm>
            <a:off x="7064325" y="4186410"/>
            <a:ext cx="1143262" cy="276999"/>
          </a:xfrm>
          <a:prstGeom prst="rect">
            <a:avLst/>
          </a:prstGeom>
          <a:noFill/>
        </p:spPr>
        <p:txBody>
          <a:bodyPr wrap="none" rtlCol="0">
            <a:spAutoFit/>
          </a:bodyPr>
          <a:lstStyle/>
          <a:p>
            <a:r>
              <a:rPr lang="en-US" altLang="zh-CN" sz="1200" i="1" dirty="0" err="1"/>
              <a:t>Q</a:t>
            </a:r>
            <a:r>
              <a:rPr lang="en-US" altLang="zh-CN" sz="1200" i="1" baseline="-25000" dirty="0" err="1"/>
              <a:t>sink</a:t>
            </a:r>
            <a:r>
              <a:rPr lang="en-US" altLang="zh-CN" sz="1200" i="1" baseline="-25000" dirty="0"/>
              <a:t> </a:t>
            </a:r>
            <a:r>
              <a:rPr lang="en-US" altLang="zh-CN" sz="1200" i="1" dirty="0"/>
              <a:t>=1400 kJ</a:t>
            </a:r>
            <a:endParaRPr lang="zh-CN" altLang="en-US" sz="1200" i="1" dirty="0"/>
          </a:p>
        </p:txBody>
      </p:sp>
      <p:graphicFrame>
        <p:nvGraphicFramePr>
          <p:cNvPr id="30" name="对象 29"/>
          <p:cNvGraphicFramePr>
            <a:graphicFrameLocks noChangeAspect="1"/>
          </p:cNvGraphicFramePr>
          <p:nvPr/>
        </p:nvGraphicFramePr>
        <p:xfrm>
          <a:off x="6181726" y="5178019"/>
          <a:ext cx="1844675" cy="1284288"/>
        </p:xfrm>
        <a:graphic>
          <a:graphicData uri="http://schemas.openxmlformats.org/presentationml/2006/ole">
            <mc:AlternateContent xmlns:mc="http://schemas.openxmlformats.org/markup-compatibility/2006">
              <mc:Choice xmlns:v="urn:schemas-microsoft-com:vml" Requires="v">
                <p:oleObj name="Equation" r:id="rId7" imgW="2222280" imgH="1549080" progId="Equation.DSMT4">
                  <p:embed/>
                </p:oleObj>
              </mc:Choice>
              <mc:Fallback>
                <p:oleObj name="Equation" r:id="rId7" imgW="2222280" imgH="1549080" progId="Equation.DSMT4">
                  <p:embed/>
                  <p:pic>
                    <p:nvPicPr>
                      <p:cNvPr id="0" name=""/>
                      <p:cNvPicPr>
                        <a:picLocks noChangeAspect="1" noChangeArrowheads="1"/>
                      </p:cNvPicPr>
                      <p:nvPr/>
                    </p:nvPicPr>
                    <p:blipFill>
                      <a:blip r:embed="rId8"/>
                      <a:srcRect/>
                      <a:stretch>
                        <a:fillRect/>
                      </a:stretch>
                    </p:blipFill>
                    <p:spPr bwMode="auto">
                      <a:xfrm>
                        <a:off x="6181726" y="5178019"/>
                        <a:ext cx="1844675" cy="1284288"/>
                      </a:xfrm>
                      <a:prstGeom prst="rect">
                        <a:avLst/>
                      </a:prstGeom>
                      <a:solidFill>
                        <a:srgbClr val="E2F0D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6158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3652" y="205064"/>
            <a:ext cx="4063933" cy="523220"/>
          </a:xfrm>
          <a:prstGeom prst="rect">
            <a:avLst/>
          </a:prstGeom>
          <a:noFill/>
        </p:spPr>
        <p:txBody>
          <a:bodyPr wrap="none" rtlCol="0">
            <a:spAutoFit/>
          </a:bodyPr>
          <a:lstStyle/>
          <a:p>
            <a:r>
              <a:rPr lang="en-US" altLang="zh-CN" sz="2800" dirty="0">
                <a:solidFill>
                  <a:srgbClr val="FF0000"/>
                </a:solidFill>
              </a:rPr>
              <a:t>The changes of entropy </a:t>
            </a:r>
            <a:endParaRPr lang="zh-CN" altLang="en-US" sz="2800" dirty="0">
              <a:solidFill>
                <a:srgbClr val="FF0000"/>
              </a:solidFill>
            </a:endParaRPr>
          </a:p>
        </p:txBody>
      </p:sp>
      <p:graphicFrame>
        <p:nvGraphicFramePr>
          <p:cNvPr id="3" name="对象 2"/>
          <p:cNvGraphicFramePr>
            <a:graphicFrameLocks noChangeAspect="1"/>
          </p:cNvGraphicFramePr>
          <p:nvPr/>
        </p:nvGraphicFramePr>
        <p:xfrm>
          <a:off x="3091229" y="1748237"/>
          <a:ext cx="2160158" cy="355226"/>
        </p:xfrm>
        <a:graphic>
          <a:graphicData uri="http://schemas.openxmlformats.org/presentationml/2006/ole">
            <mc:AlternateContent xmlns:mc="http://schemas.openxmlformats.org/markup-compatibility/2006">
              <mc:Choice xmlns:v="urn:schemas-microsoft-com:vml" Requires="v">
                <p:oleObj name="Equation" r:id="rId2" imgW="1079032" imgH="177723" progId="Equation.DSMT4">
                  <p:embed/>
                </p:oleObj>
              </mc:Choice>
              <mc:Fallback>
                <p:oleObj name="Equation" r:id="rId2" imgW="1079032" imgH="177723"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1229" y="1748237"/>
                        <a:ext cx="2160158" cy="355226"/>
                      </a:xfrm>
                      <a:prstGeom prst="rect">
                        <a:avLst/>
                      </a:prstGeom>
                      <a:noFill/>
                      <a:ln>
                        <a:noFill/>
                      </a:ln>
                    </p:spPr>
                  </p:pic>
                </p:oleObj>
              </mc:Fallback>
            </mc:AlternateContent>
          </a:graphicData>
        </a:graphic>
      </p:graphicFrame>
      <p:graphicFrame>
        <p:nvGraphicFramePr>
          <p:cNvPr id="4" name="对象 3"/>
          <p:cNvGraphicFramePr>
            <a:graphicFrameLocks noChangeAspect="1"/>
          </p:cNvGraphicFramePr>
          <p:nvPr/>
        </p:nvGraphicFramePr>
        <p:xfrm>
          <a:off x="113652" y="1614531"/>
          <a:ext cx="2619666" cy="838200"/>
        </p:xfrm>
        <a:graphic>
          <a:graphicData uri="http://schemas.openxmlformats.org/presentationml/2006/ole">
            <mc:AlternateContent xmlns:mc="http://schemas.openxmlformats.org/markup-compatibility/2006">
              <mc:Choice xmlns:v="urn:schemas-microsoft-com:vml" Requires="v">
                <p:oleObj name="Equation" r:id="rId4" imgW="1346040" imgH="431640" progId="Equation.DSMT4">
                  <p:embed/>
                </p:oleObj>
              </mc:Choice>
              <mc:Fallback>
                <p:oleObj name="Equation" r:id="rId4" imgW="1346040" imgH="431640" progId="Equation.DSMT4">
                  <p:embed/>
                  <p:pic>
                    <p:nvPicPr>
                      <p:cNvPr id="0" name=""/>
                      <p:cNvPicPr>
                        <a:picLocks noChangeAspect="1" noChangeArrowheads="1"/>
                      </p:cNvPicPr>
                      <p:nvPr/>
                    </p:nvPicPr>
                    <p:blipFill>
                      <a:blip r:embed="rId5"/>
                      <a:srcRect/>
                      <a:stretch>
                        <a:fillRect/>
                      </a:stretch>
                    </p:blipFill>
                    <p:spPr bwMode="auto">
                      <a:xfrm>
                        <a:off x="113652" y="1614531"/>
                        <a:ext cx="2619666" cy="838200"/>
                      </a:xfrm>
                      <a:prstGeom prst="rect">
                        <a:avLst/>
                      </a:prstGeom>
                      <a:noFill/>
                      <a:ln>
                        <a:noFill/>
                      </a:ln>
                    </p:spPr>
                  </p:pic>
                </p:oleObj>
              </mc:Fallback>
            </mc:AlternateContent>
          </a:graphicData>
        </a:graphic>
      </p:graphicFrame>
      <p:sp>
        <p:nvSpPr>
          <p:cNvPr id="5" name="右大括号 4"/>
          <p:cNvSpPr/>
          <p:nvPr/>
        </p:nvSpPr>
        <p:spPr>
          <a:xfrm>
            <a:off x="2800572" y="1614530"/>
            <a:ext cx="152400" cy="685800"/>
          </a:xfrm>
          <a:prstGeom prst="rightBrace">
            <a:avLst>
              <a:gd name="adj1" fmla="val 5625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6" name="对象 5"/>
          <p:cNvGraphicFramePr>
            <a:graphicFrameLocks noChangeAspect="1"/>
          </p:cNvGraphicFramePr>
          <p:nvPr/>
        </p:nvGraphicFramePr>
        <p:xfrm>
          <a:off x="182992" y="4276813"/>
          <a:ext cx="2340776" cy="1066800"/>
        </p:xfrm>
        <a:graphic>
          <a:graphicData uri="http://schemas.openxmlformats.org/presentationml/2006/ole">
            <mc:AlternateContent xmlns:mc="http://schemas.openxmlformats.org/markup-compatibility/2006">
              <mc:Choice xmlns:v="urn:schemas-microsoft-com:vml" Requires="v">
                <p:oleObj name="Equation" r:id="rId6" imgW="1422360" imgH="647640" progId="Equation.DSMT4">
                  <p:embed/>
                </p:oleObj>
              </mc:Choice>
              <mc:Fallback>
                <p:oleObj name="Equation" r:id="rId6" imgW="1422360" imgH="647640" progId="Equation.DSMT4">
                  <p:embed/>
                  <p:pic>
                    <p:nvPicPr>
                      <p:cNvPr id="0" name=""/>
                      <p:cNvPicPr>
                        <a:picLocks noChangeAspect="1" noChangeArrowheads="1"/>
                      </p:cNvPicPr>
                      <p:nvPr/>
                    </p:nvPicPr>
                    <p:blipFill>
                      <a:blip r:embed="rId7"/>
                      <a:srcRect/>
                      <a:stretch>
                        <a:fillRect/>
                      </a:stretch>
                    </p:blipFill>
                    <p:spPr bwMode="auto">
                      <a:xfrm>
                        <a:off x="182992" y="4276813"/>
                        <a:ext cx="2340776" cy="1066800"/>
                      </a:xfrm>
                      <a:prstGeom prst="rect">
                        <a:avLst/>
                      </a:prstGeom>
                      <a:noFill/>
                      <a:ln>
                        <a:noFill/>
                      </a:ln>
                    </p:spPr>
                  </p:pic>
                </p:oleObj>
              </mc:Fallback>
            </mc:AlternateContent>
          </a:graphicData>
        </a:graphic>
      </p:graphicFrame>
      <p:graphicFrame>
        <p:nvGraphicFramePr>
          <p:cNvPr id="7" name="对象 6"/>
          <p:cNvGraphicFramePr>
            <a:graphicFrameLocks noChangeAspect="1"/>
          </p:cNvGraphicFramePr>
          <p:nvPr/>
        </p:nvGraphicFramePr>
        <p:xfrm>
          <a:off x="152384" y="5496012"/>
          <a:ext cx="1935608" cy="319044"/>
        </p:xfrm>
        <a:graphic>
          <a:graphicData uri="http://schemas.openxmlformats.org/presentationml/2006/ole">
            <mc:AlternateContent xmlns:mc="http://schemas.openxmlformats.org/markup-compatibility/2006">
              <mc:Choice xmlns:v="urn:schemas-microsoft-com:vml" Requires="v">
                <p:oleObj name="Equation" r:id="rId8" imgW="1079032" imgH="177723" progId="Equation.DSMT4">
                  <p:embed/>
                </p:oleObj>
              </mc:Choice>
              <mc:Fallback>
                <p:oleObj name="Equation" r:id="rId8" imgW="1079032" imgH="177723"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384" y="5496012"/>
                        <a:ext cx="1935608" cy="319044"/>
                      </a:xfrm>
                      <a:prstGeom prst="rect">
                        <a:avLst/>
                      </a:prstGeom>
                      <a:noFill/>
                      <a:ln>
                        <a:noFill/>
                      </a:ln>
                    </p:spPr>
                  </p:pic>
                </p:oleObj>
              </mc:Fallback>
            </mc:AlternateContent>
          </a:graphicData>
        </a:graphic>
      </p:graphicFrame>
      <p:sp>
        <p:nvSpPr>
          <p:cNvPr id="8" name="右大括号 7"/>
          <p:cNvSpPr/>
          <p:nvPr/>
        </p:nvSpPr>
        <p:spPr>
          <a:xfrm>
            <a:off x="2745439" y="4367256"/>
            <a:ext cx="152400" cy="1447800"/>
          </a:xfrm>
          <a:prstGeom prst="rightBrace">
            <a:avLst>
              <a:gd name="adj1" fmla="val 5625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9" name="对象 8"/>
          <p:cNvGraphicFramePr>
            <a:graphicFrameLocks noChangeAspect="1"/>
          </p:cNvGraphicFramePr>
          <p:nvPr/>
        </p:nvGraphicFramePr>
        <p:xfrm>
          <a:off x="2949806" y="4888242"/>
          <a:ext cx="2165119" cy="370877"/>
        </p:xfrm>
        <a:graphic>
          <a:graphicData uri="http://schemas.openxmlformats.org/presentationml/2006/ole">
            <mc:AlternateContent xmlns:mc="http://schemas.openxmlformats.org/markup-compatibility/2006">
              <mc:Choice xmlns:v="urn:schemas-microsoft-com:vml" Requires="v">
                <p:oleObj name="Equation" r:id="rId9" imgW="1041120" imgH="177480" progId="Equation.DSMT4">
                  <p:embed/>
                </p:oleObj>
              </mc:Choice>
              <mc:Fallback>
                <p:oleObj name="Equation" r:id="rId9" imgW="1041120" imgH="177480" progId="Equation.DSMT4">
                  <p:embed/>
                  <p:pic>
                    <p:nvPicPr>
                      <p:cNvPr id="0" name=""/>
                      <p:cNvPicPr>
                        <a:picLocks noChangeAspect="1" noChangeArrowheads="1"/>
                      </p:cNvPicPr>
                      <p:nvPr/>
                    </p:nvPicPr>
                    <p:blipFill>
                      <a:blip r:embed="rId10"/>
                      <a:srcRect/>
                      <a:stretch>
                        <a:fillRect/>
                      </a:stretch>
                    </p:blipFill>
                    <p:spPr bwMode="auto">
                      <a:xfrm>
                        <a:off x="2949806" y="4888242"/>
                        <a:ext cx="2165119" cy="370877"/>
                      </a:xfrm>
                      <a:prstGeom prst="rect">
                        <a:avLst/>
                      </a:prstGeom>
                      <a:noFill/>
                      <a:ln>
                        <a:noFill/>
                      </a:ln>
                    </p:spPr>
                  </p:pic>
                </p:oleObj>
              </mc:Fallback>
            </mc:AlternateContent>
          </a:graphicData>
        </a:graphic>
      </p:graphicFrame>
      <p:graphicFrame>
        <p:nvGraphicFramePr>
          <p:cNvPr id="11" name="对象 10"/>
          <p:cNvGraphicFramePr>
            <a:graphicFrameLocks noChangeAspect="1"/>
          </p:cNvGraphicFramePr>
          <p:nvPr/>
        </p:nvGraphicFramePr>
        <p:xfrm>
          <a:off x="6383338" y="1516063"/>
          <a:ext cx="2082800" cy="784225"/>
        </p:xfrm>
        <a:graphic>
          <a:graphicData uri="http://schemas.openxmlformats.org/presentationml/2006/ole">
            <mc:AlternateContent xmlns:mc="http://schemas.openxmlformats.org/markup-compatibility/2006">
              <mc:Choice xmlns:v="urn:schemas-microsoft-com:vml" Requires="v">
                <p:oleObj name="Equation" r:id="rId11" imgW="1041120" imgH="393480" progId="Equation.DSMT4">
                  <p:embed/>
                </p:oleObj>
              </mc:Choice>
              <mc:Fallback>
                <p:oleObj name="Equation" r:id="rId11" imgW="1041120" imgH="393480" progId="Equation.DSMT4">
                  <p:embed/>
                  <p:pic>
                    <p:nvPicPr>
                      <p:cNvPr id="0" name=""/>
                      <p:cNvPicPr>
                        <a:picLocks noChangeAspect="1" noChangeArrowheads="1"/>
                      </p:cNvPicPr>
                      <p:nvPr/>
                    </p:nvPicPr>
                    <p:blipFill>
                      <a:blip r:embed="rId12"/>
                      <a:srcRect/>
                      <a:stretch>
                        <a:fillRect/>
                      </a:stretch>
                    </p:blipFill>
                    <p:spPr bwMode="auto">
                      <a:xfrm>
                        <a:off x="6383338" y="1516063"/>
                        <a:ext cx="2082800" cy="784225"/>
                      </a:xfrm>
                      <a:prstGeom prst="rect">
                        <a:avLst/>
                      </a:prstGeom>
                      <a:noFill/>
                      <a:ln>
                        <a:noFill/>
                      </a:ln>
                    </p:spPr>
                  </p:pic>
                </p:oleObj>
              </mc:Fallback>
            </mc:AlternateContent>
          </a:graphicData>
        </a:graphic>
      </p:graphicFrame>
      <p:sp>
        <p:nvSpPr>
          <p:cNvPr id="12" name="TextBox 11"/>
          <p:cNvSpPr txBox="1"/>
          <p:nvPr/>
        </p:nvSpPr>
        <p:spPr>
          <a:xfrm>
            <a:off x="546126" y="3536912"/>
            <a:ext cx="6377067" cy="400110"/>
          </a:xfrm>
          <a:prstGeom prst="rect">
            <a:avLst/>
          </a:prstGeom>
          <a:noFill/>
        </p:spPr>
        <p:txBody>
          <a:bodyPr wrap="none" rtlCol="0">
            <a:spAutoFit/>
          </a:bodyPr>
          <a:lstStyle/>
          <a:p>
            <a:pPr marL="285750" indent="-285750">
              <a:buFont typeface="Wingdings" pitchFamily="2" charset="2"/>
              <a:buChar char="ü"/>
            </a:pPr>
            <a:r>
              <a:rPr lang="en-US" altLang="zh-CN" sz="2000" dirty="0">
                <a:solidFill>
                  <a:srgbClr val="FF0000"/>
                </a:solidFill>
              </a:rPr>
              <a:t>2</a:t>
            </a:r>
            <a:r>
              <a:rPr lang="en-US" altLang="zh-CN" sz="2000" baseline="30000" dirty="0">
                <a:solidFill>
                  <a:srgbClr val="FF0000"/>
                </a:solidFill>
              </a:rPr>
              <a:t>nd</a:t>
            </a:r>
            <a:r>
              <a:rPr lang="en-US" altLang="zh-CN" sz="2000" dirty="0">
                <a:solidFill>
                  <a:srgbClr val="FF0000"/>
                </a:solidFill>
              </a:rPr>
              <a:t> </a:t>
            </a:r>
            <a:r>
              <a:rPr lang="en-US" altLang="zh-CN" sz="2000" dirty="0" err="1">
                <a:solidFill>
                  <a:srgbClr val="FF0000"/>
                </a:solidFill>
              </a:rPr>
              <a:t>TdS</a:t>
            </a:r>
            <a:r>
              <a:rPr lang="en-US" altLang="zh-CN" sz="2000" dirty="0">
                <a:solidFill>
                  <a:srgbClr val="FF0000"/>
                </a:solidFill>
              </a:rPr>
              <a:t>, considering T and P as independent variable </a:t>
            </a:r>
            <a:endParaRPr lang="zh-CN" altLang="en-US" sz="2000" dirty="0">
              <a:solidFill>
                <a:srgbClr val="FF0000"/>
              </a:solidFill>
            </a:endParaRPr>
          </a:p>
        </p:txBody>
      </p:sp>
      <p:sp>
        <p:nvSpPr>
          <p:cNvPr id="13" name="右箭头 12"/>
          <p:cNvSpPr/>
          <p:nvPr/>
        </p:nvSpPr>
        <p:spPr>
          <a:xfrm>
            <a:off x="5500687" y="1785980"/>
            <a:ext cx="504825" cy="342900"/>
          </a:xfrm>
          <a:prstGeom prst="rightArrow">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3"/>
          <p:cNvSpPr txBox="1"/>
          <p:nvPr/>
        </p:nvSpPr>
        <p:spPr>
          <a:xfrm>
            <a:off x="466965" y="1014702"/>
            <a:ext cx="6308137" cy="400110"/>
          </a:xfrm>
          <a:prstGeom prst="rect">
            <a:avLst/>
          </a:prstGeom>
          <a:noFill/>
        </p:spPr>
        <p:txBody>
          <a:bodyPr wrap="none" rtlCol="0">
            <a:spAutoFit/>
          </a:bodyPr>
          <a:lstStyle/>
          <a:p>
            <a:pPr marL="285750" indent="-285750">
              <a:buFont typeface="Wingdings" pitchFamily="2" charset="2"/>
              <a:buChar char="ü"/>
            </a:pPr>
            <a:r>
              <a:rPr lang="en-US" altLang="zh-CN" sz="2000" dirty="0">
                <a:solidFill>
                  <a:srgbClr val="FF0000"/>
                </a:solidFill>
              </a:rPr>
              <a:t>1</a:t>
            </a:r>
            <a:r>
              <a:rPr lang="en-US" altLang="zh-CN" sz="2000" baseline="30000" dirty="0">
                <a:solidFill>
                  <a:srgbClr val="FF0000"/>
                </a:solidFill>
              </a:rPr>
              <a:t>st</a:t>
            </a:r>
            <a:r>
              <a:rPr lang="en-US" altLang="zh-CN" sz="2000" dirty="0">
                <a:solidFill>
                  <a:srgbClr val="FF0000"/>
                </a:solidFill>
              </a:rPr>
              <a:t> </a:t>
            </a:r>
            <a:r>
              <a:rPr lang="en-US" altLang="zh-CN" sz="2000" dirty="0" err="1">
                <a:solidFill>
                  <a:srgbClr val="FF0000"/>
                </a:solidFill>
              </a:rPr>
              <a:t>TdS</a:t>
            </a:r>
            <a:r>
              <a:rPr lang="en-US" altLang="zh-CN" sz="2000" dirty="0">
                <a:solidFill>
                  <a:srgbClr val="FF0000"/>
                </a:solidFill>
              </a:rPr>
              <a:t>, considering T and V as independent variable </a:t>
            </a:r>
            <a:endParaRPr lang="zh-CN" altLang="en-US" sz="2000" dirty="0">
              <a:solidFill>
                <a:srgbClr val="FF0000"/>
              </a:solidFill>
            </a:endParaRPr>
          </a:p>
        </p:txBody>
      </p:sp>
      <p:graphicFrame>
        <p:nvGraphicFramePr>
          <p:cNvPr id="15" name="对象 14"/>
          <p:cNvGraphicFramePr>
            <a:graphicFrameLocks noChangeAspect="1"/>
          </p:cNvGraphicFramePr>
          <p:nvPr/>
        </p:nvGraphicFramePr>
        <p:xfrm>
          <a:off x="6408738" y="4679950"/>
          <a:ext cx="2085975" cy="822325"/>
        </p:xfrm>
        <a:graphic>
          <a:graphicData uri="http://schemas.openxmlformats.org/presentationml/2006/ole">
            <mc:AlternateContent xmlns:mc="http://schemas.openxmlformats.org/markup-compatibility/2006">
              <mc:Choice xmlns:v="urn:schemas-microsoft-com:vml" Requires="v">
                <p:oleObj name="Equation" r:id="rId13" imgW="1002960" imgH="393480" progId="Equation.DSMT4">
                  <p:embed/>
                </p:oleObj>
              </mc:Choice>
              <mc:Fallback>
                <p:oleObj name="Equation" r:id="rId13" imgW="1002960" imgH="393480" progId="Equation.DSMT4">
                  <p:embed/>
                  <p:pic>
                    <p:nvPicPr>
                      <p:cNvPr id="0" name=""/>
                      <p:cNvPicPr>
                        <a:picLocks noChangeAspect="1" noChangeArrowheads="1"/>
                      </p:cNvPicPr>
                      <p:nvPr/>
                    </p:nvPicPr>
                    <p:blipFill>
                      <a:blip r:embed="rId14"/>
                      <a:srcRect/>
                      <a:stretch>
                        <a:fillRect/>
                      </a:stretch>
                    </p:blipFill>
                    <p:spPr bwMode="auto">
                      <a:xfrm>
                        <a:off x="6408738" y="4679950"/>
                        <a:ext cx="20859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83768482"/>
              </p:ext>
            </p:extLst>
          </p:nvPr>
        </p:nvGraphicFramePr>
        <p:xfrm>
          <a:off x="5132388" y="2614613"/>
          <a:ext cx="3333750" cy="604837"/>
        </p:xfrm>
        <a:graphic>
          <a:graphicData uri="http://schemas.openxmlformats.org/presentationml/2006/ole">
            <mc:AlternateContent xmlns:mc="http://schemas.openxmlformats.org/markup-compatibility/2006">
              <mc:Choice xmlns:v="urn:schemas-microsoft-com:vml" Requires="v">
                <p:oleObj name="Equation" r:id="rId15" imgW="2514600" imgH="457200" progId="Equation.DSMT4">
                  <p:embed/>
                </p:oleObj>
              </mc:Choice>
              <mc:Fallback>
                <p:oleObj name="Equation" r:id="rId15" imgW="2514600" imgH="457200" progId="Equation.DSMT4">
                  <p:embed/>
                  <p:pic>
                    <p:nvPicPr>
                      <p:cNvPr id="0" name=""/>
                      <p:cNvPicPr>
                        <a:picLocks noChangeAspect="1" noChangeArrowheads="1"/>
                      </p:cNvPicPr>
                      <p:nvPr/>
                    </p:nvPicPr>
                    <p:blipFill>
                      <a:blip r:embed="rId16"/>
                      <a:srcRect/>
                      <a:stretch>
                        <a:fillRect/>
                      </a:stretch>
                    </p:blipFill>
                    <p:spPr bwMode="auto">
                      <a:xfrm>
                        <a:off x="5132388" y="2614613"/>
                        <a:ext cx="3333750" cy="604837"/>
                      </a:xfrm>
                      <a:prstGeom prst="rect">
                        <a:avLst/>
                      </a:prstGeom>
                      <a:noFill/>
                      <a:ln>
                        <a:noFill/>
                      </a:ln>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1930835171"/>
              </p:ext>
            </p:extLst>
          </p:nvPr>
        </p:nvGraphicFramePr>
        <p:xfrm>
          <a:off x="5132388" y="5729288"/>
          <a:ext cx="3316287" cy="604837"/>
        </p:xfrm>
        <a:graphic>
          <a:graphicData uri="http://schemas.openxmlformats.org/presentationml/2006/ole">
            <mc:AlternateContent xmlns:mc="http://schemas.openxmlformats.org/markup-compatibility/2006">
              <mc:Choice xmlns:v="urn:schemas-microsoft-com:vml" Requires="v">
                <p:oleObj name="Equation" r:id="rId17" imgW="2501640" imgH="457200" progId="Equation.DSMT4">
                  <p:embed/>
                </p:oleObj>
              </mc:Choice>
              <mc:Fallback>
                <p:oleObj name="Equation" r:id="rId17" imgW="2501640" imgH="457200" progId="Equation.DSMT4">
                  <p:embed/>
                  <p:pic>
                    <p:nvPicPr>
                      <p:cNvPr id="0" name=""/>
                      <p:cNvPicPr>
                        <a:picLocks noChangeAspect="1" noChangeArrowheads="1"/>
                      </p:cNvPicPr>
                      <p:nvPr/>
                    </p:nvPicPr>
                    <p:blipFill>
                      <a:blip r:embed="rId18"/>
                      <a:srcRect/>
                      <a:stretch>
                        <a:fillRect/>
                      </a:stretch>
                    </p:blipFill>
                    <p:spPr bwMode="auto">
                      <a:xfrm>
                        <a:off x="5132388" y="5729288"/>
                        <a:ext cx="3316287"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838204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100800" y="1771200"/>
            <a:ext cx="2455200" cy="1605600"/>
          </a:xfrm>
          <a:prstGeom prst="roundRect">
            <a:avLst>
              <a:gd name="adj" fmla="val 75"/>
            </a:avLst>
          </a:prstGeom>
          <a:solidFill>
            <a:schemeClr val="accent1">
              <a:lumMod val="40000"/>
              <a:lumOff val="60000"/>
              <a:alpha val="7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文本框 1"/>
          <p:cNvSpPr txBox="1"/>
          <p:nvPr/>
        </p:nvSpPr>
        <p:spPr>
          <a:xfrm>
            <a:off x="1080001" y="136800"/>
            <a:ext cx="4572000" cy="707886"/>
          </a:xfrm>
          <a:prstGeom prst="rect">
            <a:avLst/>
          </a:prstGeom>
          <a:noFill/>
        </p:spPr>
        <p:txBody>
          <a:bodyPr wrap="square" rtlCol="0">
            <a:spAutoFit/>
          </a:bodyPr>
          <a:lstStyle/>
          <a:p>
            <a:r>
              <a:rPr lang="en-US" altLang="zh-CN" sz="2000" dirty="0">
                <a:solidFill>
                  <a:srgbClr val="FF0000"/>
                </a:solidFill>
              </a:rPr>
              <a:t>Entropy generated associated with heat transfer</a:t>
            </a:r>
            <a:endParaRPr lang="zh-CN" altLang="en-US" sz="2000" dirty="0">
              <a:solidFill>
                <a:srgbClr val="FF0000"/>
              </a:solidFill>
            </a:endParaRPr>
          </a:p>
        </p:txBody>
      </p:sp>
      <p:sp>
        <p:nvSpPr>
          <p:cNvPr id="8" name="任意多边形 7"/>
          <p:cNvSpPr/>
          <p:nvPr/>
        </p:nvSpPr>
        <p:spPr>
          <a:xfrm rot="380412">
            <a:off x="322485" y="2854775"/>
            <a:ext cx="2247665" cy="533376"/>
          </a:xfrm>
          <a:custGeom>
            <a:avLst/>
            <a:gdLst>
              <a:gd name="connsiteX0" fmla="*/ 0 w 2448000"/>
              <a:gd name="connsiteY0" fmla="*/ 288576 h 288576"/>
              <a:gd name="connsiteX1" fmla="*/ 43200 w 2448000"/>
              <a:gd name="connsiteY1" fmla="*/ 281376 h 288576"/>
              <a:gd name="connsiteX2" fmla="*/ 194400 w 2448000"/>
              <a:gd name="connsiteY2" fmla="*/ 266976 h 288576"/>
              <a:gd name="connsiteX3" fmla="*/ 280800 w 2448000"/>
              <a:gd name="connsiteY3" fmla="*/ 252576 h 288576"/>
              <a:gd name="connsiteX4" fmla="*/ 338400 w 2448000"/>
              <a:gd name="connsiteY4" fmla="*/ 230976 h 288576"/>
              <a:gd name="connsiteX5" fmla="*/ 388800 w 2448000"/>
              <a:gd name="connsiteY5" fmla="*/ 209376 h 288576"/>
              <a:gd name="connsiteX6" fmla="*/ 417600 w 2448000"/>
              <a:gd name="connsiteY6" fmla="*/ 202176 h 288576"/>
              <a:gd name="connsiteX7" fmla="*/ 921600 w 2448000"/>
              <a:gd name="connsiteY7" fmla="*/ 187776 h 288576"/>
              <a:gd name="connsiteX8" fmla="*/ 957600 w 2448000"/>
              <a:gd name="connsiteY8" fmla="*/ 180576 h 288576"/>
              <a:gd name="connsiteX9" fmla="*/ 1008000 w 2448000"/>
              <a:gd name="connsiteY9" fmla="*/ 151776 h 288576"/>
              <a:gd name="connsiteX10" fmla="*/ 1036800 w 2448000"/>
              <a:gd name="connsiteY10" fmla="*/ 137376 h 288576"/>
              <a:gd name="connsiteX11" fmla="*/ 1065600 w 2448000"/>
              <a:gd name="connsiteY11" fmla="*/ 130176 h 288576"/>
              <a:gd name="connsiteX12" fmla="*/ 1123200 w 2448000"/>
              <a:gd name="connsiteY12" fmla="*/ 101376 h 288576"/>
              <a:gd name="connsiteX13" fmla="*/ 1209600 w 2448000"/>
              <a:gd name="connsiteY13" fmla="*/ 86976 h 288576"/>
              <a:gd name="connsiteX14" fmla="*/ 1231200 w 2448000"/>
              <a:gd name="connsiteY14" fmla="*/ 79776 h 288576"/>
              <a:gd name="connsiteX15" fmla="*/ 1641600 w 2448000"/>
              <a:gd name="connsiteY15" fmla="*/ 65376 h 288576"/>
              <a:gd name="connsiteX16" fmla="*/ 1699200 w 2448000"/>
              <a:gd name="connsiteY16" fmla="*/ 50976 h 288576"/>
              <a:gd name="connsiteX17" fmla="*/ 1749600 w 2448000"/>
              <a:gd name="connsiteY17" fmla="*/ 29376 h 288576"/>
              <a:gd name="connsiteX18" fmla="*/ 1821600 w 2448000"/>
              <a:gd name="connsiteY18" fmla="*/ 14976 h 288576"/>
              <a:gd name="connsiteX19" fmla="*/ 1843200 w 2448000"/>
              <a:gd name="connsiteY19" fmla="*/ 576 h 288576"/>
              <a:gd name="connsiteX20" fmla="*/ 1958400 w 2448000"/>
              <a:gd name="connsiteY20" fmla="*/ 7776 h 288576"/>
              <a:gd name="connsiteX21" fmla="*/ 1987200 w 2448000"/>
              <a:gd name="connsiteY21" fmla="*/ 22176 h 288576"/>
              <a:gd name="connsiteX22" fmla="*/ 2008800 w 2448000"/>
              <a:gd name="connsiteY22" fmla="*/ 29376 h 288576"/>
              <a:gd name="connsiteX23" fmla="*/ 2030400 w 2448000"/>
              <a:gd name="connsiteY23" fmla="*/ 43776 h 288576"/>
              <a:gd name="connsiteX24" fmla="*/ 2080800 w 2448000"/>
              <a:gd name="connsiteY24" fmla="*/ 58176 h 288576"/>
              <a:gd name="connsiteX25" fmla="*/ 2376000 w 2448000"/>
              <a:gd name="connsiteY25" fmla="*/ 65376 h 288576"/>
              <a:gd name="connsiteX26" fmla="*/ 2397600 w 2448000"/>
              <a:gd name="connsiteY26" fmla="*/ 86976 h 288576"/>
              <a:gd name="connsiteX27" fmla="*/ 2448000 w 2448000"/>
              <a:gd name="connsiteY27" fmla="*/ 94176 h 288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448000" h="288576">
                <a:moveTo>
                  <a:pt x="0" y="288576"/>
                </a:moveTo>
                <a:cubicBezTo>
                  <a:pt x="14400" y="286176"/>
                  <a:pt x="28691" y="282988"/>
                  <a:pt x="43200" y="281376"/>
                </a:cubicBezTo>
                <a:cubicBezTo>
                  <a:pt x="243009" y="259175"/>
                  <a:pt x="31879" y="287291"/>
                  <a:pt x="194400" y="266976"/>
                </a:cubicBezTo>
                <a:cubicBezTo>
                  <a:pt x="218784" y="263928"/>
                  <a:pt x="255655" y="258862"/>
                  <a:pt x="280800" y="252576"/>
                </a:cubicBezTo>
                <a:cubicBezTo>
                  <a:pt x="294371" y="249183"/>
                  <a:pt x="329906" y="234751"/>
                  <a:pt x="338400" y="230976"/>
                </a:cubicBezTo>
                <a:cubicBezTo>
                  <a:pt x="372960" y="215616"/>
                  <a:pt x="357745" y="218249"/>
                  <a:pt x="388800" y="209376"/>
                </a:cubicBezTo>
                <a:cubicBezTo>
                  <a:pt x="398315" y="206658"/>
                  <a:pt x="407713" y="202577"/>
                  <a:pt x="417600" y="202176"/>
                </a:cubicBezTo>
                <a:cubicBezTo>
                  <a:pt x="585531" y="195368"/>
                  <a:pt x="753600" y="192576"/>
                  <a:pt x="921600" y="187776"/>
                </a:cubicBezTo>
                <a:cubicBezTo>
                  <a:pt x="933600" y="185376"/>
                  <a:pt x="945990" y="184446"/>
                  <a:pt x="957600" y="180576"/>
                </a:cubicBezTo>
                <a:cubicBezTo>
                  <a:pt x="983709" y="171873"/>
                  <a:pt x="985879" y="164417"/>
                  <a:pt x="1008000" y="151776"/>
                </a:cubicBezTo>
                <a:cubicBezTo>
                  <a:pt x="1017319" y="146451"/>
                  <a:pt x="1026750" y="141145"/>
                  <a:pt x="1036800" y="137376"/>
                </a:cubicBezTo>
                <a:cubicBezTo>
                  <a:pt x="1046065" y="133901"/>
                  <a:pt x="1056466" y="133982"/>
                  <a:pt x="1065600" y="130176"/>
                </a:cubicBezTo>
                <a:cubicBezTo>
                  <a:pt x="1085415" y="121920"/>
                  <a:pt x="1102151" y="105586"/>
                  <a:pt x="1123200" y="101376"/>
                </a:cubicBezTo>
                <a:cubicBezTo>
                  <a:pt x="1175841" y="90848"/>
                  <a:pt x="1147085" y="95907"/>
                  <a:pt x="1209600" y="86976"/>
                </a:cubicBezTo>
                <a:cubicBezTo>
                  <a:pt x="1216800" y="84576"/>
                  <a:pt x="1223648" y="80531"/>
                  <a:pt x="1231200" y="79776"/>
                </a:cubicBezTo>
                <a:cubicBezTo>
                  <a:pt x="1329633" y="69933"/>
                  <a:pt x="1594300" y="66559"/>
                  <a:pt x="1641600" y="65376"/>
                </a:cubicBezTo>
                <a:cubicBezTo>
                  <a:pt x="1662730" y="61150"/>
                  <a:pt x="1679828" y="59278"/>
                  <a:pt x="1699200" y="50976"/>
                </a:cubicBezTo>
                <a:cubicBezTo>
                  <a:pt x="1724334" y="40204"/>
                  <a:pt x="1725210" y="35004"/>
                  <a:pt x="1749600" y="29376"/>
                </a:cubicBezTo>
                <a:cubicBezTo>
                  <a:pt x="1773449" y="23872"/>
                  <a:pt x="1821600" y="14976"/>
                  <a:pt x="1821600" y="14976"/>
                </a:cubicBezTo>
                <a:cubicBezTo>
                  <a:pt x="1828800" y="10176"/>
                  <a:pt x="1834559" y="1031"/>
                  <a:pt x="1843200" y="576"/>
                </a:cubicBezTo>
                <a:cubicBezTo>
                  <a:pt x="1881622" y="-1446"/>
                  <a:pt x="1920351" y="2069"/>
                  <a:pt x="1958400" y="7776"/>
                </a:cubicBezTo>
                <a:cubicBezTo>
                  <a:pt x="1969014" y="9368"/>
                  <a:pt x="1977335" y="17948"/>
                  <a:pt x="1987200" y="22176"/>
                </a:cubicBezTo>
                <a:cubicBezTo>
                  <a:pt x="1994176" y="25166"/>
                  <a:pt x="2002012" y="25982"/>
                  <a:pt x="2008800" y="29376"/>
                </a:cubicBezTo>
                <a:cubicBezTo>
                  <a:pt x="2016540" y="33246"/>
                  <a:pt x="2022660" y="39906"/>
                  <a:pt x="2030400" y="43776"/>
                </a:cubicBezTo>
                <a:cubicBezTo>
                  <a:pt x="2037536" y="47344"/>
                  <a:pt x="2075736" y="57951"/>
                  <a:pt x="2080800" y="58176"/>
                </a:cubicBezTo>
                <a:cubicBezTo>
                  <a:pt x="2179132" y="62546"/>
                  <a:pt x="2277600" y="62976"/>
                  <a:pt x="2376000" y="65376"/>
                </a:cubicBezTo>
                <a:cubicBezTo>
                  <a:pt x="2383200" y="72576"/>
                  <a:pt x="2389128" y="81328"/>
                  <a:pt x="2397600" y="86976"/>
                </a:cubicBezTo>
                <a:cubicBezTo>
                  <a:pt x="2412954" y="97212"/>
                  <a:pt x="2431032" y="94176"/>
                  <a:pt x="2448000" y="94176"/>
                </a:cubicBezTo>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8"/>
          <p:cNvSpPr/>
          <p:nvPr/>
        </p:nvSpPr>
        <p:spPr>
          <a:xfrm>
            <a:off x="100800" y="2966400"/>
            <a:ext cx="2455200" cy="403200"/>
          </a:xfrm>
          <a:custGeom>
            <a:avLst/>
            <a:gdLst>
              <a:gd name="connsiteX0" fmla="*/ 0 w 2476800"/>
              <a:gd name="connsiteY0" fmla="*/ 396000 h 403200"/>
              <a:gd name="connsiteX1" fmla="*/ 0 w 2476800"/>
              <a:gd name="connsiteY1" fmla="*/ 396000 h 403200"/>
              <a:gd name="connsiteX2" fmla="*/ 72000 w 2476800"/>
              <a:gd name="connsiteY2" fmla="*/ 388800 h 403200"/>
              <a:gd name="connsiteX3" fmla="*/ 129600 w 2476800"/>
              <a:gd name="connsiteY3" fmla="*/ 360000 h 403200"/>
              <a:gd name="connsiteX4" fmla="*/ 158400 w 2476800"/>
              <a:gd name="connsiteY4" fmla="*/ 352800 h 403200"/>
              <a:gd name="connsiteX5" fmla="*/ 201600 w 2476800"/>
              <a:gd name="connsiteY5" fmla="*/ 309600 h 403200"/>
              <a:gd name="connsiteX6" fmla="*/ 208800 w 2476800"/>
              <a:gd name="connsiteY6" fmla="*/ 288000 h 403200"/>
              <a:gd name="connsiteX7" fmla="*/ 230400 w 2476800"/>
              <a:gd name="connsiteY7" fmla="*/ 273600 h 403200"/>
              <a:gd name="connsiteX8" fmla="*/ 237600 w 2476800"/>
              <a:gd name="connsiteY8" fmla="*/ 252000 h 403200"/>
              <a:gd name="connsiteX9" fmla="*/ 280800 w 2476800"/>
              <a:gd name="connsiteY9" fmla="*/ 208800 h 403200"/>
              <a:gd name="connsiteX10" fmla="*/ 324000 w 2476800"/>
              <a:gd name="connsiteY10" fmla="*/ 194400 h 403200"/>
              <a:gd name="connsiteX11" fmla="*/ 345600 w 2476800"/>
              <a:gd name="connsiteY11" fmla="*/ 187200 h 403200"/>
              <a:gd name="connsiteX12" fmla="*/ 468000 w 2476800"/>
              <a:gd name="connsiteY12" fmla="*/ 194400 h 403200"/>
              <a:gd name="connsiteX13" fmla="*/ 540000 w 2476800"/>
              <a:gd name="connsiteY13" fmla="*/ 216000 h 403200"/>
              <a:gd name="connsiteX14" fmla="*/ 561600 w 2476800"/>
              <a:gd name="connsiteY14" fmla="*/ 223200 h 403200"/>
              <a:gd name="connsiteX15" fmla="*/ 612000 w 2476800"/>
              <a:gd name="connsiteY15" fmla="*/ 230400 h 403200"/>
              <a:gd name="connsiteX16" fmla="*/ 712800 w 2476800"/>
              <a:gd name="connsiteY16" fmla="*/ 223200 h 403200"/>
              <a:gd name="connsiteX17" fmla="*/ 734400 w 2476800"/>
              <a:gd name="connsiteY17" fmla="*/ 208800 h 403200"/>
              <a:gd name="connsiteX18" fmla="*/ 763200 w 2476800"/>
              <a:gd name="connsiteY18" fmla="*/ 194400 h 403200"/>
              <a:gd name="connsiteX19" fmla="*/ 784800 w 2476800"/>
              <a:gd name="connsiteY19" fmla="*/ 180000 h 403200"/>
              <a:gd name="connsiteX20" fmla="*/ 813600 w 2476800"/>
              <a:gd name="connsiteY20" fmla="*/ 172800 h 403200"/>
              <a:gd name="connsiteX21" fmla="*/ 986400 w 2476800"/>
              <a:gd name="connsiteY21" fmla="*/ 151200 h 403200"/>
              <a:gd name="connsiteX22" fmla="*/ 1051200 w 2476800"/>
              <a:gd name="connsiteY22" fmla="*/ 172800 h 403200"/>
              <a:gd name="connsiteX23" fmla="*/ 1072800 w 2476800"/>
              <a:gd name="connsiteY23" fmla="*/ 180000 h 403200"/>
              <a:gd name="connsiteX24" fmla="*/ 1116000 w 2476800"/>
              <a:gd name="connsiteY24" fmla="*/ 201600 h 403200"/>
              <a:gd name="connsiteX25" fmla="*/ 1195200 w 2476800"/>
              <a:gd name="connsiteY25" fmla="*/ 194400 h 403200"/>
              <a:gd name="connsiteX26" fmla="*/ 1224000 w 2476800"/>
              <a:gd name="connsiteY26" fmla="*/ 172800 h 403200"/>
              <a:gd name="connsiteX27" fmla="*/ 1260000 w 2476800"/>
              <a:gd name="connsiteY27" fmla="*/ 158400 h 403200"/>
              <a:gd name="connsiteX28" fmla="*/ 1317600 w 2476800"/>
              <a:gd name="connsiteY28" fmla="*/ 122400 h 403200"/>
              <a:gd name="connsiteX29" fmla="*/ 1368000 w 2476800"/>
              <a:gd name="connsiteY29" fmla="*/ 108000 h 403200"/>
              <a:gd name="connsiteX30" fmla="*/ 1389600 w 2476800"/>
              <a:gd name="connsiteY30" fmla="*/ 100800 h 403200"/>
              <a:gd name="connsiteX31" fmla="*/ 1432800 w 2476800"/>
              <a:gd name="connsiteY31" fmla="*/ 108000 h 403200"/>
              <a:gd name="connsiteX32" fmla="*/ 1454400 w 2476800"/>
              <a:gd name="connsiteY32" fmla="*/ 122400 h 403200"/>
              <a:gd name="connsiteX33" fmla="*/ 1476000 w 2476800"/>
              <a:gd name="connsiteY33" fmla="*/ 129600 h 403200"/>
              <a:gd name="connsiteX34" fmla="*/ 1519200 w 2476800"/>
              <a:gd name="connsiteY34" fmla="*/ 151200 h 403200"/>
              <a:gd name="connsiteX35" fmla="*/ 1648800 w 2476800"/>
              <a:gd name="connsiteY35" fmla="*/ 144000 h 403200"/>
              <a:gd name="connsiteX36" fmla="*/ 1670400 w 2476800"/>
              <a:gd name="connsiteY36" fmla="*/ 136800 h 403200"/>
              <a:gd name="connsiteX37" fmla="*/ 1742400 w 2476800"/>
              <a:gd name="connsiteY37" fmla="*/ 122400 h 403200"/>
              <a:gd name="connsiteX38" fmla="*/ 1771200 w 2476800"/>
              <a:gd name="connsiteY38" fmla="*/ 115200 h 403200"/>
              <a:gd name="connsiteX39" fmla="*/ 1864800 w 2476800"/>
              <a:gd name="connsiteY39" fmla="*/ 108000 h 403200"/>
              <a:gd name="connsiteX40" fmla="*/ 1922400 w 2476800"/>
              <a:gd name="connsiteY40" fmla="*/ 79200 h 403200"/>
              <a:gd name="connsiteX41" fmla="*/ 1944000 w 2476800"/>
              <a:gd name="connsiteY41" fmla="*/ 64800 h 403200"/>
              <a:gd name="connsiteX42" fmla="*/ 1965600 w 2476800"/>
              <a:gd name="connsiteY42" fmla="*/ 57600 h 403200"/>
              <a:gd name="connsiteX43" fmla="*/ 2030400 w 2476800"/>
              <a:gd name="connsiteY43" fmla="*/ 28800 h 403200"/>
              <a:gd name="connsiteX44" fmla="*/ 2052000 w 2476800"/>
              <a:gd name="connsiteY44" fmla="*/ 14400 h 403200"/>
              <a:gd name="connsiteX45" fmla="*/ 2080800 w 2476800"/>
              <a:gd name="connsiteY45" fmla="*/ 7200 h 403200"/>
              <a:gd name="connsiteX46" fmla="*/ 2102400 w 2476800"/>
              <a:gd name="connsiteY46" fmla="*/ 0 h 403200"/>
              <a:gd name="connsiteX47" fmla="*/ 2196000 w 2476800"/>
              <a:gd name="connsiteY47" fmla="*/ 7200 h 403200"/>
              <a:gd name="connsiteX48" fmla="*/ 2239200 w 2476800"/>
              <a:gd name="connsiteY48" fmla="*/ 21600 h 403200"/>
              <a:gd name="connsiteX49" fmla="*/ 2296800 w 2476800"/>
              <a:gd name="connsiteY49" fmla="*/ 43200 h 403200"/>
              <a:gd name="connsiteX50" fmla="*/ 2325600 w 2476800"/>
              <a:gd name="connsiteY50" fmla="*/ 86400 h 403200"/>
              <a:gd name="connsiteX51" fmla="*/ 2340000 w 2476800"/>
              <a:gd name="connsiteY51" fmla="*/ 108000 h 403200"/>
              <a:gd name="connsiteX52" fmla="*/ 2390400 w 2476800"/>
              <a:gd name="connsiteY52" fmla="*/ 115200 h 403200"/>
              <a:gd name="connsiteX53" fmla="*/ 2412000 w 2476800"/>
              <a:gd name="connsiteY53" fmla="*/ 129600 h 403200"/>
              <a:gd name="connsiteX54" fmla="*/ 2419200 w 2476800"/>
              <a:gd name="connsiteY54" fmla="*/ 151200 h 403200"/>
              <a:gd name="connsiteX55" fmla="*/ 2433600 w 2476800"/>
              <a:gd name="connsiteY55" fmla="*/ 172800 h 403200"/>
              <a:gd name="connsiteX56" fmla="*/ 2455200 w 2476800"/>
              <a:gd name="connsiteY56" fmla="*/ 223200 h 403200"/>
              <a:gd name="connsiteX57" fmla="*/ 2476800 w 2476800"/>
              <a:gd name="connsiteY57" fmla="*/ 230400 h 403200"/>
              <a:gd name="connsiteX58" fmla="*/ 2469600 w 2476800"/>
              <a:gd name="connsiteY58" fmla="*/ 252000 h 403200"/>
              <a:gd name="connsiteX59" fmla="*/ 2455200 w 2476800"/>
              <a:gd name="connsiteY59" fmla="*/ 280800 h 403200"/>
              <a:gd name="connsiteX60" fmla="*/ 2455200 w 2476800"/>
              <a:gd name="connsiteY60" fmla="*/ 403200 h 40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476800" h="403200">
                <a:moveTo>
                  <a:pt x="0" y="396000"/>
                </a:moveTo>
                <a:lnTo>
                  <a:pt x="0" y="396000"/>
                </a:lnTo>
                <a:cubicBezTo>
                  <a:pt x="24000" y="393600"/>
                  <a:pt x="48760" y="395255"/>
                  <a:pt x="72000" y="388800"/>
                </a:cubicBezTo>
                <a:cubicBezTo>
                  <a:pt x="92683" y="383055"/>
                  <a:pt x="108775" y="365206"/>
                  <a:pt x="129600" y="360000"/>
                </a:cubicBezTo>
                <a:lnTo>
                  <a:pt x="158400" y="352800"/>
                </a:lnTo>
                <a:cubicBezTo>
                  <a:pt x="182554" y="336697"/>
                  <a:pt x="185113" y="338453"/>
                  <a:pt x="201600" y="309600"/>
                </a:cubicBezTo>
                <a:cubicBezTo>
                  <a:pt x="205365" y="303010"/>
                  <a:pt x="204059" y="293926"/>
                  <a:pt x="208800" y="288000"/>
                </a:cubicBezTo>
                <a:cubicBezTo>
                  <a:pt x="214206" y="281243"/>
                  <a:pt x="223200" y="278400"/>
                  <a:pt x="230400" y="273600"/>
                </a:cubicBezTo>
                <a:cubicBezTo>
                  <a:pt x="232800" y="266400"/>
                  <a:pt x="234206" y="258788"/>
                  <a:pt x="237600" y="252000"/>
                </a:cubicBezTo>
                <a:cubicBezTo>
                  <a:pt x="247344" y="232511"/>
                  <a:pt x="260764" y="218818"/>
                  <a:pt x="280800" y="208800"/>
                </a:cubicBezTo>
                <a:cubicBezTo>
                  <a:pt x="294376" y="202012"/>
                  <a:pt x="309600" y="199200"/>
                  <a:pt x="324000" y="194400"/>
                </a:cubicBezTo>
                <a:lnTo>
                  <a:pt x="345600" y="187200"/>
                </a:lnTo>
                <a:cubicBezTo>
                  <a:pt x="386400" y="189600"/>
                  <a:pt x="427314" y="190525"/>
                  <a:pt x="468000" y="194400"/>
                </a:cubicBezTo>
                <a:cubicBezTo>
                  <a:pt x="483234" y="195851"/>
                  <a:pt x="530810" y="212937"/>
                  <a:pt x="540000" y="216000"/>
                </a:cubicBezTo>
                <a:cubicBezTo>
                  <a:pt x="547200" y="218400"/>
                  <a:pt x="554087" y="222127"/>
                  <a:pt x="561600" y="223200"/>
                </a:cubicBezTo>
                <a:lnTo>
                  <a:pt x="612000" y="230400"/>
                </a:lnTo>
                <a:cubicBezTo>
                  <a:pt x="645600" y="228000"/>
                  <a:pt x="679627" y="229054"/>
                  <a:pt x="712800" y="223200"/>
                </a:cubicBezTo>
                <a:cubicBezTo>
                  <a:pt x="721322" y="221696"/>
                  <a:pt x="726887" y="213093"/>
                  <a:pt x="734400" y="208800"/>
                </a:cubicBezTo>
                <a:cubicBezTo>
                  <a:pt x="743719" y="203475"/>
                  <a:pt x="753881" y="199725"/>
                  <a:pt x="763200" y="194400"/>
                </a:cubicBezTo>
                <a:cubicBezTo>
                  <a:pt x="770713" y="190107"/>
                  <a:pt x="776846" y="183409"/>
                  <a:pt x="784800" y="180000"/>
                </a:cubicBezTo>
                <a:cubicBezTo>
                  <a:pt x="793895" y="176102"/>
                  <a:pt x="804000" y="175200"/>
                  <a:pt x="813600" y="172800"/>
                </a:cubicBezTo>
                <a:cubicBezTo>
                  <a:pt x="892800" y="120000"/>
                  <a:pt x="839520" y="143040"/>
                  <a:pt x="986400" y="151200"/>
                </a:cubicBezTo>
                <a:cubicBezTo>
                  <a:pt x="1047086" y="163337"/>
                  <a:pt x="999034" y="150443"/>
                  <a:pt x="1051200" y="172800"/>
                </a:cubicBezTo>
                <a:cubicBezTo>
                  <a:pt x="1058176" y="175790"/>
                  <a:pt x="1066012" y="176606"/>
                  <a:pt x="1072800" y="180000"/>
                </a:cubicBezTo>
                <a:cubicBezTo>
                  <a:pt x="1128630" y="207915"/>
                  <a:pt x="1061708" y="183503"/>
                  <a:pt x="1116000" y="201600"/>
                </a:cubicBezTo>
                <a:cubicBezTo>
                  <a:pt x="1142400" y="199200"/>
                  <a:pt x="1169586" y="201230"/>
                  <a:pt x="1195200" y="194400"/>
                </a:cubicBezTo>
                <a:cubicBezTo>
                  <a:pt x="1206795" y="191308"/>
                  <a:pt x="1213510" y="178628"/>
                  <a:pt x="1224000" y="172800"/>
                </a:cubicBezTo>
                <a:cubicBezTo>
                  <a:pt x="1235298" y="166523"/>
                  <a:pt x="1248620" y="164527"/>
                  <a:pt x="1260000" y="158400"/>
                </a:cubicBezTo>
                <a:cubicBezTo>
                  <a:pt x="1279935" y="147666"/>
                  <a:pt x="1296120" y="129560"/>
                  <a:pt x="1317600" y="122400"/>
                </a:cubicBezTo>
                <a:cubicBezTo>
                  <a:pt x="1369389" y="105137"/>
                  <a:pt x="1304715" y="126081"/>
                  <a:pt x="1368000" y="108000"/>
                </a:cubicBezTo>
                <a:cubicBezTo>
                  <a:pt x="1375297" y="105915"/>
                  <a:pt x="1382400" y="103200"/>
                  <a:pt x="1389600" y="100800"/>
                </a:cubicBezTo>
                <a:cubicBezTo>
                  <a:pt x="1404000" y="103200"/>
                  <a:pt x="1418951" y="103384"/>
                  <a:pt x="1432800" y="108000"/>
                </a:cubicBezTo>
                <a:cubicBezTo>
                  <a:pt x="1441009" y="110736"/>
                  <a:pt x="1446660" y="118530"/>
                  <a:pt x="1454400" y="122400"/>
                </a:cubicBezTo>
                <a:cubicBezTo>
                  <a:pt x="1461188" y="125794"/>
                  <a:pt x="1469212" y="126206"/>
                  <a:pt x="1476000" y="129600"/>
                </a:cubicBezTo>
                <a:cubicBezTo>
                  <a:pt x="1531830" y="157515"/>
                  <a:pt x="1464908" y="133103"/>
                  <a:pt x="1519200" y="151200"/>
                </a:cubicBezTo>
                <a:cubicBezTo>
                  <a:pt x="1562400" y="148800"/>
                  <a:pt x="1605728" y="148102"/>
                  <a:pt x="1648800" y="144000"/>
                </a:cubicBezTo>
                <a:cubicBezTo>
                  <a:pt x="1656355" y="143280"/>
                  <a:pt x="1663005" y="138507"/>
                  <a:pt x="1670400" y="136800"/>
                </a:cubicBezTo>
                <a:cubicBezTo>
                  <a:pt x="1694249" y="131296"/>
                  <a:pt x="1718655" y="128336"/>
                  <a:pt x="1742400" y="122400"/>
                </a:cubicBezTo>
                <a:cubicBezTo>
                  <a:pt x="1752000" y="120000"/>
                  <a:pt x="1761372" y="116356"/>
                  <a:pt x="1771200" y="115200"/>
                </a:cubicBezTo>
                <a:cubicBezTo>
                  <a:pt x="1802278" y="111544"/>
                  <a:pt x="1833600" y="110400"/>
                  <a:pt x="1864800" y="108000"/>
                </a:cubicBezTo>
                <a:cubicBezTo>
                  <a:pt x="1928762" y="60028"/>
                  <a:pt x="1859491" y="106161"/>
                  <a:pt x="1922400" y="79200"/>
                </a:cubicBezTo>
                <a:cubicBezTo>
                  <a:pt x="1930354" y="75791"/>
                  <a:pt x="1936260" y="68670"/>
                  <a:pt x="1944000" y="64800"/>
                </a:cubicBezTo>
                <a:cubicBezTo>
                  <a:pt x="1950788" y="61406"/>
                  <a:pt x="1958400" y="60000"/>
                  <a:pt x="1965600" y="57600"/>
                </a:cubicBezTo>
                <a:cubicBezTo>
                  <a:pt x="2026048" y="12264"/>
                  <a:pt x="1960342" y="55072"/>
                  <a:pt x="2030400" y="28800"/>
                </a:cubicBezTo>
                <a:cubicBezTo>
                  <a:pt x="2038502" y="25762"/>
                  <a:pt x="2044046" y="17809"/>
                  <a:pt x="2052000" y="14400"/>
                </a:cubicBezTo>
                <a:cubicBezTo>
                  <a:pt x="2061095" y="10502"/>
                  <a:pt x="2071285" y="9918"/>
                  <a:pt x="2080800" y="7200"/>
                </a:cubicBezTo>
                <a:cubicBezTo>
                  <a:pt x="2088097" y="5115"/>
                  <a:pt x="2095200" y="2400"/>
                  <a:pt x="2102400" y="0"/>
                </a:cubicBezTo>
                <a:cubicBezTo>
                  <a:pt x="2133600" y="2400"/>
                  <a:pt x="2165091" y="2320"/>
                  <a:pt x="2196000" y="7200"/>
                </a:cubicBezTo>
                <a:cubicBezTo>
                  <a:pt x="2210993" y="9567"/>
                  <a:pt x="2224474" y="17919"/>
                  <a:pt x="2239200" y="21600"/>
                </a:cubicBezTo>
                <a:cubicBezTo>
                  <a:pt x="2278413" y="31403"/>
                  <a:pt x="2259149" y="24375"/>
                  <a:pt x="2296800" y="43200"/>
                </a:cubicBezTo>
                <a:cubicBezTo>
                  <a:pt x="2309453" y="81160"/>
                  <a:pt x="2295637" y="50445"/>
                  <a:pt x="2325600" y="86400"/>
                </a:cubicBezTo>
                <a:cubicBezTo>
                  <a:pt x="2331140" y="93048"/>
                  <a:pt x="2332092" y="104486"/>
                  <a:pt x="2340000" y="108000"/>
                </a:cubicBezTo>
                <a:cubicBezTo>
                  <a:pt x="2355508" y="114892"/>
                  <a:pt x="2373600" y="112800"/>
                  <a:pt x="2390400" y="115200"/>
                </a:cubicBezTo>
                <a:cubicBezTo>
                  <a:pt x="2397600" y="120000"/>
                  <a:pt x="2406594" y="122843"/>
                  <a:pt x="2412000" y="129600"/>
                </a:cubicBezTo>
                <a:cubicBezTo>
                  <a:pt x="2416741" y="135526"/>
                  <a:pt x="2415806" y="144412"/>
                  <a:pt x="2419200" y="151200"/>
                </a:cubicBezTo>
                <a:cubicBezTo>
                  <a:pt x="2423070" y="158940"/>
                  <a:pt x="2428800" y="165600"/>
                  <a:pt x="2433600" y="172800"/>
                </a:cubicBezTo>
                <a:cubicBezTo>
                  <a:pt x="2437923" y="190094"/>
                  <a:pt x="2439662" y="210769"/>
                  <a:pt x="2455200" y="223200"/>
                </a:cubicBezTo>
                <a:cubicBezTo>
                  <a:pt x="2461126" y="227941"/>
                  <a:pt x="2469600" y="228000"/>
                  <a:pt x="2476800" y="230400"/>
                </a:cubicBezTo>
                <a:cubicBezTo>
                  <a:pt x="2474400" y="237600"/>
                  <a:pt x="2472590" y="245024"/>
                  <a:pt x="2469600" y="252000"/>
                </a:cubicBezTo>
                <a:cubicBezTo>
                  <a:pt x="2465372" y="261865"/>
                  <a:pt x="2456218" y="270115"/>
                  <a:pt x="2455200" y="280800"/>
                </a:cubicBezTo>
                <a:cubicBezTo>
                  <a:pt x="2451332" y="321416"/>
                  <a:pt x="2455200" y="362400"/>
                  <a:pt x="2455200" y="403200"/>
                </a:cubicBezTo>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518472" y="2408790"/>
            <a:ext cx="771128" cy="66561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555200" y="2450752"/>
            <a:ext cx="779381" cy="577081"/>
          </a:xfrm>
          <a:prstGeom prst="rect">
            <a:avLst/>
          </a:prstGeom>
          <a:noFill/>
        </p:spPr>
        <p:txBody>
          <a:bodyPr wrap="none" rtlCol="0">
            <a:spAutoFit/>
          </a:bodyPr>
          <a:lstStyle/>
          <a:p>
            <a:pPr algn="ctr"/>
            <a:r>
              <a:rPr lang="en-US" altLang="zh-CN" sz="1050" dirty="0"/>
              <a:t>Iron</a:t>
            </a:r>
          </a:p>
          <a:p>
            <a:pPr algn="ctr"/>
            <a:r>
              <a:rPr lang="en-US" altLang="zh-CN" sz="1050" dirty="0"/>
              <a:t>m= 50 kg </a:t>
            </a:r>
          </a:p>
          <a:p>
            <a:pPr algn="ctr"/>
            <a:r>
              <a:rPr lang="en-US" altLang="zh-CN" sz="1050" dirty="0"/>
              <a:t>T</a:t>
            </a:r>
            <a:r>
              <a:rPr lang="en-US" altLang="zh-CN" sz="1050" baseline="-25000" dirty="0"/>
              <a:t>1</a:t>
            </a:r>
            <a:r>
              <a:rPr lang="en-US" altLang="zh-CN" sz="1050" dirty="0"/>
              <a:t>= 500K</a:t>
            </a:r>
          </a:p>
        </p:txBody>
      </p:sp>
      <p:sp>
        <p:nvSpPr>
          <p:cNvPr id="13" name="任意多边形 12"/>
          <p:cNvSpPr/>
          <p:nvPr/>
        </p:nvSpPr>
        <p:spPr>
          <a:xfrm>
            <a:off x="165601" y="1981894"/>
            <a:ext cx="1828800" cy="170015"/>
          </a:xfrm>
          <a:custGeom>
            <a:avLst/>
            <a:gdLst>
              <a:gd name="connsiteX0" fmla="*/ 0 w 1828800"/>
              <a:gd name="connsiteY0" fmla="*/ 36310 h 331683"/>
              <a:gd name="connsiteX1" fmla="*/ 446400 w 1828800"/>
              <a:gd name="connsiteY1" fmla="*/ 331510 h 331683"/>
              <a:gd name="connsiteX2" fmla="*/ 928800 w 1828800"/>
              <a:gd name="connsiteY2" fmla="*/ 310 h 331683"/>
              <a:gd name="connsiteX3" fmla="*/ 1533600 w 1828800"/>
              <a:gd name="connsiteY3" fmla="*/ 266710 h 331683"/>
              <a:gd name="connsiteX4" fmla="*/ 1828800 w 1828800"/>
              <a:gd name="connsiteY4" fmla="*/ 14710 h 331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331683">
                <a:moveTo>
                  <a:pt x="0" y="36310"/>
                </a:moveTo>
                <a:cubicBezTo>
                  <a:pt x="145800" y="186910"/>
                  <a:pt x="291600" y="337510"/>
                  <a:pt x="446400" y="331510"/>
                </a:cubicBezTo>
                <a:cubicBezTo>
                  <a:pt x="601200" y="325510"/>
                  <a:pt x="747600" y="11110"/>
                  <a:pt x="928800" y="310"/>
                </a:cubicBezTo>
                <a:cubicBezTo>
                  <a:pt x="1110000" y="-10490"/>
                  <a:pt x="1383600" y="264310"/>
                  <a:pt x="1533600" y="266710"/>
                </a:cubicBezTo>
                <a:cubicBezTo>
                  <a:pt x="1683600" y="269110"/>
                  <a:pt x="1756200" y="141910"/>
                  <a:pt x="1828800" y="14710"/>
                </a:cubicBezTo>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3"/>
          <p:cNvSpPr/>
          <p:nvPr/>
        </p:nvSpPr>
        <p:spPr>
          <a:xfrm>
            <a:off x="531917" y="1889686"/>
            <a:ext cx="1828800" cy="170015"/>
          </a:xfrm>
          <a:custGeom>
            <a:avLst/>
            <a:gdLst>
              <a:gd name="connsiteX0" fmla="*/ 0 w 1828800"/>
              <a:gd name="connsiteY0" fmla="*/ 36310 h 331683"/>
              <a:gd name="connsiteX1" fmla="*/ 446400 w 1828800"/>
              <a:gd name="connsiteY1" fmla="*/ 331510 h 331683"/>
              <a:gd name="connsiteX2" fmla="*/ 928800 w 1828800"/>
              <a:gd name="connsiteY2" fmla="*/ 310 h 331683"/>
              <a:gd name="connsiteX3" fmla="*/ 1533600 w 1828800"/>
              <a:gd name="connsiteY3" fmla="*/ 266710 h 331683"/>
              <a:gd name="connsiteX4" fmla="*/ 1828800 w 1828800"/>
              <a:gd name="connsiteY4" fmla="*/ 14710 h 331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8800" h="331683">
                <a:moveTo>
                  <a:pt x="0" y="36310"/>
                </a:moveTo>
                <a:cubicBezTo>
                  <a:pt x="145800" y="186910"/>
                  <a:pt x="291600" y="337510"/>
                  <a:pt x="446400" y="331510"/>
                </a:cubicBezTo>
                <a:cubicBezTo>
                  <a:pt x="601200" y="325510"/>
                  <a:pt x="747600" y="11110"/>
                  <a:pt x="928800" y="310"/>
                </a:cubicBezTo>
                <a:cubicBezTo>
                  <a:pt x="1110000" y="-10490"/>
                  <a:pt x="1383600" y="264310"/>
                  <a:pt x="1533600" y="266710"/>
                </a:cubicBezTo>
                <a:cubicBezTo>
                  <a:pt x="1683600" y="269110"/>
                  <a:pt x="1756200" y="141910"/>
                  <a:pt x="1828800" y="14710"/>
                </a:cubicBezTo>
              </a:path>
            </a:pathLst>
          </a:cu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93478" y="2244117"/>
            <a:ext cx="736099" cy="415498"/>
          </a:xfrm>
          <a:prstGeom prst="rect">
            <a:avLst/>
          </a:prstGeom>
          <a:noFill/>
        </p:spPr>
        <p:txBody>
          <a:bodyPr wrap="none" rtlCol="0">
            <a:spAutoFit/>
          </a:bodyPr>
          <a:lstStyle/>
          <a:p>
            <a:r>
              <a:rPr lang="en-US" altLang="zh-CN" sz="1050" dirty="0"/>
              <a:t>Lake</a:t>
            </a:r>
          </a:p>
          <a:p>
            <a:r>
              <a:rPr lang="en-US" altLang="zh-CN" sz="1050" dirty="0"/>
              <a:t>T</a:t>
            </a:r>
            <a:r>
              <a:rPr lang="en-US" altLang="zh-CN" sz="1050" baseline="-25000" dirty="0"/>
              <a:t>2</a:t>
            </a:r>
            <a:r>
              <a:rPr lang="en-US" altLang="zh-CN" sz="1050" dirty="0"/>
              <a:t>=285K</a:t>
            </a:r>
          </a:p>
        </p:txBody>
      </p:sp>
      <p:sp>
        <p:nvSpPr>
          <p:cNvPr id="16" name="文本框 15"/>
          <p:cNvSpPr txBox="1"/>
          <p:nvPr/>
        </p:nvSpPr>
        <p:spPr>
          <a:xfrm>
            <a:off x="100800" y="3630923"/>
            <a:ext cx="2908800" cy="646331"/>
          </a:xfrm>
          <a:prstGeom prst="rect">
            <a:avLst/>
          </a:prstGeom>
          <a:noFill/>
        </p:spPr>
        <p:txBody>
          <a:bodyPr wrap="square" rtlCol="0">
            <a:spAutoFit/>
          </a:bodyPr>
          <a:lstStyle/>
          <a:p>
            <a:r>
              <a:rPr lang="en-US" altLang="zh-CN" dirty="0"/>
              <a:t>Both the water and the iron are incompressible</a:t>
            </a:r>
            <a:endParaRPr lang="zh-CN" altLang="en-US" dirty="0"/>
          </a:p>
        </p:txBody>
      </p:sp>
      <p:sp>
        <p:nvSpPr>
          <p:cNvPr id="17" name="文本框 16"/>
          <p:cNvSpPr txBox="1"/>
          <p:nvPr/>
        </p:nvSpPr>
        <p:spPr>
          <a:xfrm>
            <a:off x="194155" y="1389983"/>
            <a:ext cx="2223686" cy="369332"/>
          </a:xfrm>
          <a:prstGeom prst="rect">
            <a:avLst/>
          </a:prstGeom>
          <a:noFill/>
        </p:spPr>
        <p:txBody>
          <a:bodyPr wrap="none" rtlCol="0">
            <a:spAutoFit/>
          </a:bodyPr>
          <a:lstStyle/>
          <a:p>
            <a:r>
              <a:rPr lang="en-US" altLang="zh-CN" dirty="0"/>
              <a:t>System= lake + iron</a:t>
            </a:r>
          </a:p>
        </p:txBody>
      </p:sp>
      <p:sp>
        <p:nvSpPr>
          <p:cNvPr id="18" name="文本框 17"/>
          <p:cNvSpPr txBox="1"/>
          <p:nvPr/>
        </p:nvSpPr>
        <p:spPr>
          <a:xfrm>
            <a:off x="70780" y="4393530"/>
            <a:ext cx="2751074" cy="369332"/>
          </a:xfrm>
          <a:prstGeom prst="rect">
            <a:avLst/>
          </a:prstGeom>
          <a:noFill/>
        </p:spPr>
        <p:txBody>
          <a:bodyPr wrap="none" rtlCol="0">
            <a:spAutoFit/>
          </a:bodyPr>
          <a:lstStyle/>
          <a:p>
            <a:r>
              <a:rPr lang="en-US" altLang="zh-CN" dirty="0"/>
              <a:t>Iron</a:t>
            </a:r>
            <a:r>
              <a:rPr lang="zh-CN" altLang="en-US" dirty="0"/>
              <a:t>：</a:t>
            </a:r>
            <a:r>
              <a:rPr lang="en-US" altLang="zh-CN" dirty="0" err="1"/>
              <a:t>c</a:t>
            </a:r>
            <a:r>
              <a:rPr lang="en-US" altLang="zh-CN" baseline="-25000" dirty="0" err="1"/>
              <a:t>avg</a:t>
            </a:r>
            <a:r>
              <a:rPr lang="en-US" altLang="zh-CN" baseline="-25000" dirty="0"/>
              <a:t> </a:t>
            </a:r>
            <a:r>
              <a:rPr lang="en-US" altLang="zh-CN" dirty="0"/>
              <a:t> = 0.45 kJ/</a:t>
            </a:r>
            <a:r>
              <a:rPr lang="en-US" altLang="zh-CN" dirty="0" err="1"/>
              <a:t>kg·K</a:t>
            </a:r>
            <a:endParaRPr lang="zh-CN" altLang="en-US" dirty="0"/>
          </a:p>
        </p:txBody>
      </p:sp>
      <p:sp>
        <p:nvSpPr>
          <p:cNvPr id="19" name="文本框 18"/>
          <p:cNvSpPr txBox="1"/>
          <p:nvPr/>
        </p:nvSpPr>
        <p:spPr>
          <a:xfrm>
            <a:off x="3046328" y="1020651"/>
            <a:ext cx="4912563" cy="369332"/>
          </a:xfrm>
          <a:prstGeom prst="rect">
            <a:avLst/>
          </a:prstGeom>
          <a:noFill/>
        </p:spPr>
        <p:txBody>
          <a:bodyPr wrap="none" rtlCol="0">
            <a:spAutoFit/>
          </a:bodyPr>
          <a:lstStyle/>
          <a:p>
            <a:r>
              <a:rPr lang="en-US" altLang="zh-CN" dirty="0"/>
              <a:t>(a) The entropy change of the subsystem Iron</a:t>
            </a:r>
            <a:endParaRPr lang="zh-CN" altLang="en-US" dirty="0"/>
          </a:p>
        </p:txBody>
      </p:sp>
      <p:sp>
        <p:nvSpPr>
          <p:cNvPr id="20" name="矩形 19"/>
          <p:cNvSpPr/>
          <p:nvPr/>
        </p:nvSpPr>
        <p:spPr>
          <a:xfrm>
            <a:off x="3435129" y="1497079"/>
            <a:ext cx="2434328" cy="523220"/>
          </a:xfrm>
          <a:prstGeom prst="rect">
            <a:avLst/>
          </a:prstGeom>
        </p:spPr>
        <p:txBody>
          <a:bodyPr wrap="square">
            <a:spAutoFit/>
          </a:bodyPr>
          <a:lstStyle/>
          <a:p>
            <a:r>
              <a:rPr lang="en-US" altLang="zh-CN" sz="1400" dirty="0">
                <a:solidFill>
                  <a:srgbClr val="0000FF"/>
                </a:solidFill>
              </a:rPr>
              <a:t>Iron is cooling at constant volume condition </a:t>
            </a:r>
            <a:endParaRPr lang="zh-CN" altLang="en-US" sz="1400" dirty="0">
              <a:solidFill>
                <a:srgbClr val="0000FF"/>
              </a:solidFill>
            </a:endParaRPr>
          </a:p>
        </p:txBody>
      </p:sp>
      <p:graphicFrame>
        <p:nvGraphicFramePr>
          <p:cNvPr id="21" name="对象 20"/>
          <p:cNvGraphicFramePr>
            <a:graphicFrameLocks noChangeAspect="1"/>
          </p:cNvGraphicFramePr>
          <p:nvPr/>
        </p:nvGraphicFramePr>
        <p:xfrm>
          <a:off x="6346684" y="1526792"/>
          <a:ext cx="1315574" cy="518620"/>
        </p:xfrm>
        <a:graphic>
          <a:graphicData uri="http://schemas.openxmlformats.org/presentationml/2006/ole">
            <mc:AlternateContent xmlns:mc="http://schemas.openxmlformats.org/markup-compatibility/2006">
              <mc:Choice xmlns:v="urn:schemas-microsoft-com:vml" Requires="v">
                <p:oleObj name="Equation" r:id="rId2" imgW="1002960" imgH="393480" progId="Equation.DSMT4">
                  <p:embed/>
                </p:oleObj>
              </mc:Choice>
              <mc:Fallback>
                <p:oleObj name="Equation" r:id="rId2" imgW="1002960" imgH="393480" progId="Equation.DSMT4">
                  <p:embed/>
                  <p:pic>
                    <p:nvPicPr>
                      <p:cNvPr id="0" name=""/>
                      <p:cNvPicPr>
                        <a:picLocks noChangeAspect="1" noChangeArrowheads="1"/>
                      </p:cNvPicPr>
                      <p:nvPr/>
                    </p:nvPicPr>
                    <p:blipFill>
                      <a:blip r:embed="rId3"/>
                      <a:srcRect/>
                      <a:stretch>
                        <a:fillRect/>
                      </a:stretch>
                    </p:blipFill>
                    <p:spPr bwMode="auto">
                      <a:xfrm>
                        <a:off x="6346684" y="1526792"/>
                        <a:ext cx="1315574" cy="518620"/>
                      </a:xfrm>
                      <a:prstGeom prst="rect">
                        <a:avLst/>
                      </a:prstGeom>
                      <a:noFill/>
                      <a:ln>
                        <a:noFill/>
                      </a:ln>
                    </p:spPr>
                  </p:pic>
                </p:oleObj>
              </mc:Fallback>
            </mc:AlternateContent>
          </a:graphicData>
        </a:graphic>
      </p:graphicFrame>
      <p:graphicFrame>
        <p:nvGraphicFramePr>
          <p:cNvPr id="22" name="对象 21"/>
          <p:cNvGraphicFramePr>
            <a:graphicFrameLocks noChangeAspect="1"/>
          </p:cNvGraphicFramePr>
          <p:nvPr/>
        </p:nvGraphicFramePr>
        <p:xfrm>
          <a:off x="3701529" y="2137098"/>
          <a:ext cx="3559175" cy="458787"/>
        </p:xfrm>
        <a:graphic>
          <a:graphicData uri="http://schemas.openxmlformats.org/presentationml/2006/ole">
            <mc:AlternateContent xmlns:mc="http://schemas.openxmlformats.org/markup-compatibility/2006">
              <mc:Choice xmlns:v="urn:schemas-microsoft-com:vml" Requires="v">
                <p:oleObj name="Equation" r:id="rId4" imgW="3530520" imgH="457200" progId="Equation.DSMT4">
                  <p:embed/>
                </p:oleObj>
              </mc:Choice>
              <mc:Fallback>
                <p:oleObj name="Equation" r:id="rId4" imgW="3530520" imgH="457200" progId="Equation.DSMT4">
                  <p:embed/>
                  <p:pic>
                    <p:nvPicPr>
                      <p:cNvPr id="0" name=""/>
                      <p:cNvPicPr>
                        <a:picLocks noChangeAspect="1" noChangeArrowheads="1"/>
                      </p:cNvPicPr>
                      <p:nvPr/>
                    </p:nvPicPr>
                    <p:blipFill>
                      <a:blip r:embed="rId5"/>
                      <a:srcRect/>
                      <a:stretch>
                        <a:fillRect/>
                      </a:stretch>
                    </p:blipFill>
                    <p:spPr bwMode="auto">
                      <a:xfrm>
                        <a:off x="3701529" y="2137098"/>
                        <a:ext cx="3559175" cy="458787"/>
                      </a:xfrm>
                      <a:prstGeom prst="rect">
                        <a:avLst/>
                      </a:prstGeom>
                      <a:noFill/>
                      <a:ln>
                        <a:noFill/>
                      </a:ln>
                    </p:spPr>
                  </p:pic>
                </p:oleObj>
              </mc:Fallback>
            </mc:AlternateContent>
          </a:graphicData>
        </a:graphic>
      </p:graphicFrame>
      <p:graphicFrame>
        <p:nvGraphicFramePr>
          <p:cNvPr id="23" name="对象 22"/>
          <p:cNvGraphicFramePr>
            <a:graphicFrameLocks noChangeAspect="1"/>
          </p:cNvGraphicFramePr>
          <p:nvPr/>
        </p:nvGraphicFramePr>
        <p:xfrm>
          <a:off x="3969357" y="2699656"/>
          <a:ext cx="2765425" cy="433387"/>
        </p:xfrm>
        <a:graphic>
          <a:graphicData uri="http://schemas.openxmlformats.org/presentationml/2006/ole">
            <mc:AlternateContent xmlns:mc="http://schemas.openxmlformats.org/markup-compatibility/2006">
              <mc:Choice xmlns:v="urn:schemas-microsoft-com:vml" Requires="v">
                <p:oleObj name="Equation" r:id="rId6" imgW="2743200" imgH="431640" progId="Equation.DSMT4">
                  <p:embed/>
                </p:oleObj>
              </mc:Choice>
              <mc:Fallback>
                <p:oleObj name="Equation" r:id="rId6" imgW="2743200" imgH="431640" progId="Equation.DSMT4">
                  <p:embed/>
                  <p:pic>
                    <p:nvPicPr>
                      <p:cNvPr id="0" name=""/>
                      <p:cNvPicPr>
                        <a:picLocks noChangeAspect="1" noChangeArrowheads="1"/>
                      </p:cNvPicPr>
                      <p:nvPr/>
                    </p:nvPicPr>
                    <p:blipFill>
                      <a:blip r:embed="rId7"/>
                      <a:srcRect/>
                      <a:stretch>
                        <a:fillRect/>
                      </a:stretch>
                    </p:blipFill>
                    <p:spPr bwMode="auto">
                      <a:xfrm>
                        <a:off x="3969357" y="2699656"/>
                        <a:ext cx="2765425" cy="433387"/>
                      </a:xfrm>
                      <a:prstGeom prst="rect">
                        <a:avLst/>
                      </a:prstGeom>
                      <a:noFill/>
                      <a:ln>
                        <a:noFill/>
                      </a:ln>
                    </p:spPr>
                  </p:pic>
                </p:oleObj>
              </mc:Fallback>
            </mc:AlternateContent>
          </a:graphicData>
        </a:graphic>
      </p:graphicFrame>
      <p:sp>
        <p:nvSpPr>
          <p:cNvPr id="24" name="文本框 23"/>
          <p:cNvSpPr txBox="1"/>
          <p:nvPr/>
        </p:nvSpPr>
        <p:spPr>
          <a:xfrm>
            <a:off x="3046329" y="3254002"/>
            <a:ext cx="4874091" cy="369332"/>
          </a:xfrm>
          <a:prstGeom prst="rect">
            <a:avLst/>
          </a:prstGeom>
          <a:noFill/>
        </p:spPr>
        <p:txBody>
          <a:bodyPr wrap="none" rtlCol="0">
            <a:spAutoFit/>
          </a:bodyPr>
          <a:lstStyle/>
          <a:p>
            <a:r>
              <a:rPr lang="en-US" altLang="zh-CN" dirty="0"/>
              <a:t>(b) The entropy change of the subsystem lake</a:t>
            </a:r>
            <a:endParaRPr lang="zh-CN" altLang="en-US" dirty="0"/>
          </a:p>
        </p:txBody>
      </p:sp>
      <p:sp>
        <p:nvSpPr>
          <p:cNvPr id="25" name="文本框 24"/>
          <p:cNvSpPr txBox="1"/>
          <p:nvPr/>
        </p:nvSpPr>
        <p:spPr>
          <a:xfrm>
            <a:off x="3339010" y="3650586"/>
            <a:ext cx="3087705" cy="307777"/>
          </a:xfrm>
          <a:prstGeom prst="rect">
            <a:avLst/>
          </a:prstGeom>
          <a:noFill/>
        </p:spPr>
        <p:txBody>
          <a:bodyPr wrap="none" rtlCol="0">
            <a:spAutoFit/>
          </a:bodyPr>
          <a:lstStyle/>
          <a:p>
            <a:r>
              <a:rPr lang="en-US" altLang="zh-CN" sz="1400" dirty="0">
                <a:solidFill>
                  <a:srgbClr val="0000FF"/>
                </a:solidFill>
              </a:rPr>
              <a:t>The temperature of the lake is const.</a:t>
            </a:r>
            <a:endParaRPr lang="zh-CN" altLang="en-US" sz="1400" dirty="0">
              <a:solidFill>
                <a:srgbClr val="0000FF"/>
              </a:solidFill>
            </a:endParaRPr>
          </a:p>
        </p:txBody>
      </p:sp>
      <p:sp>
        <p:nvSpPr>
          <p:cNvPr id="26" name="文本框 25"/>
          <p:cNvSpPr txBox="1"/>
          <p:nvPr/>
        </p:nvSpPr>
        <p:spPr>
          <a:xfrm>
            <a:off x="3339010" y="3972301"/>
            <a:ext cx="1954381" cy="307777"/>
          </a:xfrm>
          <a:prstGeom prst="rect">
            <a:avLst/>
          </a:prstGeom>
          <a:noFill/>
        </p:spPr>
        <p:txBody>
          <a:bodyPr wrap="none" rtlCol="0">
            <a:spAutoFit/>
          </a:bodyPr>
          <a:lstStyle/>
          <a:p>
            <a:r>
              <a:rPr lang="en-US" altLang="zh-CN" sz="1400" dirty="0"/>
              <a:t>The energy it receive: </a:t>
            </a:r>
            <a:endParaRPr lang="zh-CN" altLang="en-US" sz="1400" dirty="0"/>
          </a:p>
        </p:txBody>
      </p:sp>
      <p:graphicFrame>
        <p:nvGraphicFramePr>
          <p:cNvPr id="28" name="对象 27"/>
          <p:cNvGraphicFramePr>
            <a:graphicFrameLocks noChangeAspect="1"/>
          </p:cNvGraphicFramePr>
          <p:nvPr/>
        </p:nvGraphicFramePr>
        <p:xfrm>
          <a:off x="3751870" y="4396693"/>
          <a:ext cx="2690812" cy="255588"/>
        </p:xfrm>
        <a:graphic>
          <a:graphicData uri="http://schemas.openxmlformats.org/presentationml/2006/ole">
            <mc:AlternateContent xmlns:mc="http://schemas.openxmlformats.org/markup-compatibility/2006">
              <mc:Choice xmlns:v="urn:schemas-microsoft-com:vml" Requires="v">
                <p:oleObj name="Equation" r:id="rId8" imgW="2666880" imgH="253800" progId="Equation.DSMT4">
                  <p:embed/>
                </p:oleObj>
              </mc:Choice>
              <mc:Fallback>
                <p:oleObj name="Equation" r:id="rId8" imgW="2666880" imgH="253800" progId="Equation.DSMT4">
                  <p:embed/>
                  <p:pic>
                    <p:nvPicPr>
                      <p:cNvPr id="0" name=""/>
                      <p:cNvPicPr>
                        <a:picLocks noChangeAspect="1" noChangeArrowheads="1"/>
                      </p:cNvPicPr>
                      <p:nvPr/>
                    </p:nvPicPr>
                    <p:blipFill>
                      <a:blip r:embed="rId9"/>
                      <a:srcRect/>
                      <a:stretch>
                        <a:fillRect/>
                      </a:stretch>
                    </p:blipFill>
                    <p:spPr bwMode="auto">
                      <a:xfrm>
                        <a:off x="3751870" y="4396693"/>
                        <a:ext cx="2690812" cy="255588"/>
                      </a:xfrm>
                      <a:prstGeom prst="rect">
                        <a:avLst/>
                      </a:prstGeom>
                      <a:noFill/>
                      <a:ln>
                        <a:noFill/>
                      </a:ln>
                    </p:spPr>
                  </p:pic>
                </p:oleObj>
              </mc:Fallback>
            </mc:AlternateContent>
          </a:graphicData>
        </a:graphic>
      </p:graphicFrame>
      <p:sp>
        <p:nvSpPr>
          <p:cNvPr id="29" name="文本框 28"/>
          <p:cNvSpPr txBox="1"/>
          <p:nvPr/>
        </p:nvSpPr>
        <p:spPr>
          <a:xfrm>
            <a:off x="3339010" y="4689285"/>
            <a:ext cx="1864613" cy="307777"/>
          </a:xfrm>
          <a:prstGeom prst="rect">
            <a:avLst/>
          </a:prstGeom>
          <a:noFill/>
        </p:spPr>
        <p:txBody>
          <a:bodyPr wrap="none" rtlCol="0">
            <a:spAutoFit/>
          </a:bodyPr>
          <a:lstStyle/>
          <a:p>
            <a:r>
              <a:rPr lang="en-US" altLang="zh-CN" sz="1400" dirty="0"/>
              <a:t>The entropy</a:t>
            </a:r>
            <a:r>
              <a:rPr lang="zh-CN" altLang="en-US" sz="1400" dirty="0"/>
              <a:t> </a:t>
            </a:r>
            <a:r>
              <a:rPr lang="en-US" altLang="zh-CN" sz="1400" dirty="0"/>
              <a:t>of lake: </a:t>
            </a:r>
            <a:endParaRPr lang="zh-CN" altLang="en-US" sz="1400" dirty="0"/>
          </a:p>
        </p:txBody>
      </p:sp>
      <p:graphicFrame>
        <p:nvGraphicFramePr>
          <p:cNvPr id="30" name="对象 29"/>
          <p:cNvGraphicFramePr>
            <a:graphicFrameLocks noChangeAspect="1"/>
          </p:cNvGraphicFramePr>
          <p:nvPr/>
        </p:nvGraphicFramePr>
        <p:xfrm>
          <a:off x="3724780" y="5048026"/>
          <a:ext cx="2316163" cy="433388"/>
        </p:xfrm>
        <a:graphic>
          <a:graphicData uri="http://schemas.openxmlformats.org/presentationml/2006/ole">
            <mc:AlternateContent xmlns:mc="http://schemas.openxmlformats.org/markup-compatibility/2006">
              <mc:Choice xmlns:v="urn:schemas-microsoft-com:vml" Requires="v">
                <p:oleObj name="Equation" r:id="rId10" imgW="2298600" imgH="431640" progId="Equation.DSMT4">
                  <p:embed/>
                </p:oleObj>
              </mc:Choice>
              <mc:Fallback>
                <p:oleObj name="Equation" r:id="rId10" imgW="2298600" imgH="431640" progId="Equation.DSMT4">
                  <p:embed/>
                  <p:pic>
                    <p:nvPicPr>
                      <p:cNvPr id="0" name=""/>
                      <p:cNvPicPr>
                        <a:picLocks noChangeAspect="1" noChangeArrowheads="1"/>
                      </p:cNvPicPr>
                      <p:nvPr/>
                    </p:nvPicPr>
                    <p:blipFill>
                      <a:blip r:embed="rId11"/>
                      <a:srcRect/>
                      <a:stretch>
                        <a:fillRect/>
                      </a:stretch>
                    </p:blipFill>
                    <p:spPr bwMode="auto">
                      <a:xfrm>
                        <a:off x="3724780" y="5048026"/>
                        <a:ext cx="2316163" cy="433388"/>
                      </a:xfrm>
                      <a:prstGeom prst="rect">
                        <a:avLst/>
                      </a:prstGeom>
                      <a:noFill/>
                      <a:ln>
                        <a:noFill/>
                      </a:ln>
                    </p:spPr>
                  </p:pic>
                </p:oleObj>
              </mc:Fallback>
            </mc:AlternateContent>
          </a:graphicData>
        </a:graphic>
      </p:graphicFrame>
      <p:sp>
        <p:nvSpPr>
          <p:cNvPr id="31" name="文本框 30"/>
          <p:cNvSpPr txBox="1"/>
          <p:nvPr/>
        </p:nvSpPr>
        <p:spPr>
          <a:xfrm>
            <a:off x="746874" y="5692493"/>
            <a:ext cx="2954655" cy="369332"/>
          </a:xfrm>
          <a:prstGeom prst="rect">
            <a:avLst/>
          </a:prstGeom>
          <a:noFill/>
        </p:spPr>
        <p:txBody>
          <a:bodyPr wrap="none" rtlCol="0">
            <a:spAutoFit/>
          </a:bodyPr>
          <a:lstStyle/>
          <a:p>
            <a:r>
              <a:rPr lang="en-US" altLang="zh-CN" dirty="0"/>
              <a:t>The generation of entropy: </a:t>
            </a:r>
            <a:endParaRPr lang="zh-CN" altLang="en-US" dirty="0"/>
          </a:p>
        </p:txBody>
      </p:sp>
      <p:graphicFrame>
        <p:nvGraphicFramePr>
          <p:cNvPr id="32" name="对象 31"/>
          <p:cNvGraphicFramePr>
            <a:graphicFrameLocks noChangeAspect="1"/>
          </p:cNvGraphicFramePr>
          <p:nvPr/>
        </p:nvGraphicFramePr>
        <p:xfrm>
          <a:off x="3751870" y="5818937"/>
          <a:ext cx="3148012" cy="242888"/>
        </p:xfrm>
        <a:graphic>
          <a:graphicData uri="http://schemas.openxmlformats.org/presentationml/2006/ole">
            <mc:AlternateContent xmlns:mc="http://schemas.openxmlformats.org/markup-compatibility/2006">
              <mc:Choice xmlns:v="urn:schemas-microsoft-com:vml" Requires="v">
                <p:oleObj name="Equation" r:id="rId12" imgW="3124080" imgH="241200" progId="Equation.DSMT4">
                  <p:embed/>
                </p:oleObj>
              </mc:Choice>
              <mc:Fallback>
                <p:oleObj name="Equation" r:id="rId12" imgW="3124080" imgH="241200" progId="Equation.DSMT4">
                  <p:embed/>
                  <p:pic>
                    <p:nvPicPr>
                      <p:cNvPr id="0" name=""/>
                      <p:cNvPicPr>
                        <a:picLocks noChangeAspect="1" noChangeArrowheads="1"/>
                      </p:cNvPicPr>
                      <p:nvPr/>
                    </p:nvPicPr>
                    <p:blipFill>
                      <a:blip r:embed="rId13"/>
                      <a:srcRect/>
                      <a:stretch>
                        <a:fillRect/>
                      </a:stretch>
                    </p:blipFill>
                    <p:spPr bwMode="auto">
                      <a:xfrm>
                        <a:off x="3751870" y="5818937"/>
                        <a:ext cx="3148012" cy="242888"/>
                      </a:xfrm>
                      <a:prstGeom prst="rect">
                        <a:avLst/>
                      </a:prstGeom>
                      <a:noFill/>
                      <a:ln>
                        <a:noFill/>
                      </a:ln>
                    </p:spPr>
                  </p:pic>
                </p:oleObj>
              </mc:Fallback>
            </mc:AlternateContent>
          </a:graphicData>
        </a:graphic>
      </p:graphicFrame>
      <p:sp>
        <p:nvSpPr>
          <p:cNvPr id="33" name="文本框 32"/>
          <p:cNvSpPr txBox="1"/>
          <p:nvPr/>
        </p:nvSpPr>
        <p:spPr>
          <a:xfrm>
            <a:off x="1532546" y="6224811"/>
            <a:ext cx="4878259" cy="369332"/>
          </a:xfrm>
          <a:prstGeom prst="rect">
            <a:avLst/>
          </a:prstGeom>
          <a:noFill/>
        </p:spPr>
        <p:txBody>
          <a:bodyPr wrap="none" rtlCol="0">
            <a:spAutoFit/>
          </a:bodyPr>
          <a:lstStyle/>
          <a:p>
            <a:r>
              <a:rPr lang="en-US" altLang="zh-CN" dirty="0"/>
              <a:t>Where the location of the entropy generated ?</a:t>
            </a:r>
            <a:endParaRPr lang="zh-CN" altLang="en-US" dirty="0"/>
          </a:p>
        </p:txBody>
      </p:sp>
    </p:spTree>
    <p:extLst>
      <p:ext uri="{BB962C8B-B14F-4D97-AF65-F5344CB8AC3E}">
        <p14:creationId xmlns:p14="http://schemas.microsoft.com/office/powerpoint/2010/main" val="4179370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extLst>
              <a:ext uri="{28A0092B-C50C-407E-A947-70E740481C1C}">
                <a14:useLocalDpi xmlns:a14="http://schemas.microsoft.com/office/drawing/2010/main" val="0"/>
              </a:ext>
            </a:extLst>
          </a:blip>
          <a:srcRect l="9685" t="20892" r="630" b="14016"/>
          <a:stretch/>
        </p:blipFill>
        <p:spPr>
          <a:xfrm>
            <a:off x="316799" y="1008000"/>
            <a:ext cx="8200800" cy="4464000"/>
          </a:xfrm>
          <a:prstGeom prst="rect">
            <a:avLst/>
          </a:prstGeom>
        </p:spPr>
      </p:pic>
      <p:sp>
        <p:nvSpPr>
          <p:cNvPr id="4" name="文本框 3"/>
          <p:cNvSpPr txBox="1"/>
          <p:nvPr/>
        </p:nvSpPr>
        <p:spPr>
          <a:xfrm>
            <a:off x="986401" y="108000"/>
            <a:ext cx="4572000" cy="707886"/>
          </a:xfrm>
          <a:prstGeom prst="rect">
            <a:avLst/>
          </a:prstGeom>
          <a:noFill/>
        </p:spPr>
        <p:txBody>
          <a:bodyPr wrap="square" rtlCol="0">
            <a:spAutoFit/>
          </a:bodyPr>
          <a:lstStyle/>
          <a:p>
            <a:r>
              <a:rPr lang="en-US" altLang="zh-CN" sz="2000" dirty="0">
                <a:solidFill>
                  <a:srgbClr val="FF0000"/>
                </a:solidFill>
              </a:rPr>
              <a:t>Entropy generated associated with heat transfer</a:t>
            </a:r>
            <a:endParaRPr lang="zh-CN" altLang="en-US" sz="2000" dirty="0">
              <a:solidFill>
                <a:srgbClr val="FF0000"/>
              </a:solidFill>
            </a:endParaRPr>
          </a:p>
        </p:txBody>
      </p:sp>
      <p:sp>
        <p:nvSpPr>
          <p:cNvPr id="5" name="文本框 4"/>
          <p:cNvSpPr txBox="1"/>
          <p:nvPr/>
        </p:nvSpPr>
        <p:spPr>
          <a:xfrm>
            <a:off x="1721590" y="5990400"/>
            <a:ext cx="5391219" cy="369332"/>
          </a:xfrm>
          <a:prstGeom prst="rect">
            <a:avLst/>
          </a:prstGeom>
          <a:noFill/>
        </p:spPr>
        <p:txBody>
          <a:bodyPr wrap="none" rtlCol="0">
            <a:spAutoFit/>
          </a:bodyPr>
          <a:lstStyle/>
          <a:p>
            <a:r>
              <a:rPr lang="en-US" altLang="zh-CN" dirty="0">
                <a:solidFill>
                  <a:srgbClr val="0000FF"/>
                </a:solidFill>
              </a:rPr>
              <a:t>Entropy generated at the heat exchange boundary </a:t>
            </a:r>
            <a:endParaRPr lang="zh-CN" altLang="en-US" dirty="0">
              <a:solidFill>
                <a:srgbClr val="0000FF"/>
              </a:solidFill>
            </a:endParaRPr>
          </a:p>
        </p:txBody>
      </p:sp>
    </p:spTree>
    <p:extLst>
      <p:ext uri="{BB962C8B-B14F-4D97-AF65-F5344CB8AC3E}">
        <p14:creationId xmlns:p14="http://schemas.microsoft.com/office/powerpoint/2010/main" val="10696063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923890" y="7937"/>
            <a:ext cx="3657635" cy="54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b="1" dirty="0">
                <a:solidFill>
                  <a:srgbClr val="FF0000"/>
                </a:solidFill>
                <a:effectLst>
                  <a:outerShdw blurRad="38100" dist="38100" dir="2700000" algn="tl">
                    <a:srgbClr val="000000">
                      <a:alpha val="43137"/>
                    </a:srgbClr>
                  </a:outerShdw>
                </a:effectLst>
                <a:latin typeface="Arial Unicode MS" pitchFamily="34" charset="-122"/>
                <a:ea typeface="Arial Unicode MS" pitchFamily="34" charset="-122"/>
                <a:cs typeface="Arial Unicode MS" pitchFamily="34" charset="-122"/>
              </a:rPr>
              <a:t>Quality of Energy</a:t>
            </a:r>
            <a:endParaRPr lang="en-US" dirty="0">
              <a:solidFill>
                <a:srgbClr val="FF0000"/>
              </a:solidFill>
              <a:latin typeface="Arial Unicode MS" pitchFamily="34" charset="-122"/>
              <a:ea typeface="Arial Unicode MS" pitchFamily="34" charset="-122"/>
              <a:cs typeface="Arial Unicode MS" pitchFamily="34" charset="-122"/>
            </a:endParaRPr>
          </a:p>
        </p:txBody>
      </p:sp>
      <p:sp>
        <p:nvSpPr>
          <p:cNvPr id="16" name="TextBox 15"/>
          <p:cNvSpPr txBox="1"/>
          <p:nvPr/>
        </p:nvSpPr>
        <p:spPr>
          <a:xfrm>
            <a:off x="460375" y="1129455"/>
            <a:ext cx="8321675" cy="3785652"/>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latin typeface="Arial Unicode MS" pitchFamily="34" charset="-122"/>
                <a:ea typeface="Arial Unicode MS" pitchFamily="34" charset="-122"/>
                <a:cs typeface="Arial Unicode MS" pitchFamily="34" charset="-122"/>
              </a:rPr>
              <a:t>1</a:t>
            </a:r>
            <a:r>
              <a:rPr lang="en-US" altLang="zh-CN" sz="2400" baseline="30000" dirty="0">
                <a:latin typeface="Arial Unicode MS" pitchFamily="34" charset="-122"/>
                <a:ea typeface="Arial Unicode MS" pitchFamily="34" charset="-122"/>
                <a:cs typeface="Arial Unicode MS" pitchFamily="34" charset="-122"/>
              </a:rPr>
              <a:t>st</a:t>
            </a:r>
            <a:r>
              <a:rPr lang="en-US" altLang="zh-CN" sz="2400" dirty="0">
                <a:latin typeface="Arial Unicode MS" pitchFamily="34" charset="-122"/>
                <a:ea typeface="Arial Unicode MS" pitchFamily="34" charset="-122"/>
                <a:cs typeface="Arial Unicode MS" pitchFamily="34" charset="-122"/>
              </a:rPr>
              <a:t> law of TD: quantity of energy </a:t>
            </a:r>
            <a:r>
              <a:rPr lang="en-US" altLang="zh-CN" sz="2400" dirty="0">
                <a:latin typeface="Arial Unicode MS" pitchFamily="34" charset="-122"/>
                <a:ea typeface="Arial Unicode MS" pitchFamily="34" charset="-122"/>
                <a:cs typeface="Arial Unicode MS" pitchFamily="34" charset="-122"/>
                <a:sym typeface="Symbol"/>
              </a:rPr>
              <a:t> energy cannot be created or destroyed.</a:t>
            </a:r>
          </a:p>
          <a:p>
            <a:pPr marL="342900" indent="-342900">
              <a:buFont typeface="Arial" panose="020B0604020202020204" pitchFamily="34" charset="0"/>
              <a:buChar char="•"/>
            </a:pPr>
            <a:endParaRPr lang="en-US" altLang="zh-CN" sz="2400" dirty="0">
              <a:latin typeface="Arial Unicode MS" pitchFamily="34" charset="-122"/>
              <a:ea typeface="Arial Unicode MS" pitchFamily="34" charset="-122"/>
              <a:cs typeface="Arial Unicode MS" pitchFamily="34" charset="-122"/>
              <a:sym typeface="Symbol"/>
            </a:endParaRPr>
          </a:p>
          <a:p>
            <a:pPr marL="342900" indent="-342900">
              <a:buFont typeface="Arial" panose="020B0604020202020204" pitchFamily="34" charset="0"/>
              <a:buChar char="•"/>
            </a:pPr>
            <a:r>
              <a:rPr lang="en-US" altLang="zh-CN" sz="2400" dirty="0">
                <a:latin typeface="Arial Unicode MS" pitchFamily="34" charset="-122"/>
                <a:ea typeface="Arial Unicode MS" pitchFamily="34" charset="-122"/>
                <a:cs typeface="Arial Unicode MS" pitchFamily="34" charset="-122"/>
                <a:sym typeface="Symbol"/>
              </a:rPr>
              <a:t>2</a:t>
            </a:r>
            <a:r>
              <a:rPr lang="en-US" altLang="zh-CN" sz="2400" baseline="30000" dirty="0">
                <a:latin typeface="Arial Unicode MS" pitchFamily="34" charset="-122"/>
                <a:ea typeface="Arial Unicode MS" pitchFamily="34" charset="-122"/>
                <a:cs typeface="Arial Unicode MS" pitchFamily="34" charset="-122"/>
                <a:sym typeface="Symbol"/>
              </a:rPr>
              <a:t>nd</a:t>
            </a:r>
            <a:r>
              <a:rPr lang="en-US" altLang="zh-CN" sz="2400" dirty="0">
                <a:latin typeface="Arial Unicode MS" pitchFamily="34" charset="-122"/>
                <a:ea typeface="Arial Unicode MS" pitchFamily="34" charset="-122"/>
                <a:cs typeface="Arial Unicode MS" pitchFamily="34" charset="-122"/>
                <a:sym typeface="Symbol"/>
              </a:rPr>
              <a:t> law of TD: quality of energy  degradation of energy: entropy increase / lost opportunities to do work  energy has quality as well as quantity.</a:t>
            </a:r>
          </a:p>
          <a:p>
            <a:pPr marL="342900" indent="-342900">
              <a:buFont typeface="Arial" panose="020B0604020202020204" pitchFamily="34" charset="0"/>
              <a:buChar char="•"/>
            </a:pPr>
            <a:endParaRPr lang="en-US" altLang="zh-CN" sz="2400" dirty="0">
              <a:latin typeface="Arial Unicode MS" pitchFamily="34" charset="-122"/>
              <a:ea typeface="Arial Unicode MS" pitchFamily="34" charset="-122"/>
              <a:cs typeface="Arial Unicode MS" pitchFamily="34" charset="-122"/>
              <a:sym typeface="Symbol"/>
            </a:endParaRPr>
          </a:p>
          <a:p>
            <a:pPr marL="342900" indent="-342900">
              <a:buFont typeface="Arial" panose="020B0604020202020204" pitchFamily="34" charset="0"/>
              <a:buChar char="•"/>
            </a:pPr>
            <a:r>
              <a:rPr lang="en-US" altLang="zh-CN" sz="2400" dirty="0" err="1">
                <a:latin typeface="Arial Unicode MS" pitchFamily="34" charset="-122"/>
                <a:ea typeface="Arial Unicode MS" pitchFamily="34" charset="-122"/>
                <a:cs typeface="Arial Unicode MS" pitchFamily="34" charset="-122"/>
                <a:sym typeface="Symbol"/>
              </a:rPr>
              <a:t>E</a:t>
            </a:r>
            <a:r>
              <a:rPr lang="en-US" altLang="zh-CN" sz="2400" b="1" dirty="0" err="1">
                <a:solidFill>
                  <a:srgbClr val="FF0000"/>
                </a:solidFill>
                <a:latin typeface="Arial Unicode MS" pitchFamily="34" charset="-122"/>
                <a:ea typeface="Arial Unicode MS" pitchFamily="34" charset="-122"/>
                <a:cs typeface="Arial Unicode MS" pitchFamily="34" charset="-122"/>
                <a:sym typeface="Symbol"/>
              </a:rPr>
              <a:t>x</a:t>
            </a:r>
            <a:r>
              <a:rPr lang="en-US" altLang="zh-CN" sz="2400" dirty="0" err="1">
                <a:latin typeface="Arial Unicode MS" pitchFamily="34" charset="-122"/>
                <a:ea typeface="Arial Unicode MS" pitchFamily="34" charset="-122"/>
                <a:cs typeface="Arial Unicode MS" pitchFamily="34" charset="-122"/>
                <a:sym typeface="Symbol"/>
              </a:rPr>
              <a:t>ergy</a:t>
            </a:r>
            <a:r>
              <a:rPr lang="en-US" altLang="zh-CN" sz="2400" dirty="0">
                <a:latin typeface="Arial Unicode MS" pitchFamily="34" charset="-122"/>
                <a:ea typeface="Arial Unicode MS" pitchFamily="34" charset="-122"/>
                <a:cs typeface="Arial Unicode MS" pitchFamily="34" charset="-122"/>
                <a:sym typeface="Symbol"/>
              </a:rPr>
              <a:t> (</a:t>
            </a:r>
            <a:r>
              <a:rPr lang="zh-CN" altLang="en-US" sz="2400" dirty="0">
                <a:latin typeface="Arial Unicode MS" pitchFamily="34" charset="-122"/>
                <a:ea typeface="Arial Unicode MS" pitchFamily="34" charset="-122"/>
                <a:cs typeface="Arial Unicode MS" pitchFamily="34" charset="-122"/>
                <a:sym typeface="Symbol"/>
              </a:rPr>
              <a:t>可用能</a:t>
            </a:r>
            <a:r>
              <a:rPr lang="en-US" altLang="zh-CN" sz="2400" dirty="0">
                <a:latin typeface="Arial Unicode MS" pitchFamily="34" charset="-122"/>
                <a:ea typeface="Arial Unicode MS" pitchFamily="34" charset="-122"/>
                <a:cs typeface="Arial Unicode MS" pitchFamily="34" charset="-122"/>
                <a:sym typeface="Symbol"/>
              </a:rPr>
              <a:t>): the maximum useful work that can be obtained from the system at a given state in a specified environment. </a:t>
            </a:r>
            <a:endParaRPr lang="zh-CN" altLang="en-US" sz="2400" dirty="0">
              <a:latin typeface="Arial Unicode MS" pitchFamily="34" charset="-122"/>
              <a:ea typeface="Arial Unicode MS" pitchFamily="34" charset="-122"/>
              <a:cs typeface="Arial Unicode MS" pitchFamily="34" charset="-122"/>
            </a:endParaRPr>
          </a:p>
        </p:txBody>
      </p:sp>
      <p:sp>
        <p:nvSpPr>
          <p:cNvPr id="2" name="TextBox 1"/>
          <p:cNvSpPr txBox="1"/>
          <p:nvPr/>
        </p:nvSpPr>
        <p:spPr>
          <a:xfrm>
            <a:off x="2494890" y="5399663"/>
            <a:ext cx="4463081" cy="523220"/>
          </a:xfrm>
          <a:prstGeom prst="rect">
            <a:avLst/>
          </a:prstGeom>
          <a:noFill/>
        </p:spPr>
        <p:txBody>
          <a:bodyPr wrap="none" rtlCol="0">
            <a:spAutoFit/>
          </a:bodyPr>
          <a:lstStyle/>
          <a:p>
            <a:r>
              <a:rPr lang="en-US" altLang="zh-CN" sz="2800" dirty="0">
                <a:solidFill>
                  <a:srgbClr val="0000FF"/>
                </a:solidFill>
              </a:rPr>
              <a:t>The availability of energy ! </a:t>
            </a:r>
            <a:endParaRPr lang="zh-CN" altLang="en-US" sz="2800" dirty="0">
              <a:solidFill>
                <a:srgbClr val="0000FF"/>
              </a:solidFill>
            </a:endParaRPr>
          </a:p>
        </p:txBody>
      </p:sp>
    </p:spTree>
    <p:extLst>
      <p:ext uri="{BB962C8B-B14F-4D97-AF65-F5344CB8AC3E}">
        <p14:creationId xmlns:p14="http://schemas.microsoft.com/office/powerpoint/2010/main" val="24319300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Guangdong 04780019 (838926268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0940" y="1150992"/>
            <a:ext cx="3307184" cy="22098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68021" y="1008801"/>
            <a:ext cx="2704587" cy="707886"/>
          </a:xfrm>
          <a:prstGeom prst="rect">
            <a:avLst/>
          </a:prstGeom>
          <a:noFill/>
        </p:spPr>
        <p:txBody>
          <a:bodyPr wrap="none" rtlCol="0">
            <a:spAutoFit/>
          </a:bodyPr>
          <a:lstStyle/>
          <a:p>
            <a:r>
              <a:rPr lang="en-US" altLang="zh-CN" sz="2000" b="1" dirty="0"/>
              <a:t>Nuclear power plant </a:t>
            </a:r>
          </a:p>
          <a:p>
            <a:r>
              <a:rPr lang="en-US" altLang="zh-CN" sz="2000" b="1" dirty="0"/>
              <a:t>(</a:t>
            </a:r>
            <a:r>
              <a:rPr lang="zh-CN" altLang="en-US" sz="2000" b="1" dirty="0"/>
              <a:t>大亚湾核电站</a:t>
            </a:r>
            <a:r>
              <a:rPr lang="en-US" altLang="zh-CN" sz="2000" b="1" dirty="0"/>
              <a:t>)</a:t>
            </a:r>
            <a:endParaRPr lang="zh-CN" altLang="en-US" sz="2000" b="1" dirty="0"/>
          </a:p>
        </p:txBody>
      </p:sp>
      <p:sp>
        <p:nvSpPr>
          <p:cNvPr id="6" name="矩形 5"/>
          <p:cNvSpPr/>
          <p:nvPr/>
        </p:nvSpPr>
        <p:spPr>
          <a:xfrm>
            <a:off x="19356" y="1851347"/>
            <a:ext cx="4746976" cy="1015663"/>
          </a:xfrm>
          <a:prstGeom prst="rect">
            <a:avLst/>
          </a:prstGeom>
        </p:spPr>
        <p:txBody>
          <a:bodyPr wrap="square">
            <a:spAutoFit/>
          </a:bodyPr>
          <a:lstStyle/>
          <a:p>
            <a:pPr marL="342900" indent="-342900">
              <a:buFont typeface="Wingdings" panose="05000000000000000000" pitchFamily="2" charset="2"/>
              <a:buChar char="ü"/>
            </a:pPr>
            <a:r>
              <a:rPr lang="en-US" altLang="zh-CN" sz="2000" dirty="0"/>
              <a:t>Two 984 megawatt (10</a:t>
            </a:r>
            <a:r>
              <a:rPr lang="en-US" altLang="zh-CN" sz="2000" baseline="30000" dirty="0"/>
              <a:t>6</a:t>
            </a:r>
            <a:r>
              <a:rPr lang="en-US" altLang="zh-CN" sz="2000" dirty="0"/>
              <a:t> W) Plant</a:t>
            </a:r>
          </a:p>
          <a:p>
            <a:pPr marL="342900" indent="-342900">
              <a:buFont typeface="Wingdings" panose="05000000000000000000" pitchFamily="2" charset="2"/>
              <a:buChar char="ü"/>
            </a:pPr>
            <a:r>
              <a:rPr lang="en-US" altLang="zh-CN" sz="2000" dirty="0"/>
              <a:t>Total electricity per year: ~120</a:t>
            </a:r>
            <a:r>
              <a:rPr lang="zh-CN" altLang="en-US" sz="2000" dirty="0"/>
              <a:t>亿 </a:t>
            </a:r>
            <a:r>
              <a:rPr lang="en-US" altLang="zh-CN" sz="2000" dirty="0"/>
              <a:t>kWh</a:t>
            </a:r>
          </a:p>
          <a:p>
            <a:pPr marL="342900" indent="-342900">
              <a:buFont typeface="Wingdings" panose="05000000000000000000" pitchFamily="2" charset="2"/>
              <a:buChar char="ü"/>
            </a:pPr>
            <a:r>
              <a:rPr lang="en-US" altLang="zh-CN" sz="2000" dirty="0"/>
              <a:t>Waste heat released</a:t>
            </a:r>
            <a:r>
              <a:rPr lang="zh-CN" altLang="en-US" sz="2000" dirty="0"/>
              <a:t>：</a:t>
            </a:r>
            <a:r>
              <a:rPr lang="en-US" altLang="zh-CN" sz="2000" dirty="0"/>
              <a:t>&gt;300 </a:t>
            </a:r>
            <a:r>
              <a:rPr lang="zh-CN" altLang="en-US" sz="2000" dirty="0"/>
              <a:t>亿 </a:t>
            </a:r>
            <a:r>
              <a:rPr lang="en-US" altLang="zh-CN" sz="2000" dirty="0"/>
              <a:t>kWh </a:t>
            </a:r>
          </a:p>
        </p:txBody>
      </p:sp>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6332" y="3636205"/>
            <a:ext cx="3995649"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8" name="对象 7"/>
          <p:cNvGraphicFramePr>
            <a:graphicFrameLocks noChangeAspect="1"/>
          </p:cNvGraphicFramePr>
          <p:nvPr/>
        </p:nvGraphicFramePr>
        <p:xfrm>
          <a:off x="622719" y="4017205"/>
          <a:ext cx="1398494" cy="914400"/>
        </p:xfrm>
        <a:graphic>
          <a:graphicData uri="http://schemas.openxmlformats.org/presentationml/2006/ole">
            <mc:AlternateContent xmlns:mc="http://schemas.openxmlformats.org/markup-compatibility/2006">
              <mc:Choice xmlns:v="urn:schemas-microsoft-com:vml" Requires="v">
                <p:oleObj name="Equation" r:id="rId4" imgW="660240" imgH="431640" progId="Equation.DSMT4">
                  <p:embed/>
                </p:oleObj>
              </mc:Choice>
              <mc:Fallback>
                <p:oleObj name="Equation" r:id="rId4" imgW="660240" imgH="431640" progId="Equation.DSMT4">
                  <p:embed/>
                  <p:pic>
                    <p:nvPicPr>
                      <p:cNvPr id="0" name=""/>
                      <p:cNvPicPr/>
                      <p:nvPr/>
                    </p:nvPicPr>
                    <p:blipFill>
                      <a:blip r:embed="rId5"/>
                      <a:stretch>
                        <a:fillRect/>
                      </a:stretch>
                    </p:blipFill>
                    <p:spPr>
                      <a:xfrm>
                        <a:off x="622719" y="4017205"/>
                        <a:ext cx="1398494" cy="914400"/>
                      </a:xfrm>
                      <a:prstGeom prst="rect">
                        <a:avLst/>
                      </a:prstGeom>
                    </p:spPr>
                  </p:pic>
                </p:oleObj>
              </mc:Fallback>
            </mc:AlternateContent>
          </a:graphicData>
        </a:graphic>
      </p:graphicFrame>
      <p:sp>
        <p:nvSpPr>
          <p:cNvPr id="10" name="矩形 9"/>
          <p:cNvSpPr/>
          <p:nvPr/>
        </p:nvSpPr>
        <p:spPr>
          <a:xfrm>
            <a:off x="154921" y="4931605"/>
            <a:ext cx="4826654" cy="1077218"/>
          </a:xfrm>
          <a:prstGeom prst="rect">
            <a:avLst/>
          </a:prstGeom>
        </p:spPr>
        <p:txBody>
          <a:bodyPr wrap="square">
            <a:spAutoFit/>
          </a:bodyPr>
          <a:lstStyle/>
          <a:p>
            <a:r>
              <a:rPr lang="en-US" altLang="zh-CN" sz="1600" b="1" dirty="0">
                <a:solidFill>
                  <a:srgbClr val="FF0000"/>
                </a:solidFill>
              </a:rPr>
              <a:t>30</a:t>
            </a:r>
            <a:r>
              <a:rPr lang="zh-CN" altLang="en-US" sz="1600" b="1" dirty="0">
                <a:solidFill>
                  <a:srgbClr val="FF0000"/>
                </a:solidFill>
              </a:rPr>
              <a:t> </a:t>
            </a:r>
            <a:r>
              <a:rPr lang="en-US" altLang="zh-CN" sz="1600" b="1" baseline="30000" dirty="0" err="1">
                <a:solidFill>
                  <a:srgbClr val="FF0000"/>
                </a:solidFill>
              </a:rPr>
              <a:t>o</a:t>
            </a:r>
            <a:r>
              <a:rPr lang="en-US" altLang="zh-CN" sz="1600" b="1" dirty="0" err="1">
                <a:solidFill>
                  <a:srgbClr val="FF0000"/>
                </a:solidFill>
              </a:rPr>
              <a:t>C</a:t>
            </a:r>
            <a:r>
              <a:rPr lang="zh-CN" altLang="en-US" sz="1600" b="1" dirty="0">
                <a:solidFill>
                  <a:srgbClr val="FF0000"/>
                </a:solidFill>
              </a:rPr>
              <a:t> </a:t>
            </a:r>
            <a:r>
              <a:rPr lang="en-US" altLang="zh-CN" sz="1600" b="1" dirty="0">
                <a:solidFill>
                  <a:srgbClr val="FF0000"/>
                </a:solidFill>
              </a:rPr>
              <a:t>waste water</a:t>
            </a:r>
            <a:r>
              <a:rPr lang="zh-CN" altLang="en-US" sz="1600" b="1" dirty="0">
                <a:solidFill>
                  <a:srgbClr val="FF0000"/>
                </a:solidFill>
              </a:rPr>
              <a:t>，</a:t>
            </a:r>
            <a:r>
              <a:rPr lang="en-US" altLang="zh-CN" sz="1600" b="1" dirty="0" err="1">
                <a:solidFill>
                  <a:srgbClr val="FF0000"/>
                </a:solidFill>
              </a:rPr>
              <a:t>Exergy</a:t>
            </a:r>
            <a:r>
              <a:rPr lang="zh-CN" altLang="en-US" sz="1600" b="1" dirty="0">
                <a:solidFill>
                  <a:srgbClr val="FF0000"/>
                </a:solidFill>
              </a:rPr>
              <a:t>：</a:t>
            </a:r>
            <a:r>
              <a:rPr lang="en-US" altLang="zh-CN" sz="1600" b="1" dirty="0">
                <a:solidFill>
                  <a:srgbClr val="FF0000"/>
                </a:solidFill>
              </a:rPr>
              <a:t>0.9 billion </a:t>
            </a:r>
            <a:r>
              <a:rPr lang="en-US" altLang="zh-CN" sz="1600" dirty="0">
                <a:solidFill>
                  <a:srgbClr val="FF0000"/>
                </a:solidFill>
              </a:rPr>
              <a:t>kWh</a:t>
            </a:r>
          </a:p>
          <a:p>
            <a:r>
              <a:rPr lang="en-US" altLang="zh-CN" sz="1600" b="1" dirty="0">
                <a:solidFill>
                  <a:srgbClr val="FF0000"/>
                </a:solidFill>
              </a:rPr>
              <a:t>40 </a:t>
            </a:r>
            <a:r>
              <a:rPr lang="en-US" altLang="zh-CN" sz="1600" b="1" baseline="30000" dirty="0" err="1">
                <a:solidFill>
                  <a:srgbClr val="FF0000"/>
                </a:solidFill>
              </a:rPr>
              <a:t>o</a:t>
            </a:r>
            <a:r>
              <a:rPr lang="en-US" altLang="zh-CN" sz="1600" b="1" dirty="0" err="1">
                <a:solidFill>
                  <a:srgbClr val="FF0000"/>
                </a:solidFill>
              </a:rPr>
              <a:t>C</a:t>
            </a:r>
            <a:r>
              <a:rPr lang="zh-CN" altLang="en-US" sz="1600" b="1" dirty="0">
                <a:solidFill>
                  <a:srgbClr val="FF0000"/>
                </a:solidFill>
              </a:rPr>
              <a:t> </a:t>
            </a:r>
            <a:r>
              <a:rPr lang="en-US" altLang="zh-CN" sz="1600" b="1" dirty="0">
                <a:solidFill>
                  <a:srgbClr val="FF0000"/>
                </a:solidFill>
              </a:rPr>
              <a:t>waste water</a:t>
            </a:r>
            <a:r>
              <a:rPr lang="zh-CN" altLang="en-US" sz="1600" b="1" dirty="0">
                <a:solidFill>
                  <a:srgbClr val="FF0000"/>
                </a:solidFill>
              </a:rPr>
              <a:t>，</a:t>
            </a:r>
            <a:r>
              <a:rPr lang="en-US" altLang="zh-CN" sz="1600" b="1" dirty="0" err="1">
                <a:solidFill>
                  <a:srgbClr val="FF0000"/>
                </a:solidFill>
              </a:rPr>
              <a:t>Exergy</a:t>
            </a:r>
            <a:r>
              <a:rPr lang="en-US" altLang="zh-CN" sz="1600" b="1" dirty="0">
                <a:solidFill>
                  <a:srgbClr val="FF0000"/>
                </a:solidFill>
              </a:rPr>
              <a:t> </a:t>
            </a:r>
            <a:r>
              <a:rPr lang="zh-CN" altLang="en-US" sz="1600" b="1" dirty="0">
                <a:solidFill>
                  <a:srgbClr val="FF0000"/>
                </a:solidFill>
              </a:rPr>
              <a:t>： </a:t>
            </a:r>
            <a:r>
              <a:rPr lang="en-US" altLang="zh-CN" sz="1600" b="1" dirty="0">
                <a:solidFill>
                  <a:srgbClr val="FF0000"/>
                </a:solidFill>
              </a:rPr>
              <a:t>1.9 billion </a:t>
            </a:r>
            <a:r>
              <a:rPr lang="en-US" altLang="zh-CN" sz="1600" dirty="0">
                <a:solidFill>
                  <a:srgbClr val="FF0000"/>
                </a:solidFill>
              </a:rPr>
              <a:t>kWh</a:t>
            </a:r>
          </a:p>
          <a:p>
            <a:r>
              <a:rPr lang="en-US" altLang="zh-CN" sz="1600" b="1" dirty="0">
                <a:solidFill>
                  <a:srgbClr val="FF0000"/>
                </a:solidFill>
              </a:rPr>
              <a:t>50</a:t>
            </a:r>
            <a:r>
              <a:rPr lang="en-US" altLang="zh-CN" sz="1600" b="1" baseline="30000" dirty="0">
                <a:solidFill>
                  <a:srgbClr val="FF0000"/>
                </a:solidFill>
              </a:rPr>
              <a:t> </a:t>
            </a:r>
            <a:r>
              <a:rPr lang="en-US" altLang="zh-CN" sz="1600" b="1" baseline="30000" dirty="0" err="1">
                <a:solidFill>
                  <a:srgbClr val="FF0000"/>
                </a:solidFill>
              </a:rPr>
              <a:t>o</a:t>
            </a:r>
            <a:r>
              <a:rPr lang="en-US" altLang="zh-CN" sz="1600" b="1" dirty="0" err="1">
                <a:solidFill>
                  <a:srgbClr val="FF0000"/>
                </a:solidFill>
              </a:rPr>
              <a:t>C</a:t>
            </a:r>
            <a:r>
              <a:rPr lang="zh-CN" altLang="en-US" sz="1600" b="1" dirty="0">
                <a:solidFill>
                  <a:srgbClr val="FF0000"/>
                </a:solidFill>
              </a:rPr>
              <a:t> </a:t>
            </a:r>
            <a:r>
              <a:rPr lang="en-US" altLang="zh-CN" sz="1600" b="1" dirty="0">
                <a:solidFill>
                  <a:srgbClr val="FF0000"/>
                </a:solidFill>
              </a:rPr>
              <a:t>waste water</a:t>
            </a:r>
            <a:r>
              <a:rPr lang="zh-CN" altLang="en-US" sz="1600" b="1" dirty="0">
                <a:solidFill>
                  <a:srgbClr val="FF0000"/>
                </a:solidFill>
              </a:rPr>
              <a:t>，</a:t>
            </a:r>
            <a:r>
              <a:rPr lang="en-US" altLang="zh-CN" sz="1600" b="1" dirty="0" err="1">
                <a:solidFill>
                  <a:srgbClr val="FF0000"/>
                </a:solidFill>
              </a:rPr>
              <a:t>Exergy</a:t>
            </a:r>
            <a:r>
              <a:rPr lang="en-US" altLang="zh-CN" sz="1600" b="1" dirty="0">
                <a:solidFill>
                  <a:srgbClr val="FF0000"/>
                </a:solidFill>
              </a:rPr>
              <a:t> </a:t>
            </a:r>
            <a:r>
              <a:rPr lang="zh-CN" altLang="en-US" sz="1600" b="1" dirty="0">
                <a:solidFill>
                  <a:srgbClr val="FF0000"/>
                </a:solidFill>
              </a:rPr>
              <a:t>： </a:t>
            </a:r>
            <a:r>
              <a:rPr lang="en-US" altLang="zh-CN" sz="1600" b="1" dirty="0">
                <a:solidFill>
                  <a:srgbClr val="FF0000"/>
                </a:solidFill>
              </a:rPr>
              <a:t>2.7 billion </a:t>
            </a:r>
            <a:r>
              <a:rPr lang="en-US" altLang="zh-CN" sz="1600" dirty="0">
                <a:solidFill>
                  <a:srgbClr val="FF0000"/>
                </a:solidFill>
              </a:rPr>
              <a:t>kWh</a:t>
            </a:r>
          </a:p>
          <a:p>
            <a:r>
              <a:rPr lang="en-US" altLang="zh-CN" sz="1600" b="1" dirty="0">
                <a:solidFill>
                  <a:srgbClr val="FF0000"/>
                </a:solidFill>
              </a:rPr>
              <a:t>…</a:t>
            </a:r>
            <a:endParaRPr lang="zh-CN" altLang="en-US" sz="1600" b="1" dirty="0">
              <a:solidFill>
                <a:srgbClr val="FF0000"/>
              </a:solidFill>
            </a:endParaRPr>
          </a:p>
        </p:txBody>
      </p:sp>
      <p:sp>
        <p:nvSpPr>
          <p:cNvPr id="16" name="矩形 15"/>
          <p:cNvSpPr/>
          <p:nvPr/>
        </p:nvSpPr>
        <p:spPr>
          <a:xfrm>
            <a:off x="919695" y="2120"/>
            <a:ext cx="2203039" cy="584775"/>
          </a:xfrm>
          <a:prstGeom prst="rect">
            <a:avLst/>
          </a:prstGeom>
        </p:spPr>
        <p:txBody>
          <a:bodyPr wrap="none">
            <a:spAutoFit/>
          </a:bodyPr>
          <a:lstStyle/>
          <a:p>
            <a:r>
              <a:rPr lang="en-US" altLang="zh-CN" sz="3200" dirty="0">
                <a:solidFill>
                  <a:srgbClr val="FF0000"/>
                </a:solidFill>
                <a:sym typeface="Symbol"/>
              </a:rPr>
              <a:t>Waste Heat </a:t>
            </a:r>
            <a:endParaRPr lang="zh-CN" altLang="en-US" sz="3200" dirty="0">
              <a:solidFill>
                <a:srgbClr val="FF0000"/>
              </a:solidFill>
            </a:endParaRPr>
          </a:p>
        </p:txBody>
      </p:sp>
      <p:sp>
        <p:nvSpPr>
          <p:cNvPr id="2" name="TextBox 1"/>
          <p:cNvSpPr txBox="1"/>
          <p:nvPr/>
        </p:nvSpPr>
        <p:spPr>
          <a:xfrm>
            <a:off x="429806" y="3416300"/>
            <a:ext cx="1963038" cy="369332"/>
          </a:xfrm>
          <a:prstGeom prst="rect">
            <a:avLst/>
          </a:prstGeom>
          <a:noFill/>
        </p:spPr>
        <p:txBody>
          <a:bodyPr wrap="none" rtlCol="0">
            <a:spAutoFit/>
          </a:bodyPr>
          <a:lstStyle/>
          <a:p>
            <a:r>
              <a:rPr lang="en-US" altLang="zh-CN" dirty="0"/>
              <a:t>Carnot efficiency </a:t>
            </a:r>
            <a:endParaRPr lang="zh-CN" altLang="en-US" dirty="0"/>
          </a:p>
        </p:txBody>
      </p:sp>
    </p:spTree>
    <p:extLst>
      <p:ext uri="{BB962C8B-B14F-4D97-AF65-F5344CB8AC3E}">
        <p14:creationId xmlns:p14="http://schemas.microsoft.com/office/powerpoint/2010/main" val="19612341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156550" y="7937"/>
            <a:ext cx="7324760" cy="63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2nd-Law Efficiency </a:t>
            </a:r>
            <a:r>
              <a:rPr lang="en-US" b="1" dirty="0">
                <a:solidFill>
                  <a:srgbClr val="FF0000"/>
                </a:solidFill>
                <a:effectLst>
                  <a:outerShdw blurRad="38100" dist="38100" dir="2700000" algn="tl">
                    <a:srgbClr val="000000">
                      <a:alpha val="43137"/>
                    </a:srgbClr>
                  </a:outerShdw>
                </a:effectLst>
                <a:latin typeface="Arial" charset="0"/>
                <a:cs typeface="Arial" charset="0"/>
                <a:sym typeface="Symbol"/>
              </a:rPr>
              <a:t></a:t>
            </a:r>
            <a:r>
              <a:rPr lang="en-US" b="1" baseline="-25000" dirty="0">
                <a:solidFill>
                  <a:srgbClr val="FF0000"/>
                </a:solidFill>
                <a:effectLst>
                  <a:outerShdw blurRad="38100" dist="38100" dir="2700000" algn="tl">
                    <a:srgbClr val="000000">
                      <a:alpha val="43137"/>
                    </a:srgbClr>
                  </a:outerShdw>
                </a:effectLst>
                <a:latin typeface="Arial" charset="0"/>
                <a:cs typeface="Arial" charset="0"/>
                <a:sym typeface="Symbol"/>
              </a:rPr>
              <a:t>II</a:t>
            </a:r>
            <a:endParaRPr lang="en-US" dirty="0">
              <a:solidFill>
                <a:srgbClr val="FF0000"/>
              </a:solidFill>
            </a:endParaRPr>
          </a:p>
        </p:txBody>
      </p:sp>
      <p:pic>
        <p:nvPicPr>
          <p:cNvPr id="972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413" y="1795463"/>
            <a:ext cx="2841014" cy="3357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728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1012" y="1795463"/>
            <a:ext cx="3750469" cy="1000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728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27958" y="3057524"/>
            <a:ext cx="3076575" cy="542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728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7620" y="3852863"/>
            <a:ext cx="4523690" cy="519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7287"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62462" y="4833936"/>
            <a:ext cx="3829050" cy="638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398774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970065" y="160338"/>
            <a:ext cx="5230239" cy="473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b="1" dirty="0">
                <a:solidFill>
                  <a:srgbClr val="FF0000"/>
                </a:solidFill>
                <a:effectLst>
                  <a:outerShdw blurRad="38100" dist="38100" dir="2700000" algn="tl">
                    <a:srgbClr val="000000">
                      <a:alpha val="43137"/>
                    </a:srgbClr>
                  </a:outerShdw>
                </a:effectLst>
                <a:latin typeface="Arial" charset="0"/>
                <a:cs typeface="Arial" charset="0"/>
              </a:rPr>
              <a:t>2nd-Law Efficiency </a:t>
            </a:r>
            <a:r>
              <a:rPr lang="en-US" altLang="zh-CN" b="1" dirty="0">
                <a:solidFill>
                  <a:srgbClr val="FF0000"/>
                </a:solidFill>
                <a:effectLst>
                  <a:outerShdw blurRad="38100" dist="38100" dir="2700000" algn="tl">
                    <a:srgbClr val="000000">
                      <a:alpha val="43137"/>
                    </a:srgbClr>
                  </a:outerShdw>
                </a:effectLst>
                <a:latin typeface="Arial" charset="0"/>
                <a:cs typeface="Arial" charset="0"/>
                <a:sym typeface="Symbol"/>
              </a:rPr>
              <a:t></a:t>
            </a:r>
            <a:r>
              <a:rPr lang="en-US" altLang="zh-CN" b="1" baseline="-25000" dirty="0">
                <a:solidFill>
                  <a:srgbClr val="FF0000"/>
                </a:solidFill>
                <a:effectLst>
                  <a:outerShdw blurRad="38100" dist="38100" dir="2700000" algn="tl">
                    <a:srgbClr val="000000">
                      <a:alpha val="43137"/>
                    </a:srgbClr>
                  </a:outerShdw>
                </a:effectLst>
                <a:latin typeface="Arial" charset="0"/>
                <a:cs typeface="Arial" charset="0"/>
                <a:sym typeface="Symbol"/>
              </a:rPr>
              <a:t>II</a:t>
            </a:r>
            <a:endParaRPr lang="en-US" altLang="zh-CN" dirty="0">
              <a:solidFill>
                <a:srgbClr val="FF0000"/>
              </a:solidFill>
            </a:endParaRPr>
          </a:p>
        </p:txBody>
      </p:sp>
      <p:pic>
        <p:nvPicPr>
          <p:cNvPr id="1034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612" y="1524000"/>
            <a:ext cx="2779210" cy="40546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 name="对象 1"/>
          <p:cNvGraphicFramePr>
            <a:graphicFrameLocks noChangeAspect="1"/>
          </p:cNvGraphicFramePr>
          <p:nvPr/>
        </p:nvGraphicFramePr>
        <p:xfrm>
          <a:off x="4309156" y="1779358"/>
          <a:ext cx="2287587" cy="662311"/>
        </p:xfrm>
        <a:graphic>
          <a:graphicData uri="http://schemas.openxmlformats.org/presentationml/2006/ole">
            <mc:AlternateContent xmlns:mc="http://schemas.openxmlformats.org/markup-compatibility/2006">
              <mc:Choice xmlns:v="urn:schemas-microsoft-com:vml" Requires="v">
                <p:oleObj name="Equation" r:id="rId3" imgW="1447560" imgH="419040" progId="Equation.DSMT4">
                  <p:embed/>
                </p:oleObj>
              </mc:Choice>
              <mc:Fallback>
                <p:oleObj name="Equation" r:id="rId3" imgW="1447560" imgH="419040" progId="Equation.DSMT4">
                  <p:embed/>
                  <p:pic>
                    <p:nvPicPr>
                      <p:cNvPr id="0" name=""/>
                      <p:cNvPicPr/>
                      <p:nvPr/>
                    </p:nvPicPr>
                    <p:blipFill>
                      <a:blip r:embed="rId4"/>
                      <a:stretch>
                        <a:fillRect/>
                      </a:stretch>
                    </p:blipFill>
                    <p:spPr>
                      <a:xfrm>
                        <a:off x="4309156" y="1779358"/>
                        <a:ext cx="2287587" cy="662311"/>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4297087" y="2831804"/>
          <a:ext cx="3484611" cy="631825"/>
        </p:xfrm>
        <a:graphic>
          <a:graphicData uri="http://schemas.openxmlformats.org/presentationml/2006/ole">
            <mc:AlternateContent xmlns:mc="http://schemas.openxmlformats.org/markup-compatibility/2006">
              <mc:Choice xmlns:v="urn:schemas-microsoft-com:vml" Requires="v">
                <p:oleObj name="Equation" r:id="rId5" imgW="2311200" imgH="419040" progId="Equation.DSMT4">
                  <p:embed/>
                </p:oleObj>
              </mc:Choice>
              <mc:Fallback>
                <p:oleObj name="Equation" r:id="rId5" imgW="2311200" imgH="419040" progId="Equation.DSMT4">
                  <p:embed/>
                  <p:pic>
                    <p:nvPicPr>
                      <p:cNvPr id="0" name=""/>
                      <p:cNvPicPr/>
                      <p:nvPr/>
                    </p:nvPicPr>
                    <p:blipFill>
                      <a:blip r:embed="rId6"/>
                      <a:stretch>
                        <a:fillRect/>
                      </a:stretch>
                    </p:blipFill>
                    <p:spPr>
                      <a:xfrm>
                        <a:off x="4297087" y="2831804"/>
                        <a:ext cx="3484611" cy="631825"/>
                      </a:xfrm>
                      <a:prstGeom prst="rect">
                        <a:avLst/>
                      </a:prstGeom>
                    </p:spPr>
                  </p:pic>
                </p:oleObj>
              </mc:Fallback>
            </mc:AlternateContent>
          </a:graphicData>
        </a:graphic>
      </p:graphicFrame>
      <p:sp>
        <p:nvSpPr>
          <p:cNvPr id="7" name="TextBox 6"/>
          <p:cNvSpPr txBox="1"/>
          <p:nvPr/>
        </p:nvSpPr>
        <p:spPr>
          <a:xfrm>
            <a:off x="3814745" y="3810000"/>
            <a:ext cx="4700605" cy="646331"/>
          </a:xfrm>
          <a:prstGeom prst="rect">
            <a:avLst/>
          </a:prstGeom>
          <a:noFill/>
        </p:spPr>
        <p:txBody>
          <a:bodyPr wrap="square" rtlCol="0">
            <a:spAutoFit/>
          </a:bodyPr>
          <a:lstStyle/>
          <a:p>
            <a:r>
              <a:rPr lang="en-US" altLang="zh-CN" sz="1800" dirty="0">
                <a:latin typeface="+mn-lt"/>
              </a:rPr>
              <a:t>Schooling and training increase </a:t>
            </a:r>
            <a:r>
              <a:rPr lang="en-US" altLang="zh-CN" sz="1800" dirty="0" err="1">
                <a:latin typeface="+mn-lt"/>
              </a:rPr>
              <a:t>exergy</a:t>
            </a:r>
            <a:r>
              <a:rPr lang="en-US" altLang="zh-CN" sz="1800" dirty="0">
                <a:latin typeface="+mn-lt"/>
              </a:rPr>
              <a:t>,</a:t>
            </a:r>
            <a:r>
              <a:rPr lang="zh-CN" altLang="en-US" sz="1800" dirty="0">
                <a:latin typeface="+mn-lt"/>
              </a:rPr>
              <a:t> </a:t>
            </a:r>
            <a:r>
              <a:rPr lang="en-US" altLang="zh-CN" sz="1800" dirty="0">
                <a:latin typeface="+mn-lt"/>
              </a:rPr>
              <a:t>but aging decreases physical </a:t>
            </a:r>
            <a:r>
              <a:rPr lang="en-US" altLang="zh-CN" sz="1800" dirty="0" err="1">
                <a:latin typeface="+mn-lt"/>
              </a:rPr>
              <a:t>exergy</a:t>
            </a:r>
            <a:r>
              <a:rPr lang="en-US" altLang="zh-CN" sz="1800" dirty="0">
                <a:latin typeface="+mn-lt"/>
              </a:rPr>
              <a:t>.</a:t>
            </a:r>
          </a:p>
        </p:txBody>
      </p:sp>
      <p:sp>
        <p:nvSpPr>
          <p:cNvPr id="11" name="TextBox 10"/>
          <p:cNvSpPr txBox="1"/>
          <p:nvPr/>
        </p:nvSpPr>
        <p:spPr>
          <a:xfrm>
            <a:off x="3850002" y="4733728"/>
            <a:ext cx="4700605" cy="369332"/>
          </a:xfrm>
          <a:prstGeom prst="rect">
            <a:avLst/>
          </a:prstGeom>
          <a:noFill/>
        </p:spPr>
        <p:txBody>
          <a:bodyPr wrap="square" rtlCol="0">
            <a:spAutoFit/>
          </a:bodyPr>
          <a:lstStyle/>
          <a:p>
            <a:r>
              <a:rPr lang="en-US" altLang="zh-CN" sz="1800" dirty="0">
                <a:latin typeface="+mn-lt"/>
              </a:rPr>
              <a:t>Physical </a:t>
            </a:r>
            <a:r>
              <a:rPr lang="en-US" altLang="zh-CN" sz="1800" dirty="0" err="1">
                <a:latin typeface="+mn-lt"/>
              </a:rPr>
              <a:t>exergy</a:t>
            </a:r>
            <a:r>
              <a:rPr lang="en-US" altLang="zh-CN" sz="1800" dirty="0">
                <a:latin typeface="+mn-lt"/>
              </a:rPr>
              <a:t> and intellectual </a:t>
            </a:r>
            <a:r>
              <a:rPr lang="en-US" altLang="zh-CN" sz="1800" dirty="0" err="1">
                <a:latin typeface="+mn-lt"/>
              </a:rPr>
              <a:t>exergy</a:t>
            </a:r>
            <a:r>
              <a:rPr lang="en-US" altLang="zh-CN" sz="1800" dirty="0">
                <a:latin typeface="+mn-lt"/>
              </a:rPr>
              <a:t>.</a:t>
            </a:r>
          </a:p>
        </p:txBody>
      </p:sp>
    </p:spTree>
    <p:extLst>
      <p:ext uri="{BB962C8B-B14F-4D97-AF65-F5344CB8AC3E}">
        <p14:creationId xmlns:p14="http://schemas.microsoft.com/office/powerpoint/2010/main" val="27994791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894546" y="7937"/>
            <a:ext cx="7162835" cy="656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altLang="zh-CN" sz="3200" b="1" i="1" dirty="0">
                <a:solidFill>
                  <a:srgbClr val="FF0000"/>
                </a:solidFill>
                <a:sym typeface="Symbol"/>
              </a:rPr>
              <a:t>Quality</a:t>
            </a:r>
            <a:r>
              <a:rPr lang="en-US" altLang="zh-CN" sz="3200" i="1" dirty="0">
                <a:sym typeface="Symbol"/>
              </a:rPr>
              <a:t> </a:t>
            </a:r>
            <a:r>
              <a:rPr lang="en-US" altLang="zh-CN" sz="3200" i="1" dirty="0">
                <a:solidFill>
                  <a:schemeClr val="tx1"/>
                </a:solidFill>
                <a:sym typeface="Symbol"/>
              </a:rPr>
              <a:t>of energy is not conserved.</a:t>
            </a:r>
          </a:p>
        </p:txBody>
      </p:sp>
      <p:sp>
        <p:nvSpPr>
          <p:cNvPr id="9" name="TextBox 8"/>
          <p:cNvSpPr txBox="1"/>
          <p:nvPr/>
        </p:nvSpPr>
        <p:spPr>
          <a:xfrm>
            <a:off x="593725" y="1865383"/>
            <a:ext cx="8117207" cy="1477328"/>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800" i="1" dirty="0">
                <a:sym typeface="Symbol"/>
              </a:rPr>
              <a:t>Energy is conserved. It cannot be destroyed or created.</a:t>
            </a:r>
          </a:p>
          <a:p>
            <a:r>
              <a:rPr lang="en-US" altLang="zh-CN" sz="1800" i="1" dirty="0">
                <a:sym typeface="Symbol"/>
              </a:rPr>
              <a:t>     There should be NO energy crisis.</a:t>
            </a:r>
          </a:p>
          <a:p>
            <a:endParaRPr lang="en-US" altLang="zh-CN" sz="1800" i="1" dirty="0">
              <a:sym typeface="Symbol"/>
            </a:endParaRPr>
          </a:p>
          <a:p>
            <a:pPr marL="285750" indent="-285750">
              <a:buFont typeface="Wingdings" panose="05000000000000000000" pitchFamily="2" charset="2"/>
              <a:buChar char="Ø"/>
            </a:pPr>
            <a:r>
              <a:rPr lang="en-US" altLang="zh-CN" sz="1800" b="1" i="1" dirty="0">
                <a:solidFill>
                  <a:srgbClr val="FF0000"/>
                </a:solidFill>
                <a:sym typeface="Symbol"/>
              </a:rPr>
              <a:t>Quantity</a:t>
            </a:r>
            <a:r>
              <a:rPr lang="en-US" altLang="zh-CN" sz="1800" i="1" dirty="0">
                <a:sym typeface="Symbol"/>
              </a:rPr>
              <a:t> of energy is conserved.</a:t>
            </a:r>
          </a:p>
          <a:p>
            <a:r>
              <a:rPr lang="en-US" altLang="zh-CN" sz="1800" i="1" dirty="0">
                <a:sym typeface="Symbol"/>
              </a:rPr>
              <a:t>     </a:t>
            </a:r>
            <a:r>
              <a:rPr lang="en-US" altLang="zh-CN" sz="1800" b="1" i="1" dirty="0">
                <a:solidFill>
                  <a:srgbClr val="FF0000"/>
                </a:solidFill>
                <a:sym typeface="Symbol"/>
              </a:rPr>
              <a:t>Quality</a:t>
            </a:r>
            <a:r>
              <a:rPr lang="en-US" altLang="zh-CN" sz="1800" i="1" dirty="0">
                <a:sym typeface="Symbol"/>
              </a:rPr>
              <a:t> of energy is not conserved.</a:t>
            </a:r>
          </a:p>
        </p:txBody>
      </p:sp>
      <p:sp>
        <p:nvSpPr>
          <p:cNvPr id="2" name="矩形 1"/>
          <p:cNvSpPr/>
          <p:nvPr/>
        </p:nvSpPr>
        <p:spPr>
          <a:xfrm>
            <a:off x="797442" y="3784639"/>
            <a:ext cx="7166344" cy="646331"/>
          </a:xfrm>
          <a:prstGeom prst="rect">
            <a:avLst/>
          </a:prstGeom>
        </p:spPr>
        <p:txBody>
          <a:bodyPr wrap="square">
            <a:spAutoFit/>
          </a:bodyPr>
          <a:lstStyle/>
          <a:p>
            <a:r>
              <a:rPr lang="en-US" altLang="zh-CN" i="1" dirty="0">
                <a:sym typeface="Symbol"/>
              </a:rPr>
              <a:t> Wasting energy is synonymous to converting it to a less useful form/lower quality.  </a:t>
            </a:r>
            <a:endParaRPr lang="zh-CN" altLang="en-US" dirty="0"/>
          </a:p>
        </p:txBody>
      </p:sp>
    </p:spTree>
    <p:extLst>
      <p:ext uri="{BB962C8B-B14F-4D97-AF65-F5344CB8AC3E}">
        <p14:creationId xmlns:p14="http://schemas.microsoft.com/office/powerpoint/2010/main" val="3518964787"/>
      </p:ext>
    </p:extLst>
  </p:cSld>
  <p:clrMapOvr>
    <a:masterClrMapping/>
  </p:clrMapOvr>
</p:sld>
</file>

<file path=ppt/theme/theme1.xml><?xml version="1.0" encoding="utf-8"?>
<a:theme xmlns:a="http://schemas.openxmlformats.org/drawingml/2006/main" name="Master Boar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Master Board</Template>
  <TotalTime>4980</TotalTime>
  <Words>2114</Words>
  <Application>Microsoft Office PowerPoint</Application>
  <PresentationFormat>全屏显示(4:3)</PresentationFormat>
  <Paragraphs>314</Paragraphs>
  <Slides>39</Slides>
  <Notes>2</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39</vt:i4>
      </vt:variant>
    </vt:vector>
  </HeadingPairs>
  <TitlesOfParts>
    <vt:vector size="52" baseType="lpstr">
      <vt:lpstr>Arial Unicode MS</vt:lpstr>
      <vt:lpstr>等线</vt:lpstr>
      <vt:lpstr>等线 Light</vt:lpstr>
      <vt:lpstr>黑体</vt:lpstr>
      <vt:lpstr>Arial</vt:lpstr>
      <vt:lpstr>Arial</vt:lpstr>
      <vt:lpstr>Calibri</vt:lpstr>
      <vt:lpstr>Cambria Math</vt:lpstr>
      <vt:lpstr>Times New Roman</vt:lpstr>
      <vt:lpstr>Wingdings</vt:lpstr>
      <vt:lpstr>Master Board</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 Entropy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6. Quality of Energy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 weishu</dc:creator>
  <cp:lastModifiedBy>Liu WS</cp:lastModifiedBy>
  <cp:revision>169</cp:revision>
  <cp:lastPrinted>2020-09-17T12:56:40Z</cp:lastPrinted>
  <dcterms:created xsi:type="dcterms:W3CDTF">2019-02-07T07:31:12Z</dcterms:created>
  <dcterms:modified xsi:type="dcterms:W3CDTF">2022-09-04T08:42:09Z</dcterms:modified>
</cp:coreProperties>
</file>