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49"/>
  </p:notesMasterIdLst>
  <p:handoutMasterIdLst>
    <p:handoutMasterId r:id="rId50"/>
  </p:handoutMasterIdLst>
  <p:sldIdLst>
    <p:sldId id="256" r:id="rId2"/>
    <p:sldId id="338" r:id="rId3"/>
    <p:sldId id="334" r:id="rId4"/>
    <p:sldId id="327" r:id="rId5"/>
    <p:sldId id="328" r:id="rId6"/>
    <p:sldId id="329" r:id="rId7"/>
    <p:sldId id="330" r:id="rId8"/>
    <p:sldId id="336" r:id="rId9"/>
    <p:sldId id="356" r:id="rId10"/>
    <p:sldId id="365" r:id="rId11"/>
    <p:sldId id="371" r:id="rId12"/>
    <p:sldId id="372" r:id="rId13"/>
    <p:sldId id="364" r:id="rId14"/>
    <p:sldId id="370" r:id="rId15"/>
    <p:sldId id="366" r:id="rId16"/>
    <p:sldId id="368" r:id="rId17"/>
    <p:sldId id="360" r:id="rId18"/>
    <p:sldId id="362" r:id="rId19"/>
    <p:sldId id="361" r:id="rId20"/>
    <p:sldId id="367" r:id="rId21"/>
    <p:sldId id="345" r:id="rId22"/>
    <p:sldId id="346" r:id="rId23"/>
    <p:sldId id="347" r:id="rId24"/>
    <p:sldId id="348" r:id="rId25"/>
    <p:sldId id="422" r:id="rId26"/>
    <p:sldId id="423" r:id="rId27"/>
    <p:sldId id="424" r:id="rId28"/>
    <p:sldId id="425" r:id="rId29"/>
    <p:sldId id="426" r:id="rId30"/>
    <p:sldId id="427" r:id="rId31"/>
    <p:sldId id="428" r:id="rId32"/>
    <p:sldId id="429" r:id="rId33"/>
    <p:sldId id="430" r:id="rId34"/>
    <p:sldId id="445" r:id="rId35"/>
    <p:sldId id="431" r:id="rId36"/>
    <p:sldId id="432" r:id="rId37"/>
    <p:sldId id="433" r:id="rId38"/>
    <p:sldId id="434" r:id="rId39"/>
    <p:sldId id="435" r:id="rId40"/>
    <p:sldId id="436" r:id="rId41"/>
    <p:sldId id="437" r:id="rId42"/>
    <p:sldId id="438" r:id="rId43"/>
    <p:sldId id="444" r:id="rId44"/>
    <p:sldId id="439" r:id="rId45"/>
    <p:sldId id="440" r:id="rId46"/>
    <p:sldId id="446" r:id="rId47"/>
    <p:sldId id="448" r:id="rId48"/>
  </p:sldIdLst>
  <p:sldSz cx="9144000" cy="6858000" type="screen4x3"/>
  <p:notesSz cx="6669088"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70AD47"/>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6534" autoAdjust="0"/>
  </p:normalViewPr>
  <p:slideViewPr>
    <p:cSldViewPr snapToGrid="0">
      <p:cViewPr varScale="1">
        <p:scale>
          <a:sx n="104" d="100"/>
          <a:sy n="104" d="100"/>
        </p:scale>
        <p:origin x="1746" y="114"/>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B496C3D4-F3F7-41E0-8BDE-8ACEB5368367}" type="datetimeFigureOut">
              <a:rPr lang="zh-CN" altLang="en-US" smtClean="0"/>
              <a:t>2022/9/30</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1919B71C-4DB5-4C7F-8171-93E790D3AC13}" type="slidenum">
              <a:rPr lang="zh-CN" altLang="en-US" smtClean="0"/>
              <a:t>‹#›</a:t>
            </a:fld>
            <a:endParaRPr lang="zh-CN" altLang="en-US"/>
          </a:p>
        </p:txBody>
      </p:sp>
    </p:spTree>
    <p:extLst>
      <p:ext uri="{BB962C8B-B14F-4D97-AF65-F5344CB8AC3E}">
        <p14:creationId xmlns:p14="http://schemas.microsoft.com/office/powerpoint/2010/main" val="2448888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473A478E-90E3-4BE0-BF7B-B1AD7461FEF4}" type="datetimeFigureOut">
              <a:rPr lang="zh-CN" altLang="en-US" smtClean="0"/>
              <a:t>2022/9/30</a:t>
            </a:fld>
            <a:endParaRPr lang="zh-CN" altLang="en-US"/>
          </a:p>
        </p:txBody>
      </p:sp>
      <p:sp>
        <p:nvSpPr>
          <p:cNvPr id="4" name="幻灯片图像占位符 3"/>
          <p:cNvSpPr>
            <a:spLocks noGrp="1" noRot="1" noChangeAspect="1"/>
          </p:cNvSpPr>
          <p:nvPr>
            <p:ph type="sldImg" idx="2"/>
          </p:nvPr>
        </p:nvSpPr>
        <p:spPr>
          <a:xfrm>
            <a:off x="1101725" y="1241425"/>
            <a:ext cx="4465638"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7F497359-BD37-41E1-AF95-71E7D52515AE}" type="slidenum">
              <a:rPr lang="zh-CN" altLang="en-US" smtClean="0"/>
              <a:t>‹#›</a:t>
            </a:fld>
            <a:endParaRPr lang="zh-CN" altLang="en-US"/>
          </a:p>
        </p:txBody>
      </p:sp>
    </p:spTree>
    <p:extLst>
      <p:ext uri="{BB962C8B-B14F-4D97-AF65-F5344CB8AC3E}">
        <p14:creationId xmlns:p14="http://schemas.microsoft.com/office/powerpoint/2010/main" val="281587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citech.people.com.cn/GB/53752/53785/index.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04F9A1B-206B-4EC9-922D-0A2E58AC59C4}" type="slidenum">
              <a:rPr lang="zh-CN" altLang="en-US" smtClean="0"/>
              <a:t>3</a:t>
            </a:fld>
            <a:endParaRPr lang="zh-CN" altLang="en-US"/>
          </a:p>
        </p:txBody>
      </p:sp>
    </p:spTree>
    <p:extLst>
      <p:ext uri="{BB962C8B-B14F-4D97-AF65-F5344CB8AC3E}">
        <p14:creationId xmlns:p14="http://schemas.microsoft.com/office/powerpoint/2010/main" val="1507768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2010</a:t>
            </a:r>
            <a:r>
              <a:rPr lang="zh-CN" altLang="en-US" sz="1200" b="0" i="0" kern="1200">
                <a:solidFill>
                  <a:schemeClr val="tx1"/>
                </a:solidFill>
                <a:effectLst/>
                <a:latin typeface="+mn-lt"/>
                <a:ea typeface="+mn-ea"/>
                <a:cs typeface="+mn-cs"/>
              </a:rPr>
              <a:t>年， 研究</a:t>
            </a:r>
            <a:r>
              <a:rPr lang="zh-CN" altLang="en-US" sz="1200" b="0" i="0" kern="1200" dirty="0">
                <a:solidFill>
                  <a:schemeClr val="tx1"/>
                </a:solidFill>
                <a:effectLst/>
                <a:latin typeface="+mn-lt"/>
                <a:ea typeface="+mn-ea"/>
                <a:cs typeface="+mn-cs"/>
              </a:rPr>
              <a:t>小组利用美国布鲁克海文国家实验室的</a:t>
            </a:r>
            <a:r>
              <a:rPr lang="en-US" altLang="zh-CN" sz="1200" b="0" i="0" kern="1200" dirty="0">
                <a:solidFill>
                  <a:schemeClr val="tx1"/>
                </a:solidFill>
                <a:effectLst/>
                <a:latin typeface="+mn-lt"/>
                <a:ea typeface="+mn-ea"/>
                <a:cs typeface="+mn-cs"/>
              </a:rPr>
              <a:t>RHIC</a:t>
            </a:r>
            <a:r>
              <a:rPr lang="zh-CN" altLang="en-US" sz="1200" b="0" i="0" kern="1200" dirty="0">
                <a:solidFill>
                  <a:schemeClr val="tx1"/>
                </a:solidFill>
                <a:effectLst/>
                <a:latin typeface="+mn-lt"/>
                <a:ea typeface="+mn-ea"/>
                <a:cs typeface="+mn-cs"/>
              </a:rPr>
              <a:t>让接近光速运动的金离子进</a:t>
            </a:r>
            <a:r>
              <a:rPr lang="zh-CN" altLang="en-US" sz="1200" b="0" i="0" u="none" strike="noStrike" kern="1200" dirty="0">
                <a:solidFill>
                  <a:schemeClr val="tx1"/>
                </a:solidFill>
                <a:effectLst/>
                <a:latin typeface="+mn-lt"/>
                <a:ea typeface="+mn-ea"/>
                <a:cs typeface="+mn-cs"/>
                <a:hlinkClick r:id="rId3"/>
              </a:rPr>
              <a:t>行</a:t>
            </a:r>
            <a:r>
              <a:rPr lang="zh-CN" altLang="en-US" sz="1200" b="0" i="0" kern="1200" dirty="0">
                <a:solidFill>
                  <a:schemeClr val="tx1"/>
                </a:solidFill>
                <a:effectLst/>
                <a:latin typeface="+mn-lt"/>
                <a:ea typeface="+mn-ea"/>
                <a:cs typeface="+mn-cs"/>
              </a:rPr>
              <a:t>对撞，夸克和胶子形成了高温、高密度的零黏性“完全液体”，即为夸克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胶子等离子体。通过计算后，研究人员确认撞击形成的超高温夸克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胶子等离子体“汤”温度达到</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万亿摄氏度，这也是到目前为止在实验室中产生的最高温度。</a:t>
            </a:r>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19</a:t>
            </a:fld>
            <a:endParaRPr lang="zh-CN" altLang="en-US"/>
          </a:p>
        </p:txBody>
      </p:sp>
    </p:spTree>
    <p:extLst>
      <p:ext uri="{BB962C8B-B14F-4D97-AF65-F5344CB8AC3E}">
        <p14:creationId xmlns:p14="http://schemas.microsoft.com/office/powerpoint/2010/main" val="4223367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15</a:t>
            </a:r>
            <a:r>
              <a:rPr lang="zh-CN" altLang="en-US"/>
              <a:t>级杨小炜指出</a:t>
            </a:r>
          </a:p>
        </p:txBody>
      </p:sp>
      <p:sp>
        <p:nvSpPr>
          <p:cNvPr id="4" name="灯片编号占位符 3"/>
          <p:cNvSpPr>
            <a:spLocks noGrp="1"/>
          </p:cNvSpPr>
          <p:nvPr>
            <p:ph type="sldNum" sz="quarter" idx="10"/>
          </p:nvPr>
        </p:nvSpPr>
        <p:spPr/>
        <p:txBody>
          <a:bodyPr/>
          <a:lstStyle/>
          <a:p>
            <a:fld id="{404F9A1B-206B-4EC9-922D-0A2E58AC59C4}" type="slidenum">
              <a:rPr lang="zh-CN" altLang="en-US" smtClean="0"/>
              <a:t>30</a:t>
            </a:fld>
            <a:endParaRPr lang="zh-CN" altLang="en-US"/>
          </a:p>
        </p:txBody>
      </p:sp>
    </p:spTree>
    <p:extLst>
      <p:ext uri="{BB962C8B-B14F-4D97-AF65-F5344CB8AC3E}">
        <p14:creationId xmlns:p14="http://schemas.microsoft.com/office/powerpoint/2010/main" val="308052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04F9A1B-206B-4EC9-922D-0A2E58AC59C4}" type="slidenum">
              <a:rPr lang="zh-CN" altLang="en-US" smtClean="0"/>
              <a:t>31</a:t>
            </a:fld>
            <a:endParaRPr lang="zh-CN" altLang="en-US"/>
          </a:p>
        </p:txBody>
      </p:sp>
    </p:spTree>
    <p:extLst>
      <p:ext uri="{BB962C8B-B14F-4D97-AF65-F5344CB8AC3E}">
        <p14:creationId xmlns:p14="http://schemas.microsoft.com/office/powerpoint/2010/main" val="2450364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43</a:t>
            </a:fld>
            <a:endParaRPr lang="zh-CN" altLang="en-US"/>
          </a:p>
        </p:txBody>
      </p:sp>
    </p:spTree>
    <p:extLst>
      <p:ext uri="{BB962C8B-B14F-4D97-AF65-F5344CB8AC3E}">
        <p14:creationId xmlns:p14="http://schemas.microsoft.com/office/powerpoint/2010/main" val="3672058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9">
            <a:extLst>
              <a:ext uri="{FF2B5EF4-FFF2-40B4-BE49-F238E27FC236}">
                <a16:creationId xmlns:a16="http://schemas.microsoft.com/office/drawing/2014/main" id="{AAD387B1-3103-410C-8A6F-61D494AEAD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1">
            <a:extLst>
              <a:ext uri="{FF2B5EF4-FFF2-40B4-BE49-F238E27FC236}">
                <a16:creationId xmlns:a16="http://schemas.microsoft.com/office/drawing/2014/main" id="{EF2F75DC-2FDE-4EE3-8E34-8BABCC7179F1}"/>
              </a:ext>
            </a:extLst>
          </p:cNvPr>
          <p:cNvGrpSpPr>
            <a:grpSpLocks/>
          </p:cNvGrpSpPr>
          <p:nvPr userDrawn="1"/>
        </p:nvGrpSpPr>
        <p:grpSpPr bwMode="auto">
          <a:xfrm>
            <a:off x="0" y="4741863"/>
            <a:ext cx="9043988" cy="142875"/>
            <a:chOff x="76199" y="1241003"/>
            <a:chExt cx="9044401" cy="144000"/>
          </a:xfrm>
        </p:grpSpPr>
        <p:sp>
          <p:nvSpPr>
            <p:cNvPr id="17" name="圆角矩形 11">
              <a:extLst>
                <a:ext uri="{FF2B5EF4-FFF2-40B4-BE49-F238E27FC236}">
                  <a16:creationId xmlns:a16="http://schemas.microsoft.com/office/drawing/2014/main" id="{367FAD37-4817-483B-B455-9B9EAAFE7BD8}"/>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8" name="圆角矩形 12">
              <a:extLst>
                <a:ext uri="{FF2B5EF4-FFF2-40B4-BE49-F238E27FC236}">
                  <a16:creationId xmlns:a16="http://schemas.microsoft.com/office/drawing/2014/main" id="{405E6F80-4ED3-42FA-B9E2-EC6BC04F1A02}"/>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9" name="圆角矩形 13">
              <a:extLst>
                <a:ext uri="{FF2B5EF4-FFF2-40B4-BE49-F238E27FC236}">
                  <a16:creationId xmlns:a16="http://schemas.microsoft.com/office/drawing/2014/main" id="{FFCB71A7-724E-4CF3-8659-D7FFA4994A95}"/>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20" name="图片 18">
            <a:extLst>
              <a:ext uri="{FF2B5EF4-FFF2-40B4-BE49-F238E27FC236}">
                <a16:creationId xmlns:a16="http://schemas.microsoft.com/office/drawing/2014/main" id="{B230B797-9AF8-41D8-B5AB-3C485238D84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a:extLst>
              <a:ext uri="{FF2B5EF4-FFF2-40B4-BE49-F238E27FC236}">
                <a16:creationId xmlns:a16="http://schemas.microsoft.com/office/drawing/2014/main" id="{32E52780-17F0-4F25-B262-66C011AE71D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
            <a:extLst>
              <a:ext uri="{FF2B5EF4-FFF2-40B4-BE49-F238E27FC236}">
                <a16:creationId xmlns:a16="http://schemas.microsoft.com/office/drawing/2014/main" id="{A6617996-BF24-4585-AE38-DD4FEC22395F}"/>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145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6" name="图片 3">
            <a:extLst>
              <a:ext uri="{FF2B5EF4-FFF2-40B4-BE49-F238E27FC236}">
                <a16:creationId xmlns:a16="http://schemas.microsoft.com/office/drawing/2014/main" id="{408ADF0C-ACC1-4673-9FB1-66E00A81977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539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510138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32448-0BA2-40E5-A2C0-FE19F5B0EF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981BA7-2F47-4ADB-915A-3DEA803B6CA4}"/>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AE45C7A-E3DB-493E-9698-B006439AB31B}"/>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CA42E52-6363-4A26-9F01-A62CE34E16AD}"/>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6" name="页脚占位符 5">
            <a:extLst>
              <a:ext uri="{FF2B5EF4-FFF2-40B4-BE49-F238E27FC236}">
                <a16:creationId xmlns:a16="http://schemas.microsoft.com/office/drawing/2014/main" id="{465B047E-2EC3-4418-B2C1-A69A897003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5C945B0-B70D-4BF6-A6CF-ED8DAA8C8943}"/>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186967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450FD-26B7-480D-8261-CD4C51DD80D3}"/>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64C6F2-EDC6-4263-A281-7872A6E3CF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5CD5D4B2-383D-449C-8900-FB1B3EB93CFF}"/>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7ABC02C-F6DC-4DAF-938D-195593E621D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BA408A11-7060-4D85-B243-5DD965556665}"/>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DFAAD3C-B42A-47A7-B768-611AFC7BEB6F}"/>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8" name="页脚占位符 7">
            <a:extLst>
              <a:ext uri="{FF2B5EF4-FFF2-40B4-BE49-F238E27FC236}">
                <a16:creationId xmlns:a16="http://schemas.microsoft.com/office/drawing/2014/main" id="{F1B5FF39-DD9B-4C57-A344-275219341F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7BEA18A-253C-40CA-A957-3BA37B7A19C7}"/>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392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5BCCD-B3FE-4D64-9C90-CF64C82B18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1C5B8F4-1CBB-4613-A7A2-350FF2B86D80}"/>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4" name="页脚占位符 3">
            <a:extLst>
              <a:ext uri="{FF2B5EF4-FFF2-40B4-BE49-F238E27FC236}">
                <a16:creationId xmlns:a16="http://schemas.microsoft.com/office/drawing/2014/main" id="{D7B22DBA-ADB6-459C-8DDD-B1702C76D8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D426E1B-8DFB-40A0-B0EA-1E9256D1BC7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13612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189721-9F85-4C93-AF25-890CD11FA42C}"/>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3" name="页脚占位符 2">
            <a:extLst>
              <a:ext uri="{FF2B5EF4-FFF2-40B4-BE49-F238E27FC236}">
                <a16:creationId xmlns:a16="http://schemas.microsoft.com/office/drawing/2014/main" id="{BE57016C-A313-4228-8D34-FC5C12BCC33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0EAED29-461C-427E-94B8-4F64E97E056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0851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51D1-5EA7-4401-99BA-1EC037C4942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74CF08B5-D317-4883-94CE-FAEEE05A6E6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86986A2-D743-430F-AA70-9B06B2C0F66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18817CAD-5352-4EAF-B2E4-2B49B31E3EDC}"/>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6" name="页脚占位符 5">
            <a:extLst>
              <a:ext uri="{FF2B5EF4-FFF2-40B4-BE49-F238E27FC236}">
                <a16:creationId xmlns:a16="http://schemas.microsoft.com/office/drawing/2014/main" id="{71068CC4-251C-4854-9963-7DDB0C8959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B0C261-FF00-4B26-B51E-6D72F060403F}"/>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254414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B7F6-3B15-4872-B555-7F1565B905D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BFA923F-001E-4E54-AE2E-D70CAC715EB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a:extLst>
              <a:ext uri="{FF2B5EF4-FFF2-40B4-BE49-F238E27FC236}">
                <a16:creationId xmlns:a16="http://schemas.microsoft.com/office/drawing/2014/main" id="{F8120E55-EACB-4D2C-973C-7AE05E5625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7C155047-D836-41BF-B4EC-6E058AC14225}"/>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6" name="页脚占位符 5">
            <a:extLst>
              <a:ext uri="{FF2B5EF4-FFF2-40B4-BE49-F238E27FC236}">
                <a16:creationId xmlns:a16="http://schemas.microsoft.com/office/drawing/2014/main" id="{ABEDD3A4-3A50-440F-A891-A798B3A6C1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7A6A10-432E-4945-AF1E-64FDF90A2601}"/>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044899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16CF1-CD97-4DBA-A96F-F883552B4F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99B747-8D5C-4895-A7EC-E7332E48E29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7135EC-C807-4A0E-90F1-EE1D3601DEEA}"/>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5" name="页脚占位符 4">
            <a:extLst>
              <a:ext uri="{FF2B5EF4-FFF2-40B4-BE49-F238E27FC236}">
                <a16:creationId xmlns:a16="http://schemas.microsoft.com/office/drawing/2014/main" id="{FAD0FB47-2483-4992-8D35-B58CEC00DF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555DE4-AE2F-40B7-AF19-7220940C1185}"/>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13222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0F266B-DA68-452A-BFC2-0DBF1351710D}"/>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DC26948-9D79-4503-B7E8-FB720785EE46}"/>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763795-09C4-4CE3-967D-39D8EED2D346}"/>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5" name="页脚占位符 4">
            <a:extLst>
              <a:ext uri="{FF2B5EF4-FFF2-40B4-BE49-F238E27FC236}">
                <a16:creationId xmlns:a16="http://schemas.microsoft.com/office/drawing/2014/main" id="{D292961E-4D31-4C00-8456-DA422BEC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04869D-578E-442B-AC17-5E714BDBD47B}"/>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78999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userDrawn="1"/>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119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047594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18053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quarter" idx="2"/>
          </p:nvPr>
        </p:nvSpPr>
        <p:spPr>
          <a:xfrm>
            <a:off x="4648200" y="1600200"/>
            <a:ext cx="4038600" cy="21859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Content Placeholder 4"/>
          <p:cNvSpPr>
            <a:spLocks noGrp="1"/>
          </p:cNvSpPr>
          <p:nvPr>
            <p:ph sz="quarter" idx="3"/>
          </p:nvPr>
        </p:nvSpPr>
        <p:spPr>
          <a:xfrm>
            <a:off x="4648200" y="3938588"/>
            <a:ext cx="4038600" cy="218757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B8A4DFA5-2C7C-4472-BAF1-4432A08D48B4}" type="slidenum">
              <a:rPr lang="en-US" altLang="zh-CN"/>
              <a:pPr/>
              <a:t>‹#›</a:t>
            </a:fld>
            <a:endParaRPr lang="en-US" altLang="zh-CN"/>
          </a:p>
        </p:txBody>
      </p:sp>
    </p:spTree>
    <p:extLst>
      <p:ext uri="{BB962C8B-B14F-4D97-AF65-F5344CB8AC3E}">
        <p14:creationId xmlns:p14="http://schemas.microsoft.com/office/powerpoint/2010/main" val="13725176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008820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燕尾形 7"/>
          <p:cNvSpPr/>
          <p:nvPr userDrawn="1"/>
        </p:nvSpPr>
        <p:spPr>
          <a:xfrm>
            <a:off x="107504" y="70250"/>
            <a:ext cx="484632" cy="484632"/>
          </a:xfrm>
          <a:prstGeom prst="chevron">
            <a:avLst>
              <a:gd name="adj" fmla="val 58203"/>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黑体" panose="02010609060101010101" pitchFamily="49" charset="-122"/>
              <a:ea typeface="黑体" panose="02010609060101010101" pitchFamily="49" charset="-122"/>
            </a:endParaRPr>
          </a:p>
        </p:txBody>
      </p:sp>
      <p:sp>
        <p:nvSpPr>
          <p:cNvPr id="9" name="燕尾形 8"/>
          <p:cNvSpPr/>
          <p:nvPr userDrawn="1"/>
        </p:nvSpPr>
        <p:spPr>
          <a:xfrm>
            <a:off x="414960" y="64048"/>
            <a:ext cx="484632" cy="484632"/>
          </a:xfrm>
          <a:prstGeom prst="chevron">
            <a:avLst>
              <a:gd name="adj" fmla="val 58203"/>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60909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B20F97-D093-4167-88EF-C188D3B8DC0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B78C6B4-EDBC-4C7B-80E2-2A36D8872A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1AB1772D-D631-4D4E-BF62-42EF4690EB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9B1AB40-DF97-4AB0-B63B-B6C2904246EB}" type="datetimeFigureOut">
              <a:rPr lang="zh-CN" altLang="en-US" smtClean="0"/>
              <a:t>2022/9/30</a:t>
            </a:fld>
            <a:endParaRPr lang="zh-CN" altLang="en-US"/>
          </a:p>
        </p:txBody>
      </p:sp>
      <p:sp>
        <p:nvSpPr>
          <p:cNvPr id="5" name="页脚占位符 4">
            <a:extLst>
              <a:ext uri="{FF2B5EF4-FFF2-40B4-BE49-F238E27FC236}">
                <a16:creationId xmlns:a16="http://schemas.microsoft.com/office/drawing/2014/main" id="{33AFB56B-864D-497D-8AE9-5E092905F79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832445E-5DFA-480A-96AF-CCD8859EA90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68234210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33" r:id="rId12"/>
    <p:sldLayoutId id="2147483734" r:id="rId13"/>
    <p:sldLayoutId id="2147483759" r:id="rId14"/>
    <p:sldLayoutId id="2147483760" r:id="rId15"/>
    <p:sldLayoutId id="2147483761" r:id="rId16"/>
    <p:sldLayoutId id="2147483762" r:id="rId1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4.png"/><Relationship Id="rId7"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24.wmf"/><Relationship Id="rId3" Type="http://schemas.openxmlformats.org/officeDocument/2006/relationships/image" Target="../media/image19.wmf"/><Relationship Id="rId7" Type="http://schemas.openxmlformats.org/officeDocument/2006/relationships/image" Target="../media/image21.wmf"/><Relationship Id="rId12" Type="http://schemas.openxmlformats.org/officeDocument/2006/relationships/oleObject" Target="../embeddings/oleObject7.bin"/><Relationship Id="rId2" Type="http://schemas.openxmlformats.org/officeDocument/2006/relationships/oleObject" Target="../embeddings/oleObject2.bin"/><Relationship Id="rId1" Type="http://schemas.openxmlformats.org/officeDocument/2006/relationships/slideLayout" Target="../slideLayouts/slideLayout17.xml"/><Relationship Id="rId6" Type="http://schemas.openxmlformats.org/officeDocument/2006/relationships/oleObject" Target="../embeddings/oleObject4.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22.wmf"/><Relationship Id="rId1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7.xml"/><Relationship Id="rId5" Type="http://schemas.openxmlformats.org/officeDocument/2006/relationships/image" Target="../media/image28.wmf"/><Relationship Id="rId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30.png"/><Relationship Id="rId7" Type="http://schemas.openxmlformats.org/officeDocument/2006/relationships/image" Target="../media/image32.wmf"/><Relationship Id="rId2" Type="http://schemas.openxmlformats.org/officeDocument/2006/relationships/image" Target="../media/image29.png"/><Relationship Id="rId1" Type="http://schemas.openxmlformats.org/officeDocument/2006/relationships/slideLayout" Target="../slideLayouts/slideLayout17.xml"/><Relationship Id="rId6" Type="http://schemas.openxmlformats.org/officeDocument/2006/relationships/oleObject" Target="../embeddings/oleObject10.bin"/><Relationship Id="rId5" Type="http://schemas.openxmlformats.org/officeDocument/2006/relationships/image" Target="../media/image31.wmf"/><Relationship Id="rId4" Type="http://schemas.openxmlformats.org/officeDocument/2006/relationships/oleObject" Target="../embeddings/oleObject9.bin"/><Relationship Id="rId9" Type="http://schemas.openxmlformats.org/officeDocument/2006/relationships/image" Target="../media/image33.wmf"/></Relationships>
</file>

<file path=ppt/slides/_rels/slide7.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12.bin"/><Relationship Id="rId7" Type="http://schemas.openxmlformats.org/officeDocument/2006/relationships/oleObject" Target="../embeddings/oleObject13.bin"/><Relationship Id="rId2" Type="http://schemas.openxmlformats.org/officeDocument/2006/relationships/image" Target="../media/image34.png"/><Relationship Id="rId1" Type="http://schemas.openxmlformats.org/officeDocument/2006/relationships/slideLayout" Target="../slideLayouts/slideLayout1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wmf"/></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gif"/><Relationship Id="rId2" Type="http://schemas.openxmlformats.org/officeDocument/2006/relationships/image" Target="../media/image39.gif"/><Relationship Id="rId1" Type="http://schemas.openxmlformats.org/officeDocument/2006/relationships/slideLayout" Target="../slideLayouts/slideLayout1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17.xml"/><Relationship Id="rId4" Type="http://schemas.openxmlformats.org/officeDocument/2006/relationships/image" Target="../media/image53.jpeg"/></Relationships>
</file>

<file path=ppt/slides/_rels/slide1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Synthetic_diamond" TargetMode="External"/><Relationship Id="rId2" Type="http://schemas.openxmlformats.org/officeDocument/2006/relationships/image" Target="../media/image56.jpe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62.wmf"/><Relationship Id="rId18" Type="http://schemas.openxmlformats.org/officeDocument/2006/relationships/oleObject" Target="../embeddings/oleObject22.bin"/><Relationship Id="rId3" Type="http://schemas.openxmlformats.org/officeDocument/2006/relationships/image" Target="../media/image57.wmf"/><Relationship Id="rId21" Type="http://schemas.openxmlformats.org/officeDocument/2006/relationships/image" Target="../media/image66.wmf"/><Relationship Id="rId7" Type="http://schemas.openxmlformats.org/officeDocument/2006/relationships/image" Target="../media/image59.wmf"/><Relationship Id="rId12" Type="http://schemas.openxmlformats.org/officeDocument/2006/relationships/oleObject" Target="../embeddings/oleObject19.bin"/><Relationship Id="rId17" Type="http://schemas.openxmlformats.org/officeDocument/2006/relationships/image" Target="../media/image64.wmf"/><Relationship Id="rId2" Type="http://schemas.openxmlformats.org/officeDocument/2006/relationships/oleObject" Target="../embeddings/oleObject14.bin"/><Relationship Id="rId16" Type="http://schemas.openxmlformats.org/officeDocument/2006/relationships/oleObject" Target="../embeddings/oleObject21.bin"/><Relationship Id="rId20" Type="http://schemas.openxmlformats.org/officeDocument/2006/relationships/oleObject" Target="../embeddings/oleObject23.bin"/><Relationship Id="rId1" Type="http://schemas.openxmlformats.org/officeDocument/2006/relationships/slideLayout" Target="../slideLayouts/slideLayout17.xml"/><Relationship Id="rId6" Type="http://schemas.openxmlformats.org/officeDocument/2006/relationships/oleObject" Target="../embeddings/oleObject16.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23" Type="http://schemas.openxmlformats.org/officeDocument/2006/relationships/image" Target="../media/image67.wmf"/><Relationship Id="rId10" Type="http://schemas.openxmlformats.org/officeDocument/2006/relationships/oleObject" Target="../embeddings/oleObject18.bin"/><Relationship Id="rId19" Type="http://schemas.openxmlformats.org/officeDocument/2006/relationships/image" Target="../media/image65.wmf"/><Relationship Id="rId4" Type="http://schemas.openxmlformats.org/officeDocument/2006/relationships/oleObject" Target="../embeddings/oleObject15.bin"/><Relationship Id="rId9" Type="http://schemas.openxmlformats.org/officeDocument/2006/relationships/image" Target="../media/image60.wmf"/><Relationship Id="rId14" Type="http://schemas.openxmlformats.org/officeDocument/2006/relationships/oleObject" Target="../embeddings/oleObject20.bin"/><Relationship Id="rId22" Type="http://schemas.openxmlformats.org/officeDocument/2006/relationships/oleObject" Target="../embeddings/oleObject24.bin"/></Relationships>
</file>

<file path=ppt/slides/_rels/slide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17.xml"/><Relationship Id="rId5" Type="http://schemas.openxmlformats.org/officeDocument/2006/relationships/image" Target="../media/image71.png"/><Relationship Id="rId4" Type="http://schemas.openxmlformats.org/officeDocument/2006/relationships/image" Target="../media/image70.jpeg"/></Relationships>
</file>

<file path=ppt/slides/_rels/slide16.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hyperlink" Target="http://www.google.com.sg/url?sa=i&amp;rct=j&amp;q=&amp;esrc=s&amp;source=images&amp;cd=&amp;cad=rja&amp;uact=8&amp;ved=0ahUKEwj1_rbJ7ZvQAhWMtI8KHZeGBC8QjRwIBw&amp;url=http://www.electronics-cooling.com/2002/02/diamonds-are-a-thermal-designers-best-friends/&amp;psig=AFQjCNGyNyAfFpAoQtHj8eF9-kjzYAc2yA&amp;ust=1478787100290889" TargetMode="External"/><Relationship Id="rId1" Type="http://schemas.openxmlformats.org/officeDocument/2006/relationships/slideLayout" Target="../slideLayouts/slideLayout17.xml"/><Relationship Id="rId5" Type="http://schemas.openxmlformats.org/officeDocument/2006/relationships/image" Target="../media/image73.jpeg"/><Relationship Id="rId4" Type="http://schemas.openxmlformats.org/officeDocument/2006/relationships/hyperlink" Target="http://3.bp.blogspot.com/-5ohxpP7jrIs/VjehtPfbJ9I/AAAAAAAACR0/VLVxOAnROmM/s1600/3.5.jp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eg"/><Relationship Id="rId1" Type="http://schemas.openxmlformats.org/officeDocument/2006/relationships/slideLayout" Target="../slideLayouts/slideLayout17.xml"/><Relationship Id="rId6" Type="http://schemas.openxmlformats.org/officeDocument/2006/relationships/image" Target="../media/image78.png"/><Relationship Id="rId5" Type="http://schemas.openxmlformats.org/officeDocument/2006/relationships/image" Target="../media/image77.jpeg"/><Relationship Id="rId4" Type="http://schemas.openxmlformats.org/officeDocument/2006/relationships/image" Target="../media/image76.png"/></Relationships>
</file>

<file path=ppt/slides/_rels/slide1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png"/><Relationship Id="rId1" Type="http://schemas.openxmlformats.org/officeDocument/2006/relationships/slideLayout" Target="../slideLayouts/slideLayout1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7.xml"/><Relationship Id="rId5" Type="http://schemas.openxmlformats.org/officeDocument/2006/relationships/image" Target="../media/image89.png"/><Relationship Id="rId4" Type="http://schemas.openxmlformats.org/officeDocument/2006/relationships/image" Target="../media/image88.png"/></Relationships>
</file>

<file path=ppt/slides/_rels/slide2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4.xml"/><Relationship Id="rId4" Type="http://schemas.openxmlformats.org/officeDocument/2006/relationships/image" Target="../media/image92.png"/></Relationships>
</file>

<file path=ppt/slides/_rels/slide2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7.xml"/><Relationship Id="rId4" Type="http://schemas.openxmlformats.org/officeDocument/2006/relationships/image" Target="../media/image9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7.xml"/><Relationship Id="rId6" Type="http://schemas.openxmlformats.org/officeDocument/2006/relationships/image" Target="../media/image101.png"/><Relationship Id="rId5" Type="http://schemas.openxmlformats.org/officeDocument/2006/relationships/image" Target="../media/image100.wmf"/><Relationship Id="rId4" Type="http://schemas.openxmlformats.org/officeDocument/2006/relationships/oleObject" Target="../embeddings/oleObject25.bin"/></Relationships>
</file>

<file path=ppt/slides/_rels/slide2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7.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113.wmf"/><Relationship Id="rId3" Type="http://schemas.openxmlformats.org/officeDocument/2006/relationships/oleObject" Target="../embeddings/oleObject26.bin"/><Relationship Id="rId7" Type="http://schemas.openxmlformats.org/officeDocument/2006/relationships/image" Target="../media/image110.png"/><Relationship Id="rId12" Type="http://schemas.openxmlformats.org/officeDocument/2006/relationships/oleObject" Target="../embeddings/oleObject30.bin"/><Relationship Id="rId2" Type="http://schemas.openxmlformats.org/officeDocument/2006/relationships/image" Target="../media/image107.png"/><Relationship Id="rId1" Type="http://schemas.openxmlformats.org/officeDocument/2006/relationships/slideLayout" Target="../slideLayouts/slideLayout17.xml"/><Relationship Id="rId6" Type="http://schemas.openxmlformats.org/officeDocument/2006/relationships/image" Target="../media/image109.wmf"/><Relationship Id="rId11" Type="http://schemas.openxmlformats.org/officeDocument/2006/relationships/image" Target="../media/image112.wmf"/><Relationship Id="rId5" Type="http://schemas.openxmlformats.org/officeDocument/2006/relationships/oleObject" Target="../embeddings/oleObject27.bin"/><Relationship Id="rId15" Type="http://schemas.openxmlformats.org/officeDocument/2006/relationships/image" Target="../media/image114.wmf"/><Relationship Id="rId10" Type="http://schemas.openxmlformats.org/officeDocument/2006/relationships/oleObject" Target="../embeddings/oleObject29.bin"/><Relationship Id="rId4" Type="http://schemas.openxmlformats.org/officeDocument/2006/relationships/image" Target="../media/image108.wmf"/><Relationship Id="rId9" Type="http://schemas.openxmlformats.org/officeDocument/2006/relationships/image" Target="../media/image111.wmf"/><Relationship Id="rId14" Type="http://schemas.openxmlformats.org/officeDocument/2006/relationships/oleObject" Target="../embeddings/oleObject31.bin"/></Relationships>
</file>

<file path=ppt/slides/_rels/slide2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17.xml"/><Relationship Id="rId4" Type="http://schemas.openxmlformats.org/officeDocument/2006/relationships/image" Target="../media/image117.png"/></Relationships>
</file>

<file path=ppt/slides/_rels/slide30.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118.wmf"/><Relationship Id="rId5" Type="http://schemas.openxmlformats.org/officeDocument/2006/relationships/oleObject" Target="../embeddings/oleObject33.bin"/><Relationship Id="rId4" Type="http://schemas.openxmlformats.org/officeDocument/2006/relationships/image" Target="../media/image114.wmf"/></Relationships>
</file>

<file path=ppt/slides/_rels/slide3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114.wmf"/><Relationship Id="rId5" Type="http://schemas.openxmlformats.org/officeDocument/2006/relationships/oleObject" Target="../embeddings/oleObject35.bin"/><Relationship Id="rId4" Type="http://schemas.openxmlformats.org/officeDocument/2006/relationships/image" Target="../media/image121.emf"/></Relationships>
</file>

<file path=ppt/slides/_rels/slide32.xml.rels><?xml version="1.0" encoding="UTF-8" standalone="yes"?>
<Relationships xmlns="http://schemas.openxmlformats.org/package/2006/relationships"><Relationship Id="rId8" Type="http://schemas.openxmlformats.org/officeDocument/2006/relationships/image" Target="../media/image125.wmf"/><Relationship Id="rId13" Type="http://schemas.openxmlformats.org/officeDocument/2006/relationships/image" Target="../media/image121.emf"/><Relationship Id="rId3" Type="http://schemas.openxmlformats.org/officeDocument/2006/relationships/image" Target="../media/image122.wmf"/><Relationship Id="rId7" Type="http://schemas.openxmlformats.org/officeDocument/2006/relationships/oleObject" Target="../embeddings/oleObject38.bin"/><Relationship Id="rId12" Type="http://schemas.openxmlformats.org/officeDocument/2006/relationships/image" Target="../media/image127.wmf"/><Relationship Id="rId2" Type="http://schemas.openxmlformats.org/officeDocument/2006/relationships/oleObject" Target="../embeddings/oleObject36.bin"/><Relationship Id="rId1" Type="http://schemas.openxmlformats.org/officeDocument/2006/relationships/slideLayout" Target="../slideLayouts/slideLayout17.xml"/><Relationship Id="rId6" Type="http://schemas.openxmlformats.org/officeDocument/2006/relationships/image" Target="../media/image124.png"/><Relationship Id="rId11" Type="http://schemas.openxmlformats.org/officeDocument/2006/relationships/oleObject" Target="../embeddings/oleObject40.bin"/><Relationship Id="rId5" Type="http://schemas.openxmlformats.org/officeDocument/2006/relationships/image" Target="../media/image123.wmf"/><Relationship Id="rId15" Type="http://schemas.openxmlformats.org/officeDocument/2006/relationships/image" Target="../media/image128.wmf"/><Relationship Id="rId10" Type="http://schemas.openxmlformats.org/officeDocument/2006/relationships/image" Target="../media/image126.wmf"/><Relationship Id="rId4" Type="http://schemas.openxmlformats.org/officeDocument/2006/relationships/oleObject" Target="../embeddings/oleObject37.bin"/><Relationship Id="rId9" Type="http://schemas.openxmlformats.org/officeDocument/2006/relationships/oleObject" Target="../embeddings/oleObject39.bin"/><Relationship Id="rId14" Type="http://schemas.openxmlformats.org/officeDocument/2006/relationships/oleObject" Target="../embeddings/oleObject41.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134.wmf"/><Relationship Id="rId3" Type="http://schemas.openxmlformats.org/officeDocument/2006/relationships/image" Target="../media/image129.wmf"/><Relationship Id="rId7" Type="http://schemas.openxmlformats.org/officeDocument/2006/relationships/image" Target="../media/image131.wmf"/><Relationship Id="rId12" Type="http://schemas.openxmlformats.org/officeDocument/2006/relationships/oleObject" Target="../embeddings/oleObject47.bin"/><Relationship Id="rId2" Type="http://schemas.openxmlformats.org/officeDocument/2006/relationships/oleObject" Target="../embeddings/oleObject42.bin"/><Relationship Id="rId1" Type="http://schemas.openxmlformats.org/officeDocument/2006/relationships/slideLayout" Target="../slideLayouts/slideLayout17.xml"/><Relationship Id="rId6" Type="http://schemas.openxmlformats.org/officeDocument/2006/relationships/oleObject" Target="../embeddings/oleObject44.bin"/><Relationship Id="rId11" Type="http://schemas.openxmlformats.org/officeDocument/2006/relationships/image" Target="../media/image133.wmf"/><Relationship Id="rId5" Type="http://schemas.openxmlformats.org/officeDocument/2006/relationships/image" Target="../media/image130.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132.wmf"/></Relationships>
</file>

<file path=ppt/slides/_rels/slide34.xml.rels><?xml version="1.0" encoding="UTF-8" standalone="yes"?>
<Relationships xmlns="http://schemas.openxmlformats.org/package/2006/relationships"><Relationship Id="rId3" Type="http://schemas.openxmlformats.org/officeDocument/2006/relationships/image" Target="../media/image136.emf"/><Relationship Id="rId2" Type="http://schemas.openxmlformats.org/officeDocument/2006/relationships/image" Target="../media/image135.emf"/><Relationship Id="rId1" Type="http://schemas.openxmlformats.org/officeDocument/2006/relationships/slideLayout" Target="../slideLayouts/slideLayout17.xml"/><Relationship Id="rId4" Type="http://schemas.openxmlformats.org/officeDocument/2006/relationships/image" Target="../media/image137.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138.wmf"/><Relationship Id="rId7" Type="http://schemas.openxmlformats.org/officeDocument/2006/relationships/image" Target="../media/image121.emf"/><Relationship Id="rId2" Type="http://schemas.openxmlformats.org/officeDocument/2006/relationships/oleObject" Target="../embeddings/oleObject48.bin"/><Relationship Id="rId1" Type="http://schemas.openxmlformats.org/officeDocument/2006/relationships/slideLayout" Target="../slideLayouts/slideLayout17.xml"/><Relationship Id="rId6" Type="http://schemas.openxmlformats.org/officeDocument/2006/relationships/image" Target="../media/image140.wmf"/><Relationship Id="rId5" Type="http://schemas.openxmlformats.org/officeDocument/2006/relationships/oleObject" Target="../embeddings/oleObject49.bin"/><Relationship Id="rId4" Type="http://schemas.openxmlformats.org/officeDocument/2006/relationships/image" Target="../media/image139.png"/><Relationship Id="rId9" Type="http://schemas.openxmlformats.org/officeDocument/2006/relationships/image" Target="../media/image141.wmf"/></Relationships>
</file>

<file path=ppt/slides/_rels/slide36.xml.rels><?xml version="1.0" encoding="UTF-8" standalone="yes"?>
<Relationships xmlns="http://schemas.openxmlformats.org/package/2006/relationships"><Relationship Id="rId3" Type="http://schemas.openxmlformats.org/officeDocument/2006/relationships/hyperlink" Target="https://en.wikipedia.org/wiki/Willard_Gibbs" TargetMode="External"/><Relationship Id="rId2" Type="http://schemas.openxmlformats.org/officeDocument/2006/relationships/hyperlink" Target="https://en.wikipedia.org/wiki/Boltzmann" TargetMode="Externa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image" Target="../media/image142.emf"/><Relationship Id="rId1" Type="http://schemas.openxmlformats.org/officeDocument/2006/relationships/slideLayout" Target="../slideLayouts/slideLayout17.xml"/><Relationship Id="rId4" Type="http://schemas.openxmlformats.org/officeDocument/2006/relationships/image" Target="../media/image143.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image" Target="../media/image144.png"/><Relationship Id="rId1" Type="http://schemas.openxmlformats.org/officeDocument/2006/relationships/slideLayout" Target="../slideLayouts/slideLayout17.xml"/><Relationship Id="rId4" Type="http://schemas.openxmlformats.org/officeDocument/2006/relationships/image" Target="../media/image145.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image" Target="../media/image146.png"/><Relationship Id="rId1" Type="http://schemas.openxmlformats.org/officeDocument/2006/relationships/slideLayout" Target="../slideLayouts/slideLayout17.xml"/><Relationship Id="rId5" Type="http://schemas.openxmlformats.org/officeDocument/2006/relationships/image" Target="../media/image148.png"/><Relationship Id="rId4" Type="http://schemas.openxmlformats.org/officeDocument/2006/relationships/image" Target="../media/image147.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image" Target="../media/image142.emf"/><Relationship Id="rId1" Type="http://schemas.openxmlformats.org/officeDocument/2006/relationships/slideLayout" Target="../slideLayouts/slideLayout17.xml"/><Relationship Id="rId4" Type="http://schemas.openxmlformats.org/officeDocument/2006/relationships/image" Target="../media/image149.wmf"/></Relationships>
</file>

<file path=ppt/slides/_rels/slide41.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140.wmf"/><Relationship Id="rId18" Type="http://schemas.openxmlformats.org/officeDocument/2006/relationships/oleObject" Target="../embeddings/oleObject63.bin"/><Relationship Id="rId3" Type="http://schemas.openxmlformats.org/officeDocument/2006/relationships/image" Target="../media/image152.wmf"/><Relationship Id="rId21" Type="http://schemas.openxmlformats.org/officeDocument/2006/relationships/image" Target="../media/image160.wmf"/><Relationship Id="rId7" Type="http://schemas.openxmlformats.org/officeDocument/2006/relationships/image" Target="../media/image154.wmf"/><Relationship Id="rId12" Type="http://schemas.openxmlformats.org/officeDocument/2006/relationships/oleObject" Target="../embeddings/oleObject60.bin"/><Relationship Id="rId17" Type="http://schemas.openxmlformats.org/officeDocument/2006/relationships/image" Target="../media/image158.wmf"/><Relationship Id="rId2" Type="http://schemas.openxmlformats.org/officeDocument/2006/relationships/oleObject" Target="../embeddings/oleObject55.bin"/><Relationship Id="rId16" Type="http://schemas.openxmlformats.org/officeDocument/2006/relationships/oleObject" Target="../embeddings/oleObject62.bin"/><Relationship Id="rId20" Type="http://schemas.openxmlformats.org/officeDocument/2006/relationships/oleObject" Target="../embeddings/oleObject64.bin"/><Relationship Id="rId1" Type="http://schemas.openxmlformats.org/officeDocument/2006/relationships/slideLayout" Target="../slideLayouts/slideLayout17.xml"/><Relationship Id="rId6" Type="http://schemas.openxmlformats.org/officeDocument/2006/relationships/oleObject" Target="../embeddings/oleObject57.bin"/><Relationship Id="rId11" Type="http://schemas.openxmlformats.org/officeDocument/2006/relationships/image" Target="../media/image156.wmf"/><Relationship Id="rId5" Type="http://schemas.openxmlformats.org/officeDocument/2006/relationships/image" Target="../media/image153.wmf"/><Relationship Id="rId15" Type="http://schemas.openxmlformats.org/officeDocument/2006/relationships/image" Target="../media/image157.wmf"/><Relationship Id="rId10" Type="http://schemas.openxmlformats.org/officeDocument/2006/relationships/oleObject" Target="../embeddings/oleObject59.bin"/><Relationship Id="rId19" Type="http://schemas.openxmlformats.org/officeDocument/2006/relationships/image" Target="../media/image159.wmf"/><Relationship Id="rId4" Type="http://schemas.openxmlformats.org/officeDocument/2006/relationships/oleObject" Target="../embeddings/oleObject56.bin"/><Relationship Id="rId9" Type="http://schemas.openxmlformats.org/officeDocument/2006/relationships/image" Target="../media/image155.wmf"/><Relationship Id="rId14" Type="http://schemas.openxmlformats.org/officeDocument/2006/relationships/oleObject" Target="../embeddings/oleObject61.bin"/></Relationships>
</file>

<file path=ppt/slides/_rels/slide43.xml.rels><?xml version="1.0" encoding="UTF-8" standalone="yes"?>
<Relationships xmlns="http://schemas.openxmlformats.org/package/2006/relationships"><Relationship Id="rId8" Type="http://schemas.openxmlformats.org/officeDocument/2006/relationships/image" Target="../media/image161.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134.wmf"/><Relationship Id="rId5" Type="http://schemas.openxmlformats.org/officeDocument/2006/relationships/oleObject" Target="../embeddings/oleObject66.bin"/><Relationship Id="rId10" Type="http://schemas.openxmlformats.org/officeDocument/2006/relationships/image" Target="../media/image162.wmf"/><Relationship Id="rId4" Type="http://schemas.openxmlformats.org/officeDocument/2006/relationships/image" Target="../media/image130.wmf"/><Relationship Id="rId9" Type="http://schemas.openxmlformats.org/officeDocument/2006/relationships/oleObject" Target="../embeddings/oleObject68.bin"/></Relationships>
</file>

<file path=ppt/slides/_rels/slide44.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17.xml"/><Relationship Id="rId4" Type="http://schemas.openxmlformats.org/officeDocument/2006/relationships/image" Target="../media/image165.png"/></Relationships>
</file>

<file path=ppt/slides/_rels/slide45.x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oleObject" Target="../embeddings/oleObject69.bin"/><Relationship Id="rId1" Type="http://schemas.openxmlformats.org/officeDocument/2006/relationships/slideLayout" Target="../slideLayouts/slideLayout17.xml"/><Relationship Id="rId5" Type="http://schemas.openxmlformats.org/officeDocument/2006/relationships/image" Target="../media/image167.wmf"/><Relationship Id="rId4" Type="http://schemas.openxmlformats.org/officeDocument/2006/relationships/oleObject" Target="../embeddings/oleObject70.bin"/></Relationships>
</file>

<file path=ppt/slides/_rels/slide46.x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oleObject" Target="../embeddings/oleObject71.bin"/><Relationship Id="rId1" Type="http://schemas.openxmlformats.org/officeDocument/2006/relationships/slideLayout" Target="../slideLayouts/slideLayout17.xml"/><Relationship Id="rId5" Type="http://schemas.openxmlformats.org/officeDocument/2006/relationships/image" Target="../media/image168.wmf"/><Relationship Id="rId4" Type="http://schemas.openxmlformats.org/officeDocument/2006/relationships/oleObject" Target="../embeddings/oleObject72.bin"/></Relationships>
</file>

<file path=ppt/slides/_rels/slide4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9D0B63-D9C1-4432-AF96-2EA7E99C0383}"/>
              </a:ext>
            </a:extLst>
          </p:cNvPr>
          <p:cNvSpPr txBox="1">
            <a:spLocks/>
          </p:cNvSpPr>
          <p:nvPr/>
        </p:nvSpPr>
        <p:spPr>
          <a:xfrm>
            <a:off x="1279045" y="2701708"/>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latin typeface="Arial Unicode MS" pitchFamily="34" charset="-122"/>
                <a:ea typeface="Arial Unicode MS" pitchFamily="34" charset="-122"/>
                <a:cs typeface="Arial Unicode MS" pitchFamily="34" charset="-122"/>
              </a:rPr>
              <a:t>Weishu</a:t>
            </a:r>
            <a:r>
              <a:rPr lang="en-US" sz="2800" b="1" dirty="0">
                <a:solidFill>
                  <a:srgbClr val="0000FF"/>
                </a:solidFill>
                <a:latin typeface="Arial Unicode MS" pitchFamily="34" charset="-122"/>
                <a:ea typeface="Arial Unicode MS" pitchFamily="34" charset="-122"/>
                <a:cs typeface="Arial Unicode MS" pitchFamily="34" charset="-122"/>
              </a:rPr>
              <a:t> </a:t>
            </a:r>
            <a:r>
              <a:rPr lang="en-US" altLang="zh-CN" sz="2800" b="1" dirty="0">
                <a:solidFill>
                  <a:srgbClr val="0000FF"/>
                </a:solidFill>
                <a:latin typeface="Arial Unicode MS" pitchFamily="34" charset="-122"/>
                <a:ea typeface="Arial Unicode MS" pitchFamily="34" charset="-122"/>
                <a:cs typeface="Arial Unicode MS" pitchFamily="34" charset="-122"/>
              </a:rPr>
              <a:t>L</a:t>
            </a:r>
            <a:r>
              <a:rPr lang="en-US" sz="2800" b="1" dirty="0">
                <a:solidFill>
                  <a:srgbClr val="0000FF"/>
                </a:solidFill>
                <a:latin typeface="Arial Unicode MS" pitchFamily="34" charset="-122"/>
                <a:ea typeface="Arial Unicode MS" pitchFamily="34" charset="-122"/>
                <a:cs typeface="Arial Unicode MS" pitchFamily="34" charset="-122"/>
              </a:rPr>
              <a:t>iu</a:t>
            </a:r>
          </a:p>
          <a:p>
            <a:pPr algn="l"/>
            <a:r>
              <a:rPr lang="en-US" sz="1800" dirty="0">
                <a:solidFill>
                  <a:schemeClr val="tx1"/>
                </a:solidFill>
                <a:latin typeface="Arial Unicode MS" pitchFamily="34" charset="-122"/>
                <a:ea typeface="Arial Unicode MS" pitchFamily="34" charset="-122"/>
                <a:cs typeface="Arial Unicode MS" pitchFamily="34" charset="-122"/>
              </a:rPr>
              <a:t>Department of Materials Science and Engineering</a:t>
            </a:r>
          </a:p>
          <a:p>
            <a:pPr algn="l"/>
            <a:r>
              <a:rPr lang="en-US" sz="1800" dirty="0">
                <a:solidFill>
                  <a:schemeClr val="tx1"/>
                </a:solidFill>
                <a:latin typeface="Arial Unicode MS" pitchFamily="34" charset="-122"/>
                <a:ea typeface="Arial Unicode MS" pitchFamily="34" charset="-122"/>
                <a:cs typeface="Arial Unicode MS" pitchFamily="34" charset="-122"/>
              </a:rPr>
              <a:t>Southern University of Science and Technology (</a:t>
            </a:r>
            <a:r>
              <a:rPr lang="en-US" sz="1800" dirty="0" err="1">
                <a:solidFill>
                  <a:schemeClr val="tx1"/>
                </a:solidFill>
                <a:latin typeface="Arial Unicode MS" pitchFamily="34" charset="-122"/>
                <a:ea typeface="Arial Unicode MS" pitchFamily="34" charset="-122"/>
                <a:cs typeface="Arial Unicode MS" pitchFamily="34" charset="-122"/>
              </a:rPr>
              <a:t>SUSTec</a:t>
            </a:r>
            <a:r>
              <a:rPr lang="en-US" altLang="zh-CN" sz="1800" dirty="0" err="1">
                <a:solidFill>
                  <a:schemeClr val="tx1"/>
                </a:solidFill>
                <a:latin typeface="Arial Unicode MS" pitchFamily="34" charset="-122"/>
                <a:ea typeface="Arial Unicode MS" pitchFamily="34" charset="-122"/>
                <a:cs typeface="Arial Unicode MS" pitchFamily="34" charset="-122"/>
              </a:rPr>
              <a:t>h</a:t>
            </a:r>
            <a:r>
              <a:rPr lang="en-US" sz="1800" dirty="0">
                <a:solidFill>
                  <a:schemeClr val="tx1"/>
                </a:solidFill>
                <a:latin typeface="Arial Unicode MS" pitchFamily="34" charset="-122"/>
                <a:ea typeface="Arial Unicode MS" pitchFamily="34" charset="-122"/>
                <a:cs typeface="Arial Unicode MS" pitchFamily="34" charset="-122"/>
              </a:rPr>
              <a:t>)</a:t>
            </a:r>
          </a:p>
          <a:p>
            <a:pPr algn="l"/>
            <a:r>
              <a:rPr lang="en-US" sz="1800" b="1" dirty="0">
                <a:solidFill>
                  <a:schemeClr val="tx1"/>
                </a:solidFill>
                <a:latin typeface="Arial Unicode MS" pitchFamily="34" charset="-122"/>
                <a:ea typeface="Arial Unicode MS" pitchFamily="34" charset="-122"/>
                <a:cs typeface="Arial Unicode MS" pitchFamily="34" charset="-122"/>
              </a:rPr>
              <a:t>Email: </a:t>
            </a:r>
            <a:r>
              <a:rPr lang="en-US" sz="1800" dirty="0">
                <a:solidFill>
                  <a:schemeClr val="tx1"/>
                </a:solidFill>
                <a:latin typeface="Arial Unicode MS" pitchFamily="34" charset="-122"/>
                <a:ea typeface="Arial Unicode MS" pitchFamily="34" charset="-122"/>
                <a:cs typeface="Arial Unicode MS" pitchFamily="34" charset="-122"/>
              </a:rPr>
              <a:t>liuws@sustech.edu.cn</a:t>
            </a:r>
          </a:p>
          <a:p>
            <a:pPr algn="l"/>
            <a:r>
              <a:rPr lang="en-US" sz="1800" b="1" dirty="0">
                <a:solidFill>
                  <a:schemeClr val="tx1"/>
                </a:solidFill>
                <a:latin typeface="Arial Unicode MS" pitchFamily="34" charset="-122"/>
                <a:ea typeface="Arial Unicode MS" pitchFamily="34" charset="-122"/>
                <a:cs typeface="Arial Unicode MS" pitchFamily="34" charset="-122"/>
              </a:rPr>
              <a:t>Office: </a:t>
            </a:r>
            <a:r>
              <a:rPr lang="en-US" altLang="zh-CN" sz="1800" dirty="0">
                <a:solidFill>
                  <a:schemeClr val="tx1"/>
                </a:solidFill>
                <a:latin typeface="Arial Unicode MS" pitchFamily="34" charset="-122"/>
                <a:ea typeface="Arial Unicode MS" pitchFamily="34" charset="-122"/>
                <a:cs typeface="Arial Unicode MS" pitchFamily="34" charset="-122"/>
              </a:rPr>
              <a:t>North Tower, Rm. 310</a:t>
            </a:r>
            <a:endParaRPr lang="en-US" sz="1800" dirty="0">
              <a:solidFill>
                <a:schemeClr val="tx1"/>
              </a:solidFill>
              <a:latin typeface="Arial Unicode MS" pitchFamily="34" charset="-122"/>
              <a:ea typeface="Arial Unicode MS" pitchFamily="34" charset="-122"/>
              <a:cs typeface="Arial Unicode MS" pitchFamily="34" charset="-122"/>
            </a:endParaRPr>
          </a:p>
        </p:txBody>
      </p:sp>
      <p:sp>
        <p:nvSpPr>
          <p:cNvPr id="6" name="文本框 5">
            <a:extLst>
              <a:ext uri="{FF2B5EF4-FFF2-40B4-BE49-F238E27FC236}">
                <a16:creationId xmlns:a16="http://schemas.microsoft.com/office/drawing/2014/main" id="{201B1E1D-7C41-4F56-BF1E-96200593BAF0}"/>
              </a:ext>
            </a:extLst>
          </p:cNvPr>
          <p:cNvSpPr txBox="1"/>
          <p:nvPr/>
        </p:nvSpPr>
        <p:spPr>
          <a:xfrm>
            <a:off x="1279046" y="1220254"/>
            <a:ext cx="7433153" cy="584775"/>
          </a:xfrm>
          <a:prstGeom prst="rect">
            <a:avLst/>
          </a:prstGeom>
          <a:noFill/>
        </p:spPr>
        <p:txBody>
          <a:bodyPr wrap="square" rtlCol="0">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Lecture 10: State of Function</a:t>
            </a:r>
          </a:p>
        </p:txBody>
      </p:sp>
      <p:sp>
        <p:nvSpPr>
          <p:cNvPr id="7" name="矩形 6"/>
          <p:cNvSpPr/>
          <p:nvPr/>
        </p:nvSpPr>
        <p:spPr>
          <a:xfrm>
            <a:off x="2550929" y="0"/>
            <a:ext cx="6593071" cy="95410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5024:  </a:t>
            </a:r>
            <a:r>
              <a:rPr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高等热力学和动力学</a:t>
            </a:r>
            <a:endPar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Advanced Thermodynamics and Kinetics</a:t>
            </a:r>
          </a:p>
        </p:txBody>
      </p:sp>
    </p:spTree>
    <p:extLst>
      <p:ext uri="{BB962C8B-B14F-4D97-AF65-F5344CB8AC3E}">
        <p14:creationId xmlns:p14="http://schemas.microsoft.com/office/powerpoint/2010/main" val="2306106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8395" y="3541776"/>
            <a:ext cx="3613297" cy="461665"/>
          </a:xfrm>
          <a:prstGeom prst="rect">
            <a:avLst/>
          </a:prstGeom>
        </p:spPr>
        <p:txBody>
          <a:bodyPr wrap="none">
            <a:spAutoFit/>
          </a:bodyPr>
          <a:lstStyle/>
          <a:p>
            <a:r>
              <a:rPr lang="en-US" altLang="zh-CN" sz="2400" b="1" dirty="0">
                <a:solidFill>
                  <a:srgbClr val="FF0000"/>
                </a:solidFill>
                <a:effectLst>
                  <a:outerShdw blurRad="38100" dist="38100" dir="2700000" algn="tl">
                    <a:srgbClr val="000000">
                      <a:alpha val="43137"/>
                    </a:srgbClr>
                  </a:outerShdw>
                </a:effectLst>
                <a:latin typeface="Times New Roman" pitchFamily="18" charset="0"/>
                <a:ea typeface="华文楷体" panose="02010600040101010101" pitchFamily="2" charset="-122"/>
                <a:cs typeface="Times New Roman" panose="02020603050405020304" pitchFamily="18" charset="0"/>
              </a:rPr>
              <a:t>25. </a:t>
            </a:r>
            <a:r>
              <a:rPr lang="en-US" altLang="zh-CN" sz="2400" dirty="0">
                <a:solidFill>
                  <a:srgbClr val="FF0000"/>
                </a:solidFill>
              </a:rPr>
              <a:t>Water Phase diagram</a:t>
            </a:r>
            <a:endParaRPr lang="zh-CN" altLang="en-US" sz="2400" dirty="0">
              <a:solidFill>
                <a:srgbClr val="FF0000"/>
              </a:solidFill>
            </a:endParaRPr>
          </a:p>
        </p:txBody>
      </p:sp>
      <p:sp>
        <p:nvSpPr>
          <p:cNvPr id="9" name="矩形 8"/>
          <p:cNvSpPr/>
          <p:nvPr/>
        </p:nvSpPr>
        <p:spPr>
          <a:xfrm>
            <a:off x="1004971" y="4386441"/>
            <a:ext cx="4572000" cy="646331"/>
          </a:xfrm>
          <a:prstGeom prst="rect">
            <a:avLst/>
          </a:prstGeom>
        </p:spPr>
        <p:txBody>
          <a:bodyPr>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Ref.  Introduction of Thermodynamics of Materials, D. R. Gaskell, Chapter 7 </a:t>
            </a:r>
          </a:p>
        </p:txBody>
      </p:sp>
    </p:spTree>
    <p:extLst>
      <p:ext uri="{BB962C8B-B14F-4D97-AF65-F5344CB8AC3E}">
        <p14:creationId xmlns:p14="http://schemas.microsoft.com/office/powerpoint/2010/main" val="130751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105032" y="105567"/>
            <a:ext cx="3749231" cy="523220"/>
          </a:xfrm>
          <a:prstGeom prst="rect">
            <a:avLst/>
          </a:prstGeom>
          <a:noFill/>
        </p:spPr>
        <p:txBody>
          <a:bodyPr wrap="none" rtlCol="0">
            <a:spAutoFit/>
          </a:bodyPr>
          <a:lstStyle/>
          <a:p>
            <a:r>
              <a:rPr lang="en-US" altLang="zh-CN" sz="2800" dirty="0">
                <a:solidFill>
                  <a:srgbClr val="FF0000"/>
                </a:solidFill>
              </a:rPr>
              <a:t>Water Phase diagram</a:t>
            </a:r>
            <a:endParaRPr lang="zh-CN" altLang="en-US" sz="2800" dirty="0">
              <a:solidFill>
                <a:srgbClr val="FF0000"/>
              </a:solidFill>
            </a:endParaRPr>
          </a:p>
        </p:txBody>
      </p:sp>
      <p:pic>
        <p:nvPicPr>
          <p:cNvPr id="10" name="image717.png"/>
          <p:cNvPicPr/>
          <p:nvPr/>
        </p:nvPicPr>
        <p:blipFill>
          <a:blip r:embed="rId3" cstate="print"/>
          <a:stretch>
            <a:fillRect/>
          </a:stretch>
        </p:blipFill>
        <p:spPr>
          <a:xfrm>
            <a:off x="4876800" y="1600200"/>
            <a:ext cx="3810000" cy="3190875"/>
          </a:xfrm>
          <a:prstGeom prst="rect">
            <a:avLst/>
          </a:prstGeom>
        </p:spPr>
      </p:pic>
      <p:sp>
        <p:nvSpPr>
          <p:cNvPr id="11" name="矩形 10"/>
          <p:cNvSpPr/>
          <p:nvPr/>
        </p:nvSpPr>
        <p:spPr>
          <a:xfrm>
            <a:off x="5257800" y="4791075"/>
            <a:ext cx="3429000" cy="646331"/>
          </a:xfrm>
          <a:prstGeom prst="rect">
            <a:avLst/>
          </a:prstGeom>
        </p:spPr>
        <p:txBody>
          <a:bodyPr wrap="square">
            <a:spAutoFit/>
          </a:bodyPr>
          <a:lstStyle/>
          <a:p>
            <a:r>
              <a:rPr lang="en-US" altLang="zh-CN" dirty="0"/>
              <a:t>Schematic representation of part of the phase diagram for H</a:t>
            </a:r>
            <a:r>
              <a:rPr lang="en-US" altLang="zh-CN" baseline="-25000" dirty="0"/>
              <a:t>2</a:t>
            </a:r>
            <a:r>
              <a:rPr lang="en-US" altLang="zh-CN" dirty="0"/>
              <a:t>O</a:t>
            </a:r>
            <a:endParaRPr lang="zh-CN" altLang="en-US" dirty="0"/>
          </a:p>
        </p:txBody>
      </p:sp>
      <p:sp>
        <p:nvSpPr>
          <p:cNvPr id="12" name="TextBox 11"/>
          <p:cNvSpPr txBox="1"/>
          <p:nvPr/>
        </p:nvSpPr>
        <p:spPr>
          <a:xfrm>
            <a:off x="381000" y="1600200"/>
            <a:ext cx="3831883" cy="400110"/>
          </a:xfrm>
          <a:prstGeom prst="rect">
            <a:avLst/>
          </a:prstGeom>
          <a:noFill/>
        </p:spPr>
        <p:txBody>
          <a:bodyPr wrap="none" rtlCol="0">
            <a:spAutoFit/>
          </a:bodyPr>
          <a:lstStyle/>
          <a:p>
            <a:r>
              <a:rPr lang="en-US" altLang="zh-CN" sz="2000" b="1" dirty="0">
                <a:solidFill>
                  <a:srgbClr val="0000FF"/>
                </a:solidFill>
              </a:rPr>
              <a:t>AOA’: Solid-Liquid equilibrium line</a:t>
            </a:r>
          </a:p>
        </p:txBody>
      </p:sp>
      <p:cxnSp>
        <p:nvCxnSpPr>
          <p:cNvPr id="14" name="直接连接符 13"/>
          <p:cNvCxnSpPr/>
          <p:nvPr/>
        </p:nvCxnSpPr>
        <p:spPr>
          <a:xfrm>
            <a:off x="6629400" y="1600200"/>
            <a:ext cx="154172" cy="1993605"/>
          </a:xfrm>
          <a:prstGeom prst="line">
            <a:avLst/>
          </a:prstGeom>
          <a:ln w="57150">
            <a:solidFill>
              <a:srgbClr val="0000FF">
                <a:alpha val="47843"/>
              </a:srgbClr>
            </a:solidFill>
          </a:ln>
        </p:spPr>
        <p:style>
          <a:lnRef idx="1">
            <a:schemeClr val="accent1"/>
          </a:lnRef>
          <a:fillRef idx="0">
            <a:schemeClr val="accent1"/>
          </a:fillRef>
          <a:effectRef idx="0">
            <a:schemeClr val="accent1"/>
          </a:effectRef>
          <a:fontRef idx="minor">
            <a:schemeClr val="tx1"/>
          </a:fontRef>
        </p:style>
      </p:cxnSp>
      <p:pic>
        <p:nvPicPr>
          <p:cNvPr id="18" name="image691.png"/>
          <p:cNvPicPr/>
          <p:nvPr/>
        </p:nvPicPr>
        <p:blipFill>
          <a:blip r:embed="rId4" cstate="print"/>
          <a:stretch>
            <a:fillRect/>
          </a:stretch>
        </p:blipFill>
        <p:spPr>
          <a:xfrm>
            <a:off x="2206790" y="1985481"/>
            <a:ext cx="1573160" cy="639726"/>
          </a:xfrm>
          <a:prstGeom prst="rect">
            <a:avLst/>
          </a:prstGeom>
        </p:spPr>
      </p:pic>
      <p:sp>
        <p:nvSpPr>
          <p:cNvPr id="19" name="矩形 18"/>
          <p:cNvSpPr/>
          <p:nvPr/>
        </p:nvSpPr>
        <p:spPr>
          <a:xfrm>
            <a:off x="304800" y="2057400"/>
            <a:ext cx="1500604" cy="369332"/>
          </a:xfrm>
          <a:prstGeom prst="rect">
            <a:avLst/>
          </a:prstGeom>
        </p:spPr>
        <p:txBody>
          <a:bodyPr wrap="none">
            <a:spAutoFit/>
          </a:bodyPr>
          <a:lstStyle/>
          <a:p>
            <a:r>
              <a:rPr lang="en-US" altLang="zh-CN" i="1" dirty="0" err="1"/>
              <a:t>Clapeyron</a:t>
            </a:r>
            <a:r>
              <a:rPr lang="en-US" altLang="zh-CN" i="1" dirty="0"/>
              <a:t> eq.</a:t>
            </a:r>
            <a:endParaRPr lang="zh-CN" altLang="en-US" i="1" dirty="0"/>
          </a:p>
        </p:txBody>
      </p:sp>
      <p:pic>
        <p:nvPicPr>
          <p:cNvPr id="2150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390" y="2644237"/>
            <a:ext cx="2010339" cy="45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20"/>
          <p:cNvSpPr txBox="1"/>
          <p:nvPr/>
        </p:nvSpPr>
        <p:spPr>
          <a:xfrm>
            <a:off x="485863" y="3233333"/>
            <a:ext cx="3917483" cy="400110"/>
          </a:xfrm>
          <a:prstGeom prst="rect">
            <a:avLst/>
          </a:prstGeom>
          <a:noFill/>
        </p:spPr>
        <p:txBody>
          <a:bodyPr wrap="none" rtlCol="0">
            <a:spAutoFit/>
          </a:bodyPr>
          <a:lstStyle/>
          <a:p>
            <a:r>
              <a:rPr lang="en-US" altLang="zh-CN" sz="2000" b="1" dirty="0">
                <a:solidFill>
                  <a:srgbClr val="00B050"/>
                </a:solidFill>
              </a:rPr>
              <a:t>BOB’: Liquid-vapor equilibrium line</a:t>
            </a:r>
          </a:p>
        </p:txBody>
      </p:sp>
      <p:sp>
        <p:nvSpPr>
          <p:cNvPr id="20" name="任意多边形 19"/>
          <p:cNvSpPr/>
          <p:nvPr/>
        </p:nvSpPr>
        <p:spPr>
          <a:xfrm>
            <a:off x="6411433" y="2147777"/>
            <a:ext cx="2094614" cy="1169581"/>
          </a:xfrm>
          <a:custGeom>
            <a:avLst/>
            <a:gdLst>
              <a:gd name="connsiteX0" fmla="*/ 0 w 2094614"/>
              <a:gd name="connsiteY0" fmla="*/ 1169581 h 1169581"/>
              <a:gd name="connsiteX1" fmla="*/ 1020725 w 2094614"/>
              <a:gd name="connsiteY1" fmla="*/ 935665 h 1169581"/>
              <a:gd name="connsiteX2" fmla="*/ 1605516 w 2094614"/>
              <a:gd name="connsiteY2" fmla="*/ 574158 h 1169581"/>
              <a:gd name="connsiteX3" fmla="*/ 2094614 w 2094614"/>
              <a:gd name="connsiteY3" fmla="*/ 0 h 1169581"/>
            </a:gdLst>
            <a:ahLst/>
            <a:cxnLst>
              <a:cxn ang="0">
                <a:pos x="connsiteX0" y="connsiteY0"/>
              </a:cxn>
              <a:cxn ang="0">
                <a:pos x="connsiteX1" y="connsiteY1"/>
              </a:cxn>
              <a:cxn ang="0">
                <a:pos x="connsiteX2" y="connsiteY2"/>
              </a:cxn>
              <a:cxn ang="0">
                <a:pos x="connsiteX3" y="connsiteY3"/>
              </a:cxn>
            </a:cxnLst>
            <a:rect l="l" t="t" r="r" b="b"/>
            <a:pathLst>
              <a:path w="2094614" h="1169581">
                <a:moveTo>
                  <a:pt x="0" y="1169581"/>
                </a:moveTo>
                <a:cubicBezTo>
                  <a:pt x="376569" y="1102241"/>
                  <a:pt x="753139" y="1034902"/>
                  <a:pt x="1020725" y="935665"/>
                </a:cubicBezTo>
                <a:cubicBezTo>
                  <a:pt x="1288311" y="836428"/>
                  <a:pt x="1426535" y="730102"/>
                  <a:pt x="1605516" y="574158"/>
                </a:cubicBezTo>
                <a:cubicBezTo>
                  <a:pt x="1784498" y="418214"/>
                  <a:pt x="1991833" y="141767"/>
                  <a:pt x="2094614" y="0"/>
                </a:cubicBezTo>
              </a:path>
            </a:pathLst>
          </a:custGeom>
          <a:noFill/>
          <a:ln w="57150">
            <a:solidFill>
              <a:srgbClr val="00B050">
                <a:alpha val="4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image708.png"/>
          <p:cNvPicPr/>
          <p:nvPr/>
        </p:nvPicPr>
        <p:blipFill>
          <a:blip r:embed="rId6" cstate="print"/>
          <a:stretch>
            <a:fillRect/>
          </a:stretch>
        </p:blipFill>
        <p:spPr>
          <a:xfrm>
            <a:off x="2789538" y="3657600"/>
            <a:ext cx="1613808" cy="533400"/>
          </a:xfrm>
          <a:prstGeom prst="rect">
            <a:avLst/>
          </a:prstGeom>
        </p:spPr>
      </p:pic>
      <p:sp>
        <p:nvSpPr>
          <p:cNvPr id="24" name="矩形 23"/>
          <p:cNvSpPr/>
          <p:nvPr/>
        </p:nvSpPr>
        <p:spPr>
          <a:xfrm>
            <a:off x="228600" y="3745468"/>
            <a:ext cx="2348592" cy="369332"/>
          </a:xfrm>
          <a:prstGeom prst="rect">
            <a:avLst/>
          </a:prstGeom>
        </p:spPr>
        <p:txBody>
          <a:bodyPr wrap="none">
            <a:spAutoFit/>
          </a:bodyPr>
          <a:lstStyle/>
          <a:p>
            <a:r>
              <a:rPr lang="en-US" altLang="zh-CN" i="1" dirty="0" err="1"/>
              <a:t>Clausius-Clapeyron</a:t>
            </a:r>
            <a:r>
              <a:rPr lang="en-US" altLang="zh-CN" i="1" dirty="0"/>
              <a:t> eq.</a:t>
            </a:r>
            <a:endParaRPr lang="zh-CN" altLang="en-US" i="1" dirty="0"/>
          </a:p>
        </p:txBody>
      </p:sp>
      <p:sp>
        <p:nvSpPr>
          <p:cNvPr id="22" name="TextBox 21"/>
          <p:cNvSpPr txBox="1"/>
          <p:nvPr/>
        </p:nvSpPr>
        <p:spPr>
          <a:xfrm>
            <a:off x="5333999" y="5593093"/>
            <a:ext cx="3699889" cy="584775"/>
          </a:xfrm>
          <a:prstGeom prst="rect">
            <a:avLst/>
          </a:prstGeom>
          <a:noFill/>
        </p:spPr>
        <p:txBody>
          <a:bodyPr wrap="square" rtlCol="0">
            <a:spAutoFit/>
          </a:bodyPr>
          <a:lstStyle/>
          <a:p>
            <a:r>
              <a:rPr lang="en-US" altLang="zh-CN" sz="1600" b="1" dirty="0"/>
              <a:t>triple point O</a:t>
            </a:r>
            <a:r>
              <a:rPr lang="en-US" altLang="zh-CN" sz="1600" dirty="0"/>
              <a:t>: Solid, Liquid, Vapor are in equilibrium each other.</a:t>
            </a:r>
            <a:endParaRPr lang="zh-CN" altLang="en-US" sz="1600" dirty="0"/>
          </a:p>
        </p:txBody>
      </p:sp>
      <p:sp>
        <p:nvSpPr>
          <p:cNvPr id="26" name="TextBox 25"/>
          <p:cNvSpPr txBox="1"/>
          <p:nvPr/>
        </p:nvSpPr>
        <p:spPr>
          <a:xfrm>
            <a:off x="504009" y="4421743"/>
            <a:ext cx="3802388" cy="400110"/>
          </a:xfrm>
          <a:prstGeom prst="rect">
            <a:avLst/>
          </a:prstGeom>
          <a:noFill/>
        </p:spPr>
        <p:txBody>
          <a:bodyPr wrap="none" rtlCol="0">
            <a:spAutoFit/>
          </a:bodyPr>
          <a:lstStyle/>
          <a:p>
            <a:r>
              <a:rPr lang="en-US" altLang="zh-CN" sz="2000" b="1" dirty="0">
                <a:solidFill>
                  <a:srgbClr val="FF0000"/>
                </a:solidFill>
              </a:rPr>
              <a:t>COC’: Solid-Vapor equilibrium line</a:t>
            </a:r>
          </a:p>
        </p:txBody>
      </p:sp>
      <p:sp>
        <p:nvSpPr>
          <p:cNvPr id="27" name="矩形 26"/>
          <p:cNvSpPr/>
          <p:nvPr/>
        </p:nvSpPr>
        <p:spPr>
          <a:xfrm>
            <a:off x="205337" y="4929574"/>
            <a:ext cx="2348592" cy="369332"/>
          </a:xfrm>
          <a:prstGeom prst="rect">
            <a:avLst/>
          </a:prstGeom>
        </p:spPr>
        <p:txBody>
          <a:bodyPr wrap="none">
            <a:spAutoFit/>
          </a:bodyPr>
          <a:lstStyle/>
          <a:p>
            <a:r>
              <a:rPr lang="en-US" altLang="zh-CN" i="1" dirty="0" err="1"/>
              <a:t>Clausius-Clapeyron</a:t>
            </a:r>
            <a:r>
              <a:rPr lang="en-US" altLang="zh-CN" i="1" dirty="0"/>
              <a:t> eq.</a:t>
            </a:r>
            <a:endParaRPr lang="zh-CN" altLang="en-US" i="1" dirty="0"/>
          </a:p>
        </p:txBody>
      </p:sp>
      <p:graphicFrame>
        <p:nvGraphicFramePr>
          <p:cNvPr id="25" name="对象 24"/>
          <p:cNvGraphicFramePr>
            <a:graphicFrameLocks noChangeAspect="1"/>
          </p:cNvGraphicFramePr>
          <p:nvPr>
            <p:extLst>
              <p:ext uri="{D42A27DB-BD31-4B8C-83A1-F6EECF244321}">
                <p14:modId xmlns:p14="http://schemas.microsoft.com/office/powerpoint/2010/main" val="1563918597"/>
              </p:ext>
            </p:extLst>
          </p:nvPr>
        </p:nvGraphicFramePr>
        <p:xfrm>
          <a:off x="2577192" y="4876800"/>
          <a:ext cx="1643922" cy="520016"/>
        </p:xfrm>
        <a:graphic>
          <a:graphicData uri="http://schemas.openxmlformats.org/presentationml/2006/ole">
            <mc:AlternateContent xmlns:mc="http://schemas.openxmlformats.org/markup-compatibility/2006">
              <mc:Choice xmlns:v="urn:schemas-microsoft-com:vml" Requires="v">
                <p:oleObj name="Equation" r:id="rId7" imgW="1244520" imgH="393480" progId="Equation.DSMT4">
                  <p:embed/>
                </p:oleObj>
              </mc:Choice>
              <mc:Fallback>
                <p:oleObj name="Equation" r:id="rId7" imgW="1244520" imgH="393480" progId="Equation.DSMT4">
                  <p:embed/>
                  <p:pic>
                    <p:nvPicPr>
                      <p:cNvPr id="0" name=""/>
                      <p:cNvPicPr/>
                      <p:nvPr/>
                    </p:nvPicPr>
                    <p:blipFill>
                      <a:blip r:embed="rId8"/>
                      <a:stretch>
                        <a:fillRect/>
                      </a:stretch>
                    </p:blipFill>
                    <p:spPr>
                      <a:xfrm>
                        <a:off x="2577192" y="4876800"/>
                        <a:ext cx="1643922" cy="520016"/>
                      </a:xfrm>
                      <a:prstGeom prst="rect">
                        <a:avLst/>
                      </a:prstGeom>
                    </p:spPr>
                  </p:pic>
                </p:oleObj>
              </mc:Fallback>
            </mc:AlternateContent>
          </a:graphicData>
        </a:graphic>
      </p:graphicFrame>
      <p:sp>
        <p:nvSpPr>
          <p:cNvPr id="28" name="TextBox 27"/>
          <p:cNvSpPr txBox="1"/>
          <p:nvPr/>
        </p:nvSpPr>
        <p:spPr>
          <a:xfrm>
            <a:off x="5227739" y="6248400"/>
            <a:ext cx="3096745" cy="338554"/>
          </a:xfrm>
          <a:prstGeom prst="rect">
            <a:avLst/>
          </a:prstGeom>
          <a:noFill/>
        </p:spPr>
        <p:txBody>
          <a:bodyPr wrap="none" rtlCol="0">
            <a:spAutoFit/>
          </a:bodyPr>
          <a:lstStyle/>
          <a:p>
            <a:r>
              <a:rPr lang="en-US" altLang="zh-CN" sz="1600" b="1" dirty="0"/>
              <a:t>Metastable state</a:t>
            </a:r>
            <a:r>
              <a:rPr lang="en-US" altLang="zh-CN" sz="1600" dirty="0"/>
              <a:t>: OA’, OB’ and OC’</a:t>
            </a:r>
            <a:endParaRPr lang="zh-CN" altLang="en-US" sz="1600" dirty="0"/>
          </a:p>
        </p:txBody>
      </p:sp>
      <p:sp>
        <p:nvSpPr>
          <p:cNvPr id="29" name="任意多边形 28"/>
          <p:cNvSpPr/>
          <p:nvPr/>
        </p:nvSpPr>
        <p:spPr>
          <a:xfrm>
            <a:off x="5369442" y="3040912"/>
            <a:ext cx="1552353" cy="1244009"/>
          </a:xfrm>
          <a:custGeom>
            <a:avLst/>
            <a:gdLst>
              <a:gd name="connsiteX0" fmla="*/ 0 w 1552353"/>
              <a:gd name="connsiteY0" fmla="*/ 1244009 h 1244009"/>
              <a:gd name="connsiteX1" fmla="*/ 616688 w 1552353"/>
              <a:gd name="connsiteY1" fmla="*/ 978195 h 1244009"/>
              <a:gd name="connsiteX2" fmla="*/ 1233377 w 1552353"/>
              <a:gd name="connsiteY2" fmla="*/ 414669 h 1244009"/>
              <a:gd name="connsiteX3" fmla="*/ 1552353 w 1552353"/>
              <a:gd name="connsiteY3" fmla="*/ 0 h 1244009"/>
            </a:gdLst>
            <a:ahLst/>
            <a:cxnLst>
              <a:cxn ang="0">
                <a:pos x="connsiteX0" y="connsiteY0"/>
              </a:cxn>
              <a:cxn ang="0">
                <a:pos x="connsiteX1" y="connsiteY1"/>
              </a:cxn>
              <a:cxn ang="0">
                <a:pos x="connsiteX2" y="connsiteY2"/>
              </a:cxn>
              <a:cxn ang="0">
                <a:pos x="connsiteX3" y="connsiteY3"/>
              </a:cxn>
            </a:cxnLst>
            <a:rect l="l" t="t" r="r" b="b"/>
            <a:pathLst>
              <a:path w="1552353" h="1244009">
                <a:moveTo>
                  <a:pt x="0" y="1244009"/>
                </a:moveTo>
                <a:cubicBezTo>
                  <a:pt x="205562" y="1180213"/>
                  <a:pt x="411125" y="1116418"/>
                  <a:pt x="616688" y="978195"/>
                </a:cubicBezTo>
                <a:cubicBezTo>
                  <a:pt x="822251" y="839972"/>
                  <a:pt x="1077433" y="577701"/>
                  <a:pt x="1233377" y="414669"/>
                </a:cubicBezTo>
                <a:cubicBezTo>
                  <a:pt x="1389321" y="251637"/>
                  <a:pt x="1470837" y="125818"/>
                  <a:pt x="1552353"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75057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bwMode="auto">
          <a:xfrm>
            <a:off x="926718" y="0"/>
            <a:ext cx="7083425" cy="85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b="1" dirty="0" err="1">
                <a:solidFill>
                  <a:srgbClr val="FF0000"/>
                </a:solidFill>
              </a:rPr>
              <a:t>Clapeyron</a:t>
            </a:r>
            <a:r>
              <a:rPr lang="en-US" altLang="zh-CN" sz="2800" b="1" dirty="0">
                <a:solidFill>
                  <a:srgbClr val="FF0000"/>
                </a:solidFill>
              </a:rPr>
              <a:t> equation: </a:t>
            </a:r>
          </a:p>
          <a:p>
            <a:r>
              <a:rPr lang="en-US" altLang="zh-CN" sz="2800" b="1" dirty="0">
                <a:solidFill>
                  <a:srgbClr val="FF0000"/>
                </a:solidFill>
              </a:rPr>
              <a:t>S-L equilibrium</a:t>
            </a:r>
            <a:endParaRPr lang="en-US" altLang="zh-CN" sz="2800" dirty="0">
              <a:solidFill>
                <a:srgbClr val="FF0000"/>
              </a:solidFill>
            </a:endParaRPr>
          </a:p>
        </p:txBody>
      </p:sp>
      <p:sp>
        <p:nvSpPr>
          <p:cNvPr id="10" name="TextBox 9"/>
          <p:cNvSpPr txBox="1"/>
          <p:nvPr/>
        </p:nvSpPr>
        <p:spPr>
          <a:xfrm>
            <a:off x="238367" y="1234133"/>
            <a:ext cx="4552465" cy="369332"/>
          </a:xfrm>
          <a:prstGeom prst="rect">
            <a:avLst/>
          </a:prstGeom>
          <a:noFill/>
        </p:spPr>
        <p:txBody>
          <a:bodyPr wrap="none" rtlCol="0">
            <a:spAutoFit/>
          </a:bodyPr>
          <a:lstStyle/>
          <a:p>
            <a:r>
              <a:rPr lang="en-US" altLang="zh-CN" dirty="0"/>
              <a:t>The condition for the Solid-Liquid equilibrium </a:t>
            </a:r>
            <a:endParaRPr lang="zh-CN" altLang="en-US" dirty="0"/>
          </a:p>
        </p:txBody>
      </p:sp>
      <p:graphicFrame>
        <p:nvGraphicFramePr>
          <p:cNvPr id="12" name="对象 11"/>
          <p:cNvGraphicFramePr>
            <a:graphicFrameLocks noChangeAspect="1"/>
          </p:cNvGraphicFramePr>
          <p:nvPr>
            <p:extLst>
              <p:ext uri="{D42A27DB-BD31-4B8C-83A1-F6EECF244321}">
                <p14:modId xmlns:p14="http://schemas.microsoft.com/office/powerpoint/2010/main" val="1766653246"/>
              </p:ext>
            </p:extLst>
          </p:nvPr>
        </p:nvGraphicFramePr>
        <p:xfrm>
          <a:off x="466967" y="1697736"/>
          <a:ext cx="1206500" cy="762000"/>
        </p:xfrm>
        <a:graphic>
          <a:graphicData uri="http://schemas.openxmlformats.org/presentationml/2006/ole">
            <mc:AlternateContent xmlns:mc="http://schemas.openxmlformats.org/markup-compatibility/2006">
              <mc:Choice xmlns:v="urn:schemas-microsoft-com:vml" Requires="v">
                <p:oleObj name="Equation" r:id="rId2" imgW="723600" imgH="457200" progId="Equation.DSMT4">
                  <p:embed/>
                </p:oleObj>
              </mc:Choice>
              <mc:Fallback>
                <p:oleObj name="Equation" r:id="rId2" imgW="723600" imgH="457200" progId="Equation.DSMT4">
                  <p:embed/>
                  <p:pic>
                    <p:nvPicPr>
                      <p:cNvPr id="0" name=""/>
                      <p:cNvPicPr/>
                      <p:nvPr/>
                    </p:nvPicPr>
                    <p:blipFill>
                      <a:blip r:embed="rId3"/>
                      <a:stretch>
                        <a:fillRect/>
                      </a:stretch>
                    </p:blipFill>
                    <p:spPr>
                      <a:xfrm>
                        <a:off x="466967" y="1697736"/>
                        <a:ext cx="1206500" cy="76200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008328768"/>
              </p:ext>
            </p:extLst>
          </p:nvPr>
        </p:nvGraphicFramePr>
        <p:xfrm>
          <a:off x="1892039" y="1663617"/>
          <a:ext cx="2286000" cy="762000"/>
        </p:xfrm>
        <a:graphic>
          <a:graphicData uri="http://schemas.openxmlformats.org/presentationml/2006/ole">
            <mc:AlternateContent xmlns:mc="http://schemas.openxmlformats.org/markup-compatibility/2006">
              <mc:Choice xmlns:v="urn:schemas-microsoft-com:vml" Requires="v">
                <p:oleObj name="Equation" r:id="rId4" imgW="1371600" imgH="457200" progId="Equation.DSMT4">
                  <p:embed/>
                </p:oleObj>
              </mc:Choice>
              <mc:Fallback>
                <p:oleObj name="Equation" r:id="rId4" imgW="1371600" imgH="457200" progId="Equation.DSMT4">
                  <p:embed/>
                  <p:pic>
                    <p:nvPicPr>
                      <p:cNvPr id="0" name=""/>
                      <p:cNvPicPr>
                        <a:picLocks noChangeAspect="1" noChangeArrowheads="1"/>
                      </p:cNvPicPr>
                      <p:nvPr/>
                    </p:nvPicPr>
                    <p:blipFill>
                      <a:blip r:embed="rId5"/>
                      <a:srcRect/>
                      <a:stretch>
                        <a:fillRect/>
                      </a:stretch>
                    </p:blipFill>
                    <p:spPr bwMode="auto">
                      <a:xfrm>
                        <a:off x="1892039" y="1663617"/>
                        <a:ext cx="2286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826907199"/>
              </p:ext>
            </p:extLst>
          </p:nvPr>
        </p:nvGraphicFramePr>
        <p:xfrm>
          <a:off x="516179" y="2774061"/>
          <a:ext cx="3343275" cy="1819275"/>
        </p:xfrm>
        <a:graphic>
          <a:graphicData uri="http://schemas.openxmlformats.org/presentationml/2006/ole">
            <mc:AlternateContent xmlns:mc="http://schemas.openxmlformats.org/markup-compatibility/2006">
              <mc:Choice xmlns:v="urn:schemas-microsoft-com:vml" Requires="v">
                <p:oleObj name="Equation" r:id="rId6" imgW="2006280" imgH="1091880" progId="Equation.DSMT4">
                  <p:embed/>
                </p:oleObj>
              </mc:Choice>
              <mc:Fallback>
                <p:oleObj name="Equation" r:id="rId6" imgW="2006280" imgH="1091880" progId="Equation.DSMT4">
                  <p:embed/>
                  <p:pic>
                    <p:nvPicPr>
                      <p:cNvPr id="0" name=""/>
                      <p:cNvPicPr>
                        <a:picLocks noChangeAspect="1" noChangeArrowheads="1"/>
                      </p:cNvPicPr>
                      <p:nvPr/>
                    </p:nvPicPr>
                    <p:blipFill>
                      <a:blip r:embed="rId7"/>
                      <a:srcRect/>
                      <a:stretch>
                        <a:fillRect/>
                      </a:stretch>
                    </p:blipFill>
                    <p:spPr bwMode="auto">
                      <a:xfrm>
                        <a:off x="516179" y="2774061"/>
                        <a:ext cx="3343275" cy="1819275"/>
                      </a:xfrm>
                      <a:prstGeom prst="rect">
                        <a:avLst/>
                      </a:prstGeom>
                      <a:noFill/>
                      <a:ln>
                        <a:solidFill>
                          <a:srgbClr val="FF0000"/>
                        </a:solidFill>
                      </a:ln>
                    </p:spPr>
                  </p:pic>
                </p:oleObj>
              </mc:Fallback>
            </mc:AlternateContent>
          </a:graphicData>
        </a:graphic>
      </p:graphicFrame>
      <p:sp>
        <p:nvSpPr>
          <p:cNvPr id="15" name="TextBox 14"/>
          <p:cNvSpPr txBox="1"/>
          <p:nvPr/>
        </p:nvSpPr>
        <p:spPr>
          <a:xfrm>
            <a:off x="4842353" y="1234975"/>
            <a:ext cx="1503938" cy="369332"/>
          </a:xfrm>
          <a:prstGeom prst="rect">
            <a:avLst/>
          </a:prstGeom>
          <a:noFill/>
        </p:spPr>
        <p:txBody>
          <a:bodyPr wrap="none" rtlCol="0">
            <a:spAutoFit/>
          </a:bodyPr>
          <a:lstStyle/>
          <a:p>
            <a:r>
              <a:rPr lang="el-GR" altLang="zh-CN" dirty="0">
                <a:latin typeface="Times New Roman"/>
                <a:cs typeface="Times New Roman"/>
              </a:rPr>
              <a:t>Δ</a:t>
            </a:r>
            <a:r>
              <a:rPr lang="en-US" altLang="zh-CN" dirty="0">
                <a:latin typeface="Times New Roman"/>
                <a:cs typeface="Times New Roman"/>
              </a:rPr>
              <a:t>G=G</a:t>
            </a:r>
            <a:r>
              <a:rPr lang="en-US" altLang="zh-CN" baseline="30000" dirty="0">
                <a:latin typeface="Times New Roman"/>
                <a:cs typeface="Times New Roman"/>
              </a:rPr>
              <a:t>S</a:t>
            </a:r>
            <a:r>
              <a:rPr lang="en-US" altLang="zh-CN" dirty="0">
                <a:latin typeface="Times New Roman"/>
                <a:cs typeface="Times New Roman"/>
              </a:rPr>
              <a:t>–G</a:t>
            </a:r>
            <a:r>
              <a:rPr lang="en-US" altLang="zh-CN" baseline="30000" dirty="0">
                <a:latin typeface="Times New Roman"/>
                <a:cs typeface="Times New Roman"/>
              </a:rPr>
              <a:t>L</a:t>
            </a:r>
            <a:r>
              <a:rPr lang="en-US" altLang="zh-CN" dirty="0">
                <a:latin typeface="Times New Roman"/>
                <a:cs typeface="Times New Roman"/>
              </a:rPr>
              <a:t>=0</a:t>
            </a:r>
            <a:endParaRPr lang="zh-CN" altLang="en-US" dirty="0"/>
          </a:p>
        </p:txBody>
      </p:sp>
      <p:graphicFrame>
        <p:nvGraphicFramePr>
          <p:cNvPr id="19" name="对象 18"/>
          <p:cNvGraphicFramePr>
            <a:graphicFrameLocks noChangeAspect="1"/>
          </p:cNvGraphicFramePr>
          <p:nvPr>
            <p:extLst>
              <p:ext uri="{D42A27DB-BD31-4B8C-83A1-F6EECF244321}">
                <p14:modId xmlns:p14="http://schemas.microsoft.com/office/powerpoint/2010/main" val="1486269992"/>
              </p:ext>
            </p:extLst>
          </p:nvPr>
        </p:nvGraphicFramePr>
        <p:xfrm>
          <a:off x="4273289" y="3297936"/>
          <a:ext cx="1146678" cy="261938"/>
        </p:xfrm>
        <a:graphic>
          <a:graphicData uri="http://schemas.openxmlformats.org/presentationml/2006/ole">
            <mc:AlternateContent xmlns:mc="http://schemas.openxmlformats.org/markup-compatibility/2006">
              <mc:Choice xmlns:v="urn:schemas-microsoft-com:vml" Requires="v">
                <p:oleObj name="Equation" r:id="rId8" imgW="698400" imgH="177480" progId="Equation.DSMT4">
                  <p:embed/>
                </p:oleObj>
              </mc:Choice>
              <mc:Fallback>
                <p:oleObj name="Equation" r:id="rId8" imgW="698400" imgH="177480" progId="Equation.DSMT4">
                  <p:embed/>
                  <p:pic>
                    <p:nvPicPr>
                      <p:cNvPr id="0" name=""/>
                      <p:cNvPicPr/>
                      <p:nvPr/>
                    </p:nvPicPr>
                    <p:blipFill>
                      <a:blip r:embed="rId9"/>
                      <a:stretch>
                        <a:fillRect/>
                      </a:stretch>
                    </p:blipFill>
                    <p:spPr>
                      <a:xfrm>
                        <a:off x="4273289" y="3297936"/>
                        <a:ext cx="1146678" cy="261938"/>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030816431"/>
              </p:ext>
            </p:extLst>
          </p:nvPr>
        </p:nvGraphicFramePr>
        <p:xfrm>
          <a:off x="4046780" y="3774186"/>
          <a:ext cx="1797050" cy="819150"/>
        </p:xfrm>
        <a:graphic>
          <a:graphicData uri="http://schemas.openxmlformats.org/presentationml/2006/ole">
            <mc:AlternateContent xmlns:mc="http://schemas.openxmlformats.org/markup-compatibility/2006">
              <mc:Choice xmlns:v="urn:schemas-microsoft-com:vml" Requires="v">
                <p:oleObj name="Equation" r:id="rId10" imgW="1002960" imgH="457200" progId="Equation.DSMT4">
                  <p:embed/>
                </p:oleObj>
              </mc:Choice>
              <mc:Fallback>
                <p:oleObj name="Equation" r:id="rId10" imgW="1002960" imgH="457200" progId="Equation.DSMT4">
                  <p:embed/>
                  <p:pic>
                    <p:nvPicPr>
                      <p:cNvPr id="0" name=""/>
                      <p:cNvPicPr>
                        <a:picLocks noChangeAspect="1" noChangeArrowheads="1"/>
                      </p:cNvPicPr>
                      <p:nvPr/>
                    </p:nvPicPr>
                    <p:blipFill>
                      <a:blip r:embed="rId11"/>
                      <a:srcRect/>
                      <a:stretch>
                        <a:fillRect/>
                      </a:stretch>
                    </p:blipFill>
                    <p:spPr bwMode="auto">
                      <a:xfrm>
                        <a:off x="4046780" y="3774186"/>
                        <a:ext cx="1797050" cy="819150"/>
                      </a:xfrm>
                      <a:prstGeom prst="rect">
                        <a:avLst/>
                      </a:prstGeom>
                      <a:solidFill>
                        <a:schemeClr val="accent6">
                          <a:lumMod val="60000"/>
                          <a:lumOff val="40000"/>
                        </a:schemeClr>
                      </a:solidFill>
                      <a:ln>
                        <a:noFill/>
                      </a:ln>
                    </p:spPr>
                  </p:pic>
                </p:oleObj>
              </mc:Fallback>
            </mc:AlternateContent>
          </a:graphicData>
        </a:graphic>
      </p:graphicFrame>
      <p:sp>
        <p:nvSpPr>
          <p:cNvPr id="21" name="矩形 20"/>
          <p:cNvSpPr/>
          <p:nvPr/>
        </p:nvSpPr>
        <p:spPr>
          <a:xfrm>
            <a:off x="381000" y="5257800"/>
            <a:ext cx="8305800" cy="923330"/>
          </a:xfrm>
          <a:prstGeom prst="rect">
            <a:avLst/>
          </a:prstGeom>
        </p:spPr>
        <p:txBody>
          <a:bodyPr wrap="square">
            <a:spAutoFit/>
          </a:bodyPr>
          <a:lstStyle/>
          <a:p>
            <a:pPr algn="just"/>
            <a:r>
              <a:rPr lang="en-US" altLang="zh-CN" b="1" dirty="0" err="1"/>
              <a:t>Clapeyron</a:t>
            </a:r>
            <a:r>
              <a:rPr lang="en-US" altLang="zh-CN" b="1" dirty="0"/>
              <a:t> equation </a:t>
            </a:r>
            <a:r>
              <a:rPr lang="en-US" altLang="zh-CN" dirty="0"/>
              <a:t>is a relationships between the variations of temperature and pressure which are required for the maintenance of equilibrium between the two phases</a:t>
            </a:r>
            <a:endParaRPr lang="zh-CN" altLang="en-US" dirty="0"/>
          </a:p>
        </p:txBody>
      </p:sp>
      <p:graphicFrame>
        <p:nvGraphicFramePr>
          <p:cNvPr id="22" name="对象 21"/>
          <p:cNvGraphicFramePr>
            <a:graphicFrameLocks noChangeAspect="1"/>
          </p:cNvGraphicFramePr>
          <p:nvPr>
            <p:extLst>
              <p:ext uri="{D42A27DB-BD31-4B8C-83A1-F6EECF244321}">
                <p14:modId xmlns:p14="http://schemas.microsoft.com/office/powerpoint/2010/main" val="63472667"/>
              </p:ext>
            </p:extLst>
          </p:nvPr>
        </p:nvGraphicFramePr>
        <p:xfrm>
          <a:off x="2829166" y="3802158"/>
          <a:ext cx="1030287" cy="638778"/>
        </p:xfrm>
        <a:graphic>
          <a:graphicData uri="http://schemas.openxmlformats.org/presentationml/2006/ole">
            <mc:AlternateContent xmlns:mc="http://schemas.openxmlformats.org/markup-compatibility/2006">
              <mc:Choice xmlns:v="urn:schemas-microsoft-com:vml" Requires="v">
                <p:oleObj name="Equation" r:id="rId12" imgW="634680" imgH="393480" progId="Equation.DSMT4">
                  <p:embed/>
                </p:oleObj>
              </mc:Choice>
              <mc:Fallback>
                <p:oleObj name="Equation" r:id="rId12" imgW="634680" imgH="393480" progId="Equation.DSMT4">
                  <p:embed/>
                  <p:pic>
                    <p:nvPicPr>
                      <p:cNvPr id="0" name=""/>
                      <p:cNvPicPr/>
                      <p:nvPr/>
                    </p:nvPicPr>
                    <p:blipFill>
                      <a:blip r:embed="rId13"/>
                      <a:stretch>
                        <a:fillRect/>
                      </a:stretch>
                    </p:blipFill>
                    <p:spPr>
                      <a:xfrm>
                        <a:off x="2829166" y="3802158"/>
                        <a:ext cx="1030287" cy="638778"/>
                      </a:xfrm>
                      <a:prstGeom prst="rect">
                        <a:avLst/>
                      </a:prstGeom>
                    </p:spPr>
                  </p:pic>
                </p:oleObj>
              </mc:Fallback>
            </mc:AlternateContent>
          </a:graphicData>
        </a:graphic>
      </p:graphicFrame>
      <p:cxnSp>
        <p:nvCxnSpPr>
          <p:cNvPr id="24" name="直接箭头连接符 23"/>
          <p:cNvCxnSpPr/>
          <p:nvPr/>
        </p:nvCxnSpPr>
        <p:spPr>
          <a:xfrm>
            <a:off x="2295767" y="4136136"/>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3972167" y="2840736"/>
            <a:ext cx="1940531" cy="369332"/>
          </a:xfrm>
          <a:prstGeom prst="rect">
            <a:avLst/>
          </a:prstGeom>
          <a:noFill/>
        </p:spPr>
        <p:txBody>
          <a:bodyPr wrap="none" rtlCol="0">
            <a:spAutoFit/>
          </a:bodyPr>
          <a:lstStyle/>
          <a:p>
            <a:r>
              <a:rPr lang="en-US" altLang="zh-CN" dirty="0"/>
              <a:t>At the equilibrium </a:t>
            </a:r>
            <a:endParaRPr lang="zh-CN" altLang="en-US" dirty="0"/>
          </a:p>
        </p:txBody>
      </p:sp>
      <p:pic>
        <p:nvPicPr>
          <p:cNvPr id="157740" name="Picture 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71944" y="1314974"/>
            <a:ext cx="1676400"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6969185" y="3772971"/>
            <a:ext cx="2081917" cy="523220"/>
          </a:xfrm>
          <a:prstGeom prst="rect">
            <a:avLst/>
          </a:prstGeom>
        </p:spPr>
        <p:txBody>
          <a:bodyPr wrap="none">
            <a:spAutoFit/>
          </a:bodyPr>
          <a:lstStyle/>
          <a:p>
            <a:pPr algn="ctr"/>
            <a:r>
              <a:rPr lang="en-US" altLang="zh-CN" sz="1400" b="1" dirty="0" err="1"/>
              <a:t>Benoît</a:t>
            </a:r>
            <a:r>
              <a:rPr lang="en-US" altLang="zh-CN" sz="1400" b="1" dirty="0"/>
              <a:t> P. É. </a:t>
            </a:r>
            <a:r>
              <a:rPr lang="en-US" altLang="zh-CN" sz="1400" b="1" dirty="0" err="1"/>
              <a:t>Clapeyron</a:t>
            </a:r>
            <a:endParaRPr lang="en-US" altLang="zh-CN" sz="1400" b="1" dirty="0"/>
          </a:p>
          <a:p>
            <a:pPr algn="ctr"/>
            <a:r>
              <a:rPr lang="en-US" altLang="zh-CN" sz="1400" b="1" dirty="0"/>
              <a:t>(1799-1864)</a:t>
            </a:r>
            <a:endParaRPr lang="zh-CN" altLang="en-US" sz="1400" dirty="0"/>
          </a:p>
        </p:txBody>
      </p:sp>
    </p:spTree>
    <p:extLst>
      <p:ext uri="{BB962C8B-B14F-4D97-AF65-F5344CB8AC3E}">
        <p14:creationId xmlns:p14="http://schemas.microsoft.com/office/powerpoint/2010/main" val="1843381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613" y="3107417"/>
            <a:ext cx="3381829" cy="3064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itle 1"/>
          <p:cNvSpPr txBox="1">
            <a:spLocks/>
          </p:cNvSpPr>
          <p:nvPr/>
        </p:nvSpPr>
        <p:spPr bwMode="auto">
          <a:xfrm>
            <a:off x="922347" y="3318"/>
            <a:ext cx="7083425" cy="84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b="1" dirty="0" err="1">
                <a:solidFill>
                  <a:srgbClr val="FF0000"/>
                </a:solidFill>
              </a:rPr>
              <a:t>Clapeyron</a:t>
            </a:r>
            <a:r>
              <a:rPr lang="en-US" altLang="zh-CN" sz="2800" b="1" dirty="0">
                <a:solidFill>
                  <a:srgbClr val="FF0000"/>
                </a:solidFill>
              </a:rPr>
              <a:t> equation: </a:t>
            </a:r>
          </a:p>
          <a:p>
            <a:r>
              <a:rPr lang="en-US" altLang="zh-CN" sz="2800" b="1" dirty="0">
                <a:solidFill>
                  <a:srgbClr val="FF0000"/>
                </a:solidFill>
              </a:rPr>
              <a:t>Solid-Liquid equilibrium</a:t>
            </a:r>
            <a:endParaRPr lang="en-US" sz="2800" dirty="0">
              <a:solidFill>
                <a:srgbClr val="FF0000"/>
              </a:solidFill>
            </a:endParaRPr>
          </a:p>
        </p:txBody>
      </p:sp>
      <p:sp>
        <p:nvSpPr>
          <p:cNvPr id="11" name="矩形 10"/>
          <p:cNvSpPr/>
          <p:nvPr/>
        </p:nvSpPr>
        <p:spPr>
          <a:xfrm>
            <a:off x="231773" y="1447800"/>
            <a:ext cx="7532743" cy="923330"/>
          </a:xfrm>
          <a:prstGeom prst="rect">
            <a:avLst/>
          </a:prstGeom>
        </p:spPr>
        <p:txBody>
          <a:bodyPr wrap="square">
            <a:spAutoFit/>
          </a:bodyPr>
          <a:lstStyle/>
          <a:p>
            <a:r>
              <a:rPr lang="en-US" altLang="zh-CN" dirty="0"/>
              <a:t>When thermal energy is added to the system</a:t>
            </a:r>
          </a:p>
          <a:p>
            <a:pPr marL="285750" indent="-285750">
              <a:buFont typeface="Wingdings" panose="05000000000000000000" pitchFamily="2" charset="2"/>
              <a:buChar char="ü"/>
            </a:pPr>
            <a:r>
              <a:rPr lang="en-US" altLang="zh-CN" dirty="0"/>
              <a:t>It causes the solid to melt and </a:t>
            </a:r>
            <a:r>
              <a:rPr lang="el-GR" altLang="zh-CN" dirty="0"/>
              <a:t>Δ </a:t>
            </a:r>
            <a:r>
              <a:rPr lang="en-US" altLang="zh-CN" i="1" dirty="0"/>
              <a:t>H </a:t>
            </a:r>
            <a:r>
              <a:rPr lang="en-US" altLang="zh-CN" baseline="-25000" dirty="0"/>
              <a:t>( </a:t>
            </a:r>
            <a:r>
              <a:rPr lang="en-US" altLang="zh-CN" i="1" baseline="-25000" dirty="0"/>
              <a:t>S </a:t>
            </a:r>
            <a:r>
              <a:rPr lang="en-US" altLang="zh-CN" baseline="-25000" dirty="0"/>
              <a:t>→ </a:t>
            </a:r>
            <a:r>
              <a:rPr lang="en-US" altLang="zh-CN" i="1" baseline="-25000" dirty="0"/>
              <a:t>L </a:t>
            </a:r>
            <a:r>
              <a:rPr lang="en-US" altLang="zh-CN" baseline="-25000" dirty="0"/>
              <a:t>) </a:t>
            </a:r>
            <a:r>
              <a:rPr lang="en-US" altLang="zh-CN" dirty="0"/>
              <a:t>&gt; 0 (endothermic).</a:t>
            </a:r>
          </a:p>
          <a:p>
            <a:pPr marL="285750" indent="-285750">
              <a:buFont typeface="Wingdings" panose="05000000000000000000" pitchFamily="2" charset="2"/>
              <a:buChar char="ü"/>
            </a:pPr>
            <a:r>
              <a:rPr lang="en-US" altLang="zh-CN" dirty="0"/>
              <a:t>The sign of (</a:t>
            </a:r>
            <a:r>
              <a:rPr lang="en-US" altLang="zh-CN" i="1" dirty="0" err="1"/>
              <a:t>dP</a:t>
            </a:r>
            <a:r>
              <a:rPr lang="en-US" altLang="zh-CN" dirty="0"/>
              <a:t>/</a:t>
            </a:r>
            <a:r>
              <a:rPr lang="en-US" altLang="zh-CN" i="1" dirty="0" err="1"/>
              <a:t>dT</a:t>
            </a:r>
            <a:r>
              <a:rPr lang="en-US" altLang="zh-CN" dirty="0"/>
              <a:t>)</a:t>
            </a:r>
            <a:r>
              <a:rPr lang="en-US" altLang="zh-CN" baseline="-25000" dirty="0" err="1"/>
              <a:t>eq</a:t>
            </a:r>
            <a:r>
              <a:rPr lang="en-US" altLang="zh-CN" dirty="0"/>
              <a:t> is thus determined by the sign of Δ </a:t>
            </a:r>
            <a:r>
              <a:rPr lang="en-US" altLang="zh-CN" i="1" dirty="0"/>
              <a:t>V </a:t>
            </a:r>
            <a:r>
              <a:rPr lang="en-US" altLang="zh-CN" baseline="-25000" dirty="0"/>
              <a:t>( </a:t>
            </a:r>
            <a:r>
              <a:rPr lang="en-US" altLang="zh-CN" i="1" baseline="-25000" dirty="0"/>
              <a:t>S </a:t>
            </a:r>
            <a:r>
              <a:rPr lang="en-US" altLang="zh-CN" baseline="-25000" dirty="0"/>
              <a:t>→ </a:t>
            </a:r>
            <a:r>
              <a:rPr lang="en-US" altLang="zh-CN" i="1" baseline="-25000" dirty="0"/>
              <a:t>L </a:t>
            </a:r>
            <a:r>
              <a:rPr lang="en-US" altLang="zh-CN" baseline="-25000" dirty="0"/>
              <a:t>)</a:t>
            </a:r>
            <a:endParaRPr lang="zh-CN" altLang="en-US" baseline="-25000"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5713" y="3556686"/>
            <a:ext cx="3432345" cy="2615514"/>
          </a:xfrm>
          <a:prstGeom prst="rect">
            <a:avLst/>
          </a:prstGeom>
          <a:noFill/>
          <a:ln w="9525">
            <a:solidFill>
              <a:srgbClr val="FF0000"/>
            </a:solidFill>
            <a:prstDash val="dash"/>
            <a:miter lim="800000"/>
            <a:headEnd/>
            <a:tailEnd/>
          </a:ln>
          <a:extLst>
            <a:ext uri="{909E8E84-426E-40DD-AFC4-6F175D3DCCD1}">
              <a14:hiddenFill xmlns:a14="http://schemas.microsoft.com/office/drawing/2010/main">
                <a:solidFill>
                  <a:schemeClr val="accent1"/>
                </a:solidFill>
              </a14:hiddenFill>
            </a:ext>
          </a:extLst>
        </p:spPr>
      </p:pic>
      <p:sp>
        <p:nvSpPr>
          <p:cNvPr id="14" name="TextBox 13"/>
          <p:cNvSpPr txBox="1"/>
          <p:nvPr/>
        </p:nvSpPr>
        <p:spPr>
          <a:xfrm>
            <a:off x="3694176" y="2706314"/>
            <a:ext cx="5385816" cy="646331"/>
          </a:xfrm>
          <a:prstGeom prst="rect">
            <a:avLst/>
          </a:prstGeom>
          <a:noFill/>
        </p:spPr>
        <p:txBody>
          <a:bodyPr wrap="square" rtlCol="0">
            <a:spAutoFit/>
          </a:bodyPr>
          <a:lstStyle/>
          <a:p>
            <a:r>
              <a:rPr lang="en-US" altLang="zh-CN" dirty="0"/>
              <a:t>Water: V</a:t>
            </a:r>
            <a:r>
              <a:rPr lang="en-US" altLang="zh-CN" baseline="-25000" dirty="0"/>
              <a:t>L </a:t>
            </a:r>
            <a:r>
              <a:rPr lang="en-US" altLang="zh-CN" dirty="0"/>
              <a:t>&lt; V</a:t>
            </a:r>
            <a:r>
              <a:rPr lang="en-US" altLang="zh-CN" baseline="-25000" dirty="0"/>
              <a:t>S</a:t>
            </a:r>
            <a:r>
              <a:rPr lang="en-US" altLang="zh-CN" dirty="0"/>
              <a:t> , Δ </a:t>
            </a:r>
            <a:r>
              <a:rPr lang="en-US" altLang="zh-CN" i="1" dirty="0"/>
              <a:t>V </a:t>
            </a:r>
            <a:r>
              <a:rPr lang="en-US" altLang="zh-CN" baseline="-25000" dirty="0"/>
              <a:t>( </a:t>
            </a:r>
            <a:r>
              <a:rPr lang="en-US" altLang="zh-CN" i="1" baseline="-25000" dirty="0"/>
              <a:t>S </a:t>
            </a:r>
            <a:r>
              <a:rPr lang="en-US" altLang="zh-CN" baseline="-25000" dirty="0"/>
              <a:t>→ </a:t>
            </a:r>
            <a:r>
              <a:rPr lang="en-US" altLang="zh-CN" i="1" baseline="-25000" dirty="0"/>
              <a:t>L </a:t>
            </a:r>
            <a:r>
              <a:rPr lang="en-US" altLang="zh-CN" baseline="-25000" dirty="0"/>
              <a:t>) </a:t>
            </a:r>
            <a:r>
              <a:rPr lang="en-US" altLang="zh-CN" dirty="0"/>
              <a:t>&lt;0, </a:t>
            </a:r>
            <a:r>
              <a:rPr lang="en-US" altLang="zh-CN" dirty="0" err="1"/>
              <a:t>dP</a:t>
            </a:r>
            <a:r>
              <a:rPr lang="en-US" altLang="zh-CN" dirty="0"/>
              <a:t>/</a:t>
            </a:r>
            <a:r>
              <a:rPr lang="en-US" altLang="zh-CN" dirty="0" err="1"/>
              <a:t>dT</a:t>
            </a:r>
            <a:r>
              <a:rPr lang="en-US" altLang="zh-CN" dirty="0"/>
              <a:t> &lt;0</a:t>
            </a:r>
            <a:endParaRPr lang="zh-CN" altLang="en-US" dirty="0"/>
          </a:p>
          <a:p>
            <a:r>
              <a:rPr lang="en-US" altLang="zh-CN" dirty="0"/>
              <a:t>Normal liquid: V</a:t>
            </a:r>
            <a:r>
              <a:rPr lang="en-US" altLang="zh-CN" baseline="-25000" dirty="0"/>
              <a:t>L</a:t>
            </a:r>
            <a:r>
              <a:rPr lang="en-US" altLang="zh-CN" dirty="0"/>
              <a:t>&gt;V</a:t>
            </a:r>
            <a:r>
              <a:rPr lang="en-US" altLang="zh-CN" baseline="-25000" dirty="0"/>
              <a:t>S</a:t>
            </a:r>
            <a:r>
              <a:rPr lang="en-US" altLang="zh-CN" dirty="0"/>
              <a:t> , Δ </a:t>
            </a:r>
            <a:r>
              <a:rPr lang="en-US" altLang="zh-CN" i="1" dirty="0"/>
              <a:t>V </a:t>
            </a:r>
            <a:r>
              <a:rPr lang="en-US" altLang="zh-CN" baseline="-25000" dirty="0"/>
              <a:t>( </a:t>
            </a:r>
            <a:r>
              <a:rPr lang="en-US" altLang="zh-CN" i="1" baseline="-25000" dirty="0"/>
              <a:t>S </a:t>
            </a:r>
            <a:r>
              <a:rPr lang="en-US" altLang="zh-CN" baseline="-25000" dirty="0"/>
              <a:t>→ </a:t>
            </a:r>
            <a:r>
              <a:rPr lang="en-US" altLang="zh-CN" i="1" baseline="-25000" dirty="0"/>
              <a:t>L </a:t>
            </a:r>
            <a:r>
              <a:rPr lang="en-US" altLang="zh-CN" baseline="-25000" dirty="0"/>
              <a:t>) </a:t>
            </a:r>
            <a:r>
              <a:rPr lang="en-US" altLang="zh-CN" dirty="0"/>
              <a:t>&gt;0, </a:t>
            </a:r>
            <a:r>
              <a:rPr lang="en-US" altLang="zh-CN" dirty="0" err="1"/>
              <a:t>dP</a:t>
            </a:r>
            <a:r>
              <a:rPr lang="en-US" altLang="zh-CN" dirty="0"/>
              <a:t>/</a:t>
            </a:r>
            <a:r>
              <a:rPr lang="en-US" altLang="zh-CN" dirty="0" err="1"/>
              <a:t>dT</a:t>
            </a:r>
            <a:r>
              <a:rPr lang="en-US" altLang="zh-CN" dirty="0"/>
              <a:t> &gt;0</a:t>
            </a:r>
            <a:endParaRPr lang="zh-CN" altLang="en-US" dirty="0"/>
          </a:p>
        </p:txBody>
      </p:sp>
      <p:graphicFrame>
        <p:nvGraphicFramePr>
          <p:cNvPr id="15" name="对象 14"/>
          <p:cNvGraphicFramePr>
            <a:graphicFrameLocks noChangeAspect="1"/>
          </p:cNvGraphicFramePr>
          <p:nvPr>
            <p:extLst>
              <p:ext uri="{D42A27DB-BD31-4B8C-83A1-F6EECF244321}">
                <p14:modId xmlns:p14="http://schemas.microsoft.com/office/powerpoint/2010/main" val="2892276805"/>
              </p:ext>
            </p:extLst>
          </p:nvPr>
        </p:nvGraphicFramePr>
        <p:xfrm>
          <a:off x="7315200" y="1557040"/>
          <a:ext cx="1319212" cy="704850"/>
        </p:xfrm>
        <a:graphic>
          <a:graphicData uri="http://schemas.openxmlformats.org/presentationml/2006/ole">
            <mc:AlternateContent xmlns:mc="http://schemas.openxmlformats.org/markup-compatibility/2006">
              <mc:Choice xmlns:v="urn:schemas-microsoft-com:vml" Requires="v">
                <p:oleObj name="Equation" r:id="rId4" imgW="736560" imgH="393480" progId="Equation.DSMT4">
                  <p:embed/>
                </p:oleObj>
              </mc:Choice>
              <mc:Fallback>
                <p:oleObj name="Equation" r:id="rId4" imgW="736560" imgH="3934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1557040"/>
                        <a:ext cx="1319212" cy="704850"/>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圆角矩形 1"/>
          <p:cNvSpPr/>
          <p:nvPr/>
        </p:nvSpPr>
        <p:spPr>
          <a:xfrm>
            <a:off x="5897880" y="3685032"/>
            <a:ext cx="764005" cy="365760"/>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t>water</a:t>
            </a:r>
            <a:endParaRPr lang="zh-CN" altLang="en-US" sz="1100" dirty="0"/>
          </a:p>
        </p:txBody>
      </p:sp>
      <p:sp>
        <p:nvSpPr>
          <p:cNvPr id="9" name="圆角矩形 8"/>
          <p:cNvSpPr/>
          <p:nvPr/>
        </p:nvSpPr>
        <p:spPr>
          <a:xfrm>
            <a:off x="7000511" y="3685032"/>
            <a:ext cx="764005" cy="36576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t>Normal liquid</a:t>
            </a:r>
            <a:endParaRPr lang="zh-CN" altLang="en-US" sz="1100" dirty="0"/>
          </a:p>
        </p:txBody>
      </p:sp>
    </p:spTree>
    <p:extLst>
      <p:ext uri="{BB962C8B-B14F-4D97-AF65-F5344CB8AC3E}">
        <p14:creationId xmlns:p14="http://schemas.microsoft.com/office/powerpoint/2010/main" val="3722036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bwMode="auto">
          <a:xfrm>
            <a:off x="1103611" y="-799"/>
            <a:ext cx="7083425" cy="873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dirty="0" err="1">
                <a:solidFill>
                  <a:srgbClr val="FF0000"/>
                </a:solidFill>
              </a:rPr>
              <a:t>Clausius-Clapeyron</a:t>
            </a:r>
            <a:r>
              <a:rPr lang="en-US" altLang="zh-CN" sz="2800" dirty="0">
                <a:solidFill>
                  <a:srgbClr val="FF0000"/>
                </a:solidFill>
              </a:rPr>
              <a:t> equation: </a:t>
            </a:r>
          </a:p>
          <a:p>
            <a:r>
              <a:rPr lang="en-US" altLang="zh-CN" sz="2800" dirty="0">
                <a:solidFill>
                  <a:srgbClr val="FF0000"/>
                </a:solidFill>
              </a:rPr>
              <a:t>Vapor-condense phase equilibrium</a:t>
            </a:r>
            <a:endParaRPr lang="en-US" sz="2800" dirty="0">
              <a:solidFill>
                <a:srgbClr val="FF0000"/>
              </a:solidFill>
            </a:endParaRPr>
          </a:p>
        </p:txBody>
      </p:sp>
      <p:sp>
        <p:nvSpPr>
          <p:cNvPr id="10" name="矩形 9"/>
          <p:cNvSpPr/>
          <p:nvPr/>
        </p:nvSpPr>
        <p:spPr>
          <a:xfrm>
            <a:off x="174768" y="1266616"/>
            <a:ext cx="8798978" cy="1200329"/>
          </a:xfrm>
          <a:prstGeom prst="rect">
            <a:avLst/>
          </a:prstGeom>
        </p:spPr>
        <p:txBody>
          <a:bodyPr wrap="square">
            <a:spAutoFit/>
          </a:bodyPr>
          <a:lstStyle/>
          <a:p>
            <a:pPr marL="285750" indent="-285750">
              <a:buFont typeface="Wingdings" panose="05000000000000000000" pitchFamily="2" charset="2"/>
              <a:buChar char="ü"/>
            </a:pPr>
            <a:r>
              <a:rPr lang="en-US" altLang="zh-CN" b="1" dirty="0">
                <a:latin typeface="Times New Roman"/>
                <a:cs typeface="Times New Roman"/>
              </a:rPr>
              <a:t>∆</a:t>
            </a:r>
            <a:r>
              <a:rPr lang="en-US" altLang="zh-CN" b="1" i="1" dirty="0"/>
              <a:t>V </a:t>
            </a:r>
            <a:r>
              <a:rPr lang="en-US" altLang="zh-CN" dirty="0"/>
              <a:t>is the change in the molar volume accompanying evaporation or sublimation </a:t>
            </a:r>
          </a:p>
          <a:p>
            <a:pPr marL="285750" indent="-285750">
              <a:buFont typeface="Wingdings" panose="05000000000000000000" pitchFamily="2" charset="2"/>
              <a:buChar char="ü"/>
            </a:pPr>
            <a:endParaRPr lang="en-US" altLang="zh-CN" dirty="0">
              <a:latin typeface="Times New Roman"/>
              <a:cs typeface="Times New Roman"/>
            </a:endParaRPr>
          </a:p>
          <a:p>
            <a:pPr marL="285750" indent="-285750">
              <a:buFont typeface="Wingdings" panose="05000000000000000000" pitchFamily="2" charset="2"/>
              <a:buChar char="ü"/>
            </a:pPr>
            <a:r>
              <a:rPr lang="en-US" altLang="zh-CN" b="1" dirty="0">
                <a:latin typeface="Times New Roman"/>
                <a:cs typeface="Times New Roman"/>
              </a:rPr>
              <a:t>∆</a:t>
            </a:r>
            <a:r>
              <a:rPr lang="en-US" altLang="zh-CN" b="1" i="1" dirty="0"/>
              <a:t>H </a:t>
            </a:r>
            <a:r>
              <a:rPr lang="en-US" altLang="zh-CN" dirty="0"/>
              <a:t>is the corresponding change in the molar enthalpy, i.e., the molar latent heat of evaporation or sublimation</a:t>
            </a:r>
            <a:endParaRPr lang="zh-CN" altLang="en-US" dirty="0"/>
          </a:p>
        </p:txBody>
      </p:sp>
      <p:sp>
        <p:nvSpPr>
          <p:cNvPr id="14" name="矩形 13"/>
          <p:cNvSpPr/>
          <p:nvPr/>
        </p:nvSpPr>
        <p:spPr>
          <a:xfrm>
            <a:off x="4645324" y="2549981"/>
            <a:ext cx="3886200" cy="923330"/>
          </a:xfrm>
          <a:prstGeom prst="rect">
            <a:avLst/>
          </a:prstGeom>
        </p:spPr>
        <p:txBody>
          <a:bodyPr wrap="square">
            <a:spAutoFit/>
          </a:bodyPr>
          <a:lstStyle/>
          <a:p>
            <a:r>
              <a:rPr lang="en-US" altLang="zh-CN" dirty="0"/>
              <a:t>If it is further assumed that the vapor in</a:t>
            </a:r>
            <a:br>
              <a:rPr lang="en-US" altLang="zh-CN" dirty="0"/>
            </a:br>
            <a:r>
              <a:rPr lang="en-US" altLang="zh-CN" dirty="0"/>
              <a:t>equilibrium with the condensed phase behaves ideally, i.e., </a:t>
            </a:r>
            <a:r>
              <a:rPr lang="en-US" altLang="zh-CN" i="1" dirty="0"/>
              <a:t>PV=RT</a:t>
            </a:r>
            <a:endParaRPr lang="zh-CN" altLang="en-US" dirty="0"/>
          </a:p>
        </p:txBody>
      </p:sp>
      <p:pic>
        <p:nvPicPr>
          <p:cNvPr id="15" name="image696.png"/>
          <p:cNvPicPr/>
          <p:nvPr/>
        </p:nvPicPr>
        <p:blipFill>
          <a:blip r:embed="rId2" cstate="print"/>
          <a:stretch>
            <a:fillRect/>
          </a:stretch>
        </p:blipFill>
        <p:spPr>
          <a:xfrm>
            <a:off x="4916068" y="3845580"/>
            <a:ext cx="1388353" cy="540418"/>
          </a:xfrm>
          <a:prstGeom prst="rect">
            <a:avLst/>
          </a:prstGeom>
        </p:spPr>
      </p:pic>
      <p:pic>
        <p:nvPicPr>
          <p:cNvPr id="16" name="image697.png"/>
          <p:cNvPicPr/>
          <p:nvPr/>
        </p:nvPicPr>
        <p:blipFill>
          <a:blip r:embed="rId3" cstate="print"/>
          <a:stretch>
            <a:fillRect/>
          </a:stretch>
        </p:blipFill>
        <p:spPr>
          <a:xfrm>
            <a:off x="6861072" y="3854600"/>
            <a:ext cx="1154097" cy="428625"/>
          </a:xfrm>
          <a:prstGeom prst="rect">
            <a:avLst/>
          </a:prstGeom>
        </p:spPr>
      </p:pic>
      <p:sp>
        <p:nvSpPr>
          <p:cNvPr id="18" name="矩形 17"/>
          <p:cNvSpPr/>
          <p:nvPr/>
        </p:nvSpPr>
        <p:spPr>
          <a:xfrm>
            <a:off x="1042281" y="5429190"/>
            <a:ext cx="3222485" cy="400110"/>
          </a:xfrm>
          <a:prstGeom prst="rect">
            <a:avLst/>
          </a:prstGeom>
        </p:spPr>
        <p:txBody>
          <a:bodyPr wrap="none">
            <a:spAutoFit/>
          </a:bodyPr>
          <a:lstStyle/>
          <a:p>
            <a:r>
              <a:rPr lang="en-US" altLang="zh-CN" sz="2000" b="1" dirty="0" err="1"/>
              <a:t>Clausius-Clapeyron</a:t>
            </a:r>
            <a:r>
              <a:rPr lang="en-US" altLang="zh-CN" sz="2000" b="1" dirty="0"/>
              <a:t> equation</a:t>
            </a:r>
            <a:endParaRPr lang="zh-CN" altLang="en-US" sz="2000" b="1" dirty="0"/>
          </a:p>
        </p:txBody>
      </p:sp>
      <p:sp>
        <p:nvSpPr>
          <p:cNvPr id="24" name="矩形 23"/>
          <p:cNvSpPr/>
          <p:nvPr/>
        </p:nvSpPr>
        <p:spPr>
          <a:xfrm>
            <a:off x="667946" y="2619345"/>
            <a:ext cx="2992422" cy="400110"/>
          </a:xfrm>
          <a:prstGeom prst="rect">
            <a:avLst/>
          </a:prstGeom>
        </p:spPr>
        <p:txBody>
          <a:bodyPr wrap="none">
            <a:spAutoFit/>
          </a:bodyPr>
          <a:lstStyle/>
          <a:p>
            <a:r>
              <a:rPr lang="el-GR" altLang="zh-CN" sz="2000" dirty="0"/>
              <a:t>Δ </a:t>
            </a:r>
            <a:r>
              <a:rPr lang="en-US" altLang="zh-CN" sz="2000" i="1" dirty="0"/>
              <a:t>V </a:t>
            </a:r>
            <a:r>
              <a:rPr lang="en-US" altLang="zh-CN" sz="2000" dirty="0"/>
              <a:t>= </a:t>
            </a:r>
            <a:r>
              <a:rPr lang="en-US" altLang="zh-CN" sz="2000" i="1" dirty="0"/>
              <a:t>V</a:t>
            </a:r>
            <a:r>
              <a:rPr lang="en-US" altLang="zh-CN" sz="2000" i="1" baseline="30000" dirty="0"/>
              <a:t> </a:t>
            </a:r>
            <a:r>
              <a:rPr lang="en-US" altLang="zh-CN" sz="2000" baseline="30000" dirty="0"/>
              <a:t>vapor </a:t>
            </a:r>
            <a:r>
              <a:rPr lang="en-US" altLang="zh-CN" sz="2000" dirty="0"/>
              <a:t>– </a:t>
            </a:r>
            <a:r>
              <a:rPr lang="en-US" altLang="zh-CN" sz="2000" i="1" dirty="0"/>
              <a:t>V </a:t>
            </a:r>
            <a:r>
              <a:rPr lang="en-US" altLang="zh-CN" sz="2000" baseline="30000" dirty="0"/>
              <a:t>condensed phase</a:t>
            </a:r>
            <a:endParaRPr lang="zh-CN" altLang="en-US" sz="2000" baseline="30000" dirty="0"/>
          </a:p>
        </p:txBody>
      </p:sp>
      <p:sp>
        <p:nvSpPr>
          <p:cNvPr id="25" name="矩形 24"/>
          <p:cNvSpPr/>
          <p:nvPr/>
        </p:nvSpPr>
        <p:spPr>
          <a:xfrm>
            <a:off x="667946" y="3103979"/>
            <a:ext cx="1277273" cy="369332"/>
          </a:xfrm>
          <a:prstGeom prst="rect">
            <a:avLst/>
          </a:prstGeom>
        </p:spPr>
        <p:txBody>
          <a:bodyPr wrap="none">
            <a:spAutoFit/>
          </a:bodyPr>
          <a:lstStyle/>
          <a:p>
            <a:r>
              <a:rPr lang="el-GR" altLang="zh-CN" dirty="0"/>
              <a:t>Δ </a:t>
            </a:r>
            <a:r>
              <a:rPr lang="en-US" altLang="zh-CN" i="1" dirty="0"/>
              <a:t>V ~</a:t>
            </a:r>
            <a:r>
              <a:rPr lang="en-US" altLang="zh-CN" dirty="0"/>
              <a:t> </a:t>
            </a:r>
            <a:r>
              <a:rPr lang="en-US" altLang="zh-CN" i="1" dirty="0"/>
              <a:t>V</a:t>
            </a:r>
            <a:r>
              <a:rPr lang="en-US" altLang="zh-CN" i="1" baseline="30000" dirty="0"/>
              <a:t> </a:t>
            </a:r>
            <a:r>
              <a:rPr lang="en-US" altLang="zh-CN" baseline="30000" dirty="0"/>
              <a:t>vapor </a:t>
            </a:r>
            <a:endParaRPr lang="zh-CN" altLang="en-US" dirty="0"/>
          </a:p>
        </p:txBody>
      </p:sp>
      <p:graphicFrame>
        <p:nvGraphicFramePr>
          <p:cNvPr id="27" name="对象 26"/>
          <p:cNvGraphicFramePr>
            <a:graphicFrameLocks noChangeAspect="1"/>
          </p:cNvGraphicFramePr>
          <p:nvPr>
            <p:extLst>
              <p:ext uri="{D42A27DB-BD31-4B8C-83A1-F6EECF244321}">
                <p14:modId xmlns:p14="http://schemas.microsoft.com/office/powerpoint/2010/main" val="3707865755"/>
              </p:ext>
            </p:extLst>
          </p:nvPr>
        </p:nvGraphicFramePr>
        <p:xfrm>
          <a:off x="152698" y="3838545"/>
          <a:ext cx="1429648" cy="651677"/>
        </p:xfrm>
        <a:graphic>
          <a:graphicData uri="http://schemas.openxmlformats.org/presentationml/2006/ole">
            <mc:AlternateContent xmlns:mc="http://schemas.openxmlformats.org/markup-compatibility/2006">
              <mc:Choice xmlns:v="urn:schemas-microsoft-com:vml" Requires="v">
                <p:oleObj name="Equation" r:id="rId4" imgW="1002960" imgH="457200" progId="Equation.DSMT4">
                  <p:embed/>
                </p:oleObj>
              </mc:Choice>
              <mc:Fallback>
                <p:oleObj name="Equation" r:id="rId4" imgW="1002960" imgH="457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98" y="3838545"/>
                        <a:ext cx="1429648" cy="651677"/>
                      </a:xfrm>
                      <a:prstGeom prst="rect">
                        <a:avLst/>
                      </a:prstGeom>
                      <a:noFill/>
                      <a:ln>
                        <a:solidFill>
                          <a:srgbClr val="FF0000"/>
                        </a:solidFill>
                      </a:ln>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141529154"/>
              </p:ext>
            </p:extLst>
          </p:nvPr>
        </p:nvGraphicFramePr>
        <p:xfrm>
          <a:off x="2180834" y="3836958"/>
          <a:ext cx="1611312" cy="652462"/>
        </p:xfrm>
        <a:graphic>
          <a:graphicData uri="http://schemas.openxmlformats.org/presentationml/2006/ole">
            <mc:AlternateContent xmlns:mc="http://schemas.openxmlformats.org/markup-compatibility/2006">
              <mc:Choice xmlns:v="urn:schemas-microsoft-com:vml" Requires="v">
                <p:oleObj name="Equation" r:id="rId6" imgW="1130040" imgH="457200" progId="Equation.DSMT4">
                  <p:embed/>
                </p:oleObj>
              </mc:Choice>
              <mc:Fallback>
                <p:oleObj name="Equation" r:id="rId6" imgW="1130040" imgH="457200" progId="Equation.DSMT4">
                  <p:embed/>
                  <p:pic>
                    <p:nvPicPr>
                      <p:cNvPr id="0" name=""/>
                      <p:cNvPicPr>
                        <a:picLocks noChangeAspect="1" noChangeArrowheads="1"/>
                      </p:cNvPicPr>
                      <p:nvPr/>
                    </p:nvPicPr>
                    <p:blipFill>
                      <a:blip r:embed="rId7"/>
                      <a:srcRect/>
                      <a:stretch>
                        <a:fillRect/>
                      </a:stretch>
                    </p:blipFill>
                    <p:spPr bwMode="auto">
                      <a:xfrm>
                        <a:off x="2180834" y="3836958"/>
                        <a:ext cx="1611312" cy="652462"/>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任意多边形 28"/>
          <p:cNvSpPr/>
          <p:nvPr/>
        </p:nvSpPr>
        <p:spPr>
          <a:xfrm>
            <a:off x="801953" y="3535567"/>
            <a:ext cx="2286000" cy="300350"/>
          </a:xfrm>
          <a:custGeom>
            <a:avLst/>
            <a:gdLst>
              <a:gd name="connsiteX0" fmla="*/ 0 w 2286000"/>
              <a:gd name="connsiteY0" fmla="*/ 300350 h 300350"/>
              <a:gd name="connsiteX1" fmla="*/ 804041 w 2286000"/>
              <a:gd name="connsiteY1" fmla="*/ 806 h 300350"/>
              <a:gd name="connsiteX2" fmla="*/ 2286000 w 2286000"/>
              <a:gd name="connsiteY2" fmla="*/ 205757 h 300350"/>
            </a:gdLst>
            <a:ahLst/>
            <a:cxnLst>
              <a:cxn ang="0">
                <a:pos x="connsiteX0" y="connsiteY0"/>
              </a:cxn>
              <a:cxn ang="0">
                <a:pos x="connsiteX1" y="connsiteY1"/>
              </a:cxn>
              <a:cxn ang="0">
                <a:pos x="connsiteX2" y="connsiteY2"/>
              </a:cxn>
            </a:cxnLst>
            <a:rect l="l" t="t" r="r" b="b"/>
            <a:pathLst>
              <a:path w="2286000" h="300350">
                <a:moveTo>
                  <a:pt x="0" y="300350"/>
                </a:moveTo>
                <a:cubicBezTo>
                  <a:pt x="211520" y="158460"/>
                  <a:pt x="423041" y="16571"/>
                  <a:pt x="804041" y="806"/>
                </a:cubicBezTo>
                <a:cubicBezTo>
                  <a:pt x="1185041" y="-14959"/>
                  <a:pt x="2286000" y="205757"/>
                  <a:pt x="2286000" y="205757"/>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0" name="对象 29"/>
          <p:cNvGraphicFramePr>
            <a:graphicFrameLocks noChangeAspect="1"/>
          </p:cNvGraphicFramePr>
          <p:nvPr>
            <p:extLst>
              <p:ext uri="{D42A27DB-BD31-4B8C-83A1-F6EECF244321}">
                <p14:modId xmlns:p14="http://schemas.microsoft.com/office/powerpoint/2010/main" val="807736788"/>
              </p:ext>
            </p:extLst>
          </p:nvPr>
        </p:nvGraphicFramePr>
        <p:xfrm>
          <a:off x="4774371" y="5190023"/>
          <a:ext cx="2065775" cy="782122"/>
        </p:xfrm>
        <a:graphic>
          <a:graphicData uri="http://schemas.openxmlformats.org/presentationml/2006/ole">
            <mc:AlternateContent xmlns:mc="http://schemas.openxmlformats.org/markup-compatibility/2006">
              <mc:Choice xmlns:v="urn:schemas-microsoft-com:vml" Requires="v">
                <p:oleObj name="Equation" r:id="rId8" imgW="1041120" imgH="393480" progId="Equation.DSMT4">
                  <p:embed/>
                </p:oleObj>
              </mc:Choice>
              <mc:Fallback>
                <p:oleObj name="Equation" r:id="rId8" imgW="1041120" imgH="393480" progId="Equation.DSMT4">
                  <p:embed/>
                  <p:pic>
                    <p:nvPicPr>
                      <p:cNvPr id="0" name=""/>
                      <p:cNvPicPr>
                        <a:picLocks noChangeAspect="1" noChangeArrowheads="1"/>
                      </p:cNvPicPr>
                      <p:nvPr/>
                    </p:nvPicPr>
                    <p:blipFill>
                      <a:blip r:embed="rId9"/>
                      <a:srcRect/>
                      <a:stretch>
                        <a:fillRect/>
                      </a:stretch>
                    </p:blipFill>
                    <p:spPr bwMode="auto">
                      <a:xfrm>
                        <a:off x="4774371" y="5190023"/>
                        <a:ext cx="2065775" cy="782122"/>
                      </a:xfrm>
                      <a:prstGeom prst="rect">
                        <a:avLst/>
                      </a:prstGeom>
                      <a:solidFill>
                        <a:srgbClr val="FAC090"/>
                      </a:solidFill>
                      <a:ln>
                        <a:noFill/>
                      </a:ln>
                    </p:spPr>
                  </p:pic>
                </p:oleObj>
              </mc:Fallback>
            </mc:AlternateContent>
          </a:graphicData>
        </a:graphic>
      </p:graphicFrame>
      <p:sp>
        <p:nvSpPr>
          <p:cNvPr id="32" name="圆角矩形 31"/>
          <p:cNvSpPr/>
          <p:nvPr/>
        </p:nvSpPr>
        <p:spPr>
          <a:xfrm>
            <a:off x="824018" y="4905345"/>
            <a:ext cx="7536186" cy="1447800"/>
          </a:xfrm>
          <a:prstGeom prst="roundRect">
            <a:avLst>
              <a:gd name="adj" fmla="val 782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2800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5211106"/>
            <a:ext cx="1866299" cy="427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4953000" y="2667000"/>
            <a:ext cx="3622595" cy="646331"/>
          </a:xfrm>
          <a:prstGeom prst="rect">
            <a:avLst/>
          </a:prstGeom>
        </p:spPr>
        <p:txBody>
          <a:bodyPr wrap="none">
            <a:spAutoFit/>
          </a:bodyPr>
          <a:lstStyle/>
          <a:p>
            <a:r>
              <a:rPr lang="en-US" altLang="zh-CN" dirty="0"/>
              <a:t>2. </a:t>
            </a:r>
            <a:r>
              <a:rPr lang="en-US" altLang="zh-CN" dirty="0">
                <a:solidFill>
                  <a:srgbClr val="0000FF"/>
                </a:solidFill>
              </a:rPr>
              <a:t>If </a:t>
            </a:r>
            <a:r>
              <a:rPr lang="en-US" altLang="zh-CN" b="1" dirty="0">
                <a:solidFill>
                  <a:srgbClr val="0000FF"/>
                </a:solidFill>
                <a:latin typeface="Times New Roman"/>
                <a:cs typeface="Times New Roman"/>
              </a:rPr>
              <a:t>∆</a:t>
            </a:r>
            <a:r>
              <a:rPr lang="en-US" altLang="zh-CN" b="1" i="1" dirty="0">
                <a:solidFill>
                  <a:srgbClr val="0000FF"/>
                </a:solidFill>
              </a:rPr>
              <a:t>H </a:t>
            </a:r>
            <a:r>
              <a:rPr lang="en-US" altLang="zh-CN" dirty="0">
                <a:solidFill>
                  <a:srgbClr val="0000FF"/>
                </a:solidFill>
              </a:rPr>
              <a:t>is  temperature dependent </a:t>
            </a:r>
          </a:p>
          <a:p>
            <a:r>
              <a:rPr lang="en-US" altLang="zh-CN" dirty="0"/>
              <a:t>i.e. </a:t>
            </a:r>
            <a:r>
              <a:rPr lang="en-US" altLang="zh-CN" dirty="0" err="1"/>
              <a:t>C</a:t>
            </a:r>
            <a:r>
              <a:rPr lang="en-US" altLang="zh-CN" baseline="-25000" dirty="0" err="1"/>
              <a:t>p</a:t>
            </a:r>
            <a:r>
              <a:rPr lang="en-US" altLang="zh-CN" dirty="0"/>
              <a:t>(vapor)</a:t>
            </a:r>
            <a:r>
              <a:rPr lang="en-US" altLang="zh-CN" dirty="0">
                <a:latin typeface="Times New Roman"/>
                <a:cs typeface="Times New Roman"/>
              </a:rPr>
              <a:t>≠</a:t>
            </a:r>
            <a:r>
              <a:rPr lang="en-US" altLang="zh-CN" dirty="0" err="1"/>
              <a:t>C</a:t>
            </a:r>
            <a:r>
              <a:rPr lang="en-US" altLang="zh-CN" baseline="-25000" dirty="0" err="1"/>
              <a:t>p</a:t>
            </a:r>
            <a:r>
              <a:rPr lang="en-US" altLang="zh-CN" dirty="0"/>
              <a:t>(condensed phase), </a:t>
            </a:r>
            <a:endParaRPr lang="zh-CN" altLang="en-US" dirty="0"/>
          </a:p>
        </p:txBody>
      </p:sp>
      <p:sp>
        <p:nvSpPr>
          <p:cNvPr id="15" name="矩形 14"/>
          <p:cNvSpPr/>
          <p:nvPr/>
        </p:nvSpPr>
        <p:spPr>
          <a:xfrm>
            <a:off x="482211" y="1184701"/>
            <a:ext cx="3744808" cy="461665"/>
          </a:xfrm>
          <a:prstGeom prst="rect">
            <a:avLst/>
          </a:prstGeom>
        </p:spPr>
        <p:txBody>
          <a:bodyPr wrap="none">
            <a:spAutoFit/>
          </a:bodyPr>
          <a:lstStyle/>
          <a:p>
            <a:r>
              <a:rPr lang="en-US" altLang="zh-CN" sz="2400" dirty="0" err="1">
                <a:solidFill>
                  <a:srgbClr val="0000FF"/>
                </a:solidFill>
              </a:rPr>
              <a:t>Clausius-Clapeyron</a:t>
            </a:r>
            <a:r>
              <a:rPr lang="en-US" altLang="zh-CN" sz="2400" dirty="0">
                <a:solidFill>
                  <a:srgbClr val="0000FF"/>
                </a:solidFill>
              </a:rPr>
              <a:t> equation</a:t>
            </a:r>
            <a:endParaRPr lang="zh-CN" altLang="en-US" sz="2400" dirty="0">
              <a:solidFill>
                <a:srgbClr val="0000FF"/>
              </a:solidFill>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3253841608"/>
              </p:ext>
            </p:extLst>
          </p:nvPr>
        </p:nvGraphicFramePr>
        <p:xfrm>
          <a:off x="5029200" y="3473167"/>
          <a:ext cx="2563813" cy="946150"/>
        </p:xfrm>
        <a:graphic>
          <a:graphicData uri="http://schemas.openxmlformats.org/presentationml/2006/ole">
            <mc:AlternateContent xmlns:mc="http://schemas.openxmlformats.org/markup-compatibility/2006">
              <mc:Choice xmlns:v="urn:schemas-microsoft-com:vml" Requires="v">
                <p:oleObj name="Equation" r:id="rId3" imgW="1993680" imgH="736560" progId="Equation.DSMT4">
                  <p:embed/>
                </p:oleObj>
              </mc:Choice>
              <mc:Fallback>
                <p:oleObj name="Equation" r:id="rId3" imgW="1993680" imgH="736560" progId="Equation.DSMT4">
                  <p:embed/>
                  <p:pic>
                    <p:nvPicPr>
                      <p:cNvPr id="0" name=""/>
                      <p:cNvPicPr/>
                      <p:nvPr/>
                    </p:nvPicPr>
                    <p:blipFill>
                      <a:blip r:embed="rId4"/>
                      <a:stretch>
                        <a:fillRect/>
                      </a:stretch>
                    </p:blipFill>
                    <p:spPr>
                      <a:xfrm>
                        <a:off x="5029200" y="3473167"/>
                        <a:ext cx="2563813" cy="946150"/>
                      </a:xfrm>
                      <a:prstGeom prst="rect">
                        <a:avLst/>
                      </a:prstGeom>
                    </p:spPr>
                  </p:pic>
                </p:oleObj>
              </mc:Fallback>
            </mc:AlternateContent>
          </a:graphicData>
        </a:graphic>
      </p:graphicFrame>
      <p:pic>
        <p:nvPicPr>
          <p:cNvPr id="1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1347" y="4639379"/>
            <a:ext cx="1603863" cy="5509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25" name="Title 1"/>
          <p:cNvSpPr txBox="1">
            <a:spLocks/>
          </p:cNvSpPr>
          <p:nvPr/>
        </p:nvSpPr>
        <p:spPr bwMode="auto">
          <a:xfrm>
            <a:off x="960848" y="0"/>
            <a:ext cx="7083425" cy="89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dirty="0" err="1">
                <a:solidFill>
                  <a:srgbClr val="FF0000"/>
                </a:solidFill>
              </a:rPr>
              <a:t>Clausius-Clapeyron</a:t>
            </a:r>
            <a:r>
              <a:rPr lang="en-US" altLang="zh-CN" sz="2800" dirty="0">
                <a:solidFill>
                  <a:srgbClr val="FF0000"/>
                </a:solidFill>
              </a:rPr>
              <a:t> equation: </a:t>
            </a:r>
          </a:p>
          <a:p>
            <a:r>
              <a:rPr lang="en-US" altLang="zh-CN" sz="2800" dirty="0">
                <a:solidFill>
                  <a:srgbClr val="FF0000"/>
                </a:solidFill>
              </a:rPr>
              <a:t>Vapor-condense phase equilibrium</a:t>
            </a:r>
            <a:endParaRPr lang="en-US" sz="2800" dirty="0">
              <a:solidFill>
                <a:srgbClr val="FF0000"/>
              </a:solidFill>
            </a:endParaRPr>
          </a:p>
        </p:txBody>
      </p:sp>
      <p:sp>
        <p:nvSpPr>
          <p:cNvPr id="26" name="矩形 25"/>
          <p:cNvSpPr/>
          <p:nvPr/>
        </p:nvSpPr>
        <p:spPr>
          <a:xfrm>
            <a:off x="76200" y="2667000"/>
            <a:ext cx="3924408" cy="1200329"/>
          </a:xfrm>
          <a:prstGeom prst="rect">
            <a:avLst/>
          </a:prstGeom>
        </p:spPr>
        <p:txBody>
          <a:bodyPr wrap="none">
            <a:spAutoFit/>
          </a:bodyPr>
          <a:lstStyle/>
          <a:p>
            <a:r>
              <a:rPr lang="en-US" altLang="zh-CN" dirty="0"/>
              <a:t>1. </a:t>
            </a:r>
            <a:r>
              <a:rPr lang="en-US" altLang="zh-CN" dirty="0">
                <a:solidFill>
                  <a:srgbClr val="0000FF"/>
                </a:solidFill>
              </a:rPr>
              <a:t>If </a:t>
            </a:r>
            <a:r>
              <a:rPr lang="en-US" altLang="zh-CN" b="1" dirty="0">
                <a:solidFill>
                  <a:srgbClr val="0000FF"/>
                </a:solidFill>
                <a:latin typeface="Times New Roman"/>
                <a:cs typeface="Times New Roman"/>
              </a:rPr>
              <a:t>∆</a:t>
            </a:r>
            <a:r>
              <a:rPr lang="en-US" altLang="zh-CN" b="1" i="1" dirty="0">
                <a:solidFill>
                  <a:srgbClr val="0000FF"/>
                </a:solidFill>
              </a:rPr>
              <a:t>H </a:t>
            </a:r>
            <a:r>
              <a:rPr lang="en-US" altLang="zh-CN" dirty="0">
                <a:solidFill>
                  <a:srgbClr val="0000FF"/>
                </a:solidFill>
              </a:rPr>
              <a:t>is  independent of  temperature</a:t>
            </a:r>
          </a:p>
          <a:p>
            <a:r>
              <a:rPr lang="en-US" altLang="zh-CN" dirty="0"/>
              <a:t>  </a:t>
            </a:r>
          </a:p>
          <a:p>
            <a:r>
              <a:rPr lang="en-US" altLang="zh-CN" dirty="0"/>
              <a:t>  i.e. </a:t>
            </a:r>
            <a:r>
              <a:rPr lang="en-US" altLang="zh-CN" dirty="0" err="1"/>
              <a:t>C</a:t>
            </a:r>
            <a:r>
              <a:rPr lang="en-US" altLang="zh-CN" baseline="-25000" dirty="0" err="1"/>
              <a:t>p</a:t>
            </a:r>
            <a:r>
              <a:rPr lang="en-US" altLang="zh-CN" dirty="0"/>
              <a:t>(vapor)= </a:t>
            </a:r>
            <a:r>
              <a:rPr lang="en-US" altLang="zh-CN" dirty="0" err="1"/>
              <a:t>C</a:t>
            </a:r>
            <a:r>
              <a:rPr lang="en-US" altLang="zh-CN" baseline="-25000" dirty="0" err="1"/>
              <a:t>p</a:t>
            </a:r>
            <a:r>
              <a:rPr lang="en-US" altLang="zh-CN" dirty="0"/>
              <a:t>(condensed phase), </a:t>
            </a:r>
          </a:p>
          <a:p>
            <a:r>
              <a:rPr lang="en-US" altLang="zh-CN" dirty="0"/>
              <a:t>and integrate</a:t>
            </a:r>
            <a:endParaRPr lang="zh-CN" altLang="en-US" dirty="0"/>
          </a:p>
        </p:txBody>
      </p:sp>
      <p:pic>
        <p:nvPicPr>
          <p:cNvPr id="286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493" y="4103958"/>
            <a:ext cx="3014042" cy="925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2382382993"/>
              </p:ext>
            </p:extLst>
          </p:nvPr>
        </p:nvGraphicFramePr>
        <p:xfrm>
          <a:off x="2886075" y="1732905"/>
          <a:ext cx="2066925" cy="782637"/>
        </p:xfrm>
        <a:graphic>
          <a:graphicData uri="http://schemas.openxmlformats.org/presentationml/2006/ole">
            <mc:AlternateContent xmlns:mc="http://schemas.openxmlformats.org/markup-compatibility/2006">
              <mc:Choice xmlns:v="urn:schemas-microsoft-com:vml" Requires="v">
                <p:oleObj name="Equation" r:id="rId7" imgW="1041120" imgH="393480" progId="Equation.DSMT4">
                  <p:embed/>
                </p:oleObj>
              </mc:Choice>
              <mc:Fallback>
                <p:oleObj name="Equation" r:id="rId7" imgW="1041120" imgH="393480" progId="Equation.DSMT4">
                  <p:embed/>
                  <p:pic>
                    <p:nvPicPr>
                      <p:cNvPr id="0" name="对象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6075" y="1732905"/>
                        <a:ext cx="2066925" cy="782637"/>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93901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045106" y="105856"/>
            <a:ext cx="5314275" cy="523220"/>
          </a:xfrm>
          <a:prstGeom prst="rect">
            <a:avLst/>
          </a:prstGeom>
          <a:noFill/>
        </p:spPr>
        <p:txBody>
          <a:bodyPr wrap="none" rtlCol="0">
            <a:spAutoFit/>
          </a:bodyPr>
          <a:lstStyle/>
          <a:p>
            <a:r>
              <a:rPr lang="en-US" altLang="zh-CN" sz="2800" dirty="0">
                <a:solidFill>
                  <a:srgbClr val="FF0000"/>
                </a:solidFill>
              </a:rPr>
              <a:t>Phase diagram of H</a:t>
            </a:r>
            <a:r>
              <a:rPr lang="en-US" altLang="zh-CN" sz="2800" baseline="-25000" dirty="0">
                <a:solidFill>
                  <a:srgbClr val="FF0000"/>
                </a:solidFill>
              </a:rPr>
              <a:t>2</a:t>
            </a:r>
            <a:r>
              <a:rPr lang="en-US" altLang="zh-CN" sz="2800" dirty="0">
                <a:solidFill>
                  <a:srgbClr val="FF0000"/>
                </a:solidFill>
              </a:rPr>
              <a:t>O at high-P</a:t>
            </a:r>
            <a:endParaRPr lang="zh-CN" altLang="en-US" sz="2800" dirty="0">
              <a:solidFill>
                <a:srgbClr val="FF0000"/>
              </a:solidFill>
            </a:endParaRPr>
          </a:p>
        </p:txBody>
      </p:sp>
      <p:pic>
        <p:nvPicPr>
          <p:cNvPr id="24585" name="Picture 9" descr="https://www.uwgb.edu/dutchs/Graphics-Geol/ROCKMIN/MetPhaseDiagrams/IcePhas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691" y="1201241"/>
            <a:ext cx="3306953" cy="3779375"/>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89431" y="6257761"/>
            <a:ext cx="6553200" cy="307777"/>
          </a:xfrm>
          <a:prstGeom prst="rect">
            <a:avLst/>
          </a:prstGeom>
        </p:spPr>
        <p:txBody>
          <a:bodyPr wrap="square">
            <a:spAutoFit/>
          </a:bodyPr>
          <a:lstStyle/>
          <a:p>
            <a:r>
              <a:rPr lang="en-US" altLang="zh-CN" sz="1400" dirty="0"/>
              <a:t>https://www.uwgb.edu/dutchs/Petrology/Ice%20Structure.HTM</a:t>
            </a:r>
            <a:endParaRPr lang="zh-CN" altLang="en-US" sz="1400" dirty="0"/>
          </a:p>
        </p:txBody>
      </p:sp>
      <p:pic>
        <p:nvPicPr>
          <p:cNvPr id="2458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4531" y="3169624"/>
            <a:ext cx="19431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8"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2400" y="4759850"/>
            <a:ext cx="1676612" cy="1117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9"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9210" y="4465024"/>
            <a:ext cx="1602940" cy="1609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90" name="Picture 1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49680" y="1237398"/>
            <a:ext cx="1832802" cy="137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92" name="Picture 16" descr="https://www.uwgb.edu/dutchs/Graphics-Geol/ROCKMIN/ATOM-STRUCT/IceII.gi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46867" y="3130023"/>
            <a:ext cx="2061903" cy="137460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7178177" y="831909"/>
            <a:ext cx="654346" cy="369332"/>
          </a:xfrm>
          <a:prstGeom prst="rect">
            <a:avLst/>
          </a:prstGeom>
          <a:noFill/>
        </p:spPr>
        <p:txBody>
          <a:bodyPr wrap="none" rtlCol="0">
            <a:spAutoFit/>
          </a:bodyPr>
          <a:lstStyle/>
          <a:p>
            <a:r>
              <a:rPr lang="en-US" altLang="zh-CN" dirty="0"/>
              <a:t>Ice(I)</a:t>
            </a:r>
            <a:endParaRPr lang="zh-CN" altLang="en-US" dirty="0"/>
          </a:p>
        </p:txBody>
      </p:sp>
      <p:sp>
        <p:nvSpPr>
          <p:cNvPr id="27" name="TextBox 26"/>
          <p:cNvSpPr txBox="1"/>
          <p:nvPr/>
        </p:nvSpPr>
        <p:spPr>
          <a:xfrm>
            <a:off x="4591244" y="2675814"/>
            <a:ext cx="712054" cy="369332"/>
          </a:xfrm>
          <a:prstGeom prst="rect">
            <a:avLst/>
          </a:prstGeom>
          <a:noFill/>
        </p:spPr>
        <p:txBody>
          <a:bodyPr wrap="none" rtlCol="0">
            <a:spAutoFit/>
          </a:bodyPr>
          <a:lstStyle/>
          <a:p>
            <a:r>
              <a:rPr lang="en-US" altLang="zh-CN" dirty="0"/>
              <a:t>Ice(II)</a:t>
            </a:r>
            <a:endParaRPr lang="zh-CN" altLang="en-US" dirty="0"/>
          </a:p>
        </p:txBody>
      </p:sp>
      <p:sp>
        <p:nvSpPr>
          <p:cNvPr id="28" name="TextBox 27"/>
          <p:cNvSpPr txBox="1"/>
          <p:nvPr/>
        </p:nvSpPr>
        <p:spPr>
          <a:xfrm>
            <a:off x="6805407" y="2800292"/>
            <a:ext cx="769763" cy="369332"/>
          </a:xfrm>
          <a:prstGeom prst="rect">
            <a:avLst/>
          </a:prstGeom>
          <a:noFill/>
        </p:spPr>
        <p:txBody>
          <a:bodyPr wrap="none" rtlCol="0">
            <a:spAutoFit/>
          </a:bodyPr>
          <a:lstStyle/>
          <a:p>
            <a:r>
              <a:rPr lang="en-US" altLang="zh-CN" dirty="0"/>
              <a:t>Ice(III)</a:t>
            </a:r>
            <a:endParaRPr lang="zh-CN" altLang="en-US" dirty="0"/>
          </a:p>
        </p:txBody>
      </p:sp>
      <p:sp>
        <p:nvSpPr>
          <p:cNvPr id="29" name="TextBox 28"/>
          <p:cNvSpPr txBox="1"/>
          <p:nvPr/>
        </p:nvSpPr>
        <p:spPr>
          <a:xfrm>
            <a:off x="4520084" y="4382660"/>
            <a:ext cx="1201244" cy="369332"/>
          </a:xfrm>
          <a:prstGeom prst="rect">
            <a:avLst/>
          </a:prstGeom>
          <a:noFill/>
        </p:spPr>
        <p:txBody>
          <a:bodyPr wrap="square" rtlCol="0">
            <a:spAutoFit/>
          </a:bodyPr>
          <a:lstStyle/>
          <a:p>
            <a:r>
              <a:rPr lang="en-US" altLang="zh-CN" dirty="0"/>
              <a:t>Ice(V)</a:t>
            </a:r>
            <a:endParaRPr lang="zh-CN" altLang="en-US" dirty="0"/>
          </a:p>
        </p:txBody>
      </p:sp>
      <p:sp>
        <p:nvSpPr>
          <p:cNvPr id="30" name="TextBox 29"/>
          <p:cNvSpPr txBox="1"/>
          <p:nvPr/>
        </p:nvSpPr>
        <p:spPr>
          <a:xfrm>
            <a:off x="7008284" y="4383622"/>
            <a:ext cx="843501" cy="369332"/>
          </a:xfrm>
          <a:prstGeom prst="rect">
            <a:avLst/>
          </a:prstGeom>
          <a:noFill/>
        </p:spPr>
        <p:txBody>
          <a:bodyPr wrap="none" rtlCol="0">
            <a:spAutoFit/>
          </a:bodyPr>
          <a:lstStyle/>
          <a:p>
            <a:r>
              <a:rPr lang="en-US" altLang="zh-CN" dirty="0"/>
              <a:t>Ice(VII)</a:t>
            </a:r>
            <a:endParaRPr lang="zh-CN" altLang="en-US" dirty="0"/>
          </a:p>
        </p:txBody>
      </p:sp>
      <p:pic>
        <p:nvPicPr>
          <p:cNvPr id="20" name="Picture 99" descr="C:\Users\Shanmin\AppData\Roaming\Tencent\Users\56008394\QQ\WinTemp\RichOle\AJ1~%4]4VR4%(SA~QH3WX$W.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60923" y="1348616"/>
            <a:ext cx="1519565" cy="1152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7831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8394" y="2938875"/>
            <a:ext cx="5742278" cy="830997"/>
          </a:xfrm>
          <a:prstGeom prst="rect">
            <a:avLst/>
          </a:prstGeom>
        </p:spPr>
        <p:txBody>
          <a:bodyPr wrap="none">
            <a:spAutoFit/>
          </a:bodyPr>
          <a:lstStyle/>
          <a:p>
            <a:r>
              <a:rPr lang="en-US" altLang="zh-CN" sz="2400" b="1" dirty="0">
                <a:solidFill>
                  <a:srgbClr val="FF0000"/>
                </a:solidFill>
                <a:effectLst>
                  <a:outerShdw blurRad="38100" dist="38100" dir="2700000" algn="tl">
                    <a:srgbClr val="000000">
                      <a:alpha val="43137"/>
                    </a:srgbClr>
                  </a:outerShdw>
                </a:effectLst>
                <a:latin typeface="Times New Roman" pitchFamily="18" charset="0"/>
                <a:ea typeface="华文楷体" panose="02010600040101010101" pitchFamily="2" charset="-122"/>
                <a:cs typeface="Times New Roman" panose="02020603050405020304" pitchFamily="18" charset="0"/>
              </a:rPr>
              <a:t>26. </a:t>
            </a:r>
            <a:r>
              <a:rPr lang="en-US" altLang="zh-CN" sz="2400" b="1" dirty="0">
                <a:solidFill>
                  <a:srgbClr val="FF0000"/>
                </a:solidFill>
                <a:latin typeface="Times New Roman" pitchFamily="18" charset="0"/>
                <a:cs typeface="Times New Roman" pitchFamily="18" charset="0"/>
              </a:rPr>
              <a:t>High pressure</a:t>
            </a:r>
          </a:p>
          <a:p>
            <a:r>
              <a:rPr lang="en-US" altLang="zh-CN" sz="2400" dirty="0">
                <a:solidFill>
                  <a:srgbClr val="FF0000"/>
                </a:solidFill>
                <a:latin typeface="Times New Roman" pitchFamily="18" charset="0"/>
                <a:cs typeface="Times New Roman" pitchFamily="18" charset="0"/>
              </a:rPr>
              <a:t>     ---the third dimension for material design </a:t>
            </a:r>
            <a:endParaRPr lang="en-US" altLang="zh-CN" sz="2400"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矩形 8"/>
          <p:cNvSpPr/>
          <p:nvPr/>
        </p:nvSpPr>
        <p:spPr>
          <a:xfrm>
            <a:off x="1004970" y="4357223"/>
            <a:ext cx="7164339" cy="369332"/>
          </a:xfrm>
          <a:prstGeom prst="rect">
            <a:avLst/>
          </a:prstGeom>
        </p:spPr>
        <p:txBody>
          <a:bodyPr wrap="square">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Acknowledgement to Prof. Shan Ming Wang, Phys. </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SUSTech</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27484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666" y="1119840"/>
            <a:ext cx="3674559" cy="2296599"/>
          </a:xfrm>
          <a:prstGeom prst="rect">
            <a:avLst/>
          </a:prstGeom>
          <a:noFill/>
          <a:extLst>
            <a:ext uri="{909E8E84-426E-40DD-AFC4-6F175D3DCCD1}">
              <a14:hiddenFill xmlns:a14="http://schemas.microsoft.com/office/drawing/2010/main">
                <a:solidFill>
                  <a:srgbClr val="FFFFFF"/>
                </a:solidFill>
              </a14:hiddenFill>
            </a:ext>
          </a:extLst>
        </p:spPr>
      </p:pic>
      <p:pic>
        <p:nvPicPr>
          <p:cNvPr id="16793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23480" y="3939770"/>
            <a:ext cx="3687745" cy="2108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79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851" y="894857"/>
            <a:ext cx="3450643" cy="2070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794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4852" y="3423507"/>
            <a:ext cx="1479038" cy="2273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5109316" y="5715332"/>
            <a:ext cx="1558440" cy="523220"/>
          </a:xfrm>
          <a:prstGeom prst="rect">
            <a:avLst/>
          </a:prstGeom>
        </p:spPr>
        <p:txBody>
          <a:bodyPr wrap="none">
            <a:spAutoFit/>
          </a:bodyPr>
          <a:lstStyle/>
          <a:p>
            <a:r>
              <a:rPr lang="en-US" altLang="zh-CN" sz="1400" dirty="0"/>
              <a:t>Antoine Lavoisier</a:t>
            </a:r>
          </a:p>
          <a:p>
            <a:r>
              <a:rPr lang="en-US" altLang="zh-CN" sz="1400" dirty="0"/>
              <a:t>1743-1794</a:t>
            </a:r>
            <a:endParaRPr lang="zh-CN" altLang="en-US" sz="1400" dirty="0"/>
          </a:p>
        </p:txBody>
      </p:sp>
      <p:sp>
        <p:nvSpPr>
          <p:cNvPr id="4" name="矩形 3"/>
          <p:cNvSpPr/>
          <p:nvPr/>
        </p:nvSpPr>
        <p:spPr>
          <a:xfrm>
            <a:off x="4823046" y="6243404"/>
            <a:ext cx="2311851" cy="307777"/>
          </a:xfrm>
          <a:prstGeom prst="rect">
            <a:avLst/>
          </a:prstGeom>
        </p:spPr>
        <p:txBody>
          <a:bodyPr wrap="none">
            <a:spAutoFit/>
          </a:bodyPr>
          <a:lstStyle/>
          <a:p>
            <a:r>
              <a:rPr lang="en-US" altLang="zh-CN" sz="1400" dirty="0"/>
              <a:t>father of modern chemistry</a:t>
            </a:r>
            <a:endParaRPr lang="zh-CN" altLang="en-US" sz="1400" dirty="0"/>
          </a:p>
        </p:txBody>
      </p:sp>
      <p:sp>
        <p:nvSpPr>
          <p:cNvPr id="5" name="矩形 4"/>
          <p:cNvSpPr/>
          <p:nvPr/>
        </p:nvSpPr>
        <p:spPr>
          <a:xfrm>
            <a:off x="5164852" y="2961502"/>
            <a:ext cx="1749197" cy="369332"/>
          </a:xfrm>
          <a:prstGeom prst="rect">
            <a:avLst/>
          </a:prstGeom>
        </p:spPr>
        <p:txBody>
          <a:bodyPr wrap="none">
            <a:spAutoFit/>
          </a:bodyPr>
          <a:lstStyle/>
          <a:p>
            <a:r>
              <a:rPr lang="en-US" altLang="zh-CN" dirty="0"/>
              <a:t>1772, Lavoisier</a:t>
            </a:r>
          </a:p>
        </p:txBody>
      </p:sp>
      <p:pic>
        <p:nvPicPr>
          <p:cNvPr id="167942" name="Picture 6"/>
          <p:cNvPicPr>
            <a:picLocks noChangeAspect="1" noChangeArrowheads="1"/>
          </p:cNvPicPr>
          <p:nvPr/>
        </p:nvPicPr>
        <p:blipFill rotWithShape="1">
          <a:blip r:embed="rId6">
            <a:extLst>
              <a:ext uri="{28A0092B-C50C-407E-A947-70E740481C1C}">
                <a14:useLocalDpi xmlns:a14="http://schemas.microsoft.com/office/drawing/2010/main" val="0"/>
              </a:ext>
            </a:extLst>
          </a:blip>
          <a:srcRect l="21521" r="23692"/>
          <a:stretch/>
        </p:blipFill>
        <p:spPr bwMode="auto">
          <a:xfrm>
            <a:off x="7134897" y="3482280"/>
            <a:ext cx="1738365" cy="2156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7197159" y="5740557"/>
            <a:ext cx="1613840" cy="307777"/>
          </a:xfrm>
          <a:prstGeom prst="rect">
            <a:avLst/>
          </a:prstGeom>
        </p:spPr>
        <p:txBody>
          <a:bodyPr wrap="none">
            <a:spAutoFit/>
          </a:bodyPr>
          <a:lstStyle/>
          <a:p>
            <a:r>
              <a:rPr lang="en-US" altLang="zh-CN" sz="1400" dirty="0"/>
              <a:t>Smithson Tennant</a:t>
            </a:r>
            <a:endParaRPr lang="zh-CN" altLang="en-US" sz="1400" dirty="0"/>
          </a:p>
        </p:txBody>
      </p:sp>
      <p:sp>
        <p:nvSpPr>
          <p:cNvPr id="7" name="矩形 6"/>
          <p:cNvSpPr/>
          <p:nvPr/>
        </p:nvSpPr>
        <p:spPr>
          <a:xfrm>
            <a:off x="923669" y="79103"/>
            <a:ext cx="3874779" cy="584775"/>
          </a:xfrm>
          <a:prstGeom prst="rect">
            <a:avLst/>
          </a:prstGeom>
        </p:spPr>
        <p:txBody>
          <a:bodyPr wrap="none">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Synthetic diamonds </a:t>
            </a:r>
            <a:endParaRPr lang="zh-CN" altLang="en-US" sz="3200" dirty="0">
              <a:solidFill>
                <a:srgbClr val="FF0000"/>
              </a:solidFill>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845943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descr="https://pic3.zhimg.com/80/v2-c6f1d4eec67540da24a2735fd856b6ee_720w.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872" y="839109"/>
            <a:ext cx="4441592" cy="2467551"/>
          </a:xfrm>
          <a:prstGeom prst="rect">
            <a:avLst/>
          </a:prstGeom>
          <a:noFill/>
          <a:extLst>
            <a:ext uri="{909E8E84-426E-40DD-AFC4-6F175D3DCCD1}">
              <a14:hiddenFill xmlns:a14="http://schemas.microsoft.com/office/drawing/2010/main">
                <a:solidFill>
                  <a:srgbClr val="FFFFFF"/>
                </a:solidFill>
              </a14:hiddenFill>
            </a:ext>
          </a:extLst>
        </p:spPr>
      </p:pic>
      <p:pic>
        <p:nvPicPr>
          <p:cNvPr id="168964" name="Picture 4" descr="https://pic2.zhimg.com/80/v2-7f885055dedfcae3e72d9ce40974a429_720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749" y="3627295"/>
            <a:ext cx="3076600" cy="1800382"/>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698960" y="5555096"/>
            <a:ext cx="4928532" cy="954107"/>
          </a:xfrm>
          <a:prstGeom prst="rect">
            <a:avLst/>
          </a:prstGeom>
        </p:spPr>
        <p:txBody>
          <a:bodyPr wrap="square">
            <a:spAutoFit/>
          </a:bodyPr>
          <a:lstStyle/>
          <a:p>
            <a:r>
              <a:rPr lang="zh-CN" altLang="en-US" sz="1400" dirty="0">
                <a:solidFill>
                  <a:srgbClr val="121212"/>
                </a:solidFill>
                <a:latin typeface="-apple-system"/>
              </a:rPr>
              <a:t>始建于明代，历代多次翻新修葺，窑道长</a:t>
            </a:r>
            <a:r>
              <a:rPr lang="en-US" altLang="zh-CN" sz="1400" dirty="0">
                <a:solidFill>
                  <a:srgbClr val="121212"/>
                </a:solidFill>
                <a:latin typeface="-apple-system"/>
              </a:rPr>
              <a:t>43.4</a:t>
            </a:r>
            <a:r>
              <a:rPr lang="zh-CN" altLang="en-US" sz="1400" dirty="0">
                <a:solidFill>
                  <a:srgbClr val="121212"/>
                </a:solidFill>
                <a:latin typeface="-apple-system"/>
              </a:rPr>
              <a:t>米，内底宽</a:t>
            </a:r>
            <a:r>
              <a:rPr lang="en-US" altLang="zh-CN" sz="1400" dirty="0">
                <a:solidFill>
                  <a:srgbClr val="121212"/>
                </a:solidFill>
                <a:latin typeface="-apple-system"/>
              </a:rPr>
              <a:t>2.3</a:t>
            </a:r>
            <a:r>
              <a:rPr lang="zh-CN" altLang="en-US" sz="1400" dirty="0">
                <a:solidFill>
                  <a:srgbClr val="121212"/>
                </a:solidFill>
                <a:latin typeface="-apple-system"/>
              </a:rPr>
              <a:t>米，高</a:t>
            </a:r>
            <a:r>
              <a:rPr lang="en-US" altLang="zh-CN" sz="1400" dirty="0">
                <a:solidFill>
                  <a:srgbClr val="121212"/>
                </a:solidFill>
                <a:latin typeface="-apple-system"/>
              </a:rPr>
              <a:t>1.55</a:t>
            </a:r>
            <a:r>
              <a:rPr lang="zh-CN" altLang="en-US" sz="1400" dirty="0">
                <a:solidFill>
                  <a:srgbClr val="121212"/>
                </a:solidFill>
                <a:latin typeface="-apple-system"/>
              </a:rPr>
              <a:t>米。窑身设投柴孔（俗称麟眼洞）</a:t>
            </a:r>
            <a:r>
              <a:rPr lang="en-US" altLang="zh-CN" sz="1400" dirty="0">
                <a:solidFill>
                  <a:srgbClr val="121212"/>
                </a:solidFill>
                <a:latin typeface="-apple-system"/>
              </a:rPr>
              <a:t>42</a:t>
            </a:r>
            <a:r>
              <a:rPr lang="zh-CN" altLang="en-US" sz="1400" dirty="0">
                <a:solidFill>
                  <a:srgbClr val="121212"/>
                </a:solidFill>
                <a:latin typeface="-apple-system"/>
              </a:rPr>
              <a:t>对，右侧有壶口（窑门）</a:t>
            </a:r>
            <a:r>
              <a:rPr lang="en-US" altLang="zh-CN" sz="1400" dirty="0">
                <a:solidFill>
                  <a:srgbClr val="121212"/>
                </a:solidFill>
                <a:latin typeface="-apple-system"/>
              </a:rPr>
              <a:t>5</a:t>
            </a:r>
            <a:r>
              <a:rPr lang="zh-CN" altLang="en-US" sz="1400" dirty="0">
                <a:solidFill>
                  <a:srgbClr val="121212"/>
                </a:solidFill>
                <a:latin typeface="-apple-system"/>
              </a:rPr>
              <a:t>个，燃料主要为煤、松、竹枝等，产品以罐、瓮、盆等粗陶为主，烧成温度</a:t>
            </a:r>
            <a:r>
              <a:rPr lang="en-US" altLang="zh-CN" sz="1400" dirty="0">
                <a:solidFill>
                  <a:srgbClr val="121212"/>
                </a:solidFill>
                <a:latin typeface="-apple-system"/>
              </a:rPr>
              <a:t>1150℃</a:t>
            </a:r>
            <a:endParaRPr lang="zh-CN" altLang="en-US" sz="1400" dirty="0"/>
          </a:p>
        </p:txBody>
      </p:sp>
      <p:pic>
        <p:nvPicPr>
          <p:cNvPr id="168966" name="Picture 6" descr="https://pic2.zhimg.com/80/v2-8074fa5811b69dd94ed5d38169f8c979_720w.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3961" y="3627295"/>
            <a:ext cx="2981907" cy="1834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508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088" y="285226"/>
            <a:ext cx="4567427" cy="2856719"/>
          </a:xfrm>
          <a:prstGeom prst="rect">
            <a:avLst/>
          </a:prstGeom>
          <a:noFill/>
          <a:extLst>
            <a:ext uri="{909E8E84-426E-40DD-AFC4-6F175D3DCCD1}">
              <a14:hiddenFill xmlns:a14="http://schemas.microsoft.com/office/drawing/2010/main">
                <a:solidFill>
                  <a:srgbClr val="FFFFFF"/>
                </a:solidFill>
              </a14:hiddenFill>
            </a:ext>
          </a:extLst>
        </p:spPr>
      </p:pic>
      <p:pic>
        <p:nvPicPr>
          <p:cNvPr id="169988" name="Picture 4" descr="http://5b0988e595225.cdn.sohucs.com/images/20190626/7caae7e9d09b43b0a0f5e8fe85c4e090.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069" y="3485004"/>
            <a:ext cx="4562446" cy="3041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866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descr="https://upload.wikimedia.org/wikipedia/commons/thumb/5/5e/Henri_Moissan_making_diamonds.jpg/220px-Henri_Moissan_making_diamond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961" y="1643523"/>
            <a:ext cx="3279315" cy="239986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4019341" y="2412568"/>
            <a:ext cx="4572000" cy="861774"/>
          </a:xfrm>
          <a:prstGeom prst="rect">
            <a:avLst/>
          </a:prstGeom>
        </p:spPr>
        <p:txBody>
          <a:bodyPr>
            <a:spAutoFit/>
          </a:bodyPr>
          <a:lstStyle/>
          <a:p>
            <a:endParaRPr lang="en-US" altLang="zh-CN" dirty="0"/>
          </a:p>
          <a:p>
            <a:r>
              <a:rPr lang="en-US" altLang="zh-CN" sz="1600" dirty="0"/>
              <a:t>1906 Nobel Prize in Chemistry for his work in isolating fluorine from its compounds</a:t>
            </a:r>
            <a:endParaRPr lang="zh-CN" altLang="en-US" sz="1600" dirty="0"/>
          </a:p>
        </p:txBody>
      </p:sp>
      <p:sp>
        <p:nvSpPr>
          <p:cNvPr id="5" name="矩形 4"/>
          <p:cNvSpPr/>
          <p:nvPr/>
        </p:nvSpPr>
        <p:spPr>
          <a:xfrm>
            <a:off x="4019341" y="1726266"/>
            <a:ext cx="4794209" cy="646331"/>
          </a:xfrm>
          <a:prstGeom prst="rect">
            <a:avLst/>
          </a:prstGeom>
        </p:spPr>
        <p:txBody>
          <a:bodyPr wrap="square">
            <a:spAutoFit/>
          </a:bodyPr>
          <a:lstStyle/>
          <a:p>
            <a:r>
              <a:rPr lang="en-US" altLang="zh-CN" dirty="0">
                <a:latin typeface="Times New Roman" pitchFamily="18" charset="0"/>
                <a:cs typeface="Times New Roman" pitchFamily="18" charset="0"/>
              </a:rPr>
              <a:t>1893, Moissan claimed he create synthetic diamonds using an electric arc furnace</a:t>
            </a:r>
            <a:endParaRPr lang="zh-CN" altLang="en-US" dirty="0">
              <a:latin typeface="Times New Roman" pitchFamily="18" charset="0"/>
              <a:cs typeface="Times New Roman" pitchFamily="18" charset="0"/>
            </a:endParaRPr>
          </a:p>
        </p:txBody>
      </p:sp>
      <p:sp>
        <p:nvSpPr>
          <p:cNvPr id="6" name="矩形 5"/>
          <p:cNvSpPr/>
          <p:nvPr/>
        </p:nvSpPr>
        <p:spPr>
          <a:xfrm>
            <a:off x="4019341" y="3619974"/>
            <a:ext cx="3018775" cy="369332"/>
          </a:xfrm>
          <a:prstGeom prst="rect">
            <a:avLst/>
          </a:prstGeom>
        </p:spPr>
        <p:txBody>
          <a:bodyPr wrap="none">
            <a:spAutoFit/>
          </a:bodyPr>
          <a:lstStyle/>
          <a:p>
            <a:r>
              <a:rPr lang="en-US" altLang="zh-CN" dirty="0"/>
              <a:t>1907, </a:t>
            </a:r>
            <a:r>
              <a:rPr lang="en-US" altLang="zh-CN" dirty="0">
                <a:latin typeface="Times New Roman" pitchFamily="18" charset="0"/>
                <a:cs typeface="Times New Roman" pitchFamily="18" charset="0"/>
              </a:rPr>
              <a:t>Moissan die in </a:t>
            </a:r>
            <a:r>
              <a:rPr lang="en-US" altLang="zh-CN" dirty="0"/>
              <a:t> </a:t>
            </a:r>
            <a:r>
              <a:rPr lang="en-US" altLang="zh-CN" dirty="0">
                <a:latin typeface="Times New Roman" pitchFamily="18" charset="0"/>
                <a:cs typeface="Times New Roman" pitchFamily="18" charset="0"/>
              </a:rPr>
              <a:t>Paris  </a:t>
            </a:r>
            <a:r>
              <a:rPr lang="en-US" altLang="zh-CN" dirty="0"/>
              <a:t> </a:t>
            </a:r>
            <a:endParaRPr lang="zh-CN" altLang="en-US" dirty="0"/>
          </a:p>
        </p:txBody>
      </p:sp>
      <p:sp>
        <p:nvSpPr>
          <p:cNvPr id="7" name="矩形 6"/>
          <p:cNvSpPr/>
          <p:nvPr/>
        </p:nvSpPr>
        <p:spPr>
          <a:xfrm>
            <a:off x="235961" y="4049695"/>
            <a:ext cx="2890535" cy="369332"/>
          </a:xfrm>
          <a:prstGeom prst="rect">
            <a:avLst/>
          </a:prstGeom>
        </p:spPr>
        <p:txBody>
          <a:bodyPr wrap="none">
            <a:spAutoFit/>
          </a:bodyPr>
          <a:lstStyle/>
          <a:p>
            <a:r>
              <a:rPr lang="en-US" altLang="zh-CN" dirty="0"/>
              <a:t>Henri Moissan, 1852-1907</a:t>
            </a:r>
            <a:endParaRPr lang="zh-CN" altLang="en-US" dirty="0"/>
          </a:p>
        </p:txBody>
      </p:sp>
      <p:sp>
        <p:nvSpPr>
          <p:cNvPr id="8" name="TextBox 7"/>
          <p:cNvSpPr txBox="1"/>
          <p:nvPr/>
        </p:nvSpPr>
        <p:spPr>
          <a:xfrm>
            <a:off x="1875618" y="5183220"/>
            <a:ext cx="4772968" cy="369332"/>
          </a:xfrm>
          <a:prstGeom prst="rect">
            <a:avLst/>
          </a:prstGeom>
          <a:noFill/>
        </p:spPr>
        <p:txBody>
          <a:bodyPr wrap="square" rtlCol="0">
            <a:spAutoFit/>
          </a:bodyPr>
          <a:lstStyle/>
          <a:p>
            <a:r>
              <a:rPr lang="en-US" altLang="zh-CN" dirty="0"/>
              <a:t>The first </a:t>
            </a:r>
            <a:r>
              <a:rPr lang="en-US" altLang="zh-CN" u="sng" dirty="0">
                <a:latin typeface="Times New Roman" pitchFamily="18" charset="0"/>
                <a:cs typeface="Times New Roman" pitchFamily="18" charset="0"/>
                <a:hlinkClick r:id="rId3"/>
              </a:rPr>
              <a:t>synthetic diamonds</a:t>
            </a:r>
            <a:r>
              <a:rPr lang="en-US" altLang="zh-CN" u="sng" dirty="0">
                <a:latin typeface="Times New Roman" pitchFamily="18" charset="0"/>
                <a:cs typeface="Times New Roman" pitchFamily="18" charset="0"/>
              </a:rPr>
              <a:t> are proved fake !!!</a:t>
            </a:r>
            <a:endParaRPr lang="zh-CN" altLang="en-US" dirty="0"/>
          </a:p>
        </p:txBody>
      </p:sp>
      <p:sp>
        <p:nvSpPr>
          <p:cNvPr id="10" name="矩形 9"/>
          <p:cNvSpPr/>
          <p:nvPr/>
        </p:nvSpPr>
        <p:spPr>
          <a:xfrm>
            <a:off x="923669" y="79103"/>
            <a:ext cx="3874779" cy="584775"/>
          </a:xfrm>
          <a:prstGeom prst="rect">
            <a:avLst/>
          </a:prstGeom>
        </p:spPr>
        <p:txBody>
          <a:bodyPr wrap="none">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Synthetic diamonds </a:t>
            </a:r>
            <a:endParaRPr lang="zh-CN" altLang="en-US" sz="3200" dirty="0">
              <a:solidFill>
                <a:srgbClr val="FF0000"/>
              </a:solidFill>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2603616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4594" y="0"/>
            <a:ext cx="6277681" cy="830997"/>
          </a:xfrm>
          <a:prstGeom prst="rect">
            <a:avLst/>
          </a:prstGeom>
          <a:noFill/>
        </p:spPr>
        <p:txBody>
          <a:bodyPr wrap="none" rtlCol="0">
            <a:spAutoFit/>
          </a:bodyPr>
          <a:lstStyle/>
          <a:p>
            <a:r>
              <a:rPr lang="en-US" altLang="zh-CN" sz="2400" dirty="0"/>
              <a:t>Calculate the pressure </a:t>
            </a:r>
          </a:p>
          <a:p>
            <a:r>
              <a:rPr lang="en-US" altLang="zh-CN" sz="2400" dirty="0"/>
              <a:t>to obtain the diamond from graphite at 298K </a:t>
            </a:r>
            <a:endParaRPr lang="zh-CN" altLang="en-US" sz="2400" dirty="0"/>
          </a:p>
        </p:txBody>
      </p:sp>
      <p:graphicFrame>
        <p:nvGraphicFramePr>
          <p:cNvPr id="3" name="对象 2"/>
          <p:cNvGraphicFramePr>
            <a:graphicFrameLocks noChangeAspect="1"/>
          </p:cNvGraphicFramePr>
          <p:nvPr>
            <p:extLst>
              <p:ext uri="{D42A27DB-BD31-4B8C-83A1-F6EECF244321}">
                <p14:modId xmlns:p14="http://schemas.microsoft.com/office/powerpoint/2010/main" val="2921935527"/>
              </p:ext>
            </p:extLst>
          </p:nvPr>
        </p:nvGraphicFramePr>
        <p:xfrm>
          <a:off x="321984" y="1143733"/>
          <a:ext cx="3355714" cy="1624622"/>
        </p:xfrm>
        <a:graphic>
          <a:graphicData uri="http://schemas.openxmlformats.org/presentationml/2006/ole">
            <mc:AlternateContent xmlns:mc="http://schemas.openxmlformats.org/markup-compatibility/2006">
              <mc:Choice xmlns:v="urn:schemas-microsoft-com:vml" Requires="v">
                <p:oleObj name="Equation" r:id="rId2" imgW="2552400" imgH="1231560" progId="Equation.DSMT4">
                  <p:embed/>
                </p:oleObj>
              </mc:Choice>
              <mc:Fallback>
                <p:oleObj name="Equation" r:id="rId2" imgW="2552400" imgH="1231560" progId="Equation.DSMT4">
                  <p:embed/>
                  <p:pic>
                    <p:nvPicPr>
                      <p:cNvPr id="0" name="对象 15"/>
                      <p:cNvPicPr>
                        <a:picLocks noChangeAspect="1" noChangeArrowheads="1"/>
                      </p:cNvPicPr>
                      <p:nvPr/>
                    </p:nvPicPr>
                    <p:blipFill>
                      <a:blip r:embed="rId3"/>
                      <a:srcRect/>
                      <a:stretch>
                        <a:fillRect/>
                      </a:stretch>
                    </p:blipFill>
                    <p:spPr bwMode="auto">
                      <a:xfrm>
                        <a:off x="321984" y="1143733"/>
                        <a:ext cx="3355714" cy="1624622"/>
                      </a:xfrm>
                      <a:prstGeom prst="rect">
                        <a:avLst/>
                      </a:prstGeom>
                      <a:solidFill>
                        <a:schemeClr val="accent2">
                          <a:lumMod val="20000"/>
                          <a:lumOff val="80000"/>
                        </a:schemeClr>
                      </a:solidFill>
                      <a:ln>
                        <a:noFill/>
                      </a:ln>
                    </p:spPr>
                  </p:pic>
                </p:oleObj>
              </mc:Fallback>
            </mc:AlternateContent>
          </a:graphicData>
        </a:graphic>
      </p:graphicFrame>
      <p:sp>
        <p:nvSpPr>
          <p:cNvPr id="4" name="TextBox 3"/>
          <p:cNvSpPr txBox="1"/>
          <p:nvPr/>
        </p:nvSpPr>
        <p:spPr>
          <a:xfrm>
            <a:off x="164529" y="2968688"/>
            <a:ext cx="4280383" cy="646331"/>
          </a:xfrm>
          <a:prstGeom prst="rect">
            <a:avLst/>
          </a:prstGeom>
          <a:noFill/>
        </p:spPr>
        <p:txBody>
          <a:bodyPr wrap="square" rtlCol="0">
            <a:spAutoFit/>
          </a:bodyPr>
          <a:lstStyle/>
          <a:p>
            <a:r>
              <a:rPr lang="en-US" altLang="zh-CN" dirty="0"/>
              <a:t>For the transformation from graphite to  diamond, at  P=1, T=298K </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4137282296"/>
              </p:ext>
            </p:extLst>
          </p:nvPr>
        </p:nvGraphicFramePr>
        <p:xfrm>
          <a:off x="496921" y="3615019"/>
          <a:ext cx="2855913" cy="604837"/>
        </p:xfrm>
        <a:graphic>
          <a:graphicData uri="http://schemas.openxmlformats.org/presentationml/2006/ole">
            <mc:AlternateContent xmlns:mc="http://schemas.openxmlformats.org/markup-compatibility/2006">
              <mc:Choice xmlns:v="urn:schemas-microsoft-com:vml" Requires="v">
                <p:oleObj name="Equation" r:id="rId4" imgW="2171520" imgH="457200" progId="Equation.DSMT4">
                  <p:embed/>
                </p:oleObj>
              </mc:Choice>
              <mc:Fallback>
                <p:oleObj name="Equation" r:id="rId4" imgW="2171520" imgH="457200" progId="Equation.DSMT4">
                  <p:embed/>
                  <p:pic>
                    <p:nvPicPr>
                      <p:cNvPr id="0" name="对象 2"/>
                      <p:cNvPicPr>
                        <a:picLocks noChangeAspect="1" noChangeArrowheads="1"/>
                      </p:cNvPicPr>
                      <p:nvPr/>
                    </p:nvPicPr>
                    <p:blipFill>
                      <a:blip r:embed="rId5"/>
                      <a:srcRect/>
                      <a:stretch>
                        <a:fillRect/>
                      </a:stretch>
                    </p:blipFill>
                    <p:spPr bwMode="auto">
                      <a:xfrm>
                        <a:off x="496921" y="3615019"/>
                        <a:ext cx="2855913" cy="604837"/>
                      </a:xfrm>
                      <a:prstGeom prst="rect">
                        <a:avLst/>
                      </a:prstGeom>
                      <a:solidFill>
                        <a:schemeClr val="bg1"/>
                      </a:solidFill>
                      <a:ln>
                        <a:no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220396499"/>
              </p:ext>
            </p:extLst>
          </p:nvPr>
        </p:nvGraphicFramePr>
        <p:xfrm>
          <a:off x="557599" y="4840031"/>
          <a:ext cx="1642992" cy="260441"/>
        </p:xfrm>
        <a:graphic>
          <a:graphicData uri="http://schemas.openxmlformats.org/presentationml/2006/ole">
            <mc:AlternateContent xmlns:mc="http://schemas.openxmlformats.org/markup-compatibility/2006">
              <mc:Choice xmlns:v="urn:schemas-microsoft-com:vml" Requires="v">
                <p:oleObj name="Equation" r:id="rId6" imgW="1130040" imgH="177480" progId="Equation.DSMT4">
                  <p:embed/>
                </p:oleObj>
              </mc:Choice>
              <mc:Fallback>
                <p:oleObj name="Equation" r:id="rId6" imgW="1130040" imgH="177480" progId="Equation.DSMT4">
                  <p:embed/>
                  <p:pic>
                    <p:nvPicPr>
                      <p:cNvPr id="0" name="对象 14"/>
                      <p:cNvPicPr>
                        <a:picLocks noChangeAspect="1" noChangeArrowheads="1"/>
                      </p:cNvPicPr>
                      <p:nvPr/>
                    </p:nvPicPr>
                    <p:blipFill>
                      <a:blip r:embed="rId7"/>
                      <a:srcRect/>
                      <a:stretch>
                        <a:fillRect/>
                      </a:stretch>
                    </p:blipFill>
                    <p:spPr bwMode="auto">
                      <a:xfrm>
                        <a:off x="557599" y="4840031"/>
                        <a:ext cx="1642992" cy="260441"/>
                      </a:xfrm>
                      <a:prstGeom prst="rect">
                        <a:avLst/>
                      </a:prstGeom>
                      <a:noFill/>
                      <a:ln>
                        <a:noFill/>
                      </a:ln>
                    </p:spPr>
                  </p:pic>
                </p:oleObj>
              </mc:Fallback>
            </mc:AlternateContent>
          </a:graphicData>
        </a:graphic>
      </p:graphicFrame>
      <p:sp>
        <p:nvSpPr>
          <p:cNvPr id="7" name="TextBox 6"/>
          <p:cNvSpPr txBox="1"/>
          <p:nvPr/>
        </p:nvSpPr>
        <p:spPr>
          <a:xfrm>
            <a:off x="164529" y="4346580"/>
            <a:ext cx="3813929" cy="369332"/>
          </a:xfrm>
          <a:prstGeom prst="rect">
            <a:avLst/>
          </a:prstGeom>
          <a:noFill/>
        </p:spPr>
        <p:txBody>
          <a:bodyPr wrap="none" rtlCol="0">
            <a:spAutoFit/>
          </a:bodyPr>
          <a:lstStyle/>
          <a:p>
            <a:r>
              <a:rPr lang="en-US" altLang="zh-CN" dirty="0"/>
              <a:t>The relationship between </a:t>
            </a:r>
            <a:r>
              <a:rPr lang="el-GR" altLang="zh-CN" dirty="0"/>
              <a:t>Δ</a:t>
            </a:r>
            <a:r>
              <a:rPr lang="en-US" altLang="zh-CN" dirty="0"/>
              <a:t>G and P</a:t>
            </a:r>
            <a:endParaRPr lang="zh-CN" altLang="en-US" dirty="0"/>
          </a:p>
        </p:txBody>
      </p:sp>
      <p:graphicFrame>
        <p:nvGraphicFramePr>
          <p:cNvPr id="8" name="对象 7"/>
          <p:cNvGraphicFramePr>
            <a:graphicFrameLocks noChangeAspect="1"/>
          </p:cNvGraphicFramePr>
          <p:nvPr>
            <p:extLst>
              <p:ext uri="{D42A27DB-BD31-4B8C-83A1-F6EECF244321}">
                <p14:modId xmlns:p14="http://schemas.microsoft.com/office/powerpoint/2010/main" val="3748251098"/>
              </p:ext>
            </p:extLst>
          </p:nvPr>
        </p:nvGraphicFramePr>
        <p:xfrm>
          <a:off x="583743" y="5213548"/>
          <a:ext cx="741701" cy="472508"/>
        </p:xfrm>
        <a:graphic>
          <a:graphicData uri="http://schemas.openxmlformats.org/presentationml/2006/ole">
            <mc:AlternateContent xmlns:mc="http://schemas.openxmlformats.org/markup-compatibility/2006">
              <mc:Choice xmlns:v="urn:schemas-microsoft-com:vml" Requires="v">
                <p:oleObj name="Equation" r:id="rId8" imgW="622080" imgH="393480" progId="Equation.DSMT4">
                  <p:embed/>
                </p:oleObj>
              </mc:Choice>
              <mc:Fallback>
                <p:oleObj name="Equation" r:id="rId8" imgW="622080" imgH="393480" progId="Equation.DSMT4">
                  <p:embed/>
                  <p:pic>
                    <p:nvPicPr>
                      <p:cNvPr id="0" name="对象 5"/>
                      <p:cNvPicPr>
                        <a:picLocks noChangeAspect="1" noChangeArrowheads="1"/>
                      </p:cNvPicPr>
                      <p:nvPr/>
                    </p:nvPicPr>
                    <p:blipFill>
                      <a:blip r:embed="rId9"/>
                      <a:srcRect/>
                      <a:stretch>
                        <a:fillRect/>
                      </a:stretch>
                    </p:blipFill>
                    <p:spPr bwMode="auto">
                      <a:xfrm>
                        <a:off x="583743" y="5213548"/>
                        <a:ext cx="741701" cy="472508"/>
                      </a:xfrm>
                      <a:prstGeom prst="rect">
                        <a:avLst/>
                      </a:prstGeom>
                      <a:noFill/>
                      <a:ln>
                        <a:noFill/>
                      </a:ln>
                    </p:spPr>
                  </p:pic>
                </p:oleObj>
              </mc:Fallback>
            </mc:AlternateContent>
          </a:graphicData>
        </a:graphic>
      </p:graphicFrame>
      <p:sp>
        <p:nvSpPr>
          <p:cNvPr id="9" name="TextBox 8"/>
          <p:cNvSpPr txBox="1"/>
          <p:nvPr/>
        </p:nvSpPr>
        <p:spPr>
          <a:xfrm>
            <a:off x="4444912" y="1081220"/>
            <a:ext cx="4188967" cy="338554"/>
          </a:xfrm>
          <a:prstGeom prst="rect">
            <a:avLst/>
          </a:prstGeom>
          <a:noFill/>
        </p:spPr>
        <p:txBody>
          <a:bodyPr wrap="none" rtlCol="0">
            <a:spAutoFit/>
          </a:bodyPr>
          <a:lstStyle/>
          <a:p>
            <a:r>
              <a:rPr lang="en-US" altLang="zh-CN" sz="1600" dirty="0"/>
              <a:t>The volume change for the phase transition </a:t>
            </a:r>
            <a:endParaRPr lang="zh-CN" altLang="en-US" sz="1600" dirty="0"/>
          </a:p>
        </p:txBody>
      </p:sp>
      <p:graphicFrame>
        <p:nvGraphicFramePr>
          <p:cNvPr id="10" name="对象 9"/>
          <p:cNvGraphicFramePr>
            <a:graphicFrameLocks noChangeAspect="1"/>
          </p:cNvGraphicFramePr>
          <p:nvPr>
            <p:extLst>
              <p:ext uri="{D42A27DB-BD31-4B8C-83A1-F6EECF244321}">
                <p14:modId xmlns:p14="http://schemas.microsoft.com/office/powerpoint/2010/main" val="876072526"/>
              </p:ext>
            </p:extLst>
          </p:nvPr>
        </p:nvGraphicFramePr>
        <p:xfrm>
          <a:off x="4720179" y="1506102"/>
          <a:ext cx="2784475" cy="1235075"/>
        </p:xfrm>
        <a:graphic>
          <a:graphicData uri="http://schemas.openxmlformats.org/presentationml/2006/ole">
            <mc:AlternateContent xmlns:mc="http://schemas.openxmlformats.org/markup-compatibility/2006">
              <mc:Choice xmlns:v="urn:schemas-microsoft-com:vml" Requires="v">
                <p:oleObj name="Equation" r:id="rId10" imgW="2336760" imgH="1028520" progId="Equation.DSMT4">
                  <p:embed/>
                </p:oleObj>
              </mc:Choice>
              <mc:Fallback>
                <p:oleObj name="Equation" r:id="rId10" imgW="2336760" imgH="1028520" progId="Equation.DSMT4">
                  <p:embed/>
                  <p:pic>
                    <p:nvPicPr>
                      <p:cNvPr id="0" name="对象 7"/>
                      <p:cNvPicPr>
                        <a:picLocks noChangeAspect="1" noChangeArrowheads="1"/>
                      </p:cNvPicPr>
                      <p:nvPr/>
                    </p:nvPicPr>
                    <p:blipFill>
                      <a:blip r:embed="rId11"/>
                      <a:srcRect/>
                      <a:stretch>
                        <a:fillRect/>
                      </a:stretch>
                    </p:blipFill>
                    <p:spPr bwMode="auto">
                      <a:xfrm>
                        <a:off x="4720179" y="1506102"/>
                        <a:ext cx="2784475"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316502103"/>
              </p:ext>
            </p:extLst>
          </p:nvPr>
        </p:nvGraphicFramePr>
        <p:xfrm>
          <a:off x="4521758" y="4319037"/>
          <a:ext cx="3586163" cy="396875"/>
        </p:xfrm>
        <a:graphic>
          <a:graphicData uri="http://schemas.openxmlformats.org/presentationml/2006/ole">
            <mc:AlternateContent xmlns:mc="http://schemas.openxmlformats.org/markup-compatibility/2006">
              <mc:Choice xmlns:v="urn:schemas-microsoft-com:vml" Requires="v">
                <p:oleObj name="Equation" r:id="rId12" imgW="3009600" imgH="330120" progId="Equation.DSMT4">
                  <p:embed/>
                </p:oleObj>
              </mc:Choice>
              <mc:Fallback>
                <p:oleObj name="Equation" r:id="rId12" imgW="3009600" imgH="330120" progId="Equation.DSMT4">
                  <p:embed/>
                  <p:pic>
                    <p:nvPicPr>
                      <p:cNvPr id="0" name="对象 7"/>
                      <p:cNvPicPr>
                        <a:picLocks noChangeAspect="1" noChangeArrowheads="1"/>
                      </p:cNvPicPr>
                      <p:nvPr/>
                    </p:nvPicPr>
                    <p:blipFill>
                      <a:blip r:embed="rId13"/>
                      <a:srcRect/>
                      <a:stretch>
                        <a:fillRect/>
                      </a:stretch>
                    </p:blipFill>
                    <p:spPr bwMode="auto">
                      <a:xfrm>
                        <a:off x="4521758" y="4319037"/>
                        <a:ext cx="3586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4444912" y="3245687"/>
            <a:ext cx="4427783" cy="646331"/>
          </a:xfrm>
          <a:prstGeom prst="rect">
            <a:avLst/>
          </a:prstGeom>
        </p:spPr>
        <p:txBody>
          <a:bodyPr wrap="square">
            <a:spAutoFit/>
          </a:bodyPr>
          <a:lstStyle/>
          <a:p>
            <a:r>
              <a:rPr lang="en-US" altLang="zh-CN" dirty="0"/>
              <a:t>Calculate the pressure at the equilibrium condition, P and T= 298 </a:t>
            </a:r>
          </a:p>
        </p:txBody>
      </p:sp>
      <p:graphicFrame>
        <p:nvGraphicFramePr>
          <p:cNvPr id="14" name="对象 13"/>
          <p:cNvGraphicFramePr>
            <a:graphicFrameLocks noChangeAspect="1"/>
          </p:cNvGraphicFramePr>
          <p:nvPr>
            <p:extLst>
              <p:ext uri="{D42A27DB-BD31-4B8C-83A1-F6EECF244321}">
                <p14:modId xmlns:p14="http://schemas.microsoft.com/office/powerpoint/2010/main" val="1029625950"/>
              </p:ext>
            </p:extLst>
          </p:nvPr>
        </p:nvGraphicFramePr>
        <p:xfrm>
          <a:off x="4521758" y="4950114"/>
          <a:ext cx="3525837" cy="304800"/>
        </p:xfrm>
        <a:graphic>
          <a:graphicData uri="http://schemas.openxmlformats.org/presentationml/2006/ole">
            <mc:AlternateContent xmlns:mc="http://schemas.openxmlformats.org/markup-compatibility/2006">
              <mc:Choice xmlns:v="urn:schemas-microsoft-com:vml" Requires="v">
                <p:oleObj name="Equation" r:id="rId14" imgW="2958840" imgH="253800" progId="Equation.DSMT4">
                  <p:embed/>
                </p:oleObj>
              </mc:Choice>
              <mc:Fallback>
                <p:oleObj name="Equation" r:id="rId14" imgW="2958840" imgH="253800" progId="Equation.DSMT4">
                  <p:embed/>
                  <p:pic>
                    <p:nvPicPr>
                      <p:cNvPr id="0" name="对象 10"/>
                      <p:cNvPicPr>
                        <a:picLocks noChangeAspect="1" noChangeArrowheads="1"/>
                      </p:cNvPicPr>
                      <p:nvPr/>
                    </p:nvPicPr>
                    <p:blipFill>
                      <a:blip r:embed="rId15"/>
                      <a:srcRect/>
                      <a:stretch>
                        <a:fillRect/>
                      </a:stretch>
                    </p:blipFill>
                    <p:spPr bwMode="auto">
                      <a:xfrm>
                        <a:off x="4521758" y="4950114"/>
                        <a:ext cx="3525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47841869"/>
              </p:ext>
            </p:extLst>
          </p:nvPr>
        </p:nvGraphicFramePr>
        <p:xfrm>
          <a:off x="4738618" y="2867088"/>
          <a:ext cx="1295400" cy="203200"/>
        </p:xfrm>
        <a:graphic>
          <a:graphicData uri="http://schemas.openxmlformats.org/presentationml/2006/ole">
            <mc:AlternateContent xmlns:mc="http://schemas.openxmlformats.org/markup-compatibility/2006">
              <mc:Choice xmlns:v="urn:schemas-microsoft-com:vml" Requires="v">
                <p:oleObj name="Equation" r:id="rId16" imgW="1295280" imgH="203040" progId="Equation.DSMT4">
                  <p:embed/>
                </p:oleObj>
              </mc:Choice>
              <mc:Fallback>
                <p:oleObj name="Equation" r:id="rId16" imgW="1295280" imgH="203040" progId="Equation.DSMT4">
                  <p:embed/>
                  <p:pic>
                    <p:nvPicPr>
                      <p:cNvPr id="0" name=""/>
                      <p:cNvPicPr/>
                      <p:nvPr/>
                    </p:nvPicPr>
                    <p:blipFill>
                      <a:blip r:embed="rId17"/>
                      <a:stretch>
                        <a:fillRect/>
                      </a:stretch>
                    </p:blipFill>
                    <p:spPr>
                      <a:xfrm>
                        <a:off x="4738618" y="2867088"/>
                        <a:ext cx="1295400" cy="203200"/>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868353190"/>
              </p:ext>
            </p:extLst>
          </p:nvPr>
        </p:nvGraphicFramePr>
        <p:xfrm>
          <a:off x="4522753" y="3892018"/>
          <a:ext cx="1754187" cy="354012"/>
        </p:xfrm>
        <a:graphic>
          <a:graphicData uri="http://schemas.openxmlformats.org/presentationml/2006/ole">
            <mc:AlternateContent xmlns:mc="http://schemas.openxmlformats.org/markup-compatibility/2006">
              <mc:Choice xmlns:v="urn:schemas-microsoft-com:vml" Requires="v">
                <p:oleObj name="Equation" r:id="rId18" imgW="1206360" imgH="241200" progId="Equation.DSMT4">
                  <p:embed/>
                </p:oleObj>
              </mc:Choice>
              <mc:Fallback>
                <p:oleObj name="Equation" r:id="rId18" imgW="1206360" imgH="241200" progId="Equation.DSMT4">
                  <p:embed/>
                  <p:pic>
                    <p:nvPicPr>
                      <p:cNvPr id="0" name="对象 5"/>
                      <p:cNvPicPr>
                        <a:picLocks noChangeAspect="1" noChangeArrowheads="1"/>
                      </p:cNvPicPr>
                      <p:nvPr/>
                    </p:nvPicPr>
                    <p:blipFill>
                      <a:blip r:embed="rId19"/>
                      <a:srcRect/>
                      <a:stretch>
                        <a:fillRect/>
                      </a:stretch>
                    </p:blipFill>
                    <p:spPr bwMode="auto">
                      <a:xfrm>
                        <a:off x="4522753" y="3892018"/>
                        <a:ext cx="1754187" cy="354012"/>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739424014"/>
              </p:ext>
            </p:extLst>
          </p:nvPr>
        </p:nvGraphicFramePr>
        <p:xfrm>
          <a:off x="4371975" y="5545138"/>
          <a:ext cx="3889375" cy="303212"/>
        </p:xfrm>
        <a:graphic>
          <a:graphicData uri="http://schemas.openxmlformats.org/presentationml/2006/ole">
            <mc:AlternateContent xmlns:mc="http://schemas.openxmlformats.org/markup-compatibility/2006">
              <mc:Choice xmlns:v="urn:schemas-microsoft-com:vml" Requires="v">
                <p:oleObj name="Equation" r:id="rId20" imgW="3263760" imgH="253800" progId="Equation.DSMT4">
                  <p:embed/>
                </p:oleObj>
              </mc:Choice>
              <mc:Fallback>
                <p:oleObj name="Equation" r:id="rId20" imgW="3263760" imgH="253800" progId="Equation.DSMT4">
                  <p:embed/>
                  <p:pic>
                    <p:nvPicPr>
                      <p:cNvPr id="0" name="对象 13"/>
                      <p:cNvPicPr>
                        <a:picLocks noChangeAspect="1" noChangeArrowheads="1"/>
                      </p:cNvPicPr>
                      <p:nvPr/>
                    </p:nvPicPr>
                    <p:blipFill>
                      <a:blip r:embed="rId21"/>
                      <a:srcRect/>
                      <a:stretch>
                        <a:fillRect/>
                      </a:stretch>
                    </p:blipFill>
                    <p:spPr bwMode="auto">
                      <a:xfrm>
                        <a:off x="4371975" y="5545138"/>
                        <a:ext cx="3889375"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417073537"/>
              </p:ext>
            </p:extLst>
          </p:nvPr>
        </p:nvGraphicFramePr>
        <p:xfrm>
          <a:off x="4444912" y="6100744"/>
          <a:ext cx="2001612" cy="410587"/>
        </p:xfrm>
        <a:graphic>
          <a:graphicData uri="http://schemas.openxmlformats.org/presentationml/2006/ole">
            <mc:AlternateContent xmlns:mc="http://schemas.openxmlformats.org/markup-compatibility/2006">
              <mc:Choice xmlns:v="urn:schemas-microsoft-com:vml" Requires="v">
                <p:oleObj name="Equation" r:id="rId22" imgW="990360" imgH="203040" progId="Equation.DSMT4">
                  <p:embed/>
                </p:oleObj>
              </mc:Choice>
              <mc:Fallback>
                <p:oleObj name="Equation" r:id="rId22" imgW="990360" imgH="203040" progId="Equation.DSMT4">
                  <p:embed/>
                  <p:pic>
                    <p:nvPicPr>
                      <p:cNvPr id="0" name=""/>
                      <p:cNvPicPr/>
                      <p:nvPr/>
                    </p:nvPicPr>
                    <p:blipFill>
                      <a:blip r:embed="rId23"/>
                      <a:stretch>
                        <a:fillRect/>
                      </a:stretch>
                    </p:blipFill>
                    <p:spPr>
                      <a:xfrm>
                        <a:off x="4444912" y="6100744"/>
                        <a:ext cx="2001612" cy="410587"/>
                      </a:xfrm>
                      <a:prstGeom prst="rect">
                        <a:avLst/>
                      </a:prstGeom>
                      <a:solidFill>
                        <a:schemeClr val="accent2"/>
                      </a:solidFill>
                    </p:spPr>
                  </p:pic>
                </p:oleObj>
              </mc:Fallback>
            </mc:AlternateContent>
          </a:graphicData>
        </a:graphic>
      </p:graphicFrame>
    </p:spTree>
    <p:extLst>
      <p:ext uri="{BB962C8B-B14F-4D97-AF65-F5344CB8AC3E}">
        <p14:creationId xmlns:p14="http://schemas.microsoft.com/office/powerpoint/2010/main" val="1446792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6717" y="906383"/>
            <a:ext cx="4572000" cy="646331"/>
          </a:xfrm>
          <a:prstGeom prst="rect">
            <a:avLst/>
          </a:prstGeom>
        </p:spPr>
        <p:txBody>
          <a:bodyPr>
            <a:spAutoFit/>
          </a:bodyPr>
          <a:lstStyle/>
          <a:p>
            <a:r>
              <a:rPr lang="en-US" altLang="zh-CN" dirty="0"/>
              <a:t>1941, General Electric changed the history of synthetic diamonds </a:t>
            </a:r>
            <a:endParaRPr lang="zh-CN" altLang="en-US" dirty="0"/>
          </a:p>
        </p:txBody>
      </p:sp>
      <p:pic>
        <p:nvPicPr>
          <p:cNvPr id="169986" name="Picture 2" descr="See the source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54020" y="362337"/>
            <a:ext cx="1444098" cy="144409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923669" y="79103"/>
            <a:ext cx="3874779" cy="584775"/>
          </a:xfrm>
          <a:prstGeom prst="rect">
            <a:avLst/>
          </a:prstGeom>
        </p:spPr>
        <p:txBody>
          <a:bodyPr wrap="none">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Synthetic diamonds </a:t>
            </a:r>
            <a:endParaRPr lang="zh-CN" altLang="en-US" sz="3200" dirty="0">
              <a:solidFill>
                <a:srgbClr val="FF0000"/>
              </a:solidFill>
              <a:latin typeface="Arial Unicode MS" pitchFamily="34" charset="-122"/>
              <a:ea typeface="Arial Unicode MS" pitchFamily="34" charset="-122"/>
              <a:cs typeface="Arial Unicode MS" pitchFamily="34" charset="-122"/>
            </a:endParaRPr>
          </a:p>
        </p:txBody>
      </p:sp>
      <p:sp>
        <p:nvSpPr>
          <p:cNvPr id="3" name="矩形 2"/>
          <p:cNvSpPr/>
          <p:nvPr/>
        </p:nvSpPr>
        <p:spPr>
          <a:xfrm>
            <a:off x="356717" y="1968607"/>
            <a:ext cx="7480998" cy="1477328"/>
          </a:xfrm>
          <a:prstGeom prst="rect">
            <a:avLst/>
          </a:prstGeom>
        </p:spPr>
        <p:txBody>
          <a:bodyPr wrap="square">
            <a:spAutoFit/>
          </a:bodyPr>
          <a:lstStyle/>
          <a:p>
            <a:r>
              <a:rPr lang="en-US" altLang="zh-CN" b="1" dirty="0">
                <a:solidFill>
                  <a:srgbClr val="0000FF"/>
                </a:solidFill>
              </a:rPr>
              <a:t>HPHT (High Pressure High Temperature) process. </a:t>
            </a:r>
          </a:p>
          <a:p>
            <a:r>
              <a:rPr lang="en-US" altLang="zh-CN" dirty="0"/>
              <a:t>They placed a combination of metal and carbon into a chamber , then applied over a million pounds of pressure per square inch at a temperature of over 2,700 degrees </a:t>
            </a:r>
            <a:r>
              <a:rPr lang="en-US" altLang="zh-CN" dirty="0" err="1"/>
              <a:t>celsius</a:t>
            </a:r>
            <a:r>
              <a:rPr lang="en-US" altLang="zh-CN" dirty="0"/>
              <a:t>! The process took about 20 minutes</a:t>
            </a:r>
            <a:endParaRPr lang="zh-CN" altLang="en-US" dirty="0"/>
          </a:p>
        </p:txBody>
      </p:sp>
      <p:pic>
        <p:nvPicPr>
          <p:cNvPr id="7" name="Picture 1" descr="C:\Users\Lenovo\AppData\Roaming\Tencent\Users\158288951\QQ\WinTemp\RichOle\[M9D)~@YH4SXETTHCHZ_9X8.png"/>
          <p:cNvPicPr>
            <a:picLocks noChangeAspect="1" noChangeArrowheads="1"/>
          </p:cNvPicPr>
          <p:nvPr/>
        </p:nvPicPr>
        <p:blipFill>
          <a:blip r:embed="rId3"/>
          <a:srcRect/>
          <a:stretch>
            <a:fillRect/>
          </a:stretch>
        </p:blipFill>
        <p:spPr bwMode="auto">
          <a:xfrm>
            <a:off x="702807" y="4488323"/>
            <a:ext cx="1555390" cy="1505072"/>
          </a:xfrm>
          <a:prstGeom prst="rect">
            <a:avLst/>
          </a:prstGeom>
          <a:noFill/>
          <a:ln w="9525">
            <a:noFill/>
            <a:miter lim="800000"/>
            <a:headEnd/>
            <a:tailEnd/>
          </a:ln>
        </p:spPr>
      </p:pic>
      <p:pic>
        <p:nvPicPr>
          <p:cNvPr id="8" name="Picture 11" descr="https://www.onsrud.com/servlet/PlusStreamer?imageId=12744"/>
          <p:cNvPicPr>
            <a:picLocks noChangeAspect="1" noChangeArrowheads="1"/>
          </p:cNvPicPr>
          <p:nvPr/>
        </p:nvPicPr>
        <p:blipFill>
          <a:blip r:embed="rId4"/>
          <a:srcRect/>
          <a:stretch>
            <a:fillRect/>
          </a:stretch>
        </p:blipFill>
        <p:spPr bwMode="auto">
          <a:xfrm>
            <a:off x="2488624" y="4488321"/>
            <a:ext cx="2047642" cy="1440175"/>
          </a:xfrm>
          <a:prstGeom prst="rect">
            <a:avLst/>
          </a:prstGeom>
          <a:noFill/>
          <a:ln w="9525">
            <a:noFill/>
            <a:miter lim="800000"/>
            <a:headEnd/>
            <a:tailEnd/>
          </a:ln>
        </p:spPr>
      </p:pic>
      <p:pic>
        <p:nvPicPr>
          <p:cNvPr id="10" name="Picture 132"/>
          <p:cNvPicPr>
            <a:picLocks noChangeAspect="1" noChangeArrowheads="1"/>
          </p:cNvPicPr>
          <p:nvPr/>
        </p:nvPicPr>
        <p:blipFill rotWithShape="1">
          <a:blip r:embed="rId5"/>
          <a:srcRect r="27918"/>
          <a:stretch/>
        </p:blipFill>
        <p:spPr bwMode="auto">
          <a:xfrm>
            <a:off x="5038494" y="4391303"/>
            <a:ext cx="3215524" cy="1699112"/>
          </a:xfrm>
          <a:prstGeom prst="rect">
            <a:avLst/>
          </a:prstGeom>
          <a:noFill/>
          <a:ln w="9525">
            <a:noFill/>
            <a:miter lim="800000"/>
            <a:headEnd/>
            <a:tailEnd/>
          </a:ln>
        </p:spPr>
      </p:pic>
    </p:spTree>
    <p:extLst>
      <p:ext uri="{BB962C8B-B14F-4D97-AF65-F5344CB8AC3E}">
        <p14:creationId xmlns:p14="http://schemas.microsoft.com/office/powerpoint/2010/main" val="530703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34497" y="91140"/>
            <a:ext cx="4384534" cy="523220"/>
          </a:xfrm>
          <a:prstGeom prst="rect">
            <a:avLst/>
          </a:prstGeom>
          <a:noFill/>
        </p:spPr>
        <p:txBody>
          <a:bodyPr wrap="none" rtlCol="0">
            <a:spAutoFit/>
          </a:bodyPr>
          <a:lstStyle/>
          <a:p>
            <a:r>
              <a:rPr lang="en-US" altLang="zh-CN" sz="2800" dirty="0">
                <a:solidFill>
                  <a:srgbClr val="FF0000"/>
                </a:solidFill>
              </a:rPr>
              <a:t>Phase diagram of carbon </a:t>
            </a:r>
            <a:endParaRPr lang="zh-CN" altLang="en-US" sz="2800" dirty="0">
              <a:solidFill>
                <a:srgbClr val="FF0000"/>
              </a:solidFill>
            </a:endParaRPr>
          </a:p>
        </p:txBody>
      </p:sp>
      <p:sp>
        <p:nvSpPr>
          <p:cNvPr id="3" name="TextBox 2"/>
          <p:cNvSpPr txBox="1"/>
          <p:nvPr/>
        </p:nvSpPr>
        <p:spPr>
          <a:xfrm>
            <a:off x="272904" y="5708122"/>
            <a:ext cx="4008913" cy="646331"/>
          </a:xfrm>
          <a:prstGeom prst="rect">
            <a:avLst/>
          </a:prstGeom>
          <a:noFill/>
        </p:spPr>
        <p:txBody>
          <a:bodyPr wrap="square" rtlCol="0">
            <a:spAutoFit/>
          </a:bodyPr>
          <a:lstStyle/>
          <a:p>
            <a:pPr marL="285750" indent="-285750">
              <a:buFont typeface="Arial" pitchFamily="34" charset="0"/>
              <a:buChar char="•"/>
            </a:pPr>
            <a:r>
              <a:rPr lang="en-US" altLang="zh-CN" dirty="0"/>
              <a:t>This is why we can’t synthesize diamond if no high pressure.</a:t>
            </a:r>
            <a:endParaRPr lang="zh-CN" altLang="en-US" dirty="0"/>
          </a:p>
        </p:txBody>
      </p:sp>
      <p:pic>
        <p:nvPicPr>
          <p:cNvPr id="6" name="Picture 2" descr="Image result for phase diagram of graphite and diamond">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149" y="1162791"/>
            <a:ext cx="3820668" cy="4307801"/>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1"/>
          <p:cNvGrpSpPr/>
          <p:nvPr/>
        </p:nvGrpSpPr>
        <p:grpSpPr>
          <a:xfrm>
            <a:off x="4386518" y="1242477"/>
            <a:ext cx="4393190" cy="3369923"/>
            <a:chOff x="2984502" y="4114800"/>
            <a:chExt cx="3245549" cy="2489967"/>
          </a:xfrm>
        </p:grpSpPr>
        <p:pic>
          <p:nvPicPr>
            <p:cNvPr id="8" name="Picture 4" descr="http://3.bp.blogspot.com/-5ohxpP7jrIs/VjehtPfbJ9I/AAAAAAAACR0/VLVxOAnROmM/s640/3.5.jp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4502" y="4302455"/>
              <a:ext cx="3245549" cy="2302312"/>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3"/>
            <p:cNvGrpSpPr/>
            <p:nvPr/>
          </p:nvGrpSpPr>
          <p:grpSpPr>
            <a:xfrm>
              <a:off x="3691036" y="4114800"/>
              <a:ext cx="877163" cy="609600"/>
              <a:chOff x="3691036" y="4114800"/>
              <a:chExt cx="877163" cy="609600"/>
            </a:xfrm>
          </p:grpSpPr>
          <p:sp>
            <p:nvSpPr>
              <p:cNvPr id="13" name="TextBox 12"/>
              <p:cNvSpPr txBox="1"/>
              <p:nvPr/>
            </p:nvSpPr>
            <p:spPr>
              <a:xfrm>
                <a:off x="3691036" y="4114800"/>
                <a:ext cx="87716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2967B1"/>
                    </a:solidFill>
                    <a:effectLst>
                      <a:outerShdw blurRad="38100" dist="38100" dir="2700000" algn="tl">
                        <a:srgbClr val="000000">
                          <a:alpha val="43137"/>
                        </a:srgbClr>
                      </a:outerShdw>
                    </a:effectLst>
                    <a:uLnTx/>
                    <a:uFillTx/>
                  </a:rPr>
                  <a:t>金刚石</a:t>
                </a:r>
              </a:p>
            </p:txBody>
          </p:sp>
          <p:cxnSp>
            <p:nvCxnSpPr>
              <p:cNvPr id="14" name="Straight Arrow Connector 8"/>
              <p:cNvCxnSpPr/>
              <p:nvPr/>
            </p:nvCxnSpPr>
            <p:spPr>
              <a:xfrm>
                <a:off x="4129617" y="4495506"/>
                <a:ext cx="0" cy="228894"/>
              </a:xfrm>
              <a:prstGeom prst="straightConnector1">
                <a:avLst/>
              </a:prstGeom>
              <a:noFill/>
              <a:ln w="38100" cap="flat" cmpd="sng" algn="ctr">
                <a:solidFill>
                  <a:srgbClr val="FF0000"/>
                </a:solidFill>
                <a:prstDash val="solid"/>
                <a:tailEnd type="arrow"/>
              </a:ln>
              <a:effectLst/>
            </p:spPr>
          </p:cxnSp>
        </p:grpSp>
        <p:grpSp>
          <p:nvGrpSpPr>
            <p:cNvPr id="10" name="Group 4"/>
            <p:cNvGrpSpPr/>
            <p:nvPr/>
          </p:nvGrpSpPr>
          <p:grpSpPr>
            <a:xfrm>
              <a:off x="4953000" y="5105400"/>
              <a:ext cx="649537" cy="609600"/>
              <a:chOff x="3782933" y="4114800"/>
              <a:chExt cx="649537" cy="609600"/>
            </a:xfrm>
          </p:grpSpPr>
          <p:sp>
            <p:nvSpPr>
              <p:cNvPr id="11" name="TextBox 10"/>
              <p:cNvSpPr txBox="1"/>
              <p:nvPr/>
            </p:nvSpPr>
            <p:spPr>
              <a:xfrm>
                <a:off x="3782933" y="4114800"/>
                <a:ext cx="649537"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2967B1"/>
                    </a:solidFill>
                    <a:effectLst>
                      <a:outerShdw blurRad="38100" dist="38100" dir="2700000" algn="tl">
                        <a:srgbClr val="000000">
                          <a:alpha val="43137"/>
                        </a:srgbClr>
                      </a:outerShdw>
                    </a:effectLst>
                    <a:uLnTx/>
                    <a:uFillTx/>
                  </a:rPr>
                  <a:t>石墨</a:t>
                </a:r>
              </a:p>
            </p:txBody>
          </p:sp>
          <p:cxnSp>
            <p:nvCxnSpPr>
              <p:cNvPr id="12" name="Straight Arrow Connector 6"/>
              <p:cNvCxnSpPr/>
              <p:nvPr/>
            </p:nvCxnSpPr>
            <p:spPr>
              <a:xfrm>
                <a:off x="4129617" y="4495506"/>
                <a:ext cx="0" cy="228894"/>
              </a:xfrm>
              <a:prstGeom prst="straightConnector1">
                <a:avLst/>
              </a:prstGeom>
              <a:noFill/>
              <a:ln w="38100" cap="flat" cmpd="sng" algn="ctr">
                <a:solidFill>
                  <a:srgbClr val="FF0000"/>
                </a:solidFill>
                <a:prstDash val="solid"/>
                <a:tailEnd type="arrow"/>
              </a:ln>
              <a:effectLst/>
            </p:spPr>
          </p:cxnSp>
        </p:grpSp>
      </p:grpSp>
      <p:sp>
        <p:nvSpPr>
          <p:cNvPr id="4" name="TextBox 3"/>
          <p:cNvSpPr txBox="1"/>
          <p:nvPr/>
        </p:nvSpPr>
        <p:spPr>
          <a:xfrm>
            <a:off x="4793737" y="4784792"/>
            <a:ext cx="3578749" cy="923330"/>
          </a:xfrm>
          <a:prstGeom prst="rect">
            <a:avLst/>
          </a:prstGeom>
          <a:noFill/>
        </p:spPr>
        <p:txBody>
          <a:bodyPr wrap="square" rtlCol="0">
            <a:spAutoFit/>
          </a:bodyPr>
          <a:lstStyle/>
          <a:p>
            <a:pPr marL="285750" indent="-285750">
              <a:buFont typeface="Arial" pitchFamily="34" charset="0"/>
              <a:buChar char="•"/>
            </a:pPr>
            <a:r>
              <a:rPr lang="en-US" altLang="zh-CN" dirty="0"/>
              <a:t>The</a:t>
            </a:r>
            <a:r>
              <a:rPr lang="zh-CN" altLang="en-US" dirty="0"/>
              <a:t> </a:t>
            </a:r>
            <a:r>
              <a:rPr lang="en-US" altLang="zh-CN" dirty="0"/>
              <a:t>potential barrier prevent the phase transition from diamond to the graphite  </a:t>
            </a:r>
          </a:p>
        </p:txBody>
      </p:sp>
    </p:spTree>
    <p:extLst>
      <p:ext uri="{BB962C8B-B14F-4D97-AF65-F5344CB8AC3E}">
        <p14:creationId xmlns:p14="http://schemas.microsoft.com/office/powerpoint/2010/main" val="1647009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5007" y="32763"/>
            <a:ext cx="2053767" cy="584775"/>
          </a:xfrm>
          <a:prstGeom prst="rect">
            <a:avLst/>
          </a:prstGeom>
          <a:noFill/>
        </p:spPr>
        <p:txBody>
          <a:bodyPr wrap="none" rtlCol="0">
            <a:spAutoFit/>
          </a:bodyPr>
          <a:lstStyle/>
          <a:p>
            <a:r>
              <a:rPr lang="en-US" altLang="zh-CN" sz="3200" b="1" dirty="0">
                <a:solidFill>
                  <a:srgbClr val="FF0000"/>
                </a:solidFill>
                <a:effectLst>
                  <a:outerShdw blurRad="38100" dist="38100" dir="2700000" algn="tl">
                    <a:srgbClr val="000000">
                      <a:alpha val="43137"/>
                    </a:srgbClr>
                  </a:outerShdw>
                </a:effectLst>
              </a:rPr>
              <a:t>Pressure </a:t>
            </a:r>
            <a:endParaRPr lang="zh-CN" altLang="en-US" sz="3200" b="1" dirty="0">
              <a:solidFill>
                <a:srgbClr val="FF0000"/>
              </a:solidFill>
              <a:effectLst>
                <a:outerShdw blurRad="38100" dist="38100" dir="2700000" algn="tl">
                  <a:srgbClr val="000000">
                    <a:alpha val="43137"/>
                  </a:srgbClr>
                </a:outerShdw>
              </a:effectLst>
            </a:endParaRP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794" y="956466"/>
            <a:ext cx="2361598" cy="1924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descr="http://img1.dzwww.com:8080/tupian/20161114/16/12118816296576434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034" y="914402"/>
            <a:ext cx="3076787" cy="1924127"/>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6" descr="http://img3.imgtn.bdimg.com/it/u=922152091,3027841244&amp;fm=21&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8" descr="http://img3.imgtn.bdimg.com/it/u=922152091,3027841244&amp;fm=21&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10" descr="http://img3.imgtn.bdimg.com/it/u=922152091,3027841244&amp;fm=21&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12" descr="http://img2.imgtn.bdimg.com/it/u=3745558359,2153500707&amp;fm=21&amp;gp=0.jp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159" name="Picture 15" descr="http://image87.360doc.com/DownloadImg/2015/08/0907/56916231_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4669" y="3378356"/>
            <a:ext cx="3456191" cy="22496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299914" y="3468915"/>
            <a:ext cx="1107996" cy="369332"/>
          </a:xfrm>
          <a:prstGeom prst="rect">
            <a:avLst/>
          </a:prstGeom>
          <a:noFill/>
        </p:spPr>
        <p:txBody>
          <a:bodyPr wrap="none" rtlCol="0">
            <a:spAutoFit/>
          </a:bodyPr>
          <a:lstStyle/>
          <a:p>
            <a:r>
              <a:rPr lang="zh-CN" altLang="en-US" b="1" dirty="0">
                <a:solidFill>
                  <a:schemeClr val="bg1"/>
                </a:solidFill>
                <a:effectLst>
                  <a:outerShdw blurRad="38100" dist="38100" dir="2700000" algn="tl">
                    <a:srgbClr val="000000">
                      <a:alpha val="43137"/>
                    </a:srgbClr>
                  </a:outerShdw>
                </a:effectLst>
              </a:rPr>
              <a:t>高温高压</a:t>
            </a:r>
          </a:p>
        </p:txBody>
      </p:sp>
      <p:sp>
        <p:nvSpPr>
          <p:cNvPr id="13" name="Rectangle 7"/>
          <p:cNvSpPr>
            <a:spLocks noChangeArrowheads="1"/>
          </p:cNvSpPr>
          <p:nvPr/>
        </p:nvSpPr>
        <p:spPr bwMode="auto">
          <a:xfrm>
            <a:off x="4013699" y="109208"/>
            <a:ext cx="4259941"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00000"/>
                </a:solidFill>
                <a:effectLst/>
                <a:uLnTx/>
                <a:uFillTx/>
                <a:latin typeface="Arial" pitchFamily="34" charset="0"/>
                <a:cs typeface="Arial" pitchFamily="34" charset="0"/>
              </a:rPr>
              <a:t>1 </a:t>
            </a:r>
            <a:r>
              <a:rPr kumimoji="0" lang="en-US" altLang="zh-CN" i="0" u="none" strike="noStrike" kern="0" cap="none" spc="0" normalizeH="0" baseline="0" noProof="0" dirty="0" err="1">
                <a:ln>
                  <a:noFill/>
                </a:ln>
                <a:solidFill>
                  <a:srgbClr val="C00000"/>
                </a:solidFill>
                <a:effectLst/>
                <a:uLnTx/>
                <a:uFillTx/>
                <a:latin typeface="Arial" pitchFamily="34" charset="0"/>
                <a:cs typeface="Arial" pitchFamily="34" charset="0"/>
              </a:rPr>
              <a:t>GPa</a:t>
            </a:r>
            <a:r>
              <a:rPr kumimoji="0" lang="en-US" altLang="zh-CN" i="0" u="none" strike="noStrike" kern="0" cap="none" spc="0" normalizeH="0" baseline="0" noProof="0" dirty="0">
                <a:ln>
                  <a:noFill/>
                </a:ln>
                <a:solidFill>
                  <a:srgbClr val="C00000"/>
                </a:solidFill>
                <a:effectLst/>
                <a:uLnTx/>
                <a:uFillTx/>
                <a:latin typeface="Arial" pitchFamily="34" charset="0"/>
                <a:cs typeface="Arial" pitchFamily="34" charset="0"/>
              </a:rPr>
              <a:t> = 10</a:t>
            </a:r>
            <a:r>
              <a:rPr kumimoji="0" lang="en-US" altLang="zh-CN" i="0" u="none" strike="noStrike" kern="0" cap="none" spc="0" normalizeH="0" baseline="30000" noProof="0" dirty="0">
                <a:ln>
                  <a:noFill/>
                </a:ln>
                <a:solidFill>
                  <a:srgbClr val="C00000"/>
                </a:solidFill>
                <a:effectLst/>
                <a:uLnTx/>
                <a:uFillTx/>
                <a:latin typeface="Arial" pitchFamily="34" charset="0"/>
                <a:cs typeface="Arial" pitchFamily="34" charset="0"/>
              </a:rPr>
              <a:t>9 </a:t>
            </a:r>
            <a:r>
              <a:rPr kumimoji="0" lang="en-US" altLang="zh-CN" i="0" u="none" strike="noStrike" kern="0" cap="none" spc="0" normalizeH="0" baseline="0" noProof="0" dirty="0">
                <a:ln>
                  <a:noFill/>
                </a:ln>
                <a:solidFill>
                  <a:srgbClr val="C00000"/>
                </a:solidFill>
                <a:effectLst/>
                <a:uLnTx/>
                <a:uFillTx/>
                <a:latin typeface="Arial" pitchFamily="34" charset="0"/>
                <a:cs typeface="Arial" pitchFamily="34" charset="0"/>
              </a:rPr>
              <a:t>N/m</a:t>
            </a:r>
            <a:r>
              <a:rPr kumimoji="0" lang="en-US" altLang="zh-CN" i="0" u="none" strike="noStrike" kern="0" cap="none" spc="0" normalizeH="0" baseline="30000" noProof="0" dirty="0">
                <a:ln>
                  <a:noFill/>
                </a:ln>
                <a:solidFill>
                  <a:srgbClr val="C00000"/>
                </a:solidFill>
                <a:effectLst/>
                <a:uLnTx/>
                <a:uFillTx/>
                <a:latin typeface="Arial" pitchFamily="34" charset="0"/>
                <a:cs typeface="Arial" pitchFamily="34" charset="0"/>
              </a:rPr>
              <a:t>2</a:t>
            </a:r>
            <a:r>
              <a:rPr kumimoji="0" lang="en-US" altLang="zh-CN" i="0" u="none" strike="noStrike" kern="0" cap="none" spc="0" normalizeH="0" baseline="0" noProof="0" dirty="0">
                <a:ln>
                  <a:noFill/>
                </a:ln>
                <a:solidFill>
                  <a:srgbClr val="C00000"/>
                </a:solidFill>
                <a:effectLst/>
                <a:uLnTx/>
                <a:uFillTx/>
                <a:latin typeface="Arial" pitchFamily="34" charset="0"/>
                <a:cs typeface="Arial" pitchFamily="34" charset="0"/>
              </a:rPr>
              <a:t> = 10</a:t>
            </a:r>
            <a:r>
              <a:rPr kumimoji="0" lang="en-US" altLang="zh-CN" i="0" u="none" strike="noStrike" kern="0" cap="none" spc="0" normalizeH="0" baseline="30000" noProof="0" dirty="0">
                <a:ln>
                  <a:noFill/>
                </a:ln>
                <a:solidFill>
                  <a:srgbClr val="C00000"/>
                </a:solidFill>
                <a:effectLst/>
                <a:uLnTx/>
                <a:uFillTx/>
                <a:latin typeface="Arial" pitchFamily="34" charset="0"/>
                <a:cs typeface="Arial" pitchFamily="34" charset="0"/>
              </a:rPr>
              <a:t>4</a:t>
            </a:r>
            <a:r>
              <a:rPr kumimoji="0" lang="en-US" altLang="zh-CN" i="0" u="none" strike="noStrike" kern="0" cap="none" spc="0" normalizeH="0" baseline="0" noProof="0" dirty="0">
                <a:ln>
                  <a:noFill/>
                </a:ln>
                <a:solidFill>
                  <a:srgbClr val="C00000"/>
                </a:solidFill>
                <a:effectLst/>
                <a:uLnTx/>
                <a:uFillTx/>
                <a:latin typeface="Arial" pitchFamily="34" charset="0"/>
                <a:cs typeface="Arial" pitchFamily="34" charset="0"/>
              </a:rPr>
              <a:t> bar</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00000"/>
                </a:solidFill>
                <a:effectLst/>
                <a:uLnTx/>
                <a:uFillTx/>
                <a:latin typeface="Arial" pitchFamily="34" charset="0"/>
                <a:cs typeface="Arial" pitchFamily="34" charset="0"/>
              </a:rPr>
              <a:t>1 atmospheric pressure= 1 </a:t>
            </a:r>
            <a:r>
              <a:rPr lang="en-US" altLang="zh-CN" kern="0" dirty="0">
                <a:solidFill>
                  <a:srgbClr val="C00000"/>
                </a:solidFill>
                <a:latin typeface="Arial" pitchFamily="34" charset="0"/>
                <a:cs typeface="Arial" pitchFamily="34" charset="0"/>
              </a:rPr>
              <a:t>bar</a:t>
            </a:r>
            <a:endParaRPr kumimoji="0" lang="zh-CN" altLang="en-US" i="0" u="none" strike="noStrike" kern="0" cap="none" spc="0" normalizeH="0" baseline="0" noProof="0" dirty="0">
              <a:ln>
                <a:noFill/>
              </a:ln>
              <a:solidFill>
                <a:srgbClr val="C00000"/>
              </a:solidFill>
              <a:effectLst/>
              <a:uLnTx/>
              <a:uFillTx/>
              <a:latin typeface="Arial" pitchFamily="34" charset="0"/>
              <a:cs typeface="Arial" pitchFamily="34" charset="0"/>
            </a:endParaRPr>
          </a:p>
        </p:txBody>
      </p:sp>
      <p:sp>
        <p:nvSpPr>
          <p:cNvPr id="8" name="Rectangle 7"/>
          <p:cNvSpPr/>
          <p:nvPr/>
        </p:nvSpPr>
        <p:spPr>
          <a:xfrm>
            <a:off x="1158659" y="2818387"/>
            <a:ext cx="2512226" cy="400110"/>
          </a:xfrm>
          <a:prstGeom prst="rect">
            <a:avLst/>
          </a:prstGeom>
        </p:spPr>
        <p:txBody>
          <a:bodyPr wrap="none">
            <a:spAutoFit/>
          </a:bodyPr>
          <a:lstStyle/>
          <a:p>
            <a:r>
              <a:rPr lang="en-US" altLang="zh-CN" sz="2000" b="1" dirty="0">
                <a:effectLst>
                  <a:outerShdw blurRad="38100" dist="38100" dir="2700000" algn="tl">
                    <a:srgbClr val="000000">
                      <a:alpha val="43137"/>
                    </a:srgbClr>
                  </a:outerShdw>
                </a:effectLst>
                <a:latin typeface="Arial" pitchFamily="34" charset="0"/>
                <a:cs typeface="Arial" pitchFamily="34" charset="0"/>
              </a:rPr>
              <a:t>~2.5 </a:t>
            </a:r>
            <a:r>
              <a:rPr lang="en-US" altLang="zh-CN" sz="2000" b="1" dirty="0" err="1">
                <a:effectLst>
                  <a:outerShdw blurRad="38100" dist="38100" dir="2700000" algn="tl">
                    <a:srgbClr val="000000">
                      <a:alpha val="43137"/>
                    </a:srgbClr>
                  </a:outerShdw>
                </a:effectLst>
                <a:latin typeface="Arial" pitchFamily="34" charset="0"/>
                <a:cs typeface="Arial" pitchFamily="34" charset="0"/>
              </a:rPr>
              <a:t>atm</a:t>
            </a:r>
            <a:r>
              <a:rPr lang="zh-CN" altLang="en-US" sz="2000" b="1" dirty="0">
                <a:effectLst>
                  <a:outerShdw blurRad="38100" dist="38100" dir="2700000" algn="tl">
                    <a:srgbClr val="000000">
                      <a:alpha val="43137"/>
                    </a:srgbClr>
                  </a:outerShdw>
                </a:effectLst>
                <a:latin typeface="Arial" pitchFamily="34" charset="0"/>
                <a:cs typeface="Arial" pitchFamily="34" charset="0"/>
              </a:rPr>
              <a:t>（</a:t>
            </a:r>
            <a:r>
              <a:rPr lang="en-US" altLang="zh-CN" sz="2000" b="1" dirty="0">
                <a:effectLst>
                  <a:outerShdw blurRad="38100" dist="38100" dir="2700000" algn="tl">
                    <a:srgbClr val="000000">
                      <a:alpha val="43137"/>
                    </a:srgbClr>
                  </a:outerShdw>
                </a:effectLst>
                <a:latin typeface="Arial" pitchFamily="34" charset="0"/>
                <a:cs typeface="Arial" pitchFamily="34" charset="0"/>
              </a:rPr>
              <a:t>250MPa)</a:t>
            </a:r>
            <a:endParaRPr lang="zh-CN" altLang="en-US" sz="2000" b="1" dirty="0">
              <a:effectLst>
                <a:outerShdw blurRad="38100" dist="38100" dir="2700000" algn="tl">
                  <a:srgbClr val="000000">
                    <a:alpha val="43137"/>
                  </a:srgbClr>
                </a:outerShdw>
              </a:effectLst>
              <a:latin typeface="Arial" pitchFamily="34" charset="0"/>
              <a:cs typeface="Arial" pitchFamily="34" charset="0"/>
            </a:endParaRPr>
          </a:p>
        </p:txBody>
      </p:sp>
      <p:sp>
        <p:nvSpPr>
          <p:cNvPr id="15" name="Rectangle 14"/>
          <p:cNvSpPr/>
          <p:nvPr/>
        </p:nvSpPr>
        <p:spPr>
          <a:xfrm>
            <a:off x="5104421" y="2838529"/>
            <a:ext cx="1854995" cy="400110"/>
          </a:xfrm>
          <a:prstGeom prst="rect">
            <a:avLst/>
          </a:prstGeom>
        </p:spPr>
        <p:txBody>
          <a:bodyPr wrap="none">
            <a:spAutoFit/>
          </a:bodyPr>
          <a:lstStyle/>
          <a:p>
            <a:r>
              <a:rPr lang="en-US" altLang="zh-CN" sz="2000" b="1" dirty="0">
                <a:effectLst>
                  <a:outerShdw blurRad="38100" dist="38100" dir="2700000" algn="tl">
                    <a:srgbClr val="000000">
                      <a:alpha val="43137"/>
                    </a:srgbClr>
                  </a:outerShdw>
                </a:effectLst>
                <a:latin typeface="Arial" pitchFamily="34" charset="0"/>
                <a:cs typeface="Arial" pitchFamily="34" charset="0"/>
              </a:rPr>
              <a:t>~1.2 – 2.0 </a:t>
            </a:r>
            <a:r>
              <a:rPr lang="en-US" altLang="zh-CN" sz="2000" b="1" dirty="0" err="1">
                <a:effectLst>
                  <a:outerShdw blurRad="38100" dist="38100" dir="2700000" algn="tl">
                    <a:srgbClr val="000000">
                      <a:alpha val="43137"/>
                    </a:srgbClr>
                  </a:outerShdw>
                </a:effectLst>
                <a:latin typeface="Arial" pitchFamily="34" charset="0"/>
                <a:cs typeface="Arial" pitchFamily="34" charset="0"/>
              </a:rPr>
              <a:t>atm</a:t>
            </a:r>
            <a:endParaRPr lang="zh-CN" altLang="en-US" sz="2000" b="1" dirty="0">
              <a:effectLst>
                <a:outerShdw blurRad="38100" dist="38100" dir="2700000" algn="tl">
                  <a:srgbClr val="000000">
                    <a:alpha val="43137"/>
                  </a:srgbClr>
                </a:outerShdw>
              </a:effectLst>
              <a:latin typeface="Arial" pitchFamily="34" charset="0"/>
              <a:cs typeface="Arial" pitchFamily="34" charset="0"/>
            </a:endParaRPr>
          </a:p>
        </p:txBody>
      </p:sp>
      <p:sp>
        <p:nvSpPr>
          <p:cNvPr id="16" name="Rectangle 15"/>
          <p:cNvSpPr/>
          <p:nvPr/>
        </p:nvSpPr>
        <p:spPr>
          <a:xfrm>
            <a:off x="5145788" y="5634370"/>
            <a:ext cx="3578673" cy="461665"/>
          </a:xfrm>
          <a:prstGeom prst="rect">
            <a:avLst/>
          </a:prstGeom>
        </p:spPr>
        <p:txBody>
          <a:bodyPr wrap="none">
            <a:spAutoFit/>
          </a:bodyPr>
          <a:lstStyle/>
          <a:p>
            <a:pPr algn="ctr">
              <a:lnSpc>
                <a:spcPct val="150000"/>
              </a:lnSpc>
            </a:pPr>
            <a:r>
              <a:rPr lang="en-US" altLang="zh-CN" sz="1600" b="1" dirty="0">
                <a:effectLst>
                  <a:outerShdw blurRad="38100" dist="38100" dir="2700000" algn="tl">
                    <a:srgbClr val="000000">
                      <a:alpha val="43137"/>
                    </a:srgbClr>
                  </a:outerShdw>
                </a:effectLst>
                <a:latin typeface="Arial" pitchFamily="34" charset="0"/>
                <a:ea typeface="黑体" pitchFamily="49" charset="-122"/>
                <a:cs typeface="Arial" pitchFamily="34" charset="0"/>
              </a:rPr>
              <a:t>~10</a:t>
            </a:r>
            <a:r>
              <a:rPr lang="en-US" altLang="zh-CN" sz="1600" b="1" baseline="30000" dirty="0">
                <a:effectLst>
                  <a:outerShdw blurRad="38100" dist="38100" dir="2700000" algn="tl">
                    <a:srgbClr val="000000">
                      <a:alpha val="43137"/>
                    </a:srgbClr>
                  </a:outerShdw>
                </a:effectLst>
                <a:latin typeface="Arial" pitchFamily="34" charset="0"/>
                <a:ea typeface="黑体" pitchFamily="49" charset="-122"/>
                <a:cs typeface="Arial" pitchFamily="34" charset="0"/>
              </a:rPr>
              <a:t>11</a:t>
            </a:r>
            <a:r>
              <a:rPr lang="en-US" altLang="zh-CN" sz="1600" b="1" dirty="0">
                <a:effectLst>
                  <a:outerShdw blurRad="38100" dist="38100" dir="2700000" algn="tl">
                    <a:srgbClr val="000000">
                      <a:alpha val="43137"/>
                    </a:srgbClr>
                  </a:outerShdw>
                </a:effectLst>
                <a:latin typeface="Arial" pitchFamily="34" charset="0"/>
                <a:ea typeface="黑体" pitchFamily="49" charset="-122"/>
                <a:cs typeface="Arial" pitchFamily="34" charset="0"/>
              </a:rPr>
              <a:t> atm. (100 bill. </a:t>
            </a:r>
            <a:r>
              <a:rPr lang="en-US" altLang="zh-CN" sz="1600" b="1" dirty="0" err="1">
                <a:effectLst>
                  <a:outerShdw blurRad="38100" dist="38100" dir="2700000" algn="tl">
                    <a:srgbClr val="000000">
                      <a:alpha val="43137"/>
                    </a:srgbClr>
                  </a:outerShdw>
                </a:effectLst>
                <a:latin typeface="Arial" pitchFamily="34" charset="0"/>
                <a:ea typeface="黑体" pitchFamily="49" charset="-122"/>
                <a:cs typeface="Arial" pitchFamily="34" charset="0"/>
              </a:rPr>
              <a:t>atm</a:t>
            </a:r>
            <a:r>
              <a:rPr lang="zh-CN" altLang="en-US" sz="1600" b="1" dirty="0">
                <a:effectLst>
                  <a:outerShdw blurRad="38100" dist="38100" dir="2700000" algn="tl">
                    <a:srgbClr val="000000">
                      <a:alpha val="43137"/>
                    </a:srgbClr>
                  </a:outerShdw>
                </a:effectLst>
                <a:latin typeface="Arial" pitchFamily="34" charset="0"/>
                <a:ea typeface="黑体" pitchFamily="49" charset="-122"/>
                <a:cs typeface="Arial" pitchFamily="34" charset="0"/>
              </a:rPr>
              <a:t>），</a:t>
            </a:r>
            <a:r>
              <a:rPr lang="en-US" altLang="zh-CN" sz="1600" b="1" dirty="0">
                <a:effectLst>
                  <a:outerShdw blurRad="38100" dist="38100" dir="2700000" algn="tl">
                    <a:srgbClr val="000000">
                      <a:alpha val="43137"/>
                    </a:srgbClr>
                  </a:outerShdw>
                </a:effectLst>
                <a:latin typeface="Arial" pitchFamily="34" charset="0"/>
                <a:ea typeface="黑体" pitchFamily="49" charset="-122"/>
                <a:cs typeface="Arial" pitchFamily="34" charset="0"/>
              </a:rPr>
              <a:t>~10</a:t>
            </a:r>
            <a:r>
              <a:rPr lang="en-US" altLang="zh-CN" sz="1600" b="1" baseline="30000" dirty="0">
                <a:effectLst>
                  <a:outerShdw blurRad="38100" dist="38100" dir="2700000" algn="tl">
                    <a:srgbClr val="000000">
                      <a:alpha val="43137"/>
                    </a:srgbClr>
                  </a:outerShdw>
                </a:effectLst>
                <a:latin typeface="Arial" pitchFamily="34" charset="0"/>
                <a:ea typeface="黑体" pitchFamily="49" charset="-122"/>
                <a:cs typeface="Arial" pitchFamily="34" charset="0"/>
              </a:rPr>
              <a:t>6</a:t>
            </a:r>
            <a:r>
              <a:rPr lang="en-US" altLang="zh-CN" sz="1600" b="1" dirty="0">
                <a:effectLst>
                  <a:outerShdw blurRad="38100" dist="38100" dir="2700000" algn="tl">
                    <a:srgbClr val="000000">
                      <a:alpha val="43137"/>
                    </a:srgbClr>
                  </a:outerShdw>
                </a:effectLst>
                <a:latin typeface="Arial" pitchFamily="34" charset="0"/>
                <a:ea typeface="黑体" pitchFamily="49" charset="-122"/>
                <a:cs typeface="Arial" pitchFamily="34" charset="0"/>
              </a:rPr>
              <a:t> ºC</a:t>
            </a:r>
            <a:endParaRPr lang="zh-CN" altLang="en-US" sz="1600" b="1" dirty="0">
              <a:effectLst>
                <a:outerShdw blurRad="38100" dist="38100" dir="2700000" algn="tl">
                  <a:srgbClr val="000000">
                    <a:alpha val="43137"/>
                  </a:srgbClr>
                </a:outerShdw>
              </a:effectLst>
              <a:latin typeface="Arial" pitchFamily="34" charset="0"/>
              <a:ea typeface="黑体" pitchFamily="49" charset="-122"/>
              <a:cs typeface="Arial" pitchFamily="34" charset="0"/>
            </a:endParaRPr>
          </a:p>
        </p:txBody>
      </p:sp>
      <p:pic>
        <p:nvPicPr>
          <p:cNvPr id="1026" name="Picture 2" descr="https://timgsa.baidu.com/timg?image&amp;quality=80&amp;size=b9999_10000&amp;sec=1499139238&amp;di=fd32ce7295cdc2cadf673fe8abe17359&amp;imgtype=jpg&amp;er=1&amp;src=http%3A%2F%2Fwww.leebico.com%2Fzhizui%2FUploadFiles%2F201212201825846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068" y="3544543"/>
            <a:ext cx="1820124" cy="194753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8123" y="3556635"/>
            <a:ext cx="2315101" cy="1950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556068" y="5480414"/>
            <a:ext cx="3457631" cy="738664"/>
          </a:xfrm>
          <a:prstGeom prst="rect">
            <a:avLst/>
          </a:prstGeom>
        </p:spPr>
        <p:txBody>
          <a:bodyPr wrap="square">
            <a:spAutoFit/>
          </a:bodyPr>
          <a:lstStyle/>
          <a:p>
            <a:pPr>
              <a:lnSpc>
                <a:spcPct val="150000"/>
              </a:lnSpc>
            </a:pPr>
            <a:r>
              <a:rPr lang="en-US" altLang="zh-CN" sz="1400" dirty="0"/>
              <a:t>Deepest Sea Valley</a:t>
            </a:r>
            <a:r>
              <a:rPr lang="zh-CN" altLang="en-US" sz="1400" dirty="0"/>
              <a:t>：</a:t>
            </a:r>
            <a:r>
              <a:rPr lang="en-US" altLang="zh-CN" sz="1400" dirty="0"/>
              <a:t>1100 </a:t>
            </a:r>
            <a:r>
              <a:rPr lang="en-US" altLang="zh-CN" sz="1400" dirty="0" err="1"/>
              <a:t>atm</a:t>
            </a:r>
            <a:r>
              <a:rPr lang="en-US" altLang="zh-CN" sz="1400" dirty="0"/>
              <a:t> </a:t>
            </a:r>
            <a:r>
              <a:rPr lang="en-US" altLang="zh-CN" sz="1400" b="1" dirty="0"/>
              <a:t>Mariana</a:t>
            </a:r>
            <a:r>
              <a:rPr lang="en-US" altLang="zh-CN" sz="1400" dirty="0"/>
              <a:t>  Valley </a:t>
            </a:r>
            <a:r>
              <a:rPr lang="en-US" altLang="zh-CN" sz="1400" b="1" dirty="0">
                <a:effectLst>
                  <a:outerShdw blurRad="38100" dist="38100" dir="2700000" algn="tl">
                    <a:srgbClr val="000000">
                      <a:alpha val="43137"/>
                    </a:srgbClr>
                  </a:outerShdw>
                </a:effectLst>
              </a:rPr>
              <a:t>(11034</a:t>
            </a:r>
            <a:r>
              <a:rPr lang="zh-CN" altLang="en-US" sz="1400" b="1" dirty="0">
                <a:effectLst>
                  <a:outerShdw blurRad="38100" dist="38100" dir="2700000" algn="tl">
                    <a:srgbClr val="000000">
                      <a:alpha val="43137"/>
                    </a:srgbClr>
                  </a:outerShdw>
                </a:effectLst>
              </a:rPr>
              <a:t> </a:t>
            </a:r>
            <a:r>
              <a:rPr lang="en-US" altLang="zh-CN" sz="1400" b="1" dirty="0">
                <a:effectLst>
                  <a:outerShdw blurRad="38100" dist="38100" dir="2700000" algn="tl">
                    <a:srgbClr val="000000">
                      <a:alpha val="43137"/>
                    </a:srgbClr>
                  </a:outerShdw>
                </a:effectLst>
              </a:rPr>
              <a:t>m)</a:t>
            </a:r>
            <a:endParaRPr lang="zh-CN" altLang="en-US" sz="1400" b="1" dirty="0">
              <a:effectLst>
                <a:outerShdw blurRad="38100" dist="38100" dir="2700000" algn="tl">
                  <a:srgbClr val="000000">
                    <a:alpha val="43137"/>
                  </a:srgbClr>
                </a:outerShdw>
              </a:effectLst>
            </a:endParaRPr>
          </a:p>
        </p:txBody>
      </p:sp>
      <p:sp>
        <p:nvSpPr>
          <p:cNvPr id="19" name="TextBox 18"/>
          <p:cNvSpPr txBox="1"/>
          <p:nvPr/>
        </p:nvSpPr>
        <p:spPr>
          <a:xfrm>
            <a:off x="49914" y="6318504"/>
            <a:ext cx="1850186" cy="307777"/>
          </a:xfrm>
          <a:prstGeom prst="rect">
            <a:avLst/>
          </a:prstGeom>
          <a:noFill/>
        </p:spPr>
        <p:txBody>
          <a:bodyPr wrap="none" rtlCol="0">
            <a:spAutoFit/>
          </a:bodyPr>
          <a:lstStyle/>
          <a:p>
            <a:r>
              <a:rPr lang="zh-CN" altLang="en-US" sz="1400" dirty="0"/>
              <a:t>致谢：物理系 王善民</a:t>
            </a:r>
          </a:p>
        </p:txBody>
      </p:sp>
    </p:spTree>
    <p:extLst>
      <p:ext uri="{BB962C8B-B14F-4D97-AF65-F5344CB8AC3E}">
        <p14:creationId xmlns:p14="http://schemas.microsoft.com/office/powerpoint/2010/main" val="4195497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13113"/>
          <a:stretch/>
        </p:blipFill>
        <p:spPr bwMode="auto">
          <a:xfrm>
            <a:off x="462238" y="936062"/>
            <a:ext cx="8169697" cy="4667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73216" y="-12499"/>
            <a:ext cx="4421403" cy="584775"/>
          </a:xfrm>
          <a:prstGeom prst="rect">
            <a:avLst/>
          </a:prstGeom>
          <a:noFill/>
        </p:spPr>
        <p:txBody>
          <a:bodyPr wrap="none" rtlCol="0">
            <a:spAutoFit/>
          </a:bodyPr>
          <a:lstStyle/>
          <a:p>
            <a:r>
              <a:rPr lang="en-US" altLang="zh-CN" sz="3200" b="1" dirty="0">
                <a:solidFill>
                  <a:srgbClr val="FF0000"/>
                </a:solidFill>
                <a:effectLst>
                  <a:outerShdw blurRad="38100" dist="38100" dir="2700000" algn="tl">
                    <a:srgbClr val="000000">
                      <a:alpha val="43137"/>
                    </a:srgbClr>
                  </a:outerShdw>
                </a:effectLst>
              </a:rPr>
              <a:t>Pressure in our earth </a:t>
            </a:r>
            <a:endParaRPr lang="zh-CN" altLang="en-US" sz="3200" b="1" dirty="0">
              <a:solidFill>
                <a:srgbClr val="FF0000"/>
              </a:solidFill>
              <a:effectLst>
                <a:outerShdw blurRad="38100" dist="38100" dir="2700000" algn="tl">
                  <a:srgbClr val="000000">
                    <a:alpha val="43137"/>
                  </a:srgbClr>
                </a:outerShdw>
              </a:effectLst>
            </a:endParaRPr>
          </a:p>
        </p:txBody>
      </p:sp>
      <p:sp>
        <p:nvSpPr>
          <p:cNvPr id="9" name="TextBox 8"/>
          <p:cNvSpPr txBox="1"/>
          <p:nvPr/>
        </p:nvSpPr>
        <p:spPr>
          <a:xfrm>
            <a:off x="49914" y="6318504"/>
            <a:ext cx="1850186" cy="307777"/>
          </a:xfrm>
          <a:prstGeom prst="rect">
            <a:avLst/>
          </a:prstGeom>
          <a:noFill/>
        </p:spPr>
        <p:txBody>
          <a:bodyPr wrap="none" rtlCol="0">
            <a:spAutoFit/>
          </a:bodyPr>
          <a:lstStyle/>
          <a:p>
            <a:r>
              <a:rPr lang="zh-CN" altLang="en-US" sz="1400" dirty="0"/>
              <a:t>致谢：物理系 王善民</a:t>
            </a:r>
          </a:p>
        </p:txBody>
      </p:sp>
    </p:spTree>
    <p:extLst>
      <p:ext uri="{BB962C8B-B14F-4D97-AF65-F5344CB8AC3E}">
        <p14:creationId xmlns:p14="http://schemas.microsoft.com/office/powerpoint/2010/main" val="72025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07" r="1805" b="2534"/>
          <a:stretch/>
        </p:blipFill>
        <p:spPr bwMode="auto">
          <a:xfrm>
            <a:off x="1071415" y="762000"/>
            <a:ext cx="6227656" cy="4937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071415" y="5792453"/>
            <a:ext cx="7185930" cy="492443"/>
          </a:xfrm>
          <a:prstGeom prst="rect">
            <a:avLst/>
          </a:prstGeom>
          <a:noFill/>
        </p:spPr>
        <p:txBody>
          <a:bodyPr wrap="square" rtlCol="0">
            <a:spAutoFit/>
          </a:bodyPr>
          <a:lstStyle/>
          <a:p>
            <a:r>
              <a:rPr lang="en-US" altLang="zh-CN" sz="2200" dirty="0">
                <a:solidFill>
                  <a:srgbClr val="002060"/>
                </a:solidFill>
                <a:latin typeface="微软雅黑" pitchFamily="34" charset="-122"/>
                <a:ea typeface="微软雅黑" pitchFamily="34" charset="-122"/>
              </a:rPr>
              <a:t>Lab available pressure: &gt;</a:t>
            </a:r>
            <a:r>
              <a:rPr lang="en-US" altLang="zh-CN" sz="2600" b="1" dirty="0">
                <a:solidFill>
                  <a:srgbClr val="F92A07"/>
                </a:solidFill>
                <a:effectLst>
                  <a:outerShdw blurRad="38100" dist="38100" dir="2700000" algn="tl">
                    <a:srgbClr val="000000">
                      <a:alpha val="43137"/>
                    </a:srgbClr>
                  </a:outerShdw>
                </a:effectLst>
                <a:latin typeface="微软雅黑" pitchFamily="34" charset="-122"/>
                <a:ea typeface="微软雅黑" pitchFamily="34" charset="-122"/>
              </a:rPr>
              <a:t>1000 </a:t>
            </a:r>
            <a:r>
              <a:rPr lang="en-US" altLang="zh-CN" sz="2600" b="1" dirty="0" err="1">
                <a:solidFill>
                  <a:srgbClr val="F92A07"/>
                </a:solidFill>
                <a:effectLst>
                  <a:outerShdw blurRad="38100" dist="38100" dir="2700000" algn="tl">
                    <a:srgbClr val="000000">
                      <a:alpha val="43137"/>
                    </a:srgbClr>
                  </a:outerShdw>
                </a:effectLst>
                <a:latin typeface="微软雅黑" pitchFamily="34" charset="-122"/>
                <a:ea typeface="微软雅黑" pitchFamily="34" charset="-122"/>
              </a:rPr>
              <a:t>GPa</a:t>
            </a:r>
            <a:r>
              <a:rPr lang="en-US" altLang="zh-CN" sz="2600" b="1" dirty="0">
                <a:solidFill>
                  <a:srgbClr val="F92A07"/>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200" dirty="0">
                <a:solidFill>
                  <a:srgbClr val="002060"/>
                </a:solidFill>
                <a:latin typeface="微软雅黑" pitchFamily="34" charset="-122"/>
                <a:ea typeface="微软雅黑" pitchFamily="34" charset="-122"/>
              </a:rPr>
              <a:t>(2017).</a:t>
            </a:r>
            <a:endParaRPr lang="zh-CN" altLang="en-US" sz="2200" dirty="0">
              <a:solidFill>
                <a:srgbClr val="002060"/>
              </a:solidFill>
              <a:latin typeface="微软雅黑" pitchFamily="34" charset="-122"/>
              <a:ea typeface="微软雅黑" pitchFamily="34" charset="-122"/>
            </a:endParaRPr>
          </a:p>
        </p:txBody>
      </p:sp>
      <p:sp>
        <p:nvSpPr>
          <p:cNvPr id="7" name="TextBox 6"/>
          <p:cNvSpPr txBox="1"/>
          <p:nvPr/>
        </p:nvSpPr>
        <p:spPr>
          <a:xfrm>
            <a:off x="6559638" y="785390"/>
            <a:ext cx="2584362" cy="600164"/>
          </a:xfrm>
          <a:prstGeom prst="rect">
            <a:avLst/>
          </a:prstGeom>
          <a:noFill/>
        </p:spPr>
        <p:txBody>
          <a:bodyPr wrap="none" rtlCol="0">
            <a:spAutoFit/>
          </a:bodyPr>
          <a:lstStyle/>
          <a:p>
            <a:pPr>
              <a:lnSpc>
                <a:spcPct val="150000"/>
              </a:lnSpc>
            </a:pPr>
            <a:r>
              <a:rPr lang="en-US" altLang="zh-CN" sz="2200" b="1" dirty="0">
                <a:solidFill>
                  <a:srgbClr val="2967B1"/>
                </a:solidFill>
                <a:effectLst>
                  <a:outerShdw blurRad="38100" dist="38100" dir="2700000" algn="tl">
                    <a:srgbClr val="000000">
                      <a:alpha val="43137"/>
                    </a:srgbClr>
                  </a:outerShdw>
                </a:effectLst>
                <a:latin typeface="Arial" pitchFamily="34" charset="0"/>
                <a:cs typeface="Arial" pitchFamily="34" charset="0"/>
              </a:rPr>
              <a:t>1 </a:t>
            </a:r>
            <a:r>
              <a:rPr lang="en-US" altLang="zh-CN" sz="2200" b="1" dirty="0" err="1">
                <a:solidFill>
                  <a:srgbClr val="2967B1"/>
                </a:solidFill>
                <a:effectLst>
                  <a:outerShdw blurRad="38100" dist="38100" dir="2700000" algn="tl">
                    <a:srgbClr val="000000">
                      <a:alpha val="43137"/>
                    </a:srgbClr>
                  </a:outerShdw>
                </a:effectLst>
                <a:latin typeface="Arial" pitchFamily="34" charset="0"/>
                <a:cs typeface="Arial" pitchFamily="34" charset="0"/>
              </a:rPr>
              <a:t>GPa</a:t>
            </a:r>
            <a:r>
              <a:rPr lang="en-US" altLang="zh-CN" sz="2200" b="1" dirty="0">
                <a:solidFill>
                  <a:srgbClr val="2967B1"/>
                </a:solidFill>
                <a:effectLst>
                  <a:outerShdw blurRad="38100" dist="38100" dir="2700000" algn="tl">
                    <a:srgbClr val="000000">
                      <a:alpha val="43137"/>
                    </a:srgbClr>
                  </a:outerShdw>
                </a:effectLst>
                <a:latin typeface="Arial" pitchFamily="34" charset="0"/>
                <a:cs typeface="Arial" pitchFamily="34" charset="0"/>
              </a:rPr>
              <a:t> ≈ 10k atm. </a:t>
            </a:r>
          </a:p>
        </p:txBody>
      </p:sp>
      <p:sp>
        <p:nvSpPr>
          <p:cNvPr id="6" name="TextBox 5"/>
          <p:cNvSpPr txBox="1"/>
          <p:nvPr/>
        </p:nvSpPr>
        <p:spPr>
          <a:xfrm>
            <a:off x="975007" y="80387"/>
            <a:ext cx="2053767" cy="584775"/>
          </a:xfrm>
          <a:prstGeom prst="rect">
            <a:avLst/>
          </a:prstGeom>
          <a:noFill/>
        </p:spPr>
        <p:txBody>
          <a:bodyPr wrap="none" rtlCol="0">
            <a:spAutoFit/>
          </a:bodyPr>
          <a:lstStyle/>
          <a:p>
            <a:r>
              <a:rPr lang="en-US" altLang="zh-CN" sz="3200" b="1" dirty="0">
                <a:solidFill>
                  <a:srgbClr val="FF0000"/>
                </a:solidFill>
                <a:effectLst>
                  <a:outerShdw blurRad="38100" dist="38100" dir="2700000" algn="tl">
                    <a:srgbClr val="000000">
                      <a:alpha val="43137"/>
                    </a:srgbClr>
                  </a:outerShdw>
                </a:effectLst>
              </a:rPr>
              <a:t>Pressure </a:t>
            </a:r>
            <a:endParaRPr lang="zh-CN" altLang="en-US" sz="3200" b="1" dirty="0">
              <a:solidFill>
                <a:srgbClr val="FF0000"/>
              </a:solidFill>
              <a:effectLst>
                <a:outerShdw blurRad="38100" dist="38100" dir="2700000" algn="tl">
                  <a:srgbClr val="000000">
                    <a:alpha val="43137"/>
                  </a:srgbClr>
                </a:outerShdw>
              </a:effectLst>
            </a:endParaRPr>
          </a:p>
        </p:txBody>
      </p:sp>
      <p:sp>
        <p:nvSpPr>
          <p:cNvPr id="9" name="TextBox 8"/>
          <p:cNvSpPr txBox="1"/>
          <p:nvPr/>
        </p:nvSpPr>
        <p:spPr>
          <a:xfrm>
            <a:off x="49914" y="6318504"/>
            <a:ext cx="1850186" cy="307777"/>
          </a:xfrm>
          <a:prstGeom prst="rect">
            <a:avLst/>
          </a:prstGeom>
          <a:noFill/>
        </p:spPr>
        <p:txBody>
          <a:bodyPr wrap="none" rtlCol="0">
            <a:spAutoFit/>
          </a:bodyPr>
          <a:lstStyle/>
          <a:p>
            <a:r>
              <a:rPr lang="zh-CN" altLang="en-US" sz="1400" dirty="0"/>
              <a:t>致谢：物理系 王善民</a:t>
            </a:r>
          </a:p>
        </p:txBody>
      </p:sp>
    </p:spTree>
    <p:extLst>
      <p:ext uri="{BB962C8B-B14F-4D97-AF65-F5344CB8AC3E}">
        <p14:creationId xmlns:p14="http://schemas.microsoft.com/office/powerpoint/2010/main" val="4132719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6">
            <a:extLst>
              <a:ext uri="{FF2B5EF4-FFF2-40B4-BE49-F238E27FC236}">
                <a16:creationId xmlns:a16="http://schemas.microsoft.com/office/drawing/2014/main" id="{1DB5DF06-3E7D-4C05-85B1-094D1300DCEE}"/>
              </a:ext>
            </a:extLst>
          </p:cNvPr>
          <p:cNvPicPr>
            <a:picLocks noChangeAspect="1"/>
          </p:cNvPicPr>
          <p:nvPr/>
        </p:nvPicPr>
        <p:blipFill>
          <a:blip r:embed="rId2"/>
          <a:stretch>
            <a:fillRect/>
          </a:stretch>
        </p:blipFill>
        <p:spPr>
          <a:xfrm>
            <a:off x="1113905" y="813305"/>
            <a:ext cx="2591298" cy="1946432"/>
          </a:xfrm>
          <a:prstGeom prst="rect">
            <a:avLst/>
          </a:prstGeom>
        </p:spPr>
      </p:pic>
      <p:sp>
        <p:nvSpPr>
          <p:cNvPr id="3" name="TextBox 2">
            <a:extLst>
              <a:ext uri="{FF2B5EF4-FFF2-40B4-BE49-F238E27FC236}">
                <a16:creationId xmlns:a16="http://schemas.microsoft.com/office/drawing/2014/main" id="{74D5004D-1341-4929-8EB4-7449C2293EB8}"/>
              </a:ext>
            </a:extLst>
          </p:cNvPr>
          <p:cNvSpPr txBox="1"/>
          <p:nvPr/>
        </p:nvSpPr>
        <p:spPr>
          <a:xfrm>
            <a:off x="1267540" y="2821051"/>
            <a:ext cx="2382960" cy="276999"/>
          </a:xfrm>
          <a:prstGeom prst="rect">
            <a:avLst/>
          </a:prstGeom>
          <a:noFill/>
        </p:spPr>
        <p:txBody>
          <a:bodyPr wrap="none" rtlCol="0">
            <a:spAutoFit/>
          </a:bodyPr>
          <a:lstStyle/>
          <a:p>
            <a:r>
              <a:rPr lang="en-US" altLang="zh-CN" sz="1200" b="1" dirty="0">
                <a:latin typeface="Arial" panose="020B0604020202020204" pitchFamily="34" charset="0"/>
                <a:cs typeface="Arial" panose="020B0604020202020204" pitchFamily="34" charset="0"/>
              </a:rPr>
              <a:t>P-T: 7 </a:t>
            </a:r>
            <a:r>
              <a:rPr lang="en-US" altLang="zh-CN" sz="1200" b="1" dirty="0" err="1">
                <a:latin typeface="Arial" panose="020B0604020202020204" pitchFamily="34" charset="0"/>
                <a:cs typeface="Arial" panose="020B0604020202020204" pitchFamily="34" charset="0"/>
              </a:rPr>
              <a:t>GPa</a:t>
            </a:r>
            <a:r>
              <a:rPr lang="en-US" altLang="zh-CN" sz="1200" b="1" dirty="0">
                <a:latin typeface="Arial" panose="020B0604020202020204" pitchFamily="34" charset="0"/>
                <a:cs typeface="Arial" panose="020B0604020202020204" pitchFamily="34" charset="0"/>
              </a:rPr>
              <a:t>, 3000 K, </a:t>
            </a:r>
            <a:r>
              <a:rPr lang="zh-CN" altLang="en-US" sz="1200" b="1" dirty="0">
                <a:latin typeface="Arial" panose="020B0604020202020204" pitchFamily="34" charset="0"/>
                <a:cs typeface="Arial" panose="020B0604020202020204" pitchFamily="34" charset="0"/>
              </a:rPr>
              <a:t>厘米级腔体</a:t>
            </a:r>
          </a:p>
        </p:txBody>
      </p:sp>
      <p:sp>
        <p:nvSpPr>
          <p:cNvPr id="5" name="TextBox 4">
            <a:extLst>
              <a:ext uri="{FF2B5EF4-FFF2-40B4-BE49-F238E27FC236}">
                <a16:creationId xmlns:a16="http://schemas.microsoft.com/office/drawing/2014/main" id="{BCB36828-3B47-40B8-A0F3-5C0334F730FC}"/>
              </a:ext>
            </a:extLst>
          </p:cNvPr>
          <p:cNvSpPr txBox="1"/>
          <p:nvPr/>
        </p:nvSpPr>
        <p:spPr>
          <a:xfrm>
            <a:off x="4118592" y="2810018"/>
            <a:ext cx="2467920" cy="276999"/>
          </a:xfrm>
          <a:prstGeom prst="rect">
            <a:avLst/>
          </a:prstGeom>
          <a:solidFill>
            <a:schemeClr val="bg1"/>
          </a:solidFill>
        </p:spPr>
        <p:txBody>
          <a:bodyPr wrap="none" rtlCol="0">
            <a:spAutoFit/>
          </a:bodyPr>
          <a:lstStyle/>
          <a:p>
            <a:r>
              <a:rPr lang="en-US" altLang="zh-CN" sz="1200" b="1" dirty="0">
                <a:latin typeface="Arial" panose="020B0604020202020204" pitchFamily="34" charset="0"/>
                <a:cs typeface="Arial" panose="020B0604020202020204" pitchFamily="34" charset="0"/>
              </a:rPr>
              <a:t>P-T: 20 </a:t>
            </a:r>
            <a:r>
              <a:rPr lang="en-US" altLang="zh-CN" sz="1200" b="1" dirty="0" err="1">
                <a:latin typeface="Arial" panose="020B0604020202020204" pitchFamily="34" charset="0"/>
                <a:cs typeface="Arial" panose="020B0604020202020204" pitchFamily="34" charset="0"/>
              </a:rPr>
              <a:t>GPa</a:t>
            </a:r>
            <a:r>
              <a:rPr lang="en-US" altLang="zh-CN" sz="1200" b="1" dirty="0">
                <a:latin typeface="Arial" panose="020B0604020202020204" pitchFamily="34" charset="0"/>
                <a:cs typeface="Arial" panose="020B0604020202020204" pitchFamily="34" charset="0"/>
              </a:rPr>
              <a:t>, 2700 K, </a:t>
            </a:r>
            <a:r>
              <a:rPr lang="zh-CN" altLang="en-US" sz="1200" b="1" dirty="0">
                <a:latin typeface="Arial" panose="020B0604020202020204" pitchFamily="34" charset="0"/>
                <a:cs typeface="Arial" panose="020B0604020202020204" pitchFamily="34" charset="0"/>
              </a:rPr>
              <a:t>毫米级腔体</a:t>
            </a:r>
          </a:p>
        </p:txBody>
      </p:sp>
      <p:grpSp>
        <p:nvGrpSpPr>
          <p:cNvPr id="9" name="Group 7">
            <a:extLst>
              <a:ext uri="{FF2B5EF4-FFF2-40B4-BE49-F238E27FC236}">
                <a16:creationId xmlns:a16="http://schemas.microsoft.com/office/drawing/2014/main" id="{4121A49D-AA14-48B5-B046-CFBF843BFEF5}"/>
              </a:ext>
            </a:extLst>
          </p:cNvPr>
          <p:cNvGrpSpPr/>
          <p:nvPr/>
        </p:nvGrpSpPr>
        <p:grpSpPr>
          <a:xfrm>
            <a:off x="3831082" y="751394"/>
            <a:ext cx="3079885" cy="1992714"/>
            <a:chOff x="2830813" y="2162464"/>
            <a:chExt cx="3079885" cy="1992714"/>
          </a:xfrm>
        </p:grpSpPr>
        <p:pic>
          <p:nvPicPr>
            <p:cNvPr id="10" name="Picture 2" descr="E:\科研经费\科技部专项2017-10-27\自己的青年项目\正式申报书2018-1-20\2018-2-26科技部重点研发计划申报书正文\答辩PPT2017-3-16\大压机照片\728229630433652621.jpg">
              <a:extLst>
                <a:ext uri="{FF2B5EF4-FFF2-40B4-BE49-F238E27FC236}">
                  <a16:creationId xmlns:a16="http://schemas.microsoft.com/office/drawing/2014/main" id="{7DF50CB5-299E-4A02-9C1A-F11E1A9B960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3974" b="21398"/>
            <a:stretch/>
          </p:blipFill>
          <p:spPr bwMode="auto">
            <a:xfrm>
              <a:off x="2969688" y="2162464"/>
              <a:ext cx="2941010" cy="197756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a:extLst>
                <a:ext uri="{FF2B5EF4-FFF2-40B4-BE49-F238E27FC236}">
                  <a16:creationId xmlns:a16="http://schemas.microsoft.com/office/drawing/2014/main" id="{8BDCE4C3-7BB3-4E26-BF57-0B333BBEEC1B}"/>
                </a:ext>
              </a:extLst>
            </p:cNvPr>
            <p:cNvPicPr>
              <a:picLocks noChangeAspect="1"/>
            </p:cNvPicPr>
            <p:nvPr/>
          </p:nvPicPr>
          <p:blipFill>
            <a:blip r:embed="rId4"/>
            <a:stretch>
              <a:fillRect/>
            </a:stretch>
          </p:blipFill>
          <p:spPr>
            <a:xfrm>
              <a:off x="2830813" y="2197304"/>
              <a:ext cx="1570912" cy="1957874"/>
            </a:xfrm>
            <a:prstGeom prst="rect">
              <a:avLst/>
            </a:prstGeom>
          </p:spPr>
        </p:pic>
      </p:grpSp>
      <p:sp>
        <p:nvSpPr>
          <p:cNvPr id="12" name="TextBox 11">
            <a:extLst>
              <a:ext uri="{FF2B5EF4-FFF2-40B4-BE49-F238E27FC236}">
                <a16:creationId xmlns:a16="http://schemas.microsoft.com/office/drawing/2014/main" id="{621F9A26-8612-40EA-B029-505E2B9B2F0E}"/>
              </a:ext>
            </a:extLst>
          </p:cNvPr>
          <p:cNvSpPr txBox="1"/>
          <p:nvPr/>
        </p:nvSpPr>
        <p:spPr>
          <a:xfrm>
            <a:off x="4534553" y="5353506"/>
            <a:ext cx="2193806" cy="276999"/>
          </a:xfrm>
          <a:prstGeom prst="rect">
            <a:avLst/>
          </a:prstGeom>
          <a:noFill/>
        </p:spPr>
        <p:txBody>
          <a:bodyPr wrap="none" rtlCol="0">
            <a:spAutoFit/>
          </a:bodyPr>
          <a:lstStyle/>
          <a:p>
            <a:r>
              <a:rPr lang="en-US" altLang="zh-CN" sz="1200" b="1" dirty="0">
                <a:latin typeface="Arial" panose="020B0604020202020204" pitchFamily="34" charset="0"/>
                <a:cs typeface="Arial" panose="020B0604020202020204" pitchFamily="34" charset="0"/>
              </a:rPr>
              <a:t>P-T: &gt;100 </a:t>
            </a:r>
            <a:r>
              <a:rPr lang="en-US" altLang="zh-CN" sz="1200" b="1" dirty="0" err="1">
                <a:latin typeface="Arial" panose="020B0604020202020204" pitchFamily="34" charset="0"/>
                <a:cs typeface="Arial" panose="020B0604020202020204" pitchFamily="34" charset="0"/>
              </a:rPr>
              <a:t>GPa</a:t>
            </a:r>
            <a:r>
              <a:rPr lang="en-US" altLang="zh-CN" sz="1200" b="1" dirty="0">
                <a:latin typeface="Arial" panose="020B0604020202020204" pitchFamily="34" charset="0"/>
                <a:cs typeface="Arial" panose="020B0604020202020204" pitchFamily="34" charset="0"/>
              </a:rPr>
              <a:t>, 1.5 - 4000 K</a:t>
            </a:r>
            <a:endParaRPr lang="zh-CN" altLang="en-US" sz="1200" b="1" dirty="0">
              <a:latin typeface="Arial" panose="020B0604020202020204" pitchFamily="34" charset="0"/>
              <a:cs typeface="Arial" panose="020B0604020202020204" pitchFamily="34" charset="0"/>
            </a:endParaRPr>
          </a:p>
        </p:txBody>
      </p:sp>
      <p:grpSp>
        <p:nvGrpSpPr>
          <p:cNvPr id="13" name="Group 9">
            <a:extLst>
              <a:ext uri="{FF2B5EF4-FFF2-40B4-BE49-F238E27FC236}">
                <a16:creationId xmlns:a16="http://schemas.microsoft.com/office/drawing/2014/main" id="{C9C0E71C-06C1-4FA5-8E0A-097E66465CE2}"/>
              </a:ext>
            </a:extLst>
          </p:cNvPr>
          <p:cNvGrpSpPr/>
          <p:nvPr/>
        </p:nvGrpSpPr>
        <p:grpSpPr>
          <a:xfrm>
            <a:off x="4001017" y="3128909"/>
            <a:ext cx="2977577" cy="2106638"/>
            <a:chOff x="5914049" y="2140233"/>
            <a:chExt cx="2977577" cy="2106638"/>
          </a:xfrm>
        </p:grpSpPr>
        <p:pic>
          <p:nvPicPr>
            <p:cNvPr id="14" name="Picture 15">
              <a:extLst>
                <a:ext uri="{FF2B5EF4-FFF2-40B4-BE49-F238E27FC236}">
                  <a16:creationId xmlns:a16="http://schemas.microsoft.com/office/drawing/2014/main" id="{528A7AB2-FC32-40DA-8DF0-BE1EB99DC575}"/>
                </a:ext>
              </a:extLst>
            </p:cNvPr>
            <p:cNvPicPr>
              <a:picLocks noChangeAspect="1"/>
            </p:cNvPicPr>
            <p:nvPr/>
          </p:nvPicPr>
          <p:blipFill>
            <a:blip r:embed="rId5"/>
            <a:stretch>
              <a:fillRect/>
            </a:stretch>
          </p:blipFill>
          <p:spPr>
            <a:xfrm>
              <a:off x="6036577" y="2140233"/>
              <a:ext cx="2855049" cy="2106638"/>
            </a:xfrm>
            <a:prstGeom prst="rect">
              <a:avLst/>
            </a:prstGeom>
          </p:spPr>
        </p:pic>
        <p:sp>
          <p:nvSpPr>
            <p:cNvPr id="15" name="TextBox 14">
              <a:extLst>
                <a:ext uri="{FF2B5EF4-FFF2-40B4-BE49-F238E27FC236}">
                  <a16:creationId xmlns:a16="http://schemas.microsoft.com/office/drawing/2014/main" id="{FA1D19E9-6442-4601-ADA5-6722E28328A3}"/>
                </a:ext>
              </a:extLst>
            </p:cNvPr>
            <p:cNvSpPr txBox="1"/>
            <p:nvPr/>
          </p:nvSpPr>
          <p:spPr>
            <a:xfrm rot="1433719">
              <a:off x="5914049" y="2350353"/>
              <a:ext cx="1243083" cy="646331"/>
            </a:xfrm>
            <a:prstGeom prst="rect">
              <a:avLst/>
            </a:prstGeom>
            <a:noFill/>
          </p:spPr>
          <p:txBody>
            <a:bodyPr wrap="square" rtlCol="0">
              <a:spAutoFit/>
            </a:bodyPr>
            <a:lstStyle/>
            <a:p>
              <a:r>
                <a:rPr lang="en-US" altLang="zh-CN" b="1" dirty="0"/>
                <a:t>XRD, IR, Raman…</a:t>
              </a:r>
              <a:endParaRPr lang="zh-CN" altLang="en-US" b="1" dirty="0"/>
            </a:p>
          </p:txBody>
        </p:sp>
      </p:grpSp>
      <p:pic>
        <p:nvPicPr>
          <p:cNvPr id="1710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7540" y="3315930"/>
            <a:ext cx="1714500"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矩形 15"/>
          <p:cNvSpPr/>
          <p:nvPr/>
        </p:nvSpPr>
        <p:spPr>
          <a:xfrm>
            <a:off x="632671" y="5861229"/>
            <a:ext cx="7466299" cy="600164"/>
          </a:xfrm>
          <a:prstGeom prst="rect">
            <a:avLst/>
          </a:prstGeom>
        </p:spPr>
        <p:txBody>
          <a:bodyPr wrap="square">
            <a:spAutoFit/>
          </a:bodyPr>
          <a:lstStyle/>
          <a:p>
            <a:r>
              <a:rPr lang="en-US" altLang="zh-CN" sz="1100" dirty="0"/>
              <a:t>1976</a:t>
            </a:r>
            <a:r>
              <a:rPr lang="zh-CN" altLang="en-US" sz="1100" dirty="0"/>
              <a:t>年，与</a:t>
            </a:r>
            <a:r>
              <a:rPr lang="en-US" altLang="zh-CN" sz="1100" dirty="0" err="1"/>
              <a:t>P.M.Bell</a:t>
            </a:r>
            <a:r>
              <a:rPr lang="zh-CN" altLang="en-US" sz="1100" dirty="0"/>
              <a:t>合作改进的金刚石压腔可达</a:t>
            </a:r>
            <a:r>
              <a:rPr lang="en-US" altLang="zh-CN" sz="1100" dirty="0"/>
              <a:t>100GPa</a:t>
            </a:r>
            <a:r>
              <a:rPr lang="zh-CN" altLang="en-US" sz="1100" dirty="0"/>
              <a:t>，第一次观察到金刚石损坏的新形式－塑性流动，</a:t>
            </a:r>
            <a:endParaRPr lang="en-US" altLang="zh-CN" sz="1100" dirty="0"/>
          </a:p>
          <a:p>
            <a:r>
              <a:rPr lang="en-US" altLang="zh-CN" sz="1100" dirty="0"/>
              <a:t>1978</a:t>
            </a:r>
            <a:r>
              <a:rPr lang="zh-CN" altLang="en-US" sz="1100" dirty="0"/>
              <a:t>年，提高到</a:t>
            </a:r>
            <a:r>
              <a:rPr lang="en-US" altLang="zh-CN" sz="1100" dirty="0"/>
              <a:t>173GPa</a:t>
            </a:r>
            <a:r>
              <a:rPr lang="zh-CN" altLang="en-US" sz="1100" dirty="0"/>
              <a:t>，即相当于地球外核的压力。</a:t>
            </a:r>
          </a:p>
          <a:p>
            <a:r>
              <a:rPr lang="en-US" altLang="zh-CN" sz="1100" dirty="0"/>
              <a:t>1986</a:t>
            </a:r>
            <a:r>
              <a:rPr lang="zh-CN" altLang="en-US" sz="1100" dirty="0"/>
              <a:t>年，与徐济安、</a:t>
            </a:r>
            <a:r>
              <a:rPr lang="en-US" altLang="zh-CN" sz="1100" dirty="0" err="1"/>
              <a:t>P.M.Bell</a:t>
            </a:r>
            <a:r>
              <a:rPr lang="zh-CN" altLang="en-US" sz="1100" dirty="0"/>
              <a:t>合作创造了</a:t>
            </a:r>
            <a:r>
              <a:rPr lang="en-US" altLang="zh-CN" sz="1100" dirty="0"/>
              <a:t>550GPa</a:t>
            </a:r>
            <a:r>
              <a:rPr lang="zh-CN" altLang="en-US" sz="1100" dirty="0"/>
              <a:t>的世界最高静压力的纪录（已超过地心的压力）</a:t>
            </a:r>
          </a:p>
        </p:txBody>
      </p:sp>
      <p:sp>
        <p:nvSpPr>
          <p:cNvPr id="17" name="TextBox 16"/>
          <p:cNvSpPr txBox="1"/>
          <p:nvPr/>
        </p:nvSpPr>
        <p:spPr>
          <a:xfrm>
            <a:off x="975007" y="80387"/>
            <a:ext cx="3499676" cy="523220"/>
          </a:xfrm>
          <a:prstGeom prst="rect">
            <a:avLst/>
          </a:prstGeom>
          <a:noFill/>
        </p:spPr>
        <p:txBody>
          <a:bodyPr wrap="none" rtlCol="0">
            <a:spAutoFit/>
          </a:bodyPr>
          <a:lstStyle/>
          <a:p>
            <a:r>
              <a:rPr lang="en-US" altLang="zh-CN" sz="2800" b="1" dirty="0">
                <a:solidFill>
                  <a:srgbClr val="FF0000"/>
                </a:solidFill>
                <a:effectLst>
                  <a:outerShdw blurRad="38100" dist="38100" dir="2700000" algn="tl">
                    <a:srgbClr val="000000">
                      <a:alpha val="43137"/>
                    </a:srgbClr>
                  </a:outerShdw>
                </a:effectLst>
              </a:rPr>
              <a:t>Pressure in the lab </a:t>
            </a:r>
            <a:endParaRPr lang="zh-CN" altLang="en-US" sz="28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29619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7529" y="94922"/>
            <a:ext cx="5043610" cy="1348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61" y="1752600"/>
            <a:ext cx="7464425"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41" y="2598162"/>
            <a:ext cx="3253293" cy="368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2469" y="2135187"/>
            <a:ext cx="3732680" cy="4245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8166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692"/>
            <a:ext cx="8931044" cy="2246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62199"/>
            <a:ext cx="6437873" cy="433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030" y="2809876"/>
            <a:ext cx="2895970" cy="2981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5968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903" y="2559177"/>
            <a:ext cx="4400548" cy="4189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076" y="0"/>
            <a:ext cx="7431699" cy="2559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6964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l="6013"/>
          <a:stretch>
            <a:fillRect/>
          </a:stretch>
        </p:blipFill>
        <p:spPr bwMode="auto">
          <a:xfrm>
            <a:off x="296145" y="1141285"/>
            <a:ext cx="2162893" cy="2059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 y="3444875"/>
            <a:ext cx="2087563"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3198" y="1291971"/>
            <a:ext cx="6221412" cy="472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90" name="TextBox 6"/>
          <p:cNvSpPr txBox="1">
            <a:spLocks noChangeArrowheads="1"/>
          </p:cNvSpPr>
          <p:nvPr/>
        </p:nvSpPr>
        <p:spPr bwMode="auto">
          <a:xfrm>
            <a:off x="975007" y="48435"/>
            <a:ext cx="37032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lang="en-US" altLang="zh-CN" sz="2800" i="0" dirty="0">
                <a:solidFill>
                  <a:srgbClr val="FF0000"/>
                </a:solidFill>
                <a:ea typeface="黑体" pitchFamily="49" charset="-122"/>
                <a:cs typeface="Arial" pitchFamily="34" charset="0"/>
              </a:rPr>
              <a:t>Gas </a:t>
            </a:r>
            <a:r>
              <a:rPr lang="en-US" altLang="zh-CN" sz="2800" i="0" dirty="0" err="1">
                <a:solidFill>
                  <a:srgbClr val="FF0000"/>
                </a:solidFill>
                <a:ea typeface="黑体" pitchFamily="49" charset="-122"/>
                <a:cs typeface="Arial" pitchFamily="34" charset="0"/>
              </a:rPr>
              <a:t>clathrate</a:t>
            </a:r>
            <a:r>
              <a:rPr lang="en-US" altLang="zh-CN" sz="2800" i="0" dirty="0">
                <a:solidFill>
                  <a:srgbClr val="FF0000"/>
                </a:solidFill>
                <a:ea typeface="黑体" pitchFamily="49" charset="-122"/>
                <a:cs typeface="Arial" pitchFamily="34" charset="0"/>
              </a:rPr>
              <a:t> hydrate</a:t>
            </a:r>
            <a:endParaRPr lang="zh-CN" altLang="en-US" sz="2800" i="0" dirty="0">
              <a:solidFill>
                <a:srgbClr val="FF0000"/>
              </a:solidFill>
              <a:ea typeface="黑体" pitchFamily="49" charset="-122"/>
              <a:cs typeface="Arial" pitchFamily="34" charset="0"/>
            </a:endParaRPr>
          </a:p>
        </p:txBody>
      </p:sp>
      <p:sp>
        <p:nvSpPr>
          <p:cNvPr id="7" name="TextBox 6"/>
          <p:cNvSpPr txBox="1"/>
          <p:nvPr/>
        </p:nvSpPr>
        <p:spPr>
          <a:xfrm>
            <a:off x="49914" y="6318504"/>
            <a:ext cx="1850186" cy="307777"/>
          </a:xfrm>
          <a:prstGeom prst="rect">
            <a:avLst/>
          </a:prstGeom>
          <a:noFill/>
        </p:spPr>
        <p:txBody>
          <a:bodyPr wrap="none" rtlCol="0">
            <a:spAutoFit/>
          </a:bodyPr>
          <a:lstStyle/>
          <a:p>
            <a:r>
              <a:rPr lang="zh-CN" altLang="en-US" sz="1400" dirty="0"/>
              <a:t>致谢：物理系 王善民</a:t>
            </a:r>
          </a:p>
        </p:txBody>
      </p:sp>
    </p:spTree>
    <p:extLst>
      <p:ext uri="{BB962C8B-B14F-4D97-AF65-F5344CB8AC3E}">
        <p14:creationId xmlns:p14="http://schemas.microsoft.com/office/powerpoint/2010/main" val="3552157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76032" y="3429000"/>
            <a:ext cx="6155788" cy="523220"/>
          </a:xfrm>
          <a:prstGeom prst="rect">
            <a:avLst/>
          </a:prstGeom>
        </p:spPr>
        <p:txBody>
          <a:bodyPr wrap="none">
            <a:spAutoFit/>
          </a:bodyPr>
          <a:lstStyle/>
          <a:p>
            <a:r>
              <a:rPr lang="en-US" altLang="zh-CN" sz="2800" dirty="0">
                <a:solidFill>
                  <a:srgbClr val="FF0000"/>
                </a:solidFill>
                <a:ea typeface="华文楷体" panose="02010600040101010101" pitchFamily="2" charset="-122"/>
                <a:cs typeface="Times New Roman" panose="02020603050405020304" pitchFamily="18" charset="0"/>
              </a:rPr>
              <a:t>27. The equation of  state for real gas</a:t>
            </a:r>
          </a:p>
        </p:txBody>
      </p:sp>
      <p:sp>
        <p:nvSpPr>
          <p:cNvPr id="9" name="矩形 8"/>
          <p:cNvSpPr/>
          <p:nvPr/>
        </p:nvSpPr>
        <p:spPr>
          <a:xfrm>
            <a:off x="1004971" y="4357223"/>
            <a:ext cx="4572000" cy="646331"/>
          </a:xfrm>
          <a:prstGeom prst="rect">
            <a:avLst/>
          </a:prstGeom>
        </p:spPr>
        <p:txBody>
          <a:bodyPr>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Ref.  Introduction of Thermodynamics of Materials, D. R. Gaskell, Chapter 8 </a:t>
            </a:r>
          </a:p>
        </p:txBody>
      </p:sp>
    </p:spTree>
    <p:extLst>
      <p:ext uri="{BB962C8B-B14F-4D97-AF65-F5344CB8AC3E}">
        <p14:creationId xmlns:p14="http://schemas.microsoft.com/office/powerpoint/2010/main" val="2124326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7426" y="1040169"/>
            <a:ext cx="2220356" cy="3137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466969" y="4327555"/>
            <a:ext cx="3572256" cy="923330"/>
          </a:xfrm>
          <a:prstGeom prst="rect">
            <a:avLst/>
          </a:prstGeom>
        </p:spPr>
        <p:txBody>
          <a:bodyPr wrap="square">
            <a:spAutoFit/>
          </a:bodyPr>
          <a:lstStyle/>
          <a:p>
            <a:pPr algn="ctr"/>
            <a:r>
              <a:rPr lang="nl-NL" altLang="zh-CN" dirty="0"/>
              <a:t>Johannes Diderik van der Waals</a:t>
            </a:r>
          </a:p>
          <a:p>
            <a:pPr algn="ctr"/>
            <a:r>
              <a:rPr lang="en-US" altLang="zh-CN" dirty="0"/>
              <a:t>Dutch, physicist</a:t>
            </a:r>
          </a:p>
          <a:p>
            <a:pPr algn="ctr"/>
            <a:r>
              <a:rPr lang="en-US" altLang="zh-CN" dirty="0"/>
              <a:t>1910, Nobel Prize</a:t>
            </a:r>
            <a:endParaRPr lang="zh-CN" altLang="en-US" dirty="0"/>
          </a:p>
        </p:txBody>
      </p:sp>
      <p:sp>
        <p:nvSpPr>
          <p:cNvPr id="6" name="矩形 5"/>
          <p:cNvSpPr/>
          <p:nvPr/>
        </p:nvSpPr>
        <p:spPr>
          <a:xfrm>
            <a:off x="1024141" y="47287"/>
            <a:ext cx="3769173" cy="646331"/>
          </a:xfrm>
          <a:prstGeom prst="rect">
            <a:avLst/>
          </a:prstGeom>
        </p:spPr>
        <p:txBody>
          <a:bodyPr wrap="none">
            <a:spAutoFit/>
          </a:bodyPr>
          <a:lstStyle/>
          <a:p>
            <a:r>
              <a:rPr lang="en-US" altLang="zh-CN" sz="3600" b="1" dirty="0">
                <a:solidFill>
                  <a:srgbClr val="FF0000"/>
                </a:solidFill>
                <a:ea typeface="宋体" charset="-122"/>
              </a:rPr>
              <a:t>Equations of State </a:t>
            </a:r>
            <a:endParaRPr lang="zh-CN" altLang="en-US" sz="3600" dirty="0"/>
          </a:p>
        </p:txBody>
      </p:sp>
      <p:pic>
        <p:nvPicPr>
          <p:cNvPr id="1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53591"/>
            <a:ext cx="2438400"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对象 11"/>
          <p:cNvGraphicFramePr>
            <a:graphicFrameLocks noChangeAspect="1"/>
          </p:cNvGraphicFramePr>
          <p:nvPr/>
        </p:nvGraphicFramePr>
        <p:xfrm>
          <a:off x="533400" y="2554005"/>
          <a:ext cx="1476375" cy="381000"/>
        </p:xfrm>
        <a:graphic>
          <a:graphicData uri="http://schemas.openxmlformats.org/presentationml/2006/ole">
            <mc:AlternateContent xmlns:mc="http://schemas.openxmlformats.org/markup-compatibility/2006">
              <mc:Choice xmlns:v="urn:schemas-microsoft-com:vml" Requires="v">
                <p:oleObj name="Equation" r:id="rId4" imgW="583947" imgH="152334" progId="Equation.DSMT4">
                  <p:embed/>
                </p:oleObj>
              </mc:Choice>
              <mc:Fallback>
                <p:oleObj name="Equation" r:id="rId4" imgW="583947" imgH="152334" progId="Equation.DSMT4">
                  <p:embed/>
                  <p:pic>
                    <p:nvPicPr>
                      <p:cNvPr id="12" name="对象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2554005"/>
                        <a:ext cx="14763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Box 13"/>
          <p:cNvSpPr txBox="1"/>
          <p:nvPr/>
        </p:nvSpPr>
        <p:spPr>
          <a:xfrm>
            <a:off x="228600" y="1944405"/>
            <a:ext cx="2277290" cy="523220"/>
          </a:xfrm>
          <a:prstGeom prst="rect">
            <a:avLst/>
          </a:prstGeom>
          <a:noFill/>
        </p:spPr>
        <p:txBody>
          <a:bodyPr wrap="none" rtlCol="0">
            <a:spAutoFit/>
          </a:bodyPr>
          <a:lstStyle/>
          <a:p>
            <a:r>
              <a:rPr lang="en-US" altLang="zh-CN" sz="2800" b="1" dirty="0">
                <a:solidFill>
                  <a:srgbClr val="0000FF"/>
                </a:solidFill>
              </a:rPr>
              <a:t>For idea gases</a:t>
            </a:r>
            <a:endParaRPr lang="zh-CN" altLang="en-US" sz="2800" b="1" dirty="0">
              <a:solidFill>
                <a:srgbClr val="0000FF"/>
              </a:solidFill>
            </a:endParaRPr>
          </a:p>
        </p:txBody>
      </p:sp>
      <p:sp>
        <p:nvSpPr>
          <p:cNvPr id="16" name="TextBox 15"/>
          <p:cNvSpPr txBox="1"/>
          <p:nvPr/>
        </p:nvSpPr>
        <p:spPr>
          <a:xfrm>
            <a:off x="28104" y="3277904"/>
            <a:ext cx="5734455" cy="1015663"/>
          </a:xfrm>
          <a:prstGeom prst="rect">
            <a:avLst/>
          </a:prstGeom>
          <a:noFill/>
        </p:spPr>
        <p:txBody>
          <a:bodyPr wrap="none" rtlCol="0">
            <a:spAutoFit/>
          </a:bodyPr>
          <a:lstStyle/>
          <a:p>
            <a:r>
              <a:rPr lang="en-US" altLang="zh-CN" sz="2000" b="1" dirty="0"/>
              <a:t>   Two assumption for idea gas</a:t>
            </a:r>
          </a:p>
          <a:p>
            <a:r>
              <a:rPr lang="en-US" altLang="zh-CN" sz="2000" dirty="0"/>
              <a:t>1). The volume of the  molecular is negligible</a:t>
            </a:r>
          </a:p>
          <a:p>
            <a:r>
              <a:rPr lang="en-US" altLang="zh-CN" sz="2000" dirty="0"/>
              <a:t>2). The attractive and repulsive for  are negligible</a:t>
            </a:r>
            <a:endParaRPr lang="zh-CN" altLang="en-US" sz="2000" dirty="0"/>
          </a:p>
        </p:txBody>
      </p:sp>
      <p:sp>
        <p:nvSpPr>
          <p:cNvPr id="19" name="TextBox 18"/>
          <p:cNvSpPr txBox="1"/>
          <p:nvPr/>
        </p:nvSpPr>
        <p:spPr>
          <a:xfrm>
            <a:off x="320172" y="4469185"/>
            <a:ext cx="2209131" cy="523220"/>
          </a:xfrm>
          <a:prstGeom prst="rect">
            <a:avLst/>
          </a:prstGeom>
          <a:noFill/>
        </p:spPr>
        <p:txBody>
          <a:bodyPr wrap="none" rtlCol="0">
            <a:spAutoFit/>
          </a:bodyPr>
          <a:lstStyle/>
          <a:p>
            <a:r>
              <a:rPr lang="en-US" altLang="zh-CN" sz="2800" b="1" dirty="0">
                <a:solidFill>
                  <a:srgbClr val="0000FF"/>
                </a:solidFill>
              </a:rPr>
              <a:t>For real gases</a:t>
            </a:r>
            <a:endParaRPr lang="zh-CN" altLang="en-US" sz="2800" b="1" dirty="0">
              <a:solidFill>
                <a:srgbClr val="0000FF"/>
              </a:solidFill>
            </a:endParaRPr>
          </a:p>
        </p:txBody>
      </p:sp>
      <p:pic>
        <p:nvPicPr>
          <p:cNvPr id="20" name="image757.png"/>
          <p:cNvPicPr/>
          <p:nvPr/>
        </p:nvPicPr>
        <p:blipFill>
          <a:blip r:embed="rId6" cstate="print"/>
          <a:stretch>
            <a:fillRect/>
          </a:stretch>
        </p:blipFill>
        <p:spPr>
          <a:xfrm>
            <a:off x="672335" y="5045863"/>
            <a:ext cx="1856968" cy="789797"/>
          </a:xfrm>
          <a:prstGeom prst="rect">
            <a:avLst/>
          </a:prstGeom>
        </p:spPr>
      </p:pic>
      <p:sp>
        <p:nvSpPr>
          <p:cNvPr id="2" name="矩形 1"/>
          <p:cNvSpPr/>
          <p:nvPr/>
        </p:nvSpPr>
        <p:spPr>
          <a:xfrm>
            <a:off x="4362450" y="5587732"/>
            <a:ext cx="4572000" cy="584775"/>
          </a:xfrm>
          <a:prstGeom prst="rect">
            <a:avLst/>
          </a:prstGeom>
          <a:solidFill>
            <a:schemeClr val="accent2">
              <a:lumMod val="40000"/>
              <a:lumOff val="60000"/>
            </a:schemeClr>
          </a:solidFill>
        </p:spPr>
        <p:txBody>
          <a:bodyPr>
            <a:spAutoFit/>
          </a:bodyPr>
          <a:lstStyle/>
          <a:p>
            <a:r>
              <a:rPr lang="en-US" altLang="zh-CN" sz="1600" dirty="0"/>
              <a:t>Prize motivation: "for his work on the equation of state for gases and liquids" </a:t>
            </a:r>
            <a:endParaRPr lang="zh-CN" altLang="en-US" sz="1600" dirty="0"/>
          </a:p>
        </p:txBody>
      </p:sp>
    </p:spTree>
    <p:extLst>
      <p:ext uri="{BB962C8B-B14F-4D97-AF65-F5344CB8AC3E}">
        <p14:creationId xmlns:p14="http://schemas.microsoft.com/office/powerpoint/2010/main" val="4262933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35147" y="71110"/>
            <a:ext cx="5928867" cy="523220"/>
          </a:xfrm>
          <a:prstGeom prst="rect">
            <a:avLst/>
          </a:prstGeom>
        </p:spPr>
        <p:txBody>
          <a:bodyPr wrap="none">
            <a:spAutoFit/>
          </a:bodyPr>
          <a:lstStyle/>
          <a:p>
            <a:r>
              <a:rPr lang="en-US" altLang="zh-CN" sz="2800" b="1" dirty="0">
                <a:solidFill>
                  <a:srgbClr val="FF0000"/>
                </a:solidFill>
                <a:ea typeface="宋体" charset="-122"/>
              </a:rPr>
              <a:t>Equations of State for the non idea gas</a:t>
            </a:r>
          </a:p>
        </p:txBody>
      </p:sp>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439" y="1698325"/>
            <a:ext cx="149941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194" y="2803225"/>
            <a:ext cx="1156300" cy="57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327239" y="1068943"/>
            <a:ext cx="2226763" cy="369332"/>
          </a:xfrm>
          <a:prstGeom prst="rect">
            <a:avLst/>
          </a:prstGeom>
          <a:noFill/>
        </p:spPr>
        <p:txBody>
          <a:bodyPr wrap="none" rtlCol="0">
            <a:spAutoFit/>
          </a:bodyPr>
          <a:lstStyle/>
          <a:p>
            <a:r>
              <a:rPr lang="en-US" altLang="zh-CN" dirty="0"/>
              <a:t>Compressibility factor</a:t>
            </a:r>
            <a:endParaRPr lang="zh-CN" altLang="en-US" dirty="0"/>
          </a:p>
        </p:txBody>
      </p:sp>
      <p:pic>
        <p:nvPicPr>
          <p:cNvPr id="1434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055" y="3419475"/>
            <a:ext cx="2222879" cy="117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8708" y="1081903"/>
            <a:ext cx="5895975"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781425" y="884277"/>
            <a:ext cx="3837845" cy="369332"/>
          </a:xfrm>
          <a:prstGeom prst="rect">
            <a:avLst/>
          </a:prstGeom>
          <a:noFill/>
        </p:spPr>
        <p:txBody>
          <a:bodyPr wrap="none" rtlCol="0">
            <a:spAutoFit/>
          </a:bodyPr>
          <a:lstStyle/>
          <a:p>
            <a:r>
              <a:rPr lang="en-US" altLang="zh-CN" dirty="0"/>
              <a:t>Comparison of Z factor for various gas  </a:t>
            </a:r>
            <a:endParaRPr lang="zh-CN" altLang="en-US" dirty="0"/>
          </a:p>
        </p:txBody>
      </p:sp>
      <p:sp>
        <p:nvSpPr>
          <p:cNvPr id="12" name="TextBox 11"/>
          <p:cNvSpPr txBox="1"/>
          <p:nvPr/>
        </p:nvSpPr>
        <p:spPr>
          <a:xfrm>
            <a:off x="3419475" y="5425303"/>
            <a:ext cx="4953000" cy="646331"/>
          </a:xfrm>
          <a:prstGeom prst="rect">
            <a:avLst/>
          </a:prstGeom>
          <a:noFill/>
        </p:spPr>
        <p:txBody>
          <a:bodyPr wrap="square" rtlCol="0">
            <a:spAutoFit/>
          </a:bodyPr>
          <a:lstStyle/>
          <a:p>
            <a:r>
              <a:rPr lang="en-US" altLang="zh-CN" dirty="0"/>
              <a:t>The deviation of a gas from idea gas behavior in greatest in the vicinity of the critical point  </a:t>
            </a:r>
            <a:endParaRPr lang="zh-CN" altLang="en-US" dirty="0"/>
          </a:p>
        </p:txBody>
      </p:sp>
      <p:pic>
        <p:nvPicPr>
          <p:cNvPr id="1434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439" y="4752975"/>
            <a:ext cx="1477498" cy="1453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7197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22264" y="121577"/>
            <a:ext cx="5836319" cy="523220"/>
          </a:xfrm>
          <a:prstGeom prst="rect">
            <a:avLst/>
          </a:prstGeom>
        </p:spPr>
        <p:txBody>
          <a:bodyPr wrap="square">
            <a:spAutoFit/>
          </a:bodyPr>
          <a:lstStyle/>
          <a:p>
            <a:pPr indent="228600">
              <a:tabLst>
                <a:tab pos="1447800" algn="l"/>
              </a:tabLst>
            </a:pPr>
            <a:r>
              <a:rPr lang="en-US" altLang="zh-CN" sz="2800" b="1" i="1" dirty="0">
                <a:solidFill>
                  <a:srgbClr val="FF0000"/>
                </a:solidFill>
                <a:ea typeface="宋体" charset="-122"/>
              </a:rPr>
              <a:t>van der Waals equation of  gas</a:t>
            </a:r>
            <a:endParaRPr lang="zh-CN" altLang="en-US" sz="2800" dirty="0">
              <a:solidFill>
                <a:srgbClr val="FF0000"/>
              </a:solidFill>
            </a:endParaRPr>
          </a:p>
        </p:txBody>
      </p:sp>
      <p:pic>
        <p:nvPicPr>
          <p:cNvPr id="11"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587" t="56000"/>
          <a:stretch/>
        </p:blipFill>
        <p:spPr bwMode="auto">
          <a:xfrm>
            <a:off x="425243" y="2726877"/>
            <a:ext cx="3105912" cy="1426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2" name="对象 11"/>
          <p:cNvGraphicFramePr>
            <a:graphicFrameLocks noChangeAspect="1"/>
          </p:cNvGraphicFramePr>
          <p:nvPr/>
        </p:nvGraphicFramePr>
        <p:xfrm>
          <a:off x="669718" y="1402128"/>
          <a:ext cx="1444625" cy="444500"/>
        </p:xfrm>
        <a:graphic>
          <a:graphicData uri="http://schemas.openxmlformats.org/presentationml/2006/ole">
            <mc:AlternateContent xmlns:mc="http://schemas.openxmlformats.org/markup-compatibility/2006">
              <mc:Choice xmlns:v="urn:schemas-microsoft-com:vml" Requires="v">
                <p:oleObj name="Equation" r:id="rId3" imgW="571320" imgH="177480" progId="Equation.DSMT4">
                  <p:embed/>
                </p:oleObj>
              </mc:Choice>
              <mc:Fallback>
                <p:oleObj name="Equation" r:id="rId3" imgW="571320" imgH="177480" progId="Equation.DSMT4">
                  <p:embed/>
                  <p:pic>
                    <p:nvPicPr>
                      <p:cNvPr id="12" name="对象 11"/>
                      <p:cNvPicPr>
                        <a:picLocks noChangeAspect="1" noChangeArrowheads="1"/>
                      </p:cNvPicPr>
                      <p:nvPr/>
                    </p:nvPicPr>
                    <p:blipFill>
                      <a:blip r:embed="rId4"/>
                      <a:srcRect/>
                      <a:stretch>
                        <a:fillRect/>
                      </a:stretch>
                    </p:blipFill>
                    <p:spPr bwMode="auto">
                      <a:xfrm>
                        <a:off x="669718" y="1402128"/>
                        <a:ext cx="144462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3778043" y="1205278"/>
            <a:ext cx="4934556" cy="830997"/>
          </a:xfrm>
          <a:prstGeom prst="rect">
            <a:avLst/>
          </a:prstGeom>
          <a:noFill/>
        </p:spPr>
        <p:txBody>
          <a:bodyPr wrap="none" rtlCol="0">
            <a:spAutoFit/>
          </a:bodyPr>
          <a:lstStyle/>
          <a:p>
            <a:r>
              <a:rPr lang="en-US" altLang="zh-CN" sz="2400" b="1" dirty="0"/>
              <a:t>Idea gas </a:t>
            </a:r>
            <a:r>
              <a:rPr lang="en-US" altLang="zh-CN" sz="2400" dirty="0"/>
              <a:t>: no volume  &amp; no interaction</a:t>
            </a:r>
          </a:p>
          <a:p>
            <a:r>
              <a:rPr lang="en-US" altLang="zh-CN" sz="2400" b="1" dirty="0"/>
              <a:t>Real gas</a:t>
            </a:r>
            <a:r>
              <a:rPr lang="en-US" altLang="zh-CN" sz="2400" dirty="0"/>
              <a:t>: finite volume &amp; interaction</a:t>
            </a:r>
            <a:endParaRPr lang="zh-CN" altLang="en-US" sz="2400" dirty="0"/>
          </a:p>
        </p:txBody>
      </p:sp>
      <p:sp>
        <p:nvSpPr>
          <p:cNvPr id="14" name="TextBox 13"/>
          <p:cNvSpPr txBox="1"/>
          <p:nvPr/>
        </p:nvSpPr>
        <p:spPr>
          <a:xfrm>
            <a:off x="176722" y="2169954"/>
            <a:ext cx="3156890" cy="461665"/>
          </a:xfrm>
          <a:prstGeom prst="rect">
            <a:avLst/>
          </a:prstGeom>
          <a:noFill/>
        </p:spPr>
        <p:txBody>
          <a:bodyPr wrap="none" rtlCol="0">
            <a:spAutoFit/>
          </a:bodyPr>
          <a:lstStyle/>
          <a:p>
            <a:r>
              <a:rPr lang="en-US" altLang="zh-CN" sz="2400" b="1" dirty="0">
                <a:solidFill>
                  <a:srgbClr val="0000FF"/>
                </a:solidFill>
              </a:rPr>
              <a:t>1. Volume modification</a:t>
            </a:r>
            <a:endParaRPr lang="zh-CN" altLang="en-US" sz="2400" b="1" dirty="0">
              <a:solidFill>
                <a:srgbClr val="0000FF"/>
              </a:solidFill>
            </a:endParaRPr>
          </a:p>
        </p:txBody>
      </p:sp>
      <p:graphicFrame>
        <p:nvGraphicFramePr>
          <p:cNvPr id="15" name="对象 14"/>
          <p:cNvGraphicFramePr>
            <a:graphicFrameLocks noChangeAspect="1"/>
          </p:cNvGraphicFramePr>
          <p:nvPr/>
        </p:nvGraphicFramePr>
        <p:xfrm>
          <a:off x="425243" y="4396534"/>
          <a:ext cx="2115015" cy="573563"/>
        </p:xfrm>
        <a:graphic>
          <a:graphicData uri="http://schemas.openxmlformats.org/presentationml/2006/ole">
            <mc:AlternateContent xmlns:mc="http://schemas.openxmlformats.org/markup-compatibility/2006">
              <mc:Choice xmlns:v="urn:schemas-microsoft-com:vml" Requires="v">
                <p:oleObj name="Equation" r:id="rId5" imgW="927000" imgH="253800" progId="Equation.DSMT4">
                  <p:embed/>
                </p:oleObj>
              </mc:Choice>
              <mc:Fallback>
                <p:oleObj name="Equation" r:id="rId5" imgW="927000" imgH="253800" progId="Equation.DSMT4">
                  <p:embed/>
                  <p:pic>
                    <p:nvPicPr>
                      <p:cNvPr id="15" name="对象 14"/>
                      <p:cNvPicPr>
                        <a:picLocks noChangeAspect="1" noChangeArrowheads="1"/>
                      </p:cNvPicPr>
                      <p:nvPr/>
                    </p:nvPicPr>
                    <p:blipFill>
                      <a:blip r:embed="rId6"/>
                      <a:srcRect/>
                      <a:stretch>
                        <a:fillRect/>
                      </a:stretch>
                    </p:blipFill>
                    <p:spPr bwMode="auto">
                      <a:xfrm>
                        <a:off x="425243" y="4396534"/>
                        <a:ext cx="2115015" cy="573563"/>
                      </a:xfrm>
                      <a:prstGeom prst="rect">
                        <a:avLst/>
                      </a:prstGeom>
                      <a:noFill/>
                      <a:ln>
                        <a:noFill/>
                      </a:ln>
                    </p:spPr>
                  </p:pic>
                </p:oleObj>
              </mc:Fallback>
            </mc:AlternateContent>
          </a:graphicData>
        </a:graphic>
      </p:graphicFrame>
      <p:sp>
        <p:nvSpPr>
          <p:cNvPr id="16" name="TextBox 15"/>
          <p:cNvSpPr txBox="1"/>
          <p:nvPr/>
        </p:nvSpPr>
        <p:spPr>
          <a:xfrm>
            <a:off x="4317387" y="2198033"/>
            <a:ext cx="3274871" cy="461665"/>
          </a:xfrm>
          <a:prstGeom prst="rect">
            <a:avLst/>
          </a:prstGeom>
          <a:noFill/>
        </p:spPr>
        <p:txBody>
          <a:bodyPr wrap="none" rtlCol="0">
            <a:spAutoFit/>
          </a:bodyPr>
          <a:lstStyle/>
          <a:p>
            <a:r>
              <a:rPr lang="en-US" altLang="zh-CN" sz="2400" b="1" dirty="0">
                <a:solidFill>
                  <a:srgbClr val="0000FF"/>
                </a:solidFill>
              </a:rPr>
              <a:t>2. Pressure modification</a:t>
            </a:r>
            <a:endParaRPr lang="zh-CN" altLang="en-US" sz="2400" b="1" dirty="0">
              <a:solidFill>
                <a:srgbClr val="0000FF"/>
              </a:solidFill>
            </a:endParaRPr>
          </a:p>
        </p:txBody>
      </p:sp>
      <p:pic>
        <p:nvPicPr>
          <p:cNvPr id="17" name="Picture 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74495"/>
          <a:stretch/>
        </p:blipFill>
        <p:spPr bwMode="auto">
          <a:xfrm>
            <a:off x="4477606" y="2786798"/>
            <a:ext cx="712200" cy="2024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5606843" y="2969546"/>
            <a:ext cx="1985415" cy="369332"/>
          </a:xfrm>
          <a:prstGeom prst="rect">
            <a:avLst/>
          </a:prstGeom>
          <a:noFill/>
        </p:spPr>
        <p:txBody>
          <a:bodyPr wrap="none" rtlCol="0">
            <a:spAutoFit/>
          </a:bodyPr>
          <a:lstStyle/>
          <a:p>
            <a:r>
              <a:rPr lang="en-US" altLang="zh-CN" dirty="0"/>
              <a:t>Internal pressure P</a:t>
            </a:r>
            <a:r>
              <a:rPr lang="en-US" altLang="zh-CN" baseline="-25000" dirty="0"/>
              <a:t>i</a:t>
            </a:r>
            <a:endParaRPr lang="en-US" altLang="zh-CN" dirty="0"/>
          </a:p>
        </p:txBody>
      </p:sp>
      <p:graphicFrame>
        <p:nvGraphicFramePr>
          <p:cNvPr id="21" name="对象 20"/>
          <p:cNvGraphicFramePr>
            <a:graphicFrameLocks noChangeAspect="1"/>
          </p:cNvGraphicFramePr>
          <p:nvPr/>
        </p:nvGraphicFramePr>
        <p:xfrm>
          <a:off x="5689393" y="3357466"/>
          <a:ext cx="3270250" cy="819612"/>
        </p:xfrm>
        <a:graphic>
          <a:graphicData uri="http://schemas.openxmlformats.org/presentationml/2006/ole">
            <mc:AlternateContent xmlns:mc="http://schemas.openxmlformats.org/markup-compatibility/2006">
              <mc:Choice xmlns:v="urn:schemas-microsoft-com:vml" Requires="v">
                <p:oleObj name="Equation" r:id="rId8" imgW="2006280" imgH="507960" progId="Equation.DSMT4">
                  <p:embed/>
                </p:oleObj>
              </mc:Choice>
              <mc:Fallback>
                <p:oleObj name="Equation" r:id="rId8" imgW="2006280" imgH="507960" progId="Equation.DSMT4">
                  <p:embed/>
                  <p:pic>
                    <p:nvPicPr>
                      <p:cNvPr id="21" name="对象 20"/>
                      <p:cNvPicPr>
                        <a:picLocks noChangeAspect="1" noChangeArrowheads="1"/>
                      </p:cNvPicPr>
                      <p:nvPr/>
                    </p:nvPicPr>
                    <p:blipFill>
                      <a:blip r:embed="rId9"/>
                      <a:srcRect/>
                      <a:stretch>
                        <a:fillRect/>
                      </a:stretch>
                    </p:blipFill>
                    <p:spPr bwMode="auto">
                      <a:xfrm>
                        <a:off x="5689393" y="3357466"/>
                        <a:ext cx="3270250" cy="819612"/>
                      </a:xfrm>
                      <a:prstGeom prst="rect">
                        <a:avLst/>
                      </a:prstGeom>
                      <a:noFill/>
                      <a:ln>
                        <a:noFill/>
                      </a:ln>
                    </p:spPr>
                  </p:pic>
                </p:oleObj>
              </mc:Fallback>
            </mc:AlternateContent>
          </a:graphicData>
        </a:graphic>
      </p:graphicFrame>
      <p:graphicFrame>
        <p:nvGraphicFramePr>
          <p:cNvPr id="22" name="对象 21"/>
          <p:cNvGraphicFramePr>
            <a:graphicFrameLocks noChangeAspect="1"/>
          </p:cNvGraphicFramePr>
          <p:nvPr/>
        </p:nvGraphicFramePr>
        <p:xfrm>
          <a:off x="7640431" y="5215303"/>
          <a:ext cx="187325" cy="287338"/>
        </p:xfrm>
        <a:graphic>
          <a:graphicData uri="http://schemas.openxmlformats.org/presentationml/2006/ole">
            <mc:AlternateContent xmlns:mc="http://schemas.openxmlformats.org/markup-compatibility/2006">
              <mc:Choice xmlns:v="urn:schemas-microsoft-com:vml" Requires="v">
                <p:oleObj name="Equation" r:id="rId10" imgW="114120" imgH="177480" progId="Equation.DSMT4">
                  <p:embed/>
                </p:oleObj>
              </mc:Choice>
              <mc:Fallback>
                <p:oleObj name="Equation" r:id="rId10" imgW="114120" imgH="177480" progId="Equation.DSMT4">
                  <p:embed/>
                  <p:pic>
                    <p:nvPicPr>
                      <p:cNvPr id="22" name="对象 21"/>
                      <p:cNvPicPr>
                        <a:picLocks noChangeAspect="1" noChangeArrowheads="1"/>
                      </p:cNvPicPr>
                      <p:nvPr/>
                    </p:nvPicPr>
                    <p:blipFill>
                      <a:blip r:embed="rId11"/>
                      <a:srcRect/>
                      <a:stretch>
                        <a:fillRect/>
                      </a:stretch>
                    </p:blipFill>
                    <p:spPr bwMode="auto">
                      <a:xfrm>
                        <a:off x="7640431" y="5215303"/>
                        <a:ext cx="1873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nvGraphicFramePr>
        <p:xfrm>
          <a:off x="5454443" y="4786678"/>
          <a:ext cx="2652713" cy="634689"/>
        </p:xfrm>
        <a:graphic>
          <a:graphicData uri="http://schemas.openxmlformats.org/presentationml/2006/ole">
            <mc:AlternateContent xmlns:mc="http://schemas.openxmlformats.org/markup-compatibility/2006">
              <mc:Choice xmlns:v="urn:schemas-microsoft-com:vml" Requires="v">
                <p:oleObj name="Equation" r:id="rId12" imgW="1155600" imgH="279360" progId="Equation.DSMT4">
                  <p:embed/>
                </p:oleObj>
              </mc:Choice>
              <mc:Fallback>
                <p:oleObj name="Equation" r:id="rId12" imgW="1155600" imgH="279360" progId="Equation.DSMT4">
                  <p:embed/>
                  <p:pic>
                    <p:nvPicPr>
                      <p:cNvPr id="23" name="对象 22"/>
                      <p:cNvPicPr>
                        <a:picLocks noChangeAspect="1" noChangeArrowheads="1"/>
                      </p:cNvPicPr>
                      <p:nvPr/>
                    </p:nvPicPr>
                    <p:blipFill>
                      <a:blip r:embed="rId13"/>
                      <a:srcRect/>
                      <a:stretch>
                        <a:fillRect/>
                      </a:stretch>
                    </p:blipFill>
                    <p:spPr bwMode="auto">
                      <a:xfrm>
                        <a:off x="5454443" y="4786678"/>
                        <a:ext cx="2652713" cy="634689"/>
                      </a:xfrm>
                      <a:prstGeom prst="rect">
                        <a:avLst/>
                      </a:prstGeom>
                      <a:noFill/>
                      <a:ln>
                        <a:noFill/>
                      </a:ln>
                    </p:spPr>
                  </p:pic>
                </p:oleObj>
              </mc:Fallback>
            </mc:AlternateContent>
          </a:graphicData>
        </a:graphic>
      </p:graphicFrame>
      <p:sp>
        <p:nvSpPr>
          <p:cNvPr id="25" name="TextBox 24"/>
          <p:cNvSpPr txBox="1"/>
          <p:nvPr/>
        </p:nvSpPr>
        <p:spPr>
          <a:xfrm>
            <a:off x="5447310" y="2650677"/>
            <a:ext cx="3436133" cy="369332"/>
          </a:xfrm>
          <a:prstGeom prst="rect">
            <a:avLst/>
          </a:prstGeom>
          <a:noFill/>
        </p:spPr>
        <p:txBody>
          <a:bodyPr wrap="none" rtlCol="0">
            <a:spAutoFit/>
          </a:bodyPr>
          <a:lstStyle/>
          <a:p>
            <a:r>
              <a:rPr lang="en-US" altLang="zh-CN" dirty="0"/>
              <a:t>* Only consider the repulsive force</a:t>
            </a:r>
            <a:endParaRPr lang="zh-CN" altLang="en-US" dirty="0"/>
          </a:p>
        </p:txBody>
      </p:sp>
      <p:sp>
        <p:nvSpPr>
          <p:cNvPr id="26" name="矩形 25"/>
          <p:cNvSpPr/>
          <p:nvPr/>
        </p:nvSpPr>
        <p:spPr>
          <a:xfrm>
            <a:off x="44243" y="5687951"/>
            <a:ext cx="3358805" cy="400110"/>
          </a:xfrm>
          <a:prstGeom prst="rect">
            <a:avLst/>
          </a:prstGeom>
        </p:spPr>
        <p:txBody>
          <a:bodyPr wrap="none">
            <a:spAutoFit/>
          </a:bodyPr>
          <a:lstStyle/>
          <a:p>
            <a:pPr indent="228600">
              <a:tabLst>
                <a:tab pos="1447800" algn="l"/>
              </a:tabLst>
            </a:pPr>
            <a:r>
              <a:rPr lang="en-US" altLang="zh-CN" sz="2000" b="1" i="1" dirty="0">
                <a:solidFill>
                  <a:srgbClr val="0000FF"/>
                </a:solidFill>
                <a:ea typeface="宋体" charset="-122"/>
              </a:rPr>
              <a:t>van der Waals equation:</a:t>
            </a:r>
            <a:endParaRPr lang="zh-CN" altLang="en-US" sz="2000" dirty="0">
              <a:solidFill>
                <a:srgbClr val="0000FF"/>
              </a:solidFill>
            </a:endParaRPr>
          </a:p>
        </p:txBody>
      </p:sp>
      <p:graphicFrame>
        <p:nvGraphicFramePr>
          <p:cNvPr id="27" name="对象 26"/>
          <p:cNvGraphicFramePr>
            <a:graphicFrameLocks noChangeAspect="1"/>
          </p:cNvGraphicFramePr>
          <p:nvPr/>
        </p:nvGraphicFramePr>
        <p:xfrm>
          <a:off x="3772621" y="5569315"/>
          <a:ext cx="2305050" cy="695325"/>
        </p:xfrm>
        <a:graphic>
          <a:graphicData uri="http://schemas.openxmlformats.org/presentationml/2006/ole">
            <mc:AlternateContent xmlns:mc="http://schemas.openxmlformats.org/markup-compatibility/2006">
              <mc:Choice xmlns:v="urn:schemas-microsoft-com:vml" Requires="v">
                <p:oleObj name="Equation" r:id="rId14" imgW="1320227" imgH="393529" progId="Equation.DSMT4">
                  <p:embed/>
                </p:oleObj>
              </mc:Choice>
              <mc:Fallback>
                <p:oleObj name="Equation" r:id="rId14" imgW="1320227" imgH="393529" progId="Equation.DSMT4">
                  <p:embed/>
                  <p:pic>
                    <p:nvPicPr>
                      <p:cNvPr id="27" name="对象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72621" y="5569315"/>
                        <a:ext cx="2305050" cy="6953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29811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273" y="2361170"/>
            <a:ext cx="4267200" cy="3964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8473" y="2253734"/>
            <a:ext cx="4118187"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矩形 16"/>
          <p:cNvSpPr/>
          <p:nvPr/>
        </p:nvSpPr>
        <p:spPr>
          <a:xfrm>
            <a:off x="1103196" y="8044"/>
            <a:ext cx="5254644" cy="646331"/>
          </a:xfrm>
          <a:prstGeom prst="rect">
            <a:avLst/>
          </a:prstGeom>
        </p:spPr>
        <p:txBody>
          <a:bodyPr wrap="none">
            <a:spAutoFit/>
          </a:bodyPr>
          <a:lstStyle/>
          <a:p>
            <a:pPr indent="228600">
              <a:tabLst>
                <a:tab pos="1447800" algn="l"/>
              </a:tabLst>
            </a:pPr>
            <a:r>
              <a:rPr lang="en-US" altLang="zh-CN" sz="3600" i="1" dirty="0">
                <a:solidFill>
                  <a:srgbClr val="FF0000"/>
                </a:solidFill>
                <a:ea typeface="宋体" charset="-122"/>
              </a:rPr>
              <a:t>van der Waals equation</a:t>
            </a:r>
            <a:endParaRPr lang="zh-CN" altLang="en-US" sz="3600" dirty="0">
              <a:solidFill>
                <a:srgbClr val="FF0000"/>
              </a:solidFill>
            </a:endParaRPr>
          </a:p>
        </p:txBody>
      </p:sp>
      <p:pic>
        <p:nvPicPr>
          <p:cNvPr id="4301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196" y="1058402"/>
            <a:ext cx="6526161"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727995" y="1884402"/>
            <a:ext cx="3154646" cy="369332"/>
          </a:xfrm>
          <a:prstGeom prst="rect">
            <a:avLst/>
          </a:prstGeom>
          <a:noFill/>
        </p:spPr>
        <p:txBody>
          <a:bodyPr wrap="none" rtlCol="0">
            <a:spAutoFit/>
          </a:bodyPr>
          <a:lstStyle/>
          <a:p>
            <a:r>
              <a:rPr lang="en-US" altLang="zh-CN" dirty="0"/>
              <a:t>David </a:t>
            </a:r>
            <a:r>
              <a:rPr lang="en-US" altLang="zh-CN" dirty="0" err="1"/>
              <a:t>Keffer</a:t>
            </a:r>
            <a:r>
              <a:rPr lang="en-US" altLang="zh-CN" dirty="0"/>
              <a:t>, Univ. of Tennessee</a:t>
            </a:r>
            <a:endParaRPr lang="zh-CN" altLang="en-US" dirty="0"/>
          </a:p>
        </p:txBody>
      </p:sp>
    </p:spTree>
    <p:extLst>
      <p:ext uri="{BB962C8B-B14F-4D97-AF65-F5344CB8AC3E}">
        <p14:creationId xmlns:p14="http://schemas.microsoft.com/office/powerpoint/2010/main" val="39927476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3350" y="1524000"/>
            <a:ext cx="6076279" cy="523220"/>
          </a:xfrm>
          <a:prstGeom prst="rect">
            <a:avLst/>
          </a:prstGeom>
        </p:spPr>
        <p:txBody>
          <a:bodyPr wrap="none">
            <a:spAutoFit/>
          </a:bodyPr>
          <a:lstStyle/>
          <a:p>
            <a:pPr indent="228600">
              <a:tabLst>
                <a:tab pos="1447800" algn="l"/>
              </a:tabLst>
            </a:pPr>
            <a:r>
              <a:rPr lang="en-US" altLang="zh-CN" sz="2800" b="1" i="1" dirty="0">
                <a:solidFill>
                  <a:srgbClr val="0000FF"/>
                </a:solidFill>
                <a:ea typeface="宋体" charset="-122"/>
              </a:rPr>
              <a:t>van der Waals equation for 1 </a:t>
            </a:r>
            <a:r>
              <a:rPr lang="en-US" altLang="zh-CN" sz="2800" b="1" i="1" dirty="0" err="1">
                <a:solidFill>
                  <a:srgbClr val="0000FF"/>
                </a:solidFill>
                <a:ea typeface="宋体" charset="-122"/>
              </a:rPr>
              <a:t>mol</a:t>
            </a:r>
            <a:r>
              <a:rPr lang="en-US" altLang="zh-CN" sz="2800" b="1" i="1" dirty="0">
                <a:solidFill>
                  <a:srgbClr val="0000FF"/>
                </a:solidFill>
                <a:ea typeface="宋体" charset="-122"/>
              </a:rPr>
              <a:t> gas:</a:t>
            </a:r>
            <a:endParaRPr lang="zh-CN" altLang="en-US" sz="2800" dirty="0">
              <a:solidFill>
                <a:srgbClr val="0000FF"/>
              </a:solidFill>
            </a:endParaRPr>
          </a:p>
        </p:txBody>
      </p:sp>
      <p:graphicFrame>
        <p:nvGraphicFramePr>
          <p:cNvPr id="5" name="对象 4"/>
          <p:cNvGraphicFramePr>
            <a:graphicFrameLocks noChangeAspect="1"/>
          </p:cNvGraphicFramePr>
          <p:nvPr/>
        </p:nvGraphicFramePr>
        <p:xfrm>
          <a:off x="381000" y="2286000"/>
          <a:ext cx="2305050" cy="695325"/>
        </p:xfrm>
        <a:graphic>
          <a:graphicData uri="http://schemas.openxmlformats.org/presentationml/2006/ole">
            <mc:AlternateContent xmlns:mc="http://schemas.openxmlformats.org/markup-compatibility/2006">
              <mc:Choice xmlns:v="urn:schemas-microsoft-com:vml" Requires="v">
                <p:oleObj name="Equation" r:id="rId3" imgW="1320227" imgH="393529" progId="Equation.DSMT4">
                  <p:embed/>
                </p:oleObj>
              </mc:Choice>
              <mc:Fallback>
                <p:oleObj name="Equation" r:id="rId3" imgW="1320227" imgH="393529" progId="Equation.DSMT4">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86000"/>
                        <a:ext cx="2305050" cy="6953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152400" y="3200400"/>
            <a:ext cx="6076279" cy="523220"/>
          </a:xfrm>
          <a:prstGeom prst="rect">
            <a:avLst/>
          </a:prstGeom>
        </p:spPr>
        <p:txBody>
          <a:bodyPr wrap="none">
            <a:spAutoFit/>
          </a:bodyPr>
          <a:lstStyle/>
          <a:p>
            <a:pPr indent="228600">
              <a:tabLst>
                <a:tab pos="1447800" algn="l"/>
              </a:tabLst>
            </a:pPr>
            <a:r>
              <a:rPr lang="en-US" altLang="zh-CN" sz="2800" b="1" i="1" dirty="0">
                <a:solidFill>
                  <a:srgbClr val="0000FF"/>
                </a:solidFill>
                <a:ea typeface="宋体" charset="-122"/>
              </a:rPr>
              <a:t>van der Waals equation for n </a:t>
            </a:r>
            <a:r>
              <a:rPr lang="en-US" altLang="zh-CN" sz="2800" b="1" i="1" dirty="0" err="1">
                <a:solidFill>
                  <a:srgbClr val="0000FF"/>
                </a:solidFill>
                <a:ea typeface="宋体" charset="-122"/>
              </a:rPr>
              <a:t>mol</a:t>
            </a:r>
            <a:r>
              <a:rPr lang="en-US" altLang="zh-CN" sz="2800" b="1" i="1" dirty="0">
                <a:solidFill>
                  <a:srgbClr val="0000FF"/>
                </a:solidFill>
                <a:ea typeface="宋体" charset="-122"/>
              </a:rPr>
              <a:t> gas:</a:t>
            </a:r>
            <a:endParaRPr lang="zh-CN" altLang="en-US" sz="2800" dirty="0">
              <a:solidFill>
                <a:srgbClr val="0000FF"/>
              </a:solidFill>
            </a:endParaRPr>
          </a:p>
        </p:txBody>
      </p:sp>
      <p:graphicFrame>
        <p:nvGraphicFramePr>
          <p:cNvPr id="8" name="对象 7"/>
          <p:cNvGraphicFramePr>
            <a:graphicFrameLocks noChangeAspect="1"/>
          </p:cNvGraphicFramePr>
          <p:nvPr/>
        </p:nvGraphicFramePr>
        <p:xfrm>
          <a:off x="533399" y="3818870"/>
          <a:ext cx="2793533" cy="829330"/>
        </p:xfrm>
        <a:graphic>
          <a:graphicData uri="http://schemas.openxmlformats.org/presentationml/2006/ole">
            <mc:AlternateContent xmlns:mc="http://schemas.openxmlformats.org/markup-compatibility/2006">
              <mc:Choice xmlns:v="urn:schemas-microsoft-com:vml" Requires="v">
                <p:oleObj name="Equation" r:id="rId5" imgW="1625400" imgH="482400" progId="Equation.DSMT4">
                  <p:embed/>
                </p:oleObj>
              </mc:Choice>
              <mc:Fallback>
                <p:oleObj name="Equation" r:id="rId5" imgW="1625400" imgH="482400" progId="Equation.DSMT4">
                  <p:embed/>
                  <p:pic>
                    <p:nvPicPr>
                      <p:cNvPr id="8" name="对象 7"/>
                      <p:cNvPicPr/>
                      <p:nvPr/>
                    </p:nvPicPr>
                    <p:blipFill>
                      <a:blip r:embed="rId6"/>
                      <a:stretch>
                        <a:fillRect/>
                      </a:stretch>
                    </p:blipFill>
                    <p:spPr>
                      <a:xfrm>
                        <a:off x="533399" y="3818870"/>
                        <a:ext cx="2793533" cy="829330"/>
                      </a:xfrm>
                      <a:prstGeom prst="rect">
                        <a:avLst/>
                      </a:prstGeom>
                    </p:spPr>
                  </p:pic>
                </p:oleObj>
              </mc:Fallback>
            </mc:AlternateContent>
          </a:graphicData>
        </a:graphic>
      </p:graphicFrame>
      <p:sp>
        <p:nvSpPr>
          <p:cNvPr id="13" name="矩形 12"/>
          <p:cNvSpPr/>
          <p:nvPr/>
        </p:nvSpPr>
        <p:spPr>
          <a:xfrm>
            <a:off x="1033790" y="308160"/>
            <a:ext cx="4965975" cy="646331"/>
          </a:xfrm>
          <a:prstGeom prst="rect">
            <a:avLst/>
          </a:prstGeom>
        </p:spPr>
        <p:txBody>
          <a:bodyPr wrap="none">
            <a:spAutoFit/>
          </a:bodyPr>
          <a:lstStyle/>
          <a:p>
            <a:pPr indent="228600">
              <a:tabLst>
                <a:tab pos="1447800" algn="l"/>
              </a:tabLst>
            </a:pPr>
            <a:r>
              <a:rPr lang="en-US" altLang="zh-CN" sz="3600" b="1" i="1" dirty="0">
                <a:solidFill>
                  <a:srgbClr val="FF0000"/>
                </a:solidFill>
                <a:ea typeface="宋体" charset="-122"/>
              </a:rPr>
              <a:t>van der Waals equation</a:t>
            </a:r>
            <a:endParaRPr lang="zh-CN" altLang="en-US" sz="3600" dirty="0">
              <a:solidFill>
                <a:srgbClr val="FF0000"/>
              </a:solidFill>
            </a:endParaRPr>
          </a:p>
        </p:txBody>
      </p:sp>
      <p:sp>
        <p:nvSpPr>
          <p:cNvPr id="14" name="矩形 13"/>
          <p:cNvSpPr/>
          <p:nvPr/>
        </p:nvSpPr>
        <p:spPr>
          <a:xfrm>
            <a:off x="186065" y="4734580"/>
            <a:ext cx="7400359" cy="523220"/>
          </a:xfrm>
          <a:prstGeom prst="rect">
            <a:avLst/>
          </a:prstGeom>
        </p:spPr>
        <p:txBody>
          <a:bodyPr wrap="none">
            <a:spAutoFit/>
          </a:bodyPr>
          <a:lstStyle/>
          <a:p>
            <a:pPr indent="228600">
              <a:tabLst>
                <a:tab pos="1447800" algn="l"/>
              </a:tabLst>
            </a:pPr>
            <a:r>
              <a:rPr lang="en-US" altLang="zh-CN" sz="2800" b="1" i="1" dirty="0">
                <a:solidFill>
                  <a:srgbClr val="0000FF"/>
                </a:solidFill>
                <a:ea typeface="宋体" charset="-122"/>
              </a:rPr>
              <a:t>van der Waals equation for gas-</a:t>
            </a:r>
            <a:r>
              <a:rPr lang="en-US" altLang="zh-CN" sz="2800" b="1" i="1" dirty="0" err="1">
                <a:solidFill>
                  <a:srgbClr val="0000FF"/>
                </a:solidFill>
                <a:ea typeface="宋体" charset="-122"/>
              </a:rPr>
              <a:t>i</a:t>
            </a:r>
            <a:r>
              <a:rPr lang="en-US" altLang="zh-CN" sz="2800" b="1" i="1" dirty="0">
                <a:solidFill>
                  <a:srgbClr val="0000FF"/>
                </a:solidFill>
                <a:ea typeface="宋体" charset="-122"/>
              </a:rPr>
              <a:t> of a mixture</a:t>
            </a:r>
            <a:endParaRPr lang="zh-CN" altLang="en-US" sz="2800" dirty="0">
              <a:solidFill>
                <a:srgbClr val="0000FF"/>
              </a:solidFill>
            </a:endParaRPr>
          </a:p>
        </p:txBody>
      </p:sp>
      <p:graphicFrame>
        <p:nvGraphicFramePr>
          <p:cNvPr id="16" name="对象 15"/>
          <p:cNvGraphicFramePr>
            <a:graphicFrameLocks noChangeAspect="1"/>
          </p:cNvGraphicFramePr>
          <p:nvPr/>
        </p:nvGraphicFramePr>
        <p:xfrm>
          <a:off x="609600" y="5410200"/>
          <a:ext cx="2400300" cy="828675"/>
        </p:xfrm>
        <a:graphic>
          <a:graphicData uri="http://schemas.openxmlformats.org/presentationml/2006/ole">
            <mc:AlternateContent xmlns:mc="http://schemas.openxmlformats.org/markup-compatibility/2006">
              <mc:Choice xmlns:v="urn:schemas-microsoft-com:vml" Requires="v">
                <p:oleObj name="Equation" r:id="rId7" imgW="1396800" imgH="482400" progId="Equation.DSMT4">
                  <p:embed/>
                </p:oleObj>
              </mc:Choice>
              <mc:Fallback>
                <p:oleObj name="Equation" r:id="rId7" imgW="1396800" imgH="482400" progId="Equation.DSMT4">
                  <p:embed/>
                  <p:pic>
                    <p:nvPicPr>
                      <p:cNvPr id="16" name="对象 15"/>
                      <p:cNvPicPr>
                        <a:picLocks noChangeAspect="1" noChangeArrowheads="1"/>
                      </p:cNvPicPr>
                      <p:nvPr/>
                    </p:nvPicPr>
                    <p:blipFill>
                      <a:blip r:embed="rId8"/>
                      <a:srcRect/>
                      <a:stretch>
                        <a:fillRect/>
                      </a:stretch>
                    </p:blipFill>
                    <p:spPr bwMode="auto">
                      <a:xfrm>
                        <a:off x="609600" y="5410200"/>
                        <a:ext cx="2400300" cy="828675"/>
                      </a:xfrm>
                      <a:prstGeom prst="rect">
                        <a:avLst/>
                      </a:prstGeom>
                      <a:solidFill>
                        <a:schemeClr val="accent6">
                          <a:lumMod val="20000"/>
                          <a:lumOff val="80000"/>
                        </a:schemeClr>
                      </a:solidFill>
                      <a:ln>
                        <a:noFill/>
                      </a:ln>
                    </p:spPr>
                  </p:pic>
                </p:oleObj>
              </mc:Fallback>
            </mc:AlternateContent>
          </a:graphicData>
        </a:graphic>
      </p:graphicFrame>
      <p:sp>
        <p:nvSpPr>
          <p:cNvPr id="2" name="TextBox 1"/>
          <p:cNvSpPr txBox="1"/>
          <p:nvPr/>
        </p:nvSpPr>
        <p:spPr>
          <a:xfrm>
            <a:off x="4495800" y="6019800"/>
            <a:ext cx="184731" cy="369332"/>
          </a:xfrm>
          <a:prstGeom prst="rect">
            <a:avLst/>
          </a:prstGeom>
          <a:noFill/>
        </p:spPr>
        <p:txBody>
          <a:bodyPr wrap="none" rtlCol="0">
            <a:spAutoFit/>
          </a:bodyPr>
          <a:lstStyle/>
          <a:p>
            <a:endParaRPr lang="zh-CN" altLang="en-US" dirty="0"/>
          </a:p>
        </p:txBody>
      </p:sp>
    </p:spTree>
    <p:extLst>
      <p:ext uri="{BB962C8B-B14F-4D97-AF65-F5344CB8AC3E}">
        <p14:creationId xmlns:p14="http://schemas.microsoft.com/office/powerpoint/2010/main" val="1266691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pic>
        <p:nvPicPr>
          <p:cNvPr id="471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6697" y="1797705"/>
            <a:ext cx="4343401" cy="650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5246878" y="3059904"/>
            <a:ext cx="3321844" cy="2246769"/>
          </a:xfrm>
          <a:prstGeom prst="rect">
            <a:avLst/>
          </a:prstGeom>
        </p:spPr>
        <p:txBody>
          <a:bodyPr wrap="square">
            <a:spAutoFit/>
          </a:bodyPr>
          <a:lstStyle/>
          <a:p>
            <a:pPr marL="180975" lvl="0" indent="-180975" defTabSz="914400">
              <a:buFontTx/>
              <a:buChar char="-"/>
            </a:pPr>
            <a:r>
              <a:rPr lang="en-US" altLang="zh-CN" sz="2000" dirty="0">
                <a:solidFill>
                  <a:srgbClr val="000000"/>
                </a:solidFill>
                <a:latin typeface="Times New Roman" pitchFamily="18" charset="0"/>
                <a:ea typeface="宋体" charset="-122"/>
              </a:rPr>
              <a:t>There are minimum and maximum points</a:t>
            </a:r>
          </a:p>
          <a:p>
            <a:pPr marL="180975" lvl="0" indent="-180975" defTabSz="914400">
              <a:buFontTx/>
              <a:buChar char="-"/>
            </a:pPr>
            <a:r>
              <a:rPr lang="en-US" altLang="zh-CN" sz="2000" dirty="0">
                <a:solidFill>
                  <a:srgbClr val="000000"/>
                </a:solidFill>
                <a:latin typeface="Times New Roman" pitchFamily="18" charset="0"/>
                <a:ea typeface="宋体" charset="-122"/>
              </a:rPr>
              <a:t> Increasing T, two points approach each other</a:t>
            </a:r>
          </a:p>
          <a:p>
            <a:pPr marL="180975" lvl="0" indent="-180975" defTabSz="914400">
              <a:buFontTx/>
              <a:buChar char="-"/>
            </a:pPr>
            <a:r>
              <a:rPr lang="en-US" altLang="zh-CN" sz="2000" dirty="0">
                <a:solidFill>
                  <a:srgbClr val="000000"/>
                </a:solidFill>
                <a:latin typeface="Times New Roman" pitchFamily="18" charset="0"/>
                <a:ea typeface="宋体" charset="-122"/>
              </a:rPr>
              <a:t> At </a:t>
            </a:r>
            <a:r>
              <a:rPr lang="en-US" altLang="zh-CN" sz="2000" b="1" dirty="0">
                <a:solidFill>
                  <a:srgbClr val="FF0000"/>
                </a:solidFill>
                <a:latin typeface="Times New Roman" pitchFamily="18" charset="0"/>
                <a:ea typeface="宋体" charset="-122"/>
              </a:rPr>
              <a:t>critical T</a:t>
            </a:r>
            <a:r>
              <a:rPr lang="en-US" altLang="zh-CN" sz="2000" dirty="0">
                <a:solidFill>
                  <a:srgbClr val="000000"/>
                </a:solidFill>
                <a:latin typeface="Times New Roman" pitchFamily="18" charset="0"/>
                <a:ea typeface="宋体" charset="-122"/>
              </a:rPr>
              <a:t>, two points coincide and produce a horizontal in flexion</a:t>
            </a:r>
          </a:p>
        </p:txBody>
      </p:sp>
      <p:sp>
        <p:nvSpPr>
          <p:cNvPr id="13" name="矩形 12"/>
          <p:cNvSpPr/>
          <p:nvPr/>
        </p:nvSpPr>
        <p:spPr>
          <a:xfrm>
            <a:off x="1295400" y="160338"/>
            <a:ext cx="2717411" cy="584775"/>
          </a:xfrm>
          <a:prstGeom prst="rect">
            <a:avLst/>
          </a:prstGeom>
        </p:spPr>
        <p:txBody>
          <a:bodyPr wrap="none">
            <a:spAutoFit/>
          </a:bodyPr>
          <a:lstStyle/>
          <a:p>
            <a:pPr indent="228600">
              <a:tabLst>
                <a:tab pos="1447800" algn="l"/>
              </a:tabLst>
            </a:pPr>
            <a:r>
              <a:rPr lang="en-US" altLang="zh-CN" sz="3200" dirty="0">
                <a:solidFill>
                  <a:srgbClr val="FF0000"/>
                </a:solidFill>
                <a:ea typeface="宋体" charset="-122"/>
              </a:rPr>
              <a:t>Critical Point</a:t>
            </a:r>
            <a:endParaRPr lang="zh-CN" altLang="en-US" sz="3200" dirty="0">
              <a:solidFill>
                <a:srgbClr val="FF0000"/>
              </a:solidFill>
            </a:endParaRPr>
          </a:p>
        </p:txBody>
      </p:sp>
      <p:grpSp>
        <p:nvGrpSpPr>
          <p:cNvPr id="7" name="组合 6"/>
          <p:cNvGrpSpPr/>
          <p:nvPr/>
        </p:nvGrpSpPr>
        <p:grpSpPr>
          <a:xfrm>
            <a:off x="372269" y="2691616"/>
            <a:ext cx="4375531" cy="3112296"/>
            <a:chOff x="372269" y="2907504"/>
            <a:chExt cx="4375531" cy="3112296"/>
          </a:xfrm>
        </p:grpSpPr>
        <p:pic>
          <p:nvPicPr>
            <p:cNvPr id="471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269" y="2907504"/>
              <a:ext cx="4375531" cy="311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椭圆 3"/>
            <p:cNvSpPr/>
            <p:nvPr/>
          </p:nvSpPr>
          <p:spPr>
            <a:xfrm>
              <a:off x="1295400" y="5345904"/>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84005" y="4360620"/>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451344" y="3864434"/>
              <a:ext cx="152400" cy="1524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749325" y="4171564"/>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14909" y="4493872"/>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5" name="对象 4"/>
          <p:cNvGraphicFramePr>
            <a:graphicFrameLocks noChangeAspect="1"/>
          </p:cNvGraphicFramePr>
          <p:nvPr/>
        </p:nvGraphicFramePr>
        <p:xfrm>
          <a:off x="1591364" y="1028700"/>
          <a:ext cx="2305050" cy="695325"/>
        </p:xfrm>
        <a:graphic>
          <a:graphicData uri="http://schemas.openxmlformats.org/presentationml/2006/ole">
            <mc:AlternateContent xmlns:mc="http://schemas.openxmlformats.org/markup-compatibility/2006">
              <mc:Choice xmlns:v="urn:schemas-microsoft-com:vml" Requires="v">
                <p:oleObj name="Equation" r:id="rId5" imgW="1320227" imgH="393529" progId="Equation.DSMT4">
                  <p:embed/>
                </p:oleObj>
              </mc:Choice>
              <mc:Fallback>
                <p:oleObj name="Equation" r:id="rId5" imgW="1320227" imgH="393529" progId="Equation.DSMT4">
                  <p:embed/>
                  <p:pic>
                    <p:nvPicPr>
                      <p:cNvPr id="5"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1364" y="1028700"/>
                        <a:ext cx="2305050" cy="6953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任意多边形 5"/>
          <p:cNvSpPr/>
          <p:nvPr/>
        </p:nvSpPr>
        <p:spPr>
          <a:xfrm>
            <a:off x="1352550" y="3298837"/>
            <a:ext cx="295275" cy="2114550"/>
          </a:xfrm>
          <a:custGeom>
            <a:avLst/>
            <a:gdLst>
              <a:gd name="connsiteX0" fmla="*/ 0 w 295275"/>
              <a:gd name="connsiteY0" fmla="*/ 2114550 h 2114550"/>
              <a:gd name="connsiteX1" fmla="*/ 152400 w 295275"/>
              <a:gd name="connsiteY1" fmla="*/ 647700 h 2114550"/>
              <a:gd name="connsiteX2" fmla="*/ 295275 w 295275"/>
              <a:gd name="connsiteY2" fmla="*/ 0 h 2114550"/>
            </a:gdLst>
            <a:ahLst/>
            <a:cxnLst>
              <a:cxn ang="0">
                <a:pos x="connsiteX0" y="connsiteY0"/>
              </a:cxn>
              <a:cxn ang="0">
                <a:pos x="connsiteX1" y="connsiteY1"/>
              </a:cxn>
              <a:cxn ang="0">
                <a:pos x="connsiteX2" y="connsiteY2"/>
              </a:cxn>
            </a:cxnLst>
            <a:rect l="l" t="t" r="r" b="b"/>
            <a:pathLst>
              <a:path w="295275" h="2114550">
                <a:moveTo>
                  <a:pt x="0" y="2114550"/>
                </a:moveTo>
                <a:cubicBezTo>
                  <a:pt x="51594" y="1557337"/>
                  <a:pt x="103188" y="1000125"/>
                  <a:pt x="152400" y="647700"/>
                </a:cubicBezTo>
                <a:cubicBezTo>
                  <a:pt x="201612" y="295275"/>
                  <a:pt x="248443" y="147637"/>
                  <a:pt x="295275" y="0"/>
                </a:cubicBezTo>
              </a:path>
            </a:pathLst>
          </a:custGeom>
          <a:ln w="57150">
            <a:solidFill>
              <a:srgbClr val="FF0000">
                <a:alpha val="36078"/>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任意多边形 7"/>
          <p:cNvSpPr/>
          <p:nvPr/>
        </p:nvSpPr>
        <p:spPr>
          <a:xfrm>
            <a:off x="1647825" y="3336937"/>
            <a:ext cx="428625" cy="1257300"/>
          </a:xfrm>
          <a:custGeom>
            <a:avLst/>
            <a:gdLst>
              <a:gd name="connsiteX0" fmla="*/ 428625 w 428625"/>
              <a:gd name="connsiteY0" fmla="*/ 1257300 h 1257300"/>
              <a:gd name="connsiteX1" fmla="*/ 180975 w 428625"/>
              <a:gd name="connsiteY1" fmla="*/ 628650 h 1257300"/>
              <a:gd name="connsiteX2" fmla="*/ 0 w 428625"/>
              <a:gd name="connsiteY2" fmla="*/ 0 h 1257300"/>
            </a:gdLst>
            <a:ahLst/>
            <a:cxnLst>
              <a:cxn ang="0">
                <a:pos x="connsiteX0" y="connsiteY0"/>
              </a:cxn>
              <a:cxn ang="0">
                <a:pos x="connsiteX1" y="connsiteY1"/>
              </a:cxn>
              <a:cxn ang="0">
                <a:pos x="connsiteX2" y="connsiteY2"/>
              </a:cxn>
            </a:cxnLst>
            <a:rect l="l" t="t" r="r" b="b"/>
            <a:pathLst>
              <a:path w="428625" h="1257300">
                <a:moveTo>
                  <a:pt x="428625" y="1257300"/>
                </a:moveTo>
                <a:cubicBezTo>
                  <a:pt x="340518" y="1047750"/>
                  <a:pt x="252412" y="838200"/>
                  <a:pt x="180975" y="628650"/>
                </a:cubicBezTo>
                <a:cubicBezTo>
                  <a:pt x="109538" y="419100"/>
                  <a:pt x="54769" y="209550"/>
                  <a:pt x="0" y="0"/>
                </a:cubicBezTo>
              </a:path>
            </a:pathLst>
          </a:custGeom>
          <a:ln w="57150">
            <a:solidFill>
              <a:srgbClr val="0000FF">
                <a:alpha val="41961"/>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296294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4576325" y="1101798"/>
          <a:ext cx="2335212" cy="741362"/>
        </p:xfrm>
        <a:graphic>
          <a:graphicData uri="http://schemas.openxmlformats.org/presentationml/2006/ole">
            <mc:AlternateContent xmlns:mc="http://schemas.openxmlformats.org/markup-compatibility/2006">
              <mc:Choice xmlns:v="urn:schemas-microsoft-com:vml" Requires="v">
                <p:oleObj name="Equation" r:id="rId2" imgW="1358640" imgH="431640" progId="Equation.DSMT4">
                  <p:embed/>
                </p:oleObj>
              </mc:Choice>
              <mc:Fallback>
                <p:oleObj name="Equation" r:id="rId2" imgW="1358640" imgH="431640" progId="Equation.DSMT4">
                  <p:embed/>
                  <p:pic>
                    <p:nvPicPr>
                      <p:cNvPr id="6" name="对象 5"/>
                      <p:cNvPicPr>
                        <a:picLocks noChangeAspect="1" noChangeArrowheads="1"/>
                      </p:cNvPicPr>
                      <p:nvPr/>
                    </p:nvPicPr>
                    <p:blipFill>
                      <a:blip r:embed="rId3"/>
                      <a:srcRect/>
                      <a:stretch>
                        <a:fillRect/>
                      </a:stretch>
                    </p:blipFill>
                    <p:spPr bwMode="auto">
                      <a:xfrm>
                        <a:off x="4576325" y="1101798"/>
                        <a:ext cx="2335212"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4701672" y="1825390"/>
          <a:ext cx="1746250" cy="763587"/>
        </p:xfrm>
        <a:graphic>
          <a:graphicData uri="http://schemas.openxmlformats.org/presentationml/2006/ole">
            <mc:AlternateContent xmlns:mc="http://schemas.openxmlformats.org/markup-compatibility/2006">
              <mc:Choice xmlns:v="urn:schemas-microsoft-com:vml" Requires="v">
                <p:oleObj name="Equation" r:id="rId4" imgW="1015920" imgH="444240" progId="Equation.DSMT4">
                  <p:embed/>
                </p:oleObj>
              </mc:Choice>
              <mc:Fallback>
                <p:oleObj name="Equation" r:id="rId4" imgW="1015920" imgH="444240" progId="Equation.DSMT4">
                  <p:embed/>
                  <p:pic>
                    <p:nvPicPr>
                      <p:cNvPr id="13" name="对象 12"/>
                      <p:cNvPicPr>
                        <a:picLocks noChangeAspect="1" noChangeArrowheads="1"/>
                      </p:cNvPicPr>
                      <p:nvPr/>
                    </p:nvPicPr>
                    <p:blipFill>
                      <a:blip r:embed="rId5"/>
                      <a:srcRect/>
                      <a:stretch>
                        <a:fillRect/>
                      </a:stretch>
                    </p:blipFill>
                    <p:spPr bwMode="auto">
                      <a:xfrm>
                        <a:off x="4701672" y="1825390"/>
                        <a:ext cx="1746250"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l="34492" t="50000"/>
          <a:stretch/>
        </p:blipFill>
        <p:spPr bwMode="auto">
          <a:xfrm>
            <a:off x="381023" y="5056722"/>
            <a:ext cx="3673521" cy="833437"/>
          </a:xfrm>
          <a:prstGeom prst="rect">
            <a:avLst/>
          </a:prstGeom>
          <a:solidFill>
            <a:schemeClr val="accent2">
              <a:lumMod val="40000"/>
              <a:lumOff val="60000"/>
            </a:schemeClr>
          </a:solidFill>
          <a:ln>
            <a:noFill/>
          </a:ln>
          <a:effectLst/>
        </p:spPr>
      </p:pic>
      <p:graphicFrame>
        <p:nvGraphicFramePr>
          <p:cNvPr id="2" name="对象 1"/>
          <p:cNvGraphicFramePr>
            <a:graphicFrameLocks noChangeAspect="1"/>
          </p:cNvGraphicFramePr>
          <p:nvPr/>
        </p:nvGraphicFramePr>
        <p:xfrm>
          <a:off x="4627563" y="2651608"/>
          <a:ext cx="3059112" cy="828675"/>
        </p:xfrm>
        <a:graphic>
          <a:graphicData uri="http://schemas.openxmlformats.org/presentationml/2006/ole">
            <mc:AlternateContent xmlns:mc="http://schemas.openxmlformats.org/markup-compatibility/2006">
              <mc:Choice xmlns:v="urn:schemas-microsoft-com:vml" Requires="v">
                <p:oleObj name="Equation" r:id="rId7" imgW="1777680" imgH="482400" progId="Equation.DSMT4">
                  <p:embed/>
                </p:oleObj>
              </mc:Choice>
              <mc:Fallback>
                <p:oleObj name="Equation" r:id="rId7" imgW="1777680" imgH="482400" progId="Equation.DSMT4">
                  <p:embed/>
                  <p:pic>
                    <p:nvPicPr>
                      <p:cNvPr id="2" name="对象 1"/>
                      <p:cNvPicPr>
                        <a:picLocks noChangeAspect="1" noChangeArrowheads="1"/>
                      </p:cNvPicPr>
                      <p:nvPr/>
                    </p:nvPicPr>
                    <p:blipFill>
                      <a:blip r:embed="rId8"/>
                      <a:srcRect/>
                      <a:stretch>
                        <a:fillRect/>
                      </a:stretch>
                    </p:blipFill>
                    <p:spPr bwMode="auto">
                      <a:xfrm>
                        <a:off x="4627563" y="2651608"/>
                        <a:ext cx="3059112"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4659313" y="3560044"/>
          <a:ext cx="3167062" cy="873125"/>
        </p:xfrm>
        <a:graphic>
          <a:graphicData uri="http://schemas.openxmlformats.org/presentationml/2006/ole">
            <mc:AlternateContent xmlns:mc="http://schemas.openxmlformats.org/markup-compatibility/2006">
              <mc:Choice xmlns:v="urn:schemas-microsoft-com:vml" Requires="v">
                <p:oleObj name="Equation" r:id="rId9" imgW="1841400" imgH="507960" progId="Equation.DSMT4">
                  <p:embed/>
                </p:oleObj>
              </mc:Choice>
              <mc:Fallback>
                <p:oleObj name="Equation" r:id="rId9" imgW="1841400" imgH="507960" progId="Equation.DSMT4">
                  <p:embed/>
                  <p:pic>
                    <p:nvPicPr>
                      <p:cNvPr id="3" name="对象 2"/>
                      <p:cNvPicPr>
                        <a:picLocks noChangeAspect="1" noChangeArrowheads="1"/>
                      </p:cNvPicPr>
                      <p:nvPr/>
                    </p:nvPicPr>
                    <p:blipFill>
                      <a:blip r:embed="rId10"/>
                      <a:srcRect/>
                      <a:stretch>
                        <a:fillRect/>
                      </a:stretch>
                    </p:blipFill>
                    <p:spPr bwMode="auto">
                      <a:xfrm>
                        <a:off x="4659313" y="3560044"/>
                        <a:ext cx="3167062"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4653057" y="4657725"/>
          <a:ext cx="3497263" cy="676275"/>
        </p:xfrm>
        <a:graphic>
          <a:graphicData uri="http://schemas.openxmlformats.org/presentationml/2006/ole">
            <mc:AlternateContent xmlns:mc="http://schemas.openxmlformats.org/markup-compatibility/2006">
              <mc:Choice xmlns:v="urn:schemas-microsoft-com:vml" Requires="v">
                <p:oleObj name="Equation" r:id="rId11" imgW="2031840" imgH="393480" progId="Equation.DSMT4">
                  <p:embed/>
                </p:oleObj>
              </mc:Choice>
              <mc:Fallback>
                <p:oleObj name="Equation" r:id="rId11" imgW="2031840" imgH="393480" progId="Equation.DSMT4">
                  <p:embed/>
                  <p:pic>
                    <p:nvPicPr>
                      <p:cNvPr id="4" name="对象 3"/>
                      <p:cNvPicPr>
                        <a:picLocks noChangeAspect="1" noChangeArrowheads="1"/>
                      </p:cNvPicPr>
                      <p:nvPr/>
                    </p:nvPicPr>
                    <p:blipFill>
                      <a:blip r:embed="rId12"/>
                      <a:srcRect/>
                      <a:stretch>
                        <a:fillRect/>
                      </a:stretch>
                    </p:blipFill>
                    <p:spPr bwMode="auto">
                      <a:xfrm>
                        <a:off x="4653057" y="4657725"/>
                        <a:ext cx="3497263" cy="676275"/>
                      </a:xfrm>
                      <a:prstGeom prst="rect">
                        <a:avLst/>
                      </a:prstGeom>
                      <a:noFill/>
                      <a:ln>
                        <a:solidFill>
                          <a:srgbClr val="FF0000"/>
                        </a:solidFill>
                      </a:ln>
                    </p:spPr>
                  </p:pic>
                </p:oleObj>
              </mc:Fallback>
            </mc:AlternateContent>
          </a:graphicData>
        </a:graphic>
      </p:graphicFrame>
      <p:grpSp>
        <p:nvGrpSpPr>
          <p:cNvPr id="18" name="组合 17"/>
          <p:cNvGrpSpPr/>
          <p:nvPr/>
        </p:nvGrpSpPr>
        <p:grpSpPr>
          <a:xfrm>
            <a:off x="76201" y="1311348"/>
            <a:ext cx="4019550" cy="3112296"/>
            <a:chOff x="372269" y="2907504"/>
            <a:chExt cx="4375531" cy="3112296"/>
          </a:xfrm>
        </p:grpSpPr>
        <p:pic>
          <p:nvPicPr>
            <p:cNvPr id="19"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2269" y="2907504"/>
              <a:ext cx="4375531" cy="311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椭圆 19"/>
            <p:cNvSpPr/>
            <p:nvPr/>
          </p:nvSpPr>
          <p:spPr>
            <a:xfrm>
              <a:off x="1295400" y="5345904"/>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384005" y="4360620"/>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51344" y="3864434"/>
              <a:ext cx="152400" cy="1524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749325" y="4171564"/>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914909" y="4493872"/>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任意多边形 24"/>
          <p:cNvSpPr/>
          <p:nvPr/>
        </p:nvSpPr>
        <p:spPr>
          <a:xfrm>
            <a:off x="970757" y="1918569"/>
            <a:ext cx="271252" cy="2114550"/>
          </a:xfrm>
          <a:custGeom>
            <a:avLst/>
            <a:gdLst>
              <a:gd name="connsiteX0" fmla="*/ 0 w 295275"/>
              <a:gd name="connsiteY0" fmla="*/ 2114550 h 2114550"/>
              <a:gd name="connsiteX1" fmla="*/ 152400 w 295275"/>
              <a:gd name="connsiteY1" fmla="*/ 647700 h 2114550"/>
              <a:gd name="connsiteX2" fmla="*/ 295275 w 295275"/>
              <a:gd name="connsiteY2" fmla="*/ 0 h 2114550"/>
            </a:gdLst>
            <a:ahLst/>
            <a:cxnLst>
              <a:cxn ang="0">
                <a:pos x="connsiteX0" y="connsiteY0"/>
              </a:cxn>
              <a:cxn ang="0">
                <a:pos x="connsiteX1" y="connsiteY1"/>
              </a:cxn>
              <a:cxn ang="0">
                <a:pos x="connsiteX2" y="connsiteY2"/>
              </a:cxn>
            </a:cxnLst>
            <a:rect l="l" t="t" r="r" b="b"/>
            <a:pathLst>
              <a:path w="295275" h="2114550">
                <a:moveTo>
                  <a:pt x="0" y="2114550"/>
                </a:moveTo>
                <a:cubicBezTo>
                  <a:pt x="51594" y="1557337"/>
                  <a:pt x="103188" y="1000125"/>
                  <a:pt x="152400" y="647700"/>
                </a:cubicBezTo>
                <a:cubicBezTo>
                  <a:pt x="201612" y="295275"/>
                  <a:pt x="248443" y="147637"/>
                  <a:pt x="295275" y="0"/>
                </a:cubicBezTo>
              </a:path>
            </a:pathLst>
          </a:custGeom>
          <a:ln w="57150">
            <a:solidFill>
              <a:srgbClr val="FF0000">
                <a:alpha val="36078"/>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任意多边形 25"/>
          <p:cNvSpPr/>
          <p:nvPr/>
        </p:nvSpPr>
        <p:spPr>
          <a:xfrm>
            <a:off x="1266031" y="1956669"/>
            <a:ext cx="393753" cy="1257300"/>
          </a:xfrm>
          <a:custGeom>
            <a:avLst/>
            <a:gdLst>
              <a:gd name="connsiteX0" fmla="*/ 428625 w 428625"/>
              <a:gd name="connsiteY0" fmla="*/ 1257300 h 1257300"/>
              <a:gd name="connsiteX1" fmla="*/ 180975 w 428625"/>
              <a:gd name="connsiteY1" fmla="*/ 628650 h 1257300"/>
              <a:gd name="connsiteX2" fmla="*/ 0 w 428625"/>
              <a:gd name="connsiteY2" fmla="*/ 0 h 1257300"/>
            </a:gdLst>
            <a:ahLst/>
            <a:cxnLst>
              <a:cxn ang="0">
                <a:pos x="connsiteX0" y="connsiteY0"/>
              </a:cxn>
              <a:cxn ang="0">
                <a:pos x="connsiteX1" y="connsiteY1"/>
              </a:cxn>
              <a:cxn ang="0">
                <a:pos x="connsiteX2" y="connsiteY2"/>
              </a:cxn>
            </a:cxnLst>
            <a:rect l="l" t="t" r="r" b="b"/>
            <a:pathLst>
              <a:path w="428625" h="1257300">
                <a:moveTo>
                  <a:pt x="428625" y="1257300"/>
                </a:moveTo>
                <a:cubicBezTo>
                  <a:pt x="340518" y="1047750"/>
                  <a:pt x="252412" y="838200"/>
                  <a:pt x="180975" y="628650"/>
                </a:cubicBezTo>
                <a:cubicBezTo>
                  <a:pt x="109538" y="419100"/>
                  <a:pt x="54769" y="209550"/>
                  <a:pt x="0" y="0"/>
                </a:cubicBezTo>
              </a:path>
            </a:pathLst>
          </a:custGeom>
          <a:ln w="57150">
            <a:solidFill>
              <a:srgbClr val="0000FF">
                <a:alpha val="41961"/>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TextBox 13"/>
          <p:cNvSpPr txBox="1"/>
          <p:nvPr/>
        </p:nvSpPr>
        <p:spPr>
          <a:xfrm>
            <a:off x="534849" y="4657725"/>
            <a:ext cx="2056973" cy="369332"/>
          </a:xfrm>
          <a:prstGeom prst="rect">
            <a:avLst/>
          </a:prstGeom>
          <a:noFill/>
        </p:spPr>
        <p:txBody>
          <a:bodyPr wrap="none" rtlCol="0">
            <a:spAutoFit/>
          </a:bodyPr>
          <a:lstStyle/>
          <a:p>
            <a:r>
              <a:rPr lang="en-US" altLang="zh-CN" i="1" dirty="0">
                <a:solidFill>
                  <a:srgbClr val="FF0000"/>
                </a:solidFill>
              </a:rPr>
              <a:t>The critical point:  </a:t>
            </a:r>
            <a:endParaRPr lang="zh-CN" altLang="en-US" i="1" dirty="0">
              <a:solidFill>
                <a:srgbClr val="FF0000"/>
              </a:solidFill>
            </a:endParaRPr>
          </a:p>
        </p:txBody>
      </p:sp>
      <p:sp>
        <p:nvSpPr>
          <p:cNvPr id="27" name="矩形 26"/>
          <p:cNvSpPr/>
          <p:nvPr/>
        </p:nvSpPr>
        <p:spPr>
          <a:xfrm>
            <a:off x="1295400" y="160338"/>
            <a:ext cx="2717411" cy="584775"/>
          </a:xfrm>
          <a:prstGeom prst="rect">
            <a:avLst/>
          </a:prstGeom>
        </p:spPr>
        <p:txBody>
          <a:bodyPr wrap="none">
            <a:spAutoFit/>
          </a:bodyPr>
          <a:lstStyle/>
          <a:p>
            <a:pPr indent="228600">
              <a:tabLst>
                <a:tab pos="1447800" algn="l"/>
              </a:tabLst>
            </a:pPr>
            <a:r>
              <a:rPr lang="en-US" altLang="zh-CN" sz="3200" dirty="0">
                <a:solidFill>
                  <a:srgbClr val="FF0000"/>
                </a:solidFill>
                <a:ea typeface="宋体" charset="-122"/>
              </a:rPr>
              <a:t>Critical Point</a:t>
            </a:r>
            <a:endParaRPr lang="zh-CN" altLang="en-US" sz="3200" dirty="0">
              <a:solidFill>
                <a:srgbClr val="FF0000"/>
              </a:solidFill>
            </a:endParaRPr>
          </a:p>
        </p:txBody>
      </p:sp>
      <p:graphicFrame>
        <p:nvGraphicFramePr>
          <p:cNvPr id="15" name="对象 14"/>
          <p:cNvGraphicFramePr>
            <a:graphicFrameLocks noChangeAspect="1"/>
          </p:cNvGraphicFramePr>
          <p:nvPr/>
        </p:nvGraphicFramePr>
        <p:xfrm>
          <a:off x="4743450" y="6055757"/>
          <a:ext cx="3673475" cy="392113"/>
        </p:xfrm>
        <a:graphic>
          <a:graphicData uri="http://schemas.openxmlformats.org/presentationml/2006/ole">
            <mc:AlternateContent xmlns:mc="http://schemas.openxmlformats.org/markup-compatibility/2006">
              <mc:Choice xmlns:v="urn:schemas-microsoft-com:vml" Requires="v">
                <p:oleObj name="Equation" r:id="rId14" imgW="2133360" imgH="228600" progId="Equation.DSMT4">
                  <p:embed/>
                </p:oleObj>
              </mc:Choice>
              <mc:Fallback>
                <p:oleObj name="Equation" r:id="rId14" imgW="2133360" imgH="228600" progId="Equation.DSMT4">
                  <p:embed/>
                  <p:pic>
                    <p:nvPicPr>
                      <p:cNvPr id="15" name="对象 14"/>
                      <p:cNvPicPr>
                        <a:picLocks noChangeAspect="1" noChangeArrowheads="1"/>
                      </p:cNvPicPr>
                      <p:nvPr/>
                    </p:nvPicPr>
                    <p:blipFill>
                      <a:blip r:embed="rId15"/>
                      <a:srcRect/>
                      <a:stretch>
                        <a:fillRect/>
                      </a:stretch>
                    </p:blipFill>
                    <p:spPr bwMode="auto">
                      <a:xfrm>
                        <a:off x="4743450" y="6055757"/>
                        <a:ext cx="3673475" cy="392113"/>
                      </a:xfrm>
                      <a:prstGeom prst="rect">
                        <a:avLst/>
                      </a:prstGeom>
                      <a:solidFill>
                        <a:schemeClr val="accent6">
                          <a:lumMod val="20000"/>
                          <a:lumOff val="80000"/>
                        </a:schemeClr>
                      </a:solidFill>
                      <a:ln w="9525">
                        <a:noFill/>
                        <a:miter lim="800000"/>
                        <a:headEnd/>
                        <a:tailEnd/>
                      </a:ln>
                    </p:spPr>
                  </p:pic>
                </p:oleObj>
              </mc:Fallback>
            </mc:AlternateContent>
          </a:graphicData>
        </a:graphic>
      </p:graphicFrame>
      <p:sp>
        <p:nvSpPr>
          <p:cNvPr id="28" name="TextBox 27"/>
          <p:cNvSpPr txBox="1"/>
          <p:nvPr/>
        </p:nvSpPr>
        <p:spPr>
          <a:xfrm>
            <a:off x="4743449" y="5610225"/>
            <a:ext cx="2710999" cy="369332"/>
          </a:xfrm>
          <a:prstGeom prst="rect">
            <a:avLst/>
          </a:prstGeom>
          <a:noFill/>
        </p:spPr>
        <p:txBody>
          <a:bodyPr wrap="none" rtlCol="0">
            <a:spAutoFit/>
          </a:bodyPr>
          <a:lstStyle/>
          <a:p>
            <a:r>
              <a:rPr lang="en-US" altLang="zh-CN" dirty="0"/>
              <a:t>Normalized parameters: </a:t>
            </a:r>
            <a:endParaRPr lang="zh-CN" altLang="en-US" dirty="0"/>
          </a:p>
        </p:txBody>
      </p:sp>
    </p:spTree>
    <p:extLst>
      <p:ext uri="{BB962C8B-B14F-4D97-AF65-F5344CB8AC3E}">
        <p14:creationId xmlns:p14="http://schemas.microsoft.com/office/powerpoint/2010/main" val="13289137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95400" y="123140"/>
            <a:ext cx="5470280" cy="646331"/>
          </a:xfrm>
          <a:prstGeom prst="rect">
            <a:avLst/>
          </a:prstGeom>
        </p:spPr>
        <p:txBody>
          <a:bodyPr wrap="none">
            <a:spAutoFit/>
          </a:bodyPr>
          <a:lstStyle/>
          <a:p>
            <a:pPr indent="228600">
              <a:tabLst>
                <a:tab pos="1447800" algn="l"/>
              </a:tabLst>
            </a:pPr>
            <a:r>
              <a:rPr lang="en-US" altLang="zh-CN" sz="3600" dirty="0">
                <a:solidFill>
                  <a:srgbClr val="FF0000"/>
                </a:solidFill>
              </a:rPr>
              <a:t>Law of corresponding state</a:t>
            </a:r>
            <a:endParaRPr lang="zh-CN" altLang="en-US" sz="3600" dirty="0">
              <a:solidFill>
                <a:srgbClr val="FF0000"/>
              </a:solidFill>
            </a:endParaRPr>
          </a:p>
        </p:txBody>
      </p:sp>
      <p:sp>
        <p:nvSpPr>
          <p:cNvPr id="11" name="TextBox 10"/>
          <p:cNvSpPr txBox="1"/>
          <p:nvPr/>
        </p:nvSpPr>
        <p:spPr>
          <a:xfrm>
            <a:off x="83126" y="1002268"/>
            <a:ext cx="4831773" cy="923330"/>
          </a:xfrm>
          <a:prstGeom prst="rect">
            <a:avLst/>
          </a:prstGeom>
          <a:noFill/>
        </p:spPr>
        <p:txBody>
          <a:bodyPr wrap="square" rtlCol="0">
            <a:spAutoFit/>
          </a:bodyPr>
          <a:lstStyle/>
          <a:p>
            <a:r>
              <a:rPr lang="en-US" altLang="zh-CN" dirty="0"/>
              <a:t>For a given gas</a:t>
            </a:r>
          </a:p>
          <a:p>
            <a:r>
              <a:rPr lang="en-US" altLang="zh-CN" dirty="0"/>
              <a:t>it has one critical point and there characterized parameter, </a:t>
            </a:r>
            <a:r>
              <a:rPr lang="en-US" altLang="zh-CN" i="1" dirty="0" err="1"/>
              <a:t>P</a:t>
            </a:r>
            <a:r>
              <a:rPr lang="en-US" altLang="zh-CN" i="1" baseline="-25000" dirty="0" err="1"/>
              <a:t>cr</a:t>
            </a:r>
            <a:r>
              <a:rPr lang="en-US" altLang="zh-CN" i="1" baseline="-25000" dirty="0"/>
              <a:t>,</a:t>
            </a:r>
            <a:r>
              <a:rPr lang="en-US" altLang="zh-CN" i="1" dirty="0"/>
              <a:t> </a:t>
            </a:r>
            <a:r>
              <a:rPr lang="en-US" altLang="zh-CN" i="1" dirty="0" err="1"/>
              <a:t>T</a:t>
            </a:r>
            <a:r>
              <a:rPr lang="en-US" altLang="zh-CN" i="1" baseline="-25000" dirty="0" err="1"/>
              <a:t>cr</a:t>
            </a:r>
            <a:r>
              <a:rPr lang="en-US" altLang="zh-CN" i="1" baseline="-25000" dirty="0"/>
              <a:t>,</a:t>
            </a:r>
            <a:r>
              <a:rPr lang="en-US" altLang="zh-CN" i="1" dirty="0"/>
              <a:t> </a:t>
            </a:r>
            <a:r>
              <a:rPr lang="en-US" altLang="zh-CN" i="1" dirty="0" err="1"/>
              <a:t>v</a:t>
            </a:r>
            <a:r>
              <a:rPr lang="en-US" altLang="zh-CN" i="1" baseline="-25000" dirty="0" err="1"/>
              <a:t>cr</a:t>
            </a:r>
            <a:endParaRPr lang="zh-CN" altLang="en-US" i="1" dirty="0"/>
          </a:p>
        </p:txBody>
      </p:sp>
      <p:graphicFrame>
        <p:nvGraphicFramePr>
          <p:cNvPr id="13" name="对象 12"/>
          <p:cNvGraphicFramePr>
            <a:graphicFrameLocks noChangeAspect="1"/>
          </p:cNvGraphicFramePr>
          <p:nvPr/>
        </p:nvGraphicFramePr>
        <p:xfrm>
          <a:off x="4800600" y="2057400"/>
          <a:ext cx="1203325" cy="1177925"/>
        </p:xfrm>
        <a:graphic>
          <a:graphicData uri="http://schemas.openxmlformats.org/presentationml/2006/ole">
            <mc:AlternateContent xmlns:mc="http://schemas.openxmlformats.org/markup-compatibility/2006">
              <mc:Choice xmlns:v="urn:schemas-microsoft-com:vml" Requires="v">
                <p:oleObj name="Equation" r:id="rId2" imgW="698400" imgH="685800" progId="Equation.DSMT4">
                  <p:embed/>
                </p:oleObj>
              </mc:Choice>
              <mc:Fallback>
                <p:oleObj name="Equation" r:id="rId2" imgW="698400" imgH="685800" progId="Equation.DSMT4">
                  <p:embed/>
                  <p:pic>
                    <p:nvPicPr>
                      <p:cNvPr id="13" name="对象 12"/>
                      <p:cNvPicPr>
                        <a:picLocks noChangeAspect="1" noChangeArrowheads="1"/>
                      </p:cNvPicPr>
                      <p:nvPr/>
                    </p:nvPicPr>
                    <p:blipFill>
                      <a:blip r:embed="rId3"/>
                      <a:srcRect/>
                      <a:stretch>
                        <a:fillRect/>
                      </a:stretch>
                    </p:blipFill>
                    <p:spPr bwMode="auto">
                      <a:xfrm>
                        <a:off x="4800600" y="2057400"/>
                        <a:ext cx="1203325" cy="11779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4767976" y="1371600"/>
            <a:ext cx="3307316" cy="369332"/>
          </a:xfrm>
          <a:prstGeom prst="rect">
            <a:avLst/>
          </a:prstGeom>
          <a:noFill/>
        </p:spPr>
        <p:txBody>
          <a:bodyPr wrap="none" rtlCol="0">
            <a:spAutoFit/>
          </a:bodyPr>
          <a:lstStyle/>
          <a:p>
            <a:r>
              <a:rPr lang="en-US" altLang="zh-CN" dirty="0"/>
              <a:t>Normalized parameters: P</a:t>
            </a:r>
            <a:r>
              <a:rPr lang="en-US" altLang="zh-CN" baseline="-25000" dirty="0"/>
              <a:t>R</a:t>
            </a:r>
            <a:r>
              <a:rPr lang="en-US" altLang="zh-CN" dirty="0"/>
              <a:t>, T</a:t>
            </a:r>
            <a:r>
              <a:rPr lang="en-US" altLang="zh-CN" baseline="-25000" dirty="0"/>
              <a:t>R</a:t>
            </a:r>
            <a:r>
              <a:rPr lang="en-US" altLang="zh-CN" dirty="0"/>
              <a:t>, </a:t>
            </a:r>
            <a:r>
              <a:rPr lang="en-US" altLang="zh-CN" dirty="0" err="1"/>
              <a:t>v</a:t>
            </a:r>
            <a:r>
              <a:rPr lang="en-US" altLang="zh-CN" baseline="-25000" dirty="0" err="1"/>
              <a:t>R</a:t>
            </a:r>
            <a:endParaRPr lang="zh-CN" altLang="en-US" dirty="0"/>
          </a:p>
        </p:txBody>
      </p:sp>
      <p:graphicFrame>
        <p:nvGraphicFramePr>
          <p:cNvPr id="15" name="对象 14"/>
          <p:cNvGraphicFramePr>
            <a:graphicFrameLocks noChangeAspect="1"/>
          </p:cNvGraphicFramePr>
          <p:nvPr/>
        </p:nvGraphicFramePr>
        <p:xfrm>
          <a:off x="257175" y="2385536"/>
          <a:ext cx="2335212" cy="739775"/>
        </p:xfrm>
        <a:graphic>
          <a:graphicData uri="http://schemas.openxmlformats.org/presentationml/2006/ole">
            <mc:AlternateContent xmlns:mc="http://schemas.openxmlformats.org/markup-compatibility/2006">
              <mc:Choice xmlns:v="urn:schemas-microsoft-com:vml" Requires="v">
                <p:oleObj name="Equation" r:id="rId4" imgW="1358640" imgH="431640" progId="Equation.DSMT4">
                  <p:embed/>
                </p:oleObj>
              </mc:Choice>
              <mc:Fallback>
                <p:oleObj name="Equation" r:id="rId4" imgW="1358640" imgH="431640" progId="Equation.DSMT4">
                  <p:embed/>
                  <p:pic>
                    <p:nvPicPr>
                      <p:cNvPr id="15" name="对象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175" y="2385536"/>
                        <a:ext cx="2335212"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282997" y="3299936"/>
          <a:ext cx="4680824" cy="806990"/>
        </p:xfrm>
        <a:graphic>
          <a:graphicData uri="http://schemas.openxmlformats.org/presentationml/2006/ole">
            <mc:AlternateContent xmlns:mc="http://schemas.openxmlformats.org/markup-compatibility/2006">
              <mc:Choice xmlns:v="urn:schemas-microsoft-com:vml" Requires="v">
                <p:oleObj name="Equation" r:id="rId6" imgW="3085920" imgH="533160" progId="Equation.DSMT4">
                  <p:embed/>
                </p:oleObj>
              </mc:Choice>
              <mc:Fallback>
                <p:oleObj name="Equation" r:id="rId6" imgW="3085920" imgH="533160" progId="Equation.DSMT4">
                  <p:embed/>
                  <p:pic>
                    <p:nvPicPr>
                      <p:cNvPr id="16" name="对象 15"/>
                      <p:cNvPicPr>
                        <a:picLocks noChangeAspect="1" noChangeArrowheads="1"/>
                      </p:cNvPicPr>
                      <p:nvPr/>
                    </p:nvPicPr>
                    <p:blipFill>
                      <a:blip r:embed="rId7"/>
                      <a:srcRect/>
                      <a:stretch>
                        <a:fillRect/>
                      </a:stretch>
                    </p:blipFill>
                    <p:spPr bwMode="auto">
                      <a:xfrm>
                        <a:off x="282997" y="3299936"/>
                        <a:ext cx="4680824" cy="806990"/>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nvGraphicFramePr>
        <p:xfrm>
          <a:off x="6324600" y="1905000"/>
          <a:ext cx="937978" cy="1371600"/>
        </p:xfrm>
        <a:graphic>
          <a:graphicData uri="http://schemas.openxmlformats.org/presentationml/2006/ole">
            <mc:AlternateContent xmlns:mc="http://schemas.openxmlformats.org/markup-compatibility/2006">
              <mc:Choice xmlns:v="urn:schemas-microsoft-com:vml" Requires="v">
                <p:oleObj name="Equation" r:id="rId8" imgW="711000" imgH="1041120" progId="Equation.DSMT4">
                  <p:embed/>
                </p:oleObj>
              </mc:Choice>
              <mc:Fallback>
                <p:oleObj name="Equation" r:id="rId8" imgW="711000" imgH="1041120" progId="Equation.DSMT4">
                  <p:embed/>
                  <p:pic>
                    <p:nvPicPr>
                      <p:cNvPr id="17" name="对象 16"/>
                      <p:cNvPicPr>
                        <a:picLocks noChangeAspect="1" noChangeArrowheads="1"/>
                      </p:cNvPicPr>
                      <p:nvPr/>
                    </p:nvPicPr>
                    <p:blipFill>
                      <a:blip r:embed="rId9"/>
                      <a:srcRect/>
                      <a:stretch>
                        <a:fillRect/>
                      </a:stretch>
                    </p:blipFill>
                    <p:spPr bwMode="auto">
                      <a:xfrm>
                        <a:off x="6324600" y="1905000"/>
                        <a:ext cx="937978" cy="1371600"/>
                      </a:xfrm>
                      <a:prstGeom prst="rect">
                        <a:avLst/>
                      </a:prstGeom>
                      <a:noFill/>
                      <a:ln w="9525">
                        <a:solidFill>
                          <a:srgbClr val="FF0000"/>
                        </a:solidFill>
                        <a:miter lim="800000"/>
                        <a:headEnd/>
                        <a:tailEnd/>
                      </a:ln>
                    </p:spPr>
                  </p:pic>
                </p:oleObj>
              </mc:Fallback>
            </mc:AlternateContent>
          </a:graphicData>
        </a:graphic>
      </p:graphicFrame>
      <p:graphicFrame>
        <p:nvGraphicFramePr>
          <p:cNvPr id="18" name="对象 17"/>
          <p:cNvGraphicFramePr>
            <a:graphicFrameLocks noChangeAspect="1"/>
          </p:cNvGraphicFramePr>
          <p:nvPr/>
        </p:nvGraphicFramePr>
        <p:xfrm>
          <a:off x="7543800" y="1905000"/>
          <a:ext cx="1123324" cy="1371600"/>
        </p:xfrm>
        <a:graphic>
          <a:graphicData uri="http://schemas.openxmlformats.org/presentationml/2006/ole">
            <mc:AlternateContent xmlns:mc="http://schemas.openxmlformats.org/markup-compatibility/2006">
              <mc:Choice xmlns:v="urn:schemas-microsoft-com:vml" Requires="v">
                <p:oleObj name="Equation" r:id="rId10" imgW="850680" imgH="1041120" progId="Equation.DSMT4">
                  <p:embed/>
                </p:oleObj>
              </mc:Choice>
              <mc:Fallback>
                <p:oleObj name="Equation" r:id="rId10" imgW="850680" imgH="1041120" progId="Equation.DSMT4">
                  <p:embed/>
                  <p:pic>
                    <p:nvPicPr>
                      <p:cNvPr id="18" name="对象 17"/>
                      <p:cNvPicPr>
                        <a:picLocks noChangeAspect="1" noChangeArrowheads="1"/>
                      </p:cNvPicPr>
                      <p:nvPr/>
                    </p:nvPicPr>
                    <p:blipFill>
                      <a:blip r:embed="rId11"/>
                      <a:srcRect/>
                      <a:stretch>
                        <a:fillRect/>
                      </a:stretch>
                    </p:blipFill>
                    <p:spPr bwMode="auto">
                      <a:xfrm>
                        <a:off x="7543800" y="1905000"/>
                        <a:ext cx="1123324" cy="1371600"/>
                      </a:xfrm>
                      <a:prstGeom prst="rect">
                        <a:avLst/>
                      </a:prstGeom>
                      <a:noFill/>
                      <a:ln w="9525">
                        <a:solidFill>
                          <a:srgbClr val="FF0000"/>
                        </a:solidFill>
                        <a:miter lim="800000"/>
                        <a:headEnd/>
                        <a:tailEnd/>
                      </a:ln>
                    </p:spPr>
                  </p:pic>
                </p:oleObj>
              </mc:Fallback>
            </mc:AlternateContent>
          </a:graphicData>
        </a:graphic>
      </p:graphicFrame>
      <p:graphicFrame>
        <p:nvGraphicFramePr>
          <p:cNvPr id="19" name="对象 18"/>
          <p:cNvGraphicFramePr>
            <a:graphicFrameLocks noChangeAspect="1"/>
          </p:cNvGraphicFramePr>
          <p:nvPr/>
        </p:nvGraphicFramePr>
        <p:xfrm>
          <a:off x="522288" y="4824968"/>
          <a:ext cx="2274887" cy="730250"/>
        </p:xfrm>
        <a:graphic>
          <a:graphicData uri="http://schemas.openxmlformats.org/presentationml/2006/ole">
            <mc:AlternateContent xmlns:mc="http://schemas.openxmlformats.org/markup-compatibility/2006">
              <mc:Choice xmlns:v="urn:schemas-microsoft-com:vml" Requires="v">
                <p:oleObj name="Equation" r:id="rId12" imgW="1498320" imgH="482400" progId="Equation.DSMT4">
                  <p:embed/>
                </p:oleObj>
              </mc:Choice>
              <mc:Fallback>
                <p:oleObj name="Equation" r:id="rId12" imgW="1498320" imgH="482400" progId="Equation.DSMT4">
                  <p:embed/>
                  <p:pic>
                    <p:nvPicPr>
                      <p:cNvPr id="19" name="对象 18"/>
                      <p:cNvPicPr>
                        <a:picLocks noChangeAspect="1" noChangeArrowheads="1"/>
                      </p:cNvPicPr>
                      <p:nvPr/>
                    </p:nvPicPr>
                    <p:blipFill>
                      <a:blip r:embed="rId13"/>
                      <a:srcRect/>
                      <a:stretch>
                        <a:fillRect/>
                      </a:stretch>
                    </p:blipFill>
                    <p:spPr bwMode="auto">
                      <a:xfrm>
                        <a:off x="522288" y="4824968"/>
                        <a:ext cx="2274887" cy="730250"/>
                      </a:xfrm>
                      <a:prstGeom prst="rect">
                        <a:avLst/>
                      </a:prstGeom>
                      <a:noFill/>
                      <a:ln>
                        <a:solidFill>
                          <a:srgbClr val="FF0000"/>
                        </a:solidFill>
                      </a:ln>
                    </p:spPr>
                  </p:pic>
                </p:oleObj>
              </mc:Fallback>
            </mc:AlternateContent>
          </a:graphicData>
        </a:graphic>
      </p:graphicFrame>
      <p:sp>
        <p:nvSpPr>
          <p:cNvPr id="20" name="TextBox 19"/>
          <p:cNvSpPr txBox="1"/>
          <p:nvPr/>
        </p:nvSpPr>
        <p:spPr>
          <a:xfrm>
            <a:off x="237913" y="4319111"/>
            <a:ext cx="4053610" cy="369332"/>
          </a:xfrm>
          <a:prstGeom prst="rect">
            <a:avLst/>
          </a:prstGeom>
          <a:noFill/>
        </p:spPr>
        <p:txBody>
          <a:bodyPr wrap="none" rtlCol="0">
            <a:spAutoFit/>
          </a:bodyPr>
          <a:lstStyle/>
          <a:p>
            <a:r>
              <a:rPr lang="en-US" altLang="zh-CN" dirty="0"/>
              <a:t>Van der Waals reduced equation of state</a:t>
            </a:r>
            <a:endParaRPr lang="zh-CN" altLang="en-US" dirty="0"/>
          </a:p>
        </p:txBody>
      </p:sp>
      <p:sp>
        <p:nvSpPr>
          <p:cNvPr id="22" name="Text Box 15"/>
          <p:cNvSpPr txBox="1">
            <a:spLocks noChangeArrowheads="1"/>
          </p:cNvSpPr>
          <p:nvPr/>
        </p:nvSpPr>
        <p:spPr bwMode="auto">
          <a:xfrm>
            <a:off x="4767976" y="4688443"/>
            <a:ext cx="4114800"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b="1" u="sng" dirty="0">
                <a:solidFill>
                  <a:srgbClr val="0000FF"/>
                </a:solidFill>
                <a:ea typeface="宋体" charset="-122"/>
              </a:rPr>
              <a:t>Law of corresponding states</a:t>
            </a:r>
            <a:r>
              <a:rPr lang="en-US" altLang="zh-CN" sz="2000" b="1" dirty="0">
                <a:solidFill>
                  <a:srgbClr val="0000FF"/>
                </a:solidFill>
                <a:ea typeface="宋体" charset="-122"/>
              </a:rPr>
              <a:t>:</a:t>
            </a:r>
          </a:p>
          <a:p>
            <a:r>
              <a:rPr lang="en-US" altLang="zh-CN" sz="1800" dirty="0">
                <a:ea typeface="宋体" charset="-122"/>
              </a:rPr>
              <a:t> </a:t>
            </a:r>
          </a:p>
          <a:p>
            <a:r>
              <a:rPr lang="en-US" altLang="zh-CN" sz="1800" dirty="0">
                <a:ea typeface="宋体" charset="-122"/>
              </a:rPr>
              <a:t>all gases obey the same equation of the state when expressed in terms of the reduced variables</a:t>
            </a:r>
          </a:p>
        </p:txBody>
      </p:sp>
      <p:sp>
        <p:nvSpPr>
          <p:cNvPr id="2" name="TextBox 1"/>
          <p:cNvSpPr txBox="1"/>
          <p:nvPr/>
        </p:nvSpPr>
        <p:spPr>
          <a:xfrm>
            <a:off x="83126" y="5755243"/>
            <a:ext cx="3185487" cy="369332"/>
          </a:xfrm>
          <a:prstGeom prst="rect">
            <a:avLst/>
          </a:prstGeom>
          <a:noFill/>
        </p:spPr>
        <p:txBody>
          <a:bodyPr wrap="none" rtlCol="0">
            <a:spAutoFit/>
          </a:bodyPr>
          <a:lstStyle/>
          <a:p>
            <a:r>
              <a:rPr lang="en-US" altLang="zh-CN" dirty="0"/>
              <a:t>OQ: </a:t>
            </a:r>
            <a:r>
              <a:rPr lang="en-US" altLang="zh-CN" dirty="0">
                <a:solidFill>
                  <a:srgbClr val="FF0000"/>
                </a:solidFill>
              </a:rPr>
              <a:t>for a 2D gas, or 1D gas?</a:t>
            </a:r>
            <a:endParaRPr lang="zh-CN" altLang="en-US" dirty="0">
              <a:solidFill>
                <a:srgbClr val="FF0000"/>
              </a:solidFill>
            </a:endParaRPr>
          </a:p>
        </p:txBody>
      </p:sp>
    </p:spTree>
    <p:extLst>
      <p:ext uri="{BB962C8B-B14F-4D97-AF65-F5344CB8AC3E}">
        <p14:creationId xmlns:p14="http://schemas.microsoft.com/office/powerpoint/2010/main" val="29214316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288110" y="724798"/>
            <a:ext cx="5573163" cy="1748948"/>
          </a:xfrm>
          <a:prstGeom prst="rect">
            <a:avLst/>
          </a:prstGeom>
        </p:spPr>
      </p:pic>
      <p:pic>
        <p:nvPicPr>
          <p:cNvPr id="3" name="图片 2"/>
          <p:cNvPicPr>
            <a:picLocks noChangeAspect="1"/>
          </p:cNvPicPr>
          <p:nvPr/>
        </p:nvPicPr>
        <p:blipFill>
          <a:blip r:embed="rId3"/>
          <a:stretch>
            <a:fillRect/>
          </a:stretch>
        </p:blipFill>
        <p:spPr>
          <a:xfrm>
            <a:off x="320305" y="3005053"/>
            <a:ext cx="3494063" cy="2696032"/>
          </a:xfrm>
          <a:prstGeom prst="rect">
            <a:avLst/>
          </a:prstGeom>
        </p:spPr>
      </p:pic>
      <p:pic>
        <p:nvPicPr>
          <p:cNvPr id="4" name="图片 3"/>
          <p:cNvPicPr>
            <a:picLocks noChangeAspect="1"/>
          </p:cNvPicPr>
          <p:nvPr/>
        </p:nvPicPr>
        <p:blipFill>
          <a:blip r:embed="rId4"/>
          <a:stretch>
            <a:fillRect/>
          </a:stretch>
        </p:blipFill>
        <p:spPr>
          <a:xfrm>
            <a:off x="4347887" y="3618767"/>
            <a:ext cx="3962701" cy="2021760"/>
          </a:xfrm>
          <a:prstGeom prst="rect">
            <a:avLst/>
          </a:prstGeom>
        </p:spPr>
      </p:pic>
      <p:sp>
        <p:nvSpPr>
          <p:cNvPr id="5" name="矩形 4"/>
          <p:cNvSpPr/>
          <p:nvPr/>
        </p:nvSpPr>
        <p:spPr>
          <a:xfrm>
            <a:off x="2067336" y="6047726"/>
            <a:ext cx="5634812" cy="369332"/>
          </a:xfrm>
          <a:prstGeom prst="rect">
            <a:avLst/>
          </a:prstGeom>
        </p:spPr>
        <p:txBody>
          <a:bodyPr wrap="none">
            <a:spAutoFit/>
          </a:bodyPr>
          <a:lstStyle/>
          <a:p>
            <a:r>
              <a:rPr lang="en-US" altLang="zh-CN" dirty="0">
                <a:solidFill>
                  <a:srgbClr val="FF0000"/>
                </a:solidFill>
              </a:rPr>
              <a:t>How their Van der Waals reduced equation of state??</a:t>
            </a:r>
            <a:endParaRPr lang="zh-CN" altLang="en-US" dirty="0">
              <a:solidFill>
                <a:srgbClr val="FF0000"/>
              </a:solidFill>
            </a:endParaRPr>
          </a:p>
        </p:txBody>
      </p:sp>
      <p:sp>
        <p:nvSpPr>
          <p:cNvPr id="6" name="矩形 5"/>
          <p:cNvSpPr/>
          <p:nvPr/>
        </p:nvSpPr>
        <p:spPr>
          <a:xfrm>
            <a:off x="2372664" y="2413188"/>
            <a:ext cx="3762568" cy="369332"/>
          </a:xfrm>
          <a:prstGeom prst="rect">
            <a:avLst/>
          </a:prstGeom>
        </p:spPr>
        <p:txBody>
          <a:bodyPr wrap="none">
            <a:spAutoFit/>
          </a:bodyPr>
          <a:lstStyle/>
          <a:p>
            <a:r>
              <a:rPr lang="en-US" altLang="zh-CN" dirty="0">
                <a:solidFill>
                  <a:srgbClr val="006621"/>
                </a:solidFill>
                <a:latin typeface="Roboto"/>
              </a:rPr>
              <a:t>https://arxiv.org/pdf/1106.1273</a:t>
            </a:r>
            <a:endParaRPr lang="zh-CN" altLang="en-US" dirty="0"/>
          </a:p>
        </p:txBody>
      </p:sp>
    </p:spTree>
    <p:extLst>
      <p:ext uri="{BB962C8B-B14F-4D97-AF65-F5344CB8AC3E}">
        <p14:creationId xmlns:p14="http://schemas.microsoft.com/office/powerpoint/2010/main" val="1157983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2846026" y="1438275"/>
          <a:ext cx="3497262" cy="676275"/>
        </p:xfrm>
        <a:graphic>
          <a:graphicData uri="http://schemas.openxmlformats.org/presentationml/2006/ole">
            <mc:AlternateContent xmlns:mc="http://schemas.openxmlformats.org/markup-compatibility/2006">
              <mc:Choice xmlns:v="urn:schemas-microsoft-com:vml" Requires="v">
                <p:oleObj name="Equation" r:id="rId2" imgW="2031840" imgH="393480" progId="Equation.DSMT4">
                  <p:embed/>
                </p:oleObj>
              </mc:Choice>
              <mc:Fallback>
                <p:oleObj name="Equation" r:id="rId2" imgW="2031840" imgH="393480" progId="Equation.DSMT4">
                  <p:embed/>
                  <p:pic>
                    <p:nvPicPr>
                      <p:cNvPr id="1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026" y="1438275"/>
                        <a:ext cx="3497262" cy="676275"/>
                      </a:xfrm>
                      <a:prstGeom prst="rect">
                        <a:avLst/>
                      </a:prstGeom>
                      <a:solidFill>
                        <a:schemeClr val="accent6">
                          <a:lumMod val="20000"/>
                          <a:lumOff val="80000"/>
                        </a:schemeClr>
                      </a:solidFill>
                      <a:ln w="9525">
                        <a:noFill/>
                        <a:miter lim="800000"/>
                        <a:headEnd/>
                        <a:tailEnd/>
                      </a:ln>
                    </p:spPr>
                  </p:pic>
                </p:oleObj>
              </mc:Fallback>
            </mc:AlternateContent>
          </a:graphicData>
        </a:graphic>
      </p:graphicFrame>
      <p:pic>
        <p:nvPicPr>
          <p:cNvPr id="4608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2576" y="2593769"/>
            <a:ext cx="5582374" cy="3541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 name="对象 10"/>
          <p:cNvGraphicFramePr>
            <a:graphicFrameLocks noChangeAspect="1"/>
          </p:cNvGraphicFramePr>
          <p:nvPr/>
        </p:nvGraphicFramePr>
        <p:xfrm>
          <a:off x="509270" y="1402350"/>
          <a:ext cx="1746250" cy="763588"/>
        </p:xfrm>
        <a:graphic>
          <a:graphicData uri="http://schemas.openxmlformats.org/presentationml/2006/ole">
            <mc:AlternateContent xmlns:mc="http://schemas.openxmlformats.org/markup-compatibility/2006">
              <mc:Choice xmlns:v="urn:schemas-microsoft-com:vml" Requires="v">
                <p:oleObj name="Equation" r:id="rId5" imgW="1015920" imgH="444240" progId="Equation.DSMT4">
                  <p:embed/>
                </p:oleObj>
              </mc:Choice>
              <mc:Fallback>
                <p:oleObj name="Equation" r:id="rId5" imgW="1015920" imgH="444240" progId="Equation.DSMT4">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270" y="1402350"/>
                        <a:ext cx="1746250" cy="763588"/>
                      </a:xfrm>
                      <a:prstGeom prst="rect">
                        <a:avLst/>
                      </a:prstGeom>
                      <a:solidFill>
                        <a:schemeClr val="accent2">
                          <a:lumMod val="40000"/>
                          <a:lumOff val="60000"/>
                        </a:schemeClr>
                      </a:solidFill>
                      <a:ln>
                        <a:noFill/>
                      </a:ln>
                    </p:spPr>
                  </p:pic>
                </p:oleObj>
              </mc:Fallback>
            </mc:AlternateContent>
          </a:graphicData>
        </a:graphic>
      </p:graphicFrame>
      <p:grpSp>
        <p:nvGrpSpPr>
          <p:cNvPr id="14" name="组合 13"/>
          <p:cNvGrpSpPr/>
          <p:nvPr/>
        </p:nvGrpSpPr>
        <p:grpSpPr>
          <a:xfrm>
            <a:off x="76924" y="3200400"/>
            <a:ext cx="3333026" cy="2782560"/>
            <a:chOff x="372269" y="2907504"/>
            <a:chExt cx="4375531" cy="3112296"/>
          </a:xfrm>
        </p:grpSpPr>
        <p:pic>
          <p:nvPicPr>
            <p:cNvPr id="1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269" y="2907504"/>
              <a:ext cx="4375531" cy="311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椭圆 15"/>
            <p:cNvSpPr/>
            <p:nvPr/>
          </p:nvSpPr>
          <p:spPr>
            <a:xfrm>
              <a:off x="1295400" y="5345904"/>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84005" y="4360620"/>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451344" y="3864434"/>
              <a:ext cx="152400" cy="1524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749325" y="4171564"/>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14909" y="4493872"/>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3" name="对象 12"/>
          <p:cNvGraphicFramePr>
            <a:graphicFrameLocks noChangeAspect="1"/>
          </p:cNvGraphicFramePr>
          <p:nvPr/>
        </p:nvGraphicFramePr>
        <p:xfrm>
          <a:off x="7019925" y="1457325"/>
          <a:ext cx="1600200" cy="632608"/>
        </p:xfrm>
        <a:graphic>
          <a:graphicData uri="http://schemas.openxmlformats.org/presentationml/2006/ole">
            <mc:AlternateContent xmlns:mc="http://schemas.openxmlformats.org/markup-compatibility/2006">
              <mc:Choice xmlns:v="urn:schemas-microsoft-com:vml" Requires="v">
                <p:oleObj r:id="rId8" imgW="1129810" imgH="444307" progId="Equation.3">
                  <p:embed/>
                </p:oleObj>
              </mc:Choice>
              <mc:Fallback>
                <p:oleObj r:id="rId8" imgW="1129810" imgH="444307" progId="Equation.3">
                  <p:embed/>
                  <p:pic>
                    <p:nvPicPr>
                      <p:cNvPr id="13"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9925" y="1457325"/>
                        <a:ext cx="1600200" cy="632608"/>
                      </a:xfrm>
                      <a:prstGeom prst="rect">
                        <a:avLst/>
                      </a:prstGeom>
                      <a:solidFill>
                        <a:schemeClr val="accent5">
                          <a:lumMod val="40000"/>
                          <a:lumOff val="60000"/>
                        </a:schemeClr>
                      </a:solidFill>
                      <a:ln w="19050">
                        <a:noFill/>
                        <a:miter lim="800000"/>
                        <a:headEnd/>
                        <a:tailEnd/>
                      </a:ln>
                    </p:spPr>
                  </p:pic>
                </p:oleObj>
              </mc:Fallback>
            </mc:AlternateContent>
          </a:graphicData>
        </a:graphic>
      </p:graphicFrame>
      <p:sp>
        <p:nvSpPr>
          <p:cNvPr id="22" name="矩形 21"/>
          <p:cNvSpPr/>
          <p:nvPr/>
        </p:nvSpPr>
        <p:spPr>
          <a:xfrm>
            <a:off x="963695" y="57726"/>
            <a:ext cx="4834144" cy="584775"/>
          </a:xfrm>
          <a:prstGeom prst="rect">
            <a:avLst/>
          </a:prstGeom>
        </p:spPr>
        <p:txBody>
          <a:bodyPr wrap="none">
            <a:spAutoFit/>
          </a:bodyPr>
          <a:lstStyle/>
          <a:p>
            <a:pPr indent="228600">
              <a:tabLst>
                <a:tab pos="1447800" algn="l"/>
              </a:tabLst>
            </a:pPr>
            <a:r>
              <a:rPr lang="en-US" altLang="zh-CN" sz="3200" dirty="0">
                <a:solidFill>
                  <a:srgbClr val="FF0000"/>
                </a:solidFill>
              </a:rPr>
              <a:t>van der Waals constant </a:t>
            </a:r>
            <a:endParaRPr lang="zh-CN" altLang="en-US" sz="3200" dirty="0">
              <a:solidFill>
                <a:srgbClr val="FF0000"/>
              </a:solidFill>
            </a:endParaRPr>
          </a:p>
        </p:txBody>
      </p:sp>
    </p:spTree>
    <p:extLst>
      <p:ext uri="{BB962C8B-B14F-4D97-AF65-F5344CB8AC3E}">
        <p14:creationId xmlns:p14="http://schemas.microsoft.com/office/powerpoint/2010/main" val="21796363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53796" y="2681933"/>
          <a:ext cx="7886700" cy="3002280"/>
        </p:xfrm>
        <a:graphic>
          <a:graphicData uri="http://schemas.openxmlformats.org/drawingml/2006/table">
            <a:tbl>
              <a:tblPr/>
              <a:tblGrid>
                <a:gridCol w="7886700">
                  <a:extLst>
                    <a:ext uri="{9D8B030D-6E8A-4147-A177-3AD203B41FA5}">
                      <a16:colId xmlns:a16="http://schemas.microsoft.com/office/drawing/2014/main" val="20000"/>
                    </a:ext>
                  </a:extLst>
                </a:gridCol>
              </a:tblGrid>
              <a:tr h="2736723">
                <a:tc>
                  <a:txBody>
                    <a:bodyPr/>
                    <a:lstStyle/>
                    <a:p>
                      <a:pPr fontAlgn="t"/>
                      <a:br>
                        <a:rPr lang="en-US" sz="1200" dirty="0">
                          <a:effectLst/>
                        </a:rPr>
                      </a:br>
                      <a:r>
                        <a:rPr lang="en-US" sz="1200" dirty="0">
                          <a:effectLst/>
                        </a:rPr>
                        <a:t>...It will be perfectly clear that in all my studies I was quite convinced of the real existence of molecules, that I never regarded them as a figment of my imagination, nor even as mere </a:t>
                      </a:r>
                      <a:r>
                        <a:rPr lang="en-US" sz="1200" dirty="0" err="1">
                          <a:effectLst/>
                        </a:rPr>
                        <a:t>centres</a:t>
                      </a:r>
                      <a:r>
                        <a:rPr lang="en-US" sz="1200" dirty="0">
                          <a:effectLst/>
                        </a:rPr>
                        <a:t> of force effects. I considered them to be the actual bodies, thus what we term "body" in daily speech ought better to be called "pseudo body". It is an aggregate of bodies and empty space. We do not know the nature of a molecule consisting of a single chemical atom. It would be premature to seek to answer this question but to admit this ignorance in no way impairs the belief in its real existence. When I began my studies I had the feeling that I was almost alone in holding that view. And when, as occurred already in my 1873 treatise, I determined their number in one gram-</a:t>
                      </a:r>
                      <a:r>
                        <a:rPr lang="en-US" sz="1200" dirty="0" err="1">
                          <a:effectLst/>
                        </a:rPr>
                        <a:t>mol</a:t>
                      </a:r>
                      <a:r>
                        <a:rPr lang="en-US" sz="1200" dirty="0">
                          <a:effectLst/>
                        </a:rPr>
                        <a:t>, their size and the nature of their action, I was strengthened in my opinion, yet still there often arose within me the question whether in the final analysis a molecule is a figment of the imagination and the entire molecular theory too. And now I do not think it any exaggeration to state that the real existence of molecules is universally assumed by physicists. Many of those who opposed it most have ultimately been won over, and my theory may have been a contributory factor. And precisely this, I feel, is a step forward. Anyone acquainted with the writings of </a:t>
                      </a:r>
                      <a:r>
                        <a:rPr lang="en-US" sz="1200" u="none" strike="noStrike" dirty="0">
                          <a:solidFill>
                            <a:srgbClr val="0B0080"/>
                          </a:solidFill>
                          <a:effectLst/>
                          <a:hlinkClick r:id="rId2" tooltip="Boltzmann"/>
                        </a:rPr>
                        <a:t>Boltzmann</a:t>
                      </a:r>
                      <a:r>
                        <a:rPr lang="en-US" sz="1200" dirty="0">
                          <a:effectLst/>
                        </a:rPr>
                        <a:t> and </a:t>
                      </a:r>
                      <a:r>
                        <a:rPr lang="en-US" sz="1200" u="none" strike="noStrike" dirty="0">
                          <a:solidFill>
                            <a:srgbClr val="0B0080"/>
                          </a:solidFill>
                          <a:effectLst/>
                          <a:hlinkClick r:id="rId3" tooltip="Willard Gibbs"/>
                        </a:rPr>
                        <a:t>Willard Gibbs</a:t>
                      </a:r>
                      <a:r>
                        <a:rPr lang="en-US" sz="1200" dirty="0">
                          <a:effectLst/>
                        </a:rPr>
                        <a:t> will admit that physicists carrying great authority believe that the complex phenomena of the heat theory can only be interpreted in this way. It is a great pleasure for me that an increasing number of younger physicists find the inspiration for their work in studies and contemplations of the molecular theory..</a:t>
                      </a:r>
                    </a:p>
                  </a:txBody>
                  <a:tcPr marL="95250" marR="95250" marT="38100" marB="38100">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0000"/>
                  </a:ext>
                </a:extLst>
              </a:tr>
            </a:tbl>
          </a:graphicData>
        </a:graphic>
      </p:graphicFrame>
      <p:sp>
        <p:nvSpPr>
          <p:cNvPr id="3" name="矩形 2"/>
          <p:cNvSpPr/>
          <p:nvPr/>
        </p:nvSpPr>
        <p:spPr>
          <a:xfrm>
            <a:off x="3968496" y="5801213"/>
            <a:ext cx="4572000" cy="738664"/>
          </a:xfrm>
          <a:prstGeom prst="rect">
            <a:avLst/>
          </a:prstGeom>
        </p:spPr>
        <p:txBody>
          <a:bodyPr>
            <a:spAutoFit/>
          </a:bodyPr>
          <a:lstStyle/>
          <a:p>
            <a:r>
              <a:rPr lang="en-US" altLang="zh-CN" sz="1400" dirty="0"/>
              <a:t>— Johannes D. van der Waals's notes </a:t>
            </a:r>
          </a:p>
          <a:p>
            <a:r>
              <a:rPr lang="en-US" altLang="zh-CN" sz="1400" dirty="0"/>
              <a:t>in </a:t>
            </a:r>
            <a:r>
              <a:rPr lang="en-US" altLang="zh-CN" sz="1400" i="1" dirty="0"/>
              <a:t>Nobel Lecture</a:t>
            </a:r>
            <a:r>
              <a:rPr lang="en-US" altLang="zh-CN" sz="1400" dirty="0"/>
              <a:t>, </a:t>
            </a:r>
            <a:r>
              <a:rPr lang="en-US" altLang="zh-CN" sz="1400" i="1" dirty="0"/>
              <a:t>The equation of state for gases and liquids</a:t>
            </a:r>
            <a:r>
              <a:rPr lang="en-US" altLang="zh-CN" sz="1400" dirty="0"/>
              <a:t> (12 December 1910).</a:t>
            </a:r>
            <a:endParaRPr lang="zh-CN" altLang="en-US" sz="1400" dirty="0"/>
          </a:p>
        </p:txBody>
      </p:sp>
      <p:sp>
        <p:nvSpPr>
          <p:cNvPr id="4" name="矩形 3"/>
          <p:cNvSpPr/>
          <p:nvPr/>
        </p:nvSpPr>
        <p:spPr>
          <a:xfrm>
            <a:off x="1429801" y="327398"/>
            <a:ext cx="2393604" cy="400110"/>
          </a:xfrm>
          <a:prstGeom prst="rect">
            <a:avLst/>
          </a:prstGeom>
        </p:spPr>
        <p:txBody>
          <a:bodyPr wrap="none">
            <a:spAutoFit/>
          </a:bodyPr>
          <a:lstStyle/>
          <a:p>
            <a:r>
              <a:rPr lang="en-US" altLang="zh-CN" sz="2000" i="1" dirty="0">
                <a:solidFill>
                  <a:srgbClr val="FF0000"/>
                </a:solidFill>
              </a:rPr>
              <a:t>Nobel Lecture Note</a:t>
            </a:r>
          </a:p>
        </p:txBody>
      </p:sp>
      <p:sp>
        <p:nvSpPr>
          <p:cNvPr id="5" name="矩形 4"/>
          <p:cNvSpPr/>
          <p:nvPr/>
        </p:nvSpPr>
        <p:spPr>
          <a:xfrm>
            <a:off x="1323974" y="930187"/>
            <a:ext cx="7134225" cy="923330"/>
          </a:xfrm>
          <a:prstGeom prst="rect">
            <a:avLst/>
          </a:prstGeom>
        </p:spPr>
        <p:txBody>
          <a:bodyPr wrap="square">
            <a:spAutoFit/>
          </a:bodyPr>
          <a:lstStyle/>
          <a:p>
            <a:r>
              <a:rPr lang="en-US" altLang="zh-CN" dirty="0"/>
              <a:t>1873, </a:t>
            </a:r>
            <a:r>
              <a:rPr lang="en-US" altLang="zh-CN" dirty="0">
                <a:solidFill>
                  <a:srgbClr val="FF0000"/>
                </a:solidFill>
                <a:latin typeface="Arial" charset="0"/>
                <a:cs typeface="Arial" charset="0"/>
              </a:rPr>
              <a:t>van der Waals  </a:t>
            </a:r>
            <a:r>
              <a:rPr lang="en-US" altLang="zh-CN" dirty="0">
                <a:latin typeface="Arial" charset="0"/>
                <a:cs typeface="Arial" charset="0"/>
              </a:rPr>
              <a:t>wrote his </a:t>
            </a:r>
            <a:r>
              <a:rPr lang="en-US" altLang="zh-CN" dirty="0"/>
              <a:t>thesis,  entitled </a:t>
            </a:r>
            <a:r>
              <a:rPr lang="en-US" altLang="zh-CN" i="1" dirty="0"/>
              <a:t>Over de </a:t>
            </a:r>
            <a:r>
              <a:rPr lang="en-US" altLang="zh-CN" i="1" dirty="0" err="1"/>
              <a:t>Continuïteit</a:t>
            </a:r>
            <a:r>
              <a:rPr lang="en-US" altLang="zh-CN" i="1" dirty="0"/>
              <a:t> van den Gas- en </a:t>
            </a:r>
            <a:r>
              <a:rPr lang="en-US" altLang="zh-CN" i="1" dirty="0" err="1"/>
              <a:t>Vloeistoftoestand</a:t>
            </a:r>
            <a:r>
              <a:rPr lang="en-US" altLang="zh-CN" dirty="0"/>
              <a:t> (On the continuity of the gas and liquid state)</a:t>
            </a:r>
            <a:endParaRPr lang="zh-CN" altLang="en-US" dirty="0"/>
          </a:p>
        </p:txBody>
      </p:sp>
      <p:sp>
        <p:nvSpPr>
          <p:cNvPr id="6" name="矩形 5"/>
          <p:cNvSpPr/>
          <p:nvPr/>
        </p:nvSpPr>
        <p:spPr>
          <a:xfrm>
            <a:off x="1429801" y="1939548"/>
            <a:ext cx="7216521" cy="584775"/>
          </a:xfrm>
          <a:prstGeom prst="rect">
            <a:avLst/>
          </a:prstGeom>
        </p:spPr>
        <p:txBody>
          <a:bodyPr wrap="square">
            <a:spAutoFit/>
          </a:bodyPr>
          <a:lstStyle/>
          <a:p>
            <a:r>
              <a:rPr lang="en-US" altLang="zh-CN" sz="1600" dirty="0"/>
              <a:t>1874, </a:t>
            </a:r>
            <a:r>
              <a:rPr lang="en-US" altLang="zh-CN" sz="1600" dirty="0">
                <a:solidFill>
                  <a:srgbClr val="FF0000"/>
                </a:solidFill>
              </a:rPr>
              <a:t>J. C. Maxwell</a:t>
            </a:r>
            <a:r>
              <a:rPr lang="en-US" altLang="zh-CN" sz="1600" dirty="0"/>
              <a:t>, "Van der Waals on the Continuity of Gaseous and Liquid States". </a:t>
            </a:r>
            <a:r>
              <a:rPr lang="en-US" altLang="zh-CN" sz="1600" i="1" dirty="0"/>
              <a:t>Nature</a:t>
            </a:r>
            <a:r>
              <a:rPr lang="en-US" altLang="zh-CN" sz="1600" dirty="0"/>
              <a:t>. </a:t>
            </a:r>
            <a:r>
              <a:rPr lang="en-US" altLang="zh-CN" sz="1600" b="1" dirty="0"/>
              <a:t>10</a:t>
            </a:r>
            <a:r>
              <a:rPr lang="en-US" altLang="zh-CN" sz="1600" dirty="0"/>
              <a:t> (259): 477–480</a:t>
            </a:r>
            <a:endParaRPr lang="zh-CN" altLang="en-US" sz="1600" dirty="0"/>
          </a:p>
        </p:txBody>
      </p:sp>
    </p:spTree>
    <p:extLst>
      <p:ext uri="{BB962C8B-B14F-4D97-AF65-F5344CB8AC3E}">
        <p14:creationId xmlns:p14="http://schemas.microsoft.com/office/powerpoint/2010/main" val="2509580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bwMode="auto">
          <a:xfrm>
            <a:off x="955675" y="76199"/>
            <a:ext cx="5873750" cy="552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dirty="0">
                <a:solidFill>
                  <a:srgbClr val="FF0000"/>
                </a:solidFill>
                <a:latin typeface="Arial" charset="0"/>
                <a:cs typeface="Arial" charset="0"/>
              </a:rPr>
              <a:t>The van der Waals Gas</a:t>
            </a:r>
            <a:endParaRPr lang="en-US" dirty="0">
              <a:solidFill>
                <a:srgbClr val="FF0000"/>
              </a:solidFill>
            </a:endParaRPr>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2054562"/>
            <a:ext cx="4238625" cy="333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780048" y="3519048"/>
            <a:ext cx="2775119" cy="369332"/>
          </a:xfrm>
          <a:prstGeom prst="rect">
            <a:avLst/>
          </a:prstGeom>
          <a:solidFill>
            <a:schemeClr val="accent2">
              <a:lumMod val="20000"/>
              <a:lumOff val="80000"/>
            </a:schemeClr>
          </a:solidFill>
        </p:spPr>
        <p:txBody>
          <a:bodyPr wrap="none" rtlCol="0">
            <a:spAutoFit/>
          </a:bodyPr>
          <a:lstStyle/>
          <a:p>
            <a:r>
              <a:rPr lang="en-US" altLang="zh-CN" dirty="0"/>
              <a:t>Intrinsic stable condition: </a:t>
            </a:r>
            <a:endParaRPr lang="zh-CN" altLang="en-US" dirty="0"/>
          </a:p>
        </p:txBody>
      </p:sp>
      <p:graphicFrame>
        <p:nvGraphicFramePr>
          <p:cNvPr id="5" name="对象 4"/>
          <p:cNvGraphicFramePr>
            <a:graphicFrameLocks noChangeAspect="1"/>
          </p:cNvGraphicFramePr>
          <p:nvPr/>
        </p:nvGraphicFramePr>
        <p:xfrm>
          <a:off x="5416381" y="4095750"/>
          <a:ext cx="1279752" cy="314325"/>
        </p:xfrm>
        <a:graphic>
          <a:graphicData uri="http://schemas.openxmlformats.org/presentationml/2006/ole">
            <mc:AlternateContent xmlns:mc="http://schemas.openxmlformats.org/markup-compatibility/2006">
              <mc:Choice xmlns:v="urn:schemas-microsoft-com:vml" Requires="v">
                <p:oleObj name="Equation" r:id="rId3" imgW="723600" imgH="177480" progId="Equation.DSMT4">
                  <p:embed/>
                </p:oleObj>
              </mc:Choice>
              <mc:Fallback>
                <p:oleObj name="Equation" r:id="rId3" imgW="723600" imgH="177480" progId="Equation.DSMT4">
                  <p:embed/>
                  <p:pic>
                    <p:nvPicPr>
                      <p:cNvPr id="5" name="对象 4"/>
                      <p:cNvPicPr/>
                      <p:nvPr/>
                    </p:nvPicPr>
                    <p:blipFill>
                      <a:blip r:embed="rId4"/>
                      <a:stretch>
                        <a:fillRect/>
                      </a:stretch>
                    </p:blipFill>
                    <p:spPr>
                      <a:xfrm>
                        <a:off x="5416381" y="4095750"/>
                        <a:ext cx="1279752" cy="314325"/>
                      </a:xfrm>
                      <a:prstGeom prst="rect">
                        <a:avLst/>
                      </a:prstGeom>
                    </p:spPr>
                  </p:pic>
                </p:oleObj>
              </mc:Fallback>
            </mc:AlternateContent>
          </a:graphicData>
        </a:graphic>
      </p:graphicFrame>
      <p:sp>
        <p:nvSpPr>
          <p:cNvPr id="7" name="TextBox 6"/>
          <p:cNvSpPr txBox="1"/>
          <p:nvPr/>
        </p:nvSpPr>
        <p:spPr>
          <a:xfrm>
            <a:off x="4780048" y="4484269"/>
            <a:ext cx="3736920" cy="369332"/>
          </a:xfrm>
          <a:prstGeom prst="rect">
            <a:avLst/>
          </a:prstGeom>
          <a:noFill/>
        </p:spPr>
        <p:txBody>
          <a:bodyPr wrap="none" rtlCol="0">
            <a:spAutoFit/>
          </a:bodyPr>
          <a:lstStyle/>
          <a:p>
            <a:r>
              <a:rPr lang="en-US" altLang="zh-CN" i="1" dirty="0">
                <a:solidFill>
                  <a:srgbClr val="FF0000"/>
                </a:solidFill>
              </a:rPr>
              <a:t>JIHGF</a:t>
            </a:r>
            <a:r>
              <a:rPr lang="en-US" altLang="zh-CN" dirty="0"/>
              <a:t> line violated this condition!!!</a:t>
            </a:r>
            <a:endParaRPr lang="zh-CN" altLang="en-US" dirty="0"/>
          </a:p>
        </p:txBody>
      </p:sp>
      <p:sp>
        <p:nvSpPr>
          <p:cNvPr id="2" name="任意多边形 1"/>
          <p:cNvSpPr/>
          <p:nvPr/>
        </p:nvSpPr>
        <p:spPr>
          <a:xfrm>
            <a:off x="1657350" y="3362325"/>
            <a:ext cx="723900" cy="1047750"/>
          </a:xfrm>
          <a:custGeom>
            <a:avLst/>
            <a:gdLst>
              <a:gd name="connsiteX0" fmla="*/ 0 w 723900"/>
              <a:gd name="connsiteY0" fmla="*/ 1047750 h 1047750"/>
              <a:gd name="connsiteX1" fmla="*/ 266700 w 723900"/>
              <a:gd name="connsiteY1" fmla="*/ 657225 h 1047750"/>
              <a:gd name="connsiteX2" fmla="*/ 495300 w 723900"/>
              <a:gd name="connsiteY2" fmla="*/ 190500 h 1047750"/>
              <a:gd name="connsiteX3" fmla="*/ 723900 w 723900"/>
              <a:gd name="connsiteY3" fmla="*/ 0 h 1047750"/>
            </a:gdLst>
            <a:ahLst/>
            <a:cxnLst>
              <a:cxn ang="0">
                <a:pos x="connsiteX0" y="connsiteY0"/>
              </a:cxn>
              <a:cxn ang="0">
                <a:pos x="connsiteX1" y="connsiteY1"/>
              </a:cxn>
              <a:cxn ang="0">
                <a:pos x="connsiteX2" y="connsiteY2"/>
              </a:cxn>
              <a:cxn ang="0">
                <a:pos x="connsiteX3" y="connsiteY3"/>
              </a:cxn>
            </a:cxnLst>
            <a:rect l="l" t="t" r="r" b="b"/>
            <a:pathLst>
              <a:path w="723900" h="1047750">
                <a:moveTo>
                  <a:pt x="0" y="1047750"/>
                </a:moveTo>
                <a:cubicBezTo>
                  <a:pt x="92075" y="923925"/>
                  <a:pt x="184150" y="800100"/>
                  <a:pt x="266700" y="657225"/>
                </a:cubicBezTo>
                <a:cubicBezTo>
                  <a:pt x="349250" y="514350"/>
                  <a:pt x="419100" y="300038"/>
                  <a:pt x="495300" y="190500"/>
                </a:cubicBezTo>
                <a:cubicBezTo>
                  <a:pt x="571500" y="80962"/>
                  <a:pt x="647700" y="40481"/>
                  <a:pt x="723900" y="0"/>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5685337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2583" y="1562099"/>
            <a:ext cx="3082356"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graphicFrame>
        <p:nvGraphicFramePr>
          <p:cNvPr id="4" name="对象 3"/>
          <p:cNvGraphicFramePr>
            <a:graphicFrameLocks noChangeAspect="1"/>
          </p:cNvGraphicFramePr>
          <p:nvPr/>
        </p:nvGraphicFramePr>
        <p:xfrm>
          <a:off x="307975" y="1666875"/>
          <a:ext cx="8533677" cy="4457700"/>
        </p:xfrm>
        <a:graphic>
          <a:graphicData uri="http://schemas.openxmlformats.org/presentationml/2006/ole">
            <mc:AlternateContent xmlns:mc="http://schemas.openxmlformats.org/markup-compatibility/2006">
              <mc:Choice xmlns:v="urn:schemas-microsoft-com:vml" Requires="v">
                <p:oleObj name="Equation" r:id="rId3" imgW="5524500" imgH="3810000" progId="Equation.3">
                  <p:embed/>
                </p:oleObj>
              </mc:Choice>
              <mc:Fallback>
                <p:oleObj name="Equation" r:id="rId3" imgW="5524500" imgH="3810000" progId="Equation.3">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975" y="1666875"/>
                        <a:ext cx="8533677" cy="4457700"/>
                      </a:xfrm>
                      <a:prstGeom prst="rect">
                        <a:avLst/>
                      </a:prstGeom>
                      <a:noFill/>
                      <a:ln>
                        <a:noFill/>
                      </a:ln>
                    </p:spPr>
                  </p:pic>
                </p:oleObj>
              </mc:Fallback>
            </mc:AlternateContent>
          </a:graphicData>
        </a:graphic>
      </p:graphicFrame>
      <p:sp>
        <p:nvSpPr>
          <p:cNvPr id="8" name="Title 1"/>
          <p:cNvSpPr txBox="1">
            <a:spLocks/>
          </p:cNvSpPr>
          <p:nvPr/>
        </p:nvSpPr>
        <p:spPr bwMode="auto">
          <a:xfrm>
            <a:off x="1060450" y="25472"/>
            <a:ext cx="5873750" cy="522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dirty="0">
                <a:solidFill>
                  <a:srgbClr val="FF0000"/>
                </a:solidFill>
                <a:latin typeface="Arial" charset="0"/>
                <a:cs typeface="Arial" charset="0"/>
              </a:rPr>
              <a:t>Maxwell construction</a:t>
            </a:r>
            <a:endParaRPr lang="en-US" sz="3200" dirty="0">
              <a:solidFill>
                <a:srgbClr val="FF0000"/>
              </a:solidFill>
            </a:endParaRPr>
          </a:p>
        </p:txBody>
      </p:sp>
      <p:sp>
        <p:nvSpPr>
          <p:cNvPr id="14" name="Slide Number Placeholder 3"/>
          <p:cNvSpPr txBox="1">
            <a:spLocks/>
          </p:cNvSpPr>
          <p:nvPr/>
        </p:nvSpPr>
        <p:spPr>
          <a:xfrm>
            <a:off x="6934200" y="647700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i="1" dirty="0"/>
              <a:t>Prof. W.S. Liu  </a:t>
            </a:r>
            <a:r>
              <a:rPr lang="en-US" dirty="0"/>
              <a:t>|  </a:t>
            </a:r>
            <a:fld id="{C915B95C-5458-41FC-90FC-CACA4B5603FB}" type="slidenum">
              <a:rPr lang="en-US" smtClean="0"/>
              <a:pPr algn="r"/>
              <a:t>38</a:t>
            </a:fld>
            <a:endParaRPr lang="en-US" dirty="0"/>
          </a:p>
        </p:txBody>
      </p:sp>
    </p:spTree>
    <p:extLst>
      <p:ext uri="{BB962C8B-B14F-4D97-AF65-F5344CB8AC3E}">
        <p14:creationId xmlns:p14="http://schemas.microsoft.com/office/powerpoint/2010/main" val="83021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961" y="1085850"/>
            <a:ext cx="3505200" cy="318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nvGraphicFramePr>
        <p:xfrm>
          <a:off x="5204361" y="1815701"/>
          <a:ext cx="1251651" cy="422244"/>
        </p:xfrm>
        <a:graphic>
          <a:graphicData uri="http://schemas.openxmlformats.org/presentationml/2006/ole">
            <mc:AlternateContent xmlns:mc="http://schemas.openxmlformats.org/markup-compatibility/2006">
              <mc:Choice xmlns:v="urn:schemas-microsoft-com:vml" Requires="v">
                <p:oleObj name="Equation" r:id="rId3" imgW="1054080" imgH="355320" progId="Equation.DSMT4">
                  <p:embed/>
                </p:oleObj>
              </mc:Choice>
              <mc:Fallback>
                <p:oleObj name="Equation" r:id="rId3" imgW="1054080" imgH="355320" progId="Equation.DSMT4">
                  <p:embed/>
                  <p:pic>
                    <p:nvPicPr>
                      <p:cNvPr id="4" name="对象 3"/>
                      <p:cNvPicPr/>
                      <p:nvPr/>
                    </p:nvPicPr>
                    <p:blipFill>
                      <a:blip r:embed="rId4"/>
                      <a:stretch>
                        <a:fillRect/>
                      </a:stretch>
                    </p:blipFill>
                    <p:spPr>
                      <a:xfrm>
                        <a:off x="5204361" y="1815701"/>
                        <a:ext cx="1251651" cy="422244"/>
                      </a:xfrm>
                      <a:prstGeom prst="rect">
                        <a:avLst/>
                      </a:prstGeom>
                    </p:spPr>
                  </p:pic>
                </p:oleObj>
              </mc:Fallback>
            </mc:AlternateContent>
          </a:graphicData>
        </a:graphic>
      </p:graphicFrame>
      <p:pic>
        <p:nvPicPr>
          <p:cNvPr id="4813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5161" y="945912"/>
            <a:ext cx="4572000" cy="346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609600" y="4618223"/>
            <a:ext cx="7947561" cy="1477328"/>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800" dirty="0">
                <a:latin typeface="Times New Roman" panose="02020603050405020304" pitchFamily="18" charset="0"/>
                <a:cs typeface="Times New Roman" panose="02020603050405020304" pitchFamily="18" charset="0"/>
              </a:rPr>
              <a:t>Lines </a:t>
            </a:r>
            <a:r>
              <a:rPr lang="en-US" altLang="zh-CN" sz="1800" dirty="0">
                <a:solidFill>
                  <a:srgbClr val="FF0000"/>
                </a:solidFill>
                <a:latin typeface="Times New Roman" panose="02020603050405020304" pitchFamily="18" charset="0"/>
                <a:cs typeface="Times New Roman" panose="02020603050405020304" pitchFamily="18" charset="0"/>
              </a:rPr>
              <a:t>DF</a:t>
            </a:r>
            <a:r>
              <a:rPr lang="en-US" altLang="zh-CN" sz="1800" dirty="0">
                <a:latin typeface="Times New Roman" panose="02020603050405020304" pitchFamily="18" charset="0"/>
                <a:cs typeface="Times New Roman" panose="02020603050405020304" pitchFamily="18" charset="0"/>
              </a:rPr>
              <a:t> and </a:t>
            </a:r>
            <a:r>
              <a:rPr lang="en-US" altLang="zh-CN" sz="1800" dirty="0">
                <a:solidFill>
                  <a:srgbClr val="FF0000"/>
                </a:solidFill>
                <a:latin typeface="Times New Roman" panose="02020603050405020304" pitchFamily="18" charset="0"/>
                <a:cs typeface="Times New Roman" panose="02020603050405020304" pitchFamily="18" charset="0"/>
              </a:rPr>
              <a:t>LJ</a:t>
            </a:r>
            <a:r>
              <a:rPr lang="en-US" altLang="zh-CN" sz="1800" dirty="0">
                <a:latin typeface="Times New Roman" panose="02020603050405020304" pitchFamily="18" charset="0"/>
                <a:cs typeface="Times New Roman" panose="02020603050405020304" pitchFamily="18" charset="0"/>
              </a:rPr>
              <a:t>  represent the metastable vapor and metastable liquid states. </a:t>
            </a:r>
          </a:p>
          <a:p>
            <a:pPr marL="285750" indent="-285750">
              <a:buFont typeface="Wingdings" panose="05000000000000000000" pitchFamily="2" charset="2"/>
              <a:buChar char="Ø"/>
            </a:pPr>
            <a:r>
              <a:rPr lang="en-US" altLang="zh-CN" sz="1800" dirty="0">
                <a:latin typeface="Times New Roman" panose="02020603050405020304" pitchFamily="18" charset="0"/>
                <a:cs typeface="Times New Roman" panose="02020603050405020304" pitchFamily="18" charset="0"/>
              </a:rPr>
              <a:t>In the absence of nucleation of the liquid phase from the vapor phase at the state </a:t>
            </a:r>
            <a:r>
              <a:rPr lang="en-US" altLang="zh-CN" sz="1800" dirty="0">
                <a:solidFill>
                  <a:srgbClr val="FF0000"/>
                </a:solidFill>
                <a:latin typeface="Times New Roman" panose="02020603050405020304" pitchFamily="18" charset="0"/>
                <a:cs typeface="Times New Roman" panose="02020603050405020304" pitchFamily="18" charset="0"/>
              </a:rPr>
              <a:t>D</a:t>
            </a:r>
            <a:r>
              <a:rPr lang="en-US" altLang="zh-CN" sz="1800" dirty="0">
                <a:latin typeface="Times New Roman" panose="02020603050405020304" pitchFamily="18" charset="0"/>
                <a:cs typeface="Times New Roman" panose="02020603050405020304" pitchFamily="18" charset="0"/>
              </a:rPr>
              <a:t>, supersaturated vapor would exist along the line </a:t>
            </a:r>
            <a:r>
              <a:rPr lang="en-US" altLang="zh-CN" sz="1800" dirty="0">
                <a:solidFill>
                  <a:srgbClr val="FF0000"/>
                </a:solidFill>
                <a:latin typeface="Times New Roman" panose="02020603050405020304" pitchFamily="18" charset="0"/>
                <a:cs typeface="Times New Roman" panose="02020603050405020304" pitchFamily="18" charset="0"/>
              </a:rPr>
              <a:t>DEF.</a:t>
            </a:r>
          </a:p>
          <a:p>
            <a:pPr marL="285750" indent="-285750">
              <a:buFont typeface="Wingdings" panose="05000000000000000000" pitchFamily="2" charset="2"/>
              <a:buChar char="Ø"/>
            </a:pPr>
            <a:r>
              <a:rPr lang="en-US" altLang="zh-CN" sz="1800" dirty="0">
                <a:latin typeface="Times New Roman" panose="02020603050405020304" pitchFamily="18" charset="0"/>
                <a:cs typeface="Times New Roman" panose="02020603050405020304" pitchFamily="18" charset="0"/>
              </a:rPr>
              <a:t>In the absence of nucleation of the vapor phase from the  liquid  phase  at  the state </a:t>
            </a:r>
            <a:r>
              <a:rPr lang="en-US" altLang="zh-CN" sz="1800" dirty="0">
                <a:solidFill>
                  <a:srgbClr val="FF0000"/>
                </a:solidFill>
                <a:latin typeface="Times New Roman" panose="02020603050405020304" pitchFamily="18" charset="0"/>
                <a:cs typeface="Times New Roman" panose="02020603050405020304" pitchFamily="18" charset="0"/>
              </a:rPr>
              <a:t>L</a:t>
            </a:r>
            <a:r>
              <a:rPr lang="en-US" altLang="zh-CN" sz="1800" dirty="0">
                <a:latin typeface="Times New Roman" panose="02020603050405020304" pitchFamily="18" charset="0"/>
                <a:cs typeface="Times New Roman" panose="02020603050405020304" pitchFamily="18" charset="0"/>
              </a:rPr>
              <a:t>, supersaturated liquid would exist along the line </a:t>
            </a:r>
            <a:r>
              <a:rPr lang="en-US" altLang="zh-CN" sz="1800" dirty="0" err="1">
                <a:solidFill>
                  <a:srgbClr val="FF0000"/>
                </a:solidFill>
                <a:latin typeface="Times New Roman" panose="02020603050405020304" pitchFamily="18" charset="0"/>
                <a:cs typeface="Times New Roman" panose="02020603050405020304" pitchFamily="18" charset="0"/>
              </a:rPr>
              <a:t>LKJ</a:t>
            </a:r>
            <a:r>
              <a:rPr lang="en-US" altLang="zh-CN" sz="1800" dirty="0">
                <a:latin typeface="Times New Roman" panose="02020603050405020304" pitchFamily="18" charset="0"/>
                <a:cs typeface="Times New Roman" panose="02020603050405020304" pitchFamily="18" charset="0"/>
              </a:rPr>
              <a:t>. </a:t>
            </a:r>
            <a:endParaRPr lang="zh-CN" altLang="en-US" sz="1800" dirty="0">
              <a:latin typeface="Times New Roman" panose="02020603050405020304" pitchFamily="18" charset="0"/>
              <a:cs typeface="Times New Roman" panose="02020603050405020304" pitchFamily="18" charset="0"/>
            </a:endParaRPr>
          </a:p>
        </p:txBody>
      </p:sp>
      <p:sp>
        <p:nvSpPr>
          <p:cNvPr id="13" name="Title 1"/>
          <p:cNvSpPr txBox="1">
            <a:spLocks/>
          </p:cNvSpPr>
          <p:nvPr/>
        </p:nvSpPr>
        <p:spPr bwMode="auto">
          <a:xfrm>
            <a:off x="981611" y="0"/>
            <a:ext cx="5873750" cy="593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dirty="0">
                <a:solidFill>
                  <a:srgbClr val="FF0000"/>
                </a:solidFill>
                <a:latin typeface="Arial" charset="0"/>
                <a:cs typeface="Arial" charset="0"/>
              </a:rPr>
              <a:t>Maxwell construction</a:t>
            </a:r>
            <a:endParaRPr lang="en-US" dirty="0">
              <a:solidFill>
                <a:srgbClr val="FF0000"/>
              </a:solidFill>
            </a:endParaRPr>
          </a:p>
        </p:txBody>
      </p:sp>
    </p:spTree>
    <p:extLst>
      <p:ext uri="{BB962C8B-B14F-4D97-AF65-F5344CB8AC3E}">
        <p14:creationId xmlns:p14="http://schemas.microsoft.com/office/powerpoint/2010/main" val="34146122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bwMode="auto">
          <a:xfrm>
            <a:off x="989012" y="67070"/>
            <a:ext cx="5873750" cy="590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dirty="0" err="1">
                <a:solidFill>
                  <a:srgbClr val="FF0000"/>
                </a:solidFill>
              </a:rPr>
              <a:t>Spinodal</a:t>
            </a:r>
            <a:r>
              <a:rPr lang="en-US" sz="3200" dirty="0">
                <a:solidFill>
                  <a:srgbClr val="FF0000"/>
                </a:solidFill>
              </a:rPr>
              <a:t> points</a:t>
            </a:r>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01151"/>
            <a:ext cx="4238625" cy="333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266697" y="4648200"/>
            <a:ext cx="8324851" cy="646331"/>
          </a:xfrm>
          <a:prstGeom prst="rect">
            <a:avLst/>
          </a:prstGeom>
          <a:solidFill>
            <a:schemeClr val="accent2">
              <a:lumMod val="20000"/>
              <a:lumOff val="80000"/>
            </a:schemeClr>
          </a:solidFill>
        </p:spPr>
        <p:txBody>
          <a:bodyPr wrap="square" rtlCol="0">
            <a:spAutoFit/>
          </a:bodyPr>
          <a:lstStyle/>
          <a:p>
            <a:r>
              <a:rPr lang="en-US" altLang="zh-CN" dirty="0"/>
              <a:t>J and F are the </a:t>
            </a:r>
            <a:r>
              <a:rPr lang="en-US" altLang="zh-CN" dirty="0" err="1"/>
              <a:t>spinodal</a:t>
            </a:r>
            <a:r>
              <a:rPr lang="en-US" altLang="zh-CN" dirty="0"/>
              <a:t> point</a:t>
            </a:r>
          </a:p>
          <a:p>
            <a:r>
              <a:rPr lang="en-US" altLang="zh-CN" i="1" dirty="0"/>
              <a:t>represents the limit of </a:t>
            </a:r>
            <a:r>
              <a:rPr lang="en-US" altLang="zh-CN" i="1" dirty="0" err="1"/>
              <a:t>metastability</a:t>
            </a:r>
            <a:r>
              <a:rPr lang="en-US" altLang="zh-CN" i="1" dirty="0"/>
              <a:t> of the vapor and liquid</a:t>
            </a:r>
            <a:endParaRPr lang="zh-CN" altLang="en-US" dirty="0"/>
          </a:p>
        </p:txBody>
      </p:sp>
      <p:sp>
        <p:nvSpPr>
          <p:cNvPr id="26" name="矩形 25"/>
          <p:cNvSpPr/>
          <p:nvPr/>
        </p:nvSpPr>
        <p:spPr>
          <a:xfrm>
            <a:off x="5153026" y="1090308"/>
            <a:ext cx="3352800" cy="2924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rot="16200000">
            <a:off x="4114801" y="2367729"/>
            <a:ext cx="1390124" cy="369332"/>
          </a:xfrm>
          <a:prstGeom prst="rect">
            <a:avLst/>
          </a:prstGeom>
          <a:noFill/>
        </p:spPr>
        <p:txBody>
          <a:bodyPr wrap="none" rtlCol="0">
            <a:spAutoFit/>
          </a:bodyPr>
          <a:lstStyle/>
          <a:p>
            <a:r>
              <a:rPr lang="en-US" altLang="zh-CN" dirty="0"/>
              <a:t>Pressure, P</a:t>
            </a:r>
            <a:endParaRPr lang="zh-CN" altLang="en-US" dirty="0"/>
          </a:p>
        </p:txBody>
      </p:sp>
      <p:sp>
        <p:nvSpPr>
          <p:cNvPr id="28" name="TextBox 27"/>
          <p:cNvSpPr txBox="1"/>
          <p:nvPr/>
        </p:nvSpPr>
        <p:spPr>
          <a:xfrm>
            <a:off x="6153151" y="4150710"/>
            <a:ext cx="1236300" cy="369332"/>
          </a:xfrm>
          <a:prstGeom prst="rect">
            <a:avLst/>
          </a:prstGeom>
          <a:noFill/>
        </p:spPr>
        <p:txBody>
          <a:bodyPr wrap="none" rtlCol="0">
            <a:spAutoFit/>
          </a:bodyPr>
          <a:lstStyle/>
          <a:p>
            <a:r>
              <a:rPr lang="en-US" altLang="zh-CN" dirty="0"/>
              <a:t>Volume, V</a:t>
            </a:r>
            <a:endParaRPr lang="zh-CN" altLang="en-US" dirty="0"/>
          </a:p>
        </p:txBody>
      </p:sp>
      <p:sp>
        <p:nvSpPr>
          <p:cNvPr id="29" name="任意多边形 28"/>
          <p:cNvSpPr/>
          <p:nvPr/>
        </p:nvSpPr>
        <p:spPr>
          <a:xfrm>
            <a:off x="5267326" y="2328500"/>
            <a:ext cx="3190875" cy="1628833"/>
          </a:xfrm>
          <a:custGeom>
            <a:avLst/>
            <a:gdLst>
              <a:gd name="connsiteX0" fmla="*/ 0 w 3190875"/>
              <a:gd name="connsiteY0" fmla="*/ 1581208 h 1628833"/>
              <a:gd name="connsiteX1" fmla="*/ 1066800 w 3190875"/>
              <a:gd name="connsiteY1" fmla="*/ 58 h 1628833"/>
              <a:gd name="connsiteX2" fmla="*/ 3190875 w 3190875"/>
              <a:gd name="connsiteY2" fmla="*/ 1628833 h 1628833"/>
            </a:gdLst>
            <a:ahLst/>
            <a:cxnLst>
              <a:cxn ang="0">
                <a:pos x="connsiteX0" y="connsiteY0"/>
              </a:cxn>
              <a:cxn ang="0">
                <a:pos x="connsiteX1" y="connsiteY1"/>
              </a:cxn>
              <a:cxn ang="0">
                <a:pos x="connsiteX2" y="connsiteY2"/>
              </a:cxn>
            </a:cxnLst>
            <a:rect l="l" t="t" r="r" b="b"/>
            <a:pathLst>
              <a:path w="3190875" h="1628833">
                <a:moveTo>
                  <a:pt x="0" y="1581208"/>
                </a:moveTo>
                <a:cubicBezTo>
                  <a:pt x="267494" y="786664"/>
                  <a:pt x="534988" y="-7879"/>
                  <a:pt x="1066800" y="58"/>
                </a:cubicBezTo>
                <a:cubicBezTo>
                  <a:pt x="1598612" y="7995"/>
                  <a:pt x="2394743" y="818414"/>
                  <a:pt x="3190875" y="1628833"/>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任意多边形 29"/>
          <p:cNvSpPr/>
          <p:nvPr/>
        </p:nvSpPr>
        <p:spPr>
          <a:xfrm>
            <a:off x="5808227" y="2338081"/>
            <a:ext cx="1792724" cy="1676402"/>
          </a:xfrm>
          <a:custGeom>
            <a:avLst/>
            <a:gdLst>
              <a:gd name="connsiteX0" fmla="*/ 0 w 2028825"/>
              <a:gd name="connsiteY0" fmla="*/ 1676402 h 1676402"/>
              <a:gd name="connsiteX1" fmla="*/ 676275 w 2028825"/>
              <a:gd name="connsiteY1" fmla="*/ 2 h 1676402"/>
              <a:gd name="connsiteX2" fmla="*/ 2028825 w 2028825"/>
              <a:gd name="connsiteY2" fmla="*/ 1666877 h 1676402"/>
            </a:gdLst>
            <a:ahLst/>
            <a:cxnLst>
              <a:cxn ang="0">
                <a:pos x="connsiteX0" y="connsiteY0"/>
              </a:cxn>
              <a:cxn ang="0">
                <a:pos x="connsiteX1" y="connsiteY1"/>
              </a:cxn>
              <a:cxn ang="0">
                <a:pos x="connsiteX2" y="connsiteY2"/>
              </a:cxn>
            </a:cxnLst>
            <a:rect l="l" t="t" r="r" b="b"/>
            <a:pathLst>
              <a:path w="2028825" h="1676402">
                <a:moveTo>
                  <a:pt x="0" y="1676402"/>
                </a:moveTo>
                <a:cubicBezTo>
                  <a:pt x="169069" y="838995"/>
                  <a:pt x="338138" y="1589"/>
                  <a:pt x="676275" y="2"/>
                </a:cubicBezTo>
                <a:cubicBezTo>
                  <a:pt x="1014412" y="-1585"/>
                  <a:pt x="1521618" y="832646"/>
                  <a:pt x="2028825" y="1666877"/>
                </a:cubicBezTo>
              </a:path>
            </a:pathLst>
          </a:custGeom>
          <a:ln>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TextBox 30"/>
          <p:cNvSpPr txBox="1"/>
          <p:nvPr/>
        </p:nvSpPr>
        <p:spPr>
          <a:xfrm>
            <a:off x="6264101" y="1592990"/>
            <a:ext cx="800219" cy="369332"/>
          </a:xfrm>
          <a:prstGeom prst="rect">
            <a:avLst/>
          </a:prstGeom>
          <a:noFill/>
        </p:spPr>
        <p:txBody>
          <a:bodyPr wrap="none" rtlCol="0">
            <a:spAutoFit/>
          </a:bodyPr>
          <a:lstStyle/>
          <a:p>
            <a:r>
              <a:rPr lang="en-US" altLang="zh-CN" dirty="0"/>
              <a:t>stable</a:t>
            </a:r>
            <a:endParaRPr lang="zh-CN" altLang="en-US" dirty="0"/>
          </a:p>
        </p:txBody>
      </p:sp>
      <p:sp>
        <p:nvSpPr>
          <p:cNvPr id="32" name="TextBox 31"/>
          <p:cNvSpPr txBox="1"/>
          <p:nvPr/>
        </p:nvSpPr>
        <p:spPr>
          <a:xfrm rot="16809636">
            <a:off x="5029429" y="3260663"/>
            <a:ext cx="1188146" cy="338554"/>
          </a:xfrm>
          <a:prstGeom prst="rect">
            <a:avLst/>
          </a:prstGeom>
          <a:noFill/>
        </p:spPr>
        <p:txBody>
          <a:bodyPr wrap="none" rtlCol="0">
            <a:spAutoFit/>
          </a:bodyPr>
          <a:lstStyle/>
          <a:p>
            <a:r>
              <a:rPr lang="en-US" altLang="zh-CN" sz="1600" dirty="0"/>
              <a:t>metastable</a:t>
            </a:r>
            <a:endParaRPr lang="zh-CN" altLang="en-US" sz="1600" dirty="0"/>
          </a:p>
        </p:txBody>
      </p:sp>
      <p:sp>
        <p:nvSpPr>
          <p:cNvPr id="36" name="TextBox 35"/>
          <p:cNvSpPr txBox="1"/>
          <p:nvPr/>
        </p:nvSpPr>
        <p:spPr>
          <a:xfrm>
            <a:off x="6099936" y="3207031"/>
            <a:ext cx="958917" cy="338554"/>
          </a:xfrm>
          <a:prstGeom prst="rect">
            <a:avLst/>
          </a:prstGeom>
          <a:noFill/>
        </p:spPr>
        <p:txBody>
          <a:bodyPr wrap="none" rtlCol="0">
            <a:spAutoFit/>
          </a:bodyPr>
          <a:lstStyle/>
          <a:p>
            <a:r>
              <a:rPr lang="en-US" altLang="zh-CN" sz="1600" dirty="0"/>
              <a:t>unstable</a:t>
            </a:r>
            <a:endParaRPr lang="zh-CN" altLang="en-US" sz="1600" dirty="0"/>
          </a:p>
        </p:txBody>
      </p:sp>
      <p:sp>
        <p:nvSpPr>
          <p:cNvPr id="37" name="TextBox 36"/>
          <p:cNvSpPr txBox="1"/>
          <p:nvPr/>
        </p:nvSpPr>
        <p:spPr>
          <a:xfrm rot="3415319">
            <a:off x="7006877" y="3360346"/>
            <a:ext cx="1188146" cy="338554"/>
          </a:xfrm>
          <a:prstGeom prst="rect">
            <a:avLst/>
          </a:prstGeom>
          <a:noFill/>
        </p:spPr>
        <p:txBody>
          <a:bodyPr wrap="none" rtlCol="0">
            <a:spAutoFit/>
          </a:bodyPr>
          <a:lstStyle/>
          <a:p>
            <a:r>
              <a:rPr lang="en-US" altLang="zh-CN" sz="1600" dirty="0"/>
              <a:t>metastable</a:t>
            </a:r>
            <a:endParaRPr lang="zh-CN" altLang="en-US" sz="1600" dirty="0"/>
          </a:p>
        </p:txBody>
      </p:sp>
      <p:cxnSp>
        <p:nvCxnSpPr>
          <p:cNvPr id="34" name="直接连接符 33"/>
          <p:cNvCxnSpPr/>
          <p:nvPr/>
        </p:nvCxnSpPr>
        <p:spPr>
          <a:xfrm>
            <a:off x="1095376" y="2842908"/>
            <a:ext cx="1828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1409701" y="1156983"/>
            <a:ext cx="95250" cy="280035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071687" y="1152220"/>
            <a:ext cx="95250" cy="28003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 name="任意多边形 2"/>
          <p:cNvSpPr/>
          <p:nvPr/>
        </p:nvSpPr>
        <p:spPr>
          <a:xfrm>
            <a:off x="1419225" y="2324100"/>
            <a:ext cx="714375" cy="1057275"/>
          </a:xfrm>
          <a:custGeom>
            <a:avLst/>
            <a:gdLst>
              <a:gd name="connsiteX0" fmla="*/ 0 w 714375"/>
              <a:gd name="connsiteY0" fmla="*/ 1057275 h 1057275"/>
              <a:gd name="connsiteX1" fmla="*/ 228600 w 714375"/>
              <a:gd name="connsiteY1" fmla="*/ 771525 h 1057275"/>
              <a:gd name="connsiteX2" fmla="*/ 447675 w 714375"/>
              <a:gd name="connsiteY2" fmla="*/ 257175 h 1057275"/>
              <a:gd name="connsiteX3" fmla="*/ 714375 w 714375"/>
              <a:gd name="connsiteY3" fmla="*/ 0 h 1057275"/>
            </a:gdLst>
            <a:ahLst/>
            <a:cxnLst>
              <a:cxn ang="0">
                <a:pos x="connsiteX0" y="connsiteY0"/>
              </a:cxn>
              <a:cxn ang="0">
                <a:pos x="connsiteX1" y="connsiteY1"/>
              </a:cxn>
              <a:cxn ang="0">
                <a:pos x="connsiteX2" y="connsiteY2"/>
              </a:cxn>
              <a:cxn ang="0">
                <a:pos x="connsiteX3" y="connsiteY3"/>
              </a:cxn>
            </a:cxnLst>
            <a:rect l="l" t="t" r="r" b="b"/>
            <a:pathLst>
              <a:path w="714375" h="1057275">
                <a:moveTo>
                  <a:pt x="0" y="1057275"/>
                </a:moveTo>
                <a:cubicBezTo>
                  <a:pt x="76994" y="981075"/>
                  <a:pt x="153988" y="904875"/>
                  <a:pt x="228600" y="771525"/>
                </a:cubicBezTo>
                <a:cubicBezTo>
                  <a:pt x="303213" y="638175"/>
                  <a:pt x="366713" y="385762"/>
                  <a:pt x="447675" y="257175"/>
                </a:cubicBezTo>
                <a:cubicBezTo>
                  <a:pt x="528637" y="128588"/>
                  <a:pt x="639763" y="26987"/>
                  <a:pt x="714375" y="0"/>
                </a:cubicBezTo>
              </a:path>
            </a:pathLst>
          </a:cu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5" name="对象 4"/>
          <p:cNvGraphicFramePr>
            <a:graphicFrameLocks noChangeAspect="1"/>
          </p:cNvGraphicFramePr>
          <p:nvPr/>
        </p:nvGraphicFramePr>
        <p:xfrm>
          <a:off x="719138" y="5667375"/>
          <a:ext cx="1301750" cy="314325"/>
        </p:xfrm>
        <a:graphic>
          <a:graphicData uri="http://schemas.openxmlformats.org/presentationml/2006/ole">
            <mc:AlternateContent xmlns:mc="http://schemas.openxmlformats.org/markup-compatibility/2006">
              <mc:Choice xmlns:v="urn:schemas-microsoft-com:vml" Requires="v">
                <p:oleObj name="Equation" r:id="rId3" imgW="736560" imgH="177480" progId="Equation.DSMT4">
                  <p:embed/>
                </p:oleObj>
              </mc:Choice>
              <mc:Fallback>
                <p:oleObj name="Equation" r:id="rId3" imgW="736560" imgH="177480" progId="Equation.DSMT4">
                  <p:embed/>
                  <p:pic>
                    <p:nvPicPr>
                      <p:cNvPr id="5" name="对象 4"/>
                      <p:cNvPicPr>
                        <a:picLocks noChangeAspect="1" noChangeArrowheads="1"/>
                      </p:cNvPicPr>
                      <p:nvPr/>
                    </p:nvPicPr>
                    <p:blipFill>
                      <a:blip r:embed="rId4"/>
                      <a:srcRect/>
                      <a:stretch>
                        <a:fillRect/>
                      </a:stretch>
                    </p:blipFill>
                    <p:spPr bwMode="auto">
                      <a:xfrm>
                        <a:off x="719138" y="5667375"/>
                        <a:ext cx="13017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441528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687593"/>
            <a:ext cx="3533775"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 b="110"/>
          <a:stretch/>
        </p:blipFill>
        <p:spPr bwMode="auto">
          <a:xfrm>
            <a:off x="4082141" y="1687593"/>
            <a:ext cx="4681755" cy="3289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itle 1"/>
          <p:cNvSpPr txBox="1">
            <a:spLocks/>
          </p:cNvSpPr>
          <p:nvPr/>
        </p:nvSpPr>
        <p:spPr bwMode="auto">
          <a:xfrm>
            <a:off x="1073150" y="7937"/>
            <a:ext cx="5873750" cy="632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dirty="0">
                <a:solidFill>
                  <a:srgbClr val="FF0000"/>
                </a:solidFill>
                <a:latin typeface="Arial" charset="0"/>
                <a:cs typeface="Arial" charset="0"/>
              </a:rPr>
              <a:t>Maxwell construction</a:t>
            </a:r>
            <a:endParaRPr lang="en-US" dirty="0">
              <a:solidFill>
                <a:srgbClr val="FF0000"/>
              </a:solidFill>
            </a:endParaRPr>
          </a:p>
        </p:txBody>
      </p:sp>
    </p:spTree>
    <p:extLst>
      <p:ext uri="{BB962C8B-B14F-4D97-AF65-F5344CB8AC3E}">
        <p14:creationId xmlns:p14="http://schemas.microsoft.com/office/powerpoint/2010/main" val="2761598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5" name="Title 1"/>
          <p:cNvSpPr txBox="1">
            <a:spLocks/>
          </p:cNvSpPr>
          <p:nvPr/>
        </p:nvSpPr>
        <p:spPr bwMode="auto">
          <a:xfrm>
            <a:off x="964951" y="25795"/>
            <a:ext cx="7007226" cy="505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dirty="0">
                <a:solidFill>
                  <a:srgbClr val="FF0000"/>
                </a:solidFill>
                <a:latin typeface="Arial" charset="0"/>
                <a:cs typeface="Arial" charset="0"/>
              </a:rPr>
              <a:t>latent heat of van der Waals Gas </a:t>
            </a:r>
            <a:r>
              <a:rPr lang="en-US" sz="2800" dirty="0">
                <a:solidFill>
                  <a:srgbClr val="FF0000"/>
                </a:solidFill>
                <a:latin typeface="Arial" charset="0"/>
                <a:cs typeface="Arial" charset="0"/>
              </a:rPr>
              <a:t> </a:t>
            </a:r>
            <a:endParaRPr lang="en-US" sz="2800" dirty="0">
              <a:solidFill>
                <a:srgbClr val="FF0000"/>
              </a:solidFill>
            </a:endParaRPr>
          </a:p>
        </p:txBody>
      </p:sp>
      <p:graphicFrame>
        <p:nvGraphicFramePr>
          <p:cNvPr id="11" name="对象 10"/>
          <p:cNvGraphicFramePr>
            <a:graphicFrameLocks noChangeAspect="1"/>
          </p:cNvGraphicFramePr>
          <p:nvPr/>
        </p:nvGraphicFramePr>
        <p:xfrm>
          <a:off x="443552" y="1661597"/>
          <a:ext cx="3561347" cy="914400"/>
        </p:xfrm>
        <a:graphic>
          <a:graphicData uri="http://schemas.openxmlformats.org/presentationml/2006/ole">
            <mc:AlternateContent xmlns:mc="http://schemas.openxmlformats.org/markup-compatibility/2006">
              <mc:Choice xmlns:v="urn:schemas-microsoft-com:vml" Requires="v">
                <p:oleObj name="Equation" r:id="rId2" imgW="1879560" imgH="482400" progId="Equation.DSMT4">
                  <p:embed/>
                </p:oleObj>
              </mc:Choice>
              <mc:Fallback>
                <p:oleObj name="Equation" r:id="rId2" imgW="1879560" imgH="482400" progId="Equation.DSMT4">
                  <p:embed/>
                  <p:pic>
                    <p:nvPicPr>
                      <p:cNvPr id="11" name="对象 10"/>
                      <p:cNvPicPr/>
                      <p:nvPr/>
                    </p:nvPicPr>
                    <p:blipFill>
                      <a:blip r:embed="rId3"/>
                      <a:stretch>
                        <a:fillRect/>
                      </a:stretch>
                    </p:blipFill>
                    <p:spPr>
                      <a:xfrm>
                        <a:off x="443552" y="1661597"/>
                        <a:ext cx="3561347" cy="914400"/>
                      </a:xfrm>
                      <a:prstGeom prst="rect">
                        <a:avLst/>
                      </a:prstGeom>
                    </p:spPr>
                  </p:pic>
                </p:oleObj>
              </mc:Fallback>
            </mc:AlternateContent>
          </a:graphicData>
        </a:graphic>
      </p:graphicFrame>
      <p:sp>
        <p:nvSpPr>
          <p:cNvPr id="12" name="TextBox 11"/>
          <p:cNvSpPr txBox="1"/>
          <p:nvPr/>
        </p:nvSpPr>
        <p:spPr>
          <a:xfrm>
            <a:off x="335684" y="1139865"/>
            <a:ext cx="4644028" cy="369332"/>
          </a:xfrm>
          <a:prstGeom prst="rect">
            <a:avLst/>
          </a:prstGeom>
          <a:noFill/>
        </p:spPr>
        <p:txBody>
          <a:bodyPr wrap="none" rtlCol="0">
            <a:spAutoFit/>
          </a:bodyPr>
          <a:lstStyle/>
          <a:p>
            <a:r>
              <a:rPr lang="en-US" altLang="zh-CN" dirty="0"/>
              <a:t>Latent heat of Evaporation from liquid to vapor </a:t>
            </a:r>
            <a:endParaRPr lang="zh-CN" altLang="en-US" dirty="0"/>
          </a:p>
        </p:txBody>
      </p:sp>
      <p:graphicFrame>
        <p:nvGraphicFramePr>
          <p:cNvPr id="13" name="对象 12"/>
          <p:cNvGraphicFramePr>
            <a:graphicFrameLocks noChangeAspect="1"/>
          </p:cNvGraphicFramePr>
          <p:nvPr/>
        </p:nvGraphicFramePr>
        <p:xfrm>
          <a:off x="381000" y="3109397"/>
          <a:ext cx="2313214" cy="381000"/>
        </p:xfrm>
        <a:graphic>
          <a:graphicData uri="http://schemas.openxmlformats.org/presentationml/2006/ole">
            <mc:AlternateContent xmlns:mc="http://schemas.openxmlformats.org/markup-compatibility/2006">
              <mc:Choice xmlns:v="urn:schemas-microsoft-com:vml" Requires="v">
                <p:oleObj name="Equation" r:id="rId4" imgW="1079280" imgH="177480" progId="Equation.DSMT4">
                  <p:embed/>
                </p:oleObj>
              </mc:Choice>
              <mc:Fallback>
                <p:oleObj name="Equation" r:id="rId4" imgW="1079280" imgH="177480" progId="Equation.DSMT4">
                  <p:embed/>
                  <p:pic>
                    <p:nvPicPr>
                      <p:cNvPr id="13" name="对象 12"/>
                      <p:cNvPicPr/>
                      <p:nvPr/>
                    </p:nvPicPr>
                    <p:blipFill>
                      <a:blip r:embed="rId5"/>
                      <a:stretch>
                        <a:fillRect/>
                      </a:stretch>
                    </p:blipFill>
                    <p:spPr>
                      <a:xfrm>
                        <a:off x="381000" y="3109397"/>
                        <a:ext cx="2313214" cy="3810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971800" y="2956997"/>
          <a:ext cx="1939376" cy="762000"/>
        </p:xfrm>
        <a:graphic>
          <a:graphicData uri="http://schemas.openxmlformats.org/presentationml/2006/ole">
            <mc:AlternateContent xmlns:mc="http://schemas.openxmlformats.org/markup-compatibility/2006">
              <mc:Choice xmlns:v="urn:schemas-microsoft-com:vml" Requires="v">
                <p:oleObj name="Equation" r:id="rId6" imgW="1002960" imgH="393480" progId="Equation.DSMT4">
                  <p:embed/>
                </p:oleObj>
              </mc:Choice>
              <mc:Fallback>
                <p:oleObj name="Equation" r:id="rId6" imgW="1002960" imgH="393480" progId="Equation.DSMT4">
                  <p:embed/>
                  <p:pic>
                    <p:nvPicPr>
                      <p:cNvPr id="14" name="对象 13"/>
                      <p:cNvPicPr>
                        <a:picLocks noChangeAspect="1" noChangeArrowheads="1"/>
                      </p:cNvPicPr>
                      <p:nvPr/>
                    </p:nvPicPr>
                    <p:blipFill>
                      <a:blip r:embed="rId7"/>
                      <a:srcRect/>
                      <a:stretch>
                        <a:fillRect/>
                      </a:stretch>
                    </p:blipFill>
                    <p:spPr bwMode="auto">
                      <a:xfrm>
                        <a:off x="2971800" y="2956997"/>
                        <a:ext cx="1939376" cy="762000"/>
                      </a:xfrm>
                      <a:prstGeom prst="rect">
                        <a:avLst/>
                      </a:prstGeom>
                      <a:noFill/>
                      <a:ln>
                        <a:noFill/>
                      </a:ln>
                    </p:spPr>
                  </p:pic>
                </p:oleObj>
              </mc:Fallback>
            </mc:AlternateContent>
          </a:graphicData>
        </a:graphic>
      </p:graphicFrame>
      <p:graphicFrame>
        <p:nvGraphicFramePr>
          <p:cNvPr id="15" name="对象 14"/>
          <p:cNvGraphicFramePr>
            <a:graphicFrameLocks noChangeAspect="1"/>
          </p:cNvGraphicFramePr>
          <p:nvPr/>
        </p:nvGraphicFramePr>
        <p:xfrm>
          <a:off x="464333" y="4196572"/>
          <a:ext cx="1709738" cy="722313"/>
        </p:xfrm>
        <a:graphic>
          <a:graphicData uri="http://schemas.openxmlformats.org/presentationml/2006/ole">
            <mc:AlternateContent xmlns:mc="http://schemas.openxmlformats.org/markup-compatibility/2006">
              <mc:Choice xmlns:v="urn:schemas-microsoft-com:vml" Requires="v">
                <p:oleObj name="Equation" r:id="rId8" imgW="1054080" imgH="444240" progId="Equation.DSMT4">
                  <p:embed/>
                </p:oleObj>
              </mc:Choice>
              <mc:Fallback>
                <p:oleObj name="Equation" r:id="rId8" imgW="1054080" imgH="444240" progId="Equation.DSMT4">
                  <p:embed/>
                  <p:pic>
                    <p:nvPicPr>
                      <p:cNvPr id="15" name="对象 14"/>
                      <p:cNvPicPr>
                        <a:picLocks noChangeAspect="1" noChangeArrowheads="1"/>
                      </p:cNvPicPr>
                      <p:nvPr/>
                    </p:nvPicPr>
                    <p:blipFill>
                      <a:blip r:embed="rId9"/>
                      <a:srcRect/>
                      <a:stretch>
                        <a:fillRect/>
                      </a:stretch>
                    </p:blipFill>
                    <p:spPr bwMode="auto">
                      <a:xfrm>
                        <a:off x="464333" y="4196572"/>
                        <a:ext cx="1709738" cy="722313"/>
                      </a:xfrm>
                      <a:prstGeom prst="rect">
                        <a:avLst/>
                      </a:prstGeom>
                      <a:noFill/>
                      <a:ln>
                        <a:noFill/>
                      </a:ln>
                    </p:spPr>
                  </p:pic>
                </p:oleObj>
              </mc:Fallback>
            </mc:AlternateContent>
          </a:graphicData>
        </a:graphic>
      </p:graphicFrame>
      <p:sp>
        <p:nvSpPr>
          <p:cNvPr id="16" name="TextBox 15"/>
          <p:cNvSpPr txBox="1"/>
          <p:nvPr/>
        </p:nvSpPr>
        <p:spPr>
          <a:xfrm>
            <a:off x="378608" y="3761597"/>
            <a:ext cx="1957715" cy="369332"/>
          </a:xfrm>
          <a:prstGeom prst="rect">
            <a:avLst/>
          </a:prstGeom>
          <a:noFill/>
        </p:spPr>
        <p:txBody>
          <a:bodyPr wrap="none" rtlCol="0">
            <a:spAutoFit/>
          </a:bodyPr>
          <a:lstStyle/>
          <a:p>
            <a:r>
              <a:rPr lang="en-US" altLang="zh-CN" dirty="0"/>
              <a:t>Maxwell equations</a:t>
            </a:r>
            <a:endParaRPr lang="zh-CN" altLang="en-US" dirty="0"/>
          </a:p>
        </p:txBody>
      </p:sp>
      <p:graphicFrame>
        <p:nvGraphicFramePr>
          <p:cNvPr id="17" name="对象 16"/>
          <p:cNvGraphicFramePr>
            <a:graphicFrameLocks noChangeAspect="1"/>
          </p:cNvGraphicFramePr>
          <p:nvPr/>
        </p:nvGraphicFramePr>
        <p:xfrm>
          <a:off x="2902905" y="4248663"/>
          <a:ext cx="2076807" cy="765734"/>
        </p:xfrm>
        <a:graphic>
          <a:graphicData uri="http://schemas.openxmlformats.org/presentationml/2006/ole">
            <mc:AlternateContent xmlns:mc="http://schemas.openxmlformats.org/markup-compatibility/2006">
              <mc:Choice xmlns:v="urn:schemas-microsoft-com:vml" Requires="v">
                <p:oleObj name="Equation" r:id="rId10" imgW="1206360" imgH="444240" progId="Equation.DSMT4">
                  <p:embed/>
                </p:oleObj>
              </mc:Choice>
              <mc:Fallback>
                <p:oleObj name="Equation" r:id="rId10" imgW="1206360" imgH="444240" progId="Equation.DSMT4">
                  <p:embed/>
                  <p:pic>
                    <p:nvPicPr>
                      <p:cNvPr id="17" name="对象 16"/>
                      <p:cNvPicPr>
                        <a:picLocks noChangeAspect="1" noChangeArrowheads="1"/>
                      </p:cNvPicPr>
                      <p:nvPr/>
                    </p:nvPicPr>
                    <p:blipFill>
                      <a:blip r:embed="rId11"/>
                      <a:srcRect/>
                      <a:stretch>
                        <a:fillRect/>
                      </a:stretch>
                    </p:blipFill>
                    <p:spPr bwMode="auto">
                      <a:xfrm>
                        <a:off x="2902905" y="4248663"/>
                        <a:ext cx="2076807" cy="765734"/>
                      </a:xfrm>
                      <a:prstGeom prst="rect">
                        <a:avLst/>
                      </a:prstGeom>
                      <a:noFill/>
                      <a:ln>
                        <a:noFill/>
                      </a:ln>
                    </p:spPr>
                  </p:pic>
                </p:oleObj>
              </mc:Fallback>
            </mc:AlternateContent>
          </a:graphicData>
        </a:graphic>
      </p:graphicFrame>
      <p:graphicFrame>
        <p:nvGraphicFramePr>
          <p:cNvPr id="18" name="对象 17"/>
          <p:cNvGraphicFramePr>
            <a:graphicFrameLocks noChangeAspect="1"/>
          </p:cNvGraphicFramePr>
          <p:nvPr/>
        </p:nvGraphicFramePr>
        <p:xfrm>
          <a:off x="612775" y="5622410"/>
          <a:ext cx="1746250" cy="763587"/>
        </p:xfrm>
        <a:graphic>
          <a:graphicData uri="http://schemas.openxmlformats.org/presentationml/2006/ole">
            <mc:AlternateContent xmlns:mc="http://schemas.openxmlformats.org/markup-compatibility/2006">
              <mc:Choice xmlns:v="urn:schemas-microsoft-com:vml" Requires="v">
                <p:oleObj name="Equation" r:id="rId12" imgW="1015559" imgH="444307" progId="Equation.DSMT4">
                  <p:embed/>
                </p:oleObj>
              </mc:Choice>
              <mc:Fallback>
                <p:oleObj name="Equation" r:id="rId12" imgW="1015559" imgH="444307" progId="Equation.DSMT4">
                  <p:embed/>
                  <p:pic>
                    <p:nvPicPr>
                      <p:cNvPr id="18" name="对象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2775" y="5622410"/>
                        <a:ext cx="1746250"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矩形 18"/>
          <p:cNvSpPr/>
          <p:nvPr/>
        </p:nvSpPr>
        <p:spPr>
          <a:xfrm>
            <a:off x="464333" y="5242997"/>
            <a:ext cx="2038122" cy="338554"/>
          </a:xfrm>
          <a:prstGeom prst="rect">
            <a:avLst/>
          </a:prstGeom>
        </p:spPr>
        <p:txBody>
          <a:bodyPr wrap="none">
            <a:spAutoFit/>
          </a:bodyPr>
          <a:lstStyle/>
          <a:p>
            <a:r>
              <a:rPr lang="en-US" altLang="zh-CN" sz="1600" dirty="0">
                <a:latin typeface="Arial" charset="0"/>
                <a:cs typeface="Arial" charset="0"/>
              </a:rPr>
              <a:t>van der Waals Gas  </a:t>
            </a:r>
            <a:endParaRPr lang="en-US" altLang="zh-CN" sz="1600" dirty="0"/>
          </a:p>
        </p:txBody>
      </p:sp>
      <p:graphicFrame>
        <p:nvGraphicFramePr>
          <p:cNvPr id="20" name="对象 19"/>
          <p:cNvGraphicFramePr>
            <a:graphicFrameLocks noChangeAspect="1"/>
          </p:cNvGraphicFramePr>
          <p:nvPr/>
        </p:nvGraphicFramePr>
        <p:xfrm>
          <a:off x="3048000" y="5623997"/>
          <a:ext cx="1397000" cy="763587"/>
        </p:xfrm>
        <a:graphic>
          <a:graphicData uri="http://schemas.openxmlformats.org/presentationml/2006/ole">
            <mc:AlternateContent xmlns:mc="http://schemas.openxmlformats.org/markup-compatibility/2006">
              <mc:Choice xmlns:v="urn:schemas-microsoft-com:vml" Requires="v">
                <p:oleObj name="Equation" r:id="rId14" imgW="812520" imgH="444240" progId="Equation.DSMT4">
                  <p:embed/>
                </p:oleObj>
              </mc:Choice>
              <mc:Fallback>
                <p:oleObj name="Equation" r:id="rId14" imgW="812520" imgH="444240" progId="Equation.DSMT4">
                  <p:embed/>
                  <p:pic>
                    <p:nvPicPr>
                      <p:cNvPr id="20" name="对象 19"/>
                      <p:cNvPicPr>
                        <a:picLocks noChangeAspect="1" noChangeArrowheads="1"/>
                      </p:cNvPicPr>
                      <p:nvPr/>
                    </p:nvPicPr>
                    <p:blipFill>
                      <a:blip r:embed="rId15"/>
                      <a:srcRect/>
                      <a:stretch>
                        <a:fillRect/>
                      </a:stretch>
                    </p:blipFill>
                    <p:spPr bwMode="auto">
                      <a:xfrm>
                        <a:off x="3048000" y="5623997"/>
                        <a:ext cx="1397000"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5988638" y="1509197"/>
          <a:ext cx="1071562" cy="677862"/>
        </p:xfrm>
        <a:graphic>
          <a:graphicData uri="http://schemas.openxmlformats.org/presentationml/2006/ole">
            <mc:AlternateContent xmlns:mc="http://schemas.openxmlformats.org/markup-compatibility/2006">
              <mc:Choice xmlns:v="urn:schemas-microsoft-com:vml" Requires="v">
                <p:oleObj name="Equation" r:id="rId16" imgW="622080" imgH="393480" progId="Equation.DSMT4">
                  <p:embed/>
                </p:oleObj>
              </mc:Choice>
              <mc:Fallback>
                <p:oleObj name="Equation" r:id="rId16" imgW="622080" imgH="393480" progId="Equation.DSMT4">
                  <p:embed/>
                  <p:pic>
                    <p:nvPicPr>
                      <p:cNvPr id="21" name="对象 20"/>
                      <p:cNvPicPr>
                        <a:picLocks noChangeAspect="1" noChangeArrowheads="1"/>
                      </p:cNvPicPr>
                      <p:nvPr/>
                    </p:nvPicPr>
                    <p:blipFill>
                      <a:blip r:embed="rId17"/>
                      <a:srcRect/>
                      <a:stretch>
                        <a:fillRect/>
                      </a:stretch>
                    </p:blipFill>
                    <p:spPr bwMode="auto">
                      <a:xfrm>
                        <a:off x="5988638" y="1509197"/>
                        <a:ext cx="1071562"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5943600" y="2271197"/>
          <a:ext cx="1662112" cy="677863"/>
        </p:xfrm>
        <a:graphic>
          <a:graphicData uri="http://schemas.openxmlformats.org/presentationml/2006/ole">
            <mc:AlternateContent xmlns:mc="http://schemas.openxmlformats.org/markup-compatibility/2006">
              <mc:Choice xmlns:v="urn:schemas-microsoft-com:vml" Requires="v">
                <p:oleObj name="Equation" r:id="rId18" imgW="965160" imgH="393480" progId="Equation.DSMT4">
                  <p:embed/>
                </p:oleObj>
              </mc:Choice>
              <mc:Fallback>
                <p:oleObj name="Equation" r:id="rId18" imgW="965160" imgH="393480" progId="Equation.DSMT4">
                  <p:embed/>
                  <p:pic>
                    <p:nvPicPr>
                      <p:cNvPr id="22" name="对象 21"/>
                      <p:cNvPicPr>
                        <a:picLocks noChangeAspect="1" noChangeArrowheads="1"/>
                      </p:cNvPicPr>
                      <p:nvPr/>
                    </p:nvPicPr>
                    <p:blipFill>
                      <a:blip r:embed="rId19"/>
                      <a:srcRect/>
                      <a:stretch>
                        <a:fillRect/>
                      </a:stretch>
                    </p:blipFill>
                    <p:spPr bwMode="auto">
                      <a:xfrm>
                        <a:off x="5943600" y="2271197"/>
                        <a:ext cx="1662112"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nvGraphicFramePr>
        <p:xfrm>
          <a:off x="5513387" y="3111648"/>
          <a:ext cx="3603625" cy="834615"/>
        </p:xfrm>
        <a:graphic>
          <a:graphicData uri="http://schemas.openxmlformats.org/presentationml/2006/ole">
            <mc:AlternateContent xmlns:mc="http://schemas.openxmlformats.org/markup-compatibility/2006">
              <mc:Choice xmlns:v="urn:schemas-microsoft-com:vml" Requires="v">
                <p:oleObj name="Equation" r:id="rId20" imgW="2082600" imgH="482400" progId="Equation.DSMT4">
                  <p:embed/>
                </p:oleObj>
              </mc:Choice>
              <mc:Fallback>
                <p:oleObj name="Equation" r:id="rId20" imgW="2082600" imgH="482400" progId="Equation.DSMT4">
                  <p:embed/>
                  <p:pic>
                    <p:nvPicPr>
                      <p:cNvPr id="23" name="对象 22"/>
                      <p:cNvPicPr>
                        <a:picLocks noChangeAspect="1" noChangeArrowheads="1"/>
                      </p:cNvPicPr>
                      <p:nvPr/>
                    </p:nvPicPr>
                    <p:blipFill>
                      <a:blip r:embed="rId21"/>
                      <a:srcRect/>
                      <a:stretch>
                        <a:fillRect/>
                      </a:stretch>
                    </p:blipFill>
                    <p:spPr bwMode="auto">
                      <a:xfrm>
                        <a:off x="5513387" y="3111648"/>
                        <a:ext cx="3603625" cy="834615"/>
                      </a:xfrm>
                      <a:prstGeom prst="rect">
                        <a:avLst/>
                      </a:prstGeom>
                      <a:noFill/>
                      <a:ln>
                        <a:noFill/>
                      </a:ln>
                    </p:spPr>
                  </p:pic>
                </p:oleObj>
              </mc:Fallback>
            </mc:AlternateContent>
          </a:graphicData>
        </a:graphic>
      </p:graphicFrame>
      <p:sp>
        <p:nvSpPr>
          <p:cNvPr id="25" name="TextBox 24"/>
          <p:cNvSpPr txBox="1"/>
          <p:nvPr/>
        </p:nvSpPr>
        <p:spPr>
          <a:xfrm>
            <a:off x="5486400" y="4243467"/>
            <a:ext cx="3657600" cy="923330"/>
          </a:xfrm>
          <a:prstGeom prst="rect">
            <a:avLst/>
          </a:prstGeom>
          <a:noFill/>
        </p:spPr>
        <p:txBody>
          <a:bodyPr wrap="square" rtlCol="0">
            <a:spAutoFit/>
          </a:bodyPr>
          <a:lstStyle/>
          <a:p>
            <a:r>
              <a:rPr lang="en-US" altLang="zh-CN" i="1" dirty="0">
                <a:solidFill>
                  <a:srgbClr val="FF0000"/>
                </a:solidFill>
              </a:rPr>
              <a:t>Latent heat of Evaporation rapidly falls to zero when the temperature approaches to </a:t>
            </a:r>
            <a:r>
              <a:rPr lang="en-US" altLang="zh-CN" i="1" dirty="0" err="1">
                <a:solidFill>
                  <a:srgbClr val="FF0000"/>
                </a:solidFill>
              </a:rPr>
              <a:t>T</a:t>
            </a:r>
            <a:r>
              <a:rPr lang="en-US" altLang="zh-CN" i="1" baseline="-25000" dirty="0" err="1">
                <a:solidFill>
                  <a:srgbClr val="FF0000"/>
                </a:solidFill>
              </a:rPr>
              <a:t>cr</a:t>
            </a:r>
            <a:endParaRPr lang="zh-CN" altLang="en-US" i="1" dirty="0">
              <a:solidFill>
                <a:srgbClr val="FF0000"/>
              </a:solidFill>
            </a:endParaRPr>
          </a:p>
        </p:txBody>
      </p:sp>
    </p:spTree>
    <p:extLst>
      <p:ext uri="{BB962C8B-B14F-4D97-AF65-F5344CB8AC3E}">
        <p14:creationId xmlns:p14="http://schemas.microsoft.com/office/powerpoint/2010/main" val="36230912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13380" y="153879"/>
            <a:ext cx="5681363" cy="461665"/>
          </a:xfrm>
          <a:prstGeom prst="rect">
            <a:avLst/>
          </a:prstGeom>
        </p:spPr>
        <p:txBody>
          <a:bodyPr wrap="none">
            <a:spAutoFit/>
          </a:bodyPr>
          <a:lstStyle/>
          <a:p>
            <a:pPr fontAlgn="base"/>
            <a:r>
              <a:rPr lang="en-US" altLang="zh-CN" sz="2400" dirty="0">
                <a:solidFill>
                  <a:srgbClr val="FF0000"/>
                </a:solidFill>
                <a:latin typeface="+mj-lt"/>
              </a:rPr>
              <a:t>Redlich-</a:t>
            </a:r>
            <a:r>
              <a:rPr lang="en-US" altLang="zh-CN" sz="2400" dirty="0" err="1">
                <a:solidFill>
                  <a:srgbClr val="FF0000"/>
                </a:solidFill>
                <a:latin typeface="+mj-lt"/>
              </a:rPr>
              <a:t>Kwong</a:t>
            </a:r>
            <a:r>
              <a:rPr lang="en-US" altLang="zh-CN" sz="2400" dirty="0">
                <a:solidFill>
                  <a:srgbClr val="FF0000"/>
                </a:solidFill>
                <a:latin typeface="+mj-lt"/>
              </a:rPr>
              <a:t> Equation of State (1949)</a:t>
            </a:r>
            <a:endParaRPr lang="en-US" altLang="zh-CN" sz="2400" b="0" i="0" dirty="0">
              <a:solidFill>
                <a:srgbClr val="FF0000"/>
              </a:solidFill>
              <a:effectLst/>
              <a:latin typeface="+mj-lt"/>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884997688"/>
              </p:ext>
            </p:extLst>
          </p:nvPr>
        </p:nvGraphicFramePr>
        <p:xfrm>
          <a:off x="1640030" y="1401384"/>
          <a:ext cx="2335212" cy="739775"/>
        </p:xfrm>
        <a:graphic>
          <a:graphicData uri="http://schemas.openxmlformats.org/presentationml/2006/ole">
            <mc:AlternateContent xmlns:mc="http://schemas.openxmlformats.org/markup-compatibility/2006">
              <mc:Choice xmlns:v="urn:schemas-microsoft-com:vml" Requires="v">
                <p:oleObj name="Equation" r:id="rId3" imgW="1358640" imgH="431640" progId="Equation.DSMT4">
                  <p:embed/>
                </p:oleObj>
              </mc:Choice>
              <mc:Fallback>
                <p:oleObj name="Equation" r:id="rId3" imgW="1358640" imgH="431640" progId="Equation.DSMT4">
                  <p:embed/>
                  <p:pic>
                    <p:nvPicPr>
                      <p:cNvPr id="3"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0030" y="1401384"/>
                        <a:ext cx="2335212"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p:nvPr/>
        </p:nvSpPr>
        <p:spPr>
          <a:xfrm>
            <a:off x="175491" y="935637"/>
            <a:ext cx="2623923" cy="338554"/>
          </a:xfrm>
          <a:prstGeom prst="rect">
            <a:avLst/>
          </a:prstGeom>
        </p:spPr>
        <p:txBody>
          <a:bodyPr wrap="none">
            <a:spAutoFit/>
          </a:bodyPr>
          <a:lstStyle/>
          <a:p>
            <a:pPr marL="285750" indent="-285750">
              <a:buFont typeface="Arial" panose="020B0604020202020204" pitchFamily="34" charset="0"/>
              <a:buChar char="•"/>
              <a:tabLst>
                <a:tab pos="1447800" algn="l"/>
              </a:tabLst>
            </a:pPr>
            <a:r>
              <a:rPr lang="en-US" altLang="zh-CN" sz="1600" i="1" dirty="0">
                <a:solidFill>
                  <a:srgbClr val="FF0000"/>
                </a:solidFill>
                <a:ea typeface="宋体" charset="-122"/>
              </a:rPr>
              <a:t>van der Waals equation</a:t>
            </a:r>
            <a:endParaRPr lang="zh-CN" altLang="en-US" sz="1600" dirty="0">
              <a:solidFill>
                <a:srgbClr val="FF0000"/>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197499874"/>
              </p:ext>
            </p:extLst>
          </p:nvPr>
        </p:nvGraphicFramePr>
        <p:xfrm>
          <a:off x="5557299" y="1681396"/>
          <a:ext cx="2274887" cy="730250"/>
        </p:xfrm>
        <a:graphic>
          <a:graphicData uri="http://schemas.openxmlformats.org/presentationml/2006/ole">
            <mc:AlternateContent xmlns:mc="http://schemas.openxmlformats.org/markup-compatibility/2006">
              <mc:Choice xmlns:v="urn:schemas-microsoft-com:vml" Requires="v">
                <p:oleObj name="Equation" r:id="rId5" imgW="1498320" imgH="482400" progId="Equation.DSMT4">
                  <p:embed/>
                </p:oleObj>
              </mc:Choice>
              <mc:Fallback>
                <p:oleObj name="Equation" r:id="rId5" imgW="1498320" imgH="482400" progId="Equation.DSMT4">
                  <p:embed/>
                  <p:pic>
                    <p:nvPicPr>
                      <p:cNvPr id="6" name="对象 5"/>
                      <p:cNvPicPr>
                        <a:picLocks noChangeAspect="1" noChangeArrowheads="1"/>
                      </p:cNvPicPr>
                      <p:nvPr/>
                    </p:nvPicPr>
                    <p:blipFill>
                      <a:blip r:embed="rId6"/>
                      <a:srcRect/>
                      <a:stretch>
                        <a:fillRect/>
                      </a:stretch>
                    </p:blipFill>
                    <p:spPr bwMode="auto">
                      <a:xfrm>
                        <a:off x="5557299" y="1681396"/>
                        <a:ext cx="2274887" cy="730250"/>
                      </a:xfrm>
                      <a:prstGeom prst="rect">
                        <a:avLst/>
                      </a:prstGeom>
                      <a:noFill/>
                      <a:ln>
                        <a:solidFill>
                          <a:srgbClr val="FF0000"/>
                        </a:solidFill>
                      </a:ln>
                    </p:spPr>
                  </p:pic>
                </p:oleObj>
              </mc:Fallback>
            </mc:AlternateContent>
          </a:graphicData>
        </a:graphic>
      </p:graphicFrame>
      <p:sp>
        <p:nvSpPr>
          <p:cNvPr id="7" name="文本框 6"/>
          <p:cNvSpPr txBox="1"/>
          <p:nvPr/>
        </p:nvSpPr>
        <p:spPr>
          <a:xfrm>
            <a:off x="708342" y="5622537"/>
            <a:ext cx="7297832" cy="646331"/>
          </a:xfrm>
          <a:prstGeom prst="rect">
            <a:avLst/>
          </a:prstGeom>
          <a:noFill/>
        </p:spPr>
        <p:txBody>
          <a:bodyPr wrap="none" rtlCol="0">
            <a:spAutoFit/>
          </a:bodyPr>
          <a:lstStyle/>
          <a:p>
            <a:r>
              <a:rPr lang="en-US" altLang="zh-CN" dirty="0">
                <a:solidFill>
                  <a:schemeClr val="accent6">
                    <a:lumMod val="75000"/>
                  </a:schemeClr>
                </a:solidFill>
              </a:rPr>
              <a:t>Home work: </a:t>
            </a:r>
          </a:p>
          <a:p>
            <a:r>
              <a:rPr lang="en-US" altLang="zh-CN" dirty="0"/>
              <a:t>derive the reduced equation of state</a:t>
            </a:r>
            <a:r>
              <a:rPr lang="zh-CN" altLang="en-US" dirty="0"/>
              <a:t> </a:t>
            </a:r>
            <a:r>
              <a:rPr lang="en-US" altLang="zh-CN" dirty="0"/>
              <a:t>for the </a:t>
            </a:r>
            <a:r>
              <a:rPr lang="en-US" altLang="zh-CN" dirty="0" err="1"/>
              <a:t>Pedlich-Kwong’s</a:t>
            </a:r>
            <a:r>
              <a:rPr lang="en-US" altLang="zh-CN" dirty="0"/>
              <a:t> equation</a:t>
            </a:r>
            <a:endParaRPr lang="zh-CN" altLang="en-US" dirty="0"/>
          </a:p>
        </p:txBody>
      </p:sp>
      <p:graphicFrame>
        <p:nvGraphicFramePr>
          <p:cNvPr id="9" name="对象 8">
            <a:extLst>
              <a:ext uri="{FF2B5EF4-FFF2-40B4-BE49-F238E27FC236}">
                <a16:creationId xmlns:a16="http://schemas.microsoft.com/office/drawing/2014/main" id="{C79DA0E9-3514-4BA9-89EF-1CB228029D06}"/>
              </a:ext>
            </a:extLst>
          </p:cNvPr>
          <p:cNvGraphicFramePr>
            <a:graphicFrameLocks noChangeAspect="1"/>
          </p:cNvGraphicFramePr>
          <p:nvPr>
            <p:extLst>
              <p:ext uri="{D42A27DB-BD31-4B8C-83A1-F6EECF244321}">
                <p14:modId xmlns:p14="http://schemas.microsoft.com/office/powerpoint/2010/main" val="2296518298"/>
              </p:ext>
            </p:extLst>
          </p:nvPr>
        </p:nvGraphicFramePr>
        <p:xfrm>
          <a:off x="1640030" y="2141159"/>
          <a:ext cx="1746250" cy="760412"/>
        </p:xfrm>
        <a:graphic>
          <a:graphicData uri="http://schemas.openxmlformats.org/presentationml/2006/ole">
            <mc:AlternateContent xmlns:mc="http://schemas.openxmlformats.org/markup-compatibility/2006">
              <mc:Choice xmlns:v="urn:schemas-microsoft-com:vml" Requires="v">
                <p:oleObj name="Equation" r:id="rId7" imgW="1015920" imgH="444240" progId="Equation.DSMT4">
                  <p:embed/>
                </p:oleObj>
              </mc:Choice>
              <mc:Fallback>
                <p:oleObj name="Equation" r:id="rId7" imgW="1015920" imgH="444240" progId="Equation.DSMT4">
                  <p:embed/>
                  <p:pic>
                    <p:nvPicPr>
                      <p:cNvPr id="3" name="对象 2"/>
                      <p:cNvPicPr>
                        <a:picLocks noChangeAspect="1" noChangeArrowheads="1"/>
                      </p:cNvPicPr>
                      <p:nvPr/>
                    </p:nvPicPr>
                    <p:blipFill>
                      <a:blip r:embed="rId8"/>
                      <a:srcRect/>
                      <a:stretch>
                        <a:fillRect/>
                      </a:stretch>
                    </p:blipFill>
                    <p:spPr bwMode="auto">
                      <a:xfrm>
                        <a:off x="1640030" y="2141159"/>
                        <a:ext cx="174625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文本框 10">
            <a:extLst>
              <a:ext uri="{FF2B5EF4-FFF2-40B4-BE49-F238E27FC236}">
                <a16:creationId xmlns:a16="http://schemas.microsoft.com/office/drawing/2014/main" id="{AC13B500-54E3-4D03-936C-74BD8F13D0F0}"/>
              </a:ext>
            </a:extLst>
          </p:cNvPr>
          <p:cNvSpPr txBox="1"/>
          <p:nvPr/>
        </p:nvSpPr>
        <p:spPr>
          <a:xfrm>
            <a:off x="175546" y="3195717"/>
            <a:ext cx="6049818" cy="369332"/>
          </a:xfrm>
          <a:prstGeom prst="rect">
            <a:avLst/>
          </a:prstGeom>
          <a:noFill/>
        </p:spPr>
        <p:txBody>
          <a:bodyPr wrap="square">
            <a:spAutoFit/>
          </a:bodyPr>
          <a:lstStyle/>
          <a:p>
            <a:pPr marL="285750" indent="-285750">
              <a:buFont typeface="Arial" panose="020B0604020202020204" pitchFamily="34" charset="0"/>
              <a:buChar char="•"/>
            </a:pPr>
            <a:r>
              <a:rPr lang="en-US" altLang="zh-CN" sz="1800" dirty="0">
                <a:solidFill>
                  <a:srgbClr val="FF0000"/>
                </a:solidFill>
                <a:latin typeface="+mj-lt"/>
              </a:rPr>
              <a:t>Redlich-</a:t>
            </a:r>
            <a:r>
              <a:rPr lang="en-US" altLang="zh-CN" sz="1800" dirty="0" err="1">
                <a:solidFill>
                  <a:srgbClr val="FF0000"/>
                </a:solidFill>
                <a:latin typeface="+mj-lt"/>
              </a:rPr>
              <a:t>Kwong</a:t>
            </a:r>
            <a:r>
              <a:rPr lang="en-US" altLang="zh-CN" sz="1800" dirty="0">
                <a:solidFill>
                  <a:srgbClr val="FF0000"/>
                </a:solidFill>
                <a:latin typeface="+mj-lt"/>
              </a:rPr>
              <a:t> Equation </a:t>
            </a:r>
            <a:endParaRPr lang="zh-CN" altLang="en-US" dirty="0"/>
          </a:p>
        </p:txBody>
      </p:sp>
      <p:graphicFrame>
        <p:nvGraphicFramePr>
          <p:cNvPr id="12" name="对象 11">
            <a:extLst>
              <a:ext uri="{FF2B5EF4-FFF2-40B4-BE49-F238E27FC236}">
                <a16:creationId xmlns:a16="http://schemas.microsoft.com/office/drawing/2014/main" id="{8E3BAC73-FD15-4EA5-9209-E3687A51573D}"/>
              </a:ext>
            </a:extLst>
          </p:cNvPr>
          <p:cNvGraphicFramePr>
            <a:graphicFrameLocks noChangeAspect="1"/>
          </p:cNvGraphicFramePr>
          <p:nvPr>
            <p:extLst>
              <p:ext uri="{D42A27DB-BD31-4B8C-83A1-F6EECF244321}">
                <p14:modId xmlns:p14="http://schemas.microsoft.com/office/powerpoint/2010/main" val="3451769674"/>
              </p:ext>
            </p:extLst>
          </p:nvPr>
        </p:nvGraphicFramePr>
        <p:xfrm>
          <a:off x="1028700" y="3886200"/>
          <a:ext cx="2684463" cy="782638"/>
        </p:xfrm>
        <a:graphic>
          <a:graphicData uri="http://schemas.openxmlformats.org/presentationml/2006/ole">
            <mc:AlternateContent xmlns:mc="http://schemas.openxmlformats.org/markup-compatibility/2006">
              <mc:Choice xmlns:v="urn:schemas-microsoft-com:vml" Requires="v">
                <p:oleObj name="Equation" r:id="rId9" imgW="1562040" imgH="457200" progId="Equation.DSMT4">
                  <p:embed/>
                </p:oleObj>
              </mc:Choice>
              <mc:Fallback>
                <p:oleObj name="Equation" r:id="rId9" imgW="1562040" imgH="457200" progId="Equation.DSMT4">
                  <p:embed/>
                  <p:pic>
                    <p:nvPicPr>
                      <p:cNvPr id="9" name="对象 8">
                        <a:extLst>
                          <a:ext uri="{FF2B5EF4-FFF2-40B4-BE49-F238E27FC236}">
                            <a16:creationId xmlns:a16="http://schemas.microsoft.com/office/drawing/2014/main" id="{C79DA0E9-3514-4BA9-89EF-1CB228029D06}"/>
                          </a:ext>
                        </a:extLst>
                      </p:cNvPr>
                      <p:cNvPicPr>
                        <a:picLocks noChangeAspect="1" noChangeArrowheads="1"/>
                      </p:cNvPicPr>
                      <p:nvPr/>
                    </p:nvPicPr>
                    <p:blipFill>
                      <a:blip r:embed="rId10"/>
                      <a:srcRect/>
                      <a:stretch>
                        <a:fillRect/>
                      </a:stretch>
                    </p:blipFill>
                    <p:spPr bwMode="auto">
                      <a:xfrm>
                        <a:off x="1028700" y="3886200"/>
                        <a:ext cx="2684463"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342195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152400" y="1461264"/>
            <a:ext cx="26196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000" b="1" i="1" dirty="0">
                <a:solidFill>
                  <a:srgbClr val="0000FF"/>
                </a:solidFill>
                <a:ea typeface="宋体" charset="-122"/>
              </a:rPr>
              <a:t>Beattie-Bridgeman:</a:t>
            </a:r>
            <a:r>
              <a:rPr lang="en-US" altLang="zh-CN" sz="2000" b="1" dirty="0">
                <a:solidFill>
                  <a:srgbClr val="0000FF"/>
                </a:solidFill>
                <a:ea typeface="宋体" charset="-122"/>
              </a:rPr>
              <a:t> </a:t>
            </a:r>
          </a:p>
        </p:txBody>
      </p:sp>
      <p:pic>
        <p:nvPicPr>
          <p:cNvPr id="1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782762"/>
            <a:ext cx="35433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6"/>
          <p:cNvSpPr>
            <a:spLocks noChangeArrowheads="1"/>
          </p:cNvSpPr>
          <p:nvPr/>
        </p:nvSpPr>
        <p:spPr bwMode="auto">
          <a:xfrm>
            <a:off x="260350" y="2544762"/>
            <a:ext cx="806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tabLst>
                <a:tab pos="800100" algn="l"/>
                <a:tab pos="1943100" algn="l"/>
                <a:tab pos="2387600" algn="l"/>
              </a:tabLst>
            </a:pPr>
            <a:r>
              <a:rPr lang="en-US" altLang="zh-CN" dirty="0">
                <a:ea typeface="宋体" charset="-122"/>
              </a:rPr>
              <a:t>where</a:t>
            </a:r>
          </a:p>
        </p:txBody>
      </p:sp>
      <p:pic>
        <p:nvPicPr>
          <p:cNvPr id="1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849562"/>
            <a:ext cx="431482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8"/>
          <p:cNvSpPr>
            <a:spLocks noChangeArrowheads="1"/>
          </p:cNvSpPr>
          <p:nvPr/>
        </p:nvSpPr>
        <p:spPr bwMode="auto">
          <a:xfrm>
            <a:off x="65873" y="3701961"/>
            <a:ext cx="806252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indent="228600">
              <a:tabLst>
                <a:tab pos="800100" algn="l"/>
                <a:tab pos="1943100" algn="l"/>
                <a:tab pos="2387600" algn="l"/>
              </a:tabLst>
            </a:pPr>
            <a:r>
              <a:rPr lang="en-US" altLang="zh-CN" dirty="0">
                <a:ea typeface="宋体" charset="-122"/>
              </a:rPr>
              <a:t>The constants </a:t>
            </a:r>
            <a:r>
              <a:rPr lang="en-US" altLang="zh-CN" i="1" dirty="0">
                <a:ea typeface="宋体" charset="-122"/>
              </a:rPr>
              <a:t>a</a:t>
            </a:r>
            <a:r>
              <a:rPr lang="en-US" altLang="zh-CN" dirty="0">
                <a:ea typeface="宋体" charset="-122"/>
              </a:rPr>
              <a:t>, </a:t>
            </a:r>
            <a:r>
              <a:rPr lang="en-US" altLang="zh-CN" i="1" dirty="0">
                <a:ea typeface="宋体" charset="-122"/>
              </a:rPr>
              <a:t>b</a:t>
            </a:r>
            <a:r>
              <a:rPr lang="en-US" altLang="zh-CN" dirty="0">
                <a:ea typeface="宋体" charset="-122"/>
              </a:rPr>
              <a:t>, </a:t>
            </a:r>
            <a:r>
              <a:rPr lang="en-US" altLang="zh-CN" i="1" dirty="0">
                <a:ea typeface="宋体" charset="-122"/>
              </a:rPr>
              <a:t>c</a:t>
            </a:r>
            <a:r>
              <a:rPr lang="en-US" altLang="zh-CN" dirty="0">
                <a:ea typeface="宋体" charset="-122"/>
              </a:rPr>
              <a:t>, </a:t>
            </a:r>
            <a:r>
              <a:rPr lang="en-US" altLang="zh-CN" i="1" dirty="0" err="1">
                <a:ea typeface="宋体" charset="-122"/>
              </a:rPr>
              <a:t>A</a:t>
            </a:r>
            <a:r>
              <a:rPr lang="en-US" altLang="zh-CN" baseline="-25000" dirty="0" err="1">
                <a:ea typeface="宋体" charset="-122"/>
              </a:rPr>
              <a:t>o</a:t>
            </a:r>
            <a:r>
              <a:rPr lang="en-US" altLang="zh-CN" dirty="0">
                <a:ea typeface="宋体" charset="-122"/>
              </a:rPr>
              <a:t>, </a:t>
            </a:r>
            <a:r>
              <a:rPr lang="en-US" altLang="zh-CN" i="1" dirty="0">
                <a:ea typeface="宋体" charset="-122"/>
              </a:rPr>
              <a:t>B</a:t>
            </a:r>
            <a:r>
              <a:rPr lang="en-US" altLang="zh-CN" dirty="0">
                <a:ea typeface="宋体" charset="-122"/>
              </a:rPr>
              <a:t>o for various substances are found in Table 3-4.</a:t>
            </a:r>
          </a:p>
          <a:p>
            <a:pPr indent="228600">
              <a:tabLst>
                <a:tab pos="800100" algn="l"/>
                <a:tab pos="1943100" algn="l"/>
                <a:tab pos="2387600" algn="l"/>
              </a:tabLst>
            </a:pPr>
            <a:endParaRPr lang="en-US" altLang="zh-CN" dirty="0">
              <a:ea typeface="宋体" charset="-122"/>
            </a:endParaRPr>
          </a:p>
        </p:txBody>
      </p:sp>
      <p:pic>
        <p:nvPicPr>
          <p:cNvPr id="1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4602162"/>
            <a:ext cx="4876800"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矩形 19"/>
          <p:cNvSpPr/>
          <p:nvPr/>
        </p:nvSpPr>
        <p:spPr>
          <a:xfrm>
            <a:off x="1066800" y="90160"/>
            <a:ext cx="5897577" cy="523220"/>
          </a:xfrm>
          <a:prstGeom prst="rect">
            <a:avLst/>
          </a:prstGeom>
        </p:spPr>
        <p:txBody>
          <a:bodyPr wrap="none">
            <a:spAutoFit/>
          </a:bodyPr>
          <a:lstStyle/>
          <a:p>
            <a:r>
              <a:rPr lang="en-US" altLang="zh-CN" sz="2800" b="1" dirty="0">
                <a:solidFill>
                  <a:srgbClr val="FF0000"/>
                </a:solidFill>
                <a:ea typeface="宋体" charset="-122"/>
              </a:rPr>
              <a:t>Other Equations of State for the Vapor</a:t>
            </a:r>
          </a:p>
        </p:txBody>
      </p:sp>
      <p:sp>
        <p:nvSpPr>
          <p:cNvPr id="2" name="矩形 1"/>
          <p:cNvSpPr/>
          <p:nvPr/>
        </p:nvSpPr>
        <p:spPr>
          <a:xfrm>
            <a:off x="152400" y="4155362"/>
            <a:ext cx="3378201" cy="400110"/>
          </a:xfrm>
          <a:prstGeom prst="rect">
            <a:avLst/>
          </a:prstGeom>
        </p:spPr>
        <p:txBody>
          <a:bodyPr wrap="square">
            <a:spAutoFit/>
          </a:bodyPr>
          <a:lstStyle/>
          <a:p>
            <a:pPr indent="228600">
              <a:tabLst>
                <a:tab pos="800100" algn="l"/>
                <a:tab pos="1943100" algn="l"/>
                <a:tab pos="2387600" algn="l"/>
              </a:tabLst>
            </a:pPr>
            <a:r>
              <a:rPr lang="en-US" altLang="zh-CN" sz="2000" b="1" i="1" dirty="0">
                <a:solidFill>
                  <a:srgbClr val="0000FF"/>
                </a:solidFill>
                <a:ea typeface="宋体" charset="-122"/>
              </a:rPr>
              <a:t>Benedict-Webb-Rubin</a:t>
            </a:r>
            <a:r>
              <a:rPr lang="en-US" altLang="zh-CN" sz="2000" b="1" dirty="0">
                <a:solidFill>
                  <a:srgbClr val="0000FF"/>
                </a:solidFill>
                <a:ea typeface="宋体" charset="-122"/>
              </a:rPr>
              <a:t>: </a:t>
            </a:r>
          </a:p>
        </p:txBody>
      </p:sp>
    </p:spTree>
    <p:extLst>
      <p:ext uri="{BB962C8B-B14F-4D97-AF65-F5344CB8AC3E}">
        <p14:creationId xmlns:p14="http://schemas.microsoft.com/office/powerpoint/2010/main" val="40485413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15878" y="61585"/>
            <a:ext cx="6626494" cy="523220"/>
          </a:xfrm>
          <a:prstGeom prst="rect">
            <a:avLst/>
          </a:prstGeom>
        </p:spPr>
        <p:txBody>
          <a:bodyPr wrap="none">
            <a:spAutoFit/>
          </a:bodyPr>
          <a:lstStyle/>
          <a:p>
            <a:r>
              <a:rPr lang="en-US" altLang="zh-CN" sz="2800" b="1" dirty="0">
                <a:solidFill>
                  <a:srgbClr val="FF0000"/>
                </a:solidFill>
                <a:ea typeface="宋体" charset="-122"/>
              </a:rPr>
              <a:t>Viral Equations of State for the Vapor</a:t>
            </a:r>
          </a:p>
        </p:txBody>
      </p:sp>
      <p:graphicFrame>
        <p:nvGraphicFramePr>
          <p:cNvPr id="3" name="对象 2"/>
          <p:cNvGraphicFramePr>
            <a:graphicFrameLocks noChangeAspect="1"/>
          </p:cNvGraphicFramePr>
          <p:nvPr/>
        </p:nvGraphicFramePr>
        <p:xfrm>
          <a:off x="4613857" y="2608263"/>
          <a:ext cx="3852415" cy="1325562"/>
        </p:xfrm>
        <a:graphic>
          <a:graphicData uri="http://schemas.openxmlformats.org/presentationml/2006/ole">
            <mc:AlternateContent xmlns:mc="http://schemas.openxmlformats.org/markup-compatibility/2006">
              <mc:Choice xmlns:v="urn:schemas-microsoft-com:vml" Requires="v">
                <p:oleObj name="Equation" r:id="rId2" imgW="2361960" imgH="812520" progId="Equation.DSMT4">
                  <p:embed/>
                </p:oleObj>
              </mc:Choice>
              <mc:Fallback>
                <p:oleObj name="Equation" r:id="rId2" imgW="2361960" imgH="812520" progId="Equation.DSMT4">
                  <p:embed/>
                  <p:pic>
                    <p:nvPicPr>
                      <p:cNvPr id="3" name="对象 2"/>
                      <p:cNvPicPr/>
                      <p:nvPr/>
                    </p:nvPicPr>
                    <p:blipFill>
                      <a:blip r:embed="rId3"/>
                      <a:stretch>
                        <a:fillRect/>
                      </a:stretch>
                    </p:blipFill>
                    <p:spPr>
                      <a:xfrm>
                        <a:off x="4613857" y="2608263"/>
                        <a:ext cx="3852415" cy="1325562"/>
                      </a:xfrm>
                      <a:prstGeom prst="rect">
                        <a:avLst/>
                      </a:prstGeom>
                    </p:spPr>
                  </p:pic>
                </p:oleObj>
              </mc:Fallback>
            </mc:AlternateContent>
          </a:graphicData>
        </a:graphic>
      </p:graphicFrame>
      <p:sp>
        <p:nvSpPr>
          <p:cNvPr id="4" name="TextBox 3"/>
          <p:cNvSpPr txBox="1"/>
          <p:nvPr/>
        </p:nvSpPr>
        <p:spPr>
          <a:xfrm>
            <a:off x="4429125" y="2029185"/>
            <a:ext cx="2925994" cy="400110"/>
          </a:xfrm>
          <a:prstGeom prst="rect">
            <a:avLst/>
          </a:prstGeom>
          <a:noFill/>
        </p:spPr>
        <p:txBody>
          <a:bodyPr wrap="none" rtlCol="0">
            <a:spAutoFit/>
          </a:bodyPr>
          <a:lstStyle/>
          <a:p>
            <a:r>
              <a:rPr lang="en-US" altLang="zh-CN" sz="2000" b="1" dirty="0">
                <a:solidFill>
                  <a:srgbClr val="0000FF"/>
                </a:solidFill>
              </a:rPr>
              <a:t>Viral equation of state</a:t>
            </a:r>
            <a:endParaRPr lang="zh-CN" altLang="en-US" sz="2000" b="1" dirty="0">
              <a:solidFill>
                <a:srgbClr val="0000FF"/>
              </a:solidFill>
            </a:endParaRPr>
          </a:p>
        </p:txBody>
      </p:sp>
      <p:graphicFrame>
        <p:nvGraphicFramePr>
          <p:cNvPr id="5" name="对象 4"/>
          <p:cNvGraphicFramePr>
            <a:graphicFrameLocks noChangeAspect="1"/>
          </p:cNvGraphicFramePr>
          <p:nvPr/>
        </p:nvGraphicFramePr>
        <p:xfrm>
          <a:off x="901700" y="2539610"/>
          <a:ext cx="1028740" cy="1679575"/>
        </p:xfrm>
        <a:graphic>
          <a:graphicData uri="http://schemas.openxmlformats.org/presentationml/2006/ole">
            <mc:AlternateContent xmlns:mc="http://schemas.openxmlformats.org/markup-compatibility/2006">
              <mc:Choice xmlns:v="urn:schemas-microsoft-com:vml" Requires="v">
                <p:oleObj name="Equation" r:id="rId4" imgW="622080" imgH="1015920" progId="Equation.DSMT4">
                  <p:embed/>
                </p:oleObj>
              </mc:Choice>
              <mc:Fallback>
                <p:oleObj name="Equation" r:id="rId4" imgW="622080" imgH="1015920" progId="Equation.DSMT4">
                  <p:embed/>
                  <p:pic>
                    <p:nvPicPr>
                      <p:cNvPr id="5" name="对象 4"/>
                      <p:cNvPicPr/>
                      <p:nvPr/>
                    </p:nvPicPr>
                    <p:blipFill>
                      <a:blip r:embed="rId5"/>
                      <a:stretch>
                        <a:fillRect/>
                      </a:stretch>
                    </p:blipFill>
                    <p:spPr>
                      <a:xfrm>
                        <a:off x="901700" y="2539610"/>
                        <a:ext cx="1028740" cy="1679575"/>
                      </a:xfrm>
                      <a:prstGeom prst="rect">
                        <a:avLst/>
                      </a:prstGeom>
                    </p:spPr>
                  </p:pic>
                </p:oleObj>
              </mc:Fallback>
            </mc:AlternateContent>
          </a:graphicData>
        </a:graphic>
      </p:graphicFrame>
      <p:sp>
        <p:nvSpPr>
          <p:cNvPr id="10" name="TextBox 9"/>
          <p:cNvSpPr txBox="1"/>
          <p:nvPr/>
        </p:nvSpPr>
        <p:spPr>
          <a:xfrm>
            <a:off x="733425" y="2029185"/>
            <a:ext cx="2886042" cy="400110"/>
          </a:xfrm>
          <a:prstGeom prst="rect">
            <a:avLst/>
          </a:prstGeom>
          <a:noFill/>
        </p:spPr>
        <p:txBody>
          <a:bodyPr wrap="square" rtlCol="0">
            <a:spAutoFit/>
          </a:bodyPr>
          <a:lstStyle/>
          <a:p>
            <a:r>
              <a:rPr lang="en-US" altLang="zh-CN" sz="2000" b="1" dirty="0">
                <a:solidFill>
                  <a:srgbClr val="0000FF"/>
                </a:solidFill>
              </a:rPr>
              <a:t>Idea equation of state</a:t>
            </a:r>
            <a:endParaRPr lang="zh-CN" altLang="en-US" sz="2000" b="1" dirty="0">
              <a:solidFill>
                <a:srgbClr val="0000FF"/>
              </a:solidFill>
            </a:endParaRPr>
          </a:p>
        </p:txBody>
      </p:sp>
    </p:spTree>
    <p:extLst>
      <p:ext uri="{BB962C8B-B14F-4D97-AF65-F5344CB8AC3E}">
        <p14:creationId xmlns:p14="http://schemas.microsoft.com/office/powerpoint/2010/main" val="12730238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D282D06-0535-475E-AD6F-C7A1322FEB74}"/>
              </a:ext>
            </a:extLst>
          </p:cNvPr>
          <p:cNvSpPr txBox="1"/>
          <p:nvPr/>
        </p:nvSpPr>
        <p:spPr>
          <a:xfrm>
            <a:off x="1704108" y="78571"/>
            <a:ext cx="4013200" cy="584775"/>
          </a:xfrm>
          <a:prstGeom prst="rect">
            <a:avLst/>
          </a:prstGeom>
          <a:noFill/>
        </p:spPr>
        <p:txBody>
          <a:bodyPr wrap="square">
            <a:spAutoFit/>
          </a:bodyPr>
          <a:lstStyle/>
          <a:p>
            <a:r>
              <a:rPr lang="en-US" altLang="zh-CN" sz="3200" dirty="0">
                <a:solidFill>
                  <a:srgbClr val="FF0000"/>
                </a:solidFill>
                <a:latin typeface="+mj-lt"/>
                <a:ea typeface="华文楷体" panose="02010600040101010101" pitchFamily="2" charset="-122"/>
                <a:cs typeface="Times New Roman" panose="02020603050405020304" pitchFamily="18" charset="0"/>
              </a:rPr>
              <a:t>Condensed Phase</a:t>
            </a:r>
            <a:endParaRPr lang="zh-CN" altLang="en-US" sz="3200" dirty="0">
              <a:latin typeface="+mj-lt"/>
            </a:endParaRPr>
          </a:p>
        </p:txBody>
      </p:sp>
      <p:sp>
        <p:nvSpPr>
          <p:cNvPr id="5" name="文本框 4">
            <a:extLst>
              <a:ext uri="{FF2B5EF4-FFF2-40B4-BE49-F238E27FC236}">
                <a16:creationId xmlns:a16="http://schemas.microsoft.com/office/drawing/2014/main" id="{18647CCD-93CB-407F-A899-849B6352E442}"/>
              </a:ext>
            </a:extLst>
          </p:cNvPr>
          <p:cNvSpPr txBox="1"/>
          <p:nvPr/>
        </p:nvSpPr>
        <p:spPr>
          <a:xfrm>
            <a:off x="604982" y="1224018"/>
            <a:ext cx="7934036" cy="646331"/>
          </a:xfrm>
          <a:prstGeom prst="rect">
            <a:avLst/>
          </a:prstGeom>
          <a:noFill/>
        </p:spPr>
        <p:txBody>
          <a:bodyPr wrap="square">
            <a:spAutoFit/>
          </a:bodyPr>
          <a:lstStyle/>
          <a:p>
            <a:r>
              <a:rPr lang="en-US" altLang="zh-CN" b="0" i="0" dirty="0">
                <a:solidFill>
                  <a:srgbClr val="666666"/>
                </a:solidFill>
                <a:effectLst/>
                <a:latin typeface="Roboto" panose="02000000000000000000" pitchFamily="2" charset="0"/>
              </a:rPr>
              <a:t>Solids and liquids have particles that are fairly close to one another, and are thus called "</a:t>
            </a:r>
            <a:r>
              <a:rPr lang="en-US" altLang="zh-CN" b="1" i="0" dirty="0">
                <a:solidFill>
                  <a:srgbClr val="767676"/>
                </a:solidFill>
                <a:effectLst/>
                <a:latin typeface="Roboto" panose="02000000000000000000" pitchFamily="2" charset="0"/>
              </a:rPr>
              <a:t> condensed phases</a:t>
            </a:r>
            <a:r>
              <a:rPr lang="en-US" altLang="zh-CN" b="0" i="0" dirty="0">
                <a:solidFill>
                  <a:srgbClr val="666666"/>
                </a:solidFill>
                <a:effectLst/>
                <a:latin typeface="Roboto" panose="02000000000000000000" pitchFamily="2" charset="0"/>
              </a:rPr>
              <a:t> " to distinguish them from gases </a:t>
            </a:r>
            <a:endParaRPr lang="zh-CN" altLang="en-US" dirty="0"/>
          </a:p>
        </p:txBody>
      </p:sp>
      <p:sp>
        <p:nvSpPr>
          <p:cNvPr id="6" name="文本框 5">
            <a:extLst>
              <a:ext uri="{FF2B5EF4-FFF2-40B4-BE49-F238E27FC236}">
                <a16:creationId xmlns:a16="http://schemas.microsoft.com/office/drawing/2014/main" id="{D6BB657C-A560-42CC-B8AF-F7DCB131D7C3}"/>
              </a:ext>
            </a:extLst>
          </p:cNvPr>
          <p:cNvSpPr txBox="1"/>
          <p:nvPr/>
        </p:nvSpPr>
        <p:spPr>
          <a:xfrm>
            <a:off x="473643" y="4187884"/>
            <a:ext cx="2460930" cy="369332"/>
          </a:xfrm>
          <a:prstGeom prst="rect">
            <a:avLst/>
          </a:prstGeom>
          <a:noFill/>
        </p:spPr>
        <p:txBody>
          <a:bodyPr wrap="none" rtlCol="0">
            <a:spAutoFit/>
          </a:bodyPr>
          <a:lstStyle/>
          <a:p>
            <a:pPr marL="285750" indent="-285750">
              <a:buFont typeface="Arial" panose="020B0604020202020204" pitchFamily="34" charset="0"/>
              <a:buChar char="•"/>
            </a:pPr>
            <a:r>
              <a:rPr lang="en-US" altLang="zh-CN" dirty="0">
                <a:solidFill>
                  <a:srgbClr val="FF0000"/>
                </a:solidFill>
              </a:rPr>
              <a:t>Empirical Equation</a:t>
            </a:r>
            <a:endParaRPr lang="zh-CN" altLang="en-US" dirty="0">
              <a:solidFill>
                <a:srgbClr val="FF0000"/>
              </a:solidFill>
            </a:endParaRPr>
          </a:p>
        </p:txBody>
      </p:sp>
      <p:sp>
        <p:nvSpPr>
          <p:cNvPr id="7" name="文本框 6">
            <a:extLst>
              <a:ext uri="{FF2B5EF4-FFF2-40B4-BE49-F238E27FC236}">
                <a16:creationId xmlns:a16="http://schemas.microsoft.com/office/drawing/2014/main" id="{FBB45A7B-8D9A-43AA-90F3-AD232F227E53}"/>
              </a:ext>
            </a:extLst>
          </p:cNvPr>
          <p:cNvSpPr txBox="1"/>
          <p:nvPr/>
        </p:nvSpPr>
        <p:spPr>
          <a:xfrm>
            <a:off x="360274" y="2116119"/>
            <a:ext cx="6049818" cy="369332"/>
          </a:xfrm>
          <a:prstGeom prst="rect">
            <a:avLst/>
          </a:prstGeom>
          <a:noFill/>
        </p:spPr>
        <p:txBody>
          <a:bodyPr wrap="square">
            <a:spAutoFit/>
          </a:bodyPr>
          <a:lstStyle/>
          <a:p>
            <a:pPr marL="285750" indent="-285750">
              <a:buFont typeface="Arial" panose="020B0604020202020204" pitchFamily="34" charset="0"/>
              <a:buChar char="•"/>
            </a:pPr>
            <a:r>
              <a:rPr lang="en-US" altLang="zh-CN" sz="1800" dirty="0">
                <a:solidFill>
                  <a:srgbClr val="FF0000"/>
                </a:solidFill>
                <a:latin typeface="+mj-lt"/>
              </a:rPr>
              <a:t>Redlich-</a:t>
            </a:r>
            <a:r>
              <a:rPr lang="en-US" altLang="zh-CN" sz="1800" dirty="0" err="1">
                <a:solidFill>
                  <a:srgbClr val="FF0000"/>
                </a:solidFill>
                <a:latin typeface="+mj-lt"/>
              </a:rPr>
              <a:t>Kwong</a:t>
            </a:r>
            <a:r>
              <a:rPr lang="en-US" altLang="zh-CN" sz="1800" dirty="0">
                <a:solidFill>
                  <a:srgbClr val="FF0000"/>
                </a:solidFill>
                <a:latin typeface="+mj-lt"/>
              </a:rPr>
              <a:t> Equation </a:t>
            </a:r>
            <a:endParaRPr lang="zh-CN" altLang="en-US" dirty="0"/>
          </a:p>
        </p:txBody>
      </p:sp>
      <p:graphicFrame>
        <p:nvGraphicFramePr>
          <p:cNvPr id="8" name="对象 7">
            <a:extLst>
              <a:ext uri="{FF2B5EF4-FFF2-40B4-BE49-F238E27FC236}">
                <a16:creationId xmlns:a16="http://schemas.microsoft.com/office/drawing/2014/main" id="{4A3F975A-E3C6-4733-B71E-9A4843AC827E}"/>
              </a:ext>
            </a:extLst>
          </p:cNvPr>
          <p:cNvGraphicFramePr>
            <a:graphicFrameLocks noChangeAspect="1"/>
          </p:cNvGraphicFramePr>
          <p:nvPr>
            <p:extLst>
              <p:ext uri="{D42A27DB-BD31-4B8C-83A1-F6EECF244321}">
                <p14:modId xmlns:p14="http://schemas.microsoft.com/office/powerpoint/2010/main" val="3504115794"/>
              </p:ext>
            </p:extLst>
          </p:nvPr>
        </p:nvGraphicFramePr>
        <p:xfrm>
          <a:off x="1026245" y="2790144"/>
          <a:ext cx="2684463" cy="782638"/>
        </p:xfrm>
        <a:graphic>
          <a:graphicData uri="http://schemas.openxmlformats.org/presentationml/2006/ole">
            <mc:AlternateContent xmlns:mc="http://schemas.openxmlformats.org/markup-compatibility/2006">
              <mc:Choice xmlns:v="urn:schemas-microsoft-com:vml" Requires="v">
                <p:oleObj name="Equation" r:id="rId2" imgW="1562040" imgH="457200" progId="Equation.DSMT4">
                  <p:embed/>
                </p:oleObj>
              </mc:Choice>
              <mc:Fallback>
                <p:oleObj name="Equation" r:id="rId2" imgW="1562040" imgH="457200" progId="Equation.DSMT4">
                  <p:embed/>
                  <p:pic>
                    <p:nvPicPr>
                      <p:cNvPr id="12" name="对象 11">
                        <a:extLst>
                          <a:ext uri="{FF2B5EF4-FFF2-40B4-BE49-F238E27FC236}">
                            <a16:creationId xmlns:a16="http://schemas.microsoft.com/office/drawing/2014/main" id="{8E3BAC73-FD15-4EA5-9209-E3687A51573D}"/>
                          </a:ext>
                        </a:extLst>
                      </p:cNvPr>
                      <p:cNvPicPr>
                        <a:picLocks noChangeAspect="1" noChangeArrowheads="1"/>
                      </p:cNvPicPr>
                      <p:nvPr/>
                    </p:nvPicPr>
                    <p:blipFill>
                      <a:blip r:embed="rId3"/>
                      <a:srcRect/>
                      <a:stretch>
                        <a:fillRect/>
                      </a:stretch>
                    </p:blipFill>
                    <p:spPr bwMode="auto">
                      <a:xfrm>
                        <a:off x="1026245" y="2790144"/>
                        <a:ext cx="2684463"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文本框 8">
            <a:extLst>
              <a:ext uri="{FF2B5EF4-FFF2-40B4-BE49-F238E27FC236}">
                <a16:creationId xmlns:a16="http://schemas.microsoft.com/office/drawing/2014/main" id="{7AF21195-F9F1-4961-8E6C-FF3990E4FE5D}"/>
              </a:ext>
            </a:extLst>
          </p:cNvPr>
          <p:cNvSpPr txBox="1"/>
          <p:nvPr/>
        </p:nvSpPr>
        <p:spPr>
          <a:xfrm>
            <a:off x="4107712" y="2790144"/>
            <a:ext cx="5036288" cy="923330"/>
          </a:xfrm>
          <a:prstGeom prst="rect">
            <a:avLst/>
          </a:prstGeom>
          <a:noFill/>
        </p:spPr>
        <p:txBody>
          <a:bodyPr wrap="square" rtlCol="0">
            <a:spAutoFit/>
          </a:bodyPr>
          <a:lstStyle/>
          <a:p>
            <a:r>
              <a:rPr lang="en-US" altLang="zh-CN" dirty="0"/>
              <a:t>It could gives give good result at elevated pressure and low temperature at which the gas tends to be as dense as liquid</a:t>
            </a:r>
            <a:endParaRPr lang="zh-CN" altLang="en-US" dirty="0"/>
          </a:p>
        </p:txBody>
      </p:sp>
      <p:graphicFrame>
        <p:nvGraphicFramePr>
          <p:cNvPr id="10" name="对象 9">
            <a:extLst>
              <a:ext uri="{FF2B5EF4-FFF2-40B4-BE49-F238E27FC236}">
                <a16:creationId xmlns:a16="http://schemas.microsoft.com/office/drawing/2014/main" id="{47D786D4-9885-4BC5-8277-BA04C60C7DCA}"/>
              </a:ext>
            </a:extLst>
          </p:cNvPr>
          <p:cNvGraphicFramePr>
            <a:graphicFrameLocks noChangeAspect="1"/>
          </p:cNvGraphicFramePr>
          <p:nvPr>
            <p:extLst>
              <p:ext uri="{D42A27DB-BD31-4B8C-83A1-F6EECF244321}">
                <p14:modId xmlns:p14="http://schemas.microsoft.com/office/powerpoint/2010/main" val="718656321"/>
              </p:ext>
            </p:extLst>
          </p:nvPr>
        </p:nvGraphicFramePr>
        <p:xfrm>
          <a:off x="966643" y="4676132"/>
          <a:ext cx="7572375" cy="739775"/>
        </p:xfrm>
        <a:graphic>
          <a:graphicData uri="http://schemas.openxmlformats.org/presentationml/2006/ole">
            <mc:AlternateContent xmlns:mc="http://schemas.openxmlformats.org/markup-compatibility/2006">
              <mc:Choice xmlns:v="urn:schemas-microsoft-com:vml" Requires="v">
                <p:oleObj name="Equation" r:id="rId4" imgW="4406760" imgH="431640" progId="Equation.DSMT4">
                  <p:embed/>
                </p:oleObj>
              </mc:Choice>
              <mc:Fallback>
                <p:oleObj name="Equation" r:id="rId4" imgW="4406760" imgH="431640" progId="Equation.DSMT4">
                  <p:embed/>
                  <p:pic>
                    <p:nvPicPr>
                      <p:cNvPr id="8" name="对象 7">
                        <a:extLst>
                          <a:ext uri="{FF2B5EF4-FFF2-40B4-BE49-F238E27FC236}">
                            <a16:creationId xmlns:a16="http://schemas.microsoft.com/office/drawing/2014/main" id="{4A3F975A-E3C6-4733-B71E-9A4843AC827E}"/>
                          </a:ext>
                        </a:extLst>
                      </p:cNvPr>
                      <p:cNvPicPr>
                        <a:picLocks noChangeAspect="1" noChangeArrowheads="1"/>
                      </p:cNvPicPr>
                      <p:nvPr/>
                    </p:nvPicPr>
                    <p:blipFill>
                      <a:blip r:embed="rId5"/>
                      <a:srcRect/>
                      <a:stretch>
                        <a:fillRect/>
                      </a:stretch>
                    </p:blipFill>
                    <p:spPr bwMode="auto">
                      <a:xfrm>
                        <a:off x="966643" y="4676132"/>
                        <a:ext cx="7572375"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文本框 10">
            <a:extLst>
              <a:ext uri="{FF2B5EF4-FFF2-40B4-BE49-F238E27FC236}">
                <a16:creationId xmlns:a16="http://schemas.microsoft.com/office/drawing/2014/main" id="{1775B615-6A4C-4EC2-84AC-DD781DB026A7}"/>
              </a:ext>
            </a:extLst>
          </p:cNvPr>
          <p:cNvSpPr txBox="1"/>
          <p:nvPr/>
        </p:nvSpPr>
        <p:spPr>
          <a:xfrm>
            <a:off x="6410092" y="5449316"/>
            <a:ext cx="1749197" cy="369332"/>
          </a:xfrm>
          <a:prstGeom prst="rect">
            <a:avLst/>
          </a:prstGeom>
          <a:noFill/>
        </p:spPr>
        <p:txBody>
          <a:bodyPr wrap="none" rtlCol="0">
            <a:spAutoFit/>
          </a:bodyPr>
          <a:lstStyle/>
          <a:p>
            <a:r>
              <a:rPr lang="en-US" altLang="zh-CN" dirty="0"/>
              <a:t>Compressibility</a:t>
            </a:r>
            <a:endParaRPr lang="zh-CN" altLang="en-US" dirty="0"/>
          </a:p>
        </p:txBody>
      </p:sp>
      <p:cxnSp>
        <p:nvCxnSpPr>
          <p:cNvPr id="13" name="直接箭头连接符 12">
            <a:extLst>
              <a:ext uri="{FF2B5EF4-FFF2-40B4-BE49-F238E27FC236}">
                <a16:creationId xmlns:a16="http://schemas.microsoft.com/office/drawing/2014/main" id="{A03C59A2-FD19-4C45-9B32-4B806D708386}"/>
              </a:ext>
            </a:extLst>
          </p:cNvPr>
          <p:cNvCxnSpPr/>
          <p:nvPr/>
        </p:nvCxnSpPr>
        <p:spPr>
          <a:xfrm flipV="1">
            <a:off x="7148945" y="5181600"/>
            <a:ext cx="240146" cy="353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223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E87257B-FF3B-4AD7-A7FE-4C11EA6EC973}"/>
              </a:ext>
            </a:extLst>
          </p:cNvPr>
          <p:cNvPicPr>
            <a:picLocks noChangeAspect="1"/>
          </p:cNvPicPr>
          <p:nvPr/>
        </p:nvPicPr>
        <p:blipFill rotWithShape="1">
          <a:blip r:embed="rId2">
            <a:extLst>
              <a:ext uri="{28A0092B-C50C-407E-A947-70E740481C1C}">
                <a14:useLocalDpi xmlns:a14="http://schemas.microsoft.com/office/drawing/2010/main" val="0"/>
              </a:ext>
            </a:extLst>
          </a:blip>
          <a:srcRect l="9899" t="30572" r="1515" b="16095"/>
          <a:stretch/>
        </p:blipFill>
        <p:spPr>
          <a:xfrm>
            <a:off x="438727" y="2537692"/>
            <a:ext cx="8100291" cy="3657601"/>
          </a:xfrm>
          <a:prstGeom prst="rect">
            <a:avLst/>
          </a:prstGeom>
        </p:spPr>
      </p:pic>
      <p:sp>
        <p:nvSpPr>
          <p:cNvPr id="4" name="文本框 3">
            <a:extLst>
              <a:ext uri="{FF2B5EF4-FFF2-40B4-BE49-F238E27FC236}">
                <a16:creationId xmlns:a16="http://schemas.microsoft.com/office/drawing/2014/main" id="{A0571213-C1E4-46B9-8217-D655490473BC}"/>
              </a:ext>
            </a:extLst>
          </p:cNvPr>
          <p:cNvSpPr txBox="1"/>
          <p:nvPr/>
        </p:nvSpPr>
        <p:spPr>
          <a:xfrm>
            <a:off x="1080655" y="1108364"/>
            <a:ext cx="928459" cy="369332"/>
          </a:xfrm>
          <a:prstGeom prst="rect">
            <a:avLst/>
          </a:prstGeom>
          <a:noFill/>
        </p:spPr>
        <p:txBody>
          <a:bodyPr wrap="none" rtlCol="0">
            <a:spAutoFit/>
          </a:bodyPr>
          <a:lstStyle/>
          <a:p>
            <a:r>
              <a:rPr lang="en-US" altLang="zh-CN" dirty="0"/>
              <a:t>Octane</a:t>
            </a:r>
          </a:p>
        </p:txBody>
      </p:sp>
      <p:pic>
        <p:nvPicPr>
          <p:cNvPr id="184324" name="Picture 4" descr="See the source image">
            <a:extLst>
              <a:ext uri="{FF2B5EF4-FFF2-40B4-BE49-F238E27FC236}">
                <a16:creationId xmlns:a16="http://schemas.microsoft.com/office/drawing/2014/main" id="{353AE806-E1E1-40BE-B657-C89B8926B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7055" y="772423"/>
            <a:ext cx="4036290" cy="104831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4988BF35-21BB-48AB-914E-65924BFA1541}"/>
              </a:ext>
            </a:extLst>
          </p:cNvPr>
          <p:cNvSpPr txBox="1"/>
          <p:nvPr/>
        </p:nvSpPr>
        <p:spPr>
          <a:xfrm>
            <a:off x="438727" y="1108364"/>
            <a:ext cx="646331" cy="369332"/>
          </a:xfrm>
          <a:prstGeom prst="rect">
            <a:avLst/>
          </a:prstGeom>
          <a:noFill/>
        </p:spPr>
        <p:txBody>
          <a:bodyPr wrap="none" rtlCol="0">
            <a:spAutoFit/>
          </a:bodyPr>
          <a:lstStyle/>
          <a:p>
            <a:r>
              <a:rPr lang="zh-CN" altLang="en-US" dirty="0"/>
              <a:t>辛烷</a:t>
            </a:r>
          </a:p>
        </p:txBody>
      </p:sp>
    </p:spTree>
    <p:extLst>
      <p:ext uri="{BB962C8B-B14F-4D97-AF65-F5344CB8AC3E}">
        <p14:creationId xmlns:p14="http://schemas.microsoft.com/office/powerpoint/2010/main" val="1666990837"/>
      </p:ext>
    </p:extLst>
  </p:cSld>
  <p:clrMapOvr>
    <a:masterClrMapping/>
  </p:clrMapOvr>
</p:sld>
</file>

<file path=ppt/theme/theme1.xml><?xml version="1.0" encoding="utf-8"?>
<a:theme xmlns:a="http://schemas.openxmlformats.org/drawingml/2006/main" name="Master Bo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等线 Light"/>
        <a:cs typeface=""/>
      </a:majorFont>
      <a:minorFont>
        <a:latin typeface="Arial"/>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Board</Template>
  <TotalTime>13754</TotalTime>
  <Words>2130</Words>
  <Application>Microsoft Office PowerPoint</Application>
  <PresentationFormat>全屏显示(4:3)</PresentationFormat>
  <Paragraphs>226</Paragraphs>
  <Slides>47</Slides>
  <Notes>5</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47</vt:i4>
      </vt:variant>
    </vt:vector>
  </HeadingPairs>
  <TitlesOfParts>
    <vt:vector size="60" baseType="lpstr">
      <vt:lpstr>-apple-system</vt:lpstr>
      <vt:lpstr>Arial Unicode MS</vt:lpstr>
      <vt:lpstr>等线</vt:lpstr>
      <vt:lpstr>黑体</vt:lpstr>
      <vt:lpstr>微软雅黑</vt:lpstr>
      <vt:lpstr>Arial</vt:lpstr>
      <vt:lpstr>Calibri</vt:lpstr>
      <vt:lpstr>Roboto</vt:lpstr>
      <vt:lpstr>Times New Roman</vt:lpstr>
      <vt:lpstr>Wingdings</vt:lpstr>
      <vt:lpstr>Master Board</vt:lpstr>
      <vt:lpstr>Equation</vt:lpstr>
      <vt:lpstr>Microsoft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weishu</dc:creator>
  <cp:lastModifiedBy>Liu WS</cp:lastModifiedBy>
  <cp:revision>327</cp:revision>
  <cp:lastPrinted>2019-04-07T14:32:11Z</cp:lastPrinted>
  <dcterms:created xsi:type="dcterms:W3CDTF">2019-02-07T07:31:12Z</dcterms:created>
  <dcterms:modified xsi:type="dcterms:W3CDTF">2022-09-30T07:08:15Z</dcterms:modified>
</cp:coreProperties>
</file>