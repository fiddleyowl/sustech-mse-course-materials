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0"/>
  </p:notesMasterIdLst>
  <p:handoutMasterIdLst>
    <p:handoutMasterId r:id="rId41"/>
  </p:handoutMasterIdLst>
  <p:sldIdLst>
    <p:sldId id="256" r:id="rId2"/>
    <p:sldId id="457" r:id="rId3"/>
    <p:sldId id="463" r:id="rId4"/>
    <p:sldId id="460" r:id="rId5"/>
    <p:sldId id="462" r:id="rId6"/>
    <p:sldId id="508" r:id="rId7"/>
    <p:sldId id="509" r:id="rId8"/>
    <p:sldId id="510" r:id="rId9"/>
    <p:sldId id="513" r:id="rId10"/>
    <p:sldId id="507" r:id="rId11"/>
    <p:sldId id="477" r:id="rId12"/>
    <p:sldId id="478" r:id="rId13"/>
    <p:sldId id="479" r:id="rId14"/>
    <p:sldId id="480" r:id="rId15"/>
    <p:sldId id="481" r:id="rId16"/>
    <p:sldId id="482" r:id="rId17"/>
    <p:sldId id="483" r:id="rId18"/>
    <p:sldId id="484" r:id="rId19"/>
    <p:sldId id="485" r:id="rId20"/>
    <p:sldId id="514" r:id="rId21"/>
    <p:sldId id="486" r:id="rId22"/>
    <p:sldId id="487" r:id="rId23"/>
    <p:sldId id="488" r:id="rId24"/>
    <p:sldId id="489" r:id="rId25"/>
    <p:sldId id="490" r:id="rId26"/>
    <p:sldId id="491" r:id="rId27"/>
    <p:sldId id="492" r:id="rId28"/>
    <p:sldId id="493" r:id="rId29"/>
    <p:sldId id="516" r:id="rId30"/>
    <p:sldId id="517" r:id="rId31"/>
    <p:sldId id="518" r:id="rId32"/>
    <p:sldId id="519" r:id="rId33"/>
    <p:sldId id="511" r:id="rId34"/>
    <p:sldId id="498" r:id="rId35"/>
    <p:sldId id="512" r:id="rId36"/>
    <p:sldId id="500" r:id="rId37"/>
    <p:sldId id="501" r:id="rId38"/>
    <p:sldId id="502" r:id="rId39"/>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145" autoAdjust="0"/>
  </p:normalViewPr>
  <p:slideViewPr>
    <p:cSldViewPr snapToGrid="0">
      <p:cViewPr varScale="1">
        <p:scale>
          <a:sx n="121" d="100"/>
          <a:sy n="121" d="100"/>
        </p:scale>
        <p:origin x="1098"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0" d="100"/>
          <a:sy n="90" d="100"/>
        </p:scale>
        <p:origin x="3750"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B496C3D4-F3F7-41E0-8BDE-8ACEB5368367}" type="datetimeFigureOut">
              <a:rPr lang="zh-CN" altLang="en-US" smtClean="0"/>
              <a:t>2022/12/7</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1919B71C-4DB5-4C7F-8171-93E790D3AC13}" type="slidenum">
              <a:rPr lang="zh-CN" altLang="en-US" smtClean="0"/>
              <a:t>‹#›</a:t>
            </a:fld>
            <a:endParaRPr lang="zh-CN" altLang="en-US"/>
          </a:p>
        </p:txBody>
      </p:sp>
    </p:spTree>
    <p:extLst>
      <p:ext uri="{BB962C8B-B14F-4D97-AF65-F5344CB8AC3E}">
        <p14:creationId xmlns:p14="http://schemas.microsoft.com/office/powerpoint/2010/main" val="2448888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2022/12/7</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33</a:t>
            </a:fld>
            <a:endParaRPr lang="zh-CN" altLang="en-US"/>
          </a:p>
        </p:txBody>
      </p:sp>
    </p:spTree>
    <p:extLst>
      <p:ext uri="{BB962C8B-B14F-4D97-AF65-F5344CB8AC3E}">
        <p14:creationId xmlns:p14="http://schemas.microsoft.com/office/powerpoint/2010/main" val="40735167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2022/12/7</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648200" y="1600200"/>
            <a:ext cx="4038600" cy="21859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4648200" y="3938588"/>
            <a:ext cx="4038600" cy="218757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B8A4DFA5-2C7C-4472-BAF1-4432A08D48B4}" type="slidenum">
              <a:rPr lang="en-US" altLang="zh-CN"/>
              <a:pPr/>
              <a:t>‹#›</a:t>
            </a:fld>
            <a:endParaRPr lang="en-US" altLang="zh-CN"/>
          </a:p>
        </p:txBody>
      </p:sp>
    </p:spTree>
    <p:extLst>
      <p:ext uri="{BB962C8B-B14F-4D97-AF65-F5344CB8AC3E}">
        <p14:creationId xmlns:p14="http://schemas.microsoft.com/office/powerpoint/2010/main" val="1372517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14913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875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228972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2022/12/7</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60" r:id="rId14"/>
    <p:sldLayoutId id="2147483762" r:id="rId15"/>
    <p:sldLayoutId id="2147483763" r:id="rId16"/>
    <p:sldLayoutId id="2147483764" r:id="rId1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 Id="rId5" Type="http://schemas.openxmlformats.org/officeDocument/2006/relationships/image" Target="../media/image18.emf"/><Relationship Id="rId4" Type="http://schemas.openxmlformats.org/officeDocument/2006/relationships/image" Target="../media/image17.emf"/></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Quench" TargetMode="External"/><Relationship Id="rId3" Type="http://schemas.openxmlformats.org/officeDocument/2006/relationships/hyperlink" Target="https://en.wikipedia.org/wiki/Sword" TargetMode="External"/><Relationship Id="rId7" Type="http://schemas.openxmlformats.org/officeDocument/2006/relationships/hyperlink" Target="https://en.wikipedia.org/wiki/Warring_States_period" TargetMode="External"/><Relationship Id="rId2"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hyperlink" Target="https://en.wikipedia.org/wiki/History_of_China#Ancient_China" TargetMode="External"/><Relationship Id="rId5" Type="http://schemas.openxmlformats.org/officeDocument/2006/relationships/hyperlink" Target="https://en.wikipedia.org/wiki/Iberian_Peninsula#History" TargetMode="External"/><Relationship Id="rId10" Type="http://schemas.openxmlformats.org/officeDocument/2006/relationships/image" Target="../media/image24.png"/><Relationship Id="rId4" Type="http://schemas.openxmlformats.org/officeDocument/2006/relationships/hyperlink" Target="https://en.wikipedia.org/wiki/Ancient_Rome" TargetMode="External"/><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5.jpe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6.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1.png"/><Relationship Id="rId1" Type="http://schemas.openxmlformats.org/officeDocument/2006/relationships/slideLayout" Target="../slideLayouts/slideLayout16.xml"/><Relationship Id="rId6" Type="http://schemas.openxmlformats.org/officeDocument/2006/relationships/image" Target="../media/image43.wmf"/><Relationship Id="rId5" Type="http://schemas.openxmlformats.org/officeDocument/2006/relationships/oleObject" Target="../embeddings/oleObject1.bin"/><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6.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6.xml"/><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59.wmf"/><Relationship Id="rId2" Type="http://schemas.openxmlformats.org/officeDocument/2006/relationships/image" Target="../media/image54.png"/><Relationship Id="rId1" Type="http://schemas.openxmlformats.org/officeDocument/2006/relationships/slideLayout" Target="../slideLayouts/slideLayout16.xml"/><Relationship Id="rId6" Type="http://schemas.openxmlformats.org/officeDocument/2006/relationships/image" Target="../media/image56.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image" Target="../media/image54.png"/><Relationship Id="rId1" Type="http://schemas.openxmlformats.org/officeDocument/2006/relationships/slideLayout" Target="../slideLayouts/slideLayout16.xml"/><Relationship Id="rId6" Type="http://schemas.openxmlformats.org/officeDocument/2006/relationships/image" Target="../media/image61.wmf"/><Relationship Id="rId5" Type="http://schemas.openxmlformats.org/officeDocument/2006/relationships/oleObject" Target="../embeddings/oleObject8.bin"/><Relationship Id="rId10" Type="http://schemas.openxmlformats.org/officeDocument/2006/relationships/image" Target="../media/image63.wmf"/><Relationship Id="rId4" Type="http://schemas.openxmlformats.org/officeDocument/2006/relationships/image" Target="../media/image60.wmf"/><Relationship Id="rId9"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54.png"/><Relationship Id="rId1" Type="http://schemas.openxmlformats.org/officeDocument/2006/relationships/slideLayout" Target="../slideLayouts/slideLayout16.xml"/><Relationship Id="rId6" Type="http://schemas.openxmlformats.org/officeDocument/2006/relationships/image" Target="../media/image65.wmf"/><Relationship Id="rId5" Type="http://schemas.openxmlformats.org/officeDocument/2006/relationships/oleObject" Target="../embeddings/oleObject12.bin"/><Relationship Id="rId4" Type="http://schemas.openxmlformats.org/officeDocument/2006/relationships/image" Target="../media/image64.wmf"/></Relationships>
</file>

<file path=ppt/slides/_rels/slide27.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image" Target="../media/image54.png"/><Relationship Id="rId1" Type="http://schemas.openxmlformats.org/officeDocument/2006/relationships/slideLayout" Target="../slideLayouts/slideLayout16.xml"/><Relationship Id="rId6" Type="http://schemas.openxmlformats.org/officeDocument/2006/relationships/image" Target="../media/image67.wmf"/><Relationship Id="rId5" Type="http://schemas.openxmlformats.org/officeDocument/2006/relationships/oleObject" Target="../embeddings/oleObject14.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4.wmf"/><Relationship Id="rId2" Type="http://schemas.openxmlformats.org/officeDocument/2006/relationships/image" Target="../media/image70.png"/><Relationship Id="rId1" Type="http://schemas.openxmlformats.org/officeDocument/2006/relationships/slideLayout" Target="../slideLayouts/slideLayout16.xml"/><Relationship Id="rId6" Type="http://schemas.openxmlformats.org/officeDocument/2006/relationships/oleObject" Target="../embeddings/oleObject17.bin"/><Relationship Id="rId5" Type="http://schemas.openxmlformats.org/officeDocument/2006/relationships/image" Target="../media/image73.png"/><Relationship Id="rId4" Type="http://schemas.openxmlformats.org/officeDocument/2006/relationships/image" Target="../media/image72.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80.wmf"/><Relationship Id="rId3" Type="http://schemas.openxmlformats.org/officeDocument/2006/relationships/image" Target="../media/image75.wmf"/><Relationship Id="rId7" Type="http://schemas.openxmlformats.org/officeDocument/2006/relationships/image" Target="../media/image77.w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11" Type="http://schemas.openxmlformats.org/officeDocument/2006/relationships/image" Target="../media/image79.wmf"/><Relationship Id="rId5" Type="http://schemas.openxmlformats.org/officeDocument/2006/relationships/image" Target="../media/image76.wmf"/><Relationship Id="rId15" Type="http://schemas.openxmlformats.org/officeDocument/2006/relationships/image" Target="../media/image81.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78.wmf"/><Relationship Id="rId14" Type="http://schemas.openxmlformats.org/officeDocument/2006/relationships/oleObject" Target="../embeddings/oleObject24.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86.wmf"/><Relationship Id="rId3" Type="http://schemas.openxmlformats.org/officeDocument/2006/relationships/image" Target="../media/image82.wmf"/><Relationship Id="rId7" Type="http://schemas.openxmlformats.org/officeDocument/2006/relationships/image" Target="../media/image84.wmf"/><Relationship Id="rId12" Type="http://schemas.openxmlformats.org/officeDocument/2006/relationships/oleObject" Target="../embeddings/oleObject30.bin"/><Relationship Id="rId2" Type="http://schemas.openxmlformats.org/officeDocument/2006/relationships/oleObject" Target="../embeddings/oleObject25.bin"/><Relationship Id="rId1" Type="http://schemas.openxmlformats.org/officeDocument/2006/relationships/slideLayout" Target="../slideLayouts/slideLayout16.xml"/><Relationship Id="rId6" Type="http://schemas.openxmlformats.org/officeDocument/2006/relationships/oleObject" Target="../embeddings/oleObject27.bin"/><Relationship Id="rId11" Type="http://schemas.openxmlformats.org/officeDocument/2006/relationships/image" Target="../media/image85.wmf"/><Relationship Id="rId5" Type="http://schemas.openxmlformats.org/officeDocument/2006/relationships/image" Target="../media/image83.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80.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90.wmf"/><Relationship Id="rId3" Type="http://schemas.openxmlformats.org/officeDocument/2006/relationships/image" Target="../media/image87.wmf"/><Relationship Id="rId7" Type="http://schemas.openxmlformats.org/officeDocument/2006/relationships/image" Target="../media/image86.wmf"/><Relationship Id="rId12" Type="http://schemas.openxmlformats.org/officeDocument/2006/relationships/oleObject" Target="../embeddings/oleObject35.bin"/><Relationship Id="rId17" Type="http://schemas.openxmlformats.org/officeDocument/2006/relationships/image" Target="../media/image92.wmf"/><Relationship Id="rId2" Type="http://schemas.openxmlformats.org/officeDocument/2006/relationships/oleObject" Target="../embeddings/oleObject31.bin"/><Relationship Id="rId16" Type="http://schemas.openxmlformats.org/officeDocument/2006/relationships/oleObject" Target="../embeddings/oleObject37.bin"/><Relationship Id="rId1" Type="http://schemas.openxmlformats.org/officeDocument/2006/relationships/slideLayout" Target="../slideLayouts/slideLayout16.xml"/><Relationship Id="rId6" Type="http://schemas.openxmlformats.org/officeDocument/2006/relationships/oleObject" Target="../embeddings/oleObject32.bin"/><Relationship Id="rId11" Type="http://schemas.openxmlformats.org/officeDocument/2006/relationships/image" Target="../media/image89.wmf"/><Relationship Id="rId5" Type="http://schemas.openxmlformats.org/officeDocument/2006/relationships/image" Target="../media/image81.wmf"/><Relationship Id="rId15" Type="http://schemas.openxmlformats.org/officeDocument/2006/relationships/image" Target="../media/image91.wmf"/><Relationship Id="rId10" Type="http://schemas.openxmlformats.org/officeDocument/2006/relationships/oleObject" Target="../embeddings/oleObject34.bin"/><Relationship Id="rId4" Type="http://schemas.openxmlformats.org/officeDocument/2006/relationships/oleObject" Target="../embeddings/oleObject24.bin"/><Relationship Id="rId9" Type="http://schemas.openxmlformats.org/officeDocument/2006/relationships/image" Target="../media/image88.wmf"/><Relationship Id="rId14" Type="http://schemas.openxmlformats.org/officeDocument/2006/relationships/oleObject" Target="../embeddings/oleObject36.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image" Target="../media/image93.png"/><Relationship Id="rId1" Type="http://schemas.openxmlformats.org/officeDocument/2006/relationships/slideLayout" Target="../slideLayouts/slideLayout16.xml"/><Relationship Id="rId6" Type="http://schemas.openxmlformats.org/officeDocument/2006/relationships/image" Target="../media/image91.wmf"/><Relationship Id="rId5" Type="http://schemas.openxmlformats.org/officeDocument/2006/relationships/oleObject" Target="../embeddings/oleObject39.bin"/><Relationship Id="rId4" Type="http://schemas.openxmlformats.org/officeDocument/2006/relationships/image" Target="../media/image88.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98.wmf"/><Relationship Id="rId18" Type="http://schemas.openxmlformats.org/officeDocument/2006/relationships/oleObject" Target="../embeddings/oleObject47.bin"/><Relationship Id="rId3" Type="http://schemas.openxmlformats.org/officeDocument/2006/relationships/image" Target="../media/image70.png"/><Relationship Id="rId7" Type="http://schemas.openxmlformats.org/officeDocument/2006/relationships/image" Target="../media/image95.wmf"/><Relationship Id="rId12" Type="http://schemas.openxmlformats.org/officeDocument/2006/relationships/oleObject" Target="../embeddings/oleObject44.bin"/><Relationship Id="rId17" Type="http://schemas.openxmlformats.org/officeDocument/2006/relationships/image" Target="../media/image100.wmf"/><Relationship Id="rId2" Type="http://schemas.openxmlformats.org/officeDocument/2006/relationships/notesSlide" Target="../notesSlides/notesSlide1.xml"/><Relationship Id="rId16" Type="http://schemas.openxmlformats.org/officeDocument/2006/relationships/oleObject" Target="../embeddings/oleObject46.bin"/><Relationship Id="rId1" Type="http://schemas.openxmlformats.org/officeDocument/2006/relationships/slideLayout" Target="../slideLayouts/slideLayout16.xml"/><Relationship Id="rId6" Type="http://schemas.openxmlformats.org/officeDocument/2006/relationships/oleObject" Target="../embeddings/oleObject41.bin"/><Relationship Id="rId11" Type="http://schemas.openxmlformats.org/officeDocument/2006/relationships/image" Target="../media/image97.wmf"/><Relationship Id="rId5" Type="http://schemas.openxmlformats.org/officeDocument/2006/relationships/image" Target="../media/image94.wmf"/><Relationship Id="rId15" Type="http://schemas.openxmlformats.org/officeDocument/2006/relationships/image" Target="../media/image99.wmf"/><Relationship Id="rId10" Type="http://schemas.openxmlformats.org/officeDocument/2006/relationships/oleObject" Target="../embeddings/oleObject43.bin"/><Relationship Id="rId19" Type="http://schemas.openxmlformats.org/officeDocument/2006/relationships/image" Target="../media/image101.wmf"/><Relationship Id="rId4" Type="http://schemas.openxmlformats.org/officeDocument/2006/relationships/oleObject" Target="../embeddings/oleObject40.bin"/><Relationship Id="rId9" Type="http://schemas.openxmlformats.org/officeDocument/2006/relationships/image" Target="../media/image96.wmf"/><Relationship Id="rId14" Type="http://schemas.openxmlformats.org/officeDocument/2006/relationships/oleObject" Target="../embeddings/oleObject45.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image" Target="../media/image102.png"/><Relationship Id="rId1" Type="http://schemas.openxmlformats.org/officeDocument/2006/relationships/slideLayout" Target="../slideLayouts/slideLayout16.xml"/><Relationship Id="rId4" Type="http://schemas.openxmlformats.org/officeDocument/2006/relationships/image" Target="../media/image103.wmf"/></Relationships>
</file>

<file path=ppt/slides/_rels/slide35.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103.wmf"/><Relationship Id="rId7" Type="http://schemas.openxmlformats.org/officeDocument/2006/relationships/oleObject" Target="../embeddings/oleObject50.bin"/><Relationship Id="rId12" Type="http://schemas.openxmlformats.org/officeDocument/2006/relationships/image" Target="../media/image107.wmf"/><Relationship Id="rId2" Type="http://schemas.openxmlformats.org/officeDocument/2006/relationships/oleObject" Target="../embeddings/oleObject48.bin"/><Relationship Id="rId1" Type="http://schemas.openxmlformats.org/officeDocument/2006/relationships/slideLayout" Target="../slideLayouts/slideLayout16.xml"/><Relationship Id="rId6" Type="http://schemas.openxmlformats.org/officeDocument/2006/relationships/image" Target="../media/image105.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106.wmf"/><Relationship Id="rId4" Type="http://schemas.openxmlformats.org/officeDocument/2006/relationships/image" Target="../media/image104.png"/><Relationship Id="rId9" Type="http://schemas.openxmlformats.org/officeDocument/2006/relationships/oleObject" Target="../embeddings/oleObject51.bin"/></Relationships>
</file>

<file path=ppt/slides/_rels/slide3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6.xml"/><Relationship Id="rId4" Type="http://schemas.openxmlformats.org/officeDocument/2006/relationships/image" Target="../media/image112.png"/></Relationships>
</file>

<file path=ppt/slides/_rels/slide38.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png"/><Relationship Id="rId7" Type="http://schemas.openxmlformats.org/officeDocument/2006/relationships/image" Target="../media/image117.wmf"/><Relationship Id="rId2" Type="http://schemas.openxmlformats.org/officeDocument/2006/relationships/image" Target="../media/image113.png"/><Relationship Id="rId1" Type="http://schemas.openxmlformats.org/officeDocument/2006/relationships/slideLayout" Target="../slideLayouts/slideLayout16.xml"/><Relationship Id="rId6" Type="http://schemas.openxmlformats.org/officeDocument/2006/relationships/oleObject" Target="../embeddings/oleObject53.bin"/><Relationship Id="rId5" Type="http://schemas.openxmlformats.org/officeDocument/2006/relationships/image" Target="../media/image116.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15985" y="2559818"/>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sz="1800" dirty="0">
                <a:solidFill>
                  <a:schemeClr val="tx1"/>
                </a:solidFill>
                <a:latin typeface="Arial Unicode MS" pitchFamily="34" charset="-122"/>
                <a:ea typeface="Arial Unicode MS" pitchFamily="34" charset="-122"/>
                <a:cs typeface="Arial Unicode MS" pitchFamily="34" charset="-122"/>
              </a:rPr>
              <a:t>North Tower1#, Rm310</a:t>
            </a:r>
          </a:p>
        </p:txBody>
      </p:sp>
      <p:sp>
        <p:nvSpPr>
          <p:cNvPr id="6" name="文本框 5">
            <a:extLst>
              <a:ext uri="{FF2B5EF4-FFF2-40B4-BE49-F238E27FC236}">
                <a16:creationId xmlns:a16="http://schemas.microsoft.com/office/drawing/2014/main" id="{201B1E1D-7C41-4F56-BF1E-96200593BAF0}"/>
              </a:ext>
            </a:extLst>
          </p:cNvPr>
          <p:cNvSpPr txBox="1"/>
          <p:nvPr/>
        </p:nvSpPr>
        <p:spPr>
          <a:xfrm>
            <a:off x="1279046" y="1220254"/>
            <a:ext cx="7864954" cy="584775"/>
          </a:xfrm>
          <a:prstGeom prst="rect">
            <a:avLst/>
          </a:prstGeom>
          <a:noFill/>
        </p:spPr>
        <p:txBody>
          <a:bodyPr wrap="squar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15: </a:t>
            </a:r>
            <a:r>
              <a:rPr lang="en-US" altLang="zh-CN" sz="3200" b="1" dirty="0">
                <a:solidFill>
                  <a:srgbClr val="FF0000"/>
                </a:solidFill>
                <a:ea typeface="Arial Unicode MS" panose="020B0604020202020204" charset="-122"/>
                <a:cs typeface="Arial" panose="020B0604020202020204" pitchFamily="34" charset="0"/>
                <a:sym typeface="+mn-ea"/>
              </a:rPr>
              <a:t>Phase diagram-I</a:t>
            </a:r>
            <a:endParaRPr lang="en-US" altLang="zh-CN" sz="3200" dirty="0">
              <a:solidFill>
                <a:srgbClr val="FF0000"/>
              </a:solidFill>
              <a:latin typeface="Arial Unicode MS" pitchFamily="34" charset="-122"/>
              <a:ea typeface="Arial Unicode MS" pitchFamily="34" charset="-122"/>
              <a:cs typeface="Arial Unicode MS" pitchFamily="34" charset="-122"/>
            </a:endParaRPr>
          </a:p>
        </p:txBody>
      </p:sp>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2" name="矩形 1">
            <a:extLst>
              <a:ext uri="{FF2B5EF4-FFF2-40B4-BE49-F238E27FC236}">
                <a16:creationId xmlns:a16="http://schemas.microsoft.com/office/drawing/2014/main" id="{0211C4F9-7DB0-E005-8A5F-A4C87C2A04BE}"/>
              </a:ext>
            </a:extLst>
          </p:cNvPr>
          <p:cNvSpPr/>
          <p:nvPr/>
        </p:nvSpPr>
        <p:spPr>
          <a:xfrm>
            <a:off x="2550929" y="84135"/>
            <a:ext cx="6593071" cy="5232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spTree>
    <p:extLst>
      <p:ext uri="{BB962C8B-B14F-4D97-AF65-F5344CB8AC3E}">
        <p14:creationId xmlns:p14="http://schemas.microsoft.com/office/powerpoint/2010/main" val="230610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5922262" cy="523220"/>
          </a:xfrm>
          <a:prstGeom prst="rect">
            <a:avLst/>
          </a:prstGeom>
          <a:noFill/>
        </p:spPr>
        <p:txBody>
          <a:bodyPr wrap="none" rtlCol="0">
            <a:spAutoFit/>
          </a:bodyPr>
          <a:lstStyle/>
          <a:p>
            <a:r>
              <a:rPr lang="en-US" altLang="zh-CN" sz="2800" dirty="0">
                <a:solidFill>
                  <a:srgbClr val="FF0000"/>
                </a:solidFill>
              </a:rPr>
              <a:t>39. A short history of phase diagram</a:t>
            </a:r>
            <a:endParaRPr lang="zh-CN" altLang="en-US" sz="2800" dirty="0">
              <a:solidFill>
                <a:srgbClr val="FF0000"/>
              </a:solidFill>
            </a:endParaRPr>
          </a:p>
        </p:txBody>
      </p:sp>
      <p:sp>
        <p:nvSpPr>
          <p:cNvPr id="3" name="TextBox 2"/>
          <p:cNvSpPr txBox="1"/>
          <p:nvPr/>
        </p:nvSpPr>
        <p:spPr>
          <a:xfrm>
            <a:off x="609600" y="4343400"/>
            <a:ext cx="7154917" cy="1477328"/>
          </a:xfrm>
          <a:prstGeom prst="rect">
            <a:avLst/>
          </a:prstGeom>
          <a:noFill/>
        </p:spPr>
        <p:txBody>
          <a:bodyPr wrap="square" rtlCol="0">
            <a:spAutoFit/>
          </a:bodyPr>
          <a:lstStyle/>
          <a:p>
            <a:r>
              <a:rPr lang="en-US" altLang="zh-CN" dirty="0"/>
              <a:t>Chapter 10</a:t>
            </a:r>
          </a:p>
          <a:p>
            <a:r>
              <a:rPr lang="en-US" altLang="zh-CN" dirty="0"/>
              <a:t>Gibbs Free energy Composition and Phase diagrams of Binary System</a:t>
            </a:r>
          </a:p>
          <a:p>
            <a:endParaRPr lang="en-US" altLang="zh-CN" dirty="0"/>
          </a:p>
          <a:p>
            <a:r>
              <a:rPr lang="en-US" altLang="zh-CN" dirty="0"/>
              <a:t>Ref. Introduction to the thermodynamics of Materials, 6</a:t>
            </a:r>
            <a:r>
              <a:rPr lang="en-US" altLang="zh-CN" baseline="30000" dirty="0"/>
              <a:t>th</a:t>
            </a:r>
            <a:r>
              <a:rPr lang="en-US" altLang="zh-CN" dirty="0"/>
              <a:t> edition, D. R. Gaskell, and D. E. Laughlin</a:t>
            </a:r>
          </a:p>
        </p:txBody>
      </p:sp>
    </p:spTree>
    <p:extLst>
      <p:ext uri="{BB962C8B-B14F-4D97-AF65-F5344CB8AC3E}">
        <p14:creationId xmlns:p14="http://schemas.microsoft.com/office/powerpoint/2010/main" val="3171081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497" y="2073256"/>
            <a:ext cx="4648200" cy="274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881" y="4743072"/>
            <a:ext cx="6719887" cy="1583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48991" y="104745"/>
            <a:ext cx="2993127" cy="461665"/>
          </a:xfrm>
          <a:prstGeom prst="rect">
            <a:avLst/>
          </a:prstGeom>
          <a:noFill/>
        </p:spPr>
        <p:txBody>
          <a:bodyPr wrap="none" rtlCol="0">
            <a:spAutoFit/>
          </a:bodyPr>
          <a:lstStyle/>
          <a:p>
            <a:r>
              <a:rPr lang="en-US" altLang="zh-CN" sz="2400" dirty="0">
                <a:solidFill>
                  <a:srgbClr val="FF0000"/>
                </a:solidFill>
              </a:rPr>
              <a:t>Fe-C phase diagram</a:t>
            </a:r>
            <a:endParaRPr lang="zh-CN" altLang="en-US" sz="2400" dirty="0">
              <a:solidFill>
                <a:srgbClr val="FF0000"/>
              </a:solidFill>
            </a:endParaRPr>
          </a:p>
        </p:txBody>
      </p:sp>
      <p:pic>
        <p:nvPicPr>
          <p:cNvPr id="267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6801" y="892616"/>
            <a:ext cx="2543175"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726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316" y="892616"/>
            <a:ext cx="3605212" cy="111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8627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3244" y="49024"/>
            <a:ext cx="3466013" cy="523220"/>
          </a:xfrm>
          <a:prstGeom prst="rect">
            <a:avLst/>
          </a:prstGeom>
          <a:noFill/>
        </p:spPr>
        <p:txBody>
          <a:bodyPr wrap="none" rtlCol="0">
            <a:spAutoFit/>
          </a:bodyPr>
          <a:lstStyle/>
          <a:p>
            <a:r>
              <a:rPr lang="en-US" altLang="zh-CN" sz="2800" dirty="0">
                <a:solidFill>
                  <a:srgbClr val="FF0000"/>
                </a:solidFill>
              </a:rPr>
              <a:t>Fe-C phase diagram</a:t>
            </a:r>
            <a:endParaRPr lang="zh-CN" altLang="en-US" sz="2800" dirty="0">
              <a:solidFill>
                <a:srgbClr val="FF0000"/>
              </a:solidFill>
            </a:endParaRPr>
          </a:p>
        </p:txBody>
      </p:sp>
      <p:pic>
        <p:nvPicPr>
          <p:cNvPr id="264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49660" y="3629025"/>
            <a:ext cx="2730639" cy="18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749660" y="3593425"/>
            <a:ext cx="2454518" cy="369332"/>
          </a:xfrm>
          <a:prstGeom prst="rect">
            <a:avLst/>
          </a:prstGeom>
          <a:noFill/>
        </p:spPr>
        <p:txBody>
          <a:bodyPr wrap="none" rtlCol="0">
            <a:spAutoFit/>
          </a:bodyPr>
          <a:lstStyle/>
          <a:p>
            <a:r>
              <a:rPr lang="en-US" altLang="zh-CN" dirty="0"/>
              <a:t>19</a:t>
            </a:r>
            <a:r>
              <a:rPr lang="en-US" altLang="zh-CN" baseline="30000" dirty="0"/>
              <a:t>th</a:t>
            </a:r>
            <a:r>
              <a:rPr lang="en-US" altLang="zh-CN" dirty="0"/>
              <a:t> century</a:t>
            </a:r>
            <a:r>
              <a:rPr lang="zh-CN" altLang="en-US" dirty="0"/>
              <a:t>， </a:t>
            </a:r>
            <a:r>
              <a:rPr lang="en-US" altLang="zh-CN" dirty="0"/>
              <a:t>London</a:t>
            </a:r>
            <a:endParaRPr lang="zh-CN" altLang="en-US" dirty="0"/>
          </a:p>
        </p:txBody>
      </p:sp>
      <p:pic>
        <p:nvPicPr>
          <p:cNvPr id="264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37" y="1299802"/>
            <a:ext cx="5305425" cy="421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descr="查看源图像"/>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9660" y="1052743"/>
            <a:ext cx="2730639" cy="223872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727099" y="5253318"/>
            <a:ext cx="2313454" cy="369332"/>
          </a:xfrm>
          <a:prstGeom prst="rect">
            <a:avLst/>
          </a:prstGeom>
          <a:solidFill>
            <a:schemeClr val="accent6">
              <a:lumMod val="40000"/>
              <a:lumOff val="60000"/>
            </a:schemeClr>
          </a:solidFill>
        </p:spPr>
        <p:txBody>
          <a:bodyPr wrap="none" rtlCol="0">
            <a:spAutoFit/>
          </a:bodyPr>
          <a:lstStyle/>
          <a:p>
            <a:r>
              <a:rPr lang="en-US" altLang="zh-CN" dirty="0"/>
              <a:t>Fe-C</a:t>
            </a:r>
            <a:r>
              <a:rPr lang="zh-CN" altLang="en-US" dirty="0"/>
              <a:t> </a:t>
            </a:r>
            <a:r>
              <a:rPr lang="en-US" altLang="zh-CN" dirty="0"/>
              <a:t>Phase diagram</a:t>
            </a:r>
          </a:p>
        </p:txBody>
      </p:sp>
    </p:spTree>
    <p:extLst>
      <p:ext uri="{BB962C8B-B14F-4D97-AF65-F5344CB8AC3E}">
        <p14:creationId xmlns:p14="http://schemas.microsoft.com/office/powerpoint/2010/main" val="1311789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5736" y="1187171"/>
            <a:ext cx="8791575" cy="923330"/>
          </a:xfrm>
          <a:prstGeom prst="rect">
            <a:avLst/>
          </a:prstGeom>
        </p:spPr>
        <p:txBody>
          <a:bodyPr wrap="square">
            <a:spAutoFit/>
          </a:bodyPr>
          <a:lstStyle/>
          <a:p>
            <a:r>
              <a:rPr lang="en-US" altLang="zh-CN" dirty="0"/>
              <a:t>The earliest known production of steel is seen in pieces of ironware excavated from an archaeological site in</a:t>
            </a:r>
            <a:r>
              <a:rPr lang="en-US" altLang="zh-CN" dirty="0">
                <a:solidFill>
                  <a:srgbClr val="0000FF"/>
                </a:solidFill>
              </a:rPr>
              <a:t> Anatolia</a:t>
            </a:r>
            <a:r>
              <a:rPr lang="en-US" altLang="zh-CN" dirty="0"/>
              <a:t> (Kaman-</a:t>
            </a:r>
            <a:r>
              <a:rPr lang="en-US" altLang="zh-CN" dirty="0" err="1"/>
              <a:t>Kalehöyük</a:t>
            </a:r>
            <a:r>
              <a:rPr lang="en-US" altLang="zh-CN" dirty="0"/>
              <a:t>) and are nearly 4,000 years old, dating from 1800 BC</a:t>
            </a:r>
            <a:endParaRPr lang="zh-CN" altLang="en-US" dirty="0"/>
          </a:p>
        </p:txBody>
      </p:sp>
      <p:sp>
        <p:nvSpPr>
          <p:cNvPr id="3" name="TextBox 2"/>
          <p:cNvSpPr txBox="1"/>
          <p:nvPr/>
        </p:nvSpPr>
        <p:spPr>
          <a:xfrm>
            <a:off x="2837390" y="142517"/>
            <a:ext cx="2869696" cy="461665"/>
          </a:xfrm>
          <a:prstGeom prst="rect">
            <a:avLst/>
          </a:prstGeom>
          <a:noFill/>
        </p:spPr>
        <p:txBody>
          <a:bodyPr wrap="none" rtlCol="0">
            <a:spAutoFit/>
          </a:bodyPr>
          <a:lstStyle/>
          <a:p>
            <a:r>
              <a:rPr lang="en-US" altLang="zh-CN" sz="2400" dirty="0">
                <a:solidFill>
                  <a:srgbClr val="FF0000"/>
                </a:solidFill>
              </a:rPr>
              <a:t>The history of steel </a:t>
            </a:r>
            <a:endParaRPr lang="zh-CN" altLang="en-US" sz="2400" dirty="0">
              <a:solidFill>
                <a:srgbClr val="FF0000"/>
              </a:solidFill>
            </a:endParaRPr>
          </a:p>
        </p:txBody>
      </p:sp>
      <p:pic>
        <p:nvPicPr>
          <p:cNvPr id="266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365" y="2317640"/>
            <a:ext cx="408681"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185736" y="4979877"/>
            <a:ext cx="2286000" cy="830997"/>
          </a:xfrm>
          <a:prstGeom prst="rect">
            <a:avLst/>
          </a:prstGeom>
        </p:spPr>
        <p:txBody>
          <a:bodyPr wrap="square">
            <a:spAutoFit/>
          </a:bodyPr>
          <a:lstStyle/>
          <a:p>
            <a:r>
              <a:rPr lang="en-US" altLang="zh-CN" sz="1600" dirty="0"/>
              <a:t>The </a:t>
            </a:r>
            <a:r>
              <a:rPr lang="en-US" altLang="zh-CN" sz="1600" b="1" dirty="0" err="1"/>
              <a:t>falcata</a:t>
            </a:r>
            <a:r>
              <a:rPr lang="en-US" altLang="zh-CN" sz="1600" dirty="0"/>
              <a:t> is a type of </a:t>
            </a:r>
            <a:r>
              <a:rPr lang="en-US" altLang="zh-CN" sz="1600" dirty="0">
                <a:hlinkClick r:id="rId3" tooltip="Sword"/>
              </a:rPr>
              <a:t>sword</a:t>
            </a:r>
            <a:r>
              <a:rPr lang="en-US" altLang="zh-CN" sz="1600" dirty="0"/>
              <a:t> typical of pre-</a:t>
            </a:r>
            <a:r>
              <a:rPr lang="en-US" altLang="zh-CN" sz="1600" dirty="0">
                <a:hlinkClick r:id="rId4" tooltip="Ancient Rome"/>
              </a:rPr>
              <a:t>Roman</a:t>
            </a:r>
            <a:r>
              <a:rPr lang="en-US" altLang="zh-CN" sz="1600" dirty="0"/>
              <a:t> </a:t>
            </a:r>
            <a:r>
              <a:rPr lang="en-US" altLang="zh-CN" sz="1600" dirty="0">
                <a:hlinkClick r:id="rId5" tooltip="Iberian Peninsula"/>
              </a:rPr>
              <a:t>Iberia</a:t>
            </a:r>
            <a:r>
              <a:rPr lang="en-US" altLang="zh-CN" sz="1600" dirty="0"/>
              <a:t>.</a:t>
            </a:r>
            <a:endParaRPr lang="zh-CN" altLang="en-US" sz="1600" dirty="0"/>
          </a:p>
        </p:txBody>
      </p:sp>
      <p:sp>
        <p:nvSpPr>
          <p:cNvPr id="5" name="矩形 4"/>
          <p:cNvSpPr/>
          <p:nvPr/>
        </p:nvSpPr>
        <p:spPr>
          <a:xfrm>
            <a:off x="2605088" y="4931567"/>
            <a:ext cx="3252787" cy="830997"/>
          </a:xfrm>
          <a:prstGeom prst="rect">
            <a:avLst/>
          </a:prstGeom>
        </p:spPr>
        <p:txBody>
          <a:bodyPr wrap="square">
            <a:spAutoFit/>
          </a:bodyPr>
          <a:lstStyle/>
          <a:p>
            <a:r>
              <a:rPr lang="en-US" altLang="zh-CN" sz="1600" dirty="0"/>
              <a:t>The </a:t>
            </a:r>
            <a:r>
              <a:rPr lang="en-US" altLang="zh-CN" sz="1600" dirty="0">
                <a:hlinkClick r:id="rId6" tooltip="History of China"/>
              </a:rPr>
              <a:t>Chinese</a:t>
            </a:r>
            <a:r>
              <a:rPr lang="en-US" altLang="zh-CN" sz="1600" dirty="0"/>
              <a:t> of the </a:t>
            </a:r>
            <a:r>
              <a:rPr lang="en-US" altLang="zh-CN" sz="1600" dirty="0">
                <a:hlinkClick r:id="rId7" tooltip="Warring States period"/>
              </a:rPr>
              <a:t>Warring States period</a:t>
            </a:r>
            <a:r>
              <a:rPr lang="en-US" altLang="zh-CN" sz="1600" dirty="0"/>
              <a:t> (403–221 BC) had </a:t>
            </a:r>
            <a:r>
              <a:rPr lang="en-US" altLang="zh-CN" sz="1600" dirty="0">
                <a:hlinkClick r:id="rId8" tooltip="Quench"/>
              </a:rPr>
              <a:t>quench-hardened</a:t>
            </a:r>
            <a:r>
              <a:rPr lang="en-US" altLang="zh-CN" sz="1600" dirty="0"/>
              <a:t> steel</a:t>
            </a:r>
            <a:endParaRPr lang="zh-CN" altLang="en-US" sz="1600" dirty="0"/>
          </a:p>
        </p:txBody>
      </p:sp>
      <p:pic>
        <p:nvPicPr>
          <p:cNvPr id="266243"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0350" y="3155155"/>
            <a:ext cx="2343150"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44" name="Picture 4"/>
          <p:cNvPicPr>
            <a:picLocks noChangeAspect="1" noChangeArrowheads="1"/>
          </p:cNvPicPr>
          <p:nvPr/>
        </p:nvPicPr>
        <p:blipFill rotWithShape="1">
          <a:blip r:embed="rId10">
            <a:extLst>
              <a:ext uri="{28A0092B-C50C-407E-A947-70E740481C1C}">
                <a14:useLocalDpi xmlns:a14="http://schemas.microsoft.com/office/drawing/2010/main" val="0"/>
              </a:ext>
            </a:extLst>
          </a:blip>
          <a:srcRect b="50000"/>
          <a:stretch/>
        </p:blipFill>
        <p:spPr bwMode="auto">
          <a:xfrm>
            <a:off x="6915150" y="2631280"/>
            <a:ext cx="1428750" cy="222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857875" y="5112930"/>
            <a:ext cx="3043910" cy="338554"/>
          </a:xfrm>
          <a:prstGeom prst="rect">
            <a:avLst/>
          </a:prstGeom>
          <a:noFill/>
        </p:spPr>
        <p:txBody>
          <a:bodyPr wrap="none" rtlCol="0">
            <a:spAutoFit/>
          </a:bodyPr>
          <a:lstStyle/>
          <a:p>
            <a:r>
              <a:rPr lang="en-US" altLang="zh-CN" sz="1600" dirty="0" err="1"/>
              <a:t>Woots</a:t>
            </a:r>
            <a:r>
              <a:rPr lang="en-US" altLang="zh-CN" sz="1600" dirty="0"/>
              <a:t> Steel or Damascus steel</a:t>
            </a:r>
            <a:endParaRPr lang="zh-CN" altLang="en-US" sz="1600" dirty="0"/>
          </a:p>
        </p:txBody>
      </p:sp>
      <p:sp>
        <p:nvSpPr>
          <p:cNvPr id="7" name="TextBox 6"/>
          <p:cNvSpPr txBox="1"/>
          <p:nvPr/>
        </p:nvSpPr>
        <p:spPr>
          <a:xfrm>
            <a:off x="3123485" y="5799206"/>
            <a:ext cx="1107996" cy="369332"/>
          </a:xfrm>
          <a:prstGeom prst="rect">
            <a:avLst/>
          </a:prstGeom>
          <a:noFill/>
        </p:spPr>
        <p:txBody>
          <a:bodyPr wrap="none" rtlCol="0">
            <a:spAutoFit/>
          </a:bodyPr>
          <a:lstStyle/>
          <a:p>
            <a:r>
              <a:rPr lang="zh-CN" altLang="en-US" dirty="0"/>
              <a:t>战国时期</a:t>
            </a:r>
          </a:p>
        </p:txBody>
      </p:sp>
    </p:spTree>
    <p:extLst>
      <p:ext uri="{BB962C8B-B14F-4D97-AF65-F5344CB8AC3E}">
        <p14:creationId xmlns:p14="http://schemas.microsoft.com/office/powerpoint/2010/main" val="3335482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2"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701" y="2275416"/>
            <a:ext cx="4429124" cy="295275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查看源图像"/>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86726" name="Picture 6" descr="查看源图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2275416"/>
            <a:ext cx="3597688" cy="29495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731396" y="168275"/>
            <a:ext cx="3321743" cy="523220"/>
          </a:xfrm>
          <a:prstGeom prst="rect">
            <a:avLst/>
          </a:prstGeom>
          <a:noFill/>
        </p:spPr>
        <p:txBody>
          <a:bodyPr wrap="none" rtlCol="0">
            <a:spAutoFit/>
          </a:bodyPr>
          <a:lstStyle/>
          <a:p>
            <a:r>
              <a:rPr lang="en-US" altLang="zh-CN" sz="2800" dirty="0">
                <a:solidFill>
                  <a:srgbClr val="FF0000"/>
                </a:solidFill>
              </a:rPr>
              <a:t>The history of steel </a:t>
            </a:r>
            <a:endParaRPr lang="zh-CN" altLang="en-US" sz="2800" dirty="0">
              <a:solidFill>
                <a:srgbClr val="FF0000"/>
              </a:solidFill>
            </a:endParaRPr>
          </a:p>
        </p:txBody>
      </p:sp>
      <p:sp>
        <p:nvSpPr>
          <p:cNvPr id="7" name="TextBox 6"/>
          <p:cNvSpPr txBox="1"/>
          <p:nvPr/>
        </p:nvSpPr>
        <p:spPr>
          <a:xfrm>
            <a:off x="1519365" y="1103530"/>
            <a:ext cx="2424062" cy="461665"/>
          </a:xfrm>
          <a:prstGeom prst="rect">
            <a:avLst/>
          </a:prstGeom>
          <a:noFill/>
        </p:spPr>
        <p:txBody>
          <a:bodyPr wrap="none" rtlCol="0">
            <a:spAutoFit/>
          </a:bodyPr>
          <a:lstStyle/>
          <a:p>
            <a:r>
              <a:rPr lang="zh-CN" altLang="en-US" sz="2400" dirty="0"/>
              <a:t>生铁，熟铁，钢 </a:t>
            </a:r>
          </a:p>
        </p:txBody>
      </p:sp>
      <p:sp>
        <p:nvSpPr>
          <p:cNvPr id="4" name="矩形 3"/>
          <p:cNvSpPr/>
          <p:nvPr/>
        </p:nvSpPr>
        <p:spPr>
          <a:xfrm>
            <a:off x="1714500" y="5563285"/>
            <a:ext cx="5753100" cy="369332"/>
          </a:xfrm>
          <a:prstGeom prst="rect">
            <a:avLst/>
          </a:prstGeom>
        </p:spPr>
        <p:txBody>
          <a:bodyPr wrap="square">
            <a:spAutoFit/>
          </a:bodyPr>
          <a:lstStyle/>
          <a:p>
            <a:r>
              <a:rPr lang="en-US" altLang="zh-CN" dirty="0"/>
              <a:t>《</a:t>
            </a:r>
            <a:r>
              <a:rPr lang="zh-CN" altLang="en-US" dirty="0"/>
              <a:t>列子</a:t>
            </a:r>
            <a:r>
              <a:rPr lang="en-US" altLang="zh-CN" dirty="0"/>
              <a:t>·</a:t>
            </a:r>
            <a:r>
              <a:rPr lang="zh-CN" altLang="en-US" dirty="0"/>
              <a:t>汤问篇</a:t>
            </a:r>
            <a:r>
              <a:rPr lang="en-US" altLang="zh-CN" dirty="0"/>
              <a:t>》</a:t>
            </a:r>
            <a:r>
              <a:rPr lang="zh-CN" altLang="en-US" dirty="0"/>
              <a:t>鍊钢赤刃，用之切玉，如切泥焉</a:t>
            </a:r>
          </a:p>
        </p:txBody>
      </p:sp>
    </p:spTree>
    <p:extLst>
      <p:ext uri="{BB962C8B-B14F-4D97-AF65-F5344CB8AC3E}">
        <p14:creationId xmlns:p14="http://schemas.microsoft.com/office/powerpoint/2010/main" val="123598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6"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476" y="930275"/>
            <a:ext cx="5721350" cy="43936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594262" y="127281"/>
            <a:ext cx="3421129" cy="523220"/>
          </a:xfrm>
          <a:prstGeom prst="rect">
            <a:avLst/>
          </a:prstGeom>
          <a:noFill/>
        </p:spPr>
        <p:txBody>
          <a:bodyPr wrap="none" rtlCol="0">
            <a:spAutoFit/>
          </a:bodyPr>
          <a:lstStyle/>
          <a:p>
            <a:r>
              <a:rPr lang="en-US" altLang="zh-CN" sz="2800" dirty="0">
                <a:solidFill>
                  <a:srgbClr val="FF0000"/>
                </a:solidFill>
              </a:rPr>
              <a:t>The history of steel </a:t>
            </a:r>
            <a:endParaRPr lang="zh-CN" altLang="en-US" sz="2800" dirty="0">
              <a:solidFill>
                <a:srgbClr val="FF0000"/>
              </a:solidFill>
            </a:endParaRPr>
          </a:p>
        </p:txBody>
      </p:sp>
    </p:spTree>
    <p:extLst>
      <p:ext uri="{BB962C8B-B14F-4D97-AF65-F5344CB8AC3E}">
        <p14:creationId xmlns:p14="http://schemas.microsoft.com/office/powerpoint/2010/main" val="2970422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82210" y="118600"/>
            <a:ext cx="2869696" cy="461665"/>
          </a:xfrm>
          <a:prstGeom prst="rect">
            <a:avLst/>
          </a:prstGeom>
          <a:noFill/>
        </p:spPr>
        <p:txBody>
          <a:bodyPr wrap="none" rtlCol="0">
            <a:spAutoFit/>
          </a:bodyPr>
          <a:lstStyle/>
          <a:p>
            <a:r>
              <a:rPr lang="en-US" altLang="zh-CN" sz="2400" dirty="0">
                <a:solidFill>
                  <a:srgbClr val="FF0000"/>
                </a:solidFill>
              </a:rPr>
              <a:t>The history of steel </a:t>
            </a:r>
            <a:endParaRPr lang="zh-CN" altLang="en-US" sz="2400" dirty="0">
              <a:solidFill>
                <a:srgbClr val="FF0000"/>
              </a:solidFill>
            </a:endParaRPr>
          </a:p>
        </p:txBody>
      </p:sp>
      <p:sp>
        <p:nvSpPr>
          <p:cNvPr id="3" name="矩形 2"/>
          <p:cNvSpPr/>
          <p:nvPr/>
        </p:nvSpPr>
        <p:spPr>
          <a:xfrm>
            <a:off x="488950" y="3192512"/>
            <a:ext cx="8178800" cy="3139321"/>
          </a:xfrm>
          <a:prstGeom prst="rect">
            <a:avLst/>
          </a:prstGeom>
        </p:spPr>
        <p:txBody>
          <a:bodyPr wrap="square">
            <a:spAutoFit/>
          </a:bodyPr>
          <a:lstStyle/>
          <a:p>
            <a:r>
              <a:rPr lang="zh-CN" altLang="en-US" dirty="0"/>
              <a:t>南北朝， 将液态生铁浇在熟铁上，经过几度熔炼，使熟铁铁渗碳成为钢</a:t>
            </a:r>
            <a:endParaRPr lang="en-US" altLang="zh-CN" dirty="0"/>
          </a:p>
          <a:p>
            <a:endParaRPr lang="en-US" altLang="zh-CN" dirty="0"/>
          </a:p>
          <a:p>
            <a:r>
              <a:rPr lang="zh-CN" altLang="en-US" dirty="0"/>
              <a:t>宋代又把生铁片嵌在盘绕的熟铁条中间，用泥巴把炼钢炉密封起来，进行烧炼，效果更好</a:t>
            </a:r>
            <a:endParaRPr lang="en-US" altLang="zh-CN" dirty="0"/>
          </a:p>
          <a:p>
            <a:endParaRPr lang="en-US" altLang="zh-CN" dirty="0"/>
          </a:p>
          <a:p>
            <a:r>
              <a:rPr lang="zh-CN" altLang="en-US" dirty="0"/>
              <a:t>明代又有改进，把生铁片盖在捆紧的若干熟铁薄片上，使生铁液可以更好均匀地渗入熟铁之中</a:t>
            </a:r>
            <a:endParaRPr lang="en-US" altLang="zh-CN" dirty="0"/>
          </a:p>
          <a:p>
            <a:endParaRPr lang="en-US" altLang="zh-CN" dirty="0"/>
          </a:p>
          <a:p>
            <a:r>
              <a:rPr lang="zh-CN" altLang="en-US" dirty="0"/>
              <a:t>明中期以后，灌钢法更进一步发展为苏钢法以熟铁为料铁，置于炉中，而将生铁板放在炉口，当炉温升高到</a:t>
            </a:r>
            <a:r>
              <a:rPr lang="en-US" altLang="zh-CN" dirty="0"/>
              <a:t>1300℃</a:t>
            </a:r>
            <a:r>
              <a:rPr lang="zh-CN" altLang="en-US" dirty="0"/>
              <a:t>左右，生铁板开始熔化时，既用火钳夹住生铁板左右移动，并不断翻动料铁，使料铁均匀地淋到生铁液</a:t>
            </a:r>
          </a:p>
        </p:txBody>
      </p:sp>
      <p:pic>
        <p:nvPicPr>
          <p:cNvPr id="288770" name="Picture 2" descr="查看源图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50" y="776287"/>
            <a:ext cx="1952625" cy="209550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2327275" y="1794808"/>
            <a:ext cx="1492716" cy="646331"/>
          </a:xfrm>
          <a:prstGeom prst="rect">
            <a:avLst/>
          </a:prstGeom>
        </p:spPr>
        <p:txBody>
          <a:bodyPr wrap="none">
            <a:spAutoFit/>
          </a:bodyPr>
          <a:lstStyle/>
          <a:p>
            <a:r>
              <a:rPr lang="en-US" altLang="zh-CN" b="1" dirty="0"/>
              <a:t>metallurgist</a:t>
            </a:r>
          </a:p>
          <a:p>
            <a:r>
              <a:rPr lang="zh-CN" altLang="en-US" dirty="0"/>
              <a:t>綦毋怀文</a:t>
            </a:r>
          </a:p>
        </p:txBody>
      </p:sp>
      <p:sp>
        <p:nvSpPr>
          <p:cNvPr id="5" name="矩形 4"/>
          <p:cNvSpPr/>
          <p:nvPr/>
        </p:nvSpPr>
        <p:spPr>
          <a:xfrm>
            <a:off x="2230666" y="2471618"/>
            <a:ext cx="2569934" cy="369332"/>
          </a:xfrm>
          <a:prstGeom prst="rect">
            <a:avLst/>
          </a:prstGeom>
        </p:spPr>
        <p:txBody>
          <a:bodyPr wrap="none">
            <a:spAutoFit/>
          </a:bodyPr>
          <a:lstStyle/>
          <a:p>
            <a:r>
              <a:rPr lang="zh-CN" altLang="en-US" dirty="0"/>
              <a:t>南北朝时期：</a:t>
            </a:r>
            <a:r>
              <a:rPr lang="en-US" altLang="zh-CN" dirty="0"/>
              <a:t>420—589</a:t>
            </a:r>
            <a:endParaRPr lang="zh-CN" altLang="en-US" dirty="0"/>
          </a:p>
        </p:txBody>
      </p:sp>
      <p:pic>
        <p:nvPicPr>
          <p:cNvPr id="2887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425" y="756046"/>
            <a:ext cx="4086225" cy="230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981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E6A0E9-395D-47C1-9F76-8DF7D8268620}"/>
              </a:ext>
            </a:extLst>
          </p:cNvPr>
          <p:cNvSpPr txBox="1"/>
          <p:nvPr/>
        </p:nvSpPr>
        <p:spPr>
          <a:xfrm>
            <a:off x="2553611" y="307786"/>
            <a:ext cx="2869696" cy="461665"/>
          </a:xfrm>
          <a:prstGeom prst="rect">
            <a:avLst/>
          </a:prstGeom>
          <a:noFill/>
        </p:spPr>
        <p:txBody>
          <a:bodyPr wrap="none" rtlCol="0">
            <a:spAutoFit/>
          </a:bodyPr>
          <a:lstStyle/>
          <a:p>
            <a:r>
              <a:rPr lang="en-US" altLang="zh-CN" sz="2400" dirty="0">
                <a:solidFill>
                  <a:srgbClr val="FF0000"/>
                </a:solidFill>
              </a:rPr>
              <a:t>The history of steel </a:t>
            </a:r>
            <a:endParaRPr lang="zh-CN" altLang="en-US" sz="2400" dirty="0">
              <a:solidFill>
                <a:srgbClr val="FF0000"/>
              </a:solidFill>
            </a:endParaRPr>
          </a:p>
        </p:txBody>
      </p:sp>
      <p:sp>
        <p:nvSpPr>
          <p:cNvPr id="4" name="文本框 3">
            <a:extLst>
              <a:ext uri="{FF2B5EF4-FFF2-40B4-BE49-F238E27FC236}">
                <a16:creationId xmlns:a16="http://schemas.microsoft.com/office/drawing/2014/main" id="{39E60C04-620C-4CCF-B13C-6B23D3586695}"/>
              </a:ext>
            </a:extLst>
          </p:cNvPr>
          <p:cNvSpPr txBox="1"/>
          <p:nvPr/>
        </p:nvSpPr>
        <p:spPr>
          <a:xfrm>
            <a:off x="405962" y="1464359"/>
            <a:ext cx="8091652" cy="1477328"/>
          </a:xfrm>
          <a:prstGeom prst="rect">
            <a:avLst/>
          </a:prstGeom>
          <a:noFill/>
        </p:spPr>
        <p:txBody>
          <a:bodyPr wrap="square">
            <a:spAutoFit/>
          </a:bodyPr>
          <a:lstStyle/>
          <a:p>
            <a:r>
              <a:rPr lang="zh-CN" altLang="en-US" b="0" i="0" dirty="0">
                <a:solidFill>
                  <a:srgbClr val="333333"/>
                </a:solidFill>
                <a:effectLst/>
                <a:latin typeface="Helvetica Neue"/>
              </a:rPr>
              <a:t>“烧刃”一般被称为“覆土烧刃” 传自初唐。日本从古代沿用至今用来锻造刀剑过程中极为关键的一道锻造工艺。大致来说就是用土包住刀胎，露出刀刃部分，之后进行淬火工艺。这样可以让刃与刀身的硬度不同，刃的硬度要比其刀身高很多，一把刀成型以后就具备了很好的柔韧性的同时还能保持较高的刀刃硬度，这样一来即可以增加使用寿命，又具有出色的使用性能</a:t>
            </a:r>
            <a:endParaRPr lang="zh-CN" altLang="en-US" dirty="0"/>
          </a:p>
        </p:txBody>
      </p:sp>
      <p:pic>
        <p:nvPicPr>
          <p:cNvPr id="293890" name="Picture 2">
            <a:extLst>
              <a:ext uri="{FF2B5EF4-FFF2-40B4-BE49-F238E27FC236}">
                <a16:creationId xmlns:a16="http://schemas.microsoft.com/office/drawing/2014/main" id="{ABE8E478-3E1A-41F0-949A-AFB8A605A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962" y="3220405"/>
            <a:ext cx="4378873" cy="2914215"/>
          </a:xfrm>
          <a:prstGeom prst="rect">
            <a:avLst/>
          </a:prstGeom>
          <a:noFill/>
          <a:extLst>
            <a:ext uri="{909E8E84-426E-40DD-AFC4-6F175D3DCCD1}">
              <a14:hiddenFill xmlns:a14="http://schemas.microsoft.com/office/drawing/2010/main">
                <a:solidFill>
                  <a:srgbClr val="FFFFFF"/>
                </a:solidFill>
              </a14:hiddenFill>
            </a:ext>
          </a:extLst>
        </p:spPr>
      </p:pic>
      <p:pic>
        <p:nvPicPr>
          <p:cNvPr id="293892" name="Picture 4">
            <a:extLst>
              <a:ext uri="{FF2B5EF4-FFF2-40B4-BE49-F238E27FC236}">
                <a16:creationId xmlns:a16="http://schemas.microsoft.com/office/drawing/2014/main" id="{BDB982CA-09C5-408D-8B43-F6D8333B4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4021" y="4529413"/>
            <a:ext cx="3929063" cy="1605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74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5262979" cy="523220"/>
          </a:xfrm>
          <a:prstGeom prst="rect">
            <a:avLst/>
          </a:prstGeom>
          <a:noFill/>
        </p:spPr>
        <p:txBody>
          <a:bodyPr wrap="none" rtlCol="0">
            <a:spAutoFit/>
          </a:bodyPr>
          <a:lstStyle/>
          <a:p>
            <a:r>
              <a:rPr lang="en-US" altLang="zh-CN" sz="2800" dirty="0">
                <a:solidFill>
                  <a:srgbClr val="FF0000"/>
                </a:solidFill>
              </a:rPr>
              <a:t>40. Over view of phase diagram</a:t>
            </a:r>
            <a:endParaRPr lang="zh-CN" altLang="en-US" sz="2800" dirty="0">
              <a:solidFill>
                <a:srgbClr val="FF0000"/>
              </a:solidFill>
            </a:endParaRPr>
          </a:p>
        </p:txBody>
      </p:sp>
      <p:sp>
        <p:nvSpPr>
          <p:cNvPr id="3" name="TextBox 2"/>
          <p:cNvSpPr txBox="1"/>
          <p:nvPr/>
        </p:nvSpPr>
        <p:spPr>
          <a:xfrm>
            <a:off x="609600" y="4343400"/>
            <a:ext cx="7154917" cy="1477328"/>
          </a:xfrm>
          <a:prstGeom prst="rect">
            <a:avLst/>
          </a:prstGeom>
          <a:noFill/>
        </p:spPr>
        <p:txBody>
          <a:bodyPr wrap="square" rtlCol="0">
            <a:spAutoFit/>
          </a:bodyPr>
          <a:lstStyle/>
          <a:p>
            <a:r>
              <a:rPr lang="en-US" altLang="zh-CN" dirty="0"/>
              <a:t>Chapter 10</a:t>
            </a:r>
          </a:p>
          <a:p>
            <a:r>
              <a:rPr lang="en-US" altLang="zh-CN" dirty="0"/>
              <a:t>Gibbs Free energy Composition and Phase diagrams of Binary System</a:t>
            </a:r>
          </a:p>
          <a:p>
            <a:endParaRPr lang="en-US" altLang="zh-CN" dirty="0"/>
          </a:p>
          <a:p>
            <a:r>
              <a:rPr lang="en-US" altLang="zh-CN" dirty="0"/>
              <a:t>Ref. Introduction to the thermodynamics of Materials, 6</a:t>
            </a:r>
            <a:r>
              <a:rPr lang="en-US" altLang="zh-CN" baseline="30000" dirty="0"/>
              <a:t>th</a:t>
            </a:r>
            <a:r>
              <a:rPr lang="en-US" altLang="zh-CN" dirty="0"/>
              <a:t> edition, D. R. Gaskell, and D. E. Laughlin</a:t>
            </a:r>
          </a:p>
        </p:txBody>
      </p:sp>
    </p:spTree>
    <p:extLst>
      <p:ext uri="{BB962C8B-B14F-4D97-AF65-F5344CB8AC3E}">
        <p14:creationId xmlns:p14="http://schemas.microsoft.com/office/powerpoint/2010/main" val="1447628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589134" y="1183875"/>
            <a:ext cx="3035286" cy="17526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240111" y="190956"/>
            <a:ext cx="5951373" cy="523220"/>
          </a:xfrm>
          <a:prstGeom prst="rect">
            <a:avLst/>
          </a:prstGeom>
        </p:spPr>
        <p:txBody>
          <a:bodyPr wrap="none">
            <a:spAutoFit/>
          </a:bodyPr>
          <a:lstStyle/>
          <a:p>
            <a:r>
              <a:rPr lang="en-US" altLang="zh-CN" sz="2800" dirty="0">
                <a:solidFill>
                  <a:srgbClr val="FF0000"/>
                </a:solidFill>
              </a:rPr>
              <a:t>Eutectic and Eutectoid Phase Diagrams</a:t>
            </a:r>
            <a:endParaRPr lang="zh-CN" altLang="en-US" sz="2800" dirty="0">
              <a:solidFill>
                <a:srgbClr val="FF0000"/>
              </a:solidFill>
            </a:endParaRPr>
          </a:p>
        </p:txBody>
      </p:sp>
      <p:pic>
        <p:nvPicPr>
          <p:cNvPr id="133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34" y="1044342"/>
            <a:ext cx="5410200" cy="4464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141" y="1645540"/>
            <a:ext cx="2284679" cy="112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618744" y="5632999"/>
            <a:ext cx="8153400" cy="923330"/>
          </a:xfrm>
          <a:prstGeom prst="rect">
            <a:avLst/>
          </a:prstGeom>
          <a:solidFill>
            <a:schemeClr val="accent6">
              <a:lumMod val="40000"/>
              <a:lumOff val="60000"/>
            </a:schemeClr>
          </a:solidFill>
        </p:spPr>
        <p:txBody>
          <a:bodyPr wrap="square">
            <a:spAutoFit/>
          </a:bodyPr>
          <a:lstStyle/>
          <a:p>
            <a:r>
              <a:rPr lang="en-US" altLang="zh-CN" b="1" dirty="0">
                <a:solidFill>
                  <a:srgbClr val="FF0000"/>
                </a:solidFill>
              </a:rPr>
              <a:t>Eutectoid Phase Diagrams </a:t>
            </a:r>
            <a:r>
              <a:rPr lang="zh-CN" altLang="en-US" b="1" dirty="0">
                <a:solidFill>
                  <a:srgbClr val="FF0000"/>
                </a:solidFill>
              </a:rPr>
              <a:t>（共析相图）</a:t>
            </a:r>
            <a:endParaRPr lang="en-US" altLang="zh-CN" b="1" dirty="0"/>
          </a:p>
          <a:p>
            <a:r>
              <a:rPr lang="en-US" altLang="zh-CN" dirty="0"/>
              <a:t>If the high-temperature phase in these diagrams is replaced by a solid phase,</a:t>
            </a:r>
          </a:p>
          <a:p>
            <a:r>
              <a:rPr lang="en-US" altLang="zh-CN" dirty="0"/>
              <a:t>the diagram is called a </a:t>
            </a:r>
            <a:r>
              <a:rPr lang="en-US" altLang="zh-CN" i="1" dirty="0"/>
              <a:t>eutectoid </a:t>
            </a:r>
            <a:r>
              <a:rPr lang="en-US" altLang="zh-CN" dirty="0"/>
              <a:t>(eutectic-like) phase diagram</a:t>
            </a:r>
            <a:endParaRPr lang="zh-CN" altLang="en-US" dirty="0"/>
          </a:p>
        </p:txBody>
      </p:sp>
      <p:sp>
        <p:nvSpPr>
          <p:cNvPr id="12" name="矩形 11"/>
          <p:cNvSpPr/>
          <p:nvPr/>
        </p:nvSpPr>
        <p:spPr>
          <a:xfrm>
            <a:off x="5730141" y="1183875"/>
            <a:ext cx="1977016" cy="461665"/>
          </a:xfrm>
          <a:prstGeom prst="rect">
            <a:avLst/>
          </a:prstGeom>
        </p:spPr>
        <p:txBody>
          <a:bodyPr wrap="none">
            <a:spAutoFit/>
          </a:bodyPr>
          <a:lstStyle/>
          <a:p>
            <a:r>
              <a:rPr lang="en-US" altLang="zh-CN" sz="2400" dirty="0">
                <a:solidFill>
                  <a:srgbClr val="0000FF"/>
                </a:solidFill>
              </a:rPr>
              <a:t>Eutectic point </a:t>
            </a:r>
            <a:endParaRPr lang="zh-CN" altLang="en-US" sz="2400" dirty="0">
              <a:solidFill>
                <a:srgbClr val="0000FF"/>
              </a:solidFill>
            </a:endParaRPr>
          </a:p>
        </p:txBody>
      </p:sp>
      <p:sp>
        <p:nvSpPr>
          <p:cNvPr id="14" name="矩形 13"/>
          <p:cNvSpPr/>
          <p:nvPr/>
        </p:nvSpPr>
        <p:spPr>
          <a:xfrm>
            <a:off x="5589134" y="3675734"/>
            <a:ext cx="2256643" cy="369332"/>
          </a:xfrm>
          <a:prstGeom prst="rect">
            <a:avLst/>
          </a:prstGeom>
        </p:spPr>
        <p:txBody>
          <a:bodyPr wrap="none">
            <a:spAutoFit/>
          </a:bodyPr>
          <a:lstStyle/>
          <a:p>
            <a:r>
              <a:rPr lang="en-US" altLang="zh-CN" dirty="0"/>
              <a:t>Hypoeutectic reaction</a:t>
            </a:r>
            <a:endParaRPr lang="zh-CN" altLang="en-US" dirty="0"/>
          </a:p>
        </p:txBody>
      </p:sp>
      <p:pic>
        <p:nvPicPr>
          <p:cNvPr id="133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1550" y="4079328"/>
            <a:ext cx="1355070" cy="45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5617262" y="4513900"/>
            <a:ext cx="2327368" cy="369332"/>
          </a:xfrm>
          <a:prstGeom prst="rect">
            <a:avLst/>
          </a:prstGeom>
        </p:spPr>
        <p:txBody>
          <a:bodyPr wrap="none">
            <a:spAutoFit/>
          </a:bodyPr>
          <a:lstStyle/>
          <a:p>
            <a:r>
              <a:rPr lang="en-US" altLang="zh-CN" dirty="0"/>
              <a:t>Hypereutectic reaction</a:t>
            </a:r>
            <a:endParaRPr lang="zh-CN" altLang="en-US" dirty="0"/>
          </a:p>
        </p:txBody>
      </p:sp>
      <p:pic>
        <p:nvPicPr>
          <p:cNvPr id="133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6835" y="4883232"/>
            <a:ext cx="1588385" cy="49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5679154" y="3012675"/>
            <a:ext cx="1761316" cy="369332"/>
          </a:xfrm>
          <a:prstGeom prst="rect">
            <a:avLst/>
          </a:prstGeom>
        </p:spPr>
        <p:txBody>
          <a:bodyPr wrap="none">
            <a:spAutoFit/>
          </a:bodyPr>
          <a:lstStyle/>
          <a:p>
            <a:r>
              <a:rPr lang="en-US" altLang="zh-CN" dirty="0"/>
              <a:t>Eutectic reaction</a:t>
            </a:r>
            <a:endParaRPr lang="zh-CN" altLang="en-US" dirty="0"/>
          </a:p>
        </p:txBody>
      </p:sp>
      <p:sp>
        <p:nvSpPr>
          <p:cNvPr id="18" name="TextBox 17"/>
          <p:cNvSpPr txBox="1"/>
          <p:nvPr/>
        </p:nvSpPr>
        <p:spPr>
          <a:xfrm>
            <a:off x="5920059" y="3317475"/>
            <a:ext cx="875561" cy="369332"/>
          </a:xfrm>
          <a:prstGeom prst="rect">
            <a:avLst/>
          </a:prstGeom>
          <a:noFill/>
        </p:spPr>
        <p:txBody>
          <a:bodyPr wrap="none" rtlCol="0">
            <a:spAutoFit/>
          </a:bodyPr>
          <a:lstStyle/>
          <a:p>
            <a:r>
              <a:rPr lang="en-US" altLang="zh-CN" dirty="0"/>
              <a:t>L</a:t>
            </a:r>
            <a:r>
              <a:rPr lang="en-US" altLang="zh-CN" dirty="0">
                <a:sym typeface="Wingdings" panose="05000000000000000000" pitchFamily="2" charset="2"/>
              </a:rPr>
              <a:t></a:t>
            </a:r>
            <a:r>
              <a:rPr lang="el-GR" altLang="zh-CN" dirty="0">
                <a:latin typeface="Times New Roman"/>
                <a:cs typeface="Times New Roman"/>
              </a:rPr>
              <a:t>α</a:t>
            </a:r>
            <a:r>
              <a:rPr lang="en-US" altLang="zh-CN" dirty="0">
                <a:latin typeface="Times New Roman"/>
                <a:cs typeface="Times New Roman"/>
              </a:rPr>
              <a:t>+</a:t>
            </a:r>
            <a:r>
              <a:rPr lang="el-GR" altLang="zh-CN" dirty="0">
                <a:latin typeface="Times New Roman"/>
                <a:cs typeface="Times New Roman"/>
              </a:rPr>
              <a:t>β</a:t>
            </a:r>
            <a:endParaRPr lang="zh-CN" altLang="en-US" dirty="0"/>
          </a:p>
        </p:txBody>
      </p:sp>
      <p:sp>
        <p:nvSpPr>
          <p:cNvPr id="19" name="矩形 18"/>
          <p:cNvSpPr/>
          <p:nvPr/>
        </p:nvSpPr>
        <p:spPr>
          <a:xfrm>
            <a:off x="242420" y="1031475"/>
            <a:ext cx="2416815" cy="646331"/>
          </a:xfrm>
          <a:prstGeom prst="rect">
            <a:avLst/>
          </a:prstGeom>
        </p:spPr>
        <p:txBody>
          <a:bodyPr wrap="none">
            <a:spAutoFit/>
          </a:bodyPr>
          <a:lstStyle/>
          <a:p>
            <a:r>
              <a:rPr lang="en-US" altLang="zh-CN" dirty="0">
                <a:solidFill>
                  <a:srgbClr val="FF0000"/>
                </a:solidFill>
              </a:rPr>
              <a:t>Eutectic  phase diagram</a:t>
            </a:r>
          </a:p>
          <a:p>
            <a:r>
              <a:rPr lang="zh-CN" altLang="en-US" dirty="0">
                <a:solidFill>
                  <a:srgbClr val="FF0000"/>
                </a:solidFill>
              </a:rPr>
              <a:t>（共晶相图）</a:t>
            </a:r>
            <a:endParaRPr lang="zh-CN" altLang="en-US" dirty="0"/>
          </a:p>
        </p:txBody>
      </p:sp>
    </p:spTree>
    <p:extLst>
      <p:ext uri="{BB962C8B-B14F-4D97-AF65-F5344CB8AC3E}">
        <p14:creationId xmlns:p14="http://schemas.microsoft.com/office/powerpoint/2010/main" val="708307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9363" y="1114078"/>
            <a:ext cx="6408712" cy="508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403648" y="260648"/>
            <a:ext cx="6379952" cy="461665"/>
          </a:xfrm>
          <a:prstGeom prst="rect">
            <a:avLst/>
          </a:prstGeom>
        </p:spPr>
        <p:txBody>
          <a:bodyPr wrap="none">
            <a:spAutoFit/>
          </a:bodyPr>
          <a:lstStyle/>
          <a:p>
            <a:r>
              <a:rPr lang="en-US" altLang="zh-CN" sz="2400" dirty="0">
                <a:solidFill>
                  <a:srgbClr val="FF0000"/>
                </a:solidFill>
              </a:rPr>
              <a:t> A Eutectic point in the Cu-Ag phase diagram </a:t>
            </a:r>
            <a:endParaRPr lang="zh-CN" altLang="en-US" sz="2400" dirty="0"/>
          </a:p>
        </p:txBody>
      </p:sp>
    </p:spTree>
    <p:extLst>
      <p:ext uri="{BB962C8B-B14F-4D97-AF65-F5344CB8AC3E}">
        <p14:creationId xmlns:p14="http://schemas.microsoft.com/office/powerpoint/2010/main" val="4029655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96752"/>
            <a:ext cx="6667500"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403648" y="260648"/>
            <a:ext cx="5326010" cy="400110"/>
          </a:xfrm>
          <a:prstGeom prst="rect">
            <a:avLst/>
          </a:prstGeom>
        </p:spPr>
        <p:txBody>
          <a:bodyPr wrap="none">
            <a:spAutoFit/>
          </a:bodyPr>
          <a:lstStyle/>
          <a:p>
            <a:r>
              <a:rPr lang="en-US" altLang="zh-CN" sz="2000" dirty="0">
                <a:solidFill>
                  <a:srgbClr val="FF0000"/>
                </a:solidFill>
              </a:rPr>
              <a:t> A Eutectic point in the Cd-Zn phase diagram </a:t>
            </a:r>
            <a:endParaRPr lang="zh-CN" altLang="en-US" sz="2000" dirty="0"/>
          </a:p>
        </p:txBody>
      </p:sp>
    </p:spTree>
    <p:extLst>
      <p:ext uri="{BB962C8B-B14F-4D97-AF65-F5344CB8AC3E}">
        <p14:creationId xmlns:p14="http://schemas.microsoft.com/office/powerpoint/2010/main" val="3627598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31640" y="260648"/>
            <a:ext cx="6238311" cy="523220"/>
          </a:xfrm>
          <a:prstGeom prst="rect">
            <a:avLst/>
          </a:prstGeom>
        </p:spPr>
        <p:txBody>
          <a:bodyPr wrap="none">
            <a:spAutoFit/>
          </a:bodyPr>
          <a:lstStyle/>
          <a:p>
            <a:r>
              <a:rPr lang="en-US" altLang="zh-CN" sz="2800" dirty="0" err="1">
                <a:solidFill>
                  <a:srgbClr val="FF0000"/>
                </a:solidFill>
              </a:rPr>
              <a:t>Peritectic</a:t>
            </a:r>
            <a:r>
              <a:rPr lang="en-US" altLang="zh-CN" sz="2800" dirty="0">
                <a:solidFill>
                  <a:srgbClr val="FF0000"/>
                </a:solidFill>
              </a:rPr>
              <a:t> and </a:t>
            </a:r>
            <a:r>
              <a:rPr lang="en-US" altLang="zh-CN" sz="2800" dirty="0" err="1">
                <a:solidFill>
                  <a:srgbClr val="FF0000"/>
                </a:solidFill>
              </a:rPr>
              <a:t>Peritectoid</a:t>
            </a:r>
            <a:r>
              <a:rPr lang="en-US" altLang="zh-CN" sz="2800" dirty="0">
                <a:solidFill>
                  <a:srgbClr val="FF0000"/>
                </a:solidFill>
              </a:rPr>
              <a:t> Phase Diagrams</a:t>
            </a:r>
            <a:endParaRPr lang="zh-CN" altLang="en-US" sz="2800" dirty="0">
              <a:solidFill>
                <a:srgbClr val="FF0000"/>
              </a:solidFill>
            </a:endParaRPr>
          </a:p>
        </p:txBody>
      </p:sp>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61066"/>
            <a:ext cx="4390708" cy="3575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5334000" y="1676400"/>
            <a:ext cx="1889748" cy="369332"/>
          </a:xfrm>
          <a:prstGeom prst="rect">
            <a:avLst/>
          </a:prstGeom>
        </p:spPr>
        <p:txBody>
          <a:bodyPr wrap="none">
            <a:spAutoFit/>
          </a:bodyPr>
          <a:lstStyle/>
          <a:p>
            <a:r>
              <a:rPr lang="en-US" altLang="zh-CN" dirty="0" err="1"/>
              <a:t>Peritectic</a:t>
            </a:r>
            <a:r>
              <a:rPr lang="en-US" altLang="zh-CN" dirty="0"/>
              <a:t> reaction</a:t>
            </a:r>
            <a:endParaRPr lang="zh-CN" altLang="en-US" dirty="0"/>
          </a:p>
        </p:txBody>
      </p:sp>
      <p:pic>
        <p:nvPicPr>
          <p:cNvPr id="134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974" y="2209800"/>
            <a:ext cx="1198826" cy="467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a:xfrm>
            <a:off x="5383346" y="2871723"/>
            <a:ext cx="2433487" cy="369332"/>
          </a:xfrm>
          <a:prstGeom prst="rect">
            <a:avLst/>
          </a:prstGeom>
        </p:spPr>
        <p:txBody>
          <a:bodyPr wrap="none">
            <a:spAutoFit/>
          </a:bodyPr>
          <a:lstStyle/>
          <a:p>
            <a:r>
              <a:rPr lang="en-US" altLang="zh-CN" dirty="0"/>
              <a:t>hypo-</a:t>
            </a:r>
            <a:r>
              <a:rPr lang="en-US" altLang="zh-CN" dirty="0" err="1"/>
              <a:t>peritectic</a:t>
            </a:r>
            <a:r>
              <a:rPr lang="en-US" altLang="zh-CN" dirty="0"/>
              <a:t> reaction</a:t>
            </a:r>
            <a:endParaRPr lang="zh-CN" altLang="en-US" dirty="0"/>
          </a:p>
        </p:txBody>
      </p:sp>
      <p:pic>
        <p:nvPicPr>
          <p:cNvPr id="134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8512" y="34290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5422015" y="3906383"/>
            <a:ext cx="2507225" cy="369332"/>
          </a:xfrm>
          <a:prstGeom prst="rect">
            <a:avLst/>
          </a:prstGeom>
        </p:spPr>
        <p:txBody>
          <a:bodyPr wrap="none">
            <a:spAutoFit/>
          </a:bodyPr>
          <a:lstStyle/>
          <a:p>
            <a:r>
              <a:rPr lang="en-US" altLang="zh-CN" dirty="0"/>
              <a:t>hyper-</a:t>
            </a:r>
            <a:r>
              <a:rPr lang="en-US" altLang="zh-CN" dirty="0" err="1"/>
              <a:t>peritectic</a:t>
            </a:r>
            <a:r>
              <a:rPr lang="en-US" altLang="zh-CN" dirty="0"/>
              <a:t> reaction</a:t>
            </a:r>
            <a:endParaRPr lang="zh-CN" altLang="en-US" dirty="0"/>
          </a:p>
        </p:txBody>
      </p:sp>
      <p:pic>
        <p:nvPicPr>
          <p:cNvPr id="134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2765" y="4419600"/>
            <a:ext cx="146343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304800" y="5436109"/>
            <a:ext cx="8648700" cy="954107"/>
          </a:xfrm>
          <a:prstGeom prst="rect">
            <a:avLst/>
          </a:prstGeom>
          <a:solidFill>
            <a:schemeClr val="accent6">
              <a:lumMod val="20000"/>
              <a:lumOff val="80000"/>
            </a:schemeClr>
          </a:solidFill>
        </p:spPr>
        <p:txBody>
          <a:bodyPr wrap="square">
            <a:spAutoFit/>
          </a:bodyPr>
          <a:lstStyle/>
          <a:p>
            <a:r>
              <a:rPr lang="en-US" altLang="zh-CN" sz="2000" b="1" dirty="0" err="1">
                <a:solidFill>
                  <a:srgbClr val="FF0000"/>
                </a:solidFill>
              </a:rPr>
              <a:t>Peritectoid</a:t>
            </a:r>
            <a:r>
              <a:rPr lang="en-US" altLang="zh-CN" sz="2000" b="1" dirty="0">
                <a:solidFill>
                  <a:srgbClr val="FF0000"/>
                </a:solidFill>
              </a:rPr>
              <a:t> phase diagram </a:t>
            </a:r>
            <a:r>
              <a:rPr lang="zh-CN" altLang="en-US" sz="2000" b="1" dirty="0">
                <a:solidFill>
                  <a:srgbClr val="FF0000"/>
                </a:solidFill>
              </a:rPr>
              <a:t> </a:t>
            </a:r>
            <a:r>
              <a:rPr lang="en-US" altLang="zh-CN" sz="2000" b="1" dirty="0">
                <a:solidFill>
                  <a:srgbClr val="FF0000"/>
                </a:solidFill>
              </a:rPr>
              <a:t>(</a:t>
            </a:r>
            <a:r>
              <a:rPr lang="zh-CN" altLang="en-US" sz="2000" b="1" dirty="0">
                <a:solidFill>
                  <a:srgbClr val="FF0000"/>
                </a:solidFill>
              </a:rPr>
              <a:t>包析相图</a:t>
            </a:r>
            <a:r>
              <a:rPr lang="en-US" altLang="zh-CN" sz="2000" b="1" dirty="0">
                <a:solidFill>
                  <a:srgbClr val="FF0000"/>
                </a:solidFill>
              </a:rPr>
              <a:t>)</a:t>
            </a:r>
          </a:p>
          <a:p>
            <a:r>
              <a:rPr lang="en-US" altLang="zh-CN" dirty="0"/>
              <a:t>If the liquid phase is replaced by a third solid phase, α, the diagram will look</a:t>
            </a:r>
          </a:p>
          <a:p>
            <a:r>
              <a:rPr lang="en-US" altLang="zh-CN" dirty="0"/>
              <a:t>similar but without the liquid phase. Such a diagram is called a </a:t>
            </a:r>
            <a:r>
              <a:rPr lang="en-US" altLang="zh-CN" i="1" dirty="0" err="1"/>
              <a:t>peritectoid</a:t>
            </a:r>
            <a:r>
              <a:rPr lang="en-US" altLang="zh-CN" i="1" dirty="0"/>
              <a:t> </a:t>
            </a:r>
            <a:r>
              <a:rPr lang="en-US" altLang="zh-CN" dirty="0"/>
              <a:t>diagram</a:t>
            </a:r>
            <a:endParaRPr lang="zh-CN" altLang="en-US" dirty="0"/>
          </a:p>
        </p:txBody>
      </p:sp>
      <p:sp>
        <p:nvSpPr>
          <p:cNvPr id="16" name="矩形 15"/>
          <p:cNvSpPr/>
          <p:nvPr/>
        </p:nvSpPr>
        <p:spPr>
          <a:xfrm>
            <a:off x="106907" y="1491734"/>
            <a:ext cx="3695884" cy="369332"/>
          </a:xfrm>
          <a:prstGeom prst="rect">
            <a:avLst/>
          </a:prstGeom>
        </p:spPr>
        <p:txBody>
          <a:bodyPr wrap="none">
            <a:spAutoFit/>
          </a:bodyPr>
          <a:lstStyle/>
          <a:p>
            <a:r>
              <a:rPr lang="en-US" altLang="zh-CN" b="1" dirty="0" err="1">
                <a:solidFill>
                  <a:srgbClr val="FF0000"/>
                </a:solidFill>
              </a:rPr>
              <a:t>Peritectic</a:t>
            </a:r>
            <a:r>
              <a:rPr lang="en-US" altLang="zh-CN" dirty="0">
                <a:solidFill>
                  <a:srgbClr val="FF0000"/>
                </a:solidFill>
              </a:rPr>
              <a:t> </a:t>
            </a:r>
            <a:r>
              <a:rPr lang="en-US" altLang="zh-CN" b="1" dirty="0">
                <a:solidFill>
                  <a:srgbClr val="FF0000"/>
                </a:solidFill>
              </a:rPr>
              <a:t>phase diagram (</a:t>
            </a:r>
            <a:r>
              <a:rPr lang="zh-CN" altLang="en-US" b="1" dirty="0">
                <a:solidFill>
                  <a:srgbClr val="FF0000"/>
                </a:solidFill>
              </a:rPr>
              <a:t>包晶相图</a:t>
            </a:r>
            <a:r>
              <a:rPr lang="en-US" altLang="zh-CN" b="1" dirty="0">
                <a:solidFill>
                  <a:srgbClr val="FF0000"/>
                </a:solidFill>
              </a:rPr>
              <a:t>)</a:t>
            </a:r>
            <a:r>
              <a:rPr lang="en-US" altLang="zh-CN" dirty="0">
                <a:solidFill>
                  <a:srgbClr val="FF0000"/>
                </a:solidFill>
              </a:rPr>
              <a:t> </a:t>
            </a:r>
            <a:endParaRPr lang="zh-CN" altLang="en-US" dirty="0"/>
          </a:p>
        </p:txBody>
      </p:sp>
    </p:spTree>
    <p:extLst>
      <p:ext uri="{BB962C8B-B14F-4D97-AF65-F5344CB8AC3E}">
        <p14:creationId xmlns:p14="http://schemas.microsoft.com/office/powerpoint/2010/main" val="385559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52587"/>
            <a:ext cx="4176464"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1352252" y="1078938"/>
            <a:ext cx="1889748" cy="369332"/>
          </a:xfrm>
          <a:prstGeom prst="rect">
            <a:avLst/>
          </a:prstGeom>
        </p:spPr>
        <p:txBody>
          <a:bodyPr wrap="none">
            <a:spAutoFit/>
          </a:bodyPr>
          <a:lstStyle/>
          <a:p>
            <a:r>
              <a:rPr lang="en-US" altLang="zh-CN" dirty="0" err="1"/>
              <a:t>Peritectic</a:t>
            </a:r>
            <a:r>
              <a:rPr lang="en-US" altLang="zh-CN" dirty="0"/>
              <a:t> reaction</a:t>
            </a:r>
            <a:endParaRPr lang="zh-CN" altLang="en-US" dirty="0"/>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7150" y="1078938"/>
            <a:ext cx="1198826" cy="467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3653" y="1694234"/>
            <a:ext cx="4157073" cy="3272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1331640" y="260648"/>
            <a:ext cx="6238311" cy="523220"/>
          </a:xfrm>
          <a:prstGeom prst="rect">
            <a:avLst/>
          </a:prstGeom>
        </p:spPr>
        <p:txBody>
          <a:bodyPr wrap="none">
            <a:spAutoFit/>
          </a:bodyPr>
          <a:lstStyle/>
          <a:p>
            <a:r>
              <a:rPr lang="en-US" altLang="zh-CN" sz="2800" dirty="0" err="1">
                <a:solidFill>
                  <a:srgbClr val="FF0000"/>
                </a:solidFill>
              </a:rPr>
              <a:t>Peritectic</a:t>
            </a:r>
            <a:r>
              <a:rPr lang="en-US" altLang="zh-CN" sz="2800" dirty="0">
                <a:solidFill>
                  <a:srgbClr val="FF0000"/>
                </a:solidFill>
              </a:rPr>
              <a:t> and </a:t>
            </a:r>
            <a:r>
              <a:rPr lang="en-US" altLang="zh-CN" sz="2800" dirty="0" err="1">
                <a:solidFill>
                  <a:srgbClr val="FF0000"/>
                </a:solidFill>
              </a:rPr>
              <a:t>Peritectoid</a:t>
            </a:r>
            <a:r>
              <a:rPr lang="en-US" altLang="zh-CN" sz="2800" dirty="0">
                <a:solidFill>
                  <a:srgbClr val="FF0000"/>
                </a:solidFill>
              </a:rPr>
              <a:t> Phase Diagrams</a:t>
            </a:r>
            <a:endParaRPr lang="zh-CN" altLang="en-US" sz="2800" dirty="0">
              <a:solidFill>
                <a:srgbClr val="FF0000"/>
              </a:solidFill>
            </a:endParaRPr>
          </a:p>
        </p:txBody>
      </p:sp>
      <p:sp>
        <p:nvSpPr>
          <p:cNvPr id="8" name="矩形 7"/>
          <p:cNvSpPr/>
          <p:nvPr/>
        </p:nvSpPr>
        <p:spPr>
          <a:xfrm>
            <a:off x="5220072" y="1078938"/>
            <a:ext cx="1889748" cy="369332"/>
          </a:xfrm>
          <a:prstGeom prst="rect">
            <a:avLst/>
          </a:prstGeom>
        </p:spPr>
        <p:txBody>
          <a:bodyPr wrap="none">
            <a:spAutoFit/>
          </a:bodyPr>
          <a:lstStyle/>
          <a:p>
            <a:r>
              <a:rPr lang="en-US" altLang="zh-CN" dirty="0" err="1"/>
              <a:t>Peritectic</a:t>
            </a:r>
            <a:r>
              <a:rPr lang="en-US" altLang="zh-CN" dirty="0"/>
              <a:t> reaction</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435083673"/>
              </p:ext>
            </p:extLst>
          </p:nvPr>
        </p:nvGraphicFramePr>
        <p:xfrm>
          <a:off x="7258801" y="1162004"/>
          <a:ext cx="622300" cy="203200"/>
        </p:xfrm>
        <a:graphic>
          <a:graphicData uri="http://schemas.openxmlformats.org/presentationml/2006/ole">
            <mc:AlternateContent xmlns:mc="http://schemas.openxmlformats.org/markup-compatibility/2006">
              <mc:Choice xmlns:v="urn:schemas-microsoft-com:vml" Requires="v">
                <p:oleObj name="Equation" r:id="rId5" imgW="622080" imgH="203040" progId="Equation.DSMT4">
                  <p:embed/>
                </p:oleObj>
              </mc:Choice>
              <mc:Fallback>
                <p:oleObj name="Equation" r:id="rId5" imgW="622080" imgH="203040" progId="Equation.DSMT4">
                  <p:embed/>
                  <p:pic>
                    <p:nvPicPr>
                      <p:cNvPr id="0" name=""/>
                      <p:cNvPicPr/>
                      <p:nvPr/>
                    </p:nvPicPr>
                    <p:blipFill>
                      <a:blip r:embed="rId6"/>
                      <a:stretch>
                        <a:fillRect/>
                      </a:stretch>
                    </p:blipFill>
                    <p:spPr>
                      <a:xfrm>
                        <a:off x="7258801" y="1162004"/>
                        <a:ext cx="622300" cy="203200"/>
                      </a:xfrm>
                      <a:prstGeom prst="rect">
                        <a:avLst/>
                      </a:prstGeom>
                    </p:spPr>
                  </p:pic>
                </p:oleObj>
              </mc:Fallback>
            </mc:AlternateContent>
          </a:graphicData>
        </a:graphic>
      </p:graphicFrame>
      <p:sp>
        <p:nvSpPr>
          <p:cNvPr id="6" name="TextBox 5"/>
          <p:cNvSpPr txBox="1"/>
          <p:nvPr/>
        </p:nvSpPr>
        <p:spPr>
          <a:xfrm>
            <a:off x="5652120" y="4221088"/>
            <a:ext cx="359394" cy="230832"/>
          </a:xfrm>
          <a:prstGeom prst="rect">
            <a:avLst/>
          </a:prstGeom>
          <a:noFill/>
        </p:spPr>
        <p:txBody>
          <a:bodyPr wrap="none" rtlCol="0">
            <a:spAutoFit/>
          </a:bodyPr>
          <a:lstStyle/>
          <a:p>
            <a:r>
              <a:rPr lang="el-GR" altLang="zh-CN" sz="900" dirty="0">
                <a:solidFill>
                  <a:srgbClr val="FF0000"/>
                </a:solidFill>
              </a:rPr>
              <a:t>α</a:t>
            </a:r>
            <a:r>
              <a:rPr lang="en-US" altLang="zh-CN" sz="900" dirty="0">
                <a:solidFill>
                  <a:srgbClr val="FF0000"/>
                </a:solidFill>
              </a:rPr>
              <a:t>+</a:t>
            </a:r>
            <a:r>
              <a:rPr lang="el-GR" altLang="zh-CN" sz="900" dirty="0">
                <a:solidFill>
                  <a:srgbClr val="FF0000"/>
                </a:solidFill>
              </a:rPr>
              <a:t>γ</a:t>
            </a:r>
            <a:endParaRPr lang="zh-CN" altLang="en-US" sz="900" dirty="0">
              <a:solidFill>
                <a:srgbClr val="FF0000"/>
              </a:solidFill>
            </a:endParaRPr>
          </a:p>
        </p:txBody>
      </p:sp>
      <p:sp>
        <p:nvSpPr>
          <p:cNvPr id="11" name="TextBox 10"/>
          <p:cNvSpPr txBox="1"/>
          <p:nvPr/>
        </p:nvSpPr>
        <p:spPr>
          <a:xfrm>
            <a:off x="5480024" y="3539748"/>
            <a:ext cx="316112" cy="369332"/>
          </a:xfrm>
          <a:prstGeom prst="rect">
            <a:avLst/>
          </a:prstGeom>
          <a:noFill/>
        </p:spPr>
        <p:txBody>
          <a:bodyPr wrap="none" rtlCol="0">
            <a:spAutoFit/>
          </a:bodyPr>
          <a:lstStyle/>
          <a:p>
            <a:r>
              <a:rPr lang="el-GR" altLang="zh-CN" dirty="0"/>
              <a:t>α</a:t>
            </a:r>
            <a:endParaRPr lang="zh-CN" altLang="en-US" dirty="0"/>
          </a:p>
        </p:txBody>
      </p:sp>
      <p:sp>
        <p:nvSpPr>
          <p:cNvPr id="12" name="TextBox 11"/>
          <p:cNvSpPr txBox="1"/>
          <p:nvPr/>
        </p:nvSpPr>
        <p:spPr>
          <a:xfrm>
            <a:off x="6372200" y="3691199"/>
            <a:ext cx="316112" cy="369332"/>
          </a:xfrm>
          <a:prstGeom prst="rect">
            <a:avLst/>
          </a:prstGeom>
          <a:noFill/>
        </p:spPr>
        <p:txBody>
          <a:bodyPr wrap="none" rtlCol="0">
            <a:spAutoFit/>
          </a:bodyPr>
          <a:lstStyle/>
          <a:p>
            <a:r>
              <a:rPr lang="el-GR" altLang="zh-CN" dirty="0"/>
              <a:t>β</a:t>
            </a:r>
            <a:endParaRPr lang="zh-CN" altLang="en-US" dirty="0"/>
          </a:p>
        </p:txBody>
      </p:sp>
      <p:sp>
        <p:nvSpPr>
          <p:cNvPr id="13" name="TextBox 12"/>
          <p:cNvSpPr txBox="1"/>
          <p:nvPr/>
        </p:nvSpPr>
        <p:spPr>
          <a:xfrm>
            <a:off x="6163914" y="4219426"/>
            <a:ext cx="658276" cy="230832"/>
          </a:xfrm>
          <a:prstGeom prst="rect">
            <a:avLst/>
          </a:prstGeom>
          <a:noFill/>
        </p:spPr>
        <p:txBody>
          <a:bodyPr wrap="square" rtlCol="0">
            <a:spAutoFit/>
          </a:bodyPr>
          <a:lstStyle/>
          <a:p>
            <a:r>
              <a:rPr lang="el-GR" altLang="zh-CN" sz="900" dirty="0">
                <a:solidFill>
                  <a:srgbClr val="FF0000"/>
                </a:solidFill>
              </a:rPr>
              <a:t>β</a:t>
            </a:r>
            <a:r>
              <a:rPr lang="en-US" altLang="zh-CN" sz="900" dirty="0">
                <a:solidFill>
                  <a:srgbClr val="FF0000"/>
                </a:solidFill>
              </a:rPr>
              <a:t>+</a:t>
            </a:r>
            <a:r>
              <a:rPr lang="el-GR" altLang="zh-CN" sz="900" dirty="0">
                <a:solidFill>
                  <a:srgbClr val="FF0000"/>
                </a:solidFill>
              </a:rPr>
              <a:t>γ</a:t>
            </a:r>
            <a:endParaRPr lang="zh-CN" altLang="en-US" sz="900" dirty="0">
              <a:solidFill>
                <a:srgbClr val="FF0000"/>
              </a:solidFill>
            </a:endParaRPr>
          </a:p>
        </p:txBody>
      </p:sp>
      <p:sp>
        <p:nvSpPr>
          <p:cNvPr id="9" name="矩形 8"/>
          <p:cNvSpPr/>
          <p:nvPr/>
        </p:nvSpPr>
        <p:spPr>
          <a:xfrm>
            <a:off x="5916730" y="4060531"/>
            <a:ext cx="247184" cy="261610"/>
          </a:xfrm>
          <a:prstGeom prst="rect">
            <a:avLst/>
          </a:prstGeom>
        </p:spPr>
        <p:txBody>
          <a:bodyPr wrap="none">
            <a:spAutoFit/>
          </a:bodyPr>
          <a:lstStyle/>
          <a:p>
            <a:r>
              <a:rPr lang="el-GR" altLang="zh-CN" sz="1050" dirty="0">
                <a:solidFill>
                  <a:srgbClr val="FF0000"/>
                </a:solidFill>
              </a:rPr>
              <a:t>γ</a:t>
            </a:r>
            <a:endParaRPr lang="zh-CN" altLang="en-US" sz="1050" dirty="0">
              <a:solidFill>
                <a:srgbClr val="FF0000"/>
              </a:solidFill>
            </a:endParaRPr>
          </a:p>
        </p:txBody>
      </p:sp>
      <p:sp>
        <p:nvSpPr>
          <p:cNvPr id="15" name="TextBox 14"/>
          <p:cNvSpPr txBox="1"/>
          <p:nvPr/>
        </p:nvSpPr>
        <p:spPr>
          <a:xfrm>
            <a:off x="5798258" y="3355082"/>
            <a:ext cx="429926" cy="276999"/>
          </a:xfrm>
          <a:prstGeom prst="rect">
            <a:avLst/>
          </a:prstGeom>
          <a:noFill/>
        </p:spPr>
        <p:txBody>
          <a:bodyPr wrap="none" rtlCol="0">
            <a:spAutoFit/>
          </a:bodyPr>
          <a:lstStyle/>
          <a:p>
            <a:r>
              <a:rPr lang="el-GR" altLang="zh-CN" sz="1200" dirty="0">
                <a:solidFill>
                  <a:srgbClr val="FF0000"/>
                </a:solidFill>
              </a:rPr>
              <a:t>α</a:t>
            </a:r>
            <a:r>
              <a:rPr lang="en-US" altLang="zh-CN" sz="1200" dirty="0">
                <a:solidFill>
                  <a:srgbClr val="FF0000"/>
                </a:solidFill>
              </a:rPr>
              <a:t>+</a:t>
            </a:r>
            <a:r>
              <a:rPr lang="el-GR" altLang="zh-CN" sz="1200" dirty="0">
                <a:solidFill>
                  <a:srgbClr val="FF0000"/>
                </a:solidFill>
              </a:rPr>
              <a:t>β</a:t>
            </a:r>
            <a:endParaRPr lang="zh-CN" altLang="en-US" sz="1200" dirty="0">
              <a:solidFill>
                <a:srgbClr val="FF0000"/>
              </a:solidFill>
            </a:endParaRPr>
          </a:p>
        </p:txBody>
      </p:sp>
    </p:spTree>
    <p:extLst>
      <p:ext uri="{BB962C8B-B14F-4D97-AF65-F5344CB8AC3E}">
        <p14:creationId xmlns:p14="http://schemas.microsoft.com/office/powerpoint/2010/main" val="1541357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1640" y="260648"/>
            <a:ext cx="4113627" cy="523220"/>
          </a:xfrm>
          <a:prstGeom prst="rect">
            <a:avLst/>
          </a:prstGeom>
        </p:spPr>
        <p:txBody>
          <a:bodyPr wrap="none">
            <a:spAutoFit/>
          </a:bodyPr>
          <a:lstStyle/>
          <a:p>
            <a:r>
              <a:rPr lang="en-US" altLang="zh-CN" sz="2800" dirty="0" err="1">
                <a:solidFill>
                  <a:srgbClr val="FF0000"/>
                </a:solidFill>
              </a:rPr>
              <a:t>Metatectic</a:t>
            </a:r>
            <a:r>
              <a:rPr lang="en-US" altLang="zh-CN" sz="2800" dirty="0">
                <a:solidFill>
                  <a:srgbClr val="FF0000"/>
                </a:solidFill>
              </a:rPr>
              <a:t> phase diagrams</a:t>
            </a:r>
            <a:endParaRPr lang="zh-CN" altLang="en-US" sz="2800" dirty="0">
              <a:solidFill>
                <a:srgbClr val="FF0000"/>
              </a:solidFill>
            </a:endParaRPr>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157" y="1556792"/>
            <a:ext cx="4556739" cy="35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组合 4"/>
          <p:cNvGrpSpPr/>
          <p:nvPr/>
        </p:nvGrpSpPr>
        <p:grpSpPr>
          <a:xfrm>
            <a:off x="676740" y="1628800"/>
            <a:ext cx="2320620" cy="3823741"/>
            <a:chOff x="676740" y="1628800"/>
            <a:chExt cx="2320620" cy="3823741"/>
          </a:xfrm>
        </p:grpSpPr>
        <p:pic>
          <p:nvPicPr>
            <p:cNvPr id="3481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5538" t="10716" r="32231" b="21075"/>
            <a:stretch/>
          </p:blipFill>
          <p:spPr bwMode="auto">
            <a:xfrm>
              <a:off x="683568" y="1628800"/>
              <a:ext cx="2313792"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827584" y="2533546"/>
              <a:ext cx="301686" cy="338554"/>
            </a:xfrm>
            <a:prstGeom prst="rect">
              <a:avLst/>
            </a:prstGeom>
            <a:solidFill>
              <a:schemeClr val="bg1"/>
            </a:solidFill>
          </p:spPr>
          <p:txBody>
            <a:bodyPr wrap="none" rtlCol="0">
              <a:spAutoFit/>
            </a:bodyPr>
            <a:lstStyle/>
            <a:p>
              <a:r>
                <a:rPr lang="el-GR" altLang="zh-CN" sz="1600" dirty="0"/>
                <a:t>α</a:t>
              </a:r>
              <a:endParaRPr lang="zh-CN" altLang="en-US" sz="1600" dirty="0"/>
            </a:p>
          </p:txBody>
        </p:sp>
        <p:sp>
          <p:nvSpPr>
            <p:cNvPr id="6" name="TextBox 5"/>
            <p:cNvSpPr txBox="1"/>
            <p:nvPr/>
          </p:nvSpPr>
          <p:spPr>
            <a:xfrm>
              <a:off x="1333997" y="2718212"/>
              <a:ext cx="490840" cy="338554"/>
            </a:xfrm>
            <a:prstGeom prst="rect">
              <a:avLst/>
            </a:prstGeom>
            <a:solidFill>
              <a:schemeClr val="bg1"/>
            </a:solidFill>
          </p:spPr>
          <p:txBody>
            <a:bodyPr wrap="none" rtlCol="0">
              <a:spAutoFit/>
            </a:bodyPr>
            <a:lstStyle/>
            <a:p>
              <a:r>
                <a:rPr lang="en-US" altLang="zh-CN" sz="1600" dirty="0"/>
                <a:t>L+</a:t>
              </a:r>
              <a:r>
                <a:rPr lang="el-GR" altLang="zh-CN" sz="1600" dirty="0"/>
                <a:t>α</a:t>
              </a:r>
              <a:endParaRPr lang="zh-CN" altLang="en-US" sz="1600" dirty="0"/>
            </a:p>
          </p:txBody>
        </p:sp>
        <p:sp>
          <p:nvSpPr>
            <p:cNvPr id="7" name="TextBox 6"/>
            <p:cNvSpPr txBox="1"/>
            <p:nvPr/>
          </p:nvSpPr>
          <p:spPr>
            <a:xfrm>
              <a:off x="1824837" y="3351008"/>
              <a:ext cx="482824" cy="338554"/>
            </a:xfrm>
            <a:prstGeom prst="rect">
              <a:avLst/>
            </a:prstGeom>
            <a:solidFill>
              <a:schemeClr val="bg1"/>
            </a:solidFill>
          </p:spPr>
          <p:txBody>
            <a:bodyPr wrap="none" rtlCol="0">
              <a:spAutoFit/>
            </a:bodyPr>
            <a:lstStyle/>
            <a:p>
              <a:r>
                <a:rPr lang="en-US" altLang="zh-CN" sz="1600" dirty="0"/>
                <a:t>L+</a:t>
              </a:r>
              <a:r>
                <a:rPr lang="el-GR" altLang="zh-CN" sz="1600" dirty="0"/>
                <a:t>β</a:t>
              </a:r>
              <a:endParaRPr lang="zh-CN" altLang="en-US" sz="1600" dirty="0"/>
            </a:p>
          </p:txBody>
        </p:sp>
        <p:sp>
          <p:nvSpPr>
            <p:cNvPr id="8" name="TextBox 7"/>
            <p:cNvSpPr txBox="1"/>
            <p:nvPr/>
          </p:nvSpPr>
          <p:spPr>
            <a:xfrm>
              <a:off x="1183154" y="3689562"/>
              <a:ext cx="301686" cy="338554"/>
            </a:xfrm>
            <a:prstGeom prst="rect">
              <a:avLst/>
            </a:prstGeom>
            <a:solidFill>
              <a:schemeClr val="bg1"/>
            </a:solidFill>
          </p:spPr>
          <p:txBody>
            <a:bodyPr wrap="none" rtlCol="0">
              <a:spAutoFit/>
            </a:bodyPr>
            <a:lstStyle/>
            <a:p>
              <a:r>
                <a:rPr lang="el-GR" altLang="zh-CN" sz="1600" dirty="0"/>
                <a:t>β</a:t>
              </a:r>
              <a:endParaRPr lang="zh-CN" altLang="en-US" sz="1600" dirty="0"/>
            </a:p>
          </p:txBody>
        </p:sp>
        <p:sp>
          <p:nvSpPr>
            <p:cNvPr id="9" name="TextBox 8"/>
            <p:cNvSpPr txBox="1"/>
            <p:nvPr/>
          </p:nvSpPr>
          <p:spPr>
            <a:xfrm>
              <a:off x="676740" y="3306470"/>
              <a:ext cx="654899" cy="338554"/>
            </a:xfrm>
            <a:prstGeom prst="rect">
              <a:avLst/>
            </a:prstGeom>
            <a:solidFill>
              <a:schemeClr val="bg1"/>
            </a:solidFill>
          </p:spPr>
          <p:txBody>
            <a:bodyPr wrap="square" rtlCol="0">
              <a:spAutoFit/>
            </a:bodyPr>
            <a:lstStyle/>
            <a:p>
              <a:r>
                <a:rPr lang="el-GR" altLang="zh-CN" sz="1600" dirty="0"/>
                <a:t>α</a:t>
              </a:r>
              <a:r>
                <a:rPr lang="en-US" altLang="zh-CN" sz="1600" dirty="0"/>
                <a:t>+</a:t>
              </a:r>
              <a:r>
                <a:rPr lang="el-GR" altLang="zh-CN" sz="1600" dirty="0"/>
                <a:t>β</a:t>
              </a:r>
              <a:endParaRPr lang="zh-CN" altLang="en-US" sz="1600" dirty="0"/>
            </a:p>
          </p:txBody>
        </p:sp>
        <p:pic>
          <p:nvPicPr>
            <p:cNvPr id="348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4337" y="5101183"/>
              <a:ext cx="1120999" cy="351358"/>
            </a:xfrm>
            <a:prstGeom prst="rect">
              <a:avLst/>
            </a:prstGeom>
            <a:solidFill>
              <a:schemeClr val="bg1"/>
            </a:solidFill>
            <a:ln>
              <a:noFill/>
            </a:ln>
            <a:effectLst/>
          </p:spPr>
        </p:pic>
      </p:grpSp>
      <p:sp>
        <p:nvSpPr>
          <p:cNvPr id="10" name="TextBox 9"/>
          <p:cNvSpPr txBox="1"/>
          <p:nvPr/>
        </p:nvSpPr>
        <p:spPr>
          <a:xfrm>
            <a:off x="1484840" y="980728"/>
            <a:ext cx="1107996" cy="369332"/>
          </a:xfrm>
          <a:prstGeom prst="rect">
            <a:avLst/>
          </a:prstGeom>
          <a:noFill/>
        </p:spPr>
        <p:txBody>
          <a:bodyPr wrap="none" rtlCol="0">
            <a:spAutoFit/>
          </a:bodyPr>
          <a:lstStyle/>
          <a:p>
            <a:r>
              <a:rPr lang="zh-CN" altLang="en-US" dirty="0"/>
              <a:t>变晶相图</a:t>
            </a:r>
          </a:p>
        </p:txBody>
      </p:sp>
    </p:spTree>
    <p:extLst>
      <p:ext uri="{BB962C8B-B14F-4D97-AF65-F5344CB8AC3E}">
        <p14:creationId xmlns:p14="http://schemas.microsoft.com/office/powerpoint/2010/main" val="3971770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1640" y="260648"/>
            <a:ext cx="4253087" cy="523220"/>
          </a:xfrm>
          <a:prstGeom prst="rect">
            <a:avLst/>
          </a:prstGeom>
        </p:spPr>
        <p:txBody>
          <a:bodyPr wrap="none">
            <a:spAutoFit/>
          </a:bodyPr>
          <a:lstStyle/>
          <a:p>
            <a:r>
              <a:rPr lang="en-US" altLang="zh-CN" sz="2800" dirty="0" err="1">
                <a:solidFill>
                  <a:srgbClr val="FF0000"/>
                </a:solidFill>
              </a:rPr>
              <a:t>Monotectic</a:t>
            </a:r>
            <a:r>
              <a:rPr lang="en-US" altLang="zh-CN" sz="2800" dirty="0">
                <a:solidFill>
                  <a:srgbClr val="FF0000"/>
                </a:solidFill>
              </a:rPr>
              <a:t> phase diagrams</a:t>
            </a:r>
            <a:endParaRPr lang="zh-CN" altLang="en-US" sz="2800" dirty="0">
              <a:solidFill>
                <a:srgbClr val="FF0000"/>
              </a:solidFill>
            </a:endParaRPr>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060848"/>
            <a:ext cx="3456384" cy="3304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331640" y="1340768"/>
            <a:ext cx="1221809" cy="369332"/>
          </a:xfrm>
          <a:prstGeom prst="rect">
            <a:avLst/>
          </a:prstGeom>
          <a:noFill/>
        </p:spPr>
        <p:txBody>
          <a:bodyPr wrap="none" rtlCol="0">
            <a:spAutoFit/>
          </a:bodyPr>
          <a:lstStyle/>
          <a:p>
            <a:r>
              <a:rPr lang="en-US" altLang="zh-CN" dirty="0"/>
              <a:t>L</a:t>
            </a:r>
            <a:r>
              <a:rPr lang="en-US" altLang="zh-CN" baseline="-25000" dirty="0"/>
              <a:t>1</a:t>
            </a:r>
            <a:r>
              <a:rPr lang="en-US" altLang="zh-CN" dirty="0"/>
              <a:t> </a:t>
            </a:r>
            <a:r>
              <a:rPr lang="en-US" altLang="zh-CN" dirty="0">
                <a:sym typeface="Wingdings" pitchFamily="2" charset="2"/>
              </a:rPr>
              <a:t> L</a:t>
            </a:r>
            <a:r>
              <a:rPr lang="en-US" altLang="zh-CN" baseline="-25000" dirty="0">
                <a:sym typeface="Wingdings" pitchFamily="2" charset="2"/>
              </a:rPr>
              <a:t>2</a:t>
            </a:r>
            <a:r>
              <a:rPr lang="en-US" altLang="zh-CN" dirty="0">
                <a:sym typeface="Wingdings" pitchFamily="2" charset="2"/>
              </a:rPr>
              <a:t> + </a:t>
            </a:r>
            <a:r>
              <a:rPr lang="el-GR" altLang="zh-CN" dirty="0">
                <a:sym typeface="Wingdings" pitchFamily="2" charset="2"/>
              </a:rPr>
              <a:t>α</a:t>
            </a:r>
            <a:endParaRPr lang="zh-CN" altLang="en-US" dirty="0"/>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783868"/>
            <a:ext cx="3360422" cy="264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3715446"/>
            <a:ext cx="3528392" cy="277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475656" y="783868"/>
            <a:ext cx="1107996" cy="369332"/>
          </a:xfrm>
          <a:prstGeom prst="rect">
            <a:avLst/>
          </a:prstGeom>
          <a:noFill/>
        </p:spPr>
        <p:txBody>
          <a:bodyPr wrap="none" rtlCol="0">
            <a:spAutoFit/>
          </a:bodyPr>
          <a:lstStyle/>
          <a:p>
            <a:r>
              <a:rPr lang="zh-CN" altLang="en-US" dirty="0"/>
              <a:t>偏晶相图</a:t>
            </a:r>
          </a:p>
        </p:txBody>
      </p:sp>
    </p:spTree>
    <p:extLst>
      <p:ext uri="{BB962C8B-B14F-4D97-AF65-F5344CB8AC3E}">
        <p14:creationId xmlns:p14="http://schemas.microsoft.com/office/powerpoint/2010/main" val="26676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1640" y="260648"/>
            <a:ext cx="3936014" cy="523220"/>
          </a:xfrm>
          <a:prstGeom prst="rect">
            <a:avLst/>
          </a:prstGeom>
        </p:spPr>
        <p:txBody>
          <a:bodyPr wrap="none">
            <a:spAutoFit/>
          </a:bodyPr>
          <a:lstStyle/>
          <a:p>
            <a:r>
              <a:rPr lang="en-US" altLang="zh-CN" sz="2800" dirty="0" err="1">
                <a:solidFill>
                  <a:srgbClr val="FF0000"/>
                </a:solidFill>
              </a:rPr>
              <a:t>Syntectic</a:t>
            </a:r>
            <a:r>
              <a:rPr lang="en-US" altLang="zh-CN" sz="2800" dirty="0">
                <a:solidFill>
                  <a:srgbClr val="FF0000"/>
                </a:solidFill>
              </a:rPr>
              <a:t> phase diagrams</a:t>
            </a:r>
            <a:endParaRPr lang="zh-CN" altLang="en-US" sz="2800" dirty="0">
              <a:solidFill>
                <a:srgbClr val="FF0000"/>
              </a:solidFill>
            </a:endParaRPr>
          </a:p>
        </p:txBody>
      </p:sp>
      <p:sp>
        <p:nvSpPr>
          <p:cNvPr id="3" name="TextBox 2"/>
          <p:cNvSpPr txBox="1"/>
          <p:nvPr/>
        </p:nvSpPr>
        <p:spPr>
          <a:xfrm>
            <a:off x="1475656" y="940604"/>
            <a:ext cx="1107996" cy="369332"/>
          </a:xfrm>
          <a:prstGeom prst="rect">
            <a:avLst/>
          </a:prstGeom>
          <a:noFill/>
        </p:spPr>
        <p:txBody>
          <a:bodyPr wrap="none" rtlCol="0">
            <a:spAutoFit/>
          </a:bodyPr>
          <a:lstStyle/>
          <a:p>
            <a:r>
              <a:rPr lang="zh-CN" altLang="en-US" dirty="0"/>
              <a:t>综晶相图</a:t>
            </a:r>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83" y="1628800"/>
            <a:ext cx="3816424"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箭头连接符 5"/>
          <p:cNvCxnSpPr/>
          <p:nvPr/>
        </p:nvCxnSpPr>
        <p:spPr>
          <a:xfrm>
            <a:off x="2013975" y="2461036"/>
            <a:ext cx="360040" cy="288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064423" y="964665"/>
            <a:ext cx="1221809" cy="369332"/>
          </a:xfrm>
          <a:prstGeom prst="rect">
            <a:avLst/>
          </a:prstGeom>
          <a:noFill/>
        </p:spPr>
        <p:txBody>
          <a:bodyPr wrap="none" rtlCol="0">
            <a:spAutoFit/>
          </a:bodyPr>
          <a:lstStyle/>
          <a:p>
            <a:r>
              <a:rPr lang="en-US" altLang="zh-CN" dirty="0"/>
              <a:t>L</a:t>
            </a:r>
            <a:r>
              <a:rPr lang="en-US" altLang="zh-CN" baseline="-25000" dirty="0"/>
              <a:t>1</a:t>
            </a:r>
            <a:r>
              <a:rPr lang="en-US" altLang="zh-CN" dirty="0"/>
              <a:t> +</a:t>
            </a:r>
            <a:r>
              <a:rPr lang="en-US" altLang="zh-CN" dirty="0">
                <a:sym typeface="Wingdings" pitchFamily="2" charset="2"/>
              </a:rPr>
              <a:t>L</a:t>
            </a:r>
            <a:r>
              <a:rPr lang="en-US" altLang="zh-CN" baseline="-25000" dirty="0">
                <a:sym typeface="Wingdings" pitchFamily="2" charset="2"/>
              </a:rPr>
              <a:t>2</a:t>
            </a:r>
            <a:r>
              <a:rPr lang="en-US" altLang="zh-CN" dirty="0">
                <a:sym typeface="Wingdings" pitchFamily="2" charset="2"/>
              </a:rPr>
              <a:t>   </a:t>
            </a:r>
            <a:r>
              <a:rPr lang="el-GR" altLang="zh-CN" dirty="0">
                <a:sym typeface="Wingdings" pitchFamily="2" charset="2"/>
              </a:rPr>
              <a:t>α</a:t>
            </a:r>
            <a:endParaRPr lang="zh-CN" altLang="en-US" dirty="0"/>
          </a:p>
        </p:txBody>
      </p:sp>
      <p:pic>
        <p:nvPicPr>
          <p:cNvPr id="32772" name="Picture 4"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255177"/>
            <a:ext cx="3780771" cy="297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13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C:\Users\dell\AppData\Local\Temp\WeChat Files\1462a4d158a57f9791ec2d090f86f2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929" r="18828"/>
          <a:stretch/>
        </p:blipFill>
        <p:spPr bwMode="auto">
          <a:xfrm rot="5400000">
            <a:off x="2008362" y="714724"/>
            <a:ext cx="4968553" cy="5892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314776" y="177803"/>
            <a:ext cx="3509294" cy="584775"/>
          </a:xfrm>
          <a:prstGeom prst="rect">
            <a:avLst/>
          </a:prstGeom>
          <a:noFill/>
        </p:spPr>
        <p:txBody>
          <a:bodyPr wrap="none" rtlCol="0">
            <a:spAutoFit/>
          </a:bodyPr>
          <a:lstStyle/>
          <a:p>
            <a:r>
              <a:rPr lang="en-US" altLang="zh-CN" sz="3200" dirty="0">
                <a:solidFill>
                  <a:srgbClr val="FF0000"/>
                </a:solidFill>
              </a:rPr>
              <a:t>Reaction diagram </a:t>
            </a:r>
            <a:endParaRPr lang="zh-CN" altLang="en-US" sz="3200" dirty="0">
              <a:solidFill>
                <a:srgbClr val="FF0000"/>
              </a:solidFill>
            </a:endParaRPr>
          </a:p>
        </p:txBody>
      </p:sp>
    </p:spTree>
    <p:extLst>
      <p:ext uri="{BB962C8B-B14F-4D97-AF65-F5344CB8AC3E}">
        <p14:creationId xmlns:p14="http://schemas.microsoft.com/office/powerpoint/2010/main" val="3450813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081F6C4-0797-5F46-4387-6F992E77E29B}"/>
              </a:ext>
            </a:extLst>
          </p:cNvPr>
          <p:cNvSpPr txBox="1"/>
          <p:nvPr/>
        </p:nvSpPr>
        <p:spPr>
          <a:xfrm>
            <a:off x="1483436" y="2619105"/>
            <a:ext cx="4865756" cy="646331"/>
          </a:xfrm>
          <a:prstGeom prst="rect">
            <a:avLst/>
          </a:prstGeom>
          <a:noFill/>
        </p:spPr>
        <p:txBody>
          <a:bodyPr wrap="none" rtlCol="0">
            <a:spAutoFit/>
          </a:bodyPr>
          <a:lstStyle/>
          <a:p>
            <a:r>
              <a:rPr lang="en-US" altLang="zh-CN" dirty="0"/>
              <a:t>Whether is it exist the following </a:t>
            </a:r>
          </a:p>
          <a:p>
            <a:r>
              <a:rPr lang="en-US" altLang="zh-CN" dirty="0"/>
              <a:t>three phase equilibrium from high T to low T? </a:t>
            </a:r>
            <a:endParaRPr lang="zh-CN" altLang="en-US" dirty="0"/>
          </a:p>
        </p:txBody>
      </p:sp>
      <p:sp>
        <p:nvSpPr>
          <p:cNvPr id="4" name="TextBox 17">
            <a:extLst>
              <a:ext uri="{FF2B5EF4-FFF2-40B4-BE49-F238E27FC236}">
                <a16:creationId xmlns:a16="http://schemas.microsoft.com/office/drawing/2014/main" id="{F48D3958-0F4B-EBB8-46E1-BDBF801123D8}"/>
              </a:ext>
            </a:extLst>
          </p:cNvPr>
          <p:cNvSpPr txBox="1"/>
          <p:nvPr/>
        </p:nvSpPr>
        <p:spPr>
          <a:xfrm>
            <a:off x="2749063" y="3429000"/>
            <a:ext cx="1194558" cy="369332"/>
          </a:xfrm>
          <a:prstGeom prst="rect">
            <a:avLst/>
          </a:prstGeom>
          <a:noFill/>
        </p:spPr>
        <p:txBody>
          <a:bodyPr wrap="none" rtlCol="0">
            <a:spAutoFit/>
          </a:bodyPr>
          <a:lstStyle/>
          <a:p>
            <a:pPr marL="285750" indent="-285750">
              <a:buFont typeface="Arial" panose="020B0604020202020204" pitchFamily="34" charset="0"/>
              <a:buChar char="•"/>
            </a:pPr>
            <a:r>
              <a:rPr lang="el-GR" altLang="zh-CN" dirty="0">
                <a:latin typeface="Times New Roman"/>
                <a:cs typeface="Times New Roman"/>
              </a:rPr>
              <a:t>α</a:t>
            </a:r>
            <a:r>
              <a:rPr lang="en-US" altLang="zh-CN" dirty="0">
                <a:latin typeface="Times New Roman"/>
                <a:cs typeface="Times New Roman"/>
              </a:rPr>
              <a:t>+</a:t>
            </a:r>
            <a:r>
              <a:rPr lang="el-GR" altLang="zh-CN" dirty="0">
                <a:latin typeface="Times New Roman"/>
                <a:cs typeface="Times New Roman"/>
              </a:rPr>
              <a:t>β</a:t>
            </a:r>
            <a:r>
              <a:rPr lang="en-US" altLang="zh-CN" dirty="0">
                <a:sym typeface="Wingdings" panose="05000000000000000000" pitchFamily="2" charset="2"/>
              </a:rPr>
              <a:t></a:t>
            </a:r>
            <a:r>
              <a:rPr lang="en-US" altLang="zh-CN" dirty="0"/>
              <a:t>L</a:t>
            </a:r>
            <a:endParaRPr lang="zh-CN" altLang="en-US" dirty="0"/>
          </a:p>
        </p:txBody>
      </p:sp>
      <p:sp>
        <p:nvSpPr>
          <p:cNvPr id="5" name="TextBox 17">
            <a:extLst>
              <a:ext uri="{FF2B5EF4-FFF2-40B4-BE49-F238E27FC236}">
                <a16:creationId xmlns:a16="http://schemas.microsoft.com/office/drawing/2014/main" id="{5A4F04E7-C5AB-84EE-2BB4-812DA565646A}"/>
              </a:ext>
            </a:extLst>
          </p:cNvPr>
          <p:cNvSpPr txBox="1"/>
          <p:nvPr/>
        </p:nvSpPr>
        <p:spPr>
          <a:xfrm>
            <a:off x="2749063" y="3798332"/>
            <a:ext cx="1495922" cy="369332"/>
          </a:xfrm>
          <a:prstGeom prst="rect">
            <a:avLst/>
          </a:prstGeom>
          <a:noFill/>
        </p:spPr>
        <p:txBody>
          <a:bodyPr wrap="none" rtlCol="0">
            <a:spAutoFit/>
          </a:bodyPr>
          <a:lstStyle/>
          <a:p>
            <a:pPr marL="285750" indent="-285750">
              <a:buFont typeface="Arial" panose="020B0604020202020204" pitchFamily="34" charset="0"/>
              <a:buChar char="•"/>
            </a:pPr>
            <a:r>
              <a:rPr lang="en-US" altLang="zh-CN" dirty="0">
                <a:latin typeface="Times New Roman"/>
                <a:cs typeface="Times New Roman"/>
              </a:rPr>
              <a:t>L</a:t>
            </a:r>
            <a:r>
              <a:rPr lang="en-US" altLang="zh-CN" baseline="-25000" dirty="0">
                <a:latin typeface="Times New Roman"/>
                <a:cs typeface="Times New Roman"/>
              </a:rPr>
              <a:t>1</a:t>
            </a:r>
            <a:r>
              <a:rPr lang="en-US" altLang="zh-CN" dirty="0">
                <a:latin typeface="Times New Roman"/>
                <a:cs typeface="Times New Roman"/>
              </a:rPr>
              <a:t>+</a:t>
            </a:r>
            <a:r>
              <a:rPr lang="el-GR" altLang="zh-CN" dirty="0">
                <a:latin typeface="Times New Roman"/>
                <a:cs typeface="Times New Roman"/>
              </a:rPr>
              <a:t> α </a:t>
            </a:r>
            <a:r>
              <a:rPr lang="en-US" altLang="zh-CN" dirty="0">
                <a:sym typeface="Wingdings" panose="05000000000000000000" pitchFamily="2" charset="2"/>
              </a:rPr>
              <a:t></a:t>
            </a:r>
            <a:r>
              <a:rPr lang="en-US" altLang="zh-CN" dirty="0"/>
              <a:t>L</a:t>
            </a:r>
            <a:r>
              <a:rPr lang="en-US" altLang="zh-CN" baseline="-25000" dirty="0"/>
              <a:t>2</a:t>
            </a:r>
            <a:endParaRPr lang="zh-CN" altLang="en-US" dirty="0"/>
          </a:p>
        </p:txBody>
      </p:sp>
      <p:sp>
        <p:nvSpPr>
          <p:cNvPr id="6" name="TextBox 17">
            <a:extLst>
              <a:ext uri="{FF2B5EF4-FFF2-40B4-BE49-F238E27FC236}">
                <a16:creationId xmlns:a16="http://schemas.microsoft.com/office/drawing/2014/main" id="{5DF79532-BD24-840A-0BC4-F09302FB5D7B}"/>
              </a:ext>
            </a:extLst>
          </p:cNvPr>
          <p:cNvSpPr txBox="1"/>
          <p:nvPr/>
        </p:nvSpPr>
        <p:spPr>
          <a:xfrm>
            <a:off x="2719011" y="4217794"/>
            <a:ext cx="1500732" cy="369332"/>
          </a:xfrm>
          <a:prstGeom prst="rect">
            <a:avLst/>
          </a:prstGeom>
          <a:noFill/>
        </p:spPr>
        <p:txBody>
          <a:bodyPr wrap="none" rtlCol="0">
            <a:spAutoFit/>
          </a:bodyPr>
          <a:lstStyle/>
          <a:p>
            <a:pPr marL="285750" indent="-285750">
              <a:buFont typeface="Arial" panose="020B0604020202020204" pitchFamily="34" charset="0"/>
              <a:buChar char="•"/>
            </a:pPr>
            <a:r>
              <a:rPr lang="el-GR" altLang="zh-CN" dirty="0">
                <a:latin typeface="Times New Roman"/>
                <a:cs typeface="Times New Roman"/>
              </a:rPr>
              <a:t>α </a:t>
            </a:r>
            <a:r>
              <a:rPr lang="en-US" altLang="zh-CN" dirty="0">
                <a:sym typeface="Wingdings" panose="05000000000000000000" pitchFamily="2" charset="2"/>
              </a:rPr>
              <a:t></a:t>
            </a:r>
            <a:r>
              <a:rPr lang="en-US" altLang="zh-CN" dirty="0"/>
              <a:t>L</a:t>
            </a:r>
            <a:r>
              <a:rPr lang="en-US" altLang="zh-CN" baseline="-25000" dirty="0"/>
              <a:t>1</a:t>
            </a:r>
            <a:r>
              <a:rPr lang="en-US" altLang="zh-CN" dirty="0"/>
              <a:t>+</a:t>
            </a:r>
            <a:r>
              <a:rPr lang="en-US" altLang="zh-CN" dirty="0">
                <a:latin typeface="Times New Roman"/>
                <a:cs typeface="Times New Roman"/>
              </a:rPr>
              <a:t> L</a:t>
            </a:r>
            <a:r>
              <a:rPr lang="en-US" altLang="zh-CN" baseline="-25000" dirty="0">
                <a:latin typeface="Times New Roman"/>
                <a:cs typeface="Times New Roman"/>
              </a:rPr>
              <a:t>2</a:t>
            </a:r>
            <a:endParaRPr lang="zh-CN" altLang="en-US" dirty="0"/>
          </a:p>
        </p:txBody>
      </p:sp>
    </p:spTree>
    <p:extLst>
      <p:ext uri="{BB962C8B-B14F-4D97-AF65-F5344CB8AC3E}">
        <p14:creationId xmlns:p14="http://schemas.microsoft.com/office/powerpoint/2010/main" val="3613933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8564" y="3352800"/>
            <a:ext cx="3623108" cy="523220"/>
          </a:xfrm>
          <a:prstGeom prst="rect">
            <a:avLst/>
          </a:prstGeom>
          <a:noFill/>
        </p:spPr>
        <p:txBody>
          <a:bodyPr wrap="none" rtlCol="0">
            <a:spAutoFit/>
          </a:bodyPr>
          <a:lstStyle/>
          <a:p>
            <a:r>
              <a:rPr lang="en-US" altLang="zh-CN" sz="2800" dirty="0">
                <a:solidFill>
                  <a:srgbClr val="FF0000"/>
                </a:solidFill>
              </a:rPr>
              <a:t>41. Phase diagram -I </a:t>
            </a:r>
            <a:endParaRPr lang="zh-CN" altLang="en-US" sz="2800" dirty="0">
              <a:solidFill>
                <a:srgbClr val="FF0000"/>
              </a:solidFill>
            </a:endParaRPr>
          </a:p>
        </p:txBody>
      </p:sp>
      <p:sp>
        <p:nvSpPr>
          <p:cNvPr id="3" name="TextBox 2"/>
          <p:cNvSpPr txBox="1"/>
          <p:nvPr/>
        </p:nvSpPr>
        <p:spPr>
          <a:xfrm>
            <a:off x="609600" y="4343400"/>
            <a:ext cx="7154917" cy="1477328"/>
          </a:xfrm>
          <a:prstGeom prst="rect">
            <a:avLst/>
          </a:prstGeom>
          <a:noFill/>
        </p:spPr>
        <p:txBody>
          <a:bodyPr wrap="square" rtlCol="0">
            <a:spAutoFit/>
          </a:bodyPr>
          <a:lstStyle/>
          <a:p>
            <a:r>
              <a:rPr lang="en-US" altLang="zh-CN" dirty="0"/>
              <a:t>Chapter 10</a:t>
            </a:r>
          </a:p>
          <a:p>
            <a:r>
              <a:rPr lang="en-US" altLang="zh-CN" dirty="0"/>
              <a:t>Gibbs Free energy Composition and Phase diagrams of Binary System</a:t>
            </a:r>
          </a:p>
          <a:p>
            <a:endParaRPr lang="en-US" altLang="zh-CN" dirty="0"/>
          </a:p>
          <a:p>
            <a:r>
              <a:rPr lang="en-US" altLang="zh-CN" dirty="0"/>
              <a:t>Ref. Introduction to the thermodynamics of Materials, 6</a:t>
            </a:r>
            <a:r>
              <a:rPr lang="en-US" altLang="zh-CN" baseline="30000" dirty="0"/>
              <a:t>th</a:t>
            </a:r>
            <a:r>
              <a:rPr lang="en-US" altLang="zh-CN" dirty="0"/>
              <a:t> edition, D. R. Gaskell, and D. E. Laughlin</a:t>
            </a:r>
          </a:p>
        </p:txBody>
      </p:sp>
      <p:sp>
        <p:nvSpPr>
          <p:cNvPr id="4" name="矩形 3"/>
          <p:cNvSpPr/>
          <p:nvPr/>
        </p:nvSpPr>
        <p:spPr>
          <a:xfrm>
            <a:off x="899592" y="975480"/>
            <a:ext cx="7241085" cy="1569660"/>
          </a:xfrm>
          <a:prstGeom prst="rect">
            <a:avLst/>
          </a:prstGeom>
        </p:spPr>
        <p:txBody>
          <a:bodyPr wrap="none">
            <a:spAutoFit/>
          </a:bodyPr>
          <a:lstStyle/>
          <a:p>
            <a:r>
              <a:rPr lang="en-US" altLang="zh-CN" sz="2400" b="1" dirty="0">
                <a:solidFill>
                  <a:srgbClr val="FF0000"/>
                </a:solidFill>
              </a:rPr>
              <a:t>Phase diagram of binary system</a:t>
            </a:r>
          </a:p>
          <a:p>
            <a:pPr marL="285750" indent="-285750">
              <a:buFont typeface="Wingdings" panose="05000000000000000000" pitchFamily="2" charset="2"/>
              <a:buChar char="ü"/>
            </a:pPr>
            <a:r>
              <a:rPr lang="en-US" altLang="zh-CN" sz="2400" dirty="0">
                <a:solidFill>
                  <a:srgbClr val="FF0000"/>
                </a:solidFill>
              </a:rPr>
              <a:t>Complete liquid and solid solutions (idea solution)</a:t>
            </a:r>
          </a:p>
          <a:p>
            <a:pPr marL="285750" indent="-285750">
              <a:buFont typeface="Wingdings" panose="05000000000000000000" pitchFamily="2" charset="2"/>
              <a:buChar char="ü"/>
            </a:pPr>
            <a:r>
              <a:rPr lang="en-US" altLang="zh-CN" sz="2400" dirty="0">
                <a:ea typeface="宋体" pitchFamily="2" charset="-122"/>
              </a:rPr>
              <a:t>Partial solid solution </a:t>
            </a:r>
            <a:endParaRPr lang="en-US" altLang="zh-CN" sz="2400" dirty="0"/>
          </a:p>
          <a:p>
            <a:pPr marL="285750" indent="-285750">
              <a:buFont typeface="Wingdings" panose="05000000000000000000" pitchFamily="2" charset="2"/>
              <a:buChar char="ü"/>
            </a:pPr>
            <a:r>
              <a:rPr lang="en-US" altLang="zh-CN" sz="2400" dirty="0">
                <a:ea typeface="宋体" pitchFamily="2" charset="-122"/>
              </a:rPr>
              <a:t>Complete liquid miscibility and solid immiscibility</a:t>
            </a:r>
          </a:p>
        </p:txBody>
      </p:sp>
    </p:spTree>
    <p:extLst>
      <p:ext uri="{BB962C8B-B14F-4D97-AF65-F5344CB8AC3E}">
        <p14:creationId xmlns:p14="http://schemas.microsoft.com/office/powerpoint/2010/main" val="1674473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32" y="1245222"/>
            <a:ext cx="3505200" cy="4799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194752" y="3645024"/>
            <a:ext cx="4572000" cy="923330"/>
          </a:xfrm>
          <a:prstGeom prst="rect">
            <a:avLst/>
          </a:prstGeom>
        </p:spPr>
        <p:txBody>
          <a:bodyPr>
            <a:spAutoFit/>
          </a:bodyPr>
          <a:lstStyle/>
          <a:p>
            <a:pPr marL="285750" indent="-285750">
              <a:buFont typeface="Wingdings" panose="05000000000000000000" pitchFamily="2" charset="2"/>
              <a:buChar char="ü"/>
            </a:pPr>
            <a:r>
              <a:rPr lang="en-US" altLang="zh-CN" dirty="0"/>
              <a:t>Standard state of a component is simply a reference state to which the component in any other state is compared</a:t>
            </a:r>
          </a:p>
        </p:txBody>
      </p:sp>
      <p:sp>
        <p:nvSpPr>
          <p:cNvPr id="5" name="矩形 4"/>
          <p:cNvSpPr/>
          <p:nvPr/>
        </p:nvSpPr>
        <p:spPr>
          <a:xfrm>
            <a:off x="1259632" y="260648"/>
            <a:ext cx="4902304" cy="523220"/>
          </a:xfrm>
          <a:prstGeom prst="rect">
            <a:avLst/>
          </a:prstGeom>
        </p:spPr>
        <p:txBody>
          <a:bodyPr wrap="none">
            <a:spAutoFit/>
          </a:bodyPr>
          <a:lstStyle/>
          <a:p>
            <a:r>
              <a:rPr lang="en-US" altLang="zh-CN" sz="2800" dirty="0">
                <a:solidFill>
                  <a:srgbClr val="FF0000"/>
                </a:solidFill>
              </a:rPr>
              <a:t>Standard state of component </a:t>
            </a:r>
            <a:endParaRPr lang="zh-CN" altLang="en-US" sz="2800" dirty="0">
              <a:solidFill>
                <a:srgbClr val="FF0000"/>
              </a:solidFill>
            </a:endParaRPr>
          </a:p>
        </p:txBody>
      </p:sp>
      <p:sp>
        <p:nvSpPr>
          <p:cNvPr id="6" name="TextBox 5"/>
          <p:cNvSpPr txBox="1"/>
          <p:nvPr/>
        </p:nvSpPr>
        <p:spPr>
          <a:xfrm>
            <a:off x="4163912" y="2636912"/>
            <a:ext cx="4265720" cy="369332"/>
          </a:xfrm>
          <a:prstGeom prst="rect">
            <a:avLst/>
          </a:prstGeom>
          <a:noFill/>
        </p:spPr>
        <p:txBody>
          <a:bodyPr wrap="none" rtlCol="0">
            <a:spAutoFit/>
          </a:bodyPr>
          <a:lstStyle/>
          <a:p>
            <a:r>
              <a:rPr lang="en-US" altLang="zh-CN" dirty="0"/>
              <a:t>At temperature T, A is liquid while B is solid </a:t>
            </a:r>
            <a:endParaRPr lang="zh-CN" altLang="en-US" dirty="0"/>
          </a:p>
        </p:txBody>
      </p:sp>
      <p:sp>
        <p:nvSpPr>
          <p:cNvPr id="9" name="TextBox 8"/>
          <p:cNvSpPr txBox="1"/>
          <p:nvPr/>
        </p:nvSpPr>
        <p:spPr>
          <a:xfrm>
            <a:off x="4355976" y="1412776"/>
            <a:ext cx="3102196" cy="646331"/>
          </a:xfrm>
          <a:prstGeom prst="rect">
            <a:avLst/>
          </a:prstGeom>
          <a:noFill/>
        </p:spPr>
        <p:txBody>
          <a:bodyPr wrap="none" rtlCol="0">
            <a:spAutoFit/>
          </a:bodyPr>
          <a:lstStyle/>
          <a:p>
            <a:r>
              <a:rPr lang="en-US" altLang="zh-CN" dirty="0"/>
              <a:t>Curve I: both A and B are liquid</a:t>
            </a:r>
          </a:p>
          <a:p>
            <a:r>
              <a:rPr lang="en-US" altLang="zh-CN" dirty="0"/>
              <a:t>Curve II: both A and B are solid</a:t>
            </a:r>
            <a:endParaRPr lang="zh-CN" altLang="en-US" dirty="0"/>
          </a:p>
        </p:txBody>
      </p:sp>
      <p:sp>
        <p:nvSpPr>
          <p:cNvPr id="10" name="TextBox 9"/>
          <p:cNvSpPr txBox="1"/>
          <p:nvPr/>
        </p:nvSpPr>
        <p:spPr>
          <a:xfrm>
            <a:off x="4313740" y="4993867"/>
            <a:ext cx="4453012" cy="646331"/>
          </a:xfrm>
          <a:prstGeom prst="rect">
            <a:avLst/>
          </a:prstGeom>
          <a:noFill/>
        </p:spPr>
        <p:txBody>
          <a:bodyPr wrap="square" rtlCol="0">
            <a:spAutoFit/>
          </a:bodyPr>
          <a:lstStyle/>
          <a:p>
            <a:r>
              <a:rPr lang="en-US" altLang="zh-CN" dirty="0">
                <a:solidFill>
                  <a:srgbClr val="FF0000"/>
                </a:solidFill>
              </a:rPr>
              <a:t>We need a new </a:t>
            </a:r>
            <a:r>
              <a:rPr lang="el-GR" altLang="zh-CN" dirty="0">
                <a:solidFill>
                  <a:srgbClr val="FF0000"/>
                </a:solidFill>
              </a:rPr>
              <a:t>Δ</a:t>
            </a:r>
            <a:r>
              <a:rPr lang="en-US" altLang="zh-CN" dirty="0">
                <a:solidFill>
                  <a:srgbClr val="FF0000"/>
                </a:solidFill>
              </a:rPr>
              <a:t>G</a:t>
            </a:r>
            <a:r>
              <a:rPr lang="en-US" altLang="zh-CN" baseline="30000" dirty="0">
                <a:solidFill>
                  <a:srgbClr val="FF0000"/>
                </a:solidFill>
              </a:rPr>
              <a:t>M</a:t>
            </a:r>
            <a:r>
              <a:rPr lang="en-US" altLang="zh-CN" dirty="0">
                <a:solidFill>
                  <a:srgbClr val="FF0000"/>
                </a:solidFill>
              </a:rPr>
              <a:t> curve by using new standard state </a:t>
            </a:r>
            <a:endParaRPr lang="en-US" altLang="zh-CN" baseline="30000" dirty="0">
              <a:solidFill>
                <a:srgbClr val="FF0000"/>
              </a:solidFill>
            </a:endParaRPr>
          </a:p>
        </p:txBody>
      </p:sp>
    </p:spTree>
    <p:extLst>
      <p:ext uri="{BB962C8B-B14F-4D97-AF65-F5344CB8AC3E}">
        <p14:creationId xmlns:p14="http://schemas.microsoft.com/office/powerpoint/2010/main" val="1962251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59631" y="160338"/>
            <a:ext cx="7007225" cy="560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dirty="0">
                <a:solidFill>
                  <a:srgbClr val="FF0000"/>
                </a:solidFill>
              </a:rPr>
              <a:t>Complete liquid and solid solutions</a:t>
            </a:r>
          </a:p>
        </p:txBody>
      </p:sp>
      <p:pic>
        <p:nvPicPr>
          <p:cNvPr id="1157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8289"/>
          <a:stretch/>
        </p:blipFill>
        <p:spPr bwMode="auto">
          <a:xfrm>
            <a:off x="128516" y="1035724"/>
            <a:ext cx="3673475" cy="5155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3957566" y="1208410"/>
            <a:ext cx="4972619" cy="2031325"/>
          </a:xfrm>
          <a:prstGeom prst="rect">
            <a:avLst/>
          </a:prstGeom>
        </p:spPr>
        <p:txBody>
          <a:bodyPr wrap="square">
            <a:spAutoFit/>
          </a:bodyPr>
          <a:lstStyle/>
          <a:p>
            <a:pPr marL="285750" indent="-285750">
              <a:buFont typeface="Wingdings" panose="05000000000000000000" pitchFamily="2" charset="2"/>
              <a:buChar char="ü"/>
            </a:pPr>
            <a:r>
              <a:rPr lang="en-US" altLang="zh-CN" dirty="0"/>
              <a:t>Standard state of a component is simply a reference state to which the component in any other state is compared</a:t>
            </a:r>
          </a:p>
          <a:p>
            <a:pPr marL="285750" indent="-285750">
              <a:buFont typeface="Wingdings" panose="05000000000000000000" pitchFamily="2" charset="2"/>
              <a:buChar char="ü"/>
            </a:pPr>
            <a:endParaRPr lang="en-US" altLang="zh-CN" dirty="0"/>
          </a:p>
          <a:p>
            <a:pPr marL="285750" indent="-285750">
              <a:buFont typeface="Wingdings" panose="05000000000000000000" pitchFamily="2" charset="2"/>
              <a:buChar char="ü"/>
            </a:pPr>
            <a:r>
              <a:rPr lang="en-US" altLang="zh-CN" dirty="0"/>
              <a:t>It follows that any state can be chosen as the standard state, and </a:t>
            </a:r>
            <a:r>
              <a:rPr lang="en-US" altLang="zh-CN" b="1" dirty="0"/>
              <a:t>the choice is normally made purely on the basis of convenience</a:t>
            </a:r>
            <a:endParaRPr lang="zh-CN" altLang="en-US" b="1" dirty="0"/>
          </a:p>
        </p:txBody>
      </p:sp>
      <p:sp>
        <p:nvSpPr>
          <p:cNvPr id="4" name="矩形 3"/>
          <p:cNvSpPr/>
          <p:nvPr/>
        </p:nvSpPr>
        <p:spPr>
          <a:xfrm>
            <a:off x="4014716" y="3498949"/>
            <a:ext cx="5105400" cy="584775"/>
          </a:xfrm>
          <a:prstGeom prst="rect">
            <a:avLst/>
          </a:prstGeom>
          <a:solidFill>
            <a:schemeClr val="accent4">
              <a:lumMod val="20000"/>
              <a:lumOff val="80000"/>
            </a:schemeClr>
          </a:solidFill>
        </p:spPr>
        <p:txBody>
          <a:bodyPr wrap="square">
            <a:spAutoFit/>
          </a:bodyPr>
          <a:lstStyle/>
          <a:p>
            <a:r>
              <a:rPr lang="en-US" altLang="zh-CN" sz="1600" b="1" dirty="0"/>
              <a:t>Consider the binary system </a:t>
            </a:r>
            <a:r>
              <a:rPr lang="en-US" altLang="zh-CN" sz="1600" b="1" i="1" dirty="0"/>
              <a:t>A–B </a:t>
            </a:r>
            <a:r>
              <a:rPr lang="en-US" altLang="zh-CN" sz="1600" b="1" dirty="0"/>
              <a:t>at a temperature </a:t>
            </a:r>
            <a:r>
              <a:rPr lang="en-US" altLang="zh-CN" sz="1600" b="1" i="1" dirty="0"/>
              <a:t>T </a:t>
            </a:r>
            <a:r>
              <a:rPr lang="en-US" altLang="zh-CN" sz="1600" b="1" dirty="0"/>
              <a:t>which is below </a:t>
            </a:r>
            <a:r>
              <a:rPr lang="en-US" altLang="zh-CN" sz="1600" b="1" i="1" dirty="0"/>
              <a:t>T</a:t>
            </a:r>
            <a:r>
              <a:rPr lang="en-US" altLang="zh-CN" sz="1600" b="1" i="1" baseline="-25000" dirty="0"/>
              <a:t>m(A)</a:t>
            </a:r>
            <a:r>
              <a:rPr lang="en-US" altLang="zh-CN" sz="1600" b="1" dirty="0"/>
              <a:t> and above </a:t>
            </a:r>
            <a:r>
              <a:rPr lang="en-US" altLang="zh-CN" sz="1600" b="1" i="1" dirty="0"/>
              <a:t>T</a:t>
            </a:r>
            <a:r>
              <a:rPr lang="en-US" altLang="zh-CN" sz="1600" b="1" i="1" baseline="-25000" dirty="0"/>
              <a:t>m(B)</a:t>
            </a:r>
            <a:endParaRPr lang="zh-CN" altLang="en-US" sz="1600" b="1" dirty="0"/>
          </a:p>
        </p:txBody>
      </p:sp>
      <p:sp>
        <p:nvSpPr>
          <p:cNvPr id="5" name="矩形 4"/>
          <p:cNvSpPr/>
          <p:nvPr/>
        </p:nvSpPr>
        <p:spPr>
          <a:xfrm>
            <a:off x="4032913" y="4083724"/>
            <a:ext cx="4572000" cy="584775"/>
          </a:xfrm>
          <a:prstGeom prst="rect">
            <a:avLst/>
          </a:prstGeom>
        </p:spPr>
        <p:txBody>
          <a:bodyPr>
            <a:spAutoFit/>
          </a:bodyPr>
          <a:lstStyle/>
          <a:p>
            <a:r>
              <a:rPr lang="en-US" altLang="zh-CN" sz="1600" dirty="0"/>
              <a:t>This system forms </a:t>
            </a:r>
            <a:r>
              <a:rPr lang="en-US" altLang="zh-CN" sz="1600" dirty="0" err="1"/>
              <a:t>Raoultian</a:t>
            </a:r>
            <a:r>
              <a:rPr lang="en-US" altLang="zh-CN" sz="1600" dirty="0"/>
              <a:t> ideal liquid solutions and </a:t>
            </a:r>
            <a:r>
              <a:rPr lang="en-US" altLang="zh-CN" sz="1600" dirty="0" err="1"/>
              <a:t>Raoultian</a:t>
            </a:r>
            <a:r>
              <a:rPr lang="en-US" altLang="zh-CN" sz="1600" dirty="0"/>
              <a:t> ideal solid solutions</a:t>
            </a:r>
            <a:endParaRPr lang="zh-CN" altLang="en-US" sz="1600" dirty="0"/>
          </a:p>
        </p:txBody>
      </p:sp>
      <p:sp>
        <p:nvSpPr>
          <p:cNvPr id="14" name="矩形 13"/>
          <p:cNvSpPr/>
          <p:nvPr/>
        </p:nvSpPr>
        <p:spPr>
          <a:xfrm>
            <a:off x="4157875" y="4668499"/>
            <a:ext cx="4572000" cy="584775"/>
          </a:xfrm>
          <a:prstGeom prst="rect">
            <a:avLst/>
          </a:prstGeom>
        </p:spPr>
        <p:txBody>
          <a:bodyPr>
            <a:spAutoFit/>
          </a:bodyPr>
          <a:lstStyle/>
          <a:p>
            <a:pPr marL="285750" indent="-285750">
              <a:buFont typeface="Arial" panose="020B0604020202020204" pitchFamily="34" charset="0"/>
              <a:buChar char="•"/>
            </a:pPr>
            <a:r>
              <a:rPr lang="en-US" altLang="zh-CN" sz="1600" dirty="0"/>
              <a:t>curve I : liquid solutions;</a:t>
            </a:r>
          </a:p>
          <a:p>
            <a:pPr marL="285750" indent="-285750">
              <a:buFont typeface="Arial" panose="020B0604020202020204" pitchFamily="34" charset="0"/>
              <a:buChar char="•"/>
            </a:pPr>
            <a:r>
              <a:rPr lang="en-US" altLang="zh-CN" sz="1600" dirty="0"/>
              <a:t>curve II: solid solutions</a:t>
            </a:r>
            <a:endParaRPr lang="zh-CN" altLang="en-US" sz="1600" dirty="0"/>
          </a:p>
        </p:txBody>
      </p:sp>
      <p:sp>
        <p:nvSpPr>
          <p:cNvPr id="15" name="TextBox 14"/>
          <p:cNvSpPr txBox="1"/>
          <p:nvPr/>
        </p:nvSpPr>
        <p:spPr>
          <a:xfrm rot="1811985">
            <a:off x="1038527" y="3183095"/>
            <a:ext cx="1034257" cy="261610"/>
          </a:xfrm>
          <a:prstGeom prst="rect">
            <a:avLst/>
          </a:prstGeom>
          <a:solidFill>
            <a:schemeClr val="bg1"/>
          </a:solidFill>
        </p:spPr>
        <p:txBody>
          <a:bodyPr wrap="none" rtlCol="0">
            <a:spAutoFit/>
          </a:bodyPr>
          <a:lstStyle/>
          <a:p>
            <a:r>
              <a:rPr lang="en-US" altLang="zh-CN" sz="1100" dirty="0">
                <a:solidFill>
                  <a:srgbClr val="0000FF"/>
                </a:solidFill>
              </a:rPr>
              <a:t>unmixed solids</a:t>
            </a:r>
            <a:endParaRPr lang="zh-CN" altLang="en-US" sz="1100" dirty="0">
              <a:solidFill>
                <a:srgbClr val="0000FF"/>
              </a:solidFill>
            </a:endParaRPr>
          </a:p>
        </p:txBody>
      </p:sp>
      <p:sp>
        <p:nvSpPr>
          <p:cNvPr id="17" name="TextBox 16"/>
          <p:cNvSpPr txBox="1"/>
          <p:nvPr/>
        </p:nvSpPr>
        <p:spPr>
          <a:xfrm rot="19898728">
            <a:off x="1951015" y="3206514"/>
            <a:ext cx="1031051" cy="261610"/>
          </a:xfrm>
          <a:prstGeom prst="rect">
            <a:avLst/>
          </a:prstGeom>
          <a:solidFill>
            <a:schemeClr val="bg1"/>
          </a:solidFill>
        </p:spPr>
        <p:txBody>
          <a:bodyPr wrap="none" rtlCol="0">
            <a:spAutoFit/>
          </a:bodyPr>
          <a:lstStyle/>
          <a:p>
            <a:r>
              <a:rPr lang="en-US" altLang="zh-CN" sz="1100" dirty="0">
                <a:solidFill>
                  <a:srgbClr val="FF0000"/>
                </a:solidFill>
              </a:rPr>
              <a:t>unmixed liquid</a:t>
            </a:r>
            <a:endParaRPr lang="zh-CN" altLang="en-US" sz="1100" dirty="0">
              <a:solidFill>
                <a:srgbClr val="FF0000"/>
              </a:solidFill>
            </a:endParaRPr>
          </a:p>
        </p:txBody>
      </p:sp>
      <p:cxnSp>
        <p:nvCxnSpPr>
          <p:cNvPr id="18" name="直接连接符 17"/>
          <p:cNvCxnSpPr/>
          <p:nvPr/>
        </p:nvCxnSpPr>
        <p:spPr>
          <a:xfrm>
            <a:off x="958755" y="4331658"/>
            <a:ext cx="2033516" cy="0"/>
          </a:xfrm>
          <a:prstGeom prst="line">
            <a:avLst/>
          </a:prstGeom>
          <a:ln w="76200">
            <a:solidFill>
              <a:srgbClr val="FF0000">
                <a:alpha val="65098"/>
              </a:srgbClr>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31561" y="1208410"/>
            <a:ext cx="769763" cy="461665"/>
          </a:xfrm>
          <a:prstGeom prst="rect">
            <a:avLst/>
          </a:prstGeom>
          <a:solidFill>
            <a:schemeClr val="bg1"/>
          </a:solidFill>
        </p:spPr>
        <p:txBody>
          <a:bodyPr wrap="none" rtlCol="0">
            <a:spAutoFit/>
          </a:bodyPr>
          <a:lstStyle/>
          <a:p>
            <a:r>
              <a:rPr lang="en-US" altLang="zh-CN" sz="1200" b="1" dirty="0"/>
              <a:t>liquid </a:t>
            </a:r>
          </a:p>
          <a:p>
            <a:r>
              <a:rPr lang="en-US" altLang="zh-CN" sz="1200" b="1" dirty="0"/>
              <a:t>solutions</a:t>
            </a:r>
            <a:endParaRPr lang="zh-CN" altLang="en-US" sz="1200" b="1" dirty="0"/>
          </a:p>
        </p:txBody>
      </p:sp>
      <p:sp>
        <p:nvSpPr>
          <p:cNvPr id="22" name="TextBox 21"/>
          <p:cNvSpPr txBox="1"/>
          <p:nvPr/>
        </p:nvSpPr>
        <p:spPr>
          <a:xfrm>
            <a:off x="2167366" y="2102524"/>
            <a:ext cx="769763" cy="461665"/>
          </a:xfrm>
          <a:prstGeom prst="rect">
            <a:avLst/>
          </a:prstGeom>
          <a:solidFill>
            <a:schemeClr val="bg1"/>
          </a:solidFill>
        </p:spPr>
        <p:txBody>
          <a:bodyPr wrap="none" rtlCol="0">
            <a:spAutoFit/>
          </a:bodyPr>
          <a:lstStyle/>
          <a:p>
            <a:r>
              <a:rPr lang="en-US" altLang="zh-CN" sz="1200" b="1" dirty="0"/>
              <a:t>solid</a:t>
            </a:r>
          </a:p>
          <a:p>
            <a:r>
              <a:rPr lang="en-US" altLang="zh-CN" sz="1200" b="1" dirty="0"/>
              <a:t>solutions</a:t>
            </a:r>
            <a:endParaRPr lang="zh-CN" altLang="en-US" sz="1200" b="1" dirty="0"/>
          </a:p>
        </p:txBody>
      </p:sp>
      <p:sp>
        <p:nvSpPr>
          <p:cNvPr id="21" name="矩形 20"/>
          <p:cNvSpPr/>
          <p:nvPr/>
        </p:nvSpPr>
        <p:spPr>
          <a:xfrm>
            <a:off x="4090916" y="5738944"/>
            <a:ext cx="5053084" cy="584775"/>
          </a:xfrm>
          <a:prstGeom prst="rect">
            <a:avLst/>
          </a:prstGeom>
        </p:spPr>
        <p:txBody>
          <a:bodyPr wrap="square">
            <a:spAutoFit/>
          </a:bodyPr>
          <a:lstStyle/>
          <a:p>
            <a:r>
              <a:rPr lang="en-US" altLang="zh-CN" sz="1600" dirty="0"/>
              <a:t>with pure liquid </a:t>
            </a:r>
            <a:r>
              <a:rPr lang="en-US" altLang="zh-CN" sz="1600" i="1" dirty="0"/>
              <a:t>A </a:t>
            </a:r>
            <a:r>
              <a:rPr lang="en-US" altLang="zh-CN" sz="1600" dirty="0"/>
              <a:t>located at </a:t>
            </a:r>
            <a:r>
              <a:rPr lang="en-US" altLang="zh-CN" sz="1600" i="1" dirty="0"/>
              <a:t>X </a:t>
            </a:r>
            <a:r>
              <a:rPr lang="en-US" altLang="zh-CN" sz="1600" dirty="0"/>
              <a:t>=1 (the point </a:t>
            </a:r>
            <a:r>
              <a:rPr lang="en-US" altLang="zh-CN" sz="1600" i="1" dirty="0"/>
              <a:t>a</a:t>
            </a:r>
            <a:r>
              <a:rPr lang="en-US" altLang="zh-CN" sz="1600" dirty="0"/>
              <a:t>) </a:t>
            </a:r>
          </a:p>
          <a:p>
            <a:r>
              <a:rPr lang="en-US" altLang="zh-CN" sz="1600" dirty="0"/>
              <a:t>and pure solid </a:t>
            </a:r>
            <a:r>
              <a:rPr lang="en-US" altLang="zh-CN" sz="1600" i="1" dirty="0"/>
              <a:t>B </a:t>
            </a:r>
            <a:r>
              <a:rPr lang="en-US" altLang="zh-CN" sz="1600" dirty="0"/>
              <a:t>located at </a:t>
            </a:r>
            <a:r>
              <a:rPr lang="en-US" altLang="zh-CN" sz="1600" i="1" dirty="0"/>
              <a:t>X </a:t>
            </a:r>
            <a:r>
              <a:rPr lang="en-US" altLang="zh-CN" sz="1600" dirty="0"/>
              <a:t>=1 (the point </a:t>
            </a:r>
            <a:r>
              <a:rPr lang="en-US" altLang="zh-CN" sz="1600" i="1" dirty="0"/>
              <a:t>b</a:t>
            </a:r>
            <a:r>
              <a:rPr lang="en-US" altLang="zh-CN" sz="1600" dirty="0"/>
              <a:t>)</a:t>
            </a:r>
            <a:endParaRPr lang="zh-CN" altLang="en-US" sz="1600" dirty="0"/>
          </a:p>
        </p:txBody>
      </p:sp>
      <p:sp>
        <p:nvSpPr>
          <p:cNvPr id="7" name="矩形 6"/>
          <p:cNvSpPr/>
          <p:nvPr/>
        </p:nvSpPr>
        <p:spPr>
          <a:xfrm>
            <a:off x="4032912" y="5153710"/>
            <a:ext cx="5087203" cy="584775"/>
          </a:xfrm>
          <a:prstGeom prst="rect">
            <a:avLst/>
          </a:prstGeom>
          <a:solidFill>
            <a:schemeClr val="accent4">
              <a:lumMod val="20000"/>
              <a:lumOff val="80000"/>
            </a:schemeClr>
          </a:solidFill>
        </p:spPr>
        <p:txBody>
          <a:bodyPr wrap="square">
            <a:spAutoFit/>
          </a:bodyPr>
          <a:lstStyle/>
          <a:p>
            <a:r>
              <a:rPr lang="en-US" altLang="zh-CN" sz="1600" b="1" dirty="0"/>
              <a:t>At the temperature </a:t>
            </a:r>
            <a:r>
              <a:rPr lang="en-US" altLang="zh-CN" sz="1600" b="1" i="1" dirty="0"/>
              <a:t>T, </a:t>
            </a:r>
            <a:r>
              <a:rPr lang="en-US" altLang="zh-CN" sz="1600" b="1" dirty="0"/>
              <a:t>the stable states of pure </a:t>
            </a:r>
            <a:r>
              <a:rPr lang="en-US" altLang="zh-CN" sz="1600" b="1" i="1" dirty="0"/>
              <a:t>A </a:t>
            </a:r>
            <a:r>
              <a:rPr lang="en-US" altLang="zh-CN" sz="1600" b="1" dirty="0"/>
              <a:t>and </a:t>
            </a:r>
            <a:r>
              <a:rPr lang="en-US" altLang="zh-CN" sz="1600" b="1" i="1" dirty="0"/>
              <a:t>B </a:t>
            </a:r>
            <a:r>
              <a:rPr lang="en-US" altLang="zh-CN" sz="1600" b="1" dirty="0"/>
              <a:t>are located at </a:t>
            </a:r>
            <a:r>
              <a:rPr lang="en-US" altLang="zh-CN" sz="1600" b="1" dirty="0">
                <a:latin typeface="Sylfaen"/>
              </a:rPr>
              <a:t>Δ</a:t>
            </a:r>
            <a:r>
              <a:rPr lang="en-US" altLang="zh-CN" sz="1600" b="1" i="1" dirty="0"/>
              <a:t>G</a:t>
            </a:r>
            <a:r>
              <a:rPr lang="en-US" altLang="zh-CN" sz="1600" b="1" baseline="30000" dirty="0"/>
              <a:t>M</a:t>
            </a:r>
            <a:r>
              <a:rPr lang="en-US" altLang="zh-CN" sz="1600" b="1" dirty="0"/>
              <a:t>=0</a:t>
            </a:r>
            <a:r>
              <a:rPr lang="en-US" altLang="zh-CN" sz="1600" dirty="0"/>
              <a:t>, </a:t>
            </a:r>
          </a:p>
        </p:txBody>
      </p:sp>
    </p:spTree>
    <p:extLst>
      <p:ext uri="{BB962C8B-B14F-4D97-AF65-F5344CB8AC3E}">
        <p14:creationId xmlns:p14="http://schemas.microsoft.com/office/powerpoint/2010/main" val="1984638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02201" y="176600"/>
            <a:ext cx="7083425" cy="49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dirty="0">
                <a:solidFill>
                  <a:srgbClr val="FF0000"/>
                </a:solidFill>
              </a:rPr>
              <a:t>Complete liquid and solid solutions</a:t>
            </a:r>
          </a:p>
        </p:txBody>
      </p:sp>
      <p:pic>
        <p:nvPicPr>
          <p:cNvPr id="1157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8289"/>
          <a:stretch/>
        </p:blipFill>
        <p:spPr bwMode="auto">
          <a:xfrm>
            <a:off x="152400" y="1123816"/>
            <a:ext cx="3673475" cy="5155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rot="1811985">
            <a:off x="1062411" y="3271187"/>
            <a:ext cx="1034257" cy="261610"/>
          </a:xfrm>
          <a:prstGeom prst="rect">
            <a:avLst/>
          </a:prstGeom>
          <a:solidFill>
            <a:schemeClr val="bg1"/>
          </a:solidFill>
        </p:spPr>
        <p:txBody>
          <a:bodyPr wrap="none" rtlCol="0">
            <a:spAutoFit/>
          </a:bodyPr>
          <a:lstStyle/>
          <a:p>
            <a:r>
              <a:rPr lang="en-US" altLang="zh-CN" sz="1100" dirty="0"/>
              <a:t>unmixed solids</a:t>
            </a:r>
            <a:endParaRPr lang="zh-CN" altLang="en-US" sz="1100" dirty="0"/>
          </a:p>
        </p:txBody>
      </p:sp>
      <p:sp>
        <p:nvSpPr>
          <p:cNvPr id="17" name="TextBox 16"/>
          <p:cNvSpPr txBox="1"/>
          <p:nvPr/>
        </p:nvSpPr>
        <p:spPr>
          <a:xfrm rot="19898728">
            <a:off x="1974899" y="3294606"/>
            <a:ext cx="1031051" cy="261610"/>
          </a:xfrm>
          <a:prstGeom prst="rect">
            <a:avLst/>
          </a:prstGeom>
          <a:solidFill>
            <a:schemeClr val="bg1"/>
          </a:solidFill>
        </p:spPr>
        <p:txBody>
          <a:bodyPr wrap="none" rtlCol="0">
            <a:spAutoFit/>
          </a:bodyPr>
          <a:lstStyle/>
          <a:p>
            <a:r>
              <a:rPr lang="en-US" altLang="zh-CN" sz="1100" dirty="0"/>
              <a:t>unmixed liquid</a:t>
            </a:r>
            <a:endParaRPr lang="zh-CN" altLang="en-US" sz="1100" dirty="0"/>
          </a:p>
        </p:txBody>
      </p:sp>
      <p:sp>
        <p:nvSpPr>
          <p:cNvPr id="20" name="TextBox 19"/>
          <p:cNvSpPr txBox="1"/>
          <p:nvPr/>
        </p:nvSpPr>
        <p:spPr>
          <a:xfrm>
            <a:off x="1055445" y="1296502"/>
            <a:ext cx="769763" cy="461665"/>
          </a:xfrm>
          <a:prstGeom prst="rect">
            <a:avLst/>
          </a:prstGeom>
          <a:solidFill>
            <a:schemeClr val="bg1"/>
          </a:solidFill>
        </p:spPr>
        <p:txBody>
          <a:bodyPr wrap="none" rtlCol="0">
            <a:spAutoFit/>
          </a:bodyPr>
          <a:lstStyle/>
          <a:p>
            <a:r>
              <a:rPr lang="en-US" altLang="zh-CN" sz="1200" b="1" dirty="0"/>
              <a:t>liquid </a:t>
            </a:r>
          </a:p>
          <a:p>
            <a:r>
              <a:rPr lang="en-US" altLang="zh-CN" sz="1200" b="1" dirty="0"/>
              <a:t>solutions</a:t>
            </a:r>
            <a:endParaRPr lang="zh-CN" altLang="en-US" sz="1200" b="1" dirty="0"/>
          </a:p>
        </p:txBody>
      </p:sp>
      <p:sp>
        <p:nvSpPr>
          <p:cNvPr id="22" name="TextBox 21"/>
          <p:cNvSpPr txBox="1"/>
          <p:nvPr/>
        </p:nvSpPr>
        <p:spPr>
          <a:xfrm>
            <a:off x="2191250" y="2190616"/>
            <a:ext cx="769763" cy="461665"/>
          </a:xfrm>
          <a:prstGeom prst="rect">
            <a:avLst/>
          </a:prstGeom>
          <a:solidFill>
            <a:schemeClr val="bg1"/>
          </a:solidFill>
        </p:spPr>
        <p:txBody>
          <a:bodyPr wrap="none" rtlCol="0">
            <a:spAutoFit/>
          </a:bodyPr>
          <a:lstStyle/>
          <a:p>
            <a:r>
              <a:rPr lang="en-US" altLang="zh-CN" sz="1200" b="1" dirty="0"/>
              <a:t>solid</a:t>
            </a:r>
          </a:p>
          <a:p>
            <a:r>
              <a:rPr lang="en-US" altLang="zh-CN" sz="1200" b="1" dirty="0"/>
              <a:t>solutions</a:t>
            </a:r>
            <a:endParaRPr lang="zh-CN" altLang="en-US" sz="1200" b="1" dirty="0"/>
          </a:p>
        </p:txBody>
      </p:sp>
      <p:cxnSp>
        <p:nvCxnSpPr>
          <p:cNvPr id="26" name="直接连接符 25"/>
          <p:cNvCxnSpPr/>
          <p:nvPr/>
        </p:nvCxnSpPr>
        <p:spPr>
          <a:xfrm flipV="1">
            <a:off x="941696" y="3232395"/>
            <a:ext cx="0" cy="1187355"/>
          </a:xfrm>
          <a:prstGeom prst="line">
            <a:avLst/>
          </a:prstGeom>
          <a:ln w="76200">
            <a:solidFill>
              <a:srgbClr val="FF0000">
                <a:alpha val="65098"/>
              </a:srgb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3825875" y="1204168"/>
            <a:ext cx="5105400" cy="646331"/>
          </a:xfrm>
          <a:prstGeom prst="rect">
            <a:avLst/>
          </a:prstGeom>
        </p:spPr>
        <p:txBody>
          <a:bodyPr wrap="square">
            <a:spAutoFit/>
          </a:bodyPr>
          <a:lstStyle/>
          <a:p>
            <a:r>
              <a:rPr lang="en-US" altLang="zh-CN" dirty="0"/>
              <a:t>The </a:t>
            </a:r>
            <a:r>
              <a:rPr lang="en-US" altLang="zh-CN" b="1" dirty="0"/>
              <a:t>point </a:t>
            </a:r>
            <a:r>
              <a:rPr lang="en-US" altLang="zh-CN" b="1" i="1" dirty="0"/>
              <a:t>c </a:t>
            </a:r>
            <a:r>
              <a:rPr lang="en-US" altLang="zh-CN" dirty="0"/>
              <a:t>represents the molar Gibbs free energy of </a:t>
            </a:r>
            <a:r>
              <a:rPr lang="en-US" altLang="zh-CN" b="1" dirty="0"/>
              <a:t>solid </a:t>
            </a:r>
            <a:r>
              <a:rPr lang="en-US" altLang="zh-CN" b="1" i="1" dirty="0"/>
              <a:t>A </a:t>
            </a:r>
            <a:r>
              <a:rPr lang="en-US" altLang="zh-CN" b="1" dirty="0"/>
              <a:t>relative to that of liquid </a:t>
            </a:r>
            <a:r>
              <a:rPr lang="en-US" altLang="zh-CN" b="1" i="1" dirty="0"/>
              <a:t>A </a:t>
            </a:r>
            <a:r>
              <a:rPr lang="en-US" altLang="zh-CN" dirty="0"/>
              <a:t>at temp. </a:t>
            </a:r>
            <a:r>
              <a:rPr lang="en-US" altLang="zh-CN" i="1" dirty="0"/>
              <a:t>T</a:t>
            </a:r>
            <a:endParaRPr lang="zh-CN" altLang="en-US" dirty="0"/>
          </a:p>
        </p:txBody>
      </p:sp>
      <p:sp>
        <p:nvSpPr>
          <p:cNvPr id="28" name="TextBox 27"/>
          <p:cNvSpPr txBox="1"/>
          <p:nvPr/>
        </p:nvSpPr>
        <p:spPr>
          <a:xfrm>
            <a:off x="4163164" y="2282949"/>
            <a:ext cx="869277" cy="369332"/>
          </a:xfrm>
          <a:prstGeom prst="rect">
            <a:avLst/>
          </a:prstGeom>
          <a:noFill/>
        </p:spPr>
        <p:txBody>
          <a:bodyPr wrap="none" rtlCol="0">
            <a:spAutoFit/>
          </a:bodyPr>
          <a:lstStyle/>
          <a:p>
            <a:r>
              <a:rPr lang="en-US" altLang="zh-CN" dirty="0"/>
              <a:t>T&gt; T</a:t>
            </a:r>
            <a:r>
              <a:rPr lang="en-US" altLang="zh-CN" baseline="-25000" dirty="0"/>
              <a:t>m(A)</a:t>
            </a:r>
            <a:endParaRPr lang="zh-CN" altLang="en-US" dirty="0"/>
          </a:p>
        </p:txBody>
      </p:sp>
      <p:graphicFrame>
        <p:nvGraphicFramePr>
          <p:cNvPr id="29" name="对象 28"/>
          <p:cNvGraphicFramePr>
            <a:graphicFrameLocks noChangeAspect="1"/>
          </p:cNvGraphicFramePr>
          <p:nvPr>
            <p:extLst>
              <p:ext uri="{D42A27DB-BD31-4B8C-83A1-F6EECF244321}">
                <p14:modId xmlns:p14="http://schemas.microsoft.com/office/powerpoint/2010/main" val="2632227144"/>
              </p:ext>
            </p:extLst>
          </p:nvPr>
        </p:nvGraphicFramePr>
        <p:xfrm>
          <a:off x="5427069" y="2282949"/>
          <a:ext cx="1727745" cy="448765"/>
        </p:xfrm>
        <a:graphic>
          <a:graphicData uri="http://schemas.openxmlformats.org/presentationml/2006/ole">
            <mc:AlternateContent xmlns:mc="http://schemas.openxmlformats.org/markup-compatibility/2006">
              <mc:Choice xmlns:v="urn:schemas-microsoft-com:vml" Requires="v">
                <p:oleObj name="Equation" r:id="rId3" imgW="977760" imgH="253800" progId="Equation.DSMT4">
                  <p:embed/>
                </p:oleObj>
              </mc:Choice>
              <mc:Fallback>
                <p:oleObj name="Equation" r:id="rId3" imgW="977760" imgH="253800" progId="Equation.DSMT4">
                  <p:embed/>
                  <p:pic>
                    <p:nvPicPr>
                      <p:cNvPr id="0" name=""/>
                      <p:cNvPicPr/>
                      <p:nvPr/>
                    </p:nvPicPr>
                    <p:blipFill>
                      <a:blip r:embed="rId4"/>
                      <a:stretch>
                        <a:fillRect/>
                      </a:stretch>
                    </p:blipFill>
                    <p:spPr>
                      <a:xfrm>
                        <a:off x="5427069" y="2282949"/>
                        <a:ext cx="1727745" cy="448765"/>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1309477329"/>
              </p:ext>
            </p:extLst>
          </p:nvPr>
        </p:nvGraphicFramePr>
        <p:xfrm>
          <a:off x="4271702" y="3065462"/>
          <a:ext cx="4213746" cy="474571"/>
        </p:xfrm>
        <a:graphic>
          <a:graphicData uri="http://schemas.openxmlformats.org/presentationml/2006/ole">
            <mc:AlternateContent xmlns:mc="http://schemas.openxmlformats.org/markup-compatibility/2006">
              <mc:Choice xmlns:v="urn:schemas-microsoft-com:vml" Requires="v">
                <p:oleObj name="Equation" r:id="rId5" imgW="2705040" imgH="304560" progId="Equation.DSMT4">
                  <p:embed/>
                </p:oleObj>
              </mc:Choice>
              <mc:Fallback>
                <p:oleObj name="Equation" r:id="rId5" imgW="2705040" imgH="304560" progId="Equation.DSMT4">
                  <p:embed/>
                  <p:pic>
                    <p:nvPicPr>
                      <p:cNvPr id="0" name=""/>
                      <p:cNvPicPr>
                        <a:picLocks noChangeAspect="1" noChangeArrowheads="1"/>
                      </p:cNvPicPr>
                      <p:nvPr/>
                    </p:nvPicPr>
                    <p:blipFill>
                      <a:blip r:embed="rId6"/>
                      <a:srcRect/>
                      <a:stretch>
                        <a:fillRect/>
                      </a:stretch>
                    </p:blipFill>
                    <p:spPr bwMode="auto">
                      <a:xfrm>
                        <a:off x="4271702" y="3065462"/>
                        <a:ext cx="4213746" cy="474571"/>
                      </a:xfrm>
                      <a:prstGeom prst="rect">
                        <a:avLst/>
                      </a:prstGeom>
                      <a:noFill/>
                      <a:ln>
                        <a:noFill/>
                      </a:ln>
                    </p:spPr>
                  </p:pic>
                </p:oleObj>
              </mc:Fallback>
            </mc:AlternateContent>
          </a:graphicData>
        </a:graphic>
      </p:graphicFrame>
      <p:sp>
        <p:nvSpPr>
          <p:cNvPr id="31" name="TextBox 30"/>
          <p:cNvSpPr txBox="1"/>
          <p:nvPr/>
        </p:nvSpPr>
        <p:spPr>
          <a:xfrm>
            <a:off x="4159154" y="2696130"/>
            <a:ext cx="852606" cy="369332"/>
          </a:xfrm>
          <a:prstGeom prst="rect">
            <a:avLst/>
          </a:prstGeom>
          <a:noFill/>
        </p:spPr>
        <p:txBody>
          <a:bodyPr wrap="none" rtlCol="0">
            <a:spAutoFit/>
          </a:bodyPr>
          <a:lstStyle/>
          <a:p>
            <a:r>
              <a:rPr lang="en-US" altLang="zh-CN" dirty="0"/>
              <a:t>That is </a:t>
            </a:r>
            <a:endParaRPr lang="zh-CN" altLang="en-US" dirty="0"/>
          </a:p>
        </p:txBody>
      </p:sp>
      <p:sp>
        <p:nvSpPr>
          <p:cNvPr id="32" name="TextBox 31"/>
          <p:cNvSpPr txBox="1"/>
          <p:nvPr/>
        </p:nvSpPr>
        <p:spPr>
          <a:xfrm>
            <a:off x="4216627" y="3664405"/>
            <a:ext cx="4419600" cy="646331"/>
          </a:xfrm>
          <a:prstGeom prst="rect">
            <a:avLst/>
          </a:prstGeom>
          <a:noFill/>
        </p:spPr>
        <p:txBody>
          <a:bodyPr wrap="square" rtlCol="0">
            <a:spAutoFit/>
          </a:bodyPr>
          <a:lstStyle/>
          <a:p>
            <a:r>
              <a:rPr lang="en-US" altLang="zh-CN" b="1" dirty="0">
                <a:solidFill>
                  <a:srgbClr val="0000FF"/>
                </a:solidFill>
              </a:rPr>
              <a:t>If choose the pure liquid A and pure solid B as standard state</a:t>
            </a:r>
            <a:endParaRPr lang="zh-CN" altLang="en-US" b="1" dirty="0">
              <a:solidFill>
                <a:srgbClr val="0000FF"/>
              </a:solidFill>
            </a:endParaRPr>
          </a:p>
        </p:txBody>
      </p:sp>
      <p:graphicFrame>
        <p:nvGraphicFramePr>
          <p:cNvPr id="33" name="对象 32"/>
          <p:cNvGraphicFramePr>
            <a:graphicFrameLocks noChangeAspect="1"/>
          </p:cNvGraphicFramePr>
          <p:nvPr>
            <p:extLst>
              <p:ext uri="{D42A27DB-BD31-4B8C-83A1-F6EECF244321}">
                <p14:modId xmlns:p14="http://schemas.microsoft.com/office/powerpoint/2010/main" val="1118347492"/>
              </p:ext>
            </p:extLst>
          </p:nvPr>
        </p:nvGraphicFramePr>
        <p:xfrm>
          <a:off x="4492696" y="4419750"/>
          <a:ext cx="1522413" cy="415925"/>
        </p:xfrm>
        <a:graphic>
          <a:graphicData uri="http://schemas.openxmlformats.org/presentationml/2006/ole">
            <mc:AlternateContent xmlns:mc="http://schemas.openxmlformats.org/markup-compatibility/2006">
              <mc:Choice xmlns:v="urn:schemas-microsoft-com:vml" Requires="v">
                <p:oleObj name="Equation" r:id="rId7" imgW="977760" imgH="266400" progId="Equation.DSMT4">
                  <p:embed/>
                </p:oleObj>
              </mc:Choice>
              <mc:Fallback>
                <p:oleObj name="Equation" r:id="rId7" imgW="977760" imgH="266400" progId="Equation.DSMT4">
                  <p:embed/>
                  <p:pic>
                    <p:nvPicPr>
                      <p:cNvPr id="0" name=""/>
                      <p:cNvPicPr>
                        <a:picLocks noChangeAspect="1" noChangeArrowheads="1"/>
                      </p:cNvPicPr>
                      <p:nvPr/>
                    </p:nvPicPr>
                    <p:blipFill>
                      <a:blip r:embed="rId8"/>
                      <a:srcRect/>
                      <a:stretch>
                        <a:fillRect/>
                      </a:stretch>
                    </p:blipFill>
                    <p:spPr bwMode="auto">
                      <a:xfrm>
                        <a:off x="4492696" y="4419750"/>
                        <a:ext cx="15224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Box 33"/>
          <p:cNvSpPr txBox="1"/>
          <p:nvPr/>
        </p:nvSpPr>
        <p:spPr>
          <a:xfrm>
            <a:off x="4257229" y="5021684"/>
            <a:ext cx="1550424" cy="369332"/>
          </a:xfrm>
          <a:prstGeom prst="rect">
            <a:avLst/>
          </a:prstGeom>
          <a:noFill/>
        </p:spPr>
        <p:txBody>
          <a:bodyPr wrap="none" rtlCol="0">
            <a:spAutoFit/>
          </a:bodyPr>
          <a:lstStyle/>
          <a:p>
            <a:r>
              <a:rPr lang="en-US" altLang="zh-CN" dirty="0"/>
              <a:t>If </a:t>
            </a:r>
            <a:r>
              <a:rPr lang="en-US" altLang="zh-CN" dirty="0" err="1"/>
              <a:t>C</a:t>
            </a:r>
            <a:r>
              <a:rPr lang="en-US" altLang="zh-CN" baseline="-25000" dirty="0" err="1"/>
              <a:t>p</a:t>
            </a:r>
            <a:r>
              <a:rPr lang="en-US" altLang="zh-CN" baseline="-25000" dirty="0"/>
              <a:t>, A(s)</a:t>
            </a:r>
            <a:r>
              <a:rPr lang="en-US" altLang="zh-CN" dirty="0"/>
              <a:t>= </a:t>
            </a:r>
            <a:r>
              <a:rPr lang="en-US" altLang="zh-CN" dirty="0" err="1"/>
              <a:t>C</a:t>
            </a:r>
            <a:r>
              <a:rPr lang="en-US" altLang="zh-CN" baseline="-25000" dirty="0" err="1"/>
              <a:t>p</a:t>
            </a:r>
            <a:r>
              <a:rPr lang="en-US" altLang="zh-CN" baseline="-25000" dirty="0"/>
              <a:t>, A(l)</a:t>
            </a:r>
            <a:endParaRPr lang="zh-CN" altLang="en-US" dirty="0"/>
          </a:p>
        </p:txBody>
      </p:sp>
      <p:graphicFrame>
        <p:nvGraphicFramePr>
          <p:cNvPr id="36" name="对象 35"/>
          <p:cNvGraphicFramePr>
            <a:graphicFrameLocks noChangeAspect="1"/>
          </p:cNvGraphicFramePr>
          <p:nvPr>
            <p:extLst>
              <p:ext uri="{D42A27DB-BD31-4B8C-83A1-F6EECF244321}">
                <p14:modId xmlns:p14="http://schemas.microsoft.com/office/powerpoint/2010/main" val="1810273587"/>
              </p:ext>
            </p:extLst>
          </p:nvPr>
        </p:nvGraphicFramePr>
        <p:xfrm>
          <a:off x="4267200" y="5510079"/>
          <a:ext cx="2708275" cy="871537"/>
        </p:xfrm>
        <a:graphic>
          <a:graphicData uri="http://schemas.openxmlformats.org/presentationml/2006/ole">
            <mc:AlternateContent xmlns:mc="http://schemas.openxmlformats.org/markup-compatibility/2006">
              <mc:Choice xmlns:v="urn:schemas-microsoft-com:vml" Requires="v">
                <p:oleObj name="Equation" r:id="rId9" imgW="1739880" imgH="558720" progId="Equation.DSMT4">
                  <p:embed/>
                </p:oleObj>
              </mc:Choice>
              <mc:Fallback>
                <p:oleObj name="Equation" r:id="rId9" imgW="1739880" imgH="558720" progId="Equation.DSMT4">
                  <p:embed/>
                  <p:pic>
                    <p:nvPicPr>
                      <p:cNvPr id="0" name=""/>
                      <p:cNvPicPr>
                        <a:picLocks noChangeAspect="1" noChangeArrowheads="1"/>
                      </p:cNvPicPr>
                      <p:nvPr/>
                    </p:nvPicPr>
                    <p:blipFill>
                      <a:blip r:embed="rId10"/>
                      <a:srcRect/>
                      <a:stretch>
                        <a:fillRect/>
                      </a:stretch>
                    </p:blipFill>
                    <p:spPr bwMode="auto">
                      <a:xfrm>
                        <a:off x="4267200" y="5510079"/>
                        <a:ext cx="2708275"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矩形 36"/>
          <p:cNvSpPr/>
          <p:nvPr/>
        </p:nvSpPr>
        <p:spPr>
          <a:xfrm>
            <a:off x="7239000" y="4294098"/>
            <a:ext cx="1224887" cy="646331"/>
          </a:xfrm>
          <a:prstGeom prst="rect">
            <a:avLst/>
          </a:prstGeom>
        </p:spPr>
        <p:txBody>
          <a:bodyPr wrap="none">
            <a:spAutoFit/>
          </a:bodyPr>
          <a:lstStyle/>
          <a:p>
            <a:r>
              <a:rPr lang="en-US" altLang="zh-CN" b="1" dirty="0"/>
              <a:t>For point </a:t>
            </a:r>
            <a:r>
              <a:rPr lang="en-US" altLang="zh-CN" b="1" i="1" dirty="0"/>
              <a:t>d</a:t>
            </a:r>
          </a:p>
          <a:p>
            <a:r>
              <a:rPr lang="en-US" altLang="zh-CN" i="1" dirty="0"/>
              <a:t> </a:t>
            </a:r>
            <a:endParaRPr lang="zh-CN" altLang="en-US" dirty="0"/>
          </a:p>
        </p:txBody>
      </p:sp>
      <p:sp>
        <p:nvSpPr>
          <p:cNvPr id="39" name="TextBox 38"/>
          <p:cNvSpPr txBox="1"/>
          <p:nvPr/>
        </p:nvSpPr>
        <p:spPr>
          <a:xfrm>
            <a:off x="7315200" y="4716884"/>
            <a:ext cx="862865" cy="369332"/>
          </a:xfrm>
          <a:prstGeom prst="rect">
            <a:avLst/>
          </a:prstGeom>
          <a:noFill/>
        </p:spPr>
        <p:txBody>
          <a:bodyPr wrap="none" rtlCol="0">
            <a:spAutoFit/>
          </a:bodyPr>
          <a:lstStyle/>
          <a:p>
            <a:r>
              <a:rPr lang="en-US" altLang="zh-CN" dirty="0"/>
              <a:t>T&lt; T</a:t>
            </a:r>
            <a:r>
              <a:rPr lang="en-US" altLang="zh-CN" baseline="-25000" dirty="0"/>
              <a:t>m(B)</a:t>
            </a:r>
            <a:endParaRPr lang="zh-CN" altLang="en-US" dirty="0"/>
          </a:p>
        </p:txBody>
      </p:sp>
      <p:graphicFrame>
        <p:nvGraphicFramePr>
          <p:cNvPr id="38" name="对象 37"/>
          <p:cNvGraphicFramePr>
            <a:graphicFrameLocks noChangeAspect="1"/>
          </p:cNvGraphicFramePr>
          <p:nvPr>
            <p:extLst>
              <p:ext uri="{D42A27DB-BD31-4B8C-83A1-F6EECF244321}">
                <p14:modId xmlns:p14="http://schemas.microsoft.com/office/powerpoint/2010/main" val="2309355469"/>
              </p:ext>
            </p:extLst>
          </p:nvPr>
        </p:nvGraphicFramePr>
        <p:xfrm>
          <a:off x="7324589" y="5095861"/>
          <a:ext cx="1498567" cy="388415"/>
        </p:xfrm>
        <a:graphic>
          <a:graphicData uri="http://schemas.openxmlformats.org/presentationml/2006/ole">
            <mc:AlternateContent xmlns:mc="http://schemas.openxmlformats.org/markup-compatibility/2006">
              <mc:Choice xmlns:v="urn:schemas-microsoft-com:vml" Requires="v">
                <p:oleObj name="Equation" r:id="rId11" imgW="977760" imgH="253800" progId="Equation.DSMT4">
                  <p:embed/>
                </p:oleObj>
              </mc:Choice>
              <mc:Fallback>
                <p:oleObj name="Equation" r:id="rId11" imgW="977760" imgH="253800" progId="Equation.DSMT4">
                  <p:embed/>
                  <p:pic>
                    <p:nvPicPr>
                      <p:cNvPr id="0" name=""/>
                      <p:cNvPicPr>
                        <a:picLocks noChangeAspect="1" noChangeArrowheads="1"/>
                      </p:cNvPicPr>
                      <p:nvPr/>
                    </p:nvPicPr>
                    <p:blipFill>
                      <a:blip r:embed="rId12"/>
                      <a:srcRect/>
                      <a:stretch>
                        <a:fillRect/>
                      </a:stretch>
                    </p:blipFill>
                    <p:spPr bwMode="auto">
                      <a:xfrm>
                        <a:off x="7324589" y="5095861"/>
                        <a:ext cx="1498567" cy="388415"/>
                      </a:xfrm>
                      <a:prstGeom prst="rect">
                        <a:avLst/>
                      </a:prstGeom>
                      <a:noFill/>
                      <a:ln>
                        <a:noFill/>
                      </a:ln>
                    </p:spPr>
                  </p:pic>
                </p:oleObj>
              </mc:Fallback>
            </mc:AlternateContent>
          </a:graphicData>
        </a:graphic>
      </p:graphicFrame>
      <p:sp>
        <p:nvSpPr>
          <p:cNvPr id="40" name="圆角矩形 39"/>
          <p:cNvSpPr/>
          <p:nvPr/>
        </p:nvSpPr>
        <p:spPr>
          <a:xfrm>
            <a:off x="7239000" y="4171816"/>
            <a:ext cx="1828800" cy="16764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9629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476049" y="160338"/>
            <a:ext cx="6550025" cy="701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dirty="0">
                <a:solidFill>
                  <a:srgbClr val="FF0000"/>
                </a:solidFill>
              </a:rPr>
              <a:t>Complete liquid and solid solutions</a:t>
            </a:r>
          </a:p>
        </p:txBody>
      </p:sp>
      <p:pic>
        <p:nvPicPr>
          <p:cNvPr id="1157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8289"/>
          <a:stretch/>
        </p:blipFill>
        <p:spPr bwMode="auto">
          <a:xfrm>
            <a:off x="188123" y="1237945"/>
            <a:ext cx="3673475" cy="5155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rot="1811985">
            <a:off x="1098134" y="3385316"/>
            <a:ext cx="1034257" cy="261610"/>
          </a:xfrm>
          <a:prstGeom prst="rect">
            <a:avLst/>
          </a:prstGeom>
          <a:solidFill>
            <a:schemeClr val="bg1"/>
          </a:solidFill>
        </p:spPr>
        <p:txBody>
          <a:bodyPr wrap="none" rtlCol="0">
            <a:spAutoFit/>
          </a:bodyPr>
          <a:lstStyle/>
          <a:p>
            <a:r>
              <a:rPr lang="en-US" altLang="zh-CN" sz="1100" dirty="0"/>
              <a:t>unmixed solids</a:t>
            </a:r>
            <a:endParaRPr lang="zh-CN" altLang="en-US" sz="1100" dirty="0"/>
          </a:p>
        </p:txBody>
      </p:sp>
      <p:sp>
        <p:nvSpPr>
          <p:cNvPr id="17" name="TextBox 16"/>
          <p:cNvSpPr txBox="1"/>
          <p:nvPr/>
        </p:nvSpPr>
        <p:spPr>
          <a:xfrm rot="19898728">
            <a:off x="2010622" y="3408735"/>
            <a:ext cx="1031051" cy="261610"/>
          </a:xfrm>
          <a:prstGeom prst="rect">
            <a:avLst/>
          </a:prstGeom>
          <a:solidFill>
            <a:schemeClr val="bg1"/>
          </a:solidFill>
        </p:spPr>
        <p:txBody>
          <a:bodyPr wrap="none" rtlCol="0">
            <a:spAutoFit/>
          </a:bodyPr>
          <a:lstStyle/>
          <a:p>
            <a:r>
              <a:rPr lang="en-US" altLang="zh-CN" sz="1100" dirty="0"/>
              <a:t>unmixed liquid</a:t>
            </a:r>
            <a:endParaRPr lang="zh-CN" altLang="en-US" sz="1100" dirty="0"/>
          </a:p>
        </p:txBody>
      </p:sp>
      <p:sp>
        <p:nvSpPr>
          <p:cNvPr id="20" name="TextBox 19"/>
          <p:cNvSpPr txBox="1"/>
          <p:nvPr/>
        </p:nvSpPr>
        <p:spPr>
          <a:xfrm>
            <a:off x="1091168" y="1410631"/>
            <a:ext cx="769763" cy="461665"/>
          </a:xfrm>
          <a:prstGeom prst="rect">
            <a:avLst/>
          </a:prstGeom>
          <a:solidFill>
            <a:schemeClr val="bg1"/>
          </a:solidFill>
        </p:spPr>
        <p:txBody>
          <a:bodyPr wrap="none" rtlCol="0">
            <a:spAutoFit/>
          </a:bodyPr>
          <a:lstStyle/>
          <a:p>
            <a:r>
              <a:rPr lang="en-US" altLang="zh-CN" sz="1200" b="1" dirty="0"/>
              <a:t>liquid </a:t>
            </a:r>
          </a:p>
          <a:p>
            <a:r>
              <a:rPr lang="en-US" altLang="zh-CN" sz="1200" b="1" dirty="0"/>
              <a:t>solutions</a:t>
            </a:r>
            <a:endParaRPr lang="zh-CN" altLang="en-US" sz="1200" b="1" dirty="0"/>
          </a:p>
        </p:txBody>
      </p:sp>
      <p:sp>
        <p:nvSpPr>
          <p:cNvPr id="22" name="TextBox 21"/>
          <p:cNvSpPr txBox="1"/>
          <p:nvPr/>
        </p:nvSpPr>
        <p:spPr>
          <a:xfrm>
            <a:off x="2226973" y="2304745"/>
            <a:ext cx="769763" cy="461665"/>
          </a:xfrm>
          <a:prstGeom prst="rect">
            <a:avLst/>
          </a:prstGeom>
          <a:solidFill>
            <a:schemeClr val="bg1"/>
          </a:solidFill>
        </p:spPr>
        <p:txBody>
          <a:bodyPr wrap="none" rtlCol="0">
            <a:spAutoFit/>
          </a:bodyPr>
          <a:lstStyle/>
          <a:p>
            <a:r>
              <a:rPr lang="en-US" altLang="zh-CN" sz="1200" b="1" dirty="0"/>
              <a:t>solid</a:t>
            </a:r>
          </a:p>
          <a:p>
            <a:r>
              <a:rPr lang="en-US" altLang="zh-CN" sz="1200" b="1" dirty="0"/>
              <a:t>solutions</a:t>
            </a:r>
            <a:endParaRPr lang="zh-CN" altLang="en-US" sz="1200" b="1" dirty="0"/>
          </a:p>
        </p:txBody>
      </p:sp>
      <p:cxnSp>
        <p:nvCxnSpPr>
          <p:cNvPr id="26" name="直接连接符 25"/>
          <p:cNvCxnSpPr/>
          <p:nvPr/>
        </p:nvCxnSpPr>
        <p:spPr>
          <a:xfrm flipH="1" flipV="1">
            <a:off x="3024583" y="3483002"/>
            <a:ext cx="17363" cy="1050878"/>
          </a:xfrm>
          <a:prstGeom prst="line">
            <a:avLst/>
          </a:prstGeom>
          <a:ln w="76200">
            <a:solidFill>
              <a:srgbClr val="0000FF">
                <a:alpha val="65098"/>
              </a:srgb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4074323" y="1566081"/>
            <a:ext cx="5105400" cy="646331"/>
          </a:xfrm>
          <a:prstGeom prst="rect">
            <a:avLst/>
          </a:prstGeom>
        </p:spPr>
        <p:txBody>
          <a:bodyPr wrap="square">
            <a:spAutoFit/>
          </a:bodyPr>
          <a:lstStyle/>
          <a:p>
            <a:r>
              <a:rPr lang="en-US" altLang="zh-CN" dirty="0"/>
              <a:t>The </a:t>
            </a:r>
            <a:r>
              <a:rPr lang="en-US" altLang="zh-CN" b="1" dirty="0"/>
              <a:t>point </a:t>
            </a:r>
            <a:r>
              <a:rPr lang="en-US" altLang="zh-CN" b="1" i="1" dirty="0"/>
              <a:t>d </a:t>
            </a:r>
            <a:r>
              <a:rPr lang="en-US" altLang="zh-CN" dirty="0"/>
              <a:t>represents the molar Gibbs free energy of </a:t>
            </a:r>
            <a:r>
              <a:rPr lang="en-US" altLang="zh-CN" b="1" dirty="0"/>
              <a:t>liquid </a:t>
            </a:r>
            <a:r>
              <a:rPr lang="en-US" altLang="zh-CN" b="1" i="1" dirty="0"/>
              <a:t>B </a:t>
            </a:r>
            <a:r>
              <a:rPr lang="en-US" altLang="zh-CN" b="1" dirty="0"/>
              <a:t>relative to that of solid </a:t>
            </a:r>
            <a:r>
              <a:rPr lang="en-US" altLang="zh-CN" b="1" i="1" dirty="0"/>
              <a:t>B </a:t>
            </a:r>
            <a:r>
              <a:rPr lang="en-US" altLang="zh-CN" dirty="0"/>
              <a:t>at temp. </a:t>
            </a:r>
            <a:r>
              <a:rPr lang="en-US" altLang="zh-CN" i="1" dirty="0"/>
              <a:t>T</a:t>
            </a:r>
            <a:endParaRPr lang="zh-CN" altLang="en-US" dirty="0"/>
          </a:p>
        </p:txBody>
      </p:sp>
      <p:sp>
        <p:nvSpPr>
          <p:cNvPr id="28" name="TextBox 27"/>
          <p:cNvSpPr txBox="1"/>
          <p:nvPr/>
        </p:nvSpPr>
        <p:spPr>
          <a:xfrm>
            <a:off x="4226722" y="2304745"/>
            <a:ext cx="862865" cy="369332"/>
          </a:xfrm>
          <a:prstGeom prst="rect">
            <a:avLst/>
          </a:prstGeom>
          <a:noFill/>
        </p:spPr>
        <p:txBody>
          <a:bodyPr wrap="none" rtlCol="0">
            <a:spAutoFit/>
          </a:bodyPr>
          <a:lstStyle/>
          <a:p>
            <a:r>
              <a:rPr lang="en-US" altLang="zh-CN" dirty="0"/>
              <a:t>T&lt; T</a:t>
            </a:r>
            <a:r>
              <a:rPr lang="en-US" altLang="zh-CN" baseline="-25000" dirty="0"/>
              <a:t>m(B)</a:t>
            </a:r>
            <a:endParaRPr lang="zh-CN" altLang="en-US" dirty="0"/>
          </a:p>
        </p:txBody>
      </p:sp>
      <p:graphicFrame>
        <p:nvGraphicFramePr>
          <p:cNvPr id="30" name="对象 29"/>
          <p:cNvGraphicFramePr>
            <a:graphicFrameLocks noChangeAspect="1"/>
          </p:cNvGraphicFramePr>
          <p:nvPr>
            <p:extLst>
              <p:ext uri="{D42A27DB-BD31-4B8C-83A1-F6EECF244321}">
                <p14:modId xmlns:p14="http://schemas.microsoft.com/office/powerpoint/2010/main" val="2951799036"/>
              </p:ext>
            </p:extLst>
          </p:nvPr>
        </p:nvGraphicFramePr>
        <p:xfrm>
          <a:off x="4526761" y="3196920"/>
          <a:ext cx="3916362" cy="474663"/>
        </p:xfrm>
        <a:graphic>
          <a:graphicData uri="http://schemas.openxmlformats.org/presentationml/2006/ole">
            <mc:AlternateContent xmlns:mc="http://schemas.openxmlformats.org/markup-compatibility/2006">
              <mc:Choice xmlns:v="urn:schemas-microsoft-com:vml" Requires="v">
                <p:oleObj name="Equation" r:id="rId3" imgW="2514600" imgH="304560" progId="Equation.DSMT4">
                  <p:embed/>
                </p:oleObj>
              </mc:Choice>
              <mc:Fallback>
                <p:oleObj name="Equation" r:id="rId3" imgW="2514600" imgH="304560" progId="Equation.DSMT4">
                  <p:embed/>
                  <p:pic>
                    <p:nvPicPr>
                      <p:cNvPr id="0" name=""/>
                      <p:cNvPicPr>
                        <a:picLocks noChangeAspect="1" noChangeArrowheads="1"/>
                      </p:cNvPicPr>
                      <p:nvPr/>
                    </p:nvPicPr>
                    <p:blipFill>
                      <a:blip r:embed="rId4"/>
                      <a:srcRect/>
                      <a:stretch>
                        <a:fillRect/>
                      </a:stretch>
                    </p:blipFill>
                    <p:spPr bwMode="auto">
                      <a:xfrm>
                        <a:off x="4526761" y="3196920"/>
                        <a:ext cx="3916362" cy="474663"/>
                      </a:xfrm>
                      <a:prstGeom prst="rect">
                        <a:avLst/>
                      </a:prstGeom>
                      <a:noFill/>
                      <a:ln>
                        <a:noFill/>
                      </a:ln>
                    </p:spPr>
                  </p:pic>
                </p:oleObj>
              </mc:Fallback>
            </mc:AlternateContent>
          </a:graphicData>
        </a:graphic>
      </p:graphicFrame>
      <p:sp>
        <p:nvSpPr>
          <p:cNvPr id="31" name="TextBox 30"/>
          <p:cNvSpPr txBox="1"/>
          <p:nvPr/>
        </p:nvSpPr>
        <p:spPr>
          <a:xfrm>
            <a:off x="4194877" y="2810259"/>
            <a:ext cx="852606" cy="369332"/>
          </a:xfrm>
          <a:prstGeom prst="rect">
            <a:avLst/>
          </a:prstGeom>
          <a:noFill/>
        </p:spPr>
        <p:txBody>
          <a:bodyPr wrap="none" rtlCol="0">
            <a:spAutoFit/>
          </a:bodyPr>
          <a:lstStyle/>
          <a:p>
            <a:r>
              <a:rPr lang="en-US" altLang="zh-CN" dirty="0"/>
              <a:t>That is </a:t>
            </a:r>
            <a:endParaRPr lang="zh-CN" altLang="en-US" dirty="0"/>
          </a:p>
        </p:txBody>
      </p:sp>
      <p:sp>
        <p:nvSpPr>
          <p:cNvPr id="32" name="TextBox 31"/>
          <p:cNvSpPr txBox="1"/>
          <p:nvPr/>
        </p:nvSpPr>
        <p:spPr>
          <a:xfrm>
            <a:off x="4252350" y="3778534"/>
            <a:ext cx="4419600" cy="646331"/>
          </a:xfrm>
          <a:prstGeom prst="rect">
            <a:avLst/>
          </a:prstGeom>
          <a:noFill/>
        </p:spPr>
        <p:txBody>
          <a:bodyPr wrap="square" rtlCol="0">
            <a:spAutoFit/>
          </a:bodyPr>
          <a:lstStyle/>
          <a:p>
            <a:r>
              <a:rPr lang="en-US" altLang="zh-CN" b="1" dirty="0">
                <a:solidFill>
                  <a:srgbClr val="0000FF"/>
                </a:solidFill>
              </a:rPr>
              <a:t>If choose the pure liquid A and pure solid B as standard state</a:t>
            </a:r>
            <a:endParaRPr lang="zh-CN" altLang="en-US" b="1" dirty="0">
              <a:solidFill>
                <a:srgbClr val="0000FF"/>
              </a:solidFill>
            </a:endParaRPr>
          </a:p>
        </p:txBody>
      </p:sp>
      <p:graphicFrame>
        <p:nvGraphicFramePr>
          <p:cNvPr id="33" name="对象 32"/>
          <p:cNvGraphicFramePr>
            <a:graphicFrameLocks noChangeAspect="1"/>
          </p:cNvGraphicFramePr>
          <p:nvPr>
            <p:extLst>
              <p:ext uri="{D42A27DB-BD31-4B8C-83A1-F6EECF244321}">
                <p14:modId xmlns:p14="http://schemas.microsoft.com/office/powerpoint/2010/main" val="1796315605"/>
              </p:ext>
            </p:extLst>
          </p:nvPr>
        </p:nvGraphicFramePr>
        <p:xfrm>
          <a:off x="4607723" y="4533595"/>
          <a:ext cx="1363663" cy="415925"/>
        </p:xfrm>
        <a:graphic>
          <a:graphicData uri="http://schemas.openxmlformats.org/presentationml/2006/ole">
            <mc:AlternateContent xmlns:mc="http://schemas.openxmlformats.org/markup-compatibility/2006">
              <mc:Choice xmlns:v="urn:schemas-microsoft-com:vml" Requires="v">
                <p:oleObj name="Equation" r:id="rId5" imgW="876240" imgH="266400" progId="Equation.DSMT4">
                  <p:embed/>
                </p:oleObj>
              </mc:Choice>
              <mc:Fallback>
                <p:oleObj name="Equation" r:id="rId5" imgW="876240" imgH="266400" progId="Equation.DSMT4">
                  <p:embed/>
                  <p:pic>
                    <p:nvPicPr>
                      <p:cNvPr id="0" name=""/>
                      <p:cNvPicPr>
                        <a:picLocks noChangeAspect="1" noChangeArrowheads="1"/>
                      </p:cNvPicPr>
                      <p:nvPr/>
                    </p:nvPicPr>
                    <p:blipFill>
                      <a:blip r:embed="rId6"/>
                      <a:srcRect/>
                      <a:stretch>
                        <a:fillRect/>
                      </a:stretch>
                    </p:blipFill>
                    <p:spPr bwMode="auto">
                      <a:xfrm>
                        <a:off x="4607723" y="4533595"/>
                        <a:ext cx="13636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Box 33"/>
          <p:cNvSpPr txBox="1"/>
          <p:nvPr/>
        </p:nvSpPr>
        <p:spPr>
          <a:xfrm>
            <a:off x="4292952" y="5135813"/>
            <a:ext cx="1550424" cy="369332"/>
          </a:xfrm>
          <a:prstGeom prst="rect">
            <a:avLst/>
          </a:prstGeom>
          <a:noFill/>
        </p:spPr>
        <p:txBody>
          <a:bodyPr wrap="none" rtlCol="0">
            <a:spAutoFit/>
          </a:bodyPr>
          <a:lstStyle/>
          <a:p>
            <a:r>
              <a:rPr lang="en-US" altLang="zh-CN" dirty="0"/>
              <a:t>If </a:t>
            </a:r>
            <a:r>
              <a:rPr lang="en-US" altLang="zh-CN" dirty="0" err="1"/>
              <a:t>C</a:t>
            </a:r>
            <a:r>
              <a:rPr lang="en-US" altLang="zh-CN" baseline="-25000" dirty="0" err="1"/>
              <a:t>p</a:t>
            </a:r>
            <a:r>
              <a:rPr lang="en-US" altLang="zh-CN" baseline="-25000" dirty="0"/>
              <a:t>, B(s)</a:t>
            </a:r>
            <a:r>
              <a:rPr lang="en-US" altLang="zh-CN" dirty="0"/>
              <a:t>= </a:t>
            </a:r>
            <a:r>
              <a:rPr lang="en-US" altLang="zh-CN" dirty="0" err="1"/>
              <a:t>C</a:t>
            </a:r>
            <a:r>
              <a:rPr lang="en-US" altLang="zh-CN" baseline="-25000" dirty="0" err="1"/>
              <a:t>p</a:t>
            </a:r>
            <a:r>
              <a:rPr lang="en-US" altLang="zh-CN" baseline="-25000" dirty="0"/>
              <a:t>, B(l)</a:t>
            </a:r>
            <a:endParaRPr lang="zh-CN" altLang="en-US" dirty="0"/>
          </a:p>
        </p:txBody>
      </p:sp>
      <p:graphicFrame>
        <p:nvGraphicFramePr>
          <p:cNvPr id="36" name="对象 35"/>
          <p:cNvGraphicFramePr>
            <a:graphicFrameLocks noChangeAspect="1"/>
          </p:cNvGraphicFramePr>
          <p:nvPr>
            <p:extLst>
              <p:ext uri="{D42A27DB-BD31-4B8C-83A1-F6EECF244321}">
                <p14:modId xmlns:p14="http://schemas.microsoft.com/office/powerpoint/2010/main" val="3998061127"/>
              </p:ext>
            </p:extLst>
          </p:nvPr>
        </p:nvGraphicFramePr>
        <p:xfrm>
          <a:off x="4371609" y="5624208"/>
          <a:ext cx="2687638" cy="871537"/>
        </p:xfrm>
        <a:graphic>
          <a:graphicData uri="http://schemas.openxmlformats.org/presentationml/2006/ole">
            <mc:AlternateContent xmlns:mc="http://schemas.openxmlformats.org/markup-compatibility/2006">
              <mc:Choice xmlns:v="urn:schemas-microsoft-com:vml" Requires="v">
                <p:oleObj name="Equation" r:id="rId7" imgW="1726920" imgH="558720" progId="Equation.DSMT4">
                  <p:embed/>
                </p:oleObj>
              </mc:Choice>
              <mc:Fallback>
                <p:oleObj name="Equation" r:id="rId7" imgW="1726920" imgH="558720" progId="Equation.DSMT4">
                  <p:embed/>
                  <p:pic>
                    <p:nvPicPr>
                      <p:cNvPr id="0" name=""/>
                      <p:cNvPicPr>
                        <a:picLocks noChangeAspect="1" noChangeArrowheads="1"/>
                      </p:cNvPicPr>
                      <p:nvPr/>
                    </p:nvPicPr>
                    <p:blipFill>
                      <a:blip r:embed="rId8"/>
                      <a:srcRect/>
                      <a:stretch>
                        <a:fillRect/>
                      </a:stretch>
                    </p:blipFill>
                    <p:spPr bwMode="auto">
                      <a:xfrm>
                        <a:off x="4371609" y="5624208"/>
                        <a:ext cx="2687638"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91267470"/>
              </p:ext>
            </p:extLst>
          </p:nvPr>
        </p:nvGraphicFramePr>
        <p:xfrm>
          <a:off x="5598323" y="2320667"/>
          <a:ext cx="1498567" cy="388415"/>
        </p:xfrm>
        <a:graphic>
          <a:graphicData uri="http://schemas.openxmlformats.org/presentationml/2006/ole">
            <mc:AlternateContent xmlns:mc="http://schemas.openxmlformats.org/markup-compatibility/2006">
              <mc:Choice xmlns:v="urn:schemas-microsoft-com:vml" Requires="v">
                <p:oleObj name="Equation" r:id="rId9" imgW="977760" imgH="253800" progId="Equation.DSMT4">
                  <p:embed/>
                </p:oleObj>
              </mc:Choice>
              <mc:Fallback>
                <p:oleObj name="Equation" r:id="rId9" imgW="977760" imgH="253800" progId="Equation.DSMT4">
                  <p:embed/>
                  <p:pic>
                    <p:nvPicPr>
                      <p:cNvPr id="0" name=""/>
                      <p:cNvPicPr>
                        <a:picLocks noChangeAspect="1" noChangeArrowheads="1"/>
                      </p:cNvPicPr>
                      <p:nvPr/>
                    </p:nvPicPr>
                    <p:blipFill>
                      <a:blip r:embed="rId10"/>
                      <a:srcRect/>
                      <a:stretch>
                        <a:fillRect/>
                      </a:stretch>
                    </p:blipFill>
                    <p:spPr bwMode="auto">
                      <a:xfrm>
                        <a:off x="5598323" y="2320667"/>
                        <a:ext cx="1498567" cy="38841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83206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35362" y="160338"/>
            <a:ext cx="6567179"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dirty="0">
                <a:solidFill>
                  <a:srgbClr val="FF0000"/>
                </a:solidFill>
              </a:rPr>
              <a:t>Complete liquid and solid solutions</a:t>
            </a:r>
          </a:p>
        </p:txBody>
      </p:sp>
      <p:pic>
        <p:nvPicPr>
          <p:cNvPr id="1157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8289"/>
          <a:stretch/>
        </p:blipFill>
        <p:spPr bwMode="auto">
          <a:xfrm>
            <a:off x="152400" y="1371600"/>
            <a:ext cx="3673475" cy="5155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rot="1811985">
            <a:off x="1062411" y="3518971"/>
            <a:ext cx="1034257" cy="261610"/>
          </a:xfrm>
          <a:prstGeom prst="rect">
            <a:avLst/>
          </a:prstGeom>
          <a:solidFill>
            <a:schemeClr val="bg1"/>
          </a:solidFill>
        </p:spPr>
        <p:txBody>
          <a:bodyPr wrap="none" rtlCol="0">
            <a:spAutoFit/>
          </a:bodyPr>
          <a:lstStyle/>
          <a:p>
            <a:r>
              <a:rPr lang="en-US" altLang="zh-CN" sz="1100" dirty="0">
                <a:solidFill>
                  <a:srgbClr val="0000FF"/>
                </a:solidFill>
              </a:rPr>
              <a:t>unmixed solids</a:t>
            </a:r>
            <a:endParaRPr lang="zh-CN" altLang="en-US" sz="1100" dirty="0">
              <a:solidFill>
                <a:srgbClr val="0000FF"/>
              </a:solidFill>
            </a:endParaRPr>
          </a:p>
        </p:txBody>
      </p:sp>
      <p:sp>
        <p:nvSpPr>
          <p:cNvPr id="17" name="TextBox 16"/>
          <p:cNvSpPr txBox="1"/>
          <p:nvPr/>
        </p:nvSpPr>
        <p:spPr>
          <a:xfrm rot="19898728">
            <a:off x="1974899" y="3542390"/>
            <a:ext cx="1031051" cy="261610"/>
          </a:xfrm>
          <a:prstGeom prst="rect">
            <a:avLst/>
          </a:prstGeom>
          <a:solidFill>
            <a:schemeClr val="bg1"/>
          </a:solidFill>
        </p:spPr>
        <p:txBody>
          <a:bodyPr wrap="none" rtlCol="0">
            <a:spAutoFit/>
          </a:bodyPr>
          <a:lstStyle/>
          <a:p>
            <a:r>
              <a:rPr lang="en-US" altLang="zh-CN" sz="1100" dirty="0">
                <a:solidFill>
                  <a:srgbClr val="FF0000"/>
                </a:solidFill>
              </a:rPr>
              <a:t>unmixed liquid</a:t>
            </a:r>
            <a:endParaRPr lang="zh-CN" altLang="en-US" sz="1100" dirty="0">
              <a:solidFill>
                <a:srgbClr val="FF0000"/>
              </a:solidFill>
            </a:endParaRPr>
          </a:p>
        </p:txBody>
      </p:sp>
      <p:sp>
        <p:nvSpPr>
          <p:cNvPr id="20" name="TextBox 19"/>
          <p:cNvSpPr txBox="1"/>
          <p:nvPr/>
        </p:nvSpPr>
        <p:spPr>
          <a:xfrm>
            <a:off x="1055445" y="1544286"/>
            <a:ext cx="769763" cy="461665"/>
          </a:xfrm>
          <a:prstGeom prst="rect">
            <a:avLst/>
          </a:prstGeom>
          <a:solidFill>
            <a:schemeClr val="bg1"/>
          </a:solidFill>
        </p:spPr>
        <p:txBody>
          <a:bodyPr wrap="none" rtlCol="0">
            <a:spAutoFit/>
          </a:bodyPr>
          <a:lstStyle/>
          <a:p>
            <a:r>
              <a:rPr lang="en-US" altLang="zh-CN" sz="1200" b="1" dirty="0"/>
              <a:t>liquid </a:t>
            </a:r>
          </a:p>
          <a:p>
            <a:r>
              <a:rPr lang="en-US" altLang="zh-CN" sz="1200" b="1" dirty="0"/>
              <a:t>solutions</a:t>
            </a:r>
            <a:endParaRPr lang="zh-CN" altLang="en-US" sz="1200" b="1" dirty="0"/>
          </a:p>
        </p:txBody>
      </p:sp>
      <p:sp>
        <p:nvSpPr>
          <p:cNvPr id="22" name="TextBox 21"/>
          <p:cNvSpPr txBox="1"/>
          <p:nvPr/>
        </p:nvSpPr>
        <p:spPr>
          <a:xfrm>
            <a:off x="2191250" y="2438400"/>
            <a:ext cx="769763" cy="461665"/>
          </a:xfrm>
          <a:prstGeom prst="rect">
            <a:avLst/>
          </a:prstGeom>
          <a:solidFill>
            <a:schemeClr val="bg1"/>
          </a:solidFill>
        </p:spPr>
        <p:txBody>
          <a:bodyPr wrap="none" rtlCol="0">
            <a:spAutoFit/>
          </a:bodyPr>
          <a:lstStyle/>
          <a:p>
            <a:r>
              <a:rPr lang="en-US" altLang="zh-CN" sz="1200" b="1" dirty="0"/>
              <a:t>solid</a:t>
            </a:r>
          </a:p>
          <a:p>
            <a:r>
              <a:rPr lang="en-US" altLang="zh-CN" sz="1200" b="1" dirty="0"/>
              <a:t>solutions</a:t>
            </a:r>
            <a:endParaRPr lang="zh-CN" altLang="en-US" sz="1200" b="1" dirty="0"/>
          </a:p>
        </p:txBody>
      </p:sp>
      <p:cxnSp>
        <p:nvCxnSpPr>
          <p:cNvPr id="26" name="直接连接符 25"/>
          <p:cNvCxnSpPr/>
          <p:nvPr/>
        </p:nvCxnSpPr>
        <p:spPr>
          <a:xfrm flipV="1">
            <a:off x="941696" y="3649776"/>
            <a:ext cx="2019317" cy="1017759"/>
          </a:xfrm>
          <a:prstGeom prst="line">
            <a:avLst/>
          </a:prstGeom>
          <a:ln w="76200">
            <a:solidFill>
              <a:srgbClr val="FF0000">
                <a:alpha val="65098"/>
              </a:srgbClr>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213215" y="1451952"/>
            <a:ext cx="4419600" cy="646331"/>
          </a:xfrm>
          <a:prstGeom prst="rect">
            <a:avLst/>
          </a:prstGeom>
          <a:noFill/>
        </p:spPr>
        <p:txBody>
          <a:bodyPr wrap="square" rtlCol="0">
            <a:spAutoFit/>
          </a:bodyPr>
          <a:lstStyle/>
          <a:p>
            <a:r>
              <a:rPr lang="en-US" altLang="zh-CN" b="1" dirty="0">
                <a:solidFill>
                  <a:srgbClr val="0000FF"/>
                </a:solidFill>
              </a:rPr>
              <a:t>choose the pure liquid A and pure solid B as standard state</a:t>
            </a:r>
            <a:endParaRPr lang="zh-CN" altLang="en-US" b="1" dirty="0">
              <a:solidFill>
                <a:srgbClr val="0000FF"/>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428109934"/>
              </p:ext>
            </p:extLst>
          </p:nvPr>
        </p:nvGraphicFramePr>
        <p:xfrm>
          <a:off x="4363421" y="2692102"/>
          <a:ext cx="1541462" cy="415925"/>
        </p:xfrm>
        <a:graphic>
          <a:graphicData uri="http://schemas.openxmlformats.org/presentationml/2006/ole">
            <mc:AlternateContent xmlns:mc="http://schemas.openxmlformats.org/markup-compatibility/2006">
              <mc:Choice xmlns:v="urn:schemas-microsoft-com:vml" Requires="v">
                <p:oleObj name="Equation" r:id="rId3" imgW="990360" imgH="266400" progId="Equation.DSMT4">
                  <p:embed/>
                </p:oleObj>
              </mc:Choice>
              <mc:Fallback>
                <p:oleObj name="Equation" r:id="rId3" imgW="990360" imgH="266400" progId="Equation.DSMT4">
                  <p:embed/>
                  <p:pic>
                    <p:nvPicPr>
                      <p:cNvPr id="0" name=""/>
                      <p:cNvPicPr>
                        <a:picLocks noChangeAspect="1" noChangeArrowheads="1"/>
                      </p:cNvPicPr>
                      <p:nvPr/>
                    </p:nvPicPr>
                    <p:blipFill>
                      <a:blip r:embed="rId4"/>
                      <a:srcRect/>
                      <a:stretch>
                        <a:fillRect/>
                      </a:stretch>
                    </p:blipFill>
                    <p:spPr bwMode="auto">
                      <a:xfrm>
                        <a:off x="4363421" y="2692102"/>
                        <a:ext cx="15414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p:nvPr/>
        </p:nvSpPr>
        <p:spPr>
          <a:xfrm>
            <a:off x="4334728" y="2253734"/>
            <a:ext cx="2388026" cy="369332"/>
          </a:xfrm>
          <a:prstGeom prst="rect">
            <a:avLst/>
          </a:prstGeom>
          <a:noFill/>
        </p:spPr>
        <p:txBody>
          <a:bodyPr wrap="none" rtlCol="0">
            <a:spAutoFit/>
          </a:bodyPr>
          <a:lstStyle/>
          <a:p>
            <a:r>
              <a:rPr lang="en-US" altLang="zh-CN" dirty="0"/>
              <a:t>Equation for the </a:t>
            </a:r>
            <a:r>
              <a:rPr lang="en-US" altLang="zh-CN" dirty="0">
                <a:solidFill>
                  <a:srgbClr val="FF0000"/>
                </a:solidFill>
              </a:rPr>
              <a:t>line </a:t>
            </a:r>
            <a:r>
              <a:rPr lang="en-US" altLang="zh-CN" b="1" i="1" dirty="0">
                <a:solidFill>
                  <a:srgbClr val="FF0000"/>
                </a:solidFill>
              </a:rPr>
              <a:t>ad</a:t>
            </a:r>
            <a:endParaRPr lang="zh-CN" altLang="en-US" b="1" i="1" dirty="0">
              <a:solidFill>
                <a:srgbClr val="FF0000"/>
              </a:solidFill>
            </a:endParaRPr>
          </a:p>
        </p:txBody>
      </p:sp>
      <p:sp>
        <p:nvSpPr>
          <p:cNvPr id="41" name="TextBox 40"/>
          <p:cNvSpPr txBox="1"/>
          <p:nvPr/>
        </p:nvSpPr>
        <p:spPr>
          <a:xfrm>
            <a:off x="4429552" y="3128580"/>
            <a:ext cx="2375202" cy="369332"/>
          </a:xfrm>
          <a:prstGeom prst="rect">
            <a:avLst/>
          </a:prstGeom>
          <a:noFill/>
        </p:spPr>
        <p:txBody>
          <a:bodyPr wrap="none" rtlCol="0">
            <a:spAutoFit/>
          </a:bodyPr>
          <a:lstStyle/>
          <a:p>
            <a:r>
              <a:rPr lang="en-US" altLang="zh-CN" dirty="0"/>
              <a:t>Equation for the </a:t>
            </a:r>
            <a:r>
              <a:rPr lang="en-US" altLang="zh-CN" dirty="0">
                <a:solidFill>
                  <a:srgbClr val="0000FF"/>
                </a:solidFill>
              </a:rPr>
              <a:t>line </a:t>
            </a:r>
            <a:r>
              <a:rPr lang="en-US" altLang="zh-CN" b="1" i="1" dirty="0" err="1">
                <a:solidFill>
                  <a:srgbClr val="0000FF"/>
                </a:solidFill>
              </a:rPr>
              <a:t>cb</a:t>
            </a:r>
            <a:endParaRPr lang="zh-CN" altLang="en-US" b="1" i="1" dirty="0">
              <a:solidFill>
                <a:srgbClr val="0000FF"/>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105991269"/>
              </p:ext>
            </p:extLst>
          </p:nvPr>
        </p:nvGraphicFramePr>
        <p:xfrm>
          <a:off x="4332288" y="3552825"/>
          <a:ext cx="1679575" cy="415925"/>
        </p:xfrm>
        <a:graphic>
          <a:graphicData uri="http://schemas.openxmlformats.org/presentationml/2006/ole">
            <mc:AlternateContent xmlns:mc="http://schemas.openxmlformats.org/markup-compatibility/2006">
              <mc:Choice xmlns:v="urn:schemas-microsoft-com:vml" Requires="v">
                <p:oleObj name="Equation" r:id="rId5" imgW="1079280" imgH="266400" progId="Equation.DSMT4">
                  <p:embed/>
                </p:oleObj>
              </mc:Choice>
              <mc:Fallback>
                <p:oleObj name="Equation" r:id="rId5" imgW="1079280" imgH="266400" progId="Equation.DSMT4">
                  <p:embed/>
                  <p:pic>
                    <p:nvPicPr>
                      <p:cNvPr id="0" name=""/>
                      <p:cNvPicPr>
                        <a:picLocks noChangeAspect="1" noChangeArrowheads="1"/>
                      </p:cNvPicPr>
                      <p:nvPr/>
                    </p:nvPicPr>
                    <p:blipFill>
                      <a:blip r:embed="rId6"/>
                      <a:srcRect/>
                      <a:stretch>
                        <a:fillRect/>
                      </a:stretch>
                    </p:blipFill>
                    <p:spPr bwMode="auto">
                      <a:xfrm>
                        <a:off x="4332288" y="3552825"/>
                        <a:ext cx="16795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2" name="直接连接符 41"/>
          <p:cNvCxnSpPr/>
          <p:nvPr/>
        </p:nvCxnSpPr>
        <p:spPr>
          <a:xfrm>
            <a:off x="941695" y="3482628"/>
            <a:ext cx="2064528" cy="1184907"/>
          </a:xfrm>
          <a:prstGeom prst="line">
            <a:avLst/>
          </a:prstGeom>
          <a:ln w="76200">
            <a:solidFill>
              <a:srgbClr val="0000FF">
                <a:alpha val="65098"/>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89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5" name="Title 1"/>
          <p:cNvSpPr txBox="1">
            <a:spLocks/>
          </p:cNvSpPr>
          <p:nvPr/>
        </p:nvSpPr>
        <p:spPr bwMode="auto">
          <a:xfrm>
            <a:off x="1329779" y="49409"/>
            <a:ext cx="5873750"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800" b="1" dirty="0">
                <a:solidFill>
                  <a:srgbClr val="FF0000"/>
                </a:solidFill>
                <a:latin typeface="Arial" charset="0"/>
                <a:cs typeface="Arial" charset="0"/>
              </a:rPr>
              <a:t>Liquid and solid standard states </a:t>
            </a:r>
          </a:p>
        </p:txBody>
      </p:sp>
      <p:pic>
        <p:nvPicPr>
          <p:cNvPr id="1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8289"/>
          <a:stretch/>
        </p:blipFill>
        <p:spPr bwMode="auto">
          <a:xfrm>
            <a:off x="24009" y="1095202"/>
            <a:ext cx="3673475" cy="5155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rot="1811985">
            <a:off x="934020" y="3242573"/>
            <a:ext cx="1034257" cy="261610"/>
          </a:xfrm>
          <a:prstGeom prst="rect">
            <a:avLst/>
          </a:prstGeom>
          <a:solidFill>
            <a:schemeClr val="bg1"/>
          </a:solidFill>
        </p:spPr>
        <p:txBody>
          <a:bodyPr wrap="none" rtlCol="0">
            <a:spAutoFit/>
          </a:bodyPr>
          <a:lstStyle/>
          <a:p>
            <a:r>
              <a:rPr lang="en-US" altLang="zh-CN" sz="1100" dirty="0"/>
              <a:t>unmixed solids</a:t>
            </a:r>
            <a:endParaRPr lang="zh-CN" altLang="en-US" sz="1100" dirty="0"/>
          </a:p>
        </p:txBody>
      </p:sp>
      <p:sp>
        <p:nvSpPr>
          <p:cNvPr id="14" name="TextBox 13"/>
          <p:cNvSpPr txBox="1"/>
          <p:nvPr/>
        </p:nvSpPr>
        <p:spPr>
          <a:xfrm rot="19898728">
            <a:off x="1846508" y="3265992"/>
            <a:ext cx="1031051" cy="261610"/>
          </a:xfrm>
          <a:prstGeom prst="rect">
            <a:avLst/>
          </a:prstGeom>
          <a:solidFill>
            <a:schemeClr val="bg1"/>
          </a:solidFill>
        </p:spPr>
        <p:txBody>
          <a:bodyPr wrap="none" rtlCol="0">
            <a:spAutoFit/>
          </a:bodyPr>
          <a:lstStyle/>
          <a:p>
            <a:r>
              <a:rPr lang="en-US" altLang="zh-CN" sz="1100" dirty="0"/>
              <a:t>unmixed liquid</a:t>
            </a:r>
            <a:endParaRPr lang="zh-CN" altLang="en-US" sz="1100" dirty="0"/>
          </a:p>
        </p:txBody>
      </p:sp>
      <p:sp>
        <p:nvSpPr>
          <p:cNvPr id="15" name="TextBox 14"/>
          <p:cNvSpPr txBox="1"/>
          <p:nvPr/>
        </p:nvSpPr>
        <p:spPr>
          <a:xfrm>
            <a:off x="927054" y="1267888"/>
            <a:ext cx="769763" cy="461665"/>
          </a:xfrm>
          <a:prstGeom prst="rect">
            <a:avLst/>
          </a:prstGeom>
          <a:solidFill>
            <a:schemeClr val="bg1"/>
          </a:solidFill>
        </p:spPr>
        <p:txBody>
          <a:bodyPr wrap="none" rtlCol="0">
            <a:spAutoFit/>
          </a:bodyPr>
          <a:lstStyle/>
          <a:p>
            <a:r>
              <a:rPr lang="en-US" altLang="zh-CN" sz="1200" b="1" dirty="0"/>
              <a:t>liquid </a:t>
            </a:r>
          </a:p>
          <a:p>
            <a:r>
              <a:rPr lang="en-US" altLang="zh-CN" sz="1200" b="1" dirty="0"/>
              <a:t>solutions</a:t>
            </a:r>
            <a:endParaRPr lang="zh-CN" altLang="en-US" sz="1200" b="1" dirty="0"/>
          </a:p>
        </p:txBody>
      </p:sp>
      <p:sp>
        <p:nvSpPr>
          <p:cNvPr id="16" name="TextBox 15"/>
          <p:cNvSpPr txBox="1"/>
          <p:nvPr/>
        </p:nvSpPr>
        <p:spPr>
          <a:xfrm>
            <a:off x="2062859" y="2162002"/>
            <a:ext cx="769763" cy="461665"/>
          </a:xfrm>
          <a:prstGeom prst="rect">
            <a:avLst/>
          </a:prstGeom>
          <a:solidFill>
            <a:schemeClr val="bg1"/>
          </a:solidFill>
        </p:spPr>
        <p:txBody>
          <a:bodyPr wrap="none" rtlCol="0">
            <a:spAutoFit/>
          </a:bodyPr>
          <a:lstStyle/>
          <a:p>
            <a:r>
              <a:rPr lang="en-US" altLang="zh-CN" sz="1200" b="1" dirty="0"/>
              <a:t>solid</a:t>
            </a:r>
          </a:p>
          <a:p>
            <a:r>
              <a:rPr lang="en-US" altLang="zh-CN" sz="1200" b="1" dirty="0"/>
              <a:t>solutions</a:t>
            </a:r>
            <a:endParaRPr lang="zh-CN" altLang="en-US" sz="1200" b="1" dirty="0"/>
          </a:p>
        </p:txBody>
      </p:sp>
      <p:sp>
        <p:nvSpPr>
          <p:cNvPr id="19" name="任意多边形 18"/>
          <p:cNvSpPr/>
          <p:nvPr/>
        </p:nvSpPr>
        <p:spPr>
          <a:xfrm>
            <a:off x="786009" y="3285668"/>
            <a:ext cx="2088107" cy="2362756"/>
          </a:xfrm>
          <a:custGeom>
            <a:avLst/>
            <a:gdLst>
              <a:gd name="connsiteX0" fmla="*/ 0 w 2088107"/>
              <a:gd name="connsiteY0" fmla="*/ 1119116 h 2362756"/>
              <a:gd name="connsiteX1" fmla="*/ 245660 w 2088107"/>
              <a:gd name="connsiteY1" fmla="*/ 1801504 h 2362756"/>
              <a:gd name="connsiteX2" fmla="*/ 491319 w 2088107"/>
              <a:gd name="connsiteY2" fmla="*/ 2210937 h 2362756"/>
              <a:gd name="connsiteX3" fmla="*/ 791570 w 2088107"/>
              <a:gd name="connsiteY3" fmla="*/ 2361062 h 2362756"/>
              <a:gd name="connsiteX4" fmla="*/ 1241946 w 2088107"/>
              <a:gd name="connsiteY4" fmla="*/ 2129050 h 2362756"/>
              <a:gd name="connsiteX5" fmla="*/ 1514901 w 2088107"/>
              <a:gd name="connsiteY5" fmla="*/ 1705970 h 2362756"/>
              <a:gd name="connsiteX6" fmla="*/ 1828800 w 2088107"/>
              <a:gd name="connsiteY6" fmla="*/ 955343 h 2362756"/>
              <a:gd name="connsiteX7" fmla="*/ 2088107 w 2088107"/>
              <a:gd name="connsiteY7" fmla="*/ 0 h 2362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8107" h="2362756">
                <a:moveTo>
                  <a:pt x="0" y="1119116"/>
                </a:moveTo>
                <a:cubicBezTo>
                  <a:pt x="81887" y="1369325"/>
                  <a:pt x="163774" y="1619534"/>
                  <a:pt x="245660" y="1801504"/>
                </a:cubicBezTo>
                <a:cubicBezTo>
                  <a:pt x="327546" y="1983474"/>
                  <a:pt x="400334" y="2117677"/>
                  <a:pt x="491319" y="2210937"/>
                </a:cubicBezTo>
                <a:cubicBezTo>
                  <a:pt x="582304" y="2304197"/>
                  <a:pt x="666466" y="2374710"/>
                  <a:pt x="791570" y="2361062"/>
                </a:cubicBezTo>
                <a:cubicBezTo>
                  <a:pt x="916675" y="2347414"/>
                  <a:pt x="1121391" y="2238232"/>
                  <a:pt x="1241946" y="2129050"/>
                </a:cubicBezTo>
                <a:cubicBezTo>
                  <a:pt x="1362501" y="2019868"/>
                  <a:pt x="1417092" y="1901588"/>
                  <a:pt x="1514901" y="1705970"/>
                </a:cubicBezTo>
                <a:cubicBezTo>
                  <a:pt x="1612710" y="1510352"/>
                  <a:pt x="1733266" y="1239671"/>
                  <a:pt x="1828800" y="955343"/>
                </a:cubicBezTo>
                <a:cubicBezTo>
                  <a:pt x="1924334" y="671015"/>
                  <a:pt x="2040340" y="159224"/>
                  <a:pt x="2088107" y="0"/>
                </a:cubicBezTo>
              </a:path>
            </a:pathLst>
          </a:custGeom>
          <a:noFill/>
          <a:ln w="76200">
            <a:solidFill>
              <a:srgbClr val="FF0000">
                <a:alpha val="5294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799657" y="3176486"/>
            <a:ext cx="2047164" cy="2534365"/>
          </a:xfrm>
          <a:custGeom>
            <a:avLst/>
            <a:gdLst>
              <a:gd name="connsiteX0" fmla="*/ 0 w 2047164"/>
              <a:gd name="connsiteY0" fmla="*/ 0 h 2534365"/>
              <a:gd name="connsiteX1" fmla="*/ 272955 w 2047164"/>
              <a:gd name="connsiteY1" fmla="*/ 1105468 h 2534365"/>
              <a:gd name="connsiteX2" fmla="*/ 518615 w 2047164"/>
              <a:gd name="connsiteY2" fmla="*/ 1801504 h 2534365"/>
              <a:gd name="connsiteX3" fmla="*/ 1146412 w 2047164"/>
              <a:gd name="connsiteY3" fmla="*/ 2524835 h 2534365"/>
              <a:gd name="connsiteX4" fmla="*/ 1733265 w 2047164"/>
              <a:gd name="connsiteY4" fmla="*/ 2156346 h 2534365"/>
              <a:gd name="connsiteX5" fmla="*/ 2047164 w 2047164"/>
              <a:gd name="connsiteY5" fmla="*/ 1323832 h 253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7164" h="2534365">
                <a:moveTo>
                  <a:pt x="0" y="0"/>
                </a:moveTo>
                <a:cubicBezTo>
                  <a:pt x="93259" y="402608"/>
                  <a:pt x="186519" y="805217"/>
                  <a:pt x="272955" y="1105468"/>
                </a:cubicBezTo>
                <a:cubicBezTo>
                  <a:pt x="359391" y="1405719"/>
                  <a:pt x="373039" y="1564943"/>
                  <a:pt x="518615" y="1801504"/>
                </a:cubicBezTo>
                <a:cubicBezTo>
                  <a:pt x="664191" y="2038065"/>
                  <a:pt x="943970" y="2465695"/>
                  <a:pt x="1146412" y="2524835"/>
                </a:cubicBezTo>
                <a:cubicBezTo>
                  <a:pt x="1348854" y="2583975"/>
                  <a:pt x="1583140" y="2356513"/>
                  <a:pt x="1733265" y="2156346"/>
                </a:cubicBezTo>
                <a:cubicBezTo>
                  <a:pt x="1883390" y="1956179"/>
                  <a:pt x="1965277" y="1640005"/>
                  <a:pt x="2047164" y="1323832"/>
                </a:cubicBezTo>
              </a:path>
            </a:pathLst>
          </a:custGeom>
          <a:noFill/>
          <a:ln w="57150">
            <a:solidFill>
              <a:srgbClr val="0000FF">
                <a:alpha val="5294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697484" y="909935"/>
            <a:ext cx="5446516" cy="923330"/>
          </a:xfrm>
          <a:prstGeom prst="rect">
            <a:avLst/>
          </a:prstGeom>
        </p:spPr>
        <p:txBody>
          <a:bodyPr wrap="square">
            <a:spAutoFit/>
          </a:bodyPr>
          <a:lstStyle/>
          <a:p>
            <a:r>
              <a:rPr lang="en-US" altLang="zh-CN" dirty="0"/>
              <a:t>At any composition the formation of a homogeneous liquid solution </a:t>
            </a:r>
            <a:r>
              <a:rPr lang="en-US" altLang="zh-CN" b="1" dirty="0"/>
              <a:t>from pure liquid </a:t>
            </a:r>
            <a:r>
              <a:rPr lang="en-US" altLang="zh-CN" b="1" i="1" dirty="0"/>
              <a:t>A</a:t>
            </a:r>
            <a:r>
              <a:rPr lang="en-US" altLang="zh-CN" b="1" dirty="0"/>
              <a:t> and pure solid </a:t>
            </a:r>
            <a:r>
              <a:rPr lang="en-US" altLang="zh-CN" b="1" i="1" dirty="0"/>
              <a:t>B</a:t>
            </a:r>
            <a:r>
              <a:rPr lang="en-US" altLang="zh-CN" i="1" dirty="0"/>
              <a:t> </a:t>
            </a:r>
            <a:r>
              <a:rPr lang="en-US" altLang="zh-CN" dirty="0"/>
              <a:t>can be considered as being a two-step process involving</a:t>
            </a:r>
            <a:endParaRPr lang="zh-CN" altLang="en-US" dirty="0"/>
          </a:p>
        </p:txBody>
      </p:sp>
      <p:sp>
        <p:nvSpPr>
          <p:cNvPr id="22" name="TextBox 21"/>
          <p:cNvSpPr txBox="1"/>
          <p:nvPr/>
        </p:nvSpPr>
        <p:spPr>
          <a:xfrm>
            <a:off x="3868042" y="2289361"/>
            <a:ext cx="4953000" cy="646331"/>
          </a:xfrm>
          <a:prstGeom prst="rect">
            <a:avLst/>
          </a:prstGeom>
          <a:noFill/>
        </p:spPr>
        <p:txBody>
          <a:bodyPr wrap="square" rtlCol="0">
            <a:spAutoFit/>
          </a:bodyPr>
          <a:lstStyle/>
          <a:p>
            <a:pPr lvl="0"/>
            <a:r>
              <a:rPr lang="en-US" altLang="zh-CN" dirty="0"/>
              <a:t>1. The melting of </a:t>
            </a:r>
            <a:r>
              <a:rPr lang="en-US" altLang="zh-CN" i="1" dirty="0"/>
              <a:t>X</a:t>
            </a:r>
            <a:r>
              <a:rPr lang="en-US" altLang="zh-CN" i="1" baseline="-25000" dirty="0"/>
              <a:t>B</a:t>
            </a:r>
            <a:r>
              <a:rPr lang="en-US" altLang="zh-CN" dirty="0"/>
              <a:t> moles of </a:t>
            </a:r>
            <a:r>
              <a:rPr lang="en-US" altLang="zh-CN" i="1" dirty="0"/>
              <a:t>B, </a:t>
            </a:r>
            <a:r>
              <a:rPr lang="en-US" altLang="zh-CN" dirty="0"/>
              <a:t>which involves the change in Gibbs free energy</a:t>
            </a:r>
            <a:endParaRPr lang="zh-CN" altLang="en-US" dirty="0"/>
          </a:p>
        </p:txBody>
      </p:sp>
      <p:graphicFrame>
        <p:nvGraphicFramePr>
          <p:cNvPr id="23" name="对象 22"/>
          <p:cNvGraphicFramePr>
            <a:graphicFrameLocks noChangeAspect="1"/>
          </p:cNvGraphicFramePr>
          <p:nvPr>
            <p:extLst>
              <p:ext uri="{D42A27DB-BD31-4B8C-83A1-F6EECF244321}">
                <p14:modId xmlns:p14="http://schemas.microsoft.com/office/powerpoint/2010/main" val="4194091935"/>
              </p:ext>
            </p:extLst>
          </p:nvPr>
        </p:nvGraphicFramePr>
        <p:xfrm>
          <a:off x="4487863" y="2991295"/>
          <a:ext cx="1541462" cy="415925"/>
        </p:xfrm>
        <a:graphic>
          <a:graphicData uri="http://schemas.openxmlformats.org/presentationml/2006/ole">
            <mc:AlternateContent xmlns:mc="http://schemas.openxmlformats.org/markup-compatibility/2006">
              <mc:Choice xmlns:v="urn:schemas-microsoft-com:vml" Requires="v">
                <p:oleObj name="Equation" r:id="rId3" imgW="990360" imgH="266400" progId="Equation.DSMT4">
                  <p:embed/>
                </p:oleObj>
              </mc:Choice>
              <mc:Fallback>
                <p:oleObj name="Equation" r:id="rId3" imgW="990360" imgH="266400" progId="Equation.DSMT4">
                  <p:embed/>
                  <p:pic>
                    <p:nvPicPr>
                      <p:cNvPr id="0" name=""/>
                      <p:cNvPicPr>
                        <a:picLocks noChangeAspect="1" noChangeArrowheads="1"/>
                      </p:cNvPicPr>
                      <p:nvPr/>
                    </p:nvPicPr>
                    <p:blipFill>
                      <a:blip r:embed="rId4"/>
                      <a:srcRect/>
                      <a:stretch>
                        <a:fillRect/>
                      </a:stretch>
                    </p:blipFill>
                    <p:spPr bwMode="auto">
                      <a:xfrm>
                        <a:off x="4487863" y="2991295"/>
                        <a:ext cx="15414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3886200" y="3372295"/>
            <a:ext cx="4953000" cy="646331"/>
          </a:xfrm>
          <a:prstGeom prst="rect">
            <a:avLst/>
          </a:prstGeom>
          <a:noFill/>
        </p:spPr>
        <p:txBody>
          <a:bodyPr wrap="square" rtlCol="0">
            <a:spAutoFit/>
          </a:bodyPr>
          <a:lstStyle/>
          <a:p>
            <a:pPr lvl="0"/>
            <a:r>
              <a:rPr lang="en-US" altLang="zh-CN" dirty="0"/>
              <a:t>2. The mixing of X</a:t>
            </a:r>
            <a:r>
              <a:rPr lang="en-US" altLang="zh-CN" baseline="-25000" dirty="0"/>
              <a:t>B</a:t>
            </a:r>
            <a:r>
              <a:rPr lang="en-US" altLang="zh-CN" dirty="0"/>
              <a:t> moles liquid B and X</a:t>
            </a:r>
            <a:r>
              <a:rPr lang="en-US" altLang="zh-CN" baseline="-25000" dirty="0"/>
              <a:t>A</a:t>
            </a:r>
            <a:r>
              <a:rPr lang="en-US" altLang="zh-CN" dirty="0"/>
              <a:t> moles liquid A to form an idea liquid solution </a:t>
            </a:r>
            <a:endParaRPr lang="zh-CN" altLang="en-US" dirty="0"/>
          </a:p>
        </p:txBody>
      </p:sp>
      <p:graphicFrame>
        <p:nvGraphicFramePr>
          <p:cNvPr id="25" name="对象 24"/>
          <p:cNvGraphicFramePr>
            <a:graphicFrameLocks noChangeAspect="1"/>
          </p:cNvGraphicFramePr>
          <p:nvPr>
            <p:extLst>
              <p:ext uri="{D42A27DB-BD31-4B8C-83A1-F6EECF244321}">
                <p14:modId xmlns:p14="http://schemas.microsoft.com/office/powerpoint/2010/main" val="3262882454"/>
              </p:ext>
            </p:extLst>
          </p:nvPr>
        </p:nvGraphicFramePr>
        <p:xfrm>
          <a:off x="4366419" y="4024313"/>
          <a:ext cx="3992562" cy="395287"/>
        </p:xfrm>
        <a:graphic>
          <a:graphicData uri="http://schemas.openxmlformats.org/presentationml/2006/ole">
            <mc:AlternateContent xmlns:mc="http://schemas.openxmlformats.org/markup-compatibility/2006">
              <mc:Choice xmlns:v="urn:schemas-microsoft-com:vml" Requires="v">
                <p:oleObj name="Equation" r:id="rId5" imgW="2565360" imgH="253800" progId="Equation.DSMT4">
                  <p:embed/>
                </p:oleObj>
              </mc:Choice>
              <mc:Fallback>
                <p:oleObj name="Equation" r:id="rId5" imgW="2565360" imgH="253800" progId="Equation.DSMT4">
                  <p:embed/>
                  <p:pic>
                    <p:nvPicPr>
                      <p:cNvPr id="0" name=""/>
                      <p:cNvPicPr>
                        <a:picLocks noChangeAspect="1" noChangeArrowheads="1"/>
                      </p:cNvPicPr>
                      <p:nvPr/>
                    </p:nvPicPr>
                    <p:blipFill>
                      <a:blip r:embed="rId6"/>
                      <a:srcRect/>
                      <a:stretch>
                        <a:fillRect/>
                      </a:stretch>
                    </p:blipFill>
                    <p:spPr bwMode="auto">
                      <a:xfrm>
                        <a:off x="4366419" y="4024313"/>
                        <a:ext cx="39925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TextBox 25"/>
          <p:cNvSpPr txBox="1"/>
          <p:nvPr/>
        </p:nvSpPr>
        <p:spPr>
          <a:xfrm>
            <a:off x="3916907" y="4558778"/>
            <a:ext cx="3609706" cy="369332"/>
          </a:xfrm>
          <a:prstGeom prst="rect">
            <a:avLst/>
          </a:prstGeom>
          <a:noFill/>
        </p:spPr>
        <p:txBody>
          <a:bodyPr wrap="none" rtlCol="0">
            <a:spAutoFit/>
          </a:bodyPr>
          <a:lstStyle/>
          <a:p>
            <a:r>
              <a:rPr lang="en-US" altLang="zh-CN" dirty="0">
                <a:solidFill>
                  <a:srgbClr val="FF0000"/>
                </a:solidFill>
              </a:rPr>
              <a:t>The formation of idea liquid solution</a:t>
            </a:r>
            <a:endParaRPr lang="zh-CN" altLang="en-US" dirty="0">
              <a:solidFill>
                <a:srgbClr val="FF0000"/>
              </a:solidFill>
            </a:endParaRPr>
          </a:p>
        </p:txBody>
      </p:sp>
      <p:graphicFrame>
        <p:nvGraphicFramePr>
          <p:cNvPr id="27" name="对象 26"/>
          <p:cNvGraphicFramePr>
            <a:graphicFrameLocks noChangeAspect="1"/>
          </p:cNvGraphicFramePr>
          <p:nvPr>
            <p:extLst>
              <p:ext uri="{D42A27DB-BD31-4B8C-83A1-F6EECF244321}">
                <p14:modId xmlns:p14="http://schemas.microsoft.com/office/powerpoint/2010/main" val="2068902017"/>
              </p:ext>
            </p:extLst>
          </p:nvPr>
        </p:nvGraphicFramePr>
        <p:xfrm>
          <a:off x="3991795" y="5029200"/>
          <a:ext cx="4386263" cy="415925"/>
        </p:xfrm>
        <a:graphic>
          <a:graphicData uri="http://schemas.openxmlformats.org/presentationml/2006/ole">
            <mc:AlternateContent xmlns:mc="http://schemas.openxmlformats.org/markup-compatibility/2006">
              <mc:Choice xmlns:v="urn:schemas-microsoft-com:vml" Requires="v">
                <p:oleObj name="Equation" r:id="rId7" imgW="2819160" imgH="266400" progId="Equation.DSMT4">
                  <p:embed/>
                </p:oleObj>
              </mc:Choice>
              <mc:Fallback>
                <p:oleObj name="Equation" r:id="rId7" imgW="2819160" imgH="266400" progId="Equation.DSMT4">
                  <p:embed/>
                  <p:pic>
                    <p:nvPicPr>
                      <p:cNvPr id="0" name=""/>
                      <p:cNvPicPr>
                        <a:picLocks noChangeAspect="1" noChangeArrowheads="1"/>
                      </p:cNvPicPr>
                      <p:nvPr/>
                    </p:nvPicPr>
                    <p:blipFill>
                      <a:blip r:embed="rId8"/>
                      <a:srcRect/>
                      <a:stretch>
                        <a:fillRect/>
                      </a:stretch>
                    </p:blipFill>
                    <p:spPr bwMode="auto">
                      <a:xfrm>
                        <a:off x="3991795" y="5029200"/>
                        <a:ext cx="43862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TextBox 27"/>
          <p:cNvSpPr txBox="1"/>
          <p:nvPr/>
        </p:nvSpPr>
        <p:spPr>
          <a:xfrm>
            <a:off x="3916907" y="5555490"/>
            <a:ext cx="3524747" cy="369332"/>
          </a:xfrm>
          <a:prstGeom prst="rect">
            <a:avLst/>
          </a:prstGeom>
          <a:noFill/>
        </p:spPr>
        <p:txBody>
          <a:bodyPr wrap="none" rtlCol="0">
            <a:spAutoFit/>
          </a:bodyPr>
          <a:lstStyle/>
          <a:p>
            <a:r>
              <a:rPr lang="en-US" altLang="zh-CN" dirty="0">
                <a:solidFill>
                  <a:srgbClr val="0000FF"/>
                </a:solidFill>
              </a:rPr>
              <a:t>The formation of idea solid solution</a:t>
            </a:r>
            <a:endParaRPr lang="zh-CN" altLang="en-US" dirty="0">
              <a:solidFill>
                <a:srgbClr val="0000FF"/>
              </a:solidFill>
            </a:endParaRPr>
          </a:p>
        </p:txBody>
      </p:sp>
      <p:graphicFrame>
        <p:nvGraphicFramePr>
          <p:cNvPr id="29" name="对象 28"/>
          <p:cNvGraphicFramePr>
            <a:graphicFrameLocks noChangeAspect="1"/>
          </p:cNvGraphicFramePr>
          <p:nvPr>
            <p:extLst>
              <p:ext uri="{D42A27DB-BD31-4B8C-83A1-F6EECF244321}">
                <p14:modId xmlns:p14="http://schemas.microsoft.com/office/powerpoint/2010/main" val="149724375"/>
              </p:ext>
            </p:extLst>
          </p:nvPr>
        </p:nvGraphicFramePr>
        <p:xfrm>
          <a:off x="4127763" y="5924822"/>
          <a:ext cx="4386262" cy="415925"/>
        </p:xfrm>
        <a:graphic>
          <a:graphicData uri="http://schemas.openxmlformats.org/presentationml/2006/ole">
            <mc:AlternateContent xmlns:mc="http://schemas.openxmlformats.org/markup-compatibility/2006">
              <mc:Choice xmlns:v="urn:schemas-microsoft-com:vml" Requires="v">
                <p:oleObj name="Equation" r:id="rId9" imgW="2819160" imgH="266400" progId="Equation.DSMT4">
                  <p:embed/>
                </p:oleObj>
              </mc:Choice>
              <mc:Fallback>
                <p:oleObj name="Equation" r:id="rId9" imgW="2819160" imgH="266400" progId="Equation.DSMT4">
                  <p:embed/>
                  <p:pic>
                    <p:nvPicPr>
                      <p:cNvPr id="0" name=""/>
                      <p:cNvPicPr>
                        <a:picLocks noChangeAspect="1" noChangeArrowheads="1"/>
                      </p:cNvPicPr>
                      <p:nvPr/>
                    </p:nvPicPr>
                    <p:blipFill>
                      <a:blip r:embed="rId10"/>
                      <a:srcRect/>
                      <a:stretch>
                        <a:fillRect/>
                      </a:stretch>
                    </p:blipFill>
                    <p:spPr bwMode="auto">
                      <a:xfrm>
                        <a:off x="4127763" y="5924822"/>
                        <a:ext cx="43862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40471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 y="1333500"/>
            <a:ext cx="3381375"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itle 1"/>
          <p:cNvSpPr txBox="1">
            <a:spLocks/>
          </p:cNvSpPr>
          <p:nvPr/>
        </p:nvSpPr>
        <p:spPr bwMode="auto">
          <a:xfrm>
            <a:off x="1215057" y="157360"/>
            <a:ext cx="6525602"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dirty="0">
                <a:solidFill>
                  <a:srgbClr val="FF0000"/>
                </a:solidFill>
              </a:rPr>
              <a:t>Complete liquid and solid solutions</a:t>
            </a:r>
          </a:p>
        </p:txBody>
      </p:sp>
      <p:sp>
        <p:nvSpPr>
          <p:cNvPr id="4" name="椭圆 3"/>
          <p:cNvSpPr/>
          <p:nvPr/>
        </p:nvSpPr>
        <p:spPr>
          <a:xfrm>
            <a:off x="1609958" y="5114925"/>
            <a:ext cx="145056" cy="152400"/>
          </a:xfrm>
          <a:prstGeom prst="ellipse">
            <a:avLst/>
          </a:prstGeom>
          <a:solidFill>
            <a:srgbClr val="C000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2625" y="5191125"/>
            <a:ext cx="145056" cy="152400"/>
          </a:xfrm>
          <a:prstGeom prst="ellipse">
            <a:avLst/>
          </a:prstGeom>
          <a:solidFill>
            <a:srgbClr val="C000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729791" y="1231959"/>
            <a:ext cx="4572000" cy="1200329"/>
          </a:xfrm>
          <a:prstGeom prst="rect">
            <a:avLst/>
          </a:prstGeom>
        </p:spPr>
        <p:txBody>
          <a:bodyPr>
            <a:spAutoFit/>
          </a:bodyPr>
          <a:lstStyle/>
          <a:p>
            <a:r>
              <a:rPr lang="en-US" altLang="zh-CN" dirty="0"/>
              <a:t>At the composition </a:t>
            </a:r>
            <a:r>
              <a:rPr lang="en-US" altLang="zh-CN" i="1" dirty="0"/>
              <a:t>e </a:t>
            </a:r>
            <a:r>
              <a:rPr lang="en-US" altLang="zh-CN" dirty="0"/>
              <a:t>, the tangent to the free energy of mixing curve for the liquid solution is also the tangent to the free energy of mixing curve of the solid solution at the composition </a:t>
            </a:r>
            <a:r>
              <a:rPr lang="en-US" altLang="zh-CN" i="1" dirty="0"/>
              <a:t>f</a:t>
            </a:r>
            <a:endParaRPr lang="zh-CN" altLang="en-US" dirty="0"/>
          </a:p>
        </p:txBody>
      </p:sp>
      <p:sp>
        <p:nvSpPr>
          <p:cNvPr id="14" name="矩形 13"/>
          <p:cNvSpPr/>
          <p:nvPr/>
        </p:nvSpPr>
        <p:spPr>
          <a:xfrm>
            <a:off x="3796119" y="2791328"/>
            <a:ext cx="4891441" cy="646331"/>
          </a:xfrm>
          <a:prstGeom prst="rect">
            <a:avLst/>
          </a:prstGeom>
        </p:spPr>
        <p:txBody>
          <a:bodyPr wrap="square">
            <a:spAutoFit/>
          </a:bodyPr>
          <a:lstStyle/>
          <a:p>
            <a:r>
              <a:rPr lang="en-US" altLang="zh-CN" dirty="0"/>
              <a:t>at the temperature </a:t>
            </a:r>
            <a:r>
              <a:rPr lang="en-US" altLang="zh-CN" i="1" dirty="0"/>
              <a:t>T </a:t>
            </a:r>
            <a:r>
              <a:rPr lang="en-US" altLang="zh-CN" dirty="0"/>
              <a:t>, the liquid of </a:t>
            </a:r>
            <a:r>
              <a:rPr lang="en-US" altLang="zh-CN" dirty="0">
                <a:solidFill>
                  <a:srgbClr val="FF0000"/>
                </a:solidFill>
              </a:rPr>
              <a:t>composition </a:t>
            </a:r>
            <a:r>
              <a:rPr lang="en-US" altLang="zh-CN" i="1" dirty="0">
                <a:solidFill>
                  <a:srgbClr val="FF0000"/>
                </a:solidFill>
              </a:rPr>
              <a:t>e</a:t>
            </a:r>
            <a:r>
              <a:rPr lang="en-US" altLang="zh-CN" i="1" dirty="0"/>
              <a:t> </a:t>
            </a:r>
            <a:r>
              <a:rPr lang="en-US" altLang="zh-CN" dirty="0"/>
              <a:t>is </a:t>
            </a:r>
            <a:r>
              <a:rPr lang="en-US" altLang="zh-CN" b="1" dirty="0">
                <a:solidFill>
                  <a:srgbClr val="0000FF"/>
                </a:solidFill>
              </a:rPr>
              <a:t>in equilibrium with </a:t>
            </a:r>
            <a:r>
              <a:rPr lang="en-US" altLang="zh-CN" dirty="0"/>
              <a:t>the solid of </a:t>
            </a:r>
            <a:r>
              <a:rPr lang="en-US" altLang="zh-CN" dirty="0">
                <a:solidFill>
                  <a:srgbClr val="FF0000"/>
                </a:solidFill>
              </a:rPr>
              <a:t>composition </a:t>
            </a:r>
            <a:r>
              <a:rPr lang="en-US" altLang="zh-CN" i="1" dirty="0">
                <a:solidFill>
                  <a:srgbClr val="FF0000"/>
                </a:solidFill>
              </a:rPr>
              <a:t>f</a:t>
            </a:r>
            <a:r>
              <a:rPr lang="en-US" altLang="zh-CN" i="1" dirty="0"/>
              <a:t> </a:t>
            </a:r>
            <a:r>
              <a:rPr lang="en-US" altLang="zh-CN" dirty="0"/>
              <a:t>;</a:t>
            </a:r>
            <a:endParaRPr lang="zh-CN" altLang="en-US" dirty="0"/>
          </a:p>
        </p:txBody>
      </p:sp>
      <p:pic>
        <p:nvPicPr>
          <p:cNvPr id="134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87" y="3633270"/>
            <a:ext cx="3038475"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4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199" y="4656222"/>
            <a:ext cx="3175977" cy="1203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4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2280" y="4828524"/>
            <a:ext cx="1956758" cy="65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3645240" y="5772150"/>
            <a:ext cx="5746410" cy="738664"/>
          </a:xfrm>
          <a:prstGeom prst="rect">
            <a:avLst/>
          </a:prstGeom>
        </p:spPr>
        <p:txBody>
          <a:bodyPr wrap="square">
            <a:spAutoFit/>
          </a:bodyPr>
          <a:lstStyle/>
          <a:p>
            <a:r>
              <a:rPr lang="en-US" altLang="zh-CN" sz="1400" dirty="0"/>
              <a:t>the phase diagram for a system which forms ideal solid and liquid solutions is determined only by the melting temperatures and the molar heats of melting of the components</a:t>
            </a:r>
            <a:endParaRPr lang="zh-CN" altLang="en-US" sz="1400" dirty="0"/>
          </a:p>
        </p:txBody>
      </p:sp>
      <p:graphicFrame>
        <p:nvGraphicFramePr>
          <p:cNvPr id="2" name="对象 1">
            <a:extLst>
              <a:ext uri="{FF2B5EF4-FFF2-40B4-BE49-F238E27FC236}">
                <a16:creationId xmlns:a16="http://schemas.microsoft.com/office/drawing/2014/main" id="{CE57933E-569B-61B0-AD04-8DAF68B78448}"/>
              </a:ext>
            </a:extLst>
          </p:cNvPr>
          <p:cNvGraphicFramePr>
            <a:graphicFrameLocks noChangeAspect="1"/>
          </p:cNvGraphicFramePr>
          <p:nvPr>
            <p:extLst>
              <p:ext uri="{D42A27DB-BD31-4B8C-83A1-F6EECF244321}">
                <p14:modId xmlns:p14="http://schemas.microsoft.com/office/powerpoint/2010/main" val="3829475864"/>
              </p:ext>
            </p:extLst>
          </p:nvPr>
        </p:nvGraphicFramePr>
        <p:xfrm>
          <a:off x="6955219" y="4338722"/>
          <a:ext cx="1133475" cy="317500"/>
        </p:xfrm>
        <a:graphic>
          <a:graphicData uri="http://schemas.openxmlformats.org/presentationml/2006/ole">
            <mc:AlternateContent xmlns:mc="http://schemas.openxmlformats.org/markup-compatibility/2006">
              <mc:Choice xmlns:v="urn:schemas-microsoft-com:vml" Requires="v">
                <p:oleObj name="Equation" r:id="rId6" imgW="863280" imgH="241200" progId="Equation.DSMT4">
                  <p:embed/>
                </p:oleObj>
              </mc:Choice>
              <mc:Fallback>
                <p:oleObj name="Equation" r:id="rId6" imgW="863280" imgH="241200" progId="Equation.DSMT4">
                  <p:embed/>
                  <p:pic>
                    <p:nvPicPr>
                      <p:cNvPr id="8" name="对象 7"/>
                      <p:cNvPicPr>
                        <a:picLocks noChangeAspect="1" noChangeArrowheads="1"/>
                      </p:cNvPicPr>
                      <p:nvPr/>
                    </p:nvPicPr>
                    <p:blipFill>
                      <a:blip r:embed="rId7"/>
                      <a:srcRect/>
                      <a:stretch>
                        <a:fillRect/>
                      </a:stretch>
                    </p:blipFill>
                    <p:spPr bwMode="auto">
                      <a:xfrm>
                        <a:off x="6955219" y="4338722"/>
                        <a:ext cx="1133475" cy="317500"/>
                      </a:xfrm>
                      <a:prstGeom prst="rect">
                        <a:avLst/>
                      </a:prstGeom>
                      <a:solidFill>
                        <a:schemeClr val="bg1"/>
                      </a:solidFill>
                      <a:ln>
                        <a:solidFill>
                          <a:srgbClr val="FF0000"/>
                        </a:solidFill>
                      </a:ln>
                    </p:spPr>
                  </p:pic>
                </p:oleObj>
              </mc:Fallback>
            </mc:AlternateContent>
          </a:graphicData>
        </a:graphic>
      </p:graphicFrame>
    </p:spTree>
    <p:extLst>
      <p:ext uri="{BB962C8B-B14F-4D97-AF65-F5344CB8AC3E}">
        <p14:creationId xmlns:p14="http://schemas.microsoft.com/office/powerpoint/2010/main" val="2716140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3CD5B3-4F28-AB3C-929E-FE9C55C19C90}"/>
              </a:ext>
            </a:extLst>
          </p:cNvPr>
          <p:cNvSpPr txBox="1">
            <a:spLocks/>
          </p:cNvSpPr>
          <p:nvPr/>
        </p:nvSpPr>
        <p:spPr bwMode="auto">
          <a:xfrm>
            <a:off x="883981" y="181724"/>
            <a:ext cx="6525812" cy="390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400" dirty="0">
                <a:solidFill>
                  <a:srgbClr val="FF0000"/>
                </a:solidFill>
              </a:rPr>
              <a:t>Derivation of complete liquid and solid solutions</a:t>
            </a:r>
          </a:p>
        </p:txBody>
      </p:sp>
      <p:sp>
        <p:nvSpPr>
          <p:cNvPr id="4" name="文本框 3">
            <a:extLst>
              <a:ext uri="{FF2B5EF4-FFF2-40B4-BE49-F238E27FC236}">
                <a16:creationId xmlns:a16="http://schemas.microsoft.com/office/drawing/2014/main" id="{8127B01E-1308-73AA-0DE4-132DDC7934DF}"/>
              </a:ext>
            </a:extLst>
          </p:cNvPr>
          <p:cNvSpPr txBox="1"/>
          <p:nvPr/>
        </p:nvSpPr>
        <p:spPr>
          <a:xfrm>
            <a:off x="532358" y="1112627"/>
            <a:ext cx="5763116" cy="369332"/>
          </a:xfrm>
          <a:prstGeom prst="rect">
            <a:avLst/>
          </a:prstGeom>
          <a:noFill/>
        </p:spPr>
        <p:txBody>
          <a:bodyPr wrap="none" rtlCol="0">
            <a:spAutoFit/>
          </a:bodyPr>
          <a:lstStyle/>
          <a:p>
            <a:r>
              <a:rPr lang="en-US" altLang="zh-CN" dirty="0"/>
              <a:t>For the equilibrium between the solid and liquid phase,</a:t>
            </a:r>
          </a:p>
        </p:txBody>
      </p:sp>
      <p:graphicFrame>
        <p:nvGraphicFramePr>
          <p:cNvPr id="5" name="对象 4">
            <a:extLst>
              <a:ext uri="{FF2B5EF4-FFF2-40B4-BE49-F238E27FC236}">
                <a16:creationId xmlns:a16="http://schemas.microsoft.com/office/drawing/2014/main" id="{822050C9-D388-6494-0123-56B1985C4740}"/>
              </a:ext>
            </a:extLst>
          </p:cNvPr>
          <p:cNvGraphicFramePr>
            <a:graphicFrameLocks noChangeAspect="1"/>
          </p:cNvGraphicFramePr>
          <p:nvPr>
            <p:extLst>
              <p:ext uri="{D42A27DB-BD31-4B8C-83A1-F6EECF244321}">
                <p14:modId xmlns:p14="http://schemas.microsoft.com/office/powerpoint/2010/main" val="2176791394"/>
              </p:ext>
            </p:extLst>
          </p:nvPr>
        </p:nvGraphicFramePr>
        <p:xfrm>
          <a:off x="2993778" y="1531699"/>
          <a:ext cx="1289050" cy="708025"/>
        </p:xfrm>
        <a:graphic>
          <a:graphicData uri="http://schemas.openxmlformats.org/presentationml/2006/ole">
            <mc:AlternateContent xmlns:mc="http://schemas.openxmlformats.org/markup-compatibility/2006">
              <mc:Choice xmlns:v="urn:schemas-microsoft-com:vml" Requires="v">
                <p:oleObj name="Equation" r:id="rId2" imgW="1066680" imgH="583920" progId="Equation.DSMT4">
                  <p:embed/>
                </p:oleObj>
              </mc:Choice>
              <mc:Fallback>
                <p:oleObj name="Equation" r:id="rId2" imgW="1066680" imgH="583920" progId="Equation.DSMT4">
                  <p:embed/>
                  <p:pic>
                    <p:nvPicPr>
                      <p:cNvPr id="11" name="对象 10"/>
                      <p:cNvPicPr>
                        <a:picLocks noChangeAspect="1" noChangeArrowheads="1"/>
                      </p:cNvPicPr>
                      <p:nvPr/>
                    </p:nvPicPr>
                    <p:blipFill>
                      <a:blip r:embed="rId3"/>
                      <a:srcRect/>
                      <a:stretch>
                        <a:fillRect/>
                      </a:stretch>
                    </p:blipFill>
                    <p:spPr bwMode="auto">
                      <a:xfrm>
                        <a:off x="2993778" y="1531699"/>
                        <a:ext cx="1289050" cy="708025"/>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7" name="对象 6">
            <a:extLst>
              <a:ext uri="{FF2B5EF4-FFF2-40B4-BE49-F238E27FC236}">
                <a16:creationId xmlns:a16="http://schemas.microsoft.com/office/drawing/2014/main" id="{32BC66E4-2FCB-DD7D-2024-B58881D42F0D}"/>
              </a:ext>
            </a:extLst>
          </p:cNvPr>
          <p:cNvGraphicFramePr>
            <a:graphicFrameLocks noChangeAspect="1"/>
          </p:cNvGraphicFramePr>
          <p:nvPr>
            <p:extLst>
              <p:ext uri="{D42A27DB-BD31-4B8C-83A1-F6EECF244321}">
                <p14:modId xmlns:p14="http://schemas.microsoft.com/office/powerpoint/2010/main" val="3167748168"/>
              </p:ext>
            </p:extLst>
          </p:nvPr>
        </p:nvGraphicFramePr>
        <p:xfrm>
          <a:off x="565944" y="2806123"/>
          <a:ext cx="3859213" cy="1008063"/>
        </p:xfrm>
        <a:graphic>
          <a:graphicData uri="http://schemas.openxmlformats.org/presentationml/2006/ole">
            <mc:AlternateContent xmlns:mc="http://schemas.openxmlformats.org/markup-compatibility/2006">
              <mc:Choice xmlns:v="urn:schemas-microsoft-com:vml" Requires="v">
                <p:oleObj name="Equation" r:id="rId4" imgW="3314520" imgH="863280" progId="Equation.DSMT4">
                  <p:embed/>
                </p:oleObj>
              </mc:Choice>
              <mc:Fallback>
                <p:oleObj name="Equation" r:id="rId4" imgW="3314520" imgH="863280" progId="Equation.DSMT4">
                  <p:embed/>
                  <p:pic>
                    <p:nvPicPr>
                      <p:cNvPr id="27" name="对象 26"/>
                      <p:cNvPicPr>
                        <a:picLocks noChangeAspect="1" noChangeArrowheads="1"/>
                      </p:cNvPicPr>
                      <p:nvPr/>
                    </p:nvPicPr>
                    <p:blipFill>
                      <a:blip r:embed="rId5"/>
                      <a:srcRect/>
                      <a:stretch>
                        <a:fillRect/>
                      </a:stretch>
                    </p:blipFill>
                    <p:spPr bwMode="auto">
                      <a:xfrm>
                        <a:off x="565944" y="2806123"/>
                        <a:ext cx="3859213" cy="1008063"/>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C6387049-244B-5591-D099-2274941E8285}"/>
              </a:ext>
            </a:extLst>
          </p:cNvPr>
          <p:cNvGraphicFramePr>
            <a:graphicFrameLocks noChangeAspect="1"/>
          </p:cNvGraphicFramePr>
          <p:nvPr>
            <p:extLst>
              <p:ext uri="{D42A27DB-BD31-4B8C-83A1-F6EECF244321}">
                <p14:modId xmlns:p14="http://schemas.microsoft.com/office/powerpoint/2010/main" val="1095018404"/>
              </p:ext>
            </p:extLst>
          </p:nvPr>
        </p:nvGraphicFramePr>
        <p:xfrm>
          <a:off x="587819" y="3853648"/>
          <a:ext cx="4268787" cy="1901825"/>
        </p:xfrm>
        <a:graphic>
          <a:graphicData uri="http://schemas.openxmlformats.org/presentationml/2006/ole">
            <mc:AlternateContent xmlns:mc="http://schemas.openxmlformats.org/markup-compatibility/2006">
              <mc:Choice xmlns:v="urn:schemas-microsoft-com:vml" Requires="v">
                <p:oleObj name="Equation" r:id="rId6" imgW="4800600" imgH="2133360" progId="Equation.DSMT4">
                  <p:embed/>
                </p:oleObj>
              </mc:Choice>
              <mc:Fallback>
                <p:oleObj name="Equation" r:id="rId6" imgW="4800600" imgH="2133360" progId="Equation.DSMT4">
                  <p:embed/>
                  <p:pic>
                    <p:nvPicPr>
                      <p:cNvPr id="6" name="对象 5"/>
                      <p:cNvPicPr>
                        <a:picLocks noChangeAspect="1" noChangeArrowheads="1"/>
                      </p:cNvPicPr>
                      <p:nvPr/>
                    </p:nvPicPr>
                    <p:blipFill>
                      <a:blip r:embed="rId7"/>
                      <a:srcRect/>
                      <a:stretch>
                        <a:fillRect/>
                      </a:stretch>
                    </p:blipFill>
                    <p:spPr bwMode="auto">
                      <a:xfrm>
                        <a:off x="587819" y="3853648"/>
                        <a:ext cx="4268787" cy="1901825"/>
                      </a:xfrm>
                      <a:prstGeom prst="rect">
                        <a:avLst/>
                      </a:prstGeom>
                      <a:solidFill>
                        <a:schemeClr val="accent4">
                          <a:lumMod val="20000"/>
                          <a:lumOff val="80000"/>
                        </a:schemeClr>
                      </a:solid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BCEB9B08-A682-733D-46D0-5091790E01D9}"/>
              </a:ext>
            </a:extLst>
          </p:cNvPr>
          <p:cNvGraphicFramePr>
            <a:graphicFrameLocks noChangeAspect="1"/>
          </p:cNvGraphicFramePr>
          <p:nvPr>
            <p:extLst>
              <p:ext uri="{D42A27DB-BD31-4B8C-83A1-F6EECF244321}">
                <p14:modId xmlns:p14="http://schemas.microsoft.com/office/powerpoint/2010/main" val="650229012"/>
              </p:ext>
            </p:extLst>
          </p:nvPr>
        </p:nvGraphicFramePr>
        <p:xfrm>
          <a:off x="6648450" y="1951038"/>
          <a:ext cx="2257425" cy="974725"/>
        </p:xfrm>
        <a:graphic>
          <a:graphicData uri="http://schemas.openxmlformats.org/presentationml/2006/ole">
            <mc:AlternateContent xmlns:mc="http://schemas.openxmlformats.org/markup-compatibility/2006">
              <mc:Choice xmlns:v="urn:schemas-microsoft-com:vml" Requires="v">
                <p:oleObj name="Equation" r:id="rId8" imgW="1650960" imgH="711000" progId="Equation.DSMT4">
                  <p:embed/>
                </p:oleObj>
              </mc:Choice>
              <mc:Fallback>
                <p:oleObj name="Equation" r:id="rId8" imgW="1650960" imgH="711000" progId="Equation.DSMT4">
                  <p:embed/>
                  <p:pic>
                    <p:nvPicPr>
                      <p:cNvPr id="5" name="对象 4"/>
                      <p:cNvPicPr>
                        <a:picLocks noChangeAspect="1" noChangeArrowheads="1"/>
                      </p:cNvPicPr>
                      <p:nvPr/>
                    </p:nvPicPr>
                    <p:blipFill>
                      <a:blip r:embed="rId9"/>
                      <a:srcRect/>
                      <a:stretch>
                        <a:fillRect/>
                      </a:stretch>
                    </p:blipFill>
                    <p:spPr bwMode="auto">
                      <a:xfrm>
                        <a:off x="6648450" y="1951038"/>
                        <a:ext cx="2257425" cy="974725"/>
                      </a:xfrm>
                      <a:prstGeom prst="rect">
                        <a:avLst/>
                      </a:prstGeom>
                      <a:solidFill>
                        <a:srgbClr val="FFC000"/>
                      </a:solidFill>
                      <a:ln>
                        <a:noFill/>
                      </a:ln>
                    </p:spPr>
                  </p:pic>
                </p:oleObj>
              </mc:Fallback>
            </mc:AlternateContent>
          </a:graphicData>
        </a:graphic>
      </p:graphicFrame>
      <p:sp>
        <p:nvSpPr>
          <p:cNvPr id="12" name="文本框 11">
            <a:extLst>
              <a:ext uri="{FF2B5EF4-FFF2-40B4-BE49-F238E27FC236}">
                <a16:creationId xmlns:a16="http://schemas.microsoft.com/office/drawing/2014/main" id="{421ABAA1-F3ED-B1DA-624D-8E4BEFDFD956}"/>
              </a:ext>
            </a:extLst>
          </p:cNvPr>
          <p:cNvSpPr txBox="1"/>
          <p:nvPr/>
        </p:nvSpPr>
        <p:spPr>
          <a:xfrm>
            <a:off x="6670074" y="1112627"/>
            <a:ext cx="2236510" cy="369332"/>
          </a:xfrm>
          <a:prstGeom prst="rect">
            <a:avLst/>
          </a:prstGeom>
          <a:noFill/>
        </p:spPr>
        <p:txBody>
          <a:bodyPr wrap="none" rtlCol="0">
            <a:spAutoFit/>
          </a:bodyPr>
          <a:lstStyle/>
          <a:p>
            <a:r>
              <a:rPr lang="en-US" altLang="zh-CN" dirty="0">
                <a:solidFill>
                  <a:srgbClr val="FF0000"/>
                </a:solidFill>
              </a:rPr>
              <a:t>Lecture 13, page 12</a:t>
            </a:r>
            <a:endParaRPr lang="zh-CN" altLang="en-US" dirty="0">
              <a:solidFill>
                <a:srgbClr val="FF0000"/>
              </a:solidFill>
            </a:endParaRPr>
          </a:p>
        </p:txBody>
      </p:sp>
      <p:graphicFrame>
        <p:nvGraphicFramePr>
          <p:cNvPr id="13" name="对象 12">
            <a:extLst>
              <a:ext uri="{FF2B5EF4-FFF2-40B4-BE49-F238E27FC236}">
                <a16:creationId xmlns:a16="http://schemas.microsoft.com/office/drawing/2014/main" id="{B3822EF5-3F69-1B09-3729-01C4A8583CF4}"/>
              </a:ext>
            </a:extLst>
          </p:cNvPr>
          <p:cNvGraphicFramePr>
            <a:graphicFrameLocks noChangeAspect="1"/>
          </p:cNvGraphicFramePr>
          <p:nvPr>
            <p:extLst>
              <p:ext uri="{D42A27DB-BD31-4B8C-83A1-F6EECF244321}">
                <p14:modId xmlns:p14="http://schemas.microsoft.com/office/powerpoint/2010/main" val="1878614626"/>
              </p:ext>
            </p:extLst>
          </p:nvPr>
        </p:nvGraphicFramePr>
        <p:xfrm>
          <a:off x="5749979" y="3791646"/>
          <a:ext cx="2038350" cy="576263"/>
        </p:xfrm>
        <a:graphic>
          <a:graphicData uri="http://schemas.openxmlformats.org/presentationml/2006/ole">
            <mc:AlternateContent xmlns:mc="http://schemas.openxmlformats.org/markup-compatibility/2006">
              <mc:Choice xmlns:v="urn:schemas-microsoft-com:vml" Requires="v">
                <p:oleObj name="Equation" r:id="rId10" imgW="1752480" imgH="495000" progId="Equation.DSMT4">
                  <p:embed/>
                </p:oleObj>
              </mc:Choice>
              <mc:Fallback>
                <p:oleObj name="Equation" r:id="rId10" imgW="1752480" imgH="495000" progId="Equation.DSMT4">
                  <p:embed/>
                  <p:pic>
                    <p:nvPicPr>
                      <p:cNvPr id="11" name="对象 10">
                        <a:extLst>
                          <a:ext uri="{FF2B5EF4-FFF2-40B4-BE49-F238E27FC236}">
                            <a16:creationId xmlns:a16="http://schemas.microsoft.com/office/drawing/2014/main" id="{BCEB9B08-A682-733D-46D0-5091790E01D9}"/>
                          </a:ext>
                        </a:extLst>
                      </p:cNvPr>
                      <p:cNvPicPr>
                        <a:picLocks noChangeAspect="1" noChangeArrowheads="1"/>
                      </p:cNvPicPr>
                      <p:nvPr/>
                    </p:nvPicPr>
                    <p:blipFill>
                      <a:blip r:embed="rId11"/>
                      <a:srcRect/>
                      <a:stretch>
                        <a:fillRect/>
                      </a:stretch>
                    </p:blipFill>
                    <p:spPr bwMode="auto">
                      <a:xfrm>
                        <a:off x="5749979" y="3791646"/>
                        <a:ext cx="2038350" cy="576263"/>
                      </a:xfrm>
                      <a:prstGeom prst="rect">
                        <a:avLst/>
                      </a:prstGeom>
                      <a:solidFill>
                        <a:srgbClr val="FFC000"/>
                      </a:solidFill>
                      <a:ln>
                        <a:noFill/>
                      </a:ln>
                    </p:spPr>
                  </p:pic>
                </p:oleObj>
              </mc:Fallback>
            </mc:AlternateContent>
          </a:graphicData>
        </a:graphic>
      </p:graphicFrame>
      <p:graphicFrame>
        <p:nvGraphicFramePr>
          <p:cNvPr id="16" name="对象 15">
            <a:extLst>
              <a:ext uri="{FF2B5EF4-FFF2-40B4-BE49-F238E27FC236}">
                <a16:creationId xmlns:a16="http://schemas.microsoft.com/office/drawing/2014/main" id="{16CD8059-05C3-23F8-2556-1693940A47D2}"/>
              </a:ext>
            </a:extLst>
          </p:cNvPr>
          <p:cNvGraphicFramePr>
            <a:graphicFrameLocks noChangeAspect="1"/>
          </p:cNvGraphicFramePr>
          <p:nvPr>
            <p:extLst>
              <p:ext uri="{D42A27DB-BD31-4B8C-83A1-F6EECF244321}">
                <p14:modId xmlns:p14="http://schemas.microsoft.com/office/powerpoint/2010/main" val="391845374"/>
              </p:ext>
            </p:extLst>
          </p:nvPr>
        </p:nvGraphicFramePr>
        <p:xfrm>
          <a:off x="5735300" y="4414466"/>
          <a:ext cx="2067709" cy="513079"/>
        </p:xfrm>
        <a:graphic>
          <a:graphicData uri="http://schemas.openxmlformats.org/presentationml/2006/ole">
            <mc:AlternateContent xmlns:mc="http://schemas.openxmlformats.org/markup-compatibility/2006">
              <mc:Choice xmlns:v="urn:schemas-microsoft-com:vml" Requires="v">
                <p:oleObj name="Equation" r:id="rId12" imgW="2158920" imgH="533160" progId="Equation.DSMT4">
                  <p:embed/>
                </p:oleObj>
              </mc:Choice>
              <mc:Fallback>
                <p:oleObj name="Equation" r:id="rId12" imgW="2158920" imgH="533160" progId="Equation.DSMT4">
                  <p:embed/>
                  <p:pic>
                    <p:nvPicPr>
                      <p:cNvPr id="9" name="对象 8">
                        <a:extLst>
                          <a:ext uri="{FF2B5EF4-FFF2-40B4-BE49-F238E27FC236}">
                            <a16:creationId xmlns:a16="http://schemas.microsoft.com/office/drawing/2014/main" id="{C6387049-244B-5591-D099-2274941E8285}"/>
                          </a:ext>
                        </a:extLst>
                      </p:cNvPr>
                      <p:cNvPicPr>
                        <a:picLocks noChangeAspect="1" noChangeArrowheads="1"/>
                      </p:cNvPicPr>
                      <p:nvPr/>
                    </p:nvPicPr>
                    <p:blipFill>
                      <a:blip r:embed="rId13"/>
                      <a:srcRect/>
                      <a:stretch>
                        <a:fillRect/>
                      </a:stretch>
                    </p:blipFill>
                    <p:spPr bwMode="auto">
                      <a:xfrm>
                        <a:off x="5735300" y="4414466"/>
                        <a:ext cx="2067709" cy="513079"/>
                      </a:xfrm>
                      <a:prstGeom prst="rect">
                        <a:avLst/>
                      </a:prstGeom>
                      <a:solidFill>
                        <a:schemeClr val="accent4">
                          <a:lumMod val="20000"/>
                          <a:lumOff val="80000"/>
                        </a:schemeClr>
                      </a:solidFill>
                      <a:ln>
                        <a:noFill/>
                      </a:ln>
                    </p:spPr>
                  </p:pic>
                </p:oleObj>
              </mc:Fallback>
            </mc:AlternateContent>
          </a:graphicData>
        </a:graphic>
      </p:graphicFrame>
      <p:sp>
        <p:nvSpPr>
          <p:cNvPr id="17" name="箭头: 右 16">
            <a:extLst>
              <a:ext uri="{FF2B5EF4-FFF2-40B4-BE49-F238E27FC236}">
                <a16:creationId xmlns:a16="http://schemas.microsoft.com/office/drawing/2014/main" id="{8CCA9CF9-7216-A600-7436-83B149A7C494}"/>
              </a:ext>
            </a:extLst>
          </p:cNvPr>
          <p:cNvSpPr/>
          <p:nvPr/>
        </p:nvSpPr>
        <p:spPr>
          <a:xfrm>
            <a:off x="7937938" y="4185745"/>
            <a:ext cx="666420" cy="323193"/>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对象 17">
            <a:extLst>
              <a:ext uri="{FF2B5EF4-FFF2-40B4-BE49-F238E27FC236}">
                <a16:creationId xmlns:a16="http://schemas.microsoft.com/office/drawing/2014/main" id="{331FD0DB-C102-38CE-FD16-6B65C705ABF5}"/>
              </a:ext>
            </a:extLst>
          </p:cNvPr>
          <p:cNvGraphicFramePr>
            <a:graphicFrameLocks noChangeAspect="1"/>
          </p:cNvGraphicFramePr>
          <p:nvPr>
            <p:extLst>
              <p:ext uri="{D42A27DB-BD31-4B8C-83A1-F6EECF244321}">
                <p14:modId xmlns:p14="http://schemas.microsoft.com/office/powerpoint/2010/main" val="1075629363"/>
              </p:ext>
            </p:extLst>
          </p:nvPr>
        </p:nvGraphicFramePr>
        <p:xfrm>
          <a:off x="5889133" y="5498934"/>
          <a:ext cx="2341173" cy="513079"/>
        </p:xfrm>
        <a:graphic>
          <a:graphicData uri="http://schemas.openxmlformats.org/presentationml/2006/ole">
            <mc:AlternateContent xmlns:mc="http://schemas.openxmlformats.org/markup-compatibility/2006">
              <mc:Choice xmlns:v="urn:schemas-microsoft-com:vml" Requires="v">
                <p:oleObj name="Equation" r:id="rId14" imgW="1218960" imgH="266400" progId="Equation.DSMT4">
                  <p:embed/>
                </p:oleObj>
              </mc:Choice>
              <mc:Fallback>
                <p:oleObj name="Equation" r:id="rId14" imgW="1218960" imgH="266400" progId="Equation.DSMT4">
                  <p:embed/>
                  <p:pic>
                    <p:nvPicPr>
                      <p:cNvPr id="7" name="对象 6"/>
                      <p:cNvPicPr>
                        <a:picLocks noChangeAspect="1" noChangeArrowheads="1"/>
                      </p:cNvPicPr>
                      <p:nvPr/>
                    </p:nvPicPr>
                    <p:blipFill>
                      <a:blip r:embed="rId15"/>
                      <a:srcRect/>
                      <a:stretch>
                        <a:fillRect/>
                      </a:stretch>
                    </p:blipFill>
                    <p:spPr bwMode="auto">
                      <a:xfrm>
                        <a:off x="5889133" y="5498934"/>
                        <a:ext cx="2341173" cy="513079"/>
                      </a:xfrm>
                      <a:prstGeom prst="rect">
                        <a:avLst/>
                      </a:prstGeom>
                      <a:noFill/>
                      <a:ln>
                        <a:solidFill>
                          <a:srgbClr val="FF0000"/>
                        </a:solidFill>
                      </a:ln>
                    </p:spPr>
                  </p:pic>
                </p:oleObj>
              </mc:Fallback>
            </mc:AlternateContent>
          </a:graphicData>
        </a:graphic>
      </p:graphicFrame>
      <p:sp>
        <p:nvSpPr>
          <p:cNvPr id="19" name="TextBox 25">
            <a:extLst>
              <a:ext uri="{FF2B5EF4-FFF2-40B4-BE49-F238E27FC236}">
                <a16:creationId xmlns:a16="http://schemas.microsoft.com/office/drawing/2014/main" id="{7A290A11-96C9-3323-0921-9C1AECC394AC}"/>
              </a:ext>
            </a:extLst>
          </p:cNvPr>
          <p:cNvSpPr txBox="1"/>
          <p:nvPr/>
        </p:nvSpPr>
        <p:spPr>
          <a:xfrm>
            <a:off x="492680" y="2438208"/>
            <a:ext cx="3276859" cy="338554"/>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solidFill>
                  <a:srgbClr val="FF0000"/>
                </a:solidFill>
              </a:rPr>
              <a:t>Gibbs energy of liquid solution </a:t>
            </a:r>
            <a:endParaRPr lang="zh-CN" altLang="en-US" sz="1600" dirty="0">
              <a:solidFill>
                <a:srgbClr val="FF0000"/>
              </a:solidFill>
            </a:endParaRPr>
          </a:p>
        </p:txBody>
      </p:sp>
    </p:spTree>
    <p:extLst>
      <p:ext uri="{BB962C8B-B14F-4D97-AF65-F5344CB8AC3E}">
        <p14:creationId xmlns:p14="http://schemas.microsoft.com/office/powerpoint/2010/main" val="3911801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F7207CAA-122B-1ABA-FC2F-6C115B9FADA5}"/>
              </a:ext>
            </a:extLst>
          </p:cNvPr>
          <p:cNvSpPr txBox="1"/>
          <p:nvPr/>
        </p:nvSpPr>
        <p:spPr>
          <a:xfrm>
            <a:off x="272941" y="776241"/>
            <a:ext cx="3278462" cy="338554"/>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solidFill>
                  <a:srgbClr val="FF0000"/>
                </a:solidFill>
              </a:rPr>
              <a:t>Gibbs energy of  solid solution </a:t>
            </a:r>
            <a:endParaRPr lang="zh-CN" altLang="en-US" sz="1600" dirty="0">
              <a:solidFill>
                <a:srgbClr val="FF0000"/>
              </a:solidFill>
            </a:endParaRPr>
          </a:p>
        </p:txBody>
      </p:sp>
      <p:sp>
        <p:nvSpPr>
          <p:cNvPr id="3" name="Title 1">
            <a:extLst>
              <a:ext uri="{FF2B5EF4-FFF2-40B4-BE49-F238E27FC236}">
                <a16:creationId xmlns:a16="http://schemas.microsoft.com/office/drawing/2014/main" id="{4F0DD9EB-E2B0-EDDB-1B92-7B9F0802CF6D}"/>
              </a:ext>
            </a:extLst>
          </p:cNvPr>
          <p:cNvSpPr txBox="1">
            <a:spLocks/>
          </p:cNvSpPr>
          <p:nvPr/>
        </p:nvSpPr>
        <p:spPr bwMode="auto">
          <a:xfrm>
            <a:off x="883981" y="181724"/>
            <a:ext cx="6525812" cy="390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400" dirty="0">
                <a:solidFill>
                  <a:srgbClr val="FF0000"/>
                </a:solidFill>
              </a:rPr>
              <a:t>Derivation of complete liquid and solid solutions</a:t>
            </a:r>
          </a:p>
        </p:txBody>
      </p:sp>
      <p:graphicFrame>
        <p:nvGraphicFramePr>
          <p:cNvPr id="4" name="对象 3">
            <a:extLst>
              <a:ext uri="{FF2B5EF4-FFF2-40B4-BE49-F238E27FC236}">
                <a16:creationId xmlns:a16="http://schemas.microsoft.com/office/drawing/2014/main" id="{833F009F-79B6-93AB-AB0E-5148CCC53A79}"/>
              </a:ext>
            </a:extLst>
          </p:cNvPr>
          <p:cNvGraphicFramePr>
            <a:graphicFrameLocks noChangeAspect="1"/>
          </p:cNvGraphicFramePr>
          <p:nvPr>
            <p:extLst>
              <p:ext uri="{D42A27DB-BD31-4B8C-83A1-F6EECF244321}">
                <p14:modId xmlns:p14="http://schemas.microsoft.com/office/powerpoint/2010/main" val="3712102479"/>
              </p:ext>
            </p:extLst>
          </p:nvPr>
        </p:nvGraphicFramePr>
        <p:xfrm>
          <a:off x="344488" y="1330478"/>
          <a:ext cx="3652072" cy="983303"/>
        </p:xfrm>
        <a:graphic>
          <a:graphicData uri="http://schemas.openxmlformats.org/presentationml/2006/ole">
            <mc:AlternateContent xmlns:mc="http://schemas.openxmlformats.org/markup-compatibility/2006">
              <mc:Choice xmlns:v="urn:schemas-microsoft-com:vml" Requires="v">
                <p:oleObj name="Equation" r:id="rId2" imgW="3213000" imgH="863280" progId="Equation.DSMT4">
                  <p:embed/>
                </p:oleObj>
              </mc:Choice>
              <mc:Fallback>
                <p:oleObj name="Equation" r:id="rId2" imgW="3213000" imgH="863280" progId="Equation.DSMT4">
                  <p:embed/>
                  <p:pic>
                    <p:nvPicPr>
                      <p:cNvPr id="29" name="对象 28"/>
                      <p:cNvPicPr>
                        <a:picLocks noChangeAspect="1" noChangeArrowheads="1"/>
                      </p:cNvPicPr>
                      <p:nvPr/>
                    </p:nvPicPr>
                    <p:blipFill>
                      <a:blip r:embed="rId3"/>
                      <a:srcRect/>
                      <a:stretch>
                        <a:fillRect/>
                      </a:stretch>
                    </p:blipFill>
                    <p:spPr bwMode="auto">
                      <a:xfrm>
                        <a:off x="344488" y="1330478"/>
                        <a:ext cx="3652072" cy="983303"/>
                      </a:xfrm>
                      <a:prstGeom prst="rect">
                        <a:avLst/>
                      </a:prstGeom>
                      <a:noFill/>
                      <a:ln>
                        <a:noFill/>
                      </a:ln>
                    </p:spPr>
                  </p:pic>
                </p:oleObj>
              </mc:Fallback>
            </mc:AlternateContent>
          </a:graphicData>
        </a:graphic>
      </p:graphicFrame>
      <p:graphicFrame>
        <p:nvGraphicFramePr>
          <p:cNvPr id="6" name="对象 5">
            <a:extLst>
              <a:ext uri="{FF2B5EF4-FFF2-40B4-BE49-F238E27FC236}">
                <a16:creationId xmlns:a16="http://schemas.microsoft.com/office/drawing/2014/main" id="{13D19766-8B5F-5A9F-B0A9-D6EB7133FF7A}"/>
              </a:ext>
            </a:extLst>
          </p:cNvPr>
          <p:cNvGraphicFramePr>
            <a:graphicFrameLocks noChangeAspect="1"/>
          </p:cNvGraphicFramePr>
          <p:nvPr>
            <p:extLst>
              <p:ext uri="{D42A27DB-BD31-4B8C-83A1-F6EECF244321}">
                <p14:modId xmlns:p14="http://schemas.microsoft.com/office/powerpoint/2010/main" val="2826457856"/>
              </p:ext>
            </p:extLst>
          </p:nvPr>
        </p:nvGraphicFramePr>
        <p:xfrm>
          <a:off x="541556" y="2650020"/>
          <a:ext cx="5811947" cy="2392381"/>
        </p:xfrm>
        <a:graphic>
          <a:graphicData uri="http://schemas.openxmlformats.org/presentationml/2006/ole">
            <mc:AlternateContent xmlns:mc="http://schemas.openxmlformats.org/markup-compatibility/2006">
              <mc:Choice xmlns:v="urn:schemas-microsoft-com:vml" Requires="v">
                <p:oleObj name="Equation" r:id="rId4" imgW="6553080" imgH="2692080" progId="Equation.DSMT4">
                  <p:embed/>
                </p:oleObj>
              </mc:Choice>
              <mc:Fallback>
                <p:oleObj name="Equation" r:id="rId4" imgW="6553080" imgH="2692080" progId="Equation.DSMT4">
                  <p:embed/>
                  <p:pic>
                    <p:nvPicPr>
                      <p:cNvPr id="2" name="对象 1"/>
                      <p:cNvPicPr>
                        <a:picLocks noChangeAspect="1" noChangeArrowheads="1"/>
                      </p:cNvPicPr>
                      <p:nvPr/>
                    </p:nvPicPr>
                    <p:blipFill>
                      <a:blip r:embed="rId5"/>
                      <a:srcRect/>
                      <a:stretch>
                        <a:fillRect/>
                      </a:stretch>
                    </p:blipFill>
                    <p:spPr bwMode="auto">
                      <a:xfrm>
                        <a:off x="541556" y="2650020"/>
                        <a:ext cx="5811947" cy="2392381"/>
                      </a:xfrm>
                      <a:prstGeom prst="rect">
                        <a:avLst/>
                      </a:prstGeom>
                      <a:solidFill>
                        <a:srgbClr val="FFF2CC"/>
                      </a:solidFill>
                      <a:ln>
                        <a:noFill/>
                      </a:ln>
                    </p:spPr>
                  </p:pic>
                </p:oleObj>
              </mc:Fallback>
            </mc:AlternateContent>
          </a:graphicData>
        </a:graphic>
      </p:graphicFrame>
      <p:graphicFrame>
        <p:nvGraphicFramePr>
          <p:cNvPr id="7" name="对象 6">
            <a:extLst>
              <a:ext uri="{FF2B5EF4-FFF2-40B4-BE49-F238E27FC236}">
                <a16:creationId xmlns:a16="http://schemas.microsoft.com/office/drawing/2014/main" id="{CD93E575-642C-6682-1B8F-2D931B2C3E4D}"/>
              </a:ext>
            </a:extLst>
          </p:cNvPr>
          <p:cNvGraphicFramePr>
            <a:graphicFrameLocks noChangeAspect="1"/>
          </p:cNvGraphicFramePr>
          <p:nvPr>
            <p:extLst>
              <p:ext uri="{D42A27DB-BD31-4B8C-83A1-F6EECF244321}">
                <p14:modId xmlns:p14="http://schemas.microsoft.com/office/powerpoint/2010/main" val="729002711"/>
              </p:ext>
            </p:extLst>
          </p:nvPr>
        </p:nvGraphicFramePr>
        <p:xfrm>
          <a:off x="541556" y="5378640"/>
          <a:ext cx="2422525" cy="576263"/>
        </p:xfrm>
        <a:graphic>
          <a:graphicData uri="http://schemas.openxmlformats.org/presentationml/2006/ole">
            <mc:AlternateContent xmlns:mc="http://schemas.openxmlformats.org/markup-compatibility/2006">
              <mc:Choice xmlns:v="urn:schemas-microsoft-com:vml" Requires="v">
                <p:oleObj name="Equation" r:id="rId6" imgW="1777680" imgH="495000" progId="Equation.DSMT4">
                  <p:embed/>
                </p:oleObj>
              </mc:Choice>
              <mc:Fallback>
                <p:oleObj name="Equation" r:id="rId6" imgW="1777680" imgH="495000" progId="Equation.DSMT4">
                  <p:embed/>
                  <p:pic>
                    <p:nvPicPr>
                      <p:cNvPr id="13" name="对象 12">
                        <a:extLst>
                          <a:ext uri="{FF2B5EF4-FFF2-40B4-BE49-F238E27FC236}">
                            <a16:creationId xmlns:a16="http://schemas.microsoft.com/office/drawing/2014/main" id="{B3822EF5-3F69-1B09-3729-01C4A8583CF4}"/>
                          </a:ext>
                        </a:extLst>
                      </p:cNvPr>
                      <p:cNvPicPr>
                        <a:picLocks noChangeAspect="1" noChangeArrowheads="1"/>
                      </p:cNvPicPr>
                      <p:nvPr/>
                    </p:nvPicPr>
                    <p:blipFill>
                      <a:blip r:embed="rId7"/>
                      <a:srcRect/>
                      <a:stretch>
                        <a:fillRect/>
                      </a:stretch>
                    </p:blipFill>
                    <p:spPr bwMode="auto">
                      <a:xfrm>
                        <a:off x="541556" y="5378640"/>
                        <a:ext cx="2422525" cy="576263"/>
                      </a:xfrm>
                      <a:prstGeom prst="rect">
                        <a:avLst/>
                      </a:prstGeom>
                      <a:solidFill>
                        <a:srgbClr val="FFC000"/>
                      </a:solidFill>
                      <a:ln>
                        <a:noFill/>
                      </a:ln>
                    </p:spPr>
                  </p:pic>
                </p:oleObj>
              </mc:Fallback>
            </mc:AlternateContent>
          </a:graphicData>
        </a:graphic>
      </p:graphicFrame>
      <p:graphicFrame>
        <p:nvGraphicFramePr>
          <p:cNvPr id="8" name="对象 7">
            <a:extLst>
              <a:ext uri="{FF2B5EF4-FFF2-40B4-BE49-F238E27FC236}">
                <a16:creationId xmlns:a16="http://schemas.microsoft.com/office/drawing/2014/main" id="{35434BDF-93CF-8E2B-8B97-E1D19933C834}"/>
              </a:ext>
            </a:extLst>
          </p:cNvPr>
          <p:cNvGraphicFramePr>
            <a:graphicFrameLocks noChangeAspect="1"/>
          </p:cNvGraphicFramePr>
          <p:nvPr>
            <p:extLst>
              <p:ext uri="{D42A27DB-BD31-4B8C-83A1-F6EECF244321}">
                <p14:modId xmlns:p14="http://schemas.microsoft.com/office/powerpoint/2010/main" val="722370161"/>
              </p:ext>
            </p:extLst>
          </p:nvPr>
        </p:nvGraphicFramePr>
        <p:xfrm>
          <a:off x="6654016" y="1992154"/>
          <a:ext cx="2067709" cy="513079"/>
        </p:xfrm>
        <a:graphic>
          <a:graphicData uri="http://schemas.openxmlformats.org/presentationml/2006/ole">
            <mc:AlternateContent xmlns:mc="http://schemas.openxmlformats.org/markup-compatibility/2006">
              <mc:Choice xmlns:v="urn:schemas-microsoft-com:vml" Requires="v">
                <p:oleObj name="Equation" r:id="rId8" imgW="2158920" imgH="533160" progId="Equation.DSMT4">
                  <p:embed/>
                </p:oleObj>
              </mc:Choice>
              <mc:Fallback>
                <p:oleObj name="Equation" r:id="rId8" imgW="2158920" imgH="533160" progId="Equation.DSMT4">
                  <p:embed/>
                  <p:pic>
                    <p:nvPicPr>
                      <p:cNvPr id="16" name="对象 15">
                        <a:extLst>
                          <a:ext uri="{FF2B5EF4-FFF2-40B4-BE49-F238E27FC236}">
                            <a16:creationId xmlns:a16="http://schemas.microsoft.com/office/drawing/2014/main" id="{16CD8059-05C3-23F8-2556-1693940A47D2}"/>
                          </a:ext>
                        </a:extLst>
                      </p:cNvPr>
                      <p:cNvPicPr>
                        <a:picLocks noChangeAspect="1" noChangeArrowheads="1"/>
                      </p:cNvPicPr>
                      <p:nvPr/>
                    </p:nvPicPr>
                    <p:blipFill>
                      <a:blip r:embed="rId9"/>
                      <a:srcRect/>
                      <a:stretch>
                        <a:fillRect/>
                      </a:stretch>
                    </p:blipFill>
                    <p:spPr bwMode="auto">
                      <a:xfrm>
                        <a:off x="6654016" y="1992154"/>
                        <a:ext cx="2067709" cy="513079"/>
                      </a:xfrm>
                      <a:prstGeom prst="rect">
                        <a:avLst/>
                      </a:prstGeom>
                      <a:solidFill>
                        <a:schemeClr val="accent4">
                          <a:lumMod val="20000"/>
                          <a:lumOff val="80000"/>
                        </a:schemeClr>
                      </a:solid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6AFA344E-A766-87E8-A6E4-8EC34E1E17A3}"/>
              </a:ext>
            </a:extLst>
          </p:cNvPr>
          <p:cNvGraphicFramePr>
            <a:graphicFrameLocks noChangeAspect="1"/>
          </p:cNvGraphicFramePr>
          <p:nvPr>
            <p:extLst>
              <p:ext uri="{D42A27DB-BD31-4B8C-83A1-F6EECF244321}">
                <p14:modId xmlns:p14="http://schemas.microsoft.com/office/powerpoint/2010/main" val="317337682"/>
              </p:ext>
            </p:extLst>
          </p:nvPr>
        </p:nvGraphicFramePr>
        <p:xfrm>
          <a:off x="541555" y="6006352"/>
          <a:ext cx="2422525" cy="473075"/>
        </p:xfrm>
        <a:graphic>
          <a:graphicData uri="http://schemas.openxmlformats.org/presentationml/2006/ole">
            <mc:AlternateContent xmlns:mc="http://schemas.openxmlformats.org/markup-compatibility/2006">
              <mc:Choice xmlns:v="urn:schemas-microsoft-com:vml" Requires="v">
                <p:oleObj name="Equation" r:id="rId10" imgW="2730240" imgH="533160" progId="Equation.DSMT4">
                  <p:embed/>
                </p:oleObj>
              </mc:Choice>
              <mc:Fallback>
                <p:oleObj name="Equation" r:id="rId10" imgW="2730240" imgH="533160" progId="Equation.DSMT4">
                  <p:embed/>
                  <p:pic>
                    <p:nvPicPr>
                      <p:cNvPr id="6" name="对象 5">
                        <a:extLst>
                          <a:ext uri="{FF2B5EF4-FFF2-40B4-BE49-F238E27FC236}">
                            <a16:creationId xmlns:a16="http://schemas.microsoft.com/office/drawing/2014/main" id="{13D19766-8B5F-5A9F-B0A9-D6EB7133FF7A}"/>
                          </a:ext>
                        </a:extLst>
                      </p:cNvPr>
                      <p:cNvPicPr>
                        <a:picLocks noChangeAspect="1" noChangeArrowheads="1"/>
                      </p:cNvPicPr>
                      <p:nvPr/>
                    </p:nvPicPr>
                    <p:blipFill>
                      <a:blip r:embed="rId11"/>
                      <a:srcRect/>
                      <a:stretch>
                        <a:fillRect/>
                      </a:stretch>
                    </p:blipFill>
                    <p:spPr bwMode="auto">
                      <a:xfrm>
                        <a:off x="541555" y="6006352"/>
                        <a:ext cx="2422525" cy="473075"/>
                      </a:xfrm>
                      <a:prstGeom prst="rect">
                        <a:avLst/>
                      </a:prstGeom>
                      <a:solidFill>
                        <a:srgbClr val="FFF2CC"/>
                      </a:solidFill>
                      <a:ln>
                        <a:noFill/>
                      </a:ln>
                    </p:spPr>
                  </p:pic>
                </p:oleObj>
              </mc:Fallback>
            </mc:AlternateContent>
          </a:graphicData>
        </a:graphic>
      </p:graphicFrame>
      <p:sp>
        <p:nvSpPr>
          <p:cNvPr id="12" name="箭头: 右 11">
            <a:extLst>
              <a:ext uri="{FF2B5EF4-FFF2-40B4-BE49-F238E27FC236}">
                <a16:creationId xmlns:a16="http://schemas.microsoft.com/office/drawing/2014/main" id="{42FE3A25-C60C-9AC2-BBE7-45F7359E68D9}"/>
              </a:ext>
            </a:extLst>
          </p:cNvPr>
          <p:cNvSpPr/>
          <p:nvPr/>
        </p:nvSpPr>
        <p:spPr>
          <a:xfrm>
            <a:off x="3551403" y="5793306"/>
            <a:ext cx="666420" cy="323193"/>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a:extLst>
              <a:ext uri="{FF2B5EF4-FFF2-40B4-BE49-F238E27FC236}">
                <a16:creationId xmlns:a16="http://schemas.microsoft.com/office/drawing/2014/main" id="{03D43269-8769-483D-1DCE-68164D8B6C8F}"/>
              </a:ext>
            </a:extLst>
          </p:cNvPr>
          <p:cNvGraphicFramePr>
            <a:graphicFrameLocks noChangeAspect="1"/>
          </p:cNvGraphicFramePr>
          <p:nvPr>
            <p:extLst>
              <p:ext uri="{D42A27DB-BD31-4B8C-83A1-F6EECF244321}">
                <p14:modId xmlns:p14="http://schemas.microsoft.com/office/powerpoint/2010/main" val="2763143893"/>
              </p:ext>
            </p:extLst>
          </p:nvPr>
        </p:nvGraphicFramePr>
        <p:xfrm>
          <a:off x="4745417" y="5716409"/>
          <a:ext cx="2664376" cy="400090"/>
        </p:xfrm>
        <a:graphic>
          <a:graphicData uri="http://schemas.openxmlformats.org/presentationml/2006/ole">
            <mc:AlternateContent xmlns:mc="http://schemas.openxmlformats.org/markup-compatibility/2006">
              <mc:Choice xmlns:v="urn:schemas-microsoft-com:vml" Requires="v">
                <p:oleObj name="Equation" r:id="rId12" imgW="1777680" imgH="266400" progId="Equation.DSMT4">
                  <p:embed/>
                </p:oleObj>
              </mc:Choice>
              <mc:Fallback>
                <p:oleObj name="Equation" r:id="rId12" imgW="1777680" imgH="266400" progId="Equation.DSMT4">
                  <p:embed/>
                  <p:pic>
                    <p:nvPicPr>
                      <p:cNvPr id="18" name="对象 17">
                        <a:extLst>
                          <a:ext uri="{FF2B5EF4-FFF2-40B4-BE49-F238E27FC236}">
                            <a16:creationId xmlns:a16="http://schemas.microsoft.com/office/drawing/2014/main" id="{331FD0DB-C102-38CE-FD16-6B65C705ABF5}"/>
                          </a:ext>
                        </a:extLst>
                      </p:cNvPr>
                      <p:cNvPicPr>
                        <a:picLocks noChangeAspect="1" noChangeArrowheads="1"/>
                      </p:cNvPicPr>
                      <p:nvPr/>
                    </p:nvPicPr>
                    <p:blipFill>
                      <a:blip r:embed="rId13"/>
                      <a:srcRect/>
                      <a:stretch>
                        <a:fillRect/>
                      </a:stretch>
                    </p:blipFill>
                    <p:spPr bwMode="auto">
                      <a:xfrm>
                        <a:off x="4745417" y="5716409"/>
                        <a:ext cx="2664376" cy="400090"/>
                      </a:xfrm>
                      <a:prstGeom prst="rect">
                        <a:avLst/>
                      </a:prstGeom>
                      <a:noFill/>
                      <a:ln>
                        <a:solidFill>
                          <a:srgbClr val="FF0000"/>
                        </a:solidFill>
                      </a:ln>
                    </p:spPr>
                  </p:pic>
                </p:oleObj>
              </mc:Fallback>
            </mc:AlternateContent>
          </a:graphicData>
        </a:graphic>
      </p:graphicFrame>
    </p:spTree>
    <p:extLst>
      <p:ext uri="{BB962C8B-B14F-4D97-AF65-F5344CB8AC3E}">
        <p14:creationId xmlns:p14="http://schemas.microsoft.com/office/powerpoint/2010/main" val="4210505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B1E684E9-A485-91CB-6DC6-E68C5354F165}"/>
              </a:ext>
            </a:extLst>
          </p:cNvPr>
          <p:cNvGraphicFramePr>
            <a:graphicFrameLocks noChangeAspect="1"/>
          </p:cNvGraphicFramePr>
          <p:nvPr>
            <p:extLst>
              <p:ext uri="{D42A27DB-BD31-4B8C-83A1-F6EECF244321}">
                <p14:modId xmlns:p14="http://schemas.microsoft.com/office/powerpoint/2010/main" val="785489795"/>
              </p:ext>
            </p:extLst>
          </p:nvPr>
        </p:nvGraphicFramePr>
        <p:xfrm>
          <a:off x="522945" y="1126179"/>
          <a:ext cx="1605399" cy="461149"/>
        </p:xfrm>
        <a:graphic>
          <a:graphicData uri="http://schemas.openxmlformats.org/presentationml/2006/ole">
            <mc:AlternateContent xmlns:mc="http://schemas.openxmlformats.org/markup-compatibility/2006">
              <mc:Choice xmlns:v="urn:schemas-microsoft-com:vml" Requires="v">
                <p:oleObj name="Equation" r:id="rId2" imgW="977760" imgH="279360" progId="Equation.DSMT4">
                  <p:embed/>
                </p:oleObj>
              </mc:Choice>
              <mc:Fallback>
                <p:oleObj name="Equation" r:id="rId2" imgW="977760" imgH="279360" progId="Equation.DSMT4">
                  <p:embed/>
                  <p:pic>
                    <p:nvPicPr>
                      <p:cNvPr id="5" name="对象 4">
                        <a:extLst>
                          <a:ext uri="{FF2B5EF4-FFF2-40B4-BE49-F238E27FC236}">
                            <a16:creationId xmlns:a16="http://schemas.microsoft.com/office/drawing/2014/main" id="{822050C9-D388-6494-0123-56B1985C4740}"/>
                          </a:ext>
                        </a:extLst>
                      </p:cNvPr>
                      <p:cNvPicPr>
                        <a:picLocks noChangeAspect="1" noChangeArrowheads="1"/>
                      </p:cNvPicPr>
                      <p:nvPr/>
                    </p:nvPicPr>
                    <p:blipFill>
                      <a:blip r:embed="rId3"/>
                      <a:srcRect/>
                      <a:stretch>
                        <a:fillRect/>
                      </a:stretch>
                    </p:blipFill>
                    <p:spPr bwMode="auto">
                      <a:xfrm>
                        <a:off x="522945" y="1126179"/>
                        <a:ext cx="1605399" cy="461149"/>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3" name="对象 2">
            <a:extLst>
              <a:ext uri="{FF2B5EF4-FFF2-40B4-BE49-F238E27FC236}">
                <a16:creationId xmlns:a16="http://schemas.microsoft.com/office/drawing/2014/main" id="{4017CFAA-706C-D313-CFCA-F8BF2BAE5D0F}"/>
              </a:ext>
            </a:extLst>
          </p:cNvPr>
          <p:cNvGraphicFramePr>
            <a:graphicFrameLocks noChangeAspect="1"/>
          </p:cNvGraphicFramePr>
          <p:nvPr>
            <p:extLst>
              <p:ext uri="{D42A27DB-BD31-4B8C-83A1-F6EECF244321}">
                <p14:modId xmlns:p14="http://schemas.microsoft.com/office/powerpoint/2010/main" val="1356976531"/>
              </p:ext>
            </p:extLst>
          </p:nvPr>
        </p:nvGraphicFramePr>
        <p:xfrm>
          <a:off x="522946" y="1858727"/>
          <a:ext cx="2196606" cy="481396"/>
        </p:xfrm>
        <a:graphic>
          <a:graphicData uri="http://schemas.openxmlformats.org/presentationml/2006/ole">
            <mc:AlternateContent xmlns:mc="http://schemas.openxmlformats.org/markup-compatibility/2006">
              <mc:Choice xmlns:v="urn:schemas-microsoft-com:vml" Requires="v">
                <p:oleObj name="Equation" r:id="rId4" imgW="1218960" imgH="266400" progId="Equation.DSMT4">
                  <p:embed/>
                </p:oleObj>
              </mc:Choice>
              <mc:Fallback>
                <p:oleObj name="Equation" r:id="rId4" imgW="1218960" imgH="266400" progId="Equation.DSMT4">
                  <p:embed/>
                  <p:pic>
                    <p:nvPicPr>
                      <p:cNvPr id="18" name="对象 17">
                        <a:extLst>
                          <a:ext uri="{FF2B5EF4-FFF2-40B4-BE49-F238E27FC236}">
                            <a16:creationId xmlns:a16="http://schemas.microsoft.com/office/drawing/2014/main" id="{331FD0DB-C102-38CE-FD16-6B65C705ABF5}"/>
                          </a:ext>
                        </a:extLst>
                      </p:cNvPr>
                      <p:cNvPicPr>
                        <a:picLocks noChangeAspect="1" noChangeArrowheads="1"/>
                      </p:cNvPicPr>
                      <p:nvPr/>
                    </p:nvPicPr>
                    <p:blipFill>
                      <a:blip r:embed="rId5"/>
                      <a:srcRect/>
                      <a:stretch>
                        <a:fillRect/>
                      </a:stretch>
                    </p:blipFill>
                    <p:spPr bwMode="auto">
                      <a:xfrm>
                        <a:off x="522946" y="1858727"/>
                        <a:ext cx="2196606" cy="481396"/>
                      </a:xfrm>
                      <a:prstGeom prst="rect">
                        <a:avLst/>
                      </a:prstGeom>
                      <a:noFill/>
                      <a:ln>
                        <a:solidFill>
                          <a:srgbClr val="FF0000"/>
                        </a:solidFill>
                      </a:ln>
                    </p:spPr>
                  </p:pic>
                </p:oleObj>
              </mc:Fallback>
            </mc:AlternateContent>
          </a:graphicData>
        </a:graphic>
      </p:graphicFrame>
      <p:graphicFrame>
        <p:nvGraphicFramePr>
          <p:cNvPr id="4" name="对象 3">
            <a:extLst>
              <a:ext uri="{FF2B5EF4-FFF2-40B4-BE49-F238E27FC236}">
                <a16:creationId xmlns:a16="http://schemas.microsoft.com/office/drawing/2014/main" id="{9758CF2D-4BA0-1E03-F18A-E7CE024369AA}"/>
              </a:ext>
            </a:extLst>
          </p:cNvPr>
          <p:cNvGraphicFramePr>
            <a:graphicFrameLocks noChangeAspect="1"/>
          </p:cNvGraphicFramePr>
          <p:nvPr>
            <p:extLst>
              <p:ext uri="{D42A27DB-BD31-4B8C-83A1-F6EECF244321}">
                <p14:modId xmlns:p14="http://schemas.microsoft.com/office/powerpoint/2010/main" val="3720012914"/>
              </p:ext>
            </p:extLst>
          </p:nvPr>
        </p:nvGraphicFramePr>
        <p:xfrm>
          <a:off x="522945" y="2579801"/>
          <a:ext cx="3136830" cy="471035"/>
        </p:xfrm>
        <a:graphic>
          <a:graphicData uri="http://schemas.openxmlformats.org/presentationml/2006/ole">
            <mc:AlternateContent xmlns:mc="http://schemas.openxmlformats.org/markup-compatibility/2006">
              <mc:Choice xmlns:v="urn:schemas-microsoft-com:vml" Requires="v">
                <p:oleObj name="Equation" r:id="rId6" imgW="1777680" imgH="266400" progId="Equation.DSMT4">
                  <p:embed/>
                </p:oleObj>
              </mc:Choice>
              <mc:Fallback>
                <p:oleObj name="Equation" r:id="rId6" imgW="1777680" imgH="266400" progId="Equation.DSMT4">
                  <p:embed/>
                  <p:pic>
                    <p:nvPicPr>
                      <p:cNvPr id="13" name="对象 12">
                        <a:extLst>
                          <a:ext uri="{FF2B5EF4-FFF2-40B4-BE49-F238E27FC236}">
                            <a16:creationId xmlns:a16="http://schemas.microsoft.com/office/drawing/2014/main" id="{03D43269-8769-483D-1DCE-68164D8B6C8F}"/>
                          </a:ext>
                        </a:extLst>
                      </p:cNvPr>
                      <p:cNvPicPr>
                        <a:picLocks noChangeAspect="1" noChangeArrowheads="1"/>
                      </p:cNvPicPr>
                      <p:nvPr/>
                    </p:nvPicPr>
                    <p:blipFill>
                      <a:blip r:embed="rId7"/>
                      <a:srcRect/>
                      <a:stretch>
                        <a:fillRect/>
                      </a:stretch>
                    </p:blipFill>
                    <p:spPr bwMode="auto">
                      <a:xfrm>
                        <a:off x="522945" y="2579801"/>
                        <a:ext cx="3136830" cy="471035"/>
                      </a:xfrm>
                      <a:prstGeom prst="rect">
                        <a:avLst/>
                      </a:prstGeom>
                      <a:noFill/>
                      <a:ln>
                        <a:solidFill>
                          <a:srgbClr val="FF0000"/>
                        </a:solidFill>
                      </a:ln>
                    </p:spPr>
                  </p:pic>
                </p:oleObj>
              </mc:Fallback>
            </mc:AlternateContent>
          </a:graphicData>
        </a:graphic>
      </p:graphicFrame>
      <p:sp>
        <p:nvSpPr>
          <p:cNvPr id="5" name="Title 1">
            <a:extLst>
              <a:ext uri="{FF2B5EF4-FFF2-40B4-BE49-F238E27FC236}">
                <a16:creationId xmlns:a16="http://schemas.microsoft.com/office/drawing/2014/main" id="{06A17C5D-1EEF-FC55-F2F1-1A71FAEE0B7B}"/>
              </a:ext>
            </a:extLst>
          </p:cNvPr>
          <p:cNvSpPr txBox="1">
            <a:spLocks/>
          </p:cNvSpPr>
          <p:nvPr/>
        </p:nvSpPr>
        <p:spPr bwMode="auto">
          <a:xfrm>
            <a:off x="883981" y="181724"/>
            <a:ext cx="6525812" cy="390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2400" dirty="0">
                <a:solidFill>
                  <a:srgbClr val="FF0000"/>
                </a:solidFill>
              </a:rPr>
              <a:t>Derivation of complete liquid and solid solutions</a:t>
            </a:r>
          </a:p>
        </p:txBody>
      </p:sp>
      <p:sp>
        <p:nvSpPr>
          <p:cNvPr id="6" name="箭头: 右 5">
            <a:extLst>
              <a:ext uri="{FF2B5EF4-FFF2-40B4-BE49-F238E27FC236}">
                <a16:creationId xmlns:a16="http://schemas.microsoft.com/office/drawing/2014/main" id="{F05F293E-670D-2AE0-2ED2-CBCAE77E57AC}"/>
              </a:ext>
            </a:extLst>
          </p:cNvPr>
          <p:cNvSpPr/>
          <p:nvPr/>
        </p:nvSpPr>
        <p:spPr>
          <a:xfrm>
            <a:off x="3806297" y="1663595"/>
            <a:ext cx="604797" cy="39026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a:extLst>
              <a:ext uri="{FF2B5EF4-FFF2-40B4-BE49-F238E27FC236}">
                <a16:creationId xmlns:a16="http://schemas.microsoft.com/office/drawing/2014/main" id="{3BA5076A-502D-DD8C-BFB7-8857DB36DE2D}"/>
              </a:ext>
            </a:extLst>
          </p:cNvPr>
          <p:cNvGraphicFramePr>
            <a:graphicFrameLocks noChangeAspect="1"/>
          </p:cNvGraphicFramePr>
          <p:nvPr>
            <p:extLst>
              <p:ext uri="{D42A27DB-BD31-4B8C-83A1-F6EECF244321}">
                <p14:modId xmlns:p14="http://schemas.microsoft.com/office/powerpoint/2010/main" val="95896689"/>
              </p:ext>
            </p:extLst>
          </p:nvPr>
        </p:nvGraphicFramePr>
        <p:xfrm>
          <a:off x="4858955" y="1629525"/>
          <a:ext cx="3630613" cy="469900"/>
        </p:xfrm>
        <a:graphic>
          <a:graphicData uri="http://schemas.openxmlformats.org/presentationml/2006/ole">
            <mc:AlternateContent xmlns:mc="http://schemas.openxmlformats.org/markup-compatibility/2006">
              <mc:Choice xmlns:v="urn:schemas-microsoft-com:vml" Requires="v">
                <p:oleObj name="Equation" r:id="rId8" imgW="2057400" imgH="266400" progId="Equation.DSMT4">
                  <p:embed/>
                </p:oleObj>
              </mc:Choice>
              <mc:Fallback>
                <p:oleObj name="Equation" r:id="rId8" imgW="2057400" imgH="266400" progId="Equation.DSMT4">
                  <p:embed/>
                  <p:pic>
                    <p:nvPicPr>
                      <p:cNvPr id="4" name="对象 3">
                        <a:extLst>
                          <a:ext uri="{FF2B5EF4-FFF2-40B4-BE49-F238E27FC236}">
                            <a16:creationId xmlns:a16="http://schemas.microsoft.com/office/drawing/2014/main" id="{9758CF2D-4BA0-1E03-F18A-E7CE024369AA}"/>
                          </a:ext>
                        </a:extLst>
                      </p:cNvPr>
                      <p:cNvPicPr>
                        <a:picLocks noChangeAspect="1" noChangeArrowheads="1"/>
                      </p:cNvPicPr>
                      <p:nvPr/>
                    </p:nvPicPr>
                    <p:blipFill>
                      <a:blip r:embed="rId9"/>
                      <a:srcRect/>
                      <a:stretch>
                        <a:fillRect/>
                      </a:stretch>
                    </p:blipFill>
                    <p:spPr bwMode="auto">
                      <a:xfrm>
                        <a:off x="4858955" y="1629525"/>
                        <a:ext cx="3630613" cy="469900"/>
                      </a:xfrm>
                      <a:prstGeom prst="rect">
                        <a:avLst/>
                      </a:prstGeom>
                      <a:noFill/>
                      <a:ln>
                        <a:solidFill>
                          <a:srgbClr val="FF0000"/>
                        </a:solidFill>
                      </a:ln>
                    </p:spPr>
                  </p:pic>
                </p:oleObj>
              </mc:Fallback>
            </mc:AlternateContent>
          </a:graphicData>
        </a:graphic>
      </p:graphicFrame>
      <p:sp>
        <p:nvSpPr>
          <p:cNvPr id="9" name="文本框 8">
            <a:extLst>
              <a:ext uri="{FF2B5EF4-FFF2-40B4-BE49-F238E27FC236}">
                <a16:creationId xmlns:a16="http://schemas.microsoft.com/office/drawing/2014/main" id="{5BFC5F99-3FD1-6C05-EF5A-4B04D6F1A4FF}"/>
              </a:ext>
            </a:extLst>
          </p:cNvPr>
          <p:cNvSpPr txBox="1"/>
          <p:nvPr/>
        </p:nvSpPr>
        <p:spPr>
          <a:xfrm>
            <a:off x="435657" y="3339321"/>
            <a:ext cx="4630435" cy="369332"/>
          </a:xfrm>
          <a:prstGeom prst="rect">
            <a:avLst/>
          </a:prstGeom>
          <a:noFill/>
        </p:spPr>
        <p:txBody>
          <a:bodyPr wrap="none" rtlCol="0">
            <a:spAutoFit/>
          </a:bodyPr>
          <a:lstStyle/>
          <a:p>
            <a:pPr marL="285750" indent="-285750">
              <a:buFont typeface="Arial" panose="020B0604020202020204" pitchFamily="34" charset="0"/>
              <a:buChar char="•"/>
            </a:pPr>
            <a:r>
              <a:rPr lang="en-US" altLang="zh-CN" dirty="0">
                <a:solidFill>
                  <a:srgbClr val="FF0000"/>
                </a:solidFill>
              </a:rPr>
              <a:t>Similar derivation for element B, </a:t>
            </a:r>
            <a:r>
              <a:rPr lang="en-US" altLang="zh-CN" dirty="0" err="1">
                <a:solidFill>
                  <a:srgbClr val="FF0000"/>
                </a:solidFill>
              </a:rPr>
              <a:t>T</a:t>
            </a:r>
            <a:r>
              <a:rPr lang="en-US" altLang="zh-CN" baseline="-25000" dirty="0" err="1">
                <a:solidFill>
                  <a:srgbClr val="FF0000"/>
                </a:solidFill>
              </a:rPr>
              <a:t>m,B</a:t>
            </a:r>
            <a:r>
              <a:rPr lang="en-US" altLang="zh-CN" dirty="0">
                <a:solidFill>
                  <a:srgbClr val="FF0000"/>
                </a:solidFill>
              </a:rPr>
              <a:t>&gt;T</a:t>
            </a:r>
            <a:endParaRPr lang="zh-CN" altLang="en-US" dirty="0">
              <a:solidFill>
                <a:srgbClr val="FF0000"/>
              </a:solidFill>
            </a:endParaRPr>
          </a:p>
        </p:txBody>
      </p:sp>
      <p:graphicFrame>
        <p:nvGraphicFramePr>
          <p:cNvPr id="10" name="对象 9">
            <a:extLst>
              <a:ext uri="{FF2B5EF4-FFF2-40B4-BE49-F238E27FC236}">
                <a16:creationId xmlns:a16="http://schemas.microsoft.com/office/drawing/2014/main" id="{2CF0631F-67E7-DA2B-9F9C-837EF9CBA0DB}"/>
              </a:ext>
            </a:extLst>
          </p:cNvPr>
          <p:cNvGraphicFramePr>
            <a:graphicFrameLocks noChangeAspect="1"/>
          </p:cNvGraphicFramePr>
          <p:nvPr>
            <p:extLst>
              <p:ext uri="{D42A27DB-BD31-4B8C-83A1-F6EECF244321}">
                <p14:modId xmlns:p14="http://schemas.microsoft.com/office/powerpoint/2010/main" val="2887347450"/>
              </p:ext>
            </p:extLst>
          </p:nvPr>
        </p:nvGraphicFramePr>
        <p:xfrm>
          <a:off x="626534" y="3888305"/>
          <a:ext cx="3179763" cy="481013"/>
        </p:xfrm>
        <a:graphic>
          <a:graphicData uri="http://schemas.openxmlformats.org/presentationml/2006/ole">
            <mc:AlternateContent xmlns:mc="http://schemas.openxmlformats.org/markup-compatibility/2006">
              <mc:Choice xmlns:v="urn:schemas-microsoft-com:vml" Requires="v">
                <p:oleObj name="Equation" r:id="rId10" imgW="1765080" imgH="266400" progId="Equation.DSMT4">
                  <p:embed/>
                </p:oleObj>
              </mc:Choice>
              <mc:Fallback>
                <p:oleObj name="Equation" r:id="rId10" imgW="1765080" imgH="266400" progId="Equation.DSMT4">
                  <p:embed/>
                  <p:pic>
                    <p:nvPicPr>
                      <p:cNvPr id="3" name="对象 2">
                        <a:extLst>
                          <a:ext uri="{FF2B5EF4-FFF2-40B4-BE49-F238E27FC236}">
                            <a16:creationId xmlns:a16="http://schemas.microsoft.com/office/drawing/2014/main" id="{4017CFAA-706C-D313-CFCA-F8BF2BAE5D0F}"/>
                          </a:ext>
                        </a:extLst>
                      </p:cNvPr>
                      <p:cNvPicPr>
                        <a:picLocks noChangeAspect="1" noChangeArrowheads="1"/>
                      </p:cNvPicPr>
                      <p:nvPr/>
                    </p:nvPicPr>
                    <p:blipFill>
                      <a:blip r:embed="rId11"/>
                      <a:srcRect/>
                      <a:stretch>
                        <a:fillRect/>
                      </a:stretch>
                    </p:blipFill>
                    <p:spPr bwMode="auto">
                      <a:xfrm>
                        <a:off x="626534" y="3888305"/>
                        <a:ext cx="3179763" cy="481013"/>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A2367092-E513-6C9A-6E5D-44DAF1315102}"/>
              </a:ext>
            </a:extLst>
          </p:cNvPr>
          <p:cNvGraphicFramePr>
            <a:graphicFrameLocks noChangeAspect="1"/>
          </p:cNvGraphicFramePr>
          <p:nvPr>
            <p:extLst>
              <p:ext uri="{D42A27DB-BD31-4B8C-83A1-F6EECF244321}">
                <p14:modId xmlns:p14="http://schemas.microsoft.com/office/powerpoint/2010/main" val="2504199889"/>
              </p:ext>
            </p:extLst>
          </p:nvPr>
        </p:nvGraphicFramePr>
        <p:xfrm>
          <a:off x="626534" y="4467344"/>
          <a:ext cx="2217737" cy="481013"/>
        </p:xfrm>
        <a:graphic>
          <a:graphicData uri="http://schemas.openxmlformats.org/presentationml/2006/ole">
            <mc:AlternateContent xmlns:mc="http://schemas.openxmlformats.org/markup-compatibility/2006">
              <mc:Choice xmlns:v="urn:schemas-microsoft-com:vml" Requires="v">
                <p:oleObj name="Equation" r:id="rId12" imgW="1231560" imgH="266400" progId="Equation.DSMT4">
                  <p:embed/>
                </p:oleObj>
              </mc:Choice>
              <mc:Fallback>
                <p:oleObj name="Equation" r:id="rId12" imgW="1231560" imgH="266400" progId="Equation.DSMT4">
                  <p:embed/>
                  <p:pic>
                    <p:nvPicPr>
                      <p:cNvPr id="10" name="对象 9">
                        <a:extLst>
                          <a:ext uri="{FF2B5EF4-FFF2-40B4-BE49-F238E27FC236}">
                            <a16:creationId xmlns:a16="http://schemas.microsoft.com/office/drawing/2014/main" id="{2CF0631F-67E7-DA2B-9F9C-837EF9CBA0DB}"/>
                          </a:ext>
                        </a:extLst>
                      </p:cNvPr>
                      <p:cNvPicPr>
                        <a:picLocks noChangeAspect="1" noChangeArrowheads="1"/>
                      </p:cNvPicPr>
                      <p:nvPr/>
                    </p:nvPicPr>
                    <p:blipFill>
                      <a:blip r:embed="rId13"/>
                      <a:srcRect/>
                      <a:stretch>
                        <a:fillRect/>
                      </a:stretch>
                    </p:blipFill>
                    <p:spPr bwMode="auto">
                      <a:xfrm>
                        <a:off x="626534" y="4467344"/>
                        <a:ext cx="2217737" cy="481013"/>
                      </a:xfrm>
                      <a:prstGeom prst="rect">
                        <a:avLst/>
                      </a:prstGeom>
                      <a:noFill/>
                      <a:ln>
                        <a:noFill/>
                      </a:ln>
                    </p:spPr>
                  </p:pic>
                </p:oleObj>
              </mc:Fallback>
            </mc:AlternateContent>
          </a:graphicData>
        </a:graphic>
      </p:graphicFrame>
      <p:graphicFrame>
        <p:nvGraphicFramePr>
          <p:cNvPr id="13" name="对象 12">
            <a:extLst>
              <a:ext uri="{FF2B5EF4-FFF2-40B4-BE49-F238E27FC236}">
                <a16:creationId xmlns:a16="http://schemas.microsoft.com/office/drawing/2014/main" id="{46F7EB5F-57E6-4F8D-59A7-B5A73BC364BF}"/>
              </a:ext>
            </a:extLst>
          </p:cNvPr>
          <p:cNvGraphicFramePr>
            <a:graphicFrameLocks noChangeAspect="1"/>
          </p:cNvGraphicFramePr>
          <p:nvPr>
            <p:extLst>
              <p:ext uri="{D42A27DB-BD31-4B8C-83A1-F6EECF244321}">
                <p14:modId xmlns:p14="http://schemas.microsoft.com/office/powerpoint/2010/main" val="1274474670"/>
              </p:ext>
            </p:extLst>
          </p:nvPr>
        </p:nvGraphicFramePr>
        <p:xfrm>
          <a:off x="4764745" y="4125267"/>
          <a:ext cx="3630612" cy="469900"/>
        </p:xfrm>
        <a:graphic>
          <a:graphicData uri="http://schemas.openxmlformats.org/presentationml/2006/ole">
            <mc:AlternateContent xmlns:mc="http://schemas.openxmlformats.org/markup-compatibility/2006">
              <mc:Choice xmlns:v="urn:schemas-microsoft-com:vml" Requires="v">
                <p:oleObj name="Equation" r:id="rId14" imgW="2057400" imgH="266400" progId="Equation.DSMT4">
                  <p:embed/>
                </p:oleObj>
              </mc:Choice>
              <mc:Fallback>
                <p:oleObj name="Equation" r:id="rId14" imgW="2057400" imgH="266400" progId="Equation.DSMT4">
                  <p:embed/>
                  <p:pic>
                    <p:nvPicPr>
                      <p:cNvPr id="7" name="对象 6">
                        <a:extLst>
                          <a:ext uri="{FF2B5EF4-FFF2-40B4-BE49-F238E27FC236}">
                            <a16:creationId xmlns:a16="http://schemas.microsoft.com/office/drawing/2014/main" id="{3BA5076A-502D-DD8C-BFB7-8857DB36DE2D}"/>
                          </a:ext>
                        </a:extLst>
                      </p:cNvPr>
                      <p:cNvPicPr>
                        <a:picLocks noChangeAspect="1" noChangeArrowheads="1"/>
                      </p:cNvPicPr>
                      <p:nvPr/>
                    </p:nvPicPr>
                    <p:blipFill>
                      <a:blip r:embed="rId15"/>
                      <a:srcRect/>
                      <a:stretch>
                        <a:fillRect/>
                      </a:stretch>
                    </p:blipFill>
                    <p:spPr bwMode="auto">
                      <a:xfrm>
                        <a:off x="4764745" y="4125267"/>
                        <a:ext cx="3630612" cy="469900"/>
                      </a:xfrm>
                      <a:prstGeom prst="rect">
                        <a:avLst/>
                      </a:prstGeom>
                      <a:noFill/>
                      <a:ln>
                        <a:solidFill>
                          <a:srgbClr val="FF0000"/>
                        </a:solidFill>
                      </a:ln>
                    </p:spPr>
                  </p:pic>
                </p:oleObj>
              </mc:Fallback>
            </mc:AlternateContent>
          </a:graphicData>
        </a:graphic>
      </p:graphicFrame>
      <p:sp>
        <p:nvSpPr>
          <p:cNvPr id="14" name="箭头: 右 13">
            <a:extLst>
              <a:ext uri="{FF2B5EF4-FFF2-40B4-BE49-F238E27FC236}">
                <a16:creationId xmlns:a16="http://schemas.microsoft.com/office/drawing/2014/main" id="{76F751C9-33CD-A5F0-7245-2532636AE9A5}"/>
              </a:ext>
            </a:extLst>
          </p:cNvPr>
          <p:cNvSpPr/>
          <p:nvPr/>
        </p:nvSpPr>
        <p:spPr>
          <a:xfrm>
            <a:off x="3952147" y="4174186"/>
            <a:ext cx="604797" cy="390264"/>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a:extLst>
              <a:ext uri="{FF2B5EF4-FFF2-40B4-BE49-F238E27FC236}">
                <a16:creationId xmlns:a16="http://schemas.microsoft.com/office/drawing/2014/main" id="{E63B6FF7-2D2A-6FF9-7867-A300E01E0062}"/>
              </a:ext>
            </a:extLst>
          </p:cNvPr>
          <p:cNvGraphicFramePr>
            <a:graphicFrameLocks noChangeAspect="1"/>
          </p:cNvGraphicFramePr>
          <p:nvPr>
            <p:extLst>
              <p:ext uri="{D42A27DB-BD31-4B8C-83A1-F6EECF244321}">
                <p14:modId xmlns:p14="http://schemas.microsoft.com/office/powerpoint/2010/main" val="3464315219"/>
              </p:ext>
            </p:extLst>
          </p:nvPr>
        </p:nvGraphicFramePr>
        <p:xfrm>
          <a:off x="691110" y="5058649"/>
          <a:ext cx="1605399" cy="461149"/>
        </p:xfrm>
        <a:graphic>
          <a:graphicData uri="http://schemas.openxmlformats.org/presentationml/2006/ole">
            <mc:AlternateContent xmlns:mc="http://schemas.openxmlformats.org/markup-compatibility/2006">
              <mc:Choice xmlns:v="urn:schemas-microsoft-com:vml" Requires="v">
                <p:oleObj name="Equation" r:id="rId16" imgW="977760" imgH="279360" progId="Equation.DSMT4">
                  <p:embed/>
                </p:oleObj>
              </mc:Choice>
              <mc:Fallback>
                <p:oleObj name="Equation" r:id="rId16" imgW="977760" imgH="279360" progId="Equation.DSMT4">
                  <p:embed/>
                  <p:pic>
                    <p:nvPicPr>
                      <p:cNvPr id="2" name="对象 1">
                        <a:extLst>
                          <a:ext uri="{FF2B5EF4-FFF2-40B4-BE49-F238E27FC236}">
                            <a16:creationId xmlns:a16="http://schemas.microsoft.com/office/drawing/2014/main" id="{B1E684E9-A485-91CB-6DC6-E68C5354F165}"/>
                          </a:ext>
                        </a:extLst>
                      </p:cNvPr>
                      <p:cNvPicPr>
                        <a:picLocks noChangeAspect="1" noChangeArrowheads="1"/>
                      </p:cNvPicPr>
                      <p:nvPr/>
                    </p:nvPicPr>
                    <p:blipFill>
                      <a:blip r:embed="rId17"/>
                      <a:srcRect/>
                      <a:stretch>
                        <a:fillRect/>
                      </a:stretch>
                    </p:blipFill>
                    <p:spPr bwMode="auto">
                      <a:xfrm>
                        <a:off x="691110" y="5058649"/>
                        <a:ext cx="1605399" cy="461149"/>
                      </a:xfrm>
                      <a:prstGeom prst="rect">
                        <a:avLst/>
                      </a:prstGeom>
                      <a:solidFill>
                        <a:schemeClr val="bg1"/>
                      </a:solidFill>
                      <a:ln w="9525">
                        <a:solidFill>
                          <a:srgbClr val="FF0000"/>
                        </a:solidFill>
                        <a:miter lim="800000"/>
                        <a:headEnd/>
                        <a:tailEnd/>
                      </a:ln>
                    </p:spPr>
                  </p:pic>
                </p:oleObj>
              </mc:Fallback>
            </mc:AlternateContent>
          </a:graphicData>
        </a:graphic>
      </p:graphicFrame>
    </p:spTree>
    <p:extLst>
      <p:ext uri="{BB962C8B-B14F-4D97-AF65-F5344CB8AC3E}">
        <p14:creationId xmlns:p14="http://schemas.microsoft.com/office/powerpoint/2010/main" val="1758427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C57EE1C-8763-F69D-D645-DAC014224F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1552" r="-5496"/>
          <a:stretch/>
        </p:blipFill>
        <p:spPr bwMode="auto">
          <a:xfrm>
            <a:off x="848601" y="1773619"/>
            <a:ext cx="7144517" cy="3594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a:extLst>
              <a:ext uri="{FF2B5EF4-FFF2-40B4-BE49-F238E27FC236}">
                <a16:creationId xmlns:a16="http://schemas.microsoft.com/office/drawing/2014/main" id="{AB62B2B4-C191-F6C9-5E90-4B9413BA153D}"/>
              </a:ext>
            </a:extLst>
          </p:cNvPr>
          <p:cNvGraphicFramePr>
            <a:graphicFrameLocks noChangeAspect="1"/>
          </p:cNvGraphicFramePr>
          <p:nvPr>
            <p:extLst>
              <p:ext uri="{D42A27DB-BD31-4B8C-83A1-F6EECF244321}">
                <p14:modId xmlns:p14="http://schemas.microsoft.com/office/powerpoint/2010/main" val="3509517800"/>
              </p:ext>
            </p:extLst>
          </p:nvPr>
        </p:nvGraphicFramePr>
        <p:xfrm>
          <a:off x="2502010" y="530728"/>
          <a:ext cx="3630613" cy="469900"/>
        </p:xfrm>
        <a:graphic>
          <a:graphicData uri="http://schemas.openxmlformats.org/presentationml/2006/ole">
            <mc:AlternateContent xmlns:mc="http://schemas.openxmlformats.org/markup-compatibility/2006">
              <mc:Choice xmlns:v="urn:schemas-microsoft-com:vml" Requires="v">
                <p:oleObj name="Equation" r:id="rId3" imgW="2057400" imgH="266400" progId="Equation.DSMT4">
                  <p:embed/>
                </p:oleObj>
              </mc:Choice>
              <mc:Fallback>
                <p:oleObj name="Equation" r:id="rId3" imgW="2057400" imgH="266400" progId="Equation.DSMT4">
                  <p:embed/>
                  <p:pic>
                    <p:nvPicPr>
                      <p:cNvPr id="7" name="对象 6">
                        <a:extLst>
                          <a:ext uri="{FF2B5EF4-FFF2-40B4-BE49-F238E27FC236}">
                            <a16:creationId xmlns:a16="http://schemas.microsoft.com/office/drawing/2014/main" id="{3BA5076A-502D-DD8C-BFB7-8857DB36DE2D}"/>
                          </a:ext>
                        </a:extLst>
                      </p:cNvPr>
                      <p:cNvPicPr>
                        <a:picLocks noChangeAspect="1" noChangeArrowheads="1"/>
                      </p:cNvPicPr>
                      <p:nvPr/>
                    </p:nvPicPr>
                    <p:blipFill>
                      <a:blip r:embed="rId4"/>
                      <a:srcRect/>
                      <a:stretch>
                        <a:fillRect/>
                      </a:stretch>
                    </p:blipFill>
                    <p:spPr bwMode="auto">
                      <a:xfrm>
                        <a:off x="2502010" y="530728"/>
                        <a:ext cx="3630613" cy="469900"/>
                      </a:xfrm>
                      <a:prstGeom prst="rect">
                        <a:avLst/>
                      </a:prstGeom>
                      <a:noFill/>
                      <a:ln>
                        <a:solidFill>
                          <a:srgbClr val="FF0000"/>
                        </a:solidFill>
                      </a:ln>
                    </p:spPr>
                  </p:pic>
                </p:oleObj>
              </mc:Fallback>
            </mc:AlternateContent>
          </a:graphicData>
        </a:graphic>
      </p:graphicFrame>
      <p:graphicFrame>
        <p:nvGraphicFramePr>
          <p:cNvPr id="4" name="对象 3">
            <a:extLst>
              <a:ext uri="{FF2B5EF4-FFF2-40B4-BE49-F238E27FC236}">
                <a16:creationId xmlns:a16="http://schemas.microsoft.com/office/drawing/2014/main" id="{8433E430-B7BC-2D81-5109-330007B26CD9}"/>
              </a:ext>
            </a:extLst>
          </p:cNvPr>
          <p:cNvGraphicFramePr>
            <a:graphicFrameLocks noChangeAspect="1"/>
          </p:cNvGraphicFramePr>
          <p:nvPr>
            <p:extLst>
              <p:ext uri="{D42A27DB-BD31-4B8C-83A1-F6EECF244321}">
                <p14:modId xmlns:p14="http://schemas.microsoft.com/office/powerpoint/2010/main" val="2983660538"/>
              </p:ext>
            </p:extLst>
          </p:nvPr>
        </p:nvGraphicFramePr>
        <p:xfrm>
          <a:off x="2502010" y="1152173"/>
          <a:ext cx="3630612" cy="469900"/>
        </p:xfrm>
        <a:graphic>
          <a:graphicData uri="http://schemas.openxmlformats.org/presentationml/2006/ole">
            <mc:AlternateContent xmlns:mc="http://schemas.openxmlformats.org/markup-compatibility/2006">
              <mc:Choice xmlns:v="urn:schemas-microsoft-com:vml" Requires="v">
                <p:oleObj name="Equation" r:id="rId5" imgW="2057400" imgH="266400" progId="Equation.DSMT4">
                  <p:embed/>
                </p:oleObj>
              </mc:Choice>
              <mc:Fallback>
                <p:oleObj name="Equation" r:id="rId5" imgW="2057400" imgH="266400" progId="Equation.DSMT4">
                  <p:embed/>
                  <p:pic>
                    <p:nvPicPr>
                      <p:cNvPr id="13" name="对象 12">
                        <a:extLst>
                          <a:ext uri="{FF2B5EF4-FFF2-40B4-BE49-F238E27FC236}">
                            <a16:creationId xmlns:a16="http://schemas.microsoft.com/office/drawing/2014/main" id="{46F7EB5F-57E6-4F8D-59A7-B5A73BC364BF}"/>
                          </a:ext>
                        </a:extLst>
                      </p:cNvPr>
                      <p:cNvPicPr>
                        <a:picLocks noChangeAspect="1" noChangeArrowheads="1"/>
                      </p:cNvPicPr>
                      <p:nvPr/>
                    </p:nvPicPr>
                    <p:blipFill>
                      <a:blip r:embed="rId6"/>
                      <a:srcRect/>
                      <a:stretch>
                        <a:fillRect/>
                      </a:stretch>
                    </p:blipFill>
                    <p:spPr bwMode="auto">
                      <a:xfrm>
                        <a:off x="2502010" y="1152173"/>
                        <a:ext cx="3630612" cy="469900"/>
                      </a:xfrm>
                      <a:prstGeom prst="rect">
                        <a:avLst/>
                      </a:prstGeom>
                      <a:noFill/>
                      <a:ln>
                        <a:solidFill>
                          <a:srgbClr val="FF0000"/>
                        </a:solidFill>
                      </a:ln>
                    </p:spPr>
                  </p:pic>
                </p:oleObj>
              </mc:Fallback>
            </mc:AlternateContent>
          </a:graphicData>
        </a:graphic>
      </p:graphicFrame>
      <p:sp>
        <p:nvSpPr>
          <p:cNvPr id="5" name="TextBox 4">
            <a:extLst>
              <a:ext uri="{FF2B5EF4-FFF2-40B4-BE49-F238E27FC236}">
                <a16:creationId xmlns:a16="http://schemas.microsoft.com/office/drawing/2014/main" id="{50809DCD-70B9-02EF-568E-BBB78E622406}"/>
              </a:ext>
            </a:extLst>
          </p:cNvPr>
          <p:cNvSpPr txBox="1"/>
          <p:nvPr/>
        </p:nvSpPr>
        <p:spPr>
          <a:xfrm>
            <a:off x="381000" y="5825996"/>
            <a:ext cx="8683625" cy="584775"/>
          </a:xfrm>
          <a:prstGeom prst="rect">
            <a:avLst/>
          </a:prstGeom>
          <a:noFill/>
        </p:spPr>
        <p:txBody>
          <a:bodyPr wrap="square" rtlCol="0">
            <a:spAutoFit/>
          </a:bodyPr>
          <a:lstStyle/>
          <a:p>
            <a:pPr algn="ctr"/>
            <a:r>
              <a:rPr lang="en-US" altLang="zh-CN" sz="1600" dirty="0"/>
              <a:t>the phase diagram for a system which forms ideal solid and liquid solutions is determined only by the melting temperatures and the molar heats of melting of the components</a:t>
            </a:r>
            <a:endParaRPr lang="zh-CN" altLang="en-US" sz="1600" dirty="0"/>
          </a:p>
        </p:txBody>
      </p:sp>
    </p:spTree>
    <p:extLst>
      <p:ext uri="{BB962C8B-B14F-4D97-AF65-F5344CB8AC3E}">
        <p14:creationId xmlns:p14="http://schemas.microsoft.com/office/powerpoint/2010/main" val="3413267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244" y="869706"/>
            <a:ext cx="3314700" cy="3557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3863298" y="1313174"/>
            <a:ext cx="3421129" cy="338554"/>
          </a:xfrm>
          <a:prstGeom prst="rect">
            <a:avLst/>
          </a:prstGeom>
          <a:noFill/>
        </p:spPr>
        <p:txBody>
          <a:bodyPr wrap="none" rtlCol="0">
            <a:spAutoFit/>
          </a:bodyPr>
          <a:lstStyle/>
          <a:p>
            <a:r>
              <a:rPr lang="en-US" altLang="zh-CN" sz="1600" dirty="0"/>
              <a:t>The formation of idea liquid solution</a:t>
            </a:r>
            <a:endParaRPr lang="zh-CN" altLang="en-US" sz="1600" dirty="0"/>
          </a:p>
        </p:txBody>
      </p:sp>
      <p:graphicFrame>
        <p:nvGraphicFramePr>
          <p:cNvPr id="13" name="对象 12"/>
          <p:cNvGraphicFramePr>
            <a:graphicFrameLocks noChangeAspect="1"/>
          </p:cNvGraphicFramePr>
          <p:nvPr>
            <p:extLst>
              <p:ext uri="{D42A27DB-BD31-4B8C-83A1-F6EECF244321}">
                <p14:modId xmlns:p14="http://schemas.microsoft.com/office/powerpoint/2010/main" val="556111511"/>
              </p:ext>
            </p:extLst>
          </p:nvPr>
        </p:nvGraphicFramePr>
        <p:xfrm>
          <a:off x="3863975" y="1758950"/>
          <a:ext cx="4448175" cy="407988"/>
        </p:xfrm>
        <a:graphic>
          <a:graphicData uri="http://schemas.openxmlformats.org/presentationml/2006/ole">
            <mc:AlternateContent xmlns:mc="http://schemas.openxmlformats.org/markup-compatibility/2006">
              <mc:Choice xmlns:v="urn:schemas-microsoft-com:vml" Requires="v">
                <p:oleObj name="Equation" r:id="rId4" imgW="3314520" imgH="304560" progId="Equation.DSMT4">
                  <p:embed/>
                </p:oleObj>
              </mc:Choice>
              <mc:Fallback>
                <p:oleObj name="Equation" r:id="rId4" imgW="3314520" imgH="304560" progId="Equation.DSMT4">
                  <p:embed/>
                  <p:pic>
                    <p:nvPicPr>
                      <p:cNvPr id="0" name=""/>
                      <p:cNvPicPr>
                        <a:picLocks noChangeAspect="1" noChangeArrowheads="1"/>
                      </p:cNvPicPr>
                      <p:nvPr/>
                    </p:nvPicPr>
                    <p:blipFill>
                      <a:blip r:embed="rId5"/>
                      <a:srcRect/>
                      <a:stretch>
                        <a:fillRect/>
                      </a:stretch>
                    </p:blipFill>
                    <p:spPr bwMode="auto">
                      <a:xfrm>
                        <a:off x="3863975" y="1758950"/>
                        <a:ext cx="4448175" cy="407988"/>
                      </a:xfrm>
                      <a:prstGeom prst="rect">
                        <a:avLst/>
                      </a:prstGeom>
                      <a:noFill/>
                      <a:ln>
                        <a:noFill/>
                      </a:ln>
                    </p:spPr>
                  </p:pic>
                </p:oleObj>
              </mc:Fallback>
            </mc:AlternateContent>
          </a:graphicData>
        </a:graphic>
      </p:graphicFrame>
      <p:sp>
        <p:nvSpPr>
          <p:cNvPr id="14" name="TextBox 13"/>
          <p:cNvSpPr txBox="1"/>
          <p:nvPr/>
        </p:nvSpPr>
        <p:spPr>
          <a:xfrm>
            <a:off x="3863298" y="2309886"/>
            <a:ext cx="3365024" cy="338554"/>
          </a:xfrm>
          <a:prstGeom prst="rect">
            <a:avLst/>
          </a:prstGeom>
          <a:noFill/>
        </p:spPr>
        <p:txBody>
          <a:bodyPr wrap="none" rtlCol="0">
            <a:spAutoFit/>
          </a:bodyPr>
          <a:lstStyle/>
          <a:p>
            <a:r>
              <a:rPr lang="en-US" altLang="zh-CN" sz="1600" dirty="0"/>
              <a:t>The formation of idea solid solution</a:t>
            </a:r>
            <a:endParaRPr lang="zh-CN" altLang="en-US" sz="1600" dirty="0"/>
          </a:p>
        </p:txBody>
      </p:sp>
      <p:graphicFrame>
        <p:nvGraphicFramePr>
          <p:cNvPr id="15" name="对象 14"/>
          <p:cNvGraphicFramePr>
            <a:graphicFrameLocks noChangeAspect="1"/>
          </p:cNvGraphicFramePr>
          <p:nvPr>
            <p:extLst>
              <p:ext uri="{D42A27DB-BD31-4B8C-83A1-F6EECF244321}">
                <p14:modId xmlns:p14="http://schemas.microsoft.com/office/powerpoint/2010/main" val="4038435542"/>
              </p:ext>
            </p:extLst>
          </p:nvPr>
        </p:nvGraphicFramePr>
        <p:xfrm>
          <a:off x="3886200" y="2654300"/>
          <a:ext cx="4332288" cy="406400"/>
        </p:xfrm>
        <a:graphic>
          <a:graphicData uri="http://schemas.openxmlformats.org/presentationml/2006/ole">
            <mc:AlternateContent xmlns:mc="http://schemas.openxmlformats.org/markup-compatibility/2006">
              <mc:Choice xmlns:v="urn:schemas-microsoft-com:vml" Requires="v">
                <p:oleObj name="Equation" r:id="rId6" imgW="3251160" imgH="304560" progId="Equation.DSMT4">
                  <p:embed/>
                </p:oleObj>
              </mc:Choice>
              <mc:Fallback>
                <p:oleObj name="Equation" r:id="rId6" imgW="3251160" imgH="304560" progId="Equation.DSMT4">
                  <p:embed/>
                  <p:pic>
                    <p:nvPicPr>
                      <p:cNvPr id="0" name=""/>
                      <p:cNvPicPr>
                        <a:picLocks noChangeAspect="1" noChangeArrowheads="1"/>
                      </p:cNvPicPr>
                      <p:nvPr/>
                    </p:nvPicPr>
                    <p:blipFill>
                      <a:blip r:embed="rId7"/>
                      <a:srcRect/>
                      <a:stretch>
                        <a:fillRect/>
                      </a:stretch>
                    </p:blipFill>
                    <p:spPr bwMode="auto">
                      <a:xfrm>
                        <a:off x="3886200" y="2654300"/>
                        <a:ext cx="4332288" cy="406400"/>
                      </a:xfrm>
                      <a:prstGeom prst="rect">
                        <a:avLst/>
                      </a:prstGeom>
                      <a:noFill/>
                      <a:ln>
                        <a:noFill/>
                      </a:ln>
                    </p:spPr>
                  </p:pic>
                </p:oleObj>
              </mc:Fallback>
            </mc:AlternateContent>
          </a:graphicData>
        </a:graphic>
      </p:graphicFrame>
      <p:sp>
        <p:nvSpPr>
          <p:cNvPr id="18" name="TextBox 17"/>
          <p:cNvSpPr txBox="1"/>
          <p:nvPr/>
        </p:nvSpPr>
        <p:spPr>
          <a:xfrm>
            <a:off x="1895639" y="102879"/>
            <a:ext cx="5014914" cy="461665"/>
          </a:xfrm>
          <a:prstGeom prst="rect">
            <a:avLst/>
          </a:prstGeom>
          <a:noFill/>
        </p:spPr>
        <p:txBody>
          <a:bodyPr wrap="square" rtlCol="0">
            <a:spAutoFit/>
          </a:bodyPr>
          <a:lstStyle/>
          <a:p>
            <a:r>
              <a:rPr lang="en-US" altLang="zh-CN" sz="2400" dirty="0">
                <a:solidFill>
                  <a:srgbClr val="FF0000"/>
                </a:solidFill>
              </a:rPr>
              <a:t>Idea solution VS. non-idea solution </a:t>
            </a:r>
            <a:endParaRPr lang="zh-CN" altLang="en-US" sz="2400" dirty="0">
              <a:solidFill>
                <a:srgbClr val="FF0000"/>
              </a:solidFill>
            </a:endParaRPr>
          </a:p>
        </p:txBody>
      </p:sp>
      <p:sp>
        <p:nvSpPr>
          <p:cNvPr id="19" name="矩形 18"/>
          <p:cNvSpPr/>
          <p:nvPr/>
        </p:nvSpPr>
        <p:spPr>
          <a:xfrm>
            <a:off x="3863298" y="930626"/>
            <a:ext cx="2460930" cy="369332"/>
          </a:xfrm>
          <a:prstGeom prst="rect">
            <a:avLst/>
          </a:prstGeom>
        </p:spPr>
        <p:txBody>
          <a:bodyPr wrap="none">
            <a:spAutoFit/>
          </a:bodyPr>
          <a:lstStyle/>
          <a:p>
            <a:pPr marL="285750" indent="-285750">
              <a:buFont typeface="Wingdings" pitchFamily="2" charset="2"/>
              <a:buChar char="ü"/>
            </a:pPr>
            <a:r>
              <a:rPr lang="en-US" altLang="zh-CN" dirty="0">
                <a:solidFill>
                  <a:srgbClr val="0000FF"/>
                </a:solidFill>
              </a:rPr>
              <a:t>Idea solution case: </a:t>
            </a:r>
            <a:endParaRPr lang="zh-CN" altLang="en-US" dirty="0">
              <a:solidFill>
                <a:srgbClr val="0000FF"/>
              </a:solidFill>
            </a:endParaRPr>
          </a:p>
        </p:txBody>
      </p:sp>
      <p:sp>
        <p:nvSpPr>
          <p:cNvPr id="20" name="矩形 19"/>
          <p:cNvSpPr/>
          <p:nvPr/>
        </p:nvSpPr>
        <p:spPr>
          <a:xfrm>
            <a:off x="291423" y="4635851"/>
            <a:ext cx="2961067" cy="369332"/>
          </a:xfrm>
          <a:prstGeom prst="rect">
            <a:avLst/>
          </a:prstGeom>
        </p:spPr>
        <p:txBody>
          <a:bodyPr wrap="none">
            <a:spAutoFit/>
          </a:bodyPr>
          <a:lstStyle/>
          <a:p>
            <a:pPr marL="285750" indent="-285750">
              <a:buFont typeface="Wingdings" pitchFamily="2" charset="2"/>
              <a:buChar char="ü"/>
            </a:pPr>
            <a:r>
              <a:rPr lang="en-US" altLang="zh-CN" dirty="0">
                <a:solidFill>
                  <a:srgbClr val="0000FF"/>
                </a:solidFill>
              </a:rPr>
              <a:t>Non-idea solution case: </a:t>
            </a:r>
            <a:endParaRPr lang="zh-CN" altLang="en-US" dirty="0">
              <a:solidFill>
                <a:srgbClr val="0000FF"/>
              </a:solidFill>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619722427"/>
              </p:ext>
            </p:extLst>
          </p:nvPr>
        </p:nvGraphicFramePr>
        <p:xfrm>
          <a:off x="4081649" y="3492500"/>
          <a:ext cx="1492213" cy="327025"/>
        </p:xfrm>
        <a:graphic>
          <a:graphicData uri="http://schemas.openxmlformats.org/presentationml/2006/ole">
            <mc:AlternateContent xmlns:mc="http://schemas.openxmlformats.org/markup-compatibility/2006">
              <mc:Choice xmlns:v="urn:schemas-microsoft-com:vml" Requires="v">
                <p:oleObj name="Equation" r:id="rId8" imgW="1218960" imgH="266400" progId="Equation.DSMT4">
                  <p:embed/>
                </p:oleObj>
              </mc:Choice>
              <mc:Fallback>
                <p:oleObj name="Equation" r:id="rId8" imgW="1218960" imgH="266400" progId="Equation.DSMT4">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1649" y="3492500"/>
                        <a:ext cx="1492213" cy="327025"/>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4094795137"/>
              </p:ext>
            </p:extLst>
          </p:nvPr>
        </p:nvGraphicFramePr>
        <p:xfrm>
          <a:off x="4060826" y="3949700"/>
          <a:ext cx="2187575" cy="328613"/>
        </p:xfrm>
        <a:graphic>
          <a:graphicData uri="http://schemas.openxmlformats.org/presentationml/2006/ole">
            <mc:AlternateContent xmlns:mc="http://schemas.openxmlformats.org/markup-compatibility/2006">
              <mc:Choice xmlns:v="urn:schemas-microsoft-com:vml" Requires="v">
                <p:oleObj name="Equation" r:id="rId10" imgW="1777680" imgH="266400" progId="Equation.DSMT4">
                  <p:embed/>
                </p:oleObj>
              </mc:Choice>
              <mc:Fallback>
                <p:oleObj name="Equation" r:id="rId10" imgW="1777680" imgH="266400" progId="Equation.DSMT4">
                  <p:embed/>
                  <p:pic>
                    <p:nvPicPr>
                      <p:cNvPr id="0" name="对象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60826" y="3949700"/>
                        <a:ext cx="21875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218265154"/>
              </p:ext>
            </p:extLst>
          </p:nvPr>
        </p:nvGraphicFramePr>
        <p:xfrm>
          <a:off x="6529388" y="3482975"/>
          <a:ext cx="2160587" cy="327025"/>
        </p:xfrm>
        <a:graphic>
          <a:graphicData uri="http://schemas.openxmlformats.org/presentationml/2006/ole">
            <mc:AlternateContent xmlns:mc="http://schemas.openxmlformats.org/markup-compatibility/2006">
              <mc:Choice xmlns:v="urn:schemas-microsoft-com:vml" Requires="v">
                <p:oleObj name="Equation" r:id="rId12" imgW="1765080" imgH="266400" progId="Equation.DSMT4">
                  <p:embed/>
                </p:oleObj>
              </mc:Choice>
              <mc:Fallback>
                <p:oleObj name="Equation" r:id="rId12" imgW="1765080" imgH="266400" progId="Equation.DSMT4">
                  <p:embed/>
                  <p:pic>
                    <p:nvPicPr>
                      <p:cNvPr id="0" name="对象 20"/>
                      <p:cNvPicPr>
                        <a:picLocks noChangeAspect="1" noChangeArrowheads="1"/>
                      </p:cNvPicPr>
                      <p:nvPr/>
                    </p:nvPicPr>
                    <p:blipFill>
                      <a:blip r:embed="rId13"/>
                      <a:srcRect/>
                      <a:stretch>
                        <a:fillRect/>
                      </a:stretch>
                    </p:blipFill>
                    <p:spPr bwMode="auto">
                      <a:xfrm>
                        <a:off x="6529388" y="3482975"/>
                        <a:ext cx="216058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531063899"/>
              </p:ext>
            </p:extLst>
          </p:nvPr>
        </p:nvGraphicFramePr>
        <p:xfrm>
          <a:off x="6605588" y="3959225"/>
          <a:ext cx="1516062" cy="328613"/>
        </p:xfrm>
        <a:graphic>
          <a:graphicData uri="http://schemas.openxmlformats.org/presentationml/2006/ole">
            <mc:AlternateContent xmlns:mc="http://schemas.openxmlformats.org/markup-compatibility/2006">
              <mc:Choice xmlns:v="urn:schemas-microsoft-com:vml" Requires="v">
                <p:oleObj name="Equation" r:id="rId14" imgW="1231560" imgH="266400" progId="Equation.DSMT4">
                  <p:embed/>
                </p:oleObj>
              </mc:Choice>
              <mc:Fallback>
                <p:oleObj name="Equation" r:id="rId14" imgW="1231560" imgH="266400" progId="Equation.DSMT4">
                  <p:embed/>
                  <p:pic>
                    <p:nvPicPr>
                      <p:cNvPr id="0" name="对象 21"/>
                      <p:cNvPicPr>
                        <a:picLocks noChangeAspect="1" noChangeArrowheads="1"/>
                      </p:cNvPicPr>
                      <p:nvPr/>
                    </p:nvPicPr>
                    <p:blipFill>
                      <a:blip r:embed="rId15"/>
                      <a:srcRect/>
                      <a:stretch>
                        <a:fillRect/>
                      </a:stretch>
                    </p:blipFill>
                    <p:spPr bwMode="auto">
                      <a:xfrm>
                        <a:off x="6605588" y="3959225"/>
                        <a:ext cx="15160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Box 24"/>
          <p:cNvSpPr txBox="1"/>
          <p:nvPr/>
        </p:nvSpPr>
        <p:spPr>
          <a:xfrm>
            <a:off x="442169" y="5194000"/>
            <a:ext cx="3831498" cy="338554"/>
          </a:xfrm>
          <a:prstGeom prst="rect">
            <a:avLst/>
          </a:prstGeom>
          <a:noFill/>
        </p:spPr>
        <p:txBody>
          <a:bodyPr wrap="none" rtlCol="0">
            <a:spAutoFit/>
          </a:bodyPr>
          <a:lstStyle/>
          <a:p>
            <a:r>
              <a:rPr lang="en-US" altLang="zh-CN" sz="1600" dirty="0"/>
              <a:t>The formation of non-idea liquid solution</a:t>
            </a:r>
            <a:endParaRPr lang="zh-CN" altLang="en-US" sz="1600" dirty="0"/>
          </a:p>
        </p:txBody>
      </p:sp>
      <p:graphicFrame>
        <p:nvGraphicFramePr>
          <p:cNvPr id="26" name="对象 25"/>
          <p:cNvGraphicFramePr>
            <a:graphicFrameLocks noChangeAspect="1"/>
          </p:cNvGraphicFramePr>
          <p:nvPr>
            <p:extLst>
              <p:ext uri="{D42A27DB-BD31-4B8C-83A1-F6EECF244321}">
                <p14:modId xmlns:p14="http://schemas.microsoft.com/office/powerpoint/2010/main" val="1595083653"/>
              </p:ext>
            </p:extLst>
          </p:nvPr>
        </p:nvGraphicFramePr>
        <p:xfrm>
          <a:off x="196850" y="5619750"/>
          <a:ext cx="4310063" cy="409575"/>
        </p:xfrm>
        <a:graphic>
          <a:graphicData uri="http://schemas.openxmlformats.org/presentationml/2006/ole">
            <mc:AlternateContent xmlns:mc="http://schemas.openxmlformats.org/markup-compatibility/2006">
              <mc:Choice xmlns:v="urn:schemas-microsoft-com:vml" Requires="v">
                <p:oleObj name="Equation" r:id="rId16" imgW="3213000" imgH="304560" progId="Equation.DSMT4">
                  <p:embed/>
                </p:oleObj>
              </mc:Choice>
              <mc:Fallback>
                <p:oleObj name="Equation" r:id="rId16" imgW="3213000" imgH="304560" progId="Equation.DSMT4">
                  <p:embed/>
                  <p:pic>
                    <p:nvPicPr>
                      <p:cNvPr id="0" name=""/>
                      <p:cNvPicPr>
                        <a:picLocks noChangeAspect="1" noChangeArrowheads="1"/>
                      </p:cNvPicPr>
                      <p:nvPr/>
                    </p:nvPicPr>
                    <p:blipFill>
                      <a:blip r:embed="rId17"/>
                      <a:srcRect/>
                      <a:stretch>
                        <a:fillRect/>
                      </a:stretch>
                    </p:blipFill>
                    <p:spPr bwMode="auto">
                      <a:xfrm>
                        <a:off x="196850" y="5619750"/>
                        <a:ext cx="4310063" cy="409575"/>
                      </a:xfrm>
                      <a:prstGeom prst="rect">
                        <a:avLst/>
                      </a:prstGeom>
                      <a:noFill/>
                      <a:ln>
                        <a:noFill/>
                      </a:ln>
                    </p:spPr>
                  </p:pic>
                </p:oleObj>
              </mc:Fallback>
            </mc:AlternateContent>
          </a:graphicData>
        </a:graphic>
      </p:graphicFrame>
      <p:sp>
        <p:nvSpPr>
          <p:cNvPr id="27" name="TextBox 26"/>
          <p:cNvSpPr txBox="1"/>
          <p:nvPr/>
        </p:nvSpPr>
        <p:spPr>
          <a:xfrm>
            <a:off x="4642694" y="5194000"/>
            <a:ext cx="3775393" cy="338554"/>
          </a:xfrm>
          <a:prstGeom prst="rect">
            <a:avLst/>
          </a:prstGeom>
          <a:noFill/>
        </p:spPr>
        <p:txBody>
          <a:bodyPr wrap="none" rtlCol="0">
            <a:spAutoFit/>
          </a:bodyPr>
          <a:lstStyle/>
          <a:p>
            <a:r>
              <a:rPr lang="en-US" altLang="zh-CN" sz="1600" dirty="0"/>
              <a:t>The formation of non-idea solid solution</a:t>
            </a:r>
            <a:endParaRPr lang="zh-CN" altLang="en-US" sz="1600" dirty="0"/>
          </a:p>
        </p:txBody>
      </p:sp>
      <p:graphicFrame>
        <p:nvGraphicFramePr>
          <p:cNvPr id="28" name="对象 27"/>
          <p:cNvGraphicFramePr>
            <a:graphicFrameLocks noChangeAspect="1"/>
          </p:cNvGraphicFramePr>
          <p:nvPr>
            <p:extLst>
              <p:ext uri="{D42A27DB-BD31-4B8C-83A1-F6EECF244321}">
                <p14:modId xmlns:p14="http://schemas.microsoft.com/office/powerpoint/2010/main" val="2382789132"/>
              </p:ext>
            </p:extLst>
          </p:nvPr>
        </p:nvGraphicFramePr>
        <p:xfrm>
          <a:off x="4642694" y="5603875"/>
          <a:ext cx="4367213" cy="409575"/>
        </p:xfrm>
        <a:graphic>
          <a:graphicData uri="http://schemas.openxmlformats.org/presentationml/2006/ole">
            <mc:AlternateContent xmlns:mc="http://schemas.openxmlformats.org/markup-compatibility/2006">
              <mc:Choice xmlns:v="urn:schemas-microsoft-com:vml" Requires="v">
                <p:oleObj name="Equation" r:id="rId18" imgW="3276360" imgH="304560" progId="Equation.DSMT4">
                  <p:embed/>
                </p:oleObj>
              </mc:Choice>
              <mc:Fallback>
                <p:oleObj name="Equation" r:id="rId18" imgW="3276360" imgH="304560" progId="Equation.DSMT4">
                  <p:embed/>
                  <p:pic>
                    <p:nvPicPr>
                      <p:cNvPr id="0" name=""/>
                      <p:cNvPicPr>
                        <a:picLocks noChangeAspect="1" noChangeArrowheads="1"/>
                      </p:cNvPicPr>
                      <p:nvPr/>
                    </p:nvPicPr>
                    <p:blipFill>
                      <a:blip r:embed="rId19"/>
                      <a:srcRect/>
                      <a:stretch>
                        <a:fillRect/>
                      </a:stretch>
                    </p:blipFill>
                    <p:spPr bwMode="auto">
                      <a:xfrm>
                        <a:off x="4642694" y="5603875"/>
                        <a:ext cx="4367213" cy="40957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20623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550" y="1125975"/>
            <a:ext cx="2782498" cy="4114800"/>
          </a:xfrm>
          <a:prstGeom prst="rect">
            <a:avLst/>
          </a:prstGeom>
          <a:solidFill>
            <a:schemeClr val="bg1"/>
          </a:solidFill>
          <a:ln>
            <a:noFill/>
          </a:ln>
          <a:effectLst/>
        </p:spPr>
      </p:pic>
      <p:sp>
        <p:nvSpPr>
          <p:cNvPr id="30" name="Title 1"/>
          <p:cNvSpPr txBox="1">
            <a:spLocks/>
          </p:cNvSpPr>
          <p:nvPr/>
        </p:nvSpPr>
        <p:spPr bwMode="auto">
          <a:xfrm>
            <a:off x="1672891" y="321905"/>
            <a:ext cx="5134731" cy="460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2400" b="1" dirty="0">
                <a:solidFill>
                  <a:srgbClr val="FF0000"/>
                </a:solidFill>
                <a:latin typeface="Arial" charset="0"/>
                <a:cs typeface="Arial" charset="0"/>
              </a:rPr>
              <a:t>Activity-composition relationship</a:t>
            </a:r>
          </a:p>
        </p:txBody>
      </p:sp>
      <p:sp>
        <p:nvSpPr>
          <p:cNvPr id="37" name="TextBox 36"/>
          <p:cNvSpPr txBox="1"/>
          <p:nvPr/>
        </p:nvSpPr>
        <p:spPr>
          <a:xfrm>
            <a:off x="2899546" y="1125975"/>
            <a:ext cx="6244454" cy="3970318"/>
          </a:xfrm>
          <a:prstGeom prst="rect">
            <a:avLst/>
          </a:prstGeom>
          <a:noFill/>
        </p:spPr>
        <p:txBody>
          <a:bodyPr wrap="square" rtlCol="0">
            <a:spAutoFit/>
          </a:bodyPr>
          <a:lstStyle/>
          <a:p>
            <a:pPr marL="342900" indent="-342900">
              <a:buFont typeface="Arial" panose="020B0604020202020204" pitchFamily="34" charset="0"/>
              <a:buChar char="•"/>
            </a:pPr>
            <a:r>
              <a:rPr lang="en-US" altLang="zh-CN" dirty="0">
                <a:solidFill>
                  <a:srgbClr val="0000FF"/>
                </a:solidFill>
                <a:latin typeface="Times New Roman" panose="02020603050405020304" pitchFamily="18" charset="0"/>
                <a:cs typeface="Times New Roman" panose="02020603050405020304" pitchFamily="18" charset="0"/>
              </a:rPr>
              <a:t>Pure solid</a:t>
            </a:r>
            <a:r>
              <a:rPr lang="en-US" altLang="zh-CN" i="1" dirty="0">
                <a:solidFill>
                  <a:srgbClr val="0000FF"/>
                </a:solidFill>
                <a:latin typeface="Times New Roman" panose="02020603050405020304" pitchFamily="18" charset="0"/>
                <a:cs typeface="Times New Roman" panose="02020603050405020304" pitchFamily="18" charset="0"/>
              </a:rPr>
              <a:t> B </a:t>
            </a:r>
            <a:r>
              <a:rPr lang="en-US" altLang="zh-CN" dirty="0">
                <a:solidFill>
                  <a:srgbClr val="0000FF"/>
                </a:solidFill>
                <a:latin typeface="Times New Roman" panose="02020603050405020304" pitchFamily="18" charset="0"/>
                <a:cs typeface="Times New Roman" panose="02020603050405020304" pitchFamily="18" charset="0"/>
              </a:rPr>
              <a:t>is chosen as the standard state</a:t>
            </a:r>
          </a:p>
          <a:p>
            <a:pPr marL="342900" indent="-34290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i="1" dirty="0" err="1">
                <a:solidFill>
                  <a:srgbClr val="C00000"/>
                </a:solidFill>
                <a:latin typeface="Times New Roman" panose="02020603050405020304" pitchFamily="18" charset="0"/>
                <a:cs typeface="Times New Roman" panose="02020603050405020304" pitchFamily="18" charset="0"/>
              </a:rPr>
              <a:t>ghij</a:t>
            </a:r>
            <a:r>
              <a:rPr lang="en-US" altLang="zh-CN" dirty="0">
                <a:latin typeface="Times New Roman" panose="02020603050405020304" pitchFamily="18" charset="0"/>
                <a:cs typeface="Times New Roman" panose="02020603050405020304" pitchFamily="18" charset="0"/>
              </a:rPr>
              <a:t> represent the </a:t>
            </a:r>
            <a:r>
              <a:rPr lang="en-US" altLang="zh-CN" dirty="0" err="1">
                <a:latin typeface="Times New Roman" panose="02020603050405020304" pitchFamily="18" charset="0"/>
                <a:cs typeface="Times New Roman" panose="02020603050405020304" pitchFamily="18" charset="0"/>
              </a:rPr>
              <a:t>a</a:t>
            </a:r>
            <a:r>
              <a:rPr lang="en-US" altLang="zh-CN" baseline="-25000" dirty="0" err="1">
                <a:latin typeface="Times New Roman" panose="02020603050405020304" pitchFamily="18" charset="0"/>
                <a:cs typeface="Times New Roman" panose="02020603050405020304" pitchFamily="18" charset="0"/>
              </a:rPr>
              <a:t>B</a:t>
            </a:r>
            <a:r>
              <a:rPr lang="en-US" altLang="zh-CN" baseline="300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 the solutions respect to solid </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gn</a:t>
            </a:r>
            <a:r>
              <a:rPr lang="en-US" altLang="zh-CN" dirty="0">
                <a:latin typeface="Times New Roman" panose="02020603050405020304" pitchFamily="18" charset="0"/>
                <a:cs typeface="Times New Roman" panose="02020603050405020304" pitchFamily="18" charset="0"/>
              </a:rPr>
              <a:t>=1</a:t>
            </a:r>
          </a:p>
          <a:p>
            <a:pPr marL="342900" indent="-34290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The line is obtained from the variation of the tangential intercepts from the curve </a:t>
            </a:r>
            <a:r>
              <a:rPr lang="en-US" altLang="zh-CN" i="1" dirty="0" err="1">
                <a:solidFill>
                  <a:srgbClr val="FF0000"/>
                </a:solidFill>
                <a:latin typeface="Times New Roman" panose="02020603050405020304" pitchFamily="18" charset="0"/>
                <a:cs typeface="Times New Roman" panose="02020603050405020304" pitchFamily="18" charset="0"/>
              </a:rPr>
              <a:t>aefb</a:t>
            </a:r>
            <a:endParaRPr lang="en-US" altLang="zh-CN" i="1" dirty="0">
              <a:solidFill>
                <a:srgbClr val="FF000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Raoult’s</a:t>
            </a:r>
            <a:r>
              <a:rPr lang="en-US" altLang="zh-CN" dirty="0">
                <a:latin typeface="Times New Roman" panose="02020603050405020304" pitchFamily="18" charset="0"/>
                <a:cs typeface="Times New Roman" panose="02020603050405020304" pitchFamily="18" charset="0"/>
              </a:rPr>
              <a:t> law is given by the </a:t>
            </a:r>
            <a:r>
              <a:rPr lang="en-US" altLang="zh-CN" dirty="0" err="1">
                <a:latin typeface="Times New Roman" panose="02020603050405020304" pitchFamily="18" charset="0"/>
                <a:cs typeface="Times New Roman" panose="02020603050405020304" pitchFamily="18" charset="0"/>
              </a:rPr>
              <a:t>jg.</a:t>
            </a: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Points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and h represents the activity of B in the coexisting liquid solution </a:t>
            </a:r>
            <a:r>
              <a:rPr lang="en-US" altLang="zh-CN" b="1" i="1" dirty="0">
                <a:solidFill>
                  <a:srgbClr val="0000FF"/>
                </a:solidFill>
                <a:latin typeface="Times New Roman" panose="02020603050405020304" pitchFamily="18" charset="0"/>
                <a:cs typeface="Times New Roman" panose="02020603050405020304" pitchFamily="18" charset="0"/>
              </a:rPr>
              <a:t>e</a:t>
            </a:r>
            <a:r>
              <a:rPr lang="en-US" altLang="zh-CN" dirty="0">
                <a:latin typeface="Times New Roman" panose="02020603050405020304" pitchFamily="18" charset="0"/>
                <a:cs typeface="Times New Roman" panose="02020603050405020304" pitchFamily="18" charset="0"/>
              </a:rPr>
              <a:t> and solid solution</a:t>
            </a:r>
            <a:r>
              <a:rPr lang="en-US" altLang="zh-CN" b="1" i="1" dirty="0">
                <a:solidFill>
                  <a:srgbClr val="0000FF"/>
                </a:solidFill>
                <a:latin typeface="Times New Roman" panose="02020603050405020304" pitchFamily="18" charset="0"/>
                <a:cs typeface="Times New Roman" panose="02020603050405020304" pitchFamily="18" charset="0"/>
              </a:rPr>
              <a:t> f</a:t>
            </a:r>
          </a:p>
          <a:p>
            <a:pPr marL="342900" indent="-34290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Point </a:t>
            </a:r>
            <a:r>
              <a:rPr lang="en-US" altLang="zh-CN" b="1" dirty="0">
                <a:solidFill>
                  <a:srgbClr val="0000FF"/>
                </a:solidFill>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 represent the activity of pure liquid B measured by the solid standard state activity scale of B.</a:t>
            </a:r>
            <a:endParaRPr lang="en-US" altLang="zh-CN" b="1" i="1" dirty="0">
              <a:solidFill>
                <a:srgbClr val="0000FF"/>
              </a:solidFill>
              <a:latin typeface="Times New Roman" panose="02020603050405020304" pitchFamily="18" charset="0"/>
              <a:cs typeface="Times New Roman" panose="02020603050405020304" pitchFamily="18" charset="0"/>
            </a:endParaRPr>
          </a:p>
        </p:txBody>
      </p:sp>
      <p:sp>
        <p:nvSpPr>
          <p:cNvPr id="22" name="任意多边形 21"/>
          <p:cNvSpPr/>
          <p:nvPr/>
        </p:nvSpPr>
        <p:spPr>
          <a:xfrm>
            <a:off x="571809" y="3321897"/>
            <a:ext cx="2019869" cy="1569492"/>
          </a:xfrm>
          <a:custGeom>
            <a:avLst/>
            <a:gdLst>
              <a:gd name="connsiteX0" fmla="*/ 2019869 w 2019869"/>
              <a:gd name="connsiteY0" fmla="*/ 0 h 1569492"/>
              <a:gd name="connsiteX1" fmla="*/ 1064525 w 2019869"/>
              <a:gd name="connsiteY1" fmla="*/ 723331 h 1569492"/>
              <a:gd name="connsiteX2" fmla="*/ 423080 w 2019869"/>
              <a:gd name="connsiteY2" fmla="*/ 709683 h 1569492"/>
              <a:gd name="connsiteX3" fmla="*/ 0 w 2019869"/>
              <a:gd name="connsiteY3" fmla="*/ 1569492 h 1569492"/>
            </a:gdLst>
            <a:ahLst/>
            <a:cxnLst>
              <a:cxn ang="0">
                <a:pos x="connsiteX0" y="connsiteY0"/>
              </a:cxn>
              <a:cxn ang="0">
                <a:pos x="connsiteX1" y="connsiteY1"/>
              </a:cxn>
              <a:cxn ang="0">
                <a:pos x="connsiteX2" y="connsiteY2"/>
              </a:cxn>
              <a:cxn ang="0">
                <a:pos x="connsiteX3" y="connsiteY3"/>
              </a:cxn>
            </a:cxnLst>
            <a:rect l="l" t="t" r="r" b="b"/>
            <a:pathLst>
              <a:path w="2019869" h="1569492">
                <a:moveTo>
                  <a:pt x="2019869" y="0"/>
                </a:moveTo>
                <a:lnTo>
                  <a:pt x="1064525" y="723331"/>
                </a:lnTo>
                <a:lnTo>
                  <a:pt x="423080" y="709683"/>
                </a:lnTo>
                <a:lnTo>
                  <a:pt x="0" y="1569492"/>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任意多边形: 形状 3">
            <a:extLst>
              <a:ext uri="{FF2B5EF4-FFF2-40B4-BE49-F238E27FC236}">
                <a16:creationId xmlns:a16="http://schemas.microsoft.com/office/drawing/2014/main" id="{BA12189E-F749-6520-558C-F82E777AA9F7}"/>
              </a:ext>
            </a:extLst>
          </p:cNvPr>
          <p:cNvSpPr/>
          <p:nvPr/>
        </p:nvSpPr>
        <p:spPr>
          <a:xfrm>
            <a:off x="512379" y="2159876"/>
            <a:ext cx="1994338" cy="466948"/>
          </a:xfrm>
          <a:custGeom>
            <a:avLst/>
            <a:gdLst>
              <a:gd name="connsiteX0" fmla="*/ 0 w 1994338"/>
              <a:gd name="connsiteY0" fmla="*/ 0 h 466948"/>
              <a:gd name="connsiteX1" fmla="*/ 165538 w 1994338"/>
              <a:gd name="connsiteY1" fmla="*/ 260131 h 466948"/>
              <a:gd name="connsiteX2" fmla="*/ 465083 w 1994338"/>
              <a:gd name="connsiteY2" fmla="*/ 386255 h 466948"/>
              <a:gd name="connsiteX3" fmla="*/ 764628 w 1994338"/>
              <a:gd name="connsiteY3" fmla="*/ 417786 h 466948"/>
              <a:gd name="connsiteX4" fmla="*/ 1182414 w 1994338"/>
              <a:gd name="connsiteY4" fmla="*/ 465083 h 466948"/>
              <a:gd name="connsiteX5" fmla="*/ 1584435 w 1994338"/>
              <a:gd name="connsiteY5" fmla="*/ 441434 h 466948"/>
              <a:gd name="connsiteX6" fmla="*/ 1852449 w 1994338"/>
              <a:gd name="connsiteY6" fmla="*/ 299545 h 466948"/>
              <a:gd name="connsiteX7" fmla="*/ 1994338 w 1994338"/>
              <a:gd name="connsiteY7" fmla="*/ 94593 h 46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4338" h="466948">
                <a:moveTo>
                  <a:pt x="0" y="0"/>
                </a:moveTo>
                <a:cubicBezTo>
                  <a:pt x="44012" y="97877"/>
                  <a:pt x="88024" y="195755"/>
                  <a:pt x="165538" y="260131"/>
                </a:cubicBezTo>
                <a:cubicBezTo>
                  <a:pt x="243052" y="324507"/>
                  <a:pt x="365235" y="359979"/>
                  <a:pt x="465083" y="386255"/>
                </a:cubicBezTo>
                <a:cubicBezTo>
                  <a:pt x="564931" y="412531"/>
                  <a:pt x="645073" y="404648"/>
                  <a:pt x="764628" y="417786"/>
                </a:cubicBezTo>
                <a:cubicBezTo>
                  <a:pt x="884183" y="430924"/>
                  <a:pt x="1045780" y="461142"/>
                  <a:pt x="1182414" y="465083"/>
                </a:cubicBezTo>
                <a:cubicBezTo>
                  <a:pt x="1319048" y="469024"/>
                  <a:pt x="1472763" y="469024"/>
                  <a:pt x="1584435" y="441434"/>
                </a:cubicBezTo>
                <a:cubicBezTo>
                  <a:pt x="1696107" y="413844"/>
                  <a:pt x="1784132" y="357352"/>
                  <a:pt x="1852449" y="299545"/>
                </a:cubicBezTo>
                <a:cubicBezTo>
                  <a:pt x="1920766" y="241738"/>
                  <a:pt x="1957552" y="168165"/>
                  <a:pt x="1994338" y="94593"/>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a:extLst>
              <a:ext uri="{FF2B5EF4-FFF2-40B4-BE49-F238E27FC236}">
                <a16:creationId xmlns:a16="http://schemas.microsoft.com/office/drawing/2014/main" id="{BF2AAEF9-8705-03EA-84E5-462E1EA31414}"/>
              </a:ext>
            </a:extLst>
          </p:cNvPr>
          <p:cNvGraphicFramePr>
            <a:graphicFrameLocks noChangeAspect="1"/>
          </p:cNvGraphicFramePr>
          <p:nvPr>
            <p:extLst>
              <p:ext uri="{D42A27DB-BD31-4B8C-83A1-F6EECF244321}">
                <p14:modId xmlns:p14="http://schemas.microsoft.com/office/powerpoint/2010/main" val="3561849123"/>
              </p:ext>
            </p:extLst>
          </p:nvPr>
        </p:nvGraphicFramePr>
        <p:xfrm>
          <a:off x="1974827" y="5454628"/>
          <a:ext cx="1849437" cy="685800"/>
        </p:xfrm>
        <a:graphic>
          <a:graphicData uri="http://schemas.openxmlformats.org/presentationml/2006/ole">
            <mc:AlternateContent xmlns:mc="http://schemas.openxmlformats.org/markup-compatibility/2006">
              <mc:Choice xmlns:v="urn:schemas-microsoft-com:vml" Requires="v">
                <p:oleObj name="Equation" r:id="rId3" imgW="1511280" imgH="558720" progId="Equation.DSMT4">
                  <p:embed/>
                </p:oleObj>
              </mc:Choice>
              <mc:Fallback>
                <p:oleObj name="Equation" r:id="rId3" imgW="1511280" imgH="558720" progId="Equation.DSMT4">
                  <p:embed/>
                  <p:pic>
                    <p:nvPicPr>
                      <p:cNvPr id="9" name="对象 8"/>
                      <p:cNvPicPr>
                        <a:picLocks noChangeAspect="1" noChangeArrowheads="1"/>
                      </p:cNvPicPr>
                      <p:nvPr/>
                    </p:nvPicPr>
                    <p:blipFill>
                      <a:blip r:embed="rId4"/>
                      <a:srcRect/>
                      <a:stretch>
                        <a:fillRect/>
                      </a:stretch>
                    </p:blipFill>
                    <p:spPr bwMode="auto">
                      <a:xfrm>
                        <a:off x="1974827" y="5454628"/>
                        <a:ext cx="1849437" cy="685800"/>
                      </a:xfrm>
                      <a:prstGeom prst="rect">
                        <a:avLst/>
                      </a:prstGeom>
                      <a:solidFill>
                        <a:schemeClr val="accent2">
                          <a:lumMod val="20000"/>
                          <a:lumOff val="80000"/>
                        </a:schemeClr>
                      </a:solidFill>
                      <a:ln>
                        <a:noFill/>
                      </a:ln>
                    </p:spPr>
                  </p:pic>
                </p:oleObj>
              </mc:Fallback>
            </mc:AlternateContent>
          </a:graphicData>
        </a:graphic>
      </p:graphicFrame>
      <p:sp>
        <p:nvSpPr>
          <p:cNvPr id="13" name="TextBox 17">
            <a:extLst>
              <a:ext uri="{FF2B5EF4-FFF2-40B4-BE49-F238E27FC236}">
                <a16:creationId xmlns:a16="http://schemas.microsoft.com/office/drawing/2014/main" id="{67664E32-84C3-0CBD-75DB-B4A6B7B44060}"/>
              </a:ext>
            </a:extLst>
          </p:cNvPr>
          <p:cNvSpPr txBox="1"/>
          <p:nvPr/>
        </p:nvSpPr>
        <p:spPr>
          <a:xfrm>
            <a:off x="4180566" y="5515098"/>
            <a:ext cx="2794355" cy="584775"/>
          </a:xfrm>
          <a:prstGeom prst="rect">
            <a:avLst/>
          </a:prstGeom>
          <a:noFill/>
        </p:spPr>
        <p:txBody>
          <a:bodyPr wrap="none" rtlCol="0">
            <a:spAutoFit/>
          </a:bodyPr>
          <a:lstStyle/>
          <a:p>
            <a:r>
              <a:rPr lang="en-US" altLang="zh-CN" sz="1600" dirty="0"/>
              <a:t>α</a:t>
            </a:r>
            <a:r>
              <a:rPr lang="en-US" altLang="zh-CN" sz="1600" baseline="-25000" dirty="0"/>
              <a:t>B(l)</a:t>
            </a:r>
            <a:r>
              <a:rPr lang="en-US" altLang="zh-CN" sz="1600" dirty="0"/>
              <a:t>: α</a:t>
            </a:r>
            <a:r>
              <a:rPr lang="en-US" altLang="zh-CN" sz="1600" baseline="-25000" dirty="0"/>
              <a:t>B </a:t>
            </a:r>
            <a:r>
              <a:rPr lang="en-US" altLang="zh-CN" sz="1600" dirty="0"/>
              <a:t>respected to liquid B</a:t>
            </a:r>
          </a:p>
          <a:p>
            <a:r>
              <a:rPr lang="en-US" altLang="zh-CN" sz="1600" dirty="0"/>
              <a:t>α</a:t>
            </a:r>
            <a:r>
              <a:rPr lang="en-US" altLang="zh-CN" sz="1600" baseline="-25000" dirty="0"/>
              <a:t>B(s)</a:t>
            </a:r>
            <a:r>
              <a:rPr lang="en-US" altLang="zh-CN" sz="1600" dirty="0"/>
              <a:t>: α</a:t>
            </a:r>
            <a:r>
              <a:rPr lang="en-US" altLang="zh-CN" sz="1600" baseline="-25000" dirty="0"/>
              <a:t>B </a:t>
            </a:r>
            <a:r>
              <a:rPr lang="en-US" altLang="zh-CN" sz="1600" dirty="0"/>
              <a:t>respected to solid B</a:t>
            </a:r>
          </a:p>
        </p:txBody>
      </p:sp>
    </p:spTree>
    <p:extLst>
      <p:ext uri="{BB962C8B-B14F-4D97-AF65-F5344CB8AC3E}">
        <p14:creationId xmlns:p14="http://schemas.microsoft.com/office/powerpoint/2010/main" val="2604443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extLst>
              <p:ext uri="{D42A27DB-BD31-4B8C-83A1-F6EECF244321}">
                <p14:modId xmlns:p14="http://schemas.microsoft.com/office/powerpoint/2010/main" val="2627630393"/>
              </p:ext>
            </p:extLst>
          </p:nvPr>
        </p:nvGraphicFramePr>
        <p:xfrm>
          <a:off x="1113858" y="1790700"/>
          <a:ext cx="1849437" cy="685800"/>
        </p:xfrm>
        <a:graphic>
          <a:graphicData uri="http://schemas.openxmlformats.org/presentationml/2006/ole">
            <mc:AlternateContent xmlns:mc="http://schemas.openxmlformats.org/markup-compatibility/2006">
              <mc:Choice xmlns:v="urn:schemas-microsoft-com:vml" Requires="v">
                <p:oleObj name="Equation" r:id="rId2" imgW="1511280" imgH="558720" progId="Equation.DSMT4">
                  <p:embed/>
                </p:oleObj>
              </mc:Choice>
              <mc:Fallback>
                <p:oleObj name="Equation" r:id="rId2" imgW="1511280" imgH="558720" progId="Equation.DSMT4">
                  <p:embed/>
                  <p:pic>
                    <p:nvPicPr>
                      <p:cNvPr id="0" name="对象 22"/>
                      <p:cNvPicPr>
                        <a:picLocks noChangeAspect="1" noChangeArrowheads="1"/>
                      </p:cNvPicPr>
                      <p:nvPr/>
                    </p:nvPicPr>
                    <p:blipFill>
                      <a:blip r:embed="rId3"/>
                      <a:srcRect/>
                      <a:stretch>
                        <a:fillRect/>
                      </a:stretch>
                    </p:blipFill>
                    <p:spPr bwMode="auto">
                      <a:xfrm>
                        <a:off x="1113858" y="1790700"/>
                        <a:ext cx="1849437" cy="685800"/>
                      </a:xfrm>
                      <a:prstGeom prst="rect">
                        <a:avLst/>
                      </a:prstGeom>
                      <a:solidFill>
                        <a:schemeClr val="accent2">
                          <a:lumMod val="20000"/>
                          <a:lumOff val="80000"/>
                        </a:schemeClr>
                      </a:solidFill>
                      <a:ln>
                        <a:noFill/>
                      </a:ln>
                    </p:spPr>
                  </p:pic>
                </p:oleObj>
              </mc:Fallback>
            </mc:AlternateContent>
          </a:graphicData>
        </a:graphic>
      </p:graphicFrame>
      <p:sp>
        <p:nvSpPr>
          <p:cNvPr id="15" name="矩形 14"/>
          <p:cNvSpPr/>
          <p:nvPr/>
        </p:nvSpPr>
        <p:spPr>
          <a:xfrm>
            <a:off x="1155028" y="129658"/>
            <a:ext cx="5054589" cy="461665"/>
          </a:xfrm>
          <a:prstGeom prst="rect">
            <a:avLst/>
          </a:prstGeom>
        </p:spPr>
        <p:txBody>
          <a:bodyPr wrap="none">
            <a:spAutoFit/>
          </a:bodyPr>
          <a:lstStyle/>
          <a:p>
            <a:r>
              <a:rPr lang="en-US" altLang="zh-CN" sz="2400" b="1" dirty="0">
                <a:solidFill>
                  <a:srgbClr val="FF0000"/>
                </a:solidFill>
                <a:latin typeface="Arial" charset="0"/>
                <a:cs typeface="Arial" charset="0"/>
              </a:rPr>
              <a:t>Activity-composition relationship</a:t>
            </a:r>
            <a:endParaRPr lang="en-US" altLang="zh-CN" sz="2400" dirty="0">
              <a:solidFill>
                <a:srgbClr val="FF0000"/>
              </a:solidFill>
            </a:endParaRPr>
          </a:p>
        </p:txBody>
      </p:sp>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0" y="87272"/>
            <a:ext cx="2647950" cy="6362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210688" y="986909"/>
            <a:ext cx="5998929" cy="646331"/>
          </a:xfrm>
          <a:prstGeom prst="rect">
            <a:avLst/>
          </a:prstGeom>
          <a:noFill/>
        </p:spPr>
        <p:txBody>
          <a:bodyPr wrap="square" rtlCol="0">
            <a:spAutoFit/>
          </a:bodyPr>
          <a:lstStyle/>
          <a:p>
            <a:r>
              <a:rPr lang="en-US" altLang="zh-CN" dirty="0"/>
              <a:t>The general relationship between the activity and partial Gibbs energy   </a:t>
            </a:r>
            <a:endParaRPr lang="zh-CN" altLang="en-US" dirty="0"/>
          </a:p>
        </p:txBody>
      </p:sp>
      <p:sp>
        <p:nvSpPr>
          <p:cNvPr id="18" name="TextBox 17"/>
          <p:cNvSpPr txBox="1"/>
          <p:nvPr/>
        </p:nvSpPr>
        <p:spPr>
          <a:xfrm>
            <a:off x="3263450" y="1790700"/>
            <a:ext cx="2794355" cy="584775"/>
          </a:xfrm>
          <a:prstGeom prst="rect">
            <a:avLst/>
          </a:prstGeom>
          <a:noFill/>
        </p:spPr>
        <p:txBody>
          <a:bodyPr wrap="none" rtlCol="0">
            <a:spAutoFit/>
          </a:bodyPr>
          <a:lstStyle/>
          <a:p>
            <a:r>
              <a:rPr lang="en-US" altLang="zh-CN" sz="1600" dirty="0"/>
              <a:t>α</a:t>
            </a:r>
            <a:r>
              <a:rPr lang="en-US" altLang="zh-CN" sz="1600" baseline="-25000" dirty="0"/>
              <a:t>B(l)</a:t>
            </a:r>
            <a:r>
              <a:rPr lang="en-US" altLang="zh-CN" sz="1600" dirty="0"/>
              <a:t>: α</a:t>
            </a:r>
            <a:r>
              <a:rPr lang="en-US" altLang="zh-CN" sz="1600" baseline="-25000" dirty="0"/>
              <a:t>B </a:t>
            </a:r>
            <a:r>
              <a:rPr lang="en-US" altLang="zh-CN" sz="1600" dirty="0"/>
              <a:t>respected to liquid B</a:t>
            </a:r>
          </a:p>
          <a:p>
            <a:r>
              <a:rPr lang="en-US" altLang="zh-CN" sz="1600" dirty="0"/>
              <a:t>α</a:t>
            </a:r>
            <a:r>
              <a:rPr lang="en-US" altLang="zh-CN" sz="1600" baseline="-25000" dirty="0"/>
              <a:t>B(s)</a:t>
            </a:r>
            <a:r>
              <a:rPr lang="en-US" altLang="zh-CN" sz="1600" dirty="0"/>
              <a:t>: α</a:t>
            </a:r>
            <a:r>
              <a:rPr lang="en-US" altLang="zh-CN" sz="1600" baseline="-25000" dirty="0"/>
              <a:t>B </a:t>
            </a:r>
            <a:r>
              <a:rPr lang="en-US" altLang="zh-CN" sz="1600" dirty="0"/>
              <a:t>respected to solid B</a:t>
            </a:r>
          </a:p>
        </p:txBody>
      </p:sp>
      <p:graphicFrame>
        <p:nvGraphicFramePr>
          <p:cNvPr id="19" name="对象 18"/>
          <p:cNvGraphicFramePr>
            <a:graphicFrameLocks noChangeAspect="1"/>
          </p:cNvGraphicFramePr>
          <p:nvPr>
            <p:extLst>
              <p:ext uri="{D42A27DB-BD31-4B8C-83A1-F6EECF244321}">
                <p14:modId xmlns:p14="http://schemas.microsoft.com/office/powerpoint/2010/main" val="2810768347"/>
              </p:ext>
            </p:extLst>
          </p:nvPr>
        </p:nvGraphicFramePr>
        <p:xfrm>
          <a:off x="339725" y="2852738"/>
          <a:ext cx="2765425" cy="1030287"/>
        </p:xfrm>
        <a:graphic>
          <a:graphicData uri="http://schemas.openxmlformats.org/presentationml/2006/ole">
            <mc:AlternateContent xmlns:mc="http://schemas.openxmlformats.org/markup-compatibility/2006">
              <mc:Choice xmlns:v="urn:schemas-microsoft-com:vml" Requires="v">
                <p:oleObj name="Equation" r:id="rId5" imgW="2260440" imgH="838080" progId="Equation.DSMT4">
                  <p:embed/>
                </p:oleObj>
              </mc:Choice>
              <mc:Fallback>
                <p:oleObj name="Equation" r:id="rId5" imgW="2260440" imgH="838080" progId="Equation.DSMT4">
                  <p:embed/>
                  <p:pic>
                    <p:nvPicPr>
                      <p:cNvPr id="0" name="对象 8"/>
                      <p:cNvPicPr>
                        <a:picLocks noChangeAspect="1" noChangeArrowheads="1"/>
                      </p:cNvPicPr>
                      <p:nvPr/>
                    </p:nvPicPr>
                    <p:blipFill>
                      <a:blip r:embed="rId6"/>
                      <a:srcRect/>
                      <a:stretch>
                        <a:fillRect/>
                      </a:stretch>
                    </p:blipFill>
                    <p:spPr bwMode="auto">
                      <a:xfrm>
                        <a:off x="339725" y="2852738"/>
                        <a:ext cx="2765425" cy="1030287"/>
                      </a:xfrm>
                      <a:prstGeom prst="rect">
                        <a:avLst/>
                      </a:prstGeom>
                      <a:solidFill>
                        <a:schemeClr val="accent6">
                          <a:lumMod val="20000"/>
                          <a:lumOff val="80000"/>
                        </a:schemeClr>
                      </a:solidFill>
                      <a:ln>
                        <a:noFill/>
                      </a:ln>
                    </p:spPr>
                  </p:pic>
                </p:oleObj>
              </mc:Fallback>
            </mc:AlternateContent>
          </a:graphicData>
        </a:graphic>
      </p:graphicFrame>
      <p:sp>
        <p:nvSpPr>
          <p:cNvPr id="21" name="TextBox 20"/>
          <p:cNvSpPr txBox="1"/>
          <p:nvPr/>
        </p:nvSpPr>
        <p:spPr>
          <a:xfrm>
            <a:off x="156419" y="5194000"/>
            <a:ext cx="3421129" cy="338554"/>
          </a:xfrm>
          <a:prstGeom prst="rect">
            <a:avLst/>
          </a:prstGeom>
          <a:noFill/>
        </p:spPr>
        <p:txBody>
          <a:bodyPr wrap="none" rtlCol="0">
            <a:spAutoFit/>
          </a:bodyPr>
          <a:lstStyle/>
          <a:p>
            <a:r>
              <a:rPr lang="en-US" altLang="zh-CN" sz="1600" dirty="0"/>
              <a:t>The formation of idea liquid solution</a:t>
            </a:r>
            <a:endParaRPr lang="zh-CN" altLang="en-US" sz="1600" dirty="0"/>
          </a:p>
        </p:txBody>
      </p:sp>
      <p:graphicFrame>
        <p:nvGraphicFramePr>
          <p:cNvPr id="22" name="对象 21"/>
          <p:cNvGraphicFramePr>
            <a:graphicFrameLocks noChangeAspect="1"/>
          </p:cNvGraphicFramePr>
          <p:nvPr>
            <p:extLst>
              <p:ext uri="{D42A27DB-BD31-4B8C-83A1-F6EECF244321}">
                <p14:modId xmlns:p14="http://schemas.microsoft.com/office/powerpoint/2010/main" val="1589287956"/>
              </p:ext>
            </p:extLst>
          </p:nvPr>
        </p:nvGraphicFramePr>
        <p:xfrm>
          <a:off x="196850" y="5619750"/>
          <a:ext cx="4310063" cy="409575"/>
        </p:xfrm>
        <a:graphic>
          <a:graphicData uri="http://schemas.openxmlformats.org/presentationml/2006/ole">
            <mc:AlternateContent xmlns:mc="http://schemas.openxmlformats.org/markup-compatibility/2006">
              <mc:Choice xmlns:v="urn:schemas-microsoft-com:vml" Requires="v">
                <p:oleObj name="Equation" r:id="rId7" imgW="3213000" imgH="304560" progId="Equation.DSMT4">
                  <p:embed/>
                </p:oleObj>
              </mc:Choice>
              <mc:Fallback>
                <p:oleObj name="Equation" r:id="rId7" imgW="3213000" imgH="304560" progId="Equation.DSMT4">
                  <p:embed/>
                  <p:pic>
                    <p:nvPicPr>
                      <p:cNvPr id="0" name=""/>
                      <p:cNvPicPr>
                        <a:picLocks noChangeAspect="1" noChangeArrowheads="1"/>
                      </p:cNvPicPr>
                      <p:nvPr/>
                    </p:nvPicPr>
                    <p:blipFill>
                      <a:blip r:embed="rId8"/>
                      <a:srcRect/>
                      <a:stretch>
                        <a:fillRect/>
                      </a:stretch>
                    </p:blipFill>
                    <p:spPr bwMode="auto">
                      <a:xfrm>
                        <a:off x="196850" y="5619750"/>
                        <a:ext cx="4310063" cy="409575"/>
                      </a:xfrm>
                      <a:prstGeom prst="rect">
                        <a:avLst/>
                      </a:prstGeom>
                      <a:noFill/>
                      <a:ln>
                        <a:noFill/>
                      </a:ln>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023083736"/>
              </p:ext>
            </p:extLst>
          </p:nvPr>
        </p:nvGraphicFramePr>
        <p:xfrm>
          <a:off x="354928" y="4092575"/>
          <a:ext cx="1600200" cy="685800"/>
        </p:xfrm>
        <a:graphic>
          <a:graphicData uri="http://schemas.openxmlformats.org/presentationml/2006/ole">
            <mc:AlternateContent xmlns:mc="http://schemas.openxmlformats.org/markup-compatibility/2006">
              <mc:Choice xmlns:v="urn:schemas-microsoft-com:vml" Requires="v">
                <p:oleObj name="Equation" r:id="rId9" imgW="1307880" imgH="558720" progId="Equation.DSMT4">
                  <p:embed/>
                </p:oleObj>
              </mc:Choice>
              <mc:Fallback>
                <p:oleObj name="Equation" r:id="rId9" imgW="1307880" imgH="558720" progId="Equation.DSMT4">
                  <p:embed/>
                  <p:pic>
                    <p:nvPicPr>
                      <p:cNvPr id="0" name="对象 18"/>
                      <p:cNvPicPr>
                        <a:picLocks noChangeAspect="1" noChangeArrowheads="1"/>
                      </p:cNvPicPr>
                      <p:nvPr/>
                    </p:nvPicPr>
                    <p:blipFill>
                      <a:blip r:embed="rId10"/>
                      <a:srcRect/>
                      <a:stretch>
                        <a:fillRect/>
                      </a:stretch>
                    </p:blipFill>
                    <p:spPr bwMode="auto">
                      <a:xfrm>
                        <a:off x="354928" y="4092575"/>
                        <a:ext cx="1600200" cy="685800"/>
                      </a:xfrm>
                      <a:prstGeom prst="rect">
                        <a:avLst/>
                      </a:prstGeom>
                      <a:solidFill>
                        <a:srgbClr val="E2F0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378442318"/>
              </p:ext>
            </p:extLst>
          </p:nvPr>
        </p:nvGraphicFramePr>
        <p:xfrm>
          <a:off x="3577548" y="4064000"/>
          <a:ext cx="1600200" cy="685800"/>
        </p:xfrm>
        <a:graphic>
          <a:graphicData uri="http://schemas.openxmlformats.org/presentationml/2006/ole">
            <mc:AlternateContent xmlns:mc="http://schemas.openxmlformats.org/markup-compatibility/2006">
              <mc:Choice xmlns:v="urn:schemas-microsoft-com:vml" Requires="v">
                <p:oleObj name="Equation" r:id="rId11" imgW="1307880" imgH="558720" progId="Equation.DSMT4">
                  <p:embed/>
                </p:oleObj>
              </mc:Choice>
              <mc:Fallback>
                <p:oleObj name="Equation" r:id="rId11" imgW="1307880" imgH="558720" progId="Equation.DSMT4">
                  <p:embed/>
                  <p:pic>
                    <p:nvPicPr>
                      <p:cNvPr id="0" name="对象 24"/>
                      <p:cNvPicPr>
                        <a:picLocks noChangeAspect="1" noChangeArrowheads="1"/>
                      </p:cNvPicPr>
                      <p:nvPr/>
                    </p:nvPicPr>
                    <p:blipFill>
                      <a:blip r:embed="rId12"/>
                      <a:srcRect/>
                      <a:stretch>
                        <a:fillRect/>
                      </a:stretch>
                    </p:blipFill>
                    <p:spPr bwMode="auto">
                      <a:xfrm>
                        <a:off x="3577548" y="4064000"/>
                        <a:ext cx="1600200" cy="685800"/>
                      </a:xfrm>
                      <a:prstGeom prst="rect">
                        <a:avLst/>
                      </a:prstGeom>
                      <a:solidFill>
                        <a:srgbClr val="E2F0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Box 26"/>
          <p:cNvSpPr txBox="1"/>
          <p:nvPr/>
        </p:nvSpPr>
        <p:spPr>
          <a:xfrm>
            <a:off x="2533650" y="4455557"/>
            <a:ext cx="941348" cy="369332"/>
          </a:xfrm>
          <a:prstGeom prst="rect">
            <a:avLst/>
          </a:prstGeom>
          <a:noFill/>
        </p:spPr>
        <p:txBody>
          <a:bodyPr wrap="none" rtlCol="0">
            <a:spAutoFit/>
          </a:bodyPr>
          <a:lstStyle/>
          <a:p>
            <a:r>
              <a:rPr lang="en-US" altLang="zh-CN" dirty="0"/>
              <a:t>Similar,</a:t>
            </a:r>
            <a:endParaRPr lang="zh-CN" altLang="en-US" dirty="0"/>
          </a:p>
        </p:txBody>
      </p:sp>
    </p:spTree>
    <p:extLst>
      <p:ext uri="{BB962C8B-B14F-4D97-AF65-F5344CB8AC3E}">
        <p14:creationId xmlns:p14="http://schemas.microsoft.com/office/powerpoint/2010/main" val="2918064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482" y="1016279"/>
            <a:ext cx="591502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167882" y="377470"/>
            <a:ext cx="5525743" cy="523220"/>
          </a:xfrm>
          <a:prstGeom prst="rect">
            <a:avLst/>
          </a:prstGeom>
          <a:noFill/>
        </p:spPr>
        <p:txBody>
          <a:bodyPr wrap="none" rtlCol="0">
            <a:spAutoFit/>
          </a:bodyPr>
          <a:lstStyle/>
          <a:p>
            <a:r>
              <a:rPr lang="en-US" altLang="zh-CN" sz="2800" dirty="0">
                <a:solidFill>
                  <a:srgbClr val="FF0000"/>
                </a:solidFill>
              </a:rPr>
              <a:t>Calculate the phase diagram of </a:t>
            </a:r>
            <a:r>
              <a:rPr lang="en-US" altLang="zh-CN" sz="2800" dirty="0" err="1">
                <a:solidFill>
                  <a:srgbClr val="FF0000"/>
                </a:solidFill>
              </a:rPr>
              <a:t>Ge</a:t>
            </a:r>
            <a:r>
              <a:rPr lang="en-US" altLang="zh-CN" sz="2800" dirty="0">
                <a:solidFill>
                  <a:srgbClr val="FF0000"/>
                </a:solidFill>
              </a:rPr>
              <a:t>-Si</a:t>
            </a:r>
            <a:endParaRPr lang="zh-CN" altLang="en-US" sz="2800" dirty="0">
              <a:solidFill>
                <a:srgbClr val="FF0000"/>
              </a:solidFill>
            </a:endParaRPr>
          </a:p>
        </p:txBody>
      </p:sp>
      <p:pic>
        <p:nvPicPr>
          <p:cNvPr id="14438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099"/>
          <a:stretch/>
        </p:blipFill>
        <p:spPr bwMode="auto">
          <a:xfrm>
            <a:off x="1335639" y="2768879"/>
            <a:ext cx="6124575" cy="3552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548757" y="2399547"/>
            <a:ext cx="786882" cy="369332"/>
          </a:xfrm>
          <a:prstGeom prst="rect">
            <a:avLst/>
          </a:prstGeom>
          <a:solidFill>
            <a:schemeClr val="accent6">
              <a:lumMod val="75000"/>
            </a:schemeClr>
          </a:solidFill>
        </p:spPr>
        <p:txBody>
          <a:bodyPr wrap="none" rtlCol="0">
            <a:spAutoFit/>
          </a:bodyPr>
          <a:lstStyle/>
          <a:p>
            <a:r>
              <a:rPr lang="en-US" altLang="zh-CN" b="1" dirty="0">
                <a:solidFill>
                  <a:schemeClr val="bg1"/>
                </a:solidFill>
              </a:rPr>
              <a:t>Given </a:t>
            </a:r>
            <a:endParaRPr lang="zh-CN" altLang="en-US" b="1" dirty="0">
              <a:solidFill>
                <a:schemeClr val="bg1"/>
              </a:solidFill>
            </a:endParaRPr>
          </a:p>
        </p:txBody>
      </p:sp>
    </p:spTree>
    <p:extLst>
      <p:ext uri="{BB962C8B-B14F-4D97-AF65-F5344CB8AC3E}">
        <p14:creationId xmlns:p14="http://schemas.microsoft.com/office/powerpoint/2010/main" val="41741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67" y="2450531"/>
            <a:ext cx="48577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91680" y="345572"/>
            <a:ext cx="5525743" cy="523220"/>
          </a:xfrm>
          <a:prstGeom prst="rect">
            <a:avLst/>
          </a:prstGeom>
          <a:noFill/>
        </p:spPr>
        <p:txBody>
          <a:bodyPr wrap="none" rtlCol="0">
            <a:spAutoFit/>
          </a:bodyPr>
          <a:lstStyle/>
          <a:p>
            <a:r>
              <a:rPr lang="en-US" altLang="zh-CN" sz="2800" dirty="0">
                <a:solidFill>
                  <a:srgbClr val="FF0000"/>
                </a:solidFill>
              </a:rPr>
              <a:t>Calculate the phase diagram of </a:t>
            </a:r>
            <a:r>
              <a:rPr lang="en-US" altLang="zh-CN" sz="2800" dirty="0" err="1">
                <a:solidFill>
                  <a:srgbClr val="FF0000"/>
                </a:solidFill>
              </a:rPr>
              <a:t>Ge</a:t>
            </a:r>
            <a:r>
              <a:rPr lang="en-US" altLang="zh-CN" sz="2800" dirty="0">
                <a:solidFill>
                  <a:srgbClr val="FF0000"/>
                </a:solidFill>
              </a:rPr>
              <a:t>-Si</a:t>
            </a:r>
            <a:endParaRPr lang="zh-CN" altLang="en-US" sz="2800" dirty="0">
              <a:solidFill>
                <a:srgbClr val="FF0000"/>
              </a:solidFill>
            </a:endParaRPr>
          </a:p>
        </p:txBody>
      </p:sp>
      <p:pic>
        <p:nvPicPr>
          <p:cNvPr id="145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4126931"/>
            <a:ext cx="5048250"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5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2310261"/>
            <a:ext cx="3733800" cy="3633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297378" y="1175802"/>
            <a:ext cx="8064582" cy="646331"/>
          </a:xfrm>
          <a:prstGeom prst="rect">
            <a:avLst/>
          </a:prstGeom>
          <a:noFill/>
        </p:spPr>
        <p:txBody>
          <a:bodyPr wrap="square">
            <a:spAutoFit/>
          </a:bodyPr>
          <a:lstStyle/>
          <a:p>
            <a:r>
              <a:rPr lang="en-US" altLang="zh-CN" b="1" dirty="0"/>
              <a:t>Calculate the phase diagram for the system assuming that the solid and liquid solutions are </a:t>
            </a:r>
            <a:r>
              <a:rPr lang="en-US" altLang="zh-CN" b="1" dirty="0" err="1"/>
              <a:t>Raoultian</a:t>
            </a:r>
            <a:r>
              <a:rPr lang="en-US" altLang="zh-CN" b="1" dirty="0"/>
              <a:t> in their behavior?</a:t>
            </a:r>
            <a:endParaRPr lang="zh-CN" altLang="en-US" b="1" dirty="0"/>
          </a:p>
        </p:txBody>
      </p:sp>
    </p:spTree>
    <p:extLst>
      <p:ext uri="{BB962C8B-B14F-4D97-AF65-F5344CB8AC3E}">
        <p14:creationId xmlns:p14="http://schemas.microsoft.com/office/powerpoint/2010/main" val="673923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7893" y="1215104"/>
            <a:ext cx="8121732" cy="646331"/>
          </a:xfrm>
          <a:prstGeom prst="rect">
            <a:avLst/>
          </a:prstGeom>
        </p:spPr>
        <p:txBody>
          <a:bodyPr wrap="square">
            <a:spAutoFit/>
          </a:bodyPr>
          <a:lstStyle/>
          <a:p>
            <a:r>
              <a:rPr lang="en-US" altLang="zh-CN" b="1" dirty="0"/>
              <a:t>Calculate the temperature at which the </a:t>
            </a:r>
            <a:r>
              <a:rPr lang="en-US" altLang="zh-CN" b="1" dirty="0" err="1"/>
              <a:t>liquidus</a:t>
            </a:r>
            <a:r>
              <a:rPr lang="en-US" altLang="zh-CN" b="1" dirty="0"/>
              <a:t> (and hence the solidus) composition exerts its maximum vapor pressure ?</a:t>
            </a:r>
            <a:endParaRPr lang="zh-CN" altLang="en-US" b="1" dirty="0"/>
          </a:p>
        </p:txBody>
      </p:sp>
      <p:sp>
        <p:nvSpPr>
          <p:cNvPr id="11" name="TextBox 10"/>
          <p:cNvSpPr txBox="1"/>
          <p:nvPr/>
        </p:nvSpPr>
        <p:spPr>
          <a:xfrm>
            <a:off x="1259632" y="384325"/>
            <a:ext cx="5525743" cy="523220"/>
          </a:xfrm>
          <a:prstGeom prst="rect">
            <a:avLst/>
          </a:prstGeom>
          <a:noFill/>
        </p:spPr>
        <p:txBody>
          <a:bodyPr wrap="none" rtlCol="0">
            <a:spAutoFit/>
          </a:bodyPr>
          <a:lstStyle/>
          <a:p>
            <a:r>
              <a:rPr lang="en-US" altLang="zh-CN" sz="2800" dirty="0">
                <a:solidFill>
                  <a:srgbClr val="FF0000"/>
                </a:solidFill>
              </a:rPr>
              <a:t>Calculate the phase diagram of </a:t>
            </a:r>
            <a:r>
              <a:rPr lang="en-US" altLang="zh-CN" sz="2800" dirty="0" err="1">
                <a:solidFill>
                  <a:srgbClr val="FF0000"/>
                </a:solidFill>
              </a:rPr>
              <a:t>Ge</a:t>
            </a:r>
            <a:r>
              <a:rPr lang="en-US" altLang="zh-CN" sz="2800" dirty="0">
                <a:solidFill>
                  <a:srgbClr val="FF0000"/>
                </a:solidFill>
              </a:rPr>
              <a:t>-Si</a:t>
            </a:r>
            <a:endParaRPr lang="zh-CN" altLang="en-US" sz="2800" dirty="0">
              <a:solidFill>
                <a:srgbClr val="FF0000"/>
              </a:solidFill>
            </a:endParaRPr>
          </a:p>
        </p:txBody>
      </p:sp>
      <p:pic>
        <p:nvPicPr>
          <p:cNvPr id="146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45624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875" y="3352800"/>
            <a:ext cx="463867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451866"/>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64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525" y="5061466"/>
            <a:ext cx="21526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3048000" y="4724400"/>
            <a:ext cx="184731" cy="369332"/>
          </a:xfrm>
          <a:prstGeom prst="rect">
            <a:avLst/>
          </a:prstGeom>
          <a:noFill/>
        </p:spPr>
        <p:txBody>
          <a:bodyPr wrap="none" rtlCol="0">
            <a:spAutoFit/>
          </a:bodyPr>
          <a:lstStyle/>
          <a:p>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3214477931"/>
              </p:ext>
            </p:extLst>
          </p:nvPr>
        </p:nvGraphicFramePr>
        <p:xfrm>
          <a:off x="3379285" y="4791868"/>
          <a:ext cx="1322387" cy="322263"/>
        </p:xfrm>
        <a:graphic>
          <a:graphicData uri="http://schemas.openxmlformats.org/presentationml/2006/ole">
            <mc:AlternateContent xmlns:mc="http://schemas.openxmlformats.org/markup-compatibility/2006">
              <mc:Choice xmlns:v="urn:schemas-microsoft-com:vml" Requires="v">
                <p:oleObj name="Equation" r:id="rId6" imgW="990360" imgH="241200" progId="Equation.DSMT4">
                  <p:embed/>
                </p:oleObj>
              </mc:Choice>
              <mc:Fallback>
                <p:oleObj name="Equation" r:id="rId6" imgW="990360" imgH="241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9285" y="4791868"/>
                        <a:ext cx="1322387" cy="322263"/>
                      </a:xfrm>
                      <a:prstGeom prst="rect">
                        <a:avLst/>
                      </a:prstGeom>
                      <a:solidFill>
                        <a:schemeClr val="accent6">
                          <a:lumMod val="60000"/>
                          <a:lumOff val="40000"/>
                        </a:schemeClr>
                      </a:solidFill>
                      <a:ln>
                        <a:noFill/>
                      </a:ln>
                    </p:spPr>
                  </p:pic>
                </p:oleObj>
              </mc:Fallback>
            </mc:AlternateContent>
          </a:graphicData>
        </a:graphic>
      </p:graphicFrame>
      <p:pic>
        <p:nvPicPr>
          <p:cNvPr id="14643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2028" y="2360717"/>
            <a:ext cx="3621972" cy="3087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右箭头 13"/>
          <p:cNvSpPr/>
          <p:nvPr/>
        </p:nvSpPr>
        <p:spPr>
          <a:xfrm>
            <a:off x="2712211" y="4909066"/>
            <a:ext cx="428153" cy="294728"/>
          </a:xfrm>
          <a:prstGeom prst="right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右箭头 19"/>
          <p:cNvSpPr/>
          <p:nvPr/>
        </p:nvSpPr>
        <p:spPr>
          <a:xfrm>
            <a:off x="4967523" y="4825778"/>
            <a:ext cx="428153" cy="294728"/>
          </a:xfrm>
          <a:prstGeom prst="right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01977040"/>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8721</TotalTime>
  <Words>1711</Words>
  <Application>Microsoft Office PowerPoint</Application>
  <PresentationFormat>全屏显示(4:3)</PresentationFormat>
  <Paragraphs>221</Paragraphs>
  <Slides>38</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9" baseType="lpstr">
      <vt:lpstr>Arial Unicode MS</vt:lpstr>
      <vt:lpstr>Helvetica Neue</vt:lpstr>
      <vt:lpstr>等线</vt:lpstr>
      <vt:lpstr>黑体</vt:lpstr>
      <vt:lpstr>Arial</vt:lpstr>
      <vt:lpstr>Calibri</vt:lpstr>
      <vt:lpstr>Sylfaen</vt:lpstr>
      <vt:lpstr>Times New Roman</vt:lpstr>
      <vt:lpstr>Wingdings</vt:lpstr>
      <vt:lpstr>Master Board</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416</cp:revision>
  <cp:lastPrinted>2019-11-27T07:06:58Z</cp:lastPrinted>
  <dcterms:created xsi:type="dcterms:W3CDTF">2019-02-07T07:31:12Z</dcterms:created>
  <dcterms:modified xsi:type="dcterms:W3CDTF">2022-12-07T06:26:44Z</dcterms:modified>
</cp:coreProperties>
</file>