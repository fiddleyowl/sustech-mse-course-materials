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256" r:id="rId2"/>
    <p:sldId id="257" r:id="rId3"/>
    <p:sldId id="315" r:id="rId4"/>
    <p:sldId id="316" r:id="rId5"/>
    <p:sldId id="317" r:id="rId6"/>
    <p:sldId id="318" r:id="rId7"/>
    <p:sldId id="319" r:id="rId8"/>
    <p:sldId id="258" r:id="rId9"/>
    <p:sldId id="261" r:id="rId10"/>
    <p:sldId id="259" r:id="rId11"/>
    <p:sldId id="326" r:id="rId12"/>
    <p:sldId id="260" r:id="rId13"/>
    <p:sldId id="361" r:id="rId14"/>
    <p:sldId id="362" r:id="rId15"/>
    <p:sldId id="263" r:id="rId16"/>
    <p:sldId id="264" r:id="rId17"/>
    <p:sldId id="267" r:id="rId18"/>
    <p:sldId id="330" r:id="rId19"/>
    <p:sldId id="266" r:id="rId20"/>
    <p:sldId id="271" r:id="rId21"/>
    <p:sldId id="283" r:id="rId22"/>
    <p:sldId id="332" r:id="rId23"/>
    <p:sldId id="343" r:id="rId24"/>
    <p:sldId id="359" r:id="rId25"/>
    <p:sldId id="363" r:id="rId26"/>
    <p:sldId id="364" r:id="rId27"/>
    <p:sldId id="365" r:id="rId28"/>
    <p:sldId id="366" r:id="rId29"/>
    <p:sldId id="367" r:id="rId30"/>
    <p:sldId id="368" r:id="rId31"/>
    <p:sldId id="351" r:id="rId32"/>
    <p:sldId id="358" r:id="rId33"/>
    <p:sldId id="333" r:id="rId34"/>
    <p:sldId id="352" r:id="rId35"/>
    <p:sldId id="354" r:id="rId36"/>
    <p:sldId id="355" r:id="rId37"/>
    <p:sldId id="341" r:id="rId38"/>
    <p:sldId id="360" r:id="rId39"/>
  </p:sldIdLst>
  <p:sldSz cx="9144000" cy="6858000" type="screen4x3"/>
  <p:notesSz cx="6669088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0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8" autoAdjust="0"/>
    <p:restoredTop sz="84087" autoAdjust="0"/>
  </p:normalViewPr>
  <p:slideViewPr>
    <p:cSldViewPr>
      <p:cViewPr varScale="1">
        <p:scale>
          <a:sx n="121" d="100"/>
          <a:sy n="121" d="100"/>
        </p:scale>
        <p:origin x="1236" y="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0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4302"/>
    </p:cViewPr>
  </p:sorterViewPr>
  <p:notesViewPr>
    <p:cSldViewPr>
      <p:cViewPr varScale="1">
        <p:scale>
          <a:sx n="77" d="100"/>
          <a:sy n="77" d="100"/>
        </p:scale>
        <p:origin x="-3108" y="-90"/>
      </p:cViewPr>
      <p:guideLst>
        <p:guide orient="horz" pos="3126"/>
        <p:guide pos="210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77825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9C1540-07B8-40F6-84A6-F26C64920C31}" type="datetimeFigureOut">
              <a:rPr lang="zh-CN" altLang="en-US" smtClean="0"/>
              <a:t>2022/9/4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8892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778250" y="9428163"/>
            <a:ext cx="28892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5D361F-E7B0-4C7C-8146-82FA76B66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23553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5DE1CE-A030-42F6-97C0-1C4EC007C0C5}" type="datetimeFigureOut">
              <a:rPr lang="zh-CN" altLang="en-US" smtClean="0"/>
              <a:t>2022/9/4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66909" y="4715153"/>
            <a:ext cx="533527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777607" y="9428583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981095-EDDE-4FA4-832D-6F17BC63E7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0762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Royal_Society_of_Sciences_in_Uppsala" TargetMode="External"/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en.wikipedia.org/wiki/Anders_Celsius" TargetMode="External"/><Relationship Id="rId4" Type="http://schemas.openxmlformats.org/officeDocument/2006/relationships/hyperlink" Target="https://en.wikipedia.org/wiki/Carl_Linnaeus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548533-9099-4785-AEC1-41A7C9214B7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275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548533-9099-4785-AEC1-41A7C9214B7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2750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981095-EDDE-4FA4-832D-6F17BC63E72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83022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548533-9099-4785-AEC1-41A7C9214B7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2750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讨论温度的测量？有哪些温度的测量方式？使用范围？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97359-BD37-41E1-AF95-71E7D52515AE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9664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proposed the Celsius temperature scale in a paper to the 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Royal Society of Sciences in Uppsala"/>
              </a:rPr>
              <a:t>Royal Society of Sciences in Uppsala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 oldest Swedish scientific society, founded in 1710. His thermometer was calibrated with a value of 100° for the freezing point of water and 0° for the boiling point. In 1745, a year after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Celsius's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death, the scale was reversed by </a:t>
            </a:r>
            <a:r>
              <a:rPr lang="en-US" altLang="zh-CN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Carl Linnaeus"/>
              </a:rPr>
              <a:t>Carl Linnaeus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to facilitate more practical measurement.</a:t>
            </a:r>
            <a:r>
              <a:rPr lang="en-US" altLang="zh-CN" sz="1200" b="0" i="0" u="none" strike="noStrike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[6]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Celsius originally called his scale centigrade derived from the Latin for "hundred steps". For years it was simply referred to as the Swedish thermometer.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97359-BD37-41E1-AF95-71E7D52515AE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145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23"/>
          <p:cNvGrpSpPr>
            <a:grpSpLocks/>
          </p:cNvGrpSpPr>
          <p:nvPr userDrawn="1"/>
        </p:nvGrpSpPr>
        <p:grpSpPr bwMode="auto">
          <a:xfrm>
            <a:off x="371475" y="-190500"/>
            <a:ext cx="1230313" cy="1358900"/>
            <a:chOff x="371610" y="-231341"/>
            <a:chExt cx="1230631" cy="1358900"/>
          </a:xfrm>
        </p:grpSpPr>
        <p:sp>
          <p:nvSpPr>
            <p:cNvPr id="7" name="同侧圆角矩形 6"/>
            <p:cNvSpPr/>
            <p:nvPr/>
          </p:nvSpPr>
          <p:spPr>
            <a:xfrm flipV="1">
              <a:off x="627264" y="-36078"/>
              <a:ext cx="719323" cy="96837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EE81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465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" name="同侧圆角矩形 7"/>
            <p:cNvSpPr/>
            <p:nvPr/>
          </p:nvSpPr>
          <p:spPr>
            <a:xfrm flipV="1">
              <a:off x="627264" y="-36078"/>
              <a:ext cx="719323" cy="96837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EE81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1465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pic>
          <p:nvPicPr>
            <p:cNvPr id="9" name="图片 29" descr="logo（背景透明）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1610" y="-231341"/>
              <a:ext cx="1230631" cy="1358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0" name="组合 7"/>
          <p:cNvGrpSpPr>
            <a:grpSpLocks/>
          </p:cNvGrpSpPr>
          <p:nvPr userDrawn="1"/>
        </p:nvGrpSpPr>
        <p:grpSpPr bwMode="auto">
          <a:xfrm>
            <a:off x="76200" y="2151063"/>
            <a:ext cx="9043988" cy="381000"/>
            <a:chOff x="76200" y="2151457"/>
            <a:chExt cx="9043988" cy="381000"/>
          </a:xfrm>
        </p:grpSpPr>
        <p:sp>
          <p:nvSpPr>
            <p:cNvPr id="11" name="圆角矩形 10"/>
            <p:cNvSpPr/>
            <p:nvPr/>
          </p:nvSpPr>
          <p:spPr>
            <a:xfrm>
              <a:off x="76200" y="2294332"/>
              <a:ext cx="1676400" cy="144462"/>
            </a:xfrm>
            <a:prstGeom prst="roundRect">
              <a:avLst>
                <a:gd name="adj" fmla="val 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1524000" y="2294332"/>
              <a:ext cx="3200400" cy="144462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4800600" y="2294332"/>
              <a:ext cx="4319588" cy="144462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4" name="圆角矩形 13"/>
            <p:cNvSpPr/>
            <p:nvPr/>
          </p:nvSpPr>
          <p:spPr>
            <a:xfrm rot="1383523">
              <a:off x="1417638" y="2151457"/>
              <a:ext cx="215900" cy="381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" name="圆角矩形 14"/>
            <p:cNvSpPr/>
            <p:nvPr/>
          </p:nvSpPr>
          <p:spPr>
            <a:xfrm rot="1383523">
              <a:off x="4616450" y="2151457"/>
              <a:ext cx="215900" cy="3810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pic>
        <p:nvPicPr>
          <p:cNvPr id="16" name="Picture 7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53" b="10274"/>
          <a:stretch>
            <a:fillRect/>
          </a:stretch>
        </p:blipFill>
        <p:spPr bwMode="auto">
          <a:xfrm>
            <a:off x="157163" y="5467350"/>
            <a:ext cx="1957387" cy="126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3"/>
          <p:cNvPicPr>
            <a:picLocks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1225" y="5478463"/>
            <a:ext cx="2124075" cy="1262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4"/>
          <p:cNvPicPr>
            <a:picLocks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4675" y="5478463"/>
            <a:ext cx="2390775" cy="1262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2"/>
          <p:cNvPicPr>
            <a:picLocks noChangeAspect="1" noChangeArrowheads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45"/>
          <a:stretch/>
        </p:blipFill>
        <p:spPr bwMode="auto">
          <a:xfrm>
            <a:off x="6846888" y="5467351"/>
            <a:ext cx="2220912" cy="1273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Picture 3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7463" y="4702719"/>
            <a:ext cx="1506537" cy="84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" name="TextBox 2"/>
          <p:cNvSpPr txBox="1">
            <a:spLocks noChangeArrowheads="1"/>
          </p:cNvSpPr>
          <p:nvPr userDrawn="1"/>
        </p:nvSpPr>
        <p:spPr bwMode="auto">
          <a:xfrm>
            <a:off x="8172400" y="5165911"/>
            <a:ext cx="781050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 baseline="-25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800" b="1" baseline="-25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800" b="1" baseline="-25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800" b="1" baseline="-25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800" b="1" baseline="-25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 baseline="-250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zh-CN" sz="900" b="0" baseline="0" dirty="0">
                <a:latin typeface="黑体" panose="02010609060101010101" pitchFamily="49" charset="-122"/>
                <a:ea typeface="黑体" panose="02010609060101010101" pitchFamily="49" charset="-122"/>
              </a:rPr>
              <a:t>Since 2016</a:t>
            </a:r>
            <a:endParaRPr lang="zh-CN" altLang="en-US" sz="900" b="0" baseline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0" y="6526213"/>
            <a:ext cx="67945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" name="组合 7"/>
          <p:cNvGrpSpPr>
            <a:grpSpLocks/>
          </p:cNvGrpSpPr>
          <p:nvPr userDrawn="1"/>
        </p:nvGrpSpPr>
        <p:grpSpPr bwMode="auto">
          <a:xfrm>
            <a:off x="73025" y="6643688"/>
            <a:ext cx="8150225" cy="144462"/>
            <a:chOff x="76199" y="2293938"/>
            <a:chExt cx="9043989" cy="144462"/>
          </a:xfrm>
        </p:grpSpPr>
        <p:sp>
          <p:nvSpPr>
            <p:cNvPr id="4" name="圆角矩形 3"/>
            <p:cNvSpPr/>
            <p:nvPr/>
          </p:nvSpPr>
          <p:spPr>
            <a:xfrm>
              <a:off x="76199" y="2293938"/>
              <a:ext cx="1250727" cy="144462"/>
            </a:xfrm>
            <a:prstGeom prst="roundRect">
              <a:avLst>
                <a:gd name="adj" fmla="val 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" name="圆角矩形 4"/>
            <p:cNvSpPr/>
            <p:nvPr/>
          </p:nvSpPr>
          <p:spPr>
            <a:xfrm>
              <a:off x="1415005" y="2293938"/>
              <a:ext cx="3310023" cy="144462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4800776" y="2293938"/>
              <a:ext cx="4319412" cy="144462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</p:grp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6213" y="-104775"/>
            <a:ext cx="854075" cy="94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3F27586-FF1C-517E-FB4A-51C2D27D1A73}"/>
              </a:ext>
            </a:extLst>
          </p:cNvPr>
          <p:cNvSpPr txBox="1"/>
          <p:nvPr userDrawn="1"/>
        </p:nvSpPr>
        <p:spPr>
          <a:xfrm>
            <a:off x="-11723" y="6379940"/>
            <a:ext cx="1021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2022 Fall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22206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23551FB5-644E-4958-A980-4C6B4A9B56E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41722" y="6645423"/>
            <a:ext cx="9045575" cy="142875"/>
            <a:chOff x="76199" y="1241003"/>
            <a:chExt cx="9044401" cy="144000"/>
          </a:xfrm>
        </p:grpSpPr>
        <p:sp>
          <p:nvSpPr>
            <p:cNvPr id="8" name="圆角矩形 11">
              <a:extLst>
                <a:ext uri="{FF2B5EF4-FFF2-40B4-BE49-F238E27FC236}">
                  <a16:creationId xmlns:a16="http://schemas.microsoft.com/office/drawing/2014/main" id="{206B57DE-B2E2-477E-A47F-DA530482154A}"/>
                </a:ext>
              </a:extLst>
            </p:cNvPr>
            <p:cNvSpPr/>
            <p:nvPr/>
          </p:nvSpPr>
          <p:spPr>
            <a:xfrm>
              <a:off x="76199" y="1241003"/>
              <a:ext cx="1487294" cy="144000"/>
            </a:xfrm>
            <a:prstGeom prst="roundRect">
              <a:avLst>
                <a:gd name="adj" fmla="val 0"/>
              </a:avLst>
            </a:prstGeom>
            <a:solidFill>
              <a:srgbClr val="C83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9" name="圆角矩形 12">
              <a:extLst>
                <a:ext uri="{FF2B5EF4-FFF2-40B4-BE49-F238E27FC236}">
                  <a16:creationId xmlns:a16="http://schemas.microsoft.com/office/drawing/2014/main" id="{38C3280C-D608-4B4D-8279-5808A7C72777}"/>
                </a:ext>
              </a:extLst>
            </p:cNvPr>
            <p:cNvSpPr/>
            <p:nvPr/>
          </p:nvSpPr>
          <p:spPr>
            <a:xfrm>
              <a:off x="1630159" y="1241003"/>
              <a:ext cx="3103160" cy="144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0" name="圆角矩形 13">
              <a:extLst>
                <a:ext uri="{FF2B5EF4-FFF2-40B4-BE49-F238E27FC236}">
                  <a16:creationId xmlns:a16="http://schemas.microsoft.com/office/drawing/2014/main" id="{43328620-830D-498B-AD47-8DBB81A79D3F}"/>
                </a:ext>
              </a:extLst>
            </p:cNvPr>
            <p:cNvSpPr/>
            <p:nvPr/>
          </p:nvSpPr>
          <p:spPr>
            <a:xfrm>
              <a:off x="4799986" y="1241003"/>
              <a:ext cx="4320614" cy="144000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11" name="图片 3">
            <a:extLst>
              <a:ext uri="{FF2B5EF4-FFF2-40B4-BE49-F238E27FC236}">
                <a16:creationId xmlns:a16="http://schemas.microsoft.com/office/drawing/2014/main" id="{B0C51A74-65A9-4F9C-9DAC-5C9B5FEFDC4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3" y="0"/>
            <a:ext cx="776287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C46ADAA-5CE7-436F-BDC5-5BE32504D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06671" y="6174558"/>
            <a:ext cx="442918" cy="396090"/>
          </a:xfrm>
        </p:spPr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094076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23551FB5-644E-4958-A980-4C6B4A9B56E7}"/>
              </a:ext>
            </a:extLst>
          </p:cNvPr>
          <p:cNvGrpSpPr>
            <a:grpSpLocks/>
          </p:cNvGrpSpPr>
          <p:nvPr/>
        </p:nvGrpSpPr>
        <p:grpSpPr bwMode="auto">
          <a:xfrm>
            <a:off x="41722" y="6645423"/>
            <a:ext cx="9045575" cy="142875"/>
            <a:chOff x="76199" y="1241003"/>
            <a:chExt cx="9044401" cy="144000"/>
          </a:xfrm>
        </p:grpSpPr>
        <p:sp>
          <p:nvSpPr>
            <p:cNvPr id="8" name="圆角矩形 11">
              <a:extLst>
                <a:ext uri="{FF2B5EF4-FFF2-40B4-BE49-F238E27FC236}">
                  <a16:creationId xmlns:a16="http://schemas.microsoft.com/office/drawing/2014/main" id="{206B57DE-B2E2-477E-A47F-DA530482154A}"/>
                </a:ext>
              </a:extLst>
            </p:cNvPr>
            <p:cNvSpPr/>
            <p:nvPr/>
          </p:nvSpPr>
          <p:spPr>
            <a:xfrm>
              <a:off x="76199" y="1241003"/>
              <a:ext cx="1487294" cy="144000"/>
            </a:xfrm>
            <a:prstGeom prst="roundRect">
              <a:avLst>
                <a:gd name="adj" fmla="val 0"/>
              </a:avLst>
            </a:prstGeom>
            <a:solidFill>
              <a:srgbClr val="C83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9" name="圆角矩形 12">
              <a:extLst>
                <a:ext uri="{FF2B5EF4-FFF2-40B4-BE49-F238E27FC236}">
                  <a16:creationId xmlns:a16="http://schemas.microsoft.com/office/drawing/2014/main" id="{38C3280C-D608-4B4D-8279-5808A7C72777}"/>
                </a:ext>
              </a:extLst>
            </p:cNvPr>
            <p:cNvSpPr/>
            <p:nvPr/>
          </p:nvSpPr>
          <p:spPr>
            <a:xfrm>
              <a:off x="1630159" y="1241003"/>
              <a:ext cx="3103160" cy="144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0" name="圆角矩形 13">
              <a:extLst>
                <a:ext uri="{FF2B5EF4-FFF2-40B4-BE49-F238E27FC236}">
                  <a16:creationId xmlns:a16="http://schemas.microsoft.com/office/drawing/2014/main" id="{43328620-830D-498B-AD47-8DBB81A79D3F}"/>
                </a:ext>
              </a:extLst>
            </p:cNvPr>
            <p:cNvSpPr/>
            <p:nvPr/>
          </p:nvSpPr>
          <p:spPr>
            <a:xfrm>
              <a:off x="4799986" y="1241003"/>
              <a:ext cx="4320614" cy="144000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11" name="图片 3">
            <a:extLst>
              <a:ext uri="{FF2B5EF4-FFF2-40B4-BE49-F238E27FC236}">
                <a16:creationId xmlns:a16="http://schemas.microsoft.com/office/drawing/2014/main" id="{B0C51A74-65A9-4F9C-9DAC-5C9B5FEFDC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3" y="0"/>
            <a:ext cx="776287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C46ADAA-5CE7-436F-BDC5-5BE32504D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06671" y="6174558"/>
            <a:ext cx="442918" cy="396090"/>
          </a:xfrm>
        </p:spPr>
        <p:txBody>
          <a:bodyPr/>
          <a:lstStyle/>
          <a:p>
            <a:r>
              <a:rPr lang="en-US" altLang="zh-CN"/>
              <a:t>2</a:t>
            </a:r>
            <a:endParaRPr lang="zh-CN" altLang="en-US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BE675BB-162D-4CCA-94D2-B314C0C6F64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41722" y="6645423"/>
            <a:ext cx="9045575" cy="142875"/>
            <a:chOff x="76199" y="1241003"/>
            <a:chExt cx="9044401" cy="144000"/>
          </a:xfrm>
        </p:grpSpPr>
        <p:sp>
          <p:nvSpPr>
            <p:cNvPr id="13" name="圆角矩形 11">
              <a:extLst>
                <a:ext uri="{FF2B5EF4-FFF2-40B4-BE49-F238E27FC236}">
                  <a16:creationId xmlns:a16="http://schemas.microsoft.com/office/drawing/2014/main" id="{8497BCD2-D048-4CC6-AA21-D749E9E85DCE}"/>
                </a:ext>
              </a:extLst>
            </p:cNvPr>
            <p:cNvSpPr/>
            <p:nvPr/>
          </p:nvSpPr>
          <p:spPr>
            <a:xfrm>
              <a:off x="76199" y="1241003"/>
              <a:ext cx="1487294" cy="144000"/>
            </a:xfrm>
            <a:prstGeom prst="roundRect">
              <a:avLst>
                <a:gd name="adj" fmla="val 0"/>
              </a:avLst>
            </a:prstGeom>
            <a:solidFill>
              <a:srgbClr val="C83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4" name="圆角矩形 12">
              <a:extLst>
                <a:ext uri="{FF2B5EF4-FFF2-40B4-BE49-F238E27FC236}">
                  <a16:creationId xmlns:a16="http://schemas.microsoft.com/office/drawing/2014/main" id="{9C83145A-9A38-4389-BA55-B2DC124C7CCE}"/>
                </a:ext>
              </a:extLst>
            </p:cNvPr>
            <p:cNvSpPr/>
            <p:nvPr/>
          </p:nvSpPr>
          <p:spPr>
            <a:xfrm>
              <a:off x="1630159" y="1241003"/>
              <a:ext cx="3103160" cy="144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5" name="圆角矩形 13">
              <a:extLst>
                <a:ext uri="{FF2B5EF4-FFF2-40B4-BE49-F238E27FC236}">
                  <a16:creationId xmlns:a16="http://schemas.microsoft.com/office/drawing/2014/main" id="{5F30C916-99CD-41F6-B9F5-44A06301974D}"/>
                </a:ext>
              </a:extLst>
            </p:cNvPr>
            <p:cNvSpPr/>
            <p:nvPr/>
          </p:nvSpPr>
          <p:spPr>
            <a:xfrm>
              <a:off x="4799986" y="1241003"/>
              <a:ext cx="4320614" cy="144000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pic>
        <p:nvPicPr>
          <p:cNvPr id="16" name="图片 3">
            <a:extLst>
              <a:ext uri="{FF2B5EF4-FFF2-40B4-BE49-F238E27FC236}">
                <a16:creationId xmlns:a16="http://schemas.microsoft.com/office/drawing/2014/main" id="{408ADF0C-ACC1-4673-9FB1-66E00A81977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3" y="0"/>
            <a:ext cx="776287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3181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liuws@sustc.edu.c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jpe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jpe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Thermodynamic_efficiency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.jpeg"/><Relationship Id="rId4" Type="http://schemas.openxmlformats.org/officeDocument/2006/relationships/hyperlink" Target="https://en.wikipedia.org/wiki/Steam_engine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27.wmf"/><Relationship Id="rId7" Type="http://schemas.openxmlformats.org/officeDocument/2006/relationships/image" Target="../media/image29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8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30.w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jpeg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0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4%BC%A4%E5%AF%92%E6%9D%82%E7%97%85%E8%AE%BA" TargetMode="External"/><Relationship Id="rId2" Type="http://schemas.openxmlformats.org/officeDocument/2006/relationships/hyperlink" Target="https://baike.baidu.com/item/%E5%BC%A0%E4%BB%B2%E6%99%AF" TargetMode="Externa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4.jpeg"/><Relationship Id="rId4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hyperlink" Target="https://baike.baidu.com/item/%E9%B8%BF%E6%B8%90" TargetMode="External"/><Relationship Id="rId7" Type="http://schemas.openxmlformats.org/officeDocument/2006/relationships/hyperlink" Target="https://baike.baidu.com/item/%E8%8C%B6%E7%A5%9E/9268636" TargetMode="Externa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baike.baidu.com/item/%E8%8C%B6%E5%9C%A3/1505879" TargetMode="External"/><Relationship Id="rId5" Type="http://schemas.openxmlformats.org/officeDocument/2006/relationships/hyperlink" Target="https://baike.baidu.com/item/%E8%8C%B6%E4%BB%99/9290581" TargetMode="External"/><Relationship Id="rId4" Type="http://schemas.openxmlformats.org/officeDocument/2006/relationships/hyperlink" Target="https://baike.baidu.com/item/%E7%AB%9F%E9%99%B5/1978870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hyperlink" Target="https://en.wikipedia.org/wiki/James_Clerk_Maxwell" TargetMode="Externa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20.png"/><Relationship Id="rId5" Type="http://schemas.openxmlformats.org/officeDocument/2006/relationships/image" Target="../media/image610.png"/><Relationship Id="rId4" Type="http://schemas.openxmlformats.org/officeDocument/2006/relationships/image" Target="../media/image60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0.png"/><Relationship Id="rId2" Type="http://schemas.openxmlformats.org/officeDocument/2006/relationships/image" Target="../media/image53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50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07544" y="1219200"/>
            <a:ext cx="5486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Lecture-01:</a:t>
            </a:r>
          </a:p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20" name="Subtitle 2"/>
          <p:cNvSpPr txBox="1">
            <a:spLocks/>
          </p:cNvSpPr>
          <p:nvPr/>
        </p:nvSpPr>
        <p:spPr>
          <a:xfrm>
            <a:off x="1752600" y="2743200"/>
            <a:ext cx="7433153" cy="20221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b="1" dirty="0" err="1">
                <a:solidFill>
                  <a:srgbClr val="0000FF"/>
                </a:solidFill>
              </a:rPr>
              <a:t>Weishu</a:t>
            </a:r>
            <a:r>
              <a:rPr lang="en-US" sz="2800" b="1" dirty="0">
                <a:solidFill>
                  <a:srgbClr val="0000FF"/>
                </a:solidFill>
              </a:rPr>
              <a:t> </a:t>
            </a:r>
            <a:r>
              <a:rPr lang="en-US" altLang="zh-CN" sz="2800" b="1" dirty="0">
                <a:solidFill>
                  <a:srgbClr val="0000FF"/>
                </a:solidFill>
              </a:rPr>
              <a:t>L</a:t>
            </a:r>
            <a:r>
              <a:rPr lang="en-US" sz="2800" b="1" dirty="0">
                <a:solidFill>
                  <a:srgbClr val="0000FF"/>
                </a:solidFill>
              </a:rPr>
              <a:t>iu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</a:rPr>
              <a:t>Department of Materials Science and Engineering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</a:rPr>
              <a:t>Southern University of Science and Technology (</a:t>
            </a:r>
            <a:r>
              <a:rPr lang="en-US" sz="1800" dirty="0" err="1">
                <a:solidFill>
                  <a:schemeClr val="tx1"/>
                </a:solidFill>
              </a:rPr>
              <a:t>SUSTec</a:t>
            </a:r>
            <a:r>
              <a:rPr lang="en-US" altLang="zh-CN" sz="1800" dirty="0" err="1">
                <a:solidFill>
                  <a:schemeClr val="tx1"/>
                </a:solidFill>
              </a:rPr>
              <a:t>h</a:t>
            </a:r>
            <a:r>
              <a:rPr lang="en-US" sz="1800" dirty="0">
                <a:solidFill>
                  <a:schemeClr val="tx1"/>
                </a:solidFill>
              </a:rPr>
              <a:t>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</a:rPr>
              <a:t>Email: </a:t>
            </a:r>
            <a:r>
              <a:rPr lang="en-US" sz="1800" dirty="0">
                <a:solidFill>
                  <a:schemeClr val="tx1"/>
                </a:solidFill>
              </a:rPr>
              <a:t>liuws@sust</a:t>
            </a:r>
            <a:r>
              <a:rPr lang="en-US" altLang="zh-CN" sz="1800" dirty="0">
                <a:solidFill>
                  <a:schemeClr val="tx1"/>
                </a:solidFill>
              </a:rPr>
              <a:t>ech</a:t>
            </a:r>
            <a:r>
              <a:rPr lang="en-US" sz="1800" dirty="0">
                <a:solidFill>
                  <a:schemeClr val="tx1"/>
                </a:solidFill>
              </a:rPr>
              <a:t>.edu.cn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</a:rPr>
              <a:t>Office: </a:t>
            </a:r>
            <a:r>
              <a:rPr lang="en-US" sz="1800" dirty="0">
                <a:solidFill>
                  <a:schemeClr val="tx1"/>
                </a:solidFill>
              </a:rPr>
              <a:t>North Tower, Rm310#</a:t>
            </a:r>
          </a:p>
        </p:txBody>
      </p:sp>
      <p:sp>
        <p:nvSpPr>
          <p:cNvPr id="5" name="矩形 4"/>
          <p:cNvSpPr/>
          <p:nvPr/>
        </p:nvSpPr>
        <p:spPr>
          <a:xfrm>
            <a:off x="1524000" y="129808"/>
            <a:ext cx="7460256" cy="5232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i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MSE 311: Thermodynamics  of Materials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B0A55C0-62CE-C68F-58EF-32E21BC4CDAB}"/>
              </a:ext>
            </a:extLst>
          </p:cNvPr>
          <p:cNvSpPr txBox="1"/>
          <p:nvPr/>
        </p:nvSpPr>
        <p:spPr>
          <a:xfrm>
            <a:off x="228600" y="1953362"/>
            <a:ext cx="1021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2022 Fall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F4E4E52-124C-2F7C-93A5-B4759DB4FE0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49" t="32802" r="17069" b="36756"/>
          <a:stretch/>
        </p:blipFill>
        <p:spPr>
          <a:xfrm>
            <a:off x="152400" y="4724400"/>
            <a:ext cx="2333297" cy="734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315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Box 138"/>
          <p:cNvSpPr txBox="1">
            <a:spLocks noChangeArrowheads="1"/>
          </p:cNvSpPr>
          <p:nvPr/>
        </p:nvSpPr>
        <p:spPr bwMode="auto">
          <a:xfrm>
            <a:off x="488737" y="2414826"/>
            <a:ext cx="8429897" cy="861774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4937125">
              <a:defRPr/>
            </a:pPr>
            <a:r>
              <a:rPr lang="en-US" altLang="zh-CN" b="1" dirty="0">
                <a:solidFill>
                  <a:srgbClr val="0000CC"/>
                </a:solidFill>
                <a:latin typeface="+mj-lt"/>
                <a:ea typeface="楷体"/>
              </a:rPr>
              <a:t>Educational Background</a:t>
            </a:r>
            <a:r>
              <a:rPr lang="zh-CN" altLang="en-US" b="1" dirty="0">
                <a:solidFill>
                  <a:srgbClr val="0000CC"/>
                </a:solidFill>
                <a:latin typeface="+mj-lt"/>
                <a:ea typeface="楷体"/>
              </a:rPr>
              <a:t>：</a:t>
            </a:r>
          </a:p>
          <a:p>
            <a:pPr marL="285750" indent="-285750" defTabSz="4937125">
              <a:buFont typeface="Wingdings" panose="05000000000000000000" pitchFamily="2" charset="2"/>
              <a:buChar char="Ø"/>
              <a:defRPr/>
            </a:pPr>
            <a:r>
              <a:rPr lang="en-US" altLang="zh-CN" sz="1600" dirty="0">
                <a:latin typeface="+mn-lt"/>
                <a:ea typeface="楷体"/>
              </a:rPr>
              <a:t>Ph.D. in MSE, University of Science and Technology Beijing (USTB), 2009</a:t>
            </a:r>
          </a:p>
          <a:p>
            <a:pPr marL="285750" indent="-285750" defTabSz="4937125">
              <a:buFont typeface="Wingdings" panose="05000000000000000000" pitchFamily="2" charset="2"/>
              <a:buChar char="Ø"/>
              <a:defRPr/>
            </a:pPr>
            <a:r>
              <a:rPr lang="en-US" altLang="zh-CN" sz="1600" dirty="0">
                <a:latin typeface="+mn-lt"/>
                <a:ea typeface="楷体"/>
              </a:rPr>
              <a:t>B.Eng. in Inorganic Materials, Chongqing University, 2003 </a:t>
            </a:r>
            <a:endParaRPr lang="en-US" altLang="zh-CN" sz="1600" dirty="0">
              <a:latin typeface="+mn-lt"/>
            </a:endParaRPr>
          </a:p>
        </p:txBody>
      </p:sp>
      <p:sp>
        <p:nvSpPr>
          <p:cNvPr id="35" name="Text Box 119"/>
          <p:cNvSpPr txBox="1">
            <a:spLocks noChangeArrowheads="1"/>
          </p:cNvSpPr>
          <p:nvPr/>
        </p:nvSpPr>
        <p:spPr bwMode="auto">
          <a:xfrm>
            <a:off x="574104" y="1066800"/>
            <a:ext cx="7845966" cy="1383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4937125">
              <a:spcBef>
                <a:spcPct val="10000"/>
              </a:spcBef>
              <a:defRPr/>
            </a:pPr>
            <a:r>
              <a:rPr lang="en-US" altLang="zh-CN" sz="2000" b="1" dirty="0" err="1">
                <a:solidFill>
                  <a:srgbClr val="0000CC"/>
                </a:solidFill>
                <a:latin typeface="+mj-lt"/>
                <a:ea typeface="楷体"/>
              </a:rPr>
              <a:t>Weishu</a:t>
            </a:r>
            <a:r>
              <a:rPr lang="en-US" altLang="zh-CN" sz="2000" b="1" dirty="0">
                <a:solidFill>
                  <a:srgbClr val="0000CC"/>
                </a:solidFill>
                <a:latin typeface="+mj-lt"/>
                <a:ea typeface="楷体"/>
              </a:rPr>
              <a:t> Liu (</a:t>
            </a:r>
            <a:r>
              <a:rPr lang="zh-CN" altLang="en-US" sz="2000" b="1" dirty="0">
                <a:solidFill>
                  <a:srgbClr val="0000CC"/>
                </a:solidFill>
                <a:latin typeface="+mj-lt"/>
                <a:ea typeface="楷体"/>
              </a:rPr>
              <a:t>刘玮书）</a:t>
            </a:r>
            <a:r>
              <a:rPr lang="en-US" altLang="zh-CN" sz="2000" b="1" dirty="0">
                <a:solidFill>
                  <a:srgbClr val="0000CC"/>
                </a:solidFill>
                <a:latin typeface="+mj-lt"/>
                <a:ea typeface="楷体"/>
              </a:rPr>
              <a:t>, Full Professor, MSE Department</a:t>
            </a:r>
          </a:p>
          <a:p>
            <a:pPr defTabSz="4937125">
              <a:spcBef>
                <a:spcPct val="10000"/>
              </a:spcBef>
              <a:defRPr/>
            </a:pPr>
            <a:endParaRPr lang="en-US" altLang="zh-CN" sz="900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楷体"/>
            </a:endParaRPr>
          </a:p>
          <a:p>
            <a:pPr>
              <a:defRPr/>
            </a:pPr>
            <a:r>
              <a:rPr lang="en-US" altLang="zh-CN" dirty="0"/>
              <a:t>Phone</a:t>
            </a:r>
            <a:r>
              <a:rPr lang="zh-CN" altLang="en-US" dirty="0"/>
              <a:t>：</a:t>
            </a:r>
            <a:r>
              <a:rPr lang="en-US" altLang="zh-CN" dirty="0"/>
              <a:t>755-88018955(O); 18211421630(C</a:t>
            </a:r>
            <a:r>
              <a:rPr lang="zh-CN" altLang="en-US" dirty="0"/>
              <a:t>）  </a:t>
            </a:r>
            <a:endParaRPr lang="en-US" altLang="zh-CN" dirty="0"/>
          </a:p>
          <a:p>
            <a:pPr>
              <a:defRPr/>
            </a:pPr>
            <a:r>
              <a:rPr lang="en-US" altLang="zh-CN" dirty="0"/>
              <a:t>Office</a:t>
            </a:r>
            <a:r>
              <a:rPr lang="zh-CN" altLang="en-US" dirty="0"/>
              <a:t>：</a:t>
            </a:r>
            <a:r>
              <a:rPr lang="en-US" altLang="zh-CN" dirty="0"/>
              <a:t>Room 310, </a:t>
            </a:r>
            <a:r>
              <a:rPr lang="en-US" altLang="zh-CN" dirty="0">
                <a:solidFill>
                  <a:srgbClr val="373737"/>
                </a:solidFill>
              </a:rPr>
              <a:t>Room 310, North Tower, </a:t>
            </a:r>
            <a:r>
              <a:rPr lang="en-US" altLang="zh-CN" dirty="0"/>
              <a:t>Email: </a:t>
            </a:r>
            <a:r>
              <a:rPr lang="en-US" altLang="zh-CN" dirty="0">
                <a:hlinkClick r:id="rId3"/>
              </a:rPr>
              <a:t>liuws@sustech.edu.cn</a:t>
            </a:r>
            <a:r>
              <a:rPr lang="en-US" altLang="zh-CN" dirty="0"/>
              <a:t> </a:t>
            </a:r>
          </a:p>
          <a:p>
            <a:pPr>
              <a:defRPr/>
            </a:pPr>
            <a:r>
              <a:rPr lang="en-US" altLang="zh-CN" dirty="0"/>
              <a:t>Website</a:t>
            </a:r>
            <a:r>
              <a:rPr lang="zh-CN" altLang="en-US" dirty="0"/>
              <a:t>：</a:t>
            </a:r>
            <a:r>
              <a:rPr lang="en-US" altLang="zh-CN" dirty="0"/>
              <a:t>http://mse.sustc.edu.cn/cn/people/detail/id/81</a:t>
            </a:r>
          </a:p>
        </p:txBody>
      </p:sp>
      <p:sp>
        <p:nvSpPr>
          <p:cNvPr id="37" name="Text Box 117"/>
          <p:cNvSpPr txBox="1">
            <a:spLocks noChangeArrowheads="1"/>
          </p:cNvSpPr>
          <p:nvPr/>
        </p:nvSpPr>
        <p:spPr bwMode="auto">
          <a:xfrm>
            <a:off x="488739" y="3257435"/>
            <a:ext cx="6902662" cy="160043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4937125">
              <a:defRPr/>
            </a:pPr>
            <a:r>
              <a:rPr lang="en-US" altLang="zh-CN" b="1" dirty="0">
                <a:solidFill>
                  <a:srgbClr val="0000CC"/>
                </a:solidFill>
                <a:ea typeface="楷体"/>
              </a:rPr>
              <a:t>Professional Experience</a:t>
            </a:r>
            <a:r>
              <a:rPr lang="zh-CN" altLang="en-US" b="1" dirty="0">
                <a:solidFill>
                  <a:srgbClr val="0000CC"/>
                </a:solidFill>
                <a:ea typeface="楷体"/>
              </a:rPr>
              <a:t>：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zh-CN" sz="1600" dirty="0">
                <a:latin typeface="+mn-lt"/>
              </a:rPr>
              <a:t>0</a:t>
            </a:r>
            <a:r>
              <a:rPr lang="en-US" altLang="zh-CN" sz="1600" dirty="0">
                <a:latin typeface="+mn-lt"/>
              </a:rPr>
              <a:t>9</a:t>
            </a:r>
            <a:r>
              <a:rPr lang="zh-CN" altLang="zh-CN" sz="1600" dirty="0">
                <a:latin typeface="+mn-lt"/>
              </a:rPr>
              <a:t>/201</a:t>
            </a:r>
            <a:r>
              <a:rPr lang="en-US" altLang="zh-CN" sz="1600" dirty="0">
                <a:latin typeface="+mn-lt"/>
              </a:rPr>
              <a:t>6</a:t>
            </a:r>
            <a:r>
              <a:rPr lang="zh-CN" altLang="zh-CN" sz="1600" dirty="0">
                <a:latin typeface="+mn-lt"/>
              </a:rPr>
              <a:t>– present: </a:t>
            </a:r>
            <a:r>
              <a:rPr lang="en-US" altLang="zh-CN" sz="1600" dirty="0">
                <a:latin typeface="+mn-lt"/>
              </a:rPr>
              <a:t>SUSTC/Dept. of MSE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dirty="0">
                <a:latin typeface="+mn-lt"/>
              </a:rPr>
              <a:t>02</a:t>
            </a:r>
            <a:r>
              <a:rPr lang="zh-CN" altLang="zh-CN" sz="1600" dirty="0">
                <a:latin typeface="+mn-lt"/>
              </a:rPr>
              <a:t>/20</a:t>
            </a:r>
            <a:r>
              <a:rPr lang="en-US" altLang="zh-CN" sz="1600" dirty="0">
                <a:latin typeface="+mn-lt"/>
              </a:rPr>
              <a:t>15</a:t>
            </a:r>
            <a:r>
              <a:rPr lang="zh-CN" altLang="zh-CN" sz="1600" dirty="0">
                <a:latin typeface="+mn-lt"/>
              </a:rPr>
              <a:t>– 0</a:t>
            </a:r>
            <a:r>
              <a:rPr lang="en-US" altLang="zh-CN" sz="1600" dirty="0">
                <a:latin typeface="+mn-lt"/>
              </a:rPr>
              <a:t>8</a:t>
            </a:r>
            <a:r>
              <a:rPr lang="zh-CN" altLang="zh-CN" sz="1600" dirty="0">
                <a:latin typeface="+mn-lt"/>
              </a:rPr>
              <a:t>/201</a:t>
            </a:r>
            <a:r>
              <a:rPr lang="en-US" altLang="zh-CN" sz="1600" dirty="0">
                <a:latin typeface="+mn-lt"/>
              </a:rPr>
              <a:t>6</a:t>
            </a:r>
            <a:r>
              <a:rPr lang="zh-CN" altLang="zh-CN" sz="1600" dirty="0">
                <a:latin typeface="+mn-lt"/>
              </a:rPr>
              <a:t>: </a:t>
            </a:r>
            <a:r>
              <a:rPr lang="en-US" altLang="zh-CN" sz="1600" dirty="0">
                <a:latin typeface="+mn-lt"/>
              </a:rPr>
              <a:t>Principal Materials Scientist</a:t>
            </a:r>
            <a:r>
              <a:rPr lang="zh-CN" altLang="zh-CN" sz="1600" dirty="0">
                <a:latin typeface="+mn-lt"/>
              </a:rPr>
              <a:t>, </a:t>
            </a:r>
            <a:r>
              <a:rPr lang="en-US" altLang="zh-CN" sz="1600" dirty="0" err="1">
                <a:latin typeface="+mn-lt"/>
              </a:rPr>
              <a:t>Sheetak</a:t>
            </a:r>
            <a:r>
              <a:rPr lang="en-US" altLang="zh-CN" sz="1600" dirty="0">
                <a:latin typeface="+mn-lt"/>
              </a:rPr>
              <a:t>. </a:t>
            </a:r>
            <a:r>
              <a:rPr lang="en-US" altLang="zh-CN" sz="1600" dirty="0" err="1">
                <a:latin typeface="+mn-lt"/>
              </a:rPr>
              <a:t>Inc</a:t>
            </a:r>
            <a:endParaRPr lang="zh-CN" altLang="zh-CN" sz="1600" dirty="0">
              <a:latin typeface="+mn-lt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dirty="0">
                <a:latin typeface="+mn-lt"/>
              </a:rPr>
              <a:t>01/2013</a:t>
            </a:r>
            <a:r>
              <a:rPr lang="zh-CN" altLang="zh-CN" sz="1600" dirty="0">
                <a:latin typeface="+mn-lt"/>
              </a:rPr>
              <a:t>– </a:t>
            </a:r>
            <a:r>
              <a:rPr lang="en-US" altLang="zh-CN" sz="1600" dirty="0">
                <a:latin typeface="+mn-lt"/>
              </a:rPr>
              <a:t>1</a:t>
            </a:r>
            <a:r>
              <a:rPr lang="zh-CN" altLang="zh-CN" sz="1600" dirty="0">
                <a:latin typeface="+mn-lt"/>
              </a:rPr>
              <a:t>/20</a:t>
            </a:r>
            <a:r>
              <a:rPr lang="en-US" altLang="zh-CN" sz="1600" dirty="0">
                <a:latin typeface="+mn-lt"/>
              </a:rPr>
              <a:t>15</a:t>
            </a:r>
            <a:r>
              <a:rPr lang="zh-CN" altLang="zh-CN" sz="1600" dirty="0">
                <a:latin typeface="+mn-lt"/>
              </a:rPr>
              <a:t>: Res</a:t>
            </a:r>
            <a:r>
              <a:rPr lang="en-US" altLang="zh-CN" sz="1600" dirty="0">
                <a:latin typeface="+mn-lt"/>
              </a:rPr>
              <a:t>. </a:t>
            </a:r>
            <a:r>
              <a:rPr lang="zh-CN" altLang="zh-CN" sz="1600" dirty="0">
                <a:latin typeface="+mn-lt"/>
              </a:rPr>
              <a:t>Assi</a:t>
            </a:r>
            <a:r>
              <a:rPr lang="en-US" altLang="zh-CN" sz="1600" dirty="0">
                <a:latin typeface="+mn-lt"/>
              </a:rPr>
              <a:t>s.</a:t>
            </a:r>
            <a:r>
              <a:rPr lang="zh-CN" altLang="zh-CN" sz="1600" dirty="0">
                <a:latin typeface="+mn-lt"/>
              </a:rPr>
              <a:t> </a:t>
            </a:r>
            <a:r>
              <a:rPr lang="en-US" altLang="zh-CN" sz="1600" dirty="0">
                <a:latin typeface="+mn-lt"/>
              </a:rPr>
              <a:t>II, University of Houston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dirty="0">
                <a:latin typeface="+mn-lt"/>
              </a:rPr>
              <a:t>12/2009-12/2012: Post Doc, Boston Collage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600" dirty="0">
                <a:latin typeface="+mn-lt"/>
              </a:rPr>
              <a:t>01/2009-11/2009: Post Doc, University of Washington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3025" y="4971871"/>
            <a:ext cx="6126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b="1" dirty="0">
                <a:solidFill>
                  <a:srgbClr val="0000FF"/>
                </a:solidFill>
              </a:rPr>
              <a:t>Teacher Assistant:</a:t>
            </a:r>
            <a:r>
              <a:rPr lang="zh-CN" altLang="en-US" b="1" dirty="0">
                <a:solidFill>
                  <a:srgbClr val="0000FF"/>
                </a:solidFill>
              </a:rPr>
              <a:t> </a:t>
            </a:r>
            <a:r>
              <a:rPr lang="en-US" altLang="zh-CN" b="1" dirty="0" err="1">
                <a:solidFill>
                  <a:srgbClr val="0000FF"/>
                </a:solidFill>
              </a:rPr>
              <a:t>Xinzhi</a:t>
            </a:r>
            <a:r>
              <a:rPr lang="en-US" altLang="zh-CN" b="1" dirty="0">
                <a:solidFill>
                  <a:srgbClr val="0000FF"/>
                </a:solidFill>
              </a:rPr>
              <a:t> Wu</a:t>
            </a:r>
          </a:p>
          <a:p>
            <a:pPr>
              <a:spcAft>
                <a:spcPts val="0"/>
              </a:spcAft>
            </a:pPr>
            <a:r>
              <a:rPr lang="en-US" altLang="zh-CN" dirty="0">
                <a:solidFill>
                  <a:srgbClr val="373737"/>
                </a:solidFill>
              </a:rPr>
              <a:t>Office</a:t>
            </a:r>
            <a:r>
              <a:rPr lang="zh-CN" altLang="en-US" dirty="0">
                <a:solidFill>
                  <a:srgbClr val="373737"/>
                </a:solidFill>
              </a:rPr>
              <a:t>：</a:t>
            </a:r>
            <a:r>
              <a:rPr lang="en-US" altLang="zh-CN" dirty="0">
                <a:solidFill>
                  <a:srgbClr val="373737"/>
                </a:solidFill>
              </a:rPr>
              <a:t>Room 335, North Tower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-33093"/>
            <a:ext cx="27765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solidFill>
                  <a:srgbClr val="FF0000"/>
                </a:solidFill>
              </a:rPr>
              <a:t>Introduction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7143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020153" y="0"/>
            <a:ext cx="39601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solidFill>
                  <a:srgbClr val="FF0000"/>
                </a:solidFill>
              </a:rPr>
              <a:t>My research version</a:t>
            </a:r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5978" y="1796084"/>
            <a:ext cx="1986222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8" descr="3-1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292"/>
          <a:stretch>
            <a:fillRect/>
          </a:stretch>
        </p:blipFill>
        <p:spPr bwMode="auto">
          <a:xfrm>
            <a:off x="228600" y="2977808"/>
            <a:ext cx="1583107" cy="1676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374" y="2611249"/>
            <a:ext cx="1591026" cy="1873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图片 16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799" y="2441712"/>
            <a:ext cx="1698625" cy="200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直接箭头连接符 13"/>
          <p:cNvCxnSpPr/>
          <p:nvPr/>
        </p:nvCxnSpPr>
        <p:spPr>
          <a:xfrm>
            <a:off x="152400" y="5458498"/>
            <a:ext cx="8839200" cy="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8885" y="4617477"/>
            <a:ext cx="17716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dirty="0"/>
              <a:t>Thermoelectric</a:t>
            </a:r>
          </a:p>
          <a:p>
            <a:pPr algn="ctr"/>
            <a:r>
              <a:rPr lang="en-US" altLang="zh-CN" sz="2000" dirty="0"/>
              <a:t>Materials</a:t>
            </a:r>
            <a:endParaRPr lang="zh-CN" altLang="en-US" sz="2000" dirty="0"/>
          </a:p>
        </p:txBody>
      </p:sp>
      <p:sp>
        <p:nvSpPr>
          <p:cNvPr id="17" name="TextBox 16"/>
          <p:cNvSpPr txBox="1"/>
          <p:nvPr/>
        </p:nvSpPr>
        <p:spPr>
          <a:xfrm>
            <a:off x="1931021" y="4644215"/>
            <a:ext cx="17716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dirty="0"/>
              <a:t>Thermoelectric</a:t>
            </a:r>
          </a:p>
          <a:p>
            <a:pPr algn="ctr"/>
            <a:r>
              <a:rPr lang="en-US" altLang="zh-CN" sz="2000" dirty="0"/>
              <a:t>Devices</a:t>
            </a:r>
            <a:endParaRPr lang="zh-CN" altLang="en-US" sz="2000" dirty="0"/>
          </a:p>
        </p:txBody>
      </p:sp>
      <p:sp>
        <p:nvSpPr>
          <p:cNvPr id="18" name="TextBox 17"/>
          <p:cNvSpPr txBox="1"/>
          <p:nvPr/>
        </p:nvSpPr>
        <p:spPr>
          <a:xfrm>
            <a:off x="4293270" y="4644214"/>
            <a:ext cx="17716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dirty="0"/>
              <a:t>Thermoelectric</a:t>
            </a:r>
          </a:p>
          <a:p>
            <a:pPr algn="ctr"/>
            <a:r>
              <a:rPr lang="en-US" altLang="zh-CN" sz="2000" dirty="0"/>
              <a:t>Mountain</a:t>
            </a:r>
            <a:endParaRPr lang="zh-CN" altLang="en-US" sz="2000" dirty="0"/>
          </a:p>
        </p:txBody>
      </p:sp>
      <p:sp>
        <p:nvSpPr>
          <p:cNvPr id="19" name="TextBox 18"/>
          <p:cNvSpPr txBox="1"/>
          <p:nvPr/>
        </p:nvSpPr>
        <p:spPr>
          <a:xfrm>
            <a:off x="6829456" y="4654208"/>
            <a:ext cx="16954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dirty="0"/>
              <a:t>Going beyond </a:t>
            </a:r>
          </a:p>
          <a:p>
            <a:pPr algn="ctr"/>
            <a:r>
              <a:rPr lang="en-US" altLang="zh-CN" sz="2000" dirty="0"/>
              <a:t>Seebeck Effect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46266" y="5665012"/>
            <a:ext cx="1301958" cy="7078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dirty="0"/>
              <a:t>PhD</a:t>
            </a:r>
          </a:p>
          <a:p>
            <a:pPr algn="ctr"/>
            <a:r>
              <a:rPr lang="en-US" altLang="zh-CN" sz="2000" dirty="0"/>
              <a:t>2003-2009</a:t>
            </a:r>
            <a:endParaRPr lang="zh-CN" altLang="en-US" sz="2000" dirty="0"/>
          </a:p>
        </p:txBody>
      </p:sp>
      <p:sp>
        <p:nvSpPr>
          <p:cNvPr id="20" name="TextBox 19"/>
          <p:cNvSpPr txBox="1"/>
          <p:nvPr/>
        </p:nvSpPr>
        <p:spPr>
          <a:xfrm>
            <a:off x="2306568" y="5665012"/>
            <a:ext cx="1301959" cy="7078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Post Doc</a:t>
            </a:r>
          </a:p>
          <a:p>
            <a:r>
              <a:rPr lang="en-US" altLang="zh-CN" sz="2000" dirty="0"/>
              <a:t>2009-2015</a:t>
            </a:r>
            <a:endParaRPr lang="zh-CN" altLang="en-US" sz="2000" dirty="0"/>
          </a:p>
        </p:txBody>
      </p:sp>
      <p:sp>
        <p:nvSpPr>
          <p:cNvPr id="21" name="TextBox 20"/>
          <p:cNvSpPr txBox="1"/>
          <p:nvPr/>
        </p:nvSpPr>
        <p:spPr>
          <a:xfrm>
            <a:off x="4724400" y="5665012"/>
            <a:ext cx="1301959" cy="7078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Industry</a:t>
            </a:r>
          </a:p>
          <a:p>
            <a:r>
              <a:rPr lang="en-US" altLang="zh-CN" sz="2000" dirty="0"/>
              <a:t>2015-2016</a:t>
            </a:r>
            <a:endParaRPr lang="zh-CN" altLang="en-US" sz="2000" dirty="0"/>
          </a:p>
        </p:txBody>
      </p:sp>
      <p:sp>
        <p:nvSpPr>
          <p:cNvPr id="22" name="TextBox 21"/>
          <p:cNvSpPr txBox="1"/>
          <p:nvPr/>
        </p:nvSpPr>
        <p:spPr>
          <a:xfrm>
            <a:off x="7231720" y="5665012"/>
            <a:ext cx="1264064" cy="70788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000" dirty="0" err="1"/>
              <a:t>SUSTech</a:t>
            </a:r>
            <a:endParaRPr lang="en-US" altLang="zh-CN" sz="2000" dirty="0"/>
          </a:p>
          <a:p>
            <a:r>
              <a:rPr lang="en-US" altLang="zh-CN" sz="2000" dirty="0"/>
              <a:t>2016-Now</a:t>
            </a:r>
            <a:endParaRPr lang="zh-CN" altLang="en-US" sz="2000" dirty="0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101" y="957884"/>
            <a:ext cx="1103099" cy="1578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矩形 2"/>
          <p:cNvSpPr/>
          <p:nvPr/>
        </p:nvSpPr>
        <p:spPr>
          <a:xfrm>
            <a:off x="448633" y="2538477"/>
            <a:ext cx="128336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/>
              <a:t>T. J. Seebeck</a:t>
            </a:r>
            <a:r>
              <a:rPr lang="en-US" altLang="zh-CN" sz="1600" dirty="0"/>
              <a:t> </a:t>
            </a:r>
            <a:endParaRPr lang="zh-CN" altLang="en-US" sz="1600" dirty="0"/>
          </a:p>
        </p:txBody>
      </p:sp>
      <p:sp>
        <p:nvSpPr>
          <p:cNvPr id="13" name="TextBox 12"/>
          <p:cNvSpPr txBox="1"/>
          <p:nvPr/>
        </p:nvSpPr>
        <p:spPr>
          <a:xfrm>
            <a:off x="1726743" y="1003288"/>
            <a:ext cx="16097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Thermoelectric</a:t>
            </a:r>
            <a:endParaRPr lang="zh-CN" altLang="en-US" dirty="0"/>
          </a:p>
          <a:p>
            <a:r>
              <a:rPr lang="en-US" altLang="zh-CN" dirty="0"/>
              <a:t>effect</a:t>
            </a:r>
            <a:endParaRPr lang="zh-CN" altLang="en-US" dirty="0"/>
          </a:p>
        </p:txBody>
      </p:sp>
      <p:cxnSp>
        <p:nvCxnSpPr>
          <p:cNvPr id="23" name="直接箭头连接符 22"/>
          <p:cNvCxnSpPr/>
          <p:nvPr/>
        </p:nvCxnSpPr>
        <p:spPr>
          <a:xfrm flipV="1">
            <a:off x="2740162" y="1491284"/>
            <a:ext cx="3355117" cy="1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618389" y="914400"/>
            <a:ext cx="1790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b="1" dirty="0" err="1">
                <a:solidFill>
                  <a:srgbClr val="FF0000"/>
                </a:solidFill>
              </a:rPr>
              <a:t>Therm</a:t>
            </a:r>
            <a:r>
              <a:rPr lang="en-US" altLang="zh-CN" dirty="0"/>
              <a:t> </a:t>
            </a:r>
            <a:r>
              <a:rPr lang="en-US" altLang="zh-CN" i="1" dirty="0"/>
              <a:t>to</a:t>
            </a:r>
            <a:r>
              <a:rPr lang="en-US" altLang="zh-CN" dirty="0"/>
              <a:t> </a:t>
            </a:r>
            <a:r>
              <a:rPr lang="en-US" altLang="zh-CN" b="1" dirty="0">
                <a:solidFill>
                  <a:srgbClr val="0000FF"/>
                </a:solidFill>
              </a:rPr>
              <a:t>electri</a:t>
            </a:r>
            <a:r>
              <a:rPr lang="en-US" altLang="zh-CN" dirty="0">
                <a:solidFill>
                  <a:srgbClr val="0000FF"/>
                </a:solidFill>
              </a:rPr>
              <a:t>c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705600" y="1262684"/>
            <a:ext cx="192552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Electrons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Electric domain</a:t>
            </a:r>
          </a:p>
          <a:p>
            <a:r>
              <a:rPr lang="en-US" altLang="zh-CN" dirty="0"/>
              <a:t>….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3995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041584" y="31531"/>
            <a:ext cx="35384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solidFill>
                  <a:srgbClr val="FF0000"/>
                </a:solidFill>
              </a:rPr>
              <a:t>My research topic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5994" y="1083053"/>
            <a:ext cx="1920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00B0F0"/>
                </a:solidFill>
              </a:rPr>
              <a:t>E-Skin for robotics</a:t>
            </a:r>
          </a:p>
        </p:txBody>
      </p:sp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3944" y="1848132"/>
            <a:ext cx="2724752" cy="1819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2834219" y="654214"/>
            <a:ext cx="34042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00B0F0"/>
                </a:solidFill>
              </a:rPr>
              <a:t> </a:t>
            </a:r>
          </a:p>
          <a:p>
            <a:pPr algn="ctr"/>
            <a:r>
              <a:rPr lang="en-US" altLang="zh-CN" b="1" dirty="0">
                <a:solidFill>
                  <a:srgbClr val="00B0F0"/>
                </a:solidFill>
              </a:rPr>
              <a:t>Thermal energy harvest from </a:t>
            </a:r>
            <a:r>
              <a:rPr lang="en-US" altLang="zh-CN" b="1" dirty="0" err="1">
                <a:solidFill>
                  <a:srgbClr val="00B0F0"/>
                </a:solidFill>
              </a:rPr>
              <a:t>envrionment</a:t>
            </a:r>
            <a:r>
              <a:rPr lang="en-US" altLang="zh-CN" b="1" dirty="0">
                <a:solidFill>
                  <a:srgbClr val="00B0F0"/>
                </a:solidFill>
              </a:rPr>
              <a:t> for </a:t>
            </a:r>
            <a:r>
              <a:rPr lang="en-US" altLang="zh-CN" b="1" dirty="0" err="1">
                <a:solidFill>
                  <a:srgbClr val="00B0F0"/>
                </a:solidFill>
              </a:rPr>
              <a:t>IoT</a:t>
            </a:r>
            <a:r>
              <a:rPr lang="en-US" altLang="zh-CN" b="1" dirty="0">
                <a:solidFill>
                  <a:srgbClr val="00B0F0"/>
                </a:solidFill>
              </a:rPr>
              <a:t> 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04129" y="1066717"/>
            <a:ext cx="2718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rgbClr val="00B0F0"/>
                </a:solidFill>
              </a:rPr>
              <a:t>Material &amp; System</a:t>
            </a: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400" y="4263406"/>
            <a:ext cx="7215600" cy="21504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00" y="4263406"/>
            <a:ext cx="3199100" cy="2132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3400" y="3899283"/>
            <a:ext cx="2249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/>
              <a:t>Pictures from internet</a:t>
            </a:r>
            <a:endParaRPr lang="zh-CN" altLang="en-US" i="1" dirty="0"/>
          </a:p>
        </p:txBody>
      </p:sp>
      <p:pic>
        <p:nvPicPr>
          <p:cNvPr id="83" name="图片 8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0730" y="1679651"/>
            <a:ext cx="2923270" cy="185951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F5DA0D2-BFB9-662F-A389-B240E90ADE3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46" y="1934726"/>
            <a:ext cx="2700308" cy="1518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301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/>
        </p:nvSpPr>
        <p:spPr>
          <a:xfrm>
            <a:off x="990595" y="35768"/>
            <a:ext cx="29972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dirty="0">
                <a:solidFill>
                  <a:srgbClr val="FF0000"/>
                </a:solidFill>
              </a:rPr>
              <a:t>Selected works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16187"/>
            <a:ext cx="3922722" cy="2209800"/>
          </a:xfrm>
          <a:prstGeom prst="rect">
            <a:avLst/>
          </a:prstGeom>
        </p:spPr>
      </p:pic>
      <p:pic>
        <p:nvPicPr>
          <p:cNvPr id="21506" name="Picture 2">
            <a:extLst>
              <a:ext uri="{FF2B5EF4-FFF2-40B4-BE49-F238E27FC236}">
                <a16:creationId xmlns:a16="http://schemas.microsoft.com/office/drawing/2014/main" id="{B6FF1016-9B0A-76C8-F64C-750367E5E7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3177" y="3686502"/>
            <a:ext cx="3877150" cy="2180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08" name="Picture 4">
            <a:extLst>
              <a:ext uri="{FF2B5EF4-FFF2-40B4-BE49-F238E27FC236}">
                <a16:creationId xmlns:a16="http://schemas.microsoft.com/office/drawing/2014/main" id="{19A4FFC4-6A9D-D8F2-7450-C195337845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124070"/>
            <a:ext cx="3928533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10" name="Picture 6">
            <a:extLst>
              <a:ext uri="{FF2B5EF4-FFF2-40B4-BE49-F238E27FC236}">
                <a16:creationId xmlns:a16="http://schemas.microsoft.com/office/drawing/2014/main" id="{44BD3849-7941-A89F-E020-A7D9CEBD0D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686502"/>
            <a:ext cx="3877150" cy="2180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3859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/>
        </p:nvSpPr>
        <p:spPr>
          <a:xfrm>
            <a:off x="49800" y="3437398"/>
            <a:ext cx="952500" cy="144000"/>
          </a:xfrm>
          <a:prstGeom prst="roundRect">
            <a:avLst>
              <a:gd name="adj" fmla="val 0"/>
            </a:avLst>
          </a:prstGeom>
          <a:solidFill>
            <a:srgbClr val="C83C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1063916" y="3437398"/>
            <a:ext cx="3643609" cy="144002"/>
          </a:xfrm>
          <a:prstGeom prst="roundRect">
            <a:avLst>
              <a:gd name="adj" fmla="val 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4774200" y="3437398"/>
            <a:ext cx="4320000" cy="144000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" name="TextBox 9"/>
          <p:cNvSpPr txBox="1"/>
          <p:nvPr/>
        </p:nvSpPr>
        <p:spPr>
          <a:xfrm>
            <a:off x="1219200" y="2602300"/>
            <a:ext cx="54886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dirty="0">
                <a:solidFill>
                  <a:srgbClr val="FF0000"/>
                </a:solidFill>
              </a:rPr>
              <a:t>What’s the thermodynamics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850" y="2165869"/>
            <a:ext cx="788400" cy="1159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0911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57583" y="1156781"/>
            <a:ext cx="802883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The term </a:t>
            </a:r>
            <a:r>
              <a:rPr lang="en-US" altLang="zh-CN" sz="2400" i="1" dirty="0">
                <a:solidFill>
                  <a:srgbClr val="00B0F0"/>
                </a:solidFill>
              </a:rPr>
              <a:t>thermodynamics</a:t>
            </a:r>
            <a:r>
              <a:rPr lang="en-US" altLang="zh-CN" sz="2400" i="1" dirty="0"/>
              <a:t> </a:t>
            </a:r>
            <a:r>
              <a:rPr lang="en-US" altLang="zh-CN" sz="2400" dirty="0"/>
              <a:t>is related to the two Greek words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sz="2400" i="1" dirty="0" err="1"/>
              <a:t>therme</a:t>
            </a:r>
            <a:r>
              <a:rPr lang="en-US" altLang="zh-CN" sz="2400" i="1" dirty="0"/>
              <a:t> </a:t>
            </a:r>
            <a:r>
              <a:rPr lang="zh-CN" altLang="en-US" sz="2400" i="1" dirty="0"/>
              <a:t>： </a:t>
            </a:r>
            <a:r>
              <a:rPr lang="en-US" altLang="zh-CN" sz="2400" dirty="0"/>
              <a:t>heat</a:t>
            </a:r>
            <a:endParaRPr lang="en-US" altLang="zh-CN" sz="2400" i="1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sz="2400" i="1" dirty="0" err="1"/>
              <a:t>dynamikos</a:t>
            </a:r>
            <a:r>
              <a:rPr lang="en-US" altLang="zh-CN" sz="2400" i="1" dirty="0"/>
              <a:t> </a:t>
            </a:r>
            <a:r>
              <a:rPr lang="zh-CN" altLang="en-US" sz="2400" i="1" dirty="0"/>
              <a:t>：</a:t>
            </a:r>
            <a:r>
              <a:rPr lang="en-US" altLang="zh-CN" sz="2400" dirty="0"/>
              <a:t>power</a:t>
            </a:r>
          </a:p>
        </p:txBody>
      </p:sp>
      <p:sp>
        <p:nvSpPr>
          <p:cNvPr id="10" name="矩形 9"/>
          <p:cNvSpPr/>
          <p:nvPr/>
        </p:nvSpPr>
        <p:spPr>
          <a:xfrm>
            <a:off x="1066800" y="152400"/>
            <a:ext cx="37433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Classic Thermodynamics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34209" y="2838271"/>
            <a:ext cx="8404991" cy="120032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400" dirty="0"/>
              <a:t>Thermodynamics is the physical science that focuses on the relationship between energy and work as well as the equilibrium states and variables of systems that are being investigated.</a:t>
            </a:r>
            <a:endParaRPr lang="zh-CN" altLang="en-US" sz="2400" dirty="0"/>
          </a:p>
        </p:txBody>
      </p:sp>
      <p:sp>
        <p:nvSpPr>
          <p:cNvPr id="12" name="矩形 11"/>
          <p:cNvSpPr/>
          <p:nvPr/>
        </p:nvSpPr>
        <p:spPr>
          <a:xfrm>
            <a:off x="304800" y="4343400"/>
            <a:ext cx="8686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Thermodynamics deals with the </a:t>
            </a:r>
            <a:r>
              <a:rPr lang="en-US" altLang="zh-CN" sz="2400" i="1" dirty="0">
                <a:solidFill>
                  <a:srgbClr val="FF0000"/>
                </a:solidFill>
              </a:rPr>
              <a:t>conservation</a:t>
            </a:r>
            <a:r>
              <a:rPr lang="en-US" altLang="zh-CN" sz="2400" i="1" dirty="0"/>
              <a:t> </a:t>
            </a:r>
            <a:r>
              <a:rPr lang="en-US" altLang="zh-CN" sz="2400" dirty="0"/>
              <a:t>of energy as well as the </a:t>
            </a:r>
            <a:r>
              <a:rPr lang="en-US" altLang="zh-CN" sz="2400" i="1" dirty="0">
                <a:solidFill>
                  <a:srgbClr val="FF0000"/>
                </a:solidFill>
              </a:rPr>
              <a:t>conversion</a:t>
            </a:r>
            <a:r>
              <a:rPr lang="en-US" altLang="zh-CN" sz="2400" i="1" dirty="0"/>
              <a:t> </a:t>
            </a:r>
            <a:r>
              <a:rPr lang="en-US" altLang="zh-CN" sz="2400" dirty="0"/>
              <a:t>of the various forms of energy into each other or into work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860720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 idx="4294967295"/>
          </p:nvPr>
        </p:nvSpPr>
        <p:spPr>
          <a:xfrm>
            <a:off x="889331" y="-76200"/>
            <a:ext cx="4408550" cy="914400"/>
          </a:xfrm>
        </p:spPr>
        <p:txBody>
          <a:bodyPr>
            <a:normAutofit/>
          </a:bodyPr>
          <a:lstStyle/>
          <a:p>
            <a:pPr algn="l"/>
            <a:r>
              <a:rPr lang="en-US" altLang="zh-CN" sz="3200" dirty="0">
                <a:solidFill>
                  <a:srgbClr val="FF0000"/>
                </a:solidFill>
              </a:rPr>
              <a:t>Classic Thermodynamics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16" name="Text Box 1029"/>
          <p:cNvSpPr txBox="1">
            <a:spLocks noChangeArrowheads="1"/>
          </p:cNvSpPr>
          <p:nvPr/>
        </p:nvSpPr>
        <p:spPr bwMode="auto">
          <a:xfrm>
            <a:off x="-5255" y="758706"/>
            <a:ext cx="8714935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 sz="2600" b="1">
                <a:solidFill>
                  <a:srgbClr val="FF0000"/>
                </a:solidFill>
                <a:latin typeface="Arial" charset="0"/>
              </a:defRPr>
            </a:lvl1pPr>
            <a:lvl2pPr marL="742950" indent="-285750" eaLnBrk="0" hangingPunct="0">
              <a:defRPr sz="2600" b="1">
                <a:solidFill>
                  <a:srgbClr val="FF0000"/>
                </a:solidFill>
                <a:latin typeface="Arial" charset="0"/>
              </a:defRPr>
            </a:lvl2pPr>
            <a:lvl3pPr marL="1143000" indent="-228600" eaLnBrk="0" hangingPunct="0">
              <a:defRPr sz="2600" b="1">
                <a:solidFill>
                  <a:srgbClr val="FF0000"/>
                </a:solidFill>
                <a:latin typeface="Arial" charset="0"/>
              </a:defRPr>
            </a:lvl3pPr>
            <a:lvl4pPr marL="1600200" indent="-228600" eaLnBrk="0" hangingPunct="0">
              <a:defRPr sz="2600" b="1">
                <a:solidFill>
                  <a:srgbClr val="FF0000"/>
                </a:solidFill>
                <a:latin typeface="Arial" charset="0"/>
              </a:defRPr>
            </a:lvl4pPr>
            <a:lvl5pPr marL="2057400" indent="-228600" eaLnBrk="0" hangingPunct="0">
              <a:defRPr sz="2600" b="1">
                <a:solidFill>
                  <a:srgbClr val="FF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FF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FF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FF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FF0000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400" b="0" dirty="0">
                <a:solidFill>
                  <a:schemeClr val="tx1"/>
                </a:solidFill>
              </a:rPr>
              <a:t> Thermodynamics developed out of a desire to increase the </a:t>
            </a:r>
            <a:r>
              <a:rPr lang="en-US" altLang="zh-CN" sz="2400" b="0" dirty="0">
                <a:solidFill>
                  <a:schemeClr val="tx1"/>
                </a:solidFill>
                <a:hlinkClick r:id="rId3" tooltip="Thermodynamic efficiency"/>
              </a:rPr>
              <a:t>efficiency</a:t>
            </a:r>
            <a:r>
              <a:rPr lang="en-US" altLang="zh-CN" sz="2400" b="0" dirty="0">
                <a:solidFill>
                  <a:schemeClr val="tx1"/>
                </a:solidFill>
              </a:rPr>
              <a:t> of early </a:t>
            </a:r>
            <a:r>
              <a:rPr lang="en-US" altLang="zh-CN" sz="2400" b="0" dirty="0">
                <a:solidFill>
                  <a:schemeClr val="tx1"/>
                </a:solidFill>
                <a:hlinkClick r:id="rId4"/>
              </a:rPr>
              <a:t>steam engines</a:t>
            </a:r>
            <a:endParaRPr lang="en-US" altLang="zh-CN" sz="2500" b="0" dirty="0">
              <a:solidFill>
                <a:schemeClr val="tx1"/>
              </a:solidFill>
              <a:ea typeface="宋体" charset="-122"/>
              <a:cs typeface="Times New Roman" pitchFamily="18" charset="0"/>
            </a:endParaRPr>
          </a:p>
        </p:txBody>
      </p:sp>
      <p:pic>
        <p:nvPicPr>
          <p:cNvPr id="1028" name="Picture 4" descr="Sadi Carnot.jpe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543" y="1752600"/>
            <a:ext cx="2021495" cy="2471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/>
        </p:nvSpPr>
        <p:spPr>
          <a:xfrm>
            <a:off x="431431" y="4583162"/>
            <a:ext cx="219771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/>
              <a:t>Nicolas L. </a:t>
            </a:r>
            <a:r>
              <a:rPr lang="en-US" altLang="zh-CN" dirty="0" err="1"/>
              <a:t>Sadi</a:t>
            </a:r>
            <a:r>
              <a:rPr lang="en-US" altLang="zh-CN" dirty="0"/>
              <a:t> Carnot</a:t>
            </a:r>
          </a:p>
          <a:p>
            <a:pPr algn="ctr"/>
            <a:r>
              <a:rPr lang="en-US" altLang="zh-CN" dirty="0"/>
              <a:t>French</a:t>
            </a:r>
          </a:p>
          <a:p>
            <a:pPr algn="ctr"/>
            <a:r>
              <a:rPr lang="en-US" altLang="zh-CN" dirty="0"/>
              <a:t>(1796-1832)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5FE73E9-C776-CFC7-AB06-839C467C79D1}"/>
              </a:ext>
            </a:extLst>
          </p:cNvPr>
          <p:cNvSpPr txBox="1"/>
          <p:nvPr/>
        </p:nvSpPr>
        <p:spPr>
          <a:xfrm>
            <a:off x="3352032" y="1589703"/>
            <a:ext cx="5334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1B1919"/>
                </a:solidFill>
                <a:effectLst/>
                <a:latin typeface="proxima-nova"/>
              </a:rPr>
              <a:t>Carnot had two key questions about heat engines he wanted to answer: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0B0F0"/>
                </a:solidFill>
                <a:effectLst/>
                <a:latin typeface="proxima-nova"/>
              </a:rPr>
              <a:t>Was the work available from a heat source unlimited?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0B0F0"/>
                </a:solidFill>
                <a:effectLst/>
                <a:latin typeface="proxima-nova"/>
              </a:rPr>
              <a:t>And can the efficiency of heat engines be improved by replacing steam with a different fluid or gas?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63C98C7-47A0-2245-D4C2-D3FAB75350E7}"/>
              </a:ext>
            </a:extLst>
          </p:cNvPr>
          <p:cNvSpPr txBox="1"/>
          <p:nvPr/>
        </p:nvSpPr>
        <p:spPr>
          <a:xfrm>
            <a:off x="3080468" y="3429000"/>
            <a:ext cx="6026695" cy="230832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b="0" i="0" dirty="0">
                <a:solidFill>
                  <a:srgbClr val="1B1919"/>
                </a:solidFill>
                <a:effectLst/>
                <a:latin typeface="proxima-nova"/>
              </a:rPr>
              <a:t>Carnot died during a cholera epidemic that swept Paris in 1832, at the age of 36. Fearing they were contaminated, many of his writings were buried with him at his funeral—very little was saved</a:t>
            </a:r>
          </a:p>
          <a:p>
            <a:endParaRPr lang="en-US" altLang="zh-CN" sz="1600" b="0" i="0" dirty="0">
              <a:solidFill>
                <a:srgbClr val="1B1919"/>
              </a:solidFill>
              <a:effectLst/>
              <a:latin typeface="proxima-nova"/>
            </a:endParaRPr>
          </a:p>
          <a:p>
            <a:r>
              <a:rPr lang="en-US" altLang="zh-CN" sz="1600" b="0" i="0" dirty="0">
                <a:solidFill>
                  <a:srgbClr val="1B1919"/>
                </a:solidFill>
                <a:effectLst/>
                <a:latin typeface="proxima-nova"/>
              </a:rPr>
              <a:t>His ideas were incorporated into the thermodynamic theories proposed by Rudolf Clausius and William Thomson in the early 1850s. </a:t>
            </a:r>
          </a:p>
          <a:p>
            <a:endParaRPr lang="en-US" altLang="zh-CN" sz="1600" b="0" i="0" dirty="0">
              <a:solidFill>
                <a:srgbClr val="1B1919"/>
              </a:solidFill>
              <a:effectLst/>
              <a:latin typeface="proxima-nova"/>
            </a:endParaRPr>
          </a:p>
          <a:p>
            <a:r>
              <a:rPr lang="en-US" altLang="zh-CN" sz="1600" b="0" i="0" dirty="0">
                <a:solidFill>
                  <a:srgbClr val="1B1919"/>
                </a:solidFill>
                <a:effectLst/>
                <a:latin typeface="proxima-nova"/>
              </a:rPr>
              <a:t>Rudolf Diesel also drew on Carnot's theories when he designed the diesel engine in 1893.</a:t>
            </a:r>
            <a:endParaRPr lang="zh-CN" altLang="en-US" sz="16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4E093DB-1891-4494-CC09-753CA0418E6D}"/>
              </a:ext>
            </a:extLst>
          </p:cNvPr>
          <p:cNvSpPr txBox="1"/>
          <p:nvPr/>
        </p:nvSpPr>
        <p:spPr>
          <a:xfrm>
            <a:off x="1530289" y="5814412"/>
            <a:ext cx="6477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i="1" dirty="0">
                <a:solidFill>
                  <a:srgbClr val="0058A0"/>
                </a:solidFill>
                <a:effectLst/>
                <a:latin typeface="proxima-nova"/>
              </a:rPr>
              <a:t>With his multiple scientific contributions… Nicolas Léonard </a:t>
            </a:r>
            <a:r>
              <a:rPr lang="en-US" altLang="zh-CN" b="1" i="1" dirty="0" err="1">
                <a:solidFill>
                  <a:srgbClr val="0058A0"/>
                </a:solidFill>
                <a:effectLst/>
                <a:latin typeface="proxima-nova"/>
              </a:rPr>
              <a:t>Sadi</a:t>
            </a:r>
            <a:r>
              <a:rPr lang="en-US" altLang="zh-CN" b="1" i="1" dirty="0">
                <a:solidFill>
                  <a:srgbClr val="0058A0"/>
                </a:solidFill>
                <a:effectLst/>
                <a:latin typeface="proxima-nova"/>
              </a:rPr>
              <a:t> Carnot is often described as the “Father of Thermodynamics.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45485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1029"/>
          <p:cNvSpPr txBox="1">
            <a:spLocks noChangeArrowheads="1"/>
          </p:cNvSpPr>
          <p:nvPr/>
        </p:nvSpPr>
        <p:spPr bwMode="auto">
          <a:xfrm>
            <a:off x="457200" y="1524000"/>
            <a:ext cx="8943534" cy="323165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defRPr sz="2600" b="1">
                <a:solidFill>
                  <a:srgbClr val="FF0000"/>
                </a:solidFill>
                <a:latin typeface="Arial" charset="0"/>
              </a:defRPr>
            </a:lvl1pPr>
            <a:lvl2pPr marL="742950" indent="-285750" eaLnBrk="0" hangingPunct="0">
              <a:defRPr sz="2600" b="1">
                <a:solidFill>
                  <a:srgbClr val="FF0000"/>
                </a:solidFill>
                <a:latin typeface="Arial" charset="0"/>
              </a:defRPr>
            </a:lvl2pPr>
            <a:lvl3pPr marL="1143000" indent="-228600" eaLnBrk="0" hangingPunct="0">
              <a:defRPr sz="2600" b="1">
                <a:solidFill>
                  <a:srgbClr val="FF0000"/>
                </a:solidFill>
                <a:latin typeface="Arial" charset="0"/>
              </a:defRPr>
            </a:lvl3pPr>
            <a:lvl4pPr marL="1600200" indent="-228600" eaLnBrk="0" hangingPunct="0">
              <a:defRPr sz="2600" b="1">
                <a:solidFill>
                  <a:srgbClr val="FF0000"/>
                </a:solidFill>
                <a:latin typeface="Arial" charset="0"/>
              </a:defRPr>
            </a:lvl4pPr>
            <a:lvl5pPr marL="2057400" indent="-228600" eaLnBrk="0" hangingPunct="0">
              <a:defRPr sz="2600" b="1">
                <a:solidFill>
                  <a:srgbClr val="FF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FF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FF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FF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FF0000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0" dirty="0">
                <a:solidFill>
                  <a:srgbClr val="0000FF"/>
                </a:solidFill>
              </a:rPr>
              <a:t>Thermodynamics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400" b="0" dirty="0">
                <a:solidFill>
                  <a:schemeClr val="tx1"/>
                </a:solidFill>
              </a:rPr>
              <a:t>It is not only about the Engine, but almost everything !!!</a:t>
            </a:r>
          </a:p>
          <a:p>
            <a:pPr marL="342900" indent="-342900" eaLnBrk="1" hangingPunct="1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en-US" altLang="zh-CN" sz="2400" b="0" dirty="0">
                <a:solidFill>
                  <a:schemeClr val="tx1"/>
                </a:solidFill>
              </a:rPr>
              <a:t>it is about the energy and its transforms</a:t>
            </a:r>
          </a:p>
          <a:p>
            <a:pPr marL="342900" indent="-342900" eaLnBrk="1" hangingPunct="1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en-US" altLang="zh-CN" sz="2400" b="0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it is concerned with the behavior of matter</a:t>
            </a:r>
          </a:p>
          <a:p>
            <a:pPr marL="342900" indent="-342900" eaLnBrk="1" hangingPunct="1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en-US" altLang="zh-CN" sz="2400" b="0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 it  is the science of the impossible</a:t>
            </a:r>
          </a:p>
          <a:p>
            <a:pPr marL="342900" indent="-342900" eaLnBrk="1" hangingPunct="1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en-US" altLang="zh-CN" sz="2400" b="0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it is only concerned with large scale observations</a:t>
            </a:r>
          </a:p>
        </p:txBody>
      </p:sp>
      <p:sp>
        <p:nvSpPr>
          <p:cNvPr id="15" name="矩形 14"/>
          <p:cNvSpPr/>
          <p:nvPr/>
        </p:nvSpPr>
        <p:spPr>
          <a:xfrm>
            <a:off x="1066800" y="304800"/>
            <a:ext cx="37433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Classic Thermodynamics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6470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2"/>
          <p:cNvSpPr>
            <a:spLocks noGrp="1"/>
          </p:cNvSpPr>
          <p:nvPr>
            <p:ph type="title" idx="4294967295"/>
          </p:nvPr>
        </p:nvSpPr>
        <p:spPr>
          <a:xfrm>
            <a:off x="893620" y="-1"/>
            <a:ext cx="4592780" cy="762001"/>
          </a:xfrm>
        </p:spPr>
        <p:txBody>
          <a:bodyPr>
            <a:normAutofit/>
          </a:bodyPr>
          <a:lstStyle/>
          <a:p>
            <a:pPr algn="l"/>
            <a:r>
              <a:rPr lang="en-US" altLang="zh-CN" sz="3200" dirty="0">
                <a:solidFill>
                  <a:srgbClr val="FF0000"/>
                </a:solidFill>
              </a:rPr>
              <a:t>Laws of Thermodynamics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97358" y="1033284"/>
            <a:ext cx="78754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en-US" altLang="zh-CN" sz="2400" dirty="0" err="1">
                <a:solidFill>
                  <a:srgbClr val="0000FF"/>
                </a:solidFill>
              </a:rPr>
              <a:t>Zeroth</a:t>
            </a:r>
            <a:r>
              <a:rPr lang="zh-CN" altLang="en-US" sz="2400" dirty="0">
                <a:solidFill>
                  <a:srgbClr val="0000FF"/>
                </a:solidFill>
              </a:rPr>
              <a:t> </a:t>
            </a:r>
            <a:r>
              <a:rPr lang="en-US" altLang="zh-CN" sz="2400" dirty="0">
                <a:solidFill>
                  <a:srgbClr val="0000FF"/>
                </a:solidFill>
              </a:rPr>
              <a:t>Law of thermodynamics:</a:t>
            </a:r>
          </a:p>
          <a:p>
            <a:r>
              <a:rPr lang="en-US" altLang="zh-CN" sz="2400" dirty="0"/>
              <a:t>     </a:t>
            </a:r>
            <a:r>
              <a:rPr lang="en-US" altLang="zh-CN" sz="2400" i="1" dirty="0"/>
              <a:t>If two systems are each in thermal equilibrium with a third, they are also in thermal equilibrium with each other.</a:t>
            </a:r>
            <a:endParaRPr lang="zh-CN" alt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544718" y="2476619"/>
            <a:ext cx="67649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en-US" altLang="zh-CN" sz="2400" dirty="0">
                <a:solidFill>
                  <a:srgbClr val="0000FF"/>
                </a:solidFill>
              </a:rPr>
              <a:t>First</a:t>
            </a:r>
            <a:r>
              <a:rPr lang="zh-CN" altLang="en-US" sz="2400" dirty="0">
                <a:solidFill>
                  <a:srgbClr val="0000FF"/>
                </a:solidFill>
              </a:rPr>
              <a:t> </a:t>
            </a:r>
            <a:r>
              <a:rPr lang="en-US" altLang="zh-CN" sz="2400" dirty="0">
                <a:solidFill>
                  <a:srgbClr val="0000FF"/>
                </a:solidFill>
              </a:rPr>
              <a:t>Law of thermodynamics</a:t>
            </a:r>
          </a:p>
          <a:p>
            <a:r>
              <a:rPr lang="en-US" altLang="zh-CN" sz="2400" dirty="0"/>
              <a:t> </a:t>
            </a:r>
            <a:r>
              <a:rPr lang="en-US" altLang="zh-CN" sz="2400" i="1" dirty="0"/>
              <a:t>The internal energy of an isolated system is constant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9329" y="3429000"/>
            <a:ext cx="798507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en-US" altLang="zh-CN" sz="2400" dirty="0">
                <a:solidFill>
                  <a:srgbClr val="0000FF"/>
                </a:solidFill>
              </a:rPr>
              <a:t>Second</a:t>
            </a:r>
            <a:r>
              <a:rPr lang="zh-CN" altLang="en-US" sz="2400" dirty="0">
                <a:solidFill>
                  <a:srgbClr val="0000FF"/>
                </a:solidFill>
              </a:rPr>
              <a:t> </a:t>
            </a:r>
            <a:r>
              <a:rPr lang="en-US" altLang="zh-CN" sz="2400" dirty="0">
                <a:solidFill>
                  <a:srgbClr val="0000FF"/>
                </a:solidFill>
              </a:rPr>
              <a:t>Law of thermodynamics </a:t>
            </a:r>
          </a:p>
          <a:p>
            <a:r>
              <a:rPr lang="en-US" altLang="zh-CN" sz="2800" dirty="0"/>
              <a:t> </a:t>
            </a:r>
            <a:r>
              <a:rPr lang="en-US" altLang="zh-CN" sz="2400" i="1" dirty="0"/>
              <a:t>Heat cannot spontaneously flow from a colder location to a hotter location</a:t>
            </a:r>
            <a:endParaRPr lang="en-US" altLang="zh-CN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533400" y="4800600"/>
            <a:ext cx="7839407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en-US" altLang="zh-CN" sz="2400" dirty="0">
                <a:solidFill>
                  <a:srgbClr val="0000FF"/>
                </a:solidFill>
              </a:rPr>
              <a:t>Third</a:t>
            </a:r>
            <a:r>
              <a:rPr lang="zh-CN" altLang="en-US" sz="2400" dirty="0">
                <a:solidFill>
                  <a:srgbClr val="0000FF"/>
                </a:solidFill>
              </a:rPr>
              <a:t> </a:t>
            </a:r>
            <a:r>
              <a:rPr lang="en-US" altLang="zh-CN" sz="2400" dirty="0">
                <a:solidFill>
                  <a:srgbClr val="0000FF"/>
                </a:solidFill>
              </a:rPr>
              <a:t>Law of thermodynamics </a:t>
            </a:r>
          </a:p>
          <a:p>
            <a:r>
              <a:rPr lang="en-US" altLang="zh-CN" sz="2800" dirty="0"/>
              <a:t> </a:t>
            </a:r>
            <a:r>
              <a:rPr lang="en-US" altLang="zh-CN" sz="2400" i="1" dirty="0"/>
              <a:t>As a system approaches absolute zero, all processes cease and the entropy of the system approaches a minimum value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924399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2"/>
          <p:cNvSpPr>
            <a:spLocks noGrp="1"/>
          </p:cNvSpPr>
          <p:nvPr>
            <p:ph type="title" idx="4294967295"/>
          </p:nvPr>
        </p:nvSpPr>
        <p:spPr>
          <a:xfrm>
            <a:off x="990600" y="0"/>
            <a:ext cx="2209800" cy="685800"/>
          </a:xfrm>
        </p:spPr>
        <p:txBody>
          <a:bodyPr>
            <a:normAutofit/>
          </a:bodyPr>
          <a:lstStyle/>
          <a:p>
            <a:pPr algn="l"/>
            <a:r>
              <a:rPr lang="en-US" altLang="zh-CN" sz="3200" dirty="0">
                <a:solidFill>
                  <a:srgbClr val="FF0000"/>
                </a:solidFill>
              </a:rPr>
              <a:t>Application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3327" y="1179731"/>
            <a:ext cx="41453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The conservation of energy</a:t>
            </a:r>
            <a:endParaRPr lang="zh-CN" altLang="en-US" sz="2800" dirty="0"/>
          </a:p>
        </p:txBody>
      </p:sp>
      <p:sp>
        <p:nvSpPr>
          <p:cNvPr id="10" name="TextBox 9"/>
          <p:cNvSpPr txBox="1"/>
          <p:nvPr/>
        </p:nvSpPr>
        <p:spPr>
          <a:xfrm>
            <a:off x="414232" y="2627531"/>
            <a:ext cx="36235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The increase of entropy</a:t>
            </a:r>
            <a:endParaRPr lang="zh-CN" altLang="en-US" sz="2800" dirty="0"/>
          </a:p>
        </p:txBody>
      </p:sp>
      <p:sp>
        <p:nvSpPr>
          <p:cNvPr id="11" name="十字形 10"/>
          <p:cNvSpPr/>
          <p:nvPr/>
        </p:nvSpPr>
        <p:spPr>
          <a:xfrm>
            <a:off x="1661560" y="1668462"/>
            <a:ext cx="914400" cy="914400"/>
          </a:xfrm>
          <a:prstGeom prst="plus">
            <a:avLst>
              <a:gd name="adj" fmla="val 35937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5063069" y="1258641"/>
            <a:ext cx="33960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/>
              <a:t>The limit of efficiency</a:t>
            </a:r>
            <a:endParaRPr lang="zh-CN" altLang="en-US" sz="2800" b="1" dirty="0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4086573"/>
              </p:ext>
            </p:extLst>
          </p:nvPr>
        </p:nvGraphicFramePr>
        <p:xfrm>
          <a:off x="7361020" y="2170331"/>
          <a:ext cx="1322294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49160" imgH="431640" progId="Equation.DSMT4">
                  <p:embed/>
                </p:oleObj>
              </mc:Choice>
              <mc:Fallback>
                <p:oleObj name="Equation" r:id="rId2" imgW="7491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361020" y="2170331"/>
                        <a:ext cx="1322294" cy="76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圆角矩形 17"/>
          <p:cNvSpPr/>
          <p:nvPr/>
        </p:nvSpPr>
        <p:spPr>
          <a:xfrm>
            <a:off x="305727" y="3770531"/>
            <a:ext cx="1110695" cy="685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Heat Source</a:t>
            </a:r>
            <a:endParaRPr lang="zh-CN" altLang="en-US" b="1" dirty="0"/>
          </a:p>
        </p:txBody>
      </p:sp>
      <p:sp>
        <p:nvSpPr>
          <p:cNvPr id="19" name="椭圆 18"/>
          <p:cNvSpPr/>
          <p:nvPr/>
        </p:nvSpPr>
        <p:spPr>
          <a:xfrm>
            <a:off x="2134527" y="3656231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圆角矩形 19"/>
          <p:cNvSpPr/>
          <p:nvPr/>
        </p:nvSpPr>
        <p:spPr>
          <a:xfrm>
            <a:off x="3843232" y="3770531"/>
            <a:ext cx="1110695" cy="685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Cold </a:t>
            </a:r>
          </a:p>
          <a:p>
            <a:pPr algn="ctr"/>
            <a:r>
              <a:rPr lang="en-US" altLang="zh-CN" b="1" dirty="0"/>
              <a:t>Sink</a:t>
            </a:r>
            <a:endParaRPr lang="zh-CN" altLang="en-US" b="1" dirty="0"/>
          </a:p>
        </p:txBody>
      </p:sp>
      <p:cxnSp>
        <p:nvCxnSpPr>
          <p:cNvPr id="23" name="直接箭头连接符 22"/>
          <p:cNvCxnSpPr/>
          <p:nvPr/>
        </p:nvCxnSpPr>
        <p:spPr>
          <a:xfrm>
            <a:off x="3048927" y="4113431"/>
            <a:ext cx="718105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19" idx="4"/>
          </p:cNvCxnSpPr>
          <p:nvPr/>
        </p:nvCxnSpPr>
        <p:spPr>
          <a:xfrm>
            <a:off x="2591727" y="4570631"/>
            <a:ext cx="0" cy="6477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182800" y="3733800"/>
            <a:ext cx="8178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</a:rPr>
              <a:t>Heat</a:t>
            </a:r>
          </a:p>
          <a:p>
            <a:pPr algn="ctr"/>
            <a:r>
              <a:rPr lang="en-US" altLang="zh-CN" b="1" dirty="0">
                <a:solidFill>
                  <a:schemeClr val="bg1"/>
                </a:solidFill>
              </a:rPr>
              <a:t>Engine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744127" y="4709815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W</a:t>
            </a:r>
            <a:endParaRPr lang="zh-CN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1448727" y="3553599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Q</a:t>
            </a:r>
            <a:r>
              <a:rPr lang="en-US" altLang="zh-CN" baseline="-25000" dirty="0"/>
              <a:t>H</a:t>
            </a:r>
            <a:endParaRPr lang="zh-CN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3201327" y="3477399"/>
            <a:ext cx="405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Q</a:t>
            </a:r>
            <a:r>
              <a:rPr lang="en-US" altLang="zh-CN" baseline="-25000" dirty="0"/>
              <a:t>c</a:t>
            </a:r>
            <a:endParaRPr lang="zh-CN" altLang="en-US" dirty="0"/>
          </a:p>
        </p:txBody>
      </p:sp>
      <p:cxnSp>
        <p:nvCxnSpPr>
          <p:cNvPr id="33" name="直接箭头连接符 32"/>
          <p:cNvCxnSpPr/>
          <p:nvPr/>
        </p:nvCxnSpPr>
        <p:spPr>
          <a:xfrm>
            <a:off x="1372527" y="4151531"/>
            <a:ext cx="718105" cy="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5" name="对象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0531453"/>
              </p:ext>
            </p:extLst>
          </p:nvPr>
        </p:nvGraphicFramePr>
        <p:xfrm>
          <a:off x="583674" y="5446931"/>
          <a:ext cx="3183358" cy="783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9720" imgH="431640" progId="Equation.DSMT4">
                  <p:embed/>
                </p:oleObj>
              </mc:Choice>
              <mc:Fallback>
                <p:oleObj name="Equation" r:id="rId4" imgW="12697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83674" y="5446931"/>
                        <a:ext cx="3183358" cy="7830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7518708"/>
              </p:ext>
            </p:extLst>
          </p:nvPr>
        </p:nvGraphicFramePr>
        <p:xfrm>
          <a:off x="5252156" y="3656231"/>
          <a:ext cx="3182938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69720" imgH="660240" progId="Equation.DSMT4">
                  <p:embed/>
                </p:oleObj>
              </mc:Choice>
              <mc:Fallback>
                <p:oleObj name="Equation" r:id="rId6" imgW="1269720" imgH="660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2156" y="3656231"/>
                        <a:ext cx="3182938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6441825"/>
              </p:ext>
            </p:extLst>
          </p:nvPr>
        </p:nvGraphicFramePr>
        <p:xfrm>
          <a:off x="5327703" y="5092285"/>
          <a:ext cx="3107391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90640" imgH="431640" progId="Equation.DSMT4">
                  <p:embed/>
                </p:oleObj>
              </mc:Choice>
              <mc:Fallback>
                <p:oleObj name="Equation" r:id="rId8" imgW="17906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327703" y="5092285"/>
                        <a:ext cx="3107391" cy="749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5030127" y="2308086"/>
            <a:ext cx="2363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Carnot Efficiency:</a:t>
            </a:r>
            <a:endParaRPr lang="zh-CN" altLang="en-US" sz="2400" dirty="0"/>
          </a:p>
        </p:txBody>
      </p:sp>
      <p:sp>
        <p:nvSpPr>
          <p:cNvPr id="39" name="圆角矩形 38"/>
          <p:cNvSpPr/>
          <p:nvPr/>
        </p:nvSpPr>
        <p:spPr>
          <a:xfrm>
            <a:off x="153327" y="1179731"/>
            <a:ext cx="4245252" cy="1971020"/>
          </a:xfrm>
          <a:prstGeom prst="roundRect">
            <a:avLst>
              <a:gd name="adj" fmla="val 7869"/>
            </a:avLst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圆角矩形 39"/>
          <p:cNvSpPr/>
          <p:nvPr/>
        </p:nvSpPr>
        <p:spPr>
          <a:xfrm>
            <a:off x="4877727" y="1189911"/>
            <a:ext cx="4037673" cy="1971020"/>
          </a:xfrm>
          <a:prstGeom prst="roundRect">
            <a:avLst>
              <a:gd name="adj" fmla="val 7869"/>
            </a:avLst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9416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81000" y="1460480"/>
            <a:ext cx="829003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en-US" altLang="zh-CN" sz="2400" dirty="0"/>
              <a:t>They is universally valid</a:t>
            </a:r>
          </a:p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en-US" altLang="zh-CN" sz="2400" dirty="0"/>
              <a:t>They have been </a:t>
            </a:r>
            <a:r>
              <a:rPr lang="en-US" altLang="zh-CN" sz="2400" i="1" dirty="0"/>
              <a:t>confirmed </a:t>
            </a:r>
            <a:r>
              <a:rPr lang="en-US" altLang="zh-CN" sz="2400" dirty="0"/>
              <a:t>(not proven) </a:t>
            </a:r>
          </a:p>
          <a:p>
            <a:pPr>
              <a:spcBef>
                <a:spcPct val="50000"/>
              </a:spcBef>
            </a:pPr>
            <a:r>
              <a:rPr lang="en-US" altLang="zh-CN" sz="2400" dirty="0"/>
              <a:t>     to a very high degree of confidence</a:t>
            </a:r>
          </a:p>
          <a:p>
            <a:pPr>
              <a:spcBef>
                <a:spcPct val="50000"/>
              </a:spcBef>
            </a:pPr>
            <a:r>
              <a:rPr lang="en-US" altLang="zh-CN" sz="2400" dirty="0"/>
              <a:t>There is now so much supporting evidence that we can accept them as accurate. So far, </a:t>
            </a:r>
            <a:r>
              <a:rPr lang="en-US" altLang="zh-CN" sz="2400" i="1" dirty="0"/>
              <a:t>reliable </a:t>
            </a:r>
            <a:r>
              <a:rPr lang="en-US" altLang="zh-CN" sz="2400" dirty="0"/>
              <a:t>and </a:t>
            </a:r>
            <a:r>
              <a:rPr lang="en-US" altLang="zh-CN" sz="2400" i="1" dirty="0"/>
              <a:t>reproducible </a:t>
            </a:r>
            <a:r>
              <a:rPr lang="en-US" altLang="zh-CN" sz="2400" dirty="0"/>
              <a:t>contradictory evidence has not happen !</a:t>
            </a:r>
            <a:endParaRPr lang="en-US" altLang="zh-CN" sz="2400" dirty="0">
              <a:solidFill>
                <a:srgbClr val="FF0000"/>
              </a:solidFill>
            </a:endParaRPr>
          </a:p>
        </p:txBody>
      </p:sp>
      <p:sp>
        <p:nvSpPr>
          <p:cNvPr id="11" name="标题 2"/>
          <p:cNvSpPr txBox="1">
            <a:spLocks/>
          </p:cNvSpPr>
          <p:nvPr/>
        </p:nvSpPr>
        <p:spPr>
          <a:xfrm>
            <a:off x="893620" y="-1"/>
            <a:ext cx="4592780" cy="7620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200">
                <a:solidFill>
                  <a:srgbClr val="FF0000"/>
                </a:solidFill>
              </a:rPr>
              <a:t>Laws of Thermodynamics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158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3EABC7A-C3A1-4E9B-9D3B-3EF1013C2176}"/>
              </a:ext>
            </a:extLst>
          </p:cNvPr>
          <p:cNvSpPr txBox="1"/>
          <p:nvPr/>
        </p:nvSpPr>
        <p:spPr>
          <a:xfrm>
            <a:off x="0" y="0"/>
            <a:ext cx="2023311" cy="584775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r>
              <a:rPr lang="en-US" altLang="zh-CN" sz="3200" i="1" dirty="0">
                <a:solidFill>
                  <a:schemeClr val="bg1"/>
                </a:solidFill>
              </a:rPr>
              <a:t>Discussion</a:t>
            </a:r>
            <a:endParaRPr lang="zh-CN" altLang="en-US" sz="2800" i="1" dirty="0">
              <a:solidFill>
                <a:schemeClr val="bg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E99F24C-5237-4ACB-83FC-07062D6B2872}"/>
              </a:ext>
            </a:extLst>
          </p:cNvPr>
          <p:cNvSpPr txBox="1"/>
          <p:nvPr/>
        </p:nvSpPr>
        <p:spPr>
          <a:xfrm>
            <a:off x="2174848" y="714497"/>
            <a:ext cx="46137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0000FF"/>
                </a:solidFill>
              </a:rPr>
              <a:t>The importance of Equilibrium</a:t>
            </a:r>
            <a:endParaRPr lang="en-US" altLang="zh-CN" sz="2800" dirty="0"/>
          </a:p>
        </p:txBody>
      </p:sp>
      <p:pic>
        <p:nvPicPr>
          <p:cNvPr id="3076" name="Picture 4" descr="Image result for balance  ">
            <a:extLst>
              <a:ext uri="{FF2B5EF4-FFF2-40B4-BE49-F238E27FC236}">
                <a16:creationId xmlns:a16="http://schemas.microsoft.com/office/drawing/2014/main" id="{C6D0A53B-E029-49AF-B59B-B71227E87C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423" y="1514111"/>
            <a:ext cx="1927854" cy="1276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796" name="Picture 4" descr="See the source image">
            <a:extLst>
              <a:ext uri="{FF2B5EF4-FFF2-40B4-BE49-F238E27FC236}">
                <a16:creationId xmlns:a16="http://schemas.microsoft.com/office/drawing/2014/main" id="{928D5EB4-B7B7-4DEB-9C74-A47E7E814F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799" y="1514111"/>
            <a:ext cx="1981200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798" name="Picture 6" descr="See the source image">
            <a:extLst>
              <a:ext uri="{FF2B5EF4-FFF2-40B4-BE49-F238E27FC236}">
                <a16:creationId xmlns:a16="http://schemas.microsoft.com/office/drawing/2014/main" id="{8A0F2B24-31A5-40AC-83BA-0B72364736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799" y="3657600"/>
            <a:ext cx="1981200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800" name="Picture 8" descr="See the source image">
            <a:extLst>
              <a:ext uri="{FF2B5EF4-FFF2-40B4-BE49-F238E27FC236}">
                <a16:creationId xmlns:a16="http://schemas.microsoft.com/office/drawing/2014/main" id="{068497AF-8BEE-44A7-931E-A0C0D1AD2C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581" y="3075056"/>
            <a:ext cx="1624856" cy="2519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0" name="Picture 2">
            <a:extLst>
              <a:ext uri="{FF2B5EF4-FFF2-40B4-BE49-F238E27FC236}">
                <a16:creationId xmlns:a16="http://schemas.microsoft.com/office/drawing/2014/main" id="{C209CE22-4021-8AE4-F7C8-EF82FC1E2B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112"/>
          <a:stretch/>
        </p:blipFill>
        <p:spPr bwMode="auto">
          <a:xfrm>
            <a:off x="5845868" y="1714500"/>
            <a:ext cx="2755702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ECE2769-5645-A8DE-42D1-2AA28CD56449}"/>
              </a:ext>
            </a:extLst>
          </p:cNvPr>
          <p:cNvSpPr txBox="1"/>
          <p:nvPr/>
        </p:nvSpPr>
        <p:spPr>
          <a:xfrm>
            <a:off x="785648" y="5958837"/>
            <a:ext cx="7815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Mechanical equilibrium, thermal equilibrium, eco equilibrium, earth equilibrium…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086934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981200"/>
            <a:ext cx="3810000" cy="2338552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294198" y="1497006"/>
            <a:ext cx="18774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222222"/>
                </a:solidFill>
                <a:latin typeface="Lato"/>
              </a:rPr>
              <a:t>Coronavirus</a:t>
            </a:r>
            <a:endParaRPr lang="zh-CN" altLang="en-US" sz="24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8132" y="1958671"/>
            <a:ext cx="3613899" cy="2361081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4848132" y="1428690"/>
            <a:ext cx="6327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Bats</a:t>
            </a:r>
          </a:p>
        </p:txBody>
      </p:sp>
      <p:sp>
        <p:nvSpPr>
          <p:cNvPr id="14" name="矩形 13"/>
          <p:cNvSpPr/>
          <p:nvPr/>
        </p:nvSpPr>
        <p:spPr>
          <a:xfrm>
            <a:off x="1769993" y="4949220"/>
            <a:ext cx="53907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/>
              <a:t>Equilibrium is broken as it get into Human being!</a:t>
            </a:r>
            <a:endParaRPr lang="zh-CN" altLang="en-US" sz="20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B0A48F1-8A8A-4996-9CF1-08D0901DABB8}"/>
              </a:ext>
            </a:extLst>
          </p:cNvPr>
          <p:cNvSpPr txBox="1"/>
          <p:nvPr/>
        </p:nvSpPr>
        <p:spPr>
          <a:xfrm>
            <a:off x="2158497" y="605928"/>
            <a:ext cx="46137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0000FF"/>
                </a:solidFill>
              </a:rPr>
              <a:t>The importance of Equilibrium</a:t>
            </a:r>
            <a:endParaRPr lang="en-US" altLang="zh-CN" sz="28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DC9B639-3855-4F6B-BD80-66065E248572}"/>
              </a:ext>
            </a:extLst>
          </p:cNvPr>
          <p:cNvSpPr txBox="1"/>
          <p:nvPr/>
        </p:nvSpPr>
        <p:spPr>
          <a:xfrm>
            <a:off x="0" y="0"/>
            <a:ext cx="2023311" cy="584775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r>
              <a:rPr lang="en-US" altLang="zh-CN" sz="3200" i="1" dirty="0">
                <a:solidFill>
                  <a:schemeClr val="bg1"/>
                </a:solidFill>
              </a:rPr>
              <a:t>Discussion</a:t>
            </a:r>
            <a:endParaRPr lang="zh-CN" altLang="en-US" sz="28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27331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2"/>
          <p:cNvSpPr>
            <a:spLocks noGrp="1"/>
          </p:cNvSpPr>
          <p:nvPr>
            <p:ph type="title" idx="4294967295"/>
          </p:nvPr>
        </p:nvSpPr>
        <p:spPr>
          <a:xfrm>
            <a:off x="914400" y="31858"/>
            <a:ext cx="68580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sz="3200" dirty="0">
                <a:solidFill>
                  <a:srgbClr val="FF0000"/>
                </a:solidFill>
              </a:rPr>
              <a:t>The scope of thermodynamics and kinetics  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7735" y="4038600"/>
            <a:ext cx="406566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altLang="zh-CN" sz="2400" dirty="0">
                <a:solidFill>
                  <a:srgbClr val="0000FF"/>
                </a:solidFill>
              </a:rPr>
              <a:t>Classic Thermodynamics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altLang="zh-CN" sz="2400" dirty="0">
                <a:solidFill>
                  <a:srgbClr val="0000FF"/>
                </a:solidFill>
              </a:rPr>
              <a:t>Statistical Thermodynamics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altLang="zh-CN" sz="2400" b="1" dirty="0">
                <a:ea typeface="宋体" charset="-122"/>
                <a:cs typeface="Times New Roman" pitchFamily="18" charset="0"/>
              </a:rPr>
              <a:t>Quantum Descriptions</a:t>
            </a:r>
            <a:endParaRPr lang="en-US" altLang="zh-CN" sz="2400" dirty="0"/>
          </a:p>
        </p:txBody>
      </p:sp>
      <p:sp>
        <p:nvSpPr>
          <p:cNvPr id="12" name="矩形 11"/>
          <p:cNvSpPr/>
          <p:nvPr/>
        </p:nvSpPr>
        <p:spPr>
          <a:xfrm>
            <a:off x="76200" y="3429000"/>
            <a:ext cx="893512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ea typeface="宋体" charset="-122"/>
                <a:cs typeface="Times New Roman" pitchFamily="18" charset="0"/>
              </a:rPr>
              <a:t>Phenomenological, Statistical, and Quantum Descriptions</a:t>
            </a:r>
            <a:endParaRPr lang="en-US" altLang="zh-CN" sz="2800" b="1" dirty="0">
              <a:ea typeface="宋体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28600" y="1208756"/>
            <a:ext cx="46022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Thermodynamics and kinetics </a:t>
            </a:r>
            <a:endParaRPr lang="zh-CN" altLang="en-US" sz="2800" dirty="0"/>
          </a:p>
        </p:txBody>
      </p:sp>
      <p:sp>
        <p:nvSpPr>
          <p:cNvPr id="4" name="矩形 3"/>
          <p:cNvSpPr/>
          <p:nvPr/>
        </p:nvSpPr>
        <p:spPr>
          <a:xfrm>
            <a:off x="277735" y="1921131"/>
            <a:ext cx="759297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00B0F0"/>
                </a:solidFill>
              </a:rPr>
              <a:t>Thermodynamics</a:t>
            </a:r>
            <a:r>
              <a:rPr lang="en-US" altLang="zh-CN" sz="2400" dirty="0"/>
              <a:t>: the relationships  in equilibrium state</a:t>
            </a:r>
          </a:p>
          <a:p>
            <a:r>
              <a:rPr lang="en-US" altLang="zh-CN" sz="2400" dirty="0">
                <a:solidFill>
                  <a:srgbClr val="00B0F0"/>
                </a:solidFill>
              </a:rPr>
              <a:t> Kinetics</a:t>
            </a:r>
            <a:r>
              <a:rPr lang="en-US" altLang="zh-CN" sz="2400" dirty="0"/>
              <a:t>: the process from one equilibrium state</a:t>
            </a:r>
            <a:r>
              <a:rPr lang="zh-CN" altLang="en-US" sz="2400" dirty="0"/>
              <a:t> </a:t>
            </a:r>
            <a:r>
              <a:rPr lang="en-US" altLang="zh-CN" sz="2400" dirty="0"/>
              <a:t>to another</a:t>
            </a:r>
          </a:p>
        </p:txBody>
      </p:sp>
    </p:spTree>
    <p:extLst>
      <p:ext uri="{BB962C8B-B14F-4D97-AF65-F5344CB8AC3E}">
        <p14:creationId xmlns:p14="http://schemas.microsoft.com/office/powerpoint/2010/main" val="11238374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2"/>
          <p:cNvSpPr>
            <a:spLocks noGrp="1"/>
          </p:cNvSpPr>
          <p:nvPr>
            <p:ph type="title" idx="4294967295"/>
          </p:nvPr>
        </p:nvSpPr>
        <p:spPr>
          <a:xfrm>
            <a:off x="2286001" y="15766"/>
            <a:ext cx="3733800" cy="762000"/>
          </a:xfrm>
        </p:spPr>
        <p:txBody>
          <a:bodyPr>
            <a:normAutofit/>
          </a:bodyPr>
          <a:lstStyle/>
          <a:p>
            <a:pPr algn="l"/>
            <a:r>
              <a:rPr lang="en-US" altLang="zh-CN" sz="2800" dirty="0">
                <a:solidFill>
                  <a:srgbClr val="FF0000"/>
                </a:solidFill>
              </a:rPr>
              <a:t>The scope of MSE311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139763" y="1371600"/>
            <a:ext cx="4896725" cy="415498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/>
              <a:t>Classic thermodynamics</a:t>
            </a:r>
          </a:p>
          <a:p>
            <a:endParaRPr lang="en-US" altLang="zh-CN" sz="2400" b="1" dirty="0"/>
          </a:p>
          <a:p>
            <a:r>
              <a:rPr lang="en-US" altLang="zh-CN" sz="2400" b="1" dirty="0">
                <a:effectLst/>
              </a:rPr>
              <a:t>Statistical thermodynamics</a:t>
            </a:r>
          </a:p>
          <a:p>
            <a:r>
              <a:rPr lang="en-US" altLang="zh-CN" sz="2400" b="1" dirty="0"/>
              <a:t>            </a:t>
            </a:r>
            <a:endParaRPr lang="en-US" altLang="zh-CN" sz="2400" b="1" dirty="0">
              <a:effectLst/>
            </a:endParaRPr>
          </a:p>
          <a:p>
            <a:r>
              <a:rPr lang="en-US" altLang="zh-CN" sz="2400" b="1" dirty="0"/>
              <a:t>Material Thermodynamics &amp; Kinetics</a:t>
            </a:r>
          </a:p>
          <a:p>
            <a:r>
              <a:rPr lang="en-US" altLang="zh-CN" sz="2400" b="1" dirty="0"/>
              <a:t>       ---  </a:t>
            </a:r>
            <a:r>
              <a:rPr lang="en-US" altLang="zh-CN" sz="2400" dirty="0"/>
              <a:t>Solution TD</a:t>
            </a:r>
          </a:p>
          <a:p>
            <a:r>
              <a:rPr lang="en-US" altLang="zh-CN" sz="2400" dirty="0"/>
              <a:t>       </a:t>
            </a:r>
            <a:r>
              <a:rPr lang="en-US" altLang="zh-CN" sz="2400" b="1" dirty="0"/>
              <a:t>--- </a:t>
            </a:r>
            <a:r>
              <a:rPr lang="en-US" altLang="zh-CN" sz="2400" dirty="0"/>
              <a:t> Phase diagram TD.</a:t>
            </a:r>
          </a:p>
          <a:p>
            <a:r>
              <a:rPr lang="en-US" altLang="zh-CN" sz="2400" dirty="0"/>
              <a:t>      </a:t>
            </a:r>
            <a:r>
              <a:rPr lang="en-US" altLang="zh-CN" sz="2400" b="1" dirty="0"/>
              <a:t> ---  </a:t>
            </a:r>
            <a:r>
              <a:rPr lang="en-US" altLang="zh-CN" sz="2400" dirty="0"/>
              <a:t>Diffusion  TD.</a:t>
            </a:r>
          </a:p>
          <a:p>
            <a:r>
              <a:rPr lang="en-US" altLang="zh-CN" sz="2400" dirty="0"/>
              <a:t>       ---  Crystal Growth</a:t>
            </a:r>
          </a:p>
          <a:p>
            <a:r>
              <a:rPr lang="en-US" altLang="zh-CN" sz="2400" dirty="0"/>
              <a:t>       ---  Ceramic Sintering</a:t>
            </a:r>
          </a:p>
          <a:p>
            <a:r>
              <a:rPr lang="en-US" altLang="zh-CN" sz="2400" dirty="0"/>
              <a:t>       ---  Polymer mixing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4800" y="1371600"/>
            <a:ext cx="290887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0000FF"/>
                </a:solidFill>
              </a:rPr>
              <a:t>Energy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800" dirty="0"/>
              <a:t>  Internal energy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800" dirty="0"/>
              <a:t>  Work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altLang="zh-CN" sz="2800" dirty="0"/>
              <a:t>  Heat</a:t>
            </a:r>
            <a:endParaRPr lang="zh-CN" altLang="en-US" sz="2800" dirty="0"/>
          </a:p>
        </p:txBody>
      </p:sp>
      <p:sp>
        <p:nvSpPr>
          <p:cNvPr id="20" name="TextBox 19"/>
          <p:cNvSpPr txBox="1"/>
          <p:nvPr/>
        </p:nvSpPr>
        <p:spPr>
          <a:xfrm>
            <a:off x="304800" y="3230940"/>
            <a:ext cx="1609736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0000FF"/>
                </a:solidFill>
              </a:rPr>
              <a:t>Mater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altLang="zh-CN" sz="2800" dirty="0"/>
              <a:t>Gas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altLang="zh-CN" sz="2800" dirty="0"/>
              <a:t>Liquid 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altLang="zh-CN" sz="2800" dirty="0"/>
              <a:t>Solid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980181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"/>
          <p:cNvSpPr>
            <a:spLocks noGrp="1"/>
          </p:cNvSpPr>
          <p:nvPr>
            <p:ph type="title" idx="4294967295"/>
          </p:nvPr>
        </p:nvSpPr>
        <p:spPr>
          <a:xfrm>
            <a:off x="1676400" y="0"/>
            <a:ext cx="7467600" cy="1143000"/>
          </a:xfrm>
        </p:spPr>
        <p:txBody>
          <a:bodyPr>
            <a:normAutofit/>
          </a:bodyPr>
          <a:lstStyle/>
          <a:p>
            <a:pPr algn="l"/>
            <a:r>
              <a:rPr lang="en-US" altLang="zh-CN" sz="3200" dirty="0">
                <a:solidFill>
                  <a:srgbClr val="FF0000"/>
                </a:solidFill>
              </a:rPr>
              <a:t>Contents of this course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83324" y="1376065"/>
            <a:ext cx="39242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FF"/>
                </a:solidFill>
              </a:rPr>
              <a:t>History of thermodynamics</a:t>
            </a:r>
          </a:p>
        </p:txBody>
      </p:sp>
      <p:sp>
        <p:nvSpPr>
          <p:cNvPr id="11" name="矩形 10"/>
          <p:cNvSpPr/>
          <p:nvPr/>
        </p:nvSpPr>
        <p:spPr>
          <a:xfrm>
            <a:off x="609600" y="2021661"/>
            <a:ext cx="34980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FF"/>
                </a:solidFill>
              </a:rPr>
              <a:t>Classic thermodynamics</a:t>
            </a:r>
          </a:p>
        </p:txBody>
      </p:sp>
      <p:sp>
        <p:nvSpPr>
          <p:cNvPr id="12" name="矩形 11"/>
          <p:cNvSpPr/>
          <p:nvPr/>
        </p:nvSpPr>
        <p:spPr>
          <a:xfrm>
            <a:off x="583324" y="2667000"/>
            <a:ext cx="3902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FF"/>
                </a:solidFill>
              </a:rPr>
              <a:t>Statistical thermodynamics</a:t>
            </a:r>
          </a:p>
        </p:txBody>
      </p:sp>
      <p:sp>
        <p:nvSpPr>
          <p:cNvPr id="13" name="矩形 12"/>
          <p:cNvSpPr/>
          <p:nvPr/>
        </p:nvSpPr>
        <p:spPr>
          <a:xfrm>
            <a:off x="583324" y="3281065"/>
            <a:ext cx="16834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FF"/>
                </a:solidFill>
              </a:rPr>
              <a:t>Solutions</a:t>
            </a:r>
          </a:p>
        </p:txBody>
      </p:sp>
      <p:sp>
        <p:nvSpPr>
          <p:cNvPr id="14" name="矩形 13"/>
          <p:cNvSpPr/>
          <p:nvPr/>
        </p:nvSpPr>
        <p:spPr>
          <a:xfrm>
            <a:off x="583324" y="3962400"/>
            <a:ext cx="23600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FF"/>
                </a:solidFill>
              </a:rPr>
              <a:t>Phase diagram</a:t>
            </a:r>
          </a:p>
        </p:txBody>
      </p:sp>
      <p:sp>
        <p:nvSpPr>
          <p:cNvPr id="22" name="矩形 21"/>
          <p:cNvSpPr/>
          <p:nvPr/>
        </p:nvSpPr>
        <p:spPr>
          <a:xfrm>
            <a:off x="609600" y="4572000"/>
            <a:ext cx="36543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FF"/>
                </a:solidFill>
              </a:rPr>
              <a:t>Growth/Sintering/Mixing</a:t>
            </a:r>
            <a:endParaRPr lang="zh-CN" altLang="en-US" sz="2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31337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"/>
          <p:cNvSpPr>
            <a:spLocks noGrp="1"/>
          </p:cNvSpPr>
          <p:nvPr>
            <p:ph type="title"/>
          </p:nvPr>
        </p:nvSpPr>
        <p:spPr>
          <a:xfrm>
            <a:off x="1066800" y="-74542"/>
            <a:ext cx="7467600" cy="1143000"/>
          </a:xfrm>
        </p:spPr>
        <p:txBody>
          <a:bodyPr>
            <a:normAutofit/>
          </a:bodyPr>
          <a:lstStyle/>
          <a:p>
            <a:pPr algn="l"/>
            <a:r>
              <a:rPr lang="en-US" altLang="zh-CN" sz="32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Reference Books</a:t>
            </a:r>
            <a:endParaRPr lang="zh-CN" altLang="en-US" sz="3200" dirty="0">
              <a:solidFill>
                <a:srgbClr val="FF0000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90800" y="1295400"/>
            <a:ext cx="6319520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zh-CN" sz="1600" b="1" dirty="0">
                <a:solidFill>
                  <a:srgbClr val="0000FF"/>
                </a:solidFill>
              </a:rPr>
              <a:t>Text books: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altLang="zh-CN" sz="1600" b="1" dirty="0">
                <a:solidFill>
                  <a:srgbClr val="0000FF"/>
                </a:solidFill>
              </a:rPr>
              <a:t>Introduction to the thermodynamics of materials</a:t>
            </a:r>
            <a:r>
              <a:rPr lang="en-US" altLang="zh-CN" sz="1600" dirty="0">
                <a:solidFill>
                  <a:srgbClr val="0000FF"/>
                </a:solidFill>
              </a:rPr>
              <a:t>, 5</a:t>
            </a:r>
            <a:r>
              <a:rPr lang="en-US" altLang="zh-CN" sz="1600" baseline="30000" dirty="0">
                <a:solidFill>
                  <a:srgbClr val="0000FF"/>
                </a:solidFill>
              </a:rPr>
              <a:t>th</a:t>
            </a:r>
            <a:r>
              <a:rPr lang="zh-CN" altLang="en-US" sz="1600" dirty="0">
                <a:solidFill>
                  <a:srgbClr val="0000FF"/>
                </a:solidFill>
              </a:rPr>
              <a:t>，</a:t>
            </a:r>
            <a:r>
              <a:rPr lang="en-US" altLang="zh-CN" sz="1600" dirty="0">
                <a:solidFill>
                  <a:srgbClr val="0000FF"/>
                </a:solidFill>
              </a:rPr>
              <a:t>6</a:t>
            </a:r>
            <a:r>
              <a:rPr lang="en-US" altLang="zh-CN" sz="1600" baseline="30000" dirty="0">
                <a:solidFill>
                  <a:srgbClr val="0000FF"/>
                </a:solidFill>
              </a:rPr>
              <a:t>th</a:t>
            </a:r>
            <a:r>
              <a:rPr lang="en-US" altLang="zh-CN" sz="1600" dirty="0">
                <a:solidFill>
                  <a:srgbClr val="0000FF"/>
                </a:solidFill>
              </a:rPr>
              <a:t> edition, by David R. Gaskell, </a:t>
            </a:r>
            <a:r>
              <a:rPr lang="en-US" altLang="zh-CN" sz="1600" dirty="0" err="1">
                <a:solidFill>
                  <a:srgbClr val="0000FF"/>
                </a:solidFill>
              </a:rPr>
              <a:t>Talor</a:t>
            </a:r>
            <a:r>
              <a:rPr lang="en-US" altLang="zh-CN" sz="1600" dirty="0">
                <a:solidFill>
                  <a:srgbClr val="0000FF"/>
                </a:solidFill>
              </a:rPr>
              <a:t> &amp; Francis Press, 2018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zh-CN" altLang="en-US" sz="1600" b="1" dirty="0"/>
              <a:t>材料热力学和动力学</a:t>
            </a:r>
            <a:r>
              <a:rPr lang="zh-CN" altLang="en-US" sz="1600" dirty="0"/>
              <a:t>，赵新兵，浙江大学出版社，</a:t>
            </a:r>
            <a:r>
              <a:rPr lang="en-US" altLang="zh-CN" sz="1600" dirty="0"/>
              <a:t>2016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zh-CN" altLang="en-US" sz="1600" dirty="0"/>
              <a:t>热力学，王竹溪，北京大学出版社</a:t>
            </a:r>
            <a:endParaRPr lang="en-US" altLang="zh-CN" sz="1600" dirty="0"/>
          </a:p>
          <a:p>
            <a:pPr>
              <a:spcAft>
                <a:spcPts val="1200"/>
              </a:spcAft>
            </a:pPr>
            <a:r>
              <a:rPr lang="en-US" altLang="zh-CN" sz="1600" dirty="0">
                <a:solidFill>
                  <a:srgbClr val="0000FF"/>
                </a:solidFill>
              </a:rPr>
              <a:t>Reference Books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altLang="zh-CN" sz="1600" b="1" dirty="0"/>
              <a:t>Thermodynamics in Materials Science</a:t>
            </a:r>
            <a:r>
              <a:rPr lang="en-US" altLang="zh-CN" sz="1600" dirty="0"/>
              <a:t>, 2</a:t>
            </a:r>
            <a:r>
              <a:rPr lang="en-US" altLang="zh-CN" sz="1600" baseline="30000" dirty="0"/>
              <a:t>nd</a:t>
            </a:r>
            <a:r>
              <a:rPr lang="en-US" altLang="zh-CN" sz="1600" dirty="0"/>
              <a:t>  edition, by Robert </a:t>
            </a:r>
            <a:r>
              <a:rPr lang="en-US" altLang="zh-CN" sz="1600" dirty="0" err="1"/>
              <a:t>Dehoff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Talor</a:t>
            </a:r>
            <a:r>
              <a:rPr lang="en-US" altLang="zh-CN" sz="1600" dirty="0"/>
              <a:t> &amp; Francis Press, 2006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sz="1600" b="1" dirty="0"/>
              <a:t>Thermodynamics: an engineering approach</a:t>
            </a:r>
            <a:r>
              <a:rPr lang="en-US" altLang="zh-CN" sz="1600" dirty="0"/>
              <a:t>, 8</a:t>
            </a:r>
            <a:r>
              <a:rPr lang="en-US" altLang="zh-CN" sz="1600" baseline="30000" dirty="0"/>
              <a:t>th</a:t>
            </a:r>
            <a:r>
              <a:rPr lang="en-US" altLang="zh-CN" sz="1600" dirty="0"/>
              <a:t> Edition, by </a:t>
            </a:r>
            <a:r>
              <a:rPr lang="en-US" altLang="zh-CN" sz="1600" dirty="0" err="1"/>
              <a:t>Yuunus</a:t>
            </a:r>
            <a:r>
              <a:rPr lang="en-US" altLang="zh-CN" sz="1600" dirty="0"/>
              <a:t> A. </a:t>
            </a:r>
            <a:r>
              <a:rPr lang="en-US" altLang="zh-CN" sz="1600" dirty="0" err="1"/>
              <a:t>Cengel</a:t>
            </a:r>
            <a:r>
              <a:rPr lang="en-US" altLang="zh-CN" sz="1600" dirty="0"/>
              <a:t> and Michael A. Boles, McGraw Hill Education, 2011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sz="1600" b="1" dirty="0"/>
              <a:t>Computational thermodynamics of </a:t>
            </a:r>
            <a:r>
              <a:rPr lang="en-US" altLang="zh-CN" sz="1600" b="1" dirty="0" err="1"/>
              <a:t>mateials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Zikui</a:t>
            </a:r>
            <a:r>
              <a:rPr lang="en-US" altLang="zh-CN" sz="1600" dirty="0"/>
              <a:t> Liu and Yi Wang, Cambridge, 2016.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1600" b="1" dirty="0"/>
              <a:t>微观组织热力学</a:t>
            </a:r>
            <a:r>
              <a:rPr lang="zh-CN" altLang="en-US" sz="1600" dirty="0"/>
              <a:t>，西泽态二著，郝世明译，化学工业出版社，</a:t>
            </a:r>
            <a:r>
              <a:rPr lang="en-US" altLang="zh-CN" sz="1600" dirty="0"/>
              <a:t>2006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1600" dirty="0"/>
              <a:t>材料热力学，郝士明，蒋敏，李洪晓， 化工出版社， </a:t>
            </a:r>
            <a:r>
              <a:rPr lang="en-US" altLang="zh-CN" sz="1600" dirty="0"/>
              <a:t>2020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1600" dirty="0"/>
              <a:t>材料热力学与动力学， 徐瑞，哈尔滨工程大学，</a:t>
            </a:r>
            <a:r>
              <a:rPr lang="en-US" altLang="zh-CN" sz="1600" dirty="0"/>
              <a:t>2021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1600" dirty="0"/>
              <a:t>烧结实践与科学原理，兰德尔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·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杰曼著，贾成厂译，化学工业出版社，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2021</a:t>
            </a:r>
            <a:endParaRPr lang="en-US" altLang="zh-CN" sz="1600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352550"/>
            <a:ext cx="2143125" cy="283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1" name="组合 10"/>
          <p:cNvGrpSpPr/>
          <p:nvPr/>
        </p:nvGrpSpPr>
        <p:grpSpPr>
          <a:xfrm>
            <a:off x="0" y="0"/>
            <a:ext cx="9044400" cy="1084226"/>
            <a:chOff x="76200" y="88477"/>
            <a:chExt cx="9044400" cy="1084226"/>
          </a:xfrm>
        </p:grpSpPr>
        <p:sp>
          <p:nvSpPr>
            <p:cNvPr id="12" name="圆角矩形 11"/>
            <p:cNvSpPr/>
            <p:nvPr/>
          </p:nvSpPr>
          <p:spPr>
            <a:xfrm>
              <a:off x="76200" y="1028701"/>
              <a:ext cx="952500" cy="144000"/>
            </a:xfrm>
            <a:prstGeom prst="roundRect">
              <a:avLst>
                <a:gd name="adj" fmla="val 0"/>
              </a:avLst>
            </a:prstGeom>
            <a:solidFill>
              <a:srgbClr val="C83C0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1090316" y="1028701"/>
              <a:ext cx="3643609" cy="144002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4" name="圆角矩形 13"/>
            <p:cNvSpPr/>
            <p:nvPr/>
          </p:nvSpPr>
          <p:spPr>
            <a:xfrm>
              <a:off x="4800600" y="1028701"/>
              <a:ext cx="4320000" cy="144000"/>
            </a:xfrm>
            <a:prstGeom prst="roundRect">
              <a:avLst>
                <a:gd name="adj" fmla="val 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pic>
          <p:nvPicPr>
            <p:cNvPr id="15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7016" y="88477"/>
              <a:ext cx="581184" cy="8544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987499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386687" y="1143000"/>
            <a:ext cx="7741605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altLang="zh-CN" sz="2000" b="1" dirty="0"/>
              <a:t>Master the fundamental laws of thermodynamics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altLang="zh-CN" sz="2000" b="1" dirty="0"/>
              <a:t>Familiarize with classical and some statistical approaches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altLang="zh-CN" sz="2000" b="1" dirty="0"/>
              <a:t>Understand the thermal behavior of gases and solutions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altLang="zh-CN" sz="2000" b="1" dirty="0"/>
              <a:t>Master phase diagram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altLang="zh-CN" sz="2000" b="1" dirty="0"/>
              <a:t>Use thermodynamics to predict and interpret phase equilibria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altLang="zh-CN" sz="2000" b="1" dirty="0"/>
              <a:t>Use thermodynamics to explain and understand various interface phenomena related to energy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53649" y="223933"/>
            <a:ext cx="21422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>
                <a:solidFill>
                  <a:srgbClr val="FF0000"/>
                </a:solidFill>
              </a:rPr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32731888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400" y="1263164"/>
            <a:ext cx="8767455" cy="5155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spcAft>
                <a:spcPts val="600"/>
              </a:spcAft>
              <a:buSzPct val="80000"/>
              <a:buFont typeface="Wingdings" panose="05000000000000000000" pitchFamily="2" charset="2"/>
              <a:buChar char="n"/>
            </a:pPr>
            <a:r>
              <a:rPr lang="en-US" altLang="zh-CN" sz="1800" b="1" dirty="0">
                <a:solidFill>
                  <a:srgbClr val="FF0000"/>
                </a:solidFill>
              </a:rPr>
              <a:t>Class participation: 15%</a:t>
            </a:r>
          </a:p>
          <a:p>
            <a:pPr marL="1162050" lvl="2" indent="-247650">
              <a:spcAft>
                <a:spcPts val="600"/>
              </a:spcAft>
              <a:buSzPct val="80000"/>
              <a:buFont typeface="Wingdings" panose="05000000000000000000" pitchFamily="2" charset="2"/>
              <a:buChar char="l"/>
            </a:pPr>
            <a:r>
              <a:rPr lang="en-US" altLang="zh-CN" sz="1600" b="1" dirty="0">
                <a:solidFill>
                  <a:srgbClr val="373737"/>
                </a:solidFill>
              </a:rPr>
              <a:t>There will be about 10-12 quizzes at beginning of classes (not every class) </a:t>
            </a:r>
          </a:p>
          <a:p>
            <a:pPr lvl="2">
              <a:spcAft>
                <a:spcPts val="600"/>
              </a:spcAft>
              <a:buSzPct val="80000"/>
            </a:pPr>
            <a:r>
              <a:rPr lang="en-US" altLang="zh-CN" sz="1600" b="1" dirty="0">
                <a:solidFill>
                  <a:srgbClr val="373737"/>
                </a:solidFill>
              </a:rPr>
              <a:t>     5 conceptual/simple calculation questions for 10-20 minutes</a:t>
            </a:r>
          </a:p>
          <a:p>
            <a:pPr marL="1200150" lvl="2" indent="-285750">
              <a:spcAft>
                <a:spcPts val="600"/>
              </a:spcAft>
              <a:buSzPct val="80000"/>
              <a:buFont typeface="Wingdings" panose="05000000000000000000" pitchFamily="2" charset="2"/>
              <a:buChar char="l"/>
            </a:pPr>
            <a:r>
              <a:rPr lang="en-US" altLang="zh-CN" sz="1600" b="1" dirty="0">
                <a:solidFill>
                  <a:srgbClr val="373737"/>
                </a:solidFill>
              </a:rPr>
              <a:t>Turn in on time will get 50% credit </a:t>
            </a:r>
          </a:p>
          <a:p>
            <a:pPr marL="800100" lvl="1" indent="-342900">
              <a:spcAft>
                <a:spcPts val="600"/>
              </a:spcAft>
              <a:buSzPct val="80000"/>
              <a:buFont typeface="Wingdings" panose="05000000000000000000" pitchFamily="2" charset="2"/>
              <a:buChar char="n"/>
            </a:pPr>
            <a:r>
              <a:rPr lang="en-US" altLang="zh-CN" sz="1800" b="1" dirty="0">
                <a:solidFill>
                  <a:srgbClr val="FF0000"/>
                </a:solidFill>
              </a:rPr>
              <a:t>Homework: </a:t>
            </a:r>
            <a:r>
              <a:rPr lang="en-US" altLang="zh-CN" b="1" dirty="0">
                <a:solidFill>
                  <a:srgbClr val="FF0000"/>
                </a:solidFill>
              </a:rPr>
              <a:t>25</a:t>
            </a:r>
            <a:r>
              <a:rPr lang="en-US" altLang="zh-CN" sz="1800" b="1" dirty="0">
                <a:solidFill>
                  <a:srgbClr val="FF0000"/>
                </a:solidFill>
              </a:rPr>
              <a:t> %</a:t>
            </a:r>
          </a:p>
          <a:p>
            <a:pPr marL="1162050" lvl="2" indent="-247650">
              <a:spcAft>
                <a:spcPts val="600"/>
              </a:spcAft>
              <a:buSzPct val="80000"/>
              <a:buFont typeface="Wingdings" panose="05000000000000000000" pitchFamily="2" charset="2"/>
              <a:buChar char="l"/>
            </a:pPr>
            <a:r>
              <a:rPr lang="en-US" altLang="zh-CN" sz="1600" b="1" dirty="0">
                <a:solidFill>
                  <a:srgbClr val="373737"/>
                </a:solidFill>
              </a:rPr>
              <a:t>Out of class assignments will be given throughout the course.  </a:t>
            </a:r>
          </a:p>
          <a:p>
            <a:pPr marL="1162050" lvl="2" indent="-247650">
              <a:spcAft>
                <a:spcPts val="600"/>
              </a:spcAft>
              <a:buSzPct val="80000"/>
              <a:buFont typeface="Wingdings" panose="05000000000000000000" pitchFamily="2" charset="2"/>
              <a:buChar char="l"/>
            </a:pPr>
            <a:r>
              <a:rPr lang="en-US" altLang="zh-CN" sz="1600" b="1" dirty="0">
                <a:solidFill>
                  <a:srgbClr val="FF0000"/>
                </a:solidFill>
              </a:rPr>
              <a:t>The assignments include 2 lecture essays related to the open questions, the excellent lecture essay could get extra score!  Each essays should be finished independently!  The length of each essays should be &gt; 1000 words !  </a:t>
            </a:r>
            <a:endParaRPr lang="en-US" altLang="zh-CN" sz="1600" b="1" dirty="0">
              <a:solidFill>
                <a:srgbClr val="373737"/>
              </a:solidFill>
            </a:endParaRPr>
          </a:p>
          <a:p>
            <a:pPr marL="1162050" lvl="2" indent="-247650">
              <a:spcAft>
                <a:spcPts val="600"/>
              </a:spcAft>
              <a:buSzPct val="80000"/>
              <a:buFont typeface="Wingdings" panose="05000000000000000000" pitchFamily="2" charset="2"/>
              <a:buChar char="l"/>
            </a:pPr>
            <a:r>
              <a:rPr lang="en-US" altLang="zh-CN" sz="1600" b="1" dirty="0">
                <a:solidFill>
                  <a:srgbClr val="373737"/>
                </a:solidFill>
              </a:rPr>
              <a:t>Homework must be turned at beginning of the following classes:</a:t>
            </a:r>
          </a:p>
          <a:p>
            <a:pPr lvl="2">
              <a:spcAft>
                <a:spcPts val="600"/>
              </a:spcAft>
              <a:buSzPct val="80000"/>
            </a:pPr>
            <a:r>
              <a:rPr lang="en-US" altLang="zh-CN" sz="1600" b="1" dirty="0">
                <a:solidFill>
                  <a:srgbClr val="373737"/>
                </a:solidFill>
              </a:rPr>
              <a:t>    </a:t>
            </a:r>
            <a:r>
              <a:rPr lang="en-US" altLang="zh-CN" sz="1600" dirty="0">
                <a:solidFill>
                  <a:srgbClr val="373737"/>
                </a:solidFill>
                <a:latin typeface="+mn-lt"/>
                <a:ea typeface="DejaVu Sans" panose="020B0603030804020204" pitchFamily="34" charset="0"/>
                <a:cs typeface="Times New Roman" panose="02020603050405020304" pitchFamily="18" charset="0"/>
              </a:rPr>
              <a:t>Turn in paper homework to TA by person; </a:t>
            </a:r>
          </a:p>
          <a:p>
            <a:pPr lvl="2">
              <a:spcAft>
                <a:spcPts val="600"/>
              </a:spcAft>
              <a:buSzPct val="80000"/>
            </a:pPr>
            <a:r>
              <a:rPr lang="en-US" altLang="zh-CN" sz="1600" dirty="0">
                <a:solidFill>
                  <a:srgbClr val="373737"/>
                </a:solidFill>
                <a:latin typeface="+mn-lt"/>
                <a:ea typeface="DejaVu Sans" panose="020B0603030804020204" pitchFamily="34" charset="0"/>
                <a:cs typeface="Times New Roman" panose="02020603050405020304" pitchFamily="18" charset="0"/>
              </a:rPr>
              <a:t>    Turn in homework on time will get 50% credit;</a:t>
            </a:r>
          </a:p>
          <a:p>
            <a:pPr lvl="2">
              <a:spcAft>
                <a:spcPts val="600"/>
              </a:spcAft>
              <a:buSzPct val="80000"/>
            </a:pPr>
            <a:r>
              <a:rPr lang="en-US" altLang="zh-CN" sz="1600" dirty="0">
                <a:solidFill>
                  <a:srgbClr val="373737"/>
                </a:solidFill>
                <a:latin typeface="+mn-lt"/>
                <a:ea typeface="DejaVu Sans" panose="020B0603030804020204" pitchFamily="34" charset="0"/>
                <a:cs typeface="Times New Roman" panose="02020603050405020304" pitchFamily="18" charset="0"/>
              </a:rPr>
              <a:t>    Hand in homework to TA</a:t>
            </a:r>
            <a:r>
              <a:rPr lang="zh-CN" altLang="en-US" sz="1600" dirty="0">
                <a:solidFill>
                  <a:srgbClr val="373737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rgbClr val="373737"/>
                </a:solidFill>
                <a:latin typeface="+mn-lt"/>
                <a:ea typeface="DejaVu Sans" panose="020B0603030804020204" pitchFamily="34" charset="0"/>
                <a:cs typeface="Times New Roman" panose="02020603050405020304" pitchFamily="18" charset="0"/>
              </a:rPr>
              <a:t>by Friday 5pm is acceptable, but lose 50% credit;</a:t>
            </a:r>
          </a:p>
          <a:p>
            <a:pPr lvl="2">
              <a:spcAft>
                <a:spcPts val="600"/>
              </a:spcAft>
              <a:buSzPct val="80000"/>
            </a:pPr>
            <a:r>
              <a:rPr lang="en-US" altLang="zh-CN" sz="1600" dirty="0">
                <a:solidFill>
                  <a:srgbClr val="373737"/>
                </a:solidFill>
                <a:latin typeface="+mn-lt"/>
                <a:ea typeface="DejaVu Sans" panose="020B0603030804020204" pitchFamily="34" charset="0"/>
                <a:cs typeface="Times New Roman" panose="02020603050405020304" pitchFamily="18" charset="0"/>
              </a:rPr>
              <a:t>         After Friday 5pm, no accepted.</a:t>
            </a:r>
          </a:p>
          <a:p>
            <a:pPr marL="742950" lvl="1" indent="-285750">
              <a:spcAft>
                <a:spcPts val="600"/>
              </a:spcAft>
              <a:buSzPct val="80000"/>
              <a:buFont typeface="Wingdings" panose="05000000000000000000" pitchFamily="2" charset="2"/>
              <a:buChar char="n"/>
            </a:pPr>
            <a:r>
              <a:rPr lang="en-US" altLang="zh-CN" sz="1800" b="1" dirty="0">
                <a:solidFill>
                  <a:srgbClr val="373737"/>
                </a:solidFill>
                <a:latin typeface="+mn-lt"/>
                <a:ea typeface="DejaVu Sans" panose="020B0603030804020204" pitchFamily="34" charset="0"/>
                <a:cs typeface="Times New Roman" panose="02020603050405020304" pitchFamily="18" charset="0"/>
              </a:rPr>
              <a:t>Midterm: 30%</a:t>
            </a:r>
          </a:p>
          <a:p>
            <a:pPr marL="742950" lvl="1" indent="-285750">
              <a:spcAft>
                <a:spcPts val="600"/>
              </a:spcAft>
              <a:buSzPct val="80000"/>
              <a:buFont typeface="Wingdings" panose="05000000000000000000" pitchFamily="2" charset="2"/>
              <a:buChar char="n"/>
            </a:pPr>
            <a:r>
              <a:rPr lang="en-US" altLang="zh-CN" sz="1800" b="1" dirty="0">
                <a:solidFill>
                  <a:srgbClr val="373737"/>
                </a:solidFill>
                <a:latin typeface="+mn-lt"/>
                <a:ea typeface="DejaVu Sans" panose="020B0603030804020204" pitchFamily="34" charset="0"/>
                <a:cs typeface="Times New Roman" panose="02020603050405020304" pitchFamily="18" charset="0"/>
              </a:rPr>
              <a:t>Final: 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0001" y="119849"/>
            <a:ext cx="46784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3600" b="1" dirty="0">
                <a:solidFill>
                  <a:srgbClr val="FF0000"/>
                </a:solidFill>
              </a:rPr>
              <a:t>Distribution of scoring: </a:t>
            </a:r>
          </a:p>
        </p:txBody>
      </p:sp>
    </p:spTree>
    <p:extLst>
      <p:ext uri="{BB962C8B-B14F-4D97-AF65-F5344CB8AC3E}">
        <p14:creationId xmlns:p14="http://schemas.microsoft.com/office/powerpoint/2010/main" val="18244125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19200" y="2801793"/>
            <a:ext cx="44921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1. Temperature and Scale 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49800" y="3780298"/>
            <a:ext cx="952500" cy="144000"/>
          </a:xfrm>
          <a:prstGeom prst="roundRect">
            <a:avLst>
              <a:gd name="adj" fmla="val 0"/>
            </a:avLst>
          </a:prstGeom>
          <a:solidFill>
            <a:srgbClr val="C83C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1063916" y="3780298"/>
            <a:ext cx="3643609" cy="144002"/>
          </a:xfrm>
          <a:prstGeom prst="roundRect">
            <a:avLst>
              <a:gd name="adj" fmla="val 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4774200" y="3780298"/>
            <a:ext cx="4320000" cy="144000"/>
          </a:xfrm>
          <a:prstGeom prst="roundRect">
            <a:avLst>
              <a:gd name="adj" fmla="val 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850" y="2514600"/>
            <a:ext cx="788400" cy="1159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295400" y="4114800"/>
            <a:ext cx="3718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Chapter1</a:t>
            </a:r>
            <a:r>
              <a:rPr lang="zh-CN" altLang="en-US" b="1" dirty="0"/>
              <a:t>： </a:t>
            </a:r>
            <a:r>
              <a:rPr lang="en-US" altLang="zh-CN" b="1" dirty="0"/>
              <a:t> </a:t>
            </a:r>
          </a:p>
          <a:p>
            <a:pPr>
              <a:spcAft>
                <a:spcPts val="1200"/>
              </a:spcAft>
            </a:pPr>
            <a:r>
              <a:rPr lang="zh-CN" altLang="en-US" dirty="0"/>
              <a:t>热力学，王竹溪，北京大学出版社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25621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Image result for hot summer">
            <a:extLst>
              <a:ext uri="{FF2B5EF4-FFF2-40B4-BE49-F238E27FC236}">
                <a16:creationId xmlns:a16="http://schemas.microsoft.com/office/drawing/2014/main" id="{8868F0C7-4F25-4C2E-BB00-12D28D2B49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676400"/>
            <a:ext cx="3667125" cy="244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Image result for cold winter">
            <a:extLst>
              <a:ext uri="{FF2B5EF4-FFF2-40B4-BE49-F238E27FC236}">
                <a16:creationId xmlns:a16="http://schemas.microsoft.com/office/drawing/2014/main" id="{27CBC82A-56F4-4B74-8F8C-2EC7A9BEA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015" y="1702279"/>
            <a:ext cx="3691737" cy="244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281E599-D3F4-47D8-A6D9-680672BE8A2B}"/>
              </a:ext>
            </a:extLst>
          </p:cNvPr>
          <p:cNvSpPr txBox="1"/>
          <p:nvPr/>
        </p:nvSpPr>
        <p:spPr>
          <a:xfrm>
            <a:off x="304800" y="76200"/>
            <a:ext cx="6816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Early experience in temperature change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796E7F3-FCB2-4BDB-85AB-CD6449DAA475}"/>
              </a:ext>
            </a:extLst>
          </p:cNvPr>
          <p:cNvSpPr txBox="1"/>
          <p:nvPr/>
        </p:nvSpPr>
        <p:spPr>
          <a:xfrm>
            <a:off x="606456" y="5029199"/>
            <a:ext cx="79818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Our experience to the hot and cold is a mater of life and death!</a:t>
            </a:r>
          </a:p>
          <a:p>
            <a:r>
              <a:rPr lang="en-US" altLang="zh-CN" sz="2400" dirty="0">
                <a:solidFill>
                  <a:srgbClr val="FF0000"/>
                </a:solidFill>
              </a:rPr>
              <a:t>Too hot or too cold, we might be burn or freeze to death!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47740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51"/>
            <a:ext cx="3739927" cy="4718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0607" y="1245798"/>
            <a:ext cx="3443393" cy="560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990600" y="4741821"/>
            <a:ext cx="132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Earliest BBQ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876466"/>
            <a:ext cx="1310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Cooking Tea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60129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115880" y="1394474"/>
            <a:ext cx="511467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136EC2"/>
                </a:solidFill>
                <a:latin typeface="arial" panose="020B0604020202020204" pitchFamily="34" charset="0"/>
                <a:hlinkClick r:id="rId2"/>
              </a:rPr>
              <a:t>东汉张仲景</a:t>
            </a:r>
            <a:r>
              <a:rPr lang="zh-CN" altLang="en-US" dirty="0">
                <a:solidFill>
                  <a:srgbClr val="136EC2"/>
                </a:solidFill>
                <a:latin typeface="arial" panose="020B0604020202020204" pitchFamily="34" charset="0"/>
              </a:rPr>
              <a:t> 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在</a:t>
            </a:r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《</a:t>
            </a:r>
            <a:r>
              <a:rPr lang="zh-CN" altLang="en-US" dirty="0">
                <a:solidFill>
                  <a:srgbClr val="136EC2"/>
                </a:solidFill>
                <a:latin typeface="arial" panose="020B0604020202020204" pitchFamily="34" charset="0"/>
                <a:hlinkClick r:id="rId3"/>
              </a:rPr>
              <a:t>伤寒杂病论</a:t>
            </a:r>
            <a:r>
              <a:rPr lang="en-US" altLang="zh-CN" dirty="0">
                <a:solidFill>
                  <a:srgbClr val="333333"/>
                </a:solidFill>
                <a:latin typeface="arial" panose="020B0604020202020204" pitchFamily="34" charset="0"/>
              </a:rPr>
              <a:t>》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记载外感热病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133600"/>
            <a:ext cx="4953000" cy="314526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4FC154B-0D84-EFEF-71A2-F2F116D2A208}"/>
              </a:ext>
            </a:extLst>
          </p:cNvPr>
          <p:cNvSpPr txBox="1"/>
          <p:nvPr/>
        </p:nvSpPr>
        <p:spPr>
          <a:xfrm>
            <a:off x="304800" y="76200"/>
            <a:ext cx="6816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Early experience in temperature change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pic>
        <p:nvPicPr>
          <p:cNvPr id="23554" name="Picture 2" descr="查看源图像">
            <a:extLst>
              <a:ext uri="{FF2B5EF4-FFF2-40B4-BE49-F238E27FC236}">
                <a16:creationId xmlns:a16="http://schemas.microsoft.com/office/drawing/2014/main" id="{4C2B0AF4-3AA1-EB84-AD63-D873246052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067930"/>
            <a:ext cx="2269114" cy="327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55476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796E7F3-FCB2-4BDB-85AB-CD6449DAA475}"/>
              </a:ext>
            </a:extLst>
          </p:cNvPr>
          <p:cNvSpPr txBox="1"/>
          <p:nvPr/>
        </p:nvSpPr>
        <p:spPr>
          <a:xfrm>
            <a:off x="914400" y="3124200"/>
            <a:ext cx="72957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How to quantify the degree of the cold and hot? 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63404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4400" y="76200"/>
            <a:ext cx="22099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Thermometer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FE9EEE7-266B-4651-B484-DF30F0FFFD7D}"/>
              </a:ext>
            </a:extLst>
          </p:cNvPr>
          <p:cNvSpPr/>
          <p:nvPr/>
        </p:nvSpPr>
        <p:spPr>
          <a:xfrm>
            <a:off x="232415" y="966010"/>
            <a:ext cx="23471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itchFamily="2" charset="2"/>
              <a:buChar char="ü"/>
            </a:pPr>
            <a:r>
              <a:rPr lang="en-US" altLang="zh-CN" sz="2400" dirty="0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Celsius scale</a:t>
            </a:r>
            <a:endParaRPr lang="en-US" altLang="zh-CN" sz="2400" b="0" i="0" dirty="0">
              <a:solidFill>
                <a:srgbClr val="000000"/>
              </a:solidFill>
              <a:effectLst/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51B225D-7A9E-48BA-AEFA-D237B70AB0C4}"/>
              </a:ext>
            </a:extLst>
          </p:cNvPr>
          <p:cNvSpPr/>
          <p:nvPr/>
        </p:nvSpPr>
        <p:spPr>
          <a:xfrm>
            <a:off x="192657" y="2823075"/>
            <a:ext cx="46841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22222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Celsius was known until 1948 as centigrade </a:t>
            </a:r>
          </a:p>
          <a:p>
            <a:r>
              <a:rPr lang="en-US" altLang="zh-CN" dirty="0">
                <a:solidFill>
                  <a:srgbClr val="22222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The first proposed ~1742.</a:t>
            </a:r>
            <a:endParaRPr lang="zh-CN" altLang="en-US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FF846AA-C23B-4A8C-87FA-E67AACB31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9" y="777351"/>
            <a:ext cx="1538287" cy="174783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A53DA236-5EF5-4E97-9267-4136C806C002}"/>
              </a:ext>
            </a:extLst>
          </p:cNvPr>
          <p:cNvSpPr/>
          <p:nvPr/>
        </p:nvSpPr>
        <p:spPr>
          <a:xfrm>
            <a:off x="232415" y="1462255"/>
            <a:ext cx="578738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Numerically describe the degreed of the cold and hot: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altLang="zh-CN" dirty="0">
                <a:solidFill>
                  <a:srgbClr val="0000FF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0° for the freezing point of water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altLang="zh-CN" dirty="0">
                <a:solidFill>
                  <a:srgbClr val="0000FF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100° for the boiling point of water </a:t>
            </a:r>
          </a:p>
        </p:txBody>
      </p:sp>
      <p:sp>
        <p:nvSpPr>
          <p:cNvPr id="10" name="矩形 9"/>
          <p:cNvSpPr/>
          <p:nvPr/>
        </p:nvSpPr>
        <p:spPr>
          <a:xfrm>
            <a:off x="6400800" y="2567946"/>
            <a:ext cx="236220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altLang="zh-CN" sz="1600" dirty="0">
                <a:solidFill>
                  <a:srgbClr val="0000FF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Anders Celsius</a:t>
            </a:r>
          </a:p>
          <a:p>
            <a:pPr algn="ctr"/>
            <a:r>
              <a:rPr lang="en-US" altLang="zh-CN" sz="1600" dirty="0">
                <a:solidFill>
                  <a:srgbClr val="22222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Swedish astronomer</a:t>
            </a:r>
            <a:endParaRPr lang="en-US" altLang="zh-CN" sz="1600" dirty="0">
              <a:solidFill>
                <a:srgbClr val="0000FF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pPr lvl="0" algn="ctr"/>
            <a:r>
              <a:rPr lang="en-US" altLang="zh-CN" dirty="0">
                <a:solidFill>
                  <a:srgbClr val="222222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 (1701–1744)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FE9EEE7-266B-4651-B484-DF30F0FFFD7D}"/>
              </a:ext>
            </a:extLst>
          </p:cNvPr>
          <p:cNvSpPr/>
          <p:nvPr/>
        </p:nvSpPr>
        <p:spPr>
          <a:xfrm>
            <a:off x="255419" y="3657600"/>
            <a:ext cx="25410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itchFamily="2" charset="2"/>
              <a:buChar char="ü"/>
            </a:pPr>
            <a:r>
              <a:rPr lang="en-US" altLang="zh-CN" sz="2000" dirty="0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Fahrenheit Scale </a:t>
            </a:r>
            <a:endParaRPr lang="en-US" altLang="zh-CN" sz="2000" b="0" i="0" dirty="0">
              <a:solidFill>
                <a:srgbClr val="000000"/>
              </a:solidFill>
              <a:effectLst/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9747" y="3963036"/>
            <a:ext cx="4279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Proposed Mercury as a thermometric fluid. </a:t>
            </a:r>
            <a:endParaRPr lang="zh-CN" altLang="en-US" dirty="0"/>
          </a:p>
        </p:txBody>
      </p:sp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8491" y="3469406"/>
            <a:ext cx="1499477" cy="20504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矩形 13"/>
          <p:cNvSpPr/>
          <p:nvPr/>
        </p:nvSpPr>
        <p:spPr>
          <a:xfrm>
            <a:off x="6804804" y="5735158"/>
            <a:ext cx="2139496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rgbClr val="0000FF"/>
                </a:solidFill>
              </a:rPr>
              <a:t>Daniel G. Fahrenheit</a:t>
            </a:r>
          </a:p>
          <a:p>
            <a:pPr algn="ctr"/>
            <a:r>
              <a:rPr lang="en-US" altLang="zh-CN" dirty="0"/>
              <a:t> Dutch Physicist </a:t>
            </a:r>
          </a:p>
          <a:p>
            <a:pPr algn="ctr"/>
            <a:r>
              <a:rPr lang="en-US" altLang="zh-CN" b="1" dirty="0"/>
              <a:t>(1701-1736)</a:t>
            </a:r>
            <a:endParaRPr lang="zh-CN" altLang="en-US" dirty="0"/>
          </a:p>
        </p:txBody>
      </p:sp>
      <p:pic>
        <p:nvPicPr>
          <p:cNvPr id="2458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723" y="4991258"/>
            <a:ext cx="1714500" cy="1057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58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4992596"/>
            <a:ext cx="1144243" cy="14134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矩形 14"/>
          <p:cNvSpPr/>
          <p:nvPr/>
        </p:nvSpPr>
        <p:spPr>
          <a:xfrm>
            <a:off x="4232045" y="5576549"/>
            <a:ext cx="237837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/>
              <a:t>Memorial plaque at Fahrenheit's burial site</a:t>
            </a:r>
          </a:p>
          <a:p>
            <a:r>
              <a:rPr lang="en-US" altLang="zh-CN" sz="1600" dirty="0"/>
              <a:t>in the Hague</a:t>
            </a:r>
            <a:endParaRPr lang="zh-CN" altLang="en-US" sz="1600" dirty="0"/>
          </a:p>
        </p:txBody>
      </p:sp>
      <p:sp>
        <p:nvSpPr>
          <p:cNvPr id="16" name="矩形 15"/>
          <p:cNvSpPr/>
          <p:nvPr/>
        </p:nvSpPr>
        <p:spPr>
          <a:xfrm>
            <a:off x="455139" y="4306221"/>
            <a:ext cx="460791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altLang="zh-CN" sz="1600" dirty="0">
                <a:solidFill>
                  <a:srgbClr val="0000FF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32 °F for the freezing point of water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CN" sz="1600" dirty="0">
                <a:solidFill>
                  <a:srgbClr val="0000FF"/>
                </a:solidFill>
              </a:rPr>
              <a:t>96 </a:t>
            </a:r>
            <a:r>
              <a:rPr lang="en-US" altLang="zh-CN" sz="1600" dirty="0">
                <a:solidFill>
                  <a:srgbClr val="0000FF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°F </a:t>
            </a:r>
            <a:r>
              <a:rPr lang="en-US" altLang="zh-CN" sz="1600" dirty="0">
                <a:solidFill>
                  <a:srgbClr val="0000FF"/>
                </a:solidFill>
              </a:rPr>
              <a:t> , as it placed in the arm or in the mouth</a:t>
            </a:r>
            <a:endParaRPr lang="en-US" altLang="zh-CN" sz="1600" dirty="0">
              <a:solidFill>
                <a:srgbClr val="0000FF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3324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524000"/>
            <a:ext cx="3810000" cy="285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914400" y="76200"/>
            <a:ext cx="22099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Thermometer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5086709" y="2537251"/>
            <a:ext cx="3124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Any thermometer</a:t>
            </a:r>
          </a:p>
          <a:p>
            <a:r>
              <a:rPr lang="en-US" altLang="zh-CN" sz="2400" dirty="0"/>
              <a:t>in the history of China?</a:t>
            </a:r>
            <a:endParaRPr lang="zh-CN" altLang="en-US" sz="2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BB6A382-F3C3-410C-A788-AB2F3C5F6BE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000" t="10925" r="13229" b="6296"/>
          <a:stretch/>
        </p:blipFill>
        <p:spPr>
          <a:xfrm>
            <a:off x="533400" y="1190623"/>
            <a:ext cx="7534275" cy="488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1076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524000"/>
            <a:ext cx="3810000" cy="285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914400" y="76200"/>
            <a:ext cx="22099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Thermometer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5054800" y="2743200"/>
            <a:ext cx="3124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</a:rPr>
              <a:t>Any thermometer</a:t>
            </a:r>
          </a:p>
          <a:p>
            <a:r>
              <a:rPr lang="en-US" altLang="zh-CN" sz="2400" dirty="0">
                <a:solidFill>
                  <a:srgbClr val="0000FF"/>
                </a:solidFill>
              </a:rPr>
              <a:t>in the history of China?</a:t>
            </a:r>
            <a:endParaRPr lang="zh-CN" altLang="en-US" sz="2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49155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839638"/>
            <a:ext cx="2667000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3733800" y="1936978"/>
            <a:ext cx="38862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仿宋" pitchFamily="49" charset="-122"/>
                <a:ea typeface="仿宋" pitchFamily="49" charset="-122"/>
              </a:rPr>
              <a:t>陆羽（</a:t>
            </a:r>
            <a:r>
              <a:rPr lang="en-US" altLang="zh-CN" sz="1600" b="1" dirty="0">
                <a:solidFill>
                  <a:srgbClr val="0000FF"/>
                </a:solidFill>
                <a:latin typeface="仿宋" pitchFamily="49" charset="-122"/>
                <a:ea typeface="仿宋" pitchFamily="49" charset="-122"/>
              </a:rPr>
              <a:t>733—804</a:t>
            </a:r>
            <a:r>
              <a:rPr lang="zh-CN" altLang="en-US" sz="1600" dirty="0">
                <a:latin typeface="仿宋" pitchFamily="49" charset="-122"/>
                <a:ea typeface="仿宋" pitchFamily="49" charset="-122"/>
              </a:rPr>
              <a:t>），字</a:t>
            </a:r>
            <a:r>
              <a:rPr lang="zh-CN" altLang="en-US" sz="1600" dirty="0">
                <a:latin typeface="仿宋" pitchFamily="49" charset="-122"/>
                <a:ea typeface="仿宋" pitchFamily="49" charset="-122"/>
                <a:hlinkClick r:id="rId3"/>
              </a:rPr>
              <a:t>鸿渐</a:t>
            </a:r>
            <a:r>
              <a:rPr lang="zh-CN" altLang="en-US" sz="1600" dirty="0">
                <a:latin typeface="仿宋" pitchFamily="49" charset="-122"/>
                <a:ea typeface="仿宋" pitchFamily="49" charset="-122"/>
              </a:rPr>
              <a:t>，复州</a:t>
            </a:r>
            <a:r>
              <a:rPr lang="zh-CN" altLang="en-US" sz="1600" dirty="0">
                <a:latin typeface="仿宋" pitchFamily="49" charset="-122"/>
                <a:ea typeface="仿宋" pitchFamily="49" charset="-122"/>
                <a:hlinkClick r:id="rId4"/>
              </a:rPr>
              <a:t>竟陵</a:t>
            </a:r>
            <a:r>
              <a:rPr lang="zh-CN" altLang="en-US" sz="1600" dirty="0">
                <a:latin typeface="仿宋" pitchFamily="49" charset="-122"/>
                <a:ea typeface="仿宋" pitchFamily="49" charset="-122"/>
              </a:rPr>
              <a:t>（今湖北天门）人。</a:t>
            </a:r>
            <a:endParaRPr lang="en-US" altLang="zh-CN" sz="1600" dirty="0">
              <a:latin typeface="仿宋" pitchFamily="49" charset="-122"/>
              <a:ea typeface="仿宋" pitchFamily="49" charset="-122"/>
            </a:endParaRPr>
          </a:p>
          <a:p>
            <a:r>
              <a:rPr lang="zh-CN" altLang="en-US" sz="1600" dirty="0">
                <a:latin typeface="仿宋" pitchFamily="49" charset="-122"/>
                <a:ea typeface="仿宋" pitchFamily="49" charset="-122"/>
              </a:rPr>
              <a:t>一名疾，字季疵，号竟陵子、桑苎翁、东冈子，又号“茶山御史”</a:t>
            </a:r>
            <a:r>
              <a:rPr lang="en-US" altLang="zh-CN" sz="1600" baseline="30000" dirty="0">
                <a:latin typeface="仿宋" pitchFamily="49" charset="-122"/>
                <a:ea typeface="仿宋" pitchFamily="49" charset="-122"/>
              </a:rPr>
              <a:t> </a:t>
            </a:r>
            <a:r>
              <a:rPr lang="zh-CN" altLang="en-US" sz="1600" dirty="0">
                <a:latin typeface="仿宋" pitchFamily="49" charset="-122"/>
                <a:ea typeface="仿宋" pitchFamily="49" charset="-122"/>
              </a:rPr>
              <a:t> 。</a:t>
            </a:r>
            <a:endParaRPr lang="en-US" altLang="zh-CN" sz="1600" dirty="0">
              <a:latin typeface="仿宋" pitchFamily="49" charset="-122"/>
              <a:ea typeface="仿宋" pitchFamily="49" charset="-122"/>
            </a:endParaRPr>
          </a:p>
          <a:p>
            <a:r>
              <a:rPr lang="zh-CN" altLang="en-US" sz="1600" dirty="0">
                <a:latin typeface="仿宋" pitchFamily="49" charset="-122"/>
                <a:ea typeface="仿宋" pitchFamily="49" charset="-122"/>
              </a:rPr>
              <a:t>唐代著名的茶学家，被誉为“</a:t>
            </a:r>
            <a:r>
              <a:rPr lang="zh-CN" altLang="en-US" sz="1600" dirty="0">
                <a:latin typeface="仿宋" pitchFamily="49" charset="-122"/>
                <a:ea typeface="仿宋" pitchFamily="49" charset="-122"/>
                <a:hlinkClick r:id="rId5"/>
              </a:rPr>
              <a:t>茶仙</a:t>
            </a:r>
            <a:r>
              <a:rPr lang="zh-CN" altLang="en-US" sz="1600" dirty="0">
                <a:latin typeface="仿宋" pitchFamily="49" charset="-122"/>
                <a:ea typeface="仿宋" pitchFamily="49" charset="-122"/>
              </a:rPr>
              <a:t>”，尊为“</a:t>
            </a:r>
            <a:r>
              <a:rPr lang="zh-CN" altLang="en-US" sz="1600" dirty="0">
                <a:latin typeface="仿宋" pitchFamily="49" charset="-122"/>
                <a:ea typeface="仿宋" pitchFamily="49" charset="-122"/>
                <a:hlinkClick r:id="rId6"/>
              </a:rPr>
              <a:t>茶圣</a:t>
            </a:r>
            <a:r>
              <a:rPr lang="zh-CN" altLang="en-US" sz="1600" dirty="0">
                <a:latin typeface="仿宋" pitchFamily="49" charset="-122"/>
                <a:ea typeface="仿宋" pitchFamily="49" charset="-122"/>
              </a:rPr>
              <a:t>”，祀为“</a:t>
            </a:r>
            <a:r>
              <a:rPr lang="zh-CN" altLang="en-US" sz="1600" dirty="0">
                <a:latin typeface="仿宋" pitchFamily="49" charset="-122"/>
                <a:ea typeface="仿宋" pitchFamily="49" charset="-122"/>
                <a:hlinkClick r:id="rId7"/>
              </a:rPr>
              <a:t>茶神</a:t>
            </a:r>
            <a:r>
              <a:rPr lang="zh-CN" altLang="en-US" sz="1600" dirty="0">
                <a:latin typeface="仿宋" pitchFamily="49" charset="-122"/>
                <a:ea typeface="仿宋" pitchFamily="49" charset="-122"/>
              </a:rPr>
              <a:t>”</a:t>
            </a:r>
          </a:p>
        </p:txBody>
      </p:sp>
      <p:sp>
        <p:nvSpPr>
          <p:cNvPr id="5" name="矩形 4"/>
          <p:cNvSpPr/>
          <p:nvPr/>
        </p:nvSpPr>
        <p:spPr>
          <a:xfrm>
            <a:off x="3862983" y="4274490"/>
            <a:ext cx="32004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仿宋" pitchFamily="49" charset="-122"/>
                <a:ea typeface="仿宋" pitchFamily="49" charset="-122"/>
              </a:rPr>
              <a:t>其沸，</a:t>
            </a:r>
            <a:endParaRPr lang="en-US" altLang="zh-CN" dirty="0">
              <a:latin typeface="仿宋" pitchFamily="49" charset="-122"/>
              <a:ea typeface="仿宋" pitchFamily="49" charset="-122"/>
            </a:endParaRPr>
          </a:p>
          <a:p>
            <a:r>
              <a:rPr lang="zh-CN" altLang="en-US" dirty="0">
                <a:latin typeface="仿宋" pitchFamily="49" charset="-122"/>
                <a:ea typeface="仿宋" pitchFamily="49" charset="-122"/>
              </a:rPr>
              <a:t>如鱼目，微有声，为</a:t>
            </a:r>
            <a:r>
              <a:rPr lang="zh-CN" altLang="en-US" dirty="0">
                <a:solidFill>
                  <a:srgbClr val="0000FF"/>
                </a:solidFill>
                <a:latin typeface="仿宋" pitchFamily="49" charset="-122"/>
                <a:ea typeface="仿宋" pitchFamily="49" charset="-122"/>
              </a:rPr>
              <a:t>一沸</a:t>
            </a:r>
            <a:r>
              <a:rPr lang="zh-CN" altLang="en-US" dirty="0">
                <a:latin typeface="仿宋" pitchFamily="49" charset="-122"/>
                <a:ea typeface="仿宋" pitchFamily="49" charset="-122"/>
              </a:rPr>
              <a:t>；</a:t>
            </a:r>
            <a:endParaRPr lang="en-US" altLang="zh-CN" dirty="0">
              <a:latin typeface="仿宋" pitchFamily="49" charset="-122"/>
              <a:ea typeface="仿宋" pitchFamily="49" charset="-122"/>
            </a:endParaRPr>
          </a:p>
          <a:p>
            <a:r>
              <a:rPr lang="zh-CN" altLang="en-US" dirty="0">
                <a:latin typeface="仿宋" pitchFamily="49" charset="-122"/>
                <a:ea typeface="仿宋" pitchFamily="49" charset="-122"/>
              </a:rPr>
              <a:t>缘边如涌泉连珠，为</a:t>
            </a:r>
            <a:r>
              <a:rPr lang="zh-CN" altLang="en-US" dirty="0">
                <a:solidFill>
                  <a:srgbClr val="0000FF"/>
                </a:solidFill>
                <a:latin typeface="仿宋" pitchFamily="49" charset="-122"/>
                <a:ea typeface="仿宋" pitchFamily="49" charset="-122"/>
              </a:rPr>
              <a:t>二沸</a:t>
            </a:r>
            <a:r>
              <a:rPr lang="zh-CN" altLang="en-US" dirty="0">
                <a:latin typeface="仿宋" pitchFamily="49" charset="-122"/>
                <a:ea typeface="仿宋" pitchFamily="49" charset="-122"/>
              </a:rPr>
              <a:t>；</a:t>
            </a:r>
            <a:endParaRPr lang="en-US" altLang="zh-CN" dirty="0">
              <a:latin typeface="仿宋" pitchFamily="49" charset="-122"/>
              <a:ea typeface="仿宋" pitchFamily="49" charset="-122"/>
            </a:endParaRPr>
          </a:p>
          <a:p>
            <a:r>
              <a:rPr lang="zh-CN" altLang="en-US" dirty="0">
                <a:latin typeface="仿宋" pitchFamily="49" charset="-122"/>
                <a:ea typeface="仿宋" pitchFamily="49" charset="-122"/>
              </a:rPr>
              <a:t>腾波鼓浪，为</a:t>
            </a:r>
            <a:r>
              <a:rPr lang="zh-CN" altLang="en-US" dirty="0">
                <a:solidFill>
                  <a:srgbClr val="0000FF"/>
                </a:solidFill>
                <a:latin typeface="仿宋" pitchFamily="49" charset="-122"/>
                <a:ea typeface="仿宋" pitchFamily="49" charset="-122"/>
              </a:rPr>
              <a:t>三沸</a:t>
            </a:r>
            <a:r>
              <a:rPr lang="zh-CN" altLang="en-US" dirty="0">
                <a:latin typeface="仿宋" pitchFamily="49" charset="-122"/>
                <a:ea typeface="仿宋" pitchFamily="49" charset="-122"/>
              </a:rPr>
              <a:t>，</a:t>
            </a:r>
            <a:endParaRPr lang="en-US" altLang="zh-CN" dirty="0">
              <a:latin typeface="仿宋" pitchFamily="49" charset="-122"/>
              <a:ea typeface="仿宋" pitchFamily="49" charset="-122"/>
            </a:endParaRPr>
          </a:p>
          <a:p>
            <a:r>
              <a:rPr lang="zh-CN" altLang="en-US" dirty="0">
                <a:latin typeface="仿宋" pitchFamily="49" charset="-122"/>
                <a:ea typeface="仿宋" pitchFamily="49" charset="-122"/>
              </a:rPr>
              <a:t>已上，水老，不可食也</a:t>
            </a:r>
          </a:p>
        </p:txBody>
      </p:sp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458" y="3886200"/>
            <a:ext cx="2407378" cy="1887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948376" y="76200"/>
            <a:ext cx="60776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We have the chance to define a thermometer!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57002" y="6067332"/>
            <a:ext cx="72811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The define thermometer open the door to discover the mater word !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3434040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6200"/>
            <a:ext cx="41870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Define a your thermometer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pic>
        <p:nvPicPr>
          <p:cNvPr id="29700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0387" y="3937379"/>
            <a:ext cx="3810000" cy="254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4415050"/>
            <a:ext cx="1600201" cy="2133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702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171" y="932696"/>
            <a:ext cx="3716116" cy="2420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703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898576"/>
            <a:ext cx="3721973" cy="2791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171" y="4573216"/>
            <a:ext cx="2341227" cy="1915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矩形 2"/>
          <p:cNvSpPr/>
          <p:nvPr/>
        </p:nvSpPr>
        <p:spPr>
          <a:xfrm>
            <a:off x="173374" y="3512277"/>
            <a:ext cx="4322425" cy="90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50" b="1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Oliver Smoot </a:t>
            </a:r>
          </a:p>
          <a:p>
            <a:r>
              <a:rPr lang="en-US" altLang="zh-CN" sz="105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graduated from MIT with the class of 1962, became a lawyer, and later became chairman of the American National Standards Institute (ANSI, 2001–02) and then, president of the International Organization for Standardization (ISO, 2003–04)</a:t>
            </a:r>
            <a:endParaRPr lang="zh-CN" altLang="en-US" sz="105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493963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/>
          <p:cNvSpPr/>
          <p:nvPr/>
        </p:nvSpPr>
        <p:spPr>
          <a:xfrm>
            <a:off x="4460543" y="1619117"/>
            <a:ext cx="3821373" cy="2971800"/>
          </a:xfrm>
          <a:prstGeom prst="roundRect">
            <a:avLst>
              <a:gd name="adj" fmla="val 10238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6626" name="Picture 2" descr="See the source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827" y="1542069"/>
            <a:ext cx="4038600" cy="3018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990600" y="0"/>
            <a:ext cx="4423262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What is important things </a:t>
            </a:r>
          </a:p>
          <a:p>
            <a:r>
              <a:rPr lang="en-US" altLang="zh-CN" sz="3200" dirty="0">
                <a:solidFill>
                  <a:srgbClr val="FF0000"/>
                </a:solidFill>
              </a:rPr>
              <a:t>behind a thermometer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64698" y="2358641"/>
            <a:ext cx="97013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altLang="zh-CN" sz="2800" dirty="0">
                <a:solidFill>
                  <a:schemeClr val="bg1"/>
                </a:solidFill>
              </a:rPr>
              <a:t>……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altLang="zh-CN" sz="2800" dirty="0">
                <a:solidFill>
                  <a:schemeClr val="bg1"/>
                </a:solidFill>
              </a:rPr>
              <a:t>……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altLang="zh-CN" sz="2800" dirty="0">
                <a:solidFill>
                  <a:schemeClr val="bg1"/>
                </a:solidFill>
              </a:rPr>
              <a:t>…..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76389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227" y="685800"/>
            <a:ext cx="4191000" cy="3199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3337126"/>
            <a:ext cx="5257800" cy="295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978088" y="127379"/>
            <a:ext cx="27195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Effect of Pressure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7156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ECF224C-1FF0-4451-ADD5-75500A04D72D}"/>
              </a:ext>
            </a:extLst>
          </p:cNvPr>
          <p:cNvSpPr txBox="1">
            <a:spLocks/>
          </p:cNvSpPr>
          <p:nvPr/>
        </p:nvSpPr>
        <p:spPr>
          <a:xfrm>
            <a:off x="381000" y="4724400"/>
            <a:ext cx="8229600" cy="738679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dirty="0"/>
              <a:t>The physical meaning is expressed by </a:t>
            </a:r>
            <a:r>
              <a:rPr lang="en-US" altLang="zh-CN" sz="2800" dirty="0">
                <a:hlinkClick r:id="rId2"/>
              </a:rPr>
              <a:t>Maxwell</a:t>
            </a:r>
            <a:r>
              <a:rPr lang="en-US" altLang="zh-CN" sz="2800" dirty="0"/>
              <a:t> in the words: "All heat is of the same kind"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834BAD4-2C95-4437-B104-C9AB356FB6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402" y="1219200"/>
            <a:ext cx="84582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600" b="1">
                <a:solidFill>
                  <a:srgbClr val="FF0000"/>
                </a:solidFill>
                <a:latin typeface="Arial" charset="0"/>
              </a:defRPr>
            </a:lvl1pPr>
            <a:lvl2pPr marL="742950" indent="-285750" eaLnBrk="0" hangingPunct="0">
              <a:defRPr sz="2600" b="1">
                <a:solidFill>
                  <a:srgbClr val="FF0000"/>
                </a:solidFill>
                <a:latin typeface="Arial" charset="0"/>
              </a:defRPr>
            </a:lvl2pPr>
            <a:lvl3pPr marL="1143000" indent="-228600" eaLnBrk="0" hangingPunct="0">
              <a:defRPr sz="2600" b="1">
                <a:solidFill>
                  <a:srgbClr val="FF0000"/>
                </a:solidFill>
                <a:latin typeface="Arial" charset="0"/>
              </a:defRPr>
            </a:lvl3pPr>
            <a:lvl4pPr marL="1600200" indent="-228600" eaLnBrk="0" hangingPunct="0">
              <a:defRPr sz="2600" b="1">
                <a:solidFill>
                  <a:srgbClr val="FF0000"/>
                </a:solidFill>
                <a:latin typeface="Arial" charset="0"/>
              </a:defRPr>
            </a:lvl4pPr>
            <a:lvl5pPr marL="2057400" indent="-228600" eaLnBrk="0" hangingPunct="0">
              <a:defRPr sz="2600" b="1">
                <a:solidFill>
                  <a:srgbClr val="FF0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FF0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FF0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FF0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FF0000"/>
                </a:solidFill>
                <a:latin typeface="Arial" charset="0"/>
              </a:defRPr>
            </a:lvl9pPr>
          </a:lstStyle>
          <a:p>
            <a:pPr defTabSz="914400" eaLnBrk="1" hangingPunct="1"/>
            <a:r>
              <a:rPr lang="en-US" altLang="zh-CN" sz="2000" b="0" i="1" dirty="0">
                <a:ea typeface="宋体" charset="-122"/>
              </a:rPr>
              <a:t>If</a:t>
            </a:r>
            <a:r>
              <a:rPr lang="en-US" altLang="zh-CN" sz="2000" b="0" dirty="0">
                <a:solidFill>
                  <a:srgbClr val="000000"/>
                </a:solidFill>
                <a:ea typeface="宋体" charset="-122"/>
              </a:rPr>
              <a:t> object/system A is in </a:t>
            </a:r>
            <a:r>
              <a:rPr lang="en-US" altLang="zh-CN" sz="2000" b="0" dirty="0">
                <a:solidFill>
                  <a:srgbClr val="0000CC"/>
                </a:solidFill>
                <a:ea typeface="宋体" charset="-122"/>
              </a:rPr>
              <a:t>thermal equilibrium</a:t>
            </a:r>
            <a:r>
              <a:rPr lang="en-US" altLang="zh-CN" sz="2000" b="0" dirty="0">
                <a:solidFill>
                  <a:srgbClr val="000000"/>
                </a:solidFill>
                <a:ea typeface="宋体" charset="-122"/>
              </a:rPr>
              <a:t> with object / system B,</a:t>
            </a:r>
          </a:p>
          <a:p>
            <a:pPr defTabSz="914400" eaLnBrk="1" hangingPunct="1"/>
            <a:r>
              <a:rPr lang="en-US" altLang="zh-CN" sz="2000" b="0" i="1" dirty="0">
                <a:ea typeface="宋体" charset="-122"/>
              </a:rPr>
              <a:t>and</a:t>
            </a:r>
            <a:r>
              <a:rPr lang="en-US" altLang="zh-CN" sz="2000" b="0" dirty="0">
                <a:solidFill>
                  <a:srgbClr val="000000"/>
                </a:solidFill>
                <a:ea typeface="宋体" charset="-122"/>
              </a:rPr>
              <a:t> object/system B is in thermal equilibrium with object/system C, </a:t>
            </a:r>
          </a:p>
          <a:p>
            <a:pPr defTabSz="914400" eaLnBrk="1" hangingPunct="1"/>
            <a:r>
              <a:rPr lang="en-US" altLang="zh-CN" sz="2000" b="0" i="1" dirty="0">
                <a:ea typeface="宋体" charset="-122"/>
              </a:rPr>
              <a:t>then</a:t>
            </a:r>
            <a:r>
              <a:rPr lang="en-US" altLang="zh-CN" sz="2000" b="0" dirty="0">
                <a:solidFill>
                  <a:srgbClr val="000000"/>
                </a:solidFill>
                <a:ea typeface="宋体" charset="-122"/>
              </a:rPr>
              <a:t> object/system C is also in thermal equilibrium with  object/system A.</a:t>
            </a: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024" y="2362200"/>
            <a:ext cx="3836812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/>
        </p:nvSpPr>
        <p:spPr>
          <a:xfrm>
            <a:off x="1183310" y="5813081"/>
            <a:ext cx="6610384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800" dirty="0">
                <a:ea typeface="宋体" charset="-122"/>
              </a:rPr>
              <a:t>This law allows us to build thermometers.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" y="164068"/>
            <a:ext cx="47251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err="1">
                <a:solidFill>
                  <a:srgbClr val="FF0000"/>
                </a:solidFill>
              </a:rPr>
              <a:t>Zeroth</a:t>
            </a:r>
            <a:r>
              <a:rPr lang="en-US" altLang="zh-CN" sz="2800" dirty="0">
                <a:solidFill>
                  <a:srgbClr val="FF0000"/>
                </a:solidFill>
              </a:rPr>
              <a:t> Law of thermodynamics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08857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05BC21D-83FE-4B80-973E-26A1AD521920}"/>
              </a:ext>
            </a:extLst>
          </p:cNvPr>
          <p:cNvSpPr/>
          <p:nvPr/>
        </p:nvSpPr>
        <p:spPr>
          <a:xfrm>
            <a:off x="1222596" y="48266"/>
            <a:ext cx="31854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Temperature scale</a:t>
            </a:r>
            <a:endParaRPr lang="en-US" altLang="zh-CN" sz="2800" b="0" i="0" dirty="0">
              <a:solidFill>
                <a:srgbClr val="FF0000"/>
              </a:solidFill>
              <a:effectLst/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7DD6508-1CAF-4790-B6CB-1307D79213A2}"/>
                  </a:ext>
                </a:extLst>
              </p:cNvPr>
              <p:cNvSpPr txBox="1"/>
              <p:nvPr/>
            </p:nvSpPr>
            <p:spPr>
              <a:xfrm>
                <a:off x="1137298" y="1999998"/>
                <a:ext cx="1727374" cy="5473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zh-CN" altLang="en-US" b="0" i="1" dirty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</m:num>
                        <m:den>
                          <m:r>
                            <a:rPr lang="zh-CN" altLang="en-US" b="0" i="0" dirty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zh-CN" altLang="en-US" b="0" i="0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b="0" i="1" dirty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zh-CN" altLang="en-US" b="0" i="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0" i="1" dirty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0" i="1" dirty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b="0" i="0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b="0" i="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0" i="1" dirty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b="0" i="0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57DD6508-1CAF-4790-B6CB-1307D79213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298" y="1999998"/>
                <a:ext cx="1727374" cy="547394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4F2E49A-1513-4DAB-85B3-1138F5DECBBA}"/>
                  </a:ext>
                </a:extLst>
              </p:cNvPr>
              <p:cNvSpPr txBox="1"/>
              <p:nvPr/>
            </p:nvSpPr>
            <p:spPr>
              <a:xfrm>
                <a:off x="4667914" y="1999998"/>
                <a:ext cx="1727374" cy="5674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 dirty="0" smtClean="0">
                                  <a:latin typeface="Cambria Math"/>
                                </a:rPr>
                                <m:t>𝑣</m:t>
                              </m:r>
                            </m:sub>
                          </m:sSub>
                        </m:num>
                        <m:den>
                          <m:r>
                            <a:rPr lang="zh-CN" altLang="en-US" b="0" i="0" dirty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zh-CN" altLang="en-US" b="0" i="0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zh-CN" altLang="en-US" b="0" i="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b="0" i="1" baseline="-25000" dirty="0" smtClean="0">
                              <a:latin typeface="Cambria Math"/>
                            </a:rPr>
                            <m:t>0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zh-CN" altLang="en-US" b="0" i="0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b="0" i="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zh-CN" altLang="en-US" b="0" i="0" dirty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4F2E49A-1513-4DAB-85B3-1138F5DECB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914" y="1999998"/>
                <a:ext cx="1727374" cy="567463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>
            <a:extLst>
              <a:ext uri="{FF2B5EF4-FFF2-40B4-BE49-F238E27FC236}">
                <a16:creationId xmlns:a16="http://schemas.microsoft.com/office/drawing/2014/main" id="{56F27F08-339F-49E2-A24B-2C6CEA0646BC}"/>
              </a:ext>
            </a:extLst>
          </p:cNvPr>
          <p:cNvSpPr/>
          <p:nvPr/>
        </p:nvSpPr>
        <p:spPr>
          <a:xfrm>
            <a:off x="526296" y="1452308"/>
            <a:ext cx="3494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Constant pressure thermometer</a:t>
            </a:r>
            <a:endParaRPr lang="zh-CN" altLang="en-US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F98994B-36AC-4D33-9611-023EC7900680}"/>
              </a:ext>
            </a:extLst>
          </p:cNvPr>
          <p:cNvSpPr/>
          <p:nvPr/>
        </p:nvSpPr>
        <p:spPr>
          <a:xfrm>
            <a:off x="4664502" y="1447800"/>
            <a:ext cx="32880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Constant volume thermometer</a:t>
            </a:r>
            <a:endParaRPr lang="zh-CN" altLang="en-US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BB4D49D5-CD40-47C8-934E-E8377A87064E}"/>
                  </a:ext>
                </a:extLst>
              </p:cNvPr>
              <p:cNvSpPr txBox="1"/>
              <p:nvPr/>
            </p:nvSpPr>
            <p:spPr>
              <a:xfrm>
                <a:off x="2273729" y="5593039"/>
                <a:ext cx="2647507" cy="39498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𝑙𝑖𝑚</m:t>
                        </m:r>
                      </m:e>
                      <m:lim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→0</m:t>
                        </m:r>
                      </m:lim>
                    </m:limLow>
                  </m:oMath>
                </a14:m>
                <a:r>
                  <a:rPr lang="en-US" altLang="zh-CN" dirty="0">
                    <a:latin typeface="Arial Unicode MS" pitchFamily="34" charset="-122"/>
                    <a:ea typeface="Arial Unicode MS" pitchFamily="34" charset="-122"/>
                    <a:cs typeface="Arial Unicode MS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zh-CN" dirty="0">
                    <a:latin typeface="Arial Unicode MS" pitchFamily="34" charset="-122"/>
                    <a:ea typeface="Arial Unicode MS" pitchFamily="34" charset="-122"/>
                    <a:cs typeface="Arial Unicode MS" pitchFamily="34" charset="-122"/>
                  </a:rPr>
                  <a:t>=</a:t>
                </a:r>
                <a:r>
                  <a:rPr lang="zh-CN" altLang="en-US" dirty="0">
                    <a:latin typeface="Arial Unicode MS" pitchFamily="34" charset="-122"/>
                    <a:ea typeface="Arial Unicode MS" pitchFamily="34" charset="-122"/>
                    <a:cs typeface="Arial Unicode MS" pitchFamily="34" charset="-122"/>
                  </a:rPr>
                  <a:t>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𝑙𝑖𝑚</m:t>
                        </m:r>
                      </m:e>
                      <m:li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→0</m:t>
                        </m:r>
                      </m:lim>
                    </m:limLow>
                  </m:oMath>
                </a14:m>
                <a:r>
                  <a:rPr lang="en-US" altLang="zh-CN" dirty="0">
                    <a:latin typeface="Arial Unicode MS" pitchFamily="34" charset="-122"/>
                    <a:ea typeface="Arial Unicode MS" pitchFamily="34" charset="-122"/>
                    <a:cs typeface="Arial Unicode MS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endParaRPr lang="zh-CN" altLang="en-US" dirty="0"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BB4D49D5-CD40-47C8-934E-E8377A8706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3729" y="5593039"/>
                <a:ext cx="2647507" cy="394980"/>
              </a:xfrm>
              <a:prstGeom prst="rect">
                <a:avLst/>
              </a:prstGeom>
              <a:blipFill rotWithShape="1">
                <a:blip r:embed="rId5"/>
                <a:stretch>
                  <a:fillRect l="-2995" t="-18462" b="-13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>
            <a:extLst>
              <a:ext uri="{FF2B5EF4-FFF2-40B4-BE49-F238E27FC236}">
                <a16:creationId xmlns:a16="http://schemas.microsoft.com/office/drawing/2014/main" id="{BB67DD63-D2DC-48FD-A293-B40A0B1E9154}"/>
              </a:ext>
            </a:extLst>
          </p:cNvPr>
          <p:cNvSpPr txBox="1"/>
          <p:nvPr/>
        </p:nvSpPr>
        <p:spPr>
          <a:xfrm>
            <a:off x="386469" y="914400"/>
            <a:ext cx="3538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altLang="zh-CN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Experience temperature scale</a:t>
            </a:r>
            <a:endParaRPr lang="zh-CN" altLang="en-US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9DAC56F-BB9E-43F0-A214-6527D39EFB9A}"/>
              </a:ext>
            </a:extLst>
          </p:cNvPr>
          <p:cNvSpPr/>
          <p:nvPr/>
        </p:nvSpPr>
        <p:spPr>
          <a:xfrm>
            <a:off x="456410" y="3475276"/>
            <a:ext cx="52585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altLang="zh-CN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Absolute thermodynamic temperature scale </a:t>
            </a:r>
            <a:endParaRPr lang="zh-CN" altLang="en-US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E3C89AAA-D746-412B-B9FE-86C720AF3A26}"/>
                  </a:ext>
                </a:extLst>
              </p:cNvPr>
              <p:cNvSpPr txBox="1"/>
              <p:nvPr/>
            </p:nvSpPr>
            <p:spPr>
              <a:xfrm>
                <a:off x="5714999" y="3523784"/>
                <a:ext cx="158750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E3C89AAA-D746-412B-B9FE-86C720AF3A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4999" y="3523784"/>
                <a:ext cx="1587500" cy="276999"/>
              </a:xfrm>
              <a:prstGeom prst="rect">
                <a:avLst/>
              </a:prstGeom>
              <a:blipFill rotWithShape="1">
                <a:blip r:embed="rId6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>
            <a:extLst>
              <a:ext uri="{FF2B5EF4-FFF2-40B4-BE49-F238E27FC236}">
                <a16:creationId xmlns:a16="http://schemas.microsoft.com/office/drawing/2014/main" id="{35FDFB5B-2388-49A4-82CA-5B37B6ED029B}"/>
              </a:ext>
            </a:extLst>
          </p:cNvPr>
          <p:cNvSpPr/>
          <p:nvPr/>
        </p:nvSpPr>
        <p:spPr>
          <a:xfrm>
            <a:off x="301594" y="4521054"/>
            <a:ext cx="765098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temperature measured by the constant volume thermometer and constant pressure thermometer is the same, </a:t>
            </a:r>
          </a:p>
          <a:p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the Boyle relation, i.e. </a:t>
            </a:r>
            <a:r>
              <a:rPr lang="en-US" altLang="zh-CN" sz="2000" dirty="0" err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pV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=C.</a:t>
            </a:r>
            <a:endParaRPr lang="zh-CN" altLang="en-US" sz="2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2683156"/>
            <a:ext cx="24247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v0, volume at ice point, </a:t>
            </a:r>
          </a:p>
          <a:p>
            <a:r>
              <a:rPr lang="en-US" altLang="zh-CN" sz="1600" dirty="0"/>
              <a:t>V1, volume at boiling 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7914" y="2683156"/>
            <a:ext cx="24677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/>
              <a:t>p0, pressure at ice point, </a:t>
            </a:r>
          </a:p>
          <a:p>
            <a:r>
              <a:rPr lang="en-US" altLang="zh-CN" sz="1600" dirty="0"/>
              <a:t>p1,pressure at boiling point</a:t>
            </a:r>
          </a:p>
        </p:txBody>
      </p:sp>
    </p:spTree>
    <p:extLst>
      <p:ext uri="{BB962C8B-B14F-4D97-AF65-F5344CB8AC3E}">
        <p14:creationId xmlns:p14="http://schemas.microsoft.com/office/powerpoint/2010/main" val="13329539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C2FF206-8E0C-4796-9D4B-4245787490DF}"/>
              </a:ext>
            </a:extLst>
          </p:cNvPr>
          <p:cNvSpPr/>
          <p:nvPr/>
        </p:nvSpPr>
        <p:spPr>
          <a:xfrm>
            <a:off x="254265" y="1263134"/>
            <a:ext cx="27302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Boyle relation, i.e. </a:t>
            </a:r>
            <a:r>
              <a:rPr lang="en-US" altLang="zh-CN" dirty="0" err="1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pV</a:t>
            </a:r>
            <a:r>
              <a:rPr lang="en-US" altLang="zh-CN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=C.</a:t>
            </a:r>
            <a:endParaRPr lang="zh-CN" altLang="en-US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1FEBA13-AB30-48D7-8A99-B01330A631CA}"/>
              </a:ext>
            </a:extLst>
          </p:cNvPr>
          <p:cNvSpPr txBox="1"/>
          <p:nvPr/>
        </p:nvSpPr>
        <p:spPr>
          <a:xfrm>
            <a:off x="-15073" y="0"/>
            <a:ext cx="1665841" cy="584775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Solution</a:t>
            </a:r>
            <a:endParaRPr lang="zh-CN" altLang="en-US" sz="3200" dirty="0">
              <a:solidFill>
                <a:schemeClr val="bg1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904BB2C-4F0F-48B4-B780-E65082D52EB0}"/>
              </a:ext>
            </a:extLst>
          </p:cNvPr>
          <p:cNvSpPr txBox="1"/>
          <p:nvPr/>
        </p:nvSpPr>
        <p:spPr>
          <a:xfrm>
            <a:off x="254265" y="1739900"/>
            <a:ext cx="3961341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C is temperature dependent, C=F (</a:t>
            </a:r>
            <a:r>
              <a:rPr lang="el-GR" altLang="zh-CN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θ</a:t>
            </a:r>
            <a:r>
              <a:rPr lang="en-US" altLang="zh-CN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)</a:t>
            </a:r>
          </a:p>
          <a:p>
            <a:r>
              <a:rPr lang="en-US" altLang="zh-CN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where </a:t>
            </a:r>
            <a:r>
              <a:rPr lang="el-GR" altLang="zh-CN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θ</a:t>
            </a:r>
            <a:r>
              <a:rPr lang="en-US" altLang="zh-CN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is temperature scale. </a:t>
            </a:r>
            <a:endParaRPr lang="zh-CN" altLang="en-US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7BECC2E-F2E9-42A0-A7C4-7103980EEE86}"/>
              </a:ext>
            </a:extLst>
          </p:cNvPr>
          <p:cNvSpPr/>
          <p:nvPr/>
        </p:nvSpPr>
        <p:spPr>
          <a:xfrm>
            <a:off x="428720" y="2493665"/>
            <a:ext cx="11528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pV</a:t>
            </a:r>
            <a:r>
              <a:rPr lang="en-US" altLang="zh-CN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= F (</a:t>
            </a:r>
            <a:r>
              <a:rPr lang="el-GR" altLang="zh-CN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θ</a:t>
            </a:r>
            <a:r>
              <a:rPr lang="en-US" altLang="zh-CN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)</a:t>
            </a:r>
            <a:endParaRPr lang="zh-CN" altLang="en-US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FEEFE53-5F25-4C32-8C81-0D669BA57A91}"/>
              </a:ext>
            </a:extLst>
          </p:cNvPr>
          <p:cNvSpPr/>
          <p:nvPr/>
        </p:nvSpPr>
        <p:spPr>
          <a:xfrm>
            <a:off x="4894075" y="1621184"/>
            <a:ext cx="7954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pV</a:t>
            </a:r>
            <a:r>
              <a:rPr lang="en-US" altLang="zh-CN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= </a:t>
            </a:r>
            <a:r>
              <a:rPr lang="el-GR" altLang="zh-CN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θ</a:t>
            </a:r>
            <a:endParaRPr lang="zh-CN" altLang="en-US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1B4E1B7-0277-438F-9A42-983086F3DA9F}"/>
              </a:ext>
            </a:extLst>
          </p:cNvPr>
          <p:cNvSpPr txBox="1"/>
          <p:nvPr/>
        </p:nvSpPr>
        <p:spPr>
          <a:xfrm>
            <a:off x="4652949" y="2220688"/>
            <a:ext cx="4062331" cy="646331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At the ice point, temperature is </a:t>
            </a:r>
            <a:r>
              <a:rPr lang="el-GR" altLang="zh-CN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θ</a:t>
            </a:r>
            <a:r>
              <a:rPr lang="en-US" altLang="zh-CN" baseline="-250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0</a:t>
            </a:r>
          </a:p>
          <a:p>
            <a:r>
              <a:rPr lang="en-US" altLang="zh-CN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At the  boiling point, temperature is </a:t>
            </a:r>
            <a:r>
              <a:rPr lang="el-GR" altLang="zh-CN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θ</a:t>
            </a:r>
            <a:r>
              <a:rPr lang="en-US" altLang="zh-CN" baseline="-250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1</a:t>
            </a:r>
            <a:r>
              <a:rPr lang="en-US" altLang="zh-CN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</a:t>
            </a:r>
            <a:endParaRPr lang="zh-CN" altLang="en-US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784FA50-1ED5-4D0A-A71C-BCD7DB5D31AC}"/>
              </a:ext>
            </a:extLst>
          </p:cNvPr>
          <p:cNvSpPr txBox="1"/>
          <p:nvPr/>
        </p:nvSpPr>
        <p:spPr>
          <a:xfrm>
            <a:off x="3302000" y="1227614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(1)</a:t>
            </a:r>
            <a:endParaRPr lang="zh-CN" altLang="en-US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0541D57-A0A3-46CC-A9E0-A6A65F00572B}"/>
              </a:ext>
            </a:extLst>
          </p:cNvPr>
          <p:cNvSpPr txBox="1"/>
          <p:nvPr/>
        </p:nvSpPr>
        <p:spPr>
          <a:xfrm>
            <a:off x="7820015" y="1543136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(3)</a:t>
            </a:r>
            <a:endParaRPr lang="zh-CN" altLang="en-US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C9E0870-70F5-478D-892C-C977C1AB0BCD}"/>
              </a:ext>
            </a:extLst>
          </p:cNvPr>
          <p:cNvSpPr txBox="1"/>
          <p:nvPr/>
        </p:nvSpPr>
        <p:spPr>
          <a:xfrm>
            <a:off x="3302000" y="2487314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(2)</a:t>
            </a:r>
            <a:endParaRPr lang="zh-CN" altLang="en-US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02EAD04-9FD1-45FD-A413-935723A64DC1}"/>
              </a:ext>
            </a:extLst>
          </p:cNvPr>
          <p:cNvSpPr/>
          <p:nvPr/>
        </p:nvSpPr>
        <p:spPr>
          <a:xfrm>
            <a:off x="4745852" y="1307027"/>
            <a:ext cx="1980029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At a special scale</a:t>
            </a:r>
            <a:endParaRPr lang="zh-CN" altLang="en-US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0F5FD4E-911F-4E09-A04E-93666097EFFE}"/>
              </a:ext>
            </a:extLst>
          </p:cNvPr>
          <p:cNvSpPr/>
          <p:nvPr/>
        </p:nvSpPr>
        <p:spPr>
          <a:xfrm>
            <a:off x="294307" y="3761218"/>
            <a:ext cx="1047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i="1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p</a:t>
            </a:r>
            <a:r>
              <a:rPr lang="en-US" altLang="zh-CN" i="1" baseline="-250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0</a:t>
            </a:r>
            <a:r>
              <a:rPr lang="en-US" altLang="zh-CN" i="1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V</a:t>
            </a:r>
            <a:r>
              <a:rPr lang="en-US" altLang="zh-CN" i="1" baseline="-250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0</a:t>
            </a:r>
            <a:r>
              <a:rPr lang="en-US" altLang="zh-CN" i="1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= </a:t>
            </a:r>
            <a:r>
              <a:rPr lang="el-GR" altLang="zh-CN" i="1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θ</a:t>
            </a:r>
            <a:r>
              <a:rPr lang="en-US" altLang="zh-CN" i="1" baseline="-250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0</a:t>
            </a:r>
            <a:endParaRPr lang="zh-CN" altLang="en-US" i="1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77F390B-9D8B-4972-AB01-7A45AEEBBD90}"/>
              </a:ext>
            </a:extLst>
          </p:cNvPr>
          <p:cNvSpPr/>
          <p:nvPr/>
        </p:nvSpPr>
        <p:spPr>
          <a:xfrm>
            <a:off x="1467849" y="3761218"/>
            <a:ext cx="1047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i="1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p</a:t>
            </a:r>
            <a:r>
              <a:rPr lang="en-US" altLang="zh-CN" i="1" baseline="-250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0</a:t>
            </a:r>
            <a:r>
              <a:rPr lang="en-US" altLang="zh-CN" i="1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V</a:t>
            </a:r>
            <a:r>
              <a:rPr lang="en-US" altLang="zh-CN" i="1" baseline="-250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1</a:t>
            </a:r>
            <a:r>
              <a:rPr lang="en-US" altLang="zh-CN" i="1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= </a:t>
            </a:r>
            <a:r>
              <a:rPr lang="el-GR" altLang="zh-CN" i="1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θ</a:t>
            </a:r>
            <a:r>
              <a:rPr lang="en-US" altLang="zh-CN" i="1" baseline="-250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1</a:t>
            </a:r>
            <a:endParaRPr lang="zh-CN" altLang="en-US" i="1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84E2AEB-FA27-4939-B109-3AAC48AC5EDB}"/>
              </a:ext>
            </a:extLst>
          </p:cNvPr>
          <p:cNvSpPr/>
          <p:nvPr/>
        </p:nvSpPr>
        <p:spPr>
          <a:xfrm>
            <a:off x="253127" y="3349677"/>
            <a:ext cx="38972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For constant pressure thermometer</a:t>
            </a:r>
            <a:endParaRPr lang="zh-CN" altLang="en-US" b="1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55144F1-A177-4756-BAFC-D46B8CD84145}"/>
              </a:ext>
            </a:extLst>
          </p:cNvPr>
          <p:cNvSpPr/>
          <p:nvPr/>
        </p:nvSpPr>
        <p:spPr>
          <a:xfrm>
            <a:off x="2678921" y="3748002"/>
            <a:ext cx="8803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i="1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p</a:t>
            </a:r>
            <a:r>
              <a:rPr lang="en-US" altLang="zh-CN" i="1" baseline="-250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0</a:t>
            </a:r>
            <a:r>
              <a:rPr lang="en-US" altLang="zh-CN" i="1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V= </a:t>
            </a:r>
            <a:r>
              <a:rPr lang="el-GR" altLang="zh-CN" i="1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θ</a:t>
            </a:r>
            <a:endParaRPr lang="zh-CN" altLang="en-US" i="1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46572FDF-6E62-438E-9B8F-183530DA3CC0}"/>
                  </a:ext>
                </a:extLst>
              </p:cNvPr>
              <p:cNvSpPr txBox="1"/>
              <p:nvPr/>
            </p:nvSpPr>
            <p:spPr>
              <a:xfrm>
                <a:off x="343978" y="4297392"/>
                <a:ext cx="3740459" cy="4533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zh-CN" altLang="en-US" i="1" dirty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num>
                      <m:den>
                        <m:r>
                          <a:rPr lang="zh-CN" altLang="en-US" i="0" dirty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a:rPr lang="zh-CN" altLang="en-US" i="0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zh-CN" altLang="en-US" i="0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zh-CN" altLang="en-US" i="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0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zh-CN" altLang="en-US" i="0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dirty="0">
                    <a:latin typeface="Arial Unicode MS" pitchFamily="34" charset="-122"/>
                    <a:ea typeface="Arial Unicode MS" pitchFamily="34" charset="-122"/>
                    <a:cs typeface="Arial Unicode MS" pitchFamily="34" charset="-122"/>
                  </a:rPr>
                  <a:t>=</a:t>
                </a:r>
                <a:r>
                  <a:rPr lang="zh-CN" altLang="en-US" dirty="0">
                    <a:latin typeface="Arial Unicode MS" pitchFamily="34" charset="-122"/>
                    <a:ea typeface="Arial Unicode MS" pitchFamily="34" charset="-122"/>
                    <a:cs typeface="Arial Unicode MS" pitchFamily="34" charset="-12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b="0" i="1" baseline="-25000" dirty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zh-CN" altLang="en-US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i="1" baseline="-25000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zh-CN" alt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zh-CN" altLang="en-US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l-GR" altLang="zh-CN" i="1" dirty="0" smtClean="0"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zh-CN" altLang="en-US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zh-CN" i="1" dirty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zh-CN" i="1" dirty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zh-CN" alt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zh-CN" i="1" dirty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zh-CN" altLang="en-US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endParaRPr lang="zh-CN" altLang="en-US" dirty="0"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46572FDF-6E62-438E-9B8F-183530DA3C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978" y="4297392"/>
                <a:ext cx="3740459" cy="453394"/>
              </a:xfrm>
              <a:prstGeom prst="rect">
                <a:avLst/>
              </a:prstGeom>
              <a:blipFill rotWithShape="1">
                <a:blip r:embed="rId2"/>
                <a:stretch>
                  <a:fillRect l="-1466" t="-2703" b="-148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本框 20">
            <a:extLst>
              <a:ext uri="{FF2B5EF4-FFF2-40B4-BE49-F238E27FC236}">
                <a16:creationId xmlns:a16="http://schemas.microsoft.com/office/drawing/2014/main" id="{71943F69-3F24-473F-A708-F93777579AF9}"/>
              </a:ext>
            </a:extLst>
          </p:cNvPr>
          <p:cNvSpPr txBox="1"/>
          <p:nvPr/>
        </p:nvSpPr>
        <p:spPr>
          <a:xfrm>
            <a:off x="3502707" y="373411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(4)</a:t>
            </a:r>
            <a:endParaRPr lang="zh-CN" altLang="en-US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04FD143-EA64-4E09-AB1F-AEC49EA89B87}"/>
              </a:ext>
            </a:extLst>
          </p:cNvPr>
          <p:cNvSpPr txBox="1"/>
          <p:nvPr/>
        </p:nvSpPr>
        <p:spPr>
          <a:xfrm>
            <a:off x="3530140" y="4343727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(5)</a:t>
            </a:r>
            <a:endParaRPr lang="zh-CN" altLang="en-US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9EE596C-05B1-4D1C-99F3-57A5407BB42F}"/>
              </a:ext>
            </a:extLst>
          </p:cNvPr>
          <p:cNvSpPr/>
          <p:nvPr/>
        </p:nvSpPr>
        <p:spPr>
          <a:xfrm>
            <a:off x="4572000" y="3406181"/>
            <a:ext cx="37866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For constant volume thermometer</a:t>
            </a:r>
            <a:endParaRPr lang="zh-CN" altLang="en-US" b="1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B46FCCB-9091-4FD9-BD14-BEFE9E03C050}"/>
              </a:ext>
            </a:extLst>
          </p:cNvPr>
          <p:cNvSpPr/>
          <p:nvPr/>
        </p:nvSpPr>
        <p:spPr>
          <a:xfrm>
            <a:off x="4555986" y="3769856"/>
            <a:ext cx="1047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i="1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p</a:t>
            </a:r>
            <a:r>
              <a:rPr lang="en-US" altLang="zh-CN" i="1" baseline="-250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0</a:t>
            </a:r>
            <a:r>
              <a:rPr lang="en-US" altLang="zh-CN" i="1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V</a:t>
            </a:r>
            <a:r>
              <a:rPr lang="en-US" altLang="zh-CN" i="1" baseline="-250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0</a:t>
            </a:r>
            <a:r>
              <a:rPr lang="en-US" altLang="zh-CN" i="1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= </a:t>
            </a:r>
            <a:r>
              <a:rPr lang="el-GR" altLang="zh-CN" i="1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θ</a:t>
            </a:r>
            <a:r>
              <a:rPr lang="en-US" altLang="zh-CN" i="1" baseline="-250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0</a:t>
            </a:r>
            <a:endParaRPr lang="zh-CN" altLang="en-US" i="1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5D0C728-BE92-4F1A-85F6-80746AF1BC9D}"/>
              </a:ext>
            </a:extLst>
          </p:cNvPr>
          <p:cNvSpPr/>
          <p:nvPr/>
        </p:nvSpPr>
        <p:spPr>
          <a:xfrm>
            <a:off x="5729528" y="3769856"/>
            <a:ext cx="1047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i="1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p</a:t>
            </a:r>
            <a:r>
              <a:rPr lang="en-US" altLang="zh-CN" i="1" baseline="-250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1</a:t>
            </a:r>
            <a:r>
              <a:rPr lang="en-US" altLang="zh-CN" i="1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V</a:t>
            </a:r>
            <a:r>
              <a:rPr lang="en-US" altLang="zh-CN" i="1" baseline="-250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0</a:t>
            </a:r>
            <a:r>
              <a:rPr lang="en-US" altLang="zh-CN" i="1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= </a:t>
            </a:r>
            <a:r>
              <a:rPr lang="el-GR" altLang="zh-CN" i="1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θ</a:t>
            </a:r>
            <a:r>
              <a:rPr lang="en-US" altLang="zh-CN" i="1" baseline="-250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1</a:t>
            </a:r>
            <a:endParaRPr lang="zh-CN" altLang="en-US" i="1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708005C-3B5D-4543-8840-4762C15661CC}"/>
              </a:ext>
            </a:extLst>
          </p:cNvPr>
          <p:cNvSpPr/>
          <p:nvPr/>
        </p:nvSpPr>
        <p:spPr>
          <a:xfrm>
            <a:off x="6940600" y="3756640"/>
            <a:ext cx="8803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i="1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pV</a:t>
            </a:r>
            <a:r>
              <a:rPr lang="en-US" altLang="zh-CN" i="1" baseline="-250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0</a:t>
            </a:r>
            <a:r>
              <a:rPr lang="en-US" altLang="zh-CN" i="1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= </a:t>
            </a:r>
            <a:r>
              <a:rPr lang="el-GR" altLang="zh-CN" i="1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θ</a:t>
            </a:r>
            <a:endParaRPr lang="zh-CN" altLang="en-US" i="1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F3AB79A-2CF5-4822-802C-09DCE12C586B}"/>
              </a:ext>
            </a:extLst>
          </p:cNvPr>
          <p:cNvSpPr txBox="1"/>
          <p:nvPr/>
        </p:nvSpPr>
        <p:spPr>
          <a:xfrm>
            <a:off x="7833629" y="375664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(6)</a:t>
            </a:r>
            <a:endParaRPr lang="zh-CN" altLang="en-US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AF9A8529-C163-42BE-A954-FCA33C2AA8D4}"/>
                  </a:ext>
                </a:extLst>
              </p:cNvPr>
              <p:cNvSpPr txBox="1"/>
              <p:nvPr/>
            </p:nvSpPr>
            <p:spPr>
              <a:xfrm>
                <a:off x="4696593" y="4297392"/>
                <a:ext cx="3740459" cy="4533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num>
                      <m:den>
                        <m:r>
                          <a:rPr lang="zh-CN" altLang="en-US" i="0" dirty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a:rPr lang="zh-CN" altLang="en-US" i="0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b="0" i="0" dirty="0" smtClean="0">
                            <a:latin typeface="Cambria Math"/>
                          </a:rPr>
                          <m:t>p</m:t>
                        </m:r>
                        <m:r>
                          <a:rPr lang="zh-CN" altLang="en-US" i="0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zh-CN" altLang="en-US" i="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0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zh-CN" altLang="en-US" i="0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dirty="0">
                    <a:latin typeface="Arial Unicode MS" pitchFamily="34" charset="-122"/>
                    <a:ea typeface="Arial Unicode MS" pitchFamily="34" charset="-122"/>
                    <a:cs typeface="Arial Unicode MS" pitchFamily="34" charset="-122"/>
                  </a:rPr>
                  <a:t>=</a:t>
                </a:r>
                <a:r>
                  <a:rPr lang="zh-CN" altLang="en-US" dirty="0">
                    <a:latin typeface="Arial Unicode MS" pitchFamily="34" charset="-122"/>
                    <a:ea typeface="Arial Unicode MS" pitchFamily="34" charset="-122"/>
                    <a:cs typeface="Arial Unicode MS" pitchFamily="34" charset="-12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/>
                          </a:rPr>
                          <m:t>𝑣</m:t>
                        </m:r>
                        <m:r>
                          <a:rPr lang="en-US" altLang="zh-CN" b="0" i="1" baseline="-25000" dirty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zh-CN" b="0" i="0" dirty="0" smtClean="0">
                            <a:latin typeface="Cambria Math"/>
                          </a:rPr>
                          <m:t>p</m:t>
                        </m:r>
                        <m:r>
                          <a:rPr lang="zh-CN" altLang="en-US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dirty="0" smtClean="0">
                            <a:latin typeface="Cambria Math"/>
                          </a:rPr>
                          <m:t>𝑝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/>
                          </a:rPr>
                          <m:t>𝑣</m:t>
                        </m:r>
                        <m:r>
                          <a:rPr lang="en-US" altLang="zh-CN" i="1" baseline="-25000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zh-CN" alt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zh-CN" altLang="en-US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l-GR" altLang="zh-CN" i="1" dirty="0" smtClean="0"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zh-CN" altLang="en-US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zh-CN" i="1" dirty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zh-CN" i="1" dirty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zh-CN" alt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zh-CN" i="1" dirty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zh-CN" altLang="en-US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endParaRPr lang="zh-CN" altLang="en-US" dirty="0"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AF9A8529-C163-42BE-A954-FCA33C2AA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6593" y="4297392"/>
                <a:ext cx="3740459" cy="453394"/>
              </a:xfrm>
              <a:prstGeom prst="rect">
                <a:avLst/>
              </a:prstGeom>
              <a:blipFill rotWithShape="1">
                <a:blip r:embed="rId3"/>
                <a:stretch>
                  <a:fillRect l="-1466" t="-2703" b="-148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文本框 32">
            <a:extLst>
              <a:ext uri="{FF2B5EF4-FFF2-40B4-BE49-F238E27FC236}">
                <a16:creationId xmlns:a16="http://schemas.microsoft.com/office/drawing/2014/main" id="{CFB4E4E3-9E0C-4949-9160-DE5BA879F0EF}"/>
              </a:ext>
            </a:extLst>
          </p:cNvPr>
          <p:cNvSpPr txBox="1"/>
          <p:nvPr/>
        </p:nvSpPr>
        <p:spPr>
          <a:xfrm>
            <a:off x="7860057" y="4268399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(7)</a:t>
            </a:r>
            <a:endParaRPr lang="zh-CN" altLang="en-US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9815081-B737-4919-97B5-D0513258B634}"/>
              </a:ext>
            </a:extLst>
          </p:cNvPr>
          <p:cNvSpPr txBox="1"/>
          <p:nvPr/>
        </p:nvSpPr>
        <p:spPr>
          <a:xfrm>
            <a:off x="5079527" y="5783508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(8)</a:t>
            </a:r>
            <a:endParaRPr lang="zh-CN" altLang="en-US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EFCDD80-BB80-4E0E-B8F9-7CE3ECF8EE7F}"/>
              </a:ext>
            </a:extLst>
          </p:cNvPr>
          <p:cNvSpPr/>
          <p:nvPr/>
        </p:nvSpPr>
        <p:spPr>
          <a:xfrm>
            <a:off x="2678921" y="5087999"/>
            <a:ext cx="3275256" cy="369332"/>
          </a:xfrm>
          <a:prstGeom prst="rect">
            <a:avLst/>
          </a:prstGeom>
          <a:solidFill>
            <a:schemeClr val="accent6"/>
          </a:solidFill>
        </p:spPr>
        <p:txBody>
          <a:bodyPr wrap="none">
            <a:spAutoFit/>
          </a:bodyPr>
          <a:lstStyle/>
          <a:p>
            <a:r>
              <a:rPr lang="en-US" altLang="zh-CN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Comparing Eq. (5) and Eq. (7)</a:t>
            </a:r>
            <a:endParaRPr lang="zh-CN" altLang="en-US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7E994AD9-6EAD-4952-89AB-045372999D4B}"/>
                  </a:ext>
                </a:extLst>
              </p:cNvPr>
              <p:cNvSpPr/>
              <p:nvPr/>
            </p:nvSpPr>
            <p:spPr>
              <a:xfrm>
                <a:off x="3465175" y="5794544"/>
                <a:ext cx="109081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baseline="-25000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altLang="zh-CN" dirty="0">
                    <a:latin typeface="Arial Unicode MS" pitchFamily="34" charset="-122"/>
                    <a:ea typeface="Arial Unicode MS" pitchFamily="34" charset="-122"/>
                    <a:cs typeface="Arial Unicode MS" pitchFamily="34" charset="-122"/>
                  </a:rPr>
                  <a:t>=</a:t>
                </a:r>
                <a:r>
                  <a:rPr lang="en-US" altLang="zh-CN" i="1" dirty="0">
                    <a:latin typeface="Arial Unicode MS" pitchFamily="34" charset="-122"/>
                    <a:ea typeface="Arial Unicode MS" pitchFamily="34" charset="-122"/>
                    <a:cs typeface="Arial Unicode MS" pitchFamily="34" charset="-122"/>
                  </a:rPr>
                  <a:t>t</a:t>
                </a:r>
                <a:endParaRPr lang="zh-CN" altLang="en-US" i="1" dirty="0"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endParaRPr>
              </a:p>
            </p:txBody>
          </p:sp>
        </mc:Choice>
        <mc:Fallback xmlns="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7E994AD9-6EAD-4952-89AB-045372999D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5175" y="5794544"/>
                <a:ext cx="1090811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333" r="-1676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21450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B3027E8-E69D-4311-A5BE-4CFACC686F14}"/>
              </a:ext>
            </a:extLst>
          </p:cNvPr>
          <p:cNvSpPr/>
          <p:nvPr/>
        </p:nvSpPr>
        <p:spPr>
          <a:xfrm>
            <a:off x="622815" y="2506450"/>
            <a:ext cx="28200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For simple define constant </a:t>
            </a:r>
            <a:r>
              <a:rPr lang="en-US" altLang="zh-CN" sz="1600" b="1" i="1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a</a:t>
            </a:r>
            <a:r>
              <a:rPr lang="en-US" altLang="zh-CN" sz="16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78A3FD4A-3B5C-4B06-8B8A-CFDB8B83B338}"/>
                  </a:ext>
                </a:extLst>
              </p:cNvPr>
              <p:cNvSpPr/>
              <p:nvPr/>
            </p:nvSpPr>
            <p:spPr>
              <a:xfrm>
                <a:off x="743392" y="2853991"/>
                <a:ext cx="1668149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zh-CN" sz="16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zh-CN" altLang="en-US" sz="16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1600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en-US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zh-CN" sz="16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zh-CN" altLang="en-US" sz="16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600" i="1" dirty="0">
                    <a:latin typeface="Arial Unicode MS" pitchFamily="34" charset="-122"/>
                    <a:ea typeface="Arial Unicode MS" pitchFamily="34" charset="-122"/>
                    <a:cs typeface="Arial Unicode MS" pitchFamily="34" charset="-122"/>
                  </a:rPr>
                  <a:t>=100</a:t>
                </a:r>
                <a:r>
                  <a:rPr lang="zh-CN" altLang="en-US" sz="1600" i="1" dirty="0">
                    <a:latin typeface="Arial Unicode MS" pitchFamily="34" charset="-122"/>
                    <a:ea typeface="Arial Unicode MS" pitchFamily="34" charset="-122"/>
                    <a:cs typeface="Arial Unicode MS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zh-CN" sz="16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zh-CN" altLang="en-US" sz="16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600" i="1" dirty="0">
                    <a:latin typeface="Arial Unicode MS" pitchFamily="34" charset="-122"/>
                    <a:ea typeface="Arial Unicode MS" pitchFamily="34" charset="-122"/>
                    <a:cs typeface="Arial Unicode MS" pitchFamily="34" charset="-122"/>
                  </a:rPr>
                  <a:t>a</a:t>
                </a:r>
                <a:endParaRPr lang="zh-CN" altLang="en-US" sz="1600" i="1" dirty="0"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78A3FD4A-3B5C-4B06-8B8A-CFDB8B83B3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392" y="2853991"/>
                <a:ext cx="1668149" cy="338554"/>
              </a:xfrm>
              <a:prstGeom prst="rect">
                <a:avLst/>
              </a:prstGeom>
              <a:blipFill rotWithShape="1">
                <a:blip r:embed="rId2"/>
                <a:stretch>
                  <a:fillRect t="-5357" r="-365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5AC53EDE-82D5-4E0C-B189-B73F9C4675EE}"/>
              </a:ext>
            </a:extLst>
          </p:cNvPr>
          <p:cNvSpPr txBox="1"/>
          <p:nvPr/>
        </p:nvSpPr>
        <p:spPr>
          <a:xfrm>
            <a:off x="600892" y="3274107"/>
            <a:ext cx="3863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Substitute back to the eq.(5) and eq. (7) </a:t>
            </a:r>
            <a:endParaRPr lang="zh-CN" altLang="en-US" sz="16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6C7EEB22-08AD-4DC3-A6EC-28BE3FCA2D15}"/>
                  </a:ext>
                </a:extLst>
              </p:cNvPr>
              <p:cNvSpPr/>
              <p:nvPr/>
            </p:nvSpPr>
            <p:spPr>
              <a:xfrm>
                <a:off x="778456" y="3637977"/>
                <a:ext cx="1386855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1600" i="1" dirty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zh-CN" sz="16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zh-CN" altLang="en-US" sz="16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600" dirty="0">
                    <a:latin typeface="Arial Unicode MS" pitchFamily="34" charset="-122"/>
                    <a:ea typeface="Arial Unicode MS" pitchFamily="34" charset="-122"/>
                    <a:cs typeface="Arial Unicode MS" pitchFamily="34" charset="-122"/>
                  </a:rPr>
                  <a:t>(1+at</a:t>
                </a:r>
                <a:r>
                  <a:rPr lang="en-US" altLang="zh-CN" sz="1600" baseline="-25000" dirty="0">
                    <a:latin typeface="Arial Unicode MS" pitchFamily="34" charset="-122"/>
                    <a:ea typeface="Arial Unicode MS" pitchFamily="34" charset="-122"/>
                    <a:cs typeface="Arial Unicode MS" pitchFamily="34" charset="-122"/>
                  </a:rPr>
                  <a:t>p</a:t>
                </a:r>
                <a:r>
                  <a:rPr lang="en-US" altLang="zh-CN" sz="1600" dirty="0">
                    <a:latin typeface="Arial Unicode MS" pitchFamily="34" charset="-122"/>
                    <a:ea typeface="Arial Unicode MS" pitchFamily="34" charset="-122"/>
                    <a:cs typeface="Arial Unicode MS" pitchFamily="34" charset="-122"/>
                  </a:rPr>
                  <a:t>)</a:t>
                </a:r>
                <a:endParaRPr lang="zh-CN" altLang="en-US" sz="1600" dirty="0"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C7EEB22-08AD-4DC3-A6EC-28BE3FCA2D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456" y="3637977"/>
                <a:ext cx="1386855" cy="338554"/>
              </a:xfrm>
              <a:prstGeom prst="rect">
                <a:avLst/>
              </a:prstGeom>
              <a:blipFill rotWithShape="1">
                <a:blip r:embed="rId3"/>
                <a:stretch>
                  <a:fillRect t="-5455" r="-441" b="-2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2E07F670-31E2-4668-AD9D-F0EF0D3C20B2}"/>
                  </a:ext>
                </a:extLst>
              </p:cNvPr>
              <p:cNvSpPr/>
              <p:nvPr/>
            </p:nvSpPr>
            <p:spPr>
              <a:xfrm>
                <a:off x="760673" y="3936395"/>
                <a:ext cx="1380443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1600" i="1" dirty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zh-CN" sz="16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zh-CN" altLang="en-US" sz="16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600" dirty="0">
                    <a:latin typeface="Arial Unicode MS" pitchFamily="34" charset="-122"/>
                    <a:ea typeface="Arial Unicode MS" pitchFamily="34" charset="-122"/>
                    <a:cs typeface="Arial Unicode MS" pitchFamily="34" charset="-122"/>
                  </a:rPr>
                  <a:t>(1+at</a:t>
                </a:r>
                <a:r>
                  <a:rPr lang="en-US" altLang="zh-CN" sz="1600" baseline="-25000" dirty="0">
                    <a:latin typeface="Arial Unicode MS" pitchFamily="34" charset="-122"/>
                    <a:ea typeface="Arial Unicode MS" pitchFamily="34" charset="-122"/>
                    <a:cs typeface="Arial Unicode MS" pitchFamily="34" charset="-122"/>
                  </a:rPr>
                  <a:t>v</a:t>
                </a:r>
                <a:r>
                  <a:rPr lang="en-US" altLang="zh-CN" sz="1600" dirty="0">
                    <a:latin typeface="Arial Unicode MS" pitchFamily="34" charset="-122"/>
                    <a:ea typeface="Arial Unicode MS" pitchFamily="34" charset="-122"/>
                    <a:cs typeface="Arial Unicode MS" pitchFamily="34" charset="-122"/>
                  </a:rPr>
                  <a:t>)</a:t>
                </a:r>
                <a:endParaRPr lang="zh-CN" altLang="en-US" sz="1600" dirty="0"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E07F670-31E2-4668-AD9D-F0EF0D3C20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673" y="3936395"/>
                <a:ext cx="1380443" cy="338554"/>
              </a:xfrm>
              <a:prstGeom prst="rect">
                <a:avLst/>
              </a:prstGeom>
              <a:blipFill rotWithShape="1">
                <a:blip r:embed="rId4"/>
                <a:stretch>
                  <a:fillRect t="-5455" r="-442" b="-2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2838C5AF-64A6-4291-BFD8-59C9B91B0A52}"/>
              </a:ext>
            </a:extLst>
          </p:cNvPr>
          <p:cNvSpPr txBox="1"/>
          <p:nvPr/>
        </p:nvSpPr>
        <p:spPr>
          <a:xfrm>
            <a:off x="993079" y="31901"/>
            <a:ext cx="35830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State equation of gas</a:t>
            </a:r>
            <a:endParaRPr lang="zh-CN" altLang="en-US" sz="2800" dirty="0">
              <a:solidFill>
                <a:srgbClr val="FF0000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6D12B18-3314-4FDC-9FC0-43B539C6A53D}"/>
                  </a:ext>
                </a:extLst>
              </p:cNvPr>
              <p:cNvSpPr txBox="1"/>
              <p:nvPr/>
            </p:nvSpPr>
            <p:spPr>
              <a:xfrm>
                <a:off x="651018" y="975400"/>
                <a:ext cx="3740459" cy="3928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16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6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zh-CN" altLang="en-US" sz="1600" i="1" dirty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num>
                      <m:den>
                        <m:r>
                          <a:rPr lang="zh-CN" altLang="en-US" sz="1600" i="0" dirty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a:rPr lang="zh-CN" altLang="en-US" sz="1600" i="0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1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1600" i="1" dirty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zh-CN" altLang="en-US" sz="1600" i="0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600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600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zh-CN" altLang="en-US" sz="1600" i="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1600" i="0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600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zh-CN" altLang="en-US" sz="1600" i="0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600" dirty="0">
                    <a:latin typeface="Arial Unicode MS" pitchFamily="34" charset="-122"/>
                    <a:ea typeface="Arial Unicode MS" pitchFamily="34" charset="-122"/>
                    <a:cs typeface="Arial Unicode MS" pitchFamily="34" charset="-122"/>
                  </a:rPr>
                  <a:t>=</a:t>
                </a:r>
                <a:r>
                  <a:rPr lang="zh-CN" altLang="en-US" sz="1600" dirty="0">
                    <a:latin typeface="Arial Unicode MS" pitchFamily="34" charset="-122"/>
                    <a:ea typeface="Arial Unicode MS" pitchFamily="34" charset="-122"/>
                    <a:cs typeface="Arial Unicode MS" pitchFamily="34" charset="-12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1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1600" b="0" i="1" baseline="-25000" dirty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1600" i="1" dirty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zh-CN" altLang="en-US" sz="1600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600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1600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1600" i="1" baseline="-25000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1600" i="1" dirty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600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zh-CN" altLang="en-US" sz="16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1600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600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zh-CN" altLang="en-US" sz="1600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1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l-GR" altLang="zh-CN" sz="1600" i="1" dirty="0" smtClean="0"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zh-CN" altLang="en-US" sz="1600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zh-CN" sz="1600" i="1" dirty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zh-CN" sz="1600" i="1" dirty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zh-CN" altLang="en-US" sz="16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1600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zh-CN" sz="1600" i="1" dirty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zh-CN" altLang="en-US" sz="1600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endParaRPr lang="zh-CN" altLang="en-US" sz="1600" dirty="0"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B6D12B18-3314-4FDC-9FC0-43B539C6A5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018" y="975400"/>
                <a:ext cx="3740459" cy="392800"/>
              </a:xfrm>
              <a:prstGeom prst="rect">
                <a:avLst/>
              </a:prstGeom>
              <a:blipFill rotWithShape="1">
                <a:blip r:embed="rId5"/>
                <a:stretch>
                  <a:fillRect l="-1305" b="-187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F972D55B-AFB8-4ACA-B0A2-2B6057CD9758}"/>
              </a:ext>
            </a:extLst>
          </p:cNvPr>
          <p:cNvSpPr txBox="1"/>
          <p:nvPr/>
        </p:nvSpPr>
        <p:spPr>
          <a:xfrm>
            <a:off x="4009428" y="996344"/>
            <a:ext cx="4363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(5)</a:t>
            </a:r>
            <a:endParaRPr lang="zh-CN" altLang="en-US" sz="16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22278FD-77AB-4866-B889-75F955477077}"/>
              </a:ext>
            </a:extLst>
          </p:cNvPr>
          <p:cNvSpPr txBox="1"/>
          <p:nvPr/>
        </p:nvSpPr>
        <p:spPr>
          <a:xfrm>
            <a:off x="4053160" y="1559434"/>
            <a:ext cx="4363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(7)</a:t>
            </a:r>
            <a:endParaRPr lang="zh-CN" altLang="en-US" sz="16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8A63AC54-7B1C-41D1-ACE4-95C28E8BAE2B}"/>
                  </a:ext>
                </a:extLst>
              </p:cNvPr>
              <p:cNvSpPr/>
              <p:nvPr/>
            </p:nvSpPr>
            <p:spPr>
              <a:xfrm>
                <a:off x="5617144" y="1476417"/>
                <a:ext cx="1359411" cy="338554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none">
                <a:spAutoFit/>
              </a:bodyPr>
              <a:lstStyle/>
              <a:p>
                <a:r>
                  <a:rPr lang="en-US" altLang="zh-CN" sz="1600" i="1" dirty="0" err="1">
                    <a:latin typeface="Arial Unicode MS" pitchFamily="34" charset="-122"/>
                    <a:ea typeface="Arial Unicode MS" pitchFamily="34" charset="-122"/>
                    <a:cs typeface="Arial Unicode MS" pitchFamily="34" charset="-122"/>
                  </a:rPr>
                  <a:t>pV</a:t>
                </a:r>
                <a:r>
                  <a:rPr lang="en-US" altLang="zh-CN" sz="1600" i="1" dirty="0">
                    <a:latin typeface="Arial Unicode MS" pitchFamily="34" charset="-122"/>
                    <a:ea typeface="Arial Unicode MS" pitchFamily="34" charset="-122"/>
                    <a:cs typeface="Arial Unicode MS" pitchFamily="34" charset="-122"/>
                  </a:rPr>
                  <a:t>=</a:t>
                </a:r>
                <a:r>
                  <a:rPr lang="zh-CN" altLang="en-US" sz="1600" i="1" dirty="0">
                    <a:latin typeface="Arial Unicode MS" pitchFamily="34" charset="-122"/>
                    <a:ea typeface="Arial Unicode MS" pitchFamily="34" charset="-122"/>
                    <a:cs typeface="Arial Unicode MS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zh-CN" sz="16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zh-CN" altLang="en-US" sz="16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600" i="1" dirty="0">
                    <a:latin typeface="Arial Unicode MS" pitchFamily="34" charset="-122"/>
                    <a:ea typeface="Arial Unicode MS" pitchFamily="34" charset="-122"/>
                    <a:cs typeface="Arial Unicode MS" pitchFamily="34" charset="-122"/>
                  </a:rPr>
                  <a:t>(1+at)</a:t>
                </a:r>
                <a:endParaRPr lang="zh-CN" altLang="en-US" sz="1600" i="1" dirty="0"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endParaRP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8A63AC54-7B1C-41D1-ACE4-95C28E8BAE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7144" y="1476417"/>
                <a:ext cx="1359411" cy="338554"/>
              </a:xfrm>
              <a:prstGeom prst="rect">
                <a:avLst/>
              </a:prstGeom>
              <a:blipFill rotWithShape="1">
                <a:blip r:embed="rId6"/>
                <a:stretch>
                  <a:fillRect l="-2242" t="-5357" r="-897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F5CBC26E-E9B5-42CE-8864-4A4644F40508}"/>
                  </a:ext>
                </a:extLst>
              </p:cNvPr>
              <p:cNvSpPr/>
              <p:nvPr/>
            </p:nvSpPr>
            <p:spPr>
              <a:xfrm>
                <a:off x="698178" y="2066609"/>
                <a:ext cx="967701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1600" b="0" i="1" baseline="-25000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16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600" i="1" dirty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altLang="zh-CN" sz="1600" dirty="0">
                    <a:latin typeface="Arial Unicode MS" pitchFamily="34" charset="-122"/>
                    <a:ea typeface="Arial Unicode MS" pitchFamily="34" charset="-122"/>
                    <a:cs typeface="Arial Unicode MS" pitchFamily="34" charset="-122"/>
                  </a:rPr>
                  <a:t>=</a:t>
                </a:r>
                <a:r>
                  <a:rPr lang="en-US" altLang="zh-CN" sz="1600" i="1" dirty="0">
                    <a:latin typeface="Arial Unicode MS" pitchFamily="34" charset="-122"/>
                    <a:ea typeface="Arial Unicode MS" pitchFamily="34" charset="-122"/>
                    <a:cs typeface="Arial Unicode MS" pitchFamily="34" charset="-122"/>
                  </a:rPr>
                  <a:t>t</a:t>
                </a:r>
                <a:endParaRPr lang="zh-CN" altLang="en-US" sz="1600" i="1" dirty="0"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endParaRP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F5CBC26E-E9B5-42CE-8864-4A4644F405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178" y="2066609"/>
                <a:ext cx="967701" cy="338554"/>
              </a:xfrm>
              <a:prstGeom prst="rect">
                <a:avLst/>
              </a:prstGeom>
              <a:blipFill rotWithShape="1">
                <a:blip r:embed="rId7"/>
                <a:stretch>
                  <a:fillRect t="-5357" r="-1899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>
            <a:extLst>
              <a:ext uri="{FF2B5EF4-FFF2-40B4-BE49-F238E27FC236}">
                <a16:creationId xmlns:a16="http://schemas.microsoft.com/office/drawing/2014/main" id="{3EF42440-30C2-4168-ABAD-65E6B1A6AA3C}"/>
              </a:ext>
            </a:extLst>
          </p:cNvPr>
          <p:cNvSpPr txBox="1"/>
          <p:nvPr/>
        </p:nvSpPr>
        <p:spPr>
          <a:xfrm>
            <a:off x="4846320" y="2085755"/>
            <a:ext cx="36583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For V=const., p linearly increase with t</a:t>
            </a:r>
          </a:p>
          <a:p>
            <a:r>
              <a:rPr lang="en-US" altLang="zh-CN" sz="16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For p=const., V linearly increase with t</a:t>
            </a:r>
            <a:endParaRPr lang="zh-CN" altLang="en-US" sz="16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4B91BF3-8F14-4C51-9EA0-F21182020E54}"/>
              </a:ext>
            </a:extLst>
          </p:cNvPr>
          <p:cNvSpPr txBox="1"/>
          <p:nvPr/>
        </p:nvSpPr>
        <p:spPr>
          <a:xfrm>
            <a:off x="4850160" y="3113526"/>
            <a:ext cx="27975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Experimental observations:</a:t>
            </a:r>
          </a:p>
          <a:p>
            <a:r>
              <a:rPr lang="en-US" altLang="zh-CN" sz="16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1787, Jacques </a:t>
            </a:r>
            <a:r>
              <a:rPr lang="en-US" altLang="zh-CN" sz="1600" b="1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Charles</a:t>
            </a:r>
          </a:p>
          <a:p>
            <a:r>
              <a:rPr lang="en-US" altLang="zh-CN" sz="16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1802, Joseph L. </a:t>
            </a:r>
            <a:r>
              <a:rPr lang="en-US" altLang="zh-CN" sz="1600" b="1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Gay-Lussac</a:t>
            </a:r>
            <a:endParaRPr lang="zh-CN" altLang="en-US" sz="1600" b="1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737CA44-CB25-41BA-BD03-D90477B51A07}"/>
              </a:ext>
            </a:extLst>
          </p:cNvPr>
          <p:cNvSpPr/>
          <p:nvPr/>
        </p:nvSpPr>
        <p:spPr>
          <a:xfrm>
            <a:off x="4846320" y="956846"/>
            <a:ext cx="301877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1662, Boyle relation, i.e. </a:t>
            </a:r>
            <a:r>
              <a:rPr lang="en-US" altLang="zh-CN" sz="1600" dirty="0" err="1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pV</a:t>
            </a:r>
            <a:r>
              <a:rPr lang="en-US" altLang="zh-CN" sz="16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=C.</a:t>
            </a:r>
            <a:endParaRPr lang="zh-CN" altLang="en-US" sz="16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6D9799A5-7A8C-4826-90F3-5660EF553719}"/>
                  </a:ext>
                </a:extLst>
              </p:cNvPr>
              <p:cNvSpPr txBox="1"/>
              <p:nvPr/>
            </p:nvSpPr>
            <p:spPr>
              <a:xfrm>
                <a:off x="466344" y="4522018"/>
                <a:ext cx="5769336" cy="338554"/>
              </a:xfrm>
              <a:prstGeom prst="rect">
                <a:avLst/>
              </a:prstGeom>
              <a:solidFill>
                <a:schemeClr val="accent6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dirty="0">
                    <a:latin typeface="Arial Unicode MS" pitchFamily="34" charset="-122"/>
                    <a:ea typeface="Arial Unicode MS" pitchFamily="34" charset="-122"/>
                    <a:cs typeface="Arial Unicode MS" pitchFamily="34" charset="-122"/>
                  </a:rPr>
                  <a:t>Later,</a:t>
                </a:r>
                <a:r>
                  <a:rPr lang="zh-CN" altLang="en-US" sz="1600" dirty="0">
                    <a:latin typeface="Arial Unicode MS" pitchFamily="34" charset="-122"/>
                    <a:ea typeface="Arial Unicode MS" pitchFamily="34" charset="-122"/>
                    <a:cs typeface="Arial Unicode MS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𝑒𝑥𝑝𝑒𝑟𝑖𝑚𝑒𝑛𝑡𝑠</m:t>
                        </m:r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𝑠h𝑜𝑤𝑠</m:t>
                        </m:r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𝑡h𝑎𝑡</m:t>
                        </m:r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1600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1600" i="1" baseline="-25000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1600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16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600" i="1" dirty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altLang="zh-CN" sz="1600" dirty="0">
                    <a:latin typeface="Arial Unicode MS" pitchFamily="34" charset="-122"/>
                    <a:ea typeface="Arial Unicode MS" pitchFamily="34" charset="-122"/>
                    <a:cs typeface="Arial Unicode MS" pitchFamily="34" charset="-122"/>
                  </a:rPr>
                  <a:t> is just proximate valid. </a:t>
                </a:r>
                <a:endParaRPr lang="zh-CN" altLang="en-US" sz="1600" dirty="0"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D9799A5-7A8C-4826-90F3-5660EF5537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344" y="4522018"/>
                <a:ext cx="5769336" cy="338554"/>
              </a:xfrm>
              <a:prstGeom prst="rect">
                <a:avLst/>
              </a:prstGeom>
              <a:blipFill rotWithShape="1">
                <a:blip r:embed="rId8"/>
                <a:stretch>
                  <a:fillRect l="-634" t="-5455" b="-2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本框 19">
            <a:extLst>
              <a:ext uri="{FF2B5EF4-FFF2-40B4-BE49-F238E27FC236}">
                <a16:creationId xmlns:a16="http://schemas.microsoft.com/office/drawing/2014/main" id="{2BE2F8F7-5226-4CDC-96F8-74C037800AE1}"/>
              </a:ext>
            </a:extLst>
          </p:cNvPr>
          <p:cNvSpPr txBox="1"/>
          <p:nvPr/>
        </p:nvSpPr>
        <p:spPr>
          <a:xfrm>
            <a:off x="466344" y="5028471"/>
            <a:ext cx="59811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The Boyle relation, i.e. </a:t>
            </a:r>
            <a:r>
              <a:rPr lang="en-US" altLang="zh-CN" sz="1600" dirty="0" err="1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pV</a:t>
            </a:r>
            <a:r>
              <a:rPr lang="en-US" altLang="zh-CN" sz="16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=C is only valid as P is enough small. </a:t>
            </a:r>
            <a:endParaRPr lang="zh-CN" altLang="en-US" sz="16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1AF7B33-B2C3-42B1-AAEE-F4C05CBE760E}"/>
              </a:ext>
            </a:extLst>
          </p:cNvPr>
          <p:cNvSpPr txBox="1"/>
          <p:nvPr/>
        </p:nvSpPr>
        <p:spPr>
          <a:xfrm>
            <a:off x="484632" y="5414083"/>
            <a:ext cx="54072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Idea gas: the gas completely following the Boyle relation, </a:t>
            </a:r>
            <a:endParaRPr lang="zh-CN" altLang="en-US" sz="16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B289AC61-CC1F-46CD-97AE-B32FDB8EFAD1}"/>
                  </a:ext>
                </a:extLst>
              </p:cNvPr>
              <p:cNvSpPr txBox="1"/>
              <p:nvPr/>
            </p:nvSpPr>
            <p:spPr>
              <a:xfrm>
                <a:off x="630060" y="5834628"/>
                <a:ext cx="1803442" cy="3511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pt-BR" altLang="zh-CN" sz="16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limLow>
                            <m:limLowPr>
                              <m:ctrlPr>
                                <a:rPr lang="pt-BR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altLang="zh-CN" sz="160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pt-BR" altLang="zh-CN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pt-BR" altLang="zh-CN" sz="1600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lim>
                          </m:limLow>
                          <m:sSub>
                            <m:sSubPr>
                              <m:ctrlPr>
                                <a:rPr lang="pt-BR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fName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limLow>
                            <m:limLowPr>
                              <m:ctrlPr>
                                <a:rPr lang="pt-BR" altLang="zh-CN" sz="16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altLang="zh-CN" sz="16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pt-BR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pt-BR" altLang="zh-CN" sz="1600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lim>
                          </m:limLow>
                          <m:sSub>
                            <m:sSubPr>
                              <m:ctrlPr>
                                <a:rPr lang="pt-BR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zh-CN" altLang="en-US" sz="1600" dirty="0"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B289AC61-CC1F-46CD-97AE-B32FDB8EFA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060" y="5834628"/>
                <a:ext cx="1803442" cy="351122"/>
              </a:xfrm>
              <a:prstGeom prst="rect">
                <a:avLst/>
              </a:prstGeom>
              <a:blipFill rotWithShape="1">
                <a:blip r:embed="rId9"/>
                <a:stretch>
                  <a:fillRect l="-1351" b="-137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本框 22">
            <a:extLst>
              <a:ext uri="{FF2B5EF4-FFF2-40B4-BE49-F238E27FC236}">
                <a16:creationId xmlns:a16="http://schemas.microsoft.com/office/drawing/2014/main" id="{F47EED39-78D8-4954-80C4-C2A9E8B89511}"/>
              </a:ext>
            </a:extLst>
          </p:cNvPr>
          <p:cNvSpPr txBox="1"/>
          <p:nvPr/>
        </p:nvSpPr>
        <p:spPr>
          <a:xfrm>
            <a:off x="4028993" y="1966990"/>
            <a:ext cx="4363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(8)</a:t>
            </a:r>
            <a:endParaRPr lang="zh-CN" altLang="en-US" sz="16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53EE8DB-442D-4096-A8EC-744D63717ECC}"/>
              </a:ext>
            </a:extLst>
          </p:cNvPr>
          <p:cNvSpPr txBox="1"/>
          <p:nvPr/>
        </p:nvSpPr>
        <p:spPr>
          <a:xfrm>
            <a:off x="4139773" y="5799695"/>
            <a:ext cx="4363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(9)</a:t>
            </a:r>
            <a:endParaRPr lang="zh-CN" altLang="en-US" sz="16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30">
                <a:extLst>
                  <a:ext uri="{FF2B5EF4-FFF2-40B4-BE49-F238E27FC236}">
                    <a16:creationId xmlns:a16="http://schemas.microsoft.com/office/drawing/2014/main" id="{AF9A8529-C163-42BE-A954-FCA33C2AA8D4}"/>
                  </a:ext>
                </a:extLst>
              </p:cNvPr>
              <p:cNvSpPr txBox="1"/>
              <p:nvPr/>
            </p:nvSpPr>
            <p:spPr>
              <a:xfrm>
                <a:off x="600892" y="1517403"/>
                <a:ext cx="3740459" cy="3928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16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6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num>
                      <m:den>
                        <m:r>
                          <a:rPr lang="zh-CN" altLang="en-US" sz="1600" i="0" dirty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a:rPr lang="zh-CN" altLang="en-US" sz="1600" i="0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1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1600" b="0" i="0" dirty="0" smtClean="0">
                            <a:latin typeface="Cambria Math"/>
                          </a:rPr>
                          <m:t>p</m:t>
                        </m:r>
                        <m:r>
                          <a:rPr lang="zh-CN" altLang="en-US" sz="1600" i="0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dirty="0" smtClean="0"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dirty="0" smtClean="0"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zh-CN" altLang="en-US" sz="1600" i="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1600" i="0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dirty="0" smtClean="0"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zh-CN" altLang="en-US" sz="1600" i="0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600" dirty="0">
                    <a:latin typeface="Arial Unicode MS" pitchFamily="34" charset="-122"/>
                    <a:ea typeface="Arial Unicode MS" pitchFamily="34" charset="-122"/>
                    <a:cs typeface="Arial Unicode MS" pitchFamily="34" charset="-122"/>
                  </a:rPr>
                  <a:t>=</a:t>
                </a:r>
                <a:r>
                  <a:rPr lang="zh-CN" altLang="en-US" sz="1600" dirty="0">
                    <a:latin typeface="Arial Unicode MS" pitchFamily="34" charset="-122"/>
                    <a:ea typeface="Arial Unicode MS" pitchFamily="34" charset="-122"/>
                    <a:cs typeface="Arial Unicode MS" pitchFamily="34" charset="-122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1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b="0" i="1" dirty="0" smtClean="0">
                            <a:latin typeface="Cambria Math"/>
                          </a:rPr>
                          <m:t>𝑣</m:t>
                        </m:r>
                        <m:r>
                          <a:rPr lang="en-US" altLang="zh-CN" sz="1600" b="0" i="1" baseline="-25000" dirty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zh-CN" sz="1600" b="0" i="0" dirty="0" smtClean="0">
                            <a:latin typeface="Cambria Math"/>
                          </a:rPr>
                          <m:t>p</m:t>
                        </m:r>
                        <m:r>
                          <a:rPr lang="zh-CN" altLang="en-US" sz="1600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 b="0" i="1" dirty="0" smtClean="0">
                            <a:latin typeface="Cambria Math"/>
                          </a:rPr>
                          <m:t>𝑝</m:t>
                        </m:r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1600" b="0" i="1" dirty="0" smtClean="0">
                            <a:latin typeface="Cambria Math"/>
                          </a:rPr>
                          <m:t>𝑣</m:t>
                        </m:r>
                        <m:r>
                          <a:rPr lang="en-US" altLang="zh-CN" sz="1600" i="1" baseline="-25000" dirty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1600" i="1" dirty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dirty="0" smtClean="0"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zh-CN" altLang="en-US" sz="16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1600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dirty="0" smtClean="0"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zh-CN" altLang="en-US" sz="1600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altLang="zh-CN" sz="16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1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l-GR" altLang="zh-CN" sz="1600" i="1" dirty="0" smtClean="0"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zh-CN" altLang="en-US" sz="1600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zh-CN" sz="1600" i="1" dirty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zh-CN" sz="1600" i="1" dirty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zh-CN" altLang="en-US" sz="16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1600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zh-CN" sz="1600" i="1" dirty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zh-CN" altLang="en-US" sz="1600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endParaRPr lang="zh-CN" altLang="en-US" sz="1600" dirty="0"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endParaRPr>
              </a:p>
            </p:txBody>
          </p:sp>
        </mc:Choice>
        <mc:Fallback xmlns="">
          <p:sp>
            <p:nvSpPr>
              <p:cNvPr id="25" name="文本框 30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F9A8529-C163-42BE-A954-FCA33C2AA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892" y="1517403"/>
                <a:ext cx="3740459" cy="392800"/>
              </a:xfrm>
              <a:prstGeom prst="rect">
                <a:avLst/>
              </a:prstGeom>
              <a:blipFill rotWithShape="1">
                <a:blip r:embed="rId10"/>
                <a:stretch>
                  <a:fillRect l="-1305" t="-1563" b="-171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19900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058E866-1852-4416-99C8-71832FAF41D7}"/>
              </a:ext>
            </a:extLst>
          </p:cNvPr>
          <p:cNvSpPr txBox="1"/>
          <p:nvPr/>
        </p:nvSpPr>
        <p:spPr>
          <a:xfrm>
            <a:off x="381000" y="1524000"/>
            <a:ext cx="80105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US" altLang="zh-CN" sz="2000" dirty="0">
                <a:solidFill>
                  <a:srgbClr val="0000FF"/>
                </a:solidFill>
              </a:rPr>
              <a:t>1. To mixing two  cup of water with same mass, one 100 </a:t>
            </a:r>
            <a:r>
              <a:rPr lang="en-US" altLang="zh-CN" sz="2000" dirty="0" err="1">
                <a:solidFill>
                  <a:srgbClr val="0000FF"/>
                </a:solidFill>
              </a:rPr>
              <a:t>oC</a:t>
            </a:r>
            <a:r>
              <a:rPr lang="en-US" altLang="zh-CN" sz="2000" dirty="0">
                <a:solidFill>
                  <a:srgbClr val="0000FF"/>
                </a:solidFill>
              </a:rPr>
              <a:t> while other is 0 </a:t>
            </a:r>
            <a:r>
              <a:rPr lang="en-US" altLang="zh-CN" sz="2000" baseline="30000" dirty="0" err="1">
                <a:solidFill>
                  <a:srgbClr val="0000FF"/>
                </a:solidFill>
              </a:rPr>
              <a:t>o</a:t>
            </a:r>
            <a:r>
              <a:rPr lang="en-US" altLang="zh-CN" sz="2000" dirty="0" err="1">
                <a:solidFill>
                  <a:srgbClr val="0000FF"/>
                </a:solidFill>
              </a:rPr>
              <a:t>C</a:t>
            </a:r>
            <a:r>
              <a:rPr lang="en-US" altLang="zh-CN" sz="2000" dirty="0">
                <a:solidFill>
                  <a:srgbClr val="0000FF"/>
                </a:solidFill>
              </a:rPr>
              <a:t>, what the temperature you could really get?  Discussion the factors, you need take into account,  to obtain accurate  result.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0" y="6697"/>
            <a:ext cx="1875706" cy="52322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</a:rPr>
              <a:t>Home work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pic>
        <p:nvPicPr>
          <p:cNvPr id="8" name="Picture 2" descr="See the source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376468"/>
            <a:ext cx="3429000" cy="2562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/>
          <p:cNvSpPr txBox="1"/>
          <p:nvPr/>
        </p:nvSpPr>
        <p:spPr>
          <a:xfrm>
            <a:off x="3886200" y="3962400"/>
            <a:ext cx="457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</a:rPr>
              <a:t>2. Whether the temperature scale should be uniform or not? Please do derivation considering the thermal expansion </a:t>
            </a:r>
            <a:r>
              <a:rPr lang="el-GR" altLang="zh-CN" dirty="0">
                <a:solidFill>
                  <a:srgbClr val="0000FF"/>
                </a:solidFill>
              </a:rPr>
              <a:t>δ</a:t>
            </a:r>
            <a:r>
              <a:rPr lang="en-US" altLang="zh-CN" dirty="0">
                <a:solidFill>
                  <a:srgbClr val="0000FF"/>
                </a:solidFill>
              </a:rPr>
              <a:t>l/l ~ const.</a:t>
            </a:r>
            <a:endParaRPr lang="zh-CN" alt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22204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/>
          <p:cNvSpPr txBox="1"/>
          <p:nvPr/>
        </p:nvSpPr>
        <p:spPr>
          <a:xfrm>
            <a:off x="0" y="-23648"/>
            <a:ext cx="2333459" cy="523220"/>
          </a:xfrm>
          <a:prstGeom prst="rect">
            <a:avLst/>
          </a:prstGeom>
          <a:solidFill>
            <a:srgbClr val="00B050"/>
          </a:solidFill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</a:rPr>
              <a:t>Open question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4648200" y="2828835"/>
            <a:ext cx="4038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lang="en-US" altLang="zh-CN" dirty="0">
                <a:solidFill>
                  <a:srgbClr val="0000FF"/>
                </a:solidFill>
              </a:rPr>
              <a:t>Imagine if you could transfer to the a Tang dynast or Song dynast, How could you using a thermometer to change the history</a:t>
            </a:r>
            <a:r>
              <a:rPr lang="zh-CN" altLang="en-US" dirty="0">
                <a:solidFill>
                  <a:srgbClr val="0000FF"/>
                </a:solidFill>
              </a:rPr>
              <a:t>？</a:t>
            </a:r>
            <a:endParaRPr lang="en-US" altLang="zh-CN" dirty="0">
              <a:solidFill>
                <a:srgbClr val="0000FF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r="10590"/>
          <a:stretch/>
        </p:blipFill>
        <p:spPr>
          <a:xfrm>
            <a:off x="246331" y="1676400"/>
            <a:ext cx="3868470" cy="288443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3CA319C-DFAB-3A07-80B7-97E22EECB395}"/>
              </a:ext>
            </a:extLst>
          </p:cNvPr>
          <p:cNvSpPr/>
          <p:nvPr/>
        </p:nvSpPr>
        <p:spPr>
          <a:xfrm>
            <a:off x="4648200" y="1905000"/>
            <a:ext cx="4038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lang="en-US" altLang="zh-CN" dirty="0">
                <a:solidFill>
                  <a:srgbClr val="0000FF"/>
                </a:solidFill>
              </a:rPr>
              <a:t>The importance 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of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thermometer?</a:t>
            </a:r>
          </a:p>
        </p:txBody>
      </p:sp>
    </p:spTree>
    <p:extLst>
      <p:ext uri="{BB962C8B-B14F-4D97-AF65-F5344CB8AC3E}">
        <p14:creationId xmlns:p14="http://schemas.microsoft.com/office/powerpoint/2010/main" val="29710547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2905</TotalTime>
  <Words>2338</Words>
  <Application>Microsoft Office PowerPoint</Application>
  <PresentationFormat>全屏显示(4:3)</PresentationFormat>
  <Paragraphs>334</Paragraphs>
  <Slides>38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52" baseType="lpstr">
      <vt:lpstr>Arial Unicode MS</vt:lpstr>
      <vt:lpstr>proxima-nova</vt:lpstr>
      <vt:lpstr>仿宋</vt:lpstr>
      <vt:lpstr>黑体</vt:lpstr>
      <vt:lpstr>微软雅黑</vt:lpstr>
      <vt:lpstr>Arial</vt:lpstr>
      <vt:lpstr>Arial</vt:lpstr>
      <vt:lpstr>Calibri</vt:lpstr>
      <vt:lpstr>Cambria Math</vt:lpstr>
      <vt:lpstr>Lato</vt:lpstr>
      <vt:lpstr>Times New Roman</vt:lpstr>
      <vt:lpstr>Wingdings</vt:lpstr>
      <vt:lpstr>Office Theme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Classic Thermodynamics</vt:lpstr>
      <vt:lpstr>PowerPoint 演示文稿</vt:lpstr>
      <vt:lpstr>Laws of Thermodynamics</vt:lpstr>
      <vt:lpstr>Application</vt:lpstr>
      <vt:lpstr>PowerPoint 演示文稿</vt:lpstr>
      <vt:lpstr>PowerPoint 演示文稿</vt:lpstr>
      <vt:lpstr>PowerPoint 演示文稿</vt:lpstr>
      <vt:lpstr>The scope of thermodynamics and kinetics  </vt:lpstr>
      <vt:lpstr>The scope of MSE311</vt:lpstr>
      <vt:lpstr>Contents of this course</vt:lpstr>
      <vt:lpstr>Reference Books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Liu WS</cp:lastModifiedBy>
  <cp:revision>185</cp:revision>
  <cp:lastPrinted>2021-09-05T13:14:10Z</cp:lastPrinted>
  <dcterms:created xsi:type="dcterms:W3CDTF">2006-08-16T00:00:00Z</dcterms:created>
  <dcterms:modified xsi:type="dcterms:W3CDTF">2022-09-04T03:10:38Z</dcterms:modified>
</cp:coreProperties>
</file>