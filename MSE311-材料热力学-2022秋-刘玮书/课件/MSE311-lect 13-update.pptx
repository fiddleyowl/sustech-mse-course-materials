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notesMasterIdLst>
    <p:notesMasterId r:id="rId36"/>
  </p:notesMasterIdLst>
  <p:handoutMasterIdLst>
    <p:handoutMasterId r:id="rId37"/>
  </p:handoutMasterIdLst>
  <p:sldIdLst>
    <p:sldId id="256" r:id="rId2"/>
    <p:sldId id="389" r:id="rId3"/>
    <p:sldId id="390" r:id="rId4"/>
    <p:sldId id="454" r:id="rId5"/>
    <p:sldId id="392" r:id="rId6"/>
    <p:sldId id="393" r:id="rId7"/>
    <p:sldId id="449" r:id="rId8"/>
    <p:sldId id="394" r:id="rId9"/>
    <p:sldId id="395" r:id="rId10"/>
    <p:sldId id="396" r:id="rId11"/>
    <p:sldId id="420" r:id="rId12"/>
    <p:sldId id="421" r:id="rId13"/>
    <p:sldId id="422" r:id="rId14"/>
    <p:sldId id="398" r:id="rId15"/>
    <p:sldId id="455" r:id="rId16"/>
    <p:sldId id="456" r:id="rId17"/>
    <p:sldId id="457" r:id="rId18"/>
    <p:sldId id="424" r:id="rId19"/>
    <p:sldId id="402" r:id="rId20"/>
    <p:sldId id="403" r:id="rId21"/>
    <p:sldId id="404" r:id="rId22"/>
    <p:sldId id="405" r:id="rId23"/>
    <p:sldId id="406" r:id="rId24"/>
    <p:sldId id="436" r:id="rId25"/>
    <p:sldId id="426" r:id="rId26"/>
    <p:sldId id="427" r:id="rId27"/>
    <p:sldId id="428" r:id="rId28"/>
    <p:sldId id="429" r:id="rId29"/>
    <p:sldId id="430" r:id="rId30"/>
    <p:sldId id="431" r:id="rId31"/>
    <p:sldId id="432" r:id="rId32"/>
    <p:sldId id="433" r:id="rId33"/>
    <p:sldId id="440" r:id="rId34"/>
    <p:sldId id="441" r:id="rId35"/>
  </p:sldIdLst>
  <p:sldSz cx="9144000" cy="6858000" type="screen4x3"/>
  <p:notesSz cx="6669088" cy="99266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70AD47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145" autoAdjust="0"/>
  </p:normalViewPr>
  <p:slideViewPr>
    <p:cSldViewPr snapToGrid="0">
      <p:cViewPr varScale="1">
        <p:scale>
          <a:sx n="110" d="100"/>
          <a:sy n="110" d="100"/>
        </p:scale>
        <p:origin x="1566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777607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96C3D4-F3F7-41E0-8BDE-8ACEB5368367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777607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19B71C-4DB5-4C7F-8171-93E790D3AC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88883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3A478E-90E3-4BE0-BF7B-B1AD7461FEF4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01725" y="1241425"/>
            <a:ext cx="4465638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66909" y="4777194"/>
            <a:ext cx="533527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889938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777607" y="9428584"/>
            <a:ext cx="2889938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497359-BD37-41E1-AF95-71E7D52515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872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9">
            <a:extLst>
              <a:ext uri="{FF2B5EF4-FFF2-40B4-BE49-F238E27FC236}">
                <a16:creationId xmlns:a16="http://schemas.microsoft.com/office/drawing/2014/main" id="{36484A2C-39A1-4BDC-B92B-AF52D58B0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3" y="5035550"/>
            <a:ext cx="1143000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11">
            <a:extLst>
              <a:ext uri="{FF2B5EF4-FFF2-40B4-BE49-F238E27FC236}">
                <a16:creationId xmlns:a16="http://schemas.microsoft.com/office/drawing/2014/main" id="{56818F0A-1B6A-44A9-9717-55DA1C8C1ED4}"/>
              </a:ext>
            </a:extLst>
          </p:cNvPr>
          <p:cNvGrpSpPr>
            <a:grpSpLocks/>
          </p:cNvGrpSpPr>
          <p:nvPr/>
        </p:nvGrpSpPr>
        <p:grpSpPr bwMode="auto">
          <a:xfrm>
            <a:off x="0" y="4741863"/>
            <a:ext cx="9043988" cy="142875"/>
            <a:chOff x="76199" y="1241003"/>
            <a:chExt cx="9044401" cy="144000"/>
          </a:xfrm>
        </p:grpSpPr>
        <p:sp>
          <p:nvSpPr>
            <p:cNvPr id="9" name="圆角矩形 11">
              <a:extLst>
                <a:ext uri="{FF2B5EF4-FFF2-40B4-BE49-F238E27FC236}">
                  <a16:creationId xmlns:a16="http://schemas.microsoft.com/office/drawing/2014/main" id="{2658448A-EA7B-40C8-99E5-5CDD7E4A2B5E}"/>
                </a:ext>
              </a:extLst>
            </p:cNvPr>
            <p:cNvSpPr/>
            <p:nvPr/>
          </p:nvSpPr>
          <p:spPr>
            <a:xfrm>
              <a:off x="76199" y="1241003"/>
              <a:ext cx="1487556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圆角矩形 12">
              <a:extLst>
                <a:ext uri="{FF2B5EF4-FFF2-40B4-BE49-F238E27FC236}">
                  <a16:creationId xmlns:a16="http://schemas.microsoft.com/office/drawing/2014/main" id="{0F1BA9DE-48A6-4320-A3CB-CA0618F88CA6}"/>
                </a:ext>
              </a:extLst>
            </p:cNvPr>
            <p:cNvSpPr/>
            <p:nvPr/>
          </p:nvSpPr>
          <p:spPr>
            <a:xfrm>
              <a:off x="1630433" y="1241003"/>
              <a:ext cx="3103704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1" name="圆角矩形 13">
              <a:extLst>
                <a:ext uri="{FF2B5EF4-FFF2-40B4-BE49-F238E27FC236}">
                  <a16:creationId xmlns:a16="http://schemas.microsoft.com/office/drawing/2014/main" id="{95532181-9B56-4565-85B0-26FAE243974A}"/>
                </a:ext>
              </a:extLst>
            </p:cNvPr>
            <p:cNvSpPr/>
            <p:nvPr/>
          </p:nvSpPr>
          <p:spPr>
            <a:xfrm>
              <a:off x="4800815" y="1241003"/>
              <a:ext cx="4319785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2" name="图片 18">
            <a:extLst>
              <a:ext uri="{FF2B5EF4-FFF2-40B4-BE49-F238E27FC236}">
                <a16:creationId xmlns:a16="http://schemas.microsoft.com/office/drawing/2014/main" id="{C6EF10A3-5E14-4AC4-BEC5-788C4A6AB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5035550"/>
            <a:ext cx="4313238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图片 20">
            <a:extLst>
              <a:ext uri="{FF2B5EF4-FFF2-40B4-BE49-F238E27FC236}">
                <a16:creationId xmlns:a16="http://schemas.microsoft.com/office/drawing/2014/main" id="{E5368EC2-A439-426F-9848-8912DFFAC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325" y="5035550"/>
            <a:ext cx="3019425" cy="143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图片 3">
            <a:extLst>
              <a:ext uri="{FF2B5EF4-FFF2-40B4-BE49-F238E27FC236}">
                <a16:creationId xmlns:a16="http://schemas.microsoft.com/office/drawing/2014/main" id="{DB79EDD7-2DA9-41B8-BF25-43496C7096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2" t="5525" r="8671" b="8884"/>
          <a:stretch/>
        </p:blipFill>
        <p:spPr bwMode="auto">
          <a:xfrm>
            <a:off x="106362" y="56707"/>
            <a:ext cx="4366401" cy="101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图片 9">
            <a:extLst>
              <a:ext uri="{FF2B5EF4-FFF2-40B4-BE49-F238E27FC236}">
                <a16:creationId xmlns:a16="http://schemas.microsoft.com/office/drawing/2014/main" id="{AAD387B1-3103-410C-8A6F-61D494AEADD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3" y="5035550"/>
            <a:ext cx="1143000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组合 11">
            <a:extLst>
              <a:ext uri="{FF2B5EF4-FFF2-40B4-BE49-F238E27FC236}">
                <a16:creationId xmlns:a16="http://schemas.microsoft.com/office/drawing/2014/main" id="{EF2F75DC-2FDE-4EE3-8E34-8BABCC7179F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4741863"/>
            <a:ext cx="9043988" cy="142875"/>
            <a:chOff x="76199" y="1241003"/>
            <a:chExt cx="9044401" cy="144000"/>
          </a:xfrm>
        </p:grpSpPr>
        <p:sp>
          <p:nvSpPr>
            <p:cNvPr id="17" name="圆角矩形 11">
              <a:extLst>
                <a:ext uri="{FF2B5EF4-FFF2-40B4-BE49-F238E27FC236}">
                  <a16:creationId xmlns:a16="http://schemas.microsoft.com/office/drawing/2014/main" id="{367FAD37-4817-483B-B455-9B9EAAFE7BD8}"/>
                </a:ext>
              </a:extLst>
            </p:cNvPr>
            <p:cNvSpPr/>
            <p:nvPr/>
          </p:nvSpPr>
          <p:spPr>
            <a:xfrm>
              <a:off x="76199" y="1241003"/>
              <a:ext cx="1487556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8" name="圆角矩形 12">
              <a:extLst>
                <a:ext uri="{FF2B5EF4-FFF2-40B4-BE49-F238E27FC236}">
                  <a16:creationId xmlns:a16="http://schemas.microsoft.com/office/drawing/2014/main" id="{405E6F80-4ED3-42FA-B9E2-EC6BC04F1A02}"/>
                </a:ext>
              </a:extLst>
            </p:cNvPr>
            <p:cNvSpPr/>
            <p:nvPr/>
          </p:nvSpPr>
          <p:spPr>
            <a:xfrm>
              <a:off x="1630433" y="1241003"/>
              <a:ext cx="3103704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9" name="圆角矩形 13">
              <a:extLst>
                <a:ext uri="{FF2B5EF4-FFF2-40B4-BE49-F238E27FC236}">
                  <a16:creationId xmlns:a16="http://schemas.microsoft.com/office/drawing/2014/main" id="{FFCB71A7-724E-4CF3-8659-D7FFA4994A95}"/>
                </a:ext>
              </a:extLst>
            </p:cNvPr>
            <p:cNvSpPr/>
            <p:nvPr/>
          </p:nvSpPr>
          <p:spPr>
            <a:xfrm>
              <a:off x="4800815" y="1241003"/>
              <a:ext cx="4319785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20" name="图片 18">
            <a:extLst>
              <a:ext uri="{FF2B5EF4-FFF2-40B4-BE49-F238E27FC236}">
                <a16:creationId xmlns:a16="http://schemas.microsoft.com/office/drawing/2014/main" id="{B230B797-9AF8-41D8-B5AB-3C485238D84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5035550"/>
            <a:ext cx="4313238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32E52780-17F0-4F25-B262-66C011AE71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325" y="5035550"/>
            <a:ext cx="3019425" cy="143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图片 3">
            <a:extLst>
              <a:ext uri="{FF2B5EF4-FFF2-40B4-BE49-F238E27FC236}">
                <a16:creationId xmlns:a16="http://schemas.microsoft.com/office/drawing/2014/main" id="{A6617996-BF24-4585-AE38-DD4FEC22395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2" t="5525" r="8671" b="8884"/>
          <a:stretch/>
        </p:blipFill>
        <p:spPr bwMode="auto">
          <a:xfrm>
            <a:off x="106362" y="56707"/>
            <a:ext cx="4366401" cy="101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1452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23551FB5-644E-4958-A980-4C6B4A9B56E7}"/>
              </a:ext>
            </a:extLst>
          </p:cNvPr>
          <p:cNvGrpSpPr>
            <a:grpSpLocks/>
          </p:cNvGrpSpPr>
          <p:nvPr/>
        </p:nvGrpSpPr>
        <p:grpSpPr bwMode="auto">
          <a:xfrm>
            <a:off x="41722" y="6645423"/>
            <a:ext cx="9045575" cy="142875"/>
            <a:chOff x="76199" y="1241003"/>
            <a:chExt cx="9044401" cy="144000"/>
          </a:xfrm>
        </p:grpSpPr>
        <p:sp>
          <p:nvSpPr>
            <p:cNvPr id="8" name="圆角矩形 11">
              <a:extLst>
                <a:ext uri="{FF2B5EF4-FFF2-40B4-BE49-F238E27FC236}">
                  <a16:creationId xmlns:a16="http://schemas.microsoft.com/office/drawing/2014/main" id="{206B57DE-B2E2-477E-A47F-DA530482154A}"/>
                </a:ext>
              </a:extLst>
            </p:cNvPr>
            <p:cNvSpPr/>
            <p:nvPr/>
          </p:nvSpPr>
          <p:spPr>
            <a:xfrm>
              <a:off x="76199" y="1241003"/>
              <a:ext cx="1487294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9" name="圆角矩形 12">
              <a:extLst>
                <a:ext uri="{FF2B5EF4-FFF2-40B4-BE49-F238E27FC236}">
                  <a16:creationId xmlns:a16="http://schemas.microsoft.com/office/drawing/2014/main" id="{38C3280C-D608-4B4D-8279-5808A7C72777}"/>
                </a:ext>
              </a:extLst>
            </p:cNvPr>
            <p:cNvSpPr/>
            <p:nvPr/>
          </p:nvSpPr>
          <p:spPr>
            <a:xfrm>
              <a:off x="1630159" y="1241003"/>
              <a:ext cx="3103160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圆角矩形 13">
              <a:extLst>
                <a:ext uri="{FF2B5EF4-FFF2-40B4-BE49-F238E27FC236}">
                  <a16:creationId xmlns:a16="http://schemas.microsoft.com/office/drawing/2014/main" id="{43328620-830D-498B-AD47-8DBB81A79D3F}"/>
                </a:ext>
              </a:extLst>
            </p:cNvPr>
            <p:cNvSpPr/>
            <p:nvPr/>
          </p:nvSpPr>
          <p:spPr>
            <a:xfrm>
              <a:off x="4799986" y="1241003"/>
              <a:ext cx="4320614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1" name="图片 3">
            <a:extLst>
              <a:ext uri="{FF2B5EF4-FFF2-40B4-BE49-F238E27FC236}">
                <a16:creationId xmlns:a16="http://schemas.microsoft.com/office/drawing/2014/main" id="{B0C51A74-65A9-4F9C-9DAC-5C9B5FEFD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3" y="0"/>
            <a:ext cx="776287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C46ADAA-5CE7-436F-BDC5-5BE32504D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06671" y="6174558"/>
            <a:ext cx="442918" cy="396090"/>
          </a:xfrm>
        </p:spPr>
        <p:txBody>
          <a:bodyPr/>
          <a:lstStyle/>
          <a:p>
            <a:r>
              <a:rPr lang="en-US" altLang="zh-CN"/>
              <a:t>2</a:t>
            </a:r>
            <a:endParaRPr lang="zh-CN" altLang="en-US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BE675BB-162D-4CCA-94D2-B314C0C6F64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41722" y="6645423"/>
            <a:ext cx="9045575" cy="142875"/>
            <a:chOff x="76199" y="1241003"/>
            <a:chExt cx="9044401" cy="144000"/>
          </a:xfrm>
        </p:grpSpPr>
        <p:sp>
          <p:nvSpPr>
            <p:cNvPr id="13" name="圆角矩形 11">
              <a:extLst>
                <a:ext uri="{FF2B5EF4-FFF2-40B4-BE49-F238E27FC236}">
                  <a16:creationId xmlns:a16="http://schemas.microsoft.com/office/drawing/2014/main" id="{8497BCD2-D048-4CC6-AA21-D749E9E85DCE}"/>
                </a:ext>
              </a:extLst>
            </p:cNvPr>
            <p:cNvSpPr/>
            <p:nvPr/>
          </p:nvSpPr>
          <p:spPr>
            <a:xfrm>
              <a:off x="76199" y="1241003"/>
              <a:ext cx="1487294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4" name="圆角矩形 12">
              <a:extLst>
                <a:ext uri="{FF2B5EF4-FFF2-40B4-BE49-F238E27FC236}">
                  <a16:creationId xmlns:a16="http://schemas.microsoft.com/office/drawing/2014/main" id="{9C83145A-9A38-4389-BA55-B2DC124C7CCE}"/>
                </a:ext>
              </a:extLst>
            </p:cNvPr>
            <p:cNvSpPr/>
            <p:nvPr/>
          </p:nvSpPr>
          <p:spPr>
            <a:xfrm>
              <a:off x="1630159" y="1241003"/>
              <a:ext cx="3103160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5" name="圆角矩形 13">
              <a:extLst>
                <a:ext uri="{FF2B5EF4-FFF2-40B4-BE49-F238E27FC236}">
                  <a16:creationId xmlns:a16="http://schemas.microsoft.com/office/drawing/2014/main" id="{5F30C916-99CD-41F6-B9F5-44A06301974D}"/>
                </a:ext>
              </a:extLst>
            </p:cNvPr>
            <p:cNvSpPr/>
            <p:nvPr/>
          </p:nvSpPr>
          <p:spPr>
            <a:xfrm>
              <a:off x="4799986" y="1241003"/>
              <a:ext cx="4320614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6" name="图片 3">
            <a:extLst>
              <a:ext uri="{FF2B5EF4-FFF2-40B4-BE49-F238E27FC236}">
                <a16:creationId xmlns:a16="http://schemas.microsoft.com/office/drawing/2014/main" id="{408ADF0C-ACC1-4673-9FB1-66E00A81977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3" y="0"/>
            <a:ext cx="776287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6539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6473A-FAF4-414C-9522-3C4BCFE2B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16" y="3100647"/>
            <a:ext cx="7886700" cy="867940"/>
          </a:xfrm>
        </p:spPr>
        <p:txBody>
          <a:bodyPr anchor="b"/>
          <a:lstStyle>
            <a:lvl1pPr>
              <a:defRPr sz="4500">
                <a:latin typeface="Arial Unicode MS" pitchFamily="34" charset="-122"/>
                <a:ea typeface="Arial Unicode MS" pitchFamily="34" charset="-122"/>
                <a:cs typeface="Arial Unicode MS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圆角矩形 5">
            <a:extLst>
              <a:ext uri="{FF2B5EF4-FFF2-40B4-BE49-F238E27FC236}">
                <a16:creationId xmlns:a16="http://schemas.microsoft.com/office/drawing/2014/main" id="{3BD87344-C6CA-4F87-9448-0B8B7FAF9E1B}"/>
              </a:ext>
            </a:extLst>
          </p:cNvPr>
          <p:cNvSpPr/>
          <p:nvPr userDrawn="1"/>
        </p:nvSpPr>
        <p:spPr>
          <a:xfrm>
            <a:off x="0" y="4044001"/>
            <a:ext cx="952500" cy="144000"/>
          </a:xfrm>
          <a:prstGeom prst="roundRect">
            <a:avLst>
              <a:gd name="adj" fmla="val 0"/>
            </a:avLst>
          </a:prstGeom>
          <a:solidFill>
            <a:srgbClr val="C83C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圆角矩形 6">
            <a:extLst>
              <a:ext uri="{FF2B5EF4-FFF2-40B4-BE49-F238E27FC236}">
                <a16:creationId xmlns:a16="http://schemas.microsoft.com/office/drawing/2014/main" id="{6DA4B6E9-D6DC-4952-865A-DA8EE6DB8245}"/>
              </a:ext>
            </a:extLst>
          </p:cNvPr>
          <p:cNvSpPr/>
          <p:nvPr userDrawn="1"/>
        </p:nvSpPr>
        <p:spPr>
          <a:xfrm>
            <a:off x="1014116" y="4044001"/>
            <a:ext cx="3643609" cy="144002"/>
          </a:xfrm>
          <a:prstGeom prst="roundRect">
            <a:avLst>
              <a:gd name="adj" fmla="val 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" name="圆角矩形 7">
            <a:extLst>
              <a:ext uri="{FF2B5EF4-FFF2-40B4-BE49-F238E27FC236}">
                <a16:creationId xmlns:a16="http://schemas.microsoft.com/office/drawing/2014/main" id="{F7595CA0-CBC9-4927-B9FF-0B4BA5FB62ED}"/>
              </a:ext>
            </a:extLst>
          </p:cNvPr>
          <p:cNvSpPr/>
          <p:nvPr userDrawn="1"/>
        </p:nvSpPr>
        <p:spPr>
          <a:xfrm>
            <a:off x="4724400" y="4044001"/>
            <a:ext cx="4320000" cy="144000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138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232448-0BA2-40E5-A2C0-FE19F5B0E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981BA7-2F47-4ADB-915A-3DEA803B6C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E45C7A-E3DB-493E-9698-B006439AB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A42E52-6363-4A26-9F01-A62CE34E1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5B047E-2EC3-4418-B2C1-A69A89700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C945B0-B70D-4BF6-A6CF-ED8DAA8C8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9679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E450FD-26B7-480D-8261-CD4C51DD8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64C6F2-EDC6-4263-A281-7872A6E3C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D5D4B2-383D-449C-8900-FB1B3EB93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7ABC02C-F6DC-4DAF-938D-195593E621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A408A11-7060-4D85-B243-5DD9655566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DFAAD3C-B42A-47A7-B768-611AFC7BE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1B5FF39-DD9B-4C57-A344-275219341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7BEA18A-253C-40CA-A957-3BA37B7A1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29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75BCCD-B3FE-4D64-9C90-CF64C82B1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1C5B8F4-1CBB-4613-A7A2-350FF2B86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7B22DBA-ADB6-459C-8DDD-B1702C76D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D426E1B-8DFB-40A0-B0EA-1E9256D1B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122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2189721-9F85-4C93-AF25-890CD11FA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E57016C-A313-4228-8D34-FC5C12BCC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EAED29-461C-427E-94B8-4F64E97E0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8515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0F51D1-5EA7-4401-99BA-1EC037C49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CF08B5-D317-4883-94CE-FAEEE05A6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6986A2-D743-430F-AA70-9B06B2C0F6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817CAD-5352-4EAF-B2E4-2B49B31E3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068CC4-251C-4854-9963-7DDB0C89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B0C261-FF00-4B26-B51E-6D72F0604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4414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CCB7F6-3B15-4872-B555-7F1565B90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BFA923F-001E-4E54-AE2E-D70CAC715E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120E55-EACB-4D2C-973C-7AE05E562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155047-D836-41BF-B4EC-6E058AC14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EDD3A4-3A50-440F-A891-A798B3A6C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7A6A10-432E-4945-AF1E-64FDF90A2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899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116CF1-CD97-4DBA-A96F-F883552B4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399B747-8D5C-4895-A7EC-E7332E48E2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7135EC-C807-4A0E-90F1-EE1D3601D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D0FB47-2483-4992-8D35-B58CEC00D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555DE4-AE2F-40B7-AF19-7220940C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2220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20F266B-DA68-452A-BFC2-0DBF135171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DC26948-9D79-4503-B7E8-FB720785EE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763795-09C4-4CE3-967D-39D8EED2D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92961E-4D31-4C00-8456-DA422BEC9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04869D-578E-442B-AC17-5E714BDBD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998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9">
            <a:extLst>
              <a:ext uri="{FF2B5EF4-FFF2-40B4-BE49-F238E27FC236}">
                <a16:creationId xmlns:a16="http://schemas.microsoft.com/office/drawing/2014/main" id="{36484A2C-39A1-4BDC-B92B-AF52D58B0F5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3" y="5035550"/>
            <a:ext cx="1143000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11">
            <a:extLst>
              <a:ext uri="{FF2B5EF4-FFF2-40B4-BE49-F238E27FC236}">
                <a16:creationId xmlns:a16="http://schemas.microsoft.com/office/drawing/2014/main" id="{56818F0A-1B6A-44A9-9717-55DA1C8C1ED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4741863"/>
            <a:ext cx="9043988" cy="142875"/>
            <a:chOff x="76199" y="1241003"/>
            <a:chExt cx="9044401" cy="144000"/>
          </a:xfrm>
        </p:grpSpPr>
        <p:sp>
          <p:nvSpPr>
            <p:cNvPr id="9" name="圆角矩形 11">
              <a:extLst>
                <a:ext uri="{FF2B5EF4-FFF2-40B4-BE49-F238E27FC236}">
                  <a16:creationId xmlns:a16="http://schemas.microsoft.com/office/drawing/2014/main" id="{2658448A-EA7B-40C8-99E5-5CDD7E4A2B5E}"/>
                </a:ext>
              </a:extLst>
            </p:cNvPr>
            <p:cNvSpPr/>
            <p:nvPr/>
          </p:nvSpPr>
          <p:spPr>
            <a:xfrm>
              <a:off x="76199" y="1241003"/>
              <a:ext cx="1487556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圆角矩形 12">
              <a:extLst>
                <a:ext uri="{FF2B5EF4-FFF2-40B4-BE49-F238E27FC236}">
                  <a16:creationId xmlns:a16="http://schemas.microsoft.com/office/drawing/2014/main" id="{0F1BA9DE-48A6-4320-A3CB-CA0618F88CA6}"/>
                </a:ext>
              </a:extLst>
            </p:cNvPr>
            <p:cNvSpPr/>
            <p:nvPr/>
          </p:nvSpPr>
          <p:spPr>
            <a:xfrm>
              <a:off x="1630433" y="1241003"/>
              <a:ext cx="3103704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1" name="圆角矩形 13">
              <a:extLst>
                <a:ext uri="{FF2B5EF4-FFF2-40B4-BE49-F238E27FC236}">
                  <a16:creationId xmlns:a16="http://schemas.microsoft.com/office/drawing/2014/main" id="{95532181-9B56-4565-85B0-26FAE243974A}"/>
                </a:ext>
              </a:extLst>
            </p:cNvPr>
            <p:cNvSpPr/>
            <p:nvPr/>
          </p:nvSpPr>
          <p:spPr>
            <a:xfrm>
              <a:off x="4800815" y="1241003"/>
              <a:ext cx="4319785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2" name="图片 18">
            <a:extLst>
              <a:ext uri="{FF2B5EF4-FFF2-40B4-BE49-F238E27FC236}">
                <a16:creationId xmlns:a16="http://schemas.microsoft.com/office/drawing/2014/main" id="{C6EF10A3-5E14-4AC4-BEC5-788C4A6ABF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5035550"/>
            <a:ext cx="4313238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图片 20">
            <a:extLst>
              <a:ext uri="{FF2B5EF4-FFF2-40B4-BE49-F238E27FC236}">
                <a16:creationId xmlns:a16="http://schemas.microsoft.com/office/drawing/2014/main" id="{E5368EC2-A439-426F-9848-8912DFFAC1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325" y="5035550"/>
            <a:ext cx="3019425" cy="143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图片 3">
            <a:extLst>
              <a:ext uri="{FF2B5EF4-FFF2-40B4-BE49-F238E27FC236}">
                <a16:creationId xmlns:a16="http://schemas.microsoft.com/office/drawing/2014/main" id="{DB79EDD7-2DA9-41B8-BF25-43496C70960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2" t="5525" r="8671" b="8884"/>
          <a:stretch/>
        </p:blipFill>
        <p:spPr bwMode="auto">
          <a:xfrm>
            <a:off x="106362" y="56707"/>
            <a:ext cx="4366401" cy="101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21198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23551FB5-644E-4958-A980-4C6B4A9B56E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41722" y="6645423"/>
            <a:ext cx="9045575" cy="142875"/>
            <a:chOff x="76199" y="1241003"/>
            <a:chExt cx="9044401" cy="144000"/>
          </a:xfrm>
        </p:grpSpPr>
        <p:sp>
          <p:nvSpPr>
            <p:cNvPr id="8" name="圆角矩形 11">
              <a:extLst>
                <a:ext uri="{FF2B5EF4-FFF2-40B4-BE49-F238E27FC236}">
                  <a16:creationId xmlns:a16="http://schemas.microsoft.com/office/drawing/2014/main" id="{206B57DE-B2E2-477E-A47F-DA530482154A}"/>
                </a:ext>
              </a:extLst>
            </p:cNvPr>
            <p:cNvSpPr/>
            <p:nvPr/>
          </p:nvSpPr>
          <p:spPr>
            <a:xfrm>
              <a:off x="76199" y="1241003"/>
              <a:ext cx="1487294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9" name="圆角矩形 12">
              <a:extLst>
                <a:ext uri="{FF2B5EF4-FFF2-40B4-BE49-F238E27FC236}">
                  <a16:creationId xmlns:a16="http://schemas.microsoft.com/office/drawing/2014/main" id="{38C3280C-D608-4B4D-8279-5808A7C72777}"/>
                </a:ext>
              </a:extLst>
            </p:cNvPr>
            <p:cNvSpPr/>
            <p:nvPr/>
          </p:nvSpPr>
          <p:spPr>
            <a:xfrm>
              <a:off x="1630159" y="1241003"/>
              <a:ext cx="3103160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圆角矩形 13">
              <a:extLst>
                <a:ext uri="{FF2B5EF4-FFF2-40B4-BE49-F238E27FC236}">
                  <a16:creationId xmlns:a16="http://schemas.microsoft.com/office/drawing/2014/main" id="{43328620-830D-498B-AD47-8DBB81A79D3F}"/>
                </a:ext>
              </a:extLst>
            </p:cNvPr>
            <p:cNvSpPr/>
            <p:nvPr/>
          </p:nvSpPr>
          <p:spPr>
            <a:xfrm>
              <a:off x="4799986" y="1241003"/>
              <a:ext cx="4320614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1" name="图片 3">
            <a:extLst>
              <a:ext uri="{FF2B5EF4-FFF2-40B4-BE49-F238E27FC236}">
                <a16:creationId xmlns:a16="http://schemas.microsoft.com/office/drawing/2014/main" id="{B0C51A74-65A9-4F9C-9DAC-5C9B5FEFDC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3" y="0"/>
            <a:ext cx="776287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C46ADAA-5CE7-436F-BDC5-5BE32504D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06671" y="6174558"/>
            <a:ext cx="442918" cy="396090"/>
          </a:xfrm>
        </p:spPr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75944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B8A4DFA5-2C7C-4472-BAF1-4432A08D48B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25176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23"/>
          <p:cNvGrpSpPr>
            <a:grpSpLocks/>
          </p:cNvGrpSpPr>
          <p:nvPr userDrawn="1"/>
        </p:nvGrpSpPr>
        <p:grpSpPr bwMode="auto">
          <a:xfrm>
            <a:off x="371475" y="-190500"/>
            <a:ext cx="1230313" cy="1358900"/>
            <a:chOff x="371610" y="-231341"/>
            <a:chExt cx="1230631" cy="1358900"/>
          </a:xfrm>
        </p:grpSpPr>
        <p:sp>
          <p:nvSpPr>
            <p:cNvPr id="7" name="同侧圆角矩形 6"/>
            <p:cNvSpPr/>
            <p:nvPr/>
          </p:nvSpPr>
          <p:spPr>
            <a:xfrm flipV="1">
              <a:off x="627264" y="-36078"/>
              <a:ext cx="719323" cy="9683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EE81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465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" name="同侧圆角矩形 7"/>
            <p:cNvSpPr/>
            <p:nvPr/>
          </p:nvSpPr>
          <p:spPr>
            <a:xfrm flipV="1">
              <a:off x="627264" y="-36078"/>
              <a:ext cx="719323" cy="9683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EE81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465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pic>
          <p:nvPicPr>
            <p:cNvPr id="9" name="图片 29" descr="logo（背景透明）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1610" y="-231341"/>
              <a:ext cx="1230631" cy="1358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" name="组合 7"/>
          <p:cNvGrpSpPr>
            <a:grpSpLocks/>
          </p:cNvGrpSpPr>
          <p:nvPr userDrawn="1"/>
        </p:nvGrpSpPr>
        <p:grpSpPr bwMode="auto">
          <a:xfrm>
            <a:off x="76200" y="2151063"/>
            <a:ext cx="9043988" cy="381000"/>
            <a:chOff x="76200" y="2151457"/>
            <a:chExt cx="9043988" cy="381000"/>
          </a:xfrm>
        </p:grpSpPr>
        <p:sp>
          <p:nvSpPr>
            <p:cNvPr id="11" name="圆角矩形 10"/>
            <p:cNvSpPr/>
            <p:nvPr/>
          </p:nvSpPr>
          <p:spPr>
            <a:xfrm>
              <a:off x="76200" y="2294332"/>
              <a:ext cx="1676400" cy="144462"/>
            </a:xfrm>
            <a:prstGeom prst="roundRect">
              <a:avLst>
                <a:gd name="adj" fmla="val 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1524000" y="2294332"/>
              <a:ext cx="3200400" cy="144462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4800600" y="2294332"/>
              <a:ext cx="4319588" cy="144462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" name="圆角矩形 13"/>
            <p:cNvSpPr/>
            <p:nvPr/>
          </p:nvSpPr>
          <p:spPr>
            <a:xfrm rot="1383523">
              <a:off x="1417638" y="2151457"/>
              <a:ext cx="215900" cy="381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" name="圆角矩形 14"/>
            <p:cNvSpPr/>
            <p:nvPr/>
          </p:nvSpPr>
          <p:spPr>
            <a:xfrm rot="1383523">
              <a:off x="4616450" y="2151457"/>
              <a:ext cx="215900" cy="381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pic>
        <p:nvPicPr>
          <p:cNvPr id="16" name="Picture 7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53" b="10274"/>
          <a:stretch>
            <a:fillRect/>
          </a:stretch>
        </p:blipFill>
        <p:spPr bwMode="auto">
          <a:xfrm>
            <a:off x="157163" y="5467350"/>
            <a:ext cx="1957387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3"/>
          <p:cNvPicPr>
            <a:picLocks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225" y="5478463"/>
            <a:ext cx="2124075" cy="1262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4"/>
          <p:cNvPicPr>
            <a:picLocks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675" y="5478463"/>
            <a:ext cx="2390775" cy="1262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45"/>
          <a:stretch/>
        </p:blipFill>
        <p:spPr bwMode="auto">
          <a:xfrm>
            <a:off x="6846888" y="5467351"/>
            <a:ext cx="2220912" cy="1273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3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7463" y="4702719"/>
            <a:ext cx="1506537" cy="84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TextBox 2"/>
          <p:cNvSpPr txBox="1">
            <a:spLocks noChangeArrowheads="1"/>
          </p:cNvSpPr>
          <p:nvPr userDrawn="1"/>
        </p:nvSpPr>
        <p:spPr bwMode="auto">
          <a:xfrm>
            <a:off x="8172400" y="5165911"/>
            <a:ext cx="7810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zh-CN" sz="900" b="0" baseline="0" dirty="0">
                <a:latin typeface="黑体" panose="02010609060101010101" pitchFamily="49" charset="-122"/>
                <a:ea typeface="黑体" panose="02010609060101010101" pitchFamily="49" charset="-122"/>
              </a:rPr>
              <a:t>Since 2016</a:t>
            </a:r>
            <a:endParaRPr lang="zh-CN" altLang="en-US" sz="900" b="0" baseline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86588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6526213"/>
            <a:ext cx="6794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组合 7"/>
          <p:cNvGrpSpPr>
            <a:grpSpLocks/>
          </p:cNvGrpSpPr>
          <p:nvPr userDrawn="1"/>
        </p:nvGrpSpPr>
        <p:grpSpPr bwMode="auto">
          <a:xfrm>
            <a:off x="73025" y="6643688"/>
            <a:ext cx="8150225" cy="144462"/>
            <a:chOff x="76199" y="2293938"/>
            <a:chExt cx="9043989" cy="144462"/>
          </a:xfrm>
        </p:grpSpPr>
        <p:sp>
          <p:nvSpPr>
            <p:cNvPr id="4" name="圆角矩形 3"/>
            <p:cNvSpPr/>
            <p:nvPr/>
          </p:nvSpPr>
          <p:spPr>
            <a:xfrm>
              <a:off x="76199" y="2293938"/>
              <a:ext cx="1250727" cy="144462"/>
            </a:xfrm>
            <a:prstGeom prst="roundRect">
              <a:avLst>
                <a:gd name="adj" fmla="val 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" name="圆角矩形 4"/>
            <p:cNvSpPr/>
            <p:nvPr/>
          </p:nvSpPr>
          <p:spPr>
            <a:xfrm>
              <a:off x="1415005" y="2293938"/>
              <a:ext cx="3310023" cy="144462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4800776" y="2293938"/>
              <a:ext cx="4319412" cy="144462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</p:grp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6213" y="-104775"/>
            <a:ext cx="854075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燕尾形 7"/>
          <p:cNvSpPr/>
          <p:nvPr userDrawn="1"/>
        </p:nvSpPr>
        <p:spPr>
          <a:xfrm>
            <a:off x="107504" y="70250"/>
            <a:ext cx="484632" cy="484632"/>
          </a:xfrm>
          <a:prstGeom prst="chevron">
            <a:avLst>
              <a:gd name="adj" fmla="val 58203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燕尾形 8"/>
          <p:cNvSpPr/>
          <p:nvPr userDrawn="1"/>
        </p:nvSpPr>
        <p:spPr>
          <a:xfrm>
            <a:off x="414960" y="64048"/>
            <a:ext cx="484632" cy="484632"/>
          </a:xfrm>
          <a:prstGeom prst="chevron">
            <a:avLst>
              <a:gd name="adj" fmla="val 58203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3611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8B20F97-D093-4167-88EF-C188D3B8D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78C6B4-EDBC-4C7B-80E2-2A36D8872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B1772D-D631-4D4E-BF62-42EF4690EB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B1AB40-DF97-4AB0-B63B-B6C2904246EB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AFB56B-864D-497D-8AE9-5E092905F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32445E-5DFA-480A-96AF-CCD8859EA9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2342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33" r:id="rId12"/>
    <p:sldLayoutId id="2147483734" r:id="rId13"/>
    <p:sldLayoutId id="2147483760" r:id="rId14"/>
    <p:sldLayoutId id="2147483761" r:id="rId15"/>
    <p:sldLayoutId id="2147483762" r:id="rId16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9.wmf"/><Relationship Id="rId3" Type="http://schemas.openxmlformats.org/officeDocument/2006/relationships/image" Target="../media/image14.wmf"/><Relationship Id="rId7" Type="http://schemas.openxmlformats.org/officeDocument/2006/relationships/image" Target="../media/image16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6" Type="http://schemas.openxmlformats.org/officeDocument/2006/relationships/image" Target="../media/image20.wmf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8.wmf"/><Relationship Id="rId5" Type="http://schemas.openxmlformats.org/officeDocument/2006/relationships/image" Target="../media/image15.wmf"/><Relationship Id="rId15" Type="http://schemas.openxmlformats.org/officeDocument/2006/relationships/oleObject" Target="../embeddings/oleObject8.bin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17.wmf"/><Relationship Id="rId14" Type="http://schemas.openxmlformats.org/officeDocument/2006/relationships/oleObject" Target="../embeddings/oleObject7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4.png"/><Relationship Id="rId5" Type="http://schemas.openxmlformats.org/officeDocument/2006/relationships/image" Target="../media/image23.wmf"/><Relationship Id="rId4" Type="http://schemas.openxmlformats.org/officeDocument/2006/relationships/oleObject" Target="../embeddings/oleObject9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image" Target="../media/image32.png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31.wmf"/><Relationship Id="rId2" Type="http://schemas.openxmlformats.org/officeDocument/2006/relationships/image" Target="../media/image25.png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7.wmf"/><Relationship Id="rId11" Type="http://schemas.openxmlformats.org/officeDocument/2006/relationships/image" Target="../media/image30.wmf"/><Relationship Id="rId5" Type="http://schemas.openxmlformats.org/officeDocument/2006/relationships/oleObject" Target="../embeddings/oleObject11.bin"/><Relationship Id="rId15" Type="http://schemas.openxmlformats.org/officeDocument/2006/relationships/image" Target="../media/image33.png"/><Relationship Id="rId10" Type="http://schemas.openxmlformats.org/officeDocument/2006/relationships/oleObject" Target="../embeddings/oleObject13.bin"/><Relationship Id="rId4" Type="http://schemas.openxmlformats.org/officeDocument/2006/relationships/image" Target="../media/image26.wmf"/><Relationship Id="rId9" Type="http://schemas.openxmlformats.org/officeDocument/2006/relationships/image" Target="../media/image29.png"/><Relationship Id="rId1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13" Type="http://schemas.openxmlformats.org/officeDocument/2006/relationships/image" Target="../media/image38.wmf"/><Relationship Id="rId18" Type="http://schemas.openxmlformats.org/officeDocument/2006/relationships/image" Target="../media/image34.png"/><Relationship Id="rId3" Type="http://schemas.openxmlformats.org/officeDocument/2006/relationships/image" Target="../media/image27.wmf"/><Relationship Id="rId7" Type="http://schemas.openxmlformats.org/officeDocument/2006/relationships/image" Target="../media/image36.wmf"/><Relationship Id="rId12" Type="http://schemas.openxmlformats.org/officeDocument/2006/relationships/oleObject" Target="../embeddings/oleObject19.bin"/><Relationship Id="rId17" Type="http://schemas.openxmlformats.org/officeDocument/2006/relationships/image" Target="../media/image40.wmf"/><Relationship Id="rId2" Type="http://schemas.openxmlformats.org/officeDocument/2006/relationships/oleObject" Target="../embeddings/oleObject14.bin"/><Relationship Id="rId16" Type="http://schemas.openxmlformats.org/officeDocument/2006/relationships/oleObject" Target="../embeddings/oleObject21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37.wmf"/><Relationship Id="rId5" Type="http://schemas.openxmlformats.org/officeDocument/2006/relationships/image" Target="../media/image35.wmf"/><Relationship Id="rId15" Type="http://schemas.openxmlformats.org/officeDocument/2006/relationships/image" Target="../media/image39.wmf"/><Relationship Id="rId10" Type="http://schemas.openxmlformats.org/officeDocument/2006/relationships/oleObject" Target="../embeddings/oleObject18.bin"/><Relationship Id="rId4" Type="http://schemas.openxmlformats.org/officeDocument/2006/relationships/oleObject" Target="../embeddings/oleObject15.bin"/><Relationship Id="rId9" Type="http://schemas.openxmlformats.org/officeDocument/2006/relationships/image" Target="../media/image28.wmf"/><Relationship Id="rId14" Type="http://schemas.openxmlformats.org/officeDocument/2006/relationships/oleObject" Target="../embeddings/oleObject20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13" Type="http://schemas.openxmlformats.org/officeDocument/2006/relationships/oleObject" Target="../embeddings/oleObject27.bin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37.wmf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5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28.w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38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image" Target="../media/image43.wmf"/><Relationship Id="rId7" Type="http://schemas.openxmlformats.org/officeDocument/2006/relationships/oleObject" Target="../embeddings/oleObject30.bin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5.wmf"/><Relationship Id="rId11" Type="http://schemas.openxmlformats.org/officeDocument/2006/relationships/image" Target="../media/image49.png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48.png"/><Relationship Id="rId4" Type="http://schemas.openxmlformats.org/officeDocument/2006/relationships/image" Target="../media/image44.png"/><Relationship Id="rId9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oleObject" Target="../embeddings/oleObject36.bin"/><Relationship Id="rId3" Type="http://schemas.openxmlformats.org/officeDocument/2006/relationships/image" Target="../media/image50.wmf"/><Relationship Id="rId7" Type="http://schemas.openxmlformats.org/officeDocument/2006/relationships/image" Target="../media/image52.wmf"/><Relationship Id="rId12" Type="http://schemas.openxmlformats.org/officeDocument/2006/relationships/image" Target="../media/image55.w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33.bin"/><Relationship Id="rId11" Type="http://schemas.openxmlformats.org/officeDocument/2006/relationships/oleObject" Target="../embeddings/oleObject35.bin"/><Relationship Id="rId5" Type="http://schemas.openxmlformats.org/officeDocument/2006/relationships/image" Target="../media/image51.wmf"/><Relationship Id="rId10" Type="http://schemas.openxmlformats.org/officeDocument/2006/relationships/image" Target="../media/image54.wmf"/><Relationship Id="rId4" Type="http://schemas.openxmlformats.org/officeDocument/2006/relationships/oleObject" Target="../embeddings/oleObject32.bin"/><Relationship Id="rId9" Type="http://schemas.openxmlformats.org/officeDocument/2006/relationships/oleObject" Target="../embeddings/oleObject34.bin"/><Relationship Id="rId14" Type="http://schemas.openxmlformats.org/officeDocument/2006/relationships/image" Target="../media/image56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13" Type="http://schemas.openxmlformats.org/officeDocument/2006/relationships/image" Target="../media/image62.wmf"/><Relationship Id="rId18" Type="http://schemas.openxmlformats.org/officeDocument/2006/relationships/oleObject" Target="../embeddings/oleObject45.bin"/><Relationship Id="rId3" Type="http://schemas.openxmlformats.org/officeDocument/2006/relationships/image" Target="../media/image57.wmf"/><Relationship Id="rId7" Type="http://schemas.openxmlformats.org/officeDocument/2006/relationships/image" Target="../media/image59.wmf"/><Relationship Id="rId12" Type="http://schemas.openxmlformats.org/officeDocument/2006/relationships/oleObject" Target="../embeddings/oleObject42.bin"/><Relationship Id="rId17" Type="http://schemas.openxmlformats.org/officeDocument/2006/relationships/image" Target="../media/image64.wmf"/><Relationship Id="rId2" Type="http://schemas.openxmlformats.org/officeDocument/2006/relationships/oleObject" Target="../embeddings/oleObject37.bin"/><Relationship Id="rId16" Type="http://schemas.openxmlformats.org/officeDocument/2006/relationships/oleObject" Target="../embeddings/oleObject44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39.bin"/><Relationship Id="rId11" Type="http://schemas.openxmlformats.org/officeDocument/2006/relationships/oleObject" Target="../embeddings/oleObject41.bin"/><Relationship Id="rId5" Type="http://schemas.openxmlformats.org/officeDocument/2006/relationships/image" Target="../media/image58.wmf"/><Relationship Id="rId15" Type="http://schemas.openxmlformats.org/officeDocument/2006/relationships/image" Target="../media/image63.wmf"/><Relationship Id="rId10" Type="http://schemas.openxmlformats.org/officeDocument/2006/relationships/image" Target="../media/image61.png"/><Relationship Id="rId19" Type="http://schemas.openxmlformats.org/officeDocument/2006/relationships/image" Target="../media/image65.wmf"/><Relationship Id="rId4" Type="http://schemas.openxmlformats.org/officeDocument/2006/relationships/oleObject" Target="../embeddings/oleObject38.bin"/><Relationship Id="rId9" Type="http://schemas.openxmlformats.org/officeDocument/2006/relationships/image" Target="../media/image60.wmf"/><Relationship Id="rId14" Type="http://schemas.openxmlformats.org/officeDocument/2006/relationships/oleObject" Target="../embeddings/oleObject43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3" Type="http://schemas.openxmlformats.org/officeDocument/2006/relationships/image" Target="../media/image67.png"/><Relationship Id="rId7" Type="http://schemas.openxmlformats.org/officeDocument/2006/relationships/oleObject" Target="../embeddings/oleObject47.bin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69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6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2.png"/><Relationship Id="rId7" Type="http://schemas.openxmlformats.org/officeDocument/2006/relationships/image" Target="../media/image68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4.w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73.png"/><Relationship Id="rId9" Type="http://schemas.openxmlformats.org/officeDocument/2006/relationships/image" Target="../media/image7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8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13" Type="http://schemas.openxmlformats.org/officeDocument/2006/relationships/image" Target="../media/image95.wmf"/><Relationship Id="rId18" Type="http://schemas.openxmlformats.org/officeDocument/2006/relationships/image" Target="../media/image97.wmf"/><Relationship Id="rId3" Type="http://schemas.openxmlformats.org/officeDocument/2006/relationships/image" Target="../media/image90.wmf"/><Relationship Id="rId21" Type="http://schemas.openxmlformats.org/officeDocument/2006/relationships/oleObject" Target="../embeddings/oleObject58.bin"/><Relationship Id="rId7" Type="http://schemas.openxmlformats.org/officeDocument/2006/relationships/image" Target="../media/image92.wmf"/><Relationship Id="rId12" Type="http://schemas.openxmlformats.org/officeDocument/2006/relationships/oleObject" Target="../embeddings/oleObject54.bin"/><Relationship Id="rId17" Type="http://schemas.openxmlformats.org/officeDocument/2006/relationships/oleObject" Target="../embeddings/oleObject56.bin"/><Relationship Id="rId2" Type="http://schemas.openxmlformats.org/officeDocument/2006/relationships/oleObject" Target="../embeddings/oleObject49.bin"/><Relationship Id="rId16" Type="http://schemas.openxmlformats.org/officeDocument/2006/relationships/image" Target="../media/image31.wmf"/><Relationship Id="rId20" Type="http://schemas.openxmlformats.org/officeDocument/2006/relationships/image" Target="../media/image98.wmf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51.bin"/><Relationship Id="rId11" Type="http://schemas.openxmlformats.org/officeDocument/2006/relationships/image" Target="../media/image94.wmf"/><Relationship Id="rId5" Type="http://schemas.openxmlformats.org/officeDocument/2006/relationships/image" Target="../media/image91.wmf"/><Relationship Id="rId15" Type="http://schemas.openxmlformats.org/officeDocument/2006/relationships/image" Target="../media/image96.wmf"/><Relationship Id="rId10" Type="http://schemas.openxmlformats.org/officeDocument/2006/relationships/oleObject" Target="../embeddings/oleObject53.bin"/><Relationship Id="rId19" Type="http://schemas.openxmlformats.org/officeDocument/2006/relationships/oleObject" Target="../embeddings/oleObject57.bin"/><Relationship Id="rId4" Type="http://schemas.openxmlformats.org/officeDocument/2006/relationships/oleObject" Target="../embeddings/oleObject50.bin"/><Relationship Id="rId9" Type="http://schemas.openxmlformats.org/officeDocument/2006/relationships/image" Target="../media/image93.wmf"/><Relationship Id="rId14" Type="http://schemas.openxmlformats.org/officeDocument/2006/relationships/oleObject" Target="../embeddings/oleObject55.bin"/><Relationship Id="rId22" Type="http://schemas.openxmlformats.org/officeDocument/2006/relationships/image" Target="../media/image99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13" Type="http://schemas.openxmlformats.org/officeDocument/2006/relationships/image" Target="../media/image107.png"/><Relationship Id="rId3" Type="http://schemas.openxmlformats.org/officeDocument/2006/relationships/image" Target="../media/image100.wmf"/><Relationship Id="rId7" Type="http://schemas.openxmlformats.org/officeDocument/2006/relationships/image" Target="../media/image102.wmf"/><Relationship Id="rId12" Type="http://schemas.openxmlformats.org/officeDocument/2006/relationships/image" Target="../media/image106.emf"/><Relationship Id="rId2" Type="http://schemas.openxmlformats.org/officeDocument/2006/relationships/oleObject" Target="../embeddings/oleObject59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61.bin"/><Relationship Id="rId11" Type="http://schemas.openxmlformats.org/officeDocument/2006/relationships/image" Target="../media/image105.png"/><Relationship Id="rId5" Type="http://schemas.openxmlformats.org/officeDocument/2006/relationships/image" Target="../media/image101.wmf"/><Relationship Id="rId10" Type="http://schemas.openxmlformats.org/officeDocument/2006/relationships/image" Target="../media/image104.png"/><Relationship Id="rId4" Type="http://schemas.openxmlformats.org/officeDocument/2006/relationships/oleObject" Target="../embeddings/oleObject60.bin"/><Relationship Id="rId9" Type="http://schemas.openxmlformats.org/officeDocument/2006/relationships/image" Target="../media/image103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3" Type="http://schemas.openxmlformats.org/officeDocument/2006/relationships/image" Target="../media/image108.wmf"/><Relationship Id="rId7" Type="http://schemas.openxmlformats.org/officeDocument/2006/relationships/oleObject" Target="../embeddings/oleObject65.bin"/><Relationship Id="rId2" Type="http://schemas.openxmlformats.org/officeDocument/2006/relationships/oleObject" Target="../embeddings/oleObject63.bin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1.wmf"/><Relationship Id="rId5" Type="http://schemas.openxmlformats.org/officeDocument/2006/relationships/image" Target="../media/image109.wmf"/><Relationship Id="rId4" Type="http://schemas.openxmlformats.org/officeDocument/2006/relationships/oleObject" Target="../embeddings/oleObject64.bin"/><Relationship Id="rId9" Type="http://schemas.openxmlformats.org/officeDocument/2006/relationships/image" Target="../media/image11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13" Type="http://schemas.openxmlformats.org/officeDocument/2006/relationships/oleObject" Target="../embeddings/oleObject71.bin"/><Relationship Id="rId18" Type="http://schemas.openxmlformats.org/officeDocument/2006/relationships/image" Target="../media/image119.wmf"/><Relationship Id="rId3" Type="http://schemas.openxmlformats.org/officeDocument/2006/relationships/oleObject" Target="../embeddings/oleObject66.bin"/><Relationship Id="rId21" Type="http://schemas.openxmlformats.org/officeDocument/2006/relationships/oleObject" Target="../embeddings/oleObject75.bin"/><Relationship Id="rId7" Type="http://schemas.openxmlformats.org/officeDocument/2006/relationships/oleObject" Target="../embeddings/oleObject68.bin"/><Relationship Id="rId12" Type="http://schemas.openxmlformats.org/officeDocument/2006/relationships/image" Target="../media/image116.wmf"/><Relationship Id="rId17" Type="http://schemas.openxmlformats.org/officeDocument/2006/relationships/oleObject" Target="../embeddings/oleObject73.bin"/><Relationship Id="rId2" Type="http://schemas.openxmlformats.org/officeDocument/2006/relationships/image" Target="../media/image31.wmf"/><Relationship Id="rId16" Type="http://schemas.openxmlformats.org/officeDocument/2006/relationships/image" Target="../media/image118.wmf"/><Relationship Id="rId20" Type="http://schemas.openxmlformats.org/officeDocument/2006/relationships/image" Target="../media/image120.wmf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13.wmf"/><Relationship Id="rId11" Type="http://schemas.openxmlformats.org/officeDocument/2006/relationships/oleObject" Target="../embeddings/oleObject70.bin"/><Relationship Id="rId5" Type="http://schemas.openxmlformats.org/officeDocument/2006/relationships/oleObject" Target="../embeddings/oleObject67.bin"/><Relationship Id="rId15" Type="http://schemas.openxmlformats.org/officeDocument/2006/relationships/oleObject" Target="../embeddings/oleObject72.bin"/><Relationship Id="rId10" Type="http://schemas.openxmlformats.org/officeDocument/2006/relationships/image" Target="../media/image115.wmf"/><Relationship Id="rId19" Type="http://schemas.openxmlformats.org/officeDocument/2006/relationships/oleObject" Target="../embeddings/oleObject74.bin"/><Relationship Id="rId4" Type="http://schemas.openxmlformats.org/officeDocument/2006/relationships/image" Target="../media/image112.wmf"/><Relationship Id="rId9" Type="http://schemas.openxmlformats.org/officeDocument/2006/relationships/oleObject" Target="../embeddings/oleObject69.bin"/><Relationship Id="rId14" Type="http://schemas.openxmlformats.org/officeDocument/2006/relationships/image" Target="../media/image117.wmf"/><Relationship Id="rId22" Type="http://schemas.openxmlformats.org/officeDocument/2006/relationships/image" Target="../media/image121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wmf"/><Relationship Id="rId3" Type="http://schemas.openxmlformats.org/officeDocument/2006/relationships/oleObject" Target="../embeddings/oleObject76.bin"/><Relationship Id="rId7" Type="http://schemas.openxmlformats.org/officeDocument/2006/relationships/oleObject" Target="../embeddings/oleObject78.bin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24.wmf"/><Relationship Id="rId5" Type="http://schemas.openxmlformats.org/officeDocument/2006/relationships/oleObject" Target="../embeddings/oleObject77.bin"/><Relationship Id="rId10" Type="http://schemas.openxmlformats.org/officeDocument/2006/relationships/image" Target="../media/image126.wmf"/><Relationship Id="rId4" Type="http://schemas.openxmlformats.org/officeDocument/2006/relationships/image" Target="../media/image123.wmf"/><Relationship Id="rId9" Type="http://schemas.openxmlformats.org/officeDocument/2006/relationships/oleObject" Target="../embeddings/oleObject79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3.bin"/><Relationship Id="rId3" Type="http://schemas.openxmlformats.org/officeDocument/2006/relationships/image" Target="../media/image132.wmf"/><Relationship Id="rId7" Type="http://schemas.openxmlformats.org/officeDocument/2006/relationships/image" Target="../media/image134.wmf"/><Relationship Id="rId2" Type="http://schemas.openxmlformats.org/officeDocument/2006/relationships/oleObject" Target="../embeddings/oleObject80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82.bin"/><Relationship Id="rId5" Type="http://schemas.openxmlformats.org/officeDocument/2006/relationships/image" Target="../media/image133.wmf"/><Relationship Id="rId4" Type="http://schemas.openxmlformats.org/officeDocument/2006/relationships/oleObject" Target="../embeddings/oleObject81.bin"/><Relationship Id="rId9" Type="http://schemas.openxmlformats.org/officeDocument/2006/relationships/image" Target="../media/image135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7" Type="http://schemas.openxmlformats.org/officeDocument/2006/relationships/image" Target="../media/image140.wmf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84.bin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7.bin"/><Relationship Id="rId13" Type="http://schemas.openxmlformats.org/officeDocument/2006/relationships/image" Target="../media/image145.wmf"/><Relationship Id="rId3" Type="http://schemas.openxmlformats.org/officeDocument/2006/relationships/oleObject" Target="../embeddings/oleObject85.bin"/><Relationship Id="rId7" Type="http://schemas.openxmlformats.org/officeDocument/2006/relationships/image" Target="../media/image142.wmf"/><Relationship Id="rId12" Type="http://schemas.openxmlformats.org/officeDocument/2006/relationships/oleObject" Target="../embeddings/oleObject89.bin"/><Relationship Id="rId2" Type="http://schemas.openxmlformats.org/officeDocument/2006/relationships/image" Target="../media/image31.wmf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86.bin"/><Relationship Id="rId11" Type="http://schemas.openxmlformats.org/officeDocument/2006/relationships/image" Target="../media/image144.wmf"/><Relationship Id="rId5" Type="http://schemas.openxmlformats.org/officeDocument/2006/relationships/image" Target="../media/image138.png"/><Relationship Id="rId15" Type="http://schemas.openxmlformats.org/officeDocument/2006/relationships/image" Target="../media/image146.wmf"/><Relationship Id="rId10" Type="http://schemas.openxmlformats.org/officeDocument/2006/relationships/oleObject" Target="../embeddings/oleObject88.bin"/><Relationship Id="rId4" Type="http://schemas.openxmlformats.org/officeDocument/2006/relationships/image" Target="../media/image141.wmf"/><Relationship Id="rId9" Type="http://schemas.openxmlformats.org/officeDocument/2006/relationships/image" Target="../media/image143.wmf"/><Relationship Id="rId14" Type="http://schemas.openxmlformats.org/officeDocument/2006/relationships/oleObject" Target="../embeddings/oleObject90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4.bin"/><Relationship Id="rId13" Type="http://schemas.openxmlformats.org/officeDocument/2006/relationships/image" Target="../media/image152.wmf"/><Relationship Id="rId18" Type="http://schemas.openxmlformats.org/officeDocument/2006/relationships/image" Target="../media/image154.wmf"/><Relationship Id="rId26" Type="http://schemas.openxmlformats.org/officeDocument/2006/relationships/image" Target="../media/image158.wmf"/><Relationship Id="rId3" Type="http://schemas.openxmlformats.org/officeDocument/2006/relationships/image" Target="../media/image147.wmf"/><Relationship Id="rId21" Type="http://schemas.openxmlformats.org/officeDocument/2006/relationships/oleObject" Target="../embeddings/oleObject100.bin"/><Relationship Id="rId7" Type="http://schemas.openxmlformats.org/officeDocument/2006/relationships/image" Target="../media/image149.wmf"/><Relationship Id="rId12" Type="http://schemas.openxmlformats.org/officeDocument/2006/relationships/oleObject" Target="../embeddings/oleObject96.bin"/><Relationship Id="rId17" Type="http://schemas.openxmlformats.org/officeDocument/2006/relationships/oleObject" Target="../embeddings/oleObject98.bin"/><Relationship Id="rId25" Type="http://schemas.openxmlformats.org/officeDocument/2006/relationships/oleObject" Target="../embeddings/oleObject102.bin"/><Relationship Id="rId2" Type="http://schemas.openxmlformats.org/officeDocument/2006/relationships/oleObject" Target="../embeddings/oleObject91.bin"/><Relationship Id="rId16" Type="http://schemas.openxmlformats.org/officeDocument/2006/relationships/image" Target="../media/image31.wmf"/><Relationship Id="rId20" Type="http://schemas.openxmlformats.org/officeDocument/2006/relationships/image" Target="../media/image155.wmf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93.bin"/><Relationship Id="rId11" Type="http://schemas.openxmlformats.org/officeDocument/2006/relationships/image" Target="../media/image151.wmf"/><Relationship Id="rId24" Type="http://schemas.openxmlformats.org/officeDocument/2006/relationships/image" Target="../media/image157.wmf"/><Relationship Id="rId5" Type="http://schemas.openxmlformats.org/officeDocument/2006/relationships/image" Target="../media/image148.wmf"/><Relationship Id="rId15" Type="http://schemas.openxmlformats.org/officeDocument/2006/relationships/image" Target="../media/image153.wmf"/><Relationship Id="rId23" Type="http://schemas.openxmlformats.org/officeDocument/2006/relationships/oleObject" Target="../embeddings/oleObject101.bin"/><Relationship Id="rId10" Type="http://schemas.openxmlformats.org/officeDocument/2006/relationships/oleObject" Target="../embeddings/oleObject95.bin"/><Relationship Id="rId19" Type="http://schemas.openxmlformats.org/officeDocument/2006/relationships/oleObject" Target="../embeddings/oleObject99.bin"/><Relationship Id="rId4" Type="http://schemas.openxmlformats.org/officeDocument/2006/relationships/oleObject" Target="../embeddings/oleObject92.bin"/><Relationship Id="rId9" Type="http://schemas.openxmlformats.org/officeDocument/2006/relationships/image" Target="../media/image150.wmf"/><Relationship Id="rId14" Type="http://schemas.openxmlformats.org/officeDocument/2006/relationships/oleObject" Target="../embeddings/oleObject97.bin"/><Relationship Id="rId22" Type="http://schemas.openxmlformats.org/officeDocument/2006/relationships/image" Target="../media/image156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3.bin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60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7.bin"/><Relationship Id="rId3" Type="http://schemas.openxmlformats.org/officeDocument/2006/relationships/image" Target="../media/image161.wmf"/><Relationship Id="rId7" Type="http://schemas.openxmlformats.org/officeDocument/2006/relationships/image" Target="../media/image163.wmf"/><Relationship Id="rId2" Type="http://schemas.openxmlformats.org/officeDocument/2006/relationships/oleObject" Target="../embeddings/oleObject104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106.bin"/><Relationship Id="rId11" Type="http://schemas.openxmlformats.org/officeDocument/2006/relationships/image" Target="../media/image165.wmf"/><Relationship Id="rId5" Type="http://schemas.openxmlformats.org/officeDocument/2006/relationships/image" Target="../media/image162.wmf"/><Relationship Id="rId10" Type="http://schemas.openxmlformats.org/officeDocument/2006/relationships/oleObject" Target="../embeddings/oleObject108.bin"/><Relationship Id="rId4" Type="http://schemas.openxmlformats.org/officeDocument/2006/relationships/oleObject" Target="../embeddings/oleObject105.bin"/><Relationship Id="rId9" Type="http://schemas.openxmlformats.org/officeDocument/2006/relationships/image" Target="../media/image16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AA9D0B63-D9C1-4432-AF96-2EA7E99C0383}"/>
              </a:ext>
            </a:extLst>
          </p:cNvPr>
          <p:cNvSpPr txBox="1">
            <a:spLocks/>
          </p:cNvSpPr>
          <p:nvPr/>
        </p:nvSpPr>
        <p:spPr>
          <a:xfrm>
            <a:off x="1279047" y="2417928"/>
            <a:ext cx="7433153" cy="20221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b="1" dirty="0" err="1">
                <a:solidFill>
                  <a:srgbClr val="0000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Weishu</a:t>
            </a:r>
            <a:r>
              <a:rPr lang="en-US" sz="2800" b="1" dirty="0">
                <a:solidFill>
                  <a:srgbClr val="0000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L</a:t>
            </a:r>
            <a:r>
              <a:rPr lang="en-US" sz="2800" b="1" dirty="0">
                <a:solidFill>
                  <a:srgbClr val="0000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iu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Department of Materials Science and Engineering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Southern University of Science and Technology (</a:t>
            </a:r>
            <a:r>
              <a:rPr lang="en-US" sz="1800" dirty="0" err="1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SUSTec</a:t>
            </a:r>
            <a:r>
              <a:rPr lang="en-US" altLang="zh-CN" sz="1800" dirty="0" err="1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h</a:t>
            </a:r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Email: </a:t>
            </a:r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liuws@sust</a:t>
            </a:r>
            <a:r>
              <a:rPr lang="en-US" altLang="zh-CN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ech</a:t>
            </a:r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.edu.cn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Office: </a:t>
            </a:r>
            <a:r>
              <a:rPr lang="en-US" altLang="zh-CN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North Tower</a:t>
            </a:r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, Rm310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1B1E1D-7C41-4F56-BF1E-96200593BAF0}"/>
              </a:ext>
            </a:extLst>
          </p:cNvPr>
          <p:cNvSpPr txBox="1"/>
          <p:nvPr/>
        </p:nvSpPr>
        <p:spPr>
          <a:xfrm>
            <a:off x="1279046" y="1220254"/>
            <a:ext cx="74331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Lecture 13: </a:t>
            </a: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Regular </a:t>
            </a:r>
            <a:r>
              <a:rPr lang="en-US" altLang="zh-CN" sz="32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solution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1DFC60B-4951-5093-38BF-D0E39B11DC32}"/>
              </a:ext>
            </a:extLst>
          </p:cNvPr>
          <p:cNvSpPr/>
          <p:nvPr/>
        </p:nvSpPr>
        <p:spPr>
          <a:xfrm>
            <a:off x="2550929" y="84135"/>
            <a:ext cx="6593071" cy="5232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i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MSE 311: Thermodynamics  of Materials</a:t>
            </a:r>
          </a:p>
        </p:txBody>
      </p:sp>
    </p:spTree>
    <p:extLst>
      <p:ext uri="{BB962C8B-B14F-4D97-AF65-F5344CB8AC3E}">
        <p14:creationId xmlns:p14="http://schemas.microsoft.com/office/powerpoint/2010/main" val="2306106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68395" y="3541776"/>
            <a:ext cx="52357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31. The behavior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of 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non idea solutions</a:t>
            </a:r>
          </a:p>
        </p:txBody>
      </p:sp>
      <p:sp>
        <p:nvSpPr>
          <p:cNvPr id="9" name="矩形 8"/>
          <p:cNvSpPr/>
          <p:nvPr/>
        </p:nvSpPr>
        <p:spPr>
          <a:xfrm>
            <a:off x="1004971" y="4357223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Ref.  Introduction of Thermodynamics of Materials, D. R. Gaskell, Chapter 9 </a:t>
            </a:r>
          </a:p>
        </p:txBody>
      </p:sp>
    </p:spTree>
    <p:extLst>
      <p:ext uri="{BB962C8B-B14F-4D97-AF65-F5344CB8AC3E}">
        <p14:creationId xmlns:p14="http://schemas.microsoft.com/office/powerpoint/2010/main" val="3003272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圆角矩形 27"/>
          <p:cNvSpPr/>
          <p:nvPr/>
        </p:nvSpPr>
        <p:spPr>
          <a:xfrm>
            <a:off x="5838943" y="848197"/>
            <a:ext cx="3228857" cy="1253137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itle 1"/>
          <p:cNvSpPr txBox="1"/>
          <p:nvPr/>
        </p:nvSpPr>
        <p:spPr bwMode="auto">
          <a:xfrm>
            <a:off x="985909" y="0"/>
            <a:ext cx="5873750" cy="595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/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 panose="020B0604020202020204"/>
                <a:ea typeface="Geneva" pitchFamily="-107" charset="-128"/>
                <a:cs typeface="Arial" panose="020B0604020202020204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Geneva" pitchFamily="-107" charset="-128"/>
              </a:defRPr>
            </a:lvl9pPr>
          </a:lstStyle>
          <a:p>
            <a:r>
              <a:rPr lang="en-US" altLang="zh-CN" sz="3200" dirty="0">
                <a:solidFill>
                  <a:srgbClr val="FF0000"/>
                </a:solidFill>
              </a:rPr>
              <a:t>Non-idea solution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9459" y="2101334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/>
              <a:t>A non-ideal solution </a:t>
            </a:r>
            <a:r>
              <a:rPr lang="en-US" altLang="zh-CN" dirty="0"/>
              <a:t>is one in which the activities of the components are not equal to their mole fractions</a:t>
            </a:r>
            <a:endParaRPr lang="zh-CN" altLang="en-US" dirty="0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7433272"/>
              </p:ext>
            </p:extLst>
          </p:nvPr>
        </p:nvGraphicFramePr>
        <p:xfrm>
          <a:off x="533399" y="2833596"/>
          <a:ext cx="78316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277600" imgH="5486400" progId="Equation.DSMT4">
                  <p:embed/>
                </p:oleObj>
              </mc:Choice>
              <mc:Fallback>
                <p:oleObj name="Equation" r:id="rId2" imgW="11277600" imgH="548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33399" y="2833596"/>
                        <a:ext cx="783167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94718" y="1196707"/>
            <a:ext cx="2648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 </a:t>
            </a:r>
            <a:r>
              <a:rPr lang="en-US" altLang="zh-CN" b="1" i="1" dirty="0" err="1"/>
              <a:t>Raoultian</a:t>
            </a:r>
            <a:r>
              <a:rPr lang="en-US" altLang="zh-CN" b="1" i="1" dirty="0"/>
              <a:t> ideal solution</a:t>
            </a:r>
            <a:endParaRPr lang="zh-CN" altLang="en-US" b="1" i="1" dirty="0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4555483"/>
              </p:ext>
            </p:extLst>
          </p:nvPr>
        </p:nvGraphicFramePr>
        <p:xfrm>
          <a:off x="512762" y="1690596"/>
          <a:ext cx="78263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277600" imgH="5486400" progId="Equation.DSMT4">
                  <p:embed/>
                </p:oleObj>
              </mc:Choice>
              <mc:Fallback>
                <p:oleObj name="Equation" r:id="rId4" imgW="11277600" imgH="548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762" y="1690596"/>
                        <a:ext cx="782638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83303" y="3366996"/>
            <a:ext cx="1269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For simple, </a:t>
            </a:r>
            <a:endParaRPr lang="zh-CN" altLang="en-US" b="1" i="1" dirty="0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8555534"/>
              </p:ext>
            </p:extLst>
          </p:nvPr>
        </p:nvGraphicFramePr>
        <p:xfrm>
          <a:off x="442913" y="3824196"/>
          <a:ext cx="9509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716000" imgH="5486400" progId="Equation.DSMT4">
                  <p:embed/>
                </p:oleObj>
              </mc:Choice>
              <mc:Fallback>
                <p:oleObj name="Equation" r:id="rId6" imgW="13716000" imgH="548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913" y="3824196"/>
                        <a:ext cx="95091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650825" y="3825755"/>
            <a:ext cx="2486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CN" dirty="0">
                <a:latin typeface="Sylfaen" panose="010A0502050306030303"/>
              </a:rPr>
              <a:t>γ</a:t>
            </a:r>
            <a:r>
              <a:rPr lang="en-US" altLang="zh-CN" baseline="-25000" dirty="0" err="1">
                <a:latin typeface="Sylfaen" panose="010A0502050306030303"/>
              </a:rPr>
              <a:t>i</a:t>
            </a:r>
            <a:r>
              <a:rPr lang="en-US" altLang="zh-CN" baseline="-25000" dirty="0">
                <a:latin typeface="Sylfaen" panose="010A0502050306030303"/>
              </a:rPr>
              <a:t>  </a:t>
            </a:r>
            <a:r>
              <a:rPr lang="en-US" altLang="zh-CN" dirty="0">
                <a:latin typeface="Sylfaen" panose="010A0502050306030303"/>
              </a:rPr>
              <a:t> is activity coefficient</a:t>
            </a:r>
            <a:endParaRPr lang="zh-CN" altLang="en-US" dirty="0"/>
          </a:p>
        </p:txBody>
      </p:sp>
      <p:grpSp>
        <p:nvGrpSpPr>
          <p:cNvPr id="21" name="组合 20"/>
          <p:cNvGrpSpPr/>
          <p:nvPr/>
        </p:nvGrpSpPr>
        <p:grpSpPr>
          <a:xfrm>
            <a:off x="4800600" y="3434266"/>
            <a:ext cx="2801710" cy="923330"/>
            <a:chOff x="4800600" y="3572470"/>
            <a:chExt cx="2801710" cy="923330"/>
          </a:xfrm>
        </p:grpSpPr>
        <p:graphicFrame>
          <p:nvGraphicFramePr>
            <p:cNvPr id="19" name="对象 18"/>
            <p:cNvGraphicFramePr>
              <a:graphicFrameLocks noChangeAspect="1"/>
            </p:cNvGraphicFramePr>
            <p:nvPr/>
          </p:nvGraphicFramePr>
          <p:xfrm>
            <a:off x="4800600" y="3701534"/>
            <a:ext cx="578442" cy="7180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8839200" imgH="10972800" progId="Equation.DSMT4">
                    <p:embed/>
                  </p:oleObj>
                </mc:Choice>
                <mc:Fallback>
                  <p:oleObj name="Equation" r:id="rId8" imgW="8839200" imgH="10972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800600" y="3701534"/>
                          <a:ext cx="578442" cy="71806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TextBox 19"/>
            <p:cNvSpPr txBox="1"/>
            <p:nvPr/>
          </p:nvSpPr>
          <p:spPr>
            <a:xfrm>
              <a:off x="5518150" y="3572470"/>
              <a:ext cx="208416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dirty="0"/>
                <a:t>for idea solution</a:t>
              </a:r>
            </a:p>
            <a:p>
              <a:pPr>
                <a:lnSpc>
                  <a:spcPct val="150000"/>
                </a:lnSpc>
              </a:pPr>
              <a:r>
                <a:rPr lang="en-US" altLang="zh-CN" dirty="0"/>
                <a:t>for </a:t>
              </a:r>
              <a:r>
                <a:rPr lang="en-US" altLang="zh-CN" dirty="0" err="1"/>
                <a:t>nonidea</a:t>
              </a:r>
              <a:r>
                <a:rPr lang="en-US" altLang="zh-CN" dirty="0"/>
                <a:t> solution</a:t>
              </a:r>
              <a:endParaRPr lang="zh-CN" altLang="en-US" dirty="0"/>
            </a:p>
          </p:txBody>
        </p:sp>
      </p:grpSp>
      <p:sp>
        <p:nvSpPr>
          <p:cNvPr id="23" name="左大括号 22"/>
          <p:cNvSpPr/>
          <p:nvPr/>
        </p:nvSpPr>
        <p:spPr>
          <a:xfrm>
            <a:off x="4472400" y="3627862"/>
            <a:ext cx="175800" cy="669667"/>
          </a:xfrm>
          <a:prstGeom prst="leftBrace">
            <a:avLst>
              <a:gd name="adj1" fmla="val 50124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723900" y="4584926"/>
            <a:ext cx="7292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Both  </a:t>
            </a:r>
            <a:r>
              <a:rPr lang="en-US" altLang="zh-CN" i="1" dirty="0" err="1"/>
              <a:t>a</a:t>
            </a:r>
            <a:r>
              <a:rPr lang="en-US" altLang="zh-CN" i="1" baseline="-25000" dirty="0" err="1"/>
              <a:t>i</a:t>
            </a:r>
            <a:r>
              <a:rPr lang="en-US" altLang="zh-CN" i="1" baseline="-25000" dirty="0"/>
              <a:t> </a:t>
            </a:r>
            <a:r>
              <a:rPr lang="en-US" altLang="zh-CN" dirty="0"/>
              <a:t> and </a:t>
            </a:r>
            <a:r>
              <a:rPr lang="el-GR" altLang="zh-CN" i="1" dirty="0">
                <a:latin typeface="Sylfaen"/>
              </a:rPr>
              <a:t>γ</a:t>
            </a:r>
            <a:r>
              <a:rPr lang="en-US" altLang="zh-CN" i="1" baseline="-25000" dirty="0" err="1">
                <a:latin typeface="Sylfaen"/>
              </a:rPr>
              <a:t>i</a:t>
            </a:r>
            <a:r>
              <a:rPr lang="en-US" altLang="zh-CN" i="1" dirty="0"/>
              <a:t>   </a:t>
            </a:r>
            <a:r>
              <a:rPr lang="en-US" altLang="zh-CN" dirty="0"/>
              <a:t>depend on concentration 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652145" y="5016091"/>
            <a:ext cx="78060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    is always less than one</a:t>
            </a:r>
          </a:p>
          <a:p>
            <a:r>
              <a:rPr lang="en-US" altLang="zh-CN" dirty="0"/>
              <a:t>          is less than one for </a:t>
            </a:r>
            <a:r>
              <a:rPr lang="en-US" altLang="zh-CN" dirty="0" err="1"/>
              <a:t>nagative</a:t>
            </a:r>
            <a:r>
              <a:rPr lang="en-US" altLang="zh-CN" dirty="0"/>
              <a:t> deviation solution</a:t>
            </a:r>
          </a:p>
          <a:p>
            <a:r>
              <a:rPr lang="en-US" altLang="zh-CN" dirty="0"/>
              <a:t>  </a:t>
            </a:r>
          </a:p>
          <a:p>
            <a:r>
              <a:rPr lang="en-US" altLang="zh-CN" dirty="0"/>
              <a:t>          is larger than one for positive deviation solution        </a:t>
            </a:r>
          </a:p>
        </p:txBody>
      </p:sp>
      <p:graphicFrame>
        <p:nvGraphicFramePr>
          <p:cNvPr id="22" name="对象 21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3666944"/>
              </p:ext>
            </p:extLst>
          </p:nvPr>
        </p:nvGraphicFramePr>
        <p:xfrm>
          <a:off x="873125" y="5043396"/>
          <a:ext cx="362049" cy="332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52400" imgH="139700" progId="Equation.KSEE3">
                  <p:embed/>
                </p:oleObj>
              </mc:Choice>
              <mc:Fallback>
                <p:oleObj r:id="rId10" imgW="152400" imgH="1397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73125" y="5043396"/>
                        <a:ext cx="362049" cy="3321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7328804"/>
              </p:ext>
            </p:extLst>
          </p:nvPr>
        </p:nvGraphicFramePr>
        <p:xfrm>
          <a:off x="951230" y="5403441"/>
          <a:ext cx="266065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27000" imgH="165100" progId="Equation.KSEE3">
                  <p:embed/>
                </p:oleObj>
              </mc:Choice>
              <mc:Fallback>
                <p:oleObj r:id="rId12" imgW="127000" imgH="1651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51230" y="5403441"/>
                        <a:ext cx="266065" cy="346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0456394"/>
              </p:ext>
            </p:extLst>
          </p:nvPr>
        </p:nvGraphicFramePr>
        <p:xfrm>
          <a:off x="951230" y="5833336"/>
          <a:ext cx="266065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27000" imgH="165100" progId="Equation.KSEE3">
                  <p:embed/>
                </p:oleObj>
              </mc:Choice>
              <mc:Fallback>
                <p:oleObj r:id="rId14" imgW="127000" imgH="1651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51230" y="5833336"/>
                        <a:ext cx="266065" cy="346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6876502"/>
              </p:ext>
            </p:extLst>
          </p:nvPr>
        </p:nvGraphicFramePr>
        <p:xfrm>
          <a:off x="7380287" y="925560"/>
          <a:ext cx="1763713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117440" imgH="736560" progId="Equation.DSMT4">
                  <p:embed/>
                </p:oleObj>
              </mc:Choice>
              <mc:Fallback>
                <p:oleObj name="Equation" r:id="rId15" imgW="1117440" imgH="736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287" y="925560"/>
                        <a:ext cx="1763713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838943" y="925560"/>
            <a:ext cx="14425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err="1"/>
              <a:t>Raoult’s</a:t>
            </a:r>
            <a:r>
              <a:rPr lang="en-US" altLang="zh-CN" sz="2000" dirty="0"/>
              <a:t> law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67400" y="1519086"/>
            <a:ext cx="13930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Henry’s law</a:t>
            </a:r>
          </a:p>
        </p:txBody>
      </p:sp>
    </p:spTree>
    <p:extLst>
      <p:ext uri="{BB962C8B-B14F-4D97-AF65-F5344CB8AC3E}">
        <p14:creationId xmlns:p14="http://schemas.microsoft.com/office/powerpoint/2010/main" val="1075354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396451" y="4600575"/>
            <a:ext cx="34488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9.8 </a:t>
            </a:r>
            <a:r>
              <a:rPr lang="en-US" altLang="zh-CN" dirty="0"/>
              <a:t>Activities in the system iron-nickel at 1600°C. </a:t>
            </a:r>
            <a:endParaRPr lang="zh-CN" altLang="zh-CN" dirty="0"/>
          </a:p>
        </p:txBody>
      </p:sp>
      <p:sp>
        <p:nvSpPr>
          <p:cNvPr id="14" name="矩形 13"/>
          <p:cNvSpPr/>
          <p:nvPr/>
        </p:nvSpPr>
        <p:spPr>
          <a:xfrm>
            <a:off x="5053835" y="4600575"/>
            <a:ext cx="3786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9.9 </a:t>
            </a:r>
            <a:r>
              <a:rPr lang="en-US" altLang="zh-CN" dirty="0"/>
              <a:t>Activities in the system iron-copper at 1550°C</a:t>
            </a:r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024140" y="942975"/>
            <a:ext cx="2618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Negative</a:t>
            </a:r>
            <a:r>
              <a:rPr lang="en-US" altLang="zh-CN" dirty="0"/>
              <a:t> deviation, </a:t>
            </a:r>
            <a:r>
              <a:rPr lang="el-GR" altLang="zh-CN" dirty="0">
                <a:latin typeface="Sylfaen" panose="010A0502050306030303"/>
              </a:rPr>
              <a:t>γ</a:t>
            </a:r>
            <a:r>
              <a:rPr lang="en-US" altLang="zh-CN" dirty="0">
                <a:latin typeface="Sylfaen" panose="010A0502050306030303"/>
              </a:rPr>
              <a:t>&lt;1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449535" y="942975"/>
            <a:ext cx="2368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Positive </a:t>
            </a:r>
            <a:r>
              <a:rPr lang="en-US" altLang="zh-CN" dirty="0"/>
              <a:t>deviation, </a:t>
            </a:r>
            <a:r>
              <a:rPr lang="el-GR" altLang="zh-CN" dirty="0">
                <a:latin typeface="Sylfaen" panose="010A0502050306030303"/>
              </a:rPr>
              <a:t>γ</a:t>
            </a:r>
            <a:r>
              <a:rPr lang="en-US" altLang="zh-CN" dirty="0">
                <a:latin typeface="Sylfaen" panose="010A0502050306030303"/>
              </a:rPr>
              <a:t>&gt;1</a:t>
            </a:r>
            <a:r>
              <a:rPr lang="en-US" altLang="zh-CN" dirty="0"/>
              <a:t> </a:t>
            </a:r>
            <a:endParaRPr lang="zh-CN" altLang="en-US" dirty="0"/>
          </a:p>
        </p:txBody>
      </p:sp>
      <p:pic>
        <p:nvPicPr>
          <p:cNvPr id="808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912" y="1297464"/>
            <a:ext cx="3445823" cy="3180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08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1007" y="1267240"/>
            <a:ext cx="3706854" cy="3345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7911296"/>
              </p:ext>
            </p:extLst>
          </p:nvPr>
        </p:nvGraphicFramePr>
        <p:xfrm>
          <a:off x="2633870" y="5975210"/>
          <a:ext cx="1545767" cy="520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61669" imgH="253890" progId="Equation.DSMT4">
                  <p:embed/>
                </p:oleObj>
              </mc:Choice>
              <mc:Fallback>
                <p:oleObj name="Equation" r:id="rId4" imgW="761669" imgH="2538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3870" y="5975210"/>
                        <a:ext cx="1545767" cy="52009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rgbClr val="CC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469747" y="5386667"/>
            <a:ext cx="3065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i="1" dirty="0">
                <a:solidFill>
                  <a:srgbClr val="FF3300"/>
                </a:solidFill>
                <a:ea typeface="宋体" charset="-122"/>
              </a:rPr>
              <a:t>Gibbs-</a:t>
            </a:r>
            <a:r>
              <a:rPr lang="en-US" altLang="zh-CN" i="1" dirty="0" err="1">
                <a:solidFill>
                  <a:srgbClr val="FF3300"/>
                </a:solidFill>
                <a:ea typeface="宋体" charset="-122"/>
              </a:rPr>
              <a:t>Duhem</a:t>
            </a:r>
            <a:r>
              <a:rPr lang="en-US" altLang="zh-CN" i="1" dirty="0">
                <a:solidFill>
                  <a:srgbClr val="FF3300"/>
                </a:solidFill>
                <a:ea typeface="宋体" charset="-122"/>
              </a:rPr>
              <a:t> equation</a:t>
            </a:r>
          </a:p>
        </p:txBody>
      </p:sp>
      <p:pic>
        <p:nvPicPr>
          <p:cNvPr id="11" name="Picture 326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367"/>
          <a:stretch/>
        </p:blipFill>
        <p:spPr bwMode="auto">
          <a:xfrm>
            <a:off x="4216436" y="5942170"/>
            <a:ext cx="1674797" cy="625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文本框 9"/>
          <p:cNvSpPr txBox="1"/>
          <p:nvPr/>
        </p:nvSpPr>
        <p:spPr>
          <a:xfrm>
            <a:off x="883285" y="16294"/>
            <a:ext cx="6450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Arial Unicode MS" panose="020B0604020202020204" charset="-122"/>
                <a:ea typeface="Arial Unicode MS" panose="020B0604020202020204" charset="-122"/>
              </a:rPr>
              <a:t>Determining TD activity coefficient</a:t>
            </a:r>
          </a:p>
        </p:txBody>
      </p:sp>
    </p:spTree>
    <p:extLst>
      <p:ext uri="{BB962C8B-B14F-4D97-AF65-F5344CB8AC3E}">
        <p14:creationId xmlns:p14="http://schemas.microsoft.com/office/powerpoint/2010/main" val="1330001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 bwMode="auto">
          <a:xfrm>
            <a:off x="1002030" y="793"/>
            <a:ext cx="5873750" cy="610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/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 panose="020B0604020202020204"/>
                <a:ea typeface="Geneva" pitchFamily="-107" charset="-128"/>
                <a:cs typeface="Arial" panose="020B0604020202020204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Geneva" pitchFamily="-107" charset="-128"/>
              </a:defRPr>
            </a:lvl9pPr>
          </a:lstStyle>
          <a:p>
            <a:r>
              <a:rPr lang="en-US" altLang="zh-CN" sz="3200" dirty="0" err="1">
                <a:solidFill>
                  <a:srgbClr val="FF0000"/>
                </a:solidFill>
              </a:rPr>
              <a:t>Nonidea</a:t>
            </a:r>
            <a:r>
              <a:rPr lang="en-US" altLang="zh-CN" sz="3200" dirty="0">
                <a:solidFill>
                  <a:srgbClr val="FF0000"/>
                </a:solidFill>
              </a:rPr>
              <a:t> solution</a:t>
            </a: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965" y="1109024"/>
            <a:ext cx="6377940" cy="595630"/>
          </a:xfrm>
          <a:prstGeom prst="rect">
            <a:avLst/>
          </a:prstGeom>
        </p:spPr>
      </p:pic>
      <p:graphicFrame>
        <p:nvGraphicFramePr>
          <p:cNvPr id="13" name="对象 12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8333291"/>
              </p:ext>
            </p:extLst>
          </p:nvPr>
        </p:nvGraphicFramePr>
        <p:xfrm>
          <a:off x="1421765" y="1642424"/>
          <a:ext cx="699770" cy="430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30200" imgH="203200" progId="Equation.KSEE3">
                  <p:embed/>
                </p:oleObj>
              </mc:Choice>
              <mc:Fallback>
                <p:oleObj r:id="rId3" imgW="330200" imgH="2032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21765" y="1642424"/>
                        <a:ext cx="699770" cy="4305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2185670" y="1704654"/>
            <a:ext cx="37045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ideal solution</a:t>
            </a:r>
          </a:p>
        </p:txBody>
      </p:sp>
      <p:graphicFrame>
        <p:nvGraphicFramePr>
          <p:cNvPr id="16" name="对象 15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8101231"/>
              </p:ext>
            </p:extLst>
          </p:nvPr>
        </p:nvGraphicFramePr>
        <p:xfrm>
          <a:off x="1421765" y="2136454"/>
          <a:ext cx="723900" cy="445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330200" imgH="203200" progId="Equation.KSEE3">
                  <p:embed/>
                </p:oleObj>
              </mc:Choice>
              <mc:Fallback>
                <p:oleObj r:id="rId5" imgW="330200" imgH="2032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21765" y="2136454"/>
                        <a:ext cx="723900" cy="4457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2241550" y="2236784"/>
            <a:ext cx="5400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positive deviation from </a:t>
            </a:r>
            <a:r>
              <a:rPr lang="en-US" altLang="zh-CN" dirty="0" err="1"/>
              <a:t>Raoultian</a:t>
            </a:r>
            <a:r>
              <a:rPr lang="en-US" altLang="zh-CN" dirty="0"/>
              <a:t> behavior</a:t>
            </a:r>
          </a:p>
        </p:txBody>
      </p:sp>
      <p:graphicFrame>
        <p:nvGraphicFramePr>
          <p:cNvPr id="18" name="对象 17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8379868"/>
              </p:ext>
            </p:extLst>
          </p:nvPr>
        </p:nvGraphicFramePr>
        <p:xfrm>
          <a:off x="1421765" y="2670489"/>
          <a:ext cx="699770" cy="430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330200" imgH="203200" progId="Equation.KSEE3">
                  <p:embed/>
                </p:oleObj>
              </mc:Choice>
              <mc:Fallback>
                <p:oleObj r:id="rId7" imgW="330200" imgH="2032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21765" y="2670489"/>
                        <a:ext cx="699770" cy="4305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2241550" y="2732719"/>
            <a:ext cx="4634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negative deviation from Raoultian behavior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725170" y="3182934"/>
            <a:ext cx="7118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 Gibbs free energy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84630" y="3551234"/>
            <a:ext cx="5079681" cy="50292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725170" y="3964619"/>
            <a:ext cx="6653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 The heat of mixing, if </a:t>
            </a:r>
            <a:r>
              <a:rPr lang="el-GR" altLang="zh-CN" dirty="0">
                <a:latin typeface="Sylfaen"/>
              </a:rPr>
              <a:t>γ</a:t>
            </a:r>
            <a:r>
              <a:rPr lang="en-US" altLang="zh-CN" baseline="-25000" dirty="0" err="1">
                <a:latin typeface="Sylfaen"/>
              </a:rPr>
              <a:t>i</a:t>
            </a:r>
            <a:r>
              <a:rPr lang="en-US" altLang="zh-CN" dirty="0">
                <a:latin typeface="Sylfaen"/>
              </a:rPr>
              <a:t> is temperature dependent</a:t>
            </a:r>
            <a:endParaRPr lang="en-US" altLang="zh-CN" dirty="0"/>
          </a:p>
        </p:txBody>
      </p:sp>
      <p:graphicFrame>
        <p:nvGraphicFramePr>
          <p:cNvPr id="23" name="对象 22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6370252"/>
              </p:ext>
            </p:extLst>
          </p:nvPr>
        </p:nvGraphicFramePr>
        <p:xfrm>
          <a:off x="3651250" y="5687623"/>
          <a:ext cx="1324610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825500" imgH="393700" progId="Equation.KSEE3">
                  <p:embed/>
                </p:oleObj>
              </mc:Choice>
              <mc:Fallback>
                <p:oleObj r:id="rId10" imgW="825500" imgH="3937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651250" y="5687623"/>
                        <a:ext cx="1324610" cy="631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57" name="对象 15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9136" y="3141204"/>
            <a:ext cx="1023367" cy="410030"/>
          </a:xfrm>
          <a:prstGeom prst="rect">
            <a:avLst/>
          </a:prstGeom>
          <a:noFill/>
          <a:ln w="9525">
            <a:solidFill>
              <a:srgbClr val="FF0000"/>
            </a:solidFill>
            <a:prstDash val="sys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3" name="Picture 325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42" y="4750042"/>
            <a:ext cx="1847850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74" name="Picture 32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42" y="5824148"/>
            <a:ext cx="2971800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75" name="Picture 327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8942" y="4690674"/>
            <a:ext cx="2136140" cy="927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194945" y="4692091"/>
            <a:ext cx="2816225" cy="1627357"/>
          </a:xfrm>
          <a:prstGeom prst="roundRect">
            <a:avLst>
              <a:gd name="adj" fmla="val 791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圆角矩形 26"/>
          <p:cNvSpPr/>
          <p:nvPr/>
        </p:nvSpPr>
        <p:spPr>
          <a:xfrm>
            <a:off x="3163570" y="4690674"/>
            <a:ext cx="2816225" cy="1627357"/>
          </a:xfrm>
          <a:prstGeom prst="roundRect">
            <a:avLst>
              <a:gd name="adj" fmla="val 791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2782570" y="5352570"/>
            <a:ext cx="609600" cy="306397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右箭头 28"/>
          <p:cNvSpPr/>
          <p:nvPr/>
        </p:nvSpPr>
        <p:spPr>
          <a:xfrm>
            <a:off x="5674995" y="5305794"/>
            <a:ext cx="609600" cy="306397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76" name="Picture 328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4311" y="5048569"/>
            <a:ext cx="1628775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278380" y="4380710"/>
            <a:ext cx="20425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Gibbs-Helmholtz eq.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1436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638175" y="2080666"/>
            <a:ext cx="80486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In general, increasing the temperature of a nonideal solution causes a decrease in the extent to which its components deviate from ideal behavior </a:t>
            </a:r>
          </a:p>
        </p:txBody>
      </p:sp>
      <p:sp>
        <p:nvSpPr>
          <p:cNvPr id="11" name="Title 1"/>
          <p:cNvSpPr txBox="1"/>
          <p:nvPr/>
        </p:nvSpPr>
        <p:spPr bwMode="auto">
          <a:xfrm>
            <a:off x="1069205" y="95250"/>
            <a:ext cx="587375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/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 panose="020B0604020202020204"/>
                <a:ea typeface="Geneva" pitchFamily="-107" charset="-128"/>
                <a:cs typeface="Arial" panose="020B0604020202020204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Geneva" pitchFamily="-107" charset="-128"/>
              </a:defRPr>
            </a:lvl9pPr>
          </a:lstStyle>
          <a:p>
            <a:r>
              <a:rPr lang="en-US" altLang="zh-CN" sz="3200" dirty="0" err="1">
                <a:solidFill>
                  <a:srgbClr val="FF0000"/>
                </a:solidFill>
              </a:rPr>
              <a:t>Nonidea</a:t>
            </a:r>
            <a:r>
              <a:rPr lang="en-US" altLang="zh-CN" sz="3200" dirty="0">
                <a:solidFill>
                  <a:srgbClr val="FF0000"/>
                </a:solidFill>
              </a:rPr>
              <a:t> solution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05180" y="3200806"/>
            <a:ext cx="3004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For positive deviation</a:t>
            </a:r>
          </a:p>
        </p:txBody>
      </p:sp>
      <p:graphicFrame>
        <p:nvGraphicFramePr>
          <p:cNvPr id="16" name="对象 15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2914281"/>
              </p:ext>
            </p:extLst>
          </p:nvPr>
        </p:nvGraphicFramePr>
        <p:xfrm>
          <a:off x="1945640" y="3586166"/>
          <a:ext cx="723900" cy="445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30200" imgH="203200" progId="Equation.KSEE3">
                  <p:embed/>
                </p:oleObj>
              </mc:Choice>
              <mc:Fallback>
                <p:oleObj r:id="rId2" imgW="330200" imgH="2032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45640" y="3586166"/>
                        <a:ext cx="723900" cy="4457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3604018"/>
              </p:ext>
            </p:extLst>
          </p:nvPr>
        </p:nvGraphicFramePr>
        <p:xfrm>
          <a:off x="2884487" y="3569106"/>
          <a:ext cx="1226185" cy="394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711200" imgH="228600" progId="Equation.KSEE3">
                  <p:embed/>
                </p:oleObj>
              </mc:Choice>
              <mc:Fallback>
                <p:oleObj r:id="rId4" imgW="711200" imgH="2286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84487" y="3569106"/>
                        <a:ext cx="1226185" cy="3943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9272307"/>
              </p:ext>
            </p:extLst>
          </p:nvPr>
        </p:nvGraphicFramePr>
        <p:xfrm>
          <a:off x="2114190" y="4108022"/>
          <a:ext cx="1791970" cy="616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219200" imgH="419100" progId="Equation.KSEE3">
                  <p:embed/>
                </p:oleObj>
              </mc:Choice>
              <mc:Fallback>
                <p:oleObj r:id="rId6" imgW="1219200" imgH="4191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14190" y="4108022"/>
                        <a:ext cx="1791970" cy="6165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4595294" y="5290194"/>
            <a:ext cx="39302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The mixing is exothermic </a:t>
            </a:r>
          </a:p>
          <a:p>
            <a:r>
              <a:rPr lang="en-US" altLang="zh-CN" i="1" dirty="0"/>
              <a:t>The A-B bonding is more negative than that of A-A and B-B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805180" y="4773066"/>
            <a:ext cx="2692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For negetive deviation </a:t>
            </a:r>
          </a:p>
        </p:txBody>
      </p:sp>
      <p:graphicFrame>
        <p:nvGraphicFramePr>
          <p:cNvPr id="20" name="对象 19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935444"/>
              </p:ext>
            </p:extLst>
          </p:nvPr>
        </p:nvGraphicFramePr>
        <p:xfrm>
          <a:off x="2172335" y="5232171"/>
          <a:ext cx="699770" cy="430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30200" imgH="203200" progId="Equation.KSEE3">
                  <p:embed/>
                </p:oleObj>
              </mc:Choice>
              <mc:Fallback>
                <p:oleObj r:id="rId8" imgW="330200" imgH="2032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172335" y="5232171"/>
                        <a:ext cx="699770" cy="4305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659889"/>
              </p:ext>
            </p:extLst>
          </p:nvPr>
        </p:nvGraphicFramePr>
        <p:xfrm>
          <a:off x="2872105" y="5232171"/>
          <a:ext cx="117665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711200" imgH="228600" progId="Equation.KSEE3">
                  <p:embed/>
                </p:oleObj>
              </mc:Choice>
              <mc:Fallback>
                <p:oleObj r:id="rId10" imgW="711200" imgH="2286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872105" y="5232171"/>
                        <a:ext cx="1176655" cy="377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042498"/>
              </p:ext>
            </p:extLst>
          </p:nvPr>
        </p:nvGraphicFramePr>
        <p:xfrm>
          <a:off x="2001094" y="5646902"/>
          <a:ext cx="1998980" cy="687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219200" imgH="419100" progId="Equation.KSEE3">
                  <p:embed/>
                </p:oleObj>
              </mc:Choice>
              <mc:Fallback>
                <p:oleObj r:id="rId12" imgW="1219200" imgH="4191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001094" y="5646902"/>
                        <a:ext cx="1998980" cy="6877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本框 23"/>
          <p:cNvSpPr txBox="1"/>
          <p:nvPr/>
        </p:nvSpPr>
        <p:spPr>
          <a:xfrm>
            <a:off x="4457314" y="3726546"/>
            <a:ext cx="36763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The mixing is endothermic</a:t>
            </a:r>
          </a:p>
          <a:p>
            <a:r>
              <a:rPr lang="en-US" altLang="zh-CN" i="1" dirty="0"/>
              <a:t>The A-B bonding is </a:t>
            </a:r>
            <a:r>
              <a:rPr lang="en-US" altLang="zh-CN" b="1" i="1" dirty="0">
                <a:solidFill>
                  <a:srgbClr val="FF0000"/>
                </a:solidFill>
              </a:rPr>
              <a:t>less negative </a:t>
            </a:r>
            <a:r>
              <a:rPr lang="en-US" altLang="zh-CN" i="1" dirty="0"/>
              <a:t>than that of A-A and B-B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5906097"/>
              </p:ext>
            </p:extLst>
          </p:nvPr>
        </p:nvGraphicFramePr>
        <p:xfrm>
          <a:off x="2151380" y="2773744"/>
          <a:ext cx="1460998" cy="4270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25480" imgH="241200" progId="Equation.DSMT4">
                  <p:embed/>
                </p:oleObj>
              </mc:Choice>
              <mc:Fallback>
                <p:oleObj name="Equation" r:id="rId14" imgW="8254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151380" y="2773744"/>
                        <a:ext cx="1460998" cy="4270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3243903"/>
              </p:ext>
            </p:extLst>
          </p:nvPr>
        </p:nvGraphicFramePr>
        <p:xfrm>
          <a:off x="4139563" y="2611526"/>
          <a:ext cx="1527884" cy="688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01440" imgH="482400" progId="Equation.DSMT4">
                  <p:embed/>
                </p:oleObj>
              </mc:Choice>
              <mc:Fallback>
                <p:oleObj name="Equation" r:id="rId16" imgW="90144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139563" y="2611526"/>
                        <a:ext cx="1527884" cy="6880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左大括号 16"/>
          <p:cNvSpPr/>
          <p:nvPr/>
        </p:nvSpPr>
        <p:spPr>
          <a:xfrm>
            <a:off x="3886200" y="2649626"/>
            <a:ext cx="239761" cy="618130"/>
          </a:xfrm>
          <a:prstGeom prst="leftBrace">
            <a:avLst>
              <a:gd name="adj1" fmla="val 4353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9" name="Picture 328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1573" y="1099679"/>
            <a:ext cx="1784302" cy="10017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7808762" y="5288646"/>
            <a:ext cx="1059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eg</a:t>
            </a:r>
            <a:r>
              <a:rPr lang="en-US" altLang="zh-CN" dirty="0"/>
              <a:t>. Fe-Ni </a:t>
            </a:r>
            <a:endParaRPr lang="zh-CN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7580600" y="3726546"/>
            <a:ext cx="1106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eg</a:t>
            </a:r>
            <a:r>
              <a:rPr lang="en-US" altLang="zh-CN" dirty="0"/>
              <a:t>. Fe-Cu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7157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圆角矩形 18"/>
          <p:cNvSpPr/>
          <p:nvPr/>
        </p:nvSpPr>
        <p:spPr>
          <a:xfrm>
            <a:off x="4593463" y="4539435"/>
            <a:ext cx="3524441" cy="1831570"/>
          </a:xfrm>
          <a:prstGeom prst="roundRect">
            <a:avLst>
              <a:gd name="adj" fmla="val 2626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464165" y="4524046"/>
            <a:ext cx="3524441" cy="1831570"/>
          </a:xfrm>
          <a:prstGeom prst="roundRect">
            <a:avLst>
              <a:gd name="adj" fmla="val 2626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057197" y="0"/>
            <a:ext cx="24102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Henry’s law 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pic>
        <p:nvPicPr>
          <p:cNvPr id="11" name="image936.png"/>
          <p:cNvPicPr/>
          <p:nvPr/>
        </p:nvPicPr>
        <p:blipFill rotWithShape="1">
          <a:blip r:embed="rId2" cstate="print"/>
          <a:srcRect r="50000"/>
          <a:stretch/>
        </p:blipFill>
        <p:spPr>
          <a:xfrm>
            <a:off x="890426" y="817125"/>
            <a:ext cx="3062640" cy="261431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45566" y="3446828"/>
            <a:ext cx="38529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(b): </a:t>
            </a:r>
            <a:r>
              <a:rPr lang="en-US" altLang="zh-CN" sz="1600" b="1" dirty="0"/>
              <a:t>A-B bonding is stronger </a:t>
            </a:r>
            <a:r>
              <a:rPr lang="en-US" altLang="zh-CN" sz="1600" dirty="0"/>
              <a:t>than A-A </a:t>
            </a:r>
          </a:p>
          <a:p>
            <a:r>
              <a:rPr lang="en-US" altLang="zh-CN" sz="1600" dirty="0"/>
              <a:t>      </a:t>
            </a:r>
            <a:r>
              <a:rPr lang="en-US" altLang="zh-CN" sz="1600" b="1" dirty="0">
                <a:solidFill>
                  <a:srgbClr val="FF0000"/>
                </a:solidFill>
              </a:rPr>
              <a:t>A-B is less-negative </a:t>
            </a:r>
            <a:r>
              <a:rPr lang="en-US" altLang="zh-CN" sz="1600" dirty="0">
                <a:solidFill>
                  <a:srgbClr val="FF0000"/>
                </a:solidFill>
              </a:rPr>
              <a:t>than A-A</a:t>
            </a:r>
            <a:endParaRPr lang="en-US" altLang="zh-CN" sz="1600" dirty="0"/>
          </a:p>
          <a:p>
            <a:r>
              <a:rPr lang="en-US" altLang="zh-CN" sz="1600" dirty="0"/>
              <a:t>      </a:t>
            </a:r>
            <a:r>
              <a:rPr lang="en-US" altLang="zh-CN" sz="1600" dirty="0">
                <a:solidFill>
                  <a:srgbClr val="0000FF"/>
                </a:solidFill>
              </a:rPr>
              <a:t>Negative deviation </a:t>
            </a:r>
          </a:p>
          <a:p>
            <a:r>
              <a:rPr lang="en-US" altLang="zh-CN" sz="1600" dirty="0">
                <a:solidFill>
                  <a:srgbClr val="0000FF"/>
                </a:solidFill>
              </a:rPr>
              <a:t>      from </a:t>
            </a:r>
            <a:r>
              <a:rPr lang="en-US" altLang="zh-CN" sz="1600" dirty="0" err="1">
                <a:solidFill>
                  <a:srgbClr val="0000FF"/>
                </a:solidFill>
              </a:rPr>
              <a:t>Raoultian</a:t>
            </a:r>
            <a:r>
              <a:rPr lang="en-US" altLang="zh-CN" sz="1600" dirty="0">
                <a:solidFill>
                  <a:srgbClr val="0000FF"/>
                </a:solidFill>
              </a:rPr>
              <a:t> behavior  </a:t>
            </a:r>
            <a:endParaRPr lang="zh-CN" altLang="en-US" sz="1600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0054" y="3431439"/>
            <a:ext cx="360855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(a): </a:t>
            </a:r>
            <a:r>
              <a:rPr lang="en-US" altLang="zh-CN" sz="1600" b="1" dirty="0"/>
              <a:t>A-B bonding is weaker </a:t>
            </a:r>
            <a:r>
              <a:rPr lang="en-US" altLang="zh-CN" sz="1600" dirty="0"/>
              <a:t>than A-A</a:t>
            </a:r>
          </a:p>
          <a:p>
            <a:r>
              <a:rPr lang="en-US" altLang="zh-CN" sz="1600" dirty="0">
                <a:solidFill>
                  <a:srgbClr val="FF0000"/>
                </a:solidFill>
              </a:rPr>
              <a:t>      </a:t>
            </a:r>
            <a:r>
              <a:rPr lang="en-US" altLang="zh-CN" sz="1600" b="1" dirty="0">
                <a:solidFill>
                  <a:srgbClr val="FF0000"/>
                </a:solidFill>
              </a:rPr>
              <a:t>A-B is less-negative </a:t>
            </a:r>
            <a:r>
              <a:rPr lang="en-US" altLang="zh-CN" sz="1600" dirty="0">
                <a:solidFill>
                  <a:srgbClr val="FF0000"/>
                </a:solidFill>
              </a:rPr>
              <a:t>than A-A</a:t>
            </a:r>
          </a:p>
          <a:p>
            <a:r>
              <a:rPr lang="en-US" altLang="zh-CN" sz="1600" dirty="0">
                <a:solidFill>
                  <a:srgbClr val="0000FF"/>
                </a:solidFill>
              </a:rPr>
              <a:t>       Positive deviation </a:t>
            </a:r>
          </a:p>
          <a:p>
            <a:r>
              <a:rPr lang="en-US" altLang="zh-CN" sz="1600" dirty="0">
                <a:solidFill>
                  <a:srgbClr val="0000FF"/>
                </a:solidFill>
              </a:rPr>
              <a:t>       from </a:t>
            </a:r>
            <a:r>
              <a:rPr lang="en-US" altLang="zh-CN" sz="1600" dirty="0" err="1">
                <a:solidFill>
                  <a:srgbClr val="0000FF"/>
                </a:solidFill>
              </a:rPr>
              <a:t>Raoultian</a:t>
            </a:r>
            <a:r>
              <a:rPr lang="en-US" altLang="zh-CN" sz="1600" dirty="0">
                <a:solidFill>
                  <a:srgbClr val="0000FF"/>
                </a:solidFill>
              </a:rPr>
              <a:t> behavior</a:t>
            </a:r>
            <a:endParaRPr lang="zh-CN" altLang="en-US" sz="1600" dirty="0">
              <a:solidFill>
                <a:srgbClr val="0000FF"/>
              </a:solidFill>
            </a:endParaRPr>
          </a:p>
        </p:txBody>
      </p:sp>
      <p:pic>
        <p:nvPicPr>
          <p:cNvPr id="6" name="image936.png"/>
          <p:cNvPicPr/>
          <p:nvPr/>
        </p:nvPicPr>
        <p:blipFill rotWithShape="1">
          <a:blip r:embed="rId2" cstate="print"/>
          <a:srcRect l="50006" r="-6"/>
          <a:stretch/>
        </p:blipFill>
        <p:spPr>
          <a:xfrm>
            <a:off x="4993216" y="795838"/>
            <a:ext cx="3062640" cy="2614315"/>
          </a:xfrm>
          <a:prstGeom prst="rect">
            <a:avLst/>
          </a:prstGeom>
        </p:spPr>
      </p:pic>
      <p:sp>
        <p:nvSpPr>
          <p:cNvPr id="7" name="文本框 12"/>
          <p:cNvSpPr txBox="1"/>
          <p:nvPr/>
        </p:nvSpPr>
        <p:spPr>
          <a:xfrm>
            <a:off x="759893" y="4539435"/>
            <a:ext cx="3004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For positive deviation</a:t>
            </a:r>
          </a:p>
        </p:txBody>
      </p:sp>
      <p:graphicFrame>
        <p:nvGraphicFramePr>
          <p:cNvPr id="8" name="对象 7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199412"/>
              </p:ext>
            </p:extLst>
          </p:nvPr>
        </p:nvGraphicFramePr>
        <p:xfrm>
          <a:off x="1058025" y="4979177"/>
          <a:ext cx="723900" cy="445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30200" imgH="203200" progId="Equation.KSEE3">
                  <p:embed/>
                </p:oleObj>
              </mc:Choice>
              <mc:Fallback>
                <p:oleObj r:id="rId3" imgW="330200" imgH="2032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58025" y="4979177"/>
                        <a:ext cx="723900" cy="4457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5694847"/>
              </p:ext>
            </p:extLst>
          </p:nvPr>
        </p:nvGraphicFramePr>
        <p:xfrm>
          <a:off x="1807835" y="5009742"/>
          <a:ext cx="1226185" cy="394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711200" imgH="228600" progId="Equation.KSEE3">
                  <p:embed/>
                </p:oleObj>
              </mc:Choice>
              <mc:Fallback>
                <p:oleObj r:id="rId5" imgW="711200" imgH="2286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07835" y="5009742"/>
                        <a:ext cx="1226185" cy="3943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628090"/>
              </p:ext>
            </p:extLst>
          </p:nvPr>
        </p:nvGraphicFramePr>
        <p:xfrm>
          <a:off x="1038340" y="5510558"/>
          <a:ext cx="1791970" cy="616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219200" imgH="419100" progId="Equation.KSEE3">
                  <p:embed/>
                </p:oleObj>
              </mc:Choice>
              <mc:Fallback>
                <p:oleObj r:id="rId7" imgW="1219200" imgH="4191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38340" y="5510558"/>
                        <a:ext cx="1791970" cy="6165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656170" y="5986284"/>
            <a:ext cx="31085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The mixing is endothermic</a:t>
            </a:r>
          </a:p>
        </p:txBody>
      </p:sp>
      <p:sp>
        <p:nvSpPr>
          <p:cNvPr id="15" name="文本框 18"/>
          <p:cNvSpPr txBox="1"/>
          <p:nvPr/>
        </p:nvSpPr>
        <p:spPr>
          <a:xfrm>
            <a:off x="5104860" y="4539435"/>
            <a:ext cx="2692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For </a:t>
            </a:r>
            <a:r>
              <a:rPr lang="en-US" altLang="zh-CN" dirty="0" err="1"/>
              <a:t>negetive</a:t>
            </a:r>
            <a:r>
              <a:rPr lang="en-US" altLang="zh-CN" dirty="0"/>
              <a:t> deviation </a:t>
            </a:r>
          </a:p>
        </p:txBody>
      </p:sp>
      <p:graphicFrame>
        <p:nvGraphicFramePr>
          <p:cNvPr id="16" name="对象 15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8749785"/>
              </p:ext>
            </p:extLst>
          </p:nvPr>
        </p:nvGraphicFramePr>
        <p:xfrm>
          <a:off x="5276101" y="4907735"/>
          <a:ext cx="699770" cy="430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330200" imgH="203200" progId="Equation.KSEE3">
                  <p:embed/>
                </p:oleObj>
              </mc:Choice>
              <mc:Fallback>
                <p:oleObj r:id="rId9" imgW="330200" imgH="2032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276101" y="4907735"/>
                        <a:ext cx="699770" cy="4305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5580095"/>
              </p:ext>
            </p:extLst>
          </p:nvPr>
        </p:nvGraphicFramePr>
        <p:xfrm>
          <a:off x="5975871" y="4907735"/>
          <a:ext cx="117665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711200" imgH="228600" progId="Equation.KSEE3">
                  <p:embed/>
                </p:oleObj>
              </mc:Choice>
              <mc:Fallback>
                <p:oleObj r:id="rId11" imgW="711200" imgH="2286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975871" y="4907735"/>
                        <a:ext cx="1176655" cy="377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9543984"/>
              </p:ext>
            </p:extLst>
          </p:nvPr>
        </p:nvGraphicFramePr>
        <p:xfrm>
          <a:off x="5295360" y="5298579"/>
          <a:ext cx="1998980" cy="687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1219200" imgH="419100" progId="Equation.KSEE3">
                  <p:embed/>
                </p:oleObj>
              </mc:Choice>
              <mc:Fallback>
                <p:oleObj r:id="rId13" imgW="1219200" imgH="4191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295360" y="5298579"/>
                        <a:ext cx="1998980" cy="6877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4941672" y="5986284"/>
            <a:ext cx="30187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The mixing is exothermic </a:t>
            </a:r>
          </a:p>
        </p:txBody>
      </p:sp>
    </p:spTree>
    <p:extLst>
      <p:ext uri="{BB962C8B-B14F-4D97-AF65-F5344CB8AC3E}">
        <p14:creationId xmlns:p14="http://schemas.microsoft.com/office/powerpoint/2010/main" val="1093276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381000" y="1457325"/>
            <a:ext cx="81534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/>
              <a:t>The enthalpy, being determined by the relative magnitudes of the bond energies, </a:t>
            </a:r>
            <a:r>
              <a:rPr lang="en-US" altLang="zh-CN" sz="2000" dirty="0">
                <a:solidFill>
                  <a:srgbClr val="FF0000"/>
                </a:solidFill>
              </a:rPr>
              <a:t>attempts to either completely order </a:t>
            </a:r>
            <a:r>
              <a:rPr lang="en-US" altLang="zh-CN" sz="2000" dirty="0"/>
              <a:t>(negative deviation from ideality) or </a:t>
            </a:r>
            <a:r>
              <a:rPr lang="en-US" altLang="zh-CN" sz="2000" dirty="0">
                <a:solidFill>
                  <a:srgbClr val="FF0000"/>
                </a:solidFill>
              </a:rPr>
              <a:t>completely un-mix </a:t>
            </a:r>
            <a:r>
              <a:rPr lang="en-US" altLang="zh-CN" sz="2000" dirty="0"/>
              <a:t>(positive deviation from ideality) the solution</a:t>
            </a:r>
            <a:endParaRPr lang="zh-CN" altLang="en-US" sz="2000" dirty="0"/>
          </a:p>
        </p:txBody>
      </p:sp>
      <p:sp>
        <p:nvSpPr>
          <p:cNvPr id="12" name="矩形 11"/>
          <p:cNvSpPr/>
          <p:nvPr/>
        </p:nvSpPr>
        <p:spPr>
          <a:xfrm>
            <a:off x="304800" y="2936309"/>
            <a:ext cx="7848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/>
              <a:t>The entropy factor attempts to maximize the randomness of mixing of the atoms in the solution</a:t>
            </a:r>
            <a:endParaRPr lang="zh-CN" altLang="en-US" sz="2000" dirty="0"/>
          </a:p>
        </p:txBody>
      </p:sp>
      <p:sp>
        <p:nvSpPr>
          <p:cNvPr id="13" name="矩形 12"/>
          <p:cNvSpPr/>
          <p:nvPr/>
        </p:nvSpPr>
        <p:spPr>
          <a:xfrm>
            <a:off x="1240537" y="407921"/>
            <a:ext cx="32171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Enthalpy VS. Entropy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pic>
        <p:nvPicPr>
          <p:cNvPr id="259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2763" y="4343400"/>
            <a:ext cx="25812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06070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416684" y="76200"/>
            <a:ext cx="72320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Arial Unicode MS" panose="020B0604020202020204" charset="-122"/>
                <a:ea typeface="Arial Unicode MS" panose="020B0604020202020204" charset="-122"/>
              </a:rPr>
              <a:t>Determining TD activity</a:t>
            </a:r>
          </a:p>
          <a:p>
            <a:r>
              <a:rPr lang="en-US" altLang="zh-CN" sz="3200" dirty="0">
                <a:latin typeface="Arial Unicode MS" panose="020B0604020202020204" charset="-122"/>
                <a:ea typeface="Arial Unicode MS" panose="020B0604020202020204" charset="-122"/>
              </a:rPr>
              <a:t>---</a:t>
            </a:r>
            <a:r>
              <a:rPr lang="en-US" altLang="zh-CN" sz="2800" dirty="0">
                <a:latin typeface="Arial Unicode MS" panose="020B0604020202020204" charset="-122"/>
                <a:ea typeface="Arial Unicode MS" panose="020B0604020202020204" charset="-122"/>
              </a:rPr>
              <a:t>application of Gibbs -</a:t>
            </a:r>
            <a:r>
              <a:rPr lang="en-US" altLang="zh-CN" sz="2800" dirty="0" err="1">
                <a:latin typeface="Arial Unicode MS" panose="020B0604020202020204" charset="-122"/>
                <a:ea typeface="Arial Unicode MS" panose="020B0604020202020204" charset="-122"/>
              </a:rPr>
              <a:t>Duhem</a:t>
            </a:r>
            <a:endParaRPr lang="en-US" altLang="zh-CN" sz="2800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graphicFrame>
        <p:nvGraphicFramePr>
          <p:cNvPr id="11" name="对象 10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948430" y="1772285"/>
          <a:ext cx="4946650" cy="471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667000" imgH="254000" progId="Equation.KSEE3">
                  <p:embed/>
                </p:oleObj>
              </mc:Choice>
              <mc:Fallback>
                <p:oleObj r:id="rId2" imgW="2667000" imgH="2540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948430" y="1772285"/>
                        <a:ext cx="4946650" cy="4711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2084119" y="5083572"/>
            <a:ext cx="4834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Two infinity tails   </a:t>
            </a:r>
          </a:p>
        </p:txBody>
      </p:sp>
      <p:pic>
        <p:nvPicPr>
          <p:cNvPr id="4111" name="Picture 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10" y="1825819"/>
            <a:ext cx="3423724" cy="3127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6595081"/>
              </p:ext>
            </p:extLst>
          </p:nvPr>
        </p:nvGraphicFramePr>
        <p:xfrm>
          <a:off x="4225924" y="3313209"/>
          <a:ext cx="1769531" cy="5729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33440" imgH="431640" progId="Equation.DSMT4">
                  <p:embed/>
                </p:oleObj>
              </mc:Choice>
              <mc:Fallback>
                <p:oleObj name="Equation" r:id="rId5" imgW="13334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25924" y="3313209"/>
                        <a:ext cx="1769531" cy="5729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5930075"/>
              </p:ext>
            </p:extLst>
          </p:nvPr>
        </p:nvGraphicFramePr>
        <p:xfrm>
          <a:off x="4225925" y="3962400"/>
          <a:ext cx="2716696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65080" imgH="495000" progId="Equation.DSMT4">
                  <p:embed/>
                </p:oleObj>
              </mc:Choice>
              <mc:Fallback>
                <p:oleObj name="Equation" r:id="rId7" imgW="176508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5925" y="3962400"/>
                        <a:ext cx="2716696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252168" y="5578207"/>
            <a:ext cx="48721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dirty="0"/>
              <a:t>As X</a:t>
            </a:r>
            <a:r>
              <a:rPr lang="en-US" altLang="zh-CN" baseline="-25000" dirty="0"/>
              <a:t>B</a:t>
            </a:r>
            <a:r>
              <a:rPr lang="en-US" altLang="zh-CN" dirty="0"/>
              <a:t> </a:t>
            </a:r>
            <a:r>
              <a:rPr lang="en-US" altLang="zh-CN" dirty="0">
                <a:sym typeface="Wingdings" panose="05000000000000000000" pitchFamily="2" charset="2"/>
              </a:rPr>
              <a:t> 1, </a:t>
            </a:r>
            <a:r>
              <a:rPr lang="en-US" altLang="zh-CN" dirty="0" err="1">
                <a:solidFill>
                  <a:srgbClr val="FF0000"/>
                </a:solidFill>
                <a:sym typeface="Wingdings" panose="05000000000000000000" pitchFamily="2" charset="2"/>
              </a:rPr>
              <a:t>a</a:t>
            </a:r>
            <a:r>
              <a:rPr lang="en-US" altLang="zh-CN" baseline="-25000" dirty="0" err="1">
                <a:solidFill>
                  <a:srgbClr val="FF0000"/>
                </a:solidFill>
                <a:sym typeface="Wingdings" panose="05000000000000000000" pitchFamily="2" charset="2"/>
              </a:rPr>
              <a:t>B</a:t>
            </a:r>
            <a:r>
              <a:rPr lang="en-US" altLang="zh-CN" baseline="-250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  1</a:t>
            </a:r>
            <a:r>
              <a:rPr lang="en-US" altLang="zh-CN" dirty="0">
                <a:sym typeface="Wingdings" panose="05000000000000000000" pitchFamily="2" charset="2"/>
              </a:rPr>
              <a:t>, and X</a:t>
            </a:r>
            <a:r>
              <a:rPr lang="en-US" altLang="zh-CN" baseline="-25000" dirty="0">
                <a:sym typeface="Wingdings" panose="05000000000000000000" pitchFamily="2" charset="2"/>
              </a:rPr>
              <a:t>B</a:t>
            </a:r>
            <a:r>
              <a:rPr lang="en-US" altLang="zh-CN" dirty="0">
                <a:sym typeface="Wingdings" panose="05000000000000000000" pitchFamily="2" charset="2"/>
              </a:rPr>
              <a:t>/X</a:t>
            </a:r>
            <a:r>
              <a:rPr lang="en-US" altLang="zh-CN" baseline="-25000" dirty="0">
                <a:sym typeface="Wingdings" panose="05000000000000000000" pitchFamily="2" charset="2"/>
              </a:rPr>
              <a:t>A</a:t>
            </a:r>
            <a:r>
              <a:rPr lang="en-US" altLang="zh-CN" dirty="0">
                <a:sym typeface="Wingdings" panose="05000000000000000000" pitchFamily="2" charset="2"/>
              </a:rPr>
              <a:t>  infinity</a:t>
            </a:r>
          </a:p>
          <a:p>
            <a:pPr marL="342900" indent="-342900">
              <a:buFontTx/>
              <a:buAutoNum type="arabicPeriod"/>
            </a:pPr>
            <a:r>
              <a:rPr lang="en-US" altLang="zh-CN" dirty="0"/>
              <a:t>As X</a:t>
            </a:r>
            <a:r>
              <a:rPr lang="en-US" altLang="zh-CN" baseline="-25000" dirty="0"/>
              <a:t>B</a:t>
            </a:r>
            <a:r>
              <a:rPr lang="en-US" altLang="zh-CN" dirty="0"/>
              <a:t> </a:t>
            </a:r>
            <a:r>
              <a:rPr lang="en-US" altLang="zh-CN" dirty="0">
                <a:sym typeface="Wingdings" panose="05000000000000000000" pitchFamily="2" charset="2"/>
              </a:rPr>
              <a:t> 0, </a:t>
            </a:r>
            <a:r>
              <a:rPr lang="en-US" altLang="zh-CN" dirty="0" err="1">
                <a:sym typeface="Wingdings" panose="05000000000000000000" pitchFamily="2" charset="2"/>
              </a:rPr>
              <a:t>a</a:t>
            </a:r>
            <a:r>
              <a:rPr lang="en-US" altLang="zh-CN" baseline="-25000" dirty="0" err="1">
                <a:sym typeface="Wingdings" panose="05000000000000000000" pitchFamily="2" charset="2"/>
              </a:rPr>
              <a:t>B</a:t>
            </a:r>
            <a:r>
              <a:rPr lang="en-US" altLang="zh-CN" baseline="-25000" dirty="0">
                <a:sym typeface="Wingdings" panose="05000000000000000000" pitchFamily="2" charset="2"/>
              </a:rPr>
              <a:t> </a:t>
            </a:r>
            <a:r>
              <a:rPr lang="en-US" altLang="zh-CN" dirty="0">
                <a:sym typeface="Wingdings" panose="05000000000000000000" pitchFamily="2" charset="2"/>
              </a:rPr>
              <a:t>  0 and X</a:t>
            </a:r>
            <a:r>
              <a:rPr lang="en-US" altLang="zh-CN" baseline="-25000" dirty="0">
                <a:sym typeface="Wingdings" panose="05000000000000000000" pitchFamily="2" charset="2"/>
              </a:rPr>
              <a:t>B</a:t>
            </a:r>
            <a:r>
              <a:rPr lang="en-US" altLang="zh-CN" dirty="0">
                <a:sym typeface="Wingdings" panose="05000000000000000000" pitchFamily="2" charset="2"/>
              </a:rPr>
              <a:t>/X</a:t>
            </a:r>
            <a:r>
              <a:rPr lang="en-US" altLang="zh-CN" baseline="-25000" dirty="0">
                <a:sym typeface="Wingdings" panose="05000000000000000000" pitchFamily="2" charset="2"/>
              </a:rPr>
              <a:t>A</a:t>
            </a:r>
            <a:r>
              <a:rPr lang="en-US" altLang="zh-CN" dirty="0">
                <a:sym typeface="Wingdings" panose="05000000000000000000" pitchFamily="2" charset="2"/>
              </a:rPr>
              <a:t>  minus infinity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5" name="圆角矩形 14"/>
          <p:cNvSpPr/>
          <p:nvPr/>
        </p:nvSpPr>
        <p:spPr>
          <a:xfrm>
            <a:off x="4038600" y="3160809"/>
            <a:ext cx="3082925" cy="1792191"/>
          </a:xfrm>
          <a:prstGeom prst="roundRect">
            <a:avLst>
              <a:gd name="adj" fmla="val 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圆角矩形 22"/>
          <p:cNvSpPr/>
          <p:nvPr/>
        </p:nvSpPr>
        <p:spPr>
          <a:xfrm>
            <a:off x="2081150" y="5452904"/>
            <a:ext cx="5149009" cy="896095"/>
          </a:xfrm>
          <a:prstGeom prst="roundRect">
            <a:avLst>
              <a:gd name="adj" fmla="val 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309" name="Picture 21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0854" y="2438398"/>
            <a:ext cx="1548938" cy="570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10" name="Picture 214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7438" y="2286000"/>
            <a:ext cx="2305443" cy="470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11" name="Picture 215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2547" y="2694084"/>
            <a:ext cx="2770453" cy="4301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右箭头 12"/>
          <p:cNvSpPr/>
          <p:nvPr/>
        </p:nvSpPr>
        <p:spPr>
          <a:xfrm>
            <a:off x="5580062" y="2590800"/>
            <a:ext cx="497376" cy="215058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0755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978535" y="16294"/>
            <a:ext cx="73844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Arial Unicode MS" panose="020B0604020202020204" charset="-122"/>
                <a:ea typeface="Arial Unicode MS" panose="020B0604020202020204" charset="-122"/>
              </a:rPr>
              <a:t>Determining TD activity coefficient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087495" y="1447800"/>
            <a:ext cx="47517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-The minus infinity can be dliminated by considering activity coefficient </a:t>
            </a:r>
          </a:p>
        </p:txBody>
      </p:sp>
      <p:graphicFrame>
        <p:nvGraphicFramePr>
          <p:cNvPr id="12" name="对象 11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1363734"/>
              </p:ext>
            </p:extLst>
          </p:nvPr>
        </p:nvGraphicFramePr>
        <p:xfrm>
          <a:off x="4202393" y="2299971"/>
          <a:ext cx="3604135" cy="367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739900" imgH="177165" progId="Equation.KSEE3">
                  <p:embed/>
                </p:oleObj>
              </mc:Choice>
              <mc:Fallback>
                <p:oleObj r:id="rId2" imgW="1739900" imgH="177165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202393" y="2299971"/>
                        <a:ext cx="3604135" cy="3670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169410" y="2912745"/>
          <a:ext cx="2158365" cy="662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282700" imgH="393700" progId="Equation.KSEE3">
                  <p:embed/>
                </p:oleObj>
              </mc:Choice>
              <mc:Fallback>
                <p:oleObj r:id="rId4" imgW="1282700" imgH="3937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69410" y="2912745"/>
                        <a:ext cx="2158365" cy="6623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1957487"/>
              </p:ext>
            </p:extLst>
          </p:nvPr>
        </p:nvGraphicFramePr>
        <p:xfrm>
          <a:off x="6553200" y="3124200"/>
          <a:ext cx="2521585" cy="320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600200" imgH="203200" progId="Equation.KSEE3">
                  <p:embed/>
                </p:oleObj>
              </mc:Choice>
              <mc:Fallback>
                <p:oleObj r:id="rId6" imgW="1600200" imgH="2032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553200" y="3124200"/>
                        <a:ext cx="2521585" cy="3200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47" name="Picture 2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061" y="1883410"/>
            <a:ext cx="3440910" cy="2819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654412"/>
              </p:ext>
            </p:extLst>
          </p:nvPr>
        </p:nvGraphicFramePr>
        <p:xfrm>
          <a:off x="4105308" y="5410200"/>
          <a:ext cx="3245351" cy="916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52480" imgH="495000" progId="Equation.DSMT4">
                  <p:embed/>
                </p:oleObj>
              </mc:Choice>
              <mc:Fallback>
                <p:oleObj name="Equation" r:id="rId9" imgW="175248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5308" y="5410200"/>
                        <a:ext cx="3245351" cy="9168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6692171"/>
              </p:ext>
            </p:extLst>
          </p:nvPr>
        </p:nvGraphicFramePr>
        <p:xfrm>
          <a:off x="4191000" y="3733800"/>
          <a:ext cx="2518834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11280" imgH="457200" progId="Equation.DSMT4">
                  <p:embed/>
                </p:oleObj>
              </mc:Choice>
              <mc:Fallback>
                <p:oleObj name="Equation" r:id="rId11" imgW="151128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191000" y="3733800"/>
                        <a:ext cx="2518834" cy="76200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5897313"/>
              </p:ext>
            </p:extLst>
          </p:nvPr>
        </p:nvGraphicFramePr>
        <p:xfrm>
          <a:off x="4087495" y="4724400"/>
          <a:ext cx="1770063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33440" imgH="431640" progId="Equation.DSMT4">
                  <p:embed/>
                </p:oleObj>
              </mc:Choice>
              <mc:Fallback>
                <p:oleObj name="Equation" r:id="rId13" imgW="13334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7495" y="4724400"/>
                        <a:ext cx="1770063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圆角矩形 20"/>
          <p:cNvSpPr/>
          <p:nvPr/>
        </p:nvSpPr>
        <p:spPr>
          <a:xfrm>
            <a:off x="3851593" y="3581400"/>
            <a:ext cx="4609650" cy="2895600"/>
          </a:xfrm>
          <a:prstGeom prst="roundRect">
            <a:avLst>
              <a:gd name="adj" fmla="val 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0159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069036" y="81915"/>
            <a:ext cx="529780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Arial Unicode MS" panose="020B0604020202020204" charset="-122"/>
                <a:ea typeface="Arial Unicode MS" panose="020B0604020202020204" charset="-122"/>
              </a:rPr>
              <a:t>Relationship between </a:t>
            </a:r>
            <a:r>
              <a:rPr lang="en-US" altLang="zh-CN" sz="3200" dirty="0" err="1">
                <a:solidFill>
                  <a:srgbClr val="FF0000"/>
                </a:solidFill>
                <a:latin typeface="Arial Unicode MS" panose="020B0604020202020204" charset="-122"/>
                <a:ea typeface="Arial Unicode MS" panose="020B0604020202020204" charset="-122"/>
              </a:rPr>
              <a:t>Herry's</a:t>
            </a:r>
            <a:r>
              <a:rPr lang="en-US" altLang="zh-CN" sz="3200" dirty="0">
                <a:solidFill>
                  <a:srgbClr val="FF0000"/>
                </a:solidFill>
                <a:latin typeface="Arial Unicode MS" panose="020B0604020202020204" charset="-122"/>
                <a:ea typeface="Arial Unicode MS" panose="020B0604020202020204" charset="-122"/>
              </a:rPr>
              <a:t> and </a:t>
            </a:r>
            <a:r>
              <a:rPr lang="en-US" altLang="zh-CN" sz="3200" dirty="0" err="1">
                <a:solidFill>
                  <a:srgbClr val="FF0000"/>
                </a:solidFill>
                <a:latin typeface="Arial Unicode MS" panose="020B0604020202020204" charset="-122"/>
                <a:ea typeface="Arial Unicode MS" panose="020B0604020202020204" charset="-122"/>
              </a:rPr>
              <a:t>Raoult's</a:t>
            </a:r>
            <a:r>
              <a:rPr lang="en-US" altLang="zh-CN" sz="3200" dirty="0">
                <a:solidFill>
                  <a:srgbClr val="FF0000"/>
                </a:solidFill>
                <a:latin typeface="Arial Unicode MS" panose="020B0604020202020204" charset="-122"/>
                <a:ea typeface="Arial Unicode MS" panose="020B0604020202020204" charset="-122"/>
              </a:rPr>
              <a:t> laws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961721" y="1183639"/>
            <a:ext cx="6419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Consider solute B in A-B solution follows Herry's law:</a:t>
            </a:r>
          </a:p>
        </p:txBody>
      </p:sp>
      <p:graphicFrame>
        <p:nvGraphicFramePr>
          <p:cNvPr id="15" name="对象 14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4356159"/>
              </p:ext>
            </p:extLst>
          </p:nvPr>
        </p:nvGraphicFramePr>
        <p:xfrm>
          <a:off x="3468067" y="1551939"/>
          <a:ext cx="1372870" cy="39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09600" imgH="177165" progId="Equation.KSEE3">
                  <p:embed/>
                </p:oleObj>
              </mc:Choice>
              <mc:Fallback>
                <p:oleObj r:id="rId2" imgW="609600" imgH="177165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468067" y="1551939"/>
                        <a:ext cx="1372870" cy="399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0499640"/>
              </p:ext>
            </p:extLst>
          </p:nvPr>
        </p:nvGraphicFramePr>
        <p:xfrm>
          <a:off x="2914649" y="2049214"/>
          <a:ext cx="2574621" cy="3862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181100" imgH="177165" progId="Equation.KSEE3">
                  <p:embed/>
                </p:oleObj>
              </mc:Choice>
              <mc:Fallback>
                <p:oleObj r:id="rId4" imgW="1181100" imgH="177165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14649" y="2049214"/>
                        <a:ext cx="2574621" cy="3862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3966980"/>
              </p:ext>
            </p:extLst>
          </p:nvPr>
        </p:nvGraphicFramePr>
        <p:xfrm>
          <a:off x="5708346" y="1976754"/>
          <a:ext cx="885190" cy="648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90500" imgH="139700" progId="Equation.KSEE3">
                  <p:embed/>
                </p:oleObj>
              </mc:Choice>
              <mc:Fallback>
                <p:oleObj r:id="rId6" imgW="190500" imgH="1397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708346" y="1976754"/>
                        <a:ext cx="885190" cy="6489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102069"/>
              </p:ext>
            </p:extLst>
          </p:nvPr>
        </p:nvGraphicFramePr>
        <p:xfrm>
          <a:off x="6675451" y="2090419"/>
          <a:ext cx="21018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002665" imgH="177165" progId="Equation.KSEE3">
                  <p:embed/>
                </p:oleObj>
              </mc:Choice>
              <mc:Fallback>
                <p:oleObj r:id="rId8" imgW="1002665" imgH="177165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675451" y="2090419"/>
                        <a:ext cx="2101850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图片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301" y="2142177"/>
            <a:ext cx="2381250" cy="909943"/>
          </a:xfrm>
          <a:prstGeom prst="rect">
            <a:avLst/>
          </a:prstGeom>
        </p:spPr>
      </p:pic>
      <p:graphicFrame>
        <p:nvGraphicFramePr>
          <p:cNvPr id="21" name="对象 20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3464788"/>
              </p:ext>
            </p:extLst>
          </p:nvPr>
        </p:nvGraphicFramePr>
        <p:xfrm>
          <a:off x="2901950" y="3133725"/>
          <a:ext cx="885190" cy="648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90500" imgH="139700" progId="Equation.KSEE3">
                  <p:embed/>
                </p:oleObj>
              </mc:Choice>
              <mc:Fallback>
                <p:oleObj r:id="rId11" imgW="190500" imgH="1397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901950" y="3133725"/>
                        <a:ext cx="885190" cy="6489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4405600"/>
              </p:ext>
            </p:extLst>
          </p:nvPr>
        </p:nvGraphicFramePr>
        <p:xfrm>
          <a:off x="4171328" y="3052120"/>
          <a:ext cx="3179445" cy="684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828800" imgH="393700" progId="Equation.KSEE3">
                  <p:embed/>
                </p:oleObj>
              </mc:Choice>
              <mc:Fallback>
                <p:oleObj r:id="rId12" imgW="1828800" imgH="3937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171328" y="3052120"/>
                        <a:ext cx="3179445" cy="6845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本框 23"/>
          <p:cNvSpPr txBox="1"/>
          <p:nvPr/>
        </p:nvSpPr>
        <p:spPr>
          <a:xfrm>
            <a:off x="1069036" y="5562600"/>
            <a:ext cx="70129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The range of composition over which the solute B obeys Henry's law,  the solvent A obeys </a:t>
            </a:r>
            <a:r>
              <a:rPr lang="en-US" altLang="zh-CN" sz="2000" b="1" dirty="0" err="1">
                <a:solidFill>
                  <a:srgbClr val="FF0000"/>
                </a:solidFill>
              </a:rPr>
              <a:t>Raoult's</a:t>
            </a:r>
            <a:r>
              <a:rPr lang="en-US" altLang="zh-CN" sz="2000" b="1" dirty="0">
                <a:solidFill>
                  <a:srgbClr val="FF0000"/>
                </a:solidFill>
              </a:rPr>
              <a:t> law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0346254"/>
              </p:ext>
            </p:extLst>
          </p:nvPr>
        </p:nvGraphicFramePr>
        <p:xfrm>
          <a:off x="1787769" y="4095750"/>
          <a:ext cx="4994031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05040" imgH="660240" progId="Equation.DSMT4">
                  <p:embed/>
                </p:oleObj>
              </mc:Choice>
              <mc:Fallback>
                <p:oleObj name="Equation" r:id="rId14" imgW="2705040" imgH="660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787769" y="4095750"/>
                        <a:ext cx="4994031" cy="1219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8845603"/>
              </p:ext>
            </p:extLst>
          </p:nvPr>
        </p:nvGraphicFramePr>
        <p:xfrm>
          <a:off x="7762821" y="4088150"/>
          <a:ext cx="1136572" cy="56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76240" imgH="431640" progId="Equation.DSMT4">
                  <p:embed/>
                </p:oleObj>
              </mc:Choice>
              <mc:Fallback>
                <p:oleObj name="Equation" r:id="rId16" imgW="8762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762821" y="4088150"/>
                        <a:ext cx="1136572" cy="560050"/>
                      </a:xfrm>
                      <a:prstGeom prst="rect">
                        <a:avLst/>
                      </a:prstGeom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3482769"/>
              </p:ext>
            </p:extLst>
          </p:nvPr>
        </p:nvGraphicFramePr>
        <p:xfrm>
          <a:off x="242888" y="3148013"/>
          <a:ext cx="2124076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638000" imgH="457200" progId="Equation.DSMT4">
                  <p:embed/>
                </p:oleObj>
              </mc:Choice>
              <mc:Fallback>
                <p:oleObj name="Equation" r:id="rId18" imgW="1638000" imgH="4572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8" y="3148013"/>
                        <a:ext cx="2124076" cy="59213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19385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000208" y="0"/>
            <a:ext cx="60629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Direct Calculation of Integral Molar Gibbs Free Energy</a:t>
            </a:r>
            <a:endParaRPr lang="en-US" altLang="zh-CN" sz="2800" dirty="0">
              <a:solidFill>
                <a:srgbClr val="FF0000"/>
              </a:solidFill>
              <a:effectLst/>
              <a:latin typeface="Arial" panose="020B0604020202020204" pitchFamily="34" charset="0"/>
              <a:ea typeface="Arial Unicode MS" panose="020B0604020202020204" charset="-122"/>
              <a:cs typeface="Arial" panose="020B0604020202020204" pitchFamily="34" charset="0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/>
          <a:srcRect b="56931"/>
          <a:stretch/>
        </p:blipFill>
        <p:spPr>
          <a:xfrm>
            <a:off x="1089300" y="1219200"/>
            <a:ext cx="4114165" cy="62874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98478" y="2879867"/>
            <a:ext cx="4438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/>
              <a:t>Integrating between X</a:t>
            </a:r>
            <a:r>
              <a:rPr lang="en-US" altLang="zh-CN" i="1" baseline="-25000" dirty="0"/>
              <a:t>A</a:t>
            </a:r>
            <a:r>
              <a:rPr lang="en-US" altLang="zh-CN" i="1" dirty="0"/>
              <a:t>=0 and X</a:t>
            </a:r>
            <a:r>
              <a:rPr lang="en-US" altLang="zh-CN" i="1" baseline="-25000" dirty="0"/>
              <a:t>A</a:t>
            </a:r>
            <a:r>
              <a:rPr lang="en-US" altLang="zh-CN" i="1" dirty="0"/>
              <a:t>=X</a:t>
            </a:r>
            <a:r>
              <a:rPr lang="en-US" altLang="zh-CN" i="1" baseline="-25000" dirty="0"/>
              <a:t>B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70" y="3200400"/>
            <a:ext cx="3097530" cy="2229485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1118870" y="4693721"/>
            <a:ext cx="2912828" cy="8096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1426" y="3188570"/>
            <a:ext cx="3081020" cy="1604645"/>
          </a:xfrm>
          <a:prstGeom prst="rect">
            <a:avLst/>
          </a:prstGeom>
        </p:spPr>
      </p:pic>
      <p:sp>
        <p:nvSpPr>
          <p:cNvPr id="16" name="TextBox 3"/>
          <p:cNvSpPr txBox="1"/>
          <p:nvPr/>
        </p:nvSpPr>
        <p:spPr>
          <a:xfrm>
            <a:off x="4751875" y="4852640"/>
            <a:ext cx="40382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be applied to any state properties</a:t>
            </a:r>
            <a:endParaRPr lang="zh-CN" alt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2"/>
          <a:srcRect l="-1655" t="47555" r="1655" b="9376"/>
          <a:stretch/>
        </p:blipFill>
        <p:spPr>
          <a:xfrm>
            <a:off x="2844975" y="2160420"/>
            <a:ext cx="4114165" cy="62874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910651" y="1774450"/>
            <a:ext cx="31210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/>
              <a:t>Rearranging and dividing by X</a:t>
            </a:r>
            <a:r>
              <a:rPr lang="en-US" altLang="zh-CN" i="1" baseline="-25000" dirty="0"/>
              <a:t>B</a:t>
            </a:r>
            <a:r>
              <a:rPr lang="en-US" altLang="zh-CN" i="1" baseline="30000" dirty="0"/>
              <a:t>2</a:t>
            </a:r>
            <a:endParaRPr lang="zh-CN" altLang="en-US" i="1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72669"/>
              </p:ext>
            </p:extLst>
          </p:nvPr>
        </p:nvGraphicFramePr>
        <p:xfrm>
          <a:off x="5486400" y="5462866"/>
          <a:ext cx="2361302" cy="12501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26920" imgH="914400" progId="Equation.DSMT4">
                  <p:embed/>
                </p:oleObj>
              </mc:Choice>
              <mc:Fallback>
                <p:oleObj name="Equation" r:id="rId5" imgW="172692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86400" y="5462866"/>
                        <a:ext cx="2361302" cy="12501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6255499"/>
              </p:ext>
            </p:extLst>
          </p:nvPr>
        </p:nvGraphicFramePr>
        <p:xfrm>
          <a:off x="6532735" y="1114050"/>
          <a:ext cx="225742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50960" imgH="482400" progId="Equation.DSMT4">
                  <p:embed/>
                </p:oleObj>
              </mc:Choice>
              <mc:Fallback>
                <p:oleObj name="Equation" r:id="rId7" imgW="1650960" imgH="4824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2735" y="1114050"/>
                        <a:ext cx="2257425" cy="66040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84077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1100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55071" y="2280842"/>
            <a:ext cx="2692631" cy="2205433"/>
          </a:xfrm>
          <a:prstGeom prst="rect">
            <a:avLst/>
          </a:prstGeom>
        </p:spPr>
      </p:pic>
      <p:sp>
        <p:nvSpPr>
          <p:cNvPr id="11" name="文本框 12"/>
          <p:cNvSpPr txBox="1"/>
          <p:nvPr/>
        </p:nvSpPr>
        <p:spPr>
          <a:xfrm>
            <a:off x="1784722" y="0"/>
            <a:ext cx="60629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Calculation of </a:t>
            </a: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∆G from measured activity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94265" y="4572000"/>
            <a:ext cx="3980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Line b </a:t>
            </a:r>
            <a:r>
              <a:rPr lang="en-US" altLang="zh-CN" dirty="0"/>
              <a:t>is the case for </a:t>
            </a:r>
            <a:r>
              <a:rPr lang="en-US" altLang="zh-CN" dirty="0" err="1"/>
              <a:t>Raoults’s</a:t>
            </a:r>
            <a:r>
              <a:rPr lang="en-US" altLang="zh-CN" dirty="0"/>
              <a:t> behavior </a:t>
            </a:r>
            <a:endParaRPr lang="zh-CN" altLang="en-US" dirty="0"/>
          </a:p>
        </p:txBody>
      </p:sp>
      <p:pic>
        <p:nvPicPr>
          <p:cNvPr id="7373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3218" y="1764247"/>
            <a:ext cx="300990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image1093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80207" y="1354672"/>
            <a:ext cx="3056890" cy="409575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4267200" y="1354672"/>
            <a:ext cx="8066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Line a 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298769" y="1691738"/>
            <a:ext cx="8066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</a:rPr>
              <a:t>Line c </a:t>
            </a:r>
            <a:endParaRPr lang="zh-CN" altLang="en-US" dirty="0">
              <a:solidFill>
                <a:srgbClr val="0000FF"/>
              </a:solidFill>
            </a:endParaRP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8456492"/>
              </p:ext>
            </p:extLst>
          </p:nvPr>
        </p:nvGraphicFramePr>
        <p:xfrm>
          <a:off x="5347287" y="4969666"/>
          <a:ext cx="2741563" cy="1735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30240" imgH="1726920" progId="Equation.DSMT4">
                  <p:embed/>
                </p:oleObj>
              </mc:Choice>
              <mc:Fallback>
                <p:oleObj name="Equation" r:id="rId5" imgW="2730240" imgH="1726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7287" y="4969666"/>
                        <a:ext cx="2741563" cy="17359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813078" y="2406134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(a)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62608" y="3753134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(c)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3" name="右箭头 2"/>
          <p:cNvSpPr/>
          <p:nvPr/>
        </p:nvSpPr>
        <p:spPr>
          <a:xfrm>
            <a:off x="3505200" y="3124200"/>
            <a:ext cx="914400" cy="381000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1" y="2252457"/>
            <a:ext cx="1746264" cy="909483"/>
          </a:xfrm>
          <a:prstGeom prst="rect">
            <a:avLst/>
          </a:prstGeom>
        </p:spPr>
      </p:pic>
      <p:pic>
        <p:nvPicPr>
          <p:cNvPr id="73789" name="Picture 6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" y="1422911"/>
            <a:ext cx="3095625" cy="3917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3790" name="Picture 6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5340001"/>
            <a:ext cx="3048000" cy="125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9280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491" y="3962400"/>
            <a:ext cx="3538759" cy="26038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270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945340"/>
            <a:ext cx="3664585" cy="2713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文本框 9"/>
          <p:cNvSpPr txBox="1"/>
          <p:nvPr/>
        </p:nvSpPr>
        <p:spPr>
          <a:xfrm>
            <a:off x="1378586" y="269718"/>
            <a:ext cx="73844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Arial Unicode MS" panose="020B0604020202020204" charset="-122"/>
                <a:ea typeface="Arial Unicode MS" panose="020B0604020202020204" charset="-122"/>
              </a:rPr>
              <a:t>Determining TD activity coefficient</a:t>
            </a:r>
          </a:p>
        </p:txBody>
      </p:sp>
      <p:pic>
        <p:nvPicPr>
          <p:cNvPr id="7270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382973"/>
            <a:ext cx="3561301" cy="2579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270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4477" y="1438275"/>
            <a:ext cx="2894204" cy="2371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9388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225" y="100013"/>
            <a:ext cx="6162676" cy="2505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3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5" y="2828924"/>
            <a:ext cx="4109348" cy="340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3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7724" y="2828924"/>
            <a:ext cx="3742287" cy="1290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317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7724" y="4623802"/>
            <a:ext cx="4086226" cy="1529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77050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99553"/>
            <a:ext cx="4657725" cy="4747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4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6339" y="123826"/>
            <a:ext cx="3847660" cy="3014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4196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089" b="14884"/>
          <a:stretch/>
        </p:blipFill>
        <p:spPr bwMode="auto">
          <a:xfrm>
            <a:off x="5320438" y="3014661"/>
            <a:ext cx="3309212" cy="3399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971549" y="123826"/>
            <a:ext cx="38042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Measuring activity of Si in Si-Cu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3413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674" y="1109662"/>
            <a:ext cx="5038725" cy="41204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6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238" y="5401565"/>
            <a:ext cx="6353175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971548" y="123887"/>
            <a:ext cx="41410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activity coefficient of Si in Cu-Si-Fe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9892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968395" y="3541776"/>
            <a:ext cx="34332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32. The regular solutions</a:t>
            </a:r>
          </a:p>
        </p:txBody>
      </p:sp>
      <p:sp>
        <p:nvSpPr>
          <p:cNvPr id="6" name="矩形 5"/>
          <p:cNvSpPr/>
          <p:nvPr/>
        </p:nvSpPr>
        <p:spPr>
          <a:xfrm>
            <a:off x="1004971" y="4357223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Ref.  Introduction of Thermodynamics of Materials, D. R. Gaskell, Chapter 8 </a:t>
            </a:r>
          </a:p>
        </p:txBody>
      </p:sp>
    </p:spTree>
    <p:extLst>
      <p:ext uri="{BB962C8B-B14F-4D97-AF65-F5344CB8AC3E}">
        <p14:creationId xmlns:p14="http://schemas.microsoft.com/office/powerpoint/2010/main" val="8898214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222375" y="243840"/>
            <a:ext cx="6062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Regular solution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37540" y="1390650"/>
            <a:ext cx="7668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Thus far two classes of solution have been identified: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35330" y="1737995"/>
            <a:ext cx="70370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1. Ideal or Raoultian solutions in which </a:t>
            </a:r>
          </a:p>
          <a:p>
            <a:r>
              <a:rPr lang="en-US" altLang="zh-CN"/>
              <a:t>2. Nonideal solutions in which                    and  </a:t>
            </a:r>
          </a:p>
        </p:txBody>
      </p:sp>
      <p:graphicFrame>
        <p:nvGraphicFramePr>
          <p:cNvPr id="15" name="对象 14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2556394"/>
              </p:ext>
            </p:extLst>
          </p:nvPr>
        </p:nvGraphicFramePr>
        <p:xfrm>
          <a:off x="5666276" y="2060575"/>
          <a:ext cx="1012190" cy="330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22300" imgH="203200" progId="Equation.KSEE3">
                  <p:embed/>
                </p:oleObj>
              </mc:Choice>
              <mc:Fallback>
                <p:oleObj r:id="rId2" imgW="622300" imgH="2032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66276" y="2060575"/>
                        <a:ext cx="1012190" cy="3308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466725" y="2619642"/>
            <a:ext cx="66624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 1895,Margules suggested that, at constant temperature, the activity coefficients of the components of a binary solution</a:t>
            </a:r>
          </a:p>
        </p:txBody>
      </p:sp>
      <p:graphicFrame>
        <p:nvGraphicFramePr>
          <p:cNvPr id="17" name="对象 16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1738316"/>
              </p:ext>
            </p:extLst>
          </p:nvPr>
        </p:nvGraphicFramePr>
        <p:xfrm>
          <a:off x="824361" y="3298486"/>
          <a:ext cx="2484755" cy="588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663700" imgH="393700" progId="Equation.KSEE3">
                  <p:embed/>
                </p:oleObj>
              </mc:Choice>
              <mc:Fallback>
                <p:oleObj r:id="rId4" imgW="1663700" imgH="3937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24361" y="3298486"/>
                        <a:ext cx="2484755" cy="5886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0887008"/>
              </p:ext>
            </p:extLst>
          </p:nvPr>
        </p:nvGraphicFramePr>
        <p:xfrm>
          <a:off x="948121" y="3903198"/>
          <a:ext cx="2631374" cy="6227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663700" imgH="393700" progId="Equation.KSEE3">
                  <p:embed/>
                </p:oleObj>
              </mc:Choice>
              <mc:Fallback>
                <p:oleObj r:id="rId6" imgW="1663700" imgH="3937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48121" y="3903198"/>
                        <a:ext cx="2631374" cy="6227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609600" y="4770755"/>
            <a:ext cx="78473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Gibbs-</a:t>
            </a:r>
            <a:r>
              <a:rPr lang="en-US" altLang="zh-CN" dirty="0" err="1"/>
              <a:t>Duhem</a:t>
            </a:r>
            <a:r>
              <a:rPr lang="en-US" altLang="zh-CN" dirty="0"/>
              <a:t> equation:</a:t>
            </a:r>
          </a:p>
        </p:txBody>
      </p:sp>
      <p:graphicFrame>
        <p:nvGraphicFramePr>
          <p:cNvPr id="20" name="对象 19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7011615"/>
              </p:ext>
            </p:extLst>
          </p:nvPr>
        </p:nvGraphicFramePr>
        <p:xfrm>
          <a:off x="3293332" y="4740945"/>
          <a:ext cx="3075305" cy="427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459865" imgH="203200" progId="Equation.KSEE3">
                  <p:embed/>
                </p:oleObj>
              </mc:Choice>
              <mc:Fallback>
                <p:oleObj r:id="rId8" imgW="1459865" imgH="2032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293332" y="4740945"/>
                        <a:ext cx="3075305" cy="4279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/>
          <p:cNvSpPr txBox="1"/>
          <p:nvPr/>
        </p:nvSpPr>
        <p:spPr>
          <a:xfrm>
            <a:off x="636270" y="5285740"/>
            <a:ext cx="3421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We can demonstrate </a:t>
            </a:r>
          </a:p>
        </p:txBody>
      </p:sp>
      <p:graphicFrame>
        <p:nvGraphicFramePr>
          <p:cNvPr id="22" name="对象 21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8242092"/>
              </p:ext>
            </p:extLst>
          </p:nvPr>
        </p:nvGraphicFramePr>
        <p:xfrm>
          <a:off x="2977515" y="5285740"/>
          <a:ext cx="132016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698500" imgH="203200" progId="Equation.KSEE3">
                  <p:embed/>
                </p:oleObj>
              </mc:Choice>
              <mc:Fallback>
                <p:oleObj r:id="rId10" imgW="698500" imgH="2032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977515" y="5285740"/>
                        <a:ext cx="1320165" cy="384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2"/>
          <p:cNvSpPr txBox="1"/>
          <p:nvPr/>
        </p:nvSpPr>
        <p:spPr>
          <a:xfrm>
            <a:off x="609600" y="5744210"/>
            <a:ext cx="3531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For quadratic term alone </a:t>
            </a:r>
          </a:p>
        </p:txBody>
      </p:sp>
      <p:graphicFrame>
        <p:nvGraphicFramePr>
          <p:cNvPr id="24" name="对象 23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9690175"/>
              </p:ext>
            </p:extLst>
          </p:nvPr>
        </p:nvGraphicFramePr>
        <p:xfrm>
          <a:off x="3209925" y="5739765"/>
          <a:ext cx="931545" cy="372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508000" imgH="203200" progId="Equation.KSEE3">
                  <p:embed/>
                </p:oleObj>
              </mc:Choice>
              <mc:Fallback>
                <p:oleObj r:id="rId12" imgW="508000" imgH="2032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209925" y="5739765"/>
                        <a:ext cx="931545" cy="3727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6"/>
          <p:cNvSpPr txBox="1"/>
          <p:nvPr/>
        </p:nvSpPr>
        <p:spPr>
          <a:xfrm>
            <a:off x="6924858" y="5835694"/>
            <a:ext cx="1981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CN" i="1" dirty="0">
                <a:latin typeface="Sylfaen"/>
              </a:rPr>
              <a:t>α</a:t>
            </a:r>
            <a:r>
              <a:rPr lang="en-US" altLang="zh-CN" i="1" dirty="0">
                <a:latin typeface="Sylfaen"/>
              </a:rPr>
              <a:t> </a:t>
            </a:r>
            <a:r>
              <a:rPr lang="en-US" altLang="zh-CN" i="1" dirty="0" err="1">
                <a:latin typeface="Sylfaen"/>
              </a:rPr>
              <a:t>i</a:t>
            </a:r>
            <a:r>
              <a:rPr lang="en-US" altLang="zh-CN" i="1" dirty="0">
                <a:latin typeface="Sylfaen"/>
              </a:rPr>
              <a:t> s T </a:t>
            </a:r>
            <a:r>
              <a:rPr lang="en-US" altLang="zh-CN" i="1" dirty="0"/>
              <a:t>dependent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8492766"/>
              </p:ext>
            </p:extLst>
          </p:nvPr>
        </p:nvGraphicFramePr>
        <p:xfrm>
          <a:off x="4003616" y="2036043"/>
          <a:ext cx="776161" cy="377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69800" imgH="228600" progId="Equation.DSMT4">
                  <p:embed/>
                </p:oleObj>
              </mc:Choice>
              <mc:Fallback>
                <p:oleObj name="Equation" r:id="rId14" imgW="4698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003616" y="2036043"/>
                        <a:ext cx="776161" cy="377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6678466" y="3634134"/>
            <a:ext cx="23131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activity coefficients : </a:t>
            </a:r>
            <a:r>
              <a:rPr lang="el-GR" altLang="zh-CN" dirty="0">
                <a:latin typeface="Times New Roman"/>
                <a:cs typeface="Times New Roman"/>
              </a:rPr>
              <a:t>γ</a:t>
            </a:r>
            <a:r>
              <a:rPr lang="en-US" altLang="zh-CN" dirty="0"/>
              <a:t> </a:t>
            </a:r>
            <a:endParaRPr lang="zh-CN" altLang="en-US" dirty="0"/>
          </a:p>
        </p:txBody>
      </p:sp>
      <p:pic>
        <p:nvPicPr>
          <p:cNvPr id="28" name="对象 15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7949" y="4009570"/>
            <a:ext cx="1023367" cy="410030"/>
          </a:xfrm>
          <a:prstGeom prst="rect">
            <a:avLst/>
          </a:prstGeom>
          <a:noFill/>
          <a:ln w="9525">
            <a:solidFill>
              <a:srgbClr val="FF0000"/>
            </a:solidFill>
            <a:prstDash val="sys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6033166"/>
              </p:ext>
            </p:extLst>
          </p:nvPr>
        </p:nvGraphicFramePr>
        <p:xfrm>
          <a:off x="5015318" y="5360988"/>
          <a:ext cx="1500188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939600" imgH="393480" progId="Equation.DSMT4">
                  <p:embed/>
                </p:oleObj>
              </mc:Choice>
              <mc:Fallback>
                <p:oleObj name="Equation" r:id="rId17" imgW="9396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5318" y="5360988"/>
                        <a:ext cx="1500188" cy="627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6664140"/>
              </p:ext>
            </p:extLst>
          </p:nvPr>
        </p:nvGraphicFramePr>
        <p:xfrm>
          <a:off x="5015318" y="5973763"/>
          <a:ext cx="1514475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939600" imgH="393480" progId="Equation.DSMT4">
                  <p:embed/>
                </p:oleObj>
              </mc:Choice>
              <mc:Fallback>
                <p:oleObj name="Equation" r:id="rId19" imgW="9396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5318" y="5973763"/>
                        <a:ext cx="1514475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圆角矩形 30"/>
          <p:cNvSpPr/>
          <p:nvPr/>
        </p:nvSpPr>
        <p:spPr>
          <a:xfrm>
            <a:off x="4735919" y="5234305"/>
            <a:ext cx="2082030" cy="1388110"/>
          </a:xfrm>
          <a:prstGeom prst="roundRect">
            <a:avLst>
              <a:gd name="adj" fmla="val 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2433672"/>
              </p:ext>
            </p:extLst>
          </p:nvPr>
        </p:nvGraphicFramePr>
        <p:xfrm>
          <a:off x="5012417" y="1737995"/>
          <a:ext cx="2376905" cy="322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777680" imgH="241200" progId="Equation.DSMT4">
                  <p:embed/>
                </p:oleObj>
              </mc:Choice>
              <mc:Fallback>
                <p:oleObj name="Equation" r:id="rId21" imgW="17776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012417" y="1737995"/>
                        <a:ext cx="2376905" cy="32258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6678466" y="3264802"/>
            <a:ext cx="1197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Activity: </a:t>
            </a:r>
            <a:r>
              <a:rPr lang="en-US" altLang="zh-CN" i="1" dirty="0" err="1"/>
              <a:t>a</a:t>
            </a:r>
            <a:r>
              <a:rPr lang="en-US" altLang="zh-CN" i="1" baseline="-25000" dirty="0" err="1"/>
              <a:t>i</a:t>
            </a:r>
            <a:r>
              <a:rPr lang="en-US" altLang="zh-CN" i="1" dirty="0"/>
              <a:t> </a:t>
            </a:r>
            <a:endParaRPr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32795922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圆角矩形 28"/>
          <p:cNvSpPr/>
          <p:nvPr/>
        </p:nvSpPr>
        <p:spPr>
          <a:xfrm>
            <a:off x="3435877" y="1582194"/>
            <a:ext cx="3070794" cy="158853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圆角矩形 27"/>
          <p:cNvSpPr/>
          <p:nvPr/>
        </p:nvSpPr>
        <p:spPr>
          <a:xfrm>
            <a:off x="138512" y="1562159"/>
            <a:ext cx="3070794" cy="15885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378585" y="57090"/>
            <a:ext cx="6062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Regular solution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2737213"/>
              </p:ext>
            </p:extLst>
          </p:nvPr>
        </p:nvGraphicFramePr>
        <p:xfrm>
          <a:off x="424393" y="2100814"/>
          <a:ext cx="1770062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54080" imgH="241200" progId="Equation.DSMT4">
                  <p:embed/>
                </p:oleObj>
              </mc:Choice>
              <mc:Fallback>
                <p:oleObj name="Equation" r:id="rId2" imgW="10540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24393" y="2100814"/>
                        <a:ext cx="1770062" cy="404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62468" y="1658394"/>
            <a:ext cx="2651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General</a:t>
            </a:r>
            <a:r>
              <a:rPr lang="en-US" altLang="zh-CN" dirty="0"/>
              <a:t> </a:t>
            </a:r>
            <a:r>
              <a:rPr lang="en-US" altLang="zh-CN" b="1" dirty="0" err="1"/>
              <a:t>nonideal</a:t>
            </a:r>
            <a:r>
              <a:rPr lang="en-US" altLang="zh-CN" b="1" dirty="0"/>
              <a:t> solution</a:t>
            </a:r>
            <a:endParaRPr lang="zh-CN" alt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3752288" y="1582194"/>
            <a:ext cx="1740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Regular solution</a:t>
            </a:r>
            <a:endParaRPr lang="zh-CN" altLang="en-US" b="1" dirty="0"/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9666796"/>
              </p:ext>
            </p:extLst>
          </p:nvPr>
        </p:nvGraphicFramePr>
        <p:xfrm>
          <a:off x="424393" y="2534201"/>
          <a:ext cx="1770062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54080" imgH="241200" progId="Equation.DSMT4">
                  <p:embed/>
                </p:oleObj>
              </mc:Choice>
              <mc:Fallback>
                <p:oleObj name="Equation" r:id="rId4" imgW="10540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393" y="2534201"/>
                        <a:ext cx="1770062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4878730"/>
              </p:ext>
            </p:extLst>
          </p:nvPr>
        </p:nvGraphicFramePr>
        <p:xfrm>
          <a:off x="3678765" y="2034632"/>
          <a:ext cx="1916112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3000" imgH="241200" progId="Equation.DSMT4">
                  <p:embed/>
                </p:oleObj>
              </mc:Choice>
              <mc:Fallback>
                <p:oleObj name="Equation" r:id="rId6" imgW="11430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8765" y="2034632"/>
                        <a:ext cx="1916112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0647375"/>
              </p:ext>
            </p:extLst>
          </p:nvPr>
        </p:nvGraphicFramePr>
        <p:xfrm>
          <a:off x="3677177" y="2504532"/>
          <a:ext cx="19177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43000" imgH="241200" progId="Equation.DSMT4">
                  <p:embed/>
                </p:oleObj>
              </mc:Choice>
              <mc:Fallback>
                <p:oleObj name="Equation" r:id="rId8" imgW="11430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7177" y="2504532"/>
                        <a:ext cx="19177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1362018" y="3200753"/>
            <a:ext cx="41312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l-GR" altLang="zh-CN" sz="1600" dirty="0">
                <a:solidFill>
                  <a:srgbClr val="FF0000"/>
                </a:solidFill>
                <a:latin typeface="Arial"/>
                <a:cs typeface="Arial"/>
              </a:rPr>
              <a:t>Ω</a:t>
            </a:r>
            <a:r>
              <a:rPr lang="en-US" altLang="zh-CN" sz="1600" baseline="-25000" dirty="0">
                <a:solidFill>
                  <a:srgbClr val="FF0000"/>
                </a:solidFill>
                <a:latin typeface="Arial"/>
                <a:cs typeface="Arial"/>
              </a:rPr>
              <a:t>AB</a:t>
            </a:r>
            <a:r>
              <a:rPr lang="en-US" altLang="zh-CN" sz="1600" dirty="0">
                <a:solidFill>
                  <a:srgbClr val="FF0000"/>
                </a:solidFill>
                <a:latin typeface="Arial"/>
                <a:cs typeface="Arial"/>
              </a:rPr>
              <a:t>: </a:t>
            </a:r>
            <a:r>
              <a:rPr lang="en-US" altLang="zh-CN" sz="1600" dirty="0">
                <a:solidFill>
                  <a:srgbClr val="FF0000"/>
                </a:solidFill>
                <a:latin typeface="Sylfaen"/>
              </a:rPr>
              <a:t>interaction parameter </a:t>
            </a:r>
          </a:p>
          <a:p>
            <a:pPr algn="ctr"/>
            <a:r>
              <a:rPr lang="en-US" altLang="zh-CN" sz="1600" dirty="0">
                <a:solidFill>
                  <a:srgbClr val="FF0000"/>
                </a:solidFill>
                <a:latin typeface="Sylfaen"/>
              </a:rPr>
              <a:t> is composition and temperature  independent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pic>
        <p:nvPicPr>
          <p:cNvPr id="236738" name="Picture 194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7524" y="57090"/>
            <a:ext cx="2162175" cy="3589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6867524" y="3877360"/>
            <a:ext cx="21621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b="1" dirty="0"/>
              <a:t>Joel Henry Hildebrand</a:t>
            </a:r>
            <a:r>
              <a:rPr lang="en-US" altLang="zh-CN" sz="1200" dirty="0"/>
              <a:t> </a:t>
            </a:r>
          </a:p>
          <a:p>
            <a:r>
              <a:rPr lang="en-US" altLang="zh-CN" sz="1200" dirty="0"/>
              <a:t>(1881-1983)</a:t>
            </a:r>
            <a:endParaRPr lang="zh-CN" altLang="en-US" sz="1200" dirty="0"/>
          </a:p>
        </p:txBody>
      </p:sp>
      <p:sp>
        <p:nvSpPr>
          <p:cNvPr id="5" name="矩形 4"/>
          <p:cNvSpPr/>
          <p:nvPr/>
        </p:nvSpPr>
        <p:spPr>
          <a:xfrm>
            <a:off x="6743496" y="3493141"/>
            <a:ext cx="228620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/>
              <a:t>University of Pennsylvania</a:t>
            </a:r>
            <a:endParaRPr lang="zh-CN" altLang="en-US" sz="1400" dirty="0"/>
          </a:p>
        </p:txBody>
      </p:sp>
      <p:pic>
        <p:nvPicPr>
          <p:cNvPr id="236739" name="Picture 195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0389" y="4505325"/>
            <a:ext cx="3286125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6740" name="Picture 196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12" y="3933825"/>
            <a:ext cx="3381375" cy="212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6741" name="Picture 197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371" y="6057900"/>
            <a:ext cx="37433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3" name="矩形 32"/>
          <p:cNvSpPr/>
          <p:nvPr/>
        </p:nvSpPr>
        <p:spPr>
          <a:xfrm>
            <a:off x="1325617" y="873380"/>
            <a:ext cx="407194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/>
              <a:t>1949: Guggenheim, </a:t>
            </a:r>
            <a:r>
              <a:rPr lang="en-US" altLang="zh-CN" sz="1600" dirty="0" err="1"/>
              <a:t>Rushbrooke</a:t>
            </a:r>
            <a:r>
              <a:rPr lang="en-US" altLang="zh-CN" sz="1600" dirty="0"/>
              <a:t>, et al. </a:t>
            </a:r>
          </a:p>
          <a:p>
            <a:r>
              <a:rPr lang="en-US" altLang="zh-CN" sz="1600" dirty="0"/>
              <a:t>           referenced the “regular solution” as 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4843075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483360" y="0"/>
            <a:ext cx="6062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Regular solution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971690" y="942241"/>
            <a:ext cx="62862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Hilderbrand</a:t>
            </a:r>
            <a:r>
              <a:rPr lang="en-US" altLang="zh-CN" dirty="0"/>
              <a:t> claims the original definition of  regular solution</a:t>
            </a:r>
          </a:p>
          <a:p>
            <a:r>
              <a:rPr lang="en-US" altLang="zh-CN" i="1" dirty="0">
                <a:solidFill>
                  <a:srgbClr val="FF0000"/>
                </a:solidFill>
              </a:rPr>
              <a:t>“A solution has a idea  mixing entropy”</a:t>
            </a:r>
          </a:p>
        </p:txBody>
      </p:sp>
      <p:graphicFrame>
        <p:nvGraphicFramePr>
          <p:cNvPr id="11" name="对象 10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1067204"/>
              </p:ext>
            </p:extLst>
          </p:nvPr>
        </p:nvGraphicFramePr>
        <p:xfrm>
          <a:off x="1226185" y="1721485"/>
          <a:ext cx="139001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22300" imgH="203200" progId="Equation.KSEE3">
                  <p:embed/>
                </p:oleObj>
              </mc:Choice>
              <mc:Fallback>
                <p:oleObj r:id="rId2" imgW="622300" imgH="2032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26185" y="1721485"/>
                        <a:ext cx="1390015" cy="454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5781606"/>
              </p:ext>
            </p:extLst>
          </p:nvPr>
        </p:nvGraphicFramePr>
        <p:xfrm>
          <a:off x="2943225" y="1777365"/>
          <a:ext cx="2840990" cy="369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562100" imgH="203200" progId="Equation.KSEE3">
                  <p:embed/>
                </p:oleObj>
              </mc:Choice>
              <mc:Fallback>
                <p:oleObj r:id="rId4" imgW="1562100" imgH="2032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43225" y="1777365"/>
                        <a:ext cx="2840990" cy="3695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/>
          <p:cNvSpPr/>
          <p:nvPr/>
        </p:nvSpPr>
        <p:spPr>
          <a:xfrm>
            <a:off x="6785363" y="3183624"/>
            <a:ext cx="20422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activity coefficients </a:t>
            </a:r>
            <a:endParaRPr lang="zh-CN" altLang="en-US" dirty="0"/>
          </a:p>
        </p:txBody>
      </p:sp>
      <p:pic>
        <p:nvPicPr>
          <p:cNvPr id="17" name="对象 1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4846" y="3559060"/>
            <a:ext cx="1023367" cy="410030"/>
          </a:xfrm>
          <a:prstGeom prst="rect">
            <a:avLst/>
          </a:prstGeom>
          <a:noFill/>
          <a:ln w="9525">
            <a:noFill/>
            <a:prstDash val="sys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6139970"/>
              </p:ext>
            </p:extLst>
          </p:nvPr>
        </p:nvGraphicFramePr>
        <p:xfrm>
          <a:off x="6818767" y="4427708"/>
          <a:ext cx="1916112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43000" imgH="241200" progId="Equation.DSMT4">
                  <p:embed/>
                </p:oleObj>
              </mc:Choice>
              <mc:Fallback>
                <p:oleObj name="Equation" r:id="rId7" imgW="11430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8767" y="4427708"/>
                        <a:ext cx="1916112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839404" y="4059010"/>
            <a:ext cx="1740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Regular solution</a:t>
            </a:r>
            <a:endParaRPr lang="zh-CN" altLang="en-US" dirty="0"/>
          </a:p>
        </p:txBody>
      </p:sp>
      <p:sp>
        <p:nvSpPr>
          <p:cNvPr id="19" name="圆角矩形 18"/>
          <p:cNvSpPr/>
          <p:nvPr/>
        </p:nvSpPr>
        <p:spPr>
          <a:xfrm>
            <a:off x="6743789" y="2860845"/>
            <a:ext cx="2083800" cy="2286000"/>
          </a:xfrm>
          <a:prstGeom prst="roundRect">
            <a:avLst>
              <a:gd name="adj" fmla="val 5839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7646" name="Picture 7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90" y="2188765"/>
            <a:ext cx="504825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31252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188085" y="160020"/>
            <a:ext cx="60629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The change of enthalpy </a:t>
            </a:r>
          </a:p>
          <a:p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of Regular solution</a:t>
            </a:r>
          </a:p>
        </p:txBody>
      </p:sp>
      <p:sp>
        <p:nvSpPr>
          <p:cNvPr id="10" name="矩形 9"/>
          <p:cNvSpPr/>
          <p:nvPr/>
        </p:nvSpPr>
        <p:spPr>
          <a:xfrm>
            <a:off x="6956768" y="675204"/>
            <a:ext cx="19030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/>
              <a:t>Nonidea</a:t>
            </a:r>
            <a:r>
              <a:rPr lang="en-US" altLang="zh-CN" dirty="0"/>
              <a:t> solution</a:t>
            </a:r>
            <a:endParaRPr lang="zh-CN" altLang="en-US" dirty="0"/>
          </a:p>
        </p:txBody>
      </p:sp>
      <p:pic>
        <p:nvPicPr>
          <p:cNvPr id="11" name="对象 1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251" y="1050640"/>
            <a:ext cx="1023367" cy="410030"/>
          </a:xfrm>
          <a:prstGeom prst="rect">
            <a:avLst/>
          </a:prstGeom>
          <a:noFill/>
          <a:ln w="9525">
            <a:noFill/>
            <a:prstDash val="sys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045343"/>
              </p:ext>
            </p:extLst>
          </p:nvPr>
        </p:nvGraphicFramePr>
        <p:xfrm>
          <a:off x="7096251" y="2053272"/>
          <a:ext cx="1514475" cy="3199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3000" imgH="241200" progId="Equation.DSMT4">
                  <p:embed/>
                </p:oleObj>
              </mc:Choice>
              <mc:Fallback>
                <p:oleObj name="Equation" r:id="rId3" imgW="11430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6251" y="2053272"/>
                        <a:ext cx="1514475" cy="3199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010809" y="1550590"/>
            <a:ext cx="1740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Regular solution</a:t>
            </a:r>
            <a:endParaRPr lang="zh-CN" altLang="en-US" dirty="0"/>
          </a:p>
        </p:txBody>
      </p:sp>
      <p:sp>
        <p:nvSpPr>
          <p:cNvPr id="15" name="圆角矩形 14"/>
          <p:cNvSpPr/>
          <p:nvPr/>
        </p:nvSpPr>
        <p:spPr>
          <a:xfrm>
            <a:off x="6915194" y="352424"/>
            <a:ext cx="2083800" cy="2828925"/>
          </a:xfrm>
          <a:prstGeom prst="roundRect">
            <a:avLst>
              <a:gd name="adj" fmla="val 5839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096251" y="2428875"/>
            <a:ext cx="201048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1400" i="1" baseline="-25000" dirty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en-US" altLang="zh-CN" sz="1400" i="1" dirty="0">
                <a:latin typeface="Times New Roman" pitchFamily="18" charset="0"/>
                <a:cs typeface="Times New Roman" pitchFamily="18" charset="0"/>
              </a:rPr>
              <a:t>activity</a:t>
            </a:r>
          </a:p>
          <a:p>
            <a:r>
              <a:rPr lang="el-GR" altLang="zh-CN" sz="1400" i="1" dirty="0">
                <a:latin typeface="Times New Roman" pitchFamily="18" charset="0"/>
                <a:cs typeface="Times New Roman" pitchFamily="18" charset="0"/>
              </a:rPr>
              <a:t>γ</a:t>
            </a:r>
            <a:r>
              <a:rPr lang="en-US" altLang="zh-CN" sz="1400" i="1" dirty="0">
                <a:latin typeface="Times New Roman" pitchFamily="18" charset="0"/>
                <a:cs typeface="Times New Roman" pitchFamily="18" charset="0"/>
              </a:rPr>
              <a:t>: coefficient of activity </a:t>
            </a:r>
          </a:p>
          <a:p>
            <a:r>
              <a:rPr lang="el-GR" altLang="zh-CN" sz="1400" i="1" dirty="0">
                <a:latin typeface="Times New Roman" pitchFamily="18" charset="0"/>
                <a:cs typeface="Times New Roman" pitchFamily="18" charset="0"/>
              </a:rPr>
              <a:t>Ω</a:t>
            </a:r>
            <a:r>
              <a:rPr lang="en-US" altLang="zh-CN" sz="1400" i="1" dirty="0">
                <a:latin typeface="Times New Roman" pitchFamily="18" charset="0"/>
                <a:cs typeface="Times New Roman" pitchFamily="18" charset="0"/>
              </a:rPr>
              <a:t>: interaction parameter</a:t>
            </a:r>
            <a:endParaRPr lang="zh-CN" alt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0701238"/>
              </p:ext>
            </p:extLst>
          </p:nvPr>
        </p:nvGraphicFramePr>
        <p:xfrm>
          <a:off x="4328391" y="3894613"/>
          <a:ext cx="17399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39880" imgH="583920" progId="Equation.DSMT4">
                  <p:embed/>
                </p:oleObj>
              </mc:Choice>
              <mc:Fallback>
                <p:oleObj name="Equation" r:id="rId5" imgW="1739880" imgH="583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28391" y="3894613"/>
                        <a:ext cx="1739900" cy="584200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2756489"/>
              </p:ext>
            </p:extLst>
          </p:nvPr>
        </p:nvGraphicFramePr>
        <p:xfrm>
          <a:off x="1319213" y="1517650"/>
          <a:ext cx="22098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09680" imgH="253800" progId="Equation.DSMT4">
                  <p:embed/>
                </p:oleObj>
              </mc:Choice>
              <mc:Fallback>
                <p:oleObj name="Equation" r:id="rId7" imgW="22096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19213" y="1517650"/>
                        <a:ext cx="2209800" cy="254000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66775" y="1091338"/>
            <a:ext cx="1556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Idea solution:</a:t>
            </a:r>
            <a:endParaRPr lang="zh-CN" altLang="en-US" dirty="0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8631937"/>
              </p:ext>
            </p:extLst>
          </p:nvPr>
        </p:nvGraphicFramePr>
        <p:xfrm>
          <a:off x="1360718" y="2289254"/>
          <a:ext cx="2006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006280" imgH="253800" progId="Equation.DSMT4">
                  <p:embed/>
                </p:oleObj>
              </mc:Choice>
              <mc:Fallback>
                <p:oleObj name="Equation" r:id="rId9" imgW="2006280" imgH="2538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0718" y="2289254"/>
                        <a:ext cx="2006600" cy="254000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866775" y="1919922"/>
            <a:ext cx="1992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Non-</a:t>
            </a:r>
            <a:r>
              <a:rPr lang="en-US" altLang="zh-CN" dirty="0" err="1"/>
              <a:t>dea</a:t>
            </a:r>
            <a:r>
              <a:rPr lang="en-US" altLang="zh-CN" dirty="0"/>
              <a:t> solution:</a:t>
            </a:r>
            <a:endParaRPr lang="zh-CN" altLang="en-US" dirty="0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8669950"/>
              </p:ext>
            </p:extLst>
          </p:nvPr>
        </p:nvGraphicFramePr>
        <p:xfrm>
          <a:off x="4393565" y="2289254"/>
          <a:ext cx="1828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828800" imgH="279360" progId="Equation.DSMT4">
                  <p:embed/>
                </p:oleObj>
              </mc:Choice>
              <mc:Fallback>
                <p:oleObj name="Equation" r:id="rId11" imgW="18288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393565" y="2289254"/>
                        <a:ext cx="1828800" cy="279400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0499601"/>
              </p:ext>
            </p:extLst>
          </p:nvPr>
        </p:nvGraphicFramePr>
        <p:xfrm>
          <a:off x="890086" y="3017043"/>
          <a:ext cx="172878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726920" imgH="761760" progId="Equation.DSMT4">
                  <p:embed/>
                </p:oleObj>
              </mc:Choice>
              <mc:Fallback>
                <p:oleObj name="Equation" r:id="rId13" imgW="1726920" imgH="761760" progId="Equation.DSMT4">
                  <p:embed/>
                  <p:pic>
                    <p:nvPicPr>
                      <p:cNvPr id="0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086" y="3017043"/>
                        <a:ext cx="1728788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1707701"/>
              </p:ext>
            </p:extLst>
          </p:nvPr>
        </p:nvGraphicFramePr>
        <p:xfrm>
          <a:off x="1016000" y="3850956"/>
          <a:ext cx="28702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869920" imgH="647640" progId="Equation.DSMT4">
                  <p:embed/>
                </p:oleObj>
              </mc:Choice>
              <mc:Fallback>
                <p:oleObj name="Equation" r:id="rId15" imgW="2869920" imgH="64764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6000" y="3850956"/>
                        <a:ext cx="28702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0" name="直接箭头连接符 29"/>
          <p:cNvCxnSpPr/>
          <p:nvPr/>
        </p:nvCxnSpPr>
        <p:spPr>
          <a:xfrm flipH="1">
            <a:off x="3762375" y="2428875"/>
            <a:ext cx="457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 flipH="1">
            <a:off x="3648075" y="4030503"/>
            <a:ext cx="5715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3011084"/>
              </p:ext>
            </p:extLst>
          </p:nvPr>
        </p:nvGraphicFramePr>
        <p:xfrm>
          <a:off x="1031875" y="4873623"/>
          <a:ext cx="9779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977760" imgH="279360" progId="Equation.DSMT4">
                  <p:embed/>
                </p:oleObj>
              </mc:Choice>
              <mc:Fallback>
                <p:oleObj name="Equation" r:id="rId17" imgW="97776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031875" y="4873623"/>
                        <a:ext cx="9779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9853322"/>
              </p:ext>
            </p:extLst>
          </p:nvPr>
        </p:nvGraphicFramePr>
        <p:xfrm>
          <a:off x="4219575" y="5022849"/>
          <a:ext cx="1892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892160" imgH="279360" progId="Equation.DSMT4">
                  <p:embed/>
                </p:oleObj>
              </mc:Choice>
              <mc:Fallback>
                <p:oleObj name="Equation" r:id="rId19" imgW="1892160" imgH="279360" progId="Equation.DSMT4">
                  <p:embed/>
                  <p:pic>
                    <p:nvPicPr>
                      <p:cNvPr id="0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9575" y="5022849"/>
                        <a:ext cx="1892300" cy="279400"/>
                      </a:xfrm>
                      <a:prstGeom prst="rect">
                        <a:avLst/>
                      </a:prstGeom>
                      <a:solidFill>
                        <a:srgbClr val="E2F0D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652340"/>
              </p:ext>
            </p:extLst>
          </p:nvPr>
        </p:nvGraphicFramePr>
        <p:xfrm>
          <a:off x="1057275" y="5410199"/>
          <a:ext cx="2590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590560" imgH="482400" progId="Equation.DSMT4">
                  <p:embed/>
                </p:oleObj>
              </mc:Choice>
              <mc:Fallback>
                <p:oleObj name="Equation" r:id="rId21" imgW="2590560" imgH="482400" progId="Equation.DSMT4">
                  <p:embed/>
                  <p:pic>
                    <p:nvPicPr>
                      <p:cNvPr id="0" name="对象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7275" y="5410199"/>
                        <a:ext cx="2590800" cy="482600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8" name="直接箭头连接符 37"/>
          <p:cNvCxnSpPr/>
          <p:nvPr/>
        </p:nvCxnSpPr>
        <p:spPr>
          <a:xfrm flipH="1">
            <a:off x="3648075" y="5162549"/>
            <a:ext cx="4953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95024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12"/>
          <p:cNvSpPr txBox="1"/>
          <p:nvPr/>
        </p:nvSpPr>
        <p:spPr>
          <a:xfrm>
            <a:off x="1356474" y="197077"/>
            <a:ext cx="6062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Regular solution</a:t>
            </a:r>
          </a:p>
        </p:txBody>
      </p:sp>
      <p:pic>
        <p:nvPicPr>
          <p:cNvPr id="80901" name="Picture 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37427"/>
          <a:stretch/>
        </p:blipFill>
        <p:spPr bwMode="auto">
          <a:xfrm>
            <a:off x="4979157" y="803217"/>
            <a:ext cx="2678421" cy="12838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右箭头 11"/>
          <p:cNvSpPr/>
          <p:nvPr/>
        </p:nvSpPr>
        <p:spPr>
          <a:xfrm>
            <a:off x="2438400" y="4953000"/>
            <a:ext cx="752475" cy="352425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0857780"/>
              </p:ext>
            </p:extLst>
          </p:nvPr>
        </p:nvGraphicFramePr>
        <p:xfrm>
          <a:off x="395288" y="1239896"/>
          <a:ext cx="1833562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55600" imgH="761760" progId="Equation.DSMT4">
                  <p:embed/>
                </p:oleObj>
              </mc:Choice>
              <mc:Fallback>
                <p:oleObj name="Equation" r:id="rId3" imgW="1155600" imgH="761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5288" y="1239896"/>
                        <a:ext cx="1833562" cy="1209675"/>
                      </a:xfrm>
                      <a:prstGeom prst="rect">
                        <a:avLst/>
                      </a:prstGeom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1272580"/>
              </p:ext>
            </p:extLst>
          </p:nvPr>
        </p:nvGraphicFramePr>
        <p:xfrm>
          <a:off x="5327192" y="2087050"/>
          <a:ext cx="16129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15920" imgH="253800" progId="Equation.DSMT4">
                  <p:embed/>
                </p:oleObj>
              </mc:Choice>
              <mc:Fallback>
                <p:oleObj name="Equation" r:id="rId5" imgW="1015920" imgH="2538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7192" y="2087050"/>
                        <a:ext cx="1612900" cy="403225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377988"/>
              </p:ext>
            </p:extLst>
          </p:nvPr>
        </p:nvGraphicFramePr>
        <p:xfrm>
          <a:off x="752475" y="4646613"/>
          <a:ext cx="1208088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06360" imgH="965160" progId="Equation.DSMT4">
                  <p:embed/>
                </p:oleObj>
              </mc:Choice>
              <mc:Fallback>
                <p:oleObj name="Equation" r:id="rId7" imgW="1206360" imgH="96516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" y="4646613"/>
                        <a:ext cx="1208088" cy="965200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17381" y="4306669"/>
            <a:ext cx="52325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As X</a:t>
            </a:r>
            <a:r>
              <a:rPr lang="en-US" altLang="zh-CN" baseline="-25000" dirty="0"/>
              <a:t>A</a:t>
            </a:r>
            <a:r>
              <a:rPr lang="en-US" altLang="zh-CN" dirty="0"/>
              <a:t> </a:t>
            </a:r>
            <a:r>
              <a:rPr lang="en-US" altLang="zh-CN" dirty="0">
                <a:sym typeface="Wingdings" pitchFamily="2" charset="2"/>
              </a:rPr>
              <a:t> 1, </a:t>
            </a:r>
            <a:r>
              <a:rPr lang="el-GR" altLang="zh-CN" dirty="0">
                <a:sym typeface="Wingdings" pitchFamily="2" charset="2"/>
              </a:rPr>
              <a:t>γ</a:t>
            </a:r>
            <a:r>
              <a:rPr lang="en-US" altLang="zh-CN" baseline="-25000" dirty="0">
                <a:sym typeface="Wingdings" pitchFamily="2" charset="2"/>
              </a:rPr>
              <a:t>A </a:t>
            </a:r>
            <a:r>
              <a:rPr lang="en-US" altLang="zh-CN" dirty="0">
                <a:sym typeface="Wingdings" pitchFamily="2" charset="2"/>
              </a:rPr>
              <a:t>  1, </a:t>
            </a:r>
            <a:r>
              <a:rPr lang="en-US" altLang="zh-CN" dirty="0">
                <a:solidFill>
                  <a:srgbClr val="FF0000"/>
                </a:solidFill>
                <a:sym typeface="Wingdings" pitchFamily="2" charset="2"/>
              </a:rPr>
              <a:t>A</a:t>
            </a:r>
            <a:r>
              <a:rPr lang="en-US" altLang="zh-CN" dirty="0">
                <a:sym typeface="Wingdings" pitchFamily="2" charset="2"/>
              </a:rPr>
              <a:t> is a </a:t>
            </a:r>
            <a:r>
              <a:rPr lang="en-US" altLang="zh-CN" dirty="0" err="1">
                <a:sym typeface="Wingdings" pitchFamily="2" charset="2"/>
              </a:rPr>
              <a:t>Raoultian</a:t>
            </a:r>
            <a:r>
              <a:rPr lang="en-US" altLang="zh-CN" dirty="0">
                <a:sym typeface="Wingdings" pitchFamily="2" charset="2"/>
              </a:rPr>
              <a:t> solution </a:t>
            </a:r>
          </a:p>
          <a:p>
            <a:r>
              <a:rPr lang="en-US" altLang="zh-CN" dirty="0"/>
              <a:t>     X</a:t>
            </a:r>
            <a:r>
              <a:rPr lang="en-US" altLang="zh-CN" baseline="-25000" dirty="0"/>
              <a:t>B</a:t>
            </a:r>
            <a:r>
              <a:rPr lang="en-US" altLang="zh-CN" dirty="0"/>
              <a:t> </a:t>
            </a:r>
            <a:r>
              <a:rPr lang="en-US" altLang="zh-CN" dirty="0">
                <a:sym typeface="Wingdings" pitchFamily="2" charset="2"/>
              </a:rPr>
              <a:t> 0, </a:t>
            </a:r>
            <a:r>
              <a:rPr lang="el-GR" altLang="zh-CN" dirty="0">
                <a:sym typeface="Wingdings" pitchFamily="2" charset="2"/>
              </a:rPr>
              <a:t>γ</a:t>
            </a:r>
            <a:r>
              <a:rPr lang="en-US" altLang="zh-CN" baseline="-25000" dirty="0">
                <a:sym typeface="Wingdings" pitchFamily="2" charset="2"/>
              </a:rPr>
              <a:t>B </a:t>
            </a:r>
            <a:r>
              <a:rPr lang="en-US" altLang="zh-CN" dirty="0">
                <a:sym typeface="Wingdings" pitchFamily="2" charset="2"/>
              </a:rPr>
              <a:t>  const., </a:t>
            </a:r>
            <a:r>
              <a:rPr lang="en-US" altLang="zh-CN" dirty="0">
                <a:solidFill>
                  <a:srgbClr val="FF0000"/>
                </a:solidFill>
                <a:sym typeface="Wingdings" pitchFamily="2" charset="2"/>
              </a:rPr>
              <a:t>B</a:t>
            </a:r>
            <a:r>
              <a:rPr lang="en-US" altLang="zh-CN" dirty="0">
                <a:sym typeface="Wingdings" pitchFamily="2" charset="2"/>
              </a:rPr>
              <a:t> is a </a:t>
            </a:r>
            <a:r>
              <a:rPr lang="en-US" altLang="zh-CN" dirty="0" err="1">
                <a:sym typeface="Wingdings" pitchFamily="2" charset="2"/>
              </a:rPr>
              <a:t>Henrian</a:t>
            </a:r>
            <a:r>
              <a:rPr lang="en-US" altLang="zh-CN" dirty="0">
                <a:sym typeface="Wingdings" pitchFamily="2" charset="2"/>
              </a:rPr>
              <a:t> solution </a:t>
            </a:r>
            <a:endParaRPr lang="zh-CN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3517381" y="5251192"/>
            <a:ext cx="50958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As X</a:t>
            </a:r>
            <a:r>
              <a:rPr lang="en-US" altLang="zh-CN" baseline="-25000" dirty="0"/>
              <a:t>B</a:t>
            </a:r>
            <a:r>
              <a:rPr lang="en-US" altLang="zh-CN" dirty="0"/>
              <a:t> </a:t>
            </a:r>
            <a:r>
              <a:rPr lang="en-US" altLang="zh-CN" dirty="0">
                <a:sym typeface="Wingdings" pitchFamily="2" charset="2"/>
              </a:rPr>
              <a:t> 1, </a:t>
            </a:r>
            <a:r>
              <a:rPr lang="el-GR" altLang="zh-CN" dirty="0">
                <a:sym typeface="Wingdings" pitchFamily="2" charset="2"/>
              </a:rPr>
              <a:t>γ</a:t>
            </a:r>
            <a:r>
              <a:rPr lang="en-US" altLang="zh-CN" baseline="-25000" dirty="0">
                <a:sym typeface="Wingdings" pitchFamily="2" charset="2"/>
              </a:rPr>
              <a:t>B </a:t>
            </a:r>
            <a:r>
              <a:rPr lang="en-US" altLang="zh-CN" dirty="0">
                <a:sym typeface="Wingdings" pitchFamily="2" charset="2"/>
              </a:rPr>
              <a:t>  1, </a:t>
            </a:r>
            <a:r>
              <a:rPr lang="en-US" altLang="zh-CN" dirty="0">
                <a:solidFill>
                  <a:srgbClr val="FF0000"/>
                </a:solidFill>
                <a:sym typeface="Wingdings" pitchFamily="2" charset="2"/>
              </a:rPr>
              <a:t>B</a:t>
            </a:r>
            <a:r>
              <a:rPr lang="en-US" altLang="zh-CN" dirty="0">
                <a:sym typeface="Wingdings" pitchFamily="2" charset="2"/>
              </a:rPr>
              <a:t> is a </a:t>
            </a:r>
            <a:r>
              <a:rPr lang="en-US" altLang="zh-CN" dirty="0" err="1">
                <a:sym typeface="Wingdings" pitchFamily="2" charset="2"/>
              </a:rPr>
              <a:t>Raoultian</a:t>
            </a:r>
            <a:r>
              <a:rPr lang="en-US" altLang="zh-CN" dirty="0">
                <a:sym typeface="Wingdings" pitchFamily="2" charset="2"/>
              </a:rPr>
              <a:t> solution </a:t>
            </a:r>
          </a:p>
          <a:p>
            <a:r>
              <a:rPr lang="en-US" altLang="zh-CN" dirty="0"/>
              <a:t>     X</a:t>
            </a:r>
            <a:r>
              <a:rPr lang="en-US" altLang="zh-CN" baseline="-25000" dirty="0"/>
              <a:t>A</a:t>
            </a:r>
            <a:r>
              <a:rPr lang="en-US" altLang="zh-CN" dirty="0"/>
              <a:t> </a:t>
            </a:r>
            <a:r>
              <a:rPr lang="en-US" altLang="zh-CN" dirty="0">
                <a:sym typeface="Wingdings" pitchFamily="2" charset="2"/>
              </a:rPr>
              <a:t> 0, </a:t>
            </a:r>
            <a:r>
              <a:rPr lang="el-GR" altLang="zh-CN" dirty="0">
                <a:sym typeface="Wingdings" pitchFamily="2" charset="2"/>
              </a:rPr>
              <a:t>γ</a:t>
            </a:r>
            <a:r>
              <a:rPr lang="en-US" altLang="zh-CN" baseline="-25000" dirty="0">
                <a:sym typeface="Wingdings" pitchFamily="2" charset="2"/>
              </a:rPr>
              <a:t>A </a:t>
            </a:r>
            <a:r>
              <a:rPr lang="en-US" altLang="zh-CN" dirty="0">
                <a:sym typeface="Wingdings" pitchFamily="2" charset="2"/>
              </a:rPr>
              <a:t>  const., </a:t>
            </a:r>
            <a:r>
              <a:rPr lang="en-US" altLang="zh-CN" dirty="0">
                <a:solidFill>
                  <a:srgbClr val="FF0000"/>
                </a:solidFill>
                <a:sym typeface="Wingdings" pitchFamily="2" charset="2"/>
              </a:rPr>
              <a:t>A</a:t>
            </a:r>
            <a:r>
              <a:rPr lang="en-US" altLang="zh-CN" dirty="0">
                <a:sym typeface="Wingdings" pitchFamily="2" charset="2"/>
              </a:rPr>
              <a:t> is a </a:t>
            </a:r>
            <a:r>
              <a:rPr lang="en-US" altLang="zh-CN" dirty="0" err="1">
                <a:sym typeface="Wingdings" pitchFamily="2" charset="2"/>
              </a:rPr>
              <a:t>Henrian</a:t>
            </a:r>
            <a:r>
              <a:rPr lang="en-US" altLang="zh-CN" dirty="0">
                <a:sym typeface="Wingdings" pitchFamily="2" charset="2"/>
              </a:rPr>
              <a:t> solution </a:t>
            </a:r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8363" y="2631043"/>
            <a:ext cx="2010487" cy="7386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400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1400" i="1" baseline="-25000" dirty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en-US" altLang="zh-CN" sz="1400" i="1" dirty="0">
                <a:latin typeface="Times New Roman" pitchFamily="18" charset="0"/>
                <a:cs typeface="Times New Roman" pitchFamily="18" charset="0"/>
              </a:rPr>
              <a:t>activity</a:t>
            </a:r>
          </a:p>
          <a:p>
            <a:r>
              <a:rPr lang="el-GR" altLang="zh-CN" sz="1400" i="1" dirty="0">
                <a:latin typeface="Times New Roman" pitchFamily="18" charset="0"/>
                <a:cs typeface="Times New Roman" pitchFamily="18" charset="0"/>
              </a:rPr>
              <a:t>γ</a:t>
            </a:r>
            <a:r>
              <a:rPr lang="en-US" altLang="zh-CN" sz="1400" i="1" dirty="0">
                <a:latin typeface="Times New Roman" pitchFamily="18" charset="0"/>
                <a:cs typeface="Times New Roman" pitchFamily="18" charset="0"/>
              </a:rPr>
              <a:t>: coefficient of activity </a:t>
            </a:r>
          </a:p>
          <a:p>
            <a:r>
              <a:rPr lang="el-GR" altLang="zh-CN" sz="1400" i="1" dirty="0">
                <a:latin typeface="Times New Roman" pitchFamily="18" charset="0"/>
                <a:cs typeface="Times New Roman" pitchFamily="18" charset="0"/>
              </a:rPr>
              <a:t>Ω</a:t>
            </a:r>
            <a:r>
              <a:rPr lang="en-US" altLang="zh-CN" sz="1400" i="1" dirty="0">
                <a:latin typeface="Times New Roman" pitchFamily="18" charset="0"/>
                <a:cs typeface="Times New Roman" pitchFamily="18" charset="0"/>
              </a:rPr>
              <a:t>: interaction parameter</a:t>
            </a:r>
            <a:endParaRPr lang="zh-CN" alt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3292271"/>
              </p:ext>
            </p:extLst>
          </p:nvPr>
        </p:nvGraphicFramePr>
        <p:xfrm>
          <a:off x="2714625" y="2470705"/>
          <a:ext cx="1514475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43000" imgH="241200" progId="Equation.DSMT4">
                  <p:embed/>
                </p:oleObj>
              </mc:Choice>
              <mc:Fallback>
                <p:oleObj name="Equation" r:id="rId9" imgW="1143000" imgH="241200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25" y="2470705"/>
                        <a:ext cx="1514475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左右箭头 7"/>
          <p:cNvSpPr/>
          <p:nvPr/>
        </p:nvSpPr>
        <p:spPr>
          <a:xfrm>
            <a:off x="2714625" y="1602418"/>
            <a:ext cx="1216152" cy="4846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4979157" y="904875"/>
            <a:ext cx="2745618" cy="1857375"/>
          </a:xfrm>
          <a:prstGeom prst="roundRect">
            <a:avLst>
              <a:gd name="adj" fmla="val 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46240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968395" y="3541776"/>
            <a:ext cx="73597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华文楷体" panose="02010600040101010101" pitchFamily="2" charset="-122"/>
                <a:cs typeface="Times New Roman" panose="02020603050405020304" pitchFamily="18" charset="0"/>
              </a:rPr>
              <a:t>33. </a:t>
            </a:r>
            <a:r>
              <a:rPr lang="en-US" altLang="zh-CN" sz="2400" b="1" dirty="0">
                <a:solidFill>
                  <a:srgbClr val="FF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The </a:t>
            </a:r>
            <a:r>
              <a:rPr lang="en-US" altLang="zh-CN" sz="2400" b="1" dirty="0">
                <a:solidFill>
                  <a:srgbClr val="FF0000"/>
                </a:solidFill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Statistic explanation  of </a:t>
            </a:r>
            <a:r>
              <a:rPr lang="en-US" altLang="zh-CN" sz="2400" b="1" dirty="0">
                <a:solidFill>
                  <a:srgbClr val="FF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regular solutions</a:t>
            </a:r>
          </a:p>
        </p:txBody>
      </p:sp>
      <p:sp>
        <p:nvSpPr>
          <p:cNvPr id="6" name="矩形 5"/>
          <p:cNvSpPr/>
          <p:nvPr/>
        </p:nvSpPr>
        <p:spPr>
          <a:xfrm>
            <a:off x="1004971" y="4357223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Ref.  Introduction of Thermodynamics of Materials, D. R. Gaskell, Chapter 8 </a:t>
            </a:r>
          </a:p>
        </p:txBody>
      </p:sp>
    </p:spTree>
    <p:extLst>
      <p:ext uri="{BB962C8B-B14F-4D97-AF65-F5344CB8AC3E}">
        <p14:creationId xmlns:p14="http://schemas.microsoft.com/office/powerpoint/2010/main" val="19785872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347470" y="264795"/>
            <a:ext cx="6062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Statistics Model of Solutions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52170" y="2934415"/>
            <a:ext cx="7690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Consider 1 mole of a mixed crystal </a:t>
            </a:r>
          </a:p>
          <a:p>
            <a:r>
              <a:rPr lang="en-US" altLang="zh-CN" dirty="0">
                <a:solidFill>
                  <a:srgbClr val="0000FF"/>
                </a:solidFill>
              </a:rPr>
              <a:t>containing N</a:t>
            </a:r>
            <a:r>
              <a:rPr lang="en-US" altLang="zh-CN" baseline="-25000" dirty="0">
                <a:solidFill>
                  <a:srgbClr val="0000FF"/>
                </a:solidFill>
              </a:rPr>
              <a:t>A</a:t>
            </a:r>
            <a:r>
              <a:rPr lang="en-US" altLang="zh-CN" dirty="0">
                <a:solidFill>
                  <a:srgbClr val="0000FF"/>
                </a:solidFill>
              </a:rPr>
              <a:t> atoms of A and N</a:t>
            </a:r>
            <a:r>
              <a:rPr lang="en-US" altLang="zh-CN" baseline="-25000" dirty="0">
                <a:solidFill>
                  <a:srgbClr val="0000FF"/>
                </a:solidFill>
              </a:rPr>
              <a:t>B</a:t>
            </a:r>
            <a:r>
              <a:rPr lang="en-US" altLang="zh-CN" dirty="0">
                <a:solidFill>
                  <a:srgbClr val="0000FF"/>
                </a:solidFill>
              </a:rPr>
              <a:t> atoms of B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738" y="3580746"/>
            <a:ext cx="5166995" cy="105664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924048" y="4780497"/>
            <a:ext cx="4504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Three types of atomic bond in the crystal: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zh-CN" sz="1400" dirty="0"/>
              <a:t>A-A bonds, the energy of each of which is E</a:t>
            </a:r>
            <a:r>
              <a:rPr lang="en-US" altLang="zh-CN" sz="1400" baseline="-25000" dirty="0"/>
              <a:t>AA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zh-CN" sz="1400" dirty="0"/>
              <a:t>A-B bonds, the energy of each of which is E</a:t>
            </a:r>
            <a:r>
              <a:rPr lang="en-US" altLang="zh-CN" sz="1400" baseline="-25000" dirty="0"/>
              <a:t>AB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zh-CN" sz="1400" dirty="0"/>
              <a:t>B-B bonds, the energy of each of which is E</a:t>
            </a:r>
            <a:r>
              <a:rPr lang="en-US" altLang="zh-CN" sz="1400" baseline="-25000" dirty="0"/>
              <a:t>BB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776095" y="902255"/>
            <a:ext cx="4255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Bragg-William-</a:t>
            </a:r>
            <a:r>
              <a:rPr lang="en-US" altLang="zh-CN" dirty="0" err="1"/>
              <a:t>Gorski</a:t>
            </a:r>
            <a:r>
              <a:rPr lang="en-US" altLang="zh-CN" dirty="0"/>
              <a:t> (B-W-G model)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776095" y="1679555"/>
            <a:ext cx="6558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Nearest neighbor assumption</a:t>
            </a:r>
            <a:r>
              <a:rPr lang="en-US" altLang="zh-CN" dirty="0"/>
              <a:t>: only the interaction between the nearest neighbors are considered  </a:t>
            </a:r>
          </a:p>
          <a:p>
            <a:r>
              <a:rPr lang="en-US" altLang="zh-CN" b="1" dirty="0"/>
              <a:t>Random distribution</a:t>
            </a:r>
            <a:r>
              <a:rPr lang="en-US" altLang="zh-CN" dirty="0"/>
              <a:t>: The atom A and B in the given lattice are totally random distribution: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852170" y="1406009"/>
            <a:ext cx="28135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</a:rPr>
              <a:t>Important assumptions:</a:t>
            </a:r>
          </a:p>
        </p:txBody>
      </p:sp>
    </p:spTree>
    <p:extLst>
      <p:ext uri="{BB962C8B-B14F-4D97-AF65-F5344CB8AC3E}">
        <p14:creationId xmlns:p14="http://schemas.microsoft.com/office/powerpoint/2010/main" val="35132900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188085" y="62865"/>
            <a:ext cx="606298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3200" dirty="0">
              <a:solidFill>
                <a:srgbClr val="FF0000"/>
              </a:solidFill>
              <a:effectLst/>
              <a:latin typeface="Arial" panose="020B0604020202020204" pitchFamily="34" charset="0"/>
              <a:ea typeface="Arial Unicode MS" panose="020B0604020202020204" charset="-122"/>
              <a:cs typeface="Arial" panose="020B0604020202020204" pitchFamily="34" charset="0"/>
              <a:sym typeface="+mn-ea"/>
            </a:endParaRPr>
          </a:p>
          <a:p>
            <a:r>
              <a:rPr lang="en-US" altLang="zh-CN" sz="32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Statistics Model of Solutions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96265" y="1557655"/>
            <a:ext cx="76333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In the crystal, there are P</a:t>
            </a:r>
            <a:r>
              <a:rPr lang="en-US" altLang="zh-CN" baseline="-25000"/>
              <a:t>AA</a:t>
            </a:r>
            <a:r>
              <a:rPr lang="en-US" altLang="zh-CN"/>
              <a:t> A-A bonds, P</a:t>
            </a:r>
            <a:r>
              <a:rPr lang="en-US" altLang="zh-CN" baseline="-25000"/>
              <a:t>BB</a:t>
            </a:r>
            <a:r>
              <a:rPr lang="en-US" altLang="zh-CN"/>
              <a:t> B-B bonds are P</a:t>
            </a:r>
            <a:r>
              <a:rPr lang="en-US" altLang="zh-CN" baseline="-25000"/>
              <a:t>AB</a:t>
            </a:r>
            <a:r>
              <a:rPr lang="en-US" altLang="zh-CN"/>
              <a:t> A-B bonds,the total energy of the crystal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2286174"/>
            <a:ext cx="4037965" cy="609426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55002" y="2976245"/>
            <a:ext cx="75158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Let's say each atom has </a:t>
            </a:r>
            <a:r>
              <a:rPr lang="en-US" altLang="zh-CN" b="1" dirty="0">
                <a:solidFill>
                  <a:srgbClr val="0000FF"/>
                </a:solidFill>
              </a:rPr>
              <a:t>z nearest neighbors</a:t>
            </a:r>
            <a:r>
              <a:rPr lang="en-US" altLang="zh-CN" dirty="0"/>
              <a:t>,</a:t>
            </a:r>
          </a:p>
          <a:p>
            <a:r>
              <a:rPr lang="en-US" altLang="zh-CN" dirty="0"/>
              <a:t>total number of bond to A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102" y="3730625"/>
            <a:ext cx="5554498" cy="2606053"/>
          </a:xfrm>
          <a:prstGeom prst="rect">
            <a:avLst/>
          </a:prstGeom>
        </p:spPr>
      </p:pic>
      <p:sp>
        <p:nvSpPr>
          <p:cNvPr id="3" name="任意多边形 2"/>
          <p:cNvSpPr/>
          <p:nvPr/>
        </p:nvSpPr>
        <p:spPr>
          <a:xfrm>
            <a:off x="3443844" y="4001984"/>
            <a:ext cx="2315688" cy="356260"/>
          </a:xfrm>
          <a:custGeom>
            <a:avLst/>
            <a:gdLst>
              <a:gd name="connsiteX0" fmla="*/ 0 w 2315688"/>
              <a:gd name="connsiteY0" fmla="*/ 0 h 356260"/>
              <a:gd name="connsiteX1" fmla="*/ 1128156 w 2315688"/>
              <a:gd name="connsiteY1" fmla="*/ 356260 h 356260"/>
              <a:gd name="connsiteX2" fmla="*/ 2315688 w 2315688"/>
              <a:gd name="connsiteY2" fmla="*/ 344385 h 356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15688" h="356260">
                <a:moveTo>
                  <a:pt x="0" y="0"/>
                </a:moveTo>
                <a:lnTo>
                  <a:pt x="1128156" y="356260"/>
                </a:lnTo>
                <a:lnTo>
                  <a:pt x="2315688" y="344385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720040" y="3678818"/>
            <a:ext cx="3354745" cy="92333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The factor 2 arises because of each A-A bound involve two A atoms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80711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226185" y="-201930"/>
            <a:ext cx="606298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3200" dirty="0">
              <a:solidFill>
                <a:srgbClr val="FF0000"/>
              </a:solidFill>
              <a:effectLst/>
              <a:latin typeface="Arial" panose="020B0604020202020204" pitchFamily="34" charset="0"/>
              <a:ea typeface="Arial Unicode MS" panose="020B0604020202020204" charset="-122"/>
              <a:cs typeface="Arial" panose="020B0604020202020204" pitchFamily="34" charset="0"/>
              <a:sym typeface="+mn-ea"/>
            </a:endParaRPr>
          </a:p>
          <a:p>
            <a:r>
              <a:rPr lang="en-US" altLang="zh-CN" sz="32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Statistics Model of Solutions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86740" y="1281521"/>
            <a:ext cx="81394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Consider a pure crystal containing N</a:t>
            </a:r>
            <a:r>
              <a:rPr lang="en-US" altLang="zh-CN" baseline="-25000" dirty="0"/>
              <a:t>A</a:t>
            </a:r>
            <a:r>
              <a:rPr lang="en-US" altLang="zh-CN" dirty="0"/>
              <a:t> A, and each A has </a:t>
            </a:r>
            <a:r>
              <a:rPr lang="en-US" altLang="zh-CN" b="1" dirty="0">
                <a:solidFill>
                  <a:srgbClr val="0000FF"/>
                </a:solidFill>
              </a:rPr>
              <a:t>z nearest neighbors</a:t>
            </a:r>
            <a:r>
              <a:rPr lang="en-US" altLang="zh-CN" dirty="0"/>
              <a:t>, The total bonds to A</a:t>
            </a:r>
          </a:p>
        </p:txBody>
      </p:sp>
      <p:pic>
        <p:nvPicPr>
          <p:cNvPr id="952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320" y="1803400"/>
            <a:ext cx="7796530" cy="4386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B6A8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73737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8F8F8"/>
                  </a:outerShdw>
                </a:effectLst>
              </a14:hiddenEffects>
            </a:ext>
          </a:extLst>
        </p:spPr>
      </p:pic>
      <p:sp>
        <p:nvSpPr>
          <p:cNvPr id="165" name=" 165"/>
          <p:cNvSpPr/>
          <p:nvPr/>
        </p:nvSpPr>
        <p:spPr>
          <a:xfrm>
            <a:off x="655955" y="1929130"/>
            <a:ext cx="80010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80371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252221" y="319057"/>
            <a:ext cx="6062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Statistics Model of Solutions</a:t>
            </a:r>
          </a:p>
        </p:txBody>
      </p:sp>
      <p:pic>
        <p:nvPicPr>
          <p:cNvPr id="9625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638"/>
          <a:stretch/>
        </p:blipFill>
        <p:spPr bwMode="auto">
          <a:xfrm>
            <a:off x="534377" y="1299861"/>
            <a:ext cx="6400800" cy="1962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任意多边形 1"/>
          <p:cNvSpPr/>
          <p:nvPr/>
        </p:nvSpPr>
        <p:spPr>
          <a:xfrm>
            <a:off x="4103266" y="1366962"/>
            <a:ext cx="2743200" cy="232012"/>
          </a:xfrm>
          <a:custGeom>
            <a:avLst/>
            <a:gdLst>
              <a:gd name="connsiteX0" fmla="*/ 0 w 2743200"/>
              <a:gd name="connsiteY0" fmla="*/ 232012 h 232012"/>
              <a:gd name="connsiteX1" fmla="*/ 395785 w 2743200"/>
              <a:gd name="connsiteY1" fmla="*/ 0 h 232012"/>
              <a:gd name="connsiteX2" fmla="*/ 2743200 w 2743200"/>
              <a:gd name="connsiteY2" fmla="*/ 0 h 232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43200" h="232012">
                <a:moveTo>
                  <a:pt x="0" y="232012"/>
                </a:moveTo>
                <a:lnTo>
                  <a:pt x="395785" y="0"/>
                </a:lnTo>
                <a:lnTo>
                  <a:pt x="2743200" y="0"/>
                </a:ln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7056788" y="1182296"/>
            <a:ext cx="1223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P: Pressure</a:t>
            </a:r>
            <a:endParaRPr lang="zh-CN" altLang="en-US" i="1" dirty="0"/>
          </a:p>
        </p:txBody>
      </p:sp>
      <p:sp>
        <p:nvSpPr>
          <p:cNvPr id="10" name="右箭头 9"/>
          <p:cNvSpPr/>
          <p:nvPr/>
        </p:nvSpPr>
        <p:spPr>
          <a:xfrm>
            <a:off x="4408513" y="2900834"/>
            <a:ext cx="497839" cy="184666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103391" y="2796058"/>
            <a:ext cx="2030620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dirty="0" err="1"/>
              <a:t>Raoultian</a:t>
            </a:r>
            <a:r>
              <a:rPr lang="en-US" altLang="zh-CN" dirty="0"/>
              <a:t> behavior</a:t>
            </a:r>
            <a:endParaRPr lang="zh-CN" altLang="en-US" dirty="0"/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6942152" y="4014516"/>
            <a:ext cx="0" cy="1781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6942152" y="4338295"/>
            <a:ext cx="15524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622271" y="415362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935177" y="3847459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E</a:t>
            </a:r>
            <a:endParaRPr lang="zh-CN" altLang="en-US" i="1" dirty="0"/>
          </a:p>
        </p:txBody>
      </p:sp>
      <p:cxnSp>
        <p:nvCxnSpPr>
          <p:cNvPr id="14" name="直接连接符 13"/>
          <p:cNvCxnSpPr/>
          <p:nvPr/>
        </p:nvCxnSpPr>
        <p:spPr>
          <a:xfrm>
            <a:off x="6935177" y="4905068"/>
            <a:ext cx="3385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40573" y="5069175"/>
            <a:ext cx="914033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(E</a:t>
            </a:r>
            <a:r>
              <a:rPr lang="en-US" altLang="zh-CN" sz="1100" baseline="-25000" dirty="0"/>
              <a:t>AA +</a:t>
            </a:r>
            <a:r>
              <a:rPr lang="en-US" altLang="zh-CN" sz="1100" dirty="0"/>
              <a:t>E</a:t>
            </a:r>
            <a:r>
              <a:rPr lang="en-US" altLang="zh-CN" sz="1100" baseline="-25000" dirty="0"/>
              <a:t>BB</a:t>
            </a:r>
            <a:r>
              <a:rPr lang="en-US" altLang="zh-CN" sz="1100" dirty="0"/>
              <a:t>)/2</a:t>
            </a:r>
            <a:endParaRPr lang="zh-CN" altLang="en-US" sz="1100" dirty="0"/>
          </a:p>
        </p:txBody>
      </p:sp>
      <p:cxnSp>
        <p:nvCxnSpPr>
          <p:cNvPr id="17" name="直接连接符 16"/>
          <p:cNvCxnSpPr/>
          <p:nvPr/>
        </p:nvCxnSpPr>
        <p:spPr>
          <a:xfrm>
            <a:off x="7554051" y="4685993"/>
            <a:ext cx="3385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512754" y="4419293"/>
            <a:ext cx="4651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>
                <a:solidFill>
                  <a:srgbClr val="FF0000"/>
                </a:solidFill>
              </a:rPr>
              <a:t>E</a:t>
            </a:r>
            <a:r>
              <a:rPr lang="en-US" altLang="zh-CN" sz="1400" i="1" baseline="-25000" dirty="0">
                <a:solidFill>
                  <a:srgbClr val="FF0000"/>
                </a:solidFill>
              </a:rPr>
              <a:t>AB</a:t>
            </a:r>
            <a:endParaRPr lang="zh-CN" altLang="en-US" sz="1400" i="1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56493" y="4419293"/>
            <a:ext cx="75052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Positive </a:t>
            </a:r>
          </a:p>
          <a:p>
            <a:r>
              <a:rPr lang="en-US" altLang="zh-CN" sz="1100" dirty="0"/>
              <a:t>deviation</a:t>
            </a:r>
            <a:endParaRPr lang="zh-CN" altLang="en-US" sz="1100" dirty="0"/>
          </a:p>
        </p:txBody>
      </p:sp>
      <p:cxnSp>
        <p:nvCxnSpPr>
          <p:cNvPr id="20" name="直接连接符 19"/>
          <p:cNvCxnSpPr/>
          <p:nvPr/>
        </p:nvCxnSpPr>
        <p:spPr>
          <a:xfrm>
            <a:off x="7706451" y="5657543"/>
            <a:ext cx="3385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665154" y="5390843"/>
            <a:ext cx="4651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>
                <a:solidFill>
                  <a:srgbClr val="FF0000"/>
                </a:solidFill>
              </a:rPr>
              <a:t>E</a:t>
            </a:r>
            <a:r>
              <a:rPr lang="en-US" altLang="zh-CN" sz="1400" i="1" baseline="-25000" dirty="0">
                <a:solidFill>
                  <a:srgbClr val="FF0000"/>
                </a:solidFill>
              </a:rPr>
              <a:t>AB</a:t>
            </a:r>
            <a:endParaRPr lang="zh-CN" altLang="en-US" sz="1400" i="1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01317" y="5338560"/>
            <a:ext cx="75052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Negative</a:t>
            </a:r>
          </a:p>
          <a:p>
            <a:r>
              <a:rPr lang="en-US" altLang="zh-CN" sz="1100" dirty="0"/>
              <a:t>deviation</a:t>
            </a:r>
            <a:endParaRPr lang="zh-CN" altLang="en-US" sz="1100" dirty="0"/>
          </a:p>
        </p:txBody>
      </p:sp>
      <p:sp>
        <p:nvSpPr>
          <p:cNvPr id="19" name="圆角矩形 18"/>
          <p:cNvSpPr/>
          <p:nvPr/>
        </p:nvSpPr>
        <p:spPr>
          <a:xfrm>
            <a:off x="6540573" y="3847459"/>
            <a:ext cx="2411270" cy="2272011"/>
          </a:xfrm>
          <a:prstGeom prst="roundRect">
            <a:avLst>
              <a:gd name="adj" fmla="val 736"/>
            </a:avLst>
          </a:prstGeom>
          <a:noFill/>
          <a:ln w="28575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6" t="46340" r="-1386" b="-294"/>
          <a:stretch/>
        </p:blipFill>
        <p:spPr bwMode="auto">
          <a:xfrm>
            <a:off x="0" y="3717842"/>
            <a:ext cx="6400800" cy="22352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58607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971550" y="23782"/>
            <a:ext cx="6062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Statistics Model of Solutions</a:t>
            </a:r>
          </a:p>
        </p:txBody>
      </p:sp>
      <p:graphicFrame>
        <p:nvGraphicFramePr>
          <p:cNvPr id="10" name="对象 9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8298018"/>
              </p:ext>
            </p:extLst>
          </p:nvPr>
        </p:nvGraphicFramePr>
        <p:xfrm>
          <a:off x="1374140" y="1417955"/>
          <a:ext cx="1024676" cy="341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09600" imgH="203200" progId="Equation.KSEE3">
                  <p:embed/>
                </p:oleObj>
              </mc:Choice>
              <mc:Fallback>
                <p:oleObj r:id="rId2" imgW="609600" imgH="2032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74140" y="1417955"/>
                        <a:ext cx="1024676" cy="3417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232025" y="1802130"/>
          <a:ext cx="3635375" cy="339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451100" imgH="228600" progId="Equation.KSEE3">
                  <p:embed/>
                </p:oleObj>
              </mc:Choice>
              <mc:Fallback>
                <p:oleObj r:id="rId4" imgW="2451100" imgH="2286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32025" y="1802130"/>
                        <a:ext cx="3635375" cy="3390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693420" y="1433830"/>
            <a:ext cx="8661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If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98475" y="2308860"/>
            <a:ext cx="7959725" cy="368300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 In a solution which exhibits small deviations from ideal behavior </a:t>
            </a:r>
          </a:p>
        </p:txBody>
      </p:sp>
      <p:graphicFrame>
        <p:nvGraphicFramePr>
          <p:cNvPr id="15" name="对象 14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7167070"/>
              </p:ext>
            </p:extLst>
          </p:nvPr>
        </p:nvGraphicFramePr>
        <p:xfrm>
          <a:off x="1528445" y="2677160"/>
          <a:ext cx="1236345" cy="446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774065" imgH="279400" progId="Equation.KSEE3">
                  <p:embed/>
                </p:oleObj>
              </mc:Choice>
              <mc:Fallback>
                <p:oleObj r:id="rId6" imgW="774065" imgH="2794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28445" y="2677160"/>
                        <a:ext cx="1236345" cy="4464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2908935" y="2712085"/>
            <a:ext cx="4939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We can calculate P</a:t>
            </a:r>
            <a:r>
              <a:rPr lang="en-US" altLang="zh-CN" baseline="-25000" dirty="0"/>
              <a:t>AB</a:t>
            </a:r>
            <a:r>
              <a:rPr lang="en-US" altLang="zh-CN" dirty="0"/>
              <a:t> as follows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971550" y="3276600"/>
            <a:ext cx="6648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Consider two sites in the crystal:1 and 2.</a:t>
            </a:r>
          </a:p>
          <a:p>
            <a:r>
              <a:rPr lang="en-US" altLang="zh-CN" dirty="0"/>
              <a:t>             The probability of 1 is occupied by A is X</a:t>
            </a:r>
            <a:r>
              <a:rPr lang="en-US" altLang="zh-CN" baseline="-25000" dirty="0"/>
              <a:t>A</a:t>
            </a:r>
            <a:r>
              <a:rPr lang="en-US" altLang="zh-CN" dirty="0"/>
              <a:t>. </a:t>
            </a:r>
          </a:p>
          <a:p>
            <a:r>
              <a:rPr lang="en-US" altLang="zh-CN" dirty="0"/>
              <a:t>Similarly, the probability of 2 occupied by B is X</a:t>
            </a:r>
            <a:r>
              <a:rPr lang="en-US" altLang="zh-CN" baseline="-25000" dirty="0"/>
              <a:t>B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533400" y="4432300"/>
            <a:ext cx="46568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So the probability of form A-B pair is 2X</a:t>
            </a:r>
            <a:r>
              <a:rPr lang="en-US" altLang="zh-CN" baseline="-25000" dirty="0"/>
              <a:t>A</a:t>
            </a:r>
            <a:r>
              <a:rPr lang="en-US" altLang="zh-CN" dirty="0"/>
              <a:t>X</a:t>
            </a:r>
            <a:r>
              <a:rPr lang="en-US" altLang="zh-CN" baseline="-25000" dirty="0"/>
              <a:t>B</a:t>
            </a:r>
          </a:p>
          <a:p>
            <a:r>
              <a:rPr lang="en-US" altLang="zh-CN" dirty="0"/>
              <a:t>     the probability of form A-A pair is X</a:t>
            </a:r>
            <a:r>
              <a:rPr lang="en-US" altLang="zh-CN" baseline="-25000" dirty="0"/>
              <a:t>A</a:t>
            </a:r>
            <a:r>
              <a:rPr lang="en-US" altLang="zh-CN" baseline="30000" dirty="0"/>
              <a:t>2</a:t>
            </a:r>
            <a:endParaRPr lang="en-US" altLang="zh-CN" baseline="-25000" dirty="0"/>
          </a:p>
          <a:p>
            <a:r>
              <a:rPr lang="en-US" altLang="zh-CN" baseline="-25000" dirty="0"/>
              <a:t>        </a:t>
            </a:r>
            <a:r>
              <a:rPr lang="en-US" altLang="zh-CN" dirty="0"/>
              <a:t>the probability of form B-B pair is X</a:t>
            </a:r>
            <a:r>
              <a:rPr lang="en-US" altLang="zh-CN" baseline="-25000" dirty="0"/>
              <a:t>B</a:t>
            </a:r>
            <a:r>
              <a:rPr lang="en-US" altLang="zh-CN" baseline="30000" dirty="0"/>
              <a:t>2</a:t>
            </a:r>
            <a:endParaRPr lang="en-US" altLang="zh-CN" baseline="-25000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4935161"/>
              </p:ext>
            </p:extLst>
          </p:nvPr>
        </p:nvGraphicFramePr>
        <p:xfrm>
          <a:off x="5353037" y="4650432"/>
          <a:ext cx="2563500" cy="487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69720" imgH="241200" progId="Equation.DSMT4">
                  <p:embed/>
                </p:oleObj>
              </mc:Choice>
              <mc:Fallback>
                <p:oleObj name="Equation" r:id="rId8" imgW="126972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353037" y="4650432"/>
                        <a:ext cx="2563500" cy="487065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720316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764427" y="159242"/>
            <a:ext cx="6062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Statistics Model of Solutions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705644" y="2730500"/>
            <a:ext cx="561895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There are 1/2zN</a:t>
            </a:r>
            <a:r>
              <a:rPr lang="en-US" altLang="zh-CN" baseline="-25000" dirty="0"/>
              <a:t>o</a:t>
            </a:r>
            <a:r>
              <a:rPr lang="en-US" altLang="zh-CN" dirty="0"/>
              <a:t> pairs in 1mole of the crystal.</a:t>
            </a:r>
          </a:p>
        </p:txBody>
      </p:sp>
      <p:pic>
        <p:nvPicPr>
          <p:cNvPr id="12" name="Picture 16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644" y="3543299"/>
            <a:ext cx="3332956" cy="80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16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211210"/>
            <a:ext cx="1794670" cy="67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22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86"/>
          <a:stretch/>
        </p:blipFill>
        <p:spPr bwMode="auto">
          <a:xfrm>
            <a:off x="567233" y="4885898"/>
            <a:ext cx="5387248" cy="1057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2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7563" y="1256522"/>
            <a:ext cx="3095625" cy="552450"/>
          </a:xfrm>
          <a:prstGeom prst="rect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文本框 13"/>
          <p:cNvSpPr txBox="1"/>
          <p:nvPr/>
        </p:nvSpPr>
        <p:spPr>
          <a:xfrm>
            <a:off x="170759" y="2114550"/>
            <a:ext cx="7306366" cy="3683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 In a solution which exhibits small deviations from ideal behavior </a:t>
            </a:r>
          </a:p>
        </p:txBody>
      </p:sp>
      <p:sp>
        <p:nvSpPr>
          <p:cNvPr id="2" name="矩形 1"/>
          <p:cNvSpPr/>
          <p:nvPr/>
        </p:nvSpPr>
        <p:spPr>
          <a:xfrm>
            <a:off x="896107" y="5947290"/>
            <a:ext cx="70070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</a:rPr>
              <a:t>Z: the number of nearest neighbors, or coordination number </a:t>
            </a:r>
            <a:endParaRPr lang="zh-CN" altLang="en-US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2978519"/>
              </p:ext>
            </p:extLst>
          </p:nvPr>
        </p:nvGraphicFramePr>
        <p:xfrm>
          <a:off x="1165357" y="3149599"/>
          <a:ext cx="2095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95200" imgH="393480" progId="Equation.DSMT4">
                  <p:embed/>
                </p:oleObj>
              </mc:Choice>
              <mc:Fallback>
                <p:oleObj name="Equation" r:id="rId6" imgW="2095200" imgH="39348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5357" y="3149599"/>
                        <a:ext cx="2095500" cy="393700"/>
                      </a:xfrm>
                      <a:prstGeom prst="rect">
                        <a:avLst/>
                      </a:prstGeom>
                      <a:solidFill>
                        <a:srgbClr val="FBE5D6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292724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692910" y="215265"/>
            <a:ext cx="6062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Statistics Model of Solutions</a:t>
            </a:r>
          </a:p>
        </p:txBody>
      </p:sp>
      <p:sp>
        <p:nvSpPr>
          <p:cNvPr id="11" name="文本框 13"/>
          <p:cNvSpPr txBox="1"/>
          <p:nvPr/>
        </p:nvSpPr>
        <p:spPr>
          <a:xfrm>
            <a:off x="871911" y="1049369"/>
            <a:ext cx="6883979" cy="3683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 In a solution which exhibits small deviations from ideal behavior </a:t>
            </a:r>
          </a:p>
        </p:txBody>
      </p:sp>
      <p:sp>
        <p:nvSpPr>
          <p:cNvPr id="12" name="矩形 11"/>
          <p:cNvSpPr/>
          <p:nvPr/>
        </p:nvSpPr>
        <p:spPr>
          <a:xfrm>
            <a:off x="6975774" y="2151579"/>
            <a:ext cx="20422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activity coefficients </a:t>
            </a:r>
            <a:endParaRPr lang="zh-CN" altLang="en-US" dirty="0"/>
          </a:p>
        </p:txBody>
      </p:sp>
      <p:pic>
        <p:nvPicPr>
          <p:cNvPr id="14" name="对象 1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5257" y="2527015"/>
            <a:ext cx="1023367" cy="410030"/>
          </a:xfrm>
          <a:prstGeom prst="rect">
            <a:avLst/>
          </a:prstGeom>
          <a:noFill/>
          <a:ln w="9525">
            <a:noFill/>
            <a:prstDash val="sys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9914720"/>
              </p:ext>
            </p:extLst>
          </p:nvPr>
        </p:nvGraphicFramePr>
        <p:xfrm>
          <a:off x="7008813" y="3395663"/>
          <a:ext cx="1916112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3000" imgH="241200" progId="Equation.DSMT4">
                  <p:embed/>
                </p:oleObj>
              </mc:Choice>
              <mc:Fallback>
                <p:oleObj name="Equation" r:id="rId3" imgW="11430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8813" y="3395663"/>
                        <a:ext cx="1916112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7029815" y="3026965"/>
            <a:ext cx="1740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Regular solution</a:t>
            </a:r>
            <a:endParaRPr lang="zh-CN" altLang="en-US" dirty="0"/>
          </a:p>
        </p:txBody>
      </p:sp>
      <p:sp>
        <p:nvSpPr>
          <p:cNvPr id="17" name="圆角矩形 16"/>
          <p:cNvSpPr/>
          <p:nvPr/>
        </p:nvSpPr>
        <p:spPr>
          <a:xfrm>
            <a:off x="6934200" y="1828800"/>
            <a:ext cx="2083800" cy="2286000"/>
          </a:xfrm>
          <a:prstGeom prst="roundRect">
            <a:avLst>
              <a:gd name="adj" fmla="val 5839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86"/>
          <a:stretch/>
        </p:blipFill>
        <p:spPr bwMode="auto">
          <a:xfrm>
            <a:off x="574459" y="1828800"/>
            <a:ext cx="4666707" cy="916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5453122"/>
              </p:ext>
            </p:extLst>
          </p:nvPr>
        </p:nvGraphicFramePr>
        <p:xfrm>
          <a:off x="6994525" y="4281488"/>
          <a:ext cx="1812925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3000" imgH="761760" progId="Equation.DSMT4">
                  <p:embed/>
                </p:oleObj>
              </mc:Choice>
              <mc:Fallback>
                <p:oleObj name="Equation" r:id="rId6" imgW="1143000" imgH="76176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4525" y="4281488"/>
                        <a:ext cx="1812925" cy="120967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  <a:prstDash val="sysDash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0380873"/>
              </p:ext>
            </p:extLst>
          </p:nvPr>
        </p:nvGraphicFramePr>
        <p:xfrm>
          <a:off x="798513" y="2744788"/>
          <a:ext cx="165735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43000" imgH="241200" progId="Equation.DSMT4">
                  <p:embed/>
                </p:oleObj>
              </mc:Choice>
              <mc:Fallback>
                <p:oleObj name="Equation" r:id="rId8" imgW="11430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98513" y="2744788"/>
                        <a:ext cx="1657350" cy="350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8011288"/>
              </p:ext>
            </p:extLst>
          </p:nvPr>
        </p:nvGraphicFramePr>
        <p:xfrm>
          <a:off x="765175" y="3290888"/>
          <a:ext cx="3440113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31840" imgH="431640" progId="Equation.DSMT4">
                  <p:embed/>
                </p:oleObj>
              </mc:Choice>
              <mc:Fallback>
                <p:oleObj name="Equation" r:id="rId10" imgW="20318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65175" y="3290888"/>
                        <a:ext cx="3440113" cy="731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8328206"/>
              </p:ext>
            </p:extLst>
          </p:nvPr>
        </p:nvGraphicFramePr>
        <p:xfrm>
          <a:off x="871912" y="4352925"/>
          <a:ext cx="3157164" cy="482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63560" imgH="253800" progId="Equation.DSMT4">
                  <p:embed/>
                </p:oleObj>
              </mc:Choice>
              <mc:Fallback>
                <p:oleObj name="Equation" r:id="rId12" imgW="16635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71912" y="4352925"/>
                        <a:ext cx="3157164" cy="4820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7659953"/>
              </p:ext>
            </p:extLst>
          </p:nvPr>
        </p:nvGraphicFramePr>
        <p:xfrm>
          <a:off x="752475" y="4887913"/>
          <a:ext cx="18796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39600" imgH="507960" progId="Equation.DSMT4">
                  <p:embed/>
                </p:oleObj>
              </mc:Choice>
              <mc:Fallback>
                <p:oleObj name="Equation" r:id="rId14" imgW="93960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52475" y="4887913"/>
                        <a:ext cx="1879600" cy="101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707912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283335" y="150495"/>
            <a:ext cx="6062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Statistics Model of Solutions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5297773"/>
              </p:ext>
            </p:extLst>
          </p:nvPr>
        </p:nvGraphicFramePr>
        <p:xfrm>
          <a:off x="966788" y="1701906"/>
          <a:ext cx="1906588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04760" imgH="965160" progId="Equation.DSMT4">
                  <p:embed/>
                </p:oleObj>
              </mc:Choice>
              <mc:Fallback>
                <p:oleObj name="Equation" r:id="rId2" imgW="1904760" imgH="96516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6788" y="1701906"/>
                        <a:ext cx="1906588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4084851"/>
              </p:ext>
            </p:extLst>
          </p:nvPr>
        </p:nvGraphicFramePr>
        <p:xfrm>
          <a:off x="796925" y="2786063"/>
          <a:ext cx="3440113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31840" imgH="431640" progId="Equation.DSMT4">
                  <p:embed/>
                </p:oleObj>
              </mc:Choice>
              <mc:Fallback>
                <p:oleObj name="Equation" r:id="rId4" imgW="2031840" imgH="43164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925" y="2786063"/>
                        <a:ext cx="3440113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229668"/>
              </p:ext>
            </p:extLst>
          </p:nvPr>
        </p:nvGraphicFramePr>
        <p:xfrm>
          <a:off x="839788" y="1157288"/>
          <a:ext cx="2209800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12800" imgH="253800" progId="Equation.DSMT4">
                  <p:embed/>
                </p:oleObj>
              </mc:Choice>
              <mc:Fallback>
                <p:oleObj name="Equation" r:id="rId6" imgW="16128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39788" y="1157288"/>
                        <a:ext cx="2209800" cy="347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276475" y="3930134"/>
            <a:ext cx="1980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u="sng" dirty="0">
                <a:solidFill>
                  <a:srgbClr val="FF0000"/>
                </a:solidFill>
              </a:rPr>
              <a:t>Positive deviation</a:t>
            </a:r>
            <a:endParaRPr lang="zh-CN" altLang="en-US" u="sng" dirty="0">
              <a:solidFill>
                <a:srgbClr val="FF0000"/>
              </a:solidFill>
            </a:endParaRPr>
          </a:p>
        </p:txBody>
      </p:sp>
      <p:cxnSp>
        <p:nvCxnSpPr>
          <p:cNvPr id="21" name="直接箭头连接符 20"/>
          <p:cNvCxnSpPr/>
          <p:nvPr/>
        </p:nvCxnSpPr>
        <p:spPr>
          <a:xfrm flipV="1">
            <a:off x="6484952" y="1442766"/>
            <a:ext cx="0" cy="1781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6484952" y="1766545"/>
            <a:ext cx="15524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165071" y="158187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6477977" y="1275709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E</a:t>
            </a:r>
            <a:endParaRPr lang="zh-CN" altLang="en-US" i="1" dirty="0"/>
          </a:p>
        </p:txBody>
      </p:sp>
      <p:cxnSp>
        <p:nvCxnSpPr>
          <p:cNvPr id="25" name="直接连接符 24"/>
          <p:cNvCxnSpPr/>
          <p:nvPr/>
        </p:nvCxnSpPr>
        <p:spPr>
          <a:xfrm>
            <a:off x="6477977" y="2333318"/>
            <a:ext cx="3385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083373" y="2497425"/>
            <a:ext cx="914033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(E</a:t>
            </a:r>
            <a:r>
              <a:rPr lang="en-US" altLang="zh-CN" sz="1100" baseline="-25000" dirty="0"/>
              <a:t>AA +</a:t>
            </a:r>
            <a:r>
              <a:rPr lang="en-US" altLang="zh-CN" sz="1100" dirty="0"/>
              <a:t>E</a:t>
            </a:r>
            <a:r>
              <a:rPr lang="en-US" altLang="zh-CN" sz="1100" baseline="-25000" dirty="0"/>
              <a:t>BB</a:t>
            </a:r>
            <a:r>
              <a:rPr lang="en-US" altLang="zh-CN" sz="1100" dirty="0"/>
              <a:t>)/2</a:t>
            </a:r>
            <a:endParaRPr lang="zh-CN" altLang="en-US" sz="1100" dirty="0"/>
          </a:p>
        </p:txBody>
      </p:sp>
      <p:cxnSp>
        <p:nvCxnSpPr>
          <p:cNvPr id="27" name="直接连接符 26"/>
          <p:cNvCxnSpPr/>
          <p:nvPr/>
        </p:nvCxnSpPr>
        <p:spPr>
          <a:xfrm>
            <a:off x="7096851" y="2114243"/>
            <a:ext cx="3385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055554" y="1847543"/>
            <a:ext cx="4651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>
                <a:solidFill>
                  <a:srgbClr val="FF0000"/>
                </a:solidFill>
              </a:rPr>
              <a:t>E</a:t>
            </a:r>
            <a:r>
              <a:rPr lang="en-US" altLang="zh-CN" sz="1400" i="1" baseline="-25000" dirty="0">
                <a:solidFill>
                  <a:srgbClr val="FF0000"/>
                </a:solidFill>
              </a:rPr>
              <a:t>AB</a:t>
            </a:r>
            <a:endParaRPr lang="zh-CN" altLang="en-US" sz="1400" i="1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599293" y="1847543"/>
            <a:ext cx="75052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Positive </a:t>
            </a:r>
          </a:p>
          <a:p>
            <a:r>
              <a:rPr lang="en-US" altLang="zh-CN" sz="1100" dirty="0"/>
              <a:t>deviation</a:t>
            </a:r>
            <a:endParaRPr lang="zh-CN" altLang="en-US" sz="1100" dirty="0"/>
          </a:p>
        </p:txBody>
      </p:sp>
      <p:cxnSp>
        <p:nvCxnSpPr>
          <p:cNvPr id="30" name="直接连接符 29"/>
          <p:cNvCxnSpPr/>
          <p:nvPr/>
        </p:nvCxnSpPr>
        <p:spPr>
          <a:xfrm>
            <a:off x="7249251" y="3085793"/>
            <a:ext cx="3385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207954" y="2819093"/>
            <a:ext cx="4651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>
                <a:solidFill>
                  <a:srgbClr val="0000FF"/>
                </a:solidFill>
              </a:rPr>
              <a:t>E</a:t>
            </a:r>
            <a:r>
              <a:rPr lang="en-US" altLang="zh-CN" sz="1400" i="1" baseline="-25000" dirty="0">
                <a:solidFill>
                  <a:srgbClr val="0000FF"/>
                </a:solidFill>
              </a:rPr>
              <a:t>AB</a:t>
            </a:r>
            <a:endParaRPr lang="zh-CN" altLang="en-US" sz="1400" i="1" dirty="0">
              <a:solidFill>
                <a:srgbClr val="0000FF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744117" y="2766810"/>
            <a:ext cx="75052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>
                <a:solidFill>
                  <a:srgbClr val="0000FF"/>
                </a:solidFill>
              </a:rPr>
              <a:t>Negative</a:t>
            </a:r>
          </a:p>
          <a:p>
            <a:r>
              <a:rPr lang="en-US" altLang="zh-CN" sz="1100" dirty="0">
                <a:solidFill>
                  <a:srgbClr val="0000FF"/>
                </a:solidFill>
              </a:rPr>
              <a:t>deviation</a:t>
            </a:r>
            <a:endParaRPr lang="zh-CN" altLang="en-US" sz="1100" dirty="0">
              <a:solidFill>
                <a:srgbClr val="0000FF"/>
              </a:solidFill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6083373" y="1275709"/>
            <a:ext cx="2411270" cy="2272011"/>
          </a:xfrm>
          <a:prstGeom prst="roundRect">
            <a:avLst>
              <a:gd name="adj" fmla="val 736"/>
            </a:avLst>
          </a:prstGeom>
          <a:noFill/>
          <a:ln w="28575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1937732"/>
              </p:ext>
            </p:extLst>
          </p:nvPr>
        </p:nvGraphicFramePr>
        <p:xfrm>
          <a:off x="342899" y="4587590"/>
          <a:ext cx="1346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46040" imgH="431640" progId="Equation.DSMT4">
                  <p:embed/>
                </p:oleObj>
              </mc:Choice>
              <mc:Fallback>
                <p:oleObj name="Equation" r:id="rId8" imgW="13460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42899" y="4587590"/>
                        <a:ext cx="13462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6406894"/>
              </p:ext>
            </p:extLst>
          </p:nvPr>
        </p:nvGraphicFramePr>
        <p:xfrm>
          <a:off x="2434054" y="4616165"/>
          <a:ext cx="1460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60160" imgH="393480" progId="Equation.DSMT4">
                  <p:embed/>
                </p:oleObj>
              </mc:Choice>
              <mc:Fallback>
                <p:oleObj name="Equation" r:id="rId10" imgW="1460160" imgH="39348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4054" y="4616165"/>
                        <a:ext cx="1460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0112380"/>
              </p:ext>
            </p:extLst>
          </p:nvPr>
        </p:nvGraphicFramePr>
        <p:xfrm>
          <a:off x="4359275" y="4689475"/>
          <a:ext cx="533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33160" imgH="228600" progId="Equation.DSMT4">
                  <p:embed/>
                </p:oleObj>
              </mc:Choice>
              <mc:Fallback>
                <p:oleObj name="Equation" r:id="rId12" imgW="5331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359275" y="4689475"/>
                        <a:ext cx="533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5919345"/>
              </p:ext>
            </p:extLst>
          </p:nvPr>
        </p:nvGraphicFramePr>
        <p:xfrm>
          <a:off x="5352871" y="4719541"/>
          <a:ext cx="393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93480" imgH="228600" progId="Equation.DSMT4">
                  <p:embed/>
                </p:oleObj>
              </mc:Choice>
              <mc:Fallback>
                <p:oleObj name="Equation" r:id="rId14" imgW="393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352871" y="4719541"/>
                        <a:ext cx="393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矩形 35"/>
          <p:cNvSpPr/>
          <p:nvPr/>
        </p:nvSpPr>
        <p:spPr>
          <a:xfrm>
            <a:off x="7101774" y="4437579"/>
            <a:ext cx="20422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activity coefficients </a:t>
            </a:r>
            <a:endParaRPr lang="zh-CN" altLang="en-US" dirty="0"/>
          </a:p>
        </p:txBody>
      </p:sp>
      <p:pic>
        <p:nvPicPr>
          <p:cNvPr id="37" name="对象 15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1257" y="4813015"/>
            <a:ext cx="1023367" cy="410030"/>
          </a:xfrm>
          <a:prstGeom prst="rect">
            <a:avLst/>
          </a:prstGeom>
          <a:noFill/>
          <a:ln w="9525">
            <a:noFill/>
            <a:prstDash val="sys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2011876"/>
              </p:ext>
            </p:extLst>
          </p:nvPr>
        </p:nvGraphicFramePr>
        <p:xfrm>
          <a:off x="7134225" y="5681663"/>
          <a:ext cx="1916113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143000" imgH="241200" progId="Equation.DSMT4">
                  <p:embed/>
                </p:oleObj>
              </mc:Choice>
              <mc:Fallback>
                <p:oleObj name="Equation" r:id="rId17" imgW="11430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4225" y="5681663"/>
                        <a:ext cx="1916113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7155815" y="5312965"/>
            <a:ext cx="1740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Regular solution</a:t>
            </a:r>
            <a:endParaRPr lang="zh-CN" altLang="en-US" dirty="0"/>
          </a:p>
        </p:txBody>
      </p:sp>
      <p:sp>
        <p:nvSpPr>
          <p:cNvPr id="40" name="圆角矩形 39"/>
          <p:cNvSpPr/>
          <p:nvPr/>
        </p:nvSpPr>
        <p:spPr>
          <a:xfrm>
            <a:off x="7060200" y="4114800"/>
            <a:ext cx="2083800" cy="2286000"/>
          </a:xfrm>
          <a:prstGeom prst="roundRect">
            <a:avLst>
              <a:gd name="adj" fmla="val 5839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右箭头 34"/>
          <p:cNvSpPr/>
          <p:nvPr/>
        </p:nvSpPr>
        <p:spPr>
          <a:xfrm>
            <a:off x="1838325" y="4711526"/>
            <a:ext cx="361950" cy="190770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右箭头 41"/>
          <p:cNvSpPr/>
          <p:nvPr/>
        </p:nvSpPr>
        <p:spPr>
          <a:xfrm>
            <a:off x="3894554" y="4738456"/>
            <a:ext cx="361950" cy="190770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右箭头 42"/>
          <p:cNvSpPr/>
          <p:nvPr/>
        </p:nvSpPr>
        <p:spPr>
          <a:xfrm>
            <a:off x="4866104" y="4738456"/>
            <a:ext cx="361950" cy="190770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2352675" y="5241024"/>
            <a:ext cx="2082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u="sng" dirty="0">
                <a:solidFill>
                  <a:srgbClr val="0000FF"/>
                </a:solidFill>
              </a:rPr>
              <a:t>Negative deviation</a:t>
            </a:r>
            <a:endParaRPr lang="zh-CN" altLang="en-US" u="sng" dirty="0">
              <a:solidFill>
                <a:srgbClr val="0000FF"/>
              </a:solidFill>
            </a:endParaRPr>
          </a:p>
        </p:txBody>
      </p:sp>
      <p:graphicFrame>
        <p:nvGraphicFramePr>
          <p:cNvPr id="45" name="对象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6168580"/>
              </p:ext>
            </p:extLst>
          </p:nvPr>
        </p:nvGraphicFramePr>
        <p:xfrm>
          <a:off x="412750" y="5899150"/>
          <a:ext cx="1358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358640" imgH="431640" progId="Equation.DSMT4">
                  <p:embed/>
                </p:oleObj>
              </mc:Choice>
              <mc:Fallback>
                <p:oleObj name="Equation" r:id="rId19" imgW="13586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12750" y="5899150"/>
                        <a:ext cx="13589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6792592"/>
              </p:ext>
            </p:extLst>
          </p:nvPr>
        </p:nvGraphicFramePr>
        <p:xfrm>
          <a:off x="2510254" y="5927055"/>
          <a:ext cx="1460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460160" imgH="393480" progId="Equation.DSMT4">
                  <p:embed/>
                </p:oleObj>
              </mc:Choice>
              <mc:Fallback>
                <p:oleObj name="Equation" r:id="rId21" imgW="14601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0254" y="5927055"/>
                        <a:ext cx="1460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8884755"/>
              </p:ext>
            </p:extLst>
          </p:nvPr>
        </p:nvGraphicFramePr>
        <p:xfrm>
          <a:off x="4441825" y="6000750"/>
          <a:ext cx="520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520560" imgH="228600" progId="Equation.DSMT4">
                  <p:embed/>
                </p:oleObj>
              </mc:Choice>
              <mc:Fallback>
                <p:oleObj name="Equation" r:id="rId23" imgW="5205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441825" y="6000750"/>
                        <a:ext cx="520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8257432"/>
              </p:ext>
            </p:extLst>
          </p:nvPr>
        </p:nvGraphicFramePr>
        <p:xfrm>
          <a:off x="5429071" y="6030431"/>
          <a:ext cx="393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393480" imgH="228600" progId="Equation.DSMT4">
                  <p:embed/>
                </p:oleObj>
              </mc:Choice>
              <mc:Fallback>
                <p:oleObj name="Equation" r:id="rId25" imgW="393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429071" y="6030431"/>
                        <a:ext cx="393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右箭头 48"/>
          <p:cNvSpPr/>
          <p:nvPr/>
        </p:nvSpPr>
        <p:spPr>
          <a:xfrm>
            <a:off x="1914525" y="6022416"/>
            <a:ext cx="361950" cy="190770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右箭头 49"/>
          <p:cNvSpPr/>
          <p:nvPr/>
        </p:nvSpPr>
        <p:spPr>
          <a:xfrm>
            <a:off x="3970754" y="6049346"/>
            <a:ext cx="361950" cy="190770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右箭头 50"/>
          <p:cNvSpPr/>
          <p:nvPr/>
        </p:nvSpPr>
        <p:spPr>
          <a:xfrm>
            <a:off x="4942304" y="6049346"/>
            <a:ext cx="361950" cy="190770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1631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1182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5" y="1353234"/>
            <a:ext cx="5339080" cy="41148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288605" y="5468034"/>
            <a:ext cx="51104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 9.25  </a:t>
            </a:r>
            <a:r>
              <a:rPr lang="en-US" altLang="zh-CN" dirty="0"/>
              <a:t>Illustration  of  the  origins  of  deviation  from  regular solution behavior.</a:t>
            </a:r>
            <a:endParaRPr lang="zh-CN" altLang="zh-CN" dirty="0"/>
          </a:p>
        </p:txBody>
      </p:sp>
      <p:sp>
        <p:nvSpPr>
          <p:cNvPr id="2" name="矩形 1"/>
          <p:cNvSpPr/>
          <p:nvPr/>
        </p:nvSpPr>
        <p:spPr>
          <a:xfrm>
            <a:off x="5698805" y="2176313"/>
            <a:ext cx="344519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As the entropy contribution to the Gibbs free energy is dependent on temperature, then</a:t>
            </a:r>
          </a:p>
          <a:p>
            <a:endParaRPr lang="zh-CN" altLang="zh-CN" dirty="0"/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altLang="zh-CN" dirty="0"/>
              <a:t>For any value of </a:t>
            </a:r>
            <a:r>
              <a:rPr lang="el-GR" altLang="zh-CN" dirty="0">
                <a:latin typeface="Sylfaen"/>
              </a:rPr>
              <a:t>Ω</a:t>
            </a:r>
            <a:r>
              <a:rPr lang="en-US" altLang="zh-CN" dirty="0"/>
              <a:t>, more nearly random mixing occurs as the temperature is increased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endParaRPr lang="zh-CN" altLang="zh-CN" dirty="0"/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altLang="zh-CN" dirty="0"/>
              <a:t>For any given temperature, more nearly random mixing occurs with smaller values of </a:t>
            </a:r>
            <a:r>
              <a:rPr lang="el-GR" altLang="zh-CN" dirty="0">
                <a:latin typeface="Sylfaen"/>
              </a:rPr>
              <a:t>Ω</a:t>
            </a:r>
            <a:r>
              <a:rPr lang="en-US" altLang="zh-CN" dirty="0"/>
              <a:t>.</a:t>
            </a:r>
            <a:endParaRPr lang="zh-CN" altLang="zh-CN" dirty="0"/>
          </a:p>
        </p:txBody>
      </p:sp>
      <p:sp>
        <p:nvSpPr>
          <p:cNvPr id="14" name="文本框 12"/>
          <p:cNvSpPr txBox="1"/>
          <p:nvPr/>
        </p:nvSpPr>
        <p:spPr>
          <a:xfrm>
            <a:off x="1076325" y="32325"/>
            <a:ext cx="6062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Statistics Model of Solutions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592443" y="1138922"/>
          <a:ext cx="3440112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31840" imgH="431640" progId="Equation.DSMT4">
                  <p:embed/>
                </p:oleObj>
              </mc:Choice>
              <mc:Fallback>
                <p:oleObj name="Equation" r:id="rId3" imgW="2031840" imgH="431640" progId="Equation.DSMT4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2443" y="1138922"/>
                        <a:ext cx="3440112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614597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7749E30-60D6-4004-996E-69719ADCE6B6}"/>
              </a:ext>
            </a:extLst>
          </p:cNvPr>
          <p:cNvSpPr txBox="1"/>
          <p:nvPr/>
        </p:nvSpPr>
        <p:spPr bwMode="auto">
          <a:xfrm>
            <a:off x="984249" y="60025"/>
            <a:ext cx="7235826" cy="595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/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 panose="020B0604020202020204"/>
                <a:ea typeface="Geneva" pitchFamily="-107" charset="-128"/>
                <a:cs typeface="Arial" panose="020B0604020202020204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Geneva" pitchFamily="-107" charset="-128"/>
              </a:defRPr>
            </a:lvl9pPr>
          </a:lstStyle>
          <a:p>
            <a:r>
              <a:rPr lang="en-US" sz="2800" dirty="0">
                <a:solidFill>
                  <a:srgbClr val="FF0000"/>
                </a:solidFill>
              </a:rPr>
              <a:t>Mixing Entropy from Statistical model </a:t>
            </a:r>
          </a:p>
        </p:txBody>
      </p:sp>
      <p:sp>
        <p:nvSpPr>
          <p:cNvPr id="11" name="文本框 1">
            <a:extLst>
              <a:ext uri="{FF2B5EF4-FFF2-40B4-BE49-F238E27FC236}">
                <a16:creationId xmlns:a16="http://schemas.microsoft.com/office/drawing/2014/main" id="{A9A109E0-0CED-4261-9DA2-E6DDC5681B23}"/>
              </a:ext>
            </a:extLst>
          </p:cNvPr>
          <p:cNvSpPr txBox="1"/>
          <p:nvPr/>
        </p:nvSpPr>
        <p:spPr>
          <a:xfrm>
            <a:off x="126000" y="1106488"/>
            <a:ext cx="8932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 number of methods that randomly distribute N</a:t>
            </a:r>
            <a:r>
              <a:rPr lang="en-US" altLang="zh-CN" baseline="-25000" dirty="0"/>
              <a:t>B</a:t>
            </a:r>
            <a:r>
              <a:rPr lang="en-US" altLang="zh-CN" dirty="0"/>
              <a:t> B atoms to N lattice nodes is</a:t>
            </a:r>
            <a:endParaRPr lang="zh-CN" altLang="en-US" dirty="0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A37C3AB-0279-4349-8B22-1EBF8C3DB1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9406867"/>
              </p:ext>
            </p:extLst>
          </p:nvPr>
        </p:nvGraphicFramePr>
        <p:xfrm>
          <a:off x="2988468" y="1512697"/>
          <a:ext cx="3167063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86000" imgH="444240" progId="Equation.DSMT4">
                  <p:embed/>
                </p:oleObj>
              </mc:Choice>
              <mc:Fallback>
                <p:oleObj name="Equation" r:id="rId2" imgW="2286000" imgH="44424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8A37C3AB-0279-4349-8B22-1EBF8C3DB1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8468" y="1512697"/>
                        <a:ext cx="3167063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6CC31576-AF99-4480-AD2E-CA6894C6A006}"/>
              </a:ext>
            </a:extLst>
          </p:cNvPr>
          <p:cNvSpPr/>
          <p:nvPr/>
        </p:nvSpPr>
        <p:spPr>
          <a:xfrm>
            <a:off x="126000" y="2126686"/>
            <a:ext cx="92920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B atoms can not be distinguished and A atoms only fill lattice nodes without B atoms, so</a:t>
            </a:r>
            <a:endParaRPr lang="zh-CN" altLang="en-US" dirty="0"/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AE6DE8C8-FBBC-4227-B5FF-05BE9DC580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18169" y="2644475"/>
          <a:ext cx="2606675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79560" imgH="444240" progId="Equation.DSMT4">
                  <p:embed/>
                </p:oleObj>
              </mc:Choice>
              <mc:Fallback>
                <p:oleObj name="Equation" r:id="rId4" imgW="1879560" imgH="44424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AE6DE8C8-FBBC-4227-B5FF-05BE9DC580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8169" y="2644475"/>
                        <a:ext cx="2606675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A4AA7D5D-CED6-4F53-95FB-FFD561903A29}"/>
              </a:ext>
            </a:extLst>
          </p:cNvPr>
          <p:cNvSpPr/>
          <p:nvPr/>
        </p:nvSpPr>
        <p:spPr>
          <a:xfrm>
            <a:off x="277002" y="3165860"/>
            <a:ext cx="82811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The number of microscopic configurations before mixing considers only the same kind of atoms, hence</a:t>
            </a:r>
            <a:endParaRPr lang="zh-CN" altLang="en-US" dirty="0"/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C8095430-7F9D-41AD-96EA-D8B532423A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0279195"/>
              </p:ext>
            </p:extLst>
          </p:nvPr>
        </p:nvGraphicFramePr>
        <p:xfrm>
          <a:off x="4281486" y="3726466"/>
          <a:ext cx="581025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9040" imgH="228600" progId="Equation.DSMT4">
                  <p:embed/>
                </p:oleObj>
              </mc:Choice>
              <mc:Fallback>
                <p:oleObj name="Equation" r:id="rId6" imgW="419040" imgH="22860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C8095430-7F9D-41AD-96EA-D8B532423A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1486" y="3726466"/>
                        <a:ext cx="581025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45CE60E0-CC7F-4BE1-B484-9C908D250D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8394307"/>
              </p:ext>
            </p:extLst>
          </p:nvPr>
        </p:nvGraphicFramePr>
        <p:xfrm>
          <a:off x="943516" y="4269529"/>
          <a:ext cx="3589337" cy="166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90560" imgH="1206360" progId="Equation.DSMT4">
                  <p:embed/>
                </p:oleObj>
              </mc:Choice>
              <mc:Fallback>
                <p:oleObj name="Equation" r:id="rId8" imgW="2590560" imgH="120636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45CE60E0-CC7F-4BE1-B484-9C908D250D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3516" y="4269529"/>
                        <a:ext cx="3589337" cy="166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1304623"/>
              </p:ext>
            </p:extLst>
          </p:nvPr>
        </p:nvGraphicFramePr>
        <p:xfrm>
          <a:off x="5219516" y="4786807"/>
          <a:ext cx="3086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57400" imgH="253800" progId="Equation.DSMT4">
                  <p:embed/>
                </p:oleObj>
              </mc:Choice>
              <mc:Fallback>
                <p:oleObj name="Equation" r:id="rId10" imgW="2057400" imgH="253800" progId="Equation.DSMT4">
                  <p:embed/>
                  <p:pic>
                    <p:nvPicPr>
                      <p:cNvPr id="18" name="对象 17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219516" y="4786807"/>
                        <a:ext cx="3086100" cy="3810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0">
            <a:extLst>
              <a:ext uri="{FF2B5EF4-FFF2-40B4-BE49-F238E27FC236}">
                <a16:creationId xmlns:a16="http://schemas.microsoft.com/office/drawing/2014/main" id="{E74B1E81-B4C7-4996-A63B-4667B64D89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036" y="6123959"/>
            <a:ext cx="587949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dirty="0">
                <a:ea typeface="宋体" charset="-122"/>
              </a:rPr>
              <a:t>Stirling’s approximation:  when X is very large: ln(N!) </a:t>
            </a:r>
            <a:r>
              <a:rPr lang="en-US" altLang="zh-CN" dirty="0">
                <a:ea typeface="宋体" charset="-122"/>
                <a:sym typeface="Symbol"/>
              </a:rPr>
              <a:t></a:t>
            </a:r>
            <a:r>
              <a:rPr lang="en-US" altLang="zh-CN" dirty="0">
                <a:ea typeface="宋体" charset="-122"/>
              </a:rPr>
              <a:t> </a:t>
            </a:r>
            <a:r>
              <a:rPr lang="en-US" altLang="zh-CN" dirty="0" err="1">
                <a:ea typeface="宋体" charset="-122"/>
              </a:rPr>
              <a:t>NlnN</a:t>
            </a:r>
            <a:r>
              <a:rPr lang="en-US" altLang="zh-CN" dirty="0">
                <a:ea typeface="宋体" charset="-122"/>
              </a:rPr>
              <a:t> -N </a:t>
            </a:r>
          </a:p>
        </p:txBody>
      </p:sp>
    </p:spTree>
    <p:extLst>
      <p:ext uri="{BB962C8B-B14F-4D97-AF65-F5344CB8AC3E}">
        <p14:creationId xmlns:p14="http://schemas.microsoft.com/office/powerpoint/2010/main" val="285375037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Boar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等线 Light"/>
        <a:cs typeface=""/>
      </a:majorFont>
      <a:minorFont>
        <a:latin typeface="Arial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Master Board</Template>
  <TotalTime>6408</TotalTime>
  <Words>1354</Words>
  <Application>Microsoft Office PowerPoint</Application>
  <PresentationFormat>全屏显示(4:3)</PresentationFormat>
  <Paragraphs>208</Paragraphs>
  <Slides>34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34</vt:i4>
      </vt:variant>
    </vt:vector>
  </HeadingPairs>
  <TitlesOfParts>
    <vt:vector size="45" baseType="lpstr">
      <vt:lpstr>Arial Unicode MS</vt:lpstr>
      <vt:lpstr>等线</vt:lpstr>
      <vt:lpstr>黑体</vt:lpstr>
      <vt:lpstr>Arial</vt:lpstr>
      <vt:lpstr>Calibri</vt:lpstr>
      <vt:lpstr>Sylfaen</vt:lpstr>
      <vt:lpstr>Times New Roman</vt:lpstr>
      <vt:lpstr>Wingdings</vt:lpstr>
      <vt:lpstr>Master Board</vt:lpstr>
      <vt:lpstr>Equation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 weishu</dc:creator>
  <cp:lastModifiedBy>Liu WS</cp:lastModifiedBy>
  <cp:revision>364</cp:revision>
  <cp:lastPrinted>2019-04-07T14:32:11Z</cp:lastPrinted>
  <dcterms:created xsi:type="dcterms:W3CDTF">2019-02-07T07:31:12Z</dcterms:created>
  <dcterms:modified xsi:type="dcterms:W3CDTF">2022-10-27T13:35:19Z</dcterms:modified>
</cp:coreProperties>
</file>