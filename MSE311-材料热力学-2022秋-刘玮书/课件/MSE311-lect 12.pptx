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notesMasterIdLst>
    <p:notesMasterId r:id="rId41"/>
  </p:notesMasterIdLst>
  <p:handoutMasterIdLst>
    <p:handoutMasterId r:id="rId42"/>
  </p:handoutMasterIdLst>
  <p:sldIdLst>
    <p:sldId id="256" r:id="rId2"/>
    <p:sldId id="449" r:id="rId3"/>
    <p:sldId id="452" r:id="rId4"/>
    <p:sldId id="389" r:id="rId5"/>
    <p:sldId id="425" r:id="rId6"/>
    <p:sldId id="426" r:id="rId7"/>
    <p:sldId id="427" r:id="rId8"/>
    <p:sldId id="428" r:id="rId9"/>
    <p:sldId id="429" r:id="rId10"/>
    <p:sldId id="457" r:id="rId11"/>
    <p:sldId id="430" r:id="rId12"/>
    <p:sldId id="431" r:id="rId13"/>
    <p:sldId id="355" r:id="rId14"/>
    <p:sldId id="356" r:id="rId15"/>
    <p:sldId id="357" r:id="rId16"/>
    <p:sldId id="358" r:id="rId17"/>
    <p:sldId id="359" r:id="rId18"/>
    <p:sldId id="360" r:id="rId19"/>
    <p:sldId id="361" r:id="rId20"/>
    <p:sldId id="362" r:id="rId21"/>
    <p:sldId id="363" r:id="rId22"/>
    <p:sldId id="459" r:id="rId23"/>
    <p:sldId id="432" r:id="rId24"/>
    <p:sldId id="433" r:id="rId25"/>
    <p:sldId id="434" r:id="rId26"/>
    <p:sldId id="435" r:id="rId27"/>
    <p:sldId id="436" r:id="rId28"/>
    <p:sldId id="437" r:id="rId29"/>
    <p:sldId id="438" r:id="rId30"/>
    <p:sldId id="456" r:id="rId31"/>
    <p:sldId id="440" r:id="rId32"/>
    <p:sldId id="441" r:id="rId33"/>
    <p:sldId id="442" r:id="rId34"/>
    <p:sldId id="443" r:id="rId35"/>
    <p:sldId id="444" r:id="rId36"/>
    <p:sldId id="445" r:id="rId37"/>
    <p:sldId id="446" r:id="rId38"/>
    <p:sldId id="447" r:id="rId39"/>
    <p:sldId id="448" r:id="rId40"/>
  </p:sldIdLst>
  <p:sldSz cx="9144000" cy="6858000" type="screen4x3"/>
  <p:notesSz cx="6669088" cy="99266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4472C4"/>
    <a:srgbClr val="FF0000"/>
    <a:srgbClr val="70AD47"/>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145" autoAdjust="0"/>
  </p:normalViewPr>
  <p:slideViewPr>
    <p:cSldViewPr snapToGrid="0">
      <p:cViewPr varScale="1">
        <p:scale>
          <a:sx n="114" d="100"/>
          <a:sy n="114" d="100"/>
        </p:scale>
        <p:origin x="1446" y="12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777607" y="0"/>
            <a:ext cx="2889938" cy="496332"/>
          </a:xfrm>
          <a:prstGeom prst="rect">
            <a:avLst/>
          </a:prstGeom>
        </p:spPr>
        <p:txBody>
          <a:bodyPr vert="horz" lIns="91440" tIns="45720" rIns="91440" bIns="45720" rtlCol="0"/>
          <a:lstStyle>
            <a:lvl1pPr algn="r">
              <a:defRPr sz="1200"/>
            </a:lvl1pPr>
          </a:lstStyle>
          <a:p>
            <a:fld id="{B496C3D4-F3F7-41E0-8BDE-8ACEB5368367}" type="datetimeFigureOut">
              <a:rPr lang="zh-CN" altLang="en-US" smtClean="0"/>
              <a:t>2022/10/27</a:t>
            </a:fld>
            <a:endParaRPr lang="zh-CN" altLang="en-US"/>
          </a:p>
        </p:txBody>
      </p:sp>
      <p:sp>
        <p:nvSpPr>
          <p:cNvPr id="4" name="页脚占位符 3"/>
          <p:cNvSpPr>
            <a:spLocks noGrp="1"/>
          </p:cNvSpPr>
          <p:nvPr>
            <p:ph type="ftr" sz="quarter" idx="2"/>
          </p:nvPr>
        </p:nvSpPr>
        <p:spPr>
          <a:xfrm>
            <a:off x="0" y="9428583"/>
            <a:ext cx="2889938" cy="496332"/>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777607" y="9428583"/>
            <a:ext cx="2889938" cy="496332"/>
          </a:xfrm>
          <a:prstGeom prst="rect">
            <a:avLst/>
          </a:prstGeom>
        </p:spPr>
        <p:txBody>
          <a:bodyPr vert="horz" lIns="91440" tIns="45720" rIns="91440" bIns="45720" rtlCol="0" anchor="b"/>
          <a:lstStyle>
            <a:lvl1pPr algn="r">
              <a:defRPr sz="1200"/>
            </a:lvl1pPr>
          </a:lstStyle>
          <a:p>
            <a:fld id="{1919B71C-4DB5-4C7F-8171-93E790D3AC13}" type="slidenum">
              <a:rPr lang="zh-CN" altLang="en-US" smtClean="0"/>
              <a:t>‹#›</a:t>
            </a:fld>
            <a:endParaRPr lang="zh-CN" altLang="en-US"/>
          </a:p>
        </p:txBody>
      </p:sp>
    </p:spTree>
    <p:extLst>
      <p:ext uri="{BB962C8B-B14F-4D97-AF65-F5344CB8AC3E}">
        <p14:creationId xmlns:p14="http://schemas.microsoft.com/office/powerpoint/2010/main" val="2448888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8056"/>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777607" y="0"/>
            <a:ext cx="2889938" cy="498056"/>
          </a:xfrm>
          <a:prstGeom prst="rect">
            <a:avLst/>
          </a:prstGeom>
        </p:spPr>
        <p:txBody>
          <a:bodyPr vert="horz" lIns="91440" tIns="45720" rIns="91440" bIns="45720" rtlCol="0"/>
          <a:lstStyle>
            <a:lvl1pPr algn="r">
              <a:defRPr sz="1200"/>
            </a:lvl1pPr>
          </a:lstStyle>
          <a:p>
            <a:fld id="{473A478E-90E3-4BE0-BF7B-B1AD7461FEF4}" type="datetimeFigureOut">
              <a:rPr lang="zh-CN" altLang="en-US" smtClean="0"/>
              <a:t>2022/10/27</a:t>
            </a:fld>
            <a:endParaRPr lang="zh-CN" altLang="en-US"/>
          </a:p>
        </p:txBody>
      </p:sp>
      <p:sp>
        <p:nvSpPr>
          <p:cNvPr id="4" name="幻灯片图像占位符 3"/>
          <p:cNvSpPr>
            <a:spLocks noGrp="1" noRot="1" noChangeAspect="1"/>
          </p:cNvSpPr>
          <p:nvPr>
            <p:ph type="sldImg" idx="2"/>
          </p:nvPr>
        </p:nvSpPr>
        <p:spPr>
          <a:xfrm>
            <a:off x="1101725" y="1241425"/>
            <a:ext cx="4465638"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66909" y="4777194"/>
            <a:ext cx="5335270" cy="3908614"/>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28584"/>
            <a:ext cx="2889938" cy="49805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777607" y="9428584"/>
            <a:ext cx="2889938" cy="498055"/>
          </a:xfrm>
          <a:prstGeom prst="rect">
            <a:avLst/>
          </a:prstGeom>
        </p:spPr>
        <p:txBody>
          <a:bodyPr vert="horz" lIns="91440" tIns="45720" rIns="91440" bIns="45720" rtlCol="0" anchor="b"/>
          <a:lstStyle>
            <a:lvl1pPr algn="r">
              <a:defRPr sz="1200"/>
            </a:lvl1pPr>
          </a:lstStyle>
          <a:p>
            <a:fld id="{7F497359-BD37-41E1-AF95-71E7D52515AE}" type="slidenum">
              <a:rPr lang="zh-CN" altLang="en-US" smtClean="0"/>
              <a:t>‹#›</a:t>
            </a:fld>
            <a:endParaRPr lang="zh-CN" altLang="en-US"/>
          </a:p>
        </p:txBody>
      </p:sp>
    </p:spTree>
    <p:extLst>
      <p:ext uri="{BB962C8B-B14F-4D97-AF65-F5344CB8AC3E}">
        <p14:creationId xmlns:p14="http://schemas.microsoft.com/office/powerpoint/2010/main" val="2815872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pic>
        <p:nvPicPr>
          <p:cNvPr id="7" name="图片 9">
            <a:extLst>
              <a:ext uri="{FF2B5EF4-FFF2-40B4-BE49-F238E27FC236}">
                <a16:creationId xmlns:a16="http://schemas.microsoft.com/office/drawing/2014/main" id="{36484A2C-39A1-4BDC-B92B-AF52D58B0F5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11">
            <a:extLst>
              <a:ext uri="{FF2B5EF4-FFF2-40B4-BE49-F238E27FC236}">
                <a16:creationId xmlns:a16="http://schemas.microsoft.com/office/drawing/2014/main" id="{56818F0A-1B6A-44A9-9717-55DA1C8C1ED4}"/>
              </a:ext>
            </a:extLst>
          </p:cNvPr>
          <p:cNvGrpSpPr>
            <a:grpSpLocks/>
          </p:cNvGrpSpPr>
          <p:nvPr/>
        </p:nvGrpSpPr>
        <p:grpSpPr bwMode="auto">
          <a:xfrm>
            <a:off x="0" y="4741863"/>
            <a:ext cx="9043988" cy="142875"/>
            <a:chOff x="76199" y="1241003"/>
            <a:chExt cx="9044401" cy="144000"/>
          </a:xfrm>
        </p:grpSpPr>
        <p:sp>
          <p:nvSpPr>
            <p:cNvPr id="9" name="圆角矩形 11">
              <a:extLst>
                <a:ext uri="{FF2B5EF4-FFF2-40B4-BE49-F238E27FC236}">
                  <a16:creationId xmlns:a16="http://schemas.microsoft.com/office/drawing/2014/main" id="{2658448A-EA7B-40C8-99E5-5CDD7E4A2B5E}"/>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2">
              <a:extLst>
                <a:ext uri="{FF2B5EF4-FFF2-40B4-BE49-F238E27FC236}">
                  <a16:creationId xmlns:a16="http://schemas.microsoft.com/office/drawing/2014/main" id="{0F1BA9DE-48A6-4320-A3CB-CA0618F88CA6}"/>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1" name="圆角矩形 13">
              <a:extLst>
                <a:ext uri="{FF2B5EF4-FFF2-40B4-BE49-F238E27FC236}">
                  <a16:creationId xmlns:a16="http://schemas.microsoft.com/office/drawing/2014/main" id="{95532181-9B56-4565-85B0-26FAE243974A}"/>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2" name="图片 18">
            <a:extLst>
              <a:ext uri="{FF2B5EF4-FFF2-40B4-BE49-F238E27FC236}">
                <a16:creationId xmlns:a16="http://schemas.microsoft.com/office/drawing/2014/main" id="{C6EF10A3-5E14-4AC4-BEC5-788C4A6ABF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0">
            <a:extLst>
              <a:ext uri="{FF2B5EF4-FFF2-40B4-BE49-F238E27FC236}">
                <a16:creationId xmlns:a16="http://schemas.microsoft.com/office/drawing/2014/main" id="{E5368EC2-A439-426F-9848-8912DFFAC1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3">
            <a:extLst>
              <a:ext uri="{FF2B5EF4-FFF2-40B4-BE49-F238E27FC236}">
                <a16:creationId xmlns:a16="http://schemas.microsoft.com/office/drawing/2014/main" id="{DB79EDD7-2DA9-41B8-BF25-43496C70960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9">
            <a:extLst>
              <a:ext uri="{FF2B5EF4-FFF2-40B4-BE49-F238E27FC236}">
                <a16:creationId xmlns:a16="http://schemas.microsoft.com/office/drawing/2014/main" id="{AAD387B1-3103-410C-8A6F-61D494AEADD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11">
            <a:extLst>
              <a:ext uri="{FF2B5EF4-FFF2-40B4-BE49-F238E27FC236}">
                <a16:creationId xmlns:a16="http://schemas.microsoft.com/office/drawing/2014/main" id="{EF2F75DC-2FDE-4EE3-8E34-8BABCC7179F1}"/>
              </a:ext>
            </a:extLst>
          </p:cNvPr>
          <p:cNvGrpSpPr>
            <a:grpSpLocks/>
          </p:cNvGrpSpPr>
          <p:nvPr userDrawn="1"/>
        </p:nvGrpSpPr>
        <p:grpSpPr bwMode="auto">
          <a:xfrm>
            <a:off x="0" y="4741863"/>
            <a:ext cx="9043988" cy="142875"/>
            <a:chOff x="76199" y="1241003"/>
            <a:chExt cx="9044401" cy="144000"/>
          </a:xfrm>
        </p:grpSpPr>
        <p:sp>
          <p:nvSpPr>
            <p:cNvPr id="17" name="圆角矩形 11">
              <a:extLst>
                <a:ext uri="{FF2B5EF4-FFF2-40B4-BE49-F238E27FC236}">
                  <a16:creationId xmlns:a16="http://schemas.microsoft.com/office/drawing/2014/main" id="{367FAD37-4817-483B-B455-9B9EAAFE7BD8}"/>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8" name="圆角矩形 12">
              <a:extLst>
                <a:ext uri="{FF2B5EF4-FFF2-40B4-BE49-F238E27FC236}">
                  <a16:creationId xmlns:a16="http://schemas.microsoft.com/office/drawing/2014/main" id="{405E6F80-4ED3-42FA-B9E2-EC6BC04F1A02}"/>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9" name="圆角矩形 13">
              <a:extLst>
                <a:ext uri="{FF2B5EF4-FFF2-40B4-BE49-F238E27FC236}">
                  <a16:creationId xmlns:a16="http://schemas.microsoft.com/office/drawing/2014/main" id="{FFCB71A7-724E-4CF3-8659-D7FFA4994A95}"/>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20" name="图片 18">
            <a:extLst>
              <a:ext uri="{FF2B5EF4-FFF2-40B4-BE49-F238E27FC236}">
                <a16:creationId xmlns:a16="http://schemas.microsoft.com/office/drawing/2014/main" id="{B230B797-9AF8-41D8-B5AB-3C485238D84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20">
            <a:extLst>
              <a:ext uri="{FF2B5EF4-FFF2-40B4-BE49-F238E27FC236}">
                <a16:creationId xmlns:a16="http://schemas.microsoft.com/office/drawing/2014/main" id="{32E52780-17F0-4F25-B262-66C011AE71D7}"/>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3">
            <a:extLst>
              <a:ext uri="{FF2B5EF4-FFF2-40B4-BE49-F238E27FC236}">
                <a16:creationId xmlns:a16="http://schemas.microsoft.com/office/drawing/2014/main" id="{A6617996-BF24-4585-AE38-DD4FEC22395F}"/>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1452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1" name="图片 3">
            <a:extLst>
              <a:ext uri="{FF2B5EF4-FFF2-40B4-BE49-F238E27FC236}">
                <a16:creationId xmlns:a16="http://schemas.microsoft.com/office/drawing/2014/main" id="{B0C51A74-65A9-4F9C-9DAC-5C9B5FEFDC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a:t>2</a:t>
            </a:r>
            <a:endParaRPr lang="zh-CN" altLang="en-US" dirty="0"/>
          </a:p>
        </p:txBody>
      </p:sp>
      <p:grpSp>
        <p:nvGrpSpPr>
          <p:cNvPr id="12" name="组合 11">
            <a:extLst>
              <a:ext uri="{FF2B5EF4-FFF2-40B4-BE49-F238E27FC236}">
                <a16:creationId xmlns:a16="http://schemas.microsoft.com/office/drawing/2014/main" id="{DBE675BB-162D-4CCA-94D2-B314C0C6F644}"/>
              </a:ext>
            </a:extLst>
          </p:cNvPr>
          <p:cNvGrpSpPr>
            <a:grpSpLocks/>
          </p:cNvGrpSpPr>
          <p:nvPr userDrawn="1"/>
        </p:nvGrpSpPr>
        <p:grpSpPr bwMode="auto">
          <a:xfrm>
            <a:off x="41722" y="6645423"/>
            <a:ext cx="9045575" cy="142875"/>
            <a:chOff x="76199" y="1241003"/>
            <a:chExt cx="9044401" cy="144000"/>
          </a:xfrm>
        </p:grpSpPr>
        <p:sp>
          <p:nvSpPr>
            <p:cNvPr id="13" name="圆角矩形 11">
              <a:extLst>
                <a:ext uri="{FF2B5EF4-FFF2-40B4-BE49-F238E27FC236}">
                  <a16:creationId xmlns:a16="http://schemas.microsoft.com/office/drawing/2014/main" id="{8497BCD2-D048-4CC6-AA21-D749E9E85DCE}"/>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4" name="圆角矩形 12">
              <a:extLst>
                <a:ext uri="{FF2B5EF4-FFF2-40B4-BE49-F238E27FC236}">
                  <a16:creationId xmlns:a16="http://schemas.microsoft.com/office/drawing/2014/main" id="{9C83145A-9A38-4389-BA55-B2DC124C7CCE}"/>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5" name="圆角矩形 13">
              <a:extLst>
                <a:ext uri="{FF2B5EF4-FFF2-40B4-BE49-F238E27FC236}">
                  <a16:creationId xmlns:a16="http://schemas.microsoft.com/office/drawing/2014/main" id="{5F30C916-99CD-41F6-B9F5-44A06301974D}"/>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6" name="图片 3">
            <a:extLst>
              <a:ext uri="{FF2B5EF4-FFF2-40B4-BE49-F238E27FC236}">
                <a16:creationId xmlns:a16="http://schemas.microsoft.com/office/drawing/2014/main" id="{408ADF0C-ACC1-4673-9FB1-66E00A81977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6539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6473A-FAF4-414C-9522-3C4BCFE2B205}"/>
              </a:ext>
            </a:extLst>
          </p:cNvPr>
          <p:cNvSpPr>
            <a:spLocks noGrp="1"/>
          </p:cNvSpPr>
          <p:nvPr>
            <p:ph type="title"/>
          </p:nvPr>
        </p:nvSpPr>
        <p:spPr>
          <a:xfrm>
            <a:off x="1014116" y="3100647"/>
            <a:ext cx="7886700" cy="867940"/>
          </a:xfrm>
        </p:spPr>
        <p:txBody>
          <a:bodyPr anchor="b"/>
          <a:lstStyle>
            <a:lvl1pPr>
              <a:defRPr sz="4500">
                <a:latin typeface="Arial Unicode MS" pitchFamily="34" charset="-122"/>
                <a:ea typeface="Arial Unicode MS" pitchFamily="34" charset="-122"/>
                <a:cs typeface="Arial Unicode MS" pitchFamily="34" charset="-122"/>
              </a:defRPr>
            </a:lvl1pPr>
          </a:lstStyle>
          <a:p>
            <a:r>
              <a:rPr lang="zh-CN" altLang="en-US" dirty="0"/>
              <a:t>单击此处编辑母版标题样式</a:t>
            </a:r>
          </a:p>
        </p:txBody>
      </p:sp>
      <p:sp>
        <p:nvSpPr>
          <p:cNvPr id="7" name="圆角矩形 5">
            <a:extLst>
              <a:ext uri="{FF2B5EF4-FFF2-40B4-BE49-F238E27FC236}">
                <a16:creationId xmlns:a16="http://schemas.microsoft.com/office/drawing/2014/main" id="{3BD87344-C6CA-4F87-9448-0B8B7FAF9E1B}"/>
              </a:ext>
            </a:extLst>
          </p:cNvPr>
          <p:cNvSpPr/>
          <p:nvPr userDrawn="1"/>
        </p:nvSpPr>
        <p:spPr>
          <a:xfrm>
            <a:off x="0" y="4044001"/>
            <a:ext cx="952500"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圆角矩形 6">
            <a:extLst>
              <a:ext uri="{FF2B5EF4-FFF2-40B4-BE49-F238E27FC236}">
                <a16:creationId xmlns:a16="http://schemas.microsoft.com/office/drawing/2014/main" id="{6DA4B6E9-D6DC-4952-865A-DA8EE6DB8245}"/>
              </a:ext>
            </a:extLst>
          </p:cNvPr>
          <p:cNvSpPr/>
          <p:nvPr userDrawn="1"/>
        </p:nvSpPr>
        <p:spPr>
          <a:xfrm>
            <a:off x="1014116" y="4044001"/>
            <a:ext cx="3643609"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圆角矩形 7">
            <a:extLst>
              <a:ext uri="{FF2B5EF4-FFF2-40B4-BE49-F238E27FC236}">
                <a16:creationId xmlns:a16="http://schemas.microsoft.com/office/drawing/2014/main" id="{F7595CA0-CBC9-4927-B9FF-0B4BA5FB62ED}"/>
              </a:ext>
            </a:extLst>
          </p:cNvPr>
          <p:cNvSpPr/>
          <p:nvPr userDrawn="1"/>
        </p:nvSpPr>
        <p:spPr>
          <a:xfrm>
            <a:off x="4724400" y="4044001"/>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510138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232448-0BA2-40E5-A2C0-FE19F5B0EFC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C981BA7-2F47-4ADB-915A-3DEA803B6CA4}"/>
              </a:ext>
            </a:extLst>
          </p:cNvPr>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9AE45C7A-E3DB-493E-9698-B006439AB31B}"/>
              </a:ext>
            </a:extLst>
          </p:cNvPr>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CA42E52-6363-4A26-9F01-A62CE34E16AD}"/>
              </a:ext>
            </a:extLst>
          </p:cNvPr>
          <p:cNvSpPr>
            <a:spLocks noGrp="1"/>
          </p:cNvSpPr>
          <p:nvPr>
            <p:ph type="dt" sz="half" idx="10"/>
          </p:nvPr>
        </p:nvSpPr>
        <p:spPr/>
        <p:txBody>
          <a:bodyPr/>
          <a:lstStyle/>
          <a:p>
            <a:fld id="{B9B1AB40-DF97-4AB0-B63B-B6C2904246EB}" type="datetimeFigureOut">
              <a:rPr lang="zh-CN" altLang="en-US" smtClean="0"/>
              <a:t>2022/10/27</a:t>
            </a:fld>
            <a:endParaRPr lang="zh-CN" altLang="en-US"/>
          </a:p>
        </p:txBody>
      </p:sp>
      <p:sp>
        <p:nvSpPr>
          <p:cNvPr id="6" name="页脚占位符 5">
            <a:extLst>
              <a:ext uri="{FF2B5EF4-FFF2-40B4-BE49-F238E27FC236}">
                <a16:creationId xmlns:a16="http://schemas.microsoft.com/office/drawing/2014/main" id="{465B047E-2EC3-4418-B2C1-A69A897003F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5C945B0-B70D-4BF6-A6CF-ED8DAA8C8943}"/>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1869679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E450FD-26B7-480D-8261-CD4C51DD80D3}"/>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464C6F2-EDC6-4263-A281-7872A6E3CF6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a:extLst>
              <a:ext uri="{FF2B5EF4-FFF2-40B4-BE49-F238E27FC236}">
                <a16:creationId xmlns:a16="http://schemas.microsoft.com/office/drawing/2014/main" id="{5CD5D4B2-383D-449C-8900-FB1B3EB93CFF}"/>
              </a:ext>
            </a:extLst>
          </p:cNvPr>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87ABC02C-F6DC-4DAF-938D-195593E621D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a:extLst>
              <a:ext uri="{FF2B5EF4-FFF2-40B4-BE49-F238E27FC236}">
                <a16:creationId xmlns:a16="http://schemas.microsoft.com/office/drawing/2014/main" id="{BA408A11-7060-4D85-B243-5DD965556665}"/>
              </a:ext>
            </a:extLst>
          </p:cNvPr>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DDFAAD3C-B42A-47A7-B768-611AFC7BEB6F}"/>
              </a:ext>
            </a:extLst>
          </p:cNvPr>
          <p:cNvSpPr>
            <a:spLocks noGrp="1"/>
          </p:cNvSpPr>
          <p:nvPr>
            <p:ph type="dt" sz="half" idx="10"/>
          </p:nvPr>
        </p:nvSpPr>
        <p:spPr/>
        <p:txBody>
          <a:bodyPr/>
          <a:lstStyle/>
          <a:p>
            <a:fld id="{B9B1AB40-DF97-4AB0-B63B-B6C2904246EB}" type="datetimeFigureOut">
              <a:rPr lang="zh-CN" altLang="en-US" smtClean="0"/>
              <a:t>2022/10/27</a:t>
            </a:fld>
            <a:endParaRPr lang="zh-CN" altLang="en-US"/>
          </a:p>
        </p:txBody>
      </p:sp>
      <p:sp>
        <p:nvSpPr>
          <p:cNvPr id="8" name="页脚占位符 7">
            <a:extLst>
              <a:ext uri="{FF2B5EF4-FFF2-40B4-BE49-F238E27FC236}">
                <a16:creationId xmlns:a16="http://schemas.microsoft.com/office/drawing/2014/main" id="{F1B5FF39-DD9B-4C57-A344-275219341F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7BEA18A-253C-40CA-A957-3BA37B7A19C7}"/>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83929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75BCCD-B3FE-4D64-9C90-CF64C82B18F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1C5B8F4-1CBB-4613-A7A2-350FF2B86D80}"/>
              </a:ext>
            </a:extLst>
          </p:cNvPr>
          <p:cNvSpPr>
            <a:spLocks noGrp="1"/>
          </p:cNvSpPr>
          <p:nvPr>
            <p:ph type="dt" sz="half" idx="10"/>
          </p:nvPr>
        </p:nvSpPr>
        <p:spPr/>
        <p:txBody>
          <a:bodyPr/>
          <a:lstStyle/>
          <a:p>
            <a:fld id="{B9B1AB40-DF97-4AB0-B63B-B6C2904246EB}" type="datetimeFigureOut">
              <a:rPr lang="zh-CN" altLang="en-US" smtClean="0"/>
              <a:t>2022/10/27</a:t>
            </a:fld>
            <a:endParaRPr lang="zh-CN" altLang="en-US"/>
          </a:p>
        </p:txBody>
      </p:sp>
      <p:sp>
        <p:nvSpPr>
          <p:cNvPr id="4" name="页脚占位符 3">
            <a:extLst>
              <a:ext uri="{FF2B5EF4-FFF2-40B4-BE49-F238E27FC236}">
                <a16:creationId xmlns:a16="http://schemas.microsoft.com/office/drawing/2014/main" id="{D7B22DBA-ADB6-459C-8DDD-B1702C76D87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D426E1B-8DFB-40A0-B0EA-1E9256D1BC74}"/>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2136122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2189721-9F85-4C93-AF25-890CD11FA42C}"/>
              </a:ext>
            </a:extLst>
          </p:cNvPr>
          <p:cNvSpPr>
            <a:spLocks noGrp="1"/>
          </p:cNvSpPr>
          <p:nvPr>
            <p:ph type="dt" sz="half" idx="10"/>
          </p:nvPr>
        </p:nvSpPr>
        <p:spPr/>
        <p:txBody>
          <a:bodyPr/>
          <a:lstStyle/>
          <a:p>
            <a:fld id="{B9B1AB40-DF97-4AB0-B63B-B6C2904246EB}" type="datetimeFigureOut">
              <a:rPr lang="zh-CN" altLang="en-US" smtClean="0"/>
              <a:t>2022/10/27</a:t>
            </a:fld>
            <a:endParaRPr lang="zh-CN" altLang="en-US"/>
          </a:p>
        </p:txBody>
      </p:sp>
      <p:sp>
        <p:nvSpPr>
          <p:cNvPr id="3" name="页脚占位符 2">
            <a:extLst>
              <a:ext uri="{FF2B5EF4-FFF2-40B4-BE49-F238E27FC236}">
                <a16:creationId xmlns:a16="http://schemas.microsoft.com/office/drawing/2014/main" id="{BE57016C-A313-4228-8D34-FC5C12BCC33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0EAED29-461C-427E-94B8-4F64E97E0564}"/>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808515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0F51D1-5EA7-4401-99BA-1EC037C49421}"/>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74CF08B5-D317-4883-94CE-FAEEE05A6E6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486986A2-D743-430F-AA70-9B06B2C0F66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18817CAD-5352-4EAF-B2E4-2B49B31E3EDC}"/>
              </a:ext>
            </a:extLst>
          </p:cNvPr>
          <p:cNvSpPr>
            <a:spLocks noGrp="1"/>
          </p:cNvSpPr>
          <p:nvPr>
            <p:ph type="dt" sz="half" idx="10"/>
          </p:nvPr>
        </p:nvSpPr>
        <p:spPr/>
        <p:txBody>
          <a:bodyPr/>
          <a:lstStyle/>
          <a:p>
            <a:fld id="{B9B1AB40-DF97-4AB0-B63B-B6C2904246EB}" type="datetimeFigureOut">
              <a:rPr lang="zh-CN" altLang="en-US" smtClean="0"/>
              <a:t>2022/10/27</a:t>
            </a:fld>
            <a:endParaRPr lang="zh-CN" altLang="en-US"/>
          </a:p>
        </p:txBody>
      </p:sp>
      <p:sp>
        <p:nvSpPr>
          <p:cNvPr id="6" name="页脚占位符 5">
            <a:extLst>
              <a:ext uri="{FF2B5EF4-FFF2-40B4-BE49-F238E27FC236}">
                <a16:creationId xmlns:a16="http://schemas.microsoft.com/office/drawing/2014/main" id="{71068CC4-251C-4854-9963-7DDB0C8959D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B0C261-FF00-4B26-B51E-6D72F060403F}"/>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2254414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CCB7F6-3B15-4872-B555-7F1565B905D1}"/>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CBFA923F-001E-4E54-AE2E-D70CAC715EB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a:extLst>
              <a:ext uri="{FF2B5EF4-FFF2-40B4-BE49-F238E27FC236}">
                <a16:creationId xmlns:a16="http://schemas.microsoft.com/office/drawing/2014/main" id="{F8120E55-EACB-4D2C-973C-7AE05E56251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7C155047-D836-41BF-B4EC-6E058AC14225}"/>
              </a:ext>
            </a:extLst>
          </p:cNvPr>
          <p:cNvSpPr>
            <a:spLocks noGrp="1"/>
          </p:cNvSpPr>
          <p:nvPr>
            <p:ph type="dt" sz="half" idx="10"/>
          </p:nvPr>
        </p:nvSpPr>
        <p:spPr/>
        <p:txBody>
          <a:bodyPr/>
          <a:lstStyle/>
          <a:p>
            <a:fld id="{B9B1AB40-DF97-4AB0-B63B-B6C2904246EB}" type="datetimeFigureOut">
              <a:rPr lang="zh-CN" altLang="en-US" smtClean="0"/>
              <a:t>2022/10/27</a:t>
            </a:fld>
            <a:endParaRPr lang="zh-CN" altLang="en-US"/>
          </a:p>
        </p:txBody>
      </p:sp>
      <p:sp>
        <p:nvSpPr>
          <p:cNvPr id="6" name="页脚占位符 5">
            <a:extLst>
              <a:ext uri="{FF2B5EF4-FFF2-40B4-BE49-F238E27FC236}">
                <a16:creationId xmlns:a16="http://schemas.microsoft.com/office/drawing/2014/main" id="{ABEDD3A4-3A50-440F-A891-A798B3A6C1D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17A6A10-432E-4945-AF1E-64FDF90A2601}"/>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4044899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116CF1-CD97-4DBA-A96F-F883552B4FB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399B747-8D5C-4895-A7EC-E7332E48E29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87135EC-C807-4A0E-90F1-EE1D3601DEEA}"/>
              </a:ext>
            </a:extLst>
          </p:cNvPr>
          <p:cNvSpPr>
            <a:spLocks noGrp="1"/>
          </p:cNvSpPr>
          <p:nvPr>
            <p:ph type="dt" sz="half" idx="10"/>
          </p:nvPr>
        </p:nvSpPr>
        <p:spPr/>
        <p:txBody>
          <a:bodyPr/>
          <a:lstStyle/>
          <a:p>
            <a:fld id="{B9B1AB40-DF97-4AB0-B63B-B6C2904246EB}" type="datetimeFigureOut">
              <a:rPr lang="zh-CN" altLang="en-US" smtClean="0"/>
              <a:t>2022/10/27</a:t>
            </a:fld>
            <a:endParaRPr lang="zh-CN" altLang="en-US"/>
          </a:p>
        </p:txBody>
      </p:sp>
      <p:sp>
        <p:nvSpPr>
          <p:cNvPr id="5" name="页脚占位符 4">
            <a:extLst>
              <a:ext uri="{FF2B5EF4-FFF2-40B4-BE49-F238E27FC236}">
                <a16:creationId xmlns:a16="http://schemas.microsoft.com/office/drawing/2014/main" id="{FAD0FB47-2483-4992-8D35-B58CEC00DFA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555DE4-AE2F-40B7-AF19-7220940C1185}"/>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4132220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20F266B-DA68-452A-BFC2-0DBF1351710D}"/>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DC26948-9D79-4503-B7E8-FB720785EE46}"/>
              </a:ext>
            </a:extLst>
          </p:cNvPr>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6763795-09C4-4CE3-967D-39D8EED2D346}"/>
              </a:ext>
            </a:extLst>
          </p:cNvPr>
          <p:cNvSpPr>
            <a:spLocks noGrp="1"/>
          </p:cNvSpPr>
          <p:nvPr>
            <p:ph type="dt" sz="half" idx="10"/>
          </p:nvPr>
        </p:nvSpPr>
        <p:spPr/>
        <p:txBody>
          <a:bodyPr/>
          <a:lstStyle/>
          <a:p>
            <a:fld id="{B9B1AB40-DF97-4AB0-B63B-B6C2904246EB}" type="datetimeFigureOut">
              <a:rPr lang="zh-CN" altLang="en-US" smtClean="0"/>
              <a:t>2022/10/27</a:t>
            </a:fld>
            <a:endParaRPr lang="zh-CN" altLang="en-US"/>
          </a:p>
        </p:txBody>
      </p:sp>
      <p:sp>
        <p:nvSpPr>
          <p:cNvPr id="5" name="页脚占位符 4">
            <a:extLst>
              <a:ext uri="{FF2B5EF4-FFF2-40B4-BE49-F238E27FC236}">
                <a16:creationId xmlns:a16="http://schemas.microsoft.com/office/drawing/2014/main" id="{D292961E-4D31-4C00-8456-DA422BEC94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04869D-578E-442B-AC17-5E714BDBD47B}"/>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789998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7" name="图片 9">
            <a:extLst>
              <a:ext uri="{FF2B5EF4-FFF2-40B4-BE49-F238E27FC236}">
                <a16:creationId xmlns:a16="http://schemas.microsoft.com/office/drawing/2014/main" id="{36484A2C-39A1-4BDC-B92B-AF52D58B0F55}"/>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11">
            <a:extLst>
              <a:ext uri="{FF2B5EF4-FFF2-40B4-BE49-F238E27FC236}">
                <a16:creationId xmlns:a16="http://schemas.microsoft.com/office/drawing/2014/main" id="{56818F0A-1B6A-44A9-9717-55DA1C8C1ED4}"/>
              </a:ext>
            </a:extLst>
          </p:cNvPr>
          <p:cNvGrpSpPr>
            <a:grpSpLocks/>
          </p:cNvGrpSpPr>
          <p:nvPr userDrawn="1"/>
        </p:nvGrpSpPr>
        <p:grpSpPr bwMode="auto">
          <a:xfrm>
            <a:off x="0" y="4741863"/>
            <a:ext cx="9043988" cy="142875"/>
            <a:chOff x="76199" y="1241003"/>
            <a:chExt cx="9044401" cy="144000"/>
          </a:xfrm>
        </p:grpSpPr>
        <p:sp>
          <p:nvSpPr>
            <p:cNvPr id="9" name="圆角矩形 11">
              <a:extLst>
                <a:ext uri="{FF2B5EF4-FFF2-40B4-BE49-F238E27FC236}">
                  <a16:creationId xmlns:a16="http://schemas.microsoft.com/office/drawing/2014/main" id="{2658448A-EA7B-40C8-99E5-5CDD7E4A2B5E}"/>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2">
              <a:extLst>
                <a:ext uri="{FF2B5EF4-FFF2-40B4-BE49-F238E27FC236}">
                  <a16:creationId xmlns:a16="http://schemas.microsoft.com/office/drawing/2014/main" id="{0F1BA9DE-48A6-4320-A3CB-CA0618F88CA6}"/>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1" name="圆角矩形 13">
              <a:extLst>
                <a:ext uri="{FF2B5EF4-FFF2-40B4-BE49-F238E27FC236}">
                  <a16:creationId xmlns:a16="http://schemas.microsoft.com/office/drawing/2014/main" id="{95532181-9B56-4565-85B0-26FAE243974A}"/>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2" name="图片 18">
            <a:extLst>
              <a:ext uri="{FF2B5EF4-FFF2-40B4-BE49-F238E27FC236}">
                <a16:creationId xmlns:a16="http://schemas.microsoft.com/office/drawing/2014/main" id="{C6EF10A3-5E14-4AC4-BEC5-788C4A6ABF70}"/>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0">
            <a:extLst>
              <a:ext uri="{FF2B5EF4-FFF2-40B4-BE49-F238E27FC236}">
                <a16:creationId xmlns:a16="http://schemas.microsoft.com/office/drawing/2014/main" id="{E5368EC2-A439-426F-9848-8912DFFAC14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3">
            <a:extLst>
              <a:ext uri="{FF2B5EF4-FFF2-40B4-BE49-F238E27FC236}">
                <a16:creationId xmlns:a16="http://schemas.microsoft.com/office/drawing/2014/main" id="{DB79EDD7-2DA9-41B8-BF25-43496C709607}"/>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21198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userDrawn="1"/>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1" name="图片 3">
            <a:extLst>
              <a:ext uri="{FF2B5EF4-FFF2-40B4-BE49-F238E27FC236}">
                <a16:creationId xmlns:a16="http://schemas.microsoft.com/office/drawing/2014/main" id="{B0C51A74-65A9-4F9C-9DAC-5C9B5FEFDC4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dirty="0"/>
              <a:t>2</a:t>
            </a:r>
            <a:endParaRPr lang="zh-CN" altLang="en-US" dirty="0"/>
          </a:p>
        </p:txBody>
      </p:sp>
    </p:spTree>
    <p:extLst>
      <p:ext uri="{BB962C8B-B14F-4D97-AF65-F5344CB8AC3E}">
        <p14:creationId xmlns:p14="http://schemas.microsoft.com/office/powerpoint/2010/main" val="10475944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457200" y="1600200"/>
            <a:ext cx="4038600" cy="452596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quarter" idx="2"/>
          </p:nvPr>
        </p:nvSpPr>
        <p:spPr>
          <a:xfrm>
            <a:off x="4648200" y="1600200"/>
            <a:ext cx="4038600" cy="21859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Content Placeholder 4"/>
          <p:cNvSpPr>
            <a:spLocks noGrp="1"/>
          </p:cNvSpPr>
          <p:nvPr>
            <p:ph sz="quarter" idx="3"/>
          </p:nvPr>
        </p:nvSpPr>
        <p:spPr>
          <a:xfrm>
            <a:off x="4648200" y="3938588"/>
            <a:ext cx="4038600" cy="218757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Date Placeholder 5"/>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8" name="Slide Number Placeholder 7"/>
          <p:cNvSpPr>
            <a:spLocks noGrp="1"/>
          </p:cNvSpPr>
          <p:nvPr>
            <p:ph type="sldNum" sz="quarter" idx="12"/>
          </p:nvPr>
        </p:nvSpPr>
        <p:spPr>
          <a:xfrm>
            <a:off x="6553200" y="6245225"/>
            <a:ext cx="2133600" cy="476250"/>
          </a:xfrm>
        </p:spPr>
        <p:txBody>
          <a:bodyPr/>
          <a:lstStyle>
            <a:lvl1pPr>
              <a:defRPr/>
            </a:lvl1pPr>
          </a:lstStyle>
          <a:p>
            <a:fld id="{B8A4DFA5-2C7C-4472-BAF1-4432A08D48B4}" type="slidenum">
              <a:rPr lang="en-US" altLang="zh-CN"/>
              <a:pPr/>
              <a:t>‹#›</a:t>
            </a:fld>
            <a:endParaRPr lang="en-US" altLang="zh-CN"/>
          </a:p>
        </p:txBody>
      </p:sp>
    </p:spTree>
    <p:extLst>
      <p:ext uri="{BB962C8B-B14F-4D97-AF65-F5344CB8AC3E}">
        <p14:creationId xmlns:p14="http://schemas.microsoft.com/office/powerpoint/2010/main" val="13725176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218610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34238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pSp>
        <p:nvGrpSpPr>
          <p:cNvPr id="6" name="组合 23"/>
          <p:cNvGrpSpPr>
            <a:grpSpLocks/>
          </p:cNvGrpSpPr>
          <p:nvPr userDrawn="1"/>
        </p:nvGrpSpPr>
        <p:grpSpPr bwMode="auto">
          <a:xfrm>
            <a:off x="371475" y="-190500"/>
            <a:ext cx="1230313" cy="1358900"/>
            <a:chOff x="371610" y="-231341"/>
            <a:chExt cx="1230631" cy="1358900"/>
          </a:xfrm>
        </p:grpSpPr>
        <p:sp>
          <p:nvSpPr>
            <p:cNvPr id="7" name="同侧圆角矩形 6"/>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sp>
          <p:nvSpPr>
            <p:cNvPr id="8" name="同侧圆角矩形 7"/>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pic>
          <p:nvPicPr>
            <p:cNvPr id="9" name="图片 29" descr="logo（背景透明）"/>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1610" y="-231341"/>
              <a:ext cx="1230631"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组合 7"/>
          <p:cNvGrpSpPr>
            <a:grpSpLocks/>
          </p:cNvGrpSpPr>
          <p:nvPr userDrawn="1"/>
        </p:nvGrpSpPr>
        <p:grpSpPr bwMode="auto">
          <a:xfrm>
            <a:off x="76200" y="2151063"/>
            <a:ext cx="9043988" cy="381000"/>
            <a:chOff x="76200" y="2151457"/>
            <a:chExt cx="9043988" cy="381000"/>
          </a:xfrm>
        </p:grpSpPr>
        <p:sp>
          <p:nvSpPr>
            <p:cNvPr id="11" name="圆角矩形 10"/>
            <p:cNvSpPr/>
            <p:nvPr/>
          </p:nvSpPr>
          <p:spPr>
            <a:xfrm>
              <a:off x="76200" y="2294332"/>
              <a:ext cx="1676400"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2" name="圆角矩形 11"/>
            <p:cNvSpPr/>
            <p:nvPr/>
          </p:nvSpPr>
          <p:spPr>
            <a:xfrm>
              <a:off x="1524000" y="2294332"/>
              <a:ext cx="3200400"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3" name="圆角矩形 12"/>
            <p:cNvSpPr/>
            <p:nvPr/>
          </p:nvSpPr>
          <p:spPr>
            <a:xfrm>
              <a:off x="4800600" y="2294332"/>
              <a:ext cx="4319588"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4" name="圆角矩形 13"/>
            <p:cNvSpPr/>
            <p:nvPr/>
          </p:nvSpPr>
          <p:spPr>
            <a:xfrm rot="1383523">
              <a:off x="1417638"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sp>
          <p:nvSpPr>
            <p:cNvPr id="15" name="圆角矩形 14"/>
            <p:cNvSpPr/>
            <p:nvPr/>
          </p:nvSpPr>
          <p:spPr>
            <a:xfrm rot="1383523">
              <a:off x="4616450"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grpSp>
      <p:pic>
        <p:nvPicPr>
          <p:cNvPr id="16" name="Picture 7"/>
          <p:cNvPicPr>
            <a:picLocks noChangeAspect="1" noChangeArrowheads="1"/>
          </p:cNvPicPr>
          <p:nvPr userDrawn="1"/>
        </p:nvPicPr>
        <p:blipFill>
          <a:blip r:embed="rId3">
            <a:extLst>
              <a:ext uri="{28A0092B-C50C-407E-A947-70E740481C1C}">
                <a14:useLocalDpi xmlns:a14="http://schemas.microsoft.com/office/drawing/2010/main" val="0"/>
              </a:ext>
            </a:extLst>
          </a:blip>
          <a:srcRect t="17253" b="10274"/>
          <a:stretch>
            <a:fillRect/>
          </a:stretch>
        </p:blipFill>
        <p:spPr bwMode="auto">
          <a:xfrm>
            <a:off x="157163" y="5467350"/>
            <a:ext cx="1957387"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3"/>
          <p:cNvPicPr>
            <a:picLocks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181225" y="5478463"/>
            <a:ext cx="21240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4"/>
          <p:cNvPicPr>
            <a:picLocks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384675" y="5478463"/>
            <a:ext cx="23907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b="11245"/>
          <a:stretch/>
        </p:blipFill>
        <p:spPr bwMode="auto">
          <a:xfrm>
            <a:off x="6846888" y="5467351"/>
            <a:ext cx="2220912" cy="1273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3"/>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637463" y="4702719"/>
            <a:ext cx="1506537" cy="84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TextBox 2"/>
          <p:cNvSpPr txBox="1">
            <a:spLocks noChangeArrowheads="1"/>
          </p:cNvSpPr>
          <p:nvPr userDrawn="1"/>
        </p:nvSpPr>
        <p:spPr bwMode="auto">
          <a:xfrm>
            <a:off x="8172400" y="5165911"/>
            <a:ext cx="7810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baseline="-25000">
                <a:solidFill>
                  <a:schemeClr val="tx1"/>
                </a:solidFill>
                <a:latin typeface="Arial" charset="0"/>
              </a:defRPr>
            </a:lvl1pPr>
            <a:lvl2pPr marL="742950" indent="-285750">
              <a:defRPr sz="2800" b="1" baseline="-25000">
                <a:solidFill>
                  <a:schemeClr val="tx1"/>
                </a:solidFill>
                <a:latin typeface="Arial" charset="0"/>
              </a:defRPr>
            </a:lvl2pPr>
            <a:lvl3pPr marL="1143000" indent="-228600">
              <a:defRPr sz="2800" b="1" baseline="-25000">
                <a:solidFill>
                  <a:schemeClr val="tx1"/>
                </a:solidFill>
                <a:latin typeface="Arial" charset="0"/>
              </a:defRPr>
            </a:lvl3pPr>
            <a:lvl4pPr marL="1600200" indent="-228600">
              <a:defRPr sz="2800" b="1" baseline="-25000">
                <a:solidFill>
                  <a:schemeClr val="tx1"/>
                </a:solidFill>
                <a:latin typeface="Arial" charset="0"/>
              </a:defRPr>
            </a:lvl4pPr>
            <a:lvl5pPr marL="2057400" indent="-228600">
              <a:defRPr sz="2800" b="1" baseline="-25000">
                <a:solidFill>
                  <a:schemeClr val="tx1"/>
                </a:solidFill>
                <a:latin typeface="Arial" charset="0"/>
              </a:defRPr>
            </a:lvl5pPr>
            <a:lvl6pPr marL="2514600" indent="-228600" eaLnBrk="0" fontAlgn="base" hangingPunct="0">
              <a:spcBef>
                <a:spcPct val="0"/>
              </a:spcBef>
              <a:spcAft>
                <a:spcPct val="0"/>
              </a:spcAft>
              <a:defRPr sz="2800" b="1" baseline="-25000">
                <a:solidFill>
                  <a:schemeClr val="tx1"/>
                </a:solidFill>
                <a:latin typeface="Arial" charset="0"/>
              </a:defRPr>
            </a:lvl6pPr>
            <a:lvl7pPr marL="2971800" indent="-228600" eaLnBrk="0" fontAlgn="base" hangingPunct="0">
              <a:spcBef>
                <a:spcPct val="0"/>
              </a:spcBef>
              <a:spcAft>
                <a:spcPct val="0"/>
              </a:spcAft>
              <a:defRPr sz="2800" b="1" baseline="-25000">
                <a:solidFill>
                  <a:schemeClr val="tx1"/>
                </a:solidFill>
                <a:latin typeface="Arial" charset="0"/>
              </a:defRPr>
            </a:lvl7pPr>
            <a:lvl8pPr marL="3429000" indent="-228600" eaLnBrk="0" fontAlgn="base" hangingPunct="0">
              <a:spcBef>
                <a:spcPct val="0"/>
              </a:spcBef>
              <a:spcAft>
                <a:spcPct val="0"/>
              </a:spcAft>
              <a:defRPr sz="2800" b="1" baseline="-25000">
                <a:solidFill>
                  <a:schemeClr val="tx1"/>
                </a:solidFill>
                <a:latin typeface="Arial" charset="0"/>
              </a:defRPr>
            </a:lvl8pPr>
            <a:lvl9pPr marL="3886200" indent="-228600" eaLnBrk="0" fontAlgn="base" hangingPunct="0">
              <a:spcBef>
                <a:spcPct val="0"/>
              </a:spcBef>
              <a:spcAft>
                <a:spcPct val="0"/>
              </a:spcAft>
              <a:defRPr sz="2800" b="1" baseline="-25000">
                <a:solidFill>
                  <a:schemeClr val="tx1"/>
                </a:solidFill>
                <a:latin typeface="Arial" charset="0"/>
              </a:defRPr>
            </a:lvl9pPr>
          </a:lstStyle>
          <a:p>
            <a:r>
              <a:rPr lang="en-US" altLang="zh-CN" sz="900" b="0" baseline="0" dirty="0">
                <a:latin typeface="黑体" panose="02010609060101010101" pitchFamily="49" charset="-122"/>
                <a:ea typeface="黑体" panose="02010609060101010101" pitchFamily="49" charset="-122"/>
              </a:rPr>
              <a:t>Since 2016</a:t>
            </a:r>
            <a:endParaRPr lang="zh-CN" altLang="en-US" sz="900" b="0" baseline="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806009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pic>
        <p:nvPicPr>
          <p:cNvPr id="2"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82000" y="6526213"/>
            <a:ext cx="6794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组合 7"/>
          <p:cNvGrpSpPr>
            <a:grpSpLocks/>
          </p:cNvGrpSpPr>
          <p:nvPr userDrawn="1"/>
        </p:nvGrpSpPr>
        <p:grpSpPr bwMode="auto">
          <a:xfrm>
            <a:off x="73025" y="6643688"/>
            <a:ext cx="8150225" cy="144462"/>
            <a:chOff x="76199" y="2293938"/>
            <a:chExt cx="9043989" cy="144462"/>
          </a:xfrm>
        </p:grpSpPr>
        <p:sp>
          <p:nvSpPr>
            <p:cNvPr id="4" name="圆角矩形 3"/>
            <p:cNvSpPr/>
            <p:nvPr/>
          </p:nvSpPr>
          <p:spPr>
            <a:xfrm>
              <a:off x="76199" y="2293938"/>
              <a:ext cx="1250727"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5" name="圆角矩形 4"/>
            <p:cNvSpPr/>
            <p:nvPr/>
          </p:nvSpPr>
          <p:spPr>
            <a:xfrm>
              <a:off x="1415005" y="2293938"/>
              <a:ext cx="3310023"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 name="圆角矩形 5"/>
            <p:cNvSpPr/>
            <p:nvPr/>
          </p:nvSpPr>
          <p:spPr>
            <a:xfrm>
              <a:off x="4800776" y="2293938"/>
              <a:ext cx="4319412"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pic>
        <p:nvPicPr>
          <p:cNvPr id="7"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796213" y="-104775"/>
            <a:ext cx="854075"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11985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8B20F97-D093-4167-88EF-C188D3B8DC0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4B78C6B4-EDBC-4C7B-80E2-2A36D8872A6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1AB1772D-D631-4D4E-BF62-42EF4690EB9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9B1AB40-DF97-4AB0-B63B-B6C2904246EB}" type="datetimeFigureOut">
              <a:rPr lang="zh-CN" altLang="en-US" smtClean="0"/>
              <a:t>2022/10/27</a:t>
            </a:fld>
            <a:endParaRPr lang="zh-CN" altLang="en-US"/>
          </a:p>
        </p:txBody>
      </p:sp>
      <p:sp>
        <p:nvSpPr>
          <p:cNvPr id="5" name="页脚占位符 4">
            <a:extLst>
              <a:ext uri="{FF2B5EF4-FFF2-40B4-BE49-F238E27FC236}">
                <a16:creationId xmlns:a16="http://schemas.microsoft.com/office/drawing/2014/main" id="{33AFB56B-864D-497D-8AE9-5E092905F79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832445E-5DFA-480A-96AF-CCD8859EA90F}"/>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682342105"/>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33" r:id="rId12"/>
    <p:sldLayoutId id="2147483734" r:id="rId13"/>
    <p:sldLayoutId id="2147483760" r:id="rId14"/>
    <p:sldLayoutId id="2147483761" r:id="rId15"/>
    <p:sldLayoutId id="2147483762" r:id="rId16"/>
    <p:sldLayoutId id="2147483763" r:id="rId17"/>
    <p:sldLayoutId id="2147483764" r:id="rId18"/>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4.wmf"/><Relationship Id="rId7" Type="http://schemas.openxmlformats.org/officeDocument/2006/relationships/image" Target="../media/image16.wmf"/><Relationship Id="rId2" Type="http://schemas.openxmlformats.org/officeDocument/2006/relationships/oleObject" Target="../embeddings/oleObject1.bin"/><Relationship Id="rId1" Type="http://schemas.openxmlformats.org/officeDocument/2006/relationships/slideLayout" Target="../slideLayouts/slideLayout18.xml"/><Relationship Id="rId6" Type="http://schemas.openxmlformats.org/officeDocument/2006/relationships/oleObject" Target="../embeddings/oleObject3.bin"/><Relationship Id="rId5" Type="http://schemas.openxmlformats.org/officeDocument/2006/relationships/image" Target="../media/image15.w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22.wmf"/><Relationship Id="rId18" Type="http://schemas.openxmlformats.org/officeDocument/2006/relationships/oleObject" Target="../embeddings/oleObject12.bin"/><Relationship Id="rId3" Type="http://schemas.openxmlformats.org/officeDocument/2006/relationships/image" Target="../media/image17.wmf"/><Relationship Id="rId7" Type="http://schemas.openxmlformats.org/officeDocument/2006/relationships/image" Target="../media/image19.wmf"/><Relationship Id="rId12" Type="http://schemas.openxmlformats.org/officeDocument/2006/relationships/oleObject" Target="../embeddings/oleObject9.bin"/><Relationship Id="rId17" Type="http://schemas.openxmlformats.org/officeDocument/2006/relationships/image" Target="../media/image24.wmf"/><Relationship Id="rId2" Type="http://schemas.openxmlformats.org/officeDocument/2006/relationships/oleObject" Target="../embeddings/oleObject4.bin"/><Relationship Id="rId16" Type="http://schemas.openxmlformats.org/officeDocument/2006/relationships/oleObject" Target="../embeddings/oleObject11.bin"/><Relationship Id="rId1" Type="http://schemas.openxmlformats.org/officeDocument/2006/relationships/slideLayout" Target="../slideLayouts/slideLayout18.xml"/><Relationship Id="rId6" Type="http://schemas.openxmlformats.org/officeDocument/2006/relationships/oleObject" Target="../embeddings/oleObject6.bin"/><Relationship Id="rId11" Type="http://schemas.openxmlformats.org/officeDocument/2006/relationships/image" Target="../media/image21.wmf"/><Relationship Id="rId5" Type="http://schemas.openxmlformats.org/officeDocument/2006/relationships/image" Target="../media/image18.wmf"/><Relationship Id="rId15" Type="http://schemas.openxmlformats.org/officeDocument/2006/relationships/image" Target="../media/image23.wmf"/><Relationship Id="rId10" Type="http://schemas.openxmlformats.org/officeDocument/2006/relationships/oleObject" Target="../embeddings/oleObject8.bin"/><Relationship Id="rId19" Type="http://schemas.openxmlformats.org/officeDocument/2006/relationships/image" Target="../media/image25.wmf"/><Relationship Id="rId4" Type="http://schemas.openxmlformats.org/officeDocument/2006/relationships/oleObject" Target="../embeddings/oleObject5.bin"/><Relationship Id="rId9" Type="http://schemas.openxmlformats.org/officeDocument/2006/relationships/image" Target="../media/image20.wmf"/><Relationship Id="rId14" Type="http://schemas.openxmlformats.org/officeDocument/2006/relationships/oleObject" Target="../embeddings/oleObject10.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13.bin"/><Relationship Id="rId1" Type="http://schemas.openxmlformats.org/officeDocument/2006/relationships/slideLayout" Target="../slideLayouts/slideLayout18.xml"/><Relationship Id="rId6" Type="http://schemas.openxmlformats.org/officeDocument/2006/relationships/image" Target="../media/image29.png"/><Relationship Id="rId5" Type="http://schemas.openxmlformats.org/officeDocument/2006/relationships/image" Target="../media/image28.wmf"/><Relationship Id="rId4" Type="http://schemas.openxmlformats.org/officeDocument/2006/relationships/oleObject" Target="../embeddings/oleObject14.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oleObject" Target="../embeddings/oleObject20.bin"/><Relationship Id="rId3" Type="http://schemas.openxmlformats.org/officeDocument/2006/relationships/image" Target="../media/image30.wmf"/><Relationship Id="rId7" Type="http://schemas.openxmlformats.org/officeDocument/2006/relationships/image" Target="../media/image32.wmf"/><Relationship Id="rId12" Type="http://schemas.openxmlformats.org/officeDocument/2006/relationships/image" Target="../media/image35.wmf"/><Relationship Id="rId2" Type="http://schemas.openxmlformats.org/officeDocument/2006/relationships/oleObject" Target="../embeddings/oleObject15.bin"/><Relationship Id="rId1" Type="http://schemas.openxmlformats.org/officeDocument/2006/relationships/slideLayout" Target="../slideLayouts/slideLayout18.xml"/><Relationship Id="rId6" Type="http://schemas.openxmlformats.org/officeDocument/2006/relationships/oleObject" Target="../embeddings/oleObject17.bin"/><Relationship Id="rId11" Type="http://schemas.openxmlformats.org/officeDocument/2006/relationships/oleObject" Target="../embeddings/oleObject19.bin"/><Relationship Id="rId5" Type="http://schemas.openxmlformats.org/officeDocument/2006/relationships/image" Target="../media/image31.wmf"/><Relationship Id="rId10" Type="http://schemas.openxmlformats.org/officeDocument/2006/relationships/image" Target="../media/image34.png"/><Relationship Id="rId4" Type="http://schemas.openxmlformats.org/officeDocument/2006/relationships/oleObject" Target="../embeddings/oleObject16.bin"/><Relationship Id="rId9" Type="http://schemas.openxmlformats.org/officeDocument/2006/relationships/image" Target="../media/image33.wmf"/><Relationship Id="rId14" Type="http://schemas.openxmlformats.org/officeDocument/2006/relationships/image" Target="../media/image36.wmf"/></Relationships>
</file>

<file path=ppt/slides/_rels/slide8.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image" Target="../media/image37.wmf"/><Relationship Id="rId7" Type="http://schemas.openxmlformats.org/officeDocument/2006/relationships/oleObject" Target="../embeddings/oleObject23.bin"/><Relationship Id="rId2" Type="http://schemas.openxmlformats.org/officeDocument/2006/relationships/oleObject" Target="../embeddings/oleObject21.bin"/><Relationship Id="rId1" Type="http://schemas.openxmlformats.org/officeDocument/2006/relationships/slideLayout" Target="../slideLayouts/slideLayout18.xml"/><Relationship Id="rId6" Type="http://schemas.openxmlformats.org/officeDocument/2006/relationships/image" Target="../media/image36.wmf"/><Relationship Id="rId5" Type="http://schemas.openxmlformats.org/officeDocument/2006/relationships/oleObject" Target="../embeddings/oleObject22.bin"/><Relationship Id="rId10" Type="http://schemas.openxmlformats.org/officeDocument/2006/relationships/image" Target="../media/image39.wmf"/><Relationship Id="rId4" Type="http://schemas.openxmlformats.org/officeDocument/2006/relationships/image" Target="../media/image34.png"/><Relationship Id="rId9" Type="http://schemas.openxmlformats.org/officeDocument/2006/relationships/oleObject" Target="../embeddings/oleObject24.bin"/></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4.png"/><Relationship Id="rId1" Type="http://schemas.openxmlformats.org/officeDocument/2006/relationships/slideLayout" Target="../slideLayouts/slideLayout18.xml"/><Relationship Id="rId5" Type="http://schemas.openxmlformats.org/officeDocument/2006/relationships/image" Target="../media/image41.wmf"/><Relationship Id="rId4" Type="http://schemas.openxmlformats.org/officeDocument/2006/relationships/oleObject" Target="../embeddings/oleObject25.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oleObject" Target="../embeddings/oleObject31.bin"/><Relationship Id="rId18" Type="http://schemas.openxmlformats.org/officeDocument/2006/relationships/image" Target="../media/image49.wmf"/><Relationship Id="rId3" Type="http://schemas.openxmlformats.org/officeDocument/2006/relationships/oleObject" Target="../embeddings/oleObject26.bin"/><Relationship Id="rId21" Type="http://schemas.openxmlformats.org/officeDocument/2006/relationships/oleObject" Target="../embeddings/oleObject35.bin"/><Relationship Id="rId7" Type="http://schemas.openxmlformats.org/officeDocument/2006/relationships/oleObject" Target="../embeddings/oleObject28.bin"/><Relationship Id="rId12" Type="http://schemas.openxmlformats.org/officeDocument/2006/relationships/image" Target="../media/image46.wmf"/><Relationship Id="rId17" Type="http://schemas.openxmlformats.org/officeDocument/2006/relationships/oleObject" Target="../embeddings/oleObject33.bin"/><Relationship Id="rId2" Type="http://schemas.openxmlformats.org/officeDocument/2006/relationships/image" Target="../media/image40.png"/><Relationship Id="rId16" Type="http://schemas.openxmlformats.org/officeDocument/2006/relationships/image" Target="../media/image48.wmf"/><Relationship Id="rId20" Type="http://schemas.openxmlformats.org/officeDocument/2006/relationships/image" Target="../media/image50.wmf"/><Relationship Id="rId1" Type="http://schemas.openxmlformats.org/officeDocument/2006/relationships/slideLayout" Target="../slideLayouts/slideLayout18.xml"/><Relationship Id="rId6" Type="http://schemas.openxmlformats.org/officeDocument/2006/relationships/image" Target="../media/image43.wmf"/><Relationship Id="rId11" Type="http://schemas.openxmlformats.org/officeDocument/2006/relationships/oleObject" Target="../embeddings/oleObject30.bin"/><Relationship Id="rId5" Type="http://schemas.openxmlformats.org/officeDocument/2006/relationships/oleObject" Target="../embeddings/oleObject27.bin"/><Relationship Id="rId15" Type="http://schemas.openxmlformats.org/officeDocument/2006/relationships/oleObject" Target="../embeddings/oleObject32.bin"/><Relationship Id="rId23" Type="http://schemas.openxmlformats.org/officeDocument/2006/relationships/image" Target="../media/image52.png"/><Relationship Id="rId10" Type="http://schemas.openxmlformats.org/officeDocument/2006/relationships/image" Target="../media/image45.wmf"/><Relationship Id="rId19" Type="http://schemas.openxmlformats.org/officeDocument/2006/relationships/oleObject" Target="../embeddings/oleObject34.bin"/><Relationship Id="rId4" Type="http://schemas.openxmlformats.org/officeDocument/2006/relationships/image" Target="../media/image42.wmf"/><Relationship Id="rId9" Type="http://schemas.openxmlformats.org/officeDocument/2006/relationships/oleObject" Target="../embeddings/oleObject29.bin"/><Relationship Id="rId14" Type="http://schemas.openxmlformats.org/officeDocument/2006/relationships/image" Target="../media/image47.wmf"/><Relationship Id="rId22" Type="http://schemas.openxmlformats.org/officeDocument/2006/relationships/image" Target="../media/image51.wmf"/></Relationships>
</file>

<file path=ppt/slides/_rels/slide1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13.xml"/><Relationship Id="rId4" Type="http://schemas.openxmlformats.org/officeDocument/2006/relationships/image" Target="../media/image56.jpeg"/></Relationships>
</file>

<file path=ppt/slides/_rels/slide14.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57.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emf"/><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62.emf"/><Relationship Id="rId1" Type="http://schemas.openxmlformats.org/officeDocument/2006/relationships/slideLayout" Target="../slideLayouts/slideLayout13.xml"/><Relationship Id="rId5" Type="http://schemas.openxmlformats.org/officeDocument/2006/relationships/image" Target="../media/image65.emf"/><Relationship Id="rId4" Type="http://schemas.openxmlformats.org/officeDocument/2006/relationships/image" Target="../media/image64.emf"/></Relationships>
</file>

<file path=ppt/slides/_rels/slide18.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image" Target="../media/image66.emf"/><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image" Target="../media/image75.wmf"/><Relationship Id="rId3" Type="http://schemas.openxmlformats.org/officeDocument/2006/relationships/image" Target="../media/image71.wmf"/><Relationship Id="rId7" Type="http://schemas.openxmlformats.org/officeDocument/2006/relationships/image" Target="../media/image17.wmf"/><Relationship Id="rId12" Type="http://schemas.openxmlformats.org/officeDocument/2006/relationships/oleObject" Target="../embeddings/oleObject41.bin"/><Relationship Id="rId2" Type="http://schemas.openxmlformats.org/officeDocument/2006/relationships/oleObject" Target="../embeddings/oleObject36.bin"/><Relationship Id="rId1" Type="http://schemas.openxmlformats.org/officeDocument/2006/relationships/slideLayout" Target="../slideLayouts/slideLayout18.xml"/><Relationship Id="rId6" Type="http://schemas.openxmlformats.org/officeDocument/2006/relationships/oleObject" Target="../embeddings/oleObject38.bin"/><Relationship Id="rId11" Type="http://schemas.openxmlformats.org/officeDocument/2006/relationships/image" Target="../media/image74.wmf"/><Relationship Id="rId5" Type="http://schemas.openxmlformats.org/officeDocument/2006/relationships/image" Target="../media/image72.wmf"/><Relationship Id="rId10" Type="http://schemas.openxmlformats.org/officeDocument/2006/relationships/oleObject" Target="../embeddings/oleObject40.bin"/><Relationship Id="rId4" Type="http://schemas.openxmlformats.org/officeDocument/2006/relationships/oleObject" Target="../embeddings/oleObject37.bin"/><Relationship Id="rId9" Type="http://schemas.openxmlformats.org/officeDocument/2006/relationships/image" Target="../media/image73.w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44.bin"/><Relationship Id="rId13" Type="http://schemas.openxmlformats.org/officeDocument/2006/relationships/image" Target="../media/image82.wmf"/><Relationship Id="rId3" Type="http://schemas.openxmlformats.org/officeDocument/2006/relationships/oleObject" Target="../embeddings/oleObject42.bin"/><Relationship Id="rId7" Type="http://schemas.openxmlformats.org/officeDocument/2006/relationships/image" Target="../media/image79.png"/><Relationship Id="rId12" Type="http://schemas.openxmlformats.org/officeDocument/2006/relationships/oleObject" Target="../embeddings/oleObject46.bin"/><Relationship Id="rId2" Type="http://schemas.openxmlformats.org/officeDocument/2006/relationships/image" Target="../media/image76.png"/><Relationship Id="rId1" Type="http://schemas.openxmlformats.org/officeDocument/2006/relationships/slideLayout" Target="../slideLayouts/slideLayout18.xml"/><Relationship Id="rId6" Type="http://schemas.openxmlformats.org/officeDocument/2006/relationships/image" Target="../media/image78.wmf"/><Relationship Id="rId11" Type="http://schemas.openxmlformats.org/officeDocument/2006/relationships/image" Target="../media/image81.wmf"/><Relationship Id="rId5" Type="http://schemas.openxmlformats.org/officeDocument/2006/relationships/oleObject" Target="../embeddings/oleObject43.bin"/><Relationship Id="rId15" Type="http://schemas.openxmlformats.org/officeDocument/2006/relationships/image" Target="../media/image83.wmf"/><Relationship Id="rId10" Type="http://schemas.openxmlformats.org/officeDocument/2006/relationships/oleObject" Target="../embeddings/oleObject45.bin"/><Relationship Id="rId4" Type="http://schemas.openxmlformats.org/officeDocument/2006/relationships/image" Target="../media/image77.wmf"/><Relationship Id="rId9" Type="http://schemas.openxmlformats.org/officeDocument/2006/relationships/image" Target="../media/image80.wmf"/><Relationship Id="rId14" Type="http://schemas.openxmlformats.org/officeDocument/2006/relationships/oleObject" Target="../embeddings/oleObject47.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51.bin"/><Relationship Id="rId13" Type="http://schemas.openxmlformats.org/officeDocument/2006/relationships/image" Target="../media/image89.wmf"/><Relationship Id="rId3" Type="http://schemas.openxmlformats.org/officeDocument/2006/relationships/image" Target="../media/image84.wmf"/><Relationship Id="rId7" Type="http://schemas.openxmlformats.org/officeDocument/2006/relationships/image" Target="../media/image86.wmf"/><Relationship Id="rId12" Type="http://schemas.openxmlformats.org/officeDocument/2006/relationships/oleObject" Target="../embeddings/oleObject53.bin"/><Relationship Id="rId17" Type="http://schemas.openxmlformats.org/officeDocument/2006/relationships/image" Target="../media/image91.wmf"/><Relationship Id="rId2" Type="http://schemas.openxmlformats.org/officeDocument/2006/relationships/oleObject" Target="../embeddings/oleObject48.bin"/><Relationship Id="rId16" Type="http://schemas.openxmlformats.org/officeDocument/2006/relationships/oleObject" Target="../embeddings/oleObject55.bin"/><Relationship Id="rId1" Type="http://schemas.openxmlformats.org/officeDocument/2006/relationships/slideLayout" Target="../slideLayouts/slideLayout18.xml"/><Relationship Id="rId6" Type="http://schemas.openxmlformats.org/officeDocument/2006/relationships/oleObject" Target="../embeddings/oleObject50.bin"/><Relationship Id="rId11" Type="http://schemas.openxmlformats.org/officeDocument/2006/relationships/image" Target="../media/image88.wmf"/><Relationship Id="rId5" Type="http://schemas.openxmlformats.org/officeDocument/2006/relationships/image" Target="../media/image85.wmf"/><Relationship Id="rId15" Type="http://schemas.openxmlformats.org/officeDocument/2006/relationships/image" Target="../media/image90.wmf"/><Relationship Id="rId10" Type="http://schemas.openxmlformats.org/officeDocument/2006/relationships/oleObject" Target="../embeddings/oleObject52.bin"/><Relationship Id="rId4" Type="http://schemas.openxmlformats.org/officeDocument/2006/relationships/oleObject" Target="../embeddings/oleObject49.bin"/><Relationship Id="rId9" Type="http://schemas.openxmlformats.org/officeDocument/2006/relationships/image" Target="../media/image87.wmf"/><Relationship Id="rId14" Type="http://schemas.openxmlformats.org/officeDocument/2006/relationships/oleObject" Target="../embeddings/oleObject54.bin"/></Relationships>
</file>

<file path=ppt/slides/_rels/slide26.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94.emf"/><Relationship Id="rId2" Type="http://schemas.openxmlformats.org/officeDocument/2006/relationships/image" Target="../media/image77.png"/><Relationship Id="rId1" Type="http://schemas.openxmlformats.org/officeDocument/2006/relationships/slideLayout" Target="../slideLayouts/slideLayout18.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0.png"/></Relationships>
</file>

<file path=ppt/slides/_rels/slide2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58.bin"/><Relationship Id="rId13" Type="http://schemas.openxmlformats.org/officeDocument/2006/relationships/image" Target="../media/image74.wmf"/><Relationship Id="rId3" Type="http://schemas.openxmlformats.org/officeDocument/2006/relationships/image" Target="../media/image97.wmf"/><Relationship Id="rId7" Type="http://schemas.openxmlformats.org/officeDocument/2006/relationships/image" Target="../media/image100.wmf"/><Relationship Id="rId12" Type="http://schemas.openxmlformats.org/officeDocument/2006/relationships/oleObject" Target="../embeddings/oleObject60.bin"/><Relationship Id="rId2" Type="http://schemas.openxmlformats.org/officeDocument/2006/relationships/oleObject" Target="../embeddings/oleObject56.bin"/><Relationship Id="rId1" Type="http://schemas.openxmlformats.org/officeDocument/2006/relationships/slideLayout" Target="../slideLayouts/slideLayout18.xml"/><Relationship Id="rId6" Type="http://schemas.openxmlformats.org/officeDocument/2006/relationships/oleObject" Target="../embeddings/oleObject57.bin"/><Relationship Id="rId11" Type="http://schemas.openxmlformats.org/officeDocument/2006/relationships/image" Target="../media/image102.wmf"/><Relationship Id="rId5" Type="http://schemas.openxmlformats.org/officeDocument/2006/relationships/image" Target="../media/image99.png"/><Relationship Id="rId15" Type="http://schemas.openxmlformats.org/officeDocument/2006/relationships/image" Target="../media/image103.wmf"/><Relationship Id="rId10" Type="http://schemas.openxmlformats.org/officeDocument/2006/relationships/oleObject" Target="../embeddings/oleObject59.bin"/><Relationship Id="rId4" Type="http://schemas.openxmlformats.org/officeDocument/2006/relationships/image" Target="../media/image98.png"/><Relationship Id="rId9" Type="http://schemas.openxmlformats.org/officeDocument/2006/relationships/image" Target="../media/image101.wmf"/><Relationship Id="rId14" Type="http://schemas.openxmlformats.org/officeDocument/2006/relationships/oleObject" Target="../embeddings/oleObject61.bin"/></Relationships>
</file>

<file path=ppt/slides/_rels/slide32.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oleObject" Target="../embeddings/oleObject66.bin"/><Relationship Id="rId3" Type="http://schemas.openxmlformats.org/officeDocument/2006/relationships/oleObject" Target="../embeddings/oleObject62.bin"/><Relationship Id="rId7" Type="http://schemas.openxmlformats.org/officeDocument/2006/relationships/image" Target="../media/image98.png"/><Relationship Id="rId12" Type="http://schemas.openxmlformats.org/officeDocument/2006/relationships/image" Target="../media/image108.wmf"/><Relationship Id="rId2" Type="http://schemas.openxmlformats.org/officeDocument/2006/relationships/image" Target="../media/image104.png"/><Relationship Id="rId16" Type="http://schemas.openxmlformats.org/officeDocument/2006/relationships/image" Target="../media/image110.wmf"/><Relationship Id="rId1" Type="http://schemas.openxmlformats.org/officeDocument/2006/relationships/slideLayout" Target="../slideLayouts/slideLayout18.xml"/><Relationship Id="rId6" Type="http://schemas.openxmlformats.org/officeDocument/2006/relationships/image" Target="../media/image106.wmf"/><Relationship Id="rId11" Type="http://schemas.openxmlformats.org/officeDocument/2006/relationships/oleObject" Target="../embeddings/oleObject65.bin"/><Relationship Id="rId5" Type="http://schemas.openxmlformats.org/officeDocument/2006/relationships/oleObject" Target="../embeddings/oleObject63.bin"/><Relationship Id="rId15" Type="http://schemas.openxmlformats.org/officeDocument/2006/relationships/oleObject" Target="../embeddings/oleObject67.bin"/><Relationship Id="rId10" Type="http://schemas.openxmlformats.org/officeDocument/2006/relationships/image" Target="../media/image107.wmf"/><Relationship Id="rId4" Type="http://schemas.openxmlformats.org/officeDocument/2006/relationships/image" Target="../media/image105.wmf"/><Relationship Id="rId9" Type="http://schemas.openxmlformats.org/officeDocument/2006/relationships/oleObject" Target="../embeddings/oleObject64.bin"/><Relationship Id="rId14" Type="http://schemas.openxmlformats.org/officeDocument/2006/relationships/image" Target="../media/image109.wmf"/></Relationships>
</file>

<file path=ppt/slides/_rels/slide3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0.png"/><Relationship Id="rId1" Type="http://schemas.openxmlformats.org/officeDocument/2006/relationships/slideLayout" Target="../slideLayouts/slideLayout18.xml"/><Relationship Id="rId4" Type="http://schemas.openxmlformats.org/officeDocument/2006/relationships/image" Target="../media/image101.png"/></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image" Target="../media/image111.png"/><Relationship Id="rId1" Type="http://schemas.openxmlformats.org/officeDocument/2006/relationships/slideLayout" Target="../slideLayouts/slideLayout18.xml"/><Relationship Id="rId4" Type="http://schemas.openxmlformats.org/officeDocument/2006/relationships/image" Target="../media/image106.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image" Target="../media/image112.png"/><Relationship Id="rId1" Type="http://schemas.openxmlformats.org/officeDocument/2006/relationships/slideLayout" Target="../slideLayouts/slideLayout18.xml"/><Relationship Id="rId4" Type="http://schemas.openxmlformats.org/officeDocument/2006/relationships/image" Target="../media/image106.w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image" Target="../media/image113.png"/><Relationship Id="rId1" Type="http://schemas.openxmlformats.org/officeDocument/2006/relationships/slideLayout" Target="../slideLayouts/slideLayout18.xml"/><Relationship Id="rId4" Type="http://schemas.openxmlformats.org/officeDocument/2006/relationships/image" Target="../media/image106.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image" Target="../media/image114.png"/><Relationship Id="rId1" Type="http://schemas.openxmlformats.org/officeDocument/2006/relationships/slideLayout" Target="../slideLayouts/slideLayout18.xml"/><Relationship Id="rId4" Type="http://schemas.openxmlformats.org/officeDocument/2006/relationships/image" Target="../media/image106.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AA9D0B63-D9C1-4432-AF96-2EA7E99C0383}"/>
              </a:ext>
            </a:extLst>
          </p:cNvPr>
          <p:cNvSpPr txBox="1">
            <a:spLocks/>
          </p:cNvSpPr>
          <p:nvPr/>
        </p:nvSpPr>
        <p:spPr>
          <a:xfrm>
            <a:off x="1183797" y="2703678"/>
            <a:ext cx="7433153" cy="202214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800" b="1" dirty="0" err="1">
                <a:solidFill>
                  <a:srgbClr val="0000FF"/>
                </a:solidFill>
                <a:latin typeface="Arial Unicode MS" pitchFamily="34" charset="-122"/>
                <a:ea typeface="Arial Unicode MS" pitchFamily="34" charset="-122"/>
                <a:cs typeface="Arial Unicode MS" pitchFamily="34" charset="-122"/>
              </a:rPr>
              <a:t>Weishu</a:t>
            </a:r>
            <a:r>
              <a:rPr lang="en-US" sz="2800" b="1" dirty="0">
                <a:solidFill>
                  <a:srgbClr val="0000FF"/>
                </a:solidFill>
                <a:latin typeface="Arial Unicode MS" pitchFamily="34" charset="-122"/>
                <a:ea typeface="Arial Unicode MS" pitchFamily="34" charset="-122"/>
                <a:cs typeface="Arial Unicode MS" pitchFamily="34" charset="-122"/>
              </a:rPr>
              <a:t> </a:t>
            </a:r>
            <a:r>
              <a:rPr lang="en-US" altLang="zh-CN" sz="2800" b="1" dirty="0">
                <a:solidFill>
                  <a:srgbClr val="0000FF"/>
                </a:solidFill>
                <a:latin typeface="Arial Unicode MS" pitchFamily="34" charset="-122"/>
                <a:ea typeface="Arial Unicode MS" pitchFamily="34" charset="-122"/>
                <a:cs typeface="Arial Unicode MS" pitchFamily="34" charset="-122"/>
              </a:rPr>
              <a:t>L</a:t>
            </a:r>
            <a:r>
              <a:rPr lang="en-US" sz="2800" b="1" dirty="0">
                <a:solidFill>
                  <a:srgbClr val="0000FF"/>
                </a:solidFill>
                <a:latin typeface="Arial Unicode MS" pitchFamily="34" charset="-122"/>
                <a:ea typeface="Arial Unicode MS" pitchFamily="34" charset="-122"/>
                <a:cs typeface="Arial Unicode MS" pitchFamily="34" charset="-122"/>
              </a:rPr>
              <a:t>iu</a:t>
            </a:r>
          </a:p>
          <a:p>
            <a:pPr algn="l"/>
            <a:r>
              <a:rPr lang="en-US" sz="1800" dirty="0">
                <a:solidFill>
                  <a:schemeClr val="tx1"/>
                </a:solidFill>
                <a:latin typeface="Arial Unicode MS" pitchFamily="34" charset="-122"/>
                <a:ea typeface="Arial Unicode MS" pitchFamily="34" charset="-122"/>
                <a:cs typeface="Arial Unicode MS" pitchFamily="34" charset="-122"/>
              </a:rPr>
              <a:t>Department of Materials Science and Engineering</a:t>
            </a:r>
          </a:p>
          <a:p>
            <a:pPr algn="l"/>
            <a:r>
              <a:rPr lang="en-US" sz="1800" dirty="0">
                <a:solidFill>
                  <a:schemeClr val="tx1"/>
                </a:solidFill>
                <a:latin typeface="Arial Unicode MS" pitchFamily="34" charset="-122"/>
                <a:ea typeface="Arial Unicode MS" pitchFamily="34" charset="-122"/>
                <a:cs typeface="Arial Unicode MS" pitchFamily="34" charset="-122"/>
              </a:rPr>
              <a:t>Southern University of Science and Technology (</a:t>
            </a:r>
            <a:r>
              <a:rPr lang="en-US" sz="1800" dirty="0" err="1">
                <a:solidFill>
                  <a:schemeClr val="tx1"/>
                </a:solidFill>
                <a:latin typeface="Arial Unicode MS" pitchFamily="34" charset="-122"/>
                <a:ea typeface="Arial Unicode MS" pitchFamily="34" charset="-122"/>
                <a:cs typeface="Arial Unicode MS" pitchFamily="34" charset="-122"/>
              </a:rPr>
              <a:t>SUSTec</a:t>
            </a:r>
            <a:r>
              <a:rPr lang="en-US" altLang="zh-CN" sz="1800" dirty="0" err="1">
                <a:solidFill>
                  <a:schemeClr val="tx1"/>
                </a:solidFill>
                <a:latin typeface="Arial Unicode MS" pitchFamily="34" charset="-122"/>
                <a:ea typeface="Arial Unicode MS" pitchFamily="34" charset="-122"/>
                <a:cs typeface="Arial Unicode MS" pitchFamily="34" charset="-122"/>
              </a:rPr>
              <a:t>h</a:t>
            </a:r>
            <a:r>
              <a:rPr lang="en-US" sz="1800" dirty="0">
                <a:solidFill>
                  <a:schemeClr val="tx1"/>
                </a:solidFill>
                <a:latin typeface="Arial Unicode MS" pitchFamily="34" charset="-122"/>
                <a:ea typeface="Arial Unicode MS" pitchFamily="34" charset="-122"/>
                <a:cs typeface="Arial Unicode MS" pitchFamily="34" charset="-122"/>
              </a:rPr>
              <a:t>)</a:t>
            </a:r>
          </a:p>
          <a:p>
            <a:pPr algn="l"/>
            <a:r>
              <a:rPr lang="en-US" sz="1800" b="1" dirty="0">
                <a:solidFill>
                  <a:schemeClr val="tx1"/>
                </a:solidFill>
                <a:latin typeface="Arial Unicode MS" pitchFamily="34" charset="-122"/>
                <a:ea typeface="Arial Unicode MS" pitchFamily="34" charset="-122"/>
                <a:cs typeface="Arial Unicode MS" pitchFamily="34" charset="-122"/>
              </a:rPr>
              <a:t>Email: </a:t>
            </a:r>
            <a:r>
              <a:rPr lang="en-US" sz="1800" dirty="0">
                <a:solidFill>
                  <a:schemeClr val="tx1"/>
                </a:solidFill>
                <a:latin typeface="Arial Unicode MS" pitchFamily="34" charset="-122"/>
                <a:ea typeface="Arial Unicode MS" pitchFamily="34" charset="-122"/>
                <a:cs typeface="Arial Unicode MS" pitchFamily="34" charset="-122"/>
              </a:rPr>
              <a:t>liuws@sust</a:t>
            </a:r>
            <a:r>
              <a:rPr lang="en-US" altLang="zh-CN" sz="1800" dirty="0">
                <a:solidFill>
                  <a:schemeClr val="tx1"/>
                </a:solidFill>
                <a:latin typeface="Arial Unicode MS" pitchFamily="34" charset="-122"/>
                <a:ea typeface="Arial Unicode MS" pitchFamily="34" charset="-122"/>
                <a:cs typeface="Arial Unicode MS" pitchFamily="34" charset="-122"/>
              </a:rPr>
              <a:t>e</a:t>
            </a:r>
            <a:r>
              <a:rPr lang="en-US" sz="1800" dirty="0">
                <a:solidFill>
                  <a:schemeClr val="tx1"/>
                </a:solidFill>
                <a:latin typeface="Arial Unicode MS" pitchFamily="34" charset="-122"/>
                <a:ea typeface="Arial Unicode MS" pitchFamily="34" charset="-122"/>
                <a:cs typeface="Arial Unicode MS" pitchFamily="34" charset="-122"/>
              </a:rPr>
              <a:t>ch.edu.cn</a:t>
            </a:r>
          </a:p>
          <a:p>
            <a:pPr algn="l"/>
            <a:r>
              <a:rPr lang="en-US" sz="1800" b="1" dirty="0">
                <a:solidFill>
                  <a:schemeClr val="tx1"/>
                </a:solidFill>
                <a:latin typeface="Arial Unicode MS" pitchFamily="34" charset="-122"/>
                <a:ea typeface="Arial Unicode MS" pitchFamily="34" charset="-122"/>
                <a:cs typeface="Arial Unicode MS" pitchFamily="34" charset="-122"/>
              </a:rPr>
              <a:t>Office: </a:t>
            </a:r>
            <a:r>
              <a:rPr lang="en-US" sz="1800" dirty="0">
                <a:solidFill>
                  <a:schemeClr val="tx1"/>
                </a:solidFill>
                <a:latin typeface="Arial Unicode MS" pitchFamily="34" charset="-122"/>
                <a:ea typeface="Arial Unicode MS" pitchFamily="34" charset="-122"/>
                <a:cs typeface="Arial Unicode MS" pitchFamily="34" charset="-122"/>
              </a:rPr>
              <a:t>Wisdom Valley Block 1#, Rm202</a:t>
            </a:r>
          </a:p>
        </p:txBody>
      </p:sp>
      <p:sp>
        <p:nvSpPr>
          <p:cNvPr id="6" name="文本框 5">
            <a:extLst>
              <a:ext uri="{FF2B5EF4-FFF2-40B4-BE49-F238E27FC236}">
                <a16:creationId xmlns:a16="http://schemas.microsoft.com/office/drawing/2014/main" id="{201B1E1D-7C41-4F56-BF1E-96200593BAF0}"/>
              </a:ext>
            </a:extLst>
          </p:cNvPr>
          <p:cNvSpPr txBox="1"/>
          <p:nvPr/>
        </p:nvSpPr>
        <p:spPr>
          <a:xfrm>
            <a:off x="1279046" y="1220254"/>
            <a:ext cx="7433153" cy="584775"/>
          </a:xfrm>
          <a:prstGeom prst="rect">
            <a:avLst/>
          </a:prstGeom>
          <a:noFill/>
        </p:spPr>
        <p:txBody>
          <a:bodyPr wrap="square" rtlCol="0">
            <a:spAutoFit/>
          </a:bodyPr>
          <a:lstStyle/>
          <a:p>
            <a:r>
              <a:rPr lang="en-US" altLang="zh-CN" sz="3200" dirty="0">
                <a:solidFill>
                  <a:srgbClr val="FF0000"/>
                </a:solidFill>
                <a:latin typeface="Arial Unicode MS" pitchFamily="34" charset="-122"/>
                <a:ea typeface="Arial Unicode MS" pitchFamily="34" charset="-122"/>
                <a:cs typeface="Arial Unicode MS" pitchFamily="34" charset="-122"/>
              </a:rPr>
              <a:t>Lecture 12: The behavior of solutions</a:t>
            </a:r>
          </a:p>
        </p:txBody>
      </p:sp>
      <p:sp>
        <p:nvSpPr>
          <p:cNvPr id="8" name="矩形 7"/>
          <p:cNvSpPr/>
          <p:nvPr/>
        </p:nvSpPr>
        <p:spPr>
          <a:xfrm>
            <a:off x="2550929" y="0"/>
            <a:ext cx="6593071" cy="52322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i="1" dirty="0">
                <a:solidFill>
                  <a:srgbClr val="0000FF"/>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MSE 311: Thermodynamics  of Materials</a:t>
            </a:r>
          </a:p>
        </p:txBody>
      </p:sp>
    </p:spTree>
    <p:extLst>
      <p:ext uri="{BB962C8B-B14F-4D97-AF65-F5344CB8AC3E}">
        <p14:creationId xmlns:p14="http://schemas.microsoft.com/office/powerpoint/2010/main" val="2306106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55575" y="180579"/>
            <a:ext cx="5873750" cy="119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endParaRPr lang="en-US" dirty="0"/>
          </a:p>
        </p:txBody>
      </p:sp>
      <p:sp>
        <p:nvSpPr>
          <p:cNvPr id="7" name="TextBox 6"/>
          <p:cNvSpPr txBox="1"/>
          <p:nvPr/>
        </p:nvSpPr>
        <p:spPr>
          <a:xfrm>
            <a:off x="1341005" y="282154"/>
            <a:ext cx="3352008" cy="646331"/>
          </a:xfrm>
          <a:prstGeom prst="rect">
            <a:avLst/>
          </a:prstGeom>
          <a:noFill/>
        </p:spPr>
        <p:txBody>
          <a:bodyPr wrap="none" rtlCol="0">
            <a:spAutoFit/>
          </a:bodyPr>
          <a:lstStyle/>
          <a:p>
            <a:r>
              <a:rPr lang="en-US" altLang="zh-CN" sz="3600" dirty="0">
                <a:solidFill>
                  <a:srgbClr val="FF0000"/>
                </a:solidFill>
              </a:rPr>
              <a:t>real gas mixtures</a:t>
            </a:r>
            <a:endParaRPr lang="zh-CN" altLang="en-US" sz="3600" dirty="0">
              <a:solidFill>
                <a:srgbClr val="FF0000"/>
              </a:solidFill>
            </a:endParaRPr>
          </a:p>
        </p:txBody>
      </p:sp>
      <p:sp>
        <p:nvSpPr>
          <p:cNvPr id="2" name="矩形 1"/>
          <p:cNvSpPr/>
          <p:nvPr/>
        </p:nvSpPr>
        <p:spPr>
          <a:xfrm>
            <a:off x="297543" y="1524000"/>
            <a:ext cx="7848600" cy="646331"/>
          </a:xfrm>
          <a:prstGeom prst="rect">
            <a:avLst/>
          </a:prstGeom>
        </p:spPr>
        <p:txBody>
          <a:bodyPr wrap="square">
            <a:spAutoFit/>
          </a:bodyPr>
          <a:lstStyle/>
          <a:p>
            <a:r>
              <a:rPr lang="en-US" altLang="zh-CN" b="1" dirty="0">
                <a:solidFill>
                  <a:srgbClr val="0000FF"/>
                </a:solidFill>
              </a:rPr>
              <a:t>Idea gas mixture : </a:t>
            </a:r>
            <a:r>
              <a:rPr lang="en-US" altLang="zh-CN" dirty="0"/>
              <a:t>the molar Gibbs free energy of an ideal gas is </a:t>
            </a:r>
            <a:r>
              <a:rPr lang="en-US" altLang="zh-CN" b="1" dirty="0">
                <a:solidFill>
                  <a:srgbClr val="0000FF"/>
                </a:solidFill>
              </a:rPr>
              <a:t>a linear function </a:t>
            </a:r>
            <a:r>
              <a:rPr lang="en-US" altLang="zh-CN" dirty="0"/>
              <a:t>of the logarithm of the pressure of the gas</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3687580769"/>
              </p:ext>
            </p:extLst>
          </p:nvPr>
        </p:nvGraphicFramePr>
        <p:xfrm>
          <a:off x="849789" y="2170331"/>
          <a:ext cx="2047875" cy="381000"/>
        </p:xfrm>
        <a:graphic>
          <a:graphicData uri="http://schemas.openxmlformats.org/presentationml/2006/ole">
            <mc:AlternateContent xmlns:mc="http://schemas.openxmlformats.org/markup-compatibility/2006">
              <mc:Choice xmlns:v="urn:schemas-microsoft-com:vml" Requires="v">
                <p:oleObj name="Equation" r:id="rId2" imgW="1091880" imgH="203040" progId="Equation.DSMT4">
                  <p:embed/>
                </p:oleObj>
              </mc:Choice>
              <mc:Fallback>
                <p:oleObj name="Equation" r:id="rId2" imgW="1091880" imgH="203040" progId="Equation.DSMT4">
                  <p:embed/>
                  <p:pic>
                    <p:nvPicPr>
                      <p:cNvPr id="0" name=""/>
                      <p:cNvPicPr/>
                      <p:nvPr/>
                    </p:nvPicPr>
                    <p:blipFill>
                      <a:blip r:embed="rId3"/>
                      <a:stretch>
                        <a:fillRect/>
                      </a:stretch>
                    </p:blipFill>
                    <p:spPr>
                      <a:xfrm>
                        <a:off x="849789" y="2170331"/>
                        <a:ext cx="2047875" cy="381000"/>
                      </a:xfrm>
                      <a:prstGeom prst="rect">
                        <a:avLst/>
                      </a:prstGeom>
                    </p:spPr>
                  </p:pic>
                </p:oleObj>
              </mc:Fallback>
            </mc:AlternateContent>
          </a:graphicData>
        </a:graphic>
      </p:graphicFrame>
      <p:sp>
        <p:nvSpPr>
          <p:cNvPr id="15" name="矩形 14"/>
          <p:cNvSpPr/>
          <p:nvPr/>
        </p:nvSpPr>
        <p:spPr>
          <a:xfrm>
            <a:off x="331190" y="2667000"/>
            <a:ext cx="8279410" cy="923330"/>
          </a:xfrm>
          <a:prstGeom prst="rect">
            <a:avLst/>
          </a:prstGeom>
        </p:spPr>
        <p:txBody>
          <a:bodyPr wrap="square">
            <a:spAutoFit/>
          </a:bodyPr>
          <a:lstStyle/>
          <a:p>
            <a:r>
              <a:rPr lang="en-US" altLang="zh-CN" b="1" dirty="0">
                <a:solidFill>
                  <a:srgbClr val="0000FF"/>
                </a:solidFill>
              </a:rPr>
              <a:t>Real gas mixture : </a:t>
            </a:r>
            <a:r>
              <a:rPr lang="en-US" altLang="zh-CN" dirty="0"/>
              <a:t>the molar Gibbs free energy of an ideal gas </a:t>
            </a:r>
            <a:r>
              <a:rPr lang="en-US" altLang="zh-CN" b="1" dirty="0">
                <a:solidFill>
                  <a:srgbClr val="0000FF"/>
                </a:solidFill>
              </a:rPr>
              <a:t>is not a linear function </a:t>
            </a:r>
            <a:r>
              <a:rPr lang="en-US" altLang="zh-CN" dirty="0"/>
              <a:t>of the logarithm of the pressure of the gas</a:t>
            </a:r>
          </a:p>
          <a:p>
            <a:r>
              <a:rPr lang="en-US" altLang="zh-CN" b="1" dirty="0">
                <a:solidFill>
                  <a:schemeClr val="accent6">
                    <a:lumMod val="75000"/>
                  </a:schemeClr>
                </a:solidFill>
              </a:rPr>
              <a:t>People define a new function </a:t>
            </a:r>
            <a:r>
              <a:rPr lang="en-US" altLang="zh-CN" b="1" dirty="0" err="1"/>
              <a:t>fugacit</a:t>
            </a:r>
            <a:r>
              <a:rPr lang="en-US" altLang="zh-CN" b="1" dirty="0"/>
              <a:t> </a:t>
            </a:r>
            <a:r>
              <a:rPr lang="en-US" altLang="zh-CN" b="1" dirty="0">
                <a:solidFill>
                  <a:schemeClr val="accent6">
                    <a:lumMod val="75000"/>
                  </a:schemeClr>
                </a:solidFill>
              </a:rPr>
              <a:t> </a:t>
            </a:r>
            <a:r>
              <a:rPr lang="en-US" altLang="zh-CN" b="1" i="1" dirty="0">
                <a:solidFill>
                  <a:schemeClr val="accent6">
                    <a:lumMod val="75000"/>
                  </a:schemeClr>
                </a:solidFill>
              </a:rPr>
              <a:t>f</a:t>
            </a:r>
            <a:r>
              <a:rPr lang="en-US" altLang="zh-CN" b="1" dirty="0">
                <a:solidFill>
                  <a:schemeClr val="accent6">
                    <a:lumMod val="75000"/>
                  </a:schemeClr>
                </a:solidFill>
              </a:rPr>
              <a:t>,  in place of </a:t>
            </a:r>
            <a:r>
              <a:rPr lang="en-US" altLang="zh-CN" b="1" i="1" dirty="0">
                <a:solidFill>
                  <a:schemeClr val="accent6">
                    <a:lumMod val="75000"/>
                  </a:schemeClr>
                </a:solidFill>
              </a:rPr>
              <a:t>P</a:t>
            </a:r>
            <a:r>
              <a:rPr lang="en-US" altLang="zh-CN" b="1" dirty="0">
                <a:solidFill>
                  <a:schemeClr val="accent6">
                    <a:lumMod val="75000"/>
                  </a:schemeClr>
                </a:solidFill>
              </a:rPr>
              <a:t>, to keep the linear relationship </a:t>
            </a:r>
            <a:endParaRPr lang="zh-CN" altLang="en-US" b="1" dirty="0">
              <a:solidFill>
                <a:schemeClr val="accent6">
                  <a:lumMod val="75000"/>
                </a:schemeClr>
              </a:solidFill>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878510112"/>
              </p:ext>
            </p:extLst>
          </p:nvPr>
        </p:nvGraphicFramePr>
        <p:xfrm>
          <a:off x="823913" y="4648200"/>
          <a:ext cx="1762125" cy="381000"/>
        </p:xfrm>
        <a:graphic>
          <a:graphicData uri="http://schemas.openxmlformats.org/presentationml/2006/ole">
            <mc:AlternateContent xmlns:mc="http://schemas.openxmlformats.org/markup-compatibility/2006">
              <mc:Choice xmlns:v="urn:schemas-microsoft-com:vml" Requires="v">
                <p:oleObj name="Equation" r:id="rId4" imgW="939600" imgH="203040" progId="Equation.DSMT4">
                  <p:embed/>
                </p:oleObj>
              </mc:Choice>
              <mc:Fallback>
                <p:oleObj name="Equation" r:id="rId4" imgW="939600" imgH="203040" progId="Equation.DSMT4">
                  <p:embed/>
                  <p:pic>
                    <p:nvPicPr>
                      <p:cNvPr id="0" name=""/>
                      <p:cNvPicPr>
                        <a:picLocks noChangeAspect="1" noChangeArrowheads="1"/>
                      </p:cNvPicPr>
                      <p:nvPr/>
                    </p:nvPicPr>
                    <p:blipFill>
                      <a:blip r:embed="rId5"/>
                      <a:srcRect/>
                      <a:stretch>
                        <a:fillRect/>
                      </a:stretch>
                    </p:blipFill>
                    <p:spPr bwMode="auto">
                      <a:xfrm>
                        <a:off x="823913" y="4648200"/>
                        <a:ext cx="17621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矩形 12"/>
          <p:cNvSpPr/>
          <p:nvPr/>
        </p:nvSpPr>
        <p:spPr>
          <a:xfrm>
            <a:off x="542513" y="5421868"/>
            <a:ext cx="2978925" cy="369332"/>
          </a:xfrm>
          <a:prstGeom prst="rect">
            <a:avLst/>
          </a:prstGeom>
        </p:spPr>
        <p:txBody>
          <a:bodyPr wrap="square">
            <a:spAutoFit/>
          </a:bodyPr>
          <a:lstStyle/>
          <a:p>
            <a:r>
              <a:rPr lang="en-US" altLang="zh-CN" b="1" dirty="0">
                <a:solidFill>
                  <a:schemeClr val="accent6">
                    <a:lumMod val="75000"/>
                  </a:schemeClr>
                </a:solidFill>
              </a:rPr>
              <a:t>When </a:t>
            </a:r>
            <a:r>
              <a:rPr lang="en-US" altLang="zh-CN" b="1" i="1" dirty="0">
                <a:solidFill>
                  <a:schemeClr val="accent6">
                    <a:lumMod val="75000"/>
                  </a:schemeClr>
                </a:solidFill>
              </a:rPr>
              <a:t>P</a:t>
            </a:r>
            <a:r>
              <a:rPr lang="en-US" altLang="zh-CN" b="1" i="1" dirty="0">
                <a:solidFill>
                  <a:schemeClr val="accent6">
                    <a:lumMod val="75000"/>
                  </a:schemeClr>
                </a:solidFill>
                <a:sym typeface="Wingdings" panose="05000000000000000000" pitchFamily="2" charset="2"/>
              </a:rPr>
              <a:t>0, </a:t>
            </a:r>
            <a:r>
              <a:rPr lang="en-US" altLang="zh-CN" b="1" i="1" dirty="0" err="1">
                <a:solidFill>
                  <a:schemeClr val="accent6">
                    <a:lumMod val="75000"/>
                  </a:schemeClr>
                </a:solidFill>
                <a:sym typeface="Wingdings" panose="05000000000000000000" pitchFamily="2" charset="2"/>
              </a:rPr>
              <a:t>fP</a:t>
            </a:r>
            <a:endParaRPr lang="zh-CN" altLang="en-US" b="1" i="1" dirty="0">
              <a:solidFill>
                <a:schemeClr val="accent6">
                  <a:lumMod val="75000"/>
                </a:schemeClr>
              </a:solidFill>
            </a:endParaRPr>
          </a:p>
        </p:txBody>
      </p:sp>
      <p:graphicFrame>
        <p:nvGraphicFramePr>
          <p:cNvPr id="14" name="对象 13"/>
          <p:cNvGraphicFramePr>
            <a:graphicFrameLocks noChangeAspect="1"/>
          </p:cNvGraphicFramePr>
          <p:nvPr>
            <p:extLst>
              <p:ext uri="{D42A27DB-BD31-4B8C-83A1-F6EECF244321}">
                <p14:modId xmlns:p14="http://schemas.microsoft.com/office/powerpoint/2010/main" val="3735592345"/>
              </p:ext>
            </p:extLst>
          </p:nvPr>
        </p:nvGraphicFramePr>
        <p:xfrm>
          <a:off x="1044575" y="3733800"/>
          <a:ext cx="2047875" cy="428625"/>
        </p:xfrm>
        <a:graphic>
          <a:graphicData uri="http://schemas.openxmlformats.org/presentationml/2006/ole">
            <mc:AlternateContent xmlns:mc="http://schemas.openxmlformats.org/markup-compatibility/2006">
              <mc:Choice xmlns:v="urn:schemas-microsoft-com:vml" Requires="v">
                <p:oleObj name="Equation" r:id="rId6" imgW="1091880" imgH="228600" progId="Equation.DSMT4">
                  <p:embed/>
                </p:oleObj>
              </mc:Choice>
              <mc:Fallback>
                <p:oleObj name="Equation" r:id="rId6" imgW="1091880" imgH="228600" progId="Equation.DSMT4">
                  <p:embed/>
                  <p:pic>
                    <p:nvPicPr>
                      <p:cNvPr id="0" name=""/>
                      <p:cNvPicPr>
                        <a:picLocks noChangeAspect="1" noChangeArrowheads="1"/>
                      </p:cNvPicPr>
                      <p:nvPr/>
                    </p:nvPicPr>
                    <p:blipFill>
                      <a:blip r:embed="rId7"/>
                      <a:srcRect/>
                      <a:stretch>
                        <a:fillRect/>
                      </a:stretch>
                    </p:blipFill>
                    <p:spPr bwMode="auto">
                      <a:xfrm>
                        <a:off x="1044575" y="3733800"/>
                        <a:ext cx="20478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extBox 17"/>
          <p:cNvSpPr txBox="1"/>
          <p:nvPr/>
        </p:nvSpPr>
        <p:spPr>
          <a:xfrm>
            <a:off x="3744292" y="4302332"/>
            <a:ext cx="2536913" cy="369332"/>
          </a:xfrm>
          <a:prstGeom prst="rect">
            <a:avLst/>
          </a:prstGeom>
          <a:noFill/>
        </p:spPr>
        <p:txBody>
          <a:bodyPr wrap="none" rtlCol="0">
            <a:spAutoFit/>
          </a:bodyPr>
          <a:lstStyle/>
          <a:p>
            <a:r>
              <a:rPr lang="en-US" altLang="zh-CN" dirty="0"/>
              <a:t> for standard state: f=1, T</a:t>
            </a:r>
            <a:endParaRPr lang="zh-CN" altLang="en-US" dirty="0"/>
          </a:p>
        </p:txBody>
      </p:sp>
      <p:sp>
        <p:nvSpPr>
          <p:cNvPr id="19" name="任意多边形 18"/>
          <p:cNvSpPr/>
          <p:nvPr/>
        </p:nvSpPr>
        <p:spPr>
          <a:xfrm>
            <a:off x="1840675" y="4108863"/>
            <a:ext cx="1864426" cy="386938"/>
          </a:xfrm>
          <a:custGeom>
            <a:avLst/>
            <a:gdLst>
              <a:gd name="connsiteX0" fmla="*/ 1864426 w 1864426"/>
              <a:gd name="connsiteY0" fmla="*/ 617517 h 617517"/>
              <a:gd name="connsiteX1" fmla="*/ 878774 w 1864426"/>
              <a:gd name="connsiteY1" fmla="*/ 617517 h 617517"/>
              <a:gd name="connsiteX2" fmla="*/ 0 w 1864426"/>
              <a:gd name="connsiteY2" fmla="*/ 0 h 617517"/>
            </a:gdLst>
            <a:ahLst/>
            <a:cxnLst>
              <a:cxn ang="0">
                <a:pos x="connsiteX0" y="connsiteY0"/>
              </a:cxn>
              <a:cxn ang="0">
                <a:pos x="connsiteX1" y="connsiteY1"/>
              </a:cxn>
              <a:cxn ang="0">
                <a:pos x="connsiteX2" y="connsiteY2"/>
              </a:cxn>
            </a:cxnLst>
            <a:rect l="l" t="t" r="r" b="b"/>
            <a:pathLst>
              <a:path w="1864426" h="617517">
                <a:moveTo>
                  <a:pt x="1864426" y="617517"/>
                </a:moveTo>
                <a:lnTo>
                  <a:pt x="878774" y="617517"/>
                </a:lnTo>
                <a:lnTo>
                  <a:pt x="0" y="0"/>
                </a:lnTo>
              </a:path>
            </a:pathLst>
          </a:custGeom>
          <a:noFill/>
          <a:ln>
            <a:headEnd type="arrow"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0956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37559" y="127668"/>
            <a:ext cx="3926075" cy="584775"/>
          </a:xfrm>
          <a:prstGeom prst="rect">
            <a:avLst/>
          </a:prstGeom>
          <a:noFill/>
        </p:spPr>
        <p:txBody>
          <a:bodyPr wrap="none" rtlCol="0">
            <a:spAutoFit/>
          </a:bodyPr>
          <a:lstStyle/>
          <a:p>
            <a:r>
              <a:rPr lang="en-US" altLang="zh-CN" sz="3200" dirty="0" err="1">
                <a:solidFill>
                  <a:srgbClr val="FF0000"/>
                </a:solidFill>
              </a:rPr>
              <a:t>ΔG</a:t>
            </a:r>
            <a:r>
              <a:rPr lang="en-US" altLang="zh-CN" sz="3200" baseline="-25000" dirty="0" err="1">
                <a:solidFill>
                  <a:srgbClr val="FF0000"/>
                </a:solidFill>
              </a:rPr>
              <a:t>mix</a:t>
            </a:r>
            <a:r>
              <a:rPr lang="en-US" altLang="zh-CN" sz="3200" baseline="30000" dirty="0">
                <a:solidFill>
                  <a:srgbClr val="FF0000"/>
                </a:solidFill>
              </a:rPr>
              <a:t>  </a:t>
            </a:r>
            <a:r>
              <a:rPr lang="en-US" altLang="zh-CN" sz="3200" dirty="0">
                <a:solidFill>
                  <a:srgbClr val="FF0000"/>
                </a:solidFill>
              </a:rPr>
              <a:t>of gas mixture</a:t>
            </a:r>
            <a:endParaRPr lang="zh-CN" altLang="en-US" sz="3200" dirty="0">
              <a:solidFill>
                <a:srgbClr val="FF0000"/>
              </a:solidFill>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205493617"/>
              </p:ext>
            </p:extLst>
          </p:nvPr>
        </p:nvGraphicFramePr>
        <p:xfrm>
          <a:off x="438150" y="2100262"/>
          <a:ext cx="3179762" cy="474663"/>
        </p:xfrm>
        <a:graphic>
          <a:graphicData uri="http://schemas.openxmlformats.org/presentationml/2006/ole">
            <mc:AlternateContent xmlns:mc="http://schemas.openxmlformats.org/markup-compatibility/2006">
              <mc:Choice xmlns:v="urn:schemas-microsoft-com:vml" Requires="v">
                <p:oleObj name="Equation" r:id="rId2" imgW="1701720" imgH="253800" progId="Equation.DSMT4">
                  <p:embed/>
                </p:oleObj>
              </mc:Choice>
              <mc:Fallback>
                <p:oleObj name="Equation" r:id="rId2" imgW="1701720" imgH="2538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150" y="2100262"/>
                        <a:ext cx="3179762"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619895539"/>
              </p:ext>
            </p:extLst>
          </p:nvPr>
        </p:nvGraphicFramePr>
        <p:xfrm>
          <a:off x="2774080" y="2714625"/>
          <a:ext cx="2691018" cy="352310"/>
        </p:xfrm>
        <a:graphic>
          <a:graphicData uri="http://schemas.openxmlformats.org/presentationml/2006/ole">
            <mc:AlternateContent xmlns:mc="http://schemas.openxmlformats.org/markup-compatibility/2006">
              <mc:Choice xmlns:v="urn:schemas-microsoft-com:vml" Requires="v">
                <p:oleObj name="Equation" r:id="rId4" imgW="1549080" imgH="203040" progId="Equation.DSMT4">
                  <p:embed/>
                </p:oleObj>
              </mc:Choice>
              <mc:Fallback>
                <p:oleObj name="Equation" r:id="rId4" imgW="1549080" imgH="20304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4080" y="2714625"/>
                        <a:ext cx="2691018" cy="352310"/>
                      </a:xfrm>
                      <a:prstGeom prst="rect">
                        <a:avLst/>
                      </a:prstGeom>
                      <a:noFill/>
                      <a:ln>
                        <a:noFill/>
                      </a:ln>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858164937"/>
              </p:ext>
            </p:extLst>
          </p:nvPr>
        </p:nvGraphicFramePr>
        <p:xfrm>
          <a:off x="449980" y="3228974"/>
          <a:ext cx="2767218" cy="456959"/>
        </p:xfrm>
        <a:graphic>
          <a:graphicData uri="http://schemas.openxmlformats.org/presentationml/2006/ole">
            <mc:AlternateContent xmlns:mc="http://schemas.openxmlformats.org/markup-compatibility/2006">
              <mc:Choice xmlns:v="urn:schemas-microsoft-com:vml" Requires="v">
                <p:oleObj name="Equation" r:id="rId6" imgW="1612800" imgH="266400" progId="Equation.DSMT4">
                  <p:embed/>
                </p:oleObj>
              </mc:Choice>
              <mc:Fallback>
                <p:oleObj name="Equation" r:id="rId6" imgW="1612800" imgH="266400" progId="Equation.DSMT4">
                  <p:embed/>
                  <p:pic>
                    <p:nvPicPr>
                      <p:cNvPr id="0" name=""/>
                      <p:cNvPicPr>
                        <a:picLocks noChangeAspect="1" noChangeArrowheads="1"/>
                      </p:cNvPicPr>
                      <p:nvPr/>
                    </p:nvPicPr>
                    <p:blipFill>
                      <a:blip r:embed="rId7"/>
                      <a:srcRect/>
                      <a:stretch>
                        <a:fillRect/>
                      </a:stretch>
                    </p:blipFill>
                    <p:spPr bwMode="auto">
                      <a:xfrm>
                        <a:off x="449980" y="3228974"/>
                        <a:ext cx="2767218" cy="456959"/>
                      </a:xfrm>
                      <a:prstGeom prst="rect">
                        <a:avLst/>
                      </a:prstGeom>
                      <a:noFill/>
                      <a:ln>
                        <a:noFill/>
                      </a:ln>
                    </p:spPr>
                  </p:pic>
                </p:oleObj>
              </mc:Fallback>
            </mc:AlternateContent>
          </a:graphicData>
        </a:graphic>
      </p:graphicFrame>
      <p:sp>
        <p:nvSpPr>
          <p:cNvPr id="6" name="TextBox 5"/>
          <p:cNvSpPr txBox="1"/>
          <p:nvPr/>
        </p:nvSpPr>
        <p:spPr>
          <a:xfrm>
            <a:off x="1288299" y="1088172"/>
            <a:ext cx="1750800" cy="707886"/>
          </a:xfrm>
          <a:prstGeom prst="rect">
            <a:avLst/>
          </a:prstGeom>
          <a:solidFill>
            <a:schemeClr val="accent3">
              <a:lumMod val="40000"/>
              <a:lumOff val="60000"/>
            </a:schemeClr>
          </a:solidFill>
        </p:spPr>
        <p:txBody>
          <a:bodyPr wrap="none" rtlCol="0">
            <a:spAutoFit/>
          </a:bodyPr>
          <a:lstStyle/>
          <a:p>
            <a:r>
              <a:rPr lang="en-US" altLang="zh-CN" sz="2000" dirty="0"/>
              <a:t>For idea gas, </a:t>
            </a:r>
          </a:p>
          <a:p>
            <a:r>
              <a:rPr lang="en-US" altLang="zh-CN" sz="2000" dirty="0"/>
              <a:t>PV/RT=1</a:t>
            </a:r>
            <a:endParaRPr lang="zh-CN" altLang="en-US" sz="2000" dirty="0"/>
          </a:p>
        </p:txBody>
      </p:sp>
      <p:graphicFrame>
        <p:nvGraphicFramePr>
          <p:cNvPr id="7" name="对象 6"/>
          <p:cNvGraphicFramePr>
            <a:graphicFrameLocks noChangeAspect="1"/>
          </p:cNvGraphicFramePr>
          <p:nvPr>
            <p:extLst>
              <p:ext uri="{D42A27DB-BD31-4B8C-83A1-F6EECF244321}">
                <p14:modId xmlns:p14="http://schemas.microsoft.com/office/powerpoint/2010/main" val="275215676"/>
              </p:ext>
            </p:extLst>
          </p:nvPr>
        </p:nvGraphicFramePr>
        <p:xfrm>
          <a:off x="290598" y="3940288"/>
          <a:ext cx="3809999" cy="614600"/>
        </p:xfrm>
        <a:graphic>
          <a:graphicData uri="http://schemas.openxmlformats.org/presentationml/2006/ole">
            <mc:AlternateContent xmlns:mc="http://schemas.openxmlformats.org/markup-compatibility/2006">
              <mc:Choice xmlns:v="urn:schemas-microsoft-com:vml" Requires="v">
                <p:oleObj name="Equation" r:id="rId8" imgW="2438280" imgH="393480" progId="Equation.DSMT4">
                  <p:embed/>
                </p:oleObj>
              </mc:Choice>
              <mc:Fallback>
                <p:oleObj name="Equation" r:id="rId8" imgW="2438280" imgH="393480" progId="Equation.DSMT4">
                  <p:embed/>
                  <p:pic>
                    <p:nvPicPr>
                      <p:cNvPr id="0" name=""/>
                      <p:cNvPicPr>
                        <a:picLocks noChangeAspect="1" noChangeArrowheads="1"/>
                      </p:cNvPicPr>
                      <p:nvPr/>
                    </p:nvPicPr>
                    <p:blipFill>
                      <a:blip r:embed="rId9"/>
                      <a:srcRect/>
                      <a:stretch>
                        <a:fillRect/>
                      </a:stretch>
                    </p:blipFill>
                    <p:spPr bwMode="auto">
                      <a:xfrm>
                        <a:off x="290598" y="3940288"/>
                        <a:ext cx="3809999" cy="614600"/>
                      </a:xfrm>
                      <a:prstGeom prst="rect">
                        <a:avLst/>
                      </a:prstGeom>
                      <a:noFill/>
                      <a:ln>
                        <a:noFill/>
                      </a:ln>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849663557"/>
              </p:ext>
            </p:extLst>
          </p:nvPr>
        </p:nvGraphicFramePr>
        <p:xfrm>
          <a:off x="400051" y="5373802"/>
          <a:ext cx="2209800" cy="865072"/>
        </p:xfrm>
        <a:graphic>
          <a:graphicData uri="http://schemas.openxmlformats.org/presentationml/2006/ole">
            <mc:AlternateContent xmlns:mc="http://schemas.openxmlformats.org/markup-compatibility/2006">
              <mc:Choice xmlns:v="urn:schemas-microsoft-com:vml" Requires="v">
                <p:oleObj name="Equation" r:id="rId10" imgW="1295280" imgH="507960" progId="Equation.DSMT4">
                  <p:embed/>
                </p:oleObj>
              </mc:Choice>
              <mc:Fallback>
                <p:oleObj name="Equation" r:id="rId10" imgW="1295280" imgH="507960" progId="Equation.DSMT4">
                  <p:embed/>
                  <p:pic>
                    <p:nvPicPr>
                      <p:cNvPr id="0" name=""/>
                      <p:cNvPicPr>
                        <a:picLocks noChangeAspect="1" noChangeArrowheads="1"/>
                      </p:cNvPicPr>
                      <p:nvPr/>
                    </p:nvPicPr>
                    <p:blipFill>
                      <a:blip r:embed="rId11"/>
                      <a:srcRect/>
                      <a:stretch>
                        <a:fillRect/>
                      </a:stretch>
                    </p:blipFill>
                    <p:spPr bwMode="auto">
                      <a:xfrm>
                        <a:off x="400051" y="5373802"/>
                        <a:ext cx="2209800" cy="865072"/>
                      </a:xfrm>
                      <a:prstGeom prst="rect">
                        <a:avLst/>
                      </a:prstGeom>
                      <a:noFill/>
                      <a:ln>
                        <a:noFill/>
                      </a:ln>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150093197"/>
              </p:ext>
            </p:extLst>
          </p:nvPr>
        </p:nvGraphicFramePr>
        <p:xfrm>
          <a:off x="4781550" y="2152650"/>
          <a:ext cx="3203575" cy="474663"/>
        </p:xfrm>
        <a:graphic>
          <a:graphicData uri="http://schemas.openxmlformats.org/presentationml/2006/ole">
            <mc:AlternateContent xmlns:mc="http://schemas.openxmlformats.org/markup-compatibility/2006">
              <mc:Choice xmlns:v="urn:schemas-microsoft-com:vml" Requires="v">
                <p:oleObj name="Equation" r:id="rId12" imgW="1714320" imgH="253800" progId="Equation.DSMT4">
                  <p:embed/>
                </p:oleObj>
              </mc:Choice>
              <mc:Fallback>
                <p:oleObj name="Equation" r:id="rId12" imgW="1714320" imgH="253800" progId="Equation.DSMT4">
                  <p:embed/>
                  <p:pic>
                    <p:nvPicPr>
                      <p:cNvPr id="0" name=""/>
                      <p:cNvPicPr>
                        <a:picLocks noChangeAspect="1" noChangeArrowheads="1"/>
                      </p:cNvPicPr>
                      <p:nvPr/>
                    </p:nvPicPr>
                    <p:blipFill>
                      <a:blip r:embed="rId13"/>
                      <a:srcRect/>
                      <a:stretch>
                        <a:fillRect/>
                      </a:stretch>
                    </p:blipFill>
                    <p:spPr bwMode="auto">
                      <a:xfrm>
                        <a:off x="4781550" y="2152650"/>
                        <a:ext cx="3203575"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Box 9"/>
          <p:cNvSpPr txBox="1"/>
          <p:nvPr/>
        </p:nvSpPr>
        <p:spPr>
          <a:xfrm>
            <a:off x="4905375" y="1085850"/>
            <a:ext cx="2667000" cy="707886"/>
          </a:xfrm>
          <a:prstGeom prst="rect">
            <a:avLst/>
          </a:prstGeom>
          <a:solidFill>
            <a:schemeClr val="accent4">
              <a:lumMod val="40000"/>
              <a:lumOff val="60000"/>
            </a:schemeClr>
          </a:solidFill>
        </p:spPr>
        <p:txBody>
          <a:bodyPr wrap="square" rtlCol="0">
            <a:spAutoFit/>
          </a:bodyPr>
          <a:lstStyle/>
          <a:p>
            <a:r>
              <a:rPr lang="en-US" altLang="zh-CN" sz="2000" dirty="0"/>
              <a:t>For </a:t>
            </a:r>
            <a:r>
              <a:rPr lang="en-US" altLang="zh-CN" sz="2000" dirty="0" err="1"/>
              <a:t>nonidea</a:t>
            </a:r>
            <a:r>
              <a:rPr lang="en-US" altLang="zh-CN" sz="2000" dirty="0"/>
              <a:t> gas,</a:t>
            </a:r>
          </a:p>
          <a:p>
            <a:r>
              <a:rPr lang="en-US" altLang="zh-CN" sz="2000" dirty="0"/>
              <a:t> PV/RT=Z, </a:t>
            </a:r>
            <a:r>
              <a:rPr lang="en-US" altLang="zh-CN" sz="2000" i="1" dirty="0"/>
              <a:t>Z=f(P)</a:t>
            </a:r>
            <a:endParaRPr lang="zh-CN" altLang="en-US" sz="2000" i="1" dirty="0"/>
          </a:p>
        </p:txBody>
      </p:sp>
      <p:graphicFrame>
        <p:nvGraphicFramePr>
          <p:cNvPr id="12" name="对象 11"/>
          <p:cNvGraphicFramePr>
            <a:graphicFrameLocks noChangeAspect="1"/>
          </p:cNvGraphicFramePr>
          <p:nvPr>
            <p:extLst>
              <p:ext uri="{D42A27DB-BD31-4B8C-83A1-F6EECF244321}">
                <p14:modId xmlns:p14="http://schemas.microsoft.com/office/powerpoint/2010/main" val="631011992"/>
              </p:ext>
            </p:extLst>
          </p:nvPr>
        </p:nvGraphicFramePr>
        <p:xfrm>
          <a:off x="4629150" y="3905250"/>
          <a:ext cx="4191000" cy="690538"/>
        </p:xfrm>
        <a:graphic>
          <a:graphicData uri="http://schemas.openxmlformats.org/presentationml/2006/ole">
            <mc:AlternateContent xmlns:mc="http://schemas.openxmlformats.org/markup-compatibility/2006">
              <mc:Choice xmlns:v="urn:schemas-microsoft-com:vml" Requires="v">
                <p:oleObj name="Equation" r:id="rId14" imgW="2387520" imgH="393480" progId="Equation.DSMT4">
                  <p:embed/>
                </p:oleObj>
              </mc:Choice>
              <mc:Fallback>
                <p:oleObj name="Equation" r:id="rId14" imgW="2387520" imgH="393480" progId="Equation.DSMT4">
                  <p:embed/>
                  <p:pic>
                    <p:nvPicPr>
                      <p:cNvPr id="0" name=""/>
                      <p:cNvPicPr>
                        <a:picLocks noChangeAspect="1" noChangeArrowheads="1"/>
                      </p:cNvPicPr>
                      <p:nvPr/>
                    </p:nvPicPr>
                    <p:blipFill>
                      <a:blip r:embed="rId15"/>
                      <a:srcRect/>
                      <a:stretch>
                        <a:fillRect/>
                      </a:stretch>
                    </p:blipFill>
                    <p:spPr bwMode="auto">
                      <a:xfrm>
                        <a:off x="4629150" y="3905250"/>
                        <a:ext cx="4191000" cy="690538"/>
                      </a:xfrm>
                      <a:prstGeom prst="rect">
                        <a:avLst/>
                      </a:prstGeom>
                      <a:solidFill>
                        <a:schemeClr val="accent5">
                          <a:lumMod val="20000"/>
                          <a:lumOff val="80000"/>
                        </a:schemeClr>
                      </a:solidFill>
                      <a:ln>
                        <a:noFill/>
                      </a:ln>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968320751"/>
              </p:ext>
            </p:extLst>
          </p:nvPr>
        </p:nvGraphicFramePr>
        <p:xfrm>
          <a:off x="4905375" y="3209925"/>
          <a:ext cx="2895600" cy="478158"/>
        </p:xfrm>
        <a:graphic>
          <a:graphicData uri="http://schemas.openxmlformats.org/presentationml/2006/ole">
            <mc:AlternateContent xmlns:mc="http://schemas.openxmlformats.org/markup-compatibility/2006">
              <mc:Choice xmlns:v="urn:schemas-microsoft-com:vml" Requires="v">
                <p:oleObj name="Equation" r:id="rId16" imgW="1612800" imgH="266400" progId="Equation.DSMT4">
                  <p:embed/>
                </p:oleObj>
              </mc:Choice>
              <mc:Fallback>
                <p:oleObj name="Equation" r:id="rId16" imgW="1612800" imgH="266400"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905375" y="3209925"/>
                        <a:ext cx="2895600" cy="478158"/>
                      </a:xfrm>
                      <a:prstGeom prst="rect">
                        <a:avLst/>
                      </a:prstGeom>
                      <a:noFill/>
                      <a:ln>
                        <a:noFill/>
                      </a:ln>
                    </p:spPr>
                  </p:pic>
                </p:oleObj>
              </mc:Fallback>
            </mc:AlternateContent>
          </a:graphicData>
        </a:graphic>
      </p:graphicFrame>
      <p:sp>
        <p:nvSpPr>
          <p:cNvPr id="14" name="TextBox 13"/>
          <p:cNvSpPr txBox="1"/>
          <p:nvPr/>
        </p:nvSpPr>
        <p:spPr>
          <a:xfrm>
            <a:off x="4629150" y="4787384"/>
            <a:ext cx="1181734" cy="369332"/>
          </a:xfrm>
          <a:prstGeom prst="rect">
            <a:avLst/>
          </a:prstGeom>
          <a:noFill/>
        </p:spPr>
        <p:txBody>
          <a:bodyPr wrap="none" rtlCol="0">
            <a:spAutoFit/>
          </a:bodyPr>
          <a:lstStyle/>
          <a:p>
            <a:r>
              <a:rPr lang="en-US" altLang="zh-CN" i="1" dirty="0" err="1"/>
              <a:t>a</a:t>
            </a:r>
            <a:r>
              <a:rPr lang="en-US" altLang="zh-CN" i="1" baseline="-25000" dirty="0" err="1"/>
              <a:t>i</a:t>
            </a:r>
            <a:r>
              <a:rPr lang="en-US" altLang="zh-CN" baseline="-25000" dirty="0"/>
              <a:t> : </a:t>
            </a:r>
            <a:r>
              <a:rPr lang="en-US" altLang="zh-CN" dirty="0"/>
              <a:t>activity</a:t>
            </a:r>
            <a:endParaRPr lang="zh-CN" altLang="en-US" dirty="0"/>
          </a:p>
        </p:txBody>
      </p:sp>
      <p:graphicFrame>
        <p:nvGraphicFramePr>
          <p:cNvPr id="15" name="对象 14"/>
          <p:cNvGraphicFramePr>
            <a:graphicFrameLocks noChangeAspect="1"/>
          </p:cNvGraphicFramePr>
          <p:nvPr>
            <p:extLst>
              <p:ext uri="{D42A27DB-BD31-4B8C-83A1-F6EECF244321}">
                <p14:modId xmlns:p14="http://schemas.microsoft.com/office/powerpoint/2010/main" val="237939414"/>
              </p:ext>
            </p:extLst>
          </p:nvPr>
        </p:nvGraphicFramePr>
        <p:xfrm>
          <a:off x="4629150" y="5391150"/>
          <a:ext cx="3575050" cy="909638"/>
        </p:xfrm>
        <a:graphic>
          <a:graphicData uri="http://schemas.openxmlformats.org/presentationml/2006/ole">
            <mc:AlternateContent xmlns:mc="http://schemas.openxmlformats.org/markup-compatibility/2006">
              <mc:Choice xmlns:v="urn:schemas-microsoft-com:vml" Requires="v">
                <p:oleObj name="Equation" r:id="rId18" imgW="2095200" imgH="533160" progId="Equation.DSMT4">
                  <p:embed/>
                </p:oleObj>
              </mc:Choice>
              <mc:Fallback>
                <p:oleObj name="Equation" r:id="rId18" imgW="2095200" imgH="533160" progId="Equation.DSMT4">
                  <p:embed/>
                  <p:pic>
                    <p:nvPicPr>
                      <p:cNvPr id="0" name=""/>
                      <p:cNvPicPr>
                        <a:picLocks noChangeAspect="1" noChangeArrowheads="1"/>
                      </p:cNvPicPr>
                      <p:nvPr/>
                    </p:nvPicPr>
                    <p:blipFill>
                      <a:blip r:embed="rId19"/>
                      <a:srcRect/>
                      <a:stretch>
                        <a:fillRect/>
                      </a:stretch>
                    </p:blipFill>
                    <p:spPr bwMode="auto">
                      <a:xfrm>
                        <a:off x="4629150" y="5391150"/>
                        <a:ext cx="3575050" cy="90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58514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68395" y="3541776"/>
            <a:ext cx="4575355" cy="461665"/>
          </a:xfrm>
          <a:prstGeom prst="rect">
            <a:avLst/>
          </a:prstGeom>
        </p:spPr>
        <p:txBody>
          <a:bodyPr wrap="none">
            <a:spAutoFit/>
          </a:bodyPr>
          <a:lstStyle/>
          <a:p>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28. </a:t>
            </a:r>
            <a:r>
              <a:rPr lang="en-US" altLang="zh-CN" sz="2400" dirty="0" err="1">
                <a:solidFill>
                  <a:srgbClr val="FF0000"/>
                </a:solidFill>
              </a:rPr>
              <a:t>Raoult’s</a:t>
            </a:r>
            <a:r>
              <a:rPr lang="en-US" altLang="zh-CN" sz="2400" dirty="0">
                <a:solidFill>
                  <a:srgbClr val="FF0000"/>
                </a:solidFill>
              </a:rPr>
              <a:t> law and Henry’s law</a:t>
            </a:r>
            <a:endPar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 name="矩形 8"/>
          <p:cNvSpPr/>
          <p:nvPr/>
        </p:nvSpPr>
        <p:spPr>
          <a:xfrm>
            <a:off x="1004971" y="4357223"/>
            <a:ext cx="4572000" cy="646331"/>
          </a:xfrm>
          <a:prstGeom prst="rect">
            <a:avLst/>
          </a:prstGeom>
        </p:spPr>
        <p:txBody>
          <a:bodyPr>
            <a:spAutoFit/>
          </a:bodyPr>
          <a:lstStyle/>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Ref.  Introduction of Thermodynamics of Materials, D. R. Gaskell, Chapter 9 </a:t>
            </a:r>
          </a:p>
        </p:txBody>
      </p:sp>
    </p:spTree>
    <p:extLst>
      <p:ext uri="{BB962C8B-B14F-4D97-AF65-F5344CB8AC3E}">
        <p14:creationId xmlns:p14="http://schemas.microsoft.com/office/powerpoint/2010/main" val="3003272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50" y="1498774"/>
            <a:ext cx="8286750" cy="2958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10"/>
          <p:cNvSpPr txBox="1"/>
          <p:nvPr/>
        </p:nvSpPr>
        <p:spPr>
          <a:xfrm>
            <a:off x="662635" y="4848224"/>
            <a:ext cx="7666329" cy="830997"/>
          </a:xfrm>
          <a:prstGeom prst="rect">
            <a:avLst/>
          </a:prstGeom>
          <a:noFill/>
        </p:spPr>
        <p:txBody>
          <a:bodyPr wrap="none" rtlCol="0">
            <a:spAutoFit/>
          </a:bodyPr>
          <a:lstStyle/>
          <a:p>
            <a:r>
              <a:rPr lang="en-US" altLang="zh-CN" sz="2400" dirty="0"/>
              <a:t>From gas to liquid or solid,  or condensed state,</a:t>
            </a:r>
          </a:p>
          <a:p>
            <a:r>
              <a:rPr lang="en-US" altLang="zh-CN" sz="2400" dirty="0"/>
              <a:t>the interaction between atoms, molecular or ions increases.</a:t>
            </a:r>
            <a:endParaRPr lang="zh-CN" altLang="en-US" sz="2400" dirty="0"/>
          </a:p>
        </p:txBody>
      </p:sp>
      <p:sp>
        <p:nvSpPr>
          <p:cNvPr id="3" name="矩形 2"/>
          <p:cNvSpPr/>
          <p:nvPr/>
        </p:nvSpPr>
        <p:spPr>
          <a:xfrm>
            <a:off x="1355132" y="364093"/>
            <a:ext cx="3169457" cy="584775"/>
          </a:xfrm>
          <a:prstGeom prst="rect">
            <a:avLst/>
          </a:prstGeom>
        </p:spPr>
        <p:txBody>
          <a:bodyPr wrap="none">
            <a:spAutoFit/>
          </a:bodyPr>
          <a:lstStyle/>
          <a:p>
            <a:r>
              <a:rPr lang="en-US" altLang="zh-CN" sz="3200" dirty="0">
                <a:solidFill>
                  <a:srgbClr val="FF0000"/>
                </a:solidFill>
              </a:rPr>
              <a:t>Solid, liquid, gas</a:t>
            </a:r>
            <a:endParaRPr lang="zh-CN" altLang="en-US" sz="3200" dirty="0">
              <a:solidFill>
                <a:srgbClr val="FF0000"/>
              </a:solidFill>
            </a:endParaRPr>
          </a:p>
        </p:txBody>
      </p:sp>
    </p:spTree>
    <p:extLst>
      <p:ext uri="{BB962C8B-B14F-4D97-AF65-F5344CB8AC3E}">
        <p14:creationId xmlns:p14="http://schemas.microsoft.com/office/powerpoint/2010/main" val="1012491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97489" y="295275"/>
            <a:ext cx="2501582" cy="584775"/>
          </a:xfrm>
          <a:prstGeom prst="rect">
            <a:avLst/>
          </a:prstGeom>
          <a:noFill/>
        </p:spPr>
        <p:txBody>
          <a:bodyPr wrap="none" rtlCol="0">
            <a:spAutoFit/>
          </a:bodyPr>
          <a:lstStyle/>
          <a:p>
            <a:r>
              <a:rPr lang="en-US" altLang="zh-CN" sz="3200" dirty="0" err="1">
                <a:solidFill>
                  <a:srgbClr val="FF0000"/>
                </a:solidFill>
              </a:rPr>
              <a:t>Raoult’s</a:t>
            </a:r>
            <a:r>
              <a:rPr lang="en-US" altLang="zh-CN" sz="3200" dirty="0">
                <a:solidFill>
                  <a:srgbClr val="FF0000"/>
                </a:solidFill>
              </a:rPr>
              <a:t> law </a:t>
            </a:r>
            <a:endParaRPr lang="zh-CN" altLang="en-US" sz="3200" dirty="0">
              <a:solidFill>
                <a:srgbClr val="FF0000"/>
              </a:solidFill>
            </a:endParaRPr>
          </a:p>
        </p:txBody>
      </p:sp>
      <p:sp>
        <p:nvSpPr>
          <p:cNvPr id="3" name="矩形 2"/>
          <p:cNvSpPr/>
          <p:nvPr/>
        </p:nvSpPr>
        <p:spPr>
          <a:xfrm>
            <a:off x="304800" y="1371600"/>
            <a:ext cx="3124200" cy="1752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304800" y="2236076"/>
            <a:ext cx="3124200" cy="8763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3"/>
          <p:cNvSpPr txBox="1"/>
          <p:nvPr/>
        </p:nvSpPr>
        <p:spPr>
          <a:xfrm>
            <a:off x="1655584" y="2387025"/>
            <a:ext cx="478016" cy="584775"/>
          </a:xfrm>
          <a:prstGeom prst="rect">
            <a:avLst/>
          </a:prstGeom>
          <a:noFill/>
        </p:spPr>
        <p:txBody>
          <a:bodyPr wrap="none" rtlCol="0">
            <a:spAutoFit/>
          </a:bodyPr>
          <a:lstStyle/>
          <a:p>
            <a:r>
              <a:rPr lang="en-US" altLang="zh-CN" sz="3200" i="1" dirty="0">
                <a:solidFill>
                  <a:schemeClr val="bg1"/>
                </a:solidFill>
              </a:rPr>
              <a:t>T </a:t>
            </a:r>
            <a:endParaRPr lang="zh-CN" altLang="en-US" sz="3200" i="1" dirty="0">
              <a:solidFill>
                <a:schemeClr val="bg1"/>
              </a:solidFill>
            </a:endParaRPr>
          </a:p>
        </p:txBody>
      </p:sp>
      <p:sp>
        <p:nvSpPr>
          <p:cNvPr id="18" name="TextBox 17"/>
          <p:cNvSpPr txBox="1"/>
          <p:nvPr/>
        </p:nvSpPr>
        <p:spPr>
          <a:xfrm>
            <a:off x="4324284" y="2606823"/>
            <a:ext cx="1974643" cy="523220"/>
          </a:xfrm>
          <a:prstGeom prst="rect">
            <a:avLst/>
          </a:prstGeom>
          <a:noFill/>
        </p:spPr>
        <p:txBody>
          <a:bodyPr wrap="none" rtlCol="0">
            <a:spAutoFit/>
          </a:bodyPr>
          <a:lstStyle/>
          <a:p>
            <a:r>
              <a:rPr lang="en-US" altLang="zh-CN" sz="2800" dirty="0">
                <a:latin typeface="Times New Roman" panose="02020603050405020304" pitchFamily="18" charset="0"/>
                <a:cs typeface="Times New Roman" panose="02020603050405020304" pitchFamily="18" charset="0"/>
              </a:rPr>
              <a:t>A(l) </a:t>
            </a:r>
            <a:r>
              <a:rPr lang="en-US" altLang="zh-CN" sz="2800" dirty="0">
                <a:latin typeface="Times New Roman" panose="02020603050405020304" pitchFamily="18" charset="0"/>
                <a:cs typeface="Times New Roman" panose="02020603050405020304" pitchFamily="18" charset="0"/>
                <a:sym typeface="Wingdings" panose="05000000000000000000" pitchFamily="2" charset="2"/>
              </a:rPr>
              <a:t> A(g)</a:t>
            </a:r>
            <a:endParaRPr lang="zh-CN" altLang="en-US" sz="2800" dirty="0">
              <a:latin typeface="Times New Roman" panose="02020603050405020304" pitchFamily="18" charset="0"/>
              <a:cs typeface="Times New Roman" panose="02020603050405020304" pitchFamily="18" charset="0"/>
            </a:endParaRPr>
          </a:p>
        </p:txBody>
      </p:sp>
      <p:sp>
        <p:nvSpPr>
          <p:cNvPr id="19" name="TextBox 18"/>
          <p:cNvSpPr txBox="1"/>
          <p:nvPr/>
        </p:nvSpPr>
        <p:spPr>
          <a:xfrm>
            <a:off x="418968" y="3429000"/>
            <a:ext cx="7810632" cy="923330"/>
          </a:xfrm>
          <a:prstGeom prst="rect">
            <a:avLst/>
          </a:prstGeom>
          <a:noFill/>
        </p:spPr>
        <p:txBody>
          <a:bodyPr wrap="square" rtlCol="0">
            <a:spAutoFit/>
          </a:bodyPr>
          <a:lstStyle/>
          <a:p>
            <a:pPr marL="285750" indent="-285750">
              <a:buFont typeface="Wingdings" panose="05000000000000000000" pitchFamily="2" charset="2"/>
              <a:buChar char="ü"/>
            </a:pPr>
            <a:r>
              <a:rPr lang="en-US" altLang="zh-CN" b="1" dirty="0"/>
              <a:t>Evaporation rate: </a:t>
            </a:r>
          </a:p>
          <a:p>
            <a:r>
              <a:rPr lang="en-US" altLang="zh-CN" dirty="0"/>
              <a:t>determined by the surface bonding strength between atoms and density of atoms on the surface</a:t>
            </a:r>
            <a:endParaRPr lang="zh-CN" altLang="en-US" dirty="0"/>
          </a:p>
        </p:txBody>
      </p:sp>
      <p:graphicFrame>
        <p:nvGraphicFramePr>
          <p:cNvPr id="20" name="对象 19"/>
          <p:cNvGraphicFramePr>
            <a:graphicFrameLocks noChangeAspect="1"/>
          </p:cNvGraphicFramePr>
          <p:nvPr>
            <p:extLst>
              <p:ext uri="{D42A27DB-BD31-4B8C-83A1-F6EECF244321}">
                <p14:modId xmlns:p14="http://schemas.microsoft.com/office/powerpoint/2010/main" val="2558277658"/>
              </p:ext>
            </p:extLst>
          </p:nvPr>
        </p:nvGraphicFramePr>
        <p:xfrm>
          <a:off x="533400" y="4352330"/>
          <a:ext cx="3370262" cy="685800"/>
        </p:xfrm>
        <a:graphic>
          <a:graphicData uri="http://schemas.openxmlformats.org/presentationml/2006/ole">
            <mc:AlternateContent xmlns:mc="http://schemas.openxmlformats.org/markup-compatibility/2006">
              <mc:Choice xmlns:v="urn:schemas-microsoft-com:vml" Requires="v">
                <p:oleObj name="Equation" r:id="rId2" imgW="2120760" imgH="431640" progId="Equation.DSMT4">
                  <p:embed/>
                </p:oleObj>
              </mc:Choice>
              <mc:Fallback>
                <p:oleObj name="Equation" r:id="rId2" imgW="2120760" imgH="431640" progId="Equation.DSMT4">
                  <p:embed/>
                  <p:pic>
                    <p:nvPicPr>
                      <p:cNvPr id="0" name=""/>
                      <p:cNvPicPr/>
                      <p:nvPr/>
                    </p:nvPicPr>
                    <p:blipFill>
                      <a:blip r:embed="rId3"/>
                      <a:stretch>
                        <a:fillRect/>
                      </a:stretch>
                    </p:blipFill>
                    <p:spPr>
                      <a:xfrm>
                        <a:off x="533400" y="4352330"/>
                        <a:ext cx="3370262" cy="685800"/>
                      </a:xfrm>
                      <a:prstGeom prst="rect">
                        <a:avLst/>
                      </a:prstGeom>
                    </p:spPr>
                  </p:pic>
                </p:oleObj>
              </mc:Fallback>
            </mc:AlternateContent>
          </a:graphicData>
        </a:graphic>
      </p:graphicFrame>
      <p:sp>
        <p:nvSpPr>
          <p:cNvPr id="21" name="TextBox 20"/>
          <p:cNvSpPr txBox="1"/>
          <p:nvPr/>
        </p:nvSpPr>
        <p:spPr>
          <a:xfrm>
            <a:off x="533400" y="4953000"/>
            <a:ext cx="7810632" cy="646331"/>
          </a:xfrm>
          <a:prstGeom prst="rect">
            <a:avLst/>
          </a:prstGeom>
          <a:noFill/>
        </p:spPr>
        <p:txBody>
          <a:bodyPr wrap="square" rtlCol="0">
            <a:spAutoFit/>
          </a:bodyPr>
          <a:lstStyle/>
          <a:p>
            <a:pPr marL="285750" indent="-285750">
              <a:buFont typeface="Wingdings" panose="05000000000000000000" pitchFamily="2" charset="2"/>
              <a:buChar char="ü"/>
            </a:pPr>
            <a:r>
              <a:rPr lang="en-US" altLang="zh-CN" b="1" dirty="0"/>
              <a:t>Condensation  rate: </a:t>
            </a:r>
          </a:p>
          <a:p>
            <a:r>
              <a:rPr lang="en-US" altLang="zh-CN" dirty="0"/>
              <a:t>determined by the rate of atoms strike on the liquid surface</a:t>
            </a:r>
          </a:p>
        </p:txBody>
      </p:sp>
      <p:graphicFrame>
        <p:nvGraphicFramePr>
          <p:cNvPr id="22" name="对象 21"/>
          <p:cNvGraphicFramePr>
            <a:graphicFrameLocks noChangeAspect="1"/>
          </p:cNvGraphicFramePr>
          <p:nvPr>
            <p:extLst>
              <p:ext uri="{D42A27DB-BD31-4B8C-83A1-F6EECF244321}">
                <p14:modId xmlns:p14="http://schemas.microsoft.com/office/powerpoint/2010/main" val="3217727477"/>
              </p:ext>
            </p:extLst>
          </p:nvPr>
        </p:nvGraphicFramePr>
        <p:xfrm>
          <a:off x="801688" y="5705475"/>
          <a:ext cx="1150937" cy="423863"/>
        </p:xfrm>
        <a:graphic>
          <a:graphicData uri="http://schemas.openxmlformats.org/presentationml/2006/ole">
            <mc:AlternateContent xmlns:mc="http://schemas.openxmlformats.org/markup-compatibility/2006">
              <mc:Choice xmlns:v="urn:schemas-microsoft-com:vml" Requires="v">
                <p:oleObj name="Equation" r:id="rId4" imgW="723600" imgH="266400" progId="Equation.DSMT4">
                  <p:embed/>
                </p:oleObj>
              </mc:Choice>
              <mc:Fallback>
                <p:oleObj name="Equation" r:id="rId4" imgW="723600" imgH="266400" progId="Equation.DSMT4">
                  <p:embed/>
                  <p:pic>
                    <p:nvPicPr>
                      <p:cNvPr id="0" name=""/>
                      <p:cNvPicPr>
                        <a:picLocks noChangeAspect="1" noChangeArrowheads="1"/>
                      </p:cNvPicPr>
                      <p:nvPr/>
                    </p:nvPicPr>
                    <p:blipFill>
                      <a:blip r:embed="rId5"/>
                      <a:srcRect/>
                      <a:stretch>
                        <a:fillRect/>
                      </a:stretch>
                    </p:blipFill>
                    <p:spPr bwMode="auto">
                      <a:xfrm>
                        <a:off x="801688" y="5705475"/>
                        <a:ext cx="1150937"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矩形 3"/>
          <p:cNvSpPr/>
          <p:nvPr/>
        </p:nvSpPr>
        <p:spPr>
          <a:xfrm>
            <a:off x="3769302" y="402996"/>
            <a:ext cx="1338828" cy="369332"/>
          </a:xfrm>
          <a:prstGeom prst="rect">
            <a:avLst/>
          </a:prstGeom>
        </p:spPr>
        <p:txBody>
          <a:bodyPr wrap="none">
            <a:spAutoFit/>
          </a:bodyPr>
          <a:lstStyle/>
          <a:p>
            <a:r>
              <a:rPr lang="zh-CN" altLang="en-US" dirty="0"/>
              <a:t>拉乌尔定律</a:t>
            </a:r>
          </a:p>
        </p:txBody>
      </p:sp>
      <p:pic>
        <p:nvPicPr>
          <p:cNvPr id="210958"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32969" y="0"/>
            <a:ext cx="1428750" cy="226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7632969" y="2617731"/>
            <a:ext cx="1407758" cy="523220"/>
          </a:xfrm>
          <a:prstGeom prst="rect">
            <a:avLst/>
          </a:prstGeom>
          <a:noFill/>
        </p:spPr>
        <p:txBody>
          <a:bodyPr wrap="none" rtlCol="0">
            <a:spAutoFit/>
          </a:bodyPr>
          <a:lstStyle/>
          <a:p>
            <a:pPr algn="ctr"/>
            <a:r>
              <a:rPr lang="en-US" altLang="zh-CN" sz="1400" dirty="0"/>
              <a:t>French chemist</a:t>
            </a:r>
          </a:p>
          <a:p>
            <a:pPr algn="ctr"/>
            <a:r>
              <a:rPr lang="en-US" altLang="zh-CN" sz="1400" dirty="0"/>
              <a:t>1830-1901</a:t>
            </a:r>
            <a:endParaRPr lang="zh-CN" altLang="en-US" sz="1400" dirty="0"/>
          </a:p>
        </p:txBody>
      </p:sp>
      <p:sp>
        <p:nvSpPr>
          <p:cNvPr id="12" name="矩形 11"/>
          <p:cNvSpPr/>
          <p:nvPr/>
        </p:nvSpPr>
        <p:spPr>
          <a:xfrm>
            <a:off x="7515225" y="2341699"/>
            <a:ext cx="1664238" cy="261610"/>
          </a:xfrm>
          <a:prstGeom prst="rect">
            <a:avLst/>
          </a:prstGeom>
        </p:spPr>
        <p:txBody>
          <a:bodyPr wrap="none">
            <a:spAutoFit/>
          </a:bodyPr>
          <a:lstStyle/>
          <a:p>
            <a:r>
              <a:rPr lang="en-US" altLang="zh-CN" sz="1100" b="1" dirty="0"/>
              <a:t>François-Marie </a:t>
            </a:r>
            <a:r>
              <a:rPr lang="en-US" altLang="zh-CN" sz="1100" b="1" dirty="0" err="1"/>
              <a:t>Raoult</a:t>
            </a:r>
            <a:endParaRPr lang="zh-CN" altLang="en-US" sz="1100" dirty="0"/>
          </a:p>
        </p:txBody>
      </p:sp>
    </p:spTree>
    <p:extLst>
      <p:ext uri="{BB962C8B-B14F-4D97-AF65-F5344CB8AC3E}">
        <p14:creationId xmlns:p14="http://schemas.microsoft.com/office/powerpoint/2010/main" val="1577612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347420" y="190500"/>
            <a:ext cx="2501582" cy="584775"/>
          </a:xfrm>
          <a:prstGeom prst="rect">
            <a:avLst/>
          </a:prstGeom>
          <a:noFill/>
        </p:spPr>
        <p:txBody>
          <a:bodyPr wrap="none" rtlCol="0">
            <a:spAutoFit/>
          </a:bodyPr>
          <a:lstStyle/>
          <a:p>
            <a:r>
              <a:rPr lang="en-US" altLang="zh-CN" sz="3200" dirty="0" err="1">
                <a:solidFill>
                  <a:srgbClr val="FF0000"/>
                </a:solidFill>
              </a:rPr>
              <a:t>Raoult’s</a:t>
            </a:r>
            <a:r>
              <a:rPr lang="en-US" altLang="zh-CN" sz="3200" dirty="0">
                <a:solidFill>
                  <a:srgbClr val="FF0000"/>
                </a:solidFill>
              </a:rPr>
              <a:t> law </a:t>
            </a:r>
            <a:endParaRPr lang="zh-CN" altLang="en-US" sz="3200" dirty="0">
              <a:solidFill>
                <a:srgbClr val="FF0000"/>
              </a:solidFill>
            </a:endParaRPr>
          </a:p>
        </p:txBody>
      </p:sp>
      <p:sp>
        <p:nvSpPr>
          <p:cNvPr id="12" name="TextBox 11"/>
          <p:cNvSpPr txBox="1"/>
          <p:nvPr/>
        </p:nvSpPr>
        <p:spPr>
          <a:xfrm>
            <a:off x="3145302" y="1636857"/>
            <a:ext cx="2031518" cy="461665"/>
          </a:xfrm>
          <a:prstGeom prst="rect">
            <a:avLst/>
          </a:prstGeom>
          <a:noFill/>
        </p:spPr>
        <p:txBody>
          <a:bodyPr wrap="none" rtlCol="0">
            <a:spAutoFit/>
          </a:bodyPr>
          <a:lstStyle/>
          <a:p>
            <a:r>
              <a:rPr lang="en-US" altLang="zh-CN" sz="2400" dirty="0"/>
              <a:t>At equilibrium </a:t>
            </a:r>
            <a:endParaRPr lang="zh-CN" altLang="en-US" sz="2400" dirty="0"/>
          </a:p>
        </p:txBody>
      </p:sp>
      <p:graphicFrame>
        <p:nvGraphicFramePr>
          <p:cNvPr id="13" name="对象 12"/>
          <p:cNvGraphicFramePr>
            <a:graphicFrameLocks noChangeAspect="1"/>
          </p:cNvGraphicFramePr>
          <p:nvPr>
            <p:extLst>
              <p:ext uri="{D42A27DB-BD31-4B8C-83A1-F6EECF244321}">
                <p14:modId xmlns:p14="http://schemas.microsoft.com/office/powerpoint/2010/main" val="1771749419"/>
              </p:ext>
            </p:extLst>
          </p:nvPr>
        </p:nvGraphicFramePr>
        <p:xfrm>
          <a:off x="635273" y="1821477"/>
          <a:ext cx="2220913" cy="685800"/>
        </p:xfrm>
        <a:graphic>
          <a:graphicData uri="http://schemas.openxmlformats.org/presentationml/2006/ole">
            <mc:AlternateContent xmlns:mc="http://schemas.openxmlformats.org/markup-compatibility/2006">
              <mc:Choice xmlns:v="urn:schemas-microsoft-com:vml" Requires="v">
                <p:oleObj name="Equation" r:id="rId2" imgW="1396800" imgH="431640" progId="Equation.DSMT4">
                  <p:embed/>
                </p:oleObj>
              </mc:Choice>
              <mc:Fallback>
                <p:oleObj name="Equation" r:id="rId2" imgW="1396800" imgH="431640" progId="Equation.DSMT4">
                  <p:embed/>
                  <p:pic>
                    <p:nvPicPr>
                      <p:cNvPr id="0" name=""/>
                      <p:cNvPicPr>
                        <a:picLocks noChangeAspect="1" noChangeArrowheads="1"/>
                      </p:cNvPicPr>
                      <p:nvPr/>
                    </p:nvPicPr>
                    <p:blipFill>
                      <a:blip r:embed="rId3"/>
                      <a:srcRect/>
                      <a:stretch>
                        <a:fillRect/>
                      </a:stretch>
                    </p:blipFill>
                    <p:spPr bwMode="auto">
                      <a:xfrm>
                        <a:off x="635273" y="1821477"/>
                        <a:ext cx="22209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068697193"/>
              </p:ext>
            </p:extLst>
          </p:nvPr>
        </p:nvGraphicFramePr>
        <p:xfrm>
          <a:off x="670198" y="2540614"/>
          <a:ext cx="1150937" cy="423863"/>
        </p:xfrm>
        <a:graphic>
          <a:graphicData uri="http://schemas.openxmlformats.org/presentationml/2006/ole">
            <mc:AlternateContent xmlns:mc="http://schemas.openxmlformats.org/markup-compatibility/2006">
              <mc:Choice xmlns:v="urn:schemas-microsoft-com:vml" Requires="v">
                <p:oleObj name="Equation" r:id="rId4" imgW="723600" imgH="266400" progId="Equation.DSMT4">
                  <p:embed/>
                </p:oleObj>
              </mc:Choice>
              <mc:Fallback>
                <p:oleObj name="Equation" r:id="rId4" imgW="723600" imgH="266400" progId="Equation.DSMT4">
                  <p:embed/>
                  <p:pic>
                    <p:nvPicPr>
                      <p:cNvPr id="0" name=""/>
                      <p:cNvPicPr>
                        <a:picLocks noChangeAspect="1" noChangeArrowheads="1"/>
                      </p:cNvPicPr>
                      <p:nvPr/>
                    </p:nvPicPr>
                    <p:blipFill>
                      <a:blip r:embed="rId5"/>
                      <a:srcRect/>
                      <a:stretch>
                        <a:fillRect/>
                      </a:stretch>
                    </p:blipFill>
                    <p:spPr bwMode="auto">
                      <a:xfrm>
                        <a:off x="670198" y="2540614"/>
                        <a:ext cx="1150937"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2788623339"/>
              </p:ext>
            </p:extLst>
          </p:nvPr>
        </p:nvGraphicFramePr>
        <p:xfrm>
          <a:off x="3426525" y="2308195"/>
          <a:ext cx="1604736" cy="387350"/>
        </p:xfrm>
        <a:graphic>
          <a:graphicData uri="http://schemas.openxmlformats.org/presentationml/2006/ole">
            <mc:AlternateContent xmlns:mc="http://schemas.openxmlformats.org/markup-compatibility/2006">
              <mc:Choice xmlns:v="urn:schemas-microsoft-com:vml" Requires="v">
                <p:oleObj name="Equation" r:id="rId6" imgW="1104840" imgH="266400" progId="Equation.DSMT4">
                  <p:embed/>
                </p:oleObj>
              </mc:Choice>
              <mc:Fallback>
                <p:oleObj name="Equation" r:id="rId6" imgW="1104840" imgH="266400" progId="Equation.DSMT4">
                  <p:embed/>
                  <p:pic>
                    <p:nvPicPr>
                      <p:cNvPr id="0" name=""/>
                      <p:cNvPicPr/>
                      <p:nvPr/>
                    </p:nvPicPr>
                    <p:blipFill>
                      <a:blip r:embed="rId7"/>
                      <a:stretch>
                        <a:fillRect/>
                      </a:stretch>
                    </p:blipFill>
                    <p:spPr>
                      <a:xfrm>
                        <a:off x="3426525" y="2308195"/>
                        <a:ext cx="1604736" cy="387350"/>
                      </a:xfrm>
                      <a:prstGeom prst="rect">
                        <a:avLst/>
                      </a:prstGeom>
                    </p:spPr>
                  </p:pic>
                </p:oleObj>
              </mc:Fallback>
            </mc:AlternateContent>
          </a:graphicData>
        </a:graphic>
      </p:graphicFrame>
      <p:sp>
        <p:nvSpPr>
          <p:cNvPr id="16" name="矩形 15"/>
          <p:cNvSpPr/>
          <p:nvPr/>
        </p:nvSpPr>
        <p:spPr>
          <a:xfrm>
            <a:off x="428554" y="1696547"/>
            <a:ext cx="2468059" cy="1303798"/>
          </a:xfrm>
          <a:prstGeom prst="rect">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7" name="对象 16"/>
          <p:cNvGraphicFramePr>
            <a:graphicFrameLocks noChangeAspect="1"/>
          </p:cNvGraphicFramePr>
          <p:nvPr>
            <p:extLst>
              <p:ext uri="{D42A27DB-BD31-4B8C-83A1-F6EECF244321}">
                <p14:modId xmlns:p14="http://schemas.microsoft.com/office/powerpoint/2010/main" val="4135510423"/>
              </p:ext>
            </p:extLst>
          </p:nvPr>
        </p:nvGraphicFramePr>
        <p:xfrm>
          <a:off x="6363752" y="1696547"/>
          <a:ext cx="1435100" cy="1108075"/>
        </p:xfrm>
        <a:graphic>
          <a:graphicData uri="http://schemas.openxmlformats.org/presentationml/2006/ole">
            <mc:AlternateContent xmlns:mc="http://schemas.openxmlformats.org/markup-compatibility/2006">
              <mc:Choice xmlns:v="urn:schemas-microsoft-com:vml" Requires="v">
                <p:oleObj name="Equation" r:id="rId8" imgW="723600" imgH="558720" progId="Equation.DSMT4">
                  <p:embed/>
                </p:oleObj>
              </mc:Choice>
              <mc:Fallback>
                <p:oleObj name="Equation" r:id="rId8" imgW="723600" imgH="558720" progId="Equation.DSMT4">
                  <p:embed/>
                  <p:pic>
                    <p:nvPicPr>
                      <p:cNvPr id="0" name=""/>
                      <p:cNvPicPr>
                        <a:picLocks noChangeAspect="1" noChangeArrowheads="1"/>
                      </p:cNvPicPr>
                      <p:nvPr/>
                    </p:nvPicPr>
                    <p:blipFill>
                      <a:blip r:embed="rId9"/>
                      <a:srcRect/>
                      <a:stretch>
                        <a:fillRect/>
                      </a:stretch>
                    </p:blipFill>
                    <p:spPr bwMode="auto">
                      <a:xfrm>
                        <a:off x="6363752" y="1696547"/>
                        <a:ext cx="1435100" cy="1108075"/>
                      </a:xfrm>
                      <a:prstGeom prst="rect">
                        <a:avLst/>
                      </a:prstGeom>
                      <a:noFill/>
                      <a:ln>
                        <a:noFill/>
                      </a:ln>
                    </p:spPr>
                  </p:pic>
                </p:oleObj>
              </mc:Fallback>
            </mc:AlternateContent>
          </a:graphicData>
        </a:graphic>
      </p:graphicFrame>
      <p:pic>
        <p:nvPicPr>
          <p:cNvPr id="61446"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65252" y="3366677"/>
            <a:ext cx="2847755" cy="2612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17"/>
          <p:cNvSpPr txBox="1"/>
          <p:nvPr/>
        </p:nvSpPr>
        <p:spPr>
          <a:xfrm>
            <a:off x="402102" y="1152435"/>
            <a:ext cx="2247731" cy="400110"/>
          </a:xfrm>
          <a:prstGeom prst="rect">
            <a:avLst/>
          </a:prstGeom>
          <a:noFill/>
        </p:spPr>
        <p:txBody>
          <a:bodyPr wrap="none" rtlCol="0">
            <a:spAutoFit/>
          </a:bodyPr>
          <a:lstStyle/>
          <a:p>
            <a:r>
              <a:rPr lang="en-US" altLang="zh-CN" sz="2000" b="1" i="1" dirty="0">
                <a:solidFill>
                  <a:srgbClr val="0000FF"/>
                </a:solidFill>
              </a:rPr>
              <a:t>Considering  pure A</a:t>
            </a:r>
            <a:endParaRPr lang="zh-CN" altLang="en-US" sz="2000" b="1" i="1" dirty="0">
              <a:solidFill>
                <a:srgbClr val="0000FF"/>
              </a:solidFill>
            </a:endParaRPr>
          </a:p>
        </p:txBody>
      </p:sp>
      <p:sp>
        <p:nvSpPr>
          <p:cNvPr id="20" name="TextBox 19"/>
          <p:cNvSpPr txBox="1"/>
          <p:nvPr/>
        </p:nvSpPr>
        <p:spPr>
          <a:xfrm>
            <a:off x="489002" y="3152745"/>
            <a:ext cx="2204450" cy="400110"/>
          </a:xfrm>
          <a:prstGeom prst="rect">
            <a:avLst/>
          </a:prstGeom>
          <a:noFill/>
        </p:spPr>
        <p:txBody>
          <a:bodyPr wrap="none" rtlCol="0">
            <a:spAutoFit/>
          </a:bodyPr>
          <a:lstStyle/>
          <a:p>
            <a:r>
              <a:rPr lang="en-US" altLang="zh-CN" sz="2000" b="1" i="1" dirty="0">
                <a:solidFill>
                  <a:srgbClr val="0000FF"/>
                </a:solidFill>
              </a:rPr>
              <a:t>Consider a solution</a:t>
            </a:r>
            <a:endParaRPr lang="zh-CN" altLang="en-US" sz="2000" b="1" i="1" dirty="0">
              <a:solidFill>
                <a:srgbClr val="0000FF"/>
              </a:solidFill>
            </a:endParaRPr>
          </a:p>
        </p:txBody>
      </p:sp>
      <p:sp>
        <p:nvSpPr>
          <p:cNvPr id="19" name="矩形 18"/>
          <p:cNvSpPr/>
          <p:nvPr/>
        </p:nvSpPr>
        <p:spPr>
          <a:xfrm>
            <a:off x="312211" y="3569439"/>
            <a:ext cx="4572000" cy="369332"/>
          </a:xfrm>
          <a:prstGeom prst="rect">
            <a:avLst/>
          </a:prstGeom>
        </p:spPr>
        <p:txBody>
          <a:bodyPr>
            <a:spAutoFit/>
          </a:bodyPr>
          <a:lstStyle/>
          <a:p>
            <a:r>
              <a:rPr lang="en-US" altLang="zh-CN" i="1" dirty="0"/>
              <a:t>a little liquid B was added into to liquid A</a:t>
            </a:r>
            <a:endParaRPr lang="zh-CN" altLang="en-US" i="1" dirty="0"/>
          </a:p>
        </p:txBody>
      </p:sp>
      <p:sp>
        <p:nvSpPr>
          <p:cNvPr id="21" name="TextBox 20"/>
          <p:cNvSpPr txBox="1"/>
          <p:nvPr/>
        </p:nvSpPr>
        <p:spPr>
          <a:xfrm>
            <a:off x="286377" y="4026639"/>
            <a:ext cx="4704365" cy="646331"/>
          </a:xfrm>
          <a:prstGeom prst="rect">
            <a:avLst/>
          </a:prstGeom>
          <a:noFill/>
        </p:spPr>
        <p:txBody>
          <a:bodyPr wrap="none" rtlCol="0">
            <a:spAutoFit/>
          </a:bodyPr>
          <a:lstStyle/>
          <a:p>
            <a:r>
              <a:rPr lang="en-US" altLang="zh-CN" dirty="0"/>
              <a:t>The molar fraction of A in the solution: </a:t>
            </a:r>
            <a:r>
              <a:rPr lang="en-US" altLang="zh-CN" b="1" i="1" dirty="0"/>
              <a:t>X</a:t>
            </a:r>
            <a:r>
              <a:rPr lang="en-US" altLang="zh-CN" b="1" i="1" baseline="-25000" dirty="0"/>
              <a:t>A</a:t>
            </a:r>
            <a:r>
              <a:rPr lang="en-US" altLang="zh-CN" dirty="0"/>
              <a:t>  </a:t>
            </a:r>
          </a:p>
          <a:p>
            <a:r>
              <a:rPr lang="en-US" altLang="zh-CN" dirty="0"/>
              <a:t>Assume the fraction atom A on the surface is </a:t>
            </a:r>
            <a:r>
              <a:rPr lang="en-US" altLang="zh-CN" b="1" dirty="0"/>
              <a:t>X</a:t>
            </a:r>
            <a:r>
              <a:rPr lang="en-US" altLang="zh-CN" b="1" baseline="-25000" dirty="0"/>
              <a:t>A</a:t>
            </a:r>
            <a:r>
              <a:rPr lang="en-US" altLang="zh-CN" dirty="0"/>
              <a:t> </a:t>
            </a:r>
            <a:endParaRPr lang="zh-CN" altLang="en-US" dirty="0"/>
          </a:p>
        </p:txBody>
      </p:sp>
      <p:sp>
        <p:nvSpPr>
          <p:cNvPr id="22" name="TextBox 21"/>
          <p:cNvSpPr txBox="1"/>
          <p:nvPr/>
        </p:nvSpPr>
        <p:spPr>
          <a:xfrm>
            <a:off x="182415" y="4868614"/>
            <a:ext cx="5428396" cy="646331"/>
          </a:xfrm>
          <a:prstGeom prst="rect">
            <a:avLst/>
          </a:prstGeom>
          <a:solidFill>
            <a:schemeClr val="accent5">
              <a:lumMod val="20000"/>
              <a:lumOff val="80000"/>
            </a:schemeClr>
          </a:solidFill>
        </p:spPr>
        <p:txBody>
          <a:bodyPr wrap="square" rtlCol="0">
            <a:spAutoFit/>
          </a:bodyPr>
          <a:lstStyle/>
          <a:p>
            <a:pPr marL="285750" indent="-285750">
              <a:buFont typeface="Wingdings" panose="05000000000000000000" pitchFamily="2" charset="2"/>
              <a:buChar char="ü"/>
            </a:pPr>
            <a:r>
              <a:rPr lang="en-US" altLang="zh-CN" dirty="0"/>
              <a:t>evaporation rate of A is decreased by a factor X</a:t>
            </a:r>
            <a:r>
              <a:rPr lang="en-US" altLang="zh-CN" baseline="-25000" dirty="0"/>
              <a:t>A,</a:t>
            </a:r>
            <a:r>
              <a:rPr lang="en-US" altLang="zh-CN" dirty="0"/>
              <a:t> </a:t>
            </a:r>
          </a:p>
          <a:p>
            <a:pPr marL="285750" indent="-285750">
              <a:buFont typeface="Wingdings" panose="05000000000000000000" pitchFamily="2" charset="2"/>
              <a:buChar char="ü"/>
            </a:pPr>
            <a:r>
              <a:rPr lang="en-US" altLang="zh-CN" dirty="0"/>
              <a:t>vapor pressure of A is decreased from </a:t>
            </a:r>
            <a:r>
              <a:rPr lang="en-US" altLang="zh-CN" i="1" dirty="0"/>
              <a:t>p</a:t>
            </a:r>
            <a:r>
              <a:rPr lang="en-US" altLang="zh-CN" i="1" baseline="30000" dirty="0"/>
              <a:t>0</a:t>
            </a:r>
            <a:r>
              <a:rPr lang="en-US" altLang="zh-CN" dirty="0"/>
              <a:t> to </a:t>
            </a:r>
            <a:r>
              <a:rPr lang="en-US" altLang="zh-CN" i="1" dirty="0"/>
              <a:t>p</a:t>
            </a:r>
            <a:endParaRPr lang="zh-CN" altLang="en-US" i="1" dirty="0"/>
          </a:p>
        </p:txBody>
      </p:sp>
      <p:graphicFrame>
        <p:nvGraphicFramePr>
          <p:cNvPr id="23" name="对象 22"/>
          <p:cNvGraphicFramePr>
            <a:graphicFrameLocks noChangeAspect="1"/>
          </p:cNvGraphicFramePr>
          <p:nvPr>
            <p:extLst>
              <p:ext uri="{D42A27DB-BD31-4B8C-83A1-F6EECF244321}">
                <p14:modId xmlns:p14="http://schemas.microsoft.com/office/powerpoint/2010/main" val="965516696"/>
              </p:ext>
            </p:extLst>
          </p:nvPr>
        </p:nvGraphicFramePr>
        <p:xfrm>
          <a:off x="324060" y="5735853"/>
          <a:ext cx="3633241" cy="533400"/>
        </p:xfrm>
        <a:graphic>
          <a:graphicData uri="http://schemas.openxmlformats.org/presentationml/2006/ole">
            <mc:AlternateContent xmlns:mc="http://schemas.openxmlformats.org/markup-compatibility/2006">
              <mc:Choice xmlns:v="urn:schemas-microsoft-com:vml" Requires="v">
                <p:oleObj name="Equation" r:id="rId11" imgW="1815840" imgH="266400" progId="Equation.DSMT4">
                  <p:embed/>
                </p:oleObj>
              </mc:Choice>
              <mc:Fallback>
                <p:oleObj name="Equation" r:id="rId11" imgW="1815840" imgH="266400" progId="Equation.DSMT4">
                  <p:embed/>
                  <p:pic>
                    <p:nvPicPr>
                      <p:cNvPr id="0" name=""/>
                      <p:cNvPicPr>
                        <a:picLocks noChangeAspect="1" noChangeArrowheads="1"/>
                      </p:cNvPicPr>
                      <p:nvPr/>
                    </p:nvPicPr>
                    <p:blipFill>
                      <a:blip r:embed="rId12"/>
                      <a:srcRect/>
                      <a:stretch>
                        <a:fillRect/>
                      </a:stretch>
                    </p:blipFill>
                    <p:spPr bwMode="auto">
                      <a:xfrm>
                        <a:off x="324060" y="5735853"/>
                        <a:ext cx="3633241" cy="533400"/>
                      </a:xfrm>
                      <a:prstGeom prst="rect">
                        <a:avLst/>
                      </a:prstGeom>
                      <a:noFill/>
                      <a:ln>
                        <a:noFill/>
                      </a:ln>
                    </p:spPr>
                  </p:pic>
                </p:oleObj>
              </mc:Fallback>
            </mc:AlternateContent>
          </a:graphicData>
        </a:graphic>
      </p:graphicFrame>
      <p:cxnSp>
        <p:nvCxnSpPr>
          <p:cNvPr id="26" name="直接连接符 25"/>
          <p:cNvCxnSpPr/>
          <p:nvPr/>
        </p:nvCxnSpPr>
        <p:spPr>
          <a:xfrm>
            <a:off x="2149404" y="6276945"/>
            <a:ext cx="1797249"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27" name="对象 26"/>
          <p:cNvGraphicFramePr>
            <a:graphicFrameLocks noChangeAspect="1"/>
          </p:cNvGraphicFramePr>
          <p:nvPr>
            <p:extLst>
              <p:ext uri="{D42A27DB-BD31-4B8C-83A1-F6EECF244321}">
                <p14:modId xmlns:p14="http://schemas.microsoft.com/office/powerpoint/2010/main" val="3035893565"/>
              </p:ext>
            </p:extLst>
          </p:nvPr>
        </p:nvGraphicFramePr>
        <p:xfrm>
          <a:off x="5741452" y="5938806"/>
          <a:ext cx="3129078" cy="423709"/>
        </p:xfrm>
        <a:graphic>
          <a:graphicData uri="http://schemas.openxmlformats.org/presentationml/2006/ole">
            <mc:AlternateContent xmlns:mc="http://schemas.openxmlformats.org/markup-compatibility/2006">
              <mc:Choice xmlns:v="urn:schemas-microsoft-com:vml" Requires="v">
                <p:oleObj name="Equation" r:id="rId13" imgW="1879560" imgH="253800" progId="Equation.DSMT4">
                  <p:embed/>
                </p:oleObj>
              </mc:Choice>
              <mc:Fallback>
                <p:oleObj name="Equation" r:id="rId13" imgW="1879560" imgH="253800" progId="Equation.DSMT4">
                  <p:embed/>
                  <p:pic>
                    <p:nvPicPr>
                      <p:cNvPr id="0" name=""/>
                      <p:cNvPicPr/>
                      <p:nvPr/>
                    </p:nvPicPr>
                    <p:blipFill>
                      <a:blip r:embed="rId14"/>
                      <a:stretch>
                        <a:fillRect/>
                      </a:stretch>
                    </p:blipFill>
                    <p:spPr>
                      <a:xfrm>
                        <a:off x="5741452" y="5938806"/>
                        <a:ext cx="3129078" cy="423709"/>
                      </a:xfrm>
                      <a:prstGeom prst="rect">
                        <a:avLst/>
                      </a:prstGeom>
                    </p:spPr>
                  </p:pic>
                </p:oleObj>
              </mc:Fallback>
            </mc:AlternateContent>
          </a:graphicData>
        </a:graphic>
      </p:graphicFrame>
      <p:sp>
        <p:nvSpPr>
          <p:cNvPr id="2" name="下箭头 1"/>
          <p:cNvSpPr/>
          <p:nvPr/>
        </p:nvSpPr>
        <p:spPr>
          <a:xfrm rot="16200000">
            <a:off x="5495678" y="1869170"/>
            <a:ext cx="633249" cy="914399"/>
          </a:xfrm>
          <a:prstGeom prst="downArrow">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47571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46839" y="171450"/>
            <a:ext cx="2501582" cy="584775"/>
          </a:xfrm>
          <a:prstGeom prst="rect">
            <a:avLst/>
          </a:prstGeom>
          <a:noFill/>
        </p:spPr>
        <p:txBody>
          <a:bodyPr wrap="none" rtlCol="0">
            <a:spAutoFit/>
          </a:bodyPr>
          <a:lstStyle/>
          <a:p>
            <a:r>
              <a:rPr lang="en-US" altLang="zh-CN" sz="3200" dirty="0" err="1">
                <a:solidFill>
                  <a:srgbClr val="FF0000"/>
                </a:solidFill>
              </a:rPr>
              <a:t>Raoult’s</a:t>
            </a:r>
            <a:r>
              <a:rPr lang="en-US" altLang="zh-CN" sz="3200" dirty="0">
                <a:solidFill>
                  <a:srgbClr val="FF0000"/>
                </a:solidFill>
              </a:rPr>
              <a:t> law </a:t>
            </a:r>
            <a:endParaRPr lang="zh-CN" altLang="en-US" sz="3200" dirty="0">
              <a:solidFill>
                <a:srgbClr val="FF0000"/>
              </a:solidFill>
            </a:endParaRPr>
          </a:p>
        </p:txBody>
      </p:sp>
      <p:graphicFrame>
        <p:nvGraphicFramePr>
          <p:cNvPr id="25" name="对象 24"/>
          <p:cNvGraphicFramePr>
            <a:graphicFrameLocks noChangeAspect="1"/>
          </p:cNvGraphicFramePr>
          <p:nvPr>
            <p:extLst>
              <p:ext uri="{D42A27DB-BD31-4B8C-83A1-F6EECF244321}">
                <p14:modId xmlns:p14="http://schemas.microsoft.com/office/powerpoint/2010/main" val="502697137"/>
              </p:ext>
            </p:extLst>
          </p:nvPr>
        </p:nvGraphicFramePr>
        <p:xfrm>
          <a:off x="4533900" y="1752600"/>
          <a:ext cx="2997200" cy="528638"/>
        </p:xfrm>
        <a:graphic>
          <a:graphicData uri="http://schemas.openxmlformats.org/presentationml/2006/ole">
            <mc:AlternateContent xmlns:mc="http://schemas.openxmlformats.org/markup-compatibility/2006">
              <mc:Choice xmlns:v="urn:schemas-microsoft-com:vml" Requires="v">
                <p:oleObj name="Equation" r:id="rId2" imgW="1511280" imgH="266400" progId="Equation.DSMT4">
                  <p:embed/>
                </p:oleObj>
              </mc:Choice>
              <mc:Fallback>
                <p:oleObj name="Equation" r:id="rId2" imgW="1511280" imgH="266400" progId="Equation.DSMT4">
                  <p:embed/>
                  <p:pic>
                    <p:nvPicPr>
                      <p:cNvPr id="0" name=""/>
                      <p:cNvPicPr>
                        <a:picLocks noChangeAspect="1" noChangeArrowheads="1"/>
                      </p:cNvPicPr>
                      <p:nvPr/>
                    </p:nvPicPr>
                    <p:blipFill>
                      <a:blip r:embed="rId3"/>
                      <a:srcRect/>
                      <a:stretch>
                        <a:fillRect/>
                      </a:stretch>
                    </p:blipFill>
                    <p:spPr bwMode="auto">
                      <a:xfrm>
                        <a:off x="4533900" y="1752600"/>
                        <a:ext cx="2997200" cy="528638"/>
                      </a:xfrm>
                      <a:prstGeom prst="rect">
                        <a:avLst/>
                      </a:prstGeom>
                      <a:noFill/>
                      <a:ln>
                        <a:noFill/>
                      </a:ln>
                    </p:spPr>
                  </p:pic>
                </p:oleObj>
              </mc:Fallback>
            </mc:AlternateContent>
          </a:graphicData>
        </a:graphic>
      </p:graphicFrame>
      <p:pic>
        <p:nvPicPr>
          <p:cNvPr id="2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107" y="1519677"/>
            <a:ext cx="3533555" cy="3241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7" name="对象 26"/>
          <p:cNvGraphicFramePr>
            <a:graphicFrameLocks noChangeAspect="1"/>
          </p:cNvGraphicFramePr>
          <p:nvPr>
            <p:extLst>
              <p:ext uri="{D42A27DB-BD31-4B8C-83A1-F6EECF244321}">
                <p14:modId xmlns:p14="http://schemas.microsoft.com/office/powerpoint/2010/main" val="4241494016"/>
              </p:ext>
            </p:extLst>
          </p:nvPr>
        </p:nvGraphicFramePr>
        <p:xfrm>
          <a:off x="4490922" y="2514600"/>
          <a:ext cx="3129078" cy="423709"/>
        </p:xfrm>
        <a:graphic>
          <a:graphicData uri="http://schemas.openxmlformats.org/presentationml/2006/ole">
            <mc:AlternateContent xmlns:mc="http://schemas.openxmlformats.org/markup-compatibility/2006">
              <mc:Choice xmlns:v="urn:schemas-microsoft-com:vml" Requires="v">
                <p:oleObj name="Equation" r:id="rId5" imgW="1879560" imgH="253800" progId="Equation.DSMT4">
                  <p:embed/>
                </p:oleObj>
              </mc:Choice>
              <mc:Fallback>
                <p:oleObj name="Equation" r:id="rId5" imgW="1879560" imgH="253800" progId="Equation.DSMT4">
                  <p:embed/>
                  <p:pic>
                    <p:nvPicPr>
                      <p:cNvPr id="0" name=""/>
                      <p:cNvPicPr/>
                      <p:nvPr/>
                    </p:nvPicPr>
                    <p:blipFill>
                      <a:blip r:embed="rId6"/>
                      <a:stretch>
                        <a:fillRect/>
                      </a:stretch>
                    </p:blipFill>
                    <p:spPr>
                      <a:xfrm>
                        <a:off x="4490922" y="2514600"/>
                        <a:ext cx="3129078" cy="423709"/>
                      </a:xfrm>
                      <a:prstGeom prst="rect">
                        <a:avLst/>
                      </a:prstGeom>
                    </p:spPr>
                  </p:pic>
                </p:oleObj>
              </mc:Fallback>
            </mc:AlternateContent>
          </a:graphicData>
        </a:graphic>
      </p:graphicFrame>
      <p:sp>
        <p:nvSpPr>
          <p:cNvPr id="4" name="圆角矩形 3"/>
          <p:cNvSpPr/>
          <p:nvPr/>
        </p:nvSpPr>
        <p:spPr>
          <a:xfrm>
            <a:off x="4191000" y="1752600"/>
            <a:ext cx="3886200" cy="1295400"/>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1738445525"/>
              </p:ext>
            </p:extLst>
          </p:nvPr>
        </p:nvGraphicFramePr>
        <p:xfrm>
          <a:off x="4678363" y="3635375"/>
          <a:ext cx="2408237" cy="403225"/>
        </p:xfrm>
        <a:graphic>
          <a:graphicData uri="http://schemas.openxmlformats.org/presentationml/2006/ole">
            <mc:AlternateContent xmlns:mc="http://schemas.openxmlformats.org/markup-compatibility/2006">
              <mc:Choice xmlns:v="urn:schemas-microsoft-com:vml" Requires="v">
                <p:oleObj name="Equation" r:id="rId7" imgW="1447560" imgH="241200" progId="Equation.DSMT4">
                  <p:embed/>
                </p:oleObj>
              </mc:Choice>
              <mc:Fallback>
                <p:oleObj name="Equation" r:id="rId7" imgW="1447560" imgH="241200" progId="Equation.DSMT4">
                  <p:embed/>
                  <p:pic>
                    <p:nvPicPr>
                      <p:cNvPr id="0" name=""/>
                      <p:cNvPicPr>
                        <a:picLocks noChangeAspect="1" noChangeArrowheads="1"/>
                      </p:cNvPicPr>
                      <p:nvPr/>
                    </p:nvPicPr>
                    <p:blipFill>
                      <a:blip r:embed="rId8"/>
                      <a:srcRect/>
                      <a:stretch>
                        <a:fillRect/>
                      </a:stretch>
                    </p:blipFill>
                    <p:spPr bwMode="auto">
                      <a:xfrm>
                        <a:off x="4678363" y="3635375"/>
                        <a:ext cx="2408237" cy="403225"/>
                      </a:xfrm>
                      <a:prstGeom prst="rect">
                        <a:avLst/>
                      </a:prstGeom>
                      <a:solidFill>
                        <a:schemeClr val="accent6">
                          <a:lumMod val="40000"/>
                          <a:lumOff val="60000"/>
                        </a:schemeClr>
                      </a:solidFill>
                      <a:ln>
                        <a:noFill/>
                      </a:ln>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34822536"/>
              </p:ext>
            </p:extLst>
          </p:nvPr>
        </p:nvGraphicFramePr>
        <p:xfrm>
          <a:off x="4189862" y="4127737"/>
          <a:ext cx="367413" cy="436302"/>
        </p:xfrm>
        <a:graphic>
          <a:graphicData uri="http://schemas.openxmlformats.org/presentationml/2006/ole">
            <mc:AlternateContent xmlns:mc="http://schemas.openxmlformats.org/markup-compatibility/2006">
              <mc:Choice xmlns:v="urn:schemas-microsoft-com:vml" Requires="v">
                <p:oleObj name="Equation" r:id="rId9" imgW="203040" imgH="241200" progId="Equation.DSMT4">
                  <p:embed/>
                </p:oleObj>
              </mc:Choice>
              <mc:Fallback>
                <p:oleObj name="Equation" r:id="rId9" imgW="203040" imgH="241200" progId="Equation.DSMT4">
                  <p:embed/>
                  <p:pic>
                    <p:nvPicPr>
                      <p:cNvPr id="0" name=""/>
                      <p:cNvPicPr/>
                      <p:nvPr/>
                    </p:nvPicPr>
                    <p:blipFill>
                      <a:blip r:embed="rId10"/>
                      <a:stretch>
                        <a:fillRect/>
                      </a:stretch>
                    </p:blipFill>
                    <p:spPr>
                      <a:xfrm>
                        <a:off x="4189862" y="4127737"/>
                        <a:ext cx="367413" cy="436302"/>
                      </a:xfrm>
                      <a:prstGeom prst="rect">
                        <a:avLst/>
                      </a:prstGeom>
                    </p:spPr>
                  </p:pic>
                </p:oleObj>
              </mc:Fallback>
            </mc:AlternateContent>
          </a:graphicData>
        </a:graphic>
      </p:graphicFrame>
      <p:sp>
        <p:nvSpPr>
          <p:cNvPr id="15" name="TextBox 14"/>
          <p:cNvSpPr txBox="1"/>
          <p:nvPr/>
        </p:nvSpPr>
        <p:spPr>
          <a:xfrm>
            <a:off x="4580188" y="4191000"/>
            <a:ext cx="4182812" cy="369332"/>
          </a:xfrm>
          <a:prstGeom prst="rect">
            <a:avLst/>
          </a:prstGeom>
          <a:noFill/>
        </p:spPr>
        <p:txBody>
          <a:bodyPr wrap="none" rtlCol="0">
            <a:spAutoFit/>
          </a:bodyPr>
          <a:lstStyle/>
          <a:p>
            <a:r>
              <a:rPr lang="en-US" altLang="zh-CN" dirty="0"/>
              <a:t>The vapor pressure of the pure substance</a:t>
            </a:r>
            <a:r>
              <a:rPr lang="en-US" altLang="zh-CN" i="1" dirty="0"/>
              <a:t> </a:t>
            </a:r>
            <a:r>
              <a:rPr lang="en-US" altLang="zh-CN" i="1" dirty="0" err="1"/>
              <a:t>i</a:t>
            </a:r>
            <a:endParaRPr lang="zh-CN" altLang="en-US" i="1" dirty="0"/>
          </a:p>
        </p:txBody>
      </p:sp>
      <p:sp>
        <p:nvSpPr>
          <p:cNvPr id="28" name="TextBox 27"/>
          <p:cNvSpPr txBox="1"/>
          <p:nvPr/>
        </p:nvSpPr>
        <p:spPr>
          <a:xfrm>
            <a:off x="4191000" y="3195935"/>
            <a:ext cx="1768176" cy="461665"/>
          </a:xfrm>
          <a:prstGeom prst="rect">
            <a:avLst/>
          </a:prstGeom>
          <a:noFill/>
        </p:spPr>
        <p:txBody>
          <a:bodyPr wrap="none" rtlCol="0">
            <a:spAutoFit/>
          </a:bodyPr>
          <a:lstStyle/>
          <a:p>
            <a:r>
              <a:rPr lang="en-US" altLang="zh-CN" sz="2400" i="1" dirty="0" err="1">
                <a:solidFill>
                  <a:srgbClr val="FF0000"/>
                </a:solidFill>
              </a:rPr>
              <a:t>Raoult’s</a:t>
            </a:r>
            <a:r>
              <a:rPr lang="en-US" altLang="zh-CN" sz="2400" i="1" dirty="0">
                <a:solidFill>
                  <a:srgbClr val="FF0000"/>
                </a:solidFill>
              </a:rPr>
              <a:t> Law</a:t>
            </a:r>
            <a:endParaRPr lang="zh-CN" altLang="en-US" sz="2400" i="1" dirty="0">
              <a:solidFill>
                <a:srgbClr val="FF0000"/>
              </a:solidFill>
            </a:endParaRPr>
          </a:p>
        </p:txBody>
      </p:sp>
      <p:sp>
        <p:nvSpPr>
          <p:cNvPr id="29" name="矩形 28"/>
          <p:cNvSpPr/>
          <p:nvPr/>
        </p:nvSpPr>
        <p:spPr>
          <a:xfrm>
            <a:off x="503488" y="4962525"/>
            <a:ext cx="8153400" cy="1477328"/>
          </a:xfrm>
          <a:prstGeom prst="rect">
            <a:avLst/>
          </a:prstGeom>
        </p:spPr>
        <p:txBody>
          <a:bodyPr wrap="square">
            <a:spAutoFit/>
          </a:bodyPr>
          <a:lstStyle/>
          <a:p>
            <a:pPr marL="285750" indent="-285750">
              <a:buFont typeface="Wingdings" panose="05000000000000000000" pitchFamily="2" charset="2"/>
              <a:buChar char="ü"/>
            </a:pPr>
            <a:r>
              <a:rPr lang="en-US" altLang="zh-CN" dirty="0"/>
              <a:t>the vapor pressure exerted by a component </a:t>
            </a:r>
            <a:r>
              <a:rPr lang="en-US" altLang="zh-CN" i="1" dirty="0" err="1"/>
              <a:t>i</a:t>
            </a:r>
            <a:r>
              <a:rPr lang="en-US" altLang="zh-CN" i="1" dirty="0"/>
              <a:t> </a:t>
            </a:r>
            <a:r>
              <a:rPr lang="en-US" altLang="zh-CN" dirty="0"/>
              <a:t>in a solution is equal to the product of the mole fraction of </a:t>
            </a:r>
            <a:r>
              <a:rPr lang="en-US" altLang="zh-CN" i="1" dirty="0" err="1"/>
              <a:t>i</a:t>
            </a:r>
            <a:r>
              <a:rPr lang="en-US" altLang="zh-CN" i="1" dirty="0"/>
              <a:t> </a:t>
            </a:r>
            <a:r>
              <a:rPr lang="en-US" altLang="zh-CN" dirty="0"/>
              <a:t>in the solution and the saturated vapor pressure of pure liquid </a:t>
            </a:r>
            <a:r>
              <a:rPr lang="en-US" altLang="zh-CN" i="1" dirty="0" err="1"/>
              <a:t>i</a:t>
            </a:r>
            <a:r>
              <a:rPr lang="en-US" altLang="zh-CN" i="1" dirty="0"/>
              <a:t> </a:t>
            </a:r>
            <a:r>
              <a:rPr lang="en-US" altLang="zh-CN" dirty="0"/>
              <a:t>at the temperature of the solution</a:t>
            </a:r>
          </a:p>
          <a:p>
            <a:pPr marL="285750" indent="-285750">
              <a:buFont typeface="Wingdings" panose="05000000000000000000" pitchFamily="2" charset="2"/>
              <a:buChar char="ü"/>
            </a:pPr>
            <a:r>
              <a:rPr lang="en-US" altLang="zh-CN" dirty="0"/>
              <a:t>the components of a solution which obeys </a:t>
            </a:r>
            <a:r>
              <a:rPr lang="en-US" altLang="zh-CN" b="1" i="1" dirty="0" err="1"/>
              <a:t>Raoult’s</a:t>
            </a:r>
            <a:r>
              <a:rPr lang="en-US" altLang="zh-CN" b="1" i="1" dirty="0"/>
              <a:t> law </a:t>
            </a:r>
            <a:r>
              <a:rPr lang="en-US" altLang="zh-CN" dirty="0"/>
              <a:t>are said to exhibit </a:t>
            </a:r>
            <a:r>
              <a:rPr lang="en-US" altLang="zh-CN" b="1" i="1" dirty="0" err="1"/>
              <a:t>Raoultian</a:t>
            </a:r>
            <a:r>
              <a:rPr lang="en-US" altLang="zh-CN" b="1" i="1" dirty="0"/>
              <a:t> behavior</a:t>
            </a:r>
            <a:endParaRPr lang="zh-CN" altLang="en-US" b="1" i="1" dirty="0"/>
          </a:p>
        </p:txBody>
      </p:sp>
    </p:spTree>
    <p:extLst>
      <p:ext uri="{BB962C8B-B14F-4D97-AF65-F5344CB8AC3E}">
        <p14:creationId xmlns:p14="http://schemas.microsoft.com/office/powerpoint/2010/main" val="1682856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110747" y="88612"/>
            <a:ext cx="2501582" cy="584775"/>
          </a:xfrm>
          <a:prstGeom prst="rect">
            <a:avLst/>
          </a:prstGeom>
          <a:noFill/>
        </p:spPr>
        <p:txBody>
          <a:bodyPr wrap="none" rtlCol="0">
            <a:spAutoFit/>
          </a:bodyPr>
          <a:lstStyle/>
          <a:p>
            <a:r>
              <a:rPr lang="en-US" altLang="zh-CN" sz="3200" dirty="0" err="1">
                <a:solidFill>
                  <a:srgbClr val="FF0000"/>
                </a:solidFill>
              </a:rPr>
              <a:t>Raoult’s</a:t>
            </a:r>
            <a:r>
              <a:rPr lang="en-US" altLang="zh-CN" sz="3200" dirty="0">
                <a:solidFill>
                  <a:srgbClr val="FF0000"/>
                </a:solidFill>
              </a:rPr>
              <a:t> law </a:t>
            </a:r>
            <a:endParaRPr lang="zh-CN" altLang="en-US" sz="3200" dirty="0">
              <a:solidFill>
                <a:srgbClr val="FF0000"/>
              </a:solidFill>
            </a:endParaRPr>
          </a:p>
        </p:txBody>
      </p:sp>
      <p:pic>
        <p:nvPicPr>
          <p:cNvPr id="1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0047" y="1030909"/>
            <a:ext cx="2179028" cy="1999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p:nvSpPr>
        <p:spPr>
          <a:xfrm>
            <a:off x="265039" y="1064387"/>
            <a:ext cx="5111336" cy="369332"/>
          </a:xfrm>
          <a:prstGeom prst="rect">
            <a:avLst/>
          </a:prstGeom>
          <a:noFill/>
        </p:spPr>
        <p:txBody>
          <a:bodyPr wrap="none" rtlCol="0">
            <a:spAutoFit/>
          </a:bodyPr>
          <a:lstStyle/>
          <a:p>
            <a:pPr marL="285750" indent="-285750">
              <a:buFont typeface="Wingdings" pitchFamily="2" charset="2"/>
              <a:buChar char="p"/>
            </a:pPr>
            <a:r>
              <a:rPr lang="en-US" altLang="zh-CN" b="1" i="1" dirty="0"/>
              <a:t>An important assumption for </a:t>
            </a:r>
            <a:r>
              <a:rPr lang="en-US" altLang="zh-CN" b="1" i="1" dirty="0" err="1"/>
              <a:t>Raoult’s</a:t>
            </a:r>
            <a:r>
              <a:rPr lang="en-US" altLang="zh-CN" b="1" i="1" dirty="0"/>
              <a:t> law </a:t>
            </a:r>
            <a:endParaRPr lang="zh-CN" altLang="en-US" b="1" i="1" dirty="0"/>
          </a:p>
        </p:txBody>
      </p:sp>
      <p:sp>
        <p:nvSpPr>
          <p:cNvPr id="14" name="矩形 13"/>
          <p:cNvSpPr/>
          <p:nvPr/>
        </p:nvSpPr>
        <p:spPr>
          <a:xfrm>
            <a:off x="369352" y="1552663"/>
            <a:ext cx="5218072" cy="1477328"/>
          </a:xfrm>
          <a:prstGeom prst="rect">
            <a:avLst/>
          </a:prstGeom>
        </p:spPr>
        <p:txBody>
          <a:bodyPr wrap="square">
            <a:spAutoFit/>
          </a:bodyPr>
          <a:lstStyle/>
          <a:p>
            <a:r>
              <a:rPr lang="en-US" altLang="zh-CN" dirty="0"/>
              <a:t>It assume the magnitudes of the </a:t>
            </a:r>
            <a:r>
              <a:rPr lang="en-US" altLang="zh-CN" i="1" dirty="0"/>
              <a:t>A–A, B–B, </a:t>
            </a:r>
            <a:r>
              <a:rPr lang="en-US" altLang="zh-CN" dirty="0"/>
              <a:t>and </a:t>
            </a:r>
            <a:r>
              <a:rPr lang="en-US" altLang="zh-CN" i="1" dirty="0"/>
              <a:t>A–B </a:t>
            </a:r>
            <a:r>
              <a:rPr lang="en-US" altLang="zh-CN" dirty="0"/>
              <a:t>bond energies in  the solution be identical, in which case the depth of the potential energy well of an atom at the surface is independent of the types of atoms which it has as nearest neighbors</a:t>
            </a:r>
            <a:endParaRPr lang="zh-CN" altLang="en-US" dirty="0"/>
          </a:p>
        </p:txBody>
      </p:sp>
      <p:pic>
        <p:nvPicPr>
          <p:cNvPr id="17"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8276" t="27669" r="22604" b="38803"/>
          <a:stretch/>
        </p:blipFill>
        <p:spPr bwMode="auto">
          <a:xfrm>
            <a:off x="224050" y="4561610"/>
            <a:ext cx="3592590" cy="1391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TextBox 17"/>
          <p:cNvSpPr txBox="1"/>
          <p:nvPr/>
        </p:nvSpPr>
        <p:spPr>
          <a:xfrm>
            <a:off x="150125" y="3836425"/>
            <a:ext cx="4713919" cy="646331"/>
          </a:xfrm>
          <a:prstGeom prst="rect">
            <a:avLst/>
          </a:prstGeom>
          <a:noFill/>
        </p:spPr>
        <p:txBody>
          <a:bodyPr wrap="none" rtlCol="0">
            <a:spAutoFit/>
          </a:bodyPr>
          <a:lstStyle/>
          <a:p>
            <a:pPr marL="285750" indent="-285750">
              <a:buFont typeface="Wingdings" pitchFamily="2" charset="2"/>
              <a:buChar char="p"/>
            </a:pPr>
            <a:r>
              <a:rPr lang="en-US" altLang="zh-CN" dirty="0"/>
              <a:t>A-B bonding is different from A-A and B-B</a:t>
            </a:r>
          </a:p>
          <a:p>
            <a:r>
              <a:rPr lang="en-US" altLang="zh-CN" dirty="0"/>
              <a:t>And considering a solution, with X</a:t>
            </a:r>
            <a:r>
              <a:rPr lang="en-US" altLang="zh-CN" baseline="-25000" dirty="0"/>
              <a:t>A</a:t>
            </a:r>
            <a:r>
              <a:rPr lang="en-US" altLang="zh-CN" dirty="0"/>
              <a:t> &lt;&lt;1 </a:t>
            </a:r>
          </a:p>
        </p:txBody>
      </p:sp>
      <p:sp>
        <p:nvSpPr>
          <p:cNvPr id="20" name="TextBox 19"/>
          <p:cNvSpPr txBox="1"/>
          <p:nvPr/>
        </p:nvSpPr>
        <p:spPr>
          <a:xfrm>
            <a:off x="4991541" y="3836425"/>
            <a:ext cx="4376040" cy="646331"/>
          </a:xfrm>
          <a:prstGeom prst="rect">
            <a:avLst/>
          </a:prstGeom>
          <a:noFill/>
        </p:spPr>
        <p:txBody>
          <a:bodyPr wrap="square" rtlCol="0">
            <a:spAutoFit/>
          </a:bodyPr>
          <a:lstStyle/>
          <a:p>
            <a:r>
              <a:rPr lang="en-US" altLang="zh-CN" dirty="0"/>
              <a:t>For B,  most of B still interacted with B, </a:t>
            </a:r>
          </a:p>
          <a:p>
            <a:r>
              <a:rPr lang="en-US" altLang="zh-CN" dirty="0"/>
              <a:t>So it will follow </a:t>
            </a:r>
            <a:r>
              <a:rPr lang="en-US" altLang="zh-CN" dirty="0" err="1"/>
              <a:t>Raoult’s</a:t>
            </a:r>
            <a:r>
              <a:rPr lang="en-US" altLang="zh-CN" dirty="0"/>
              <a:t> law: </a:t>
            </a:r>
            <a:endParaRPr lang="zh-CN" altLang="en-US" dirty="0"/>
          </a:p>
        </p:txBody>
      </p:sp>
      <p:sp>
        <p:nvSpPr>
          <p:cNvPr id="21" name="TextBox 20"/>
          <p:cNvSpPr txBox="1"/>
          <p:nvPr/>
        </p:nvSpPr>
        <p:spPr>
          <a:xfrm>
            <a:off x="4787835" y="5172939"/>
            <a:ext cx="3916839" cy="646331"/>
          </a:xfrm>
          <a:prstGeom prst="rect">
            <a:avLst/>
          </a:prstGeom>
          <a:noFill/>
        </p:spPr>
        <p:txBody>
          <a:bodyPr wrap="square" rtlCol="0">
            <a:spAutoFit/>
          </a:bodyPr>
          <a:lstStyle/>
          <a:p>
            <a:r>
              <a:rPr lang="en-US" altLang="zh-CN" b="1" dirty="0"/>
              <a:t>For A,  it bounded to B, so it no longer follows </a:t>
            </a:r>
            <a:r>
              <a:rPr lang="en-US" altLang="zh-CN" b="1" dirty="0" err="1"/>
              <a:t>Raoult’s</a:t>
            </a:r>
            <a:r>
              <a:rPr lang="en-US" altLang="zh-CN" b="1" dirty="0"/>
              <a:t> law</a:t>
            </a:r>
            <a:endParaRPr lang="zh-CN" altLang="en-US" b="1" dirty="0"/>
          </a:p>
        </p:txBody>
      </p:sp>
      <p:graphicFrame>
        <p:nvGraphicFramePr>
          <p:cNvPr id="22" name="对象 21"/>
          <p:cNvGraphicFramePr>
            <a:graphicFrameLocks noChangeAspect="1"/>
          </p:cNvGraphicFramePr>
          <p:nvPr>
            <p:extLst>
              <p:ext uri="{D42A27DB-BD31-4B8C-83A1-F6EECF244321}">
                <p14:modId xmlns:p14="http://schemas.microsoft.com/office/powerpoint/2010/main" val="267002907"/>
              </p:ext>
            </p:extLst>
          </p:nvPr>
        </p:nvGraphicFramePr>
        <p:xfrm>
          <a:off x="5397302" y="4679748"/>
          <a:ext cx="1252004" cy="424787"/>
        </p:xfrm>
        <a:graphic>
          <a:graphicData uri="http://schemas.openxmlformats.org/presentationml/2006/ole">
            <mc:AlternateContent xmlns:mc="http://schemas.openxmlformats.org/markup-compatibility/2006">
              <mc:Choice xmlns:v="urn:schemas-microsoft-com:vml" Requires="v">
                <p:oleObj name="Equation" r:id="rId4" imgW="711000" imgH="241200" progId="Equation.DSMT4">
                  <p:embed/>
                </p:oleObj>
              </mc:Choice>
              <mc:Fallback>
                <p:oleObj name="Equation" r:id="rId4" imgW="711000" imgH="241200" progId="Equation.DSMT4">
                  <p:embed/>
                  <p:pic>
                    <p:nvPicPr>
                      <p:cNvPr id="0" name=""/>
                      <p:cNvPicPr/>
                      <p:nvPr/>
                    </p:nvPicPr>
                    <p:blipFill>
                      <a:blip r:embed="rId5"/>
                      <a:stretch>
                        <a:fillRect/>
                      </a:stretch>
                    </p:blipFill>
                    <p:spPr>
                      <a:xfrm>
                        <a:off x="5397302" y="4679748"/>
                        <a:ext cx="1252004" cy="424787"/>
                      </a:xfrm>
                      <a:prstGeom prst="rect">
                        <a:avLst/>
                      </a:prstGeom>
                    </p:spPr>
                  </p:pic>
                </p:oleObj>
              </mc:Fallback>
            </mc:AlternateContent>
          </a:graphicData>
        </a:graphic>
      </p:graphicFrame>
      <p:sp>
        <p:nvSpPr>
          <p:cNvPr id="2" name="圆角矩形 1"/>
          <p:cNvSpPr/>
          <p:nvPr/>
        </p:nvSpPr>
        <p:spPr>
          <a:xfrm>
            <a:off x="0" y="4191000"/>
            <a:ext cx="9144000" cy="2514600"/>
          </a:xfrm>
          <a:prstGeom prst="roundRect">
            <a:avLst>
              <a:gd name="adj" fmla="val 4184"/>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89253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13945" y="2413338"/>
            <a:ext cx="6613634" cy="1477328"/>
          </a:xfrm>
          <a:prstGeom prst="rect">
            <a:avLst/>
          </a:prstGeom>
        </p:spPr>
        <p:txBody>
          <a:bodyPr wrap="square">
            <a:spAutoFit/>
          </a:bodyPr>
          <a:lstStyle/>
          <a:p>
            <a:r>
              <a:rPr lang="en-US" altLang="zh-CN" dirty="0"/>
              <a:t>Considering the reasonability of the assumption of the “The molar fraction of A in the solution: </a:t>
            </a:r>
            <a:r>
              <a:rPr lang="en-US" altLang="zh-CN" b="1" i="1" dirty="0"/>
              <a:t>X</a:t>
            </a:r>
            <a:r>
              <a:rPr lang="en-US" altLang="zh-CN" b="1" i="1" baseline="-25000" dirty="0"/>
              <a:t>A</a:t>
            </a:r>
            <a:r>
              <a:rPr lang="en-US" altLang="zh-CN" dirty="0"/>
              <a:t> , assume the fraction atom A on the surface is </a:t>
            </a:r>
            <a:r>
              <a:rPr lang="en-US" altLang="zh-CN" b="1" dirty="0"/>
              <a:t>X</a:t>
            </a:r>
            <a:r>
              <a:rPr lang="en-US" altLang="zh-CN" b="1" baseline="-25000" dirty="0"/>
              <a:t>A</a:t>
            </a:r>
            <a:r>
              <a:rPr lang="en-US" altLang="zh-CN" dirty="0"/>
              <a:t>” when we derivation the </a:t>
            </a:r>
            <a:r>
              <a:rPr lang="en-US" altLang="zh-CN" dirty="0" err="1"/>
              <a:t>Routian’s</a:t>
            </a:r>
            <a:r>
              <a:rPr lang="en-US" altLang="zh-CN" dirty="0"/>
              <a:t> law.  Explain a case this assumption will not valid, and consider a modification. </a:t>
            </a:r>
            <a:endParaRPr lang="zh-CN" altLang="en-US" dirty="0"/>
          </a:p>
        </p:txBody>
      </p:sp>
      <p:sp>
        <p:nvSpPr>
          <p:cNvPr id="3" name="文本框 2"/>
          <p:cNvSpPr txBox="1"/>
          <p:nvPr/>
        </p:nvSpPr>
        <p:spPr>
          <a:xfrm>
            <a:off x="354724" y="1032641"/>
            <a:ext cx="1749197" cy="369332"/>
          </a:xfrm>
          <a:prstGeom prst="rect">
            <a:avLst/>
          </a:prstGeom>
          <a:solidFill>
            <a:schemeClr val="accent6">
              <a:lumMod val="40000"/>
              <a:lumOff val="60000"/>
            </a:schemeClr>
          </a:solidFill>
        </p:spPr>
        <p:txBody>
          <a:bodyPr wrap="none" rtlCol="0">
            <a:spAutoFit/>
          </a:bodyPr>
          <a:lstStyle/>
          <a:p>
            <a:r>
              <a:rPr lang="en-US" altLang="zh-CN" dirty="0"/>
              <a:t>Open question:</a:t>
            </a:r>
            <a:endParaRPr lang="zh-CN" altLang="en-US" dirty="0"/>
          </a:p>
        </p:txBody>
      </p:sp>
    </p:spTree>
    <p:extLst>
      <p:ext uri="{BB962C8B-B14F-4D97-AF65-F5344CB8AC3E}">
        <p14:creationId xmlns:p14="http://schemas.microsoft.com/office/powerpoint/2010/main" val="1858081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965745" y="79950"/>
            <a:ext cx="2410212" cy="584775"/>
          </a:xfrm>
          <a:prstGeom prst="rect">
            <a:avLst/>
          </a:prstGeom>
          <a:noFill/>
        </p:spPr>
        <p:txBody>
          <a:bodyPr wrap="none" rtlCol="0">
            <a:spAutoFit/>
          </a:bodyPr>
          <a:lstStyle/>
          <a:p>
            <a:r>
              <a:rPr lang="en-US" altLang="zh-CN" sz="3200" dirty="0">
                <a:solidFill>
                  <a:srgbClr val="FF0000"/>
                </a:solidFill>
              </a:rPr>
              <a:t>Henry’s law </a:t>
            </a:r>
            <a:endParaRPr lang="zh-CN" altLang="en-US" sz="3200" dirty="0">
              <a:solidFill>
                <a:srgbClr val="FF0000"/>
              </a:solidFill>
            </a:endParaRPr>
          </a:p>
        </p:txBody>
      </p:sp>
      <p:pic>
        <p:nvPicPr>
          <p:cNvPr id="11"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8276" t="27669" r="22604" b="38803"/>
          <a:stretch/>
        </p:blipFill>
        <p:spPr bwMode="auto">
          <a:xfrm>
            <a:off x="293610" y="1808627"/>
            <a:ext cx="3592590" cy="1391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76199" y="1124634"/>
            <a:ext cx="4481483" cy="646331"/>
          </a:xfrm>
          <a:prstGeom prst="rect">
            <a:avLst/>
          </a:prstGeom>
          <a:noFill/>
        </p:spPr>
        <p:txBody>
          <a:bodyPr wrap="none" rtlCol="0">
            <a:spAutoFit/>
          </a:bodyPr>
          <a:lstStyle/>
          <a:p>
            <a:r>
              <a:rPr lang="en-US" altLang="zh-CN" b="1" i="1" dirty="0"/>
              <a:t>Considering </a:t>
            </a:r>
            <a:r>
              <a:rPr lang="en-US" altLang="zh-CN" dirty="0"/>
              <a:t>A</a:t>
            </a:r>
            <a:r>
              <a:rPr lang="en-US" altLang="zh-CN" b="1" i="1" dirty="0"/>
              <a:t> </a:t>
            </a:r>
            <a:r>
              <a:rPr lang="en-US" altLang="zh-CN" dirty="0"/>
              <a:t> in a solution, with X</a:t>
            </a:r>
            <a:r>
              <a:rPr lang="en-US" altLang="zh-CN" baseline="-25000" dirty="0"/>
              <a:t>A</a:t>
            </a:r>
            <a:r>
              <a:rPr lang="en-US" altLang="zh-CN" dirty="0"/>
              <a:t> &lt;&lt;1</a:t>
            </a:r>
          </a:p>
          <a:p>
            <a:r>
              <a:rPr lang="en-US" altLang="zh-CN" dirty="0"/>
              <a:t>and A-B bonding is different from A-A and B-B</a:t>
            </a:r>
            <a:endParaRPr lang="zh-CN" altLang="en-US" dirty="0"/>
          </a:p>
        </p:txBody>
      </p:sp>
      <p:graphicFrame>
        <p:nvGraphicFramePr>
          <p:cNvPr id="14" name="对象 13"/>
          <p:cNvGraphicFramePr>
            <a:graphicFrameLocks noChangeAspect="1"/>
          </p:cNvGraphicFramePr>
          <p:nvPr>
            <p:extLst>
              <p:ext uri="{D42A27DB-BD31-4B8C-83A1-F6EECF244321}">
                <p14:modId xmlns:p14="http://schemas.microsoft.com/office/powerpoint/2010/main" val="1436186949"/>
              </p:ext>
            </p:extLst>
          </p:nvPr>
        </p:nvGraphicFramePr>
        <p:xfrm>
          <a:off x="5523156" y="2742032"/>
          <a:ext cx="1522412" cy="423863"/>
        </p:xfrm>
        <a:graphic>
          <a:graphicData uri="http://schemas.openxmlformats.org/presentationml/2006/ole">
            <mc:AlternateContent xmlns:mc="http://schemas.openxmlformats.org/markup-compatibility/2006">
              <mc:Choice xmlns:v="urn:schemas-microsoft-com:vml" Requires="v">
                <p:oleObj name="Equation" r:id="rId3" imgW="914400" imgH="253800" progId="Equation.DSMT4">
                  <p:embed/>
                </p:oleObj>
              </mc:Choice>
              <mc:Fallback>
                <p:oleObj name="Equation" r:id="rId3" imgW="914400" imgH="253800" progId="Equation.DSMT4">
                  <p:embed/>
                  <p:pic>
                    <p:nvPicPr>
                      <p:cNvPr id="0" name=""/>
                      <p:cNvPicPr>
                        <a:picLocks noChangeAspect="1" noChangeArrowheads="1"/>
                      </p:cNvPicPr>
                      <p:nvPr/>
                    </p:nvPicPr>
                    <p:blipFill>
                      <a:blip r:embed="rId4"/>
                      <a:srcRect/>
                      <a:stretch>
                        <a:fillRect/>
                      </a:stretch>
                    </p:blipFill>
                    <p:spPr bwMode="auto">
                      <a:xfrm>
                        <a:off x="5523156" y="2742032"/>
                        <a:ext cx="1522412"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Box 14"/>
          <p:cNvSpPr txBox="1"/>
          <p:nvPr/>
        </p:nvSpPr>
        <p:spPr>
          <a:xfrm>
            <a:off x="5397391" y="2373732"/>
            <a:ext cx="2009846" cy="369332"/>
          </a:xfrm>
          <a:prstGeom prst="rect">
            <a:avLst/>
          </a:prstGeom>
          <a:solidFill>
            <a:schemeClr val="accent6">
              <a:lumMod val="40000"/>
              <a:lumOff val="60000"/>
            </a:schemeClr>
          </a:solidFill>
        </p:spPr>
        <p:txBody>
          <a:bodyPr wrap="none" rtlCol="0">
            <a:spAutoFit/>
          </a:bodyPr>
          <a:lstStyle/>
          <a:p>
            <a:r>
              <a:rPr lang="en-US" altLang="zh-CN" dirty="0" err="1"/>
              <a:t>Raoultian</a:t>
            </a:r>
            <a:r>
              <a:rPr lang="en-US" altLang="zh-CN" dirty="0"/>
              <a:t> behavior </a:t>
            </a:r>
            <a:endParaRPr lang="zh-CN" altLang="en-US" dirty="0"/>
          </a:p>
        </p:txBody>
      </p:sp>
      <p:graphicFrame>
        <p:nvGraphicFramePr>
          <p:cNvPr id="16" name="对象 15"/>
          <p:cNvGraphicFramePr>
            <a:graphicFrameLocks noChangeAspect="1"/>
          </p:cNvGraphicFramePr>
          <p:nvPr>
            <p:extLst>
              <p:ext uri="{D42A27DB-BD31-4B8C-83A1-F6EECF244321}">
                <p14:modId xmlns:p14="http://schemas.microsoft.com/office/powerpoint/2010/main" val="371964130"/>
              </p:ext>
            </p:extLst>
          </p:nvPr>
        </p:nvGraphicFramePr>
        <p:xfrm>
          <a:off x="5474614" y="3879789"/>
          <a:ext cx="1606550" cy="508000"/>
        </p:xfrm>
        <a:graphic>
          <a:graphicData uri="http://schemas.openxmlformats.org/presentationml/2006/ole">
            <mc:AlternateContent xmlns:mc="http://schemas.openxmlformats.org/markup-compatibility/2006">
              <mc:Choice xmlns:v="urn:schemas-microsoft-com:vml" Requires="v">
                <p:oleObj name="Equation" r:id="rId5" imgW="965160" imgH="304560" progId="Equation.DSMT4">
                  <p:embed/>
                </p:oleObj>
              </mc:Choice>
              <mc:Fallback>
                <p:oleObj name="Equation" r:id="rId5" imgW="965160" imgH="304560" progId="Equation.DSMT4">
                  <p:embed/>
                  <p:pic>
                    <p:nvPicPr>
                      <p:cNvPr id="0" name=""/>
                      <p:cNvPicPr>
                        <a:picLocks noChangeAspect="1" noChangeArrowheads="1"/>
                      </p:cNvPicPr>
                      <p:nvPr/>
                    </p:nvPicPr>
                    <p:blipFill>
                      <a:blip r:embed="rId6"/>
                      <a:srcRect/>
                      <a:stretch>
                        <a:fillRect/>
                      </a:stretch>
                    </p:blipFill>
                    <p:spPr bwMode="auto">
                      <a:xfrm>
                        <a:off x="5474614" y="3879789"/>
                        <a:ext cx="160655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圆角矩形 17"/>
          <p:cNvSpPr/>
          <p:nvPr/>
        </p:nvSpPr>
        <p:spPr>
          <a:xfrm>
            <a:off x="5170730" y="2373732"/>
            <a:ext cx="3820869" cy="891335"/>
          </a:xfrm>
          <a:prstGeom prst="roundRect">
            <a:avLst>
              <a:gd name="adj" fmla="val 0"/>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18"/>
          <p:cNvSpPr txBox="1"/>
          <p:nvPr/>
        </p:nvSpPr>
        <p:spPr>
          <a:xfrm>
            <a:off x="5427480" y="3388769"/>
            <a:ext cx="1812676" cy="369332"/>
          </a:xfrm>
          <a:prstGeom prst="rect">
            <a:avLst/>
          </a:prstGeom>
          <a:solidFill>
            <a:schemeClr val="accent2">
              <a:lumMod val="60000"/>
              <a:lumOff val="40000"/>
            </a:schemeClr>
          </a:solidFill>
        </p:spPr>
        <p:txBody>
          <a:bodyPr wrap="none" rtlCol="0">
            <a:spAutoFit/>
          </a:bodyPr>
          <a:lstStyle/>
          <a:p>
            <a:r>
              <a:rPr lang="en-US" altLang="zh-CN" dirty="0" err="1"/>
              <a:t>Henrian</a:t>
            </a:r>
            <a:r>
              <a:rPr lang="en-US" altLang="zh-CN" dirty="0"/>
              <a:t> Behavior</a:t>
            </a:r>
            <a:endParaRPr lang="zh-CN" altLang="en-US" dirty="0"/>
          </a:p>
        </p:txBody>
      </p:sp>
      <p:graphicFrame>
        <p:nvGraphicFramePr>
          <p:cNvPr id="20" name="对象 19"/>
          <p:cNvGraphicFramePr>
            <a:graphicFrameLocks noChangeAspect="1"/>
          </p:cNvGraphicFramePr>
          <p:nvPr>
            <p:extLst>
              <p:ext uri="{D42A27DB-BD31-4B8C-83A1-F6EECF244321}">
                <p14:modId xmlns:p14="http://schemas.microsoft.com/office/powerpoint/2010/main" val="1842977297"/>
              </p:ext>
            </p:extLst>
          </p:nvPr>
        </p:nvGraphicFramePr>
        <p:xfrm>
          <a:off x="7407237" y="2759299"/>
          <a:ext cx="1122947" cy="381000"/>
        </p:xfrm>
        <a:graphic>
          <a:graphicData uri="http://schemas.openxmlformats.org/presentationml/2006/ole">
            <mc:AlternateContent xmlns:mc="http://schemas.openxmlformats.org/markup-compatibility/2006">
              <mc:Choice xmlns:v="urn:schemas-microsoft-com:vml" Requires="v">
                <p:oleObj name="Equation" r:id="rId7" imgW="711000" imgH="241200" progId="Equation.DSMT4">
                  <p:embed/>
                </p:oleObj>
              </mc:Choice>
              <mc:Fallback>
                <p:oleObj name="Equation" r:id="rId7" imgW="711000" imgH="241200" progId="Equation.DSMT4">
                  <p:embed/>
                  <p:pic>
                    <p:nvPicPr>
                      <p:cNvPr id="0" name=""/>
                      <p:cNvPicPr/>
                      <p:nvPr/>
                    </p:nvPicPr>
                    <p:blipFill>
                      <a:blip r:embed="rId8"/>
                      <a:stretch>
                        <a:fillRect/>
                      </a:stretch>
                    </p:blipFill>
                    <p:spPr>
                      <a:xfrm>
                        <a:off x="7407237" y="2759299"/>
                        <a:ext cx="1122947" cy="381000"/>
                      </a:xfrm>
                      <a:prstGeom prst="rect">
                        <a:avLst/>
                      </a:prstGeom>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3788037864"/>
              </p:ext>
            </p:extLst>
          </p:nvPr>
        </p:nvGraphicFramePr>
        <p:xfrm>
          <a:off x="7407237" y="3763108"/>
          <a:ext cx="1563687" cy="741362"/>
        </p:xfrm>
        <a:graphic>
          <a:graphicData uri="http://schemas.openxmlformats.org/presentationml/2006/ole">
            <mc:AlternateContent xmlns:mc="http://schemas.openxmlformats.org/markup-compatibility/2006">
              <mc:Choice xmlns:v="urn:schemas-microsoft-com:vml" Requires="v">
                <p:oleObj name="Equation" r:id="rId9" imgW="990360" imgH="469800" progId="Equation.DSMT4">
                  <p:embed/>
                </p:oleObj>
              </mc:Choice>
              <mc:Fallback>
                <p:oleObj name="Equation" r:id="rId9" imgW="990360" imgH="469800" progId="Equation.DSMT4">
                  <p:embed/>
                  <p:pic>
                    <p:nvPicPr>
                      <p:cNvPr id="0" name=""/>
                      <p:cNvPicPr>
                        <a:picLocks noChangeAspect="1" noChangeArrowheads="1"/>
                      </p:cNvPicPr>
                      <p:nvPr/>
                    </p:nvPicPr>
                    <p:blipFill>
                      <a:blip r:embed="rId10"/>
                      <a:srcRect/>
                      <a:stretch>
                        <a:fillRect/>
                      </a:stretch>
                    </p:blipFill>
                    <p:spPr bwMode="auto">
                      <a:xfrm>
                        <a:off x="7407237" y="3763108"/>
                        <a:ext cx="1563687"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3770720916"/>
              </p:ext>
            </p:extLst>
          </p:nvPr>
        </p:nvGraphicFramePr>
        <p:xfrm>
          <a:off x="5473442" y="4963986"/>
          <a:ext cx="1082675" cy="379412"/>
        </p:xfrm>
        <a:graphic>
          <a:graphicData uri="http://schemas.openxmlformats.org/presentationml/2006/ole">
            <mc:AlternateContent xmlns:mc="http://schemas.openxmlformats.org/markup-compatibility/2006">
              <mc:Choice xmlns:v="urn:schemas-microsoft-com:vml" Requires="v">
                <p:oleObj name="Equation" r:id="rId11" imgW="685800" imgH="241200" progId="Equation.DSMT4">
                  <p:embed/>
                </p:oleObj>
              </mc:Choice>
              <mc:Fallback>
                <p:oleObj name="Equation" r:id="rId11" imgW="685800" imgH="241200" progId="Equation.DSMT4">
                  <p:embed/>
                  <p:pic>
                    <p:nvPicPr>
                      <p:cNvPr id="0" name=""/>
                      <p:cNvPicPr>
                        <a:picLocks noChangeAspect="1" noChangeArrowheads="1"/>
                      </p:cNvPicPr>
                      <p:nvPr/>
                    </p:nvPicPr>
                    <p:blipFill>
                      <a:blip r:embed="rId12"/>
                      <a:srcRect/>
                      <a:stretch>
                        <a:fillRect/>
                      </a:stretch>
                    </p:blipFill>
                    <p:spPr bwMode="auto">
                      <a:xfrm>
                        <a:off x="5473442" y="4963986"/>
                        <a:ext cx="1082675"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TextBox 22"/>
          <p:cNvSpPr txBox="1"/>
          <p:nvPr/>
        </p:nvSpPr>
        <p:spPr>
          <a:xfrm>
            <a:off x="5427480" y="4597540"/>
            <a:ext cx="1351652" cy="369332"/>
          </a:xfrm>
          <a:prstGeom prst="rect">
            <a:avLst/>
          </a:prstGeom>
          <a:noFill/>
        </p:spPr>
        <p:txBody>
          <a:bodyPr wrap="none" rtlCol="0">
            <a:spAutoFit/>
          </a:bodyPr>
          <a:lstStyle/>
          <a:p>
            <a:r>
              <a:rPr lang="en-US" altLang="zh-CN" b="1" i="1" dirty="0"/>
              <a:t>Henry’s law </a:t>
            </a:r>
            <a:endParaRPr lang="zh-CN" altLang="en-US" b="1" i="1" dirty="0"/>
          </a:p>
        </p:txBody>
      </p:sp>
      <p:graphicFrame>
        <p:nvGraphicFramePr>
          <p:cNvPr id="24" name="对象 23"/>
          <p:cNvGraphicFramePr>
            <a:graphicFrameLocks noChangeAspect="1"/>
          </p:cNvGraphicFramePr>
          <p:nvPr>
            <p:extLst>
              <p:ext uri="{D42A27DB-BD31-4B8C-83A1-F6EECF244321}">
                <p14:modId xmlns:p14="http://schemas.microsoft.com/office/powerpoint/2010/main" val="3224930698"/>
              </p:ext>
            </p:extLst>
          </p:nvPr>
        </p:nvGraphicFramePr>
        <p:xfrm>
          <a:off x="6793424" y="4963986"/>
          <a:ext cx="1082675" cy="379412"/>
        </p:xfrm>
        <a:graphic>
          <a:graphicData uri="http://schemas.openxmlformats.org/presentationml/2006/ole">
            <mc:AlternateContent xmlns:mc="http://schemas.openxmlformats.org/markup-compatibility/2006">
              <mc:Choice xmlns:v="urn:schemas-microsoft-com:vml" Requires="v">
                <p:oleObj name="Equation" r:id="rId13" imgW="685800" imgH="241200" progId="Equation.DSMT4">
                  <p:embed/>
                </p:oleObj>
              </mc:Choice>
              <mc:Fallback>
                <p:oleObj name="Equation" r:id="rId13" imgW="685800" imgH="241200" progId="Equation.DSMT4">
                  <p:embed/>
                  <p:pic>
                    <p:nvPicPr>
                      <p:cNvPr id="0" name=""/>
                      <p:cNvPicPr>
                        <a:picLocks noChangeAspect="1" noChangeArrowheads="1"/>
                      </p:cNvPicPr>
                      <p:nvPr/>
                    </p:nvPicPr>
                    <p:blipFill>
                      <a:blip r:embed="rId14"/>
                      <a:srcRect/>
                      <a:stretch>
                        <a:fillRect/>
                      </a:stretch>
                    </p:blipFill>
                    <p:spPr bwMode="auto">
                      <a:xfrm>
                        <a:off x="6793424" y="4963986"/>
                        <a:ext cx="1082675"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TextBox 26"/>
          <p:cNvSpPr txBox="1"/>
          <p:nvPr/>
        </p:nvSpPr>
        <p:spPr>
          <a:xfrm>
            <a:off x="36233" y="3487458"/>
            <a:ext cx="5344408" cy="646331"/>
          </a:xfrm>
          <a:prstGeom prst="rect">
            <a:avLst/>
          </a:prstGeom>
          <a:noFill/>
        </p:spPr>
        <p:txBody>
          <a:bodyPr wrap="square" rtlCol="0">
            <a:spAutoFit/>
          </a:bodyPr>
          <a:lstStyle/>
          <a:p>
            <a:r>
              <a:rPr lang="en-US" altLang="zh-CN" dirty="0"/>
              <a:t>If A-B bonding is stronger than A-A, A is more difficult to evaporate in solution than pure A</a:t>
            </a:r>
            <a:endParaRPr lang="zh-CN" altLang="en-US" dirty="0"/>
          </a:p>
        </p:txBody>
      </p:sp>
      <p:graphicFrame>
        <p:nvGraphicFramePr>
          <p:cNvPr id="28" name="对象 27"/>
          <p:cNvGraphicFramePr>
            <a:graphicFrameLocks noChangeAspect="1"/>
          </p:cNvGraphicFramePr>
          <p:nvPr>
            <p:extLst>
              <p:ext uri="{D42A27DB-BD31-4B8C-83A1-F6EECF244321}">
                <p14:modId xmlns:p14="http://schemas.microsoft.com/office/powerpoint/2010/main" val="772415281"/>
              </p:ext>
            </p:extLst>
          </p:nvPr>
        </p:nvGraphicFramePr>
        <p:xfrm>
          <a:off x="390115" y="4133789"/>
          <a:ext cx="1277589" cy="557747"/>
        </p:xfrm>
        <a:graphic>
          <a:graphicData uri="http://schemas.openxmlformats.org/presentationml/2006/ole">
            <mc:AlternateContent xmlns:mc="http://schemas.openxmlformats.org/markup-compatibility/2006">
              <mc:Choice xmlns:v="urn:schemas-microsoft-com:vml" Requires="v">
                <p:oleObj name="Equation" r:id="rId15" imgW="698400" imgH="304560" progId="Equation.DSMT4">
                  <p:embed/>
                </p:oleObj>
              </mc:Choice>
              <mc:Fallback>
                <p:oleObj name="Equation" r:id="rId15" imgW="698400" imgH="304560" progId="Equation.DSMT4">
                  <p:embed/>
                  <p:pic>
                    <p:nvPicPr>
                      <p:cNvPr id="0" name=""/>
                      <p:cNvPicPr>
                        <a:picLocks noChangeAspect="1" noChangeArrowheads="1"/>
                      </p:cNvPicPr>
                      <p:nvPr/>
                    </p:nvPicPr>
                    <p:blipFill>
                      <a:blip r:embed="rId16"/>
                      <a:srcRect/>
                      <a:stretch>
                        <a:fillRect/>
                      </a:stretch>
                    </p:blipFill>
                    <p:spPr bwMode="auto">
                      <a:xfrm>
                        <a:off x="390115" y="4133789"/>
                        <a:ext cx="1277589" cy="557747"/>
                      </a:xfrm>
                      <a:prstGeom prst="rect">
                        <a:avLst/>
                      </a:prstGeom>
                      <a:noFill/>
                      <a:ln>
                        <a:noFill/>
                      </a:ln>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2467982120"/>
              </p:ext>
            </p:extLst>
          </p:nvPr>
        </p:nvGraphicFramePr>
        <p:xfrm>
          <a:off x="2316163" y="4175125"/>
          <a:ext cx="1511300" cy="642938"/>
        </p:xfrm>
        <a:graphic>
          <a:graphicData uri="http://schemas.openxmlformats.org/presentationml/2006/ole">
            <mc:AlternateContent xmlns:mc="http://schemas.openxmlformats.org/markup-compatibility/2006">
              <mc:Choice xmlns:v="urn:schemas-microsoft-com:vml" Requires="v">
                <p:oleObj name="Equation" r:id="rId17" imgW="1104840" imgH="469800" progId="Equation.DSMT4">
                  <p:embed/>
                </p:oleObj>
              </mc:Choice>
              <mc:Fallback>
                <p:oleObj name="Equation" r:id="rId17" imgW="1104840" imgH="469800" progId="Equation.DSMT4">
                  <p:embed/>
                  <p:pic>
                    <p:nvPicPr>
                      <p:cNvPr id="0" name=""/>
                      <p:cNvPicPr/>
                      <p:nvPr/>
                    </p:nvPicPr>
                    <p:blipFill>
                      <a:blip r:embed="rId18"/>
                      <a:stretch>
                        <a:fillRect/>
                      </a:stretch>
                    </p:blipFill>
                    <p:spPr>
                      <a:xfrm>
                        <a:off x="2316163" y="4175125"/>
                        <a:ext cx="1511300" cy="642938"/>
                      </a:xfrm>
                      <a:prstGeom prst="rect">
                        <a:avLst/>
                      </a:prstGeom>
                    </p:spPr>
                  </p:pic>
                </p:oleObj>
              </mc:Fallback>
            </mc:AlternateContent>
          </a:graphicData>
        </a:graphic>
      </p:graphicFrame>
      <p:sp>
        <p:nvSpPr>
          <p:cNvPr id="30" name="TextBox 29"/>
          <p:cNvSpPr txBox="1"/>
          <p:nvPr/>
        </p:nvSpPr>
        <p:spPr>
          <a:xfrm>
            <a:off x="142200" y="4782206"/>
            <a:ext cx="4895501" cy="646331"/>
          </a:xfrm>
          <a:prstGeom prst="rect">
            <a:avLst/>
          </a:prstGeom>
          <a:noFill/>
        </p:spPr>
        <p:txBody>
          <a:bodyPr wrap="square" rtlCol="0">
            <a:spAutoFit/>
          </a:bodyPr>
          <a:lstStyle/>
          <a:p>
            <a:r>
              <a:rPr lang="en-US" altLang="zh-CN" dirty="0"/>
              <a:t>If A-B bonding is weaker than A-A, A is more difficult to evaporate in solution than pure A</a:t>
            </a:r>
            <a:endParaRPr lang="zh-CN" altLang="en-US" dirty="0"/>
          </a:p>
        </p:txBody>
      </p:sp>
      <p:graphicFrame>
        <p:nvGraphicFramePr>
          <p:cNvPr id="31" name="对象 30"/>
          <p:cNvGraphicFramePr>
            <a:graphicFrameLocks noChangeAspect="1"/>
          </p:cNvGraphicFramePr>
          <p:nvPr>
            <p:extLst>
              <p:ext uri="{D42A27DB-BD31-4B8C-83A1-F6EECF244321}">
                <p14:modId xmlns:p14="http://schemas.microsoft.com/office/powerpoint/2010/main" val="634209401"/>
              </p:ext>
            </p:extLst>
          </p:nvPr>
        </p:nvGraphicFramePr>
        <p:xfrm>
          <a:off x="379286" y="5464802"/>
          <a:ext cx="1277589" cy="557747"/>
        </p:xfrm>
        <a:graphic>
          <a:graphicData uri="http://schemas.openxmlformats.org/presentationml/2006/ole">
            <mc:AlternateContent xmlns:mc="http://schemas.openxmlformats.org/markup-compatibility/2006">
              <mc:Choice xmlns:v="urn:schemas-microsoft-com:vml" Requires="v">
                <p:oleObj name="Equation" r:id="rId19" imgW="698400" imgH="304560" progId="Equation.DSMT4">
                  <p:embed/>
                </p:oleObj>
              </mc:Choice>
              <mc:Fallback>
                <p:oleObj name="Equation" r:id="rId19" imgW="698400" imgH="304560" progId="Equation.DSMT4">
                  <p:embed/>
                  <p:pic>
                    <p:nvPicPr>
                      <p:cNvPr id="0" name=""/>
                      <p:cNvPicPr>
                        <a:picLocks noChangeAspect="1" noChangeArrowheads="1"/>
                      </p:cNvPicPr>
                      <p:nvPr/>
                    </p:nvPicPr>
                    <p:blipFill>
                      <a:blip r:embed="rId20"/>
                      <a:srcRect/>
                      <a:stretch>
                        <a:fillRect/>
                      </a:stretch>
                    </p:blipFill>
                    <p:spPr bwMode="auto">
                      <a:xfrm>
                        <a:off x="379286" y="5464802"/>
                        <a:ext cx="1277589" cy="557747"/>
                      </a:xfrm>
                      <a:prstGeom prst="rect">
                        <a:avLst/>
                      </a:prstGeom>
                      <a:noFill/>
                      <a:ln>
                        <a:noFill/>
                      </a:ln>
                    </p:spPr>
                  </p:pic>
                </p:oleObj>
              </mc:Fallback>
            </mc:AlternateContent>
          </a:graphicData>
        </a:graphic>
      </p:graphicFrame>
      <p:graphicFrame>
        <p:nvGraphicFramePr>
          <p:cNvPr id="32" name="对象 31"/>
          <p:cNvGraphicFramePr>
            <a:graphicFrameLocks noChangeAspect="1"/>
          </p:cNvGraphicFramePr>
          <p:nvPr>
            <p:extLst>
              <p:ext uri="{D42A27DB-BD31-4B8C-83A1-F6EECF244321}">
                <p14:modId xmlns:p14="http://schemas.microsoft.com/office/powerpoint/2010/main" val="2399834251"/>
              </p:ext>
            </p:extLst>
          </p:nvPr>
        </p:nvGraphicFramePr>
        <p:xfrm>
          <a:off x="2284413" y="5502275"/>
          <a:ext cx="1511300" cy="642938"/>
        </p:xfrm>
        <a:graphic>
          <a:graphicData uri="http://schemas.openxmlformats.org/presentationml/2006/ole">
            <mc:AlternateContent xmlns:mc="http://schemas.openxmlformats.org/markup-compatibility/2006">
              <mc:Choice xmlns:v="urn:schemas-microsoft-com:vml" Requires="v">
                <p:oleObj name="Equation" r:id="rId21" imgW="1104840" imgH="469800" progId="Equation.DSMT4">
                  <p:embed/>
                </p:oleObj>
              </mc:Choice>
              <mc:Fallback>
                <p:oleObj name="Equation" r:id="rId21" imgW="1104840" imgH="469800" progId="Equation.DSMT4">
                  <p:embed/>
                  <p:pic>
                    <p:nvPicPr>
                      <p:cNvPr id="0" name=""/>
                      <p:cNvPicPr/>
                      <p:nvPr/>
                    </p:nvPicPr>
                    <p:blipFill>
                      <a:blip r:embed="rId22"/>
                      <a:stretch>
                        <a:fillRect/>
                      </a:stretch>
                    </p:blipFill>
                    <p:spPr>
                      <a:xfrm>
                        <a:off x="2284413" y="5502275"/>
                        <a:ext cx="1511300" cy="642938"/>
                      </a:xfrm>
                      <a:prstGeom prst="rect">
                        <a:avLst/>
                      </a:prstGeom>
                    </p:spPr>
                  </p:pic>
                </p:oleObj>
              </mc:Fallback>
            </mc:AlternateContent>
          </a:graphicData>
        </a:graphic>
      </p:graphicFrame>
      <p:pic>
        <p:nvPicPr>
          <p:cNvPr id="215132" name="Picture 9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517511" y="209132"/>
            <a:ext cx="1264461" cy="1592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6927265" y="863025"/>
            <a:ext cx="1772793" cy="584775"/>
          </a:xfrm>
          <a:prstGeom prst="rect">
            <a:avLst/>
          </a:prstGeom>
        </p:spPr>
        <p:txBody>
          <a:bodyPr wrap="none">
            <a:spAutoFit/>
          </a:bodyPr>
          <a:lstStyle/>
          <a:p>
            <a:r>
              <a:rPr lang="en-US" altLang="zh-CN" b="1" dirty="0"/>
              <a:t>William Henry</a:t>
            </a:r>
            <a:r>
              <a:rPr lang="en-US" altLang="zh-CN" dirty="0"/>
              <a:t> </a:t>
            </a:r>
            <a:endParaRPr lang="en-US" altLang="zh-CN" b="1" dirty="0"/>
          </a:p>
          <a:p>
            <a:r>
              <a:rPr lang="en-US" altLang="zh-CN" sz="1400" i="1" dirty="0"/>
              <a:t>English </a:t>
            </a:r>
            <a:r>
              <a:rPr lang="en-US" altLang="zh-CN" sz="1400" i="1" dirty="0" err="1"/>
              <a:t>Chimist</a:t>
            </a:r>
            <a:endParaRPr lang="en-US" altLang="zh-CN" sz="1400" i="1" dirty="0"/>
          </a:p>
        </p:txBody>
      </p:sp>
      <p:sp>
        <p:nvSpPr>
          <p:cNvPr id="3" name="TextBox 2"/>
          <p:cNvSpPr txBox="1"/>
          <p:nvPr/>
        </p:nvSpPr>
        <p:spPr>
          <a:xfrm>
            <a:off x="6927265" y="1401633"/>
            <a:ext cx="1287532" cy="369332"/>
          </a:xfrm>
          <a:prstGeom prst="rect">
            <a:avLst/>
          </a:prstGeom>
          <a:noFill/>
        </p:spPr>
        <p:txBody>
          <a:bodyPr wrap="none" rtlCol="0">
            <a:spAutoFit/>
          </a:bodyPr>
          <a:lstStyle/>
          <a:p>
            <a:r>
              <a:rPr lang="en-US" altLang="zh-CN" dirty="0"/>
              <a:t>1744-1836</a:t>
            </a:r>
            <a:endParaRPr lang="zh-CN" altLang="en-US" dirty="0"/>
          </a:p>
        </p:txBody>
      </p:sp>
    </p:spTree>
    <p:extLst>
      <p:ext uri="{BB962C8B-B14F-4D97-AF65-F5344CB8AC3E}">
        <p14:creationId xmlns:p14="http://schemas.microsoft.com/office/powerpoint/2010/main" val="3575939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038225" y="55125"/>
            <a:ext cx="2410212" cy="584775"/>
          </a:xfrm>
          <a:prstGeom prst="rect">
            <a:avLst/>
          </a:prstGeom>
          <a:noFill/>
        </p:spPr>
        <p:txBody>
          <a:bodyPr wrap="none" rtlCol="0">
            <a:spAutoFit/>
          </a:bodyPr>
          <a:lstStyle/>
          <a:p>
            <a:r>
              <a:rPr lang="en-US" altLang="zh-CN" sz="3200" dirty="0">
                <a:solidFill>
                  <a:srgbClr val="FF0000"/>
                </a:solidFill>
              </a:rPr>
              <a:t>Henry’s law </a:t>
            </a:r>
            <a:endParaRPr lang="zh-CN" altLang="en-US" sz="3200" dirty="0">
              <a:solidFill>
                <a:srgbClr val="FF0000"/>
              </a:solidFill>
            </a:endParaRPr>
          </a:p>
        </p:txBody>
      </p:sp>
      <p:pic>
        <p:nvPicPr>
          <p:cNvPr id="11" name="image936.png"/>
          <p:cNvPicPr/>
          <p:nvPr/>
        </p:nvPicPr>
        <p:blipFill>
          <a:blip r:embed="rId2" cstate="print"/>
          <a:stretch>
            <a:fillRect/>
          </a:stretch>
        </p:blipFill>
        <p:spPr>
          <a:xfrm>
            <a:off x="687432" y="1367135"/>
            <a:ext cx="7456038" cy="3309620"/>
          </a:xfrm>
          <a:prstGeom prst="rect">
            <a:avLst/>
          </a:prstGeom>
        </p:spPr>
      </p:pic>
      <p:sp>
        <p:nvSpPr>
          <p:cNvPr id="12" name="TextBox 11"/>
          <p:cNvSpPr txBox="1"/>
          <p:nvPr/>
        </p:nvSpPr>
        <p:spPr>
          <a:xfrm>
            <a:off x="4595726" y="4825325"/>
            <a:ext cx="4433974" cy="1200329"/>
          </a:xfrm>
          <a:prstGeom prst="rect">
            <a:avLst/>
          </a:prstGeom>
          <a:noFill/>
        </p:spPr>
        <p:txBody>
          <a:bodyPr wrap="square" rtlCol="0">
            <a:spAutoFit/>
          </a:bodyPr>
          <a:lstStyle/>
          <a:p>
            <a:r>
              <a:rPr lang="en-US" altLang="zh-CN" dirty="0"/>
              <a:t>(b): </a:t>
            </a:r>
            <a:r>
              <a:rPr lang="en-US" altLang="zh-CN" b="1" dirty="0"/>
              <a:t>A-B bonding is stronger </a:t>
            </a:r>
            <a:r>
              <a:rPr lang="en-US" altLang="zh-CN" dirty="0"/>
              <a:t>than A-A </a:t>
            </a:r>
          </a:p>
          <a:p>
            <a:r>
              <a:rPr lang="en-US" altLang="zh-CN" dirty="0"/>
              <a:t>      </a:t>
            </a:r>
            <a:r>
              <a:rPr lang="en-US" altLang="zh-CN" b="1" dirty="0">
                <a:solidFill>
                  <a:srgbClr val="FF0000"/>
                </a:solidFill>
              </a:rPr>
              <a:t>A-B is more-negative </a:t>
            </a:r>
            <a:r>
              <a:rPr lang="en-US" altLang="zh-CN" dirty="0">
                <a:solidFill>
                  <a:srgbClr val="FF0000"/>
                </a:solidFill>
              </a:rPr>
              <a:t>than A-A</a:t>
            </a:r>
            <a:endParaRPr lang="en-US" altLang="zh-CN" dirty="0"/>
          </a:p>
          <a:p>
            <a:r>
              <a:rPr lang="en-US" altLang="zh-CN" dirty="0"/>
              <a:t>      </a:t>
            </a:r>
            <a:r>
              <a:rPr lang="en-US" altLang="zh-CN" dirty="0">
                <a:solidFill>
                  <a:srgbClr val="0000FF"/>
                </a:solidFill>
              </a:rPr>
              <a:t>Negative deviation </a:t>
            </a:r>
          </a:p>
          <a:p>
            <a:r>
              <a:rPr lang="en-US" altLang="zh-CN" dirty="0">
                <a:solidFill>
                  <a:srgbClr val="0000FF"/>
                </a:solidFill>
              </a:rPr>
              <a:t>      from </a:t>
            </a:r>
            <a:r>
              <a:rPr lang="en-US" altLang="zh-CN" dirty="0" err="1">
                <a:solidFill>
                  <a:srgbClr val="0000FF"/>
                </a:solidFill>
              </a:rPr>
              <a:t>Raoultian</a:t>
            </a:r>
            <a:r>
              <a:rPr lang="en-US" altLang="zh-CN" dirty="0">
                <a:solidFill>
                  <a:srgbClr val="0000FF"/>
                </a:solidFill>
              </a:rPr>
              <a:t> behavior  </a:t>
            </a:r>
            <a:endParaRPr lang="zh-CN" altLang="en-US" dirty="0">
              <a:solidFill>
                <a:srgbClr val="0000FF"/>
              </a:solidFill>
            </a:endParaRPr>
          </a:p>
        </p:txBody>
      </p:sp>
      <p:sp>
        <p:nvSpPr>
          <p:cNvPr id="13" name="TextBox 12"/>
          <p:cNvSpPr txBox="1"/>
          <p:nvPr/>
        </p:nvSpPr>
        <p:spPr>
          <a:xfrm>
            <a:off x="334602" y="4825325"/>
            <a:ext cx="4031938" cy="1200329"/>
          </a:xfrm>
          <a:prstGeom prst="rect">
            <a:avLst/>
          </a:prstGeom>
          <a:noFill/>
        </p:spPr>
        <p:txBody>
          <a:bodyPr wrap="none" rtlCol="0">
            <a:spAutoFit/>
          </a:bodyPr>
          <a:lstStyle/>
          <a:p>
            <a:r>
              <a:rPr lang="en-US" altLang="zh-CN" dirty="0"/>
              <a:t>(a): </a:t>
            </a:r>
            <a:r>
              <a:rPr lang="en-US" altLang="zh-CN" b="1" dirty="0"/>
              <a:t>A-B bonding is weaker </a:t>
            </a:r>
            <a:r>
              <a:rPr lang="en-US" altLang="zh-CN" dirty="0"/>
              <a:t>than A-A</a:t>
            </a:r>
          </a:p>
          <a:p>
            <a:r>
              <a:rPr lang="en-US" altLang="zh-CN" dirty="0">
                <a:solidFill>
                  <a:srgbClr val="FF0000"/>
                </a:solidFill>
              </a:rPr>
              <a:t>      </a:t>
            </a:r>
            <a:r>
              <a:rPr lang="en-US" altLang="zh-CN" b="1" dirty="0">
                <a:solidFill>
                  <a:srgbClr val="FF0000"/>
                </a:solidFill>
              </a:rPr>
              <a:t>A-B is less-negative </a:t>
            </a:r>
            <a:r>
              <a:rPr lang="en-US" altLang="zh-CN" dirty="0">
                <a:solidFill>
                  <a:srgbClr val="FF0000"/>
                </a:solidFill>
              </a:rPr>
              <a:t>than A-A</a:t>
            </a:r>
          </a:p>
          <a:p>
            <a:r>
              <a:rPr lang="en-US" altLang="zh-CN" dirty="0">
                <a:solidFill>
                  <a:srgbClr val="0000FF"/>
                </a:solidFill>
              </a:rPr>
              <a:t>       Positive deviation </a:t>
            </a:r>
          </a:p>
          <a:p>
            <a:r>
              <a:rPr lang="en-US" altLang="zh-CN" dirty="0">
                <a:solidFill>
                  <a:srgbClr val="0000FF"/>
                </a:solidFill>
              </a:rPr>
              <a:t>       from </a:t>
            </a:r>
            <a:r>
              <a:rPr lang="en-US" altLang="zh-CN" dirty="0" err="1">
                <a:solidFill>
                  <a:srgbClr val="0000FF"/>
                </a:solidFill>
              </a:rPr>
              <a:t>Raoultian</a:t>
            </a:r>
            <a:r>
              <a:rPr lang="en-US" altLang="zh-CN" dirty="0">
                <a:solidFill>
                  <a:srgbClr val="0000FF"/>
                </a:solidFill>
              </a:rPr>
              <a:t> behavior</a:t>
            </a:r>
            <a:endParaRPr lang="zh-CN" altLang="en-US" dirty="0">
              <a:solidFill>
                <a:srgbClr val="0000FF"/>
              </a:solidFill>
            </a:endParaRPr>
          </a:p>
        </p:txBody>
      </p:sp>
    </p:spTree>
    <p:extLst>
      <p:ext uri="{BB962C8B-B14F-4D97-AF65-F5344CB8AC3E}">
        <p14:creationId xmlns:p14="http://schemas.microsoft.com/office/powerpoint/2010/main" val="3837884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430630-D257-4683-9DA2-CD014F13FE5F}"/>
              </a:ext>
            </a:extLst>
          </p:cNvPr>
          <p:cNvSpPr txBox="1"/>
          <p:nvPr/>
        </p:nvSpPr>
        <p:spPr>
          <a:xfrm>
            <a:off x="2907807" y="167597"/>
            <a:ext cx="2902790" cy="584775"/>
          </a:xfrm>
          <a:prstGeom prst="rect">
            <a:avLst/>
          </a:prstGeom>
          <a:noFill/>
        </p:spPr>
        <p:txBody>
          <a:bodyPr wrap="square">
            <a:spAutoFit/>
          </a:bodyPr>
          <a:lstStyle/>
          <a:p>
            <a:pPr algn="ctr"/>
            <a:r>
              <a:rPr lang="en-US" altLang="zh-CN" sz="3200" dirty="0">
                <a:solidFill>
                  <a:srgbClr val="FF0000"/>
                </a:solidFill>
              </a:rPr>
              <a:t>Evaporation</a:t>
            </a:r>
          </a:p>
        </p:txBody>
      </p:sp>
      <p:pic>
        <p:nvPicPr>
          <p:cNvPr id="11266" name="Picture 2" descr="See the source image">
            <a:extLst>
              <a:ext uri="{FF2B5EF4-FFF2-40B4-BE49-F238E27FC236}">
                <a16:creationId xmlns:a16="http://schemas.microsoft.com/office/drawing/2014/main" id="{571161FE-376D-4945-95ED-A70A16158B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513" y="980901"/>
            <a:ext cx="3372750" cy="1767321"/>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See the source image">
            <a:extLst>
              <a:ext uri="{FF2B5EF4-FFF2-40B4-BE49-F238E27FC236}">
                <a16:creationId xmlns:a16="http://schemas.microsoft.com/office/drawing/2014/main" id="{29CA3CFA-CA66-4AF0-A83B-3C28515721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1236" y="964275"/>
            <a:ext cx="2998424" cy="2247256"/>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descr="See the source image">
            <a:extLst>
              <a:ext uri="{FF2B5EF4-FFF2-40B4-BE49-F238E27FC236}">
                <a16:creationId xmlns:a16="http://schemas.microsoft.com/office/drawing/2014/main" id="{6C7C42FB-1D59-4B46-9FD9-68A0A39CBA6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36" t="17818" r="22546" b="7273"/>
          <a:stretch/>
        </p:blipFill>
        <p:spPr bwMode="auto">
          <a:xfrm>
            <a:off x="5279218" y="3668589"/>
            <a:ext cx="3072704" cy="2247256"/>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FD077BA7-4916-4AC2-9EA0-3F0224162A8C}"/>
              </a:ext>
            </a:extLst>
          </p:cNvPr>
          <p:cNvSpPr txBox="1"/>
          <p:nvPr/>
        </p:nvSpPr>
        <p:spPr>
          <a:xfrm>
            <a:off x="283757" y="3631111"/>
            <a:ext cx="4454498" cy="1261884"/>
          </a:xfrm>
          <a:prstGeom prst="rect">
            <a:avLst/>
          </a:prstGeom>
          <a:noFill/>
        </p:spPr>
        <p:txBody>
          <a:bodyPr wrap="square">
            <a:spAutoFit/>
          </a:bodyPr>
          <a:lstStyle/>
          <a:p>
            <a:r>
              <a:rPr lang="en-US" altLang="zh-CN" sz="2800" dirty="0">
                <a:solidFill>
                  <a:srgbClr val="FF0000"/>
                </a:solidFill>
              </a:rPr>
              <a:t>Evaporation:</a:t>
            </a:r>
          </a:p>
          <a:p>
            <a:r>
              <a:rPr lang="en-US" altLang="zh-CN" sz="2400" dirty="0"/>
              <a:t>phase</a:t>
            </a:r>
            <a:r>
              <a:rPr lang="zh-CN" altLang="en-US" sz="2400" dirty="0"/>
              <a:t> </a:t>
            </a:r>
            <a:r>
              <a:rPr lang="en-US" altLang="zh-CN" sz="2400" dirty="0"/>
              <a:t>transition</a:t>
            </a:r>
            <a:r>
              <a:rPr lang="zh-CN" altLang="en-US" sz="2400" dirty="0"/>
              <a:t> </a:t>
            </a:r>
            <a:endParaRPr lang="en-US" altLang="zh-CN" sz="2400" dirty="0"/>
          </a:p>
          <a:p>
            <a:r>
              <a:rPr lang="en-US" altLang="zh-CN" sz="2400" dirty="0"/>
              <a:t>from</a:t>
            </a:r>
            <a:r>
              <a:rPr lang="zh-CN" altLang="en-US" sz="2400" dirty="0"/>
              <a:t> </a:t>
            </a:r>
            <a:r>
              <a:rPr lang="en-US" altLang="zh-CN" sz="2400" dirty="0"/>
              <a:t>liquid (water) to gas (vapor)</a:t>
            </a:r>
          </a:p>
        </p:txBody>
      </p:sp>
    </p:spTree>
    <p:extLst>
      <p:ext uri="{BB962C8B-B14F-4D97-AF65-F5344CB8AC3E}">
        <p14:creationId xmlns:p14="http://schemas.microsoft.com/office/powerpoint/2010/main" val="982273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2" name="Picture 4" descr="See the source image">
            <a:extLst>
              <a:ext uri="{FF2B5EF4-FFF2-40B4-BE49-F238E27FC236}">
                <a16:creationId xmlns:a16="http://schemas.microsoft.com/office/drawing/2014/main" id="{FED76275-D31A-497E-AA35-AE341B3165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24" y="2080469"/>
            <a:ext cx="3076575" cy="1800225"/>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69DEBB79-C635-4579-90CE-997B5A3E415D}"/>
              </a:ext>
            </a:extLst>
          </p:cNvPr>
          <p:cNvSpPr txBox="1"/>
          <p:nvPr/>
        </p:nvSpPr>
        <p:spPr>
          <a:xfrm>
            <a:off x="3814711" y="1296847"/>
            <a:ext cx="4572000" cy="923330"/>
          </a:xfrm>
          <a:prstGeom prst="rect">
            <a:avLst/>
          </a:prstGeom>
          <a:noFill/>
        </p:spPr>
        <p:txBody>
          <a:bodyPr wrap="square">
            <a:spAutoFit/>
          </a:bodyPr>
          <a:lstStyle/>
          <a:p>
            <a:r>
              <a:rPr lang="en-US" altLang="zh-CN" dirty="0"/>
              <a:t>The theoretical limit for thermal evaporation, using solar or LED energy or electrical sources, can be calculated from </a:t>
            </a:r>
          </a:p>
        </p:txBody>
      </p:sp>
      <p:sp>
        <p:nvSpPr>
          <p:cNvPr id="8" name="文本框 7">
            <a:extLst>
              <a:ext uri="{FF2B5EF4-FFF2-40B4-BE49-F238E27FC236}">
                <a16:creationId xmlns:a16="http://schemas.microsoft.com/office/drawing/2014/main" id="{8F68F1B4-305F-4565-946A-D9E59FCDCF87}"/>
              </a:ext>
            </a:extLst>
          </p:cNvPr>
          <p:cNvSpPr txBox="1"/>
          <p:nvPr/>
        </p:nvSpPr>
        <p:spPr>
          <a:xfrm>
            <a:off x="1812174" y="277143"/>
            <a:ext cx="5519652" cy="461665"/>
          </a:xfrm>
          <a:prstGeom prst="rect">
            <a:avLst/>
          </a:prstGeom>
          <a:noFill/>
        </p:spPr>
        <p:txBody>
          <a:bodyPr wrap="square">
            <a:spAutoFit/>
          </a:bodyPr>
          <a:lstStyle/>
          <a:p>
            <a:r>
              <a:rPr lang="en-US" altLang="zh-CN" sz="2400" dirty="0">
                <a:solidFill>
                  <a:srgbClr val="FF0000"/>
                </a:solidFill>
              </a:rPr>
              <a:t>Theoretical Limit for Thermal Evaporation</a:t>
            </a:r>
            <a:endParaRPr lang="zh-CN" altLang="en-US" sz="2400" dirty="0">
              <a:solidFill>
                <a:srgbClr val="FF0000"/>
              </a:solidFill>
            </a:endParaRPr>
          </a:p>
        </p:txBody>
      </p:sp>
      <p:sp>
        <p:nvSpPr>
          <p:cNvPr id="10" name="文本框 9">
            <a:extLst>
              <a:ext uri="{FF2B5EF4-FFF2-40B4-BE49-F238E27FC236}">
                <a16:creationId xmlns:a16="http://schemas.microsoft.com/office/drawing/2014/main" id="{EAE6D4A5-8AB5-4135-BFDB-484E95666B6F}"/>
              </a:ext>
            </a:extLst>
          </p:cNvPr>
          <p:cNvSpPr txBox="1"/>
          <p:nvPr/>
        </p:nvSpPr>
        <p:spPr>
          <a:xfrm>
            <a:off x="3988448" y="2942486"/>
            <a:ext cx="4224527" cy="1477328"/>
          </a:xfrm>
          <a:prstGeom prst="rect">
            <a:avLst/>
          </a:prstGeom>
          <a:noFill/>
        </p:spPr>
        <p:txBody>
          <a:bodyPr wrap="square">
            <a:spAutoFit/>
          </a:bodyPr>
          <a:lstStyle/>
          <a:p>
            <a:r>
              <a:rPr lang="zh-CN" altLang="en-US" dirty="0">
                <a:solidFill>
                  <a:srgbClr val="FF0000"/>
                </a:solidFill>
              </a:rPr>
              <a:t>𝑞 </a:t>
            </a:r>
            <a:r>
              <a:rPr lang="en-US" altLang="zh-CN" dirty="0"/>
              <a:t>solar flux or other forms of input power</a:t>
            </a:r>
          </a:p>
          <a:p>
            <a:r>
              <a:rPr lang="zh-CN" altLang="en-US" dirty="0">
                <a:solidFill>
                  <a:srgbClr val="FF0000"/>
                </a:solidFill>
              </a:rPr>
              <a:t>𝐿</a:t>
            </a:r>
            <a:r>
              <a:rPr lang="zh-CN" altLang="en-US" dirty="0"/>
              <a:t> </a:t>
            </a:r>
            <a:r>
              <a:rPr lang="en-US" altLang="zh-CN" dirty="0"/>
              <a:t>the latent heat, </a:t>
            </a:r>
            <a:r>
              <a:rPr lang="en-US" altLang="zh-CN" b="0" i="0" dirty="0">
                <a:solidFill>
                  <a:srgbClr val="111111"/>
                </a:solidFill>
                <a:effectLst/>
                <a:latin typeface="Roboto" panose="02000000000000000000" pitchFamily="2" charset="0"/>
              </a:rPr>
              <a:t>2257.2kJ/kg</a:t>
            </a:r>
            <a:endParaRPr lang="en-US" altLang="zh-CN" dirty="0"/>
          </a:p>
          <a:p>
            <a:r>
              <a:rPr lang="zh-CN" altLang="en-US" dirty="0">
                <a:solidFill>
                  <a:srgbClr val="FF0000"/>
                </a:solidFill>
              </a:rPr>
              <a:t>𝑐</a:t>
            </a:r>
            <a:r>
              <a:rPr lang="zh-CN" altLang="en-US" baseline="-25000" dirty="0">
                <a:solidFill>
                  <a:srgbClr val="FF0000"/>
                </a:solidFill>
              </a:rPr>
              <a:t>𝑝</a:t>
            </a:r>
            <a:r>
              <a:rPr lang="zh-CN" altLang="en-US" dirty="0"/>
              <a:t> </a:t>
            </a:r>
            <a:r>
              <a:rPr lang="en-US" altLang="zh-CN" dirty="0"/>
              <a:t>the constant-pressure specific heat,</a:t>
            </a:r>
          </a:p>
          <a:p>
            <a:r>
              <a:rPr lang="en-US" altLang="zh-CN" dirty="0">
                <a:solidFill>
                  <a:srgbClr val="FF0000"/>
                </a:solidFill>
              </a:rPr>
              <a:t> </a:t>
            </a:r>
            <a:r>
              <a:rPr lang="zh-CN" altLang="en-US" dirty="0">
                <a:solidFill>
                  <a:srgbClr val="FF0000"/>
                </a:solidFill>
              </a:rPr>
              <a:t>𝑇</a:t>
            </a:r>
            <a:r>
              <a:rPr lang="zh-CN" altLang="en-US" baseline="-25000" dirty="0">
                <a:solidFill>
                  <a:srgbClr val="FF0000"/>
                </a:solidFill>
              </a:rPr>
              <a:t>𝑠</a:t>
            </a:r>
            <a:r>
              <a:rPr lang="zh-CN" altLang="en-US" dirty="0">
                <a:solidFill>
                  <a:srgbClr val="FF0000"/>
                </a:solidFill>
              </a:rPr>
              <a:t> </a:t>
            </a:r>
            <a:r>
              <a:rPr lang="en-US" altLang="zh-CN" dirty="0"/>
              <a:t>evaporating surface </a:t>
            </a:r>
          </a:p>
          <a:p>
            <a:r>
              <a:rPr lang="zh-CN" altLang="en-US" dirty="0">
                <a:solidFill>
                  <a:srgbClr val="FF0000"/>
                </a:solidFill>
              </a:rPr>
              <a:t>𝑇</a:t>
            </a:r>
            <a:r>
              <a:rPr lang="zh-CN" altLang="en-US" baseline="-25000" dirty="0">
                <a:solidFill>
                  <a:srgbClr val="FF0000"/>
                </a:solidFill>
              </a:rPr>
              <a:t>𝑤</a:t>
            </a:r>
            <a:r>
              <a:rPr lang="zh-CN" altLang="en-US" dirty="0"/>
              <a:t> </a:t>
            </a:r>
            <a:r>
              <a:rPr lang="en-US" altLang="zh-CN" dirty="0"/>
              <a:t>bulk water temperatures.</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9F025BD2-0818-4339-912E-50F0AE533320}"/>
                  </a:ext>
                </a:extLst>
              </p:cNvPr>
              <p:cNvSpPr txBox="1"/>
              <p:nvPr/>
            </p:nvSpPr>
            <p:spPr>
              <a:xfrm>
                <a:off x="3510498" y="2479475"/>
                <a:ext cx="4572000"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𝐽</m:t>
                          </m:r>
                        </m:e>
                        <m:sub>
                          <m:r>
                            <a:rPr lang="zh-CN" altLang="en-US" i="1">
                              <a:latin typeface="Cambria Math" panose="02040503050406030204" pitchFamily="18" charset="0"/>
                            </a:rPr>
                            <m:t>𝑡</m:t>
                          </m:r>
                          <m:r>
                            <a:rPr lang="zh-CN" altLang="en-US" i="0">
                              <a:latin typeface="Cambria Math" panose="02040503050406030204" pitchFamily="18" charset="0"/>
                            </a:rPr>
                            <m:t>,</m:t>
                          </m:r>
                          <m:r>
                            <m:rPr>
                              <m:sty m:val="p"/>
                            </m:rPr>
                            <a:rPr lang="zh-CN" altLang="en-US" i="0">
                              <a:latin typeface="Cambria Math" panose="02040503050406030204" pitchFamily="18" charset="0"/>
                            </a:rPr>
                            <m:t>max</m:t>
                          </m:r>
                        </m:sub>
                      </m:sSub>
                      <m:r>
                        <a:rPr lang="zh-CN" altLang="en-US" i="0">
                          <a:latin typeface="Cambria Math" panose="02040503050406030204" pitchFamily="18" charset="0"/>
                        </a:rPr>
                        <m:t>=</m:t>
                      </m:r>
                      <m:f>
                        <m:fPr>
                          <m:type m:val="lin"/>
                          <m:ctrlPr>
                            <a:rPr lang="zh-CN" altLang="en-US" i="1">
                              <a:latin typeface="Cambria Math" panose="02040503050406030204" pitchFamily="18" charset="0"/>
                            </a:rPr>
                          </m:ctrlPr>
                        </m:fPr>
                        <m:num>
                          <m:r>
                            <a:rPr lang="zh-CN" altLang="en-US" i="1">
                              <a:latin typeface="Cambria Math" panose="02040503050406030204" pitchFamily="18" charset="0"/>
                            </a:rPr>
                            <m:t>𝑞</m:t>
                          </m:r>
                        </m:num>
                        <m:den>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𝐿</m:t>
                              </m:r>
                              <m:r>
                                <a:rPr lang="zh-CN" altLang="en-US" i="0">
                                  <a:latin typeface="Cambria Math" panose="02040503050406030204" pitchFamily="18" charset="0"/>
                                </a:rPr>
                                <m:t>+</m:t>
                              </m:r>
                              <m:r>
                                <a:rPr lang="zh-CN" altLang="en-US" i="1">
                                  <a:latin typeface="Cambria Math" panose="02040503050406030204" pitchFamily="18" charset="0"/>
                                </a:rPr>
                                <m:t>𝑐</m:t>
                              </m:r>
                              <m:r>
                                <a:rPr lang="zh-CN" altLang="en-US" i="1" baseline="-25000">
                                  <a:latin typeface="Cambria Math" panose="02040503050406030204" pitchFamily="18" charset="0"/>
                                </a:rPr>
                                <m:t>𝑝</m:t>
                              </m:r>
                              <m:d>
                                <m:dPr>
                                  <m:ctrlPr>
                                    <a:rPr lang="zh-CN" altLang="en-US" i="1">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𝑇</m:t>
                                      </m:r>
                                    </m:e>
                                    <m:sub>
                                      <m:r>
                                        <a:rPr lang="zh-CN" altLang="en-US" i="1">
                                          <a:latin typeface="Cambria Math" panose="02040503050406030204" pitchFamily="18" charset="0"/>
                                        </a:rPr>
                                        <m:t>𝑠</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𝑇</m:t>
                                      </m:r>
                                    </m:e>
                                    <m:sub>
                                      <m:r>
                                        <a:rPr lang="zh-CN" altLang="en-US" i="1">
                                          <a:latin typeface="Cambria Math" panose="02040503050406030204" pitchFamily="18" charset="0"/>
                                        </a:rPr>
                                        <m:t>𝑤</m:t>
                                      </m:r>
                                    </m:sub>
                                  </m:sSub>
                                </m:e>
                              </m:d>
                            </m:e>
                          </m:d>
                        </m:den>
                      </m:f>
                    </m:oMath>
                  </m:oMathPara>
                </a14:m>
                <a:endParaRPr lang="zh-CN" altLang="en-US" dirty="0"/>
              </a:p>
            </p:txBody>
          </p:sp>
        </mc:Choice>
        <mc:Fallback xmlns="">
          <p:sp>
            <p:nvSpPr>
              <p:cNvPr id="12" name="文本框 11">
                <a:extLst>
                  <a:ext uri="{FF2B5EF4-FFF2-40B4-BE49-F238E27FC236}">
                    <a16:creationId xmlns:a16="http://schemas.microsoft.com/office/drawing/2014/main" id="{9F025BD2-0818-4339-912E-50F0AE533320}"/>
                  </a:ext>
                </a:extLst>
              </p:cNvPr>
              <p:cNvSpPr txBox="1">
                <a:spLocks noRot="1" noChangeAspect="1" noMove="1" noResize="1" noEditPoints="1" noAdjustHandles="1" noChangeArrowheads="1" noChangeShapeType="1" noTextEdit="1"/>
              </p:cNvSpPr>
              <p:nvPr/>
            </p:nvSpPr>
            <p:spPr>
              <a:xfrm>
                <a:off x="3510498" y="2479475"/>
                <a:ext cx="4572000" cy="381515"/>
              </a:xfrm>
              <a:prstGeom prst="rect">
                <a:avLst/>
              </a:prstGeom>
              <a:blipFill>
                <a:blip r:embed="rId3"/>
                <a:stretch>
                  <a:fillRect t="-112903" b="-172581"/>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C1F93418-2101-4685-B50D-435BC5875994}"/>
              </a:ext>
            </a:extLst>
          </p:cNvPr>
          <p:cNvSpPr txBox="1"/>
          <p:nvPr/>
        </p:nvSpPr>
        <p:spPr>
          <a:xfrm>
            <a:off x="597477" y="4975868"/>
            <a:ext cx="7949046" cy="923330"/>
          </a:xfrm>
          <a:prstGeom prst="rect">
            <a:avLst/>
          </a:prstGeom>
          <a:noFill/>
        </p:spPr>
        <p:txBody>
          <a:bodyPr wrap="square">
            <a:spAutoFit/>
          </a:bodyPr>
          <a:lstStyle/>
          <a:p>
            <a:r>
              <a:rPr lang="en-US" altLang="zh-CN" dirty="0"/>
              <a:t>Assuming all solar flux converts into heat used for water evaporation.</a:t>
            </a:r>
          </a:p>
          <a:p>
            <a:r>
              <a:rPr lang="en-US" altLang="zh-CN" dirty="0"/>
              <a:t>taking </a:t>
            </a:r>
            <a:r>
              <a:rPr lang="zh-CN" altLang="en-US" dirty="0"/>
              <a:t>𝑇</a:t>
            </a:r>
            <a:r>
              <a:rPr lang="zh-CN" altLang="en-US" baseline="-25000" dirty="0"/>
              <a:t>𝑠</a:t>
            </a:r>
            <a:r>
              <a:rPr lang="zh-CN" altLang="en-US" dirty="0"/>
              <a:t> </a:t>
            </a:r>
            <a:r>
              <a:rPr lang="en-US" altLang="zh-CN" dirty="0"/>
              <a:t>= 40℃ and </a:t>
            </a:r>
            <a:r>
              <a:rPr lang="zh-CN" altLang="en-US" dirty="0"/>
              <a:t>𝑇</a:t>
            </a:r>
            <a:r>
              <a:rPr lang="zh-CN" altLang="en-US" baseline="-25000" dirty="0"/>
              <a:t>𝑤</a:t>
            </a:r>
            <a:r>
              <a:rPr lang="zh-CN" altLang="en-US" dirty="0"/>
              <a:t> </a:t>
            </a:r>
            <a:r>
              <a:rPr lang="en-US" altLang="zh-CN" dirty="0"/>
              <a:t>= 20℃ , and standard solar flux at one sun </a:t>
            </a:r>
            <a:r>
              <a:rPr lang="zh-CN" altLang="en-US" dirty="0"/>
              <a:t>𝑞 </a:t>
            </a:r>
            <a:r>
              <a:rPr lang="en-US" altLang="zh-CN" dirty="0"/>
              <a:t>= 1 kW/m</a:t>
            </a:r>
            <a:r>
              <a:rPr lang="en-US" altLang="zh-CN" baseline="30000" dirty="0"/>
              <a:t>2</a:t>
            </a:r>
            <a:r>
              <a:rPr lang="en-US" altLang="zh-CN" dirty="0"/>
              <a:t> , the thermal evaporation limit is </a:t>
            </a:r>
            <a:r>
              <a:rPr lang="zh-CN" altLang="en-US" dirty="0"/>
              <a:t>𝑚̇ </a:t>
            </a:r>
            <a:r>
              <a:rPr lang="en-US" altLang="zh-CN" dirty="0"/>
              <a:t>= 1.45 kg/(m</a:t>
            </a:r>
            <a:r>
              <a:rPr lang="en-US" altLang="zh-CN" baseline="30000" dirty="0"/>
              <a:t>2</a:t>
            </a:r>
            <a:r>
              <a:rPr lang="en-US" altLang="zh-CN" dirty="0"/>
              <a:t>h), </a:t>
            </a:r>
            <a:endParaRPr lang="zh-CN" altLang="en-US" dirty="0"/>
          </a:p>
        </p:txBody>
      </p:sp>
    </p:spTree>
    <p:extLst>
      <p:ext uri="{BB962C8B-B14F-4D97-AF65-F5344CB8AC3E}">
        <p14:creationId xmlns:p14="http://schemas.microsoft.com/office/powerpoint/2010/main" val="3400435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BD5143F-AE77-47E4-B686-C08EBABAEB2C}"/>
              </a:ext>
            </a:extLst>
          </p:cNvPr>
          <p:cNvPicPr>
            <a:picLocks noChangeAspect="1"/>
          </p:cNvPicPr>
          <p:nvPr/>
        </p:nvPicPr>
        <p:blipFill>
          <a:blip r:embed="rId2"/>
          <a:stretch>
            <a:fillRect/>
          </a:stretch>
        </p:blipFill>
        <p:spPr>
          <a:xfrm>
            <a:off x="1079063" y="0"/>
            <a:ext cx="6536987" cy="2324911"/>
          </a:xfrm>
          <a:prstGeom prst="rect">
            <a:avLst/>
          </a:prstGeom>
        </p:spPr>
      </p:pic>
      <p:pic>
        <p:nvPicPr>
          <p:cNvPr id="5" name="图片 4">
            <a:extLst>
              <a:ext uri="{FF2B5EF4-FFF2-40B4-BE49-F238E27FC236}">
                <a16:creationId xmlns:a16="http://schemas.microsoft.com/office/drawing/2014/main" id="{0047FF29-D641-47EC-AB11-DDB569FFC8C9}"/>
              </a:ext>
            </a:extLst>
          </p:cNvPr>
          <p:cNvPicPr>
            <a:picLocks noChangeAspect="1"/>
          </p:cNvPicPr>
          <p:nvPr/>
        </p:nvPicPr>
        <p:blipFill>
          <a:blip r:embed="rId3"/>
          <a:stretch>
            <a:fillRect/>
          </a:stretch>
        </p:blipFill>
        <p:spPr>
          <a:xfrm>
            <a:off x="573578" y="2719040"/>
            <a:ext cx="7789025" cy="3362117"/>
          </a:xfrm>
          <a:prstGeom prst="rect">
            <a:avLst/>
          </a:prstGeom>
        </p:spPr>
      </p:pic>
    </p:spTree>
    <p:extLst>
      <p:ext uri="{BB962C8B-B14F-4D97-AF65-F5344CB8AC3E}">
        <p14:creationId xmlns:p14="http://schemas.microsoft.com/office/powerpoint/2010/main" val="1531468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37BD777-690B-4199-868C-4ACF67670064}"/>
              </a:ext>
            </a:extLst>
          </p:cNvPr>
          <p:cNvPicPr>
            <a:picLocks noChangeAspect="1"/>
          </p:cNvPicPr>
          <p:nvPr/>
        </p:nvPicPr>
        <p:blipFill>
          <a:blip r:embed="rId2"/>
          <a:stretch>
            <a:fillRect/>
          </a:stretch>
        </p:blipFill>
        <p:spPr>
          <a:xfrm>
            <a:off x="414519" y="2017725"/>
            <a:ext cx="7898860" cy="2947481"/>
          </a:xfrm>
          <a:prstGeom prst="rect">
            <a:avLst/>
          </a:prstGeom>
        </p:spPr>
      </p:pic>
      <p:sp>
        <p:nvSpPr>
          <p:cNvPr id="5" name="文本框 4">
            <a:extLst>
              <a:ext uri="{FF2B5EF4-FFF2-40B4-BE49-F238E27FC236}">
                <a16:creationId xmlns:a16="http://schemas.microsoft.com/office/drawing/2014/main" id="{25C5B939-C518-475B-ABBE-705F1E9CA320}"/>
              </a:ext>
            </a:extLst>
          </p:cNvPr>
          <p:cNvSpPr txBox="1"/>
          <p:nvPr/>
        </p:nvSpPr>
        <p:spPr>
          <a:xfrm>
            <a:off x="195349" y="4965206"/>
            <a:ext cx="8753302" cy="1200329"/>
          </a:xfrm>
          <a:prstGeom prst="rect">
            <a:avLst/>
          </a:prstGeom>
          <a:noFill/>
        </p:spPr>
        <p:txBody>
          <a:bodyPr wrap="square">
            <a:spAutoFit/>
          </a:bodyPr>
          <a:lstStyle/>
          <a:p>
            <a:pPr marL="285750" indent="-285750" algn="l">
              <a:buFont typeface="Arial" panose="020B0604020202020204" pitchFamily="34" charset="0"/>
              <a:buChar char="•"/>
            </a:pPr>
            <a:r>
              <a:rPr lang="en-US" altLang="zh-CN" sz="1800" i="0" u="none" strike="noStrike" baseline="0" dirty="0">
                <a:latin typeface="Whitney-Bold"/>
              </a:rPr>
              <a:t>A hierarchically nanostructured gel (HNG) based on polyvinyl alcohol (PVA) and </a:t>
            </a:r>
            <a:r>
              <a:rPr lang="en-US" altLang="zh-CN" sz="1800" i="0" u="none" strike="noStrike" baseline="0" dirty="0" err="1">
                <a:latin typeface="Whitney-Bold"/>
              </a:rPr>
              <a:t>polypyrrole</a:t>
            </a:r>
            <a:r>
              <a:rPr lang="en-US" altLang="zh-CN" sz="1800" i="0" u="none" strike="noStrike" baseline="0" dirty="0">
                <a:latin typeface="Whitney-Bold"/>
              </a:rPr>
              <a:t> (</a:t>
            </a:r>
            <a:r>
              <a:rPr lang="en-US" altLang="zh-CN" sz="1800" i="0" u="none" strike="noStrike" baseline="0" dirty="0" err="1">
                <a:latin typeface="Whitney-Bold"/>
              </a:rPr>
              <a:t>PPy</a:t>
            </a:r>
            <a:r>
              <a:rPr lang="en-US" altLang="zh-CN" sz="1800" i="0" u="none" strike="noStrike" baseline="0" dirty="0">
                <a:latin typeface="Whitney-Bold"/>
              </a:rPr>
              <a:t>) that serves as an independent solar vapor generator</a:t>
            </a:r>
          </a:p>
          <a:p>
            <a:pPr marL="285750" indent="-285750" algn="l">
              <a:buFont typeface="Arial" panose="020B0604020202020204" pitchFamily="34" charset="0"/>
              <a:buChar char="•"/>
            </a:pPr>
            <a:r>
              <a:rPr lang="en-US" altLang="zh-CN" dirty="0"/>
              <a:t>A floating HNG sample evaporated water with a record high rate of 3.2 kg m</a:t>
            </a:r>
            <a:r>
              <a:rPr lang="en-US" altLang="zh-CN" baseline="30000" dirty="0"/>
              <a:t>−2  </a:t>
            </a:r>
            <a:r>
              <a:rPr lang="en-US" altLang="zh-CN" dirty="0"/>
              <a:t>h</a:t>
            </a:r>
            <a:r>
              <a:rPr lang="en-US" altLang="zh-CN" baseline="30000" dirty="0"/>
              <a:t>−1 </a:t>
            </a:r>
            <a:r>
              <a:rPr lang="en-US" altLang="zh-CN" dirty="0"/>
              <a:t>via 94% solar energy from 1 sun irradiation,</a:t>
            </a:r>
            <a:endParaRPr lang="zh-CN" altLang="en-US" dirty="0"/>
          </a:p>
        </p:txBody>
      </p:sp>
      <p:cxnSp>
        <p:nvCxnSpPr>
          <p:cNvPr id="7" name="直接连接符 6">
            <a:extLst>
              <a:ext uri="{FF2B5EF4-FFF2-40B4-BE49-F238E27FC236}">
                <a16:creationId xmlns:a16="http://schemas.microsoft.com/office/drawing/2014/main" id="{F4A104F7-B8F5-4CF4-B346-A22BE417F28E}"/>
              </a:ext>
            </a:extLst>
          </p:cNvPr>
          <p:cNvCxnSpPr/>
          <p:nvPr/>
        </p:nvCxnSpPr>
        <p:spPr>
          <a:xfrm>
            <a:off x="5303753" y="3790763"/>
            <a:ext cx="2685011"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FA79A6E7-196D-4439-8D14-DC2877B89C6A}"/>
              </a:ext>
            </a:extLst>
          </p:cNvPr>
          <p:cNvSpPr txBox="1"/>
          <p:nvPr/>
        </p:nvSpPr>
        <p:spPr>
          <a:xfrm>
            <a:off x="7971672" y="3396686"/>
            <a:ext cx="1410600" cy="738664"/>
          </a:xfrm>
          <a:prstGeom prst="rect">
            <a:avLst/>
          </a:prstGeom>
          <a:noFill/>
        </p:spPr>
        <p:txBody>
          <a:bodyPr wrap="square">
            <a:spAutoFit/>
          </a:bodyPr>
          <a:lstStyle/>
          <a:p>
            <a:r>
              <a:rPr lang="en-US" altLang="zh-CN" sz="1400" dirty="0"/>
              <a:t>Limit for </a:t>
            </a:r>
          </a:p>
          <a:p>
            <a:r>
              <a:rPr lang="en-US" altLang="zh-CN" sz="1400" dirty="0"/>
              <a:t>Thermal </a:t>
            </a:r>
          </a:p>
          <a:p>
            <a:r>
              <a:rPr lang="en-US" altLang="zh-CN" sz="1400" dirty="0"/>
              <a:t>Evaporation</a:t>
            </a:r>
            <a:endParaRPr lang="zh-CN" altLang="en-US" sz="1400" dirty="0"/>
          </a:p>
        </p:txBody>
      </p:sp>
      <p:sp>
        <p:nvSpPr>
          <p:cNvPr id="11" name="文本框 10">
            <a:extLst>
              <a:ext uri="{FF2B5EF4-FFF2-40B4-BE49-F238E27FC236}">
                <a16:creationId xmlns:a16="http://schemas.microsoft.com/office/drawing/2014/main" id="{D046ED4F-24D6-414D-9ADF-ECCAE0F21B29}"/>
              </a:ext>
            </a:extLst>
          </p:cNvPr>
          <p:cNvSpPr txBox="1"/>
          <p:nvPr/>
        </p:nvSpPr>
        <p:spPr>
          <a:xfrm>
            <a:off x="3232466" y="343930"/>
            <a:ext cx="4142574" cy="954107"/>
          </a:xfrm>
          <a:prstGeom prst="rect">
            <a:avLst/>
          </a:prstGeom>
          <a:noFill/>
          <a:ln>
            <a:noFill/>
          </a:ln>
        </p:spPr>
        <p:txBody>
          <a:bodyPr wrap="square">
            <a:spAutoFit/>
          </a:bodyPr>
          <a:lstStyle/>
          <a:p>
            <a:r>
              <a:rPr lang="en-US" altLang="zh-CN" sz="2800" i="0" u="none" strike="noStrike" baseline="0" dirty="0">
                <a:solidFill>
                  <a:srgbClr val="FF0000"/>
                </a:solidFill>
                <a:latin typeface="Whitney-Bold"/>
              </a:rPr>
              <a:t>A Hierarchically Nanostructured Gel </a:t>
            </a:r>
            <a:endParaRPr lang="zh-CN" altLang="en-US" sz="2800" dirty="0">
              <a:solidFill>
                <a:srgbClr val="FF0000"/>
              </a:solidFill>
            </a:endParaRPr>
          </a:p>
        </p:txBody>
      </p:sp>
      <p:pic>
        <p:nvPicPr>
          <p:cNvPr id="13" name="图片 12">
            <a:extLst>
              <a:ext uri="{FF2B5EF4-FFF2-40B4-BE49-F238E27FC236}">
                <a16:creationId xmlns:a16="http://schemas.microsoft.com/office/drawing/2014/main" id="{D6226246-61BF-4181-82F4-480D109413C2}"/>
              </a:ext>
            </a:extLst>
          </p:cNvPr>
          <p:cNvPicPr>
            <a:picLocks noChangeAspect="1"/>
          </p:cNvPicPr>
          <p:nvPr/>
        </p:nvPicPr>
        <p:blipFill>
          <a:blip r:embed="rId3"/>
          <a:stretch>
            <a:fillRect/>
          </a:stretch>
        </p:blipFill>
        <p:spPr>
          <a:xfrm>
            <a:off x="504364" y="23555"/>
            <a:ext cx="2529191" cy="1994170"/>
          </a:xfrm>
          <a:prstGeom prst="rect">
            <a:avLst/>
          </a:prstGeom>
        </p:spPr>
      </p:pic>
    </p:spTree>
    <p:extLst>
      <p:ext uri="{BB962C8B-B14F-4D97-AF65-F5344CB8AC3E}">
        <p14:creationId xmlns:p14="http://schemas.microsoft.com/office/powerpoint/2010/main" val="36771570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87CD6C6-8C08-45C9-A6B6-321F67D6129E}"/>
              </a:ext>
            </a:extLst>
          </p:cNvPr>
          <p:cNvSpPr txBox="1"/>
          <p:nvPr/>
        </p:nvSpPr>
        <p:spPr>
          <a:xfrm>
            <a:off x="1345799" y="150240"/>
            <a:ext cx="6460423" cy="461665"/>
          </a:xfrm>
          <a:prstGeom prst="rect">
            <a:avLst/>
          </a:prstGeom>
          <a:noFill/>
        </p:spPr>
        <p:txBody>
          <a:bodyPr wrap="none" rtlCol="0">
            <a:spAutoFit/>
          </a:bodyPr>
          <a:lstStyle/>
          <a:p>
            <a:r>
              <a:rPr lang="en-US" altLang="zh-CN" sz="2400" dirty="0">
                <a:solidFill>
                  <a:srgbClr val="FF0000"/>
                </a:solidFill>
              </a:rPr>
              <a:t>A New Insight in Solar Derived Water Evaporation </a:t>
            </a:r>
            <a:endParaRPr lang="zh-CN" altLang="en-US" sz="2400" dirty="0">
              <a:solidFill>
                <a:srgbClr val="FF0000"/>
              </a:solidFill>
            </a:endParaRPr>
          </a:p>
        </p:txBody>
      </p:sp>
      <p:pic>
        <p:nvPicPr>
          <p:cNvPr id="4" name="图片 3">
            <a:extLst>
              <a:ext uri="{FF2B5EF4-FFF2-40B4-BE49-F238E27FC236}">
                <a16:creationId xmlns:a16="http://schemas.microsoft.com/office/drawing/2014/main" id="{CEB2763E-7FA6-456F-AA13-2A621338DA09}"/>
              </a:ext>
            </a:extLst>
          </p:cNvPr>
          <p:cNvPicPr>
            <a:picLocks noChangeAspect="1"/>
          </p:cNvPicPr>
          <p:nvPr/>
        </p:nvPicPr>
        <p:blipFill>
          <a:blip r:embed="rId2"/>
          <a:stretch>
            <a:fillRect/>
          </a:stretch>
        </p:blipFill>
        <p:spPr>
          <a:xfrm>
            <a:off x="1693242" y="523137"/>
            <a:ext cx="5611650" cy="1141642"/>
          </a:xfrm>
          <a:prstGeom prst="rect">
            <a:avLst/>
          </a:prstGeom>
        </p:spPr>
      </p:pic>
      <p:pic>
        <p:nvPicPr>
          <p:cNvPr id="6" name="图片 5">
            <a:extLst>
              <a:ext uri="{FF2B5EF4-FFF2-40B4-BE49-F238E27FC236}">
                <a16:creationId xmlns:a16="http://schemas.microsoft.com/office/drawing/2014/main" id="{98B65114-1BC9-4035-87F7-3F0941AF620C}"/>
              </a:ext>
            </a:extLst>
          </p:cNvPr>
          <p:cNvPicPr>
            <a:picLocks noChangeAspect="1"/>
          </p:cNvPicPr>
          <p:nvPr/>
        </p:nvPicPr>
        <p:blipFill rotWithShape="1">
          <a:blip r:embed="rId3"/>
          <a:srcRect r="4157"/>
          <a:stretch/>
        </p:blipFill>
        <p:spPr>
          <a:xfrm>
            <a:off x="3572348" y="1674741"/>
            <a:ext cx="5216679" cy="2015879"/>
          </a:xfrm>
          <a:prstGeom prst="rect">
            <a:avLst/>
          </a:prstGeom>
        </p:spPr>
      </p:pic>
      <p:pic>
        <p:nvPicPr>
          <p:cNvPr id="8" name="图片 7">
            <a:extLst>
              <a:ext uri="{FF2B5EF4-FFF2-40B4-BE49-F238E27FC236}">
                <a16:creationId xmlns:a16="http://schemas.microsoft.com/office/drawing/2014/main" id="{61A951C2-0526-434F-8A49-330D1B22ACD2}"/>
              </a:ext>
            </a:extLst>
          </p:cNvPr>
          <p:cNvPicPr>
            <a:picLocks noChangeAspect="1"/>
          </p:cNvPicPr>
          <p:nvPr/>
        </p:nvPicPr>
        <p:blipFill>
          <a:blip r:embed="rId4"/>
          <a:stretch>
            <a:fillRect/>
          </a:stretch>
        </p:blipFill>
        <p:spPr>
          <a:xfrm>
            <a:off x="354973" y="1546086"/>
            <a:ext cx="2329095" cy="2004686"/>
          </a:xfrm>
          <a:prstGeom prst="rect">
            <a:avLst/>
          </a:prstGeom>
        </p:spPr>
      </p:pic>
      <p:sp>
        <p:nvSpPr>
          <p:cNvPr id="13" name="文本框 12">
            <a:extLst>
              <a:ext uri="{FF2B5EF4-FFF2-40B4-BE49-F238E27FC236}">
                <a16:creationId xmlns:a16="http://schemas.microsoft.com/office/drawing/2014/main" id="{5DDE579A-1E19-4DE4-8FC9-A6B41B04C981}"/>
              </a:ext>
            </a:extLst>
          </p:cNvPr>
          <p:cNvSpPr txBox="1"/>
          <p:nvPr/>
        </p:nvSpPr>
        <p:spPr>
          <a:xfrm>
            <a:off x="121182" y="4386071"/>
            <a:ext cx="3601242" cy="1169551"/>
          </a:xfrm>
          <a:prstGeom prst="rect">
            <a:avLst/>
          </a:prstGeom>
          <a:noFill/>
        </p:spPr>
        <p:txBody>
          <a:bodyPr wrap="square">
            <a:spAutoFit/>
          </a:bodyPr>
          <a:lstStyle/>
          <a:p>
            <a:pPr marL="285750" indent="-285750">
              <a:buFont typeface="Arial" panose="020B0604020202020204" pitchFamily="34" charset="0"/>
              <a:buChar char="•"/>
            </a:pPr>
            <a:r>
              <a:rPr lang="en-US" altLang="zh-CN" sz="1400" dirty="0"/>
              <a:t>evaporation rates for both PVA-PPY and pure-PVA samples exhibit a peak evaporation rate at 520 nm wavelength. </a:t>
            </a:r>
          </a:p>
          <a:p>
            <a:pPr marL="285750" indent="-285750">
              <a:buFont typeface="Arial" panose="020B0604020202020204" pitchFamily="34" charset="0"/>
              <a:buChar char="•"/>
            </a:pPr>
            <a:r>
              <a:rPr lang="en-US" altLang="zh-CN" sz="1400" dirty="0"/>
              <a:t>the absorptance itself does not show peaks in the visible spectrum</a:t>
            </a:r>
            <a:endParaRPr lang="zh-CN" altLang="en-US" sz="1400" dirty="0"/>
          </a:p>
        </p:txBody>
      </p:sp>
      <p:pic>
        <p:nvPicPr>
          <p:cNvPr id="15" name="图片 14">
            <a:extLst>
              <a:ext uri="{FF2B5EF4-FFF2-40B4-BE49-F238E27FC236}">
                <a16:creationId xmlns:a16="http://schemas.microsoft.com/office/drawing/2014/main" id="{9DD0AAFC-534F-47F3-BC61-BE3C28EF8451}"/>
              </a:ext>
            </a:extLst>
          </p:cNvPr>
          <p:cNvPicPr>
            <a:picLocks noChangeAspect="1"/>
          </p:cNvPicPr>
          <p:nvPr/>
        </p:nvPicPr>
        <p:blipFill>
          <a:blip r:embed="rId5"/>
          <a:stretch>
            <a:fillRect/>
          </a:stretch>
        </p:blipFill>
        <p:spPr>
          <a:xfrm>
            <a:off x="3722424" y="3914967"/>
            <a:ext cx="5022564" cy="2111760"/>
          </a:xfrm>
          <a:prstGeom prst="rect">
            <a:avLst/>
          </a:prstGeom>
        </p:spPr>
      </p:pic>
    </p:spTree>
    <p:extLst>
      <p:ext uri="{BB962C8B-B14F-4D97-AF65-F5344CB8AC3E}">
        <p14:creationId xmlns:p14="http://schemas.microsoft.com/office/powerpoint/2010/main" val="21105110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421ABE1-6909-4FFC-9114-24F6FDDA5FF4}"/>
              </a:ext>
            </a:extLst>
          </p:cNvPr>
          <p:cNvPicPr>
            <a:picLocks noChangeAspect="1"/>
          </p:cNvPicPr>
          <p:nvPr/>
        </p:nvPicPr>
        <p:blipFill>
          <a:blip r:embed="rId2"/>
          <a:stretch>
            <a:fillRect/>
          </a:stretch>
        </p:blipFill>
        <p:spPr>
          <a:xfrm>
            <a:off x="1380620" y="370768"/>
            <a:ext cx="5992769" cy="1068218"/>
          </a:xfrm>
          <a:prstGeom prst="rect">
            <a:avLst/>
          </a:prstGeom>
        </p:spPr>
      </p:pic>
      <p:pic>
        <p:nvPicPr>
          <p:cNvPr id="7" name="图片 6">
            <a:extLst>
              <a:ext uri="{FF2B5EF4-FFF2-40B4-BE49-F238E27FC236}">
                <a16:creationId xmlns:a16="http://schemas.microsoft.com/office/drawing/2014/main" id="{113A6DEE-9189-4C01-B6AD-ADA603232D09}"/>
              </a:ext>
            </a:extLst>
          </p:cNvPr>
          <p:cNvPicPr>
            <a:picLocks noChangeAspect="1"/>
          </p:cNvPicPr>
          <p:nvPr/>
        </p:nvPicPr>
        <p:blipFill>
          <a:blip r:embed="rId3"/>
          <a:stretch>
            <a:fillRect/>
          </a:stretch>
        </p:blipFill>
        <p:spPr>
          <a:xfrm>
            <a:off x="928019" y="1582380"/>
            <a:ext cx="7034866" cy="2812396"/>
          </a:xfrm>
          <a:prstGeom prst="rect">
            <a:avLst/>
          </a:prstGeom>
        </p:spPr>
      </p:pic>
      <p:sp>
        <p:nvSpPr>
          <p:cNvPr id="11" name="文本框 10">
            <a:extLst>
              <a:ext uri="{FF2B5EF4-FFF2-40B4-BE49-F238E27FC236}">
                <a16:creationId xmlns:a16="http://schemas.microsoft.com/office/drawing/2014/main" id="{2105EC09-E297-4CBF-9065-4C3991050FFE}"/>
              </a:ext>
            </a:extLst>
          </p:cNvPr>
          <p:cNvSpPr txBox="1"/>
          <p:nvPr/>
        </p:nvSpPr>
        <p:spPr>
          <a:xfrm>
            <a:off x="241421" y="4538171"/>
            <a:ext cx="8271165" cy="2031325"/>
          </a:xfrm>
          <a:prstGeom prst="rect">
            <a:avLst/>
          </a:prstGeom>
          <a:noFill/>
        </p:spPr>
        <p:txBody>
          <a:bodyPr wrap="square">
            <a:spAutoFit/>
          </a:bodyPr>
          <a:lstStyle/>
          <a:p>
            <a:pPr marL="285750" indent="-285750">
              <a:buFont typeface="Arial" panose="020B0604020202020204" pitchFamily="34" charset="0"/>
              <a:buChar char="•"/>
            </a:pPr>
            <a:r>
              <a:rPr lang="en-US" altLang="zh-CN" dirty="0"/>
              <a:t>For energy conservation, a typical hydrogen bond energy in water is 0.26 eV, which does not match that of a photon at 500 nm with an energy of </a:t>
            </a:r>
            <a:r>
              <a:rPr lang="en-US" altLang="zh-CN" dirty="0">
                <a:solidFill>
                  <a:srgbClr val="FF0000"/>
                </a:solidFill>
              </a:rPr>
              <a:t>2.48 eV.</a:t>
            </a:r>
          </a:p>
          <a:p>
            <a:pPr marL="285750" indent="-285750">
              <a:buFont typeface="Arial" panose="020B0604020202020204" pitchFamily="34" charset="0"/>
              <a:buChar char="•"/>
            </a:pPr>
            <a:r>
              <a:rPr lang="en-US" altLang="zh-CN" dirty="0"/>
              <a:t>the bonds within a cluster are dominantly hydrogen bonds, the bonding of a cluster with its environment is usually non-hydrogen-bond, i.e., the van der Waals bond, which is only ~</a:t>
            </a:r>
            <a:r>
              <a:rPr lang="en-US" altLang="zh-CN" dirty="0">
                <a:solidFill>
                  <a:srgbClr val="FF0000"/>
                </a:solidFill>
              </a:rPr>
              <a:t>0.013 eV </a:t>
            </a:r>
          </a:p>
          <a:p>
            <a:pPr marL="285750" indent="-285750">
              <a:buFont typeface="Arial" panose="020B0604020202020204" pitchFamily="34" charset="0"/>
              <a:buChar char="•"/>
            </a:pPr>
            <a:r>
              <a:rPr lang="en-US" altLang="zh-CN" dirty="0"/>
              <a:t>if a 500 nm photon can cleave off a water cluster, it will break at least 10 hydrogen bonds or ~100 van der Waals bonds.</a:t>
            </a:r>
            <a:endParaRPr lang="zh-CN" altLang="en-US" dirty="0"/>
          </a:p>
        </p:txBody>
      </p:sp>
    </p:spTree>
    <p:extLst>
      <p:ext uri="{BB962C8B-B14F-4D97-AF65-F5344CB8AC3E}">
        <p14:creationId xmlns:p14="http://schemas.microsoft.com/office/powerpoint/2010/main" val="166805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73413480-416B-4D41-9B29-3D49F7DB24D8}"/>
              </a:ext>
            </a:extLst>
          </p:cNvPr>
          <p:cNvPicPr>
            <a:picLocks noChangeAspect="1"/>
          </p:cNvPicPr>
          <p:nvPr/>
        </p:nvPicPr>
        <p:blipFill>
          <a:blip r:embed="rId2"/>
          <a:stretch>
            <a:fillRect/>
          </a:stretch>
        </p:blipFill>
        <p:spPr>
          <a:xfrm>
            <a:off x="118596" y="1033486"/>
            <a:ext cx="8906808" cy="4791027"/>
          </a:xfrm>
          <a:prstGeom prst="rect">
            <a:avLst/>
          </a:prstGeom>
        </p:spPr>
      </p:pic>
      <p:sp>
        <p:nvSpPr>
          <p:cNvPr id="2" name="文本框 1">
            <a:extLst>
              <a:ext uri="{FF2B5EF4-FFF2-40B4-BE49-F238E27FC236}">
                <a16:creationId xmlns:a16="http://schemas.microsoft.com/office/drawing/2014/main" id="{912C1E22-50CE-4E43-B43E-74A105E04BD8}"/>
              </a:ext>
            </a:extLst>
          </p:cNvPr>
          <p:cNvSpPr txBox="1"/>
          <p:nvPr/>
        </p:nvSpPr>
        <p:spPr>
          <a:xfrm>
            <a:off x="2630969" y="174567"/>
            <a:ext cx="3523722" cy="523220"/>
          </a:xfrm>
          <a:prstGeom prst="rect">
            <a:avLst/>
          </a:prstGeom>
          <a:noFill/>
        </p:spPr>
        <p:txBody>
          <a:bodyPr wrap="none" rtlCol="0">
            <a:spAutoFit/>
          </a:bodyPr>
          <a:lstStyle/>
          <a:p>
            <a:r>
              <a:rPr lang="en-US" altLang="zh-CN" sz="2800" dirty="0" err="1">
                <a:solidFill>
                  <a:srgbClr val="FF0000"/>
                </a:solidFill>
              </a:rPr>
              <a:t>Photomolecular</a:t>
            </a:r>
            <a:r>
              <a:rPr lang="en-US" altLang="zh-CN" sz="2800" dirty="0">
                <a:solidFill>
                  <a:srgbClr val="FF0000"/>
                </a:solidFill>
              </a:rPr>
              <a:t> effect</a:t>
            </a:r>
            <a:endParaRPr lang="zh-CN" altLang="en-US" sz="2800" dirty="0">
              <a:solidFill>
                <a:srgbClr val="FF0000"/>
              </a:solidFill>
            </a:endParaRPr>
          </a:p>
        </p:txBody>
      </p:sp>
    </p:spTree>
    <p:extLst>
      <p:ext uri="{BB962C8B-B14F-4D97-AF65-F5344CB8AC3E}">
        <p14:creationId xmlns:p14="http://schemas.microsoft.com/office/powerpoint/2010/main" val="2516466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E478387-32B3-4428-BED7-0EC74AD862EA}"/>
              </a:ext>
            </a:extLst>
          </p:cNvPr>
          <p:cNvPicPr>
            <a:picLocks noChangeAspect="1"/>
          </p:cNvPicPr>
          <p:nvPr/>
        </p:nvPicPr>
        <p:blipFill>
          <a:blip r:embed="rId2"/>
          <a:stretch>
            <a:fillRect/>
          </a:stretch>
        </p:blipFill>
        <p:spPr>
          <a:xfrm>
            <a:off x="1609002" y="282633"/>
            <a:ext cx="5631384" cy="5949541"/>
          </a:xfrm>
          <a:prstGeom prst="rect">
            <a:avLst/>
          </a:prstGeom>
        </p:spPr>
      </p:pic>
    </p:spTree>
    <p:extLst>
      <p:ext uri="{BB962C8B-B14F-4D97-AF65-F5344CB8AC3E}">
        <p14:creationId xmlns:p14="http://schemas.microsoft.com/office/powerpoint/2010/main" val="2451466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EA06931-37F5-4C13-9AC6-E0FDEADF64B0}"/>
              </a:ext>
            </a:extLst>
          </p:cNvPr>
          <p:cNvSpPr txBox="1"/>
          <p:nvPr/>
        </p:nvSpPr>
        <p:spPr>
          <a:xfrm>
            <a:off x="1088967" y="293593"/>
            <a:ext cx="6400800" cy="1754326"/>
          </a:xfrm>
          <a:prstGeom prst="rect">
            <a:avLst/>
          </a:prstGeom>
          <a:noFill/>
        </p:spPr>
        <p:txBody>
          <a:bodyPr wrap="square">
            <a:spAutoFit/>
          </a:bodyPr>
          <a:lstStyle/>
          <a:p>
            <a:pPr algn="just"/>
            <a:r>
              <a:rPr lang="en-US" altLang="zh-CN" sz="1800" b="0" i="0" u="none" strike="noStrike" baseline="0" dirty="0">
                <a:solidFill>
                  <a:srgbClr val="000000"/>
                </a:solidFill>
                <a:latin typeface="Arial" panose="020B0604020202020204" pitchFamily="34" charset="0"/>
                <a:cs typeface="Arial" panose="020B0604020202020204" pitchFamily="34" charset="0"/>
              </a:rPr>
              <a:t>“</a:t>
            </a:r>
            <a:r>
              <a:rPr lang="en-US" altLang="zh-CN" sz="1800" b="0" i="1" u="none" strike="noStrike" baseline="0" dirty="0">
                <a:solidFill>
                  <a:schemeClr val="accent6"/>
                </a:solidFill>
                <a:latin typeface="Arial" panose="020B0604020202020204" pitchFamily="34" charset="0"/>
                <a:cs typeface="Arial" panose="020B0604020202020204" pitchFamily="34" charset="0"/>
              </a:rPr>
              <a:t>We are wondering whether the fact that leaves are green, i.e., plants avoid green light, is related to our observation that the </a:t>
            </a:r>
            <a:r>
              <a:rPr lang="en-US" altLang="zh-CN" sz="1800" b="0" i="1" u="none" strike="noStrike" baseline="0" dirty="0" err="1">
                <a:solidFill>
                  <a:schemeClr val="accent6"/>
                </a:solidFill>
                <a:latin typeface="Arial" panose="020B0604020202020204" pitchFamily="34" charset="0"/>
                <a:cs typeface="Arial" panose="020B0604020202020204" pitchFamily="34" charset="0"/>
              </a:rPr>
              <a:t>photomolecular</a:t>
            </a:r>
            <a:r>
              <a:rPr lang="en-US" altLang="zh-CN" sz="1800" b="0" i="1" u="none" strike="noStrike" baseline="0" dirty="0">
                <a:solidFill>
                  <a:schemeClr val="accent6"/>
                </a:solidFill>
                <a:latin typeface="Arial" panose="020B0604020202020204" pitchFamily="34" charset="0"/>
                <a:cs typeface="Arial" panose="020B0604020202020204" pitchFamily="34" charset="0"/>
              </a:rPr>
              <a:t> rate is highest at these wavelengths. After all, biological organisms emerged way after the earth has water and sunlight. </a:t>
            </a:r>
            <a:r>
              <a:rPr lang="zh-CN" altLang="en-US" dirty="0">
                <a:solidFill>
                  <a:srgbClr val="000000"/>
                </a:solidFill>
                <a:latin typeface="Arial" panose="020B0604020202020204" pitchFamily="34" charset="0"/>
                <a:cs typeface="Arial" panose="020B0604020202020204" pitchFamily="34" charset="0"/>
              </a:rPr>
              <a:t>” </a:t>
            </a:r>
            <a:endParaRPr lang="en-US" altLang="zh-CN" dirty="0">
              <a:solidFill>
                <a:srgbClr val="000000"/>
              </a:solidFill>
              <a:latin typeface="Arial" panose="020B0604020202020204" pitchFamily="34" charset="0"/>
              <a:cs typeface="Arial" panose="020B0604020202020204" pitchFamily="34" charset="0"/>
            </a:endParaRPr>
          </a:p>
          <a:p>
            <a:pPr algn="just"/>
            <a:r>
              <a:rPr lang="en-US" altLang="zh-CN" dirty="0">
                <a:solidFill>
                  <a:srgbClr val="000000"/>
                </a:solidFill>
                <a:latin typeface="Arial" panose="020B0604020202020204" pitchFamily="34" charset="0"/>
                <a:cs typeface="Arial" panose="020B0604020202020204" pitchFamily="34" charset="0"/>
              </a:rPr>
              <a:t>                                                             ----- Gang Chen</a:t>
            </a:r>
            <a:endParaRPr lang="zh-CN" altLang="en-US" dirty="0">
              <a:latin typeface="Arial" panose="020B0604020202020204" pitchFamily="34" charset="0"/>
              <a:cs typeface="Arial" panose="020B0604020202020204" pitchFamily="34" charset="0"/>
            </a:endParaRPr>
          </a:p>
        </p:txBody>
      </p:sp>
      <p:pic>
        <p:nvPicPr>
          <p:cNvPr id="5" name="图片 4">
            <a:extLst>
              <a:ext uri="{FF2B5EF4-FFF2-40B4-BE49-F238E27FC236}">
                <a16:creationId xmlns:a16="http://schemas.microsoft.com/office/drawing/2014/main" id="{354FD1C5-9E75-48E2-83DB-6D3527787E1C}"/>
              </a:ext>
            </a:extLst>
          </p:cNvPr>
          <p:cNvPicPr>
            <a:picLocks noChangeAspect="1"/>
          </p:cNvPicPr>
          <p:nvPr/>
        </p:nvPicPr>
        <p:blipFill>
          <a:blip r:embed="rId2"/>
          <a:stretch>
            <a:fillRect/>
          </a:stretch>
        </p:blipFill>
        <p:spPr>
          <a:xfrm>
            <a:off x="857135" y="2211184"/>
            <a:ext cx="7239461" cy="4072197"/>
          </a:xfrm>
          <a:prstGeom prst="rect">
            <a:avLst/>
          </a:prstGeom>
        </p:spPr>
      </p:pic>
    </p:spTree>
    <p:extLst>
      <p:ext uri="{BB962C8B-B14F-4D97-AF65-F5344CB8AC3E}">
        <p14:creationId xmlns:p14="http://schemas.microsoft.com/office/powerpoint/2010/main" val="3878720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68395" y="3541776"/>
            <a:ext cx="7903126" cy="461665"/>
          </a:xfrm>
          <a:prstGeom prst="rect">
            <a:avLst/>
          </a:prstGeom>
        </p:spPr>
        <p:txBody>
          <a:bodyPr wrap="none">
            <a:spAutoFit/>
          </a:bodyPr>
          <a:lstStyle/>
          <a:p>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29. </a:t>
            </a:r>
            <a:r>
              <a:rPr lang="en-US" altLang="zh-CN" sz="2400" dirty="0">
                <a:solidFill>
                  <a:srgbClr val="FF0000"/>
                </a:solidFill>
              </a:rPr>
              <a:t>Thermodynamic activity of a component in a solution </a:t>
            </a:r>
            <a:endPar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 name="矩形 8"/>
          <p:cNvSpPr/>
          <p:nvPr/>
        </p:nvSpPr>
        <p:spPr>
          <a:xfrm>
            <a:off x="1004971" y="4357223"/>
            <a:ext cx="4572000" cy="646331"/>
          </a:xfrm>
          <a:prstGeom prst="rect">
            <a:avLst/>
          </a:prstGeom>
        </p:spPr>
        <p:txBody>
          <a:bodyPr>
            <a:spAutoFit/>
          </a:bodyPr>
          <a:lstStyle/>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Ref.  Introduction of Thermodynamics of Materials, D. R. Gaskell, Chapter 9 </a:t>
            </a:r>
          </a:p>
        </p:txBody>
      </p:sp>
    </p:spTree>
    <p:extLst>
      <p:ext uri="{BB962C8B-B14F-4D97-AF65-F5344CB8AC3E}">
        <p14:creationId xmlns:p14="http://schemas.microsoft.com/office/powerpoint/2010/main" val="36880978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247775" y="200024"/>
            <a:ext cx="4533900" cy="584775"/>
          </a:xfrm>
          <a:prstGeom prst="rect">
            <a:avLst/>
          </a:prstGeom>
          <a:noFill/>
        </p:spPr>
        <p:txBody>
          <a:bodyPr wrap="square" rtlCol="0">
            <a:spAutoFit/>
          </a:bodyPr>
          <a:lstStyle/>
          <a:p>
            <a:r>
              <a:rPr lang="en-US" altLang="zh-CN" sz="3200" dirty="0">
                <a:solidFill>
                  <a:srgbClr val="FF0000"/>
                </a:solidFill>
              </a:rPr>
              <a:t>Thermodynamic Activity</a:t>
            </a:r>
            <a:endParaRPr lang="zh-CN" altLang="en-US" sz="3200" dirty="0">
              <a:solidFill>
                <a:srgbClr val="FF0000"/>
              </a:solidFill>
            </a:endParaRPr>
          </a:p>
        </p:txBody>
      </p:sp>
      <p:sp>
        <p:nvSpPr>
          <p:cNvPr id="12" name="矩形 11"/>
          <p:cNvSpPr/>
          <p:nvPr/>
        </p:nvSpPr>
        <p:spPr>
          <a:xfrm>
            <a:off x="228600" y="950982"/>
            <a:ext cx="8458200" cy="923330"/>
          </a:xfrm>
          <a:prstGeom prst="rect">
            <a:avLst/>
          </a:prstGeom>
        </p:spPr>
        <p:txBody>
          <a:bodyPr wrap="square">
            <a:spAutoFit/>
          </a:bodyPr>
          <a:lstStyle/>
          <a:p>
            <a:r>
              <a:rPr lang="en-US" altLang="zh-CN" b="1" dirty="0"/>
              <a:t>Thermodynamic activity (</a:t>
            </a:r>
            <a:r>
              <a:rPr lang="en-US" altLang="zh-CN" b="1" i="1" dirty="0"/>
              <a:t> </a:t>
            </a:r>
            <a:r>
              <a:rPr lang="en-US" altLang="zh-CN" b="1" i="1" dirty="0" err="1"/>
              <a:t>a</a:t>
            </a:r>
            <a:r>
              <a:rPr lang="en-US" altLang="zh-CN" b="1" i="1" baseline="-25000" dirty="0" err="1"/>
              <a:t>i</a:t>
            </a:r>
            <a:r>
              <a:rPr lang="en-US" altLang="zh-CN" b="1" i="1" baseline="-25000" dirty="0"/>
              <a:t> </a:t>
            </a:r>
            <a:r>
              <a:rPr lang="en-US" altLang="zh-CN" b="1" dirty="0"/>
              <a:t>) </a:t>
            </a:r>
            <a:r>
              <a:rPr lang="en-US" altLang="zh-CN" dirty="0"/>
              <a:t>of a component in any state at the temperature </a:t>
            </a:r>
            <a:r>
              <a:rPr lang="en-US" altLang="zh-CN" i="1" dirty="0"/>
              <a:t>T </a:t>
            </a:r>
            <a:r>
              <a:rPr lang="en-US" altLang="zh-CN" dirty="0"/>
              <a:t>is formally defined as being the ratio of the fugacity of the substance in that state to its fugacity in its standard state</a:t>
            </a:r>
            <a:endParaRPr lang="zh-CN" altLang="zh-CN" dirty="0"/>
          </a:p>
        </p:txBody>
      </p:sp>
      <p:graphicFrame>
        <p:nvGraphicFramePr>
          <p:cNvPr id="14" name="对象 13"/>
          <p:cNvGraphicFramePr>
            <a:graphicFrameLocks noChangeAspect="1"/>
          </p:cNvGraphicFramePr>
          <p:nvPr>
            <p:extLst>
              <p:ext uri="{D42A27DB-BD31-4B8C-83A1-F6EECF244321}">
                <p14:modId xmlns:p14="http://schemas.microsoft.com/office/powerpoint/2010/main" val="90323271"/>
              </p:ext>
            </p:extLst>
          </p:nvPr>
        </p:nvGraphicFramePr>
        <p:xfrm>
          <a:off x="829305" y="1874312"/>
          <a:ext cx="1028070" cy="873860"/>
        </p:xfrm>
        <a:graphic>
          <a:graphicData uri="http://schemas.openxmlformats.org/presentationml/2006/ole">
            <mc:AlternateContent xmlns:mc="http://schemas.openxmlformats.org/markup-compatibility/2006">
              <mc:Choice xmlns:v="urn:schemas-microsoft-com:vml" Requires="v">
                <p:oleObj name="Equation" r:id="rId2" imgW="507960" imgH="431640" progId="Equation.DSMT4">
                  <p:embed/>
                </p:oleObj>
              </mc:Choice>
              <mc:Fallback>
                <p:oleObj name="Equation" r:id="rId2" imgW="507960" imgH="431640" progId="Equation.DSMT4">
                  <p:embed/>
                  <p:pic>
                    <p:nvPicPr>
                      <p:cNvPr id="0" name=""/>
                      <p:cNvPicPr/>
                      <p:nvPr/>
                    </p:nvPicPr>
                    <p:blipFill>
                      <a:blip r:embed="rId3"/>
                      <a:stretch>
                        <a:fillRect/>
                      </a:stretch>
                    </p:blipFill>
                    <p:spPr>
                      <a:xfrm>
                        <a:off x="829305" y="1874312"/>
                        <a:ext cx="1028070" cy="873860"/>
                      </a:xfrm>
                      <a:prstGeom prst="rect">
                        <a:avLst/>
                      </a:prstGeom>
                    </p:spPr>
                  </p:pic>
                </p:oleObj>
              </mc:Fallback>
            </mc:AlternateContent>
          </a:graphicData>
        </a:graphic>
      </p:graphicFrame>
      <p:sp>
        <p:nvSpPr>
          <p:cNvPr id="15" name="TextBox 14"/>
          <p:cNvSpPr txBox="1"/>
          <p:nvPr/>
        </p:nvSpPr>
        <p:spPr>
          <a:xfrm>
            <a:off x="304799" y="2782758"/>
            <a:ext cx="6986271" cy="707886"/>
          </a:xfrm>
          <a:prstGeom prst="rect">
            <a:avLst/>
          </a:prstGeom>
          <a:noFill/>
        </p:spPr>
        <p:txBody>
          <a:bodyPr wrap="none" rtlCol="0">
            <a:spAutoFit/>
          </a:bodyPr>
          <a:lstStyle/>
          <a:p>
            <a:r>
              <a:rPr lang="en-US" altLang="zh-CN" sz="2000" i="1" dirty="0"/>
              <a:t>f</a:t>
            </a:r>
            <a:r>
              <a:rPr lang="en-US" altLang="zh-CN" sz="2000" i="1" baseline="-25000" dirty="0"/>
              <a:t>i</a:t>
            </a:r>
            <a:r>
              <a:rPr lang="en-US" altLang="zh-CN" sz="2000" i="1" dirty="0"/>
              <a:t> is the vapor’s fugacity of component </a:t>
            </a:r>
            <a:r>
              <a:rPr lang="en-US" altLang="zh-CN" sz="2000" i="1" dirty="0" err="1"/>
              <a:t>i</a:t>
            </a:r>
            <a:r>
              <a:rPr lang="en-US" altLang="zh-CN" sz="2000" i="1" dirty="0"/>
              <a:t> in solution</a:t>
            </a:r>
          </a:p>
          <a:p>
            <a:r>
              <a:rPr lang="en-US" altLang="zh-CN" sz="2000" i="1" dirty="0"/>
              <a:t>f</a:t>
            </a:r>
            <a:r>
              <a:rPr lang="en-US" altLang="zh-CN" sz="2000" i="1" baseline="-25000" dirty="0"/>
              <a:t>i </a:t>
            </a:r>
            <a:r>
              <a:rPr lang="en-US" altLang="zh-CN" sz="2000" i="1" baseline="30000" dirty="0"/>
              <a:t>o </a:t>
            </a:r>
            <a:r>
              <a:rPr lang="en-US" altLang="zh-CN" sz="2000" i="1" baseline="-25000" dirty="0"/>
              <a:t> </a:t>
            </a:r>
            <a:r>
              <a:rPr lang="en-US" altLang="zh-CN" sz="2000" i="1" baseline="30000" dirty="0"/>
              <a:t> </a:t>
            </a:r>
            <a:r>
              <a:rPr lang="en-US" altLang="zh-CN" sz="2000" i="1" dirty="0"/>
              <a:t>is the vapor’s fugacity  of pure I at the same temperature</a:t>
            </a:r>
            <a:endParaRPr lang="zh-CN" altLang="zh-CN" sz="2000" dirty="0"/>
          </a:p>
        </p:txBody>
      </p:sp>
      <p:sp>
        <p:nvSpPr>
          <p:cNvPr id="16" name="TextBox 15"/>
          <p:cNvSpPr txBox="1"/>
          <p:nvPr/>
        </p:nvSpPr>
        <p:spPr>
          <a:xfrm>
            <a:off x="304800" y="3609975"/>
            <a:ext cx="2215478" cy="369332"/>
          </a:xfrm>
          <a:prstGeom prst="rect">
            <a:avLst/>
          </a:prstGeom>
          <a:noFill/>
        </p:spPr>
        <p:txBody>
          <a:bodyPr wrap="none" rtlCol="0">
            <a:spAutoFit/>
          </a:bodyPr>
          <a:lstStyle/>
          <a:p>
            <a:r>
              <a:rPr lang="en-US" altLang="zh-CN" dirty="0"/>
              <a:t>If vapor phase is idea </a:t>
            </a:r>
            <a:endParaRPr lang="zh-CN" altLang="en-US" dirty="0"/>
          </a:p>
        </p:txBody>
      </p:sp>
      <p:graphicFrame>
        <p:nvGraphicFramePr>
          <p:cNvPr id="17" name="对象 16"/>
          <p:cNvGraphicFramePr>
            <a:graphicFrameLocks noChangeAspect="1"/>
          </p:cNvGraphicFramePr>
          <p:nvPr>
            <p:extLst>
              <p:ext uri="{D42A27DB-BD31-4B8C-83A1-F6EECF244321}">
                <p14:modId xmlns:p14="http://schemas.microsoft.com/office/powerpoint/2010/main" val="3725582514"/>
              </p:ext>
            </p:extLst>
          </p:nvPr>
        </p:nvGraphicFramePr>
        <p:xfrm>
          <a:off x="888892" y="3979307"/>
          <a:ext cx="1047293" cy="890555"/>
        </p:xfrm>
        <a:graphic>
          <a:graphicData uri="http://schemas.openxmlformats.org/presentationml/2006/ole">
            <mc:AlternateContent xmlns:mc="http://schemas.openxmlformats.org/markup-compatibility/2006">
              <mc:Choice xmlns:v="urn:schemas-microsoft-com:vml" Requires="v">
                <p:oleObj name="Equation" r:id="rId4" imgW="507960" imgH="431640" progId="Equation.DSMT4">
                  <p:embed/>
                </p:oleObj>
              </mc:Choice>
              <mc:Fallback>
                <p:oleObj name="Equation" r:id="rId4" imgW="507960" imgH="431640" progId="Equation.DSMT4">
                  <p:embed/>
                  <p:pic>
                    <p:nvPicPr>
                      <p:cNvPr id="0" name=""/>
                      <p:cNvPicPr>
                        <a:picLocks noChangeAspect="1" noChangeArrowheads="1"/>
                      </p:cNvPicPr>
                      <p:nvPr/>
                    </p:nvPicPr>
                    <p:blipFill>
                      <a:blip r:embed="rId5"/>
                      <a:srcRect/>
                      <a:stretch>
                        <a:fillRect/>
                      </a:stretch>
                    </p:blipFill>
                    <p:spPr bwMode="auto">
                      <a:xfrm>
                        <a:off x="888892" y="3979307"/>
                        <a:ext cx="1047293" cy="890555"/>
                      </a:xfrm>
                      <a:prstGeom prst="rect">
                        <a:avLst/>
                      </a:prstGeom>
                      <a:noFill/>
                      <a:ln>
                        <a:noFill/>
                      </a:ln>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3307587750"/>
              </p:ext>
            </p:extLst>
          </p:nvPr>
        </p:nvGraphicFramePr>
        <p:xfrm>
          <a:off x="5781675" y="3873977"/>
          <a:ext cx="3179763" cy="474662"/>
        </p:xfrm>
        <a:graphic>
          <a:graphicData uri="http://schemas.openxmlformats.org/presentationml/2006/ole">
            <mc:AlternateContent xmlns:mc="http://schemas.openxmlformats.org/markup-compatibility/2006">
              <mc:Choice xmlns:v="urn:schemas-microsoft-com:vml" Requires="v">
                <p:oleObj name="Equation" r:id="rId6" imgW="1701800" imgH="254000" progId="Equation.DSMT4">
                  <p:embed/>
                </p:oleObj>
              </mc:Choice>
              <mc:Fallback>
                <p:oleObj name="Equation" r:id="rId6" imgW="1701800" imgH="2540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81675" y="3873977"/>
                        <a:ext cx="3179763" cy="474662"/>
                      </a:xfrm>
                      <a:prstGeom prst="rect">
                        <a:avLst/>
                      </a:prstGeom>
                      <a:solidFill>
                        <a:schemeClr val="accent5">
                          <a:lumMod val="20000"/>
                          <a:lumOff val="80000"/>
                        </a:schemeClr>
                      </a:solidFill>
                      <a:ln>
                        <a:noFill/>
                      </a:ln>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461846123"/>
              </p:ext>
            </p:extLst>
          </p:nvPr>
        </p:nvGraphicFramePr>
        <p:xfrm>
          <a:off x="5781675" y="4483577"/>
          <a:ext cx="3203575" cy="474663"/>
        </p:xfrm>
        <a:graphic>
          <a:graphicData uri="http://schemas.openxmlformats.org/presentationml/2006/ole">
            <mc:AlternateContent xmlns:mc="http://schemas.openxmlformats.org/markup-compatibility/2006">
              <mc:Choice xmlns:v="urn:schemas-microsoft-com:vml" Requires="v">
                <p:oleObj name="Equation" r:id="rId8" imgW="1714320" imgH="253800" progId="Equation.DSMT4">
                  <p:embed/>
                </p:oleObj>
              </mc:Choice>
              <mc:Fallback>
                <p:oleObj name="Equation" r:id="rId8" imgW="1714320" imgH="2538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81675" y="4483577"/>
                        <a:ext cx="3203575" cy="474663"/>
                      </a:xfrm>
                      <a:prstGeom prst="rect">
                        <a:avLst/>
                      </a:prstGeom>
                      <a:solidFill>
                        <a:schemeClr val="accent6">
                          <a:lumMod val="40000"/>
                          <a:lumOff val="60000"/>
                        </a:schemeClr>
                      </a:solidFill>
                      <a:ln>
                        <a:noFill/>
                      </a:ln>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940792450"/>
              </p:ext>
            </p:extLst>
          </p:nvPr>
        </p:nvGraphicFramePr>
        <p:xfrm>
          <a:off x="2335806" y="5189498"/>
          <a:ext cx="3445869" cy="555861"/>
        </p:xfrm>
        <a:graphic>
          <a:graphicData uri="http://schemas.openxmlformats.org/presentationml/2006/ole">
            <mc:AlternateContent xmlns:mc="http://schemas.openxmlformats.org/markup-compatibility/2006">
              <mc:Choice xmlns:v="urn:schemas-microsoft-com:vml" Requires="v">
                <p:oleObj name="Equation" r:id="rId10" imgW="2438280" imgH="393480" progId="Equation.DSMT4">
                  <p:embed/>
                </p:oleObj>
              </mc:Choice>
              <mc:Fallback>
                <p:oleObj name="Equation" r:id="rId10" imgW="2438280" imgH="39348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35806" y="5189498"/>
                        <a:ext cx="3445869" cy="555861"/>
                      </a:xfrm>
                      <a:prstGeom prst="rect">
                        <a:avLst/>
                      </a:prstGeom>
                      <a:solidFill>
                        <a:schemeClr val="accent5">
                          <a:lumMod val="20000"/>
                          <a:lumOff val="80000"/>
                        </a:schemeClr>
                      </a:solidFill>
                      <a:ln>
                        <a:noFill/>
                      </a:ln>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267099291"/>
              </p:ext>
            </p:extLst>
          </p:nvPr>
        </p:nvGraphicFramePr>
        <p:xfrm>
          <a:off x="2343150" y="5781675"/>
          <a:ext cx="4191000" cy="690563"/>
        </p:xfrm>
        <a:graphic>
          <a:graphicData uri="http://schemas.openxmlformats.org/presentationml/2006/ole">
            <mc:AlternateContent xmlns:mc="http://schemas.openxmlformats.org/markup-compatibility/2006">
              <mc:Choice xmlns:v="urn:schemas-microsoft-com:vml" Requires="v">
                <p:oleObj name="Equation" r:id="rId12" imgW="2387520" imgH="393480" progId="Equation.DSMT4">
                  <p:embed/>
                </p:oleObj>
              </mc:Choice>
              <mc:Fallback>
                <p:oleObj name="Equation" r:id="rId12" imgW="2387520" imgH="393480" progId="Equation.DSMT4">
                  <p:embed/>
                  <p:pic>
                    <p:nvPicPr>
                      <p:cNvPr id="0" name="对象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43150" y="5781675"/>
                        <a:ext cx="4191000" cy="690563"/>
                      </a:xfrm>
                      <a:prstGeom prst="rect">
                        <a:avLst/>
                      </a:prstGeom>
                      <a:solidFill>
                        <a:schemeClr val="accent6">
                          <a:lumMod val="40000"/>
                          <a:lumOff val="60000"/>
                        </a:schemeClr>
                      </a:solidFill>
                      <a:ln>
                        <a:noFill/>
                      </a:ln>
                    </p:spPr>
                  </p:pic>
                </p:oleObj>
              </mc:Fallback>
            </mc:AlternateContent>
          </a:graphicData>
        </a:graphic>
      </p:graphicFrame>
    </p:spTree>
    <p:extLst>
      <p:ext uri="{BB962C8B-B14F-4D97-AF65-F5344CB8AC3E}">
        <p14:creationId xmlns:p14="http://schemas.microsoft.com/office/powerpoint/2010/main" val="1274072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068338" y="104775"/>
            <a:ext cx="4245073" cy="584775"/>
          </a:xfrm>
          <a:prstGeom prst="rect">
            <a:avLst/>
          </a:prstGeom>
          <a:noFill/>
        </p:spPr>
        <p:txBody>
          <a:bodyPr wrap="none" rtlCol="0">
            <a:spAutoFit/>
          </a:bodyPr>
          <a:lstStyle/>
          <a:p>
            <a:r>
              <a:rPr lang="en-US" altLang="zh-CN" sz="3200" dirty="0">
                <a:solidFill>
                  <a:srgbClr val="FF0000"/>
                </a:solidFill>
              </a:rPr>
              <a:t>Thermodynamic Activity</a:t>
            </a:r>
            <a:endParaRPr lang="zh-CN" altLang="en-US" sz="3200" dirty="0">
              <a:solidFill>
                <a:srgbClr val="FF0000"/>
              </a:solidFill>
            </a:endParaRPr>
          </a:p>
        </p:txBody>
      </p:sp>
      <p:sp>
        <p:nvSpPr>
          <p:cNvPr id="11" name="Rectangle 19"/>
          <p:cNvSpPr>
            <a:spLocks noChangeArrowheads="1"/>
          </p:cNvSpPr>
          <p:nvPr/>
        </p:nvSpPr>
        <p:spPr bwMode="auto">
          <a:xfrm>
            <a:off x="513313" y="1025098"/>
            <a:ext cx="328165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dirty="0">
                <a:solidFill>
                  <a:srgbClr val="000000"/>
                </a:solidFill>
                <a:ea typeface="宋体" charset="-122"/>
              </a:rPr>
              <a:t>The solution</a:t>
            </a:r>
          </a:p>
          <a:p>
            <a:pPr defTabSz="914400" eaLnBrk="1" hangingPunct="1"/>
            <a:r>
              <a:rPr lang="en-US" altLang="zh-CN" i="1" dirty="0">
                <a:solidFill>
                  <a:srgbClr val="000000"/>
                </a:solidFill>
                <a:ea typeface="宋体" charset="-122"/>
              </a:rPr>
              <a:t>following </a:t>
            </a:r>
            <a:r>
              <a:rPr lang="en-US" altLang="zh-CN" i="1" dirty="0" err="1">
                <a:solidFill>
                  <a:srgbClr val="000000"/>
                </a:solidFill>
                <a:ea typeface="宋体" charset="-122"/>
              </a:rPr>
              <a:t>Raoult’s</a:t>
            </a:r>
            <a:r>
              <a:rPr lang="en-US" altLang="zh-CN" i="1" dirty="0">
                <a:solidFill>
                  <a:srgbClr val="000000"/>
                </a:solidFill>
                <a:ea typeface="宋体" charset="-122"/>
              </a:rPr>
              <a:t> law</a:t>
            </a:r>
          </a:p>
        </p:txBody>
      </p:sp>
      <p:pic>
        <p:nvPicPr>
          <p:cNvPr id="1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271" y="2084695"/>
            <a:ext cx="2771929" cy="213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8"/>
          <p:cNvSpPr>
            <a:spLocks noChangeArrowheads="1"/>
          </p:cNvSpPr>
          <p:nvPr/>
        </p:nvSpPr>
        <p:spPr bwMode="auto">
          <a:xfrm>
            <a:off x="2544762" y="4768334"/>
            <a:ext cx="884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i="1" dirty="0" err="1">
                <a:solidFill>
                  <a:srgbClr val="000000"/>
                </a:solidFill>
                <a:ea typeface="宋体" charset="-122"/>
              </a:rPr>
              <a:t>a</a:t>
            </a:r>
            <a:r>
              <a:rPr lang="en-US" altLang="zh-CN" i="1" baseline="-25000" dirty="0" err="1">
                <a:solidFill>
                  <a:srgbClr val="000000"/>
                </a:solidFill>
                <a:ea typeface="宋体" charset="-122"/>
              </a:rPr>
              <a:t>i</a:t>
            </a:r>
            <a:r>
              <a:rPr lang="en-US" altLang="zh-CN" dirty="0">
                <a:solidFill>
                  <a:srgbClr val="000000"/>
                </a:solidFill>
                <a:ea typeface="宋体" charset="-122"/>
              </a:rPr>
              <a:t> =</a:t>
            </a:r>
            <a:r>
              <a:rPr lang="en-US" altLang="zh-CN" i="1" dirty="0">
                <a:solidFill>
                  <a:srgbClr val="000000"/>
                </a:solidFill>
                <a:ea typeface="宋体" charset="-122"/>
              </a:rPr>
              <a:t>X</a:t>
            </a:r>
            <a:r>
              <a:rPr lang="en-US" altLang="zh-CN" i="1" baseline="-25000" dirty="0">
                <a:solidFill>
                  <a:srgbClr val="000000"/>
                </a:solidFill>
                <a:ea typeface="宋体" charset="-122"/>
              </a:rPr>
              <a:t>i</a:t>
            </a:r>
          </a:p>
        </p:txBody>
      </p:sp>
      <p:graphicFrame>
        <p:nvGraphicFramePr>
          <p:cNvPr id="14" name="Object 20"/>
          <p:cNvGraphicFramePr>
            <a:graphicFrameLocks noChangeAspect="1"/>
          </p:cNvGraphicFramePr>
          <p:nvPr>
            <p:extLst>
              <p:ext uri="{D42A27DB-BD31-4B8C-83A1-F6EECF244321}">
                <p14:modId xmlns:p14="http://schemas.microsoft.com/office/powerpoint/2010/main" val="4106240193"/>
              </p:ext>
            </p:extLst>
          </p:nvPr>
        </p:nvGraphicFramePr>
        <p:xfrm>
          <a:off x="457200" y="4434958"/>
          <a:ext cx="1519238" cy="479425"/>
        </p:xfrm>
        <a:graphic>
          <a:graphicData uri="http://schemas.openxmlformats.org/presentationml/2006/ole">
            <mc:AlternateContent xmlns:mc="http://schemas.openxmlformats.org/markup-compatibility/2006">
              <mc:Choice xmlns:v="urn:schemas-microsoft-com:vml" Requires="v">
                <p:oleObj name="Equation" r:id="rId3" imgW="723600" imgH="228600" progId="Equation.3">
                  <p:embed/>
                </p:oleObj>
              </mc:Choice>
              <mc:Fallback>
                <p:oleObj name="Equation" r:id="rId3" imgW="7236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4434958"/>
                        <a:ext cx="1519238"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21"/>
          <p:cNvGraphicFramePr>
            <a:graphicFrameLocks noChangeAspect="1"/>
          </p:cNvGraphicFramePr>
          <p:nvPr>
            <p:extLst>
              <p:ext uri="{D42A27DB-BD31-4B8C-83A1-F6EECF244321}">
                <p14:modId xmlns:p14="http://schemas.microsoft.com/office/powerpoint/2010/main" val="3723905503"/>
              </p:ext>
            </p:extLst>
          </p:nvPr>
        </p:nvGraphicFramePr>
        <p:xfrm>
          <a:off x="457200" y="5084246"/>
          <a:ext cx="1568450" cy="522288"/>
        </p:xfrm>
        <a:graphic>
          <a:graphicData uri="http://schemas.openxmlformats.org/presentationml/2006/ole">
            <mc:AlternateContent xmlns:mc="http://schemas.openxmlformats.org/markup-compatibility/2006">
              <mc:Choice xmlns:v="urn:schemas-microsoft-com:vml" Requires="v">
                <p:oleObj name="Equation" r:id="rId5" imgW="723600" imgH="241200" progId="Equation.3">
                  <p:embed/>
                </p:oleObj>
              </mc:Choice>
              <mc:Fallback>
                <p:oleObj name="Equation" r:id="rId5" imgW="723600" imgH="241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5084246"/>
                        <a:ext cx="1568450" cy="522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9"/>
          <p:cNvSpPr>
            <a:spLocks noChangeArrowheads="1"/>
          </p:cNvSpPr>
          <p:nvPr/>
        </p:nvSpPr>
        <p:spPr bwMode="auto">
          <a:xfrm>
            <a:off x="4757449" y="1014294"/>
            <a:ext cx="343010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dirty="0">
                <a:solidFill>
                  <a:srgbClr val="000000"/>
                </a:solidFill>
                <a:ea typeface="宋体" charset="-122"/>
              </a:rPr>
              <a:t>The solution </a:t>
            </a:r>
          </a:p>
          <a:p>
            <a:pPr defTabSz="914400" eaLnBrk="1" hangingPunct="1"/>
            <a:r>
              <a:rPr lang="en-US" altLang="zh-CN" i="1" dirty="0">
                <a:solidFill>
                  <a:srgbClr val="000000"/>
                </a:solidFill>
                <a:ea typeface="宋体" charset="-122"/>
              </a:rPr>
              <a:t>following Henry’s law</a:t>
            </a:r>
          </a:p>
        </p:txBody>
      </p:sp>
      <p:pic>
        <p:nvPicPr>
          <p:cNvPr id="17" name="Picture 4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37853" y="2084696"/>
            <a:ext cx="2814711" cy="213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8" name="Object 14"/>
          <p:cNvGraphicFramePr>
            <a:graphicFrameLocks noChangeAspect="1"/>
          </p:cNvGraphicFramePr>
          <p:nvPr>
            <p:extLst>
              <p:ext uri="{D42A27DB-BD31-4B8C-83A1-F6EECF244321}">
                <p14:modId xmlns:p14="http://schemas.microsoft.com/office/powerpoint/2010/main" val="1099184033"/>
              </p:ext>
            </p:extLst>
          </p:nvPr>
        </p:nvGraphicFramePr>
        <p:xfrm>
          <a:off x="4738806" y="4425129"/>
          <a:ext cx="2179307" cy="800405"/>
        </p:xfrm>
        <a:graphic>
          <a:graphicData uri="http://schemas.openxmlformats.org/presentationml/2006/ole">
            <mc:AlternateContent xmlns:mc="http://schemas.openxmlformats.org/markup-compatibility/2006">
              <mc:Choice xmlns:v="urn:schemas-microsoft-com:vml" Requires="v">
                <p:oleObj name="Equation" r:id="rId8" imgW="1244520" imgH="457200" progId="Equation.3">
                  <p:embed/>
                </p:oleObj>
              </mc:Choice>
              <mc:Fallback>
                <p:oleObj name="Equation" r:id="rId8" imgW="1244520" imgH="457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38806" y="4425129"/>
                        <a:ext cx="2179307" cy="800405"/>
                      </a:xfrm>
                      <a:prstGeom prst="rect">
                        <a:avLst/>
                      </a:prstGeom>
                      <a:noFill/>
                    </p:spPr>
                  </p:pic>
                </p:oleObj>
              </mc:Fallback>
            </mc:AlternateContent>
          </a:graphicData>
        </a:graphic>
      </p:graphicFrame>
      <p:graphicFrame>
        <p:nvGraphicFramePr>
          <p:cNvPr id="19" name="Object 17"/>
          <p:cNvGraphicFramePr>
            <a:graphicFrameLocks noChangeAspect="1"/>
          </p:cNvGraphicFramePr>
          <p:nvPr>
            <p:extLst>
              <p:ext uri="{D42A27DB-BD31-4B8C-83A1-F6EECF244321}">
                <p14:modId xmlns:p14="http://schemas.microsoft.com/office/powerpoint/2010/main" val="1297516649"/>
              </p:ext>
            </p:extLst>
          </p:nvPr>
        </p:nvGraphicFramePr>
        <p:xfrm>
          <a:off x="7570200" y="4934382"/>
          <a:ext cx="1376363" cy="522288"/>
        </p:xfrm>
        <a:graphic>
          <a:graphicData uri="http://schemas.openxmlformats.org/presentationml/2006/ole">
            <mc:AlternateContent xmlns:mc="http://schemas.openxmlformats.org/markup-compatibility/2006">
              <mc:Choice xmlns:v="urn:schemas-microsoft-com:vml" Requires="v">
                <p:oleObj name="Equation" r:id="rId10" imgW="634680" imgH="241200" progId="Equation.3">
                  <p:embed/>
                </p:oleObj>
              </mc:Choice>
              <mc:Fallback>
                <p:oleObj name="Equation" r:id="rId10" imgW="634680" imgH="2412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570200" y="4934382"/>
                        <a:ext cx="1376363" cy="522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31480533"/>
              </p:ext>
            </p:extLst>
          </p:nvPr>
        </p:nvGraphicFramePr>
        <p:xfrm>
          <a:off x="4573588" y="5149850"/>
          <a:ext cx="1530350" cy="407988"/>
        </p:xfrm>
        <a:graphic>
          <a:graphicData uri="http://schemas.openxmlformats.org/presentationml/2006/ole">
            <mc:AlternateContent xmlns:mc="http://schemas.openxmlformats.org/markup-compatibility/2006">
              <mc:Choice xmlns:v="urn:schemas-microsoft-com:vml" Requires="v">
                <p:oleObj name="公式" r:id="rId12" imgW="901440" imgH="241200" progId="Equation.3">
                  <p:embed/>
                </p:oleObj>
              </mc:Choice>
              <mc:Fallback>
                <p:oleObj name="公式" r:id="rId12" imgW="901440" imgH="241200" progId="Equation.3">
                  <p:embed/>
                  <p:pic>
                    <p:nvPicPr>
                      <p:cNvPr id="0" name=""/>
                      <p:cNvPicPr>
                        <a:picLocks noChangeAspect="1" noChangeArrowheads="1"/>
                      </p:cNvPicPr>
                      <p:nvPr/>
                    </p:nvPicPr>
                    <p:blipFill>
                      <a:blip r:embed="rId13"/>
                      <a:srcRect/>
                      <a:stretch>
                        <a:fillRect/>
                      </a:stretch>
                    </p:blipFill>
                    <p:spPr bwMode="auto">
                      <a:xfrm>
                        <a:off x="4573588" y="5149850"/>
                        <a:ext cx="1530350" cy="407988"/>
                      </a:xfrm>
                      <a:prstGeom prst="rect">
                        <a:avLst/>
                      </a:prstGeom>
                      <a:noFill/>
                      <a:ln>
                        <a:noFill/>
                      </a:ln>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2952131742"/>
              </p:ext>
            </p:extLst>
          </p:nvPr>
        </p:nvGraphicFramePr>
        <p:xfrm>
          <a:off x="7570200" y="5530334"/>
          <a:ext cx="1371600" cy="554038"/>
        </p:xfrm>
        <a:graphic>
          <a:graphicData uri="http://schemas.openxmlformats.org/presentationml/2006/ole">
            <mc:AlternateContent xmlns:mc="http://schemas.openxmlformats.org/markup-compatibility/2006">
              <mc:Choice xmlns:v="urn:schemas-microsoft-com:vml" Requires="v">
                <p:oleObj name="Equation" r:id="rId14" imgW="596880" imgH="241200" progId="Equation.DSMT4">
                  <p:embed/>
                </p:oleObj>
              </mc:Choice>
              <mc:Fallback>
                <p:oleObj name="Equation" r:id="rId14" imgW="596880" imgH="241200" progId="Equation.DSMT4">
                  <p:embed/>
                  <p:pic>
                    <p:nvPicPr>
                      <p:cNvPr id="0" name=""/>
                      <p:cNvPicPr>
                        <a:picLocks noChangeAspect="1" noChangeArrowheads="1"/>
                      </p:cNvPicPr>
                      <p:nvPr/>
                    </p:nvPicPr>
                    <p:blipFill>
                      <a:blip r:embed="rId15"/>
                      <a:srcRect/>
                      <a:stretch>
                        <a:fillRect/>
                      </a:stretch>
                    </p:blipFill>
                    <p:spPr bwMode="auto">
                      <a:xfrm>
                        <a:off x="7570200" y="5530334"/>
                        <a:ext cx="13716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 name="右大括号 25"/>
          <p:cNvSpPr/>
          <p:nvPr/>
        </p:nvSpPr>
        <p:spPr>
          <a:xfrm>
            <a:off x="2118519" y="4615934"/>
            <a:ext cx="243681" cy="838200"/>
          </a:xfrm>
          <a:prstGeom prst="rightBrace">
            <a:avLst>
              <a:gd name="adj1" fmla="val 44737"/>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右大括号 26"/>
          <p:cNvSpPr/>
          <p:nvPr/>
        </p:nvSpPr>
        <p:spPr>
          <a:xfrm>
            <a:off x="6934200" y="4768334"/>
            <a:ext cx="243681" cy="838200"/>
          </a:xfrm>
          <a:prstGeom prst="rightBrace">
            <a:avLst>
              <a:gd name="adj1" fmla="val 44737"/>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 name="TextBox 1"/>
          <p:cNvSpPr txBox="1"/>
          <p:nvPr/>
        </p:nvSpPr>
        <p:spPr>
          <a:xfrm>
            <a:off x="352271" y="5923002"/>
            <a:ext cx="2954399" cy="369332"/>
          </a:xfrm>
          <a:prstGeom prst="rect">
            <a:avLst/>
          </a:prstGeom>
          <a:noFill/>
        </p:spPr>
        <p:txBody>
          <a:bodyPr wrap="none" rtlCol="0">
            <a:spAutoFit/>
          </a:bodyPr>
          <a:lstStyle/>
          <a:p>
            <a:r>
              <a:rPr lang="en-US" altLang="zh-CN" dirty="0"/>
              <a:t>Dalton law of partial pressure</a:t>
            </a:r>
            <a:endParaRPr lang="zh-CN" altLang="en-US" dirty="0"/>
          </a:p>
        </p:txBody>
      </p:sp>
    </p:spTree>
    <p:extLst>
      <p:ext uri="{BB962C8B-B14F-4D97-AF65-F5344CB8AC3E}">
        <p14:creationId xmlns:p14="http://schemas.microsoft.com/office/powerpoint/2010/main" val="22313843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bwMode="auto">
          <a:xfrm>
            <a:off x="1052683" y="0"/>
            <a:ext cx="5873750" cy="595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latin typeface="Arial" charset="0"/>
                <a:cs typeface="Arial" charset="0"/>
              </a:rPr>
              <a:t>Gibbs-</a:t>
            </a:r>
            <a:r>
              <a:rPr lang="en-US" sz="3200" b="1" dirty="0" err="1">
                <a:solidFill>
                  <a:srgbClr val="FF0000"/>
                </a:solidFill>
                <a:latin typeface="Arial" charset="0"/>
                <a:cs typeface="Arial" charset="0"/>
              </a:rPr>
              <a:t>Duhem</a:t>
            </a:r>
            <a:r>
              <a:rPr lang="en-US" sz="3200" b="1" dirty="0">
                <a:solidFill>
                  <a:srgbClr val="FF0000"/>
                </a:solidFill>
                <a:latin typeface="Arial" charset="0"/>
                <a:cs typeface="Arial" charset="0"/>
              </a:rPr>
              <a:t> Equation</a:t>
            </a:r>
            <a:endParaRPr lang="en-US" sz="3200" dirty="0">
              <a:solidFill>
                <a:srgbClr val="FF0000"/>
              </a:solidFill>
            </a:endParaRPr>
          </a:p>
        </p:txBody>
      </p:sp>
      <p:sp>
        <p:nvSpPr>
          <p:cNvPr id="17" name="Text Box 3"/>
          <p:cNvSpPr txBox="1">
            <a:spLocks noChangeArrowheads="1"/>
          </p:cNvSpPr>
          <p:nvPr/>
        </p:nvSpPr>
        <p:spPr bwMode="auto">
          <a:xfrm>
            <a:off x="578758" y="1019435"/>
            <a:ext cx="69215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altLang="zh-CN" sz="2000" dirty="0">
                <a:ea typeface="宋体" charset="-122"/>
              </a:rPr>
              <a:t>Any extensive property, say Q:  </a:t>
            </a:r>
            <a:r>
              <a:rPr lang="en-US" altLang="zh-CN" sz="2000" b="1" i="1" dirty="0">
                <a:solidFill>
                  <a:srgbClr val="FF0000"/>
                </a:solidFill>
                <a:ea typeface="宋体" charset="-122"/>
              </a:rPr>
              <a:t>Q’ = Q’(T, P, n</a:t>
            </a:r>
            <a:r>
              <a:rPr lang="en-US" altLang="zh-CN" sz="2000" b="1" i="1" baseline="-25000" dirty="0">
                <a:solidFill>
                  <a:srgbClr val="FF0000"/>
                </a:solidFill>
                <a:ea typeface="宋体" charset="-122"/>
              </a:rPr>
              <a:t>1</a:t>
            </a:r>
            <a:r>
              <a:rPr lang="en-US" altLang="zh-CN" sz="2000" b="1" i="1" dirty="0">
                <a:solidFill>
                  <a:srgbClr val="FF0000"/>
                </a:solidFill>
                <a:ea typeface="宋体" charset="-122"/>
              </a:rPr>
              <a:t>, n</a:t>
            </a:r>
            <a:r>
              <a:rPr lang="en-US" altLang="zh-CN" sz="2000" b="1" i="1" baseline="-25000" dirty="0">
                <a:solidFill>
                  <a:srgbClr val="FF0000"/>
                </a:solidFill>
                <a:ea typeface="宋体" charset="-122"/>
              </a:rPr>
              <a:t>2</a:t>
            </a:r>
            <a:r>
              <a:rPr lang="en-US" altLang="zh-CN" sz="2000" b="1" i="1" dirty="0">
                <a:solidFill>
                  <a:srgbClr val="FF0000"/>
                </a:solidFill>
                <a:ea typeface="宋体" charset="-122"/>
              </a:rPr>
              <a:t>, …)</a:t>
            </a:r>
          </a:p>
          <a:p>
            <a:pPr eaLnBrk="1" hangingPunct="1"/>
            <a:r>
              <a:rPr lang="en-US" altLang="zh-CN" sz="2000" dirty="0">
                <a:ea typeface="宋体" charset="-122"/>
              </a:rPr>
              <a:t>At constant T and P:</a:t>
            </a:r>
          </a:p>
        </p:txBody>
      </p:sp>
      <p:graphicFrame>
        <p:nvGraphicFramePr>
          <p:cNvPr id="23" name="对象 22"/>
          <p:cNvGraphicFramePr>
            <a:graphicFrameLocks noChangeAspect="1"/>
          </p:cNvGraphicFramePr>
          <p:nvPr>
            <p:extLst>
              <p:ext uri="{D42A27DB-BD31-4B8C-83A1-F6EECF244321}">
                <p14:modId xmlns:p14="http://schemas.microsoft.com/office/powerpoint/2010/main" val="4185020142"/>
              </p:ext>
            </p:extLst>
          </p:nvPr>
        </p:nvGraphicFramePr>
        <p:xfrm>
          <a:off x="731045" y="5597363"/>
          <a:ext cx="1828800" cy="625475"/>
        </p:xfrm>
        <a:graphic>
          <a:graphicData uri="http://schemas.openxmlformats.org/presentationml/2006/ole">
            <mc:AlternateContent xmlns:mc="http://schemas.openxmlformats.org/markup-compatibility/2006">
              <mc:Choice xmlns:v="urn:schemas-microsoft-com:vml" Requires="v">
                <p:oleObj name="公式" r:id="rId2" imgW="748975" imgH="253890" progId="Equation.3">
                  <p:embed/>
                </p:oleObj>
              </mc:Choice>
              <mc:Fallback>
                <p:oleObj name="公式" r:id="rId2" imgW="748975" imgH="25389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045" y="5597363"/>
                        <a:ext cx="1828800" cy="625475"/>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2916424201"/>
              </p:ext>
            </p:extLst>
          </p:nvPr>
        </p:nvGraphicFramePr>
        <p:xfrm>
          <a:off x="3252788" y="5575219"/>
          <a:ext cx="1858962" cy="625475"/>
        </p:xfrm>
        <a:graphic>
          <a:graphicData uri="http://schemas.openxmlformats.org/presentationml/2006/ole">
            <mc:AlternateContent xmlns:mc="http://schemas.openxmlformats.org/markup-compatibility/2006">
              <mc:Choice xmlns:v="urn:schemas-microsoft-com:vml" Requires="v">
                <p:oleObj name="Equation" r:id="rId4" imgW="761669" imgH="253890" progId="Equation.3">
                  <p:embed/>
                </p:oleObj>
              </mc:Choice>
              <mc:Fallback>
                <p:oleObj name="Equation" r:id="rId4" imgW="761669" imgH="25389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2788" y="5575219"/>
                        <a:ext cx="1858962" cy="625475"/>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Line 17"/>
          <p:cNvSpPr>
            <a:spLocks noChangeShapeType="1"/>
          </p:cNvSpPr>
          <p:nvPr/>
        </p:nvSpPr>
        <p:spPr bwMode="auto">
          <a:xfrm>
            <a:off x="2673350" y="5922963"/>
            <a:ext cx="4191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Rectangle 18"/>
          <p:cNvSpPr>
            <a:spLocks noChangeArrowheads="1"/>
          </p:cNvSpPr>
          <p:nvPr/>
        </p:nvSpPr>
        <p:spPr bwMode="auto">
          <a:xfrm>
            <a:off x="5527676" y="5683251"/>
            <a:ext cx="30652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altLang="zh-CN" i="1" dirty="0">
                <a:solidFill>
                  <a:srgbClr val="FF3300"/>
                </a:solidFill>
                <a:ea typeface="宋体" charset="-122"/>
              </a:rPr>
              <a:t>Gibbs-</a:t>
            </a:r>
            <a:r>
              <a:rPr lang="en-US" altLang="zh-CN" i="1" dirty="0" err="1">
                <a:solidFill>
                  <a:srgbClr val="FF3300"/>
                </a:solidFill>
                <a:ea typeface="宋体" charset="-122"/>
              </a:rPr>
              <a:t>Duhem</a:t>
            </a:r>
            <a:r>
              <a:rPr lang="en-US" altLang="zh-CN" i="1" dirty="0">
                <a:solidFill>
                  <a:srgbClr val="FF3300"/>
                </a:solidFill>
                <a:ea typeface="宋体" charset="-122"/>
              </a:rPr>
              <a:t> equation</a:t>
            </a:r>
          </a:p>
        </p:txBody>
      </p:sp>
      <p:sp>
        <p:nvSpPr>
          <p:cNvPr id="27" name="Line 17"/>
          <p:cNvSpPr>
            <a:spLocks noChangeShapeType="1"/>
          </p:cNvSpPr>
          <p:nvPr/>
        </p:nvSpPr>
        <p:spPr bwMode="auto">
          <a:xfrm>
            <a:off x="2254250" y="3134066"/>
            <a:ext cx="4191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596940484"/>
              </p:ext>
            </p:extLst>
          </p:nvPr>
        </p:nvGraphicFramePr>
        <p:xfrm>
          <a:off x="717896" y="3480115"/>
          <a:ext cx="314476" cy="419301"/>
        </p:xfrm>
        <a:graphic>
          <a:graphicData uri="http://schemas.openxmlformats.org/presentationml/2006/ole">
            <mc:AlternateContent xmlns:mc="http://schemas.openxmlformats.org/markup-compatibility/2006">
              <mc:Choice xmlns:v="urn:schemas-microsoft-com:vml" Requires="v">
                <p:oleObj name="Equation" r:id="rId6" imgW="190440" imgH="253800" progId="Equation.DSMT4">
                  <p:embed/>
                </p:oleObj>
              </mc:Choice>
              <mc:Fallback>
                <p:oleObj name="Equation" r:id="rId6" imgW="190440" imgH="253800" progId="Equation.DSMT4">
                  <p:embed/>
                  <p:pic>
                    <p:nvPicPr>
                      <p:cNvPr id="0" name=""/>
                      <p:cNvPicPr/>
                      <p:nvPr/>
                    </p:nvPicPr>
                    <p:blipFill>
                      <a:blip r:embed="rId7"/>
                      <a:stretch>
                        <a:fillRect/>
                      </a:stretch>
                    </p:blipFill>
                    <p:spPr>
                      <a:xfrm>
                        <a:off x="717896" y="3480115"/>
                        <a:ext cx="314476" cy="419301"/>
                      </a:xfrm>
                      <a:prstGeom prst="rect">
                        <a:avLst/>
                      </a:prstGeom>
                    </p:spPr>
                  </p:pic>
                </p:oleObj>
              </mc:Fallback>
            </mc:AlternateContent>
          </a:graphicData>
        </a:graphic>
      </p:graphicFrame>
      <p:sp>
        <p:nvSpPr>
          <p:cNvPr id="10" name="TextBox 9"/>
          <p:cNvSpPr txBox="1"/>
          <p:nvPr/>
        </p:nvSpPr>
        <p:spPr>
          <a:xfrm>
            <a:off x="1052683" y="3530084"/>
            <a:ext cx="4414798" cy="369332"/>
          </a:xfrm>
          <a:prstGeom prst="rect">
            <a:avLst/>
          </a:prstGeom>
          <a:noFill/>
        </p:spPr>
        <p:txBody>
          <a:bodyPr wrap="none" rtlCol="0">
            <a:spAutoFit/>
          </a:bodyPr>
          <a:lstStyle/>
          <a:p>
            <a:r>
              <a:rPr lang="en-US" altLang="zh-CN" dirty="0"/>
              <a:t>is the value of </a:t>
            </a:r>
            <a:r>
              <a:rPr lang="en-US" altLang="zh-CN" i="1" dirty="0"/>
              <a:t>Q</a:t>
            </a:r>
            <a:r>
              <a:rPr lang="en-US" altLang="zh-CN" dirty="0"/>
              <a:t> per mole of </a:t>
            </a:r>
            <a:r>
              <a:rPr lang="en-US" altLang="zh-CN" b="1" i="1" dirty="0" err="1">
                <a:solidFill>
                  <a:srgbClr val="0000FF"/>
                </a:solidFill>
              </a:rPr>
              <a:t>i</a:t>
            </a:r>
            <a:r>
              <a:rPr lang="en-US" altLang="zh-CN" dirty="0"/>
              <a:t> in the solution </a:t>
            </a:r>
            <a:endParaRPr lang="zh-CN" altLang="en-US" dirty="0"/>
          </a:p>
        </p:txBody>
      </p:sp>
      <p:graphicFrame>
        <p:nvGraphicFramePr>
          <p:cNvPr id="12" name="对象 11"/>
          <p:cNvGraphicFramePr>
            <a:graphicFrameLocks noChangeAspect="1"/>
          </p:cNvGraphicFramePr>
          <p:nvPr>
            <p:extLst>
              <p:ext uri="{D42A27DB-BD31-4B8C-83A1-F6EECF244321}">
                <p14:modId xmlns:p14="http://schemas.microsoft.com/office/powerpoint/2010/main" val="2656784956"/>
              </p:ext>
            </p:extLst>
          </p:nvPr>
        </p:nvGraphicFramePr>
        <p:xfrm>
          <a:off x="578758" y="1805338"/>
          <a:ext cx="5933672" cy="757490"/>
        </p:xfrm>
        <a:graphic>
          <a:graphicData uri="http://schemas.openxmlformats.org/presentationml/2006/ole">
            <mc:AlternateContent xmlns:mc="http://schemas.openxmlformats.org/markup-compatibility/2006">
              <mc:Choice xmlns:v="urn:schemas-microsoft-com:vml" Requires="v">
                <p:oleObj name="Equation" r:id="rId8" imgW="4178160" imgH="533160" progId="Equation.DSMT4">
                  <p:embed/>
                </p:oleObj>
              </mc:Choice>
              <mc:Fallback>
                <p:oleObj name="Equation" r:id="rId8" imgW="4178160" imgH="533160" progId="Equation.DSMT4">
                  <p:embed/>
                  <p:pic>
                    <p:nvPicPr>
                      <p:cNvPr id="0" name=""/>
                      <p:cNvPicPr/>
                      <p:nvPr/>
                    </p:nvPicPr>
                    <p:blipFill>
                      <a:blip r:embed="rId9"/>
                      <a:stretch>
                        <a:fillRect/>
                      </a:stretch>
                    </p:blipFill>
                    <p:spPr>
                      <a:xfrm>
                        <a:off x="578758" y="1805338"/>
                        <a:ext cx="5933672" cy="757490"/>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225371638"/>
              </p:ext>
            </p:extLst>
          </p:nvPr>
        </p:nvGraphicFramePr>
        <p:xfrm>
          <a:off x="937516" y="2922616"/>
          <a:ext cx="1193800" cy="508000"/>
        </p:xfrm>
        <a:graphic>
          <a:graphicData uri="http://schemas.openxmlformats.org/presentationml/2006/ole">
            <mc:AlternateContent xmlns:mc="http://schemas.openxmlformats.org/markup-compatibility/2006">
              <mc:Choice xmlns:v="urn:schemas-microsoft-com:vml" Requires="v">
                <p:oleObj name="Equation" r:id="rId10" imgW="1193760" imgH="507960" progId="Equation.DSMT4">
                  <p:embed/>
                </p:oleObj>
              </mc:Choice>
              <mc:Fallback>
                <p:oleObj name="Equation" r:id="rId10" imgW="1193760" imgH="507960" progId="Equation.DSMT4">
                  <p:embed/>
                  <p:pic>
                    <p:nvPicPr>
                      <p:cNvPr id="0" name=""/>
                      <p:cNvPicPr/>
                      <p:nvPr/>
                    </p:nvPicPr>
                    <p:blipFill>
                      <a:blip r:embed="rId11"/>
                      <a:stretch>
                        <a:fillRect/>
                      </a:stretch>
                    </p:blipFill>
                    <p:spPr>
                      <a:xfrm>
                        <a:off x="937516" y="2922616"/>
                        <a:ext cx="1193800" cy="508000"/>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2726258834"/>
              </p:ext>
            </p:extLst>
          </p:nvPr>
        </p:nvGraphicFramePr>
        <p:xfrm>
          <a:off x="3092450" y="2944360"/>
          <a:ext cx="2813050" cy="379412"/>
        </p:xfrm>
        <a:graphic>
          <a:graphicData uri="http://schemas.openxmlformats.org/presentationml/2006/ole">
            <mc:AlternateContent xmlns:mc="http://schemas.openxmlformats.org/markup-compatibility/2006">
              <mc:Choice xmlns:v="urn:schemas-microsoft-com:vml" Requires="v">
                <p:oleObj name="Equation" r:id="rId12" imgW="1981080" imgH="266400" progId="Equation.DSMT4">
                  <p:embed/>
                </p:oleObj>
              </mc:Choice>
              <mc:Fallback>
                <p:oleObj name="Equation" r:id="rId12" imgW="1981080" imgH="266400" progId="Equation.DSMT4">
                  <p:embed/>
                  <p:pic>
                    <p:nvPicPr>
                      <p:cNvPr id="0" name="对象 11"/>
                      <p:cNvPicPr>
                        <a:picLocks noChangeAspect="1" noChangeArrowheads="1"/>
                      </p:cNvPicPr>
                      <p:nvPr/>
                    </p:nvPicPr>
                    <p:blipFill>
                      <a:blip r:embed="rId13"/>
                      <a:srcRect/>
                      <a:stretch>
                        <a:fillRect/>
                      </a:stretch>
                    </p:blipFill>
                    <p:spPr bwMode="auto">
                      <a:xfrm>
                        <a:off x="3092450" y="2944360"/>
                        <a:ext cx="281305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356332180"/>
              </p:ext>
            </p:extLst>
          </p:nvPr>
        </p:nvGraphicFramePr>
        <p:xfrm>
          <a:off x="813146" y="4222750"/>
          <a:ext cx="2433637" cy="379413"/>
        </p:xfrm>
        <a:graphic>
          <a:graphicData uri="http://schemas.openxmlformats.org/presentationml/2006/ole">
            <mc:AlternateContent xmlns:mc="http://schemas.openxmlformats.org/markup-compatibility/2006">
              <mc:Choice xmlns:v="urn:schemas-microsoft-com:vml" Requires="v">
                <p:oleObj name="Equation" r:id="rId14" imgW="1714320" imgH="266400" progId="Equation.DSMT4">
                  <p:embed/>
                </p:oleObj>
              </mc:Choice>
              <mc:Fallback>
                <p:oleObj name="Equation" r:id="rId14" imgW="1714320" imgH="266400" progId="Equation.DSMT4">
                  <p:embed/>
                  <p:pic>
                    <p:nvPicPr>
                      <p:cNvPr id="0" name="对象 13"/>
                      <p:cNvPicPr>
                        <a:picLocks noChangeAspect="1" noChangeArrowheads="1"/>
                      </p:cNvPicPr>
                      <p:nvPr/>
                    </p:nvPicPr>
                    <p:blipFill>
                      <a:blip r:embed="rId15"/>
                      <a:srcRect/>
                      <a:stretch>
                        <a:fillRect/>
                      </a:stretch>
                    </p:blipFill>
                    <p:spPr bwMode="auto">
                      <a:xfrm>
                        <a:off x="813146" y="4222750"/>
                        <a:ext cx="2433637"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1384198590"/>
              </p:ext>
            </p:extLst>
          </p:nvPr>
        </p:nvGraphicFramePr>
        <p:xfrm>
          <a:off x="709612" y="4837113"/>
          <a:ext cx="5641976" cy="433387"/>
        </p:xfrm>
        <a:graphic>
          <a:graphicData uri="http://schemas.openxmlformats.org/presentationml/2006/ole">
            <mc:AlternateContent xmlns:mc="http://schemas.openxmlformats.org/markup-compatibility/2006">
              <mc:Choice xmlns:v="urn:schemas-microsoft-com:vml" Requires="v">
                <p:oleObj name="Equation" r:id="rId16" imgW="3974760" imgH="304560" progId="Equation.DSMT4">
                  <p:embed/>
                </p:oleObj>
              </mc:Choice>
              <mc:Fallback>
                <p:oleObj name="Equation" r:id="rId16" imgW="3974760" imgH="304560" progId="Equation.DSMT4">
                  <p:embed/>
                  <p:pic>
                    <p:nvPicPr>
                      <p:cNvPr id="0" name="对象 14"/>
                      <p:cNvPicPr>
                        <a:picLocks noChangeAspect="1" noChangeArrowheads="1"/>
                      </p:cNvPicPr>
                      <p:nvPr/>
                    </p:nvPicPr>
                    <p:blipFill>
                      <a:blip r:embed="rId17"/>
                      <a:srcRect/>
                      <a:stretch>
                        <a:fillRect/>
                      </a:stretch>
                    </p:blipFill>
                    <p:spPr bwMode="auto">
                      <a:xfrm>
                        <a:off x="709612" y="4837113"/>
                        <a:ext cx="5641976"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443608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3805" y="1257300"/>
            <a:ext cx="6701470" cy="464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itle 1"/>
          <p:cNvSpPr txBox="1">
            <a:spLocks/>
          </p:cNvSpPr>
          <p:nvPr/>
        </p:nvSpPr>
        <p:spPr bwMode="auto">
          <a:xfrm>
            <a:off x="1333501" y="76200"/>
            <a:ext cx="4473072" cy="779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dirty="0">
                <a:solidFill>
                  <a:srgbClr val="FF0000"/>
                </a:solidFill>
                <a:latin typeface="Arial" charset="0"/>
                <a:cs typeface="Arial" charset="0"/>
              </a:rPr>
              <a:t>G of a Solution</a:t>
            </a:r>
            <a:endParaRPr lang="en-US" dirty="0">
              <a:solidFill>
                <a:srgbClr val="FF0000"/>
              </a:solidFill>
            </a:endParaRPr>
          </a:p>
        </p:txBody>
      </p:sp>
    </p:spTree>
    <p:extLst>
      <p:ext uri="{BB962C8B-B14F-4D97-AF65-F5344CB8AC3E}">
        <p14:creationId xmlns:p14="http://schemas.microsoft.com/office/powerpoint/2010/main" val="3172011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bwMode="auto">
          <a:xfrm>
            <a:off x="1180333" y="162322"/>
            <a:ext cx="7197725" cy="733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l-GR" sz="3200" b="1" dirty="0">
                <a:solidFill>
                  <a:srgbClr val="FF0000"/>
                </a:solidFill>
                <a:latin typeface="Sylfaen"/>
                <a:cs typeface="Arial" charset="0"/>
              </a:rPr>
              <a:t>Δ</a:t>
            </a:r>
            <a:r>
              <a:rPr lang="en-US" sz="3200" b="1" dirty="0">
                <a:solidFill>
                  <a:srgbClr val="FF0000"/>
                </a:solidFill>
                <a:latin typeface="Arial" charset="0"/>
                <a:cs typeface="Arial" charset="0"/>
              </a:rPr>
              <a:t>G </a:t>
            </a:r>
            <a:r>
              <a:rPr lang="en-US" altLang="zh-CN" sz="3200" b="1" dirty="0">
                <a:solidFill>
                  <a:srgbClr val="FF0000"/>
                </a:solidFill>
                <a:latin typeface="Arial" charset="0"/>
                <a:cs typeface="Arial" charset="0"/>
              </a:rPr>
              <a:t>due to</a:t>
            </a:r>
            <a:r>
              <a:rPr lang="en-US" sz="3200" b="1" dirty="0">
                <a:solidFill>
                  <a:srgbClr val="FF0000"/>
                </a:solidFill>
                <a:latin typeface="Arial" charset="0"/>
                <a:cs typeface="Arial" charset="0"/>
              </a:rPr>
              <a:t> Formation of a Solution</a:t>
            </a:r>
            <a:endParaRPr lang="en-US" sz="3200" dirty="0">
              <a:solidFill>
                <a:srgbClr val="FF0000"/>
              </a:solidFill>
            </a:endParaRPr>
          </a:p>
        </p:txBody>
      </p:sp>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045" y="1296798"/>
            <a:ext cx="7974013" cy="470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67789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bwMode="auto">
          <a:xfrm>
            <a:off x="896937" y="134938"/>
            <a:ext cx="719772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l-GR" sz="3200" b="1" dirty="0">
                <a:solidFill>
                  <a:srgbClr val="FF0000"/>
                </a:solidFill>
                <a:latin typeface="Sylfaen"/>
                <a:cs typeface="Arial" charset="0"/>
              </a:rPr>
              <a:t>Δ</a:t>
            </a:r>
            <a:r>
              <a:rPr lang="en-US" sz="3200" b="1" dirty="0">
                <a:solidFill>
                  <a:srgbClr val="FF0000"/>
                </a:solidFill>
                <a:latin typeface="Arial" charset="0"/>
                <a:cs typeface="Arial" charset="0"/>
              </a:rPr>
              <a:t>G </a:t>
            </a:r>
            <a:r>
              <a:rPr lang="en-US" altLang="zh-CN" sz="3200" b="1" dirty="0">
                <a:solidFill>
                  <a:srgbClr val="FF0000"/>
                </a:solidFill>
                <a:latin typeface="Arial" charset="0"/>
                <a:cs typeface="Arial" charset="0"/>
              </a:rPr>
              <a:t>due to</a:t>
            </a:r>
            <a:r>
              <a:rPr lang="en-US" sz="3200" b="1" dirty="0">
                <a:solidFill>
                  <a:srgbClr val="FF0000"/>
                </a:solidFill>
                <a:latin typeface="Arial" charset="0"/>
                <a:cs typeface="Arial" charset="0"/>
              </a:rPr>
              <a:t> Formation of a Solution</a:t>
            </a:r>
            <a:endParaRPr lang="en-US" sz="3200" dirty="0">
              <a:solidFill>
                <a:srgbClr val="FF0000"/>
              </a:solidFill>
            </a:endParaRPr>
          </a:p>
        </p:txBody>
      </p:sp>
      <p:sp>
        <p:nvSpPr>
          <p:cNvPr id="11" name="矩形 10"/>
          <p:cNvSpPr/>
          <p:nvPr/>
        </p:nvSpPr>
        <p:spPr>
          <a:xfrm>
            <a:off x="228600" y="1524000"/>
            <a:ext cx="7006586" cy="646331"/>
          </a:xfrm>
          <a:prstGeom prst="rect">
            <a:avLst/>
          </a:prstGeom>
        </p:spPr>
        <p:txBody>
          <a:bodyPr wrap="square">
            <a:spAutoFit/>
          </a:bodyPr>
          <a:lstStyle/>
          <a:p>
            <a:r>
              <a:rPr lang="en-US" altLang="zh-CN" dirty="0"/>
              <a:t>If </a:t>
            </a:r>
            <a:r>
              <a:rPr lang="en-US" altLang="zh-CN" i="1" dirty="0" err="1"/>
              <a:t>n</a:t>
            </a:r>
            <a:r>
              <a:rPr lang="en-US" altLang="zh-CN" i="1" baseline="-25000" dirty="0" err="1"/>
              <a:t>A</a:t>
            </a:r>
            <a:r>
              <a:rPr lang="en-US" altLang="zh-CN" dirty="0"/>
              <a:t> moles of </a:t>
            </a:r>
            <a:r>
              <a:rPr lang="en-US" altLang="zh-CN" i="1" dirty="0"/>
              <a:t>A </a:t>
            </a:r>
            <a:r>
              <a:rPr lang="en-US" altLang="zh-CN" dirty="0"/>
              <a:t>and </a:t>
            </a:r>
            <a:r>
              <a:rPr lang="en-US" altLang="zh-CN" i="1" dirty="0" err="1"/>
              <a:t>n</a:t>
            </a:r>
            <a:r>
              <a:rPr lang="en-US" altLang="zh-CN" i="1" baseline="-25000" dirty="0" err="1"/>
              <a:t>B</a:t>
            </a:r>
            <a:r>
              <a:rPr lang="en-US" altLang="zh-CN" dirty="0"/>
              <a:t> moles of </a:t>
            </a:r>
            <a:r>
              <a:rPr lang="en-US" altLang="zh-CN" i="1" dirty="0"/>
              <a:t>B </a:t>
            </a:r>
            <a:r>
              <a:rPr lang="en-US" altLang="zh-CN" dirty="0"/>
              <a:t>are mixed to form a solution at constant temperature and pressure,</a:t>
            </a:r>
            <a:endParaRPr lang="zh-CN" altLang="zh-CN" dirty="0"/>
          </a:p>
        </p:txBody>
      </p:sp>
      <p:sp>
        <p:nvSpPr>
          <p:cNvPr id="14" name="矩形 13"/>
          <p:cNvSpPr/>
          <p:nvPr/>
        </p:nvSpPr>
        <p:spPr>
          <a:xfrm>
            <a:off x="304800" y="3713623"/>
            <a:ext cx="4191000" cy="646331"/>
          </a:xfrm>
          <a:prstGeom prst="rect">
            <a:avLst/>
          </a:prstGeom>
        </p:spPr>
        <p:txBody>
          <a:bodyPr wrap="square">
            <a:spAutoFit/>
          </a:bodyPr>
          <a:lstStyle/>
          <a:p>
            <a:r>
              <a:rPr lang="en-US" altLang="zh-CN" dirty="0"/>
              <a:t>The change in the Gibbs free energy caused by the mixing process</a:t>
            </a:r>
            <a:endParaRPr lang="zh-CN" altLang="en-US" dirty="0"/>
          </a:p>
        </p:txBody>
      </p:sp>
      <p:sp>
        <p:nvSpPr>
          <p:cNvPr id="16" name="TextBox 15"/>
          <p:cNvSpPr txBox="1"/>
          <p:nvPr/>
        </p:nvSpPr>
        <p:spPr>
          <a:xfrm>
            <a:off x="5729086" y="3464091"/>
            <a:ext cx="2772297" cy="369332"/>
          </a:xfrm>
          <a:prstGeom prst="rect">
            <a:avLst/>
          </a:prstGeom>
          <a:noFill/>
        </p:spPr>
        <p:txBody>
          <a:bodyPr wrap="none" rtlCol="0">
            <a:spAutoFit/>
          </a:bodyPr>
          <a:lstStyle/>
          <a:p>
            <a:r>
              <a:rPr lang="en-US" altLang="zh-CN" dirty="0"/>
              <a:t>Substitution from Eq.(9.28) </a:t>
            </a:r>
            <a:endParaRPr lang="zh-CN" altLang="en-US" dirty="0"/>
          </a:p>
        </p:txBody>
      </p:sp>
      <p:sp>
        <p:nvSpPr>
          <p:cNvPr id="17" name="圆角矩形 16"/>
          <p:cNvSpPr/>
          <p:nvPr/>
        </p:nvSpPr>
        <p:spPr>
          <a:xfrm>
            <a:off x="5729086" y="3464091"/>
            <a:ext cx="3084537" cy="750332"/>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237971" y="2262095"/>
            <a:ext cx="4192173" cy="369332"/>
          </a:xfrm>
          <a:prstGeom prst="rect">
            <a:avLst/>
          </a:prstGeom>
          <a:noFill/>
        </p:spPr>
        <p:txBody>
          <a:bodyPr wrap="none" rtlCol="0">
            <a:spAutoFit/>
          </a:bodyPr>
          <a:lstStyle/>
          <a:p>
            <a:r>
              <a:rPr lang="en-US" altLang="zh-CN" dirty="0"/>
              <a:t>The Gibbs free energy before mixing =</a:t>
            </a:r>
            <a:endParaRPr lang="zh-CN" altLang="en-US" baseline="30000" dirty="0"/>
          </a:p>
        </p:txBody>
      </p:sp>
      <mc:AlternateContent xmlns:mc="http://schemas.openxmlformats.org/markup-compatibility/2006" xmlns:a14="http://schemas.microsoft.com/office/drawing/2010/main">
        <mc:Choice Requires="a14">
          <p:sp>
            <p:nvSpPr>
              <p:cNvPr id="3" name="矩形 2"/>
              <p:cNvSpPr/>
              <p:nvPr/>
            </p:nvSpPr>
            <p:spPr>
              <a:xfrm>
                <a:off x="4202850" y="2233610"/>
                <a:ext cx="157568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𝑛</m:t>
                          </m:r>
                        </m:e>
                        <m:sub>
                          <m:r>
                            <a:rPr lang="zh-CN" altLang="en-US" i="1">
                              <a:latin typeface="Cambria Math" panose="02040503050406030204" pitchFamily="18" charset="0"/>
                            </a:rPr>
                            <m:t>𝐴</m:t>
                          </m:r>
                        </m:sub>
                      </m:sSub>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𝐺</m:t>
                          </m:r>
                        </m:e>
                        <m:sub>
                          <m:r>
                            <a:rPr lang="zh-CN" altLang="en-US" i="1">
                              <a:latin typeface="Cambria Math" panose="02040503050406030204" pitchFamily="18" charset="0"/>
                            </a:rPr>
                            <m:t>𝐴</m:t>
                          </m:r>
                        </m:sub>
                        <m:sup>
                          <m:r>
                            <a:rPr lang="zh-CN" altLang="en-US" i="1">
                              <a:latin typeface="Cambria Math" panose="02040503050406030204" pitchFamily="18" charset="0"/>
                            </a:rPr>
                            <m:t>𝑜</m:t>
                          </m:r>
                        </m:sup>
                      </m:sSubSup>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𝑛</m:t>
                          </m:r>
                        </m:e>
                        <m:sub>
                          <m:r>
                            <a:rPr lang="zh-CN" altLang="en-US" i="1">
                              <a:latin typeface="Cambria Math" panose="02040503050406030204" pitchFamily="18" charset="0"/>
                            </a:rPr>
                            <m:t>𝐵</m:t>
                          </m:r>
                        </m:sub>
                      </m:sSub>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𝐺</m:t>
                          </m:r>
                        </m:e>
                        <m:sub>
                          <m:r>
                            <a:rPr lang="zh-CN" altLang="en-US" i="1">
                              <a:latin typeface="Cambria Math" panose="02040503050406030204" pitchFamily="18" charset="0"/>
                            </a:rPr>
                            <m:t>𝐵</m:t>
                          </m:r>
                        </m:sub>
                        <m:sup>
                          <m:r>
                            <a:rPr lang="zh-CN" altLang="en-US" i="1">
                              <a:latin typeface="Cambria Math" panose="02040503050406030204" pitchFamily="18" charset="0"/>
                            </a:rPr>
                            <m:t>𝑜</m:t>
                          </m:r>
                        </m:sup>
                      </m:sSubSup>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4202850" y="2233610"/>
                <a:ext cx="1575688" cy="369332"/>
              </a:xfrm>
              <a:prstGeom prst="rect">
                <a:avLst/>
              </a:prstGeom>
              <a:blipFill rotWithShape="0">
                <a:blip r:embed="rId2"/>
                <a:stretch>
                  <a:fillRect b="-1639"/>
                </a:stretch>
              </a:blipFill>
            </p:spPr>
            <p:txBody>
              <a:bodyPr/>
              <a:lstStyle/>
              <a:p>
                <a:r>
                  <a:rPr lang="zh-CN" altLang="en-US">
                    <a:noFill/>
                  </a:rPr>
                  <a:t> </a:t>
                </a:r>
              </a:p>
            </p:txBody>
          </p:sp>
        </mc:Fallback>
      </mc:AlternateContent>
      <p:sp>
        <p:nvSpPr>
          <p:cNvPr id="19" name="文本框 18"/>
          <p:cNvSpPr txBox="1"/>
          <p:nvPr/>
        </p:nvSpPr>
        <p:spPr>
          <a:xfrm>
            <a:off x="214830" y="2673340"/>
            <a:ext cx="3935693" cy="369332"/>
          </a:xfrm>
          <a:prstGeom prst="rect">
            <a:avLst/>
          </a:prstGeom>
          <a:noFill/>
        </p:spPr>
        <p:txBody>
          <a:bodyPr wrap="none" rtlCol="0">
            <a:spAutoFit/>
          </a:bodyPr>
          <a:lstStyle/>
          <a:p>
            <a:r>
              <a:rPr lang="en-US" altLang="zh-CN" dirty="0"/>
              <a:t>The Gibbs free energy after mixing =</a:t>
            </a:r>
            <a:endParaRPr lang="zh-CN" altLang="en-US" baseline="30000" dirty="0"/>
          </a:p>
        </p:txBody>
      </p:sp>
      <mc:AlternateContent xmlns:mc="http://schemas.openxmlformats.org/markup-compatibility/2006" xmlns:a14="http://schemas.microsoft.com/office/drawing/2010/main">
        <mc:Choice Requires="a14">
          <p:sp>
            <p:nvSpPr>
              <p:cNvPr id="4" name="矩形 3"/>
              <p:cNvSpPr/>
              <p:nvPr/>
            </p:nvSpPr>
            <p:spPr>
              <a:xfrm>
                <a:off x="4058421" y="2637365"/>
                <a:ext cx="1548501" cy="3699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𝑛</m:t>
                          </m:r>
                        </m:e>
                        <m:sub>
                          <m:r>
                            <a:rPr lang="zh-CN" altLang="en-US" i="1">
                              <a:latin typeface="Cambria Math" panose="02040503050406030204" pitchFamily="18" charset="0"/>
                            </a:rPr>
                            <m:t>𝐴</m:t>
                          </m:r>
                        </m:sub>
                      </m:sSub>
                      <m:sSub>
                        <m:sSubPr>
                          <m:ctrlPr>
                            <a:rPr lang="zh-CN" altLang="en-US" i="1">
                              <a:latin typeface="Cambria Math" panose="02040503050406030204" pitchFamily="18" charset="0"/>
                            </a:rPr>
                          </m:ctrlPr>
                        </m:sSub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𝐺</m:t>
                              </m:r>
                            </m:e>
                          </m:acc>
                        </m:e>
                        <m:sub>
                          <m:r>
                            <a:rPr lang="zh-CN" altLang="en-US" i="1">
                              <a:latin typeface="Cambria Math" panose="02040503050406030204" pitchFamily="18" charset="0"/>
                            </a:rPr>
                            <m:t>𝐴</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𝑛</m:t>
                          </m:r>
                        </m:e>
                        <m:sub>
                          <m:r>
                            <a:rPr lang="zh-CN" altLang="en-US" i="1">
                              <a:latin typeface="Cambria Math" panose="02040503050406030204" pitchFamily="18" charset="0"/>
                            </a:rPr>
                            <m:t>𝐵</m:t>
                          </m:r>
                        </m:sub>
                      </m:sSub>
                      <m:sSub>
                        <m:sSubPr>
                          <m:ctrlPr>
                            <a:rPr lang="zh-CN" altLang="en-US" i="1">
                              <a:latin typeface="Cambria Math" panose="02040503050406030204" pitchFamily="18" charset="0"/>
                            </a:rPr>
                          </m:ctrlPr>
                        </m:sSub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𝐺</m:t>
                              </m:r>
                            </m:e>
                          </m:acc>
                        </m:e>
                        <m:sub>
                          <m:r>
                            <a:rPr lang="en-US" altLang="zh-CN" b="0" i="1" smtClean="0">
                              <a:latin typeface="Cambria Math" panose="02040503050406030204" pitchFamily="18" charset="0"/>
                            </a:rPr>
                            <m:t>𝐵</m:t>
                          </m:r>
                        </m:sub>
                      </m:sSub>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4058421" y="2637365"/>
                <a:ext cx="1548501" cy="369909"/>
              </a:xfrm>
              <a:prstGeom prst="rect">
                <a:avLst/>
              </a:prstGeom>
              <a:blipFill rotWithShape="0">
                <a:blip r:embed="rId3"/>
                <a:stretch>
                  <a:fillRect r="-7480" b="-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49324" y="4641936"/>
                <a:ext cx="3837845" cy="6244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zh-CN" altLang="en-US" sz="1600" i="1">
                              <a:latin typeface="Cambria Math" panose="02040503050406030204" pitchFamily="18" charset="0"/>
                            </a:rPr>
                          </m:ctrlPr>
                        </m:mPr>
                        <m:mr>
                          <m:e>
                            <m:r>
                              <a:rPr lang="zh-CN" altLang="en-US" sz="1600" i="1">
                                <a:latin typeface="Cambria Math" panose="02040503050406030204" pitchFamily="18" charset="0"/>
                              </a:rPr>
                              <m:t>𝛥</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𝐺</m:t>
                                </m:r>
                              </m:e>
                              <m:sup>
                                <m:r>
                                  <a:rPr lang="zh-CN" altLang="en-US" sz="1600" i="1">
                                    <a:latin typeface="Cambria Math" panose="02040503050406030204" pitchFamily="18" charset="0"/>
                                  </a:rPr>
                                  <m:t>𝑀</m:t>
                                </m:r>
                              </m:sup>
                            </m:sSup>
                            <m:r>
                              <a:rPr lang="zh-CN" altLang="en-US" sz="1600" i="0">
                                <a:latin typeface="Cambria Math" panose="02040503050406030204" pitchFamily="18" charset="0"/>
                              </a:rPr>
                              <m:t>=</m:t>
                            </m:r>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𝐴</m:t>
                                    </m:r>
                                  </m:sub>
                                </m:sSub>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𝐺</m:t>
                                        </m:r>
                                      </m:e>
                                    </m:acc>
                                  </m:e>
                                  <m:sub>
                                    <m:r>
                                      <a:rPr lang="zh-CN" altLang="en-US" sz="1600" i="1">
                                        <a:latin typeface="Cambria Math" panose="02040503050406030204" pitchFamily="18" charset="0"/>
                                      </a:rPr>
                                      <m:t>𝐴</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𝐵</m:t>
                                    </m:r>
                                  </m:sub>
                                </m:sSub>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𝐺</m:t>
                                        </m:r>
                                      </m:e>
                                    </m:acc>
                                  </m:e>
                                  <m:sub>
                                    <m:r>
                                      <a:rPr lang="zh-CN" altLang="en-US" sz="1600" i="1">
                                        <a:latin typeface="Cambria Math" panose="02040503050406030204" pitchFamily="18" charset="0"/>
                                      </a:rPr>
                                      <m:t>𝐵</m:t>
                                    </m:r>
                                  </m:sub>
                                </m:sSub>
                              </m:e>
                            </m:d>
                            <m:r>
                              <a:rPr lang="zh-CN" altLang="en-US" sz="1600" i="0">
                                <a:latin typeface="Cambria Math" panose="02040503050406030204" pitchFamily="18" charset="0"/>
                              </a:rPr>
                              <m:t>−</m:t>
                            </m:r>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𝐴</m:t>
                                    </m:r>
                                  </m:sub>
                                </m:sSub>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𝐺</m:t>
                                    </m:r>
                                  </m:e>
                                  <m:sub>
                                    <m:r>
                                      <a:rPr lang="zh-CN" altLang="en-US" sz="1600" i="1">
                                        <a:latin typeface="Cambria Math" panose="02040503050406030204" pitchFamily="18" charset="0"/>
                                      </a:rPr>
                                      <m:t>𝐴</m:t>
                                    </m:r>
                                  </m:sub>
                                  <m:sup>
                                    <m:r>
                                      <a:rPr lang="zh-CN" altLang="en-US" sz="1600" i="1">
                                        <a:latin typeface="Cambria Math" panose="02040503050406030204" pitchFamily="18" charset="0"/>
                                      </a:rPr>
                                      <m:t>𝑜</m:t>
                                    </m:r>
                                  </m:sup>
                                </m:sSubSup>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𝐵</m:t>
                                    </m:r>
                                  </m:sub>
                                </m:sSub>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𝐺</m:t>
                                    </m:r>
                                  </m:e>
                                  <m:sub>
                                    <m:r>
                                      <a:rPr lang="zh-CN" altLang="en-US" sz="1600" i="1">
                                        <a:latin typeface="Cambria Math" panose="02040503050406030204" pitchFamily="18" charset="0"/>
                                      </a:rPr>
                                      <m:t>𝐵</m:t>
                                    </m:r>
                                  </m:sub>
                                  <m:sup>
                                    <m:r>
                                      <a:rPr lang="zh-CN" altLang="en-US" sz="1600" i="1">
                                        <a:latin typeface="Cambria Math" panose="02040503050406030204" pitchFamily="18" charset="0"/>
                                      </a:rPr>
                                      <m:t>𝑜</m:t>
                                    </m:r>
                                  </m:sup>
                                </m:sSubSup>
                              </m:e>
                            </m:d>
                          </m:e>
                        </m:mr>
                        <m:mr>
                          <m:e>
                            <m:r>
                              <m:rPr>
                                <m:nor/>
                              </m:rPr>
                              <a:rPr lang="zh-CN" altLang="en-US" sz="1600" i="1">
                                <a:latin typeface="Cambria Math" panose="02040503050406030204" pitchFamily="18" charset="0"/>
                              </a:rPr>
                              <m:t>         =</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𝐴</m:t>
                                </m:r>
                              </m:sub>
                            </m:sSub>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𝐺</m:t>
                                        </m:r>
                                      </m:e>
                                    </m:acc>
                                  </m:e>
                                  <m:sub>
                                    <m:r>
                                      <a:rPr lang="zh-CN" altLang="en-US" sz="1600" i="1">
                                        <a:latin typeface="Cambria Math" panose="02040503050406030204" pitchFamily="18" charset="0"/>
                                      </a:rPr>
                                      <m:t>𝐴</m:t>
                                    </m:r>
                                  </m:sub>
                                </m:sSub>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𝐺</m:t>
                                    </m:r>
                                  </m:e>
                                  <m:sub>
                                    <m:r>
                                      <a:rPr lang="zh-CN" altLang="en-US" sz="1600" i="1">
                                        <a:latin typeface="Cambria Math" panose="02040503050406030204" pitchFamily="18" charset="0"/>
                                      </a:rPr>
                                      <m:t>𝐴</m:t>
                                    </m:r>
                                  </m:sub>
                                  <m:sup>
                                    <m:r>
                                      <a:rPr lang="zh-CN" altLang="en-US" sz="1600" i="1">
                                        <a:latin typeface="Cambria Math" panose="02040503050406030204" pitchFamily="18" charset="0"/>
                                      </a:rPr>
                                      <m:t>𝑜</m:t>
                                    </m:r>
                                  </m:sup>
                                </m:sSubSup>
                              </m:e>
                            </m:d>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𝐵</m:t>
                                </m:r>
                              </m:sub>
                            </m:sSub>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𝐺</m:t>
                                        </m:r>
                                      </m:e>
                                    </m:acc>
                                  </m:e>
                                  <m:sub>
                                    <m:r>
                                      <a:rPr lang="zh-CN" altLang="en-US" sz="1600" i="1">
                                        <a:latin typeface="Cambria Math" panose="02040503050406030204" pitchFamily="18" charset="0"/>
                                      </a:rPr>
                                      <m:t>𝐵</m:t>
                                    </m:r>
                                  </m:sub>
                                </m:sSub>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𝐺</m:t>
                                    </m:r>
                                  </m:e>
                                  <m:sub>
                                    <m:r>
                                      <a:rPr lang="zh-CN" altLang="en-US" sz="1600" i="1">
                                        <a:latin typeface="Cambria Math" panose="02040503050406030204" pitchFamily="18" charset="0"/>
                                      </a:rPr>
                                      <m:t>𝐵</m:t>
                                    </m:r>
                                  </m:sub>
                                  <m:sup>
                                    <m:r>
                                      <a:rPr lang="zh-CN" altLang="en-US" sz="1600" i="1">
                                        <a:latin typeface="Cambria Math" panose="02040503050406030204" pitchFamily="18" charset="0"/>
                                      </a:rPr>
                                      <m:t>𝑜</m:t>
                                    </m:r>
                                  </m:sup>
                                </m:sSubSup>
                              </m:e>
                            </m:d>
                          </m:e>
                        </m:mr>
                      </m:m>
                    </m:oMath>
                  </m:oMathPara>
                </a14:m>
                <a:endParaRPr lang="zh-CN" altLang="en-US" sz="1600" dirty="0"/>
              </a:p>
            </p:txBody>
          </p:sp>
        </mc:Choice>
        <mc:Fallback xmlns="">
          <p:sp>
            <p:nvSpPr>
              <p:cNvPr id="5" name="矩形 4"/>
              <p:cNvSpPr>
                <a:spLocks noRot="1" noChangeAspect="1" noMove="1" noResize="1" noEditPoints="1" noAdjustHandles="1" noChangeArrowheads="1" noChangeShapeType="1" noTextEdit="1"/>
              </p:cNvSpPr>
              <p:nvPr/>
            </p:nvSpPr>
            <p:spPr>
              <a:xfrm>
                <a:off x="149324" y="4641936"/>
                <a:ext cx="3837845" cy="624402"/>
              </a:xfrm>
              <a:prstGeom prst="rect">
                <a:avLst/>
              </a:prstGeom>
              <a:blipFill rotWithShape="0">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5051417" y="4591644"/>
                <a:ext cx="2438423" cy="37471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𝛥</m:t>
                      </m:r>
                      <m:sSup>
                        <m:sSupPr>
                          <m:ctrlPr>
                            <a:rPr lang="zh-CN" altLang="en-US" i="1">
                              <a:latin typeface="Cambria Math" panose="02040503050406030204" pitchFamily="18" charset="0"/>
                            </a:rPr>
                          </m:ctrlPr>
                        </m:sSupPr>
                        <m:e>
                          <m:r>
                            <a:rPr lang="zh-CN" altLang="en-US" i="1">
                              <a:latin typeface="Cambria Math" panose="02040503050406030204" pitchFamily="18" charset="0"/>
                            </a:rPr>
                            <m:t>𝐺</m:t>
                          </m:r>
                        </m:e>
                        <m:sup>
                          <m:r>
                            <a:rPr lang="zh-CN" altLang="en-US" i="1">
                              <a:latin typeface="Cambria Math" panose="02040503050406030204" pitchFamily="18" charset="0"/>
                            </a:rPr>
                            <m:t>𝑀</m:t>
                          </m:r>
                        </m:sup>
                      </m:sSup>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𝑛</m:t>
                          </m:r>
                        </m:e>
                        <m:sub>
                          <m:r>
                            <a:rPr lang="zh-CN" altLang="en-US" i="1">
                              <a:latin typeface="Cambria Math" panose="02040503050406030204" pitchFamily="18" charset="0"/>
                            </a:rPr>
                            <m:t>𝐴</m:t>
                          </m:r>
                        </m:sub>
                      </m:sSub>
                      <m:sSubSup>
                        <m:sSubSupPr>
                          <m:ctrlPr>
                            <a:rPr lang="zh-CN" altLang="en-US" i="1">
                              <a:latin typeface="Cambria Math" panose="02040503050406030204" pitchFamily="18" charset="0"/>
                            </a:rPr>
                          </m:ctrlPr>
                        </m:sSubSup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𝐺</m:t>
                              </m:r>
                            </m:e>
                          </m:acc>
                        </m:e>
                        <m:sub>
                          <m:r>
                            <a:rPr lang="zh-CN" altLang="en-US" i="1">
                              <a:latin typeface="Cambria Math" panose="02040503050406030204" pitchFamily="18" charset="0"/>
                            </a:rPr>
                            <m:t>𝐴</m:t>
                          </m:r>
                        </m:sub>
                        <m:sup>
                          <m:r>
                            <a:rPr lang="zh-CN" altLang="en-US" i="1">
                              <a:latin typeface="Cambria Math" panose="02040503050406030204" pitchFamily="18" charset="0"/>
                            </a:rPr>
                            <m:t>𝑀</m:t>
                          </m:r>
                        </m:sup>
                      </m:sSubSup>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𝑛</m:t>
                          </m:r>
                        </m:e>
                        <m:sub>
                          <m:r>
                            <a:rPr lang="zh-CN" altLang="en-US" i="1">
                              <a:latin typeface="Cambria Math" panose="02040503050406030204" pitchFamily="18" charset="0"/>
                            </a:rPr>
                            <m:t>𝐵</m:t>
                          </m:r>
                        </m:sub>
                      </m:sSub>
                      <m:sSubSup>
                        <m:sSubSupPr>
                          <m:ctrlPr>
                            <a:rPr lang="zh-CN" altLang="en-US" i="1">
                              <a:latin typeface="Cambria Math" panose="02040503050406030204" pitchFamily="18" charset="0"/>
                            </a:rPr>
                          </m:ctrlPr>
                        </m:sSubSup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𝐺</m:t>
                              </m:r>
                            </m:e>
                          </m:acc>
                        </m:e>
                        <m:sub>
                          <m:r>
                            <a:rPr lang="zh-CN" altLang="en-US" i="1">
                              <a:latin typeface="Cambria Math" panose="02040503050406030204" pitchFamily="18" charset="0"/>
                            </a:rPr>
                            <m:t>𝐵</m:t>
                          </m:r>
                        </m:sub>
                        <m:sup>
                          <m:r>
                            <a:rPr lang="zh-CN" altLang="en-US" i="1">
                              <a:latin typeface="Cambria Math" panose="02040503050406030204" pitchFamily="18" charset="0"/>
                            </a:rPr>
                            <m:t>𝑀</m:t>
                          </m:r>
                        </m:sup>
                      </m:sSubSup>
                    </m:oMath>
                  </m:oMathPara>
                </a14:m>
                <a:endParaRPr lang="zh-CN" altLang="en-US" dirty="0"/>
              </a:p>
            </p:txBody>
          </p:sp>
        </mc:Choice>
        <mc:Fallback xmlns="">
          <p:sp>
            <p:nvSpPr>
              <p:cNvPr id="6" name="矩形 5"/>
              <p:cNvSpPr>
                <a:spLocks noRot="1" noChangeAspect="1" noMove="1" noResize="1" noEditPoints="1" noAdjustHandles="1" noChangeArrowheads="1" noChangeShapeType="1" noTextEdit="1"/>
              </p:cNvSpPr>
              <p:nvPr/>
            </p:nvSpPr>
            <p:spPr>
              <a:xfrm>
                <a:off x="5051417" y="4591644"/>
                <a:ext cx="2438423" cy="374718"/>
              </a:xfrm>
              <a:prstGeom prst="rect">
                <a:avLst/>
              </a:prstGeom>
              <a:blipFill rotWithShape="0">
                <a:blip r:embed="rId5"/>
                <a:stretch>
                  <a:fillRect r="-2250" b="-16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5837197" y="3754701"/>
                <a:ext cx="2751715" cy="3860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𝛥</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𝐺</m:t>
                          </m:r>
                        </m:e>
                        <m:sub>
                          <m:r>
                            <a:rPr lang="zh-CN" altLang="en-US" i="1">
                              <a:latin typeface="Cambria Math" panose="02040503050406030204" pitchFamily="18" charset="0"/>
                            </a:rPr>
                            <m:t>𝑖</m:t>
                          </m:r>
                        </m:sub>
                        <m:sup>
                          <m:r>
                            <a:rPr lang="zh-CN" altLang="en-US" i="1">
                              <a:latin typeface="Cambria Math" panose="02040503050406030204" pitchFamily="18" charset="0"/>
                            </a:rPr>
                            <m:t>𝑀</m:t>
                          </m:r>
                        </m:sup>
                      </m:sSubSup>
                      <m:r>
                        <a:rPr lang="zh-CN" altLang="en-US" i="0">
                          <a:latin typeface="Cambria Math" panose="02040503050406030204" pitchFamily="18" charset="0"/>
                        </a:rPr>
                        <m:t>=</m:t>
                      </m:r>
                      <m:sSub>
                        <m:sSubPr>
                          <m:ctrlPr>
                            <a:rPr lang="zh-CN" altLang="en-US" i="1">
                              <a:latin typeface="Cambria Math" panose="02040503050406030204" pitchFamily="18" charset="0"/>
                            </a:rPr>
                          </m:ctrlPr>
                        </m:sSub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𝐺</m:t>
                              </m:r>
                            </m:e>
                          </m:acc>
                        </m:e>
                        <m:sub>
                          <m:r>
                            <a:rPr lang="zh-CN" altLang="en-US" i="1">
                              <a:latin typeface="Cambria Math" panose="02040503050406030204" pitchFamily="18" charset="0"/>
                            </a:rPr>
                            <m:t>𝑖</m:t>
                          </m:r>
                        </m:sub>
                      </m:sSub>
                      <m:r>
                        <a:rPr lang="zh-CN" altLang="en-US" i="0">
                          <a:latin typeface="Cambria Math" panose="02040503050406030204" pitchFamily="18" charset="0"/>
                        </a:rPr>
                        <m:t>−</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𝐺</m:t>
                          </m:r>
                        </m:e>
                        <m:sub>
                          <m:r>
                            <a:rPr lang="zh-CN" altLang="en-US" i="1">
                              <a:latin typeface="Cambria Math" panose="02040503050406030204" pitchFamily="18" charset="0"/>
                            </a:rPr>
                            <m:t>𝑖</m:t>
                          </m:r>
                        </m:sub>
                        <m:sup>
                          <m:r>
                            <a:rPr lang="zh-CN" altLang="en-US" i="0">
                              <a:latin typeface="Cambria Math" panose="02040503050406030204" pitchFamily="18" charset="0"/>
                            </a:rPr>
                            <m:t>0</m:t>
                          </m:r>
                        </m:sup>
                      </m:sSubSup>
                      <m:r>
                        <a:rPr lang="zh-CN" altLang="en-US" i="0">
                          <a:latin typeface="Cambria Math" panose="02040503050406030204" pitchFamily="18" charset="0"/>
                        </a:rPr>
                        <m:t>=</m:t>
                      </m:r>
                      <m:r>
                        <a:rPr lang="zh-CN" altLang="en-US" i="1">
                          <a:latin typeface="Cambria Math" panose="02040503050406030204" pitchFamily="18" charset="0"/>
                        </a:rPr>
                        <m:t>𝑅𝑇</m:t>
                      </m:r>
                      <m:r>
                        <m:rPr>
                          <m:sty m:val="p"/>
                        </m:rPr>
                        <a:rPr lang="zh-CN" altLang="en-US" i="0">
                          <a:latin typeface="Cambria Math" panose="02040503050406030204" pitchFamily="18" charset="0"/>
                        </a:rPr>
                        <m:t>ln</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1">
                              <a:latin typeface="Cambria Math" panose="02040503050406030204" pitchFamily="18" charset="0"/>
                            </a:rPr>
                            <m:t>𝑖</m:t>
                          </m:r>
                        </m:sub>
                      </m:sSub>
                    </m:oMath>
                  </m:oMathPara>
                </a14:m>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5837197" y="3754701"/>
                <a:ext cx="2751715" cy="386068"/>
              </a:xfrm>
              <a:prstGeom prst="rect">
                <a:avLst/>
              </a:prstGeom>
              <a:blipFill rotWithShape="0">
                <a:blip r:embed="rId6"/>
                <a:stretch>
                  <a:fillRect b="-4762"/>
                </a:stretch>
              </a:blipFill>
            </p:spPr>
            <p:txBody>
              <a:bodyPr/>
              <a:lstStyle/>
              <a:p>
                <a:r>
                  <a:rPr lang="zh-CN" altLang="en-US">
                    <a:noFill/>
                  </a:rPr>
                  <a:t> </a:t>
                </a:r>
              </a:p>
            </p:txBody>
          </p:sp>
        </mc:Fallback>
      </mc:AlternateContent>
      <p:pic>
        <p:nvPicPr>
          <p:cNvPr id="23" name="图片 22"/>
          <p:cNvPicPr>
            <a:picLocks noChangeAspect="1"/>
          </p:cNvPicPr>
          <p:nvPr/>
        </p:nvPicPr>
        <p:blipFill>
          <a:blip r:embed="rId7"/>
          <a:stretch>
            <a:fillRect/>
          </a:stretch>
        </p:blipFill>
        <p:spPr>
          <a:xfrm>
            <a:off x="5036959" y="5114345"/>
            <a:ext cx="2885909" cy="393837"/>
          </a:xfrm>
          <a:prstGeom prst="rect">
            <a:avLst/>
          </a:prstGeom>
        </p:spPr>
      </p:pic>
    </p:spTree>
    <p:extLst>
      <p:ext uri="{BB962C8B-B14F-4D97-AF65-F5344CB8AC3E}">
        <p14:creationId xmlns:p14="http://schemas.microsoft.com/office/powerpoint/2010/main" val="16205140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bwMode="auto">
          <a:xfrm>
            <a:off x="1057275" y="0"/>
            <a:ext cx="7197725" cy="733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l-GR" sz="3200" b="1" dirty="0">
                <a:solidFill>
                  <a:srgbClr val="FF0000"/>
                </a:solidFill>
                <a:latin typeface="Sylfaen"/>
                <a:cs typeface="Arial" charset="0"/>
              </a:rPr>
              <a:t>Δ</a:t>
            </a:r>
            <a:r>
              <a:rPr lang="en-US" sz="3200" b="1" dirty="0">
                <a:solidFill>
                  <a:srgbClr val="FF0000"/>
                </a:solidFill>
                <a:latin typeface="Arial" charset="0"/>
                <a:cs typeface="Arial" charset="0"/>
              </a:rPr>
              <a:t>G </a:t>
            </a:r>
            <a:r>
              <a:rPr lang="en-US" altLang="zh-CN" sz="3200" b="1" dirty="0">
                <a:solidFill>
                  <a:srgbClr val="FF0000"/>
                </a:solidFill>
                <a:latin typeface="Arial" charset="0"/>
                <a:cs typeface="Arial" charset="0"/>
              </a:rPr>
              <a:t>due to</a:t>
            </a:r>
            <a:r>
              <a:rPr lang="en-US" sz="3200" b="1" dirty="0">
                <a:solidFill>
                  <a:srgbClr val="FF0000"/>
                </a:solidFill>
                <a:latin typeface="Arial" charset="0"/>
                <a:cs typeface="Arial" charset="0"/>
              </a:rPr>
              <a:t> Formation of a Solution</a:t>
            </a:r>
            <a:endParaRPr lang="en-US" sz="3200" dirty="0">
              <a:solidFill>
                <a:srgbClr val="FF0000"/>
              </a:solidFill>
            </a:endParaRPr>
          </a:p>
        </p:txBody>
      </p:sp>
      <p:pic>
        <p:nvPicPr>
          <p:cNvPr id="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905000"/>
            <a:ext cx="4202545" cy="425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711" y="1729161"/>
            <a:ext cx="4067050" cy="35991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矩形 12"/>
          <p:cNvSpPr/>
          <p:nvPr/>
        </p:nvSpPr>
        <p:spPr>
          <a:xfrm>
            <a:off x="228600" y="1155154"/>
            <a:ext cx="4036361" cy="400110"/>
          </a:xfrm>
          <a:prstGeom prst="rect">
            <a:avLst/>
          </a:prstGeom>
        </p:spPr>
        <p:txBody>
          <a:bodyPr wrap="none">
            <a:spAutoFit/>
          </a:bodyPr>
          <a:lstStyle/>
          <a:p>
            <a:r>
              <a:rPr lang="en-US" altLang="zh-CN" sz="2000" b="1" i="1" dirty="0">
                <a:solidFill>
                  <a:srgbClr val="0000FF"/>
                </a:solidFill>
              </a:rPr>
              <a:t>The Method of Tangential Intercepts</a:t>
            </a:r>
            <a:endParaRPr lang="zh-CN" altLang="zh-CN" sz="2000" i="1" dirty="0">
              <a:solidFill>
                <a:srgbClr val="0000FF"/>
              </a:solidFill>
            </a:endParaRPr>
          </a:p>
        </p:txBody>
      </p:sp>
      <p:sp>
        <p:nvSpPr>
          <p:cNvPr id="14" name="矩形 13"/>
          <p:cNvSpPr/>
          <p:nvPr/>
        </p:nvSpPr>
        <p:spPr>
          <a:xfrm>
            <a:off x="228600" y="5352871"/>
            <a:ext cx="4800600" cy="1200329"/>
          </a:xfrm>
          <a:prstGeom prst="rect">
            <a:avLst/>
          </a:prstGeom>
        </p:spPr>
        <p:txBody>
          <a:bodyPr wrap="square">
            <a:spAutoFit/>
          </a:bodyPr>
          <a:lstStyle/>
          <a:p>
            <a:r>
              <a:rPr lang="en-US" altLang="zh-CN" dirty="0"/>
              <a:t>The method is used to obtain </a:t>
            </a:r>
          </a:p>
          <a:p>
            <a:r>
              <a:rPr lang="en-US" altLang="zh-CN" b="1" i="1" dirty="0"/>
              <a:t>the partial molar values </a:t>
            </a:r>
            <a:r>
              <a:rPr lang="en-US" altLang="zh-CN" dirty="0"/>
              <a:t>of any extensive property from the variation, with composition, of the integral value of the property.</a:t>
            </a:r>
            <a:endParaRPr lang="zh-CN" altLang="zh-CN" dirty="0"/>
          </a:p>
        </p:txBody>
      </p:sp>
    </p:spTree>
    <p:extLst>
      <p:ext uri="{BB962C8B-B14F-4D97-AF65-F5344CB8AC3E}">
        <p14:creationId xmlns:p14="http://schemas.microsoft.com/office/powerpoint/2010/main" val="1322008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68395" y="3379851"/>
            <a:ext cx="6947736" cy="584775"/>
          </a:xfrm>
          <a:prstGeom prst="rect">
            <a:avLst/>
          </a:prstGeom>
        </p:spPr>
        <p:txBody>
          <a:bodyPr wrap="none">
            <a:spAutoFit/>
          </a:bodyPr>
          <a:lstStyle/>
          <a:p>
            <a:r>
              <a:rPr lang="en-US" altLang="zh-CN" sz="3200" b="1" dirty="0">
                <a:solidFill>
                  <a:srgbClr val="FF0000"/>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30. </a:t>
            </a:r>
            <a:r>
              <a:rPr lang="en-US" altLang="zh-CN" sz="3200" dirty="0">
                <a:solidFill>
                  <a:srgbClr val="FF0000"/>
                </a:solidFill>
              </a:rPr>
              <a:t>The behavior of the ideal solution </a:t>
            </a:r>
            <a:endParaRPr lang="en-US" altLang="zh-CN" sz="3200" b="1" dirty="0">
              <a:solidFill>
                <a:srgbClr val="FF0000"/>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 name="矩形 8"/>
          <p:cNvSpPr/>
          <p:nvPr/>
        </p:nvSpPr>
        <p:spPr>
          <a:xfrm>
            <a:off x="1004971" y="4357223"/>
            <a:ext cx="4572000" cy="646331"/>
          </a:xfrm>
          <a:prstGeom prst="rect">
            <a:avLst/>
          </a:prstGeom>
        </p:spPr>
        <p:txBody>
          <a:bodyPr>
            <a:spAutoFit/>
          </a:bodyPr>
          <a:lstStyle/>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Ref.  Introduction of Thermodynamics of Materials, D. R. Gaskell, Chapter 9</a:t>
            </a:r>
          </a:p>
        </p:txBody>
      </p:sp>
    </p:spTree>
    <p:extLst>
      <p:ext uri="{BB962C8B-B14F-4D97-AF65-F5344CB8AC3E}">
        <p14:creationId xmlns:p14="http://schemas.microsoft.com/office/powerpoint/2010/main" val="3792596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046583" y="76003"/>
            <a:ext cx="4535216" cy="584775"/>
          </a:xfrm>
          <a:prstGeom prst="rect">
            <a:avLst/>
          </a:prstGeom>
        </p:spPr>
        <p:txBody>
          <a:bodyPr wrap="none">
            <a:spAutoFit/>
          </a:bodyPr>
          <a:lstStyle/>
          <a:p>
            <a:pPr marL="0" lvl="1"/>
            <a:r>
              <a:rPr lang="en-US" altLang="zh-CN" sz="3200" dirty="0" err="1">
                <a:solidFill>
                  <a:srgbClr val="FF0000"/>
                </a:solidFill>
              </a:rPr>
              <a:t>Raoultian</a:t>
            </a:r>
            <a:r>
              <a:rPr lang="en-US" altLang="zh-CN" sz="3200" dirty="0">
                <a:solidFill>
                  <a:srgbClr val="FF0000"/>
                </a:solidFill>
              </a:rPr>
              <a:t> ideal solution </a:t>
            </a:r>
            <a:endParaRPr lang="zh-CN" altLang="zh-CN" sz="4000" dirty="0">
              <a:solidFill>
                <a:srgbClr val="FF0000"/>
              </a:solidFill>
            </a:endParaRPr>
          </a:p>
        </p:txBody>
      </p:sp>
      <p:sp>
        <p:nvSpPr>
          <p:cNvPr id="12" name="TextBox 11"/>
          <p:cNvSpPr txBox="1"/>
          <p:nvPr/>
        </p:nvSpPr>
        <p:spPr>
          <a:xfrm>
            <a:off x="326584" y="1563511"/>
            <a:ext cx="2919454" cy="369332"/>
          </a:xfrm>
          <a:prstGeom prst="rect">
            <a:avLst/>
          </a:prstGeom>
          <a:noFill/>
        </p:spPr>
        <p:txBody>
          <a:bodyPr wrap="none" rtlCol="0">
            <a:spAutoFit/>
          </a:bodyPr>
          <a:lstStyle/>
          <a:p>
            <a:r>
              <a:rPr lang="en-US" altLang="zh-CN" dirty="0"/>
              <a:t>For a </a:t>
            </a:r>
            <a:r>
              <a:rPr lang="en-US" altLang="zh-CN" dirty="0" err="1"/>
              <a:t>Raoultian</a:t>
            </a:r>
            <a:r>
              <a:rPr lang="en-US" altLang="zh-CN" dirty="0"/>
              <a:t> ideal solution</a:t>
            </a:r>
            <a:endParaRPr lang="zh-CN" altLang="en-US" dirty="0"/>
          </a:p>
        </p:txBody>
      </p:sp>
      <p:sp>
        <p:nvSpPr>
          <p:cNvPr id="14" name="矩形 13"/>
          <p:cNvSpPr/>
          <p:nvPr/>
        </p:nvSpPr>
        <p:spPr>
          <a:xfrm>
            <a:off x="356925" y="2514600"/>
            <a:ext cx="3165867" cy="369332"/>
          </a:xfrm>
          <a:prstGeom prst="rect">
            <a:avLst/>
          </a:prstGeom>
        </p:spPr>
        <p:txBody>
          <a:bodyPr wrap="none">
            <a:spAutoFit/>
          </a:bodyPr>
          <a:lstStyle/>
          <a:p>
            <a:r>
              <a:rPr lang="en-US" altLang="zh-CN" dirty="0"/>
              <a:t>For an ideal binary </a:t>
            </a:r>
            <a:r>
              <a:rPr lang="en-US" altLang="zh-CN" i="1" dirty="0"/>
              <a:t>A–B </a:t>
            </a:r>
            <a:r>
              <a:rPr lang="en-US" altLang="zh-CN" dirty="0"/>
              <a:t>solution</a:t>
            </a:r>
            <a:endParaRPr lang="zh-CN" altLang="en-US" dirty="0"/>
          </a:p>
        </p:txBody>
      </p:sp>
      <p:sp>
        <p:nvSpPr>
          <p:cNvPr id="18" name="TextBox 17"/>
          <p:cNvSpPr txBox="1"/>
          <p:nvPr/>
        </p:nvSpPr>
        <p:spPr>
          <a:xfrm>
            <a:off x="5410200" y="2319677"/>
            <a:ext cx="2172261" cy="369332"/>
          </a:xfrm>
          <a:prstGeom prst="rect">
            <a:avLst/>
          </a:prstGeom>
          <a:noFill/>
        </p:spPr>
        <p:txBody>
          <a:bodyPr wrap="none" rtlCol="0">
            <a:spAutoFit/>
          </a:bodyPr>
          <a:lstStyle/>
          <a:p>
            <a:r>
              <a:rPr lang="en-US" altLang="zh-CN" dirty="0"/>
              <a:t>For idea gas mixtures</a:t>
            </a:r>
            <a:endParaRPr lang="zh-CN" altLang="en-US" dirty="0"/>
          </a:p>
        </p:txBody>
      </p:sp>
      <p:graphicFrame>
        <p:nvGraphicFramePr>
          <p:cNvPr id="20" name="对象 19"/>
          <p:cNvGraphicFramePr>
            <a:graphicFrameLocks noChangeAspect="1"/>
          </p:cNvGraphicFramePr>
          <p:nvPr>
            <p:extLst>
              <p:ext uri="{D42A27DB-BD31-4B8C-83A1-F6EECF244321}">
                <p14:modId xmlns:p14="http://schemas.microsoft.com/office/powerpoint/2010/main" val="1388844010"/>
              </p:ext>
            </p:extLst>
          </p:nvPr>
        </p:nvGraphicFramePr>
        <p:xfrm>
          <a:off x="5480472" y="2819327"/>
          <a:ext cx="2708275" cy="885825"/>
        </p:xfrm>
        <a:graphic>
          <a:graphicData uri="http://schemas.openxmlformats.org/presentationml/2006/ole">
            <mc:AlternateContent xmlns:mc="http://schemas.openxmlformats.org/markup-compatibility/2006">
              <mc:Choice xmlns:v="urn:schemas-microsoft-com:vml" Requires="v">
                <p:oleObj name="Equation" r:id="rId2" imgW="2095200" imgH="685800" progId="Equation.DSMT4">
                  <p:embed/>
                </p:oleObj>
              </mc:Choice>
              <mc:Fallback>
                <p:oleObj name="Equation" r:id="rId2" imgW="2095200" imgH="685800" progId="Equation.DSMT4">
                  <p:embed/>
                  <p:pic>
                    <p:nvPicPr>
                      <p:cNvPr id="0" name=""/>
                      <p:cNvPicPr/>
                      <p:nvPr/>
                    </p:nvPicPr>
                    <p:blipFill>
                      <a:blip r:embed="rId3"/>
                      <a:stretch>
                        <a:fillRect/>
                      </a:stretch>
                    </p:blipFill>
                    <p:spPr>
                      <a:xfrm>
                        <a:off x="5480472" y="2819327"/>
                        <a:ext cx="2708275" cy="885825"/>
                      </a:xfrm>
                      <a:prstGeom prst="rect">
                        <a:avLst/>
                      </a:prstGeom>
                    </p:spPr>
                  </p:pic>
                </p:oleObj>
              </mc:Fallback>
            </mc:AlternateContent>
          </a:graphicData>
        </a:graphic>
      </p:graphicFrame>
      <p:sp>
        <p:nvSpPr>
          <p:cNvPr id="22" name="TextBox 21"/>
          <p:cNvSpPr txBox="1"/>
          <p:nvPr/>
        </p:nvSpPr>
        <p:spPr>
          <a:xfrm>
            <a:off x="5371985" y="3857944"/>
            <a:ext cx="2459712" cy="646331"/>
          </a:xfrm>
          <a:prstGeom prst="rect">
            <a:avLst/>
          </a:prstGeom>
          <a:noFill/>
        </p:spPr>
        <p:txBody>
          <a:bodyPr wrap="none" rtlCol="0">
            <a:spAutoFit/>
          </a:bodyPr>
          <a:lstStyle/>
          <a:p>
            <a:r>
              <a:rPr lang="en-US" altLang="zh-CN" i="1" dirty="0"/>
              <a:t>p</a:t>
            </a:r>
            <a:r>
              <a:rPr lang="en-US" altLang="zh-CN" i="1" baseline="-25000" dirty="0"/>
              <a:t>i </a:t>
            </a:r>
            <a:r>
              <a:rPr lang="en-US" altLang="zh-CN" dirty="0"/>
              <a:t> is the partial pressure</a:t>
            </a:r>
          </a:p>
          <a:p>
            <a:r>
              <a:rPr lang="en-US" altLang="zh-CN" i="1" dirty="0"/>
              <a:t>P</a:t>
            </a:r>
            <a:r>
              <a:rPr lang="en-US" altLang="zh-CN" i="1" baseline="-25000" dirty="0"/>
              <a:t>i</a:t>
            </a:r>
            <a:r>
              <a:rPr lang="en-US" altLang="zh-CN" i="1" baseline="30000" dirty="0"/>
              <a:t> </a:t>
            </a:r>
            <a:r>
              <a:rPr lang="en-US" altLang="zh-CN" baseline="30000" dirty="0"/>
              <a:t> </a:t>
            </a:r>
            <a:r>
              <a:rPr lang="en-US" altLang="zh-CN" dirty="0"/>
              <a:t>is the pressure </a:t>
            </a:r>
            <a:endParaRPr lang="zh-CN" altLang="en-US" dirty="0"/>
          </a:p>
        </p:txBody>
      </p:sp>
      <p:sp>
        <p:nvSpPr>
          <p:cNvPr id="23" name="圆角矩形 22"/>
          <p:cNvSpPr/>
          <p:nvPr/>
        </p:nvSpPr>
        <p:spPr>
          <a:xfrm>
            <a:off x="5168224" y="2319677"/>
            <a:ext cx="3594776" cy="2236969"/>
          </a:xfrm>
          <a:prstGeom prst="roundRect">
            <a:avLst>
              <a:gd name="adj" fmla="val 2635"/>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356925" y="4960272"/>
            <a:ext cx="8406075" cy="584775"/>
          </a:xfrm>
          <a:prstGeom prst="rect">
            <a:avLst/>
          </a:prstGeom>
        </p:spPr>
        <p:txBody>
          <a:bodyPr wrap="square">
            <a:spAutoFit/>
          </a:bodyPr>
          <a:lstStyle/>
          <a:p>
            <a:r>
              <a:rPr lang="en-US" altLang="zh-CN" sz="1600" i="1" dirty="0"/>
              <a:t>The general thermodynamic relationships between the state properties of a system are applicable to the partial molar properties of the components of a system</a:t>
            </a:r>
            <a:endParaRPr lang="zh-CN" altLang="en-US" sz="1600" i="1" dirty="0"/>
          </a:p>
        </p:txBody>
      </p:sp>
      <p:pic>
        <p:nvPicPr>
          <p:cNvPr id="25" name="image992.png"/>
          <p:cNvPicPr/>
          <p:nvPr/>
        </p:nvPicPr>
        <p:blipFill>
          <a:blip r:embed="rId4" cstate="print"/>
          <a:stretch>
            <a:fillRect/>
          </a:stretch>
        </p:blipFill>
        <p:spPr>
          <a:xfrm>
            <a:off x="674093" y="5658485"/>
            <a:ext cx="1304925" cy="513715"/>
          </a:xfrm>
          <a:prstGeom prst="rect">
            <a:avLst/>
          </a:prstGeom>
        </p:spPr>
      </p:pic>
      <p:pic>
        <p:nvPicPr>
          <p:cNvPr id="6963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9116" y="5676900"/>
            <a:ext cx="13811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对象 1"/>
          <p:cNvGraphicFramePr>
            <a:graphicFrameLocks noChangeAspect="1"/>
          </p:cNvGraphicFramePr>
          <p:nvPr>
            <p:extLst>
              <p:ext uri="{D42A27DB-BD31-4B8C-83A1-F6EECF244321}">
                <p14:modId xmlns:p14="http://schemas.microsoft.com/office/powerpoint/2010/main" val="2559809456"/>
              </p:ext>
            </p:extLst>
          </p:nvPr>
        </p:nvGraphicFramePr>
        <p:xfrm>
          <a:off x="457200" y="4114800"/>
          <a:ext cx="2839633" cy="476885"/>
        </p:xfrm>
        <a:graphic>
          <a:graphicData uri="http://schemas.openxmlformats.org/presentationml/2006/ole">
            <mc:AlternateContent xmlns:mc="http://schemas.openxmlformats.org/markup-compatibility/2006">
              <mc:Choice xmlns:v="urn:schemas-microsoft-com:vml" Requires="v">
                <p:oleObj name="Equation" r:id="rId6" imgW="1663560" imgH="279360" progId="Equation.DSMT4">
                  <p:embed/>
                </p:oleObj>
              </mc:Choice>
              <mc:Fallback>
                <p:oleObj name="Equation" r:id="rId6" imgW="1663560" imgH="279360" progId="Equation.DSMT4">
                  <p:embed/>
                  <p:pic>
                    <p:nvPicPr>
                      <p:cNvPr id="0" name=""/>
                      <p:cNvPicPr/>
                      <p:nvPr/>
                    </p:nvPicPr>
                    <p:blipFill>
                      <a:blip r:embed="rId7"/>
                      <a:stretch>
                        <a:fillRect/>
                      </a:stretch>
                    </p:blipFill>
                    <p:spPr>
                      <a:xfrm>
                        <a:off x="457200" y="4114800"/>
                        <a:ext cx="2839633" cy="476885"/>
                      </a:xfrm>
                      <a:prstGeom prst="rect">
                        <a:avLst/>
                      </a:prstGeom>
                      <a:solidFill>
                        <a:schemeClr val="accent6">
                          <a:lumMod val="60000"/>
                          <a:lumOff val="40000"/>
                        </a:schemeClr>
                      </a:solid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874665434"/>
              </p:ext>
            </p:extLst>
          </p:nvPr>
        </p:nvGraphicFramePr>
        <p:xfrm>
          <a:off x="959765" y="2117509"/>
          <a:ext cx="694706" cy="337965"/>
        </p:xfrm>
        <a:graphic>
          <a:graphicData uri="http://schemas.openxmlformats.org/presentationml/2006/ole">
            <mc:AlternateContent xmlns:mc="http://schemas.openxmlformats.org/markup-compatibility/2006">
              <mc:Choice xmlns:v="urn:schemas-microsoft-com:vml" Requires="v">
                <p:oleObj name="Equation" r:id="rId8" imgW="469800" imgH="228600" progId="Equation.DSMT4">
                  <p:embed/>
                </p:oleObj>
              </mc:Choice>
              <mc:Fallback>
                <p:oleObj name="Equation" r:id="rId8" imgW="469800" imgH="228600" progId="Equation.DSMT4">
                  <p:embed/>
                  <p:pic>
                    <p:nvPicPr>
                      <p:cNvPr id="0" name=""/>
                      <p:cNvPicPr/>
                      <p:nvPr/>
                    </p:nvPicPr>
                    <p:blipFill>
                      <a:blip r:embed="rId9"/>
                      <a:stretch>
                        <a:fillRect/>
                      </a:stretch>
                    </p:blipFill>
                    <p:spPr>
                      <a:xfrm>
                        <a:off x="959765" y="2117509"/>
                        <a:ext cx="694706" cy="337965"/>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1257317630"/>
              </p:ext>
            </p:extLst>
          </p:nvPr>
        </p:nvGraphicFramePr>
        <p:xfrm>
          <a:off x="674093" y="3145633"/>
          <a:ext cx="2450107" cy="281621"/>
        </p:xfrm>
        <a:graphic>
          <a:graphicData uri="http://schemas.openxmlformats.org/presentationml/2006/ole">
            <mc:AlternateContent xmlns:mc="http://schemas.openxmlformats.org/markup-compatibility/2006">
              <mc:Choice xmlns:v="urn:schemas-microsoft-com:vml" Requires="v">
                <p:oleObj name="Equation" r:id="rId10" imgW="2209680" imgH="253800" progId="Equation.DSMT4">
                  <p:embed/>
                </p:oleObj>
              </mc:Choice>
              <mc:Fallback>
                <p:oleObj name="Equation" r:id="rId10" imgW="2209680" imgH="253800" progId="Equation.DSMT4">
                  <p:embed/>
                  <p:pic>
                    <p:nvPicPr>
                      <p:cNvPr id="0" name=""/>
                      <p:cNvPicPr/>
                      <p:nvPr/>
                    </p:nvPicPr>
                    <p:blipFill>
                      <a:blip r:embed="rId11"/>
                      <a:stretch>
                        <a:fillRect/>
                      </a:stretch>
                    </p:blipFill>
                    <p:spPr>
                      <a:xfrm>
                        <a:off x="674093" y="3145633"/>
                        <a:ext cx="2450107" cy="281621"/>
                      </a:xfrm>
                      <a:prstGeom prst="rect">
                        <a:avLst/>
                      </a:prstGeom>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3705651343"/>
              </p:ext>
            </p:extLst>
          </p:nvPr>
        </p:nvGraphicFramePr>
        <p:xfrm>
          <a:off x="5564188" y="1007886"/>
          <a:ext cx="3446462" cy="555625"/>
        </p:xfrm>
        <a:graphic>
          <a:graphicData uri="http://schemas.openxmlformats.org/presentationml/2006/ole">
            <mc:AlternateContent xmlns:mc="http://schemas.openxmlformats.org/markup-compatibility/2006">
              <mc:Choice xmlns:v="urn:schemas-microsoft-com:vml" Requires="v">
                <p:oleObj name="Equation" r:id="rId12" imgW="2438400" imgH="393700" progId="Equation.DSMT4">
                  <p:embed/>
                </p:oleObj>
              </mc:Choice>
              <mc:Fallback>
                <p:oleObj name="Equation" r:id="rId12" imgW="2438400" imgH="393700" progId="Equation.DSMT4">
                  <p:embed/>
                  <p:pic>
                    <p:nvPicPr>
                      <p:cNvPr id="0" name="对象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64188" y="1007886"/>
                        <a:ext cx="3446462" cy="555625"/>
                      </a:xfrm>
                      <a:prstGeom prst="rect">
                        <a:avLst/>
                      </a:prstGeom>
                      <a:solidFill>
                        <a:srgbClr val="DEEBF7"/>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4026296444"/>
              </p:ext>
            </p:extLst>
          </p:nvPr>
        </p:nvGraphicFramePr>
        <p:xfrm>
          <a:off x="706566" y="3623213"/>
          <a:ext cx="2816226" cy="309562"/>
        </p:xfrm>
        <a:graphic>
          <a:graphicData uri="http://schemas.openxmlformats.org/presentationml/2006/ole">
            <mc:AlternateContent xmlns:mc="http://schemas.openxmlformats.org/markup-compatibility/2006">
              <mc:Choice xmlns:v="urn:schemas-microsoft-com:vml" Requires="v">
                <p:oleObj name="Equation" r:id="rId14" imgW="2539800" imgH="279360" progId="Equation.DSMT4">
                  <p:embed/>
                </p:oleObj>
              </mc:Choice>
              <mc:Fallback>
                <p:oleObj name="Equation" r:id="rId14" imgW="2539800" imgH="279360" progId="Equation.DSMT4">
                  <p:embed/>
                  <p:pic>
                    <p:nvPicPr>
                      <p:cNvPr id="0" name="对象 16"/>
                      <p:cNvPicPr>
                        <a:picLocks noChangeAspect="1" noChangeArrowheads="1"/>
                      </p:cNvPicPr>
                      <p:nvPr/>
                    </p:nvPicPr>
                    <p:blipFill>
                      <a:blip r:embed="rId15"/>
                      <a:srcRect/>
                      <a:stretch>
                        <a:fillRect/>
                      </a:stretch>
                    </p:blipFill>
                    <p:spPr bwMode="auto">
                      <a:xfrm>
                        <a:off x="706566" y="3623213"/>
                        <a:ext cx="2816226"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232018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352550" y="180778"/>
            <a:ext cx="5364995" cy="523220"/>
          </a:xfrm>
          <a:prstGeom prst="rect">
            <a:avLst/>
          </a:prstGeom>
        </p:spPr>
        <p:txBody>
          <a:bodyPr wrap="none">
            <a:spAutoFit/>
          </a:bodyPr>
          <a:lstStyle/>
          <a:p>
            <a:pPr marL="0" lvl="1"/>
            <a:r>
              <a:rPr lang="en-US" altLang="zh-CN" sz="2800" dirty="0">
                <a:solidFill>
                  <a:srgbClr val="FF0000"/>
                </a:solidFill>
              </a:rPr>
              <a:t>Volume change of ideal solution </a:t>
            </a:r>
            <a:endParaRPr lang="zh-CN" altLang="zh-CN" sz="3600" dirty="0">
              <a:solidFill>
                <a:srgbClr val="FF0000"/>
              </a:solidFill>
            </a:endParaRPr>
          </a:p>
        </p:txBody>
      </p:sp>
      <p:sp>
        <p:nvSpPr>
          <p:cNvPr id="19" name="TextBox 18"/>
          <p:cNvSpPr txBox="1"/>
          <p:nvPr/>
        </p:nvSpPr>
        <p:spPr>
          <a:xfrm>
            <a:off x="228600" y="1274802"/>
            <a:ext cx="4617611" cy="369332"/>
          </a:xfrm>
          <a:prstGeom prst="rect">
            <a:avLst/>
          </a:prstGeom>
          <a:noFill/>
        </p:spPr>
        <p:txBody>
          <a:bodyPr wrap="none" rtlCol="0">
            <a:spAutoFit/>
          </a:bodyPr>
          <a:lstStyle/>
          <a:p>
            <a:r>
              <a:rPr lang="en-US" altLang="zh-CN" dirty="0"/>
              <a:t>Volume change due the formation of a solution</a:t>
            </a:r>
            <a:endParaRPr lang="zh-CN" altLang="en-US" dirty="0"/>
          </a:p>
        </p:txBody>
      </p:sp>
      <p:pic>
        <p:nvPicPr>
          <p:cNvPr id="20" name="image1003.png"/>
          <p:cNvPicPr/>
          <p:nvPr/>
        </p:nvPicPr>
        <p:blipFill>
          <a:blip r:embed="rId2" cstate="print"/>
          <a:stretch>
            <a:fillRect/>
          </a:stretch>
        </p:blipFill>
        <p:spPr>
          <a:xfrm>
            <a:off x="5248920" y="4191000"/>
            <a:ext cx="3257550" cy="2162175"/>
          </a:xfrm>
          <a:prstGeom prst="rect">
            <a:avLst/>
          </a:prstGeom>
        </p:spPr>
      </p:pic>
      <p:sp>
        <p:nvSpPr>
          <p:cNvPr id="22" name="TextBox 21"/>
          <p:cNvSpPr txBox="1"/>
          <p:nvPr/>
        </p:nvSpPr>
        <p:spPr>
          <a:xfrm>
            <a:off x="257940" y="3646527"/>
            <a:ext cx="7743979" cy="369332"/>
          </a:xfrm>
          <a:prstGeom prst="rect">
            <a:avLst/>
          </a:prstGeom>
          <a:noFill/>
        </p:spPr>
        <p:txBody>
          <a:bodyPr wrap="none" rtlCol="0">
            <a:spAutoFit/>
          </a:bodyPr>
          <a:lstStyle/>
          <a:p>
            <a:r>
              <a:rPr lang="zh-CN" altLang="zh-CN" b="1" i="1" dirty="0">
                <a:solidFill>
                  <a:srgbClr val="FF0000"/>
                </a:solidFill>
              </a:rPr>
              <a:t> </a:t>
            </a:r>
            <a:r>
              <a:rPr lang="en-US" altLang="zh-CN" b="1" i="1" dirty="0">
                <a:solidFill>
                  <a:srgbClr val="FF0000"/>
                </a:solidFill>
              </a:rPr>
              <a:t>it  is  seen  that  the  change  in  volume accompanying an ideal solution is zero</a:t>
            </a:r>
            <a:endParaRPr lang="zh-CN" altLang="en-US" b="1" i="1" dirty="0">
              <a:solidFill>
                <a:srgbClr val="FF0000"/>
              </a:solidFill>
            </a:endParaRPr>
          </a:p>
        </p:txBody>
      </p:sp>
      <p:sp>
        <p:nvSpPr>
          <p:cNvPr id="24" name="矩形 23"/>
          <p:cNvSpPr/>
          <p:nvPr/>
        </p:nvSpPr>
        <p:spPr>
          <a:xfrm>
            <a:off x="175800" y="5497294"/>
            <a:ext cx="5073120" cy="923330"/>
          </a:xfrm>
          <a:prstGeom prst="rect">
            <a:avLst/>
          </a:prstGeom>
        </p:spPr>
        <p:txBody>
          <a:bodyPr wrap="square">
            <a:spAutoFit/>
          </a:bodyPr>
          <a:lstStyle/>
          <a:p>
            <a:r>
              <a:rPr lang="en-US" altLang="zh-CN" b="1" i="1" dirty="0"/>
              <a:t>The volume of an ideal solution is thus equal to the sum of the volumes of the pure components.</a:t>
            </a:r>
            <a:endParaRPr lang="zh-CN" altLang="en-US" b="1" i="1" dirty="0"/>
          </a:p>
        </p:txBody>
      </p:sp>
      <p:graphicFrame>
        <p:nvGraphicFramePr>
          <p:cNvPr id="3" name="对象 2"/>
          <p:cNvGraphicFramePr>
            <a:graphicFrameLocks noChangeAspect="1"/>
          </p:cNvGraphicFramePr>
          <p:nvPr>
            <p:extLst>
              <p:ext uri="{D42A27DB-BD31-4B8C-83A1-F6EECF244321}">
                <p14:modId xmlns:p14="http://schemas.microsoft.com/office/powerpoint/2010/main" val="1198848497"/>
              </p:ext>
            </p:extLst>
          </p:nvPr>
        </p:nvGraphicFramePr>
        <p:xfrm>
          <a:off x="387653" y="4314824"/>
          <a:ext cx="1613314" cy="1081087"/>
        </p:xfrm>
        <a:graphic>
          <a:graphicData uri="http://schemas.openxmlformats.org/presentationml/2006/ole">
            <mc:AlternateContent xmlns:mc="http://schemas.openxmlformats.org/markup-compatibility/2006">
              <mc:Choice xmlns:v="urn:schemas-microsoft-com:vml" Requires="v">
                <p:oleObj name="Equation" r:id="rId3" imgW="1231560" imgH="825480" progId="Equation.DSMT4">
                  <p:embed/>
                </p:oleObj>
              </mc:Choice>
              <mc:Fallback>
                <p:oleObj name="Equation" r:id="rId3" imgW="1231560" imgH="825480" progId="Equation.DSMT4">
                  <p:embed/>
                  <p:pic>
                    <p:nvPicPr>
                      <p:cNvPr id="0" name=""/>
                      <p:cNvPicPr/>
                      <p:nvPr/>
                    </p:nvPicPr>
                    <p:blipFill>
                      <a:blip r:embed="rId4"/>
                      <a:stretch>
                        <a:fillRect/>
                      </a:stretch>
                    </p:blipFill>
                    <p:spPr>
                      <a:xfrm>
                        <a:off x="387653" y="4314824"/>
                        <a:ext cx="1613314" cy="1081087"/>
                      </a:xfrm>
                      <a:prstGeom prst="rect">
                        <a:avLst/>
                      </a:prstGeom>
                      <a:solidFill>
                        <a:schemeClr val="accent6">
                          <a:lumMod val="60000"/>
                          <a:lumOff val="40000"/>
                        </a:schemeClr>
                      </a:solid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148101513"/>
              </p:ext>
            </p:extLst>
          </p:nvPr>
        </p:nvGraphicFramePr>
        <p:xfrm>
          <a:off x="6303962" y="1167884"/>
          <a:ext cx="2840038" cy="476250"/>
        </p:xfrm>
        <a:graphic>
          <a:graphicData uri="http://schemas.openxmlformats.org/presentationml/2006/ole">
            <mc:AlternateContent xmlns:mc="http://schemas.openxmlformats.org/markup-compatibility/2006">
              <mc:Choice xmlns:v="urn:schemas-microsoft-com:vml" Requires="v">
                <p:oleObj name="Equation" r:id="rId5" imgW="1663560" imgH="279360" progId="Equation.DSMT4">
                  <p:embed/>
                </p:oleObj>
              </mc:Choice>
              <mc:Fallback>
                <p:oleObj name="Equation" r:id="rId5" imgW="1663560" imgH="27936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3962" y="1167884"/>
                        <a:ext cx="2840038" cy="476250"/>
                      </a:xfrm>
                      <a:prstGeom prst="rect">
                        <a:avLst/>
                      </a:prstGeom>
                      <a:solidFill>
                        <a:srgbClr val="FAC09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6" name="image992.png"/>
          <p:cNvPicPr/>
          <p:nvPr/>
        </p:nvPicPr>
        <p:blipFill>
          <a:blip r:embed="rId7" cstate="print"/>
          <a:stretch>
            <a:fillRect/>
          </a:stretch>
        </p:blipFill>
        <p:spPr>
          <a:xfrm>
            <a:off x="453781" y="2000885"/>
            <a:ext cx="1304925" cy="513715"/>
          </a:xfrm>
          <a:prstGeom prst="rect">
            <a:avLst/>
          </a:prstGeom>
        </p:spPr>
      </p:pic>
      <p:pic>
        <p:nvPicPr>
          <p:cNvPr id="17"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3781" y="2638425"/>
            <a:ext cx="13811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对象 1"/>
          <p:cNvGraphicFramePr>
            <a:graphicFrameLocks noChangeAspect="1"/>
          </p:cNvGraphicFramePr>
          <p:nvPr>
            <p:extLst>
              <p:ext uri="{D42A27DB-BD31-4B8C-83A1-F6EECF244321}">
                <p14:modId xmlns:p14="http://schemas.microsoft.com/office/powerpoint/2010/main" val="3687341659"/>
              </p:ext>
            </p:extLst>
          </p:nvPr>
        </p:nvGraphicFramePr>
        <p:xfrm>
          <a:off x="2774950" y="2028825"/>
          <a:ext cx="1905000" cy="1219200"/>
        </p:xfrm>
        <a:graphic>
          <a:graphicData uri="http://schemas.openxmlformats.org/presentationml/2006/ole">
            <mc:AlternateContent xmlns:mc="http://schemas.openxmlformats.org/markup-compatibility/2006">
              <mc:Choice xmlns:v="urn:schemas-microsoft-com:vml" Requires="v">
                <p:oleObj name="Equation" r:id="rId9" imgW="1904760" imgH="1218960" progId="Equation.DSMT4">
                  <p:embed/>
                </p:oleObj>
              </mc:Choice>
              <mc:Fallback>
                <p:oleObj name="Equation" r:id="rId9" imgW="1904760" imgH="1218960" progId="Equation.DSMT4">
                  <p:embed/>
                  <p:pic>
                    <p:nvPicPr>
                      <p:cNvPr id="0" name=""/>
                      <p:cNvPicPr/>
                      <p:nvPr/>
                    </p:nvPicPr>
                    <p:blipFill>
                      <a:blip r:embed="rId10"/>
                      <a:stretch>
                        <a:fillRect/>
                      </a:stretch>
                    </p:blipFill>
                    <p:spPr>
                      <a:xfrm>
                        <a:off x="2774950" y="2028825"/>
                        <a:ext cx="1905000" cy="1219200"/>
                      </a:xfrm>
                      <a:prstGeom prst="rect">
                        <a:avLst/>
                      </a:prstGeom>
                    </p:spPr>
                  </p:pic>
                </p:oleObj>
              </mc:Fallback>
            </mc:AlternateContent>
          </a:graphicData>
        </a:graphic>
      </p:graphicFrame>
      <p:sp>
        <p:nvSpPr>
          <p:cNvPr id="12" name="右箭头 11"/>
          <p:cNvSpPr/>
          <p:nvPr/>
        </p:nvSpPr>
        <p:spPr>
          <a:xfrm>
            <a:off x="2095500" y="2438400"/>
            <a:ext cx="441905" cy="285750"/>
          </a:xfrm>
          <a:prstGeom prst="rightArrow">
            <a:avLst/>
          </a:prstGeom>
          <a:solidFill>
            <a:srgbClr val="4472C4">
              <a:alpha val="5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1300408516"/>
              </p:ext>
            </p:extLst>
          </p:nvPr>
        </p:nvGraphicFramePr>
        <p:xfrm>
          <a:off x="5279025" y="2514600"/>
          <a:ext cx="2438400" cy="914400"/>
        </p:xfrm>
        <a:graphic>
          <a:graphicData uri="http://schemas.openxmlformats.org/presentationml/2006/ole">
            <mc:AlternateContent xmlns:mc="http://schemas.openxmlformats.org/markup-compatibility/2006">
              <mc:Choice xmlns:v="urn:schemas-microsoft-com:vml" Requires="v">
                <p:oleObj name="Equation" r:id="rId11" imgW="2438280" imgH="914400" progId="Equation.DSMT4">
                  <p:embed/>
                </p:oleObj>
              </mc:Choice>
              <mc:Fallback>
                <p:oleObj name="Equation" r:id="rId11" imgW="2438280" imgH="914400" progId="Equation.DSMT4">
                  <p:embed/>
                  <p:pic>
                    <p:nvPicPr>
                      <p:cNvPr id="0" name="对象 1"/>
                      <p:cNvPicPr>
                        <a:picLocks noChangeAspect="1" noChangeArrowheads="1"/>
                      </p:cNvPicPr>
                      <p:nvPr/>
                    </p:nvPicPr>
                    <p:blipFill>
                      <a:blip r:embed="rId12"/>
                      <a:srcRect/>
                      <a:stretch>
                        <a:fillRect/>
                      </a:stretch>
                    </p:blipFill>
                    <p:spPr bwMode="auto">
                      <a:xfrm>
                        <a:off x="5279025" y="2514600"/>
                        <a:ext cx="2438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2988388506"/>
              </p:ext>
            </p:extLst>
          </p:nvPr>
        </p:nvGraphicFramePr>
        <p:xfrm>
          <a:off x="5279025" y="2000885"/>
          <a:ext cx="965200" cy="279400"/>
        </p:xfrm>
        <a:graphic>
          <a:graphicData uri="http://schemas.openxmlformats.org/presentationml/2006/ole">
            <mc:AlternateContent xmlns:mc="http://schemas.openxmlformats.org/markup-compatibility/2006">
              <mc:Choice xmlns:v="urn:schemas-microsoft-com:vml" Requires="v">
                <p:oleObj name="Equation" r:id="rId13" imgW="965160" imgH="279360" progId="Equation.DSMT4">
                  <p:embed/>
                </p:oleObj>
              </mc:Choice>
              <mc:Fallback>
                <p:oleObj name="Equation" r:id="rId13" imgW="965160" imgH="279360" progId="Equation.DSMT4">
                  <p:embed/>
                  <p:pic>
                    <p:nvPicPr>
                      <p:cNvPr id="0" name=""/>
                      <p:cNvPicPr/>
                      <p:nvPr/>
                    </p:nvPicPr>
                    <p:blipFill>
                      <a:blip r:embed="rId14"/>
                      <a:stretch>
                        <a:fillRect/>
                      </a:stretch>
                    </p:blipFill>
                    <p:spPr>
                      <a:xfrm>
                        <a:off x="5279025" y="2000885"/>
                        <a:ext cx="965200" cy="279400"/>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1211911559"/>
              </p:ext>
            </p:extLst>
          </p:nvPr>
        </p:nvGraphicFramePr>
        <p:xfrm>
          <a:off x="6390275" y="1854200"/>
          <a:ext cx="2146300" cy="584200"/>
        </p:xfrm>
        <a:graphic>
          <a:graphicData uri="http://schemas.openxmlformats.org/presentationml/2006/ole">
            <mc:AlternateContent xmlns:mc="http://schemas.openxmlformats.org/markup-compatibility/2006">
              <mc:Choice xmlns:v="urn:schemas-microsoft-com:vml" Requires="v">
                <p:oleObj name="Equation" r:id="rId15" imgW="2145960" imgH="583920" progId="Equation.DSMT4">
                  <p:embed/>
                </p:oleObj>
              </mc:Choice>
              <mc:Fallback>
                <p:oleObj name="Equation" r:id="rId15" imgW="2145960" imgH="583920" progId="Equation.DSMT4">
                  <p:embed/>
                  <p:pic>
                    <p:nvPicPr>
                      <p:cNvPr id="0" name=""/>
                      <p:cNvPicPr/>
                      <p:nvPr/>
                    </p:nvPicPr>
                    <p:blipFill>
                      <a:blip r:embed="rId16"/>
                      <a:stretch>
                        <a:fillRect/>
                      </a:stretch>
                    </p:blipFill>
                    <p:spPr>
                      <a:xfrm>
                        <a:off x="6390275" y="1854200"/>
                        <a:ext cx="2146300" cy="584200"/>
                      </a:xfrm>
                      <a:prstGeom prst="rect">
                        <a:avLst/>
                      </a:prstGeom>
                    </p:spPr>
                  </p:pic>
                </p:oleObj>
              </mc:Fallback>
            </mc:AlternateContent>
          </a:graphicData>
        </a:graphic>
      </p:graphicFrame>
    </p:spTree>
    <p:extLst>
      <p:ext uri="{BB962C8B-B14F-4D97-AF65-F5344CB8AC3E}">
        <p14:creationId xmlns:p14="http://schemas.microsoft.com/office/powerpoint/2010/main" val="36280079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bwMode="auto">
          <a:xfrm>
            <a:off x="1184275" y="90289"/>
            <a:ext cx="6731000" cy="733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2800" b="1" dirty="0">
                <a:solidFill>
                  <a:srgbClr val="FF0000"/>
                </a:solidFill>
                <a:latin typeface="Arial" charset="0"/>
                <a:cs typeface="Arial" charset="0"/>
              </a:rPr>
              <a:t>Heat of Formation of an ideal Solution</a:t>
            </a:r>
            <a:endParaRPr lang="en-US" sz="2800" dirty="0">
              <a:solidFill>
                <a:srgbClr val="FF0000"/>
              </a:solidFill>
            </a:endParaRPr>
          </a:p>
        </p:txBody>
      </p:sp>
      <p:sp>
        <p:nvSpPr>
          <p:cNvPr id="15" name="Text Box 6"/>
          <p:cNvSpPr txBox="1">
            <a:spLocks noChangeArrowheads="1"/>
          </p:cNvSpPr>
          <p:nvPr/>
        </p:nvSpPr>
        <p:spPr bwMode="auto">
          <a:xfrm>
            <a:off x="155575" y="1658938"/>
            <a:ext cx="47019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ea typeface="宋体" charset="-122"/>
              </a:rPr>
              <a:t>According to Gibbs-Helmholtz equation:</a:t>
            </a:r>
          </a:p>
        </p:txBody>
      </p:sp>
      <p:sp>
        <p:nvSpPr>
          <p:cNvPr id="16" name="Text Box 6"/>
          <p:cNvSpPr txBox="1">
            <a:spLocks noChangeArrowheads="1"/>
          </p:cNvSpPr>
          <p:nvPr/>
        </p:nvSpPr>
        <p:spPr bwMode="auto">
          <a:xfrm>
            <a:off x="155575" y="3022601"/>
            <a:ext cx="298831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ea typeface="宋体" charset="-122"/>
              </a:rPr>
              <a:t>For the pure component:</a:t>
            </a:r>
          </a:p>
        </p:txBody>
      </p:sp>
      <p:sp>
        <p:nvSpPr>
          <p:cNvPr id="17" name="Text Box 6"/>
          <p:cNvSpPr txBox="1">
            <a:spLocks noChangeArrowheads="1"/>
          </p:cNvSpPr>
          <p:nvPr/>
        </p:nvSpPr>
        <p:spPr bwMode="auto">
          <a:xfrm>
            <a:off x="307975" y="4629781"/>
            <a:ext cx="99738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ea typeface="宋体" charset="-122"/>
              </a:rPr>
              <a:t>Hence:</a:t>
            </a:r>
          </a:p>
        </p:txBody>
      </p:sp>
      <mc:AlternateContent xmlns:mc="http://schemas.openxmlformats.org/markup-compatibility/2006" xmlns:a14="http://schemas.microsoft.com/office/drawing/2010/main">
        <mc:Choice Requires="a14">
          <p:sp>
            <p:nvSpPr>
              <p:cNvPr id="2" name="矩形 1"/>
              <p:cNvSpPr/>
              <p:nvPr/>
            </p:nvSpPr>
            <p:spPr>
              <a:xfrm>
                <a:off x="3864924" y="2277697"/>
                <a:ext cx="2469201" cy="77675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d>
                            <m:dPr>
                              <m:begChr m:val="["/>
                              <m:endChr m:val="]"/>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r>
                                    <a:rPr lang="zh-CN" altLang="en-US">
                                      <a:latin typeface="Cambria Math" panose="02040503050406030204" pitchFamily="18" charset="0"/>
                                    </a:rPr>
                                    <m:t>𝜕</m:t>
                                  </m:r>
                                  <m:f>
                                    <m:fPr>
                                      <m:type m:val="lin"/>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𝐺</m:t>
                                          </m:r>
                                        </m:e>
                                        <m:sub>
                                          <m:r>
                                            <a:rPr lang="zh-CN" altLang="en-US" i="1">
                                              <a:latin typeface="Cambria Math" panose="02040503050406030204" pitchFamily="18" charset="0"/>
                                            </a:rPr>
                                            <m:t>𝑖</m:t>
                                          </m:r>
                                        </m:sub>
                                      </m:sSub>
                                    </m:num>
                                    <m:den>
                                      <m:r>
                                        <a:rPr lang="zh-CN" altLang="en-US" i="1">
                                          <a:latin typeface="Cambria Math" panose="02040503050406030204" pitchFamily="18" charset="0"/>
                                        </a:rPr>
                                        <m:t>𝑇</m:t>
                                      </m:r>
                                    </m:den>
                                  </m:f>
                                </m:num>
                                <m:den>
                                  <m:r>
                                    <a:rPr lang="zh-CN" altLang="en-US" i="0">
                                      <a:latin typeface="Cambria Math" panose="02040503050406030204" pitchFamily="18" charset="0"/>
                                    </a:rPr>
                                    <m:t>𝜕</m:t>
                                  </m:r>
                                  <m:r>
                                    <a:rPr lang="zh-CN" altLang="en-US" i="1">
                                      <a:latin typeface="Cambria Math" panose="02040503050406030204" pitchFamily="18" charset="0"/>
                                    </a:rPr>
                                    <m:t>𝑇</m:t>
                                  </m:r>
                                </m:den>
                              </m:f>
                            </m:e>
                          </m:d>
                        </m:e>
                        <m:sub>
                          <m:r>
                            <a:rPr lang="zh-CN" altLang="en-US" i="1">
                              <a:latin typeface="Cambria Math" panose="02040503050406030204" pitchFamily="18" charset="0"/>
                            </a:rPr>
                            <m:t>𝑃</m:t>
                          </m:r>
                          <m:r>
                            <a:rPr lang="zh-CN" altLang="en-US" i="0">
                              <a:latin typeface="Cambria Math" panose="02040503050406030204" pitchFamily="18" charset="0"/>
                            </a:rPr>
                            <m:t>,</m:t>
                          </m:r>
                          <m:r>
                            <a:rPr lang="zh-CN" altLang="en-US" i="1">
                              <a:latin typeface="Cambria Math" panose="02040503050406030204" pitchFamily="18" charset="0"/>
                            </a:rPr>
                            <m:t>𝐶𝑜𝑚𝑝</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𝐻</m:t>
                              </m:r>
                            </m:e>
                            <m:sub>
                              <m:r>
                                <a:rPr lang="zh-CN" altLang="en-US" i="1">
                                  <a:latin typeface="Cambria Math" panose="02040503050406030204" pitchFamily="18" charset="0"/>
                                </a:rPr>
                                <m:t>𝑖</m:t>
                              </m:r>
                            </m:sub>
                          </m:sSub>
                        </m:num>
                        <m:den>
                          <m:sSup>
                            <m:sSupPr>
                              <m:ctrlPr>
                                <a:rPr lang="zh-CN" altLang="en-US" i="1">
                                  <a:latin typeface="Cambria Math" panose="02040503050406030204" pitchFamily="18" charset="0"/>
                                </a:rPr>
                              </m:ctrlPr>
                            </m:sSupPr>
                            <m:e>
                              <m:r>
                                <a:rPr lang="zh-CN" altLang="en-US" i="1">
                                  <a:latin typeface="Cambria Math" panose="02040503050406030204" pitchFamily="18" charset="0"/>
                                </a:rPr>
                                <m:t>𝑇</m:t>
                              </m:r>
                            </m:e>
                            <m:sup>
                              <m:r>
                                <a:rPr lang="zh-CN" altLang="en-US" i="0">
                                  <a:latin typeface="Cambria Math" panose="02040503050406030204" pitchFamily="18" charset="0"/>
                                </a:rPr>
                                <m:t>2</m:t>
                              </m:r>
                            </m:sup>
                          </m:sSup>
                        </m:den>
                      </m:f>
                    </m:oMath>
                  </m:oMathPara>
                </a14:m>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3864924" y="2277697"/>
                <a:ext cx="2469201" cy="776751"/>
              </a:xfrm>
              <a:prstGeom prst="rect">
                <a:avLst/>
              </a:prstGeom>
              <a:blipFill rotWithShape="0">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3864924" y="3637399"/>
                <a:ext cx="2558200" cy="77675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d>
                            <m:dPr>
                              <m:begChr m:val="["/>
                              <m:endChr m:val="]"/>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r>
                                    <a:rPr lang="zh-CN" altLang="en-US">
                                      <a:latin typeface="Cambria Math" panose="02040503050406030204" pitchFamily="18" charset="0"/>
                                    </a:rPr>
                                    <m:t>𝜕</m:t>
                                  </m:r>
                                  <m:f>
                                    <m:fPr>
                                      <m:type m:val="lin"/>
                                      <m:ctrlPr>
                                        <a:rPr lang="zh-CN" altLang="en-US" i="1">
                                          <a:latin typeface="Cambria Math" panose="02040503050406030204" pitchFamily="18" charset="0"/>
                                        </a:rPr>
                                      </m:ctrlPr>
                                    </m:fPr>
                                    <m:num>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𝐺</m:t>
                                          </m:r>
                                        </m:e>
                                        <m:sub>
                                          <m:r>
                                            <a:rPr lang="zh-CN" altLang="en-US" i="1">
                                              <a:latin typeface="Cambria Math" panose="02040503050406030204" pitchFamily="18" charset="0"/>
                                            </a:rPr>
                                            <m:t>𝑖</m:t>
                                          </m:r>
                                        </m:sub>
                                        <m:sup>
                                          <m:r>
                                            <a:rPr lang="zh-CN" altLang="en-US" i="1">
                                              <a:latin typeface="Cambria Math" panose="02040503050406030204" pitchFamily="18" charset="0"/>
                                            </a:rPr>
                                            <m:t>𝑜</m:t>
                                          </m:r>
                                        </m:sup>
                                      </m:sSubSup>
                                    </m:num>
                                    <m:den>
                                      <m:r>
                                        <a:rPr lang="zh-CN" altLang="en-US" i="1">
                                          <a:latin typeface="Cambria Math" panose="02040503050406030204" pitchFamily="18" charset="0"/>
                                        </a:rPr>
                                        <m:t>𝑇</m:t>
                                      </m:r>
                                    </m:den>
                                  </m:f>
                                </m:num>
                                <m:den>
                                  <m:r>
                                    <a:rPr lang="zh-CN" altLang="en-US" i="0">
                                      <a:latin typeface="Cambria Math" panose="02040503050406030204" pitchFamily="18" charset="0"/>
                                    </a:rPr>
                                    <m:t>𝜕</m:t>
                                  </m:r>
                                  <m:r>
                                    <a:rPr lang="zh-CN" altLang="en-US" i="1">
                                      <a:latin typeface="Cambria Math" panose="02040503050406030204" pitchFamily="18" charset="0"/>
                                    </a:rPr>
                                    <m:t>𝑇</m:t>
                                  </m:r>
                                </m:den>
                              </m:f>
                            </m:e>
                          </m:d>
                        </m:e>
                        <m:sub>
                          <m:r>
                            <a:rPr lang="zh-CN" altLang="en-US" i="1">
                              <a:latin typeface="Cambria Math" panose="02040503050406030204" pitchFamily="18" charset="0"/>
                            </a:rPr>
                            <m:t>𝑃</m:t>
                          </m:r>
                          <m:r>
                            <a:rPr lang="zh-CN" altLang="en-US" i="0">
                              <a:latin typeface="Cambria Math" panose="02040503050406030204" pitchFamily="18" charset="0"/>
                            </a:rPr>
                            <m:t>,</m:t>
                          </m:r>
                          <m:r>
                            <a:rPr lang="zh-CN" altLang="en-US" i="1">
                              <a:latin typeface="Cambria Math" panose="02040503050406030204" pitchFamily="18" charset="0"/>
                            </a:rPr>
                            <m:t>𝐶𝑜𝑚𝑝</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𝐻</m:t>
                              </m:r>
                            </m:e>
                            <m:sub>
                              <m:r>
                                <a:rPr lang="zh-CN" altLang="en-US" i="1">
                                  <a:latin typeface="Cambria Math" panose="02040503050406030204" pitchFamily="18" charset="0"/>
                                </a:rPr>
                                <m:t>𝑖</m:t>
                              </m:r>
                            </m:sub>
                            <m:sup>
                              <m:r>
                                <a:rPr lang="zh-CN" altLang="en-US" i="1">
                                  <a:latin typeface="Cambria Math" panose="02040503050406030204" pitchFamily="18" charset="0"/>
                                </a:rPr>
                                <m:t>𝑜</m:t>
                              </m:r>
                            </m:sup>
                          </m:sSubSup>
                        </m:num>
                        <m:den>
                          <m:sSup>
                            <m:sSupPr>
                              <m:ctrlPr>
                                <a:rPr lang="zh-CN" altLang="en-US" i="1">
                                  <a:latin typeface="Cambria Math" panose="02040503050406030204" pitchFamily="18" charset="0"/>
                                </a:rPr>
                              </m:ctrlPr>
                            </m:sSupPr>
                            <m:e>
                              <m:r>
                                <a:rPr lang="zh-CN" altLang="en-US" i="1">
                                  <a:latin typeface="Cambria Math" panose="02040503050406030204" pitchFamily="18" charset="0"/>
                                </a:rPr>
                                <m:t>𝑇</m:t>
                              </m:r>
                            </m:e>
                            <m:sup>
                              <m:r>
                                <a:rPr lang="zh-CN" altLang="en-US" i="0">
                                  <a:latin typeface="Cambria Math" panose="02040503050406030204" pitchFamily="18" charset="0"/>
                                </a:rPr>
                                <m:t>2</m:t>
                              </m:r>
                            </m:sup>
                          </m:sSup>
                        </m:den>
                      </m:f>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3864924" y="3637399"/>
                <a:ext cx="2558200" cy="776751"/>
              </a:xfrm>
              <a:prstGeom prst="rect">
                <a:avLst/>
              </a:prstGeom>
              <a:blipFill rotWithShape="0">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3691794" y="5135633"/>
                <a:ext cx="3749808" cy="10416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d>
                            <m:dPr>
                              <m:begChr m:val="["/>
                              <m:endChr m:val="]"/>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r>
                                    <a:rPr lang="zh-CN" altLang="en-US">
                                      <a:latin typeface="Cambria Math" panose="02040503050406030204" pitchFamily="18" charset="0"/>
                                    </a:rPr>
                                    <m:t>𝜕</m:t>
                                  </m:r>
                                  <m:d>
                                    <m:dPr>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𝐺</m:t>
                                                  </m:r>
                                                </m:e>
                                              </m:acc>
                                            </m:e>
                                            <m:sub>
                                              <m:r>
                                                <a:rPr lang="zh-CN" altLang="en-US" i="1">
                                                  <a:latin typeface="Cambria Math" panose="02040503050406030204" pitchFamily="18" charset="0"/>
                                                </a:rPr>
                                                <m:t>𝑖</m:t>
                                              </m:r>
                                            </m:sub>
                                          </m:sSub>
                                          <m:r>
                                            <a:rPr lang="zh-CN" altLang="en-US" i="0">
                                              <a:latin typeface="Cambria Math" panose="02040503050406030204" pitchFamily="18" charset="0"/>
                                            </a:rPr>
                                            <m:t>−</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𝐺</m:t>
                                              </m:r>
                                            </m:e>
                                            <m:sub>
                                              <m:r>
                                                <a:rPr lang="zh-CN" altLang="en-US" i="1">
                                                  <a:latin typeface="Cambria Math" panose="02040503050406030204" pitchFamily="18" charset="0"/>
                                                </a:rPr>
                                                <m:t>𝑖</m:t>
                                              </m:r>
                                            </m:sub>
                                            <m:sup>
                                              <m:r>
                                                <a:rPr lang="zh-CN" altLang="en-US" i="1">
                                                  <a:latin typeface="Cambria Math" panose="02040503050406030204" pitchFamily="18" charset="0"/>
                                                </a:rPr>
                                                <m:t>𝑜</m:t>
                                              </m:r>
                                            </m:sup>
                                          </m:sSubSup>
                                        </m:num>
                                        <m:den>
                                          <m:r>
                                            <a:rPr lang="zh-CN" altLang="en-US" i="1">
                                              <a:latin typeface="Cambria Math" panose="02040503050406030204" pitchFamily="18" charset="0"/>
                                            </a:rPr>
                                            <m:t>𝑇</m:t>
                                          </m:r>
                                        </m:den>
                                      </m:f>
                                    </m:e>
                                  </m:d>
                                </m:num>
                                <m:den>
                                  <m:r>
                                    <a:rPr lang="zh-CN" altLang="en-US" i="0">
                                      <a:latin typeface="Cambria Math" panose="02040503050406030204" pitchFamily="18" charset="0"/>
                                    </a:rPr>
                                    <m:t>𝜕</m:t>
                                  </m:r>
                                  <m:r>
                                    <a:rPr lang="zh-CN" altLang="en-US" i="1">
                                      <a:latin typeface="Cambria Math" panose="02040503050406030204" pitchFamily="18" charset="0"/>
                                    </a:rPr>
                                    <m:t>𝑇</m:t>
                                  </m:r>
                                </m:den>
                              </m:f>
                            </m:e>
                          </m:d>
                        </m:e>
                        <m:sub>
                          <m:r>
                            <a:rPr lang="zh-CN" altLang="en-US" i="1">
                              <a:latin typeface="Cambria Math" panose="02040503050406030204" pitchFamily="18" charset="0"/>
                            </a:rPr>
                            <m:t>𝑃</m:t>
                          </m:r>
                          <m:r>
                            <a:rPr lang="zh-CN" altLang="en-US" i="0">
                              <a:latin typeface="Cambria Math" panose="02040503050406030204" pitchFamily="18" charset="0"/>
                            </a:rPr>
                            <m:t>,</m:t>
                          </m:r>
                          <m:r>
                            <a:rPr lang="zh-CN" altLang="en-US" i="1">
                              <a:latin typeface="Cambria Math" panose="02040503050406030204" pitchFamily="18" charset="0"/>
                            </a:rPr>
                            <m:t>𝐶𝑜𝑚𝑝</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𝐻</m:t>
                                      </m:r>
                                    </m:e>
                                  </m:acc>
                                </m:e>
                                <m:sub>
                                  <m:r>
                                    <a:rPr lang="zh-CN" altLang="en-US" i="1">
                                      <a:latin typeface="Cambria Math" panose="02040503050406030204" pitchFamily="18" charset="0"/>
                                    </a:rPr>
                                    <m:t>𝑖</m:t>
                                  </m:r>
                                </m:sub>
                              </m:sSub>
                              <m:r>
                                <a:rPr lang="zh-CN" altLang="en-US" i="0">
                                  <a:latin typeface="Cambria Math" panose="02040503050406030204" pitchFamily="18" charset="0"/>
                                </a:rPr>
                                <m:t>−</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𝐻</m:t>
                                  </m:r>
                                </m:e>
                                <m:sub>
                                  <m:r>
                                    <a:rPr lang="zh-CN" altLang="en-US" i="1">
                                      <a:latin typeface="Cambria Math" panose="02040503050406030204" pitchFamily="18" charset="0"/>
                                    </a:rPr>
                                    <m:t>𝑖</m:t>
                                  </m:r>
                                </m:sub>
                                <m:sup>
                                  <m:r>
                                    <a:rPr lang="zh-CN" altLang="en-US" i="1">
                                      <a:latin typeface="Cambria Math" panose="02040503050406030204" pitchFamily="18" charset="0"/>
                                    </a:rPr>
                                    <m:t>𝑜</m:t>
                                  </m:r>
                                </m:sup>
                              </m:sSubSup>
                            </m:e>
                          </m:d>
                        </m:num>
                        <m:den>
                          <m:sSup>
                            <m:sSupPr>
                              <m:ctrlPr>
                                <a:rPr lang="zh-CN" altLang="en-US" i="1">
                                  <a:latin typeface="Cambria Math" panose="02040503050406030204" pitchFamily="18" charset="0"/>
                                </a:rPr>
                              </m:ctrlPr>
                            </m:sSupPr>
                            <m:e>
                              <m:r>
                                <a:rPr lang="zh-CN" altLang="en-US" i="1">
                                  <a:latin typeface="Cambria Math" panose="02040503050406030204" pitchFamily="18" charset="0"/>
                                </a:rPr>
                                <m:t>𝑇</m:t>
                              </m:r>
                            </m:e>
                            <m:sup>
                              <m:r>
                                <a:rPr lang="zh-CN" altLang="en-US" i="0">
                                  <a:latin typeface="Cambria Math" panose="02040503050406030204" pitchFamily="18" charset="0"/>
                                </a:rPr>
                                <m:t>2</m:t>
                              </m:r>
                            </m:sup>
                          </m:sSup>
                        </m:den>
                      </m:f>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3691794" y="5135633"/>
                <a:ext cx="3749808" cy="1041632"/>
              </a:xfrm>
              <a:prstGeom prst="rect">
                <a:avLst/>
              </a:prstGeom>
              <a:blipFill rotWithShape="0">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195552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bwMode="auto">
          <a:xfrm>
            <a:off x="1193887" y="177347"/>
            <a:ext cx="7731126" cy="595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2800" b="1" dirty="0">
                <a:solidFill>
                  <a:srgbClr val="FF0000"/>
                </a:solidFill>
                <a:latin typeface="Arial" charset="0"/>
                <a:cs typeface="Arial" charset="0"/>
              </a:rPr>
              <a:t>Heat of Formation of an ideal Solution</a:t>
            </a:r>
            <a:endParaRPr lang="en-US" sz="2800" dirty="0">
              <a:solidFill>
                <a:srgbClr val="FF0000"/>
              </a:solidFill>
            </a:endParaRPr>
          </a:p>
        </p:txBody>
      </p:sp>
      <p:pic>
        <p:nvPicPr>
          <p:cNvPr id="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035" y="2057400"/>
            <a:ext cx="7746315" cy="4325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矩形 18"/>
          <p:cNvSpPr/>
          <p:nvPr/>
        </p:nvSpPr>
        <p:spPr>
          <a:xfrm>
            <a:off x="286541" y="1429182"/>
            <a:ext cx="2914131" cy="400110"/>
          </a:xfrm>
          <a:prstGeom prst="rect">
            <a:avLst/>
          </a:prstGeom>
        </p:spPr>
        <p:txBody>
          <a:bodyPr wrap="none">
            <a:spAutoFit/>
          </a:bodyPr>
          <a:lstStyle/>
          <a:p>
            <a:r>
              <a:rPr lang="en-US" altLang="zh-CN" sz="2000" i="1" dirty="0"/>
              <a:t>Gibbs-Helmholtz equation</a:t>
            </a:r>
            <a:endParaRPr lang="zh-CN" altLang="en-US" sz="2000" i="1" dirty="0"/>
          </a:p>
        </p:txBody>
      </p:sp>
      <p:graphicFrame>
        <p:nvGraphicFramePr>
          <p:cNvPr id="2" name="对象 1"/>
          <p:cNvGraphicFramePr>
            <a:graphicFrameLocks noChangeAspect="1"/>
          </p:cNvGraphicFramePr>
          <p:nvPr>
            <p:extLst>
              <p:ext uri="{D42A27DB-BD31-4B8C-83A1-F6EECF244321}">
                <p14:modId xmlns:p14="http://schemas.microsoft.com/office/powerpoint/2010/main" val="4043316112"/>
              </p:ext>
            </p:extLst>
          </p:nvPr>
        </p:nvGraphicFramePr>
        <p:xfrm>
          <a:off x="6189093" y="1429182"/>
          <a:ext cx="2840038" cy="476250"/>
        </p:xfrm>
        <a:graphic>
          <a:graphicData uri="http://schemas.openxmlformats.org/presentationml/2006/ole">
            <mc:AlternateContent xmlns:mc="http://schemas.openxmlformats.org/markup-compatibility/2006">
              <mc:Choice xmlns:v="urn:schemas-microsoft-com:vml" Requires="v">
                <p:oleObj name="Equation" r:id="rId3" imgW="1663560" imgH="279360" progId="Equation.DSMT4">
                  <p:embed/>
                </p:oleObj>
              </mc:Choice>
              <mc:Fallback>
                <p:oleObj name="Equation" r:id="rId3" imgW="1663560" imgH="2793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89093" y="1429182"/>
                        <a:ext cx="2840038" cy="476250"/>
                      </a:xfrm>
                      <a:prstGeom prst="rect">
                        <a:avLst/>
                      </a:prstGeom>
                      <a:solidFill>
                        <a:srgbClr val="FAC09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5922364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bwMode="auto">
          <a:xfrm>
            <a:off x="752037" y="0"/>
            <a:ext cx="7245350" cy="667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2800" b="1" dirty="0">
                <a:solidFill>
                  <a:srgbClr val="FF0000"/>
                </a:solidFill>
                <a:latin typeface="Arial" charset="0"/>
                <a:cs typeface="Arial" charset="0"/>
              </a:rPr>
              <a:t>Entropy of Formation of an ideal Solution</a:t>
            </a:r>
            <a:endParaRPr lang="en-US" sz="2800" dirty="0">
              <a:solidFill>
                <a:srgbClr val="FF0000"/>
              </a:solidFill>
            </a:endParaRPr>
          </a:p>
        </p:txBody>
      </p:sp>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00200"/>
            <a:ext cx="8229600" cy="441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对象 1"/>
          <p:cNvGraphicFramePr>
            <a:graphicFrameLocks noChangeAspect="1"/>
          </p:cNvGraphicFramePr>
          <p:nvPr>
            <p:extLst>
              <p:ext uri="{D42A27DB-BD31-4B8C-83A1-F6EECF244321}">
                <p14:modId xmlns:p14="http://schemas.microsoft.com/office/powerpoint/2010/main" val="1229524968"/>
              </p:ext>
            </p:extLst>
          </p:nvPr>
        </p:nvGraphicFramePr>
        <p:xfrm>
          <a:off x="6217526" y="1287002"/>
          <a:ext cx="2840038" cy="476250"/>
        </p:xfrm>
        <a:graphic>
          <a:graphicData uri="http://schemas.openxmlformats.org/presentationml/2006/ole">
            <mc:AlternateContent xmlns:mc="http://schemas.openxmlformats.org/markup-compatibility/2006">
              <mc:Choice xmlns:v="urn:schemas-microsoft-com:vml" Requires="v">
                <p:oleObj name="Equation" r:id="rId3" imgW="1663560" imgH="279360" progId="Equation.DSMT4">
                  <p:embed/>
                </p:oleObj>
              </mc:Choice>
              <mc:Fallback>
                <p:oleObj name="Equation" r:id="rId3" imgW="1663560" imgH="2793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7526" y="1287002"/>
                        <a:ext cx="2840038" cy="476250"/>
                      </a:xfrm>
                      <a:prstGeom prst="rect">
                        <a:avLst/>
                      </a:prstGeom>
                      <a:solidFill>
                        <a:srgbClr val="FAC09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788970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bwMode="auto">
          <a:xfrm>
            <a:off x="1641474" y="221554"/>
            <a:ext cx="7235825" cy="595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2400" b="1" dirty="0">
                <a:solidFill>
                  <a:srgbClr val="FF0000"/>
                </a:solidFill>
                <a:latin typeface="Arial" charset="0"/>
                <a:cs typeface="Arial" charset="0"/>
              </a:rPr>
              <a:t>Entropy of Formation of an ideal Solution</a:t>
            </a:r>
            <a:endParaRPr lang="en-US" sz="2400" dirty="0">
              <a:solidFill>
                <a:srgbClr val="FF0000"/>
              </a:solidFill>
            </a:endParaRPr>
          </a:p>
        </p:txBody>
      </p:sp>
      <p:pic>
        <p:nvPicPr>
          <p:cNvPr id="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875" y="1571625"/>
            <a:ext cx="7840663" cy="481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对象 1"/>
          <p:cNvGraphicFramePr>
            <a:graphicFrameLocks noChangeAspect="1"/>
          </p:cNvGraphicFramePr>
          <p:nvPr>
            <p:extLst>
              <p:ext uri="{D42A27DB-BD31-4B8C-83A1-F6EECF244321}">
                <p14:modId xmlns:p14="http://schemas.microsoft.com/office/powerpoint/2010/main" val="2822384062"/>
              </p:ext>
            </p:extLst>
          </p:nvPr>
        </p:nvGraphicFramePr>
        <p:xfrm>
          <a:off x="6161798" y="1333500"/>
          <a:ext cx="2840038" cy="476250"/>
        </p:xfrm>
        <a:graphic>
          <a:graphicData uri="http://schemas.openxmlformats.org/presentationml/2006/ole">
            <mc:AlternateContent xmlns:mc="http://schemas.openxmlformats.org/markup-compatibility/2006">
              <mc:Choice xmlns:v="urn:schemas-microsoft-com:vml" Requires="v">
                <p:oleObj name="Equation" r:id="rId3" imgW="1663560" imgH="279360" progId="Equation.DSMT4">
                  <p:embed/>
                </p:oleObj>
              </mc:Choice>
              <mc:Fallback>
                <p:oleObj name="Equation" r:id="rId3" imgW="1663560" imgH="2793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1798" y="1333500"/>
                        <a:ext cx="2840038" cy="476250"/>
                      </a:xfrm>
                      <a:prstGeom prst="rect">
                        <a:avLst/>
                      </a:prstGeom>
                      <a:solidFill>
                        <a:srgbClr val="FAC09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199414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b="10198"/>
          <a:stretch/>
        </p:blipFill>
        <p:spPr bwMode="auto">
          <a:xfrm>
            <a:off x="491396" y="1400175"/>
            <a:ext cx="7191721" cy="463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itle 1"/>
          <p:cNvSpPr txBox="1">
            <a:spLocks/>
          </p:cNvSpPr>
          <p:nvPr/>
        </p:nvSpPr>
        <p:spPr bwMode="auto">
          <a:xfrm>
            <a:off x="1040843" y="113902"/>
            <a:ext cx="6492875" cy="4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2400" b="1" dirty="0">
                <a:solidFill>
                  <a:srgbClr val="FF0000"/>
                </a:solidFill>
                <a:latin typeface="Arial" charset="0"/>
                <a:cs typeface="Arial" charset="0"/>
              </a:rPr>
              <a:t>Entropy of Formation of an ideal Solution</a:t>
            </a:r>
            <a:endParaRPr lang="en-US" sz="2400" dirty="0">
              <a:solidFill>
                <a:srgbClr val="FF0000"/>
              </a:solidFill>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1525689734"/>
              </p:ext>
            </p:extLst>
          </p:nvPr>
        </p:nvGraphicFramePr>
        <p:xfrm>
          <a:off x="5963498" y="1138801"/>
          <a:ext cx="2840038" cy="476250"/>
        </p:xfrm>
        <a:graphic>
          <a:graphicData uri="http://schemas.openxmlformats.org/presentationml/2006/ole">
            <mc:AlternateContent xmlns:mc="http://schemas.openxmlformats.org/markup-compatibility/2006">
              <mc:Choice xmlns:v="urn:schemas-microsoft-com:vml" Requires="v">
                <p:oleObj name="Equation" r:id="rId3" imgW="1663560" imgH="279360" progId="Equation.DSMT4">
                  <p:embed/>
                </p:oleObj>
              </mc:Choice>
              <mc:Fallback>
                <p:oleObj name="Equation" r:id="rId3" imgW="1663560" imgH="2793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3498" y="1138801"/>
                        <a:ext cx="2840038" cy="476250"/>
                      </a:xfrm>
                      <a:prstGeom prst="rect">
                        <a:avLst/>
                      </a:prstGeom>
                      <a:solidFill>
                        <a:srgbClr val="FAC09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894496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74557" y="1003671"/>
            <a:ext cx="2378921" cy="461665"/>
          </a:xfrm>
          <a:prstGeom prst="rect">
            <a:avLst/>
          </a:prstGeom>
          <a:solidFill>
            <a:schemeClr val="accent6">
              <a:lumMod val="40000"/>
              <a:lumOff val="60000"/>
            </a:schemeClr>
          </a:solidFill>
        </p:spPr>
        <p:txBody>
          <a:bodyPr wrap="none" rtlCol="0">
            <a:spAutoFit/>
          </a:bodyPr>
          <a:lstStyle/>
          <a:p>
            <a:r>
              <a:rPr lang="en-US" altLang="zh-CN" sz="2400" dirty="0"/>
              <a:t>Open Question</a:t>
            </a:r>
            <a:r>
              <a:rPr lang="zh-CN" altLang="en-US" sz="2400" dirty="0"/>
              <a:t>？</a:t>
            </a:r>
          </a:p>
        </p:txBody>
      </p:sp>
      <p:sp>
        <p:nvSpPr>
          <p:cNvPr id="11" name="TextBox 10"/>
          <p:cNvSpPr txBox="1"/>
          <p:nvPr/>
        </p:nvSpPr>
        <p:spPr>
          <a:xfrm>
            <a:off x="588579" y="2278118"/>
            <a:ext cx="7764517" cy="923330"/>
          </a:xfrm>
          <a:prstGeom prst="rect">
            <a:avLst/>
          </a:prstGeom>
          <a:noFill/>
        </p:spPr>
        <p:txBody>
          <a:bodyPr wrap="square" rtlCol="0">
            <a:spAutoFit/>
          </a:bodyPr>
          <a:lstStyle/>
          <a:p>
            <a:pPr marL="285750" indent="-285750">
              <a:buFont typeface="Wingdings" panose="05000000000000000000" pitchFamily="2" charset="2"/>
              <a:buChar char="ü"/>
            </a:pPr>
            <a:r>
              <a:rPr lang="en-US" altLang="zh-CN" dirty="0"/>
              <a:t>Is possible directed measure the interaction of molecular in a solution, design a possible experiment!</a:t>
            </a:r>
          </a:p>
          <a:p>
            <a:pPr marL="285750" indent="-285750">
              <a:buFont typeface="Wingdings" panose="05000000000000000000" pitchFamily="2" charset="2"/>
              <a:buChar char="ü"/>
            </a:pPr>
            <a:endParaRPr lang="en-US" altLang="zh-CN" dirty="0"/>
          </a:p>
        </p:txBody>
      </p:sp>
    </p:spTree>
    <p:extLst>
      <p:ext uri="{BB962C8B-B14F-4D97-AF65-F5344CB8AC3E}">
        <p14:creationId xmlns:p14="http://schemas.microsoft.com/office/powerpoint/2010/main" val="11769441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bwMode="auto">
          <a:xfrm>
            <a:off x="841872" y="1211261"/>
            <a:ext cx="5873750" cy="505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3200" b="1" dirty="0">
                <a:solidFill>
                  <a:srgbClr val="FF0000"/>
                </a:solidFill>
                <a:latin typeface="Arial" charset="0"/>
                <a:cs typeface="Arial" charset="0"/>
              </a:rPr>
              <a:t>Next lecture</a:t>
            </a:r>
            <a:endParaRPr lang="en-US" sz="3200" dirty="0">
              <a:solidFill>
                <a:srgbClr val="FF0000"/>
              </a:solidFill>
            </a:endParaRPr>
          </a:p>
        </p:txBody>
      </p:sp>
      <p:sp>
        <p:nvSpPr>
          <p:cNvPr id="11" name="TextBox 10"/>
          <p:cNvSpPr txBox="1"/>
          <p:nvPr/>
        </p:nvSpPr>
        <p:spPr>
          <a:xfrm>
            <a:off x="849216" y="2475845"/>
            <a:ext cx="3708066" cy="523220"/>
          </a:xfrm>
          <a:prstGeom prst="rect">
            <a:avLst/>
          </a:prstGeom>
          <a:noFill/>
        </p:spPr>
        <p:txBody>
          <a:bodyPr wrap="none" rtlCol="0">
            <a:spAutoFit/>
          </a:bodyPr>
          <a:lstStyle/>
          <a:p>
            <a:pPr marL="457200" indent="-457200">
              <a:buFont typeface="Wingdings" panose="05000000000000000000" pitchFamily="2" charset="2"/>
              <a:buChar char="ü"/>
            </a:pPr>
            <a:r>
              <a:rPr lang="en-US" altLang="zh-CN" sz="2800" dirty="0"/>
              <a:t>Non-ideal solutions</a:t>
            </a:r>
            <a:endParaRPr lang="zh-CN" altLang="en-US" sz="2800" dirty="0"/>
          </a:p>
        </p:txBody>
      </p:sp>
      <p:sp>
        <p:nvSpPr>
          <p:cNvPr id="12" name="TextBox 11"/>
          <p:cNvSpPr txBox="1"/>
          <p:nvPr/>
        </p:nvSpPr>
        <p:spPr>
          <a:xfrm>
            <a:off x="845544" y="3151465"/>
            <a:ext cx="3153556" cy="523220"/>
          </a:xfrm>
          <a:prstGeom prst="rect">
            <a:avLst/>
          </a:prstGeom>
          <a:noFill/>
        </p:spPr>
        <p:txBody>
          <a:bodyPr wrap="none" rtlCol="0">
            <a:spAutoFit/>
          </a:bodyPr>
          <a:lstStyle/>
          <a:p>
            <a:pPr marL="457200" indent="-457200">
              <a:buFont typeface="Wingdings" panose="05000000000000000000" pitchFamily="2" charset="2"/>
              <a:buChar char="ü"/>
            </a:pPr>
            <a:r>
              <a:rPr lang="en-US" altLang="zh-CN" sz="2800" dirty="0"/>
              <a:t>Regular solutions</a:t>
            </a:r>
            <a:endParaRPr lang="zh-CN" altLang="en-US" sz="2800" dirty="0"/>
          </a:p>
        </p:txBody>
      </p:sp>
      <p:sp>
        <p:nvSpPr>
          <p:cNvPr id="13" name="TextBox 12"/>
          <p:cNvSpPr txBox="1"/>
          <p:nvPr/>
        </p:nvSpPr>
        <p:spPr>
          <a:xfrm>
            <a:off x="845544" y="3847445"/>
            <a:ext cx="3738588" cy="523220"/>
          </a:xfrm>
          <a:prstGeom prst="rect">
            <a:avLst/>
          </a:prstGeom>
          <a:noFill/>
        </p:spPr>
        <p:txBody>
          <a:bodyPr wrap="none" rtlCol="0">
            <a:spAutoFit/>
          </a:bodyPr>
          <a:lstStyle/>
          <a:p>
            <a:pPr marL="457200" indent="-457200">
              <a:buFont typeface="Wingdings" panose="05000000000000000000" pitchFamily="2" charset="2"/>
              <a:buChar char="ü"/>
            </a:pPr>
            <a:r>
              <a:rPr lang="en-US" altLang="zh-CN" sz="2800" dirty="0"/>
              <a:t>Sub-regular solutions</a:t>
            </a:r>
            <a:endParaRPr lang="zh-CN" altLang="en-US" sz="2800" dirty="0"/>
          </a:p>
        </p:txBody>
      </p:sp>
    </p:spTree>
    <p:extLst>
      <p:ext uri="{BB962C8B-B14F-4D97-AF65-F5344CB8AC3E}">
        <p14:creationId xmlns:p14="http://schemas.microsoft.com/office/powerpoint/2010/main" val="2432096258"/>
      </p:ext>
    </p:extLst>
  </p:cSld>
  <p:clrMapOvr>
    <a:masterClrMapping/>
  </p:clrMapOvr>
</p:sld>
</file>

<file path=ppt/theme/theme1.xml><?xml version="1.0" encoding="utf-8"?>
<a:theme xmlns:a="http://schemas.openxmlformats.org/drawingml/2006/main" name="Master Boar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Arial"/>
        <a:ea typeface="等线 Light"/>
        <a:cs typeface=""/>
      </a:majorFont>
      <a:minorFont>
        <a:latin typeface="Arial"/>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Master Board</Template>
  <TotalTime>6218</TotalTime>
  <Words>1626</Words>
  <Application>Microsoft Office PowerPoint</Application>
  <PresentationFormat>全屏显示(4:3)</PresentationFormat>
  <Paragraphs>175</Paragraphs>
  <Slides>39</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39</vt:i4>
      </vt:variant>
    </vt:vector>
  </HeadingPairs>
  <TitlesOfParts>
    <vt:vector size="53" baseType="lpstr">
      <vt:lpstr>Arial Unicode MS</vt:lpstr>
      <vt:lpstr>Whitney-Bold</vt:lpstr>
      <vt:lpstr>等线</vt:lpstr>
      <vt:lpstr>黑体</vt:lpstr>
      <vt:lpstr>Arial</vt:lpstr>
      <vt:lpstr>Calibri</vt:lpstr>
      <vt:lpstr>Cambria Math</vt:lpstr>
      <vt:lpstr>Roboto</vt:lpstr>
      <vt:lpstr>Sylfaen</vt:lpstr>
      <vt:lpstr>Times New Roman</vt:lpstr>
      <vt:lpstr>Wingdings</vt:lpstr>
      <vt:lpstr>Master Board</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 weishu</dc:creator>
  <cp:lastModifiedBy>Liu WS</cp:lastModifiedBy>
  <cp:revision>350</cp:revision>
  <cp:lastPrinted>2020-11-26T13:07:31Z</cp:lastPrinted>
  <dcterms:created xsi:type="dcterms:W3CDTF">2019-02-07T07:31:12Z</dcterms:created>
  <dcterms:modified xsi:type="dcterms:W3CDTF">2022-10-27T13:34:29Z</dcterms:modified>
</cp:coreProperties>
</file>