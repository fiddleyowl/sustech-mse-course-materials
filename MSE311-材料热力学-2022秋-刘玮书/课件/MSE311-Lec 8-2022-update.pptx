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notesMasterIdLst>
    <p:notesMasterId r:id="rId44"/>
  </p:notesMasterIdLst>
  <p:sldIdLst>
    <p:sldId id="365" r:id="rId2"/>
    <p:sldId id="351" r:id="rId3"/>
    <p:sldId id="348" r:id="rId4"/>
    <p:sldId id="374" r:id="rId5"/>
    <p:sldId id="316" r:id="rId6"/>
    <p:sldId id="375" r:id="rId7"/>
    <p:sldId id="408" r:id="rId8"/>
    <p:sldId id="409" r:id="rId9"/>
    <p:sldId id="410" r:id="rId10"/>
    <p:sldId id="411" r:id="rId11"/>
    <p:sldId id="412" r:id="rId12"/>
    <p:sldId id="414" r:id="rId13"/>
    <p:sldId id="361" r:id="rId14"/>
    <p:sldId id="362" r:id="rId15"/>
    <p:sldId id="322" r:id="rId16"/>
    <p:sldId id="323" r:id="rId17"/>
    <p:sldId id="324" r:id="rId18"/>
    <p:sldId id="325" r:id="rId19"/>
    <p:sldId id="326" r:id="rId20"/>
    <p:sldId id="327" r:id="rId21"/>
    <p:sldId id="328" r:id="rId22"/>
    <p:sldId id="329" r:id="rId23"/>
    <p:sldId id="330" r:id="rId24"/>
    <p:sldId id="331" r:id="rId25"/>
    <p:sldId id="332" r:id="rId26"/>
    <p:sldId id="333" r:id="rId27"/>
    <p:sldId id="334" r:id="rId28"/>
    <p:sldId id="339" r:id="rId29"/>
    <p:sldId id="357" r:id="rId30"/>
    <p:sldId id="358" r:id="rId31"/>
    <p:sldId id="415" r:id="rId32"/>
    <p:sldId id="369" r:id="rId33"/>
    <p:sldId id="363" r:id="rId34"/>
    <p:sldId id="367" r:id="rId35"/>
    <p:sldId id="416" r:id="rId36"/>
    <p:sldId id="417" r:id="rId37"/>
    <p:sldId id="390" r:id="rId38"/>
    <p:sldId id="391" r:id="rId39"/>
    <p:sldId id="392" r:id="rId40"/>
    <p:sldId id="378" r:id="rId41"/>
    <p:sldId id="380" r:id="rId42"/>
    <p:sldId id="381" r:id="rId4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00FF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506" autoAdjust="0"/>
  </p:normalViewPr>
  <p:slideViewPr>
    <p:cSldViewPr snapToGrid="0">
      <p:cViewPr varScale="1">
        <p:scale>
          <a:sx n="112" d="100"/>
          <a:sy n="112" d="100"/>
        </p:scale>
        <p:origin x="1506" y="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7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A478E-90E3-4BE0-BF7B-B1AD7461FEF4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97359-BD37-41E1-AF95-71E7D52515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872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497359-BD37-41E1-AF95-71E7D52515A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925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497359-BD37-41E1-AF95-71E7D52515AE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290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497359-BD37-41E1-AF95-71E7D52515AE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261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F94922-854C-44B1-AD42-3245CD93F530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177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497359-BD37-41E1-AF95-71E7D52515AE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275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9">
            <a:extLst>
              <a:ext uri="{FF2B5EF4-FFF2-40B4-BE49-F238E27FC236}">
                <a16:creationId xmlns:a16="http://schemas.microsoft.com/office/drawing/2014/main" id="{36484A2C-39A1-4BDC-B92B-AF52D58B0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5035550"/>
            <a:ext cx="114300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11">
            <a:extLst>
              <a:ext uri="{FF2B5EF4-FFF2-40B4-BE49-F238E27FC236}">
                <a16:creationId xmlns:a16="http://schemas.microsoft.com/office/drawing/2014/main" id="{56818F0A-1B6A-44A9-9717-55DA1C8C1ED4}"/>
              </a:ext>
            </a:extLst>
          </p:cNvPr>
          <p:cNvGrpSpPr>
            <a:grpSpLocks/>
          </p:cNvGrpSpPr>
          <p:nvPr/>
        </p:nvGrpSpPr>
        <p:grpSpPr bwMode="auto">
          <a:xfrm>
            <a:off x="0" y="4741863"/>
            <a:ext cx="9043988" cy="142875"/>
            <a:chOff x="76199" y="1241003"/>
            <a:chExt cx="9044401" cy="144000"/>
          </a:xfrm>
        </p:grpSpPr>
        <p:sp>
          <p:nvSpPr>
            <p:cNvPr id="9" name="圆角矩形 11">
              <a:extLst>
                <a:ext uri="{FF2B5EF4-FFF2-40B4-BE49-F238E27FC236}">
                  <a16:creationId xmlns:a16="http://schemas.microsoft.com/office/drawing/2014/main" id="{2658448A-EA7B-40C8-99E5-5CDD7E4A2B5E}"/>
                </a:ext>
              </a:extLst>
            </p:cNvPr>
            <p:cNvSpPr/>
            <p:nvPr/>
          </p:nvSpPr>
          <p:spPr>
            <a:xfrm>
              <a:off x="76199" y="1241003"/>
              <a:ext cx="1487556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2">
              <a:extLst>
                <a:ext uri="{FF2B5EF4-FFF2-40B4-BE49-F238E27FC236}">
                  <a16:creationId xmlns:a16="http://schemas.microsoft.com/office/drawing/2014/main" id="{0F1BA9DE-48A6-4320-A3CB-CA0618F88CA6}"/>
                </a:ext>
              </a:extLst>
            </p:cNvPr>
            <p:cNvSpPr/>
            <p:nvPr/>
          </p:nvSpPr>
          <p:spPr>
            <a:xfrm>
              <a:off x="1630433" y="1241003"/>
              <a:ext cx="3103704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" name="圆角矩形 13">
              <a:extLst>
                <a:ext uri="{FF2B5EF4-FFF2-40B4-BE49-F238E27FC236}">
                  <a16:creationId xmlns:a16="http://schemas.microsoft.com/office/drawing/2014/main" id="{95532181-9B56-4565-85B0-26FAE243974A}"/>
                </a:ext>
              </a:extLst>
            </p:cNvPr>
            <p:cNvSpPr/>
            <p:nvPr/>
          </p:nvSpPr>
          <p:spPr>
            <a:xfrm>
              <a:off x="4800815" y="1241003"/>
              <a:ext cx="4319785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2" name="图片 18">
            <a:extLst>
              <a:ext uri="{FF2B5EF4-FFF2-40B4-BE49-F238E27FC236}">
                <a16:creationId xmlns:a16="http://schemas.microsoft.com/office/drawing/2014/main" id="{C6EF10A3-5E14-4AC4-BEC5-788C4A6AB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035550"/>
            <a:ext cx="4313238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20">
            <a:extLst>
              <a:ext uri="{FF2B5EF4-FFF2-40B4-BE49-F238E27FC236}">
                <a16:creationId xmlns:a16="http://schemas.microsoft.com/office/drawing/2014/main" id="{E5368EC2-A439-426F-9848-8912DFFAC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5035550"/>
            <a:ext cx="3019425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图片 3">
            <a:extLst>
              <a:ext uri="{FF2B5EF4-FFF2-40B4-BE49-F238E27FC236}">
                <a16:creationId xmlns:a16="http://schemas.microsoft.com/office/drawing/2014/main" id="{DB79EDD7-2DA9-41B8-BF25-43496C7096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" t="5525" r="8671" b="8884"/>
          <a:stretch/>
        </p:blipFill>
        <p:spPr bwMode="auto">
          <a:xfrm>
            <a:off x="106362" y="56707"/>
            <a:ext cx="4366401" cy="101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图片 9">
            <a:extLst>
              <a:ext uri="{FF2B5EF4-FFF2-40B4-BE49-F238E27FC236}">
                <a16:creationId xmlns:a16="http://schemas.microsoft.com/office/drawing/2014/main" id="{AAD387B1-3103-410C-8A6F-61D494AEAD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5035550"/>
            <a:ext cx="114300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11">
            <a:extLst>
              <a:ext uri="{FF2B5EF4-FFF2-40B4-BE49-F238E27FC236}">
                <a16:creationId xmlns:a16="http://schemas.microsoft.com/office/drawing/2014/main" id="{EF2F75DC-2FDE-4EE3-8E34-8BABCC7179F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4741863"/>
            <a:ext cx="9043988" cy="142875"/>
            <a:chOff x="76199" y="1241003"/>
            <a:chExt cx="9044401" cy="144000"/>
          </a:xfrm>
        </p:grpSpPr>
        <p:sp>
          <p:nvSpPr>
            <p:cNvPr id="17" name="圆角矩形 11">
              <a:extLst>
                <a:ext uri="{FF2B5EF4-FFF2-40B4-BE49-F238E27FC236}">
                  <a16:creationId xmlns:a16="http://schemas.microsoft.com/office/drawing/2014/main" id="{367FAD37-4817-483B-B455-9B9EAAFE7BD8}"/>
                </a:ext>
              </a:extLst>
            </p:cNvPr>
            <p:cNvSpPr/>
            <p:nvPr/>
          </p:nvSpPr>
          <p:spPr>
            <a:xfrm>
              <a:off x="76199" y="1241003"/>
              <a:ext cx="1487556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8" name="圆角矩形 12">
              <a:extLst>
                <a:ext uri="{FF2B5EF4-FFF2-40B4-BE49-F238E27FC236}">
                  <a16:creationId xmlns:a16="http://schemas.microsoft.com/office/drawing/2014/main" id="{405E6F80-4ED3-42FA-B9E2-EC6BC04F1A02}"/>
                </a:ext>
              </a:extLst>
            </p:cNvPr>
            <p:cNvSpPr/>
            <p:nvPr/>
          </p:nvSpPr>
          <p:spPr>
            <a:xfrm>
              <a:off x="1630433" y="1241003"/>
              <a:ext cx="3103704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9" name="圆角矩形 13">
              <a:extLst>
                <a:ext uri="{FF2B5EF4-FFF2-40B4-BE49-F238E27FC236}">
                  <a16:creationId xmlns:a16="http://schemas.microsoft.com/office/drawing/2014/main" id="{FFCB71A7-724E-4CF3-8659-D7FFA4994A95}"/>
                </a:ext>
              </a:extLst>
            </p:cNvPr>
            <p:cNvSpPr/>
            <p:nvPr/>
          </p:nvSpPr>
          <p:spPr>
            <a:xfrm>
              <a:off x="4800815" y="1241003"/>
              <a:ext cx="4319785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20" name="图片 18">
            <a:extLst>
              <a:ext uri="{FF2B5EF4-FFF2-40B4-BE49-F238E27FC236}">
                <a16:creationId xmlns:a16="http://schemas.microsoft.com/office/drawing/2014/main" id="{B230B797-9AF8-41D8-B5AB-3C485238D8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035550"/>
            <a:ext cx="4313238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2E52780-17F0-4F25-B262-66C011AE71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5035550"/>
            <a:ext cx="3019425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图片 3">
            <a:extLst>
              <a:ext uri="{FF2B5EF4-FFF2-40B4-BE49-F238E27FC236}">
                <a16:creationId xmlns:a16="http://schemas.microsoft.com/office/drawing/2014/main" id="{A6617996-BF24-4585-AE38-DD4FEC22395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" t="5525" r="8671" b="8884"/>
          <a:stretch/>
        </p:blipFill>
        <p:spPr bwMode="auto">
          <a:xfrm>
            <a:off x="106362" y="56707"/>
            <a:ext cx="4366401" cy="101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1452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23551FB5-644E-4958-A980-4C6B4A9B56E7}"/>
              </a:ext>
            </a:extLst>
          </p:cNvPr>
          <p:cNvGrpSpPr>
            <a:grpSpLocks/>
          </p:cNvGrpSpPr>
          <p:nvPr/>
        </p:nvGrpSpPr>
        <p:grpSpPr bwMode="auto">
          <a:xfrm>
            <a:off x="41722" y="6645423"/>
            <a:ext cx="9045575" cy="142875"/>
            <a:chOff x="76199" y="1241003"/>
            <a:chExt cx="9044401" cy="144000"/>
          </a:xfrm>
        </p:grpSpPr>
        <p:sp>
          <p:nvSpPr>
            <p:cNvPr id="8" name="圆角矩形 11">
              <a:extLst>
                <a:ext uri="{FF2B5EF4-FFF2-40B4-BE49-F238E27FC236}">
                  <a16:creationId xmlns:a16="http://schemas.microsoft.com/office/drawing/2014/main" id="{206B57DE-B2E2-477E-A47F-DA530482154A}"/>
                </a:ext>
              </a:extLst>
            </p:cNvPr>
            <p:cNvSpPr/>
            <p:nvPr/>
          </p:nvSpPr>
          <p:spPr>
            <a:xfrm>
              <a:off x="76199" y="1241003"/>
              <a:ext cx="1487294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圆角矩形 12">
              <a:extLst>
                <a:ext uri="{FF2B5EF4-FFF2-40B4-BE49-F238E27FC236}">
                  <a16:creationId xmlns:a16="http://schemas.microsoft.com/office/drawing/2014/main" id="{38C3280C-D608-4B4D-8279-5808A7C72777}"/>
                </a:ext>
              </a:extLst>
            </p:cNvPr>
            <p:cNvSpPr/>
            <p:nvPr/>
          </p:nvSpPr>
          <p:spPr>
            <a:xfrm>
              <a:off x="1630159" y="1241003"/>
              <a:ext cx="3103160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3">
              <a:extLst>
                <a:ext uri="{FF2B5EF4-FFF2-40B4-BE49-F238E27FC236}">
                  <a16:creationId xmlns:a16="http://schemas.microsoft.com/office/drawing/2014/main" id="{43328620-830D-498B-AD47-8DBB81A79D3F}"/>
                </a:ext>
              </a:extLst>
            </p:cNvPr>
            <p:cNvSpPr/>
            <p:nvPr/>
          </p:nvSpPr>
          <p:spPr>
            <a:xfrm>
              <a:off x="4799986" y="1241003"/>
              <a:ext cx="4320614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1" name="图片 3">
            <a:extLst>
              <a:ext uri="{FF2B5EF4-FFF2-40B4-BE49-F238E27FC236}">
                <a16:creationId xmlns:a16="http://schemas.microsoft.com/office/drawing/2014/main" id="{B0C51A74-65A9-4F9C-9DAC-5C9B5FEFD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0"/>
            <a:ext cx="7762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46ADAA-5CE7-436F-BDC5-5BE32504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06671" y="6174558"/>
            <a:ext cx="442918" cy="396090"/>
          </a:xfrm>
        </p:spPr>
        <p:txBody>
          <a:bodyPr/>
          <a:lstStyle/>
          <a:p>
            <a:r>
              <a:rPr lang="en-US" altLang="zh-CN"/>
              <a:t>2</a:t>
            </a:r>
            <a:endParaRPr lang="zh-CN" altLang="en-US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BE675BB-162D-4CCA-94D2-B314C0C6F64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1722" y="6645423"/>
            <a:ext cx="9045575" cy="142875"/>
            <a:chOff x="76199" y="1241003"/>
            <a:chExt cx="9044401" cy="144000"/>
          </a:xfrm>
        </p:grpSpPr>
        <p:sp>
          <p:nvSpPr>
            <p:cNvPr id="13" name="圆角矩形 11">
              <a:extLst>
                <a:ext uri="{FF2B5EF4-FFF2-40B4-BE49-F238E27FC236}">
                  <a16:creationId xmlns:a16="http://schemas.microsoft.com/office/drawing/2014/main" id="{8497BCD2-D048-4CC6-AA21-D749E9E85DCE}"/>
                </a:ext>
              </a:extLst>
            </p:cNvPr>
            <p:cNvSpPr/>
            <p:nvPr/>
          </p:nvSpPr>
          <p:spPr>
            <a:xfrm>
              <a:off x="76199" y="1241003"/>
              <a:ext cx="1487294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4" name="圆角矩形 12">
              <a:extLst>
                <a:ext uri="{FF2B5EF4-FFF2-40B4-BE49-F238E27FC236}">
                  <a16:creationId xmlns:a16="http://schemas.microsoft.com/office/drawing/2014/main" id="{9C83145A-9A38-4389-BA55-B2DC124C7CCE}"/>
                </a:ext>
              </a:extLst>
            </p:cNvPr>
            <p:cNvSpPr/>
            <p:nvPr/>
          </p:nvSpPr>
          <p:spPr>
            <a:xfrm>
              <a:off x="1630159" y="1241003"/>
              <a:ext cx="3103160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5" name="圆角矩形 13">
              <a:extLst>
                <a:ext uri="{FF2B5EF4-FFF2-40B4-BE49-F238E27FC236}">
                  <a16:creationId xmlns:a16="http://schemas.microsoft.com/office/drawing/2014/main" id="{5F30C916-99CD-41F6-B9F5-44A06301974D}"/>
                </a:ext>
              </a:extLst>
            </p:cNvPr>
            <p:cNvSpPr/>
            <p:nvPr/>
          </p:nvSpPr>
          <p:spPr>
            <a:xfrm>
              <a:off x="4799986" y="1241003"/>
              <a:ext cx="4320614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6" name="图片 3">
            <a:extLst>
              <a:ext uri="{FF2B5EF4-FFF2-40B4-BE49-F238E27FC236}">
                <a16:creationId xmlns:a16="http://schemas.microsoft.com/office/drawing/2014/main" id="{408ADF0C-ACC1-4673-9FB1-66E00A8197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0"/>
            <a:ext cx="7762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6539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6473A-FAF4-414C-9522-3C4BCFE2B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16" y="3100647"/>
            <a:ext cx="7886700" cy="867940"/>
          </a:xfrm>
        </p:spPr>
        <p:txBody>
          <a:bodyPr anchor="b"/>
          <a:lstStyle>
            <a:lvl1pPr>
              <a:defRPr sz="4500">
                <a:latin typeface="Arial Unicode MS" pitchFamily="34" charset="-122"/>
                <a:ea typeface="Arial Unicode MS" pitchFamily="34" charset="-122"/>
                <a:cs typeface="Arial Unicode MS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圆角矩形 5">
            <a:extLst>
              <a:ext uri="{FF2B5EF4-FFF2-40B4-BE49-F238E27FC236}">
                <a16:creationId xmlns:a16="http://schemas.microsoft.com/office/drawing/2014/main" id="{3BD87344-C6CA-4F87-9448-0B8B7FAF9E1B}"/>
              </a:ext>
            </a:extLst>
          </p:cNvPr>
          <p:cNvSpPr/>
          <p:nvPr userDrawn="1"/>
        </p:nvSpPr>
        <p:spPr>
          <a:xfrm>
            <a:off x="0" y="4044001"/>
            <a:ext cx="952500" cy="144000"/>
          </a:xfrm>
          <a:prstGeom prst="roundRect">
            <a:avLst>
              <a:gd name="adj" fmla="val 0"/>
            </a:avLst>
          </a:prstGeom>
          <a:solidFill>
            <a:srgbClr val="C83C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圆角矩形 6">
            <a:extLst>
              <a:ext uri="{FF2B5EF4-FFF2-40B4-BE49-F238E27FC236}">
                <a16:creationId xmlns:a16="http://schemas.microsoft.com/office/drawing/2014/main" id="{6DA4B6E9-D6DC-4952-865A-DA8EE6DB8245}"/>
              </a:ext>
            </a:extLst>
          </p:cNvPr>
          <p:cNvSpPr/>
          <p:nvPr userDrawn="1"/>
        </p:nvSpPr>
        <p:spPr>
          <a:xfrm>
            <a:off x="1014116" y="4044001"/>
            <a:ext cx="3643609" cy="144002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圆角矩形 7">
            <a:extLst>
              <a:ext uri="{FF2B5EF4-FFF2-40B4-BE49-F238E27FC236}">
                <a16:creationId xmlns:a16="http://schemas.microsoft.com/office/drawing/2014/main" id="{F7595CA0-CBC9-4927-B9FF-0B4BA5FB62ED}"/>
              </a:ext>
            </a:extLst>
          </p:cNvPr>
          <p:cNvSpPr/>
          <p:nvPr userDrawn="1"/>
        </p:nvSpPr>
        <p:spPr>
          <a:xfrm>
            <a:off x="4724400" y="4044001"/>
            <a:ext cx="4320000" cy="144000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138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232448-0BA2-40E5-A2C0-FE19F5B0E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981BA7-2F47-4ADB-915A-3DEA803B6C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E45C7A-E3DB-493E-9698-B006439AB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A42E52-6363-4A26-9F01-A62CE34E1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5B047E-2EC3-4418-B2C1-A69A89700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C945B0-B70D-4BF6-A6CF-ED8DAA8C8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679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E450FD-26B7-480D-8261-CD4C51DD8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64C6F2-EDC6-4263-A281-7872A6E3C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D5D4B2-383D-449C-8900-FB1B3EB93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7ABC02C-F6DC-4DAF-938D-195593E621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A408A11-7060-4D85-B243-5DD9655566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DFAAD3C-B42A-47A7-B768-611AFC7BE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1B5FF39-DD9B-4C57-A344-275219341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7BEA18A-253C-40CA-A957-3BA37B7A1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29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75BCCD-B3FE-4D64-9C90-CF64C82B1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1C5B8F4-1CBB-4613-A7A2-350FF2B86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7B22DBA-ADB6-459C-8DDD-B1702C76D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426E1B-8DFB-40A0-B0EA-1E9256D1B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122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2189721-9F85-4C93-AF25-890CD11FA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57016C-A313-4228-8D34-FC5C12BCC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EAED29-461C-427E-94B8-4F64E97E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515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0F51D1-5EA7-4401-99BA-1EC037C49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CF08B5-D317-4883-94CE-FAEEE05A6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6986A2-D743-430F-AA70-9B06B2C0F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817CAD-5352-4EAF-B2E4-2B49B31E3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068CC4-251C-4854-9963-7DDB0C89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B0C261-FF00-4B26-B51E-6D72F060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414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CCB7F6-3B15-4872-B555-7F1565B90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FA923F-001E-4E54-AE2E-D70CAC715E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120E55-EACB-4D2C-973C-7AE05E562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155047-D836-41BF-B4EC-6E058AC14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EDD3A4-3A50-440F-A891-A798B3A6C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7A6A10-432E-4945-AF1E-64FDF90A2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899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116CF1-CD97-4DBA-A96F-F883552B4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99B747-8D5C-4895-A7EC-E7332E48E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7135EC-C807-4A0E-90F1-EE1D3601D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D0FB47-2483-4992-8D35-B58CEC00D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555DE4-AE2F-40B7-AF19-7220940C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220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20F266B-DA68-452A-BFC2-0DBF135171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C26948-9D79-4503-B7E8-FB720785E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763795-09C4-4CE3-967D-39D8EED2D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92961E-4D31-4C00-8456-DA422BEC9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04869D-578E-442B-AC17-5E714BDBD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998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9">
            <a:extLst>
              <a:ext uri="{FF2B5EF4-FFF2-40B4-BE49-F238E27FC236}">
                <a16:creationId xmlns:a16="http://schemas.microsoft.com/office/drawing/2014/main" id="{36484A2C-39A1-4BDC-B92B-AF52D58B0F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5035550"/>
            <a:ext cx="114300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11">
            <a:extLst>
              <a:ext uri="{FF2B5EF4-FFF2-40B4-BE49-F238E27FC236}">
                <a16:creationId xmlns:a16="http://schemas.microsoft.com/office/drawing/2014/main" id="{56818F0A-1B6A-44A9-9717-55DA1C8C1ED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4741863"/>
            <a:ext cx="9043988" cy="142875"/>
            <a:chOff x="76199" y="1241003"/>
            <a:chExt cx="9044401" cy="144000"/>
          </a:xfrm>
        </p:grpSpPr>
        <p:sp>
          <p:nvSpPr>
            <p:cNvPr id="9" name="圆角矩形 11">
              <a:extLst>
                <a:ext uri="{FF2B5EF4-FFF2-40B4-BE49-F238E27FC236}">
                  <a16:creationId xmlns:a16="http://schemas.microsoft.com/office/drawing/2014/main" id="{2658448A-EA7B-40C8-99E5-5CDD7E4A2B5E}"/>
                </a:ext>
              </a:extLst>
            </p:cNvPr>
            <p:cNvSpPr/>
            <p:nvPr/>
          </p:nvSpPr>
          <p:spPr>
            <a:xfrm>
              <a:off x="76199" y="1241003"/>
              <a:ext cx="1487556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2">
              <a:extLst>
                <a:ext uri="{FF2B5EF4-FFF2-40B4-BE49-F238E27FC236}">
                  <a16:creationId xmlns:a16="http://schemas.microsoft.com/office/drawing/2014/main" id="{0F1BA9DE-48A6-4320-A3CB-CA0618F88CA6}"/>
                </a:ext>
              </a:extLst>
            </p:cNvPr>
            <p:cNvSpPr/>
            <p:nvPr/>
          </p:nvSpPr>
          <p:spPr>
            <a:xfrm>
              <a:off x="1630433" y="1241003"/>
              <a:ext cx="3103704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" name="圆角矩形 13">
              <a:extLst>
                <a:ext uri="{FF2B5EF4-FFF2-40B4-BE49-F238E27FC236}">
                  <a16:creationId xmlns:a16="http://schemas.microsoft.com/office/drawing/2014/main" id="{95532181-9B56-4565-85B0-26FAE243974A}"/>
                </a:ext>
              </a:extLst>
            </p:cNvPr>
            <p:cNvSpPr/>
            <p:nvPr/>
          </p:nvSpPr>
          <p:spPr>
            <a:xfrm>
              <a:off x="4800815" y="1241003"/>
              <a:ext cx="4319785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2" name="图片 18">
            <a:extLst>
              <a:ext uri="{FF2B5EF4-FFF2-40B4-BE49-F238E27FC236}">
                <a16:creationId xmlns:a16="http://schemas.microsoft.com/office/drawing/2014/main" id="{C6EF10A3-5E14-4AC4-BEC5-788C4A6ABF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035550"/>
            <a:ext cx="4313238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20">
            <a:extLst>
              <a:ext uri="{FF2B5EF4-FFF2-40B4-BE49-F238E27FC236}">
                <a16:creationId xmlns:a16="http://schemas.microsoft.com/office/drawing/2014/main" id="{E5368EC2-A439-426F-9848-8912DFFAC1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5035550"/>
            <a:ext cx="3019425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图片 3">
            <a:extLst>
              <a:ext uri="{FF2B5EF4-FFF2-40B4-BE49-F238E27FC236}">
                <a16:creationId xmlns:a16="http://schemas.microsoft.com/office/drawing/2014/main" id="{DB79EDD7-2DA9-41B8-BF25-43496C70960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" t="5525" r="8671" b="8884"/>
          <a:stretch/>
        </p:blipFill>
        <p:spPr bwMode="auto">
          <a:xfrm>
            <a:off x="106362" y="56707"/>
            <a:ext cx="4366401" cy="101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2119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23551FB5-644E-4958-A980-4C6B4A9B56E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1722" y="6645423"/>
            <a:ext cx="9045575" cy="142875"/>
            <a:chOff x="76199" y="1241003"/>
            <a:chExt cx="9044401" cy="144000"/>
          </a:xfrm>
        </p:grpSpPr>
        <p:sp>
          <p:nvSpPr>
            <p:cNvPr id="8" name="圆角矩形 11">
              <a:extLst>
                <a:ext uri="{FF2B5EF4-FFF2-40B4-BE49-F238E27FC236}">
                  <a16:creationId xmlns:a16="http://schemas.microsoft.com/office/drawing/2014/main" id="{206B57DE-B2E2-477E-A47F-DA530482154A}"/>
                </a:ext>
              </a:extLst>
            </p:cNvPr>
            <p:cNvSpPr/>
            <p:nvPr/>
          </p:nvSpPr>
          <p:spPr>
            <a:xfrm>
              <a:off x="76199" y="1241003"/>
              <a:ext cx="1487294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圆角矩形 12">
              <a:extLst>
                <a:ext uri="{FF2B5EF4-FFF2-40B4-BE49-F238E27FC236}">
                  <a16:creationId xmlns:a16="http://schemas.microsoft.com/office/drawing/2014/main" id="{38C3280C-D608-4B4D-8279-5808A7C72777}"/>
                </a:ext>
              </a:extLst>
            </p:cNvPr>
            <p:cNvSpPr/>
            <p:nvPr/>
          </p:nvSpPr>
          <p:spPr>
            <a:xfrm>
              <a:off x="1630159" y="1241003"/>
              <a:ext cx="3103160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3">
              <a:extLst>
                <a:ext uri="{FF2B5EF4-FFF2-40B4-BE49-F238E27FC236}">
                  <a16:creationId xmlns:a16="http://schemas.microsoft.com/office/drawing/2014/main" id="{43328620-830D-498B-AD47-8DBB81A79D3F}"/>
                </a:ext>
              </a:extLst>
            </p:cNvPr>
            <p:cNvSpPr/>
            <p:nvPr/>
          </p:nvSpPr>
          <p:spPr>
            <a:xfrm>
              <a:off x="4799986" y="1241003"/>
              <a:ext cx="4320614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1" name="图片 3">
            <a:extLst>
              <a:ext uri="{FF2B5EF4-FFF2-40B4-BE49-F238E27FC236}">
                <a16:creationId xmlns:a16="http://schemas.microsoft.com/office/drawing/2014/main" id="{B0C51A74-65A9-4F9C-9DAC-5C9B5FEFDC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0"/>
            <a:ext cx="7762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46ADAA-5CE7-436F-BDC5-5BE32504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06671" y="6174558"/>
            <a:ext cx="442918" cy="396090"/>
          </a:xfrm>
        </p:spPr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75944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69617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23"/>
          <p:cNvGrpSpPr>
            <a:grpSpLocks/>
          </p:cNvGrpSpPr>
          <p:nvPr userDrawn="1"/>
        </p:nvGrpSpPr>
        <p:grpSpPr bwMode="auto">
          <a:xfrm>
            <a:off x="371475" y="-190500"/>
            <a:ext cx="1230313" cy="1358900"/>
            <a:chOff x="371610" y="-231341"/>
            <a:chExt cx="1230631" cy="1358900"/>
          </a:xfrm>
        </p:grpSpPr>
        <p:sp>
          <p:nvSpPr>
            <p:cNvPr id="7" name="同侧圆角矩形 6"/>
            <p:cNvSpPr/>
            <p:nvPr/>
          </p:nvSpPr>
          <p:spPr>
            <a:xfrm flipV="1">
              <a:off x="627264" y="-36078"/>
              <a:ext cx="719323" cy="9683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E81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65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" name="同侧圆角矩形 7"/>
            <p:cNvSpPr/>
            <p:nvPr/>
          </p:nvSpPr>
          <p:spPr>
            <a:xfrm flipV="1">
              <a:off x="627264" y="-36078"/>
              <a:ext cx="719323" cy="9683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E81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65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9" name="图片 29" descr="logo（背景透明）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610" y="-231341"/>
              <a:ext cx="1230631" cy="1358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" name="组合 7"/>
          <p:cNvGrpSpPr>
            <a:grpSpLocks/>
          </p:cNvGrpSpPr>
          <p:nvPr userDrawn="1"/>
        </p:nvGrpSpPr>
        <p:grpSpPr bwMode="auto">
          <a:xfrm>
            <a:off x="76200" y="2151063"/>
            <a:ext cx="9043988" cy="381000"/>
            <a:chOff x="76200" y="2151457"/>
            <a:chExt cx="9043988" cy="381000"/>
          </a:xfrm>
        </p:grpSpPr>
        <p:sp>
          <p:nvSpPr>
            <p:cNvPr id="11" name="圆角矩形 10"/>
            <p:cNvSpPr/>
            <p:nvPr/>
          </p:nvSpPr>
          <p:spPr>
            <a:xfrm>
              <a:off x="76200" y="2294332"/>
              <a:ext cx="1676400" cy="144462"/>
            </a:xfrm>
            <a:prstGeom prst="roundRect">
              <a:avLst>
                <a:gd name="adj" fmla="val 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1524000" y="2294332"/>
              <a:ext cx="3200400" cy="14446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4800600" y="2294332"/>
              <a:ext cx="4319588" cy="144462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 rot="1383523">
              <a:off x="1417638" y="2151457"/>
              <a:ext cx="215900" cy="381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 rot="1383523">
              <a:off x="4616450" y="2151457"/>
              <a:ext cx="215900" cy="381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pic>
        <p:nvPicPr>
          <p:cNvPr id="16" name="Picture 7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53" b="10274"/>
          <a:stretch>
            <a:fillRect/>
          </a:stretch>
        </p:blipFill>
        <p:spPr bwMode="auto">
          <a:xfrm>
            <a:off x="157163" y="5467350"/>
            <a:ext cx="1957387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3"/>
          <p:cNvPicPr>
            <a:picLocks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5478463"/>
            <a:ext cx="2124075" cy="126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4"/>
          <p:cNvPicPr>
            <a:picLocks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675" y="5478463"/>
            <a:ext cx="2390775" cy="126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45"/>
          <a:stretch/>
        </p:blipFill>
        <p:spPr bwMode="auto">
          <a:xfrm>
            <a:off x="6846888" y="5467351"/>
            <a:ext cx="2220912" cy="1273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3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7463" y="4702719"/>
            <a:ext cx="1506537" cy="84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TextBox 2"/>
          <p:cNvSpPr txBox="1">
            <a:spLocks noChangeArrowheads="1"/>
          </p:cNvSpPr>
          <p:nvPr userDrawn="1"/>
        </p:nvSpPr>
        <p:spPr bwMode="auto">
          <a:xfrm>
            <a:off x="8172400" y="5165911"/>
            <a:ext cx="7810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900" b="0" baseline="0" dirty="0">
                <a:latin typeface="黑体" panose="02010609060101010101" pitchFamily="49" charset="-122"/>
                <a:ea typeface="黑体" panose="02010609060101010101" pitchFamily="49" charset="-122"/>
              </a:rPr>
              <a:t>Since 2016</a:t>
            </a:r>
            <a:endParaRPr lang="zh-CN" altLang="en-US" sz="900" b="0" baseline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82504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6526213"/>
            <a:ext cx="6794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组合 7"/>
          <p:cNvGrpSpPr>
            <a:grpSpLocks/>
          </p:cNvGrpSpPr>
          <p:nvPr userDrawn="1"/>
        </p:nvGrpSpPr>
        <p:grpSpPr bwMode="auto">
          <a:xfrm>
            <a:off x="73025" y="6643688"/>
            <a:ext cx="8150225" cy="144462"/>
            <a:chOff x="76199" y="2293938"/>
            <a:chExt cx="9043989" cy="144462"/>
          </a:xfrm>
        </p:grpSpPr>
        <p:sp>
          <p:nvSpPr>
            <p:cNvPr id="4" name="圆角矩形 3"/>
            <p:cNvSpPr/>
            <p:nvPr/>
          </p:nvSpPr>
          <p:spPr>
            <a:xfrm>
              <a:off x="76199" y="2293938"/>
              <a:ext cx="1250727" cy="144462"/>
            </a:xfrm>
            <a:prstGeom prst="roundRect">
              <a:avLst>
                <a:gd name="adj" fmla="val 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1415005" y="2293938"/>
              <a:ext cx="3310023" cy="14446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4800776" y="2293938"/>
              <a:ext cx="4319412" cy="144462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06260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C8E2-5890-4FB7-8C90-0295DE6E0BAD}" type="datetime1">
              <a:rPr lang="en-US" altLang="zh-CN" smtClean="0"/>
              <a:t>10/25/2022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6257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C8E2-5890-4FB7-8C90-0295DE6E0BAD}" type="datetime1">
              <a:rPr lang="en-US" altLang="zh-CN" smtClean="0"/>
              <a:t>10/25/2022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60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8B20F97-D093-4167-88EF-C188D3B8D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78C6B4-EDBC-4C7B-80E2-2A36D8872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B1772D-D631-4D4E-BF62-42EF4690EB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1AB40-DF97-4AB0-B63B-B6C2904246EB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AFB56B-864D-497D-8AE9-5E092905F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32445E-5DFA-480A-96AF-CCD8859EA9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342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33" r:id="rId12"/>
    <p:sldLayoutId id="2147483734" r:id="rId13"/>
    <p:sldLayoutId id="2147483758" r:id="rId14"/>
    <p:sldLayoutId id="2147483759" r:id="rId15"/>
    <p:sldLayoutId id="2147483760" r:id="rId16"/>
    <p:sldLayoutId id="2147483761" r:id="rId17"/>
    <p:sldLayoutId id="2147483762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19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7" Type="http://schemas.openxmlformats.org/officeDocument/2006/relationships/image" Target="../media/image23.wmf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37.png"/><Relationship Id="rId7" Type="http://schemas.openxmlformats.org/officeDocument/2006/relationships/image" Target="../media/image40.wm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42.wmf"/><Relationship Id="rId5" Type="http://schemas.openxmlformats.org/officeDocument/2006/relationships/image" Target="../media/image39.png"/><Relationship Id="rId10" Type="http://schemas.openxmlformats.org/officeDocument/2006/relationships/oleObject" Target="../embeddings/oleObject11.bin"/><Relationship Id="rId4" Type="http://schemas.openxmlformats.org/officeDocument/2006/relationships/image" Target="../media/image38.png"/><Relationship Id="rId9" Type="http://schemas.openxmlformats.org/officeDocument/2006/relationships/image" Target="../media/image41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970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8.wmf"/><Relationship Id="rId4" Type="http://schemas.openxmlformats.org/officeDocument/2006/relationships/oleObject" Target="../embeddings/oleObject13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53.wmf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52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17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59.wmf"/><Relationship Id="rId18" Type="http://schemas.openxmlformats.org/officeDocument/2006/relationships/oleObject" Target="../embeddings/oleObject27.bin"/><Relationship Id="rId3" Type="http://schemas.openxmlformats.org/officeDocument/2006/relationships/image" Target="../media/image54.wmf"/><Relationship Id="rId7" Type="http://schemas.openxmlformats.org/officeDocument/2006/relationships/image" Target="../media/image56.wmf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61.wmf"/><Relationship Id="rId2" Type="http://schemas.openxmlformats.org/officeDocument/2006/relationships/oleObject" Target="../embeddings/oleObject19.bin"/><Relationship Id="rId16" Type="http://schemas.openxmlformats.org/officeDocument/2006/relationships/oleObject" Target="../embeddings/oleObject26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58.wmf"/><Relationship Id="rId5" Type="http://schemas.openxmlformats.org/officeDocument/2006/relationships/image" Target="../media/image55.wmf"/><Relationship Id="rId15" Type="http://schemas.openxmlformats.org/officeDocument/2006/relationships/image" Target="../media/image60.wmf"/><Relationship Id="rId10" Type="http://schemas.openxmlformats.org/officeDocument/2006/relationships/oleObject" Target="../embeddings/oleObject23.bin"/><Relationship Id="rId19" Type="http://schemas.openxmlformats.org/officeDocument/2006/relationships/image" Target="../media/image62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57.wmf"/><Relationship Id="rId14" Type="http://schemas.openxmlformats.org/officeDocument/2006/relationships/oleObject" Target="../embeddings/oleObject25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67.wmf"/><Relationship Id="rId18" Type="http://schemas.openxmlformats.org/officeDocument/2006/relationships/oleObject" Target="../embeddings/oleObject36.bin"/><Relationship Id="rId3" Type="http://schemas.openxmlformats.org/officeDocument/2006/relationships/image" Target="../media/image62.wmf"/><Relationship Id="rId21" Type="http://schemas.openxmlformats.org/officeDocument/2006/relationships/image" Target="../media/image71.wmf"/><Relationship Id="rId7" Type="http://schemas.openxmlformats.org/officeDocument/2006/relationships/image" Target="../media/image64.wmf"/><Relationship Id="rId12" Type="http://schemas.openxmlformats.org/officeDocument/2006/relationships/oleObject" Target="../embeddings/oleObject33.bin"/><Relationship Id="rId17" Type="http://schemas.openxmlformats.org/officeDocument/2006/relationships/image" Target="../media/image69.wmf"/><Relationship Id="rId25" Type="http://schemas.openxmlformats.org/officeDocument/2006/relationships/image" Target="../media/image73.wmf"/><Relationship Id="rId2" Type="http://schemas.openxmlformats.org/officeDocument/2006/relationships/oleObject" Target="../embeddings/oleObject28.bin"/><Relationship Id="rId16" Type="http://schemas.openxmlformats.org/officeDocument/2006/relationships/oleObject" Target="../embeddings/oleObject35.bin"/><Relationship Id="rId20" Type="http://schemas.openxmlformats.org/officeDocument/2006/relationships/oleObject" Target="../embeddings/oleObject37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66.wmf"/><Relationship Id="rId24" Type="http://schemas.openxmlformats.org/officeDocument/2006/relationships/oleObject" Target="../embeddings/oleObject39.bin"/><Relationship Id="rId5" Type="http://schemas.openxmlformats.org/officeDocument/2006/relationships/image" Target="../media/image63.wmf"/><Relationship Id="rId15" Type="http://schemas.openxmlformats.org/officeDocument/2006/relationships/image" Target="../media/image68.wmf"/><Relationship Id="rId23" Type="http://schemas.openxmlformats.org/officeDocument/2006/relationships/image" Target="../media/image72.wmf"/><Relationship Id="rId10" Type="http://schemas.openxmlformats.org/officeDocument/2006/relationships/oleObject" Target="../embeddings/oleObject32.bin"/><Relationship Id="rId19" Type="http://schemas.openxmlformats.org/officeDocument/2006/relationships/image" Target="../media/image70.wmf"/><Relationship Id="rId4" Type="http://schemas.openxmlformats.org/officeDocument/2006/relationships/oleObject" Target="../embeddings/oleObject29.bin"/><Relationship Id="rId9" Type="http://schemas.openxmlformats.org/officeDocument/2006/relationships/image" Target="../media/image65.wmf"/><Relationship Id="rId14" Type="http://schemas.openxmlformats.org/officeDocument/2006/relationships/oleObject" Target="../embeddings/oleObject34.bin"/><Relationship Id="rId22" Type="http://schemas.openxmlformats.org/officeDocument/2006/relationships/oleObject" Target="../embeddings/oleObject38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3" Type="http://schemas.openxmlformats.org/officeDocument/2006/relationships/image" Target="../media/image74.wmf"/><Relationship Id="rId7" Type="http://schemas.openxmlformats.org/officeDocument/2006/relationships/oleObject" Target="../embeddings/oleObject42.bin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6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7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oleObject" Target="../embeddings/oleObject43.bin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9.wmf"/><Relationship Id="rId4" Type="http://schemas.openxmlformats.org/officeDocument/2006/relationships/oleObject" Target="../embeddings/oleObject44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1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8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13" Type="http://schemas.openxmlformats.org/officeDocument/2006/relationships/image" Target="../media/image87.wmf"/><Relationship Id="rId3" Type="http://schemas.openxmlformats.org/officeDocument/2006/relationships/image" Target="../media/image82.wmf"/><Relationship Id="rId7" Type="http://schemas.openxmlformats.org/officeDocument/2006/relationships/image" Target="../media/image84.wmf"/><Relationship Id="rId12" Type="http://schemas.openxmlformats.org/officeDocument/2006/relationships/oleObject" Target="../embeddings/oleObject51.bin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86.wmf"/><Relationship Id="rId5" Type="http://schemas.openxmlformats.org/officeDocument/2006/relationships/image" Target="../media/image83.wmf"/><Relationship Id="rId15" Type="http://schemas.openxmlformats.org/officeDocument/2006/relationships/image" Target="../media/image88.wmf"/><Relationship Id="rId10" Type="http://schemas.openxmlformats.org/officeDocument/2006/relationships/oleObject" Target="../embeddings/oleObject50.bin"/><Relationship Id="rId4" Type="http://schemas.openxmlformats.org/officeDocument/2006/relationships/oleObject" Target="../embeddings/oleObject47.bin"/><Relationship Id="rId9" Type="http://schemas.openxmlformats.org/officeDocument/2006/relationships/image" Target="../media/image85.wmf"/><Relationship Id="rId14" Type="http://schemas.openxmlformats.org/officeDocument/2006/relationships/oleObject" Target="../embeddings/oleObject52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3" Type="http://schemas.openxmlformats.org/officeDocument/2006/relationships/image" Target="../media/image89.png"/><Relationship Id="rId7" Type="http://schemas.openxmlformats.org/officeDocument/2006/relationships/image" Target="../media/image91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54.bin"/><Relationship Id="rId5" Type="http://schemas.openxmlformats.org/officeDocument/2006/relationships/image" Target="../media/image90.wmf"/><Relationship Id="rId10" Type="http://schemas.openxmlformats.org/officeDocument/2006/relationships/image" Target="../media/image93.jpeg"/><Relationship Id="rId4" Type="http://schemas.openxmlformats.org/officeDocument/2006/relationships/oleObject" Target="../embeddings/oleObject53.bin"/><Relationship Id="rId9" Type="http://schemas.openxmlformats.org/officeDocument/2006/relationships/image" Target="../media/image92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3" Type="http://schemas.openxmlformats.org/officeDocument/2006/relationships/image" Target="../media/image95.png"/><Relationship Id="rId7" Type="http://schemas.openxmlformats.org/officeDocument/2006/relationships/image" Target="../media/image97.wmf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57.bin"/><Relationship Id="rId5" Type="http://schemas.openxmlformats.org/officeDocument/2006/relationships/image" Target="../media/image96.wmf"/><Relationship Id="rId4" Type="http://schemas.openxmlformats.org/officeDocument/2006/relationships/oleObject" Target="../embeddings/oleObject56.bin"/><Relationship Id="rId9" Type="http://schemas.openxmlformats.org/officeDocument/2006/relationships/image" Target="../media/image98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image" Target="../media/image104.wmf"/><Relationship Id="rId3" Type="http://schemas.openxmlformats.org/officeDocument/2006/relationships/image" Target="../media/image99.wmf"/><Relationship Id="rId7" Type="http://schemas.openxmlformats.org/officeDocument/2006/relationships/image" Target="../media/image101.wmf"/><Relationship Id="rId12" Type="http://schemas.openxmlformats.org/officeDocument/2006/relationships/oleObject" Target="../embeddings/oleObject64.bin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103.wmf"/><Relationship Id="rId5" Type="http://schemas.openxmlformats.org/officeDocument/2006/relationships/image" Target="../media/image100.wmf"/><Relationship Id="rId15" Type="http://schemas.openxmlformats.org/officeDocument/2006/relationships/image" Target="../media/image105.wmf"/><Relationship Id="rId10" Type="http://schemas.openxmlformats.org/officeDocument/2006/relationships/oleObject" Target="../embeddings/oleObject63.bin"/><Relationship Id="rId4" Type="http://schemas.openxmlformats.org/officeDocument/2006/relationships/oleObject" Target="../embeddings/oleObject60.bin"/><Relationship Id="rId9" Type="http://schemas.openxmlformats.org/officeDocument/2006/relationships/image" Target="../media/image102.wmf"/><Relationship Id="rId14" Type="http://schemas.openxmlformats.org/officeDocument/2006/relationships/oleObject" Target="../embeddings/oleObject65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04.wmf"/><Relationship Id="rId4" Type="http://schemas.openxmlformats.org/officeDocument/2006/relationships/oleObject" Target="../embeddings/oleObject67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04.wmf"/><Relationship Id="rId4" Type="http://schemas.openxmlformats.org/officeDocument/2006/relationships/oleObject" Target="../embeddings/oleObject67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13" Type="http://schemas.openxmlformats.org/officeDocument/2006/relationships/image" Target="../media/image111.wmf"/><Relationship Id="rId3" Type="http://schemas.openxmlformats.org/officeDocument/2006/relationships/image" Target="../media/image106.jpeg"/><Relationship Id="rId7" Type="http://schemas.openxmlformats.org/officeDocument/2006/relationships/image" Target="../media/image108.wmf"/><Relationship Id="rId12" Type="http://schemas.openxmlformats.org/officeDocument/2006/relationships/oleObject" Target="../embeddings/oleObject72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69.bin"/><Relationship Id="rId11" Type="http://schemas.openxmlformats.org/officeDocument/2006/relationships/image" Target="../media/image110.wmf"/><Relationship Id="rId5" Type="http://schemas.openxmlformats.org/officeDocument/2006/relationships/image" Target="../media/image107.wmf"/><Relationship Id="rId10" Type="http://schemas.openxmlformats.org/officeDocument/2006/relationships/oleObject" Target="../embeddings/oleObject71.bin"/><Relationship Id="rId4" Type="http://schemas.openxmlformats.org/officeDocument/2006/relationships/oleObject" Target="../embeddings/oleObject68.bin"/><Relationship Id="rId9" Type="http://schemas.openxmlformats.org/officeDocument/2006/relationships/image" Target="../media/image109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emf"/><Relationship Id="rId2" Type="http://schemas.openxmlformats.org/officeDocument/2006/relationships/image" Target="../media/image112.emf"/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emf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18.emf"/><Relationship Id="rId5" Type="http://schemas.openxmlformats.org/officeDocument/2006/relationships/image" Target="../media/image117.jpeg"/><Relationship Id="rId4" Type="http://schemas.openxmlformats.org/officeDocument/2006/relationships/image" Target="../media/image116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emf"/><Relationship Id="rId2" Type="http://schemas.openxmlformats.org/officeDocument/2006/relationships/image" Target="../media/image119.emf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21.e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jpeg"/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3.emf"/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13" Type="http://schemas.openxmlformats.org/officeDocument/2006/relationships/image" Target="../media/image129.wmf"/><Relationship Id="rId18" Type="http://schemas.openxmlformats.org/officeDocument/2006/relationships/image" Target="../media/image132.wmf"/><Relationship Id="rId3" Type="http://schemas.openxmlformats.org/officeDocument/2006/relationships/image" Target="../media/image124.wmf"/><Relationship Id="rId21" Type="http://schemas.openxmlformats.org/officeDocument/2006/relationships/image" Target="../media/image135.emf"/><Relationship Id="rId7" Type="http://schemas.openxmlformats.org/officeDocument/2006/relationships/image" Target="../media/image126.wmf"/><Relationship Id="rId12" Type="http://schemas.openxmlformats.org/officeDocument/2006/relationships/oleObject" Target="../embeddings/oleObject77.bin"/><Relationship Id="rId17" Type="http://schemas.openxmlformats.org/officeDocument/2006/relationships/oleObject" Target="../embeddings/oleObject79.bin"/><Relationship Id="rId2" Type="http://schemas.openxmlformats.org/officeDocument/2006/relationships/oleObject" Target="../embeddings/oleObject73.bin"/><Relationship Id="rId16" Type="http://schemas.openxmlformats.org/officeDocument/2006/relationships/image" Target="../media/image131.wmf"/><Relationship Id="rId20" Type="http://schemas.openxmlformats.org/officeDocument/2006/relationships/image" Target="../media/image134.emf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75.bin"/><Relationship Id="rId11" Type="http://schemas.openxmlformats.org/officeDocument/2006/relationships/image" Target="../media/image128.emf"/><Relationship Id="rId5" Type="http://schemas.openxmlformats.org/officeDocument/2006/relationships/image" Target="../media/image125.wmf"/><Relationship Id="rId15" Type="http://schemas.openxmlformats.org/officeDocument/2006/relationships/oleObject" Target="../embeddings/oleObject78.bin"/><Relationship Id="rId10" Type="http://schemas.openxmlformats.org/officeDocument/2006/relationships/image" Target="../media/image127.png"/><Relationship Id="rId19" Type="http://schemas.openxmlformats.org/officeDocument/2006/relationships/image" Target="../media/image133.emf"/><Relationship Id="rId4" Type="http://schemas.openxmlformats.org/officeDocument/2006/relationships/oleObject" Target="../embeddings/oleObject74.bin"/><Relationship Id="rId9" Type="http://schemas.openxmlformats.org/officeDocument/2006/relationships/image" Target="../media/image127.wmf"/><Relationship Id="rId14" Type="http://schemas.openxmlformats.org/officeDocument/2006/relationships/image" Target="../media/image130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emf"/><Relationship Id="rId2" Type="http://schemas.openxmlformats.org/officeDocument/2006/relationships/image" Target="../media/image136.emf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39.emf"/><Relationship Id="rId4" Type="http://schemas.openxmlformats.org/officeDocument/2006/relationships/image" Target="../media/image13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AA9D0B63-D9C1-4432-AF96-2EA7E99C0383}"/>
              </a:ext>
            </a:extLst>
          </p:cNvPr>
          <p:cNvSpPr txBox="1">
            <a:spLocks/>
          </p:cNvSpPr>
          <p:nvPr/>
        </p:nvSpPr>
        <p:spPr>
          <a:xfrm>
            <a:off x="1279047" y="2676721"/>
            <a:ext cx="7433153" cy="20221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b="1" dirty="0" err="1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Weishu</a:t>
            </a:r>
            <a:r>
              <a:rPr lang="en-US" sz="2800" b="1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L</a:t>
            </a:r>
            <a:r>
              <a:rPr lang="en-US" sz="2800" b="1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iu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Department of Materials Science and Engineering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Southern University of Science and Technology (</a:t>
            </a:r>
            <a:r>
              <a:rPr lang="en-US" sz="1800" dirty="0" err="1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SUSTec</a:t>
            </a:r>
            <a:r>
              <a:rPr lang="en-US" altLang="zh-CN" sz="1800" dirty="0" err="1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h</a:t>
            </a:r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Email: </a:t>
            </a:r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liuws@sustech.edu.cn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Office: </a:t>
            </a:r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North Tower, Rm310</a:t>
            </a:r>
          </a:p>
        </p:txBody>
      </p:sp>
      <p:sp>
        <p:nvSpPr>
          <p:cNvPr id="8" name="矩形 7"/>
          <p:cNvSpPr/>
          <p:nvPr/>
        </p:nvSpPr>
        <p:spPr>
          <a:xfrm>
            <a:off x="1524000" y="129808"/>
            <a:ext cx="7460256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i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MSE 311: Thermodynamics  of Materials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49" t="32802" r="17069" b="36756"/>
          <a:stretch/>
        </p:blipFill>
        <p:spPr>
          <a:xfrm>
            <a:off x="152400" y="4724400"/>
            <a:ext cx="2333297" cy="73434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01B1E1D-7C41-4F56-BF1E-96200593BAF0}"/>
              </a:ext>
            </a:extLst>
          </p:cNvPr>
          <p:cNvSpPr txBox="1"/>
          <p:nvPr/>
        </p:nvSpPr>
        <p:spPr>
          <a:xfrm>
            <a:off x="1279047" y="1457998"/>
            <a:ext cx="73100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Lecture 8: 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Most Probable Distribution</a:t>
            </a:r>
            <a:endParaRPr lang="en-US" altLang="zh-CN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9487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 bwMode="auto">
          <a:xfrm>
            <a:off x="1199382" y="-47887"/>
            <a:ext cx="7178676" cy="9743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Thermodynamics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 free energy 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41872" y="2995523"/>
          <a:ext cx="1764871" cy="433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23600" imgH="177480" progId="Equation.DSMT4">
                  <p:embed/>
                </p:oleObj>
              </mc:Choice>
              <mc:Fallback>
                <p:oleObj name="Equation" r:id="rId2" imgW="7236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41872" y="2995523"/>
                        <a:ext cx="1764871" cy="4334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3349" y="2287637"/>
            <a:ext cx="72446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Helmholtz Free Energy A, or F</a:t>
            </a:r>
          </a:p>
          <a:p>
            <a:r>
              <a:rPr lang="en-US" altLang="zh-CN" sz="2000" dirty="0"/>
              <a:t>----the energy that can be converted into work at a </a:t>
            </a:r>
            <a:r>
              <a:rPr lang="en-US" altLang="zh-CN" sz="2000" dirty="0">
                <a:solidFill>
                  <a:srgbClr val="FF0000"/>
                </a:solidFill>
              </a:rPr>
              <a:t>constant </a:t>
            </a:r>
            <a:r>
              <a:rPr lang="en-US" altLang="zh-CN" sz="2000" b="1" i="1" dirty="0">
                <a:solidFill>
                  <a:srgbClr val="FF0000"/>
                </a:solidFill>
              </a:rPr>
              <a:t>T</a:t>
            </a:r>
            <a:r>
              <a:rPr lang="en-US" altLang="zh-CN" sz="2000" dirty="0">
                <a:solidFill>
                  <a:srgbClr val="FF0000"/>
                </a:solidFill>
              </a:rPr>
              <a:t> and </a:t>
            </a:r>
            <a:r>
              <a:rPr lang="en-US" altLang="zh-CN" sz="2000" b="1" i="1" dirty="0">
                <a:solidFill>
                  <a:srgbClr val="FF0000"/>
                </a:solidFill>
              </a:rPr>
              <a:t>V</a:t>
            </a:r>
            <a:endParaRPr lang="zh-CN" altLang="en-US" sz="2000" b="1" i="1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13823" y="1409631"/>
            <a:ext cx="8202258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Thermodynamic free energy, </a:t>
            </a:r>
          </a:p>
          <a:p>
            <a:r>
              <a:rPr lang="en-US" altLang="zh-CN" dirty="0"/>
              <a:t>the energy in a physical system that can be converted to do work</a:t>
            </a:r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28600" y="3556337"/>
            <a:ext cx="72365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Gibbs Free Energy G, </a:t>
            </a:r>
          </a:p>
          <a:p>
            <a:r>
              <a:rPr lang="en-US" altLang="zh-CN" sz="2000" dirty="0"/>
              <a:t>----the energy that can be converted into work at a </a:t>
            </a:r>
            <a:r>
              <a:rPr lang="en-US" altLang="zh-CN" sz="2000" dirty="0">
                <a:solidFill>
                  <a:srgbClr val="FF0000"/>
                </a:solidFill>
              </a:rPr>
              <a:t>constant </a:t>
            </a:r>
            <a:r>
              <a:rPr lang="en-US" altLang="zh-CN" sz="2000" b="1" i="1" dirty="0">
                <a:solidFill>
                  <a:srgbClr val="FF0000"/>
                </a:solidFill>
              </a:rPr>
              <a:t>T</a:t>
            </a:r>
            <a:r>
              <a:rPr lang="en-US" altLang="zh-CN" sz="2000" dirty="0">
                <a:solidFill>
                  <a:srgbClr val="FF0000"/>
                </a:solidFill>
              </a:rPr>
              <a:t> and </a:t>
            </a:r>
            <a:r>
              <a:rPr lang="en-US" altLang="zh-CN" sz="2000" b="1" i="1" dirty="0">
                <a:solidFill>
                  <a:srgbClr val="FF0000"/>
                </a:solidFill>
              </a:rPr>
              <a:t>P</a:t>
            </a:r>
          </a:p>
          <a:p>
            <a:r>
              <a:rPr lang="en-US" altLang="zh-CN" sz="2000" b="1" i="1" dirty="0">
                <a:solidFill>
                  <a:srgbClr val="FF0000"/>
                </a:solidFill>
              </a:rPr>
              <a:t>      throughout the system</a:t>
            </a:r>
            <a:endParaRPr lang="zh-CN" altLang="en-US" sz="2000" b="1" i="1" dirty="0">
              <a:solidFill>
                <a:srgbClr val="FF0000"/>
              </a:solidFill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895350" y="4672012"/>
          <a:ext cx="405765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560" imgH="177480" progId="Equation.DSMT4">
                  <p:embed/>
                </p:oleObj>
              </mc:Choice>
              <mc:Fallback>
                <p:oleObj name="Equation" r:id="rId4" imgW="16635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4672012"/>
                        <a:ext cx="405765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06999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874729" y="1431238"/>
            <a:ext cx="6705600" cy="4147924"/>
            <a:chOff x="1010584" y="1795676"/>
            <a:chExt cx="6705600" cy="4147924"/>
          </a:xfrm>
        </p:grpSpPr>
        <p:sp>
          <p:nvSpPr>
            <p:cNvPr id="9" name="TextBox 8"/>
            <p:cNvSpPr txBox="1"/>
            <p:nvPr/>
          </p:nvSpPr>
          <p:spPr>
            <a:xfrm>
              <a:off x="1929931" y="2209800"/>
              <a:ext cx="60465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i="1" dirty="0" err="1"/>
                <a:t>dU</a:t>
              </a:r>
              <a:endParaRPr lang="zh-CN" altLang="en-US" sz="2800" i="1" dirty="0"/>
            </a:p>
          </p:txBody>
        </p:sp>
        <p:sp>
          <p:nvSpPr>
            <p:cNvPr id="10" name="椭圆 9"/>
            <p:cNvSpPr/>
            <p:nvPr/>
          </p:nvSpPr>
          <p:spPr>
            <a:xfrm>
              <a:off x="1010584" y="2195295"/>
              <a:ext cx="2455200" cy="1242017"/>
            </a:xfrm>
            <a:prstGeom prst="ellipse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924984" y="4351712"/>
              <a:ext cx="59824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i="1" dirty="0" err="1"/>
                <a:t>dH</a:t>
              </a:r>
              <a:endParaRPr lang="en-US" altLang="zh-CN" sz="2800" i="1" dirty="0"/>
            </a:p>
          </p:txBody>
        </p:sp>
        <p:sp>
          <p:nvSpPr>
            <p:cNvPr id="12" name="椭圆 11"/>
            <p:cNvSpPr/>
            <p:nvPr/>
          </p:nvSpPr>
          <p:spPr>
            <a:xfrm>
              <a:off x="1010584" y="4275512"/>
              <a:ext cx="2434728" cy="1242017"/>
            </a:xfrm>
            <a:prstGeom prst="ellipse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973340" y="4405095"/>
              <a:ext cx="59984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i="1" dirty="0" err="1"/>
                <a:t>dG</a:t>
              </a:r>
              <a:endParaRPr lang="en-US" altLang="zh-CN" sz="2800" i="1" dirty="0"/>
            </a:p>
          </p:txBody>
        </p:sp>
        <p:sp>
          <p:nvSpPr>
            <p:cNvPr id="14" name="椭圆 13"/>
            <p:cNvSpPr/>
            <p:nvPr/>
          </p:nvSpPr>
          <p:spPr>
            <a:xfrm>
              <a:off x="5052856" y="4328895"/>
              <a:ext cx="2663328" cy="1242017"/>
            </a:xfrm>
            <a:prstGeom prst="ellipse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108336" y="2271494"/>
              <a:ext cx="5822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i="1" dirty="0" err="1"/>
                <a:t>dA</a:t>
              </a:r>
              <a:endParaRPr lang="en-US" altLang="zh-CN" sz="2800" i="1" dirty="0"/>
            </a:p>
          </p:txBody>
        </p:sp>
        <p:sp>
          <p:nvSpPr>
            <p:cNvPr id="16" name="椭圆 15"/>
            <p:cNvSpPr/>
            <p:nvPr/>
          </p:nvSpPr>
          <p:spPr>
            <a:xfrm>
              <a:off x="5008086" y="2195294"/>
              <a:ext cx="2708098" cy="1242017"/>
            </a:xfrm>
            <a:prstGeom prst="ellipse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" name="直接箭头连接符 16"/>
            <p:cNvCxnSpPr>
              <a:stCxn id="10" idx="6"/>
            </p:cNvCxnSpPr>
            <p:nvPr/>
          </p:nvCxnSpPr>
          <p:spPr>
            <a:xfrm>
              <a:off x="3465784" y="2816304"/>
              <a:ext cx="143376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3832746" y="2229780"/>
              <a:ext cx="104054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/>
                <a:t>-</a:t>
              </a:r>
              <a:r>
                <a:rPr lang="en-US" altLang="zh-CN" sz="2800" i="1" dirty="0"/>
                <a:t>d(TS)</a:t>
              </a:r>
              <a:endParaRPr lang="zh-CN" altLang="en-US" sz="2800" i="1" dirty="0"/>
            </a:p>
          </p:txBody>
        </p:sp>
        <p:cxnSp>
          <p:nvCxnSpPr>
            <p:cNvPr id="19" name="直接箭头连接符 18"/>
            <p:cNvCxnSpPr/>
            <p:nvPr/>
          </p:nvCxnSpPr>
          <p:spPr>
            <a:xfrm flipV="1">
              <a:off x="3445312" y="4910905"/>
              <a:ext cx="1433762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stCxn id="10" idx="4"/>
              <a:endCxn id="12" idx="0"/>
            </p:cNvCxnSpPr>
            <p:nvPr/>
          </p:nvCxnSpPr>
          <p:spPr>
            <a:xfrm flipH="1">
              <a:off x="2227948" y="3437312"/>
              <a:ext cx="10236" cy="83820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2578444" y="3589712"/>
              <a:ext cx="10183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/>
                <a:t>+</a:t>
              </a:r>
              <a:r>
                <a:rPr lang="en-US" altLang="zh-CN" sz="2400" i="1" dirty="0"/>
                <a:t>d(PV)</a:t>
              </a:r>
              <a:endParaRPr lang="zh-CN" altLang="en-US" sz="2400" i="1" dirty="0"/>
            </a:p>
          </p:txBody>
        </p:sp>
        <p:cxnSp>
          <p:nvCxnSpPr>
            <p:cNvPr id="23" name="直接箭头连接符 22"/>
            <p:cNvCxnSpPr/>
            <p:nvPr/>
          </p:nvCxnSpPr>
          <p:spPr>
            <a:xfrm>
              <a:off x="6268384" y="3505200"/>
              <a:ext cx="0" cy="76200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6296844" y="3589712"/>
              <a:ext cx="10183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/>
                <a:t>+</a:t>
              </a:r>
              <a:r>
                <a:rPr lang="en-US" altLang="zh-CN" sz="2400" i="1" dirty="0"/>
                <a:t>d(PV)</a:t>
              </a:r>
              <a:endParaRPr lang="zh-CN" altLang="en-US" sz="2400" i="1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467784" y="1818002"/>
              <a:ext cx="18673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0000FF"/>
                  </a:solidFill>
                </a:rPr>
                <a:t> Internal energy</a:t>
              </a:r>
              <a:endParaRPr lang="zh-CN" altLang="en-US" sz="2000" b="1" dirty="0">
                <a:solidFill>
                  <a:srgbClr val="0000FF"/>
                </a:solidFill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4879074" y="1795676"/>
              <a:ext cx="23867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00FF"/>
                  </a:solidFill>
                </a:rPr>
                <a:t>Helmholtz Free Energy </a:t>
              </a:r>
              <a:endParaRPr lang="zh-CN" altLang="en-US" dirty="0"/>
            </a:p>
          </p:txBody>
        </p:sp>
        <p:sp>
          <p:nvSpPr>
            <p:cNvPr id="27" name="矩形 26"/>
            <p:cNvSpPr/>
            <p:nvPr/>
          </p:nvSpPr>
          <p:spPr>
            <a:xfrm>
              <a:off x="5008086" y="5574268"/>
              <a:ext cx="194796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00FF"/>
                  </a:solidFill>
                </a:rPr>
                <a:t>Gibbs Free Energy </a:t>
              </a:r>
              <a:endParaRPr lang="zh-CN" altLang="en-US" dirty="0"/>
            </a:p>
          </p:txBody>
        </p:sp>
        <p:sp>
          <p:nvSpPr>
            <p:cNvPr id="28" name="矩形 27"/>
            <p:cNvSpPr/>
            <p:nvPr/>
          </p:nvSpPr>
          <p:spPr>
            <a:xfrm>
              <a:off x="1968875" y="5574268"/>
              <a:ext cx="102290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00FF"/>
                  </a:solidFill>
                </a:rPr>
                <a:t>Enthalpy</a:t>
              </a:r>
              <a:endParaRPr lang="zh-CN" altLang="en-US" dirty="0"/>
            </a:p>
          </p:txBody>
        </p:sp>
        <p:graphicFrame>
          <p:nvGraphicFramePr>
            <p:cNvPr id="31" name="对象 30"/>
            <p:cNvGraphicFramePr>
              <a:graphicFrameLocks noChangeAspect="1"/>
            </p:cNvGraphicFramePr>
            <p:nvPr/>
          </p:nvGraphicFramePr>
          <p:xfrm>
            <a:off x="5125384" y="2863850"/>
            <a:ext cx="2454275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63700" imgH="228600" progId="Equation.3">
                    <p:embed/>
                  </p:oleObj>
                </mc:Choice>
                <mc:Fallback>
                  <p:oleObj name="Equation" r:id="rId2" imgW="16637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5384" y="2863850"/>
                          <a:ext cx="2454275" cy="336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对象 31"/>
            <p:cNvGraphicFramePr>
              <a:graphicFrameLocks noChangeAspect="1"/>
            </p:cNvGraphicFramePr>
            <p:nvPr/>
          </p:nvGraphicFramePr>
          <p:xfrm>
            <a:off x="1146446" y="4905619"/>
            <a:ext cx="2319338" cy="334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74800" imgH="228600" progId="Equation.3">
                    <p:embed/>
                  </p:oleObj>
                </mc:Choice>
                <mc:Fallback>
                  <p:oleObj name="Equation" r:id="rId4" imgW="15748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6446" y="4905619"/>
                          <a:ext cx="2319338" cy="334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对象 32"/>
            <p:cNvGraphicFramePr>
              <a:graphicFrameLocks noChangeAspect="1"/>
            </p:cNvGraphicFramePr>
            <p:nvPr/>
          </p:nvGraphicFramePr>
          <p:xfrm>
            <a:off x="5187606" y="4940475"/>
            <a:ext cx="2454275" cy="334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663700" imgH="228600" progId="Equation.3">
                    <p:embed/>
                  </p:oleObj>
                </mc:Choice>
                <mc:Fallback>
                  <p:oleObj name="Equation" r:id="rId6" imgW="16637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7606" y="4940475"/>
                          <a:ext cx="2454275" cy="334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TextBox 34"/>
            <p:cNvSpPr txBox="1"/>
            <p:nvPr/>
          </p:nvSpPr>
          <p:spPr>
            <a:xfrm>
              <a:off x="3707259" y="4275512"/>
              <a:ext cx="104054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/>
                <a:t>-</a:t>
              </a:r>
              <a:r>
                <a:rPr lang="en-US" altLang="zh-CN" sz="2800" i="1" dirty="0"/>
                <a:t>d(TS)</a:t>
              </a:r>
              <a:endParaRPr lang="zh-CN" altLang="en-US" sz="2800" i="1" dirty="0"/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/>
          </p:nvGraphicFramePr>
          <p:xfrm>
            <a:off x="1269752" y="2778697"/>
            <a:ext cx="2065338" cy="3134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663560" imgH="253800" progId="Equation.DSMT4">
                    <p:embed/>
                  </p:oleObj>
                </mc:Choice>
                <mc:Fallback>
                  <p:oleObj name="Equation" r:id="rId8" imgW="166356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9752" y="2778697"/>
                          <a:ext cx="2065338" cy="3134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TextBox 1"/>
          <p:cNvSpPr txBox="1"/>
          <p:nvPr/>
        </p:nvSpPr>
        <p:spPr>
          <a:xfrm>
            <a:off x="1638763" y="178499"/>
            <a:ext cx="18793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</a:rPr>
              <a:t>U,H, A, G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1627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14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4747" y="957491"/>
            <a:ext cx="4514850" cy="450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2740335" y="172660"/>
            <a:ext cx="387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Thermodynamics Venn diagram 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665" y="5783554"/>
            <a:ext cx="7801392" cy="83057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87818" y="5414222"/>
            <a:ext cx="4643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</a:rPr>
              <a:t>American Journal of Physics 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, 950 (2011)</a:t>
            </a:r>
            <a:endParaRPr lang="zh-CN" altLang="en-US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38364" y="2168566"/>
          <a:ext cx="14351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34960" imgH="253800" progId="Equation.DSMT4">
                  <p:embed/>
                </p:oleObj>
              </mc:Choice>
              <mc:Fallback>
                <p:oleObj name="Equation" r:id="rId4" imgW="14349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364" y="2168566"/>
                        <a:ext cx="14351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任意多边形 1"/>
          <p:cNvSpPr/>
          <p:nvPr/>
        </p:nvSpPr>
        <p:spPr>
          <a:xfrm>
            <a:off x="866899" y="2422566"/>
            <a:ext cx="1769423" cy="724395"/>
          </a:xfrm>
          <a:custGeom>
            <a:avLst/>
            <a:gdLst>
              <a:gd name="connsiteX0" fmla="*/ 0 w 1769423"/>
              <a:gd name="connsiteY0" fmla="*/ 0 h 724395"/>
              <a:gd name="connsiteX1" fmla="*/ 475013 w 1769423"/>
              <a:gd name="connsiteY1" fmla="*/ 356260 h 724395"/>
              <a:gd name="connsiteX2" fmla="*/ 1769423 w 1769423"/>
              <a:gd name="connsiteY2" fmla="*/ 724395 h 724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69423" h="724395">
                <a:moveTo>
                  <a:pt x="0" y="0"/>
                </a:moveTo>
                <a:lnTo>
                  <a:pt x="475013" y="356260"/>
                </a:lnTo>
                <a:lnTo>
                  <a:pt x="1769423" y="724395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57402" y="3786631"/>
          <a:ext cx="1516062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60160" imgH="253800" progId="Equation.DSMT4">
                  <p:embed/>
                </p:oleObj>
              </mc:Choice>
              <mc:Fallback>
                <p:oleObj name="Equation" r:id="rId6" imgW="14601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402" y="3786631"/>
                        <a:ext cx="1516062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任意多边形 6"/>
          <p:cNvSpPr/>
          <p:nvPr/>
        </p:nvSpPr>
        <p:spPr>
          <a:xfrm>
            <a:off x="1128156" y="3420094"/>
            <a:ext cx="2256312" cy="403761"/>
          </a:xfrm>
          <a:custGeom>
            <a:avLst/>
            <a:gdLst>
              <a:gd name="connsiteX0" fmla="*/ 0 w 2256312"/>
              <a:gd name="connsiteY0" fmla="*/ 403761 h 403761"/>
              <a:gd name="connsiteX1" fmla="*/ 748145 w 2256312"/>
              <a:gd name="connsiteY1" fmla="*/ 0 h 403761"/>
              <a:gd name="connsiteX2" fmla="*/ 2256312 w 2256312"/>
              <a:gd name="connsiteY2" fmla="*/ 237506 h 403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56312" h="403761">
                <a:moveTo>
                  <a:pt x="0" y="403761"/>
                </a:moveTo>
                <a:lnTo>
                  <a:pt x="748145" y="0"/>
                </a:lnTo>
                <a:lnTo>
                  <a:pt x="2256312" y="23750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9533" y="1629007"/>
            <a:ext cx="21852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err="1"/>
              <a:t>Grandcanonical</a:t>
            </a:r>
            <a:r>
              <a:rPr lang="en-US" altLang="zh-CN" sz="1400" dirty="0"/>
              <a:t> Potential</a:t>
            </a:r>
          </a:p>
        </p:txBody>
      </p:sp>
      <p:sp>
        <p:nvSpPr>
          <p:cNvPr id="11" name="矩形 10"/>
          <p:cNvSpPr/>
          <p:nvPr/>
        </p:nvSpPr>
        <p:spPr>
          <a:xfrm>
            <a:off x="19819" y="4108916"/>
            <a:ext cx="17283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/>
              <a:t>Canonical Potential</a:t>
            </a:r>
          </a:p>
        </p:txBody>
      </p:sp>
    </p:spTree>
    <p:extLst>
      <p:ext uri="{BB962C8B-B14F-4D97-AF65-F5344CB8AC3E}">
        <p14:creationId xmlns:p14="http://schemas.microsoft.com/office/powerpoint/2010/main" val="430346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542852" y="3074429"/>
            <a:ext cx="42578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16.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Boltzmann Equation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8DD4CBF-0338-47CF-AF5D-F17ED52F2F8A}"/>
              </a:ext>
            </a:extLst>
          </p:cNvPr>
          <p:cNvGrpSpPr/>
          <p:nvPr/>
        </p:nvGrpSpPr>
        <p:grpSpPr>
          <a:xfrm>
            <a:off x="11509" y="3723620"/>
            <a:ext cx="8991600" cy="144002"/>
            <a:chOff x="11509" y="3723620"/>
            <a:chExt cx="8991600" cy="144002"/>
          </a:xfrm>
        </p:grpSpPr>
        <p:sp>
          <p:nvSpPr>
            <p:cNvPr id="12" name="圆角矩形 4">
              <a:extLst>
                <a:ext uri="{FF2B5EF4-FFF2-40B4-BE49-F238E27FC236}">
                  <a16:creationId xmlns:a16="http://schemas.microsoft.com/office/drawing/2014/main" id="{BBE67C6D-4FA4-4903-A815-112A2F64E376}"/>
                </a:ext>
              </a:extLst>
            </p:cNvPr>
            <p:cNvSpPr/>
            <p:nvPr/>
          </p:nvSpPr>
          <p:spPr>
            <a:xfrm>
              <a:off x="11509" y="3723620"/>
              <a:ext cx="1531344" cy="144001"/>
            </a:xfrm>
            <a:prstGeom prst="roundRect">
              <a:avLst>
                <a:gd name="adj" fmla="val 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3" name="圆角矩形 5">
              <a:extLst>
                <a:ext uri="{FF2B5EF4-FFF2-40B4-BE49-F238E27FC236}">
                  <a16:creationId xmlns:a16="http://schemas.microsoft.com/office/drawing/2014/main" id="{3704EA5C-488E-4B4C-8440-6123B3AB38B6}"/>
                </a:ext>
              </a:extLst>
            </p:cNvPr>
            <p:cNvSpPr/>
            <p:nvPr/>
          </p:nvSpPr>
          <p:spPr>
            <a:xfrm>
              <a:off x="1588981" y="3723620"/>
              <a:ext cx="3048000" cy="14400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圆角矩形 6">
              <a:extLst>
                <a:ext uri="{FF2B5EF4-FFF2-40B4-BE49-F238E27FC236}">
                  <a16:creationId xmlns:a16="http://schemas.microsoft.com/office/drawing/2014/main" id="{0167F0F7-B2FB-479A-A271-4BDCA0DC1C5E}"/>
                </a:ext>
              </a:extLst>
            </p:cNvPr>
            <p:cNvSpPr/>
            <p:nvPr/>
          </p:nvSpPr>
          <p:spPr>
            <a:xfrm>
              <a:off x="4683109" y="3723620"/>
              <a:ext cx="4320000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3757E278-0384-4D91-A5DD-62277626F940}"/>
              </a:ext>
            </a:extLst>
          </p:cNvPr>
          <p:cNvSpPr/>
          <p:nvPr/>
        </p:nvSpPr>
        <p:spPr>
          <a:xfrm>
            <a:off x="1542853" y="3934599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Chapter 4</a:t>
            </a:r>
          </a:p>
          <a:p>
            <a:r>
              <a:rPr lang="en-US" altLang="zh-CN" dirty="0"/>
              <a:t>Introduction of Thermodynamics, /6</a:t>
            </a:r>
            <a:r>
              <a:rPr lang="en-US" altLang="zh-CN" baseline="30000" dirty="0"/>
              <a:t>th</a:t>
            </a:r>
            <a:r>
              <a:rPr lang="en-US" altLang="zh-CN" dirty="0"/>
              <a:t> Edition, CRC Press, 2018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6139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735" y="700737"/>
            <a:ext cx="1596266" cy="17558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819735" y="2757554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1853-1932</a:t>
            </a:r>
            <a:endParaRPr lang="zh-CN" altLang="en-US" dirty="0"/>
          </a:p>
        </p:txBody>
      </p:sp>
      <p:pic>
        <p:nvPicPr>
          <p:cNvPr id="1187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517" y="530934"/>
            <a:ext cx="1581150" cy="209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357931" y="2883406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1844-1906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777214" y="3758251"/>
            <a:ext cx="187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Energy VS Atom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78727" y="2577363"/>
            <a:ext cx="226536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/>
              <a:t>Friedrich Wilhelm Ostwald</a:t>
            </a:r>
            <a:endParaRPr lang="zh-CN" altLang="en-US" sz="1400" dirty="0"/>
          </a:p>
        </p:txBody>
      </p:sp>
      <p:sp>
        <p:nvSpPr>
          <p:cNvPr id="8" name="矩形 7"/>
          <p:cNvSpPr/>
          <p:nvPr/>
        </p:nvSpPr>
        <p:spPr>
          <a:xfrm>
            <a:off x="6031188" y="2633118"/>
            <a:ext cx="20697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Ludwig Boltzmann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-104189" y="1978689"/>
            <a:ext cx="18469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Noble Prize:  1909</a:t>
            </a:r>
          </a:p>
          <a:p>
            <a:r>
              <a:rPr lang="en-US" altLang="zh-CN" sz="1200" dirty="0"/>
              <a:t>Discover ring Nitric </a:t>
            </a:r>
            <a:r>
              <a:rPr lang="en-US" altLang="zh-CN" sz="1200" dirty="0" err="1"/>
              <a:t>arcid</a:t>
            </a:r>
            <a:endParaRPr lang="zh-CN" altLang="en-US" sz="1200" dirty="0"/>
          </a:p>
        </p:txBody>
      </p:sp>
      <p:pic>
        <p:nvPicPr>
          <p:cNvPr id="122882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588"/>
          <a:stretch/>
        </p:blipFill>
        <p:spPr bwMode="auto">
          <a:xfrm>
            <a:off x="1511001" y="3261132"/>
            <a:ext cx="1905000" cy="2044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矩形 9"/>
          <p:cNvSpPr/>
          <p:nvPr/>
        </p:nvSpPr>
        <p:spPr>
          <a:xfrm>
            <a:off x="1742791" y="5460350"/>
            <a:ext cx="14414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Ernst Mach</a:t>
            </a:r>
          </a:p>
          <a:p>
            <a:r>
              <a:rPr lang="en-US" altLang="zh-CN" dirty="0"/>
              <a:t>1838〜1916</a:t>
            </a:r>
            <a:endParaRPr lang="zh-CN" altLang="en-US" dirty="0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526" y="3403398"/>
            <a:ext cx="1467663" cy="2120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矩形 15"/>
          <p:cNvSpPr/>
          <p:nvPr/>
        </p:nvSpPr>
        <p:spPr>
          <a:xfrm>
            <a:off x="6334182" y="5509951"/>
            <a:ext cx="11592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/>
              <a:t>Max Planck</a:t>
            </a:r>
            <a:endParaRPr lang="zh-CN" alt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6357931" y="5798904"/>
            <a:ext cx="10390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1858-1933</a:t>
            </a:r>
            <a:endParaRPr lang="zh-CN" altLang="en-US" sz="1400" dirty="0"/>
          </a:p>
        </p:txBody>
      </p:sp>
      <p:sp>
        <p:nvSpPr>
          <p:cNvPr id="18" name="矩形 17"/>
          <p:cNvSpPr/>
          <p:nvPr/>
        </p:nvSpPr>
        <p:spPr>
          <a:xfrm>
            <a:off x="7777667" y="4998685"/>
            <a:ext cx="144623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Noble Prize:  1918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638" y="3403398"/>
            <a:ext cx="2903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What the world made by</a:t>
            </a:r>
            <a:r>
              <a:rPr lang="zh-CN" altLang="en-US" dirty="0"/>
              <a:t>：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E9DFB6-D83E-4664-9C61-28A9EBA288BB}"/>
              </a:ext>
            </a:extLst>
          </p:cNvPr>
          <p:cNvSpPr txBox="1"/>
          <p:nvPr/>
        </p:nvSpPr>
        <p:spPr>
          <a:xfrm>
            <a:off x="2044818" y="76087"/>
            <a:ext cx="46617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000" b="0" i="0" dirty="0">
                <a:solidFill>
                  <a:srgbClr val="FF0000"/>
                </a:solidFill>
                <a:effectLst/>
                <a:latin typeface="Georgia" panose="02040502050405020303" pitchFamily="18" charset="0"/>
              </a:rPr>
              <a:t>The Ostwald-Boltzmann Controversy</a:t>
            </a:r>
          </a:p>
        </p:txBody>
      </p:sp>
    </p:spTree>
    <p:extLst>
      <p:ext uri="{BB962C8B-B14F-4D97-AF65-F5344CB8AC3E}">
        <p14:creationId xmlns:p14="http://schemas.microsoft.com/office/powerpoint/2010/main" val="1773739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714DFA0-53AB-4FE4-98B7-6E287D702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27" y="817322"/>
            <a:ext cx="3828516" cy="522335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375629E-323F-4A40-BCCB-2100601BE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714" y="1486968"/>
            <a:ext cx="4619693" cy="425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148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04" y="1323279"/>
            <a:ext cx="38100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390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3687" y="2083420"/>
            <a:ext cx="3456453" cy="22897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4963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57200" y="1479387"/>
            <a:ext cx="8686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altLang="zh-CN" sz="2400" dirty="0"/>
              <a:t>Classic Thermodynamics is phenomenological. 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altLang="zh-CN" sz="2400" dirty="0"/>
              <a:t>TD variables: T, V, P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altLang="zh-CN" sz="2400" dirty="0"/>
              <a:t>It didn’t  consider the  properties of their constituent particles and the interactions between them.</a:t>
            </a:r>
          </a:p>
        </p:txBody>
      </p:sp>
      <p:sp>
        <p:nvSpPr>
          <p:cNvPr id="14" name="矩形 13"/>
          <p:cNvSpPr/>
          <p:nvPr/>
        </p:nvSpPr>
        <p:spPr>
          <a:xfrm>
            <a:off x="740902" y="991647"/>
            <a:ext cx="32976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</a:rPr>
              <a:t>Classic Thermodynamics</a:t>
            </a:r>
            <a:endParaRPr lang="zh-CN" altLang="en-US" sz="2400" b="1" dirty="0">
              <a:solidFill>
                <a:srgbClr val="0070C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58062" y="3125247"/>
            <a:ext cx="34694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Statistic Thermodynamics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81000" y="3582447"/>
            <a:ext cx="8458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sz="2400" dirty="0"/>
              <a:t>It consider the detailed information of the constituent particle by  statistical methods, probability theory and the microscopic physical laws.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sz="2400" dirty="0"/>
              <a:t>It provides a connection between the macroscopic properties of materials in thermodynamic equilibrium, and the microscopic behaviors and motions occurring inside the material. 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191DA63-AFBD-8C1D-BA9A-EC433257E53B}"/>
              </a:ext>
            </a:extLst>
          </p:cNvPr>
          <p:cNvSpPr/>
          <p:nvPr/>
        </p:nvSpPr>
        <p:spPr>
          <a:xfrm>
            <a:off x="2121415" y="136232"/>
            <a:ext cx="53992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Scope of Statistic Thermodynamics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2779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167" name="Text Box 41"/>
          <p:cNvSpPr txBox="1">
            <a:spLocks noChangeArrowheads="1"/>
          </p:cNvSpPr>
          <p:nvPr/>
        </p:nvSpPr>
        <p:spPr bwMode="auto">
          <a:xfrm>
            <a:off x="1765300" y="5611731"/>
            <a:ext cx="5024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2400" b="1" dirty="0">
                <a:ea typeface="宋体" charset="-122"/>
              </a:rPr>
              <a:t>Disorder increases, entropy increases</a:t>
            </a:r>
          </a:p>
        </p:txBody>
      </p:sp>
      <p:sp>
        <p:nvSpPr>
          <p:cNvPr id="159" name="Text Box 36"/>
          <p:cNvSpPr txBox="1">
            <a:spLocks noChangeArrowheads="1"/>
          </p:cNvSpPr>
          <p:nvPr/>
        </p:nvSpPr>
        <p:spPr bwMode="auto">
          <a:xfrm>
            <a:off x="2719884" y="2925984"/>
            <a:ext cx="12346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 dirty="0">
                <a:ea typeface="宋体" charset="-122"/>
              </a:rPr>
              <a:t>Melting </a:t>
            </a:r>
          </a:p>
        </p:txBody>
      </p:sp>
      <p:sp>
        <p:nvSpPr>
          <p:cNvPr id="161" name="Text Box 38"/>
          <p:cNvSpPr txBox="1">
            <a:spLocks noChangeArrowheads="1"/>
          </p:cNvSpPr>
          <p:nvPr/>
        </p:nvSpPr>
        <p:spPr bwMode="auto">
          <a:xfrm>
            <a:off x="5021557" y="2862642"/>
            <a:ext cx="11833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2400" dirty="0">
                <a:ea typeface="宋体" charset="-122"/>
              </a:rPr>
              <a:t>Boiling </a:t>
            </a:r>
          </a:p>
        </p:txBody>
      </p:sp>
      <p:sp>
        <p:nvSpPr>
          <p:cNvPr id="162" name="Text Box 39"/>
          <p:cNvSpPr txBox="1">
            <a:spLocks noChangeArrowheads="1"/>
          </p:cNvSpPr>
          <p:nvPr/>
        </p:nvSpPr>
        <p:spPr bwMode="auto">
          <a:xfrm>
            <a:off x="2113756" y="3735397"/>
            <a:ext cx="2163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2400" dirty="0">
                <a:ea typeface="宋体" charset="-122"/>
                <a:sym typeface="Symbol" pitchFamily="18" charset="2"/>
              </a:rPr>
              <a:t>S = </a:t>
            </a:r>
            <a:r>
              <a:rPr lang="en-US" altLang="zh-CN" sz="2400" dirty="0" err="1">
                <a:ea typeface="宋体" charset="-122"/>
                <a:sym typeface="Symbol" pitchFamily="18" charset="2"/>
              </a:rPr>
              <a:t>H</a:t>
            </a:r>
            <a:r>
              <a:rPr lang="en-US" altLang="zh-CN" sz="2400" baseline="-25000" dirty="0" err="1">
                <a:ea typeface="宋体" charset="-122"/>
                <a:sym typeface="Symbol" pitchFamily="18" charset="2"/>
              </a:rPr>
              <a:t>melting</a:t>
            </a:r>
            <a:r>
              <a:rPr lang="en-US" altLang="zh-CN" sz="2400" dirty="0">
                <a:ea typeface="宋体" charset="-122"/>
                <a:sym typeface="Symbol" pitchFamily="18" charset="2"/>
              </a:rPr>
              <a:t>/T</a:t>
            </a:r>
            <a:endParaRPr lang="en-US" altLang="zh-CN" sz="2400" dirty="0">
              <a:ea typeface="宋体" charset="-122"/>
            </a:endParaRPr>
          </a:p>
        </p:txBody>
      </p:sp>
      <p:sp>
        <p:nvSpPr>
          <p:cNvPr id="163" name="Text Box 40"/>
          <p:cNvSpPr txBox="1">
            <a:spLocks noChangeArrowheads="1"/>
          </p:cNvSpPr>
          <p:nvPr/>
        </p:nvSpPr>
        <p:spPr bwMode="auto">
          <a:xfrm>
            <a:off x="4704556" y="3735397"/>
            <a:ext cx="2117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2400" dirty="0">
                <a:ea typeface="宋体" charset="-122"/>
                <a:sym typeface="Symbol" pitchFamily="18" charset="2"/>
              </a:rPr>
              <a:t>S = </a:t>
            </a:r>
            <a:r>
              <a:rPr lang="en-US" altLang="zh-CN" sz="2400" dirty="0" err="1">
                <a:ea typeface="宋体" charset="-122"/>
                <a:sym typeface="Symbol" pitchFamily="18" charset="2"/>
              </a:rPr>
              <a:t>H</a:t>
            </a:r>
            <a:r>
              <a:rPr lang="en-US" altLang="zh-CN" sz="2400" baseline="-25000" dirty="0" err="1">
                <a:ea typeface="宋体" charset="-122"/>
                <a:sym typeface="Symbol" pitchFamily="18" charset="2"/>
              </a:rPr>
              <a:t>boiling</a:t>
            </a:r>
            <a:r>
              <a:rPr lang="en-US" altLang="zh-CN" sz="2400" dirty="0">
                <a:ea typeface="宋体" charset="-122"/>
                <a:sym typeface="Symbol" pitchFamily="18" charset="2"/>
              </a:rPr>
              <a:t>/T</a:t>
            </a:r>
            <a:endParaRPr lang="en-US" altLang="zh-CN" sz="2400" dirty="0">
              <a:ea typeface="宋体" charset="-122"/>
            </a:endParaRPr>
          </a:p>
        </p:txBody>
      </p:sp>
      <p:sp>
        <p:nvSpPr>
          <p:cNvPr id="164" name="Text Box 42"/>
          <p:cNvSpPr txBox="1">
            <a:spLocks noChangeArrowheads="1"/>
          </p:cNvSpPr>
          <p:nvPr/>
        </p:nvSpPr>
        <p:spPr bwMode="auto">
          <a:xfrm>
            <a:off x="589756" y="4725997"/>
            <a:ext cx="2878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ea typeface="宋体" charset="-122"/>
              </a:rPr>
              <a:t>Latent heat of melting</a:t>
            </a:r>
          </a:p>
        </p:txBody>
      </p:sp>
      <p:sp>
        <p:nvSpPr>
          <p:cNvPr id="165" name="Freeform 43"/>
          <p:cNvSpPr>
            <a:spLocks/>
          </p:cNvSpPr>
          <p:nvPr/>
        </p:nvSpPr>
        <p:spPr bwMode="auto">
          <a:xfrm>
            <a:off x="2113756" y="4192597"/>
            <a:ext cx="990600" cy="609600"/>
          </a:xfrm>
          <a:custGeom>
            <a:avLst/>
            <a:gdLst>
              <a:gd name="T0" fmla="*/ 0 w 624"/>
              <a:gd name="T1" fmla="*/ 384 h 384"/>
              <a:gd name="T2" fmla="*/ 240 w 624"/>
              <a:gd name="T3" fmla="*/ 96 h 384"/>
              <a:gd name="T4" fmla="*/ 336 w 624"/>
              <a:gd name="T5" fmla="*/ 336 h 384"/>
              <a:gd name="T6" fmla="*/ 624 w 624"/>
              <a:gd name="T7" fmla="*/ 0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624"/>
              <a:gd name="T13" fmla="*/ 0 h 384"/>
              <a:gd name="T14" fmla="*/ 624 w 624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4" h="384">
                <a:moveTo>
                  <a:pt x="0" y="384"/>
                </a:moveTo>
                <a:cubicBezTo>
                  <a:pt x="92" y="244"/>
                  <a:pt x="184" y="104"/>
                  <a:pt x="240" y="96"/>
                </a:cubicBezTo>
                <a:cubicBezTo>
                  <a:pt x="296" y="88"/>
                  <a:pt x="272" y="352"/>
                  <a:pt x="336" y="336"/>
                </a:cubicBezTo>
                <a:cubicBezTo>
                  <a:pt x="400" y="320"/>
                  <a:pt x="512" y="160"/>
                  <a:pt x="62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66" name="Text Box 26"/>
          <p:cNvSpPr txBox="1">
            <a:spLocks noChangeArrowheads="1"/>
          </p:cNvSpPr>
          <p:nvPr/>
        </p:nvSpPr>
        <p:spPr bwMode="auto">
          <a:xfrm>
            <a:off x="422023" y="1816115"/>
            <a:ext cx="727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2400" dirty="0">
                <a:ea typeface="宋体" charset="-122"/>
              </a:rPr>
              <a:t>H</a:t>
            </a:r>
            <a:r>
              <a:rPr lang="en-US" altLang="zh-CN" sz="2400" baseline="-25000" dirty="0">
                <a:ea typeface="宋体" charset="-122"/>
              </a:rPr>
              <a:t>2</a:t>
            </a:r>
            <a:r>
              <a:rPr lang="en-US" altLang="zh-CN" sz="2400" dirty="0">
                <a:ea typeface="宋体" charset="-122"/>
              </a:rPr>
              <a:t>O</a:t>
            </a:r>
          </a:p>
        </p:txBody>
      </p:sp>
      <p:sp>
        <p:nvSpPr>
          <p:cNvPr id="30" name="Text Box 42"/>
          <p:cNvSpPr txBox="1">
            <a:spLocks noChangeArrowheads="1"/>
          </p:cNvSpPr>
          <p:nvPr/>
        </p:nvSpPr>
        <p:spPr bwMode="auto">
          <a:xfrm>
            <a:off x="4439734" y="4700597"/>
            <a:ext cx="34179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ea typeface="宋体" charset="-122"/>
              </a:rPr>
              <a:t>Latent heat of evaporation</a:t>
            </a:r>
          </a:p>
        </p:txBody>
      </p:sp>
      <p:sp>
        <p:nvSpPr>
          <p:cNvPr id="31" name="Freeform 43"/>
          <p:cNvSpPr>
            <a:spLocks/>
          </p:cNvSpPr>
          <p:nvPr/>
        </p:nvSpPr>
        <p:spPr bwMode="auto">
          <a:xfrm>
            <a:off x="4888203" y="4116397"/>
            <a:ext cx="990600" cy="609600"/>
          </a:xfrm>
          <a:custGeom>
            <a:avLst/>
            <a:gdLst>
              <a:gd name="T0" fmla="*/ 0 w 624"/>
              <a:gd name="T1" fmla="*/ 384 h 384"/>
              <a:gd name="T2" fmla="*/ 240 w 624"/>
              <a:gd name="T3" fmla="*/ 96 h 384"/>
              <a:gd name="T4" fmla="*/ 336 w 624"/>
              <a:gd name="T5" fmla="*/ 336 h 384"/>
              <a:gd name="T6" fmla="*/ 624 w 624"/>
              <a:gd name="T7" fmla="*/ 0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624"/>
              <a:gd name="T13" fmla="*/ 0 h 384"/>
              <a:gd name="T14" fmla="*/ 624 w 624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4" h="384">
                <a:moveTo>
                  <a:pt x="0" y="384"/>
                </a:moveTo>
                <a:cubicBezTo>
                  <a:pt x="92" y="244"/>
                  <a:pt x="184" y="104"/>
                  <a:pt x="240" y="96"/>
                </a:cubicBezTo>
                <a:cubicBezTo>
                  <a:pt x="296" y="88"/>
                  <a:pt x="272" y="352"/>
                  <a:pt x="336" y="336"/>
                </a:cubicBezTo>
                <a:cubicBezTo>
                  <a:pt x="400" y="320"/>
                  <a:pt x="512" y="160"/>
                  <a:pt x="62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zh-CN" altLang="zh-CN"/>
          </a:p>
        </p:txBody>
      </p:sp>
      <p:pic>
        <p:nvPicPr>
          <p:cNvPr id="20482" name="Picture 2" descr="查看源图像">
            <a:extLst>
              <a:ext uri="{FF2B5EF4-FFF2-40B4-BE49-F238E27FC236}">
                <a16:creationId xmlns:a16="http://schemas.microsoft.com/office/drawing/2014/main" id="{38B9DA9F-787B-412F-B559-E45422FC8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338" y="1097184"/>
            <a:ext cx="60960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箭头: 右 3">
            <a:extLst>
              <a:ext uri="{FF2B5EF4-FFF2-40B4-BE49-F238E27FC236}">
                <a16:creationId xmlns:a16="http://schemas.microsoft.com/office/drawing/2014/main" id="{C09B4169-F47B-4850-88DD-A9088685859D}"/>
              </a:ext>
            </a:extLst>
          </p:cNvPr>
          <p:cNvSpPr/>
          <p:nvPr/>
        </p:nvSpPr>
        <p:spPr>
          <a:xfrm>
            <a:off x="3049273" y="1890891"/>
            <a:ext cx="410199" cy="3076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17878D71-E65C-4364-806D-FFA13E69D0C3}"/>
              </a:ext>
            </a:extLst>
          </p:cNvPr>
          <p:cNvSpPr/>
          <p:nvPr/>
        </p:nvSpPr>
        <p:spPr>
          <a:xfrm>
            <a:off x="5203027" y="1890891"/>
            <a:ext cx="410199" cy="3076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997F75-078C-4E57-A54E-4328943C987F}"/>
              </a:ext>
            </a:extLst>
          </p:cNvPr>
          <p:cNvSpPr txBox="1"/>
          <p:nvPr/>
        </p:nvSpPr>
        <p:spPr>
          <a:xfrm>
            <a:off x="1180813" y="206501"/>
            <a:ext cx="49263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Entropy: the degree of disordering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28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910885" y="7937"/>
            <a:ext cx="5873750" cy="595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Degree of Mixed-up-ness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Text Box 235"/>
          <p:cNvSpPr txBox="1">
            <a:spLocks noChangeArrowheads="1"/>
          </p:cNvSpPr>
          <p:nvPr/>
        </p:nvSpPr>
        <p:spPr bwMode="auto">
          <a:xfrm>
            <a:off x="999757" y="4894816"/>
            <a:ext cx="798030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zh-CN" sz="2000" dirty="0">
                <a:ea typeface="宋体" charset="-122"/>
              </a:rPr>
              <a:t>The mixing is a irreversible process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zh-CN" sz="2000" dirty="0">
                <a:ea typeface="宋体" charset="-122"/>
              </a:rPr>
              <a:t>The mixed-up-ness describe the indeterminacy at a given location</a:t>
            </a:r>
          </a:p>
        </p:txBody>
      </p:sp>
      <p:sp>
        <p:nvSpPr>
          <p:cNvPr id="5" name="AutoShape 6" descr="Image result for ice water vapo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9458" name="Picture 2" descr="查看源图像">
            <a:extLst>
              <a:ext uri="{FF2B5EF4-FFF2-40B4-BE49-F238E27FC236}">
                <a16:creationId xmlns:a16="http://schemas.microsoft.com/office/drawing/2014/main" id="{CF072C58-30B3-44E1-B08C-76A62A55E1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67" b="4769"/>
          <a:stretch/>
        </p:blipFill>
        <p:spPr bwMode="auto">
          <a:xfrm>
            <a:off x="4504101" y="937800"/>
            <a:ext cx="2596870" cy="2143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 descr="See the source image">
            <a:extLst>
              <a:ext uri="{FF2B5EF4-FFF2-40B4-BE49-F238E27FC236}">
                <a16:creationId xmlns:a16="http://schemas.microsoft.com/office/drawing/2014/main" id="{8C8B35A4-7D0E-4B8C-B8AA-C3F94CE9E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6151" y="1017182"/>
            <a:ext cx="1922902" cy="1984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2" name="Picture 6" descr="See the source image">
            <a:extLst>
              <a:ext uri="{FF2B5EF4-FFF2-40B4-BE49-F238E27FC236}">
                <a16:creationId xmlns:a16="http://schemas.microsoft.com/office/drawing/2014/main" id="{E76B931B-8578-49B8-9B34-18913C1EB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591" y="3435844"/>
            <a:ext cx="6093151" cy="118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0" name="TextBox 12">
            <a:extLst>
              <a:ext uri="{FF2B5EF4-FFF2-40B4-BE49-F238E27FC236}">
                <a16:creationId xmlns:a16="http://schemas.microsoft.com/office/drawing/2014/main" id="{C94CF449-685A-47A2-A5D0-86A5595E9319}"/>
              </a:ext>
            </a:extLst>
          </p:cNvPr>
          <p:cNvSpPr txBox="1"/>
          <p:nvPr/>
        </p:nvSpPr>
        <p:spPr>
          <a:xfrm>
            <a:off x="68090" y="5734348"/>
            <a:ext cx="80249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How quantification of the term “degree of mixed-up-ness?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71710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 bwMode="auto">
          <a:xfrm>
            <a:off x="1212585" y="138023"/>
            <a:ext cx="5873750" cy="660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b="1" dirty="0" err="1">
                <a:solidFill>
                  <a:srgbClr val="FF0000"/>
                </a:solidFill>
                <a:latin typeface="Arial" charset="0"/>
                <a:cs typeface="Arial" charset="0"/>
              </a:rPr>
              <a:t>Macrostates</a:t>
            </a:r>
            <a:r>
              <a:rPr lang="en-US" b="1" dirty="0">
                <a:solidFill>
                  <a:srgbClr val="FF0000"/>
                </a:solidFill>
                <a:latin typeface="Arial" charset="0"/>
                <a:cs typeface="Arial" charset="0"/>
              </a:rPr>
              <a:t> &amp; Microstates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146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918" y="1087164"/>
            <a:ext cx="4176187" cy="2179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4692" name="Picture 4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89" r="11889" b="7903"/>
          <a:stretch/>
        </p:blipFill>
        <p:spPr bwMode="auto">
          <a:xfrm>
            <a:off x="384991" y="3749794"/>
            <a:ext cx="2297825" cy="1833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4693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916" y="1087164"/>
            <a:ext cx="1554900" cy="2179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1511234" y="5806379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Straight flush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5512279" y="3663384"/>
            <a:ext cx="1467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Arial" charset="0"/>
                <a:cs typeface="Arial" charset="0"/>
              </a:rPr>
              <a:t>Microstates</a:t>
            </a:r>
            <a:endParaRPr lang="en-US" altLang="zh-CN" dirty="0">
              <a:solidFill>
                <a:srgbClr val="FF0000"/>
              </a:solidFill>
            </a:endParaRPr>
          </a:p>
        </p:txBody>
      </p:sp>
      <p:pic>
        <p:nvPicPr>
          <p:cNvPr id="11469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16" y="3732392"/>
            <a:ext cx="26289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561944" y="4058445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Pick up any 5 card</a:t>
            </a:r>
            <a:endParaRPr lang="zh-CN" alt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6489700" y="3332163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600" imgH="241200" progId="Equation.DSMT4">
                  <p:embed/>
                </p:oleObj>
              </mc:Choice>
              <mc:Fallback>
                <p:oleObj name="Equation" r:id="rId6" imgW="228600" imgH="2412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489700" y="3332163"/>
                        <a:ext cx="2286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700325" y="4550168"/>
          <a:ext cx="1090976" cy="453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66680" imgH="444240" progId="Equation.DSMT4">
                  <p:embed/>
                </p:oleObj>
              </mc:Choice>
              <mc:Fallback>
                <p:oleObj name="Equation" r:id="rId8" imgW="1066680" imgH="44424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700325" y="4550168"/>
                        <a:ext cx="1090976" cy="453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5487574" y="5127946"/>
            <a:ext cx="23134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Macrostate</a:t>
            </a:r>
            <a:r>
              <a:rPr lang="en-US" altLang="zh-CN" dirty="0"/>
              <a:t>, i.e. flush</a:t>
            </a:r>
            <a:endParaRPr lang="zh-CN" altLang="en-US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631760" y="5547089"/>
          <a:ext cx="1466850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34960" imgH="444240" progId="Equation.DSMT4">
                  <p:embed/>
                </p:oleObj>
              </mc:Choice>
              <mc:Fallback>
                <p:oleObj name="Equation" r:id="rId10" imgW="1434960" imgH="44424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1760" y="5547089"/>
                        <a:ext cx="1466850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5533578" y="5993460"/>
            <a:ext cx="31726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Macrostate</a:t>
            </a:r>
            <a:r>
              <a:rPr lang="en-US" altLang="zh-CN" dirty="0"/>
              <a:t>, i.e. Straight flush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8117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835297"/>
            <a:ext cx="6457950" cy="69875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Physics of wave</a:t>
            </a:r>
          </a:p>
        </p:txBody>
      </p:sp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40146" y="1546134"/>
            <a:ext cx="8382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0000FF"/>
                </a:solidFill>
                <a:latin typeface="Arial" pitchFamily="34" charset="0"/>
              </a:rPr>
              <a:t>Wave is the propagation of a vibrational state</a:t>
            </a:r>
            <a:r>
              <a:rPr lang="en-US" altLang="en-US" b="1" dirty="0">
                <a:latin typeface="Arial" pitchFamily="34" charset="0"/>
              </a:rPr>
              <a:t>, in which energy is transported without simultaneous mass transport.  </a:t>
            </a:r>
            <a:endParaRPr lang="en-US" altLang="en-US" b="1" dirty="0">
              <a:latin typeface="Arial" pitchFamily="34" charset="0"/>
              <a:sym typeface="Symbol" pitchFamily="18" charset="2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146" y="2898864"/>
            <a:ext cx="8349828" cy="3130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/>
          <p:cNvSpPr/>
          <p:nvPr/>
        </p:nvSpPr>
        <p:spPr>
          <a:xfrm>
            <a:off x="939638" y="35151"/>
            <a:ext cx="40873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Quantized energy level 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2470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77900" y="0"/>
            <a:ext cx="5166422" cy="1244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Standing wave in a string with two ends fixed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07975" y="1664086"/>
                <a:ext cx="8283575" cy="16245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zh-CN" sz="1800" dirty="0"/>
                  <a:t>Since the fixed ends must always be nodes, the condition must be met is that the distance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latin typeface="华文行楷" panose="02010800040101010101" pitchFamily="2" charset="-122"/>
                    <a:ea typeface="华文行楷" panose="02010800040101010101" pitchFamily="2" charset="-122"/>
                  </a:rPr>
                  <a:t>l  </a:t>
                </a:r>
                <a:r>
                  <a:rPr lang="en-US" altLang="zh-CN" sz="1800" dirty="0"/>
                  <a:t>between the fixed ends of the string must be an integral number of half wavelengths:</a:t>
                </a:r>
              </a:p>
              <a:p>
                <a:pPr algn="ctr">
                  <a:spcAft>
                    <a:spcPts val="600"/>
                  </a:spcAft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  <a:latin typeface="华文行楷" panose="02010800040101010101" pitchFamily="2" charset="-122"/>
                    <a:ea typeface="华文行楷" panose="02010800040101010101" pitchFamily="2" charset="-122"/>
                  </a:rPr>
                  <a:t>l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= 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l-GR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λ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 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l-GR" altLang="zh-CN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λ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𝑙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(n is a positive integer)</a:t>
                </a:r>
                <a:endParaRPr lang="en-US" altLang="zh-C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75" y="1664086"/>
                <a:ext cx="8283575" cy="1624547"/>
              </a:xfrm>
              <a:prstGeom prst="rect">
                <a:avLst/>
              </a:prstGeom>
              <a:blipFill rotWithShape="1">
                <a:blip r:embed="rId2"/>
                <a:stretch>
                  <a:fillRect l="-663" t="-1880" r="-74" b="-48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480993" y="3288633"/>
            <a:ext cx="5361197" cy="2695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9417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93674" y="1371600"/>
            <a:ext cx="864552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</a:rPr>
              <a:t>In Quantum theory</a:t>
            </a:r>
          </a:p>
          <a:p>
            <a:r>
              <a:rPr lang="en-US" altLang="zh-CN" sz="2000" dirty="0"/>
              <a:t>If a particle is confined to move within a given fixed volume, then its energy is quantized, i.e., the particle may only have certain discrete allowed values of energy, which are separated by “forbidden energy bands.”</a:t>
            </a:r>
            <a:endParaRPr lang="zh-CN" altLang="en-US" sz="2000" dirty="0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312863" y="631825"/>
            <a:ext cx="3175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rgbClr val="010202"/>
                </a:solidFill>
                <a:effectLst/>
                <a:latin typeface="Arial" pitchFamily="34" charset="0"/>
                <a:ea typeface="Times New Roman" pitchFamily="18" charset="0"/>
                <a:cs typeface="Times New Roman" pitchFamily="18" charset="0"/>
              </a:rPr>
              <a:t>,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2" name="Text Box 1"/>
          <p:cNvSpPr txBox="1">
            <a:spLocks noChangeArrowheads="1"/>
          </p:cNvSpPr>
          <p:nvPr/>
        </p:nvSpPr>
        <p:spPr bwMode="auto">
          <a:xfrm>
            <a:off x="1504950" y="174625"/>
            <a:ext cx="3175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000" b="0" i="0" u="none" strike="noStrike" cap="none" normalizeH="0" baseline="0">
              <a:ln>
                <a:noFill/>
              </a:ln>
              <a:solidFill>
                <a:srgbClr val="010202"/>
              </a:solidFill>
              <a:effectLst/>
              <a:latin typeface="Arial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rgbClr val="010202"/>
                </a:solidFill>
                <a:effectLst/>
                <a:latin typeface="Arial" pitchFamily="34" charset="0"/>
                <a:ea typeface="Times New Roman" pitchFamily="18" charset="0"/>
                <a:cs typeface="Times New Roman" pitchFamily="18" charset="0"/>
              </a:rPr>
              <a:t>,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698625" y="682625"/>
            <a:ext cx="3175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rgbClr val="010202"/>
                </a:solidFill>
                <a:effectLst/>
                <a:latin typeface="Arial" pitchFamily="34" charset="0"/>
                <a:ea typeface="Times New Roman" pitchFamily="18" charset="0"/>
                <a:cs typeface="Times New Roman" pitchFamily="18" charset="0"/>
              </a:rPr>
              <a:t>,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79400" y="3200400"/>
            <a:ext cx="5892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FF0000"/>
                </a:solidFill>
              </a:rPr>
              <a:t>Quantized energy level  of the particles or   the crystal structure is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The ground state : </a:t>
            </a:r>
            <a:r>
              <a:rPr lang="el-GR" altLang="zh-CN" sz="24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ε</a:t>
            </a:r>
            <a:r>
              <a:rPr lang="en-US" altLang="zh-CN" sz="2400" baseline="-250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0</a:t>
            </a:r>
            <a:r>
              <a:rPr lang="en-US" altLang="zh-CN" sz="2400" baseline="300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 </a:t>
            </a:r>
            <a:endParaRPr lang="en-US" altLang="zh-CN" sz="2400" dirty="0">
              <a:latin typeface="Arial" pitchFamily="34" charset="0"/>
              <a:ea typeface="Times New Roman" pitchFamily="18" charset="0"/>
              <a:cs typeface="Times New Roman" pitchFamily="18" charset="0"/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The succeeding  levels  of  increasing  energy: </a:t>
            </a:r>
            <a:r>
              <a:rPr lang="el-GR" altLang="zh-CN" sz="24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ε</a:t>
            </a:r>
            <a:r>
              <a:rPr lang="en-US" altLang="zh-CN" sz="2400" baseline="-250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1 </a:t>
            </a:r>
            <a:r>
              <a:rPr lang="en-US" altLang="zh-CN" sz="2400" baseline="300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,</a:t>
            </a:r>
            <a:r>
              <a:rPr lang="en-US" altLang="zh-CN" sz="2400" baseline="300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l-GR" altLang="zh-CN" sz="24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ε</a:t>
            </a:r>
            <a:r>
              <a:rPr lang="en-US" altLang="zh-CN" sz="2400" baseline="-250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2</a:t>
            </a:r>
            <a:r>
              <a:rPr lang="en-US" altLang="zh-CN" sz="2400" baseline="300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lang="el-GR" altLang="zh-CN" sz="24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ε</a:t>
            </a:r>
            <a:r>
              <a:rPr lang="en-US" altLang="zh-CN" sz="2400" baseline="-250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3</a:t>
            </a:r>
            <a:r>
              <a:rPr lang="en-US" altLang="zh-CN" sz="2400" baseline="30000" dirty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  </a:t>
            </a:r>
            <a:endParaRPr lang="en-US" altLang="zh-CN" sz="2400" dirty="0">
              <a:latin typeface="Arial" pitchFamily="34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312863" y="244114"/>
            <a:ext cx="40873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Quantized energy level 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pic>
        <p:nvPicPr>
          <p:cNvPr id="2663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614" y="3133725"/>
            <a:ext cx="2419350" cy="189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4302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77449" y="1589544"/>
            <a:ext cx="891415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</a:rPr>
              <a:t>For the crystal contains </a:t>
            </a:r>
            <a:r>
              <a:rPr lang="en-US" altLang="zh-CN" sz="2400" b="1" i="1" dirty="0">
                <a:solidFill>
                  <a:srgbClr val="0000FF"/>
                </a:solidFill>
              </a:rPr>
              <a:t>n </a:t>
            </a:r>
            <a:r>
              <a:rPr lang="en-US" altLang="zh-CN" sz="2400" b="1" dirty="0">
                <a:solidFill>
                  <a:srgbClr val="0000FF"/>
                </a:solidFill>
              </a:rPr>
              <a:t>particles and has the energy </a:t>
            </a:r>
            <a:r>
              <a:rPr lang="en-US" altLang="zh-CN" sz="2400" b="1" i="1" dirty="0">
                <a:solidFill>
                  <a:srgbClr val="0000FF"/>
                </a:solidFill>
              </a:rPr>
              <a:t>U</a:t>
            </a:r>
          </a:p>
          <a:p>
            <a:endParaRPr lang="en-US" altLang="zh-CN" sz="2400" dirty="0"/>
          </a:p>
          <a:p>
            <a:r>
              <a:rPr lang="en-US" altLang="zh-CN" sz="2400" dirty="0"/>
              <a:t>statistical mechanics asks the questions:</a:t>
            </a:r>
          </a:p>
          <a:p>
            <a:endParaRPr lang="en-US" altLang="zh-CN" sz="2400" dirty="0"/>
          </a:p>
          <a:p>
            <a:r>
              <a:rPr lang="en-US" altLang="zh-CN" sz="2400" dirty="0"/>
              <a:t>In how many ways can the </a:t>
            </a:r>
            <a:r>
              <a:rPr lang="en-US" altLang="zh-CN" sz="2400" i="1" dirty="0"/>
              <a:t>n </a:t>
            </a:r>
            <a:r>
              <a:rPr lang="en-US" altLang="zh-CN" sz="2400" dirty="0"/>
              <a:t>particles be distributed over the available energy levels such that the total energy of the crystal is </a:t>
            </a:r>
            <a:r>
              <a:rPr lang="en-US" altLang="zh-CN" sz="2400" i="1" dirty="0"/>
              <a:t>U, </a:t>
            </a:r>
            <a:r>
              <a:rPr lang="en-US" altLang="zh-CN" sz="2400" dirty="0"/>
              <a:t>and, of the possible distributions, which is the most probable?</a:t>
            </a:r>
            <a:endParaRPr lang="zh-CN" altLang="zh-CN" sz="2400" dirty="0"/>
          </a:p>
        </p:txBody>
      </p:sp>
      <p:sp>
        <p:nvSpPr>
          <p:cNvPr id="10" name="矩形 9"/>
          <p:cNvSpPr/>
          <p:nvPr/>
        </p:nvSpPr>
        <p:spPr>
          <a:xfrm>
            <a:off x="1233877" y="389493"/>
            <a:ext cx="40873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Quantized energy level 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92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26" name="Text Box 92"/>
          <p:cNvSpPr txBox="1">
            <a:spLocks noChangeArrowheads="1"/>
          </p:cNvSpPr>
          <p:nvPr/>
        </p:nvSpPr>
        <p:spPr bwMode="auto">
          <a:xfrm>
            <a:off x="257191" y="1447800"/>
            <a:ext cx="8241231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 eaLnBrk="1" hangingPunct="1">
              <a:buFont typeface="Wingdings" panose="05000000000000000000" pitchFamily="2" charset="2"/>
              <a:buChar char="ü"/>
            </a:pPr>
            <a:r>
              <a:rPr lang="en-US" altLang="zh-CN" sz="1800" dirty="0">
                <a:ea typeface="宋体" charset="-122"/>
              </a:rPr>
              <a:t>Let’s say we have three identical particles, which are located on three distinguishable lattice sites A, B and C.</a:t>
            </a:r>
          </a:p>
          <a:p>
            <a:pPr marL="285750" indent="-285750" eaLnBrk="1" hangingPunct="1">
              <a:buFont typeface="Wingdings" panose="05000000000000000000" pitchFamily="2" charset="2"/>
              <a:buChar char="ü"/>
            </a:pPr>
            <a:endParaRPr lang="en-US" altLang="zh-CN" sz="1800" dirty="0">
              <a:ea typeface="宋体" charset="-122"/>
            </a:endParaRPr>
          </a:p>
          <a:p>
            <a:pPr marL="285750" indent="-285750" eaLnBrk="1" hangingPunct="1">
              <a:buFont typeface="Wingdings" panose="05000000000000000000" pitchFamily="2" charset="2"/>
              <a:buChar char="ü"/>
            </a:pPr>
            <a:r>
              <a:rPr lang="en-US" altLang="zh-CN" sz="1800" dirty="0">
                <a:ea typeface="宋体" charset="-122"/>
              </a:rPr>
              <a:t> Let’s say the energy levels are equally spaced, with the ground level being taken as zero, the first level </a:t>
            </a:r>
            <a:r>
              <a:rPr lang="en-US" altLang="zh-CN" sz="1800" dirty="0">
                <a:ea typeface="宋体" charset="-122"/>
                <a:sym typeface="Symbol" pitchFamily="18" charset="2"/>
              </a:rPr>
              <a:t></a:t>
            </a:r>
            <a:r>
              <a:rPr lang="en-US" altLang="zh-CN" sz="1800" baseline="-25000" dirty="0">
                <a:ea typeface="宋体" charset="-122"/>
                <a:sym typeface="Symbol" pitchFamily="18" charset="2"/>
              </a:rPr>
              <a:t>1</a:t>
            </a:r>
            <a:r>
              <a:rPr lang="en-US" altLang="zh-CN" sz="1800" dirty="0">
                <a:ea typeface="宋体" charset="-122"/>
                <a:sym typeface="Symbol" pitchFamily="18" charset="2"/>
              </a:rPr>
              <a:t> = u, the second level </a:t>
            </a:r>
            <a:r>
              <a:rPr lang="en-US" altLang="zh-CN" sz="1800" baseline="-25000" dirty="0">
                <a:ea typeface="宋体" charset="-122"/>
                <a:sym typeface="Symbol" pitchFamily="18" charset="2"/>
              </a:rPr>
              <a:t>2</a:t>
            </a:r>
            <a:r>
              <a:rPr lang="en-US" altLang="zh-CN" sz="1800" dirty="0">
                <a:ea typeface="宋体" charset="-122"/>
                <a:sym typeface="Symbol" pitchFamily="18" charset="2"/>
              </a:rPr>
              <a:t> = 2u and the 3 = 3u. Let the total energy of the system be U = </a:t>
            </a:r>
            <a:r>
              <a:rPr lang="en-US" altLang="zh-CN" sz="1800" dirty="0" err="1">
                <a:ea typeface="宋体" charset="-122"/>
                <a:sym typeface="Symbol" pitchFamily="18" charset="2"/>
              </a:rPr>
              <a:t>3u</a:t>
            </a:r>
            <a:r>
              <a:rPr lang="en-US" altLang="zh-CN" sz="1800" dirty="0">
                <a:ea typeface="宋体" charset="-122"/>
              </a:rPr>
              <a:t> 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713055" y="4058680"/>
            <a:ext cx="5170764" cy="2251935"/>
            <a:chOff x="1857651" y="4375944"/>
            <a:chExt cx="4608513" cy="1838498"/>
          </a:xfrm>
        </p:grpSpPr>
        <p:sp>
          <p:nvSpPr>
            <p:cNvPr id="27" name="Line 93"/>
            <p:cNvSpPr>
              <a:spLocks noChangeShapeType="1"/>
            </p:cNvSpPr>
            <p:nvPr/>
          </p:nvSpPr>
          <p:spPr bwMode="auto">
            <a:xfrm>
              <a:off x="2289451" y="4569619"/>
              <a:ext cx="1008063" cy="0"/>
            </a:xfrm>
            <a:prstGeom prst="line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94"/>
            <p:cNvSpPr>
              <a:spLocks noChangeShapeType="1"/>
            </p:cNvSpPr>
            <p:nvPr/>
          </p:nvSpPr>
          <p:spPr bwMode="auto">
            <a:xfrm>
              <a:off x="2289451" y="4929981"/>
              <a:ext cx="1008063" cy="0"/>
            </a:xfrm>
            <a:prstGeom prst="line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95"/>
            <p:cNvSpPr>
              <a:spLocks noChangeShapeType="1"/>
            </p:cNvSpPr>
            <p:nvPr/>
          </p:nvSpPr>
          <p:spPr bwMode="auto">
            <a:xfrm>
              <a:off x="2289451" y="5290344"/>
              <a:ext cx="1008063" cy="0"/>
            </a:xfrm>
            <a:prstGeom prst="line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96"/>
            <p:cNvSpPr>
              <a:spLocks noChangeShapeType="1"/>
            </p:cNvSpPr>
            <p:nvPr/>
          </p:nvSpPr>
          <p:spPr bwMode="auto">
            <a:xfrm>
              <a:off x="2289451" y="5649119"/>
              <a:ext cx="1008063" cy="0"/>
            </a:xfrm>
            <a:prstGeom prst="line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97"/>
            <p:cNvSpPr>
              <a:spLocks noChangeShapeType="1"/>
            </p:cNvSpPr>
            <p:nvPr/>
          </p:nvSpPr>
          <p:spPr bwMode="auto">
            <a:xfrm>
              <a:off x="3873776" y="4569619"/>
              <a:ext cx="1008063" cy="0"/>
            </a:xfrm>
            <a:prstGeom prst="line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98"/>
            <p:cNvSpPr>
              <a:spLocks noChangeShapeType="1"/>
            </p:cNvSpPr>
            <p:nvPr/>
          </p:nvSpPr>
          <p:spPr bwMode="auto">
            <a:xfrm>
              <a:off x="3873776" y="4929981"/>
              <a:ext cx="1008063" cy="0"/>
            </a:xfrm>
            <a:prstGeom prst="line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99"/>
            <p:cNvSpPr>
              <a:spLocks noChangeShapeType="1"/>
            </p:cNvSpPr>
            <p:nvPr/>
          </p:nvSpPr>
          <p:spPr bwMode="auto">
            <a:xfrm>
              <a:off x="3873776" y="5290344"/>
              <a:ext cx="1008063" cy="0"/>
            </a:xfrm>
            <a:prstGeom prst="line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100"/>
            <p:cNvSpPr>
              <a:spLocks noChangeShapeType="1"/>
            </p:cNvSpPr>
            <p:nvPr/>
          </p:nvSpPr>
          <p:spPr bwMode="auto">
            <a:xfrm>
              <a:off x="3873776" y="5649119"/>
              <a:ext cx="1008063" cy="0"/>
            </a:xfrm>
            <a:prstGeom prst="line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101"/>
            <p:cNvSpPr>
              <a:spLocks noChangeShapeType="1"/>
            </p:cNvSpPr>
            <p:nvPr/>
          </p:nvSpPr>
          <p:spPr bwMode="auto">
            <a:xfrm>
              <a:off x="5458101" y="4569619"/>
              <a:ext cx="1008063" cy="0"/>
            </a:xfrm>
            <a:prstGeom prst="line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102"/>
            <p:cNvSpPr>
              <a:spLocks noChangeShapeType="1"/>
            </p:cNvSpPr>
            <p:nvPr/>
          </p:nvSpPr>
          <p:spPr bwMode="auto">
            <a:xfrm>
              <a:off x="5458101" y="4929981"/>
              <a:ext cx="1008063" cy="0"/>
            </a:xfrm>
            <a:prstGeom prst="line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103"/>
            <p:cNvSpPr>
              <a:spLocks noChangeShapeType="1"/>
            </p:cNvSpPr>
            <p:nvPr/>
          </p:nvSpPr>
          <p:spPr bwMode="auto">
            <a:xfrm>
              <a:off x="5458101" y="5290344"/>
              <a:ext cx="1008063" cy="0"/>
            </a:xfrm>
            <a:prstGeom prst="line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104"/>
            <p:cNvSpPr>
              <a:spLocks noChangeShapeType="1"/>
            </p:cNvSpPr>
            <p:nvPr/>
          </p:nvSpPr>
          <p:spPr bwMode="auto">
            <a:xfrm>
              <a:off x="5458101" y="5649119"/>
              <a:ext cx="1008063" cy="0"/>
            </a:xfrm>
            <a:prstGeom prst="line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Rectangle 106"/>
            <p:cNvSpPr>
              <a:spLocks noChangeArrowheads="1"/>
            </p:cNvSpPr>
            <p:nvPr/>
          </p:nvSpPr>
          <p:spPr bwMode="auto">
            <a:xfrm>
              <a:off x="1857651" y="5096669"/>
              <a:ext cx="3429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zh-CN">
                  <a:ea typeface="宋体" charset="-122"/>
                  <a:sym typeface="Symbol" pitchFamily="18" charset="2"/>
                </a:rPr>
                <a:t></a:t>
              </a:r>
              <a:r>
                <a:rPr lang="en-US" altLang="zh-CN" baseline="-25000">
                  <a:ea typeface="宋体" charset="-122"/>
                  <a:sym typeface="Symbol" pitchFamily="18" charset="2"/>
                </a:rPr>
                <a:t>1</a:t>
              </a:r>
            </a:p>
          </p:txBody>
        </p:sp>
        <p:sp>
          <p:nvSpPr>
            <p:cNvPr id="40" name="Rectangle 107"/>
            <p:cNvSpPr>
              <a:spLocks noChangeArrowheads="1"/>
            </p:cNvSpPr>
            <p:nvPr/>
          </p:nvSpPr>
          <p:spPr bwMode="auto">
            <a:xfrm>
              <a:off x="1857651" y="5457031"/>
              <a:ext cx="3429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zh-CN">
                  <a:ea typeface="宋体" charset="-122"/>
                  <a:sym typeface="Symbol" pitchFamily="18" charset="2"/>
                </a:rPr>
                <a:t></a:t>
              </a:r>
              <a:r>
                <a:rPr lang="en-US" altLang="zh-CN" baseline="-25000">
                  <a:ea typeface="宋体" charset="-122"/>
                  <a:sym typeface="Symbol" pitchFamily="18" charset="2"/>
                </a:rPr>
                <a:t>0</a:t>
              </a:r>
            </a:p>
          </p:txBody>
        </p:sp>
        <p:sp>
          <p:nvSpPr>
            <p:cNvPr id="41" name="Rectangle 108"/>
            <p:cNvSpPr>
              <a:spLocks noChangeArrowheads="1"/>
            </p:cNvSpPr>
            <p:nvPr/>
          </p:nvSpPr>
          <p:spPr bwMode="auto">
            <a:xfrm>
              <a:off x="1857651" y="4736306"/>
              <a:ext cx="3429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zh-CN">
                  <a:ea typeface="宋体" charset="-122"/>
                  <a:sym typeface="Symbol" pitchFamily="18" charset="2"/>
                </a:rPr>
                <a:t></a:t>
              </a:r>
              <a:r>
                <a:rPr lang="en-US" altLang="zh-CN" baseline="-25000">
                  <a:ea typeface="宋体" charset="-122"/>
                  <a:sym typeface="Symbol" pitchFamily="18" charset="2"/>
                </a:rPr>
                <a:t>2</a:t>
              </a:r>
            </a:p>
          </p:txBody>
        </p:sp>
        <p:sp>
          <p:nvSpPr>
            <p:cNvPr id="42" name="Rectangle 109"/>
            <p:cNvSpPr>
              <a:spLocks noChangeArrowheads="1"/>
            </p:cNvSpPr>
            <p:nvPr/>
          </p:nvSpPr>
          <p:spPr bwMode="auto">
            <a:xfrm>
              <a:off x="1857651" y="4375944"/>
              <a:ext cx="3429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zh-CN">
                  <a:ea typeface="宋体" charset="-122"/>
                  <a:sym typeface="Symbol" pitchFamily="18" charset="2"/>
                </a:rPr>
                <a:t></a:t>
              </a:r>
              <a:r>
                <a:rPr lang="en-US" altLang="zh-CN" baseline="-25000">
                  <a:ea typeface="宋体" charset="-122"/>
                  <a:sym typeface="Symbol" pitchFamily="18" charset="2"/>
                </a:rPr>
                <a:t>3</a:t>
              </a:r>
            </a:p>
          </p:txBody>
        </p:sp>
        <p:sp>
          <p:nvSpPr>
            <p:cNvPr id="43" name="Oval 110"/>
            <p:cNvSpPr>
              <a:spLocks noChangeArrowheads="1"/>
            </p:cNvSpPr>
            <p:nvPr/>
          </p:nvSpPr>
          <p:spPr bwMode="auto">
            <a:xfrm>
              <a:off x="2432326" y="5217319"/>
              <a:ext cx="144463" cy="144462"/>
            </a:xfrm>
            <a:prstGeom prst="ellipse">
              <a:avLst/>
            </a:prstGeom>
            <a:solidFill>
              <a:srgbClr val="D6009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44" name="Oval 112"/>
            <p:cNvSpPr>
              <a:spLocks noChangeArrowheads="1"/>
            </p:cNvSpPr>
            <p:nvPr/>
          </p:nvSpPr>
          <p:spPr bwMode="auto">
            <a:xfrm>
              <a:off x="2719664" y="5217319"/>
              <a:ext cx="144462" cy="144462"/>
            </a:xfrm>
            <a:prstGeom prst="ellipse">
              <a:avLst/>
            </a:prstGeom>
            <a:solidFill>
              <a:srgbClr val="D6009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45" name="Oval 113"/>
            <p:cNvSpPr>
              <a:spLocks noChangeArrowheads="1"/>
            </p:cNvSpPr>
            <p:nvPr/>
          </p:nvSpPr>
          <p:spPr bwMode="auto">
            <a:xfrm>
              <a:off x="3008589" y="5217319"/>
              <a:ext cx="144462" cy="144462"/>
            </a:xfrm>
            <a:prstGeom prst="ellipse">
              <a:avLst/>
            </a:prstGeom>
            <a:solidFill>
              <a:srgbClr val="D6009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46" name="Oval 114"/>
            <p:cNvSpPr>
              <a:spLocks noChangeArrowheads="1"/>
            </p:cNvSpPr>
            <p:nvPr/>
          </p:nvSpPr>
          <p:spPr bwMode="auto">
            <a:xfrm>
              <a:off x="4016651" y="5576094"/>
              <a:ext cx="144463" cy="144462"/>
            </a:xfrm>
            <a:prstGeom prst="ellipse">
              <a:avLst/>
            </a:prstGeom>
            <a:solidFill>
              <a:srgbClr val="D6009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47" name="Oval 115"/>
            <p:cNvSpPr>
              <a:spLocks noChangeArrowheads="1"/>
            </p:cNvSpPr>
            <p:nvPr/>
          </p:nvSpPr>
          <p:spPr bwMode="auto">
            <a:xfrm>
              <a:off x="4305576" y="4496594"/>
              <a:ext cx="144463" cy="144462"/>
            </a:xfrm>
            <a:prstGeom prst="ellipse">
              <a:avLst/>
            </a:prstGeom>
            <a:solidFill>
              <a:srgbClr val="D6009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48" name="Oval 116"/>
            <p:cNvSpPr>
              <a:spLocks noChangeArrowheads="1"/>
            </p:cNvSpPr>
            <p:nvPr/>
          </p:nvSpPr>
          <p:spPr bwMode="auto">
            <a:xfrm>
              <a:off x="4592914" y="5576094"/>
              <a:ext cx="144462" cy="144462"/>
            </a:xfrm>
            <a:prstGeom prst="ellipse">
              <a:avLst/>
            </a:prstGeom>
            <a:solidFill>
              <a:srgbClr val="D6009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49" name="Oval 117"/>
            <p:cNvSpPr>
              <a:spLocks noChangeArrowheads="1"/>
            </p:cNvSpPr>
            <p:nvPr/>
          </p:nvSpPr>
          <p:spPr bwMode="auto">
            <a:xfrm>
              <a:off x="5889901" y="4856956"/>
              <a:ext cx="144463" cy="144463"/>
            </a:xfrm>
            <a:prstGeom prst="ellipse">
              <a:avLst/>
            </a:prstGeom>
            <a:solidFill>
              <a:srgbClr val="D6009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50" name="Oval 118"/>
            <p:cNvSpPr>
              <a:spLocks noChangeArrowheads="1"/>
            </p:cNvSpPr>
            <p:nvPr/>
          </p:nvSpPr>
          <p:spPr bwMode="auto">
            <a:xfrm>
              <a:off x="5888314" y="5217319"/>
              <a:ext cx="144462" cy="144462"/>
            </a:xfrm>
            <a:prstGeom prst="ellipse">
              <a:avLst/>
            </a:prstGeom>
            <a:solidFill>
              <a:srgbClr val="D6009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51" name="Oval 119"/>
            <p:cNvSpPr>
              <a:spLocks noChangeArrowheads="1"/>
            </p:cNvSpPr>
            <p:nvPr/>
          </p:nvSpPr>
          <p:spPr bwMode="auto">
            <a:xfrm>
              <a:off x="5889901" y="5577681"/>
              <a:ext cx="144463" cy="144463"/>
            </a:xfrm>
            <a:prstGeom prst="ellipse">
              <a:avLst/>
            </a:prstGeom>
            <a:solidFill>
              <a:srgbClr val="D6009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52" name="Text Box 145"/>
            <p:cNvSpPr txBox="1">
              <a:spLocks noChangeArrowheads="1"/>
            </p:cNvSpPr>
            <p:nvPr/>
          </p:nvSpPr>
          <p:spPr bwMode="auto">
            <a:xfrm>
              <a:off x="2649814" y="5938044"/>
              <a:ext cx="368890" cy="276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zh-CN" dirty="0">
                  <a:ea typeface="宋体" charset="-122"/>
                </a:rPr>
                <a:t>(a)</a:t>
              </a:r>
            </a:p>
          </p:txBody>
        </p:sp>
        <p:sp>
          <p:nvSpPr>
            <p:cNvPr id="53" name="Text Box 146"/>
            <p:cNvSpPr txBox="1">
              <a:spLocks noChangeArrowheads="1"/>
            </p:cNvSpPr>
            <p:nvPr/>
          </p:nvSpPr>
          <p:spPr bwMode="auto">
            <a:xfrm>
              <a:off x="4181751" y="5938044"/>
              <a:ext cx="378890" cy="276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zh-CN" dirty="0">
                  <a:ea typeface="宋体" charset="-122"/>
                </a:rPr>
                <a:t>(b)</a:t>
              </a:r>
            </a:p>
          </p:txBody>
        </p:sp>
        <p:sp>
          <p:nvSpPr>
            <p:cNvPr id="54" name="Text Box 147"/>
            <p:cNvSpPr txBox="1">
              <a:spLocks noChangeArrowheads="1"/>
            </p:cNvSpPr>
            <p:nvPr/>
          </p:nvSpPr>
          <p:spPr bwMode="auto">
            <a:xfrm>
              <a:off x="5766076" y="5938044"/>
              <a:ext cx="368890" cy="276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zh-CN" dirty="0">
                  <a:ea typeface="宋体" charset="-122"/>
                </a:rPr>
                <a:t>(c)</a:t>
              </a:r>
            </a:p>
          </p:txBody>
        </p:sp>
      </p:grpSp>
      <p:sp>
        <p:nvSpPr>
          <p:cNvPr id="62" name="Title 1"/>
          <p:cNvSpPr txBox="1">
            <a:spLocks/>
          </p:cNvSpPr>
          <p:nvPr/>
        </p:nvSpPr>
        <p:spPr bwMode="auto">
          <a:xfrm>
            <a:off x="1244259" y="171494"/>
            <a:ext cx="5873750" cy="528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Most Probable Distribution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79124" y="3483230"/>
            <a:ext cx="2108269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Three </a:t>
            </a:r>
            <a:r>
              <a:rPr lang="en-US" altLang="zh-CN" dirty="0" err="1"/>
              <a:t>macrostates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3248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pic>
        <p:nvPicPr>
          <p:cNvPr id="55" name="image253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799" y="2214562"/>
            <a:ext cx="6316717" cy="209484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04800" y="4309408"/>
            <a:ext cx="796083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lphaLcPeriod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three particles in level 1: 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1 combinations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 One particle in level 3, and the other two particles in level 0: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3 combinations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 One particle in level 2, one particle in level 1, and one particle in level 0: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3 x 2 x 1 = 3! = 6 combinations</a:t>
            </a:r>
          </a:p>
        </p:txBody>
      </p:sp>
      <p:sp>
        <p:nvSpPr>
          <p:cNvPr id="5" name="矩形 4"/>
          <p:cNvSpPr/>
          <p:nvPr/>
        </p:nvSpPr>
        <p:spPr>
          <a:xfrm>
            <a:off x="168321" y="1447800"/>
            <a:ext cx="69974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0000FF"/>
                </a:solidFill>
                <a:ea typeface="宋体" charset="-122"/>
              </a:rPr>
              <a:t>Consider three distinguishable lattice sites A, B and C.</a:t>
            </a:r>
            <a:endParaRPr lang="zh-CN" altLang="en-US" sz="2400" b="1" i="1" dirty="0">
              <a:solidFill>
                <a:srgbClr val="0000FF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 bwMode="auto">
          <a:xfrm>
            <a:off x="1244259" y="171494"/>
            <a:ext cx="5873750" cy="528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Most Probable Distribution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235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48"/>
          <p:cNvSpPr txBox="1">
            <a:spLocks noChangeArrowheads="1"/>
          </p:cNvSpPr>
          <p:nvPr/>
        </p:nvSpPr>
        <p:spPr bwMode="auto">
          <a:xfrm>
            <a:off x="1607544" y="5334000"/>
            <a:ext cx="597554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FF"/>
                </a:solidFill>
                <a:ea typeface="宋体" charset="-122"/>
              </a:rPr>
              <a:t>Microstate</a:t>
            </a:r>
            <a:r>
              <a:rPr lang="en-US" altLang="zh-CN" sz="2400" dirty="0">
                <a:ea typeface="宋体" charset="-122"/>
              </a:rPr>
              <a:t>: knowing properties of all particles</a:t>
            </a:r>
          </a:p>
          <a:p>
            <a:pPr eaLnBrk="1" hangingPunct="1"/>
            <a:r>
              <a:rPr lang="en-US" altLang="zh-CN" sz="2400" b="1" dirty="0" err="1">
                <a:solidFill>
                  <a:srgbClr val="FF0000"/>
                </a:solidFill>
                <a:ea typeface="宋体" charset="-122"/>
              </a:rPr>
              <a:t>Macrostate</a:t>
            </a:r>
            <a:r>
              <a:rPr lang="en-US" altLang="zh-CN" sz="2400" dirty="0">
                <a:ea typeface="宋体" charset="-122"/>
              </a:rPr>
              <a:t>: knowing properties of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3854" y="3962399"/>
            <a:ext cx="85556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distinguishable arrangements are called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complexions or microstates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all of the 10 microstates correspond to a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macrostate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253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2839" y="1715154"/>
            <a:ext cx="6316717" cy="2094846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 bwMode="auto">
          <a:xfrm>
            <a:off x="1244259" y="171494"/>
            <a:ext cx="5873750" cy="528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Most Probable Distribution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499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52400" y="1371600"/>
            <a:ext cx="88392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1800" dirty="0">
                <a:ea typeface="宋体" charset="-122"/>
              </a:rPr>
              <a:t> Let’s say we have a system of volume V, internal energy, U and temperature T, consists of n particles.</a:t>
            </a:r>
          </a:p>
          <a:p>
            <a:pPr eaLnBrk="1" hangingPunct="1">
              <a:buFontTx/>
              <a:buChar char="•"/>
            </a:pPr>
            <a:r>
              <a:rPr lang="en-US" altLang="zh-CN" sz="1800" dirty="0">
                <a:ea typeface="宋体" charset="-122"/>
              </a:rPr>
              <a:t> The particles can be atoms, molecules, which are structurally identical.</a:t>
            </a:r>
          </a:p>
          <a:p>
            <a:pPr eaLnBrk="1" hangingPunct="1">
              <a:buFontTx/>
              <a:buChar char="•"/>
            </a:pPr>
            <a:r>
              <a:rPr lang="en-US" altLang="zh-CN" sz="1800" dirty="0">
                <a:ea typeface="宋体" charset="-122"/>
              </a:rPr>
              <a:t> These particles are distributed in </a:t>
            </a:r>
            <a:r>
              <a:rPr lang="en-US" altLang="zh-CN" sz="1800" dirty="0" err="1">
                <a:ea typeface="宋体" charset="-122"/>
              </a:rPr>
              <a:t>i</a:t>
            </a:r>
            <a:r>
              <a:rPr lang="en-US" altLang="zh-CN" sz="1800" dirty="0">
                <a:ea typeface="宋体" charset="-122"/>
              </a:rPr>
              <a:t> energy levels (quantum theory)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843088" y="31242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1400" dirty="0">
                <a:ea typeface="宋体" charset="-122"/>
              </a:rPr>
              <a:t>Energy level</a:t>
            </a: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843088" y="34290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1400">
                <a:ea typeface="宋体" charset="-122"/>
              </a:rPr>
              <a:t># of particles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2909888" y="31242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 dirty="0">
                <a:ea typeface="宋体" charset="-122"/>
                <a:sym typeface="Symbol" pitchFamily="18" charset="2"/>
              </a:rPr>
              <a:t>e</a:t>
            </a:r>
            <a:r>
              <a:rPr lang="en-US" altLang="zh-CN" sz="2400" baseline="-25000" dirty="0">
                <a:ea typeface="宋体" charset="-122"/>
                <a:sym typeface="Symbol" pitchFamily="18" charset="2"/>
              </a:rPr>
              <a:t>0</a:t>
            </a:r>
            <a:endParaRPr lang="en-US" altLang="zh-CN" sz="2400" baseline="-25000" dirty="0">
              <a:ea typeface="宋体" charset="-122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2909888" y="34290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 dirty="0">
                <a:ea typeface="宋体" charset="-122"/>
              </a:rPr>
              <a:t>n</a:t>
            </a:r>
            <a:r>
              <a:rPr lang="en-US" altLang="zh-CN" sz="2400" baseline="-25000" dirty="0">
                <a:ea typeface="宋体" charset="-122"/>
              </a:rPr>
              <a:t>0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3976688" y="31242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 dirty="0">
                <a:ea typeface="宋体" charset="-122"/>
              </a:rPr>
              <a:t>e</a:t>
            </a:r>
            <a:r>
              <a:rPr lang="en-US" altLang="zh-CN" sz="2400" baseline="-25000" dirty="0">
                <a:ea typeface="宋体" charset="-122"/>
              </a:rPr>
              <a:t>1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3976688" y="34290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 dirty="0">
                <a:ea typeface="宋体" charset="-122"/>
              </a:rPr>
              <a:t>n</a:t>
            </a:r>
            <a:r>
              <a:rPr lang="en-US" altLang="zh-CN" sz="2400" baseline="-25000" dirty="0">
                <a:ea typeface="宋体" charset="-122"/>
              </a:rPr>
              <a:t>1</a:t>
            </a:r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5043488" y="31242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 dirty="0">
                <a:ea typeface="宋体" charset="-122"/>
              </a:rPr>
              <a:t>e</a:t>
            </a:r>
            <a:r>
              <a:rPr lang="en-US" altLang="zh-CN" sz="2400" baseline="-25000" dirty="0">
                <a:ea typeface="宋体" charset="-122"/>
              </a:rPr>
              <a:t>2</a:t>
            </a:r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5043488" y="34290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 dirty="0">
                <a:ea typeface="宋体" charset="-122"/>
              </a:rPr>
              <a:t>n</a:t>
            </a:r>
            <a:r>
              <a:rPr lang="en-US" altLang="zh-CN" sz="2400" baseline="-25000" dirty="0">
                <a:ea typeface="宋体" charset="-122"/>
              </a:rPr>
              <a:t>2</a:t>
            </a: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6110288" y="31242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>
                <a:ea typeface="宋体" charset="-122"/>
              </a:rPr>
              <a:t>……..</a:t>
            </a:r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6110288" y="34290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>
                <a:ea typeface="宋体" charset="-122"/>
              </a:rPr>
              <a:t>……..</a:t>
            </a:r>
          </a:p>
        </p:txBody>
      </p:sp>
      <p:sp>
        <p:nvSpPr>
          <p:cNvPr id="21" name="Rectangle 15"/>
          <p:cNvSpPr>
            <a:spLocks noChangeArrowheads="1"/>
          </p:cNvSpPr>
          <p:nvPr/>
        </p:nvSpPr>
        <p:spPr bwMode="auto">
          <a:xfrm>
            <a:off x="7177088" y="31242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>
                <a:ea typeface="宋体" charset="-122"/>
              </a:rPr>
              <a:t>e</a:t>
            </a:r>
            <a:r>
              <a:rPr lang="en-US" altLang="zh-CN" sz="2400" baseline="-25000">
                <a:ea typeface="宋体" charset="-122"/>
              </a:rPr>
              <a:t>i</a:t>
            </a:r>
          </a:p>
        </p:txBody>
      </p:sp>
      <p:sp>
        <p:nvSpPr>
          <p:cNvPr id="22" name="Rectangle 16"/>
          <p:cNvSpPr>
            <a:spLocks noChangeArrowheads="1"/>
          </p:cNvSpPr>
          <p:nvPr/>
        </p:nvSpPr>
        <p:spPr bwMode="auto">
          <a:xfrm>
            <a:off x="7177088" y="34290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>
                <a:ea typeface="宋体" charset="-122"/>
              </a:rPr>
              <a:t>n</a:t>
            </a:r>
            <a:r>
              <a:rPr lang="en-US" altLang="zh-CN" sz="2400" baseline="-25000">
                <a:ea typeface="宋体" charset="-122"/>
              </a:rPr>
              <a:t>i</a:t>
            </a:r>
          </a:p>
        </p:txBody>
      </p:sp>
      <p:sp>
        <p:nvSpPr>
          <p:cNvPr id="23" name="Text Box 17"/>
          <p:cNvSpPr txBox="1">
            <a:spLocks noChangeArrowheads="1"/>
          </p:cNvSpPr>
          <p:nvPr/>
        </p:nvSpPr>
        <p:spPr bwMode="auto">
          <a:xfrm>
            <a:off x="2977653" y="4143233"/>
            <a:ext cx="31886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2400" i="1" dirty="0">
                <a:ea typeface="宋体" charset="-122"/>
                <a:sym typeface="Symbol" pitchFamily="18" charset="2"/>
              </a:rPr>
              <a:t></a:t>
            </a:r>
            <a:r>
              <a:rPr lang="en-US" altLang="zh-CN" sz="2400" i="1" dirty="0" err="1">
                <a:ea typeface="宋体" charset="-122"/>
                <a:sym typeface="Symbol" pitchFamily="18" charset="2"/>
              </a:rPr>
              <a:t>n</a:t>
            </a:r>
            <a:r>
              <a:rPr lang="en-US" altLang="zh-CN" sz="2400" i="1" baseline="-25000" dirty="0" err="1">
                <a:ea typeface="宋体" charset="-122"/>
                <a:sym typeface="Symbol" pitchFamily="18" charset="2"/>
              </a:rPr>
              <a:t>i</a:t>
            </a:r>
            <a:r>
              <a:rPr lang="en-US" altLang="zh-CN" sz="2400" i="1" dirty="0">
                <a:ea typeface="宋体" charset="-122"/>
                <a:sym typeface="Symbol" pitchFamily="18" charset="2"/>
              </a:rPr>
              <a:t> = n,   and </a:t>
            </a:r>
            <a:r>
              <a:rPr lang="en-US" altLang="zh-CN" sz="2400" i="1" dirty="0" err="1">
                <a:ea typeface="宋体" charset="-122"/>
                <a:sym typeface="Symbol" pitchFamily="18" charset="2"/>
              </a:rPr>
              <a:t>e</a:t>
            </a:r>
            <a:r>
              <a:rPr lang="en-US" altLang="zh-CN" sz="2400" i="1" baseline="-25000" dirty="0" err="1">
                <a:ea typeface="宋体" charset="-122"/>
                <a:sym typeface="Symbol" pitchFamily="18" charset="2"/>
              </a:rPr>
              <a:t>i</a:t>
            </a:r>
            <a:r>
              <a:rPr lang="en-US" altLang="zh-CN" sz="2400" i="1" dirty="0" err="1">
                <a:ea typeface="宋体" charset="-122"/>
                <a:sym typeface="Symbol" pitchFamily="18" charset="2"/>
              </a:rPr>
              <a:t>n</a:t>
            </a:r>
            <a:r>
              <a:rPr lang="en-US" altLang="zh-CN" sz="2400" i="1" baseline="-25000" dirty="0" err="1">
                <a:ea typeface="宋体" charset="-122"/>
                <a:sym typeface="Symbol" pitchFamily="18" charset="2"/>
              </a:rPr>
              <a:t>i</a:t>
            </a:r>
            <a:r>
              <a:rPr lang="en-US" altLang="zh-CN" sz="2400" i="1" dirty="0">
                <a:ea typeface="宋体" charset="-122"/>
                <a:sym typeface="Symbol" pitchFamily="18" charset="2"/>
              </a:rPr>
              <a:t> = U</a:t>
            </a:r>
            <a:endParaRPr lang="en-US" altLang="zh-CN" sz="2400" i="1" dirty="0">
              <a:ea typeface="宋体" charset="-122"/>
            </a:endParaRPr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1843088" y="37338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1400">
                <a:ea typeface="宋体" charset="-122"/>
              </a:rPr>
              <a:t># of particles</a:t>
            </a:r>
          </a:p>
        </p:txBody>
      </p:sp>
      <p:sp>
        <p:nvSpPr>
          <p:cNvPr id="25" name="Rectangle 20"/>
          <p:cNvSpPr>
            <a:spLocks noChangeArrowheads="1"/>
          </p:cNvSpPr>
          <p:nvPr/>
        </p:nvSpPr>
        <p:spPr bwMode="auto">
          <a:xfrm>
            <a:off x="2909888" y="37338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 dirty="0">
                <a:ea typeface="宋体" charset="-122"/>
              </a:rPr>
              <a:t>n’</a:t>
            </a:r>
            <a:r>
              <a:rPr lang="en-US" altLang="zh-CN" sz="2400" baseline="-25000" dirty="0">
                <a:ea typeface="宋体" charset="-122"/>
              </a:rPr>
              <a:t>0</a:t>
            </a:r>
          </a:p>
        </p:txBody>
      </p:sp>
      <p:sp>
        <p:nvSpPr>
          <p:cNvPr id="26" name="Rectangle 21"/>
          <p:cNvSpPr>
            <a:spLocks noChangeArrowheads="1"/>
          </p:cNvSpPr>
          <p:nvPr/>
        </p:nvSpPr>
        <p:spPr bwMode="auto">
          <a:xfrm>
            <a:off x="3976688" y="37338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 dirty="0">
                <a:ea typeface="宋体" charset="-122"/>
              </a:rPr>
              <a:t>n’</a:t>
            </a:r>
            <a:r>
              <a:rPr lang="en-US" altLang="zh-CN" sz="2400" baseline="-25000" dirty="0">
                <a:ea typeface="宋体" charset="-122"/>
              </a:rPr>
              <a:t>1</a:t>
            </a:r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5043488" y="37338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 dirty="0">
                <a:ea typeface="宋体" charset="-122"/>
              </a:rPr>
              <a:t>n’</a:t>
            </a:r>
            <a:r>
              <a:rPr lang="en-US" altLang="zh-CN" sz="2400" baseline="-25000" dirty="0">
                <a:ea typeface="宋体" charset="-122"/>
              </a:rPr>
              <a:t>2</a:t>
            </a:r>
          </a:p>
        </p:txBody>
      </p:sp>
      <p:sp>
        <p:nvSpPr>
          <p:cNvPr id="28" name="Rectangle 23"/>
          <p:cNvSpPr>
            <a:spLocks noChangeArrowheads="1"/>
          </p:cNvSpPr>
          <p:nvPr/>
        </p:nvSpPr>
        <p:spPr bwMode="auto">
          <a:xfrm>
            <a:off x="6110288" y="37338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>
                <a:ea typeface="宋体" charset="-122"/>
              </a:rPr>
              <a:t>……..</a:t>
            </a:r>
          </a:p>
        </p:txBody>
      </p:sp>
      <p:sp>
        <p:nvSpPr>
          <p:cNvPr id="29" name="Rectangle 24"/>
          <p:cNvSpPr>
            <a:spLocks noChangeArrowheads="1"/>
          </p:cNvSpPr>
          <p:nvPr/>
        </p:nvSpPr>
        <p:spPr bwMode="auto">
          <a:xfrm>
            <a:off x="7177088" y="373380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400">
                <a:ea typeface="宋体" charset="-122"/>
              </a:rPr>
              <a:t>n’</a:t>
            </a:r>
            <a:r>
              <a:rPr lang="en-US" altLang="zh-CN" sz="2400" baseline="-25000">
                <a:ea typeface="宋体" charset="-122"/>
              </a:rPr>
              <a:t>i</a:t>
            </a:r>
          </a:p>
        </p:txBody>
      </p:sp>
      <p:sp>
        <p:nvSpPr>
          <p:cNvPr id="30" name="Text Box 29"/>
          <p:cNvSpPr txBox="1">
            <a:spLocks noChangeArrowheads="1"/>
          </p:cNvSpPr>
          <p:nvPr/>
        </p:nvSpPr>
        <p:spPr bwMode="auto">
          <a:xfrm>
            <a:off x="434975" y="3386138"/>
            <a:ext cx="1322388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>
                <a:ea typeface="宋体" charset="-122"/>
              </a:rPr>
              <a:t>Distribution 1</a:t>
            </a:r>
          </a:p>
          <a:p>
            <a:pPr eaLnBrk="1" hangingPunct="1"/>
            <a:endParaRPr lang="en-US" altLang="zh-CN" sz="500">
              <a:ea typeface="宋体" charset="-122"/>
            </a:endParaRPr>
          </a:p>
          <a:p>
            <a:pPr eaLnBrk="1" hangingPunct="1"/>
            <a:r>
              <a:rPr lang="en-US" altLang="zh-CN">
                <a:ea typeface="宋体" charset="-122"/>
              </a:rPr>
              <a:t>Distribution 2</a:t>
            </a:r>
          </a:p>
        </p:txBody>
      </p:sp>
      <p:sp>
        <p:nvSpPr>
          <p:cNvPr id="31" name="Text Box 18"/>
          <p:cNvSpPr txBox="1">
            <a:spLocks noChangeArrowheads="1"/>
          </p:cNvSpPr>
          <p:nvPr/>
        </p:nvSpPr>
        <p:spPr bwMode="auto">
          <a:xfrm>
            <a:off x="1683410" y="4933386"/>
            <a:ext cx="28793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b="1" dirty="0">
                <a:ea typeface="宋体" charset="-122"/>
              </a:rPr>
              <a:t>The number of combinations: </a:t>
            </a:r>
          </a:p>
        </p:txBody>
      </p:sp>
      <p:sp>
        <p:nvSpPr>
          <p:cNvPr id="32" name="Text Box 26"/>
          <p:cNvSpPr txBox="1">
            <a:spLocks noChangeArrowheads="1"/>
          </p:cNvSpPr>
          <p:nvPr/>
        </p:nvSpPr>
        <p:spPr bwMode="auto">
          <a:xfrm>
            <a:off x="5029200" y="4909129"/>
            <a:ext cx="32635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b="1" dirty="0">
                <a:ea typeface="宋体" charset="-122"/>
              </a:rPr>
              <a:t>The number of total combination:  </a:t>
            </a:r>
          </a:p>
        </p:txBody>
      </p:sp>
      <p:graphicFrame>
        <p:nvGraphicFramePr>
          <p:cNvPr id="33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8755391"/>
              </p:ext>
            </p:extLst>
          </p:nvPr>
        </p:nvGraphicFramePr>
        <p:xfrm>
          <a:off x="6255532" y="5518729"/>
          <a:ext cx="983468" cy="392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71252" imgH="228501" progId="Equation.3">
                  <p:embed/>
                </p:oleObj>
              </mc:Choice>
              <mc:Fallback>
                <p:oleObj name="公式" r:id="rId2" imgW="571252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5532" y="5518729"/>
                        <a:ext cx="983468" cy="3929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itle 1"/>
          <p:cNvSpPr txBox="1">
            <a:spLocks/>
          </p:cNvSpPr>
          <p:nvPr/>
        </p:nvSpPr>
        <p:spPr bwMode="auto">
          <a:xfrm>
            <a:off x="1509922" y="148664"/>
            <a:ext cx="5873750" cy="878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Most Probable Distribution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4086943"/>
              </p:ext>
            </p:extLst>
          </p:nvPr>
        </p:nvGraphicFramePr>
        <p:xfrm>
          <a:off x="2025650" y="5271940"/>
          <a:ext cx="2133600" cy="747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31560" imgH="431640" progId="Equation.DSMT4">
                  <p:embed/>
                </p:oleObj>
              </mc:Choice>
              <mc:Fallback>
                <p:oleObj name="Equation" r:id="rId4" imgW="12315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25650" y="5271940"/>
                        <a:ext cx="2133600" cy="7478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6638" y="2667896"/>
            <a:ext cx="1659429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zh-CN" dirty="0" err="1"/>
              <a:t>Combinatorics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8898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0"/>
          <p:cNvSpPr txBox="1">
            <a:spLocks noChangeArrowheads="1"/>
          </p:cNvSpPr>
          <p:nvPr/>
        </p:nvSpPr>
        <p:spPr bwMode="auto">
          <a:xfrm>
            <a:off x="85378" y="1371600"/>
            <a:ext cx="29106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FF"/>
                </a:solidFill>
                <a:ea typeface="宋体" charset="-122"/>
              </a:rPr>
              <a:t>The earlier example:</a:t>
            </a:r>
          </a:p>
        </p:txBody>
      </p:sp>
      <p:pic>
        <p:nvPicPr>
          <p:cNvPr id="6" name="image253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831" y="2248554"/>
            <a:ext cx="5720569" cy="1713846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 bwMode="auto">
          <a:xfrm>
            <a:off x="1540680" y="99031"/>
            <a:ext cx="5873750" cy="878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Most Probable Distribution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9923692"/>
              </p:ext>
            </p:extLst>
          </p:nvPr>
        </p:nvGraphicFramePr>
        <p:xfrm>
          <a:off x="6477000" y="2182346"/>
          <a:ext cx="2354317" cy="184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31560" imgH="1066680" progId="Equation.DSMT4">
                  <p:embed/>
                </p:oleObj>
              </mc:Choice>
              <mc:Fallback>
                <p:oleObj name="Equation" r:id="rId3" imgW="1231560" imgH="1066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2182346"/>
                        <a:ext cx="2354317" cy="184626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1289156"/>
              </p:ext>
            </p:extLst>
          </p:nvPr>
        </p:nvGraphicFramePr>
        <p:xfrm>
          <a:off x="457200" y="4495800"/>
          <a:ext cx="1958975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30040" imgH="393480" progId="Equation.DSMT4">
                  <p:embed/>
                </p:oleObj>
              </mc:Choice>
              <mc:Fallback>
                <p:oleObj name="Equation" r:id="rId5" imgW="11300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495800"/>
                        <a:ext cx="1958975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1852236"/>
              </p:ext>
            </p:extLst>
          </p:nvPr>
        </p:nvGraphicFramePr>
        <p:xfrm>
          <a:off x="2766340" y="4495800"/>
          <a:ext cx="1958975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30040" imgH="393480" progId="Equation.DSMT4">
                  <p:embed/>
                </p:oleObj>
              </mc:Choice>
              <mc:Fallback>
                <p:oleObj name="Equation" r:id="rId7" imgW="11300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6340" y="4495800"/>
                        <a:ext cx="1958975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8304243"/>
              </p:ext>
            </p:extLst>
          </p:nvPr>
        </p:nvGraphicFramePr>
        <p:xfrm>
          <a:off x="5094287" y="4500562"/>
          <a:ext cx="1870075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79280" imgH="393480" progId="Equation.DSMT4">
                  <p:embed/>
                </p:oleObj>
              </mc:Choice>
              <mc:Fallback>
                <p:oleObj name="Equation" r:id="rId9" imgW="10792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4287" y="4500562"/>
                        <a:ext cx="1870075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957126"/>
              </p:ext>
            </p:extLst>
          </p:nvPr>
        </p:nvGraphicFramePr>
        <p:xfrm>
          <a:off x="381000" y="5486400"/>
          <a:ext cx="41402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854000" imgH="253800" progId="Equation.DSMT4">
                  <p:embed/>
                </p:oleObj>
              </mc:Choice>
              <mc:Fallback>
                <p:oleObj name="Equation" r:id="rId11" imgW="18540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1000" y="5486400"/>
                        <a:ext cx="4140200" cy="566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172200" y="1602432"/>
            <a:ext cx="2848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The number of arrangement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6156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199382" y="7937"/>
            <a:ext cx="7178676" cy="802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Find Most Probable Distribution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5" name="Text Box 25"/>
          <p:cNvSpPr txBox="1">
            <a:spLocks noChangeArrowheads="1"/>
          </p:cNvSpPr>
          <p:nvPr/>
        </p:nvSpPr>
        <p:spPr bwMode="auto">
          <a:xfrm>
            <a:off x="310623" y="1161370"/>
            <a:ext cx="562768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Find Most Probable Distribution</a:t>
            </a:r>
            <a:endParaRPr lang="en-US" altLang="zh-CN" sz="2000" dirty="0">
              <a:ea typeface="宋体" charset="-122"/>
            </a:endParaRPr>
          </a:p>
          <a:p>
            <a:pPr eaLnBrk="1" hangingPunct="1"/>
            <a:r>
              <a:rPr lang="en-US" altLang="zh-CN" sz="2000" dirty="0">
                <a:ea typeface="宋体" charset="-122"/>
              </a:rPr>
              <a:t>=Find set of </a:t>
            </a:r>
            <a:r>
              <a:rPr lang="en-US" altLang="zh-CN" sz="2000" dirty="0" err="1">
                <a:ea typeface="宋体" charset="-122"/>
              </a:rPr>
              <a:t>n</a:t>
            </a:r>
            <a:r>
              <a:rPr lang="en-US" altLang="zh-CN" sz="2000" baseline="-25000" dirty="0" err="1">
                <a:ea typeface="宋体" charset="-122"/>
              </a:rPr>
              <a:t>i</a:t>
            </a:r>
            <a:r>
              <a:rPr lang="en-US" altLang="zh-CN" sz="2000" dirty="0">
                <a:ea typeface="宋体" charset="-122"/>
              </a:rPr>
              <a:t>, to maximize </a:t>
            </a:r>
            <a:r>
              <a:rPr lang="en-US" altLang="zh-CN" sz="2000" dirty="0">
                <a:ea typeface="宋体" charset="-122"/>
                <a:sym typeface="Symbol" pitchFamily="18" charset="2"/>
              </a:rPr>
              <a:t></a:t>
            </a:r>
            <a:r>
              <a:rPr lang="en-US" altLang="zh-CN" sz="2000" baseline="-25000" dirty="0" err="1">
                <a:ea typeface="宋体" charset="-122"/>
                <a:sym typeface="Symbol" pitchFamily="18" charset="2"/>
              </a:rPr>
              <a:t>i</a:t>
            </a:r>
            <a:r>
              <a:rPr lang="en-US" altLang="zh-CN" sz="2000" dirty="0">
                <a:ea typeface="宋体" charset="-122"/>
                <a:sym typeface="Symbol" pitchFamily="18" charset="2"/>
              </a:rPr>
              <a:t> = n!/(n</a:t>
            </a:r>
            <a:r>
              <a:rPr lang="en-US" altLang="zh-CN" sz="2000" baseline="-25000" dirty="0">
                <a:ea typeface="宋体" charset="-122"/>
                <a:sym typeface="Symbol" pitchFamily="18" charset="2"/>
              </a:rPr>
              <a:t>1</a:t>
            </a:r>
            <a:r>
              <a:rPr lang="en-US" altLang="zh-CN" sz="2000" dirty="0">
                <a:ea typeface="宋体" charset="-122"/>
                <a:sym typeface="Symbol" pitchFamily="18" charset="2"/>
              </a:rPr>
              <a:t>!n</a:t>
            </a:r>
            <a:r>
              <a:rPr lang="en-US" altLang="zh-CN" sz="2000" baseline="-25000" dirty="0">
                <a:ea typeface="宋体" charset="-122"/>
                <a:sym typeface="Symbol" pitchFamily="18" charset="2"/>
              </a:rPr>
              <a:t>2</a:t>
            </a:r>
            <a:r>
              <a:rPr lang="en-US" altLang="zh-CN" sz="2000" dirty="0">
                <a:ea typeface="宋体" charset="-122"/>
                <a:sym typeface="Symbol" pitchFamily="18" charset="2"/>
              </a:rPr>
              <a:t>!..n</a:t>
            </a:r>
            <a:r>
              <a:rPr lang="en-US" altLang="zh-CN" sz="2000" baseline="-25000" dirty="0">
                <a:ea typeface="宋体" charset="-122"/>
                <a:sym typeface="Symbol" pitchFamily="18" charset="2"/>
              </a:rPr>
              <a:t>i</a:t>
            </a:r>
            <a:r>
              <a:rPr lang="en-US" altLang="zh-CN" sz="2000" dirty="0">
                <a:ea typeface="宋体" charset="-122"/>
                <a:sym typeface="Symbol" pitchFamily="18" charset="2"/>
              </a:rPr>
              <a:t>!) </a:t>
            </a:r>
            <a:endParaRPr lang="en-US" altLang="zh-CN" sz="2000" dirty="0">
              <a:ea typeface="宋体" charset="-122"/>
            </a:endParaRPr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325477" y="2057250"/>
            <a:ext cx="587949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dirty="0" err="1">
                <a:ea typeface="宋体" charset="-122"/>
              </a:rPr>
              <a:t>Stirling’s</a:t>
            </a:r>
            <a:r>
              <a:rPr lang="en-US" altLang="zh-CN" dirty="0">
                <a:ea typeface="宋体" charset="-122"/>
              </a:rPr>
              <a:t> approximation:  when X is very large: ln(X!) </a:t>
            </a:r>
            <a:r>
              <a:rPr lang="en-US" altLang="zh-CN" dirty="0">
                <a:ea typeface="宋体" charset="-122"/>
                <a:sym typeface="Symbol"/>
              </a:rPr>
              <a:t></a:t>
            </a:r>
            <a:r>
              <a:rPr lang="en-US" altLang="zh-CN" dirty="0">
                <a:ea typeface="宋体" charset="-122"/>
              </a:rPr>
              <a:t> </a:t>
            </a:r>
            <a:r>
              <a:rPr lang="en-US" altLang="zh-CN" dirty="0" err="1">
                <a:ea typeface="宋体" charset="-122"/>
              </a:rPr>
              <a:t>XlnX</a:t>
            </a:r>
            <a:r>
              <a:rPr lang="en-US" altLang="zh-CN" dirty="0">
                <a:ea typeface="宋体" charset="-122"/>
              </a:rPr>
              <a:t> -X 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2815088"/>
              </p:ext>
            </p:extLst>
          </p:nvPr>
        </p:nvGraphicFramePr>
        <p:xfrm>
          <a:off x="421749" y="2436506"/>
          <a:ext cx="36544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133600" imgH="228600" progId="Equation.3">
                  <p:embed/>
                </p:oleObj>
              </mc:Choice>
              <mc:Fallback>
                <p:oleObj r:id="rId2" imgW="2133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749" y="2436506"/>
                        <a:ext cx="365442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7939484"/>
              </p:ext>
            </p:extLst>
          </p:nvPr>
        </p:nvGraphicFramePr>
        <p:xfrm>
          <a:off x="383648" y="2884524"/>
          <a:ext cx="5554663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24200" imgH="228600" progId="Equation.3">
                  <p:embed/>
                </p:oleObj>
              </mc:Choice>
              <mc:Fallback>
                <p:oleObj name="Equation" r:id="rId4" imgW="3124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648" y="2884524"/>
                        <a:ext cx="5554663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圆角矩形 4"/>
          <p:cNvSpPr/>
          <p:nvPr/>
        </p:nvSpPr>
        <p:spPr>
          <a:xfrm>
            <a:off x="85198" y="1130886"/>
            <a:ext cx="5516727" cy="868684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0634024"/>
              </p:ext>
            </p:extLst>
          </p:nvPr>
        </p:nvGraphicFramePr>
        <p:xfrm>
          <a:off x="6204972" y="970991"/>
          <a:ext cx="1953447" cy="380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95280" imgH="253800" progId="Equation.DSMT4">
                  <p:embed/>
                </p:oleObj>
              </mc:Choice>
              <mc:Fallback>
                <p:oleObj name="Equation" r:id="rId6" imgW="12952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4972" y="970991"/>
                        <a:ext cx="1953447" cy="3807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6204972" y="1411339"/>
            <a:ext cx="24415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ea typeface="宋体" charset="-122"/>
                <a:sym typeface="Symbol" pitchFamily="18" charset="2"/>
              </a:rPr>
              <a:t>Any interchange of particles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0207910"/>
              </p:ext>
            </p:extLst>
          </p:nvPr>
        </p:nvGraphicFramePr>
        <p:xfrm>
          <a:off x="6231361" y="1711780"/>
          <a:ext cx="2535587" cy="314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1840" imgH="253800" progId="Equation.DSMT4">
                  <p:embed/>
                </p:oleObj>
              </mc:Choice>
              <mc:Fallback>
                <p:oleObj name="Equation" r:id="rId8" imgW="20318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1361" y="1711780"/>
                        <a:ext cx="2535587" cy="3149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6" name="直接连接符 35"/>
          <p:cNvCxnSpPr/>
          <p:nvPr/>
        </p:nvCxnSpPr>
        <p:spPr>
          <a:xfrm flipV="1">
            <a:off x="1873677" y="3265524"/>
            <a:ext cx="509908" cy="37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V="1">
            <a:off x="3585054" y="3265524"/>
            <a:ext cx="509908" cy="37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对象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4319494"/>
              </p:ext>
            </p:extLst>
          </p:nvPr>
        </p:nvGraphicFramePr>
        <p:xfrm>
          <a:off x="637814" y="3464868"/>
          <a:ext cx="3202194" cy="1619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44440" imgH="1041120" progId="Equation.DSMT4">
                  <p:embed/>
                </p:oleObj>
              </mc:Choice>
              <mc:Fallback>
                <p:oleObj name="Equation" r:id="rId10" imgW="2044440" imgH="1041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814" y="3464868"/>
                        <a:ext cx="3202194" cy="16197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矩形 39"/>
          <p:cNvSpPr/>
          <p:nvPr/>
        </p:nvSpPr>
        <p:spPr>
          <a:xfrm>
            <a:off x="310623" y="5210396"/>
            <a:ext cx="5074463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/>
              <a:t>If </a:t>
            </a:r>
            <a:r>
              <a:rPr lang="el-GR" altLang="zh-CN" sz="1600" dirty="0">
                <a:latin typeface="Times New Roman"/>
                <a:cs typeface="Times New Roman"/>
              </a:rPr>
              <a:t>Ω</a:t>
            </a:r>
            <a:r>
              <a:rPr lang="en-US" altLang="zh-CN" sz="1600" dirty="0">
                <a:latin typeface="Times New Roman"/>
                <a:cs typeface="Times New Roman"/>
              </a:rPr>
              <a:t> </a:t>
            </a:r>
            <a:r>
              <a:rPr lang="en-US" altLang="zh-CN" sz="1600" dirty="0"/>
              <a:t>has the maximum possible value then a small rearrangement of particles among the energy levels will not alter the value of </a:t>
            </a:r>
            <a:r>
              <a:rPr lang="el-GR" altLang="zh-CN" sz="1600" dirty="0">
                <a:latin typeface="Times New Roman"/>
                <a:cs typeface="Times New Roman"/>
              </a:rPr>
              <a:t>Ω</a:t>
            </a:r>
            <a:r>
              <a:rPr lang="en-US" altLang="zh-CN" sz="1600" dirty="0">
                <a:latin typeface="Times New Roman"/>
                <a:cs typeface="Times New Roman"/>
              </a:rPr>
              <a:t> </a:t>
            </a:r>
            <a:r>
              <a:rPr lang="en-US" altLang="zh-CN" sz="1600" dirty="0"/>
              <a:t>or of </a:t>
            </a:r>
            <a:r>
              <a:rPr lang="en-US" altLang="zh-CN" sz="1600" dirty="0" err="1"/>
              <a:t>ln</a:t>
            </a:r>
            <a:r>
              <a:rPr lang="en-US" altLang="zh-CN" sz="1600" dirty="0"/>
              <a:t> </a:t>
            </a:r>
            <a:r>
              <a:rPr lang="el-GR" altLang="zh-CN" sz="1600" dirty="0">
                <a:latin typeface="Times New Roman"/>
                <a:cs typeface="Times New Roman"/>
              </a:rPr>
              <a:t>Ω</a:t>
            </a:r>
            <a:endParaRPr lang="zh-CN" altLang="en-US" sz="1600" dirty="0"/>
          </a:p>
        </p:txBody>
      </p:sp>
      <p:graphicFrame>
        <p:nvGraphicFramePr>
          <p:cNvPr id="41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249875"/>
              </p:ext>
            </p:extLst>
          </p:nvPr>
        </p:nvGraphicFramePr>
        <p:xfrm>
          <a:off x="5727611" y="5440392"/>
          <a:ext cx="1327150" cy="37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34680" imgH="177480" progId="Equation.DSMT4">
                  <p:embed/>
                </p:oleObj>
              </mc:Choice>
              <mc:Fallback>
                <p:oleObj name="Equation" r:id="rId12" imgW="6346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727611" y="5440392"/>
                        <a:ext cx="1327150" cy="37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圆角矩形 6"/>
          <p:cNvSpPr/>
          <p:nvPr/>
        </p:nvSpPr>
        <p:spPr>
          <a:xfrm>
            <a:off x="1411714" y="3428268"/>
            <a:ext cx="923925" cy="352425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525233" y="3463209"/>
            <a:ext cx="2233304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n is constant 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l-GR" altLang="zh-CN" sz="1600" dirty="0">
                <a:latin typeface="Sylfaen"/>
              </a:rPr>
              <a:t>δ</a:t>
            </a:r>
            <a:r>
              <a:rPr lang="en-US" altLang="zh-CN" sz="1600" i="1" dirty="0" err="1">
                <a:latin typeface="Sylfaen"/>
              </a:rPr>
              <a:t>n</a:t>
            </a:r>
            <a:r>
              <a:rPr lang="en-US" altLang="zh-CN" sz="1600" dirty="0" err="1">
                <a:latin typeface="Sylfaen"/>
              </a:rPr>
              <a:t>ln</a:t>
            </a:r>
            <a:r>
              <a:rPr lang="en-US" altLang="zh-CN" sz="1600" i="1" dirty="0" err="1">
                <a:latin typeface="Sylfaen"/>
              </a:rPr>
              <a:t>n</a:t>
            </a:r>
            <a:r>
              <a:rPr lang="en-US" altLang="zh-CN" sz="1600" dirty="0">
                <a:latin typeface="Sylfaen"/>
              </a:rPr>
              <a:t>=0</a:t>
            </a:r>
            <a:endParaRPr lang="zh-CN" altLang="en-US" sz="1600" dirty="0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1141522"/>
              </p:ext>
            </p:extLst>
          </p:nvPr>
        </p:nvGraphicFramePr>
        <p:xfrm>
          <a:off x="4513263" y="3962400"/>
          <a:ext cx="1778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77680" imgH="482400" progId="Equation.DSMT4">
                  <p:embed/>
                </p:oleObj>
              </mc:Choice>
              <mc:Fallback>
                <p:oleObj name="Equation" r:id="rId14" imgW="17776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513263" y="3962400"/>
                        <a:ext cx="1778000" cy="482600"/>
                      </a:xfrm>
                      <a:prstGeom prst="rect">
                        <a:avLst/>
                      </a:prstGeom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5535830"/>
              </p:ext>
            </p:extLst>
          </p:nvPr>
        </p:nvGraphicFramePr>
        <p:xfrm>
          <a:off x="4514082" y="4571837"/>
          <a:ext cx="622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22080" imgH="253800" progId="Equation.DSMT4">
                  <p:embed/>
                </p:oleObj>
              </mc:Choice>
              <mc:Fallback>
                <p:oleObj name="Equation" r:id="rId16" imgW="6220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514082" y="4571837"/>
                        <a:ext cx="622300" cy="254000"/>
                      </a:xfrm>
                      <a:prstGeom prst="rect">
                        <a:avLst/>
                      </a:prstGeom>
                      <a:ln>
                        <a:solidFill>
                          <a:srgbClr val="FF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3399557"/>
              </p:ext>
            </p:extLst>
          </p:nvPr>
        </p:nvGraphicFramePr>
        <p:xfrm>
          <a:off x="6811813" y="5977828"/>
          <a:ext cx="154940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38200" imgH="228600" progId="Equation.3">
                  <p:embed/>
                </p:oleObj>
              </mc:Choice>
              <mc:Fallback>
                <p:oleObj name="Equation" r:id="rId18" imgW="838200" imgH="228600" progId="Equation.3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1813" y="5977828"/>
                        <a:ext cx="1549400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直接箭头连接符 17"/>
          <p:cNvCxnSpPr/>
          <p:nvPr/>
        </p:nvCxnSpPr>
        <p:spPr>
          <a:xfrm>
            <a:off x="7104173" y="5751538"/>
            <a:ext cx="643172" cy="2272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圆角矩形 27"/>
          <p:cNvSpPr/>
          <p:nvPr/>
        </p:nvSpPr>
        <p:spPr>
          <a:xfrm>
            <a:off x="2734990" y="3885616"/>
            <a:ext cx="923925" cy="352425"/>
          </a:xfrm>
          <a:prstGeom prst="round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圆角矩形 30"/>
          <p:cNvSpPr/>
          <p:nvPr/>
        </p:nvSpPr>
        <p:spPr>
          <a:xfrm>
            <a:off x="2734989" y="4268355"/>
            <a:ext cx="923925" cy="352425"/>
          </a:xfrm>
          <a:prstGeom prst="roundRect">
            <a:avLst/>
          </a:prstGeom>
          <a:noFill/>
          <a:ln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箭头连接符 22"/>
          <p:cNvCxnSpPr/>
          <p:nvPr/>
        </p:nvCxnSpPr>
        <p:spPr>
          <a:xfrm>
            <a:off x="3947532" y="3632486"/>
            <a:ext cx="41259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3840008" y="4061828"/>
            <a:ext cx="520119" cy="1762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>
            <a:off x="3840008" y="4444567"/>
            <a:ext cx="520119" cy="2947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5368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293902" y="-10926"/>
            <a:ext cx="7178676" cy="878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Find Most Probable Distribution</a:t>
            </a:r>
            <a:endParaRPr lang="en-US" sz="3200" dirty="0">
              <a:solidFill>
                <a:srgbClr val="FF0000"/>
              </a:solidFill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1009491"/>
              </p:ext>
            </p:extLst>
          </p:nvPr>
        </p:nvGraphicFramePr>
        <p:xfrm>
          <a:off x="2160046" y="1432931"/>
          <a:ext cx="154940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200" imgH="228600" progId="Equation.3">
                  <p:embed/>
                </p:oleObj>
              </mc:Choice>
              <mc:Fallback>
                <p:oleObj name="Equation" r:id="rId2" imgW="838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046" y="1432931"/>
                        <a:ext cx="1549400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589814"/>
              </p:ext>
            </p:extLst>
          </p:nvPr>
        </p:nvGraphicFramePr>
        <p:xfrm>
          <a:off x="4104733" y="1432931"/>
          <a:ext cx="106362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58800" imgH="228600" progId="Equation.3">
                  <p:embed/>
                </p:oleObj>
              </mc:Choice>
              <mc:Fallback>
                <p:oleObj name="Equation" r:id="rId4" imgW="558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4733" y="1432931"/>
                        <a:ext cx="1063625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2409283" y="2075869"/>
            <a:ext cx="43656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dirty="0">
                <a:ea typeface="宋体" charset="-122"/>
                <a:sym typeface="Symbol" pitchFamily="18" charset="2"/>
              </a:rPr>
              <a:t> is the constant with the units of reciprocal energy</a:t>
            </a:r>
          </a:p>
          <a:p>
            <a:pPr eaLnBrk="1" hangingPunct="1"/>
            <a:endParaRPr lang="en-US" altLang="zh-CN" sz="1400" dirty="0">
              <a:ea typeface="宋体" charset="-122"/>
              <a:sym typeface="Symbol" pitchFamily="18" charset="2"/>
            </a:endParaRPr>
          </a:p>
          <a:p>
            <a:pPr eaLnBrk="1" hangingPunct="1"/>
            <a:r>
              <a:rPr lang="el-GR" altLang="zh-CN" dirty="0">
                <a:latin typeface="Times New Roman"/>
                <a:ea typeface="宋体" charset="-122"/>
                <a:cs typeface="Times New Roman"/>
                <a:sym typeface="Symbol" pitchFamily="18" charset="2"/>
              </a:rPr>
              <a:t>Α</a:t>
            </a:r>
            <a:r>
              <a:rPr lang="en-US" altLang="zh-CN" dirty="0">
                <a:latin typeface="Times New Roman"/>
                <a:ea typeface="宋体" charset="-122"/>
                <a:cs typeface="Times New Roman"/>
                <a:sym typeface="Symbol" pitchFamily="18" charset="2"/>
              </a:rPr>
              <a:t> </a:t>
            </a:r>
            <a:r>
              <a:rPr lang="en-US" altLang="zh-CN" dirty="0">
                <a:ea typeface="宋体" charset="-122"/>
                <a:sym typeface="Symbol" pitchFamily="18" charset="2"/>
              </a:rPr>
              <a:t>is the dimensionless constant</a:t>
            </a:r>
          </a:p>
        </p:txBody>
      </p:sp>
      <p:sp>
        <p:nvSpPr>
          <p:cNvPr id="30" name="Line 19"/>
          <p:cNvSpPr>
            <a:spLocks noChangeShapeType="1"/>
          </p:cNvSpPr>
          <p:nvPr/>
        </p:nvSpPr>
        <p:spPr bwMode="auto">
          <a:xfrm>
            <a:off x="4326983" y="3358553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20"/>
          <p:cNvSpPr>
            <a:spLocks noChangeShapeType="1"/>
          </p:cNvSpPr>
          <p:nvPr/>
        </p:nvSpPr>
        <p:spPr bwMode="auto">
          <a:xfrm>
            <a:off x="3996783" y="4152303"/>
            <a:ext cx="2873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Text Box 17"/>
          <p:cNvSpPr txBox="1">
            <a:spLocks noChangeArrowheads="1"/>
          </p:cNvSpPr>
          <p:nvPr/>
        </p:nvSpPr>
        <p:spPr bwMode="auto">
          <a:xfrm>
            <a:off x="6328821" y="4690466"/>
            <a:ext cx="16176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dirty="0">
                <a:ea typeface="宋体" charset="-122"/>
              </a:rPr>
              <a:t>Partition function</a:t>
            </a:r>
          </a:p>
        </p:txBody>
      </p:sp>
      <p:graphicFrame>
        <p:nvGraphicFramePr>
          <p:cNvPr id="3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3714259"/>
              </p:ext>
            </p:extLst>
          </p:nvPr>
        </p:nvGraphicFramePr>
        <p:xfrm>
          <a:off x="1661068" y="5255614"/>
          <a:ext cx="863600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33160" imgH="393480" progId="Equation.DSMT4">
                  <p:embed/>
                </p:oleObj>
              </mc:Choice>
              <mc:Fallback>
                <p:oleObj name="Equation" r:id="rId6" imgW="5331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1068" y="5255614"/>
                        <a:ext cx="863600" cy="630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Line 23"/>
          <p:cNvSpPr>
            <a:spLocks noChangeShapeType="1"/>
          </p:cNvSpPr>
          <p:nvPr/>
        </p:nvSpPr>
        <p:spPr bwMode="auto">
          <a:xfrm>
            <a:off x="2740568" y="5544539"/>
            <a:ext cx="576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4319727"/>
              </p:ext>
            </p:extLst>
          </p:nvPr>
        </p:nvGraphicFramePr>
        <p:xfrm>
          <a:off x="5901807" y="1432931"/>
          <a:ext cx="11239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49160" imgH="253800" progId="Equation.DSMT4">
                  <p:embed/>
                </p:oleObj>
              </mc:Choice>
              <mc:Fallback>
                <p:oleObj name="Equation" r:id="rId8" imgW="7491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901807" y="1432931"/>
                        <a:ext cx="112395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2983360"/>
              </p:ext>
            </p:extLst>
          </p:nvPr>
        </p:nvGraphicFramePr>
        <p:xfrm>
          <a:off x="944307" y="1966331"/>
          <a:ext cx="12763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50680" imgH="253800" progId="Equation.DSMT4">
                  <p:embed/>
                </p:oleObj>
              </mc:Choice>
              <mc:Fallback>
                <p:oleObj name="Equation" r:id="rId10" imgW="8506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307" y="1966331"/>
                        <a:ext cx="12763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2267339"/>
              </p:ext>
            </p:extLst>
          </p:nvPr>
        </p:nvGraphicFramePr>
        <p:xfrm>
          <a:off x="974183" y="2575931"/>
          <a:ext cx="1104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36560" imgH="253800" progId="Equation.DSMT4">
                  <p:embed/>
                </p:oleObj>
              </mc:Choice>
              <mc:Fallback>
                <p:oleObj name="Equation" r:id="rId12" imgW="7365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4183" y="2575931"/>
                        <a:ext cx="1104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528321"/>
              </p:ext>
            </p:extLst>
          </p:nvPr>
        </p:nvGraphicFramePr>
        <p:xfrm>
          <a:off x="1637255" y="3169641"/>
          <a:ext cx="2400301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00200" imgH="253800" progId="Equation.DSMT4">
                  <p:embed/>
                </p:oleObj>
              </mc:Choice>
              <mc:Fallback>
                <p:oleObj name="Equation" r:id="rId14" imgW="16002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7255" y="3169641"/>
                        <a:ext cx="2400301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448954"/>
              </p:ext>
            </p:extLst>
          </p:nvPr>
        </p:nvGraphicFramePr>
        <p:xfrm>
          <a:off x="4921946" y="3074391"/>
          <a:ext cx="2605437" cy="532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17440" imgH="228600" progId="Equation.DSMT4">
                  <p:embed/>
                </p:oleObj>
              </mc:Choice>
              <mc:Fallback>
                <p:oleObj name="Equation" r:id="rId16" imgW="1117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921946" y="3074391"/>
                        <a:ext cx="2605437" cy="532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4922998"/>
              </p:ext>
            </p:extLst>
          </p:nvPr>
        </p:nvGraphicFramePr>
        <p:xfrm>
          <a:off x="1812383" y="3870522"/>
          <a:ext cx="17462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49160" imgH="241200" progId="Equation.DSMT4">
                  <p:embed/>
                </p:oleObj>
              </mc:Choice>
              <mc:Fallback>
                <p:oleObj name="Equation" r:id="rId18" imgW="7491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383" y="3870522"/>
                        <a:ext cx="174625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7872927"/>
              </p:ext>
            </p:extLst>
          </p:nvPr>
        </p:nvGraphicFramePr>
        <p:xfrm>
          <a:off x="4696498" y="3857028"/>
          <a:ext cx="3167062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58640" imgH="253800" progId="Equation.DSMT4">
                  <p:embed/>
                </p:oleObj>
              </mc:Choice>
              <mc:Fallback>
                <p:oleObj name="Equation" r:id="rId20" imgW="13586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6498" y="3857028"/>
                        <a:ext cx="3167062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8137668"/>
              </p:ext>
            </p:extLst>
          </p:nvPr>
        </p:nvGraphicFramePr>
        <p:xfrm>
          <a:off x="1507583" y="4587721"/>
          <a:ext cx="4628978" cy="523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247840" imgH="253800" progId="Equation.DSMT4">
                  <p:embed/>
                </p:oleObj>
              </mc:Choice>
              <mc:Fallback>
                <p:oleObj name="Equation" r:id="rId22" imgW="22478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07583" y="4587721"/>
                        <a:ext cx="4628978" cy="523432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8655523"/>
              </p:ext>
            </p:extLst>
          </p:nvPr>
        </p:nvGraphicFramePr>
        <p:xfrm>
          <a:off x="3441158" y="5085769"/>
          <a:ext cx="1687513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723600" imgH="393480" progId="Equation.DSMT4">
                  <p:embed/>
                </p:oleObj>
              </mc:Choice>
              <mc:Fallback>
                <p:oleObj name="Equation" r:id="rId24" imgW="7236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158" y="5085769"/>
                        <a:ext cx="1687513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圆角矩形 7"/>
          <p:cNvSpPr/>
          <p:nvPr/>
        </p:nvSpPr>
        <p:spPr>
          <a:xfrm>
            <a:off x="593183" y="1813931"/>
            <a:ext cx="7543800" cy="1219200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8549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22"/>
          <p:cNvSpPr txBox="1">
            <a:spLocks noChangeArrowheads="1"/>
          </p:cNvSpPr>
          <p:nvPr/>
        </p:nvSpPr>
        <p:spPr bwMode="auto">
          <a:xfrm>
            <a:off x="320580" y="3269411"/>
            <a:ext cx="386211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b="1" dirty="0">
                <a:ea typeface="宋体" charset="-122"/>
              </a:rPr>
              <a:t>Boltzmann’s distribution function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1337394" y="250166"/>
            <a:ext cx="7178676" cy="628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altLang="zh-CN" sz="3200" b="1" dirty="0">
                <a:solidFill>
                  <a:srgbClr val="FF0000"/>
                </a:solidFill>
                <a:ea typeface="宋体" charset="-122"/>
              </a:rPr>
              <a:t>Boltzmann’s distribution function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9559725"/>
              </p:ext>
            </p:extLst>
          </p:nvPr>
        </p:nvGraphicFramePr>
        <p:xfrm>
          <a:off x="876300" y="1744663"/>
          <a:ext cx="2111375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23600" imgH="393480" progId="Equation.DSMT4">
                  <p:embed/>
                </p:oleObj>
              </mc:Choice>
              <mc:Fallback>
                <p:oleObj name="Equation" r:id="rId2" imgW="7236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" y="1744663"/>
                        <a:ext cx="2111375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image273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98018" y="1638195"/>
            <a:ext cx="3825875" cy="27908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434612" y="4598297"/>
            <a:ext cx="39211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Schematic  representation  of  the  most  probable distribution  of particles among the quantized energy levels.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1688896"/>
              </p:ext>
            </p:extLst>
          </p:nvPr>
        </p:nvGraphicFramePr>
        <p:xfrm>
          <a:off x="1387476" y="3737872"/>
          <a:ext cx="85463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58720" imgH="431640" progId="Equation.DSMT4">
                  <p:embed/>
                </p:oleObj>
              </mc:Choice>
              <mc:Fallback>
                <p:oleObj name="Equation" r:id="rId5" imgW="5587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87476" y="3737872"/>
                        <a:ext cx="854635" cy="66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2384188"/>
              </p:ext>
            </p:extLst>
          </p:nvPr>
        </p:nvGraphicFramePr>
        <p:xfrm>
          <a:off x="701579" y="5034941"/>
          <a:ext cx="3077573" cy="4866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30240" imgH="431640" progId="Equation.DSMT4">
                  <p:embed/>
                </p:oleObj>
              </mc:Choice>
              <mc:Fallback>
                <p:oleObj name="Equation" r:id="rId7" imgW="27302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1579" y="5034941"/>
                        <a:ext cx="3077573" cy="4866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22"/>
          <p:cNvSpPr txBox="1">
            <a:spLocks noChangeArrowheads="1"/>
          </p:cNvSpPr>
          <p:nvPr/>
        </p:nvSpPr>
        <p:spPr bwMode="auto">
          <a:xfrm>
            <a:off x="320580" y="4429020"/>
            <a:ext cx="386211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b="1" dirty="0" err="1">
                <a:ea typeface="宋体" charset="-122"/>
              </a:rPr>
              <a:t>k</a:t>
            </a:r>
            <a:r>
              <a:rPr lang="en-US" altLang="zh-CN" b="1" baseline="-25000" dirty="0" err="1">
                <a:ea typeface="宋体" charset="-122"/>
              </a:rPr>
              <a:t>B</a:t>
            </a:r>
            <a:r>
              <a:rPr lang="en-US" altLang="zh-CN" b="1" baseline="30000" dirty="0">
                <a:ea typeface="宋体" charset="-122"/>
              </a:rPr>
              <a:t>   </a:t>
            </a:r>
            <a:r>
              <a:rPr lang="en-US" altLang="zh-CN" b="1" dirty="0">
                <a:ea typeface="宋体" charset="-122"/>
              </a:rPr>
              <a:t> is the  Boltzmann constant</a:t>
            </a:r>
          </a:p>
        </p:txBody>
      </p:sp>
    </p:spTree>
    <p:extLst>
      <p:ext uri="{BB962C8B-B14F-4D97-AF65-F5344CB8AC3E}">
        <p14:creationId xmlns:p14="http://schemas.microsoft.com/office/powerpoint/2010/main" val="37468650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337394" y="7937"/>
            <a:ext cx="5873750" cy="954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Most Probable Distribution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xt Box 20"/>
          <p:cNvSpPr txBox="1">
            <a:spLocks noChangeArrowheads="1"/>
          </p:cNvSpPr>
          <p:nvPr/>
        </p:nvSpPr>
        <p:spPr bwMode="auto">
          <a:xfrm>
            <a:off x="1803400" y="3476625"/>
            <a:ext cx="2555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buFontTx/>
              <a:buChar char="•"/>
            </a:pPr>
            <a:endParaRPr lang="zh-CN" altLang="zh-CN"/>
          </a:p>
        </p:txBody>
      </p:sp>
      <p:sp>
        <p:nvSpPr>
          <p:cNvPr id="10" name="Text Box 21"/>
          <p:cNvSpPr txBox="1">
            <a:spLocks noChangeArrowheads="1"/>
          </p:cNvSpPr>
          <p:nvPr/>
        </p:nvSpPr>
        <p:spPr bwMode="auto">
          <a:xfrm>
            <a:off x="791040" y="1641117"/>
            <a:ext cx="66479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2400" dirty="0">
                <a:ea typeface="宋体" charset="-122"/>
              </a:rPr>
              <a:t>One distribution have most probable arrangements, t</a:t>
            </a:r>
          </a:p>
        </p:txBody>
      </p:sp>
      <p:graphicFrame>
        <p:nvGraphicFramePr>
          <p:cNvPr id="11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4535714"/>
              </p:ext>
            </p:extLst>
          </p:nvPr>
        </p:nvGraphicFramePr>
        <p:xfrm>
          <a:off x="3617913" y="2281238"/>
          <a:ext cx="147637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72840" imgH="177480" progId="Equation.3">
                  <p:embed/>
                </p:oleObj>
              </mc:Choice>
              <mc:Fallback>
                <p:oleObj name="公式" r:id="rId2" imgW="67284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7913" y="2281238"/>
                        <a:ext cx="1476375" cy="398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3994746"/>
              </p:ext>
            </p:extLst>
          </p:nvPr>
        </p:nvGraphicFramePr>
        <p:xfrm>
          <a:off x="2891548" y="2976563"/>
          <a:ext cx="2716212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84200" imgH="177480" progId="Equation.3">
                  <p:embed/>
                </p:oleObj>
              </mc:Choice>
              <mc:Fallback>
                <p:oleObj name="Equation" r:id="rId4" imgW="138420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1548" y="2976563"/>
                        <a:ext cx="2716212" cy="354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26"/>
          <p:cNvSpPr txBox="1">
            <a:spLocks noChangeArrowheads="1"/>
          </p:cNvSpPr>
          <p:nvPr/>
        </p:nvSpPr>
        <p:spPr bwMode="auto">
          <a:xfrm>
            <a:off x="2962191" y="3786188"/>
            <a:ext cx="29402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1800" dirty="0">
                <a:ea typeface="宋体" charset="-122"/>
              </a:rPr>
              <a:t>N &lt;&lt; t, </a:t>
            </a:r>
            <a:r>
              <a:rPr lang="en-US" altLang="zh-CN" sz="1800" dirty="0" err="1">
                <a:ea typeface="宋体" charset="-122"/>
              </a:rPr>
              <a:t>lnN</a:t>
            </a:r>
            <a:r>
              <a:rPr lang="en-US" altLang="zh-CN" sz="1800" dirty="0">
                <a:ea typeface="宋体" charset="-122"/>
              </a:rPr>
              <a:t> &lt;&lt; </a:t>
            </a:r>
            <a:r>
              <a:rPr lang="en-US" altLang="zh-CN" sz="1800" dirty="0" err="1">
                <a:ea typeface="宋体" charset="-122"/>
              </a:rPr>
              <a:t>lnt</a:t>
            </a:r>
            <a:r>
              <a:rPr lang="en-US" altLang="zh-CN" sz="1800" dirty="0">
                <a:ea typeface="宋体" charset="-122"/>
              </a:rPr>
              <a:t>:  ln</a:t>
            </a:r>
            <a:r>
              <a:rPr lang="en-US" altLang="zh-CN" sz="1800" dirty="0">
                <a:ea typeface="宋体" charset="-122"/>
                <a:sym typeface="Symbol" pitchFamily="18" charset="2"/>
              </a:rPr>
              <a:t></a:t>
            </a:r>
            <a:r>
              <a:rPr lang="en-US" altLang="zh-CN" sz="1800" dirty="0">
                <a:ea typeface="宋体" charset="-122"/>
              </a:rPr>
              <a:t> </a:t>
            </a:r>
            <a:r>
              <a:rPr lang="en-US" altLang="zh-CN" sz="1800" dirty="0">
                <a:ea typeface="宋体" charset="-122"/>
                <a:sym typeface="Symbol"/>
              </a:rPr>
              <a:t> </a:t>
            </a:r>
            <a:r>
              <a:rPr lang="en-US" altLang="zh-CN" sz="1800" dirty="0" err="1">
                <a:ea typeface="宋体" charset="-122"/>
              </a:rPr>
              <a:t>lnt</a:t>
            </a:r>
            <a:endParaRPr lang="en-US" altLang="zh-CN" sz="1800" dirty="0">
              <a:ea typeface="宋体" charset="-122"/>
            </a:endParaRPr>
          </a:p>
        </p:txBody>
      </p:sp>
      <p:sp>
        <p:nvSpPr>
          <p:cNvPr id="14" name="Text Box 27"/>
          <p:cNvSpPr txBox="1">
            <a:spLocks noChangeArrowheads="1"/>
          </p:cNvSpPr>
          <p:nvPr/>
        </p:nvSpPr>
        <p:spPr bwMode="auto">
          <a:xfrm>
            <a:off x="1012233" y="5153025"/>
            <a:ext cx="701749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ea typeface="宋体" charset="-122"/>
              </a:rPr>
              <a:t>So, we can use the most probable distribution to </a:t>
            </a:r>
          </a:p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ea typeface="宋体" charset="-122"/>
              </a:rPr>
              <a:t>describe the system, and neglect other distribution.  </a:t>
            </a:r>
          </a:p>
        </p:txBody>
      </p:sp>
    </p:spTree>
    <p:extLst>
      <p:ext uri="{BB962C8B-B14F-4D97-AF65-F5344CB8AC3E}">
        <p14:creationId xmlns:p14="http://schemas.microsoft.com/office/powerpoint/2010/main" val="42108560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2595756" y="160338"/>
            <a:ext cx="4420341" cy="616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  <a:latin typeface="Arial" charset="0"/>
                <a:cs typeface="Arial" charset="0"/>
              </a:rPr>
              <a:t>Temperature Effect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9" name="image273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699" y="2457449"/>
            <a:ext cx="3825875" cy="2790825"/>
          </a:xfrm>
          <a:prstGeom prst="rect">
            <a:avLst/>
          </a:prstGeom>
        </p:spPr>
      </p:pic>
      <p:pic>
        <p:nvPicPr>
          <p:cNvPr id="40" name="image276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48248" y="2447924"/>
            <a:ext cx="3629025" cy="288607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93699" y="5381625"/>
            <a:ext cx="39211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Schematic  representation  of  the  most  probable distribution  of particles among the quantized energy levels.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24448" y="5400675"/>
            <a:ext cx="38719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Influence of temperature on the most probable distribution of particles among energy levels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2519672"/>
              </p:ext>
            </p:extLst>
          </p:nvPr>
        </p:nvGraphicFramePr>
        <p:xfrm>
          <a:off x="1038224" y="1177422"/>
          <a:ext cx="2632075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01440" imgH="393480" progId="Equation.DSMT4">
                  <p:embed/>
                </p:oleObj>
              </mc:Choice>
              <mc:Fallback>
                <p:oleObj name="Equation" r:id="rId5" imgW="9014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224" y="1177422"/>
                        <a:ext cx="2632075" cy="1150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87584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696480" y="176272"/>
            <a:ext cx="8199691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Internal energy 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increase with temperature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 </a:t>
            </a:r>
            <a:endParaRPr lang="en-US" sz="3200" dirty="0">
              <a:solidFill>
                <a:srgbClr val="FF0000"/>
              </a:solidFill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789708"/>
              </p:ext>
            </p:extLst>
          </p:nvPr>
        </p:nvGraphicFramePr>
        <p:xfrm>
          <a:off x="1456525" y="1888749"/>
          <a:ext cx="5373688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36900" imgH="228600" progId="Equation.3">
                  <p:embed/>
                </p:oleObj>
              </mc:Choice>
              <mc:Fallback>
                <p:oleObj name="Equation" r:id="rId2" imgW="31369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6525" y="1888749"/>
                        <a:ext cx="5373688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6786212"/>
              </p:ext>
            </p:extLst>
          </p:nvPr>
        </p:nvGraphicFramePr>
        <p:xfrm>
          <a:off x="5344837" y="4253682"/>
          <a:ext cx="2049463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30040" imgH="393480" progId="Equation.DSMT4">
                  <p:embed/>
                </p:oleObj>
              </mc:Choice>
              <mc:Fallback>
                <p:oleObj name="Equation" r:id="rId4" imgW="11300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4837" y="4253682"/>
                        <a:ext cx="2049463" cy="708025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20"/>
          <p:cNvSpPr txBox="1">
            <a:spLocks noChangeArrowheads="1"/>
          </p:cNvSpPr>
          <p:nvPr/>
        </p:nvSpPr>
        <p:spPr bwMode="auto">
          <a:xfrm>
            <a:off x="554393" y="5931665"/>
            <a:ext cx="80352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1800" dirty="0">
                <a:ea typeface="宋体" charset="-122"/>
              </a:rPr>
              <a:t>Higher temperature, higher energy levels become more populated, so the U increases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626457"/>
              </p:ext>
            </p:extLst>
          </p:nvPr>
        </p:nvGraphicFramePr>
        <p:xfrm>
          <a:off x="5877371" y="937342"/>
          <a:ext cx="2109958" cy="922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01440" imgH="393480" progId="Equation.DSMT4">
                  <p:embed/>
                </p:oleObj>
              </mc:Choice>
              <mc:Fallback>
                <p:oleObj name="Equation" r:id="rId6" imgW="9014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7371" y="937342"/>
                        <a:ext cx="2109958" cy="9226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0095902"/>
              </p:ext>
            </p:extLst>
          </p:nvPr>
        </p:nvGraphicFramePr>
        <p:xfrm>
          <a:off x="307975" y="2698750"/>
          <a:ext cx="4122738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77880" imgH="1828800" progId="Equation.DSMT4">
                  <p:embed/>
                </p:oleObj>
              </mc:Choice>
              <mc:Fallback>
                <p:oleObj name="Equation" r:id="rId8" imgW="3377880" imgH="1828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" y="2698750"/>
                        <a:ext cx="4122738" cy="222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7146821"/>
              </p:ext>
            </p:extLst>
          </p:nvPr>
        </p:nvGraphicFramePr>
        <p:xfrm>
          <a:off x="6024485" y="3570126"/>
          <a:ext cx="1962844" cy="482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00200" imgH="393480" progId="Equation.DSMT4">
                  <p:embed/>
                </p:oleObj>
              </mc:Choice>
              <mc:Fallback>
                <p:oleObj name="Equation" r:id="rId10" imgW="16002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024485" y="3570126"/>
                        <a:ext cx="1962844" cy="4829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25">
            <a:extLst>
              <a:ext uri="{FF2B5EF4-FFF2-40B4-BE49-F238E27FC236}">
                <a16:creationId xmlns:a16="http://schemas.microsoft.com/office/drawing/2014/main" id="{A608A068-CFAE-930C-1A14-83384410C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532" y="1088155"/>
            <a:ext cx="4836196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zh-CN" sz="2000" dirty="0">
                <a:ea typeface="宋体" charset="-122"/>
              </a:rPr>
              <a:t>set of </a:t>
            </a:r>
            <a:r>
              <a:rPr lang="en-US" altLang="zh-CN" sz="2000" dirty="0" err="1">
                <a:ea typeface="宋体" charset="-122"/>
              </a:rPr>
              <a:t>n</a:t>
            </a:r>
            <a:r>
              <a:rPr lang="en-US" altLang="zh-CN" sz="2000" baseline="-25000" dirty="0" err="1">
                <a:ea typeface="宋体" charset="-122"/>
              </a:rPr>
              <a:t>i</a:t>
            </a:r>
            <a:r>
              <a:rPr lang="en-US" altLang="zh-CN" sz="2000" baseline="-25000" dirty="0">
                <a:ea typeface="宋体" charset="-122"/>
              </a:rPr>
              <a:t> </a:t>
            </a:r>
            <a:r>
              <a:rPr lang="en-US" altLang="zh-CN" sz="2000" dirty="0">
                <a:ea typeface="宋体" charset="-122"/>
              </a:rPr>
              <a:t>maximizes </a:t>
            </a:r>
            <a:r>
              <a:rPr lang="en-US" altLang="zh-CN" sz="2000" dirty="0">
                <a:ea typeface="宋体" charset="-122"/>
                <a:sym typeface="Symbol" pitchFamily="18" charset="2"/>
              </a:rPr>
              <a:t></a:t>
            </a:r>
            <a:r>
              <a:rPr lang="en-US" altLang="zh-CN" sz="2000" baseline="-25000" dirty="0" err="1">
                <a:ea typeface="宋体" charset="-122"/>
                <a:sym typeface="Symbol" pitchFamily="18" charset="2"/>
              </a:rPr>
              <a:t>i</a:t>
            </a:r>
            <a:r>
              <a:rPr lang="en-US" altLang="zh-CN" sz="2000" dirty="0">
                <a:ea typeface="宋体" charset="-122"/>
                <a:sym typeface="Symbol" pitchFamily="18" charset="2"/>
              </a:rPr>
              <a:t> = n!/(n</a:t>
            </a:r>
            <a:r>
              <a:rPr lang="en-US" altLang="zh-CN" sz="2000" baseline="-25000" dirty="0">
                <a:ea typeface="宋体" charset="-122"/>
                <a:sym typeface="Symbol" pitchFamily="18" charset="2"/>
              </a:rPr>
              <a:t>1</a:t>
            </a:r>
            <a:r>
              <a:rPr lang="en-US" altLang="zh-CN" sz="2000" dirty="0">
                <a:ea typeface="宋体" charset="-122"/>
                <a:sym typeface="Symbol" pitchFamily="18" charset="2"/>
              </a:rPr>
              <a:t>!n</a:t>
            </a:r>
            <a:r>
              <a:rPr lang="en-US" altLang="zh-CN" sz="2000" baseline="-25000" dirty="0">
                <a:ea typeface="宋体" charset="-122"/>
                <a:sym typeface="Symbol" pitchFamily="18" charset="2"/>
              </a:rPr>
              <a:t>2</a:t>
            </a:r>
            <a:r>
              <a:rPr lang="en-US" altLang="zh-CN" sz="2000" dirty="0">
                <a:ea typeface="宋体" charset="-122"/>
                <a:sym typeface="Symbol" pitchFamily="18" charset="2"/>
              </a:rPr>
              <a:t>!..n</a:t>
            </a:r>
            <a:r>
              <a:rPr lang="en-US" altLang="zh-CN" sz="2000" baseline="-25000" dirty="0">
                <a:ea typeface="宋体" charset="-122"/>
                <a:sym typeface="Symbol" pitchFamily="18" charset="2"/>
              </a:rPr>
              <a:t>i</a:t>
            </a:r>
            <a:r>
              <a:rPr lang="en-US" altLang="zh-CN" sz="2000" dirty="0">
                <a:ea typeface="宋体" charset="-122"/>
                <a:sym typeface="Symbol" pitchFamily="18" charset="2"/>
              </a:rPr>
              <a:t>!) </a:t>
            </a:r>
          </a:p>
          <a:p>
            <a:pPr algn="ctr" eaLnBrk="1" hangingPunct="1"/>
            <a:r>
              <a:rPr lang="en-US" altLang="zh-CN" sz="2000" dirty="0">
                <a:ea typeface="宋体" charset="-122"/>
                <a:sym typeface="Symbol" pitchFamily="18" charset="2"/>
              </a:rPr>
              <a:t>as the </a:t>
            </a:r>
            <a:r>
              <a:rPr lang="en-US" altLang="zh-CN" sz="2000" dirty="0" err="1">
                <a:ea typeface="宋体" charset="-122"/>
                <a:sym typeface="Symbol" pitchFamily="18" charset="2"/>
              </a:rPr>
              <a:t>n</a:t>
            </a:r>
            <a:r>
              <a:rPr lang="en-US" altLang="zh-CN" sz="2000" i="1" baseline="-25000" dirty="0" err="1">
                <a:ea typeface="宋体" charset="-122"/>
                <a:sym typeface="Symbol" pitchFamily="18" charset="2"/>
              </a:rPr>
              <a:t>i</a:t>
            </a:r>
            <a:r>
              <a:rPr lang="zh-CN" altLang="en-US" sz="2000" baseline="-25000" dirty="0">
                <a:ea typeface="宋体" charset="-122"/>
                <a:sym typeface="Symbol" pitchFamily="18" charset="2"/>
              </a:rPr>
              <a:t> </a:t>
            </a:r>
            <a:r>
              <a:rPr lang="en-US" altLang="zh-CN" sz="2000" dirty="0">
                <a:ea typeface="宋体" charset="-122"/>
                <a:sym typeface="Symbol" pitchFamily="18" charset="2"/>
              </a:rPr>
              <a:t>follow</a:t>
            </a:r>
            <a:r>
              <a:rPr lang="zh-CN" altLang="en-US" sz="2000" dirty="0">
                <a:ea typeface="宋体" charset="-122"/>
                <a:sym typeface="Symbol" pitchFamily="18" charset="2"/>
              </a:rPr>
              <a:t> </a:t>
            </a:r>
            <a:r>
              <a:rPr lang="en-US" altLang="zh-CN" sz="2000" dirty="0">
                <a:ea typeface="宋体" charset="-122"/>
                <a:sym typeface="Symbol" pitchFamily="18" charset="2"/>
              </a:rPr>
              <a:t>the Boltzmann temperature</a:t>
            </a:r>
            <a:endParaRPr lang="en-US" altLang="zh-CN" sz="2000" dirty="0">
              <a:ea typeface="宋体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9F97EF8-50BB-73D3-A50A-9A5E519088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9330157"/>
              </p:ext>
            </p:extLst>
          </p:nvPr>
        </p:nvGraphicFramePr>
        <p:xfrm>
          <a:off x="5325622" y="2895218"/>
          <a:ext cx="315296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17360" imgH="431640" progId="Equation.DSMT4">
                  <p:embed/>
                </p:oleObj>
              </mc:Choice>
              <mc:Fallback>
                <p:oleObj name="Equation" r:id="rId12" imgW="1917360" imgH="4316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5622" y="2895218"/>
                        <a:ext cx="3152960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840881B-E935-F47E-6D69-3BE52A47CD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7497544"/>
              </p:ext>
            </p:extLst>
          </p:nvPr>
        </p:nvGraphicFramePr>
        <p:xfrm>
          <a:off x="5214503" y="5094419"/>
          <a:ext cx="179705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90360" imgH="393480" progId="Equation.DSMT4">
                  <p:embed/>
                </p:oleObj>
              </mc:Choice>
              <mc:Fallback>
                <p:oleObj name="Equation" r:id="rId14" imgW="990360" imgH="39348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4503" y="5094419"/>
                        <a:ext cx="1797050" cy="708025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n w="1905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45770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287006" y="7937"/>
            <a:ext cx="7178676" cy="996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Boltzmann Equation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307975" y="1624704"/>
            <a:ext cx="83324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1800" dirty="0">
                <a:ea typeface="宋体" charset="-122"/>
              </a:rPr>
              <a:t>The system of </a:t>
            </a:r>
            <a:r>
              <a:rPr lang="en-US" altLang="zh-CN" sz="1800" b="1" i="1" dirty="0">
                <a:solidFill>
                  <a:srgbClr val="FF0000"/>
                </a:solidFill>
                <a:ea typeface="宋体" charset="-122"/>
              </a:rPr>
              <a:t>n</a:t>
            </a:r>
            <a:r>
              <a:rPr lang="en-US" altLang="zh-CN" sz="1800" dirty="0">
                <a:ea typeface="宋体" charset="-122"/>
              </a:rPr>
              <a:t> particles and heat bath with fixed </a:t>
            </a:r>
            <a:r>
              <a:rPr lang="en-US" altLang="zh-CN" sz="1800" b="1" i="1" dirty="0">
                <a:solidFill>
                  <a:srgbClr val="FF0000"/>
                </a:solidFill>
                <a:ea typeface="宋体" charset="-122"/>
              </a:rPr>
              <a:t>U</a:t>
            </a:r>
            <a:r>
              <a:rPr lang="en-US" altLang="zh-CN" sz="1800" dirty="0">
                <a:ea typeface="宋体" charset="-122"/>
              </a:rPr>
              <a:t>, </a:t>
            </a:r>
            <a:r>
              <a:rPr lang="en-US" altLang="zh-CN" sz="1800" b="1" i="1" dirty="0">
                <a:solidFill>
                  <a:srgbClr val="FF0000"/>
                </a:solidFill>
                <a:ea typeface="宋体" charset="-122"/>
              </a:rPr>
              <a:t>V </a:t>
            </a:r>
            <a:r>
              <a:rPr lang="en-US" altLang="zh-CN" sz="1800" dirty="0">
                <a:ea typeface="宋体" charset="-122"/>
              </a:rPr>
              <a:t>and </a:t>
            </a:r>
            <a:r>
              <a:rPr lang="en-US" altLang="zh-CN" sz="1800" b="1" i="1" dirty="0">
                <a:solidFill>
                  <a:srgbClr val="FF0000"/>
                </a:solidFill>
                <a:ea typeface="宋体" charset="-122"/>
              </a:rPr>
              <a:t>n </a:t>
            </a:r>
            <a:r>
              <a:rPr lang="en-US" altLang="zh-CN" sz="1800" dirty="0">
                <a:ea typeface="宋体" charset="-122"/>
              </a:rPr>
              <a:t>are in thermal equilibrium</a:t>
            </a:r>
          </a:p>
        </p:txBody>
      </p: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524318" y="3021704"/>
            <a:ext cx="65053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1800" dirty="0">
                <a:ea typeface="宋体" charset="-122"/>
              </a:rPr>
              <a:t>Now let small amount of heat flow to the system, the </a:t>
            </a:r>
            <a:r>
              <a:rPr lang="en-US" altLang="zh-CN" sz="1800" dirty="0">
                <a:ea typeface="宋体" charset="-122"/>
                <a:sym typeface="Symbol" pitchFamily="18" charset="2"/>
              </a:rPr>
              <a:t> will change:</a:t>
            </a:r>
            <a:endParaRPr lang="en-US" altLang="zh-CN" sz="1800" dirty="0">
              <a:ea typeface="宋体" charset="-122"/>
            </a:endParaRP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971550" y="4350442"/>
            <a:ext cx="26404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1800" dirty="0">
                <a:ea typeface="宋体" charset="-122"/>
                <a:sym typeface="Symbol" pitchFamily="18" charset="2"/>
              </a:rPr>
              <a:t>q = </a:t>
            </a:r>
            <a:r>
              <a:rPr lang="en-US" altLang="zh-CN" sz="1800" dirty="0" err="1">
                <a:ea typeface="宋体" charset="-122"/>
                <a:sym typeface="Symbol" pitchFamily="18" charset="2"/>
              </a:rPr>
              <a:t>dU</a:t>
            </a:r>
            <a:r>
              <a:rPr lang="en-US" altLang="zh-CN" sz="1800" dirty="0">
                <a:ea typeface="宋体" charset="-122"/>
                <a:sym typeface="Symbol" pitchFamily="18" charset="2"/>
              </a:rPr>
              <a:t>, constant volume:</a:t>
            </a:r>
            <a:endParaRPr lang="en-US" altLang="zh-CN" sz="1800" dirty="0">
              <a:ea typeface="宋体" charset="-122"/>
            </a:endParaRPr>
          </a:p>
        </p:txBody>
      </p:sp>
      <p:sp>
        <p:nvSpPr>
          <p:cNvPr id="20" name="Text Box 28"/>
          <p:cNvSpPr txBox="1">
            <a:spLocks noChangeArrowheads="1"/>
          </p:cNvSpPr>
          <p:nvPr/>
        </p:nvSpPr>
        <p:spPr bwMode="auto">
          <a:xfrm>
            <a:off x="4980366" y="4383224"/>
            <a:ext cx="996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dirty="0" err="1">
                <a:ea typeface="宋体" charset="-122"/>
              </a:rPr>
              <a:t>dS</a:t>
            </a:r>
            <a:r>
              <a:rPr lang="en-US" altLang="zh-CN" dirty="0">
                <a:ea typeface="宋体" charset="-122"/>
              </a:rPr>
              <a:t> = </a:t>
            </a:r>
            <a:r>
              <a:rPr lang="en-US" altLang="zh-CN" dirty="0">
                <a:ea typeface="宋体" charset="-122"/>
                <a:sym typeface="Symbol" pitchFamily="18" charset="2"/>
              </a:rPr>
              <a:t>q/T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21" name="Freeform 31"/>
          <p:cNvSpPr>
            <a:spLocks/>
          </p:cNvSpPr>
          <p:nvPr/>
        </p:nvSpPr>
        <p:spPr bwMode="auto">
          <a:xfrm>
            <a:off x="2224131" y="5094554"/>
            <a:ext cx="1143000" cy="558800"/>
          </a:xfrm>
          <a:custGeom>
            <a:avLst/>
            <a:gdLst>
              <a:gd name="T0" fmla="*/ 0 w 720"/>
              <a:gd name="T1" fmla="*/ 16 h 352"/>
              <a:gd name="T2" fmla="*/ 288 w 720"/>
              <a:gd name="T3" fmla="*/ 256 h 352"/>
              <a:gd name="T4" fmla="*/ 288 w 720"/>
              <a:gd name="T5" fmla="*/ 16 h 352"/>
              <a:gd name="T6" fmla="*/ 720 w 720"/>
              <a:gd name="T7" fmla="*/ 352 h 352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352"/>
              <a:gd name="T14" fmla="*/ 720 w 720"/>
              <a:gd name="T15" fmla="*/ 352 h 3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352">
                <a:moveTo>
                  <a:pt x="0" y="16"/>
                </a:moveTo>
                <a:cubicBezTo>
                  <a:pt x="120" y="136"/>
                  <a:pt x="240" y="256"/>
                  <a:pt x="288" y="256"/>
                </a:cubicBezTo>
                <a:cubicBezTo>
                  <a:pt x="336" y="256"/>
                  <a:pt x="216" y="0"/>
                  <a:pt x="288" y="16"/>
                </a:cubicBezTo>
                <a:cubicBezTo>
                  <a:pt x="360" y="32"/>
                  <a:pt x="540" y="192"/>
                  <a:pt x="720" y="35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2" name="Text Box 30"/>
          <p:cNvSpPr txBox="1">
            <a:spLocks noChangeArrowheads="1"/>
          </p:cNvSpPr>
          <p:nvPr/>
        </p:nvSpPr>
        <p:spPr bwMode="auto">
          <a:xfrm>
            <a:off x="1041400" y="4977033"/>
            <a:ext cx="1244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1800" dirty="0">
                <a:ea typeface="宋体" charset="-122"/>
              </a:rPr>
              <a:t>Boltzmann </a:t>
            </a:r>
          </a:p>
          <a:p>
            <a:pPr eaLnBrk="1" hangingPunct="1"/>
            <a:r>
              <a:rPr lang="en-US" altLang="zh-CN" sz="1800" dirty="0">
                <a:ea typeface="宋体" charset="-122"/>
              </a:rPr>
              <a:t>equation</a:t>
            </a:r>
          </a:p>
        </p:txBody>
      </p:sp>
      <p:pic>
        <p:nvPicPr>
          <p:cNvPr id="23" name="image282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0" y="2103534"/>
            <a:ext cx="4953000" cy="91817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530238" y="5928678"/>
            <a:ext cx="1137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Entropy: S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505200" y="6233772"/>
            <a:ext cx="2742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Number of arrangement: </a:t>
            </a:r>
            <a:r>
              <a:rPr lang="el-GR" altLang="zh-CN" dirty="0">
                <a:latin typeface="Times New Roman"/>
                <a:cs typeface="Times New Roman"/>
              </a:rPr>
              <a:t>Ω</a:t>
            </a:r>
            <a:endParaRPr lang="zh-CN" alt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5860608"/>
              </p:ext>
            </p:extLst>
          </p:nvPr>
        </p:nvGraphicFramePr>
        <p:xfrm>
          <a:off x="3899268" y="3439292"/>
          <a:ext cx="1149821" cy="601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25480" imgH="431640" progId="Equation.DSMT4">
                  <p:embed/>
                </p:oleObj>
              </mc:Choice>
              <mc:Fallback>
                <p:oleObj name="Equation" r:id="rId4" imgW="8254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99268" y="3439292"/>
                        <a:ext cx="1149821" cy="6014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1914708"/>
              </p:ext>
            </p:extLst>
          </p:nvPr>
        </p:nvGraphicFramePr>
        <p:xfrm>
          <a:off x="3657600" y="4250668"/>
          <a:ext cx="1150938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25480" imgH="431640" progId="Equation.DSMT4">
                  <p:embed/>
                </p:oleObj>
              </mc:Choice>
              <mc:Fallback>
                <p:oleObj name="Equation" r:id="rId6" imgW="825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250668"/>
                        <a:ext cx="1150938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8648787"/>
              </p:ext>
            </p:extLst>
          </p:nvPr>
        </p:nvGraphicFramePr>
        <p:xfrm>
          <a:off x="3672166" y="5124317"/>
          <a:ext cx="1222375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76240" imgH="457200" progId="Equation.DSMT4">
                  <p:embed/>
                </p:oleObj>
              </mc:Choice>
              <mc:Fallback>
                <p:oleObj name="Equation" r:id="rId8" imgW="8762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2166" y="5124317"/>
                        <a:ext cx="1222375" cy="636587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389" name="Picture 77" descr="Image result for Boltzmann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429" y="3391036"/>
            <a:ext cx="1995986" cy="265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/>
          <p:cNvSpPr txBox="1"/>
          <p:nvPr/>
        </p:nvSpPr>
        <p:spPr>
          <a:xfrm>
            <a:off x="7449032" y="6368542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1844-1906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7017433" y="5992073"/>
            <a:ext cx="19127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Ludwig Boltzmann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21847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270696" y="-26823"/>
            <a:ext cx="7178676" cy="954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Config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u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rational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 Entropy 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396238"/>
            <a:ext cx="1303361" cy="2151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3" name="Text Box 41"/>
          <p:cNvSpPr txBox="1">
            <a:spLocks noChangeArrowheads="1"/>
          </p:cNvSpPr>
          <p:nvPr/>
        </p:nvSpPr>
        <p:spPr bwMode="auto">
          <a:xfrm>
            <a:off x="2462952" y="2527953"/>
            <a:ext cx="83869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dirty="0">
                <a:ea typeface="宋体" charset="-122"/>
                <a:sym typeface="Symbol" pitchFamily="18" charset="2"/>
              </a:rPr>
              <a:t></a:t>
            </a:r>
            <a:r>
              <a:rPr lang="en-US" altLang="zh-CN" baseline="-25000" dirty="0">
                <a:ea typeface="宋体" charset="-122"/>
                <a:sym typeface="Symbol" pitchFamily="18" charset="2"/>
              </a:rPr>
              <a:t>4:0</a:t>
            </a:r>
            <a:r>
              <a:rPr lang="en-US" altLang="zh-CN" dirty="0">
                <a:ea typeface="宋体" charset="-122"/>
                <a:sym typeface="Symbol" pitchFamily="18" charset="2"/>
              </a:rPr>
              <a:t> = 1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64" name="Text Box 54"/>
          <p:cNvSpPr txBox="1">
            <a:spLocks noChangeArrowheads="1"/>
          </p:cNvSpPr>
          <p:nvPr/>
        </p:nvSpPr>
        <p:spPr bwMode="auto">
          <a:xfrm>
            <a:off x="2462952" y="4081046"/>
            <a:ext cx="941283" cy="338554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dirty="0">
                <a:ea typeface="宋体" charset="-122"/>
                <a:sym typeface="Symbol" pitchFamily="18" charset="2"/>
              </a:rPr>
              <a:t></a:t>
            </a:r>
            <a:r>
              <a:rPr lang="en-US" altLang="zh-CN" baseline="-25000" dirty="0">
                <a:ea typeface="宋体" charset="-122"/>
                <a:sym typeface="Symbol" pitchFamily="18" charset="2"/>
              </a:rPr>
              <a:t>2:2</a:t>
            </a:r>
            <a:r>
              <a:rPr lang="en-US" altLang="zh-CN" dirty="0">
                <a:ea typeface="宋体" charset="-122"/>
                <a:sym typeface="Symbol" pitchFamily="18" charset="2"/>
              </a:rPr>
              <a:t> = 36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65" name="Text Box 65"/>
          <p:cNvSpPr txBox="1">
            <a:spLocks noChangeArrowheads="1"/>
          </p:cNvSpPr>
          <p:nvPr/>
        </p:nvSpPr>
        <p:spPr bwMode="auto">
          <a:xfrm>
            <a:off x="2438400" y="3221690"/>
            <a:ext cx="94128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dirty="0">
                <a:ea typeface="宋体" charset="-122"/>
                <a:sym typeface="Symbol" pitchFamily="18" charset="2"/>
              </a:rPr>
              <a:t></a:t>
            </a:r>
            <a:r>
              <a:rPr lang="en-US" altLang="zh-CN" baseline="-25000" dirty="0">
                <a:ea typeface="宋体" charset="-122"/>
                <a:sym typeface="Symbol" pitchFamily="18" charset="2"/>
              </a:rPr>
              <a:t>1:3</a:t>
            </a:r>
            <a:r>
              <a:rPr lang="en-US" altLang="zh-CN" dirty="0">
                <a:ea typeface="宋体" charset="-122"/>
                <a:sym typeface="Symbol" pitchFamily="18" charset="2"/>
              </a:rPr>
              <a:t> = 16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66" name="Text Box 41"/>
          <p:cNvSpPr txBox="1">
            <a:spLocks noChangeArrowheads="1"/>
          </p:cNvSpPr>
          <p:nvPr/>
        </p:nvSpPr>
        <p:spPr bwMode="auto">
          <a:xfrm>
            <a:off x="2457401" y="5605046"/>
            <a:ext cx="97654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dirty="0">
                <a:ea typeface="宋体" charset="-122"/>
                <a:sym typeface="Symbol" pitchFamily="18" charset="2"/>
              </a:rPr>
              <a:t>(</a:t>
            </a:r>
            <a:r>
              <a:rPr lang="en-US" altLang="zh-CN" baseline="-25000" dirty="0">
                <a:ea typeface="宋体" charset="-122"/>
                <a:sym typeface="Symbol" pitchFamily="18" charset="2"/>
              </a:rPr>
              <a:t>0:4</a:t>
            </a:r>
            <a:r>
              <a:rPr lang="en-US" altLang="zh-CN" dirty="0">
                <a:ea typeface="宋体" charset="-122"/>
                <a:sym typeface="Symbol" pitchFamily="18" charset="2"/>
              </a:rPr>
              <a:t> = 1)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68" name="Text Box 65"/>
          <p:cNvSpPr txBox="1">
            <a:spLocks noChangeArrowheads="1"/>
          </p:cNvSpPr>
          <p:nvPr/>
        </p:nvSpPr>
        <p:spPr bwMode="auto">
          <a:xfrm>
            <a:off x="2411655" y="4995446"/>
            <a:ext cx="107914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dirty="0">
                <a:ea typeface="宋体" charset="-122"/>
                <a:sym typeface="Symbol" pitchFamily="18" charset="2"/>
              </a:rPr>
              <a:t>(</a:t>
            </a:r>
            <a:r>
              <a:rPr lang="en-US" altLang="zh-CN" baseline="-25000" dirty="0">
                <a:ea typeface="宋体" charset="-122"/>
                <a:sym typeface="Symbol" pitchFamily="18" charset="2"/>
              </a:rPr>
              <a:t>3:1</a:t>
            </a:r>
            <a:r>
              <a:rPr lang="en-US" altLang="zh-CN" dirty="0">
                <a:ea typeface="宋体" charset="-122"/>
                <a:sym typeface="Symbol" pitchFamily="18" charset="2"/>
              </a:rPr>
              <a:t> = 16)</a:t>
            </a:r>
            <a:endParaRPr lang="en-US" altLang="zh-CN" dirty="0">
              <a:ea typeface="宋体" charset="-122"/>
            </a:endParaRPr>
          </a:p>
        </p:txBody>
      </p:sp>
      <p:pic>
        <p:nvPicPr>
          <p:cNvPr id="69" name="image300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7704" y="3588650"/>
            <a:ext cx="2671763" cy="427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8630" y="1905000"/>
            <a:ext cx="2074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</a:rPr>
              <a:t>Two crystal contact 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1530185"/>
              </p:ext>
            </p:extLst>
          </p:nvPr>
        </p:nvGraphicFramePr>
        <p:xfrm>
          <a:off x="3505200" y="2426732"/>
          <a:ext cx="2286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0" imgH="431640" progId="Equation.DSMT4">
                  <p:embed/>
                </p:oleObj>
              </mc:Choice>
              <mc:Fallback>
                <p:oleObj name="Equation" r:id="rId4" imgW="22860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05200" y="2426732"/>
                        <a:ext cx="22860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0825259"/>
              </p:ext>
            </p:extLst>
          </p:nvPr>
        </p:nvGraphicFramePr>
        <p:xfrm>
          <a:off x="3505200" y="3175067"/>
          <a:ext cx="2032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31840" imgH="431640" progId="Equation.DSMT4">
                  <p:embed/>
                </p:oleObj>
              </mc:Choice>
              <mc:Fallback>
                <p:oleObj name="Equation" r:id="rId6" imgW="20318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175067"/>
                        <a:ext cx="2032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794108"/>
              </p:ext>
            </p:extLst>
          </p:nvPr>
        </p:nvGraphicFramePr>
        <p:xfrm>
          <a:off x="3519488" y="3976132"/>
          <a:ext cx="1651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50960" imgH="431640" progId="Equation.DSMT4">
                  <p:embed/>
                </p:oleObj>
              </mc:Choice>
              <mc:Fallback>
                <p:oleObj name="Equation" r:id="rId8" imgW="1650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9488" y="3976132"/>
                        <a:ext cx="1651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右大括号 1"/>
          <p:cNvSpPr/>
          <p:nvPr/>
        </p:nvSpPr>
        <p:spPr>
          <a:xfrm>
            <a:off x="5943600" y="2620660"/>
            <a:ext cx="304800" cy="3064613"/>
          </a:xfrm>
          <a:prstGeom prst="rightBrace">
            <a:avLst>
              <a:gd name="adj1" fmla="val 82214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153"/>
          <a:stretch/>
        </p:blipFill>
        <p:spPr bwMode="auto">
          <a:xfrm flipV="1">
            <a:off x="914398" y="4724400"/>
            <a:ext cx="1303361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73312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904875" y="9496"/>
            <a:ext cx="7178676" cy="1038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Config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u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rational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 Entropy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676400" y="1524000"/>
            <a:ext cx="571650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1800" dirty="0">
                <a:ea typeface="宋体" charset="-122"/>
              </a:rPr>
              <a:t>A + B (unmixed)  </a:t>
            </a:r>
            <a:r>
              <a:rPr lang="en-US" altLang="zh-CN" sz="1800" dirty="0">
                <a:ea typeface="宋体" charset="-122"/>
                <a:sym typeface="Symbol" pitchFamily="18" charset="2"/>
              </a:rPr>
              <a:t> A + B (mixed) at </a:t>
            </a:r>
            <a:r>
              <a:rPr lang="en-US" altLang="zh-CN" sz="1800" b="1" i="1" dirty="0">
                <a:ea typeface="宋体" charset="-122"/>
                <a:sym typeface="Symbol" pitchFamily="18" charset="2"/>
              </a:rPr>
              <a:t>constant U, V and n</a:t>
            </a:r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2071688" y="1960562"/>
            <a:ext cx="2422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dirty="0">
                <a:ea typeface="宋体" charset="-122"/>
              </a:rPr>
              <a:t>(state 1)	             (state 2)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4948494"/>
              </p:ext>
            </p:extLst>
          </p:nvPr>
        </p:nvGraphicFramePr>
        <p:xfrm>
          <a:off x="1919287" y="2530475"/>
          <a:ext cx="990933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47419" imgH="177723" progId="Equation.3">
                  <p:embed/>
                </p:oleObj>
              </mc:Choice>
              <mc:Fallback>
                <p:oleObj name="Equation" r:id="rId2" imgW="647419" imgH="1777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7" y="2530475"/>
                        <a:ext cx="990933" cy="271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7598565"/>
              </p:ext>
            </p:extLst>
          </p:nvPr>
        </p:nvGraphicFramePr>
        <p:xfrm>
          <a:off x="3282950" y="2489200"/>
          <a:ext cx="299138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92300" imgH="215900" progId="Equation.3">
                  <p:embed/>
                </p:oleObj>
              </mc:Choice>
              <mc:Fallback>
                <p:oleObj name="Equation" r:id="rId4" imgW="18923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2950" y="2489200"/>
                        <a:ext cx="2991385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1913731" y="3148013"/>
            <a:ext cx="1106488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dirty="0">
                <a:ea typeface="宋体" charset="-122"/>
              </a:rPr>
              <a:t>Total mix</a:t>
            </a:r>
          </a:p>
          <a:p>
            <a:pPr eaLnBrk="1" hangingPunct="1"/>
            <a:endParaRPr lang="en-US" altLang="zh-CN" dirty="0">
              <a:ea typeface="宋体" charset="-122"/>
            </a:endParaRPr>
          </a:p>
          <a:p>
            <a:pPr eaLnBrk="1" hangingPunct="1"/>
            <a:r>
              <a:rPr lang="en-US" altLang="zh-CN" dirty="0">
                <a:ea typeface="宋体" charset="-122"/>
              </a:rPr>
              <a:t>Before mix</a:t>
            </a:r>
          </a:p>
        </p:txBody>
      </p:sp>
      <p:graphicFrame>
        <p:nvGraphicFramePr>
          <p:cNvPr id="2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9567186"/>
              </p:ext>
            </p:extLst>
          </p:nvPr>
        </p:nvGraphicFramePr>
        <p:xfrm>
          <a:off x="3380581" y="3073400"/>
          <a:ext cx="222726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39880" imgH="431640" progId="Equation.3">
                  <p:embed/>
                </p:oleObj>
              </mc:Choice>
              <mc:Fallback>
                <p:oleObj name="Equation" r:id="rId6" imgW="17398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0581" y="3073400"/>
                        <a:ext cx="2227263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4003157"/>
              </p:ext>
            </p:extLst>
          </p:nvPr>
        </p:nvGraphicFramePr>
        <p:xfrm>
          <a:off x="3541712" y="3697288"/>
          <a:ext cx="1236663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65160" imgH="215640" progId="Equation.3">
                  <p:embed/>
                </p:oleObj>
              </mc:Choice>
              <mc:Fallback>
                <p:oleObj name="Equation" r:id="rId8" imgW="965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1712" y="3697288"/>
                        <a:ext cx="1236663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3793752"/>
              </p:ext>
            </p:extLst>
          </p:nvPr>
        </p:nvGraphicFramePr>
        <p:xfrm>
          <a:off x="3281151" y="4213225"/>
          <a:ext cx="1787948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93800" imgH="431800" progId="Equation.3">
                  <p:embed/>
                </p:oleObj>
              </mc:Choice>
              <mc:Fallback>
                <p:oleObj name="Equation" r:id="rId10" imgW="11938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1151" y="4213225"/>
                        <a:ext cx="1787948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9000943"/>
              </p:ext>
            </p:extLst>
          </p:nvPr>
        </p:nvGraphicFramePr>
        <p:xfrm>
          <a:off x="2057400" y="5113738"/>
          <a:ext cx="5462502" cy="40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225800" imgH="241300" progId="Equation.3">
                  <p:embed/>
                </p:oleObj>
              </mc:Choice>
              <mc:Fallback>
                <p:oleObj name="Equation" r:id="rId12" imgW="32258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113738"/>
                        <a:ext cx="5462502" cy="40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988680"/>
              </p:ext>
            </p:extLst>
          </p:nvPr>
        </p:nvGraphicFramePr>
        <p:xfrm>
          <a:off x="1981200" y="5638800"/>
          <a:ext cx="5604647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822700" imgH="469900" progId="Equation.3">
                  <p:embed/>
                </p:oleObj>
              </mc:Choice>
              <mc:Fallback>
                <p:oleObj name="Equation" r:id="rId14" imgW="38227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5638800"/>
                        <a:ext cx="5604647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75242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050923" y="-29844"/>
            <a:ext cx="6409556" cy="589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Config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u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rational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and thermal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 Entropy  </a:t>
            </a:r>
            <a:endParaRPr lang="en-US" sz="2800" dirty="0">
              <a:solidFill>
                <a:srgbClr val="FF0000"/>
              </a:solidFill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476269" y="3647899"/>
          <a:ext cx="1787948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3800" imgH="431800" progId="Equation.3">
                  <p:embed/>
                </p:oleObj>
              </mc:Choice>
              <mc:Fallback>
                <p:oleObj name="Equation" r:id="rId2" imgW="1193800" imgH="431800" progId="Equation.3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269" y="3647899"/>
                        <a:ext cx="1787948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729366" y="2087223"/>
          <a:ext cx="5462502" cy="40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25800" imgH="241300" progId="Equation.3">
                  <p:embed/>
                </p:oleObj>
              </mc:Choice>
              <mc:Fallback>
                <p:oleObj name="Equation" r:id="rId4" imgW="3225800" imgH="241300" progId="Equation.3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9366" y="2087223"/>
                        <a:ext cx="5462502" cy="40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任意多边形 8"/>
          <p:cNvSpPr/>
          <p:nvPr/>
        </p:nvSpPr>
        <p:spPr>
          <a:xfrm>
            <a:off x="1829171" y="2507510"/>
            <a:ext cx="834887" cy="371061"/>
          </a:xfrm>
          <a:custGeom>
            <a:avLst/>
            <a:gdLst>
              <a:gd name="connsiteX0" fmla="*/ 834887 w 834887"/>
              <a:gd name="connsiteY0" fmla="*/ 0 h 371061"/>
              <a:gd name="connsiteX1" fmla="*/ 728870 w 834887"/>
              <a:gd name="connsiteY1" fmla="*/ 304800 h 371061"/>
              <a:gd name="connsiteX2" fmla="*/ 0 w 834887"/>
              <a:gd name="connsiteY2" fmla="*/ 371061 h 37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4887" h="371061">
                <a:moveTo>
                  <a:pt x="834887" y="0"/>
                </a:moveTo>
                <a:lnTo>
                  <a:pt x="728870" y="304800"/>
                </a:lnTo>
                <a:lnTo>
                  <a:pt x="0" y="371061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 15"/>
          <p:cNvSpPr/>
          <p:nvPr/>
        </p:nvSpPr>
        <p:spPr>
          <a:xfrm flipH="1">
            <a:off x="3213678" y="2491003"/>
            <a:ext cx="735496" cy="371061"/>
          </a:xfrm>
          <a:custGeom>
            <a:avLst/>
            <a:gdLst>
              <a:gd name="connsiteX0" fmla="*/ 834887 w 834887"/>
              <a:gd name="connsiteY0" fmla="*/ 0 h 371061"/>
              <a:gd name="connsiteX1" fmla="*/ 728870 w 834887"/>
              <a:gd name="connsiteY1" fmla="*/ 304800 h 371061"/>
              <a:gd name="connsiteX2" fmla="*/ 0 w 834887"/>
              <a:gd name="connsiteY2" fmla="*/ 371061 h 37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4887" h="371061">
                <a:moveTo>
                  <a:pt x="834887" y="0"/>
                </a:moveTo>
                <a:lnTo>
                  <a:pt x="728870" y="304800"/>
                </a:lnTo>
                <a:lnTo>
                  <a:pt x="0" y="371061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32619" y="2914933"/>
            <a:ext cx="2159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Thermal entropy </a:t>
            </a:r>
          </a:p>
          <a:p>
            <a:r>
              <a:rPr lang="en-US" altLang="zh-CN" dirty="0"/>
              <a:t>or vibration entropy</a:t>
            </a:r>
            <a:endParaRPr lang="zh-CN" altLang="en-US" dirty="0"/>
          </a:p>
        </p:txBody>
      </p:sp>
      <p:sp>
        <p:nvSpPr>
          <p:cNvPr id="17" name="Title 1"/>
          <p:cNvSpPr txBox="1">
            <a:spLocks/>
          </p:cNvSpPr>
          <p:nvPr/>
        </p:nvSpPr>
        <p:spPr bwMode="auto">
          <a:xfrm>
            <a:off x="3569124" y="2933814"/>
            <a:ext cx="2882693" cy="589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1800" dirty="0" err="1">
                <a:solidFill>
                  <a:srgbClr val="FF0000"/>
                </a:solidFill>
                <a:latin typeface="Arial" charset="0"/>
                <a:cs typeface="Arial" charset="0"/>
              </a:rPr>
              <a:t>Config</a:t>
            </a:r>
            <a:r>
              <a:rPr lang="en-US" altLang="zh-CN" sz="1800" dirty="0" err="1">
                <a:solidFill>
                  <a:srgbClr val="FF0000"/>
                </a:solidFill>
                <a:latin typeface="Arial" charset="0"/>
                <a:cs typeface="Arial" charset="0"/>
              </a:rPr>
              <a:t>u</a:t>
            </a:r>
            <a:r>
              <a:rPr lang="en-US" sz="1800" dirty="0" err="1">
                <a:solidFill>
                  <a:srgbClr val="FF0000"/>
                </a:solidFill>
                <a:latin typeface="Arial" charset="0"/>
                <a:cs typeface="Arial" charset="0"/>
              </a:rPr>
              <a:t>rational</a:t>
            </a:r>
            <a:r>
              <a:rPr lang="en-US" sz="1800" dirty="0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</a:p>
          <a:p>
            <a:r>
              <a:rPr lang="en-US" sz="1800" dirty="0">
                <a:solidFill>
                  <a:srgbClr val="FF0000"/>
                </a:solidFill>
                <a:latin typeface="Arial" charset="0"/>
                <a:cs typeface="Arial" charset="0"/>
              </a:rPr>
              <a:t>Entropy 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84EC7A7-5265-4FFA-99A9-330B1C0276BE}"/>
              </a:ext>
            </a:extLst>
          </p:cNvPr>
          <p:cNvSpPr txBox="1"/>
          <p:nvPr/>
        </p:nvSpPr>
        <p:spPr>
          <a:xfrm>
            <a:off x="664710" y="4702164"/>
            <a:ext cx="81374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Configurational entropy refers to the work done without an exchange in temperature,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Thermal entropy refers to the work done with the exchange in temperature.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4341755-BD77-41C4-BC83-30876068B0F9}"/>
              </a:ext>
            </a:extLst>
          </p:cNvPr>
          <p:cNvSpPr txBox="1"/>
          <p:nvPr/>
        </p:nvSpPr>
        <p:spPr>
          <a:xfrm>
            <a:off x="664710" y="815177"/>
            <a:ext cx="75648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Entropy is a measure of the randomness of a thermodynamic system. An increase in the randomness refers to the increase of the entropy and vice versa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69350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050923" y="-29844"/>
            <a:ext cx="6409556" cy="589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Config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u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rational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and thermal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 Entropy  </a:t>
            </a:r>
            <a:endParaRPr lang="en-US" sz="2800" dirty="0">
              <a:solidFill>
                <a:srgbClr val="FF0000"/>
              </a:solidFill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476269" y="3647899"/>
          <a:ext cx="1787948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3800" imgH="431800" progId="Equation.3">
                  <p:embed/>
                </p:oleObj>
              </mc:Choice>
              <mc:Fallback>
                <p:oleObj name="Equation" r:id="rId2" imgW="1193800" imgH="431800" progId="Equation.3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269" y="3647899"/>
                        <a:ext cx="1787948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729366" y="2087223"/>
          <a:ext cx="5462502" cy="40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25800" imgH="241300" progId="Equation.3">
                  <p:embed/>
                </p:oleObj>
              </mc:Choice>
              <mc:Fallback>
                <p:oleObj name="Equation" r:id="rId4" imgW="3225800" imgH="241300" progId="Equation.3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9366" y="2087223"/>
                        <a:ext cx="5462502" cy="40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任意多边形 8"/>
          <p:cNvSpPr/>
          <p:nvPr/>
        </p:nvSpPr>
        <p:spPr>
          <a:xfrm>
            <a:off x="1829171" y="2507510"/>
            <a:ext cx="834887" cy="371061"/>
          </a:xfrm>
          <a:custGeom>
            <a:avLst/>
            <a:gdLst>
              <a:gd name="connsiteX0" fmla="*/ 834887 w 834887"/>
              <a:gd name="connsiteY0" fmla="*/ 0 h 371061"/>
              <a:gd name="connsiteX1" fmla="*/ 728870 w 834887"/>
              <a:gd name="connsiteY1" fmla="*/ 304800 h 371061"/>
              <a:gd name="connsiteX2" fmla="*/ 0 w 834887"/>
              <a:gd name="connsiteY2" fmla="*/ 371061 h 37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4887" h="371061">
                <a:moveTo>
                  <a:pt x="834887" y="0"/>
                </a:moveTo>
                <a:lnTo>
                  <a:pt x="728870" y="304800"/>
                </a:lnTo>
                <a:lnTo>
                  <a:pt x="0" y="371061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 15"/>
          <p:cNvSpPr/>
          <p:nvPr/>
        </p:nvSpPr>
        <p:spPr>
          <a:xfrm flipH="1">
            <a:off x="3213678" y="2491003"/>
            <a:ext cx="735496" cy="371061"/>
          </a:xfrm>
          <a:custGeom>
            <a:avLst/>
            <a:gdLst>
              <a:gd name="connsiteX0" fmla="*/ 834887 w 834887"/>
              <a:gd name="connsiteY0" fmla="*/ 0 h 371061"/>
              <a:gd name="connsiteX1" fmla="*/ 728870 w 834887"/>
              <a:gd name="connsiteY1" fmla="*/ 304800 h 371061"/>
              <a:gd name="connsiteX2" fmla="*/ 0 w 834887"/>
              <a:gd name="connsiteY2" fmla="*/ 371061 h 37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4887" h="371061">
                <a:moveTo>
                  <a:pt x="834887" y="0"/>
                </a:moveTo>
                <a:lnTo>
                  <a:pt x="728870" y="304800"/>
                </a:lnTo>
                <a:lnTo>
                  <a:pt x="0" y="371061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32619" y="2914933"/>
            <a:ext cx="2159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Thermal entropy </a:t>
            </a:r>
          </a:p>
          <a:p>
            <a:r>
              <a:rPr lang="en-US" altLang="zh-CN" dirty="0"/>
              <a:t>or vibration entropy</a:t>
            </a:r>
            <a:endParaRPr lang="zh-CN" altLang="en-US" dirty="0"/>
          </a:p>
        </p:txBody>
      </p:sp>
      <p:sp>
        <p:nvSpPr>
          <p:cNvPr id="17" name="Title 1"/>
          <p:cNvSpPr txBox="1">
            <a:spLocks/>
          </p:cNvSpPr>
          <p:nvPr/>
        </p:nvSpPr>
        <p:spPr bwMode="auto">
          <a:xfrm>
            <a:off x="3569124" y="2933814"/>
            <a:ext cx="2882693" cy="589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1800" dirty="0" err="1">
                <a:solidFill>
                  <a:srgbClr val="FF0000"/>
                </a:solidFill>
                <a:latin typeface="Arial" charset="0"/>
                <a:cs typeface="Arial" charset="0"/>
              </a:rPr>
              <a:t>Config</a:t>
            </a:r>
            <a:r>
              <a:rPr lang="en-US" altLang="zh-CN" sz="1800" dirty="0" err="1">
                <a:solidFill>
                  <a:srgbClr val="FF0000"/>
                </a:solidFill>
                <a:latin typeface="Arial" charset="0"/>
                <a:cs typeface="Arial" charset="0"/>
              </a:rPr>
              <a:t>u</a:t>
            </a:r>
            <a:r>
              <a:rPr lang="en-US" sz="1800" dirty="0" err="1">
                <a:solidFill>
                  <a:srgbClr val="FF0000"/>
                </a:solidFill>
                <a:latin typeface="Arial" charset="0"/>
                <a:cs typeface="Arial" charset="0"/>
              </a:rPr>
              <a:t>rational</a:t>
            </a:r>
            <a:r>
              <a:rPr lang="en-US" sz="1800" dirty="0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</a:p>
          <a:p>
            <a:r>
              <a:rPr lang="en-US" sz="1800" dirty="0">
                <a:solidFill>
                  <a:srgbClr val="FF0000"/>
                </a:solidFill>
                <a:latin typeface="Arial" charset="0"/>
                <a:cs typeface="Arial" charset="0"/>
              </a:rPr>
              <a:t>Entropy 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84EC7A7-5265-4FFA-99A9-330B1C0276BE}"/>
              </a:ext>
            </a:extLst>
          </p:cNvPr>
          <p:cNvSpPr txBox="1"/>
          <p:nvPr/>
        </p:nvSpPr>
        <p:spPr>
          <a:xfrm>
            <a:off x="664710" y="4702164"/>
            <a:ext cx="81374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Configurational entropy refers to the work done without an exchange in temperature,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Thermal entropy refers to the work done with the exchange in temperature.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4341755-BD77-41C4-BC83-30876068B0F9}"/>
              </a:ext>
            </a:extLst>
          </p:cNvPr>
          <p:cNvSpPr txBox="1"/>
          <p:nvPr/>
        </p:nvSpPr>
        <p:spPr>
          <a:xfrm>
            <a:off x="664710" y="815177"/>
            <a:ext cx="75648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Entropy is a measure of the randomness of a thermodynamic system. An increase in the randomness refers to the increase of the entropy and vice versa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15238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102113" y="133922"/>
            <a:ext cx="4982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The vacancy concentration ?  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pic>
        <p:nvPicPr>
          <p:cNvPr id="22530" name="Picture 2" descr="C:\Users\Administrator.SUSTC-609071422\Pictures\ControlCenter4\Scan\CCI20171014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96" t="42924" r="67015" b="22659"/>
          <a:stretch/>
        </p:blipFill>
        <p:spPr bwMode="auto">
          <a:xfrm>
            <a:off x="304800" y="1524000"/>
            <a:ext cx="4100941" cy="4481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18448" y="882556"/>
            <a:ext cx="53772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Considering the formation energy of a vacancy: </a:t>
            </a:r>
            <a:r>
              <a:rPr lang="el-GR" altLang="zh-CN" sz="2000" dirty="0">
                <a:latin typeface="Sylfaen"/>
              </a:rPr>
              <a:t>ε</a:t>
            </a:r>
            <a:r>
              <a:rPr lang="en-US" altLang="zh-CN" sz="2000" baseline="-25000" dirty="0">
                <a:latin typeface="Sylfaen"/>
              </a:rPr>
              <a:t>V</a:t>
            </a:r>
            <a:endParaRPr lang="zh-CN" altLang="en-US" sz="2000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4885686" y="1530256"/>
          <a:ext cx="13065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11000" imgH="228600" progId="Equation.DSMT4">
                  <p:embed/>
                </p:oleObj>
              </mc:Choice>
              <mc:Fallback>
                <p:oleObj name="Equation" r:id="rId4" imgW="711000" imgH="2286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85686" y="1530256"/>
                        <a:ext cx="1306512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738048" y="2101756"/>
            <a:ext cx="4038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increase entropy equivalent to arrange N atoms and n vacancies on </a:t>
            </a:r>
            <a:r>
              <a:rPr lang="en-US" altLang="zh-CN" dirty="0" err="1"/>
              <a:t>N+n</a:t>
            </a:r>
            <a:r>
              <a:rPr lang="en-US" altLang="zh-CN" dirty="0"/>
              <a:t> lattice site:</a:t>
            </a:r>
            <a:endParaRPr lang="zh-CN" altLang="en-US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778508" y="3025086"/>
          <a:ext cx="1254940" cy="616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50680" imgH="419040" progId="Equation.DSMT4">
                  <p:embed/>
                </p:oleObj>
              </mc:Choice>
              <mc:Fallback>
                <p:oleObj name="Equation" r:id="rId6" imgW="850680" imgH="41904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8508" y="3025086"/>
                        <a:ext cx="1254940" cy="616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431910" y="2979645"/>
          <a:ext cx="1959796" cy="695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58640" imgH="482400" progId="Equation.DSMT4">
                  <p:embed/>
                </p:oleObj>
              </mc:Choice>
              <mc:Fallback>
                <p:oleObj name="Equation" r:id="rId8" imgW="1358640" imgH="4824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1910" y="2979645"/>
                        <a:ext cx="1959796" cy="6952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710731" y="3625756"/>
          <a:ext cx="3680975" cy="681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03160" imgH="482400" progId="Equation.DSMT4">
                  <p:embed/>
                </p:oleObj>
              </mc:Choice>
              <mc:Fallback>
                <p:oleObj name="Equation" r:id="rId10" imgW="2603160" imgH="4824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0731" y="3625756"/>
                        <a:ext cx="3680975" cy="6817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727277" y="4463956"/>
          <a:ext cx="363855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336760" imgH="482400" progId="Equation.DSMT4">
                  <p:embed/>
                </p:oleObj>
              </mc:Choice>
              <mc:Fallback>
                <p:oleObj name="Equation" r:id="rId12" imgW="2336760" imgH="4824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277" y="4463956"/>
                        <a:ext cx="3638550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93131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8"/>
          <p:cNvSpPr txBox="1">
            <a:spLocks noGrp="1"/>
          </p:cNvSpPr>
          <p:nvPr>
            <p:ph type="title"/>
          </p:nvPr>
        </p:nvSpPr>
        <p:spPr>
          <a:xfrm>
            <a:off x="903021" y="3429000"/>
            <a:ext cx="7721986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17. </a:t>
            </a:r>
            <a:r>
              <a:rPr lang="en-US" altLang="zh-CN" sz="2800" dirty="0" err="1">
                <a:solidFill>
                  <a:srgbClr val="FF0000"/>
                </a:solidFill>
              </a:rPr>
              <a:t>Elastocoloric</a:t>
            </a:r>
            <a:r>
              <a:rPr lang="en-US" altLang="zh-CN" sz="2800" dirty="0">
                <a:solidFill>
                  <a:srgbClr val="FF0000"/>
                </a:solidFill>
              </a:rPr>
              <a:t>/ Electrocaloric/Magnetocaloric</a:t>
            </a:r>
          </a:p>
        </p:txBody>
      </p:sp>
    </p:spTree>
    <p:extLst>
      <p:ext uri="{BB962C8B-B14F-4D97-AF65-F5344CB8AC3E}">
        <p14:creationId xmlns:p14="http://schemas.microsoft.com/office/powerpoint/2010/main" val="37725225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331" y="994799"/>
            <a:ext cx="6398258" cy="219860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788" y="3492894"/>
            <a:ext cx="6526801" cy="264384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00697" y="6259212"/>
            <a:ext cx="294503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zh-CN" sz="1050" i="1" dirty="0">
                <a:solidFill>
                  <a:srgbClr val="FF0000"/>
                </a:solidFill>
                <a:latin typeface="AdvTTd7835f12"/>
              </a:rPr>
              <a:t>Wang </a:t>
            </a:r>
            <a:r>
              <a:rPr lang="fr-FR" altLang="zh-CN" sz="1050" i="1" dirty="0">
                <a:solidFill>
                  <a:srgbClr val="FF0000"/>
                </a:solidFill>
                <a:latin typeface="AdvTT0b7bb6fa.I"/>
              </a:rPr>
              <a:t>et al</a:t>
            </a:r>
            <a:r>
              <a:rPr lang="fr-FR" altLang="zh-CN" sz="1050" i="1" dirty="0">
                <a:solidFill>
                  <a:srgbClr val="FF0000"/>
                </a:solidFill>
                <a:latin typeface="AdvTTd7835f12"/>
              </a:rPr>
              <a:t>., </a:t>
            </a:r>
            <a:r>
              <a:rPr lang="fr-FR" altLang="zh-CN" sz="1050" i="1" dirty="0">
                <a:solidFill>
                  <a:srgbClr val="FF0000"/>
                </a:solidFill>
                <a:latin typeface="AdvTT0b7bb6fa.I"/>
              </a:rPr>
              <a:t>Science </a:t>
            </a:r>
            <a:r>
              <a:rPr lang="fr-FR" altLang="zh-CN" sz="1050" i="1" dirty="0">
                <a:solidFill>
                  <a:srgbClr val="FF0000"/>
                </a:solidFill>
                <a:latin typeface="AdvTT82e34213.B"/>
              </a:rPr>
              <a:t>366</a:t>
            </a:r>
            <a:r>
              <a:rPr lang="fr-FR" altLang="zh-CN" sz="1050" i="1" dirty="0">
                <a:solidFill>
                  <a:srgbClr val="FF0000"/>
                </a:solidFill>
                <a:latin typeface="AdvTTd7835f12"/>
              </a:rPr>
              <a:t>, 216</a:t>
            </a:r>
            <a:r>
              <a:rPr lang="fr-FR" altLang="zh-CN" sz="1050" i="1" dirty="0">
                <a:solidFill>
                  <a:srgbClr val="FF0000"/>
                </a:solidFill>
                <a:latin typeface="AdvTTd7835f12+20"/>
              </a:rPr>
              <a:t>–</a:t>
            </a:r>
            <a:r>
              <a:rPr lang="fr-FR" altLang="zh-CN" sz="1050" i="1" dirty="0">
                <a:solidFill>
                  <a:srgbClr val="FF0000"/>
                </a:solidFill>
                <a:latin typeface="AdvTTd7835f12"/>
              </a:rPr>
              <a:t>221 (2019)</a:t>
            </a:r>
            <a:endParaRPr lang="zh-CN" altLang="en-US" sz="2800" i="1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D736D2-2EE1-4830-AC44-FE2282666D03}"/>
              </a:ext>
            </a:extLst>
          </p:cNvPr>
          <p:cNvSpPr txBox="1"/>
          <p:nvPr/>
        </p:nvSpPr>
        <p:spPr>
          <a:xfrm>
            <a:off x="965675" y="119642"/>
            <a:ext cx="31031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A simple example 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0260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600" y="0"/>
            <a:ext cx="5613252" cy="640239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78069" y="1976831"/>
            <a:ext cx="267709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231F20"/>
                </a:solidFill>
              </a:rPr>
              <a:t>Fig. 1. Twist-based </a:t>
            </a:r>
            <a:r>
              <a:rPr lang="en-US" altLang="zh-CN" sz="1400" dirty="0" err="1">
                <a:solidFill>
                  <a:srgbClr val="231F20"/>
                </a:solidFill>
              </a:rPr>
              <a:t>mechanocaloric</a:t>
            </a:r>
            <a:r>
              <a:rPr lang="en-US" altLang="zh-CN" sz="1400" dirty="0">
                <a:solidFill>
                  <a:srgbClr val="231F20"/>
                </a:solidFill>
              </a:rPr>
              <a:t> performance for single rubber fibers.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406759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46922" y="132521"/>
            <a:ext cx="51747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solidFill>
                  <a:srgbClr val="FF0000"/>
                </a:solidFill>
              </a:rPr>
              <a:t>Elasto-coloric</a:t>
            </a:r>
            <a:r>
              <a:rPr lang="en-US" altLang="zh-CN" sz="2800" dirty="0">
                <a:solidFill>
                  <a:srgbClr val="FF0000"/>
                </a:solidFill>
              </a:rPr>
              <a:t> effect in polymer</a:t>
            </a:r>
            <a:r>
              <a:rPr lang="en-US" altLang="zh-CN" sz="2800" dirty="0">
                <a:solidFill>
                  <a:srgbClr val="0000FF"/>
                </a:solidFill>
              </a:rPr>
              <a:t> 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38" y="3762852"/>
            <a:ext cx="2120623" cy="204476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1356" y="3762852"/>
            <a:ext cx="1921566" cy="2044762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20765" y="874710"/>
            <a:ext cx="847476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Rapid stretching or </a:t>
            </a:r>
            <a:r>
              <a:rPr lang="en-US" altLang="zh-CN" dirty="0" err="1"/>
              <a:t>unstretching</a:t>
            </a:r>
            <a:r>
              <a:rPr lang="en-US" altLang="zh-CN" dirty="0"/>
              <a:t> of a wide rubber band is nearly isentropic/ adiabatic process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The stretching decreases the </a:t>
            </a:r>
            <a:r>
              <a:rPr lang="en-US" altLang="zh-CN" dirty="0" err="1"/>
              <a:t>configurational</a:t>
            </a:r>
            <a:r>
              <a:rPr lang="en-US" altLang="zh-CN" dirty="0"/>
              <a:t> entropy </a:t>
            </a:r>
            <a:r>
              <a:rPr lang="en-US" altLang="zh-CN" i="1" dirty="0" err="1"/>
              <a:t>S</a:t>
            </a:r>
            <a:r>
              <a:rPr lang="en-US" altLang="zh-CN" i="1" baseline="-25000" dirty="0" err="1"/>
              <a:t>conf</a:t>
            </a:r>
            <a:r>
              <a:rPr lang="en-US" altLang="zh-CN" i="1" baseline="-25000" dirty="0"/>
              <a:t> </a:t>
            </a:r>
            <a:r>
              <a:rPr lang="en-US" altLang="zh-CN" dirty="0"/>
              <a:t>(molecular structure becomes more ordered)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the stretching is isentropic, then the thermal/vibrational entropy </a:t>
            </a:r>
            <a:r>
              <a:rPr lang="en-US" altLang="zh-CN" i="1" dirty="0" err="1"/>
              <a:t>S</a:t>
            </a:r>
            <a:r>
              <a:rPr lang="en-US" altLang="zh-CN" i="1" baseline="-25000" dirty="0" err="1"/>
              <a:t>th</a:t>
            </a:r>
            <a:r>
              <a:rPr lang="en-US" altLang="zh-CN" i="1" baseline="-25000" dirty="0"/>
              <a:t> </a:t>
            </a:r>
            <a:r>
              <a:rPr lang="en-US" altLang="zh-CN" i="1" dirty="0"/>
              <a:t> </a:t>
            </a:r>
            <a:r>
              <a:rPr lang="en-US" altLang="zh-CN" dirty="0"/>
              <a:t>increase to compensate for the decrease of </a:t>
            </a:r>
            <a:r>
              <a:rPr lang="en-US" altLang="zh-CN" i="1" dirty="0" err="1"/>
              <a:t>S</a:t>
            </a:r>
            <a:r>
              <a:rPr lang="en-US" altLang="zh-CN" i="1" baseline="-25000" dirty="0" err="1"/>
              <a:t>conf</a:t>
            </a:r>
            <a:r>
              <a:rPr lang="en-US" altLang="zh-C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the heat generated by stretching is dissipated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i="1" dirty="0"/>
              <a:t>T </a:t>
            </a:r>
            <a:r>
              <a:rPr lang="en-US" altLang="zh-CN" dirty="0"/>
              <a:t>should decrease as a result of rapid </a:t>
            </a:r>
            <a:r>
              <a:rPr lang="en-US" altLang="zh-CN" dirty="0" err="1"/>
              <a:t>unstretching</a:t>
            </a:r>
            <a:endParaRPr lang="zh-CN" altLang="en-US" dirty="0"/>
          </a:p>
        </p:txBody>
      </p:sp>
      <p:pic>
        <p:nvPicPr>
          <p:cNvPr id="143362" name="Picture 2" descr="See the source imag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7001" y="-22012"/>
            <a:ext cx="2026999" cy="1520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588809" y="3197355"/>
            <a:ext cx="1590426" cy="315014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7722" y="3197355"/>
            <a:ext cx="1590426" cy="315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7682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704" y="3732017"/>
            <a:ext cx="4714896" cy="196922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034" y="2102695"/>
            <a:ext cx="4042262" cy="339964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7448" y="770959"/>
            <a:ext cx="5518740" cy="839072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5985279" y="6125738"/>
            <a:ext cx="261802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zh-CN" sz="1000" dirty="0">
                <a:solidFill>
                  <a:srgbClr val="0080AC"/>
                </a:solidFill>
                <a:latin typeface="CharisSIL"/>
              </a:rPr>
              <a:t>European Polymer Journal , 2018, 99, 212–221</a:t>
            </a:r>
            <a:endParaRPr lang="zh-CN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193421" y="1819509"/>
            <a:ext cx="4572000" cy="17030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/>
              <a:t>Elastocaloric</a:t>
            </a:r>
            <a:r>
              <a:rPr lang="en-US" altLang="zh-CN" dirty="0"/>
              <a:t> - uniaxial stress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/>
              <a:t>Barocaloric</a:t>
            </a:r>
            <a:r>
              <a:rPr lang="en-US" altLang="zh-CN" dirty="0"/>
              <a:t> - hydrostatic </a:t>
            </a:r>
            <a:r>
              <a:rPr lang="en-US" altLang="zh-CN" i="1" dirty="0"/>
              <a:t>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/>
              <a:t>Magnetocaloric</a:t>
            </a:r>
            <a:r>
              <a:rPr lang="en-US" altLang="zh-CN" dirty="0"/>
              <a:t> - magnetic field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/>
              <a:t>Electrocaloric</a:t>
            </a:r>
            <a:r>
              <a:rPr lang="en-US" altLang="zh-CN" dirty="0"/>
              <a:t> - electric field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C929B86-04A7-478F-9C7A-35C6668774BE}"/>
              </a:ext>
            </a:extLst>
          </p:cNvPr>
          <p:cNvSpPr txBox="1"/>
          <p:nvPr/>
        </p:nvSpPr>
        <p:spPr>
          <a:xfrm>
            <a:off x="1243475" y="48831"/>
            <a:ext cx="51747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solidFill>
                  <a:srgbClr val="FF0000"/>
                </a:solidFill>
              </a:rPr>
              <a:t>Elasto</a:t>
            </a:r>
            <a:r>
              <a:rPr lang="en-US" altLang="zh-CN" sz="2800" dirty="0">
                <a:solidFill>
                  <a:srgbClr val="FF0000"/>
                </a:solidFill>
              </a:rPr>
              <a:t>-caloric effect in polymer</a:t>
            </a:r>
            <a:r>
              <a:rPr lang="en-US" altLang="zh-CN" sz="2800" dirty="0">
                <a:solidFill>
                  <a:srgbClr val="0000FF"/>
                </a:solidFill>
              </a:rPr>
              <a:t> 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70048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Fig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631" y="1925928"/>
            <a:ext cx="5270501" cy="3995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EBA1ACD9-67EF-4678-970B-0F7BDAA47B1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0037" y="0"/>
            <a:ext cx="5270500" cy="750888"/>
          </a:xfrm>
        </p:spPr>
        <p:txBody>
          <a:bodyPr>
            <a:normAutofit/>
          </a:bodyPr>
          <a:lstStyle/>
          <a:p>
            <a:r>
              <a:rPr lang="en-US" altLang="zh-CN" sz="2800" dirty="0" err="1">
                <a:solidFill>
                  <a:srgbClr val="FF0000"/>
                </a:solidFill>
              </a:rPr>
              <a:t>Elastocoloric</a:t>
            </a:r>
            <a:r>
              <a:rPr lang="en-US" altLang="zh-CN" sz="2800" dirty="0">
                <a:solidFill>
                  <a:srgbClr val="FF0000"/>
                </a:solidFill>
              </a:rPr>
              <a:t> Effect in metals 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93631" y="846677"/>
            <a:ext cx="533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Large </a:t>
            </a:r>
            <a:r>
              <a:rPr lang="en-US" altLang="zh-CN" sz="2000" dirty="0" err="1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elastocaloric</a:t>
            </a:r>
            <a:r>
              <a:rPr lang="en-US" altLang="zh-CN" sz="2000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effect in a </a:t>
            </a:r>
            <a:r>
              <a:rPr lang="en-US" altLang="zh-CN" sz="2000" dirty="0" err="1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Heusler</a:t>
            </a:r>
            <a:r>
              <a:rPr lang="en-US" altLang="zh-CN" sz="2000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-type Co</a:t>
            </a:r>
            <a:r>
              <a:rPr lang="en-US" altLang="zh-CN" sz="2000" baseline="-25000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50</a:t>
            </a:r>
            <a:r>
              <a:rPr lang="en-US" altLang="zh-CN" sz="2000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</a:t>
            </a:r>
            <a:r>
              <a:rPr lang="en-US" altLang="zh-CN" sz="2000" baseline="-25000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35</a:t>
            </a:r>
            <a:r>
              <a:rPr lang="en-US" altLang="zh-CN" sz="2000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Ga</a:t>
            </a:r>
            <a:r>
              <a:rPr lang="en-US" altLang="zh-CN" sz="2000" baseline="-25000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14</a:t>
            </a:r>
            <a:r>
              <a:rPr lang="en-US" altLang="zh-CN" sz="2000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Ni</a:t>
            </a:r>
            <a:r>
              <a:rPr lang="en-US" altLang="zh-CN" sz="2000" baseline="-25000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r>
              <a:rPr lang="en-US" altLang="zh-CN" sz="2000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 polycrystalline alloy</a:t>
            </a:r>
            <a:endParaRPr lang="en-US" altLang="zh-CN" sz="2000" i="0" dirty="0">
              <a:solidFill>
                <a:srgbClr val="000000"/>
              </a:solidFill>
              <a:effectLst/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26874" y="6138445"/>
            <a:ext cx="28614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zh-CN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Appl. Phys. Lett. </a:t>
            </a:r>
            <a:r>
              <a:rPr lang="fr-FR" altLang="zh-CN" sz="1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118</a:t>
            </a:r>
            <a:r>
              <a:rPr lang="fr-FR" altLang="zh-CN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103904 (2021)</a:t>
            </a:r>
            <a:endParaRPr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7569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528" y="855440"/>
            <a:ext cx="6397657" cy="403520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59640" y="108331"/>
            <a:ext cx="63602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Theoretically Considering </a:t>
            </a:r>
            <a:r>
              <a:rPr lang="en-US" altLang="zh-CN" sz="2400" dirty="0" err="1">
                <a:solidFill>
                  <a:srgbClr val="FF0000"/>
                </a:solidFill>
              </a:rPr>
              <a:t>Elastocaloric</a:t>
            </a:r>
            <a:r>
              <a:rPr lang="en-US" altLang="zh-CN" sz="2400" dirty="0">
                <a:solidFill>
                  <a:srgbClr val="FF0000"/>
                </a:solidFill>
              </a:rPr>
              <a:t> Effect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86595" y="5170416"/>
            <a:ext cx="5463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Helmholtz Free energy is chosen for the TD criteria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617920" y="5634854"/>
                <a:ext cx="14013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𝑇𝑆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7920" y="5634854"/>
                <a:ext cx="140134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73743" y="6298974"/>
            <a:ext cx="26661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50" dirty="0">
                <a:solidFill>
                  <a:srgbClr val="000066"/>
                </a:solidFill>
                <a:latin typeface="AdvOT863180fb"/>
              </a:rPr>
              <a:t>Applied Thermal Engineering 57 (2013) 33</a:t>
            </a:r>
            <a:r>
              <a:rPr lang="en-US" altLang="zh-CN" sz="1050" dirty="0">
                <a:solidFill>
                  <a:srgbClr val="000066"/>
                </a:solidFill>
                <a:latin typeface="AdvPS44A44B"/>
              </a:rPr>
              <a:t>-</a:t>
            </a:r>
            <a:r>
              <a:rPr lang="en-US" altLang="zh-CN" sz="1050" dirty="0">
                <a:solidFill>
                  <a:srgbClr val="000066"/>
                </a:solidFill>
                <a:latin typeface="AdvOT863180fb"/>
              </a:rPr>
              <a:t>38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741287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7289645" y="-2258"/>
            <a:ext cx="1854355" cy="1597841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7507917" y="124292"/>
          <a:ext cx="1479777" cy="242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032" imgH="177723" progId="Equation.DSMT4">
                  <p:embed/>
                </p:oleObj>
              </mc:Choice>
              <mc:Fallback>
                <p:oleObj name="Equation" r:id="rId2" imgW="1079032" imgH="177723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7917" y="124292"/>
                        <a:ext cx="1479777" cy="2427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7507917" y="516808"/>
          <a:ext cx="1542889" cy="264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41120" imgH="177480" progId="Equation.DSMT4">
                  <p:embed/>
                </p:oleObj>
              </mc:Choice>
              <mc:Fallback>
                <p:oleObj name="Equation" r:id="rId4" imgW="1041120" imgH="17748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7917" y="516808"/>
                        <a:ext cx="1542889" cy="2647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7445056" y="854223"/>
          <a:ext cx="1605750" cy="2497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3000" imgH="177480" progId="Equation.DSMT4">
                  <p:embed/>
                </p:oleObj>
              </mc:Choice>
              <mc:Fallback>
                <p:oleObj name="Equation" r:id="rId6" imgW="1143000" imgH="17748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5056" y="854223"/>
                        <a:ext cx="1605750" cy="2497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7426149" y="1166087"/>
          <a:ext cx="1706423" cy="267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30040" imgH="177480" progId="Equation.DSMT4">
                  <p:embed/>
                </p:oleObj>
              </mc:Choice>
              <mc:Fallback>
                <p:oleObj name="Equation" r:id="rId8" imgW="1130040" imgH="17748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6149" y="1166087"/>
                        <a:ext cx="1706423" cy="2678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520831" y="36193"/>
            <a:ext cx="3300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Helmholtz Free energy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968484" y="1544546"/>
                <a:ext cx="14013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𝑇𝑆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84" y="1544546"/>
                <a:ext cx="140134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4670" y="3335052"/>
            <a:ext cx="2758350" cy="1253880"/>
          </a:xfrm>
          <a:prstGeom prst="rect">
            <a:avLst/>
          </a:prstGeom>
        </p:spPr>
      </p:pic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6079765"/>
              </p:ext>
            </p:extLst>
          </p:nvPr>
        </p:nvGraphicFramePr>
        <p:xfrm>
          <a:off x="409174" y="1937001"/>
          <a:ext cx="3090919" cy="1351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60440" imgH="990360" progId="Equation.DSMT4">
                  <p:embed/>
                </p:oleObj>
              </mc:Choice>
              <mc:Fallback>
                <p:oleObj name="Equation" r:id="rId12" imgW="2260440" imgH="99036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174" y="1937001"/>
                        <a:ext cx="3090919" cy="1351805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图片 1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7195" y="5627007"/>
            <a:ext cx="2253300" cy="826200"/>
          </a:xfrm>
          <a:prstGeom prst="rect">
            <a:avLst/>
          </a:prstGeom>
        </p:spPr>
      </p:pic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0528623"/>
              </p:ext>
            </p:extLst>
          </p:nvPr>
        </p:nvGraphicFramePr>
        <p:xfrm>
          <a:off x="408387" y="4920999"/>
          <a:ext cx="3090919" cy="58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777680" imgH="444240" progId="Equation.DSMT4">
                  <p:embed/>
                </p:oleObj>
              </mc:Choice>
              <mc:Fallback>
                <p:oleObj name="Equation" r:id="rId15" imgW="1777680" imgH="44424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387" y="4920999"/>
                        <a:ext cx="3090919" cy="586975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4294554" y="174531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Assuming that the heat transfer between the material and the ambient temperature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294554" y="2579183"/>
          <a:ext cx="3643313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095200" imgH="660240" progId="Equation.DSMT4">
                  <p:embed/>
                </p:oleObj>
              </mc:Choice>
              <mc:Fallback>
                <p:oleObj name="Equation" r:id="rId17" imgW="2095200" imgH="660240" progId="Equation.DSMT4">
                  <p:embed/>
                  <p:pic>
                    <p:nvPicPr>
                      <p:cNvPr id="19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4554" y="2579183"/>
                        <a:ext cx="3643313" cy="873125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/>
          <p:cNvSpPr txBox="1"/>
          <p:nvPr/>
        </p:nvSpPr>
        <p:spPr>
          <a:xfrm>
            <a:off x="4294554" y="3665415"/>
            <a:ext cx="3991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h: heat coefficient, </a:t>
            </a:r>
            <a:r>
              <a:rPr lang="el-GR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:surface, T</a:t>
            </a:r>
            <a:r>
              <a:rPr lang="en-US" altLang="zh-CN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room temperature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067908" y="4186299"/>
            <a:ext cx="2369850" cy="8262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31201" y="5214487"/>
            <a:ext cx="2406557" cy="61024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74897" y="4347240"/>
            <a:ext cx="2186151" cy="1743188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5104701" y="6210560"/>
            <a:ext cx="266611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50" dirty="0">
                <a:solidFill>
                  <a:srgbClr val="000066"/>
                </a:solidFill>
                <a:latin typeface="AdvOT863180fb"/>
              </a:rPr>
              <a:t>Applied Thermal Engineering 57 (2013) 33</a:t>
            </a:r>
            <a:r>
              <a:rPr lang="en-US" altLang="zh-CN" sz="1050" dirty="0">
                <a:solidFill>
                  <a:srgbClr val="000066"/>
                </a:solidFill>
                <a:latin typeface="AdvPS44A44B"/>
              </a:rPr>
              <a:t>-</a:t>
            </a:r>
            <a:r>
              <a:rPr lang="en-US" altLang="zh-CN" sz="1050" dirty="0">
                <a:solidFill>
                  <a:srgbClr val="000066"/>
                </a:solidFill>
                <a:latin typeface="AdvOT863180fb"/>
              </a:rPr>
              <a:t>38</a:t>
            </a:r>
            <a:endParaRPr lang="zh-CN" altLang="en-US" sz="2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67D4B7E-FF70-51C8-E61D-0F87AA35D20F}"/>
              </a:ext>
            </a:extLst>
          </p:cNvPr>
          <p:cNvSpPr txBox="1"/>
          <p:nvPr/>
        </p:nvSpPr>
        <p:spPr>
          <a:xfrm>
            <a:off x="68366" y="4492151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Maxwell relation</a:t>
            </a:r>
            <a:r>
              <a:rPr lang="zh-CN" altLang="en-US" dirty="0"/>
              <a:t>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9EF3013-8340-3D86-C5B8-529A27B1425A}"/>
              </a:ext>
            </a:extLst>
          </p:cNvPr>
          <p:cNvSpPr txBox="1"/>
          <p:nvPr/>
        </p:nvSpPr>
        <p:spPr>
          <a:xfrm>
            <a:off x="290557" y="652859"/>
            <a:ext cx="69876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 the evolution of the temperature exchangebetween natural rubber and the ambient environment as a functionof the mechanical elongation.</a:t>
            </a:r>
          </a:p>
        </p:txBody>
      </p:sp>
    </p:spTree>
    <p:extLst>
      <p:ext uri="{BB962C8B-B14F-4D97-AF65-F5344CB8AC3E}">
        <p14:creationId xmlns:p14="http://schemas.microsoft.com/office/powerpoint/2010/main" val="34570731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31" y="1367043"/>
            <a:ext cx="4168007" cy="39295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507" y="1367043"/>
            <a:ext cx="4556581" cy="10081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077" y="2473175"/>
            <a:ext cx="1362738" cy="55503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507" y="3028206"/>
            <a:ext cx="4143389" cy="341317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679605" y="0"/>
            <a:ext cx="3945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Refrigerant capability (RC)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77294" y="6195163"/>
            <a:ext cx="294183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dirty="0">
                <a:solidFill>
                  <a:srgbClr val="000066"/>
                </a:solidFill>
                <a:latin typeface="AdvOT863180fb"/>
              </a:rPr>
              <a:t>Applied Thermal Engineering 57 (2013) 33</a:t>
            </a:r>
            <a:r>
              <a:rPr lang="en-US" altLang="zh-CN" sz="1000" dirty="0">
                <a:solidFill>
                  <a:srgbClr val="000066"/>
                </a:solidFill>
                <a:latin typeface="AdvPS44A44B"/>
              </a:rPr>
              <a:t>-</a:t>
            </a:r>
            <a:r>
              <a:rPr lang="en-US" altLang="zh-CN" sz="1000" dirty="0">
                <a:solidFill>
                  <a:srgbClr val="000066"/>
                </a:solidFill>
                <a:latin typeface="AdvOT863180fb"/>
              </a:rPr>
              <a:t>38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03459343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Boar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等线 Light"/>
        <a:cs typeface=""/>
      </a:majorFont>
      <a:minorFont>
        <a:latin typeface="Arial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 Board</Template>
  <TotalTime>16906</TotalTime>
  <Words>1747</Words>
  <Application>Microsoft Office PowerPoint</Application>
  <PresentationFormat>全屏显示(4:3)</PresentationFormat>
  <Paragraphs>263</Paragraphs>
  <Slides>42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42</vt:i4>
      </vt:variant>
    </vt:vector>
  </HeadingPairs>
  <TitlesOfParts>
    <vt:vector size="65" baseType="lpstr">
      <vt:lpstr>AdvOT863180fb</vt:lpstr>
      <vt:lpstr>AdvPS44A44B</vt:lpstr>
      <vt:lpstr>AdvTT0b7bb6fa.I</vt:lpstr>
      <vt:lpstr>AdvTT82e34213.B</vt:lpstr>
      <vt:lpstr>AdvTTd7835f12</vt:lpstr>
      <vt:lpstr>AdvTTd7835f12+20</vt:lpstr>
      <vt:lpstr>Arial Unicode MS</vt:lpstr>
      <vt:lpstr>CharisSIL</vt:lpstr>
      <vt:lpstr>等线</vt:lpstr>
      <vt:lpstr>黑体</vt:lpstr>
      <vt:lpstr>华文行楷</vt:lpstr>
      <vt:lpstr>Arial</vt:lpstr>
      <vt:lpstr>Cambria Math</vt:lpstr>
      <vt:lpstr>Georgia</vt:lpstr>
      <vt:lpstr>Open Sans</vt:lpstr>
      <vt:lpstr>Roboto</vt:lpstr>
      <vt:lpstr>Sylfaen</vt:lpstr>
      <vt:lpstr>Times New Roman</vt:lpstr>
      <vt:lpstr>Wingdings</vt:lpstr>
      <vt:lpstr>Master Board</vt:lpstr>
      <vt:lpstr>Equation</vt:lpstr>
      <vt:lpstr>公式</vt:lpstr>
      <vt:lpstr>Microsoft 公式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Physics of wave</vt:lpstr>
      <vt:lpstr>Standing wave in a string with two ends fixed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17. Elastocoloric/ Electrocaloric/Magnetocaloric</vt:lpstr>
      <vt:lpstr>PowerPoint 演示文稿</vt:lpstr>
      <vt:lpstr>PowerPoint 演示文稿</vt:lpstr>
      <vt:lpstr>PowerPoint 演示文稿</vt:lpstr>
      <vt:lpstr>PowerPoint 演示文稿</vt:lpstr>
      <vt:lpstr>Elastocoloric Effect in metals 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 weishu</dc:creator>
  <cp:lastModifiedBy>Liu WS</cp:lastModifiedBy>
  <cp:revision>232</cp:revision>
  <dcterms:created xsi:type="dcterms:W3CDTF">2019-02-07T07:31:12Z</dcterms:created>
  <dcterms:modified xsi:type="dcterms:W3CDTF">2022-10-25T07:45:25Z</dcterms:modified>
</cp:coreProperties>
</file>