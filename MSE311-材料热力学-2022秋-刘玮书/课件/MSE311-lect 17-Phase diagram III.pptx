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95" r:id="rId2"/>
    <p:sldId id="363" r:id="rId3"/>
    <p:sldId id="357" r:id="rId4"/>
    <p:sldId id="398" r:id="rId5"/>
    <p:sldId id="365" r:id="rId6"/>
    <p:sldId id="358" r:id="rId7"/>
    <p:sldId id="397" r:id="rId8"/>
    <p:sldId id="359" r:id="rId9"/>
    <p:sldId id="360" r:id="rId10"/>
    <p:sldId id="361" r:id="rId11"/>
    <p:sldId id="362" r:id="rId12"/>
    <p:sldId id="370" r:id="rId13"/>
    <p:sldId id="367" r:id="rId14"/>
    <p:sldId id="368" r:id="rId15"/>
    <p:sldId id="369" r:id="rId16"/>
    <p:sldId id="371" r:id="rId17"/>
    <p:sldId id="372" r:id="rId18"/>
    <p:sldId id="376" r:id="rId19"/>
    <p:sldId id="373" r:id="rId20"/>
    <p:sldId id="374" r:id="rId21"/>
    <p:sldId id="375" r:id="rId22"/>
    <p:sldId id="377" r:id="rId23"/>
    <p:sldId id="378" r:id="rId24"/>
    <p:sldId id="379" r:id="rId25"/>
    <p:sldId id="380" r:id="rId26"/>
    <p:sldId id="381" r:id="rId27"/>
    <p:sldId id="383" r:id="rId28"/>
    <p:sldId id="382" r:id="rId29"/>
    <p:sldId id="384" r:id="rId30"/>
    <p:sldId id="385" r:id="rId31"/>
    <p:sldId id="386" r:id="rId32"/>
    <p:sldId id="388" r:id="rId33"/>
    <p:sldId id="389" r:id="rId34"/>
    <p:sldId id="396" r:id="rId35"/>
    <p:sldId id="400" r:id="rId36"/>
    <p:sldId id="391" r:id="rId37"/>
    <p:sldId id="390" r:id="rId38"/>
    <p:sldId id="392" r:id="rId39"/>
    <p:sldId id="393" r:id="rId40"/>
    <p:sldId id="394"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18" d="100"/>
          <a:sy n="118" d="100"/>
        </p:scale>
        <p:origin x="1302"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EB1654-D0F9-441A-A5D0-AB8A83C6A2DB}" type="datetimeFigureOut">
              <a:rPr lang="zh-CN" altLang="en-US" smtClean="0"/>
              <a:t>2022/10/27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DF085-B22F-4C29-B1BD-A5CB17CD5C77}" type="slidenum">
              <a:rPr lang="zh-CN" altLang="en-US" smtClean="0"/>
              <a:t>‹#›</a:t>
            </a:fld>
            <a:endParaRPr lang="zh-CN" altLang="en-US"/>
          </a:p>
        </p:txBody>
      </p:sp>
    </p:spTree>
    <p:extLst>
      <p:ext uri="{BB962C8B-B14F-4D97-AF65-F5344CB8AC3E}">
        <p14:creationId xmlns:p14="http://schemas.microsoft.com/office/powerpoint/2010/main" val="1057652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1DF085-B22F-4C29-B1BD-A5CB17CD5C77}" type="slidenum">
              <a:rPr lang="zh-CN" altLang="en-US" smtClean="0"/>
              <a:t>4</a:t>
            </a:fld>
            <a:endParaRPr lang="zh-CN" altLang="en-US"/>
          </a:p>
        </p:txBody>
      </p:sp>
    </p:spTree>
    <p:extLst>
      <p:ext uri="{BB962C8B-B14F-4D97-AF65-F5344CB8AC3E}">
        <p14:creationId xmlns:p14="http://schemas.microsoft.com/office/powerpoint/2010/main" val="3328507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62095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spTree>
    <p:extLst>
      <p:ext uri="{BB962C8B-B14F-4D97-AF65-F5344CB8AC3E}">
        <p14:creationId xmlns:p14="http://schemas.microsoft.com/office/powerpoint/2010/main" val="3508415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43800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2022/10/27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9.emf"/><Relationship Id="rId7" Type="http://schemas.openxmlformats.org/officeDocument/2006/relationships/image" Target="../media/image11.wmf"/><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oleObject" Target="../embeddings/oleObject2.bin"/><Relationship Id="rId5" Type="http://schemas.openxmlformats.org/officeDocument/2006/relationships/image" Target="../media/image10.wmf"/><Relationship Id="rId4" Type="http://schemas.openxmlformats.org/officeDocument/2006/relationships/oleObject" Target="../embeddings/oleObject1.bin"/><Relationship Id="rId9" Type="http://schemas.openxmlformats.org/officeDocument/2006/relationships/image" Target="../media/image12.wmf"/></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13.x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4.bin"/><Relationship Id="rId7" Type="http://schemas.openxmlformats.org/officeDocument/2006/relationships/oleObject" Target="../embeddings/oleObject5.bin"/><Relationship Id="rId2" Type="http://schemas.openxmlformats.org/officeDocument/2006/relationships/image" Target="../media/image16.png"/><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wmf"/></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6.wmf"/><Relationship Id="rId18" Type="http://schemas.openxmlformats.org/officeDocument/2006/relationships/oleObject" Target="../embeddings/oleObject13.bin"/><Relationship Id="rId3" Type="http://schemas.openxmlformats.org/officeDocument/2006/relationships/image" Target="../media/image21.wmf"/><Relationship Id="rId21" Type="http://schemas.openxmlformats.org/officeDocument/2006/relationships/image" Target="../media/image30.wmf"/><Relationship Id="rId7" Type="http://schemas.openxmlformats.org/officeDocument/2006/relationships/image" Target="../media/image23.wmf"/><Relationship Id="rId12" Type="http://schemas.openxmlformats.org/officeDocument/2006/relationships/oleObject" Target="../embeddings/oleObject10.bin"/><Relationship Id="rId17" Type="http://schemas.openxmlformats.org/officeDocument/2006/relationships/image" Target="../media/image28.wmf"/><Relationship Id="rId2" Type="http://schemas.openxmlformats.org/officeDocument/2006/relationships/oleObject" Target="../embeddings/oleObject6.bin"/><Relationship Id="rId16" Type="http://schemas.openxmlformats.org/officeDocument/2006/relationships/oleObject" Target="../embeddings/oleObject12.bin"/><Relationship Id="rId20" Type="http://schemas.openxmlformats.org/officeDocument/2006/relationships/oleObject" Target="../embeddings/oleObject14.bin"/><Relationship Id="rId1" Type="http://schemas.openxmlformats.org/officeDocument/2006/relationships/slideLayout" Target="../slideLayouts/slideLayout13.xml"/><Relationship Id="rId6" Type="http://schemas.openxmlformats.org/officeDocument/2006/relationships/oleObject" Target="../embeddings/oleObject8.bin"/><Relationship Id="rId11" Type="http://schemas.openxmlformats.org/officeDocument/2006/relationships/image" Target="../media/image25.e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image" Target="../media/image24.wmf"/><Relationship Id="rId19" Type="http://schemas.openxmlformats.org/officeDocument/2006/relationships/image" Target="../media/image29.wmf"/><Relationship Id="rId4" Type="http://schemas.openxmlformats.org/officeDocument/2006/relationships/oleObject" Target="../embeddings/oleObject7.bin"/><Relationship Id="rId9" Type="http://schemas.openxmlformats.org/officeDocument/2006/relationships/oleObject" Target="../embeddings/oleObject9.bin"/><Relationship Id="rId1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19.bin"/><Relationship Id="rId3" Type="http://schemas.openxmlformats.org/officeDocument/2006/relationships/image" Target="../media/image32.emf"/><Relationship Id="rId7" Type="http://schemas.openxmlformats.org/officeDocument/2006/relationships/oleObject" Target="../embeddings/oleObject16.bin"/><Relationship Id="rId12" Type="http://schemas.openxmlformats.org/officeDocument/2006/relationships/image" Target="../media/image36.wmf"/><Relationship Id="rId2" Type="http://schemas.openxmlformats.org/officeDocument/2006/relationships/image" Target="../media/image31.png"/><Relationship Id="rId16" Type="http://schemas.openxmlformats.org/officeDocument/2006/relationships/image" Target="../media/image38.wmf"/><Relationship Id="rId1" Type="http://schemas.openxmlformats.org/officeDocument/2006/relationships/slideLayout" Target="../slideLayouts/slideLayout13.xml"/><Relationship Id="rId6" Type="http://schemas.openxmlformats.org/officeDocument/2006/relationships/image" Target="../media/image33.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35.wmf"/><Relationship Id="rId4" Type="http://schemas.openxmlformats.org/officeDocument/2006/relationships/image" Target="../media/image18.png"/><Relationship Id="rId9" Type="http://schemas.openxmlformats.org/officeDocument/2006/relationships/oleObject" Target="../embeddings/oleObject17.bin"/><Relationship Id="rId14" Type="http://schemas.openxmlformats.org/officeDocument/2006/relationships/image" Target="../media/image37.wmf"/></Relationships>
</file>

<file path=ppt/slides/_rels/slide9.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39.wmf"/><Relationship Id="rId5" Type="http://schemas.openxmlformats.org/officeDocument/2006/relationships/oleObject" Target="../embeddings/oleObject22.bin"/><Relationship Id="rId4" Type="http://schemas.openxmlformats.org/officeDocument/2006/relationships/image" Target="../media/image38.wmf"/></Relationships>
</file>

<file path=ppt/slides/_rels/slide10.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9.bin"/><Relationship Id="rId3" Type="http://schemas.openxmlformats.org/officeDocument/2006/relationships/image" Target="../media/image41.wmf"/><Relationship Id="rId7" Type="http://schemas.openxmlformats.org/officeDocument/2006/relationships/oleObject" Target="../embeddings/oleObject26.bin"/><Relationship Id="rId12" Type="http://schemas.openxmlformats.org/officeDocument/2006/relationships/image" Target="../media/image20.wmf"/><Relationship Id="rId2" Type="http://schemas.openxmlformats.org/officeDocument/2006/relationships/oleObject" Target="../embeddings/oleObject24.bin"/><Relationship Id="rId16" Type="http://schemas.openxmlformats.org/officeDocument/2006/relationships/image" Target="../media/image44.wmf"/><Relationship Id="rId1" Type="http://schemas.openxmlformats.org/officeDocument/2006/relationships/slideLayout" Target="../slideLayouts/slideLayout13.xml"/><Relationship Id="rId6" Type="http://schemas.openxmlformats.org/officeDocument/2006/relationships/image" Target="../media/image25.emf"/><Relationship Id="rId11" Type="http://schemas.openxmlformats.org/officeDocument/2006/relationships/oleObject" Target="../embeddings/oleObject28.bin"/><Relationship Id="rId5" Type="http://schemas.openxmlformats.org/officeDocument/2006/relationships/image" Target="../media/image42.wmf"/><Relationship Id="rId15" Type="http://schemas.openxmlformats.org/officeDocument/2006/relationships/oleObject" Target="../embeddings/oleObject30.bin"/><Relationship Id="rId10" Type="http://schemas.openxmlformats.org/officeDocument/2006/relationships/image" Target="../media/image28.wmf"/><Relationship Id="rId4" Type="http://schemas.openxmlformats.org/officeDocument/2006/relationships/oleObject" Target="../embeddings/oleObject25.bin"/><Relationship Id="rId9" Type="http://schemas.openxmlformats.org/officeDocument/2006/relationships/oleObject" Target="../embeddings/oleObject27.bin"/><Relationship Id="rId14" Type="http://schemas.openxmlformats.org/officeDocument/2006/relationships/image" Target="../media/image4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49.wmf"/><Relationship Id="rId3" Type="http://schemas.openxmlformats.org/officeDocument/2006/relationships/image" Target="../media/image21.wmf"/><Relationship Id="rId7" Type="http://schemas.openxmlformats.org/officeDocument/2006/relationships/image" Target="../media/image46.wmf"/><Relationship Id="rId12" Type="http://schemas.openxmlformats.org/officeDocument/2006/relationships/oleObject" Target="../embeddings/oleObject36.bin"/><Relationship Id="rId17" Type="http://schemas.openxmlformats.org/officeDocument/2006/relationships/image" Target="../media/image51.wmf"/><Relationship Id="rId2" Type="http://schemas.openxmlformats.org/officeDocument/2006/relationships/oleObject" Target="../embeddings/oleObject31.bin"/><Relationship Id="rId16" Type="http://schemas.openxmlformats.org/officeDocument/2006/relationships/oleObject" Target="../embeddings/oleObject38.bin"/><Relationship Id="rId1" Type="http://schemas.openxmlformats.org/officeDocument/2006/relationships/slideLayout" Target="../slideLayouts/slideLayout13.xml"/><Relationship Id="rId6" Type="http://schemas.openxmlformats.org/officeDocument/2006/relationships/oleObject" Target="../embeddings/oleObject33.bin"/><Relationship Id="rId11" Type="http://schemas.openxmlformats.org/officeDocument/2006/relationships/image" Target="../media/image48.wmf"/><Relationship Id="rId5" Type="http://schemas.openxmlformats.org/officeDocument/2006/relationships/image" Target="../media/image45.wmf"/><Relationship Id="rId15" Type="http://schemas.openxmlformats.org/officeDocument/2006/relationships/image" Target="../media/image50.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47.wmf"/><Relationship Id="rId14" Type="http://schemas.openxmlformats.org/officeDocument/2006/relationships/oleObject" Target="../embeddings/oleObject37.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4.wmf"/><Relationship Id="rId12" Type="http://schemas.openxmlformats.org/officeDocument/2006/relationships/oleObject" Target="../embeddings/oleObject44.bin"/><Relationship Id="rId17" Type="http://schemas.openxmlformats.org/officeDocument/2006/relationships/image" Target="../media/image59.wmf"/><Relationship Id="rId2" Type="http://schemas.openxmlformats.org/officeDocument/2006/relationships/oleObject" Target="../embeddings/oleObject39.bin"/><Relationship Id="rId16" Type="http://schemas.openxmlformats.org/officeDocument/2006/relationships/oleObject" Target="../embeddings/oleObject46.bin"/><Relationship Id="rId1" Type="http://schemas.openxmlformats.org/officeDocument/2006/relationships/slideLayout" Target="../slideLayouts/slideLayout13.xml"/><Relationship Id="rId6" Type="http://schemas.openxmlformats.org/officeDocument/2006/relationships/oleObject" Target="../embeddings/oleObject41.bin"/><Relationship Id="rId11" Type="http://schemas.openxmlformats.org/officeDocument/2006/relationships/image" Target="../media/image56.wmf"/><Relationship Id="rId5" Type="http://schemas.openxmlformats.org/officeDocument/2006/relationships/image" Target="../media/image53.wmf"/><Relationship Id="rId15" Type="http://schemas.openxmlformats.org/officeDocument/2006/relationships/image" Target="../media/image58.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55.wmf"/><Relationship Id="rId14" Type="http://schemas.openxmlformats.org/officeDocument/2006/relationships/oleObject" Target="../embeddings/oleObject45.bin"/></Relationships>
</file>

<file path=ppt/slides/_rels/slide14.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image" Target="../media/image64.w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oleObject" Target="../embeddings/oleObject51.bin"/><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58.wmf"/><Relationship Id="rId11" Type="http://schemas.openxmlformats.org/officeDocument/2006/relationships/image" Target="../media/image63.png"/><Relationship Id="rId5" Type="http://schemas.openxmlformats.org/officeDocument/2006/relationships/oleObject" Target="../embeddings/oleObject48.bin"/><Relationship Id="rId10" Type="http://schemas.openxmlformats.org/officeDocument/2006/relationships/image" Target="../media/image62.wmf"/><Relationship Id="rId4" Type="http://schemas.openxmlformats.org/officeDocument/2006/relationships/image" Target="../media/image57.wmf"/><Relationship Id="rId9" Type="http://schemas.openxmlformats.org/officeDocument/2006/relationships/oleObject" Target="../embeddings/oleObject50.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52.bin"/><Relationship Id="rId1" Type="http://schemas.openxmlformats.org/officeDocument/2006/relationships/slideLayout" Target="../slideLayouts/slideLayout13.xml"/><Relationship Id="rId6" Type="http://schemas.openxmlformats.org/officeDocument/2006/relationships/oleObject" Target="../embeddings/oleObject54.bin"/><Relationship Id="rId5" Type="http://schemas.openxmlformats.org/officeDocument/2006/relationships/image" Target="../media/image66.wmf"/><Relationship Id="rId4" Type="http://schemas.openxmlformats.org/officeDocument/2006/relationships/oleObject" Target="../embeddings/oleObject53.bin"/><Relationship Id="rId9" Type="http://schemas.openxmlformats.org/officeDocument/2006/relationships/image" Target="../media/image68.wmf"/></Relationships>
</file>

<file path=ppt/slides/_rels/slide1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61.bin"/><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76.wmf"/><Relationship Id="rId2" Type="http://schemas.openxmlformats.org/officeDocument/2006/relationships/image" Target="../media/image71.jpeg"/><Relationship Id="rId1" Type="http://schemas.openxmlformats.org/officeDocument/2006/relationships/slideLayout" Target="../slideLayouts/slideLayout13.xml"/><Relationship Id="rId6" Type="http://schemas.openxmlformats.org/officeDocument/2006/relationships/image" Target="../media/image73.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59.bin"/><Relationship Id="rId14" Type="http://schemas.openxmlformats.org/officeDocument/2006/relationships/image" Target="../media/image77.wmf"/></Relationships>
</file>

<file path=ppt/slides/_rels/slide20.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jpeg"/><Relationship Id="rId1" Type="http://schemas.openxmlformats.org/officeDocument/2006/relationships/slideLayout" Target="../slideLayouts/slideLayout13.xml"/><Relationship Id="rId5" Type="http://schemas.openxmlformats.org/officeDocument/2006/relationships/image" Target="../media/image83.jpe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image" Target="../media/image101.png"/><Relationship Id="rId1" Type="http://schemas.openxmlformats.org/officeDocument/2006/relationships/slideLayout" Target="../slideLayouts/slideLayout13.xml"/><Relationship Id="rId5" Type="http://schemas.openxmlformats.org/officeDocument/2006/relationships/image" Target="../media/image103.jpeg"/><Relationship Id="rId4" Type="http://schemas.openxmlformats.org/officeDocument/2006/relationships/image" Target="../media/image102.wmf"/></Relationships>
</file>

<file path=ppt/slides/_rels/slide3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image" Target="../media/image106.jpeg"/><Relationship Id="rId1" Type="http://schemas.openxmlformats.org/officeDocument/2006/relationships/slideLayout" Target="../slideLayouts/slideLayout13.xml"/><Relationship Id="rId4" Type="http://schemas.openxmlformats.org/officeDocument/2006/relationships/image" Target="../media/image102.wmf"/></Relationships>
</file>

<file path=ppt/slides/_rels/slide40.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279047" y="2417928"/>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liuws@sustech.edu.cn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sz="1800" dirty="0">
                <a:solidFill>
                  <a:schemeClr val="tx1"/>
                </a:solidFill>
                <a:latin typeface="Arial Unicode MS" pitchFamily="34" charset="-122"/>
                <a:ea typeface="Arial Unicode MS" pitchFamily="34" charset="-122"/>
                <a:cs typeface="Arial Unicode MS" pitchFamily="34" charset="-122"/>
              </a:rPr>
              <a:t>North Tower,Rm310</a:t>
            </a:r>
          </a:p>
        </p:txBody>
      </p:sp>
      <p:sp>
        <p:nvSpPr>
          <p:cNvPr id="6" name="文本框 5">
            <a:extLst>
              <a:ext uri="{FF2B5EF4-FFF2-40B4-BE49-F238E27FC236}">
                <a16:creationId xmlns:a16="http://schemas.microsoft.com/office/drawing/2014/main" id="{201B1E1D-7C41-4F56-BF1E-96200593BAF0}"/>
              </a:ext>
            </a:extLst>
          </p:cNvPr>
          <p:cNvSpPr txBox="1"/>
          <p:nvPr/>
        </p:nvSpPr>
        <p:spPr>
          <a:xfrm>
            <a:off x="1279046" y="1220254"/>
            <a:ext cx="7864954" cy="584775"/>
          </a:xfrm>
          <a:prstGeom prst="rect">
            <a:avLst/>
          </a:prstGeom>
          <a:noFill/>
        </p:spPr>
        <p:txBody>
          <a:bodyPr wrap="squar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17: </a:t>
            </a:r>
            <a:r>
              <a:rPr lang="en-US" altLang="zh-CN" sz="3200" b="1" dirty="0">
                <a:solidFill>
                  <a:srgbClr val="FF0000"/>
                </a:solidFill>
                <a:ea typeface="Arial Unicode MS" panose="020B0604020202020204" charset="-122"/>
                <a:cs typeface="Arial" panose="020B0604020202020204" pitchFamily="34" charset="0"/>
                <a:sym typeface="+mn-ea"/>
              </a:rPr>
              <a:t>Phase diagram-III</a:t>
            </a:r>
            <a:endParaRPr lang="en-US" altLang="zh-CN" sz="3200" dirty="0">
              <a:solidFill>
                <a:srgbClr val="FF0000"/>
              </a:solidFill>
              <a:latin typeface="Arial Unicode MS" pitchFamily="34" charset="-122"/>
              <a:ea typeface="Arial Unicode MS" pitchFamily="34" charset="-122"/>
              <a:cs typeface="Arial Unicode MS" pitchFamily="34" charset="-122"/>
            </a:endParaRPr>
          </a:p>
        </p:txBody>
      </p:sp>
      <p:sp>
        <p:nvSpPr>
          <p:cNvPr id="2" name="矩形 1">
            <a:extLst>
              <a:ext uri="{FF2B5EF4-FFF2-40B4-BE49-F238E27FC236}">
                <a16:creationId xmlns:a16="http://schemas.microsoft.com/office/drawing/2014/main" id="{B9AB98B1-0ACE-9607-D2B7-88FEDC93BE8D}"/>
              </a:ext>
            </a:extLst>
          </p:cNvPr>
          <p:cNvSpPr/>
          <p:nvPr/>
        </p:nvSpPr>
        <p:spPr>
          <a:xfrm>
            <a:off x="2550929" y="84135"/>
            <a:ext cx="6593071" cy="5232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spTree>
    <p:extLst>
      <p:ext uri="{BB962C8B-B14F-4D97-AF65-F5344CB8AC3E}">
        <p14:creationId xmlns:p14="http://schemas.microsoft.com/office/powerpoint/2010/main" val="1728732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8564" y="3352800"/>
            <a:ext cx="5405519" cy="523220"/>
          </a:xfrm>
          <a:prstGeom prst="rect">
            <a:avLst/>
          </a:prstGeom>
          <a:noFill/>
        </p:spPr>
        <p:txBody>
          <a:bodyPr wrap="none" rtlCol="0">
            <a:spAutoFit/>
          </a:bodyPr>
          <a:lstStyle/>
          <a:p>
            <a:r>
              <a:rPr lang="en-US" altLang="zh-CN" sz="2800" dirty="0"/>
              <a:t>46. </a:t>
            </a:r>
            <a:r>
              <a:rPr lang="en-US" altLang="zh-CN" sz="2800" dirty="0">
                <a:solidFill>
                  <a:srgbClr val="FF0000"/>
                </a:solidFill>
              </a:rPr>
              <a:t>Formation of a new compound</a:t>
            </a:r>
            <a:endParaRPr lang="zh-CN" altLang="en-US" sz="2800" dirty="0">
              <a:solidFill>
                <a:srgbClr val="FF0000"/>
              </a:solidFill>
            </a:endParaRPr>
          </a:p>
        </p:txBody>
      </p:sp>
      <p:sp>
        <p:nvSpPr>
          <p:cNvPr id="5" name="TextBox 4"/>
          <p:cNvSpPr txBox="1"/>
          <p:nvPr/>
        </p:nvSpPr>
        <p:spPr>
          <a:xfrm>
            <a:off x="683568" y="4581128"/>
            <a:ext cx="7154917" cy="1477328"/>
          </a:xfrm>
          <a:prstGeom prst="rect">
            <a:avLst/>
          </a:prstGeom>
          <a:noFill/>
        </p:spPr>
        <p:txBody>
          <a:bodyPr wrap="square" rtlCol="0">
            <a:spAutoFit/>
          </a:bodyPr>
          <a:lstStyle/>
          <a:p>
            <a:r>
              <a:rPr lang="en-US" altLang="zh-CN" dirty="0"/>
              <a:t>Chapter 13.6</a:t>
            </a:r>
          </a:p>
          <a:p>
            <a:r>
              <a:rPr lang="en-US" altLang="zh-CN" dirty="0"/>
              <a:t>Binary system </a:t>
            </a:r>
            <a:r>
              <a:rPr lang="en-US" altLang="zh-CN" dirty="0" err="1"/>
              <a:t>contanning</a:t>
            </a:r>
            <a:r>
              <a:rPr lang="en-US" altLang="zh-CN" dirty="0"/>
              <a:t>  compounds</a:t>
            </a:r>
          </a:p>
          <a:p>
            <a:endParaRPr lang="en-US" altLang="zh-CN" dirty="0"/>
          </a:p>
          <a:p>
            <a:r>
              <a:rPr lang="en-US" altLang="zh-CN" dirty="0"/>
              <a:t>Ref. Introduction to the thermodynamics of Materials, 6</a:t>
            </a:r>
            <a:r>
              <a:rPr lang="en-US" altLang="zh-CN" baseline="30000" dirty="0"/>
              <a:t>th</a:t>
            </a:r>
            <a:r>
              <a:rPr lang="en-US" altLang="zh-CN" dirty="0"/>
              <a:t> edition, D. R. Gaskell, and D. E. Laughlin</a:t>
            </a:r>
          </a:p>
        </p:txBody>
      </p:sp>
    </p:spTree>
    <p:extLst>
      <p:ext uri="{BB962C8B-B14F-4D97-AF65-F5344CB8AC3E}">
        <p14:creationId xmlns:p14="http://schemas.microsoft.com/office/powerpoint/2010/main" val="350536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6" name="Picture 4" descr="C:\Users\Administrator.SUSTC-609071422\Downloads\phase-diagram (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8" y="2895600"/>
            <a:ext cx="4499992" cy="356633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0" y="1287002"/>
            <a:ext cx="4833327"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323528" y="190316"/>
            <a:ext cx="7554119" cy="584775"/>
          </a:xfrm>
          <a:prstGeom prst="rect">
            <a:avLst/>
          </a:prstGeom>
          <a:noFill/>
        </p:spPr>
        <p:txBody>
          <a:bodyPr wrap="none" rtlCol="0">
            <a:spAutoFit/>
          </a:bodyPr>
          <a:lstStyle/>
          <a:p>
            <a:r>
              <a:rPr lang="en-US" altLang="zh-CN" sz="3200" dirty="0">
                <a:solidFill>
                  <a:srgbClr val="FF0000"/>
                </a:solidFill>
              </a:rPr>
              <a:t>Binary phase diagram contains a compound</a:t>
            </a:r>
            <a:endParaRPr lang="zh-CN" altLang="en-US" sz="3200" dirty="0">
              <a:solidFill>
                <a:srgbClr val="FF0000"/>
              </a:solidFill>
            </a:endParaRPr>
          </a:p>
        </p:txBody>
      </p:sp>
      <p:sp>
        <p:nvSpPr>
          <p:cNvPr id="14" name="TextBox 13"/>
          <p:cNvSpPr txBox="1"/>
          <p:nvPr/>
        </p:nvSpPr>
        <p:spPr>
          <a:xfrm>
            <a:off x="5334000" y="2494676"/>
            <a:ext cx="2799292" cy="461665"/>
          </a:xfrm>
          <a:prstGeom prst="rect">
            <a:avLst/>
          </a:prstGeom>
          <a:noFill/>
        </p:spPr>
        <p:txBody>
          <a:bodyPr wrap="none" rtlCol="0">
            <a:spAutoFit/>
          </a:bodyPr>
          <a:lstStyle/>
          <a:p>
            <a:r>
              <a:rPr lang="en-US" altLang="zh-CN" sz="2400" dirty="0"/>
              <a:t>Mg-Si phase diagram</a:t>
            </a:r>
            <a:endParaRPr lang="zh-CN" altLang="en-US" sz="2400" dirty="0"/>
          </a:p>
        </p:txBody>
      </p:sp>
    </p:spTree>
    <p:extLst>
      <p:ext uri="{BB962C8B-B14F-4D97-AF65-F5344CB8AC3E}">
        <p14:creationId xmlns:p14="http://schemas.microsoft.com/office/powerpoint/2010/main" val="1371995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67729" y="2878662"/>
            <a:ext cx="2848380" cy="2960618"/>
          </a:xfrm>
          <a:prstGeom prst="rect">
            <a:avLst/>
          </a:prstGeom>
        </p:spPr>
      </p:pic>
      <p:cxnSp>
        <p:nvCxnSpPr>
          <p:cNvPr id="5" name="直接连接符 4"/>
          <p:cNvCxnSpPr/>
          <p:nvPr/>
        </p:nvCxnSpPr>
        <p:spPr>
          <a:xfrm>
            <a:off x="1626740" y="2041469"/>
            <a:ext cx="55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4219028" y="1861449"/>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066900" y="1861449"/>
            <a:ext cx="0" cy="39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2058788" y="1861449"/>
            <a:ext cx="0" cy="39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6379268" y="1861449"/>
            <a:ext cx="0" cy="39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5371156" y="1861449"/>
            <a:ext cx="0" cy="396044"/>
          </a:xfrm>
          <a:prstGeom prst="line">
            <a:avLst/>
          </a:prstGeom>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20522" y="2251232"/>
            <a:ext cx="797013" cy="369332"/>
          </a:xfrm>
          <a:prstGeom prst="rect">
            <a:avLst/>
          </a:prstGeom>
          <a:noFill/>
        </p:spPr>
        <p:txBody>
          <a:bodyPr wrap="none" rtlCol="0">
            <a:spAutoFit/>
          </a:bodyPr>
          <a:lstStyle/>
          <a:p>
            <a:r>
              <a:rPr lang="el-GR" altLang="zh-CN" dirty="0"/>
              <a:t>Ω</a:t>
            </a:r>
            <a:r>
              <a:rPr lang="en-US" altLang="zh-CN" baseline="-25000" dirty="0"/>
              <a:t>AB</a:t>
            </a:r>
            <a:r>
              <a:rPr lang="en-US" altLang="zh-CN" dirty="0"/>
              <a:t> =0</a:t>
            </a:r>
            <a:endParaRPr lang="zh-CN" altLang="en-US" dirty="0"/>
          </a:p>
        </p:txBody>
      </p:sp>
      <p:sp>
        <p:nvSpPr>
          <p:cNvPr id="14" name="文本框 13"/>
          <p:cNvSpPr txBox="1"/>
          <p:nvPr/>
        </p:nvSpPr>
        <p:spPr>
          <a:xfrm>
            <a:off x="2844201" y="2275089"/>
            <a:ext cx="607218" cy="369332"/>
          </a:xfrm>
          <a:prstGeom prst="rect">
            <a:avLst/>
          </a:prstGeom>
          <a:noFill/>
        </p:spPr>
        <p:txBody>
          <a:bodyPr wrap="none" rtlCol="0">
            <a:spAutoFit/>
          </a:bodyPr>
          <a:lstStyle/>
          <a:p>
            <a:r>
              <a:rPr lang="en-US" altLang="zh-CN" dirty="0"/>
              <a:t>-2RT</a:t>
            </a:r>
            <a:endParaRPr lang="zh-CN" altLang="en-US" dirty="0"/>
          </a:p>
        </p:txBody>
      </p:sp>
      <p:sp>
        <p:nvSpPr>
          <p:cNvPr id="17" name="文本框 16"/>
          <p:cNvSpPr txBox="1"/>
          <p:nvPr/>
        </p:nvSpPr>
        <p:spPr>
          <a:xfrm>
            <a:off x="5113367" y="2279559"/>
            <a:ext cx="536685" cy="369332"/>
          </a:xfrm>
          <a:prstGeom prst="rect">
            <a:avLst/>
          </a:prstGeom>
          <a:noFill/>
        </p:spPr>
        <p:txBody>
          <a:bodyPr wrap="none" rtlCol="0">
            <a:spAutoFit/>
          </a:bodyPr>
          <a:lstStyle/>
          <a:p>
            <a:r>
              <a:rPr lang="en-US" altLang="zh-CN" dirty="0"/>
              <a:t>2RT</a:t>
            </a:r>
            <a:endParaRPr lang="zh-CN" altLang="en-US" dirty="0"/>
          </a:p>
        </p:txBody>
      </p:sp>
      <p:graphicFrame>
        <p:nvGraphicFramePr>
          <p:cNvPr id="18" name="对象 17"/>
          <p:cNvGraphicFramePr>
            <a:graphicFrameLocks noChangeAspect="1"/>
          </p:cNvGraphicFramePr>
          <p:nvPr>
            <p:extLst>
              <p:ext uri="{D42A27DB-BD31-4B8C-83A1-F6EECF244321}">
                <p14:modId xmlns:p14="http://schemas.microsoft.com/office/powerpoint/2010/main" val="4046734534"/>
              </p:ext>
            </p:extLst>
          </p:nvPr>
        </p:nvGraphicFramePr>
        <p:xfrm>
          <a:off x="4913228" y="3036471"/>
          <a:ext cx="2978706" cy="564386"/>
        </p:xfrm>
        <a:graphic>
          <a:graphicData uri="http://schemas.openxmlformats.org/presentationml/2006/ole">
            <mc:AlternateContent xmlns:mc="http://schemas.openxmlformats.org/markup-compatibility/2006">
              <mc:Choice xmlns:v="urn:schemas-microsoft-com:vml" Requires="v">
                <p:oleObj name="Equation" r:id="rId4" imgW="2412720" imgH="457200" progId="Equation.DSMT4">
                  <p:embed/>
                </p:oleObj>
              </mc:Choice>
              <mc:Fallback>
                <p:oleObj name="Equation" r:id="rId4" imgW="2412720" imgH="457200" progId="Equation.DSMT4">
                  <p:embed/>
                  <p:pic>
                    <p:nvPicPr>
                      <p:cNvPr id="0" name=""/>
                      <p:cNvPicPr/>
                      <p:nvPr/>
                    </p:nvPicPr>
                    <p:blipFill>
                      <a:blip r:embed="rId5"/>
                      <a:stretch>
                        <a:fillRect/>
                      </a:stretch>
                    </p:blipFill>
                    <p:spPr>
                      <a:xfrm>
                        <a:off x="4913228" y="3036471"/>
                        <a:ext cx="2978706" cy="564386"/>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4196604683"/>
              </p:ext>
            </p:extLst>
          </p:nvPr>
        </p:nvGraphicFramePr>
        <p:xfrm>
          <a:off x="4919287" y="4138756"/>
          <a:ext cx="2965081" cy="580789"/>
        </p:xfrm>
        <a:graphic>
          <a:graphicData uri="http://schemas.openxmlformats.org/presentationml/2006/ole">
            <mc:AlternateContent xmlns:mc="http://schemas.openxmlformats.org/markup-compatibility/2006">
              <mc:Choice xmlns:v="urn:schemas-microsoft-com:vml" Requires="v">
                <p:oleObj name="Equation" r:id="rId6" imgW="2463480" imgH="482400" progId="Equation.DSMT4">
                  <p:embed/>
                </p:oleObj>
              </mc:Choice>
              <mc:Fallback>
                <p:oleObj name="Equation" r:id="rId6" imgW="2463480" imgH="482400" progId="Equation.DSMT4">
                  <p:embed/>
                  <p:pic>
                    <p:nvPicPr>
                      <p:cNvPr id="0" name=""/>
                      <p:cNvPicPr>
                        <a:picLocks noChangeAspect="1" noChangeArrowheads="1"/>
                      </p:cNvPicPr>
                      <p:nvPr/>
                    </p:nvPicPr>
                    <p:blipFill>
                      <a:blip r:embed="rId7"/>
                      <a:srcRect/>
                      <a:stretch>
                        <a:fillRect/>
                      </a:stretch>
                    </p:blipFill>
                    <p:spPr bwMode="auto">
                      <a:xfrm>
                        <a:off x="4919287" y="4138756"/>
                        <a:ext cx="2965081" cy="580789"/>
                      </a:xfrm>
                      <a:prstGeom prst="rect">
                        <a:avLst/>
                      </a:prstGeom>
                      <a:noFill/>
                      <a:ln>
                        <a:noFill/>
                      </a:ln>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4102324611"/>
              </p:ext>
            </p:extLst>
          </p:nvPr>
        </p:nvGraphicFramePr>
        <p:xfrm>
          <a:off x="4934678" y="5169835"/>
          <a:ext cx="2880320" cy="611814"/>
        </p:xfrm>
        <a:graphic>
          <a:graphicData uri="http://schemas.openxmlformats.org/presentationml/2006/ole">
            <mc:AlternateContent xmlns:mc="http://schemas.openxmlformats.org/markup-compatibility/2006">
              <mc:Choice xmlns:v="urn:schemas-microsoft-com:vml" Requires="v">
                <p:oleObj name="Equation" r:id="rId8" imgW="2273040" imgH="482400" progId="Equation.DSMT4">
                  <p:embed/>
                </p:oleObj>
              </mc:Choice>
              <mc:Fallback>
                <p:oleObj name="Equation" r:id="rId8" imgW="2273040" imgH="482400" progId="Equation.DSMT4">
                  <p:embed/>
                  <p:pic>
                    <p:nvPicPr>
                      <p:cNvPr id="0" name=""/>
                      <p:cNvPicPr>
                        <a:picLocks noChangeAspect="1" noChangeArrowheads="1"/>
                      </p:cNvPicPr>
                      <p:nvPr/>
                    </p:nvPicPr>
                    <p:blipFill>
                      <a:blip r:embed="rId9"/>
                      <a:srcRect/>
                      <a:stretch>
                        <a:fillRect/>
                      </a:stretch>
                    </p:blipFill>
                    <p:spPr bwMode="auto">
                      <a:xfrm>
                        <a:off x="4934678" y="5169835"/>
                        <a:ext cx="2880320" cy="611814"/>
                      </a:xfrm>
                      <a:prstGeom prst="rect">
                        <a:avLst/>
                      </a:prstGeom>
                      <a:noFill/>
                      <a:ln>
                        <a:noFill/>
                      </a:ln>
                    </p:spPr>
                  </p:pic>
                </p:oleObj>
              </mc:Fallback>
            </mc:AlternateContent>
          </a:graphicData>
        </a:graphic>
      </p:graphicFrame>
      <p:sp>
        <p:nvSpPr>
          <p:cNvPr id="21" name="TextBox 23"/>
          <p:cNvSpPr txBox="1"/>
          <p:nvPr/>
        </p:nvSpPr>
        <p:spPr>
          <a:xfrm>
            <a:off x="4913228" y="3744684"/>
            <a:ext cx="2646045" cy="369332"/>
          </a:xfrm>
          <a:prstGeom prst="rect">
            <a:avLst/>
          </a:prstGeom>
          <a:noFill/>
        </p:spPr>
        <p:txBody>
          <a:bodyPr wrap="none" rtlCol="0">
            <a:spAutoFit/>
          </a:bodyPr>
          <a:lstStyle/>
          <a:p>
            <a:r>
              <a:rPr lang="en-US" altLang="zh-CN" dirty="0"/>
              <a:t>Equation of </a:t>
            </a:r>
            <a:r>
              <a:rPr lang="en-US" altLang="zh-CN" dirty="0" err="1"/>
              <a:t>binodal</a:t>
            </a:r>
            <a:r>
              <a:rPr lang="en-US" altLang="zh-CN" dirty="0"/>
              <a:t> curve</a:t>
            </a:r>
            <a:endParaRPr lang="zh-CN" altLang="en-US" dirty="0"/>
          </a:p>
        </p:txBody>
      </p:sp>
      <p:sp>
        <p:nvSpPr>
          <p:cNvPr id="22" name="TextBox 25"/>
          <p:cNvSpPr txBox="1"/>
          <p:nvPr/>
        </p:nvSpPr>
        <p:spPr>
          <a:xfrm>
            <a:off x="4882921" y="4760024"/>
            <a:ext cx="2682914" cy="369332"/>
          </a:xfrm>
          <a:prstGeom prst="rect">
            <a:avLst/>
          </a:prstGeom>
          <a:noFill/>
        </p:spPr>
        <p:txBody>
          <a:bodyPr wrap="none" rtlCol="0">
            <a:spAutoFit/>
          </a:bodyPr>
          <a:lstStyle/>
          <a:p>
            <a:r>
              <a:rPr lang="en-US" altLang="zh-CN" dirty="0"/>
              <a:t>Equation of </a:t>
            </a:r>
            <a:r>
              <a:rPr lang="en-US" altLang="zh-CN" dirty="0" err="1"/>
              <a:t>sipnodal</a:t>
            </a:r>
            <a:r>
              <a:rPr lang="en-US" altLang="zh-CN" dirty="0"/>
              <a:t> curve</a:t>
            </a:r>
            <a:endParaRPr lang="zh-CN" altLang="en-US" dirty="0"/>
          </a:p>
        </p:txBody>
      </p:sp>
      <p:sp>
        <p:nvSpPr>
          <p:cNvPr id="25" name="圆角矩形 24"/>
          <p:cNvSpPr/>
          <p:nvPr/>
        </p:nvSpPr>
        <p:spPr>
          <a:xfrm>
            <a:off x="3077453" y="1184882"/>
            <a:ext cx="2304256" cy="792088"/>
          </a:xfrm>
          <a:prstGeom prst="roundRect">
            <a:avLst>
              <a:gd name="adj" fmla="val 110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(A,B )</a:t>
            </a:r>
          </a:p>
          <a:p>
            <a:pPr algn="ctr"/>
            <a:r>
              <a:rPr lang="en-US" altLang="zh-CN" dirty="0"/>
              <a:t>Solid solution</a:t>
            </a:r>
            <a:endParaRPr lang="zh-CN" altLang="en-US" dirty="0"/>
          </a:p>
        </p:txBody>
      </p:sp>
      <p:sp>
        <p:nvSpPr>
          <p:cNvPr id="26" name="圆角矩形 25"/>
          <p:cNvSpPr/>
          <p:nvPr/>
        </p:nvSpPr>
        <p:spPr>
          <a:xfrm>
            <a:off x="5392261" y="1195135"/>
            <a:ext cx="1779095" cy="792088"/>
          </a:xfrm>
          <a:prstGeom prst="roundRect">
            <a:avLst>
              <a:gd name="adj" fmla="val 11008"/>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A/B</a:t>
            </a:r>
          </a:p>
          <a:p>
            <a:pPr algn="ctr"/>
            <a:r>
              <a:rPr lang="en-US" altLang="zh-CN" dirty="0"/>
              <a:t>Phase separate </a:t>
            </a:r>
          </a:p>
        </p:txBody>
      </p:sp>
      <p:sp>
        <p:nvSpPr>
          <p:cNvPr id="27" name="圆角矩形 26"/>
          <p:cNvSpPr/>
          <p:nvPr/>
        </p:nvSpPr>
        <p:spPr>
          <a:xfrm>
            <a:off x="1259632" y="1173564"/>
            <a:ext cx="1779095" cy="792088"/>
          </a:xfrm>
          <a:prstGeom prst="roundRect">
            <a:avLst>
              <a:gd name="adj" fmla="val 11008"/>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AB new phase</a:t>
            </a:r>
          </a:p>
        </p:txBody>
      </p:sp>
      <p:sp>
        <p:nvSpPr>
          <p:cNvPr id="3" name="圆角矩形 2"/>
          <p:cNvSpPr/>
          <p:nvPr/>
        </p:nvSpPr>
        <p:spPr>
          <a:xfrm>
            <a:off x="4596003" y="2830326"/>
            <a:ext cx="3410849" cy="3167610"/>
          </a:xfrm>
          <a:prstGeom prst="roundRect">
            <a:avLst>
              <a:gd name="adj" fmla="val 742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9660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052736"/>
            <a:ext cx="5289599" cy="4524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1772816"/>
            <a:ext cx="874141" cy="845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836711"/>
            <a:ext cx="3024336" cy="446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0409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74322" y="324746"/>
            <a:ext cx="6547755" cy="523220"/>
          </a:xfrm>
          <a:prstGeom prst="rect">
            <a:avLst/>
          </a:prstGeom>
          <a:noFill/>
        </p:spPr>
        <p:txBody>
          <a:bodyPr wrap="none" rtlCol="0">
            <a:spAutoFit/>
          </a:bodyPr>
          <a:lstStyle/>
          <a:p>
            <a:r>
              <a:rPr lang="en-US" altLang="zh-CN" sz="2800" dirty="0">
                <a:solidFill>
                  <a:srgbClr val="FF0000"/>
                </a:solidFill>
              </a:rPr>
              <a:t>The calculation of the Mg-Si phase diagram </a:t>
            </a:r>
            <a:endParaRPr lang="zh-CN" altLang="en-US" sz="2800" dirty="0">
              <a:solidFill>
                <a:srgbClr val="FF0000"/>
              </a:solidFill>
            </a:endParaRPr>
          </a:p>
        </p:txBody>
      </p:sp>
      <p:sp>
        <p:nvSpPr>
          <p:cNvPr id="9" name="矩形 8"/>
          <p:cNvSpPr/>
          <p:nvPr/>
        </p:nvSpPr>
        <p:spPr>
          <a:xfrm>
            <a:off x="175800" y="1600200"/>
            <a:ext cx="5725961" cy="1200329"/>
          </a:xfrm>
          <a:prstGeom prst="rect">
            <a:avLst/>
          </a:prstGeom>
        </p:spPr>
        <p:txBody>
          <a:bodyPr wrap="square">
            <a:spAutoFit/>
          </a:bodyPr>
          <a:lstStyle/>
          <a:p>
            <a:r>
              <a:rPr lang="en-US" altLang="zh-CN" dirty="0"/>
              <a:t>The phase diagram for the system Mg– Si is shown in Fig. 13.14. Determine the extent to which the phase diagram can be calculated, assuming that the liquid solutions exhibit regular solution behavior</a:t>
            </a:r>
            <a:endParaRPr lang="zh-CN" altLang="en-US" dirty="0"/>
          </a:p>
        </p:txBody>
      </p:sp>
      <p:pic>
        <p:nvPicPr>
          <p:cNvPr id="178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889" y="1257432"/>
            <a:ext cx="3260678" cy="3382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76200" y="2886670"/>
            <a:ext cx="4572000" cy="923330"/>
          </a:xfrm>
          <a:prstGeom prst="rect">
            <a:avLst/>
          </a:prstGeom>
        </p:spPr>
        <p:txBody>
          <a:bodyPr>
            <a:spAutoFit/>
          </a:bodyPr>
          <a:lstStyle/>
          <a:p>
            <a:r>
              <a:rPr lang="en-US" altLang="zh-CN" dirty="0"/>
              <a:t>Magnesium melts at 921 K:</a:t>
            </a:r>
          </a:p>
          <a:p>
            <a:r>
              <a:rPr lang="en-US" altLang="zh-CN" dirty="0"/>
              <a:t>Silicon melts at 1688K;</a:t>
            </a:r>
          </a:p>
          <a:p>
            <a:r>
              <a:rPr lang="en-US" altLang="zh-CN" dirty="0"/>
              <a:t>Mg</a:t>
            </a:r>
            <a:r>
              <a:rPr lang="en-US" altLang="zh-CN" baseline="-25000" dirty="0"/>
              <a:t>2</a:t>
            </a:r>
            <a:r>
              <a:rPr lang="en-US" altLang="zh-CN" dirty="0"/>
              <a:t>Si melts at 1358K;</a:t>
            </a:r>
          </a:p>
        </p:txBody>
      </p:sp>
      <p:graphicFrame>
        <p:nvGraphicFramePr>
          <p:cNvPr id="11" name="对象 10"/>
          <p:cNvGraphicFramePr>
            <a:graphicFrameLocks noChangeAspect="1"/>
          </p:cNvGraphicFramePr>
          <p:nvPr>
            <p:extLst>
              <p:ext uri="{D42A27DB-BD31-4B8C-83A1-F6EECF244321}">
                <p14:modId xmlns:p14="http://schemas.microsoft.com/office/powerpoint/2010/main" val="307960061"/>
              </p:ext>
            </p:extLst>
          </p:nvPr>
        </p:nvGraphicFramePr>
        <p:xfrm>
          <a:off x="3048000" y="2876550"/>
          <a:ext cx="2640576" cy="1016868"/>
        </p:xfrm>
        <a:graphic>
          <a:graphicData uri="http://schemas.openxmlformats.org/presentationml/2006/ole">
            <mc:AlternateContent xmlns:mc="http://schemas.openxmlformats.org/markup-compatibility/2006">
              <mc:Choice xmlns:v="urn:schemas-microsoft-com:vml" Requires="v">
                <p:oleObj name="Equation" r:id="rId3" imgW="2044440" imgH="787320" progId="Equation.DSMT4">
                  <p:embed/>
                </p:oleObj>
              </mc:Choice>
              <mc:Fallback>
                <p:oleObj name="Equation" r:id="rId3" imgW="2044440" imgH="787320" progId="Equation.DSMT4">
                  <p:embed/>
                  <p:pic>
                    <p:nvPicPr>
                      <p:cNvPr id="0" name=""/>
                      <p:cNvPicPr/>
                      <p:nvPr/>
                    </p:nvPicPr>
                    <p:blipFill>
                      <a:blip r:embed="rId4"/>
                      <a:stretch>
                        <a:fillRect/>
                      </a:stretch>
                    </p:blipFill>
                    <p:spPr>
                      <a:xfrm>
                        <a:off x="3048000" y="2876550"/>
                        <a:ext cx="2640576" cy="1016868"/>
                      </a:xfrm>
                      <a:prstGeom prst="rect">
                        <a:avLst/>
                      </a:prstGeom>
                    </p:spPr>
                  </p:pic>
                </p:oleObj>
              </mc:Fallback>
            </mc:AlternateContent>
          </a:graphicData>
        </a:graphic>
      </p:graphicFrame>
      <p:sp>
        <p:nvSpPr>
          <p:cNvPr id="12" name="矩形 11"/>
          <p:cNvSpPr/>
          <p:nvPr/>
        </p:nvSpPr>
        <p:spPr>
          <a:xfrm>
            <a:off x="157603" y="4050268"/>
            <a:ext cx="5919184" cy="369332"/>
          </a:xfrm>
          <a:prstGeom prst="rect">
            <a:avLst/>
          </a:prstGeom>
        </p:spPr>
        <p:txBody>
          <a:bodyPr wrap="square">
            <a:spAutoFit/>
          </a:bodyPr>
          <a:lstStyle/>
          <a:p>
            <a:r>
              <a:rPr lang="en-US" altLang="zh-CN" dirty="0"/>
              <a:t>The standard Gibbs free energy change for the reaction</a:t>
            </a:r>
            <a:endParaRPr lang="zh-CN" altLang="en-US" dirty="0"/>
          </a:p>
        </p:txBody>
      </p:sp>
      <p:pic>
        <p:nvPicPr>
          <p:cNvPr id="17818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800" y="4876800"/>
            <a:ext cx="2511877" cy="385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818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800" y="4391025"/>
            <a:ext cx="24288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24932" y="5523683"/>
            <a:ext cx="2513848" cy="646331"/>
          </a:xfrm>
          <a:prstGeom prst="rect">
            <a:avLst/>
          </a:prstGeom>
          <a:noFill/>
        </p:spPr>
        <p:txBody>
          <a:bodyPr wrap="square" rtlCol="0">
            <a:spAutoFit/>
          </a:bodyPr>
          <a:lstStyle/>
          <a:p>
            <a:r>
              <a:rPr lang="en-US" altLang="zh-CN" dirty="0"/>
              <a:t>Regular solution approximation</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2029696488"/>
              </p:ext>
            </p:extLst>
          </p:nvPr>
        </p:nvGraphicFramePr>
        <p:xfrm>
          <a:off x="3636773" y="5142131"/>
          <a:ext cx="2506663" cy="1285875"/>
        </p:xfrm>
        <a:graphic>
          <a:graphicData uri="http://schemas.openxmlformats.org/presentationml/2006/ole">
            <mc:AlternateContent xmlns:mc="http://schemas.openxmlformats.org/markup-compatibility/2006">
              <mc:Choice xmlns:v="urn:schemas-microsoft-com:vml" Requires="v">
                <p:oleObj name="Equation" r:id="rId7" imgW="1955520" imgH="1002960" progId="Equation.DSMT4">
                  <p:embed/>
                </p:oleObj>
              </mc:Choice>
              <mc:Fallback>
                <p:oleObj name="Equation" r:id="rId7" imgW="1955520" imgH="1002960" progId="Equation.DSMT4">
                  <p:embed/>
                  <p:pic>
                    <p:nvPicPr>
                      <p:cNvPr id="0" name=""/>
                      <p:cNvPicPr/>
                      <p:nvPr/>
                    </p:nvPicPr>
                    <p:blipFill>
                      <a:blip r:embed="rId8"/>
                      <a:stretch>
                        <a:fillRect/>
                      </a:stretch>
                    </p:blipFill>
                    <p:spPr>
                      <a:xfrm>
                        <a:off x="3636773" y="5142131"/>
                        <a:ext cx="2506663" cy="1285875"/>
                      </a:xfrm>
                      <a:prstGeom prst="rect">
                        <a:avLst/>
                      </a:prstGeom>
                    </p:spPr>
                  </p:pic>
                </p:oleObj>
              </mc:Fallback>
            </mc:AlternateContent>
          </a:graphicData>
        </a:graphic>
      </p:graphicFrame>
      <p:sp>
        <p:nvSpPr>
          <p:cNvPr id="15" name="圆角矩形 14"/>
          <p:cNvSpPr/>
          <p:nvPr/>
        </p:nvSpPr>
        <p:spPr>
          <a:xfrm>
            <a:off x="3419872" y="4953001"/>
            <a:ext cx="2883149" cy="1500336"/>
          </a:xfrm>
          <a:prstGeom prst="roundRect">
            <a:avLst>
              <a:gd name="adj" fmla="val 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4947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725406389"/>
              </p:ext>
            </p:extLst>
          </p:nvPr>
        </p:nvGraphicFramePr>
        <p:xfrm>
          <a:off x="413800" y="2210922"/>
          <a:ext cx="1147762" cy="419100"/>
        </p:xfrm>
        <a:graphic>
          <a:graphicData uri="http://schemas.openxmlformats.org/presentationml/2006/ole">
            <mc:AlternateContent xmlns:mc="http://schemas.openxmlformats.org/markup-compatibility/2006">
              <mc:Choice xmlns:v="urn:schemas-microsoft-com:vml" Requires="v">
                <p:oleObj name="Equation" r:id="rId2" imgW="660240" imgH="241200" progId="Equation.DSMT4">
                  <p:embed/>
                </p:oleObj>
              </mc:Choice>
              <mc:Fallback>
                <p:oleObj name="Equation" r:id="rId2" imgW="660240" imgH="2412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800" y="2210922"/>
                        <a:ext cx="11477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222755450"/>
              </p:ext>
            </p:extLst>
          </p:nvPr>
        </p:nvGraphicFramePr>
        <p:xfrm>
          <a:off x="521665" y="1437810"/>
          <a:ext cx="2107109" cy="363159"/>
        </p:xfrm>
        <a:graphic>
          <a:graphicData uri="http://schemas.openxmlformats.org/presentationml/2006/ole">
            <mc:AlternateContent xmlns:mc="http://schemas.openxmlformats.org/markup-compatibility/2006">
              <mc:Choice xmlns:v="urn:schemas-microsoft-com:vml" Requires="v">
                <p:oleObj name="Equation" r:id="rId4" imgW="1473120" imgH="253800" progId="Equation.DSMT4">
                  <p:embed/>
                </p:oleObj>
              </mc:Choice>
              <mc:Fallback>
                <p:oleObj name="Equation" r:id="rId4" imgW="1473120" imgH="253800" progId="Equation.DSMT4">
                  <p:embed/>
                  <p:pic>
                    <p:nvPicPr>
                      <p:cNvPr id="0" name=""/>
                      <p:cNvPicPr>
                        <a:picLocks noChangeAspect="1" noChangeArrowheads="1"/>
                      </p:cNvPicPr>
                      <p:nvPr/>
                    </p:nvPicPr>
                    <p:blipFill>
                      <a:blip r:embed="rId5"/>
                      <a:srcRect/>
                      <a:stretch>
                        <a:fillRect/>
                      </a:stretch>
                    </p:blipFill>
                    <p:spPr bwMode="auto">
                      <a:xfrm>
                        <a:off x="521665" y="1437810"/>
                        <a:ext cx="2107109" cy="363159"/>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504940885"/>
              </p:ext>
            </p:extLst>
          </p:nvPr>
        </p:nvGraphicFramePr>
        <p:xfrm>
          <a:off x="3677838" y="1916832"/>
          <a:ext cx="2538412" cy="441325"/>
        </p:xfrm>
        <a:graphic>
          <a:graphicData uri="http://schemas.openxmlformats.org/presentationml/2006/ole">
            <mc:AlternateContent xmlns:mc="http://schemas.openxmlformats.org/markup-compatibility/2006">
              <mc:Choice xmlns:v="urn:schemas-microsoft-com:vml" Requires="v">
                <p:oleObj name="Equation" r:id="rId6" imgW="1460160" imgH="253800" progId="Equation.DSMT4">
                  <p:embed/>
                </p:oleObj>
              </mc:Choice>
              <mc:Fallback>
                <p:oleObj name="Equation" r:id="rId6" imgW="1460160" imgH="253800" progId="Equation.DSMT4">
                  <p:embed/>
                  <p:pic>
                    <p:nvPicPr>
                      <p:cNvPr id="0" name=""/>
                      <p:cNvPicPr>
                        <a:picLocks noChangeAspect="1" noChangeArrowheads="1"/>
                      </p:cNvPicPr>
                      <p:nvPr/>
                    </p:nvPicPr>
                    <p:blipFill>
                      <a:blip r:embed="rId7"/>
                      <a:srcRect/>
                      <a:stretch>
                        <a:fillRect/>
                      </a:stretch>
                    </p:blipFill>
                    <p:spPr bwMode="auto">
                      <a:xfrm>
                        <a:off x="3677838" y="1916832"/>
                        <a:ext cx="2538412" cy="441325"/>
                      </a:xfrm>
                      <a:prstGeom prst="rect">
                        <a:avLst/>
                      </a:prstGeom>
                      <a:noFill/>
                      <a:ln>
                        <a:solidFill>
                          <a:srgbClr val="FF0000"/>
                        </a:solidFill>
                      </a:ln>
                    </p:spPr>
                  </p:pic>
                </p:oleObj>
              </mc:Fallback>
            </mc:AlternateContent>
          </a:graphicData>
        </a:graphic>
      </p:graphicFrame>
      <p:pic>
        <p:nvPicPr>
          <p:cNvPr id="7"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562" y="1855580"/>
            <a:ext cx="2224273" cy="341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对象 7"/>
          <p:cNvGraphicFramePr>
            <a:graphicFrameLocks noChangeAspect="1"/>
          </p:cNvGraphicFramePr>
          <p:nvPr>
            <p:extLst>
              <p:ext uri="{D42A27DB-BD31-4B8C-83A1-F6EECF244321}">
                <p14:modId xmlns:p14="http://schemas.microsoft.com/office/powerpoint/2010/main" val="1860109099"/>
              </p:ext>
            </p:extLst>
          </p:nvPr>
        </p:nvGraphicFramePr>
        <p:xfrm>
          <a:off x="401512" y="2668122"/>
          <a:ext cx="1892300" cy="254000"/>
        </p:xfrm>
        <a:graphic>
          <a:graphicData uri="http://schemas.openxmlformats.org/presentationml/2006/ole">
            <mc:AlternateContent xmlns:mc="http://schemas.openxmlformats.org/markup-compatibility/2006">
              <mc:Choice xmlns:v="urn:schemas-microsoft-com:vml" Requires="v">
                <p:oleObj name="Equation" r:id="rId9" imgW="1892160" imgH="253800" progId="Equation.DSMT4">
                  <p:embed/>
                </p:oleObj>
              </mc:Choice>
              <mc:Fallback>
                <p:oleObj name="Equation" r:id="rId9" imgW="1892160" imgH="253800" progId="Equation.DSMT4">
                  <p:embed/>
                  <p:pic>
                    <p:nvPicPr>
                      <p:cNvPr id="0" name=""/>
                      <p:cNvPicPr/>
                      <p:nvPr/>
                    </p:nvPicPr>
                    <p:blipFill>
                      <a:blip r:embed="rId10"/>
                      <a:stretch>
                        <a:fillRect/>
                      </a:stretch>
                    </p:blipFill>
                    <p:spPr>
                      <a:xfrm>
                        <a:off x="401512" y="2668122"/>
                        <a:ext cx="1892300" cy="254000"/>
                      </a:xfrm>
                      <a:prstGeom prst="rect">
                        <a:avLst/>
                      </a:prstGeom>
                    </p:spPr>
                  </p:pic>
                </p:oleObj>
              </mc:Fallback>
            </mc:AlternateContent>
          </a:graphicData>
        </a:graphic>
      </p:graphicFrame>
      <p:sp>
        <p:nvSpPr>
          <p:cNvPr id="9" name="右箭头 8"/>
          <p:cNvSpPr/>
          <p:nvPr/>
        </p:nvSpPr>
        <p:spPr>
          <a:xfrm>
            <a:off x="2955033" y="2232244"/>
            <a:ext cx="646045" cy="238462"/>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331562" y="1252588"/>
            <a:ext cx="2439810" cy="1948934"/>
          </a:xfrm>
          <a:prstGeom prst="roundRect">
            <a:avLst>
              <a:gd name="adj" fmla="val 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44363" y="2470706"/>
            <a:ext cx="242887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6376041" y="1982143"/>
            <a:ext cx="431528" cy="369332"/>
          </a:xfrm>
          <a:prstGeom prst="rect">
            <a:avLst/>
          </a:prstGeom>
          <a:noFill/>
        </p:spPr>
        <p:txBody>
          <a:bodyPr wrap="none" rtlCol="0">
            <a:spAutoFit/>
          </a:bodyPr>
          <a:lstStyle/>
          <a:p>
            <a:r>
              <a:rPr lang="en-US" altLang="zh-CN" dirty="0"/>
              <a:t>(ii)</a:t>
            </a:r>
            <a:endParaRPr lang="zh-CN" altLang="en-US" dirty="0"/>
          </a:p>
        </p:txBody>
      </p:sp>
      <p:graphicFrame>
        <p:nvGraphicFramePr>
          <p:cNvPr id="13" name="对象 12"/>
          <p:cNvGraphicFramePr>
            <a:graphicFrameLocks noChangeAspect="1"/>
          </p:cNvGraphicFramePr>
          <p:nvPr>
            <p:extLst>
              <p:ext uri="{D42A27DB-BD31-4B8C-83A1-F6EECF244321}">
                <p14:modId xmlns:p14="http://schemas.microsoft.com/office/powerpoint/2010/main" val="3822498908"/>
              </p:ext>
            </p:extLst>
          </p:nvPr>
        </p:nvGraphicFramePr>
        <p:xfrm>
          <a:off x="7087528" y="1845490"/>
          <a:ext cx="1739552" cy="802870"/>
        </p:xfrm>
        <a:graphic>
          <a:graphicData uri="http://schemas.openxmlformats.org/presentationml/2006/ole">
            <mc:AlternateContent xmlns:mc="http://schemas.openxmlformats.org/markup-compatibility/2006">
              <mc:Choice xmlns:v="urn:schemas-microsoft-com:vml" Requires="v">
                <p:oleObj name="Equation" r:id="rId12" imgW="1650960" imgH="761760" progId="Equation.DSMT4">
                  <p:embed/>
                </p:oleObj>
              </mc:Choice>
              <mc:Fallback>
                <p:oleObj name="Equation" r:id="rId12" imgW="1650960" imgH="761760" progId="Equation.DSMT4">
                  <p:embed/>
                  <p:pic>
                    <p:nvPicPr>
                      <p:cNvPr id="0" name=""/>
                      <p:cNvPicPr/>
                      <p:nvPr/>
                    </p:nvPicPr>
                    <p:blipFill>
                      <a:blip r:embed="rId13"/>
                      <a:stretch>
                        <a:fillRect/>
                      </a:stretch>
                    </p:blipFill>
                    <p:spPr>
                      <a:xfrm>
                        <a:off x="7087528" y="1845490"/>
                        <a:ext cx="1739552" cy="802870"/>
                      </a:xfrm>
                      <a:prstGeom prst="rect">
                        <a:avLst/>
                      </a:prstGeom>
                    </p:spPr>
                  </p:pic>
                </p:oleObj>
              </mc:Fallback>
            </mc:AlternateContent>
          </a:graphicData>
        </a:graphic>
      </p:graphicFrame>
      <p:sp>
        <p:nvSpPr>
          <p:cNvPr id="14" name="TextBox 13"/>
          <p:cNvSpPr txBox="1"/>
          <p:nvPr/>
        </p:nvSpPr>
        <p:spPr>
          <a:xfrm>
            <a:off x="897633" y="3680183"/>
            <a:ext cx="1000595" cy="369332"/>
          </a:xfrm>
          <a:prstGeom prst="rect">
            <a:avLst/>
          </a:prstGeom>
          <a:noFill/>
        </p:spPr>
        <p:txBody>
          <a:bodyPr wrap="none" rtlCol="0">
            <a:spAutoFit/>
          </a:bodyPr>
          <a:lstStyle/>
          <a:p>
            <a:r>
              <a:rPr lang="en-US" altLang="zh-CN" dirty="0">
                <a:solidFill>
                  <a:srgbClr val="FF0000"/>
                </a:solidFill>
              </a:rPr>
              <a:t>T=1358K</a:t>
            </a:r>
            <a:endParaRPr lang="zh-CN" altLang="en-US" dirty="0">
              <a:solidFill>
                <a:srgbClr val="FF0000"/>
              </a:solidFill>
            </a:endParaRPr>
          </a:p>
        </p:txBody>
      </p:sp>
      <p:cxnSp>
        <p:nvCxnSpPr>
          <p:cNvPr id="15" name="直接连接符 14"/>
          <p:cNvCxnSpPr/>
          <p:nvPr/>
        </p:nvCxnSpPr>
        <p:spPr>
          <a:xfrm flipV="1">
            <a:off x="516633" y="4680450"/>
            <a:ext cx="0" cy="599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514577" y="4080517"/>
            <a:ext cx="0" cy="1199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2935751" y="3343117"/>
            <a:ext cx="19282" cy="19372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16633" y="5280383"/>
            <a:ext cx="2438401"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35633" y="5215851"/>
            <a:ext cx="490840" cy="369332"/>
          </a:xfrm>
          <a:prstGeom prst="rect">
            <a:avLst/>
          </a:prstGeom>
          <a:noFill/>
        </p:spPr>
        <p:txBody>
          <a:bodyPr wrap="none" rtlCol="0">
            <a:spAutoFit/>
          </a:bodyPr>
          <a:lstStyle/>
          <a:p>
            <a:r>
              <a:rPr lang="en-US" altLang="zh-CN" dirty="0"/>
              <a:t>Mg</a:t>
            </a:r>
            <a:endParaRPr lang="zh-CN" altLang="en-US" dirty="0"/>
          </a:p>
        </p:txBody>
      </p:sp>
      <p:sp>
        <p:nvSpPr>
          <p:cNvPr id="20" name="TextBox 19"/>
          <p:cNvSpPr txBox="1"/>
          <p:nvPr/>
        </p:nvSpPr>
        <p:spPr>
          <a:xfrm>
            <a:off x="2764069" y="5226087"/>
            <a:ext cx="343364" cy="369332"/>
          </a:xfrm>
          <a:prstGeom prst="rect">
            <a:avLst/>
          </a:prstGeom>
          <a:noFill/>
        </p:spPr>
        <p:txBody>
          <a:bodyPr wrap="none" rtlCol="0">
            <a:spAutoFit/>
          </a:bodyPr>
          <a:lstStyle/>
          <a:p>
            <a:r>
              <a:rPr lang="en-US" altLang="zh-CN" dirty="0"/>
              <a:t>Si</a:t>
            </a:r>
            <a:endParaRPr lang="zh-CN" altLang="en-US" dirty="0"/>
          </a:p>
        </p:txBody>
      </p:sp>
      <p:sp>
        <p:nvSpPr>
          <p:cNvPr id="21" name="TextBox 20"/>
          <p:cNvSpPr txBox="1"/>
          <p:nvPr/>
        </p:nvSpPr>
        <p:spPr>
          <a:xfrm>
            <a:off x="1202433" y="5204183"/>
            <a:ext cx="766557" cy="369332"/>
          </a:xfrm>
          <a:prstGeom prst="rect">
            <a:avLst/>
          </a:prstGeom>
          <a:noFill/>
        </p:spPr>
        <p:txBody>
          <a:bodyPr wrap="none" rtlCol="0">
            <a:spAutoFit/>
          </a:bodyPr>
          <a:lstStyle/>
          <a:p>
            <a:r>
              <a:rPr lang="en-US" altLang="zh-CN" dirty="0"/>
              <a:t>Mg2Si</a:t>
            </a:r>
            <a:endParaRPr lang="zh-CN" altLang="en-US" dirty="0"/>
          </a:p>
        </p:txBody>
      </p:sp>
      <p:sp>
        <p:nvSpPr>
          <p:cNvPr id="22" name="任意多边形 21"/>
          <p:cNvSpPr/>
          <p:nvPr/>
        </p:nvSpPr>
        <p:spPr>
          <a:xfrm>
            <a:off x="904457" y="4033286"/>
            <a:ext cx="1337480" cy="409613"/>
          </a:xfrm>
          <a:custGeom>
            <a:avLst/>
            <a:gdLst>
              <a:gd name="connsiteX0" fmla="*/ 0 w 1337480"/>
              <a:gd name="connsiteY0" fmla="*/ 409613 h 409613"/>
              <a:gd name="connsiteX1" fmla="*/ 641445 w 1337480"/>
              <a:gd name="connsiteY1" fmla="*/ 180 h 409613"/>
              <a:gd name="connsiteX2" fmla="*/ 1337480 w 1337480"/>
              <a:gd name="connsiteY2" fmla="*/ 368670 h 409613"/>
            </a:gdLst>
            <a:ahLst/>
            <a:cxnLst>
              <a:cxn ang="0">
                <a:pos x="connsiteX0" y="connsiteY0"/>
              </a:cxn>
              <a:cxn ang="0">
                <a:pos x="connsiteX1" y="connsiteY1"/>
              </a:cxn>
              <a:cxn ang="0">
                <a:pos x="connsiteX2" y="connsiteY2"/>
              </a:cxn>
            </a:cxnLst>
            <a:rect l="l" t="t" r="r" b="b"/>
            <a:pathLst>
              <a:path w="1337480" h="409613">
                <a:moveTo>
                  <a:pt x="0" y="409613"/>
                </a:moveTo>
                <a:cubicBezTo>
                  <a:pt x="209266" y="208308"/>
                  <a:pt x="418532" y="7004"/>
                  <a:pt x="641445" y="180"/>
                </a:cubicBezTo>
                <a:cubicBezTo>
                  <a:pt x="864358" y="-6644"/>
                  <a:pt x="1100919" y="181013"/>
                  <a:pt x="1337480" y="3686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2"/>
          <p:cNvSpPr txBox="1"/>
          <p:nvPr/>
        </p:nvSpPr>
        <p:spPr>
          <a:xfrm>
            <a:off x="3491880" y="1124744"/>
            <a:ext cx="2667718" cy="369332"/>
          </a:xfrm>
          <a:prstGeom prst="rect">
            <a:avLst/>
          </a:prstGeom>
          <a:noFill/>
        </p:spPr>
        <p:txBody>
          <a:bodyPr wrap="none" rtlCol="0">
            <a:spAutoFit/>
          </a:bodyPr>
          <a:lstStyle/>
          <a:p>
            <a:r>
              <a:rPr lang="en-US" altLang="zh-CN" dirty="0"/>
              <a:t>The equilibrium equation </a:t>
            </a:r>
            <a:endParaRPr lang="zh-CN" altLang="en-US" dirty="0"/>
          </a:p>
        </p:txBody>
      </p:sp>
      <p:graphicFrame>
        <p:nvGraphicFramePr>
          <p:cNvPr id="24" name="对象 23"/>
          <p:cNvGraphicFramePr>
            <a:graphicFrameLocks noChangeAspect="1"/>
          </p:cNvGraphicFramePr>
          <p:nvPr>
            <p:extLst>
              <p:ext uri="{D42A27DB-BD31-4B8C-83A1-F6EECF244321}">
                <p14:modId xmlns:p14="http://schemas.microsoft.com/office/powerpoint/2010/main" val="1973069769"/>
              </p:ext>
            </p:extLst>
          </p:nvPr>
        </p:nvGraphicFramePr>
        <p:xfrm>
          <a:off x="3806282" y="3123538"/>
          <a:ext cx="2817812" cy="676275"/>
        </p:xfrm>
        <a:graphic>
          <a:graphicData uri="http://schemas.openxmlformats.org/presentationml/2006/ole">
            <mc:AlternateContent xmlns:mc="http://schemas.openxmlformats.org/markup-compatibility/2006">
              <mc:Choice xmlns:v="urn:schemas-microsoft-com:vml" Requires="v">
                <p:oleObj name="Equation" r:id="rId14" imgW="2323800" imgH="558720" progId="Equation.DSMT4">
                  <p:embed/>
                </p:oleObj>
              </mc:Choice>
              <mc:Fallback>
                <p:oleObj name="Equation" r:id="rId14" imgW="2323800" imgH="558720" progId="Equation.DSMT4">
                  <p:embed/>
                  <p:pic>
                    <p:nvPicPr>
                      <p:cNvPr id="0" name=""/>
                      <p:cNvPicPr>
                        <a:picLocks noChangeAspect="1" noChangeArrowheads="1"/>
                      </p:cNvPicPr>
                      <p:nvPr/>
                    </p:nvPicPr>
                    <p:blipFill>
                      <a:blip r:embed="rId15"/>
                      <a:srcRect/>
                      <a:stretch>
                        <a:fillRect/>
                      </a:stretch>
                    </p:blipFill>
                    <p:spPr bwMode="auto">
                      <a:xfrm>
                        <a:off x="3806282" y="3123538"/>
                        <a:ext cx="28178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p:cNvSpPr/>
          <p:nvPr/>
        </p:nvSpPr>
        <p:spPr>
          <a:xfrm>
            <a:off x="3612420" y="3873185"/>
            <a:ext cx="4572000" cy="646331"/>
          </a:xfrm>
          <a:prstGeom prst="rect">
            <a:avLst/>
          </a:prstGeom>
        </p:spPr>
        <p:txBody>
          <a:bodyPr>
            <a:spAutoFit/>
          </a:bodyPr>
          <a:lstStyle/>
          <a:p>
            <a:r>
              <a:rPr lang="en-US" altLang="zh-CN" dirty="0"/>
              <a:t>Since liquids on the Mg</a:t>
            </a:r>
            <a:r>
              <a:rPr lang="en-US" altLang="zh-CN" baseline="-25000" dirty="0"/>
              <a:t>2</a:t>
            </a:r>
            <a:r>
              <a:rPr lang="en-US" altLang="zh-CN" dirty="0"/>
              <a:t> Si </a:t>
            </a:r>
            <a:r>
              <a:rPr lang="en-US" altLang="zh-CN" dirty="0" err="1"/>
              <a:t>liquidus</a:t>
            </a:r>
            <a:r>
              <a:rPr lang="en-US" altLang="zh-CN" dirty="0"/>
              <a:t> line are saturated with Mg</a:t>
            </a:r>
            <a:r>
              <a:rPr lang="en-US" altLang="zh-CN" baseline="-25000" dirty="0"/>
              <a:t>2</a:t>
            </a:r>
            <a:r>
              <a:rPr lang="en-US" altLang="zh-CN" dirty="0"/>
              <a:t> Si, </a:t>
            </a:r>
            <a:r>
              <a:rPr lang="en-US" altLang="zh-CN" i="1" dirty="0"/>
              <a:t>a</a:t>
            </a:r>
            <a:r>
              <a:rPr lang="en-US" altLang="zh-CN" baseline="-25000" dirty="0"/>
              <a:t>Mg2Si </a:t>
            </a:r>
            <a:r>
              <a:rPr lang="en-US" altLang="zh-CN" i="1" baseline="-25000" dirty="0"/>
              <a:t> </a:t>
            </a:r>
            <a:r>
              <a:rPr lang="en-US" altLang="zh-CN" baseline="-25000" dirty="0"/>
              <a:t>( s)</a:t>
            </a:r>
            <a:r>
              <a:rPr lang="en-US" altLang="zh-CN" dirty="0"/>
              <a:t> =1</a:t>
            </a:r>
            <a:endParaRPr lang="zh-CN" altLang="en-US" dirty="0"/>
          </a:p>
        </p:txBody>
      </p:sp>
      <p:graphicFrame>
        <p:nvGraphicFramePr>
          <p:cNvPr id="26" name="对象 25"/>
          <p:cNvGraphicFramePr>
            <a:graphicFrameLocks noChangeAspect="1"/>
          </p:cNvGraphicFramePr>
          <p:nvPr>
            <p:extLst>
              <p:ext uri="{D42A27DB-BD31-4B8C-83A1-F6EECF244321}">
                <p14:modId xmlns:p14="http://schemas.microsoft.com/office/powerpoint/2010/main" val="3953417560"/>
              </p:ext>
            </p:extLst>
          </p:nvPr>
        </p:nvGraphicFramePr>
        <p:xfrm>
          <a:off x="3982349" y="4620413"/>
          <a:ext cx="3125787" cy="307975"/>
        </p:xfrm>
        <a:graphic>
          <a:graphicData uri="http://schemas.openxmlformats.org/presentationml/2006/ole">
            <mc:AlternateContent xmlns:mc="http://schemas.openxmlformats.org/markup-compatibility/2006">
              <mc:Choice xmlns:v="urn:schemas-microsoft-com:vml" Requires="v">
                <p:oleObj name="Equation" r:id="rId16" imgW="2577960" imgH="253800" progId="Equation.DSMT4">
                  <p:embed/>
                </p:oleObj>
              </mc:Choice>
              <mc:Fallback>
                <p:oleObj name="Equation" r:id="rId16" imgW="2577960" imgH="253800" progId="Equation.DSMT4">
                  <p:embed/>
                  <p:pic>
                    <p:nvPicPr>
                      <p:cNvPr id="0" name=""/>
                      <p:cNvPicPr>
                        <a:picLocks noChangeAspect="1" noChangeArrowheads="1"/>
                      </p:cNvPicPr>
                      <p:nvPr/>
                    </p:nvPicPr>
                    <p:blipFill>
                      <a:blip r:embed="rId17"/>
                      <a:srcRect/>
                      <a:stretch>
                        <a:fillRect/>
                      </a:stretch>
                    </p:blipFill>
                    <p:spPr bwMode="auto">
                      <a:xfrm>
                        <a:off x="3982349" y="4620413"/>
                        <a:ext cx="3125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840026563"/>
              </p:ext>
            </p:extLst>
          </p:nvPr>
        </p:nvGraphicFramePr>
        <p:xfrm>
          <a:off x="2928099" y="5595419"/>
          <a:ext cx="5695950" cy="415925"/>
        </p:xfrm>
        <a:graphic>
          <a:graphicData uri="http://schemas.openxmlformats.org/presentationml/2006/ole">
            <mc:AlternateContent xmlns:mc="http://schemas.openxmlformats.org/markup-compatibility/2006">
              <mc:Choice xmlns:v="urn:schemas-microsoft-com:vml" Requires="v">
                <p:oleObj name="Equation" r:id="rId18" imgW="4698720" imgH="342720" progId="Equation.DSMT4">
                  <p:embed/>
                </p:oleObj>
              </mc:Choice>
              <mc:Fallback>
                <p:oleObj name="Equation" r:id="rId18" imgW="4698720" imgH="342720" progId="Equation.DSMT4">
                  <p:embed/>
                  <p:pic>
                    <p:nvPicPr>
                      <p:cNvPr id="0" name=""/>
                      <p:cNvPicPr>
                        <a:picLocks noChangeAspect="1" noChangeArrowheads="1"/>
                      </p:cNvPicPr>
                      <p:nvPr/>
                    </p:nvPicPr>
                    <p:blipFill>
                      <a:blip r:embed="rId19"/>
                      <a:srcRect/>
                      <a:stretch>
                        <a:fillRect/>
                      </a:stretch>
                    </p:blipFill>
                    <p:spPr bwMode="auto">
                      <a:xfrm>
                        <a:off x="2928099" y="5595419"/>
                        <a:ext cx="5695950" cy="415925"/>
                      </a:xfrm>
                      <a:prstGeom prst="rect">
                        <a:avLst/>
                      </a:prstGeom>
                      <a:solidFill>
                        <a:schemeClr val="accent6">
                          <a:lumMod val="20000"/>
                          <a:lumOff val="80000"/>
                        </a:schemeClr>
                      </a:solidFill>
                      <a:ln>
                        <a:noFill/>
                      </a:ln>
                    </p:spPr>
                  </p:pic>
                </p:oleObj>
              </mc:Fallback>
            </mc:AlternateContent>
          </a:graphicData>
        </a:graphic>
      </p:graphicFrame>
      <p:sp>
        <p:nvSpPr>
          <p:cNvPr id="29" name="TextBox 28"/>
          <p:cNvSpPr txBox="1"/>
          <p:nvPr/>
        </p:nvSpPr>
        <p:spPr>
          <a:xfrm>
            <a:off x="2555835" y="6196662"/>
            <a:ext cx="5978816" cy="369332"/>
          </a:xfrm>
          <a:prstGeom prst="rect">
            <a:avLst/>
          </a:prstGeom>
          <a:solidFill>
            <a:schemeClr val="accent3">
              <a:lumMod val="20000"/>
              <a:lumOff val="80000"/>
            </a:schemeClr>
          </a:solidFill>
        </p:spPr>
        <p:txBody>
          <a:bodyPr wrap="none" rtlCol="0">
            <a:spAutoFit/>
          </a:bodyPr>
          <a:lstStyle/>
          <a:p>
            <a:r>
              <a:rPr lang="en-US" altLang="zh-CN" dirty="0"/>
              <a:t>Determined the interaction parameter </a:t>
            </a:r>
            <a:r>
              <a:rPr lang="el-GR" altLang="zh-CN" dirty="0">
                <a:solidFill>
                  <a:srgbClr val="FF0000"/>
                </a:solidFill>
              </a:rPr>
              <a:t>Ω</a:t>
            </a:r>
            <a:r>
              <a:rPr lang="en-US" altLang="zh-CN" dirty="0"/>
              <a:t> in the liquid solution </a:t>
            </a:r>
            <a:endParaRPr lang="zh-CN" altLang="en-US" dirty="0"/>
          </a:p>
        </p:txBody>
      </p:sp>
      <p:graphicFrame>
        <p:nvGraphicFramePr>
          <p:cNvPr id="30" name="对象 29"/>
          <p:cNvGraphicFramePr>
            <a:graphicFrameLocks noChangeAspect="1"/>
          </p:cNvGraphicFramePr>
          <p:nvPr>
            <p:extLst>
              <p:ext uri="{D42A27DB-BD31-4B8C-83A1-F6EECF244321}">
                <p14:modId xmlns:p14="http://schemas.microsoft.com/office/powerpoint/2010/main" val="1628979678"/>
              </p:ext>
            </p:extLst>
          </p:nvPr>
        </p:nvGraphicFramePr>
        <p:xfrm>
          <a:off x="3537184" y="5064224"/>
          <a:ext cx="2701925" cy="381000"/>
        </p:xfrm>
        <a:graphic>
          <a:graphicData uri="http://schemas.openxmlformats.org/presentationml/2006/ole">
            <mc:AlternateContent xmlns:mc="http://schemas.openxmlformats.org/markup-compatibility/2006">
              <mc:Choice xmlns:v="urn:schemas-microsoft-com:vml" Requires="v">
                <p:oleObj name="Equation" r:id="rId20" imgW="1981080" imgH="279360" progId="Equation.DSMT4">
                  <p:embed/>
                </p:oleObj>
              </mc:Choice>
              <mc:Fallback>
                <p:oleObj name="Equation" r:id="rId20" imgW="1981080" imgH="279360" progId="Equation.DSMT4">
                  <p:embed/>
                  <p:pic>
                    <p:nvPicPr>
                      <p:cNvPr id="0" name="对象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537184" y="5064224"/>
                        <a:ext cx="2701925" cy="381000"/>
                      </a:xfrm>
                      <a:prstGeom prst="rect">
                        <a:avLst/>
                      </a:prstGeom>
                      <a:solidFill>
                        <a:srgbClr val="FCD5B5"/>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TextBox 7"/>
          <p:cNvSpPr txBox="1"/>
          <p:nvPr/>
        </p:nvSpPr>
        <p:spPr>
          <a:xfrm>
            <a:off x="1374322" y="324746"/>
            <a:ext cx="6547755" cy="523220"/>
          </a:xfrm>
          <a:prstGeom prst="rect">
            <a:avLst/>
          </a:prstGeom>
          <a:noFill/>
        </p:spPr>
        <p:txBody>
          <a:bodyPr wrap="none" rtlCol="0">
            <a:spAutoFit/>
          </a:bodyPr>
          <a:lstStyle/>
          <a:p>
            <a:r>
              <a:rPr lang="en-US" altLang="zh-CN" sz="2800" dirty="0">
                <a:solidFill>
                  <a:srgbClr val="FF0000"/>
                </a:solidFill>
              </a:rPr>
              <a:t>The calculation of the Mg-Si phase diagram </a:t>
            </a:r>
            <a:endParaRPr lang="zh-CN" altLang="en-US" sz="2800" dirty="0">
              <a:solidFill>
                <a:srgbClr val="FF0000"/>
              </a:solidFill>
            </a:endParaRPr>
          </a:p>
        </p:txBody>
      </p:sp>
    </p:spTree>
    <p:extLst>
      <p:ext uri="{BB962C8B-B14F-4D97-AF65-F5344CB8AC3E}">
        <p14:creationId xmlns:p14="http://schemas.microsoft.com/office/powerpoint/2010/main" val="2518259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62297" y="177803"/>
            <a:ext cx="6547755" cy="523220"/>
          </a:xfrm>
          <a:prstGeom prst="rect">
            <a:avLst/>
          </a:prstGeom>
          <a:noFill/>
        </p:spPr>
        <p:txBody>
          <a:bodyPr wrap="none" rtlCol="0">
            <a:spAutoFit/>
          </a:bodyPr>
          <a:lstStyle/>
          <a:p>
            <a:r>
              <a:rPr lang="en-US" altLang="zh-CN" sz="2800" dirty="0">
                <a:solidFill>
                  <a:srgbClr val="FF0000"/>
                </a:solidFill>
              </a:rPr>
              <a:t>The calculation of the Mg-Si phase diagram </a:t>
            </a:r>
            <a:endParaRPr lang="zh-CN" altLang="en-US" sz="2800" dirty="0">
              <a:solidFill>
                <a:srgbClr val="FF0000"/>
              </a:solidFill>
            </a:endParaRPr>
          </a:p>
        </p:txBody>
      </p:sp>
      <p:cxnSp>
        <p:nvCxnSpPr>
          <p:cNvPr id="12" name="直接连接符 11"/>
          <p:cNvCxnSpPr/>
          <p:nvPr/>
        </p:nvCxnSpPr>
        <p:spPr>
          <a:xfrm>
            <a:off x="381000" y="2111284"/>
            <a:ext cx="24384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62000" y="1710950"/>
            <a:ext cx="1000595" cy="369332"/>
          </a:xfrm>
          <a:prstGeom prst="rect">
            <a:avLst/>
          </a:prstGeom>
          <a:noFill/>
        </p:spPr>
        <p:txBody>
          <a:bodyPr wrap="none" rtlCol="0">
            <a:spAutoFit/>
          </a:bodyPr>
          <a:lstStyle/>
          <a:p>
            <a:r>
              <a:rPr lang="en-US" altLang="zh-CN" dirty="0">
                <a:solidFill>
                  <a:srgbClr val="FF0000"/>
                </a:solidFill>
              </a:rPr>
              <a:t>T=1358K</a:t>
            </a:r>
            <a:endParaRPr lang="zh-CN" altLang="en-US" dirty="0">
              <a:solidFill>
                <a:srgbClr val="FF0000"/>
              </a:solidFill>
            </a:endParaRPr>
          </a:p>
        </p:txBody>
      </p:sp>
      <p:sp>
        <p:nvSpPr>
          <p:cNvPr id="14" name="TextBox 13"/>
          <p:cNvSpPr txBox="1"/>
          <p:nvPr/>
        </p:nvSpPr>
        <p:spPr>
          <a:xfrm>
            <a:off x="3048000" y="1156952"/>
            <a:ext cx="3124199" cy="646331"/>
          </a:xfrm>
          <a:prstGeom prst="rect">
            <a:avLst/>
          </a:prstGeom>
          <a:noFill/>
        </p:spPr>
        <p:txBody>
          <a:bodyPr wrap="square" rtlCol="0">
            <a:spAutoFit/>
          </a:bodyPr>
          <a:lstStyle/>
          <a:p>
            <a:r>
              <a:rPr lang="en-US" altLang="zh-CN" dirty="0">
                <a:solidFill>
                  <a:srgbClr val="FF0000"/>
                </a:solidFill>
              </a:rPr>
              <a:t>T=1358K: Liquid Mg + Solid Si  </a:t>
            </a:r>
          </a:p>
          <a:p>
            <a:r>
              <a:rPr lang="en-US" altLang="zh-CN" dirty="0">
                <a:solidFill>
                  <a:srgbClr val="FF0000"/>
                </a:solidFill>
              </a:rPr>
              <a:t>                  standard  state</a:t>
            </a:r>
            <a:endParaRPr lang="zh-CN" altLang="en-US" dirty="0">
              <a:solidFill>
                <a:srgbClr val="FF0000"/>
              </a:solidFill>
            </a:endParaRPr>
          </a:p>
        </p:txBody>
      </p:sp>
      <p:cxnSp>
        <p:nvCxnSpPr>
          <p:cNvPr id="16" name="直接连接符 15"/>
          <p:cNvCxnSpPr/>
          <p:nvPr/>
        </p:nvCxnSpPr>
        <p:spPr>
          <a:xfrm flipV="1">
            <a:off x="381000" y="2711217"/>
            <a:ext cx="0" cy="599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378944" y="2111284"/>
            <a:ext cx="0" cy="1199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2819400" y="1145284"/>
            <a:ext cx="1" cy="2165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1000" y="3311150"/>
            <a:ext cx="2438401"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0" y="3246618"/>
            <a:ext cx="490840" cy="369332"/>
          </a:xfrm>
          <a:prstGeom prst="rect">
            <a:avLst/>
          </a:prstGeom>
          <a:noFill/>
        </p:spPr>
        <p:txBody>
          <a:bodyPr wrap="none" rtlCol="0">
            <a:spAutoFit/>
          </a:bodyPr>
          <a:lstStyle/>
          <a:p>
            <a:r>
              <a:rPr lang="en-US" altLang="zh-CN" dirty="0"/>
              <a:t>Mg</a:t>
            </a:r>
            <a:endParaRPr lang="zh-CN" altLang="en-US" dirty="0"/>
          </a:p>
        </p:txBody>
      </p:sp>
      <p:sp>
        <p:nvSpPr>
          <p:cNvPr id="25" name="TextBox 24"/>
          <p:cNvSpPr txBox="1"/>
          <p:nvPr/>
        </p:nvSpPr>
        <p:spPr>
          <a:xfrm>
            <a:off x="2628436" y="3256854"/>
            <a:ext cx="343364" cy="369332"/>
          </a:xfrm>
          <a:prstGeom prst="rect">
            <a:avLst/>
          </a:prstGeom>
          <a:noFill/>
        </p:spPr>
        <p:txBody>
          <a:bodyPr wrap="none" rtlCol="0">
            <a:spAutoFit/>
          </a:bodyPr>
          <a:lstStyle/>
          <a:p>
            <a:r>
              <a:rPr lang="en-US" altLang="zh-CN" dirty="0"/>
              <a:t>Si</a:t>
            </a:r>
            <a:endParaRPr lang="zh-CN" altLang="en-US" dirty="0"/>
          </a:p>
        </p:txBody>
      </p:sp>
      <p:sp>
        <p:nvSpPr>
          <p:cNvPr id="26" name="TextBox 25"/>
          <p:cNvSpPr txBox="1"/>
          <p:nvPr/>
        </p:nvSpPr>
        <p:spPr>
          <a:xfrm>
            <a:off x="1066800" y="3234950"/>
            <a:ext cx="766557" cy="369332"/>
          </a:xfrm>
          <a:prstGeom prst="rect">
            <a:avLst/>
          </a:prstGeom>
          <a:noFill/>
        </p:spPr>
        <p:txBody>
          <a:bodyPr wrap="none" rtlCol="0">
            <a:spAutoFit/>
          </a:bodyPr>
          <a:lstStyle/>
          <a:p>
            <a:r>
              <a:rPr lang="en-US" altLang="zh-CN" dirty="0"/>
              <a:t>Mg2Si</a:t>
            </a:r>
            <a:endParaRPr lang="zh-CN" altLang="en-US" dirty="0"/>
          </a:p>
        </p:txBody>
      </p:sp>
      <p:pic>
        <p:nvPicPr>
          <p:cNvPr id="179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924" y="1036857"/>
            <a:ext cx="3050676" cy="2775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Box 26"/>
          <p:cNvSpPr txBox="1"/>
          <p:nvPr/>
        </p:nvSpPr>
        <p:spPr>
          <a:xfrm>
            <a:off x="3140141" y="2033197"/>
            <a:ext cx="2023311" cy="646331"/>
          </a:xfrm>
          <a:prstGeom prst="rect">
            <a:avLst/>
          </a:prstGeom>
          <a:noFill/>
        </p:spPr>
        <p:txBody>
          <a:bodyPr wrap="none" rtlCol="0">
            <a:spAutoFit/>
          </a:bodyPr>
          <a:lstStyle/>
          <a:p>
            <a:r>
              <a:rPr lang="en-US" altLang="zh-CN" dirty="0"/>
              <a:t>Gibbs energy of</a:t>
            </a:r>
          </a:p>
          <a:p>
            <a:r>
              <a:rPr lang="en-US" altLang="zh-CN" dirty="0"/>
              <a:t> mixing liquid Mg-Si</a:t>
            </a:r>
            <a:endParaRPr lang="zh-CN" altLang="en-US" dirty="0"/>
          </a:p>
        </p:txBody>
      </p:sp>
      <p:pic>
        <p:nvPicPr>
          <p:cNvPr id="1792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938947"/>
            <a:ext cx="22764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563" y="3972561"/>
            <a:ext cx="2511877" cy="385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TextBox 28"/>
          <p:cNvSpPr txBox="1"/>
          <p:nvPr/>
        </p:nvSpPr>
        <p:spPr>
          <a:xfrm>
            <a:off x="73715" y="4421884"/>
            <a:ext cx="4203458" cy="369332"/>
          </a:xfrm>
          <a:prstGeom prst="rect">
            <a:avLst/>
          </a:prstGeom>
          <a:noFill/>
        </p:spPr>
        <p:txBody>
          <a:bodyPr wrap="none" rtlCol="0">
            <a:spAutoFit/>
          </a:bodyPr>
          <a:lstStyle/>
          <a:p>
            <a:r>
              <a:rPr lang="en-US" altLang="zh-CN" dirty="0"/>
              <a:t>At=1358K, </a:t>
            </a:r>
            <a:r>
              <a:rPr lang="en-US" altLang="zh-CN" dirty="0">
                <a:solidFill>
                  <a:srgbClr val="FF0000"/>
                </a:solidFill>
              </a:rPr>
              <a:t>Liquid Mg + Solid Si as standard </a:t>
            </a:r>
            <a:endParaRPr lang="zh-CN" altLang="en-US" dirty="0"/>
          </a:p>
        </p:txBody>
      </p:sp>
      <p:graphicFrame>
        <p:nvGraphicFramePr>
          <p:cNvPr id="31" name="对象 30"/>
          <p:cNvGraphicFramePr>
            <a:graphicFrameLocks noChangeAspect="1"/>
          </p:cNvGraphicFramePr>
          <p:nvPr>
            <p:extLst>
              <p:ext uri="{D42A27DB-BD31-4B8C-83A1-F6EECF244321}">
                <p14:modId xmlns:p14="http://schemas.microsoft.com/office/powerpoint/2010/main" val="277918233"/>
              </p:ext>
            </p:extLst>
          </p:nvPr>
        </p:nvGraphicFramePr>
        <p:xfrm>
          <a:off x="389229" y="4829316"/>
          <a:ext cx="2116727" cy="463034"/>
        </p:xfrm>
        <a:graphic>
          <a:graphicData uri="http://schemas.openxmlformats.org/presentationml/2006/ole">
            <mc:AlternateContent xmlns:mc="http://schemas.openxmlformats.org/markup-compatibility/2006">
              <mc:Choice xmlns:v="urn:schemas-microsoft-com:vml" Requires="v">
                <p:oleObj name="Equation" r:id="rId5" imgW="1218960" imgH="266400" progId="Equation.DSMT4">
                  <p:embed/>
                </p:oleObj>
              </mc:Choice>
              <mc:Fallback>
                <p:oleObj name="Equation" r:id="rId5" imgW="1218960" imgH="266400" progId="Equation.DSMT4">
                  <p:embed/>
                  <p:pic>
                    <p:nvPicPr>
                      <p:cNvPr id="0" name=""/>
                      <p:cNvPicPr/>
                      <p:nvPr/>
                    </p:nvPicPr>
                    <p:blipFill>
                      <a:blip r:embed="rId6"/>
                      <a:stretch>
                        <a:fillRect/>
                      </a:stretch>
                    </p:blipFill>
                    <p:spPr>
                      <a:xfrm>
                        <a:off x="389229" y="4829316"/>
                        <a:ext cx="2116727" cy="463034"/>
                      </a:xfrm>
                      <a:prstGeom prst="rect">
                        <a:avLst/>
                      </a:prstGeom>
                    </p:spPr>
                  </p:pic>
                </p:oleObj>
              </mc:Fallback>
            </mc:AlternateContent>
          </a:graphicData>
        </a:graphic>
      </p:graphicFrame>
      <p:sp>
        <p:nvSpPr>
          <p:cNvPr id="32" name="TextBox 31"/>
          <p:cNvSpPr txBox="1"/>
          <p:nvPr/>
        </p:nvSpPr>
        <p:spPr>
          <a:xfrm>
            <a:off x="209025" y="5260084"/>
            <a:ext cx="3829575" cy="646331"/>
          </a:xfrm>
          <a:prstGeom prst="rect">
            <a:avLst/>
          </a:prstGeom>
          <a:noFill/>
        </p:spPr>
        <p:txBody>
          <a:bodyPr wrap="square" rtlCol="0">
            <a:spAutoFit/>
          </a:bodyPr>
          <a:lstStyle/>
          <a:p>
            <a:r>
              <a:rPr lang="en-US" altLang="zh-CN" dirty="0"/>
              <a:t>The formation energy of Mg</a:t>
            </a:r>
            <a:r>
              <a:rPr lang="en-US" altLang="zh-CN" baseline="-25000" dirty="0"/>
              <a:t>2/3</a:t>
            </a:r>
            <a:r>
              <a:rPr lang="en-US" altLang="zh-CN" baseline="30000" dirty="0"/>
              <a:t> </a:t>
            </a:r>
            <a:r>
              <a:rPr lang="en-US" altLang="zh-CN" dirty="0"/>
              <a:t>Si</a:t>
            </a:r>
            <a:r>
              <a:rPr lang="en-US" altLang="zh-CN" baseline="-25000" dirty="0"/>
              <a:t>1/3</a:t>
            </a:r>
            <a:r>
              <a:rPr lang="en-US" altLang="zh-CN" dirty="0"/>
              <a:t> from</a:t>
            </a:r>
            <a:r>
              <a:rPr lang="en-US" altLang="zh-CN" dirty="0">
                <a:solidFill>
                  <a:srgbClr val="FF0000"/>
                </a:solidFill>
              </a:rPr>
              <a:t> Liquid Mg + Solid Si</a:t>
            </a:r>
            <a:endParaRPr lang="zh-CN" altLang="en-US" dirty="0"/>
          </a:p>
        </p:txBody>
      </p:sp>
      <p:sp>
        <p:nvSpPr>
          <p:cNvPr id="33" name="TextBox 32"/>
          <p:cNvSpPr txBox="1"/>
          <p:nvPr/>
        </p:nvSpPr>
        <p:spPr>
          <a:xfrm>
            <a:off x="76200" y="5957552"/>
            <a:ext cx="978153" cy="369332"/>
          </a:xfrm>
          <a:prstGeom prst="rect">
            <a:avLst/>
          </a:prstGeom>
          <a:noFill/>
        </p:spPr>
        <p:txBody>
          <a:bodyPr wrap="none" rtlCol="0">
            <a:spAutoFit/>
          </a:bodyPr>
          <a:lstStyle/>
          <a:p>
            <a:r>
              <a:rPr lang="en-US" altLang="zh-CN" b="1" dirty="0"/>
              <a:t>Line de: </a:t>
            </a:r>
            <a:endParaRPr lang="zh-CN" altLang="en-US" b="1" dirty="0"/>
          </a:p>
        </p:txBody>
      </p:sp>
      <p:graphicFrame>
        <p:nvGraphicFramePr>
          <p:cNvPr id="34" name="对象 33"/>
          <p:cNvGraphicFramePr>
            <a:graphicFrameLocks noChangeAspect="1"/>
          </p:cNvGraphicFramePr>
          <p:nvPr>
            <p:extLst>
              <p:ext uri="{D42A27DB-BD31-4B8C-83A1-F6EECF244321}">
                <p14:modId xmlns:p14="http://schemas.microsoft.com/office/powerpoint/2010/main" val="3723039908"/>
              </p:ext>
            </p:extLst>
          </p:nvPr>
        </p:nvGraphicFramePr>
        <p:xfrm>
          <a:off x="1284288" y="5990334"/>
          <a:ext cx="3095625" cy="352425"/>
        </p:xfrm>
        <a:graphic>
          <a:graphicData uri="http://schemas.openxmlformats.org/presentationml/2006/ole">
            <mc:AlternateContent xmlns:mc="http://schemas.openxmlformats.org/markup-compatibility/2006">
              <mc:Choice xmlns:v="urn:schemas-microsoft-com:vml" Requires="v">
                <p:oleObj name="Equation" r:id="rId7" imgW="2006280" imgH="228600" progId="Equation.DSMT4">
                  <p:embed/>
                </p:oleObj>
              </mc:Choice>
              <mc:Fallback>
                <p:oleObj name="Equation" r:id="rId7" imgW="2006280" imgH="228600" progId="Equation.DSMT4">
                  <p:embed/>
                  <p:pic>
                    <p:nvPicPr>
                      <p:cNvPr id="0" name=""/>
                      <p:cNvPicPr>
                        <a:picLocks noChangeAspect="1" noChangeArrowheads="1"/>
                      </p:cNvPicPr>
                      <p:nvPr/>
                    </p:nvPicPr>
                    <p:blipFill>
                      <a:blip r:embed="rId8"/>
                      <a:srcRect/>
                      <a:stretch>
                        <a:fillRect/>
                      </a:stretch>
                    </p:blipFill>
                    <p:spPr bwMode="auto">
                      <a:xfrm>
                        <a:off x="1284288" y="5990334"/>
                        <a:ext cx="3095625" cy="352425"/>
                      </a:xfrm>
                      <a:prstGeom prst="rect">
                        <a:avLst/>
                      </a:prstGeom>
                      <a:noFill/>
                      <a:ln>
                        <a:noFill/>
                      </a:ln>
                    </p:spPr>
                  </p:pic>
                </p:oleObj>
              </mc:Fallback>
            </mc:AlternateContent>
          </a:graphicData>
        </a:graphic>
      </p:graphicFrame>
      <p:sp>
        <p:nvSpPr>
          <p:cNvPr id="35" name="右箭头 34"/>
          <p:cNvSpPr/>
          <p:nvPr/>
        </p:nvSpPr>
        <p:spPr>
          <a:xfrm>
            <a:off x="5163452" y="2111284"/>
            <a:ext cx="777472" cy="313286"/>
          </a:xfrm>
          <a:prstGeom prst="rightArrow">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6" name="对象 35"/>
          <p:cNvGraphicFramePr>
            <a:graphicFrameLocks noChangeAspect="1"/>
          </p:cNvGraphicFramePr>
          <p:nvPr>
            <p:extLst>
              <p:ext uri="{D42A27DB-BD31-4B8C-83A1-F6EECF244321}">
                <p14:modId xmlns:p14="http://schemas.microsoft.com/office/powerpoint/2010/main" val="4154347276"/>
              </p:ext>
            </p:extLst>
          </p:nvPr>
        </p:nvGraphicFramePr>
        <p:xfrm>
          <a:off x="5367418" y="3938263"/>
          <a:ext cx="1147011" cy="419100"/>
        </p:xfrm>
        <a:graphic>
          <a:graphicData uri="http://schemas.openxmlformats.org/presentationml/2006/ole">
            <mc:AlternateContent xmlns:mc="http://schemas.openxmlformats.org/markup-compatibility/2006">
              <mc:Choice xmlns:v="urn:schemas-microsoft-com:vml" Requires="v">
                <p:oleObj name="Equation" r:id="rId9" imgW="660240" imgH="241200" progId="Equation.DSMT4">
                  <p:embed/>
                </p:oleObj>
              </mc:Choice>
              <mc:Fallback>
                <p:oleObj name="Equation" r:id="rId9" imgW="660240" imgH="241200" progId="Equation.DSMT4">
                  <p:embed/>
                  <p:pic>
                    <p:nvPicPr>
                      <p:cNvPr id="0" name=""/>
                      <p:cNvPicPr/>
                      <p:nvPr/>
                    </p:nvPicPr>
                    <p:blipFill>
                      <a:blip r:embed="rId10"/>
                      <a:stretch>
                        <a:fillRect/>
                      </a:stretch>
                    </p:blipFill>
                    <p:spPr>
                      <a:xfrm>
                        <a:off x="5367418" y="3938263"/>
                        <a:ext cx="1147011" cy="419100"/>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586642729"/>
              </p:ext>
            </p:extLst>
          </p:nvPr>
        </p:nvGraphicFramePr>
        <p:xfrm>
          <a:off x="4846638" y="4448872"/>
          <a:ext cx="3897312" cy="392112"/>
        </p:xfrm>
        <a:graphic>
          <a:graphicData uri="http://schemas.openxmlformats.org/presentationml/2006/ole">
            <mc:AlternateContent xmlns:mc="http://schemas.openxmlformats.org/markup-compatibility/2006">
              <mc:Choice xmlns:v="urn:schemas-microsoft-com:vml" Requires="v">
                <p:oleObj name="Equation" r:id="rId11" imgW="2527200" imgH="253800" progId="Equation.DSMT4">
                  <p:embed/>
                </p:oleObj>
              </mc:Choice>
              <mc:Fallback>
                <p:oleObj name="Equation" r:id="rId11" imgW="2527200" imgH="253800" progId="Equation.DSMT4">
                  <p:embed/>
                  <p:pic>
                    <p:nvPicPr>
                      <p:cNvPr id="0" name=""/>
                      <p:cNvPicPr>
                        <a:picLocks noChangeAspect="1" noChangeArrowheads="1"/>
                      </p:cNvPicPr>
                      <p:nvPr/>
                    </p:nvPicPr>
                    <p:blipFill>
                      <a:blip r:embed="rId12"/>
                      <a:srcRect/>
                      <a:stretch>
                        <a:fillRect/>
                      </a:stretch>
                    </p:blipFill>
                    <p:spPr bwMode="auto">
                      <a:xfrm>
                        <a:off x="4846638" y="4448872"/>
                        <a:ext cx="3897312"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TextBox 40"/>
          <p:cNvSpPr txBox="1"/>
          <p:nvPr/>
        </p:nvSpPr>
        <p:spPr>
          <a:xfrm>
            <a:off x="4626074" y="4868053"/>
            <a:ext cx="966931" cy="369332"/>
          </a:xfrm>
          <a:prstGeom prst="rect">
            <a:avLst/>
          </a:prstGeom>
          <a:noFill/>
        </p:spPr>
        <p:txBody>
          <a:bodyPr wrap="none" rtlCol="0">
            <a:spAutoFit/>
          </a:bodyPr>
          <a:lstStyle/>
          <a:p>
            <a:r>
              <a:rPr lang="en-US" altLang="zh-CN" b="1" dirty="0"/>
              <a:t>Line cd: </a:t>
            </a:r>
            <a:endParaRPr lang="zh-CN" altLang="en-US" b="1" dirty="0"/>
          </a:p>
        </p:txBody>
      </p:sp>
      <p:graphicFrame>
        <p:nvGraphicFramePr>
          <p:cNvPr id="42" name="对象 41"/>
          <p:cNvGraphicFramePr>
            <a:graphicFrameLocks noChangeAspect="1"/>
          </p:cNvGraphicFramePr>
          <p:nvPr>
            <p:extLst>
              <p:ext uri="{D42A27DB-BD31-4B8C-83A1-F6EECF244321}">
                <p14:modId xmlns:p14="http://schemas.microsoft.com/office/powerpoint/2010/main" val="1462275099"/>
              </p:ext>
            </p:extLst>
          </p:nvPr>
        </p:nvGraphicFramePr>
        <p:xfrm>
          <a:off x="6116638" y="4901309"/>
          <a:ext cx="2528887" cy="352425"/>
        </p:xfrm>
        <a:graphic>
          <a:graphicData uri="http://schemas.openxmlformats.org/presentationml/2006/ole">
            <mc:AlternateContent xmlns:mc="http://schemas.openxmlformats.org/markup-compatibility/2006">
              <mc:Choice xmlns:v="urn:schemas-microsoft-com:vml" Requires="v">
                <p:oleObj name="Equation" r:id="rId13" imgW="1638000" imgH="228600" progId="Equation.DSMT4">
                  <p:embed/>
                </p:oleObj>
              </mc:Choice>
              <mc:Fallback>
                <p:oleObj name="Equation" r:id="rId13" imgW="1638000" imgH="228600" progId="Equation.DSMT4">
                  <p:embed/>
                  <p:pic>
                    <p:nvPicPr>
                      <p:cNvPr id="0" name=""/>
                      <p:cNvPicPr>
                        <a:picLocks noChangeAspect="1" noChangeArrowheads="1"/>
                      </p:cNvPicPr>
                      <p:nvPr/>
                    </p:nvPicPr>
                    <p:blipFill>
                      <a:blip r:embed="rId14"/>
                      <a:srcRect/>
                      <a:stretch>
                        <a:fillRect/>
                      </a:stretch>
                    </p:blipFill>
                    <p:spPr bwMode="auto">
                      <a:xfrm>
                        <a:off x="6116638" y="4901309"/>
                        <a:ext cx="2528887" cy="352425"/>
                      </a:xfrm>
                      <a:prstGeom prst="rect">
                        <a:avLst/>
                      </a:prstGeom>
                      <a:noFill/>
                      <a:ln>
                        <a:solidFill>
                          <a:srgbClr val="FF0000"/>
                        </a:solidFill>
                      </a:ln>
                    </p:spPr>
                  </p:pic>
                </p:oleObj>
              </mc:Fallback>
            </mc:AlternateContent>
          </a:graphicData>
        </a:graphic>
      </p:graphicFrame>
      <p:sp>
        <p:nvSpPr>
          <p:cNvPr id="43" name="TextBox 42"/>
          <p:cNvSpPr txBox="1"/>
          <p:nvPr/>
        </p:nvSpPr>
        <p:spPr>
          <a:xfrm>
            <a:off x="4648200" y="5412579"/>
            <a:ext cx="958917" cy="369332"/>
          </a:xfrm>
          <a:prstGeom prst="rect">
            <a:avLst/>
          </a:prstGeom>
          <a:noFill/>
        </p:spPr>
        <p:txBody>
          <a:bodyPr wrap="none" rtlCol="0">
            <a:spAutoFit/>
          </a:bodyPr>
          <a:lstStyle/>
          <a:p>
            <a:r>
              <a:rPr lang="en-US" altLang="zh-CN" b="1" dirty="0"/>
              <a:t>Line </a:t>
            </a:r>
            <a:r>
              <a:rPr lang="en-US" altLang="zh-CN" b="1" dirty="0" err="1"/>
              <a:t>ce</a:t>
            </a:r>
            <a:r>
              <a:rPr lang="en-US" altLang="zh-CN" b="1" dirty="0"/>
              <a:t>: </a:t>
            </a:r>
            <a:endParaRPr lang="zh-CN" altLang="en-US" b="1" dirty="0"/>
          </a:p>
        </p:txBody>
      </p:sp>
      <p:graphicFrame>
        <p:nvGraphicFramePr>
          <p:cNvPr id="39" name="对象 38"/>
          <p:cNvGraphicFramePr>
            <a:graphicFrameLocks noChangeAspect="1"/>
          </p:cNvGraphicFramePr>
          <p:nvPr>
            <p:extLst>
              <p:ext uri="{D42A27DB-BD31-4B8C-83A1-F6EECF244321}">
                <p14:modId xmlns:p14="http://schemas.microsoft.com/office/powerpoint/2010/main" val="2270410487"/>
              </p:ext>
            </p:extLst>
          </p:nvPr>
        </p:nvGraphicFramePr>
        <p:xfrm>
          <a:off x="6096000" y="5488684"/>
          <a:ext cx="1939925" cy="666750"/>
        </p:xfrm>
        <a:graphic>
          <a:graphicData uri="http://schemas.openxmlformats.org/presentationml/2006/ole">
            <mc:AlternateContent xmlns:mc="http://schemas.openxmlformats.org/markup-compatibility/2006">
              <mc:Choice xmlns:v="urn:schemas-microsoft-com:vml" Requires="v">
                <p:oleObj name="Equation" r:id="rId15" imgW="1257120" imgH="431640" progId="Equation.DSMT4">
                  <p:embed/>
                </p:oleObj>
              </mc:Choice>
              <mc:Fallback>
                <p:oleObj name="Equation" r:id="rId15" imgW="1257120" imgH="431640" progId="Equation.DSMT4">
                  <p:embed/>
                  <p:pic>
                    <p:nvPicPr>
                      <p:cNvPr id="0" name=""/>
                      <p:cNvPicPr>
                        <a:picLocks noChangeAspect="1" noChangeArrowheads="1"/>
                      </p:cNvPicPr>
                      <p:nvPr/>
                    </p:nvPicPr>
                    <p:blipFill>
                      <a:blip r:embed="rId16"/>
                      <a:srcRect/>
                      <a:stretch>
                        <a:fillRect/>
                      </a:stretch>
                    </p:blipFill>
                    <p:spPr bwMode="auto">
                      <a:xfrm>
                        <a:off x="6096000" y="5488684"/>
                        <a:ext cx="19399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19843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31640" y="304800"/>
            <a:ext cx="6547755" cy="523220"/>
          </a:xfrm>
          <a:prstGeom prst="rect">
            <a:avLst/>
          </a:prstGeom>
          <a:noFill/>
        </p:spPr>
        <p:txBody>
          <a:bodyPr wrap="none" rtlCol="0">
            <a:spAutoFit/>
          </a:bodyPr>
          <a:lstStyle/>
          <a:p>
            <a:r>
              <a:rPr lang="en-US" altLang="zh-CN" sz="2800" dirty="0">
                <a:solidFill>
                  <a:srgbClr val="FF0000"/>
                </a:solidFill>
              </a:rPr>
              <a:t>The calculation of the Mg-Si phase diagram </a:t>
            </a:r>
            <a:endParaRPr lang="zh-CN" altLang="en-US" sz="2800" dirty="0">
              <a:solidFill>
                <a:srgbClr val="FF0000"/>
              </a:solidFill>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7" y="1151179"/>
            <a:ext cx="3245401" cy="2952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3517800" y="1344489"/>
            <a:ext cx="958917" cy="369332"/>
          </a:xfrm>
          <a:prstGeom prst="rect">
            <a:avLst/>
          </a:prstGeom>
          <a:noFill/>
        </p:spPr>
        <p:txBody>
          <a:bodyPr wrap="none" rtlCol="0">
            <a:spAutoFit/>
          </a:bodyPr>
          <a:lstStyle/>
          <a:p>
            <a:r>
              <a:rPr lang="en-US" altLang="zh-CN" b="1" dirty="0"/>
              <a:t>Line </a:t>
            </a:r>
            <a:r>
              <a:rPr lang="en-US" altLang="zh-CN" b="1" dirty="0" err="1"/>
              <a:t>ce</a:t>
            </a:r>
            <a:r>
              <a:rPr lang="en-US" altLang="zh-CN" b="1" dirty="0"/>
              <a:t>: </a:t>
            </a:r>
            <a:endParaRPr lang="zh-CN" altLang="en-US" b="1" dirty="0"/>
          </a:p>
        </p:txBody>
      </p:sp>
      <p:graphicFrame>
        <p:nvGraphicFramePr>
          <p:cNvPr id="11" name="对象 10"/>
          <p:cNvGraphicFramePr>
            <a:graphicFrameLocks noChangeAspect="1"/>
          </p:cNvGraphicFramePr>
          <p:nvPr>
            <p:extLst>
              <p:ext uri="{D42A27DB-BD31-4B8C-83A1-F6EECF244321}">
                <p14:modId xmlns:p14="http://schemas.microsoft.com/office/powerpoint/2010/main" val="541338387"/>
              </p:ext>
            </p:extLst>
          </p:nvPr>
        </p:nvGraphicFramePr>
        <p:xfrm>
          <a:off x="4965600" y="1524000"/>
          <a:ext cx="1939925" cy="666750"/>
        </p:xfrm>
        <a:graphic>
          <a:graphicData uri="http://schemas.openxmlformats.org/presentationml/2006/ole">
            <mc:AlternateContent xmlns:mc="http://schemas.openxmlformats.org/markup-compatibility/2006">
              <mc:Choice xmlns:v="urn:schemas-microsoft-com:vml" Requires="v">
                <p:oleObj name="Equation" r:id="rId3" imgW="1257120" imgH="431640" progId="Equation.DSMT4">
                  <p:embed/>
                </p:oleObj>
              </mc:Choice>
              <mc:Fallback>
                <p:oleObj name="Equation" r:id="rId3" imgW="1257120" imgH="431640" progId="Equation.DSMT4">
                  <p:embed/>
                  <p:pic>
                    <p:nvPicPr>
                      <p:cNvPr id="0" name=""/>
                      <p:cNvPicPr>
                        <a:picLocks noChangeAspect="1" noChangeArrowheads="1"/>
                      </p:cNvPicPr>
                      <p:nvPr/>
                    </p:nvPicPr>
                    <p:blipFill>
                      <a:blip r:embed="rId4"/>
                      <a:srcRect/>
                      <a:stretch>
                        <a:fillRect/>
                      </a:stretch>
                    </p:blipFill>
                    <p:spPr bwMode="auto">
                      <a:xfrm>
                        <a:off x="4965600" y="1524000"/>
                        <a:ext cx="19399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11"/>
          <p:cNvSpPr txBox="1"/>
          <p:nvPr/>
        </p:nvSpPr>
        <p:spPr>
          <a:xfrm>
            <a:off x="3515525" y="2436147"/>
            <a:ext cx="5016915" cy="646331"/>
          </a:xfrm>
          <a:prstGeom prst="rect">
            <a:avLst/>
          </a:prstGeom>
          <a:noFill/>
        </p:spPr>
        <p:txBody>
          <a:bodyPr wrap="square" rtlCol="0">
            <a:spAutoFit/>
          </a:bodyPr>
          <a:lstStyle/>
          <a:p>
            <a:r>
              <a:rPr lang="en-US" altLang="zh-CN" dirty="0"/>
              <a:t>The formation energy of Mg</a:t>
            </a:r>
            <a:r>
              <a:rPr lang="en-US" altLang="zh-CN" baseline="-25000" dirty="0"/>
              <a:t>2/3</a:t>
            </a:r>
            <a:r>
              <a:rPr lang="en-US" altLang="zh-CN" baseline="30000" dirty="0"/>
              <a:t> </a:t>
            </a:r>
            <a:r>
              <a:rPr lang="en-US" altLang="zh-CN" dirty="0"/>
              <a:t>Si</a:t>
            </a:r>
            <a:r>
              <a:rPr lang="en-US" altLang="zh-CN" baseline="-25000" dirty="0"/>
              <a:t>1/3</a:t>
            </a:r>
            <a:r>
              <a:rPr lang="en-US" altLang="zh-CN" dirty="0"/>
              <a:t> </a:t>
            </a:r>
            <a:r>
              <a:rPr lang="en-US" altLang="zh-CN" dirty="0">
                <a:solidFill>
                  <a:srgbClr val="FF0000"/>
                </a:solidFill>
              </a:rPr>
              <a:t>liquid solution</a:t>
            </a:r>
          </a:p>
          <a:p>
            <a:r>
              <a:rPr lang="en-US" altLang="zh-CN" dirty="0"/>
              <a:t> from</a:t>
            </a:r>
            <a:r>
              <a:rPr lang="en-US" altLang="zh-CN" dirty="0">
                <a:solidFill>
                  <a:srgbClr val="FF0000"/>
                </a:solidFill>
              </a:rPr>
              <a:t> Liquid Mg + liquid Si, at T=1358K</a:t>
            </a:r>
            <a:endParaRPr lang="zh-CN" altLang="en-US" dirty="0"/>
          </a:p>
        </p:txBody>
      </p:sp>
      <p:graphicFrame>
        <p:nvGraphicFramePr>
          <p:cNvPr id="13" name="对象 12"/>
          <p:cNvGraphicFramePr>
            <a:graphicFrameLocks noChangeAspect="1"/>
          </p:cNvGraphicFramePr>
          <p:nvPr>
            <p:extLst>
              <p:ext uri="{D42A27DB-BD31-4B8C-83A1-F6EECF244321}">
                <p14:modId xmlns:p14="http://schemas.microsoft.com/office/powerpoint/2010/main" val="1099894861"/>
              </p:ext>
            </p:extLst>
          </p:nvPr>
        </p:nvGraphicFramePr>
        <p:xfrm>
          <a:off x="3543957" y="3276600"/>
          <a:ext cx="4883727" cy="381000"/>
        </p:xfrm>
        <a:graphic>
          <a:graphicData uri="http://schemas.openxmlformats.org/presentationml/2006/ole">
            <mc:AlternateContent xmlns:mc="http://schemas.openxmlformats.org/markup-compatibility/2006">
              <mc:Choice xmlns:v="urn:schemas-microsoft-com:vml" Requires="v">
                <p:oleObj name="Equation" r:id="rId5" imgW="3581280" imgH="279360" progId="Equation.DSMT4">
                  <p:embed/>
                </p:oleObj>
              </mc:Choice>
              <mc:Fallback>
                <p:oleObj name="Equation" r:id="rId5" imgW="3581280" imgH="279360" progId="Equation.DSMT4">
                  <p:embed/>
                  <p:pic>
                    <p:nvPicPr>
                      <p:cNvPr id="0" name=""/>
                      <p:cNvPicPr/>
                      <p:nvPr/>
                    </p:nvPicPr>
                    <p:blipFill>
                      <a:blip r:embed="rId6"/>
                      <a:stretch>
                        <a:fillRect/>
                      </a:stretch>
                    </p:blipFill>
                    <p:spPr>
                      <a:xfrm>
                        <a:off x="3543957" y="3276600"/>
                        <a:ext cx="4883727" cy="381000"/>
                      </a:xfrm>
                      <a:prstGeom prst="rect">
                        <a:avLst/>
                      </a:prstGeom>
                    </p:spPr>
                  </p:pic>
                </p:oleObj>
              </mc:Fallback>
            </mc:AlternateContent>
          </a:graphicData>
        </a:graphic>
      </p:graphicFrame>
      <p:sp>
        <p:nvSpPr>
          <p:cNvPr id="14" name="TextBox 13"/>
          <p:cNvSpPr txBox="1"/>
          <p:nvPr/>
        </p:nvSpPr>
        <p:spPr>
          <a:xfrm>
            <a:off x="3517800" y="3777695"/>
            <a:ext cx="4182363" cy="369332"/>
          </a:xfrm>
          <a:prstGeom prst="rect">
            <a:avLst/>
          </a:prstGeom>
          <a:solidFill>
            <a:schemeClr val="accent6">
              <a:lumMod val="60000"/>
              <a:lumOff val="40000"/>
            </a:schemeClr>
          </a:solidFill>
        </p:spPr>
        <p:txBody>
          <a:bodyPr wrap="none" rtlCol="0">
            <a:spAutoFit/>
          </a:bodyPr>
          <a:lstStyle/>
          <a:p>
            <a:r>
              <a:rPr lang="en-US" altLang="zh-CN" dirty="0"/>
              <a:t>* The interaction parameter </a:t>
            </a:r>
            <a:r>
              <a:rPr lang="el-GR" altLang="zh-CN" dirty="0">
                <a:latin typeface="Times New Roman"/>
                <a:cs typeface="Times New Roman"/>
              </a:rPr>
              <a:t>Ω</a:t>
            </a:r>
            <a:r>
              <a:rPr lang="en-US" altLang="zh-CN" dirty="0">
                <a:latin typeface="Times New Roman"/>
                <a:cs typeface="Times New Roman"/>
              </a:rPr>
              <a:t>=-53,040 [J]</a:t>
            </a:r>
            <a:endParaRPr lang="zh-CN" altLang="en-US" dirty="0"/>
          </a:p>
        </p:txBody>
      </p:sp>
      <p:sp>
        <p:nvSpPr>
          <p:cNvPr id="29" name="TextBox 28"/>
          <p:cNvSpPr txBox="1"/>
          <p:nvPr/>
        </p:nvSpPr>
        <p:spPr>
          <a:xfrm>
            <a:off x="936198" y="4666505"/>
            <a:ext cx="1000595" cy="369332"/>
          </a:xfrm>
          <a:prstGeom prst="rect">
            <a:avLst/>
          </a:prstGeom>
          <a:noFill/>
        </p:spPr>
        <p:txBody>
          <a:bodyPr wrap="none" rtlCol="0">
            <a:spAutoFit/>
          </a:bodyPr>
          <a:lstStyle/>
          <a:p>
            <a:r>
              <a:rPr lang="en-US" altLang="zh-CN" dirty="0">
                <a:solidFill>
                  <a:srgbClr val="FF0000"/>
                </a:solidFill>
              </a:rPr>
              <a:t>T=1358K</a:t>
            </a:r>
            <a:endParaRPr lang="zh-CN" altLang="en-US" dirty="0">
              <a:solidFill>
                <a:srgbClr val="FF0000"/>
              </a:solidFill>
            </a:endParaRPr>
          </a:p>
        </p:txBody>
      </p:sp>
      <p:cxnSp>
        <p:nvCxnSpPr>
          <p:cNvPr id="30" name="直接连接符 29"/>
          <p:cNvCxnSpPr/>
          <p:nvPr/>
        </p:nvCxnSpPr>
        <p:spPr>
          <a:xfrm flipV="1">
            <a:off x="555198" y="5666772"/>
            <a:ext cx="0" cy="599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1553142" y="5066839"/>
            <a:ext cx="0" cy="1199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flipV="1">
            <a:off x="2974316" y="4329439"/>
            <a:ext cx="19282" cy="19372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55198" y="6266705"/>
            <a:ext cx="2438401"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74198" y="6202173"/>
            <a:ext cx="490840" cy="369332"/>
          </a:xfrm>
          <a:prstGeom prst="rect">
            <a:avLst/>
          </a:prstGeom>
          <a:noFill/>
        </p:spPr>
        <p:txBody>
          <a:bodyPr wrap="none" rtlCol="0">
            <a:spAutoFit/>
          </a:bodyPr>
          <a:lstStyle/>
          <a:p>
            <a:r>
              <a:rPr lang="en-US" altLang="zh-CN" dirty="0"/>
              <a:t>Mg</a:t>
            </a:r>
            <a:endParaRPr lang="zh-CN" altLang="en-US" dirty="0"/>
          </a:p>
        </p:txBody>
      </p:sp>
      <p:sp>
        <p:nvSpPr>
          <p:cNvPr id="35" name="TextBox 34"/>
          <p:cNvSpPr txBox="1"/>
          <p:nvPr/>
        </p:nvSpPr>
        <p:spPr>
          <a:xfrm>
            <a:off x="2802634" y="6212409"/>
            <a:ext cx="343364" cy="369332"/>
          </a:xfrm>
          <a:prstGeom prst="rect">
            <a:avLst/>
          </a:prstGeom>
          <a:noFill/>
        </p:spPr>
        <p:txBody>
          <a:bodyPr wrap="none" rtlCol="0">
            <a:spAutoFit/>
          </a:bodyPr>
          <a:lstStyle/>
          <a:p>
            <a:r>
              <a:rPr lang="en-US" altLang="zh-CN" dirty="0"/>
              <a:t>Si</a:t>
            </a:r>
            <a:endParaRPr lang="zh-CN" altLang="en-US" dirty="0"/>
          </a:p>
        </p:txBody>
      </p:sp>
      <p:sp>
        <p:nvSpPr>
          <p:cNvPr id="36" name="TextBox 35"/>
          <p:cNvSpPr txBox="1"/>
          <p:nvPr/>
        </p:nvSpPr>
        <p:spPr>
          <a:xfrm>
            <a:off x="1240998" y="6190505"/>
            <a:ext cx="766557" cy="369332"/>
          </a:xfrm>
          <a:prstGeom prst="rect">
            <a:avLst/>
          </a:prstGeom>
          <a:noFill/>
        </p:spPr>
        <p:txBody>
          <a:bodyPr wrap="none" rtlCol="0">
            <a:spAutoFit/>
          </a:bodyPr>
          <a:lstStyle/>
          <a:p>
            <a:r>
              <a:rPr lang="en-US" altLang="zh-CN" dirty="0"/>
              <a:t>Mg2Si</a:t>
            </a:r>
            <a:endParaRPr lang="zh-CN" altLang="en-US" dirty="0"/>
          </a:p>
        </p:txBody>
      </p:sp>
      <p:sp>
        <p:nvSpPr>
          <p:cNvPr id="37" name="任意多边形 36"/>
          <p:cNvSpPr/>
          <p:nvPr/>
        </p:nvSpPr>
        <p:spPr>
          <a:xfrm>
            <a:off x="943022" y="5019608"/>
            <a:ext cx="1337480" cy="409613"/>
          </a:xfrm>
          <a:custGeom>
            <a:avLst/>
            <a:gdLst>
              <a:gd name="connsiteX0" fmla="*/ 0 w 1337480"/>
              <a:gd name="connsiteY0" fmla="*/ 409613 h 409613"/>
              <a:gd name="connsiteX1" fmla="*/ 641445 w 1337480"/>
              <a:gd name="connsiteY1" fmla="*/ 180 h 409613"/>
              <a:gd name="connsiteX2" fmla="*/ 1337480 w 1337480"/>
              <a:gd name="connsiteY2" fmla="*/ 368670 h 409613"/>
            </a:gdLst>
            <a:ahLst/>
            <a:cxnLst>
              <a:cxn ang="0">
                <a:pos x="connsiteX0" y="connsiteY0"/>
              </a:cxn>
              <a:cxn ang="0">
                <a:pos x="connsiteX1" y="connsiteY1"/>
              </a:cxn>
              <a:cxn ang="0">
                <a:pos x="connsiteX2" y="connsiteY2"/>
              </a:cxn>
            </a:cxnLst>
            <a:rect l="l" t="t" r="r" b="b"/>
            <a:pathLst>
              <a:path w="1337480" h="409613">
                <a:moveTo>
                  <a:pt x="0" y="409613"/>
                </a:moveTo>
                <a:cubicBezTo>
                  <a:pt x="209266" y="208308"/>
                  <a:pt x="418532" y="7004"/>
                  <a:pt x="641445" y="180"/>
                </a:cubicBezTo>
                <a:cubicBezTo>
                  <a:pt x="864358" y="-6644"/>
                  <a:pt x="1100919" y="181013"/>
                  <a:pt x="1337480" y="3686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589079412"/>
              </p:ext>
            </p:extLst>
          </p:nvPr>
        </p:nvGraphicFramePr>
        <p:xfrm>
          <a:off x="3515525" y="4567209"/>
          <a:ext cx="4079875" cy="862012"/>
        </p:xfrm>
        <a:graphic>
          <a:graphicData uri="http://schemas.openxmlformats.org/presentationml/2006/ole">
            <mc:AlternateContent xmlns:mc="http://schemas.openxmlformats.org/markup-compatibility/2006">
              <mc:Choice xmlns:v="urn:schemas-microsoft-com:vml" Requires="v">
                <p:oleObj name="Equation" r:id="rId7" imgW="3365280" imgH="711000" progId="Equation.DSMT4">
                  <p:embed/>
                </p:oleObj>
              </mc:Choice>
              <mc:Fallback>
                <p:oleObj name="Equation" r:id="rId7" imgW="3365280" imgH="711000" progId="Equation.DSMT4">
                  <p:embed/>
                  <p:pic>
                    <p:nvPicPr>
                      <p:cNvPr id="0" name="对象 26"/>
                      <p:cNvPicPr>
                        <a:picLocks noChangeAspect="1" noChangeArrowheads="1"/>
                      </p:cNvPicPr>
                      <p:nvPr/>
                    </p:nvPicPr>
                    <p:blipFill>
                      <a:blip r:embed="rId8"/>
                      <a:srcRect/>
                      <a:stretch>
                        <a:fillRect/>
                      </a:stretch>
                    </p:blipFill>
                    <p:spPr bwMode="auto">
                      <a:xfrm>
                        <a:off x="3515525" y="4567209"/>
                        <a:ext cx="4079875" cy="862012"/>
                      </a:xfrm>
                      <a:prstGeom prst="rect">
                        <a:avLst/>
                      </a:prstGeom>
                      <a:solidFill>
                        <a:srgbClr val="FDEADA"/>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1408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extLst>
              <p:ext uri="{D42A27DB-BD31-4B8C-83A1-F6EECF244321}">
                <p14:modId xmlns:p14="http://schemas.microsoft.com/office/powerpoint/2010/main" val="3162378807"/>
              </p:ext>
            </p:extLst>
          </p:nvPr>
        </p:nvGraphicFramePr>
        <p:xfrm>
          <a:off x="152187" y="2591714"/>
          <a:ext cx="2001837" cy="923925"/>
        </p:xfrm>
        <a:graphic>
          <a:graphicData uri="http://schemas.openxmlformats.org/presentationml/2006/ole">
            <mc:AlternateContent xmlns:mc="http://schemas.openxmlformats.org/markup-compatibility/2006">
              <mc:Choice xmlns:v="urn:schemas-microsoft-com:vml" Requires="v">
                <p:oleObj name="Equation" r:id="rId2" imgW="1650960" imgH="761760" progId="Equation.DSMT4">
                  <p:embed/>
                </p:oleObj>
              </mc:Choice>
              <mc:Fallback>
                <p:oleObj name="Equation" r:id="rId2" imgW="1650960" imgH="76176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87" y="2591714"/>
                        <a:ext cx="20018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63964522"/>
              </p:ext>
            </p:extLst>
          </p:nvPr>
        </p:nvGraphicFramePr>
        <p:xfrm>
          <a:off x="176212" y="1666875"/>
          <a:ext cx="2406650" cy="441325"/>
        </p:xfrm>
        <a:graphic>
          <a:graphicData uri="http://schemas.openxmlformats.org/presentationml/2006/ole">
            <mc:AlternateContent xmlns:mc="http://schemas.openxmlformats.org/markup-compatibility/2006">
              <mc:Choice xmlns:v="urn:schemas-microsoft-com:vml" Requires="v">
                <p:oleObj name="Equation" r:id="rId4" imgW="1384300" imgH="254000" progId="Equation.DSMT4">
                  <p:embed/>
                </p:oleObj>
              </mc:Choice>
              <mc:Fallback>
                <p:oleObj name="Equation" r:id="rId4" imgW="1384300" imgH="2540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212" y="1666875"/>
                        <a:ext cx="24066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72" y="2039690"/>
            <a:ext cx="242887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2679084" y="1600200"/>
            <a:ext cx="431528" cy="369332"/>
          </a:xfrm>
          <a:prstGeom prst="rect">
            <a:avLst/>
          </a:prstGeom>
          <a:noFill/>
        </p:spPr>
        <p:txBody>
          <a:bodyPr wrap="none" rtlCol="0">
            <a:spAutoFit/>
          </a:bodyPr>
          <a:lstStyle/>
          <a:p>
            <a:r>
              <a:rPr lang="en-US" altLang="zh-CN" dirty="0"/>
              <a:t>(ii)</a:t>
            </a:r>
            <a:endParaRPr lang="zh-CN" altLang="en-US" dirty="0"/>
          </a:p>
        </p:txBody>
      </p:sp>
      <p:graphicFrame>
        <p:nvGraphicFramePr>
          <p:cNvPr id="13" name="对象 12"/>
          <p:cNvGraphicFramePr>
            <a:graphicFrameLocks noChangeAspect="1"/>
          </p:cNvGraphicFramePr>
          <p:nvPr>
            <p:extLst>
              <p:ext uri="{D42A27DB-BD31-4B8C-83A1-F6EECF244321}">
                <p14:modId xmlns:p14="http://schemas.microsoft.com/office/powerpoint/2010/main" val="467301655"/>
              </p:ext>
            </p:extLst>
          </p:nvPr>
        </p:nvGraphicFramePr>
        <p:xfrm>
          <a:off x="4552239" y="1225920"/>
          <a:ext cx="2817812" cy="676275"/>
        </p:xfrm>
        <a:graphic>
          <a:graphicData uri="http://schemas.openxmlformats.org/presentationml/2006/ole">
            <mc:AlternateContent xmlns:mc="http://schemas.openxmlformats.org/markup-compatibility/2006">
              <mc:Choice xmlns:v="urn:schemas-microsoft-com:vml" Requires="v">
                <p:oleObj name="Equation" r:id="rId7" imgW="2323800" imgH="558720" progId="Equation.DSMT4">
                  <p:embed/>
                </p:oleObj>
              </mc:Choice>
              <mc:Fallback>
                <p:oleObj name="Equation" r:id="rId7" imgW="2323800" imgH="558720" progId="Equation.DSMT4">
                  <p:embed/>
                  <p:pic>
                    <p:nvPicPr>
                      <p:cNvPr id="0" name=""/>
                      <p:cNvPicPr>
                        <a:picLocks noChangeAspect="1" noChangeArrowheads="1"/>
                      </p:cNvPicPr>
                      <p:nvPr/>
                    </p:nvPicPr>
                    <p:blipFill>
                      <a:blip r:embed="rId8"/>
                      <a:srcRect/>
                      <a:stretch>
                        <a:fillRect/>
                      </a:stretch>
                    </p:blipFill>
                    <p:spPr bwMode="auto">
                      <a:xfrm>
                        <a:off x="4552239" y="1225920"/>
                        <a:ext cx="28178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3786297" y="1936872"/>
            <a:ext cx="4572000" cy="646331"/>
          </a:xfrm>
          <a:prstGeom prst="rect">
            <a:avLst/>
          </a:prstGeom>
        </p:spPr>
        <p:txBody>
          <a:bodyPr>
            <a:spAutoFit/>
          </a:bodyPr>
          <a:lstStyle/>
          <a:p>
            <a:r>
              <a:rPr lang="en-US" altLang="zh-CN" dirty="0"/>
              <a:t>Since liquids on the Mg</a:t>
            </a:r>
            <a:r>
              <a:rPr lang="en-US" altLang="zh-CN" baseline="-25000" dirty="0"/>
              <a:t>2</a:t>
            </a:r>
            <a:r>
              <a:rPr lang="en-US" altLang="zh-CN" dirty="0"/>
              <a:t> Si </a:t>
            </a:r>
            <a:r>
              <a:rPr lang="en-US" altLang="zh-CN" dirty="0" err="1"/>
              <a:t>liquidus</a:t>
            </a:r>
            <a:r>
              <a:rPr lang="en-US" altLang="zh-CN" dirty="0"/>
              <a:t> line are saturated with Mg</a:t>
            </a:r>
            <a:r>
              <a:rPr lang="en-US" altLang="zh-CN" baseline="-25000" dirty="0"/>
              <a:t>2</a:t>
            </a:r>
            <a:r>
              <a:rPr lang="en-US" altLang="zh-CN" dirty="0"/>
              <a:t> Si, </a:t>
            </a:r>
            <a:r>
              <a:rPr lang="en-US" altLang="zh-CN" i="1" dirty="0"/>
              <a:t>a</a:t>
            </a:r>
            <a:r>
              <a:rPr lang="en-US" altLang="zh-CN" baseline="-25000" dirty="0"/>
              <a:t>Mg2Si </a:t>
            </a:r>
            <a:r>
              <a:rPr lang="en-US" altLang="zh-CN" i="1" baseline="-25000" dirty="0"/>
              <a:t> </a:t>
            </a:r>
            <a:r>
              <a:rPr lang="en-US" altLang="zh-CN" baseline="-25000" dirty="0"/>
              <a:t>( s)</a:t>
            </a:r>
            <a:r>
              <a:rPr lang="en-US" altLang="zh-CN" dirty="0"/>
              <a:t> =1</a:t>
            </a:r>
            <a:endParaRPr lang="zh-CN" altLang="en-US" dirty="0"/>
          </a:p>
        </p:txBody>
      </p:sp>
      <p:graphicFrame>
        <p:nvGraphicFramePr>
          <p:cNvPr id="15" name="对象 14"/>
          <p:cNvGraphicFramePr>
            <a:graphicFrameLocks noChangeAspect="1"/>
          </p:cNvGraphicFramePr>
          <p:nvPr>
            <p:extLst>
              <p:ext uri="{D42A27DB-BD31-4B8C-83A1-F6EECF244321}">
                <p14:modId xmlns:p14="http://schemas.microsoft.com/office/powerpoint/2010/main" val="3246811646"/>
              </p:ext>
            </p:extLst>
          </p:nvPr>
        </p:nvGraphicFramePr>
        <p:xfrm>
          <a:off x="4509403" y="2746745"/>
          <a:ext cx="3125787" cy="307975"/>
        </p:xfrm>
        <a:graphic>
          <a:graphicData uri="http://schemas.openxmlformats.org/presentationml/2006/ole">
            <mc:AlternateContent xmlns:mc="http://schemas.openxmlformats.org/markup-compatibility/2006">
              <mc:Choice xmlns:v="urn:schemas-microsoft-com:vml" Requires="v">
                <p:oleObj name="Equation" r:id="rId9" imgW="2577960" imgH="253800" progId="Equation.DSMT4">
                  <p:embed/>
                </p:oleObj>
              </mc:Choice>
              <mc:Fallback>
                <p:oleObj name="Equation" r:id="rId9" imgW="2577960" imgH="253800" progId="Equation.DSMT4">
                  <p:embed/>
                  <p:pic>
                    <p:nvPicPr>
                      <p:cNvPr id="0" name=""/>
                      <p:cNvPicPr>
                        <a:picLocks noChangeAspect="1" noChangeArrowheads="1"/>
                      </p:cNvPicPr>
                      <p:nvPr/>
                    </p:nvPicPr>
                    <p:blipFill>
                      <a:blip r:embed="rId10"/>
                      <a:srcRect/>
                      <a:stretch>
                        <a:fillRect/>
                      </a:stretch>
                    </p:blipFill>
                    <p:spPr bwMode="auto">
                      <a:xfrm>
                        <a:off x="4509403" y="2746745"/>
                        <a:ext cx="3125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Box 15"/>
          <p:cNvSpPr txBox="1"/>
          <p:nvPr/>
        </p:nvSpPr>
        <p:spPr>
          <a:xfrm>
            <a:off x="11699" y="3697069"/>
            <a:ext cx="2513848" cy="646331"/>
          </a:xfrm>
          <a:prstGeom prst="rect">
            <a:avLst/>
          </a:prstGeom>
          <a:noFill/>
        </p:spPr>
        <p:txBody>
          <a:bodyPr wrap="square" rtlCol="0">
            <a:spAutoFit/>
          </a:bodyPr>
          <a:lstStyle/>
          <a:p>
            <a:r>
              <a:rPr lang="en-US" altLang="zh-CN" dirty="0"/>
              <a:t>Regular solution approximation</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3281686522"/>
              </p:ext>
            </p:extLst>
          </p:nvPr>
        </p:nvGraphicFramePr>
        <p:xfrm>
          <a:off x="228600" y="4419600"/>
          <a:ext cx="2506663" cy="1285875"/>
        </p:xfrm>
        <a:graphic>
          <a:graphicData uri="http://schemas.openxmlformats.org/presentationml/2006/ole">
            <mc:AlternateContent xmlns:mc="http://schemas.openxmlformats.org/markup-compatibility/2006">
              <mc:Choice xmlns:v="urn:schemas-microsoft-com:vml" Requires="v">
                <p:oleObj name="Equation" r:id="rId11" imgW="1955520" imgH="1002960" progId="Equation.DSMT4">
                  <p:embed/>
                </p:oleObj>
              </mc:Choice>
              <mc:Fallback>
                <p:oleObj name="Equation" r:id="rId11" imgW="1955520" imgH="1002960" progId="Equation.DSMT4">
                  <p:embed/>
                  <p:pic>
                    <p:nvPicPr>
                      <p:cNvPr id="0" name=""/>
                      <p:cNvPicPr/>
                      <p:nvPr/>
                    </p:nvPicPr>
                    <p:blipFill>
                      <a:blip r:embed="rId12"/>
                      <a:stretch>
                        <a:fillRect/>
                      </a:stretch>
                    </p:blipFill>
                    <p:spPr>
                      <a:xfrm>
                        <a:off x="228600" y="4419600"/>
                        <a:ext cx="2506663" cy="1285875"/>
                      </a:xfrm>
                      <a:prstGeom prst="rect">
                        <a:avLst/>
                      </a:prstGeom>
                    </p:spPr>
                  </p:pic>
                </p:oleObj>
              </mc:Fallback>
            </mc:AlternateContent>
          </a:graphicData>
        </a:graphic>
      </p:graphicFrame>
      <p:sp>
        <p:nvSpPr>
          <p:cNvPr id="18" name="圆角矩形 17"/>
          <p:cNvSpPr/>
          <p:nvPr/>
        </p:nvSpPr>
        <p:spPr>
          <a:xfrm>
            <a:off x="11699" y="3697069"/>
            <a:ext cx="2883149" cy="2170331"/>
          </a:xfrm>
          <a:prstGeom prst="roundRect">
            <a:avLst>
              <a:gd name="adj" fmla="val 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184116667"/>
              </p:ext>
            </p:extLst>
          </p:nvPr>
        </p:nvGraphicFramePr>
        <p:xfrm>
          <a:off x="4018839" y="3289670"/>
          <a:ext cx="3371850" cy="831850"/>
        </p:xfrm>
        <a:graphic>
          <a:graphicData uri="http://schemas.openxmlformats.org/presentationml/2006/ole">
            <mc:AlternateContent xmlns:mc="http://schemas.openxmlformats.org/markup-compatibility/2006">
              <mc:Choice xmlns:v="urn:schemas-microsoft-com:vml" Requires="v">
                <p:oleObj name="Equation" r:id="rId13" imgW="2781000" imgH="685800" progId="Equation.DSMT4">
                  <p:embed/>
                </p:oleObj>
              </mc:Choice>
              <mc:Fallback>
                <p:oleObj name="Equation" r:id="rId13" imgW="2781000" imgH="685800" progId="Equation.DSMT4">
                  <p:embed/>
                  <p:pic>
                    <p:nvPicPr>
                      <p:cNvPr id="0" name=""/>
                      <p:cNvPicPr>
                        <a:picLocks noChangeAspect="1" noChangeArrowheads="1"/>
                      </p:cNvPicPr>
                      <p:nvPr/>
                    </p:nvPicPr>
                    <p:blipFill>
                      <a:blip r:embed="rId14"/>
                      <a:srcRect/>
                      <a:stretch>
                        <a:fillRect/>
                      </a:stretch>
                    </p:blipFill>
                    <p:spPr bwMode="auto">
                      <a:xfrm>
                        <a:off x="4018839" y="3289670"/>
                        <a:ext cx="33718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423085623"/>
              </p:ext>
            </p:extLst>
          </p:nvPr>
        </p:nvGraphicFramePr>
        <p:xfrm>
          <a:off x="76200" y="6096000"/>
          <a:ext cx="2701926" cy="381000"/>
        </p:xfrm>
        <a:graphic>
          <a:graphicData uri="http://schemas.openxmlformats.org/presentationml/2006/ole">
            <mc:AlternateContent xmlns:mc="http://schemas.openxmlformats.org/markup-compatibility/2006">
              <mc:Choice xmlns:v="urn:schemas-microsoft-com:vml" Requires="v">
                <p:oleObj name="Equation" r:id="rId15" imgW="1981080" imgH="279360" progId="Equation.DSMT4">
                  <p:embed/>
                </p:oleObj>
              </mc:Choice>
              <mc:Fallback>
                <p:oleObj name="Equation" r:id="rId15" imgW="1981080" imgH="279360" progId="Equation.DSMT4">
                  <p:embed/>
                  <p:pic>
                    <p:nvPicPr>
                      <p:cNvPr id="0" name=""/>
                      <p:cNvPicPr/>
                      <p:nvPr/>
                    </p:nvPicPr>
                    <p:blipFill>
                      <a:blip r:embed="rId16"/>
                      <a:stretch>
                        <a:fillRect/>
                      </a:stretch>
                    </p:blipFill>
                    <p:spPr>
                      <a:xfrm>
                        <a:off x="76200" y="6096000"/>
                        <a:ext cx="2701926" cy="381000"/>
                      </a:xfrm>
                      <a:prstGeom prst="rect">
                        <a:avLst/>
                      </a:prstGeom>
                      <a:solidFill>
                        <a:schemeClr val="accent6">
                          <a:lumMod val="40000"/>
                          <a:lumOff val="60000"/>
                        </a:schemeClr>
                      </a:solidFill>
                    </p:spPr>
                  </p:pic>
                </p:oleObj>
              </mc:Fallback>
            </mc:AlternateContent>
          </a:graphicData>
        </a:graphic>
      </p:graphicFrame>
      <p:sp>
        <p:nvSpPr>
          <p:cNvPr id="21" name="矩形 20"/>
          <p:cNvSpPr/>
          <p:nvPr/>
        </p:nvSpPr>
        <p:spPr>
          <a:xfrm>
            <a:off x="7545475" y="3523588"/>
            <a:ext cx="1197764" cy="369332"/>
          </a:xfrm>
          <a:prstGeom prst="rect">
            <a:avLst/>
          </a:prstGeom>
          <a:solidFill>
            <a:schemeClr val="accent6">
              <a:lumMod val="40000"/>
              <a:lumOff val="60000"/>
            </a:schemeClr>
          </a:solidFill>
        </p:spPr>
        <p:txBody>
          <a:bodyPr wrap="none">
            <a:spAutoFit/>
          </a:bodyPr>
          <a:lstStyle/>
          <a:p>
            <a:r>
              <a:rPr lang="el-GR" altLang="zh-CN" dirty="0">
                <a:latin typeface="Times New Roman"/>
                <a:cs typeface="Times New Roman"/>
              </a:rPr>
              <a:t>Ω</a:t>
            </a:r>
            <a:r>
              <a:rPr lang="en-US" altLang="zh-CN" dirty="0">
                <a:latin typeface="Times New Roman"/>
                <a:cs typeface="Times New Roman"/>
              </a:rPr>
              <a:t>=-53,040</a:t>
            </a:r>
            <a:endParaRPr lang="zh-CN" altLang="en-US" dirty="0"/>
          </a:p>
        </p:txBody>
      </p:sp>
      <p:sp>
        <p:nvSpPr>
          <p:cNvPr id="25" name="TextBox 24"/>
          <p:cNvSpPr txBox="1"/>
          <p:nvPr/>
        </p:nvSpPr>
        <p:spPr>
          <a:xfrm>
            <a:off x="5009439" y="4458586"/>
            <a:ext cx="1000595" cy="369332"/>
          </a:xfrm>
          <a:prstGeom prst="rect">
            <a:avLst/>
          </a:prstGeom>
          <a:noFill/>
        </p:spPr>
        <p:txBody>
          <a:bodyPr wrap="none" rtlCol="0">
            <a:spAutoFit/>
          </a:bodyPr>
          <a:lstStyle/>
          <a:p>
            <a:r>
              <a:rPr lang="en-US" altLang="zh-CN" dirty="0">
                <a:solidFill>
                  <a:srgbClr val="FF0000"/>
                </a:solidFill>
              </a:rPr>
              <a:t>T=1358K</a:t>
            </a:r>
            <a:endParaRPr lang="zh-CN" altLang="en-US" dirty="0">
              <a:solidFill>
                <a:srgbClr val="FF0000"/>
              </a:solidFill>
            </a:endParaRPr>
          </a:p>
        </p:txBody>
      </p:sp>
      <p:cxnSp>
        <p:nvCxnSpPr>
          <p:cNvPr id="26" name="直接连接符 25"/>
          <p:cNvCxnSpPr/>
          <p:nvPr/>
        </p:nvCxnSpPr>
        <p:spPr>
          <a:xfrm flipV="1">
            <a:off x="4628439" y="5458853"/>
            <a:ext cx="0" cy="599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5626383" y="4858920"/>
            <a:ext cx="0" cy="1199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7047557" y="4121520"/>
            <a:ext cx="19282" cy="19372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628439" y="6058786"/>
            <a:ext cx="2438401"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247439" y="5994254"/>
            <a:ext cx="490840" cy="369332"/>
          </a:xfrm>
          <a:prstGeom prst="rect">
            <a:avLst/>
          </a:prstGeom>
          <a:noFill/>
        </p:spPr>
        <p:txBody>
          <a:bodyPr wrap="none" rtlCol="0">
            <a:spAutoFit/>
          </a:bodyPr>
          <a:lstStyle/>
          <a:p>
            <a:r>
              <a:rPr lang="en-US" altLang="zh-CN" dirty="0"/>
              <a:t>Mg</a:t>
            </a:r>
            <a:endParaRPr lang="zh-CN" altLang="en-US" dirty="0"/>
          </a:p>
        </p:txBody>
      </p:sp>
      <p:sp>
        <p:nvSpPr>
          <p:cNvPr id="31" name="TextBox 30"/>
          <p:cNvSpPr txBox="1"/>
          <p:nvPr/>
        </p:nvSpPr>
        <p:spPr>
          <a:xfrm>
            <a:off x="6875875" y="6004490"/>
            <a:ext cx="343364" cy="369332"/>
          </a:xfrm>
          <a:prstGeom prst="rect">
            <a:avLst/>
          </a:prstGeom>
          <a:noFill/>
        </p:spPr>
        <p:txBody>
          <a:bodyPr wrap="none" rtlCol="0">
            <a:spAutoFit/>
          </a:bodyPr>
          <a:lstStyle/>
          <a:p>
            <a:r>
              <a:rPr lang="en-US" altLang="zh-CN" dirty="0"/>
              <a:t>Si</a:t>
            </a:r>
            <a:endParaRPr lang="zh-CN" altLang="en-US" dirty="0"/>
          </a:p>
        </p:txBody>
      </p:sp>
      <p:sp>
        <p:nvSpPr>
          <p:cNvPr id="32" name="TextBox 31"/>
          <p:cNvSpPr txBox="1"/>
          <p:nvPr/>
        </p:nvSpPr>
        <p:spPr>
          <a:xfrm>
            <a:off x="5314239" y="5982586"/>
            <a:ext cx="766557" cy="369332"/>
          </a:xfrm>
          <a:prstGeom prst="rect">
            <a:avLst/>
          </a:prstGeom>
          <a:noFill/>
        </p:spPr>
        <p:txBody>
          <a:bodyPr wrap="none" rtlCol="0">
            <a:spAutoFit/>
          </a:bodyPr>
          <a:lstStyle/>
          <a:p>
            <a:r>
              <a:rPr lang="en-US" altLang="zh-CN" dirty="0"/>
              <a:t>Mg2Si</a:t>
            </a:r>
            <a:endParaRPr lang="zh-CN" altLang="en-US" dirty="0"/>
          </a:p>
        </p:txBody>
      </p:sp>
      <p:sp>
        <p:nvSpPr>
          <p:cNvPr id="22" name="任意多边形 21"/>
          <p:cNvSpPr/>
          <p:nvPr/>
        </p:nvSpPr>
        <p:spPr>
          <a:xfrm>
            <a:off x="5016263" y="4811689"/>
            <a:ext cx="1337480" cy="409613"/>
          </a:xfrm>
          <a:custGeom>
            <a:avLst/>
            <a:gdLst>
              <a:gd name="connsiteX0" fmla="*/ 0 w 1337480"/>
              <a:gd name="connsiteY0" fmla="*/ 409613 h 409613"/>
              <a:gd name="connsiteX1" fmla="*/ 641445 w 1337480"/>
              <a:gd name="connsiteY1" fmla="*/ 180 h 409613"/>
              <a:gd name="connsiteX2" fmla="*/ 1337480 w 1337480"/>
              <a:gd name="connsiteY2" fmla="*/ 368670 h 409613"/>
            </a:gdLst>
            <a:ahLst/>
            <a:cxnLst>
              <a:cxn ang="0">
                <a:pos x="connsiteX0" y="connsiteY0"/>
              </a:cxn>
              <a:cxn ang="0">
                <a:pos x="connsiteX1" y="connsiteY1"/>
              </a:cxn>
              <a:cxn ang="0">
                <a:pos x="connsiteX2" y="connsiteY2"/>
              </a:cxn>
            </a:cxnLst>
            <a:rect l="l" t="t" r="r" b="b"/>
            <a:pathLst>
              <a:path w="1337480" h="409613">
                <a:moveTo>
                  <a:pt x="0" y="409613"/>
                </a:moveTo>
                <a:cubicBezTo>
                  <a:pt x="209266" y="208308"/>
                  <a:pt x="418532" y="7004"/>
                  <a:pt x="641445" y="180"/>
                </a:cubicBezTo>
                <a:cubicBezTo>
                  <a:pt x="864358" y="-6644"/>
                  <a:pt x="1100919" y="181013"/>
                  <a:pt x="1337480" y="3686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6671" y="1076980"/>
            <a:ext cx="2685351" cy="523220"/>
          </a:xfrm>
          <a:prstGeom prst="rect">
            <a:avLst/>
          </a:prstGeom>
          <a:solidFill>
            <a:schemeClr val="accent6">
              <a:lumMod val="60000"/>
              <a:lumOff val="40000"/>
            </a:schemeClr>
          </a:solidFill>
        </p:spPr>
        <p:txBody>
          <a:bodyPr wrap="none" rtlCol="0">
            <a:spAutoFit/>
          </a:bodyPr>
          <a:lstStyle/>
          <a:p>
            <a:r>
              <a:rPr lang="en-US" altLang="zh-CN" sz="2800" b="1" dirty="0"/>
              <a:t>Mg</a:t>
            </a:r>
            <a:r>
              <a:rPr lang="en-US" altLang="zh-CN" sz="2800" b="1" baseline="-25000" dirty="0"/>
              <a:t>2</a:t>
            </a:r>
            <a:r>
              <a:rPr lang="en-US" altLang="zh-CN" sz="2800" b="1" dirty="0"/>
              <a:t> Si liquid line</a:t>
            </a:r>
            <a:endParaRPr lang="zh-CN" altLang="en-US" sz="2800" b="1" dirty="0"/>
          </a:p>
        </p:txBody>
      </p:sp>
      <p:sp>
        <p:nvSpPr>
          <p:cNvPr id="36" name="TextBox 35"/>
          <p:cNvSpPr txBox="1"/>
          <p:nvPr/>
        </p:nvSpPr>
        <p:spPr>
          <a:xfrm>
            <a:off x="1311109" y="188640"/>
            <a:ext cx="6547755" cy="523220"/>
          </a:xfrm>
          <a:prstGeom prst="rect">
            <a:avLst/>
          </a:prstGeom>
          <a:noFill/>
        </p:spPr>
        <p:txBody>
          <a:bodyPr wrap="none" rtlCol="0">
            <a:spAutoFit/>
          </a:bodyPr>
          <a:lstStyle/>
          <a:p>
            <a:r>
              <a:rPr lang="en-US" altLang="zh-CN" sz="2800" dirty="0">
                <a:solidFill>
                  <a:srgbClr val="FF0000"/>
                </a:solidFill>
              </a:rPr>
              <a:t>The calculation of the Mg-Si phase diagram </a:t>
            </a:r>
            <a:endParaRPr lang="zh-CN" altLang="en-US" sz="2800" dirty="0">
              <a:solidFill>
                <a:srgbClr val="FF0000"/>
              </a:solidFill>
            </a:endParaRPr>
          </a:p>
        </p:txBody>
      </p:sp>
    </p:spTree>
    <p:extLst>
      <p:ext uri="{BB962C8B-B14F-4D97-AF65-F5344CB8AC3E}">
        <p14:creationId xmlns:p14="http://schemas.microsoft.com/office/powerpoint/2010/main" val="434367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62636" y="1371944"/>
            <a:ext cx="1736373" cy="461665"/>
          </a:xfrm>
          <a:prstGeom prst="rect">
            <a:avLst/>
          </a:prstGeom>
          <a:solidFill>
            <a:schemeClr val="accent6">
              <a:lumMod val="60000"/>
              <a:lumOff val="40000"/>
            </a:schemeClr>
          </a:solidFill>
        </p:spPr>
        <p:txBody>
          <a:bodyPr wrap="none" rtlCol="0">
            <a:spAutoFit/>
          </a:bodyPr>
          <a:lstStyle/>
          <a:p>
            <a:r>
              <a:rPr lang="en-US" altLang="zh-CN" sz="2400" b="1" dirty="0"/>
              <a:t>Si liquid line</a:t>
            </a:r>
            <a:endParaRPr lang="zh-CN" altLang="en-US" sz="2400" b="1" dirty="0"/>
          </a:p>
        </p:txBody>
      </p:sp>
      <p:graphicFrame>
        <p:nvGraphicFramePr>
          <p:cNvPr id="9" name="对象 8"/>
          <p:cNvGraphicFramePr>
            <a:graphicFrameLocks noChangeAspect="1"/>
          </p:cNvGraphicFramePr>
          <p:nvPr>
            <p:extLst>
              <p:ext uri="{D42A27DB-BD31-4B8C-83A1-F6EECF244321}">
                <p14:modId xmlns:p14="http://schemas.microsoft.com/office/powerpoint/2010/main" val="705507114"/>
              </p:ext>
            </p:extLst>
          </p:nvPr>
        </p:nvGraphicFramePr>
        <p:xfrm>
          <a:off x="267990" y="1982569"/>
          <a:ext cx="1147763" cy="419100"/>
        </p:xfrm>
        <a:graphic>
          <a:graphicData uri="http://schemas.openxmlformats.org/presentationml/2006/ole">
            <mc:AlternateContent xmlns:mc="http://schemas.openxmlformats.org/markup-compatibility/2006">
              <mc:Choice xmlns:v="urn:schemas-microsoft-com:vml" Requires="v">
                <p:oleObj name="Equation" r:id="rId2" imgW="660113" imgH="241195" progId="Equation.DSMT4">
                  <p:embed/>
                </p:oleObj>
              </mc:Choice>
              <mc:Fallback>
                <p:oleObj name="Equation" r:id="rId2" imgW="660113" imgH="241195"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990" y="1982569"/>
                        <a:ext cx="11477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901847531"/>
              </p:ext>
            </p:extLst>
          </p:nvPr>
        </p:nvGraphicFramePr>
        <p:xfrm>
          <a:off x="1696795" y="1982569"/>
          <a:ext cx="2838450" cy="381000"/>
        </p:xfrm>
        <a:graphic>
          <a:graphicData uri="http://schemas.openxmlformats.org/presentationml/2006/ole">
            <mc:AlternateContent xmlns:mc="http://schemas.openxmlformats.org/markup-compatibility/2006">
              <mc:Choice xmlns:v="urn:schemas-microsoft-com:vml" Requires="v">
                <p:oleObj name="Equation" r:id="rId4" imgW="1892160" imgH="253800" progId="Equation.DSMT4">
                  <p:embed/>
                </p:oleObj>
              </mc:Choice>
              <mc:Fallback>
                <p:oleObj name="Equation" r:id="rId4" imgW="189216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6795" y="1982569"/>
                        <a:ext cx="2838450" cy="381000"/>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628049917"/>
              </p:ext>
            </p:extLst>
          </p:nvPr>
        </p:nvGraphicFramePr>
        <p:xfrm>
          <a:off x="304800" y="2668369"/>
          <a:ext cx="1631950" cy="923925"/>
        </p:xfrm>
        <a:graphic>
          <a:graphicData uri="http://schemas.openxmlformats.org/presentationml/2006/ole">
            <mc:AlternateContent xmlns:mc="http://schemas.openxmlformats.org/markup-compatibility/2006">
              <mc:Choice xmlns:v="urn:schemas-microsoft-com:vml" Requires="v">
                <p:oleObj name="Equation" r:id="rId6" imgW="1346040" imgH="761760" progId="Equation.DSMT4">
                  <p:embed/>
                </p:oleObj>
              </mc:Choice>
              <mc:Fallback>
                <p:oleObj name="Equation" r:id="rId6" imgW="1346040" imgH="761760" progId="Equation.DSMT4">
                  <p:embed/>
                  <p:pic>
                    <p:nvPicPr>
                      <p:cNvPr id="0" name=""/>
                      <p:cNvPicPr>
                        <a:picLocks noChangeAspect="1" noChangeArrowheads="1"/>
                      </p:cNvPicPr>
                      <p:nvPr/>
                    </p:nvPicPr>
                    <p:blipFill>
                      <a:blip r:embed="rId7"/>
                      <a:srcRect/>
                      <a:stretch>
                        <a:fillRect/>
                      </a:stretch>
                    </p:blipFill>
                    <p:spPr bwMode="auto">
                      <a:xfrm>
                        <a:off x="304800" y="2668369"/>
                        <a:ext cx="16319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2461800" y="2595344"/>
            <a:ext cx="4572000" cy="646331"/>
          </a:xfrm>
          <a:prstGeom prst="rect">
            <a:avLst/>
          </a:prstGeom>
        </p:spPr>
        <p:txBody>
          <a:bodyPr>
            <a:spAutoFit/>
          </a:bodyPr>
          <a:lstStyle/>
          <a:p>
            <a:r>
              <a:rPr lang="en-US" altLang="zh-CN" dirty="0"/>
              <a:t>Since liquids on the Si </a:t>
            </a:r>
            <a:r>
              <a:rPr lang="en-US" altLang="zh-CN" dirty="0" err="1"/>
              <a:t>liquidus</a:t>
            </a:r>
            <a:r>
              <a:rPr lang="en-US" altLang="zh-CN" dirty="0"/>
              <a:t> line are saturated with Si, </a:t>
            </a:r>
            <a:r>
              <a:rPr lang="en-US" altLang="zh-CN" i="1" dirty="0"/>
              <a:t>a </a:t>
            </a:r>
            <a:r>
              <a:rPr lang="en-US" altLang="zh-CN" baseline="-25000" dirty="0"/>
              <a:t>Si </a:t>
            </a:r>
            <a:r>
              <a:rPr lang="en-US" altLang="zh-CN" i="1" baseline="-25000" dirty="0"/>
              <a:t> </a:t>
            </a:r>
            <a:r>
              <a:rPr lang="en-US" altLang="zh-CN" baseline="-25000" dirty="0"/>
              <a:t>( s)</a:t>
            </a:r>
            <a:r>
              <a:rPr lang="en-US" altLang="zh-CN" dirty="0"/>
              <a:t> =1</a:t>
            </a:r>
            <a:endParaRPr lang="zh-CN" altLang="en-US" dirty="0"/>
          </a:p>
        </p:txBody>
      </p:sp>
      <p:graphicFrame>
        <p:nvGraphicFramePr>
          <p:cNvPr id="13" name="对象 12"/>
          <p:cNvGraphicFramePr>
            <a:graphicFrameLocks noChangeAspect="1"/>
          </p:cNvGraphicFramePr>
          <p:nvPr>
            <p:extLst>
              <p:ext uri="{D42A27DB-BD31-4B8C-83A1-F6EECF244321}">
                <p14:modId xmlns:p14="http://schemas.microsoft.com/office/powerpoint/2010/main" val="3187408728"/>
              </p:ext>
            </p:extLst>
          </p:nvPr>
        </p:nvGraphicFramePr>
        <p:xfrm>
          <a:off x="2485200" y="3316979"/>
          <a:ext cx="3295650" cy="739775"/>
        </p:xfrm>
        <a:graphic>
          <a:graphicData uri="http://schemas.openxmlformats.org/presentationml/2006/ole">
            <mc:AlternateContent xmlns:mc="http://schemas.openxmlformats.org/markup-compatibility/2006">
              <mc:Choice xmlns:v="urn:schemas-microsoft-com:vml" Requires="v">
                <p:oleObj name="Equation" r:id="rId8" imgW="2717640" imgH="609480" progId="Equation.DSMT4">
                  <p:embed/>
                </p:oleObj>
              </mc:Choice>
              <mc:Fallback>
                <p:oleObj name="Equation" r:id="rId8" imgW="2717640" imgH="609480" progId="Equation.DSMT4">
                  <p:embed/>
                  <p:pic>
                    <p:nvPicPr>
                      <p:cNvPr id="0" name=""/>
                      <p:cNvPicPr>
                        <a:picLocks noChangeAspect="1" noChangeArrowheads="1"/>
                      </p:cNvPicPr>
                      <p:nvPr/>
                    </p:nvPicPr>
                    <p:blipFill>
                      <a:blip r:embed="rId9"/>
                      <a:srcRect/>
                      <a:stretch>
                        <a:fillRect/>
                      </a:stretch>
                    </p:blipFill>
                    <p:spPr bwMode="auto">
                      <a:xfrm>
                        <a:off x="2485200" y="3316979"/>
                        <a:ext cx="329565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162636" y="3810000"/>
            <a:ext cx="1930337" cy="461665"/>
          </a:xfrm>
          <a:prstGeom prst="rect">
            <a:avLst/>
          </a:prstGeom>
          <a:solidFill>
            <a:schemeClr val="accent6">
              <a:lumMod val="60000"/>
              <a:lumOff val="40000"/>
            </a:schemeClr>
          </a:solidFill>
        </p:spPr>
        <p:txBody>
          <a:bodyPr wrap="none" rtlCol="0">
            <a:spAutoFit/>
          </a:bodyPr>
          <a:lstStyle/>
          <a:p>
            <a:r>
              <a:rPr lang="en-US" altLang="zh-CN" sz="2400" b="1" dirty="0"/>
              <a:t>Mg liquid line</a:t>
            </a:r>
            <a:endParaRPr lang="zh-CN" altLang="en-US" sz="2400" b="1" dirty="0"/>
          </a:p>
        </p:txBody>
      </p:sp>
      <p:graphicFrame>
        <p:nvGraphicFramePr>
          <p:cNvPr id="15" name="对象 14"/>
          <p:cNvGraphicFramePr>
            <a:graphicFrameLocks noChangeAspect="1"/>
          </p:cNvGraphicFramePr>
          <p:nvPr>
            <p:extLst>
              <p:ext uri="{D42A27DB-BD31-4B8C-83A1-F6EECF244321}">
                <p14:modId xmlns:p14="http://schemas.microsoft.com/office/powerpoint/2010/main" val="1484016184"/>
              </p:ext>
            </p:extLst>
          </p:nvPr>
        </p:nvGraphicFramePr>
        <p:xfrm>
          <a:off x="127000" y="4532313"/>
          <a:ext cx="1479550" cy="419100"/>
        </p:xfrm>
        <a:graphic>
          <a:graphicData uri="http://schemas.openxmlformats.org/presentationml/2006/ole">
            <mc:AlternateContent xmlns:mc="http://schemas.openxmlformats.org/markup-compatibility/2006">
              <mc:Choice xmlns:v="urn:schemas-microsoft-com:vml" Requires="v">
                <p:oleObj name="Equation" r:id="rId10" imgW="850680" imgH="241200" progId="Equation.DSMT4">
                  <p:embed/>
                </p:oleObj>
              </mc:Choice>
              <mc:Fallback>
                <p:oleObj name="Equation" r:id="rId10" imgW="850680" imgH="241200" progId="Equation.DSMT4">
                  <p:embed/>
                  <p:pic>
                    <p:nvPicPr>
                      <p:cNvPr id="0" name=""/>
                      <p:cNvPicPr>
                        <a:picLocks noChangeAspect="1" noChangeArrowheads="1"/>
                      </p:cNvPicPr>
                      <p:nvPr/>
                    </p:nvPicPr>
                    <p:blipFill>
                      <a:blip r:embed="rId11"/>
                      <a:srcRect/>
                      <a:stretch>
                        <a:fillRect/>
                      </a:stretch>
                    </p:blipFill>
                    <p:spPr bwMode="auto">
                      <a:xfrm>
                        <a:off x="127000" y="4532313"/>
                        <a:ext cx="14795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834074024"/>
              </p:ext>
            </p:extLst>
          </p:nvPr>
        </p:nvGraphicFramePr>
        <p:xfrm>
          <a:off x="290513" y="5218113"/>
          <a:ext cx="1708150" cy="923925"/>
        </p:xfrm>
        <a:graphic>
          <a:graphicData uri="http://schemas.openxmlformats.org/presentationml/2006/ole">
            <mc:AlternateContent xmlns:mc="http://schemas.openxmlformats.org/markup-compatibility/2006">
              <mc:Choice xmlns:v="urn:schemas-microsoft-com:vml" Requires="v">
                <p:oleObj name="Equation" r:id="rId12" imgW="1409400" imgH="761760" progId="Equation.DSMT4">
                  <p:embed/>
                </p:oleObj>
              </mc:Choice>
              <mc:Fallback>
                <p:oleObj name="Equation" r:id="rId12" imgW="1409400" imgH="761760" progId="Equation.DSMT4">
                  <p:embed/>
                  <p:pic>
                    <p:nvPicPr>
                      <p:cNvPr id="0" name=""/>
                      <p:cNvPicPr>
                        <a:picLocks noChangeAspect="1" noChangeArrowheads="1"/>
                      </p:cNvPicPr>
                      <p:nvPr/>
                    </p:nvPicPr>
                    <p:blipFill>
                      <a:blip r:embed="rId13"/>
                      <a:srcRect/>
                      <a:stretch>
                        <a:fillRect/>
                      </a:stretch>
                    </p:blipFill>
                    <p:spPr bwMode="auto">
                      <a:xfrm>
                        <a:off x="290513" y="5218113"/>
                        <a:ext cx="17081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p:nvPr/>
        </p:nvSpPr>
        <p:spPr>
          <a:xfrm>
            <a:off x="2485200" y="5144869"/>
            <a:ext cx="4572000" cy="646331"/>
          </a:xfrm>
          <a:prstGeom prst="rect">
            <a:avLst/>
          </a:prstGeom>
        </p:spPr>
        <p:txBody>
          <a:bodyPr>
            <a:spAutoFit/>
          </a:bodyPr>
          <a:lstStyle/>
          <a:p>
            <a:r>
              <a:rPr lang="en-US" altLang="zh-CN" dirty="0"/>
              <a:t>Since liquids on the Mg </a:t>
            </a:r>
            <a:r>
              <a:rPr lang="en-US" altLang="zh-CN" dirty="0" err="1"/>
              <a:t>liquidus</a:t>
            </a:r>
            <a:r>
              <a:rPr lang="en-US" altLang="zh-CN" dirty="0"/>
              <a:t> line are saturated with Mg, </a:t>
            </a:r>
            <a:r>
              <a:rPr lang="en-US" altLang="zh-CN" i="1" dirty="0"/>
              <a:t>a </a:t>
            </a:r>
            <a:r>
              <a:rPr lang="en-US" altLang="zh-CN" baseline="-25000" dirty="0"/>
              <a:t>Mg( s)</a:t>
            </a:r>
            <a:r>
              <a:rPr lang="en-US" altLang="zh-CN" dirty="0"/>
              <a:t> =1</a:t>
            </a:r>
            <a:endParaRPr lang="zh-CN" altLang="en-US" dirty="0"/>
          </a:p>
        </p:txBody>
      </p:sp>
      <p:graphicFrame>
        <p:nvGraphicFramePr>
          <p:cNvPr id="19" name="对象 18"/>
          <p:cNvGraphicFramePr>
            <a:graphicFrameLocks noChangeAspect="1"/>
          </p:cNvGraphicFramePr>
          <p:nvPr>
            <p:extLst>
              <p:ext uri="{D42A27DB-BD31-4B8C-83A1-F6EECF244321}">
                <p14:modId xmlns:p14="http://schemas.microsoft.com/office/powerpoint/2010/main" val="209166257"/>
              </p:ext>
            </p:extLst>
          </p:nvPr>
        </p:nvGraphicFramePr>
        <p:xfrm>
          <a:off x="2522538" y="5908675"/>
          <a:ext cx="4373562" cy="415925"/>
        </p:xfrm>
        <a:graphic>
          <a:graphicData uri="http://schemas.openxmlformats.org/presentationml/2006/ole">
            <mc:AlternateContent xmlns:mc="http://schemas.openxmlformats.org/markup-compatibility/2006">
              <mc:Choice xmlns:v="urn:schemas-microsoft-com:vml" Requires="v">
                <p:oleObj name="Equation" r:id="rId14" imgW="3606480" imgH="342720" progId="Equation.DSMT4">
                  <p:embed/>
                </p:oleObj>
              </mc:Choice>
              <mc:Fallback>
                <p:oleObj name="Equation" r:id="rId14" imgW="3606480" imgH="342720" progId="Equation.DSMT4">
                  <p:embed/>
                  <p:pic>
                    <p:nvPicPr>
                      <p:cNvPr id="0" name=""/>
                      <p:cNvPicPr>
                        <a:picLocks noChangeAspect="1" noChangeArrowheads="1"/>
                      </p:cNvPicPr>
                      <p:nvPr/>
                    </p:nvPicPr>
                    <p:blipFill>
                      <a:blip r:embed="rId15"/>
                      <a:srcRect/>
                      <a:stretch>
                        <a:fillRect/>
                      </a:stretch>
                    </p:blipFill>
                    <p:spPr bwMode="auto">
                      <a:xfrm>
                        <a:off x="2522538" y="5908675"/>
                        <a:ext cx="43735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276667824"/>
              </p:ext>
            </p:extLst>
          </p:nvPr>
        </p:nvGraphicFramePr>
        <p:xfrm>
          <a:off x="2405656" y="4572000"/>
          <a:ext cx="3015900" cy="381000"/>
        </p:xfrm>
        <a:graphic>
          <a:graphicData uri="http://schemas.openxmlformats.org/presentationml/2006/ole">
            <mc:AlternateContent xmlns:mc="http://schemas.openxmlformats.org/markup-compatibility/2006">
              <mc:Choice xmlns:v="urn:schemas-microsoft-com:vml" Requires="v">
                <p:oleObj name="Equation" r:id="rId16" imgW="1815840" imgH="253800" progId="Equation.DSMT4">
                  <p:embed/>
                </p:oleObj>
              </mc:Choice>
              <mc:Fallback>
                <p:oleObj name="Equation" r:id="rId16" imgW="1815840" imgH="253800" progId="Equation.DSMT4">
                  <p:embed/>
                  <p:pic>
                    <p:nvPicPr>
                      <p:cNvPr id="0" name=""/>
                      <p:cNvPicPr/>
                      <p:nvPr/>
                    </p:nvPicPr>
                    <p:blipFill>
                      <a:blip r:embed="rId17"/>
                      <a:stretch>
                        <a:fillRect/>
                      </a:stretch>
                    </p:blipFill>
                    <p:spPr>
                      <a:xfrm>
                        <a:off x="2405656" y="4572000"/>
                        <a:ext cx="3015900" cy="381000"/>
                      </a:xfrm>
                      <a:prstGeom prst="rect">
                        <a:avLst/>
                      </a:prstGeom>
                    </p:spPr>
                  </p:pic>
                </p:oleObj>
              </mc:Fallback>
            </mc:AlternateContent>
          </a:graphicData>
        </a:graphic>
      </p:graphicFrame>
      <p:sp>
        <p:nvSpPr>
          <p:cNvPr id="21" name="TextBox 20"/>
          <p:cNvSpPr txBox="1"/>
          <p:nvPr/>
        </p:nvSpPr>
        <p:spPr>
          <a:xfrm>
            <a:off x="771030" y="255361"/>
            <a:ext cx="6547755" cy="523220"/>
          </a:xfrm>
          <a:prstGeom prst="rect">
            <a:avLst/>
          </a:prstGeom>
          <a:noFill/>
        </p:spPr>
        <p:txBody>
          <a:bodyPr wrap="none" rtlCol="0">
            <a:spAutoFit/>
          </a:bodyPr>
          <a:lstStyle/>
          <a:p>
            <a:r>
              <a:rPr lang="en-US" altLang="zh-CN" sz="2800" dirty="0">
                <a:solidFill>
                  <a:srgbClr val="FF0000"/>
                </a:solidFill>
              </a:rPr>
              <a:t>The calculation of the Mg-Si phase diagram </a:t>
            </a:r>
            <a:endParaRPr lang="zh-CN" altLang="en-US" sz="2800" dirty="0">
              <a:solidFill>
                <a:srgbClr val="FF0000"/>
              </a:solidFill>
            </a:endParaRPr>
          </a:p>
        </p:txBody>
      </p:sp>
      <p:sp>
        <p:nvSpPr>
          <p:cNvPr id="22" name="TextBox 21"/>
          <p:cNvSpPr txBox="1"/>
          <p:nvPr/>
        </p:nvSpPr>
        <p:spPr>
          <a:xfrm>
            <a:off x="6630707" y="2671465"/>
            <a:ext cx="1000595" cy="369332"/>
          </a:xfrm>
          <a:prstGeom prst="rect">
            <a:avLst/>
          </a:prstGeom>
          <a:noFill/>
        </p:spPr>
        <p:txBody>
          <a:bodyPr wrap="none" rtlCol="0">
            <a:spAutoFit/>
          </a:bodyPr>
          <a:lstStyle/>
          <a:p>
            <a:r>
              <a:rPr lang="en-US" altLang="zh-CN" dirty="0">
                <a:solidFill>
                  <a:srgbClr val="FF0000"/>
                </a:solidFill>
              </a:rPr>
              <a:t>T=1358K</a:t>
            </a:r>
            <a:endParaRPr lang="zh-CN" altLang="en-US" dirty="0">
              <a:solidFill>
                <a:srgbClr val="FF0000"/>
              </a:solidFill>
            </a:endParaRPr>
          </a:p>
        </p:txBody>
      </p:sp>
      <p:cxnSp>
        <p:nvCxnSpPr>
          <p:cNvPr id="23" name="直接连接符 22"/>
          <p:cNvCxnSpPr/>
          <p:nvPr/>
        </p:nvCxnSpPr>
        <p:spPr>
          <a:xfrm flipV="1">
            <a:off x="6249707" y="3671732"/>
            <a:ext cx="0" cy="599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7247651" y="3071799"/>
            <a:ext cx="0" cy="1199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8668825" y="2334399"/>
            <a:ext cx="19282" cy="19372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249707" y="4271665"/>
            <a:ext cx="2438401"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868707" y="4207133"/>
            <a:ext cx="490840" cy="369332"/>
          </a:xfrm>
          <a:prstGeom prst="rect">
            <a:avLst/>
          </a:prstGeom>
          <a:noFill/>
        </p:spPr>
        <p:txBody>
          <a:bodyPr wrap="none" rtlCol="0">
            <a:spAutoFit/>
          </a:bodyPr>
          <a:lstStyle/>
          <a:p>
            <a:r>
              <a:rPr lang="en-US" altLang="zh-CN" dirty="0"/>
              <a:t>Mg</a:t>
            </a:r>
            <a:endParaRPr lang="zh-CN" altLang="en-US" dirty="0"/>
          </a:p>
        </p:txBody>
      </p:sp>
      <p:sp>
        <p:nvSpPr>
          <p:cNvPr id="28" name="TextBox 27"/>
          <p:cNvSpPr txBox="1"/>
          <p:nvPr/>
        </p:nvSpPr>
        <p:spPr>
          <a:xfrm>
            <a:off x="6935507" y="4195465"/>
            <a:ext cx="766557" cy="369332"/>
          </a:xfrm>
          <a:prstGeom prst="rect">
            <a:avLst/>
          </a:prstGeom>
          <a:noFill/>
        </p:spPr>
        <p:txBody>
          <a:bodyPr wrap="none" rtlCol="0">
            <a:spAutoFit/>
          </a:bodyPr>
          <a:lstStyle/>
          <a:p>
            <a:r>
              <a:rPr lang="en-US" altLang="zh-CN" dirty="0"/>
              <a:t>Mg2Si</a:t>
            </a:r>
            <a:endParaRPr lang="zh-CN" altLang="en-US" dirty="0"/>
          </a:p>
        </p:txBody>
      </p:sp>
      <p:sp>
        <p:nvSpPr>
          <p:cNvPr id="29" name="任意多边形 28"/>
          <p:cNvSpPr/>
          <p:nvPr/>
        </p:nvSpPr>
        <p:spPr>
          <a:xfrm>
            <a:off x="6359547" y="3024568"/>
            <a:ext cx="1615464" cy="785432"/>
          </a:xfrm>
          <a:custGeom>
            <a:avLst/>
            <a:gdLst>
              <a:gd name="connsiteX0" fmla="*/ 0 w 1337480"/>
              <a:gd name="connsiteY0" fmla="*/ 409613 h 409613"/>
              <a:gd name="connsiteX1" fmla="*/ 641445 w 1337480"/>
              <a:gd name="connsiteY1" fmla="*/ 180 h 409613"/>
              <a:gd name="connsiteX2" fmla="*/ 1337480 w 1337480"/>
              <a:gd name="connsiteY2" fmla="*/ 368670 h 409613"/>
            </a:gdLst>
            <a:ahLst/>
            <a:cxnLst>
              <a:cxn ang="0">
                <a:pos x="connsiteX0" y="connsiteY0"/>
              </a:cxn>
              <a:cxn ang="0">
                <a:pos x="connsiteX1" y="connsiteY1"/>
              </a:cxn>
              <a:cxn ang="0">
                <a:pos x="connsiteX2" y="connsiteY2"/>
              </a:cxn>
            </a:cxnLst>
            <a:rect l="l" t="t" r="r" b="b"/>
            <a:pathLst>
              <a:path w="1337480" h="409613">
                <a:moveTo>
                  <a:pt x="0" y="409613"/>
                </a:moveTo>
                <a:cubicBezTo>
                  <a:pt x="209266" y="208308"/>
                  <a:pt x="418532" y="7004"/>
                  <a:pt x="641445" y="180"/>
                </a:cubicBezTo>
                <a:cubicBezTo>
                  <a:pt x="864358" y="-6644"/>
                  <a:pt x="1100919" y="181013"/>
                  <a:pt x="1337480" y="3686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29"/>
          <p:cNvSpPr/>
          <p:nvPr/>
        </p:nvSpPr>
        <p:spPr>
          <a:xfrm>
            <a:off x="7764518" y="2361062"/>
            <a:ext cx="874516" cy="1056221"/>
          </a:xfrm>
          <a:custGeom>
            <a:avLst/>
            <a:gdLst>
              <a:gd name="connsiteX0" fmla="*/ 777923 w 777923"/>
              <a:gd name="connsiteY0" fmla="*/ 0 h 1037230"/>
              <a:gd name="connsiteX1" fmla="*/ 341194 w 777923"/>
              <a:gd name="connsiteY1" fmla="*/ 286603 h 1037230"/>
              <a:gd name="connsiteX2" fmla="*/ 0 w 777923"/>
              <a:gd name="connsiteY2" fmla="*/ 1037230 h 1037230"/>
            </a:gdLst>
            <a:ahLst/>
            <a:cxnLst>
              <a:cxn ang="0">
                <a:pos x="connsiteX0" y="connsiteY0"/>
              </a:cxn>
              <a:cxn ang="0">
                <a:pos x="connsiteX1" y="connsiteY1"/>
              </a:cxn>
              <a:cxn ang="0">
                <a:pos x="connsiteX2" y="connsiteY2"/>
              </a:cxn>
            </a:cxnLst>
            <a:rect l="l" t="t" r="r" b="b"/>
            <a:pathLst>
              <a:path w="777923" h="1037230">
                <a:moveTo>
                  <a:pt x="777923" y="0"/>
                </a:moveTo>
                <a:cubicBezTo>
                  <a:pt x="624385" y="56865"/>
                  <a:pt x="470848" y="113731"/>
                  <a:pt x="341194" y="286603"/>
                </a:cubicBezTo>
                <a:cubicBezTo>
                  <a:pt x="211540" y="459475"/>
                  <a:pt x="105770" y="748352"/>
                  <a:pt x="0" y="103723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a:off x="6264322" y="3698543"/>
            <a:ext cx="163774" cy="286603"/>
          </a:xfrm>
          <a:custGeom>
            <a:avLst/>
            <a:gdLst>
              <a:gd name="connsiteX0" fmla="*/ 0 w 163774"/>
              <a:gd name="connsiteY0" fmla="*/ 0 h 286603"/>
              <a:gd name="connsiteX1" fmla="*/ 109182 w 163774"/>
              <a:gd name="connsiteY1" fmla="*/ 136478 h 286603"/>
              <a:gd name="connsiteX2" fmla="*/ 163774 w 163774"/>
              <a:gd name="connsiteY2" fmla="*/ 286603 h 286603"/>
            </a:gdLst>
            <a:ahLst/>
            <a:cxnLst>
              <a:cxn ang="0">
                <a:pos x="connsiteX0" y="connsiteY0"/>
              </a:cxn>
              <a:cxn ang="0">
                <a:pos x="connsiteX1" y="connsiteY1"/>
              </a:cxn>
              <a:cxn ang="0">
                <a:pos x="connsiteX2" y="connsiteY2"/>
              </a:cxn>
            </a:cxnLst>
            <a:rect l="l" t="t" r="r" b="b"/>
            <a:pathLst>
              <a:path w="163774" h="286603">
                <a:moveTo>
                  <a:pt x="0" y="0"/>
                </a:moveTo>
                <a:cubicBezTo>
                  <a:pt x="40943" y="44355"/>
                  <a:pt x="81886" y="88711"/>
                  <a:pt x="109182" y="136478"/>
                </a:cubicBezTo>
                <a:cubicBezTo>
                  <a:pt x="136478" y="184245"/>
                  <a:pt x="150126" y="235424"/>
                  <a:pt x="163774" y="286603"/>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a:off x="6249707" y="3810000"/>
            <a:ext cx="10690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229978" y="3417284"/>
            <a:ext cx="145813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525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8564" y="3352800"/>
            <a:ext cx="5963492" cy="523220"/>
          </a:xfrm>
          <a:prstGeom prst="rect">
            <a:avLst/>
          </a:prstGeom>
          <a:noFill/>
        </p:spPr>
        <p:txBody>
          <a:bodyPr wrap="none" rtlCol="0">
            <a:spAutoFit/>
          </a:bodyPr>
          <a:lstStyle/>
          <a:p>
            <a:r>
              <a:rPr lang="en-US" altLang="zh-CN" sz="2800" dirty="0"/>
              <a:t>47. </a:t>
            </a:r>
            <a:r>
              <a:rPr lang="en-US" altLang="zh-CN" sz="28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Phase diagram of multi elements</a:t>
            </a:r>
          </a:p>
        </p:txBody>
      </p:sp>
      <p:sp>
        <p:nvSpPr>
          <p:cNvPr id="5" name="TextBox 4"/>
          <p:cNvSpPr txBox="1"/>
          <p:nvPr/>
        </p:nvSpPr>
        <p:spPr>
          <a:xfrm>
            <a:off x="1078564" y="4544918"/>
            <a:ext cx="7154917" cy="646331"/>
          </a:xfrm>
          <a:prstGeom prst="rect">
            <a:avLst/>
          </a:prstGeom>
          <a:noFill/>
        </p:spPr>
        <p:txBody>
          <a:bodyPr wrap="square" rtlCol="0">
            <a:spAutoFit/>
          </a:bodyPr>
          <a:lstStyle/>
          <a:p>
            <a:r>
              <a:rPr lang="zh-CN" altLang="en-US" dirty="0"/>
              <a:t>微观组织热力学，西泽泰二，化学工业出版社</a:t>
            </a:r>
            <a:endParaRPr lang="en-US" altLang="zh-CN" dirty="0"/>
          </a:p>
          <a:p>
            <a:r>
              <a:rPr lang="zh-CN" altLang="en-US" dirty="0"/>
              <a:t>相图理论及其应用， 王崇琳，高等教育出版社</a:t>
            </a:r>
            <a:endParaRPr lang="en-US" altLang="zh-CN" dirty="0"/>
          </a:p>
        </p:txBody>
      </p:sp>
    </p:spTree>
    <p:extLst>
      <p:ext uri="{BB962C8B-B14F-4D97-AF65-F5344CB8AC3E}">
        <p14:creationId xmlns:p14="http://schemas.microsoft.com/office/powerpoint/2010/main" val="2755618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1"/>
          <p:cNvSpPr txBox="1"/>
          <p:nvPr/>
        </p:nvSpPr>
        <p:spPr>
          <a:xfrm>
            <a:off x="1526413" y="188640"/>
            <a:ext cx="6171882" cy="584775"/>
          </a:xfrm>
          <a:prstGeom prst="rect">
            <a:avLst/>
          </a:prstGeom>
          <a:noFill/>
        </p:spPr>
        <p:txBody>
          <a:bodyPr wrap="none" rtlCol="0">
            <a:spAutoFit/>
          </a:bodyPr>
          <a:lstStyle/>
          <a:p>
            <a:pPr algn="l"/>
            <a:r>
              <a:rPr lang="en-US" altLang="zh-CN" sz="32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Phase diagram of multi elements</a:t>
            </a:r>
          </a:p>
        </p:txBody>
      </p:sp>
      <p:sp>
        <p:nvSpPr>
          <p:cNvPr id="7" name="TextBox 6"/>
          <p:cNvSpPr txBox="1"/>
          <p:nvPr/>
        </p:nvSpPr>
        <p:spPr>
          <a:xfrm>
            <a:off x="76200" y="2019407"/>
            <a:ext cx="2655471" cy="369332"/>
          </a:xfrm>
          <a:prstGeom prst="rect">
            <a:avLst/>
          </a:prstGeom>
          <a:noFill/>
        </p:spPr>
        <p:txBody>
          <a:bodyPr wrap="none" rtlCol="0">
            <a:spAutoFit/>
          </a:bodyPr>
          <a:lstStyle/>
          <a:p>
            <a:r>
              <a:rPr lang="en-US" altLang="zh-CN" dirty="0">
                <a:solidFill>
                  <a:srgbClr val="0000FF"/>
                </a:solidFill>
              </a:rPr>
              <a:t>Single element </a:t>
            </a:r>
            <a:r>
              <a:rPr lang="en-US" altLang="zh-CN" dirty="0"/>
              <a:t>two phase </a:t>
            </a:r>
          </a:p>
        </p:txBody>
      </p:sp>
      <p:sp>
        <p:nvSpPr>
          <p:cNvPr id="8" name="圆角矩形 7"/>
          <p:cNvSpPr/>
          <p:nvPr/>
        </p:nvSpPr>
        <p:spPr>
          <a:xfrm>
            <a:off x="475007" y="2564977"/>
            <a:ext cx="736271" cy="629392"/>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1211278" y="2564977"/>
            <a:ext cx="736271" cy="629392"/>
          </a:xfrm>
          <a:prstGeom prst="roundRect">
            <a:avLst>
              <a:gd name="adj" fmla="val 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530144" y="2621958"/>
            <a:ext cx="630301" cy="276999"/>
          </a:xfrm>
          <a:prstGeom prst="rect">
            <a:avLst/>
          </a:prstGeom>
          <a:noFill/>
        </p:spPr>
        <p:txBody>
          <a:bodyPr wrap="none" rtlCol="0">
            <a:spAutoFit/>
          </a:bodyPr>
          <a:lstStyle/>
          <a:p>
            <a:r>
              <a:rPr lang="en-US" altLang="zh-CN" sz="1200" dirty="0"/>
              <a:t>Phase I</a:t>
            </a:r>
            <a:endParaRPr lang="zh-CN" altLang="en-US" sz="1200" dirty="0"/>
          </a:p>
        </p:txBody>
      </p:sp>
      <p:cxnSp>
        <p:nvCxnSpPr>
          <p:cNvPr id="20" name="直接箭头连接符 19"/>
          <p:cNvCxnSpPr/>
          <p:nvPr/>
        </p:nvCxnSpPr>
        <p:spPr>
          <a:xfrm>
            <a:off x="964329" y="2982033"/>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964329" y="3048677"/>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6" name="对象 25"/>
          <p:cNvGraphicFramePr>
            <a:graphicFrameLocks noChangeAspect="1"/>
          </p:cNvGraphicFramePr>
          <p:nvPr>
            <p:extLst>
              <p:ext uri="{D42A27DB-BD31-4B8C-83A1-F6EECF244321}">
                <p14:modId xmlns:p14="http://schemas.microsoft.com/office/powerpoint/2010/main" val="2683116126"/>
              </p:ext>
            </p:extLst>
          </p:nvPr>
        </p:nvGraphicFramePr>
        <p:xfrm>
          <a:off x="929714" y="3429581"/>
          <a:ext cx="571500" cy="241300"/>
        </p:xfrm>
        <a:graphic>
          <a:graphicData uri="http://schemas.openxmlformats.org/presentationml/2006/ole">
            <mc:AlternateContent xmlns:mc="http://schemas.openxmlformats.org/markup-compatibility/2006">
              <mc:Choice xmlns:v="urn:schemas-microsoft-com:vml" Requires="v">
                <p:oleObj name="Equation" r:id="rId2" imgW="571320" imgH="241200" progId="Equation.DSMT4">
                  <p:embed/>
                </p:oleObj>
              </mc:Choice>
              <mc:Fallback>
                <p:oleObj name="Equation" r:id="rId2" imgW="571320" imgH="241200" progId="Equation.DSMT4">
                  <p:embed/>
                  <p:pic>
                    <p:nvPicPr>
                      <p:cNvPr id="0" name=""/>
                      <p:cNvPicPr/>
                      <p:nvPr/>
                    </p:nvPicPr>
                    <p:blipFill>
                      <a:blip r:embed="rId3"/>
                      <a:stretch>
                        <a:fillRect/>
                      </a:stretch>
                    </p:blipFill>
                    <p:spPr>
                      <a:xfrm>
                        <a:off x="929714" y="3429581"/>
                        <a:ext cx="571500" cy="241300"/>
                      </a:xfrm>
                      <a:prstGeom prst="rect">
                        <a:avLst/>
                      </a:prstGeom>
                    </p:spPr>
                  </p:pic>
                </p:oleObj>
              </mc:Fallback>
            </mc:AlternateContent>
          </a:graphicData>
        </a:graphic>
      </p:graphicFrame>
      <p:sp>
        <p:nvSpPr>
          <p:cNvPr id="27" name="TextBox 26"/>
          <p:cNvSpPr txBox="1"/>
          <p:nvPr/>
        </p:nvSpPr>
        <p:spPr>
          <a:xfrm>
            <a:off x="1211278" y="2625828"/>
            <a:ext cx="668773" cy="276999"/>
          </a:xfrm>
          <a:prstGeom prst="rect">
            <a:avLst/>
          </a:prstGeom>
          <a:noFill/>
        </p:spPr>
        <p:txBody>
          <a:bodyPr wrap="none" rtlCol="0">
            <a:spAutoFit/>
          </a:bodyPr>
          <a:lstStyle/>
          <a:p>
            <a:r>
              <a:rPr lang="en-US" altLang="zh-CN" sz="1200" dirty="0"/>
              <a:t>Phase II</a:t>
            </a:r>
            <a:endParaRPr lang="zh-CN" altLang="en-US" sz="1200" dirty="0"/>
          </a:p>
        </p:txBody>
      </p:sp>
      <p:sp>
        <p:nvSpPr>
          <p:cNvPr id="28" name="圆角矩形 27"/>
          <p:cNvSpPr/>
          <p:nvPr/>
        </p:nvSpPr>
        <p:spPr>
          <a:xfrm>
            <a:off x="3487552" y="2538273"/>
            <a:ext cx="736271" cy="1179300"/>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4223823" y="2538272"/>
            <a:ext cx="736271" cy="1179301"/>
          </a:xfrm>
          <a:prstGeom prst="roundRect">
            <a:avLst>
              <a:gd name="adj" fmla="val 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29"/>
          <p:cNvSpPr txBox="1"/>
          <p:nvPr/>
        </p:nvSpPr>
        <p:spPr>
          <a:xfrm>
            <a:off x="3542689" y="2595254"/>
            <a:ext cx="678391" cy="276999"/>
          </a:xfrm>
          <a:prstGeom prst="rect">
            <a:avLst/>
          </a:prstGeom>
          <a:noFill/>
        </p:spPr>
        <p:txBody>
          <a:bodyPr wrap="none" rtlCol="0">
            <a:spAutoFit/>
          </a:bodyPr>
          <a:lstStyle/>
          <a:p>
            <a:r>
              <a:rPr lang="en-US" altLang="zh-CN" sz="1200" dirty="0"/>
              <a:t>Phase </a:t>
            </a:r>
            <a:r>
              <a:rPr lang="el-GR" altLang="zh-CN" sz="1200" dirty="0">
                <a:latin typeface="Sylfaen"/>
              </a:rPr>
              <a:t>α</a:t>
            </a:r>
            <a:endParaRPr lang="zh-CN" altLang="en-US" sz="1200" dirty="0"/>
          </a:p>
        </p:txBody>
      </p:sp>
      <p:cxnSp>
        <p:nvCxnSpPr>
          <p:cNvPr id="31" name="直接箭头连接符 30"/>
          <p:cNvCxnSpPr/>
          <p:nvPr/>
        </p:nvCxnSpPr>
        <p:spPr>
          <a:xfrm>
            <a:off x="3976874" y="2955329"/>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flipV="1">
            <a:off x="3976874" y="3021973"/>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223823" y="2599124"/>
            <a:ext cx="673582" cy="276999"/>
          </a:xfrm>
          <a:prstGeom prst="rect">
            <a:avLst/>
          </a:prstGeom>
          <a:noFill/>
        </p:spPr>
        <p:txBody>
          <a:bodyPr wrap="none" rtlCol="0">
            <a:spAutoFit/>
          </a:bodyPr>
          <a:lstStyle/>
          <a:p>
            <a:r>
              <a:rPr lang="en-US" altLang="zh-CN" sz="1200" dirty="0"/>
              <a:t>Phase </a:t>
            </a:r>
            <a:r>
              <a:rPr lang="el-GR" altLang="zh-CN" sz="1200" dirty="0">
                <a:latin typeface="Sylfaen"/>
              </a:rPr>
              <a:t>β</a:t>
            </a:r>
            <a:endParaRPr lang="zh-CN" altLang="en-US" sz="1200" dirty="0"/>
          </a:p>
        </p:txBody>
      </p:sp>
      <p:sp>
        <p:nvSpPr>
          <p:cNvPr id="34" name="TextBox 33"/>
          <p:cNvSpPr txBox="1"/>
          <p:nvPr/>
        </p:nvSpPr>
        <p:spPr>
          <a:xfrm>
            <a:off x="3005919" y="2022814"/>
            <a:ext cx="2549159" cy="369332"/>
          </a:xfrm>
          <a:prstGeom prst="rect">
            <a:avLst/>
          </a:prstGeom>
          <a:noFill/>
        </p:spPr>
        <p:txBody>
          <a:bodyPr wrap="none" rtlCol="0">
            <a:spAutoFit/>
          </a:bodyPr>
          <a:lstStyle/>
          <a:p>
            <a:r>
              <a:rPr lang="en-US" altLang="zh-CN" dirty="0">
                <a:solidFill>
                  <a:srgbClr val="0000FF"/>
                </a:solidFill>
              </a:rPr>
              <a:t>two elements </a:t>
            </a:r>
            <a:r>
              <a:rPr lang="en-US" altLang="zh-CN" dirty="0"/>
              <a:t>two phase </a:t>
            </a:r>
          </a:p>
        </p:txBody>
      </p:sp>
      <p:graphicFrame>
        <p:nvGraphicFramePr>
          <p:cNvPr id="35" name="对象 34"/>
          <p:cNvGraphicFramePr>
            <a:graphicFrameLocks noChangeAspect="1"/>
          </p:cNvGraphicFramePr>
          <p:nvPr>
            <p:extLst>
              <p:ext uri="{D42A27DB-BD31-4B8C-83A1-F6EECF244321}">
                <p14:modId xmlns:p14="http://schemas.microsoft.com/office/powerpoint/2010/main" val="329461519"/>
              </p:ext>
            </p:extLst>
          </p:nvPr>
        </p:nvGraphicFramePr>
        <p:xfrm>
          <a:off x="3751886" y="3127922"/>
          <a:ext cx="241300" cy="482600"/>
        </p:xfrm>
        <a:graphic>
          <a:graphicData uri="http://schemas.openxmlformats.org/presentationml/2006/ole">
            <mc:AlternateContent xmlns:mc="http://schemas.openxmlformats.org/markup-compatibility/2006">
              <mc:Choice xmlns:v="urn:schemas-microsoft-com:vml" Requires="v">
                <p:oleObj name="Equation" r:id="rId4" imgW="241200" imgH="482400" progId="Equation.DSMT4">
                  <p:embed/>
                </p:oleObj>
              </mc:Choice>
              <mc:Fallback>
                <p:oleObj name="Equation" r:id="rId4" imgW="241200" imgH="482400" progId="Equation.DSMT4">
                  <p:embed/>
                  <p:pic>
                    <p:nvPicPr>
                      <p:cNvPr id="0" name=""/>
                      <p:cNvPicPr/>
                      <p:nvPr/>
                    </p:nvPicPr>
                    <p:blipFill>
                      <a:blip r:embed="rId5"/>
                      <a:stretch>
                        <a:fillRect/>
                      </a:stretch>
                    </p:blipFill>
                    <p:spPr>
                      <a:xfrm>
                        <a:off x="3751886" y="3127922"/>
                        <a:ext cx="241300" cy="482600"/>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4080157195"/>
              </p:ext>
            </p:extLst>
          </p:nvPr>
        </p:nvGraphicFramePr>
        <p:xfrm>
          <a:off x="4471981" y="3106656"/>
          <a:ext cx="241300" cy="482600"/>
        </p:xfrm>
        <a:graphic>
          <a:graphicData uri="http://schemas.openxmlformats.org/presentationml/2006/ole">
            <mc:AlternateContent xmlns:mc="http://schemas.openxmlformats.org/markup-compatibility/2006">
              <mc:Choice xmlns:v="urn:schemas-microsoft-com:vml" Requires="v">
                <p:oleObj name="Equation" r:id="rId6" imgW="241200" imgH="482400" progId="Equation.DSMT4">
                  <p:embed/>
                </p:oleObj>
              </mc:Choice>
              <mc:Fallback>
                <p:oleObj name="Equation" r:id="rId6" imgW="241200" imgH="482400" progId="Equation.DSMT4">
                  <p:embed/>
                  <p:pic>
                    <p:nvPicPr>
                      <p:cNvPr id="0" name=""/>
                      <p:cNvPicPr>
                        <a:picLocks noChangeAspect="1" noChangeArrowheads="1"/>
                      </p:cNvPicPr>
                      <p:nvPr/>
                    </p:nvPicPr>
                    <p:blipFill>
                      <a:blip r:embed="rId7"/>
                      <a:srcRect/>
                      <a:stretch>
                        <a:fillRect/>
                      </a:stretch>
                    </p:blipFill>
                    <p:spPr bwMode="auto">
                      <a:xfrm>
                        <a:off x="4471981" y="3106656"/>
                        <a:ext cx="2413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879130025"/>
              </p:ext>
            </p:extLst>
          </p:nvPr>
        </p:nvGraphicFramePr>
        <p:xfrm>
          <a:off x="3252123" y="3998454"/>
          <a:ext cx="927100" cy="558800"/>
        </p:xfrm>
        <a:graphic>
          <a:graphicData uri="http://schemas.openxmlformats.org/presentationml/2006/ole">
            <mc:AlternateContent xmlns:mc="http://schemas.openxmlformats.org/markup-compatibility/2006">
              <mc:Choice xmlns:v="urn:schemas-microsoft-com:vml" Requires="v">
                <p:oleObj name="Equation" r:id="rId8" imgW="927000" imgH="558720" progId="Equation.DSMT4">
                  <p:embed/>
                </p:oleObj>
              </mc:Choice>
              <mc:Fallback>
                <p:oleObj name="Equation" r:id="rId8" imgW="927000" imgH="558720" progId="Equation.DSMT4">
                  <p:embed/>
                  <p:pic>
                    <p:nvPicPr>
                      <p:cNvPr id="0" name=""/>
                      <p:cNvPicPr>
                        <a:picLocks noChangeAspect="1" noChangeArrowheads="1"/>
                      </p:cNvPicPr>
                      <p:nvPr/>
                    </p:nvPicPr>
                    <p:blipFill>
                      <a:blip r:embed="rId9"/>
                      <a:srcRect/>
                      <a:stretch>
                        <a:fillRect/>
                      </a:stretch>
                    </p:blipFill>
                    <p:spPr bwMode="auto">
                      <a:xfrm>
                        <a:off x="3252123" y="3998454"/>
                        <a:ext cx="927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3507040457"/>
              </p:ext>
            </p:extLst>
          </p:nvPr>
        </p:nvGraphicFramePr>
        <p:xfrm>
          <a:off x="4460875" y="3993045"/>
          <a:ext cx="635000" cy="547687"/>
        </p:xfrm>
        <a:graphic>
          <a:graphicData uri="http://schemas.openxmlformats.org/presentationml/2006/ole">
            <mc:AlternateContent xmlns:mc="http://schemas.openxmlformats.org/markup-compatibility/2006">
              <mc:Choice xmlns:v="urn:schemas-microsoft-com:vml" Requires="v">
                <p:oleObj name="Equation" r:id="rId10" imgW="558720" imgH="482400" progId="Equation.DSMT4">
                  <p:embed/>
                </p:oleObj>
              </mc:Choice>
              <mc:Fallback>
                <p:oleObj name="Equation" r:id="rId10" imgW="558720" imgH="482400" progId="Equation.DSMT4">
                  <p:embed/>
                  <p:pic>
                    <p:nvPicPr>
                      <p:cNvPr id="0" name=""/>
                      <p:cNvPicPr>
                        <a:picLocks noChangeAspect="1" noChangeArrowheads="1"/>
                      </p:cNvPicPr>
                      <p:nvPr/>
                    </p:nvPicPr>
                    <p:blipFill>
                      <a:blip r:embed="rId11"/>
                      <a:srcRect/>
                      <a:stretch>
                        <a:fillRect/>
                      </a:stretch>
                    </p:blipFill>
                    <p:spPr bwMode="auto">
                      <a:xfrm>
                        <a:off x="4460875" y="3993045"/>
                        <a:ext cx="635000" cy="547687"/>
                      </a:xfrm>
                      <a:prstGeom prst="rect">
                        <a:avLst/>
                      </a:prstGeom>
                      <a:noFill/>
                      <a:ln>
                        <a:solidFill>
                          <a:srgbClr val="FF0000"/>
                        </a:solidFill>
                      </a:ln>
                    </p:spPr>
                  </p:pic>
                </p:oleObj>
              </mc:Fallback>
            </mc:AlternateContent>
          </a:graphicData>
        </a:graphic>
      </p:graphicFrame>
      <p:sp>
        <p:nvSpPr>
          <p:cNvPr id="39" name="TextBox 38"/>
          <p:cNvSpPr txBox="1"/>
          <p:nvPr/>
        </p:nvSpPr>
        <p:spPr>
          <a:xfrm>
            <a:off x="5980380" y="2019407"/>
            <a:ext cx="2729402" cy="369332"/>
          </a:xfrm>
          <a:prstGeom prst="rect">
            <a:avLst/>
          </a:prstGeom>
          <a:noFill/>
        </p:spPr>
        <p:txBody>
          <a:bodyPr wrap="none" rtlCol="0">
            <a:spAutoFit/>
          </a:bodyPr>
          <a:lstStyle/>
          <a:p>
            <a:r>
              <a:rPr lang="en-US" altLang="zh-CN" dirty="0">
                <a:solidFill>
                  <a:srgbClr val="0000FF"/>
                </a:solidFill>
              </a:rPr>
              <a:t>Three elements </a:t>
            </a:r>
            <a:r>
              <a:rPr lang="en-US" altLang="zh-CN" dirty="0"/>
              <a:t>two phase </a:t>
            </a:r>
          </a:p>
        </p:txBody>
      </p:sp>
      <p:sp>
        <p:nvSpPr>
          <p:cNvPr id="40" name="圆角矩形 39"/>
          <p:cNvSpPr/>
          <p:nvPr/>
        </p:nvSpPr>
        <p:spPr>
          <a:xfrm>
            <a:off x="6096055" y="2518079"/>
            <a:ext cx="736271" cy="1465330"/>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 40"/>
          <p:cNvSpPr/>
          <p:nvPr/>
        </p:nvSpPr>
        <p:spPr>
          <a:xfrm>
            <a:off x="6832326" y="2518078"/>
            <a:ext cx="736271" cy="1465331"/>
          </a:xfrm>
          <a:prstGeom prst="roundRect">
            <a:avLst>
              <a:gd name="adj" fmla="val 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Box 41"/>
          <p:cNvSpPr txBox="1"/>
          <p:nvPr/>
        </p:nvSpPr>
        <p:spPr>
          <a:xfrm>
            <a:off x="6151192" y="2575060"/>
            <a:ext cx="678391" cy="276999"/>
          </a:xfrm>
          <a:prstGeom prst="rect">
            <a:avLst/>
          </a:prstGeom>
          <a:noFill/>
        </p:spPr>
        <p:txBody>
          <a:bodyPr wrap="none" rtlCol="0">
            <a:spAutoFit/>
          </a:bodyPr>
          <a:lstStyle/>
          <a:p>
            <a:r>
              <a:rPr lang="en-US" altLang="zh-CN" sz="1200" dirty="0"/>
              <a:t>Phase </a:t>
            </a:r>
            <a:r>
              <a:rPr lang="el-GR" altLang="zh-CN" sz="1200" dirty="0">
                <a:latin typeface="Sylfaen"/>
              </a:rPr>
              <a:t>α</a:t>
            </a:r>
            <a:endParaRPr lang="zh-CN" altLang="en-US" sz="1200" dirty="0"/>
          </a:p>
        </p:txBody>
      </p:sp>
      <p:cxnSp>
        <p:nvCxnSpPr>
          <p:cNvPr id="43" name="直接箭头连接符 42"/>
          <p:cNvCxnSpPr/>
          <p:nvPr/>
        </p:nvCxnSpPr>
        <p:spPr>
          <a:xfrm>
            <a:off x="6585377" y="2935135"/>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6585377" y="3001779"/>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832326" y="2578930"/>
            <a:ext cx="673582" cy="276999"/>
          </a:xfrm>
          <a:prstGeom prst="rect">
            <a:avLst/>
          </a:prstGeom>
          <a:noFill/>
        </p:spPr>
        <p:txBody>
          <a:bodyPr wrap="none" rtlCol="0">
            <a:spAutoFit/>
          </a:bodyPr>
          <a:lstStyle/>
          <a:p>
            <a:r>
              <a:rPr lang="en-US" altLang="zh-CN" sz="1200" dirty="0"/>
              <a:t>Phase </a:t>
            </a:r>
            <a:r>
              <a:rPr lang="el-GR" altLang="zh-CN" sz="1200" dirty="0">
                <a:latin typeface="Sylfaen"/>
              </a:rPr>
              <a:t>β</a:t>
            </a:r>
            <a:endParaRPr lang="zh-CN" altLang="en-US" sz="1200" dirty="0"/>
          </a:p>
        </p:txBody>
      </p:sp>
      <p:graphicFrame>
        <p:nvGraphicFramePr>
          <p:cNvPr id="46" name="对象 45"/>
          <p:cNvGraphicFramePr>
            <a:graphicFrameLocks noChangeAspect="1"/>
          </p:cNvGraphicFramePr>
          <p:nvPr>
            <p:extLst>
              <p:ext uri="{D42A27DB-BD31-4B8C-83A1-F6EECF244321}">
                <p14:modId xmlns:p14="http://schemas.microsoft.com/office/powerpoint/2010/main" val="424441504"/>
              </p:ext>
            </p:extLst>
          </p:nvPr>
        </p:nvGraphicFramePr>
        <p:xfrm>
          <a:off x="6353785" y="3065284"/>
          <a:ext cx="254000" cy="736600"/>
        </p:xfrm>
        <a:graphic>
          <a:graphicData uri="http://schemas.openxmlformats.org/presentationml/2006/ole">
            <mc:AlternateContent xmlns:mc="http://schemas.openxmlformats.org/markup-compatibility/2006">
              <mc:Choice xmlns:v="urn:schemas-microsoft-com:vml" Requires="v">
                <p:oleObj name="Equation" r:id="rId12" imgW="253800" imgH="736560" progId="Equation.DSMT4">
                  <p:embed/>
                </p:oleObj>
              </mc:Choice>
              <mc:Fallback>
                <p:oleObj name="Equation" r:id="rId12" imgW="253800" imgH="736560" progId="Equation.DSMT4">
                  <p:embed/>
                  <p:pic>
                    <p:nvPicPr>
                      <p:cNvPr id="0" name=""/>
                      <p:cNvPicPr/>
                      <p:nvPr/>
                    </p:nvPicPr>
                    <p:blipFill>
                      <a:blip r:embed="rId13"/>
                      <a:stretch>
                        <a:fillRect/>
                      </a:stretch>
                    </p:blipFill>
                    <p:spPr>
                      <a:xfrm>
                        <a:off x="6353785" y="3065284"/>
                        <a:ext cx="254000" cy="736600"/>
                      </a:xfrm>
                      <a:prstGeom prst="rect">
                        <a:avLst/>
                      </a:prstGeom>
                    </p:spPr>
                  </p:pic>
                </p:oleObj>
              </mc:Fallback>
            </mc:AlternateContent>
          </a:graphicData>
        </a:graphic>
      </p:graphicFrame>
      <p:graphicFrame>
        <p:nvGraphicFramePr>
          <p:cNvPr id="47" name="对象 46"/>
          <p:cNvGraphicFramePr>
            <a:graphicFrameLocks noChangeAspect="1"/>
          </p:cNvGraphicFramePr>
          <p:nvPr>
            <p:extLst>
              <p:ext uri="{D42A27DB-BD31-4B8C-83A1-F6EECF244321}">
                <p14:modId xmlns:p14="http://schemas.microsoft.com/office/powerpoint/2010/main" val="411133878"/>
              </p:ext>
            </p:extLst>
          </p:nvPr>
        </p:nvGraphicFramePr>
        <p:xfrm>
          <a:off x="7068160" y="3044646"/>
          <a:ext cx="266700" cy="736600"/>
        </p:xfrm>
        <a:graphic>
          <a:graphicData uri="http://schemas.openxmlformats.org/presentationml/2006/ole">
            <mc:AlternateContent xmlns:mc="http://schemas.openxmlformats.org/markup-compatibility/2006">
              <mc:Choice xmlns:v="urn:schemas-microsoft-com:vml" Requires="v">
                <p:oleObj name="Equation" r:id="rId14" imgW="266400" imgH="736560" progId="Equation.DSMT4">
                  <p:embed/>
                </p:oleObj>
              </mc:Choice>
              <mc:Fallback>
                <p:oleObj name="Equation" r:id="rId14" imgW="266400" imgH="736560" progId="Equation.DSMT4">
                  <p:embed/>
                  <p:pic>
                    <p:nvPicPr>
                      <p:cNvPr id="0" name=""/>
                      <p:cNvPicPr>
                        <a:picLocks noChangeAspect="1" noChangeArrowheads="1"/>
                      </p:cNvPicPr>
                      <p:nvPr/>
                    </p:nvPicPr>
                    <p:blipFill>
                      <a:blip r:embed="rId15"/>
                      <a:srcRect/>
                      <a:stretch>
                        <a:fillRect/>
                      </a:stretch>
                    </p:blipFill>
                    <p:spPr bwMode="auto">
                      <a:xfrm>
                        <a:off x="7068160" y="3044646"/>
                        <a:ext cx="266700" cy="736600"/>
                      </a:xfrm>
                      <a:prstGeom prst="rect">
                        <a:avLst/>
                      </a:prstGeom>
                      <a:noFill/>
                      <a:ln>
                        <a:noFill/>
                      </a:ln>
                    </p:spPr>
                  </p:pic>
                </p:oleObj>
              </mc:Fallback>
            </mc:AlternateContent>
          </a:graphicData>
        </a:graphic>
      </p:graphicFrame>
      <p:graphicFrame>
        <p:nvGraphicFramePr>
          <p:cNvPr id="50" name="对象 49"/>
          <p:cNvGraphicFramePr>
            <a:graphicFrameLocks noChangeAspect="1"/>
          </p:cNvGraphicFramePr>
          <p:nvPr>
            <p:extLst>
              <p:ext uri="{D42A27DB-BD31-4B8C-83A1-F6EECF244321}">
                <p14:modId xmlns:p14="http://schemas.microsoft.com/office/powerpoint/2010/main" val="1826019268"/>
              </p:ext>
            </p:extLst>
          </p:nvPr>
        </p:nvGraphicFramePr>
        <p:xfrm>
          <a:off x="6552761" y="4152566"/>
          <a:ext cx="647700" cy="836612"/>
        </p:xfrm>
        <a:graphic>
          <a:graphicData uri="http://schemas.openxmlformats.org/presentationml/2006/ole">
            <mc:AlternateContent xmlns:mc="http://schemas.openxmlformats.org/markup-compatibility/2006">
              <mc:Choice xmlns:v="urn:schemas-microsoft-com:vml" Requires="v">
                <p:oleObj name="Equation" r:id="rId16" imgW="571320" imgH="736560" progId="Equation.DSMT4">
                  <p:embed/>
                </p:oleObj>
              </mc:Choice>
              <mc:Fallback>
                <p:oleObj name="Equation" r:id="rId16" imgW="571320" imgH="736560" progId="Equation.DSMT4">
                  <p:embed/>
                  <p:pic>
                    <p:nvPicPr>
                      <p:cNvPr id="0" name=""/>
                      <p:cNvPicPr>
                        <a:picLocks noChangeAspect="1" noChangeArrowheads="1"/>
                      </p:cNvPicPr>
                      <p:nvPr/>
                    </p:nvPicPr>
                    <p:blipFill>
                      <a:blip r:embed="rId17"/>
                      <a:srcRect/>
                      <a:stretch>
                        <a:fillRect/>
                      </a:stretch>
                    </p:blipFill>
                    <p:spPr bwMode="auto">
                      <a:xfrm>
                        <a:off x="6552761" y="4152566"/>
                        <a:ext cx="647700" cy="83661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78835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9"/>
          <p:cNvPicPr>
            <a:picLocks noChangeAspect="1" noChangeArrowheads="1"/>
          </p:cNvPicPr>
          <p:nvPr/>
        </p:nvPicPr>
        <p:blipFill rotWithShape="1">
          <a:blip r:embed="rId2">
            <a:extLst>
              <a:ext uri="{28A0092B-C50C-407E-A947-70E740481C1C}">
                <a14:useLocalDpi xmlns:a14="http://schemas.microsoft.com/office/drawing/2010/main" val="0"/>
              </a:ext>
            </a:extLst>
          </a:blip>
          <a:srcRect l="18544" t="19906" r="24756" b="686"/>
          <a:stretch/>
        </p:blipFill>
        <p:spPr bwMode="auto">
          <a:xfrm>
            <a:off x="5611806" y="1124744"/>
            <a:ext cx="2793739" cy="5216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39337" y="1124744"/>
            <a:ext cx="2909643" cy="369332"/>
          </a:xfrm>
          <a:prstGeom prst="rect">
            <a:avLst/>
          </a:prstGeom>
          <a:noFill/>
        </p:spPr>
        <p:txBody>
          <a:bodyPr wrap="none" rtlCol="0">
            <a:spAutoFit/>
          </a:bodyPr>
          <a:lstStyle/>
          <a:p>
            <a:r>
              <a:rPr lang="en-US" altLang="zh-CN" dirty="0">
                <a:solidFill>
                  <a:srgbClr val="0000FF"/>
                </a:solidFill>
              </a:rPr>
              <a:t>Three elements </a:t>
            </a:r>
            <a:r>
              <a:rPr lang="en-US" altLang="zh-CN" dirty="0">
                <a:solidFill>
                  <a:srgbClr val="FF0000"/>
                </a:solidFill>
              </a:rPr>
              <a:t>Three phase </a:t>
            </a:r>
          </a:p>
        </p:txBody>
      </p:sp>
      <p:sp>
        <p:nvSpPr>
          <p:cNvPr id="4" name="圆角矩形 3"/>
          <p:cNvSpPr/>
          <p:nvPr/>
        </p:nvSpPr>
        <p:spPr>
          <a:xfrm>
            <a:off x="872513" y="1808082"/>
            <a:ext cx="736271" cy="1112321"/>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608784" y="1808082"/>
            <a:ext cx="736271" cy="1112322"/>
          </a:xfrm>
          <a:prstGeom prst="roundRect">
            <a:avLst>
              <a:gd name="adj" fmla="val 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927650" y="1865063"/>
            <a:ext cx="678391" cy="276999"/>
          </a:xfrm>
          <a:prstGeom prst="rect">
            <a:avLst/>
          </a:prstGeom>
          <a:noFill/>
        </p:spPr>
        <p:txBody>
          <a:bodyPr wrap="none" rtlCol="0">
            <a:spAutoFit/>
          </a:bodyPr>
          <a:lstStyle/>
          <a:p>
            <a:r>
              <a:rPr lang="en-US" altLang="zh-CN" sz="1200" dirty="0"/>
              <a:t>Phase </a:t>
            </a:r>
            <a:r>
              <a:rPr lang="el-GR" altLang="zh-CN" sz="1200" dirty="0">
                <a:latin typeface="Sylfaen"/>
              </a:rPr>
              <a:t>α</a:t>
            </a:r>
            <a:endParaRPr lang="zh-CN" altLang="en-US" sz="1200" dirty="0"/>
          </a:p>
        </p:txBody>
      </p:sp>
      <p:cxnSp>
        <p:nvCxnSpPr>
          <p:cNvPr id="7" name="直接箭头连接符 6"/>
          <p:cNvCxnSpPr/>
          <p:nvPr/>
        </p:nvCxnSpPr>
        <p:spPr>
          <a:xfrm>
            <a:off x="1361835" y="2225138"/>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flipV="1">
            <a:off x="1361835" y="2291782"/>
            <a:ext cx="404699"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608784" y="1868933"/>
            <a:ext cx="673582" cy="276999"/>
          </a:xfrm>
          <a:prstGeom prst="rect">
            <a:avLst/>
          </a:prstGeom>
          <a:noFill/>
        </p:spPr>
        <p:txBody>
          <a:bodyPr wrap="none" rtlCol="0">
            <a:spAutoFit/>
          </a:bodyPr>
          <a:lstStyle/>
          <a:p>
            <a:r>
              <a:rPr lang="en-US" altLang="zh-CN" sz="1200" dirty="0"/>
              <a:t>Phase </a:t>
            </a:r>
            <a:r>
              <a:rPr lang="el-GR" altLang="zh-CN" sz="1200" dirty="0">
                <a:latin typeface="Sylfaen"/>
              </a:rPr>
              <a:t>β</a:t>
            </a:r>
            <a:endParaRPr lang="zh-CN" altLang="en-US" sz="1200" dirty="0"/>
          </a:p>
        </p:txBody>
      </p:sp>
      <p:graphicFrame>
        <p:nvGraphicFramePr>
          <p:cNvPr id="10" name="对象 9"/>
          <p:cNvGraphicFramePr>
            <a:graphicFrameLocks noChangeAspect="1"/>
          </p:cNvGraphicFramePr>
          <p:nvPr>
            <p:extLst>
              <p:ext uri="{D42A27DB-BD31-4B8C-83A1-F6EECF244321}">
                <p14:modId xmlns:p14="http://schemas.microsoft.com/office/powerpoint/2010/main" val="3433232715"/>
              </p:ext>
            </p:extLst>
          </p:nvPr>
        </p:nvGraphicFramePr>
        <p:xfrm>
          <a:off x="989819" y="2188625"/>
          <a:ext cx="254000" cy="736600"/>
        </p:xfrm>
        <a:graphic>
          <a:graphicData uri="http://schemas.openxmlformats.org/presentationml/2006/ole">
            <mc:AlternateContent xmlns:mc="http://schemas.openxmlformats.org/markup-compatibility/2006">
              <mc:Choice xmlns:v="urn:schemas-microsoft-com:vml" Requires="v">
                <p:oleObj name="Equation" r:id="rId3" imgW="253800" imgH="736560" progId="Equation.DSMT4">
                  <p:embed/>
                </p:oleObj>
              </mc:Choice>
              <mc:Fallback>
                <p:oleObj name="Equation" r:id="rId3" imgW="253800" imgH="736560" progId="Equation.DSMT4">
                  <p:embed/>
                  <p:pic>
                    <p:nvPicPr>
                      <p:cNvPr id="0" name=""/>
                      <p:cNvPicPr/>
                      <p:nvPr/>
                    </p:nvPicPr>
                    <p:blipFill>
                      <a:blip r:embed="rId4"/>
                      <a:stretch>
                        <a:fillRect/>
                      </a:stretch>
                    </p:blipFill>
                    <p:spPr>
                      <a:xfrm>
                        <a:off x="989819" y="2188625"/>
                        <a:ext cx="254000" cy="7366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457910539"/>
              </p:ext>
            </p:extLst>
          </p:nvPr>
        </p:nvGraphicFramePr>
        <p:xfrm>
          <a:off x="1925923" y="2188625"/>
          <a:ext cx="266700" cy="736600"/>
        </p:xfrm>
        <a:graphic>
          <a:graphicData uri="http://schemas.openxmlformats.org/presentationml/2006/ole">
            <mc:AlternateContent xmlns:mc="http://schemas.openxmlformats.org/markup-compatibility/2006">
              <mc:Choice xmlns:v="urn:schemas-microsoft-com:vml" Requires="v">
                <p:oleObj name="Equation" r:id="rId5" imgW="266400" imgH="736560" progId="Equation.DSMT4">
                  <p:embed/>
                </p:oleObj>
              </mc:Choice>
              <mc:Fallback>
                <p:oleObj name="Equation" r:id="rId5" imgW="266400" imgH="736560" progId="Equation.DSMT4">
                  <p:embed/>
                  <p:pic>
                    <p:nvPicPr>
                      <p:cNvPr id="0" name=""/>
                      <p:cNvPicPr>
                        <a:picLocks noChangeAspect="1" noChangeArrowheads="1"/>
                      </p:cNvPicPr>
                      <p:nvPr/>
                    </p:nvPicPr>
                    <p:blipFill>
                      <a:blip r:embed="rId6"/>
                      <a:srcRect/>
                      <a:stretch>
                        <a:fillRect/>
                      </a:stretch>
                    </p:blipFill>
                    <p:spPr bwMode="auto">
                      <a:xfrm>
                        <a:off x="1925923" y="2188625"/>
                        <a:ext cx="266700" cy="736600"/>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876233616"/>
              </p:ext>
            </p:extLst>
          </p:nvPr>
        </p:nvGraphicFramePr>
        <p:xfrm>
          <a:off x="2844948" y="1876947"/>
          <a:ext cx="1008063" cy="836612"/>
        </p:xfrm>
        <a:graphic>
          <a:graphicData uri="http://schemas.openxmlformats.org/presentationml/2006/ole">
            <mc:AlternateContent xmlns:mc="http://schemas.openxmlformats.org/markup-compatibility/2006">
              <mc:Choice xmlns:v="urn:schemas-microsoft-com:vml" Requires="v">
                <p:oleObj name="Equation" r:id="rId7" imgW="888840" imgH="736560" progId="Equation.DSMT4">
                  <p:embed/>
                </p:oleObj>
              </mc:Choice>
              <mc:Fallback>
                <p:oleObj name="Equation" r:id="rId7" imgW="888840" imgH="736560" progId="Equation.DSMT4">
                  <p:embed/>
                  <p:pic>
                    <p:nvPicPr>
                      <p:cNvPr id="0" name=""/>
                      <p:cNvPicPr>
                        <a:picLocks noChangeAspect="1" noChangeArrowheads="1"/>
                      </p:cNvPicPr>
                      <p:nvPr/>
                    </p:nvPicPr>
                    <p:blipFill>
                      <a:blip r:embed="rId8"/>
                      <a:srcRect/>
                      <a:stretch>
                        <a:fillRect/>
                      </a:stretch>
                    </p:blipFill>
                    <p:spPr bwMode="auto">
                      <a:xfrm>
                        <a:off x="2844948" y="1876947"/>
                        <a:ext cx="1008063" cy="83661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860817" y="2920404"/>
            <a:ext cx="1472542" cy="62732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1231527" y="2984361"/>
            <a:ext cx="667170" cy="276999"/>
          </a:xfrm>
          <a:prstGeom prst="rect">
            <a:avLst/>
          </a:prstGeom>
          <a:noFill/>
        </p:spPr>
        <p:txBody>
          <a:bodyPr wrap="none" rtlCol="0">
            <a:spAutoFit/>
          </a:bodyPr>
          <a:lstStyle/>
          <a:p>
            <a:r>
              <a:rPr lang="en-US" altLang="zh-CN" sz="1200" dirty="0"/>
              <a:t>Phase </a:t>
            </a:r>
            <a:r>
              <a:rPr lang="el-GR" altLang="zh-CN" sz="1200" dirty="0">
                <a:latin typeface="Sylfaen"/>
              </a:rPr>
              <a:t>γ</a:t>
            </a:r>
            <a:endParaRPr lang="zh-CN" altLang="en-US" sz="1200" dirty="0"/>
          </a:p>
        </p:txBody>
      </p:sp>
      <p:graphicFrame>
        <p:nvGraphicFramePr>
          <p:cNvPr id="15" name="对象 14"/>
          <p:cNvGraphicFramePr>
            <a:graphicFrameLocks noChangeAspect="1"/>
          </p:cNvGraphicFramePr>
          <p:nvPr>
            <p:extLst>
              <p:ext uri="{D42A27DB-BD31-4B8C-83A1-F6EECF244321}">
                <p14:modId xmlns:p14="http://schemas.microsoft.com/office/powerpoint/2010/main" val="650626447"/>
              </p:ext>
            </p:extLst>
          </p:nvPr>
        </p:nvGraphicFramePr>
        <p:xfrm>
          <a:off x="1213971" y="3275008"/>
          <a:ext cx="749300" cy="241300"/>
        </p:xfrm>
        <a:graphic>
          <a:graphicData uri="http://schemas.openxmlformats.org/presentationml/2006/ole">
            <mc:AlternateContent xmlns:mc="http://schemas.openxmlformats.org/markup-compatibility/2006">
              <mc:Choice xmlns:v="urn:schemas-microsoft-com:vml" Requires="v">
                <p:oleObj name="Equation" r:id="rId9" imgW="749160" imgH="241200" progId="Equation.DSMT4">
                  <p:embed/>
                </p:oleObj>
              </mc:Choice>
              <mc:Fallback>
                <p:oleObj name="Equation" r:id="rId9" imgW="749160" imgH="241200" progId="Equation.DSMT4">
                  <p:embed/>
                  <p:pic>
                    <p:nvPicPr>
                      <p:cNvPr id="0" name=""/>
                      <p:cNvPicPr>
                        <a:picLocks noChangeAspect="1" noChangeArrowheads="1"/>
                      </p:cNvPicPr>
                      <p:nvPr/>
                    </p:nvPicPr>
                    <p:blipFill>
                      <a:blip r:embed="rId10"/>
                      <a:srcRect/>
                      <a:stretch>
                        <a:fillRect/>
                      </a:stretch>
                    </p:blipFill>
                    <p:spPr bwMode="auto">
                      <a:xfrm>
                        <a:off x="1213971" y="3275008"/>
                        <a:ext cx="7493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7" name="直接箭头连接符 16"/>
          <p:cNvCxnSpPr/>
          <p:nvPr/>
        </p:nvCxnSpPr>
        <p:spPr>
          <a:xfrm>
            <a:off x="1361835" y="2681848"/>
            <a:ext cx="0" cy="3864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432347" y="2668334"/>
            <a:ext cx="0" cy="386420"/>
          </a:xfrm>
          <a:prstGeom prst="straightConnector1">
            <a:avLst/>
          </a:prstGeom>
          <a:ln>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823647" y="2699911"/>
            <a:ext cx="0" cy="3864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894159" y="2686397"/>
            <a:ext cx="0" cy="386420"/>
          </a:xfrm>
          <a:prstGeom prst="straightConnector1">
            <a:avLst/>
          </a:prstGeom>
          <a:ln>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TextBox 11"/>
          <p:cNvSpPr txBox="1"/>
          <p:nvPr/>
        </p:nvSpPr>
        <p:spPr>
          <a:xfrm>
            <a:off x="1611028" y="188074"/>
            <a:ext cx="6171882" cy="584775"/>
          </a:xfrm>
          <a:prstGeom prst="rect">
            <a:avLst/>
          </a:prstGeom>
          <a:noFill/>
        </p:spPr>
        <p:txBody>
          <a:bodyPr wrap="none" rtlCol="0">
            <a:spAutoFit/>
          </a:bodyPr>
          <a:lstStyle/>
          <a:p>
            <a:pPr algn="l"/>
            <a:r>
              <a:rPr lang="en-US" altLang="zh-CN" sz="32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Phase diagram of multi elements</a:t>
            </a:r>
          </a:p>
        </p:txBody>
      </p:sp>
      <p:pic>
        <p:nvPicPr>
          <p:cNvPr id="28" name="图片 27"/>
          <p:cNvPicPr>
            <a:picLocks noChangeAspect="1"/>
          </p:cNvPicPr>
          <p:nvPr/>
        </p:nvPicPr>
        <p:blipFill>
          <a:blip r:embed="rId11"/>
          <a:stretch>
            <a:fillRect/>
          </a:stretch>
        </p:blipFill>
        <p:spPr>
          <a:xfrm>
            <a:off x="614885" y="3733117"/>
            <a:ext cx="3460340" cy="1521777"/>
          </a:xfrm>
          <a:prstGeom prst="rect">
            <a:avLst/>
          </a:prstGeom>
        </p:spPr>
      </p:pic>
      <p:graphicFrame>
        <p:nvGraphicFramePr>
          <p:cNvPr id="16" name="对象 15"/>
          <p:cNvGraphicFramePr>
            <a:graphicFrameLocks noChangeAspect="1"/>
          </p:cNvGraphicFramePr>
          <p:nvPr>
            <p:extLst>
              <p:ext uri="{D42A27DB-BD31-4B8C-83A1-F6EECF244321}">
                <p14:modId xmlns:p14="http://schemas.microsoft.com/office/powerpoint/2010/main" val="2391863282"/>
              </p:ext>
            </p:extLst>
          </p:nvPr>
        </p:nvGraphicFramePr>
        <p:xfrm>
          <a:off x="713958" y="5779744"/>
          <a:ext cx="2219377" cy="575394"/>
        </p:xfrm>
        <a:graphic>
          <a:graphicData uri="http://schemas.openxmlformats.org/presentationml/2006/ole">
            <mc:AlternateContent xmlns:mc="http://schemas.openxmlformats.org/markup-compatibility/2006">
              <mc:Choice xmlns:v="urn:schemas-microsoft-com:vml" Requires="v">
                <p:oleObj name="Equation" r:id="rId12" imgW="1714320" imgH="444240" progId="Equation.DSMT4">
                  <p:embed/>
                </p:oleObj>
              </mc:Choice>
              <mc:Fallback>
                <p:oleObj name="Equation" r:id="rId12" imgW="1714320" imgH="444240" progId="Equation.DSMT4">
                  <p:embed/>
                  <p:pic>
                    <p:nvPicPr>
                      <p:cNvPr id="0" name=""/>
                      <p:cNvPicPr/>
                      <p:nvPr/>
                    </p:nvPicPr>
                    <p:blipFill>
                      <a:blip r:embed="rId13"/>
                      <a:stretch>
                        <a:fillRect/>
                      </a:stretch>
                    </p:blipFill>
                    <p:spPr>
                      <a:xfrm>
                        <a:off x="713958" y="5779744"/>
                        <a:ext cx="2219377" cy="575394"/>
                      </a:xfrm>
                      <a:prstGeom prst="rect">
                        <a:avLst/>
                      </a:prstGeom>
                    </p:spPr>
                  </p:pic>
                </p:oleObj>
              </mc:Fallback>
            </mc:AlternateContent>
          </a:graphicData>
        </a:graphic>
      </p:graphicFrame>
      <p:sp>
        <p:nvSpPr>
          <p:cNvPr id="29" name="TextBox 28"/>
          <p:cNvSpPr txBox="1"/>
          <p:nvPr/>
        </p:nvSpPr>
        <p:spPr>
          <a:xfrm>
            <a:off x="439337" y="5506935"/>
            <a:ext cx="3160481" cy="369332"/>
          </a:xfrm>
          <a:prstGeom prst="rect">
            <a:avLst/>
          </a:prstGeom>
          <a:noFill/>
        </p:spPr>
        <p:txBody>
          <a:bodyPr wrap="none" rtlCol="0">
            <a:spAutoFit/>
          </a:bodyPr>
          <a:lstStyle/>
          <a:p>
            <a:r>
              <a:rPr lang="en-US" altLang="zh-CN" b="1" i="1" dirty="0"/>
              <a:t>For the system with n elements</a:t>
            </a:r>
            <a:endParaRPr lang="zh-CN" altLang="en-US" b="1" i="1" dirty="0"/>
          </a:p>
        </p:txBody>
      </p:sp>
    </p:spTree>
    <p:extLst>
      <p:ext uri="{BB962C8B-B14F-4D97-AF65-F5344CB8AC3E}">
        <p14:creationId xmlns:p14="http://schemas.microsoft.com/office/powerpoint/2010/main" val="3223162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1"/>
          <p:cNvSpPr txBox="1"/>
          <p:nvPr/>
        </p:nvSpPr>
        <p:spPr>
          <a:xfrm>
            <a:off x="1763688" y="184395"/>
            <a:ext cx="6151043" cy="584775"/>
          </a:xfrm>
          <a:prstGeom prst="rect">
            <a:avLst/>
          </a:prstGeom>
          <a:noFill/>
        </p:spPr>
        <p:txBody>
          <a:bodyPr wrap="none" rtlCol="0">
            <a:spAutoFit/>
          </a:bodyPr>
          <a:lstStyle/>
          <a:p>
            <a:pPr algn="l"/>
            <a:r>
              <a:rPr lang="en-US" altLang="zh-CN" sz="32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Phase diagram of multi elements</a:t>
            </a:r>
          </a:p>
        </p:txBody>
      </p:sp>
      <p:sp>
        <p:nvSpPr>
          <p:cNvPr id="2" name="文本框 1"/>
          <p:cNvSpPr txBox="1"/>
          <p:nvPr/>
        </p:nvSpPr>
        <p:spPr>
          <a:xfrm>
            <a:off x="248920" y="3038982"/>
            <a:ext cx="8109585" cy="368300"/>
          </a:xfrm>
          <a:prstGeom prst="rect">
            <a:avLst/>
          </a:prstGeom>
          <a:noFill/>
        </p:spPr>
        <p:txBody>
          <a:bodyPr wrap="square" rtlCol="0">
            <a:spAutoFit/>
          </a:bodyPr>
          <a:lstStyle/>
          <a:p>
            <a:r>
              <a:rPr lang="en-US" altLang="zh-CN"/>
              <a:t>Ternary element molar free energy: </a:t>
            </a:r>
          </a:p>
        </p:txBody>
      </p:sp>
      <p:graphicFrame>
        <p:nvGraphicFramePr>
          <p:cNvPr id="3" name="对象 2">
            <a:hlinkClick r:id="" action="ppaction://ole?verb=0"/>
          </p:cNvPr>
          <p:cNvGraphicFramePr>
            <a:graphicFrameLocks noChangeAspect="1"/>
          </p:cNvGraphicFramePr>
          <p:nvPr>
            <p:extLst>
              <p:ext uri="{D42A27DB-BD31-4B8C-83A1-F6EECF244321}">
                <p14:modId xmlns:p14="http://schemas.microsoft.com/office/powerpoint/2010/main" val="3954294524"/>
              </p:ext>
            </p:extLst>
          </p:nvPr>
        </p:nvGraphicFramePr>
        <p:xfrm>
          <a:off x="1208405" y="3407282"/>
          <a:ext cx="6727190" cy="774700"/>
        </p:xfrm>
        <a:graphic>
          <a:graphicData uri="http://schemas.openxmlformats.org/presentationml/2006/ole">
            <mc:AlternateContent xmlns:mc="http://schemas.openxmlformats.org/markup-compatibility/2006">
              <mc:Choice xmlns:v="urn:schemas-microsoft-com:vml" Requires="v">
                <p:oleObj r:id="rId2" imgW="4191000" imgH="482600" progId="Equation.KSEE3">
                  <p:embed/>
                </p:oleObj>
              </mc:Choice>
              <mc:Fallback>
                <p:oleObj r:id="rId2" imgW="4191000" imgH="482600" progId="Equation.KSEE3">
                  <p:embed/>
                  <p:pic>
                    <p:nvPicPr>
                      <p:cNvPr id="0" name=""/>
                      <p:cNvPicPr/>
                      <p:nvPr/>
                    </p:nvPicPr>
                    <p:blipFill>
                      <a:blip r:embed="rId3"/>
                      <a:stretch>
                        <a:fillRect/>
                      </a:stretch>
                    </p:blipFill>
                    <p:spPr>
                      <a:xfrm>
                        <a:off x="1208405" y="3407282"/>
                        <a:ext cx="6727190" cy="774700"/>
                      </a:xfrm>
                      <a:prstGeom prst="rect">
                        <a:avLst/>
                      </a:prstGeom>
                    </p:spPr>
                  </p:pic>
                </p:oleObj>
              </mc:Fallback>
            </mc:AlternateContent>
          </a:graphicData>
        </a:graphic>
      </p:graphicFrame>
      <p:sp>
        <p:nvSpPr>
          <p:cNvPr id="4" name="文本框 3"/>
          <p:cNvSpPr txBox="1"/>
          <p:nvPr/>
        </p:nvSpPr>
        <p:spPr>
          <a:xfrm>
            <a:off x="443230" y="4736337"/>
            <a:ext cx="4090035" cy="368300"/>
          </a:xfrm>
          <a:prstGeom prst="rect">
            <a:avLst/>
          </a:prstGeom>
          <a:noFill/>
        </p:spPr>
        <p:txBody>
          <a:bodyPr wrap="square" rtlCol="0">
            <a:spAutoFit/>
          </a:bodyPr>
          <a:lstStyle/>
          <a:p>
            <a:r>
              <a:rPr lang="en-US" altLang="zh-CN"/>
              <a:t>G</a:t>
            </a:r>
            <a:r>
              <a:rPr lang="zh-CN" altLang="en-US"/>
              <a:t>eneral formula</a:t>
            </a:r>
            <a:r>
              <a:rPr lang="en-US" altLang="zh-CN"/>
              <a:t>:</a:t>
            </a:r>
          </a:p>
        </p:txBody>
      </p:sp>
      <p:graphicFrame>
        <p:nvGraphicFramePr>
          <p:cNvPr id="5" name="对象 4">
            <a:hlinkClick r:id="" action="ppaction://ole?verb=0"/>
          </p:cNvPr>
          <p:cNvGraphicFramePr>
            <a:graphicFrameLocks noChangeAspect="1"/>
          </p:cNvGraphicFramePr>
          <p:nvPr>
            <p:extLst>
              <p:ext uri="{D42A27DB-BD31-4B8C-83A1-F6EECF244321}">
                <p14:modId xmlns:p14="http://schemas.microsoft.com/office/powerpoint/2010/main" val="4005642225"/>
              </p:ext>
            </p:extLst>
          </p:nvPr>
        </p:nvGraphicFramePr>
        <p:xfrm>
          <a:off x="1331640" y="5229200"/>
          <a:ext cx="5617210" cy="833120"/>
        </p:xfrm>
        <a:graphic>
          <a:graphicData uri="http://schemas.openxmlformats.org/presentationml/2006/ole">
            <mc:AlternateContent xmlns:mc="http://schemas.openxmlformats.org/markup-compatibility/2006">
              <mc:Choice xmlns:v="urn:schemas-microsoft-com:vml" Requires="v">
                <p:oleObj r:id="rId4" imgW="2997200" imgH="444500" progId="Equation.KSEE3">
                  <p:embed/>
                </p:oleObj>
              </mc:Choice>
              <mc:Fallback>
                <p:oleObj r:id="rId4" imgW="2997200" imgH="444500" progId="Equation.KSEE3">
                  <p:embed/>
                  <p:pic>
                    <p:nvPicPr>
                      <p:cNvPr id="0" name=""/>
                      <p:cNvPicPr/>
                      <p:nvPr/>
                    </p:nvPicPr>
                    <p:blipFill>
                      <a:blip r:embed="rId5"/>
                      <a:stretch>
                        <a:fillRect/>
                      </a:stretch>
                    </p:blipFill>
                    <p:spPr>
                      <a:xfrm>
                        <a:off x="1331640" y="5229200"/>
                        <a:ext cx="5617210" cy="83312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96005458"/>
              </p:ext>
            </p:extLst>
          </p:nvPr>
        </p:nvGraphicFramePr>
        <p:xfrm>
          <a:off x="1008990" y="2098225"/>
          <a:ext cx="4038600" cy="381000"/>
        </p:xfrm>
        <a:graphic>
          <a:graphicData uri="http://schemas.openxmlformats.org/presentationml/2006/ole">
            <mc:AlternateContent xmlns:mc="http://schemas.openxmlformats.org/markup-compatibility/2006">
              <mc:Choice xmlns:v="urn:schemas-microsoft-com:vml" Requires="v">
                <p:oleObj name="Equation" r:id="rId6" imgW="2692080" imgH="253800" progId="Equation.DSMT4">
                  <p:embed/>
                </p:oleObj>
              </mc:Choice>
              <mc:Fallback>
                <p:oleObj name="Equation" r:id="rId6" imgW="2692080" imgH="253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990" y="2098225"/>
                        <a:ext cx="4038600" cy="381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580750364"/>
              </p:ext>
            </p:extLst>
          </p:nvPr>
        </p:nvGraphicFramePr>
        <p:xfrm>
          <a:off x="1019292" y="1501954"/>
          <a:ext cx="4800600" cy="430213"/>
        </p:xfrm>
        <a:graphic>
          <a:graphicData uri="http://schemas.openxmlformats.org/presentationml/2006/ole">
            <mc:AlternateContent xmlns:mc="http://schemas.openxmlformats.org/markup-compatibility/2006">
              <mc:Choice xmlns:v="urn:schemas-microsoft-com:vml" Requires="v">
                <p:oleObj name="Equation" r:id="rId8" imgW="2692400" imgH="241300" progId="Equation.DSMT4">
                  <p:embed/>
                </p:oleObj>
              </mc:Choice>
              <mc:Fallback>
                <p:oleObj name="Equation" r:id="rId8" imgW="2692400" imgH="2413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9292" y="1501954"/>
                        <a:ext cx="4800600" cy="430213"/>
                      </a:xfrm>
                      <a:prstGeom prst="rect">
                        <a:avLst/>
                      </a:prstGeom>
                      <a:noFill/>
                      <a:ln>
                        <a:solidFill>
                          <a:srgbClr val="FF0000"/>
                        </a:solidFill>
                      </a:ln>
                    </p:spPr>
                  </p:pic>
                </p:oleObj>
              </mc:Fallback>
            </mc:AlternateContent>
          </a:graphicData>
        </a:graphic>
      </p:graphicFrame>
    </p:spTree>
    <p:extLst>
      <p:ext uri="{BB962C8B-B14F-4D97-AF65-F5344CB8AC3E}">
        <p14:creationId xmlns:p14="http://schemas.microsoft.com/office/powerpoint/2010/main" val="1861751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5931" y="107561"/>
            <a:ext cx="3768980" cy="584775"/>
          </a:xfrm>
          <a:prstGeom prst="rect">
            <a:avLst/>
          </a:prstGeom>
          <a:noFill/>
        </p:spPr>
        <p:txBody>
          <a:bodyPr wrap="none" rtlCol="0">
            <a:spAutoFit/>
          </a:bodyPr>
          <a:lstStyle/>
          <a:p>
            <a:r>
              <a:rPr lang="en-US" altLang="zh-CN" sz="3200" dirty="0">
                <a:solidFill>
                  <a:srgbClr val="FF0000"/>
                </a:solidFill>
              </a:rPr>
              <a:t>Composition triangle </a:t>
            </a:r>
            <a:endParaRPr lang="zh-CN" altLang="en-US" sz="3200" dirty="0">
              <a:solidFill>
                <a:srgbClr val="FF0000"/>
              </a:solidFill>
            </a:endParaRPr>
          </a:p>
        </p:txBody>
      </p:sp>
      <p:sp>
        <p:nvSpPr>
          <p:cNvPr id="3" name="TextBox 2"/>
          <p:cNvSpPr txBox="1"/>
          <p:nvPr/>
        </p:nvSpPr>
        <p:spPr>
          <a:xfrm>
            <a:off x="1475656" y="935115"/>
            <a:ext cx="3956019" cy="369332"/>
          </a:xfrm>
          <a:prstGeom prst="rect">
            <a:avLst/>
          </a:prstGeom>
          <a:noFill/>
        </p:spPr>
        <p:txBody>
          <a:bodyPr wrap="none" rtlCol="0">
            <a:spAutoFit/>
          </a:bodyPr>
          <a:lstStyle/>
          <a:p>
            <a:r>
              <a:rPr lang="en-US" altLang="zh-CN" dirty="0"/>
              <a:t>Concentration triangle or Gibbs triangle </a:t>
            </a:r>
            <a:endParaRPr lang="zh-CN" altLang="en-US" dirty="0"/>
          </a:p>
        </p:txBody>
      </p:sp>
      <p:pic>
        <p:nvPicPr>
          <p:cNvPr id="563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527" y="1556792"/>
            <a:ext cx="7272808" cy="342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599769" y="5192476"/>
            <a:ext cx="1388522" cy="369332"/>
          </a:xfrm>
          <a:prstGeom prst="rect">
            <a:avLst/>
          </a:prstGeom>
          <a:noFill/>
        </p:spPr>
        <p:txBody>
          <a:bodyPr wrap="none" rtlCol="0">
            <a:spAutoFit/>
          </a:bodyPr>
          <a:lstStyle/>
          <a:p>
            <a:r>
              <a:rPr lang="en-US" altLang="zh-CN" dirty="0" err="1"/>
              <a:t>z</a:t>
            </a:r>
            <a:r>
              <a:rPr lang="en-US" altLang="zh-CN" baseline="-25000" dirty="0" err="1"/>
              <a:t>A</a:t>
            </a:r>
            <a:r>
              <a:rPr lang="en-US" altLang="zh-CN" baseline="30000" dirty="0"/>
              <a:t> </a:t>
            </a:r>
            <a:r>
              <a:rPr lang="en-US" altLang="zh-CN" dirty="0"/>
              <a:t>+ </a:t>
            </a:r>
            <a:r>
              <a:rPr lang="en-US" altLang="zh-CN" dirty="0" err="1"/>
              <a:t>z</a:t>
            </a:r>
            <a:r>
              <a:rPr lang="en-US" altLang="zh-CN" baseline="-25000" dirty="0" err="1"/>
              <a:t>B</a:t>
            </a:r>
            <a:r>
              <a:rPr lang="en-US" altLang="zh-CN" baseline="30000" dirty="0"/>
              <a:t> </a:t>
            </a:r>
            <a:r>
              <a:rPr lang="en-US" altLang="zh-CN" dirty="0"/>
              <a:t>+ </a:t>
            </a:r>
            <a:r>
              <a:rPr lang="en-US" altLang="zh-CN" dirty="0" err="1"/>
              <a:t>z</a:t>
            </a:r>
            <a:r>
              <a:rPr lang="en-US" altLang="zh-CN" baseline="-25000" dirty="0" err="1"/>
              <a:t>C</a:t>
            </a:r>
            <a:r>
              <a:rPr lang="en-US" altLang="zh-CN" baseline="30000" dirty="0"/>
              <a:t> </a:t>
            </a:r>
            <a:r>
              <a:rPr lang="en-US" altLang="zh-CN" dirty="0"/>
              <a:t>=1</a:t>
            </a:r>
            <a:endParaRPr lang="zh-CN" altLang="en-US" dirty="0"/>
          </a:p>
        </p:txBody>
      </p:sp>
      <p:sp>
        <p:nvSpPr>
          <p:cNvPr id="6" name="矩形 5"/>
          <p:cNvSpPr/>
          <p:nvPr/>
        </p:nvSpPr>
        <p:spPr>
          <a:xfrm>
            <a:off x="5292080" y="5226758"/>
            <a:ext cx="1021433" cy="369332"/>
          </a:xfrm>
          <a:prstGeom prst="rect">
            <a:avLst/>
          </a:prstGeom>
        </p:spPr>
        <p:txBody>
          <a:bodyPr wrap="none">
            <a:spAutoFit/>
          </a:bodyPr>
          <a:lstStyle/>
          <a:p>
            <a:r>
              <a:rPr lang="en-US" altLang="zh-CN" dirty="0" err="1"/>
              <a:t>z</a:t>
            </a:r>
            <a:r>
              <a:rPr lang="en-US" altLang="zh-CN" baseline="-25000" dirty="0" err="1"/>
              <a:t>A</a:t>
            </a:r>
            <a:r>
              <a:rPr lang="en-US" altLang="zh-CN" baseline="-25000" dirty="0"/>
              <a:t>   </a:t>
            </a:r>
            <a:r>
              <a:rPr lang="en-US" altLang="zh-CN" dirty="0"/>
              <a:t>=20%</a:t>
            </a:r>
            <a:r>
              <a:rPr lang="en-US" altLang="zh-CN" baseline="30000" dirty="0"/>
              <a:t> </a:t>
            </a:r>
            <a:endParaRPr lang="zh-CN" altLang="en-US" dirty="0"/>
          </a:p>
        </p:txBody>
      </p:sp>
      <p:sp>
        <p:nvSpPr>
          <p:cNvPr id="8" name="矩形 7"/>
          <p:cNvSpPr/>
          <p:nvPr/>
        </p:nvSpPr>
        <p:spPr>
          <a:xfrm>
            <a:off x="5292080" y="5596090"/>
            <a:ext cx="1021433" cy="369332"/>
          </a:xfrm>
          <a:prstGeom prst="rect">
            <a:avLst/>
          </a:prstGeom>
        </p:spPr>
        <p:txBody>
          <a:bodyPr wrap="none">
            <a:spAutoFit/>
          </a:bodyPr>
          <a:lstStyle/>
          <a:p>
            <a:r>
              <a:rPr lang="en-US" altLang="zh-CN" dirty="0" err="1"/>
              <a:t>z</a:t>
            </a:r>
            <a:r>
              <a:rPr lang="en-US" altLang="zh-CN" baseline="-25000" dirty="0" err="1"/>
              <a:t>B</a:t>
            </a:r>
            <a:r>
              <a:rPr lang="en-US" altLang="zh-CN" baseline="-25000" dirty="0"/>
              <a:t>   </a:t>
            </a:r>
            <a:r>
              <a:rPr lang="en-US" altLang="zh-CN" dirty="0"/>
              <a:t>=30%</a:t>
            </a:r>
            <a:r>
              <a:rPr lang="en-US" altLang="zh-CN" baseline="30000" dirty="0"/>
              <a:t> </a:t>
            </a:r>
            <a:endParaRPr lang="zh-CN" altLang="en-US" dirty="0"/>
          </a:p>
        </p:txBody>
      </p:sp>
      <p:sp>
        <p:nvSpPr>
          <p:cNvPr id="9" name="矩形 8"/>
          <p:cNvSpPr/>
          <p:nvPr/>
        </p:nvSpPr>
        <p:spPr>
          <a:xfrm>
            <a:off x="5292080" y="5976368"/>
            <a:ext cx="1021433" cy="369332"/>
          </a:xfrm>
          <a:prstGeom prst="rect">
            <a:avLst/>
          </a:prstGeom>
        </p:spPr>
        <p:txBody>
          <a:bodyPr wrap="none">
            <a:spAutoFit/>
          </a:bodyPr>
          <a:lstStyle/>
          <a:p>
            <a:r>
              <a:rPr lang="en-US" altLang="zh-CN" dirty="0" err="1"/>
              <a:t>z</a:t>
            </a:r>
            <a:r>
              <a:rPr lang="en-US" altLang="zh-CN" baseline="-25000" dirty="0" err="1"/>
              <a:t>C</a:t>
            </a:r>
            <a:r>
              <a:rPr lang="en-US" altLang="zh-CN" baseline="-25000" dirty="0"/>
              <a:t>   </a:t>
            </a:r>
            <a:r>
              <a:rPr lang="en-US" altLang="zh-CN" dirty="0"/>
              <a:t>=50%</a:t>
            </a:r>
            <a:r>
              <a:rPr lang="en-US" altLang="zh-CN" baseline="30000" dirty="0"/>
              <a:t> </a:t>
            </a:r>
            <a:endParaRPr lang="zh-CN" altLang="en-US" dirty="0"/>
          </a:p>
        </p:txBody>
      </p:sp>
    </p:spTree>
    <p:extLst>
      <p:ext uri="{BB962C8B-B14F-4D97-AF65-F5344CB8AC3E}">
        <p14:creationId xmlns:p14="http://schemas.microsoft.com/office/powerpoint/2010/main" val="243445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188640"/>
            <a:ext cx="5146024" cy="523220"/>
          </a:xfrm>
          <a:prstGeom prst="rect">
            <a:avLst/>
          </a:prstGeom>
          <a:noFill/>
        </p:spPr>
        <p:txBody>
          <a:bodyPr wrap="none" rtlCol="0">
            <a:spAutoFit/>
          </a:bodyPr>
          <a:lstStyle/>
          <a:p>
            <a:r>
              <a:rPr lang="en-US" altLang="zh-CN" sz="2800" dirty="0">
                <a:solidFill>
                  <a:srgbClr val="FF0000"/>
                </a:solidFill>
              </a:rPr>
              <a:t>Gibbs phase law in ternary system</a:t>
            </a:r>
            <a:endParaRPr lang="zh-CN" altLang="en-US" sz="2800" dirty="0">
              <a:solidFill>
                <a:srgbClr val="FF0000"/>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011760995"/>
              </p:ext>
            </p:extLst>
          </p:nvPr>
        </p:nvGraphicFramePr>
        <p:xfrm>
          <a:off x="827584" y="2348880"/>
          <a:ext cx="7632846" cy="3456383"/>
        </p:xfrm>
        <a:graphic>
          <a:graphicData uri="http://schemas.openxmlformats.org/drawingml/2006/table">
            <a:tbl>
              <a:tblPr firstRow="1" bandRow="1">
                <a:tableStyleId>{5C22544A-7EE6-4342-B048-85BDC9FD1C3A}</a:tableStyleId>
              </a:tblPr>
              <a:tblGrid>
                <a:gridCol w="1272141">
                  <a:extLst>
                    <a:ext uri="{9D8B030D-6E8A-4147-A177-3AD203B41FA5}">
                      <a16:colId xmlns:a16="http://schemas.microsoft.com/office/drawing/2014/main" val="20000"/>
                    </a:ext>
                  </a:extLst>
                </a:gridCol>
                <a:gridCol w="1272141">
                  <a:extLst>
                    <a:ext uri="{9D8B030D-6E8A-4147-A177-3AD203B41FA5}">
                      <a16:colId xmlns:a16="http://schemas.microsoft.com/office/drawing/2014/main" val="20001"/>
                    </a:ext>
                  </a:extLst>
                </a:gridCol>
                <a:gridCol w="1272141">
                  <a:extLst>
                    <a:ext uri="{9D8B030D-6E8A-4147-A177-3AD203B41FA5}">
                      <a16:colId xmlns:a16="http://schemas.microsoft.com/office/drawing/2014/main" val="20002"/>
                    </a:ext>
                  </a:extLst>
                </a:gridCol>
                <a:gridCol w="1272141">
                  <a:extLst>
                    <a:ext uri="{9D8B030D-6E8A-4147-A177-3AD203B41FA5}">
                      <a16:colId xmlns:a16="http://schemas.microsoft.com/office/drawing/2014/main" val="20003"/>
                    </a:ext>
                  </a:extLst>
                </a:gridCol>
                <a:gridCol w="1272141">
                  <a:extLst>
                    <a:ext uri="{9D8B030D-6E8A-4147-A177-3AD203B41FA5}">
                      <a16:colId xmlns:a16="http://schemas.microsoft.com/office/drawing/2014/main" val="20004"/>
                    </a:ext>
                  </a:extLst>
                </a:gridCol>
                <a:gridCol w="1272141">
                  <a:extLst>
                    <a:ext uri="{9D8B030D-6E8A-4147-A177-3AD203B41FA5}">
                      <a16:colId xmlns:a16="http://schemas.microsoft.com/office/drawing/2014/main" val="20005"/>
                    </a:ext>
                  </a:extLst>
                </a:gridCol>
              </a:tblGrid>
              <a:tr h="493769">
                <a:tc rowSpan="2">
                  <a:txBody>
                    <a:bodyPr/>
                    <a:lstStyle/>
                    <a:p>
                      <a:r>
                        <a:rPr lang="zh-CN" altLang="en-US" dirty="0"/>
                        <a:t>平衡相区</a:t>
                      </a:r>
                    </a:p>
                  </a:txBody>
                  <a:tcPr/>
                </a:tc>
                <a:tc rowSpan="2">
                  <a:txBody>
                    <a:bodyPr/>
                    <a:lstStyle/>
                    <a:p>
                      <a:r>
                        <a:rPr lang="zh-CN" altLang="en-US" dirty="0"/>
                        <a:t>相数</a:t>
                      </a:r>
                      <a:r>
                        <a:rPr lang="en-US" altLang="zh-CN" dirty="0"/>
                        <a:t>P</a:t>
                      </a:r>
                      <a:endParaRPr lang="zh-CN" altLang="en-US" dirty="0"/>
                    </a:p>
                  </a:txBody>
                  <a:tcPr/>
                </a:tc>
                <a:tc gridSpan="2">
                  <a:txBody>
                    <a:bodyPr/>
                    <a:lstStyle/>
                    <a:p>
                      <a:pPr algn="ctr"/>
                      <a:r>
                        <a:rPr lang="en-US" altLang="zh-CN" dirty="0"/>
                        <a:t>p-T-x </a:t>
                      </a:r>
                      <a:endParaRPr lang="zh-CN" altLang="en-US" dirty="0"/>
                    </a:p>
                  </a:txBody>
                  <a:tcPr/>
                </a:tc>
                <a:tc hMerge="1">
                  <a:txBody>
                    <a:bodyPr/>
                    <a:lstStyle/>
                    <a:p>
                      <a:endParaRPr lang="zh-CN" altLang="en-US" dirty="0"/>
                    </a:p>
                  </a:txBody>
                  <a:tcPr/>
                </a:tc>
                <a:tc gridSpan="2">
                  <a:txBody>
                    <a:bodyPr/>
                    <a:lstStyle/>
                    <a:p>
                      <a:r>
                        <a:rPr lang="en-US" altLang="zh-CN" dirty="0"/>
                        <a:t>T=const.</a:t>
                      </a:r>
                      <a:r>
                        <a:rPr lang="en-US" altLang="zh-CN" baseline="0" dirty="0"/>
                        <a:t> or P=const.</a:t>
                      </a:r>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0"/>
                  </a:ext>
                </a:extLst>
              </a:tr>
              <a:tr h="493769">
                <a:tc vMerge="1">
                  <a:txBody>
                    <a:bodyPr/>
                    <a:lstStyle/>
                    <a:p>
                      <a:endParaRPr lang="zh-CN" altLang="en-US" dirty="0"/>
                    </a:p>
                  </a:txBody>
                  <a:tcPr/>
                </a:tc>
                <a:tc vMerge="1">
                  <a:txBody>
                    <a:bodyPr/>
                    <a:lstStyle/>
                    <a:p>
                      <a:endParaRPr lang="zh-CN" altLang="en-US" dirty="0"/>
                    </a:p>
                  </a:txBody>
                  <a:tcPr/>
                </a:tc>
                <a:tc>
                  <a:txBody>
                    <a:bodyPr/>
                    <a:lstStyle/>
                    <a:p>
                      <a:r>
                        <a:rPr lang="en-US" altLang="zh-CN" dirty="0"/>
                        <a:t>f</a:t>
                      </a:r>
                      <a:endParaRPr lang="zh-CN" altLang="en-US" dirty="0"/>
                    </a:p>
                  </a:txBody>
                  <a:tcPr/>
                </a:tc>
                <a:tc>
                  <a:txBody>
                    <a:bodyPr/>
                    <a:lstStyle/>
                    <a:p>
                      <a:r>
                        <a:rPr lang="zh-CN" altLang="en-US" dirty="0"/>
                        <a:t>平衡特性</a:t>
                      </a:r>
                    </a:p>
                  </a:txBody>
                  <a:tcPr/>
                </a:tc>
                <a:tc>
                  <a:txBody>
                    <a:bodyPr/>
                    <a:lstStyle/>
                    <a:p>
                      <a:r>
                        <a:rPr lang="en-US" altLang="zh-CN" dirty="0"/>
                        <a:t>f</a:t>
                      </a:r>
                      <a:endParaRPr lang="zh-CN" altLang="en-US" dirty="0"/>
                    </a:p>
                  </a:txBody>
                  <a:tcPr/>
                </a:tc>
                <a:tc>
                  <a:txBody>
                    <a:bodyPr/>
                    <a:lstStyle/>
                    <a:p>
                      <a:r>
                        <a:rPr lang="zh-CN" altLang="en-US" dirty="0"/>
                        <a:t>平衡特性</a:t>
                      </a:r>
                    </a:p>
                  </a:txBody>
                  <a:tcPr/>
                </a:tc>
                <a:extLst>
                  <a:ext uri="{0D108BD9-81ED-4DB2-BD59-A6C34878D82A}">
                    <a16:rowId xmlns:a16="http://schemas.microsoft.com/office/drawing/2014/main" val="10001"/>
                  </a:ext>
                </a:extLst>
              </a:tr>
              <a:tr h="493769">
                <a:tc>
                  <a:txBody>
                    <a:bodyPr/>
                    <a:lstStyle/>
                    <a:p>
                      <a:r>
                        <a:rPr lang="zh-CN" altLang="en-US" dirty="0"/>
                        <a:t>单相区</a:t>
                      </a:r>
                    </a:p>
                  </a:txBody>
                  <a:tcPr/>
                </a:tc>
                <a:tc>
                  <a:txBody>
                    <a:bodyPr/>
                    <a:lstStyle/>
                    <a:p>
                      <a:r>
                        <a:rPr lang="en-US" altLang="zh-CN" dirty="0"/>
                        <a:t>1</a:t>
                      </a:r>
                      <a:endParaRPr lang="zh-CN" altLang="en-US" dirty="0"/>
                    </a:p>
                  </a:txBody>
                  <a:tcPr/>
                </a:tc>
                <a:tc>
                  <a:txBody>
                    <a:bodyPr/>
                    <a:lstStyle/>
                    <a:p>
                      <a:r>
                        <a:rPr lang="en-US" altLang="zh-CN" dirty="0"/>
                        <a:t>4</a:t>
                      </a:r>
                      <a:endParaRPr lang="zh-CN" altLang="en-US" dirty="0"/>
                    </a:p>
                  </a:txBody>
                  <a:tcPr/>
                </a:tc>
                <a:tc>
                  <a:txBody>
                    <a:bodyPr/>
                    <a:lstStyle/>
                    <a:p>
                      <a:r>
                        <a:rPr lang="zh-CN" altLang="en-US" dirty="0"/>
                        <a:t>四变平衡</a:t>
                      </a:r>
                    </a:p>
                  </a:txBody>
                  <a:tcPr/>
                </a:tc>
                <a:tc>
                  <a:txBody>
                    <a:bodyPr/>
                    <a:lstStyle/>
                    <a:p>
                      <a:r>
                        <a:rPr lang="en-US" altLang="zh-CN" dirty="0"/>
                        <a:t>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三变平衡</a:t>
                      </a:r>
                    </a:p>
                  </a:txBody>
                  <a:tcPr/>
                </a:tc>
                <a:extLst>
                  <a:ext uri="{0D108BD9-81ED-4DB2-BD59-A6C34878D82A}">
                    <a16:rowId xmlns:a16="http://schemas.microsoft.com/office/drawing/2014/main" val="10002"/>
                  </a:ext>
                </a:extLst>
              </a:tr>
              <a:tr h="493769">
                <a:tc>
                  <a:txBody>
                    <a:bodyPr/>
                    <a:lstStyle/>
                    <a:p>
                      <a:r>
                        <a:rPr lang="zh-CN" altLang="en-US" dirty="0"/>
                        <a:t>双相区</a:t>
                      </a:r>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三变平衡</a:t>
                      </a:r>
                    </a:p>
                  </a:txBody>
                  <a:tcPr/>
                </a:tc>
                <a:tc>
                  <a:txBody>
                    <a:bodyPr/>
                    <a:lstStyle/>
                    <a:p>
                      <a:r>
                        <a:rPr lang="en-US" altLang="zh-CN" dirty="0"/>
                        <a:t>2</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二变平衡</a:t>
                      </a:r>
                    </a:p>
                  </a:txBody>
                  <a:tcPr/>
                </a:tc>
                <a:extLst>
                  <a:ext uri="{0D108BD9-81ED-4DB2-BD59-A6C34878D82A}">
                    <a16:rowId xmlns:a16="http://schemas.microsoft.com/office/drawing/2014/main" val="10003"/>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三相区</a:t>
                      </a:r>
                    </a:p>
                  </a:txBody>
                  <a:tcPr/>
                </a:tc>
                <a:tc>
                  <a:txBody>
                    <a:bodyPr/>
                    <a:lstStyle/>
                    <a:p>
                      <a:r>
                        <a:rPr lang="en-US" altLang="zh-CN" dirty="0"/>
                        <a:t>3</a:t>
                      </a:r>
                      <a:endParaRPr lang="zh-CN" altLang="en-US" dirty="0"/>
                    </a:p>
                  </a:txBody>
                  <a:tcPr/>
                </a:tc>
                <a:tc>
                  <a:txBody>
                    <a:bodyPr/>
                    <a:lstStyle/>
                    <a:p>
                      <a:r>
                        <a:rPr lang="en-US" altLang="zh-CN" dirty="0"/>
                        <a:t>2</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二变平衡</a:t>
                      </a:r>
                    </a:p>
                  </a:txBody>
                  <a:tcPr/>
                </a:tc>
                <a:tc>
                  <a:txBody>
                    <a:bodyPr/>
                    <a:lstStyle/>
                    <a:p>
                      <a:r>
                        <a:rPr lang="en-US" altLang="zh-CN" dirty="0"/>
                        <a:t>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一变平衡</a:t>
                      </a:r>
                    </a:p>
                  </a:txBody>
                  <a:tcPr/>
                </a:tc>
                <a:extLst>
                  <a:ext uri="{0D108BD9-81ED-4DB2-BD59-A6C34878D82A}">
                    <a16:rowId xmlns:a16="http://schemas.microsoft.com/office/drawing/2014/main" val="10004"/>
                  </a:ext>
                </a:extLst>
              </a:tr>
              <a:tr h="493769">
                <a:tc>
                  <a:txBody>
                    <a:bodyPr/>
                    <a:lstStyle/>
                    <a:p>
                      <a:r>
                        <a:rPr lang="zh-CN" altLang="en-US" dirty="0"/>
                        <a:t>四相区</a:t>
                      </a:r>
                    </a:p>
                  </a:txBody>
                  <a:tcPr/>
                </a:tc>
                <a:tc>
                  <a:txBody>
                    <a:bodyPr/>
                    <a:lstStyle/>
                    <a:p>
                      <a:r>
                        <a:rPr lang="en-US" altLang="zh-CN" dirty="0"/>
                        <a:t>4</a:t>
                      </a:r>
                      <a:endParaRPr lang="zh-CN" altLang="en-US" dirty="0"/>
                    </a:p>
                  </a:txBody>
                  <a:tcPr/>
                </a:tc>
                <a:tc>
                  <a:txBody>
                    <a:bodyPr/>
                    <a:lstStyle/>
                    <a:p>
                      <a:r>
                        <a:rPr lang="en-US" altLang="zh-CN" dirty="0"/>
                        <a:t>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一变平衡</a:t>
                      </a:r>
                    </a:p>
                  </a:txBody>
                  <a:tcPr/>
                </a:tc>
                <a:tc>
                  <a:txBody>
                    <a:bodyPr/>
                    <a:lstStyle/>
                    <a:p>
                      <a:r>
                        <a:rPr lang="en-US" altLang="zh-CN" dirty="0"/>
                        <a:t>0</a:t>
                      </a:r>
                      <a:endParaRPr lang="zh-CN" altLang="en-US" dirty="0"/>
                    </a:p>
                  </a:txBody>
                  <a:tcPr/>
                </a:tc>
                <a:tc>
                  <a:txBody>
                    <a:bodyPr/>
                    <a:lstStyle/>
                    <a:p>
                      <a:r>
                        <a:rPr lang="zh-CN" altLang="en-US" dirty="0"/>
                        <a:t>零变平衡</a:t>
                      </a:r>
                    </a:p>
                  </a:txBody>
                  <a:tcPr/>
                </a:tc>
                <a:extLst>
                  <a:ext uri="{0D108BD9-81ED-4DB2-BD59-A6C34878D82A}">
                    <a16:rowId xmlns:a16="http://schemas.microsoft.com/office/drawing/2014/main" val="10005"/>
                  </a:ext>
                </a:extLst>
              </a:tr>
              <a:tr h="493769">
                <a:tc>
                  <a:txBody>
                    <a:bodyPr/>
                    <a:lstStyle/>
                    <a:p>
                      <a:r>
                        <a:rPr lang="zh-CN" altLang="en-US" dirty="0"/>
                        <a:t>五相区</a:t>
                      </a:r>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zh-CN" altLang="en-US" dirty="0"/>
                        <a:t>零变平衡</a:t>
                      </a:r>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10006"/>
                  </a:ext>
                </a:extLst>
              </a:tr>
            </a:tbl>
          </a:graphicData>
        </a:graphic>
      </p:graphicFrame>
      <p:sp>
        <p:nvSpPr>
          <p:cNvPr id="4" name="TextBox 3"/>
          <p:cNvSpPr txBox="1"/>
          <p:nvPr/>
        </p:nvSpPr>
        <p:spPr>
          <a:xfrm>
            <a:off x="3635896" y="1486305"/>
            <a:ext cx="1156086" cy="461665"/>
          </a:xfrm>
          <a:prstGeom prst="rect">
            <a:avLst/>
          </a:prstGeom>
          <a:solidFill>
            <a:schemeClr val="accent6">
              <a:lumMod val="60000"/>
              <a:lumOff val="40000"/>
            </a:schemeClr>
          </a:solidFill>
        </p:spPr>
        <p:txBody>
          <a:bodyPr wrap="none" rtlCol="0">
            <a:spAutoFit/>
          </a:bodyPr>
          <a:lstStyle/>
          <a:p>
            <a:r>
              <a:rPr lang="en-US" altLang="zh-CN" sz="2400" i="1" dirty="0"/>
              <a:t>f=C-P+2</a:t>
            </a:r>
            <a:endParaRPr lang="zh-CN" altLang="en-US" sz="2400" i="1" dirty="0"/>
          </a:p>
        </p:txBody>
      </p:sp>
    </p:spTree>
    <p:extLst>
      <p:ext uri="{BB962C8B-B14F-4D97-AF65-F5344CB8AC3E}">
        <p14:creationId xmlns:p14="http://schemas.microsoft.com/office/powerpoint/2010/main" val="1464469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5659"/>
          <a:stretch/>
        </p:blipFill>
        <p:spPr bwMode="auto">
          <a:xfrm>
            <a:off x="107504" y="1106187"/>
            <a:ext cx="8604448" cy="5442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62429" y="116632"/>
            <a:ext cx="3947299" cy="584775"/>
          </a:xfrm>
          <a:prstGeom prst="rect">
            <a:avLst/>
          </a:prstGeom>
          <a:noFill/>
        </p:spPr>
        <p:txBody>
          <a:bodyPr wrap="none" rtlCol="0">
            <a:spAutoFit/>
          </a:bodyPr>
          <a:lstStyle/>
          <a:p>
            <a:r>
              <a:rPr lang="en-US" altLang="zh-CN" sz="3200" dirty="0">
                <a:solidFill>
                  <a:srgbClr val="FF0000"/>
                </a:solidFill>
              </a:rPr>
              <a:t>Tie line and Lever rule </a:t>
            </a:r>
            <a:endParaRPr lang="zh-CN" altLang="en-US" sz="3200" dirty="0">
              <a:solidFill>
                <a:srgbClr val="FF0000"/>
              </a:solidFill>
            </a:endParaRPr>
          </a:p>
        </p:txBody>
      </p:sp>
    </p:spTree>
    <p:extLst>
      <p:ext uri="{BB962C8B-B14F-4D97-AF65-F5344CB8AC3E}">
        <p14:creationId xmlns:p14="http://schemas.microsoft.com/office/powerpoint/2010/main" val="3096885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8093" y="175154"/>
            <a:ext cx="4412811" cy="523220"/>
          </a:xfrm>
          <a:prstGeom prst="rect">
            <a:avLst/>
          </a:prstGeom>
          <a:noFill/>
        </p:spPr>
        <p:txBody>
          <a:bodyPr wrap="none" rtlCol="0">
            <a:spAutoFit/>
          </a:bodyPr>
          <a:lstStyle/>
          <a:p>
            <a:r>
              <a:rPr lang="en-US" altLang="zh-CN" sz="2800" dirty="0">
                <a:solidFill>
                  <a:srgbClr val="FF0000"/>
                </a:solidFill>
              </a:rPr>
              <a:t>Tie triangle in ternary system</a:t>
            </a:r>
            <a:endParaRPr lang="zh-CN" altLang="en-US" sz="2800" dirty="0">
              <a:solidFill>
                <a:srgbClr val="FF0000"/>
              </a:solidFill>
            </a:endParaRPr>
          </a:p>
        </p:txBody>
      </p:sp>
      <p:pic>
        <p:nvPicPr>
          <p:cNvPr id="57346" name="Picture 2" descr="C:\Users\dell\AppData\Local\Temp\WeChat Files\93ac9b077aaf5ad8ae78b5b86d1cda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716" t="33748" r="21656" b="18501"/>
          <a:stretch/>
        </p:blipFill>
        <p:spPr bwMode="auto">
          <a:xfrm>
            <a:off x="251520" y="1587312"/>
            <a:ext cx="5743120" cy="30870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67543" y="1062028"/>
            <a:ext cx="1982081" cy="369332"/>
          </a:xfrm>
          <a:prstGeom prst="rect">
            <a:avLst/>
          </a:prstGeom>
          <a:noFill/>
        </p:spPr>
        <p:txBody>
          <a:bodyPr wrap="none" rtlCol="0">
            <a:spAutoFit/>
          </a:bodyPr>
          <a:lstStyle/>
          <a:p>
            <a:r>
              <a:rPr lang="en-US" altLang="zh-CN" dirty="0"/>
              <a:t>α, </a:t>
            </a:r>
            <a:r>
              <a:rPr lang="el-GR" altLang="zh-CN" dirty="0"/>
              <a:t>β</a:t>
            </a:r>
            <a:r>
              <a:rPr lang="en-US" altLang="zh-CN" dirty="0"/>
              <a:t>, </a:t>
            </a:r>
            <a:r>
              <a:rPr lang="el-GR" altLang="zh-CN" dirty="0"/>
              <a:t>γ</a:t>
            </a:r>
            <a:r>
              <a:rPr lang="en-US" altLang="zh-CN" dirty="0"/>
              <a:t>: new phases</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975752697"/>
              </p:ext>
            </p:extLst>
          </p:nvPr>
        </p:nvGraphicFramePr>
        <p:xfrm>
          <a:off x="5138687" y="3218076"/>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0" name=""/>
                      <p:cNvPicPr/>
                      <p:nvPr/>
                    </p:nvPicPr>
                    <p:blipFill>
                      <a:blip r:embed="rId4"/>
                      <a:stretch>
                        <a:fillRect/>
                      </a:stretch>
                    </p:blipFill>
                    <p:spPr>
                      <a:xfrm>
                        <a:off x="5138687" y="3218076"/>
                        <a:ext cx="914400" cy="19843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692462939"/>
              </p:ext>
            </p:extLst>
          </p:nvPr>
        </p:nvGraphicFramePr>
        <p:xfrm>
          <a:off x="457424" y="4878452"/>
          <a:ext cx="2520280" cy="588065"/>
        </p:xfrm>
        <a:graphic>
          <a:graphicData uri="http://schemas.openxmlformats.org/presentationml/2006/ole">
            <mc:AlternateContent xmlns:mc="http://schemas.openxmlformats.org/markup-compatibility/2006">
              <mc:Choice xmlns:v="urn:schemas-microsoft-com:vml" Requires="v">
                <p:oleObj name="Equation" r:id="rId5" imgW="1904760" imgH="444240" progId="Equation.DSMT4">
                  <p:embed/>
                </p:oleObj>
              </mc:Choice>
              <mc:Fallback>
                <p:oleObj name="Equation" r:id="rId5" imgW="1904760" imgH="444240" progId="Equation.DSMT4">
                  <p:embed/>
                  <p:pic>
                    <p:nvPicPr>
                      <p:cNvPr id="0" name=""/>
                      <p:cNvPicPr/>
                      <p:nvPr/>
                    </p:nvPicPr>
                    <p:blipFill>
                      <a:blip r:embed="rId6"/>
                      <a:stretch>
                        <a:fillRect/>
                      </a:stretch>
                    </p:blipFill>
                    <p:spPr>
                      <a:xfrm>
                        <a:off x="457424" y="4878452"/>
                        <a:ext cx="2520280" cy="588065"/>
                      </a:xfrm>
                      <a:prstGeom prst="rect">
                        <a:avLst/>
                      </a:prstGeom>
                      <a:solidFill>
                        <a:schemeClr val="accent6">
                          <a:lumMod val="60000"/>
                          <a:lumOff val="40000"/>
                        </a:schemeClr>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981191738"/>
              </p:ext>
            </p:extLst>
          </p:nvPr>
        </p:nvGraphicFramePr>
        <p:xfrm>
          <a:off x="458105" y="5670540"/>
          <a:ext cx="3983038" cy="587375"/>
        </p:xfrm>
        <a:graphic>
          <a:graphicData uri="http://schemas.openxmlformats.org/presentationml/2006/ole">
            <mc:AlternateContent xmlns:mc="http://schemas.openxmlformats.org/markup-compatibility/2006">
              <mc:Choice xmlns:v="urn:schemas-microsoft-com:vml" Requires="v">
                <p:oleObj name="Equation" r:id="rId7" imgW="3009600" imgH="444240" progId="Equation.DSMT4">
                  <p:embed/>
                </p:oleObj>
              </mc:Choice>
              <mc:Fallback>
                <p:oleObj name="Equation" r:id="rId7" imgW="3009600" imgH="444240" progId="Equation.DSMT4">
                  <p:embed/>
                  <p:pic>
                    <p:nvPicPr>
                      <p:cNvPr id="0" name="对象 4"/>
                      <p:cNvPicPr>
                        <a:picLocks noChangeAspect="1" noChangeArrowheads="1"/>
                      </p:cNvPicPr>
                      <p:nvPr/>
                    </p:nvPicPr>
                    <p:blipFill>
                      <a:blip r:embed="rId8"/>
                      <a:srcRect/>
                      <a:stretch>
                        <a:fillRect/>
                      </a:stretch>
                    </p:blipFill>
                    <p:spPr bwMode="auto">
                      <a:xfrm>
                        <a:off x="458105" y="5670540"/>
                        <a:ext cx="3983038" cy="587375"/>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19628357"/>
              </p:ext>
            </p:extLst>
          </p:nvPr>
        </p:nvGraphicFramePr>
        <p:xfrm>
          <a:off x="6156176" y="2348880"/>
          <a:ext cx="2452687" cy="973137"/>
        </p:xfrm>
        <a:graphic>
          <a:graphicData uri="http://schemas.openxmlformats.org/presentationml/2006/ole">
            <mc:AlternateContent xmlns:mc="http://schemas.openxmlformats.org/markup-compatibility/2006">
              <mc:Choice xmlns:v="urn:schemas-microsoft-com:vml" Requires="v">
                <p:oleObj name="Equation" r:id="rId9" imgW="1854000" imgH="736560" progId="Equation.DSMT4">
                  <p:embed/>
                </p:oleObj>
              </mc:Choice>
              <mc:Fallback>
                <p:oleObj name="Equation" r:id="rId9" imgW="1854000" imgH="736560" progId="Equation.DSMT4">
                  <p:embed/>
                  <p:pic>
                    <p:nvPicPr>
                      <p:cNvPr id="0" name="对象 4"/>
                      <p:cNvPicPr>
                        <a:picLocks noChangeAspect="1" noChangeArrowheads="1"/>
                      </p:cNvPicPr>
                      <p:nvPr/>
                    </p:nvPicPr>
                    <p:blipFill>
                      <a:blip r:embed="rId10"/>
                      <a:srcRect/>
                      <a:stretch>
                        <a:fillRect/>
                      </a:stretch>
                    </p:blipFill>
                    <p:spPr bwMode="auto">
                      <a:xfrm>
                        <a:off x="6156176" y="2348880"/>
                        <a:ext cx="2452687" cy="973137"/>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529014075"/>
              </p:ext>
            </p:extLst>
          </p:nvPr>
        </p:nvGraphicFramePr>
        <p:xfrm>
          <a:off x="5364088" y="4869160"/>
          <a:ext cx="3662363" cy="1677987"/>
        </p:xfrm>
        <a:graphic>
          <a:graphicData uri="http://schemas.openxmlformats.org/presentationml/2006/ole">
            <mc:AlternateContent xmlns:mc="http://schemas.openxmlformats.org/markup-compatibility/2006">
              <mc:Choice xmlns:v="urn:schemas-microsoft-com:vml" Requires="v">
                <p:oleObj name="Equation" r:id="rId11" imgW="2768400" imgH="1269720" progId="Equation.DSMT4">
                  <p:embed/>
                </p:oleObj>
              </mc:Choice>
              <mc:Fallback>
                <p:oleObj name="Equation" r:id="rId11" imgW="2768400" imgH="1269720" progId="Equation.DSMT4">
                  <p:embed/>
                  <p:pic>
                    <p:nvPicPr>
                      <p:cNvPr id="0" name="对象 7"/>
                      <p:cNvPicPr>
                        <a:picLocks noChangeAspect="1" noChangeArrowheads="1"/>
                      </p:cNvPicPr>
                      <p:nvPr/>
                    </p:nvPicPr>
                    <p:blipFill>
                      <a:blip r:embed="rId12"/>
                      <a:srcRect/>
                      <a:stretch>
                        <a:fillRect/>
                      </a:stretch>
                    </p:blipFill>
                    <p:spPr bwMode="auto">
                      <a:xfrm>
                        <a:off x="5364088" y="4869160"/>
                        <a:ext cx="3662363" cy="1677987"/>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584520774"/>
              </p:ext>
            </p:extLst>
          </p:nvPr>
        </p:nvGraphicFramePr>
        <p:xfrm>
          <a:off x="6743154" y="3933056"/>
          <a:ext cx="1130300" cy="203200"/>
        </p:xfrm>
        <a:graphic>
          <a:graphicData uri="http://schemas.openxmlformats.org/presentationml/2006/ole">
            <mc:AlternateContent xmlns:mc="http://schemas.openxmlformats.org/markup-compatibility/2006">
              <mc:Choice xmlns:v="urn:schemas-microsoft-com:vml" Requires="v">
                <p:oleObj name="Equation" r:id="rId13" imgW="1130040" imgH="203040" progId="Equation.DSMT4">
                  <p:embed/>
                </p:oleObj>
              </mc:Choice>
              <mc:Fallback>
                <p:oleObj name="Equation" r:id="rId13" imgW="1130040" imgH="203040" progId="Equation.DSMT4">
                  <p:embed/>
                  <p:pic>
                    <p:nvPicPr>
                      <p:cNvPr id="0" name=""/>
                      <p:cNvPicPr/>
                      <p:nvPr/>
                    </p:nvPicPr>
                    <p:blipFill>
                      <a:blip r:embed="rId14"/>
                      <a:stretch>
                        <a:fillRect/>
                      </a:stretch>
                    </p:blipFill>
                    <p:spPr>
                      <a:xfrm>
                        <a:off x="6743154" y="3933056"/>
                        <a:ext cx="1130300" cy="203200"/>
                      </a:xfrm>
                      <a:prstGeom prst="rect">
                        <a:avLst/>
                      </a:prstGeom>
                    </p:spPr>
                  </p:pic>
                </p:oleObj>
              </mc:Fallback>
            </mc:AlternateContent>
          </a:graphicData>
        </a:graphic>
      </p:graphicFrame>
      <p:cxnSp>
        <p:nvCxnSpPr>
          <p:cNvPr id="14" name="直接箭头连接符 13"/>
          <p:cNvCxnSpPr/>
          <p:nvPr/>
        </p:nvCxnSpPr>
        <p:spPr>
          <a:xfrm>
            <a:off x="7308304" y="3429000"/>
            <a:ext cx="0"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7308304" y="4221088"/>
            <a:ext cx="0" cy="4532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51920" y="1062028"/>
            <a:ext cx="1404552" cy="369332"/>
          </a:xfrm>
          <a:prstGeom prst="rect">
            <a:avLst/>
          </a:prstGeom>
          <a:noFill/>
        </p:spPr>
        <p:txBody>
          <a:bodyPr wrap="none" rtlCol="0">
            <a:spAutoFit/>
          </a:bodyPr>
          <a:lstStyle/>
          <a:p>
            <a:r>
              <a:rPr lang="en-US" altLang="zh-CN" dirty="0"/>
              <a:t>Tie (</a:t>
            </a:r>
            <a:r>
              <a:rPr lang="zh-CN" altLang="en-US" dirty="0"/>
              <a:t>结线</a:t>
            </a:r>
            <a:r>
              <a:rPr lang="en-US" altLang="zh-CN" dirty="0"/>
              <a:t>)</a:t>
            </a:r>
            <a:r>
              <a:rPr lang="zh-CN" altLang="en-US" dirty="0"/>
              <a:t>： </a:t>
            </a:r>
          </a:p>
        </p:txBody>
      </p:sp>
    </p:spTree>
    <p:extLst>
      <p:ext uri="{BB962C8B-B14F-4D97-AF65-F5344CB8AC3E}">
        <p14:creationId xmlns:p14="http://schemas.microsoft.com/office/powerpoint/2010/main" val="2205736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35677"/>
            <a:ext cx="5634428" cy="461665"/>
          </a:xfrm>
          <a:prstGeom prst="rect">
            <a:avLst/>
          </a:prstGeom>
          <a:noFill/>
        </p:spPr>
        <p:txBody>
          <a:bodyPr wrap="none" rtlCol="0">
            <a:spAutoFit/>
          </a:bodyPr>
          <a:lstStyle/>
          <a:p>
            <a:r>
              <a:rPr lang="en-US" altLang="zh-CN" sz="2400" dirty="0">
                <a:solidFill>
                  <a:srgbClr val="FF0000"/>
                </a:solidFill>
              </a:rPr>
              <a:t>Ternary complete liquid and solid solutions</a:t>
            </a:r>
          </a:p>
        </p:txBody>
      </p:sp>
      <p:sp>
        <p:nvSpPr>
          <p:cNvPr id="3" name="TextBox 2"/>
          <p:cNvSpPr txBox="1"/>
          <p:nvPr/>
        </p:nvSpPr>
        <p:spPr>
          <a:xfrm>
            <a:off x="1475656" y="908720"/>
            <a:ext cx="1710725" cy="369332"/>
          </a:xfrm>
          <a:prstGeom prst="rect">
            <a:avLst/>
          </a:prstGeom>
          <a:noFill/>
        </p:spPr>
        <p:txBody>
          <a:bodyPr wrap="none" rtlCol="0">
            <a:spAutoFit/>
          </a:bodyPr>
          <a:lstStyle/>
          <a:p>
            <a:r>
              <a:rPr lang="en-US" altLang="zh-CN" dirty="0"/>
              <a:t>(</a:t>
            </a:r>
            <a:r>
              <a:rPr lang="zh-CN" altLang="en-US" dirty="0"/>
              <a:t>三元均晶相图</a:t>
            </a:r>
            <a:r>
              <a:rPr lang="en-US" altLang="zh-CN" dirty="0"/>
              <a:t>)</a:t>
            </a:r>
            <a:endParaRPr lang="zh-CN" altLang="en-US" dirty="0"/>
          </a:p>
        </p:txBody>
      </p:sp>
      <p:sp>
        <p:nvSpPr>
          <p:cNvPr id="4" name="TextBox 3"/>
          <p:cNvSpPr txBox="1"/>
          <p:nvPr/>
        </p:nvSpPr>
        <p:spPr>
          <a:xfrm>
            <a:off x="251520" y="1700808"/>
            <a:ext cx="2758063" cy="369332"/>
          </a:xfrm>
          <a:prstGeom prst="rect">
            <a:avLst/>
          </a:prstGeom>
          <a:noFill/>
        </p:spPr>
        <p:txBody>
          <a:bodyPr wrap="none" rtlCol="0">
            <a:spAutoFit/>
          </a:bodyPr>
          <a:lstStyle/>
          <a:p>
            <a:r>
              <a:rPr lang="en-US" altLang="zh-CN" dirty="0"/>
              <a:t>1. Binary boundary systems</a:t>
            </a:r>
            <a:endParaRPr lang="zh-CN" altLang="en-US" dirty="0"/>
          </a:p>
        </p:txBody>
      </p:sp>
      <p:pic>
        <p:nvPicPr>
          <p:cNvPr id="58370" name="Picture 2" descr="C:\Users\dell\AppData\Local\Temp\WeChat Files\e877cea1cde84e14a5614b6229ddf89.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535" t="43256" r="10116" b="13489"/>
          <a:stretch/>
        </p:blipFill>
        <p:spPr bwMode="auto">
          <a:xfrm>
            <a:off x="397731" y="2492896"/>
            <a:ext cx="7804297" cy="2966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184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5" name="Picture 3" descr="C:\Users\dell\AppData\Local\Temp\WeChat Files\15e8368e651d1e8922384683e89d92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076" t="41907" r="7343" b="11124"/>
          <a:stretch/>
        </p:blipFill>
        <p:spPr bwMode="auto">
          <a:xfrm>
            <a:off x="1175597" y="3717032"/>
            <a:ext cx="6912768" cy="2845393"/>
          </a:xfrm>
          <a:prstGeom prst="rect">
            <a:avLst/>
          </a:prstGeom>
          <a:noFill/>
          <a:extLst>
            <a:ext uri="{909E8E84-426E-40DD-AFC4-6F175D3DCCD1}">
              <a14:hiddenFill xmlns:a14="http://schemas.microsoft.com/office/drawing/2010/main">
                <a:solidFill>
                  <a:srgbClr val="FFFFFF"/>
                </a:solidFill>
              </a14:hiddenFill>
            </a:ext>
          </a:extLst>
        </p:spPr>
      </p:pic>
      <p:pic>
        <p:nvPicPr>
          <p:cNvPr id="59396" name="Picture 4" descr="C:\Users\dell\AppData\Local\Temp\WeChat Files\148db20d3c93d7c3f214fa7d7aabc53.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4888" t="19353" r="16903" b="22537"/>
          <a:stretch/>
        </p:blipFill>
        <p:spPr bwMode="auto">
          <a:xfrm rot="5400000">
            <a:off x="4991987" y="344718"/>
            <a:ext cx="3252455" cy="2940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95536" y="188640"/>
            <a:ext cx="3281668" cy="584775"/>
          </a:xfrm>
          <a:prstGeom prst="rect">
            <a:avLst/>
          </a:prstGeom>
          <a:noFill/>
        </p:spPr>
        <p:txBody>
          <a:bodyPr wrap="none" rtlCol="0">
            <a:spAutoFit/>
          </a:bodyPr>
          <a:lstStyle/>
          <a:p>
            <a:r>
              <a:rPr lang="en-US" altLang="zh-CN" sz="3200" dirty="0">
                <a:solidFill>
                  <a:srgbClr val="FF0000"/>
                </a:solidFill>
              </a:rPr>
              <a:t>Isothermal section</a:t>
            </a:r>
            <a:endParaRPr lang="zh-CN" altLang="en-US" sz="3200" dirty="0">
              <a:solidFill>
                <a:srgbClr val="FF0000"/>
              </a:solidFill>
            </a:endParaRPr>
          </a:p>
        </p:txBody>
      </p:sp>
    </p:spTree>
    <p:extLst>
      <p:ext uri="{BB962C8B-B14F-4D97-AF65-F5344CB8AC3E}">
        <p14:creationId xmlns:p14="http://schemas.microsoft.com/office/powerpoint/2010/main" val="4172135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0860" y="117512"/>
            <a:ext cx="2732030" cy="584775"/>
          </a:xfrm>
          <a:prstGeom prst="rect">
            <a:avLst/>
          </a:prstGeom>
          <a:noFill/>
        </p:spPr>
        <p:txBody>
          <a:bodyPr wrap="none" rtlCol="0">
            <a:spAutoFit/>
          </a:bodyPr>
          <a:lstStyle/>
          <a:p>
            <a:r>
              <a:rPr lang="en-US" altLang="zh-CN" sz="3200" dirty="0">
                <a:solidFill>
                  <a:srgbClr val="FF0000"/>
                </a:solidFill>
              </a:rPr>
              <a:t>Vertical section</a:t>
            </a:r>
            <a:endParaRPr lang="zh-CN" altLang="en-US" sz="3200" dirty="0">
              <a:solidFill>
                <a:srgbClr val="FF0000"/>
              </a:solidFill>
            </a:endParaRPr>
          </a:p>
        </p:txBody>
      </p:sp>
      <p:pic>
        <p:nvPicPr>
          <p:cNvPr id="61442" name="Picture 2" descr="C:\Users\dell\AppData\Local\Temp\WeChat Files\0ff6a2b7969c683f8e5927fa7534ec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641" t="13035" r="22537" b="4378"/>
          <a:stretch/>
        </p:blipFill>
        <p:spPr bwMode="auto">
          <a:xfrm>
            <a:off x="351678" y="1196752"/>
            <a:ext cx="4666134" cy="439103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952192" y="4292085"/>
            <a:ext cx="237566" cy="369332"/>
          </a:xfrm>
          <a:prstGeom prst="rect">
            <a:avLst/>
          </a:prstGeom>
        </p:spPr>
        <p:txBody>
          <a:bodyPr wrap="none">
            <a:spAutoFit/>
          </a:bodyPr>
          <a:lstStyle/>
          <a:p>
            <a:r>
              <a:rPr lang="zh-CN" altLang="en-US" dirty="0"/>
              <a:t> </a:t>
            </a:r>
          </a:p>
        </p:txBody>
      </p:sp>
      <p:pic>
        <p:nvPicPr>
          <p:cNvPr id="61443" name="Picture 3" descr="C:\Users\dell\AppData\Local\Temp\WeChat Files\30dc0dd0c4eeff33b73db54f551d588.jp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52976" b="92692" l="17312" r="46949">
                        <a14:backgroundMark x1="42361" y1="88360" x2="42361" y2="88360"/>
                        <a14:backgroundMark x1="22867" y1="88856" x2="22867" y2="88856"/>
                        <a14:backgroundMark x1="20734" y1="64749" x2="20734" y2="64749"/>
                        <a14:backgroundMark x1="33061" y1="63128" x2="33061" y2="63128"/>
                        <a14:backgroundMark x1="25347" y1="55258" x2="25347" y2="55258"/>
                      </a14:backgroundRemoval>
                    </a14:imgEffect>
                  </a14:imgLayer>
                </a14:imgProps>
              </a:ext>
              <a:ext uri="{28A0092B-C50C-407E-A947-70E740481C1C}">
                <a14:useLocalDpi xmlns:a14="http://schemas.microsoft.com/office/drawing/2010/main" val="0"/>
              </a:ext>
            </a:extLst>
          </a:blip>
          <a:srcRect l="16859" t="52246" r="54780" b="8948"/>
          <a:stretch/>
        </p:blipFill>
        <p:spPr bwMode="auto">
          <a:xfrm rot="5682472">
            <a:off x="5165675" y="1051590"/>
            <a:ext cx="2593361" cy="26613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rot="16200000">
            <a:off x="5183807" y="2197581"/>
            <a:ext cx="632674" cy="369332"/>
          </a:xfrm>
          <a:prstGeom prst="rect">
            <a:avLst/>
          </a:prstGeom>
          <a:noFill/>
        </p:spPr>
        <p:txBody>
          <a:bodyPr wrap="none" rtlCol="0">
            <a:spAutoFit/>
          </a:bodyPr>
          <a:lstStyle/>
          <a:p>
            <a:r>
              <a:rPr lang="en-US" altLang="zh-CN" dirty="0"/>
              <a:t>T/ </a:t>
            </a:r>
            <a:r>
              <a:rPr lang="en-US" altLang="zh-CN" baseline="30000" dirty="0" err="1"/>
              <a:t>o</a:t>
            </a:r>
            <a:r>
              <a:rPr lang="en-US" altLang="zh-CN" dirty="0" err="1"/>
              <a:t>C</a:t>
            </a:r>
            <a:endParaRPr lang="en-US" altLang="zh-CN" dirty="0"/>
          </a:p>
        </p:txBody>
      </p:sp>
      <p:sp>
        <p:nvSpPr>
          <p:cNvPr id="5" name="TextBox 4"/>
          <p:cNvSpPr txBox="1"/>
          <p:nvPr/>
        </p:nvSpPr>
        <p:spPr>
          <a:xfrm>
            <a:off x="5500144" y="3260547"/>
            <a:ext cx="471604" cy="523220"/>
          </a:xfrm>
          <a:prstGeom prst="rect">
            <a:avLst/>
          </a:prstGeom>
          <a:noFill/>
        </p:spPr>
        <p:txBody>
          <a:bodyPr wrap="none" rtlCol="0">
            <a:spAutoFit/>
          </a:bodyPr>
          <a:lstStyle/>
          <a:p>
            <a:r>
              <a:rPr lang="en-US" altLang="zh-CN" sz="1400" dirty="0"/>
              <a:t>80A</a:t>
            </a:r>
          </a:p>
          <a:p>
            <a:r>
              <a:rPr lang="en-US" altLang="zh-CN" sz="1400" dirty="0"/>
              <a:t>20C</a:t>
            </a:r>
            <a:endParaRPr lang="zh-CN" altLang="en-US" sz="1400" dirty="0"/>
          </a:p>
        </p:txBody>
      </p:sp>
      <p:sp>
        <p:nvSpPr>
          <p:cNvPr id="8" name="TextBox 7"/>
          <p:cNvSpPr txBox="1"/>
          <p:nvPr/>
        </p:nvSpPr>
        <p:spPr>
          <a:xfrm>
            <a:off x="7236296" y="3260547"/>
            <a:ext cx="471604" cy="523220"/>
          </a:xfrm>
          <a:prstGeom prst="rect">
            <a:avLst/>
          </a:prstGeom>
          <a:noFill/>
        </p:spPr>
        <p:txBody>
          <a:bodyPr wrap="none" rtlCol="0">
            <a:spAutoFit/>
          </a:bodyPr>
          <a:lstStyle/>
          <a:p>
            <a:r>
              <a:rPr lang="en-US" altLang="zh-CN" sz="1400" dirty="0"/>
              <a:t>80B</a:t>
            </a:r>
          </a:p>
          <a:p>
            <a:r>
              <a:rPr lang="en-US" altLang="zh-CN" sz="1400" dirty="0"/>
              <a:t>20C</a:t>
            </a:r>
            <a:endParaRPr lang="zh-CN" altLang="en-US" sz="1400" dirty="0"/>
          </a:p>
        </p:txBody>
      </p:sp>
      <p:pic>
        <p:nvPicPr>
          <p:cNvPr id="61445" name="Picture 5" descr="C:\Users\dell\AppData\Local\Temp\WeChat Files\30dc0dd0c4eeff33b73db54f551d588.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405" t="2940" r="56711" b="53032"/>
          <a:stretch/>
        </p:blipFill>
        <p:spPr bwMode="auto">
          <a:xfrm rot="5575169">
            <a:off x="5584044" y="3766342"/>
            <a:ext cx="2171313" cy="23215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96875" y="6082250"/>
            <a:ext cx="5147563" cy="369332"/>
          </a:xfrm>
          <a:prstGeom prst="rect">
            <a:avLst/>
          </a:prstGeom>
          <a:noFill/>
        </p:spPr>
        <p:txBody>
          <a:bodyPr wrap="none" rtlCol="0">
            <a:spAutoFit/>
          </a:bodyPr>
          <a:lstStyle/>
          <a:p>
            <a:r>
              <a:rPr lang="zh-CN" altLang="en-US" dirty="0"/>
              <a:t>注</a:t>
            </a:r>
            <a:r>
              <a:rPr lang="en-US" altLang="zh-CN" dirty="0"/>
              <a:t>: </a:t>
            </a:r>
            <a:r>
              <a:rPr lang="zh-CN" altLang="en-US" dirty="0"/>
              <a:t>不能随便在垂直界面上标注表示结线的水平线</a:t>
            </a:r>
          </a:p>
        </p:txBody>
      </p:sp>
    </p:spTree>
    <p:extLst>
      <p:ext uri="{BB962C8B-B14F-4D97-AF65-F5344CB8AC3E}">
        <p14:creationId xmlns:p14="http://schemas.microsoft.com/office/powerpoint/2010/main" val="1738370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C:\Users\dell\AppData\Local\Temp\WeChat Files\30dc0dd0c4eeff33b73db54f551d588.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1754" t="16766" r="5261" b="32289"/>
          <a:stretch/>
        </p:blipFill>
        <p:spPr bwMode="auto">
          <a:xfrm rot="5400000">
            <a:off x="1778057" y="966359"/>
            <a:ext cx="4728235" cy="54770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39552" y="260648"/>
            <a:ext cx="2316660" cy="584775"/>
          </a:xfrm>
          <a:prstGeom prst="rect">
            <a:avLst/>
          </a:prstGeom>
          <a:noFill/>
        </p:spPr>
        <p:txBody>
          <a:bodyPr wrap="none" rtlCol="0">
            <a:spAutoFit/>
          </a:bodyPr>
          <a:lstStyle/>
          <a:p>
            <a:r>
              <a:rPr lang="en-US" altLang="zh-CN" sz="3200" dirty="0">
                <a:solidFill>
                  <a:srgbClr val="FF0000"/>
                </a:solidFill>
              </a:rPr>
              <a:t>Space model</a:t>
            </a:r>
          </a:p>
        </p:txBody>
      </p:sp>
    </p:spTree>
    <p:extLst>
      <p:ext uri="{BB962C8B-B14F-4D97-AF65-F5344CB8AC3E}">
        <p14:creationId xmlns:p14="http://schemas.microsoft.com/office/powerpoint/2010/main" val="3904895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C:\Users\dell\AppData\Local\Temp\WeChat Files\6518c0a4d625607a58ef63e213e7ca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4030418" y="1690328"/>
            <a:ext cx="5484779" cy="4113584"/>
          </a:xfrm>
          <a:prstGeom prst="rect">
            <a:avLst/>
          </a:prstGeom>
          <a:noFill/>
          <a:extLst>
            <a:ext uri="{909E8E84-426E-40DD-AFC4-6F175D3DCCD1}">
              <a14:hiddenFill xmlns:a14="http://schemas.microsoft.com/office/drawing/2010/main">
                <a:solidFill>
                  <a:srgbClr val="FFFFFF"/>
                </a:solidFill>
              </a14:hiddenFill>
            </a:ext>
          </a:extLst>
        </p:spPr>
      </p:pic>
      <p:pic>
        <p:nvPicPr>
          <p:cNvPr id="63491" name="Picture 3" descr="C:\Users\dell\AppData\Local\Temp\WeChat Files\1b6c9d91c32152f15e99574c4a6c08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431204" y="1726332"/>
            <a:ext cx="5388768" cy="40415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11560" y="116632"/>
            <a:ext cx="2990114" cy="584775"/>
          </a:xfrm>
          <a:prstGeom prst="rect">
            <a:avLst/>
          </a:prstGeom>
          <a:noFill/>
        </p:spPr>
        <p:txBody>
          <a:bodyPr wrap="none" rtlCol="0">
            <a:spAutoFit/>
          </a:bodyPr>
          <a:lstStyle/>
          <a:p>
            <a:r>
              <a:rPr lang="en-US" altLang="zh-CN" sz="3200" dirty="0">
                <a:solidFill>
                  <a:srgbClr val="FF0000"/>
                </a:solidFill>
              </a:rPr>
              <a:t>Ag-Au-</a:t>
            </a:r>
            <a:r>
              <a:rPr lang="en-US" altLang="zh-CN" sz="3200" dirty="0" err="1">
                <a:solidFill>
                  <a:srgbClr val="FF0000"/>
                </a:solidFill>
              </a:rPr>
              <a:t>Pd</a:t>
            </a:r>
            <a:r>
              <a:rPr lang="en-US" altLang="zh-CN" sz="3200" dirty="0">
                <a:solidFill>
                  <a:srgbClr val="FF0000"/>
                </a:solidFill>
              </a:rPr>
              <a:t> system</a:t>
            </a:r>
            <a:endParaRPr lang="zh-CN" altLang="en-US" sz="3200" dirty="0">
              <a:solidFill>
                <a:srgbClr val="FF0000"/>
              </a:solidFill>
            </a:endParaRPr>
          </a:p>
        </p:txBody>
      </p:sp>
    </p:spTree>
    <p:extLst>
      <p:ext uri="{BB962C8B-B14F-4D97-AF65-F5344CB8AC3E}">
        <p14:creationId xmlns:p14="http://schemas.microsoft.com/office/powerpoint/2010/main" val="2404958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1640" y="292006"/>
            <a:ext cx="4478214" cy="461665"/>
          </a:xfrm>
          <a:prstGeom prst="rect">
            <a:avLst/>
          </a:prstGeom>
          <a:noFill/>
        </p:spPr>
        <p:txBody>
          <a:bodyPr wrap="none" rtlCol="0">
            <a:spAutoFit/>
          </a:bodyPr>
          <a:lstStyle/>
          <a:p>
            <a:r>
              <a:rPr lang="en-US" altLang="zh-CN" sz="2400" dirty="0">
                <a:solidFill>
                  <a:srgbClr val="FF0000"/>
                </a:solidFill>
              </a:rPr>
              <a:t>Ternary system with Eutectic point</a:t>
            </a:r>
          </a:p>
        </p:txBody>
      </p:sp>
      <p:pic>
        <p:nvPicPr>
          <p:cNvPr id="64514" name="Picture 2" descr="C:\Users\dell\AppData\Local\Temp\WeChat Files\d0dc6eac86ce991ed6216fa4955d0d7.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8871" t="25274" r="8562" b="22547"/>
          <a:stretch/>
        </p:blipFill>
        <p:spPr bwMode="auto">
          <a:xfrm rot="5400000">
            <a:off x="5921470" y="4038943"/>
            <a:ext cx="2626540" cy="2414767"/>
          </a:xfrm>
          <a:prstGeom prst="rect">
            <a:avLst/>
          </a:prstGeom>
          <a:noFill/>
          <a:extLst>
            <a:ext uri="{909E8E84-426E-40DD-AFC4-6F175D3DCCD1}">
              <a14:hiddenFill xmlns:a14="http://schemas.microsoft.com/office/drawing/2010/main">
                <a:solidFill>
                  <a:srgbClr val="FFFFFF"/>
                </a:solidFill>
              </a14:hiddenFill>
            </a:ext>
          </a:extLst>
        </p:spPr>
      </p:pic>
      <p:pic>
        <p:nvPicPr>
          <p:cNvPr id="64516" name="Picture 4" descr="C:\Users\dell\AppData\Local\Temp\WeChat Files\4adfe31f0d54ff8ecd496bb6aa9d04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256" t="40332" r="8983" b="18502"/>
          <a:stretch/>
        </p:blipFill>
        <p:spPr bwMode="auto">
          <a:xfrm>
            <a:off x="1331640" y="908720"/>
            <a:ext cx="7110484" cy="28231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331640" y="4322996"/>
            <a:ext cx="2638286" cy="923330"/>
          </a:xfrm>
          <a:prstGeom prst="rect">
            <a:avLst/>
          </a:prstGeom>
          <a:noFill/>
        </p:spPr>
        <p:txBody>
          <a:bodyPr wrap="none" rtlCol="0">
            <a:spAutoFit/>
          </a:bodyPr>
          <a:lstStyle/>
          <a:p>
            <a:r>
              <a:rPr lang="en-US" altLang="zh-CN" dirty="0"/>
              <a:t>Melting grooves ( </a:t>
            </a:r>
            <a:r>
              <a:rPr lang="zh-CN" altLang="en-US" dirty="0"/>
              <a:t>熔化沟</a:t>
            </a:r>
            <a:r>
              <a:rPr lang="en-US" altLang="zh-CN" dirty="0"/>
              <a:t>)</a:t>
            </a:r>
          </a:p>
          <a:p>
            <a:r>
              <a:rPr lang="en-US" altLang="zh-CN" dirty="0" err="1"/>
              <a:t>Univariant</a:t>
            </a:r>
            <a:r>
              <a:rPr lang="en-US" altLang="zh-CN" dirty="0"/>
              <a:t> line </a:t>
            </a:r>
          </a:p>
          <a:p>
            <a:r>
              <a:rPr lang="en-US" altLang="zh-CN" dirty="0" err="1"/>
              <a:t>Univariant</a:t>
            </a:r>
            <a:r>
              <a:rPr lang="en-US" altLang="zh-CN" dirty="0"/>
              <a:t> valleys</a:t>
            </a:r>
            <a:endParaRPr lang="zh-CN" altLang="en-US" dirty="0"/>
          </a:p>
        </p:txBody>
      </p:sp>
    </p:spTree>
    <p:extLst>
      <p:ext uri="{BB962C8B-B14F-4D97-AF65-F5344CB8AC3E}">
        <p14:creationId xmlns:p14="http://schemas.microsoft.com/office/powerpoint/2010/main" val="866337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dell\AppData\Local\Temp\WeChat Files\173acbfdca6005cf97f0cf1f19500b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3400" b="8093"/>
          <a:stretch/>
        </p:blipFill>
        <p:spPr bwMode="auto">
          <a:xfrm>
            <a:off x="1547664" y="3645024"/>
            <a:ext cx="6408712" cy="281218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73805" y="145304"/>
            <a:ext cx="4478214" cy="461665"/>
          </a:xfrm>
          <a:prstGeom prst="rect">
            <a:avLst/>
          </a:prstGeom>
          <a:noFill/>
        </p:spPr>
        <p:txBody>
          <a:bodyPr wrap="none" rtlCol="0">
            <a:spAutoFit/>
          </a:bodyPr>
          <a:lstStyle/>
          <a:p>
            <a:r>
              <a:rPr lang="en-US" altLang="zh-CN" sz="2400" dirty="0">
                <a:solidFill>
                  <a:srgbClr val="FF0000"/>
                </a:solidFill>
              </a:rPr>
              <a:t>Ternary system with Eutectic point</a:t>
            </a:r>
          </a:p>
        </p:txBody>
      </p:sp>
      <p:pic>
        <p:nvPicPr>
          <p:cNvPr id="65538" name="Picture 2" descr="C:\Users\dell\AppData\Local\Temp\WeChat Files\ec9e5ebf5083d1f806f759832718836.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657" t="43582" r="11940" b="16816"/>
          <a:stretch/>
        </p:blipFill>
        <p:spPr bwMode="auto">
          <a:xfrm>
            <a:off x="1121715" y="774143"/>
            <a:ext cx="7260609" cy="2715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689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C:\Users\dell\AppData\Local\Temp\WeChat Files\e1f4b5fdc6a16f46931b9d8d9b4efd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2388" t="29652" r="24477" b="13035"/>
          <a:stretch/>
        </p:blipFill>
        <p:spPr bwMode="auto">
          <a:xfrm>
            <a:off x="200804" y="1445306"/>
            <a:ext cx="4858603" cy="39305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403648" y="188640"/>
            <a:ext cx="2452916" cy="523220"/>
          </a:xfrm>
          <a:prstGeom prst="rect">
            <a:avLst/>
          </a:prstGeom>
          <a:noFill/>
        </p:spPr>
        <p:txBody>
          <a:bodyPr wrap="none" rtlCol="0">
            <a:spAutoFit/>
          </a:bodyPr>
          <a:lstStyle/>
          <a:p>
            <a:r>
              <a:rPr lang="en-US" altLang="zh-CN" sz="2800" dirty="0" err="1">
                <a:solidFill>
                  <a:srgbClr val="FF0000"/>
                </a:solidFill>
              </a:rPr>
              <a:t>CaO-MgO-MnO</a:t>
            </a:r>
            <a:endParaRPr lang="zh-CN" altLang="en-US" sz="2800" dirty="0">
              <a:solidFill>
                <a:srgbClr val="FF0000"/>
              </a:solidFill>
            </a:endParaRPr>
          </a:p>
        </p:txBody>
      </p:sp>
      <p:pic>
        <p:nvPicPr>
          <p:cNvPr id="70659" name="Picture 3" descr="C:\Users\dell\AppData\Local\Temp\WeChat Files\c1e1493dd91c04f8e85e9d157f1cc05.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4329" t="27860" r="18021" b="10448"/>
          <a:stretch/>
        </p:blipFill>
        <p:spPr bwMode="auto">
          <a:xfrm>
            <a:off x="5256584" y="1775462"/>
            <a:ext cx="3707904"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7097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16632"/>
            <a:ext cx="5982022" cy="523220"/>
          </a:xfrm>
          <a:prstGeom prst="rect">
            <a:avLst/>
          </a:prstGeom>
          <a:noFill/>
        </p:spPr>
        <p:txBody>
          <a:bodyPr wrap="none" rtlCol="0">
            <a:spAutoFit/>
          </a:bodyPr>
          <a:lstStyle/>
          <a:p>
            <a:r>
              <a:rPr lang="en-US" altLang="zh-CN" sz="2800" dirty="0">
                <a:solidFill>
                  <a:srgbClr val="FF0000"/>
                </a:solidFill>
              </a:rPr>
              <a:t>Ternary system with two Eutectic points</a:t>
            </a:r>
          </a:p>
        </p:txBody>
      </p:sp>
      <p:pic>
        <p:nvPicPr>
          <p:cNvPr id="66562" name="Picture 2" descr="C:\Users\dell\AppData\Local\Temp\WeChat Files\f2c4a8536a1c063901ffab043a28f0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7612"/>
          <a:stretch/>
        </p:blipFill>
        <p:spPr bwMode="auto">
          <a:xfrm>
            <a:off x="539552" y="1196752"/>
            <a:ext cx="7862118" cy="4858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626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C:\Users\dell\AppData\Local\Temp\WeChat Files\6320081d1b96e52a2ada3ef3e2fcf18.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194" t="8955" r="15821" b="3482"/>
          <a:stretch/>
        </p:blipFill>
        <p:spPr bwMode="auto">
          <a:xfrm>
            <a:off x="1763688" y="260648"/>
            <a:ext cx="6840760" cy="615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87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C:\Users\dell\AppData\Local\Temp\WeChat Files\c9799f995ffafcd3982029a4b7c75d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911" t="28259" r="12686" b="11443"/>
          <a:stretch/>
        </p:blipFill>
        <p:spPr bwMode="auto">
          <a:xfrm>
            <a:off x="107504" y="1257613"/>
            <a:ext cx="8344373" cy="4752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23528" y="116632"/>
            <a:ext cx="5982022" cy="523220"/>
          </a:xfrm>
          <a:prstGeom prst="rect">
            <a:avLst/>
          </a:prstGeom>
          <a:noFill/>
        </p:spPr>
        <p:txBody>
          <a:bodyPr wrap="none" rtlCol="0">
            <a:spAutoFit/>
          </a:bodyPr>
          <a:lstStyle/>
          <a:p>
            <a:r>
              <a:rPr lang="en-US" altLang="zh-CN" sz="2800" dirty="0">
                <a:solidFill>
                  <a:srgbClr val="FF0000"/>
                </a:solidFill>
              </a:rPr>
              <a:t>Ternary system with two Eutectic points</a:t>
            </a:r>
          </a:p>
        </p:txBody>
      </p:sp>
    </p:spTree>
    <p:extLst>
      <p:ext uri="{BB962C8B-B14F-4D97-AF65-F5344CB8AC3E}">
        <p14:creationId xmlns:p14="http://schemas.microsoft.com/office/powerpoint/2010/main" val="3109910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C:\Users\dell\AppData\Local\Temp\WeChat Files\16234089160b8dd0939113aa9ec36b3.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552" t="9752" r="26269" b="1691"/>
          <a:stretch/>
        </p:blipFill>
        <p:spPr bwMode="auto">
          <a:xfrm>
            <a:off x="3707904" y="188640"/>
            <a:ext cx="4954138" cy="6073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9355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4101" y="167097"/>
            <a:ext cx="5343001" cy="461665"/>
          </a:xfrm>
          <a:prstGeom prst="rect">
            <a:avLst/>
          </a:prstGeom>
          <a:noFill/>
        </p:spPr>
        <p:txBody>
          <a:bodyPr wrap="none" rtlCol="0">
            <a:spAutoFit/>
          </a:bodyPr>
          <a:lstStyle/>
          <a:p>
            <a:r>
              <a:rPr lang="en-US" altLang="zh-CN" sz="2400" dirty="0">
                <a:solidFill>
                  <a:srgbClr val="FF0000"/>
                </a:solidFill>
              </a:rPr>
              <a:t>Ternary system with three Eutectic points</a:t>
            </a:r>
          </a:p>
        </p:txBody>
      </p:sp>
      <p:pic>
        <p:nvPicPr>
          <p:cNvPr id="71684" name="Picture 4" descr="C:\Users\dell\AppData\Local\Temp\WeChat Files\fb2fc2604220d60df5f5c14f406d788.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074" t="36219" r="6866" b="10050"/>
          <a:stretch/>
        </p:blipFill>
        <p:spPr bwMode="auto">
          <a:xfrm>
            <a:off x="1835696" y="994931"/>
            <a:ext cx="5764160" cy="2637836"/>
          </a:xfrm>
          <a:prstGeom prst="rect">
            <a:avLst/>
          </a:prstGeom>
          <a:noFill/>
          <a:extLst>
            <a:ext uri="{909E8E84-426E-40DD-AFC4-6F175D3DCCD1}">
              <a14:hiddenFill xmlns:a14="http://schemas.microsoft.com/office/drawing/2010/main">
                <a:solidFill>
                  <a:srgbClr val="FFFFFF"/>
                </a:solidFill>
              </a14:hiddenFill>
            </a:ext>
          </a:extLst>
        </p:spPr>
      </p:pic>
      <p:pic>
        <p:nvPicPr>
          <p:cNvPr id="71685" name="Picture 5" descr="C:\Users\dell\AppData\Local\Temp\WeChat Files\f2255a52a494ce5867023cf2b45537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2090" t="39800" r="5523" b="9851"/>
          <a:stretch/>
        </p:blipFill>
        <p:spPr bwMode="auto">
          <a:xfrm>
            <a:off x="179513" y="3847262"/>
            <a:ext cx="2232248" cy="26025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419872" y="4365104"/>
            <a:ext cx="4843121" cy="1200329"/>
          </a:xfrm>
          <a:prstGeom prst="rect">
            <a:avLst/>
          </a:prstGeom>
          <a:noFill/>
        </p:spPr>
        <p:txBody>
          <a:bodyPr wrap="none" rtlCol="0">
            <a:spAutoFit/>
          </a:bodyPr>
          <a:lstStyle/>
          <a:p>
            <a:pPr marL="285750" indent="-285750">
              <a:buFont typeface="Wingdings" pitchFamily="2" charset="2"/>
              <a:buChar char="ü"/>
            </a:pPr>
            <a:r>
              <a:rPr lang="en-US" altLang="zh-CN" dirty="0"/>
              <a:t>Binary boundary eutectic point: e1, e2, e3</a:t>
            </a:r>
          </a:p>
          <a:p>
            <a:pPr marL="285750" indent="-285750">
              <a:buFont typeface="Wingdings" pitchFamily="2" charset="2"/>
              <a:buChar char="ü"/>
            </a:pPr>
            <a:r>
              <a:rPr lang="en-US" altLang="zh-CN" dirty="0"/>
              <a:t>Ternary four phase eutectic point: E</a:t>
            </a:r>
          </a:p>
          <a:p>
            <a:pPr marL="285750" indent="-285750">
              <a:buFont typeface="Wingdings" pitchFamily="2" charset="2"/>
              <a:buChar char="ü"/>
            </a:pPr>
            <a:r>
              <a:rPr lang="en-US" altLang="zh-CN" dirty="0"/>
              <a:t>Eutectic line ( melting grooves)  : e1E, e2E, e3E</a:t>
            </a:r>
          </a:p>
          <a:p>
            <a:pPr marL="285750" indent="-285750">
              <a:buFont typeface="Wingdings" pitchFamily="2" charset="2"/>
              <a:buChar char="ü"/>
            </a:pPr>
            <a:r>
              <a:rPr lang="en-US" altLang="zh-CN" dirty="0"/>
              <a:t>Filed of primary crystallization </a:t>
            </a:r>
            <a:endParaRPr lang="zh-CN" altLang="en-US" dirty="0"/>
          </a:p>
        </p:txBody>
      </p:sp>
    </p:spTree>
    <p:extLst>
      <p:ext uri="{BB962C8B-B14F-4D97-AF65-F5344CB8AC3E}">
        <p14:creationId xmlns:p14="http://schemas.microsoft.com/office/powerpoint/2010/main" val="2382583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C:\Users\dell\AppData\Local\Temp\WeChat Files\a3556b53d3236d782b8c5f05d3e1c74.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2002" t="13513" r="23670" b="3800"/>
          <a:stretch/>
        </p:blipFill>
        <p:spPr bwMode="auto">
          <a:xfrm>
            <a:off x="5633500" y="1772815"/>
            <a:ext cx="3469556" cy="3960441"/>
          </a:xfrm>
          <a:prstGeom prst="rect">
            <a:avLst/>
          </a:prstGeom>
          <a:noFill/>
          <a:extLst>
            <a:ext uri="{909E8E84-426E-40DD-AFC4-6F175D3DCCD1}">
              <a14:hiddenFill xmlns:a14="http://schemas.microsoft.com/office/drawing/2010/main">
                <a:solidFill>
                  <a:srgbClr val="FFFFFF"/>
                </a:solidFill>
              </a14:hiddenFill>
            </a:ext>
          </a:extLst>
        </p:spPr>
      </p:pic>
      <p:pic>
        <p:nvPicPr>
          <p:cNvPr id="72707" name="Picture 3" descr="C:\Users\dell\AppData\Local\Temp\WeChat Files\fcf560ed1f37a38ab504f02a3e65a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717" t="32040" r="16567" b="8259"/>
          <a:stretch/>
        </p:blipFill>
        <p:spPr bwMode="auto">
          <a:xfrm>
            <a:off x="511747" y="2488966"/>
            <a:ext cx="4833994" cy="32442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331640" y="292006"/>
            <a:ext cx="5343001" cy="461665"/>
          </a:xfrm>
          <a:prstGeom prst="rect">
            <a:avLst/>
          </a:prstGeom>
          <a:noFill/>
        </p:spPr>
        <p:txBody>
          <a:bodyPr wrap="none" rtlCol="0">
            <a:spAutoFit/>
          </a:bodyPr>
          <a:lstStyle/>
          <a:p>
            <a:r>
              <a:rPr lang="en-US" altLang="zh-CN" sz="2400" dirty="0">
                <a:solidFill>
                  <a:srgbClr val="FF0000"/>
                </a:solidFill>
              </a:rPr>
              <a:t>Ternary system with three Eutectic points</a:t>
            </a:r>
          </a:p>
        </p:txBody>
      </p:sp>
      <p:sp>
        <p:nvSpPr>
          <p:cNvPr id="2" name="TextBox 1"/>
          <p:cNvSpPr txBox="1"/>
          <p:nvPr/>
        </p:nvSpPr>
        <p:spPr>
          <a:xfrm>
            <a:off x="611560" y="1268760"/>
            <a:ext cx="4734181" cy="369332"/>
          </a:xfrm>
          <a:prstGeom prst="rect">
            <a:avLst/>
          </a:prstGeom>
          <a:noFill/>
        </p:spPr>
        <p:txBody>
          <a:bodyPr wrap="none" rtlCol="0">
            <a:spAutoFit/>
          </a:bodyPr>
          <a:lstStyle/>
          <a:p>
            <a:r>
              <a:rPr lang="en-US" altLang="zh-CN" dirty="0"/>
              <a:t>Reaction scheme is introduced by E. </a:t>
            </a:r>
            <a:r>
              <a:rPr lang="en-US" altLang="zh-CN" dirty="0" err="1"/>
              <a:t>Scheil</a:t>
            </a:r>
            <a:r>
              <a:rPr lang="en-US" altLang="zh-CN" dirty="0"/>
              <a:t> 1936.</a:t>
            </a:r>
            <a:endParaRPr lang="zh-CN" altLang="en-US" dirty="0"/>
          </a:p>
        </p:txBody>
      </p:sp>
      <p:sp>
        <p:nvSpPr>
          <p:cNvPr id="3" name="TextBox 2"/>
          <p:cNvSpPr txBox="1"/>
          <p:nvPr/>
        </p:nvSpPr>
        <p:spPr>
          <a:xfrm>
            <a:off x="347160" y="1785911"/>
            <a:ext cx="5262979" cy="369332"/>
          </a:xfrm>
          <a:prstGeom prst="rect">
            <a:avLst/>
          </a:prstGeom>
          <a:noFill/>
        </p:spPr>
        <p:txBody>
          <a:bodyPr wrap="none" rtlCol="0">
            <a:spAutoFit/>
          </a:bodyPr>
          <a:lstStyle/>
          <a:p>
            <a:r>
              <a:rPr lang="zh-CN" altLang="en-US" dirty="0"/>
              <a:t>利用零变平衡和相应的单变平衡来表示相平衡关系</a:t>
            </a:r>
          </a:p>
        </p:txBody>
      </p:sp>
    </p:spTree>
    <p:extLst>
      <p:ext uri="{BB962C8B-B14F-4D97-AF65-F5344CB8AC3E}">
        <p14:creationId xmlns:p14="http://schemas.microsoft.com/office/powerpoint/2010/main" val="3575017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dell\AppData\Local\Temp\WeChat Files\a3556b53d3236d782b8c5f05d3e1c74.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2002" t="13513" r="23670" b="3800"/>
          <a:stretch/>
        </p:blipFill>
        <p:spPr bwMode="auto">
          <a:xfrm>
            <a:off x="0" y="27586"/>
            <a:ext cx="4202559" cy="4797152"/>
          </a:xfrm>
          <a:prstGeom prst="rect">
            <a:avLst/>
          </a:prstGeom>
          <a:noFill/>
          <a:extLst>
            <a:ext uri="{909E8E84-426E-40DD-AFC4-6F175D3DCCD1}">
              <a14:hiddenFill xmlns:a14="http://schemas.microsoft.com/office/drawing/2010/main">
                <a:solidFill>
                  <a:srgbClr val="FFFFFF"/>
                </a:solidFill>
              </a14:hiddenFill>
            </a:ext>
          </a:extLst>
        </p:spPr>
      </p:pic>
      <p:sp>
        <p:nvSpPr>
          <p:cNvPr id="3" name="任意多边形 2"/>
          <p:cNvSpPr/>
          <p:nvPr/>
        </p:nvSpPr>
        <p:spPr>
          <a:xfrm>
            <a:off x="249382" y="1223158"/>
            <a:ext cx="3669475" cy="2968832"/>
          </a:xfrm>
          <a:custGeom>
            <a:avLst/>
            <a:gdLst>
              <a:gd name="connsiteX0" fmla="*/ 0 w 3669475"/>
              <a:gd name="connsiteY0" fmla="*/ 605642 h 2968832"/>
              <a:gd name="connsiteX1" fmla="*/ 190005 w 3669475"/>
              <a:gd name="connsiteY1" fmla="*/ 2968832 h 2968832"/>
              <a:gd name="connsiteX2" fmla="*/ 3669475 w 3669475"/>
              <a:gd name="connsiteY2" fmla="*/ 2945081 h 2968832"/>
              <a:gd name="connsiteX3" fmla="*/ 3479470 w 3669475"/>
              <a:gd name="connsiteY3" fmla="*/ 0 h 2968832"/>
            </a:gdLst>
            <a:ahLst/>
            <a:cxnLst>
              <a:cxn ang="0">
                <a:pos x="connsiteX0" y="connsiteY0"/>
              </a:cxn>
              <a:cxn ang="0">
                <a:pos x="connsiteX1" y="connsiteY1"/>
              </a:cxn>
              <a:cxn ang="0">
                <a:pos x="connsiteX2" y="connsiteY2"/>
              </a:cxn>
              <a:cxn ang="0">
                <a:pos x="connsiteX3" y="connsiteY3"/>
              </a:cxn>
            </a:cxnLst>
            <a:rect l="l" t="t" r="r" b="b"/>
            <a:pathLst>
              <a:path w="3669475" h="2968832">
                <a:moveTo>
                  <a:pt x="0" y="605642"/>
                </a:moveTo>
                <a:lnTo>
                  <a:pt x="190005" y="2968832"/>
                </a:lnTo>
                <a:lnTo>
                  <a:pt x="3669475" y="2945081"/>
                </a:lnTo>
                <a:lnTo>
                  <a:pt x="3479470" y="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任意多边形 3"/>
          <p:cNvSpPr/>
          <p:nvPr/>
        </p:nvSpPr>
        <p:spPr>
          <a:xfrm>
            <a:off x="237506" y="1816925"/>
            <a:ext cx="498764" cy="2398815"/>
          </a:xfrm>
          <a:custGeom>
            <a:avLst/>
            <a:gdLst>
              <a:gd name="connsiteX0" fmla="*/ 0 w 498764"/>
              <a:gd name="connsiteY0" fmla="*/ 0 h 2398815"/>
              <a:gd name="connsiteX1" fmla="*/ 498764 w 498764"/>
              <a:gd name="connsiteY1" fmla="*/ 617517 h 2398815"/>
              <a:gd name="connsiteX2" fmla="*/ 332510 w 498764"/>
              <a:gd name="connsiteY2" fmla="*/ 1353787 h 2398815"/>
              <a:gd name="connsiteX3" fmla="*/ 344385 w 498764"/>
              <a:gd name="connsiteY3" fmla="*/ 2018805 h 2398815"/>
              <a:gd name="connsiteX4" fmla="*/ 380011 w 498764"/>
              <a:gd name="connsiteY4" fmla="*/ 2398815 h 239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764" h="2398815">
                <a:moveTo>
                  <a:pt x="0" y="0"/>
                </a:moveTo>
                <a:lnTo>
                  <a:pt x="498764" y="617517"/>
                </a:lnTo>
                <a:lnTo>
                  <a:pt x="332510" y="1353787"/>
                </a:lnTo>
                <a:lnTo>
                  <a:pt x="344385" y="2018805"/>
                </a:lnTo>
                <a:lnTo>
                  <a:pt x="380011" y="2398815"/>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3455719" y="1235034"/>
            <a:ext cx="403762" cy="2945080"/>
          </a:xfrm>
          <a:custGeom>
            <a:avLst/>
            <a:gdLst>
              <a:gd name="connsiteX0" fmla="*/ 273133 w 403762"/>
              <a:gd name="connsiteY0" fmla="*/ 0 h 2945080"/>
              <a:gd name="connsiteX1" fmla="*/ 0 w 403762"/>
              <a:gd name="connsiteY1" fmla="*/ 1033153 h 2945080"/>
              <a:gd name="connsiteX2" fmla="*/ 225632 w 403762"/>
              <a:gd name="connsiteY2" fmla="*/ 1805049 h 2945080"/>
              <a:gd name="connsiteX3" fmla="*/ 403762 w 403762"/>
              <a:gd name="connsiteY3" fmla="*/ 2755075 h 2945080"/>
              <a:gd name="connsiteX4" fmla="*/ 403762 w 403762"/>
              <a:gd name="connsiteY4" fmla="*/ 2945080 h 2945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62" h="2945080">
                <a:moveTo>
                  <a:pt x="273133" y="0"/>
                </a:moveTo>
                <a:lnTo>
                  <a:pt x="0" y="1033153"/>
                </a:lnTo>
                <a:lnTo>
                  <a:pt x="225632" y="1805049"/>
                </a:lnTo>
                <a:lnTo>
                  <a:pt x="403762" y="2755075"/>
                </a:lnTo>
                <a:lnTo>
                  <a:pt x="403762" y="294508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任意多边形 5"/>
          <p:cNvSpPr/>
          <p:nvPr/>
        </p:nvSpPr>
        <p:spPr>
          <a:xfrm>
            <a:off x="249382" y="1235034"/>
            <a:ext cx="3503221" cy="1140031"/>
          </a:xfrm>
          <a:custGeom>
            <a:avLst/>
            <a:gdLst>
              <a:gd name="connsiteX0" fmla="*/ 0 w 3503221"/>
              <a:gd name="connsiteY0" fmla="*/ 581891 h 1140031"/>
              <a:gd name="connsiteX1" fmla="*/ 819397 w 3503221"/>
              <a:gd name="connsiteY1" fmla="*/ 819397 h 1140031"/>
              <a:gd name="connsiteX2" fmla="*/ 1211283 w 3503221"/>
              <a:gd name="connsiteY2" fmla="*/ 997527 h 1140031"/>
              <a:gd name="connsiteX3" fmla="*/ 1436914 w 3503221"/>
              <a:gd name="connsiteY3" fmla="*/ 1140031 h 1140031"/>
              <a:gd name="connsiteX4" fmla="*/ 1840675 w 3503221"/>
              <a:gd name="connsiteY4" fmla="*/ 831272 h 1140031"/>
              <a:gd name="connsiteX5" fmla="*/ 2422566 w 3503221"/>
              <a:gd name="connsiteY5" fmla="*/ 475013 h 1140031"/>
              <a:gd name="connsiteX6" fmla="*/ 3063834 w 3503221"/>
              <a:gd name="connsiteY6" fmla="*/ 166254 h 1140031"/>
              <a:gd name="connsiteX7" fmla="*/ 3503221 w 3503221"/>
              <a:gd name="connsiteY7" fmla="*/ 0 h 11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3221" h="1140031">
                <a:moveTo>
                  <a:pt x="0" y="581891"/>
                </a:moveTo>
                <a:lnTo>
                  <a:pt x="819397" y="819397"/>
                </a:lnTo>
                <a:lnTo>
                  <a:pt x="1211283" y="997527"/>
                </a:lnTo>
                <a:lnTo>
                  <a:pt x="1436914" y="1140031"/>
                </a:lnTo>
                <a:lnTo>
                  <a:pt x="1840675" y="831272"/>
                </a:lnTo>
                <a:lnTo>
                  <a:pt x="2422566" y="475013"/>
                </a:lnTo>
                <a:lnTo>
                  <a:pt x="3063834" y="166254"/>
                </a:lnTo>
                <a:lnTo>
                  <a:pt x="3503221" y="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 name="直接连接符 7"/>
          <p:cNvCxnSpPr>
            <a:stCxn id="4" idx="1"/>
          </p:cNvCxnSpPr>
          <p:nvPr/>
        </p:nvCxnSpPr>
        <p:spPr>
          <a:xfrm flipV="1">
            <a:off x="736270" y="2276872"/>
            <a:ext cx="2719449" cy="15757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4723458" y="308758"/>
            <a:ext cx="3681351" cy="2992582"/>
            <a:chOff x="4632132" y="1555667"/>
            <a:chExt cx="3681351" cy="2992582"/>
          </a:xfrm>
        </p:grpSpPr>
        <p:sp>
          <p:nvSpPr>
            <p:cNvPr id="10" name="任意多边形 9"/>
            <p:cNvSpPr/>
            <p:nvPr/>
          </p:nvSpPr>
          <p:spPr>
            <a:xfrm>
              <a:off x="4644008" y="1555667"/>
              <a:ext cx="3669475" cy="2968832"/>
            </a:xfrm>
            <a:custGeom>
              <a:avLst/>
              <a:gdLst>
                <a:gd name="connsiteX0" fmla="*/ 0 w 3669475"/>
                <a:gd name="connsiteY0" fmla="*/ 605642 h 2968832"/>
                <a:gd name="connsiteX1" fmla="*/ 190005 w 3669475"/>
                <a:gd name="connsiteY1" fmla="*/ 2968832 h 2968832"/>
                <a:gd name="connsiteX2" fmla="*/ 3669475 w 3669475"/>
                <a:gd name="connsiteY2" fmla="*/ 2945081 h 2968832"/>
                <a:gd name="connsiteX3" fmla="*/ 3479470 w 3669475"/>
                <a:gd name="connsiteY3" fmla="*/ 0 h 2968832"/>
              </a:gdLst>
              <a:ahLst/>
              <a:cxnLst>
                <a:cxn ang="0">
                  <a:pos x="connsiteX0" y="connsiteY0"/>
                </a:cxn>
                <a:cxn ang="0">
                  <a:pos x="connsiteX1" y="connsiteY1"/>
                </a:cxn>
                <a:cxn ang="0">
                  <a:pos x="connsiteX2" y="connsiteY2"/>
                </a:cxn>
                <a:cxn ang="0">
                  <a:pos x="connsiteX3" y="connsiteY3"/>
                </a:cxn>
              </a:cxnLst>
              <a:rect l="l" t="t" r="r" b="b"/>
              <a:pathLst>
                <a:path w="3669475" h="2968832">
                  <a:moveTo>
                    <a:pt x="0" y="605642"/>
                  </a:moveTo>
                  <a:lnTo>
                    <a:pt x="190005" y="2968832"/>
                  </a:lnTo>
                  <a:lnTo>
                    <a:pt x="3669475" y="2945081"/>
                  </a:lnTo>
                  <a:lnTo>
                    <a:pt x="3479470" y="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任意多边形 10"/>
            <p:cNvSpPr/>
            <p:nvPr/>
          </p:nvSpPr>
          <p:spPr>
            <a:xfrm>
              <a:off x="4632132" y="2149434"/>
              <a:ext cx="498764" cy="2398815"/>
            </a:xfrm>
            <a:custGeom>
              <a:avLst/>
              <a:gdLst>
                <a:gd name="connsiteX0" fmla="*/ 0 w 498764"/>
                <a:gd name="connsiteY0" fmla="*/ 0 h 2398815"/>
                <a:gd name="connsiteX1" fmla="*/ 498764 w 498764"/>
                <a:gd name="connsiteY1" fmla="*/ 617517 h 2398815"/>
                <a:gd name="connsiteX2" fmla="*/ 332510 w 498764"/>
                <a:gd name="connsiteY2" fmla="*/ 1353787 h 2398815"/>
                <a:gd name="connsiteX3" fmla="*/ 344385 w 498764"/>
                <a:gd name="connsiteY3" fmla="*/ 2018805 h 2398815"/>
                <a:gd name="connsiteX4" fmla="*/ 380011 w 498764"/>
                <a:gd name="connsiteY4" fmla="*/ 2398815 h 239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764" h="2398815">
                  <a:moveTo>
                    <a:pt x="0" y="0"/>
                  </a:moveTo>
                  <a:lnTo>
                    <a:pt x="498764" y="617517"/>
                  </a:lnTo>
                  <a:lnTo>
                    <a:pt x="332510" y="1353787"/>
                  </a:lnTo>
                  <a:lnTo>
                    <a:pt x="344385" y="2018805"/>
                  </a:lnTo>
                  <a:lnTo>
                    <a:pt x="380011" y="2398815"/>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任意多边形 11"/>
            <p:cNvSpPr/>
            <p:nvPr/>
          </p:nvSpPr>
          <p:spPr>
            <a:xfrm>
              <a:off x="7850345" y="1567543"/>
              <a:ext cx="403762" cy="2945080"/>
            </a:xfrm>
            <a:custGeom>
              <a:avLst/>
              <a:gdLst>
                <a:gd name="connsiteX0" fmla="*/ 273133 w 403762"/>
                <a:gd name="connsiteY0" fmla="*/ 0 h 2945080"/>
                <a:gd name="connsiteX1" fmla="*/ 0 w 403762"/>
                <a:gd name="connsiteY1" fmla="*/ 1033153 h 2945080"/>
                <a:gd name="connsiteX2" fmla="*/ 225632 w 403762"/>
                <a:gd name="connsiteY2" fmla="*/ 1805049 h 2945080"/>
                <a:gd name="connsiteX3" fmla="*/ 403762 w 403762"/>
                <a:gd name="connsiteY3" fmla="*/ 2755075 h 2945080"/>
                <a:gd name="connsiteX4" fmla="*/ 403762 w 403762"/>
                <a:gd name="connsiteY4" fmla="*/ 2945080 h 2945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62" h="2945080">
                  <a:moveTo>
                    <a:pt x="273133" y="0"/>
                  </a:moveTo>
                  <a:lnTo>
                    <a:pt x="0" y="1033153"/>
                  </a:lnTo>
                  <a:lnTo>
                    <a:pt x="225632" y="1805049"/>
                  </a:lnTo>
                  <a:lnTo>
                    <a:pt x="403762" y="2755075"/>
                  </a:lnTo>
                  <a:lnTo>
                    <a:pt x="403762" y="294508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任意多边形 12"/>
            <p:cNvSpPr/>
            <p:nvPr/>
          </p:nvSpPr>
          <p:spPr>
            <a:xfrm>
              <a:off x="4644008" y="1567543"/>
              <a:ext cx="3503221" cy="1140031"/>
            </a:xfrm>
            <a:custGeom>
              <a:avLst/>
              <a:gdLst>
                <a:gd name="connsiteX0" fmla="*/ 0 w 3503221"/>
                <a:gd name="connsiteY0" fmla="*/ 581891 h 1140031"/>
                <a:gd name="connsiteX1" fmla="*/ 819397 w 3503221"/>
                <a:gd name="connsiteY1" fmla="*/ 819397 h 1140031"/>
                <a:gd name="connsiteX2" fmla="*/ 1211283 w 3503221"/>
                <a:gd name="connsiteY2" fmla="*/ 997527 h 1140031"/>
                <a:gd name="connsiteX3" fmla="*/ 1436914 w 3503221"/>
                <a:gd name="connsiteY3" fmla="*/ 1140031 h 1140031"/>
                <a:gd name="connsiteX4" fmla="*/ 1840675 w 3503221"/>
                <a:gd name="connsiteY4" fmla="*/ 831272 h 1140031"/>
                <a:gd name="connsiteX5" fmla="*/ 2422566 w 3503221"/>
                <a:gd name="connsiteY5" fmla="*/ 475013 h 1140031"/>
                <a:gd name="connsiteX6" fmla="*/ 3063834 w 3503221"/>
                <a:gd name="connsiteY6" fmla="*/ 166254 h 1140031"/>
                <a:gd name="connsiteX7" fmla="*/ 3503221 w 3503221"/>
                <a:gd name="connsiteY7" fmla="*/ 0 h 11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3221" h="1140031">
                  <a:moveTo>
                    <a:pt x="0" y="581891"/>
                  </a:moveTo>
                  <a:lnTo>
                    <a:pt x="819397" y="819397"/>
                  </a:lnTo>
                  <a:lnTo>
                    <a:pt x="1211283" y="997527"/>
                  </a:lnTo>
                  <a:lnTo>
                    <a:pt x="1436914" y="1140031"/>
                  </a:lnTo>
                  <a:lnTo>
                    <a:pt x="1840675" y="831272"/>
                  </a:lnTo>
                  <a:lnTo>
                    <a:pt x="2422566" y="475013"/>
                  </a:lnTo>
                  <a:lnTo>
                    <a:pt x="3063834" y="166254"/>
                  </a:lnTo>
                  <a:lnTo>
                    <a:pt x="3503221" y="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 name="直接连接符 13"/>
            <p:cNvCxnSpPr>
              <a:stCxn id="11" idx="1"/>
            </p:cNvCxnSpPr>
            <p:nvPr/>
          </p:nvCxnSpPr>
          <p:spPr>
            <a:xfrm flipV="1">
              <a:off x="5130896" y="2609381"/>
              <a:ext cx="2719449" cy="15757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 name="TextBox 15"/>
          <p:cNvSpPr txBox="1"/>
          <p:nvPr/>
        </p:nvSpPr>
        <p:spPr>
          <a:xfrm>
            <a:off x="6103486" y="558140"/>
            <a:ext cx="282450" cy="369332"/>
          </a:xfrm>
          <a:prstGeom prst="rect">
            <a:avLst/>
          </a:prstGeom>
          <a:noFill/>
        </p:spPr>
        <p:txBody>
          <a:bodyPr wrap="none" rtlCol="0">
            <a:spAutoFit/>
          </a:bodyPr>
          <a:lstStyle/>
          <a:p>
            <a:r>
              <a:rPr lang="en-US" altLang="zh-CN" dirty="0"/>
              <a:t>L</a:t>
            </a:r>
            <a:endParaRPr lang="zh-CN" altLang="en-US" dirty="0"/>
          </a:p>
        </p:txBody>
      </p:sp>
      <p:sp>
        <p:nvSpPr>
          <p:cNvPr id="17" name="TextBox 16"/>
          <p:cNvSpPr txBox="1"/>
          <p:nvPr/>
        </p:nvSpPr>
        <p:spPr>
          <a:xfrm>
            <a:off x="7183606" y="902525"/>
            <a:ext cx="521297" cy="369332"/>
          </a:xfrm>
          <a:prstGeom prst="rect">
            <a:avLst/>
          </a:prstGeom>
          <a:noFill/>
        </p:spPr>
        <p:txBody>
          <a:bodyPr wrap="none" rtlCol="0">
            <a:spAutoFit/>
          </a:bodyPr>
          <a:lstStyle/>
          <a:p>
            <a:r>
              <a:rPr lang="en-US" altLang="zh-CN" dirty="0"/>
              <a:t>L+</a:t>
            </a:r>
            <a:r>
              <a:rPr lang="el-GR" altLang="zh-CN" dirty="0"/>
              <a:t>β</a:t>
            </a:r>
            <a:endParaRPr lang="zh-CN" altLang="en-US" dirty="0"/>
          </a:p>
        </p:txBody>
      </p:sp>
      <p:sp>
        <p:nvSpPr>
          <p:cNvPr id="18" name="TextBox 17"/>
          <p:cNvSpPr txBox="1"/>
          <p:nvPr/>
        </p:nvSpPr>
        <p:spPr>
          <a:xfrm>
            <a:off x="5095374" y="1108748"/>
            <a:ext cx="529312" cy="369332"/>
          </a:xfrm>
          <a:prstGeom prst="rect">
            <a:avLst/>
          </a:prstGeom>
          <a:noFill/>
        </p:spPr>
        <p:txBody>
          <a:bodyPr wrap="none" rtlCol="0">
            <a:spAutoFit/>
          </a:bodyPr>
          <a:lstStyle/>
          <a:p>
            <a:r>
              <a:rPr lang="en-US" altLang="zh-CN" dirty="0"/>
              <a:t>L+</a:t>
            </a:r>
            <a:r>
              <a:rPr lang="el-GR" altLang="zh-CN" dirty="0"/>
              <a:t>α</a:t>
            </a:r>
            <a:endParaRPr lang="zh-CN" altLang="en-US" dirty="0"/>
          </a:p>
        </p:txBody>
      </p:sp>
      <p:sp>
        <p:nvSpPr>
          <p:cNvPr id="19" name="TextBox 18"/>
          <p:cNvSpPr txBox="1"/>
          <p:nvPr/>
        </p:nvSpPr>
        <p:spPr>
          <a:xfrm>
            <a:off x="6121280" y="2254099"/>
            <a:ext cx="607859" cy="369332"/>
          </a:xfrm>
          <a:prstGeom prst="rect">
            <a:avLst/>
          </a:prstGeom>
          <a:noFill/>
        </p:spPr>
        <p:txBody>
          <a:bodyPr wrap="none" rtlCol="0">
            <a:spAutoFit/>
          </a:bodyPr>
          <a:lstStyle/>
          <a:p>
            <a:r>
              <a:rPr lang="el-GR" altLang="zh-CN" dirty="0"/>
              <a:t>α</a:t>
            </a:r>
            <a:r>
              <a:rPr lang="en-US" altLang="zh-CN" dirty="0"/>
              <a:t>+</a:t>
            </a:r>
            <a:r>
              <a:rPr lang="el-GR" altLang="zh-CN" dirty="0"/>
              <a:t> β</a:t>
            </a:r>
            <a:endParaRPr lang="zh-CN" altLang="en-US" dirty="0"/>
          </a:p>
        </p:txBody>
      </p:sp>
      <p:sp>
        <p:nvSpPr>
          <p:cNvPr id="20" name="矩形 19"/>
          <p:cNvSpPr/>
          <p:nvPr/>
        </p:nvSpPr>
        <p:spPr>
          <a:xfrm>
            <a:off x="4814784" y="1520042"/>
            <a:ext cx="316112" cy="369332"/>
          </a:xfrm>
          <a:prstGeom prst="rect">
            <a:avLst/>
          </a:prstGeom>
        </p:spPr>
        <p:txBody>
          <a:bodyPr wrap="none">
            <a:spAutoFit/>
          </a:bodyPr>
          <a:lstStyle/>
          <a:p>
            <a:r>
              <a:rPr lang="el-GR" altLang="zh-CN" dirty="0"/>
              <a:t>α</a:t>
            </a:r>
            <a:endParaRPr lang="zh-CN" altLang="en-US" dirty="0"/>
          </a:p>
        </p:txBody>
      </p:sp>
      <p:sp>
        <p:nvSpPr>
          <p:cNvPr id="21" name="矩形 20"/>
          <p:cNvSpPr/>
          <p:nvPr/>
        </p:nvSpPr>
        <p:spPr>
          <a:xfrm>
            <a:off x="7985496" y="1214097"/>
            <a:ext cx="316112" cy="369332"/>
          </a:xfrm>
          <a:prstGeom prst="rect">
            <a:avLst/>
          </a:prstGeom>
        </p:spPr>
        <p:txBody>
          <a:bodyPr wrap="none">
            <a:spAutoFit/>
          </a:bodyPr>
          <a:lstStyle/>
          <a:p>
            <a:r>
              <a:rPr lang="el-GR" altLang="zh-CN" dirty="0"/>
              <a:t>α</a:t>
            </a:r>
            <a:endParaRPr lang="zh-CN" altLang="en-US" dirty="0"/>
          </a:p>
        </p:txBody>
      </p:sp>
      <p:sp>
        <p:nvSpPr>
          <p:cNvPr id="23" name="任意多边形 22"/>
          <p:cNvSpPr/>
          <p:nvPr/>
        </p:nvSpPr>
        <p:spPr>
          <a:xfrm>
            <a:off x="5484826" y="3839086"/>
            <a:ext cx="1959428" cy="807522"/>
          </a:xfrm>
          <a:custGeom>
            <a:avLst/>
            <a:gdLst>
              <a:gd name="connsiteX0" fmla="*/ 890649 w 1959428"/>
              <a:gd name="connsiteY0" fmla="*/ 0 h 807522"/>
              <a:gd name="connsiteX1" fmla="*/ 0 w 1959428"/>
              <a:gd name="connsiteY1" fmla="*/ 807522 h 807522"/>
              <a:gd name="connsiteX2" fmla="*/ 1959428 w 1959428"/>
              <a:gd name="connsiteY2" fmla="*/ 795646 h 807522"/>
              <a:gd name="connsiteX3" fmla="*/ 890649 w 1959428"/>
              <a:gd name="connsiteY3" fmla="*/ 0 h 807522"/>
            </a:gdLst>
            <a:ahLst/>
            <a:cxnLst>
              <a:cxn ang="0">
                <a:pos x="connsiteX0" y="connsiteY0"/>
              </a:cxn>
              <a:cxn ang="0">
                <a:pos x="connsiteX1" y="connsiteY1"/>
              </a:cxn>
              <a:cxn ang="0">
                <a:pos x="connsiteX2" y="connsiteY2"/>
              </a:cxn>
              <a:cxn ang="0">
                <a:pos x="connsiteX3" y="connsiteY3"/>
              </a:cxn>
            </a:cxnLst>
            <a:rect l="l" t="t" r="r" b="b"/>
            <a:pathLst>
              <a:path w="1959428" h="807522">
                <a:moveTo>
                  <a:pt x="890649" y="0"/>
                </a:moveTo>
                <a:lnTo>
                  <a:pt x="0" y="807522"/>
                </a:lnTo>
                <a:lnTo>
                  <a:pt x="1959428" y="795646"/>
                </a:lnTo>
                <a:lnTo>
                  <a:pt x="890649"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p:nvSpPr>
        <p:spPr>
          <a:xfrm>
            <a:off x="5474525" y="4334494"/>
            <a:ext cx="770186" cy="320633"/>
          </a:xfrm>
          <a:custGeom>
            <a:avLst/>
            <a:gdLst>
              <a:gd name="connsiteX0" fmla="*/ 0 w 688769"/>
              <a:gd name="connsiteY0" fmla="*/ 320633 h 320633"/>
              <a:gd name="connsiteX1" fmla="*/ 688769 w 688769"/>
              <a:gd name="connsiteY1" fmla="*/ 0 h 320633"/>
            </a:gdLst>
            <a:ahLst/>
            <a:cxnLst>
              <a:cxn ang="0">
                <a:pos x="connsiteX0" y="connsiteY0"/>
              </a:cxn>
              <a:cxn ang="0">
                <a:pos x="connsiteX1" y="connsiteY1"/>
              </a:cxn>
            </a:cxnLst>
            <a:rect l="l" t="t" r="r" b="b"/>
            <a:pathLst>
              <a:path w="688769" h="320633">
                <a:moveTo>
                  <a:pt x="0" y="320633"/>
                </a:moveTo>
                <a:lnTo>
                  <a:pt x="688769" y="0"/>
                </a:ln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任意多边形 24"/>
          <p:cNvSpPr/>
          <p:nvPr/>
        </p:nvSpPr>
        <p:spPr>
          <a:xfrm>
            <a:off x="6258296" y="3859481"/>
            <a:ext cx="130629" cy="475013"/>
          </a:xfrm>
          <a:custGeom>
            <a:avLst/>
            <a:gdLst>
              <a:gd name="connsiteX0" fmla="*/ 0 w 130629"/>
              <a:gd name="connsiteY0" fmla="*/ 475013 h 475013"/>
              <a:gd name="connsiteX1" fmla="*/ 130629 w 130629"/>
              <a:gd name="connsiteY1" fmla="*/ 0 h 475013"/>
            </a:gdLst>
            <a:ahLst/>
            <a:cxnLst>
              <a:cxn ang="0">
                <a:pos x="connsiteX0" y="connsiteY0"/>
              </a:cxn>
              <a:cxn ang="0">
                <a:pos x="connsiteX1" y="connsiteY1"/>
              </a:cxn>
            </a:cxnLst>
            <a:rect l="l" t="t" r="r" b="b"/>
            <a:pathLst>
              <a:path w="130629" h="475013">
                <a:moveTo>
                  <a:pt x="0" y="475013"/>
                </a:moveTo>
                <a:lnTo>
                  <a:pt x="130629" y="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7" name="直接连接符 26"/>
          <p:cNvCxnSpPr>
            <a:stCxn id="25" idx="0"/>
            <a:endCxn id="23" idx="2"/>
          </p:cNvCxnSpPr>
          <p:nvPr/>
        </p:nvCxnSpPr>
        <p:spPr>
          <a:xfrm>
            <a:off x="6258296" y="4334494"/>
            <a:ext cx="1185958" cy="30023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任意多边形 27"/>
          <p:cNvSpPr/>
          <p:nvPr/>
        </p:nvSpPr>
        <p:spPr>
          <a:xfrm>
            <a:off x="5596227" y="3842830"/>
            <a:ext cx="789709" cy="698320"/>
          </a:xfrm>
          <a:custGeom>
            <a:avLst/>
            <a:gdLst>
              <a:gd name="connsiteX0" fmla="*/ 0 w 866899"/>
              <a:gd name="connsiteY0" fmla="*/ 831273 h 831273"/>
              <a:gd name="connsiteX1" fmla="*/ 748146 w 866899"/>
              <a:gd name="connsiteY1" fmla="*/ 510639 h 831273"/>
              <a:gd name="connsiteX2" fmla="*/ 866899 w 866899"/>
              <a:gd name="connsiteY2" fmla="*/ 0 h 831273"/>
              <a:gd name="connsiteX3" fmla="*/ 0 w 866899"/>
              <a:gd name="connsiteY3" fmla="*/ 831273 h 831273"/>
            </a:gdLst>
            <a:ahLst/>
            <a:cxnLst>
              <a:cxn ang="0">
                <a:pos x="connsiteX0" y="connsiteY0"/>
              </a:cxn>
              <a:cxn ang="0">
                <a:pos x="connsiteX1" y="connsiteY1"/>
              </a:cxn>
              <a:cxn ang="0">
                <a:pos x="connsiteX2" y="connsiteY2"/>
              </a:cxn>
              <a:cxn ang="0">
                <a:pos x="connsiteX3" y="connsiteY3"/>
              </a:cxn>
            </a:cxnLst>
            <a:rect l="l" t="t" r="r" b="b"/>
            <a:pathLst>
              <a:path w="866899" h="831273">
                <a:moveTo>
                  <a:pt x="0" y="831273"/>
                </a:moveTo>
                <a:lnTo>
                  <a:pt x="748146" y="510639"/>
                </a:lnTo>
                <a:lnTo>
                  <a:pt x="866899" y="0"/>
                </a:lnTo>
                <a:lnTo>
                  <a:pt x="0" y="831273"/>
                </a:lnTo>
                <a:close/>
              </a:path>
            </a:pathLst>
          </a:cu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6219386" y="4191990"/>
            <a:ext cx="282450" cy="369332"/>
          </a:xfrm>
          <a:prstGeom prst="rect">
            <a:avLst/>
          </a:prstGeom>
          <a:noFill/>
        </p:spPr>
        <p:txBody>
          <a:bodyPr wrap="none" rtlCol="0">
            <a:spAutoFit/>
          </a:bodyPr>
          <a:lstStyle/>
          <a:p>
            <a:r>
              <a:rPr lang="en-US" altLang="zh-CN" dirty="0"/>
              <a:t>L</a:t>
            </a:r>
            <a:endParaRPr lang="zh-CN" altLang="en-US" dirty="0"/>
          </a:p>
        </p:txBody>
      </p:sp>
      <p:sp>
        <p:nvSpPr>
          <p:cNvPr id="30" name="矩形 29"/>
          <p:cNvSpPr/>
          <p:nvPr/>
        </p:nvSpPr>
        <p:spPr>
          <a:xfrm>
            <a:off x="5146070" y="4461942"/>
            <a:ext cx="316112" cy="369332"/>
          </a:xfrm>
          <a:prstGeom prst="rect">
            <a:avLst/>
          </a:prstGeom>
        </p:spPr>
        <p:txBody>
          <a:bodyPr wrap="none">
            <a:spAutoFit/>
          </a:bodyPr>
          <a:lstStyle/>
          <a:p>
            <a:r>
              <a:rPr lang="el-GR" altLang="zh-CN" dirty="0"/>
              <a:t>α</a:t>
            </a:r>
            <a:endParaRPr lang="zh-CN" altLang="en-US" dirty="0"/>
          </a:p>
        </p:txBody>
      </p:sp>
      <p:sp>
        <p:nvSpPr>
          <p:cNvPr id="31" name="矩形 30"/>
          <p:cNvSpPr/>
          <p:nvPr/>
        </p:nvSpPr>
        <p:spPr>
          <a:xfrm>
            <a:off x="7444254" y="4494810"/>
            <a:ext cx="316112" cy="369332"/>
          </a:xfrm>
          <a:prstGeom prst="rect">
            <a:avLst/>
          </a:prstGeom>
        </p:spPr>
        <p:txBody>
          <a:bodyPr wrap="none">
            <a:spAutoFit/>
          </a:bodyPr>
          <a:lstStyle/>
          <a:p>
            <a:r>
              <a:rPr lang="el-GR" altLang="zh-CN" dirty="0"/>
              <a:t>β</a:t>
            </a:r>
            <a:endParaRPr lang="zh-CN" altLang="en-US" dirty="0"/>
          </a:p>
        </p:txBody>
      </p:sp>
      <p:sp>
        <p:nvSpPr>
          <p:cNvPr id="32" name="矩形 31"/>
          <p:cNvSpPr/>
          <p:nvPr/>
        </p:nvSpPr>
        <p:spPr>
          <a:xfrm>
            <a:off x="6343780" y="3463034"/>
            <a:ext cx="287258" cy="369332"/>
          </a:xfrm>
          <a:prstGeom prst="rect">
            <a:avLst/>
          </a:prstGeom>
        </p:spPr>
        <p:txBody>
          <a:bodyPr wrap="none">
            <a:spAutoFit/>
          </a:bodyPr>
          <a:lstStyle/>
          <a:p>
            <a:r>
              <a:rPr lang="el-GR" altLang="zh-CN" dirty="0"/>
              <a:t>γ</a:t>
            </a:r>
            <a:endParaRPr lang="zh-CN" altLang="en-US" dirty="0"/>
          </a:p>
        </p:txBody>
      </p:sp>
      <p:sp>
        <p:nvSpPr>
          <p:cNvPr id="33" name="TextBox 32"/>
          <p:cNvSpPr txBox="1"/>
          <p:nvPr/>
        </p:nvSpPr>
        <p:spPr>
          <a:xfrm>
            <a:off x="5160962" y="5229200"/>
            <a:ext cx="2499595" cy="369332"/>
          </a:xfrm>
          <a:prstGeom prst="rect">
            <a:avLst/>
          </a:prstGeom>
          <a:noFill/>
        </p:spPr>
        <p:txBody>
          <a:bodyPr wrap="none" rtlCol="0">
            <a:spAutoFit/>
          </a:bodyPr>
          <a:lstStyle/>
          <a:p>
            <a:r>
              <a:rPr lang="en-US" altLang="zh-CN" dirty="0"/>
              <a:t>4-phase region: L+</a:t>
            </a:r>
            <a:r>
              <a:rPr lang="el-GR" altLang="zh-CN" dirty="0"/>
              <a:t>α</a:t>
            </a:r>
            <a:r>
              <a:rPr lang="en-US" altLang="zh-CN" dirty="0"/>
              <a:t>+</a:t>
            </a:r>
            <a:r>
              <a:rPr lang="el-GR" altLang="zh-CN" dirty="0"/>
              <a:t>β</a:t>
            </a:r>
            <a:r>
              <a:rPr lang="en-US" altLang="zh-CN" dirty="0"/>
              <a:t>+</a:t>
            </a:r>
            <a:r>
              <a:rPr lang="el-GR" altLang="zh-CN" dirty="0"/>
              <a:t>γ</a:t>
            </a:r>
            <a:endParaRPr lang="zh-CN" altLang="en-US" dirty="0"/>
          </a:p>
        </p:txBody>
      </p:sp>
    </p:spTree>
    <p:extLst>
      <p:ext uri="{BB962C8B-B14F-4D97-AF65-F5344CB8AC3E}">
        <p14:creationId xmlns:p14="http://schemas.microsoft.com/office/powerpoint/2010/main" val="1780461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8564" y="3352800"/>
            <a:ext cx="5475217" cy="523220"/>
          </a:xfrm>
          <a:prstGeom prst="rect">
            <a:avLst/>
          </a:prstGeom>
          <a:noFill/>
        </p:spPr>
        <p:txBody>
          <a:bodyPr wrap="none" rtlCol="0">
            <a:spAutoFit/>
          </a:bodyPr>
          <a:lstStyle/>
          <a:p>
            <a:r>
              <a:rPr lang="en-US" altLang="zh-CN" sz="2800" dirty="0">
                <a:solidFill>
                  <a:srgbClr val="FF0000"/>
                </a:solidFill>
              </a:rPr>
              <a:t>48. General Rule of </a:t>
            </a:r>
            <a:r>
              <a:rPr lang="en-US" altLang="zh-CN" sz="28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Phase diagram</a:t>
            </a:r>
          </a:p>
        </p:txBody>
      </p:sp>
      <p:sp>
        <p:nvSpPr>
          <p:cNvPr id="5" name="TextBox 4"/>
          <p:cNvSpPr txBox="1"/>
          <p:nvPr/>
        </p:nvSpPr>
        <p:spPr>
          <a:xfrm>
            <a:off x="1078564" y="4544918"/>
            <a:ext cx="7154917" cy="646331"/>
          </a:xfrm>
          <a:prstGeom prst="rect">
            <a:avLst/>
          </a:prstGeom>
          <a:noFill/>
        </p:spPr>
        <p:txBody>
          <a:bodyPr wrap="square" rtlCol="0">
            <a:spAutoFit/>
          </a:bodyPr>
          <a:lstStyle/>
          <a:p>
            <a:r>
              <a:rPr lang="zh-CN" altLang="en-US" dirty="0"/>
              <a:t>微观组织热力学，西泽泰二，化学工业出版社</a:t>
            </a:r>
            <a:endParaRPr lang="en-US" altLang="zh-CN" dirty="0"/>
          </a:p>
          <a:p>
            <a:r>
              <a:rPr lang="zh-CN" altLang="en-US" dirty="0"/>
              <a:t>相图理论及其应用， 王崇琳，高等教育出版社</a:t>
            </a:r>
            <a:endParaRPr lang="en-US" altLang="zh-CN" dirty="0"/>
          </a:p>
        </p:txBody>
      </p:sp>
    </p:spTree>
    <p:extLst>
      <p:ext uri="{BB962C8B-B14F-4D97-AF65-F5344CB8AC3E}">
        <p14:creationId xmlns:p14="http://schemas.microsoft.com/office/powerpoint/2010/main" val="422290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1479" y="180001"/>
            <a:ext cx="1686422" cy="2384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7199066" y="2620362"/>
            <a:ext cx="1717008" cy="646331"/>
          </a:xfrm>
          <a:prstGeom prst="rect">
            <a:avLst/>
          </a:prstGeom>
        </p:spPr>
        <p:txBody>
          <a:bodyPr wrap="none">
            <a:spAutoFit/>
          </a:bodyPr>
          <a:lstStyle/>
          <a:p>
            <a:pPr algn="ctr"/>
            <a:r>
              <a:rPr lang="en-US" altLang="zh-CN" dirty="0"/>
              <a:t>Lev D. Landau</a:t>
            </a:r>
            <a:r>
              <a:rPr lang="zh-CN" altLang="en-US" dirty="0"/>
              <a:t>，</a:t>
            </a:r>
            <a:endParaRPr lang="en-US" altLang="zh-CN" dirty="0"/>
          </a:p>
          <a:p>
            <a:pPr algn="ctr"/>
            <a:r>
              <a:rPr lang="en-US" altLang="zh-CN" dirty="0"/>
              <a:t>1908-1968</a:t>
            </a:r>
            <a:endParaRPr lang="zh-CN" altLang="en-US" dirty="0"/>
          </a:p>
        </p:txBody>
      </p:sp>
      <p:sp>
        <p:nvSpPr>
          <p:cNvPr id="4" name="矩形 3"/>
          <p:cNvSpPr/>
          <p:nvPr/>
        </p:nvSpPr>
        <p:spPr>
          <a:xfrm>
            <a:off x="249056" y="156070"/>
            <a:ext cx="5658985" cy="523220"/>
          </a:xfrm>
          <a:prstGeom prst="rect">
            <a:avLst/>
          </a:prstGeom>
        </p:spPr>
        <p:txBody>
          <a:bodyPr wrap="none">
            <a:spAutoFit/>
          </a:bodyPr>
          <a:lstStyle/>
          <a:p>
            <a:r>
              <a:rPr lang="en-US" altLang="zh-CN" sz="2800" dirty="0">
                <a:solidFill>
                  <a:srgbClr val="FF0000"/>
                </a:solidFill>
              </a:rPr>
              <a:t> Landau phase boundary relationship </a:t>
            </a:r>
            <a:endParaRPr lang="zh-CN" altLang="en-US" sz="2800" dirty="0">
              <a:solidFill>
                <a:srgbClr val="FF0000"/>
              </a:solidFill>
            </a:endParaRPr>
          </a:p>
        </p:txBody>
      </p:sp>
      <p:sp>
        <p:nvSpPr>
          <p:cNvPr id="7" name="TextBox 6"/>
          <p:cNvSpPr txBox="1"/>
          <p:nvPr/>
        </p:nvSpPr>
        <p:spPr>
          <a:xfrm>
            <a:off x="284213" y="1996068"/>
            <a:ext cx="5735416" cy="1477328"/>
          </a:xfrm>
          <a:prstGeom prst="rect">
            <a:avLst/>
          </a:prstGeom>
          <a:noFill/>
        </p:spPr>
        <p:txBody>
          <a:bodyPr wrap="none" rtlCol="0">
            <a:spAutoFit/>
          </a:bodyPr>
          <a:lstStyle/>
          <a:p>
            <a:r>
              <a:rPr lang="en-US" altLang="zh-CN" dirty="0"/>
              <a:t>R</a:t>
            </a:r>
            <a:r>
              <a:rPr lang="en-US" altLang="zh-CN" baseline="-25000" dirty="0"/>
              <a:t>1 </a:t>
            </a:r>
            <a:r>
              <a:rPr lang="zh-CN" altLang="en-US" dirty="0"/>
              <a:t>： </a:t>
            </a:r>
            <a:r>
              <a:rPr lang="en-US" altLang="zh-CN" dirty="0"/>
              <a:t>dimension of the phase boundary (</a:t>
            </a:r>
            <a:r>
              <a:rPr lang="zh-CN" altLang="en-US" dirty="0"/>
              <a:t>相邻相界维数</a:t>
            </a:r>
            <a:r>
              <a:rPr lang="en-US" altLang="zh-CN" dirty="0"/>
              <a:t>)</a:t>
            </a:r>
            <a:r>
              <a:rPr lang="zh-CN" altLang="en-US" dirty="0"/>
              <a:t>， </a:t>
            </a:r>
            <a:endParaRPr lang="en-US" altLang="zh-CN" dirty="0"/>
          </a:p>
          <a:p>
            <a:r>
              <a:rPr lang="en-US" altLang="zh-CN" dirty="0"/>
              <a:t>          </a:t>
            </a:r>
            <a:r>
              <a:rPr lang="en-US" altLang="zh-CN" dirty="0" err="1"/>
              <a:t>eg</a:t>
            </a:r>
            <a:r>
              <a:rPr lang="en-US" altLang="zh-CN" dirty="0"/>
              <a:t>. R</a:t>
            </a:r>
            <a:r>
              <a:rPr lang="en-US" altLang="zh-CN" baseline="-25000" dirty="0"/>
              <a:t>1 </a:t>
            </a:r>
            <a:r>
              <a:rPr lang="en-US" altLang="zh-CN" dirty="0"/>
              <a:t>=2</a:t>
            </a:r>
            <a:r>
              <a:rPr lang="zh-CN" altLang="en-US" dirty="0"/>
              <a:t> </a:t>
            </a:r>
            <a:r>
              <a:rPr lang="en-US" altLang="zh-CN" dirty="0"/>
              <a:t>for area </a:t>
            </a:r>
            <a:r>
              <a:rPr lang="zh-CN" altLang="en-US" dirty="0"/>
              <a:t>； </a:t>
            </a:r>
            <a:r>
              <a:rPr lang="en-US" altLang="zh-CN" dirty="0"/>
              <a:t>R</a:t>
            </a:r>
            <a:r>
              <a:rPr lang="en-US" altLang="zh-CN" baseline="-25000" dirty="0"/>
              <a:t>1 </a:t>
            </a:r>
            <a:r>
              <a:rPr lang="en-US" altLang="zh-CN" dirty="0"/>
              <a:t>=1</a:t>
            </a:r>
            <a:r>
              <a:rPr lang="zh-CN" altLang="en-US" dirty="0"/>
              <a:t> </a:t>
            </a:r>
            <a:r>
              <a:rPr lang="en-US" altLang="zh-CN" dirty="0"/>
              <a:t>for line; </a:t>
            </a:r>
            <a:r>
              <a:rPr lang="zh-CN" altLang="en-US" dirty="0"/>
              <a:t>； </a:t>
            </a:r>
            <a:r>
              <a:rPr lang="en-US" altLang="zh-CN" dirty="0"/>
              <a:t>R</a:t>
            </a:r>
            <a:r>
              <a:rPr lang="en-US" altLang="zh-CN" baseline="-25000" dirty="0"/>
              <a:t>1 </a:t>
            </a:r>
            <a:r>
              <a:rPr lang="en-US" altLang="zh-CN" dirty="0"/>
              <a:t>=0</a:t>
            </a:r>
            <a:r>
              <a:rPr lang="zh-CN" altLang="en-US" dirty="0"/>
              <a:t> </a:t>
            </a:r>
            <a:r>
              <a:rPr lang="en-US" altLang="zh-CN" dirty="0"/>
              <a:t>for point</a:t>
            </a:r>
          </a:p>
          <a:p>
            <a:r>
              <a:rPr lang="en-US" altLang="zh-CN" dirty="0"/>
              <a:t>R:      dimension of phase diagram or section</a:t>
            </a:r>
          </a:p>
          <a:p>
            <a:r>
              <a:rPr lang="en-US" altLang="zh-CN" dirty="0"/>
              <a:t>D</a:t>
            </a:r>
            <a:r>
              <a:rPr lang="en-US" altLang="zh-CN" baseline="30000" dirty="0"/>
              <a:t>- </a:t>
            </a:r>
            <a:r>
              <a:rPr lang="zh-CN" altLang="en-US" dirty="0"/>
              <a:t>：   </a:t>
            </a:r>
            <a:r>
              <a:rPr lang="en-US" altLang="zh-CN" dirty="0"/>
              <a:t>phase decrease across the boundary</a:t>
            </a:r>
          </a:p>
          <a:p>
            <a:r>
              <a:rPr lang="en-US" altLang="zh-CN" dirty="0"/>
              <a:t>D</a:t>
            </a:r>
            <a:r>
              <a:rPr lang="en-US" altLang="zh-CN" baseline="30000" dirty="0"/>
              <a:t>+ </a:t>
            </a:r>
            <a:r>
              <a:rPr lang="zh-CN" altLang="en-US" dirty="0"/>
              <a:t>：</a:t>
            </a:r>
            <a:r>
              <a:rPr lang="zh-CN" altLang="en-US" baseline="30000" dirty="0"/>
              <a:t>  </a:t>
            </a:r>
            <a:r>
              <a:rPr lang="en-US" altLang="zh-CN" dirty="0"/>
              <a:t>phase increase crease across the boundary</a:t>
            </a:r>
          </a:p>
        </p:txBody>
      </p:sp>
      <p:graphicFrame>
        <p:nvGraphicFramePr>
          <p:cNvPr id="10" name="对象 9"/>
          <p:cNvGraphicFramePr>
            <a:graphicFrameLocks noChangeAspect="1"/>
          </p:cNvGraphicFramePr>
          <p:nvPr>
            <p:extLst>
              <p:ext uri="{D42A27DB-BD31-4B8C-83A1-F6EECF244321}">
                <p14:modId xmlns:p14="http://schemas.microsoft.com/office/powerpoint/2010/main" val="1807740325"/>
              </p:ext>
            </p:extLst>
          </p:nvPr>
        </p:nvGraphicFramePr>
        <p:xfrm>
          <a:off x="1651535" y="1124744"/>
          <a:ext cx="3956650" cy="648072"/>
        </p:xfrm>
        <a:graphic>
          <a:graphicData uri="http://schemas.openxmlformats.org/presentationml/2006/ole">
            <mc:AlternateContent xmlns:mc="http://schemas.openxmlformats.org/markup-compatibility/2006">
              <mc:Choice xmlns:v="urn:schemas-microsoft-com:vml" Requires="v">
                <p:oleObj name="Equation" r:id="rId3" imgW="1473120" imgH="241200" progId="Equation.DSMT4">
                  <p:embed/>
                </p:oleObj>
              </mc:Choice>
              <mc:Fallback>
                <p:oleObj name="Equation" r:id="rId3" imgW="1473120" imgH="241200" progId="Equation.DSMT4">
                  <p:embed/>
                  <p:pic>
                    <p:nvPicPr>
                      <p:cNvPr id="0" name=""/>
                      <p:cNvPicPr/>
                      <p:nvPr/>
                    </p:nvPicPr>
                    <p:blipFill>
                      <a:blip r:embed="rId4"/>
                      <a:stretch>
                        <a:fillRect/>
                      </a:stretch>
                    </p:blipFill>
                    <p:spPr>
                      <a:xfrm>
                        <a:off x="1651535" y="1124744"/>
                        <a:ext cx="3956650" cy="648072"/>
                      </a:xfrm>
                      <a:prstGeom prst="rect">
                        <a:avLst/>
                      </a:prstGeom>
                      <a:solidFill>
                        <a:schemeClr val="accent6">
                          <a:lumMod val="60000"/>
                          <a:lumOff val="40000"/>
                        </a:schemeClr>
                      </a:solidFill>
                    </p:spPr>
                  </p:pic>
                </p:oleObj>
              </mc:Fallback>
            </mc:AlternateContent>
          </a:graphicData>
        </a:graphic>
      </p:graphicFrame>
      <p:pic>
        <p:nvPicPr>
          <p:cNvPr id="74758" name="Picture 6" descr="C:\Users\dell\AppData\Local\Temp\WeChat Files\5f9e1b3534166601cff1f21f8279773.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5485" t="7613" r="6605" b="9601"/>
          <a:stretch/>
        </p:blipFill>
        <p:spPr bwMode="auto">
          <a:xfrm rot="5400000">
            <a:off x="5327149" y="3354046"/>
            <a:ext cx="2967605" cy="318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11560" y="3918850"/>
            <a:ext cx="4283673" cy="2308324"/>
          </a:xfrm>
          <a:prstGeom prst="rect">
            <a:avLst/>
          </a:prstGeom>
          <a:noFill/>
        </p:spPr>
        <p:txBody>
          <a:bodyPr wrap="none" rtlCol="0">
            <a:spAutoFit/>
          </a:bodyPr>
          <a:lstStyle/>
          <a:p>
            <a:r>
              <a:rPr lang="en-US" altLang="zh-CN" dirty="0"/>
              <a:t>Region I</a:t>
            </a:r>
            <a:r>
              <a:rPr lang="en-US" altLang="zh-CN" dirty="0">
                <a:sym typeface="Wingdings" pitchFamily="2" charset="2"/>
              </a:rPr>
              <a:t> Region </a:t>
            </a:r>
            <a:r>
              <a:rPr lang="en-US" altLang="zh-CN" dirty="0"/>
              <a:t>II, increase a phase</a:t>
            </a:r>
            <a:r>
              <a:rPr lang="zh-CN" altLang="en-US" dirty="0"/>
              <a:t>：</a:t>
            </a:r>
            <a:endParaRPr lang="en-US" altLang="zh-CN" dirty="0"/>
          </a:p>
          <a:p>
            <a:r>
              <a:rPr lang="en-US" altLang="zh-CN" dirty="0"/>
              <a:t>   D</a:t>
            </a:r>
            <a:r>
              <a:rPr lang="en-US" altLang="zh-CN" baseline="30000" dirty="0"/>
              <a:t>+</a:t>
            </a:r>
            <a:r>
              <a:rPr lang="en-US" altLang="zh-CN" dirty="0"/>
              <a:t>=1, R=2, </a:t>
            </a:r>
            <a:r>
              <a:rPr lang="en-US" altLang="zh-CN" dirty="0">
                <a:solidFill>
                  <a:srgbClr val="FF0000"/>
                </a:solidFill>
              </a:rPr>
              <a:t>R</a:t>
            </a:r>
            <a:r>
              <a:rPr lang="en-US" altLang="zh-CN" baseline="-25000" dirty="0">
                <a:solidFill>
                  <a:srgbClr val="FF0000"/>
                </a:solidFill>
              </a:rPr>
              <a:t>1</a:t>
            </a:r>
            <a:r>
              <a:rPr lang="en-US" altLang="zh-CN" dirty="0">
                <a:solidFill>
                  <a:srgbClr val="FF0000"/>
                </a:solidFill>
              </a:rPr>
              <a:t>=1</a:t>
            </a:r>
          </a:p>
          <a:p>
            <a:endParaRPr lang="en-US" altLang="zh-CN" dirty="0"/>
          </a:p>
          <a:p>
            <a:r>
              <a:rPr lang="en-US" altLang="zh-CN" dirty="0"/>
              <a:t>Region IV</a:t>
            </a:r>
            <a:r>
              <a:rPr lang="en-US" altLang="zh-CN" dirty="0">
                <a:sym typeface="Wingdings" pitchFamily="2" charset="2"/>
              </a:rPr>
              <a:t> Region </a:t>
            </a:r>
            <a:r>
              <a:rPr lang="en-US" altLang="zh-CN" dirty="0"/>
              <a:t>II, decrease a phase</a:t>
            </a:r>
          </a:p>
          <a:p>
            <a:r>
              <a:rPr lang="en-US" altLang="zh-CN" dirty="0"/>
              <a:t>D</a:t>
            </a:r>
            <a:r>
              <a:rPr lang="en-US" altLang="zh-CN" baseline="30000" dirty="0"/>
              <a:t>-</a:t>
            </a:r>
            <a:r>
              <a:rPr lang="en-US" altLang="zh-CN" dirty="0"/>
              <a:t>=1, R=2, </a:t>
            </a:r>
            <a:r>
              <a:rPr lang="en-US" altLang="zh-CN" dirty="0">
                <a:solidFill>
                  <a:srgbClr val="FF0000"/>
                </a:solidFill>
              </a:rPr>
              <a:t>R</a:t>
            </a:r>
            <a:r>
              <a:rPr lang="en-US" altLang="zh-CN" baseline="-25000" dirty="0">
                <a:solidFill>
                  <a:srgbClr val="FF0000"/>
                </a:solidFill>
              </a:rPr>
              <a:t>1</a:t>
            </a:r>
            <a:r>
              <a:rPr lang="en-US" altLang="zh-CN" dirty="0">
                <a:solidFill>
                  <a:srgbClr val="FF0000"/>
                </a:solidFill>
              </a:rPr>
              <a:t>=1</a:t>
            </a:r>
          </a:p>
          <a:p>
            <a:endParaRPr lang="en-US" altLang="zh-CN" dirty="0"/>
          </a:p>
          <a:p>
            <a:r>
              <a:rPr lang="en-US" altLang="zh-CN" dirty="0"/>
              <a:t>Region I</a:t>
            </a:r>
            <a:r>
              <a:rPr lang="en-US" altLang="zh-CN" dirty="0">
                <a:sym typeface="Wingdings" pitchFamily="2" charset="2"/>
              </a:rPr>
              <a:t> Region I</a:t>
            </a:r>
            <a:r>
              <a:rPr lang="en-US" altLang="zh-CN" dirty="0"/>
              <a:t>V, increase two phase </a:t>
            </a:r>
            <a:r>
              <a:rPr lang="zh-CN" altLang="en-US" dirty="0"/>
              <a:t>：</a:t>
            </a:r>
            <a:endParaRPr lang="en-US" altLang="zh-CN" dirty="0"/>
          </a:p>
          <a:p>
            <a:r>
              <a:rPr lang="en-US" altLang="zh-CN" dirty="0"/>
              <a:t>   D</a:t>
            </a:r>
            <a:r>
              <a:rPr lang="en-US" altLang="zh-CN" baseline="30000" dirty="0"/>
              <a:t>+</a:t>
            </a:r>
            <a:r>
              <a:rPr lang="en-US" altLang="zh-CN" dirty="0"/>
              <a:t>=2, R=2, </a:t>
            </a:r>
            <a:r>
              <a:rPr lang="en-US" altLang="zh-CN" dirty="0">
                <a:solidFill>
                  <a:srgbClr val="FF0000"/>
                </a:solidFill>
              </a:rPr>
              <a:t>R</a:t>
            </a:r>
            <a:r>
              <a:rPr lang="en-US" altLang="zh-CN" baseline="-25000" dirty="0">
                <a:solidFill>
                  <a:srgbClr val="FF0000"/>
                </a:solidFill>
              </a:rPr>
              <a:t>1</a:t>
            </a:r>
            <a:r>
              <a:rPr lang="en-US" altLang="zh-CN" dirty="0">
                <a:solidFill>
                  <a:srgbClr val="FF0000"/>
                </a:solidFill>
              </a:rPr>
              <a:t>=0</a:t>
            </a:r>
            <a:endParaRPr lang="zh-CN" altLang="en-US" dirty="0">
              <a:solidFill>
                <a:srgbClr val="FF0000"/>
              </a:solidFill>
            </a:endParaRPr>
          </a:p>
        </p:txBody>
      </p:sp>
      <p:sp>
        <p:nvSpPr>
          <p:cNvPr id="2" name="TextBox 1"/>
          <p:cNvSpPr txBox="1"/>
          <p:nvPr/>
        </p:nvSpPr>
        <p:spPr>
          <a:xfrm>
            <a:off x="6628482" y="5332566"/>
            <a:ext cx="542136" cy="369332"/>
          </a:xfrm>
          <a:prstGeom prst="rect">
            <a:avLst/>
          </a:prstGeom>
          <a:noFill/>
        </p:spPr>
        <p:txBody>
          <a:bodyPr wrap="none" rtlCol="0">
            <a:spAutoFit/>
          </a:bodyPr>
          <a:lstStyle/>
          <a:p>
            <a:r>
              <a:rPr lang="en-US" altLang="zh-CN" dirty="0"/>
              <a:t>R=2</a:t>
            </a:r>
            <a:endParaRPr lang="zh-CN" altLang="en-US" dirty="0"/>
          </a:p>
        </p:txBody>
      </p:sp>
    </p:spTree>
    <p:extLst>
      <p:ext uri="{BB962C8B-B14F-4D97-AF65-F5344CB8AC3E}">
        <p14:creationId xmlns:p14="http://schemas.microsoft.com/office/powerpoint/2010/main" val="10750756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38095" y="288996"/>
            <a:ext cx="5012911" cy="461665"/>
          </a:xfrm>
          <a:prstGeom prst="rect">
            <a:avLst/>
          </a:prstGeom>
          <a:noFill/>
        </p:spPr>
        <p:txBody>
          <a:bodyPr wrap="none" rtlCol="0">
            <a:spAutoFit/>
          </a:bodyPr>
          <a:lstStyle/>
          <a:p>
            <a:r>
              <a:rPr lang="en-US" altLang="zh-CN" sz="2400" dirty="0">
                <a:solidFill>
                  <a:srgbClr val="FF0000"/>
                </a:solidFill>
              </a:rPr>
              <a:t>General rule of ternary phase diagram </a:t>
            </a:r>
            <a:endParaRPr lang="zh-CN" altLang="en-US" sz="2400" dirty="0">
              <a:solidFill>
                <a:srgbClr val="FF0000"/>
              </a:solidFill>
            </a:endParaRPr>
          </a:p>
        </p:txBody>
      </p:sp>
      <p:pic>
        <p:nvPicPr>
          <p:cNvPr id="73730" name="Picture 2" descr="C:\Users\dell\AppData\Local\Temp\WeChat Files\11ce29ff0770fdbe256b5271a7b7552.jpg"/>
          <p:cNvPicPr>
            <a:picLocks noChangeAspect="1" noChangeArrowheads="1"/>
          </p:cNvPicPr>
          <p:nvPr/>
        </p:nvPicPr>
        <p:blipFill rotWithShape="1">
          <a:blip r:embed="rId2">
            <a:extLst>
              <a:ext uri="{28A0092B-C50C-407E-A947-70E740481C1C}">
                <a14:useLocalDpi xmlns:a14="http://schemas.microsoft.com/office/drawing/2010/main" val="0"/>
              </a:ext>
            </a:extLst>
          </a:blip>
          <a:srcRect l="13715" t="11194" r="26849" b="7413"/>
          <a:stretch/>
        </p:blipFill>
        <p:spPr bwMode="auto">
          <a:xfrm rot="16200000">
            <a:off x="4802226" y="-149221"/>
            <a:ext cx="2736304" cy="49962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76696" y="4149080"/>
            <a:ext cx="6634893" cy="2339102"/>
          </a:xfrm>
          <a:prstGeom prst="rect">
            <a:avLst/>
          </a:prstGeom>
          <a:noFill/>
        </p:spPr>
        <p:txBody>
          <a:bodyPr wrap="none" rtlCol="0">
            <a:spAutoFit/>
          </a:bodyPr>
          <a:lstStyle/>
          <a:p>
            <a:r>
              <a:rPr lang="en-US" altLang="zh-CN" sz="2000" b="1" dirty="0"/>
              <a:t>single phase (f=3): </a:t>
            </a:r>
          </a:p>
          <a:p>
            <a:pPr marL="285750" indent="-285750">
              <a:buFont typeface="Wingdings" pitchFamily="2" charset="2"/>
              <a:buChar char="ü"/>
            </a:pPr>
            <a:r>
              <a:rPr lang="en-US" altLang="zh-CN" dirty="0"/>
              <a:t>It connected with 4-phase region at a point</a:t>
            </a:r>
            <a:r>
              <a:rPr lang="zh-CN" altLang="en-US" dirty="0"/>
              <a:t>， </a:t>
            </a:r>
            <a:endParaRPr lang="en-US" altLang="zh-CN" dirty="0"/>
          </a:p>
          <a:p>
            <a:r>
              <a:rPr lang="en-US" altLang="zh-CN" dirty="0"/>
              <a:t>  </a:t>
            </a:r>
            <a:r>
              <a:rPr lang="en-US" altLang="zh-CN" dirty="0" err="1"/>
              <a:t>eg</a:t>
            </a:r>
            <a:r>
              <a:rPr lang="en-US" altLang="zh-CN" dirty="0"/>
              <a:t>. </a:t>
            </a:r>
            <a:r>
              <a:rPr lang="en-US" altLang="zh-CN" b="1" i="1" dirty="0">
                <a:solidFill>
                  <a:srgbClr val="FF0000"/>
                </a:solidFill>
              </a:rPr>
              <a:t>L</a:t>
            </a:r>
            <a:r>
              <a:rPr lang="en-US" altLang="zh-CN" dirty="0"/>
              <a:t> and </a:t>
            </a:r>
            <a:r>
              <a:rPr lang="zh-CN" altLang="en-US" dirty="0"/>
              <a:t> </a:t>
            </a:r>
            <a:r>
              <a:rPr lang="en-US" altLang="zh-CN" dirty="0">
                <a:solidFill>
                  <a:srgbClr val="FF0000"/>
                </a:solidFill>
              </a:rPr>
              <a:t>L+</a:t>
            </a:r>
            <a:r>
              <a:rPr lang="el-GR" altLang="zh-CN" dirty="0">
                <a:solidFill>
                  <a:srgbClr val="FF0000"/>
                </a:solidFill>
              </a:rPr>
              <a:t>α</a:t>
            </a:r>
            <a:r>
              <a:rPr lang="en-US" altLang="zh-CN" dirty="0">
                <a:solidFill>
                  <a:srgbClr val="FF0000"/>
                </a:solidFill>
              </a:rPr>
              <a:t>+</a:t>
            </a:r>
            <a:r>
              <a:rPr lang="el-GR" altLang="zh-CN" dirty="0">
                <a:solidFill>
                  <a:srgbClr val="FF0000"/>
                </a:solidFill>
              </a:rPr>
              <a:t>β</a:t>
            </a:r>
            <a:r>
              <a:rPr lang="en-US" altLang="zh-CN" dirty="0">
                <a:solidFill>
                  <a:srgbClr val="FF0000"/>
                </a:solidFill>
              </a:rPr>
              <a:t>+</a:t>
            </a:r>
            <a:r>
              <a:rPr lang="el-GR" altLang="zh-CN" dirty="0">
                <a:solidFill>
                  <a:srgbClr val="FF0000"/>
                </a:solidFill>
              </a:rPr>
              <a:t>γ</a:t>
            </a:r>
            <a:r>
              <a:rPr lang="en-US" altLang="zh-CN" dirty="0"/>
              <a:t>  connected at </a:t>
            </a:r>
            <a:r>
              <a:rPr lang="en-US" altLang="zh-CN" dirty="0">
                <a:solidFill>
                  <a:srgbClr val="FF0000"/>
                </a:solidFill>
              </a:rPr>
              <a:t>L</a:t>
            </a:r>
            <a:r>
              <a:rPr lang="en-US" altLang="zh-CN" dirty="0"/>
              <a:t> ; </a:t>
            </a:r>
            <a:r>
              <a:rPr lang="el-GR" altLang="zh-CN" dirty="0">
                <a:solidFill>
                  <a:srgbClr val="FF0000"/>
                </a:solidFill>
              </a:rPr>
              <a:t>α</a:t>
            </a:r>
            <a:r>
              <a:rPr lang="en-US" altLang="zh-CN" dirty="0"/>
              <a:t> and</a:t>
            </a:r>
            <a:r>
              <a:rPr lang="zh-CN" altLang="en-US" dirty="0"/>
              <a:t> </a:t>
            </a:r>
            <a:r>
              <a:rPr lang="en-US" altLang="zh-CN" dirty="0">
                <a:solidFill>
                  <a:srgbClr val="FF0000"/>
                </a:solidFill>
              </a:rPr>
              <a:t>L+</a:t>
            </a:r>
            <a:r>
              <a:rPr lang="el-GR" altLang="zh-CN" dirty="0">
                <a:solidFill>
                  <a:srgbClr val="FF0000"/>
                </a:solidFill>
              </a:rPr>
              <a:t>α</a:t>
            </a:r>
            <a:r>
              <a:rPr lang="en-US" altLang="zh-CN" dirty="0">
                <a:solidFill>
                  <a:srgbClr val="FF0000"/>
                </a:solidFill>
              </a:rPr>
              <a:t>+</a:t>
            </a:r>
            <a:r>
              <a:rPr lang="el-GR" altLang="zh-CN" dirty="0">
                <a:solidFill>
                  <a:srgbClr val="FF0000"/>
                </a:solidFill>
              </a:rPr>
              <a:t>β</a:t>
            </a:r>
            <a:r>
              <a:rPr lang="en-US" altLang="zh-CN" dirty="0">
                <a:solidFill>
                  <a:srgbClr val="FF0000"/>
                </a:solidFill>
              </a:rPr>
              <a:t>+</a:t>
            </a:r>
            <a:r>
              <a:rPr lang="el-GR" altLang="zh-CN" dirty="0">
                <a:solidFill>
                  <a:srgbClr val="FF0000"/>
                </a:solidFill>
              </a:rPr>
              <a:t>γ</a:t>
            </a:r>
            <a:r>
              <a:rPr lang="en-US" altLang="zh-CN" dirty="0"/>
              <a:t>  connected at </a:t>
            </a:r>
            <a:r>
              <a:rPr lang="en-US" altLang="zh-CN" i="1" dirty="0">
                <a:solidFill>
                  <a:srgbClr val="FF0000"/>
                </a:solidFill>
              </a:rPr>
              <a:t>a</a:t>
            </a:r>
            <a:r>
              <a:rPr lang="en-US" altLang="zh-CN" dirty="0"/>
              <a:t> </a:t>
            </a:r>
          </a:p>
          <a:p>
            <a:pPr marL="285750" indent="-285750">
              <a:buFont typeface="Wingdings" pitchFamily="2" charset="2"/>
              <a:buChar char="ü"/>
            </a:pPr>
            <a:r>
              <a:rPr lang="en-US" altLang="zh-CN" dirty="0"/>
              <a:t>It connected with 3-phase region at a line</a:t>
            </a:r>
            <a:r>
              <a:rPr lang="zh-CN" altLang="en-US" dirty="0"/>
              <a:t>， </a:t>
            </a:r>
            <a:endParaRPr lang="en-US" altLang="zh-CN" dirty="0"/>
          </a:p>
          <a:p>
            <a:r>
              <a:rPr lang="en-US" altLang="zh-CN" dirty="0"/>
              <a:t>  </a:t>
            </a:r>
            <a:r>
              <a:rPr lang="en-US" altLang="zh-CN" dirty="0" err="1"/>
              <a:t>eg</a:t>
            </a:r>
            <a:r>
              <a:rPr lang="en-US" altLang="zh-CN" dirty="0"/>
              <a:t>. </a:t>
            </a:r>
            <a:r>
              <a:rPr lang="en-US" altLang="zh-CN" b="1" i="1" dirty="0">
                <a:solidFill>
                  <a:srgbClr val="FF0000"/>
                </a:solidFill>
              </a:rPr>
              <a:t>L</a:t>
            </a:r>
            <a:r>
              <a:rPr lang="en-US" altLang="zh-CN" dirty="0"/>
              <a:t> and </a:t>
            </a:r>
            <a:r>
              <a:rPr lang="en-US" altLang="zh-CN" i="1" dirty="0">
                <a:solidFill>
                  <a:srgbClr val="FF0000"/>
                </a:solidFill>
              </a:rPr>
              <a:t>L+ </a:t>
            </a:r>
            <a:r>
              <a:rPr lang="el-GR" altLang="zh-CN" i="1" dirty="0">
                <a:solidFill>
                  <a:srgbClr val="FF0000"/>
                </a:solidFill>
              </a:rPr>
              <a:t>α</a:t>
            </a:r>
            <a:r>
              <a:rPr lang="en-US" altLang="zh-CN" i="1" dirty="0">
                <a:solidFill>
                  <a:srgbClr val="FF0000"/>
                </a:solidFill>
              </a:rPr>
              <a:t>+</a:t>
            </a:r>
            <a:r>
              <a:rPr lang="el-GR" altLang="zh-CN" i="1" dirty="0">
                <a:solidFill>
                  <a:srgbClr val="FF0000"/>
                </a:solidFill>
              </a:rPr>
              <a:t>β</a:t>
            </a:r>
            <a:r>
              <a:rPr lang="en-US" altLang="zh-CN" i="1" dirty="0">
                <a:solidFill>
                  <a:srgbClr val="FF0000"/>
                </a:solidFill>
              </a:rPr>
              <a:t> </a:t>
            </a:r>
            <a:r>
              <a:rPr lang="en-US" altLang="zh-CN" dirty="0"/>
              <a:t>connected at</a:t>
            </a:r>
            <a:r>
              <a:rPr lang="en-US" altLang="zh-CN" i="1" dirty="0">
                <a:solidFill>
                  <a:srgbClr val="FF0000"/>
                </a:solidFill>
              </a:rPr>
              <a:t> e1L </a:t>
            </a:r>
            <a:r>
              <a:rPr lang="en-US" altLang="zh-CN" dirty="0"/>
              <a:t>melting grooves</a:t>
            </a:r>
          </a:p>
          <a:p>
            <a:pPr marL="285750" indent="-285750">
              <a:buFont typeface="Wingdings" pitchFamily="2" charset="2"/>
              <a:buChar char="ü"/>
            </a:pPr>
            <a:r>
              <a:rPr lang="en-US" altLang="zh-CN" dirty="0"/>
              <a:t>It connected with 2-phase region at a area</a:t>
            </a:r>
          </a:p>
          <a:p>
            <a:r>
              <a:rPr lang="en-US" altLang="zh-CN" dirty="0"/>
              <a:t>   </a:t>
            </a:r>
            <a:r>
              <a:rPr lang="en-US" altLang="zh-CN" dirty="0" err="1"/>
              <a:t>eg</a:t>
            </a:r>
            <a:r>
              <a:rPr lang="en-US" altLang="zh-CN" dirty="0"/>
              <a:t>. </a:t>
            </a:r>
            <a:r>
              <a:rPr lang="en-US" altLang="zh-CN" dirty="0">
                <a:solidFill>
                  <a:srgbClr val="FF0000"/>
                </a:solidFill>
              </a:rPr>
              <a:t>L</a:t>
            </a:r>
            <a:r>
              <a:rPr lang="zh-CN" altLang="en-US" dirty="0"/>
              <a:t> </a:t>
            </a:r>
            <a:r>
              <a:rPr lang="en-US" altLang="zh-CN" dirty="0"/>
              <a:t>and </a:t>
            </a:r>
            <a:r>
              <a:rPr lang="en-US" altLang="zh-CN" dirty="0">
                <a:solidFill>
                  <a:srgbClr val="FF0000"/>
                </a:solidFill>
              </a:rPr>
              <a:t>L+ </a:t>
            </a:r>
            <a:r>
              <a:rPr lang="el-GR" altLang="zh-CN" dirty="0">
                <a:solidFill>
                  <a:srgbClr val="FF0000"/>
                </a:solidFill>
              </a:rPr>
              <a:t>α</a:t>
            </a:r>
            <a:r>
              <a:rPr lang="en-US" altLang="zh-CN" dirty="0">
                <a:solidFill>
                  <a:srgbClr val="FF0000"/>
                </a:solidFill>
              </a:rPr>
              <a:t> </a:t>
            </a:r>
            <a:r>
              <a:rPr lang="en-US" altLang="zh-CN" dirty="0"/>
              <a:t>connected at a area</a:t>
            </a:r>
          </a:p>
          <a:p>
            <a:pPr marL="285750" indent="-285750">
              <a:buFont typeface="Wingdings" pitchFamily="2" charset="2"/>
              <a:buChar char="ü"/>
            </a:pPr>
            <a:r>
              <a:rPr lang="en-US" altLang="zh-CN" dirty="0"/>
              <a:t>It connected with 1-phase region at pole</a:t>
            </a:r>
          </a:p>
        </p:txBody>
      </p:sp>
      <p:pic>
        <p:nvPicPr>
          <p:cNvPr id="7373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45" y="0"/>
            <a:ext cx="3351327" cy="382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6899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1640" y="323364"/>
            <a:ext cx="5012911" cy="461665"/>
          </a:xfrm>
          <a:prstGeom prst="rect">
            <a:avLst/>
          </a:prstGeom>
          <a:noFill/>
        </p:spPr>
        <p:txBody>
          <a:bodyPr wrap="none" rtlCol="0">
            <a:spAutoFit/>
          </a:bodyPr>
          <a:lstStyle/>
          <a:p>
            <a:r>
              <a:rPr lang="en-US" altLang="zh-CN" sz="2400" dirty="0">
                <a:solidFill>
                  <a:srgbClr val="FF0000"/>
                </a:solidFill>
              </a:rPr>
              <a:t>General rule of ternary phase diagram </a:t>
            </a:r>
            <a:endParaRPr lang="zh-CN" altLang="en-US" sz="2400" dirty="0">
              <a:solidFill>
                <a:srgbClr val="FF0000"/>
              </a:solidFill>
            </a:endParaRPr>
          </a:p>
        </p:txBody>
      </p:sp>
      <p:pic>
        <p:nvPicPr>
          <p:cNvPr id="73730" name="Picture 2" descr="C:\Users\dell\AppData\Local\Temp\WeChat Files\11ce29ff0770fdbe256b5271a7b7552.jpg"/>
          <p:cNvPicPr>
            <a:picLocks noChangeAspect="1" noChangeArrowheads="1"/>
          </p:cNvPicPr>
          <p:nvPr/>
        </p:nvPicPr>
        <p:blipFill rotWithShape="1">
          <a:blip r:embed="rId2">
            <a:extLst>
              <a:ext uri="{28A0092B-C50C-407E-A947-70E740481C1C}">
                <a14:useLocalDpi xmlns:a14="http://schemas.microsoft.com/office/drawing/2010/main" val="0"/>
              </a:ext>
            </a:extLst>
          </a:blip>
          <a:srcRect l="13715" t="11194" r="26849" b="7413"/>
          <a:stretch/>
        </p:blipFill>
        <p:spPr bwMode="auto">
          <a:xfrm rot="16200000">
            <a:off x="4348960" y="-281692"/>
            <a:ext cx="3057098" cy="5581937"/>
          </a:xfrm>
          <a:prstGeom prst="rect">
            <a:avLst/>
          </a:prstGeom>
          <a:noFill/>
          <a:extLst>
            <a:ext uri="{909E8E84-426E-40DD-AFC4-6F175D3DCCD1}">
              <a14:hiddenFill xmlns:a14="http://schemas.microsoft.com/office/drawing/2010/main">
                <a:solidFill>
                  <a:srgbClr val="FFFFFF"/>
                </a:solidFill>
              </a14:hiddenFill>
            </a:ext>
          </a:extLst>
        </p:spPr>
      </p:pic>
      <p:pic>
        <p:nvPicPr>
          <p:cNvPr id="7373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36" y="1484784"/>
            <a:ext cx="2148596" cy="2450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899592" y="4085543"/>
            <a:ext cx="4556312" cy="1785104"/>
          </a:xfrm>
          <a:prstGeom prst="rect">
            <a:avLst/>
          </a:prstGeom>
          <a:noFill/>
        </p:spPr>
        <p:txBody>
          <a:bodyPr wrap="none" rtlCol="0">
            <a:spAutoFit/>
          </a:bodyPr>
          <a:lstStyle/>
          <a:p>
            <a:r>
              <a:rPr lang="en-US" altLang="zh-CN" sz="2000" b="1" dirty="0"/>
              <a:t>two phase region (f=2): </a:t>
            </a:r>
          </a:p>
          <a:p>
            <a:pPr marL="285750" indent="-285750">
              <a:buFont typeface="Wingdings" pitchFamily="2" charset="2"/>
              <a:buChar char="ü"/>
            </a:pPr>
            <a:r>
              <a:rPr lang="en-US" altLang="zh-CN" dirty="0"/>
              <a:t>It connected with 4-phase region at line</a:t>
            </a:r>
            <a:r>
              <a:rPr lang="zh-CN" altLang="en-US" dirty="0"/>
              <a:t>， </a:t>
            </a:r>
            <a:endParaRPr lang="en-US" altLang="zh-CN" dirty="0"/>
          </a:p>
          <a:p>
            <a:r>
              <a:rPr lang="en-US" altLang="zh-CN" dirty="0"/>
              <a:t>     </a:t>
            </a:r>
            <a:r>
              <a:rPr lang="en-US" altLang="zh-CN" dirty="0" err="1"/>
              <a:t>eg</a:t>
            </a:r>
            <a:r>
              <a:rPr lang="en-US" altLang="zh-CN" dirty="0"/>
              <a:t>. </a:t>
            </a:r>
            <a:r>
              <a:rPr lang="el-GR" altLang="zh-CN" b="1" i="1" dirty="0">
                <a:solidFill>
                  <a:srgbClr val="FF0000"/>
                </a:solidFill>
              </a:rPr>
              <a:t>α</a:t>
            </a:r>
            <a:r>
              <a:rPr lang="en-US" altLang="zh-CN" b="1" i="1" dirty="0">
                <a:solidFill>
                  <a:srgbClr val="FF0000"/>
                </a:solidFill>
              </a:rPr>
              <a:t>+</a:t>
            </a:r>
            <a:r>
              <a:rPr lang="el-GR" altLang="zh-CN" b="1" i="1" dirty="0">
                <a:solidFill>
                  <a:srgbClr val="FF0000"/>
                </a:solidFill>
              </a:rPr>
              <a:t>β</a:t>
            </a:r>
            <a:r>
              <a:rPr lang="en-US" altLang="zh-CN" b="1" i="1" dirty="0">
                <a:solidFill>
                  <a:srgbClr val="FF0000"/>
                </a:solidFill>
              </a:rPr>
              <a:t> </a:t>
            </a:r>
            <a:r>
              <a:rPr lang="en-US" altLang="zh-CN" dirty="0"/>
              <a:t>and </a:t>
            </a:r>
            <a:r>
              <a:rPr lang="zh-CN" altLang="en-US" dirty="0"/>
              <a:t> </a:t>
            </a:r>
            <a:r>
              <a:rPr lang="en-US" altLang="zh-CN" dirty="0">
                <a:solidFill>
                  <a:srgbClr val="FF0000"/>
                </a:solidFill>
              </a:rPr>
              <a:t>L+</a:t>
            </a:r>
            <a:r>
              <a:rPr lang="el-GR" altLang="zh-CN" dirty="0">
                <a:solidFill>
                  <a:srgbClr val="FF0000"/>
                </a:solidFill>
              </a:rPr>
              <a:t>α</a:t>
            </a:r>
            <a:r>
              <a:rPr lang="en-US" altLang="zh-CN" dirty="0">
                <a:solidFill>
                  <a:srgbClr val="FF0000"/>
                </a:solidFill>
              </a:rPr>
              <a:t>+</a:t>
            </a:r>
            <a:r>
              <a:rPr lang="el-GR" altLang="zh-CN" dirty="0">
                <a:solidFill>
                  <a:srgbClr val="FF0000"/>
                </a:solidFill>
              </a:rPr>
              <a:t>β</a:t>
            </a:r>
            <a:r>
              <a:rPr lang="en-US" altLang="zh-CN" dirty="0">
                <a:solidFill>
                  <a:srgbClr val="FF0000"/>
                </a:solidFill>
              </a:rPr>
              <a:t>+</a:t>
            </a:r>
            <a:r>
              <a:rPr lang="el-GR" altLang="zh-CN" dirty="0">
                <a:solidFill>
                  <a:srgbClr val="FF0000"/>
                </a:solidFill>
              </a:rPr>
              <a:t>γ</a:t>
            </a:r>
            <a:r>
              <a:rPr lang="en-US" altLang="zh-CN" dirty="0"/>
              <a:t>  connected at a-b line</a:t>
            </a:r>
          </a:p>
          <a:p>
            <a:pPr marL="285750" indent="-285750">
              <a:buFont typeface="Wingdings" pitchFamily="2" charset="2"/>
              <a:buChar char="ü"/>
            </a:pPr>
            <a:r>
              <a:rPr lang="en-US" altLang="zh-CN" dirty="0"/>
              <a:t>It connected with 3-phase region at area</a:t>
            </a:r>
            <a:r>
              <a:rPr lang="zh-CN" altLang="en-US" dirty="0"/>
              <a:t>， </a:t>
            </a:r>
            <a:endParaRPr lang="en-US" altLang="zh-CN" dirty="0"/>
          </a:p>
          <a:p>
            <a:pPr marL="285750" indent="-285750">
              <a:buFont typeface="Wingdings" pitchFamily="2" charset="2"/>
              <a:buChar char="ü"/>
            </a:pPr>
            <a:r>
              <a:rPr lang="en-US" altLang="zh-CN" dirty="0"/>
              <a:t>It connected with 2-phase region at a curve</a:t>
            </a:r>
          </a:p>
          <a:p>
            <a:r>
              <a:rPr lang="en-US" altLang="zh-CN" dirty="0"/>
              <a:t>      e.g. </a:t>
            </a:r>
            <a:r>
              <a:rPr lang="el-GR" altLang="zh-CN" b="1" i="1" dirty="0">
                <a:solidFill>
                  <a:srgbClr val="FF0000"/>
                </a:solidFill>
              </a:rPr>
              <a:t>α</a:t>
            </a:r>
            <a:r>
              <a:rPr lang="en-US" altLang="zh-CN" b="1" i="1" dirty="0">
                <a:solidFill>
                  <a:srgbClr val="FF0000"/>
                </a:solidFill>
              </a:rPr>
              <a:t>+</a:t>
            </a:r>
            <a:r>
              <a:rPr lang="el-GR" altLang="zh-CN" b="1" i="1" dirty="0">
                <a:solidFill>
                  <a:srgbClr val="FF0000"/>
                </a:solidFill>
              </a:rPr>
              <a:t>β</a:t>
            </a:r>
            <a:r>
              <a:rPr lang="en-US" altLang="zh-CN" b="1" i="1" dirty="0">
                <a:solidFill>
                  <a:srgbClr val="FF0000"/>
                </a:solidFill>
              </a:rPr>
              <a:t> </a:t>
            </a:r>
            <a:r>
              <a:rPr lang="en-US" altLang="zh-CN" dirty="0"/>
              <a:t>and </a:t>
            </a:r>
            <a:r>
              <a:rPr lang="el-GR" altLang="zh-CN" b="1" i="1" dirty="0">
                <a:solidFill>
                  <a:srgbClr val="FF0000"/>
                </a:solidFill>
              </a:rPr>
              <a:t>α</a:t>
            </a:r>
            <a:r>
              <a:rPr lang="en-US" altLang="zh-CN" b="1" i="1" dirty="0">
                <a:solidFill>
                  <a:srgbClr val="FF0000"/>
                </a:solidFill>
              </a:rPr>
              <a:t>+</a:t>
            </a:r>
            <a:r>
              <a:rPr lang="el-GR" altLang="zh-CN" b="1" i="1" dirty="0">
                <a:solidFill>
                  <a:srgbClr val="FF0000"/>
                </a:solidFill>
              </a:rPr>
              <a:t>γ</a:t>
            </a:r>
            <a:endParaRPr lang="en-US" altLang="zh-CN" dirty="0"/>
          </a:p>
        </p:txBody>
      </p:sp>
    </p:spTree>
    <p:extLst>
      <p:ext uri="{BB962C8B-B14F-4D97-AF65-F5344CB8AC3E}">
        <p14:creationId xmlns:p14="http://schemas.microsoft.com/office/powerpoint/2010/main" val="1326343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C:\Users\dell\AppData\Local\Temp\WeChat Files\b70c20728e895c09da80355bd1b1d9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1841" b="7860"/>
          <a:stretch/>
        </p:blipFill>
        <p:spPr bwMode="auto">
          <a:xfrm>
            <a:off x="0" y="2183642"/>
            <a:ext cx="9144000" cy="4135271"/>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1259632" y="292006"/>
            <a:ext cx="5658985" cy="523220"/>
          </a:xfrm>
          <a:prstGeom prst="rect">
            <a:avLst/>
          </a:prstGeom>
        </p:spPr>
        <p:txBody>
          <a:bodyPr wrap="none">
            <a:spAutoFit/>
          </a:bodyPr>
          <a:lstStyle/>
          <a:p>
            <a:r>
              <a:rPr lang="en-US" altLang="zh-CN" sz="2800" dirty="0">
                <a:solidFill>
                  <a:srgbClr val="FF0000"/>
                </a:solidFill>
              </a:rPr>
              <a:t> Landau phase boundary relationship </a:t>
            </a:r>
            <a:endParaRPr lang="zh-CN" altLang="en-US" sz="2800" dirty="0">
              <a:solidFill>
                <a:srgbClr val="FF0000"/>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652752609"/>
              </p:ext>
            </p:extLst>
          </p:nvPr>
        </p:nvGraphicFramePr>
        <p:xfrm>
          <a:off x="2593675" y="1340768"/>
          <a:ext cx="3956650" cy="648072"/>
        </p:xfrm>
        <a:graphic>
          <a:graphicData uri="http://schemas.openxmlformats.org/presentationml/2006/ole">
            <mc:AlternateContent xmlns:mc="http://schemas.openxmlformats.org/markup-compatibility/2006">
              <mc:Choice xmlns:v="urn:schemas-microsoft-com:vml" Requires="v">
                <p:oleObj name="Equation" r:id="rId3" imgW="1473120" imgH="241200" progId="Equation.DSMT4">
                  <p:embed/>
                </p:oleObj>
              </mc:Choice>
              <mc:Fallback>
                <p:oleObj name="Equation" r:id="rId3" imgW="1473120" imgH="241200" progId="Equation.DSMT4">
                  <p:embed/>
                  <p:pic>
                    <p:nvPicPr>
                      <p:cNvPr id="0" name=""/>
                      <p:cNvPicPr/>
                      <p:nvPr/>
                    </p:nvPicPr>
                    <p:blipFill>
                      <a:blip r:embed="rId4"/>
                      <a:stretch>
                        <a:fillRect/>
                      </a:stretch>
                    </p:blipFill>
                    <p:spPr>
                      <a:xfrm>
                        <a:off x="2593675" y="1340768"/>
                        <a:ext cx="3956650" cy="648072"/>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4928869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26957"/>
            <a:ext cx="3347583" cy="584775"/>
          </a:xfrm>
          <a:prstGeom prst="rect">
            <a:avLst/>
          </a:prstGeom>
          <a:noFill/>
        </p:spPr>
        <p:txBody>
          <a:bodyPr wrap="none" rtlCol="0">
            <a:spAutoFit/>
          </a:bodyPr>
          <a:lstStyle/>
          <a:p>
            <a:r>
              <a:rPr lang="en-US" altLang="zh-CN" sz="3200" dirty="0">
                <a:solidFill>
                  <a:srgbClr val="FF0000"/>
                </a:solidFill>
              </a:rPr>
              <a:t>Extension line rule </a:t>
            </a:r>
            <a:endParaRPr lang="zh-CN" altLang="en-US" sz="3200" dirty="0">
              <a:solidFill>
                <a:srgbClr val="FF0000"/>
              </a:solidFill>
            </a:endParaRPr>
          </a:p>
        </p:txBody>
      </p:sp>
      <p:pic>
        <p:nvPicPr>
          <p:cNvPr id="77826" name="Picture 2" descr="C:\Users\dell\AppData\Local\Temp\WeChat Files\974deee7a6454758a6ea7ffbff09714.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955" t="25672" r="13135" b="2289"/>
          <a:stretch/>
        </p:blipFill>
        <p:spPr bwMode="auto">
          <a:xfrm>
            <a:off x="683568" y="1916832"/>
            <a:ext cx="3168352" cy="252075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59632" y="908720"/>
            <a:ext cx="6311343" cy="646331"/>
          </a:xfrm>
          <a:prstGeom prst="rect">
            <a:avLst/>
          </a:prstGeom>
          <a:noFill/>
        </p:spPr>
        <p:txBody>
          <a:bodyPr wrap="none" rtlCol="0">
            <a:spAutoFit/>
          </a:bodyPr>
          <a:lstStyle/>
          <a:p>
            <a:r>
              <a:rPr lang="en-US" altLang="zh-CN" dirty="0"/>
              <a:t>1915</a:t>
            </a:r>
            <a:r>
              <a:rPr lang="zh-CN" altLang="en-US" dirty="0"/>
              <a:t>年 </a:t>
            </a:r>
            <a:r>
              <a:rPr lang="en-US" altLang="zh-CN" dirty="0" err="1"/>
              <a:t>Schreinmakers</a:t>
            </a:r>
            <a:r>
              <a:rPr lang="en-US" altLang="zh-CN" dirty="0"/>
              <a:t> </a:t>
            </a:r>
            <a:r>
              <a:rPr lang="zh-CN" altLang="en-US" dirty="0"/>
              <a:t>从热力学上证明延长线法则</a:t>
            </a:r>
            <a:endParaRPr lang="en-US" altLang="zh-CN" dirty="0"/>
          </a:p>
          <a:p>
            <a:r>
              <a:rPr lang="en-US" altLang="zh-CN" dirty="0"/>
              <a:t>1940</a:t>
            </a:r>
            <a:r>
              <a:rPr lang="zh-CN" altLang="en-US" dirty="0"/>
              <a:t>年</a:t>
            </a:r>
            <a:r>
              <a:rPr lang="en-US" altLang="zh-CN" dirty="0"/>
              <a:t>1944</a:t>
            </a:r>
            <a:r>
              <a:rPr lang="zh-CN" altLang="en-US" dirty="0"/>
              <a:t>年， </a:t>
            </a:r>
            <a:r>
              <a:rPr lang="en-US" altLang="zh-CN" dirty="0" err="1"/>
              <a:t>Lipon</a:t>
            </a:r>
            <a:r>
              <a:rPr lang="zh-CN" altLang="en-US" dirty="0"/>
              <a:t>和</a:t>
            </a:r>
            <a:r>
              <a:rPr lang="en-US" altLang="zh-CN" dirty="0"/>
              <a:t>Wilson </a:t>
            </a:r>
            <a:r>
              <a:rPr lang="zh-CN" altLang="en-US" dirty="0"/>
              <a:t>分别从相平衡角度证明该法则</a:t>
            </a:r>
          </a:p>
        </p:txBody>
      </p:sp>
      <p:sp>
        <p:nvSpPr>
          <p:cNvPr id="4" name="TextBox 3"/>
          <p:cNvSpPr txBox="1"/>
          <p:nvPr/>
        </p:nvSpPr>
        <p:spPr>
          <a:xfrm>
            <a:off x="683568" y="4581128"/>
            <a:ext cx="7862024" cy="923330"/>
          </a:xfrm>
          <a:prstGeom prst="rect">
            <a:avLst/>
          </a:prstGeom>
          <a:solidFill>
            <a:schemeClr val="accent5">
              <a:lumMod val="20000"/>
              <a:lumOff val="80000"/>
            </a:schemeClr>
          </a:solidFill>
        </p:spPr>
        <p:txBody>
          <a:bodyPr wrap="none" rtlCol="0">
            <a:spAutoFit/>
          </a:bodyPr>
          <a:lstStyle/>
          <a:p>
            <a:r>
              <a:rPr lang="en-US" altLang="zh-CN" b="1" dirty="0"/>
              <a:t>The extension line of  boundary of the single phase </a:t>
            </a:r>
          </a:p>
          <a:p>
            <a:r>
              <a:rPr lang="en-US" altLang="zh-CN" b="1" dirty="0">
                <a:solidFill>
                  <a:srgbClr val="FF0000"/>
                </a:solidFill>
              </a:rPr>
              <a:t>can enters 3-phase region</a:t>
            </a:r>
            <a:r>
              <a:rPr lang="zh-CN" altLang="en-US" b="1" dirty="0">
                <a:solidFill>
                  <a:srgbClr val="FF0000"/>
                </a:solidFill>
              </a:rPr>
              <a:t>，</a:t>
            </a:r>
            <a:r>
              <a:rPr lang="en-US" altLang="zh-CN" b="1" dirty="0">
                <a:solidFill>
                  <a:srgbClr val="FF0000"/>
                </a:solidFill>
              </a:rPr>
              <a:t>or two other two 2phase region</a:t>
            </a:r>
          </a:p>
          <a:p>
            <a:r>
              <a:rPr lang="en-US" altLang="zh-CN" b="1" dirty="0">
                <a:solidFill>
                  <a:srgbClr val="FF0000"/>
                </a:solidFill>
              </a:rPr>
              <a:t>can’t enters another 1-phase region or one 3-phase region + one 2-phase region </a:t>
            </a:r>
          </a:p>
        </p:txBody>
      </p:sp>
      <p:sp>
        <p:nvSpPr>
          <p:cNvPr id="6" name="TextBox 5"/>
          <p:cNvSpPr txBox="1"/>
          <p:nvPr/>
        </p:nvSpPr>
        <p:spPr>
          <a:xfrm>
            <a:off x="616314" y="5733254"/>
            <a:ext cx="7929278" cy="646331"/>
          </a:xfrm>
          <a:prstGeom prst="rect">
            <a:avLst/>
          </a:prstGeom>
          <a:solidFill>
            <a:schemeClr val="accent4">
              <a:lumMod val="20000"/>
              <a:lumOff val="80000"/>
            </a:schemeClr>
          </a:solidFill>
        </p:spPr>
        <p:txBody>
          <a:bodyPr wrap="square" rtlCol="0">
            <a:spAutoFit/>
          </a:bodyPr>
          <a:lstStyle/>
          <a:p>
            <a:r>
              <a:rPr lang="en-US" altLang="zh-CN" b="1" dirty="0"/>
              <a:t>The included angle (</a:t>
            </a:r>
            <a:r>
              <a:rPr lang="zh-CN" altLang="en-US" b="1" dirty="0"/>
              <a:t>夹角</a:t>
            </a:r>
            <a:r>
              <a:rPr lang="en-US" altLang="zh-CN" b="1" dirty="0"/>
              <a:t>) of  extension lines of  boundary of the single phase </a:t>
            </a:r>
          </a:p>
          <a:p>
            <a:r>
              <a:rPr lang="en-US" altLang="zh-CN" b="1" dirty="0">
                <a:solidFill>
                  <a:srgbClr val="FF0000"/>
                </a:solidFill>
              </a:rPr>
              <a:t>should be less than 180 </a:t>
            </a:r>
            <a:r>
              <a:rPr lang="en-US" altLang="zh-CN" b="1" baseline="30000" dirty="0">
                <a:solidFill>
                  <a:srgbClr val="FF0000"/>
                </a:solidFill>
              </a:rPr>
              <a:t>o</a:t>
            </a:r>
          </a:p>
        </p:txBody>
      </p:sp>
    </p:spTree>
    <p:extLst>
      <p:ext uri="{BB962C8B-B14F-4D97-AF65-F5344CB8AC3E}">
        <p14:creationId xmlns:p14="http://schemas.microsoft.com/office/powerpoint/2010/main" val="30200870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6532</TotalTime>
  <Words>1273</Words>
  <Application>Microsoft Office PowerPoint</Application>
  <PresentationFormat>全屏显示(4:3)</PresentationFormat>
  <Paragraphs>240</Paragraphs>
  <Slides>40</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40</vt:i4>
      </vt:variant>
    </vt:vector>
  </HeadingPairs>
  <TitlesOfParts>
    <vt:vector size="50" baseType="lpstr">
      <vt:lpstr>Arial Unicode MS</vt:lpstr>
      <vt:lpstr>黑体</vt:lpstr>
      <vt:lpstr>Arial</vt:lpstr>
      <vt:lpstr>Calibri</vt:lpstr>
      <vt:lpstr>Sylfaen</vt:lpstr>
      <vt:lpstr>Times New Roman</vt:lpstr>
      <vt:lpstr>Wingdings</vt:lpstr>
      <vt:lpstr>Office 主题</vt:lpstr>
      <vt:lpstr>Equation</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Liu WS</cp:lastModifiedBy>
  <cp:revision>72</cp:revision>
  <dcterms:created xsi:type="dcterms:W3CDTF">2019-05-01T03:24:58Z</dcterms:created>
  <dcterms:modified xsi:type="dcterms:W3CDTF">2022-10-27T13:41:33Z</dcterms:modified>
</cp:coreProperties>
</file>