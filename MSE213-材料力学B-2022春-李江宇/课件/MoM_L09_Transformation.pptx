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56" r:id="rId2"/>
    <p:sldId id="276" r:id="rId3"/>
    <p:sldId id="266" r:id="rId4"/>
    <p:sldId id="275" r:id="rId5"/>
    <p:sldId id="277" r:id="rId6"/>
    <p:sldId id="279" r:id="rId7"/>
    <p:sldId id="285" r:id="rId8"/>
    <p:sldId id="286" r:id="rId9"/>
    <p:sldId id="278" r:id="rId10"/>
    <p:sldId id="281" r:id="rId11"/>
    <p:sldId id="280" r:id="rId12"/>
    <p:sldId id="283" r:id="rId13"/>
    <p:sldId id="284" r:id="rId14"/>
    <p:sldId id="287" r:id="rId15"/>
    <p:sldId id="288" r:id="rId16"/>
    <p:sldId id="332" r:id="rId17"/>
    <p:sldId id="333" r:id="rId18"/>
    <p:sldId id="289" r:id="rId19"/>
    <p:sldId id="334" r:id="rId20"/>
    <p:sldId id="335" r:id="rId21"/>
    <p:sldId id="336" r:id="rId22"/>
    <p:sldId id="337" r:id="rId23"/>
    <p:sldId id="290" r:id="rId24"/>
    <p:sldId id="338" r:id="rId25"/>
    <p:sldId id="339" r:id="rId26"/>
    <p:sldId id="340" r:id="rId27"/>
    <p:sldId id="341" r:id="rId28"/>
    <p:sldId id="342" r:id="rId29"/>
    <p:sldId id="343" r:id="rId30"/>
    <p:sldId id="293" r:id="rId31"/>
    <p:sldId id="344" r:id="rId32"/>
    <p:sldId id="345" r:id="rId33"/>
    <p:sldId id="292" r:id="rId34"/>
    <p:sldId id="326" r:id="rId35"/>
    <p:sldId id="327" r:id="rId36"/>
    <p:sldId id="328" r:id="rId37"/>
    <p:sldId id="347" r:id="rId38"/>
    <p:sldId id="346" r:id="rId39"/>
    <p:sldId id="348" r:id="rId40"/>
    <p:sldId id="294" r:id="rId41"/>
    <p:sldId id="349" r:id="rId42"/>
    <p:sldId id="350" r:id="rId43"/>
    <p:sldId id="295" r:id="rId44"/>
    <p:sldId id="330" r:id="rId45"/>
    <p:sldId id="351" r:id="rId46"/>
    <p:sldId id="352" r:id="rId47"/>
    <p:sldId id="353" r:id="rId48"/>
    <p:sldId id="296" r:id="rId49"/>
    <p:sldId id="297" r:id="rId50"/>
    <p:sldId id="298" r:id="rId51"/>
    <p:sldId id="299" r:id="rId52"/>
    <p:sldId id="300" r:id="rId53"/>
    <p:sldId id="301" r:id="rId54"/>
    <p:sldId id="354" r:id="rId55"/>
    <p:sldId id="302" r:id="rId56"/>
    <p:sldId id="329" r:id="rId57"/>
    <p:sldId id="355" r:id="rId58"/>
    <p:sldId id="356" r:id="rId59"/>
    <p:sldId id="357" r:id="rId60"/>
    <p:sldId id="358" r:id="rId61"/>
    <p:sldId id="359" r:id="rId62"/>
    <p:sldId id="360" r:id="rId63"/>
    <p:sldId id="304" r:id="rId64"/>
    <p:sldId id="361" r:id="rId65"/>
    <p:sldId id="362" r:id="rId66"/>
    <p:sldId id="363" r:id="rId67"/>
  </p:sldIdLst>
  <p:sldSz cx="9144000" cy="6858000" type="screen4x3"/>
  <p:notesSz cx="7096125" cy="102298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BB413-926D-E444-9487-2CDD07D18867}" v="2" dt="2022-05-04T03:43:27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02" autoAdjust="0"/>
    <p:restoredTop sz="94660"/>
  </p:normalViewPr>
  <p:slideViewPr>
    <p:cSldViewPr>
      <p:cViewPr varScale="1">
        <p:scale>
          <a:sx n="152" d="100"/>
          <a:sy n="152" d="100"/>
        </p:scale>
        <p:origin x="100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2216"/>
    </p:cViewPr>
  </p:sorterViewPr>
  <p:notesViewPr>
    <p:cSldViewPr>
      <p:cViewPr varScale="1">
        <p:scale>
          <a:sx n="61" d="100"/>
          <a:sy n="61" d="100"/>
        </p:scale>
        <p:origin x="-1901" y="-86"/>
      </p:cViewPr>
      <p:guideLst>
        <p:guide orient="horz" pos="3222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Zhan" userId="fd0cb2f6-9dd6-4afa-a340-ca04f7968bbe" providerId="ADAL" clId="{E5ABB413-926D-E444-9487-2CDD07D18867}"/>
    <pc:docChg chg="modSld">
      <pc:chgData name="Philip Zhan" userId="fd0cb2f6-9dd6-4afa-a340-ca04f7968bbe" providerId="ADAL" clId="{E5ABB413-926D-E444-9487-2CDD07D18867}" dt="2022-05-04T03:43:27.112" v="1" actId="767"/>
      <pc:docMkLst>
        <pc:docMk/>
      </pc:docMkLst>
      <pc:sldChg chg="addSp delSp modSp">
        <pc:chgData name="Philip Zhan" userId="fd0cb2f6-9dd6-4afa-a340-ca04f7968bbe" providerId="ADAL" clId="{E5ABB413-926D-E444-9487-2CDD07D18867}" dt="2022-05-04T03:43:27.112" v="1" actId="767"/>
        <pc:sldMkLst>
          <pc:docMk/>
          <pc:sldMk cId="355483149" sldId="333"/>
        </pc:sldMkLst>
        <pc:spChg chg="add del mod">
          <ac:chgData name="Philip Zhan" userId="fd0cb2f6-9dd6-4afa-a340-ca04f7968bbe" providerId="ADAL" clId="{E5ABB413-926D-E444-9487-2CDD07D18867}" dt="2022-05-04T03:43:27.112" v="1" actId="767"/>
          <ac:spMkLst>
            <pc:docMk/>
            <pc:sldMk cId="355483149" sldId="333"/>
            <ac:spMk id="2" creationId="{0F97D726-094B-2576-2F74-E550F57937B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5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0975" y="0"/>
            <a:ext cx="3105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42488"/>
            <a:ext cx="3105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0975" y="9742488"/>
            <a:ext cx="3105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9E0F203-A5E0-40ED-96CC-50B19358C6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955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3337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76900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708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9550" y="971708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9662106-D666-44AD-B32B-8961B5E278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0E0175-8AD7-40BD-BA6F-3BDBCDBDB03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EEF93-3BB2-44CE-B583-C0B81C63FC17}" type="slidenum">
              <a:rPr lang="en-US" altLang="en-US" smtClean="0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EEF93-3BB2-44CE-B583-C0B81C63FC17}" type="slidenum">
              <a:rPr lang="en-US" altLang="en-US" smtClean="0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4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EEF93-3BB2-44CE-B583-C0B81C63FC17}" type="slidenum">
              <a:rPr lang="en-US" altLang="en-US" smtClean="0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80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EEF93-3BB2-44CE-B583-C0B81C63FC17}" type="slidenum">
              <a:rPr lang="en-US" altLang="en-US" smtClean="0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679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EEF93-3BB2-44CE-B583-C0B81C63FC17}" type="slidenum">
              <a:rPr lang="en-US" altLang="en-US" smtClean="0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756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EEF93-3BB2-44CE-B583-C0B81C63FC17}" type="slidenum">
              <a:rPr lang="en-US" altLang="en-US" smtClean="0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203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6EEF93-3BB2-44CE-B583-C0B81C63FC17}" type="slidenum">
              <a:rPr lang="en-US" altLang="en-US" smtClean="0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00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0F5C86-5A9D-4275-8B03-CA4FE7F7395D}" type="slidenum">
              <a:rPr lang="en-US" altLang="en-US" smtClean="0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0F5C86-5A9D-4275-8B03-CA4FE7F7395D}" type="slidenum">
              <a:rPr lang="en-US" altLang="en-US" smtClean="0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622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0F5C86-5A9D-4275-8B03-CA4FE7F7395D}" type="slidenum">
              <a:rPr lang="en-US" altLang="en-US" smtClean="0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562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0F5C86-5A9D-4275-8B03-CA4FE7F7395D}" type="slidenum">
              <a:rPr lang="en-US" altLang="en-US" smtClean="0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19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455642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98622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87308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80428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815956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32763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06365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84991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408146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288252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63933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80063" y="6570663"/>
            <a:ext cx="332898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  <p:sp>
        <p:nvSpPr>
          <p:cNvPr id="1030" name="Line 7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3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emf"/><Relationship Id="rId4" Type="http://schemas.openxmlformats.org/officeDocument/2006/relationships/image" Target="../media/image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988" y="1916113"/>
            <a:ext cx="9117012" cy="47529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Stress and Strain Transformations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Textbook Chapters 9, 10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altLang="en-US" dirty="0"/>
              <a:t>Jiangyu Li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err="1"/>
              <a:t>SUSTech</a:t>
            </a: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400" dirty="0"/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Mechanics of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Uniaxial Tensile Test</a:t>
            </a:r>
          </a:p>
        </p:txBody>
      </p:sp>
      <p:pic>
        <p:nvPicPr>
          <p:cNvPr id="6147" name="Picture 2" descr="Image result for stress strain cur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1700213"/>
            <a:ext cx="66675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148" name="Object 3"/>
          <p:cNvGraphicFramePr>
            <a:graphicFrameLocks noChangeAspect="1"/>
          </p:cNvGraphicFramePr>
          <p:nvPr/>
        </p:nvGraphicFramePr>
        <p:xfrm>
          <a:off x="684213" y="3513138"/>
          <a:ext cx="787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400" imgH="711200" progId="Equation.3">
                  <p:embed/>
                </p:oleObj>
              </mc:Choice>
              <mc:Fallback>
                <p:oleObj name="Equation" r:id="rId3" imgW="787400" imgH="711200" progId="Equation.3">
                  <p:embed/>
                  <p:pic>
                    <p:nvPicPr>
                      <p:cNvPr id="614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513138"/>
                        <a:ext cx="7874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Box 1"/>
          <p:cNvSpPr txBox="1">
            <a:spLocks noChangeArrowheads="1"/>
          </p:cNvSpPr>
          <p:nvPr/>
        </p:nvSpPr>
        <p:spPr bwMode="auto">
          <a:xfrm>
            <a:off x="5148263" y="2420938"/>
            <a:ext cx="3467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ea typeface="SimSun" panose="02010600030101010101" pitchFamily="2" charset="-122"/>
              </a:rPr>
              <a:t>What can we learn from here?</a:t>
            </a:r>
            <a:endParaRPr lang="en-US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Fracture Surface: Tension</a:t>
            </a:r>
          </a:p>
        </p:txBody>
      </p:sp>
      <p:pic>
        <p:nvPicPr>
          <p:cNvPr id="7171" name="Picture 7" descr="Image result for fractured tensile test specim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49500"/>
            <a:ext cx="5486400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9" descr="An aluminium specimen showing ductile fail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80"/>
          <a:stretch>
            <a:fillRect/>
          </a:stretch>
        </p:blipFill>
        <p:spPr bwMode="auto">
          <a:xfrm>
            <a:off x="666750" y="2498725"/>
            <a:ext cx="109696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1" descr="Photo of brittle failure showing no necking and a straight fractu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03"/>
          <a:stretch>
            <a:fillRect/>
          </a:stretch>
        </p:blipFill>
        <p:spPr bwMode="auto">
          <a:xfrm>
            <a:off x="7524750" y="2497138"/>
            <a:ext cx="1004888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TextBox 2"/>
          <p:cNvSpPr txBox="1">
            <a:spLocks noChangeArrowheads="1"/>
          </p:cNvSpPr>
          <p:nvPr/>
        </p:nvSpPr>
        <p:spPr bwMode="auto">
          <a:xfrm>
            <a:off x="2122488" y="5876925"/>
            <a:ext cx="5237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Why is there a difference, and what causes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Fracture Surface: Torsion</a:t>
            </a:r>
          </a:p>
        </p:txBody>
      </p:sp>
      <p:pic>
        <p:nvPicPr>
          <p:cNvPr id="8195" name="Picture 2" descr="http://classes.mst.edu/civeng120/lessons/torsion/fracture/brittle_vs_ductile_torsion_fracture_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2276475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TextBox 4"/>
          <p:cNvSpPr txBox="1">
            <a:spLocks noChangeArrowheads="1"/>
          </p:cNvSpPr>
          <p:nvPr/>
        </p:nvSpPr>
        <p:spPr bwMode="auto">
          <a:xfrm>
            <a:off x="2079625" y="6092825"/>
            <a:ext cx="5237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Why is there a difference, and what causes 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Multi-axial Load: Yielding</a:t>
            </a:r>
          </a:p>
        </p:txBody>
      </p:sp>
      <p:grpSp>
        <p:nvGrpSpPr>
          <p:cNvPr id="9219" name="Group 2"/>
          <p:cNvGrpSpPr>
            <a:grpSpLocks/>
          </p:cNvGrpSpPr>
          <p:nvPr/>
        </p:nvGrpSpPr>
        <p:grpSpPr bwMode="auto">
          <a:xfrm>
            <a:off x="274638" y="1752600"/>
            <a:ext cx="5943600" cy="5105400"/>
            <a:chOff x="274638" y="1752600"/>
            <a:chExt cx="5943600" cy="5105400"/>
          </a:xfrm>
        </p:grpSpPr>
        <p:pic>
          <p:nvPicPr>
            <p:cNvPr id="9221" name="Picture 2" descr="fg07_01a-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638" y="1752600"/>
              <a:ext cx="5943600" cy="510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2" name="TextBox 1"/>
            <p:cNvSpPr txBox="1">
              <a:spLocks noChangeArrowheads="1"/>
            </p:cNvSpPr>
            <p:nvPr/>
          </p:nvSpPr>
          <p:spPr bwMode="auto">
            <a:xfrm>
              <a:off x="5030470" y="4005064"/>
              <a:ext cx="2616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-</a:t>
              </a:r>
            </a:p>
          </p:txBody>
        </p:sp>
        <p:sp>
          <p:nvSpPr>
            <p:cNvPr id="9223" name="TextBox 5"/>
            <p:cNvSpPr txBox="1">
              <a:spLocks noChangeArrowheads="1"/>
            </p:cNvSpPr>
            <p:nvPr/>
          </p:nvSpPr>
          <p:spPr bwMode="auto">
            <a:xfrm>
              <a:off x="4166374" y="6084004"/>
              <a:ext cx="2616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-</a:t>
              </a:r>
            </a:p>
          </p:txBody>
        </p:sp>
      </p:grpSp>
      <p:sp>
        <p:nvSpPr>
          <p:cNvPr id="9220" name="TextBox 4"/>
          <p:cNvSpPr txBox="1">
            <a:spLocks noChangeArrowheads="1"/>
          </p:cNvSpPr>
          <p:nvPr/>
        </p:nvSpPr>
        <p:spPr bwMode="auto">
          <a:xfrm>
            <a:off x="5651500" y="5516563"/>
            <a:ext cx="33845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Why is there a difference, and what causes 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What is Stress?</a:t>
            </a:r>
          </a:p>
        </p:txBody>
      </p:sp>
      <p:sp>
        <p:nvSpPr>
          <p:cNvPr id="10243" name="TextBox 4"/>
          <p:cNvSpPr txBox="1">
            <a:spLocks noChangeArrowheads="1"/>
          </p:cNvSpPr>
          <p:nvPr/>
        </p:nvSpPr>
        <p:spPr bwMode="auto">
          <a:xfrm>
            <a:off x="1042988" y="1773238"/>
            <a:ext cx="705802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Force per unit area?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0000"/>
              </a:solidFill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What force?  What area?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pic>
        <p:nvPicPr>
          <p:cNvPr id="1024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141663"/>
            <a:ext cx="8932863" cy="349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916113"/>
            <a:ext cx="8831263" cy="466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Effect of Orientation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Effect of Orientation</a:t>
            </a:r>
          </a:p>
        </p:txBody>
      </p:sp>
      <p:pic>
        <p:nvPicPr>
          <p:cNvPr id="1229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5038"/>
            <a:ext cx="842645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3D Stress</a:t>
            </a: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611188" y="3789363"/>
            <a:ext cx="258286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First index: area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Second index: direction</a:t>
            </a:r>
          </a:p>
        </p:txBody>
      </p:sp>
      <p:pic>
        <p:nvPicPr>
          <p:cNvPr id="13316" name="Picture 6" descr="Image result for 3d stress el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1916113"/>
            <a:ext cx="45593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2D Stress</a:t>
            </a:r>
          </a:p>
        </p:txBody>
      </p:sp>
      <p:pic>
        <p:nvPicPr>
          <p:cNvPr id="14339" name="Picture 5" descr="Image result for 2d stre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85"/>
          <a:stretch>
            <a:fillRect/>
          </a:stretch>
        </p:blipFill>
        <p:spPr bwMode="auto">
          <a:xfrm>
            <a:off x="2484438" y="2276475"/>
            <a:ext cx="4365625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89138"/>
            <a:ext cx="8229600" cy="450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Sign Convention</a:t>
            </a:r>
          </a:p>
        </p:txBody>
      </p:sp>
      <p:sp>
        <p:nvSpPr>
          <p:cNvPr id="15364" name="TextBox 1"/>
          <p:cNvSpPr txBox="1">
            <a:spLocks noChangeArrowheads="1"/>
          </p:cNvSpPr>
          <p:nvPr/>
        </p:nvSpPr>
        <p:spPr bwMode="auto">
          <a:xfrm>
            <a:off x="306388" y="6311900"/>
            <a:ext cx="88661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Positive: acting on positive (negative) plane, along positive (negative) direction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916113"/>
            <a:ext cx="8831263" cy="466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Effect of Orientation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Effect of Orientation</a:t>
            </a:r>
          </a:p>
        </p:txBody>
      </p:sp>
      <p:pic>
        <p:nvPicPr>
          <p:cNvPr id="1741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5038"/>
            <a:ext cx="842645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Stress Transformation</a:t>
            </a:r>
          </a:p>
        </p:txBody>
      </p:sp>
      <p:pic>
        <p:nvPicPr>
          <p:cNvPr id="1843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2565400"/>
            <a:ext cx="8426450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36838"/>
            <a:ext cx="8229600" cy="333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Free Body Diagram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Free Body Diagram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632" y="1988840"/>
            <a:ext cx="4966736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34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Equilibrium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89" y="2492896"/>
            <a:ext cx="8618021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3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988840"/>
            <a:ext cx="903446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Stress Transformation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35896" y="6021090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Constant trace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595420"/>
            <a:ext cx="2856317" cy="24482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844824"/>
            <a:ext cx="8783955" cy="132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84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12902"/>
            <a:ext cx="2123513" cy="18201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865" y="1772816"/>
            <a:ext cx="5915000" cy="28240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4628168"/>
            <a:ext cx="2626455" cy="190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93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112902"/>
            <a:ext cx="2123513" cy="18201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865" y="1772816"/>
            <a:ext cx="5915000" cy="28240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4628168"/>
            <a:ext cx="2626455" cy="190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60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Extreme Values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82" y="1772816"/>
            <a:ext cx="6978636" cy="3456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5373216"/>
            <a:ext cx="4717057" cy="12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07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8229600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Extreme Values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14" y="1916832"/>
            <a:ext cx="7715371" cy="11521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3568154"/>
            <a:ext cx="2952328" cy="241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61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88840"/>
            <a:ext cx="2304256" cy="18845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048" y="4138614"/>
            <a:ext cx="6488880" cy="24279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1838806"/>
            <a:ext cx="2500226" cy="190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8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78" y="1844824"/>
            <a:ext cx="8488244" cy="12762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518346"/>
            <a:ext cx="3418469" cy="283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39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26" y="1772816"/>
            <a:ext cx="2606571" cy="2160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666" y="2060848"/>
            <a:ext cx="5040558" cy="16561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531329"/>
            <a:ext cx="4426607" cy="15890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88" y="4360242"/>
            <a:ext cx="2428646" cy="193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44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16832"/>
            <a:ext cx="7888447" cy="1440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847504"/>
            <a:ext cx="2664296" cy="2363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243" y="4869160"/>
            <a:ext cx="4229404" cy="55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09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72816"/>
            <a:ext cx="2664296" cy="2363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1988840"/>
            <a:ext cx="4229404" cy="5572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00" y="4941168"/>
            <a:ext cx="7051367" cy="15841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375" y="2804601"/>
            <a:ext cx="2171319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03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Extreme Values: Torsion</a:t>
            </a:r>
          </a:p>
        </p:txBody>
      </p:sp>
      <p:pic>
        <p:nvPicPr>
          <p:cNvPr id="23555" name="Picture 2" descr="http://classes.mst.edu/civeng120/lessons/torsion/fracture/brittle_vs_ductile_torsion_fracture_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100" y="2867025"/>
            <a:ext cx="3657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6" t="7698" r="51624" b="73828"/>
          <a:stretch>
            <a:fillRect/>
          </a:stretch>
        </p:blipFill>
        <p:spPr bwMode="auto">
          <a:xfrm>
            <a:off x="3348038" y="5805488"/>
            <a:ext cx="28797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2" t="60040" r="50749" b="19945"/>
          <a:stretch>
            <a:fillRect/>
          </a:stretch>
        </p:blipFill>
        <p:spPr bwMode="auto">
          <a:xfrm>
            <a:off x="2771775" y="1762125"/>
            <a:ext cx="3024188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5940425" y="2028825"/>
            <a:ext cx="15843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=0: ductile</a:t>
            </a:r>
          </a:p>
        </p:txBody>
      </p:sp>
      <p:sp>
        <p:nvSpPr>
          <p:cNvPr id="23559" name="TextBox 6"/>
          <p:cNvSpPr txBox="1">
            <a:spLocks noChangeArrowheads="1"/>
          </p:cNvSpPr>
          <p:nvPr/>
        </p:nvSpPr>
        <p:spPr bwMode="auto">
          <a:xfrm>
            <a:off x="6372225" y="5949950"/>
            <a:ext cx="1800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= ∞ : brittle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16832"/>
            <a:ext cx="7049459" cy="1368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784178"/>
            <a:ext cx="3045003" cy="21750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619" y="4509120"/>
            <a:ext cx="4613396" cy="70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1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75878"/>
            <a:ext cx="3045003" cy="21750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001666"/>
            <a:ext cx="4613396" cy="7013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r="10157"/>
          <a:stretch/>
        </p:blipFill>
        <p:spPr>
          <a:xfrm>
            <a:off x="3563888" y="2996952"/>
            <a:ext cx="5365103" cy="25903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95" y="4725144"/>
            <a:ext cx="2425450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80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107950" y="27463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Extreme Values: Uniaxial Tension</a:t>
            </a:r>
          </a:p>
        </p:txBody>
      </p:sp>
      <p:pic>
        <p:nvPicPr>
          <p:cNvPr id="22531" name="Picture 7" descr="Image result for fractured tensile test specim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517775"/>
            <a:ext cx="5486400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9" descr="An aluminium specimen showing ductile fail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80"/>
          <a:stretch>
            <a:fillRect/>
          </a:stretch>
        </p:blipFill>
        <p:spPr bwMode="auto">
          <a:xfrm>
            <a:off x="666750" y="2668588"/>
            <a:ext cx="109696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11" descr="Photo of brittle failure showing no necking and a straight fractu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03"/>
          <a:stretch>
            <a:fillRect/>
          </a:stretch>
        </p:blipFill>
        <p:spPr bwMode="auto">
          <a:xfrm>
            <a:off x="7524750" y="2665413"/>
            <a:ext cx="1004888" cy="279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6" t="7698" r="51624" b="73828"/>
          <a:stretch>
            <a:fillRect/>
          </a:stretch>
        </p:blipFill>
        <p:spPr bwMode="auto">
          <a:xfrm>
            <a:off x="2771775" y="1671638"/>
            <a:ext cx="288131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2" t="60040" r="50749" b="19945"/>
          <a:stretch>
            <a:fillRect/>
          </a:stretch>
        </p:blipFill>
        <p:spPr bwMode="auto">
          <a:xfrm>
            <a:off x="2987675" y="5754688"/>
            <a:ext cx="3024188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TextBox 1"/>
          <p:cNvSpPr txBox="1">
            <a:spLocks noChangeArrowheads="1"/>
          </p:cNvSpPr>
          <p:nvPr/>
        </p:nvSpPr>
        <p:spPr bwMode="auto">
          <a:xfrm>
            <a:off x="5700713" y="1874838"/>
            <a:ext cx="146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=0: brittle</a:t>
            </a:r>
          </a:p>
        </p:txBody>
      </p:sp>
      <p:sp>
        <p:nvSpPr>
          <p:cNvPr id="22537" name="TextBox 8"/>
          <p:cNvSpPr txBox="1">
            <a:spLocks noChangeArrowheads="1"/>
          </p:cNvSpPr>
          <p:nvPr/>
        </p:nvSpPr>
        <p:spPr bwMode="auto">
          <a:xfrm>
            <a:off x="6084888" y="5975350"/>
            <a:ext cx="158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=∞: ductile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457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205038"/>
            <a:ext cx="2449513" cy="351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1844675"/>
            <a:ext cx="208915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4219575"/>
            <a:ext cx="4056062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774825"/>
            <a:ext cx="2024063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300788" y="6237288"/>
            <a:ext cx="26701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Use different coordinate?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5603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44675"/>
            <a:ext cx="2770188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8"/>
          <p:cNvSpPr txBox="1">
            <a:spLocks noChangeArrowheads="1"/>
          </p:cNvSpPr>
          <p:nvPr/>
        </p:nvSpPr>
        <p:spPr bwMode="auto">
          <a:xfrm>
            <a:off x="495300" y="4278313"/>
            <a:ext cx="1312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Maximum?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916113"/>
            <a:ext cx="4292600" cy="256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4278313"/>
            <a:ext cx="2627312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662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44675"/>
            <a:ext cx="2770188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TextBox 8"/>
          <p:cNvSpPr txBox="1">
            <a:spLocks noChangeArrowheads="1"/>
          </p:cNvSpPr>
          <p:nvPr/>
        </p:nvSpPr>
        <p:spPr bwMode="auto">
          <a:xfrm>
            <a:off x="363538" y="4094163"/>
            <a:ext cx="13128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Maximum?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1838325"/>
            <a:ext cx="523875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3475038"/>
            <a:ext cx="5453063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0" y="4327525"/>
            <a:ext cx="2289175" cy="227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988840"/>
            <a:ext cx="903446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Stress Transformation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35896" y="6021090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Constant trace</a:t>
            </a:r>
          </a:p>
        </p:txBody>
      </p:sp>
    </p:spTree>
    <p:extLst>
      <p:ext uri="{BB962C8B-B14F-4D97-AF65-F5344CB8AC3E}">
        <p14:creationId xmlns:p14="http://schemas.microsoft.com/office/powerpoint/2010/main" val="2772950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Mohr’s Circle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8840"/>
            <a:ext cx="7548744" cy="20162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5013176"/>
            <a:ext cx="7569012" cy="116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65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Mohr’s Circle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7569012" cy="11619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52" y="3284984"/>
            <a:ext cx="607450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60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bject 4"/>
          <p:cNvSpPr>
            <a:spLocks noChangeArrowheads="1"/>
          </p:cNvSpPr>
          <p:nvPr/>
        </p:nvSpPr>
        <p:spPr bwMode="auto">
          <a:xfrm>
            <a:off x="827088" y="1628775"/>
            <a:ext cx="3535362" cy="51816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Mohr’s Circle</a:t>
            </a:r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2967038"/>
            <a:ext cx="36576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587789"/>
            <a:ext cx="3240360" cy="24712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060848"/>
            <a:ext cx="7755736" cy="8837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577" y="3621354"/>
            <a:ext cx="3426590" cy="10801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79" y="5472318"/>
            <a:ext cx="3867917" cy="71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55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89" y="1772816"/>
            <a:ext cx="3240360" cy="24712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63" y="4269737"/>
            <a:ext cx="2655869" cy="22976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924" y="2060848"/>
            <a:ext cx="3454025" cy="1368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2" y="3645024"/>
            <a:ext cx="3007847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896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object 3"/>
          <p:cNvSpPr>
            <a:spLocks noChangeArrowheads="1"/>
          </p:cNvSpPr>
          <p:nvPr/>
        </p:nvSpPr>
        <p:spPr bwMode="auto">
          <a:xfrm>
            <a:off x="483683" y="1818550"/>
            <a:ext cx="4104754" cy="4489301"/>
          </a:xfrm>
          <a:prstGeom prst="rect">
            <a:avLst/>
          </a:prstGeom>
          <a:blipFill dpi="0" rotWithShape="1">
            <a:blip r:embed="rId2"/>
            <a:srcRect/>
            <a:stretch>
              <a:fillRect t="-3222" r="-60268" b="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b="0"/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3D Mohr’s Circle</a:t>
            </a:r>
          </a:p>
        </p:txBody>
      </p:sp>
      <p:sp>
        <p:nvSpPr>
          <p:cNvPr id="28678" name="TextBox 1"/>
          <p:cNvSpPr txBox="1">
            <a:spLocks noChangeArrowheads="1"/>
          </p:cNvSpPr>
          <p:nvPr/>
        </p:nvSpPr>
        <p:spPr bwMode="auto">
          <a:xfrm>
            <a:off x="2722563" y="6334125"/>
            <a:ext cx="369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Don’t forget the third dimension</a:t>
            </a:r>
          </a:p>
        </p:txBody>
      </p:sp>
      <p:pic>
        <p:nvPicPr>
          <p:cNvPr id="28679" name="Picture 6" descr="Image result for 3d stress el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811338"/>
            <a:ext cx="45593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2969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989138"/>
            <a:ext cx="337502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2"/>
          <p:cNvSpPr txBox="1">
            <a:spLocks noChangeArrowheads="1"/>
          </p:cNvSpPr>
          <p:nvPr/>
        </p:nvSpPr>
        <p:spPr bwMode="auto">
          <a:xfrm>
            <a:off x="4427538" y="2060575"/>
            <a:ext cx="4679950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/>
              <a:t>Consider a point where the stress components are indicated in the given stress element in x-y coordinate.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/>
              <a:t>After rotating to x’-y’ coordinate, it is found that normal stress along y’-plane is compressive and its magnitude is </a:t>
            </a:r>
            <a:r>
              <a:rPr lang="en-US" altLang="en-US" sz="2000" dirty="0"/>
              <a:t>100MPa</a:t>
            </a:r>
            <a:r>
              <a:rPr lang="en-US" altLang="en-US" sz="2000" b="0" dirty="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/>
              <a:t>Determine the normal stress acting on x’-plane.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 b="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58"/>
          <a:stretch>
            <a:fillRect/>
          </a:stretch>
        </p:blipFill>
        <p:spPr bwMode="auto">
          <a:xfrm>
            <a:off x="107950" y="4868863"/>
            <a:ext cx="4292600" cy="158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844824"/>
            <a:ext cx="5470956" cy="451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25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149080"/>
            <a:ext cx="3696311" cy="19241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0294"/>
            <a:ext cx="8507288" cy="121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71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4137"/>
            <a:ext cx="3696311" cy="192410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984137"/>
            <a:ext cx="3861358" cy="3101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25144"/>
            <a:ext cx="5686987" cy="176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174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Strain</a:t>
            </a:r>
          </a:p>
        </p:txBody>
      </p:sp>
      <p:pic>
        <p:nvPicPr>
          <p:cNvPr id="3277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133600"/>
            <a:ext cx="82296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Normal and Shear Strains</a:t>
            </a:r>
          </a:p>
        </p:txBody>
      </p:sp>
      <p:pic>
        <p:nvPicPr>
          <p:cNvPr id="3379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1844675"/>
            <a:ext cx="8229600" cy="461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916113"/>
            <a:ext cx="82296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Sign Convention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060575"/>
            <a:ext cx="8229600" cy="389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3D Strain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781300"/>
            <a:ext cx="8832850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Plane Strain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844675"/>
            <a:ext cx="8229600" cy="453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Strain Transformation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988840"/>
            <a:ext cx="9034462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Stress Transformation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35896" y="6021090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Constant trace</a:t>
            </a:r>
          </a:p>
        </p:txBody>
      </p:sp>
    </p:spTree>
    <p:extLst>
      <p:ext uri="{BB962C8B-B14F-4D97-AF65-F5344CB8AC3E}">
        <p14:creationId xmlns:p14="http://schemas.microsoft.com/office/powerpoint/2010/main" val="644873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420938"/>
            <a:ext cx="8680450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Strain Transformation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pic>
        <p:nvPicPr>
          <p:cNvPr id="4198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565275"/>
            <a:ext cx="5235575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3189288"/>
            <a:ext cx="5529262" cy="366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25" y="2620963"/>
            <a:ext cx="3154363" cy="243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Principal Strain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463" y="2420888"/>
            <a:ext cx="6395073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618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Maximum Shear Strain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916832"/>
            <a:ext cx="552472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404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3429000"/>
            <a:ext cx="3744416" cy="31033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64" y="1816216"/>
            <a:ext cx="7741363" cy="161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585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9211" r="10519"/>
          <a:stretch/>
        </p:blipFill>
        <p:spPr>
          <a:xfrm>
            <a:off x="467544" y="1754411"/>
            <a:ext cx="4392488" cy="2115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4077072"/>
            <a:ext cx="7229869" cy="233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977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Maximum Shear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636912"/>
            <a:ext cx="3373174" cy="24482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418" y="2348880"/>
            <a:ext cx="4100432" cy="322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000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Maximum Shear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636912"/>
            <a:ext cx="3373174" cy="24482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418" y="2348880"/>
            <a:ext cx="4100432" cy="322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628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/>
              <a:t>Strain Rosette</a:t>
            </a:r>
          </a:p>
        </p:txBody>
      </p:sp>
      <p:pic>
        <p:nvPicPr>
          <p:cNvPr id="3993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8" y="4076700"/>
            <a:ext cx="7816850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1792288"/>
            <a:ext cx="345281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1792288"/>
            <a:ext cx="225266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/>
              <a:t>Strain Rosette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875712"/>
            <a:ext cx="2583744" cy="20882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991682"/>
            <a:ext cx="4763200" cy="197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5336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/>
              <a:t>Strain Rosette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169773"/>
            <a:ext cx="3274468" cy="19442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3050534"/>
            <a:ext cx="4144356" cy="21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523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Assignment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43608" y="2204864"/>
            <a:ext cx="437812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Due May 12</a:t>
            </a:r>
          </a:p>
          <a:p>
            <a:endParaRPr lang="en-US" sz="2000" b="1" dirty="0"/>
          </a:p>
          <a:p>
            <a:r>
              <a:rPr lang="en-US" sz="2000" b="1" dirty="0"/>
              <a:t>Textbook</a:t>
            </a:r>
          </a:p>
          <a:p>
            <a:endParaRPr lang="en-US" sz="2000" b="1" dirty="0"/>
          </a:p>
          <a:p>
            <a:r>
              <a:rPr lang="en-US" sz="2000" b="1" dirty="0"/>
              <a:t>9.8, 9.13, 9.14, 9.20, 9.51, 9.84, 9.88</a:t>
            </a:r>
          </a:p>
          <a:p>
            <a:endParaRPr lang="en-US" sz="2000" b="1" dirty="0"/>
          </a:p>
          <a:p>
            <a:r>
              <a:rPr lang="en-US" sz="2000" b="1" dirty="0"/>
              <a:t>10.2, 10.5, 10.26   </a:t>
            </a:r>
          </a:p>
        </p:txBody>
      </p:sp>
    </p:spTree>
    <p:extLst>
      <p:ext uri="{BB962C8B-B14F-4D97-AF65-F5344CB8AC3E}">
        <p14:creationId xmlns:p14="http://schemas.microsoft.com/office/powerpoint/2010/main" val="302048895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7759</TotalTime>
  <Words>344</Words>
  <Application>Microsoft Macintosh PowerPoint</Application>
  <PresentationFormat>On-screen Show (4:3)</PresentationFormat>
  <Paragraphs>123</Paragraphs>
  <Slides>66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Default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Principal Strain</vt:lpstr>
      <vt:lpstr>Maximum Shear Strain</vt:lpstr>
      <vt:lpstr>Example</vt:lpstr>
      <vt:lpstr>Example</vt:lpstr>
      <vt:lpstr>Maximum Shear</vt:lpstr>
      <vt:lpstr>Maximum Shear</vt:lpstr>
      <vt:lpstr>Strain Rosette</vt:lpstr>
      <vt:lpstr>Strain Rosette</vt:lpstr>
      <vt:lpstr>Strain Rosette</vt:lpstr>
      <vt:lpstr>Assignment</vt:lpstr>
    </vt:vector>
  </TitlesOfParts>
  <Company>University of Nebraska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Design Analyis</dc:title>
  <dc:creator>jiangyu</dc:creator>
  <cp:lastModifiedBy>Philip Zhan</cp:lastModifiedBy>
  <cp:revision>271</cp:revision>
  <dcterms:created xsi:type="dcterms:W3CDTF">2005-12-02T20:26:58Z</dcterms:created>
  <dcterms:modified xsi:type="dcterms:W3CDTF">2022-05-04T03:43:37Z</dcterms:modified>
</cp:coreProperties>
</file>