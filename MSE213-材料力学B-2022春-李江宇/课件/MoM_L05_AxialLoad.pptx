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8" r:id="rId1"/>
  </p:sldMasterIdLst>
  <p:notesMasterIdLst>
    <p:notesMasterId r:id="rId41"/>
  </p:notesMasterIdLst>
  <p:handoutMasterIdLst>
    <p:handoutMasterId r:id="rId42"/>
  </p:handoutMasterIdLst>
  <p:sldIdLst>
    <p:sldId id="257" r:id="rId2"/>
    <p:sldId id="847" r:id="rId3"/>
    <p:sldId id="882" r:id="rId4"/>
    <p:sldId id="848" r:id="rId5"/>
    <p:sldId id="849" r:id="rId6"/>
    <p:sldId id="917" r:id="rId7"/>
    <p:sldId id="850" r:id="rId8"/>
    <p:sldId id="883" r:id="rId9"/>
    <p:sldId id="851" r:id="rId10"/>
    <p:sldId id="918" r:id="rId11"/>
    <p:sldId id="919" r:id="rId12"/>
    <p:sldId id="884" r:id="rId13"/>
    <p:sldId id="920" r:id="rId14"/>
    <p:sldId id="885" r:id="rId15"/>
    <p:sldId id="921" r:id="rId16"/>
    <p:sldId id="886" r:id="rId17"/>
    <p:sldId id="922" r:id="rId18"/>
    <p:sldId id="923" r:id="rId19"/>
    <p:sldId id="852" r:id="rId20"/>
    <p:sldId id="924" r:id="rId21"/>
    <p:sldId id="853" r:id="rId22"/>
    <p:sldId id="888" r:id="rId23"/>
    <p:sldId id="925" r:id="rId24"/>
    <p:sldId id="854" r:id="rId25"/>
    <p:sldId id="926" r:id="rId26"/>
    <p:sldId id="927" r:id="rId27"/>
    <p:sldId id="928" r:id="rId28"/>
    <p:sldId id="929" r:id="rId29"/>
    <p:sldId id="931" r:id="rId30"/>
    <p:sldId id="930" r:id="rId31"/>
    <p:sldId id="932" r:id="rId32"/>
    <p:sldId id="933" r:id="rId33"/>
    <p:sldId id="934" r:id="rId34"/>
    <p:sldId id="935" r:id="rId35"/>
    <p:sldId id="936" r:id="rId36"/>
    <p:sldId id="937" r:id="rId37"/>
    <p:sldId id="938" r:id="rId38"/>
    <p:sldId id="939" r:id="rId39"/>
    <p:sldId id="846" r:id="rId40"/>
  </p:sldIdLst>
  <p:sldSz cx="12192000" cy="6858000"/>
  <p:notesSz cx="6946900" cy="92202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800" kern="1200">
        <a:solidFill>
          <a:srgbClr val="0000CC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800" kern="1200">
        <a:solidFill>
          <a:srgbClr val="0000CC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800" kern="1200">
        <a:solidFill>
          <a:srgbClr val="0000CC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800" kern="1200">
        <a:solidFill>
          <a:srgbClr val="0000CC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800" kern="1200">
        <a:solidFill>
          <a:srgbClr val="0000CC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2800" kern="1200">
        <a:solidFill>
          <a:srgbClr val="0000CC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sz="2800" kern="1200">
        <a:solidFill>
          <a:srgbClr val="0000CC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sz="2800" kern="1200">
        <a:solidFill>
          <a:srgbClr val="0000CC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sz="2800" kern="1200">
        <a:solidFill>
          <a:srgbClr val="0000CC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04">
          <p15:clr>
            <a:srgbClr val="A4A3A4"/>
          </p15:clr>
        </p15:guide>
        <p15:guide id="2" pos="2188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F43"/>
    <a:srgbClr val="ED6C00"/>
    <a:srgbClr val="2BB7B3"/>
    <a:srgbClr val="00FF00"/>
    <a:srgbClr val="660066"/>
    <a:srgbClr val="3366FF"/>
    <a:srgbClr val="0000CC"/>
    <a:srgbClr val="339933"/>
    <a:srgbClr val="990000"/>
    <a:srgbClr val="9933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872" autoAdjust="0"/>
    <p:restoredTop sz="94660" autoAdjust="0"/>
  </p:normalViewPr>
  <p:slideViewPr>
    <p:cSldViewPr>
      <p:cViewPr varScale="1">
        <p:scale>
          <a:sx n="70" d="100"/>
          <a:sy n="70" d="100"/>
        </p:scale>
        <p:origin x="624" y="54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" d="1"/>
        <a:sy n="1" d="1"/>
      </p:scale>
      <p:origin x="0" y="-12180"/>
    </p:cViewPr>
  </p:sorterViewPr>
  <p:notesViewPr>
    <p:cSldViewPr>
      <p:cViewPr>
        <p:scale>
          <a:sx n="100" d="100"/>
          <a:sy n="100" d="100"/>
        </p:scale>
        <p:origin x="-48" y="528"/>
      </p:cViewPr>
      <p:guideLst>
        <p:guide orient="horz" pos="2904"/>
        <p:guide pos="2188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59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09900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382" tIns="46191" rIns="92382" bIns="46191" numCol="1" anchor="t" anchorCtr="0" compatLnSpc="1">
            <a:prstTxWarp prst="textNoShape">
              <a:avLst/>
            </a:prstTxWarp>
          </a:bodyPr>
          <a:lstStyle>
            <a:lvl1pPr defTabSz="923925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3859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37000" y="0"/>
            <a:ext cx="3009900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382" tIns="46191" rIns="92382" bIns="46191" numCol="1" anchor="t" anchorCtr="0" compatLnSpc="1">
            <a:prstTxWarp prst="textNoShape">
              <a:avLst/>
            </a:prstTxWarp>
          </a:bodyPr>
          <a:lstStyle>
            <a:lvl1pPr algn="r" defTabSz="923925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3859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759825"/>
            <a:ext cx="3009900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382" tIns="46191" rIns="92382" bIns="46191" numCol="1" anchor="b" anchorCtr="0" compatLnSpc="1">
            <a:prstTxWarp prst="textNoShape">
              <a:avLst/>
            </a:prstTxWarp>
          </a:bodyPr>
          <a:lstStyle>
            <a:lvl1pPr defTabSz="923925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3859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37000" y="8759825"/>
            <a:ext cx="3009900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382" tIns="46191" rIns="92382" bIns="46191" numCol="1" anchor="b" anchorCtr="0" compatLnSpc="1">
            <a:prstTxWarp prst="textNoShape">
              <a:avLst/>
            </a:prstTxWarp>
          </a:bodyPr>
          <a:lstStyle>
            <a:lvl1pPr algn="r" defTabSz="923925">
              <a:defRPr sz="1200"/>
            </a:lvl1pPr>
          </a:lstStyle>
          <a:p>
            <a:pPr>
              <a:defRPr/>
            </a:pPr>
            <a:fld id="{BA950B12-1F8A-497D-ADB8-F6A75C7EFA61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5262053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09900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382" tIns="46191" rIns="92382" bIns="46191" numCol="1" anchor="t" anchorCtr="0" compatLnSpc="1">
            <a:prstTxWarp prst="textNoShape">
              <a:avLst/>
            </a:prstTxWarp>
          </a:bodyPr>
          <a:lstStyle>
            <a:lvl1pPr defTabSz="923925"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963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37000" y="0"/>
            <a:ext cx="3009900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382" tIns="46191" rIns="92382" bIns="46191" numCol="1" anchor="t" anchorCtr="0" compatLnSpc="1">
            <a:prstTxWarp prst="textNoShape">
              <a:avLst/>
            </a:prstTxWarp>
          </a:bodyPr>
          <a:lstStyle>
            <a:lvl1pPr algn="r" defTabSz="923925"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710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400050" y="692150"/>
            <a:ext cx="6146800" cy="34575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963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25513" y="4379913"/>
            <a:ext cx="5095875" cy="4148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382" tIns="46191" rIns="92382" bIns="4619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 noProof="0"/>
              <a:t>Click to edit Master text styles</a:t>
            </a:r>
          </a:p>
          <a:p>
            <a:pPr lvl="1"/>
            <a:r>
              <a:rPr lang="en-US" altLang="zh-CN" noProof="0"/>
              <a:t>Second level</a:t>
            </a:r>
          </a:p>
          <a:p>
            <a:pPr lvl="2"/>
            <a:r>
              <a:rPr lang="en-US" altLang="zh-CN" noProof="0"/>
              <a:t>Third level</a:t>
            </a:r>
          </a:p>
          <a:p>
            <a:pPr lvl="3"/>
            <a:r>
              <a:rPr lang="en-US" altLang="zh-CN" noProof="0"/>
              <a:t>Fourth level</a:t>
            </a:r>
          </a:p>
          <a:p>
            <a:pPr lvl="4"/>
            <a:r>
              <a:rPr lang="en-US" altLang="zh-CN" noProof="0"/>
              <a:t>Fifth level</a:t>
            </a:r>
          </a:p>
        </p:txBody>
      </p:sp>
      <p:sp>
        <p:nvSpPr>
          <p:cNvPr id="6963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759825"/>
            <a:ext cx="3009900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382" tIns="46191" rIns="92382" bIns="46191" numCol="1" anchor="b" anchorCtr="0" compatLnSpc="1">
            <a:prstTxWarp prst="textNoShape">
              <a:avLst/>
            </a:prstTxWarp>
          </a:bodyPr>
          <a:lstStyle>
            <a:lvl1pPr defTabSz="923925"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963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37000" y="8759825"/>
            <a:ext cx="3009900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382" tIns="46191" rIns="92382" bIns="46191" numCol="1" anchor="b" anchorCtr="0" compatLnSpc="1">
            <a:prstTxWarp prst="textNoShape">
              <a:avLst/>
            </a:prstTxWarp>
          </a:bodyPr>
          <a:lstStyle>
            <a:lvl1pPr algn="r" defTabSz="923925"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</a:lstStyle>
          <a:p>
            <a:pPr>
              <a:defRPr/>
            </a:pPr>
            <a:fld id="{7C3F7C5D-75CA-4BD6-8833-3F2846A04DF0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56144479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6EC4CC0-33AD-447E-B7DE-66586FD64824}" type="slidenum">
              <a:rPr lang="zh-CN" altLang="en-US" smtClean="0"/>
              <a:pPr/>
              <a:t>1</a:t>
            </a:fld>
            <a:endParaRPr lang="en-US" altLang="zh-CN"/>
          </a:p>
        </p:txBody>
      </p:sp>
      <p:sp>
        <p:nvSpPr>
          <p:cNvPr id="481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00050" y="692150"/>
            <a:ext cx="6146800" cy="3457575"/>
          </a:xfrm>
          <a:solidFill>
            <a:srgbClr val="FFFFFF"/>
          </a:solidFill>
          <a:ln/>
        </p:spPr>
      </p:sp>
      <p:sp>
        <p:nvSpPr>
          <p:cNvPr id="48132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90654" tIns="45327" rIns="90654" bIns="45327"/>
          <a:lstStyle/>
          <a:p>
            <a:pPr marL="228600" indent="-228600"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266763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64000" y="2590800"/>
            <a:ext cx="10363200" cy="47244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914400" y="6248400"/>
            <a:ext cx="2540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 dirty="0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381000"/>
            <a:ext cx="10363200" cy="6096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4400" y="1524000"/>
            <a:ext cx="5080000" cy="4724400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524000"/>
            <a:ext cx="5080000" cy="4724400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 noChangeArrowheads="1"/>
          </p:cNvSpPr>
          <p:nvPr>
            <p:ph type="dt" sz="half" idx="10"/>
          </p:nvPr>
        </p:nvSpPr>
        <p:spPr>
          <a:xfrm>
            <a:off x="914400" y="6248400"/>
            <a:ext cx="2540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914400" y="6248400"/>
            <a:ext cx="2540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381000"/>
            <a:ext cx="10363200" cy="6096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914400" y="6248400"/>
            <a:ext cx="2540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 noChangeArrowheads="1"/>
          </p:cNvSpPr>
          <p:nvPr>
            <p:ph type="dt" sz="half" idx="10"/>
          </p:nvPr>
        </p:nvSpPr>
        <p:spPr>
          <a:xfrm>
            <a:off x="914400" y="6248400"/>
            <a:ext cx="2540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 noChangeArrowheads="1"/>
          </p:cNvSpPr>
          <p:nvPr>
            <p:ph type="dt" sz="half" idx="10"/>
          </p:nvPr>
        </p:nvSpPr>
        <p:spPr>
          <a:xfrm>
            <a:off x="914400" y="6248400"/>
            <a:ext cx="2540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381000"/>
            <a:ext cx="10363200" cy="6096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4400" y="1524000"/>
            <a:ext cx="10363200" cy="4724400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914400" y="6248400"/>
            <a:ext cx="2540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6800" y="381000"/>
            <a:ext cx="2590800" cy="5867400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4400" y="381000"/>
            <a:ext cx="7569200" cy="5867400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914400" y="6248400"/>
            <a:ext cx="2540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/>
          <p:cNvSpPr txBox="1">
            <a:spLocks/>
          </p:cNvSpPr>
          <p:nvPr userDrawn="1"/>
        </p:nvSpPr>
        <p:spPr>
          <a:xfrm>
            <a:off x="0" y="152400"/>
            <a:ext cx="12192000" cy="1066800"/>
          </a:xfrm>
          <a:prstGeom prst="rect">
            <a:avLst/>
          </a:prstGeom>
          <a:solidFill>
            <a:srgbClr val="2BB7B3"/>
          </a:solidFill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9pPr>
          </a:lstStyle>
          <a:p>
            <a:endParaRPr lang="en-US" sz="3200" kern="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5" r:id="rId1"/>
    <p:sldLayoutId id="2147483685" r:id="rId2"/>
    <p:sldLayoutId id="2147483686" r:id="rId3"/>
    <p:sldLayoutId id="2147483687" r:id="rId4"/>
    <p:sldLayoutId id="2147483688" r:id="rId5"/>
    <p:sldLayoutId id="2147483689" r:id="rId6"/>
    <p:sldLayoutId id="2147483690" r:id="rId7"/>
    <p:sldLayoutId id="2147483691" r:id="rId8"/>
    <p:sldLayoutId id="2147483692" r:id="rId9"/>
    <p:sldLayoutId id="2147483693" r:id="rId10"/>
    <p:sldLayoutId id="2147483694" r:id="rId11"/>
  </p:sldLayoutIdLst>
  <p:transition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000066"/>
        </a:buClr>
        <a:buFont typeface="Wingdings" pitchFamily="2" charset="2"/>
        <a:buChar char="v"/>
        <a:defRPr sz="2400" b="1">
          <a:solidFill>
            <a:srgbClr val="000066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rgbClr val="3E003E"/>
        </a:buClr>
        <a:buFont typeface="Wingdings" pitchFamily="2" charset="2"/>
        <a:buChar char="Ø"/>
        <a:defRPr sz="2000" b="1">
          <a:solidFill>
            <a:srgbClr val="3E003E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rgbClr val="800000"/>
          </a:solidFill>
          <a:latin typeface="Times New Roman" pitchFamily="18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Times New Roman" pitchFamily="18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Times New Roman" pitchFamily="18" charset="0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Times New Roman" pitchFamily="18" charset="0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Times New Roman" pitchFamily="18" charset="0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Times New Roman" pitchFamily="18" charset="0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Times New Roman" pitchFamily="18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emf"/><Relationship Id="rId4" Type="http://schemas.openxmlformats.org/officeDocument/2006/relationships/image" Target="../media/image4.em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emf"/><Relationship Id="rId5" Type="http://schemas.openxmlformats.org/officeDocument/2006/relationships/image" Target="../media/image9.emf"/><Relationship Id="rId4" Type="http://schemas.openxmlformats.org/officeDocument/2006/relationships/image" Target="../media/image8.e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e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e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emf"/><Relationship Id="rId2" Type="http://schemas.openxmlformats.org/officeDocument/2006/relationships/image" Target="../media/image15.emf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emf"/><Relationship Id="rId2" Type="http://schemas.openxmlformats.org/officeDocument/2006/relationships/image" Target="../media/image16.emf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.em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emf"/><Relationship Id="rId2" Type="http://schemas.openxmlformats.org/officeDocument/2006/relationships/image" Target="../media/image19.emf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emf"/><Relationship Id="rId2" Type="http://schemas.openxmlformats.org/officeDocument/2006/relationships/image" Target="../media/image19.emf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2.em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emf"/><Relationship Id="rId2" Type="http://schemas.openxmlformats.org/officeDocument/2006/relationships/image" Target="../media/image19.emf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4.emf"/><Relationship Id="rId4" Type="http://schemas.openxmlformats.org/officeDocument/2006/relationships/image" Target="../media/image23.emf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emf"/><Relationship Id="rId3" Type="http://schemas.openxmlformats.org/officeDocument/2006/relationships/image" Target="../media/image26.emf"/><Relationship Id="rId7" Type="http://schemas.openxmlformats.org/officeDocument/2006/relationships/image" Target="../media/image30.emf"/><Relationship Id="rId2" Type="http://schemas.openxmlformats.org/officeDocument/2006/relationships/image" Target="../media/image25.em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9.emf"/><Relationship Id="rId5" Type="http://schemas.openxmlformats.org/officeDocument/2006/relationships/image" Target="../media/image28.emf"/><Relationship Id="rId4" Type="http://schemas.openxmlformats.org/officeDocument/2006/relationships/image" Target="../media/image27.emf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emf"/><Relationship Id="rId7" Type="http://schemas.openxmlformats.org/officeDocument/2006/relationships/image" Target="../media/image32.emf"/><Relationship Id="rId2" Type="http://schemas.openxmlformats.org/officeDocument/2006/relationships/image" Target="../media/image25.em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1.emf"/><Relationship Id="rId5" Type="http://schemas.openxmlformats.org/officeDocument/2006/relationships/image" Target="../media/image30.emf"/><Relationship Id="rId4" Type="http://schemas.openxmlformats.org/officeDocument/2006/relationships/image" Target="../media/image29.emf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emf"/><Relationship Id="rId2" Type="http://schemas.openxmlformats.org/officeDocument/2006/relationships/image" Target="../media/image33.emf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emf"/><Relationship Id="rId2" Type="http://schemas.openxmlformats.org/officeDocument/2006/relationships/image" Target="../media/image33.em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7.emf"/><Relationship Id="rId5" Type="http://schemas.openxmlformats.org/officeDocument/2006/relationships/image" Target="../media/image36.emf"/><Relationship Id="rId4" Type="http://schemas.openxmlformats.org/officeDocument/2006/relationships/image" Target="../media/image35.emf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emf"/><Relationship Id="rId2" Type="http://schemas.openxmlformats.org/officeDocument/2006/relationships/image" Target="../media/image38.emf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emf"/><Relationship Id="rId2" Type="http://schemas.openxmlformats.org/officeDocument/2006/relationships/image" Target="../media/image38.emf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emf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emf"/><Relationship Id="rId2" Type="http://schemas.openxmlformats.org/officeDocument/2006/relationships/image" Target="../media/image40.emf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8.emf"/><Relationship Id="rId4" Type="http://schemas.openxmlformats.org/officeDocument/2006/relationships/image" Target="../media/image42.emf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emf"/><Relationship Id="rId2" Type="http://schemas.openxmlformats.org/officeDocument/2006/relationships/image" Target="../media/image43.emf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emf"/><Relationship Id="rId2" Type="http://schemas.openxmlformats.org/officeDocument/2006/relationships/image" Target="../media/image43.emf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6.emf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emf"/><Relationship Id="rId2" Type="http://schemas.openxmlformats.org/officeDocument/2006/relationships/image" Target="../media/image47.emf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9.emf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emf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emf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emf"/><Relationship Id="rId2" Type="http://schemas.openxmlformats.org/officeDocument/2006/relationships/image" Target="../media/image52.emf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4.emf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emf"/><Relationship Id="rId2" Type="http://schemas.openxmlformats.org/officeDocument/2006/relationships/image" Target="../media/image52.emf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5.emf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emf"/><Relationship Id="rId2" Type="http://schemas.openxmlformats.org/officeDocument/2006/relationships/image" Target="../media/image52.emf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6.emf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emf"/><Relationship Id="rId2" Type="http://schemas.openxmlformats.org/officeDocument/2006/relationships/image" Target="../media/image52.emf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7.emf"/><Relationship Id="rId4" Type="http://schemas.openxmlformats.org/officeDocument/2006/relationships/image" Target="../media/image56.emf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emf"/><Relationship Id="rId2" Type="http://schemas.openxmlformats.org/officeDocument/2006/relationships/image" Target="../media/image58.emf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emf"/><Relationship Id="rId4" Type="http://schemas.openxmlformats.org/officeDocument/2006/relationships/image" Target="../media/image4.emf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emf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emf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emf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emf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emf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emf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emf"/><Relationship Id="rId2" Type="http://schemas.openxmlformats.org/officeDocument/2006/relationships/image" Target="../media/image66.emf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emf"/><Relationship Id="rId2" Type="http://schemas.openxmlformats.org/officeDocument/2006/relationships/image" Target="../media/image67.emf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9.emf"/><Relationship Id="rId4" Type="http://schemas.openxmlformats.org/officeDocument/2006/relationships/image" Target="../media/image65.emf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emf"/><Relationship Id="rId2" Type="http://schemas.openxmlformats.org/officeDocument/2006/relationships/image" Target="../media/image70.emf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3.emf"/><Relationship Id="rId4" Type="http://schemas.openxmlformats.org/officeDocument/2006/relationships/image" Target="../media/image72.emf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ctrTitle" idx="4294967295"/>
          </p:nvPr>
        </p:nvSpPr>
        <p:spPr>
          <a:xfrm>
            <a:off x="0" y="76200"/>
            <a:ext cx="12192000" cy="3330054"/>
          </a:xfrm>
          <a:prstGeom prst="rect">
            <a:avLst/>
          </a:prstGeom>
          <a:solidFill>
            <a:srgbClr val="2BB7B3"/>
          </a:solidFill>
        </p:spPr>
        <p:txBody>
          <a:bodyPr/>
          <a:lstStyle/>
          <a:p>
            <a:pPr eaLnBrk="1" hangingPunct="1"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</a:pPr>
            <a:r>
              <a:rPr lang="en-US" altLang="zh-CN" sz="4800" dirty="0" smtClean="0">
                <a:solidFill>
                  <a:schemeClr val="bg1"/>
                </a:solidFill>
                <a:ea typeface="宋体" pitchFamily="2" charset="-122"/>
              </a:rPr>
              <a:t>MSE 213 </a:t>
            </a:r>
            <a:br>
              <a:rPr lang="en-US" altLang="zh-CN" sz="4800" dirty="0" smtClean="0">
                <a:solidFill>
                  <a:schemeClr val="bg1"/>
                </a:solidFill>
                <a:ea typeface="宋体" pitchFamily="2" charset="-122"/>
              </a:rPr>
            </a:br>
            <a:r>
              <a:rPr lang="en-US" altLang="zh-CN" sz="4800" dirty="0" smtClean="0">
                <a:solidFill>
                  <a:schemeClr val="bg1"/>
                </a:solidFill>
                <a:ea typeface="宋体" pitchFamily="2" charset="-122"/>
              </a:rPr>
              <a:t>Mechanics of Materials B</a:t>
            </a:r>
            <a:br>
              <a:rPr lang="en-US" altLang="zh-CN" sz="4800" dirty="0" smtClean="0">
                <a:solidFill>
                  <a:schemeClr val="bg1"/>
                </a:solidFill>
                <a:ea typeface="宋体" pitchFamily="2" charset="-122"/>
              </a:rPr>
            </a:br>
            <a:r>
              <a:rPr lang="en-US" altLang="zh-CN" sz="4800" dirty="0" smtClean="0">
                <a:solidFill>
                  <a:schemeClr val="bg1"/>
                </a:solidFill>
                <a:ea typeface="宋体" pitchFamily="2" charset="-122"/>
              </a:rPr>
              <a:t>Lecture 5</a:t>
            </a:r>
            <a:br>
              <a:rPr lang="en-US" altLang="zh-CN" sz="4800" dirty="0" smtClean="0">
                <a:solidFill>
                  <a:schemeClr val="bg1"/>
                </a:solidFill>
                <a:ea typeface="宋体" pitchFamily="2" charset="-122"/>
              </a:rPr>
            </a:br>
            <a:endParaRPr lang="en-US" altLang="zh-CN" sz="4400" b="0" dirty="0">
              <a:solidFill>
                <a:srgbClr val="FF9900"/>
              </a:solidFill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subTitle" idx="4294967295"/>
          </p:nvPr>
        </p:nvSpPr>
        <p:spPr>
          <a:xfrm>
            <a:off x="0" y="3810000"/>
            <a:ext cx="12192000" cy="762000"/>
          </a:xfrm>
          <a:prstGeom prst="rect">
            <a:avLst/>
          </a:prstGeom>
        </p:spPr>
        <p:txBody>
          <a:bodyPr/>
          <a:lstStyle/>
          <a:p>
            <a:pPr marL="0" indent="0" algn="ctr" eaLnBrk="1" hangingPunct="1">
              <a:lnSpc>
                <a:spcPct val="120000"/>
              </a:lnSpc>
              <a:buNone/>
            </a:pPr>
            <a:r>
              <a:rPr lang="en-US" altLang="zh-CN" sz="3200" dirty="0" smtClean="0">
                <a:solidFill>
                  <a:srgbClr val="003F43"/>
                </a:solidFill>
                <a:ea typeface="楷体" panose="02010609060101010101" pitchFamily="49" charset="-122"/>
              </a:rPr>
              <a:t>Axial Load</a:t>
            </a:r>
            <a:r>
              <a:rPr lang="en-US" altLang="zh-CN" dirty="0" smtClean="0">
                <a:solidFill>
                  <a:srgbClr val="C00000"/>
                </a:solidFill>
                <a:ea typeface="楷体" panose="02010609060101010101" pitchFamily="49" charset="-122"/>
              </a:rPr>
              <a:t>                        </a:t>
            </a:r>
            <a:endParaRPr lang="en-US" altLang="zh-CN" dirty="0">
              <a:solidFill>
                <a:srgbClr val="C00000"/>
              </a:solidFill>
              <a:ea typeface="楷体" panose="02010609060101010101" pitchFamily="49" charset="-122"/>
            </a:endParaRPr>
          </a:p>
        </p:txBody>
      </p:sp>
      <p:sp>
        <p:nvSpPr>
          <p:cNvPr id="5" name="Text Box 18"/>
          <p:cNvSpPr txBox="1">
            <a:spLocks noChangeArrowheads="1"/>
          </p:cNvSpPr>
          <p:nvPr/>
        </p:nvSpPr>
        <p:spPr bwMode="auto">
          <a:xfrm>
            <a:off x="0" y="6096000"/>
            <a:ext cx="12192000" cy="733342"/>
          </a:xfrm>
          <a:prstGeom prst="rect">
            <a:avLst/>
          </a:prstGeom>
          <a:solidFill>
            <a:srgbClr val="2BB7B3"/>
          </a:solidFill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  <a:spcBef>
                <a:spcPts val="1200"/>
              </a:spcBef>
              <a:spcAft>
                <a:spcPts val="1200"/>
              </a:spcAft>
              <a:defRPr/>
            </a:pPr>
            <a:r>
              <a:rPr lang="en-US" altLang="zh-CN" sz="3600" b="1" dirty="0" smtClean="0">
                <a:solidFill>
                  <a:schemeClr val="bg1"/>
                </a:solidFill>
                <a:latin typeface="Arial Black" pitchFamily="34" charset="0"/>
                <a:ea typeface="宋体" pitchFamily="2" charset="-122"/>
              </a:rPr>
              <a:t>Jiangyu Li</a:t>
            </a:r>
            <a:endParaRPr lang="en-US" altLang="zh-CN" sz="3600" b="1" dirty="0">
              <a:solidFill>
                <a:schemeClr val="bg1"/>
              </a:solidFill>
              <a:latin typeface="Arial Black" pitchFamily="34" charset="0"/>
              <a:ea typeface="宋体" pitchFamily="2" charset="-122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4673847" y="5072390"/>
            <a:ext cx="297767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>
                <a:solidFill>
                  <a:srgbClr val="C00000"/>
                </a:solidFill>
              </a:rPr>
              <a:t>Textbook 4.1-4.9</a:t>
            </a:r>
            <a:endParaRPr lang="en-US" b="1" dirty="0">
              <a:solidFill>
                <a:srgbClr val="C000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0" y="304800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 smtClean="0">
                <a:solidFill>
                  <a:schemeClr val="bg1"/>
                </a:solidFill>
              </a:rPr>
              <a:t>Axial Load</a:t>
            </a:r>
            <a:endParaRPr lang="en-US" sz="4000" b="1" dirty="0">
              <a:solidFill>
                <a:schemeClr val="bg1"/>
              </a:solidFill>
            </a:endParaRPr>
          </a:p>
        </p:txBody>
      </p:sp>
      <p:sp>
        <p:nvSpPr>
          <p:cNvPr id="3" name="AutoShape 8" descr="See the source image"/>
          <p:cNvSpPr>
            <a:spLocks noChangeAspect="1" noChangeArrowheads="1"/>
          </p:cNvSpPr>
          <p:nvPr/>
        </p:nvSpPr>
        <p:spPr bwMode="auto">
          <a:xfrm>
            <a:off x="63500" y="-13652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24200" y="1905000"/>
            <a:ext cx="6400800" cy="317961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452487" y="5257800"/>
            <a:ext cx="528702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Force-displacement relationship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8308125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0" y="304800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 smtClean="0">
                <a:solidFill>
                  <a:schemeClr val="bg1"/>
                </a:solidFill>
              </a:rPr>
              <a:t>Saint-</a:t>
            </a:r>
            <a:r>
              <a:rPr lang="en-US" sz="4000" b="1" dirty="0" err="1" smtClean="0">
                <a:solidFill>
                  <a:schemeClr val="bg1"/>
                </a:solidFill>
              </a:rPr>
              <a:t>Venant’s</a:t>
            </a:r>
            <a:r>
              <a:rPr lang="en-US" sz="4000" b="1" dirty="0" smtClean="0">
                <a:solidFill>
                  <a:schemeClr val="bg1"/>
                </a:solidFill>
              </a:rPr>
              <a:t> Principle</a:t>
            </a:r>
            <a:endParaRPr lang="en-US" sz="4000" b="1" dirty="0">
              <a:solidFill>
                <a:schemeClr val="bg1"/>
              </a:solidFill>
            </a:endParaRPr>
          </a:p>
        </p:txBody>
      </p:sp>
      <p:sp>
        <p:nvSpPr>
          <p:cNvPr id="3" name="AutoShape 8" descr="See the source image"/>
          <p:cNvSpPr>
            <a:spLocks noChangeAspect="1" noChangeArrowheads="1"/>
          </p:cNvSpPr>
          <p:nvPr/>
        </p:nvSpPr>
        <p:spPr bwMode="auto">
          <a:xfrm>
            <a:off x="63500" y="-13652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l="17284" r="4383"/>
          <a:stretch/>
        </p:blipFill>
        <p:spPr>
          <a:xfrm>
            <a:off x="228600" y="1524000"/>
            <a:ext cx="4295229" cy="449580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78115" y="1752600"/>
            <a:ext cx="8037685" cy="121920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25307" y="4191000"/>
            <a:ext cx="4991724" cy="20574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94709" y="4343400"/>
            <a:ext cx="2057400" cy="2057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4929918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0" y="304800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 smtClean="0">
                <a:solidFill>
                  <a:schemeClr val="bg1"/>
                </a:solidFill>
              </a:rPr>
              <a:t>Force-Displacement</a:t>
            </a:r>
            <a:endParaRPr lang="en-US" sz="4000" b="1" dirty="0">
              <a:solidFill>
                <a:schemeClr val="bg1"/>
              </a:solidFill>
            </a:endParaRPr>
          </a:p>
        </p:txBody>
      </p:sp>
      <p:sp>
        <p:nvSpPr>
          <p:cNvPr id="3" name="AutoShape 8" descr="See the source image"/>
          <p:cNvSpPr>
            <a:spLocks noChangeAspect="1" noChangeArrowheads="1"/>
          </p:cNvSpPr>
          <p:nvPr/>
        </p:nvSpPr>
        <p:spPr bwMode="auto">
          <a:xfrm>
            <a:off x="63500" y="-13652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800" y="1618488"/>
            <a:ext cx="5471735" cy="1505712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96200" y="1694688"/>
            <a:ext cx="2760472" cy="1505712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19083" y="3284365"/>
            <a:ext cx="4767168" cy="105937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5"/>
          <a:srcRect t="16860"/>
          <a:stretch/>
        </p:blipFill>
        <p:spPr>
          <a:xfrm>
            <a:off x="2590800" y="4876800"/>
            <a:ext cx="2125227" cy="171052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81800" y="4876800"/>
            <a:ext cx="3412139" cy="1752600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 rotWithShape="1">
          <a:blip r:embed="rId5"/>
          <a:srcRect b="81140"/>
          <a:stretch/>
        </p:blipFill>
        <p:spPr>
          <a:xfrm>
            <a:off x="6781800" y="3490656"/>
            <a:ext cx="3068315" cy="560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2294981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0" y="304800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 smtClean="0">
                <a:solidFill>
                  <a:schemeClr val="bg1"/>
                </a:solidFill>
              </a:rPr>
              <a:t>Constant Force and Cross-section</a:t>
            </a:r>
            <a:endParaRPr lang="en-US" sz="4000" b="1" dirty="0">
              <a:solidFill>
                <a:schemeClr val="bg1"/>
              </a:solidFill>
            </a:endParaRPr>
          </a:p>
        </p:txBody>
      </p:sp>
      <p:sp>
        <p:nvSpPr>
          <p:cNvPr id="3" name="AutoShape 8" descr="See the source image"/>
          <p:cNvSpPr>
            <a:spLocks noChangeAspect="1" noChangeArrowheads="1"/>
          </p:cNvSpPr>
          <p:nvPr/>
        </p:nvSpPr>
        <p:spPr bwMode="auto">
          <a:xfrm>
            <a:off x="63500" y="-13652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2200" y="3924300"/>
            <a:ext cx="3412139" cy="17526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10400" y="4122193"/>
            <a:ext cx="2167468" cy="1524000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02000" y="2057400"/>
            <a:ext cx="5588000" cy="152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0174986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0" y="304800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 smtClean="0">
                <a:solidFill>
                  <a:schemeClr val="bg1"/>
                </a:solidFill>
              </a:rPr>
              <a:t>Piece-wise Constant</a:t>
            </a:r>
            <a:endParaRPr lang="en-US" sz="4000" b="1" dirty="0">
              <a:solidFill>
                <a:schemeClr val="bg1"/>
              </a:solidFill>
            </a:endParaRPr>
          </a:p>
        </p:txBody>
      </p:sp>
      <p:sp>
        <p:nvSpPr>
          <p:cNvPr id="3" name="AutoShape 8" descr="See the source image"/>
          <p:cNvSpPr>
            <a:spLocks noChangeAspect="1" noChangeArrowheads="1"/>
          </p:cNvSpPr>
          <p:nvPr/>
        </p:nvSpPr>
        <p:spPr bwMode="auto">
          <a:xfrm>
            <a:off x="63500" y="-13652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7000" y="2209800"/>
            <a:ext cx="2167468" cy="1524000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81200" y="1981200"/>
            <a:ext cx="2446637" cy="4271749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24600" y="4343400"/>
            <a:ext cx="2825933" cy="16429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9636788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0" y="304800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 smtClean="0">
                <a:solidFill>
                  <a:schemeClr val="bg1"/>
                </a:solidFill>
              </a:rPr>
              <a:t>Sign Convention</a:t>
            </a:r>
            <a:endParaRPr lang="en-US" sz="4000" b="1" dirty="0">
              <a:solidFill>
                <a:schemeClr val="bg1"/>
              </a:solidFill>
            </a:endParaRPr>
          </a:p>
        </p:txBody>
      </p:sp>
      <p:sp>
        <p:nvSpPr>
          <p:cNvPr id="3" name="AutoShape 8" descr="See the source image"/>
          <p:cNvSpPr>
            <a:spLocks noChangeAspect="1" noChangeArrowheads="1"/>
          </p:cNvSpPr>
          <p:nvPr/>
        </p:nvSpPr>
        <p:spPr bwMode="auto">
          <a:xfrm>
            <a:off x="63500" y="-13652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2016071"/>
            <a:ext cx="11266713" cy="1336729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3000" y="3962400"/>
            <a:ext cx="2825933" cy="16429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5784741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0" y="304800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 smtClean="0">
                <a:solidFill>
                  <a:schemeClr val="bg1"/>
                </a:solidFill>
              </a:rPr>
              <a:t>Example</a:t>
            </a:r>
            <a:endParaRPr lang="en-US" sz="4000" b="1" dirty="0">
              <a:solidFill>
                <a:schemeClr val="bg1"/>
              </a:solidFill>
            </a:endParaRPr>
          </a:p>
        </p:txBody>
      </p:sp>
      <p:sp>
        <p:nvSpPr>
          <p:cNvPr id="3" name="AutoShape 8" descr="See the source image"/>
          <p:cNvSpPr>
            <a:spLocks noChangeAspect="1" noChangeArrowheads="1"/>
          </p:cNvSpPr>
          <p:nvPr/>
        </p:nvSpPr>
        <p:spPr bwMode="auto">
          <a:xfrm>
            <a:off x="63500" y="-13652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1600200"/>
            <a:ext cx="7603955" cy="137160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1447" y="3559314"/>
            <a:ext cx="6307859" cy="2815174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52694" y="3429000"/>
            <a:ext cx="7169322" cy="9528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9898760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0" y="304800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 smtClean="0">
                <a:solidFill>
                  <a:schemeClr val="bg1"/>
                </a:solidFill>
              </a:rPr>
              <a:t>Example</a:t>
            </a:r>
            <a:endParaRPr lang="en-US" sz="4000" b="1" dirty="0">
              <a:solidFill>
                <a:schemeClr val="bg1"/>
              </a:solidFill>
            </a:endParaRPr>
          </a:p>
        </p:txBody>
      </p:sp>
      <p:sp>
        <p:nvSpPr>
          <p:cNvPr id="3" name="AutoShape 8" descr="See the source image"/>
          <p:cNvSpPr>
            <a:spLocks noChangeAspect="1" noChangeArrowheads="1"/>
          </p:cNvSpPr>
          <p:nvPr/>
        </p:nvSpPr>
        <p:spPr bwMode="auto">
          <a:xfrm>
            <a:off x="63500" y="-13652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800" y="1752600"/>
            <a:ext cx="2209800" cy="4200706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0" y="3200400"/>
            <a:ext cx="7995264" cy="13829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0299538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0" y="304800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 smtClean="0">
                <a:solidFill>
                  <a:schemeClr val="bg1"/>
                </a:solidFill>
              </a:rPr>
              <a:t>Example</a:t>
            </a:r>
            <a:endParaRPr lang="en-US" sz="4000" b="1" dirty="0">
              <a:solidFill>
                <a:schemeClr val="bg1"/>
              </a:solidFill>
            </a:endParaRPr>
          </a:p>
        </p:txBody>
      </p:sp>
      <p:sp>
        <p:nvSpPr>
          <p:cNvPr id="3" name="AutoShape 8" descr="See the source image"/>
          <p:cNvSpPr>
            <a:spLocks noChangeAspect="1" noChangeArrowheads="1"/>
          </p:cNvSpPr>
          <p:nvPr/>
        </p:nvSpPr>
        <p:spPr bwMode="auto">
          <a:xfrm>
            <a:off x="63500" y="-13652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2800" y="1976473"/>
            <a:ext cx="2209800" cy="4200706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9000" y="2831846"/>
            <a:ext cx="3013862" cy="3035808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3550" y="2285999"/>
            <a:ext cx="2215850" cy="35816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1607535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0" y="304800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 smtClean="0">
                <a:solidFill>
                  <a:schemeClr val="bg1"/>
                </a:solidFill>
              </a:rPr>
              <a:t>Example</a:t>
            </a:r>
            <a:endParaRPr lang="en-US" sz="4000" b="1" dirty="0">
              <a:solidFill>
                <a:schemeClr val="bg1"/>
              </a:solidFill>
            </a:endParaRPr>
          </a:p>
        </p:txBody>
      </p:sp>
      <p:sp>
        <p:nvSpPr>
          <p:cNvPr id="3" name="AutoShape 8" descr="See the source image"/>
          <p:cNvSpPr>
            <a:spLocks noChangeAspect="1" noChangeArrowheads="1"/>
          </p:cNvSpPr>
          <p:nvPr/>
        </p:nvSpPr>
        <p:spPr bwMode="auto">
          <a:xfrm>
            <a:off x="63500" y="-13652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58349" y="1680597"/>
            <a:ext cx="2209800" cy="4200706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2286000"/>
            <a:ext cx="2215850" cy="3581655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57800" y="2447146"/>
            <a:ext cx="6590035" cy="1743854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0" y="4495800"/>
            <a:ext cx="6136107" cy="76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6737735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0" y="304800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 smtClean="0">
                <a:solidFill>
                  <a:schemeClr val="bg1"/>
                </a:solidFill>
              </a:rPr>
              <a:t>Example</a:t>
            </a:r>
            <a:endParaRPr lang="en-US" sz="4000" b="1" dirty="0">
              <a:solidFill>
                <a:schemeClr val="bg1"/>
              </a:solidFill>
            </a:endParaRPr>
          </a:p>
        </p:txBody>
      </p:sp>
      <p:sp>
        <p:nvSpPr>
          <p:cNvPr id="3" name="AutoShape 8" descr="See the source image"/>
          <p:cNvSpPr>
            <a:spLocks noChangeAspect="1" noChangeArrowheads="1"/>
          </p:cNvSpPr>
          <p:nvPr/>
        </p:nvSpPr>
        <p:spPr bwMode="auto">
          <a:xfrm>
            <a:off x="63500" y="-13652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/>
          <a:srcRect l="3333" r="13333"/>
          <a:stretch/>
        </p:blipFill>
        <p:spPr>
          <a:xfrm>
            <a:off x="457200" y="1626100"/>
            <a:ext cx="1905000" cy="3884544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05200" y="1602216"/>
            <a:ext cx="7754450" cy="1303361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90800" y="3657600"/>
            <a:ext cx="2429256" cy="2533366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53200" y="3233453"/>
            <a:ext cx="2850264" cy="848293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52262" y="4167834"/>
            <a:ext cx="3001444" cy="890259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44000" y="4117463"/>
            <a:ext cx="2317181" cy="1013766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72266" y="5487348"/>
            <a:ext cx="2471734" cy="8097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6120499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0" y="304800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 smtClean="0">
                <a:solidFill>
                  <a:schemeClr val="bg1"/>
                </a:solidFill>
              </a:rPr>
              <a:t>Example</a:t>
            </a:r>
            <a:endParaRPr lang="en-US" sz="4000" b="1" dirty="0">
              <a:solidFill>
                <a:schemeClr val="bg1"/>
              </a:solidFill>
            </a:endParaRPr>
          </a:p>
        </p:txBody>
      </p:sp>
      <p:sp>
        <p:nvSpPr>
          <p:cNvPr id="3" name="AutoShape 8" descr="See the source image"/>
          <p:cNvSpPr>
            <a:spLocks noChangeAspect="1" noChangeArrowheads="1"/>
          </p:cNvSpPr>
          <p:nvPr/>
        </p:nvSpPr>
        <p:spPr bwMode="auto">
          <a:xfrm>
            <a:off x="63500" y="-13652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/>
          <a:srcRect l="3333" r="13333"/>
          <a:stretch/>
        </p:blipFill>
        <p:spPr>
          <a:xfrm>
            <a:off x="457200" y="1626100"/>
            <a:ext cx="1905000" cy="3884544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90800" y="3657600"/>
            <a:ext cx="2429256" cy="2533366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10200" y="1626100"/>
            <a:ext cx="3001444" cy="890259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01938" y="1575729"/>
            <a:ext cx="2317181" cy="1013766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30204" y="2945614"/>
            <a:ext cx="2471734" cy="809706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22809" y="4038600"/>
            <a:ext cx="4777670" cy="25179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2228270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0" y="304800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 smtClean="0">
                <a:solidFill>
                  <a:schemeClr val="bg1"/>
                </a:solidFill>
              </a:rPr>
              <a:t>Statically Indeterminate Member</a:t>
            </a:r>
            <a:endParaRPr lang="en-US" sz="4000" b="1" dirty="0">
              <a:solidFill>
                <a:schemeClr val="bg1"/>
              </a:solidFill>
            </a:endParaRPr>
          </a:p>
        </p:txBody>
      </p:sp>
      <p:sp>
        <p:nvSpPr>
          <p:cNvPr id="3" name="AutoShape 8" descr="See the source image"/>
          <p:cNvSpPr>
            <a:spLocks noChangeAspect="1" noChangeArrowheads="1"/>
          </p:cNvSpPr>
          <p:nvPr/>
        </p:nvSpPr>
        <p:spPr bwMode="auto">
          <a:xfrm>
            <a:off x="63500" y="-13652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0800" y="2111602"/>
            <a:ext cx="2743200" cy="4114798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1676400"/>
            <a:ext cx="2209800" cy="49852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6531654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0" y="304800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 smtClean="0">
                <a:solidFill>
                  <a:schemeClr val="bg1"/>
                </a:solidFill>
              </a:rPr>
              <a:t>Statically Indeterminate Member</a:t>
            </a:r>
            <a:endParaRPr lang="en-US" sz="4000" b="1" dirty="0">
              <a:solidFill>
                <a:schemeClr val="bg1"/>
              </a:solidFill>
            </a:endParaRPr>
          </a:p>
        </p:txBody>
      </p:sp>
      <p:sp>
        <p:nvSpPr>
          <p:cNvPr id="3" name="AutoShape 8" descr="See the source image"/>
          <p:cNvSpPr>
            <a:spLocks noChangeAspect="1" noChangeArrowheads="1"/>
          </p:cNvSpPr>
          <p:nvPr/>
        </p:nvSpPr>
        <p:spPr bwMode="auto">
          <a:xfrm>
            <a:off x="63500" y="-13652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200" y="1981200"/>
            <a:ext cx="2743200" cy="4114798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9600" y="1676400"/>
            <a:ext cx="2209800" cy="4985202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96200" y="1966415"/>
            <a:ext cx="3392049" cy="1306773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43800" y="3505200"/>
            <a:ext cx="3657600" cy="753978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34200" y="4739743"/>
            <a:ext cx="5176164" cy="13562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0620068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0" y="304800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 smtClean="0">
                <a:solidFill>
                  <a:schemeClr val="bg1"/>
                </a:solidFill>
              </a:rPr>
              <a:t>Example </a:t>
            </a:r>
            <a:endParaRPr lang="en-US" sz="4000" b="1" dirty="0">
              <a:solidFill>
                <a:schemeClr val="bg1"/>
              </a:solidFill>
            </a:endParaRPr>
          </a:p>
        </p:txBody>
      </p:sp>
      <p:sp>
        <p:nvSpPr>
          <p:cNvPr id="3" name="AutoShape 8" descr="See the source image"/>
          <p:cNvSpPr>
            <a:spLocks noChangeAspect="1" noChangeArrowheads="1"/>
          </p:cNvSpPr>
          <p:nvPr/>
        </p:nvSpPr>
        <p:spPr bwMode="auto">
          <a:xfrm>
            <a:off x="63500" y="-13652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/>
          <a:srcRect l="3586"/>
          <a:stretch/>
        </p:blipFill>
        <p:spPr>
          <a:xfrm>
            <a:off x="3581400" y="1752600"/>
            <a:ext cx="4437869" cy="1733027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0" y="4191000"/>
            <a:ext cx="8432089" cy="1752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8912234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0" y="304800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 smtClean="0">
                <a:solidFill>
                  <a:schemeClr val="bg1"/>
                </a:solidFill>
              </a:rPr>
              <a:t>Example </a:t>
            </a:r>
            <a:endParaRPr lang="en-US" sz="4000" b="1" dirty="0">
              <a:solidFill>
                <a:schemeClr val="bg1"/>
              </a:solidFill>
            </a:endParaRPr>
          </a:p>
        </p:txBody>
      </p:sp>
      <p:sp>
        <p:nvSpPr>
          <p:cNvPr id="3" name="AutoShape 8" descr="See the source image"/>
          <p:cNvSpPr>
            <a:spLocks noChangeAspect="1" noChangeArrowheads="1"/>
          </p:cNvSpPr>
          <p:nvPr/>
        </p:nvSpPr>
        <p:spPr bwMode="auto">
          <a:xfrm>
            <a:off x="63500" y="-13652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/>
          <a:srcRect l="3586"/>
          <a:stretch/>
        </p:blipFill>
        <p:spPr>
          <a:xfrm>
            <a:off x="609601" y="1735329"/>
            <a:ext cx="3657600" cy="1428325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95800" y="1755801"/>
            <a:ext cx="7212889" cy="1499191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28332" y="4114800"/>
            <a:ext cx="2167468" cy="15240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6553200" y="4615190"/>
            <a:ext cx="204575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  <a:latin typeface="Calibri" panose="020F0502020204030204" pitchFamily="34" charset="0"/>
              </a:rPr>
              <a:t>0.50955mm</a:t>
            </a:r>
            <a:r>
              <a:rPr lang="en-US" dirty="0" smtClean="0"/>
              <a:t>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7062820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0" y="304800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 smtClean="0">
                <a:solidFill>
                  <a:schemeClr val="bg1"/>
                </a:solidFill>
              </a:rPr>
              <a:t>Example </a:t>
            </a:r>
            <a:endParaRPr lang="en-US" sz="4000" b="1" dirty="0">
              <a:solidFill>
                <a:schemeClr val="bg1"/>
              </a:solidFill>
            </a:endParaRPr>
          </a:p>
        </p:txBody>
      </p:sp>
      <p:sp>
        <p:nvSpPr>
          <p:cNvPr id="3" name="AutoShape 8" descr="See the source image"/>
          <p:cNvSpPr>
            <a:spLocks noChangeAspect="1" noChangeArrowheads="1"/>
          </p:cNvSpPr>
          <p:nvPr/>
        </p:nvSpPr>
        <p:spPr bwMode="auto">
          <a:xfrm>
            <a:off x="63500" y="-13652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800" y="1919239"/>
            <a:ext cx="5260013" cy="1261872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10400" y="2071639"/>
            <a:ext cx="4947326" cy="957072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6564" y="4343400"/>
            <a:ext cx="5638799" cy="990976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 rotWithShape="1">
          <a:blip r:embed="rId5"/>
          <a:srcRect l="3586"/>
          <a:stretch/>
        </p:blipFill>
        <p:spPr>
          <a:xfrm>
            <a:off x="7543800" y="4124725"/>
            <a:ext cx="3657600" cy="1428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4386755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0" y="304800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 smtClean="0">
                <a:solidFill>
                  <a:schemeClr val="bg1"/>
                </a:solidFill>
              </a:rPr>
              <a:t>Example </a:t>
            </a:r>
            <a:endParaRPr lang="en-US" sz="4000" b="1" dirty="0">
              <a:solidFill>
                <a:schemeClr val="bg1"/>
              </a:solidFill>
            </a:endParaRPr>
          </a:p>
        </p:txBody>
      </p:sp>
      <p:sp>
        <p:nvSpPr>
          <p:cNvPr id="3" name="AutoShape 8" descr="See the source image"/>
          <p:cNvSpPr>
            <a:spLocks noChangeAspect="1" noChangeArrowheads="1"/>
          </p:cNvSpPr>
          <p:nvPr/>
        </p:nvSpPr>
        <p:spPr bwMode="auto">
          <a:xfrm>
            <a:off x="63500" y="-13652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981200"/>
            <a:ext cx="3048000" cy="3135442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2800" y="2819400"/>
            <a:ext cx="8583304" cy="17622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3599058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0" y="304800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 smtClean="0">
                <a:solidFill>
                  <a:schemeClr val="bg1"/>
                </a:solidFill>
              </a:rPr>
              <a:t>Example </a:t>
            </a:r>
            <a:endParaRPr lang="en-US" sz="4000" b="1" dirty="0">
              <a:solidFill>
                <a:schemeClr val="bg1"/>
              </a:solidFill>
            </a:endParaRPr>
          </a:p>
        </p:txBody>
      </p:sp>
      <p:sp>
        <p:nvSpPr>
          <p:cNvPr id="3" name="AutoShape 8" descr="See the source image"/>
          <p:cNvSpPr>
            <a:spLocks noChangeAspect="1" noChangeArrowheads="1"/>
          </p:cNvSpPr>
          <p:nvPr/>
        </p:nvSpPr>
        <p:spPr bwMode="auto">
          <a:xfrm>
            <a:off x="63500" y="-13652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2559067"/>
            <a:ext cx="3048000" cy="3135442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81601" y="2545418"/>
            <a:ext cx="4478976" cy="959781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0" y="3962400"/>
            <a:ext cx="3288266" cy="13217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7199156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0" y="304800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 smtClean="0">
                <a:solidFill>
                  <a:schemeClr val="bg1"/>
                </a:solidFill>
              </a:rPr>
              <a:t>Thermal Stress</a:t>
            </a:r>
            <a:endParaRPr lang="en-US" sz="4000" b="1" dirty="0">
              <a:solidFill>
                <a:schemeClr val="bg1"/>
              </a:solidFill>
            </a:endParaRPr>
          </a:p>
        </p:txBody>
      </p:sp>
      <p:sp>
        <p:nvSpPr>
          <p:cNvPr id="3" name="AutoShape 8" descr="See the source image"/>
          <p:cNvSpPr>
            <a:spLocks noChangeAspect="1" noChangeArrowheads="1"/>
          </p:cNvSpPr>
          <p:nvPr/>
        </p:nvSpPr>
        <p:spPr bwMode="auto">
          <a:xfrm>
            <a:off x="63500" y="-13652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600" y="1981200"/>
            <a:ext cx="1905000" cy="3984238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0" y="2465218"/>
            <a:ext cx="8043335" cy="14478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82276" y="4267200"/>
            <a:ext cx="4193982" cy="15460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3990267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0" y="304800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 smtClean="0">
                <a:solidFill>
                  <a:schemeClr val="bg1"/>
                </a:solidFill>
              </a:rPr>
              <a:t>Elastic Perfectly Plastic</a:t>
            </a:r>
            <a:endParaRPr lang="en-US" sz="4000" b="1" dirty="0">
              <a:solidFill>
                <a:schemeClr val="bg1"/>
              </a:solidFill>
            </a:endParaRPr>
          </a:p>
        </p:txBody>
      </p:sp>
      <p:sp>
        <p:nvSpPr>
          <p:cNvPr id="3" name="AutoShape 8" descr="See the source image"/>
          <p:cNvSpPr>
            <a:spLocks noChangeAspect="1" noChangeArrowheads="1"/>
          </p:cNvSpPr>
          <p:nvPr/>
        </p:nvSpPr>
        <p:spPr bwMode="auto">
          <a:xfrm>
            <a:off x="63500" y="-13652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799" y="2133600"/>
            <a:ext cx="8287616" cy="381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8847402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0" y="304800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 smtClean="0">
                <a:solidFill>
                  <a:schemeClr val="bg1"/>
                </a:solidFill>
              </a:rPr>
              <a:t>Unloading and Residual Stress</a:t>
            </a:r>
            <a:endParaRPr lang="en-US" sz="4000" b="1" dirty="0">
              <a:solidFill>
                <a:schemeClr val="bg1"/>
              </a:solidFill>
            </a:endParaRPr>
          </a:p>
        </p:txBody>
      </p:sp>
      <p:sp>
        <p:nvSpPr>
          <p:cNvPr id="3" name="AutoShape 8" descr="See the source image"/>
          <p:cNvSpPr>
            <a:spLocks noChangeAspect="1" noChangeArrowheads="1"/>
          </p:cNvSpPr>
          <p:nvPr/>
        </p:nvSpPr>
        <p:spPr bwMode="auto">
          <a:xfrm>
            <a:off x="63500" y="-13652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8400" y="1828800"/>
            <a:ext cx="7432040" cy="419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2239518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0" y="304800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 smtClean="0">
                <a:solidFill>
                  <a:schemeClr val="bg1"/>
                </a:solidFill>
              </a:rPr>
              <a:t>Example</a:t>
            </a:r>
            <a:endParaRPr lang="en-US" sz="4000" b="1" dirty="0">
              <a:solidFill>
                <a:schemeClr val="bg1"/>
              </a:solidFill>
            </a:endParaRPr>
          </a:p>
        </p:txBody>
      </p:sp>
      <p:sp>
        <p:nvSpPr>
          <p:cNvPr id="3" name="AutoShape 8" descr="See the source image"/>
          <p:cNvSpPr>
            <a:spLocks noChangeAspect="1" noChangeArrowheads="1"/>
          </p:cNvSpPr>
          <p:nvPr/>
        </p:nvSpPr>
        <p:spPr bwMode="auto">
          <a:xfrm>
            <a:off x="63500" y="-13652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300" y="3528316"/>
            <a:ext cx="4419600" cy="2011166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1584701"/>
            <a:ext cx="7779898" cy="13716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81600" y="3276600"/>
            <a:ext cx="6809968" cy="2514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591190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0" y="304800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 smtClean="0">
                <a:solidFill>
                  <a:schemeClr val="bg1"/>
                </a:solidFill>
              </a:rPr>
              <a:t>Example</a:t>
            </a:r>
            <a:endParaRPr lang="en-US" sz="4000" b="1" dirty="0">
              <a:solidFill>
                <a:schemeClr val="bg1"/>
              </a:solidFill>
            </a:endParaRPr>
          </a:p>
        </p:txBody>
      </p:sp>
      <p:sp>
        <p:nvSpPr>
          <p:cNvPr id="3" name="AutoShape 8" descr="See the source image"/>
          <p:cNvSpPr>
            <a:spLocks noChangeAspect="1" noChangeArrowheads="1"/>
          </p:cNvSpPr>
          <p:nvPr/>
        </p:nvSpPr>
        <p:spPr bwMode="auto">
          <a:xfrm>
            <a:off x="63500" y="-13652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300" y="3528316"/>
            <a:ext cx="4419600" cy="2011166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9427" y="1372976"/>
            <a:ext cx="7779898" cy="1371600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79252" y="3104866"/>
            <a:ext cx="6420146" cy="3665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6594870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0" y="304800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 smtClean="0">
                <a:solidFill>
                  <a:schemeClr val="bg1"/>
                </a:solidFill>
              </a:rPr>
              <a:t>Example</a:t>
            </a:r>
            <a:endParaRPr lang="en-US" sz="4000" b="1" dirty="0">
              <a:solidFill>
                <a:schemeClr val="bg1"/>
              </a:solidFill>
            </a:endParaRPr>
          </a:p>
        </p:txBody>
      </p:sp>
      <p:sp>
        <p:nvSpPr>
          <p:cNvPr id="3" name="AutoShape 8" descr="See the source image"/>
          <p:cNvSpPr>
            <a:spLocks noChangeAspect="1" noChangeArrowheads="1"/>
          </p:cNvSpPr>
          <p:nvPr/>
        </p:nvSpPr>
        <p:spPr bwMode="auto">
          <a:xfrm>
            <a:off x="63500" y="-13652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300" y="3528316"/>
            <a:ext cx="4419600" cy="2011166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9427" y="1372976"/>
            <a:ext cx="7779898" cy="137160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05400" y="3128750"/>
            <a:ext cx="6578718" cy="30824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6705703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0" y="304800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 smtClean="0">
                <a:solidFill>
                  <a:schemeClr val="bg1"/>
                </a:solidFill>
              </a:rPr>
              <a:t>Example</a:t>
            </a:r>
            <a:endParaRPr lang="en-US" sz="4000" b="1" dirty="0">
              <a:solidFill>
                <a:schemeClr val="bg1"/>
              </a:solidFill>
            </a:endParaRPr>
          </a:p>
        </p:txBody>
      </p:sp>
      <p:sp>
        <p:nvSpPr>
          <p:cNvPr id="3" name="AutoShape 8" descr="See the source image"/>
          <p:cNvSpPr>
            <a:spLocks noChangeAspect="1" noChangeArrowheads="1"/>
          </p:cNvSpPr>
          <p:nvPr/>
        </p:nvSpPr>
        <p:spPr bwMode="auto">
          <a:xfrm>
            <a:off x="63500" y="-13652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019" y="3068650"/>
            <a:ext cx="4419600" cy="2011166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9427" y="1372976"/>
            <a:ext cx="7779898" cy="137160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05400" y="3128750"/>
            <a:ext cx="6578718" cy="3082413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3000" y="5403890"/>
            <a:ext cx="4364849" cy="9207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0008162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0" y="304800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 smtClean="0">
                <a:solidFill>
                  <a:schemeClr val="bg1"/>
                </a:solidFill>
              </a:rPr>
              <a:t>Example</a:t>
            </a:r>
            <a:endParaRPr lang="en-US" sz="4000" b="1" dirty="0">
              <a:solidFill>
                <a:schemeClr val="bg1"/>
              </a:solidFill>
            </a:endParaRPr>
          </a:p>
        </p:txBody>
      </p:sp>
      <p:sp>
        <p:nvSpPr>
          <p:cNvPr id="3" name="AutoShape 8" descr="See the source image"/>
          <p:cNvSpPr>
            <a:spLocks noChangeAspect="1" noChangeArrowheads="1"/>
          </p:cNvSpPr>
          <p:nvPr/>
        </p:nvSpPr>
        <p:spPr bwMode="auto">
          <a:xfrm>
            <a:off x="63500" y="-13652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2"/>
          <a:srcRect r="18430"/>
          <a:stretch/>
        </p:blipFill>
        <p:spPr>
          <a:xfrm>
            <a:off x="215901" y="2133600"/>
            <a:ext cx="4127500" cy="32004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3000" y="1981200"/>
            <a:ext cx="6779622" cy="411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4286619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0" y="304800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 smtClean="0">
                <a:solidFill>
                  <a:schemeClr val="bg1"/>
                </a:solidFill>
              </a:rPr>
              <a:t>Saint-</a:t>
            </a:r>
            <a:r>
              <a:rPr lang="en-US" sz="4000" b="1" dirty="0" err="1" smtClean="0">
                <a:solidFill>
                  <a:schemeClr val="bg1"/>
                </a:solidFill>
              </a:rPr>
              <a:t>Venant’s</a:t>
            </a:r>
            <a:r>
              <a:rPr lang="en-US" sz="4000" b="1" dirty="0" smtClean="0">
                <a:solidFill>
                  <a:schemeClr val="bg1"/>
                </a:solidFill>
              </a:rPr>
              <a:t> Principle</a:t>
            </a:r>
            <a:endParaRPr lang="en-US" sz="4000" b="1" dirty="0">
              <a:solidFill>
                <a:schemeClr val="bg1"/>
              </a:solidFill>
            </a:endParaRPr>
          </a:p>
        </p:txBody>
      </p:sp>
      <p:sp>
        <p:nvSpPr>
          <p:cNvPr id="3" name="AutoShape 8" descr="See the source image"/>
          <p:cNvSpPr>
            <a:spLocks noChangeAspect="1" noChangeArrowheads="1"/>
          </p:cNvSpPr>
          <p:nvPr/>
        </p:nvSpPr>
        <p:spPr bwMode="auto">
          <a:xfrm>
            <a:off x="63500" y="-13652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l="17284" r="4383"/>
          <a:stretch/>
        </p:blipFill>
        <p:spPr>
          <a:xfrm>
            <a:off x="228600" y="1524000"/>
            <a:ext cx="4295229" cy="449580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78115" y="1752600"/>
            <a:ext cx="8037685" cy="121920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25307" y="4191000"/>
            <a:ext cx="4991724" cy="20574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94709" y="4343400"/>
            <a:ext cx="2057400" cy="2057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1886539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8" descr="See the source image"/>
          <p:cNvSpPr>
            <a:spLocks noChangeAspect="1" noChangeArrowheads="1"/>
          </p:cNvSpPr>
          <p:nvPr/>
        </p:nvSpPr>
        <p:spPr bwMode="auto">
          <a:xfrm>
            <a:off x="63500" y="-13652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0" y="304800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 smtClean="0">
                <a:solidFill>
                  <a:schemeClr val="bg1"/>
                </a:solidFill>
              </a:rPr>
              <a:t>Stress Concentration</a:t>
            </a:r>
            <a:endParaRPr lang="en-US" sz="4000" b="1" dirty="0">
              <a:solidFill>
                <a:schemeClr val="bg1"/>
              </a:solidFill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7800" y="2057400"/>
            <a:ext cx="9715500" cy="381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1976012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8" descr="See the source image"/>
          <p:cNvSpPr>
            <a:spLocks noChangeAspect="1" noChangeArrowheads="1"/>
          </p:cNvSpPr>
          <p:nvPr/>
        </p:nvSpPr>
        <p:spPr bwMode="auto">
          <a:xfrm>
            <a:off x="63500" y="-13652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0" y="304800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 smtClean="0">
                <a:solidFill>
                  <a:schemeClr val="bg1"/>
                </a:solidFill>
              </a:rPr>
              <a:t>Stress Concentration</a:t>
            </a:r>
            <a:endParaRPr lang="en-US" sz="4000" b="1" dirty="0">
              <a:solidFill>
                <a:schemeClr val="bg1"/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2057400"/>
            <a:ext cx="9929308" cy="3962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1094484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8" descr="See the source image"/>
          <p:cNvSpPr>
            <a:spLocks noChangeAspect="1" noChangeArrowheads="1"/>
          </p:cNvSpPr>
          <p:nvPr/>
        </p:nvSpPr>
        <p:spPr bwMode="auto">
          <a:xfrm>
            <a:off x="63500" y="-13652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0" y="304800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 smtClean="0">
                <a:solidFill>
                  <a:schemeClr val="bg1"/>
                </a:solidFill>
              </a:rPr>
              <a:t>Stress Concentration</a:t>
            </a:r>
            <a:endParaRPr lang="en-US" sz="4000" b="1" dirty="0">
              <a:solidFill>
                <a:schemeClr val="bg1"/>
              </a:solidFill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4390399" y="181601"/>
            <a:ext cx="4425310" cy="77197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2110896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8" descr="See the source image"/>
          <p:cNvSpPr>
            <a:spLocks noChangeAspect="1" noChangeArrowheads="1"/>
          </p:cNvSpPr>
          <p:nvPr/>
        </p:nvSpPr>
        <p:spPr bwMode="auto">
          <a:xfrm>
            <a:off x="63500" y="-13652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0" y="304800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 smtClean="0">
                <a:solidFill>
                  <a:schemeClr val="bg1"/>
                </a:solidFill>
              </a:rPr>
              <a:t>Stress Concentration Factor</a:t>
            </a:r>
            <a:endParaRPr lang="en-US" sz="4000" b="1" dirty="0">
              <a:solidFill>
                <a:schemeClr val="bg1"/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9600" y="2667000"/>
            <a:ext cx="3429000" cy="23461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038304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8" descr="See the source image"/>
          <p:cNvSpPr>
            <a:spLocks noChangeAspect="1" noChangeArrowheads="1"/>
          </p:cNvSpPr>
          <p:nvPr/>
        </p:nvSpPr>
        <p:spPr bwMode="auto">
          <a:xfrm>
            <a:off x="63500" y="-13652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0" y="304800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 smtClean="0">
                <a:solidFill>
                  <a:schemeClr val="bg1"/>
                </a:solidFill>
              </a:rPr>
              <a:t>Stress Concentration Factor</a:t>
            </a:r>
            <a:endParaRPr lang="en-US" sz="4000" b="1" dirty="0">
              <a:solidFill>
                <a:schemeClr val="bg1"/>
              </a:solidFill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1400" y="1371600"/>
            <a:ext cx="5387499" cy="5257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2295161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8" descr="See the source image"/>
          <p:cNvSpPr>
            <a:spLocks noChangeAspect="1" noChangeArrowheads="1"/>
          </p:cNvSpPr>
          <p:nvPr/>
        </p:nvSpPr>
        <p:spPr bwMode="auto">
          <a:xfrm>
            <a:off x="63500" y="-13652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0" y="304800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 smtClean="0">
                <a:solidFill>
                  <a:schemeClr val="bg1"/>
                </a:solidFill>
              </a:rPr>
              <a:t>Stress Concentration Factor</a:t>
            </a:r>
            <a:endParaRPr lang="en-US" sz="4000" b="1" dirty="0">
              <a:solidFill>
                <a:schemeClr val="bg1"/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1400" y="1447800"/>
            <a:ext cx="5446066" cy="518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1472565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8" descr="See the source image"/>
          <p:cNvSpPr>
            <a:spLocks noChangeAspect="1" noChangeArrowheads="1"/>
          </p:cNvSpPr>
          <p:nvPr/>
        </p:nvSpPr>
        <p:spPr bwMode="auto">
          <a:xfrm>
            <a:off x="63500" y="-13652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0" y="304800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 smtClean="0">
                <a:solidFill>
                  <a:schemeClr val="bg1"/>
                </a:solidFill>
              </a:rPr>
              <a:t>Example</a:t>
            </a:r>
            <a:endParaRPr lang="en-US" sz="4000" b="1" dirty="0">
              <a:solidFill>
                <a:schemeClr val="bg1"/>
              </a:solidFill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600" y="1524000"/>
            <a:ext cx="8499232" cy="19050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9934" y="3934627"/>
            <a:ext cx="6678918" cy="21795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3863519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8" descr="See the source image"/>
          <p:cNvSpPr>
            <a:spLocks noChangeAspect="1" noChangeArrowheads="1"/>
          </p:cNvSpPr>
          <p:nvPr/>
        </p:nvSpPr>
        <p:spPr bwMode="auto">
          <a:xfrm>
            <a:off x="63500" y="-13652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0" y="304800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 smtClean="0">
                <a:solidFill>
                  <a:schemeClr val="bg1"/>
                </a:solidFill>
              </a:rPr>
              <a:t>Example </a:t>
            </a:r>
            <a:endParaRPr lang="en-US" sz="4000" b="1" dirty="0">
              <a:solidFill>
                <a:schemeClr val="bg1"/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752600"/>
            <a:ext cx="5181600" cy="1690942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6602" y="3810000"/>
            <a:ext cx="4487595" cy="167640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73254" y="1447800"/>
            <a:ext cx="5446066" cy="518160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09800" y="5852858"/>
            <a:ext cx="2026128" cy="5788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0407032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8" descr="See the source image"/>
          <p:cNvSpPr>
            <a:spLocks noChangeAspect="1" noChangeArrowheads="1"/>
          </p:cNvSpPr>
          <p:nvPr/>
        </p:nvSpPr>
        <p:spPr bwMode="auto">
          <a:xfrm>
            <a:off x="63500" y="-13652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0" y="304800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 smtClean="0">
                <a:solidFill>
                  <a:schemeClr val="bg1"/>
                </a:solidFill>
              </a:rPr>
              <a:t>Example </a:t>
            </a:r>
            <a:endParaRPr lang="en-US" sz="4000" b="1" dirty="0">
              <a:solidFill>
                <a:schemeClr val="bg1"/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1905000"/>
            <a:ext cx="5354098" cy="17526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6600" y="1905000"/>
            <a:ext cx="3886200" cy="1575486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0" y="4648200"/>
            <a:ext cx="3878038" cy="1447800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05000" y="4343400"/>
            <a:ext cx="4038600" cy="18876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5828065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0" y="304800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 smtClean="0">
                <a:solidFill>
                  <a:schemeClr val="bg1"/>
                </a:solidFill>
              </a:rPr>
              <a:t>Assignment</a:t>
            </a:r>
            <a:endParaRPr lang="en-US" sz="4000" b="1" dirty="0">
              <a:solidFill>
                <a:schemeClr val="bg1"/>
              </a:solidFill>
            </a:endParaRPr>
          </a:p>
        </p:txBody>
      </p:sp>
      <p:sp>
        <p:nvSpPr>
          <p:cNvPr id="3" name="AutoShape 8" descr="See the source image"/>
          <p:cNvSpPr>
            <a:spLocks noChangeAspect="1" noChangeArrowheads="1"/>
          </p:cNvSpPr>
          <p:nvPr/>
        </p:nvSpPr>
        <p:spPr bwMode="auto">
          <a:xfrm>
            <a:off x="63500" y="-13652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1905000" y="1905000"/>
            <a:ext cx="9650975" cy="18158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Textbook:</a:t>
            </a:r>
          </a:p>
          <a:p>
            <a:endParaRPr lang="en-US" dirty="0"/>
          </a:p>
          <a:p>
            <a:r>
              <a:rPr lang="en-US" dirty="0" smtClean="0"/>
              <a:t>4.2; 4.4; 4.13; 4.33; 4.36; 4.37; 4.46; 4.68; </a:t>
            </a:r>
            <a:r>
              <a:rPr lang="en-US" dirty="0" smtClean="0"/>
              <a:t>4.69</a:t>
            </a:r>
            <a:r>
              <a:rPr lang="en-US" smtClean="0"/>
              <a:t>, 4.87, 4.112</a:t>
            </a:r>
            <a:endParaRPr lang="en-US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8578363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800" b="0" i="0" u="none" strike="noStrike" cap="none" normalizeH="0" baseline="0" smtClean="0">
            <a:ln>
              <a:noFill/>
            </a:ln>
            <a:solidFill>
              <a:srgbClr val="0000CC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800" b="0" i="0" u="none" strike="noStrike" cap="none" normalizeH="0" baseline="0" smtClean="0">
            <a:ln>
              <a:noFill/>
            </a:ln>
            <a:solidFill>
              <a:srgbClr val="0000CC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26349</TotalTime>
  <Words>109</Words>
  <Application>Microsoft Office PowerPoint</Application>
  <PresentationFormat>Widescreen</PresentationFormat>
  <Paragraphs>48</Paragraphs>
  <Slides>39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7" baseType="lpstr">
      <vt:lpstr>SimSun</vt:lpstr>
      <vt:lpstr>楷体</vt:lpstr>
      <vt:lpstr>Arial</vt:lpstr>
      <vt:lpstr>Arial Black</vt:lpstr>
      <vt:lpstr>Calibri</vt:lpstr>
      <vt:lpstr>Times New Roman</vt:lpstr>
      <vt:lpstr>Wingdings</vt:lpstr>
      <vt:lpstr>Default Design</vt:lpstr>
      <vt:lpstr>MSE 213  Mechanics of Materials B Lecture 5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Caltech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KB</dc:creator>
  <cp:lastModifiedBy>Jiangyu Li</cp:lastModifiedBy>
  <cp:revision>1490</cp:revision>
  <dcterms:created xsi:type="dcterms:W3CDTF">2000-06-23T23:39:39Z</dcterms:created>
  <dcterms:modified xsi:type="dcterms:W3CDTF">2021-03-16T03:36:29Z</dcterms:modified>
</cp:coreProperties>
</file>