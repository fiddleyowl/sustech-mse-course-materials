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96" r:id="rId3"/>
    <p:sldId id="269" r:id="rId4"/>
    <p:sldId id="295" r:id="rId5"/>
    <p:sldId id="265" r:id="rId6"/>
    <p:sldId id="276" r:id="rId7"/>
    <p:sldId id="307" r:id="rId8"/>
    <p:sldId id="277" r:id="rId9"/>
    <p:sldId id="294" r:id="rId10"/>
    <p:sldId id="278" r:id="rId11"/>
    <p:sldId id="308" r:id="rId12"/>
    <p:sldId id="305" r:id="rId13"/>
    <p:sldId id="282" r:id="rId14"/>
    <p:sldId id="300" r:id="rId15"/>
    <p:sldId id="304" r:id="rId16"/>
    <p:sldId id="266" r:id="rId17"/>
    <p:sldId id="284" r:id="rId18"/>
    <p:sldId id="285" r:id="rId19"/>
    <p:sldId id="286" r:id="rId20"/>
    <p:sldId id="287" r:id="rId21"/>
    <p:sldId id="291" r:id="rId22"/>
    <p:sldId id="292" r:id="rId23"/>
    <p:sldId id="293" r:id="rId24"/>
    <p:sldId id="306" r:id="rId25"/>
    <p:sldId id="309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9913" autoAdjust="0"/>
  </p:normalViewPr>
  <p:slideViewPr>
    <p:cSldViewPr>
      <p:cViewPr varScale="1">
        <p:scale>
          <a:sx n="62" d="100"/>
          <a:sy n="62" d="100"/>
        </p:scale>
        <p:origin x="15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446"/>
    </p:cViewPr>
  </p:sorterViewPr>
  <p:notesViewPr>
    <p:cSldViewPr>
      <p:cViewPr varScale="1">
        <p:scale>
          <a:sx n="61" d="100"/>
          <a:sy n="61" d="100"/>
        </p:scale>
        <p:origin x="-1901" y="-8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3" Type="http://schemas.openxmlformats.org/officeDocument/2006/relationships/slide" Target="slides/slide5.xml"/><Relationship Id="rId21" Type="http://schemas.openxmlformats.org/officeDocument/2006/relationships/slide" Target="slides/slide24.xml"/><Relationship Id="rId7" Type="http://schemas.openxmlformats.org/officeDocument/2006/relationships/slide" Target="slides/slide10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" Type="http://schemas.openxmlformats.org/officeDocument/2006/relationships/slide" Target="slides/slide3.xml"/><Relationship Id="rId16" Type="http://schemas.openxmlformats.org/officeDocument/2006/relationships/slide" Target="slides/slide19.xml"/><Relationship Id="rId20" Type="http://schemas.openxmlformats.org/officeDocument/2006/relationships/slide" Target="slides/slide23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14.xml"/><Relationship Id="rId5" Type="http://schemas.openxmlformats.org/officeDocument/2006/relationships/slide" Target="slides/slide7.xml"/><Relationship Id="rId15" Type="http://schemas.openxmlformats.org/officeDocument/2006/relationships/slide" Target="slides/slide18.xml"/><Relationship Id="rId10" Type="http://schemas.openxmlformats.org/officeDocument/2006/relationships/slide" Target="slides/slide13.xml"/><Relationship Id="rId19" Type="http://schemas.openxmlformats.org/officeDocument/2006/relationships/slide" Target="slides/slide22.xml"/><Relationship Id="rId4" Type="http://schemas.openxmlformats.org/officeDocument/2006/relationships/slide" Target="slides/slide6.xml"/><Relationship Id="rId9" Type="http://schemas.openxmlformats.org/officeDocument/2006/relationships/slide" Target="slides/slide12.xml"/><Relationship Id="rId14" Type="http://schemas.openxmlformats.org/officeDocument/2006/relationships/slide" Target="slides/slide17.xml"/><Relationship Id="rId22" Type="http://schemas.openxmlformats.org/officeDocument/2006/relationships/slide" Target="slides/slide2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16388" y="0"/>
            <a:ext cx="3198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4000"/>
            <a:ext cx="320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16388" y="9144000"/>
            <a:ext cx="3198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4B307CB-3836-41AE-AB14-54E720CB38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E9F729-05C7-406C-9FCE-3EAEFC2CA1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508F17-1B70-4546-BC20-78CD3297C900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781871-083F-4E1D-B201-E45E89907D7B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CDB8B2-D911-4307-AC83-ED655E3E92A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39020D-E2AE-476C-B8CB-CF1111531710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AC7B93-0173-40F5-97AE-817786E3D546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 smtClean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AC7B93-0173-40F5-97AE-817786E3D546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 smtClean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84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1406E8-652E-496A-8AF2-94DD3BE2BEC1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34F0F2-A54E-4475-BE03-99EFAA468A30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34F0F2-A54E-4475-BE03-99EFAA468A30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55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D2F408-8D32-41C6-A2B7-C8955A9CEE27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8C947B-DA61-4CD7-84CE-E11A40DEF632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5F01BF-8723-44EF-A076-62DDB82224CB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586DD6-1D49-4259-A9C8-E421FD9E82B9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C04088-C346-43D0-A284-C9AF9A3490C0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CA9477-413F-47B1-9206-348C3AE78236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C694C9-7C67-495D-BE89-727BA25B367E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811C7E-BE1E-4C1A-AB21-32B659AC636D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C557110-37AD-4D43-9E1B-6282AC3426C8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08657D-E157-4071-A1FF-2B3B51B2C911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1C5B4-3BE7-42B0-AE66-5578B9C63986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5BB5E7-7000-462B-A1F8-8BC3B7BC999E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4418E0-B937-4F69-9125-A6C50D34F55F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4418E0-B937-4F69-9125-A6C50D34F55F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85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64081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57932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416021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0784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49403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10928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70604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17191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82491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44728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24553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80063" y="6570663"/>
            <a:ext cx="332898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  <p:sp>
        <p:nvSpPr>
          <p:cNvPr id="1030" name="Line 7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3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jpeg"/><Relationship Id="rId7" Type="http://schemas.openxmlformats.org/officeDocument/2006/relationships/hyperlink" Target="http://imechanica.org/node/24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hyperlink" Target="http://www.orthopedicspecialistsofseattle.com/fractures/" TargetMode="Externa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3.bin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8.wmf"/><Relationship Id="rId4" Type="http://schemas.openxmlformats.org/officeDocument/2006/relationships/image" Target="../media/image23.jpeg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2.png"/><Relationship Id="rId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8953" y="2132856"/>
            <a:ext cx="80645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 smtClean="0"/>
              <a:t>Fracture Mechanics</a:t>
            </a:r>
          </a:p>
          <a:p>
            <a:pPr eaLnBrk="1" hangingPunct="1">
              <a:lnSpc>
                <a:spcPct val="90000"/>
              </a:lnSpc>
            </a:pPr>
            <a:endParaRPr lang="en-US" altLang="en-US" sz="32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Mechanical Behavior of Materials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FF0000"/>
                </a:solidFill>
              </a:rPr>
              <a:t>Chapter 8.1-</a:t>
            </a:r>
            <a:r>
              <a:rPr lang="en-US" altLang="zh-CN" sz="2400" dirty="0" smtClean="0">
                <a:solidFill>
                  <a:srgbClr val="FF0000"/>
                </a:solidFill>
              </a:rPr>
              <a:t>8.4, 8.7</a:t>
            </a:r>
            <a:endParaRPr lang="en-US" altLang="en-US" sz="24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32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 smtClean="0"/>
              <a:t>Jiangyu Li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 smtClean="0"/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Mechanics of </a:t>
            </a:r>
            <a:r>
              <a:rPr lang="en-US" altLang="en-US" sz="4000" dirty="0" smtClean="0">
                <a:solidFill>
                  <a:schemeClr val="tx2"/>
                </a:solidFill>
              </a:rPr>
              <a:t>Materials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050"/>
          <p:cNvSpPr>
            <a:spLocks noChangeArrowheads="1"/>
          </p:cNvSpPr>
          <p:nvPr/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Fracture</a:t>
            </a:r>
          </a:p>
        </p:txBody>
      </p:sp>
      <p:pic>
        <p:nvPicPr>
          <p:cNvPr id="6147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754188"/>
            <a:ext cx="3163888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 descr="Image result for earthquak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1784350"/>
            <a:ext cx="3414712" cy="256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6" descr="Image result for fracture bone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652963"/>
            <a:ext cx="3163888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8" descr="Image result for thin film fracture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1"/>
          <a:stretch>
            <a:fillRect/>
          </a:stretch>
        </p:blipFill>
        <p:spPr bwMode="auto">
          <a:xfrm>
            <a:off x="4694238" y="4652963"/>
            <a:ext cx="3411537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050"/>
          <p:cNvSpPr>
            <a:spLocks noChangeArrowheads="1"/>
          </p:cNvSpPr>
          <p:nvPr/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Failure Criteria</a:t>
            </a:r>
          </a:p>
        </p:txBody>
      </p:sp>
      <p:sp>
        <p:nvSpPr>
          <p:cNvPr id="8195" name="Rectangle 2051"/>
          <p:cNvSpPr>
            <a:spLocks noChangeArrowheads="1"/>
          </p:cNvSpPr>
          <p:nvPr/>
        </p:nvSpPr>
        <p:spPr bwMode="auto">
          <a:xfrm>
            <a:off x="457200" y="1981200"/>
            <a:ext cx="403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Materials assumed to be perfect:</a:t>
            </a:r>
          </a:p>
          <a:p>
            <a:pPr lvl="1" eaLnBrk="1" hangingPunct="1"/>
            <a:r>
              <a:rPr lang="en-US" altLang="en-US" sz="2400"/>
              <a:t>Brittle Materials</a:t>
            </a:r>
          </a:p>
          <a:p>
            <a:pPr lvl="2" eaLnBrk="1" hangingPunct="1"/>
            <a:r>
              <a:rPr lang="en-US" altLang="en-US" sz="2400"/>
              <a:t>Max Normal Stress</a:t>
            </a:r>
          </a:p>
          <a:p>
            <a:pPr lvl="1" eaLnBrk="1" hangingPunct="1"/>
            <a:r>
              <a:rPr lang="en-US" altLang="en-US" sz="2400"/>
              <a:t>Ductile Materials</a:t>
            </a:r>
          </a:p>
          <a:p>
            <a:pPr lvl="2" eaLnBrk="1" hangingPunct="1"/>
            <a:r>
              <a:rPr lang="en-US" altLang="en-US" sz="2400"/>
              <a:t>Max Shear Stress</a:t>
            </a:r>
          </a:p>
          <a:p>
            <a:pPr lvl="2" eaLnBrk="1" hangingPunct="1"/>
            <a:r>
              <a:rPr lang="en-US" altLang="en-US" sz="2400"/>
              <a:t>Octahedral Shear Stress</a:t>
            </a:r>
          </a:p>
        </p:txBody>
      </p:sp>
      <p:sp>
        <p:nvSpPr>
          <p:cNvPr id="8196" name="Rectangle 2052"/>
          <p:cNvSpPr>
            <a:spLocks noChangeArrowheads="1"/>
          </p:cNvSpPr>
          <p:nvPr/>
        </p:nvSpPr>
        <p:spPr bwMode="auto">
          <a:xfrm>
            <a:off x="4648200" y="1828800"/>
            <a:ext cx="4495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Materials have flaw or crack in them:</a:t>
            </a:r>
          </a:p>
          <a:p>
            <a:pPr lvl="1" eaLnBrk="1" hangingPunct="1"/>
            <a:r>
              <a:rPr lang="en-US" altLang="en-US" sz="2400"/>
              <a:t>Linear Elastic Fracture Mechanics (LEFM)</a:t>
            </a:r>
          </a:p>
          <a:p>
            <a:pPr lvl="2" eaLnBrk="1" hangingPunct="1"/>
            <a:r>
              <a:rPr lang="en-US" altLang="en-US" sz="2000"/>
              <a:t>Stress intensity factor (K) describes the severity of the existing crack condition</a:t>
            </a:r>
          </a:p>
          <a:p>
            <a:pPr lvl="2" eaLnBrk="1" hangingPunct="1"/>
            <a:r>
              <a:rPr lang="en-US" altLang="en-US" sz="2000"/>
              <a:t>If K exceeds the Critical stress intensity (K</a:t>
            </a:r>
            <a:r>
              <a:rPr lang="en-US" altLang="en-US" sz="2000" baseline="-25000"/>
              <a:t>c</a:t>
            </a:r>
            <a:r>
              <a:rPr lang="en-US" altLang="en-US" sz="2000"/>
              <a:t>), then failure will occur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Stress Intensity Factor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621088" y="2781300"/>
          <a:ext cx="130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4" name="Equation" r:id="rId3" imgW="1307532" imgH="342751" progId="Equation.3">
                  <p:embed/>
                </p:oleObj>
              </mc:Choice>
              <mc:Fallback>
                <p:oleObj name="Equation" r:id="rId3" imgW="1307532" imgH="34275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2781300"/>
                        <a:ext cx="1308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5"/>
          <p:cNvGraphicFramePr>
            <a:graphicFrameLocks noChangeAspect="1"/>
          </p:cNvGraphicFramePr>
          <p:nvPr/>
        </p:nvGraphicFramePr>
        <p:xfrm>
          <a:off x="3835400" y="3798888"/>
          <a:ext cx="901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5" name="Equation" r:id="rId5" imgW="901309" imgH="380835" progId="Equation.3">
                  <p:embed/>
                </p:oleObj>
              </mc:Choice>
              <mc:Fallback>
                <p:oleObj name="Equation" r:id="rId5" imgW="901309" imgH="3808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3798888"/>
                        <a:ext cx="901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6"/>
          <p:cNvGraphicFramePr>
            <a:graphicFrameLocks noChangeAspect="1"/>
          </p:cNvGraphicFramePr>
          <p:nvPr/>
        </p:nvGraphicFramePr>
        <p:xfrm>
          <a:off x="3400425" y="5100638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Equation" r:id="rId7" imgW="1675673" imgH="406224" progId="Equation.3">
                  <p:embed/>
                </p:oleObj>
              </mc:Choice>
              <mc:Fallback>
                <p:oleObj name="Equation" r:id="rId7" imgW="1675673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5100638"/>
                        <a:ext cx="1676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Effect of Crack Length</a:t>
            </a:r>
          </a:p>
        </p:txBody>
      </p:sp>
      <p:pic>
        <p:nvPicPr>
          <p:cNvPr id="11267" name="Picture 4" descr="fg08_0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5967413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Box 4"/>
          <p:cNvSpPr txBox="1">
            <a:spLocks noChangeArrowheads="1"/>
          </p:cNvSpPr>
          <p:nvPr/>
        </p:nvSpPr>
        <p:spPr bwMode="auto">
          <a:xfrm>
            <a:off x="6804025" y="6165850"/>
            <a:ext cx="21986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2014-T6 aluminum</a:t>
            </a:r>
          </a:p>
        </p:txBody>
      </p:sp>
      <p:graphicFrame>
        <p:nvGraphicFramePr>
          <p:cNvPr id="1126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630507"/>
              </p:ext>
            </p:extLst>
          </p:nvPr>
        </p:nvGraphicFramePr>
        <p:xfrm>
          <a:off x="7313613" y="4509120"/>
          <a:ext cx="1562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Equation" r:id="rId5" imgW="1562100" imgH="787400" progId="Equation.3">
                  <p:embed/>
                </p:oleObj>
              </mc:Choice>
              <mc:Fallback>
                <p:oleObj name="Equation" r:id="rId5" imgW="15621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613" y="4509120"/>
                        <a:ext cx="15621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623943"/>
              </p:ext>
            </p:extLst>
          </p:nvPr>
        </p:nvGraphicFramePr>
        <p:xfrm>
          <a:off x="7267430" y="2924944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7" imgW="1675673" imgH="406224" progId="Equation.3">
                  <p:embed/>
                </p:oleObj>
              </mc:Choice>
              <mc:Fallback>
                <p:oleObj name="Equation" r:id="rId7" imgW="1675673" imgH="406224" progId="Equation.3">
                  <p:embed/>
                  <p:pic>
                    <p:nvPicPr>
                      <p:cNvPr id="1024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430" y="2924944"/>
                        <a:ext cx="1676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Stress Intensity Factor: Tension</a:t>
            </a:r>
          </a:p>
        </p:txBody>
      </p:sp>
      <p:pic>
        <p:nvPicPr>
          <p:cNvPr id="13316" name="Picture 4" descr="fg08_12a-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4913313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Geometry Factor F</a:t>
            </a:r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26" y="1916832"/>
            <a:ext cx="8265668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4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</a:p>
        </p:txBody>
      </p:sp>
      <p:pic>
        <p:nvPicPr>
          <p:cNvPr id="15364" name="Picture 4" descr="fg08_12a-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4913313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029200" y="1981200"/>
            <a:ext cx="3935413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AISI 1144 Steel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crack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b=40mm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t=15mm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If a=10mm,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Maximum P with safety factor 3?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How about a=24mm?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 what crack size will yielding occur first?  </a:t>
            </a:r>
            <a:r>
              <a:rPr lang="en-US" altLang="en-US" sz="1800">
                <a:solidFill>
                  <a:srgbClr val="FF0000"/>
                </a:solidFill>
              </a:rPr>
              <a:t>540MPa</a:t>
            </a:r>
            <a:endParaRPr lang="en-US" altLang="en-US" sz="1800" b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5366" name="TextBox 5"/>
          <p:cNvSpPr txBox="1">
            <a:spLocks noChangeArrowheads="1"/>
          </p:cNvSpPr>
          <p:nvPr/>
        </p:nvSpPr>
        <p:spPr bwMode="auto">
          <a:xfrm>
            <a:off x="7092950" y="2781300"/>
            <a:ext cx="1384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66MPa.m</a:t>
            </a:r>
            <a:r>
              <a:rPr lang="en-US" altLang="en-US" sz="1800" b="0" baseline="30000">
                <a:solidFill>
                  <a:srgbClr val="FF0000"/>
                </a:solidFill>
              </a:rPr>
              <a:t>0.5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17411" name="Picture 4" descr="fg08_12a-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4913313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5029200" y="1981200"/>
            <a:ext cx="3935413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2014-T651 Aluminum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crack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b=50mm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t=5mm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P=50kN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Kic=24MPa m </a:t>
            </a:r>
            <a:r>
              <a:rPr lang="en-US" altLang="en-US" sz="1800" baseline="30000"/>
              <a:t>1/2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 what crack size will fracture occur?</a:t>
            </a:r>
            <a:endParaRPr lang="en-US" altLang="en-US" sz="1800" b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Stress Intensity Factor: Bending</a:t>
            </a:r>
          </a:p>
        </p:txBody>
      </p:sp>
      <p:pic>
        <p:nvPicPr>
          <p:cNvPr id="18436" name="Picture 4" descr="fg08_13a-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636713"/>
            <a:ext cx="5018087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Geometry Factor 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95" y="2132856"/>
            <a:ext cx="8105088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5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</a:p>
        </p:txBody>
      </p:sp>
      <p:pic>
        <p:nvPicPr>
          <p:cNvPr id="20483" name="Picture 4" descr="fg08_13a-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844675"/>
            <a:ext cx="5018088" cy="473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Box 1"/>
          <p:cNvSpPr txBox="1">
            <a:spLocks noChangeArrowheads="1"/>
          </p:cNvSpPr>
          <p:nvPr/>
        </p:nvSpPr>
        <p:spPr bwMode="auto">
          <a:xfrm>
            <a:off x="5508625" y="2420938"/>
            <a:ext cx="3455988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Kc=3.0 Mpa m</a:t>
            </a:r>
            <a:r>
              <a:rPr lang="en-US" altLang="en-US" sz="1800" b="0" baseline="30000"/>
              <a:t>0.5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b=20mm; t=10mm;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Safety factor 2.5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M=10N.m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What is the largest crack length allowable?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Superposition</a:t>
            </a:r>
          </a:p>
        </p:txBody>
      </p:sp>
      <p:pic>
        <p:nvPicPr>
          <p:cNvPr id="22532" name="Picture 4" descr="fg08_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7083425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Effect of Crack Length</a:t>
            </a:r>
          </a:p>
        </p:txBody>
      </p:sp>
      <p:pic>
        <p:nvPicPr>
          <p:cNvPr id="24579" name="Picture 4" descr="fg08_0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5967413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Box 4"/>
          <p:cNvSpPr txBox="1">
            <a:spLocks noChangeArrowheads="1"/>
          </p:cNvSpPr>
          <p:nvPr/>
        </p:nvSpPr>
        <p:spPr bwMode="auto">
          <a:xfrm>
            <a:off x="6804025" y="6165850"/>
            <a:ext cx="21986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2014-T6 aluminum</a:t>
            </a:r>
          </a:p>
        </p:txBody>
      </p:sp>
      <p:graphicFrame>
        <p:nvGraphicFramePr>
          <p:cNvPr id="24581" name="Object 6"/>
          <p:cNvGraphicFramePr>
            <a:graphicFrameLocks noChangeAspect="1"/>
          </p:cNvGraphicFramePr>
          <p:nvPr/>
        </p:nvGraphicFramePr>
        <p:xfrm>
          <a:off x="7313613" y="3005138"/>
          <a:ext cx="1562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Equation" r:id="rId5" imgW="1562100" imgH="787400" progId="Equation.3">
                  <p:embed/>
                </p:oleObj>
              </mc:Choice>
              <mc:Fallback>
                <p:oleObj name="Equation" r:id="rId5" imgW="15621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613" y="3005138"/>
                        <a:ext cx="15621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 descr="fg08_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88913"/>
            <a:ext cx="400208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627" name="Object 6"/>
          <p:cNvGraphicFramePr>
            <a:graphicFrameLocks noChangeAspect="1"/>
          </p:cNvGraphicFramePr>
          <p:nvPr/>
        </p:nvGraphicFramePr>
        <p:xfrm>
          <a:off x="7164388" y="2997200"/>
          <a:ext cx="1562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Equation" r:id="rId5" imgW="1562100" imgH="787400" progId="Equation.3">
                  <p:embed/>
                </p:oleObj>
              </mc:Choice>
              <mc:Fallback>
                <p:oleObj name="Equation" r:id="rId5" imgW="15621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2997200"/>
                        <a:ext cx="15621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Brittle vs. Ductile Behavior</a:t>
            </a:r>
          </a:p>
        </p:txBody>
      </p:sp>
      <p:pic>
        <p:nvPicPr>
          <p:cNvPr id="28675" name="Picture 5" descr="fg08_06a-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981200"/>
            <a:ext cx="9140825" cy="373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547813" y="5857875"/>
          <a:ext cx="1993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2" name="Equation" r:id="rId5" imgW="1993900" imgH="711200" progId="Equation.3">
                  <p:embed/>
                </p:oleObj>
              </mc:Choice>
              <mc:Fallback>
                <p:oleObj name="Equation" r:id="rId5" imgW="19939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857875"/>
                        <a:ext cx="1993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5651500" y="5864225"/>
          <a:ext cx="1993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3" name="Equation" r:id="rId7" imgW="1993900" imgH="711200" progId="Equation.3">
                  <p:embed/>
                </p:oleObj>
              </mc:Choice>
              <mc:Fallback>
                <p:oleObj name="Equation" r:id="rId7" imgW="19939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864225"/>
                        <a:ext cx="1993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Box 1"/>
          <p:cNvSpPr txBox="1">
            <a:spLocks noChangeArrowheads="1"/>
          </p:cNvSpPr>
          <p:nvPr/>
        </p:nvSpPr>
        <p:spPr bwMode="auto">
          <a:xfrm>
            <a:off x="6084888" y="1825625"/>
            <a:ext cx="27447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Steel AISI 1144: 840MPa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300-M: 2010</a:t>
            </a:r>
          </a:p>
        </p:txBody>
      </p:sp>
      <p:sp>
        <p:nvSpPr>
          <p:cNvPr id="28679" name="TextBox 6"/>
          <p:cNvSpPr txBox="1">
            <a:spLocks noChangeArrowheads="1"/>
          </p:cNvSpPr>
          <p:nvPr/>
        </p:nvSpPr>
        <p:spPr bwMode="auto">
          <a:xfrm>
            <a:off x="7308850" y="3863975"/>
            <a:ext cx="1492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66 MPa.m</a:t>
            </a:r>
            <a:r>
              <a:rPr lang="en-US" altLang="en-US" sz="1800" b="0" baseline="30000">
                <a:solidFill>
                  <a:srgbClr val="FF0000"/>
                </a:solidFill>
              </a:rPr>
              <a:t>0.5</a:t>
            </a:r>
            <a:endParaRPr lang="en-US" altLang="en-US" sz="1800" b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2010 MPa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Plastic Zone</a:t>
            </a:r>
          </a:p>
        </p:txBody>
      </p:sp>
      <p:pic>
        <p:nvPicPr>
          <p:cNvPr id="30723" name="Picture 1028" descr="fg08_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16113"/>
            <a:ext cx="5716588" cy="459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24" name="Object 1"/>
          <p:cNvGraphicFramePr>
            <a:graphicFrameLocks noChangeAspect="1"/>
          </p:cNvGraphicFramePr>
          <p:nvPr/>
        </p:nvGraphicFramePr>
        <p:xfrm>
          <a:off x="6804025" y="2205038"/>
          <a:ext cx="137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9" name="Equation" r:id="rId5" imgW="1371600" imgH="723900" progId="Equation.3">
                  <p:embed/>
                </p:oleObj>
              </mc:Choice>
              <mc:Fallback>
                <p:oleObj name="Equation" r:id="rId5" imgW="1371600" imgH="723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2205038"/>
                        <a:ext cx="1371600" cy="723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6588125" y="3325813"/>
          <a:ext cx="1803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0" name="Equation" r:id="rId7" imgW="1803400" imgH="787400" progId="Equation.3">
                  <p:embed/>
                </p:oleObj>
              </mc:Choice>
              <mc:Fallback>
                <p:oleObj name="Equation" r:id="rId7" imgW="1803400" imgH="787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3325813"/>
                        <a:ext cx="18034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179388" y="4067175"/>
          <a:ext cx="1562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1" name="Equation" r:id="rId9" imgW="1562100" imgH="787400" progId="Equation.3">
                  <p:embed/>
                </p:oleObj>
              </mc:Choice>
              <mc:Fallback>
                <p:oleObj name="Equation" r:id="rId9" imgW="15621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067175"/>
                        <a:ext cx="15621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6618288" y="4365625"/>
          <a:ext cx="1803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2" name="Equation" r:id="rId11" imgW="1803400" imgH="787400" progId="Equation.3">
                  <p:embed/>
                </p:oleObj>
              </mc:Choice>
              <mc:Fallback>
                <p:oleObj name="Equation" r:id="rId11" imgW="1803400" imgH="787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288" y="4365625"/>
                        <a:ext cx="18034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6537325" y="5694363"/>
          <a:ext cx="190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3" name="Equation" r:id="rId13" imgW="1905000" imgH="787400" progId="Equation.3">
                  <p:embed/>
                </p:oleObj>
              </mc:Choice>
              <mc:Fallback>
                <p:oleObj name="Equation" r:id="rId13" imgW="1905000" imgH="787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325" y="5694363"/>
                        <a:ext cx="19050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K field</a:t>
            </a:r>
          </a:p>
        </p:txBody>
      </p:sp>
      <p:pic>
        <p:nvPicPr>
          <p:cNvPr id="32771" name="Picture 1028" descr="fg08_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3773488" cy="479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4227513" y="2890838"/>
          <a:ext cx="471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8" name="Equation" r:id="rId5" imgW="2565400" imgH="393700" progId="Equation.DSMT4">
                  <p:embed/>
                </p:oleObj>
              </mc:Choice>
              <mc:Fallback>
                <p:oleObj name="Equation" r:id="rId5" imgW="25654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2890838"/>
                        <a:ext cx="4711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6"/>
          <p:cNvGraphicFramePr>
            <a:graphicFrameLocks noChangeAspect="1"/>
          </p:cNvGraphicFramePr>
          <p:nvPr/>
        </p:nvGraphicFramePr>
        <p:xfrm>
          <a:off x="4368800" y="4797425"/>
          <a:ext cx="3790950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9" name="Equation" r:id="rId7" imgW="1803400" imgH="685800" progId="Equation.DSMT4">
                  <p:embed/>
                </p:oleObj>
              </mc:Choice>
              <mc:Fallback>
                <p:oleObj name="Equation" r:id="rId7" imgW="18034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4797425"/>
                        <a:ext cx="3790950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Box 1"/>
          <p:cNvSpPr txBox="1">
            <a:spLocks noChangeArrowheads="1"/>
          </p:cNvSpPr>
          <p:nvPr/>
        </p:nvSpPr>
        <p:spPr bwMode="auto">
          <a:xfrm>
            <a:off x="5292725" y="2230438"/>
            <a:ext cx="223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Plane stress</a:t>
            </a:r>
          </a:p>
        </p:txBody>
      </p:sp>
      <p:sp>
        <p:nvSpPr>
          <p:cNvPr id="32775" name="TextBox 7"/>
          <p:cNvSpPr txBox="1">
            <a:spLocks noChangeArrowheads="1"/>
          </p:cNvSpPr>
          <p:nvPr/>
        </p:nvSpPr>
        <p:spPr bwMode="auto">
          <a:xfrm>
            <a:off x="5148263" y="4283075"/>
            <a:ext cx="223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Plane strain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Limitation of LEFM</a:t>
            </a:r>
          </a:p>
        </p:txBody>
      </p:sp>
      <p:graphicFrame>
        <p:nvGraphicFramePr>
          <p:cNvPr id="34819" name="Object 8"/>
          <p:cNvGraphicFramePr>
            <a:graphicFrameLocks noChangeAspect="1"/>
          </p:cNvGraphicFramePr>
          <p:nvPr/>
        </p:nvGraphicFramePr>
        <p:xfrm>
          <a:off x="3635375" y="4652963"/>
          <a:ext cx="260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8" name="Equation" r:id="rId4" imgW="2603500" imgH="787400" progId="Equation.3">
                  <p:embed/>
                </p:oleObj>
              </mc:Choice>
              <mc:Fallback>
                <p:oleObj name="Equation" r:id="rId4" imgW="2603500" imgH="787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652963"/>
                        <a:ext cx="26035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8"/>
          <p:cNvGraphicFramePr>
            <a:graphicFrameLocks noChangeAspect="1"/>
          </p:cNvGraphicFramePr>
          <p:nvPr/>
        </p:nvGraphicFramePr>
        <p:xfrm>
          <a:off x="3444875" y="5876925"/>
          <a:ext cx="2921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9" name="Equation" r:id="rId6" imgW="2921000" imgH="787400" progId="Equation.3">
                  <p:embed/>
                </p:oleObj>
              </mc:Choice>
              <mc:Fallback>
                <p:oleObj name="Equation" r:id="rId6" imgW="2921000" imgH="787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5876925"/>
                        <a:ext cx="29210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Box 1"/>
          <p:cNvSpPr txBox="1">
            <a:spLocks noChangeArrowheads="1"/>
          </p:cNvSpPr>
          <p:nvPr/>
        </p:nvSpPr>
        <p:spPr bwMode="auto">
          <a:xfrm>
            <a:off x="6875463" y="6237288"/>
            <a:ext cx="1403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Plane strain</a:t>
            </a:r>
          </a:p>
        </p:txBody>
      </p:sp>
      <p:grpSp>
        <p:nvGrpSpPr>
          <p:cNvPr id="34822" name="Group 3"/>
          <p:cNvGrpSpPr>
            <a:grpSpLocks/>
          </p:cNvGrpSpPr>
          <p:nvPr/>
        </p:nvGrpSpPr>
        <p:grpSpPr bwMode="auto">
          <a:xfrm>
            <a:off x="3175" y="1900238"/>
            <a:ext cx="9140825" cy="2451100"/>
            <a:chOff x="3175" y="1900238"/>
            <a:chExt cx="9140825" cy="2451100"/>
          </a:xfrm>
        </p:grpSpPr>
        <p:pic>
          <p:nvPicPr>
            <p:cNvPr id="34823" name="Picture 4" descr="fg08_46a-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5" y="1900238"/>
              <a:ext cx="9140825" cy="2451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4" name="TextBox 1"/>
            <p:cNvSpPr txBox="1">
              <a:spLocks noChangeArrowheads="1"/>
            </p:cNvSpPr>
            <p:nvPr/>
          </p:nvSpPr>
          <p:spPr bwMode="auto">
            <a:xfrm>
              <a:off x="5606534" y="3275692"/>
              <a:ext cx="2616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-</a:t>
              </a:r>
            </a:p>
          </p:txBody>
        </p:sp>
        <p:sp>
          <p:nvSpPr>
            <p:cNvPr id="34825" name="TextBox 8"/>
            <p:cNvSpPr txBox="1">
              <a:spLocks noChangeArrowheads="1"/>
            </p:cNvSpPr>
            <p:nvPr/>
          </p:nvSpPr>
          <p:spPr bwMode="auto">
            <a:xfrm>
              <a:off x="1043608" y="3068960"/>
              <a:ext cx="2616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-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</a:p>
        </p:txBody>
      </p:sp>
      <p:pic>
        <p:nvPicPr>
          <p:cNvPr id="38916" name="Picture 4" descr="fg08_12a-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4913313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5715000" y="2438400"/>
            <a:ext cx="2682875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crack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a=10mm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b=50mm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t=5mm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Large 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P=50 kN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Symbol" panose="05050102010706020507" pitchFamily="18" charset="2"/>
              </a:rPr>
              <a:t>s</a:t>
            </a:r>
            <a:r>
              <a:rPr lang="en-US" altLang="en-US" sz="1800" baseline="-25000"/>
              <a:t>o</a:t>
            </a:r>
            <a:r>
              <a:rPr lang="en-US" altLang="en-US" sz="1800"/>
              <a:t>=415 Mpa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Determine whether plane strain or LEFM apply, plastic zone.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Effect of Temperature and Rate</a:t>
            </a:r>
          </a:p>
        </p:txBody>
      </p:sp>
      <p:pic>
        <p:nvPicPr>
          <p:cNvPr id="47107" name="Picture 4" descr="fg08_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989138"/>
            <a:ext cx="5246687" cy="451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Effect of Temperature and Rate</a:t>
            </a:r>
          </a:p>
        </p:txBody>
      </p:sp>
      <p:pic>
        <p:nvPicPr>
          <p:cNvPr id="49156" name="Picture 5" descr="fg08_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807402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Brittle Failure</a:t>
            </a:r>
          </a:p>
        </p:txBody>
      </p:sp>
      <p:graphicFrame>
        <p:nvGraphicFramePr>
          <p:cNvPr id="51203" name="Object 0"/>
          <p:cNvGraphicFramePr>
            <a:graphicFrameLocks noChangeAspect="1"/>
          </p:cNvGraphicFramePr>
          <p:nvPr/>
        </p:nvGraphicFramePr>
        <p:xfrm>
          <a:off x="838200" y="2209800"/>
          <a:ext cx="7848600" cy="388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0" name="CorelPhotoPaint.Image.10" r:id="rId4" imgW="6181356" imgH="3058674" progId="CorelPhotoPaint.Image.10">
                  <p:embed/>
                </p:oleObj>
              </mc:Choice>
              <mc:Fallback>
                <p:oleObj name="CorelPhotoPaint.Image.10" r:id="rId4" imgW="6181356" imgH="3058674" progId="CorelPhotoPaint.Image.10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09800"/>
                        <a:ext cx="7848600" cy="388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Double Bonus Quiz</a:t>
            </a:r>
          </a:p>
        </p:txBody>
      </p:sp>
      <p:pic>
        <p:nvPicPr>
          <p:cNvPr id="53251" name="Picture 4" descr="fg08_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00238"/>
            <a:ext cx="4232275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16463" y="1700213"/>
            <a:ext cx="4319587" cy="5110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/>
              <a:t>Which of the following </a:t>
            </a:r>
            <a:r>
              <a:rPr lang="en-US" b="1" dirty="0" smtClean="0"/>
              <a:t>statements </a:t>
            </a:r>
            <a:r>
              <a:rPr lang="en-US" b="1" dirty="0"/>
              <a:t>are incorrect: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Tx/>
              <a:buAutoNum type="alphaUcPeriod"/>
              <a:defRPr/>
            </a:pPr>
            <a:r>
              <a:rPr lang="en-US" b="1" dirty="0"/>
              <a:t>Larger stress leads to longer transition crack length a</a:t>
            </a:r>
            <a:r>
              <a:rPr lang="en-US" b="1" baseline="-25000" dirty="0"/>
              <a:t>t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Tx/>
              <a:buAutoNum type="alphaUcPeriod"/>
              <a:defRPr/>
            </a:pPr>
            <a:r>
              <a:rPr lang="en-US" b="1" dirty="0"/>
              <a:t>High strength material is more vulnerable to crack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Tx/>
              <a:buAutoNum type="alphaUcPeriod"/>
              <a:defRPr/>
            </a:pPr>
            <a:r>
              <a:rPr lang="en-US" b="1" dirty="0"/>
              <a:t>Transition crack length a</a:t>
            </a:r>
            <a:r>
              <a:rPr lang="en-US" b="1" baseline="-25000" dirty="0"/>
              <a:t>t </a:t>
            </a:r>
            <a:r>
              <a:rPr lang="en-US" b="1" dirty="0"/>
              <a:t> does not depend on ultimate strength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Tx/>
              <a:buAutoNum type="alphaUcPeriod"/>
              <a:defRPr/>
            </a:pPr>
            <a:r>
              <a:rPr lang="en-US" sz="2000" b="1" dirty="0"/>
              <a:t>Linear elastic fracture mechanics does not apply to cracks shorter than a</a:t>
            </a:r>
            <a:r>
              <a:rPr lang="en-US" sz="2000" b="1" baseline="-25000" dirty="0"/>
              <a:t>t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Assignment</a:t>
            </a:r>
            <a:endParaRPr lang="en-US" alt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619672" y="2276872"/>
            <a:ext cx="38908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Mechanical behavior of materials:</a:t>
            </a:r>
          </a:p>
          <a:p>
            <a:endParaRPr lang="en-US" b="1" dirty="0" smtClean="0"/>
          </a:p>
          <a:p>
            <a:r>
              <a:rPr lang="en-US" b="1" dirty="0" smtClean="0"/>
              <a:t>8.4, 8.10, 8.15, 8.47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970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10664</TotalTime>
  <Words>367</Words>
  <Application>Microsoft Office PowerPoint</Application>
  <PresentationFormat>On-screen Show (4:3)</PresentationFormat>
  <Paragraphs>127</Paragraphs>
  <Slides>25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Symbol</vt:lpstr>
      <vt:lpstr>Default Design</vt:lpstr>
      <vt:lpstr>Equation</vt:lpstr>
      <vt:lpstr>CorelPhotoPaint.Image.10</vt:lpstr>
      <vt:lpstr>PowerPoint Presentation</vt:lpstr>
      <vt:lpstr>PowerPoint Presentation</vt:lpstr>
      <vt:lpstr>PowerPoint Presentation</vt:lpstr>
      <vt:lpstr>Stress Intensity Factor</vt:lpstr>
      <vt:lpstr>Effect of Crack Length</vt:lpstr>
      <vt:lpstr>Stress Intensity Factor: Tension</vt:lpstr>
      <vt:lpstr>Geometry Factor F</vt:lpstr>
      <vt:lpstr>Example</vt:lpstr>
      <vt:lpstr>PowerPoint Presentation</vt:lpstr>
      <vt:lpstr>Stress Intensity Factor: Bending</vt:lpstr>
      <vt:lpstr>Geometry Factor F</vt:lpstr>
      <vt:lpstr>Example</vt:lpstr>
      <vt:lpstr>Superposition</vt:lpstr>
      <vt:lpstr>Effect of Crack Length</vt:lpstr>
      <vt:lpstr>PowerPoint Presentation</vt:lpstr>
      <vt:lpstr>Brittle vs. Ductile Behavior</vt:lpstr>
      <vt:lpstr>Plastic Zone</vt:lpstr>
      <vt:lpstr>K field</vt:lpstr>
      <vt:lpstr>Limitation of LEFM</vt:lpstr>
      <vt:lpstr>Example</vt:lpstr>
      <vt:lpstr>Effect of Temperature and Rate</vt:lpstr>
      <vt:lpstr>Effect of Temperature and Rate</vt:lpstr>
      <vt:lpstr>Brittle Failure</vt:lpstr>
      <vt:lpstr>Double Bonus Quiz</vt:lpstr>
      <vt:lpstr>Assignment</vt:lpstr>
    </vt:vector>
  </TitlesOfParts>
  <Company>University of Nebraska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Design Analyis</dc:title>
  <dc:creator>jiangyu</dc:creator>
  <cp:lastModifiedBy>Jiangyu Li</cp:lastModifiedBy>
  <cp:revision>252</cp:revision>
  <dcterms:created xsi:type="dcterms:W3CDTF">2005-12-02T20:26:58Z</dcterms:created>
  <dcterms:modified xsi:type="dcterms:W3CDTF">2021-05-25T01:16:12Z</dcterms:modified>
</cp:coreProperties>
</file>