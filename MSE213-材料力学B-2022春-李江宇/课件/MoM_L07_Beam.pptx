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handoutMasterIdLst>
    <p:handoutMasterId r:id="rId75"/>
  </p:handoutMasterIdLst>
  <p:sldIdLst>
    <p:sldId id="256" r:id="rId2"/>
    <p:sldId id="316" r:id="rId3"/>
    <p:sldId id="343" r:id="rId4"/>
    <p:sldId id="344" r:id="rId5"/>
    <p:sldId id="345" r:id="rId6"/>
    <p:sldId id="287" r:id="rId7"/>
    <p:sldId id="286" r:id="rId8"/>
    <p:sldId id="266" r:id="rId9"/>
    <p:sldId id="267" r:id="rId10"/>
    <p:sldId id="289" r:id="rId11"/>
    <p:sldId id="290" r:id="rId12"/>
    <p:sldId id="347" r:id="rId13"/>
    <p:sldId id="366" r:id="rId14"/>
    <p:sldId id="348" r:id="rId15"/>
    <p:sldId id="367" r:id="rId16"/>
    <p:sldId id="291" r:id="rId17"/>
    <p:sldId id="370" r:id="rId18"/>
    <p:sldId id="292" r:id="rId19"/>
    <p:sldId id="271" r:id="rId20"/>
    <p:sldId id="272" r:id="rId21"/>
    <p:sldId id="354" r:id="rId22"/>
    <p:sldId id="355" r:id="rId23"/>
    <p:sldId id="356" r:id="rId24"/>
    <p:sldId id="368" r:id="rId25"/>
    <p:sldId id="377" r:id="rId26"/>
    <p:sldId id="374" r:id="rId27"/>
    <p:sldId id="375" r:id="rId28"/>
    <p:sldId id="376" r:id="rId29"/>
    <p:sldId id="311" r:id="rId30"/>
    <p:sldId id="312" r:id="rId31"/>
    <p:sldId id="313" r:id="rId32"/>
    <p:sldId id="314" r:id="rId33"/>
    <p:sldId id="357" r:id="rId34"/>
    <p:sldId id="369" r:id="rId35"/>
    <p:sldId id="378" r:id="rId36"/>
    <p:sldId id="379" r:id="rId37"/>
    <p:sldId id="380" r:id="rId38"/>
    <p:sldId id="381" r:id="rId39"/>
    <p:sldId id="358" r:id="rId40"/>
    <p:sldId id="386" r:id="rId41"/>
    <p:sldId id="387" r:id="rId42"/>
    <p:sldId id="388" r:id="rId43"/>
    <p:sldId id="317" r:id="rId44"/>
    <p:sldId id="318" r:id="rId45"/>
    <p:sldId id="319" r:id="rId46"/>
    <p:sldId id="320" r:id="rId47"/>
    <p:sldId id="321" r:id="rId48"/>
    <p:sldId id="322" r:id="rId49"/>
    <p:sldId id="361" r:id="rId50"/>
    <p:sldId id="362" r:id="rId51"/>
    <p:sldId id="323" r:id="rId52"/>
    <p:sldId id="363" r:id="rId53"/>
    <p:sldId id="372" r:id="rId54"/>
    <p:sldId id="373" r:id="rId55"/>
    <p:sldId id="371" r:id="rId56"/>
    <p:sldId id="324" r:id="rId57"/>
    <p:sldId id="325" r:id="rId58"/>
    <p:sldId id="327" r:id="rId59"/>
    <p:sldId id="389" r:id="rId60"/>
    <p:sldId id="390" r:id="rId61"/>
    <p:sldId id="328" r:id="rId62"/>
    <p:sldId id="330" r:id="rId63"/>
    <p:sldId id="329" r:id="rId64"/>
    <p:sldId id="391" r:id="rId65"/>
    <p:sldId id="392" r:id="rId66"/>
    <p:sldId id="365" r:id="rId67"/>
    <p:sldId id="393" r:id="rId68"/>
    <p:sldId id="394" r:id="rId69"/>
    <p:sldId id="383" r:id="rId70"/>
    <p:sldId id="384" r:id="rId71"/>
    <p:sldId id="385" r:id="rId72"/>
    <p:sldId id="382" r:id="rId73"/>
  </p:sldIdLst>
  <p:sldSz cx="9144000" cy="6858000" type="screen4x3"/>
  <p:notesSz cx="7096125" cy="102298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54" autoAdjust="0"/>
    <p:restoredTop sz="94660" autoAdjust="0"/>
  </p:normalViewPr>
  <p:slideViewPr>
    <p:cSldViewPr>
      <p:cViewPr varScale="1">
        <p:scale>
          <a:sx n="70" d="100"/>
          <a:sy n="70" d="100"/>
        </p:scale>
        <p:origin x="121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12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42"/>
    </p:cViewPr>
  </p:sorterViewPr>
  <p:notesViewPr>
    <p:cSldViewPr>
      <p:cViewPr varScale="1">
        <p:scale>
          <a:sx n="47" d="100"/>
          <a:sy n="47" d="100"/>
        </p:scale>
        <p:origin x="2746" y="67"/>
      </p:cViewPr>
      <p:guideLst>
        <p:guide orient="horz" pos="3222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7.wmf"/><Relationship Id="rId4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59.wmf"/><Relationship Id="rId4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5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4" Type="http://schemas.openxmlformats.org/officeDocument/2006/relationships/image" Target="../media/image11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2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12" Type="http://schemas.openxmlformats.org/officeDocument/2006/relationships/image" Target="../media/image131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11" Type="http://schemas.openxmlformats.org/officeDocument/2006/relationships/image" Target="../media/image130.wmf"/><Relationship Id="rId5" Type="http://schemas.openxmlformats.org/officeDocument/2006/relationships/image" Target="../media/image124.wmf"/><Relationship Id="rId10" Type="http://schemas.openxmlformats.org/officeDocument/2006/relationships/image" Target="../media/image129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4" Type="http://schemas.openxmlformats.org/officeDocument/2006/relationships/image" Target="../media/image13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6.wmf"/><Relationship Id="rId1" Type="http://schemas.openxmlformats.org/officeDocument/2006/relationships/image" Target="../media/image13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35.wmf"/><Relationship Id="rId1" Type="http://schemas.openxmlformats.org/officeDocument/2006/relationships/image" Target="../media/image141.wmf"/><Relationship Id="rId4" Type="http://schemas.openxmlformats.org/officeDocument/2006/relationships/image" Target="../media/image143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wmf"/><Relationship Id="rId1" Type="http://schemas.openxmlformats.org/officeDocument/2006/relationships/image" Target="../media/image16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4" Type="http://schemas.openxmlformats.org/officeDocument/2006/relationships/image" Target="../media/image168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4" Type="http://schemas.openxmlformats.org/officeDocument/2006/relationships/image" Target="../media/image11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5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0975" y="0"/>
            <a:ext cx="3105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42488"/>
            <a:ext cx="3105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0975" y="9742488"/>
            <a:ext cx="3105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0A0FF0-5B6C-4F81-8D29-7C5F06FBCE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955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3337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76900" cy="460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708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9550" y="971708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1678667-9E03-4846-8880-5F720C6672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661BB2-4AA4-4E95-94D9-440F283E431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C0CF1A-8C23-4A5B-9F70-5221FB0F3A4C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9658C7-BBE6-4F07-BCF7-706ACE71B4D7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 smtClean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167608-D4D7-4818-81A0-9F13FB2FD5E8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174C8C-AA1E-4E81-8769-75DCA224ACF2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144073F-2EF3-41A2-923D-8A0E6A6F3D1E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EE0ECA-AB51-43C4-8EE6-A55F2ED410B0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3F5227-74A7-4230-9513-2B769C84A397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682266-EE71-4A23-8B19-00122E1DA81A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A1FE0E-E699-4D52-A582-F55F45204F7D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ACAF97-AFA4-4D23-97F5-D91E2B2519C2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17B04EF-8E07-478E-B75E-E9C000177D21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 smtClean="0"/>
          </a:p>
        </p:txBody>
      </p:sp>
      <p:sp>
        <p:nvSpPr>
          <p:cNvPr id="34819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74546E-6001-46F4-BD91-D6A8F5EEC86F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 smtClean="0"/>
          </a:p>
        </p:txBody>
      </p:sp>
      <p:sp>
        <p:nvSpPr>
          <p:cNvPr id="36867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29E070-AD50-4D48-84C4-F311AD635B7F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32D42BC-D5A4-49FA-A018-ABF3F0F24BA7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9FDE65-FB58-4AA4-BC01-CCFCF36DC241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2C71EC-7999-49C0-9508-0E4B7C524ADB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62DCB7-AE49-4C52-A42A-276B84629AA0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18A874-C9BB-44A3-878C-BA61F1FE01E9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1B9888-D001-49C8-8EDE-C4579501FCC9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3AA52B-C739-42A3-A4B7-F30D6910E6B3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B78C1E-1560-440B-A778-CEFFAC000FE2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B78C1E-1560-440B-A778-CEFFAC000FE2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1688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B78C1E-1560-440B-A778-CEFFAC000FE2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7355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B78C1E-1560-440B-A778-CEFFAC000FE2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259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2B78C1E-1560-440B-A778-CEFFAC000FE2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824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C6DF20-55BD-4668-BC57-8061DD9E6BE3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C6DF20-55BD-4668-BC57-8061DD9E6BE3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8905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C6DF20-55BD-4668-BC57-8061DD9E6BE3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3785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C6DF20-55BD-4668-BC57-8061DD9E6BE3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202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53AB1E-D28B-4E0F-BD2B-5EAD4DCE6B0F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2D3D48-BAEF-4296-BF0A-7D90BE5C0803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9D4B766-C23C-4B93-A979-52F31AF725C0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FB5F90-6073-46FE-B181-45C660DC4614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 smtClean="0"/>
          </a:p>
        </p:txBody>
      </p:sp>
      <p:sp>
        <p:nvSpPr>
          <p:cNvPr id="829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4C82EF-0AD3-4468-BE8F-70007D59E5BB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B34C6F-199F-4EDF-B103-46509DDE8B12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 smtClean="0"/>
          </a:p>
        </p:txBody>
      </p:sp>
      <p:sp>
        <p:nvSpPr>
          <p:cNvPr id="870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7A363D-045F-469E-8D04-6FEB4E3D4D9F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 smtClean="0"/>
          </a:p>
        </p:txBody>
      </p:sp>
      <p:sp>
        <p:nvSpPr>
          <p:cNvPr id="890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F78C57-DCCF-4202-9511-00F39D6892C2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 smtClean="0"/>
          </a:p>
        </p:txBody>
      </p:sp>
      <p:sp>
        <p:nvSpPr>
          <p:cNvPr id="9113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CB645C-F63D-4FDB-8E81-350933D85F3D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69BD8E-9B58-4DC8-A902-56744360A80F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 smtClean="0"/>
          </a:p>
        </p:txBody>
      </p:sp>
      <p:sp>
        <p:nvSpPr>
          <p:cNvPr id="952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C97A856-0A3D-4902-997B-C1F2244959D7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 smtClean="0"/>
          </a:p>
        </p:txBody>
      </p:sp>
      <p:sp>
        <p:nvSpPr>
          <p:cNvPr id="993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E02D35B-2A97-4AD8-AED4-68FC7B9D3A20}" type="slidenum">
              <a:rPr lang="en-US" altLang="en-US" smtClean="0"/>
              <a:pPr>
                <a:spcBef>
                  <a:spcPct val="0"/>
                </a:spcBef>
              </a:pPr>
              <a:t>55</a:t>
            </a:fld>
            <a:endParaRPr lang="en-US" altLang="en-US" smtClean="0"/>
          </a:p>
        </p:txBody>
      </p:sp>
      <p:sp>
        <p:nvSpPr>
          <p:cNvPr id="972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475D97-1C34-4BCC-A323-A34D60F45AEA}" type="slidenum">
              <a:rPr lang="en-US" altLang="en-US" smtClean="0"/>
              <a:pPr>
                <a:spcBef>
                  <a:spcPct val="0"/>
                </a:spcBef>
              </a:pPr>
              <a:t>56</a:t>
            </a:fld>
            <a:endParaRPr lang="en-US" altLang="en-US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A79BAB-1EC2-4101-9C8C-9518BAA14DA4}" type="slidenum">
              <a:rPr lang="en-US" altLang="en-US" smtClean="0"/>
              <a:pPr>
                <a:spcBef>
                  <a:spcPct val="0"/>
                </a:spcBef>
              </a:pPr>
              <a:t>57</a:t>
            </a:fld>
            <a:endParaRPr lang="en-US" altLang="en-US" smtClean="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27375D-C363-4AC0-8D36-A36BFE7758AF}" type="slidenum">
              <a:rPr lang="en-US" altLang="en-US" smtClean="0"/>
              <a:pPr>
                <a:spcBef>
                  <a:spcPct val="0"/>
                </a:spcBef>
              </a:pPr>
              <a:t>58</a:t>
            </a:fld>
            <a:endParaRPr lang="en-US" altLang="en-US" smtClean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27375D-C363-4AC0-8D36-A36BFE7758AF}" type="slidenum">
              <a:rPr lang="en-US" altLang="en-US" smtClean="0"/>
              <a:pPr>
                <a:spcBef>
                  <a:spcPct val="0"/>
                </a:spcBef>
              </a:pPr>
              <a:t>59</a:t>
            </a:fld>
            <a:endParaRPr lang="en-US" altLang="en-US" smtClean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8732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27375D-C363-4AC0-8D36-A36BFE7758AF}" type="slidenum">
              <a:rPr lang="en-US" altLang="en-US" smtClean="0"/>
              <a:pPr>
                <a:spcBef>
                  <a:spcPct val="0"/>
                </a:spcBef>
              </a:pPr>
              <a:t>60</a:t>
            </a:fld>
            <a:endParaRPr lang="en-US" altLang="en-US" smtClean="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011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DC227C0-4287-44E0-AF9C-CB22F8FFE132}" type="slidenum">
              <a:rPr lang="en-US" altLang="en-US" smtClean="0"/>
              <a:pPr>
                <a:spcBef>
                  <a:spcPct val="0"/>
                </a:spcBef>
              </a:pPr>
              <a:t>61</a:t>
            </a:fld>
            <a:endParaRPr lang="en-US" altLang="en-US" smtClean="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E9E4C8-98CF-426F-9EA5-5F908054DA7C}" type="slidenum">
              <a:rPr lang="en-US" altLang="en-US" smtClean="0"/>
              <a:pPr>
                <a:spcBef>
                  <a:spcPct val="0"/>
                </a:spcBef>
              </a:pPr>
              <a:t>62</a:t>
            </a:fld>
            <a:endParaRPr lang="en-US" altLang="en-US" smtClean="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5F1955-6CD4-490C-A8CB-300DC842D9B4}" type="slidenum">
              <a:rPr lang="en-US" altLang="en-US" smtClean="0"/>
              <a:pPr>
                <a:spcBef>
                  <a:spcPct val="0"/>
                </a:spcBef>
              </a:pPr>
              <a:t>63</a:t>
            </a:fld>
            <a:endParaRPr lang="en-US" altLang="en-US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4C82EF-0AD3-4468-BE8F-70007D59E5BB}" type="slidenum">
              <a:rPr lang="en-US" altLang="en-US" smtClean="0"/>
              <a:pPr>
                <a:spcBef>
                  <a:spcPct val="0"/>
                </a:spcBef>
              </a:pPr>
              <a:t>64</a:t>
            </a:fld>
            <a:endParaRPr lang="en-US" altLang="en-US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3901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65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0183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66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67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1625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68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4174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69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096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70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05858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B34C6F-199F-4EDF-B103-46509DDE8B12}" type="slidenum">
              <a:rPr lang="en-US" altLang="en-US" smtClean="0"/>
              <a:pPr>
                <a:spcBef>
                  <a:spcPct val="0"/>
                </a:spcBef>
              </a:pPr>
              <a:t>71</a:t>
            </a:fld>
            <a:endParaRPr lang="en-US" altLang="en-US" smtClean="0"/>
          </a:p>
        </p:txBody>
      </p:sp>
      <p:sp>
        <p:nvSpPr>
          <p:cNvPr id="8704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2173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8F62FB-8B00-4D0D-9985-734A0AEB5576}" type="slidenum">
              <a:rPr lang="en-US" altLang="en-US" smtClean="0"/>
              <a:pPr>
                <a:spcBef>
                  <a:spcPct val="0"/>
                </a:spcBef>
              </a:pPr>
              <a:t>72</a:t>
            </a:fld>
            <a:endParaRPr lang="en-US" altLang="en-US" smtClean="0"/>
          </a:p>
        </p:txBody>
      </p:sp>
      <p:sp>
        <p:nvSpPr>
          <p:cNvPr id="1146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469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28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36856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5546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9127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48831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65314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98267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25947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424854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50962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42284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02789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80063" y="6570663"/>
            <a:ext cx="33289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3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6.wmf"/><Relationship Id="rId4" Type="http://schemas.openxmlformats.org/officeDocument/2006/relationships/image" Target="../media/image18.jpeg"/><Relationship Id="rId9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2.wmf"/><Relationship Id="rId4" Type="http://schemas.openxmlformats.org/officeDocument/2006/relationships/image" Target="../media/image34.jpeg"/><Relationship Id="rId9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wmf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11" Type="http://schemas.openxmlformats.org/officeDocument/2006/relationships/oleObject" Target="../embeddings/oleObject16.bin"/><Relationship Id="rId5" Type="http://schemas.openxmlformats.org/officeDocument/2006/relationships/image" Target="../media/image35.wmf"/><Relationship Id="rId10" Type="http://schemas.openxmlformats.org/officeDocument/2006/relationships/image" Target="../media/image39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7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43.jpeg"/><Relationship Id="rId7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42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27.bin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6.wmf"/><Relationship Id="rId4" Type="http://schemas.openxmlformats.org/officeDocument/2006/relationships/image" Target="../media/image63.png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6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65.wmf"/><Relationship Id="rId4" Type="http://schemas.openxmlformats.org/officeDocument/2006/relationships/image" Target="../media/image67.png"/><Relationship Id="rId9" Type="http://schemas.openxmlformats.org/officeDocument/2006/relationships/oleObject" Target="../embeddings/oleObject3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71.jpeg"/><Relationship Id="rId4" Type="http://schemas.openxmlformats.org/officeDocument/2006/relationships/image" Target="../media/image70.png"/><Relationship Id="rId9" Type="http://schemas.openxmlformats.org/officeDocument/2006/relationships/image" Target="../media/image6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oleObject" Target="../embeddings/oleObject39.bin"/><Relationship Id="rId3" Type="http://schemas.openxmlformats.org/officeDocument/2006/relationships/notesSlide" Target="../notesSlides/notesSlide21.xml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7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75.wmf"/><Relationship Id="rId4" Type="http://schemas.openxmlformats.org/officeDocument/2006/relationships/image" Target="../media/image79.jpeg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77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emf"/><Relationship Id="rId4" Type="http://schemas.openxmlformats.org/officeDocument/2006/relationships/image" Target="../media/image8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92.emf"/><Relationship Id="rId4" Type="http://schemas.openxmlformats.org/officeDocument/2006/relationships/image" Target="../media/image91.emf"/><Relationship Id="rId9" Type="http://schemas.openxmlformats.org/officeDocument/2006/relationships/image" Target="../media/image94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emf"/><Relationship Id="rId4" Type="http://schemas.openxmlformats.org/officeDocument/2006/relationships/image" Target="../media/image9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10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0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10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notesSlide" Target="../notesSlides/notesSlide35.xml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111.wmf"/><Relationship Id="rId4" Type="http://schemas.openxmlformats.org/officeDocument/2006/relationships/image" Target="../media/image113.png"/><Relationship Id="rId9" Type="http://schemas.openxmlformats.org/officeDocument/2006/relationships/oleObject" Target="../embeddings/oleObject4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53.bin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116.wmf"/><Relationship Id="rId4" Type="http://schemas.openxmlformats.org/officeDocument/2006/relationships/image" Target="../media/image119.png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118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126.wmf"/><Relationship Id="rId26" Type="http://schemas.openxmlformats.org/officeDocument/2006/relationships/image" Target="../media/image130.wmf"/><Relationship Id="rId3" Type="http://schemas.openxmlformats.org/officeDocument/2006/relationships/notesSlide" Target="../notesSlides/notesSlide37.xml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60.bin"/><Relationship Id="rId25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5.wmf"/><Relationship Id="rId20" Type="http://schemas.openxmlformats.org/officeDocument/2006/relationships/image" Target="../media/image127.wmf"/><Relationship Id="rId29" Type="http://schemas.openxmlformats.org/officeDocument/2006/relationships/oleObject" Target="../embeddings/oleObject66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3.png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129.wmf"/><Relationship Id="rId5" Type="http://schemas.openxmlformats.org/officeDocument/2006/relationships/image" Target="../media/image120.wmf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28" Type="http://schemas.openxmlformats.org/officeDocument/2006/relationships/image" Target="../media/image131.wmf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61.bin"/><Relationship Id="rId4" Type="http://schemas.openxmlformats.org/officeDocument/2006/relationships/oleObject" Target="../embeddings/oleObject54.bin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124.wmf"/><Relationship Id="rId22" Type="http://schemas.openxmlformats.org/officeDocument/2006/relationships/image" Target="../media/image128.wmf"/><Relationship Id="rId27" Type="http://schemas.openxmlformats.org/officeDocument/2006/relationships/oleObject" Target="../embeddings/oleObject65.bin"/><Relationship Id="rId30" Type="http://schemas.openxmlformats.org/officeDocument/2006/relationships/image" Target="../media/image13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notesSlide" Target="../notesSlides/notesSlide38.xml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1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136.wmf"/><Relationship Id="rId4" Type="http://schemas.openxmlformats.org/officeDocument/2006/relationships/image" Target="../media/image133.png"/><Relationship Id="rId9" Type="http://schemas.openxmlformats.org/officeDocument/2006/relationships/oleObject" Target="../embeddings/oleObject69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notesSlide" Target="../notesSlides/notesSlide39.xml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139.wmf"/><Relationship Id="rId4" Type="http://schemas.openxmlformats.org/officeDocument/2006/relationships/image" Target="../media/image140.png"/><Relationship Id="rId9" Type="http://schemas.openxmlformats.org/officeDocument/2006/relationships/oleObject" Target="../embeddings/oleObject73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143.wmf"/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141.wmf"/><Relationship Id="rId12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142.wmf"/><Relationship Id="rId5" Type="http://schemas.openxmlformats.org/officeDocument/2006/relationships/image" Target="../media/image144.png"/><Relationship Id="rId10" Type="http://schemas.openxmlformats.org/officeDocument/2006/relationships/oleObject" Target="../embeddings/oleObject76.bin"/><Relationship Id="rId4" Type="http://schemas.openxmlformats.org/officeDocument/2006/relationships/hyperlink" Target="http://www.substech.com/dokuwiki/lib/exe/detail.php?id=flexural_strength_tests_of_ceramics&amp;cache=cache&amp;media=4-point_flexure.png" TargetMode="External"/><Relationship Id="rId9" Type="http://schemas.openxmlformats.org/officeDocument/2006/relationships/image" Target="../media/image135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notesSlide" Target="../notesSlides/notesSlide41.xml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11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0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9.emf"/><Relationship Id="rId5" Type="http://schemas.openxmlformats.org/officeDocument/2006/relationships/image" Target="../media/image147.wmf"/><Relationship Id="rId4" Type="http://schemas.openxmlformats.org/officeDocument/2006/relationships/oleObject" Target="../embeddings/oleObject80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15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155.jpeg"/><Relationship Id="rId4" Type="http://schemas.openxmlformats.org/officeDocument/2006/relationships/image" Target="../media/image154.png"/><Relationship Id="rId9" Type="http://schemas.openxmlformats.org/officeDocument/2006/relationships/image" Target="../media/image153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notesSlide" Target="../notesSlides/notesSlide44.xml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15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notesSlide" Target="../notesSlides/notesSlide45.xml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160.wmf"/><Relationship Id="rId4" Type="http://schemas.openxmlformats.org/officeDocument/2006/relationships/image" Target="../media/image161.jpeg"/><Relationship Id="rId9" Type="http://schemas.openxmlformats.org/officeDocument/2006/relationships/oleObject" Target="../embeddings/oleObject87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emf"/><Relationship Id="rId5" Type="http://schemas.openxmlformats.org/officeDocument/2006/relationships/image" Target="../media/image164.emf"/><Relationship Id="rId4" Type="http://schemas.openxmlformats.org/officeDocument/2006/relationships/image" Target="../media/image163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3" Type="http://schemas.openxmlformats.org/officeDocument/2006/relationships/notesSlide" Target="../notesSlides/notesSlide48.xml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15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notesSlide" Target="../notesSlides/notesSlide49.xml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170.wmf"/><Relationship Id="rId4" Type="http://schemas.openxmlformats.org/officeDocument/2006/relationships/image" Target="../media/image171.jpeg"/><Relationship Id="rId9" Type="http://schemas.openxmlformats.org/officeDocument/2006/relationships/oleObject" Target="../embeddings/oleObject92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173.wmf"/><Relationship Id="rId12" Type="http://schemas.openxmlformats.org/officeDocument/2006/relationships/image" Target="../media/image1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94.bin"/><Relationship Id="rId11" Type="http://schemas.openxmlformats.org/officeDocument/2006/relationships/oleObject" Target="../embeddings/oleObject96.bin"/><Relationship Id="rId5" Type="http://schemas.openxmlformats.org/officeDocument/2006/relationships/image" Target="../media/image172.wmf"/><Relationship Id="rId10" Type="http://schemas.openxmlformats.org/officeDocument/2006/relationships/image" Target="../media/image171.jpeg"/><Relationship Id="rId4" Type="http://schemas.openxmlformats.org/officeDocument/2006/relationships/oleObject" Target="../embeddings/oleObject93.bin"/><Relationship Id="rId9" Type="http://schemas.openxmlformats.org/officeDocument/2006/relationships/image" Target="../media/image17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notesSlide" Target="../notesSlides/notesSlide51.xml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111.wmf"/><Relationship Id="rId4" Type="http://schemas.openxmlformats.org/officeDocument/2006/relationships/image" Target="../media/image113.png"/><Relationship Id="rId9" Type="http://schemas.openxmlformats.org/officeDocument/2006/relationships/oleObject" Target="../embeddings/oleObject47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81.wmf"/><Relationship Id="rId3" Type="http://schemas.openxmlformats.org/officeDocument/2006/relationships/notesSlide" Target="../notesSlides/notesSlide53.xml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78.wmf"/><Relationship Id="rId17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0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177.wmf"/><Relationship Id="rId4" Type="http://schemas.openxmlformats.org/officeDocument/2006/relationships/image" Target="../media/image133.png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79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3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emf"/><Relationship Id="rId7" Type="http://schemas.openxmlformats.org/officeDocument/2006/relationships/image" Target="../media/image188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emf"/><Relationship Id="rId5" Type="http://schemas.openxmlformats.org/officeDocument/2006/relationships/image" Target="../media/image186.emf"/><Relationship Id="rId4" Type="http://schemas.openxmlformats.org/officeDocument/2006/relationships/image" Target="../media/image185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53.bin"/><Relationship Id="rId3" Type="http://schemas.openxmlformats.org/officeDocument/2006/relationships/notesSlide" Target="../notesSlides/notesSlide58.xml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116.wmf"/><Relationship Id="rId4" Type="http://schemas.openxmlformats.org/officeDocument/2006/relationships/image" Target="../media/image119.png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118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349500"/>
            <a:ext cx="8064500" cy="352777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solidFill>
                  <a:srgbClr val="FF0000"/>
                </a:solidFill>
              </a:rPr>
              <a:t>Beam</a:t>
            </a:r>
          </a:p>
          <a:p>
            <a:pPr eaLnBrk="1" hangingPunct="1">
              <a:spcBef>
                <a:spcPts val="24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accent2"/>
                </a:solidFill>
              </a:rPr>
              <a:t> Reaction, shear force, and bending moment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accent2"/>
                </a:solidFill>
              </a:rPr>
              <a:t> Stress and Strain</a:t>
            </a:r>
          </a:p>
          <a:p>
            <a:pPr eaLnBrk="1" hangingPunct="1">
              <a:spcBef>
                <a:spcPts val="600"/>
              </a:spcBef>
              <a:spcAft>
                <a:spcPts val="2400"/>
              </a:spcAft>
              <a:buFontTx/>
              <a:buAutoNum type="arabicPeriod"/>
            </a:pPr>
            <a:r>
              <a:rPr lang="en-US" altLang="en-US" sz="2400" dirty="0" smtClean="0">
                <a:solidFill>
                  <a:schemeClr val="accent2"/>
                </a:solidFill>
              </a:rPr>
              <a:t> Deflection curve</a:t>
            </a:r>
            <a:endParaRPr lang="en-US" altLang="en-US" sz="2400" dirty="0">
              <a:solidFill>
                <a:schemeClr val="accent2"/>
              </a:solidFill>
            </a:endParaRPr>
          </a:p>
          <a:p>
            <a:pPr eaLnBrk="1" hangingPunct="1">
              <a:spcBef>
                <a:spcPts val="600"/>
              </a:spcBef>
              <a:spcAft>
                <a:spcPts val="2400"/>
              </a:spcAft>
            </a:pPr>
            <a:r>
              <a:rPr lang="en-US" altLang="en-US" sz="2400" dirty="0" smtClean="0">
                <a:solidFill>
                  <a:schemeClr val="accent2"/>
                </a:solidFill>
              </a:rPr>
              <a:t>Chapter 6.1-6.6, 6.9-6.10; 7.1-7.4; 12; </a:t>
            </a:r>
            <a:r>
              <a:rPr lang="en-US" altLang="zh-CN" sz="2400" dirty="0" smtClean="0">
                <a:solidFill>
                  <a:schemeClr val="accent2"/>
                </a:solidFill>
              </a:rPr>
              <a:t>14.2</a:t>
            </a:r>
            <a:r>
              <a:rPr lang="en-US" altLang="zh-CN" sz="2400" dirty="0">
                <a:solidFill>
                  <a:schemeClr val="accent2"/>
                </a:solidFill>
              </a:rPr>
              <a:t>;</a:t>
            </a:r>
            <a:r>
              <a:rPr lang="zh-CN" altLang="en-US" sz="2400" dirty="0" smtClean="0">
                <a:solidFill>
                  <a:schemeClr val="accent2"/>
                </a:solidFill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</a:rPr>
              <a:t>14.10</a:t>
            </a:r>
            <a:endParaRPr lang="en-US" altLang="en-US" sz="2400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600"/>
              </a:spcBef>
              <a:spcAft>
                <a:spcPts val="2400"/>
              </a:spcAft>
            </a:pPr>
            <a:endParaRPr lang="en-US" altLang="en-US" dirty="0" smtClean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Mechanics </a:t>
            </a:r>
            <a:r>
              <a:rPr lang="en-US" altLang="en-US" sz="4000">
                <a:solidFill>
                  <a:schemeClr val="tx2"/>
                </a:solidFill>
              </a:rPr>
              <a:t>of </a:t>
            </a:r>
            <a:r>
              <a:rPr lang="en-US" altLang="en-US" sz="4000" smtClean="0">
                <a:solidFill>
                  <a:schemeClr val="tx2"/>
                </a:solidFill>
              </a:rPr>
              <a:t>Materials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Engineering Structures</a:t>
            </a:r>
          </a:p>
        </p:txBody>
      </p:sp>
      <p:pic>
        <p:nvPicPr>
          <p:cNvPr id="6147" name="Picture 2" descr="https://upload.wikimedia.org/wikipedia/en/2/2e/Image-Tacoma_Narrows_Bridge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701925"/>
            <a:ext cx="392747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9" descr="Image result for lifting be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8" y="2701925"/>
            <a:ext cx="4114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3" descr="C:\Documents and Settings\Jiangyu\My Documents\Work\BFO-Asylum PFM\Paper\BFO_HR_PFM_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1" t="21143" r="22188"/>
          <a:stretch>
            <a:fillRect/>
          </a:stretch>
        </p:blipFill>
        <p:spPr bwMode="auto">
          <a:xfrm>
            <a:off x="4427538" y="2492375"/>
            <a:ext cx="453231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7200" y="476250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Nanotechnology</a:t>
            </a:r>
          </a:p>
        </p:txBody>
      </p:sp>
      <p:pic>
        <p:nvPicPr>
          <p:cNvPr id="8196" name="vertical_deflection01">
            <a:hlinkClick r:id="" action="ppaction://media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133600"/>
            <a:ext cx="3627437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68313" y="549275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Biotechnology</a:t>
            </a:r>
          </a:p>
        </p:txBody>
      </p:sp>
      <p:pic>
        <p:nvPicPr>
          <p:cNvPr id="9219" name="Picture 2" descr="http://faculty.washington.edu/nsniadec/pix/research/post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488" y="1844675"/>
            <a:ext cx="5681662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20863"/>
            <a:ext cx="7265988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2"/>
          <p:cNvSpPr txBox="1">
            <a:spLocks noChangeArrowheads="1"/>
          </p:cNvSpPr>
          <p:nvPr/>
        </p:nvSpPr>
        <p:spPr>
          <a:xfrm>
            <a:off x="468313" y="549275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Beam in Bending</a:t>
            </a:r>
          </a:p>
        </p:txBody>
      </p:sp>
      <p:sp>
        <p:nvSpPr>
          <p:cNvPr id="10244" name="TextBox 32"/>
          <p:cNvSpPr txBox="1">
            <a:spLocks noChangeArrowheads="1"/>
          </p:cNvSpPr>
          <p:nvPr/>
        </p:nvSpPr>
        <p:spPr bwMode="auto">
          <a:xfrm>
            <a:off x="7197725" y="4668838"/>
            <a:ext cx="158908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FF0000"/>
                </a:solidFill>
              </a:rPr>
              <a:t>Deflection</a:t>
            </a:r>
          </a:p>
          <a:p>
            <a:pPr>
              <a:spcBef>
                <a:spcPct val="0"/>
              </a:spcBef>
            </a:pP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FF0000"/>
                </a:solidFill>
              </a:rPr>
              <a:t>Reaction</a:t>
            </a:r>
          </a:p>
          <a:p>
            <a:pPr>
              <a:spcBef>
                <a:spcPct val="0"/>
              </a:spcBef>
            </a:pP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FF0000"/>
                </a:solidFill>
              </a:rPr>
              <a:t>Strain</a:t>
            </a:r>
          </a:p>
          <a:p>
            <a:pPr>
              <a:spcBef>
                <a:spcPct val="0"/>
              </a:spcBef>
            </a:pP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</a:pPr>
            <a:r>
              <a:rPr lang="en-US" altLang="en-US" sz="1800">
                <a:solidFill>
                  <a:srgbClr val="FF0000"/>
                </a:solidFill>
              </a:rPr>
              <a:t>Stress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Types of Supports and Reactions</a:t>
            </a:r>
          </a:p>
        </p:txBody>
      </p:sp>
      <p:pic>
        <p:nvPicPr>
          <p:cNvPr id="13315" name="Picture 6" descr="E:\MechanoLink\Gere-5e\Images\Chapter 4\Chapter 4 Figures\GERE_0420_f4_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00200"/>
            <a:ext cx="18478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 Box 8"/>
          <p:cNvSpPr txBox="1">
            <a:spLocks noChangeArrowheads="1"/>
          </p:cNvSpPr>
          <p:nvPr/>
        </p:nvSpPr>
        <p:spPr bwMode="auto">
          <a:xfrm>
            <a:off x="3651250" y="1989138"/>
            <a:ext cx="46910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Roller support: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Vertical displacement forbidden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	</a:t>
            </a:r>
            <a:r>
              <a:rPr lang="en-US" altLang="en-US" sz="1800">
                <a:solidFill>
                  <a:srgbClr val="FF0000"/>
                </a:solidFill>
              </a:rPr>
              <a:t>Vertical reaction force</a:t>
            </a:r>
          </a:p>
        </p:txBody>
      </p:sp>
      <p:sp>
        <p:nvSpPr>
          <p:cNvPr id="13317" name="Text Box 8"/>
          <p:cNvSpPr txBox="1">
            <a:spLocks noChangeArrowheads="1"/>
          </p:cNvSpPr>
          <p:nvPr/>
        </p:nvSpPr>
        <p:spPr bwMode="auto">
          <a:xfrm>
            <a:off x="3651250" y="3357563"/>
            <a:ext cx="54927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Pin support: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Vertical/lateral displacement forbidden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	</a:t>
            </a:r>
            <a:r>
              <a:rPr lang="en-US" altLang="en-US" sz="1800">
                <a:solidFill>
                  <a:srgbClr val="FF0000"/>
                </a:solidFill>
              </a:rPr>
              <a:t>Vertical/lateral reaction force</a:t>
            </a:r>
          </a:p>
        </p:txBody>
      </p:sp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3651250" y="5013325"/>
            <a:ext cx="54927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Fixed support: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Vertical/lateral displacement forbidden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	</a:t>
            </a:r>
            <a:r>
              <a:rPr lang="en-US" altLang="en-US" sz="1800">
                <a:solidFill>
                  <a:srgbClr val="FF0000"/>
                </a:solidFill>
              </a:rPr>
              <a:t>Vertical/lateral reaction force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	</a:t>
            </a:r>
            <a:r>
              <a:rPr lang="en-US" altLang="en-US" sz="1800"/>
              <a:t>Rotation forbidden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		Reaction moment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Free Body Diagram and Equilibrium</a:t>
            </a:r>
          </a:p>
        </p:txBody>
      </p:sp>
      <p:pic>
        <p:nvPicPr>
          <p:cNvPr id="15363" name="Picture 6" descr="E:\MechanoLink\Gere-5e\Images\Chapter 4\Chapter 4 Figures\GERE_0419_f4_2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8" y="1631950"/>
            <a:ext cx="214312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7"/>
          <p:cNvSpPr txBox="1">
            <a:spLocks noChangeArrowheads="1"/>
          </p:cNvSpPr>
          <p:nvPr/>
        </p:nvSpPr>
        <p:spPr bwMode="auto">
          <a:xfrm>
            <a:off x="5446713" y="2392363"/>
            <a:ext cx="2774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Simply supported beam</a:t>
            </a:r>
          </a:p>
        </p:txBody>
      </p:sp>
      <p:sp>
        <p:nvSpPr>
          <p:cNvPr id="15365" name="Text Box 8"/>
          <p:cNvSpPr txBox="1">
            <a:spLocks noChangeArrowheads="1"/>
          </p:cNvSpPr>
          <p:nvPr/>
        </p:nvSpPr>
        <p:spPr bwMode="auto">
          <a:xfrm>
            <a:off x="5370513" y="4144963"/>
            <a:ext cx="1949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Cantilever beam</a:t>
            </a:r>
          </a:p>
        </p:txBody>
      </p:sp>
      <p:sp>
        <p:nvSpPr>
          <p:cNvPr id="15366" name="Text Box 9"/>
          <p:cNvSpPr txBox="1">
            <a:spLocks noChangeArrowheads="1"/>
          </p:cNvSpPr>
          <p:nvPr/>
        </p:nvSpPr>
        <p:spPr bwMode="auto">
          <a:xfrm>
            <a:off x="5294313" y="5668963"/>
            <a:ext cx="2774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Simply supported beam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with overhang</a:t>
            </a:r>
          </a:p>
        </p:txBody>
      </p:sp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8511" y="2281739"/>
            <a:ext cx="1393651" cy="894347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8511" y="3850982"/>
            <a:ext cx="1393651" cy="894347"/>
          </a:xfrm>
          <a:prstGeom prst="rect">
            <a:avLst/>
          </a:prstGeom>
          <a:blipFill rotWithShape="0">
            <a:blip r:embed="rId5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30410" y="5482732"/>
            <a:ext cx="1493934" cy="894347"/>
          </a:xfrm>
          <a:prstGeom prst="rect">
            <a:avLst/>
          </a:prstGeom>
          <a:blipFill rotWithShape="0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Force &amp; Bending Moment</a:t>
            </a:r>
          </a:p>
        </p:txBody>
      </p:sp>
      <p:pic>
        <p:nvPicPr>
          <p:cNvPr id="17411" name="Picture 4" descr="shi20361_04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133600"/>
            <a:ext cx="86868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Deformation Sign Convention</a:t>
            </a:r>
          </a:p>
        </p:txBody>
      </p:sp>
      <p:pic>
        <p:nvPicPr>
          <p:cNvPr id="19459" name="Picture 6" descr="E:\MechanoLink\Gere-5e\Images\Chapter 4\Chapter 4 Figures\GERE_0423_f4_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36750"/>
            <a:ext cx="4827588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Force &amp; Bending Moment Diagram</a:t>
            </a:r>
          </a:p>
        </p:txBody>
      </p:sp>
      <p:pic>
        <p:nvPicPr>
          <p:cNvPr id="21507" name="Picture 6" descr="E:\MechanoLink\Gere-5e\Images\Chapter 4\Chapter 4 Figures\GERE_0427_f4_1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27188"/>
            <a:ext cx="1938338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08" name="Object 7"/>
          <p:cNvGraphicFramePr>
            <a:graphicFrameLocks noChangeAspect="1"/>
          </p:cNvGraphicFramePr>
          <p:nvPr/>
        </p:nvGraphicFramePr>
        <p:xfrm>
          <a:off x="4038600" y="2160588"/>
          <a:ext cx="1181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0" name="Equation" r:id="rId5" imgW="1180588" imgH="939392" progId="Equation.3">
                  <p:embed/>
                </p:oleObj>
              </mc:Choice>
              <mc:Fallback>
                <p:oleObj name="Equation" r:id="rId5" imgW="1180588" imgH="93939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160588"/>
                        <a:ext cx="1181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0"/>
          <p:cNvGraphicFramePr>
            <a:graphicFrameLocks noChangeAspect="1"/>
          </p:cNvGraphicFramePr>
          <p:nvPr/>
        </p:nvGraphicFramePr>
        <p:xfrm>
          <a:off x="6172200" y="2236788"/>
          <a:ext cx="1333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1" name="Equation" r:id="rId7" imgW="1333500" imgH="939800" progId="Equation.3">
                  <p:embed/>
                </p:oleObj>
              </mc:Choice>
              <mc:Fallback>
                <p:oleObj name="Equation" r:id="rId7" imgW="1333500" imgH="93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236788"/>
                        <a:ext cx="1333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1"/>
          <p:cNvGraphicFramePr>
            <a:graphicFrameLocks noChangeAspect="1"/>
          </p:cNvGraphicFramePr>
          <p:nvPr/>
        </p:nvGraphicFramePr>
        <p:xfrm>
          <a:off x="4038600" y="4141788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2" name="Equation" r:id="rId9" imgW="1256755" imgH="342751" progId="Equation.3">
                  <p:embed/>
                </p:oleObj>
              </mc:Choice>
              <mc:Fallback>
                <p:oleObj name="Equation" r:id="rId9" imgW="1256755" imgH="342751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141788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2"/>
          <p:cNvGraphicFramePr>
            <a:graphicFrameLocks noChangeAspect="1"/>
          </p:cNvGraphicFramePr>
          <p:nvPr/>
        </p:nvGraphicFramePr>
        <p:xfrm>
          <a:off x="3810000" y="5741988"/>
          <a:ext cx="1879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3" name="Equation" r:id="rId11" imgW="1879600" imgH="482600" progId="Equation.3">
                  <p:embed/>
                </p:oleObj>
              </mc:Choice>
              <mc:Fallback>
                <p:oleObj name="Equation" r:id="rId11" imgW="1879600" imgH="482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741988"/>
                        <a:ext cx="1879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13"/>
          <p:cNvSpPr txBox="1">
            <a:spLocks noChangeArrowheads="1"/>
          </p:cNvSpPr>
          <p:nvPr/>
        </p:nvSpPr>
        <p:spPr bwMode="auto">
          <a:xfrm>
            <a:off x="304800" y="2236788"/>
            <a:ext cx="1339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Negative q</a:t>
            </a:r>
          </a:p>
        </p:txBody>
      </p:sp>
      <p:sp>
        <p:nvSpPr>
          <p:cNvPr id="21513" name="Text Box 14"/>
          <p:cNvSpPr txBox="1">
            <a:spLocks noChangeArrowheads="1"/>
          </p:cNvSpPr>
          <p:nvPr/>
        </p:nvSpPr>
        <p:spPr bwMode="auto">
          <a:xfrm>
            <a:off x="228600" y="4141788"/>
            <a:ext cx="1352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Negative P</a:t>
            </a:r>
          </a:p>
        </p:txBody>
      </p:sp>
      <p:sp>
        <p:nvSpPr>
          <p:cNvPr id="21514" name="Text Box 15"/>
          <p:cNvSpPr txBox="1">
            <a:spLocks noChangeArrowheads="1"/>
          </p:cNvSpPr>
          <p:nvPr/>
        </p:nvSpPr>
        <p:spPr bwMode="auto">
          <a:xfrm>
            <a:off x="228600" y="5894388"/>
            <a:ext cx="1398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Positive M</a:t>
            </a:r>
            <a:r>
              <a:rPr lang="en-US" altLang="en-US" sz="1800" baseline="-25000"/>
              <a:t>0</a:t>
            </a:r>
          </a:p>
        </p:txBody>
      </p:sp>
      <p:sp>
        <p:nvSpPr>
          <p:cNvPr id="21515" name="TextBox 1"/>
          <p:cNvSpPr txBox="1">
            <a:spLocks noChangeArrowheads="1"/>
          </p:cNvSpPr>
          <p:nvPr/>
        </p:nvSpPr>
        <p:spPr bwMode="auto">
          <a:xfrm>
            <a:off x="6037263" y="3743325"/>
            <a:ext cx="2411412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Sign of q, P, and M determined by static sign convention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Sign of V determined by deformation sign convention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Uniformly Distributed Load</a:t>
            </a:r>
          </a:p>
        </p:txBody>
      </p:sp>
      <p:pic>
        <p:nvPicPr>
          <p:cNvPr id="23555" name="Picture 5" descr="E:\MechanoLink\Gere-5e\Images\Chapter 4\Chapter 4 Figures\GERE_0429_f4_1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1773238"/>
            <a:ext cx="22129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556" name="Object 7"/>
          <p:cNvGraphicFramePr>
            <a:graphicFrameLocks noChangeAspect="1"/>
          </p:cNvGraphicFramePr>
          <p:nvPr/>
        </p:nvGraphicFramePr>
        <p:xfrm>
          <a:off x="5435600" y="4076700"/>
          <a:ext cx="1181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5" imgW="1180588" imgH="939392" progId="Equation.3">
                  <p:embed/>
                </p:oleObj>
              </mc:Choice>
              <mc:Fallback>
                <p:oleObj name="Equation" r:id="rId5" imgW="1180588" imgH="93939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076700"/>
                        <a:ext cx="1181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10"/>
          <p:cNvGraphicFramePr>
            <a:graphicFrameLocks noChangeAspect="1"/>
          </p:cNvGraphicFramePr>
          <p:nvPr/>
        </p:nvGraphicFramePr>
        <p:xfrm>
          <a:off x="5435600" y="5516563"/>
          <a:ext cx="13335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7" imgW="1333500" imgH="939800" progId="Equation.3">
                  <p:embed/>
                </p:oleObj>
              </mc:Choice>
              <mc:Fallback>
                <p:oleObj name="Equation" r:id="rId7" imgW="1333500" imgH="93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516563"/>
                        <a:ext cx="13335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Three-Point Bending</a:t>
            </a:r>
          </a:p>
        </p:txBody>
      </p:sp>
      <p:pic>
        <p:nvPicPr>
          <p:cNvPr id="25603" name="Picture 4" descr="E:\MechanoLink\Gere-5e\Images\Chapter 4\Chapter 4 Figures\GERE_0428_f4_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838"/>
          <a:stretch>
            <a:fillRect/>
          </a:stretch>
        </p:blipFill>
        <p:spPr bwMode="auto">
          <a:xfrm>
            <a:off x="1365250" y="2403475"/>
            <a:ext cx="2630488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 descr="E:\MechanoLink\Gere-5e\Images\Chapter 4\Chapter 4 Figures\GERE_0428_f4_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90"/>
          <a:stretch>
            <a:fillRect/>
          </a:stretch>
        </p:blipFill>
        <p:spPr bwMode="auto">
          <a:xfrm>
            <a:off x="4716463" y="1700213"/>
            <a:ext cx="2633662" cy="506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Force &amp; Bending Moment Diagram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79388" y="1700213"/>
            <a:ext cx="8856662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32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0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400" kern="0" dirty="0" smtClean="0">
                <a:solidFill>
                  <a:schemeClr val="accent2"/>
                </a:solidFill>
              </a:rPr>
              <a:t>Calculate </a:t>
            </a:r>
            <a:r>
              <a:rPr lang="en-US" altLang="en-US" sz="2400" kern="0" dirty="0" smtClean="0">
                <a:solidFill>
                  <a:srgbClr val="FF0000"/>
                </a:solidFill>
              </a:rPr>
              <a:t>reaction forces and moments </a:t>
            </a:r>
            <a:r>
              <a:rPr lang="en-US" altLang="en-US" sz="2400" kern="0" dirty="0" smtClean="0">
                <a:solidFill>
                  <a:schemeClr val="accent2"/>
                </a:solidFill>
              </a:rPr>
              <a:t>at the supports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Tx/>
              <a:buAutoNum type="arabicPeriod"/>
              <a:defRPr/>
            </a:pPr>
            <a:r>
              <a:rPr lang="en-US" altLang="en-US" sz="2400" kern="0" dirty="0" smtClean="0">
                <a:solidFill>
                  <a:schemeClr val="accent2"/>
                </a:solidFill>
              </a:rPr>
              <a:t>Draw shear force diagram first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Identify the shear force at origin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, based on the reaction force at the left support, with its sign by deformation convention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Draw linear curve, with slope given by q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, unless encounter a concentrated load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chemeClr val="accent2"/>
                </a:solidFill>
              </a:rPr>
              <a:t>At the point of concentrate load, </a:t>
            </a:r>
            <a:r>
              <a:rPr lang="en-US" altLang="en-US" sz="2000" kern="0" dirty="0" smtClean="0">
                <a:solidFill>
                  <a:srgbClr val="FF0000"/>
                </a:solidFill>
              </a:rPr>
              <a:t>have a jump in shear force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;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Check consistency 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at the right support 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Tx/>
              <a:buAutoNum type="arabicPeriod"/>
              <a:defRPr/>
            </a:pPr>
            <a:r>
              <a:rPr lang="en-US" altLang="en-US" sz="2400" kern="0" dirty="0" smtClean="0">
                <a:solidFill>
                  <a:schemeClr val="accent2"/>
                </a:solidFill>
              </a:rPr>
              <a:t>Draw bending moment diagram next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Identify the bending moment at the origin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, based on reaction moment at the left support; deformation sign convention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Draw moment with slope given by V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 from shear force diagram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chemeClr val="accent2"/>
                </a:solidFill>
              </a:rPr>
              <a:t>At the point of concentrate moment, </a:t>
            </a:r>
            <a:r>
              <a:rPr lang="en-US" altLang="en-US" sz="2000" kern="0" dirty="0" smtClean="0">
                <a:solidFill>
                  <a:srgbClr val="FF0000"/>
                </a:solidFill>
              </a:rPr>
              <a:t>have a jump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en-US" altLang="en-US" sz="2000" kern="0" dirty="0" smtClean="0">
                <a:solidFill>
                  <a:srgbClr val="FF0000"/>
                </a:solidFill>
              </a:rPr>
              <a:t>Check consistency </a:t>
            </a:r>
            <a:r>
              <a:rPr lang="en-US" altLang="en-US" sz="2000" kern="0" dirty="0" smtClean="0">
                <a:solidFill>
                  <a:schemeClr val="accent2"/>
                </a:solidFill>
              </a:rPr>
              <a:t>at the right support </a:t>
            </a: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endParaRPr lang="en-US" altLang="en-US" sz="2000" kern="0" dirty="0" smtClean="0">
              <a:solidFill>
                <a:schemeClr val="accent2"/>
              </a:solidFill>
            </a:endParaRP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endParaRPr lang="en-US" altLang="en-US" sz="2000" kern="0" dirty="0" smtClean="0">
              <a:solidFill>
                <a:schemeClr val="accent2"/>
              </a:solidFill>
            </a:endParaRPr>
          </a:p>
          <a:p>
            <a:pPr marL="857250" lvl="1" indent="-457200" eaLnBrk="1" hangingPunct="1">
              <a:lnSpc>
                <a:spcPct val="90000"/>
              </a:lnSpc>
              <a:buFontTx/>
              <a:buAutoNum type="arabicPeriod"/>
              <a:defRPr/>
            </a:pPr>
            <a:endParaRPr lang="en-US" altLang="en-US" sz="2000" kern="0" dirty="0" smtClean="0">
              <a:solidFill>
                <a:schemeClr val="accent2"/>
              </a:solidFill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kern="0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Three- &amp; Four-Point Bending</a:t>
            </a:r>
          </a:p>
        </p:txBody>
      </p:sp>
      <p:pic>
        <p:nvPicPr>
          <p:cNvPr id="29699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63500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8"/>
          <p:cNvSpPr txBox="1">
            <a:spLocks noChangeArrowheads="1"/>
          </p:cNvSpPr>
          <p:nvPr/>
        </p:nvSpPr>
        <p:spPr bwMode="auto">
          <a:xfrm>
            <a:off x="6599238" y="6169025"/>
            <a:ext cx="2540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What is the difference?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Force and Bending Moment Diagram</a:t>
            </a:r>
          </a:p>
        </p:txBody>
      </p:sp>
      <p:pic>
        <p:nvPicPr>
          <p:cNvPr id="3379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835150"/>
            <a:ext cx="4330700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959"/>
          <a:stretch>
            <a:fillRect/>
          </a:stretch>
        </p:blipFill>
        <p:spPr bwMode="auto">
          <a:xfrm>
            <a:off x="323850" y="4292600"/>
            <a:ext cx="3960813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41"/>
          <a:stretch>
            <a:fillRect/>
          </a:stretch>
        </p:blipFill>
        <p:spPr bwMode="auto">
          <a:xfrm>
            <a:off x="4411663" y="4286250"/>
            <a:ext cx="4275137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TextBox 2"/>
          <p:cNvSpPr txBox="1">
            <a:spLocks noChangeArrowheads="1"/>
          </p:cNvSpPr>
          <p:nvPr/>
        </p:nvSpPr>
        <p:spPr bwMode="auto">
          <a:xfrm>
            <a:off x="5580063" y="2349500"/>
            <a:ext cx="2005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ea typeface="宋体" panose="02010600030101010101" pitchFamily="2" charset="-122"/>
              </a:rPr>
              <a:t>What is RA, RB?</a:t>
            </a:r>
            <a:endParaRPr lang="en-US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Force and Bending Moment Diagram</a:t>
            </a:r>
          </a:p>
        </p:txBody>
      </p:sp>
      <p:pic>
        <p:nvPicPr>
          <p:cNvPr id="35843" name="Picture 6" descr="E:\MechanoLink\Gere-5e\Images\Chapter 4\Chapter 4 Figures\GERE_0431_f4_1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619"/>
          <a:stretch>
            <a:fillRect/>
          </a:stretch>
        </p:blipFill>
        <p:spPr bwMode="auto">
          <a:xfrm>
            <a:off x="1066800" y="1676400"/>
            <a:ext cx="2713038" cy="20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7"/>
          <p:cNvSpPr>
            <a:spLocks noChangeArrowheads="1"/>
          </p:cNvSpPr>
          <p:nvPr/>
        </p:nvSpPr>
        <p:spPr bwMode="auto">
          <a:xfrm>
            <a:off x="5029200" y="2209800"/>
            <a:ext cx="3124200" cy="3048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66569" name="Picture 9" descr="E:\MechanoLink\Gere-5e\Images\Chapter 4\Chapter 4 Figures\GERE_0431_f4_1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37"/>
          <a:stretch>
            <a:fillRect/>
          </a:stretch>
        </p:blipFill>
        <p:spPr bwMode="auto">
          <a:xfrm>
            <a:off x="5105400" y="1600200"/>
            <a:ext cx="2635250" cy="341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490663" y="4221163"/>
          <a:ext cx="18669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5" name="Equation" r:id="rId5" imgW="1866900" imgH="1333500" progId="Equation.3">
                  <p:embed/>
                </p:oleObj>
              </mc:Choice>
              <mc:Fallback>
                <p:oleObj name="Equation" r:id="rId5" imgW="1866900" imgH="1333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0663" y="4221163"/>
                        <a:ext cx="186690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833438" y="6130925"/>
            <a:ext cx="3814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Where, and what is maximum M?</a:t>
            </a:r>
          </a:p>
        </p:txBody>
      </p:sp>
      <p:pic>
        <p:nvPicPr>
          <p:cNvPr id="8" name="Picture 9" descr="E:\MechanoLink\Gere-5e\Images\Chapter 4\Chapter 4 Figures\GERE_0431_f4_1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66"/>
          <a:stretch>
            <a:fillRect/>
          </a:stretch>
        </p:blipFill>
        <p:spPr bwMode="auto">
          <a:xfrm>
            <a:off x="5105400" y="5253038"/>
            <a:ext cx="2635250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Quiz</a:t>
            </a:r>
          </a:p>
        </p:txBody>
      </p:sp>
      <p:pic>
        <p:nvPicPr>
          <p:cNvPr id="6451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67" r="51268" b="44450"/>
          <a:stretch/>
        </p:blipFill>
        <p:spPr bwMode="auto">
          <a:xfrm>
            <a:off x="792534" y="1700808"/>
            <a:ext cx="7521611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195" y="3068960"/>
            <a:ext cx="239395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2" r="1101"/>
          <a:stretch/>
        </p:blipFill>
        <p:spPr bwMode="auto">
          <a:xfrm>
            <a:off x="611560" y="3522691"/>
            <a:ext cx="4840324" cy="2376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in Beam</a:t>
            </a:r>
          </a:p>
        </p:txBody>
      </p:sp>
      <p:pic>
        <p:nvPicPr>
          <p:cNvPr id="39939" name="Picture 3078" descr="E:\MechanoLink\Gere-5e\Images\CHapter 5\Chapter 5 Figures\GERE_0492_f5_5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860550"/>
            <a:ext cx="35433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9940" name="Object 3079"/>
          <p:cNvGraphicFramePr>
            <a:graphicFrameLocks noChangeAspect="1"/>
          </p:cNvGraphicFramePr>
          <p:nvPr/>
        </p:nvGraphicFramePr>
        <p:xfrm>
          <a:off x="6096000" y="4114800"/>
          <a:ext cx="1866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Equation" r:id="rId5" imgW="1866900" imgH="1016000" progId="Equation.3">
                  <p:embed/>
                </p:oleObj>
              </mc:Choice>
              <mc:Fallback>
                <p:oleObj name="Equation" r:id="rId5" imgW="1866900" imgH="1016000" progId="Equation.3">
                  <p:embed/>
                  <p:pic>
                    <p:nvPicPr>
                      <p:cNvPr id="0" name="Object 3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114800"/>
                        <a:ext cx="1866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 Stress in Beam</a:t>
            </a:r>
          </a:p>
        </p:txBody>
      </p:sp>
      <p:pic>
        <p:nvPicPr>
          <p:cNvPr id="41987" name="Picture 4" descr="shi20361_04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844675"/>
            <a:ext cx="7666037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988" name="Object 1024"/>
          <p:cNvGraphicFramePr>
            <a:graphicFrameLocks noChangeAspect="1"/>
          </p:cNvGraphicFramePr>
          <p:nvPr/>
        </p:nvGraphicFramePr>
        <p:xfrm>
          <a:off x="2843213" y="2492375"/>
          <a:ext cx="2019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8" name="Equation" r:id="rId5" imgW="2019300" imgH="901700" progId="Equation.3">
                  <p:embed/>
                </p:oleObj>
              </mc:Choice>
              <mc:Fallback>
                <p:oleObj name="Equation" r:id="rId5" imgW="2019300" imgH="9017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492375"/>
                        <a:ext cx="20193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1025"/>
          <p:cNvGraphicFramePr>
            <a:graphicFrameLocks noChangeAspect="1"/>
          </p:cNvGraphicFramePr>
          <p:nvPr/>
        </p:nvGraphicFramePr>
        <p:xfrm>
          <a:off x="6948488" y="2492375"/>
          <a:ext cx="1320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9" name="Equation" r:id="rId7" imgW="1320227" imgH="901309" progId="Equation.3">
                  <p:embed/>
                </p:oleObj>
              </mc:Choice>
              <mc:Fallback>
                <p:oleObj name="Equation" r:id="rId7" imgW="1320227" imgH="901309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2492375"/>
                        <a:ext cx="1320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7"/>
          <p:cNvSpPr txBox="1">
            <a:spLocks noChangeArrowheads="1"/>
          </p:cNvSpPr>
          <p:nvPr/>
        </p:nvSpPr>
        <p:spPr bwMode="auto">
          <a:xfrm>
            <a:off x="2574925" y="5980113"/>
            <a:ext cx="3702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How to identify the neutral axis?</a:t>
            </a:r>
          </a:p>
        </p:txBody>
      </p:sp>
      <p:graphicFrame>
        <p:nvGraphicFramePr>
          <p:cNvPr id="41991" name="Object 1024"/>
          <p:cNvGraphicFramePr>
            <a:graphicFrameLocks noChangeAspect="1"/>
          </p:cNvGraphicFramePr>
          <p:nvPr/>
        </p:nvGraphicFramePr>
        <p:xfrm>
          <a:off x="8027988" y="6110288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0" name="Equation" r:id="rId9" imgW="545863" imgH="342751" progId="Equation.3">
                  <p:embed/>
                </p:oleObj>
              </mc:Choice>
              <mc:Fallback>
                <p:oleObj name="Equation" r:id="rId9" imgW="545863" imgH="342751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6110288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1024"/>
          <p:cNvGraphicFramePr>
            <a:graphicFrameLocks noChangeAspect="1"/>
          </p:cNvGraphicFramePr>
          <p:nvPr/>
        </p:nvGraphicFramePr>
        <p:xfrm>
          <a:off x="7640638" y="5607050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1" name="Equation" r:id="rId11" imgW="1256755" imgH="342751" progId="Equation.3">
                  <p:embed/>
                </p:oleObj>
              </mc:Choice>
              <mc:Fallback>
                <p:oleObj name="Equation" r:id="rId11" imgW="1256755" imgH="342751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0638" y="5607050"/>
                        <a:ext cx="1257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7640638" y="5300663"/>
            <a:ext cx="1268412" cy="1296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4"/>
          <p:cNvSpPr>
            <a:spLocks noChangeArrowheads="1"/>
          </p:cNvSpPr>
          <p:nvPr/>
        </p:nvSpPr>
        <p:spPr bwMode="auto">
          <a:xfrm>
            <a:off x="304800" y="5486400"/>
            <a:ext cx="5029200" cy="1219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Normal Stress</a:t>
            </a:r>
          </a:p>
        </p:txBody>
      </p:sp>
      <p:graphicFrame>
        <p:nvGraphicFramePr>
          <p:cNvPr id="44036" name="Object 0"/>
          <p:cNvGraphicFramePr>
            <a:graphicFrameLocks noChangeAspect="1"/>
          </p:cNvGraphicFramePr>
          <p:nvPr/>
        </p:nvGraphicFramePr>
        <p:xfrm>
          <a:off x="5638800" y="2209800"/>
          <a:ext cx="2997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7" name="Equation" r:id="rId4" imgW="2997200" imgH="901700" progId="Equation.3">
                  <p:embed/>
                </p:oleObj>
              </mc:Choice>
              <mc:Fallback>
                <p:oleObj name="Equation" r:id="rId4" imgW="2997200" imgH="9017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209800"/>
                        <a:ext cx="2997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1"/>
          <p:cNvGraphicFramePr>
            <a:graphicFrameLocks noChangeAspect="1"/>
          </p:cNvGraphicFramePr>
          <p:nvPr/>
        </p:nvGraphicFramePr>
        <p:xfrm>
          <a:off x="533400" y="5562600"/>
          <a:ext cx="1536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8" name="Equation" r:id="rId6" imgW="1536700" imgH="939800" progId="Equation.3">
                  <p:embed/>
                </p:oleObj>
              </mc:Choice>
              <mc:Fallback>
                <p:oleObj name="Equation" r:id="rId6" imgW="1536700" imgH="93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562600"/>
                        <a:ext cx="1536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2"/>
          <p:cNvGraphicFramePr>
            <a:graphicFrameLocks noChangeAspect="1"/>
          </p:cNvGraphicFramePr>
          <p:nvPr/>
        </p:nvGraphicFramePr>
        <p:xfrm>
          <a:off x="2743200" y="5638800"/>
          <a:ext cx="252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9" name="Equation" r:id="rId8" imgW="2527300" imgH="825500" progId="Equation.3">
                  <p:embed/>
                </p:oleObj>
              </mc:Choice>
              <mc:Fallback>
                <p:oleObj name="Equation" r:id="rId8" imgW="2527300" imgH="825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638800"/>
                        <a:ext cx="2527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9" name="Picture 11" descr="E:\MechanoLink\Gere-5e\Images\CHapter 5\Chapter 5 Figures\GERE_0496_f5_9.BMP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52600"/>
            <a:ext cx="52578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4040" name="Object 3"/>
          <p:cNvGraphicFramePr>
            <a:graphicFrameLocks noChangeAspect="1"/>
          </p:cNvGraphicFramePr>
          <p:nvPr/>
        </p:nvGraphicFramePr>
        <p:xfrm>
          <a:off x="5689600" y="3921125"/>
          <a:ext cx="29972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90" name="Equation" r:id="rId11" imgW="2997200" imgH="2387600" progId="Equation.3">
                  <p:embed/>
                </p:oleObj>
              </mc:Choice>
              <mc:Fallback>
                <p:oleObj name="Equation" r:id="rId11" imgW="2997200" imgH="2387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9600" y="3921125"/>
                        <a:ext cx="29972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Text Box 12"/>
          <p:cNvSpPr txBox="1">
            <a:spLocks noChangeArrowheads="1"/>
          </p:cNvSpPr>
          <p:nvPr/>
        </p:nvSpPr>
        <p:spPr bwMode="auto">
          <a:xfrm>
            <a:off x="6019800" y="3124200"/>
            <a:ext cx="253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Go through centroid !</a:t>
            </a:r>
          </a:p>
        </p:txBody>
      </p:sp>
      <p:sp>
        <p:nvSpPr>
          <p:cNvPr id="2" name="Rectangle 1"/>
          <p:cNvSpPr/>
          <p:nvPr/>
        </p:nvSpPr>
        <p:spPr>
          <a:xfrm>
            <a:off x="7421563" y="5002213"/>
            <a:ext cx="1096962" cy="15271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63500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Three- &amp; Four-Point Bending</a:t>
            </a:r>
          </a:p>
        </p:txBody>
      </p:sp>
      <p:sp>
        <p:nvSpPr>
          <p:cNvPr id="46084" name="TextBox 8"/>
          <p:cNvSpPr txBox="1">
            <a:spLocks noChangeArrowheads="1"/>
          </p:cNvSpPr>
          <p:nvPr/>
        </p:nvSpPr>
        <p:spPr bwMode="auto">
          <a:xfrm>
            <a:off x="5795963" y="6353175"/>
            <a:ext cx="237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How stress is varied?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Example</a:t>
            </a:r>
          </a:p>
        </p:txBody>
      </p:sp>
      <p:pic>
        <p:nvPicPr>
          <p:cNvPr id="4710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1" t="23750" r="16000" b="15350"/>
          <a:stretch>
            <a:fillRect/>
          </a:stretch>
        </p:blipFill>
        <p:spPr bwMode="auto">
          <a:xfrm>
            <a:off x="1073150" y="1916113"/>
            <a:ext cx="3527425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TextBox 5"/>
          <p:cNvSpPr txBox="1">
            <a:spLocks noChangeArrowheads="1"/>
          </p:cNvSpPr>
          <p:nvPr/>
        </p:nvSpPr>
        <p:spPr bwMode="auto">
          <a:xfrm>
            <a:off x="1144588" y="6340475"/>
            <a:ext cx="28654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What is bending moment?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5500688" y="2576513"/>
          <a:ext cx="2527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7" name="Equation" r:id="rId4" imgW="2527300" imgH="825500" progId="Equation.3">
                  <p:embed/>
                </p:oleObj>
              </mc:Choice>
              <mc:Fallback>
                <p:oleObj name="Equation" r:id="rId4" imgW="2527300" imgH="825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2576513"/>
                        <a:ext cx="2527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"/>
          <p:cNvGraphicFramePr>
            <a:graphicFrameLocks noChangeAspect="1"/>
          </p:cNvGraphicFramePr>
          <p:nvPr/>
        </p:nvGraphicFramePr>
        <p:xfrm>
          <a:off x="5557838" y="1839913"/>
          <a:ext cx="1206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8" name="Equation" r:id="rId6" imgW="1206500" imgH="711200" progId="Equation.3">
                  <p:embed/>
                </p:oleObj>
              </mc:Choice>
              <mc:Fallback>
                <p:oleObj name="Equation" r:id="rId6" imgW="1206500" imgH="71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1839913"/>
                        <a:ext cx="12065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557838" y="3708400"/>
          <a:ext cx="14351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9" name="Equation" r:id="rId8" imgW="1435100" imgH="1981200" progId="Equation.3">
                  <p:embed/>
                </p:oleObj>
              </mc:Choice>
              <mc:Fallback>
                <p:oleObj name="Equation" r:id="rId8" imgW="1435100" imgH="198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838" y="3708400"/>
                        <a:ext cx="14351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5364163" y="6080125"/>
          <a:ext cx="298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0" name="Equation" r:id="rId10" imgW="2984500" imgH="381000" progId="Equation.3">
                  <p:embed/>
                </p:oleObj>
              </mc:Choice>
              <mc:Fallback>
                <p:oleObj name="Equation" r:id="rId10" imgW="2984500" imgH="38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6080125"/>
                        <a:ext cx="2984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I Beam</a:t>
            </a:r>
          </a:p>
        </p:txBody>
      </p:sp>
      <p:pic>
        <p:nvPicPr>
          <p:cNvPr id="48131" name="Picture 4" descr="http://ongthep190.vn/Uploads/ProductGroup/20121117153933thep%20hinh%20te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89138"/>
            <a:ext cx="5486400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8132" name="Object 1"/>
          <p:cNvGraphicFramePr>
            <a:graphicFrameLocks noChangeAspect="1"/>
          </p:cNvGraphicFramePr>
          <p:nvPr/>
        </p:nvGraphicFramePr>
        <p:xfrm>
          <a:off x="7235825" y="3416300"/>
          <a:ext cx="1206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7" name="Equation" r:id="rId4" imgW="1206500" imgH="711200" progId="Equation.3">
                  <p:embed/>
                </p:oleObj>
              </mc:Choice>
              <mc:Fallback>
                <p:oleObj name="Equation" r:id="rId4" imgW="1206500" imgH="71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416300"/>
                        <a:ext cx="12065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Box 4"/>
          <p:cNvSpPr txBox="1">
            <a:spLocks noChangeArrowheads="1"/>
          </p:cNvSpPr>
          <p:nvPr/>
        </p:nvSpPr>
        <p:spPr bwMode="auto">
          <a:xfrm>
            <a:off x="7451725" y="2338388"/>
            <a:ext cx="774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Why?</a:t>
            </a:r>
          </a:p>
        </p:txBody>
      </p:sp>
      <p:graphicFrame>
        <p:nvGraphicFramePr>
          <p:cNvPr id="48134" name="Object 3"/>
          <p:cNvGraphicFramePr>
            <a:graphicFrameLocks noChangeAspect="1"/>
          </p:cNvGraphicFramePr>
          <p:nvPr/>
        </p:nvGraphicFramePr>
        <p:xfrm>
          <a:off x="7269163" y="4724400"/>
          <a:ext cx="123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8" name="Equation" r:id="rId6" imgW="1231366" imgH="406224" progId="Equation.3">
                  <p:embed/>
                </p:oleObj>
              </mc:Choice>
              <mc:Fallback>
                <p:oleObj name="Equation" r:id="rId6" imgW="1231366" imgH="40622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9163" y="4724400"/>
                        <a:ext cx="1231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Example</a:t>
            </a:r>
          </a:p>
        </p:txBody>
      </p:sp>
      <p:pic>
        <p:nvPicPr>
          <p:cNvPr id="4915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04"/>
          <a:stretch>
            <a:fillRect/>
          </a:stretch>
        </p:blipFill>
        <p:spPr bwMode="auto">
          <a:xfrm>
            <a:off x="755650" y="1628775"/>
            <a:ext cx="3887788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3500438"/>
            <a:ext cx="7743825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53" t="16989"/>
          <a:stretch>
            <a:fillRect/>
          </a:stretch>
        </p:blipFill>
        <p:spPr bwMode="auto">
          <a:xfrm>
            <a:off x="6443663" y="1700213"/>
            <a:ext cx="247650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Parallel Axis Theorem</a:t>
            </a:r>
          </a:p>
        </p:txBody>
      </p:sp>
      <p:pic>
        <p:nvPicPr>
          <p:cNvPr id="114690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" r="9746"/>
          <a:stretch/>
        </p:blipFill>
        <p:spPr bwMode="auto">
          <a:xfrm>
            <a:off x="457200" y="1988840"/>
            <a:ext cx="8036093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050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71" y="1844824"/>
            <a:ext cx="8004258" cy="15841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22" y="3871756"/>
            <a:ext cx="3600400" cy="23346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871756"/>
            <a:ext cx="3178036" cy="233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8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757391"/>
            <a:ext cx="3600400" cy="23346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5" y="4365104"/>
            <a:ext cx="7187370" cy="9267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673" y="5502043"/>
            <a:ext cx="6310653" cy="90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1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471488"/>
            <a:ext cx="8229600" cy="1012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844824"/>
            <a:ext cx="3204615" cy="22762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91" y="4850924"/>
            <a:ext cx="7089870" cy="18633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90044" y="508518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Origin on the top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854" y="1844824"/>
            <a:ext cx="6429617" cy="14401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3357708"/>
            <a:ext cx="5194920" cy="5755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5380" y="3987308"/>
            <a:ext cx="4857540" cy="80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6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/>
          <p:cNvSpPr>
            <a:spLocks noChangeArrowheads="1"/>
          </p:cNvSpPr>
          <p:nvPr/>
        </p:nvSpPr>
        <p:spPr bwMode="auto">
          <a:xfrm>
            <a:off x="6996113" y="3581400"/>
            <a:ext cx="1752600" cy="2362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pic>
        <p:nvPicPr>
          <p:cNvPr id="50179" name="Picture 2" descr="GERE_0514_f5_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600200"/>
            <a:ext cx="6769100" cy="490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Stress</a:t>
            </a:r>
          </a:p>
        </p:txBody>
      </p:sp>
      <p:graphicFrame>
        <p:nvGraphicFramePr>
          <p:cNvPr id="50181" name="Object 0"/>
          <p:cNvGraphicFramePr>
            <a:graphicFrameLocks noChangeAspect="1"/>
          </p:cNvGraphicFramePr>
          <p:nvPr/>
        </p:nvGraphicFramePr>
        <p:xfrm>
          <a:off x="7405688" y="3716338"/>
          <a:ext cx="1054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7" name="Equation" r:id="rId5" imgW="1054100" imgH="825500" progId="Equation.3">
                  <p:embed/>
                </p:oleObj>
              </mc:Choice>
              <mc:Fallback>
                <p:oleObj name="Equation" r:id="rId5" imgW="1054100" imgH="8255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5688" y="3716338"/>
                        <a:ext cx="1054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1"/>
          <p:cNvGraphicFramePr>
            <a:graphicFrameLocks noChangeAspect="1"/>
          </p:cNvGraphicFramePr>
          <p:nvPr/>
        </p:nvGraphicFramePr>
        <p:xfrm>
          <a:off x="7219950" y="5132388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8" name="Equation" r:id="rId7" imgW="1384300" imgH="457200" progId="Equation.3">
                  <p:embed/>
                </p:oleObj>
              </mc:Choice>
              <mc:Fallback>
                <p:oleObj name="Equation" r:id="rId7" imgW="13843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5132388"/>
                        <a:ext cx="1384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1"/>
          <p:cNvGraphicFramePr>
            <a:graphicFrameLocks noChangeAspect="1"/>
          </p:cNvGraphicFramePr>
          <p:nvPr/>
        </p:nvGraphicFramePr>
        <p:xfrm>
          <a:off x="7086600" y="1768475"/>
          <a:ext cx="1536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69" name="Equation" r:id="rId9" imgW="1536700" imgH="939800" progId="Equation.3">
                  <p:embed/>
                </p:oleObj>
              </mc:Choice>
              <mc:Fallback>
                <p:oleObj name="Equation" r:id="rId9" imgW="1536700" imgH="93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768475"/>
                        <a:ext cx="1536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0"/>
          <p:cNvGraphicFramePr>
            <a:graphicFrameLocks noChangeAspect="1"/>
          </p:cNvGraphicFramePr>
          <p:nvPr/>
        </p:nvGraphicFramePr>
        <p:xfrm>
          <a:off x="1476375" y="5221288"/>
          <a:ext cx="58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0" name="Equation" r:id="rId11" imgW="583947" imgH="279279" progId="Equation.3">
                  <p:embed/>
                </p:oleObj>
              </mc:Choice>
              <mc:Fallback>
                <p:oleObj name="Equation" r:id="rId11" imgW="583947" imgH="279279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221288"/>
                        <a:ext cx="584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1"/>
          <p:cNvGraphicFramePr>
            <a:graphicFrameLocks noChangeAspect="1"/>
          </p:cNvGraphicFramePr>
          <p:nvPr/>
        </p:nvGraphicFramePr>
        <p:xfrm>
          <a:off x="3074988" y="4292600"/>
          <a:ext cx="977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71" name="Equation" r:id="rId13" imgW="977476" imgH="723586" progId="Equation.3">
                  <p:embed/>
                </p:oleObj>
              </mc:Choice>
              <mc:Fallback>
                <p:oleObj name="Equation" r:id="rId13" imgW="977476" imgH="723586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4292600"/>
                        <a:ext cx="977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Box 1"/>
          <p:cNvSpPr txBox="1">
            <a:spLocks noChangeArrowheads="1"/>
          </p:cNvSpPr>
          <p:nvPr/>
        </p:nvSpPr>
        <p:spPr bwMode="auto">
          <a:xfrm>
            <a:off x="2847975" y="3867150"/>
            <a:ext cx="1749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rgbClr val="FF0000"/>
                </a:solidFill>
              </a:rPr>
              <a:t>Magnitude only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6937375" y="6180761"/>
            <a:ext cx="21082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solidFill>
                  <a:srgbClr val="FF0000"/>
                </a:solidFill>
              </a:rPr>
              <a:t>Origin at centroid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Distribution of Shear Stress</a:t>
            </a:r>
          </a:p>
        </p:txBody>
      </p:sp>
      <p:pic>
        <p:nvPicPr>
          <p:cNvPr id="52227" name="Picture 3" descr="E:\MechanoLink\Gere-5e\Images\CHapter 5\Chapter 5 Figures\GERE_0516_f5_30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2489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2228" name="Object 0"/>
          <p:cNvGraphicFramePr>
            <a:graphicFrameLocks noChangeAspect="1"/>
          </p:cNvGraphicFramePr>
          <p:nvPr/>
        </p:nvGraphicFramePr>
        <p:xfrm>
          <a:off x="4356100" y="4332288"/>
          <a:ext cx="1054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6" name="Equation" r:id="rId5" imgW="1054100" imgH="825500" progId="Equation.3">
                  <p:embed/>
                </p:oleObj>
              </mc:Choice>
              <mc:Fallback>
                <p:oleObj name="Equation" r:id="rId5" imgW="1054100" imgH="8255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332288"/>
                        <a:ext cx="1054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1"/>
          <p:cNvGraphicFramePr>
            <a:graphicFrameLocks noChangeAspect="1"/>
          </p:cNvGraphicFramePr>
          <p:nvPr/>
        </p:nvGraphicFramePr>
        <p:xfrm>
          <a:off x="4595813" y="1689100"/>
          <a:ext cx="34925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7" name="Equation" r:id="rId7" imgW="3492500" imgH="2387600" progId="Equation.3">
                  <p:embed/>
                </p:oleObj>
              </mc:Choice>
              <mc:Fallback>
                <p:oleObj name="Equation" r:id="rId7" imgW="3492500" imgH="2387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3" y="1689100"/>
                        <a:ext cx="34925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1"/>
          <p:cNvGraphicFramePr>
            <a:graphicFrameLocks noChangeAspect="1"/>
          </p:cNvGraphicFramePr>
          <p:nvPr/>
        </p:nvGraphicFramePr>
        <p:xfrm>
          <a:off x="7334250" y="4337050"/>
          <a:ext cx="1422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8" name="Equation" r:id="rId9" imgW="1422400" imgH="774700" progId="Equation.3">
                  <p:embed/>
                </p:oleObj>
              </mc:Choice>
              <mc:Fallback>
                <p:oleObj name="Equation" r:id="rId9" imgW="1422400" imgH="774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0" y="4337050"/>
                        <a:ext cx="1422400" cy="7747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1"/>
          <p:cNvGraphicFramePr>
            <a:graphicFrameLocks noChangeAspect="1"/>
          </p:cNvGraphicFramePr>
          <p:nvPr/>
        </p:nvGraphicFramePr>
        <p:xfrm>
          <a:off x="4194175" y="5426075"/>
          <a:ext cx="4559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9" name="Equation" r:id="rId11" imgW="4559300" imgH="850900" progId="Equation.3">
                  <p:embed/>
                </p:oleObj>
              </mc:Choice>
              <mc:Fallback>
                <p:oleObj name="Equation" r:id="rId11" imgW="4559300" imgH="8509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175" y="5426075"/>
                        <a:ext cx="4559300" cy="8509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Stress</a:t>
            </a:r>
          </a:p>
        </p:txBody>
      </p:sp>
      <p:pic>
        <p:nvPicPr>
          <p:cNvPr id="54275" name="Picture 3" descr="GERE_0520_f5_3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22002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4" descr="GERE_0521_f5_3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52600"/>
            <a:ext cx="2209800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277" name="Object 0"/>
          <p:cNvGraphicFramePr>
            <a:graphicFrameLocks noChangeAspect="1"/>
          </p:cNvGraphicFramePr>
          <p:nvPr/>
        </p:nvGraphicFramePr>
        <p:xfrm>
          <a:off x="1066800" y="4724400"/>
          <a:ext cx="1689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1" name="Equation" r:id="rId6" imgW="1689100" imgH="939800" progId="Equation.3">
                  <p:embed/>
                </p:oleObj>
              </mc:Choice>
              <mc:Fallback>
                <p:oleObj name="Equation" r:id="rId6" imgW="1689100" imgH="939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724400"/>
                        <a:ext cx="1689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1"/>
          <p:cNvGraphicFramePr>
            <a:graphicFrameLocks noChangeAspect="1"/>
          </p:cNvGraphicFramePr>
          <p:nvPr/>
        </p:nvGraphicFramePr>
        <p:xfrm>
          <a:off x="4343400" y="4038600"/>
          <a:ext cx="4064000" cy="226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2" name="Equation" r:id="rId8" imgW="4064000" imgH="2260600" progId="Equation.3">
                  <p:embed/>
                </p:oleObj>
              </mc:Choice>
              <mc:Fallback>
                <p:oleObj name="Equation" r:id="rId8" imgW="4064000" imgH="2260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038600"/>
                        <a:ext cx="4064000" cy="226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Shear Stress</a:t>
            </a:r>
          </a:p>
        </p:txBody>
      </p:sp>
      <p:pic>
        <p:nvPicPr>
          <p:cNvPr id="56323" name="Picture 3" descr="E:\MechanoLink\Gere-5e\Images\CHapter 5\Chapter 5 Figures\GERE_0524_f5_38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769620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6324" name="Object 0"/>
          <p:cNvGraphicFramePr>
            <a:graphicFrameLocks noChangeAspect="1"/>
          </p:cNvGraphicFramePr>
          <p:nvPr/>
        </p:nvGraphicFramePr>
        <p:xfrm>
          <a:off x="5099050" y="5130800"/>
          <a:ext cx="2006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1" name="Equation" r:id="rId5" imgW="2006600" imgH="1041400" progId="Equation.3">
                  <p:embed/>
                </p:oleObj>
              </mc:Choice>
              <mc:Fallback>
                <p:oleObj name="Equation" r:id="rId5" imgW="2006600" imgH="1041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9050" y="5130800"/>
                        <a:ext cx="2006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pic>
        <p:nvPicPr>
          <p:cNvPr id="58371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00" t="13251" b="51050"/>
          <a:stretch>
            <a:fillRect/>
          </a:stretch>
        </p:blipFill>
        <p:spPr bwMode="auto">
          <a:xfrm>
            <a:off x="755650" y="2349500"/>
            <a:ext cx="35274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TextBox 2"/>
          <p:cNvSpPr txBox="1">
            <a:spLocks noChangeArrowheads="1"/>
          </p:cNvSpPr>
          <p:nvPr/>
        </p:nvSpPr>
        <p:spPr bwMode="auto">
          <a:xfrm>
            <a:off x="1042988" y="5411788"/>
            <a:ext cx="25209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Shear stress at P and maximum shear?</a:t>
            </a:r>
          </a:p>
        </p:txBody>
      </p:sp>
      <p:graphicFrame>
        <p:nvGraphicFramePr>
          <p:cNvPr id="7" name="Object 0"/>
          <p:cNvGraphicFramePr>
            <a:graphicFrameLocks noChangeAspect="1"/>
          </p:cNvGraphicFramePr>
          <p:nvPr/>
        </p:nvGraphicFramePr>
        <p:xfrm>
          <a:off x="5076825" y="2133600"/>
          <a:ext cx="1054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5" name="Equation" r:id="rId5" imgW="1054100" imgH="825500" progId="Equation.3">
                  <p:embed/>
                </p:oleObj>
              </mc:Choice>
              <mc:Fallback>
                <p:oleObj name="Equation" r:id="rId5" imgW="1054100" imgH="8255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133600"/>
                        <a:ext cx="1054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6923088" y="2228850"/>
          <a:ext cx="1244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6" name="Equation" r:id="rId7" imgW="1244600" imgH="711200" progId="Equation.3">
                  <p:embed/>
                </p:oleObj>
              </mc:Choice>
              <mc:Fallback>
                <p:oleObj name="Equation" r:id="rId7" imgW="12446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3088" y="2228850"/>
                        <a:ext cx="12446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0"/>
          <p:cNvGraphicFramePr>
            <a:graphicFrameLocks noChangeAspect="1"/>
          </p:cNvGraphicFramePr>
          <p:nvPr/>
        </p:nvGraphicFramePr>
        <p:xfrm>
          <a:off x="5076825" y="3502025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7" name="Equation" r:id="rId9" imgW="1091726" imgH="342751" progId="Equation.3">
                  <p:embed/>
                </p:oleObj>
              </mc:Choice>
              <mc:Fallback>
                <p:oleObj name="Equation" r:id="rId9" imgW="1091726" imgH="342751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502025"/>
                        <a:ext cx="1092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0"/>
          <p:cNvGraphicFramePr>
            <a:graphicFrameLocks noChangeAspect="1"/>
          </p:cNvGraphicFramePr>
          <p:nvPr/>
        </p:nvGraphicFramePr>
        <p:xfrm>
          <a:off x="4638675" y="4376738"/>
          <a:ext cx="4038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8" name="Equation" r:id="rId11" imgW="4038600" imgH="469900" progId="Equation.3">
                  <p:embed/>
                </p:oleObj>
              </mc:Choice>
              <mc:Fallback>
                <p:oleObj name="Equation" r:id="rId11" imgW="4038600" imgH="4699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675" y="4376738"/>
                        <a:ext cx="4038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0"/>
          <p:cNvGraphicFramePr>
            <a:graphicFrameLocks noChangeAspect="1"/>
          </p:cNvGraphicFramePr>
          <p:nvPr/>
        </p:nvGraphicFramePr>
        <p:xfrm>
          <a:off x="5219700" y="5018088"/>
          <a:ext cx="2540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9" name="Equation" r:id="rId13" imgW="2540000" imgH="762000" progId="Equation.3">
                  <p:embed/>
                </p:oleObj>
              </mc:Choice>
              <mc:Fallback>
                <p:oleObj name="Equation" r:id="rId13" imgW="2540000" imgH="7620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018088"/>
                        <a:ext cx="2540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"/>
          <p:cNvGraphicFramePr>
            <a:graphicFrameLocks noChangeAspect="1"/>
          </p:cNvGraphicFramePr>
          <p:nvPr/>
        </p:nvGraphicFramePr>
        <p:xfrm>
          <a:off x="6169025" y="5899150"/>
          <a:ext cx="13827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00" name="Equation" r:id="rId15" imgW="647419" imgH="393529" progId="Equation.3">
                  <p:embed/>
                </p:oleObj>
              </mc:Choice>
              <mc:Fallback>
                <p:oleObj name="Equation" r:id="rId15" imgW="647419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5" y="5899150"/>
                        <a:ext cx="1382713" cy="8413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pic>
        <p:nvPicPr>
          <p:cNvPr id="6041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1773238"/>
            <a:ext cx="7826375" cy="203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36838"/>
            <a:ext cx="4876800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4532313"/>
            <a:ext cx="5081587" cy="232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52570"/>
          <a:stretch/>
        </p:blipFill>
        <p:spPr>
          <a:xfrm>
            <a:off x="611560" y="4065874"/>
            <a:ext cx="3768130" cy="18360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21676"/>
            <a:ext cx="8358579" cy="14401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46044"/>
          <a:stretch/>
        </p:blipFill>
        <p:spPr>
          <a:xfrm>
            <a:off x="4731721" y="3933056"/>
            <a:ext cx="3512687" cy="194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14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52570"/>
          <a:stretch/>
        </p:blipFill>
        <p:spPr>
          <a:xfrm>
            <a:off x="611560" y="1916832"/>
            <a:ext cx="3768130" cy="18360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46044"/>
          <a:stretch/>
        </p:blipFill>
        <p:spPr>
          <a:xfrm>
            <a:off x="739281" y="4312256"/>
            <a:ext cx="3512687" cy="1947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092" y="2708920"/>
            <a:ext cx="3854708" cy="2808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8264" y="6074715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Maximum shear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96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9129" t="46044" r="4298"/>
          <a:stretch/>
        </p:blipFill>
        <p:spPr>
          <a:xfrm>
            <a:off x="74651" y="1947705"/>
            <a:ext cx="2736304" cy="19808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5085184"/>
            <a:ext cx="7858514" cy="1512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7624" y="4383344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Origin at bottom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2204864"/>
            <a:ext cx="6187843" cy="165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4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3020"/>
          <a:stretch/>
        </p:blipFill>
        <p:spPr>
          <a:xfrm>
            <a:off x="49059" y="2439182"/>
            <a:ext cx="3296154" cy="38884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1988840"/>
            <a:ext cx="6446081" cy="9361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9022" y="4437112"/>
            <a:ext cx="5992835" cy="102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7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Three- &amp; Four-Point Bending</a:t>
            </a:r>
          </a:p>
        </p:txBody>
      </p:sp>
      <p:pic>
        <p:nvPicPr>
          <p:cNvPr id="6246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63500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TextBox 8"/>
          <p:cNvSpPr txBox="1">
            <a:spLocks noChangeArrowheads="1"/>
          </p:cNvSpPr>
          <p:nvPr/>
        </p:nvSpPr>
        <p:spPr bwMode="auto">
          <a:xfrm>
            <a:off x="6599238" y="6169025"/>
            <a:ext cx="2540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What is the difference?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Plastic Bending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t="10613"/>
          <a:stretch/>
        </p:blipFill>
        <p:spPr>
          <a:xfrm>
            <a:off x="724205" y="4243453"/>
            <a:ext cx="7695590" cy="24259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616" y="1636858"/>
            <a:ext cx="2674583" cy="2376264"/>
          </a:xfrm>
          <a:prstGeom prst="rect">
            <a:avLst/>
          </a:prstGeom>
        </p:spPr>
      </p:pic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875778"/>
              </p:ext>
            </p:extLst>
          </p:nvPr>
        </p:nvGraphicFramePr>
        <p:xfrm>
          <a:off x="3790199" y="2260849"/>
          <a:ext cx="1536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0" name="Equation" r:id="rId6" imgW="1536700" imgH="939800" progId="Equation.3">
                  <p:embed/>
                </p:oleObj>
              </mc:Choice>
              <mc:Fallback>
                <p:oleObj name="Equation" r:id="rId6" imgW="1536700" imgH="939800" progId="Equation.3">
                  <p:embed/>
                  <p:pic>
                    <p:nvPicPr>
                      <p:cNvPr id="440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199" y="2260849"/>
                        <a:ext cx="1536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1263" y="1916832"/>
            <a:ext cx="3031217" cy="5714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2160" y="2760709"/>
            <a:ext cx="2178746" cy="87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5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Plastic Bending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5971"/>
          <a:stretch/>
        </p:blipFill>
        <p:spPr>
          <a:xfrm>
            <a:off x="329023" y="1700808"/>
            <a:ext cx="3306712" cy="25729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762" y="2136677"/>
            <a:ext cx="3525911" cy="14401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856" y="4005064"/>
            <a:ext cx="5744062" cy="25922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48" y="5733256"/>
            <a:ext cx="1872691" cy="62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1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Fully Plastic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084" y="2704794"/>
            <a:ext cx="3429591" cy="115212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2704794"/>
            <a:ext cx="3456384" cy="29420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009" y="4251948"/>
            <a:ext cx="2273740" cy="111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2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of Beam</a:t>
            </a:r>
          </a:p>
        </p:txBody>
      </p:sp>
      <p:pic>
        <p:nvPicPr>
          <p:cNvPr id="75779" name="Picture 3" descr="E:\MechanoLink\Gere-5e\Images\Chapter 9\Chapter 9 Figures\GERE_0924_f9_2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7620000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5780" name="Object 0"/>
          <p:cNvGraphicFramePr>
            <a:graphicFrameLocks noChangeAspect="1"/>
          </p:cNvGraphicFramePr>
          <p:nvPr/>
        </p:nvGraphicFramePr>
        <p:xfrm>
          <a:off x="1752600" y="5486400"/>
          <a:ext cx="5245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7" name="Equation" r:id="rId5" imgW="5245100" imgH="825500" progId="Equation.3">
                  <p:embed/>
                </p:oleObj>
              </mc:Choice>
              <mc:Fallback>
                <p:oleObj name="Equation" r:id="rId5" imgW="5245100" imgH="8255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486400"/>
                        <a:ext cx="5245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of Curve</a:t>
            </a:r>
          </a:p>
        </p:txBody>
      </p:sp>
      <p:graphicFrame>
        <p:nvGraphicFramePr>
          <p:cNvPr id="77827" name="Object 0"/>
          <p:cNvGraphicFramePr>
            <a:graphicFrameLocks noChangeAspect="1"/>
          </p:cNvGraphicFramePr>
          <p:nvPr/>
        </p:nvGraphicFramePr>
        <p:xfrm>
          <a:off x="3276600" y="2438400"/>
          <a:ext cx="1447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8" name="Equation" r:id="rId4" imgW="1447172" imgH="444307" progId="Equation.3">
                  <p:embed/>
                </p:oleObj>
              </mc:Choice>
              <mc:Fallback>
                <p:oleObj name="Equation" r:id="rId4" imgW="1447172" imgH="444307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438400"/>
                        <a:ext cx="1447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1"/>
          <p:cNvGraphicFramePr>
            <a:graphicFrameLocks noChangeAspect="1"/>
          </p:cNvGraphicFramePr>
          <p:nvPr/>
        </p:nvGraphicFramePr>
        <p:xfrm>
          <a:off x="3314700" y="3581400"/>
          <a:ext cx="137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9" name="Equation" r:id="rId6" imgW="1371600" imgH="444500" progId="Equation.3">
                  <p:embed/>
                </p:oleObj>
              </mc:Choice>
              <mc:Fallback>
                <p:oleObj name="Equation" r:id="rId6" imgW="13716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3581400"/>
                        <a:ext cx="137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2"/>
          <p:cNvGraphicFramePr>
            <a:graphicFrameLocks noChangeAspect="1"/>
          </p:cNvGraphicFramePr>
          <p:nvPr/>
        </p:nvGraphicFramePr>
        <p:xfrm>
          <a:off x="3276600" y="4838700"/>
          <a:ext cx="1371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40" name="Equation" r:id="rId8" imgW="1371600" imgH="520700" progId="Equation.3">
                  <p:embed/>
                </p:oleObj>
              </mc:Choice>
              <mc:Fallback>
                <p:oleObj name="Equation" r:id="rId8" imgW="1371600" imgH="520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38700"/>
                        <a:ext cx="1371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Boundary Condition</a:t>
            </a:r>
          </a:p>
        </p:txBody>
      </p:sp>
      <p:pic>
        <p:nvPicPr>
          <p:cNvPr id="79875" name="Picture 3" descr="E:\MechanoLink\Gere-5e\Images\Chapter 9\Chapter 9 Figures\GERE_0928_f9_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33289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76" name="Picture 4" descr="E:\MechanoLink\Gere-5e\Images\Chapter 9\Chapter 9 Figures\GERE_0927_f9_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2209800"/>
            <a:ext cx="411480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Continuity Condition</a:t>
            </a:r>
          </a:p>
        </p:txBody>
      </p:sp>
      <p:pic>
        <p:nvPicPr>
          <p:cNvPr id="81923" name="Picture 3" descr="E:\MechanoLink\Gere-5e\Images\Chapter 9\Chapter 9 Figures\GERE_0929_f9_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76400"/>
            <a:ext cx="42830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by Bending Moment Equation</a:t>
            </a:r>
          </a:p>
        </p:txBody>
      </p:sp>
      <p:pic>
        <p:nvPicPr>
          <p:cNvPr id="83971" name="Picture 3" descr="E:\MechanoLink\Gere-5e\Images\Chapter 9\Chapter 9 Figures\GERE_0930_f9_8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320198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3972" name="Object 0"/>
          <p:cNvGraphicFramePr>
            <a:graphicFrameLocks noChangeAspect="1"/>
          </p:cNvGraphicFramePr>
          <p:nvPr/>
        </p:nvGraphicFramePr>
        <p:xfrm>
          <a:off x="4114800" y="2057400"/>
          <a:ext cx="3683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1" name="Equation" r:id="rId5" imgW="3683000" imgH="927100" progId="Equation.3">
                  <p:embed/>
                </p:oleObj>
              </mc:Choice>
              <mc:Fallback>
                <p:oleObj name="Equation" r:id="rId5" imgW="3683000" imgH="9271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057400"/>
                        <a:ext cx="3683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1"/>
          <p:cNvGraphicFramePr>
            <a:graphicFrameLocks noChangeAspect="1"/>
          </p:cNvGraphicFramePr>
          <p:nvPr/>
        </p:nvGraphicFramePr>
        <p:xfrm>
          <a:off x="4191000" y="3276600"/>
          <a:ext cx="3289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2" name="Equation" r:id="rId7" imgW="3289300" imgH="927100" progId="Equation.3">
                  <p:embed/>
                </p:oleObj>
              </mc:Choice>
              <mc:Fallback>
                <p:oleObj name="Equation" r:id="rId7" imgW="3289300" imgH="927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276600"/>
                        <a:ext cx="3289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2"/>
          <p:cNvGraphicFramePr>
            <a:graphicFrameLocks noChangeAspect="1"/>
          </p:cNvGraphicFramePr>
          <p:nvPr/>
        </p:nvGraphicFramePr>
        <p:xfrm>
          <a:off x="4038600" y="4495800"/>
          <a:ext cx="408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3" name="Equation" r:id="rId9" imgW="4089400" imgH="927100" progId="Equation.3">
                  <p:embed/>
                </p:oleObj>
              </mc:Choice>
              <mc:Fallback>
                <p:oleObj name="Equation" r:id="rId9" imgW="4089400" imgH="927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495800"/>
                        <a:ext cx="4089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3"/>
          <p:cNvGraphicFramePr>
            <a:graphicFrameLocks noChangeAspect="1"/>
          </p:cNvGraphicFramePr>
          <p:nvPr/>
        </p:nvGraphicFramePr>
        <p:xfrm>
          <a:off x="4648200" y="5562600"/>
          <a:ext cx="256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4" name="Equation" r:id="rId11" imgW="2565400" imgH="927100" progId="Equation.3">
                  <p:embed/>
                </p:oleObj>
              </mc:Choice>
              <mc:Fallback>
                <p:oleObj name="Equation" r:id="rId11" imgW="2565400" imgH="927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562600"/>
                        <a:ext cx="2565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6300788" y="2057400"/>
            <a:ext cx="1584325" cy="1084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by Loading Equation</a:t>
            </a:r>
          </a:p>
        </p:txBody>
      </p:sp>
      <p:pic>
        <p:nvPicPr>
          <p:cNvPr id="86019" name="Picture 3" descr="E:\MechanoLink\Gere-5e\Images\Chapter 9\Chapter 9 Figures\GERE_0936_f9_14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3724275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6020" name="Object 0"/>
          <p:cNvGraphicFramePr>
            <a:graphicFrameLocks noChangeAspect="1"/>
          </p:cNvGraphicFramePr>
          <p:nvPr/>
        </p:nvGraphicFramePr>
        <p:xfrm>
          <a:off x="4495800" y="1676400"/>
          <a:ext cx="3302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5" name="Equation" r:id="rId5" imgW="3302000" imgH="825500" progId="Equation.3">
                  <p:embed/>
                </p:oleObj>
              </mc:Choice>
              <mc:Fallback>
                <p:oleObj name="Equation" r:id="rId5" imgW="3302000" imgH="8255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676400"/>
                        <a:ext cx="3302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1"/>
          <p:cNvGraphicFramePr>
            <a:graphicFrameLocks noChangeAspect="1"/>
          </p:cNvGraphicFramePr>
          <p:nvPr/>
        </p:nvGraphicFramePr>
        <p:xfrm>
          <a:off x="4191000" y="2590800"/>
          <a:ext cx="4508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6" name="Equation" r:id="rId7" imgW="4508500" imgH="927100" progId="Equation.3">
                  <p:embed/>
                </p:oleObj>
              </mc:Choice>
              <mc:Fallback>
                <p:oleObj name="Equation" r:id="rId7" imgW="4508500" imgH="927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590800"/>
                        <a:ext cx="4508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2"/>
          <p:cNvGraphicFramePr>
            <a:graphicFrameLocks noChangeAspect="1"/>
          </p:cNvGraphicFramePr>
          <p:nvPr/>
        </p:nvGraphicFramePr>
        <p:xfrm>
          <a:off x="4038600" y="3657600"/>
          <a:ext cx="4787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7" name="Equation" r:id="rId9" imgW="4787900" imgH="927100" progId="Equation.3">
                  <p:embed/>
                </p:oleObj>
              </mc:Choice>
              <mc:Fallback>
                <p:oleObj name="Equation" r:id="rId9" imgW="4787900" imgH="927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657600"/>
                        <a:ext cx="4787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3"/>
          <p:cNvGraphicFramePr>
            <a:graphicFrameLocks noChangeAspect="1"/>
          </p:cNvGraphicFramePr>
          <p:nvPr/>
        </p:nvGraphicFramePr>
        <p:xfrm>
          <a:off x="4724400" y="4648200"/>
          <a:ext cx="3352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8" name="Equation" r:id="rId11" imgW="3352800" imgH="927100" progId="Equation.3">
                  <p:embed/>
                </p:oleObj>
              </mc:Choice>
              <mc:Fallback>
                <p:oleObj name="Equation" r:id="rId11" imgW="3352800" imgH="927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648200"/>
                        <a:ext cx="3352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4"/>
          <p:cNvGraphicFramePr>
            <a:graphicFrameLocks noChangeAspect="1"/>
          </p:cNvGraphicFramePr>
          <p:nvPr/>
        </p:nvGraphicFramePr>
        <p:xfrm>
          <a:off x="4572000" y="5715000"/>
          <a:ext cx="3771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9" name="Equation" r:id="rId13" imgW="3771900" imgH="800100" progId="Equation.3">
                  <p:embed/>
                </p:oleObj>
              </mc:Choice>
              <mc:Fallback>
                <p:oleObj name="Equation" r:id="rId13" imgW="3771900" imgH="800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715000"/>
                        <a:ext cx="3771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Three-Point Bending</a:t>
            </a:r>
          </a:p>
        </p:txBody>
      </p:sp>
      <p:graphicFrame>
        <p:nvGraphicFramePr>
          <p:cNvPr id="88067" name="Object 1"/>
          <p:cNvGraphicFramePr>
            <a:graphicFrameLocks noChangeAspect="1"/>
          </p:cNvGraphicFramePr>
          <p:nvPr/>
        </p:nvGraphicFramePr>
        <p:xfrm>
          <a:off x="4029075" y="1628775"/>
          <a:ext cx="838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58" name="Equation" r:id="rId4" imgW="837836" imgH="317362" progId="Equation.3">
                  <p:embed/>
                </p:oleObj>
              </mc:Choice>
              <mc:Fallback>
                <p:oleObj name="Equation" r:id="rId4" imgW="837836" imgH="31736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1628775"/>
                        <a:ext cx="8382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068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988" y="2060575"/>
            <a:ext cx="2905125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8069" name="Object 1"/>
          <p:cNvGraphicFramePr>
            <a:graphicFrameLocks noChangeAspect="1"/>
          </p:cNvGraphicFramePr>
          <p:nvPr/>
        </p:nvGraphicFramePr>
        <p:xfrm>
          <a:off x="692150" y="2878138"/>
          <a:ext cx="1231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59" name="Equation" r:id="rId7" imgW="1231366" imgH="317362" progId="Equation.3">
                  <p:embed/>
                </p:oleObj>
              </mc:Choice>
              <mc:Fallback>
                <p:oleObj name="Equation" r:id="rId7" imgW="1231366" imgH="31736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2878138"/>
                        <a:ext cx="1231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1"/>
          <p:cNvGraphicFramePr>
            <a:graphicFrameLocks noChangeAspect="1"/>
          </p:cNvGraphicFramePr>
          <p:nvPr/>
        </p:nvGraphicFramePr>
        <p:xfrm>
          <a:off x="769938" y="2060575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0" name="Equation" r:id="rId9" imgW="1180588" imgH="317362" progId="Equation.3">
                  <p:embed/>
                </p:oleObj>
              </mc:Choice>
              <mc:Fallback>
                <p:oleObj name="Equation" r:id="rId9" imgW="1180588" imgH="31736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2060575"/>
                        <a:ext cx="1181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1"/>
          <p:cNvGraphicFramePr>
            <a:graphicFrameLocks noChangeAspect="1"/>
          </p:cNvGraphicFramePr>
          <p:nvPr/>
        </p:nvGraphicFramePr>
        <p:xfrm>
          <a:off x="469900" y="3806825"/>
          <a:ext cx="1930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1" name="Equation" r:id="rId11" imgW="1930400" imgH="355600" progId="Equation.3">
                  <p:embed/>
                </p:oleObj>
              </mc:Choice>
              <mc:Fallback>
                <p:oleObj name="Equation" r:id="rId11" imgW="19304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3806825"/>
                        <a:ext cx="1930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1"/>
          <p:cNvGraphicFramePr>
            <a:graphicFrameLocks noChangeAspect="1"/>
          </p:cNvGraphicFramePr>
          <p:nvPr/>
        </p:nvGraphicFramePr>
        <p:xfrm>
          <a:off x="450850" y="4675188"/>
          <a:ext cx="1968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2" name="Equation" r:id="rId13" imgW="1968500" imgH="355600" progId="Equation.3">
                  <p:embed/>
                </p:oleObj>
              </mc:Choice>
              <mc:Fallback>
                <p:oleObj name="Equation" r:id="rId13" imgW="19685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4675188"/>
                        <a:ext cx="1968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1"/>
          <p:cNvGraphicFramePr>
            <a:graphicFrameLocks noChangeAspect="1"/>
          </p:cNvGraphicFramePr>
          <p:nvPr/>
        </p:nvGraphicFramePr>
        <p:xfrm>
          <a:off x="6788150" y="1889125"/>
          <a:ext cx="1308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3" name="Equation" r:id="rId15" imgW="1307532" imgH="317362" progId="Equation.3">
                  <p:embed/>
                </p:oleObj>
              </mc:Choice>
              <mc:Fallback>
                <p:oleObj name="Equation" r:id="rId15" imgW="1307532" imgH="31736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1889125"/>
                        <a:ext cx="1308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1"/>
          <p:cNvGraphicFramePr>
            <a:graphicFrameLocks noChangeAspect="1"/>
          </p:cNvGraphicFramePr>
          <p:nvPr/>
        </p:nvGraphicFramePr>
        <p:xfrm>
          <a:off x="6346825" y="2563813"/>
          <a:ext cx="23749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4" name="Equation" r:id="rId17" imgW="2374900" imgH="965200" progId="Equation.3">
                  <p:embed/>
                </p:oleObj>
              </mc:Choice>
              <mc:Fallback>
                <p:oleObj name="Equation" r:id="rId17" imgW="2374900" imgH="965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6825" y="2563813"/>
                        <a:ext cx="23749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1"/>
          <p:cNvGraphicFramePr>
            <a:graphicFrameLocks noChangeAspect="1"/>
          </p:cNvGraphicFramePr>
          <p:nvPr/>
        </p:nvGraphicFramePr>
        <p:xfrm>
          <a:off x="5873750" y="3806825"/>
          <a:ext cx="3175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5" name="Equation" r:id="rId19" imgW="3175000" imgH="355600" progId="Equation.3">
                  <p:embed/>
                </p:oleObj>
              </mc:Choice>
              <mc:Fallback>
                <p:oleObj name="Equation" r:id="rId19" imgW="31750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3806825"/>
                        <a:ext cx="3175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"/>
          <p:cNvGraphicFramePr>
            <a:graphicFrameLocks noChangeAspect="1"/>
          </p:cNvGraphicFramePr>
          <p:nvPr/>
        </p:nvGraphicFramePr>
        <p:xfrm>
          <a:off x="5364163" y="4768850"/>
          <a:ext cx="3606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6" name="Equation" r:id="rId21" imgW="3606800" imgH="368300" progId="Equation.3">
                  <p:embed/>
                </p:oleObj>
              </mc:Choice>
              <mc:Fallback>
                <p:oleObj name="Equation" r:id="rId21" imgW="3606800" imgH="368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768850"/>
                        <a:ext cx="3606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TextBox 7"/>
          <p:cNvSpPr txBox="1">
            <a:spLocks noChangeArrowheads="1"/>
          </p:cNvSpPr>
          <p:nvPr/>
        </p:nvSpPr>
        <p:spPr bwMode="auto">
          <a:xfrm>
            <a:off x="323850" y="5308600"/>
            <a:ext cx="147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Slope at x=a</a:t>
            </a:r>
          </a:p>
        </p:txBody>
      </p:sp>
      <p:graphicFrame>
        <p:nvGraphicFramePr>
          <p:cNvPr id="88078" name="Object 1"/>
          <p:cNvGraphicFramePr>
            <a:graphicFrameLocks noChangeAspect="1"/>
          </p:cNvGraphicFramePr>
          <p:nvPr/>
        </p:nvGraphicFramePr>
        <p:xfrm>
          <a:off x="2206625" y="5356225"/>
          <a:ext cx="685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7" name="Equation" r:id="rId23" imgW="685502" imgH="266584" progId="Equation.3">
                  <p:embed/>
                </p:oleObj>
              </mc:Choice>
              <mc:Fallback>
                <p:oleObj name="Equation" r:id="rId23" imgW="685502" imgH="266584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5356225"/>
                        <a:ext cx="6858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9" name="TextBox 36"/>
          <p:cNvSpPr txBox="1">
            <a:spLocks noChangeArrowheads="1"/>
          </p:cNvSpPr>
          <p:nvPr/>
        </p:nvSpPr>
        <p:spPr bwMode="auto">
          <a:xfrm>
            <a:off x="3963988" y="5375275"/>
            <a:ext cx="1909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Deflection at x=a</a:t>
            </a:r>
          </a:p>
        </p:txBody>
      </p:sp>
      <p:graphicFrame>
        <p:nvGraphicFramePr>
          <p:cNvPr id="88080" name="Object 1"/>
          <p:cNvGraphicFramePr>
            <a:graphicFrameLocks noChangeAspect="1"/>
          </p:cNvGraphicFramePr>
          <p:nvPr/>
        </p:nvGraphicFramePr>
        <p:xfrm>
          <a:off x="6402388" y="5453063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8" name="Equation" r:id="rId25" imgW="571252" imgH="279279" progId="Equation.3">
                  <p:embed/>
                </p:oleObj>
              </mc:Choice>
              <mc:Fallback>
                <p:oleObj name="Equation" r:id="rId25" imgW="571252" imgH="27927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2388" y="5453063"/>
                        <a:ext cx="571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1" name="TextBox 38"/>
          <p:cNvSpPr txBox="1">
            <a:spLocks noChangeArrowheads="1"/>
          </p:cNvSpPr>
          <p:nvPr/>
        </p:nvSpPr>
        <p:spPr bwMode="auto">
          <a:xfrm>
            <a:off x="296863" y="6207125"/>
            <a:ext cx="1909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Deflection at x=L</a:t>
            </a:r>
          </a:p>
        </p:txBody>
      </p:sp>
      <p:graphicFrame>
        <p:nvGraphicFramePr>
          <p:cNvPr id="88082" name="Object 1"/>
          <p:cNvGraphicFramePr>
            <a:graphicFrameLocks noChangeAspect="1"/>
          </p:cNvGraphicFramePr>
          <p:nvPr/>
        </p:nvGraphicFramePr>
        <p:xfrm>
          <a:off x="3371850" y="5937250"/>
          <a:ext cx="2400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9" name="Equation" r:id="rId27" imgW="2400300" imgH="355600" progId="Equation.3">
                  <p:embed/>
                </p:oleObj>
              </mc:Choice>
              <mc:Fallback>
                <p:oleObj name="Equation" r:id="rId27" imgW="24003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5937250"/>
                        <a:ext cx="2400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83" name="Object 1"/>
          <p:cNvGraphicFramePr>
            <a:graphicFrameLocks noChangeAspect="1"/>
          </p:cNvGraphicFramePr>
          <p:nvPr/>
        </p:nvGraphicFramePr>
        <p:xfrm>
          <a:off x="2741613" y="6399213"/>
          <a:ext cx="4356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70" name="Equation" r:id="rId29" imgW="4356100" imgH="355600" progId="Equation.3">
                  <p:embed/>
                </p:oleObj>
              </mc:Choice>
              <mc:Fallback>
                <p:oleObj name="Equation" r:id="rId29" imgW="43561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6399213"/>
                        <a:ext cx="4356100" cy="3556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331913" y="2878138"/>
            <a:ext cx="619125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056438" y="3243263"/>
            <a:ext cx="1476375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1060450" y="3787775"/>
            <a:ext cx="1358900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6437313" y="3811588"/>
            <a:ext cx="2611437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001713" y="4678363"/>
            <a:ext cx="1417637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926138" y="4765675"/>
            <a:ext cx="3044825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Three-Point Bending</a:t>
            </a:r>
          </a:p>
        </p:txBody>
      </p:sp>
      <p:pic>
        <p:nvPicPr>
          <p:cNvPr id="9011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639888"/>
            <a:ext cx="2903538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0116" name="Object 1"/>
          <p:cNvGraphicFramePr>
            <a:graphicFrameLocks noChangeAspect="1"/>
          </p:cNvGraphicFramePr>
          <p:nvPr/>
        </p:nvGraphicFramePr>
        <p:xfrm>
          <a:off x="179388" y="4584700"/>
          <a:ext cx="5524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69" name="Equation" r:id="rId5" imgW="5524500" imgH="355600" progId="Equation.3">
                  <p:embed/>
                </p:oleObj>
              </mc:Choice>
              <mc:Fallback>
                <p:oleObj name="Equation" r:id="rId5" imgW="55245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584700"/>
                        <a:ext cx="5524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1"/>
          <p:cNvGraphicFramePr>
            <a:graphicFrameLocks noChangeAspect="1"/>
          </p:cNvGraphicFramePr>
          <p:nvPr/>
        </p:nvGraphicFramePr>
        <p:xfrm>
          <a:off x="4727575" y="5300663"/>
          <a:ext cx="3822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0" name="Equation" r:id="rId7" imgW="3822700" imgH="355600" progId="Equation.3">
                  <p:embed/>
                </p:oleObj>
              </mc:Choice>
              <mc:Fallback>
                <p:oleObj name="Equation" r:id="rId7" imgW="38227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5" y="5300663"/>
                        <a:ext cx="3822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>
            <a:off x="1835150" y="2708275"/>
            <a:ext cx="2520950" cy="16970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364163" y="2636838"/>
            <a:ext cx="1779587" cy="25209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120" name="Object 2049"/>
          <p:cNvGraphicFramePr>
            <a:graphicFrameLocks noChangeAspect="1"/>
          </p:cNvGraphicFramePr>
          <p:nvPr/>
        </p:nvGraphicFramePr>
        <p:xfrm>
          <a:off x="1393825" y="6007100"/>
          <a:ext cx="340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1" name="Equation" r:id="rId9" imgW="3403600" imgH="825500" progId="Equation.3">
                  <p:embed/>
                </p:oleObj>
              </mc:Choice>
              <mc:Fallback>
                <p:oleObj name="Equation" r:id="rId9" imgW="3403600" imgH="825500" progId="Equation.3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6007100"/>
                        <a:ext cx="3403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1" name="TextBox 6"/>
          <p:cNvSpPr txBox="1">
            <a:spLocks noChangeArrowheads="1"/>
          </p:cNvSpPr>
          <p:nvPr/>
        </p:nvSpPr>
        <p:spPr bwMode="auto">
          <a:xfrm>
            <a:off x="292100" y="63246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a=b: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11188" y="5145088"/>
            <a:ext cx="0" cy="10223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23" name="TextBox 9"/>
          <p:cNvSpPr txBox="1">
            <a:spLocks noChangeArrowheads="1"/>
          </p:cNvSpPr>
          <p:nvPr/>
        </p:nvSpPr>
        <p:spPr bwMode="auto">
          <a:xfrm>
            <a:off x="5389563" y="6324600"/>
            <a:ext cx="8651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middle</a:t>
            </a:r>
          </a:p>
        </p:txBody>
      </p:sp>
      <p:graphicFrame>
        <p:nvGraphicFramePr>
          <p:cNvPr id="90124" name="Object 2049"/>
          <p:cNvGraphicFramePr>
            <a:graphicFrameLocks noChangeAspect="1"/>
          </p:cNvGraphicFramePr>
          <p:nvPr/>
        </p:nvGraphicFramePr>
        <p:xfrm>
          <a:off x="7697788" y="6072188"/>
          <a:ext cx="1054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272" name="Equation" r:id="rId11" imgW="1054100" imgH="596900" progId="Equation.3">
                  <p:embed/>
                </p:oleObj>
              </mc:Choice>
              <mc:Fallback>
                <p:oleObj name="Equation" r:id="rId11" imgW="1054100" imgH="596900" progId="Equation.3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7788" y="6072188"/>
                        <a:ext cx="10541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by Superposition</a:t>
            </a:r>
          </a:p>
        </p:txBody>
      </p:sp>
      <p:pic>
        <p:nvPicPr>
          <p:cNvPr id="92163" name="Picture 2051" descr="E:\MechanoLink\Gere-5e\Images\Chapter 9\Chapter 9 Figures\GERE_0938_f9_16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285273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2164" name="Object 2048"/>
          <p:cNvGraphicFramePr>
            <a:graphicFrameLocks noChangeAspect="1"/>
          </p:cNvGraphicFramePr>
          <p:nvPr/>
        </p:nvGraphicFramePr>
        <p:xfrm>
          <a:off x="3911600" y="2489200"/>
          <a:ext cx="4038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5" name="Equation" r:id="rId5" imgW="4038600" imgH="825500" progId="Equation.3">
                  <p:embed/>
                </p:oleObj>
              </mc:Choice>
              <mc:Fallback>
                <p:oleObj name="Equation" r:id="rId5" imgW="4038600" imgH="82550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2489200"/>
                        <a:ext cx="4038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2049"/>
          <p:cNvGraphicFramePr>
            <a:graphicFrameLocks noChangeAspect="1"/>
          </p:cNvGraphicFramePr>
          <p:nvPr/>
        </p:nvGraphicFramePr>
        <p:xfrm>
          <a:off x="4267200" y="4114800"/>
          <a:ext cx="340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6" name="Equation" r:id="rId7" imgW="3403600" imgH="825500" progId="Equation.3">
                  <p:embed/>
                </p:oleObj>
              </mc:Choice>
              <mc:Fallback>
                <p:oleObj name="Equation" r:id="rId7" imgW="3403600" imgH="825500" progId="Equation.3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14800"/>
                        <a:ext cx="3403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1"/>
          <p:cNvGraphicFramePr>
            <a:graphicFrameLocks noChangeAspect="1"/>
          </p:cNvGraphicFramePr>
          <p:nvPr/>
        </p:nvGraphicFramePr>
        <p:xfrm>
          <a:off x="3595688" y="5741988"/>
          <a:ext cx="5524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7" name="Equation" r:id="rId9" imgW="5524500" imgH="355600" progId="Equation.3">
                  <p:embed/>
                </p:oleObj>
              </mc:Choice>
              <mc:Fallback>
                <p:oleObj name="Equation" r:id="rId9" imgW="55245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8" y="5741988"/>
                        <a:ext cx="5524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Four-Point Bending</a:t>
            </a:r>
          </a:p>
        </p:txBody>
      </p:sp>
      <p:pic>
        <p:nvPicPr>
          <p:cNvPr id="94211" name="Picture 2" descr="4-point flexure.png">
            <a:hlinkClick r:id="rId4" tooltip="4-point_flexure.png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0213"/>
            <a:ext cx="496252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4212" name="Object 1"/>
          <p:cNvGraphicFramePr>
            <a:graphicFrameLocks noChangeAspect="1"/>
          </p:cNvGraphicFramePr>
          <p:nvPr/>
        </p:nvGraphicFramePr>
        <p:xfrm>
          <a:off x="285750" y="4937125"/>
          <a:ext cx="2667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3" name="Equation" r:id="rId6" imgW="2667000" imgH="355600" progId="Equation.3">
                  <p:embed/>
                </p:oleObj>
              </mc:Choice>
              <mc:Fallback>
                <p:oleObj name="Equation" r:id="rId6" imgW="26670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937125"/>
                        <a:ext cx="2667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3" name="Object 1"/>
          <p:cNvGraphicFramePr>
            <a:graphicFrameLocks noChangeAspect="1"/>
          </p:cNvGraphicFramePr>
          <p:nvPr/>
        </p:nvGraphicFramePr>
        <p:xfrm>
          <a:off x="3675063" y="4941888"/>
          <a:ext cx="3822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4" name="Equation" r:id="rId8" imgW="3822700" imgH="355600" progId="Equation.3">
                  <p:embed/>
                </p:oleObj>
              </mc:Choice>
              <mc:Fallback>
                <p:oleObj name="Equation" r:id="rId8" imgW="38227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5063" y="4941888"/>
                        <a:ext cx="3822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4" name="Object 1"/>
          <p:cNvGraphicFramePr>
            <a:graphicFrameLocks noChangeAspect="1"/>
          </p:cNvGraphicFramePr>
          <p:nvPr/>
        </p:nvGraphicFramePr>
        <p:xfrm>
          <a:off x="1387475" y="5637213"/>
          <a:ext cx="5537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5" name="Equation" r:id="rId10" imgW="5537200" imgH="406400" progId="Equation.3">
                  <p:embed/>
                </p:oleObj>
              </mc:Choice>
              <mc:Fallback>
                <p:oleObj name="Equation" r:id="rId10" imgW="5537200" imgH="406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5637213"/>
                        <a:ext cx="5537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1"/>
          <p:cNvGraphicFramePr>
            <a:graphicFrameLocks noChangeAspect="1"/>
          </p:cNvGraphicFramePr>
          <p:nvPr/>
        </p:nvGraphicFramePr>
        <p:xfrm>
          <a:off x="1385888" y="6232525"/>
          <a:ext cx="3987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76" name="Equation" r:id="rId12" imgW="3987800" imgH="419100" progId="Equation.3">
                  <p:embed/>
                </p:oleObj>
              </mc:Choice>
              <mc:Fallback>
                <p:oleObj name="Equation" r:id="rId12" imgW="39878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888" y="6232525"/>
                        <a:ext cx="3987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6" name="Group 7"/>
          <p:cNvGrpSpPr>
            <a:grpSpLocks/>
          </p:cNvGrpSpPr>
          <p:nvPr/>
        </p:nvGrpSpPr>
        <p:grpSpPr bwMode="auto">
          <a:xfrm>
            <a:off x="5867400" y="1987550"/>
            <a:ext cx="2890838" cy="2160588"/>
            <a:chOff x="5796136" y="1916832"/>
            <a:chExt cx="2890664" cy="2160240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5796136" y="2708867"/>
              <a:ext cx="289066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796136" y="4077072"/>
              <a:ext cx="289066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>
              <a:off x="6496182" y="1916832"/>
              <a:ext cx="0" cy="7206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7956594" y="3175517"/>
              <a:ext cx="0" cy="72060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225" name="TextBox 6"/>
            <p:cNvSpPr txBox="1">
              <a:spLocks noChangeArrowheads="1"/>
            </p:cNvSpPr>
            <p:nvPr/>
          </p:nvSpPr>
          <p:spPr bwMode="auto">
            <a:xfrm>
              <a:off x="6084168" y="2193357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a</a:t>
              </a:r>
            </a:p>
          </p:txBody>
        </p:sp>
        <p:sp>
          <p:nvSpPr>
            <p:cNvPr id="94226" name="TextBox 23"/>
            <p:cNvSpPr txBox="1">
              <a:spLocks noChangeArrowheads="1"/>
            </p:cNvSpPr>
            <p:nvPr/>
          </p:nvSpPr>
          <p:spPr bwMode="auto">
            <a:xfrm>
              <a:off x="7639744" y="2193357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b</a:t>
              </a:r>
            </a:p>
          </p:txBody>
        </p:sp>
        <p:sp>
          <p:nvSpPr>
            <p:cNvPr id="94227" name="TextBox 24"/>
            <p:cNvSpPr txBox="1">
              <a:spLocks noChangeArrowheads="1"/>
            </p:cNvSpPr>
            <p:nvPr/>
          </p:nvSpPr>
          <p:spPr bwMode="auto">
            <a:xfrm>
              <a:off x="6660232" y="3448303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b</a:t>
              </a:r>
            </a:p>
          </p:txBody>
        </p:sp>
        <p:sp>
          <p:nvSpPr>
            <p:cNvPr id="94228" name="TextBox 28"/>
            <p:cNvSpPr txBox="1">
              <a:spLocks noChangeArrowheads="1"/>
            </p:cNvSpPr>
            <p:nvPr/>
          </p:nvSpPr>
          <p:spPr bwMode="auto">
            <a:xfrm>
              <a:off x="8094302" y="3459189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a</a:t>
              </a:r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7164388" y="1844675"/>
            <a:ext cx="0" cy="2874963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218" name="TextBox 4"/>
          <p:cNvSpPr txBox="1">
            <a:spLocks noChangeArrowheads="1"/>
          </p:cNvSpPr>
          <p:nvPr/>
        </p:nvSpPr>
        <p:spPr bwMode="auto">
          <a:xfrm>
            <a:off x="7346950" y="4629150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x</a:t>
            </a:r>
          </a:p>
        </p:txBody>
      </p:sp>
      <p:sp>
        <p:nvSpPr>
          <p:cNvPr id="94219" name="TextBox 6"/>
          <p:cNvSpPr txBox="1">
            <a:spLocks noChangeArrowheads="1"/>
          </p:cNvSpPr>
          <p:nvPr/>
        </p:nvSpPr>
        <p:spPr bwMode="auto">
          <a:xfrm>
            <a:off x="5724525" y="1844675"/>
            <a:ext cx="46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(1)</a:t>
            </a:r>
          </a:p>
        </p:txBody>
      </p:sp>
      <p:sp>
        <p:nvSpPr>
          <p:cNvPr id="94220" name="TextBox 20"/>
          <p:cNvSpPr txBox="1">
            <a:spLocks noChangeArrowheads="1"/>
          </p:cNvSpPr>
          <p:nvPr/>
        </p:nvSpPr>
        <p:spPr bwMode="auto">
          <a:xfrm>
            <a:off x="5749925" y="3649663"/>
            <a:ext cx="466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Bonus Quiz</a:t>
            </a:r>
          </a:p>
        </p:txBody>
      </p:sp>
      <p:grpSp>
        <p:nvGrpSpPr>
          <p:cNvPr id="98307" name="Group 11"/>
          <p:cNvGrpSpPr>
            <a:grpSpLocks/>
          </p:cNvGrpSpPr>
          <p:nvPr/>
        </p:nvGrpSpPr>
        <p:grpSpPr bwMode="auto">
          <a:xfrm>
            <a:off x="300038" y="2373313"/>
            <a:ext cx="3724275" cy="2187575"/>
            <a:chOff x="683568" y="1960754"/>
            <a:chExt cx="3724275" cy="2188326"/>
          </a:xfrm>
        </p:grpSpPr>
        <p:pic>
          <p:nvPicPr>
            <p:cNvPr id="98311" name="Picture 3" descr="E:\MechanoLink\Gere-5e\Images\Chapter 9\Chapter 9 Figures\GERE_0936_f9_14.BMP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325"/>
            <a:stretch>
              <a:fillRect/>
            </a:stretch>
          </p:blipFill>
          <p:spPr bwMode="auto">
            <a:xfrm>
              <a:off x="683568" y="2132856"/>
              <a:ext cx="3724275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828030" y="2157672"/>
              <a:ext cx="2879725" cy="11529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5" name="Straight Arrow Connector 4"/>
            <p:cNvCxnSpPr/>
            <p:nvPr/>
          </p:nvCxnSpPr>
          <p:spPr>
            <a:xfrm>
              <a:off x="2844155" y="2421287"/>
              <a:ext cx="0" cy="8893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314" name="TextBox 5"/>
            <p:cNvSpPr txBox="1">
              <a:spLocks noChangeArrowheads="1"/>
            </p:cNvSpPr>
            <p:nvPr/>
          </p:nvSpPr>
          <p:spPr bwMode="auto">
            <a:xfrm>
              <a:off x="2674531" y="1960754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P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115368" y="3105734"/>
              <a:ext cx="172878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316" name="TextBox 9"/>
            <p:cNvSpPr txBox="1">
              <a:spLocks noChangeArrowheads="1"/>
            </p:cNvSpPr>
            <p:nvPr/>
          </p:nvSpPr>
          <p:spPr bwMode="auto">
            <a:xfrm>
              <a:off x="1724785" y="2715671"/>
              <a:ext cx="2629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i="1"/>
                <a:t>a</a:t>
              </a:r>
            </a:p>
          </p:txBody>
        </p:sp>
      </p:grpSp>
      <p:sp>
        <p:nvSpPr>
          <p:cNvPr id="98308" name="TextBox 10"/>
          <p:cNvSpPr txBox="1">
            <a:spLocks noChangeArrowheads="1"/>
          </p:cNvSpPr>
          <p:nvPr/>
        </p:nvSpPr>
        <p:spPr bwMode="auto">
          <a:xfrm>
            <a:off x="309563" y="5530850"/>
            <a:ext cx="3148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Determine deflection curve</a:t>
            </a:r>
          </a:p>
        </p:txBody>
      </p:sp>
      <p:graphicFrame>
        <p:nvGraphicFramePr>
          <p:cNvPr id="15" name="Object 1"/>
          <p:cNvGraphicFramePr>
            <a:graphicFrameLocks noChangeAspect="1"/>
          </p:cNvGraphicFramePr>
          <p:nvPr/>
        </p:nvGraphicFramePr>
        <p:xfrm>
          <a:off x="4846638" y="1800225"/>
          <a:ext cx="28321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9" name="Equation" r:id="rId5" imgW="2832100" imgH="1828800" progId="Equation.3">
                  <p:embed/>
                </p:oleObj>
              </mc:Choice>
              <mc:Fallback>
                <p:oleObj name="Equation" r:id="rId5" imgW="2832100" imgH="1828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1800225"/>
                        <a:ext cx="28321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"/>
          <p:cNvGraphicFramePr>
            <a:graphicFrameLocks noChangeAspect="1"/>
          </p:cNvGraphicFramePr>
          <p:nvPr/>
        </p:nvGraphicFramePr>
        <p:xfrm>
          <a:off x="3792538" y="4578350"/>
          <a:ext cx="50927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90" name="Equation" r:id="rId7" imgW="5092700" imgH="1905000" progId="Equation.3">
                  <p:embed/>
                </p:oleObj>
              </mc:Choice>
              <mc:Fallback>
                <p:oleObj name="Equation" r:id="rId7" imgW="5092700" imgH="19050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4578350"/>
                        <a:ext cx="50927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4" t="23958" r="37334" b="29167"/>
          <a:stretch>
            <a:fillRect/>
          </a:stretch>
        </p:blipFill>
        <p:spPr bwMode="auto">
          <a:xfrm>
            <a:off x="250825" y="1743075"/>
            <a:ext cx="63119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0355" name="Object 2"/>
          <p:cNvGraphicFramePr>
            <a:graphicFrameLocks noChangeAspect="1"/>
          </p:cNvGraphicFramePr>
          <p:nvPr/>
        </p:nvGraphicFramePr>
        <p:xfrm>
          <a:off x="568325" y="5932488"/>
          <a:ext cx="850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97" name="Equation" r:id="rId4" imgW="850531" imgH="622030" progId="Equation.3">
                  <p:embed/>
                </p:oleObj>
              </mc:Choice>
              <mc:Fallback>
                <p:oleObj name="Equation" r:id="rId4" imgW="850531" imgH="6220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5932488"/>
                        <a:ext cx="850900" cy="6223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0356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5" y="5662613"/>
            <a:ext cx="2570163" cy="1044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TextBox 5"/>
          <p:cNvSpPr txBox="1">
            <a:spLocks noChangeArrowheads="1"/>
          </p:cNvSpPr>
          <p:nvPr/>
        </p:nvSpPr>
        <p:spPr bwMode="auto">
          <a:xfrm>
            <a:off x="1828800" y="6057900"/>
            <a:ext cx="108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2.73 N/m</a:t>
            </a:r>
          </a:p>
        </p:txBody>
      </p:sp>
      <p:sp>
        <p:nvSpPr>
          <p:cNvPr id="100358" name="TextBox 6"/>
          <p:cNvSpPr txBox="1">
            <a:spLocks noChangeArrowheads="1"/>
          </p:cNvSpPr>
          <p:nvPr/>
        </p:nvSpPr>
        <p:spPr bwMode="auto">
          <a:xfrm>
            <a:off x="8086725" y="6184900"/>
            <a:ext cx="998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69.7 kHz</a:t>
            </a:r>
          </a:p>
        </p:txBody>
      </p:sp>
      <p:pic>
        <p:nvPicPr>
          <p:cNvPr id="100359" name="Picture 21" descr="Image result for afm cantilev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2300288"/>
            <a:ext cx="4286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smtClean="0"/>
              <a:t>AFM Cantilever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What If?</a:t>
            </a:r>
          </a:p>
        </p:txBody>
      </p:sp>
      <p:pic>
        <p:nvPicPr>
          <p:cNvPr id="96259" name="Picture 4" descr="E:\MechanoLink\Gere-5e\Images\Chapter 9\Chapter 9 Figures\GERE_0958_f9_36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989138"/>
            <a:ext cx="393223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Strain Energy of Pure Bending</a:t>
            </a:r>
          </a:p>
        </p:txBody>
      </p:sp>
      <p:pic>
        <p:nvPicPr>
          <p:cNvPr id="101379" name="Picture 3" descr="E:\MechanoLink\Gere-5e\Images\Chapter 9\Chapter 9 Figures\GERE_0953_f9_31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429000"/>
            <a:ext cx="3886200" cy="310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4" descr="E:\MechanoLink\Gere-5e\Images\CHapter 5\Chapter 5 Figures\GERE_0489_f5_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6400"/>
            <a:ext cx="4419600" cy="333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1381" name="Object 1024"/>
          <p:cNvGraphicFramePr>
            <a:graphicFrameLocks noChangeAspect="1"/>
          </p:cNvGraphicFramePr>
          <p:nvPr/>
        </p:nvGraphicFramePr>
        <p:xfrm>
          <a:off x="990600" y="2057400"/>
          <a:ext cx="2463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55" name="Equation" r:id="rId6" imgW="2463800" imgH="901700" progId="Equation.3">
                  <p:embed/>
                </p:oleObj>
              </mc:Choice>
              <mc:Fallback>
                <p:oleObj name="Equation" r:id="rId6" imgW="2463800" imgH="9017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057400"/>
                        <a:ext cx="24638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1025"/>
          <p:cNvGraphicFramePr>
            <a:graphicFrameLocks noChangeAspect="1"/>
          </p:cNvGraphicFramePr>
          <p:nvPr/>
        </p:nvGraphicFramePr>
        <p:xfrm>
          <a:off x="5029200" y="5257800"/>
          <a:ext cx="256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56" name="Equation" r:id="rId8" imgW="2565400" imgH="927100" progId="Equation.3">
                  <p:embed/>
                </p:oleObj>
              </mc:Choice>
              <mc:Fallback>
                <p:oleObj name="Equation" r:id="rId8" imgW="2565400" imgH="9271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257800"/>
                        <a:ext cx="2565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Strain Energy of Bending</a:t>
            </a:r>
          </a:p>
        </p:txBody>
      </p:sp>
      <p:pic>
        <p:nvPicPr>
          <p:cNvPr id="103427" name="Picture 3" descr="E:\MechanoLink\Gere-5e\Images\Chapter 9\Chapter 9 Figures\GERE_0954_f9_32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39624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3428" name="Object 1024"/>
          <p:cNvGraphicFramePr>
            <a:graphicFrameLocks noChangeAspect="1"/>
          </p:cNvGraphicFramePr>
          <p:nvPr/>
        </p:nvGraphicFramePr>
        <p:xfrm>
          <a:off x="5105400" y="1981200"/>
          <a:ext cx="256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2" name="Equation" r:id="rId5" imgW="2565400" imgH="927100" progId="Equation.3">
                  <p:embed/>
                </p:oleObj>
              </mc:Choice>
              <mc:Fallback>
                <p:oleObj name="Equation" r:id="rId5" imgW="2565400" imgH="9271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981200"/>
                        <a:ext cx="2565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1025"/>
          <p:cNvGraphicFramePr>
            <a:graphicFrameLocks noChangeAspect="1"/>
          </p:cNvGraphicFramePr>
          <p:nvPr/>
        </p:nvGraphicFramePr>
        <p:xfrm>
          <a:off x="4419600" y="4191000"/>
          <a:ext cx="3784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3" name="Equation" r:id="rId7" imgW="3784600" imgH="927100" progId="Equation.3">
                  <p:embed/>
                </p:oleObj>
              </mc:Choice>
              <mc:Fallback>
                <p:oleObj name="Equation" r:id="rId7" imgW="3784600" imgH="9271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191000"/>
                        <a:ext cx="3784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Strain Energy of Bending</a:t>
            </a:r>
          </a:p>
        </p:txBody>
      </p:sp>
      <p:pic>
        <p:nvPicPr>
          <p:cNvPr id="105475" name="Picture 1027" descr="E:\MechanoLink\Gere-5e\Images\Chapter 9\Chapter 9 Figures\GERE_0955_f9_3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4572000" cy="25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5476" name="Object 1024"/>
          <p:cNvGraphicFramePr>
            <a:graphicFrameLocks noChangeAspect="1"/>
          </p:cNvGraphicFramePr>
          <p:nvPr/>
        </p:nvGraphicFramePr>
        <p:xfrm>
          <a:off x="5105400" y="2286000"/>
          <a:ext cx="2628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7" name="Equation" r:id="rId5" imgW="2628900" imgH="927100" progId="Equation.3">
                  <p:embed/>
                </p:oleObj>
              </mc:Choice>
              <mc:Fallback>
                <p:oleObj name="Equation" r:id="rId5" imgW="2628900" imgH="9271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286000"/>
                        <a:ext cx="2628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1025"/>
          <p:cNvGraphicFramePr>
            <a:graphicFrameLocks noChangeAspect="1"/>
          </p:cNvGraphicFramePr>
          <p:nvPr/>
        </p:nvGraphicFramePr>
        <p:xfrm>
          <a:off x="3203575" y="5516563"/>
          <a:ext cx="302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8" name="Equation" r:id="rId7" imgW="3022600" imgH="927100" progId="Equation.3">
                  <p:embed/>
                </p:oleObj>
              </mc:Choice>
              <mc:Fallback>
                <p:oleObj name="Equation" r:id="rId7" imgW="3022600" imgH="9271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516563"/>
                        <a:ext cx="302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1026"/>
          <p:cNvGraphicFramePr>
            <a:graphicFrameLocks noChangeAspect="1"/>
          </p:cNvGraphicFramePr>
          <p:nvPr/>
        </p:nvGraphicFramePr>
        <p:xfrm>
          <a:off x="5410200" y="3810000"/>
          <a:ext cx="213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9" name="Equation" r:id="rId9" imgW="2133600" imgH="825500" progId="Equation.3">
                  <p:embed/>
                </p:oleObj>
              </mc:Choice>
              <mc:Fallback>
                <p:oleObj name="Equation" r:id="rId9" imgW="2133600" imgH="8255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810000"/>
                        <a:ext cx="21336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16" y="2348880"/>
            <a:ext cx="734016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3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818" t="32500" r="24321" b="17500"/>
          <a:stretch/>
        </p:blipFill>
        <p:spPr>
          <a:xfrm>
            <a:off x="1187624" y="1944681"/>
            <a:ext cx="4320480" cy="14401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875" y="4293096"/>
            <a:ext cx="2258434" cy="16561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27" y="1899408"/>
            <a:ext cx="2544282" cy="2088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29027"/>
            <a:ext cx="5342015" cy="178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5105400" y="1828800"/>
            <a:ext cx="3505200" cy="1066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Castigliano’s Theorem</a:t>
            </a:r>
          </a:p>
        </p:txBody>
      </p:sp>
      <p:pic>
        <p:nvPicPr>
          <p:cNvPr id="107524" name="Picture 4" descr="E:\MechanoLink\Gere-5e\Images\Chapter 9\Chapter 9 Figures\GERE_0958_f9_36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393223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7525" name="Object 0"/>
          <p:cNvGraphicFramePr>
            <a:graphicFrameLocks noChangeAspect="1"/>
          </p:cNvGraphicFramePr>
          <p:nvPr/>
        </p:nvGraphicFramePr>
        <p:xfrm>
          <a:off x="5257800" y="1905000"/>
          <a:ext cx="118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00" name="Equation" r:id="rId5" imgW="1181100" imgH="914400" progId="Equation.3">
                  <p:embed/>
                </p:oleObj>
              </mc:Choice>
              <mc:Fallback>
                <p:oleObj name="Equation" r:id="rId5" imgW="1181100" imgH="9144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905000"/>
                        <a:ext cx="1181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4637088" y="3573463"/>
            <a:ext cx="4506912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When forces act on a elastic system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subject to small displacements,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displacement corresponding to any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force, collinear with the force, is equal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to the partial derivative of the total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strain energy with respect to that force.</a:t>
            </a:r>
          </a:p>
        </p:txBody>
      </p:sp>
      <p:graphicFrame>
        <p:nvGraphicFramePr>
          <p:cNvPr id="107527" name="Object 1"/>
          <p:cNvGraphicFramePr>
            <a:graphicFrameLocks noChangeAspect="1"/>
          </p:cNvGraphicFramePr>
          <p:nvPr/>
        </p:nvGraphicFramePr>
        <p:xfrm>
          <a:off x="7239000" y="1905000"/>
          <a:ext cx="1308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01" name="Equation" r:id="rId7" imgW="1308100" imgH="914400" progId="Equation.3">
                  <p:embed/>
                </p:oleObj>
              </mc:Choice>
              <mc:Fallback>
                <p:oleObj name="Equation" r:id="rId7" imgW="1308100" imgH="914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905000"/>
                        <a:ext cx="1308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Application</a:t>
            </a:r>
          </a:p>
        </p:txBody>
      </p:sp>
      <p:pic>
        <p:nvPicPr>
          <p:cNvPr id="109571" name="Picture 3" descr="E:\MechanoLink\Gere-5e\Images\Chapter 9\Chapter 9 Figures\GERE_0962_f9_4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39624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4572000" y="2609850"/>
          <a:ext cx="3365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4" name="Equation" r:id="rId5" imgW="3365500" imgH="927100" progId="Equation.3">
                  <p:embed/>
                </p:oleObj>
              </mc:Choice>
              <mc:Fallback>
                <p:oleObj name="Equation" r:id="rId5" imgW="3365500" imgH="927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09850"/>
                        <a:ext cx="3365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2133600" y="4308475"/>
          <a:ext cx="4953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5" name="Equation" r:id="rId7" imgW="4953000" imgH="787400" progId="Equation.3">
                  <p:embed/>
                </p:oleObj>
              </mc:Choice>
              <mc:Fallback>
                <p:oleObj name="Equation" r:id="rId7" imgW="4953000" imgH="787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308475"/>
                        <a:ext cx="4953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6"/>
          <p:cNvGraphicFramePr>
            <a:graphicFrameLocks noChangeAspect="1"/>
          </p:cNvGraphicFramePr>
          <p:nvPr/>
        </p:nvGraphicFramePr>
        <p:xfrm>
          <a:off x="2484438" y="5451475"/>
          <a:ext cx="3619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86" name="Equation" r:id="rId9" imgW="3619500" imgH="927100" progId="Equation.3">
                  <p:embed/>
                </p:oleObj>
              </mc:Choice>
              <mc:Fallback>
                <p:oleObj name="Equation" r:id="rId9" imgW="3619500" imgH="927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451475"/>
                        <a:ext cx="3619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5" name="TextBox 1"/>
          <p:cNvSpPr txBox="1">
            <a:spLocks noChangeArrowheads="1"/>
          </p:cNvSpPr>
          <p:nvPr/>
        </p:nvSpPr>
        <p:spPr bwMode="auto">
          <a:xfrm>
            <a:off x="4572000" y="2060575"/>
            <a:ext cx="1082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Left half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Modified Castigliano’s Theorem </a:t>
            </a:r>
          </a:p>
        </p:txBody>
      </p:sp>
      <p:graphicFrame>
        <p:nvGraphicFramePr>
          <p:cNvPr id="111619" name="Object 1024"/>
          <p:cNvGraphicFramePr>
            <a:graphicFrameLocks noChangeAspect="1"/>
          </p:cNvGraphicFramePr>
          <p:nvPr/>
        </p:nvGraphicFramePr>
        <p:xfrm>
          <a:off x="1700213" y="1674813"/>
          <a:ext cx="4978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68" name="Equation" r:id="rId4" imgW="4978400" imgH="1016000" progId="Equation.3">
                  <p:embed/>
                </p:oleObj>
              </mc:Choice>
              <mc:Fallback>
                <p:oleObj name="Equation" r:id="rId4" imgW="4978400" imgH="10160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1674813"/>
                        <a:ext cx="4978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1026"/>
          <p:cNvGraphicFramePr>
            <a:graphicFrameLocks noChangeAspect="1"/>
          </p:cNvGraphicFramePr>
          <p:nvPr/>
        </p:nvGraphicFramePr>
        <p:xfrm>
          <a:off x="5867400" y="3490913"/>
          <a:ext cx="1295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69" name="Equation" r:id="rId6" imgW="1295400" imgH="711200" progId="Equation.3">
                  <p:embed/>
                </p:oleObj>
              </mc:Choice>
              <mc:Fallback>
                <p:oleObj name="Equation" r:id="rId6" imgW="1295400" imgH="7112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490913"/>
                        <a:ext cx="12954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1027"/>
          <p:cNvGraphicFramePr>
            <a:graphicFrameLocks noChangeAspect="1"/>
          </p:cNvGraphicFramePr>
          <p:nvPr/>
        </p:nvGraphicFramePr>
        <p:xfrm>
          <a:off x="4646613" y="5229225"/>
          <a:ext cx="4064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0" name="Equation" r:id="rId8" imgW="4064000" imgH="838200" progId="Equation.3">
                  <p:embed/>
                </p:oleObj>
              </mc:Choice>
              <mc:Fallback>
                <p:oleObj name="Equation" r:id="rId8" imgW="4064000" imgH="83820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5229225"/>
                        <a:ext cx="4064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1622" name="Picture 3" descr="E:\MechanoLink\Gere-5e\Images\Chapter 9\Chapter 9 Figures\GERE_0962_f9_40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059113"/>
            <a:ext cx="3962400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1623" name="Object 4"/>
          <p:cNvGraphicFramePr>
            <a:graphicFrameLocks noChangeAspect="1"/>
          </p:cNvGraphicFramePr>
          <p:nvPr/>
        </p:nvGraphicFramePr>
        <p:xfrm>
          <a:off x="622300" y="5711825"/>
          <a:ext cx="3365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1" name="Equation" r:id="rId11" imgW="3365500" imgH="927100" progId="Equation.3">
                  <p:embed/>
                </p:oleObj>
              </mc:Choice>
              <mc:Fallback>
                <p:oleObj name="Equation" r:id="rId11" imgW="3365500" imgH="927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5711825"/>
                        <a:ext cx="3365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How about without P?</a:t>
            </a:r>
          </a:p>
        </p:txBody>
      </p:sp>
      <p:pic>
        <p:nvPicPr>
          <p:cNvPr id="83971" name="Picture 3" descr="E:\MechanoLink\Gere-5e\Images\Chapter 9\Chapter 9 Figures\GERE_0930_f9_8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320198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3972" name="Object 0"/>
          <p:cNvGraphicFramePr>
            <a:graphicFrameLocks noChangeAspect="1"/>
          </p:cNvGraphicFramePr>
          <p:nvPr/>
        </p:nvGraphicFramePr>
        <p:xfrm>
          <a:off x="4114800" y="2057400"/>
          <a:ext cx="3683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0" name="Equation" r:id="rId5" imgW="3683000" imgH="927100" progId="Equation.3">
                  <p:embed/>
                </p:oleObj>
              </mc:Choice>
              <mc:Fallback>
                <p:oleObj name="Equation" r:id="rId5" imgW="3683000" imgH="927100" progId="Equation.3">
                  <p:embed/>
                  <p:pic>
                    <p:nvPicPr>
                      <p:cNvPr id="8397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057400"/>
                        <a:ext cx="3683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1"/>
          <p:cNvGraphicFramePr>
            <a:graphicFrameLocks noChangeAspect="1"/>
          </p:cNvGraphicFramePr>
          <p:nvPr/>
        </p:nvGraphicFramePr>
        <p:xfrm>
          <a:off x="4191000" y="3276600"/>
          <a:ext cx="3289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1" name="Equation" r:id="rId7" imgW="3289300" imgH="927100" progId="Equation.3">
                  <p:embed/>
                </p:oleObj>
              </mc:Choice>
              <mc:Fallback>
                <p:oleObj name="Equation" r:id="rId7" imgW="3289300" imgH="927100" progId="Equation.3">
                  <p:embed/>
                  <p:pic>
                    <p:nvPicPr>
                      <p:cNvPr id="8397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276600"/>
                        <a:ext cx="3289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2"/>
          <p:cNvGraphicFramePr>
            <a:graphicFrameLocks noChangeAspect="1"/>
          </p:cNvGraphicFramePr>
          <p:nvPr/>
        </p:nvGraphicFramePr>
        <p:xfrm>
          <a:off x="4038600" y="4495800"/>
          <a:ext cx="4089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2" name="Equation" r:id="rId9" imgW="4089400" imgH="927100" progId="Equation.3">
                  <p:embed/>
                </p:oleObj>
              </mc:Choice>
              <mc:Fallback>
                <p:oleObj name="Equation" r:id="rId9" imgW="4089400" imgH="927100" progId="Equation.3">
                  <p:embed/>
                  <p:pic>
                    <p:nvPicPr>
                      <p:cNvPr id="839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495800"/>
                        <a:ext cx="4089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3"/>
          <p:cNvGraphicFramePr>
            <a:graphicFrameLocks noChangeAspect="1"/>
          </p:cNvGraphicFramePr>
          <p:nvPr/>
        </p:nvGraphicFramePr>
        <p:xfrm>
          <a:off x="4648200" y="5562600"/>
          <a:ext cx="2565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3" name="Equation" r:id="rId11" imgW="2565400" imgH="927100" progId="Equation.3">
                  <p:embed/>
                </p:oleObj>
              </mc:Choice>
              <mc:Fallback>
                <p:oleObj name="Equation" r:id="rId11" imgW="2565400" imgH="927100" progId="Equation.3">
                  <p:embed/>
                  <p:pic>
                    <p:nvPicPr>
                      <p:cNvPr id="839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562600"/>
                        <a:ext cx="25654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6300788" y="2057400"/>
            <a:ext cx="1584325" cy="10842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</a:t>
            </a:r>
          </a:p>
        </p:txBody>
      </p:sp>
      <p:pic>
        <p:nvPicPr>
          <p:cNvPr id="11366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988840"/>
            <a:ext cx="4392488" cy="4181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26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Three-Point Bending</a:t>
            </a:r>
          </a:p>
        </p:txBody>
      </p:sp>
      <p:pic>
        <p:nvPicPr>
          <p:cNvPr id="11366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1830388"/>
            <a:ext cx="2905125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3668" name="Object 1"/>
          <p:cNvGraphicFramePr>
            <a:graphicFrameLocks noChangeAspect="1"/>
          </p:cNvGraphicFramePr>
          <p:nvPr/>
        </p:nvGraphicFramePr>
        <p:xfrm>
          <a:off x="457200" y="2276475"/>
          <a:ext cx="1803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7" name="Equation" r:id="rId5" imgW="1803400" imgH="355600" progId="Equation.3">
                  <p:embed/>
                </p:oleObj>
              </mc:Choice>
              <mc:Fallback>
                <p:oleObj name="Equation" r:id="rId5" imgW="18034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76475"/>
                        <a:ext cx="1803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9" name="Object 1"/>
          <p:cNvGraphicFramePr>
            <a:graphicFrameLocks noChangeAspect="1"/>
          </p:cNvGraphicFramePr>
          <p:nvPr/>
        </p:nvGraphicFramePr>
        <p:xfrm>
          <a:off x="6183313" y="2276475"/>
          <a:ext cx="2628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8" name="Equation" r:id="rId7" imgW="2628900" imgH="355600" progId="Equation.3">
                  <p:embed/>
                </p:oleObj>
              </mc:Choice>
              <mc:Fallback>
                <p:oleObj name="Equation" r:id="rId7" imgW="2628900" imgH="355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313" y="2276475"/>
                        <a:ext cx="2628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0" name="Object 1"/>
          <p:cNvGraphicFramePr>
            <a:graphicFrameLocks noChangeAspect="1"/>
          </p:cNvGraphicFramePr>
          <p:nvPr/>
        </p:nvGraphicFramePr>
        <p:xfrm>
          <a:off x="371475" y="3074988"/>
          <a:ext cx="194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9" name="Equation" r:id="rId9" imgW="1943100" imgH="279400" progId="Equation.3">
                  <p:embed/>
                </p:oleObj>
              </mc:Choice>
              <mc:Fallback>
                <p:oleObj name="Equation" r:id="rId9" imgW="1943100" imgH="279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3074988"/>
                        <a:ext cx="1943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1"/>
          <p:cNvGraphicFramePr>
            <a:graphicFrameLocks noChangeAspect="1"/>
          </p:cNvGraphicFramePr>
          <p:nvPr/>
        </p:nvGraphicFramePr>
        <p:xfrm>
          <a:off x="6215063" y="3213100"/>
          <a:ext cx="2565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0" name="Equation" r:id="rId11" imgW="2565400" imgH="279400" progId="Equation.3">
                  <p:embed/>
                </p:oleObj>
              </mc:Choice>
              <mc:Fallback>
                <p:oleObj name="Equation" r:id="rId11" imgW="2565400" imgH="279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3213100"/>
                        <a:ext cx="2565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2" name="Object 1024"/>
          <p:cNvGraphicFramePr>
            <a:graphicFrameLocks noChangeAspect="1"/>
          </p:cNvGraphicFramePr>
          <p:nvPr/>
        </p:nvGraphicFramePr>
        <p:xfrm>
          <a:off x="4403725" y="5365750"/>
          <a:ext cx="1981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1" name="Equation" r:id="rId13" imgW="1981200" imgH="673100" progId="Equation.3">
                  <p:embed/>
                </p:oleObj>
              </mc:Choice>
              <mc:Fallback>
                <p:oleObj name="Equation" r:id="rId13" imgW="1981200" imgH="6731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5" y="5365750"/>
                        <a:ext cx="1981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1024"/>
          <p:cNvGraphicFramePr>
            <a:graphicFrameLocks noChangeAspect="1"/>
          </p:cNvGraphicFramePr>
          <p:nvPr/>
        </p:nvGraphicFramePr>
        <p:xfrm>
          <a:off x="530225" y="4692650"/>
          <a:ext cx="73025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2" name="Equation" r:id="rId15" imgW="7302500" imgH="1346200" progId="Equation.3">
                  <p:embed/>
                </p:oleObj>
              </mc:Choice>
              <mc:Fallback>
                <p:oleObj name="Equation" r:id="rId15" imgW="7302500" imgH="13462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4692650"/>
                        <a:ext cx="73025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"/>
          <p:cNvGraphicFramePr>
            <a:graphicFrameLocks noChangeAspect="1"/>
          </p:cNvGraphicFramePr>
          <p:nvPr/>
        </p:nvGraphicFramePr>
        <p:xfrm>
          <a:off x="368300" y="6288088"/>
          <a:ext cx="666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3" name="Equation" r:id="rId17" imgW="6667500" imgH="368300" progId="Equation.3">
                  <p:embed/>
                </p:oleObj>
              </mc:Choice>
              <mc:Fallback>
                <p:oleObj name="Equation" r:id="rId17" imgW="6667500" imgH="368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" y="6288088"/>
                        <a:ext cx="6667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4" y="1988840"/>
            <a:ext cx="8568952" cy="9408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3284984"/>
            <a:ext cx="519617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852866"/>
            <a:ext cx="4577327" cy="1955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032" y="2006992"/>
            <a:ext cx="2160240" cy="18902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424" y="4162220"/>
            <a:ext cx="2567456" cy="792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32" y="3897202"/>
            <a:ext cx="1656184" cy="8548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840980"/>
            <a:ext cx="5625146" cy="181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Statically Indeterminate Beam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772816"/>
            <a:ext cx="7107792" cy="16561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233" y="3429000"/>
            <a:ext cx="459457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1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Statically Indeterminate Beam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1" y="2276872"/>
            <a:ext cx="6624737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8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Deflection by Loading Equation</a:t>
            </a:r>
          </a:p>
        </p:txBody>
      </p:sp>
      <p:pic>
        <p:nvPicPr>
          <p:cNvPr id="86019" name="Picture 3" descr="E:\MechanoLink\Gere-5e\Images\Chapter 9\Chapter 9 Figures\GERE_0936_f9_14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81200"/>
            <a:ext cx="3724275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6020" name="Object 0"/>
          <p:cNvGraphicFramePr>
            <a:graphicFrameLocks noChangeAspect="1"/>
          </p:cNvGraphicFramePr>
          <p:nvPr/>
        </p:nvGraphicFramePr>
        <p:xfrm>
          <a:off x="4495800" y="1676400"/>
          <a:ext cx="3302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0" name="Equation" r:id="rId5" imgW="3302000" imgH="825500" progId="Equation.3">
                  <p:embed/>
                </p:oleObj>
              </mc:Choice>
              <mc:Fallback>
                <p:oleObj name="Equation" r:id="rId5" imgW="3302000" imgH="825500" progId="Equation.3">
                  <p:embed/>
                  <p:pic>
                    <p:nvPicPr>
                      <p:cNvPr id="8602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676400"/>
                        <a:ext cx="3302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1"/>
          <p:cNvGraphicFramePr>
            <a:graphicFrameLocks noChangeAspect="1"/>
          </p:cNvGraphicFramePr>
          <p:nvPr/>
        </p:nvGraphicFramePr>
        <p:xfrm>
          <a:off x="4191000" y="2590800"/>
          <a:ext cx="4508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1" name="Equation" r:id="rId7" imgW="4508500" imgH="927100" progId="Equation.3">
                  <p:embed/>
                </p:oleObj>
              </mc:Choice>
              <mc:Fallback>
                <p:oleObj name="Equation" r:id="rId7" imgW="4508500" imgH="927100" progId="Equation.3">
                  <p:embed/>
                  <p:pic>
                    <p:nvPicPr>
                      <p:cNvPr id="8602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590800"/>
                        <a:ext cx="4508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2"/>
          <p:cNvGraphicFramePr>
            <a:graphicFrameLocks noChangeAspect="1"/>
          </p:cNvGraphicFramePr>
          <p:nvPr/>
        </p:nvGraphicFramePr>
        <p:xfrm>
          <a:off x="4038600" y="3657600"/>
          <a:ext cx="4787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2" name="Equation" r:id="rId9" imgW="4787900" imgH="927100" progId="Equation.3">
                  <p:embed/>
                </p:oleObj>
              </mc:Choice>
              <mc:Fallback>
                <p:oleObj name="Equation" r:id="rId9" imgW="4787900" imgH="927100" progId="Equation.3">
                  <p:embed/>
                  <p:pic>
                    <p:nvPicPr>
                      <p:cNvPr id="860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657600"/>
                        <a:ext cx="4787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3"/>
          <p:cNvGraphicFramePr>
            <a:graphicFrameLocks noChangeAspect="1"/>
          </p:cNvGraphicFramePr>
          <p:nvPr/>
        </p:nvGraphicFramePr>
        <p:xfrm>
          <a:off x="4724400" y="4648200"/>
          <a:ext cx="3352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3" name="Equation" r:id="rId11" imgW="3352800" imgH="927100" progId="Equation.3">
                  <p:embed/>
                </p:oleObj>
              </mc:Choice>
              <mc:Fallback>
                <p:oleObj name="Equation" r:id="rId11" imgW="3352800" imgH="927100" progId="Equation.3">
                  <p:embed/>
                  <p:pic>
                    <p:nvPicPr>
                      <p:cNvPr id="860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648200"/>
                        <a:ext cx="3352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4"/>
          <p:cNvGraphicFramePr>
            <a:graphicFrameLocks noChangeAspect="1"/>
          </p:cNvGraphicFramePr>
          <p:nvPr/>
        </p:nvGraphicFramePr>
        <p:xfrm>
          <a:off x="4572000" y="5715000"/>
          <a:ext cx="3771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84" name="Equation" r:id="rId13" imgW="3771900" imgH="800100" progId="Equation.3">
                  <p:embed/>
                </p:oleObj>
              </mc:Choice>
              <mc:Fallback>
                <p:oleObj name="Equation" r:id="rId13" imgW="3771900" imgH="800100" progId="Equation.3">
                  <p:embed/>
                  <p:pic>
                    <p:nvPicPr>
                      <p:cNvPr id="860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715000"/>
                        <a:ext cx="3771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7797800" y="2780928"/>
            <a:ext cx="901700" cy="726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9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Assignment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8376" y="1628800"/>
            <a:ext cx="70979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Text book</a:t>
            </a:r>
          </a:p>
          <a:p>
            <a:endParaRPr lang="en-US" sz="2400" dirty="0"/>
          </a:p>
          <a:p>
            <a:r>
              <a:rPr lang="en-US" sz="2400" dirty="0" smtClean="0"/>
              <a:t>6.2, 6.19, 6.22</a:t>
            </a:r>
            <a:r>
              <a:rPr lang="zh-CN" altLang="en-US" sz="2400" dirty="0" smtClean="0"/>
              <a:t>，</a:t>
            </a:r>
            <a:r>
              <a:rPr lang="en-US" sz="2400" dirty="0" smtClean="0"/>
              <a:t>6.47, 6.55, 6.69</a:t>
            </a:r>
          </a:p>
          <a:p>
            <a:endParaRPr lang="en-US" sz="2400" dirty="0"/>
          </a:p>
          <a:p>
            <a:r>
              <a:rPr lang="en-US" sz="2400" dirty="0" smtClean="0"/>
              <a:t>Due April 22</a:t>
            </a:r>
          </a:p>
          <a:p>
            <a:endParaRPr lang="en-US" sz="2400" dirty="0"/>
          </a:p>
          <a:p>
            <a:r>
              <a:rPr lang="en-US" sz="2400" dirty="0" smtClean="0"/>
              <a:t>6.168, 7.3, 7.10, 7.11, 12.10, 12.13, 12.23</a:t>
            </a: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Due April 29</a:t>
            </a:r>
            <a:r>
              <a:rPr lang="en-US" sz="2400" dirty="0" smtClean="0"/>
              <a:t>:</a:t>
            </a:r>
          </a:p>
          <a:p>
            <a:endParaRPr lang="en-US" sz="2400" dirty="0"/>
          </a:p>
          <a:p>
            <a:r>
              <a:rPr lang="en-US" altLang="zh-CN" sz="2400" dirty="0" smtClean="0"/>
              <a:t>12.89, 12.91, 12.92, 12.103, 12.108, 14.14, 14-18, 14-155, 14-135, 14-138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052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13639</TotalTime>
  <Words>682</Words>
  <Application>Microsoft Office PowerPoint</Application>
  <PresentationFormat>On-screen Show (4:3)</PresentationFormat>
  <Paragraphs>231</Paragraphs>
  <Slides>72</Slides>
  <Notes>59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6" baseType="lpstr">
      <vt:lpstr>宋体</vt:lpstr>
      <vt:lpstr>Arial</vt:lpstr>
      <vt:lpstr>Default Design</vt:lpstr>
      <vt:lpstr>Equation</vt:lpstr>
      <vt:lpstr>PowerPoint Presentation</vt:lpstr>
      <vt:lpstr>Engineering Structures</vt:lpstr>
      <vt:lpstr>PowerPoint Presentation</vt:lpstr>
      <vt:lpstr>PowerPoint Presentation</vt:lpstr>
      <vt:lpstr>PowerPoint Presentation</vt:lpstr>
      <vt:lpstr>Types of Supports and Reactions</vt:lpstr>
      <vt:lpstr>Free Body Diagram and Equilibrium</vt:lpstr>
      <vt:lpstr>Shear Force &amp; Bending Moment</vt:lpstr>
      <vt:lpstr>Deformation Sign Convention</vt:lpstr>
      <vt:lpstr>Shear Force &amp; Bending Moment Diagram</vt:lpstr>
      <vt:lpstr>Uniformly Distributed Load</vt:lpstr>
      <vt:lpstr>Three-Point Bending</vt:lpstr>
      <vt:lpstr>Shear Force &amp; Bending Moment Diagram</vt:lpstr>
      <vt:lpstr>Three- &amp; Four-Point Bending</vt:lpstr>
      <vt:lpstr>Shear Force and Bending Moment Diagram</vt:lpstr>
      <vt:lpstr>Shear Force and Bending Moment Diagram</vt:lpstr>
      <vt:lpstr>Quiz</vt:lpstr>
      <vt:lpstr>Deflection in Beam</vt:lpstr>
      <vt:lpstr>Normal Stress in Beam</vt:lpstr>
      <vt:lpstr>Normal Stress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Shear Stress</vt:lpstr>
      <vt:lpstr>Distribution of Shear Stress</vt:lpstr>
      <vt:lpstr>Shear Stress</vt:lpstr>
      <vt:lpstr>Shear Stress</vt:lpstr>
      <vt:lpstr>Example</vt:lpstr>
      <vt:lpstr>Example</vt:lpstr>
      <vt:lpstr>Example</vt:lpstr>
      <vt:lpstr>Example</vt:lpstr>
      <vt:lpstr>Example</vt:lpstr>
      <vt:lpstr>Example</vt:lpstr>
      <vt:lpstr>Three- &amp; Four-Point Bending</vt:lpstr>
      <vt:lpstr>Plastic Bending</vt:lpstr>
      <vt:lpstr>Plastic Bending</vt:lpstr>
      <vt:lpstr>Fully Plastic</vt:lpstr>
      <vt:lpstr>Deflection of Beam</vt:lpstr>
      <vt:lpstr>Deflection of Curve</vt:lpstr>
      <vt:lpstr>Boundary Condition</vt:lpstr>
      <vt:lpstr>Continuity Condition</vt:lpstr>
      <vt:lpstr>Deflection by Bending Moment Equation</vt:lpstr>
      <vt:lpstr>Deflection by Loading Equation</vt:lpstr>
      <vt:lpstr>Three-Point Bending</vt:lpstr>
      <vt:lpstr>Three-Point Bending</vt:lpstr>
      <vt:lpstr>Deflection by Superposition</vt:lpstr>
      <vt:lpstr>Four-Point Bending</vt:lpstr>
      <vt:lpstr>Bonus Quiz</vt:lpstr>
      <vt:lpstr>PowerPoint Presentation</vt:lpstr>
      <vt:lpstr>What If?</vt:lpstr>
      <vt:lpstr>Strain Energy of Pure Bending</vt:lpstr>
      <vt:lpstr>Strain Energy of Bending</vt:lpstr>
      <vt:lpstr>Strain Energy of Bending</vt:lpstr>
      <vt:lpstr>Example</vt:lpstr>
      <vt:lpstr>Example</vt:lpstr>
      <vt:lpstr>Castigliano’s Theorem</vt:lpstr>
      <vt:lpstr>Application</vt:lpstr>
      <vt:lpstr>Modified Castigliano’s Theorem </vt:lpstr>
      <vt:lpstr>How about without P?</vt:lpstr>
      <vt:lpstr>Example</vt:lpstr>
      <vt:lpstr>Three-Point Bending</vt:lpstr>
      <vt:lpstr>Example</vt:lpstr>
      <vt:lpstr>Example</vt:lpstr>
      <vt:lpstr>Statically Indeterminate Beam</vt:lpstr>
      <vt:lpstr>Statically Indeterminate Beam</vt:lpstr>
      <vt:lpstr>Deflection by Loading Equation</vt:lpstr>
      <vt:lpstr>Assignment</vt:lpstr>
    </vt:vector>
  </TitlesOfParts>
  <Company>University of Nebraska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Design Analyis</dc:title>
  <dc:creator>jiangyu</dc:creator>
  <cp:lastModifiedBy>Jiangyu Li</cp:lastModifiedBy>
  <cp:revision>268</cp:revision>
  <dcterms:created xsi:type="dcterms:W3CDTF">2005-12-02T20:26:58Z</dcterms:created>
  <dcterms:modified xsi:type="dcterms:W3CDTF">2021-04-22T02:04:57Z</dcterms:modified>
</cp:coreProperties>
</file>