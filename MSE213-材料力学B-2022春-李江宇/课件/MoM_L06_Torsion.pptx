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7" r:id="rId2"/>
    <p:sldId id="847" r:id="rId3"/>
    <p:sldId id="940" r:id="rId4"/>
    <p:sldId id="941" r:id="rId5"/>
    <p:sldId id="942" r:id="rId6"/>
    <p:sldId id="943" r:id="rId7"/>
    <p:sldId id="882" r:id="rId8"/>
    <p:sldId id="944" r:id="rId9"/>
    <p:sldId id="945" r:id="rId10"/>
    <p:sldId id="946" r:id="rId11"/>
    <p:sldId id="947" r:id="rId12"/>
    <p:sldId id="948" r:id="rId13"/>
    <p:sldId id="949" r:id="rId14"/>
    <p:sldId id="950" r:id="rId15"/>
    <p:sldId id="951" r:id="rId16"/>
    <p:sldId id="956" r:id="rId17"/>
    <p:sldId id="957" r:id="rId18"/>
    <p:sldId id="958" r:id="rId19"/>
    <p:sldId id="959" r:id="rId20"/>
    <p:sldId id="960" r:id="rId21"/>
    <p:sldId id="961" r:id="rId22"/>
    <p:sldId id="962" r:id="rId23"/>
    <p:sldId id="963" r:id="rId24"/>
    <p:sldId id="964" r:id="rId25"/>
    <p:sldId id="965" r:id="rId26"/>
    <p:sldId id="966" r:id="rId27"/>
    <p:sldId id="967" r:id="rId28"/>
    <p:sldId id="952" r:id="rId29"/>
    <p:sldId id="953" r:id="rId30"/>
    <p:sldId id="954" r:id="rId31"/>
    <p:sldId id="955" r:id="rId32"/>
    <p:sldId id="968" r:id="rId33"/>
    <p:sldId id="846" r:id="rId34"/>
    <p:sldId id="970" r:id="rId35"/>
    <p:sldId id="971" r:id="rId36"/>
    <p:sldId id="972" r:id="rId37"/>
    <p:sldId id="973" r:id="rId38"/>
    <p:sldId id="974" r:id="rId39"/>
    <p:sldId id="976" r:id="rId40"/>
    <p:sldId id="977" r:id="rId41"/>
    <p:sldId id="978" r:id="rId42"/>
    <p:sldId id="979" r:id="rId43"/>
    <p:sldId id="980" r:id="rId44"/>
    <p:sldId id="981" r:id="rId45"/>
    <p:sldId id="982" r:id="rId46"/>
    <p:sldId id="983" r:id="rId47"/>
    <p:sldId id="984" r:id="rId48"/>
    <p:sldId id="985" r:id="rId49"/>
    <p:sldId id="986" r:id="rId50"/>
    <p:sldId id="987" r:id="rId51"/>
    <p:sldId id="969" r:id="rId52"/>
    <p:sldId id="975" r:id="rId53"/>
  </p:sldIdLst>
  <p:sldSz cx="12192000" cy="6858000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43"/>
    <a:srgbClr val="ED6C00"/>
    <a:srgbClr val="2BB7B3"/>
    <a:srgbClr val="00FF00"/>
    <a:srgbClr val="660066"/>
    <a:srgbClr val="3366FF"/>
    <a:srgbClr val="0000CC"/>
    <a:srgbClr val="339933"/>
    <a:srgbClr val="99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2" autoAdjust="0"/>
    <p:restoredTop sz="94660" autoAdjust="0"/>
  </p:normalViewPr>
  <p:slideViewPr>
    <p:cSldViewPr>
      <p:cViewPr varScale="1">
        <p:scale>
          <a:sx n="70" d="100"/>
          <a:sy n="70" d="100"/>
        </p:scale>
        <p:origin x="62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2180"/>
    </p:cViewPr>
  </p:sorterViewPr>
  <p:notesViewPr>
    <p:cSldViewPr>
      <p:cViewPr>
        <p:scale>
          <a:sx n="100" d="100"/>
          <a:sy n="100" d="100"/>
        </p:scale>
        <p:origin x="-48" y="528"/>
      </p:cViewPr>
      <p:guideLst>
        <p:guide orient="horz" pos="2904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fld id="{BA950B12-1F8A-497D-ADB8-F6A75C7EFA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620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05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79913"/>
            <a:ext cx="5095875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3F7C5D-75CA-4BD6-8833-3F2846A04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1444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EC4CC0-33AD-447E-B7DE-66586FD64824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2150"/>
            <a:ext cx="6146800" cy="3457575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54" tIns="45327" rIns="90654" bIns="45327"/>
          <a:lstStyle/>
          <a:p>
            <a:pPr marL="228600" indent="-228600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7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0" y="2590800"/>
            <a:ext cx="103632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524000"/>
            <a:ext cx="10363200" cy="472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8674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867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>
          <a:xfrm>
            <a:off x="0" y="152400"/>
            <a:ext cx="12192000" cy="1066800"/>
          </a:xfrm>
          <a:prstGeom prst="rect">
            <a:avLst/>
          </a:prstGeom>
          <a:solidFill>
            <a:srgbClr val="2BB7B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3200" kern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v"/>
        <a:defRPr sz="24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E003E"/>
        </a:buClr>
        <a:buFont typeface="Wingdings" pitchFamily="2" charset="2"/>
        <a:buChar char="Ø"/>
        <a:defRPr sz="2000" b="1">
          <a:solidFill>
            <a:srgbClr val="3E003E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800000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21.png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8.wmf"/><Relationship Id="rId10" Type="http://schemas.openxmlformats.org/officeDocument/2006/relationships/image" Target="../media/image22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emf"/><Relationship Id="rId4" Type="http://schemas.openxmlformats.org/officeDocument/2006/relationships/image" Target="../media/image5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7" Type="http://schemas.openxmlformats.org/officeDocument/2006/relationships/image" Target="../media/image80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emf"/><Relationship Id="rId5" Type="http://schemas.openxmlformats.org/officeDocument/2006/relationships/image" Target="../media/image74.emf"/><Relationship Id="rId4" Type="http://schemas.openxmlformats.org/officeDocument/2006/relationships/image" Target="../media/image7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image" Target="../media/image84.emf"/><Relationship Id="rId7" Type="http://schemas.openxmlformats.org/officeDocument/2006/relationships/image" Target="../media/image8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5.emf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86.emf"/><Relationship Id="rId4" Type="http://schemas.openxmlformats.org/officeDocument/2006/relationships/image" Target="../media/image92.wmf"/><Relationship Id="rId9" Type="http://schemas.openxmlformats.org/officeDocument/2006/relationships/image" Target="../media/image8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emf"/><Relationship Id="rId5" Type="http://schemas.openxmlformats.org/officeDocument/2006/relationships/image" Target="../media/image91.emf"/><Relationship Id="rId4" Type="http://schemas.openxmlformats.org/officeDocument/2006/relationships/image" Target="../media/image98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emf"/><Relationship Id="rId5" Type="http://schemas.openxmlformats.org/officeDocument/2006/relationships/image" Target="../media/image115.emf"/><Relationship Id="rId4" Type="http://schemas.openxmlformats.org/officeDocument/2006/relationships/image" Target="../media/image11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76200"/>
            <a:ext cx="12192000" cy="3330054"/>
          </a:xfrm>
          <a:prstGeom prst="rect">
            <a:avLst/>
          </a:prstGeom>
          <a:solidFill>
            <a:srgbClr val="2BB7B3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MSE 213 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Mechanics of Materials B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Lecture 6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endParaRPr lang="en-US" altLang="zh-CN" sz="4400" b="0" dirty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810000"/>
            <a:ext cx="12192000" cy="762000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None/>
            </a:pPr>
            <a:r>
              <a:rPr lang="en-US" altLang="zh-CN" sz="3200" dirty="0" smtClean="0">
                <a:solidFill>
                  <a:srgbClr val="003F43"/>
                </a:solidFill>
                <a:ea typeface="楷体" panose="02010609060101010101" pitchFamily="49" charset="-122"/>
              </a:rPr>
              <a:t>Torsion</a:t>
            </a:r>
            <a:endParaRPr lang="en-US" altLang="zh-CN" dirty="0">
              <a:solidFill>
                <a:srgbClr val="C00000"/>
              </a:solidFill>
              <a:ea typeface="楷体" panose="02010609060101010101" pitchFamily="49" charset="-12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0" y="6096000"/>
            <a:ext cx="12192000" cy="733342"/>
          </a:xfrm>
          <a:prstGeom prst="rect">
            <a:avLst/>
          </a:prstGeom>
          <a:solidFill>
            <a:srgbClr val="2BB7B3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3600" b="1" dirty="0" smtClean="0">
                <a:solidFill>
                  <a:schemeClr val="bg1"/>
                </a:solidFill>
                <a:latin typeface="Arial Black" pitchFamily="34" charset="0"/>
                <a:ea typeface="宋体" pitchFamily="2" charset="-122"/>
              </a:rPr>
              <a:t>Jiangyu Li</a:t>
            </a:r>
            <a:endParaRPr lang="en-US" altLang="zh-CN" sz="3600" b="1" dirty="0">
              <a:solidFill>
                <a:schemeClr val="bg1"/>
              </a:solidFill>
              <a:latin typeface="Arial Black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847" y="5072390"/>
            <a:ext cx="4317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Textbook 5.1-5.</a:t>
            </a:r>
            <a:r>
              <a:rPr lang="en-US" altLang="zh-CN" b="1" dirty="0" smtClean="0">
                <a:solidFill>
                  <a:srgbClr val="C00000"/>
                </a:solidFill>
              </a:rPr>
              <a:t>5; 5.8-5.9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Torsion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74042"/>
            <a:ext cx="4349472" cy="46482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612142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08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Torsion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057400"/>
            <a:ext cx="3886200" cy="36590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209800"/>
            <a:ext cx="3962400" cy="406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463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Angle of Twist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524000"/>
            <a:ext cx="528676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61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Angle of Twist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6" descr="E:\MechanoLink\Gere-5e\Images\Chapter 3\Chapter 3 Figures\GERE_0297_f3_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6"/>
          <a:stretch/>
        </p:blipFill>
        <p:spPr bwMode="auto">
          <a:xfrm>
            <a:off x="215900" y="1579398"/>
            <a:ext cx="1170878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799676"/>
              </p:ext>
            </p:extLst>
          </p:nvPr>
        </p:nvGraphicFramePr>
        <p:xfrm>
          <a:off x="4648200" y="5638800"/>
          <a:ext cx="199107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4" imgW="1054100" imgH="342900" progId="Equation.3">
                  <p:embed/>
                </p:oleObj>
              </mc:Choice>
              <mc:Fallback>
                <p:oleObj name="Equation" r:id="rId4" imgW="1054100" imgH="342900" progId="Equation.3">
                  <p:embed/>
                  <p:pic>
                    <p:nvPicPr>
                      <p:cNvPr id="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638800"/>
                        <a:ext cx="1991078" cy="647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97637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Angle of Twist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5"/>
          <p:cNvGrpSpPr>
            <a:grpSpLocks/>
          </p:cNvGrpSpPr>
          <p:nvPr/>
        </p:nvGrpSpPr>
        <p:grpSpPr bwMode="auto">
          <a:xfrm>
            <a:off x="819150" y="1706493"/>
            <a:ext cx="6629400" cy="3171825"/>
            <a:chOff x="816" y="1622"/>
            <a:chExt cx="4176" cy="1998"/>
          </a:xfrm>
        </p:grpSpPr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1632" y="3504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600" b="0">
                  <a:latin typeface="Times New Roman" panose="02020603050405020304" pitchFamily="18" charset="0"/>
                </a:rPr>
                <a:t>©2001 Brooks/Cole, a division of Thomson Learning, Inc.  Thomson Learning</a:t>
              </a:r>
              <a:r>
                <a:rPr lang="en-US" altLang="en-US" sz="600" b="0" baseline="-25000">
                  <a:latin typeface="Times New Roman" panose="02020603050405020304" pitchFamily="18" charset="0"/>
                </a:rPr>
                <a:t>™</a:t>
              </a:r>
              <a:r>
                <a:rPr lang="en-US" altLang="en-US" sz="600" b="0">
                  <a:latin typeface="Times New Roman" panose="02020603050405020304" pitchFamily="18" charset="0"/>
                </a:rPr>
                <a:t> is a trademark used herein under license.</a:t>
              </a:r>
            </a:p>
          </p:txBody>
        </p:sp>
        <p:pic>
          <p:nvPicPr>
            <p:cNvPr id="13" name="Picture 7" descr="E:\MechanoLink\Gere-5e\Images\Chapter 3\Chapter 3 Figures\GERE_0298_f3_4.BMP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510"/>
            <a:stretch/>
          </p:blipFill>
          <p:spPr bwMode="auto">
            <a:xfrm>
              <a:off x="816" y="1622"/>
              <a:ext cx="4176" cy="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753979"/>
              </p:ext>
            </p:extLst>
          </p:nvPr>
        </p:nvGraphicFramePr>
        <p:xfrm>
          <a:off x="9067800" y="3886200"/>
          <a:ext cx="1498655" cy="1118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4" imgW="952087" imgH="710891" progId="Equation.3">
                  <p:embed/>
                </p:oleObj>
              </mc:Choice>
              <mc:Fallback>
                <p:oleObj name="Equation" r:id="rId4" imgW="952087" imgH="710891" progId="Equation.3">
                  <p:embed/>
                  <p:pic>
                    <p:nvPicPr>
                      <p:cNvPr id="81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7800" y="3886200"/>
                        <a:ext cx="1498655" cy="111899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320533"/>
              </p:ext>
            </p:extLst>
          </p:nvPr>
        </p:nvGraphicFramePr>
        <p:xfrm>
          <a:off x="8458199" y="1828800"/>
          <a:ext cx="234808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Equation" r:id="rId6" imgW="1320227" imgH="342751" progId="Equation.3">
                  <p:embed/>
                </p:oleObj>
              </mc:Choice>
              <mc:Fallback>
                <p:oleObj name="Equation" r:id="rId6" imgW="1320227" imgH="342751" progId="Equation.3">
                  <p:embed/>
                  <p:pic>
                    <p:nvPicPr>
                      <p:cNvPr id="8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199" y="1828800"/>
                        <a:ext cx="2348089" cy="609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2080431" y="5791200"/>
            <a:ext cx="82317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Shear strain, does not depend on constitutive behavior</a:t>
            </a:r>
          </a:p>
        </p:txBody>
      </p:sp>
    </p:spTree>
    <p:extLst>
      <p:ext uri="{BB962C8B-B14F-4D97-AF65-F5344CB8AC3E}">
        <p14:creationId xmlns:p14="http://schemas.microsoft.com/office/powerpoint/2010/main" val="177442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Shear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1219200" y="1524000"/>
            <a:ext cx="4191000" cy="4984750"/>
            <a:chOff x="1632" y="288"/>
            <a:chExt cx="2640" cy="3140"/>
          </a:xfrm>
        </p:grpSpPr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1632" y="3312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600" b="0">
                  <a:latin typeface="Times New Roman" panose="02020603050405020304" pitchFamily="18" charset="0"/>
                </a:rPr>
                <a:t>©2001 Brooks/Cole, a division of Thomson Learning, Inc.  Thomson Learning</a:t>
              </a:r>
              <a:r>
                <a:rPr lang="en-US" altLang="en-US" sz="600" b="0" baseline="-25000">
                  <a:latin typeface="Times New Roman" panose="02020603050405020304" pitchFamily="18" charset="0"/>
                </a:rPr>
                <a:t>™</a:t>
              </a:r>
              <a:r>
                <a:rPr lang="en-US" altLang="en-US" sz="600" b="0">
                  <a:latin typeface="Times New Roman" panose="02020603050405020304" pitchFamily="18" charset="0"/>
                </a:rPr>
                <a:t> is a trademark used herein under license.</a:t>
              </a:r>
            </a:p>
          </p:txBody>
        </p:sp>
        <p:pic>
          <p:nvPicPr>
            <p:cNvPr id="12" name="Picture 6" descr="E:\MechanoLink\Gere-5e\Images\Chapter 3\Chapter 3 Figures\GERE_0299_f3_5.BMP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8" y="288"/>
              <a:ext cx="2634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363127"/>
              </p:ext>
            </p:extLst>
          </p:nvPr>
        </p:nvGraphicFramePr>
        <p:xfrm>
          <a:off x="7467600" y="2209800"/>
          <a:ext cx="1678992" cy="1315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4" imgW="952087" imgH="710891" progId="Equation.3">
                  <p:embed/>
                </p:oleObj>
              </mc:Choice>
              <mc:Fallback>
                <p:oleObj name="Equation" r:id="rId4" imgW="952087" imgH="710891" progId="Equation.3">
                  <p:embed/>
                  <p:pic>
                    <p:nvPicPr>
                      <p:cNvPr id="10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2209800"/>
                        <a:ext cx="1678992" cy="131501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4495800"/>
            <a:ext cx="3205341" cy="16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299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Shear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143000" y="1752600"/>
            <a:ext cx="7315200" cy="4908550"/>
            <a:chOff x="768" y="336"/>
            <a:chExt cx="4608" cy="3092"/>
          </a:xfrm>
        </p:grpSpPr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1632" y="3312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600" b="0">
                  <a:latin typeface="Times New Roman" panose="02020603050405020304" pitchFamily="18" charset="0"/>
                </a:rPr>
                <a:t>©2001 Brooks/Cole, a division of Thomson Learning, Inc.  Thomson Learning</a:t>
              </a:r>
              <a:r>
                <a:rPr lang="en-US" altLang="en-US" sz="600" b="0" baseline="-25000">
                  <a:latin typeface="Times New Roman" panose="02020603050405020304" pitchFamily="18" charset="0"/>
                </a:rPr>
                <a:t>™</a:t>
              </a:r>
              <a:r>
                <a:rPr lang="en-US" altLang="en-US" sz="600" b="0">
                  <a:latin typeface="Times New Roman" panose="02020603050405020304" pitchFamily="18" charset="0"/>
                </a:rPr>
                <a:t> is a trademark used herein under license.</a:t>
              </a:r>
            </a:p>
          </p:txBody>
        </p:sp>
        <p:pic>
          <p:nvPicPr>
            <p:cNvPr id="15" name="Picture 6" descr="E:\MechanoLink\Gere-5e\Images\Chapter 3\Chapter 3 Figures\GERE_0300_f3_6.BMP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336"/>
              <a:ext cx="4608" cy="2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445012"/>
              </p:ext>
            </p:extLst>
          </p:nvPr>
        </p:nvGraphicFramePr>
        <p:xfrm>
          <a:off x="9601200" y="3505200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4" imgW="888614" imgH="342751" progId="Equation.3">
                  <p:embed/>
                </p:oleObj>
              </mc:Choice>
              <mc:Fallback>
                <p:oleObj name="Equation" r:id="rId4" imgW="888614" imgH="342751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1200" y="3505200"/>
                        <a:ext cx="889000" cy="342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9372600" y="5105400"/>
            <a:ext cx="1893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Elastic only</a:t>
            </a:r>
          </a:p>
        </p:txBody>
      </p:sp>
    </p:spTree>
    <p:extLst>
      <p:ext uri="{BB962C8B-B14F-4D97-AF65-F5344CB8AC3E}">
        <p14:creationId xmlns:p14="http://schemas.microsoft.com/office/powerpoint/2010/main" val="12593461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Shear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1524000" y="1828800"/>
            <a:ext cx="5486400" cy="4953000"/>
            <a:chOff x="1296" y="384"/>
            <a:chExt cx="3456" cy="3120"/>
          </a:xfrm>
        </p:grpSpPr>
        <p:pic>
          <p:nvPicPr>
            <p:cNvPr id="11" name="Picture 5" descr="E:\MechanoLink\Gere-5e\Images\Chapter 3\Chapter 3 Figures\GERE_0301_f3_7.BMP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384"/>
              <a:ext cx="3456" cy="2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1584" y="3388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600" b="0">
                  <a:latin typeface="Times New Roman" panose="02020603050405020304" pitchFamily="18" charset="0"/>
                </a:rPr>
                <a:t>©2001 Brooks/Cole, a division of Thomson Learning, Inc.  Thomson Learning</a:t>
              </a:r>
              <a:r>
                <a:rPr lang="en-US" altLang="en-US" sz="600" b="0" baseline="-25000">
                  <a:latin typeface="Times New Roman" panose="02020603050405020304" pitchFamily="18" charset="0"/>
                </a:rPr>
                <a:t>™</a:t>
              </a:r>
              <a:r>
                <a:rPr lang="en-US" altLang="en-US" sz="600" b="0">
                  <a:latin typeface="Times New Roman" panose="02020603050405020304" pitchFamily="18" charset="0"/>
                </a:rPr>
                <a:t> is a trademark used herein under license.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2895600"/>
            <a:ext cx="3047998" cy="1524000"/>
          </a:xfrm>
          <a:prstGeom prst="rect">
            <a:avLst/>
          </a:prstGeom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8610600" y="5181600"/>
            <a:ext cx="1893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Elastic only</a:t>
            </a:r>
          </a:p>
        </p:txBody>
      </p:sp>
    </p:spTree>
    <p:extLst>
      <p:ext uri="{BB962C8B-B14F-4D97-AF65-F5344CB8AC3E}">
        <p14:creationId xmlns:p14="http://schemas.microsoft.com/office/powerpoint/2010/main" val="38024986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Torque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219200" y="1600200"/>
            <a:ext cx="4624387" cy="4832350"/>
            <a:chOff x="1536" y="336"/>
            <a:chExt cx="2913" cy="3044"/>
          </a:xfrm>
        </p:grpSpPr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1632" y="3264"/>
              <a:ext cx="264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600" b="0">
                  <a:latin typeface="Times New Roman" panose="02020603050405020304" pitchFamily="18" charset="0"/>
                </a:rPr>
                <a:t>©2001 Brooks/Cole, a division of Thomson Learning, Inc.  Thomson Learning</a:t>
              </a:r>
              <a:r>
                <a:rPr lang="en-US" altLang="en-US" sz="600" b="0" baseline="-25000">
                  <a:latin typeface="Times New Roman" panose="02020603050405020304" pitchFamily="18" charset="0"/>
                </a:rPr>
                <a:t>™</a:t>
              </a:r>
              <a:r>
                <a:rPr lang="en-US" altLang="en-US" sz="600" b="0">
                  <a:latin typeface="Times New Roman" panose="02020603050405020304" pitchFamily="18" charset="0"/>
                </a:rPr>
                <a:t> is a trademark used herein under license.</a:t>
              </a:r>
            </a:p>
          </p:txBody>
        </p:sp>
        <p:pic>
          <p:nvPicPr>
            <p:cNvPr id="15" name="Picture 6" descr="E:\MechanoLink\Gere-5e\Images\Chapter 3\Chapter 3 Figures\GERE_0303_f3_9.BMP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6" y="336"/>
              <a:ext cx="2913" cy="2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44878"/>
              </p:ext>
            </p:extLst>
          </p:nvPr>
        </p:nvGraphicFramePr>
        <p:xfrm>
          <a:off x="6858000" y="1828800"/>
          <a:ext cx="3098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Equation" r:id="rId4" imgW="3098800" imgH="711200" progId="Equation.3">
                  <p:embed/>
                </p:oleObj>
              </mc:Choice>
              <mc:Fallback>
                <p:oleObj name="Equation" r:id="rId4" imgW="3098800" imgH="711200" progId="Equation.3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828800"/>
                        <a:ext cx="30988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623744"/>
              </p:ext>
            </p:extLst>
          </p:nvPr>
        </p:nvGraphicFramePr>
        <p:xfrm>
          <a:off x="7451725" y="5241925"/>
          <a:ext cx="1168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6" imgW="1168400" imgH="711200" progId="Equation.3">
                  <p:embed/>
                </p:oleObj>
              </mc:Choice>
              <mc:Fallback>
                <p:oleObj name="Equation" r:id="rId6" imgW="1168400" imgH="711200" progId="Equation.3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5241925"/>
                        <a:ext cx="11684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321130"/>
              </p:ext>
            </p:extLst>
          </p:nvPr>
        </p:nvGraphicFramePr>
        <p:xfrm>
          <a:off x="8288338" y="4083050"/>
          <a:ext cx="8763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8" imgW="876300" imgH="711200" progId="Equation.3">
                  <p:embed/>
                </p:oleObj>
              </mc:Choice>
              <mc:Fallback>
                <p:oleObj name="Equation" r:id="rId8" imgW="876300" imgH="711200" progId="Equation.3">
                  <p:embed/>
                  <p:pic>
                    <p:nvPicPr>
                      <p:cNvPr id="1639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8338" y="4083050"/>
                        <a:ext cx="8763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9105900" y="5511800"/>
            <a:ext cx="18934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Elastic only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2775658"/>
            <a:ext cx="1828800" cy="100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308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Polar Moment of Inertia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4" y="2133600"/>
            <a:ext cx="3404680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133600"/>
            <a:ext cx="8699154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5030190"/>
            <a:ext cx="3181073" cy="132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463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3" y="2286000"/>
            <a:ext cx="7846141" cy="160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3581400"/>
            <a:ext cx="2286000" cy="247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462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7846141" cy="160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1417712"/>
            <a:ext cx="2286000" cy="24730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29000"/>
            <a:ext cx="4955458" cy="3200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498" y="3235657"/>
            <a:ext cx="2333767" cy="17935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799" y="5334000"/>
            <a:ext cx="2293497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276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82" y="1828800"/>
            <a:ext cx="11224635" cy="3962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7265"/>
          <a:stretch/>
        </p:blipFill>
        <p:spPr>
          <a:xfrm>
            <a:off x="762000" y="4821082"/>
            <a:ext cx="2133600" cy="178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044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28800"/>
            <a:ext cx="3343524" cy="2209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76400"/>
            <a:ext cx="6875561" cy="3124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242" y="5479099"/>
            <a:ext cx="6238164" cy="103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389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Angle of Twist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149613"/>
              </p:ext>
            </p:extLst>
          </p:nvPr>
        </p:nvGraphicFramePr>
        <p:xfrm>
          <a:off x="8229600" y="1828800"/>
          <a:ext cx="162741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1168400" imgH="711200" progId="Equation.3">
                  <p:embed/>
                </p:oleObj>
              </mc:Choice>
              <mc:Fallback>
                <p:oleObj name="Equation" r:id="rId3" imgW="1168400" imgH="711200" progId="Equation.3">
                  <p:embed/>
                  <p:pic>
                    <p:nvPicPr>
                      <p:cNvPr id="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828800"/>
                        <a:ext cx="1627414" cy="990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514" y="3499844"/>
            <a:ext cx="2490386" cy="11468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7264" y="5176244"/>
            <a:ext cx="2436885" cy="10816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1676400"/>
            <a:ext cx="4886040" cy="47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53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Constant Torque and Cross-section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191000"/>
            <a:ext cx="2306185" cy="16678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09800"/>
            <a:ext cx="3090043" cy="1371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09228"/>
            <a:ext cx="447520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494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Piece-wise Constant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057400"/>
            <a:ext cx="3090043" cy="1371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349" y="4191000"/>
            <a:ext cx="2503743" cy="15916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977" y="2514600"/>
            <a:ext cx="590731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782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Sign Convention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209800"/>
            <a:ext cx="2503743" cy="15916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5152"/>
          <a:stretch/>
        </p:blipFill>
        <p:spPr>
          <a:xfrm>
            <a:off x="5410200" y="1447800"/>
            <a:ext cx="5748207" cy="3616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345" y="5181600"/>
            <a:ext cx="9171655" cy="112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279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514600"/>
            <a:ext cx="5384800" cy="2590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2895600"/>
            <a:ext cx="590731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94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828800"/>
            <a:ext cx="1038812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481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58" y="1449811"/>
            <a:ext cx="4267200" cy="28258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676400"/>
            <a:ext cx="4800600" cy="23727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60" y="4360689"/>
            <a:ext cx="3885596" cy="7042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4251813"/>
            <a:ext cx="6550404" cy="22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300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Statically Indeterminate Shaft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295172"/>
            <a:ext cx="3810000" cy="26969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52600"/>
            <a:ext cx="2865121" cy="914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166" y="2968468"/>
            <a:ext cx="2034387" cy="8768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495800"/>
            <a:ext cx="2941855" cy="11969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114800"/>
            <a:ext cx="3305742" cy="235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75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8328611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90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63" y="1558287"/>
            <a:ext cx="5867400" cy="27914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2057400"/>
            <a:ext cx="4775197" cy="685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136894"/>
            <a:ext cx="1873405" cy="685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346" y="4876800"/>
            <a:ext cx="842210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525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524000"/>
            <a:ext cx="9220204" cy="1676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29000"/>
            <a:ext cx="4482121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71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3733800" cy="2348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905000"/>
            <a:ext cx="5439505" cy="60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971800"/>
            <a:ext cx="7405813" cy="220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04629"/>
            <a:ext cx="5353487" cy="21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297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Power Transmission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0200"/>
            <a:ext cx="2590800" cy="31796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600200"/>
            <a:ext cx="2872080" cy="13562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479" y="3962400"/>
            <a:ext cx="8507355" cy="234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56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Shaft Design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177723"/>
            <a:ext cx="2895600" cy="159629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178860"/>
            <a:ext cx="2971800" cy="148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27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8512630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10000"/>
            <a:ext cx="34056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687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472253"/>
            <a:ext cx="8512630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629" y="1263886"/>
            <a:ext cx="3405600" cy="2514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245114"/>
            <a:ext cx="5985805" cy="18417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r="6897"/>
          <a:stretch/>
        </p:blipFill>
        <p:spPr>
          <a:xfrm>
            <a:off x="6138205" y="3873969"/>
            <a:ext cx="5856053" cy="948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012" y="5077774"/>
            <a:ext cx="4881625" cy="178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720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Stress Concentration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5638800" cy="50407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276600"/>
            <a:ext cx="2577738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81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55347"/>
            <a:ext cx="9186329" cy="1600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955547"/>
            <a:ext cx="4444357" cy="32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78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63" y="1355347"/>
            <a:ext cx="8141138" cy="141813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53" y="2590800"/>
            <a:ext cx="4444357" cy="329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256188"/>
            <a:ext cx="2904930" cy="16164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845" y="2773481"/>
            <a:ext cx="4449568" cy="39776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1665" y="4564792"/>
            <a:ext cx="1238420" cy="4644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55" y="5863678"/>
            <a:ext cx="5207053" cy="86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6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Inelastic Torsion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120438"/>
            <a:ext cx="3124200" cy="19467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505200"/>
            <a:ext cx="2675617" cy="11772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215480"/>
            <a:ext cx="2497140" cy="24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281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Linear Elastic Perfectly Plastic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42713"/>
            <a:ext cx="4141693" cy="2514600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285858"/>
              </p:ext>
            </p:extLst>
          </p:nvPr>
        </p:nvGraphicFramePr>
        <p:xfrm>
          <a:off x="8001000" y="1614280"/>
          <a:ext cx="1447800" cy="1175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4" imgW="876300" imgH="711200" progId="Equation.3">
                  <p:embed/>
                </p:oleObj>
              </mc:Choice>
              <mc:Fallback>
                <p:oleObj name="Equation" r:id="rId4" imgW="876300" imgH="711200" progId="Equation.3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614280"/>
                        <a:ext cx="1447800" cy="1175026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600" y="3359969"/>
            <a:ext cx="3521188" cy="9203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4495800"/>
            <a:ext cx="2844801" cy="1981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7432" y="4648200"/>
            <a:ext cx="2814935" cy="61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142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Torque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649105"/>
            <a:ext cx="5108620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844801" cy="198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301" y="4265211"/>
            <a:ext cx="3124200" cy="19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875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Full Plastic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808802"/>
            <a:ext cx="3233530" cy="2438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837944"/>
            <a:ext cx="2878630" cy="20482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495800"/>
            <a:ext cx="2924377" cy="150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928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Torque – Angle of Twisting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274222"/>
              </p:ext>
            </p:extLst>
          </p:nvPr>
        </p:nvGraphicFramePr>
        <p:xfrm>
          <a:off x="2959100" y="2096069"/>
          <a:ext cx="1828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3" imgW="1828800" imgH="711200" progId="Equation.3">
                  <p:embed/>
                </p:oleObj>
              </mc:Choice>
              <mc:Fallback>
                <p:oleObj name="Equation" r:id="rId3" imgW="1828800" imgH="711200" progId="Equation.3">
                  <p:embed/>
                  <p:pic>
                    <p:nvPicPr>
                      <p:cNvPr id="3277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96069"/>
                        <a:ext cx="18288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303338" y="2267519"/>
            <a:ext cx="135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Elastic only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593410"/>
              </p:ext>
            </p:extLst>
          </p:nvPr>
        </p:nvGraphicFramePr>
        <p:xfrm>
          <a:off x="3124200" y="3581969"/>
          <a:ext cx="127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5" imgW="1269449" imgH="761669" progId="Equation.3">
                  <p:embed/>
                </p:oleObj>
              </mc:Choice>
              <mc:Fallback>
                <p:oleObj name="Equation" r:id="rId5" imgW="1269449" imgH="761669" progId="Equation.3">
                  <p:embed/>
                  <p:pic>
                    <p:nvPicPr>
                      <p:cNvPr id="32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969"/>
                        <a:ext cx="1270000" cy="762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80224"/>
              </p:ext>
            </p:extLst>
          </p:nvPr>
        </p:nvGraphicFramePr>
        <p:xfrm>
          <a:off x="3238500" y="5050406"/>
          <a:ext cx="1041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7" imgW="1040948" imgH="774364" progId="Equation.3">
                  <p:embed/>
                </p:oleObj>
              </mc:Choice>
              <mc:Fallback>
                <p:oleObj name="Equation" r:id="rId7" imgW="1040948" imgH="774364" progId="Equation.3">
                  <p:embed/>
                  <p:pic>
                    <p:nvPicPr>
                      <p:cNvPr id="3277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050406"/>
                        <a:ext cx="1041400" cy="774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838200" y="5253606"/>
            <a:ext cx="2120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Elastic zone radius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2096069"/>
            <a:ext cx="5108620" cy="457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273" y="1410574"/>
            <a:ext cx="3554747" cy="247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52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47800"/>
            <a:ext cx="8847115" cy="228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290834"/>
            <a:ext cx="3106882" cy="1981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4168914"/>
            <a:ext cx="3048000" cy="222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18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781800" cy="17523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371600"/>
            <a:ext cx="2620241" cy="16708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82859"/>
            <a:ext cx="6330460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772" y="5340824"/>
            <a:ext cx="1751936" cy="9003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4502624"/>
            <a:ext cx="373236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47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371600"/>
            <a:ext cx="10036104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093015"/>
            <a:ext cx="5612227" cy="317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765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28" y="1511858"/>
            <a:ext cx="7467600" cy="1020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371600"/>
            <a:ext cx="3733800" cy="211515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22061"/>
            <a:ext cx="4853994" cy="11293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876800"/>
            <a:ext cx="2971800" cy="1010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394" y="4544050"/>
            <a:ext cx="513620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066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Residual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539724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600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Residual Stress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539724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698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Plastic Torque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24000"/>
            <a:ext cx="2677824" cy="28340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676400"/>
            <a:ext cx="2514600" cy="27889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4888679"/>
            <a:ext cx="2734469" cy="10742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55613"/>
            <a:ext cx="3592519" cy="12073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524000"/>
            <a:ext cx="2743200" cy="29925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5800" y="5164196"/>
            <a:ext cx="3102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Issue with center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426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err="1" smtClean="0">
                <a:solidFill>
                  <a:schemeClr val="bg1"/>
                </a:solidFill>
              </a:rPr>
              <a:t>Elasto</a:t>
            </a:r>
            <a:r>
              <a:rPr lang="en-US" altLang="zh-CN" sz="4000" b="1" dirty="0" smtClean="0">
                <a:solidFill>
                  <a:schemeClr val="bg1"/>
                </a:solidFill>
              </a:rPr>
              <a:t>-plastic Torque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9800"/>
            <a:ext cx="111779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500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0200"/>
            <a:ext cx="10273399" cy="1905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963884"/>
            <a:ext cx="3581400" cy="23972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733800"/>
            <a:ext cx="3119933" cy="262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181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274974"/>
            <a:ext cx="7806757" cy="14476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1458838"/>
            <a:ext cx="2362200" cy="1581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3736160"/>
            <a:ext cx="3119933" cy="26273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984872"/>
            <a:ext cx="6297856" cy="1828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225" y="5049815"/>
            <a:ext cx="6714905" cy="112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08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1592378"/>
            <a:ext cx="7806757" cy="144761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634465"/>
            <a:ext cx="5545579" cy="25525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b="6723"/>
          <a:stretch/>
        </p:blipFill>
        <p:spPr>
          <a:xfrm>
            <a:off x="8915400" y="1371600"/>
            <a:ext cx="2590800" cy="528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307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Assignment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600" y="2590800"/>
            <a:ext cx="81788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Textbook </a:t>
            </a:r>
          </a:p>
          <a:p>
            <a:endParaRPr lang="en-US" dirty="0"/>
          </a:p>
          <a:p>
            <a:r>
              <a:rPr lang="en-US" dirty="0" smtClean="0"/>
              <a:t>5.2, 5.5, 5.30, 5.38, 5.48, 5.49, 5.78</a:t>
            </a:r>
            <a:r>
              <a:rPr lang="en-US" smtClean="0"/>
              <a:t>, 5.120, 5.129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641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Quiz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86"/>
          <a:stretch/>
        </p:blipFill>
        <p:spPr>
          <a:xfrm>
            <a:off x="3581400" y="1752600"/>
            <a:ext cx="4437869" cy="1733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289" y="4190284"/>
            <a:ext cx="8432089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627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26885</TotalTime>
  <Words>263</Words>
  <Application>Microsoft Office PowerPoint</Application>
  <PresentationFormat>Widescreen</PresentationFormat>
  <Paragraphs>71</Paragraphs>
  <Slides>52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宋体</vt:lpstr>
      <vt:lpstr>楷体</vt:lpstr>
      <vt:lpstr>Arial</vt:lpstr>
      <vt:lpstr>Arial Black</vt:lpstr>
      <vt:lpstr>Times New Roman</vt:lpstr>
      <vt:lpstr>Wingdings</vt:lpstr>
      <vt:lpstr>Default Design</vt:lpstr>
      <vt:lpstr>Equation</vt:lpstr>
      <vt:lpstr>MSE 213  Mechanics of Materials B Lecture 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KB</dc:creator>
  <cp:lastModifiedBy>Jiangyu Li</cp:lastModifiedBy>
  <cp:revision>1521</cp:revision>
  <dcterms:created xsi:type="dcterms:W3CDTF">2000-06-23T23:39:39Z</dcterms:created>
  <dcterms:modified xsi:type="dcterms:W3CDTF">2021-03-25T01:16:18Z</dcterms:modified>
</cp:coreProperties>
</file>