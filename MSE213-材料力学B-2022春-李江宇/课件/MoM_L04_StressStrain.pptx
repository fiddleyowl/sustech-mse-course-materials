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257" r:id="rId2"/>
    <p:sldId id="882" r:id="rId3"/>
    <p:sldId id="847" r:id="rId4"/>
    <p:sldId id="848" r:id="rId5"/>
    <p:sldId id="849" r:id="rId6"/>
    <p:sldId id="850" r:id="rId7"/>
    <p:sldId id="883" r:id="rId8"/>
    <p:sldId id="851" r:id="rId9"/>
    <p:sldId id="884" r:id="rId10"/>
    <p:sldId id="885" r:id="rId11"/>
    <p:sldId id="886" r:id="rId12"/>
    <p:sldId id="852" r:id="rId13"/>
    <p:sldId id="853" r:id="rId14"/>
    <p:sldId id="888" r:id="rId15"/>
    <p:sldId id="854" r:id="rId16"/>
    <p:sldId id="881" r:id="rId17"/>
    <p:sldId id="855" r:id="rId18"/>
    <p:sldId id="856" r:id="rId19"/>
    <p:sldId id="857" r:id="rId20"/>
    <p:sldId id="864" r:id="rId21"/>
    <p:sldId id="887" r:id="rId22"/>
    <p:sldId id="865" r:id="rId23"/>
    <p:sldId id="858" r:id="rId24"/>
    <p:sldId id="859" r:id="rId25"/>
    <p:sldId id="860" r:id="rId26"/>
    <p:sldId id="861" r:id="rId27"/>
    <p:sldId id="862" r:id="rId28"/>
    <p:sldId id="863" r:id="rId29"/>
    <p:sldId id="905" r:id="rId30"/>
    <p:sldId id="906" r:id="rId31"/>
    <p:sldId id="907" r:id="rId32"/>
    <p:sldId id="908" r:id="rId33"/>
    <p:sldId id="909" r:id="rId34"/>
    <p:sldId id="910" r:id="rId35"/>
    <p:sldId id="911" r:id="rId36"/>
    <p:sldId id="912" r:id="rId37"/>
    <p:sldId id="913" r:id="rId38"/>
    <p:sldId id="914" r:id="rId39"/>
    <p:sldId id="915" r:id="rId40"/>
    <p:sldId id="916" r:id="rId41"/>
    <p:sldId id="866" r:id="rId42"/>
    <p:sldId id="890" r:id="rId43"/>
    <p:sldId id="892" r:id="rId44"/>
    <p:sldId id="889" r:id="rId45"/>
    <p:sldId id="891" r:id="rId46"/>
    <p:sldId id="893" r:id="rId47"/>
    <p:sldId id="894" r:id="rId48"/>
    <p:sldId id="895" r:id="rId49"/>
    <p:sldId id="867" r:id="rId50"/>
    <p:sldId id="868" r:id="rId51"/>
    <p:sldId id="869" r:id="rId52"/>
    <p:sldId id="871" r:id="rId53"/>
    <p:sldId id="870" r:id="rId54"/>
    <p:sldId id="872" r:id="rId55"/>
    <p:sldId id="873" r:id="rId56"/>
    <p:sldId id="875" r:id="rId57"/>
    <p:sldId id="876" r:id="rId58"/>
    <p:sldId id="877" r:id="rId59"/>
    <p:sldId id="879" r:id="rId60"/>
    <p:sldId id="878" r:id="rId61"/>
    <p:sldId id="880" r:id="rId62"/>
    <p:sldId id="896" r:id="rId63"/>
    <p:sldId id="897" r:id="rId64"/>
    <p:sldId id="898" r:id="rId65"/>
    <p:sldId id="899" r:id="rId66"/>
    <p:sldId id="900" r:id="rId67"/>
    <p:sldId id="901" r:id="rId68"/>
    <p:sldId id="902" r:id="rId69"/>
    <p:sldId id="903" r:id="rId70"/>
    <p:sldId id="904" r:id="rId71"/>
    <p:sldId id="846" r:id="rId72"/>
  </p:sldIdLst>
  <p:sldSz cx="12192000" cy="6858000"/>
  <p:notesSz cx="69469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43"/>
    <a:srgbClr val="ED6C00"/>
    <a:srgbClr val="2BB7B3"/>
    <a:srgbClr val="00FF00"/>
    <a:srgbClr val="660066"/>
    <a:srgbClr val="3366FF"/>
    <a:srgbClr val="0000CC"/>
    <a:srgbClr val="339933"/>
    <a:srgbClr val="99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2" autoAdjust="0"/>
    <p:restoredTop sz="94660" autoAdjust="0"/>
  </p:normalViewPr>
  <p:slideViewPr>
    <p:cSldViewPr>
      <p:cViewPr varScale="1">
        <p:scale>
          <a:sx n="70" d="100"/>
          <a:sy n="70" d="100"/>
        </p:scale>
        <p:origin x="62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624"/>
    </p:cViewPr>
  </p:sorterViewPr>
  <p:notesViewPr>
    <p:cSldViewPr>
      <p:cViewPr>
        <p:scale>
          <a:sx n="100" d="100"/>
          <a:sy n="100" d="100"/>
        </p:scale>
        <p:origin x="-48" y="528"/>
      </p:cViewPr>
      <p:guideLst>
        <p:guide orient="horz" pos="2904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fld id="{BA950B12-1F8A-497D-ADB8-F6A75C7EFA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620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05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79913"/>
            <a:ext cx="5095875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3F7C5D-75CA-4BD6-8833-3F2846A04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1444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EC4CC0-33AD-447E-B7DE-66586FD64824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2150"/>
            <a:ext cx="6146800" cy="3457575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54" tIns="45327" rIns="90654" bIns="45327"/>
          <a:lstStyle/>
          <a:p>
            <a:pPr marL="228600" indent="-228600"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7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0" y="2590800"/>
            <a:ext cx="1036320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524000"/>
            <a:ext cx="10363200" cy="472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8674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867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 userDrawn="1"/>
        </p:nvSpPr>
        <p:spPr>
          <a:xfrm>
            <a:off x="0" y="152400"/>
            <a:ext cx="12192000" cy="1066800"/>
          </a:xfrm>
          <a:prstGeom prst="rect">
            <a:avLst/>
          </a:prstGeom>
          <a:solidFill>
            <a:srgbClr val="2BB7B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3200" kern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v"/>
        <a:defRPr sz="24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E003E"/>
        </a:buClr>
        <a:buFont typeface="Wingdings" pitchFamily="2" charset="2"/>
        <a:buChar char="Ø"/>
        <a:defRPr sz="2000" b="1">
          <a:solidFill>
            <a:srgbClr val="3E003E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800000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google.com/url?sa=i&amp;rct=j&amp;q=&amp;esrc=s&amp;source=images&amp;cd=&amp;ved=0ahUKEwicgZH28_3PAhUI0WMKHRmYAGYQjRwIBw&amp;url=https%3A%2F%2Fen.wikipedia.org%2Fwiki%2FStress%25E2%2580%2593strain_curve&amp;bvm=bv.136811127,d.cGw&amp;psig=AFQjCNGCxp7kNHuxbFXSMOiCpvAbohNRjQ&amp;ust=1477758031564007&amp;cad=rja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28.jpeg"/><Relationship Id="rId7" Type="http://schemas.openxmlformats.org/officeDocument/2006/relationships/image" Target="../media/image34.wmf"/><Relationship Id="rId12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3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2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74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7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78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81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83.emf"/><Relationship Id="rId4" Type="http://schemas.openxmlformats.org/officeDocument/2006/relationships/image" Target="../media/image8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85.emf"/><Relationship Id="rId4" Type="http://schemas.openxmlformats.org/officeDocument/2006/relationships/image" Target="../media/image84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93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95.emf"/><Relationship Id="rId4" Type="http://schemas.openxmlformats.org/officeDocument/2006/relationships/image" Target="../media/image94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97.emf"/><Relationship Id="rId4" Type="http://schemas.openxmlformats.org/officeDocument/2006/relationships/image" Target="../media/image96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4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76200"/>
            <a:ext cx="12192000" cy="3330054"/>
          </a:xfrm>
          <a:prstGeom prst="rect">
            <a:avLst/>
          </a:prstGeom>
          <a:solidFill>
            <a:srgbClr val="2BB7B3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MSE 213 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Mechanics of Materials B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Lecture 4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endParaRPr lang="en-US" altLang="zh-CN" sz="4400" b="0" dirty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810000"/>
            <a:ext cx="12192000" cy="762000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20000"/>
              </a:lnSpc>
              <a:buNone/>
            </a:pPr>
            <a:r>
              <a:rPr lang="en-US" altLang="zh-CN" sz="3200" dirty="0" smtClean="0">
                <a:solidFill>
                  <a:srgbClr val="003F43"/>
                </a:solidFill>
                <a:ea typeface="楷体" panose="02010609060101010101" pitchFamily="49" charset="-122"/>
              </a:rPr>
              <a:t>Stress-Strain Curve and Constitutive Equation</a:t>
            </a:r>
            <a:r>
              <a:rPr lang="en-US" altLang="zh-CN" dirty="0" smtClean="0">
                <a:solidFill>
                  <a:srgbClr val="C00000"/>
                </a:solidFill>
                <a:ea typeface="楷体" panose="02010609060101010101" pitchFamily="49" charset="-122"/>
              </a:rPr>
              <a:t>                        </a:t>
            </a:r>
            <a:endParaRPr lang="en-US" altLang="zh-CN" dirty="0">
              <a:solidFill>
                <a:srgbClr val="C00000"/>
              </a:solidFill>
              <a:ea typeface="楷体" panose="02010609060101010101" pitchFamily="49" charset="-12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0" y="6096000"/>
            <a:ext cx="12192000" cy="733342"/>
          </a:xfrm>
          <a:prstGeom prst="rect">
            <a:avLst/>
          </a:prstGeom>
          <a:solidFill>
            <a:srgbClr val="2BB7B3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zh-CN" sz="3600" b="1" dirty="0" smtClean="0">
                <a:solidFill>
                  <a:schemeClr val="bg1"/>
                </a:solidFill>
                <a:latin typeface="Arial Black" pitchFamily="34" charset="0"/>
                <a:ea typeface="宋体" pitchFamily="2" charset="-122"/>
              </a:rPr>
              <a:t>Jiangyu Li</a:t>
            </a:r>
            <a:endParaRPr lang="en-US" altLang="zh-CN" sz="3600" b="1" dirty="0">
              <a:solidFill>
                <a:schemeClr val="bg1"/>
              </a:solidFill>
              <a:latin typeface="Arial Black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847" y="5072390"/>
            <a:ext cx="2977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Textbook 3.1-3.7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81200"/>
            <a:ext cx="10058400" cy="393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5919116"/>
            <a:ext cx="2535170" cy="56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299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05000"/>
            <a:ext cx="82296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8308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What is the relationship between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050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0" y="4724400"/>
            <a:ext cx="4636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And how we determine it?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2294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Uniaxial Tensile Test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24" y="1676400"/>
            <a:ext cx="3581400" cy="45395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932" y="2809269"/>
            <a:ext cx="3321268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69277"/>
            <a:ext cx="3657600" cy="15197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966" y="4638069"/>
            <a:ext cx="2743200" cy="17875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34600" y="5985148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174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Uniaxial Tensile Test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1901953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101" y="4560348"/>
            <a:ext cx="1673353" cy="1418715"/>
          </a:xfrm>
          <a:prstGeom prst="rect">
            <a:avLst/>
          </a:prstGeom>
        </p:spPr>
      </p:pic>
      <p:pic>
        <p:nvPicPr>
          <p:cNvPr id="9" name="Picture 6" descr="Image result for tensile specim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5" b="9502"/>
          <a:stretch>
            <a:fillRect/>
          </a:stretch>
        </p:blipFill>
        <p:spPr bwMode="auto">
          <a:xfrm>
            <a:off x="1828800" y="1507682"/>
            <a:ext cx="36576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Image result for tensile specime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038600"/>
            <a:ext cx="54864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7847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 smtClean="0">
                <a:solidFill>
                  <a:schemeClr val="bg1"/>
                </a:solidFill>
              </a:rPr>
              <a:t>Instron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200" y="2057400"/>
            <a:ext cx="6502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98279"/>
              </p:ext>
            </p:extLst>
          </p:nvPr>
        </p:nvGraphicFramePr>
        <p:xfrm>
          <a:off x="7670800" y="3530600"/>
          <a:ext cx="1219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4" imgW="1218671" imgH="710891" progId="Equation.3">
                  <p:embed/>
                </p:oleObj>
              </mc:Choice>
              <mc:Fallback>
                <p:oleObj name="Equation" r:id="rId4" imgW="1218671" imgH="710891" progId="Equation.3">
                  <p:embed/>
                  <p:pic>
                    <p:nvPicPr>
                      <p:cNvPr id="819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530600"/>
                        <a:ext cx="12192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0" y="58674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8987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Engineering Stress-Strain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 descr="Image result for stress strain cur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66675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7" y="1981200"/>
            <a:ext cx="1901953" cy="1371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366" y="5163060"/>
            <a:ext cx="1673353" cy="141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99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Engineering Stress-Strain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828800"/>
            <a:ext cx="59436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61204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Engineering Stress-Strain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 descr="Image result for stress strain cur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66675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0134600" y="5985148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531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Engineering Stress-Strain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8" descr="Image result for engineering stress strain curve brit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52600"/>
            <a:ext cx="6420402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89122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Linear Elastic Regime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6" descr="https://www.nde-ed.org/EducationResources/CommunityCollege/Materials/Graphics/Mechanical/StressStrainCurve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73" b="41935"/>
          <a:stretch/>
        </p:blipFill>
        <p:spPr bwMode="auto">
          <a:xfrm>
            <a:off x="6324600" y="1149211"/>
            <a:ext cx="2110154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https://www.nde-ed.org/EducationResources/CommunityCollege/Materials/Graphics/Mechanical/StressStrainCurve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23"/>
          <a:stretch/>
        </p:blipFill>
        <p:spPr bwMode="auto">
          <a:xfrm>
            <a:off x="762000" y="2365236"/>
            <a:ext cx="5029200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587154" y="5419586"/>
            <a:ext cx="3276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Deformation can be fully recovered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0359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Yielding or Plastic Deformation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6" descr="https://www.nde-ed.org/EducationResources/CommunityCollege/Materials/Graphics/Mechanical/StressStrainCurve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23"/>
          <a:stretch/>
        </p:blipFill>
        <p:spPr bwMode="auto">
          <a:xfrm>
            <a:off x="368300" y="1600200"/>
            <a:ext cx="5029200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Image result for stress strain curve loading unloa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600200"/>
            <a:ext cx="633888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77900" y="5015805"/>
            <a:ext cx="441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Deformation cannot be fully recovered upon unloading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639902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 Hardening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3" y="1600200"/>
            <a:ext cx="5766342" cy="4191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00400"/>
            <a:ext cx="841022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474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Necking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8" descr="Image result for engineering stress strain curve brit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676400"/>
            <a:ext cx="664179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301" y="1676400"/>
            <a:ext cx="3174999" cy="4572000"/>
          </a:xfrm>
          <a:prstGeom prst="rect">
            <a:avLst/>
          </a:prstGeom>
        </p:spPr>
      </p:pic>
      <p:pic>
        <p:nvPicPr>
          <p:cNvPr id="8" name="Picture 9" descr="An aluminium specimen showing ductile failu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80"/>
          <a:stretch>
            <a:fillRect/>
          </a:stretch>
        </p:blipFill>
        <p:spPr bwMode="auto">
          <a:xfrm>
            <a:off x="10668000" y="2562225"/>
            <a:ext cx="109696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911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Reexamining Engineering Stress &amp;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2" descr="Image result for stress strain cur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66675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7" y="1981200"/>
            <a:ext cx="1901953" cy="1371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366" y="5163060"/>
            <a:ext cx="1673353" cy="141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47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True Stress &amp;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239180"/>
              </p:ext>
            </p:extLst>
          </p:nvPr>
        </p:nvGraphicFramePr>
        <p:xfrm>
          <a:off x="3352800" y="1969827"/>
          <a:ext cx="228191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3" imgW="1638300" imgH="711200" progId="Equation.3">
                  <p:embed/>
                </p:oleObj>
              </mc:Choice>
              <mc:Fallback>
                <p:oleObj name="Equation" r:id="rId3" imgW="1638300" imgH="711200" progId="Equation.3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969827"/>
                        <a:ext cx="2281918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841263"/>
              </p:ext>
            </p:extLst>
          </p:nvPr>
        </p:nvGraphicFramePr>
        <p:xfrm>
          <a:off x="3318681" y="3918229"/>
          <a:ext cx="5398900" cy="19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5" imgW="4483100" imgH="1600200" progId="Equation.3">
                  <p:embed/>
                </p:oleObj>
              </mc:Choice>
              <mc:Fallback>
                <p:oleObj name="Equation" r:id="rId5" imgW="4483100" imgH="1600200" progId="Equation.3">
                  <p:embed/>
                  <p:pic>
                    <p:nvPicPr>
                      <p:cNvPr id="2048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681" y="3918229"/>
                        <a:ext cx="5398900" cy="192708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5467968" y="5029200"/>
            <a:ext cx="3249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Homogeneous deformation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Constant Volume</a:t>
            </a:r>
          </a:p>
        </p:txBody>
      </p:sp>
    </p:spTree>
    <p:extLst>
      <p:ext uri="{BB962C8B-B14F-4D97-AF65-F5344CB8AC3E}">
        <p14:creationId xmlns:p14="http://schemas.microsoft.com/office/powerpoint/2010/main" val="26380906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True Stress &amp;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"/>
          <a:stretch>
            <a:fillRect/>
          </a:stretch>
        </p:blipFill>
        <p:spPr bwMode="auto">
          <a:xfrm>
            <a:off x="2895600" y="1752600"/>
            <a:ext cx="6400800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5309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True Stress-Strain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5" descr="Image result for true stress strain curv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00200"/>
            <a:ext cx="48672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947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Engineering Stress-Strain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2600"/>
            <a:ext cx="8153400" cy="4715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608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Elastic Regime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286000"/>
            <a:ext cx="64008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600200" y="2286000"/>
            <a:ext cx="25908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Young’s modulus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Poisson’s ratio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Proportional limit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Elastic </a:t>
            </a:r>
            <a:r>
              <a:rPr lang="en-US" altLang="en-US" sz="2000" dirty="0" smtClean="0">
                <a:solidFill>
                  <a:srgbClr val="FF0000"/>
                </a:solidFill>
              </a:rPr>
              <a:t>limit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Modulus of resilience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406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Work done and Energy stored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6672055" cy="385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176196"/>
              </p:ext>
            </p:extLst>
          </p:nvPr>
        </p:nvGraphicFramePr>
        <p:xfrm>
          <a:off x="7779224" y="2286000"/>
          <a:ext cx="2286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4" imgW="1778000" imgH="1244600" progId="Equation.3">
                  <p:embed/>
                </p:oleObj>
              </mc:Choice>
              <mc:Fallback>
                <p:oleObj name="Equation" r:id="rId4" imgW="1778000" imgH="1244600" progId="Equation.3">
                  <p:embed/>
                  <p:pic>
                    <p:nvPicPr>
                      <p:cNvPr id="1434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9224" y="2286000"/>
                        <a:ext cx="2286000" cy="1600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862117"/>
              </p:ext>
            </p:extLst>
          </p:nvPr>
        </p:nvGraphicFramePr>
        <p:xfrm>
          <a:off x="7767851" y="4572000"/>
          <a:ext cx="2001959" cy="682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6" imgW="1117600" imgH="381000" progId="Equation.3">
                  <p:embed/>
                </p:oleObj>
              </mc:Choice>
              <mc:Fallback>
                <p:oleObj name="Equation" r:id="rId6" imgW="1117600" imgH="381000" progId="Equation.3">
                  <p:embed/>
                  <p:pic>
                    <p:nvPicPr>
                      <p:cNvPr id="1434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851" y="4572000"/>
                        <a:ext cx="2001959" cy="68248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62593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Strength: Yielding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05000"/>
            <a:ext cx="7509686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9802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Unloading Curve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Image result for stress strain curve loading unloa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556" y="1600200"/>
            <a:ext cx="633888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7086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Offset Yield Strength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6274"/>
            <a:ext cx="7793214" cy="465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8001000" y="6296783"/>
            <a:ext cx="4019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What is elastic energy stored at B?</a:t>
            </a:r>
          </a:p>
        </p:txBody>
      </p:sp>
    </p:spTree>
    <p:extLst>
      <p:ext uri="{BB962C8B-B14F-4D97-AF65-F5344CB8AC3E}">
        <p14:creationId xmlns:p14="http://schemas.microsoft.com/office/powerpoint/2010/main" val="272540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Ultimate and Fracture Strength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64008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029702"/>
              </p:ext>
            </p:extLst>
          </p:nvPr>
        </p:nvGraphicFramePr>
        <p:xfrm>
          <a:off x="6146800" y="1727200"/>
          <a:ext cx="1244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4" imgW="1244600" imgH="787400" progId="Equation.3">
                  <p:embed/>
                </p:oleObj>
              </mc:Choice>
              <mc:Fallback>
                <p:oleObj name="Equation" r:id="rId4" imgW="1244600" imgH="787400" progId="Equation.3">
                  <p:embed/>
                  <p:pic>
                    <p:nvPicPr>
                      <p:cNvPr id="1843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727200"/>
                        <a:ext cx="12446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7400" y="51054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4588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Ductility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54864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001316"/>
              </p:ext>
            </p:extLst>
          </p:nvPr>
        </p:nvGraphicFramePr>
        <p:xfrm>
          <a:off x="7716838" y="2273300"/>
          <a:ext cx="1574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" name="Equation" r:id="rId4" imgW="1574800" imgH="838200" progId="Equation.3">
                  <p:embed/>
                </p:oleObj>
              </mc:Choice>
              <mc:Fallback>
                <p:oleObj name="Equation" r:id="rId4" imgW="1574800" imgH="838200" progId="Equation.3">
                  <p:embed/>
                  <p:pic>
                    <p:nvPicPr>
                      <p:cNvPr id="1946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2273300"/>
                        <a:ext cx="1574800" cy="838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6428884" y="1544499"/>
            <a:ext cx="57631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/>
              <a:t>Engineering fracture </a:t>
            </a:r>
            <a:r>
              <a:rPr lang="en-US" altLang="en-US" sz="1800" b="0" dirty="0" smtClean="0"/>
              <a:t>strain: </a:t>
            </a:r>
            <a:r>
              <a:rPr lang="en-US" altLang="en-US" sz="1800" dirty="0" smtClean="0"/>
              <a:t>percentage of elongation</a:t>
            </a:r>
            <a:endParaRPr lang="en-US" altLang="en-US" sz="1800" dirty="0"/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297797"/>
              </p:ext>
            </p:extLst>
          </p:nvPr>
        </p:nvGraphicFramePr>
        <p:xfrm>
          <a:off x="7627938" y="3643313"/>
          <a:ext cx="1752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Equation" r:id="rId6" imgW="1752600" imgH="762000" progId="Equation.3">
                  <p:embed/>
                </p:oleObj>
              </mc:Choice>
              <mc:Fallback>
                <p:oleObj name="Equation" r:id="rId6" imgW="1752600" imgH="762000" progId="Equation.3">
                  <p:embed/>
                  <p:pic>
                    <p:nvPicPr>
                      <p:cNvPr id="1946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938" y="3643313"/>
                        <a:ext cx="1752600" cy="762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132747"/>
              </p:ext>
            </p:extLst>
          </p:nvPr>
        </p:nvGraphicFramePr>
        <p:xfrm>
          <a:off x="5562600" y="2711450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Equation" r:id="rId8" imgW="419100" imgH="419100" progId="Equation.3">
                  <p:embed/>
                </p:oleObj>
              </mc:Choice>
              <mc:Fallback>
                <p:oleObj name="Equation" r:id="rId8" imgW="419100" imgH="419100" progId="Equation.3">
                  <p:embed/>
                  <p:pic>
                    <p:nvPicPr>
                      <p:cNvPr id="1946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711450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074852"/>
              </p:ext>
            </p:extLst>
          </p:nvPr>
        </p:nvGraphicFramePr>
        <p:xfrm>
          <a:off x="5016500" y="5294313"/>
          <a:ext cx="237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10" imgW="2374900" imgH="838200" progId="Equation.3">
                  <p:embed/>
                </p:oleObj>
              </mc:Choice>
              <mc:Fallback>
                <p:oleObj name="Equation" r:id="rId10" imgW="2374900" imgH="838200" progId="Equation.3">
                  <p:embed/>
                  <p:pic>
                    <p:nvPicPr>
                      <p:cNvPr id="1946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5294313"/>
                        <a:ext cx="2374900" cy="838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"/>
          <p:cNvSpPr txBox="1">
            <a:spLocks noChangeArrowheads="1"/>
          </p:cNvSpPr>
          <p:nvPr/>
        </p:nvSpPr>
        <p:spPr bwMode="auto">
          <a:xfrm>
            <a:off x="7924800" y="6248400"/>
            <a:ext cx="40703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rgbClr val="FF0000"/>
                </a:solidFill>
              </a:rPr>
              <a:t>Quiz What </a:t>
            </a:r>
            <a:r>
              <a:rPr lang="en-US" altLang="en-US" sz="1800" b="0" dirty="0">
                <a:solidFill>
                  <a:srgbClr val="FF0000"/>
                </a:solidFill>
              </a:rPr>
              <a:t>is the length after fracture?</a:t>
            </a:r>
          </a:p>
        </p:txBody>
      </p:sp>
      <p:pic>
        <p:nvPicPr>
          <p:cNvPr id="16" name="Picture 9" descr="An aluminium specimen showing ductile failure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80"/>
          <a:stretch>
            <a:fillRect/>
          </a:stretch>
        </p:blipFill>
        <p:spPr bwMode="auto">
          <a:xfrm rot="5400000">
            <a:off x="2375693" y="4572730"/>
            <a:ext cx="109696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3343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Mechanics of Graphene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943" y="1408837"/>
            <a:ext cx="4992688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29000"/>
            <a:ext cx="4233862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09800"/>
            <a:ext cx="4664384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5845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1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3385"/>
          <a:stretch/>
        </p:blipFill>
        <p:spPr>
          <a:xfrm>
            <a:off x="685801" y="1676400"/>
            <a:ext cx="4800600" cy="4419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895600"/>
            <a:ext cx="6364580" cy="139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994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3385"/>
          <a:stretch/>
        </p:blipFill>
        <p:spPr>
          <a:xfrm>
            <a:off x="685801" y="1676400"/>
            <a:ext cx="4800600" cy="4419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678" y="1752600"/>
            <a:ext cx="6364580" cy="13909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52800"/>
            <a:ext cx="4974336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707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3385"/>
          <a:stretch/>
        </p:blipFill>
        <p:spPr>
          <a:xfrm>
            <a:off x="685801" y="1676400"/>
            <a:ext cx="4800600" cy="4419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403" y="1905000"/>
            <a:ext cx="6364580" cy="13909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699" y="3733800"/>
            <a:ext cx="622442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7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2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46" y="1676400"/>
            <a:ext cx="1131830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563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2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1447801"/>
            <a:ext cx="7162800" cy="24111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810000" cy="1524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352800"/>
            <a:ext cx="607660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41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3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7850512" cy="5105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3155602"/>
            <a:ext cx="20521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E= 200GPa</a:t>
            </a:r>
          </a:p>
          <a:p>
            <a:endParaRPr lang="en-US" dirty="0"/>
          </a:p>
          <a:p>
            <a:r>
              <a:rPr lang="en-US" dirty="0" smtClean="0"/>
              <a:t>v= 0.32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3982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3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28358" b="11941"/>
          <a:stretch/>
        </p:blipFill>
        <p:spPr>
          <a:xfrm>
            <a:off x="685800" y="1295400"/>
            <a:ext cx="6477000" cy="25147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2133600"/>
            <a:ext cx="20521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E= 200GPa</a:t>
            </a:r>
          </a:p>
          <a:p>
            <a:endParaRPr lang="en-US" dirty="0"/>
          </a:p>
          <a:p>
            <a:r>
              <a:rPr lang="en-US" dirty="0" smtClean="0"/>
              <a:t>v= 0.32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" y="3916907"/>
            <a:ext cx="6321394" cy="8077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726082"/>
            <a:ext cx="4439142" cy="980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5786753"/>
            <a:ext cx="4599094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217" y="3997090"/>
            <a:ext cx="5776509" cy="6473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5122952"/>
            <a:ext cx="5068662" cy="82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93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4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10737329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343" y="4572000"/>
            <a:ext cx="355904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0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4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66000"/>
          <a:stretch/>
        </p:blipFill>
        <p:spPr>
          <a:xfrm>
            <a:off x="990600" y="1348524"/>
            <a:ext cx="4191000" cy="31491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56485"/>
            <a:ext cx="4128489" cy="2209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199" y="3905535"/>
            <a:ext cx="4046621" cy="12760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5029200"/>
            <a:ext cx="5207932" cy="131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372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5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71600"/>
            <a:ext cx="1447800" cy="49625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209800"/>
            <a:ext cx="800431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5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71600"/>
            <a:ext cx="1447800" cy="49625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8004310" cy="1828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9" y="3365309"/>
            <a:ext cx="5913063" cy="326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733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5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71600"/>
            <a:ext cx="1447800" cy="49625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8004310" cy="1828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445915"/>
            <a:ext cx="2554706" cy="198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64173"/>
            <a:ext cx="3482905" cy="17919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5427115"/>
            <a:ext cx="5215207" cy="127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196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Hooke’s Law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76400"/>
            <a:ext cx="3884366" cy="4876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43200"/>
            <a:ext cx="2286000" cy="1163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49580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Solve for strain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15557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Poisson’s Ratio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12962"/>
            <a:ext cx="2286000" cy="1163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00200"/>
            <a:ext cx="3884366" cy="487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914" y="3200400"/>
            <a:ext cx="4897058" cy="13045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909" y="4732085"/>
            <a:ext cx="2441382" cy="13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59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Shear Stress and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00200"/>
            <a:ext cx="5805715" cy="4191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2209800"/>
            <a:ext cx="2542901" cy="1602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624" y="4038600"/>
            <a:ext cx="2667000" cy="15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588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3D Hooke’s Law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057400"/>
            <a:ext cx="6851650" cy="357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9521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3D Hooke’s Law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"/>
          <a:stretch/>
        </p:blipFill>
        <p:spPr bwMode="auto">
          <a:xfrm>
            <a:off x="2133600" y="1828800"/>
            <a:ext cx="8229600" cy="38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8820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3D Hooke’s Law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143019"/>
              </p:ext>
            </p:extLst>
          </p:nvPr>
        </p:nvGraphicFramePr>
        <p:xfrm>
          <a:off x="2362200" y="2133600"/>
          <a:ext cx="7990318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7124700" imgH="2717800" progId="Equation.3">
                  <p:embed/>
                </p:oleObj>
              </mc:Choice>
              <mc:Fallback>
                <p:oleObj name="Equation" r:id="rId3" imgW="7124700" imgH="2717800" progId="Equation.3">
                  <p:embed/>
                  <p:pic>
                    <p:nvPicPr>
                      <p:cNvPr id="5017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3600"/>
                        <a:ext cx="7990318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7054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4" t="34209" r="12199" b="11046"/>
          <a:stretch>
            <a:fillRect/>
          </a:stretch>
        </p:blipFill>
        <p:spPr bwMode="auto">
          <a:xfrm>
            <a:off x="2724150" y="1981200"/>
            <a:ext cx="61912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4260850" y="6111875"/>
            <a:ext cx="3117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Stress in y, strain in z and x?</a:t>
            </a:r>
          </a:p>
        </p:txBody>
      </p:sp>
    </p:spTree>
    <p:extLst>
      <p:ext uri="{BB962C8B-B14F-4D97-AF65-F5344CB8AC3E}">
        <p14:creationId xmlns:p14="http://schemas.microsoft.com/office/powerpoint/2010/main" val="1387671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052310"/>
              </p:ext>
            </p:extLst>
          </p:nvPr>
        </p:nvGraphicFramePr>
        <p:xfrm>
          <a:off x="1981200" y="2286000"/>
          <a:ext cx="8402317" cy="320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3" imgW="7124700" imgH="2717800" progId="Equation.3">
                  <p:embed/>
                </p:oleObj>
              </mc:Choice>
              <mc:Fallback>
                <p:oleObj name="Equation" r:id="rId3" imgW="7124700" imgH="2717800" progId="Equation.3">
                  <p:embed/>
                  <p:pic>
                    <p:nvPicPr>
                      <p:cNvPr id="5427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86000"/>
                        <a:ext cx="8402317" cy="320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2092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How about volume change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7526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134600" y="5985148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7437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Volume change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6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371600"/>
            <a:ext cx="5486400" cy="526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8193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Volumetric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56083"/>
              </p:ext>
            </p:extLst>
          </p:nvPr>
        </p:nvGraphicFramePr>
        <p:xfrm>
          <a:off x="2370137" y="1603375"/>
          <a:ext cx="6781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3" imgW="6781800" imgH="711200" progId="Equation.3">
                  <p:embed/>
                </p:oleObj>
              </mc:Choice>
              <mc:Fallback>
                <p:oleObj name="Equation" r:id="rId3" imgW="6781800" imgH="711200" progId="Equation.3">
                  <p:embed/>
                  <p:pic>
                    <p:nvPicPr>
                      <p:cNvPr id="5632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7" y="1603375"/>
                        <a:ext cx="6781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702051"/>
              </p:ext>
            </p:extLst>
          </p:nvPr>
        </p:nvGraphicFramePr>
        <p:xfrm>
          <a:off x="2767012" y="3535362"/>
          <a:ext cx="71247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5" imgW="7124700" imgH="2717800" progId="Equation.3">
                  <p:embed/>
                </p:oleObj>
              </mc:Choice>
              <mc:Fallback>
                <p:oleObj name="Equation" r:id="rId5" imgW="7124700" imgH="2717800" progId="Equation.3">
                  <p:embed/>
                  <p:pic>
                    <p:nvPicPr>
                      <p:cNvPr id="5632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2" y="3535362"/>
                        <a:ext cx="71247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679722"/>
              </p:ext>
            </p:extLst>
          </p:nvPr>
        </p:nvGraphicFramePr>
        <p:xfrm>
          <a:off x="5105400" y="2438400"/>
          <a:ext cx="2755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7" imgW="2755900" imgH="774700" progId="Equation.3">
                  <p:embed/>
                </p:oleObj>
              </mc:Choice>
              <mc:Fallback>
                <p:oleObj name="Equation" r:id="rId7" imgW="2755900" imgH="774700" progId="Equation.3">
                  <p:embed/>
                  <p:pic>
                    <p:nvPicPr>
                      <p:cNvPr id="56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438400"/>
                        <a:ext cx="2755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3016250" y="2825750"/>
            <a:ext cx="171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Bulk modulus</a:t>
            </a:r>
          </a:p>
        </p:txBody>
      </p:sp>
    </p:spTree>
    <p:extLst>
      <p:ext uri="{BB962C8B-B14F-4D97-AF65-F5344CB8AC3E}">
        <p14:creationId xmlns:p14="http://schemas.microsoft.com/office/powerpoint/2010/main" val="35503603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Matrix Inversion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47153"/>
              </p:ext>
            </p:extLst>
          </p:nvPr>
        </p:nvGraphicFramePr>
        <p:xfrm>
          <a:off x="1752600" y="2057400"/>
          <a:ext cx="9105900" cy="360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3" imgW="9105900" imgH="3606800" progId="Equation.3">
                  <p:embed/>
                </p:oleObj>
              </mc:Choice>
              <mc:Fallback>
                <p:oleObj name="Equation" r:id="rId3" imgW="9105900" imgH="3606800" progId="Equation.3">
                  <p:embed/>
                  <p:pic>
                    <p:nvPicPr>
                      <p:cNvPr id="583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57400"/>
                        <a:ext cx="9105900" cy="360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2123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3D Hooke’s Law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438400"/>
            <a:ext cx="7512050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71380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28800"/>
            <a:ext cx="6954838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6442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98405"/>
              </p:ext>
            </p:extLst>
          </p:nvPr>
        </p:nvGraphicFramePr>
        <p:xfrm>
          <a:off x="2286000" y="2514600"/>
          <a:ext cx="71247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Equation" r:id="rId3" imgW="7124700" imgH="2717800" progId="Equation.3">
                  <p:embed/>
                </p:oleObj>
              </mc:Choice>
              <mc:Fallback>
                <p:oleObj name="Equation" r:id="rId3" imgW="7124700" imgH="2717800" progId="Equation.3">
                  <p:embed/>
                  <p:pic>
                    <p:nvPicPr>
                      <p:cNvPr id="645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14600"/>
                        <a:ext cx="71247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1854200" y="3378200"/>
            <a:ext cx="77041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310187" y="2298700"/>
            <a:ext cx="71438" cy="3167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43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192992"/>
              </p:ext>
            </p:extLst>
          </p:nvPr>
        </p:nvGraphicFramePr>
        <p:xfrm>
          <a:off x="1556793" y="3276600"/>
          <a:ext cx="45085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Equation" r:id="rId3" imgW="4508500" imgH="1397000" progId="Equation.3">
                  <p:embed/>
                </p:oleObj>
              </mc:Choice>
              <mc:Fallback>
                <p:oleObj name="Equation" r:id="rId3" imgW="4508500" imgH="1397000" progId="Equation.3">
                  <p:embed/>
                  <p:pic>
                    <p:nvPicPr>
                      <p:cNvPr id="6656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793" y="3276600"/>
                        <a:ext cx="45085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26" b="16917"/>
          <a:stretch>
            <a:fillRect/>
          </a:stretch>
        </p:blipFill>
        <p:spPr bwMode="auto">
          <a:xfrm>
            <a:off x="6705600" y="1919288"/>
            <a:ext cx="3657600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394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697635"/>
              </p:ext>
            </p:extLst>
          </p:nvPr>
        </p:nvGraphicFramePr>
        <p:xfrm>
          <a:off x="762000" y="3276600"/>
          <a:ext cx="55372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" name="Equation" r:id="rId3" imgW="5537200" imgH="1422400" progId="Equation.3">
                  <p:embed/>
                </p:oleObj>
              </mc:Choice>
              <mc:Fallback>
                <p:oleObj name="Equation" r:id="rId3" imgW="5537200" imgH="1422400" progId="Equation.3">
                  <p:embed/>
                  <p:pic>
                    <p:nvPicPr>
                      <p:cNvPr id="686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76600"/>
                        <a:ext cx="55372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387600"/>
            <a:ext cx="394176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26782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5"/>
          <a:stretch>
            <a:fillRect/>
          </a:stretch>
        </p:blipFill>
        <p:spPr bwMode="auto">
          <a:xfrm>
            <a:off x="1828800" y="1905000"/>
            <a:ext cx="7315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5" y="4710113"/>
            <a:ext cx="3654425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850" y="5573713"/>
            <a:ext cx="766445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4598988"/>
            <a:ext cx="22860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72"/>
          <a:stretch>
            <a:fillRect/>
          </a:stretch>
        </p:blipFill>
        <p:spPr bwMode="auto">
          <a:xfrm>
            <a:off x="6567488" y="1404938"/>
            <a:ext cx="27432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863" y="3805238"/>
            <a:ext cx="1371600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8999538" y="3006725"/>
            <a:ext cx="104933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FF0000"/>
                </a:solidFill>
              </a:rPr>
              <a:t>Constant volume</a:t>
            </a:r>
          </a:p>
        </p:txBody>
      </p:sp>
    </p:spTree>
    <p:extLst>
      <p:ext uri="{BB962C8B-B14F-4D97-AF65-F5344CB8AC3E}">
        <p14:creationId xmlns:p14="http://schemas.microsoft.com/office/powerpoint/2010/main" val="229771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82184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575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64798"/>
              </p:ext>
            </p:extLst>
          </p:nvPr>
        </p:nvGraphicFramePr>
        <p:xfrm>
          <a:off x="1600200" y="2057400"/>
          <a:ext cx="9105900" cy="360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Equation" r:id="rId3" imgW="9105900" imgH="3606800" progId="Equation.3">
                  <p:embed/>
                </p:oleObj>
              </mc:Choice>
              <mc:Fallback>
                <p:oleObj name="Equation" r:id="rId3" imgW="9105900" imgH="3606800" progId="Equation.3">
                  <p:embed/>
                  <p:pic>
                    <p:nvPicPr>
                      <p:cNvPr id="73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9105900" cy="360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6546850" y="1841500"/>
            <a:ext cx="0" cy="1800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659063" y="3641725"/>
            <a:ext cx="38877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489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520855"/>
              </p:ext>
            </p:extLst>
          </p:nvPr>
        </p:nvGraphicFramePr>
        <p:xfrm>
          <a:off x="368300" y="2590800"/>
          <a:ext cx="60960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Equation" r:id="rId3" imgW="6096000" imgH="2311400" progId="Equation.3">
                  <p:embed/>
                </p:oleObj>
              </mc:Choice>
              <mc:Fallback>
                <p:oleObj name="Equation" r:id="rId3" imgW="6096000" imgH="2311400" progId="Equation.3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2590800"/>
                        <a:ext cx="60960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341563"/>
            <a:ext cx="5246688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9214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Plane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633661"/>
              </p:ext>
            </p:extLst>
          </p:nvPr>
        </p:nvGraphicFramePr>
        <p:xfrm>
          <a:off x="797636" y="2971800"/>
          <a:ext cx="5308600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3" imgW="5308600" imgH="2413000" progId="Equation.3">
                  <p:embed/>
                </p:oleObj>
              </mc:Choice>
              <mc:Fallback>
                <p:oleObj name="Equation" r:id="rId3" imgW="5308600" imgH="2413000" progId="Equation.3">
                  <p:embed/>
                  <p:pic>
                    <p:nvPicPr>
                      <p:cNvPr id="778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636" y="2971800"/>
                        <a:ext cx="5308600" cy="241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886869"/>
            <a:ext cx="5430837" cy="258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5304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Orthotropic Materials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8912225" cy="467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6399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40" y="1828800"/>
            <a:ext cx="11442700" cy="2242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37"/>
          <a:stretch>
            <a:fillRect/>
          </a:stretch>
        </p:blipFill>
        <p:spPr bwMode="auto">
          <a:xfrm>
            <a:off x="1639887" y="4343400"/>
            <a:ext cx="8912225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9828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 Energy Density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5" descr="Image result for engineering stress strain curve brit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6672055" cy="385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048910"/>
              </p:ext>
            </p:extLst>
          </p:nvPr>
        </p:nvGraphicFramePr>
        <p:xfrm>
          <a:off x="7779224" y="2286000"/>
          <a:ext cx="2286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Equation" r:id="rId4" imgW="1778000" imgH="1244600" progId="Equation.3">
                  <p:embed/>
                </p:oleObj>
              </mc:Choice>
              <mc:Fallback>
                <p:oleObj name="Equation" r:id="rId4" imgW="1778000" imgH="1244600" progId="Equation.3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9224" y="2286000"/>
                        <a:ext cx="2286000" cy="1600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41290"/>
              </p:ext>
            </p:extLst>
          </p:nvPr>
        </p:nvGraphicFramePr>
        <p:xfrm>
          <a:off x="7767851" y="4572000"/>
          <a:ext cx="2001959" cy="682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6" imgW="1117600" imgH="381000" progId="Equation.3">
                  <p:embed/>
                </p:oleObj>
              </mc:Choice>
              <mc:Fallback>
                <p:oleObj name="Equation" r:id="rId6" imgW="1117600" imgH="381000" progId="Equation.3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851" y="4572000"/>
                        <a:ext cx="2001959" cy="68248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20955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 Energy Density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752600"/>
            <a:ext cx="8153400" cy="434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775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Modulus of Resilience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371600"/>
            <a:ext cx="8143834" cy="26401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71800"/>
            <a:ext cx="4305129" cy="351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28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Modulus of Toughness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99" y="1524000"/>
            <a:ext cx="6923691" cy="259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9" y="3124200"/>
            <a:ext cx="396595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033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 Energy Density for 3D?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8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819400"/>
            <a:ext cx="496878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545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Thermal Expansion: </a:t>
            </a:r>
            <a:r>
              <a:rPr lang="en-US" sz="4000" b="1" dirty="0" smtClean="0">
                <a:solidFill>
                  <a:srgbClr val="FF0000"/>
                </a:solidFill>
              </a:rPr>
              <a:t>Additional Term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"/>
          <a:stretch/>
        </p:blipFill>
        <p:spPr bwMode="auto">
          <a:xfrm>
            <a:off x="838200" y="1600200"/>
            <a:ext cx="7086600" cy="330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257800"/>
            <a:ext cx="3268816" cy="141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328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Assignment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19200" y="1589544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1. Process tensile testing data of Alum2 posted, (1) determine Young’s modulus, Poisson’s ratio, 0.2% offset yield strength, ultimate strength, and fracture strain; (2) plot true stress-strain curve up to necking.</a:t>
            </a:r>
          </a:p>
          <a:p>
            <a:endParaRPr lang="en-US" b="1" dirty="0"/>
          </a:p>
          <a:p>
            <a:r>
              <a:rPr lang="en-US" sz="2800" b="1" dirty="0" smtClean="0"/>
              <a:t>Textbook Problem:</a:t>
            </a:r>
          </a:p>
          <a:p>
            <a:endParaRPr lang="en-US" sz="2800" b="1" dirty="0" smtClean="0"/>
          </a:p>
          <a:p>
            <a:r>
              <a:rPr lang="en-US" b="1" dirty="0" smtClean="0"/>
              <a:t>3.11, 3.16, 3.19, 3.27</a:t>
            </a:r>
            <a:r>
              <a:rPr lang="en-US" b="1" smtClean="0"/>
              <a:t>, 3.30</a:t>
            </a:r>
            <a:endParaRPr lang="en-US" sz="2800" b="1" dirty="0" smtClean="0"/>
          </a:p>
          <a:p>
            <a:endParaRPr lang="en-US" sz="2800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8578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26170</TotalTime>
  <Words>343</Words>
  <Application>Microsoft Office PowerPoint</Application>
  <PresentationFormat>Widescreen</PresentationFormat>
  <Paragraphs>112</Paragraphs>
  <Slides>71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宋体</vt:lpstr>
      <vt:lpstr>楷体</vt:lpstr>
      <vt:lpstr>Arial</vt:lpstr>
      <vt:lpstr>Arial Black</vt:lpstr>
      <vt:lpstr>Times New Roman</vt:lpstr>
      <vt:lpstr>Wingdings</vt:lpstr>
      <vt:lpstr>Default Design</vt:lpstr>
      <vt:lpstr>Equation</vt:lpstr>
      <vt:lpstr>MSE 213  Mechanics of Materials B Lecture 4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KB</dc:creator>
  <cp:lastModifiedBy>Jiangyu Li</cp:lastModifiedBy>
  <cp:revision>1471</cp:revision>
  <dcterms:created xsi:type="dcterms:W3CDTF">2000-06-23T23:39:39Z</dcterms:created>
  <dcterms:modified xsi:type="dcterms:W3CDTF">2022-02-23T02:00:07Z</dcterms:modified>
</cp:coreProperties>
</file>