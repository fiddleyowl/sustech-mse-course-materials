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77" r:id="rId3"/>
    <p:sldId id="266" r:id="rId4"/>
    <p:sldId id="267" r:id="rId5"/>
    <p:sldId id="257" r:id="rId6"/>
    <p:sldId id="278" r:id="rId7"/>
    <p:sldId id="258" r:id="rId8"/>
    <p:sldId id="269" r:id="rId9"/>
    <p:sldId id="259" r:id="rId10"/>
    <p:sldId id="261" r:id="rId11"/>
    <p:sldId id="280" r:id="rId12"/>
    <p:sldId id="260" r:id="rId13"/>
    <p:sldId id="275" r:id="rId14"/>
    <p:sldId id="262" r:id="rId15"/>
    <p:sldId id="281" r:id="rId16"/>
    <p:sldId id="282" r:id="rId17"/>
    <p:sldId id="283" r:id="rId18"/>
    <p:sldId id="263" r:id="rId19"/>
    <p:sldId id="284" r:id="rId20"/>
    <p:sldId id="285" r:id="rId21"/>
    <p:sldId id="270" r:id="rId22"/>
    <p:sldId id="286" r:id="rId23"/>
    <p:sldId id="271" r:id="rId24"/>
    <p:sldId id="276" r:id="rId25"/>
    <p:sldId id="272" r:id="rId26"/>
    <p:sldId id="274" r:id="rId27"/>
    <p:sldId id="264" r:id="rId28"/>
    <p:sldId id="265" r:id="rId29"/>
    <p:sldId id="273" r:id="rId30"/>
    <p:sldId id="279" r:id="rId31"/>
    <p:sldId id="287" r:id="rId32"/>
  </p:sldIdLst>
  <p:sldSz cx="9144000" cy="6858000" type="screen4x3"/>
  <p:notesSz cx="7096125" cy="102298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3FD4C7-EA7D-2041-94AB-7902B0F45668}" v="2" dt="2022-06-05T05:35:14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5" autoAdjust="0"/>
    <p:restoredTop sz="94660"/>
  </p:normalViewPr>
  <p:slideViewPr>
    <p:cSldViewPr>
      <p:cViewPr varScale="1">
        <p:scale>
          <a:sx n="111" d="100"/>
          <a:sy n="111" d="100"/>
        </p:scale>
        <p:origin x="168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1901" y="-86"/>
      </p:cViewPr>
      <p:guideLst>
        <p:guide orient="horz" pos="3222"/>
        <p:guide pos="223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 Zhan" userId="fd0cb2f6-9dd6-4afa-a340-ca04f7968bbe" providerId="ADAL" clId="{1B3FD4C7-EA7D-2041-94AB-7902B0F45668}"/>
    <pc:docChg chg="undo custSel addSld delSld modSld">
      <pc:chgData name="Philip Zhan" userId="fd0cb2f6-9dd6-4afa-a340-ca04f7968bbe" providerId="ADAL" clId="{1B3FD4C7-EA7D-2041-94AB-7902B0F45668}" dt="2022-06-05T05:35:14.283" v="3" actId="767"/>
      <pc:docMkLst>
        <pc:docMk/>
      </pc:docMkLst>
      <pc:sldChg chg="addSp delSp modSp">
        <pc:chgData name="Philip Zhan" userId="fd0cb2f6-9dd6-4afa-a340-ca04f7968bbe" providerId="ADAL" clId="{1B3FD4C7-EA7D-2041-94AB-7902B0F45668}" dt="2022-06-05T05:35:14.283" v="3" actId="767"/>
        <pc:sldMkLst>
          <pc:docMk/>
          <pc:sldMk cId="0" sldId="276"/>
        </pc:sldMkLst>
        <pc:spChg chg="add del mod">
          <ac:chgData name="Philip Zhan" userId="fd0cb2f6-9dd6-4afa-a340-ca04f7968bbe" providerId="ADAL" clId="{1B3FD4C7-EA7D-2041-94AB-7902B0F45668}" dt="2022-06-05T05:35:14.283" v="3" actId="767"/>
          <ac:spMkLst>
            <pc:docMk/>
            <pc:sldMk cId="0" sldId="276"/>
            <ac:spMk id="2" creationId="{9D99C2C7-9B78-26DA-8D82-ABDAF380174C}"/>
          </ac:spMkLst>
        </pc:spChg>
      </pc:sldChg>
      <pc:sldChg chg="new del">
        <pc:chgData name="Philip Zhan" userId="fd0cb2f6-9dd6-4afa-a340-ca04f7968bbe" providerId="ADAL" clId="{1B3FD4C7-EA7D-2041-94AB-7902B0F45668}" dt="2022-06-05T03:26:58.099" v="1" actId="680"/>
        <pc:sldMkLst>
          <pc:docMk/>
          <pc:sldMk cId="2838980751" sldId="28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5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0975" y="0"/>
            <a:ext cx="3105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42488"/>
            <a:ext cx="3105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0975" y="9742488"/>
            <a:ext cx="3105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112B62A-128D-433A-AD22-66D987C2CA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955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3337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59338"/>
            <a:ext cx="5676900" cy="460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708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9550" y="971708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A407B49-EB79-4EA3-BBFC-D5D77C0DC1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106EA57-FB74-42B6-B2FB-A1815055F7DE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202851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202353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1860475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301128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278729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278068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97684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1491513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541260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93839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809257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80063" y="6570663"/>
            <a:ext cx="3328987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  <p:sp>
        <p:nvSpPr>
          <p:cNvPr id="1030" name="Line 7"/>
          <p:cNvSpPr>
            <a:spLocks noChangeShapeType="1"/>
          </p:cNvSpPr>
          <p:nvPr userDrawn="1"/>
        </p:nvSpPr>
        <p:spPr bwMode="auto">
          <a:xfrm>
            <a:off x="468313" y="1557338"/>
            <a:ext cx="820737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32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30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9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0.bin"/><Relationship Id="rId2" Type="http://schemas.openxmlformats.org/officeDocument/2006/relationships/image" Target="../media/image9.jpeg"/><Relationship Id="rId16" Type="http://schemas.openxmlformats.org/officeDocument/2006/relationships/image" Target="../media/image1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15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7" Type="http://schemas.openxmlformats.org/officeDocument/2006/relationships/image" Target="../media/image37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1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7" Type="http://schemas.openxmlformats.org/officeDocument/2006/relationships/image" Target="../media/image62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2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image" Target="../media/image64.emf"/><Relationship Id="rId7" Type="http://schemas.openxmlformats.org/officeDocument/2006/relationships/image" Target="../media/image66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6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7" Type="http://schemas.openxmlformats.org/officeDocument/2006/relationships/image" Target="../media/image70.png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hyperlink" Target="https://www.google.com/url?sa=i&amp;rct=j&amp;q=&amp;esrc=s&amp;source=images&amp;cd=&amp;cad=rja&amp;uact=8&amp;ved=0ahUKEwjUi9CJz9rPAhVJz2MKHXbdC-4QjRwIBw&amp;url=http%3A%2F%2Ftwt.mpei.ac.ru%2Ftthb%2F1%2FTab-5-5-8-2-3-Young-Modul.html&amp;bvm=bv.135475266,d.cGc&amp;psig=AFQjCNHu5cWKfZIABgUvNMOVXsfgWodbfQ&amp;ust=1476545577008026" TargetMode="External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133600"/>
            <a:ext cx="80645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Buckling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Chapter 13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Jiangyu Li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err="1"/>
              <a:t>SUSTech</a:t>
            </a: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Mechanics of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Collapse of Husky Stadium </a:t>
            </a:r>
          </a:p>
        </p:txBody>
      </p:sp>
      <p:pic>
        <p:nvPicPr>
          <p:cNvPr id="6147" name="Picture 2" descr="https://www.djc.com/special/const97/32al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073275"/>
            <a:ext cx="597535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TextBox 6"/>
          <p:cNvSpPr txBox="1">
            <a:spLocks noChangeArrowheads="1"/>
          </p:cNvSpPr>
          <p:nvPr/>
        </p:nvSpPr>
        <p:spPr bwMode="auto">
          <a:xfrm>
            <a:off x="504825" y="5848350"/>
            <a:ext cx="1593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Feb. 25, 1987</a:t>
            </a:r>
          </a:p>
        </p:txBody>
      </p:sp>
      <p:sp>
        <p:nvSpPr>
          <p:cNvPr id="6149" name="Rectangle 7"/>
          <p:cNvSpPr>
            <a:spLocks noChangeArrowheads="1"/>
          </p:cNvSpPr>
          <p:nvPr/>
        </p:nvSpPr>
        <p:spPr bwMode="auto">
          <a:xfrm>
            <a:off x="6950075" y="1631950"/>
            <a:ext cx="1836738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</a:rPr>
              <a:t>At 8:30 a.m. there were 40 men working on the structure. 30 minutes later an iron worker spotted a </a:t>
            </a:r>
            <a:r>
              <a:rPr lang="en-US" altLang="en-US" sz="1600">
                <a:solidFill>
                  <a:srgbClr val="FF0000"/>
                </a:solidFill>
              </a:rPr>
              <a:t>buckle</a:t>
            </a:r>
            <a:r>
              <a:rPr lang="en-US" altLang="en-US" sz="1600">
                <a:solidFill>
                  <a:srgbClr val="000000"/>
                </a:solidFill>
              </a:rPr>
              <a:t> </a:t>
            </a:r>
            <a:r>
              <a:rPr lang="en-US" altLang="en-US" sz="1600" b="0">
                <a:solidFill>
                  <a:srgbClr val="000000"/>
                </a:solidFill>
              </a:rPr>
              <a:t>in a 28 inch diameter tube that supported the overhanging roof.</a:t>
            </a:r>
            <a:endParaRPr lang="en-US" altLang="en-US" sz="1600" b="0"/>
          </a:p>
        </p:txBody>
      </p:sp>
      <p:sp>
        <p:nvSpPr>
          <p:cNvPr id="6150" name="Rectangle 8"/>
          <p:cNvSpPr>
            <a:spLocks noChangeArrowheads="1"/>
          </p:cNvSpPr>
          <p:nvPr/>
        </p:nvSpPr>
        <p:spPr bwMode="auto">
          <a:xfrm>
            <a:off x="2522538" y="5283200"/>
            <a:ext cx="6115050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</a:rPr>
              <a:t>There were 9 guy wires that were used to support the structure during the construction. </a:t>
            </a:r>
            <a:r>
              <a:rPr lang="en-US" altLang="en-US" sz="1600">
                <a:solidFill>
                  <a:srgbClr val="FF0000"/>
                </a:solidFill>
              </a:rPr>
              <a:t>Six of the guy wires were removed too early </a:t>
            </a:r>
            <a:r>
              <a:rPr lang="en-US" altLang="en-US" sz="1600" b="0">
                <a:solidFill>
                  <a:srgbClr val="000000"/>
                </a:solidFill>
              </a:rPr>
              <a:t>which resulted in the structure being unable to resist against lateral forces put on the members</a:t>
            </a:r>
            <a:endParaRPr lang="en-US" altLang="en-US" sz="1600"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Engineering Example</a:t>
            </a:r>
          </a:p>
        </p:txBody>
      </p:sp>
      <p:pic>
        <p:nvPicPr>
          <p:cNvPr id="7171" name="Picture 2" descr="Image result for buckl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5"/>
          <a:stretch>
            <a:fillRect/>
          </a:stretch>
        </p:blipFill>
        <p:spPr bwMode="auto">
          <a:xfrm>
            <a:off x="684213" y="1778000"/>
            <a:ext cx="4351337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 descr="Image result for buckl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50" t="21001" b="9702"/>
          <a:stretch>
            <a:fillRect/>
          </a:stretch>
        </p:blipFill>
        <p:spPr bwMode="auto">
          <a:xfrm>
            <a:off x="5435600" y="1778000"/>
            <a:ext cx="2987675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6" descr="(a) A schematic illustration of the nanopillar bending against the metal side by annealing in a convection oven. (b) A tilted SEM image showing bent nanopillars with 6 nm thick Pt layers coated on one side of the pillars, followed by thermal annealing at 120 °C for 30 min. (c) A schematic illustration showing the bending of nanopillars against the polymer side by e-beam treatment. A Pt layer coated on one side of the pillars prevents the polymer decomposition into CO2 upon e-beam irradiation, resulting in the directional bending against the polymer side. (d) A tilted SEM image showing nanopillar bending after 6 s of e-beam irradiation. Reprinted from ref. 25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04"/>
          <a:stretch>
            <a:fillRect/>
          </a:stretch>
        </p:blipFill>
        <p:spPr bwMode="auto">
          <a:xfrm>
            <a:off x="1476375" y="4292600"/>
            <a:ext cx="648652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Cell Mechanics</a:t>
            </a:r>
          </a:p>
        </p:txBody>
      </p:sp>
      <p:grpSp>
        <p:nvGrpSpPr>
          <p:cNvPr id="8195" name="Group 4"/>
          <p:cNvGrpSpPr>
            <a:grpSpLocks/>
          </p:cNvGrpSpPr>
          <p:nvPr/>
        </p:nvGrpSpPr>
        <p:grpSpPr bwMode="auto">
          <a:xfrm>
            <a:off x="147638" y="3143250"/>
            <a:ext cx="3200400" cy="2925763"/>
            <a:chOff x="649767" y="3910182"/>
            <a:chExt cx="3291556" cy="3291556"/>
          </a:xfrm>
        </p:grpSpPr>
        <p:pic>
          <p:nvPicPr>
            <p:cNvPr id="8200" name="Picture 5" descr="2012-08-14 1plane t=4 hrs after closing box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767" y="3910182"/>
              <a:ext cx="3291556" cy="3291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201" name="Straight Connector 6"/>
            <p:cNvCxnSpPr>
              <a:cxnSpLocks noChangeShapeType="1"/>
            </p:cNvCxnSpPr>
            <p:nvPr/>
          </p:nvCxnSpPr>
          <p:spPr bwMode="auto">
            <a:xfrm>
              <a:off x="2431389" y="6478111"/>
              <a:ext cx="658368" cy="0"/>
            </a:xfrm>
            <a:prstGeom prst="line">
              <a:avLst/>
            </a:prstGeom>
            <a:noFill/>
            <a:ln w="31750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02" name="TextBox 7"/>
            <p:cNvSpPr txBox="1">
              <a:spLocks noChangeArrowheads="1"/>
            </p:cNvSpPr>
            <p:nvPr/>
          </p:nvSpPr>
          <p:spPr bwMode="auto">
            <a:xfrm>
              <a:off x="2234884" y="6059682"/>
              <a:ext cx="1061636" cy="332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chemeClr val="bg1"/>
                  </a:solidFill>
                </a:rPr>
                <a:t>50 µm 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63550" y="1814513"/>
            <a:ext cx="3462338" cy="1016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algn="ctr">
              <a:buFontTx/>
              <a:buAutoNum type="arabicPeriod"/>
              <a:defRPr/>
            </a:pPr>
            <a:r>
              <a:rPr lang="en-US" sz="2000" dirty="0"/>
              <a:t>Cells sense one another over </a:t>
            </a:r>
            <a:r>
              <a:rPr lang="en-US" sz="2000" b="1" dirty="0"/>
              <a:t>long</a:t>
            </a:r>
            <a:r>
              <a:rPr lang="en-US" sz="2000" dirty="0"/>
              <a:t> distances</a:t>
            </a:r>
          </a:p>
          <a:p>
            <a:pPr algn="ctr">
              <a:defRPr/>
            </a:pPr>
            <a:r>
              <a:rPr lang="en-US" sz="2000" dirty="0">
                <a:solidFill>
                  <a:srgbClr val="C00000"/>
                </a:solidFill>
              </a:rPr>
              <a:t>~10 cell diameters. </a:t>
            </a:r>
          </a:p>
        </p:txBody>
      </p:sp>
      <p:sp>
        <p:nvSpPr>
          <p:cNvPr id="8197" name="TextBox 10"/>
          <p:cNvSpPr txBox="1">
            <a:spLocks noChangeArrowheads="1"/>
          </p:cNvSpPr>
          <p:nvPr/>
        </p:nvSpPr>
        <p:spPr bwMode="auto">
          <a:xfrm>
            <a:off x="4964113" y="1844675"/>
            <a:ext cx="37988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/>
              <a:t>2. Matrix fiber </a:t>
            </a:r>
            <a:r>
              <a:rPr lang="en-US" altLang="en-US" sz="2000" b="0">
                <a:solidFill>
                  <a:srgbClr val="C00000"/>
                </a:solidFill>
              </a:rPr>
              <a:t>buckling</a:t>
            </a:r>
            <a:r>
              <a:rPr lang="en-US" altLang="en-US" sz="2000" b="0"/>
              <a:t> results in </a:t>
            </a:r>
            <a:r>
              <a:rPr lang="en-US" altLang="en-US" sz="2000" b="0">
                <a:solidFill>
                  <a:srgbClr val="C00000"/>
                </a:solidFill>
              </a:rPr>
              <a:t>long range (1/</a:t>
            </a:r>
            <a:r>
              <a:rPr lang="en-US" altLang="en-US" sz="2000" b="0" i="1">
                <a:solidFill>
                  <a:srgbClr val="C00000"/>
                </a:solidFill>
              </a:rPr>
              <a:t>r</a:t>
            </a:r>
            <a:r>
              <a:rPr lang="en-US" altLang="en-US" sz="2000" b="0">
                <a:solidFill>
                  <a:srgbClr val="C00000"/>
                </a:solidFill>
              </a:rPr>
              <a:t>) </a:t>
            </a:r>
            <a:r>
              <a:rPr lang="en-US" altLang="en-US" sz="2000" b="0"/>
              <a:t>displacement propagation through the matrix.</a:t>
            </a:r>
            <a:endParaRPr lang="en-US" altLang="en-US" sz="2000" b="0">
              <a:solidFill>
                <a:srgbClr val="C00000"/>
              </a:solidFill>
            </a:endParaRPr>
          </a:p>
        </p:txBody>
      </p:sp>
      <p:pic>
        <p:nvPicPr>
          <p:cNvPr id="8198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0" t="7622" r="49373" b="18581"/>
          <a:stretch>
            <a:fillRect/>
          </a:stretch>
        </p:blipFill>
        <p:spPr bwMode="auto">
          <a:xfrm>
            <a:off x="7323138" y="3114675"/>
            <a:ext cx="1665287" cy="292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9" descr="cell-matrix2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300" y="3573463"/>
            <a:ext cx="3779838" cy="255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3078" descr="E:\MechanoLink\Gere-5e\Images\CHapter 5\Chapter 5 Figures\GERE_0492_f5_5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00213"/>
            <a:ext cx="35433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4" descr="E:\MechanoLink\Gere-5e\Images\Chapter 11\Chapter 11 Figures\GERE_1138_f11_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575"/>
          <a:stretch>
            <a:fillRect/>
          </a:stretch>
        </p:blipFill>
        <p:spPr bwMode="auto">
          <a:xfrm>
            <a:off x="4211638" y="1700213"/>
            <a:ext cx="4640262" cy="494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Bending and Buckling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Bonus Quiz</a:t>
            </a:r>
          </a:p>
        </p:txBody>
      </p:sp>
      <p:grpSp>
        <p:nvGrpSpPr>
          <p:cNvPr id="10243" name="Group 11"/>
          <p:cNvGrpSpPr>
            <a:grpSpLocks/>
          </p:cNvGrpSpPr>
          <p:nvPr/>
        </p:nvGrpSpPr>
        <p:grpSpPr bwMode="auto">
          <a:xfrm>
            <a:off x="684213" y="1773238"/>
            <a:ext cx="3724275" cy="2187575"/>
            <a:chOff x="683568" y="1960754"/>
            <a:chExt cx="3724275" cy="2188326"/>
          </a:xfrm>
        </p:grpSpPr>
        <p:pic>
          <p:nvPicPr>
            <p:cNvPr id="10246" name="Picture 3" descr="E:\MechanoLink\Gere-5e\Images\Chapter 9\Chapter 9 Figures\GERE_0936_f9_14.BMP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6325"/>
            <a:stretch>
              <a:fillRect/>
            </a:stretch>
          </p:blipFill>
          <p:spPr bwMode="auto">
            <a:xfrm>
              <a:off x="683568" y="2132856"/>
              <a:ext cx="3724275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828030" y="2157672"/>
              <a:ext cx="2879725" cy="11529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2844155" y="2421287"/>
              <a:ext cx="0" cy="88930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49" name="TextBox 5"/>
            <p:cNvSpPr txBox="1">
              <a:spLocks noChangeArrowheads="1"/>
            </p:cNvSpPr>
            <p:nvPr/>
          </p:nvSpPr>
          <p:spPr bwMode="auto">
            <a:xfrm>
              <a:off x="2674531" y="1960754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P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1115368" y="3105734"/>
              <a:ext cx="172878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1" name="TextBox 9"/>
            <p:cNvSpPr txBox="1">
              <a:spLocks noChangeArrowheads="1"/>
            </p:cNvSpPr>
            <p:nvPr/>
          </p:nvSpPr>
          <p:spPr bwMode="auto">
            <a:xfrm>
              <a:off x="1724785" y="2715671"/>
              <a:ext cx="26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a</a:t>
              </a:r>
            </a:p>
          </p:txBody>
        </p:sp>
      </p:grpSp>
      <p:sp>
        <p:nvSpPr>
          <p:cNvPr id="10244" name="TextBox 1"/>
          <p:cNvSpPr txBox="1">
            <a:spLocks noChangeArrowheads="1"/>
          </p:cNvSpPr>
          <p:nvPr/>
        </p:nvSpPr>
        <p:spPr bwMode="auto">
          <a:xfrm>
            <a:off x="4860925" y="2897188"/>
            <a:ext cx="38258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/>
              <a:t>Which of the following statement is not true </a:t>
            </a:r>
          </a:p>
        </p:txBody>
      </p:sp>
      <p:sp>
        <p:nvSpPr>
          <p:cNvPr id="10245" name="TextBox 12"/>
          <p:cNvSpPr txBox="1">
            <a:spLocks noChangeArrowheads="1"/>
          </p:cNvSpPr>
          <p:nvPr/>
        </p:nvSpPr>
        <p:spPr bwMode="auto">
          <a:xfrm>
            <a:off x="930275" y="4291013"/>
            <a:ext cx="7756525" cy="188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AutoNum type="alphaUcPeriod"/>
            </a:pPr>
            <a:r>
              <a:rPr lang="en-US" altLang="en-US" sz="2000"/>
              <a:t>Angle of rotation at point A is zero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AutoNum type="alphaUcPeriod"/>
            </a:pPr>
            <a:r>
              <a:rPr lang="en-US" altLang="en-US" sz="2000"/>
              <a:t>Angle of rotation at point where P is applied is continuous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AutoNum type="alphaUcPeriod"/>
            </a:pPr>
            <a:r>
              <a:rPr lang="en-US" altLang="en-US" sz="2000"/>
              <a:t>Angle of rotation at point B is zero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AutoNum type="alphaUcPeriod"/>
            </a:pPr>
            <a:r>
              <a:rPr lang="en-US" altLang="en-US" sz="2000"/>
              <a:t>Deflection at point B is maximum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Bending Moment</a:t>
            </a:r>
          </a:p>
        </p:txBody>
      </p:sp>
      <p:pic>
        <p:nvPicPr>
          <p:cNvPr id="11267" name="Picture 4" descr="E:\MechanoLink\Gere-5e\Images\Chapter 11\Chapter 11 Figures\GERE_1138_f11_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700213"/>
            <a:ext cx="7315200" cy="494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68" name="Object 1"/>
          <p:cNvGraphicFramePr>
            <a:graphicFrameLocks noChangeAspect="1"/>
          </p:cNvGraphicFramePr>
          <p:nvPr/>
        </p:nvGraphicFramePr>
        <p:xfrm>
          <a:off x="7019925" y="2636838"/>
          <a:ext cx="1181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588" imgH="266584" progId="Equation.3">
                  <p:embed/>
                </p:oleObj>
              </mc:Choice>
              <mc:Fallback>
                <p:oleObj name="Equation" r:id="rId3" imgW="1180588" imgH="266584" progId="Equation.3">
                  <p:embed/>
                  <p:pic>
                    <p:nvPicPr>
                      <p:cNvPr id="11268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2636838"/>
                        <a:ext cx="1181100" cy="2667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0"/>
          <p:cNvGraphicFramePr>
            <a:graphicFrameLocks noChangeAspect="1"/>
          </p:cNvGraphicFramePr>
          <p:nvPr/>
        </p:nvGraphicFramePr>
        <p:xfrm>
          <a:off x="5556250" y="4508500"/>
          <a:ext cx="1447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47172" imgH="444307" progId="Equation.3">
                  <p:embed/>
                </p:oleObj>
              </mc:Choice>
              <mc:Fallback>
                <p:oleObj name="Equation" r:id="rId5" imgW="1447172" imgH="444307" progId="Equation.3">
                  <p:embed/>
                  <p:pic>
                    <p:nvPicPr>
                      <p:cNvPr id="11269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4508500"/>
                        <a:ext cx="1447800" cy="4445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Deflection</a:t>
            </a:r>
          </a:p>
        </p:txBody>
      </p:sp>
      <p:pic>
        <p:nvPicPr>
          <p:cNvPr id="12291" name="Picture 4" descr="E:\MechanoLink\Gere-5e\Images\Chapter 11\Chapter 11 Figures\GERE_1138_f11_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4"/>
          <a:stretch>
            <a:fillRect/>
          </a:stretch>
        </p:blipFill>
        <p:spPr bwMode="auto">
          <a:xfrm>
            <a:off x="611188" y="1700213"/>
            <a:ext cx="1770062" cy="494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292" name="Object 1"/>
          <p:cNvGraphicFramePr>
            <a:graphicFrameLocks noChangeAspect="1"/>
          </p:cNvGraphicFramePr>
          <p:nvPr/>
        </p:nvGraphicFramePr>
        <p:xfrm>
          <a:off x="906463" y="2060575"/>
          <a:ext cx="1181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588" imgH="266584" progId="Equation.3">
                  <p:embed/>
                </p:oleObj>
              </mc:Choice>
              <mc:Fallback>
                <p:oleObj name="Equation" r:id="rId3" imgW="1180588" imgH="266584" progId="Equation.3">
                  <p:embed/>
                  <p:pic>
                    <p:nvPicPr>
                      <p:cNvPr id="1229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463" y="2060575"/>
                        <a:ext cx="1181100" cy="2667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0"/>
          <p:cNvGraphicFramePr>
            <a:graphicFrameLocks noChangeAspect="1"/>
          </p:cNvGraphicFramePr>
          <p:nvPr/>
        </p:nvGraphicFramePr>
        <p:xfrm>
          <a:off x="3924300" y="1844675"/>
          <a:ext cx="2044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43813" imgH="355446" progId="Equation.3">
                  <p:embed/>
                </p:oleObj>
              </mc:Choice>
              <mc:Fallback>
                <p:oleObj name="Equation" r:id="rId5" imgW="2043813" imgH="355446" progId="Equation.3">
                  <p:embed/>
                  <p:pic>
                    <p:nvPicPr>
                      <p:cNvPr id="12293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844675"/>
                        <a:ext cx="20447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0"/>
          <p:cNvGraphicFramePr>
            <a:graphicFrameLocks noChangeAspect="1"/>
          </p:cNvGraphicFramePr>
          <p:nvPr/>
        </p:nvGraphicFramePr>
        <p:xfrm>
          <a:off x="3887788" y="2620963"/>
          <a:ext cx="15621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62100" imgH="711200" progId="Equation.3">
                  <p:embed/>
                </p:oleObj>
              </mc:Choice>
              <mc:Fallback>
                <p:oleObj name="Equation" r:id="rId7" imgW="1562100" imgH="711200" progId="Equation.3">
                  <p:embed/>
                  <p:pic>
                    <p:nvPicPr>
                      <p:cNvPr id="1229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2620963"/>
                        <a:ext cx="15621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0"/>
          <p:cNvGraphicFramePr>
            <a:graphicFrameLocks noChangeAspect="1"/>
          </p:cNvGraphicFramePr>
          <p:nvPr/>
        </p:nvGraphicFramePr>
        <p:xfrm>
          <a:off x="3924300" y="3752850"/>
          <a:ext cx="4102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02100" imgH="762000" progId="Equation.3">
                  <p:embed/>
                </p:oleObj>
              </mc:Choice>
              <mc:Fallback>
                <p:oleObj name="Equation" r:id="rId9" imgW="4102100" imgH="762000" progId="Equation.3">
                  <p:embed/>
                  <p:pic>
                    <p:nvPicPr>
                      <p:cNvPr id="12295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752850"/>
                        <a:ext cx="41021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0"/>
          <p:cNvGraphicFramePr>
            <a:graphicFrameLocks noChangeAspect="1"/>
          </p:cNvGraphicFramePr>
          <p:nvPr/>
        </p:nvGraphicFramePr>
        <p:xfrm>
          <a:off x="6757988" y="2798763"/>
          <a:ext cx="1447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47172" imgH="355446" progId="Equation.3">
                  <p:embed/>
                </p:oleObj>
              </mc:Choice>
              <mc:Fallback>
                <p:oleObj name="Equation" r:id="rId11" imgW="1447172" imgH="355446" progId="Equation.3">
                  <p:embed/>
                  <p:pic>
                    <p:nvPicPr>
                      <p:cNvPr id="12296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7988" y="2798763"/>
                        <a:ext cx="1447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/>
          <p:cNvCxnSpPr/>
          <p:nvPr/>
        </p:nvCxnSpPr>
        <p:spPr>
          <a:xfrm>
            <a:off x="6588125" y="3656013"/>
            <a:ext cx="1223963" cy="10795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298" name="Object 0"/>
          <p:cNvGraphicFramePr>
            <a:graphicFrameLocks noChangeAspect="1"/>
          </p:cNvGraphicFramePr>
          <p:nvPr/>
        </p:nvGraphicFramePr>
        <p:xfrm>
          <a:off x="4179888" y="4891088"/>
          <a:ext cx="2578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78100" imgH="762000" progId="Equation.3">
                  <p:embed/>
                </p:oleObj>
              </mc:Choice>
              <mc:Fallback>
                <p:oleObj name="Equation" r:id="rId13" imgW="2578100" imgH="762000" progId="Equation.3">
                  <p:embed/>
                  <p:pic>
                    <p:nvPicPr>
                      <p:cNvPr id="12298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9888" y="4891088"/>
                        <a:ext cx="25781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0"/>
          <p:cNvGraphicFramePr>
            <a:graphicFrameLocks noChangeAspect="1"/>
          </p:cNvGraphicFramePr>
          <p:nvPr/>
        </p:nvGraphicFramePr>
        <p:xfrm>
          <a:off x="3635375" y="5884863"/>
          <a:ext cx="1447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47172" imgH="761669" progId="Equation.3">
                  <p:embed/>
                </p:oleObj>
              </mc:Choice>
              <mc:Fallback>
                <p:oleObj name="Equation" r:id="rId15" imgW="1447172" imgH="761669" progId="Equation.3">
                  <p:embed/>
                  <p:pic>
                    <p:nvPicPr>
                      <p:cNvPr id="12299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884863"/>
                        <a:ext cx="1447800" cy="7620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0"/>
          <p:cNvGraphicFramePr>
            <a:graphicFrameLocks noChangeAspect="1"/>
          </p:cNvGraphicFramePr>
          <p:nvPr/>
        </p:nvGraphicFramePr>
        <p:xfrm>
          <a:off x="6556375" y="5895975"/>
          <a:ext cx="1511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11300" imgH="787400" progId="Equation.3">
                  <p:embed/>
                </p:oleObj>
              </mc:Choice>
              <mc:Fallback>
                <p:oleObj name="Equation" r:id="rId17" imgW="1511300" imgH="787400" progId="Equation.3">
                  <p:embed/>
                  <p:pic>
                    <p:nvPicPr>
                      <p:cNvPr id="1230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75" y="5895975"/>
                        <a:ext cx="1511300" cy="787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 descr="E:\MechanoLink\Gere-5e\Images\Chapter 11\Chapter 11 Figures\GERE_1141_f11_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628775"/>
            <a:ext cx="6781800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Critical Stress</a:t>
            </a:r>
          </a:p>
        </p:txBody>
      </p:sp>
      <p:graphicFrame>
        <p:nvGraphicFramePr>
          <p:cNvPr id="13316" name="Object 0"/>
          <p:cNvGraphicFramePr>
            <a:graphicFrameLocks noChangeAspect="1"/>
          </p:cNvGraphicFramePr>
          <p:nvPr/>
        </p:nvGraphicFramePr>
        <p:xfrm>
          <a:off x="4419600" y="1773238"/>
          <a:ext cx="1384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4300" imgH="787400" progId="Equation.3">
                  <p:embed/>
                </p:oleObj>
              </mc:Choice>
              <mc:Fallback>
                <p:oleObj name="Equation" r:id="rId3" imgW="1384300" imgH="787400" progId="Equation.3">
                  <p:embed/>
                  <p:pic>
                    <p:nvPicPr>
                      <p:cNvPr id="13316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773238"/>
                        <a:ext cx="1384300" cy="787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0"/>
          <p:cNvGraphicFramePr>
            <a:graphicFrameLocks noChangeAspect="1"/>
          </p:cNvGraphicFramePr>
          <p:nvPr/>
        </p:nvGraphicFramePr>
        <p:xfrm>
          <a:off x="6910388" y="1801813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49400" imgH="787400" progId="Equation.3">
                  <p:embed/>
                </p:oleObj>
              </mc:Choice>
              <mc:Fallback>
                <p:oleObj name="Equation" r:id="rId5" imgW="1549400" imgH="787400" progId="Equation.3">
                  <p:embed/>
                  <p:pic>
                    <p:nvPicPr>
                      <p:cNvPr id="13317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0388" y="1801813"/>
                        <a:ext cx="1549400" cy="787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Box 1"/>
          <p:cNvSpPr txBox="1">
            <a:spLocks noChangeArrowheads="1"/>
          </p:cNvSpPr>
          <p:nvPr/>
        </p:nvSpPr>
        <p:spPr bwMode="auto">
          <a:xfrm>
            <a:off x="3203575" y="6383338"/>
            <a:ext cx="4249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What if load is smaller than critical one?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 descr="E:\MechanoLink\Gere-5e\Images\Chapter 11\Chapter 11 Figures\GERE_1136_f11_3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1628775"/>
            <a:ext cx="3887787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Equilibrium</a:t>
            </a:r>
          </a:p>
        </p:txBody>
      </p:sp>
      <p:pic>
        <p:nvPicPr>
          <p:cNvPr id="14340" name="Picture 4" descr="E:\MechanoLink\Gere-5e\Images\Chapter 11\Chapter 11 Figures\GERE_1137_f11_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5856288"/>
            <a:ext cx="6037262" cy="100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Understanding Equilibrium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02" y="1628800"/>
            <a:ext cx="6192688" cy="39005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790" y="3832337"/>
            <a:ext cx="1489819" cy="4320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136" y="2172005"/>
            <a:ext cx="1581316" cy="3953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44" y="5232306"/>
            <a:ext cx="3633073" cy="6685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1677" y="5265197"/>
            <a:ext cx="3588225" cy="7590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5816" y="6024244"/>
            <a:ext cx="3481134" cy="68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72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5" descr="E:\MechanoLink\Gere-5e\Images\Chapter 11\Chapter 11 Figures\GERE_1142_f11_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687513"/>
            <a:ext cx="5832475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Direction of Buckling</a:t>
            </a:r>
          </a:p>
        </p:txBody>
      </p:sp>
      <p:graphicFrame>
        <p:nvGraphicFramePr>
          <p:cNvPr id="15364" name="Object 0"/>
          <p:cNvGraphicFramePr>
            <a:graphicFrameLocks noChangeAspect="1"/>
          </p:cNvGraphicFramePr>
          <p:nvPr/>
        </p:nvGraphicFramePr>
        <p:xfrm>
          <a:off x="3635375" y="5626100"/>
          <a:ext cx="1384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4300" imgH="787400" progId="Equation.3">
                  <p:embed/>
                </p:oleObj>
              </mc:Choice>
              <mc:Fallback>
                <p:oleObj name="Equation" r:id="rId3" imgW="1384300" imgH="787400" progId="Equation.3">
                  <p:embed/>
                  <p:pic>
                    <p:nvPicPr>
                      <p:cNvPr id="1536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626100"/>
                        <a:ext cx="1384300" cy="787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17411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738313"/>
            <a:ext cx="2768600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1916113"/>
            <a:ext cx="4940300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TextBox 5"/>
          <p:cNvSpPr txBox="1">
            <a:spLocks noChangeArrowheads="1"/>
          </p:cNvSpPr>
          <p:nvPr/>
        </p:nvSpPr>
        <p:spPr bwMode="auto">
          <a:xfrm>
            <a:off x="3379788" y="2905125"/>
            <a:ext cx="18780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pin-pin support</a:t>
            </a:r>
          </a:p>
        </p:txBody>
      </p:sp>
      <p:pic>
        <p:nvPicPr>
          <p:cNvPr id="17414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3035300"/>
            <a:ext cx="3132138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25" y="3444875"/>
            <a:ext cx="5319713" cy="134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953000"/>
            <a:ext cx="3370262" cy="176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538" y="5732463"/>
            <a:ext cx="38925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6"/>
          <p:cNvGrpSpPr>
            <a:grpSpLocks/>
          </p:cNvGrpSpPr>
          <p:nvPr/>
        </p:nvGrpSpPr>
        <p:grpSpPr bwMode="auto">
          <a:xfrm>
            <a:off x="363538" y="1844675"/>
            <a:ext cx="4729162" cy="4560888"/>
            <a:chOff x="1008" y="240"/>
            <a:chExt cx="3344" cy="3888"/>
          </a:xfrm>
        </p:grpSpPr>
        <p:pic>
          <p:nvPicPr>
            <p:cNvPr id="16391" name="Picture 4" descr="E:\MechanoLink\Gere-5e\Images\Chapter 11\Chapter 11 Problems\GERE_1183_p11_3_8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2" y="240"/>
              <a:ext cx="2960" cy="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2" name="Text Box 5"/>
            <p:cNvSpPr txBox="1">
              <a:spLocks noChangeArrowheads="1"/>
            </p:cNvSpPr>
            <p:nvPr/>
          </p:nvSpPr>
          <p:spPr bwMode="auto">
            <a:xfrm rot="-5400000">
              <a:off x="-254" y="2125"/>
              <a:ext cx="264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600" b="0"/>
                <a:t>©2001 Brooks/Cole, a division of Thomson Learning, Inc.  Thomson Learning</a:t>
              </a:r>
              <a:r>
                <a:rPr lang="en-US" altLang="en-US" sz="600" b="0" baseline="-25000"/>
                <a:t>™</a:t>
              </a:r>
              <a:r>
                <a:rPr lang="en-US" altLang="en-US" sz="600" b="0"/>
                <a:t> is a trademark used herein under license.</a:t>
              </a:r>
            </a:p>
          </p:txBody>
        </p:sp>
      </p:grp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Example</a:t>
            </a:r>
          </a:p>
        </p:txBody>
      </p:sp>
      <p:graphicFrame>
        <p:nvGraphicFramePr>
          <p:cNvPr id="16388" name="Object 0"/>
          <p:cNvGraphicFramePr>
            <a:graphicFrameLocks noChangeAspect="1"/>
          </p:cNvGraphicFramePr>
          <p:nvPr/>
        </p:nvGraphicFramePr>
        <p:xfrm>
          <a:off x="5383213" y="2060575"/>
          <a:ext cx="3289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89300" imgH="787400" progId="Equation.3">
                  <p:embed/>
                </p:oleObj>
              </mc:Choice>
              <mc:Fallback>
                <p:oleObj name="Equation" r:id="rId3" imgW="3289300" imgH="787400" progId="Equation.3">
                  <p:embed/>
                  <p:pic>
                    <p:nvPicPr>
                      <p:cNvPr id="16388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2060575"/>
                        <a:ext cx="3289300" cy="787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0"/>
          <p:cNvGraphicFramePr>
            <a:graphicFrameLocks noChangeAspect="1"/>
          </p:cNvGraphicFramePr>
          <p:nvPr/>
        </p:nvGraphicFramePr>
        <p:xfrm>
          <a:off x="5267325" y="3644900"/>
          <a:ext cx="3505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05200" imgH="787400" progId="Equation.3">
                  <p:embed/>
                </p:oleObj>
              </mc:Choice>
              <mc:Fallback>
                <p:oleObj name="Equation" r:id="rId5" imgW="3505200" imgH="787400" progId="Equation.3">
                  <p:embed/>
                  <p:pic>
                    <p:nvPicPr>
                      <p:cNvPr id="16389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325" y="3644900"/>
                        <a:ext cx="3505200" cy="787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0"/>
          <p:cNvGraphicFramePr>
            <a:graphicFrameLocks noChangeAspect="1"/>
          </p:cNvGraphicFramePr>
          <p:nvPr/>
        </p:nvGraphicFramePr>
        <p:xfrm>
          <a:off x="6075363" y="5278438"/>
          <a:ext cx="1905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5000" imgH="787400" progId="Equation.3">
                  <p:embed/>
                </p:oleObj>
              </mc:Choice>
              <mc:Fallback>
                <p:oleObj name="Equation" r:id="rId7" imgW="1905000" imgH="787400" progId="Equation.3">
                  <p:embed/>
                  <p:pic>
                    <p:nvPicPr>
                      <p:cNvPr id="1639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5363" y="5278438"/>
                        <a:ext cx="1905000" cy="787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Fix-free Support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6832"/>
            <a:ext cx="3693952" cy="43924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060848"/>
            <a:ext cx="2376264" cy="6126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825" y="3212921"/>
            <a:ext cx="2914789" cy="18003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5896" y="5661248"/>
            <a:ext cx="4921135" cy="75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077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Fix-free Support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47367"/>
          <a:stretch/>
        </p:blipFill>
        <p:spPr>
          <a:xfrm>
            <a:off x="683568" y="1916832"/>
            <a:ext cx="1944216" cy="43924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2060848"/>
            <a:ext cx="4921135" cy="7532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770" y="3212976"/>
            <a:ext cx="5587257" cy="7895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9912" y="4293096"/>
            <a:ext cx="3573714" cy="93736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8631" y="5531165"/>
            <a:ext cx="2195271" cy="8640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5150" y="5661248"/>
            <a:ext cx="3258877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24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Fix-free Support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47367"/>
          <a:stretch/>
        </p:blipFill>
        <p:spPr>
          <a:xfrm>
            <a:off x="683568" y="1916832"/>
            <a:ext cx="1944216" cy="43924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2204864"/>
            <a:ext cx="4328444" cy="11353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048" y="3654627"/>
            <a:ext cx="3937810" cy="10441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905" y="5013176"/>
            <a:ext cx="2362362" cy="97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109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4" descr="E:\MechanoLink\Gere-5e\Images\Chapter 11\Chapter 11 Figures\GERE_1152_f11_19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1628775"/>
            <a:ext cx="730567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Other Supports</a:t>
            </a:r>
          </a:p>
        </p:txBody>
      </p:sp>
      <p:graphicFrame>
        <p:nvGraphicFramePr>
          <p:cNvPr id="18436" name="Object 0"/>
          <p:cNvGraphicFramePr>
            <a:graphicFrameLocks noChangeAspect="1"/>
          </p:cNvGraphicFramePr>
          <p:nvPr/>
        </p:nvGraphicFramePr>
        <p:xfrm>
          <a:off x="3549650" y="6308725"/>
          <a:ext cx="2044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44700" imgH="457200" progId="Equation.3">
                  <p:embed/>
                </p:oleObj>
              </mc:Choice>
              <mc:Fallback>
                <p:oleObj name="Equation" r:id="rId3" imgW="2044700" imgH="457200" progId="Equation.3">
                  <p:embed/>
                  <p:pic>
                    <p:nvPicPr>
                      <p:cNvPr id="18436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50" y="6308725"/>
                        <a:ext cx="2044700" cy="457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21" y="1628800"/>
            <a:ext cx="7538757" cy="18722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3522355"/>
            <a:ext cx="2520280" cy="304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92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21" y="1628800"/>
            <a:ext cx="7538757" cy="18722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3512476"/>
            <a:ext cx="2520280" cy="30453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739" y="3712170"/>
            <a:ext cx="5253167" cy="274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11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Critical Load</a:t>
            </a:r>
          </a:p>
        </p:txBody>
      </p:sp>
      <p:graphicFrame>
        <p:nvGraphicFramePr>
          <p:cNvPr id="19459" name="Object 0"/>
          <p:cNvGraphicFramePr>
            <a:graphicFrameLocks noChangeAspect="1"/>
          </p:cNvGraphicFramePr>
          <p:nvPr/>
        </p:nvGraphicFramePr>
        <p:xfrm>
          <a:off x="3302000" y="2349500"/>
          <a:ext cx="2540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40000" imgH="876300" progId="Equation.3">
                  <p:embed/>
                </p:oleObj>
              </mc:Choice>
              <mc:Fallback>
                <p:oleObj name="Equation" r:id="rId2" imgW="2540000" imgH="876300" progId="Equation.3">
                  <p:embed/>
                  <p:pic>
                    <p:nvPicPr>
                      <p:cNvPr id="19459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2349500"/>
                        <a:ext cx="2540000" cy="8763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0"/>
          <p:cNvGraphicFramePr>
            <a:graphicFrameLocks noChangeAspect="1"/>
          </p:cNvGraphicFramePr>
          <p:nvPr/>
        </p:nvGraphicFramePr>
        <p:xfrm>
          <a:off x="3105150" y="3860800"/>
          <a:ext cx="2933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33700" imgH="863600" progId="Equation.3">
                  <p:embed/>
                </p:oleObj>
              </mc:Choice>
              <mc:Fallback>
                <p:oleObj name="Equation" r:id="rId4" imgW="2933700" imgH="863600" progId="Equation.3">
                  <p:embed/>
                  <p:pic>
                    <p:nvPicPr>
                      <p:cNvPr id="1946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3860800"/>
                        <a:ext cx="2933700" cy="863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0"/>
          <p:cNvGraphicFramePr>
            <a:graphicFrameLocks noChangeAspect="1"/>
          </p:cNvGraphicFramePr>
          <p:nvPr/>
        </p:nvGraphicFramePr>
        <p:xfrm>
          <a:off x="3105150" y="5589588"/>
          <a:ext cx="749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48975" imgH="380835" progId="Equation.3">
                  <p:embed/>
                </p:oleObj>
              </mc:Choice>
              <mc:Fallback>
                <p:oleObj name="Equation" r:id="rId6" imgW="748975" imgH="380835" progId="Equation.3">
                  <p:embed/>
                  <p:pic>
                    <p:nvPicPr>
                      <p:cNvPr id="19461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5589588"/>
                        <a:ext cx="749300" cy="3810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TextBox 2"/>
          <p:cNvSpPr txBox="1">
            <a:spLocks noChangeArrowheads="1"/>
          </p:cNvSpPr>
          <p:nvPr/>
        </p:nvSpPr>
        <p:spPr bwMode="auto">
          <a:xfrm>
            <a:off x="4716463" y="5589588"/>
            <a:ext cx="19796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Slenderness ratio</a:t>
            </a:r>
          </a:p>
        </p:txBody>
      </p:sp>
      <p:sp>
        <p:nvSpPr>
          <p:cNvPr id="19463" name="TextBox 8"/>
          <p:cNvSpPr txBox="1">
            <a:spLocks noChangeArrowheads="1"/>
          </p:cNvSpPr>
          <p:nvPr/>
        </p:nvSpPr>
        <p:spPr bwMode="auto">
          <a:xfrm>
            <a:off x="6719888" y="2601913"/>
            <a:ext cx="21732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r: radius or gyration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Critical Load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792288"/>
            <a:ext cx="6333240" cy="4728678"/>
          </a:xfrm>
          <a:prstGeom prst="rect">
            <a:avLst/>
          </a:prstGeom>
        </p:spPr>
      </p:pic>
      <p:graphicFrame>
        <p:nvGraphicFramePr>
          <p:cNvPr id="19460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806526"/>
              </p:ext>
            </p:extLst>
          </p:nvPr>
        </p:nvGraphicFramePr>
        <p:xfrm>
          <a:off x="5753100" y="2276872"/>
          <a:ext cx="2933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33700" imgH="863600" progId="Equation.3">
                  <p:embed/>
                </p:oleObj>
              </mc:Choice>
              <mc:Fallback>
                <p:oleObj name="Equation" r:id="rId3" imgW="2933700" imgH="863600" progId="Equation.3">
                  <p:embed/>
                  <p:pic>
                    <p:nvPicPr>
                      <p:cNvPr id="1946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0" y="2276872"/>
                        <a:ext cx="2933700" cy="863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8107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Radius of Gyration</a:t>
            </a:r>
          </a:p>
        </p:txBody>
      </p:sp>
      <p:graphicFrame>
        <p:nvGraphicFramePr>
          <p:cNvPr id="20483" name="Object 0"/>
          <p:cNvGraphicFramePr>
            <a:graphicFrameLocks noChangeAspect="1"/>
          </p:cNvGraphicFramePr>
          <p:nvPr/>
        </p:nvGraphicFramePr>
        <p:xfrm>
          <a:off x="3851275" y="2060575"/>
          <a:ext cx="927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100" imgH="762000" progId="Equation.3">
                  <p:embed/>
                </p:oleObj>
              </mc:Choice>
              <mc:Fallback>
                <p:oleObj name="Equation" r:id="rId2" imgW="927100" imgH="762000" progId="Equation.3">
                  <p:embed/>
                  <p:pic>
                    <p:nvPicPr>
                      <p:cNvPr id="20483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060575"/>
                        <a:ext cx="927100" cy="7620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0"/>
          <p:cNvGraphicFramePr>
            <a:graphicFrameLocks noChangeAspect="1"/>
          </p:cNvGraphicFramePr>
          <p:nvPr/>
        </p:nvGraphicFramePr>
        <p:xfrm>
          <a:off x="2987675" y="3368675"/>
          <a:ext cx="2679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79700" imgH="825500" progId="Equation.3">
                  <p:embed/>
                </p:oleObj>
              </mc:Choice>
              <mc:Fallback>
                <p:oleObj name="Equation" r:id="rId4" imgW="2679700" imgH="825500" progId="Equation.3">
                  <p:embed/>
                  <p:pic>
                    <p:nvPicPr>
                      <p:cNvPr id="2048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368675"/>
                        <a:ext cx="2679700" cy="8255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0"/>
          <p:cNvGraphicFramePr>
            <a:graphicFrameLocks noChangeAspect="1"/>
          </p:cNvGraphicFramePr>
          <p:nvPr/>
        </p:nvGraphicFramePr>
        <p:xfrm>
          <a:off x="3184525" y="4773613"/>
          <a:ext cx="22860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0" imgH="901700" progId="Equation.3">
                  <p:embed/>
                </p:oleObj>
              </mc:Choice>
              <mc:Fallback>
                <p:oleObj name="Equation" r:id="rId6" imgW="2286000" imgH="901700" progId="Equation.3">
                  <p:embed/>
                  <p:pic>
                    <p:nvPicPr>
                      <p:cNvPr id="20485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525" y="4773613"/>
                        <a:ext cx="2286000" cy="10287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150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1627188"/>
            <a:ext cx="2281238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1812925"/>
            <a:ext cx="4733925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3822700"/>
            <a:ext cx="3738562" cy="276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1510" name="Object 0"/>
          <p:cNvGraphicFramePr>
            <a:graphicFrameLocks noChangeAspect="1"/>
          </p:cNvGraphicFramePr>
          <p:nvPr/>
        </p:nvGraphicFramePr>
        <p:xfrm>
          <a:off x="481013" y="3617913"/>
          <a:ext cx="227965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33700" imgH="863600" progId="Equation.3">
                  <p:embed/>
                </p:oleObj>
              </mc:Choice>
              <mc:Fallback>
                <p:oleObj name="Equation" r:id="rId5" imgW="2933700" imgH="863600" progId="Equation.3">
                  <p:embed/>
                  <p:pic>
                    <p:nvPicPr>
                      <p:cNvPr id="2151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3" y="3617913"/>
                        <a:ext cx="2279650" cy="6699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11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19"/>
          <a:stretch>
            <a:fillRect/>
          </a:stretch>
        </p:blipFill>
        <p:spPr bwMode="auto">
          <a:xfrm>
            <a:off x="323850" y="4868863"/>
            <a:ext cx="3600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2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697538"/>
            <a:ext cx="2868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Critical Stress</a:t>
            </a:r>
          </a:p>
        </p:txBody>
      </p:sp>
      <p:graphicFrame>
        <p:nvGraphicFramePr>
          <p:cNvPr id="22531" name="Object 0"/>
          <p:cNvGraphicFramePr>
            <a:graphicFrameLocks noChangeAspect="1"/>
          </p:cNvGraphicFramePr>
          <p:nvPr/>
        </p:nvGraphicFramePr>
        <p:xfrm>
          <a:off x="1187450" y="1989138"/>
          <a:ext cx="2933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33700" imgH="863600" progId="Equation.3">
                  <p:embed/>
                </p:oleObj>
              </mc:Choice>
              <mc:Fallback>
                <p:oleObj name="Equation" r:id="rId2" imgW="2933700" imgH="863600" progId="Equation.3">
                  <p:embed/>
                  <p:pic>
                    <p:nvPicPr>
                      <p:cNvPr id="22531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989138"/>
                        <a:ext cx="2933700" cy="863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2" name="Picture 2" descr="Image result for uniaxial stress strain curve compress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2708275"/>
            <a:ext cx="3667125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2533" name="Object 0"/>
          <p:cNvGraphicFramePr>
            <a:graphicFrameLocks noChangeAspect="1"/>
          </p:cNvGraphicFramePr>
          <p:nvPr/>
        </p:nvGraphicFramePr>
        <p:xfrm>
          <a:off x="5508625" y="5511800"/>
          <a:ext cx="4318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1613" imgH="380835" progId="Equation.3">
                  <p:embed/>
                </p:oleObj>
              </mc:Choice>
              <mc:Fallback>
                <p:oleObj name="Equation" r:id="rId5" imgW="431613" imgH="380835" progId="Equation.3">
                  <p:embed/>
                  <p:pic>
                    <p:nvPicPr>
                      <p:cNvPr id="22533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5511800"/>
                        <a:ext cx="431800" cy="4381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4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252788"/>
            <a:ext cx="426085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0"/>
          <p:cNvGraphicFramePr>
            <a:graphicFrameLocks noChangeAspect="1"/>
          </p:cNvGraphicFramePr>
          <p:nvPr/>
        </p:nvGraphicFramePr>
        <p:xfrm>
          <a:off x="1608138" y="2571750"/>
          <a:ext cx="1384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300" imgH="787400" progId="Equation.3">
                  <p:embed/>
                </p:oleObj>
              </mc:Choice>
              <mc:Fallback>
                <p:oleObj name="Equation" r:id="rId2" imgW="1384300" imgH="787400" progId="Equation.3">
                  <p:embed/>
                  <p:pic>
                    <p:nvPicPr>
                      <p:cNvPr id="2355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138" y="2571750"/>
                        <a:ext cx="1384300" cy="787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555" name="Picture 2" descr="Image result for buckl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5"/>
          <a:stretch>
            <a:fillRect/>
          </a:stretch>
        </p:blipFill>
        <p:spPr bwMode="auto">
          <a:xfrm>
            <a:off x="4211638" y="1876425"/>
            <a:ext cx="4351337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Rectangle 2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Effect of Temperature</a:t>
            </a:r>
          </a:p>
        </p:txBody>
      </p:sp>
      <p:pic>
        <p:nvPicPr>
          <p:cNvPr id="23557" name="Picture 2" descr="Image result for steel Young's modulus as function of temperature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048125"/>
            <a:ext cx="5905500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4"/>
          <p:cNvSpPr txBox="1">
            <a:spLocks noChangeArrowheads="1"/>
          </p:cNvSpPr>
          <p:nvPr/>
        </p:nvSpPr>
        <p:spPr bwMode="auto">
          <a:xfrm>
            <a:off x="2286000" y="5638800"/>
            <a:ext cx="4552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/>
              <a:t>Why did WTC Collapse?</a:t>
            </a:r>
          </a:p>
        </p:txBody>
      </p:sp>
      <p:pic>
        <p:nvPicPr>
          <p:cNvPr id="24579" name="Picture 5" descr="C:\Jiangyu\Teaching\MOM\Collapse of the World Trade Center_files\wtc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609600"/>
            <a:ext cx="6705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Jiangyu\Teaching\MOM\Collapse of the World Trade Center_files\wtc_graphic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3" y="125413"/>
            <a:ext cx="7151687" cy="647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Image result for collapse of WT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1978025"/>
            <a:ext cx="829468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4" descr="E:\MechanoLink\Gere-5e\Images\Chapter 11\Chapter 11 Figures\GERE_1152_f11_19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14951"/>
          <a:stretch>
            <a:fillRect/>
          </a:stretch>
        </p:blipFill>
        <p:spPr bwMode="auto">
          <a:xfrm>
            <a:off x="919163" y="3016250"/>
            <a:ext cx="7305675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Bonus Quiz</a:t>
            </a:r>
          </a:p>
        </p:txBody>
      </p:sp>
      <p:sp>
        <p:nvSpPr>
          <p:cNvPr id="27652" name="TextBox 1"/>
          <p:cNvSpPr txBox="1">
            <a:spLocks noChangeArrowheads="1"/>
          </p:cNvSpPr>
          <p:nvPr/>
        </p:nvSpPr>
        <p:spPr bwMode="auto">
          <a:xfrm>
            <a:off x="1547813" y="5969000"/>
            <a:ext cx="492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(A)</a:t>
            </a:r>
          </a:p>
        </p:txBody>
      </p:sp>
      <p:sp>
        <p:nvSpPr>
          <p:cNvPr id="27653" name="TextBox 5"/>
          <p:cNvSpPr txBox="1">
            <a:spLocks noChangeArrowheads="1"/>
          </p:cNvSpPr>
          <p:nvPr/>
        </p:nvSpPr>
        <p:spPr bwMode="auto">
          <a:xfrm>
            <a:off x="3563938" y="6005513"/>
            <a:ext cx="492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(B)</a:t>
            </a:r>
          </a:p>
        </p:txBody>
      </p:sp>
      <p:sp>
        <p:nvSpPr>
          <p:cNvPr id="27654" name="TextBox 6"/>
          <p:cNvSpPr txBox="1">
            <a:spLocks noChangeArrowheads="1"/>
          </p:cNvSpPr>
          <p:nvPr/>
        </p:nvSpPr>
        <p:spPr bwMode="auto">
          <a:xfrm>
            <a:off x="5219700" y="6010275"/>
            <a:ext cx="5064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(C)</a:t>
            </a:r>
          </a:p>
        </p:txBody>
      </p:sp>
      <p:sp>
        <p:nvSpPr>
          <p:cNvPr id="27655" name="TextBox 7"/>
          <p:cNvSpPr txBox="1">
            <a:spLocks noChangeArrowheads="1"/>
          </p:cNvSpPr>
          <p:nvPr/>
        </p:nvSpPr>
        <p:spPr bwMode="auto">
          <a:xfrm>
            <a:off x="7092950" y="6011863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(D)</a:t>
            </a:r>
          </a:p>
        </p:txBody>
      </p:sp>
      <p:sp>
        <p:nvSpPr>
          <p:cNvPr id="27656" name="TextBox 2"/>
          <p:cNvSpPr txBox="1">
            <a:spLocks noChangeArrowheads="1"/>
          </p:cNvSpPr>
          <p:nvPr/>
        </p:nvSpPr>
        <p:spPr bwMode="auto">
          <a:xfrm>
            <a:off x="714375" y="2098675"/>
            <a:ext cx="7715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/>
              <a:t>Which of the following column is the easiest to buckle?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Assignment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59632" y="2276872"/>
            <a:ext cx="30267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Textbook</a:t>
            </a:r>
          </a:p>
          <a:p>
            <a:endParaRPr lang="en-US" sz="2400" b="1" dirty="0"/>
          </a:p>
          <a:p>
            <a:r>
              <a:rPr lang="en-US" sz="2400" b="1" dirty="0"/>
              <a:t>13-5; </a:t>
            </a:r>
            <a:r>
              <a:rPr lang="en-US" sz="2400" b="1"/>
              <a:t>13-12; 13-21; 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9856507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2697</TotalTime>
  <Words>299</Words>
  <Application>Microsoft Macintosh PowerPoint</Application>
  <PresentationFormat>On-screen Show (4:3)</PresentationFormat>
  <Paragraphs>64</Paragraphs>
  <Slides>31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Default Design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Nebraska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Design Analyis</dc:title>
  <dc:creator>jiangyu</dc:creator>
  <cp:lastModifiedBy>Philip Zhan</cp:lastModifiedBy>
  <cp:revision>212</cp:revision>
  <dcterms:created xsi:type="dcterms:W3CDTF">2005-12-02T20:26:58Z</dcterms:created>
  <dcterms:modified xsi:type="dcterms:W3CDTF">2022-06-05T05:35:23Z</dcterms:modified>
</cp:coreProperties>
</file>