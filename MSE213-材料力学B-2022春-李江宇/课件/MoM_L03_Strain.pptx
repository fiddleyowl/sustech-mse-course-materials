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7" r:id="rId2"/>
    <p:sldId id="810" r:id="rId3"/>
    <p:sldId id="847" r:id="rId4"/>
    <p:sldId id="848" r:id="rId5"/>
    <p:sldId id="849" r:id="rId6"/>
    <p:sldId id="850" r:id="rId7"/>
    <p:sldId id="851" r:id="rId8"/>
    <p:sldId id="852" r:id="rId9"/>
    <p:sldId id="853" r:id="rId10"/>
    <p:sldId id="854" r:id="rId11"/>
    <p:sldId id="881" r:id="rId12"/>
    <p:sldId id="855" r:id="rId13"/>
    <p:sldId id="856" r:id="rId14"/>
    <p:sldId id="857" r:id="rId15"/>
    <p:sldId id="864" r:id="rId16"/>
    <p:sldId id="865" r:id="rId17"/>
    <p:sldId id="858" r:id="rId18"/>
    <p:sldId id="859" r:id="rId19"/>
    <p:sldId id="860" r:id="rId20"/>
    <p:sldId id="861" r:id="rId21"/>
    <p:sldId id="862" r:id="rId22"/>
    <p:sldId id="863" r:id="rId23"/>
    <p:sldId id="866" r:id="rId24"/>
    <p:sldId id="867" r:id="rId25"/>
    <p:sldId id="868" r:id="rId26"/>
    <p:sldId id="869" r:id="rId27"/>
    <p:sldId id="871" r:id="rId28"/>
    <p:sldId id="870" r:id="rId29"/>
    <p:sldId id="872" r:id="rId30"/>
    <p:sldId id="873" r:id="rId31"/>
    <p:sldId id="875" r:id="rId32"/>
    <p:sldId id="876" r:id="rId33"/>
    <p:sldId id="877" r:id="rId34"/>
    <p:sldId id="879" r:id="rId35"/>
    <p:sldId id="878" r:id="rId36"/>
    <p:sldId id="880" r:id="rId37"/>
    <p:sldId id="846" r:id="rId38"/>
  </p:sldIdLst>
  <p:sldSz cx="12192000" cy="6858000"/>
  <p:notesSz cx="69469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rgbClr val="0000CC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rgbClr val="0000CC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43"/>
    <a:srgbClr val="ED6C00"/>
    <a:srgbClr val="2BB7B3"/>
    <a:srgbClr val="00FF00"/>
    <a:srgbClr val="660066"/>
    <a:srgbClr val="3366FF"/>
    <a:srgbClr val="0000CC"/>
    <a:srgbClr val="339933"/>
    <a:srgbClr val="9900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2" autoAdjust="0"/>
    <p:restoredTop sz="94660" autoAdjust="0"/>
  </p:normalViewPr>
  <p:slideViewPr>
    <p:cSldViewPr>
      <p:cViewPr varScale="1">
        <p:scale>
          <a:sx n="70" d="100"/>
          <a:sy n="70" d="100"/>
        </p:scale>
        <p:origin x="624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-48" y="528"/>
      </p:cViewPr>
      <p:guideLst>
        <p:guide orient="horz" pos="2904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pPr>
              <a:defRPr/>
            </a:pPr>
            <a:fld id="{BA950B12-1F8A-497D-ADB8-F6A75C7EFA6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620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0050" y="692150"/>
            <a:ext cx="61468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79913"/>
            <a:ext cx="5095875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7598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82" tIns="46191" rIns="92382" bIns="46191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3F7C5D-75CA-4BD6-8833-3F2846A04D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61444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EC4CC0-33AD-447E-B7DE-66586FD64824}" type="slidenum">
              <a:rPr lang="zh-CN" altLang="en-US" smtClean="0"/>
              <a:pPr/>
              <a:t>1</a:t>
            </a:fld>
            <a:endParaRPr lang="en-US" altLang="zh-CN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2150"/>
            <a:ext cx="6146800" cy="3457575"/>
          </a:xfrm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54" tIns="45327" rIns="90654" bIns="45327"/>
          <a:lstStyle/>
          <a:p>
            <a:pPr marL="228600" indent="-228600"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67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0" y="2590800"/>
            <a:ext cx="10363200" cy="472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524000"/>
            <a:ext cx="5080000" cy="4724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080000" cy="47244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524000"/>
            <a:ext cx="10363200" cy="4724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381000"/>
            <a:ext cx="2590800" cy="58674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381000"/>
            <a:ext cx="7569200" cy="5867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 userDrawn="1"/>
        </p:nvSpPr>
        <p:spPr>
          <a:xfrm>
            <a:off x="0" y="152400"/>
            <a:ext cx="12192000" cy="1066800"/>
          </a:xfrm>
          <a:prstGeom prst="rect">
            <a:avLst/>
          </a:prstGeom>
          <a:solidFill>
            <a:srgbClr val="2BB7B3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sz="3200" kern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v"/>
        <a:defRPr sz="2400" b="1">
          <a:solidFill>
            <a:srgbClr val="0000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3E003E"/>
        </a:buClr>
        <a:buFont typeface="Wingdings" pitchFamily="2" charset="2"/>
        <a:buChar char="Ø"/>
        <a:defRPr sz="2000" b="1">
          <a:solidFill>
            <a:srgbClr val="3E003E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800000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0" y="76200"/>
            <a:ext cx="12192000" cy="3330054"/>
          </a:xfrm>
          <a:prstGeom prst="rect">
            <a:avLst/>
          </a:prstGeom>
          <a:solidFill>
            <a:srgbClr val="2BB7B3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MSE 213 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Mechanics of Materials B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  <a:t>Lecture 3</a:t>
            </a:r>
            <a:br>
              <a:rPr lang="en-US" altLang="zh-CN" sz="4800" dirty="0" smtClean="0">
                <a:solidFill>
                  <a:schemeClr val="bg1"/>
                </a:solidFill>
                <a:ea typeface="宋体" pitchFamily="2" charset="-122"/>
              </a:rPr>
            </a:br>
            <a:endParaRPr lang="en-US" altLang="zh-CN" sz="4400" b="0" dirty="0">
              <a:solidFill>
                <a:srgbClr val="FF9900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810000"/>
            <a:ext cx="12192000" cy="762000"/>
          </a:xfrm>
          <a:prstGeom prst="rect">
            <a:avLst/>
          </a:prstGeom>
        </p:spPr>
        <p:txBody>
          <a:bodyPr/>
          <a:lstStyle/>
          <a:p>
            <a:pPr marL="0" indent="0" algn="ctr" eaLnBrk="1" hangingPunct="1">
              <a:lnSpc>
                <a:spcPct val="120000"/>
              </a:lnSpc>
              <a:buNone/>
            </a:pPr>
            <a:r>
              <a:rPr lang="en-US" altLang="zh-CN" sz="3200" dirty="0" smtClean="0">
                <a:solidFill>
                  <a:srgbClr val="003F43"/>
                </a:solidFill>
                <a:ea typeface="楷体" panose="02010609060101010101" pitchFamily="49" charset="-122"/>
              </a:rPr>
              <a:t>Deformation, Displacement and Strain</a:t>
            </a:r>
            <a:endParaRPr lang="en-US" altLang="zh-CN" sz="3200" dirty="0">
              <a:solidFill>
                <a:srgbClr val="003F43"/>
              </a:solidFill>
              <a:ea typeface="楷体" panose="02010609060101010101" pitchFamily="49" charset="-122"/>
            </a:endParaRPr>
          </a:p>
          <a:p>
            <a:pPr marL="0" indent="0" algn="ctr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C00000"/>
                </a:solidFill>
                <a:ea typeface="楷体" panose="02010609060101010101" pitchFamily="49" charset="-122"/>
              </a:rPr>
              <a:t>                        </a:t>
            </a: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0" y="6096000"/>
            <a:ext cx="12192000" cy="733342"/>
          </a:xfrm>
          <a:prstGeom prst="rect">
            <a:avLst/>
          </a:prstGeom>
          <a:solidFill>
            <a:srgbClr val="2BB7B3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altLang="zh-CN" sz="3600" b="1" dirty="0" smtClean="0">
                <a:solidFill>
                  <a:schemeClr val="bg1"/>
                </a:solidFill>
                <a:latin typeface="Arial Black" pitchFamily="34" charset="0"/>
                <a:ea typeface="宋体" pitchFamily="2" charset="-122"/>
              </a:rPr>
              <a:t>Jiangyu Li</a:t>
            </a:r>
            <a:endParaRPr lang="en-US" altLang="zh-CN" sz="3600" b="1" dirty="0">
              <a:solidFill>
                <a:schemeClr val="bg1"/>
              </a:solidFill>
              <a:latin typeface="Arial Black" pitchFamily="34" charset="0"/>
              <a:ea typeface="宋体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3847" y="5072390"/>
            <a:ext cx="2977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Textbook 2.1-2.2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Deformation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43000" y="1676400"/>
            <a:ext cx="10287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31F20"/>
                </a:solidFill>
                <a:latin typeface="TimesTen-Roman"/>
              </a:rPr>
              <a:t>Whenever a force is applied to a body, it will tend to change the </a:t>
            </a:r>
            <a:r>
              <a:rPr lang="en-US" dirty="0" smtClean="0">
                <a:solidFill>
                  <a:srgbClr val="231F20"/>
                </a:solidFill>
                <a:latin typeface="TimesTen-Roman"/>
              </a:rPr>
              <a:t>body’s </a:t>
            </a:r>
            <a:r>
              <a:rPr lang="en-US" b="1" dirty="0" smtClean="0">
                <a:solidFill>
                  <a:srgbClr val="C00000"/>
                </a:solidFill>
                <a:latin typeface="TimesTen-Roman"/>
              </a:rPr>
              <a:t>shape</a:t>
            </a:r>
            <a:r>
              <a:rPr lang="en-US" dirty="0" smtClean="0">
                <a:solidFill>
                  <a:srgbClr val="231F20"/>
                </a:solidFill>
                <a:latin typeface="TimesTen-Roman"/>
              </a:rPr>
              <a:t> </a:t>
            </a:r>
            <a:r>
              <a:rPr lang="en-US" dirty="0">
                <a:solidFill>
                  <a:srgbClr val="231F20"/>
                </a:solidFill>
                <a:latin typeface="TimesTen-Roman"/>
              </a:rPr>
              <a:t>and </a:t>
            </a:r>
            <a:r>
              <a:rPr lang="en-US" b="1" dirty="0">
                <a:solidFill>
                  <a:srgbClr val="C00000"/>
                </a:solidFill>
                <a:latin typeface="TimesTen-Roman"/>
              </a:rPr>
              <a:t>size</a:t>
            </a:r>
            <a:r>
              <a:rPr lang="en-US" dirty="0">
                <a:solidFill>
                  <a:srgbClr val="231F20"/>
                </a:solidFill>
                <a:latin typeface="TimesTen-Roman"/>
              </a:rPr>
              <a:t>. These changes are referred to as </a:t>
            </a:r>
            <a:r>
              <a:rPr lang="en-US" b="1" i="1" dirty="0" smtClean="0">
                <a:solidFill>
                  <a:srgbClr val="C00000"/>
                </a:solidFill>
                <a:latin typeface="TimesTen-BoldItalic"/>
              </a:rPr>
              <a:t>deformation</a:t>
            </a:r>
            <a:r>
              <a:rPr lang="en-US" dirty="0" smtClean="0">
                <a:solidFill>
                  <a:srgbClr val="231F20"/>
                </a:solidFill>
                <a:latin typeface="TimesTen-BoldItalic"/>
              </a:rPr>
              <a:t>.</a:t>
            </a:r>
            <a:endParaRPr lang="en-US" dirty="0"/>
          </a:p>
        </p:txBody>
      </p:sp>
      <p:pic>
        <p:nvPicPr>
          <p:cNvPr id="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079592"/>
            <a:ext cx="5552189" cy="312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8145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05000"/>
            <a:ext cx="82296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83081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Normal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63" b="14641"/>
          <a:stretch/>
        </p:blipFill>
        <p:spPr bwMode="auto">
          <a:xfrm>
            <a:off x="3352800" y="1476233"/>
            <a:ext cx="5748227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601200" y="6019800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2949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Shear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62" b="24566"/>
          <a:stretch/>
        </p:blipFill>
        <p:spPr bwMode="auto">
          <a:xfrm>
            <a:off x="3200400" y="1710477"/>
            <a:ext cx="4579519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601200" y="6019800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1749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45" y="1905000"/>
            <a:ext cx="8229600" cy="19573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3657600"/>
            <a:ext cx="3657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847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4572000" cy="3409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514600"/>
            <a:ext cx="6096001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995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40066"/>
            <a:ext cx="4572000" cy="34099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2159400"/>
            <a:ext cx="6400800" cy="32704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29800" y="5943600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599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Why different definition?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752600"/>
            <a:ext cx="4514850" cy="45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9902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Displacement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057400"/>
            <a:ext cx="6738495" cy="378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5911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Displacement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752600"/>
            <a:ext cx="6738495" cy="378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ee the source imag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36"/>
          <a:stretch/>
        </p:blipFill>
        <p:spPr bwMode="auto">
          <a:xfrm>
            <a:off x="914400" y="2590800"/>
            <a:ext cx="3124200" cy="3787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543800" y="6048715"/>
            <a:ext cx="3890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Uniform and </a:t>
            </a:r>
            <a:r>
              <a:rPr lang="en-US" sz="2400" b="1" dirty="0" err="1" smtClean="0">
                <a:solidFill>
                  <a:srgbClr val="C00000"/>
                </a:solidFill>
              </a:rPr>
              <a:t>nonuniform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1473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8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447800"/>
            <a:ext cx="6400800" cy="4980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0906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00200"/>
            <a:ext cx="8229600" cy="461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25309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Sign Convention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752600"/>
            <a:ext cx="822960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89471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524000"/>
            <a:ext cx="7315200" cy="14173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2819400"/>
            <a:ext cx="4572000" cy="3889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6096000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6080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4572000" cy="388937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394" y="2209800"/>
            <a:ext cx="5486400" cy="19770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884" y="4748356"/>
            <a:ext cx="5486400" cy="96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593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5600"/>
            <a:ext cx="7315200" cy="16020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0" y="2057400"/>
            <a:ext cx="188569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802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57400"/>
            <a:ext cx="1885696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00200"/>
            <a:ext cx="665018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866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57400"/>
            <a:ext cx="1885696" cy="3657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3002280"/>
            <a:ext cx="7315200" cy="1767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53600" y="5749119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408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598919"/>
            <a:ext cx="8229600" cy="12966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2895600"/>
            <a:ext cx="4931594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588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Example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5257801" cy="3657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215" y="1676400"/>
            <a:ext cx="5486400" cy="16022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412" y="3756954"/>
            <a:ext cx="5486400" cy="223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343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3D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981200"/>
            <a:ext cx="8229600" cy="343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845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3D Strain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057400"/>
            <a:ext cx="8229600" cy="389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5557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How about volume change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752600"/>
            <a:ext cx="4514850" cy="45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97437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Volume change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26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371600"/>
            <a:ext cx="5486400" cy="526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8193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How to measure strain?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752600"/>
            <a:ext cx="4514850" cy="45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3603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Resistance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951"/>
          <a:stretch/>
        </p:blipFill>
        <p:spPr>
          <a:xfrm>
            <a:off x="381000" y="1905000"/>
            <a:ext cx="11430000" cy="39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233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 Gage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8229600" cy="18734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2362200"/>
            <a:ext cx="2399386" cy="31528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3733800"/>
            <a:ext cx="4359859" cy="275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380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Wheatstone Bridge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133600"/>
            <a:ext cx="5812077" cy="3657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3250096"/>
            <a:ext cx="4572000" cy="142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425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Strain Gage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667000"/>
            <a:ext cx="3657600" cy="26591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391" y="1752600"/>
            <a:ext cx="5000261" cy="10972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745" y="3276600"/>
            <a:ext cx="4977907" cy="10972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4953000"/>
            <a:ext cx="2895916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439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How to measure displacement?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752600"/>
            <a:ext cx="4514850" cy="451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3943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Interference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578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1981200"/>
            <a:ext cx="11430000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6782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Interference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00200"/>
            <a:ext cx="10058400" cy="475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168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Interferometer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752600"/>
            <a:ext cx="9144000" cy="429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751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Fringe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057400"/>
            <a:ext cx="9144000" cy="398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897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LIGO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2" descr="News | Gravitational waves from a binary black hole merger observed by LIGO  and Virgo | LIGO Lab | Calte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99" y="3505200"/>
            <a:ext cx="5399016" cy="3039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099" y="3389173"/>
            <a:ext cx="5905500" cy="3057525"/>
          </a:xfrm>
          <a:prstGeom prst="rect">
            <a:avLst/>
          </a:prstGeom>
        </p:spPr>
      </p:pic>
      <p:pic>
        <p:nvPicPr>
          <p:cNvPr id="8" name="Picture 6" descr="NSF's LIGO Has Detected Gravitational Waves | NAS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699" y="1434312"/>
            <a:ext cx="325289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Image result for nobel prize in physics meda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099" y="1407973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38299" y="2713553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10</a:t>
            </a:r>
            <a:r>
              <a:rPr lang="en-US" b="1" baseline="30000" dirty="0" smtClean="0">
                <a:solidFill>
                  <a:srgbClr val="C00000"/>
                </a:solidFill>
              </a:rPr>
              <a:t>-19</a:t>
            </a:r>
            <a:r>
              <a:rPr lang="en-US" b="1" dirty="0" smtClean="0">
                <a:solidFill>
                  <a:srgbClr val="C00000"/>
                </a:solidFill>
              </a:rPr>
              <a:t>m change!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07146" y="3863386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4km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20400" y="6215865"/>
            <a:ext cx="849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Q</a:t>
            </a:r>
            <a:r>
              <a:rPr lang="en-US" sz="2400" b="1" dirty="0" smtClean="0">
                <a:solidFill>
                  <a:srgbClr val="C00000"/>
                </a:solidFill>
              </a:rPr>
              <a:t>uiz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2148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3048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bg1"/>
                </a:solidFill>
              </a:rPr>
              <a:t>Assignment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AutoShape 8" descr="See the source im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0" y="1981200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Textbook</a:t>
            </a:r>
          </a:p>
          <a:p>
            <a:endParaRPr lang="en-US" b="1" dirty="0"/>
          </a:p>
          <a:p>
            <a:r>
              <a:rPr lang="en-US" sz="2800" b="1" dirty="0" smtClean="0"/>
              <a:t>Problem 2-1, 2-3, 2-6, 2-10, 2-28, 2-32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585783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rgbClr val="0000CC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24833</TotalTime>
  <Words>135</Words>
  <Application>Microsoft Office PowerPoint</Application>
  <PresentationFormat>Widescreen</PresentationFormat>
  <Paragraphs>55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SimSun</vt:lpstr>
      <vt:lpstr>TimesTen-BoldItalic</vt:lpstr>
      <vt:lpstr>TimesTen-Roman</vt:lpstr>
      <vt:lpstr>楷体</vt:lpstr>
      <vt:lpstr>Arial</vt:lpstr>
      <vt:lpstr>Arial Black</vt:lpstr>
      <vt:lpstr>Times New Roman</vt:lpstr>
      <vt:lpstr>Wingdings</vt:lpstr>
      <vt:lpstr>Default Design</vt:lpstr>
      <vt:lpstr>MSE 213  Mechanics of Materials B Lecture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Caltech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KB</dc:creator>
  <cp:lastModifiedBy>Jiangyu Li</cp:lastModifiedBy>
  <cp:revision>1445</cp:revision>
  <dcterms:created xsi:type="dcterms:W3CDTF">2000-06-23T23:39:39Z</dcterms:created>
  <dcterms:modified xsi:type="dcterms:W3CDTF">2021-01-21T01:07:39Z</dcterms:modified>
</cp:coreProperties>
</file>